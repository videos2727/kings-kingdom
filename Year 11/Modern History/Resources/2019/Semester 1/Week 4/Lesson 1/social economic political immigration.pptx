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4" d="100"/>
          <a:sy n="64" d="100"/>
        </p:scale>
        <p:origin x="78"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387CAF-CB67-44EB-B15C-07C04E337827}" type="doc">
      <dgm:prSet loTypeId="urn:microsoft.com/office/officeart/2005/8/layout/pyramid1" loCatId="pyramid" qsTypeId="urn:microsoft.com/office/officeart/2005/8/quickstyle/simple1" qsCatId="simple" csTypeId="urn:microsoft.com/office/officeart/2005/8/colors/colorful4" csCatId="colorful" phldr="1"/>
      <dgm:spPr/>
    </dgm:pt>
    <dgm:pt modelId="{2E4788E1-AD36-4665-A747-4184F28A0AF0}">
      <dgm:prSet phldrT="[Text]"/>
      <dgm:spPr/>
      <dgm:t>
        <a:bodyPr/>
        <a:lstStyle/>
        <a:p>
          <a:r>
            <a:rPr lang="en-US" dirty="0"/>
            <a:t>WASPS (White Anglo-Saxon Protestants), white settlers, British, Germans, Scandinavians. Best jobs, most money, more political power</a:t>
          </a:r>
        </a:p>
      </dgm:t>
    </dgm:pt>
    <dgm:pt modelId="{D19F7DDB-0281-462F-8808-E628CB555E67}" type="parTrans" cxnId="{5C452D58-8B2D-44FA-8B4E-BBF38E954866}">
      <dgm:prSet/>
      <dgm:spPr/>
      <dgm:t>
        <a:bodyPr/>
        <a:lstStyle/>
        <a:p>
          <a:endParaRPr lang="en-US"/>
        </a:p>
      </dgm:t>
    </dgm:pt>
    <dgm:pt modelId="{824D72D5-0339-497C-8779-B6EC6D1E8DD1}" type="sibTrans" cxnId="{5C452D58-8B2D-44FA-8B4E-BBF38E954866}">
      <dgm:prSet/>
      <dgm:spPr/>
      <dgm:t>
        <a:bodyPr/>
        <a:lstStyle/>
        <a:p>
          <a:endParaRPr lang="en-US"/>
        </a:p>
      </dgm:t>
    </dgm:pt>
    <dgm:pt modelId="{E6EA9B38-53FA-4083-B756-4DCBE8080D4A}">
      <dgm:prSet phldrT="[Text]"/>
      <dgm:spPr/>
      <dgm:t>
        <a:bodyPr/>
        <a:lstStyle/>
        <a:p>
          <a:r>
            <a:rPr lang="en-US" dirty="0"/>
            <a:t>Immigrants from Southern and Eastern Europeans (Russia, Poland, Italy) escaping persecution (Jews, Catholics). Railway workers, immigrant </a:t>
          </a:r>
          <a:r>
            <a:rPr lang="en-US" dirty="0" err="1"/>
            <a:t>labour</a:t>
          </a:r>
          <a:endParaRPr lang="en-US" dirty="0"/>
        </a:p>
      </dgm:t>
    </dgm:pt>
    <dgm:pt modelId="{E8B34C94-AA8C-48C8-8906-8FD9E1F6EDA2}" type="parTrans" cxnId="{FB9D58DE-22EE-4365-A65F-BC39BFCCEFC2}">
      <dgm:prSet/>
      <dgm:spPr/>
      <dgm:t>
        <a:bodyPr/>
        <a:lstStyle/>
        <a:p>
          <a:endParaRPr lang="en-US"/>
        </a:p>
      </dgm:t>
    </dgm:pt>
    <dgm:pt modelId="{6E5CC911-8EAA-4963-805B-C84A0DC69854}" type="sibTrans" cxnId="{FB9D58DE-22EE-4365-A65F-BC39BFCCEFC2}">
      <dgm:prSet/>
      <dgm:spPr/>
      <dgm:t>
        <a:bodyPr/>
        <a:lstStyle/>
        <a:p>
          <a:endParaRPr lang="en-US"/>
        </a:p>
      </dgm:t>
    </dgm:pt>
    <dgm:pt modelId="{E2029858-D89C-4503-AAE3-D8F655E10823}">
      <dgm:prSet phldrT="[Text]"/>
      <dgm:spPr/>
      <dgm:t>
        <a:bodyPr/>
        <a:lstStyle/>
        <a:p>
          <a:r>
            <a:rPr lang="en-US" dirty="0"/>
            <a:t>Hispanics (Central and South America), Asian immigrants. Working on cattle ranches, railroads, cities</a:t>
          </a:r>
        </a:p>
      </dgm:t>
    </dgm:pt>
    <dgm:pt modelId="{C3C52881-BC21-4AF1-B7BC-B2D62AB4FC24}" type="parTrans" cxnId="{7A774143-DB1C-4C31-B8F8-4DCAC4F8C82A}">
      <dgm:prSet/>
      <dgm:spPr/>
      <dgm:t>
        <a:bodyPr/>
        <a:lstStyle/>
        <a:p>
          <a:endParaRPr lang="en-US"/>
        </a:p>
      </dgm:t>
    </dgm:pt>
    <dgm:pt modelId="{2375971E-636C-415A-A05C-B17842D77DA3}" type="sibTrans" cxnId="{7A774143-DB1C-4C31-B8F8-4DCAC4F8C82A}">
      <dgm:prSet/>
      <dgm:spPr/>
      <dgm:t>
        <a:bodyPr/>
        <a:lstStyle/>
        <a:p>
          <a:endParaRPr lang="en-US"/>
        </a:p>
      </dgm:t>
    </dgm:pt>
    <dgm:pt modelId="{AD5D75BE-BF25-44F9-A4F2-367FED83F192}">
      <dgm:prSet phldrT="[Text]"/>
      <dgm:spPr/>
      <dgm:t>
        <a:bodyPr/>
        <a:lstStyle/>
        <a:p>
          <a:r>
            <a:rPr lang="en-US" dirty="0"/>
            <a:t>Negroes (African Americans). Slavery ended 1865. Farm </a:t>
          </a:r>
          <a:r>
            <a:rPr lang="en-US" dirty="0" err="1"/>
            <a:t>labourers</a:t>
          </a:r>
          <a:r>
            <a:rPr lang="en-US" dirty="0"/>
            <a:t>, factory workers, Jim Crow Laws.</a:t>
          </a:r>
        </a:p>
      </dgm:t>
    </dgm:pt>
    <dgm:pt modelId="{B860E79A-A167-48EF-85CE-B9709A550CF9}" type="parTrans" cxnId="{B9C101E1-6987-4FD7-8189-78A1AA4A3853}">
      <dgm:prSet/>
      <dgm:spPr/>
      <dgm:t>
        <a:bodyPr/>
        <a:lstStyle/>
        <a:p>
          <a:endParaRPr lang="en-US"/>
        </a:p>
      </dgm:t>
    </dgm:pt>
    <dgm:pt modelId="{1EF198C0-FE2D-474D-A3CC-12E6E2315A2D}" type="sibTrans" cxnId="{B9C101E1-6987-4FD7-8189-78A1AA4A3853}">
      <dgm:prSet/>
      <dgm:spPr/>
      <dgm:t>
        <a:bodyPr/>
        <a:lstStyle/>
        <a:p>
          <a:endParaRPr lang="en-US"/>
        </a:p>
      </dgm:t>
    </dgm:pt>
    <dgm:pt modelId="{A83B3E38-F9FB-46BC-84BB-25006A58A447}">
      <dgm:prSet phldrT="[Text]"/>
      <dgm:spPr/>
      <dgm:t>
        <a:bodyPr/>
        <a:lstStyle/>
        <a:p>
          <a:r>
            <a:rPr lang="en-US" dirty="0"/>
            <a:t>Native Americans. 1850-1890s forced off their land by westward expansion. By 1917 majority lived on reservations.</a:t>
          </a:r>
        </a:p>
      </dgm:t>
    </dgm:pt>
    <dgm:pt modelId="{CD36E308-C460-482E-848F-07CBA9DD238E}" type="parTrans" cxnId="{86270249-719E-4136-815F-365ADBD1B877}">
      <dgm:prSet/>
      <dgm:spPr/>
      <dgm:t>
        <a:bodyPr/>
        <a:lstStyle/>
        <a:p>
          <a:endParaRPr lang="en-US"/>
        </a:p>
      </dgm:t>
    </dgm:pt>
    <dgm:pt modelId="{786EC0E3-C053-45BA-A3C6-3CE6CC24F654}" type="sibTrans" cxnId="{86270249-719E-4136-815F-365ADBD1B877}">
      <dgm:prSet/>
      <dgm:spPr/>
      <dgm:t>
        <a:bodyPr/>
        <a:lstStyle/>
        <a:p>
          <a:endParaRPr lang="en-US"/>
        </a:p>
      </dgm:t>
    </dgm:pt>
    <dgm:pt modelId="{BA79FAA7-EB72-42EC-80F9-687DCD5EECDD}" type="pres">
      <dgm:prSet presAssocID="{54387CAF-CB67-44EB-B15C-07C04E337827}" presName="Name0" presStyleCnt="0">
        <dgm:presLayoutVars>
          <dgm:dir/>
          <dgm:animLvl val="lvl"/>
          <dgm:resizeHandles val="exact"/>
        </dgm:presLayoutVars>
      </dgm:prSet>
      <dgm:spPr/>
    </dgm:pt>
    <dgm:pt modelId="{E7495812-35AD-4B8A-A4DC-694A6F3211C9}" type="pres">
      <dgm:prSet presAssocID="{2E4788E1-AD36-4665-A747-4184F28A0AF0}" presName="Name8" presStyleCnt="0"/>
      <dgm:spPr/>
    </dgm:pt>
    <dgm:pt modelId="{1A56A004-F826-4520-A298-5240E71E2E2D}" type="pres">
      <dgm:prSet presAssocID="{2E4788E1-AD36-4665-A747-4184F28A0AF0}" presName="level" presStyleLbl="node1" presStyleIdx="0" presStyleCnt="5">
        <dgm:presLayoutVars>
          <dgm:chMax val="1"/>
          <dgm:bulletEnabled val="1"/>
        </dgm:presLayoutVars>
      </dgm:prSet>
      <dgm:spPr/>
      <dgm:t>
        <a:bodyPr/>
        <a:lstStyle/>
        <a:p>
          <a:endParaRPr lang="en-US"/>
        </a:p>
      </dgm:t>
    </dgm:pt>
    <dgm:pt modelId="{450CA33A-B921-4603-8C45-9371BCB9C84C}" type="pres">
      <dgm:prSet presAssocID="{2E4788E1-AD36-4665-A747-4184F28A0AF0}" presName="levelTx" presStyleLbl="revTx" presStyleIdx="0" presStyleCnt="0">
        <dgm:presLayoutVars>
          <dgm:chMax val="1"/>
          <dgm:bulletEnabled val="1"/>
        </dgm:presLayoutVars>
      </dgm:prSet>
      <dgm:spPr/>
      <dgm:t>
        <a:bodyPr/>
        <a:lstStyle/>
        <a:p>
          <a:endParaRPr lang="en-US"/>
        </a:p>
      </dgm:t>
    </dgm:pt>
    <dgm:pt modelId="{01D3D980-C0C3-47D5-A213-A057C9ECC0FC}" type="pres">
      <dgm:prSet presAssocID="{E6EA9B38-53FA-4083-B756-4DCBE8080D4A}" presName="Name8" presStyleCnt="0"/>
      <dgm:spPr/>
    </dgm:pt>
    <dgm:pt modelId="{26049796-1BBA-4D2C-AFCA-719AFF025A5B}" type="pres">
      <dgm:prSet presAssocID="{E6EA9B38-53FA-4083-B756-4DCBE8080D4A}" presName="level" presStyleLbl="node1" presStyleIdx="1" presStyleCnt="5">
        <dgm:presLayoutVars>
          <dgm:chMax val="1"/>
          <dgm:bulletEnabled val="1"/>
        </dgm:presLayoutVars>
      </dgm:prSet>
      <dgm:spPr/>
      <dgm:t>
        <a:bodyPr/>
        <a:lstStyle/>
        <a:p>
          <a:endParaRPr lang="en-US"/>
        </a:p>
      </dgm:t>
    </dgm:pt>
    <dgm:pt modelId="{2C9DFFF8-E845-4D4B-B1DC-780C1A46C42D}" type="pres">
      <dgm:prSet presAssocID="{E6EA9B38-53FA-4083-B756-4DCBE8080D4A}" presName="levelTx" presStyleLbl="revTx" presStyleIdx="0" presStyleCnt="0">
        <dgm:presLayoutVars>
          <dgm:chMax val="1"/>
          <dgm:bulletEnabled val="1"/>
        </dgm:presLayoutVars>
      </dgm:prSet>
      <dgm:spPr/>
      <dgm:t>
        <a:bodyPr/>
        <a:lstStyle/>
        <a:p>
          <a:endParaRPr lang="en-US"/>
        </a:p>
      </dgm:t>
    </dgm:pt>
    <dgm:pt modelId="{82AB5F12-65A3-411D-BF79-5DDB4A96B3E9}" type="pres">
      <dgm:prSet presAssocID="{E2029858-D89C-4503-AAE3-D8F655E10823}" presName="Name8" presStyleCnt="0"/>
      <dgm:spPr/>
    </dgm:pt>
    <dgm:pt modelId="{EE8FD2F2-073E-46ED-8C87-571086E412B8}" type="pres">
      <dgm:prSet presAssocID="{E2029858-D89C-4503-AAE3-D8F655E10823}" presName="level" presStyleLbl="node1" presStyleIdx="2" presStyleCnt="5">
        <dgm:presLayoutVars>
          <dgm:chMax val="1"/>
          <dgm:bulletEnabled val="1"/>
        </dgm:presLayoutVars>
      </dgm:prSet>
      <dgm:spPr/>
      <dgm:t>
        <a:bodyPr/>
        <a:lstStyle/>
        <a:p>
          <a:endParaRPr lang="en-US"/>
        </a:p>
      </dgm:t>
    </dgm:pt>
    <dgm:pt modelId="{7E1DC9B4-532D-499E-AADC-2D923BC1D9F9}" type="pres">
      <dgm:prSet presAssocID="{E2029858-D89C-4503-AAE3-D8F655E10823}" presName="levelTx" presStyleLbl="revTx" presStyleIdx="0" presStyleCnt="0">
        <dgm:presLayoutVars>
          <dgm:chMax val="1"/>
          <dgm:bulletEnabled val="1"/>
        </dgm:presLayoutVars>
      </dgm:prSet>
      <dgm:spPr/>
      <dgm:t>
        <a:bodyPr/>
        <a:lstStyle/>
        <a:p>
          <a:endParaRPr lang="en-US"/>
        </a:p>
      </dgm:t>
    </dgm:pt>
    <dgm:pt modelId="{1A48A793-6ED1-4C9D-BB06-7E817B02E332}" type="pres">
      <dgm:prSet presAssocID="{AD5D75BE-BF25-44F9-A4F2-367FED83F192}" presName="Name8" presStyleCnt="0"/>
      <dgm:spPr/>
    </dgm:pt>
    <dgm:pt modelId="{BA416ED4-88C0-4D3F-BF2B-9002141429EB}" type="pres">
      <dgm:prSet presAssocID="{AD5D75BE-BF25-44F9-A4F2-367FED83F192}" presName="level" presStyleLbl="node1" presStyleIdx="3" presStyleCnt="5">
        <dgm:presLayoutVars>
          <dgm:chMax val="1"/>
          <dgm:bulletEnabled val="1"/>
        </dgm:presLayoutVars>
      </dgm:prSet>
      <dgm:spPr/>
      <dgm:t>
        <a:bodyPr/>
        <a:lstStyle/>
        <a:p>
          <a:endParaRPr lang="en-US"/>
        </a:p>
      </dgm:t>
    </dgm:pt>
    <dgm:pt modelId="{735C57C8-5CF5-4940-85DC-8EF2384D2C1E}" type="pres">
      <dgm:prSet presAssocID="{AD5D75BE-BF25-44F9-A4F2-367FED83F192}" presName="levelTx" presStyleLbl="revTx" presStyleIdx="0" presStyleCnt="0">
        <dgm:presLayoutVars>
          <dgm:chMax val="1"/>
          <dgm:bulletEnabled val="1"/>
        </dgm:presLayoutVars>
      </dgm:prSet>
      <dgm:spPr/>
      <dgm:t>
        <a:bodyPr/>
        <a:lstStyle/>
        <a:p>
          <a:endParaRPr lang="en-US"/>
        </a:p>
      </dgm:t>
    </dgm:pt>
    <dgm:pt modelId="{711E4D64-7033-4A02-9241-F361237A1417}" type="pres">
      <dgm:prSet presAssocID="{A83B3E38-F9FB-46BC-84BB-25006A58A447}" presName="Name8" presStyleCnt="0"/>
      <dgm:spPr/>
    </dgm:pt>
    <dgm:pt modelId="{DB0CE767-A3E6-4663-8C5E-0000BA07AF2C}" type="pres">
      <dgm:prSet presAssocID="{A83B3E38-F9FB-46BC-84BB-25006A58A447}" presName="level" presStyleLbl="node1" presStyleIdx="4" presStyleCnt="5">
        <dgm:presLayoutVars>
          <dgm:chMax val="1"/>
          <dgm:bulletEnabled val="1"/>
        </dgm:presLayoutVars>
      </dgm:prSet>
      <dgm:spPr/>
      <dgm:t>
        <a:bodyPr/>
        <a:lstStyle/>
        <a:p>
          <a:endParaRPr lang="en-US"/>
        </a:p>
      </dgm:t>
    </dgm:pt>
    <dgm:pt modelId="{DB810CA8-5AED-4404-B35A-F333915D8B17}" type="pres">
      <dgm:prSet presAssocID="{A83B3E38-F9FB-46BC-84BB-25006A58A447}" presName="levelTx" presStyleLbl="revTx" presStyleIdx="0" presStyleCnt="0">
        <dgm:presLayoutVars>
          <dgm:chMax val="1"/>
          <dgm:bulletEnabled val="1"/>
        </dgm:presLayoutVars>
      </dgm:prSet>
      <dgm:spPr/>
      <dgm:t>
        <a:bodyPr/>
        <a:lstStyle/>
        <a:p>
          <a:endParaRPr lang="en-US"/>
        </a:p>
      </dgm:t>
    </dgm:pt>
  </dgm:ptLst>
  <dgm:cxnLst>
    <dgm:cxn modelId="{04B352D5-FD32-4AD4-B157-8CDC0546E1BA}" type="presOf" srcId="{A83B3E38-F9FB-46BC-84BB-25006A58A447}" destId="{DB810CA8-5AED-4404-B35A-F333915D8B17}" srcOrd="1" destOrd="0" presId="urn:microsoft.com/office/officeart/2005/8/layout/pyramid1"/>
    <dgm:cxn modelId="{16715BD2-7643-4E3C-B5DD-1D4525F048A0}" type="presOf" srcId="{2E4788E1-AD36-4665-A747-4184F28A0AF0}" destId="{450CA33A-B921-4603-8C45-9371BCB9C84C}" srcOrd="1" destOrd="0" presId="urn:microsoft.com/office/officeart/2005/8/layout/pyramid1"/>
    <dgm:cxn modelId="{CDFF3601-3584-418E-985D-8448E58E6C08}" type="presOf" srcId="{E6EA9B38-53FA-4083-B756-4DCBE8080D4A}" destId="{2C9DFFF8-E845-4D4B-B1DC-780C1A46C42D}" srcOrd="1" destOrd="0" presId="urn:microsoft.com/office/officeart/2005/8/layout/pyramid1"/>
    <dgm:cxn modelId="{71BB7FA2-3FD2-4576-AC95-69583E4B4E96}" type="presOf" srcId="{A83B3E38-F9FB-46BC-84BB-25006A58A447}" destId="{DB0CE767-A3E6-4663-8C5E-0000BA07AF2C}" srcOrd="0" destOrd="0" presId="urn:microsoft.com/office/officeart/2005/8/layout/pyramid1"/>
    <dgm:cxn modelId="{5C452D58-8B2D-44FA-8B4E-BBF38E954866}" srcId="{54387CAF-CB67-44EB-B15C-07C04E337827}" destId="{2E4788E1-AD36-4665-A747-4184F28A0AF0}" srcOrd="0" destOrd="0" parTransId="{D19F7DDB-0281-462F-8808-E628CB555E67}" sibTransId="{824D72D5-0339-497C-8779-B6EC6D1E8DD1}"/>
    <dgm:cxn modelId="{86270249-719E-4136-815F-365ADBD1B877}" srcId="{54387CAF-CB67-44EB-B15C-07C04E337827}" destId="{A83B3E38-F9FB-46BC-84BB-25006A58A447}" srcOrd="4" destOrd="0" parTransId="{CD36E308-C460-482E-848F-07CBA9DD238E}" sibTransId="{786EC0E3-C053-45BA-A3C6-3CE6CC24F654}"/>
    <dgm:cxn modelId="{76FD5D5A-1AA1-4172-B09D-6E3ECC3EE6A6}" type="presOf" srcId="{2E4788E1-AD36-4665-A747-4184F28A0AF0}" destId="{1A56A004-F826-4520-A298-5240E71E2E2D}" srcOrd="0" destOrd="0" presId="urn:microsoft.com/office/officeart/2005/8/layout/pyramid1"/>
    <dgm:cxn modelId="{91247110-D5F8-480C-8172-94F2D11960A9}" type="presOf" srcId="{E2029858-D89C-4503-AAE3-D8F655E10823}" destId="{7E1DC9B4-532D-499E-AADC-2D923BC1D9F9}" srcOrd="1" destOrd="0" presId="urn:microsoft.com/office/officeart/2005/8/layout/pyramid1"/>
    <dgm:cxn modelId="{A374AE87-3C8E-48B7-92CA-8971501EE99F}" type="presOf" srcId="{AD5D75BE-BF25-44F9-A4F2-367FED83F192}" destId="{735C57C8-5CF5-4940-85DC-8EF2384D2C1E}" srcOrd="1" destOrd="0" presId="urn:microsoft.com/office/officeart/2005/8/layout/pyramid1"/>
    <dgm:cxn modelId="{55E3DCED-B4C5-48BB-AAAB-2FE60025B4D6}" type="presOf" srcId="{AD5D75BE-BF25-44F9-A4F2-367FED83F192}" destId="{BA416ED4-88C0-4D3F-BF2B-9002141429EB}" srcOrd="0" destOrd="0" presId="urn:microsoft.com/office/officeart/2005/8/layout/pyramid1"/>
    <dgm:cxn modelId="{8986FA10-B5B6-461C-BA09-F91701410763}" type="presOf" srcId="{54387CAF-CB67-44EB-B15C-07C04E337827}" destId="{BA79FAA7-EB72-42EC-80F9-687DCD5EECDD}" srcOrd="0" destOrd="0" presId="urn:microsoft.com/office/officeart/2005/8/layout/pyramid1"/>
    <dgm:cxn modelId="{B9C101E1-6987-4FD7-8189-78A1AA4A3853}" srcId="{54387CAF-CB67-44EB-B15C-07C04E337827}" destId="{AD5D75BE-BF25-44F9-A4F2-367FED83F192}" srcOrd="3" destOrd="0" parTransId="{B860E79A-A167-48EF-85CE-B9709A550CF9}" sibTransId="{1EF198C0-FE2D-474D-A3CC-12E6E2315A2D}"/>
    <dgm:cxn modelId="{D8DF3318-DF6A-4A56-8CF5-AAB75B91404A}" type="presOf" srcId="{E2029858-D89C-4503-AAE3-D8F655E10823}" destId="{EE8FD2F2-073E-46ED-8C87-571086E412B8}" srcOrd="0" destOrd="0" presId="urn:microsoft.com/office/officeart/2005/8/layout/pyramid1"/>
    <dgm:cxn modelId="{BDD9AD7B-74EF-43B0-B269-D943A9807867}" type="presOf" srcId="{E6EA9B38-53FA-4083-B756-4DCBE8080D4A}" destId="{26049796-1BBA-4D2C-AFCA-719AFF025A5B}" srcOrd="0" destOrd="0" presId="urn:microsoft.com/office/officeart/2005/8/layout/pyramid1"/>
    <dgm:cxn modelId="{7A774143-DB1C-4C31-B8F8-4DCAC4F8C82A}" srcId="{54387CAF-CB67-44EB-B15C-07C04E337827}" destId="{E2029858-D89C-4503-AAE3-D8F655E10823}" srcOrd="2" destOrd="0" parTransId="{C3C52881-BC21-4AF1-B7BC-B2D62AB4FC24}" sibTransId="{2375971E-636C-415A-A05C-B17842D77DA3}"/>
    <dgm:cxn modelId="{FB9D58DE-22EE-4365-A65F-BC39BFCCEFC2}" srcId="{54387CAF-CB67-44EB-B15C-07C04E337827}" destId="{E6EA9B38-53FA-4083-B756-4DCBE8080D4A}" srcOrd="1" destOrd="0" parTransId="{E8B34C94-AA8C-48C8-8906-8FD9E1F6EDA2}" sibTransId="{6E5CC911-8EAA-4963-805B-C84A0DC69854}"/>
    <dgm:cxn modelId="{9F37EC0F-D0B0-480F-92FE-A3244801CD66}" type="presParOf" srcId="{BA79FAA7-EB72-42EC-80F9-687DCD5EECDD}" destId="{E7495812-35AD-4B8A-A4DC-694A6F3211C9}" srcOrd="0" destOrd="0" presId="urn:microsoft.com/office/officeart/2005/8/layout/pyramid1"/>
    <dgm:cxn modelId="{11214283-3297-4AFE-8181-60341C6D7D4E}" type="presParOf" srcId="{E7495812-35AD-4B8A-A4DC-694A6F3211C9}" destId="{1A56A004-F826-4520-A298-5240E71E2E2D}" srcOrd="0" destOrd="0" presId="urn:microsoft.com/office/officeart/2005/8/layout/pyramid1"/>
    <dgm:cxn modelId="{D83E9E0A-8C2D-4B94-983F-2DCE8B6A4D1D}" type="presParOf" srcId="{E7495812-35AD-4B8A-A4DC-694A6F3211C9}" destId="{450CA33A-B921-4603-8C45-9371BCB9C84C}" srcOrd="1" destOrd="0" presId="urn:microsoft.com/office/officeart/2005/8/layout/pyramid1"/>
    <dgm:cxn modelId="{0B790665-8FCD-4826-8D17-37D798C4ACA3}" type="presParOf" srcId="{BA79FAA7-EB72-42EC-80F9-687DCD5EECDD}" destId="{01D3D980-C0C3-47D5-A213-A057C9ECC0FC}" srcOrd="1" destOrd="0" presId="urn:microsoft.com/office/officeart/2005/8/layout/pyramid1"/>
    <dgm:cxn modelId="{DB598D95-547F-48C1-9B07-E433EDD39827}" type="presParOf" srcId="{01D3D980-C0C3-47D5-A213-A057C9ECC0FC}" destId="{26049796-1BBA-4D2C-AFCA-719AFF025A5B}" srcOrd="0" destOrd="0" presId="urn:microsoft.com/office/officeart/2005/8/layout/pyramid1"/>
    <dgm:cxn modelId="{50C8853A-5460-49F7-B66F-83E9DA2A5BA7}" type="presParOf" srcId="{01D3D980-C0C3-47D5-A213-A057C9ECC0FC}" destId="{2C9DFFF8-E845-4D4B-B1DC-780C1A46C42D}" srcOrd="1" destOrd="0" presId="urn:microsoft.com/office/officeart/2005/8/layout/pyramid1"/>
    <dgm:cxn modelId="{7EF90AB6-8310-417E-846F-F7A53B9E3400}" type="presParOf" srcId="{BA79FAA7-EB72-42EC-80F9-687DCD5EECDD}" destId="{82AB5F12-65A3-411D-BF79-5DDB4A96B3E9}" srcOrd="2" destOrd="0" presId="urn:microsoft.com/office/officeart/2005/8/layout/pyramid1"/>
    <dgm:cxn modelId="{AD5B5E41-ECA7-4593-8EFD-8F3ECC0F1F93}" type="presParOf" srcId="{82AB5F12-65A3-411D-BF79-5DDB4A96B3E9}" destId="{EE8FD2F2-073E-46ED-8C87-571086E412B8}" srcOrd="0" destOrd="0" presId="urn:microsoft.com/office/officeart/2005/8/layout/pyramid1"/>
    <dgm:cxn modelId="{31359923-2A40-4CC1-819D-BFD3739C8AEC}" type="presParOf" srcId="{82AB5F12-65A3-411D-BF79-5DDB4A96B3E9}" destId="{7E1DC9B4-532D-499E-AADC-2D923BC1D9F9}" srcOrd="1" destOrd="0" presId="urn:microsoft.com/office/officeart/2005/8/layout/pyramid1"/>
    <dgm:cxn modelId="{E26B8C27-9759-4FA5-8FA9-36FBB9C275EB}" type="presParOf" srcId="{BA79FAA7-EB72-42EC-80F9-687DCD5EECDD}" destId="{1A48A793-6ED1-4C9D-BB06-7E817B02E332}" srcOrd="3" destOrd="0" presId="urn:microsoft.com/office/officeart/2005/8/layout/pyramid1"/>
    <dgm:cxn modelId="{8A907603-5181-4B86-8A2C-8C46B9F90659}" type="presParOf" srcId="{1A48A793-6ED1-4C9D-BB06-7E817B02E332}" destId="{BA416ED4-88C0-4D3F-BF2B-9002141429EB}" srcOrd="0" destOrd="0" presId="urn:microsoft.com/office/officeart/2005/8/layout/pyramid1"/>
    <dgm:cxn modelId="{5C803D37-5044-4FB6-8019-7AAC7AD31A96}" type="presParOf" srcId="{1A48A793-6ED1-4C9D-BB06-7E817B02E332}" destId="{735C57C8-5CF5-4940-85DC-8EF2384D2C1E}" srcOrd="1" destOrd="0" presId="urn:microsoft.com/office/officeart/2005/8/layout/pyramid1"/>
    <dgm:cxn modelId="{8C676436-C8AB-4345-A5D1-A19097E3D47F}" type="presParOf" srcId="{BA79FAA7-EB72-42EC-80F9-687DCD5EECDD}" destId="{711E4D64-7033-4A02-9241-F361237A1417}" srcOrd="4" destOrd="0" presId="urn:microsoft.com/office/officeart/2005/8/layout/pyramid1"/>
    <dgm:cxn modelId="{30ED1092-3770-4A91-8D5D-CFF20780A865}" type="presParOf" srcId="{711E4D64-7033-4A02-9241-F361237A1417}" destId="{DB0CE767-A3E6-4663-8C5E-0000BA07AF2C}" srcOrd="0" destOrd="0" presId="urn:microsoft.com/office/officeart/2005/8/layout/pyramid1"/>
    <dgm:cxn modelId="{B0586C95-5E66-4AEF-89BB-ACE74B0ABF09}" type="presParOf" srcId="{711E4D64-7033-4A02-9241-F361237A1417}" destId="{DB810CA8-5AED-4404-B35A-F333915D8B17}"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56A004-F826-4520-A298-5240E71E2E2D}">
      <dsp:nvSpPr>
        <dsp:cNvPr id="0" name=""/>
        <dsp:cNvSpPr/>
      </dsp:nvSpPr>
      <dsp:spPr>
        <a:xfrm>
          <a:off x="4671752" y="0"/>
          <a:ext cx="2335876" cy="1278497"/>
        </a:xfrm>
        <a:prstGeom prst="trapezoid">
          <a:avLst>
            <a:gd name="adj" fmla="val 91352"/>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a:t>WASPS (White Anglo-Saxon Protestants), white settlers, British, Germans, Scandinavians. Best jobs, most money, more political power</a:t>
          </a:r>
        </a:p>
      </dsp:txBody>
      <dsp:txXfrm>
        <a:off x="4671752" y="0"/>
        <a:ext cx="2335876" cy="1278497"/>
      </dsp:txXfrm>
    </dsp:sp>
    <dsp:sp modelId="{26049796-1BBA-4D2C-AFCA-719AFF025A5B}">
      <dsp:nvSpPr>
        <dsp:cNvPr id="0" name=""/>
        <dsp:cNvSpPr/>
      </dsp:nvSpPr>
      <dsp:spPr>
        <a:xfrm>
          <a:off x="3503814" y="1278497"/>
          <a:ext cx="4671752" cy="1278497"/>
        </a:xfrm>
        <a:prstGeom prst="trapezoid">
          <a:avLst>
            <a:gd name="adj" fmla="val 91352"/>
          </a:avLst>
        </a:prstGeom>
        <a:solidFill>
          <a:schemeClr val="accent4">
            <a:hueOff val="2598923"/>
            <a:satOff val="-11992"/>
            <a:lumOff val="4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a:t>Immigrants from Southern and Eastern Europeans (Russia, Poland, Italy) escaping persecution (Jews, Catholics). Railway workers, immigrant </a:t>
          </a:r>
          <a:r>
            <a:rPr lang="en-US" sz="1400" kern="1200" dirty="0" err="1"/>
            <a:t>labour</a:t>
          </a:r>
          <a:endParaRPr lang="en-US" sz="1400" kern="1200" dirty="0"/>
        </a:p>
      </dsp:txBody>
      <dsp:txXfrm>
        <a:off x="4321370" y="1278497"/>
        <a:ext cx="3036639" cy="1278497"/>
      </dsp:txXfrm>
    </dsp:sp>
    <dsp:sp modelId="{EE8FD2F2-073E-46ED-8C87-571086E412B8}">
      <dsp:nvSpPr>
        <dsp:cNvPr id="0" name=""/>
        <dsp:cNvSpPr/>
      </dsp:nvSpPr>
      <dsp:spPr>
        <a:xfrm>
          <a:off x="2335876" y="2556994"/>
          <a:ext cx="7007628" cy="1278497"/>
        </a:xfrm>
        <a:prstGeom prst="trapezoid">
          <a:avLst>
            <a:gd name="adj" fmla="val 91352"/>
          </a:avLst>
        </a:prstGeom>
        <a:solidFill>
          <a:schemeClr val="accent4">
            <a:hueOff val="5197846"/>
            <a:satOff val="-23984"/>
            <a:lumOff val="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a:t>Hispanics (Central and South America), Asian immigrants. Working on cattle ranches, railroads, cities</a:t>
          </a:r>
        </a:p>
      </dsp:txBody>
      <dsp:txXfrm>
        <a:off x="3562211" y="2556994"/>
        <a:ext cx="4554958" cy="1278497"/>
      </dsp:txXfrm>
    </dsp:sp>
    <dsp:sp modelId="{BA416ED4-88C0-4D3F-BF2B-9002141429EB}">
      <dsp:nvSpPr>
        <dsp:cNvPr id="0" name=""/>
        <dsp:cNvSpPr/>
      </dsp:nvSpPr>
      <dsp:spPr>
        <a:xfrm>
          <a:off x="1167938" y="3835492"/>
          <a:ext cx="9343504" cy="1278497"/>
        </a:xfrm>
        <a:prstGeom prst="trapezoid">
          <a:avLst>
            <a:gd name="adj" fmla="val 91352"/>
          </a:avLst>
        </a:prstGeom>
        <a:solidFill>
          <a:schemeClr val="accent4">
            <a:hueOff val="7796769"/>
            <a:satOff val="-35976"/>
            <a:lumOff val="13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a:t>Negroes (African Americans). Slavery ended 1865. Farm </a:t>
          </a:r>
          <a:r>
            <a:rPr lang="en-US" sz="1400" kern="1200" dirty="0" err="1"/>
            <a:t>labourers</a:t>
          </a:r>
          <a:r>
            <a:rPr lang="en-US" sz="1400" kern="1200" dirty="0"/>
            <a:t>, factory workers, Jim Crow Laws.</a:t>
          </a:r>
        </a:p>
      </dsp:txBody>
      <dsp:txXfrm>
        <a:off x="2803051" y="3835492"/>
        <a:ext cx="6073278" cy="1278497"/>
      </dsp:txXfrm>
    </dsp:sp>
    <dsp:sp modelId="{DB0CE767-A3E6-4663-8C5E-0000BA07AF2C}">
      <dsp:nvSpPr>
        <dsp:cNvPr id="0" name=""/>
        <dsp:cNvSpPr/>
      </dsp:nvSpPr>
      <dsp:spPr>
        <a:xfrm>
          <a:off x="0" y="5113989"/>
          <a:ext cx="11679381" cy="1278497"/>
        </a:xfrm>
        <a:prstGeom prst="trapezoid">
          <a:avLst>
            <a:gd name="adj" fmla="val 91352"/>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a:t>Native Americans. 1850-1890s forced off their land by westward expansion. By 1917 majority lived on reservations.</a:t>
          </a:r>
        </a:p>
      </dsp:txBody>
      <dsp:txXfrm>
        <a:off x="2043891" y="5113989"/>
        <a:ext cx="7591597" cy="1278497"/>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516F642D-0CFD-429F-8DE6-8DB9C14440B6}" type="datetimeFigureOut">
              <a:rPr lang="en-AU" smtClean="0"/>
              <a:t>26/02/2019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65C0B9D-FD13-4565-9EC0-561649809CC2}" type="slidenum">
              <a:rPr lang="en-AU" smtClean="0"/>
              <a:t>‹#›</a:t>
            </a:fld>
            <a:endParaRPr lang="en-AU"/>
          </a:p>
        </p:txBody>
      </p:sp>
    </p:spTree>
    <p:extLst>
      <p:ext uri="{BB962C8B-B14F-4D97-AF65-F5344CB8AC3E}">
        <p14:creationId xmlns:p14="http://schemas.microsoft.com/office/powerpoint/2010/main" val="2219475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516F642D-0CFD-429F-8DE6-8DB9C14440B6}" type="datetimeFigureOut">
              <a:rPr lang="en-AU" smtClean="0"/>
              <a:t>26/02/2019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65C0B9D-FD13-4565-9EC0-561649809CC2}" type="slidenum">
              <a:rPr lang="en-AU" smtClean="0"/>
              <a:t>‹#›</a:t>
            </a:fld>
            <a:endParaRPr lang="en-AU"/>
          </a:p>
        </p:txBody>
      </p:sp>
    </p:spTree>
    <p:extLst>
      <p:ext uri="{BB962C8B-B14F-4D97-AF65-F5344CB8AC3E}">
        <p14:creationId xmlns:p14="http://schemas.microsoft.com/office/powerpoint/2010/main" val="3195703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16F642D-0CFD-429F-8DE6-8DB9C14440B6}" type="datetimeFigureOut">
              <a:rPr lang="en-AU" smtClean="0"/>
              <a:t>26/02/2019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65C0B9D-FD13-4565-9EC0-561649809CC2}" type="slidenum">
              <a:rPr lang="en-AU" smtClean="0"/>
              <a:t>‹#›</a:t>
            </a:fld>
            <a:endParaRPr lang="en-AU"/>
          </a:p>
        </p:txBody>
      </p:sp>
    </p:spTree>
    <p:extLst>
      <p:ext uri="{BB962C8B-B14F-4D97-AF65-F5344CB8AC3E}">
        <p14:creationId xmlns:p14="http://schemas.microsoft.com/office/powerpoint/2010/main" val="1853876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516F642D-0CFD-429F-8DE6-8DB9C14440B6}" type="datetimeFigureOut">
              <a:rPr lang="en-AU" smtClean="0"/>
              <a:t>26/02/2019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65C0B9D-FD13-4565-9EC0-561649809CC2}" type="slidenum">
              <a:rPr lang="en-AU" smtClean="0"/>
              <a:t>‹#›</a:t>
            </a:fld>
            <a:endParaRPr lang="en-AU"/>
          </a:p>
        </p:txBody>
      </p:sp>
    </p:spTree>
    <p:extLst>
      <p:ext uri="{BB962C8B-B14F-4D97-AF65-F5344CB8AC3E}">
        <p14:creationId xmlns:p14="http://schemas.microsoft.com/office/powerpoint/2010/main" val="156911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516F642D-0CFD-429F-8DE6-8DB9C14440B6}" type="datetimeFigureOut">
              <a:rPr lang="en-AU" smtClean="0"/>
              <a:t>26/02/2019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65C0B9D-FD13-4565-9EC0-561649809CC2}" type="slidenum">
              <a:rPr lang="en-AU" smtClean="0"/>
              <a:t>‹#›</a:t>
            </a:fld>
            <a:endParaRPr lang="en-AU"/>
          </a:p>
        </p:txBody>
      </p:sp>
    </p:spTree>
    <p:extLst>
      <p:ext uri="{BB962C8B-B14F-4D97-AF65-F5344CB8AC3E}">
        <p14:creationId xmlns:p14="http://schemas.microsoft.com/office/powerpoint/2010/main" val="3505501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516F642D-0CFD-429F-8DE6-8DB9C14440B6}" type="datetimeFigureOut">
              <a:rPr lang="en-AU" smtClean="0"/>
              <a:t>26/02/2019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65C0B9D-FD13-4565-9EC0-561649809CC2}" type="slidenum">
              <a:rPr lang="en-AU" smtClean="0"/>
              <a:t>‹#›</a:t>
            </a:fld>
            <a:endParaRPr lang="en-AU"/>
          </a:p>
        </p:txBody>
      </p:sp>
    </p:spTree>
    <p:extLst>
      <p:ext uri="{BB962C8B-B14F-4D97-AF65-F5344CB8AC3E}">
        <p14:creationId xmlns:p14="http://schemas.microsoft.com/office/powerpoint/2010/main" val="3551518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6F642D-0CFD-429F-8DE6-8DB9C14440B6}" type="datetimeFigureOut">
              <a:rPr lang="en-AU" smtClean="0"/>
              <a:t>26/02/2019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65C0B9D-FD13-4565-9EC0-561649809CC2}" type="slidenum">
              <a:rPr lang="en-AU" smtClean="0"/>
              <a:t>‹#›</a:t>
            </a:fld>
            <a:endParaRPr lang="en-AU"/>
          </a:p>
        </p:txBody>
      </p:sp>
    </p:spTree>
    <p:extLst>
      <p:ext uri="{BB962C8B-B14F-4D97-AF65-F5344CB8AC3E}">
        <p14:creationId xmlns:p14="http://schemas.microsoft.com/office/powerpoint/2010/main" val="2653535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16F642D-0CFD-429F-8DE6-8DB9C14440B6}" type="datetimeFigureOut">
              <a:rPr lang="en-AU" smtClean="0"/>
              <a:t>26/02/2019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65C0B9D-FD13-4565-9EC0-561649809CC2}" type="slidenum">
              <a:rPr lang="en-AU" smtClean="0"/>
              <a:t>‹#›</a:t>
            </a:fld>
            <a:endParaRPr lang="en-AU"/>
          </a:p>
        </p:txBody>
      </p:sp>
    </p:spTree>
    <p:extLst>
      <p:ext uri="{BB962C8B-B14F-4D97-AF65-F5344CB8AC3E}">
        <p14:creationId xmlns:p14="http://schemas.microsoft.com/office/powerpoint/2010/main" val="3192981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16F642D-0CFD-429F-8DE6-8DB9C14440B6}" type="datetimeFigureOut">
              <a:rPr lang="en-AU" smtClean="0"/>
              <a:t>26/02/2019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65C0B9D-FD13-4565-9EC0-561649809CC2}" type="slidenum">
              <a:rPr lang="en-AU" smtClean="0"/>
              <a:t>‹#›</a:t>
            </a:fld>
            <a:endParaRPr lang="en-AU"/>
          </a:p>
        </p:txBody>
      </p:sp>
    </p:spTree>
    <p:extLst>
      <p:ext uri="{BB962C8B-B14F-4D97-AF65-F5344CB8AC3E}">
        <p14:creationId xmlns:p14="http://schemas.microsoft.com/office/powerpoint/2010/main" val="2325226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516F642D-0CFD-429F-8DE6-8DB9C14440B6}" type="datetimeFigureOut">
              <a:rPr lang="en-AU" smtClean="0"/>
              <a:t>26/02/2019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65C0B9D-FD13-4565-9EC0-561649809CC2}" type="slidenum">
              <a:rPr lang="en-AU" smtClean="0"/>
              <a:t>‹#›</a:t>
            </a:fld>
            <a:endParaRPr lang="en-AU"/>
          </a:p>
        </p:txBody>
      </p:sp>
    </p:spTree>
    <p:extLst>
      <p:ext uri="{BB962C8B-B14F-4D97-AF65-F5344CB8AC3E}">
        <p14:creationId xmlns:p14="http://schemas.microsoft.com/office/powerpoint/2010/main" val="627165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516F642D-0CFD-429F-8DE6-8DB9C14440B6}" type="datetimeFigureOut">
              <a:rPr lang="en-AU" smtClean="0"/>
              <a:t>26/02/2019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65C0B9D-FD13-4565-9EC0-561649809CC2}" type="slidenum">
              <a:rPr lang="en-AU" smtClean="0"/>
              <a:t>‹#›</a:t>
            </a:fld>
            <a:endParaRPr lang="en-AU"/>
          </a:p>
        </p:txBody>
      </p:sp>
    </p:spTree>
    <p:extLst>
      <p:ext uri="{BB962C8B-B14F-4D97-AF65-F5344CB8AC3E}">
        <p14:creationId xmlns:p14="http://schemas.microsoft.com/office/powerpoint/2010/main" val="3494601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6F642D-0CFD-429F-8DE6-8DB9C14440B6}" type="datetimeFigureOut">
              <a:rPr lang="en-AU" smtClean="0"/>
              <a:t>26/02/2019</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5C0B9D-FD13-4565-9EC0-561649809CC2}" type="slidenum">
              <a:rPr lang="en-AU" smtClean="0"/>
              <a:t>‹#›</a:t>
            </a:fld>
            <a:endParaRPr lang="en-AU"/>
          </a:p>
        </p:txBody>
      </p:sp>
    </p:spTree>
    <p:extLst>
      <p:ext uri="{BB962C8B-B14F-4D97-AF65-F5344CB8AC3E}">
        <p14:creationId xmlns:p14="http://schemas.microsoft.com/office/powerpoint/2010/main" val="1855179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70">
            <a:extLst>
              <a:ext uri="{FF2B5EF4-FFF2-40B4-BE49-F238E27FC236}">
                <a16:creationId xmlns:a16="http://schemas.microsoft.com/office/drawing/2014/main" id="{E20EB187-900F-4AF5-813B-101456D9FD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mage result for immigration usa">
            <a:extLst>
              <a:ext uri="{FF2B5EF4-FFF2-40B4-BE49-F238E27FC236}">
                <a16:creationId xmlns:a16="http://schemas.microsoft.com/office/drawing/2014/main" id="{A06446D0-74CC-43D2-8EE7-F454BBD737CE}"/>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b="3433"/>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4387349" y="1200152"/>
            <a:ext cx="6897171" cy="4457696"/>
          </a:xfrm>
        </p:spPr>
        <p:txBody>
          <a:bodyPr anchor="ctr">
            <a:normAutofit/>
          </a:bodyPr>
          <a:lstStyle/>
          <a:p>
            <a:pPr algn="l"/>
            <a:r>
              <a:rPr lang="en-AU" sz="7400">
                <a:solidFill>
                  <a:srgbClr val="FFFFFF"/>
                </a:solidFill>
              </a:rPr>
              <a:t>Mass Immigration and Immigrant Labour</a:t>
            </a:r>
          </a:p>
        </p:txBody>
      </p:sp>
      <p:sp>
        <p:nvSpPr>
          <p:cNvPr id="3" name="Subtitle 2"/>
          <p:cNvSpPr>
            <a:spLocks noGrp="1"/>
          </p:cNvSpPr>
          <p:nvPr>
            <p:ph type="subTitle" idx="1"/>
          </p:nvPr>
        </p:nvSpPr>
        <p:spPr>
          <a:xfrm>
            <a:off x="849963" y="1200152"/>
            <a:ext cx="2816535" cy="4457696"/>
          </a:xfrm>
        </p:spPr>
        <p:txBody>
          <a:bodyPr anchor="ctr">
            <a:normAutofit/>
          </a:bodyPr>
          <a:lstStyle/>
          <a:p>
            <a:pPr algn="r"/>
            <a:r>
              <a:rPr lang="en-AU" sz="2800">
                <a:solidFill>
                  <a:srgbClr val="FFFFFF"/>
                </a:solidFill>
              </a:rPr>
              <a:t>Year 11 Modern History</a:t>
            </a:r>
          </a:p>
        </p:txBody>
      </p:sp>
      <p:cxnSp>
        <p:nvCxnSpPr>
          <p:cNvPr id="73" name="Straight Connector 72">
            <a:extLst>
              <a:ext uri="{FF2B5EF4-FFF2-40B4-BE49-F238E27FC236}">
                <a16:creationId xmlns:a16="http://schemas.microsoft.com/office/drawing/2014/main" id="{624D17C8-E9C2-48A4-AA36-D7048A6CCC41}"/>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5891" y="2286000"/>
            <a:ext cx="0" cy="22860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794797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AU" b="1" dirty="0">
                <a:solidFill>
                  <a:srgbClr val="FFFFFF"/>
                </a:solidFill>
              </a:rPr>
              <a:t>SOCIAL IMPACTS </a:t>
            </a:r>
            <a:r>
              <a:rPr lang="en-AU" dirty="0">
                <a:solidFill>
                  <a:srgbClr val="FFFFFF"/>
                </a:solidFill>
              </a:rPr>
              <a:t>– Class Divisions</a:t>
            </a:r>
          </a:p>
        </p:txBody>
      </p:sp>
      <p:sp>
        <p:nvSpPr>
          <p:cNvPr id="3" name="Content Placeholder 2"/>
          <p:cNvSpPr>
            <a:spLocks noGrp="1"/>
          </p:cNvSpPr>
          <p:nvPr>
            <p:ph idx="1"/>
          </p:nvPr>
        </p:nvSpPr>
        <p:spPr>
          <a:xfrm>
            <a:off x="5886449" y="300037"/>
            <a:ext cx="6082109" cy="6429375"/>
          </a:xfrm>
        </p:spPr>
        <p:txBody>
          <a:bodyPr anchor="ctr">
            <a:normAutofit/>
          </a:bodyPr>
          <a:lstStyle/>
          <a:p>
            <a:r>
              <a:rPr lang="en-AU" sz="2900" dirty="0">
                <a:solidFill>
                  <a:srgbClr val="000000"/>
                </a:solidFill>
              </a:rPr>
              <a:t>From 1890s onwards, most migrants to the United States came from Italy, Russia and Austro-Hungarian Empire</a:t>
            </a:r>
          </a:p>
          <a:p>
            <a:r>
              <a:rPr lang="en-AU" sz="2900" dirty="0">
                <a:solidFill>
                  <a:srgbClr val="000000"/>
                </a:solidFill>
              </a:rPr>
              <a:t>America is a </a:t>
            </a:r>
            <a:r>
              <a:rPr lang="en-AU" sz="2900" b="1" dirty="0">
                <a:solidFill>
                  <a:srgbClr val="000000"/>
                </a:solidFill>
              </a:rPr>
              <a:t>Melting Pot</a:t>
            </a:r>
          </a:p>
          <a:p>
            <a:r>
              <a:rPr lang="en-AU" sz="2900" dirty="0">
                <a:solidFill>
                  <a:srgbClr val="000000"/>
                </a:solidFill>
              </a:rPr>
              <a:t>USA mixed society</a:t>
            </a:r>
          </a:p>
          <a:p>
            <a:r>
              <a:rPr lang="en-AU" sz="2900" dirty="0">
                <a:solidFill>
                  <a:srgbClr val="000000"/>
                </a:solidFill>
              </a:rPr>
              <a:t>By 1920 103 nationalities</a:t>
            </a:r>
          </a:p>
          <a:p>
            <a:r>
              <a:rPr lang="en-AU" sz="2900" dirty="0">
                <a:solidFill>
                  <a:srgbClr val="000000"/>
                </a:solidFill>
              </a:rPr>
              <a:t>Motto: “From the Many: One” – immigrants should lose old identity and become Americans</a:t>
            </a:r>
          </a:p>
          <a:p>
            <a:r>
              <a:rPr lang="en-AU" sz="2900" dirty="0">
                <a:solidFill>
                  <a:srgbClr val="000000"/>
                </a:solidFill>
              </a:rPr>
              <a:t>Reality is attitudes toward each new group treated with suspicion</a:t>
            </a:r>
          </a:p>
          <a:p>
            <a:r>
              <a:rPr lang="en-AU" sz="2900" dirty="0">
                <a:solidFill>
                  <a:srgbClr val="000000"/>
                </a:solidFill>
              </a:rPr>
              <a:t>Immigrants given worst jobs, poorest pay</a:t>
            </a:r>
          </a:p>
        </p:txBody>
      </p:sp>
    </p:spTree>
    <p:extLst>
      <p:ext uri="{BB962C8B-B14F-4D97-AF65-F5344CB8AC3E}">
        <p14:creationId xmlns:p14="http://schemas.microsoft.com/office/powerpoint/2010/main" val="25896552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2329887304"/>
              </p:ext>
            </p:extLst>
          </p:nvPr>
        </p:nvGraphicFramePr>
        <p:xfrm>
          <a:off x="224443" y="266007"/>
          <a:ext cx="11679381" cy="63924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432262" y="365760"/>
            <a:ext cx="2709949" cy="2308324"/>
          </a:xfrm>
          <a:prstGeom prst="rect">
            <a:avLst/>
          </a:prstGeom>
          <a:noFill/>
        </p:spPr>
        <p:txBody>
          <a:bodyPr wrap="square" rtlCol="0">
            <a:spAutoFit/>
          </a:bodyPr>
          <a:lstStyle/>
          <a:p>
            <a:r>
              <a:rPr lang="en-AU" dirty="0"/>
              <a:t>Social divisions = The hierarchical organisation by which a society or community is divided into classes.</a:t>
            </a:r>
          </a:p>
          <a:p>
            <a:endParaRPr lang="en-AU" dirty="0"/>
          </a:p>
          <a:p>
            <a:r>
              <a:rPr lang="en-AU" dirty="0"/>
              <a:t>America divided:</a:t>
            </a:r>
          </a:p>
          <a:p>
            <a:endParaRPr lang="en-AU" dirty="0"/>
          </a:p>
        </p:txBody>
      </p:sp>
    </p:spTree>
    <p:extLst>
      <p:ext uri="{BB962C8B-B14F-4D97-AF65-F5344CB8AC3E}">
        <p14:creationId xmlns:p14="http://schemas.microsoft.com/office/powerpoint/2010/main" val="21630171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7">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0572" cy="6858000"/>
          </a:xfrm>
          <a:prstGeom prst="rect">
            <a:avLst/>
          </a:prstGeom>
          <a:gradFill>
            <a:gsLst>
              <a:gs pos="0">
                <a:srgbClr val="E3411B">
                  <a:lumMod val="90000"/>
                </a:srgbClr>
              </a:gs>
              <a:gs pos="25000">
                <a:srgbClr val="E3411B">
                  <a:lumMod val="90000"/>
                </a:srgb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9">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AU" b="1" dirty="0">
                <a:solidFill>
                  <a:srgbClr val="FFFFFF"/>
                </a:solidFill>
              </a:rPr>
              <a:t>ECONOMIC IMPACTS </a:t>
            </a:r>
            <a:r>
              <a:rPr lang="en-AU" dirty="0">
                <a:solidFill>
                  <a:srgbClr val="FFFFFF"/>
                </a:solidFill>
              </a:rPr>
              <a:t>– immigrant labour</a:t>
            </a:r>
          </a:p>
        </p:txBody>
      </p:sp>
      <p:sp>
        <p:nvSpPr>
          <p:cNvPr id="3" name="Content Placeholder 2"/>
          <p:cNvSpPr>
            <a:spLocks noGrp="1"/>
          </p:cNvSpPr>
          <p:nvPr>
            <p:ph idx="1"/>
          </p:nvPr>
        </p:nvSpPr>
        <p:spPr>
          <a:xfrm>
            <a:off x="5839491" y="200025"/>
            <a:ext cx="6090571" cy="6429375"/>
          </a:xfrm>
        </p:spPr>
        <p:txBody>
          <a:bodyPr anchor="ctr">
            <a:noAutofit/>
          </a:bodyPr>
          <a:lstStyle/>
          <a:p>
            <a:r>
              <a:rPr lang="en-AU" sz="2400" b="1" dirty="0">
                <a:solidFill>
                  <a:srgbClr val="000000"/>
                </a:solidFill>
              </a:rPr>
              <a:t>Mass </a:t>
            </a:r>
            <a:r>
              <a:rPr lang="en-AU" sz="2400" dirty="0">
                <a:solidFill>
                  <a:srgbClr val="000000"/>
                </a:solidFill>
              </a:rPr>
              <a:t>influx of migrants created </a:t>
            </a:r>
            <a:r>
              <a:rPr lang="en-AU" sz="2400" b="1" dirty="0">
                <a:solidFill>
                  <a:srgbClr val="000000"/>
                </a:solidFill>
              </a:rPr>
              <a:t>huge </a:t>
            </a:r>
            <a:r>
              <a:rPr lang="en-AU" sz="2400" dirty="0">
                <a:solidFill>
                  <a:srgbClr val="000000"/>
                </a:solidFill>
              </a:rPr>
              <a:t>labour force which in turn, provided workers in the railway and industrial (factory) industries</a:t>
            </a:r>
          </a:p>
          <a:p>
            <a:pPr lvl="1"/>
            <a:r>
              <a:rPr lang="en-AU" dirty="0">
                <a:solidFill>
                  <a:srgbClr val="000000"/>
                </a:solidFill>
              </a:rPr>
              <a:t>This in turn, contributed to the economic boom during the Gilded Age, Second Industrial Revolution and during the Progressive Era to WW1 (allowing America to produce and sell munitions to countries involved and making huge profits).</a:t>
            </a:r>
          </a:p>
          <a:p>
            <a:r>
              <a:rPr lang="en-AU" sz="2400" dirty="0">
                <a:solidFill>
                  <a:srgbClr val="000000"/>
                </a:solidFill>
              </a:rPr>
              <a:t>The economy’s total output increased by 85 per cent between 1900 and 1910.</a:t>
            </a:r>
          </a:p>
          <a:p>
            <a:r>
              <a:rPr lang="en-AU" sz="2400" dirty="0">
                <a:solidFill>
                  <a:srgbClr val="000000"/>
                </a:solidFill>
              </a:rPr>
              <a:t>Economic inequalities with those at top of social hierarchy </a:t>
            </a:r>
          </a:p>
          <a:p>
            <a:r>
              <a:rPr lang="en-AU" sz="2400" dirty="0">
                <a:solidFill>
                  <a:srgbClr val="000000"/>
                </a:solidFill>
              </a:rPr>
              <a:t>Migrants worked long hours for low pay</a:t>
            </a:r>
          </a:p>
          <a:p>
            <a:r>
              <a:rPr lang="en-AU" sz="2400" dirty="0">
                <a:solidFill>
                  <a:srgbClr val="000000"/>
                </a:solidFill>
              </a:rPr>
              <a:t>Dangerous conditions in factories and mines</a:t>
            </a:r>
          </a:p>
        </p:txBody>
      </p:sp>
    </p:spTree>
    <p:extLst>
      <p:ext uri="{BB962C8B-B14F-4D97-AF65-F5344CB8AC3E}">
        <p14:creationId xmlns:p14="http://schemas.microsoft.com/office/powerpoint/2010/main" val="9096584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0572" cy="6858000"/>
          </a:xfrm>
          <a:prstGeom prst="rect">
            <a:avLst/>
          </a:prstGeom>
          <a:gradFill>
            <a:gsLst>
              <a:gs pos="0">
                <a:schemeClr val="accent6">
                  <a:lumMod val="90000"/>
                </a:schemeClr>
              </a:gs>
              <a:gs pos="25000">
                <a:schemeClr val="accent6">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AU" sz="3700" b="1" dirty="0">
                <a:solidFill>
                  <a:srgbClr val="FFFFFF"/>
                </a:solidFill>
              </a:rPr>
              <a:t>POLITICAL IMPACTS </a:t>
            </a:r>
            <a:r>
              <a:rPr lang="en-AU" sz="3700" dirty="0">
                <a:solidFill>
                  <a:srgbClr val="FFFFFF"/>
                </a:solidFill>
              </a:rPr>
              <a:t>– Federal Immigration Regulation</a:t>
            </a:r>
          </a:p>
        </p:txBody>
      </p:sp>
      <p:sp>
        <p:nvSpPr>
          <p:cNvPr id="3" name="Content Placeholder 2"/>
          <p:cNvSpPr>
            <a:spLocks noGrp="1"/>
          </p:cNvSpPr>
          <p:nvPr>
            <p:ph idx="1"/>
          </p:nvPr>
        </p:nvSpPr>
        <p:spPr>
          <a:xfrm>
            <a:off x="6090573" y="185738"/>
            <a:ext cx="5896639" cy="6429375"/>
          </a:xfrm>
        </p:spPr>
        <p:txBody>
          <a:bodyPr anchor="ctr">
            <a:normAutofit fontScale="92500" lnSpcReduction="20000"/>
          </a:bodyPr>
          <a:lstStyle/>
          <a:p>
            <a:r>
              <a:rPr lang="en-AU" sz="2600" dirty="0">
                <a:solidFill>
                  <a:srgbClr val="000000"/>
                </a:solidFill>
              </a:rPr>
              <a:t>For much of the 1800s, the federal government had left immigration policy to individual states. However, by the final decade of the century, the government decided it needed to step in to handle the ever-increasing influx of newcomers. </a:t>
            </a:r>
          </a:p>
          <a:p>
            <a:r>
              <a:rPr lang="en-AU" sz="2600" dirty="0">
                <a:solidFill>
                  <a:srgbClr val="000000"/>
                </a:solidFill>
              </a:rPr>
              <a:t>1882 Chinese Exclusion Act passed limiting number of Chinese immigrants</a:t>
            </a:r>
          </a:p>
          <a:p>
            <a:pPr lvl="1"/>
            <a:r>
              <a:rPr lang="en-AU" sz="2600" dirty="0">
                <a:solidFill>
                  <a:srgbClr val="000000"/>
                </a:solidFill>
              </a:rPr>
              <a:t>Workers in California worried about losing jobs to Chinese who would work for less money</a:t>
            </a:r>
          </a:p>
          <a:p>
            <a:r>
              <a:rPr lang="en-AU" sz="2600" dirty="0">
                <a:solidFill>
                  <a:srgbClr val="000000"/>
                </a:solidFill>
              </a:rPr>
              <a:t>1890 Ellis Island, New York (where Statue of Liberty located) became federal immigration station.</a:t>
            </a:r>
          </a:p>
          <a:p>
            <a:pPr lvl="1"/>
            <a:r>
              <a:rPr lang="en-AU" sz="2600" dirty="0">
                <a:solidFill>
                  <a:srgbClr val="000000"/>
                </a:solidFill>
              </a:rPr>
              <a:t>More than 12 million immigrants entered US through Ellis Island</a:t>
            </a:r>
          </a:p>
          <a:p>
            <a:pPr lvl="1"/>
            <a:r>
              <a:rPr lang="en-AU" sz="2600" dirty="0">
                <a:solidFill>
                  <a:srgbClr val="000000"/>
                </a:solidFill>
              </a:rPr>
              <a:t>No guarantee of being allowed into US</a:t>
            </a:r>
          </a:p>
          <a:p>
            <a:r>
              <a:rPr lang="en-AU" sz="2600" dirty="0">
                <a:solidFill>
                  <a:srgbClr val="000000"/>
                </a:solidFill>
              </a:rPr>
              <a:t>Immigrants had to be registered when arriving at Ellis Island</a:t>
            </a:r>
          </a:p>
          <a:p>
            <a:pPr lvl="1"/>
            <a:r>
              <a:rPr lang="en-AU" sz="2600" dirty="0">
                <a:solidFill>
                  <a:srgbClr val="000000"/>
                </a:solidFill>
              </a:rPr>
              <a:t>Health checks/screening</a:t>
            </a:r>
          </a:p>
          <a:p>
            <a:pPr lvl="1"/>
            <a:r>
              <a:rPr lang="en-AU" sz="2600" dirty="0">
                <a:solidFill>
                  <a:srgbClr val="000000"/>
                </a:solidFill>
              </a:rPr>
              <a:t>Registration forms</a:t>
            </a:r>
          </a:p>
          <a:p>
            <a:pPr marL="457200" lvl="1" indent="0">
              <a:buNone/>
            </a:pPr>
            <a:endParaRPr lang="en-AU" sz="1700" dirty="0">
              <a:solidFill>
                <a:srgbClr val="000000"/>
              </a:solidFill>
            </a:endParaRPr>
          </a:p>
        </p:txBody>
      </p:sp>
    </p:spTree>
    <p:extLst>
      <p:ext uri="{BB962C8B-B14F-4D97-AF65-F5344CB8AC3E}">
        <p14:creationId xmlns:p14="http://schemas.microsoft.com/office/powerpoint/2010/main" val="226696917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357</Words>
  <Application>Microsoft Office PowerPoint</Application>
  <PresentationFormat>Widescreen</PresentationFormat>
  <Paragraphs>35</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Mass Immigration and Immigrant Labour</vt:lpstr>
      <vt:lpstr>SOCIAL IMPACTS – Class Divisions</vt:lpstr>
      <vt:lpstr>PowerPoint Presentation</vt:lpstr>
      <vt:lpstr>ECONOMIC IMPACTS – immigrant labour</vt:lpstr>
      <vt:lpstr>POLITICAL IMPACTS – Federal Immigration Regulation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Mass Immigration and Immigrant Labour</dc:title>
  <dc:creator>Natasha Hawkes</dc:creator>
  <cp:lastModifiedBy>HAWKES Natasha [Narrogin Senior High School]</cp:lastModifiedBy>
  <cp:revision>2</cp:revision>
  <dcterms:created xsi:type="dcterms:W3CDTF">2019-02-24T09:22:45Z</dcterms:created>
  <dcterms:modified xsi:type="dcterms:W3CDTF">2019-02-26T06:36:36Z</dcterms:modified>
</cp:coreProperties>
</file>
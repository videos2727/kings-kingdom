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90" r:id="rId4"/>
    <p:sldId id="291" r:id="rId5"/>
    <p:sldId id="257" r:id="rId6"/>
    <p:sldId id="258" r:id="rId7"/>
    <p:sldId id="259" r:id="rId8"/>
    <p:sldId id="260" r:id="rId9"/>
    <p:sldId id="262" r:id="rId10"/>
    <p:sldId id="263" r:id="rId11"/>
    <p:sldId id="279" r:id="rId12"/>
    <p:sldId id="280" r:id="rId13"/>
    <p:sldId id="281" r:id="rId14"/>
    <p:sldId id="282" r:id="rId15"/>
    <p:sldId id="283" r:id="rId16"/>
    <p:sldId id="284" r:id="rId17"/>
    <p:sldId id="285" r:id="rId18"/>
    <p:sldId id="286" r:id="rId19"/>
    <p:sldId id="287" r:id="rId20"/>
    <p:sldId id="288" r:id="rId21"/>
    <p:sldId id="292" r:id="rId22"/>
    <p:sldId id="29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74" d="100"/>
          <a:sy n="74" d="100"/>
        </p:scale>
        <p:origin x="228"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545D90-7FED-4A1E-8D91-FABC7CF8959F}"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18F37D7F-8457-4F20-98CE-E5E63A485CFB}">
      <dgm:prSet phldrT="[Text]"/>
      <dgm:spPr/>
      <dgm:t>
        <a:bodyPr/>
        <a:lstStyle/>
        <a:p>
          <a:r>
            <a:rPr lang="en-US" dirty="0">
              <a:solidFill>
                <a:schemeClr val="tx1"/>
              </a:solidFill>
            </a:rPr>
            <a:t>Modern History</a:t>
          </a:r>
        </a:p>
      </dgm:t>
    </dgm:pt>
    <dgm:pt modelId="{C622DFF8-C86E-423D-B686-2CC02FA35198}" type="parTrans" cxnId="{E862C151-55D2-4232-AD4D-B8229376E7F1}">
      <dgm:prSet/>
      <dgm:spPr/>
      <dgm:t>
        <a:bodyPr/>
        <a:lstStyle/>
        <a:p>
          <a:endParaRPr lang="en-US"/>
        </a:p>
      </dgm:t>
    </dgm:pt>
    <dgm:pt modelId="{F9F0E60A-7825-4559-AF82-2C8EF4E87DF7}" type="sibTrans" cxnId="{E862C151-55D2-4232-AD4D-B8229376E7F1}">
      <dgm:prSet/>
      <dgm:spPr/>
      <dgm:t>
        <a:bodyPr/>
        <a:lstStyle/>
        <a:p>
          <a:endParaRPr lang="en-US"/>
        </a:p>
      </dgm:t>
    </dgm:pt>
    <dgm:pt modelId="{4526AFA0-6A13-4130-AE2E-EA4A78A75F4E}">
      <dgm:prSet phldrT="[Text]"/>
      <dgm:spPr/>
      <dgm:t>
        <a:bodyPr/>
        <a:lstStyle/>
        <a:p>
          <a:pPr>
            <a:lnSpc>
              <a:spcPct val="90000"/>
            </a:lnSpc>
          </a:pPr>
          <a:r>
            <a:rPr lang="en-US" b="1" dirty="0">
              <a:solidFill>
                <a:schemeClr val="tx1"/>
              </a:solidFill>
            </a:rPr>
            <a:t>Historical knowledge and understanding</a:t>
          </a:r>
        </a:p>
      </dgm:t>
    </dgm:pt>
    <dgm:pt modelId="{E1FAA64F-1A45-49D9-993E-78DE141BEF33}" type="parTrans" cxnId="{CA4A3ACD-1E89-458B-9F2D-C92B43B000D1}">
      <dgm:prSet/>
      <dgm:spPr/>
      <dgm:t>
        <a:bodyPr/>
        <a:lstStyle/>
        <a:p>
          <a:endParaRPr lang="en-US"/>
        </a:p>
      </dgm:t>
    </dgm:pt>
    <dgm:pt modelId="{FA9D1B37-DDE2-427D-AEA5-F130D06F45DF}" type="sibTrans" cxnId="{CA4A3ACD-1E89-458B-9F2D-C92B43B000D1}">
      <dgm:prSet/>
      <dgm:spPr/>
      <dgm:t>
        <a:bodyPr/>
        <a:lstStyle/>
        <a:p>
          <a:endParaRPr lang="en-US"/>
        </a:p>
      </dgm:t>
    </dgm:pt>
    <dgm:pt modelId="{DB51BC4C-B814-46E2-8646-39C910CAD841}">
      <dgm:prSet phldrT="[Text]" custT="1"/>
      <dgm:spPr/>
      <dgm:t>
        <a:bodyPr/>
        <a:lstStyle/>
        <a:p>
          <a:pPr algn="l">
            <a:lnSpc>
              <a:spcPct val="90000"/>
            </a:lnSpc>
          </a:pPr>
          <a:r>
            <a:rPr lang="en-US" sz="2300" b="1" dirty="0">
              <a:solidFill>
                <a:schemeClr val="tx1"/>
              </a:solidFill>
            </a:rPr>
            <a:t>Historical skills</a:t>
          </a:r>
        </a:p>
        <a:p>
          <a:pPr algn="l">
            <a:lnSpc>
              <a:spcPct val="150000"/>
            </a:lnSpc>
          </a:pPr>
          <a:r>
            <a:rPr lang="en-US" sz="2000" dirty="0">
              <a:solidFill>
                <a:schemeClr val="tx1"/>
              </a:solidFill>
            </a:rPr>
            <a:t>Five key skill areas:</a:t>
          </a:r>
        </a:p>
        <a:p>
          <a:pPr algn="l">
            <a:lnSpc>
              <a:spcPct val="150000"/>
            </a:lnSpc>
          </a:pPr>
          <a:r>
            <a:rPr lang="en-US" sz="2000" dirty="0">
              <a:solidFill>
                <a:schemeClr val="tx1"/>
              </a:solidFill>
            </a:rPr>
            <a:t>1. Chronology, terms and concepts</a:t>
          </a:r>
        </a:p>
        <a:p>
          <a:pPr algn="l">
            <a:lnSpc>
              <a:spcPct val="150000"/>
            </a:lnSpc>
          </a:pPr>
          <a:r>
            <a:rPr lang="en-US" sz="2000" dirty="0">
              <a:solidFill>
                <a:schemeClr val="tx1"/>
              </a:solidFill>
            </a:rPr>
            <a:t>2. Historical questions and research</a:t>
          </a:r>
        </a:p>
        <a:p>
          <a:pPr algn="l">
            <a:lnSpc>
              <a:spcPct val="150000"/>
            </a:lnSpc>
          </a:pPr>
          <a:r>
            <a:rPr lang="en-US" sz="2000" dirty="0">
              <a:solidFill>
                <a:schemeClr val="tx1"/>
              </a:solidFill>
            </a:rPr>
            <a:t>3. Analysis and use of sources</a:t>
          </a:r>
        </a:p>
        <a:p>
          <a:pPr algn="l">
            <a:lnSpc>
              <a:spcPct val="150000"/>
            </a:lnSpc>
          </a:pPr>
          <a:r>
            <a:rPr lang="en-US" sz="2000" dirty="0">
              <a:solidFill>
                <a:schemeClr val="tx1"/>
              </a:solidFill>
            </a:rPr>
            <a:t>4. Perspectives and interpretations</a:t>
          </a:r>
        </a:p>
        <a:p>
          <a:pPr algn="l">
            <a:lnSpc>
              <a:spcPct val="150000"/>
            </a:lnSpc>
          </a:pPr>
          <a:r>
            <a:rPr lang="en-US" sz="2000" dirty="0">
              <a:solidFill>
                <a:schemeClr val="tx1"/>
              </a:solidFill>
            </a:rPr>
            <a:t>5. Explanation and communication</a:t>
          </a:r>
        </a:p>
      </dgm:t>
    </dgm:pt>
    <dgm:pt modelId="{CB170D30-8CC9-471E-9421-AD286732DA7C}" type="parTrans" cxnId="{74132BFF-B1D6-4C7F-A5E3-B6B09486A5A8}">
      <dgm:prSet/>
      <dgm:spPr/>
      <dgm:t>
        <a:bodyPr/>
        <a:lstStyle/>
        <a:p>
          <a:endParaRPr lang="en-US"/>
        </a:p>
      </dgm:t>
    </dgm:pt>
    <dgm:pt modelId="{AE5B0C3B-26FC-491D-94FA-ECC34EEDA639}" type="sibTrans" cxnId="{74132BFF-B1D6-4C7F-A5E3-B6B09486A5A8}">
      <dgm:prSet/>
      <dgm:spPr/>
      <dgm:t>
        <a:bodyPr/>
        <a:lstStyle/>
        <a:p>
          <a:endParaRPr lang="en-US"/>
        </a:p>
      </dgm:t>
    </dgm:pt>
    <dgm:pt modelId="{22B7096C-4384-43BD-80E6-7A5B7E112B09}">
      <dgm:prSet phldrT="[Text]"/>
      <dgm:spPr/>
      <dgm:t>
        <a:bodyPr/>
        <a:lstStyle/>
        <a:p>
          <a:pPr>
            <a:lnSpc>
              <a:spcPct val="150000"/>
            </a:lnSpc>
          </a:pPr>
          <a:r>
            <a:rPr lang="en-US" dirty="0">
              <a:solidFill>
                <a:schemeClr val="tx1"/>
              </a:solidFill>
            </a:rPr>
            <a:t>Understanding key events, ideas, movements, developments and people that have shaped the world.</a:t>
          </a:r>
        </a:p>
      </dgm:t>
    </dgm:pt>
    <dgm:pt modelId="{235B8D47-38A6-48D0-B5B9-BA3C7D994851}" type="parTrans" cxnId="{25F66743-18AE-4ABD-BE6B-1B10F906B045}">
      <dgm:prSet/>
      <dgm:spPr/>
      <dgm:t>
        <a:bodyPr/>
        <a:lstStyle/>
        <a:p>
          <a:endParaRPr lang="en-US"/>
        </a:p>
      </dgm:t>
    </dgm:pt>
    <dgm:pt modelId="{29B856BF-FF0E-4575-9A8E-68A2C28E2D5F}" type="sibTrans" cxnId="{25F66743-18AE-4ABD-BE6B-1B10F906B045}">
      <dgm:prSet/>
      <dgm:spPr/>
      <dgm:t>
        <a:bodyPr/>
        <a:lstStyle/>
        <a:p>
          <a:endParaRPr lang="en-US"/>
        </a:p>
      </dgm:t>
    </dgm:pt>
    <dgm:pt modelId="{086F972E-F721-4EEE-BBD6-3DA5CE69E034}">
      <dgm:prSet phldrT="[Text]"/>
      <dgm:spPr/>
      <dgm:t>
        <a:bodyPr/>
        <a:lstStyle/>
        <a:p>
          <a:pPr>
            <a:lnSpc>
              <a:spcPct val="150000"/>
            </a:lnSpc>
          </a:pPr>
          <a:r>
            <a:rPr lang="en-US" dirty="0">
              <a:solidFill>
                <a:schemeClr val="tx1"/>
              </a:solidFill>
            </a:rPr>
            <a:t>Explore key concepts of evidence, continuity and change, cause and effect, significance, empathy, perspectives and contestability.</a:t>
          </a:r>
        </a:p>
      </dgm:t>
    </dgm:pt>
    <dgm:pt modelId="{5F5A59CA-CE5B-45F1-893F-498ABAC75D1B}" type="parTrans" cxnId="{FA79E9D4-53B4-4618-947C-9740D19EA360}">
      <dgm:prSet/>
      <dgm:spPr/>
      <dgm:t>
        <a:bodyPr/>
        <a:lstStyle/>
        <a:p>
          <a:endParaRPr lang="en-US"/>
        </a:p>
      </dgm:t>
    </dgm:pt>
    <dgm:pt modelId="{2ADF66C8-6D44-413F-AD72-11731EF600B0}" type="sibTrans" cxnId="{FA79E9D4-53B4-4618-947C-9740D19EA360}">
      <dgm:prSet/>
      <dgm:spPr/>
      <dgm:t>
        <a:bodyPr/>
        <a:lstStyle/>
        <a:p>
          <a:endParaRPr lang="en-US"/>
        </a:p>
      </dgm:t>
    </dgm:pt>
    <dgm:pt modelId="{8EFA3204-64D9-40E1-98A1-18E8188AAE28}" type="pres">
      <dgm:prSet presAssocID="{9F545D90-7FED-4A1E-8D91-FABC7CF8959F}" presName="cycle" presStyleCnt="0">
        <dgm:presLayoutVars>
          <dgm:chMax val="1"/>
          <dgm:dir/>
          <dgm:animLvl val="ctr"/>
          <dgm:resizeHandles val="exact"/>
        </dgm:presLayoutVars>
      </dgm:prSet>
      <dgm:spPr/>
      <dgm:t>
        <a:bodyPr/>
        <a:lstStyle/>
        <a:p>
          <a:endParaRPr lang="en-US"/>
        </a:p>
      </dgm:t>
    </dgm:pt>
    <dgm:pt modelId="{E47409B6-BA59-4A04-B1BB-FFC54B9F2E0D}" type="pres">
      <dgm:prSet presAssocID="{18F37D7F-8457-4F20-98CE-E5E63A485CFB}" presName="centerShape" presStyleLbl="node0" presStyleIdx="0" presStyleCnt="1" custScaleX="51037" custScaleY="51037" custLinFactNeighborX="64" custLinFactNeighborY="-24248"/>
      <dgm:spPr/>
      <dgm:t>
        <a:bodyPr/>
        <a:lstStyle/>
        <a:p>
          <a:endParaRPr lang="en-US"/>
        </a:p>
      </dgm:t>
    </dgm:pt>
    <dgm:pt modelId="{08411D82-CC25-48E9-AA59-4608D3E4303A}" type="pres">
      <dgm:prSet presAssocID="{E1FAA64F-1A45-49D9-993E-78DE141BEF33}" presName="parTrans" presStyleLbl="bgSibTrans2D1" presStyleIdx="0" presStyleCnt="2"/>
      <dgm:spPr/>
      <dgm:t>
        <a:bodyPr/>
        <a:lstStyle/>
        <a:p>
          <a:endParaRPr lang="en-US"/>
        </a:p>
      </dgm:t>
    </dgm:pt>
    <dgm:pt modelId="{2CA73AD9-F606-49E7-9D14-56B7C3B261EE}" type="pres">
      <dgm:prSet presAssocID="{4526AFA0-6A13-4130-AE2E-EA4A78A75F4E}" presName="node" presStyleLbl="node1" presStyleIdx="0" presStyleCnt="2" custScaleY="204332" custRadScaleRad="92605" custRadScaleInc="-3751">
        <dgm:presLayoutVars>
          <dgm:bulletEnabled val="1"/>
        </dgm:presLayoutVars>
      </dgm:prSet>
      <dgm:spPr/>
      <dgm:t>
        <a:bodyPr/>
        <a:lstStyle/>
        <a:p>
          <a:endParaRPr lang="en-US"/>
        </a:p>
      </dgm:t>
    </dgm:pt>
    <dgm:pt modelId="{A53F15E7-EE66-42B1-B3D4-F3623D0A28A5}" type="pres">
      <dgm:prSet presAssocID="{CB170D30-8CC9-471E-9421-AD286732DA7C}" presName="parTrans" presStyleLbl="bgSibTrans2D1" presStyleIdx="1" presStyleCnt="2"/>
      <dgm:spPr/>
      <dgm:t>
        <a:bodyPr/>
        <a:lstStyle/>
        <a:p>
          <a:endParaRPr lang="en-US"/>
        </a:p>
      </dgm:t>
    </dgm:pt>
    <dgm:pt modelId="{BCE60342-FE95-4C20-A800-3A03FFE8BB35}" type="pres">
      <dgm:prSet presAssocID="{DB51BC4C-B814-46E2-8646-39C910CAD841}" presName="node" presStyleLbl="node1" presStyleIdx="1" presStyleCnt="2" custScaleY="204354" custRadScaleRad="91220" custRadScaleInc="3883">
        <dgm:presLayoutVars>
          <dgm:bulletEnabled val="1"/>
        </dgm:presLayoutVars>
      </dgm:prSet>
      <dgm:spPr/>
      <dgm:t>
        <a:bodyPr/>
        <a:lstStyle/>
        <a:p>
          <a:endParaRPr lang="en-US"/>
        </a:p>
      </dgm:t>
    </dgm:pt>
  </dgm:ptLst>
  <dgm:cxnLst>
    <dgm:cxn modelId="{E862C151-55D2-4232-AD4D-B8229376E7F1}" srcId="{9F545D90-7FED-4A1E-8D91-FABC7CF8959F}" destId="{18F37D7F-8457-4F20-98CE-E5E63A485CFB}" srcOrd="0" destOrd="0" parTransId="{C622DFF8-C86E-423D-B686-2CC02FA35198}" sibTransId="{F9F0E60A-7825-4559-AF82-2C8EF4E87DF7}"/>
    <dgm:cxn modelId="{A04FF42F-7A0C-431E-9305-72C3F3CA6627}" type="presOf" srcId="{E1FAA64F-1A45-49D9-993E-78DE141BEF33}" destId="{08411D82-CC25-48E9-AA59-4608D3E4303A}" srcOrd="0" destOrd="0" presId="urn:microsoft.com/office/officeart/2005/8/layout/radial4"/>
    <dgm:cxn modelId="{3F7CDA42-2C0D-4383-AE12-2B7B3C742079}" type="presOf" srcId="{9F545D90-7FED-4A1E-8D91-FABC7CF8959F}" destId="{8EFA3204-64D9-40E1-98A1-18E8188AAE28}" srcOrd="0" destOrd="0" presId="urn:microsoft.com/office/officeart/2005/8/layout/radial4"/>
    <dgm:cxn modelId="{25F66743-18AE-4ABD-BE6B-1B10F906B045}" srcId="{4526AFA0-6A13-4130-AE2E-EA4A78A75F4E}" destId="{22B7096C-4384-43BD-80E6-7A5B7E112B09}" srcOrd="0" destOrd="0" parTransId="{235B8D47-38A6-48D0-B5B9-BA3C7D994851}" sibTransId="{29B856BF-FF0E-4575-9A8E-68A2C28E2D5F}"/>
    <dgm:cxn modelId="{CA4A3ACD-1E89-458B-9F2D-C92B43B000D1}" srcId="{18F37D7F-8457-4F20-98CE-E5E63A485CFB}" destId="{4526AFA0-6A13-4130-AE2E-EA4A78A75F4E}" srcOrd="0" destOrd="0" parTransId="{E1FAA64F-1A45-49D9-993E-78DE141BEF33}" sibTransId="{FA9D1B37-DDE2-427D-AEA5-F130D06F45DF}"/>
    <dgm:cxn modelId="{2BE9A6F0-0B4E-4191-B519-91439FF376D5}" type="presOf" srcId="{086F972E-F721-4EEE-BBD6-3DA5CE69E034}" destId="{2CA73AD9-F606-49E7-9D14-56B7C3B261EE}" srcOrd="0" destOrd="2" presId="urn:microsoft.com/office/officeart/2005/8/layout/radial4"/>
    <dgm:cxn modelId="{D2E9D9AF-FDB9-4292-ABDA-339E650394D7}" type="presOf" srcId="{DB51BC4C-B814-46E2-8646-39C910CAD841}" destId="{BCE60342-FE95-4C20-A800-3A03FFE8BB35}" srcOrd="0" destOrd="0" presId="urn:microsoft.com/office/officeart/2005/8/layout/radial4"/>
    <dgm:cxn modelId="{8ECF7066-FAD6-42C3-9C5B-898354053D4A}" type="presOf" srcId="{4526AFA0-6A13-4130-AE2E-EA4A78A75F4E}" destId="{2CA73AD9-F606-49E7-9D14-56B7C3B261EE}" srcOrd="0" destOrd="0" presId="urn:microsoft.com/office/officeart/2005/8/layout/radial4"/>
    <dgm:cxn modelId="{74132BFF-B1D6-4C7F-A5E3-B6B09486A5A8}" srcId="{18F37D7F-8457-4F20-98CE-E5E63A485CFB}" destId="{DB51BC4C-B814-46E2-8646-39C910CAD841}" srcOrd="1" destOrd="0" parTransId="{CB170D30-8CC9-471E-9421-AD286732DA7C}" sibTransId="{AE5B0C3B-26FC-491D-94FA-ECC34EEDA639}"/>
    <dgm:cxn modelId="{FA79E9D4-53B4-4618-947C-9740D19EA360}" srcId="{4526AFA0-6A13-4130-AE2E-EA4A78A75F4E}" destId="{086F972E-F721-4EEE-BBD6-3DA5CE69E034}" srcOrd="1" destOrd="0" parTransId="{5F5A59CA-CE5B-45F1-893F-498ABAC75D1B}" sibTransId="{2ADF66C8-6D44-413F-AD72-11731EF600B0}"/>
    <dgm:cxn modelId="{46896760-E65D-412F-A6E0-DF6FE402F116}" type="presOf" srcId="{CB170D30-8CC9-471E-9421-AD286732DA7C}" destId="{A53F15E7-EE66-42B1-B3D4-F3623D0A28A5}" srcOrd="0" destOrd="0" presId="urn:microsoft.com/office/officeart/2005/8/layout/radial4"/>
    <dgm:cxn modelId="{32FA925A-03D3-4BDA-B7F3-F4FDE7927D12}" type="presOf" srcId="{18F37D7F-8457-4F20-98CE-E5E63A485CFB}" destId="{E47409B6-BA59-4A04-B1BB-FFC54B9F2E0D}" srcOrd="0" destOrd="0" presId="urn:microsoft.com/office/officeart/2005/8/layout/radial4"/>
    <dgm:cxn modelId="{47A60C72-E171-4586-9ED3-8DC7AE8ABF69}" type="presOf" srcId="{22B7096C-4384-43BD-80E6-7A5B7E112B09}" destId="{2CA73AD9-F606-49E7-9D14-56B7C3B261EE}" srcOrd="0" destOrd="1" presId="urn:microsoft.com/office/officeart/2005/8/layout/radial4"/>
    <dgm:cxn modelId="{137CD010-50DD-4ACF-8871-751D85B70FC7}" type="presParOf" srcId="{8EFA3204-64D9-40E1-98A1-18E8188AAE28}" destId="{E47409B6-BA59-4A04-B1BB-FFC54B9F2E0D}" srcOrd="0" destOrd="0" presId="urn:microsoft.com/office/officeart/2005/8/layout/radial4"/>
    <dgm:cxn modelId="{53B881E9-FEAE-4198-A3E4-D5CF20D72213}" type="presParOf" srcId="{8EFA3204-64D9-40E1-98A1-18E8188AAE28}" destId="{08411D82-CC25-48E9-AA59-4608D3E4303A}" srcOrd="1" destOrd="0" presId="urn:microsoft.com/office/officeart/2005/8/layout/radial4"/>
    <dgm:cxn modelId="{9206F70A-C527-491B-AA62-6B7EF251F726}" type="presParOf" srcId="{8EFA3204-64D9-40E1-98A1-18E8188AAE28}" destId="{2CA73AD9-F606-49E7-9D14-56B7C3B261EE}" srcOrd="2" destOrd="0" presId="urn:microsoft.com/office/officeart/2005/8/layout/radial4"/>
    <dgm:cxn modelId="{A4534495-85B5-4893-8FFA-28AE1378647F}" type="presParOf" srcId="{8EFA3204-64D9-40E1-98A1-18E8188AAE28}" destId="{A53F15E7-EE66-42B1-B3D4-F3623D0A28A5}" srcOrd="3" destOrd="0" presId="urn:microsoft.com/office/officeart/2005/8/layout/radial4"/>
    <dgm:cxn modelId="{B05DE06B-9E52-482F-B0E7-AD3E606F9B70}" type="presParOf" srcId="{8EFA3204-64D9-40E1-98A1-18E8188AAE28}" destId="{BCE60342-FE95-4C20-A800-3A03FFE8BB35}" srcOrd="4"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409B6-BA59-4A04-B1BB-FFC54B9F2E0D}">
      <dsp:nvSpPr>
        <dsp:cNvPr id="0" name=""/>
        <dsp:cNvSpPr/>
      </dsp:nvSpPr>
      <dsp:spPr>
        <a:xfrm>
          <a:off x="4996505" y="2283567"/>
          <a:ext cx="1916328" cy="191632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lvl="0" algn="ctr" defTabSz="1377950">
            <a:lnSpc>
              <a:spcPct val="90000"/>
            </a:lnSpc>
            <a:spcBef>
              <a:spcPct val="0"/>
            </a:spcBef>
            <a:spcAft>
              <a:spcPct val="35000"/>
            </a:spcAft>
          </a:pPr>
          <a:r>
            <a:rPr lang="en-US" sz="3100" kern="1200" dirty="0">
              <a:solidFill>
                <a:schemeClr val="tx1"/>
              </a:solidFill>
            </a:rPr>
            <a:t>Modern History</a:t>
          </a:r>
        </a:p>
      </dsp:txBody>
      <dsp:txXfrm>
        <a:off x="5277145" y="2564207"/>
        <a:ext cx="1355048" cy="1355048"/>
      </dsp:txXfrm>
    </dsp:sp>
    <dsp:sp modelId="{08411D82-CC25-48E9-AA59-4608D3E4303A}">
      <dsp:nvSpPr>
        <dsp:cNvPr id="0" name=""/>
        <dsp:cNvSpPr/>
      </dsp:nvSpPr>
      <dsp:spPr>
        <a:xfrm rot="10802650">
          <a:off x="1945054" y="2704695"/>
          <a:ext cx="2883621" cy="107011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CA73AD9-F606-49E7-9D14-56B7C3B261EE}">
      <dsp:nvSpPr>
        <dsp:cNvPr id="0" name=""/>
        <dsp:cNvSpPr/>
      </dsp:nvSpPr>
      <dsp:spPr>
        <a:xfrm>
          <a:off x="161532" y="323195"/>
          <a:ext cx="3567044" cy="583089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lvl="0" algn="l" defTabSz="1155700">
            <a:lnSpc>
              <a:spcPct val="90000"/>
            </a:lnSpc>
            <a:spcBef>
              <a:spcPct val="0"/>
            </a:spcBef>
            <a:spcAft>
              <a:spcPct val="35000"/>
            </a:spcAft>
          </a:pPr>
          <a:r>
            <a:rPr lang="en-US" sz="2600" b="1" kern="1200" dirty="0">
              <a:solidFill>
                <a:schemeClr val="tx1"/>
              </a:solidFill>
            </a:rPr>
            <a:t>Historical knowledge and understanding</a:t>
          </a:r>
        </a:p>
        <a:p>
          <a:pPr marL="228600" lvl="1" indent="-228600" algn="l" defTabSz="889000">
            <a:lnSpc>
              <a:spcPct val="150000"/>
            </a:lnSpc>
            <a:spcBef>
              <a:spcPct val="0"/>
            </a:spcBef>
            <a:spcAft>
              <a:spcPct val="15000"/>
            </a:spcAft>
            <a:buChar char="••"/>
          </a:pPr>
          <a:r>
            <a:rPr lang="en-US" sz="2000" kern="1200" dirty="0">
              <a:solidFill>
                <a:schemeClr val="tx1"/>
              </a:solidFill>
            </a:rPr>
            <a:t>Understanding key events, ideas, movements, developments and people that have shaped the world.</a:t>
          </a:r>
        </a:p>
        <a:p>
          <a:pPr marL="228600" lvl="1" indent="-228600" algn="l" defTabSz="889000">
            <a:lnSpc>
              <a:spcPct val="150000"/>
            </a:lnSpc>
            <a:spcBef>
              <a:spcPct val="0"/>
            </a:spcBef>
            <a:spcAft>
              <a:spcPct val="15000"/>
            </a:spcAft>
            <a:buChar char="••"/>
          </a:pPr>
          <a:r>
            <a:rPr lang="en-US" sz="2000" kern="1200" dirty="0">
              <a:solidFill>
                <a:schemeClr val="tx1"/>
              </a:solidFill>
            </a:rPr>
            <a:t>Explore key concepts of evidence, continuity and change, cause and effect, significance, empathy, perspectives and contestability.</a:t>
          </a:r>
        </a:p>
      </dsp:txBody>
      <dsp:txXfrm>
        <a:off x="266007" y="427670"/>
        <a:ext cx="3358094" cy="5621940"/>
      </dsp:txXfrm>
    </dsp:sp>
    <dsp:sp modelId="{A53F15E7-EE66-42B1-B3D4-F3623D0A28A5}">
      <dsp:nvSpPr>
        <dsp:cNvPr id="0" name=""/>
        <dsp:cNvSpPr/>
      </dsp:nvSpPr>
      <dsp:spPr>
        <a:xfrm rot="36591">
          <a:off x="7076801" y="2733626"/>
          <a:ext cx="2819722" cy="1070113"/>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E60342-FE95-4C20-A800-3A03FFE8BB35}">
      <dsp:nvSpPr>
        <dsp:cNvPr id="0" name=""/>
        <dsp:cNvSpPr/>
      </dsp:nvSpPr>
      <dsp:spPr>
        <a:xfrm>
          <a:off x="8112922" y="367930"/>
          <a:ext cx="3567044" cy="58315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lvl="0" algn="l" defTabSz="1022350">
            <a:lnSpc>
              <a:spcPct val="90000"/>
            </a:lnSpc>
            <a:spcBef>
              <a:spcPct val="0"/>
            </a:spcBef>
            <a:spcAft>
              <a:spcPct val="35000"/>
            </a:spcAft>
          </a:pPr>
          <a:r>
            <a:rPr lang="en-US" sz="2300" b="1" kern="1200" dirty="0">
              <a:solidFill>
                <a:schemeClr val="tx1"/>
              </a:solidFill>
            </a:rPr>
            <a:t>Historical skills</a:t>
          </a:r>
        </a:p>
        <a:p>
          <a:pPr lvl="0" algn="l" defTabSz="1022350">
            <a:lnSpc>
              <a:spcPct val="150000"/>
            </a:lnSpc>
            <a:spcBef>
              <a:spcPct val="0"/>
            </a:spcBef>
            <a:spcAft>
              <a:spcPct val="35000"/>
            </a:spcAft>
          </a:pPr>
          <a:r>
            <a:rPr lang="en-US" sz="2000" kern="1200" dirty="0">
              <a:solidFill>
                <a:schemeClr val="tx1"/>
              </a:solidFill>
            </a:rPr>
            <a:t>Five key skill areas:</a:t>
          </a:r>
        </a:p>
        <a:p>
          <a:pPr lvl="0" algn="l" defTabSz="1022350">
            <a:lnSpc>
              <a:spcPct val="150000"/>
            </a:lnSpc>
            <a:spcBef>
              <a:spcPct val="0"/>
            </a:spcBef>
            <a:spcAft>
              <a:spcPct val="35000"/>
            </a:spcAft>
          </a:pPr>
          <a:r>
            <a:rPr lang="en-US" sz="2000" kern="1200" dirty="0">
              <a:solidFill>
                <a:schemeClr val="tx1"/>
              </a:solidFill>
            </a:rPr>
            <a:t>1. Chronology, terms and concepts</a:t>
          </a:r>
        </a:p>
        <a:p>
          <a:pPr lvl="0" algn="l" defTabSz="1022350">
            <a:lnSpc>
              <a:spcPct val="150000"/>
            </a:lnSpc>
            <a:spcBef>
              <a:spcPct val="0"/>
            </a:spcBef>
            <a:spcAft>
              <a:spcPct val="35000"/>
            </a:spcAft>
          </a:pPr>
          <a:r>
            <a:rPr lang="en-US" sz="2000" kern="1200" dirty="0">
              <a:solidFill>
                <a:schemeClr val="tx1"/>
              </a:solidFill>
            </a:rPr>
            <a:t>2. Historical questions and research</a:t>
          </a:r>
        </a:p>
        <a:p>
          <a:pPr lvl="0" algn="l" defTabSz="1022350">
            <a:lnSpc>
              <a:spcPct val="150000"/>
            </a:lnSpc>
            <a:spcBef>
              <a:spcPct val="0"/>
            </a:spcBef>
            <a:spcAft>
              <a:spcPct val="35000"/>
            </a:spcAft>
          </a:pPr>
          <a:r>
            <a:rPr lang="en-US" sz="2000" kern="1200" dirty="0">
              <a:solidFill>
                <a:schemeClr val="tx1"/>
              </a:solidFill>
            </a:rPr>
            <a:t>3. Analysis and use of sources</a:t>
          </a:r>
        </a:p>
        <a:p>
          <a:pPr lvl="0" algn="l" defTabSz="1022350">
            <a:lnSpc>
              <a:spcPct val="150000"/>
            </a:lnSpc>
            <a:spcBef>
              <a:spcPct val="0"/>
            </a:spcBef>
            <a:spcAft>
              <a:spcPct val="35000"/>
            </a:spcAft>
          </a:pPr>
          <a:r>
            <a:rPr lang="en-US" sz="2000" kern="1200" dirty="0">
              <a:solidFill>
                <a:schemeClr val="tx1"/>
              </a:solidFill>
            </a:rPr>
            <a:t>4. Perspectives and interpretations</a:t>
          </a:r>
        </a:p>
        <a:p>
          <a:pPr lvl="0" algn="l" defTabSz="1022350">
            <a:lnSpc>
              <a:spcPct val="150000"/>
            </a:lnSpc>
            <a:spcBef>
              <a:spcPct val="0"/>
            </a:spcBef>
            <a:spcAft>
              <a:spcPct val="35000"/>
            </a:spcAft>
          </a:pPr>
          <a:r>
            <a:rPr lang="en-US" sz="2000" kern="1200" dirty="0">
              <a:solidFill>
                <a:schemeClr val="tx1"/>
              </a:solidFill>
            </a:rPr>
            <a:t>5. Explanation and communication</a:t>
          </a:r>
        </a:p>
      </dsp:txBody>
      <dsp:txXfrm>
        <a:off x="8217397" y="472405"/>
        <a:ext cx="3358094" cy="5622568"/>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51072081-9254-4B65-857C-C1AE1E76F13C}" type="datetimeFigureOut">
              <a:rPr lang="en-AU" smtClean="0"/>
              <a:t>31/01/2019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2164291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1072081-9254-4B65-857C-C1AE1E76F13C}" type="datetimeFigureOut">
              <a:rPr lang="en-AU" smtClean="0"/>
              <a:t>31/01/2019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416071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1072081-9254-4B65-857C-C1AE1E76F13C}" type="datetimeFigureOut">
              <a:rPr lang="en-AU" smtClean="0"/>
              <a:t>31/01/2019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686095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51072081-9254-4B65-857C-C1AE1E76F13C}" type="datetimeFigureOut">
              <a:rPr lang="en-AU" smtClean="0"/>
              <a:t>31/01/2019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4008288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51072081-9254-4B65-857C-C1AE1E76F13C}" type="datetimeFigureOut">
              <a:rPr lang="en-AU" smtClean="0"/>
              <a:t>31/01/2019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2524335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51072081-9254-4B65-857C-C1AE1E76F13C}" type="datetimeFigureOut">
              <a:rPr lang="en-AU" smtClean="0"/>
              <a:t>31/01/2019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1099074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072081-9254-4B65-857C-C1AE1E76F13C}" type="datetimeFigureOut">
              <a:rPr lang="en-AU" smtClean="0"/>
              <a:t>31/01/2019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1367110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072081-9254-4B65-857C-C1AE1E76F13C}" type="datetimeFigureOut">
              <a:rPr lang="en-AU" smtClean="0"/>
              <a:t>31/01/2019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25763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1072081-9254-4B65-857C-C1AE1E76F13C}" type="datetimeFigureOut">
              <a:rPr lang="en-AU" smtClean="0"/>
              <a:t>31/01/2019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405657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1072081-9254-4B65-857C-C1AE1E76F13C}" type="datetimeFigureOut">
              <a:rPr lang="en-AU" smtClean="0"/>
              <a:t>31/01/2019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1825389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1072081-9254-4B65-857C-C1AE1E76F13C}" type="datetimeFigureOut">
              <a:rPr lang="en-AU" smtClean="0"/>
              <a:t>31/01/2019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9F55105-A4E1-4D1E-BB23-C208369B76A4}" type="slidenum">
              <a:rPr lang="en-AU" smtClean="0"/>
              <a:t>‹#›</a:t>
            </a:fld>
            <a:endParaRPr lang="en-AU"/>
          </a:p>
        </p:txBody>
      </p:sp>
    </p:spTree>
    <p:extLst>
      <p:ext uri="{BB962C8B-B14F-4D97-AF65-F5344CB8AC3E}">
        <p14:creationId xmlns:p14="http://schemas.microsoft.com/office/powerpoint/2010/main" val="2928938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072081-9254-4B65-857C-C1AE1E76F13C}" type="datetimeFigureOut">
              <a:rPr lang="en-AU" smtClean="0"/>
              <a:t>31/01/2019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55105-A4E1-4D1E-BB23-C208369B76A4}" type="slidenum">
              <a:rPr lang="en-AU" smtClean="0"/>
              <a:t>‹#›</a:t>
            </a:fld>
            <a:endParaRPr lang="en-AU"/>
          </a:p>
        </p:txBody>
      </p:sp>
    </p:spTree>
    <p:extLst>
      <p:ext uri="{BB962C8B-B14F-4D97-AF65-F5344CB8AC3E}">
        <p14:creationId xmlns:p14="http://schemas.microsoft.com/office/powerpoint/2010/main" val="821275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youtube.com/watch?v=gQ3pagHPrMY" TargetMode="Externa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1" y="4385066"/>
            <a:ext cx="10923638" cy="1317643"/>
          </a:xfrm>
        </p:spPr>
        <p:txBody>
          <a:bodyPr>
            <a:normAutofit/>
          </a:bodyPr>
          <a:lstStyle/>
          <a:p>
            <a:pPr algn="l"/>
            <a:r>
              <a:rPr lang="en-AU" sz="6600"/>
              <a:t>Year 11 Modern History</a:t>
            </a:r>
          </a:p>
        </p:txBody>
      </p:sp>
      <p:sp>
        <p:nvSpPr>
          <p:cNvPr id="3" name="Subtitle 2"/>
          <p:cNvSpPr>
            <a:spLocks noGrp="1"/>
          </p:cNvSpPr>
          <p:nvPr>
            <p:ph type="subTitle" idx="1"/>
          </p:nvPr>
        </p:nvSpPr>
        <p:spPr>
          <a:xfrm>
            <a:off x="609600" y="5702709"/>
            <a:ext cx="10923638" cy="1155281"/>
          </a:xfrm>
        </p:spPr>
        <p:txBody>
          <a:bodyPr>
            <a:normAutofit/>
          </a:bodyPr>
          <a:lstStyle/>
          <a:p>
            <a:pPr algn="l"/>
            <a:r>
              <a:rPr lang="en-AU" sz="2500" dirty="0"/>
              <a:t>Unit 1: Elective 7</a:t>
            </a:r>
          </a:p>
          <a:p>
            <a:pPr algn="l"/>
            <a:r>
              <a:rPr lang="en-AU" sz="2500" dirty="0"/>
              <a:t>Capitalism – an American experience 1907-1941</a:t>
            </a:r>
          </a:p>
        </p:txBody>
      </p:sp>
      <p:pic>
        <p:nvPicPr>
          <p:cNvPr id="1026" name="Picture 2" descr="Image result for us immigrants 1900s"/>
          <p:cNvPicPr>
            <a:picLocks noChangeAspect="1" noChangeArrowheads="1"/>
          </p:cNvPicPr>
          <p:nvPr/>
        </p:nvPicPr>
        <p:blipFill rotWithShape="1">
          <a:blip r:embed="rId2">
            <a:extLst>
              <a:ext uri="{28A0092B-C50C-407E-A947-70E740481C1C}">
                <a14:useLocalDpi xmlns:a14="http://schemas.microsoft.com/office/drawing/2010/main" val="0"/>
              </a:ext>
            </a:extLst>
          </a:blip>
          <a:srcRect l="20748" r="25724" b="2"/>
          <a:stretch/>
        </p:blipFill>
        <p:spPr bwMode="auto">
          <a:xfrm>
            <a:off x="20" y="10"/>
            <a:ext cx="3008514" cy="42573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result for great depression"/>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2681" r="30189" b="-1"/>
          <a:stretch/>
        </p:blipFill>
        <p:spPr bwMode="auto">
          <a:xfrm>
            <a:off x="3061261" y="10"/>
            <a:ext cx="3008534" cy="42610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woodrow wilson"/>
          <p:cNvPicPr>
            <a:picLocks noChangeAspect="1" noChangeArrowheads="1"/>
          </p:cNvPicPr>
          <p:nvPr/>
        </p:nvPicPr>
        <p:blipFill rotWithShape="1">
          <a:blip r:embed="rId4">
            <a:extLst>
              <a:ext uri="{28A0092B-C50C-407E-A947-70E740481C1C}">
                <a14:useLocalDpi xmlns:a14="http://schemas.microsoft.com/office/drawing/2010/main" val="0"/>
              </a:ext>
            </a:extLst>
          </a:blip>
          <a:srcRect l="2465" r="3830" b="1"/>
          <a:stretch/>
        </p:blipFill>
        <p:spPr bwMode="auto">
          <a:xfrm>
            <a:off x="6122522" y="10"/>
            <a:ext cx="3008376" cy="4261094"/>
          </a:xfrm>
          <a:prstGeom prst="rect">
            <a:avLst/>
          </a:prstGeom>
          <a:noFill/>
          <a:extLst>
            <a:ext uri="{909E8E84-426E-40DD-AFC4-6F175D3DCCD1}">
              <a14:hiddenFill xmlns:a14="http://schemas.microsoft.com/office/drawing/2010/main">
                <a:solidFill>
                  <a:srgbClr val="FFFFFF"/>
                </a:solidFill>
              </a14:hiddenFill>
            </a:ext>
          </a:extLst>
        </p:spPr>
      </p:pic>
      <p:cxnSp>
        <p:nvCxnSpPr>
          <p:cNvPr id="1038" name="Straight Connector 76">
            <a:extLst>
              <a:ext uri="{FF2B5EF4-FFF2-40B4-BE49-F238E27FC236}">
                <a16:creationId xmlns:a16="http://schemas.microsoft.com/office/drawing/2014/main" id="{EBAD6A72-88E8-42F7-88B9-CAF744536BE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2614"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pic>
        <p:nvPicPr>
          <p:cNvPr id="1030" name="Picture 6" descr="Image result for flappers"/>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1" b="4391"/>
          <a:stretch/>
        </p:blipFill>
        <p:spPr bwMode="auto">
          <a:xfrm>
            <a:off x="9183624" y="10"/>
            <a:ext cx="3008376" cy="4261094"/>
          </a:xfrm>
          <a:prstGeom prst="rect">
            <a:avLst/>
          </a:prstGeom>
          <a:noFill/>
          <a:extLst>
            <a:ext uri="{909E8E84-426E-40DD-AFC4-6F175D3DCCD1}">
              <a14:hiddenFill xmlns:a14="http://schemas.microsoft.com/office/drawing/2010/main">
                <a:solidFill>
                  <a:srgbClr val="FFFFFF"/>
                </a:solidFill>
              </a14:hiddenFill>
            </a:ext>
          </a:extLst>
        </p:spPr>
      </p:pic>
      <p:cxnSp>
        <p:nvCxnSpPr>
          <p:cNvPr id="79" name="Straight Connector 78">
            <a:extLst>
              <a:ext uri="{FF2B5EF4-FFF2-40B4-BE49-F238E27FC236}">
                <a16:creationId xmlns:a16="http://schemas.microsoft.com/office/drawing/2014/main" id="{C800968E-0A99-46C4-A9B2-6A63AC66F4B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 y="4242136"/>
            <a:ext cx="12192002" cy="0"/>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627B73E-D784-4780-AA33-DCDFE7DA16E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7921"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9FF1850-8D1E-4E84-BD9E-F2E906958502}"/>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37307"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437149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Image result for usa propaganda poster point fing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8652" y="0"/>
            <a:ext cx="510334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4277AB8-E547-4E58-8B94-78AB33D4157B}"/>
              </a:ext>
            </a:extLst>
          </p:cNvPr>
          <p:cNvSpPr>
            <a:spLocks noGrp="1"/>
          </p:cNvSpPr>
          <p:nvPr>
            <p:ph type="title"/>
          </p:nvPr>
        </p:nvSpPr>
        <p:spPr>
          <a:xfrm>
            <a:off x="655320" y="365125"/>
            <a:ext cx="5120114" cy="1692794"/>
          </a:xfrm>
        </p:spPr>
        <p:txBody>
          <a:bodyPr>
            <a:normAutofit/>
          </a:bodyPr>
          <a:lstStyle/>
          <a:p>
            <a:r>
              <a:rPr lang="en-AU" dirty="0"/>
              <a:t>MY expectations</a:t>
            </a:r>
          </a:p>
        </p:txBody>
      </p:sp>
      <p:cxnSp>
        <p:nvCxnSpPr>
          <p:cNvPr id="71" name="Straight Arrow Connector 70">
            <a:extLst>
              <a:ext uri="{FF2B5EF4-FFF2-40B4-BE49-F238E27FC236}">
                <a16:creationId xmlns:a16="http://schemas.microsoft.com/office/drawing/2014/main" id="{E4A809D5-3600-46D4-A466-67F2349A54F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B8ED98-F04B-4525-BEF0-00D300247A88}"/>
              </a:ext>
            </a:extLst>
          </p:cNvPr>
          <p:cNvSpPr>
            <a:spLocks noGrp="1"/>
          </p:cNvSpPr>
          <p:nvPr>
            <p:ph idx="1"/>
          </p:nvPr>
        </p:nvSpPr>
        <p:spPr>
          <a:xfrm>
            <a:off x="351693" y="2575033"/>
            <a:ext cx="5423742" cy="4036777"/>
          </a:xfrm>
        </p:spPr>
        <p:txBody>
          <a:bodyPr>
            <a:normAutofit/>
          </a:bodyPr>
          <a:lstStyle/>
          <a:p>
            <a:pPr>
              <a:lnSpc>
                <a:spcPct val="150000"/>
              </a:lnSpc>
            </a:pPr>
            <a:r>
              <a:rPr lang="en-AU" dirty="0"/>
              <a:t>Behaviour</a:t>
            </a:r>
          </a:p>
          <a:p>
            <a:pPr>
              <a:lnSpc>
                <a:spcPct val="150000"/>
              </a:lnSpc>
            </a:pPr>
            <a:r>
              <a:rPr lang="en-AU" dirty="0"/>
              <a:t>Assessment policy</a:t>
            </a:r>
          </a:p>
          <a:p>
            <a:pPr>
              <a:lnSpc>
                <a:spcPct val="150000"/>
              </a:lnSpc>
            </a:pPr>
            <a:r>
              <a:rPr lang="en-AU" sz="3500" b="1" dirty="0">
                <a:solidFill>
                  <a:srgbClr val="FF0000"/>
                </a:solidFill>
              </a:rPr>
              <a:t>Reading schedule</a:t>
            </a:r>
          </a:p>
          <a:p>
            <a:endParaRPr lang="en-AU" sz="1800" dirty="0"/>
          </a:p>
        </p:txBody>
      </p:sp>
    </p:spTree>
    <p:extLst>
      <p:ext uri="{BB962C8B-B14F-4D97-AF65-F5344CB8AC3E}">
        <p14:creationId xmlns:p14="http://schemas.microsoft.com/office/powerpoint/2010/main" val="4217806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1" name="Straight Connector 70">
            <a:extLst>
              <a:ext uri="{FF2B5EF4-FFF2-40B4-BE49-F238E27FC236}">
                <a16:creationId xmlns:a16="http://schemas.microsoft.com/office/drawing/2014/main" id="{E126E481-B945-4179-BD79-05E96E9B29E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pic>
        <p:nvPicPr>
          <p:cNvPr id="3" name="Picture 2" descr="Image result for us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0616A0B-209A-4983-989E-ADC9B66483D7}"/>
              </a:ext>
            </a:extLst>
          </p:cNvPr>
          <p:cNvSpPr>
            <a:spLocks noGrp="1"/>
          </p:cNvSpPr>
          <p:nvPr>
            <p:ph type="title"/>
          </p:nvPr>
        </p:nvSpPr>
        <p:spPr>
          <a:xfrm>
            <a:off x="2871216" y="2587752"/>
            <a:ext cx="5682625" cy="1179576"/>
          </a:xfrm>
          <a:solidFill>
            <a:schemeClr val="tx2">
              <a:lumMod val="75000"/>
            </a:schemeClr>
          </a:solidFill>
        </p:spPr>
        <p:txBody>
          <a:bodyPr vert="horz" lIns="91440" tIns="45720" rIns="91440" bIns="45720" rtlCol="0" anchor="ctr">
            <a:normAutofit fontScale="90000"/>
          </a:bodyPr>
          <a:lstStyle/>
          <a:p>
            <a:pPr algn="r"/>
            <a:r>
              <a:rPr lang="en-US" sz="4200" dirty="0">
                <a:solidFill>
                  <a:schemeClr val="bg1"/>
                </a:solidFill>
              </a:rPr>
              <a:t>Can you list all 50 states of the USA?!</a:t>
            </a:r>
          </a:p>
        </p:txBody>
      </p:sp>
    </p:spTree>
    <p:extLst>
      <p:ext uri="{BB962C8B-B14F-4D97-AF65-F5344CB8AC3E}">
        <p14:creationId xmlns:p14="http://schemas.microsoft.com/office/powerpoint/2010/main" val="324264973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77AB8-E547-4E58-8B94-78AB33D4157B}"/>
              </a:ext>
            </a:extLst>
          </p:cNvPr>
          <p:cNvSpPr>
            <a:spLocks noGrp="1"/>
          </p:cNvSpPr>
          <p:nvPr>
            <p:ph type="title"/>
          </p:nvPr>
        </p:nvSpPr>
        <p:spPr>
          <a:xfrm>
            <a:off x="655320" y="365125"/>
            <a:ext cx="5120114" cy="1692794"/>
          </a:xfrm>
        </p:spPr>
        <p:txBody>
          <a:bodyPr>
            <a:normAutofit/>
          </a:bodyPr>
          <a:lstStyle/>
          <a:p>
            <a:r>
              <a:rPr lang="en-AU" dirty="0"/>
              <a:t>States of USA</a:t>
            </a:r>
          </a:p>
        </p:txBody>
      </p:sp>
      <p:cxnSp>
        <p:nvCxnSpPr>
          <p:cNvPr id="71" name="Straight Arrow Connector 70">
            <a:extLst>
              <a:ext uri="{FF2B5EF4-FFF2-40B4-BE49-F238E27FC236}">
                <a16:creationId xmlns:a16="http://schemas.microsoft.com/office/drawing/2014/main" id="{E4A809D5-3600-46D4-A466-67F2349A54F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B8ED98-F04B-4525-BEF0-00D300247A88}"/>
              </a:ext>
            </a:extLst>
          </p:cNvPr>
          <p:cNvSpPr>
            <a:spLocks noGrp="1"/>
          </p:cNvSpPr>
          <p:nvPr>
            <p:ph idx="1"/>
          </p:nvPr>
        </p:nvSpPr>
        <p:spPr>
          <a:xfrm>
            <a:off x="351692" y="3374136"/>
            <a:ext cx="11517219" cy="3237674"/>
          </a:xfrm>
        </p:spPr>
        <p:txBody>
          <a:bodyPr numCol="6">
            <a:normAutofit/>
          </a:bodyPr>
          <a:lstStyle/>
          <a:p>
            <a:r>
              <a:rPr lang="en-AU" sz="1800" dirty="0"/>
              <a:t>Alabama </a:t>
            </a:r>
          </a:p>
          <a:p>
            <a:r>
              <a:rPr lang="en-AU" sz="1800" dirty="0"/>
              <a:t>Alaska </a:t>
            </a:r>
          </a:p>
          <a:p>
            <a:r>
              <a:rPr lang="en-AU" sz="1800" dirty="0"/>
              <a:t>Arizona </a:t>
            </a:r>
          </a:p>
          <a:p>
            <a:r>
              <a:rPr lang="en-AU" sz="1800" dirty="0"/>
              <a:t>Arkansas </a:t>
            </a:r>
          </a:p>
          <a:p>
            <a:r>
              <a:rPr lang="en-AU" sz="1800" dirty="0"/>
              <a:t>California </a:t>
            </a:r>
          </a:p>
          <a:p>
            <a:r>
              <a:rPr lang="en-AU" sz="1800" dirty="0"/>
              <a:t>Colorado </a:t>
            </a:r>
          </a:p>
          <a:p>
            <a:r>
              <a:rPr lang="en-AU" sz="1800" dirty="0"/>
              <a:t>Connecticut </a:t>
            </a:r>
          </a:p>
          <a:p>
            <a:r>
              <a:rPr lang="en-AU" sz="1800" dirty="0"/>
              <a:t>Delaware </a:t>
            </a:r>
          </a:p>
          <a:p>
            <a:r>
              <a:rPr lang="en-AU" sz="1800" dirty="0"/>
              <a:t>Florida </a:t>
            </a:r>
          </a:p>
          <a:p>
            <a:r>
              <a:rPr lang="en-AU" sz="1800" dirty="0"/>
              <a:t>Georgia </a:t>
            </a:r>
          </a:p>
          <a:p>
            <a:r>
              <a:rPr lang="en-AU" sz="1800" dirty="0"/>
              <a:t>Hawaii </a:t>
            </a:r>
          </a:p>
          <a:p>
            <a:r>
              <a:rPr lang="en-AU" sz="1800" dirty="0"/>
              <a:t>Idaho </a:t>
            </a:r>
          </a:p>
          <a:p>
            <a:r>
              <a:rPr lang="en-AU" sz="1800" dirty="0"/>
              <a:t>Illinois Indiana </a:t>
            </a:r>
          </a:p>
          <a:p>
            <a:r>
              <a:rPr lang="en-AU" sz="1800" dirty="0"/>
              <a:t>Iowa </a:t>
            </a:r>
          </a:p>
          <a:p>
            <a:r>
              <a:rPr lang="en-AU" sz="1800" dirty="0"/>
              <a:t>Kansas </a:t>
            </a:r>
          </a:p>
          <a:p>
            <a:r>
              <a:rPr lang="en-AU" sz="1800" dirty="0"/>
              <a:t>Kentucky </a:t>
            </a:r>
          </a:p>
          <a:p>
            <a:r>
              <a:rPr lang="en-AU" sz="1800" dirty="0"/>
              <a:t>Louisiana </a:t>
            </a:r>
          </a:p>
          <a:p>
            <a:r>
              <a:rPr lang="en-AU" sz="1800" dirty="0"/>
              <a:t>Maine </a:t>
            </a:r>
          </a:p>
          <a:p>
            <a:r>
              <a:rPr lang="en-AU" sz="1800" dirty="0"/>
              <a:t>Maryland </a:t>
            </a:r>
          </a:p>
          <a:p>
            <a:r>
              <a:rPr lang="en-AU" sz="1800" dirty="0"/>
              <a:t>Massachusetts </a:t>
            </a:r>
          </a:p>
          <a:p>
            <a:r>
              <a:rPr lang="en-AU" sz="1800" dirty="0"/>
              <a:t>Michigan </a:t>
            </a:r>
          </a:p>
          <a:p>
            <a:r>
              <a:rPr lang="en-AU" sz="1800" dirty="0"/>
              <a:t>Minnesota </a:t>
            </a:r>
          </a:p>
          <a:p>
            <a:r>
              <a:rPr lang="en-AU" sz="1800" dirty="0"/>
              <a:t>Mississippi </a:t>
            </a:r>
          </a:p>
          <a:p>
            <a:r>
              <a:rPr lang="en-AU" sz="1800" dirty="0"/>
              <a:t>Missouri </a:t>
            </a:r>
          </a:p>
          <a:p>
            <a:r>
              <a:rPr lang="en-AU" sz="1800" dirty="0"/>
              <a:t>Montana Nebraska </a:t>
            </a:r>
          </a:p>
          <a:p>
            <a:r>
              <a:rPr lang="en-AU" sz="1800" dirty="0"/>
              <a:t>Nevada </a:t>
            </a:r>
          </a:p>
          <a:p>
            <a:r>
              <a:rPr lang="en-AU" sz="1800" dirty="0"/>
              <a:t>New Hampshire </a:t>
            </a:r>
          </a:p>
          <a:p>
            <a:r>
              <a:rPr lang="en-AU" sz="1800" dirty="0"/>
              <a:t>New Jersey </a:t>
            </a:r>
          </a:p>
          <a:p>
            <a:r>
              <a:rPr lang="en-AU" sz="1800" dirty="0"/>
              <a:t>New Mexico </a:t>
            </a:r>
          </a:p>
          <a:p>
            <a:r>
              <a:rPr lang="en-AU" sz="1800" dirty="0"/>
              <a:t>New York </a:t>
            </a:r>
          </a:p>
          <a:p>
            <a:r>
              <a:rPr lang="en-AU" sz="1800" dirty="0"/>
              <a:t>North Carolina </a:t>
            </a:r>
          </a:p>
          <a:p>
            <a:r>
              <a:rPr lang="en-AU" sz="1800" dirty="0"/>
              <a:t>North Dakota </a:t>
            </a:r>
          </a:p>
          <a:p>
            <a:r>
              <a:rPr lang="en-AU" sz="1800" dirty="0"/>
              <a:t>Ohio </a:t>
            </a:r>
          </a:p>
          <a:p>
            <a:r>
              <a:rPr lang="en-AU" sz="1800" dirty="0"/>
              <a:t>Oklahoma </a:t>
            </a:r>
          </a:p>
          <a:p>
            <a:r>
              <a:rPr lang="en-AU" sz="1800" dirty="0"/>
              <a:t>Oregon </a:t>
            </a:r>
          </a:p>
          <a:p>
            <a:r>
              <a:rPr lang="en-AU" sz="1800" dirty="0"/>
              <a:t>Pennsylvania Rhode Island </a:t>
            </a:r>
          </a:p>
          <a:p>
            <a:r>
              <a:rPr lang="en-AU" sz="1800" dirty="0"/>
              <a:t>South Carolina </a:t>
            </a:r>
          </a:p>
          <a:p>
            <a:r>
              <a:rPr lang="en-AU" sz="1800" dirty="0"/>
              <a:t>South Dakota </a:t>
            </a:r>
          </a:p>
          <a:p>
            <a:r>
              <a:rPr lang="en-AU" sz="1800" dirty="0"/>
              <a:t>Tennessee </a:t>
            </a:r>
          </a:p>
          <a:p>
            <a:r>
              <a:rPr lang="en-AU" sz="1800" dirty="0"/>
              <a:t>Texas </a:t>
            </a:r>
          </a:p>
          <a:p>
            <a:r>
              <a:rPr lang="en-AU" sz="1800" dirty="0"/>
              <a:t>Utah </a:t>
            </a:r>
          </a:p>
          <a:p>
            <a:r>
              <a:rPr lang="en-AU" sz="1800" dirty="0"/>
              <a:t>Vermont </a:t>
            </a:r>
          </a:p>
          <a:p>
            <a:r>
              <a:rPr lang="en-AU" sz="1800" dirty="0"/>
              <a:t>Virginia </a:t>
            </a:r>
          </a:p>
          <a:p>
            <a:r>
              <a:rPr lang="en-AU" sz="1800" dirty="0"/>
              <a:t>Washington </a:t>
            </a:r>
          </a:p>
          <a:p>
            <a:r>
              <a:rPr lang="en-AU" sz="1800" dirty="0"/>
              <a:t>West Virginia </a:t>
            </a:r>
          </a:p>
          <a:p>
            <a:r>
              <a:rPr lang="en-AU" sz="1800" dirty="0"/>
              <a:t>Wisconsin </a:t>
            </a:r>
          </a:p>
          <a:p>
            <a:r>
              <a:rPr lang="en-AU" sz="1800" dirty="0"/>
              <a:t>Wyoming</a:t>
            </a:r>
          </a:p>
        </p:txBody>
      </p:sp>
      <p:pic>
        <p:nvPicPr>
          <p:cNvPr id="3074" name="Picture 2" descr="Image result for us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7688" y="48768"/>
            <a:ext cx="5068950" cy="3135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614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6542" y="123104"/>
            <a:ext cx="9177445" cy="663587"/>
          </a:xfrm>
        </p:spPr>
        <p:txBody>
          <a:bodyPr>
            <a:normAutofit fontScale="90000"/>
          </a:bodyPr>
          <a:lstStyle/>
          <a:p>
            <a:r>
              <a:rPr lang="en-AU" dirty="0"/>
              <a:t>Rationale </a:t>
            </a:r>
            <a:r>
              <a:rPr lang="en-AU" sz="3000" dirty="0"/>
              <a:t>(why are we studying this?)</a:t>
            </a:r>
          </a:p>
        </p:txBody>
      </p:sp>
      <p:sp>
        <p:nvSpPr>
          <p:cNvPr id="3" name="Content Placeholder 2"/>
          <p:cNvSpPr>
            <a:spLocks noGrp="1"/>
          </p:cNvSpPr>
          <p:nvPr>
            <p:ph idx="1"/>
          </p:nvPr>
        </p:nvSpPr>
        <p:spPr>
          <a:xfrm>
            <a:off x="236542" y="786691"/>
            <a:ext cx="8678858" cy="5922717"/>
          </a:xfrm>
        </p:spPr>
        <p:txBody>
          <a:bodyPr anchor="ctr">
            <a:noAutofit/>
          </a:bodyPr>
          <a:lstStyle/>
          <a:p>
            <a:pPr marL="0" indent="0">
              <a:lnSpc>
                <a:spcPct val="150000"/>
              </a:lnSpc>
              <a:buNone/>
            </a:pPr>
            <a:r>
              <a:rPr lang="en-AU" sz="1000" dirty="0"/>
              <a:t>Why study history? </a:t>
            </a:r>
            <a:r>
              <a:rPr lang="en-AU" sz="1000" dirty="0">
                <a:hlinkClick r:id="rId2"/>
              </a:rPr>
              <a:t>https://www.youtube.com/watch?v=gQ3pagHPrMY</a:t>
            </a:r>
            <a:r>
              <a:rPr lang="en-AU" sz="1000" dirty="0"/>
              <a:t> </a:t>
            </a:r>
          </a:p>
          <a:p>
            <a:pPr>
              <a:lnSpc>
                <a:spcPct val="150000"/>
              </a:lnSpc>
            </a:pPr>
            <a:r>
              <a:rPr lang="en-AU" sz="1700" dirty="0"/>
              <a:t>The Modern History ATAR course enables students to study the forces that have shaped today’s world and provides them with a broader and deeper comprehension of the world in which they live. </a:t>
            </a:r>
          </a:p>
          <a:p>
            <a:pPr>
              <a:lnSpc>
                <a:spcPct val="150000"/>
              </a:lnSpc>
            </a:pPr>
            <a:r>
              <a:rPr lang="en-AU" sz="1700" dirty="0"/>
              <a:t>Modern history enhances students’ curiosity and imagination and their appreciation of larger themes, individuals, movements, events and ideas that have shaped the contemporary world. </a:t>
            </a:r>
          </a:p>
          <a:p>
            <a:pPr>
              <a:lnSpc>
                <a:spcPct val="150000"/>
              </a:lnSpc>
            </a:pPr>
            <a:r>
              <a:rPr lang="en-AU" sz="1700" dirty="0"/>
              <a:t>The Modern History ATAR course begins with a study of key developments that have helped to define the modern world, with special attention given to important ideas and their consequences. </a:t>
            </a:r>
          </a:p>
          <a:p>
            <a:pPr>
              <a:lnSpc>
                <a:spcPct val="150000"/>
              </a:lnSpc>
            </a:pPr>
            <a:r>
              <a:rPr lang="en-AU" sz="1700" dirty="0"/>
              <a:t>Students develop increasingly sophisticated historiographical skills and historical understanding in their analysis of significant events and close study of the nature of modern societies.</a:t>
            </a:r>
          </a:p>
          <a:p>
            <a:pPr marL="0" indent="0">
              <a:lnSpc>
                <a:spcPct val="150000"/>
              </a:lnSpc>
              <a:buNone/>
            </a:pPr>
            <a:r>
              <a:rPr lang="en-AU" sz="1600" b="1" dirty="0"/>
              <a:t>To understand the present, we must first understand the past!</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Light Bulb and Gear">
            <a:extLst>
              <a:ext uri="{FF2B5EF4-FFF2-40B4-BE49-F238E27FC236}">
                <a16:creationId xmlns:a16="http://schemas.microsoft.com/office/drawing/2014/main" id="{91BB0306-1026-4B37-8B9E-7DE8FB3298B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644362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488407541"/>
              </p:ext>
            </p:extLst>
          </p:nvPr>
        </p:nvGraphicFramePr>
        <p:xfrm>
          <a:off x="155448" y="164592"/>
          <a:ext cx="11896344" cy="6537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2602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C20283-73E0-40EC-8AD8-057F581F64C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4200939" y="0"/>
            <a:ext cx="7164493" cy="715617"/>
          </a:xfrm>
        </p:spPr>
        <p:txBody>
          <a:bodyPr>
            <a:normAutofit/>
          </a:bodyPr>
          <a:lstStyle/>
          <a:p>
            <a:r>
              <a:rPr lang="en-AU" sz="4000" b="1" dirty="0"/>
              <a:t>Learning outcomes</a:t>
            </a:r>
          </a:p>
        </p:txBody>
      </p:sp>
      <p:pic>
        <p:nvPicPr>
          <p:cNvPr id="6" name="Picture 2" descr="Image result for henry ford">
            <a:extLst>
              <a:ext uri="{FF2B5EF4-FFF2-40B4-BE49-F238E27FC236}">
                <a16:creationId xmlns:a16="http://schemas.microsoft.com/office/drawing/2014/main" id="{8A292640-B3EF-4B25-A5ED-3B205B78F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 y="1239650"/>
            <a:ext cx="3425957" cy="437821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200939" y="715618"/>
            <a:ext cx="7824691" cy="6016486"/>
          </a:xfrm>
        </p:spPr>
        <p:txBody>
          <a:bodyPr>
            <a:normAutofit fontScale="85000" lnSpcReduction="20000"/>
          </a:bodyPr>
          <a:lstStyle/>
          <a:p>
            <a:pPr marL="0" indent="0">
              <a:lnSpc>
                <a:spcPct val="150000"/>
              </a:lnSpc>
              <a:buNone/>
            </a:pPr>
            <a:r>
              <a:rPr lang="en-AU" sz="2200" dirty="0"/>
              <a:t>By the end of this unit, students:</a:t>
            </a:r>
          </a:p>
          <a:p>
            <a:pPr lvl="0">
              <a:lnSpc>
                <a:spcPct val="150000"/>
              </a:lnSpc>
            </a:pPr>
            <a:r>
              <a:rPr lang="en-AU" sz="2200" dirty="0"/>
              <a:t>understand key developments that have helped define the modern world, their causes, the different experiences of individuals and groups, and their short-term and long-term consequences</a:t>
            </a:r>
          </a:p>
          <a:p>
            <a:pPr lvl="0">
              <a:lnSpc>
                <a:spcPct val="150000"/>
              </a:lnSpc>
            </a:pPr>
            <a:r>
              <a:rPr lang="en-US" sz="2200" dirty="0"/>
              <a:t>understand the ideas that both inspired and emerged from these key developments and their significance for the contemporary world</a:t>
            </a:r>
            <a:endParaRPr lang="en-AU" sz="2200" dirty="0"/>
          </a:p>
          <a:p>
            <a:pPr lvl="0">
              <a:lnSpc>
                <a:spcPct val="150000"/>
              </a:lnSpc>
            </a:pPr>
            <a:r>
              <a:rPr lang="en-US" sz="2200" dirty="0"/>
              <a:t>apply key concepts as part of an historical inquiry, including </a:t>
            </a:r>
            <a:r>
              <a:rPr lang="en-AU" sz="2200" dirty="0"/>
              <a:t>evidence, continuity and change, cause and effect, significance, empathy, perspectives and contestability </a:t>
            </a:r>
          </a:p>
          <a:p>
            <a:pPr lvl="0">
              <a:lnSpc>
                <a:spcPct val="150000"/>
              </a:lnSpc>
            </a:pPr>
            <a:r>
              <a:rPr lang="en-US" sz="2200" dirty="0"/>
              <a:t>use historical skills to investigate particular developments of the modern era and the nature of sources; determine the reliability and usefulness of sources and evidence; explore different perspectives and interpretations; and use a range of evidence to support and communicate an historical argument. </a:t>
            </a:r>
            <a:endParaRPr lang="en-AU" sz="2200" dirty="0"/>
          </a:p>
          <a:p>
            <a:pPr marL="0" indent="0">
              <a:buNone/>
            </a:pPr>
            <a:endParaRPr lang="en-AU" sz="1700" dirty="0"/>
          </a:p>
        </p:txBody>
      </p:sp>
      <p:sp>
        <p:nvSpPr>
          <p:cNvPr id="5" name="TextBox 4">
            <a:extLst>
              <a:ext uri="{FF2B5EF4-FFF2-40B4-BE49-F238E27FC236}">
                <a16:creationId xmlns:a16="http://schemas.microsoft.com/office/drawing/2014/main" id="{00E516E4-C169-485D-B0A9-09016969A8D7}"/>
              </a:ext>
            </a:extLst>
          </p:cNvPr>
          <p:cNvSpPr txBox="1"/>
          <p:nvPr/>
        </p:nvSpPr>
        <p:spPr>
          <a:xfrm>
            <a:off x="1420248" y="5683936"/>
            <a:ext cx="1266245" cy="369332"/>
          </a:xfrm>
          <a:prstGeom prst="rect">
            <a:avLst/>
          </a:prstGeom>
          <a:noFill/>
        </p:spPr>
        <p:txBody>
          <a:bodyPr wrap="square" rtlCol="0">
            <a:spAutoFit/>
          </a:bodyPr>
          <a:lstStyle/>
          <a:p>
            <a:r>
              <a:rPr lang="en-AU" i="1" dirty="0">
                <a:solidFill>
                  <a:schemeClr val="bg1"/>
                </a:solidFill>
              </a:rPr>
              <a:t>Henry Ford</a:t>
            </a:r>
          </a:p>
        </p:txBody>
      </p:sp>
    </p:spTree>
    <p:extLst>
      <p:ext uri="{BB962C8B-B14F-4D97-AF65-F5344CB8AC3E}">
        <p14:creationId xmlns:p14="http://schemas.microsoft.com/office/powerpoint/2010/main" val="5037407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E4F9F79B-A093-478E-96B5-EE02BC93A85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71393" y="5992797"/>
            <a:ext cx="4120607" cy="856753"/>
          </a:xfrm>
        </p:spPr>
        <p:txBody>
          <a:bodyPr>
            <a:normAutofit/>
          </a:bodyPr>
          <a:lstStyle/>
          <a:p>
            <a:r>
              <a:rPr lang="en-AU" sz="4800" b="1" dirty="0"/>
              <a:t>Historical skills</a:t>
            </a:r>
          </a:p>
        </p:txBody>
      </p:sp>
      <p:pic>
        <p:nvPicPr>
          <p:cNvPr id="3074" name="Picture 2" descr="Image result for history skills"/>
          <p:cNvPicPr>
            <a:picLocks noChangeAspect="1" noChangeArrowheads="1"/>
          </p:cNvPicPr>
          <p:nvPr/>
        </p:nvPicPr>
        <p:blipFill rotWithShape="1">
          <a:blip r:embed="rId2">
            <a:extLst>
              <a:ext uri="{28A0092B-C50C-407E-A947-70E740481C1C}">
                <a14:useLocalDpi xmlns:a14="http://schemas.microsoft.com/office/drawing/2010/main" val="0"/>
              </a:ext>
            </a:extLst>
          </a:blip>
          <a:srcRect l="6622" r="-2" b="-2"/>
          <a:stretch/>
        </p:blipFill>
        <p:spPr bwMode="auto">
          <a:xfrm>
            <a:off x="6492114" y="10"/>
            <a:ext cx="5699887" cy="405923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noFill/>
          <a:extLst>
            <a:ext uri="{909E8E84-426E-40DD-AFC4-6F175D3DCCD1}">
              <a14:hiddenFill xmlns:a14="http://schemas.microsoft.com/office/drawing/2010/main">
                <a:solidFill>
                  <a:srgbClr val="FFFFFF"/>
                </a:solidFill>
              </a14:hiddenFill>
            </a:ext>
          </a:extLst>
        </p:spPr>
      </p:pic>
      <p:cxnSp>
        <p:nvCxnSpPr>
          <p:cNvPr id="137" name="Straight Connector 136">
            <a:extLst>
              <a:ext uri="{FF2B5EF4-FFF2-40B4-BE49-F238E27FC236}">
                <a16:creationId xmlns:a16="http://schemas.microsoft.com/office/drawing/2014/main" id="{D4C22394-EBC2-4FAF-A555-6C02D589EED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1508760" y="3431556"/>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F7194F93-1F71-4A70-9DF1-28F1837711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1147" y="5004581"/>
            <a:ext cx="962395" cy="9623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9BBC0C84-DC2A-43AE-9576-0A44295E8B9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63725" y="4865965"/>
            <a:ext cx="293695" cy="2936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31304" y="92765"/>
            <a:ext cx="6160810" cy="6599583"/>
          </a:xfrm>
          <a:solidFill>
            <a:schemeClr val="bg1"/>
          </a:solidFill>
        </p:spPr>
        <p:txBody>
          <a:bodyPr anchor="ctr">
            <a:noAutofit/>
          </a:bodyPr>
          <a:lstStyle/>
          <a:p>
            <a:r>
              <a:rPr lang="en-AU" sz="2000" dirty="0"/>
              <a:t>Chronology, terms and concepts</a:t>
            </a:r>
          </a:p>
          <a:p>
            <a:pPr lvl="1"/>
            <a:r>
              <a:rPr lang="en-AU" sz="2000" dirty="0"/>
              <a:t>Cause and effect</a:t>
            </a:r>
          </a:p>
          <a:p>
            <a:pPr lvl="1"/>
            <a:r>
              <a:rPr lang="en-AU" sz="2000" dirty="0"/>
              <a:t>Continuity and change </a:t>
            </a:r>
          </a:p>
          <a:p>
            <a:pPr lvl="1"/>
            <a:r>
              <a:rPr lang="en-AU" sz="2000" dirty="0"/>
              <a:t>Use historical terms</a:t>
            </a:r>
          </a:p>
          <a:p>
            <a:r>
              <a:rPr lang="en-AU" sz="2000" dirty="0"/>
              <a:t>Historical questions and research</a:t>
            </a:r>
          </a:p>
          <a:p>
            <a:pPr lvl="1"/>
            <a:r>
              <a:rPr lang="en-AU" sz="2000" dirty="0"/>
              <a:t>Research questions and notetaking</a:t>
            </a:r>
          </a:p>
          <a:p>
            <a:pPr lvl="2"/>
            <a:r>
              <a:rPr lang="en-AU" dirty="0"/>
              <a:t>Collect information from a range of sources</a:t>
            </a:r>
          </a:p>
          <a:p>
            <a:pPr lvl="2"/>
            <a:r>
              <a:rPr lang="en-AU" dirty="0"/>
              <a:t>Reference all sources using a bibliography </a:t>
            </a:r>
          </a:p>
          <a:p>
            <a:r>
              <a:rPr lang="en-AU" sz="2000" dirty="0"/>
              <a:t>Analysis and use of sources</a:t>
            </a:r>
          </a:p>
          <a:p>
            <a:pPr lvl="1"/>
            <a:r>
              <a:rPr lang="en-AU" sz="2000" dirty="0"/>
              <a:t>Analyse sources to identify and interpret evidence from history</a:t>
            </a:r>
          </a:p>
          <a:p>
            <a:r>
              <a:rPr lang="en-AU" sz="2000" dirty="0"/>
              <a:t>Perspectives and interpretations</a:t>
            </a:r>
          </a:p>
          <a:p>
            <a:pPr lvl="1"/>
            <a:r>
              <a:rPr lang="en-AU" sz="2000" dirty="0"/>
              <a:t>Evaluate different interpretations of the past</a:t>
            </a:r>
          </a:p>
          <a:p>
            <a:r>
              <a:rPr lang="en-AU" sz="2000" dirty="0"/>
              <a:t>Explanation and communication</a:t>
            </a:r>
          </a:p>
          <a:p>
            <a:pPr lvl="1"/>
            <a:r>
              <a:rPr lang="en-AU" sz="2000" dirty="0"/>
              <a:t>Writing skills</a:t>
            </a:r>
          </a:p>
          <a:p>
            <a:pPr lvl="2"/>
            <a:r>
              <a:rPr lang="en-AU" dirty="0"/>
              <a:t>Essay </a:t>
            </a:r>
          </a:p>
          <a:p>
            <a:pPr lvl="2"/>
            <a:r>
              <a:rPr lang="en-AU" dirty="0"/>
              <a:t>Source analysis</a:t>
            </a:r>
          </a:p>
          <a:p>
            <a:pPr lvl="2"/>
            <a:r>
              <a:rPr lang="en-AU" dirty="0"/>
              <a:t>Exam </a:t>
            </a:r>
          </a:p>
        </p:txBody>
      </p:sp>
    </p:spTree>
    <p:extLst>
      <p:ext uri="{BB962C8B-B14F-4D97-AF65-F5344CB8AC3E}">
        <p14:creationId xmlns:p14="http://schemas.microsoft.com/office/powerpoint/2010/main" val="2888054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chemeClr val="bg1"/>
                </a:solidFill>
              </a:rPr>
              <a:t>Consider the impact of the following forces:</a:t>
            </a:r>
          </a:p>
        </p:txBody>
      </p:sp>
      <p:sp>
        <p:nvSpPr>
          <p:cNvPr id="4" name="Rectangle 3"/>
          <p:cNvSpPr/>
          <p:nvPr/>
        </p:nvSpPr>
        <p:spPr>
          <a:xfrm>
            <a:off x="4924620" y="2849624"/>
            <a:ext cx="2939587" cy="923330"/>
          </a:xfrm>
          <a:prstGeom prst="rect">
            <a:avLst/>
          </a:prstGeom>
          <a:noFill/>
        </p:spPr>
        <p:txBody>
          <a:bodyPr wrap="none" lIns="91440" tIns="45720" rIns="91440" bIns="45720">
            <a:spAutoFit/>
          </a:bodyPr>
          <a:lstStyle/>
          <a:p>
            <a:pPr algn="ctr"/>
            <a:r>
              <a:rPr lang="en-US" sz="5400" b="1" cap="none" spc="0" dirty="0">
                <a:ln w="10541" cmpd="sng">
                  <a:solidFill>
                    <a:sysClr val="windowText" lastClr="000000"/>
                  </a:solidFill>
                  <a:prstDash val="solid"/>
                </a:ln>
                <a:solidFill>
                  <a:srgbClr val="FF0000"/>
                </a:solidFill>
                <a:effectLst/>
              </a:rPr>
              <a:t>Economic</a:t>
            </a:r>
          </a:p>
        </p:txBody>
      </p:sp>
      <p:sp>
        <p:nvSpPr>
          <p:cNvPr id="5" name="Rectangle 4"/>
          <p:cNvSpPr/>
          <p:nvPr/>
        </p:nvSpPr>
        <p:spPr>
          <a:xfrm rot="21193555">
            <a:off x="674010" y="3965709"/>
            <a:ext cx="11150745" cy="923330"/>
          </a:xfrm>
          <a:prstGeom prst="rect">
            <a:avLst/>
          </a:prstGeom>
          <a:noFill/>
        </p:spPr>
        <p:txBody>
          <a:bodyPr wrap="none" lIns="91440" tIns="45720" rIns="91440" bIns="45720">
            <a:spAutoFit/>
          </a:bodyPr>
          <a:lstStyle/>
          <a:p>
            <a:pPr algn="ctr"/>
            <a:r>
              <a:rPr lang="en-US" sz="5400" b="1" cap="none" spc="0" dirty="0">
                <a:ln w="10541" cmpd="sng">
                  <a:solidFill>
                    <a:sysClr val="windowText" lastClr="000000"/>
                  </a:solidFill>
                  <a:prstDash val="solid"/>
                </a:ln>
                <a:solidFill>
                  <a:srgbClr val="FFC000"/>
                </a:solidFill>
                <a:effectLst/>
              </a:rPr>
              <a:t>External forces/international relations</a:t>
            </a:r>
          </a:p>
        </p:txBody>
      </p:sp>
      <p:sp>
        <p:nvSpPr>
          <p:cNvPr id="6" name="Rectangle 5"/>
          <p:cNvSpPr/>
          <p:nvPr/>
        </p:nvSpPr>
        <p:spPr>
          <a:xfrm>
            <a:off x="9449683" y="1859036"/>
            <a:ext cx="1705916" cy="923330"/>
          </a:xfrm>
          <a:prstGeom prst="rect">
            <a:avLst/>
          </a:prstGeom>
          <a:noFill/>
        </p:spPr>
        <p:txBody>
          <a:bodyPr wrap="none" lIns="91440" tIns="45720" rIns="91440" bIns="45720">
            <a:spAutoFit/>
          </a:bodyPr>
          <a:lstStyle/>
          <a:p>
            <a:pPr algn="ctr"/>
            <a:r>
              <a:rPr lang="en-US" sz="5400" b="1" cap="none" spc="0" dirty="0">
                <a:ln w="10541" cmpd="sng">
                  <a:solidFill>
                    <a:sysClr val="windowText" lastClr="000000"/>
                  </a:solidFill>
                  <a:prstDash val="solid"/>
                </a:ln>
                <a:solidFill>
                  <a:srgbClr val="FFFF00"/>
                </a:solidFill>
                <a:effectLst/>
              </a:rPr>
              <a:t>Ideas</a:t>
            </a:r>
          </a:p>
        </p:txBody>
      </p:sp>
      <p:sp>
        <p:nvSpPr>
          <p:cNvPr id="7" name="Rectangle 6"/>
          <p:cNvSpPr/>
          <p:nvPr/>
        </p:nvSpPr>
        <p:spPr>
          <a:xfrm>
            <a:off x="2676687" y="5472820"/>
            <a:ext cx="3314882" cy="923330"/>
          </a:xfrm>
          <a:prstGeom prst="rect">
            <a:avLst/>
          </a:prstGeom>
          <a:noFill/>
        </p:spPr>
        <p:txBody>
          <a:bodyPr wrap="none" lIns="91440" tIns="45720" rIns="91440" bIns="45720">
            <a:spAutoFit/>
          </a:bodyPr>
          <a:lstStyle/>
          <a:p>
            <a:pPr algn="ctr"/>
            <a:r>
              <a:rPr lang="en-US" sz="5400" b="1" cap="none" spc="0" dirty="0">
                <a:ln w="10541" cmpd="sng">
                  <a:solidFill>
                    <a:sysClr val="windowText" lastClr="000000"/>
                  </a:solidFill>
                  <a:prstDash val="solid"/>
                </a:ln>
                <a:solidFill>
                  <a:srgbClr val="00B050"/>
                </a:solidFill>
                <a:effectLst/>
              </a:rPr>
              <a:t>Leadership</a:t>
            </a:r>
          </a:p>
        </p:txBody>
      </p:sp>
      <p:sp>
        <p:nvSpPr>
          <p:cNvPr id="8" name="Rectangle 7"/>
          <p:cNvSpPr/>
          <p:nvPr/>
        </p:nvSpPr>
        <p:spPr>
          <a:xfrm>
            <a:off x="8218801" y="5543459"/>
            <a:ext cx="2461764" cy="923330"/>
          </a:xfrm>
          <a:prstGeom prst="rect">
            <a:avLst/>
          </a:prstGeom>
          <a:noFill/>
        </p:spPr>
        <p:txBody>
          <a:bodyPr wrap="none" lIns="91440" tIns="45720" rIns="91440" bIns="45720">
            <a:spAutoFit/>
          </a:bodyPr>
          <a:lstStyle/>
          <a:p>
            <a:pPr algn="ctr"/>
            <a:r>
              <a:rPr lang="en-US" sz="5400" b="1" cap="none" spc="0" dirty="0">
                <a:ln w="10541" cmpd="sng">
                  <a:solidFill>
                    <a:sysClr val="windowText" lastClr="000000"/>
                  </a:solidFill>
                  <a:prstDash val="solid"/>
                </a:ln>
                <a:solidFill>
                  <a:srgbClr val="0070C0"/>
                </a:solidFill>
                <a:effectLst/>
              </a:rPr>
              <a:t>Political</a:t>
            </a:r>
          </a:p>
        </p:txBody>
      </p:sp>
      <p:sp>
        <p:nvSpPr>
          <p:cNvPr id="9" name="Rectangle 8"/>
          <p:cNvSpPr/>
          <p:nvPr/>
        </p:nvSpPr>
        <p:spPr>
          <a:xfrm>
            <a:off x="444110" y="1999691"/>
            <a:ext cx="4323556" cy="923330"/>
          </a:xfrm>
          <a:prstGeom prst="rect">
            <a:avLst/>
          </a:prstGeom>
          <a:noFill/>
        </p:spPr>
        <p:txBody>
          <a:bodyPr wrap="none" lIns="91440" tIns="45720" rIns="91440" bIns="45720">
            <a:spAutoFit/>
          </a:bodyPr>
          <a:lstStyle/>
          <a:p>
            <a:pPr algn="ctr"/>
            <a:r>
              <a:rPr lang="en-US" sz="5400" b="1" cap="none" spc="0" dirty="0">
                <a:ln w="10541" cmpd="sng">
                  <a:solidFill>
                    <a:sysClr val="windowText" lastClr="000000"/>
                  </a:solidFill>
                  <a:prstDash val="solid"/>
                </a:ln>
                <a:solidFill>
                  <a:srgbClr val="7030A0"/>
                </a:solidFill>
                <a:effectLst/>
              </a:rPr>
              <a:t>Social/cultural</a:t>
            </a:r>
          </a:p>
        </p:txBody>
      </p:sp>
    </p:spTree>
    <p:extLst>
      <p:ext uri="{BB962C8B-B14F-4D97-AF65-F5344CB8AC3E}">
        <p14:creationId xmlns:p14="http://schemas.microsoft.com/office/powerpoint/2010/main" val="1330841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3276" y="107059"/>
            <a:ext cx="7474172" cy="1325563"/>
          </a:xfrm>
        </p:spPr>
        <p:txBody>
          <a:bodyPr>
            <a:normAutofit/>
          </a:bodyPr>
          <a:lstStyle/>
          <a:p>
            <a:r>
              <a:rPr lang="en-AU" sz="4000" dirty="0"/>
              <a:t>Capitalism: an American experience 1907-1941 </a:t>
            </a:r>
            <a:r>
              <a:rPr lang="en-AU" sz="3000" dirty="0"/>
              <a:t>(content)</a:t>
            </a:r>
          </a:p>
        </p:txBody>
      </p:sp>
      <p:sp>
        <p:nvSpPr>
          <p:cNvPr id="3" name="Content Placeholder 2"/>
          <p:cNvSpPr>
            <a:spLocks noGrp="1"/>
          </p:cNvSpPr>
          <p:nvPr>
            <p:ph idx="1"/>
          </p:nvPr>
        </p:nvSpPr>
        <p:spPr>
          <a:xfrm>
            <a:off x="309247" y="1432622"/>
            <a:ext cx="8606153" cy="5318319"/>
          </a:xfrm>
        </p:spPr>
        <p:txBody>
          <a:bodyPr anchor="ctr">
            <a:noAutofit/>
          </a:bodyPr>
          <a:lstStyle/>
          <a:p>
            <a:pPr lvl="0"/>
            <a:r>
              <a:rPr lang="en-AU" sz="1700" dirty="0"/>
              <a:t>the main causes of the rise of capitalism in the USA, including the expansion of the railways; </a:t>
            </a:r>
            <a:br>
              <a:rPr lang="en-AU" sz="1700" dirty="0"/>
            </a:br>
            <a:r>
              <a:rPr lang="en-AU" sz="1700" dirty="0"/>
              <a:t>post-Civil War reconstruction; immigrant labour; discovery of oil; and mass production</a:t>
            </a:r>
          </a:p>
          <a:p>
            <a:pPr lvl="0"/>
            <a:r>
              <a:rPr lang="en-AU" sz="1700" dirty="0"/>
              <a:t>the role and impact of significant individuals in the period, with particular reference to Theodore Roosevelt, Woodrow Wilson, Calvin Coolidge, Herbert Hoover, F D Roosevelt, J D Rockefeller, Henry Ford</a:t>
            </a:r>
          </a:p>
          <a:p>
            <a:pPr lvl="0"/>
            <a:r>
              <a:rPr lang="en-AU" sz="1700" dirty="0"/>
              <a:t>key ideas of: theories of capitalism, laissez-faire, consumerism, individualism (including ‘rugged individualism’), limited government, economic liberty, and the American Dream</a:t>
            </a:r>
          </a:p>
          <a:p>
            <a:pPr lvl="0"/>
            <a:r>
              <a:rPr lang="en-AU" sz="1700" dirty="0"/>
              <a:t>the impact of WWI, the 1920s, and WWII until 1941, on American capitalism; the growth of consumerism; and the shaping of American values, for example, film and fashion, prohibition and the ‘Jazz Age’</a:t>
            </a:r>
          </a:p>
          <a:p>
            <a:pPr lvl="0"/>
            <a:r>
              <a:rPr lang="en-AU" sz="1700" dirty="0"/>
              <a:t>the causes of the Great Depression, the consequences for different groups and the effectiveness of political responses, including the New Deal, and the impact on capitalism</a:t>
            </a:r>
          </a:p>
          <a:p>
            <a:pPr lvl="0"/>
            <a:r>
              <a:rPr lang="en-AU" sz="1700" dirty="0"/>
              <a:t>the impact of capitalism on different groups within American society and the aims and beliefs of different groups, for example, African Americans, urban workers, rural workers, immigrants, industrialists, and members of Indian Nations; and the consequences of divisions </a:t>
            </a:r>
          </a:p>
          <a:p>
            <a:pPr lvl="0"/>
            <a:r>
              <a:rPr lang="en-AU" sz="1700" dirty="0"/>
              <a:t>the significance of capitalism in this period, including a comparison with other key economic ideologies, in particular, communism</a:t>
            </a:r>
            <a:r>
              <a:rPr lang="en-AU" sz="1700" strike="sngStrike" dirty="0"/>
              <a:t> </a:t>
            </a:r>
            <a:endParaRPr lang="en-AU" sz="17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Image result for us propaganda ww1">
            <a:extLst>
              <a:ext uri="{FF2B5EF4-FFF2-40B4-BE49-F238E27FC236}">
                <a16:creationId xmlns:a16="http://schemas.microsoft.com/office/drawing/2014/main" id="{8936FAE7-229F-4231-A1F7-0B8E352D7B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04724" y="2644234"/>
            <a:ext cx="1161524" cy="15695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3BC8FD-9A34-43CF-A9BA-1CB9EDEAEDAD}"/>
              </a:ext>
            </a:extLst>
          </p:cNvPr>
          <p:cNvSpPr txBox="1"/>
          <p:nvPr/>
        </p:nvSpPr>
        <p:spPr>
          <a:xfrm>
            <a:off x="10231905" y="4499084"/>
            <a:ext cx="1650848" cy="646331"/>
          </a:xfrm>
          <a:prstGeom prst="rect">
            <a:avLst/>
          </a:prstGeom>
          <a:noFill/>
        </p:spPr>
        <p:txBody>
          <a:bodyPr wrap="square" rtlCol="0">
            <a:spAutoFit/>
          </a:bodyPr>
          <a:lstStyle/>
          <a:p>
            <a:r>
              <a:rPr lang="en-AU" i="1" dirty="0"/>
              <a:t>US propaganda poster WW1</a:t>
            </a:r>
          </a:p>
        </p:txBody>
      </p:sp>
    </p:spTree>
    <p:extLst>
      <p:ext uri="{BB962C8B-B14F-4D97-AF65-F5344CB8AC3E}">
        <p14:creationId xmlns:p14="http://schemas.microsoft.com/office/powerpoint/2010/main" val="3419783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6A0B-209A-4983-989E-ADC9B66483D7}"/>
              </a:ext>
            </a:extLst>
          </p:cNvPr>
          <p:cNvSpPr>
            <a:spLocks noGrp="1"/>
          </p:cNvSpPr>
          <p:nvPr>
            <p:ph type="title"/>
          </p:nvPr>
        </p:nvSpPr>
        <p:spPr>
          <a:xfrm>
            <a:off x="433136" y="5091762"/>
            <a:ext cx="7834193" cy="1264588"/>
          </a:xfrm>
        </p:spPr>
        <p:txBody>
          <a:bodyPr vert="horz" lIns="91440" tIns="45720" rIns="91440" bIns="45720" rtlCol="0" anchor="ctr">
            <a:normAutofit/>
          </a:bodyPr>
          <a:lstStyle/>
          <a:p>
            <a:pPr algn="r"/>
            <a:r>
              <a:rPr lang="en-US" sz="4200" dirty="0"/>
              <a:t>Key terminology </a:t>
            </a:r>
            <a:br>
              <a:rPr lang="en-US" sz="4200" dirty="0"/>
            </a:br>
            <a:endParaRPr lang="en-US" sz="4200" dirty="0"/>
          </a:p>
        </p:txBody>
      </p:sp>
      <p:pic>
        <p:nvPicPr>
          <p:cNvPr id="2050" name="Picture 2" descr="Image result for historical words">
            <a:extLst>
              <a:ext uri="{FF2B5EF4-FFF2-40B4-BE49-F238E27FC236}">
                <a16:creationId xmlns:a16="http://schemas.microsoft.com/office/drawing/2014/main" id="{42C4C932-7802-4CF3-BDEC-620B271A49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729" r="-1" b="11042"/>
          <a:stretch/>
        </p:blipFill>
        <p:spPr bwMode="auto">
          <a:xfrm>
            <a:off x="-3983" y="10"/>
            <a:ext cx="12192000" cy="4571990"/>
          </a:xfrm>
          <a:prstGeom prst="rect">
            <a:avLst/>
          </a:prstGeom>
          <a:noFill/>
          <a:extLst>
            <a:ext uri="{909E8E84-426E-40DD-AFC4-6F175D3DCCD1}">
              <a14:hiddenFill xmlns:a14="http://schemas.microsoft.com/office/drawing/2010/main">
                <a:solidFill>
                  <a:srgbClr val="FFFFFF"/>
                </a:solidFill>
              </a14:hiddenFill>
            </a:ext>
          </a:extLst>
        </p:spPr>
      </p:pic>
      <p:cxnSp>
        <p:nvCxnSpPr>
          <p:cNvPr id="71" name="Straight Connector 70">
            <a:extLst>
              <a:ext uri="{FF2B5EF4-FFF2-40B4-BE49-F238E27FC236}">
                <a16:creationId xmlns:a16="http://schemas.microsoft.com/office/drawing/2014/main" id="{E126E481-B945-4179-BD79-05E96E9B29E1}"/>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0151546"/>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5A57-B49B-42B6-93F8-DC4047911EC2}"/>
              </a:ext>
            </a:extLst>
          </p:cNvPr>
          <p:cNvSpPr>
            <a:spLocks noGrp="1"/>
          </p:cNvSpPr>
          <p:nvPr>
            <p:ph type="title"/>
          </p:nvPr>
        </p:nvSpPr>
        <p:spPr>
          <a:xfrm>
            <a:off x="4965430" y="629268"/>
            <a:ext cx="6586491" cy="1286160"/>
          </a:xfrm>
        </p:spPr>
        <p:txBody>
          <a:bodyPr anchor="b">
            <a:normAutofit/>
          </a:bodyPr>
          <a:lstStyle/>
          <a:p>
            <a:r>
              <a:rPr lang="en-AU" dirty="0"/>
              <a:t>Sources/evidence</a:t>
            </a:r>
          </a:p>
        </p:txBody>
      </p:sp>
      <p:pic>
        <p:nvPicPr>
          <p:cNvPr id="8" name="Picture 2" descr="Image result for women world war two">
            <a:extLst>
              <a:ext uri="{FF2B5EF4-FFF2-40B4-BE49-F238E27FC236}">
                <a16:creationId xmlns:a16="http://schemas.microsoft.com/office/drawing/2014/main" id="{B4CBB734-960D-48B0-9596-C8FEE59F2B6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2500"/>
          <a:stretch/>
        </p:blipFill>
        <p:spPr bwMode="auto">
          <a:xfrm>
            <a:off x="20" y="10"/>
            <a:ext cx="4635571"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8" name="Straight Connector 77">
            <a:extLst>
              <a:ext uri="{FF2B5EF4-FFF2-40B4-BE49-F238E27FC236}">
                <a16:creationId xmlns:a16="http://schemas.microsoft.com/office/drawing/2014/main" id="{A7F400EE-A8A5-48AF-B4D6-291B52C6F0B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F1FA07"/>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62C9138-37C0-4A15-AD72-E1A034647F7D}"/>
              </a:ext>
            </a:extLst>
          </p:cNvPr>
          <p:cNvSpPr>
            <a:spLocks noGrp="1"/>
          </p:cNvSpPr>
          <p:nvPr>
            <p:ph idx="1"/>
          </p:nvPr>
        </p:nvSpPr>
        <p:spPr>
          <a:xfrm>
            <a:off x="4965431" y="2438400"/>
            <a:ext cx="7090581" cy="4194625"/>
          </a:xfrm>
        </p:spPr>
        <p:txBody>
          <a:bodyPr>
            <a:normAutofit/>
          </a:bodyPr>
          <a:lstStyle/>
          <a:p>
            <a:pPr marL="0" indent="0">
              <a:buNone/>
            </a:pPr>
            <a:r>
              <a:rPr lang="en-US" sz="2300" dirty="0"/>
              <a:t>Anything that can be used to investigate the past. There are two types of sources:</a:t>
            </a:r>
          </a:p>
          <a:p>
            <a:pPr lvl="1"/>
            <a:r>
              <a:rPr lang="en-US" sz="2300" dirty="0"/>
              <a:t>Sources that come from the time being investigated are called </a:t>
            </a:r>
            <a:r>
              <a:rPr lang="en-US" sz="2300" b="1" dirty="0"/>
              <a:t>primary sources</a:t>
            </a:r>
            <a:r>
              <a:rPr lang="en-US" sz="2300" dirty="0"/>
              <a:t>. </a:t>
            </a:r>
          </a:p>
          <a:p>
            <a:pPr lvl="2"/>
            <a:r>
              <a:rPr lang="en-US" sz="2300" dirty="0"/>
              <a:t>E.g. coins, human remains, tools, letters, photographs.</a:t>
            </a:r>
          </a:p>
          <a:p>
            <a:pPr lvl="1"/>
            <a:r>
              <a:rPr lang="en-US" sz="2300" dirty="0"/>
              <a:t>Sources produced after the time being investigated are called </a:t>
            </a:r>
            <a:r>
              <a:rPr lang="en-US" sz="2300" b="1" dirty="0"/>
              <a:t>secondary sources. </a:t>
            </a:r>
          </a:p>
          <a:p>
            <a:pPr lvl="2"/>
            <a:r>
              <a:rPr lang="en-US" sz="2300" dirty="0"/>
              <a:t>E.g. textbook, documentary, film.</a:t>
            </a:r>
          </a:p>
          <a:p>
            <a:pPr marL="0" indent="0">
              <a:buNone/>
            </a:pPr>
            <a:r>
              <a:rPr lang="en-US" sz="2300" dirty="0"/>
              <a:t>Once a historian uses a source to answer a particular question, it becomes </a:t>
            </a:r>
            <a:r>
              <a:rPr lang="en-US" sz="2300" b="1" dirty="0"/>
              <a:t>evidence.</a:t>
            </a:r>
          </a:p>
          <a:p>
            <a:pPr marL="0" indent="0">
              <a:buNone/>
            </a:pPr>
            <a:endParaRPr lang="en-US" sz="2000" dirty="0"/>
          </a:p>
          <a:p>
            <a:endParaRPr lang="en-AU" sz="2000" dirty="0"/>
          </a:p>
        </p:txBody>
      </p:sp>
    </p:spTree>
    <p:extLst>
      <p:ext uri="{BB962C8B-B14F-4D97-AF65-F5344CB8AC3E}">
        <p14:creationId xmlns:p14="http://schemas.microsoft.com/office/powerpoint/2010/main" val="751342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888F1-EF8E-49BB-A9A4-9C0977886E87}"/>
              </a:ext>
            </a:extLst>
          </p:cNvPr>
          <p:cNvSpPr>
            <a:spLocks noGrp="1"/>
          </p:cNvSpPr>
          <p:nvPr>
            <p:ph type="title"/>
          </p:nvPr>
        </p:nvSpPr>
        <p:spPr>
          <a:xfrm>
            <a:off x="4965430" y="629268"/>
            <a:ext cx="6586491" cy="1286160"/>
          </a:xfrm>
        </p:spPr>
        <p:txBody>
          <a:bodyPr anchor="b">
            <a:normAutofit/>
          </a:bodyPr>
          <a:lstStyle/>
          <a:p>
            <a:r>
              <a:rPr lang="en-AU" dirty="0"/>
              <a:t>Significance </a:t>
            </a:r>
          </a:p>
        </p:txBody>
      </p:sp>
      <p:pic>
        <p:nvPicPr>
          <p:cNvPr id="6" name="Picture 4" descr="Image result for woodrow wilson">
            <a:extLst>
              <a:ext uri="{FF2B5EF4-FFF2-40B4-BE49-F238E27FC236}">
                <a16:creationId xmlns:a16="http://schemas.microsoft.com/office/drawing/2014/main" id="{FB49023E-D475-4A84-A37C-AC3CA2564E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61" r="5823" b="-1"/>
          <a:stretch/>
        </p:blipFill>
        <p:spPr bwMode="auto">
          <a:xfrm>
            <a:off x="20" y="10"/>
            <a:ext cx="4635571"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CD13255-0254-4DD2-BB43-1811665BC6D2}"/>
              </a:ext>
            </a:extLst>
          </p:cNvPr>
          <p:cNvSpPr>
            <a:spLocks noGrp="1"/>
          </p:cNvSpPr>
          <p:nvPr>
            <p:ph idx="1"/>
          </p:nvPr>
        </p:nvSpPr>
        <p:spPr>
          <a:xfrm>
            <a:off x="4965431" y="2438400"/>
            <a:ext cx="6586489" cy="4089006"/>
          </a:xfrm>
        </p:spPr>
        <p:txBody>
          <a:bodyPr>
            <a:normAutofit lnSpcReduction="10000"/>
          </a:bodyPr>
          <a:lstStyle/>
          <a:p>
            <a:pPr marL="0" indent="0">
              <a:lnSpc>
                <a:spcPct val="150000"/>
              </a:lnSpc>
              <a:buNone/>
            </a:pPr>
            <a:r>
              <a:rPr lang="en-US" sz="3000" dirty="0"/>
              <a:t>Significance is the importance that is assigned to particular aspects of the past.</a:t>
            </a:r>
          </a:p>
          <a:p>
            <a:pPr lvl="1">
              <a:lnSpc>
                <a:spcPct val="150000"/>
              </a:lnSpc>
            </a:pPr>
            <a:r>
              <a:rPr lang="en-US" sz="3000" dirty="0"/>
              <a:t>E.g. an event or issue or the contribution of an individual or group.</a:t>
            </a:r>
          </a:p>
          <a:p>
            <a:pPr marL="0" indent="0">
              <a:buNone/>
            </a:pPr>
            <a:endParaRPr lang="en-AU" sz="2000" dirty="0"/>
          </a:p>
        </p:txBody>
      </p:sp>
    </p:spTree>
    <p:extLst>
      <p:ext uri="{BB962C8B-B14F-4D97-AF65-F5344CB8AC3E}">
        <p14:creationId xmlns:p14="http://schemas.microsoft.com/office/powerpoint/2010/main" val="4013731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0" name="Rectangle 70">
            <a:extLst>
              <a:ext uri="{FF2B5EF4-FFF2-40B4-BE49-F238E27FC236}">
                <a16:creationId xmlns:a16="http://schemas.microsoft.com/office/drawing/2014/main" id="{4038CB10-1F5C-4D54-9DF7-12586DE5B00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C1A587-1908-4818-AA79-870BE5E983A4}"/>
              </a:ext>
            </a:extLst>
          </p:cNvPr>
          <p:cNvSpPr>
            <a:spLocks noGrp="1"/>
          </p:cNvSpPr>
          <p:nvPr>
            <p:ph type="title"/>
          </p:nvPr>
        </p:nvSpPr>
        <p:spPr>
          <a:xfrm>
            <a:off x="524256" y="4767072"/>
            <a:ext cx="6594189" cy="1625210"/>
          </a:xfrm>
        </p:spPr>
        <p:txBody>
          <a:bodyPr>
            <a:normAutofit/>
          </a:bodyPr>
          <a:lstStyle/>
          <a:p>
            <a:pPr algn="r"/>
            <a:r>
              <a:rPr lang="en-AU">
                <a:solidFill>
                  <a:srgbClr val="FFFFFF"/>
                </a:solidFill>
              </a:rPr>
              <a:t>Contestability </a:t>
            </a:r>
          </a:p>
        </p:txBody>
      </p:sp>
      <p:pic>
        <p:nvPicPr>
          <p:cNvPr id="4098" name="Picture 2" descr="Image result for usa 1920">
            <a:extLst>
              <a:ext uri="{FF2B5EF4-FFF2-40B4-BE49-F238E27FC236}">
                <a16:creationId xmlns:a16="http://schemas.microsoft.com/office/drawing/2014/main" id="{A9126F11-7D76-4660-9B6E-699E3D332F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 b="22511"/>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73ED6512-6858-4552-B699-9A97FE9A4EA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F66B36B-8C96-452E-9FD3-E778617357E2}"/>
              </a:ext>
            </a:extLst>
          </p:cNvPr>
          <p:cNvSpPr>
            <a:spLocks noGrp="1"/>
          </p:cNvSpPr>
          <p:nvPr>
            <p:ph idx="1"/>
          </p:nvPr>
        </p:nvSpPr>
        <p:spPr>
          <a:xfrm>
            <a:off x="7709095" y="450166"/>
            <a:ext cx="3958649" cy="5824025"/>
          </a:xfrm>
        </p:spPr>
        <p:txBody>
          <a:bodyPr anchor="ctr">
            <a:normAutofit/>
          </a:bodyPr>
          <a:lstStyle/>
          <a:p>
            <a:pPr>
              <a:lnSpc>
                <a:spcPct val="150000"/>
              </a:lnSpc>
            </a:pPr>
            <a:r>
              <a:rPr lang="en-US" sz="2600" dirty="0">
                <a:solidFill>
                  <a:srgbClr val="FFFFFF"/>
                </a:solidFill>
              </a:rPr>
              <a:t>Interpretations of the past that are open to debate.</a:t>
            </a:r>
          </a:p>
          <a:p>
            <a:pPr>
              <a:lnSpc>
                <a:spcPct val="150000"/>
              </a:lnSpc>
            </a:pPr>
            <a:r>
              <a:rPr lang="en-US" sz="2600" dirty="0">
                <a:solidFill>
                  <a:srgbClr val="FFFFFF"/>
                </a:solidFill>
              </a:rPr>
              <a:t>Historians may have different opinions and perspectives about different events or things of the past, therefore, these are contested.</a:t>
            </a:r>
          </a:p>
          <a:p>
            <a:endParaRPr lang="en-AU" sz="2000" dirty="0">
              <a:solidFill>
                <a:srgbClr val="FFFFFF"/>
              </a:solidFill>
            </a:endParaRPr>
          </a:p>
        </p:txBody>
      </p:sp>
    </p:spTree>
    <p:extLst>
      <p:ext uri="{BB962C8B-B14F-4D97-AF65-F5344CB8AC3E}">
        <p14:creationId xmlns:p14="http://schemas.microsoft.com/office/powerpoint/2010/main" val="858800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77AB8-E547-4E58-8B94-78AB33D4157B}"/>
              </a:ext>
            </a:extLst>
          </p:cNvPr>
          <p:cNvSpPr>
            <a:spLocks noGrp="1"/>
          </p:cNvSpPr>
          <p:nvPr>
            <p:ph type="title"/>
          </p:nvPr>
        </p:nvSpPr>
        <p:spPr>
          <a:xfrm>
            <a:off x="655320" y="365125"/>
            <a:ext cx="5120114" cy="1692794"/>
          </a:xfrm>
        </p:spPr>
        <p:txBody>
          <a:bodyPr>
            <a:normAutofit/>
          </a:bodyPr>
          <a:lstStyle/>
          <a:p>
            <a:r>
              <a:rPr lang="en-AU" dirty="0"/>
              <a:t>Perspectives </a:t>
            </a:r>
          </a:p>
        </p:txBody>
      </p:sp>
      <p:cxnSp>
        <p:nvCxnSpPr>
          <p:cNvPr id="71" name="Straight Arrow Connector 70">
            <a:extLst>
              <a:ext uri="{FF2B5EF4-FFF2-40B4-BE49-F238E27FC236}">
                <a16:creationId xmlns:a16="http://schemas.microsoft.com/office/drawing/2014/main" id="{E4A809D5-3600-46D4-A466-67F2349A54F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B8ED98-F04B-4525-BEF0-00D300247A88}"/>
              </a:ext>
            </a:extLst>
          </p:cNvPr>
          <p:cNvSpPr>
            <a:spLocks noGrp="1"/>
          </p:cNvSpPr>
          <p:nvPr>
            <p:ph idx="1"/>
          </p:nvPr>
        </p:nvSpPr>
        <p:spPr>
          <a:xfrm>
            <a:off x="351693" y="2575033"/>
            <a:ext cx="5423742" cy="4036777"/>
          </a:xfrm>
        </p:spPr>
        <p:txBody>
          <a:bodyPr>
            <a:normAutofit fontScale="85000" lnSpcReduction="20000"/>
          </a:bodyPr>
          <a:lstStyle/>
          <a:p>
            <a:pPr>
              <a:lnSpc>
                <a:spcPct val="150000"/>
              </a:lnSpc>
            </a:pPr>
            <a:r>
              <a:rPr lang="en-US" sz="3000" dirty="0"/>
              <a:t>A person's perspective is their point of view, the position from which they see and understand events going on around them. </a:t>
            </a:r>
          </a:p>
          <a:p>
            <a:pPr>
              <a:lnSpc>
                <a:spcPct val="150000"/>
              </a:lnSpc>
            </a:pPr>
            <a:r>
              <a:rPr lang="en-US" sz="3000" dirty="0"/>
              <a:t>People in the past may have had quite different perspectives on a particular event or issue.</a:t>
            </a:r>
          </a:p>
          <a:p>
            <a:endParaRPr lang="en-AU" sz="1800" dirty="0"/>
          </a:p>
        </p:txBody>
      </p:sp>
      <p:pic>
        <p:nvPicPr>
          <p:cNvPr id="5122" name="Picture 2" descr="Image result for usa 1925">
            <a:extLst>
              <a:ext uri="{FF2B5EF4-FFF2-40B4-BE49-F238E27FC236}">
                <a16:creationId xmlns:a16="http://schemas.microsoft.com/office/drawing/2014/main" id="{0136D609-9B82-4C6D-B2F6-92CA2206D2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90" r="21375" b="-1"/>
          <a:stretch/>
        </p:blipFill>
        <p:spPr bwMode="auto">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05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E0DB4-26A6-4198-B989-381F82B7D8B9}"/>
              </a:ext>
            </a:extLst>
          </p:cNvPr>
          <p:cNvSpPr>
            <a:spLocks noGrp="1"/>
          </p:cNvSpPr>
          <p:nvPr>
            <p:ph type="title"/>
          </p:nvPr>
        </p:nvSpPr>
        <p:spPr>
          <a:xfrm>
            <a:off x="655320" y="365125"/>
            <a:ext cx="5120114" cy="1692794"/>
          </a:xfrm>
        </p:spPr>
        <p:txBody>
          <a:bodyPr>
            <a:normAutofit/>
          </a:bodyPr>
          <a:lstStyle/>
          <a:p>
            <a:r>
              <a:rPr lang="en-AU"/>
              <a:t>Cause and effect</a:t>
            </a:r>
          </a:p>
        </p:txBody>
      </p:sp>
      <p:cxnSp>
        <p:nvCxnSpPr>
          <p:cNvPr id="78" name="Straight Arrow Connector 75">
            <a:extLst>
              <a:ext uri="{FF2B5EF4-FFF2-40B4-BE49-F238E27FC236}">
                <a16:creationId xmlns:a16="http://schemas.microsoft.com/office/drawing/2014/main" id="{E4A809D5-3600-46D4-A466-67F2349A54F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33A879-6432-4658-A3F3-660C44A7E236}"/>
              </a:ext>
            </a:extLst>
          </p:cNvPr>
          <p:cNvSpPr>
            <a:spLocks noGrp="1"/>
          </p:cNvSpPr>
          <p:nvPr>
            <p:ph idx="1"/>
          </p:nvPr>
        </p:nvSpPr>
        <p:spPr>
          <a:xfrm>
            <a:off x="295423" y="2575034"/>
            <a:ext cx="5480012" cy="3462228"/>
          </a:xfrm>
        </p:spPr>
        <p:txBody>
          <a:bodyPr>
            <a:normAutofit fontScale="85000" lnSpcReduction="10000"/>
          </a:bodyPr>
          <a:lstStyle/>
          <a:p>
            <a:pPr marL="457200" lvl="1" indent="0">
              <a:lnSpc>
                <a:spcPct val="150000"/>
              </a:lnSpc>
              <a:buNone/>
            </a:pPr>
            <a:r>
              <a:rPr lang="en-US" sz="3000" b="1" dirty="0"/>
              <a:t>Cause and effect </a:t>
            </a:r>
            <a:r>
              <a:rPr lang="en-US" sz="3000" dirty="0"/>
              <a:t>looks at the reasons why events have occurred and the resulting consequences.</a:t>
            </a:r>
          </a:p>
          <a:p>
            <a:pPr marL="457200" lvl="1" indent="0">
              <a:lnSpc>
                <a:spcPct val="150000"/>
              </a:lnSpc>
              <a:buNone/>
            </a:pPr>
            <a:r>
              <a:rPr lang="en-US" sz="3000" dirty="0"/>
              <a:t>Think about cause and effect as the ‘why’ and ‘what’ of history.</a:t>
            </a:r>
          </a:p>
          <a:p>
            <a:pPr marL="0" indent="0">
              <a:buNone/>
            </a:pPr>
            <a:endParaRPr lang="en-AU" sz="1800" dirty="0"/>
          </a:p>
        </p:txBody>
      </p:sp>
      <p:pic>
        <p:nvPicPr>
          <p:cNvPr id="4" name="Picture 4" descr="Image result for usa 1935 dust bowl">
            <a:extLst>
              <a:ext uri="{FF2B5EF4-FFF2-40B4-BE49-F238E27FC236}">
                <a16:creationId xmlns:a16="http://schemas.microsoft.com/office/drawing/2014/main" id="{BBB80603-9C9E-4789-8927-156671FEEB7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427" r="11531"/>
          <a:stretch/>
        </p:blipFill>
        <p:spPr bwMode="auto">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4929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79A28-08B5-410D-88E4-44970B584FA7}"/>
              </a:ext>
            </a:extLst>
          </p:cNvPr>
          <p:cNvSpPr>
            <a:spLocks noGrp="1"/>
          </p:cNvSpPr>
          <p:nvPr>
            <p:ph type="title"/>
          </p:nvPr>
        </p:nvSpPr>
        <p:spPr>
          <a:xfrm>
            <a:off x="655320" y="365125"/>
            <a:ext cx="5120114" cy="1692794"/>
          </a:xfrm>
        </p:spPr>
        <p:txBody>
          <a:bodyPr>
            <a:normAutofit/>
          </a:bodyPr>
          <a:lstStyle/>
          <a:p>
            <a:r>
              <a:rPr lang="en-AU" dirty="0"/>
              <a:t>Legacy </a:t>
            </a:r>
          </a:p>
        </p:txBody>
      </p:sp>
      <p:cxnSp>
        <p:nvCxnSpPr>
          <p:cNvPr id="71" name="Straight Arrow Connector 70">
            <a:extLst>
              <a:ext uri="{FF2B5EF4-FFF2-40B4-BE49-F238E27FC236}">
                <a16:creationId xmlns:a16="http://schemas.microsoft.com/office/drawing/2014/main" id="{E4A809D5-3600-46D4-A466-67F2349A54F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EFA6716-08A3-42A4-A1A5-7E5BE8761FED}"/>
              </a:ext>
            </a:extLst>
          </p:cNvPr>
          <p:cNvSpPr>
            <a:spLocks noGrp="1"/>
          </p:cNvSpPr>
          <p:nvPr>
            <p:ph idx="1"/>
          </p:nvPr>
        </p:nvSpPr>
        <p:spPr>
          <a:xfrm>
            <a:off x="237745" y="2316481"/>
            <a:ext cx="5537690" cy="4295328"/>
          </a:xfrm>
        </p:spPr>
        <p:txBody>
          <a:bodyPr>
            <a:normAutofit fontScale="62500" lnSpcReduction="20000"/>
          </a:bodyPr>
          <a:lstStyle/>
          <a:p>
            <a:pPr>
              <a:lnSpc>
                <a:spcPct val="150000"/>
              </a:lnSpc>
            </a:pPr>
            <a:r>
              <a:rPr lang="en-US" sz="3000" dirty="0"/>
              <a:t>A legacy is something that is handed down from one period of time to another period of time. An idea that will be remembered for a long time.</a:t>
            </a:r>
          </a:p>
          <a:p>
            <a:pPr>
              <a:lnSpc>
                <a:spcPct val="150000"/>
              </a:lnSpc>
            </a:pPr>
            <a:r>
              <a:rPr lang="en-AU" dirty="0"/>
              <a:t>E.g. The Great Depression left a lasting legacy on the people and the government of the United States. Many people who lived through the era distrusted banks and no longer would buy goods using credit. They bought things with cash and stored emergency rations in their basement. Other people felt that the depression made them and the country stronger. It taught people about hard work and survival.</a:t>
            </a:r>
            <a:endParaRPr lang="en-US" sz="3000" dirty="0"/>
          </a:p>
        </p:txBody>
      </p:sp>
      <p:pic>
        <p:nvPicPr>
          <p:cNvPr id="9218" name="Picture 2" descr="Image result for usa prohibition">
            <a:extLst>
              <a:ext uri="{FF2B5EF4-FFF2-40B4-BE49-F238E27FC236}">
                <a16:creationId xmlns:a16="http://schemas.microsoft.com/office/drawing/2014/main" id="{327E6D01-B645-41DF-998B-2C282B951C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479" r="-2" b="-2"/>
          <a:stretch/>
        </p:blipFill>
        <p:spPr bwMode="auto">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051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42581-1DC8-4A87-91DB-A2DBBE5DEC3E}"/>
              </a:ext>
            </a:extLst>
          </p:cNvPr>
          <p:cNvSpPr>
            <a:spLocks noGrp="1"/>
          </p:cNvSpPr>
          <p:nvPr>
            <p:ph type="title"/>
          </p:nvPr>
        </p:nvSpPr>
        <p:spPr>
          <a:xfrm>
            <a:off x="648930" y="193167"/>
            <a:ext cx="3651467" cy="1676603"/>
          </a:xfrm>
        </p:spPr>
        <p:txBody>
          <a:bodyPr>
            <a:normAutofit/>
          </a:bodyPr>
          <a:lstStyle/>
          <a:p>
            <a:r>
              <a:rPr lang="en-AU" dirty="0"/>
              <a:t>Usefulness </a:t>
            </a:r>
          </a:p>
        </p:txBody>
      </p:sp>
      <p:sp>
        <p:nvSpPr>
          <p:cNvPr id="3" name="Content Placeholder 2">
            <a:extLst>
              <a:ext uri="{FF2B5EF4-FFF2-40B4-BE49-F238E27FC236}">
                <a16:creationId xmlns:a16="http://schemas.microsoft.com/office/drawing/2014/main" id="{47683A4A-EF87-43AB-9BE8-E511496E9CF6}"/>
              </a:ext>
            </a:extLst>
          </p:cNvPr>
          <p:cNvSpPr>
            <a:spLocks noGrp="1"/>
          </p:cNvSpPr>
          <p:nvPr>
            <p:ph idx="1"/>
          </p:nvPr>
        </p:nvSpPr>
        <p:spPr>
          <a:xfrm>
            <a:off x="492369" y="1631852"/>
            <a:ext cx="3808028" cy="4909625"/>
          </a:xfrm>
        </p:spPr>
        <p:txBody>
          <a:bodyPr>
            <a:normAutofit fontScale="77500" lnSpcReduction="20000"/>
          </a:bodyPr>
          <a:lstStyle/>
          <a:p>
            <a:pPr>
              <a:lnSpc>
                <a:spcPct val="160000"/>
              </a:lnSpc>
            </a:pPr>
            <a:r>
              <a:rPr lang="en-GB" sz="3000" kern="0" dirty="0"/>
              <a:t>To decide if a source is </a:t>
            </a:r>
            <a:r>
              <a:rPr lang="en-GB" sz="3000" b="1" u="sng" kern="0" dirty="0"/>
              <a:t>useful</a:t>
            </a:r>
            <a:r>
              <a:rPr lang="en-GB" sz="3000" kern="0" dirty="0"/>
              <a:t> you must decide if it </a:t>
            </a:r>
            <a:r>
              <a:rPr lang="en-GB" sz="3000" b="1" u="sng" kern="0" dirty="0"/>
              <a:t>teaches</a:t>
            </a:r>
            <a:r>
              <a:rPr lang="en-GB" sz="3000" kern="0" dirty="0"/>
              <a:t> you anything!</a:t>
            </a:r>
            <a:br>
              <a:rPr lang="en-GB" sz="3000" kern="0" dirty="0"/>
            </a:br>
            <a:endParaRPr lang="en-GB" sz="3000" kern="0" dirty="0"/>
          </a:p>
          <a:p>
            <a:pPr>
              <a:lnSpc>
                <a:spcPct val="160000"/>
              </a:lnSpc>
            </a:pPr>
            <a:r>
              <a:rPr lang="en-GB" sz="3000" kern="0" dirty="0"/>
              <a:t>Remember the </a:t>
            </a:r>
            <a:r>
              <a:rPr lang="en-GB" sz="3000" b="1" u="sng" kern="0" dirty="0"/>
              <a:t>usefulness</a:t>
            </a:r>
            <a:r>
              <a:rPr lang="en-GB" sz="3000" kern="0" dirty="0"/>
              <a:t> of a source is </a:t>
            </a:r>
            <a:r>
              <a:rPr lang="en-GB" sz="3000" b="1" u="sng" kern="0" dirty="0"/>
              <a:t>nothing</a:t>
            </a:r>
            <a:r>
              <a:rPr lang="en-GB" sz="3000" kern="0" dirty="0"/>
              <a:t> to do with it’s reliability (trustworthiness).</a:t>
            </a:r>
            <a:endParaRPr lang="en-GB" sz="3000" b="1" u="sng" kern="0" dirty="0"/>
          </a:p>
          <a:p>
            <a:endParaRPr lang="en-AU" sz="1800" dirty="0"/>
          </a:p>
        </p:txBody>
      </p:sp>
      <p:pic>
        <p:nvPicPr>
          <p:cNvPr id="7170" name="Picture 2" descr="Image result for usa 1914">
            <a:extLst>
              <a:ext uri="{FF2B5EF4-FFF2-40B4-BE49-F238E27FC236}">
                <a16:creationId xmlns:a16="http://schemas.microsoft.com/office/drawing/2014/main" id="{7D686720-72AC-4377-97AE-5EFE7F4572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499" r="16697" b="2"/>
          <a:stretch/>
        </p:blipFill>
        <p:spPr bwMode="auto">
          <a:xfrm>
            <a:off x="4639056" y="10"/>
            <a:ext cx="7552944"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030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1B6D7-712C-4181-9EC6-A094D45F0034}"/>
              </a:ext>
            </a:extLst>
          </p:cNvPr>
          <p:cNvSpPr>
            <a:spLocks noGrp="1"/>
          </p:cNvSpPr>
          <p:nvPr>
            <p:ph type="title"/>
          </p:nvPr>
        </p:nvSpPr>
        <p:spPr>
          <a:xfrm>
            <a:off x="4965430" y="629268"/>
            <a:ext cx="6586491" cy="1286160"/>
          </a:xfrm>
        </p:spPr>
        <p:txBody>
          <a:bodyPr anchor="b">
            <a:normAutofit/>
          </a:bodyPr>
          <a:lstStyle/>
          <a:p>
            <a:r>
              <a:rPr lang="en-AU" dirty="0"/>
              <a:t>Historical context</a:t>
            </a:r>
          </a:p>
        </p:txBody>
      </p:sp>
      <p:pic>
        <p:nvPicPr>
          <p:cNvPr id="8194" name="Picture 2" descr="Image result for usa 1914">
            <a:extLst>
              <a:ext uri="{FF2B5EF4-FFF2-40B4-BE49-F238E27FC236}">
                <a16:creationId xmlns:a16="http://schemas.microsoft.com/office/drawing/2014/main" id="{A2BE7FF0-780F-4388-81B2-843723503E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40" r="6517"/>
          <a:stretch/>
        </p:blipFill>
        <p:spPr bwMode="auto">
          <a:xfrm>
            <a:off x="20" y="10"/>
            <a:ext cx="4635571"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1" name="Straight Connector 70">
            <a:extLst>
              <a:ext uri="{FF2B5EF4-FFF2-40B4-BE49-F238E27FC236}">
                <a16:creationId xmlns:a16="http://schemas.microsoft.com/office/drawing/2014/main" id="{A7F400EE-A8A5-48AF-B4D6-291B52C6F0B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D4684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6930EB-B36F-4BDF-89E7-61B3AE404B72}"/>
              </a:ext>
            </a:extLst>
          </p:cNvPr>
          <p:cNvSpPr>
            <a:spLocks noGrp="1"/>
          </p:cNvSpPr>
          <p:nvPr>
            <p:ph idx="1"/>
          </p:nvPr>
        </p:nvSpPr>
        <p:spPr>
          <a:xfrm>
            <a:off x="6693408" y="2410968"/>
            <a:ext cx="2715768" cy="3785419"/>
          </a:xfrm>
        </p:spPr>
        <p:txBody>
          <a:bodyPr numCol="2">
            <a:normAutofit fontScale="77500" lnSpcReduction="20000"/>
          </a:bodyPr>
          <a:lstStyle/>
          <a:p>
            <a:pPr>
              <a:lnSpc>
                <a:spcPct val="150000"/>
              </a:lnSpc>
            </a:pPr>
            <a:r>
              <a:rPr lang="en-AU" sz="3000" dirty="0"/>
              <a:t>What?</a:t>
            </a:r>
          </a:p>
          <a:p>
            <a:pPr>
              <a:lnSpc>
                <a:spcPct val="150000"/>
              </a:lnSpc>
            </a:pPr>
            <a:r>
              <a:rPr lang="en-AU" sz="3000" dirty="0"/>
              <a:t>When?</a:t>
            </a:r>
          </a:p>
          <a:p>
            <a:pPr>
              <a:lnSpc>
                <a:spcPct val="150000"/>
              </a:lnSpc>
            </a:pPr>
            <a:r>
              <a:rPr lang="en-AU" sz="3000" dirty="0"/>
              <a:t>Where</a:t>
            </a:r>
          </a:p>
          <a:p>
            <a:pPr>
              <a:lnSpc>
                <a:spcPct val="150000"/>
              </a:lnSpc>
            </a:pPr>
            <a:r>
              <a:rPr lang="en-AU" sz="3000" dirty="0"/>
              <a:t>Who? </a:t>
            </a:r>
          </a:p>
          <a:p>
            <a:pPr>
              <a:lnSpc>
                <a:spcPct val="150000"/>
              </a:lnSpc>
            </a:pPr>
            <a:r>
              <a:rPr lang="en-AU" sz="3000" dirty="0"/>
              <a:t>Cause? </a:t>
            </a:r>
          </a:p>
          <a:p>
            <a:pPr>
              <a:lnSpc>
                <a:spcPct val="150000"/>
              </a:lnSpc>
            </a:pPr>
            <a:r>
              <a:rPr lang="en-AU" sz="3000" dirty="0"/>
              <a:t>Effect?</a:t>
            </a:r>
          </a:p>
        </p:txBody>
      </p:sp>
    </p:spTree>
    <p:extLst>
      <p:ext uri="{BB962C8B-B14F-4D97-AF65-F5344CB8AC3E}">
        <p14:creationId xmlns:p14="http://schemas.microsoft.com/office/powerpoint/2010/main" val="1142179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0C2BB-8BF7-4F92-86EC-347C1F790769}"/>
              </a:ext>
            </a:extLst>
          </p:cNvPr>
          <p:cNvSpPr>
            <a:spLocks noGrp="1"/>
          </p:cNvSpPr>
          <p:nvPr>
            <p:ph type="title"/>
          </p:nvPr>
        </p:nvSpPr>
        <p:spPr>
          <a:xfrm>
            <a:off x="192024" y="124644"/>
            <a:ext cx="9628632" cy="1325563"/>
          </a:xfrm>
        </p:spPr>
        <p:txBody>
          <a:bodyPr>
            <a:normAutofit/>
          </a:bodyPr>
          <a:lstStyle/>
          <a:p>
            <a:r>
              <a:rPr lang="en-AU" sz="2800" b="1" dirty="0"/>
              <a:t>Timeline</a:t>
            </a:r>
            <a:r>
              <a:rPr lang="en-AU" sz="2800" dirty="0"/>
              <a:t> – use these significant dates and events to create a timeline of the period of study</a:t>
            </a:r>
            <a:r>
              <a:rPr lang="en-AU" sz="2000" dirty="0"/>
              <a:t> (they are not in chronological order)</a:t>
            </a:r>
          </a:p>
        </p:txBody>
      </p:sp>
      <p:sp>
        <p:nvSpPr>
          <p:cNvPr id="3" name="Content Placeholder 2">
            <a:extLst>
              <a:ext uri="{FF2B5EF4-FFF2-40B4-BE49-F238E27FC236}">
                <a16:creationId xmlns:a16="http://schemas.microsoft.com/office/drawing/2014/main" id="{C4715294-5E5D-477E-AE7C-A934C45EDCED}"/>
              </a:ext>
            </a:extLst>
          </p:cNvPr>
          <p:cNvSpPr>
            <a:spLocks noGrp="1"/>
          </p:cNvSpPr>
          <p:nvPr>
            <p:ph idx="1"/>
          </p:nvPr>
        </p:nvSpPr>
        <p:spPr>
          <a:xfrm>
            <a:off x="192024" y="1450208"/>
            <a:ext cx="8604503" cy="5316352"/>
          </a:xfrm>
        </p:spPr>
        <p:txBody>
          <a:bodyPr numCol="2" anchor="ctr">
            <a:normAutofit fontScale="62500" lnSpcReduction="20000"/>
          </a:bodyPr>
          <a:lstStyle/>
          <a:p>
            <a:pPr>
              <a:lnSpc>
                <a:spcPct val="170000"/>
              </a:lnSpc>
            </a:pPr>
            <a:r>
              <a:rPr lang="en-AU" sz="2400" b="1" dirty="0"/>
              <a:t>1907</a:t>
            </a:r>
            <a:r>
              <a:rPr lang="en-AU" sz="2400" dirty="0"/>
              <a:t> – start of period of study</a:t>
            </a:r>
          </a:p>
          <a:p>
            <a:pPr>
              <a:lnSpc>
                <a:spcPct val="170000"/>
              </a:lnSpc>
            </a:pPr>
            <a:r>
              <a:rPr lang="en-AU" sz="2400" b="1" dirty="0"/>
              <a:t>1914</a:t>
            </a:r>
            <a:r>
              <a:rPr lang="en-AU" sz="2400" dirty="0"/>
              <a:t> – WW1 begins</a:t>
            </a:r>
          </a:p>
          <a:p>
            <a:pPr>
              <a:lnSpc>
                <a:spcPct val="170000"/>
              </a:lnSpc>
            </a:pPr>
            <a:r>
              <a:rPr lang="en-AU" sz="2400" b="1" dirty="0"/>
              <a:t>1919</a:t>
            </a:r>
            <a:r>
              <a:rPr lang="en-AU" sz="2400" dirty="0"/>
              <a:t> – WW1 ends</a:t>
            </a:r>
          </a:p>
          <a:p>
            <a:pPr>
              <a:lnSpc>
                <a:spcPct val="170000"/>
              </a:lnSpc>
            </a:pPr>
            <a:r>
              <a:rPr lang="en-AU" sz="2400" b="1" dirty="0"/>
              <a:t>1941</a:t>
            </a:r>
            <a:r>
              <a:rPr lang="en-AU" sz="2400" dirty="0"/>
              <a:t> – end of period of study</a:t>
            </a:r>
          </a:p>
          <a:p>
            <a:pPr>
              <a:lnSpc>
                <a:spcPct val="170000"/>
              </a:lnSpc>
            </a:pPr>
            <a:r>
              <a:rPr lang="en-AU" sz="2400" b="1" dirty="0"/>
              <a:t>1860</a:t>
            </a:r>
            <a:r>
              <a:rPr lang="en-AU" sz="2400" dirty="0"/>
              <a:t> - Republican candidate Abraham Lincoln elected president</a:t>
            </a:r>
          </a:p>
          <a:p>
            <a:pPr>
              <a:lnSpc>
                <a:spcPct val="170000"/>
              </a:lnSpc>
            </a:pPr>
            <a:r>
              <a:rPr lang="en-AU" sz="2400" b="1" dirty="0"/>
              <a:t>August 18, 1920 </a:t>
            </a:r>
            <a:r>
              <a:rPr lang="en-AU" sz="2400" dirty="0"/>
              <a:t>- Women given the right to vote under the Nineteenth Amendment</a:t>
            </a:r>
          </a:p>
          <a:p>
            <a:pPr>
              <a:lnSpc>
                <a:spcPct val="170000"/>
              </a:lnSpc>
            </a:pPr>
            <a:r>
              <a:rPr lang="en-AU" sz="2400" b="1" dirty="0"/>
              <a:t>1917</a:t>
            </a:r>
            <a:r>
              <a:rPr lang="en-AU" sz="2400" dirty="0"/>
              <a:t> – USA enters WW1</a:t>
            </a:r>
          </a:p>
          <a:p>
            <a:pPr>
              <a:lnSpc>
                <a:spcPct val="170000"/>
              </a:lnSpc>
            </a:pPr>
            <a:r>
              <a:rPr lang="en-AU" sz="2400" b="1" dirty="0"/>
              <a:t>January 1920 </a:t>
            </a:r>
            <a:r>
              <a:rPr lang="en-AU" sz="2400" dirty="0"/>
              <a:t>- Sale and manufacture of alcoholic liquors outlawed (Prohibition)</a:t>
            </a:r>
          </a:p>
          <a:p>
            <a:pPr>
              <a:lnSpc>
                <a:spcPct val="170000"/>
              </a:lnSpc>
            </a:pPr>
            <a:r>
              <a:rPr lang="en-AU" sz="2400" b="1" dirty="0"/>
              <a:t>October 1929 </a:t>
            </a:r>
            <a:r>
              <a:rPr lang="en-AU" sz="2400" dirty="0"/>
              <a:t>– Wall Street Crash</a:t>
            </a:r>
          </a:p>
          <a:p>
            <a:pPr>
              <a:lnSpc>
                <a:spcPct val="170000"/>
              </a:lnSpc>
            </a:pPr>
            <a:r>
              <a:rPr lang="en-AU" sz="2400" b="1" dirty="0"/>
              <a:t>May 8 – September 2, 1945 </a:t>
            </a:r>
            <a:r>
              <a:rPr lang="en-AU" sz="2400" dirty="0"/>
              <a:t>– Germany and Japan surrender, WW2 ends</a:t>
            </a:r>
            <a:endParaRPr lang="en-AU" sz="2400" b="1" dirty="0"/>
          </a:p>
          <a:p>
            <a:pPr>
              <a:lnSpc>
                <a:spcPct val="170000"/>
              </a:lnSpc>
            </a:pPr>
            <a:r>
              <a:rPr lang="en-AU" sz="2400" b="1" dirty="0"/>
              <a:t>1933</a:t>
            </a:r>
            <a:r>
              <a:rPr lang="en-AU" sz="2400" dirty="0"/>
              <a:t> - President Franklin D Roosevelt launches "New Deal“</a:t>
            </a:r>
          </a:p>
          <a:p>
            <a:pPr>
              <a:lnSpc>
                <a:spcPct val="170000"/>
              </a:lnSpc>
            </a:pPr>
            <a:r>
              <a:rPr lang="en-AU" sz="2400" b="1" dirty="0"/>
              <a:t>1941</a:t>
            </a:r>
            <a:r>
              <a:rPr lang="en-AU" sz="2400" dirty="0"/>
              <a:t> - Japanese warplanes attack US fleet at Pearl Harbour in Hawaii; US declares war on Japan (USA enters WW2)</a:t>
            </a:r>
          </a:p>
          <a:p>
            <a:pPr>
              <a:lnSpc>
                <a:spcPct val="170000"/>
              </a:lnSpc>
            </a:pPr>
            <a:r>
              <a:rPr lang="en-AU" sz="2400" b="1" dirty="0"/>
              <a:t>1929-1933</a:t>
            </a:r>
            <a:r>
              <a:rPr lang="en-AU" sz="2400" dirty="0"/>
              <a:t> - Wall Street stock market crash of 1929 triggers what becomes known as the Great Depression</a:t>
            </a:r>
          </a:p>
          <a:p>
            <a:pPr>
              <a:lnSpc>
                <a:spcPct val="170000"/>
              </a:lnSpc>
            </a:pPr>
            <a:r>
              <a:rPr lang="en-AU" sz="2400" b="1" dirty="0"/>
              <a:t>November 11, 1918 </a:t>
            </a:r>
            <a:r>
              <a:rPr lang="en-AU" sz="2400" dirty="0"/>
              <a:t>– Armistice signed, ending WW1</a:t>
            </a:r>
            <a:endParaRPr lang="en-AU" sz="2400" b="1" dirty="0"/>
          </a:p>
          <a:p>
            <a:endParaRPr lang="en-AU" sz="24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result for historical 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9727" y="2726158"/>
            <a:ext cx="1452649" cy="1452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975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E4F9F79B-A093-478E-96B5-EE02BC93A85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071393" y="5992797"/>
            <a:ext cx="4120607" cy="856753"/>
          </a:xfrm>
        </p:spPr>
        <p:txBody>
          <a:bodyPr>
            <a:normAutofit/>
          </a:bodyPr>
          <a:lstStyle/>
          <a:p>
            <a:r>
              <a:rPr lang="en-AU" sz="4800" b="1" dirty="0"/>
              <a:t>SMART Goals</a:t>
            </a:r>
          </a:p>
        </p:txBody>
      </p:sp>
      <p:cxnSp>
        <p:nvCxnSpPr>
          <p:cNvPr id="137" name="Straight Connector 136">
            <a:extLst>
              <a:ext uri="{FF2B5EF4-FFF2-40B4-BE49-F238E27FC236}">
                <a16:creationId xmlns:a16="http://schemas.microsoft.com/office/drawing/2014/main" id="{D4C22394-EBC2-4FAF-A555-6C02D589EED7}"/>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1508760" y="3431556"/>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
        <p:nvSpPr>
          <p:cNvPr id="139" name="Oval 138">
            <a:extLst>
              <a:ext uri="{FF2B5EF4-FFF2-40B4-BE49-F238E27FC236}">
                <a16:creationId xmlns:a16="http://schemas.microsoft.com/office/drawing/2014/main" id="{F7194F93-1F71-4A70-9DF1-28F18377111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1147" y="5004581"/>
            <a:ext cx="962395" cy="96239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1" name="Oval 140">
            <a:extLst>
              <a:ext uri="{FF2B5EF4-FFF2-40B4-BE49-F238E27FC236}">
                <a16:creationId xmlns:a16="http://schemas.microsoft.com/office/drawing/2014/main" id="{9BBC0C84-DC2A-43AE-9576-0A44295E8B9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63725" y="4865965"/>
            <a:ext cx="293695" cy="2936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7753506" y="947808"/>
            <a:ext cx="3820072" cy="1826415"/>
          </a:xfrm>
          <a:solidFill>
            <a:schemeClr val="bg1"/>
          </a:solidFill>
        </p:spPr>
        <p:txBody>
          <a:bodyPr anchor="ctr">
            <a:noAutofit/>
          </a:bodyPr>
          <a:lstStyle/>
          <a:p>
            <a:pPr marL="0" indent="0">
              <a:buNone/>
            </a:pPr>
            <a:r>
              <a:rPr lang="en-AU" sz="3000" dirty="0"/>
              <a:t>Complete the worksheet given to you outlining your personal goals for this semester.</a:t>
            </a:r>
          </a:p>
        </p:txBody>
      </p:sp>
      <p:pic>
        <p:nvPicPr>
          <p:cNvPr id="1026" name="Picture 2" descr="Image result for us depres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553" y="356377"/>
            <a:ext cx="4905955" cy="6145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793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1" y="4385066"/>
            <a:ext cx="10923638" cy="1317643"/>
          </a:xfrm>
        </p:spPr>
        <p:txBody>
          <a:bodyPr>
            <a:normAutofit/>
          </a:bodyPr>
          <a:lstStyle/>
          <a:p>
            <a:pPr algn="l"/>
            <a:r>
              <a:rPr lang="en-AU" sz="6600" dirty="0"/>
              <a:t>Study timetable</a:t>
            </a:r>
          </a:p>
        </p:txBody>
      </p:sp>
      <p:sp>
        <p:nvSpPr>
          <p:cNvPr id="3" name="Subtitle 2"/>
          <p:cNvSpPr>
            <a:spLocks noGrp="1"/>
          </p:cNvSpPr>
          <p:nvPr>
            <p:ph type="subTitle" idx="1"/>
          </p:nvPr>
        </p:nvSpPr>
        <p:spPr>
          <a:xfrm>
            <a:off x="609600" y="6172200"/>
            <a:ext cx="10923638" cy="685790"/>
          </a:xfrm>
        </p:spPr>
        <p:txBody>
          <a:bodyPr>
            <a:normAutofit/>
          </a:bodyPr>
          <a:lstStyle/>
          <a:p>
            <a:pPr algn="l"/>
            <a:r>
              <a:rPr lang="en-AU" sz="2500" dirty="0"/>
              <a:t>Complete a study timetable that will help you achieve your academic goals!</a:t>
            </a:r>
          </a:p>
        </p:txBody>
      </p:sp>
      <p:cxnSp>
        <p:nvCxnSpPr>
          <p:cNvPr id="1038" name="Straight Connector 76">
            <a:extLst>
              <a:ext uri="{FF2B5EF4-FFF2-40B4-BE49-F238E27FC236}">
                <a16:creationId xmlns:a16="http://schemas.microsoft.com/office/drawing/2014/main" id="{EBAD6A72-88E8-42F7-88B9-CAF744536BE4}"/>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2614"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00968E-0A99-46C4-A9B2-6A63AC66F4B0}"/>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 y="4242136"/>
            <a:ext cx="12192002" cy="0"/>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627B73E-D784-4780-AA33-DCDFE7DA16ED}"/>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27921"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9FF1850-8D1E-4E84-BD9E-F2E906958502}"/>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37307" y="-680"/>
            <a:ext cx="0" cy="4242816"/>
          </a:xfrm>
          <a:prstGeom prst="line">
            <a:avLst/>
          </a:prstGeom>
          <a:ln w="1016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2" descr="Image result for us model t ford 19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38750" cy="43529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Image result for usa ww1"/>
          <p:cNvPicPr>
            <a:picLocks noChangeAspect="1" noChangeArrowheads="1"/>
          </p:cNvPicPr>
          <p:nvPr/>
        </p:nvPicPr>
        <p:blipFill rotWithShape="1">
          <a:blip r:embed="rId3">
            <a:extLst>
              <a:ext uri="{28A0092B-C50C-407E-A947-70E740481C1C}">
                <a14:useLocalDpi xmlns:a14="http://schemas.microsoft.com/office/drawing/2010/main" val="0"/>
              </a:ext>
            </a:extLst>
          </a:blip>
          <a:srcRect r="2428"/>
          <a:stretch/>
        </p:blipFill>
        <p:spPr bwMode="auto">
          <a:xfrm>
            <a:off x="5238750" y="0"/>
            <a:ext cx="6941058" cy="4352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37152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1132</Words>
  <Application>Microsoft Office PowerPoint</Application>
  <PresentationFormat>Widescreen</PresentationFormat>
  <Paragraphs>167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Year 11 Modern History</vt:lpstr>
      <vt:lpstr>MY expectations</vt:lpstr>
      <vt:lpstr>Can you list all 50 states of the USA?!</vt:lpstr>
      <vt:lpstr>States of USA</vt:lpstr>
      <vt:lpstr>Rationale (why are we studying this?)</vt:lpstr>
      <vt:lpstr>PowerPoint Presentation</vt:lpstr>
      <vt:lpstr>Learning outcomes</vt:lpstr>
      <vt:lpstr>Historical skills</vt:lpstr>
      <vt:lpstr>Consider the impact of the following forces:</vt:lpstr>
      <vt:lpstr>Capitalism: an American experience 1907-1941 (content)</vt:lpstr>
      <vt:lpstr>Key terminology  </vt:lpstr>
      <vt:lpstr>Sources/evidence</vt:lpstr>
      <vt:lpstr>Significance </vt:lpstr>
      <vt:lpstr>Contestability </vt:lpstr>
      <vt:lpstr>Perspectives </vt:lpstr>
      <vt:lpstr>Cause and effect</vt:lpstr>
      <vt:lpstr>Legacy </vt:lpstr>
      <vt:lpstr>Usefulness </vt:lpstr>
      <vt:lpstr>Historical context</vt:lpstr>
      <vt:lpstr>Timeline – use these significant dates and events to create a timeline of the period of study (they are not in chronological order)</vt:lpstr>
      <vt:lpstr>SMART Goals</vt:lpstr>
      <vt:lpstr>Study timetable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11 Modern History</dc:title>
  <dc:creator>Natasha Hawkes</dc:creator>
  <cp:lastModifiedBy>HAWKES Natasha [Narrogin Senior High School]</cp:lastModifiedBy>
  <cp:revision>16</cp:revision>
  <dcterms:created xsi:type="dcterms:W3CDTF">2018-12-09T10:58:10Z</dcterms:created>
  <dcterms:modified xsi:type="dcterms:W3CDTF">2019-01-31T05:34:49Z</dcterms:modified>
</cp:coreProperties>
</file>
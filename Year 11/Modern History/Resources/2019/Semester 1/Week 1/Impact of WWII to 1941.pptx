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6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WKES Natasha [Narrogin Senior High School]" initials="HN[SHS" lastIdx="1" clrIdx="0">
    <p:extLst>
      <p:ext uri="{19B8F6BF-5375-455C-9EA6-DF929625EA0E}">
        <p15:presenceInfo xmlns:p15="http://schemas.microsoft.com/office/powerpoint/2012/main" userId="S-1-5-21-2688374614-2727847420-1261802764-1370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4-09T08:29:58.166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682657-7BAB-4F75-B055-74126A0AEAFC}" type="doc">
      <dgm:prSet loTypeId="urn:microsoft.com/office/officeart/2005/8/layout/process1" loCatId="process" qsTypeId="urn:microsoft.com/office/officeart/2005/8/quickstyle/simple1" qsCatId="simple" csTypeId="urn:microsoft.com/office/officeart/2005/8/colors/colorful4" csCatId="colorful" phldr="1"/>
      <dgm:spPr/>
    </dgm:pt>
    <dgm:pt modelId="{B3206A99-EDF6-41DD-A58B-80D86D0B9600}">
      <dgm:prSet phldrT="[Text]" custT="1"/>
      <dgm:spPr/>
      <dgm:t>
        <a:bodyPr/>
        <a:lstStyle/>
        <a:p>
          <a:r>
            <a:rPr lang="en-AU" sz="3000" dirty="0">
              <a:solidFill>
                <a:schemeClr val="bg1"/>
              </a:solidFill>
            </a:rPr>
            <a:t>1865-1900</a:t>
          </a:r>
        </a:p>
      </dgm:t>
    </dgm:pt>
    <dgm:pt modelId="{E56E4ED9-CF9E-4F8B-A44C-FC64166391A1}" type="parTrans" cxnId="{1920FD9C-2488-4146-A40D-52771DBA3BE0}">
      <dgm:prSet/>
      <dgm:spPr/>
      <dgm:t>
        <a:bodyPr/>
        <a:lstStyle/>
        <a:p>
          <a:endParaRPr lang="en-AU"/>
        </a:p>
      </dgm:t>
    </dgm:pt>
    <dgm:pt modelId="{1507314D-857C-43E9-BD2A-9B35ACEE3E25}" type="sibTrans" cxnId="{1920FD9C-2488-4146-A40D-52771DBA3BE0}">
      <dgm:prSet/>
      <dgm:spPr/>
      <dgm:t>
        <a:bodyPr/>
        <a:lstStyle/>
        <a:p>
          <a:endParaRPr lang="en-AU"/>
        </a:p>
      </dgm:t>
    </dgm:pt>
    <dgm:pt modelId="{4552839C-A3D6-4D6C-9060-BA3B3ADE5BBD}">
      <dgm:prSet phldrT="[Text]" custT="1"/>
      <dgm:spPr/>
      <dgm:t>
        <a:bodyPr/>
        <a:lstStyle/>
        <a:p>
          <a:r>
            <a:rPr lang="en-AU" sz="3000" dirty="0">
              <a:solidFill>
                <a:schemeClr val="bg1"/>
              </a:solidFill>
            </a:rPr>
            <a:t>1900-1918</a:t>
          </a:r>
        </a:p>
      </dgm:t>
    </dgm:pt>
    <dgm:pt modelId="{CFE99381-316D-4901-99CE-6B117E68AAE6}" type="parTrans" cxnId="{3D418329-F143-4021-BD17-38192625DAFE}">
      <dgm:prSet/>
      <dgm:spPr/>
      <dgm:t>
        <a:bodyPr/>
        <a:lstStyle/>
        <a:p>
          <a:endParaRPr lang="en-AU"/>
        </a:p>
      </dgm:t>
    </dgm:pt>
    <dgm:pt modelId="{684851B8-01EA-48BD-87FE-80AB52737BA5}" type="sibTrans" cxnId="{3D418329-F143-4021-BD17-38192625DAFE}">
      <dgm:prSet/>
      <dgm:spPr/>
      <dgm:t>
        <a:bodyPr/>
        <a:lstStyle/>
        <a:p>
          <a:endParaRPr lang="en-AU"/>
        </a:p>
      </dgm:t>
    </dgm:pt>
    <dgm:pt modelId="{37782497-1B51-41F2-BA46-BBD9C4F7B4F3}">
      <dgm:prSet phldrT="[Text]" custT="1"/>
      <dgm:spPr/>
      <dgm:t>
        <a:bodyPr/>
        <a:lstStyle/>
        <a:p>
          <a:r>
            <a:rPr lang="en-AU" sz="3000" dirty="0">
              <a:solidFill>
                <a:schemeClr val="bg1"/>
              </a:solidFill>
            </a:rPr>
            <a:t>1918-1920</a:t>
          </a:r>
        </a:p>
      </dgm:t>
    </dgm:pt>
    <dgm:pt modelId="{CAAAEDCF-0DAD-4B93-80BD-6F8108FC17A3}" type="parTrans" cxnId="{9FC28312-7D6C-455C-8D49-5960AF74D95D}">
      <dgm:prSet/>
      <dgm:spPr/>
      <dgm:t>
        <a:bodyPr/>
        <a:lstStyle/>
        <a:p>
          <a:endParaRPr lang="en-AU"/>
        </a:p>
      </dgm:t>
    </dgm:pt>
    <dgm:pt modelId="{0E5E3D56-F46F-4470-A85D-6AC934FD7B0E}" type="sibTrans" cxnId="{9FC28312-7D6C-455C-8D49-5960AF74D95D}">
      <dgm:prSet/>
      <dgm:spPr/>
      <dgm:t>
        <a:bodyPr/>
        <a:lstStyle/>
        <a:p>
          <a:endParaRPr lang="en-AU"/>
        </a:p>
      </dgm:t>
    </dgm:pt>
    <dgm:pt modelId="{02351276-EDFC-41DC-8EDB-F7CFA771A7BD}">
      <dgm:prSet phldrT="[Text]" custT="1"/>
      <dgm:spPr/>
      <dgm:t>
        <a:bodyPr/>
        <a:lstStyle/>
        <a:p>
          <a:r>
            <a:rPr lang="en-AU" sz="3000" dirty="0">
              <a:solidFill>
                <a:schemeClr val="bg1"/>
              </a:solidFill>
            </a:rPr>
            <a:t>1920-1929</a:t>
          </a:r>
        </a:p>
      </dgm:t>
    </dgm:pt>
    <dgm:pt modelId="{19025981-B110-4486-9E87-D3728889B7BE}" type="parTrans" cxnId="{841C3366-CEB9-4321-9157-592D5A4C6D88}">
      <dgm:prSet/>
      <dgm:spPr/>
      <dgm:t>
        <a:bodyPr/>
        <a:lstStyle/>
        <a:p>
          <a:endParaRPr lang="en-AU"/>
        </a:p>
      </dgm:t>
    </dgm:pt>
    <dgm:pt modelId="{D798F94E-9BA4-4A7C-8EA0-AD4750E95A74}" type="sibTrans" cxnId="{841C3366-CEB9-4321-9157-592D5A4C6D88}">
      <dgm:prSet/>
      <dgm:spPr/>
      <dgm:t>
        <a:bodyPr/>
        <a:lstStyle/>
        <a:p>
          <a:endParaRPr lang="en-AU"/>
        </a:p>
      </dgm:t>
    </dgm:pt>
    <dgm:pt modelId="{1C6A3E9B-CBBD-4FBD-9E80-9EC43E0251F5}">
      <dgm:prSet phldrT="[Text]" custT="1"/>
      <dgm:spPr/>
      <dgm:t>
        <a:bodyPr/>
        <a:lstStyle/>
        <a:p>
          <a:r>
            <a:rPr lang="en-AU" sz="3000" dirty="0" smtClean="0">
              <a:solidFill>
                <a:schemeClr val="bg1"/>
              </a:solidFill>
            </a:rPr>
            <a:t>1929-1941</a:t>
          </a:r>
          <a:endParaRPr lang="en-AU" sz="3000" dirty="0">
            <a:solidFill>
              <a:schemeClr val="bg1"/>
            </a:solidFill>
          </a:endParaRPr>
        </a:p>
      </dgm:t>
    </dgm:pt>
    <dgm:pt modelId="{89C3AAB9-BDE6-4499-B002-54EAC85B1AE7}" type="parTrans" cxnId="{F2C4893D-53C3-4B16-A74C-9A1CB5DF7199}">
      <dgm:prSet/>
      <dgm:spPr/>
      <dgm:t>
        <a:bodyPr/>
        <a:lstStyle/>
        <a:p>
          <a:endParaRPr lang="en-US"/>
        </a:p>
      </dgm:t>
    </dgm:pt>
    <dgm:pt modelId="{7EF62D0F-A776-4995-B165-75BEAE4A50CB}" type="sibTrans" cxnId="{F2C4893D-53C3-4B16-A74C-9A1CB5DF7199}">
      <dgm:prSet/>
      <dgm:spPr/>
      <dgm:t>
        <a:bodyPr/>
        <a:lstStyle/>
        <a:p>
          <a:endParaRPr lang="en-US"/>
        </a:p>
      </dgm:t>
    </dgm:pt>
    <dgm:pt modelId="{7B9E0E4C-B28B-4CEF-8494-BB67E7E8CF2A}" type="pres">
      <dgm:prSet presAssocID="{E1682657-7BAB-4F75-B055-74126A0AEAFC}" presName="Name0" presStyleCnt="0">
        <dgm:presLayoutVars>
          <dgm:dir/>
          <dgm:resizeHandles val="exact"/>
        </dgm:presLayoutVars>
      </dgm:prSet>
      <dgm:spPr/>
    </dgm:pt>
    <dgm:pt modelId="{0606821C-1F19-4A00-9B3B-0F0ACA7DE0B8}" type="pres">
      <dgm:prSet presAssocID="{B3206A99-EDF6-41DD-A58B-80D86D0B9600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04FEC4-CF3B-4536-B425-3118E2375BF9}" type="pres">
      <dgm:prSet presAssocID="{1507314D-857C-43E9-BD2A-9B35ACEE3E25}" presName="sibTrans" presStyleLbl="sibTrans2D1" presStyleIdx="0" presStyleCnt="4"/>
      <dgm:spPr/>
      <dgm:t>
        <a:bodyPr/>
        <a:lstStyle/>
        <a:p>
          <a:endParaRPr lang="en-US"/>
        </a:p>
      </dgm:t>
    </dgm:pt>
    <dgm:pt modelId="{746A476C-A974-4893-A39C-88328A66AADC}" type="pres">
      <dgm:prSet presAssocID="{1507314D-857C-43E9-BD2A-9B35ACEE3E25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8A53EC44-DC2E-4B70-9A73-C950DF4FFAA4}" type="pres">
      <dgm:prSet presAssocID="{4552839C-A3D6-4D6C-9060-BA3B3ADE5BBD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E2D84E-56A4-493E-B435-7EA0C43155BF}" type="pres">
      <dgm:prSet presAssocID="{684851B8-01EA-48BD-87FE-80AB52737BA5}" presName="sibTrans" presStyleLbl="sibTrans2D1" presStyleIdx="1" presStyleCnt="4"/>
      <dgm:spPr/>
      <dgm:t>
        <a:bodyPr/>
        <a:lstStyle/>
        <a:p>
          <a:endParaRPr lang="en-US"/>
        </a:p>
      </dgm:t>
    </dgm:pt>
    <dgm:pt modelId="{83FEDC83-C9F9-4B4E-BA3E-40885737D580}" type="pres">
      <dgm:prSet presAssocID="{684851B8-01EA-48BD-87FE-80AB52737BA5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783D4E1C-F4EC-4C9B-B104-801715AE1D46}" type="pres">
      <dgm:prSet presAssocID="{37782497-1B51-41F2-BA46-BBD9C4F7B4F3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B836B6-C84D-42E7-BA89-D7B2F73152AC}" type="pres">
      <dgm:prSet presAssocID="{0E5E3D56-F46F-4470-A85D-6AC934FD7B0E}" presName="sibTrans" presStyleLbl="sibTrans2D1" presStyleIdx="2" presStyleCnt="4"/>
      <dgm:spPr/>
      <dgm:t>
        <a:bodyPr/>
        <a:lstStyle/>
        <a:p>
          <a:endParaRPr lang="en-US"/>
        </a:p>
      </dgm:t>
    </dgm:pt>
    <dgm:pt modelId="{9954D746-319F-442C-BA1F-369EA1B6C0E5}" type="pres">
      <dgm:prSet presAssocID="{0E5E3D56-F46F-4470-A85D-6AC934FD7B0E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D48D0B70-C6E7-4AF4-8FDA-F364B2B3F290}" type="pres">
      <dgm:prSet presAssocID="{02351276-EDFC-41DC-8EDB-F7CFA771A7BD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A579A2-3F0C-489F-865F-B541E7C032A8}" type="pres">
      <dgm:prSet presAssocID="{D798F94E-9BA4-4A7C-8EA0-AD4750E95A74}" presName="sibTrans" presStyleLbl="sibTrans2D1" presStyleIdx="3" presStyleCnt="4"/>
      <dgm:spPr/>
      <dgm:t>
        <a:bodyPr/>
        <a:lstStyle/>
        <a:p>
          <a:endParaRPr lang="en-US"/>
        </a:p>
      </dgm:t>
    </dgm:pt>
    <dgm:pt modelId="{24BAA1B0-5C6E-4F4E-A799-77A2356A8882}" type="pres">
      <dgm:prSet presAssocID="{D798F94E-9BA4-4A7C-8EA0-AD4750E95A74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82AAC2E2-EF29-4226-828C-FD6FC12B45AF}" type="pres">
      <dgm:prSet presAssocID="{1C6A3E9B-CBBD-4FBD-9E80-9EC43E0251F5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E057C27-FEAA-44FC-8C35-7D458F2D0B16}" type="presOf" srcId="{684851B8-01EA-48BD-87FE-80AB52737BA5}" destId="{83FEDC83-C9F9-4B4E-BA3E-40885737D580}" srcOrd="1" destOrd="0" presId="urn:microsoft.com/office/officeart/2005/8/layout/process1"/>
    <dgm:cxn modelId="{841C3366-CEB9-4321-9157-592D5A4C6D88}" srcId="{E1682657-7BAB-4F75-B055-74126A0AEAFC}" destId="{02351276-EDFC-41DC-8EDB-F7CFA771A7BD}" srcOrd="3" destOrd="0" parTransId="{19025981-B110-4486-9E87-D3728889B7BE}" sibTransId="{D798F94E-9BA4-4A7C-8EA0-AD4750E95A74}"/>
    <dgm:cxn modelId="{576AD15C-E1E6-4664-AF2B-643F6562FCA2}" type="presOf" srcId="{1507314D-857C-43E9-BD2A-9B35ACEE3E25}" destId="{6304FEC4-CF3B-4536-B425-3118E2375BF9}" srcOrd="0" destOrd="0" presId="urn:microsoft.com/office/officeart/2005/8/layout/process1"/>
    <dgm:cxn modelId="{B1AF89DC-F7E4-462D-B3B3-C89F95F2139D}" type="presOf" srcId="{1C6A3E9B-CBBD-4FBD-9E80-9EC43E0251F5}" destId="{82AAC2E2-EF29-4226-828C-FD6FC12B45AF}" srcOrd="0" destOrd="0" presId="urn:microsoft.com/office/officeart/2005/8/layout/process1"/>
    <dgm:cxn modelId="{CCB0C1CC-BF79-47DC-95FC-EC29C8162E19}" type="presOf" srcId="{0E5E3D56-F46F-4470-A85D-6AC934FD7B0E}" destId="{9954D746-319F-442C-BA1F-369EA1B6C0E5}" srcOrd="1" destOrd="0" presId="urn:microsoft.com/office/officeart/2005/8/layout/process1"/>
    <dgm:cxn modelId="{1920FD9C-2488-4146-A40D-52771DBA3BE0}" srcId="{E1682657-7BAB-4F75-B055-74126A0AEAFC}" destId="{B3206A99-EDF6-41DD-A58B-80D86D0B9600}" srcOrd="0" destOrd="0" parTransId="{E56E4ED9-CF9E-4F8B-A44C-FC64166391A1}" sibTransId="{1507314D-857C-43E9-BD2A-9B35ACEE3E25}"/>
    <dgm:cxn modelId="{4540356F-27E0-44F0-8485-03D39CCA6004}" type="presOf" srcId="{684851B8-01EA-48BD-87FE-80AB52737BA5}" destId="{38E2D84E-56A4-493E-B435-7EA0C43155BF}" srcOrd="0" destOrd="0" presId="urn:microsoft.com/office/officeart/2005/8/layout/process1"/>
    <dgm:cxn modelId="{F2C4893D-53C3-4B16-A74C-9A1CB5DF7199}" srcId="{E1682657-7BAB-4F75-B055-74126A0AEAFC}" destId="{1C6A3E9B-CBBD-4FBD-9E80-9EC43E0251F5}" srcOrd="4" destOrd="0" parTransId="{89C3AAB9-BDE6-4499-B002-54EAC85B1AE7}" sibTransId="{7EF62D0F-A776-4995-B165-75BEAE4A50CB}"/>
    <dgm:cxn modelId="{61005E22-1E53-43E5-ACF7-F4EE7D3F8372}" type="presOf" srcId="{4552839C-A3D6-4D6C-9060-BA3B3ADE5BBD}" destId="{8A53EC44-DC2E-4B70-9A73-C950DF4FFAA4}" srcOrd="0" destOrd="0" presId="urn:microsoft.com/office/officeart/2005/8/layout/process1"/>
    <dgm:cxn modelId="{3D418329-F143-4021-BD17-38192625DAFE}" srcId="{E1682657-7BAB-4F75-B055-74126A0AEAFC}" destId="{4552839C-A3D6-4D6C-9060-BA3B3ADE5BBD}" srcOrd="1" destOrd="0" parTransId="{CFE99381-316D-4901-99CE-6B117E68AAE6}" sibTransId="{684851B8-01EA-48BD-87FE-80AB52737BA5}"/>
    <dgm:cxn modelId="{C4099F20-518C-4771-B182-3F5701EAE3F4}" type="presOf" srcId="{D798F94E-9BA4-4A7C-8EA0-AD4750E95A74}" destId="{24BAA1B0-5C6E-4F4E-A799-77A2356A8882}" srcOrd="1" destOrd="0" presId="urn:microsoft.com/office/officeart/2005/8/layout/process1"/>
    <dgm:cxn modelId="{22017B9F-67BA-4C5C-B6E7-3E37A9E91E32}" type="presOf" srcId="{D798F94E-9BA4-4A7C-8EA0-AD4750E95A74}" destId="{90A579A2-3F0C-489F-865F-B541E7C032A8}" srcOrd="0" destOrd="0" presId="urn:microsoft.com/office/officeart/2005/8/layout/process1"/>
    <dgm:cxn modelId="{481781D8-5D64-420F-9033-0967AF887309}" type="presOf" srcId="{0E5E3D56-F46F-4470-A85D-6AC934FD7B0E}" destId="{92B836B6-C84D-42E7-BA89-D7B2F73152AC}" srcOrd="0" destOrd="0" presId="urn:microsoft.com/office/officeart/2005/8/layout/process1"/>
    <dgm:cxn modelId="{1ED79084-8E54-4E44-A168-97CC2F12AEDC}" type="presOf" srcId="{B3206A99-EDF6-41DD-A58B-80D86D0B9600}" destId="{0606821C-1F19-4A00-9B3B-0F0ACA7DE0B8}" srcOrd="0" destOrd="0" presId="urn:microsoft.com/office/officeart/2005/8/layout/process1"/>
    <dgm:cxn modelId="{9FC28312-7D6C-455C-8D49-5960AF74D95D}" srcId="{E1682657-7BAB-4F75-B055-74126A0AEAFC}" destId="{37782497-1B51-41F2-BA46-BBD9C4F7B4F3}" srcOrd="2" destOrd="0" parTransId="{CAAAEDCF-0DAD-4B93-80BD-6F8108FC17A3}" sibTransId="{0E5E3D56-F46F-4470-A85D-6AC934FD7B0E}"/>
    <dgm:cxn modelId="{AF7D48B4-77F7-4C42-8A6A-BB644A7462DD}" type="presOf" srcId="{E1682657-7BAB-4F75-B055-74126A0AEAFC}" destId="{7B9E0E4C-B28B-4CEF-8494-BB67E7E8CF2A}" srcOrd="0" destOrd="0" presId="urn:microsoft.com/office/officeart/2005/8/layout/process1"/>
    <dgm:cxn modelId="{0C64DCB0-6BD6-49C3-B32F-634A043A14D0}" type="presOf" srcId="{1507314D-857C-43E9-BD2A-9B35ACEE3E25}" destId="{746A476C-A974-4893-A39C-88328A66AADC}" srcOrd="1" destOrd="0" presId="urn:microsoft.com/office/officeart/2005/8/layout/process1"/>
    <dgm:cxn modelId="{93055DB2-FDBE-442D-BA4D-E9ADCAD31859}" type="presOf" srcId="{37782497-1B51-41F2-BA46-BBD9C4F7B4F3}" destId="{783D4E1C-F4EC-4C9B-B104-801715AE1D46}" srcOrd="0" destOrd="0" presId="urn:microsoft.com/office/officeart/2005/8/layout/process1"/>
    <dgm:cxn modelId="{5D43BEFC-A037-4567-843E-4B081A3328CE}" type="presOf" srcId="{02351276-EDFC-41DC-8EDB-F7CFA771A7BD}" destId="{D48D0B70-C6E7-4AF4-8FDA-F364B2B3F290}" srcOrd="0" destOrd="0" presId="urn:microsoft.com/office/officeart/2005/8/layout/process1"/>
    <dgm:cxn modelId="{72DA7114-B31A-4736-9870-E6EE06D10984}" type="presParOf" srcId="{7B9E0E4C-B28B-4CEF-8494-BB67E7E8CF2A}" destId="{0606821C-1F19-4A00-9B3B-0F0ACA7DE0B8}" srcOrd="0" destOrd="0" presId="urn:microsoft.com/office/officeart/2005/8/layout/process1"/>
    <dgm:cxn modelId="{AFEC3BA3-0442-4D36-87DC-B48B06EABB49}" type="presParOf" srcId="{7B9E0E4C-B28B-4CEF-8494-BB67E7E8CF2A}" destId="{6304FEC4-CF3B-4536-B425-3118E2375BF9}" srcOrd="1" destOrd="0" presId="urn:microsoft.com/office/officeart/2005/8/layout/process1"/>
    <dgm:cxn modelId="{3170AD8F-BFBB-4415-B010-D7ECC6ED45C4}" type="presParOf" srcId="{6304FEC4-CF3B-4536-B425-3118E2375BF9}" destId="{746A476C-A974-4893-A39C-88328A66AADC}" srcOrd="0" destOrd="0" presId="urn:microsoft.com/office/officeart/2005/8/layout/process1"/>
    <dgm:cxn modelId="{7082C9DD-849B-499E-BB5B-3C998918E25A}" type="presParOf" srcId="{7B9E0E4C-B28B-4CEF-8494-BB67E7E8CF2A}" destId="{8A53EC44-DC2E-4B70-9A73-C950DF4FFAA4}" srcOrd="2" destOrd="0" presId="urn:microsoft.com/office/officeart/2005/8/layout/process1"/>
    <dgm:cxn modelId="{FD39509D-1616-4A98-93B0-74F13D4BFB15}" type="presParOf" srcId="{7B9E0E4C-B28B-4CEF-8494-BB67E7E8CF2A}" destId="{38E2D84E-56A4-493E-B435-7EA0C43155BF}" srcOrd="3" destOrd="0" presId="urn:microsoft.com/office/officeart/2005/8/layout/process1"/>
    <dgm:cxn modelId="{00EB955C-260D-4A63-82DA-E4E4F04BA0CB}" type="presParOf" srcId="{38E2D84E-56A4-493E-B435-7EA0C43155BF}" destId="{83FEDC83-C9F9-4B4E-BA3E-40885737D580}" srcOrd="0" destOrd="0" presId="urn:microsoft.com/office/officeart/2005/8/layout/process1"/>
    <dgm:cxn modelId="{E7AEDC7E-0EF3-4486-9170-44EB7E8EE116}" type="presParOf" srcId="{7B9E0E4C-B28B-4CEF-8494-BB67E7E8CF2A}" destId="{783D4E1C-F4EC-4C9B-B104-801715AE1D46}" srcOrd="4" destOrd="0" presId="urn:microsoft.com/office/officeart/2005/8/layout/process1"/>
    <dgm:cxn modelId="{55C93412-7D2C-408A-9923-482319F75FC4}" type="presParOf" srcId="{7B9E0E4C-B28B-4CEF-8494-BB67E7E8CF2A}" destId="{92B836B6-C84D-42E7-BA89-D7B2F73152AC}" srcOrd="5" destOrd="0" presId="urn:microsoft.com/office/officeart/2005/8/layout/process1"/>
    <dgm:cxn modelId="{2D2418CD-EA1E-49ED-9925-683FC9D55E3E}" type="presParOf" srcId="{92B836B6-C84D-42E7-BA89-D7B2F73152AC}" destId="{9954D746-319F-442C-BA1F-369EA1B6C0E5}" srcOrd="0" destOrd="0" presId="urn:microsoft.com/office/officeart/2005/8/layout/process1"/>
    <dgm:cxn modelId="{0516E599-22DD-44B8-92AF-93D62F0F5117}" type="presParOf" srcId="{7B9E0E4C-B28B-4CEF-8494-BB67E7E8CF2A}" destId="{D48D0B70-C6E7-4AF4-8FDA-F364B2B3F290}" srcOrd="6" destOrd="0" presId="urn:microsoft.com/office/officeart/2005/8/layout/process1"/>
    <dgm:cxn modelId="{D20BF39C-4BCD-42B1-8383-6D477D5DE880}" type="presParOf" srcId="{7B9E0E4C-B28B-4CEF-8494-BB67E7E8CF2A}" destId="{90A579A2-3F0C-489F-865F-B541E7C032A8}" srcOrd="7" destOrd="0" presId="urn:microsoft.com/office/officeart/2005/8/layout/process1"/>
    <dgm:cxn modelId="{A911D174-BEE9-4189-8819-AB4EADCE197F}" type="presParOf" srcId="{90A579A2-3F0C-489F-865F-B541E7C032A8}" destId="{24BAA1B0-5C6E-4F4E-A799-77A2356A8882}" srcOrd="0" destOrd="0" presId="urn:microsoft.com/office/officeart/2005/8/layout/process1"/>
    <dgm:cxn modelId="{D874DC68-2A4F-45BB-9CFE-D83429A0038E}" type="presParOf" srcId="{7B9E0E4C-B28B-4CEF-8494-BB67E7E8CF2A}" destId="{82AAC2E2-EF29-4226-828C-FD6FC12B45AF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06821C-1F19-4A00-9B3B-0F0ACA7DE0B8}">
      <dsp:nvSpPr>
        <dsp:cNvPr id="0" name=""/>
        <dsp:cNvSpPr/>
      </dsp:nvSpPr>
      <dsp:spPr>
        <a:xfrm>
          <a:off x="5670" y="2157286"/>
          <a:ext cx="1757761" cy="11040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000" kern="1200" dirty="0">
              <a:solidFill>
                <a:schemeClr val="bg1"/>
              </a:solidFill>
            </a:rPr>
            <a:t>1865-1900</a:t>
          </a:r>
        </a:p>
      </dsp:txBody>
      <dsp:txXfrm>
        <a:off x="38008" y="2189624"/>
        <a:ext cx="1693085" cy="1039417"/>
      </dsp:txXfrm>
    </dsp:sp>
    <dsp:sp modelId="{6304FEC4-CF3B-4536-B425-3118E2375BF9}">
      <dsp:nvSpPr>
        <dsp:cNvPr id="0" name=""/>
        <dsp:cNvSpPr/>
      </dsp:nvSpPr>
      <dsp:spPr>
        <a:xfrm>
          <a:off x="1939207" y="2491371"/>
          <a:ext cx="372645" cy="4359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1900" kern="1200"/>
        </a:p>
      </dsp:txBody>
      <dsp:txXfrm>
        <a:off x="1939207" y="2578556"/>
        <a:ext cx="260852" cy="261554"/>
      </dsp:txXfrm>
    </dsp:sp>
    <dsp:sp modelId="{8A53EC44-DC2E-4B70-9A73-C950DF4FFAA4}">
      <dsp:nvSpPr>
        <dsp:cNvPr id="0" name=""/>
        <dsp:cNvSpPr/>
      </dsp:nvSpPr>
      <dsp:spPr>
        <a:xfrm>
          <a:off x="2466535" y="2157286"/>
          <a:ext cx="1757761" cy="1104093"/>
        </a:xfrm>
        <a:prstGeom prst="roundRect">
          <a:avLst>
            <a:gd name="adj" fmla="val 10000"/>
          </a:avLst>
        </a:prstGeom>
        <a:solidFill>
          <a:schemeClr val="accent4">
            <a:hueOff val="160585"/>
            <a:satOff val="4400"/>
            <a:lumOff val="-289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000" kern="1200" dirty="0">
              <a:solidFill>
                <a:schemeClr val="bg1"/>
              </a:solidFill>
            </a:rPr>
            <a:t>1900-1918</a:t>
          </a:r>
        </a:p>
      </dsp:txBody>
      <dsp:txXfrm>
        <a:off x="2498873" y="2189624"/>
        <a:ext cx="1693085" cy="1039417"/>
      </dsp:txXfrm>
    </dsp:sp>
    <dsp:sp modelId="{38E2D84E-56A4-493E-B435-7EA0C43155BF}">
      <dsp:nvSpPr>
        <dsp:cNvPr id="0" name=""/>
        <dsp:cNvSpPr/>
      </dsp:nvSpPr>
      <dsp:spPr>
        <a:xfrm>
          <a:off x="4400072" y="2491371"/>
          <a:ext cx="372645" cy="4359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214114"/>
            <a:satOff val="5867"/>
            <a:lumOff val="-385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1900" kern="1200"/>
        </a:p>
      </dsp:txBody>
      <dsp:txXfrm>
        <a:off x="4400072" y="2578556"/>
        <a:ext cx="260852" cy="261554"/>
      </dsp:txXfrm>
    </dsp:sp>
    <dsp:sp modelId="{783D4E1C-F4EC-4C9B-B104-801715AE1D46}">
      <dsp:nvSpPr>
        <dsp:cNvPr id="0" name=""/>
        <dsp:cNvSpPr/>
      </dsp:nvSpPr>
      <dsp:spPr>
        <a:xfrm>
          <a:off x="4927400" y="2157286"/>
          <a:ext cx="1757761" cy="1104093"/>
        </a:xfrm>
        <a:prstGeom prst="roundRect">
          <a:avLst>
            <a:gd name="adj" fmla="val 10000"/>
          </a:avLst>
        </a:prstGeom>
        <a:solidFill>
          <a:schemeClr val="accent4">
            <a:hueOff val="321170"/>
            <a:satOff val="8800"/>
            <a:lumOff val="-578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000" kern="1200" dirty="0">
              <a:solidFill>
                <a:schemeClr val="bg1"/>
              </a:solidFill>
            </a:rPr>
            <a:t>1918-1920</a:t>
          </a:r>
        </a:p>
      </dsp:txBody>
      <dsp:txXfrm>
        <a:off x="4959738" y="2189624"/>
        <a:ext cx="1693085" cy="1039417"/>
      </dsp:txXfrm>
    </dsp:sp>
    <dsp:sp modelId="{92B836B6-C84D-42E7-BA89-D7B2F73152AC}">
      <dsp:nvSpPr>
        <dsp:cNvPr id="0" name=""/>
        <dsp:cNvSpPr/>
      </dsp:nvSpPr>
      <dsp:spPr>
        <a:xfrm>
          <a:off x="6860938" y="2491371"/>
          <a:ext cx="372645" cy="4359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428227"/>
            <a:satOff val="11734"/>
            <a:lumOff val="-771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1900" kern="1200"/>
        </a:p>
      </dsp:txBody>
      <dsp:txXfrm>
        <a:off x="6860938" y="2578556"/>
        <a:ext cx="260852" cy="261554"/>
      </dsp:txXfrm>
    </dsp:sp>
    <dsp:sp modelId="{D48D0B70-C6E7-4AF4-8FDA-F364B2B3F290}">
      <dsp:nvSpPr>
        <dsp:cNvPr id="0" name=""/>
        <dsp:cNvSpPr/>
      </dsp:nvSpPr>
      <dsp:spPr>
        <a:xfrm>
          <a:off x="7388266" y="2157286"/>
          <a:ext cx="1757761" cy="1104093"/>
        </a:xfrm>
        <a:prstGeom prst="roundRect">
          <a:avLst>
            <a:gd name="adj" fmla="val 10000"/>
          </a:avLst>
        </a:prstGeom>
        <a:solidFill>
          <a:schemeClr val="accent4">
            <a:hueOff val="481756"/>
            <a:satOff val="13201"/>
            <a:lumOff val="-867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000" kern="1200" dirty="0">
              <a:solidFill>
                <a:schemeClr val="bg1"/>
              </a:solidFill>
            </a:rPr>
            <a:t>1920-1929</a:t>
          </a:r>
        </a:p>
      </dsp:txBody>
      <dsp:txXfrm>
        <a:off x="7420604" y="2189624"/>
        <a:ext cx="1693085" cy="1039417"/>
      </dsp:txXfrm>
    </dsp:sp>
    <dsp:sp modelId="{90A579A2-3F0C-489F-865F-B541E7C032A8}">
      <dsp:nvSpPr>
        <dsp:cNvPr id="0" name=""/>
        <dsp:cNvSpPr/>
      </dsp:nvSpPr>
      <dsp:spPr>
        <a:xfrm>
          <a:off x="9321803" y="2491371"/>
          <a:ext cx="372645" cy="4359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642341"/>
            <a:satOff val="17601"/>
            <a:lumOff val="-1156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1900" kern="1200"/>
        </a:p>
      </dsp:txBody>
      <dsp:txXfrm>
        <a:off x="9321803" y="2578556"/>
        <a:ext cx="260852" cy="261554"/>
      </dsp:txXfrm>
    </dsp:sp>
    <dsp:sp modelId="{82AAC2E2-EF29-4226-828C-FD6FC12B45AF}">
      <dsp:nvSpPr>
        <dsp:cNvPr id="0" name=""/>
        <dsp:cNvSpPr/>
      </dsp:nvSpPr>
      <dsp:spPr>
        <a:xfrm>
          <a:off x="9849131" y="2157286"/>
          <a:ext cx="1757761" cy="1104093"/>
        </a:xfrm>
        <a:prstGeom prst="roundRect">
          <a:avLst>
            <a:gd name="adj" fmla="val 10000"/>
          </a:avLst>
        </a:prstGeom>
        <a:solidFill>
          <a:schemeClr val="accent4">
            <a:hueOff val="642341"/>
            <a:satOff val="17601"/>
            <a:lumOff val="-1156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000" kern="1200" dirty="0" smtClean="0">
              <a:solidFill>
                <a:schemeClr val="bg1"/>
              </a:solidFill>
            </a:rPr>
            <a:t>1929-1941</a:t>
          </a:r>
          <a:endParaRPr lang="en-AU" sz="3000" kern="1200" dirty="0">
            <a:solidFill>
              <a:schemeClr val="bg1"/>
            </a:solidFill>
          </a:endParaRPr>
        </a:p>
      </dsp:txBody>
      <dsp:txXfrm>
        <a:off x="9881469" y="2189624"/>
        <a:ext cx="1693085" cy="10394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79836-E3B6-4498-BCA8-4D3AC92A94FC}" type="datetimeFigureOut">
              <a:rPr lang="en-AU" smtClean="0"/>
              <a:t>1/05/2019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5F42-B887-484F-8611-67F65552E0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0969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79836-E3B6-4498-BCA8-4D3AC92A94FC}" type="datetimeFigureOut">
              <a:rPr lang="en-AU" smtClean="0"/>
              <a:t>1/05/2019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5F42-B887-484F-8611-67F65552E0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0493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79836-E3B6-4498-BCA8-4D3AC92A94FC}" type="datetimeFigureOut">
              <a:rPr lang="en-AU" smtClean="0"/>
              <a:t>1/05/2019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5F42-B887-484F-8611-67F65552E0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3677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79836-E3B6-4498-BCA8-4D3AC92A94FC}" type="datetimeFigureOut">
              <a:rPr lang="en-AU" smtClean="0"/>
              <a:t>1/05/2019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5F42-B887-484F-8611-67F65552E0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23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79836-E3B6-4498-BCA8-4D3AC92A94FC}" type="datetimeFigureOut">
              <a:rPr lang="en-AU" smtClean="0"/>
              <a:t>1/05/2019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5F42-B887-484F-8611-67F65552E0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4141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79836-E3B6-4498-BCA8-4D3AC92A94FC}" type="datetimeFigureOut">
              <a:rPr lang="en-AU" smtClean="0"/>
              <a:t>1/05/2019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5F42-B887-484F-8611-67F65552E0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6781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79836-E3B6-4498-BCA8-4D3AC92A94FC}" type="datetimeFigureOut">
              <a:rPr lang="en-AU" smtClean="0"/>
              <a:t>1/05/2019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5F42-B887-484F-8611-67F65552E0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4658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79836-E3B6-4498-BCA8-4D3AC92A94FC}" type="datetimeFigureOut">
              <a:rPr lang="en-AU" smtClean="0"/>
              <a:t>1/05/2019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5F42-B887-484F-8611-67F65552E0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9449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79836-E3B6-4498-BCA8-4D3AC92A94FC}" type="datetimeFigureOut">
              <a:rPr lang="en-AU" smtClean="0"/>
              <a:t>1/05/2019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5F42-B887-484F-8611-67F65552E0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6936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79836-E3B6-4498-BCA8-4D3AC92A94FC}" type="datetimeFigureOut">
              <a:rPr lang="en-AU" smtClean="0"/>
              <a:t>1/05/2019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5F42-B887-484F-8611-67F65552E0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7513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79836-E3B6-4498-BCA8-4D3AC92A94FC}" type="datetimeFigureOut">
              <a:rPr lang="en-AU" smtClean="0"/>
              <a:t>1/05/2019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5F42-B887-484F-8611-67F65552E0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5523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79836-E3B6-4498-BCA8-4D3AC92A94FC}" type="datetimeFigureOut">
              <a:rPr lang="en-AU" smtClean="0"/>
              <a:t>1/05/2019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5F42-B887-484F-8611-67F65552E02C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92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79836-E3B6-4498-BCA8-4D3AC92A94FC}" type="datetimeFigureOut">
              <a:rPr lang="en-AU" smtClean="0"/>
              <a:t>1/05/2019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5F42-B887-484F-8611-67F65552E0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719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79836-E3B6-4498-BCA8-4D3AC92A94FC}" type="datetimeFigureOut">
              <a:rPr lang="en-AU" smtClean="0"/>
              <a:t>1/05/2019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5F42-B887-484F-8611-67F65552E0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6435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79836-E3B6-4498-BCA8-4D3AC92A94FC}" type="datetimeFigureOut">
              <a:rPr lang="en-AU" smtClean="0"/>
              <a:t>1/05/2019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5F42-B887-484F-8611-67F65552E0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92762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79836-E3B6-4498-BCA8-4D3AC92A94FC}" type="datetimeFigureOut">
              <a:rPr lang="en-AU" smtClean="0"/>
              <a:t>1/05/2019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5F42-B887-484F-8611-67F65552E0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2935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79836-E3B6-4498-BCA8-4D3AC92A94FC}" type="datetimeFigureOut">
              <a:rPr lang="en-AU" smtClean="0"/>
              <a:t>1/05/2019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5F42-B887-484F-8611-67F65552E0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9117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5B79836-E3B6-4498-BCA8-4D3AC92A94FC}" type="datetimeFigureOut">
              <a:rPr lang="en-AU" smtClean="0"/>
              <a:t>1/05/2019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03E5F42-B887-484F-8611-67F65552E0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97721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comments" Target="../comments/commen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o2Rb9h788s" TargetMode="External"/><Relationship Id="rId2" Type="http://schemas.openxmlformats.org/officeDocument/2006/relationships/hyperlink" Target="https://www.youtube.com/watch?v=_uk_6vfqwT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9062" y="143497"/>
            <a:ext cx="9144000" cy="3696984"/>
          </a:xfrm>
        </p:spPr>
        <p:txBody>
          <a:bodyPr>
            <a:noAutofit/>
          </a:bodyPr>
          <a:lstStyle/>
          <a:p>
            <a:r>
              <a:rPr lang="en-AU" sz="4000" b="1" dirty="0"/>
              <a:t>Impact of WWII to </a:t>
            </a:r>
            <a:r>
              <a:rPr lang="en-AU" sz="4000" b="1" dirty="0" smtClean="0"/>
              <a:t>1941</a:t>
            </a:r>
            <a:br>
              <a:rPr lang="en-AU" sz="4000" b="1" dirty="0" smtClean="0"/>
            </a:br>
            <a:r>
              <a:rPr lang="en-AU" sz="3000" dirty="0"/>
              <a:t/>
            </a:r>
            <a:br>
              <a:rPr lang="en-AU" sz="3000" dirty="0"/>
            </a:br>
            <a:r>
              <a:rPr lang="en-AU" sz="3000" dirty="0"/>
              <a:t>The impact of World War II on American capitalism </a:t>
            </a:r>
            <a:br>
              <a:rPr lang="en-AU" sz="3000" dirty="0"/>
            </a:br>
            <a:r>
              <a:rPr lang="en-AU" sz="3000" dirty="0"/>
              <a:t>The armaments industry</a:t>
            </a:r>
            <a:br>
              <a:rPr lang="en-AU" sz="3000" dirty="0"/>
            </a:br>
            <a:r>
              <a:rPr lang="en-AU" sz="3000" dirty="0"/>
              <a:t>Other industries</a:t>
            </a:r>
            <a:br>
              <a:rPr lang="en-AU" sz="3000" dirty="0"/>
            </a:br>
            <a:r>
              <a:rPr lang="en-AU" sz="3000" dirty="0"/>
              <a:t>Foreign affairs and trade</a:t>
            </a:r>
            <a:br>
              <a:rPr lang="en-AU" sz="3000" dirty="0"/>
            </a:br>
            <a:r>
              <a:rPr lang="en-AU" sz="3000" dirty="0"/>
              <a:t>Women in the workforce</a:t>
            </a:r>
          </a:p>
        </p:txBody>
      </p:sp>
      <p:pic>
        <p:nvPicPr>
          <p:cNvPr id="1026" name="Picture 2" descr="Image result for us ww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496" y="4206933"/>
            <a:ext cx="4345132" cy="217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21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story so far…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91BEEA7-4026-4135-A25C-C34F314487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2351254"/>
              </p:ext>
            </p:extLst>
          </p:nvPr>
        </p:nvGraphicFramePr>
        <p:xfrm>
          <a:off x="346074" y="0"/>
          <a:ext cx="1161256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7610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Background info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933" y="1897341"/>
            <a:ext cx="6446375" cy="4058751"/>
          </a:xfrm>
        </p:spPr>
        <p:txBody>
          <a:bodyPr>
            <a:normAutofit/>
          </a:bodyPr>
          <a:lstStyle/>
          <a:p>
            <a:r>
              <a:rPr lang="en-AU" sz="2800" dirty="0" smtClean="0"/>
              <a:t>WWII broke out Europe  1 Sep 1939</a:t>
            </a:r>
          </a:p>
          <a:p>
            <a:r>
              <a:rPr lang="en-AU" sz="2800" dirty="0" smtClean="0"/>
              <a:t>Ended  2 September 1945</a:t>
            </a:r>
          </a:p>
          <a:p>
            <a:r>
              <a:rPr lang="en-AU" sz="2800" dirty="0" smtClean="0"/>
              <a:t>Began with invasion of Poland by Germany (Hitler) although there were many underlying tensions before this</a:t>
            </a:r>
          </a:p>
          <a:p>
            <a:r>
              <a:rPr lang="en-AU" sz="2800" dirty="0" smtClean="0"/>
              <a:t>Credited with end of Depression in USA</a:t>
            </a:r>
            <a:endParaRPr lang="en-AU" sz="2800" dirty="0"/>
          </a:p>
        </p:txBody>
      </p:sp>
      <p:pic>
        <p:nvPicPr>
          <p:cNvPr id="1026" name="Picture 2" descr="Image result for usa ww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720" y="2146634"/>
            <a:ext cx="4329130" cy="350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563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WW2 Oversimplified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Part 1: </a:t>
            </a:r>
            <a:r>
              <a:rPr lang="en-AU" dirty="0" smtClean="0">
                <a:hlinkClick r:id="rId2"/>
              </a:rPr>
              <a:t>https://www.youtube.com/watch?v=_uk_6vfqwTA</a:t>
            </a: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Part 2: </a:t>
            </a:r>
            <a:r>
              <a:rPr lang="en-AU" dirty="0" smtClean="0">
                <a:hlinkClick r:id="rId3"/>
              </a:rPr>
              <a:t>https://www.youtube.com/watch?v=fo2Rb9h788s</a:t>
            </a:r>
            <a:r>
              <a:rPr lang="en-AU" dirty="0" smtClean="0"/>
              <a:t> </a:t>
            </a:r>
            <a:endParaRPr lang="en-AU" dirty="0"/>
          </a:p>
        </p:txBody>
      </p:sp>
      <p:pic>
        <p:nvPicPr>
          <p:cNvPr id="2050" name="Picture 2" descr="Image result for usa ww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526" y="3440243"/>
            <a:ext cx="62103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The impact of World War II on American capitalism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635135"/>
            <a:ext cx="10353762" cy="3156065"/>
          </a:xfrm>
        </p:spPr>
        <p:txBody>
          <a:bodyPr>
            <a:normAutofit/>
          </a:bodyPr>
          <a:lstStyle/>
          <a:p>
            <a:r>
              <a:rPr lang="en-AU" sz="3000" dirty="0" smtClean="0"/>
              <a:t>Restored prosperity in US</a:t>
            </a:r>
          </a:p>
          <a:p>
            <a:r>
              <a:rPr lang="en-AU" sz="3000" dirty="0" smtClean="0"/>
              <a:t>Unemployment reduced to 1%</a:t>
            </a:r>
          </a:p>
          <a:p>
            <a:r>
              <a:rPr lang="en-AU" sz="3000" dirty="0" smtClean="0"/>
              <a:t>Industrial output rose by 50%</a:t>
            </a:r>
          </a:p>
          <a:p>
            <a:r>
              <a:rPr lang="en-AU" sz="3000" dirty="0" smtClean="0"/>
              <a:t>Agricultural output rose by 30%</a:t>
            </a:r>
          </a:p>
        </p:txBody>
      </p:sp>
      <p:pic>
        <p:nvPicPr>
          <p:cNvPr id="2050" name="Picture 2" descr="Image result for us ww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960" y="2106585"/>
            <a:ext cx="4618051" cy="3684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9810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armaments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369127"/>
            <a:ext cx="6301652" cy="3732415"/>
          </a:xfrm>
        </p:spPr>
        <p:txBody>
          <a:bodyPr>
            <a:normAutofit/>
          </a:bodyPr>
          <a:lstStyle/>
          <a:p>
            <a:r>
              <a:rPr lang="en-AU" sz="3000" dirty="0" smtClean="0"/>
              <a:t>The USA became the ‘Arsenal for Democracy’</a:t>
            </a:r>
          </a:p>
          <a:p>
            <a:r>
              <a:rPr lang="en-AU" sz="3000" dirty="0" smtClean="0"/>
              <a:t>3 million machine guns</a:t>
            </a:r>
          </a:p>
          <a:p>
            <a:r>
              <a:rPr lang="en-AU" sz="3000" dirty="0" smtClean="0"/>
              <a:t>87,000 tanks</a:t>
            </a:r>
          </a:p>
          <a:p>
            <a:r>
              <a:rPr lang="en-AU" sz="3000" dirty="0" smtClean="0"/>
              <a:t>Development of the atomic bomb – the Manhattan Project</a:t>
            </a:r>
            <a:endParaRPr lang="en-AU" sz="3000" dirty="0"/>
          </a:p>
        </p:txBody>
      </p:sp>
      <p:pic>
        <p:nvPicPr>
          <p:cNvPr id="3074" name="Picture 2" descr="Image result for us ww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0664" y="2610041"/>
            <a:ext cx="4391151" cy="2901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212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Other industries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6" y="1732449"/>
            <a:ext cx="4946678" cy="4768104"/>
          </a:xfrm>
        </p:spPr>
        <p:txBody>
          <a:bodyPr/>
          <a:lstStyle/>
          <a:p>
            <a:r>
              <a:rPr lang="en-AU" dirty="0" smtClean="0"/>
              <a:t>Enormous technological advances</a:t>
            </a:r>
          </a:p>
          <a:p>
            <a:r>
              <a:rPr lang="en-AU" dirty="0" smtClean="0"/>
              <a:t>Radar enhanced by US engineers</a:t>
            </a:r>
          </a:p>
          <a:p>
            <a:r>
              <a:rPr lang="en-AU" dirty="0" smtClean="0"/>
              <a:t>The ‘valve driven’ computer developed</a:t>
            </a:r>
          </a:p>
          <a:p>
            <a:r>
              <a:rPr lang="en-AU" dirty="0" smtClean="0"/>
              <a:t>Synthetic rubber and magnesium manufactured</a:t>
            </a:r>
          </a:p>
          <a:p>
            <a:r>
              <a:rPr lang="en-AU" dirty="0" smtClean="0"/>
              <a:t>Shipbuilding revolutionised (‘Liberty’ and ‘Victory’ ships)</a:t>
            </a:r>
          </a:p>
          <a:p>
            <a:endParaRPr lang="en-AU" dirty="0"/>
          </a:p>
          <a:p>
            <a:r>
              <a:rPr lang="en-AU" dirty="0"/>
              <a:t>T</a:t>
            </a:r>
            <a:r>
              <a:rPr lang="en-AU" dirty="0" smtClean="0"/>
              <a:t>he domestic impact of the war lead to post-war prosperity and global economic power in the US</a:t>
            </a:r>
            <a:endParaRPr lang="en-AU" dirty="0"/>
          </a:p>
        </p:txBody>
      </p:sp>
      <p:pic>
        <p:nvPicPr>
          <p:cNvPr id="4098" name="Picture 2" descr="Image result for us liberty shi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935" y="1844433"/>
            <a:ext cx="5561887" cy="364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685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Foreign affairs and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732449"/>
            <a:ext cx="5769638" cy="4601849"/>
          </a:xfrm>
        </p:spPr>
        <p:txBody>
          <a:bodyPr/>
          <a:lstStyle/>
          <a:p>
            <a:r>
              <a:rPr lang="en-AU" sz="2500" dirty="0" smtClean="0"/>
              <a:t>During 1920s US isolationist</a:t>
            </a:r>
          </a:p>
          <a:p>
            <a:r>
              <a:rPr lang="en-AU" sz="2500" dirty="0" smtClean="0"/>
              <a:t>Relations with Tripartite Pact, or Axis Powers – Germany, Japan and Italy deteriorated steadily during the 1930s.</a:t>
            </a:r>
          </a:p>
          <a:p>
            <a:r>
              <a:rPr lang="en-AU" sz="2500" dirty="0" smtClean="0"/>
              <a:t>Sino-American relationships through trade and security</a:t>
            </a:r>
          </a:p>
          <a:p>
            <a:r>
              <a:rPr lang="en-AU" sz="2500" dirty="0" smtClean="0"/>
              <a:t>US-Japanese relationships deteriorated during early 20</a:t>
            </a:r>
            <a:r>
              <a:rPr lang="en-AU" sz="2500" baseline="30000" dirty="0" smtClean="0"/>
              <a:t>th</a:t>
            </a:r>
            <a:r>
              <a:rPr lang="en-AU" sz="2500" dirty="0" smtClean="0"/>
              <a:t> C.</a:t>
            </a:r>
          </a:p>
          <a:p>
            <a:pPr marL="36900" indent="0">
              <a:buNone/>
            </a:pPr>
            <a:endParaRPr lang="en-AU" dirty="0"/>
          </a:p>
        </p:txBody>
      </p:sp>
      <p:pic>
        <p:nvPicPr>
          <p:cNvPr id="5122" name="Picture 2" descr="Image result for axis powers ww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950" y="2177935"/>
            <a:ext cx="4662190" cy="3107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73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375" t="15077" r="33775" b="6596"/>
          <a:stretch/>
        </p:blipFill>
        <p:spPr>
          <a:xfrm>
            <a:off x="2298931" y="169178"/>
            <a:ext cx="7356278" cy="652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59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Women in the workforce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732449"/>
            <a:ext cx="4428672" cy="4834606"/>
          </a:xfrm>
        </p:spPr>
        <p:txBody>
          <a:bodyPr>
            <a:normAutofit/>
          </a:bodyPr>
          <a:lstStyle/>
          <a:p>
            <a:r>
              <a:rPr lang="en-AU" dirty="0" smtClean="0"/>
              <a:t>Women made economic gains</a:t>
            </a:r>
          </a:p>
          <a:p>
            <a:r>
              <a:rPr lang="en-AU" dirty="0" smtClean="0"/>
              <a:t>Around 2 million women employed in war productions industries</a:t>
            </a:r>
          </a:p>
          <a:p>
            <a:r>
              <a:rPr lang="en-AU" dirty="0" smtClean="0"/>
              <a:t>Women entered jobs previously reserved for men</a:t>
            </a:r>
          </a:p>
          <a:p>
            <a:r>
              <a:rPr lang="en-AU" dirty="0" smtClean="0"/>
              <a:t>Female participation in the workforce rose from 12 million to 16 million</a:t>
            </a:r>
          </a:p>
          <a:p>
            <a:r>
              <a:rPr lang="en-AU" dirty="0" smtClean="0"/>
              <a:t>Unlike WW1, when men returned from overseas women did not suffer wholesale redundancies </a:t>
            </a:r>
            <a:endParaRPr lang="en-AU" dirty="0"/>
          </a:p>
        </p:txBody>
      </p:sp>
      <p:pic>
        <p:nvPicPr>
          <p:cNvPr id="6146" name="Picture 2" descr="Image result for ww2 women us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75" y="1732449"/>
            <a:ext cx="5945009" cy="4656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554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Key questions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038662"/>
            <a:ext cx="10353762" cy="4452079"/>
          </a:xfrm>
        </p:spPr>
        <p:txBody>
          <a:bodyPr>
            <a:normAutofit/>
          </a:bodyPr>
          <a:lstStyle/>
          <a:p>
            <a:pPr marL="494100" indent="-457200">
              <a:buAutoNum type="arabicPeriod"/>
            </a:pPr>
            <a:r>
              <a:rPr lang="en-AU" sz="3000" dirty="0"/>
              <a:t>Why do you think the U.S. maintained a position of neutrality in World War II for so long? </a:t>
            </a:r>
            <a:endParaRPr lang="en-AU" sz="3000" dirty="0" smtClean="0"/>
          </a:p>
          <a:p>
            <a:pPr marL="494100" indent="-457200">
              <a:buAutoNum type="arabicPeriod"/>
            </a:pPr>
            <a:r>
              <a:rPr lang="en-AU" sz="3000" dirty="0" smtClean="0"/>
              <a:t>What </a:t>
            </a:r>
            <a:r>
              <a:rPr lang="en-AU" sz="3000" dirty="0"/>
              <a:t>was the role of the U.S. in this conflict before the official declaration of war</a:t>
            </a:r>
            <a:r>
              <a:rPr lang="en-AU" sz="3000" dirty="0" smtClean="0"/>
              <a:t>?</a:t>
            </a:r>
          </a:p>
          <a:p>
            <a:pPr marL="494100" indent="-457200">
              <a:buAutoNum type="arabicPeriod"/>
            </a:pPr>
            <a:r>
              <a:rPr lang="en-AU" sz="3000" dirty="0"/>
              <a:t>Was war between the United States and Japan inevitable</a:t>
            </a:r>
            <a:r>
              <a:rPr lang="en-AU" sz="3000" dirty="0" smtClean="0"/>
              <a:t>?</a:t>
            </a:r>
          </a:p>
          <a:p>
            <a:pPr marL="494100" indent="-457200">
              <a:buAutoNum type="arabicPeriod"/>
            </a:pPr>
            <a:r>
              <a:rPr lang="en-AU" sz="3000" dirty="0"/>
              <a:t>Was World War II a “good war?”</a:t>
            </a:r>
          </a:p>
          <a:p>
            <a:pPr marL="494100" indent="-457200">
              <a:buAutoNum type="arabicPeriod"/>
            </a:pPr>
            <a:r>
              <a:rPr lang="en-AU" sz="3000" dirty="0" smtClean="0"/>
              <a:t>Discuss the reasons why WW2 was such a significant event for the United States</a:t>
            </a:r>
            <a:r>
              <a:rPr lang="en-AU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7810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3EC26C"/>
      </a:accent1>
      <a:accent2>
        <a:srgbClr val="B3D463"/>
      </a:accent2>
      <a:accent3>
        <a:srgbClr val="3BBC9D"/>
      </a:accent3>
      <a:accent4>
        <a:srgbClr val="97AF75"/>
      </a:accent4>
      <a:accent5>
        <a:srgbClr val="6BA841"/>
      </a:accent5>
      <a:accent6>
        <a:srgbClr val="79AE90"/>
      </a:accent6>
      <a:hlink>
        <a:srgbClr val="85E4A6"/>
      </a:hlink>
      <a:folHlink>
        <a:srgbClr val="BDF3D0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43372978-11FE-4814-AC26-BC300187D8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216</TotalTime>
  <Words>342</Words>
  <Application>Microsoft Office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Calisto MT</vt:lpstr>
      <vt:lpstr>Trebuchet MS</vt:lpstr>
      <vt:lpstr>Wingdings 2</vt:lpstr>
      <vt:lpstr>Slate</vt:lpstr>
      <vt:lpstr>Impact of WWII to 1941  The impact of World War II on American capitalism  The armaments industry Other industries Foreign affairs and trade Women in the workforce</vt:lpstr>
      <vt:lpstr>The story so far…</vt:lpstr>
      <vt:lpstr>Background info</vt:lpstr>
      <vt:lpstr>WW2 Oversimplified</vt:lpstr>
      <vt:lpstr>The impact of World War II on American capitalism</vt:lpstr>
      <vt:lpstr>The armaments industry</vt:lpstr>
      <vt:lpstr>Other industries</vt:lpstr>
      <vt:lpstr>Foreign affairs and trade</vt:lpstr>
      <vt:lpstr>PowerPoint Presentation</vt:lpstr>
      <vt:lpstr>Women in the workforce</vt:lpstr>
      <vt:lpstr>Key questions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WWII to 1941  The impact of World War II on American capitalism  The armaments industry Other industries Foreign affairs and trade Women in the workforce</dc:title>
  <dc:creator>HAWKES Natasha [Narrogin Senior High School]</dc:creator>
  <cp:lastModifiedBy>HAWKES Natasha [Narrogin Senior High School]</cp:lastModifiedBy>
  <cp:revision>14</cp:revision>
  <dcterms:created xsi:type="dcterms:W3CDTF">2019-04-09T00:25:11Z</dcterms:created>
  <dcterms:modified xsi:type="dcterms:W3CDTF">2019-05-01T03:57:04Z</dcterms:modified>
</cp:coreProperties>
</file>
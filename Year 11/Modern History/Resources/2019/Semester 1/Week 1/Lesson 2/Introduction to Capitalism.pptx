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18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AU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42B73767-B773-43B9-9796-580BC770C084}" type="datetimeFigureOut">
              <a:rPr lang="en-AU" smtClean="0"/>
              <a:t>5/12/2018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AU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148D8E71-C232-4C84-B060-0834075A2B92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q5lX-j6Pr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3789040"/>
            <a:ext cx="5256584" cy="1470025"/>
          </a:xfrm>
        </p:spPr>
        <p:txBody>
          <a:bodyPr/>
          <a:lstStyle/>
          <a:p>
            <a:pPr algn="ctr"/>
            <a:r>
              <a:rPr lang="en-AU" dirty="0" smtClean="0">
                <a:solidFill>
                  <a:schemeClr val="accent3"/>
                </a:solidFill>
              </a:rPr>
              <a:t>Introduction to Capitalism </a:t>
            </a:r>
            <a:endParaRPr lang="en-AU" dirty="0">
              <a:solidFill>
                <a:schemeClr val="accent3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3744416" cy="317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178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To understand the idea of capitalism.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To be able to define the term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To be able to use the term in context of American History. </a:t>
            </a:r>
          </a:p>
          <a:p>
            <a:pPr>
              <a:lnSpc>
                <a:spcPct val="150000"/>
              </a:lnSpc>
            </a:pPr>
            <a:endParaRPr lang="en-AU" dirty="0" smtClean="0"/>
          </a:p>
          <a:p>
            <a:pPr>
              <a:lnSpc>
                <a:spcPct val="150000"/>
              </a:lnSpc>
            </a:pPr>
            <a:endParaRPr lang="en-AU" dirty="0"/>
          </a:p>
          <a:p>
            <a:pPr marL="109728" indent="0" algn="ctr">
              <a:lnSpc>
                <a:spcPct val="150000"/>
              </a:lnSpc>
              <a:buNone/>
            </a:pPr>
            <a:r>
              <a:rPr lang="en-AU" sz="1400" i="1" dirty="0" smtClean="0">
                <a:solidFill>
                  <a:schemeClr val="accent3"/>
                </a:solidFill>
              </a:rPr>
              <a:t>Information sourced from chapter 4 of Power, Prosperity and Promise </a:t>
            </a:r>
          </a:p>
          <a:p>
            <a:pPr>
              <a:lnSpc>
                <a:spcPct val="150000"/>
              </a:lnSpc>
            </a:pP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93597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Capitalism?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i="1" dirty="0" smtClean="0">
                <a:solidFill>
                  <a:schemeClr val="accent2"/>
                </a:solidFill>
              </a:rPr>
              <a:t>Capitalism: </a:t>
            </a:r>
            <a:r>
              <a:rPr lang="en-AU" sz="2400" dirty="0" smtClean="0"/>
              <a:t>is a socio-economic system that allows private owners to profit from the goods and services they provide.</a:t>
            </a:r>
          </a:p>
          <a:p>
            <a:endParaRPr lang="en-AU" sz="2400" dirty="0"/>
          </a:p>
          <a:p>
            <a:r>
              <a:rPr lang="en-AU" sz="2400" dirty="0" smtClean="0"/>
              <a:t>Can also be referred to as ‘</a:t>
            </a:r>
            <a:r>
              <a:rPr lang="en-AU" sz="2400" i="1" dirty="0" smtClean="0">
                <a:solidFill>
                  <a:schemeClr val="accent3"/>
                </a:solidFill>
              </a:rPr>
              <a:t>free market economy</a:t>
            </a:r>
            <a:r>
              <a:rPr lang="en-AU" sz="2400" dirty="0" smtClean="0">
                <a:solidFill>
                  <a:schemeClr val="accent3"/>
                </a:solidFill>
              </a:rPr>
              <a:t>” </a:t>
            </a:r>
            <a:r>
              <a:rPr lang="en-AU" sz="2400" dirty="0" smtClean="0"/>
              <a:t>or “</a:t>
            </a:r>
            <a:r>
              <a:rPr lang="en-AU" sz="2400" i="1" dirty="0" smtClean="0">
                <a:solidFill>
                  <a:schemeClr val="accent3"/>
                </a:solidFill>
              </a:rPr>
              <a:t>free enterprise</a:t>
            </a:r>
            <a:r>
              <a:rPr lang="en-AU" sz="2400" dirty="0" smtClean="0"/>
              <a:t>” </a:t>
            </a:r>
          </a:p>
          <a:p>
            <a:pPr marL="109728" indent="0">
              <a:buNone/>
            </a:pPr>
            <a:endParaRPr lang="en-AU" sz="2400" dirty="0"/>
          </a:p>
          <a:p>
            <a:pPr algn="ctr"/>
            <a:r>
              <a:rPr lang="en-AU" sz="2400" dirty="0" smtClean="0">
                <a:hlinkClick r:id="rId2"/>
              </a:rPr>
              <a:t>Everybody talks about capitalism -- but what is it? | Kajsa Ekis Ekman | TEDxAthens</a:t>
            </a:r>
            <a:endParaRPr lang="en-AU" sz="2400" dirty="0" smtClean="0"/>
          </a:p>
          <a:p>
            <a:pPr marL="109728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529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066800"/>
          </a:xfrm>
        </p:spPr>
        <p:txBody>
          <a:bodyPr>
            <a:normAutofit/>
          </a:bodyPr>
          <a:lstStyle/>
          <a:p>
            <a:r>
              <a:rPr lang="en-AU" dirty="0" smtClean="0"/>
              <a:t>Background to class division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945736"/>
          </a:xfrm>
        </p:spPr>
        <p:txBody>
          <a:bodyPr>
            <a:normAutofit lnSpcReduction="10000"/>
          </a:bodyPr>
          <a:lstStyle/>
          <a:p>
            <a:r>
              <a:rPr lang="en-AU" sz="2400" dirty="0" smtClean="0"/>
              <a:t>Historian Karl Marx (1818-1883) - </a:t>
            </a:r>
            <a:r>
              <a:rPr lang="en-AU" sz="2400" dirty="0"/>
              <a:t>Marx's work in economics laid the basis for much of the current understanding of </a:t>
            </a:r>
            <a:r>
              <a:rPr lang="en-AU" sz="2400" i="1" dirty="0">
                <a:solidFill>
                  <a:schemeClr val="accent3"/>
                </a:solidFill>
              </a:rPr>
              <a:t>labour and its relation to </a:t>
            </a:r>
            <a:r>
              <a:rPr lang="en-AU" sz="2400" i="1" dirty="0" smtClean="0">
                <a:solidFill>
                  <a:schemeClr val="accent3"/>
                </a:solidFill>
              </a:rPr>
              <a:t>capital</a:t>
            </a:r>
          </a:p>
          <a:p>
            <a:endParaRPr lang="en-AU" sz="2400" i="1" dirty="0">
              <a:solidFill>
                <a:schemeClr val="accent3"/>
              </a:solidFill>
            </a:endParaRPr>
          </a:p>
          <a:p>
            <a:r>
              <a:rPr lang="en-AU" sz="2400" dirty="0" smtClean="0"/>
              <a:t>He divided people into 2 classes: the Bourgeoisie and the Proletariat. </a:t>
            </a:r>
          </a:p>
          <a:p>
            <a:endParaRPr lang="en-AU" sz="2400" dirty="0"/>
          </a:p>
          <a:p>
            <a:r>
              <a:rPr lang="en-AU" sz="2400" i="1" dirty="0" smtClean="0">
                <a:solidFill>
                  <a:schemeClr val="accent2"/>
                </a:solidFill>
              </a:rPr>
              <a:t>Bourgeoisie: </a:t>
            </a:r>
            <a:r>
              <a:rPr lang="en-AU" sz="2400" dirty="0" smtClean="0"/>
              <a:t>is the class of ‘modern Capitalists’ – owners of the means of social production and employers of wage labour. </a:t>
            </a:r>
          </a:p>
          <a:p>
            <a:endParaRPr lang="en-AU" sz="2400" dirty="0"/>
          </a:p>
          <a:p>
            <a:r>
              <a:rPr lang="en-AU" sz="2400" i="1" dirty="0" smtClean="0">
                <a:solidFill>
                  <a:schemeClr val="accent2"/>
                </a:solidFill>
              </a:rPr>
              <a:t>Proletariat: </a:t>
            </a:r>
            <a:r>
              <a:rPr lang="en-AU" sz="2400" dirty="0" smtClean="0"/>
              <a:t>is the class of ‘modern wage labourers’ – no means of production of their own, reduced to selling their labour power in order to live. 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54503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Capitalism in America – the beginnings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184576"/>
          </a:xfrm>
        </p:spPr>
        <p:txBody>
          <a:bodyPr>
            <a:normAutofit/>
          </a:bodyPr>
          <a:lstStyle/>
          <a:p>
            <a:r>
              <a:rPr lang="en-AU" sz="2400" dirty="0" smtClean="0"/>
              <a:t>Marx explored capitalist America in his book </a:t>
            </a:r>
            <a:r>
              <a:rPr lang="en-AU" sz="2400" i="1" dirty="0" smtClean="0">
                <a:solidFill>
                  <a:schemeClr val="accent3"/>
                </a:solidFill>
              </a:rPr>
              <a:t>Capital, Volume 1 (1867).</a:t>
            </a:r>
          </a:p>
          <a:p>
            <a:endParaRPr lang="en-AU" sz="2400" i="1" dirty="0">
              <a:solidFill>
                <a:schemeClr val="accent3"/>
              </a:solidFill>
            </a:endParaRPr>
          </a:p>
          <a:p>
            <a:r>
              <a:rPr lang="en-AU" sz="2400" dirty="0" smtClean="0"/>
              <a:t>He discussed the versatility of the American worker – a result of the lack of restriction on workers moving from one type of job to another (</a:t>
            </a:r>
            <a:r>
              <a:rPr lang="en-AU" sz="2400" i="1" dirty="0" smtClean="0"/>
              <a:t>unlike workers in Europe</a:t>
            </a:r>
            <a:r>
              <a:rPr lang="en-AU" sz="2400" dirty="0" smtClean="0"/>
              <a:t>)   </a:t>
            </a:r>
          </a:p>
          <a:p>
            <a:endParaRPr lang="en-AU" sz="2400" dirty="0"/>
          </a:p>
          <a:p>
            <a:r>
              <a:rPr lang="en-AU" sz="2400" dirty="0" smtClean="0"/>
              <a:t>Land was cheap and opportunity was great  - </a:t>
            </a:r>
            <a:r>
              <a:rPr lang="en-AU" sz="2400" dirty="0"/>
              <a:t>A</a:t>
            </a:r>
            <a:r>
              <a:rPr lang="en-AU" sz="2400" dirty="0" smtClean="0"/>
              <a:t>ustralian’s were paying at least 80 times as much for new land. </a:t>
            </a:r>
          </a:p>
          <a:p>
            <a:endParaRPr lang="en-AU" sz="2400" dirty="0"/>
          </a:p>
          <a:p>
            <a:r>
              <a:rPr lang="en-AU" sz="2400" dirty="0" smtClean="0"/>
              <a:t>Idea that anyone could be successful – money was and still is a distinctive feature in American culture.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72913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AU" dirty="0"/>
              <a:t>Capitalism in America – the beginnings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017744"/>
          </a:xfrm>
        </p:spPr>
        <p:txBody>
          <a:bodyPr/>
          <a:lstStyle/>
          <a:p>
            <a:r>
              <a:rPr lang="en-AU" dirty="0" smtClean="0"/>
              <a:t>American Workers and capitalists for a time had greater opportunities than people in Europe, as a result of:</a:t>
            </a:r>
            <a:endParaRPr lang="en-AU" dirty="0"/>
          </a:p>
          <a:p>
            <a:pPr lvl="1"/>
            <a:r>
              <a:rPr lang="en-AU" dirty="0" smtClean="0"/>
              <a:t>Availability of cheap land </a:t>
            </a:r>
          </a:p>
          <a:p>
            <a:pPr lvl="1"/>
            <a:r>
              <a:rPr lang="en-AU" dirty="0" smtClean="0"/>
              <a:t>Wealth of natural resource (iron, coal, oil)</a:t>
            </a:r>
          </a:p>
          <a:p>
            <a:pPr lvl="1"/>
            <a:r>
              <a:rPr lang="en-AU" dirty="0" smtClean="0"/>
              <a:t>Cheap labour (exploitation of African Americas, then European/Asian immigrant)</a:t>
            </a:r>
          </a:p>
          <a:p>
            <a:pPr lvl="1"/>
            <a:r>
              <a:rPr lang="en-AU" dirty="0" smtClean="0"/>
              <a:t>New production techniques</a:t>
            </a:r>
          </a:p>
          <a:p>
            <a:pPr lvl="1"/>
            <a:r>
              <a:rPr lang="en-AU" dirty="0" smtClean="0"/>
              <a:t>Transport networks using rail and shipping </a:t>
            </a:r>
          </a:p>
          <a:p>
            <a:pPr lvl="1"/>
            <a:r>
              <a:rPr lang="en-AU" dirty="0" smtClean="0"/>
              <a:t>High tariff barriers 9stop foreign goods flooding the market)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965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AU" dirty="0"/>
              <a:t>Capitalism in America – the beginnings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801720"/>
          </a:xfrm>
        </p:spPr>
        <p:txBody>
          <a:bodyPr/>
          <a:lstStyle/>
          <a:p>
            <a:r>
              <a:rPr lang="en-AU" dirty="0" smtClean="0"/>
              <a:t>However, the greater the success of one group – the more apparent the failure of another. </a:t>
            </a:r>
          </a:p>
          <a:p>
            <a:endParaRPr lang="en-AU" dirty="0"/>
          </a:p>
          <a:p>
            <a:r>
              <a:rPr lang="en-AU" dirty="0" smtClean="0"/>
              <a:t>As American society industrialised/urbanised great poverty become obvious.</a:t>
            </a:r>
          </a:p>
          <a:p>
            <a:endParaRPr lang="en-AU" dirty="0"/>
          </a:p>
          <a:p>
            <a:r>
              <a:rPr lang="en-AU" dirty="0" smtClean="0"/>
              <a:t>Reformers associated with progressivism began to openly ask why the promise of American prosperity was not achieved by all.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823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066800"/>
          </a:xfrm>
        </p:spPr>
        <p:txBody>
          <a:bodyPr/>
          <a:lstStyle/>
          <a:p>
            <a:r>
              <a:rPr lang="en-AU" smtClean="0"/>
              <a:t>Homework Tasks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Complete the American Capitalism Terminology sheet for the next lesson. </a:t>
            </a:r>
          </a:p>
          <a:p>
            <a:pPr marL="109728" indent="0">
              <a:buNone/>
            </a:pPr>
            <a:endParaRPr lang="en-AU" dirty="0" smtClean="0"/>
          </a:p>
          <a:p>
            <a:r>
              <a:rPr lang="en-AU" dirty="0" smtClean="0"/>
              <a:t>Read Introduction to Capitalism worksheet and write a paragraph summary. 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725144"/>
            <a:ext cx="4084114" cy="1654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4893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162</TotalTime>
  <Words>439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Georgia</vt:lpstr>
      <vt:lpstr>Trebuchet MS</vt:lpstr>
      <vt:lpstr>Wingdings 2</vt:lpstr>
      <vt:lpstr>Urban</vt:lpstr>
      <vt:lpstr>Introduction to Capitalism </vt:lpstr>
      <vt:lpstr>Lesson Objectives</vt:lpstr>
      <vt:lpstr>What is Capitalism?</vt:lpstr>
      <vt:lpstr>Background to class division </vt:lpstr>
      <vt:lpstr>Capitalism in America – the beginnings </vt:lpstr>
      <vt:lpstr>Capitalism in America – the beginnings </vt:lpstr>
      <vt:lpstr>Capitalism in America – the beginnings </vt:lpstr>
      <vt:lpstr>Homework 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Capitalism</dc:title>
  <dc:creator>CARTLEDGE Erin</dc:creator>
  <cp:lastModifiedBy>HAWKES Natasha [Narrogin Senior High School]</cp:lastModifiedBy>
  <cp:revision>10</cp:revision>
  <dcterms:created xsi:type="dcterms:W3CDTF">2015-11-30T03:57:55Z</dcterms:created>
  <dcterms:modified xsi:type="dcterms:W3CDTF">2018-12-05T07:47:11Z</dcterms:modified>
</cp:coreProperties>
</file>
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828" r:id="rId1"/>
  </p:sldMasterIdLst>
  <p:sldIdLst>
    <p:sldId id="256" r:id="rId2"/>
    <p:sldId id="257" r:id="rId3"/>
    <p:sldId id="263" r:id="rId4"/>
    <p:sldId id="289" r:id="rId5"/>
    <p:sldId id="267" r:id="rId6"/>
    <p:sldId id="280" r:id="rId7"/>
    <p:sldId id="283" r:id="rId8"/>
    <p:sldId id="282" r:id="rId9"/>
    <p:sldId id="281" r:id="rId10"/>
    <p:sldId id="284" r:id="rId11"/>
    <p:sldId id="266" r:id="rId12"/>
    <p:sldId id="268" r:id="rId13"/>
    <p:sldId id="269" r:id="rId14"/>
    <p:sldId id="273" r:id="rId15"/>
    <p:sldId id="264" r:id="rId1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72" d="100"/>
          <a:sy n="72" d="100"/>
        </p:scale>
        <p:origin x="618" y="6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28DA7359-44F5-4F26-A5C4-5007B3F4ECD3}" type="doc">
      <dgm:prSet loTypeId="urn:microsoft.com/office/officeart/2008/layout/LinedList" loCatId="list" qsTypeId="urn:microsoft.com/office/officeart/2005/8/quickstyle/simple1" qsCatId="simple" csTypeId="urn:microsoft.com/office/officeart/2005/8/colors/colorful2" csCatId="colorful"/>
      <dgm:spPr/>
      <dgm:t>
        <a:bodyPr/>
        <a:lstStyle/>
        <a:p>
          <a:endParaRPr lang="en-US"/>
        </a:p>
      </dgm:t>
    </dgm:pt>
    <dgm:pt modelId="{90449D9E-4423-4AE9-97EF-56C4E2BDE5AC}">
      <dgm:prSet/>
      <dgm:spPr/>
      <dgm:t>
        <a:bodyPr/>
        <a:lstStyle/>
        <a:p>
          <a:r>
            <a:rPr lang="en-AU"/>
            <a:t>What is capitalism?</a:t>
          </a:r>
          <a:endParaRPr lang="en-US"/>
        </a:p>
      </dgm:t>
    </dgm:pt>
    <dgm:pt modelId="{0756ED00-3E5E-45D8-8B12-7352F3E12233}" type="parTrans" cxnId="{DD004A16-0F4F-46FD-9E21-10DEA6E6F1DF}">
      <dgm:prSet/>
      <dgm:spPr/>
      <dgm:t>
        <a:bodyPr/>
        <a:lstStyle/>
        <a:p>
          <a:endParaRPr lang="en-US"/>
        </a:p>
      </dgm:t>
    </dgm:pt>
    <dgm:pt modelId="{1CD66FDA-E638-4116-A3E6-6223E8A91C19}" type="sibTrans" cxnId="{DD004A16-0F4F-46FD-9E21-10DEA6E6F1DF}">
      <dgm:prSet/>
      <dgm:spPr/>
      <dgm:t>
        <a:bodyPr/>
        <a:lstStyle/>
        <a:p>
          <a:endParaRPr lang="en-US"/>
        </a:p>
      </dgm:t>
    </dgm:pt>
    <dgm:pt modelId="{B188BDF4-A296-42BB-9046-01FFD9984434}">
      <dgm:prSet/>
      <dgm:spPr/>
      <dgm:t>
        <a:bodyPr/>
        <a:lstStyle/>
        <a:p>
          <a:r>
            <a:rPr lang="en-AU"/>
            <a:t>Why did it develop in America?</a:t>
          </a:r>
          <a:endParaRPr lang="en-US"/>
        </a:p>
      </dgm:t>
    </dgm:pt>
    <dgm:pt modelId="{4B5BCF88-58DE-49A2-B717-64C62E91B44D}" type="parTrans" cxnId="{2FDC4E04-B1C6-4219-9276-AFA83337FDD3}">
      <dgm:prSet/>
      <dgm:spPr/>
      <dgm:t>
        <a:bodyPr/>
        <a:lstStyle/>
        <a:p>
          <a:endParaRPr lang="en-US"/>
        </a:p>
      </dgm:t>
    </dgm:pt>
    <dgm:pt modelId="{7D425598-1D23-465A-8A60-66B1E190555D}" type="sibTrans" cxnId="{2FDC4E04-B1C6-4219-9276-AFA83337FDD3}">
      <dgm:prSet/>
      <dgm:spPr/>
      <dgm:t>
        <a:bodyPr/>
        <a:lstStyle/>
        <a:p>
          <a:endParaRPr lang="en-US"/>
        </a:p>
      </dgm:t>
    </dgm:pt>
    <dgm:pt modelId="{60D3175A-A2AD-4C60-8EE6-5D30D48ADBCD}">
      <dgm:prSet/>
      <dgm:spPr/>
      <dgm:t>
        <a:bodyPr/>
        <a:lstStyle/>
        <a:p>
          <a:r>
            <a:rPr lang="en-AU"/>
            <a:t>Who where the key individuals involved in the rise of capitalism?</a:t>
          </a:r>
          <a:endParaRPr lang="en-US"/>
        </a:p>
      </dgm:t>
    </dgm:pt>
    <dgm:pt modelId="{194B02AE-33EF-4758-AD57-C08A91F3A7E9}" type="parTrans" cxnId="{644B10C1-880C-4048-87D8-D521E2738825}">
      <dgm:prSet/>
      <dgm:spPr/>
      <dgm:t>
        <a:bodyPr/>
        <a:lstStyle/>
        <a:p>
          <a:endParaRPr lang="en-US"/>
        </a:p>
      </dgm:t>
    </dgm:pt>
    <dgm:pt modelId="{BE25B80E-45F1-485E-8A73-9BA9352EB398}" type="sibTrans" cxnId="{644B10C1-880C-4048-87D8-D521E2738825}">
      <dgm:prSet/>
      <dgm:spPr/>
      <dgm:t>
        <a:bodyPr/>
        <a:lstStyle/>
        <a:p>
          <a:endParaRPr lang="en-US"/>
        </a:p>
      </dgm:t>
    </dgm:pt>
    <dgm:pt modelId="{DC2BEE5D-3ED3-449D-B18A-B87F6859F7CA}">
      <dgm:prSet/>
      <dgm:spPr/>
      <dgm:t>
        <a:bodyPr/>
        <a:lstStyle/>
        <a:p>
          <a:r>
            <a:rPr lang="en-AU"/>
            <a:t>What was their role and impact?</a:t>
          </a:r>
          <a:endParaRPr lang="en-US"/>
        </a:p>
      </dgm:t>
    </dgm:pt>
    <dgm:pt modelId="{14F08E6C-9353-4C01-8D20-96CFAB14E016}" type="parTrans" cxnId="{DC532269-4759-4A8E-997A-B6D159104F17}">
      <dgm:prSet/>
      <dgm:spPr/>
      <dgm:t>
        <a:bodyPr/>
        <a:lstStyle/>
        <a:p>
          <a:endParaRPr lang="en-US"/>
        </a:p>
      </dgm:t>
    </dgm:pt>
    <dgm:pt modelId="{D609F31B-C7A6-475A-855B-66BCB328CB90}" type="sibTrans" cxnId="{DC532269-4759-4A8E-997A-B6D159104F17}">
      <dgm:prSet/>
      <dgm:spPr/>
      <dgm:t>
        <a:bodyPr/>
        <a:lstStyle/>
        <a:p>
          <a:endParaRPr lang="en-US"/>
        </a:p>
      </dgm:t>
    </dgm:pt>
    <dgm:pt modelId="{E6DA1714-24C9-4D19-84C8-E004BD658772}" type="pres">
      <dgm:prSet presAssocID="{28DA7359-44F5-4F26-A5C4-5007B3F4ECD3}" presName="vert0" presStyleCnt="0">
        <dgm:presLayoutVars>
          <dgm:dir/>
          <dgm:animOne val="branch"/>
          <dgm:animLvl val="lvl"/>
        </dgm:presLayoutVars>
      </dgm:prSet>
      <dgm:spPr/>
    </dgm:pt>
    <dgm:pt modelId="{F6C3E25F-6999-415F-8142-568E9CF2A91C}" type="pres">
      <dgm:prSet presAssocID="{90449D9E-4423-4AE9-97EF-56C4E2BDE5AC}" presName="thickLine" presStyleLbl="alignNode1" presStyleIdx="0" presStyleCnt="4"/>
      <dgm:spPr/>
    </dgm:pt>
    <dgm:pt modelId="{86B7EB93-30A3-4D30-87C4-D0BEF44FF7C1}" type="pres">
      <dgm:prSet presAssocID="{90449D9E-4423-4AE9-97EF-56C4E2BDE5AC}" presName="horz1" presStyleCnt="0"/>
      <dgm:spPr/>
    </dgm:pt>
    <dgm:pt modelId="{CB644BA9-1A49-4263-8CA6-188311FBCFFD}" type="pres">
      <dgm:prSet presAssocID="{90449D9E-4423-4AE9-97EF-56C4E2BDE5AC}" presName="tx1" presStyleLbl="revTx" presStyleIdx="0" presStyleCnt="4"/>
      <dgm:spPr/>
    </dgm:pt>
    <dgm:pt modelId="{C10D34B7-7CDD-4339-AC82-9AC4CFF52A3F}" type="pres">
      <dgm:prSet presAssocID="{90449D9E-4423-4AE9-97EF-56C4E2BDE5AC}" presName="vert1" presStyleCnt="0"/>
      <dgm:spPr/>
    </dgm:pt>
    <dgm:pt modelId="{8D11F3ED-99B2-458C-9CF3-33A4192E7C2E}" type="pres">
      <dgm:prSet presAssocID="{B188BDF4-A296-42BB-9046-01FFD9984434}" presName="thickLine" presStyleLbl="alignNode1" presStyleIdx="1" presStyleCnt="4"/>
      <dgm:spPr/>
    </dgm:pt>
    <dgm:pt modelId="{5CFE0F69-4DC6-45AD-A312-3654BD0AAC90}" type="pres">
      <dgm:prSet presAssocID="{B188BDF4-A296-42BB-9046-01FFD9984434}" presName="horz1" presStyleCnt="0"/>
      <dgm:spPr/>
    </dgm:pt>
    <dgm:pt modelId="{1D03BD04-484B-431D-B9A6-4A9FE3DDBC92}" type="pres">
      <dgm:prSet presAssocID="{B188BDF4-A296-42BB-9046-01FFD9984434}" presName="tx1" presStyleLbl="revTx" presStyleIdx="1" presStyleCnt="4"/>
      <dgm:spPr/>
    </dgm:pt>
    <dgm:pt modelId="{6710BCF2-86F2-4680-A806-66CCE7F050C3}" type="pres">
      <dgm:prSet presAssocID="{B188BDF4-A296-42BB-9046-01FFD9984434}" presName="vert1" presStyleCnt="0"/>
      <dgm:spPr/>
    </dgm:pt>
    <dgm:pt modelId="{F41479FB-0442-48EA-BF5C-225F0D34036E}" type="pres">
      <dgm:prSet presAssocID="{60D3175A-A2AD-4C60-8EE6-5D30D48ADBCD}" presName="thickLine" presStyleLbl="alignNode1" presStyleIdx="2" presStyleCnt="4"/>
      <dgm:spPr/>
    </dgm:pt>
    <dgm:pt modelId="{C47A8433-4A5F-41F4-9FA2-0B1759D446CC}" type="pres">
      <dgm:prSet presAssocID="{60D3175A-A2AD-4C60-8EE6-5D30D48ADBCD}" presName="horz1" presStyleCnt="0"/>
      <dgm:spPr/>
    </dgm:pt>
    <dgm:pt modelId="{35DEB5C7-FCAA-4C5C-810C-E6B018CE1A9C}" type="pres">
      <dgm:prSet presAssocID="{60D3175A-A2AD-4C60-8EE6-5D30D48ADBCD}" presName="tx1" presStyleLbl="revTx" presStyleIdx="2" presStyleCnt="4"/>
      <dgm:spPr/>
    </dgm:pt>
    <dgm:pt modelId="{DDE8C340-7669-49CD-98F3-BB1EF437734E}" type="pres">
      <dgm:prSet presAssocID="{60D3175A-A2AD-4C60-8EE6-5D30D48ADBCD}" presName="vert1" presStyleCnt="0"/>
      <dgm:spPr/>
    </dgm:pt>
    <dgm:pt modelId="{E84B7B8A-200B-431A-BAE5-C4ACE61C68F1}" type="pres">
      <dgm:prSet presAssocID="{DC2BEE5D-3ED3-449D-B18A-B87F6859F7CA}" presName="thickLine" presStyleLbl="alignNode1" presStyleIdx="3" presStyleCnt="4"/>
      <dgm:spPr/>
    </dgm:pt>
    <dgm:pt modelId="{BF9DDCB1-A7DE-4042-985F-BC49BD62C559}" type="pres">
      <dgm:prSet presAssocID="{DC2BEE5D-3ED3-449D-B18A-B87F6859F7CA}" presName="horz1" presStyleCnt="0"/>
      <dgm:spPr/>
    </dgm:pt>
    <dgm:pt modelId="{B673722B-EB54-42D2-ACD5-5E309A1FC53E}" type="pres">
      <dgm:prSet presAssocID="{DC2BEE5D-3ED3-449D-B18A-B87F6859F7CA}" presName="tx1" presStyleLbl="revTx" presStyleIdx="3" presStyleCnt="4"/>
      <dgm:spPr/>
    </dgm:pt>
    <dgm:pt modelId="{2C9029E6-F70D-43BF-B709-49573A434CF2}" type="pres">
      <dgm:prSet presAssocID="{DC2BEE5D-3ED3-449D-B18A-B87F6859F7CA}" presName="vert1" presStyleCnt="0"/>
      <dgm:spPr/>
    </dgm:pt>
  </dgm:ptLst>
  <dgm:cxnLst>
    <dgm:cxn modelId="{2FDC4E04-B1C6-4219-9276-AFA83337FDD3}" srcId="{28DA7359-44F5-4F26-A5C4-5007B3F4ECD3}" destId="{B188BDF4-A296-42BB-9046-01FFD9984434}" srcOrd="1" destOrd="0" parTransId="{4B5BCF88-58DE-49A2-B717-64C62E91B44D}" sibTransId="{7D425598-1D23-465A-8A60-66B1E190555D}"/>
    <dgm:cxn modelId="{DD004A16-0F4F-46FD-9E21-10DEA6E6F1DF}" srcId="{28DA7359-44F5-4F26-A5C4-5007B3F4ECD3}" destId="{90449D9E-4423-4AE9-97EF-56C4E2BDE5AC}" srcOrd="0" destOrd="0" parTransId="{0756ED00-3E5E-45D8-8B12-7352F3E12233}" sibTransId="{1CD66FDA-E638-4116-A3E6-6223E8A91C19}"/>
    <dgm:cxn modelId="{DC312E2F-D61B-48BE-9C58-C3B940477441}" type="presOf" srcId="{B188BDF4-A296-42BB-9046-01FFD9984434}" destId="{1D03BD04-484B-431D-B9A6-4A9FE3DDBC92}" srcOrd="0" destOrd="0" presId="urn:microsoft.com/office/officeart/2008/layout/LinedList"/>
    <dgm:cxn modelId="{187EA648-8CB5-4E35-AE57-7519CB6715D0}" type="presOf" srcId="{DC2BEE5D-3ED3-449D-B18A-B87F6859F7CA}" destId="{B673722B-EB54-42D2-ACD5-5E309A1FC53E}" srcOrd="0" destOrd="0" presId="urn:microsoft.com/office/officeart/2008/layout/LinedList"/>
    <dgm:cxn modelId="{DC532269-4759-4A8E-997A-B6D159104F17}" srcId="{28DA7359-44F5-4F26-A5C4-5007B3F4ECD3}" destId="{DC2BEE5D-3ED3-449D-B18A-B87F6859F7CA}" srcOrd="3" destOrd="0" parTransId="{14F08E6C-9353-4C01-8D20-96CFAB14E016}" sibTransId="{D609F31B-C7A6-475A-855B-66BCB328CB90}"/>
    <dgm:cxn modelId="{285A1E7B-B2A6-4924-BD68-DECBF40ABBC3}" type="presOf" srcId="{90449D9E-4423-4AE9-97EF-56C4E2BDE5AC}" destId="{CB644BA9-1A49-4263-8CA6-188311FBCFFD}" srcOrd="0" destOrd="0" presId="urn:microsoft.com/office/officeart/2008/layout/LinedList"/>
    <dgm:cxn modelId="{644B10C1-880C-4048-87D8-D521E2738825}" srcId="{28DA7359-44F5-4F26-A5C4-5007B3F4ECD3}" destId="{60D3175A-A2AD-4C60-8EE6-5D30D48ADBCD}" srcOrd="2" destOrd="0" parTransId="{194B02AE-33EF-4758-AD57-C08A91F3A7E9}" sibTransId="{BE25B80E-45F1-485E-8A73-9BA9352EB398}"/>
    <dgm:cxn modelId="{E53765D7-6E07-4BAD-BEBB-29C2B8AF5D94}" type="presOf" srcId="{60D3175A-A2AD-4C60-8EE6-5D30D48ADBCD}" destId="{35DEB5C7-FCAA-4C5C-810C-E6B018CE1A9C}" srcOrd="0" destOrd="0" presId="urn:microsoft.com/office/officeart/2008/layout/LinedList"/>
    <dgm:cxn modelId="{0D2A66F3-19EC-4277-BD7C-9A70CC05EE64}" type="presOf" srcId="{28DA7359-44F5-4F26-A5C4-5007B3F4ECD3}" destId="{E6DA1714-24C9-4D19-84C8-E004BD658772}" srcOrd="0" destOrd="0" presId="urn:microsoft.com/office/officeart/2008/layout/LinedList"/>
    <dgm:cxn modelId="{53EE52CB-B583-41C4-8133-26E026F04895}" type="presParOf" srcId="{E6DA1714-24C9-4D19-84C8-E004BD658772}" destId="{F6C3E25F-6999-415F-8142-568E9CF2A91C}" srcOrd="0" destOrd="0" presId="urn:microsoft.com/office/officeart/2008/layout/LinedList"/>
    <dgm:cxn modelId="{A763BCF9-DE70-4D94-A67E-3BCA3F4AA86B}" type="presParOf" srcId="{E6DA1714-24C9-4D19-84C8-E004BD658772}" destId="{86B7EB93-30A3-4D30-87C4-D0BEF44FF7C1}" srcOrd="1" destOrd="0" presId="urn:microsoft.com/office/officeart/2008/layout/LinedList"/>
    <dgm:cxn modelId="{F17FA3CA-594B-43CC-A5D0-F70734612BE7}" type="presParOf" srcId="{86B7EB93-30A3-4D30-87C4-D0BEF44FF7C1}" destId="{CB644BA9-1A49-4263-8CA6-188311FBCFFD}" srcOrd="0" destOrd="0" presId="urn:microsoft.com/office/officeart/2008/layout/LinedList"/>
    <dgm:cxn modelId="{25E1E4FD-3C5F-47F8-959C-15B40C5423DA}" type="presParOf" srcId="{86B7EB93-30A3-4D30-87C4-D0BEF44FF7C1}" destId="{C10D34B7-7CDD-4339-AC82-9AC4CFF52A3F}" srcOrd="1" destOrd="0" presId="urn:microsoft.com/office/officeart/2008/layout/LinedList"/>
    <dgm:cxn modelId="{546ED9FA-A627-479C-9C4A-76AC12E5FD27}" type="presParOf" srcId="{E6DA1714-24C9-4D19-84C8-E004BD658772}" destId="{8D11F3ED-99B2-458C-9CF3-33A4192E7C2E}" srcOrd="2" destOrd="0" presId="urn:microsoft.com/office/officeart/2008/layout/LinedList"/>
    <dgm:cxn modelId="{5B87FE1C-EF5F-4617-A360-FC22F4B3883E}" type="presParOf" srcId="{E6DA1714-24C9-4D19-84C8-E004BD658772}" destId="{5CFE0F69-4DC6-45AD-A312-3654BD0AAC90}" srcOrd="3" destOrd="0" presId="urn:microsoft.com/office/officeart/2008/layout/LinedList"/>
    <dgm:cxn modelId="{8E077575-D463-4978-A5BB-AF813156742A}" type="presParOf" srcId="{5CFE0F69-4DC6-45AD-A312-3654BD0AAC90}" destId="{1D03BD04-484B-431D-B9A6-4A9FE3DDBC92}" srcOrd="0" destOrd="0" presId="urn:microsoft.com/office/officeart/2008/layout/LinedList"/>
    <dgm:cxn modelId="{58AAF972-9CF2-45DD-B45D-94CB69BE996C}" type="presParOf" srcId="{5CFE0F69-4DC6-45AD-A312-3654BD0AAC90}" destId="{6710BCF2-86F2-4680-A806-66CCE7F050C3}" srcOrd="1" destOrd="0" presId="urn:microsoft.com/office/officeart/2008/layout/LinedList"/>
    <dgm:cxn modelId="{72F4E308-2140-4977-BBBE-A3DA3EA5B6E2}" type="presParOf" srcId="{E6DA1714-24C9-4D19-84C8-E004BD658772}" destId="{F41479FB-0442-48EA-BF5C-225F0D34036E}" srcOrd="4" destOrd="0" presId="urn:microsoft.com/office/officeart/2008/layout/LinedList"/>
    <dgm:cxn modelId="{87C124FF-6BCE-4BEC-978B-B8039AC9A654}" type="presParOf" srcId="{E6DA1714-24C9-4D19-84C8-E004BD658772}" destId="{C47A8433-4A5F-41F4-9FA2-0B1759D446CC}" srcOrd="5" destOrd="0" presId="urn:microsoft.com/office/officeart/2008/layout/LinedList"/>
    <dgm:cxn modelId="{9BF52C2A-4E71-410E-BAFA-C56060DA39E0}" type="presParOf" srcId="{C47A8433-4A5F-41F4-9FA2-0B1759D446CC}" destId="{35DEB5C7-FCAA-4C5C-810C-E6B018CE1A9C}" srcOrd="0" destOrd="0" presId="urn:microsoft.com/office/officeart/2008/layout/LinedList"/>
    <dgm:cxn modelId="{EDC5DD93-0C8C-41E1-8C65-17F0B4CB8AA2}" type="presParOf" srcId="{C47A8433-4A5F-41F4-9FA2-0B1759D446CC}" destId="{DDE8C340-7669-49CD-98F3-BB1EF437734E}" srcOrd="1" destOrd="0" presId="urn:microsoft.com/office/officeart/2008/layout/LinedList"/>
    <dgm:cxn modelId="{6F712F63-F7A0-492A-9721-DE3D9F164434}" type="presParOf" srcId="{E6DA1714-24C9-4D19-84C8-E004BD658772}" destId="{E84B7B8A-200B-431A-BAE5-C4ACE61C68F1}" srcOrd="6" destOrd="0" presId="urn:microsoft.com/office/officeart/2008/layout/LinedList"/>
    <dgm:cxn modelId="{8DB1450E-2EBB-4188-8F63-3A66EA606BC0}" type="presParOf" srcId="{E6DA1714-24C9-4D19-84C8-E004BD658772}" destId="{BF9DDCB1-A7DE-4042-985F-BC49BD62C559}" srcOrd="7" destOrd="0" presId="urn:microsoft.com/office/officeart/2008/layout/LinedList"/>
    <dgm:cxn modelId="{ED12680C-033B-4486-9CA1-EBED41E2E9AC}" type="presParOf" srcId="{BF9DDCB1-A7DE-4042-985F-BC49BD62C559}" destId="{B673722B-EB54-42D2-ACD5-5E309A1FC53E}" srcOrd="0" destOrd="0" presId="urn:microsoft.com/office/officeart/2008/layout/LinedList"/>
    <dgm:cxn modelId="{148CC775-4C42-486A-A12B-5C1370D27BFA}" type="presParOf" srcId="{BF9DDCB1-A7DE-4042-985F-BC49BD62C559}" destId="{2C9029E6-F70D-43BF-B709-49573A434CF2}"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6C3E25F-6999-415F-8142-568E9CF2A91C}">
      <dsp:nvSpPr>
        <dsp:cNvPr id="0" name=""/>
        <dsp:cNvSpPr/>
      </dsp:nvSpPr>
      <dsp:spPr>
        <a:xfrm>
          <a:off x="0" y="0"/>
          <a:ext cx="5990135" cy="0"/>
        </a:xfrm>
        <a:prstGeom prst="line">
          <a:avLst/>
        </a:prstGeom>
        <a:solidFill>
          <a:schemeClr val="accent2">
            <a:hueOff val="0"/>
            <a:satOff val="0"/>
            <a:lumOff val="0"/>
            <a:alphaOff val="0"/>
          </a:schemeClr>
        </a:solidFill>
        <a:ln w="13970" cap="flat"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CB644BA9-1A49-4263-8CA6-188311FBCFFD}">
      <dsp:nvSpPr>
        <dsp:cNvPr id="0" name=""/>
        <dsp:cNvSpPr/>
      </dsp:nvSpPr>
      <dsp:spPr>
        <a:xfrm>
          <a:off x="0" y="0"/>
          <a:ext cx="5990135" cy="131551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0490" tIns="110490" rIns="110490" bIns="110490" numCol="1" spcCol="1270" anchor="t" anchorCtr="0">
          <a:noAutofit/>
        </a:bodyPr>
        <a:lstStyle/>
        <a:p>
          <a:pPr marL="0" lvl="0" indent="0" algn="l" defTabSz="1289050">
            <a:lnSpc>
              <a:spcPct val="90000"/>
            </a:lnSpc>
            <a:spcBef>
              <a:spcPct val="0"/>
            </a:spcBef>
            <a:spcAft>
              <a:spcPct val="35000"/>
            </a:spcAft>
            <a:buNone/>
          </a:pPr>
          <a:r>
            <a:rPr lang="en-AU" sz="2900" kern="1200"/>
            <a:t>What is capitalism?</a:t>
          </a:r>
          <a:endParaRPr lang="en-US" sz="2900" kern="1200"/>
        </a:p>
      </dsp:txBody>
      <dsp:txXfrm>
        <a:off x="0" y="0"/>
        <a:ext cx="5990135" cy="1315513"/>
      </dsp:txXfrm>
    </dsp:sp>
    <dsp:sp modelId="{8D11F3ED-99B2-458C-9CF3-33A4192E7C2E}">
      <dsp:nvSpPr>
        <dsp:cNvPr id="0" name=""/>
        <dsp:cNvSpPr/>
      </dsp:nvSpPr>
      <dsp:spPr>
        <a:xfrm>
          <a:off x="0" y="1315513"/>
          <a:ext cx="5990135" cy="0"/>
        </a:xfrm>
        <a:prstGeom prst="line">
          <a:avLst/>
        </a:prstGeom>
        <a:solidFill>
          <a:schemeClr val="accent2">
            <a:hueOff val="-2474889"/>
            <a:satOff val="807"/>
            <a:lumOff val="-719"/>
            <a:alphaOff val="0"/>
          </a:schemeClr>
        </a:solidFill>
        <a:ln w="13970" cap="flat" cmpd="sng" algn="ctr">
          <a:solidFill>
            <a:schemeClr val="accent2">
              <a:hueOff val="-2474889"/>
              <a:satOff val="807"/>
              <a:lumOff val="-719"/>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1D03BD04-484B-431D-B9A6-4A9FE3DDBC92}">
      <dsp:nvSpPr>
        <dsp:cNvPr id="0" name=""/>
        <dsp:cNvSpPr/>
      </dsp:nvSpPr>
      <dsp:spPr>
        <a:xfrm>
          <a:off x="0" y="1315513"/>
          <a:ext cx="5990135" cy="131551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0490" tIns="110490" rIns="110490" bIns="110490" numCol="1" spcCol="1270" anchor="t" anchorCtr="0">
          <a:noAutofit/>
        </a:bodyPr>
        <a:lstStyle/>
        <a:p>
          <a:pPr marL="0" lvl="0" indent="0" algn="l" defTabSz="1289050">
            <a:lnSpc>
              <a:spcPct val="90000"/>
            </a:lnSpc>
            <a:spcBef>
              <a:spcPct val="0"/>
            </a:spcBef>
            <a:spcAft>
              <a:spcPct val="35000"/>
            </a:spcAft>
            <a:buNone/>
          </a:pPr>
          <a:r>
            <a:rPr lang="en-AU" sz="2900" kern="1200"/>
            <a:t>Why did it develop in America?</a:t>
          </a:r>
          <a:endParaRPr lang="en-US" sz="2900" kern="1200"/>
        </a:p>
      </dsp:txBody>
      <dsp:txXfrm>
        <a:off x="0" y="1315513"/>
        <a:ext cx="5990135" cy="1315513"/>
      </dsp:txXfrm>
    </dsp:sp>
    <dsp:sp modelId="{F41479FB-0442-48EA-BF5C-225F0D34036E}">
      <dsp:nvSpPr>
        <dsp:cNvPr id="0" name=""/>
        <dsp:cNvSpPr/>
      </dsp:nvSpPr>
      <dsp:spPr>
        <a:xfrm>
          <a:off x="0" y="2631026"/>
          <a:ext cx="5990135" cy="0"/>
        </a:xfrm>
        <a:prstGeom prst="line">
          <a:avLst/>
        </a:prstGeom>
        <a:solidFill>
          <a:schemeClr val="accent2">
            <a:hueOff val="-4949778"/>
            <a:satOff val="1615"/>
            <a:lumOff val="-1438"/>
            <a:alphaOff val="0"/>
          </a:schemeClr>
        </a:solidFill>
        <a:ln w="13970" cap="flat" cmpd="sng" algn="ctr">
          <a:solidFill>
            <a:schemeClr val="accent2">
              <a:hueOff val="-4949778"/>
              <a:satOff val="1615"/>
              <a:lumOff val="-1438"/>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35DEB5C7-FCAA-4C5C-810C-E6B018CE1A9C}">
      <dsp:nvSpPr>
        <dsp:cNvPr id="0" name=""/>
        <dsp:cNvSpPr/>
      </dsp:nvSpPr>
      <dsp:spPr>
        <a:xfrm>
          <a:off x="0" y="2631026"/>
          <a:ext cx="5990135" cy="131551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0490" tIns="110490" rIns="110490" bIns="110490" numCol="1" spcCol="1270" anchor="t" anchorCtr="0">
          <a:noAutofit/>
        </a:bodyPr>
        <a:lstStyle/>
        <a:p>
          <a:pPr marL="0" lvl="0" indent="0" algn="l" defTabSz="1289050">
            <a:lnSpc>
              <a:spcPct val="90000"/>
            </a:lnSpc>
            <a:spcBef>
              <a:spcPct val="0"/>
            </a:spcBef>
            <a:spcAft>
              <a:spcPct val="35000"/>
            </a:spcAft>
            <a:buNone/>
          </a:pPr>
          <a:r>
            <a:rPr lang="en-AU" sz="2900" kern="1200"/>
            <a:t>Who where the key individuals involved in the rise of capitalism?</a:t>
          </a:r>
          <a:endParaRPr lang="en-US" sz="2900" kern="1200"/>
        </a:p>
      </dsp:txBody>
      <dsp:txXfrm>
        <a:off x="0" y="2631026"/>
        <a:ext cx="5990135" cy="1315513"/>
      </dsp:txXfrm>
    </dsp:sp>
    <dsp:sp modelId="{E84B7B8A-200B-431A-BAE5-C4ACE61C68F1}">
      <dsp:nvSpPr>
        <dsp:cNvPr id="0" name=""/>
        <dsp:cNvSpPr/>
      </dsp:nvSpPr>
      <dsp:spPr>
        <a:xfrm>
          <a:off x="0" y="3946540"/>
          <a:ext cx="5990135" cy="0"/>
        </a:xfrm>
        <a:prstGeom prst="line">
          <a:avLst/>
        </a:prstGeom>
        <a:solidFill>
          <a:schemeClr val="accent2">
            <a:hueOff val="-7424668"/>
            <a:satOff val="2422"/>
            <a:lumOff val="-2157"/>
            <a:alphaOff val="0"/>
          </a:schemeClr>
        </a:solidFill>
        <a:ln w="13970" cap="flat" cmpd="sng" algn="ctr">
          <a:solidFill>
            <a:schemeClr val="accent2">
              <a:hueOff val="-7424668"/>
              <a:satOff val="2422"/>
              <a:lumOff val="-2157"/>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B673722B-EB54-42D2-ACD5-5E309A1FC53E}">
      <dsp:nvSpPr>
        <dsp:cNvPr id="0" name=""/>
        <dsp:cNvSpPr/>
      </dsp:nvSpPr>
      <dsp:spPr>
        <a:xfrm>
          <a:off x="0" y="3946540"/>
          <a:ext cx="5990135" cy="131551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0490" tIns="110490" rIns="110490" bIns="110490" numCol="1" spcCol="1270" anchor="t" anchorCtr="0">
          <a:noAutofit/>
        </a:bodyPr>
        <a:lstStyle/>
        <a:p>
          <a:pPr marL="0" lvl="0" indent="0" algn="l" defTabSz="1289050">
            <a:lnSpc>
              <a:spcPct val="90000"/>
            </a:lnSpc>
            <a:spcBef>
              <a:spcPct val="0"/>
            </a:spcBef>
            <a:spcAft>
              <a:spcPct val="35000"/>
            </a:spcAft>
            <a:buNone/>
          </a:pPr>
          <a:r>
            <a:rPr lang="en-AU" sz="2900" kern="1200"/>
            <a:t>What was their role and impact?</a:t>
          </a:r>
          <a:endParaRPr lang="en-US" sz="2900" kern="1200"/>
        </a:p>
      </dsp:txBody>
      <dsp:txXfrm>
        <a:off x="0" y="3946540"/>
        <a:ext cx="5990135" cy="1315513"/>
      </dsp:txXfrm>
    </dsp:sp>
  </dsp:spTree>
</dsp:drawing>
</file>

<file path=ppt/diagrams/layout1.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bg2">
            <a:lumMod val="75000"/>
          </a:schemeClr>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261872" y="758952"/>
            <a:ext cx="9418320" cy="4041648"/>
          </a:xfrm>
        </p:spPr>
        <p:txBody>
          <a:bodyPr anchor="b">
            <a:normAutofit/>
          </a:bodyPr>
          <a:lstStyle>
            <a:lvl1pPr algn="l">
              <a:lnSpc>
                <a:spcPct val="85000"/>
              </a:lnSpc>
              <a:defRPr sz="7200" baseline="0">
                <a:solidFill>
                  <a:schemeClr val="tx1"/>
                </a:solidFill>
              </a:defRPr>
            </a:lvl1pPr>
          </a:lstStyle>
          <a:p>
            <a:r>
              <a:rPr lang="en-US"/>
              <a:t>Click to edit Master title style</a:t>
            </a:r>
            <a:endParaRPr lang="en-US" dirty="0"/>
          </a:p>
        </p:txBody>
      </p:sp>
      <p:sp>
        <p:nvSpPr>
          <p:cNvPr id="3" name="Subtitle 2"/>
          <p:cNvSpPr>
            <a:spLocks noGrp="1"/>
          </p:cNvSpPr>
          <p:nvPr>
            <p:ph type="subTitle" idx="1"/>
          </p:nvPr>
        </p:nvSpPr>
        <p:spPr>
          <a:xfrm>
            <a:off x="1261872" y="4800600"/>
            <a:ext cx="9418320" cy="1691640"/>
          </a:xfrm>
        </p:spPr>
        <p:txBody>
          <a:bodyPr>
            <a:normAutofit/>
          </a:bodyPr>
          <a:lstStyle>
            <a:lvl1pPr marL="0" indent="0" algn="l">
              <a:buNone/>
              <a:defRPr sz="2200" baseline="0">
                <a:solidFill>
                  <a:schemeClr val="tx1">
                    <a:lumMod val="75000"/>
                  </a:schemeClr>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defRPr>
                <a:solidFill>
                  <a:schemeClr val="tx1">
                    <a:lumMod val="50000"/>
                  </a:schemeClr>
                </a:solidFill>
              </a:defRPr>
            </a:lvl1pPr>
          </a:lstStyle>
          <a:p>
            <a:fld id="{03FCE02C-6EC6-4E09-BC2C-9FDED4DE236E}" type="datetimeFigureOut">
              <a:rPr lang="en-US" smtClean="0"/>
              <a:t>1/31/2019</a:t>
            </a:fld>
            <a:endParaRPr lang="en-US" dirty="0"/>
          </a:p>
        </p:txBody>
      </p:sp>
      <p:sp>
        <p:nvSpPr>
          <p:cNvPr id="5" name="Footer Placeholder 4"/>
          <p:cNvSpPr>
            <a:spLocks noGrp="1"/>
          </p:cNvSpPr>
          <p:nvPr>
            <p:ph type="ftr" sz="quarter" idx="11"/>
          </p:nvPr>
        </p:nvSpPr>
        <p:spPr/>
        <p:txBody>
          <a:bodyPr/>
          <a:lstStyle>
            <a:lvl1pPr>
              <a:defRPr>
                <a:solidFill>
                  <a:schemeClr val="tx1">
                    <a:lumMod val="65000"/>
                  </a:schemeClr>
                </a:solidFill>
              </a:defRPr>
            </a:lvl1pPr>
          </a:lstStyle>
          <a:p>
            <a:endParaRPr lang="en-US" dirty="0"/>
          </a:p>
        </p:txBody>
      </p:sp>
      <p:sp>
        <p:nvSpPr>
          <p:cNvPr id="6" name="Slide Number Placeholder 5"/>
          <p:cNvSpPr>
            <a:spLocks noGrp="1"/>
          </p:cNvSpPr>
          <p:nvPr>
            <p:ph type="sldNum" sz="quarter" idx="12"/>
          </p:nvPr>
        </p:nvSpPr>
        <p:spPr/>
        <p:txBody>
          <a:bodyPr/>
          <a:lstStyle>
            <a:lvl1pPr>
              <a:defRPr>
                <a:solidFill>
                  <a:schemeClr val="tx1">
                    <a:lumMod val="65000"/>
                  </a:schemeClr>
                </a:solidFill>
              </a:defRPr>
            </a:lvl1pPr>
          </a:lstStyle>
          <a:p>
            <a:fld id="{4FAB73BC-B049-4115-A692-8D63A059BFB8}" type="slidenum">
              <a:rPr lang="en-US" smtClean="0"/>
              <a:pPr/>
              <a:t>‹#›</a:t>
            </a:fld>
            <a:endParaRPr lang="en-US" dirty="0"/>
          </a:p>
        </p:txBody>
      </p:sp>
      <p:sp>
        <p:nvSpPr>
          <p:cNvPr id="7" name="Rectangle 6"/>
          <p:cNvSpPr/>
          <p:nvPr/>
        </p:nvSpPr>
        <p:spPr>
          <a:xfrm>
            <a:off x="0" y="0"/>
            <a:ext cx="4572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1488285913"/>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D8F36E1-9596-4E98-8786-4A17C5D29C65}" type="datetimeFigureOut">
              <a:rPr lang="en-US" smtClean="0"/>
              <a:pPr/>
              <a:t>1/31/2019</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419437394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61872" y="758952"/>
            <a:ext cx="9418320" cy="4041648"/>
          </a:xfrm>
        </p:spPr>
        <p:txBody>
          <a:bodyPr anchor="b">
            <a:normAutofit/>
          </a:bodyPr>
          <a:lstStyle>
            <a:lvl1pPr>
              <a:lnSpc>
                <a:spcPct val="85000"/>
              </a:lnSpc>
              <a:defRPr sz="7200" b="0"/>
            </a:lvl1pPr>
          </a:lstStyle>
          <a:p>
            <a:r>
              <a:rPr lang="en-US"/>
              <a:t>Click to edit Master title style</a:t>
            </a:r>
            <a:endParaRPr lang="en-US" dirty="0"/>
          </a:p>
        </p:txBody>
      </p:sp>
      <p:sp>
        <p:nvSpPr>
          <p:cNvPr id="3" name="Text Placeholder 2"/>
          <p:cNvSpPr>
            <a:spLocks noGrp="1"/>
          </p:cNvSpPr>
          <p:nvPr>
            <p:ph type="body" idx="1"/>
          </p:nvPr>
        </p:nvSpPr>
        <p:spPr>
          <a:xfrm>
            <a:off x="1261872" y="4800600"/>
            <a:ext cx="9418320" cy="1691640"/>
          </a:xfrm>
        </p:spPr>
        <p:txBody>
          <a:bodyPr anchor="t">
            <a:normAutofit/>
          </a:bodyPr>
          <a:lstStyle>
            <a:lvl1pPr marL="0" indent="0">
              <a:buNone/>
              <a:defRPr sz="22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EE4D1A55-63BC-4BA2-9538-7DDEADA10621}" type="datetimeFigureOut">
              <a:rPr lang="en-US" smtClean="0"/>
              <a:t>1/31/2019</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pPr/>
              <a:t>‹#›</a:t>
            </a:fld>
            <a:endParaRPr lang="en-US" dirty="0"/>
          </a:p>
        </p:txBody>
      </p:sp>
      <p:sp>
        <p:nvSpPr>
          <p:cNvPr id="7" name="Rectangle 6"/>
          <p:cNvSpPr/>
          <p:nvPr/>
        </p:nvSpPr>
        <p:spPr>
          <a:xfrm>
            <a:off x="0" y="0"/>
            <a:ext cx="4572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39952058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261872" y="1828800"/>
            <a:ext cx="4480560" cy="4351337"/>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26480" y="1828800"/>
            <a:ext cx="4480560" cy="4351337"/>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66D01ABB-8821-4BF5-97A9-E1A66ACAEAA9}" type="datetimeFigureOut">
              <a:rPr lang="en-US" smtClean="0"/>
              <a:pPr/>
              <a:t>1/31/2019</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22784407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261872" y="1713655"/>
            <a:ext cx="4480560" cy="731520"/>
          </a:xfrm>
        </p:spPr>
        <p:txBody>
          <a:bodyPr anchor="b">
            <a:normAutofit/>
          </a:bodyPr>
          <a:lstStyle>
            <a:lvl1pPr marL="0" indent="0">
              <a:spcBef>
                <a:spcPts val="0"/>
              </a:spcBef>
              <a:buNone/>
              <a:defRPr sz="2000" b="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1261872" y="2507550"/>
            <a:ext cx="4480560" cy="366465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26480" y="1713655"/>
            <a:ext cx="4480560" cy="731520"/>
          </a:xfrm>
        </p:spPr>
        <p:txBody>
          <a:bodyPr anchor="b">
            <a:normAutofit/>
          </a:bodyPr>
          <a:lstStyle>
            <a:lvl1pPr marL="0" indent="0">
              <a:lnSpc>
                <a:spcPct val="95000"/>
              </a:lnSpc>
              <a:spcBef>
                <a:spcPts val="0"/>
              </a:spcBef>
              <a:buNone/>
              <a:defRPr lang="en-US" sz="2000" b="0" kern="1200" dirty="0">
                <a:solidFill>
                  <a:schemeClr val="tx2"/>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2000"/>
              </a:spcBef>
              <a:buFontTx/>
              <a:buNone/>
            </a:pPr>
            <a:r>
              <a:rPr lang="en-US"/>
              <a:t>Edit Master text styles</a:t>
            </a:r>
          </a:p>
        </p:txBody>
      </p:sp>
      <p:sp>
        <p:nvSpPr>
          <p:cNvPr id="6" name="Content Placeholder 5"/>
          <p:cNvSpPr>
            <a:spLocks noGrp="1"/>
          </p:cNvSpPr>
          <p:nvPr>
            <p:ph sz="quarter" idx="4"/>
          </p:nvPr>
        </p:nvSpPr>
        <p:spPr>
          <a:xfrm>
            <a:off x="6126480" y="2507550"/>
            <a:ext cx="4480560" cy="366465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20C37B1C-D4A1-4A4F-A470-80868146AFC5}" type="datetimeFigureOut">
              <a:rPr lang="en-US" smtClean="0"/>
              <a:pPr/>
              <a:t>1/31/2019</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214786805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6D31D1B9-F39E-471E-80A9-595CAA5664AD}" type="datetimeFigureOut">
              <a:rPr lang="en-US" smtClean="0"/>
              <a:pPr/>
              <a:t>1/31/2019</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29807702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3FCEABC-E2B9-4606-A74F-CB06AF596887}" type="datetimeFigureOut">
              <a:rPr lang="en-US" smtClean="0"/>
              <a:pPr/>
              <a:t>1/31/2019</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249013766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1248" y="457200"/>
            <a:ext cx="3200400" cy="1600197"/>
          </a:xfrm>
        </p:spPr>
        <p:txBody>
          <a:bodyPr anchor="b">
            <a:normAutofit/>
          </a:bodyPr>
          <a:lstStyle>
            <a:lvl1pPr>
              <a:defRPr sz="3200" b="0" baseline="0"/>
            </a:lvl1pPr>
          </a:lstStyle>
          <a:p>
            <a:r>
              <a:rPr lang="en-US"/>
              <a:t>Click to edit Master title style</a:t>
            </a:r>
            <a:endParaRPr lang="en-US" dirty="0"/>
          </a:p>
        </p:txBody>
      </p:sp>
      <p:sp>
        <p:nvSpPr>
          <p:cNvPr id="3" name="Content Placeholder 2"/>
          <p:cNvSpPr>
            <a:spLocks noGrp="1"/>
          </p:cNvSpPr>
          <p:nvPr>
            <p:ph idx="1"/>
          </p:nvPr>
        </p:nvSpPr>
        <p:spPr>
          <a:xfrm>
            <a:off x="4504267" y="685800"/>
            <a:ext cx="6079066" cy="548640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41248" y="2099734"/>
            <a:ext cx="3200400" cy="3810001"/>
          </a:xfrm>
        </p:spPr>
        <p:txBody>
          <a:bodyPr>
            <a:normAutofit/>
          </a:bodyPr>
          <a:lstStyle>
            <a:lvl1pPr marL="0" indent="0">
              <a:lnSpc>
                <a:spcPct val="114000"/>
              </a:lnSpc>
              <a:spcBef>
                <a:spcPts val="800"/>
              </a:spcBef>
              <a:buNone/>
              <a:defRPr sz="13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FA8850A0-01A3-4F4E-AA52-F716A9BFD4EB}" type="datetimeFigureOut">
              <a:rPr lang="en-US" smtClean="0"/>
              <a:pPr/>
              <a:t>1/31/2019</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179614764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5105400"/>
            <a:ext cx="11292840" cy="17526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914400" y="5257800"/>
            <a:ext cx="9982200" cy="914400"/>
          </a:xfrm>
        </p:spPr>
        <p:txBody>
          <a:bodyPr anchor="b">
            <a:normAutofit/>
          </a:bodyPr>
          <a:lstStyle>
            <a:lvl1pPr>
              <a:defRPr sz="2800" b="0">
                <a:solidFill>
                  <a:schemeClr val="bg1"/>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0"/>
            <a:ext cx="11292840" cy="5128923"/>
          </a:xfrm>
          <a:solidFill>
            <a:schemeClr val="accent1"/>
          </a:solidFill>
        </p:spPr>
        <p:txBody>
          <a:bodyPr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4400" y="6108589"/>
            <a:ext cx="9982200" cy="597011"/>
          </a:xfrm>
        </p:spPr>
        <p:txBody>
          <a:bodyPr>
            <a:normAutofit/>
          </a:bodyPr>
          <a:lstStyle>
            <a:lvl1pPr marL="0" indent="0">
              <a:lnSpc>
                <a:spcPct val="100000"/>
              </a:lnSpc>
              <a:spcBef>
                <a:spcPts val="800"/>
              </a:spcBef>
              <a:buNone/>
              <a:defRPr sz="1300">
                <a:solidFill>
                  <a:schemeClr val="bg1">
                    <a:lumMod val="8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E5811CCA-BB49-46C7-A0E2-F42339750F9A}" type="datetimeFigureOut">
              <a:rPr lang="en-US" smtClean="0"/>
              <a:t>1/31/2019</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237022365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B075A7A-4A9A-410F-B848-AB998ACC9419}" type="datetimeFigureOut">
              <a:rPr lang="en-US" smtClean="0"/>
              <a:pPr/>
              <a:t>1/31/2019</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413809625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48700" y="381000"/>
            <a:ext cx="2476500" cy="5897562"/>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762000" y="381000"/>
            <a:ext cx="7734300" cy="5897562"/>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A5F3E88-2D66-4D17-B0FA-EA13CB20B2FF}" type="datetimeFigureOut">
              <a:rPr lang="en-US" smtClean="0"/>
              <a:pPr/>
              <a:t>1/31/2019</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235625787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1292840" y="0"/>
            <a:ext cx="914400" cy="6858000"/>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261872" y="365760"/>
            <a:ext cx="9692640" cy="1325562"/>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261872" y="1828800"/>
            <a:ext cx="8595360" cy="4351337"/>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16200000">
            <a:off x="10797542" y="998537"/>
            <a:ext cx="1904999" cy="365125"/>
          </a:xfrm>
          <a:prstGeom prst="rect">
            <a:avLst/>
          </a:prstGeom>
        </p:spPr>
        <p:txBody>
          <a:bodyPr vert="horz" lIns="91440" tIns="45720" rIns="91440" bIns="45720" rtlCol="0" anchor="ctr"/>
          <a:lstStyle>
            <a:lvl1pPr algn="r">
              <a:defRPr sz="1050" b="0">
                <a:solidFill>
                  <a:schemeClr val="tx2">
                    <a:lumMod val="20000"/>
                    <a:lumOff val="80000"/>
                  </a:schemeClr>
                </a:solidFill>
              </a:defRPr>
            </a:lvl1pPr>
          </a:lstStyle>
          <a:p>
            <a:fld id="{17205CAA-4E5A-4223-BD55-C5D2841AC9EF}" type="datetimeFigureOut">
              <a:rPr lang="en-US" smtClean="0"/>
              <a:t>1/31/2019</a:t>
            </a:fld>
            <a:endParaRPr lang="en-US" dirty="0"/>
          </a:p>
        </p:txBody>
      </p:sp>
      <p:sp>
        <p:nvSpPr>
          <p:cNvPr id="5" name="Footer Placeholder 4"/>
          <p:cNvSpPr>
            <a:spLocks noGrp="1"/>
          </p:cNvSpPr>
          <p:nvPr>
            <p:ph type="ftr" sz="quarter" idx="3"/>
          </p:nvPr>
        </p:nvSpPr>
        <p:spPr>
          <a:xfrm rot="16200000">
            <a:off x="9959341" y="4046537"/>
            <a:ext cx="3581400" cy="365125"/>
          </a:xfrm>
          <a:prstGeom prst="rect">
            <a:avLst/>
          </a:prstGeom>
        </p:spPr>
        <p:txBody>
          <a:bodyPr vert="horz" lIns="91440" tIns="45720" rIns="91440" bIns="45720" rtlCol="0" anchor="ctr"/>
          <a:lstStyle>
            <a:lvl1pPr algn="l">
              <a:defRPr sz="1050">
                <a:solidFill>
                  <a:schemeClr val="tx2">
                    <a:lumMod val="20000"/>
                    <a:lumOff val="80000"/>
                  </a:schemeClr>
                </a:solidFill>
              </a:defRPr>
            </a:lvl1pPr>
          </a:lstStyle>
          <a:p>
            <a:endParaRPr lang="en-US" dirty="0"/>
          </a:p>
        </p:txBody>
      </p:sp>
      <p:sp>
        <p:nvSpPr>
          <p:cNvPr id="6" name="Slide Number Placeholder 5"/>
          <p:cNvSpPr>
            <a:spLocks noGrp="1"/>
          </p:cNvSpPr>
          <p:nvPr>
            <p:ph type="sldNum" sz="quarter" idx="4"/>
          </p:nvPr>
        </p:nvSpPr>
        <p:spPr>
          <a:xfrm>
            <a:off x="11292840" y="6172200"/>
            <a:ext cx="914400" cy="593725"/>
          </a:xfrm>
          <a:prstGeom prst="rect">
            <a:avLst/>
          </a:prstGeom>
        </p:spPr>
        <p:txBody>
          <a:bodyPr vert="horz" lIns="45720" tIns="45720" rIns="45720" bIns="45720" rtlCol="0" anchor="ctr">
            <a:normAutofit/>
          </a:bodyPr>
          <a:lstStyle>
            <a:lvl1pPr algn="ctr">
              <a:defRPr sz="3600">
                <a:solidFill>
                  <a:schemeClr val="tx2">
                    <a:lumMod val="60000"/>
                    <a:lumOff val="40000"/>
                  </a:schemeClr>
                </a:solidFill>
              </a:defRPr>
            </a:lvl1p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3638346422"/>
      </p:ext>
    </p:extLst>
  </p:cSld>
  <p:clrMap bg1="lt1" tx1="dk1" bg2="lt2" tx2="dk2" accent1="accent1" accent2="accent2" accent3="accent3" accent4="accent4" accent5="accent5" accent6="accent6" hlink="hlink" folHlink="folHlink"/>
  <p:sldLayoutIdLst>
    <p:sldLayoutId id="2147483829" r:id="rId1"/>
    <p:sldLayoutId id="2147483830" r:id="rId2"/>
    <p:sldLayoutId id="2147483831" r:id="rId3"/>
    <p:sldLayoutId id="2147483832" r:id="rId4"/>
    <p:sldLayoutId id="2147483833" r:id="rId5"/>
    <p:sldLayoutId id="2147483834" r:id="rId6"/>
    <p:sldLayoutId id="2147483835" r:id="rId7"/>
    <p:sldLayoutId id="2147483836" r:id="rId8"/>
    <p:sldLayoutId id="2147483837" r:id="rId9"/>
    <p:sldLayoutId id="2147483838" r:id="rId10"/>
    <p:sldLayoutId id="2147483839" r:id="rId11"/>
  </p:sldLayoutIdLst>
  <p:hf sldNum="0" hdr="0" ftr="0" dt="0"/>
  <p:txStyles>
    <p:titleStyle>
      <a:lvl1pPr algn="l" defTabSz="914400" rtl="0" eaLnBrk="1" latinLnBrk="0" hangingPunct="1">
        <a:lnSpc>
          <a:spcPct val="90000"/>
        </a:lnSpc>
        <a:spcBef>
          <a:spcPct val="0"/>
        </a:spcBef>
        <a:buNone/>
        <a:defRPr sz="4400" kern="1200" spc="-50" baseline="0">
          <a:solidFill>
            <a:schemeClr val="tx1"/>
          </a:solidFill>
          <a:latin typeface="+mj-lt"/>
          <a:ea typeface="+mj-ea"/>
          <a:cs typeface="+mj-cs"/>
        </a:defRPr>
      </a:lvl1pPr>
    </p:titleStyle>
    <p:body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1800" kern="1200" spc="10" baseline="0">
          <a:solidFill>
            <a:schemeClr val="tx1"/>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hyperlink" Target="https://www.youtube.com/watch?v=qqg_HUjxWe8&amp;t=155s"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4.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2">
            <a:lumMod val="75000"/>
          </a:schemeClr>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6729688" y="365760"/>
            <a:ext cx="3935262" cy="4041648"/>
          </a:xfrm>
        </p:spPr>
        <p:txBody>
          <a:bodyPr>
            <a:normAutofit/>
          </a:bodyPr>
          <a:lstStyle/>
          <a:p>
            <a:r>
              <a:rPr lang="en-AU" sz="5000" dirty="0"/>
              <a:t>Capitalism- The American experience 1907-1941</a:t>
            </a:r>
          </a:p>
        </p:txBody>
      </p:sp>
      <p:sp>
        <p:nvSpPr>
          <p:cNvPr id="3" name="Subtitle 2"/>
          <p:cNvSpPr>
            <a:spLocks noGrp="1"/>
          </p:cNvSpPr>
          <p:nvPr>
            <p:ph type="subTitle" idx="1"/>
          </p:nvPr>
        </p:nvSpPr>
        <p:spPr>
          <a:xfrm>
            <a:off x="6729688" y="4800600"/>
            <a:ext cx="3950503" cy="1691640"/>
          </a:xfrm>
        </p:spPr>
        <p:txBody>
          <a:bodyPr>
            <a:normAutofit fontScale="92500" lnSpcReduction="20000"/>
          </a:bodyPr>
          <a:lstStyle/>
          <a:p>
            <a:r>
              <a:rPr lang="en-AU" dirty="0">
                <a:solidFill>
                  <a:schemeClr val="tx1">
                    <a:lumMod val="85000"/>
                  </a:schemeClr>
                </a:solidFill>
              </a:rPr>
              <a:t>Modern History ATAR- Unit 1, elective 7</a:t>
            </a:r>
          </a:p>
          <a:p>
            <a:endParaRPr lang="en-AU" dirty="0">
              <a:solidFill>
                <a:schemeClr val="tx1">
                  <a:lumMod val="85000"/>
                </a:schemeClr>
              </a:solidFill>
            </a:endParaRPr>
          </a:p>
          <a:p>
            <a:r>
              <a:rPr lang="en-AU" dirty="0">
                <a:hlinkClick r:id="rId2"/>
              </a:rPr>
              <a:t>https://www.youtube.com/watch?v=qqg_HUjxWe8&amp;t=155s</a:t>
            </a:r>
            <a:r>
              <a:rPr lang="en-AU" dirty="0"/>
              <a:t> </a:t>
            </a:r>
          </a:p>
          <a:p>
            <a:endParaRPr lang="en-AU" dirty="0">
              <a:solidFill>
                <a:schemeClr val="tx1">
                  <a:lumMod val="85000"/>
                </a:schemeClr>
              </a:solidFill>
            </a:endParaRPr>
          </a:p>
        </p:txBody>
      </p:sp>
      <p:pic>
        <p:nvPicPr>
          <p:cNvPr id="1026" name="Picture 2" descr="Image result for Capitalism- The American experience 1907-1941">
            <a:extLst>
              <a:ext uri="{FF2B5EF4-FFF2-40B4-BE49-F238E27FC236}">
                <a16:creationId xmlns:a16="http://schemas.microsoft.com/office/drawing/2014/main" id="{8DABA2B4-742C-46E5-9448-19DB976F22E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44183" y="1730791"/>
            <a:ext cx="5151817" cy="338731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7553395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C68C397E-C9BC-4DE8-986D-204E427AD9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292840" y="0"/>
            <a:ext cx="914400" cy="6858000"/>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2" name="Rectangle 11">
            <a:extLst>
              <a:ext uri="{FF2B5EF4-FFF2-40B4-BE49-F238E27FC236}">
                <a16:creationId xmlns:a16="http://schemas.microsoft.com/office/drawing/2014/main" id="{30B3D270-B19D-4DB8-BD3C-3E707485B51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055416" cy="6858000"/>
          </a:xfrm>
          <a:prstGeom prst="rect">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566058" y="371061"/>
            <a:ext cx="2718788" cy="6215269"/>
          </a:xfrm>
        </p:spPr>
        <p:txBody>
          <a:bodyPr vert="horz" lIns="91440" tIns="45720" rIns="91440" bIns="45720" rtlCol="0" anchor="ctr">
            <a:normAutofit/>
          </a:bodyPr>
          <a:lstStyle/>
          <a:p>
            <a:r>
              <a:rPr lang="en-US" sz="2700" dirty="0">
                <a:solidFill>
                  <a:schemeClr val="bg1"/>
                </a:solidFill>
              </a:rPr>
              <a:t>The main causes of the rise of capitalism in the USA, including </a:t>
            </a:r>
            <a:r>
              <a:rPr lang="en-US" sz="2700" b="1" dirty="0">
                <a:solidFill>
                  <a:schemeClr val="bg1"/>
                </a:solidFill>
              </a:rPr>
              <a:t>the expansion of the railways; post-Civil War reconstruction; immigrant </a:t>
            </a:r>
            <a:r>
              <a:rPr lang="en-US" sz="2700" b="1" dirty="0" err="1">
                <a:solidFill>
                  <a:schemeClr val="bg1"/>
                </a:solidFill>
              </a:rPr>
              <a:t>labour</a:t>
            </a:r>
            <a:r>
              <a:rPr lang="en-US" sz="2700" b="1" dirty="0">
                <a:solidFill>
                  <a:schemeClr val="bg1"/>
                </a:solidFill>
              </a:rPr>
              <a:t>; discovery of oil; and mass production.</a:t>
            </a:r>
          </a:p>
        </p:txBody>
      </p:sp>
      <p:sp>
        <p:nvSpPr>
          <p:cNvPr id="14" name="Rectangle 13">
            <a:extLst>
              <a:ext uri="{FF2B5EF4-FFF2-40B4-BE49-F238E27FC236}">
                <a16:creationId xmlns:a16="http://schemas.microsoft.com/office/drawing/2014/main" id="{49BDAF94-B52E-4307-B54C-EF413086FC7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292840" y="0"/>
            <a:ext cx="914400" cy="6858000"/>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graphicFrame>
        <p:nvGraphicFramePr>
          <p:cNvPr id="5" name="Content Placeholder 2">
            <a:extLst>
              <a:ext uri="{FF2B5EF4-FFF2-40B4-BE49-F238E27FC236}">
                <a16:creationId xmlns:a16="http://schemas.microsoft.com/office/drawing/2014/main" id="{2EBB90FF-73EF-4162-9DB4-27D3FB29CC4C}"/>
              </a:ext>
            </a:extLst>
          </p:cNvPr>
          <p:cNvGraphicFramePr>
            <a:graphicFrameLocks noGrp="1"/>
          </p:cNvGraphicFramePr>
          <p:nvPr>
            <p:ph sz="half" idx="1"/>
            <p:extLst>
              <p:ext uri="{D42A27DB-BD31-4B8C-83A1-F6EECF244321}">
                <p14:modId xmlns:p14="http://schemas.microsoft.com/office/powerpoint/2010/main" val="2435706122"/>
              </p:ext>
            </p:extLst>
          </p:nvPr>
        </p:nvGraphicFramePr>
        <p:xfrm>
          <a:off x="4658815" y="804672"/>
          <a:ext cx="5990136" cy="526205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07375714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23875" y="135903"/>
            <a:ext cx="10058400" cy="4391134"/>
          </a:xfrm>
        </p:spPr>
        <p:txBody>
          <a:bodyPr>
            <a:noAutofit/>
          </a:bodyPr>
          <a:lstStyle/>
          <a:p>
            <a:r>
              <a:rPr lang="en-AU" sz="3000" dirty="0"/>
              <a:t>Capitalism is not just an economic system it is a philosophy.</a:t>
            </a:r>
            <a:br>
              <a:rPr lang="en-AU" sz="3000" dirty="0"/>
            </a:br>
            <a:br>
              <a:rPr lang="en-AU" sz="3000" dirty="0"/>
            </a:br>
            <a:r>
              <a:rPr lang="en-AU" sz="3000" dirty="0"/>
              <a:t>It is a fundamental belief that the wealthy deserve their wealth and that this wealth entitles them to a privileged position.</a:t>
            </a:r>
            <a:br>
              <a:rPr lang="en-AU" sz="3000" dirty="0"/>
            </a:br>
            <a:br>
              <a:rPr lang="en-AU" sz="3000" dirty="0"/>
            </a:br>
            <a:r>
              <a:rPr lang="en-AU" sz="3000" dirty="0"/>
              <a:t>Capitalism is an economic and political system in which a country's trade and industry are controlled by private owners for profit, rather than by the state.</a:t>
            </a:r>
          </a:p>
        </p:txBody>
      </p:sp>
      <p:pic>
        <p:nvPicPr>
          <p:cNvPr id="2050" name="Picture 2" descr="Image result for Capitalism">
            <a:extLst>
              <a:ext uri="{FF2B5EF4-FFF2-40B4-BE49-F238E27FC236}">
                <a16:creationId xmlns:a16="http://schemas.microsoft.com/office/drawing/2014/main" id="{61F2DAB4-8799-4DF8-8075-1E8DA592178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19573" y="4652411"/>
            <a:ext cx="4036531" cy="206968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653140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00050" y="516048"/>
            <a:ext cx="11088798" cy="6232475"/>
          </a:xfrm>
          <a:prstGeom prst="rect">
            <a:avLst/>
          </a:prstGeom>
          <a:noFill/>
        </p:spPr>
        <p:txBody>
          <a:bodyPr wrap="square" rtlCol="0">
            <a:spAutoFit/>
          </a:bodyPr>
          <a:lstStyle/>
          <a:p>
            <a:r>
              <a:rPr lang="en-AU" sz="1900" b="1" dirty="0"/>
              <a:t>SOCIALISM</a:t>
            </a:r>
          </a:p>
          <a:p>
            <a:r>
              <a:rPr lang="en-AU" sz="1900" dirty="0"/>
              <a:t>You have 2 cows.</a:t>
            </a:r>
          </a:p>
          <a:p>
            <a:r>
              <a:rPr lang="en-AU" sz="1900" dirty="0"/>
              <a:t>You give one to your neighbour.</a:t>
            </a:r>
          </a:p>
          <a:p>
            <a:endParaRPr lang="en-AU" sz="1900" dirty="0"/>
          </a:p>
          <a:p>
            <a:r>
              <a:rPr lang="en-AU" sz="1900" b="1" dirty="0"/>
              <a:t>COMMUNISM</a:t>
            </a:r>
          </a:p>
          <a:p>
            <a:r>
              <a:rPr lang="en-AU" sz="1900" dirty="0"/>
              <a:t>You have 2 cows.</a:t>
            </a:r>
          </a:p>
          <a:p>
            <a:r>
              <a:rPr lang="en-AU" sz="1900" dirty="0"/>
              <a:t>The State takes both and gives you some milk.</a:t>
            </a:r>
          </a:p>
          <a:p>
            <a:endParaRPr lang="en-AU" sz="1900" dirty="0"/>
          </a:p>
          <a:p>
            <a:r>
              <a:rPr lang="en-AU" sz="1900" b="1" dirty="0"/>
              <a:t>FASCISM</a:t>
            </a:r>
          </a:p>
          <a:p>
            <a:r>
              <a:rPr lang="en-AU" sz="1900" dirty="0"/>
              <a:t>You have 2 cows.</a:t>
            </a:r>
          </a:p>
          <a:p>
            <a:r>
              <a:rPr lang="en-AU" sz="1900" dirty="0"/>
              <a:t>The State takes both and sells you some milk.</a:t>
            </a:r>
          </a:p>
          <a:p>
            <a:endParaRPr lang="en-AU" sz="1900" dirty="0"/>
          </a:p>
          <a:p>
            <a:r>
              <a:rPr lang="en-AU" sz="1900" b="1" dirty="0"/>
              <a:t>NAZISM</a:t>
            </a:r>
          </a:p>
          <a:p>
            <a:r>
              <a:rPr lang="en-AU" sz="1900" dirty="0"/>
              <a:t>You have 2 cows.</a:t>
            </a:r>
          </a:p>
          <a:p>
            <a:r>
              <a:rPr lang="en-AU" sz="1900" dirty="0"/>
              <a:t>The State takes both and shoots you.</a:t>
            </a:r>
          </a:p>
          <a:p>
            <a:endParaRPr lang="en-AU" sz="1900" dirty="0"/>
          </a:p>
          <a:p>
            <a:r>
              <a:rPr lang="en-AU" sz="1900" b="1" dirty="0"/>
              <a:t>TRADITIONAL CAPITALISM</a:t>
            </a:r>
          </a:p>
          <a:p>
            <a:r>
              <a:rPr lang="en-AU" sz="1900" dirty="0"/>
              <a:t>You have two cows.</a:t>
            </a:r>
          </a:p>
          <a:p>
            <a:r>
              <a:rPr lang="en-AU" sz="1900" dirty="0"/>
              <a:t>You sell one and buy a bull.</a:t>
            </a:r>
          </a:p>
          <a:p>
            <a:r>
              <a:rPr lang="en-AU" sz="1900" dirty="0"/>
              <a:t>Your herd multiplies, and the economy grows.</a:t>
            </a:r>
          </a:p>
          <a:p>
            <a:r>
              <a:rPr lang="en-AU" sz="1900" dirty="0"/>
              <a:t>You sell them and retire on the income.</a:t>
            </a:r>
          </a:p>
        </p:txBody>
      </p:sp>
      <p:pic>
        <p:nvPicPr>
          <p:cNvPr id="4100" name="Picture 4" descr="Image result for cow cut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80709" y="158860"/>
            <a:ext cx="5688705" cy="377765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4927839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4557" y="180451"/>
            <a:ext cx="10058400" cy="642509"/>
          </a:xfrm>
        </p:spPr>
        <p:txBody>
          <a:bodyPr>
            <a:normAutofit/>
          </a:bodyPr>
          <a:lstStyle/>
          <a:p>
            <a:r>
              <a:rPr lang="en-AU" sz="2400" u="sng" dirty="0"/>
              <a:t>Some background- The Railways</a:t>
            </a:r>
          </a:p>
        </p:txBody>
      </p:sp>
      <p:sp>
        <p:nvSpPr>
          <p:cNvPr id="3" name="Content Placeholder 2"/>
          <p:cNvSpPr>
            <a:spLocks noGrp="1"/>
          </p:cNvSpPr>
          <p:nvPr>
            <p:ph idx="1"/>
          </p:nvPr>
        </p:nvSpPr>
        <p:spPr>
          <a:xfrm>
            <a:off x="344557" y="1033670"/>
            <a:ext cx="10780643" cy="5643879"/>
          </a:xfrm>
        </p:spPr>
        <p:txBody>
          <a:bodyPr>
            <a:normAutofit fontScale="92500" lnSpcReduction="10000"/>
          </a:bodyPr>
          <a:lstStyle/>
          <a:p>
            <a:pPr marL="0" indent="0">
              <a:lnSpc>
                <a:spcPct val="150000"/>
              </a:lnSpc>
              <a:buNone/>
            </a:pPr>
            <a:r>
              <a:rPr lang="en-AU" sz="2000" dirty="0"/>
              <a:t>1</a:t>
            </a:r>
            <a:r>
              <a:rPr lang="en-AU" sz="2000" baseline="30000" dirty="0"/>
              <a:t>st</a:t>
            </a:r>
            <a:r>
              <a:rPr lang="en-AU" sz="2000" dirty="0"/>
              <a:t> Railway- 1828 (Ballimore and Ohio railroad)</a:t>
            </a:r>
          </a:p>
          <a:p>
            <a:pPr marL="0" indent="0">
              <a:lnSpc>
                <a:spcPct val="150000"/>
              </a:lnSpc>
              <a:buNone/>
            </a:pPr>
            <a:r>
              <a:rPr lang="en-AU" sz="2000" dirty="0"/>
              <a:t>Transcontinental railroad- Central Pacific and Union Pacific (1869)- travel across country.</a:t>
            </a:r>
          </a:p>
          <a:p>
            <a:pPr>
              <a:lnSpc>
                <a:spcPct val="150000"/>
              </a:lnSpc>
            </a:pPr>
            <a:r>
              <a:rPr lang="en-AU" sz="2000" dirty="0"/>
              <a:t>Railroading became a highly profitable business venture. </a:t>
            </a:r>
          </a:p>
          <a:p>
            <a:pPr>
              <a:lnSpc>
                <a:spcPct val="150000"/>
              </a:lnSpc>
            </a:pPr>
            <a:r>
              <a:rPr lang="en-AU" sz="2000" dirty="0"/>
              <a:t>Tens of thousands of Irish and Chinese labourers laid the track.</a:t>
            </a:r>
          </a:p>
          <a:p>
            <a:pPr>
              <a:lnSpc>
                <a:spcPct val="150000"/>
              </a:lnSpc>
            </a:pPr>
            <a:r>
              <a:rPr lang="en-AU" sz="2000" dirty="0"/>
              <a:t>As the railroad industry grew, it became filled with corrupt practices. Unhindered by government regulation, railroaders could turn enormous profits using any method to get results, however unethical. </a:t>
            </a:r>
          </a:p>
          <a:p>
            <a:pPr>
              <a:lnSpc>
                <a:spcPct val="150000"/>
              </a:lnSpc>
            </a:pPr>
            <a:r>
              <a:rPr lang="en-AU" sz="2000" dirty="0"/>
              <a:t>Moreover, tycoons such as the Vanderbilt's were notorious for their lack of regard for the common worker. Although some states passed laws to regulate corrupt railroads, the Supreme Court made regulations on a state level impossible with the </a:t>
            </a:r>
            <a:r>
              <a:rPr lang="en-AU" sz="2000" cap="all" dirty="0"/>
              <a:t>1886</a:t>
            </a:r>
            <a:r>
              <a:rPr lang="en-AU" sz="2000" dirty="0"/>
              <a:t> </a:t>
            </a:r>
            <a:r>
              <a:rPr lang="en-AU" sz="2000" b="1" i="1" dirty="0"/>
              <a:t>Wabash </a:t>
            </a:r>
            <a:r>
              <a:rPr lang="en-AU" sz="2000" b="1" dirty="0"/>
              <a:t>case </a:t>
            </a:r>
            <a:r>
              <a:rPr lang="en-AU" sz="2000" dirty="0"/>
              <a:t>ruling, which stated that only the federal government could regulate interstate commerce.</a:t>
            </a:r>
          </a:p>
          <a:p>
            <a:pPr marL="0" indent="0">
              <a:buNone/>
            </a:pPr>
            <a:endParaRPr lang="en-AU" dirty="0"/>
          </a:p>
        </p:txBody>
      </p:sp>
    </p:spTree>
    <p:extLst>
      <p:ext uri="{BB962C8B-B14F-4D97-AF65-F5344CB8AC3E}">
        <p14:creationId xmlns:p14="http://schemas.microsoft.com/office/powerpoint/2010/main" val="109956318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37931" y="364298"/>
            <a:ext cx="10058400" cy="609557"/>
          </a:xfrm>
        </p:spPr>
        <p:txBody>
          <a:bodyPr>
            <a:normAutofit/>
          </a:bodyPr>
          <a:lstStyle/>
          <a:p>
            <a:r>
              <a:rPr lang="en-AU" sz="2400" u="sng" dirty="0"/>
              <a:t>Background- Post Civil war reconstruction</a:t>
            </a:r>
          </a:p>
        </p:txBody>
      </p:sp>
      <p:sp>
        <p:nvSpPr>
          <p:cNvPr id="3" name="Content Placeholder 2"/>
          <p:cNvSpPr>
            <a:spLocks noGrp="1"/>
          </p:cNvSpPr>
          <p:nvPr>
            <p:ph idx="1"/>
          </p:nvPr>
        </p:nvSpPr>
        <p:spPr>
          <a:xfrm>
            <a:off x="337931" y="1362824"/>
            <a:ext cx="10058400" cy="5130877"/>
          </a:xfrm>
        </p:spPr>
        <p:txBody>
          <a:bodyPr>
            <a:noAutofit/>
          </a:bodyPr>
          <a:lstStyle/>
          <a:p>
            <a:pPr>
              <a:lnSpc>
                <a:spcPct val="150000"/>
              </a:lnSpc>
            </a:pPr>
            <a:r>
              <a:rPr lang="en-AU" sz="2000" dirty="0"/>
              <a:t>American Civil War 1861 –1865</a:t>
            </a:r>
          </a:p>
          <a:p>
            <a:pPr>
              <a:lnSpc>
                <a:spcPct val="150000"/>
              </a:lnSpc>
            </a:pPr>
            <a:r>
              <a:rPr lang="en-AU" sz="2000" dirty="0"/>
              <a:t>In the twelve years after the Civil War—the era of Reconstruction—there were massive changes in American culture, economy, and politics. These were the years of the “Old West,” of cowboys, Indians, and buffalo hunts, of cattle drives, railroads, and ranches. It was also the beginning of the “Gilded Age” in the North, the age of big fortunes, enormous businesses, struggle over labor unions, and the burgeoning of cities filled with immigrants, all of it given an air of desperation by the largest economic depression in United States history beginning in 1873. The events in the West and the North interwove with those in the South, where the central struggles of Reconstruction unfolded.</a:t>
            </a:r>
          </a:p>
        </p:txBody>
      </p:sp>
      <p:pic>
        <p:nvPicPr>
          <p:cNvPr id="4098" name="Picture 2" descr="Image result for Post Civil war reconstruction">
            <a:extLst>
              <a:ext uri="{FF2B5EF4-FFF2-40B4-BE49-F238E27FC236}">
                <a16:creationId xmlns:a16="http://schemas.microsoft.com/office/drawing/2014/main" id="{915C3198-CFD7-427C-B2D3-1F5420C1646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791989" y="19423"/>
            <a:ext cx="3400011" cy="190886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8886071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23461" y="311289"/>
            <a:ext cx="10058400" cy="403611"/>
          </a:xfrm>
        </p:spPr>
        <p:txBody>
          <a:bodyPr>
            <a:normAutofit/>
          </a:bodyPr>
          <a:lstStyle/>
          <a:p>
            <a:r>
              <a:rPr lang="en-AU" sz="2000" b="1" dirty="0"/>
              <a:t>Background- immigrants</a:t>
            </a:r>
          </a:p>
        </p:txBody>
      </p:sp>
      <p:sp>
        <p:nvSpPr>
          <p:cNvPr id="3" name="Content Placeholder 2"/>
          <p:cNvSpPr>
            <a:spLocks noGrp="1"/>
          </p:cNvSpPr>
          <p:nvPr>
            <p:ph idx="1"/>
          </p:nvPr>
        </p:nvSpPr>
        <p:spPr>
          <a:xfrm>
            <a:off x="523461" y="926936"/>
            <a:ext cx="10449339" cy="5434245"/>
          </a:xfrm>
        </p:spPr>
        <p:txBody>
          <a:bodyPr>
            <a:noAutofit/>
          </a:bodyPr>
          <a:lstStyle/>
          <a:p>
            <a:pPr>
              <a:lnSpc>
                <a:spcPct val="150000"/>
              </a:lnSpc>
            </a:pPr>
            <a:r>
              <a:rPr lang="en-AU" sz="2000" dirty="0"/>
              <a:t>Immigrants entered the United States through several ports. Those from Europe generally came through East Coast facilities, while those from Asia generally entered through West Coast centres. More than 70 percent of all immigrants, however, entered through New York City, which came to be known as the "Golden Door." Throughout the late 1800s, most immigrants arriving in New York entered at the Castle Garden depot near the tip of Manhattan. In 1892, the federal government opened a new immigration processing centre on Ellis Island in New York harbor.</a:t>
            </a:r>
          </a:p>
          <a:p>
            <a:pPr>
              <a:lnSpc>
                <a:spcPct val="150000"/>
              </a:lnSpc>
            </a:pPr>
            <a:r>
              <a:rPr lang="en-AU" sz="2000" dirty="0"/>
              <a:t>Once settled, immigrants looked for work. There were never enough jobs, and employers often took advantage of the immigrants. Men were generally paid less than other workers, and women less than men. Social tensions were also part of the immigrant experience. Often stereotyped and discriminated against, many immigrants suffered verbal and physical abuse because they were "different."</a:t>
            </a:r>
          </a:p>
        </p:txBody>
      </p:sp>
    </p:spTree>
    <p:extLst>
      <p:ext uri="{BB962C8B-B14F-4D97-AF65-F5344CB8AC3E}">
        <p14:creationId xmlns:p14="http://schemas.microsoft.com/office/powerpoint/2010/main" val="330509136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9357" y="298037"/>
            <a:ext cx="10058400" cy="543655"/>
          </a:xfrm>
        </p:spPr>
        <p:txBody>
          <a:bodyPr>
            <a:normAutofit/>
          </a:bodyPr>
          <a:lstStyle/>
          <a:p>
            <a:r>
              <a:rPr lang="en-AU" sz="2000" u="sng" dirty="0"/>
              <a:t>Background- Immigrant Labour</a:t>
            </a:r>
          </a:p>
        </p:txBody>
      </p:sp>
      <p:sp>
        <p:nvSpPr>
          <p:cNvPr id="3" name="Content Placeholder 2"/>
          <p:cNvSpPr>
            <a:spLocks noGrp="1"/>
          </p:cNvSpPr>
          <p:nvPr>
            <p:ph idx="1"/>
          </p:nvPr>
        </p:nvSpPr>
        <p:spPr>
          <a:xfrm>
            <a:off x="649357" y="1040475"/>
            <a:ext cx="10058400" cy="5665125"/>
          </a:xfrm>
        </p:spPr>
        <p:txBody>
          <a:bodyPr>
            <a:noAutofit/>
          </a:bodyPr>
          <a:lstStyle/>
          <a:p>
            <a:r>
              <a:rPr lang="en-AU" sz="2000" dirty="0"/>
              <a:t>Between 1850- 1914 over 40 million people left Europe to migrate to America. </a:t>
            </a:r>
          </a:p>
          <a:p>
            <a:r>
              <a:rPr lang="en-AU" sz="2000" dirty="0"/>
              <a:t>The population of the country increased by about 27 million people, from about 49 million in 1880 to 76 million in 1900. Before 1880 the immigrants came largely from Western Europe and China. In the period between 1860 and 1900 as a whole, Germans comprised 28 percent of American immigrants; the British comprised 18 percent, the Irish 15 percent, and Scandinavians 11 percent. Together they made up 72 percent of the total immigration. At the end of the century, the so-called “New Immigration” signalled the rise of southern and eastern Europe as the source of most immigrants to America. </a:t>
            </a:r>
          </a:p>
          <a:p>
            <a:r>
              <a:rPr lang="en-AU" sz="2000" dirty="0"/>
              <a:t>Minimum wage was kept low.</a:t>
            </a:r>
          </a:p>
          <a:p>
            <a:r>
              <a:rPr lang="en-AU" sz="2000" dirty="0"/>
              <a:t>Working and living conditions for the poor were unsanitary and unsafe.</a:t>
            </a:r>
          </a:p>
          <a:p>
            <a:r>
              <a:rPr lang="en-AU" sz="2000" dirty="0"/>
              <a:t>Little protection through the law.</a:t>
            </a:r>
          </a:p>
          <a:p>
            <a:r>
              <a:rPr lang="en-AU" sz="2000" dirty="0"/>
              <a:t>Inequality in health, education and employment (Only 5% of eligible students attended high school in 1900)</a:t>
            </a:r>
          </a:p>
          <a:p>
            <a:r>
              <a:rPr lang="en-AU" sz="2000" dirty="0"/>
              <a:t>Little political power.</a:t>
            </a:r>
          </a:p>
        </p:txBody>
      </p:sp>
    </p:spTree>
    <p:extLst>
      <p:ext uri="{BB962C8B-B14F-4D97-AF65-F5344CB8AC3E}">
        <p14:creationId xmlns:p14="http://schemas.microsoft.com/office/powerpoint/2010/main" val="329880775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89722" y="246354"/>
            <a:ext cx="10058400" cy="576606"/>
          </a:xfrm>
        </p:spPr>
        <p:txBody>
          <a:bodyPr>
            <a:normAutofit/>
          </a:bodyPr>
          <a:lstStyle/>
          <a:p>
            <a:r>
              <a:rPr lang="en-AU" sz="2000" u="sng" dirty="0"/>
              <a:t>Background- Oil</a:t>
            </a:r>
          </a:p>
        </p:txBody>
      </p:sp>
      <p:sp>
        <p:nvSpPr>
          <p:cNvPr id="3" name="Content Placeholder 2"/>
          <p:cNvSpPr>
            <a:spLocks noGrp="1"/>
          </p:cNvSpPr>
          <p:nvPr>
            <p:ph idx="1"/>
          </p:nvPr>
        </p:nvSpPr>
        <p:spPr>
          <a:xfrm>
            <a:off x="589722" y="1021080"/>
            <a:ext cx="10058400" cy="5590566"/>
          </a:xfrm>
        </p:spPr>
        <p:txBody>
          <a:bodyPr>
            <a:noAutofit/>
          </a:bodyPr>
          <a:lstStyle/>
          <a:p>
            <a:r>
              <a:rPr lang="en-AU" sz="2100" dirty="0"/>
              <a:t>Although there was very little need for oil prior to the Civil War, demand surged during the machine age of the </a:t>
            </a:r>
            <a:r>
              <a:rPr lang="en-AU" sz="2100" cap="all" dirty="0"/>
              <a:t>1880</a:t>
            </a:r>
            <a:r>
              <a:rPr lang="en-AU" sz="2100" dirty="0"/>
              <a:t>s, </a:t>
            </a:r>
            <a:r>
              <a:rPr lang="en-AU" sz="2100" cap="all" dirty="0"/>
              <a:t>1890</a:t>
            </a:r>
            <a:r>
              <a:rPr lang="en-AU" sz="2100" dirty="0"/>
              <a:t>s, and early </a:t>
            </a:r>
            <a:r>
              <a:rPr lang="en-AU" sz="2100" cap="all" dirty="0"/>
              <a:t>1900</a:t>
            </a:r>
            <a:r>
              <a:rPr lang="en-AU" sz="2100" dirty="0"/>
              <a:t>s. Seemingly everything required oil during this era: factory machines, ships, and, later, automobiles.</a:t>
            </a:r>
          </a:p>
          <a:p>
            <a:r>
              <a:rPr lang="en-AU" sz="2100" dirty="0"/>
              <a:t>The biggest names in the oil industry were </a:t>
            </a:r>
            <a:r>
              <a:rPr lang="en-AU" sz="2100" b="1" dirty="0"/>
              <a:t>John D. Rockefeller</a:t>
            </a:r>
            <a:r>
              <a:rPr lang="en-AU" sz="2100" dirty="0"/>
              <a:t> and his </a:t>
            </a:r>
            <a:r>
              <a:rPr lang="en-AU" sz="2100" b="1" dirty="0"/>
              <a:t>Standard Oil Company</a:t>
            </a:r>
            <a:r>
              <a:rPr lang="en-AU" sz="2100" dirty="0"/>
              <a:t>—in fact, they were the </a:t>
            </a:r>
            <a:r>
              <a:rPr lang="en-AU" sz="2100" i="1" dirty="0"/>
              <a:t>only </a:t>
            </a:r>
            <a:r>
              <a:rPr lang="en-AU" sz="2100" dirty="0"/>
              <a:t>names in the industry. Rockefeller used horizontal integration, essentially buying out all the other oil companies so that he had no competition left. In doing so, Rockefeller created one of America’s first monopolies, or trusts, that cornered the market of a single product. </a:t>
            </a:r>
          </a:p>
          <a:p>
            <a:r>
              <a:rPr lang="en-AU" sz="2100" dirty="0"/>
              <a:t>The Standard Oil Company, by 1899, was a holding company which controlled the stock of many other companies. The capital was $110 million, the profit was $45 million a year, and John D. Rockefeller's fortune was estimated at $200 million. Before long he would move into iron, copper, coal, shipping, and banking (Chase Manhattan Bank). Profits would be $81 million a year, and the Rockefeller fortune would total two billion dollars.</a:t>
            </a:r>
          </a:p>
        </p:txBody>
      </p:sp>
    </p:spTree>
    <p:extLst>
      <p:ext uri="{BB962C8B-B14F-4D97-AF65-F5344CB8AC3E}">
        <p14:creationId xmlns:p14="http://schemas.microsoft.com/office/powerpoint/2010/main" val="361354422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6226" y="369922"/>
            <a:ext cx="10058400" cy="453038"/>
          </a:xfrm>
        </p:spPr>
        <p:txBody>
          <a:bodyPr>
            <a:normAutofit/>
          </a:bodyPr>
          <a:lstStyle/>
          <a:p>
            <a:r>
              <a:rPr lang="en-AU" sz="2000" u="sng" dirty="0"/>
              <a:t>Background- Agriculture</a:t>
            </a:r>
          </a:p>
        </p:txBody>
      </p:sp>
      <p:sp>
        <p:nvSpPr>
          <p:cNvPr id="3" name="Content Placeholder 2"/>
          <p:cNvSpPr>
            <a:spLocks noGrp="1"/>
          </p:cNvSpPr>
          <p:nvPr>
            <p:ph idx="1"/>
          </p:nvPr>
        </p:nvSpPr>
        <p:spPr>
          <a:xfrm>
            <a:off x="616226" y="1175145"/>
            <a:ext cx="8660296" cy="5437689"/>
          </a:xfrm>
        </p:spPr>
        <p:txBody>
          <a:bodyPr>
            <a:normAutofit lnSpcReduction="10000"/>
          </a:bodyPr>
          <a:lstStyle/>
          <a:p>
            <a:r>
              <a:rPr lang="en-AU" sz="2500" dirty="0"/>
              <a:t>The expansion of agricultural lands led to what superficially seems a paradox: the more farmers there were—and the more productive farmers became—the smaller was agriculture’s share of the economy. </a:t>
            </a:r>
          </a:p>
          <a:p>
            <a:r>
              <a:rPr lang="en-AU" sz="2500" dirty="0"/>
              <a:t>Farmers produced more than the country could consume with less labor. They exported the excess, and the children of farmers migrated to cities and towns. Where at the beginning of the century exports composed about 10 percent of farm income, they amounted to between 20 and 25 percent by the end of the century. </a:t>
            </a:r>
          </a:p>
          <a:p>
            <a:r>
              <a:rPr lang="en-AU" sz="2500" dirty="0"/>
              <a:t>American agricultural productivity allowed it to remain the world’s greatest agricultural economy while it became the world’s largest industrial producer.</a:t>
            </a:r>
          </a:p>
          <a:p>
            <a:endParaRPr lang="en-AU" dirty="0"/>
          </a:p>
        </p:txBody>
      </p:sp>
      <p:pic>
        <p:nvPicPr>
          <p:cNvPr id="5122" name="Picture 2" descr="Image result for america agriculture 1890">
            <a:extLst>
              <a:ext uri="{FF2B5EF4-FFF2-40B4-BE49-F238E27FC236}">
                <a16:creationId xmlns:a16="http://schemas.microsoft.com/office/drawing/2014/main" id="{E641E050-0F86-48E8-A78A-65723245C4B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180582" y="369921"/>
            <a:ext cx="2761971" cy="216124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9648960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30696" y="483568"/>
            <a:ext cx="10058400" cy="1384989"/>
          </a:xfrm>
        </p:spPr>
        <p:txBody>
          <a:bodyPr>
            <a:normAutofit fontScale="90000"/>
          </a:bodyPr>
          <a:lstStyle/>
          <a:p>
            <a:r>
              <a:rPr lang="en-AU" sz="2400" dirty="0"/>
              <a:t>Reasons for America’s second industrial revolution (End of Civil War to the beginning of the 20</a:t>
            </a:r>
            <a:r>
              <a:rPr lang="en-AU" sz="2400" baseline="30000" dirty="0"/>
              <a:t>th</a:t>
            </a:r>
            <a:r>
              <a:rPr lang="en-AU" sz="2400" dirty="0"/>
              <a:t> century.)</a:t>
            </a:r>
            <a:br>
              <a:rPr lang="en-AU" sz="2400" dirty="0"/>
            </a:br>
            <a:r>
              <a:rPr lang="en-AU" sz="2400" dirty="0"/>
              <a:t> </a:t>
            </a:r>
            <a:br>
              <a:rPr lang="en-AU" sz="2400" dirty="0"/>
            </a:br>
            <a:r>
              <a:rPr lang="en-AU" sz="2400" dirty="0"/>
              <a:t>Also called ‘The Gilded Age’</a:t>
            </a:r>
          </a:p>
        </p:txBody>
      </p:sp>
      <p:sp>
        <p:nvSpPr>
          <p:cNvPr id="3" name="Content Placeholder 2"/>
          <p:cNvSpPr>
            <a:spLocks noGrp="1"/>
          </p:cNvSpPr>
          <p:nvPr>
            <p:ph idx="1"/>
          </p:nvPr>
        </p:nvSpPr>
        <p:spPr>
          <a:xfrm>
            <a:off x="450574" y="2365900"/>
            <a:ext cx="7222435" cy="4008532"/>
          </a:xfrm>
        </p:spPr>
        <p:txBody>
          <a:bodyPr/>
          <a:lstStyle/>
          <a:p>
            <a:r>
              <a:rPr lang="en-AU" dirty="0"/>
              <a:t>Lots of natural resources</a:t>
            </a:r>
          </a:p>
          <a:p>
            <a:r>
              <a:rPr lang="en-AU" dirty="0"/>
              <a:t>Increased population- between 1860- 1900 the population went from 31.5 million to 76 million. This then stimulated demand.</a:t>
            </a:r>
          </a:p>
          <a:p>
            <a:r>
              <a:rPr lang="en-AU" dirty="0"/>
              <a:t>14 million people migrated to US.</a:t>
            </a:r>
          </a:p>
          <a:p>
            <a:r>
              <a:rPr lang="en-AU" dirty="0"/>
              <a:t>Improved transport systems (canals – railways)</a:t>
            </a:r>
          </a:p>
          <a:p>
            <a:r>
              <a:rPr lang="en-AU" dirty="0"/>
              <a:t>Technological innovations improving communication and production e.g. cheaper cost of steel.</a:t>
            </a:r>
          </a:p>
          <a:p>
            <a:r>
              <a:rPr lang="en-AU" dirty="0"/>
              <a:t>Increased capital investment in industry.</a:t>
            </a:r>
          </a:p>
          <a:p>
            <a:r>
              <a:rPr lang="en-AU" dirty="0"/>
              <a:t>Level of government assistance </a:t>
            </a:r>
          </a:p>
        </p:txBody>
      </p:sp>
      <p:pic>
        <p:nvPicPr>
          <p:cNvPr id="6146" name="Picture 2" descr="Image result for america gilded age">
            <a:extLst>
              <a:ext uri="{FF2B5EF4-FFF2-40B4-BE49-F238E27FC236}">
                <a16:creationId xmlns:a16="http://schemas.microsoft.com/office/drawing/2014/main" id="{C6D4F181-47E3-47BD-BA45-968E2B5D809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898296" y="3875019"/>
            <a:ext cx="3962400" cy="22288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5754368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96348" y="192020"/>
            <a:ext cx="10058400" cy="733125"/>
          </a:xfrm>
        </p:spPr>
        <p:txBody>
          <a:bodyPr>
            <a:normAutofit/>
          </a:bodyPr>
          <a:lstStyle/>
          <a:p>
            <a:r>
              <a:rPr lang="en-AU" sz="2400" b="1" u="sng" dirty="0"/>
              <a:t>Gilded Age</a:t>
            </a:r>
          </a:p>
        </p:txBody>
      </p:sp>
      <p:sp>
        <p:nvSpPr>
          <p:cNvPr id="3" name="Content Placeholder 2"/>
          <p:cNvSpPr>
            <a:spLocks noGrp="1"/>
          </p:cNvSpPr>
          <p:nvPr>
            <p:ph idx="1"/>
          </p:nvPr>
        </p:nvSpPr>
        <p:spPr>
          <a:xfrm>
            <a:off x="596348" y="1301578"/>
            <a:ext cx="10528852" cy="5231744"/>
          </a:xfrm>
        </p:spPr>
        <p:txBody>
          <a:bodyPr>
            <a:normAutofit/>
          </a:bodyPr>
          <a:lstStyle/>
          <a:p>
            <a:pPr marL="0" lvl="0" indent="0">
              <a:buNone/>
            </a:pPr>
            <a:r>
              <a:rPr lang="en-AU" b="1" dirty="0"/>
              <a:t>Key Points</a:t>
            </a:r>
            <a:endParaRPr lang="en-AU" dirty="0"/>
          </a:p>
          <a:p>
            <a:pPr lvl="0"/>
            <a:r>
              <a:rPr lang="en-US" sz="2000" dirty="0"/>
              <a:t>The Gilded Age was an era of rapid economic growth, especially in the North and West. As American wages were much higher than those in Europe, especially for skilled workers, the period saw an influx of millions of European immigrants.</a:t>
            </a:r>
            <a:endParaRPr lang="en-AU" sz="2000" dirty="0"/>
          </a:p>
          <a:p>
            <a:pPr lvl="0"/>
            <a:r>
              <a:rPr lang="en-AU" sz="2000" dirty="0"/>
              <a:t>America's economy grew by more than 400% between 1860 and 1900.</a:t>
            </a:r>
          </a:p>
          <a:p>
            <a:pPr lvl="0"/>
            <a:r>
              <a:rPr lang="en-AU" sz="2000" dirty="0"/>
              <a:t>"Titans of Industry" like John D. Rockefeller, Andrew Carnegie, and J.P. Morgan built monopolies and revolutionised business practices</a:t>
            </a:r>
          </a:p>
          <a:p>
            <a:pPr lvl="0"/>
            <a:r>
              <a:rPr lang="en-AU" sz="2000" dirty="0"/>
              <a:t>Laissez faire ideology called for little or no government regulation of economic affairs.</a:t>
            </a:r>
          </a:p>
          <a:p>
            <a:pPr lvl="0"/>
            <a:r>
              <a:rPr lang="en-AU" sz="2000" dirty="0"/>
              <a:t>America's cities  exploded. By 1900, America's 30 million city dwellers represented 40% of the American population—up from 20% in 1860.</a:t>
            </a:r>
          </a:p>
          <a:p>
            <a:pPr lvl="0"/>
            <a:r>
              <a:rPr lang="en-AU" sz="2000" dirty="0"/>
              <a:t> About half of these new urban residents were immigrants, the vast majority of them from Europe. </a:t>
            </a:r>
          </a:p>
          <a:p>
            <a:endParaRPr lang="en-AU" dirty="0"/>
          </a:p>
        </p:txBody>
      </p:sp>
    </p:spTree>
    <p:extLst>
      <p:ext uri="{BB962C8B-B14F-4D97-AF65-F5344CB8AC3E}">
        <p14:creationId xmlns:p14="http://schemas.microsoft.com/office/powerpoint/2010/main" val="204090758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23461" y="483567"/>
            <a:ext cx="10058400" cy="1437997"/>
          </a:xfrm>
        </p:spPr>
        <p:txBody>
          <a:bodyPr>
            <a:normAutofit fontScale="90000"/>
          </a:bodyPr>
          <a:lstStyle/>
          <a:p>
            <a:r>
              <a:rPr lang="en-AU" sz="2500" b="1" dirty="0"/>
              <a:t>Gilded Age (contd.)</a:t>
            </a:r>
            <a:r>
              <a:rPr lang="en-AU" sz="2500" dirty="0"/>
              <a:t>-</a:t>
            </a:r>
            <a:br>
              <a:rPr lang="en-AU" sz="2500" dirty="0"/>
            </a:br>
            <a:br>
              <a:rPr lang="en-AU" sz="2500" dirty="0"/>
            </a:br>
            <a:r>
              <a:rPr lang="en-AU" sz="2500" dirty="0"/>
              <a:t>The period's label, "Gilded Age," comes close to capturing the juxtaposition of enormous wealth alongside crushing poverty. </a:t>
            </a:r>
          </a:p>
        </p:txBody>
      </p:sp>
      <p:sp>
        <p:nvSpPr>
          <p:cNvPr id="3" name="Content Placeholder 2"/>
          <p:cNvSpPr>
            <a:spLocks noGrp="1"/>
          </p:cNvSpPr>
          <p:nvPr>
            <p:ph idx="1"/>
          </p:nvPr>
        </p:nvSpPr>
        <p:spPr>
          <a:xfrm>
            <a:off x="523461" y="2238901"/>
            <a:ext cx="10058400" cy="4379235"/>
          </a:xfrm>
        </p:spPr>
        <p:txBody>
          <a:bodyPr>
            <a:normAutofit/>
          </a:bodyPr>
          <a:lstStyle/>
          <a:p>
            <a:r>
              <a:rPr lang="en-AU" sz="2000" dirty="0"/>
              <a:t>The courts weakened unions by insisting that employers had a right to replace striking workers while at the same time denying that strikers had a right to organize boycotts. </a:t>
            </a:r>
          </a:p>
          <a:p>
            <a:pPr lvl="0"/>
            <a:r>
              <a:rPr lang="en-AU" sz="2000" dirty="0"/>
              <a:t>The Gilded Age was a period of horrific labor violence, as industrialists and workers literally fought over control of the workplace.</a:t>
            </a:r>
          </a:p>
          <a:p>
            <a:pPr lvl="0"/>
            <a:r>
              <a:rPr lang="en-AU" sz="2000" dirty="0"/>
              <a:t>Workers organized the first large American labor unions during the Gilded Age.</a:t>
            </a:r>
          </a:p>
          <a:p>
            <a:endParaRPr lang="en-AU" dirty="0"/>
          </a:p>
          <a:p>
            <a:endParaRPr lang="en-AU" dirty="0"/>
          </a:p>
          <a:p>
            <a:endParaRPr lang="en-AU" dirty="0"/>
          </a:p>
        </p:txBody>
      </p:sp>
      <p:pic>
        <p:nvPicPr>
          <p:cNvPr id="4" name="Picture 3">
            <a:extLst>
              <a:ext uri="{FF2B5EF4-FFF2-40B4-BE49-F238E27FC236}">
                <a16:creationId xmlns:a16="http://schemas.microsoft.com/office/drawing/2014/main" id="{A37D7F4F-46C6-461B-A2C9-AF1B9D1FBF7A}"/>
              </a:ext>
            </a:extLst>
          </p:cNvPr>
          <p:cNvPicPr>
            <a:picLocks noChangeAspect="1"/>
          </p:cNvPicPr>
          <p:nvPr/>
        </p:nvPicPr>
        <p:blipFill>
          <a:blip r:embed="rId2"/>
          <a:stretch>
            <a:fillRect/>
          </a:stretch>
        </p:blipFill>
        <p:spPr>
          <a:xfrm>
            <a:off x="4230342" y="4686300"/>
            <a:ext cx="3333750" cy="2171700"/>
          </a:xfrm>
          <a:prstGeom prst="rect">
            <a:avLst/>
          </a:prstGeom>
        </p:spPr>
      </p:pic>
    </p:spTree>
    <p:extLst>
      <p:ext uri="{BB962C8B-B14F-4D97-AF65-F5344CB8AC3E}">
        <p14:creationId xmlns:p14="http://schemas.microsoft.com/office/powerpoint/2010/main" val="215214339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002" y="140473"/>
            <a:ext cx="9692640" cy="1325562"/>
          </a:xfrm>
        </p:spPr>
        <p:txBody>
          <a:bodyPr/>
          <a:lstStyle/>
          <a:p>
            <a:r>
              <a:rPr lang="en-AU" dirty="0"/>
              <a:t>Progressive Era 1900-1917</a:t>
            </a:r>
          </a:p>
        </p:txBody>
      </p:sp>
      <p:sp>
        <p:nvSpPr>
          <p:cNvPr id="3" name="Content Placeholder 2"/>
          <p:cNvSpPr>
            <a:spLocks noGrp="1"/>
          </p:cNvSpPr>
          <p:nvPr>
            <p:ph idx="1"/>
          </p:nvPr>
        </p:nvSpPr>
        <p:spPr>
          <a:xfrm>
            <a:off x="533002" y="1828800"/>
            <a:ext cx="8926665" cy="4351337"/>
          </a:xfrm>
        </p:spPr>
        <p:txBody>
          <a:bodyPr>
            <a:normAutofit/>
          </a:bodyPr>
          <a:lstStyle/>
          <a:p>
            <a:r>
              <a:rPr lang="en-AU" dirty="0"/>
              <a:t>Progressivism was a U.S. reform movement based on the belief that society could make progress against the abuses of the Industrial Revolution/Gilded Age. Urban poverty and slums, child labor, dangerous working conditions and low wages, unsanitary factory food processing, and immigrant ghetto conditions were several of the most prominent concerns. </a:t>
            </a:r>
          </a:p>
          <a:p>
            <a:r>
              <a:rPr lang="en-AU" dirty="0"/>
              <a:t>Progressives often identified trusts or monopolies as the cause of American economic evils.  As they controlled markets and held great influence over government, business monopolies of the late 1800’s also easily controlled wages, hours, and working conditions in factories, almost universally to the detriment of the workers. </a:t>
            </a:r>
          </a:p>
          <a:p>
            <a:r>
              <a:rPr lang="en-AU" dirty="0"/>
              <a:t>Ultimately, politicians, labor unions and social reformers changed the nature of the U.S. government’s role in business regulation – during the progressive era the government began to referee and assume a more powerful regulatory role over big business.   </a:t>
            </a:r>
          </a:p>
        </p:txBody>
      </p:sp>
    </p:spTree>
    <p:extLst>
      <p:ext uri="{BB962C8B-B14F-4D97-AF65-F5344CB8AC3E}">
        <p14:creationId xmlns:p14="http://schemas.microsoft.com/office/powerpoint/2010/main" val="320645634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70453" y="642594"/>
            <a:ext cx="10058400" cy="378898"/>
          </a:xfrm>
        </p:spPr>
        <p:txBody>
          <a:bodyPr>
            <a:normAutofit/>
          </a:bodyPr>
          <a:lstStyle/>
          <a:p>
            <a:r>
              <a:rPr lang="en-AU" sz="2000" dirty="0"/>
              <a:t>Key Individuals- brief overview.</a:t>
            </a:r>
          </a:p>
        </p:txBody>
      </p:sp>
      <p:sp>
        <p:nvSpPr>
          <p:cNvPr id="3" name="Content Placeholder 2"/>
          <p:cNvSpPr>
            <a:spLocks noGrp="1"/>
          </p:cNvSpPr>
          <p:nvPr>
            <p:ph idx="1"/>
          </p:nvPr>
        </p:nvSpPr>
        <p:spPr>
          <a:xfrm>
            <a:off x="470453" y="1569487"/>
            <a:ext cx="10058400" cy="4955883"/>
          </a:xfrm>
        </p:spPr>
        <p:txBody>
          <a:bodyPr>
            <a:normAutofit/>
          </a:bodyPr>
          <a:lstStyle/>
          <a:p>
            <a:pPr marL="0" indent="0">
              <a:buNone/>
            </a:pPr>
            <a:r>
              <a:rPr lang="en-AU" b="1" dirty="0"/>
              <a:t>Andrew Carnegie</a:t>
            </a:r>
            <a:r>
              <a:rPr lang="en-AU" dirty="0"/>
              <a:t> -  Expanded the steel industry making steel cheap through mass production; owner of the Carnegie Steel Company in Pittsburgh; used vertical integration to maintain market dominance, gave away 90% of fortune- called on rich to improve society.</a:t>
            </a:r>
          </a:p>
          <a:p>
            <a:pPr marL="0" indent="0">
              <a:buNone/>
            </a:pPr>
            <a:endParaRPr lang="en-AU" dirty="0"/>
          </a:p>
          <a:p>
            <a:pPr marL="0" indent="0">
              <a:buNone/>
            </a:pPr>
            <a:r>
              <a:rPr lang="en-AU" b="1" dirty="0"/>
              <a:t>John D. Rockefeller</a:t>
            </a:r>
            <a:r>
              <a:rPr lang="en-AU" dirty="0"/>
              <a:t> -  Founder of the Standard Oil Company; used horizontal integration to effectively buy out his competition; first US business trust; revolutionised petroleum industry, philanthropist.</a:t>
            </a:r>
          </a:p>
          <a:p>
            <a:pPr marL="0" indent="0">
              <a:buNone/>
            </a:pPr>
            <a:endParaRPr lang="en-AU" dirty="0"/>
          </a:p>
          <a:p>
            <a:pPr marL="0" indent="0">
              <a:buNone/>
            </a:pPr>
            <a:r>
              <a:rPr lang="en-AU" b="1" dirty="0"/>
              <a:t>Theodore Roosevelt</a:t>
            </a:r>
            <a:r>
              <a:rPr lang="en-AU" dirty="0"/>
              <a:t> -  </a:t>
            </a:r>
            <a:r>
              <a:rPr lang="en-AU" cap="all" dirty="0"/>
              <a:t>26</a:t>
            </a:r>
            <a:r>
              <a:rPr lang="en-AU" dirty="0"/>
              <a:t>th U.S. president; launched a collection of progressive domestic policies known as the ‘Square Deal’; youngest president at 42; involved in ’trust busting’ and regulation of industry. </a:t>
            </a:r>
          </a:p>
        </p:txBody>
      </p:sp>
    </p:spTree>
    <p:extLst>
      <p:ext uri="{BB962C8B-B14F-4D97-AF65-F5344CB8AC3E}">
        <p14:creationId xmlns:p14="http://schemas.microsoft.com/office/powerpoint/2010/main" val="1286682701"/>
      </p:ext>
    </p:extLst>
  </p:cSld>
  <p:clrMapOvr>
    <a:masterClrMapping/>
  </p:clrMapOvr>
</p:sld>
</file>

<file path=ppt/theme/theme1.xml><?xml version="1.0" encoding="utf-8"?>
<a:theme xmlns:a="http://schemas.openxmlformats.org/drawingml/2006/main" name="View">
  <a:themeElements>
    <a:clrScheme name="View">
      <a:dk1>
        <a:srgbClr val="000000"/>
      </a:dk1>
      <a:lt1>
        <a:srgbClr val="FFFFFF"/>
      </a:lt1>
      <a:dk2>
        <a:srgbClr val="46464A"/>
      </a:dk2>
      <a:lt2>
        <a:srgbClr val="D6D3CC"/>
      </a:lt2>
      <a:accent1>
        <a:srgbClr val="6F6F74"/>
      </a:accent1>
      <a:accent2>
        <a:srgbClr val="92A9B9"/>
      </a:accent2>
      <a:accent3>
        <a:srgbClr val="A7B789"/>
      </a:accent3>
      <a:accent4>
        <a:srgbClr val="B9A489"/>
      </a:accent4>
      <a:accent5>
        <a:srgbClr val="8D6374"/>
      </a:accent5>
      <a:accent6>
        <a:srgbClr val="9B7362"/>
      </a:accent6>
      <a:hlink>
        <a:srgbClr val="67AABF"/>
      </a:hlink>
      <a:folHlink>
        <a:srgbClr val="ABAFA5"/>
      </a:folHlink>
    </a:clrScheme>
    <a:fontScheme name="View">
      <a:majorFont>
        <a:latin typeface="Century Schoolbook" panose="020406040505050203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Schoolbook" panose="020406040505050203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View">
      <a:fillStyleLst>
        <a:solidFill>
          <a:schemeClr val="phClr"/>
        </a:solidFill>
        <a:solidFill>
          <a:schemeClr val="phClr">
            <a:tint val="60000"/>
            <a:satMod val="120000"/>
          </a:schemeClr>
        </a:solidFill>
        <a:solidFill>
          <a:schemeClr val="phClr">
            <a:shade val="75000"/>
            <a:satMod val="160000"/>
          </a:schemeClr>
        </a:solidFill>
      </a:fillStyleLst>
      <a:lnStyleLst>
        <a:ln w="9525" cap="flat" cmpd="sng" algn="ctr">
          <a:solidFill>
            <a:schemeClr val="phClr"/>
          </a:solidFill>
          <a:prstDash val="solid"/>
        </a:ln>
        <a:ln w="13970" cap="flat" cmpd="sng" algn="ctr">
          <a:solidFill>
            <a:schemeClr val="phClr"/>
          </a:solidFill>
          <a:prstDash val="solid"/>
        </a:ln>
        <a:ln w="17145" cap="flat" cmpd="sng" algn="ctr">
          <a:solidFill>
            <a:schemeClr val="phClr">
              <a:shade val="95000"/>
              <a:alpha val="95000"/>
              <a:satMod val="150000"/>
            </a:schemeClr>
          </a:solidFill>
          <a:prstDash val="solid"/>
        </a:ln>
      </a:lnStyleLst>
      <a:effectStyleLst>
        <a:effectStyle>
          <a:effectLst/>
        </a:effectStyle>
        <a:effectStyle>
          <a:effectLst>
            <a:outerShdw blurRad="50800" dist="15240" dir="5400000" algn="tl" rotWithShape="0">
              <a:srgbClr val="000000">
                <a:alpha val="75000"/>
              </a:srgbClr>
            </a:outerShdw>
          </a:effectLst>
          <a:scene3d>
            <a:camera prst="orthographicFront">
              <a:rot lat="0" lon="0" rev="0"/>
            </a:camera>
            <a:lightRig rig="brightRoom" dir="tl"/>
          </a:scene3d>
          <a:sp3d contourW="9525" prstMaterial="flat">
            <a:bevelT w="0" h="0" prst="coolSlant"/>
            <a:contourClr>
              <a:schemeClr val="phClr">
                <a:shade val="35000"/>
                <a:satMod val="130000"/>
              </a:schemeClr>
            </a:contourClr>
          </a:sp3d>
        </a:effectStyle>
        <a:effectStyle>
          <a:effectLst>
            <a:outerShdw blurRad="76200" dist="25400" dir="5400000" algn="tl" rotWithShape="0">
              <a:srgbClr val="000000">
                <a:alpha val="55000"/>
              </a:srgbClr>
            </a:outerShdw>
          </a:effectLst>
          <a:scene3d>
            <a:camera prst="orthographicFront">
              <a:rot lat="0" lon="0" rev="0"/>
            </a:camera>
            <a:lightRig rig="brightRoom" dir="tl"/>
          </a:scene3d>
          <a:sp3d contourW="19050" prstMaterial="flat">
            <a:bevelT w="0" h="0" prst="coolSlant"/>
            <a:contourClr>
              <a:schemeClr val="phClr">
                <a:shade val="25000"/>
                <a:satMod val="140000"/>
              </a:schemeClr>
            </a:contourClr>
          </a:sp3d>
        </a:effectStyle>
      </a:effectStyleLst>
      <a:bgFillStyleLst>
        <a:solidFill>
          <a:schemeClr val="phClr"/>
        </a:solidFill>
        <a:solidFill>
          <a:schemeClr val="phClr">
            <a:tint val="95000"/>
            <a:satMod val="170000"/>
          </a:schemeClr>
        </a:solidFill>
        <a:gradFill rotWithShape="1">
          <a:gsLst>
            <a:gs pos="0">
              <a:schemeClr val="phClr">
                <a:tint val="94000"/>
                <a:shade val="98000"/>
                <a:satMod val="130000"/>
                <a:lumMod val="102000"/>
              </a:schemeClr>
            </a:gs>
            <a:gs pos="100000">
              <a:schemeClr val="phClr">
                <a:tint val="98000"/>
                <a:shade val="78000"/>
                <a:satMod val="140000"/>
              </a:schemeClr>
            </a:gs>
          </a:gsLst>
          <a:path path="circle">
            <a:fillToRect l="100000" t="100000" r="100000" b="100000"/>
          </a:path>
        </a:gradFill>
      </a:bgFillStyleLst>
    </a:fmtScheme>
  </a:themeElements>
  <a:objectDefaults/>
  <a:extraClrSchemeLst/>
  <a:extLst>
    <a:ext uri="{05A4C25C-085E-4340-85A3-A5531E510DB2}">
      <thm15:themeFamily xmlns:thm15="http://schemas.microsoft.com/office/thememl/2012/main" name="View" id="{BA0EB5A6-F2D4-4F82-977B-64ADEE4A2A69}" vid="{3969A8A2-35DB-4E3B-8885-16FD20568674}"/>
    </a:ext>
  </a:extLst>
</a:theme>
</file>

<file path=docProps/app.xml><?xml version="1.0" encoding="utf-8"?>
<Properties xmlns="http://schemas.openxmlformats.org/officeDocument/2006/extended-properties" xmlns:vt="http://schemas.openxmlformats.org/officeDocument/2006/docPropsVTypes">
  <Template>TM03457515[[fn=View]]</Template>
  <TotalTime>324</TotalTime>
  <Words>1635</Words>
  <Application>Microsoft Office PowerPoint</Application>
  <PresentationFormat>Widescreen</PresentationFormat>
  <Paragraphs>91</Paragraphs>
  <Slides>15</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vt:i4>
      </vt:variant>
    </vt:vector>
  </HeadingPairs>
  <TitlesOfParts>
    <vt:vector size="19" baseType="lpstr">
      <vt:lpstr>Arial</vt:lpstr>
      <vt:lpstr>Century Schoolbook</vt:lpstr>
      <vt:lpstr>Wingdings 2</vt:lpstr>
      <vt:lpstr>View</vt:lpstr>
      <vt:lpstr>Capitalism- The American experience 1907-1941</vt:lpstr>
      <vt:lpstr>The main causes of the rise of capitalism in the USA, including the expansion of the railways; post-Civil War reconstruction; immigrant labour; discovery of oil; and mass production.</vt:lpstr>
      <vt:lpstr>Capitalism is not just an economic system it is a philosophy.  It is a fundamental belief that the wealthy deserve their wealth and that this wealth entitles them to a privileged position.  Capitalism is an economic and political system in which a country's trade and industry are controlled by private owners for profit, rather than by the state.</vt:lpstr>
      <vt:lpstr>PowerPoint Presentation</vt:lpstr>
      <vt:lpstr>Some background- The Railways</vt:lpstr>
      <vt:lpstr>Background- Post Civil war reconstruction</vt:lpstr>
      <vt:lpstr>Background- immigrants</vt:lpstr>
      <vt:lpstr>Background- Immigrant Labour</vt:lpstr>
      <vt:lpstr>Background- Oil</vt:lpstr>
      <vt:lpstr>Background- Agriculture</vt:lpstr>
      <vt:lpstr>Reasons for America’s second industrial revolution (End of Civil War to the beginning of the 20th century.)   Also called ‘The Gilded Age’</vt:lpstr>
      <vt:lpstr>Gilded Age</vt:lpstr>
      <vt:lpstr>Gilded Age (contd.)-  The period's label, "Gilded Age," comes close to capturing the juxtaposition of enormous wealth alongside crushing poverty. </vt:lpstr>
      <vt:lpstr>Progressive Era 1900-1917</vt:lpstr>
      <vt:lpstr>Key Individuals- brief overview.</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Capitalism- The American experience 1907-1941</dc:title>
  <dc:creator>Lynton Baron</dc:creator>
  <cp:lastModifiedBy>Natasha Hawkes</cp:lastModifiedBy>
  <cp:revision>39</cp:revision>
  <dcterms:created xsi:type="dcterms:W3CDTF">2014-10-19T07:24:46Z</dcterms:created>
  <dcterms:modified xsi:type="dcterms:W3CDTF">2019-01-31T12:53:07Z</dcterms:modified>
</cp:coreProperties>
</file>
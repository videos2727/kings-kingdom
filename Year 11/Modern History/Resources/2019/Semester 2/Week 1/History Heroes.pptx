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70" r:id="rId5"/>
    <p:sldId id="272" r:id="rId6"/>
    <p:sldId id="262" r:id="rId7"/>
    <p:sldId id="264" r:id="rId8"/>
    <p:sldId id="265" r:id="rId9"/>
    <p:sldId id="271" r:id="rId10"/>
    <p:sldId id="273" r:id="rId11"/>
    <p:sldId id="274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825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5543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A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22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541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079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409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3856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271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419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57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46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BB8BDEC-7D89-4C8D-893C-705DACB5379B}" type="datetimeFigureOut">
              <a:rPr lang="en-AU" smtClean="0"/>
              <a:t>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2721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XgkuM2NhY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74CC-0888-412A-95C7-09FE31C00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434" y="1272889"/>
            <a:ext cx="7653132" cy="274727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5000" b="1" dirty="0">
                <a:latin typeface="Calisto MT" panose="02040603050505030304" pitchFamily="18" charset="0"/>
              </a:rPr>
              <a:t>History Heroes</a:t>
            </a:r>
            <a:r>
              <a:rPr lang="en-AU" sz="5000" dirty="0">
                <a:latin typeface="Calisto MT" panose="02040603050505030304" pitchFamily="18" charset="0"/>
              </a:rPr>
              <a:t/>
            </a:r>
            <a:br>
              <a:rPr lang="en-AU" sz="5000" dirty="0">
                <a:latin typeface="Calisto MT" panose="02040603050505030304" pitchFamily="18" charset="0"/>
              </a:rPr>
            </a:br>
            <a:r>
              <a:rPr lang="en-AU" sz="5000" dirty="0">
                <a:latin typeface="Calisto MT" panose="02040603050505030304" pitchFamily="18" charset="0"/>
              </a:rPr>
              <a:t/>
            </a:r>
            <a:br>
              <a:rPr lang="en-AU" sz="5000" dirty="0">
                <a:latin typeface="Calisto MT" panose="02040603050505030304" pitchFamily="18" charset="0"/>
              </a:rPr>
            </a:br>
            <a:r>
              <a:rPr lang="en-AU" sz="5000" dirty="0">
                <a:latin typeface="Calisto MT" panose="02040603050505030304" pitchFamily="18" charset="0"/>
              </a:rPr>
              <a:t>Term </a:t>
            </a:r>
            <a:r>
              <a:rPr lang="en-AU" sz="5000" dirty="0" smtClean="0">
                <a:latin typeface="Calisto MT" panose="02040603050505030304" pitchFamily="18" charset="0"/>
              </a:rPr>
              <a:t>2, </a:t>
            </a:r>
            <a:r>
              <a:rPr lang="en-AU" sz="5000" dirty="0">
                <a:latin typeface="Calisto MT" panose="02040603050505030304" pitchFamily="18" charset="0"/>
              </a:rPr>
              <a:t>Week </a:t>
            </a:r>
            <a:r>
              <a:rPr lang="en-AU" sz="5000" dirty="0" smtClean="0">
                <a:latin typeface="Calisto MT" panose="02040603050505030304" pitchFamily="18" charset="0"/>
              </a:rPr>
              <a:t>6</a:t>
            </a:r>
            <a:endParaRPr lang="en-AU" sz="5000" dirty="0">
              <a:latin typeface="Calisto MT" panose="02040603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B51DB-113C-418D-84A6-6792717DA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9052" y="5947435"/>
            <a:ext cx="8013895" cy="55183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>
                <a:hlinkClick r:id="rId2"/>
              </a:rPr>
              <a:t>https://www.youtube.com/watch?v=lXgkuM2NhYI</a:t>
            </a:r>
            <a:r>
              <a:rPr lang="en-AU" dirty="0"/>
              <a:t> 0.50-1.00 </a:t>
            </a:r>
          </a:p>
        </p:txBody>
      </p:sp>
    </p:spTree>
    <p:extLst>
      <p:ext uri="{BB962C8B-B14F-4D97-AF65-F5344CB8AC3E}">
        <p14:creationId xmlns:p14="http://schemas.microsoft.com/office/powerpoint/2010/main" val="226374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AU" sz="5000" dirty="0">
                <a:latin typeface="Calisto MT" panose="02040603050505030304" pitchFamily="18" charset="0"/>
              </a:rPr>
              <a:t>Question </a:t>
            </a:r>
            <a:r>
              <a:rPr lang="en-AU" sz="5000" dirty="0" smtClean="0">
                <a:latin typeface="Calisto MT" panose="02040603050505030304" pitchFamily="18" charset="0"/>
              </a:rPr>
              <a:t>1 (4 marks)</a:t>
            </a:r>
            <a:endParaRPr lang="en-AU" sz="5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are the four types of assessment in modern history?</a:t>
            </a:r>
          </a:p>
        </p:txBody>
      </p:sp>
    </p:spTree>
    <p:extLst>
      <p:ext uri="{BB962C8B-B14F-4D97-AF65-F5344CB8AC3E}">
        <p14:creationId xmlns:p14="http://schemas.microsoft.com/office/powerpoint/2010/main" val="384397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AU" sz="5000" dirty="0">
                <a:latin typeface="Calisto MT" panose="02040603050505030304" pitchFamily="18" charset="0"/>
              </a:rPr>
              <a:t>Question </a:t>
            </a:r>
            <a:r>
              <a:rPr lang="en-AU" sz="5000" dirty="0" smtClean="0">
                <a:latin typeface="Calisto MT" panose="02040603050505030304" pitchFamily="18" charset="0"/>
              </a:rPr>
              <a:t>2 (2 marks)</a:t>
            </a:r>
            <a:endParaRPr lang="en-AU" sz="5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5000" dirty="0" smtClean="0">
                <a:latin typeface="Calisto MT" panose="02040603050505030304" pitchFamily="18" charset="0"/>
              </a:rPr>
              <a:t>Which two government systems </a:t>
            </a:r>
            <a:r>
              <a:rPr lang="en-AU" sz="5000" dirty="0">
                <a:latin typeface="Calisto MT" panose="02040603050505030304" pitchFamily="18" charset="0"/>
              </a:rPr>
              <a:t>do we look at when studying </a:t>
            </a:r>
            <a:r>
              <a:rPr lang="en-AU" sz="5000" dirty="0" smtClean="0">
                <a:latin typeface="Calisto MT" panose="02040603050505030304" pitchFamily="18" charset="0"/>
              </a:rPr>
              <a:t>German </a:t>
            </a:r>
            <a:r>
              <a:rPr lang="en-AU" sz="5000" dirty="0">
                <a:latin typeface="Calisto MT" panose="02040603050505030304" pitchFamily="18" charset="0"/>
              </a:rPr>
              <a:t>history?</a:t>
            </a:r>
          </a:p>
        </p:txBody>
      </p:sp>
    </p:spTree>
    <p:extLst>
      <p:ext uri="{BB962C8B-B14F-4D97-AF65-F5344CB8AC3E}">
        <p14:creationId xmlns:p14="http://schemas.microsoft.com/office/powerpoint/2010/main" val="357590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 smtClean="0">
                <a:latin typeface="Calisto MT" panose="02040603050505030304" pitchFamily="18" charset="0"/>
              </a:rPr>
              <a:t>3 (1 mark)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 smtClean="0">
                <a:latin typeface="Calisto MT" panose="02040603050505030304" pitchFamily="18" charset="0"/>
              </a:rPr>
              <a:t>Germany is located…?</a:t>
            </a:r>
            <a:endParaRPr lang="en-AU" sz="5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9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AU" sz="5000" dirty="0">
                <a:latin typeface="Calisto MT" panose="02040603050505030304" pitchFamily="18" charset="0"/>
              </a:rPr>
              <a:t>Question 4</a:t>
            </a:r>
            <a:r>
              <a:rPr lang="en-AU" sz="5000" dirty="0" smtClean="0">
                <a:latin typeface="Calisto MT" panose="02040603050505030304" pitchFamily="18" charset="0"/>
              </a:rPr>
              <a:t> (4 marks)</a:t>
            </a:r>
            <a:endParaRPr lang="en-AU" sz="5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4000" dirty="0" smtClean="0">
                <a:latin typeface="Calisto MT" panose="02040603050505030304" pitchFamily="18" charset="0"/>
              </a:rPr>
              <a:t>When completing a source analysis, if the question askes you to, </a:t>
            </a:r>
            <a:r>
              <a:rPr lang="en-AU" sz="4000" u="sng" dirty="0" smtClean="0">
                <a:latin typeface="Calisto MT" panose="02040603050505030304" pitchFamily="18" charset="0"/>
              </a:rPr>
              <a:t>“Compare and contrast the message of source 1 and 2,” </a:t>
            </a:r>
            <a:r>
              <a:rPr lang="en-AU" sz="4000" dirty="0" smtClean="0">
                <a:latin typeface="Calisto MT" panose="02040603050505030304" pitchFamily="18" charset="0"/>
              </a:rPr>
              <a:t>what are the </a:t>
            </a:r>
            <a:r>
              <a:rPr lang="en-AU" sz="4000" b="1" dirty="0" smtClean="0">
                <a:latin typeface="Calisto MT" panose="02040603050505030304" pitchFamily="18" charset="0"/>
              </a:rPr>
              <a:t>four </a:t>
            </a:r>
            <a:r>
              <a:rPr lang="en-AU" sz="4000" dirty="0" smtClean="0">
                <a:latin typeface="Calisto MT" panose="02040603050505030304" pitchFamily="18" charset="0"/>
              </a:rPr>
              <a:t>things you must do?</a:t>
            </a:r>
            <a:endParaRPr lang="en-AU" sz="4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87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213" y="1743006"/>
            <a:ext cx="9975574" cy="337198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AU" sz="13000" b="1" dirty="0">
                <a:latin typeface="Calisto MT" panose="020406030505050303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38852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 smtClean="0">
                <a:latin typeface="Calisto MT" panose="02040603050505030304" pitchFamily="18" charset="0"/>
              </a:rPr>
              <a:t>1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4500" dirty="0">
                <a:latin typeface="Calisto MT" panose="02040603050505030304" pitchFamily="18" charset="0"/>
              </a:rPr>
              <a:t>What are the four types of assessment in modern history?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4500" b="1" dirty="0">
                <a:solidFill>
                  <a:srgbClr val="FF0000"/>
                </a:solidFill>
                <a:latin typeface="Calisto MT" panose="02040603050505030304" pitchFamily="18" charset="0"/>
              </a:rPr>
              <a:t>Historical inquiry, explanation (essay), source analysis, examination</a:t>
            </a:r>
          </a:p>
        </p:txBody>
      </p:sp>
    </p:spTree>
    <p:extLst>
      <p:ext uri="{BB962C8B-B14F-4D97-AF65-F5344CB8AC3E}">
        <p14:creationId xmlns:p14="http://schemas.microsoft.com/office/powerpoint/2010/main" val="48963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 smtClean="0">
                <a:latin typeface="Calisto MT" panose="02040603050505030304" pitchFamily="18" charset="0"/>
              </a:rPr>
              <a:t>2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5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Democracy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5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Dictatorship </a:t>
            </a:r>
            <a:endParaRPr lang="en-AU" sz="5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33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 smtClean="0">
                <a:latin typeface="Calisto MT" panose="02040603050505030304" pitchFamily="18" charset="0"/>
              </a:rPr>
              <a:t>3 (1 mark)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 smtClean="0">
                <a:latin typeface="Calisto MT" panose="02040603050505030304" pitchFamily="18" charset="0"/>
              </a:rPr>
              <a:t>Germany is located…?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5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In Europe</a:t>
            </a:r>
            <a:endParaRPr lang="en-AU" sz="5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87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AU" sz="5000" dirty="0">
                <a:latin typeface="Calisto MT" panose="02040603050505030304" pitchFamily="18" charset="0"/>
              </a:rPr>
              <a:t>Question 4</a:t>
            </a:r>
            <a:r>
              <a:rPr lang="en-AU" sz="5000" dirty="0" smtClean="0">
                <a:latin typeface="Calisto MT" panose="02040603050505030304" pitchFamily="18" charset="0"/>
              </a:rPr>
              <a:t> (4 marks)</a:t>
            </a:r>
            <a:endParaRPr lang="en-AU" sz="5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742950" indent="-742950">
              <a:lnSpc>
                <a:spcPct val="150000"/>
              </a:lnSpc>
              <a:buAutoNum type="arabicPeriod"/>
            </a:pPr>
            <a:r>
              <a:rPr lang="en-AU" sz="2500" dirty="0" smtClean="0">
                <a:latin typeface="Calisto MT" panose="02040603050505030304" pitchFamily="18" charset="0"/>
              </a:rPr>
              <a:t>State the </a:t>
            </a:r>
            <a:r>
              <a:rPr lang="en-AU" sz="2500" b="1" dirty="0" smtClean="0">
                <a:latin typeface="Calisto MT" panose="02040603050505030304" pitchFamily="18" charset="0"/>
              </a:rPr>
              <a:t>message </a:t>
            </a:r>
            <a:r>
              <a:rPr lang="en-AU" sz="2500" dirty="0" smtClean="0">
                <a:latin typeface="Calisto MT" panose="02040603050505030304" pitchFamily="18" charset="0"/>
              </a:rPr>
              <a:t>of source 1.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AU" sz="2500" dirty="0" smtClean="0">
                <a:latin typeface="Calisto MT" panose="02040603050505030304" pitchFamily="18" charset="0"/>
              </a:rPr>
              <a:t>State the </a:t>
            </a:r>
            <a:r>
              <a:rPr lang="en-AU" sz="2500" b="1" dirty="0" smtClean="0">
                <a:latin typeface="Calisto MT" panose="02040603050505030304" pitchFamily="18" charset="0"/>
              </a:rPr>
              <a:t>message </a:t>
            </a:r>
            <a:r>
              <a:rPr lang="en-AU" sz="2500" dirty="0" smtClean="0">
                <a:latin typeface="Calisto MT" panose="02040603050505030304" pitchFamily="18" charset="0"/>
              </a:rPr>
              <a:t>of source 2.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AU" sz="2500" dirty="0" smtClean="0">
                <a:latin typeface="Calisto MT" panose="02040603050505030304" pitchFamily="18" charset="0"/>
              </a:rPr>
              <a:t>Compare the </a:t>
            </a:r>
            <a:r>
              <a:rPr lang="en-AU" sz="2500" b="1" dirty="0" smtClean="0">
                <a:latin typeface="Calisto MT" panose="02040603050505030304" pitchFamily="18" charset="0"/>
              </a:rPr>
              <a:t>message </a:t>
            </a:r>
            <a:r>
              <a:rPr lang="en-AU" sz="2500" dirty="0" smtClean="0">
                <a:latin typeface="Calisto MT" panose="02040603050505030304" pitchFamily="18" charset="0"/>
              </a:rPr>
              <a:t>of the two sources (what is similar about the </a:t>
            </a:r>
            <a:r>
              <a:rPr lang="en-AU" sz="2500" b="1" dirty="0" smtClean="0">
                <a:latin typeface="Calisto MT" panose="02040603050505030304" pitchFamily="18" charset="0"/>
              </a:rPr>
              <a:t>message</a:t>
            </a:r>
            <a:r>
              <a:rPr lang="en-AU" sz="2500" dirty="0" smtClean="0">
                <a:latin typeface="Calisto MT" panose="02040603050505030304" pitchFamily="18" charset="0"/>
              </a:rPr>
              <a:t>).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AU" sz="2500" dirty="0" smtClean="0">
                <a:latin typeface="Calisto MT" panose="02040603050505030304" pitchFamily="18" charset="0"/>
              </a:rPr>
              <a:t>Contrast the </a:t>
            </a:r>
            <a:r>
              <a:rPr lang="en-AU" sz="2500" b="1" dirty="0" smtClean="0">
                <a:latin typeface="Calisto MT" panose="02040603050505030304" pitchFamily="18" charset="0"/>
              </a:rPr>
              <a:t>message </a:t>
            </a:r>
            <a:r>
              <a:rPr lang="en-AU" sz="2500" dirty="0" smtClean="0">
                <a:latin typeface="Calisto MT" panose="02040603050505030304" pitchFamily="18" charset="0"/>
              </a:rPr>
              <a:t>of the two sources (what is different about the </a:t>
            </a:r>
            <a:r>
              <a:rPr lang="en-AU" sz="2500" b="1" dirty="0" smtClean="0">
                <a:latin typeface="Calisto MT" panose="02040603050505030304" pitchFamily="18" charset="0"/>
              </a:rPr>
              <a:t>message </a:t>
            </a:r>
            <a:r>
              <a:rPr lang="en-AU" sz="2500" dirty="0" smtClean="0">
                <a:latin typeface="Calisto MT" panose="02040603050505030304" pitchFamily="18" charset="0"/>
              </a:rPr>
              <a:t>of the two sources). </a:t>
            </a:r>
            <a:endParaRPr lang="en-AU" sz="25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80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790" y="2529562"/>
            <a:ext cx="10058400" cy="1609344"/>
          </a:xfrm>
        </p:spPr>
        <p:txBody>
          <a:bodyPr/>
          <a:lstStyle/>
          <a:p>
            <a:r>
              <a:rPr lang="en-AU" dirty="0" smtClean="0"/>
              <a:t>Total </a:t>
            </a:r>
            <a:r>
              <a:rPr lang="en-AU" smtClean="0"/>
              <a:t>score               /11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382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83493" y="215822"/>
            <a:ext cx="5145271" cy="641773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2Left"/>
              <a:lightRig rig="threePt" dir="t"/>
            </a:scene3d>
          </a:bodyPr>
          <a:lstStyle/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Source </a:t>
            </a:r>
          </a:p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of </a:t>
            </a:r>
          </a:p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the </a:t>
            </a:r>
          </a:p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week!</a:t>
            </a:r>
            <a:endParaRPr lang="en-US" sz="10000" b="1" cap="none" spc="50" dirty="0">
              <a:ln w="28575" cmpd="sng">
                <a:solidFill>
                  <a:schemeClr val="tx1"/>
                </a:solidFill>
                <a:prstDash val="solid"/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glow rad="38100">
                  <a:schemeClr val="tx1">
                    <a:alpha val="40000"/>
                  </a:schemeClr>
                </a:glow>
              </a:effectLst>
            </a:endParaRPr>
          </a:p>
        </p:txBody>
      </p:sp>
      <p:pic>
        <p:nvPicPr>
          <p:cNvPr id="3" name="Picture 2" descr="Image result for german sau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1143065"/>
            <a:ext cx="5028912" cy="438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76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treaty of versailles german carto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208" y="385157"/>
            <a:ext cx="5948853" cy="6159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5513" y="640080"/>
            <a:ext cx="38571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Historical context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Where</a:t>
            </a:r>
            <a:r>
              <a:rPr lang="en-AU" dirty="0" smtClean="0"/>
              <a:t>?</a:t>
            </a:r>
          </a:p>
          <a:p>
            <a:pPr marL="342900" indent="-342900">
              <a:buAutoNum type="arabicPeriod"/>
            </a:pPr>
            <a:r>
              <a:rPr lang="en-AU" dirty="0" smtClean="0"/>
              <a:t>What? </a:t>
            </a:r>
            <a:r>
              <a:rPr lang="en-AU" dirty="0" smtClean="0"/>
              <a:t> </a:t>
            </a: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When? </a:t>
            </a:r>
          </a:p>
          <a:p>
            <a:pPr marL="342900" indent="-342900">
              <a:buAutoNum type="arabicPeriod"/>
            </a:pPr>
            <a:r>
              <a:rPr lang="en-AU" dirty="0" smtClean="0"/>
              <a:t>Cause?</a:t>
            </a:r>
          </a:p>
          <a:p>
            <a:pPr marL="342900" indent="-342900">
              <a:buAutoNum type="arabicPeriod"/>
            </a:pPr>
            <a:r>
              <a:rPr lang="en-AU" dirty="0" smtClean="0"/>
              <a:t>Effect? </a:t>
            </a: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Significance?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7732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82</TotalTime>
  <Words>210</Words>
  <Application>Microsoft Office PowerPoint</Application>
  <PresentationFormat>Widescreen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Calisto MT</vt:lpstr>
      <vt:lpstr>Rockwell</vt:lpstr>
      <vt:lpstr>Rockwell Condensed</vt:lpstr>
      <vt:lpstr>Wingdings</vt:lpstr>
      <vt:lpstr>Wood Type</vt:lpstr>
      <vt:lpstr>History Heroes  Term 2, Week 6</vt:lpstr>
      <vt:lpstr>Question 1 (4 marks)</vt:lpstr>
      <vt:lpstr>Question 2 (2 marks)</vt:lpstr>
      <vt:lpstr>Question 3 (1 mark)</vt:lpstr>
      <vt:lpstr>Question 4 (4 marks)</vt:lpstr>
      <vt:lpstr>ANSWERS</vt:lpstr>
      <vt:lpstr>Question 1</vt:lpstr>
      <vt:lpstr>Question 2</vt:lpstr>
      <vt:lpstr>Question 3 (1 mark)</vt:lpstr>
      <vt:lpstr>Question 4 (4 marks)</vt:lpstr>
      <vt:lpstr>Total score               /11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  Term 1, Week 1</dc:title>
  <dc:creator>Natasha Hawkes</dc:creator>
  <cp:lastModifiedBy>HAWKES Natasha [Narrogin Senior High School]</cp:lastModifiedBy>
  <cp:revision>7</cp:revision>
  <dcterms:created xsi:type="dcterms:W3CDTF">2019-01-31T09:47:01Z</dcterms:created>
  <dcterms:modified xsi:type="dcterms:W3CDTF">2019-06-07T07:00:13Z</dcterms:modified>
</cp:coreProperties>
</file>
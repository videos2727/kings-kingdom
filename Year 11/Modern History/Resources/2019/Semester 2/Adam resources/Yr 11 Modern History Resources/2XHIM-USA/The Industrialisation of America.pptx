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2" r:id="rId7"/>
    <p:sldId id="261" r:id="rId8"/>
    <p:sldId id="263" r:id="rId9"/>
    <p:sldId id="264" r:id="rId10"/>
    <p:sldId id="265" r:id="rId11"/>
    <p:sldId id="273" r:id="rId12"/>
    <p:sldId id="266" r:id="rId13"/>
    <p:sldId id="267" r:id="rId14"/>
    <p:sldId id="272" r:id="rId15"/>
    <p:sldId id="268" r:id="rId16"/>
    <p:sldId id="271" r:id="rId17"/>
    <p:sldId id="270" r:id="rId18"/>
    <p:sldId id="26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1F7995-DFAA-47F5-A39C-1D95BD378B30}" type="doc">
      <dgm:prSet loTypeId="urn:microsoft.com/office/officeart/2005/8/layout/radial3" loCatId="relationship" qsTypeId="urn:microsoft.com/office/officeart/2005/8/quickstyle/simple1" qsCatId="simple" csTypeId="urn:microsoft.com/office/officeart/2005/8/colors/colorful4" csCatId="colorful" phldr="1"/>
      <dgm:spPr/>
      <dgm:t>
        <a:bodyPr/>
        <a:lstStyle/>
        <a:p>
          <a:endParaRPr lang="en-AU"/>
        </a:p>
      </dgm:t>
    </dgm:pt>
    <dgm:pt modelId="{6FB366FC-9930-4C1A-98E9-01DF60F27E65}">
      <dgm:prSet phldrT="[Text]"/>
      <dgm:spPr/>
      <dgm:t>
        <a:bodyPr/>
        <a:lstStyle/>
        <a:p>
          <a:r>
            <a:rPr lang="en-AU" dirty="0" smtClean="0"/>
            <a:t>America’s unique advantages.</a:t>
          </a:r>
          <a:endParaRPr lang="en-AU" dirty="0"/>
        </a:p>
      </dgm:t>
    </dgm:pt>
    <dgm:pt modelId="{BB299E55-D922-4900-BE35-7BB2482EB94F}" type="parTrans" cxnId="{A7FE778F-AF09-4E09-BAFD-60A99D402299}">
      <dgm:prSet/>
      <dgm:spPr/>
      <dgm:t>
        <a:bodyPr/>
        <a:lstStyle/>
        <a:p>
          <a:endParaRPr lang="en-AU"/>
        </a:p>
      </dgm:t>
    </dgm:pt>
    <dgm:pt modelId="{505B43A0-F78E-4C99-A716-04877CDE0F25}" type="sibTrans" cxnId="{A7FE778F-AF09-4E09-BAFD-60A99D402299}">
      <dgm:prSet/>
      <dgm:spPr/>
      <dgm:t>
        <a:bodyPr/>
        <a:lstStyle/>
        <a:p>
          <a:endParaRPr lang="en-AU"/>
        </a:p>
      </dgm:t>
    </dgm:pt>
    <dgm:pt modelId="{A3B50B9C-1317-4F93-B160-DA31E9D92B4F}">
      <dgm:prSet phldrT="[Text]"/>
      <dgm:spPr/>
      <dgm:t>
        <a:bodyPr/>
        <a:lstStyle/>
        <a:p>
          <a:r>
            <a:rPr lang="en-AU" dirty="0" smtClean="0"/>
            <a:t>A strong transport system</a:t>
          </a:r>
          <a:endParaRPr lang="en-AU" dirty="0"/>
        </a:p>
      </dgm:t>
    </dgm:pt>
    <dgm:pt modelId="{9351A242-A842-4BEF-B192-3B9896D6EAF7}" type="parTrans" cxnId="{BE28A849-D039-44D5-B875-AFC8CC943159}">
      <dgm:prSet/>
      <dgm:spPr/>
      <dgm:t>
        <a:bodyPr/>
        <a:lstStyle/>
        <a:p>
          <a:endParaRPr lang="en-AU"/>
        </a:p>
      </dgm:t>
    </dgm:pt>
    <dgm:pt modelId="{F589F510-A28C-426D-92AC-576685678197}" type="sibTrans" cxnId="{BE28A849-D039-44D5-B875-AFC8CC943159}">
      <dgm:prSet/>
      <dgm:spPr/>
      <dgm:t>
        <a:bodyPr/>
        <a:lstStyle/>
        <a:p>
          <a:endParaRPr lang="en-AU"/>
        </a:p>
      </dgm:t>
    </dgm:pt>
    <dgm:pt modelId="{ED51A3EA-36C2-4C3C-AB92-5080A88A92A7}">
      <dgm:prSet phldrT="[Text]"/>
      <dgm:spPr/>
      <dgm:t>
        <a:bodyPr/>
        <a:lstStyle/>
        <a:p>
          <a:r>
            <a:rPr lang="en-AU" dirty="0" smtClean="0"/>
            <a:t>Unified, peaceful nation</a:t>
          </a:r>
          <a:endParaRPr lang="en-AU" dirty="0"/>
        </a:p>
      </dgm:t>
    </dgm:pt>
    <dgm:pt modelId="{7BAD0204-7CE7-4087-AB36-0A6A0D73D362}" type="parTrans" cxnId="{3E3F6582-5348-4613-B0D5-8D84F6F61115}">
      <dgm:prSet/>
      <dgm:spPr/>
      <dgm:t>
        <a:bodyPr/>
        <a:lstStyle/>
        <a:p>
          <a:endParaRPr lang="en-AU"/>
        </a:p>
      </dgm:t>
    </dgm:pt>
    <dgm:pt modelId="{83ED23D0-9B55-4C32-BA2A-BBF8013B2419}" type="sibTrans" cxnId="{3E3F6582-5348-4613-B0D5-8D84F6F61115}">
      <dgm:prSet/>
      <dgm:spPr/>
      <dgm:t>
        <a:bodyPr/>
        <a:lstStyle/>
        <a:p>
          <a:endParaRPr lang="en-AU"/>
        </a:p>
      </dgm:t>
    </dgm:pt>
    <dgm:pt modelId="{552586F5-E560-4343-BFF6-2E9094154558}">
      <dgm:prSet phldrT="[Text]" custT="1"/>
      <dgm:spPr/>
      <dgm:t>
        <a:bodyPr/>
        <a:lstStyle/>
        <a:p>
          <a:r>
            <a:rPr lang="en-AU" sz="2000" dirty="0" smtClean="0"/>
            <a:t>A nation without external enemies</a:t>
          </a:r>
          <a:endParaRPr lang="en-AU" sz="2000" dirty="0"/>
        </a:p>
      </dgm:t>
    </dgm:pt>
    <dgm:pt modelId="{9EB79861-CB0D-4B64-83B9-06FEE1645684}" type="parTrans" cxnId="{AB33B4CB-C1CB-473D-9E3F-946CC365044E}">
      <dgm:prSet/>
      <dgm:spPr/>
      <dgm:t>
        <a:bodyPr/>
        <a:lstStyle/>
        <a:p>
          <a:endParaRPr lang="en-AU"/>
        </a:p>
      </dgm:t>
    </dgm:pt>
    <dgm:pt modelId="{51A143B3-6EA3-424B-8AA7-01FBDC6C8DD3}" type="sibTrans" cxnId="{AB33B4CB-C1CB-473D-9E3F-946CC365044E}">
      <dgm:prSet/>
      <dgm:spPr/>
      <dgm:t>
        <a:bodyPr/>
        <a:lstStyle/>
        <a:p>
          <a:endParaRPr lang="en-AU"/>
        </a:p>
      </dgm:t>
    </dgm:pt>
    <dgm:pt modelId="{684F3F6F-461A-436F-981C-AB5660AF7311}">
      <dgm:prSet phldrT="[Text]" custT="1"/>
      <dgm:spPr/>
      <dgm:t>
        <a:bodyPr/>
        <a:lstStyle/>
        <a:p>
          <a:r>
            <a:rPr lang="en-AU" sz="2000" dirty="0" smtClean="0"/>
            <a:t>Large scale immigration, providing new workers and new consumers</a:t>
          </a:r>
          <a:r>
            <a:rPr lang="en-AU" sz="1700" dirty="0" smtClean="0"/>
            <a:t>.</a:t>
          </a:r>
          <a:endParaRPr lang="en-AU" sz="1700" dirty="0"/>
        </a:p>
      </dgm:t>
    </dgm:pt>
    <dgm:pt modelId="{1F726833-B368-4F84-9B5F-14793A9E47BD}" type="parTrans" cxnId="{4E0EDB2F-4793-4D9E-8772-1CD2811816E7}">
      <dgm:prSet/>
      <dgm:spPr/>
      <dgm:t>
        <a:bodyPr/>
        <a:lstStyle/>
        <a:p>
          <a:endParaRPr lang="en-AU"/>
        </a:p>
      </dgm:t>
    </dgm:pt>
    <dgm:pt modelId="{5AB2BB5D-CDA7-4334-8160-A7A69501A4D1}" type="sibTrans" cxnId="{4E0EDB2F-4793-4D9E-8772-1CD2811816E7}">
      <dgm:prSet/>
      <dgm:spPr/>
      <dgm:t>
        <a:bodyPr/>
        <a:lstStyle/>
        <a:p>
          <a:endParaRPr lang="en-AU"/>
        </a:p>
      </dgm:t>
    </dgm:pt>
    <dgm:pt modelId="{37B439E4-D8D9-40D3-82A2-20C71EA8B96E}">
      <dgm:prSet phldrT="[Text]" custT="1"/>
      <dgm:spPr/>
      <dgm:t>
        <a:bodyPr/>
        <a:lstStyle/>
        <a:p>
          <a:r>
            <a:rPr lang="en-AU" sz="2000" dirty="0" smtClean="0"/>
            <a:t>Extensive sources of raw material. E.G gold, iron ore, oil, timber.</a:t>
          </a:r>
          <a:endParaRPr lang="en-AU" sz="2000" dirty="0"/>
        </a:p>
      </dgm:t>
    </dgm:pt>
    <dgm:pt modelId="{3B5B2AA7-5BA8-424F-8344-6B667CBB0EE1}" type="parTrans" cxnId="{FFEC332A-261B-47FC-9F00-7968A85F6AEB}">
      <dgm:prSet/>
      <dgm:spPr/>
      <dgm:t>
        <a:bodyPr/>
        <a:lstStyle/>
        <a:p>
          <a:endParaRPr lang="en-AU"/>
        </a:p>
      </dgm:t>
    </dgm:pt>
    <dgm:pt modelId="{B1AD3C7E-025D-44AF-A8BE-8538FDD564CE}" type="sibTrans" cxnId="{FFEC332A-261B-47FC-9F00-7968A85F6AEB}">
      <dgm:prSet/>
      <dgm:spPr/>
      <dgm:t>
        <a:bodyPr/>
        <a:lstStyle/>
        <a:p>
          <a:endParaRPr lang="en-AU"/>
        </a:p>
      </dgm:t>
    </dgm:pt>
    <dgm:pt modelId="{AA7B1886-A009-4512-A028-0F3B840F73F6}">
      <dgm:prSet phldrT="[Text]"/>
      <dgm:spPr/>
      <dgm:t>
        <a:bodyPr/>
        <a:lstStyle/>
        <a:p>
          <a:r>
            <a:rPr lang="en-AU" dirty="0" smtClean="0"/>
            <a:t>A growing demand for goods from a young population</a:t>
          </a:r>
          <a:endParaRPr lang="en-AU" dirty="0"/>
        </a:p>
      </dgm:t>
    </dgm:pt>
    <dgm:pt modelId="{A6604FF8-D14D-41B0-8BC8-2243911C0DA4}" type="parTrans" cxnId="{B1DF741D-F0F4-4989-85BF-048026B4128E}">
      <dgm:prSet/>
      <dgm:spPr/>
      <dgm:t>
        <a:bodyPr/>
        <a:lstStyle/>
        <a:p>
          <a:endParaRPr lang="en-AU"/>
        </a:p>
      </dgm:t>
    </dgm:pt>
    <dgm:pt modelId="{2999AF5E-6954-43DD-A07A-0F88D880FFC5}" type="sibTrans" cxnId="{B1DF741D-F0F4-4989-85BF-048026B4128E}">
      <dgm:prSet/>
      <dgm:spPr/>
      <dgm:t>
        <a:bodyPr/>
        <a:lstStyle/>
        <a:p>
          <a:endParaRPr lang="en-AU"/>
        </a:p>
      </dgm:t>
    </dgm:pt>
    <dgm:pt modelId="{8B30E1FD-4510-428B-B478-C222E1EB7CAA}" type="pres">
      <dgm:prSet presAssocID="{4B1F7995-DFAA-47F5-A39C-1D95BD378B30}" presName="composite" presStyleCnt="0">
        <dgm:presLayoutVars>
          <dgm:chMax val="1"/>
          <dgm:dir/>
          <dgm:resizeHandles val="exact"/>
        </dgm:presLayoutVars>
      </dgm:prSet>
      <dgm:spPr/>
      <dgm:t>
        <a:bodyPr/>
        <a:lstStyle/>
        <a:p>
          <a:endParaRPr lang="en-AU"/>
        </a:p>
      </dgm:t>
    </dgm:pt>
    <dgm:pt modelId="{03F7A60A-FFCE-4798-96A0-65AF8BBC7CDC}" type="pres">
      <dgm:prSet presAssocID="{4B1F7995-DFAA-47F5-A39C-1D95BD378B30}" presName="radial" presStyleCnt="0">
        <dgm:presLayoutVars>
          <dgm:animLvl val="ctr"/>
        </dgm:presLayoutVars>
      </dgm:prSet>
      <dgm:spPr/>
      <dgm:t>
        <a:bodyPr/>
        <a:lstStyle/>
        <a:p>
          <a:endParaRPr lang="en-AU"/>
        </a:p>
      </dgm:t>
    </dgm:pt>
    <dgm:pt modelId="{FD82FB9F-A974-4683-AC39-82E421D9AFFF}" type="pres">
      <dgm:prSet presAssocID="{6FB366FC-9930-4C1A-98E9-01DF60F27E65}" presName="centerShape" presStyleLbl="vennNode1" presStyleIdx="0" presStyleCnt="7" custScaleX="84249" custScaleY="86836"/>
      <dgm:spPr/>
      <dgm:t>
        <a:bodyPr/>
        <a:lstStyle/>
        <a:p>
          <a:endParaRPr lang="en-AU"/>
        </a:p>
      </dgm:t>
    </dgm:pt>
    <dgm:pt modelId="{70D7AB6A-90B5-44DE-A00B-C37275CB039E}" type="pres">
      <dgm:prSet presAssocID="{A3B50B9C-1317-4F93-B160-DA31E9D92B4F}" presName="node" presStyleLbl="vennNode1" presStyleIdx="1" presStyleCnt="7">
        <dgm:presLayoutVars>
          <dgm:bulletEnabled val="1"/>
        </dgm:presLayoutVars>
      </dgm:prSet>
      <dgm:spPr/>
      <dgm:t>
        <a:bodyPr/>
        <a:lstStyle/>
        <a:p>
          <a:endParaRPr lang="en-AU"/>
        </a:p>
      </dgm:t>
    </dgm:pt>
    <dgm:pt modelId="{86761814-0E52-4D22-AD59-E2AE6C673992}" type="pres">
      <dgm:prSet presAssocID="{ED51A3EA-36C2-4C3C-AB92-5080A88A92A7}" presName="node" presStyleLbl="vennNode1" presStyleIdx="2" presStyleCnt="7" custScaleX="118011" custScaleY="120098">
        <dgm:presLayoutVars>
          <dgm:bulletEnabled val="1"/>
        </dgm:presLayoutVars>
      </dgm:prSet>
      <dgm:spPr/>
      <dgm:t>
        <a:bodyPr/>
        <a:lstStyle/>
        <a:p>
          <a:endParaRPr lang="en-AU"/>
        </a:p>
      </dgm:t>
    </dgm:pt>
    <dgm:pt modelId="{6CCD080E-C664-49B2-84C9-2B340820BA56}" type="pres">
      <dgm:prSet presAssocID="{552586F5-E560-4343-BFF6-2E9094154558}" presName="node" presStyleLbl="vennNode1" presStyleIdx="3" presStyleCnt="7" custScaleX="118489" custScaleY="119144" custRadScaleRad="100407" custRadScaleInc="299">
        <dgm:presLayoutVars>
          <dgm:bulletEnabled val="1"/>
        </dgm:presLayoutVars>
      </dgm:prSet>
      <dgm:spPr/>
      <dgm:t>
        <a:bodyPr/>
        <a:lstStyle/>
        <a:p>
          <a:endParaRPr lang="en-AU"/>
        </a:p>
      </dgm:t>
    </dgm:pt>
    <dgm:pt modelId="{80B8AEDA-B28A-4A3C-ABF3-0661F7CDF160}" type="pres">
      <dgm:prSet presAssocID="{37B439E4-D8D9-40D3-82A2-20C71EA8B96E}" presName="node" presStyleLbl="vennNode1" presStyleIdx="4" presStyleCnt="7" custScaleX="111969" custScaleY="109535">
        <dgm:presLayoutVars>
          <dgm:bulletEnabled val="1"/>
        </dgm:presLayoutVars>
      </dgm:prSet>
      <dgm:spPr/>
      <dgm:t>
        <a:bodyPr/>
        <a:lstStyle/>
        <a:p>
          <a:endParaRPr lang="en-AU"/>
        </a:p>
      </dgm:t>
    </dgm:pt>
    <dgm:pt modelId="{E22F9C51-BA18-4E0E-9FA5-7BCD6064ACCD}" type="pres">
      <dgm:prSet presAssocID="{684F3F6F-461A-436F-981C-AB5660AF7311}" presName="node" presStyleLbl="vennNode1" presStyleIdx="5" presStyleCnt="7" custScaleX="113528" custScaleY="111572">
        <dgm:presLayoutVars>
          <dgm:bulletEnabled val="1"/>
        </dgm:presLayoutVars>
      </dgm:prSet>
      <dgm:spPr/>
      <dgm:t>
        <a:bodyPr/>
        <a:lstStyle/>
        <a:p>
          <a:endParaRPr lang="en-AU"/>
        </a:p>
      </dgm:t>
    </dgm:pt>
    <dgm:pt modelId="{44FDAC28-885B-4793-BD08-D184445E8863}" type="pres">
      <dgm:prSet presAssocID="{AA7B1886-A009-4512-A028-0F3B840F73F6}" presName="node" presStyleLbl="vennNode1" presStyleIdx="6" presStyleCnt="7" custScaleX="119114" custScaleY="112527">
        <dgm:presLayoutVars>
          <dgm:bulletEnabled val="1"/>
        </dgm:presLayoutVars>
      </dgm:prSet>
      <dgm:spPr/>
      <dgm:t>
        <a:bodyPr/>
        <a:lstStyle/>
        <a:p>
          <a:endParaRPr lang="en-AU"/>
        </a:p>
      </dgm:t>
    </dgm:pt>
  </dgm:ptLst>
  <dgm:cxnLst>
    <dgm:cxn modelId="{AB33B4CB-C1CB-473D-9E3F-946CC365044E}" srcId="{6FB366FC-9930-4C1A-98E9-01DF60F27E65}" destId="{552586F5-E560-4343-BFF6-2E9094154558}" srcOrd="2" destOrd="0" parTransId="{9EB79861-CB0D-4B64-83B9-06FEE1645684}" sibTransId="{51A143B3-6EA3-424B-8AA7-01FBDC6C8DD3}"/>
    <dgm:cxn modelId="{FFEC332A-261B-47FC-9F00-7968A85F6AEB}" srcId="{6FB366FC-9930-4C1A-98E9-01DF60F27E65}" destId="{37B439E4-D8D9-40D3-82A2-20C71EA8B96E}" srcOrd="3" destOrd="0" parTransId="{3B5B2AA7-5BA8-424F-8344-6B667CBB0EE1}" sibTransId="{B1AD3C7E-025D-44AF-A8BE-8538FDD564CE}"/>
    <dgm:cxn modelId="{A7FE778F-AF09-4E09-BAFD-60A99D402299}" srcId="{4B1F7995-DFAA-47F5-A39C-1D95BD378B30}" destId="{6FB366FC-9930-4C1A-98E9-01DF60F27E65}" srcOrd="0" destOrd="0" parTransId="{BB299E55-D922-4900-BE35-7BB2482EB94F}" sibTransId="{505B43A0-F78E-4C99-A716-04877CDE0F25}"/>
    <dgm:cxn modelId="{3E3F6582-5348-4613-B0D5-8D84F6F61115}" srcId="{6FB366FC-9930-4C1A-98E9-01DF60F27E65}" destId="{ED51A3EA-36C2-4C3C-AB92-5080A88A92A7}" srcOrd="1" destOrd="0" parTransId="{7BAD0204-7CE7-4087-AB36-0A6A0D73D362}" sibTransId="{83ED23D0-9B55-4C32-BA2A-BBF8013B2419}"/>
    <dgm:cxn modelId="{7DA20DF3-6FAB-40CD-95F5-312572DA9A14}" type="presOf" srcId="{4B1F7995-DFAA-47F5-A39C-1D95BD378B30}" destId="{8B30E1FD-4510-428B-B478-C222E1EB7CAA}" srcOrd="0" destOrd="0" presId="urn:microsoft.com/office/officeart/2005/8/layout/radial3"/>
    <dgm:cxn modelId="{3BD8EF67-4CE6-4384-AC15-4427F7589C41}" type="presOf" srcId="{37B439E4-D8D9-40D3-82A2-20C71EA8B96E}" destId="{80B8AEDA-B28A-4A3C-ABF3-0661F7CDF160}" srcOrd="0" destOrd="0" presId="urn:microsoft.com/office/officeart/2005/8/layout/radial3"/>
    <dgm:cxn modelId="{06968211-0C8E-4AEE-A42A-984DB9DE3C02}" type="presOf" srcId="{AA7B1886-A009-4512-A028-0F3B840F73F6}" destId="{44FDAC28-885B-4793-BD08-D184445E8863}" srcOrd="0" destOrd="0" presId="urn:microsoft.com/office/officeart/2005/8/layout/radial3"/>
    <dgm:cxn modelId="{B1DF741D-F0F4-4989-85BF-048026B4128E}" srcId="{6FB366FC-9930-4C1A-98E9-01DF60F27E65}" destId="{AA7B1886-A009-4512-A028-0F3B840F73F6}" srcOrd="5" destOrd="0" parTransId="{A6604FF8-D14D-41B0-8BC8-2243911C0DA4}" sibTransId="{2999AF5E-6954-43DD-A07A-0F88D880FFC5}"/>
    <dgm:cxn modelId="{1C224872-45E8-41BD-871B-FF26FA0BDB38}" type="presOf" srcId="{A3B50B9C-1317-4F93-B160-DA31E9D92B4F}" destId="{70D7AB6A-90B5-44DE-A00B-C37275CB039E}" srcOrd="0" destOrd="0" presId="urn:microsoft.com/office/officeart/2005/8/layout/radial3"/>
    <dgm:cxn modelId="{4E0EDB2F-4793-4D9E-8772-1CD2811816E7}" srcId="{6FB366FC-9930-4C1A-98E9-01DF60F27E65}" destId="{684F3F6F-461A-436F-981C-AB5660AF7311}" srcOrd="4" destOrd="0" parTransId="{1F726833-B368-4F84-9B5F-14793A9E47BD}" sibTransId="{5AB2BB5D-CDA7-4334-8160-A7A69501A4D1}"/>
    <dgm:cxn modelId="{10CE7123-4E6A-4E6D-8CDF-FEA2A275CF22}" type="presOf" srcId="{684F3F6F-461A-436F-981C-AB5660AF7311}" destId="{E22F9C51-BA18-4E0E-9FA5-7BCD6064ACCD}" srcOrd="0" destOrd="0" presId="urn:microsoft.com/office/officeart/2005/8/layout/radial3"/>
    <dgm:cxn modelId="{A7099134-A487-4525-A63A-A668AEC47346}" type="presOf" srcId="{552586F5-E560-4343-BFF6-2E9094154558}" destId="{6CCD080E-C664-49B2-84C9-2B340820BA56}" srcOrd="0" destOrd="0" presId="urn:microsoft.com/office/officeart/2005/8/layout/radial3"/>
    <dgm:cxn modelId="{BE28A849-D039-44D5-B875-AFC8CC943159}" srcId="{6FB366FC-9930-4C1A-98E9-01DF60F27E65}" destId="{A3B50B9C-1317-4F93-B160-DA31E9D92B4F}" srcOrd="0" destOrd="0" parTransId="{9351A242-A842-4BEF-B192-3B9896D6EAF7}" sibTransId="{F589F510-A28C-426D-92AC-576685678197}"/>
    <dgm:cxn modelId="{38EEE89B-4344-4CC1-B092-7435727ECDD0}" type="presOf" srcId="{6FB366FC-9930-4C1A-98E9-01DF60F27E65}" destId="{FD82FB9F-A974-4683-AC39-82E421D9AFFF}" srcOrd="0" destOrd="0" presId="urn:microsoft.com/office/officeart/2005/8/layout/radial3"/>
    <dgm:cxn modelId="{54B30B2B-F0D2-4F92-9542-D73C562FE64D}" type="presOf" srcId="{ED51A3EA-36C2-4C3C-AB92-5080A88A92A7}" destId="{86761814-0E52-4D22-AD59-E2AE6C673992}" srcOrd="0" destOrd="0" presId="urn:microsoft.com/office/officeart/2005/8/layout/radial3"/>
    <dgm:cxn modelId="{1CE1DACF-02FD-4BBB-91E1-D202B00CE563}" type="presParOf" srcId="{8B30E1FD-4510-428B-B478-C222E1EB7CAA}" destId="{03F7A60A-FFCE-4798-96A0-65AF8BBC7CDC}" srcOrd="0" destOrd="0" presId="urn:microsoft.com/office/officeart/2005/8/layout/radial3"/>
    <dgm:cxn modelId="{2BE3261E-A6EB-4F85-90A5-E36F3D8EEE82}" type="presParOf" srcId="{03F7A60A-FFCE-4798-96A0-65AF8BBC7CDC}" destId="{FD82FB9F-A974-4683-AC39-82E421D9AFFF}" srcOrd="0" destOrd="0" presId="urn:microsoft.com/office/officeart/2005/8/layout/radial3"/>
    <dgm:cxn modelId="{7FA3DFB6-5262-42FE-A81A-AF3A293A0755}" type="presParOf" srcId="{03F7A60A-FFCE-4798-96A0-65AF8BBC7CDC}" destId="{70D7AB6A-90B5-44DE-A00B-C37275CB039E}" srcOrd="1" destOrd="0" presId="urn:microsoft.com/office/officeart/2005/8/layout/radial3"/>
    <dgm:cxn modelId="{F853BBC5-D7C5-47EC-A40F-6273448F6C64}" type="presParOf" srcId="{03F7A60A-FFCE-4798-96A0-65AF8BBC7CDC}" destId="{86761814-0E52-4D22-AD59-E2AE6C673992}" srcOrd="2" destOrd="0" presId="urn:microsoft.com/office/officeart/2005/8/layout/radial3"/>
    <dgm:cxn modelId="{A38DE948-C279-4064-872C-350E4B4EABD4}" type="presParOf" srcId="{03F7A60A-FFCE-4798-96A0-65AF8BBC7CDC}" destId="{6CCD080E-C664-49B2-84C9-2B340820BA56}" srcOrd="3" destOrd="0" presId="urn:microsoft.com/office/officeart/2005/8/layout/radial3"/>
    <dgm:cxn modelId="{FBE0353C-B451-46FA-9DCD-F2E931F97C05}" type="presParOf" srcId="{03F7A60A-FFCE-4798-96A0-65AF8BBC7CDC}" destId="{80B8AEDA-B28A-4A3C-ABF3-0661F7CDF160}" srcOrd="4" destOrd="0" presId="urn:microsoft.com/office/officeart/2005/8/layout/radial3"/>
    <dgm:cxn modelId="{BBDB9F33-95EE-4F94-993A-3C5EE1D8F635}" type="presParOf" srcId="{03F7A60A-FFCE-4798-96A0-65AF8BBC7CDC}" destId="{E22F9C51-BA18-4E0E-9FA5-7BCD6064ACCD}" srcOrd="5" destOrd="0" presId="urn:microsoft.com/office/officeart/2005/8/layout/radial3"/>
    <dgm:cxn modelId="{50578B29-E8E0-44F8-A2F1-9D81259BBFE5}" type="presParOf" srcId="{03F7A60A-FFCE-4798-96A0-65AF8BBC7CDC}" destId="{44FDAC28-885B-4793-BD08-D184445E8863}" srcOrd="6" destOrd="0" presId="urn:microsoft.com/office/officeart/2005/8/layout/radial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D82FB9F-A974-4683-AC39-82E421D9AFFF}">
      <dsp:nvSpPr>
        <dsp:cNvPr id="0" name=""/>
        <dsp:cNvSpPr/>
      </dsp:nvSpPr>
      <dsp:spPr>
        <a:xfrm>
          <a:off x="2972536" y="1732019"/>
          <a:ext cx="3204871" cy="3303282"/>
        </a:xfrm>
        <a:prstGeom prst="ellipse">
          <a:avLst/>
        </a:prstGeom>
        <a:solidFill>
          <a:schemeClr val="accent4">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44450" tIns="44450" rIns="44450" bIns="44450" numCol="1" spcCol="1270" anchor="ctr" anchorCtr="0">
          <a:noAutofit/>
        </a:bodyPr>
        <a:lstStyle/>
        <a:p>
          <a:pPr lvl="0" algn="ctr" defTabSz="1555750">
            <a:lnSpc>
              <a:spcPct val="90000"/>
            </a:lnSpc>
            <a:spcBef>
              <a:spcPct val="0"/>
            </a:spcBef>
            <a:spcAft>
              <a:spcPct val="35000"/>
            </a:spcAft>
          </a:pPr>
          <a:r>
            <a:rPr lang="en-AU" sz="3500" kern="1200" dirty="0" smtClean="0"/>
            <a:t>America’s unique advantages.</a:t>
          </a:r>
          <a:endParaRPr lang="en-AU" sz="3500" kern="1200" dirty="0"/>
        </a:p>
      </dsp:txBody>
      <dsp:txXfrm>
        <a:off x="2972536" y="1732019"/>
        <a:ext cx="3204871" cy="3303282"/>
      </dsp:txXfrm>
    </dsp:sp>
    <dsp:sp modelId="{70D7AB6A-90B5-44DE-A00B-C37275CB039E}">
      <dsp:nvSpPr>
        <dsp:cNvPr id="0" name=""/>
        <dsp:cNvSpPr/>
      </dsp:nvSpPr>
      <dsp:spPr>
        <a:xfrm>
          <a:off x="3623960" y="-44660"/>
          <a:ext cx="1902023" cy="1902023"/>
        </a:xfrm>
        <a:prstGeom prst="ellipse">
          <a:avLst/>
        </a:prstGeom>
        <a:solidFill>
          <a:schemeClr val="accent4">
            <a:alpha val="50000"/>
            <a:hueOff val="-744128"/>
            <a:satOff val="4483"/>
            <a:lumOff val="3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A strong transport system</a:t>
          </a:r>
          <a:endParaRPr lang="en-AU" sz="2000" kern="1200" dirty="0"/>
        </a:p>
      </dsp:txBody>
      <dsp:txXfrm>
        <a:off x="3623960" y="-44660"/>
        <a:ext cx="1902023" cy="1902023"/>
      </dsp:txXfrm>
    </dsp:sp>
    <dsp:sp modelId="{86761814-0E52-4D22-AD59-E2AE6C673992}">
      <dsp:nvSpPr>
        <dsp:cNvPr id="0" name=""/>
        <dsp:cNvSpPr/>
      </dsp:nvSpPr>
      <dsp:spPr>
        <a:xfrm>
          <a:off x="5598086" y="1002859"/>
          <a:ext cx="2244596" cy="2284292"/>
        </a:xfrm>
        <a:prstGeom prst="ellipse">
          <a:avLst/>
        </a:prstGeom>
        <a:solidFill>
          <a:schemeClr val="accent4">
            <a:alpha val="50000"/>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Unified, peaceful nation</a:t>
          </a:r>
          <a:endParaRPr lang="en-AU" sz="2000" kern="1200" dirty="0"/>
        </a:p>
      </dsp:txBody>
      <dsp:txXfrm>
        <a:off x="5598086" y="1002859"/>
        <a:ext cx="2244596" cy="2284292"/>
      </dsp:txXfrm>
    </dsp:sp>
    <dsp:sp modelId="{6CCD080E-C664-49B2-84C9-2B340820BA56}">
      <dsp:nvSpPr>
        <dsp:cNvPr id="0" name=""/>
        <dsp:cNvSpPr/>
      </dsp:nvSpPr>
      <dsp:spPr>
        <a:xfrm>
          <a:off x="5598367" y="3501021"/>
          <a:ext cx="2253688" cy="2266146"/>
        </a:xfrm>
        <a:prstGeom prst="ellipse">
          <a:avLst/>
        </a:prstGeom>
        <a:solidFill>
          <a:schemeClr val="accent4">
            <a:alpha val="50000"/>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A nation without external enemies</a:t>
          </a:r>
          <a:endParaRPr lang="en-AU" sz="2000" kern="1200" dirty="0"/>
        </a:p>
      </dsp:txBody>
      <dsp:txXfrm>
        <a:off x="5598367" y="3501021"/>
        <a:ext cx="2253688" cy="2266146"/>
      </dsp:txXfrm>
    </dsp:sp>
    <dsp:sp modelId="{80B8AEDA-B28A-4A3C-ABF3-0661F7CDF160}">
      <dsp:nvSpPr>
        <dsp:cNvPr id="0" name=""/>
        <dsp:cNvSpPr/>
      </dsp:nvSpPr>
      <dsp:spPr>
        <a:xfrm>
          <a:off x="3510133" y="4819279"/>
          <a:ext cx="2129676" cy="2083381"/>
        </a:xfrm>
        <a:prstGeom prst="ellipse">
          <a:avLst/>
        </a:prstGeom>
        <a:solidFill>
          <a:schemeClr val="accent4">
            <a:alpha val="50000"/>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Extensive sources of raw material. E.G gold, iron ore, oil, timber.</a:t>
          </a:r>
          <a:endParaRPr lang="en-AU" sz="2000" kern="1200" dirty="0"/>
        </a:p>
      </dsp:txBody>
      <dsp:txXfrm>
        <a:off x="3510133" y="4819279"/>
        <a:ext cx="2129676" cy="2083381"/>
      </dsp:txXfrm>
    </dsp:sp>
    <dsp:sp modelId="{E22F9C51-BA18-4E0E-9FA5-7BCD6064ACCD}">
      <dsp:nvSpPr>
        <dsp:cNvPr id="0" name=""/>
        <dsp:cNvSpPr/>
      </dsp:nvSpPr>
      <dsp:spPr>
        <a:xfrm>
          <a:off x="1349894" y="3561252"/>
          <a:ext cx="2159329" cy="2122125"/>
        </a:xfrm>
        <a:prstGeom prst="ellipse">
          <a:avLst/>
        </a:prstGeom>
        <a:solidFill>
          <a:schemeClr val="accent4">
            <a:alpha val="50000"/>
            <a:hueOff val="-3720641"/>
            <a:satOff val="22416"/>
            <a:lumOff val="179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Large scale immigration, providing new workers and new consumers</a:t>
          </a:r>
          <a:r>
            <a:rPr lang="en-AU" sz="1700" kern="1200" dirty="0" smtClean="0"/>
            <a:t>.</a:t>
          </a:r>
          <a:endParaRPr lang="en-AU" sz="1700" kern="1200" dirty="0"/>
        </a:p>
      </dsp:txBody>
      <dsp:txXfrm>
        <a:off x="1349894" y="3561252"/>
        <a:ext cx="2159329" cy="2122125"/>
      </dsp:txXfrm>
    </dsp:sp>
    <dsp:sp modelId="{44FDAC28-885B-4793-BD08-D184445E8863}">
      <dsp:nvSpPr>
        <dsp:cNvPr id="0" name=""/>
        <dsp:cNvSpPr/>
      </dsp:nvSpPr>
      <dsp:spPr>
        <a:xfrm>
          <a:off x="1296771" y="1074860"/>
          <a:ext cx="2265576" cy="2140289"/>
        </a:xfrm>
        <a:prstGeom prst="ellipse">
          <a:avLst/>
        </a:prstGeom>
        <a:solidFill>
          <a:schemeClr val="accent4">
            <a:alpha val="50000"/>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AU" sz="2000" kern="1200" dirty="0" smtClean="0"/>
            <a:t>A growing demand for goods from a young population</a:t>
          </a:r>
          <a:endParaRPr lang="en-AU" sz="2000" kern="1200" dirty="0"/>
        </a:p>
      </dsp:txBody>
      <dsp:txXfrm>
        <a:off x="1296771" y="1074860"/>
        <a:ext cx="2265576" cy="2140289"/>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9C6FFE9-6B23-4EDC-A9E8-D2AE9331ADA3}" type="datetimeFigureOut">
              <a:rPr lang="en-AU" smtClean="0"/>
              <a:pPr/>
              <a:t>18/11/2013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0F744D-F396-403C-9820-B8D51E5B16F4}"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31000"/>
            <a:lum/>
          </a:blip>
          <a:srcRect/>
          <a:stretch>
            <a:fillRect l="-7000" r="-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C6FFE9-6B23-4EDC-A9E8-D2AE9331ADA3}" type="datetimeFigureOut">
              <a:rPr lang="en-AU" smtClean="0"/>
              <a:pPr/>
              <a:t>18/11/2013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0F744D-F396-403C-9820-B8D51E5B16F4}" type="slidenum">
              <a:rPr lang="en-AU" smtClean="0"/>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4000"/>
            <a:lum/>
          </a:blip>
          <a:srcRect/>
          <a:stretch>
            <a:fillRect l="-7000" r="-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6600" b="1" dirty="0" smtClean="0"/>
              <a:t>The Industrialisation of America</a:t>
            </a:r>
            <a:endParaRPr lang="en-AU" sz="6600" b="1" dirty="0"/>
          </a:p>
        </p:txBody>
      </p:sp>
      <p:sp>
        <p:nvSpPr>
          <p:cNvPr id="3" name="Subtitle 2"/>
          <p:cNvSpPr>
            <a:spLocks noGrp="1"/>
          </p:cNvSpPr>
          <p:nvPr>
            <p:ph type="subTitle" idx="1"/>
          </p:nvPr>
        </p:nvSpPr>
        <p:spPr/>
        <p:txBody>
          <a:bodyPr/>
          <a:lstStyle/>
          <a:p>
            <a:r>
              <a:rPr lang="en-AU" dirty="0" smtClean="0">
                <a:solidFill>
                  <a:schemeClr val="tx1"/>
                </a:solidFill>
              </a:rPr>
              <a:t>Unit 2A</a:t>
            </a:r>
            <a:endParaRPr lang="en-AU"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i="1" dirty="0" smtClean="0"/>
              <a:t>Task </a:t>
            </a:r>
            <a:endParaRPr lang="en-AU" b="1" i="1" dirty="0"/>
          </a:p>
        </p:txBody>
      </p:sp>
      <p:sp>
        <p:nvSpPr>
          <p:cNvPr id="3" name="Content Placeholder 2"/>
          <p:cNvSpPr>
            <a:spLocks noGrp="1"/>
          </p:cNvSpPr>
          <p:nvPr>
            <p:ph idx="1"/>
          </p:nvPr>
        </p:nvSpPr>
        <p:spPr>
          <a:xfrm>
            <a:off x="457200" y="1412776"/>
            <a:ext cx="8229600" cy="5112568"/>
          </a:xfrm>
        </p:spPr>
        <p:txBody>
          <a:bodyPr>
            <a:normAutofit/>
          </a:bodyPr>
          <a:lstStyle/>
          <a:p>
            <a:r>
              <a:rPr lang="en-AU" sz="4400" b="1" dirty="0" smtClean="0"/>
              <a:t>Think about what you would expect the blessings and curses of industrialisation to be. Make a list, using your knowledge of the impact of industrialisation in Britain or other countries.</a:t>
            </a:r>
            <a:endParaRPr lang="en-AU" sz="44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lstStyle/>
          <a:p>
            <a:r>
              <a:rPr lang="en-AU" dirty="0" smtClean="0"/>
              <a:t>VOCABULARY</a:t>
            </a:r>
            <a:endParaRPr lang="en-AU" dirty="0"/>
          </a:p>
        </p:txBody>
      </p:sp>
      <p:sp>
        <p:nvSpPr>
          <p:cNvPr id="3" name="Content Placeholder 2"/>
          <p:cNvSpPr>
            <a:spLocks noGrp="1"/>
          </p:cNvSpPr>
          <p:nvPr>
            <p:ph idx="1"/>
          </p:nvPr>
        </p:nvSpPr>
        <p:spPr>
          <a:xfrm>
            <a:off x="323528" y="1052736"/>
            <a:ext cx="8820472" cy="5805264"/>
          </a:xfrm>
        </p:spPr>
        <p:txBody>
          <a:bodyPr/>
          <a:lstStyle/>
          <a:p>
            <a:pPr>
              <a:buNone/>
            </a:pPr>
            <a:r>
              <a:rPr lang="en-AU" b="1" dirty="0" smtClean="0"/>
              <a:t>Capital – </a:t>
            </a:r>
            <a:r>
              <a:rPr lang="en-AU" b="1" i="1" dirty="0" smtClean="0"/>
              <a:t>Wealth acquired in business by an individual or company that is used to create more wealth.</a:t>
            </a:r>
          </a:p>
          <a:p>
            <a:pPr>
              <a:buNone/>
            </a:pPr>
            <a:r>
              <a:rPr lang="en-AU" b="1" dirty="0" smtClean="0"/>
              <a:t>Capitalists – </a:t>
            </a:r>
            <a:r>
              <a:rPr lang="en-AU" b="1" i="1" dirty="0" smtClean="0"/>
              <a:t>Business magnates who have created enormous capital through exploitative business practices.</a:t>
            </a:r>
          </a:p>
          <a:p>
            <a:pPr>
              <a:buNone/>
            </a:pPr>
            <a:r>
              <a:rPr lang="en-AU" b="1" dirty="0" smtClean="0"/>
              <a:t>Consumerism – </a:t>
            </a:r>
            <a:r>
              <a:rPr lang="en-AU" b="1" i="1" dirty="0" smtClean="0"/>
              <a:t>The desire to acquire luxury goods and leisure services</a:t>
            </a:r>
            <a:r>
              <a:rPr lang="en-AU" b="1" dirty="0" smtClean="0"/>
              <a:t>.</a:t>
            </a:r>
          </a:p>
          <a:p>
            <a:pPr>
              <a:buNone/>
            </a:pPr>
            <a:endParaRPr lang="en-AU"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normAutofit/>
          </a:bodyPr>
          <a:lstStyle/>
          <a:p>
            <a:r>
              <a:rPr lang="en-AU" b="1" dirty="0" smtClean="0"/>
              <a:t>Industrialisation – </a:t>
            </a:r>
            <a:r>
              <a:rPr lang="en-AU" b="1" i="1" dirty="0" smtClean="0"/>
              <a:t>The movement from agriculture to manufacturing as the main source of economic growth.</a:t>
            </a:r>
            <a:endParaRPr lang="en-AU" b="1" dirty="0" smtClean="0"/>
          </a:p>
          <a:p>
            <a:r>
              <a:rPr lang="en-AU" b="1" dirty="0" smtClean="0"/>
              <a:t>Trust – </a:t>
            </a:r>
            <a:r>
              <a:rPr lang="en-AU" b="1" i="1" dirty="0" smtClean="0"/>
              <a:t>A combination of companies brought together by magnates to reduce competition within an industry.</a:t>
            </a:r>
          </a:p>
          <a:p>
            <a:r>
              <a:rPr lang="en-AU" b="1" dirty="0" smtClean="0"/>
              <a:t>Union – </a:t>
            </a:r>
            <a:r>
              <a:rPr lang="en-AU" b="1" i="1" dirty="0" smtClean="0"/>
              <a:t>An organisation representing the worker’s interests for the purpose of securing improved wages, a reduction in working hours and safer working conditions – in other words in an attempt to regulate the exploitative activities of capitalists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10146"/>
          </a:xfrm>
        </p:spPr>
        <p:txBody>
          <a:bodyPr>
            <a:normAutofit/>
          </a:bodyPr>
          <a:lstStyle/>
          <a:p>
            <a:r>
              <a:rPr lang="en-AU" sz="5400" b="1" dirty="0" smtClean="0"/>
              <a:t>Causes of Industrialisation</a:t>
            </a:r>
            <a:endParaRPr lang="en-AU" sz="5400" b="1" dirty="0"/>
          </a:p>
        </p:txBody>
      </p:sp>
      <p:sp>
        <p:nvSpPr>
          <p:cNvPr id="3" name="Content Placeholder 2"/>
          <p:cNvSpPr>
            <a:spLocks noGrp="1"/>
          </p:cNvSpPr>
          <p:nvPr>
            <p:ph idx="1"/>
          </p:nvPr>
        </p:nvSpPr>
        <p:spPr>
          <a:xfrm>
            <a:off x="179512" y="1484784"/>
            <a:ext cx="8784976" cy="5112568"/>
          </a:xfrm>
        </p:spPr>
        <p:txBody>
          <a:bodyPr>
            <a:normAutofit/>
          </a:bodyPr>
          <a:lstStyle/>
          <a:p>
            <a:r>
              <a:rPr lang="en-AU" dirty="0" smtClean="0"/>
              <a:t>The Civil War created the demand for guns, ammunition, rail lines, uniforms etc </a:t>
            </a:r>
            <a:r>
              <a:rPr lang="en-AU" dirty="0" err="1" smtClean="0"/>
              <a:t>etc</a:t>
            </a:r>
            <a:r>
              <a:rPr lang="en-AU" dirty="0" smtClean="0"/>
              <a:t>, quickly and in great demand.</a:t>
            </a:r>
          </a:p>
          <a:p>
            <a:r>
              <a:rPr lang="en-AU" dirty="0" smtClean="0"/>
              <a:t>When the war ended in 1865 industrial production kept on growing </a:t>
            </a:r>
            <a:r>
              <a:rPr lang="en-AU" dirty="0" err="1" smtClean="0"/>
              <a:t>fueled</a:t>
            </a:r>
            <a:r>
              <a:rPr lang="en-AU" dirty="0" smtClean="0"/>
              <a:t> by America’s increasing, and increasingly urban-based, population.</a:t>
            </a:r>
          </a:p>
          <a:p>
            <a:r>
              <a:rPr lang="en-AU" dirty="0" smtClean="0"/>
              <a:t>Such growth brought immense wealth to some and desperate poverty.</a:t>
            </a:r>
            <a:endParaRPr lang="en-A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Gilded Age</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The writer Mark Twain called the late 1800’s ‘the Gilded Age’. It was an age when great wealth was created usually from mineral wealth which was converted by business magnates to financial, manufacturing or industrial wealth. </a:t>
            </a:r>
          </a:p>
          <a:p>
            <a:r>
              <a:rPr lang="en-AU" dirty="0" smtClean="0"/>
              <a:t>The key areas of industrial growth were oil, iron, steel, railroads.</a:t>
            </a:r>
          </a:p>
          <a:p>
            <a:r>
              <a:rPr lang="en-AU" dirty="0" smtClean="0"/>
              <a:t>Rapid industrial was propelled by the electrification of industries, transportation, housing and factories.</a:t>
            </a:r>
            <a:endParaRPr lang="en-AU"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AU" dirty="0" smtClean="0"/>
              <a:t>Industrial growth </a:t>
            </a:r>
            <a:endParaRPr lang="en-AU" dirty="0"/>
          </a:p>
        </p:txBody>
      </p:sp>
      <p:sp>
        <p:nvSpPr>
          <p:cNvPr id="3" name="Content Placeholder 2"/>
          <p:cNvSpPr>
            <a:spLocks noGrp="1"/>
          </p:cNvSpPr>
          <p:nvPr>
            <p:ph idx="1"/>
          </p:nvPr>
        </p:nvSpPr>
        <p:spPr>
          <a:xfrm>
            <a:off x="0" y="1052736"/>
            <a:ext cx="9144000" cy="5976664"/>
          </a:xfrm>
        </p:spPr>
        <p:txBody>
          <a:bodyPr>
            <a:normAutofit fontScale="92500"/>
          </a:bodyPr>
          <a:lstStyle/>
          <a:p>
            <a:r>
              <a:rPr lang="en-AU" dirty="0" smtClean="0"/>
              <a:t>From the 1880’s manufacturing overtook agriculture as the most important industry in the US.</a:t>
            </a:r>
          </a:p>
          <a:p>
            <a:r>
              <a:rPr lang="en-AU" dirty="0" smtClean="0"/>
              <a:t>The law making process was compromised by a plutocracy, rule by the rich.</a:t>
            </a:r>
          </a:p>
          <a:p>
            <a:r>
              <a:rPr lang="en-AU" dirty="0" smtClean="0"/>
              <a:t>Many of the senators were millionaires who had made their fortune in mining, retail, transportation or manufacturing.</a:t>
            </a:r>
          </a:p>
          <a:p>
            <a:r>
              <a:rPr lang="en-AU" dirty="0" smtClean="0"/>
              <a:t>Donations to political parties by business magnates to ensure favourable laws and regulations increased as a result of the excesses of the “Gilded Age”.</a:t>
            </a:r>
          </a:p>
          <a:p>
            <a:r>
              <a:rPr lang="en-AU" dirty="0" smtClean="0"/>
              <a:t>Such an undemocratic system became a target for social progressives. </a:t>
            </a:r>
          </a:p>
          <a:p>
            <a:endParaRPr lang="en-AU" dirty="0" smtClean="0"/>
          </a:p>
          <a:p>
            <a:endParaRPr lang="en-A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lstStyle/>
          <a:p>
            <a:r>
              <a:rPr lang="en-AU" dirty="0" smtClean="0"/>
              <a:t>Trusts &amp; business magnates</a:t>
            </a:r>
            <a:endParaRPr lang="en-AU" dirty="0"/>
          </a:p>
        </p:txBody>
      </p:sp>
      <p:sp>
        <p:nvSpPr>
          <p:cNvPr id="3" name="Content Placeholder 2"/>
          <p:cNvSpPr>
            <a:spLocks noGrp="1"/>
          </p:cNvSpPr>
          <p:nvPr>
            <p:ph idx="1"/>
          </p:nvPr>
        </p:nvSpPr>
        <p:spPr>
          <a:xfrm>
            <a:off x="0" y="1052736"/>
            <a:ext cx="9144000" cy="5805264"/>
          </a:xfrm>
        </p:spPr>
        <p:txBody>
          <a:bodyPr/>
          <a:lstStyle/>
          <a:p>
            <a:r>
              <a:rPr lang="en-AU" dirty="0" smtClean="0"/>
              <a:t>Trusts were in effect combinations of corporations that had a monopoly in a particular market. </a:t>
            </a:r>
          </a:p>
          <a:p>
            <a:r>
              <a:rPr lang="en-AU" dirty="0" smtClean="0"/>
              <a:t>By combining their industrial strength, the trustees centralised control of production, patents and capital.</a:t>
            </a:r>
          </a:p>
          <a:p>
            <a:r>
              <a:rPr lang="en-AU" dirty="0" smtClean="0"/>
              <a:t>By 1901 J.P Morgan’s steel trust controlled 60% of the United States’ steel industry.</a:t>
            </a:r>
          </a:p>
          <a:p>
            <a:r>
              <a:rPr lang="en-AU" dirty="0" smtClean="0"/>
              <a:t>In 1901 Morgan employed 168,000 steelworkers, who worked 12 hours a day in dangerous factories.</a:t>
            </a:r>
          </a:p>
          <a:p>
            <a:endParaRPr lang="en-AU"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32656"/>
            <a:ext cx="9144000" cy="6192688"/>
          </a:xfrm>
        </p:spPr>
        <p:txBody>
          <a:bodyPr>
            <a:normAutofit lnSpcReduction="10000"/>
          </a:bodyPr>
          <a:lstStyle/>
          <a:p>
            <a:pPr>
              <a:buNone/>
            </a:pPr>
            <a:r>
              <a:rPr lang="en-AU" dirty="0" smtClean="0"/>
              <a:t>They had very little bargaining power, because;</a:t>
            </a:r>
          </a:p>
          <a:p>
            <a:r>
              <a:rPr lang="en-AU" dirty="0" smtClean="0"/>
              <a:t>The work required unskilled labour.</a:t>
            </a:r>
          </a:p>
          <a:p>
            <a:r>
              <a:rPr lang="en-AU" dirty="0" smtClean="0"/>
              <a:t>There was a lack of education and high illiteracy among steelworkers.</a:t>
            </a:r>
          </a:p>
          <a:p>
            <a:r>
              <a:rPr lang="en-AU" dirty="0" smtClean="0"/>
              <a:t>American workers in the new industrial society were slow to unionise.</a:t>
            </a:r>
          </a:p>
          <a:p>
            <a:r>
              <a:rPr lang="en-AU" dirty="0" smtClean="0"/>
              <a:t>New workers were available at low rates of pay as a result of high immigration.</a:t>
            </a:r>
          </a:p>
          <a:p>
            <a:r>
              <a:rPr lang="en-AU" dirty="0" smtClean="0"/>
              <a:t>The federal government had encouraged industrialisation.</a:t>
            </a:r>
          </a:p>
          <a:p>
            <a:r>
              <a:rPr lang="en-AU" dirty="0" smtClean="0"/>
              <a:t>There was little legislative protection of wages and conditions.</a:t>
            </a:r>
            <a:endParaRPr lang="en-AU"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breaker.jpg"/>
          <p:cNvPicPr>
            <a:picLocks noGrp="1" noChangeAspect="1"/>
          </p:cNvPicPr>
          <p:nvPr>
            <p:ph idx="1"/>
          </p:nvPr>
        </p:nvPicPr>
        <p:blipFill>
          <a:blip r:embed="rId2" cstate="print"/>
          <a:stretch>
            <a:fillRect/>
          </a:stretch>
        </p:blipFill>
        <p:spPr>
          <a:xfrm>
            <a:off x="-1" y="0"/>
            <a:ext cx="9144001" cy="6858000"/>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AU" dirty="0" smtClean="0"/>
              <a:t>Trust-busting</a:t>
            </a:r>
            <a:endParaRPr lang="en-AU" dirty="0"/>
          </a:p>
        </p:txBody>
      </p:sp>
      <p:sp>
        <p:nvSpPr>
          <p:cNvPr id="3" name="Content Placeholder 2"/>
          <p:cNvSpPr>
            <a:spLocks noGrp="1"/>
          </p:cNvSpPr>
          <p:nvPr>
            <p:ph idx="1"/>
          </p:nvPr>
        </p:nvSpPr>
        <p:spPr>
          <a:xfrm>
            <a:off x="179512" y="1052736"/>
            <a:ext cx="8784976" cy="5616624"/>
          </a:xfrm>
        </p:spPr>
        <p:txBody>
          <a:bodyPr>
            <a:normAutofit lnSpcReduction="10000"/>
          </a:bodyPr>
          <a:lstStyle/>
          <a:p>
            <a:r>
              <a:rPr lang="en-AU" dirty="0" smtClean="0"/>
              <a:t>The federal government had previously protected the industrialists in an attempt to stimulate economic growth.</a:t>
            </a:r>
          </a:p>
          <a:p>
            <a:r>
              <a:rPr lang="en-AU" dirty="0" smtClean="0"/>
              <a:t>In 1902 Theodore Roosevelt decided to attack the trusts and regulate them .</a:t>
            </a:r>
          </a:p>
          <a:p>
            <a:r>
              <a:rPr lang="en-AU" dirty="0" smtClean="0"/>
              <a:t>He became known as the ‘trust-buster’ as he took on the powerful and influential business magnates and their political allies. </a:t>
            </a:r>
          </a:p>
          <a:p>
            <a:r>
              <a:rPr lang="en-AU" dirty="0" smtClean="0"/>
              <a:t>He called for a ‘square deal’ for the American workers and consumers and rallied against the excesses of the business magnates.</a:t>
            </a:r>
            <a:endParaRPr lang="en-AU"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lstStyle/>
          <a:p>
            <a:r>
              <a:rPr lang="en-AU" dirty="0" smtClean="0"/>
              <a:t>The Progressive Era 1890-1917</a:t>
            </a:r>
            <a:endParaRPr lang="en-AU" dirty="0"/>
          </a:p>
        </p:txBody>
      </p:sp>
      <p:sp>
        <p:nvSpPr>
          <p:cNvPr id="3" name="Content Placeholder 2"/>
          <p:cNvSpPr>
            <a:spLocks noGrp="1"/>
          </p:cNvSpPr>
          <p:nvPr>
            <p:ph idx="1"/>
          </p:nvPr>
        </p:nvSpPr>
        <p:spPr>
          <a:xfrm>
            <a:off x="0" y="908720"/>
            <a:ext cx="9144000" cy="5949280"/>
          </a:xfrm>
        </p:spPr>
        <p:txBody>
          <a:bodyPr>
            <a:normAutofit lnSpcReduction="10000"/>
          </a:bodyPr>
          <a:lstStyle/>
          <a:p>
            <a:r>
              <a:rPr lang="en-AU" dirty="0" smtClean="0"/>
              <a:t>New focus on the rights of the workers, regulation of business and social justice. The success of the progressives include; </a:t>
            </a:r>
          </a:p>
          <a:p>
            <a:pPr marL="514350" indent="-514350">
              <a:buFont typeface="+mj-lt"/>
              <a:buAutoNum type="arabicPeriod"/>
            </a:pPr>
            <a:r>
              <a:rPr lang="en-AU" dirty="0" smtClean="0"/>
              <a:t>10 hour working day</a:t>
            </a:r>
          </a:p>
          <a:p>
            <a:pPr marL="514350" indent="-514350">
              <a:buFont typeface="+mj-lt"/>
              <a:buAutoNum type="arabicPeriod"/>
            </a:pPr>
            <a:r>
              <a:rPr lang="en-AU" dirty="0" smtClean="0"/>
              <a:t>Establishment of US Department of Commerce in 1903 to investigate corporate behaviour.</a:t>
            </a:r>
          </a:p>
          <a:p>
            <a:pPr marL="514350" indent="-514350">
              <a:buFont typeface="+mj-lt"/>
              <a:buAutoNum type="arabicPeriod"/>
            </a:pPr>
            <a:r>
              <a:rPr lang="en-AU" dirty="0" smtClean="0"/>
              <a:t>The Hepburn Act (1906) which regulated the price the fees railroads could charge. </a:t>
            </a:r>
          </a:p>
          <a:p>
            <a:pPr marL="514350" indent="-514350">
              <a:buFont typeface="+mj-lt"/>
              <a:buAutoNum type="arabicPeriod"/>
            </a:pPr>
            <a:r>
              <a:rPr lang="en-AU" dirty="0" smtClean="0"/>
              <a:t>The end of child labour exploitation.</a:t>
            </a:r>
          </a:p>
          <a:p>
            <a:pPr marL="514350" indent="-514350">
              <a:buFont typeface="+mj-lt"/>
              <a:buAutoNum type="arabicPeriod"/>
            </a:pPr>
            <a:r>
              <a:rPr lang="en-AU" dirty="0" smtClean="0"/>
              <a:t>The promotion of African-American rights to equal employment, education and housing</a:t>
            </a:r>
          </a:p>
          <a:p>
            <a:pPr marL="514350" indent="-514350">
              <a:buFont typeface="+mj-lt"/>
              <a:buAutoNum type="arabicPeriod"/>
            </a:pPr>
            <a:r>
              <a:rPr lang="en-AU" dirty="0" smtClean="0"/>
              <a:t>Increasing women’s suffrage and women’s rights</a:t>
            </a:r>
          </a:p>
          <a:p>
            <a:endParaRPr lang="en-AU"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prog.jpg"/>
          <p:cNvPicPr>
            <a:picLocks noGrp="1" noChangeAspect="1"/>
          </p:cNvPicPr>
          <p:nvPr>
            <p:ph idx="1"/>
          </p:nvPr>
        </p:nvPicPr>
        <p:blipFill>
          <a:blip r:embed="rId2" cstate="print"/>
          <a:stretch>
            <a:fillRect/>
          </a:stretch>
        </p:blipFill>
        <p:spPr>
          <a:xfrm>
            <a:off x="0" y="0"/>
            <a:ext cx="4355976" cy="6858000"/>
          </a:xfrm>
        </p:spPr>
      </p:pic>
      <p:pic>
        <p:nvPicPr>
          <p:cNvPr id="5" name="Picture 4" descr="meat.gif"/>
          <p:cNvPicPr>
            <a:picLocks noChangeAspect="1"/>
          </p:cNvPicPr>
          <p:nvPr/>
        </p:nvPicPr>
        <p:blipFill>
          <a:blip r:embed="rId3" cstate="print"/>
          <a:stretch>
            <a:fillRect/>
          </a:stretch>
        </p:blipFill>
        <p:spPr>
          <a:xfrm>
            <a:off x="4283968" y="0"/>
            <a:ext cx="4860032" cy="6858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AU" dirty="0" smtClean="0"/>
              <a:t>Consumerism</a:t>
            </a:r>
            <a:endParaRPr lang="en-AU" dirty="0"/>
          </a:p>
        </p:txBody>
      </p:sp>
      <p:sp>
        <p:nvSpPr>
          <p:cNvPr id="3" name="Content Placeholder 2"/>
          <p:cNvSpPr>
            <a:spLocks noGrp="1"/>
          </p:cNvSpPr>
          <p:nvPr>
            <p:ph idx="1"/>
          </p:nvPr>
        </p:nvSpPr>
        <p:spPr>
          <a:xfrm>
            <a:off x="251520" y="1196752"/>
            <a:ext cx="4752528" cy="5661248"/>
          </a:xfrm>
        </p:spPr>
        <p:txBody>
          <a:bodyPr>
            <a:normAutofit fontScale="85000" lnSpcReduction="20000"/>
          </a:bodyPr>
          <a:lstStyle/>
          <a:p>
            <a:r>
              <a:rPr lang="en-AU" dirty="0" smtClean="0"/>
              <a:t>The effects of the rise of consumerism in American society were profound. </a:t>
            </a:r>
          </a:p>
          <a:p>
            <a:r>
              <a:rPr lang="en-AU" dirty="0" smtClean="0"/>
              <a:t>Rise of new products.</a:t>
            </a:r>
          </a:p>
          <a:p>
            <a:pPr marL="514350" indent="-514350">
              <a:buFont typeface="+mj-lt"/>
              <a:buAutoNum type="arabicPeriod"/>
            </a:pPr>
            <a:r>
              <a:rPr lang="en-AU" dirty="0" smtClean="0"/>
              <a:t>The Teddy Bear, named after Theodore ‘Teddy’ Roosevelt.</a:t>
            </a:r>
          </a:p>
          <a:p>
            <a:pPr marL="514350" indent="-514350">
              <a:buFont typeface="+mj-lt"/>
              <a:buAutoNum type="arabicPeriod"/>
            </a:pPr>
            <a:r>
              <a:rPr lang="en-AU" dirty="0" smtClean="0"/>
              <a:t>Bicycles</a:t>
            </a:r>
          </a:p>
          <a:p>
            <a:pPr marL="514350" indent="-514350">
              <a:buFont typeface="+mj-lt"/>
              <a:buAutoNum type="arabicPeriod"/>
            </a:pPr>
            <a:r>
              <a:rPr lang="en-AU" dirty="0" smtClean="0"/>
              <a:t>Pianos</a:t>
            </a:r>
          </a:p>
          <a:p>
            <a:pPr marL="514350" indent="-514350">
              <a:buFont typeface="+mj-lt"/>
              <a:buAutoNum type="arabicPeriod"/>
            </a:pPr>
            <a:r>
              <a:rPr lang="en-AU" dirty="0" smtClean="0"/>
              <a:t>Corsets, lingerie and perfume.</a:t>
            </a:r>
          </a:p>
          <a:p>
            <a:pPr marL="514350" indent="-514350">
              <a:buFont typeface="+mj-lt"/>
              <a:buAutoNum type="arabicPeriod"/>
            </a:pPr>
            <a:r>
              <a:rPr lang="en-AU" dirty="0" smtClean="0"/>
              <a:t>Snack food, chewing gum (</a:t>
            </a:r>
            <a:r>
              <a:rPr lang="en-AU" dirty="0" err="1" smtClean="0"/>
              <a:t>Wrigleys</a:t>
            </a:r>
            <a:r>
              <a:rPr lang="en-AU" dirty="0" smtClean="0"/>
              <a:t>) and cigarettes.</a:t>
            </a:r>
          </a:p>
          <a:p>
            <a:pPr marL="514350" indent="-514350">
              <a:buFont typeface="+mj-lt"/>
              <a:buAutoNum type="arabicPeriod"/>
            </a:pPr>
            <a:r>
              <a:rPr lang="en-AU" dirty="0" smtClean="0"/>
              <a:t>Soda pop (Coca-Cola) </a:t>
            </a:r>
          </a:p>
          <a:p>
            <a:pPr marL="514350" indent="-514350">
              <a:buFont typeface="+mj-lt"/>
              <a:buAutoNum type="arabicPeriod"/>
            </a:pPr>
            <a:r>
              <a:rPr lang="en-AU" dirty="0" smtClean="0"/>
              <a:t>Cars (Ford’s Model T)</a:t>
            </a:r>
            <a:endParaRPr lang="en-AU" dirty="0"/>
          </a:p>
        </p:txBody>
      </p:sp>
      <p:pic>
        <p:nvPicPr>
          <p:cNvPr id="4" name="Picture 3" descr="cocoa.jpg"/>
          <p:cNvPicPr>
            <a:picLocks noChangeAspect="1"/>
          </p:cNvPicPr>
          <p:nvPr/>
        </p:nvPicPr>
        <p:blipFill>
          <a:blip r:embed="rId2" cstate="print"/>
          <a:stretch>
            <a:fillRect/>
          </a:stretch>
        </p:blipFill>
        <p:spPr>
          <a:xfrm>
            <a:off x="5364088" y="1268760"/>
            <a:ext cx="3168352" cy="4608512"/>
          </a:xfrm>
          <a:prstGeom prst="rect">
            <a:avLst/>
          </a:prstGeom>
        </p:spPr>
      </p:pic>
      <p:sp>
        <p:nvSpPr>
          <p:cNvPr id="5" name="TextBox 4"/>
          <p:cNvSpPr txBox="1"/>
          <p:nvPr/>
        </p:nvSpPr>
        <p:spPr>
          <a:xfrm>
            <a:off x="5652120" y="6021288"/>
            <a:ext cx="2664296" cy="646331"/>
          </a:xfrm>
          <a:prstGeom prst="rect">
            <a:avLst/>
          </a:prstGeom>
          <a:noFill/>
        </p:spPr>
        <p:txBody>
          <a:bodyPr wrap="square" rtlCol="0">
            <a:spAutoFit/>
          </a:bodyPr>
          <a:lstStyle/>
          <a:p>
            <a:pPr algn="ctr"/>
            <a:r>
              <a:rPr lang="en-AU" i="1" dirty="0" smtClean="0"/>
              <a:t>Early 20</a:t>
            </a:r>
            <a:r>
              <a:rPr lang="en-AU" i="1" baseline="30000" dirty="0" smtClean="0"/>
              <a:t>th</a:t>
            </a:r>
            <a:r>
              <a:rPr lang="en-AU" i="1" dirty="0" smtClean="0"/>
              <a:t> Century Coca-Cola poster.</a:t>
            </a:r>
            <a:endParaRPr lang="en-AU" i="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cocccoa.jpg"/>
          <p:cNvPicPr>
            <a:picLocks noGrp="1" noChangeAspect="1"/>
          </p:cNvPicPr>
          <p:nvPr>
            <p:ph idx="1"/>
          </p:nvPr>
        </p:nvPicPr>
        <p:blipFill>
          <a:blip r:embed="rId2" cstate="print"/>
          <a:stretch>
            <a:fillRect/>
          </a:stretch>
        </p:blipFill>
        <p:spPr>
          <a:xfrm>
            <a:off x="0" y="0"/>
            <a:ext cx="2987824" cy="3645024"/>
          </a:xfrm>
        </p:spPr>
      </p:pic>
      <p:pic>
        <p:nvPicPr>
          <p:cNvPr id="5" name="Picture 4" descr="vaudeville.jpg"/>
          <p:cNvPicPr>
            <a:picLocks noChangeAspect="1"/>
          </p:cNvPicPr>
          <p:nvPr/>
        </p:nvPicPr>
        <p:blipFill>
          <a:blip r:embed="rId3" cstate="print"/>
          <a:stretch>
            <a:fillRect/>
          </a:stretch>
        </p:blipFill>
        <p:spPr>
          <a:xfrm>
            <a:off x="2915816" y="3573016"/>
            <a:ext cx="2736304" cy="3284984"/>
          </a:xfrm>
          <a:prstGeom prst="rect">
            <a:avLst/>
          </a:prstGeom>
        </p:spPr>
      </p:pic>
      <p:pic>
        <p:nvPicPr>
          <p:cNvPr id="6" name="Picture 5" descr="bike.jpg"/>
          <p:cNvPicPr>
            <a:picLocks noChangeAspect="1"/>
          </p:cNvPicPr>
          <p:nvPr/>
        </p:nvPicPr>
        <p:blipFill>
          <a:blip r:embed="rId4" cstate="print"/>
          <a:stretch>
            <a:fillRect/>
          </a:stretch>
        </p:blipFill>
        <p:spPr>
          <a:xfrm>
            <a:off x="2987824" y="0"/>
            <a:ext cx="2664296" cy="3603012"/>
          </a:xfrm>
          <a:prstGeom prst="rect">
            <a:avLst/>
          </a:prstGeom>
        </p:spPr>
      </p:pic>
      <p:pic>
        <p:nvPicPr>
          <p:cNvPr id="7" name="Picture 6" descr="corset.jpg"/>
          <p:cNvPicPr>
            <a:picLocks noChangeAspect="1"/>
          </p:cNvPicPr>
          <p:nvPr/>
        </p:nvPicPr>
        <p:blipFill>
          <a:blip r:embed="rId5" cstate="print"/>
          <a:stretch>
            <a:fillRect/>
          </a:stretch>
        </p:blipFill>
        <p:spPr>
          <a:xfrm>
            <a:off x="0" y="3501009"/>
            <a:ext cx="2915816" cy="3356992"/>
          </a:xfrm>
          <a:prstGeom prst="rect">
            <a:avLst/>
          </a:prstGeom>
        </p:spPr>
      </p:pic>
      <p:pic>
        <p:nvPicPr>
          <p:cNvPr id="8" name="Picture 7" descr="ford_model_t.jpg"/>
          <p:cNvPicPr>
            <a:picLocks noChangeAspect="1"/>
          </p:cNvPicPr>
          <p:nvPr/>
        </p:nvPicPr>
        <p:blipFill>
          <a:blip r:embed="rId6" cstate="print"/>
          <a:stretch>
            <a:fillRect/>
          </a:stretch>
        </p:blipFill>
        <p:spPr>
          <a:xfrm>
            <a:off x="5652120" y="0"/>
            <a:ext cx="3491880" cy="68580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AU" dirty="0" smtClean="0"/>
              <a:t>Leisure</a:t>
            </a:r>
            <a:endParaRPr lang="en-AU" dirty="0"/>
          </a:p>
        </p:txBody>
      </p:sp>
      <p:sp>
        <p:nvSpPr>
          <p:cNvPr id="3" name="Content Placeholder 2"/>
          <p:cNvSpPr>
            <a:spLocks noGrp="1"/>
          </p:cNvSpPr>
          <p:nvPr>
            <p:ph idx="1"/>
          </p:nvPr>
        </p:nvSpPr>
        <p:spPr>
          <a:xfrm>
            <a:off x="251520" y="908720"/>
            <a:ext cx="8640960" cy="5217443"/>
          </a:xfrm>
        </p:spPr>
        <p:txBody>
          <a:bodyPr>
            <a:normAutofit fontScale="92500" lnSpcReduction="20000"/>
          </a:bodyPr>
          <a:lstStyle/>
          <a:p>
            <a:r>
              <a:rPr lang="en-AU" dirty="0" smtClean="0"/>
              <a:t>With the regularity of factory life and increasing urbanisation came the need for leisure activities. </a:t>
            </a:r>
          </a:p>
          <a:p>
            <a:r>
              <a:rPr lang="en-AU" dirty="0" smtClean="0"/>
              <a:t>Sport, music and spectator leisure became important features of the US consumer society from 1898. </a:t>
            </a:r>
          </a:p>
          <a:p>
            <a:r>
              <a:rPr lang="en-AU" dirty="0" smtClean="0"/>
              <a:t>Spectators attended professional baseball and  football games, horseracing and boxing.</a:t>
            </a:r>
          </a:p>
          <a:p>
            <a:r>
              <a:rPr lang="en-AU" dirty="0" smtClean="0"/>
              <a:t>Vaudeville acts and the cinema were attended at least once a week.</a:t>
            </a:r>
          </a:p>
          <a:p>
            <a:r>
              <a:rPr lang="en-AU" dirty="0" smtClean="0"/>
              <a:t>Advertising became increasingly sexualised and women were targeted as consumers of items such as chest developers. </a:t>
            </a:r>
          </a:p>
          <a:p>
            <a:endParaRPr lang="en-AU"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lstStyle/>
          <a:p>
            <a:r>
              <a:rPr lang="en-AU" dirty="0" smtClean="0"/>
              <a:t>Henry Ford &amp; the Model T</a:t>
            </a:r>
            <a:endParaRPr lang="en-AU" dirty="0"/>
          </a:p>
        </p:txBody>
      </p:sp>
      <p:sp>
        <p:nvSpPr>
          <p:cNvPr id="3" name="Content Placeholder 2"/>
          <p:cNvSpPr>
            <a:spLocks noGrp="1"/>
          </p:cNvSpPr>
          <p:nvPr>
            <p:ph idx="1"/>
          </p:nvPr>
        </p:nvSpPr>
        <p:spPr>
          <a:xfrm>
            <a:off x="179512" y="1268760"/>
            <a:ext cx="8712968" cy="5400600"/>
          </a:xfrm>
        </p:spPr>
        <p:txBody>
          <a:bodyPr/>
          <a:lstStyle/>
          <a:p>
            <a:pPr>
              <a:buNone/>
            </a:pPr>
            <a:r>
              <a:rPr lang="en-AU" dirty="0" smtClean="0"/>
              <a:t>TASK 1: Read pp 29-32 of the textbook.</a:t>
            </a:r>
          </a:p>
          <a:p>
            <a:pPr>
              <a:buNone/>
            </a:pPr>
            <a:r>
              <a:rPr lang="en-AU" dirty="0" smtClean="0"/>
              <a:t>TASK 2: Answer questions 1-8.</a:t>
            </a:r>
          </a:p>
          <a:p>
            <a:pPr>
              <a:buNone/>
            </a:pPr>
            <a:endParaRPr lang="en-AU" dirty="0" smtClean="0"/>
          </a:p>
          <a:p>
            <a:pPr>
              <a:buNone/>
            </a:pPr>
            <a:r>
              <a:rPr lang="en-AU" dirty="0" smtClean="0"/>
              <a:t>FOCUS QUESTION: Was industrialisation a blessing or a blight for the USA? Explain why in one paragraph. </a:t>
            </a:r>
            <a:endParaRPr lang="en-A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925</Words>
  <Application>Microsoft Office PowerPoint</Application>
  <PresentationFormat>On-screen Show (4:3)</PresentationFormat>
  <Paragraphs>79</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The Industrialisation of America</vt:lpstr>
      <vt:lpstr>Task </vt:lpstr>
      <vt:lpstr>VOCABULARY</vt:lpstr>
      <vt:lpstr>Slide 4</vt:lpstr>
      <vt:lpstr>Causes of Industrialisation</vt:lpstr>
      <vt:lpstr>Slide 6</vt:lpstr>
      <vt:lpstr>The Gilded Age</vt:lpstr>
      <vt:lpstr>Industrial growth </vt:lpstr>
      <vt:lpstr>Trusts &amp; business magnates</vt:lpstr>
      <vt:lpstr>Slide 10</vt:lpstr>
      <vt:lpstr>Slide 11</vt:lpstr>
      <vt:lpstr>Trust-busting</vt:lpstr>
      <vt:lpstr>The Progressive Era 1890-1917</vt:lpstr>
      <vt:lpstr>Slide 14</vt:lpstr>
      <vt:lpstr>Consumerism</vt:lpstr>
      <vt:lpstr>Slide 16</vt:lpstr>
      <vt:lpstr>Leisure</vt:lpstr>
      <vt:lpstr>Henry Ford &amp; the Model T</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Industrialisation of America</dc:title>
  <dc:creator>peter</dc:creator>
  <cp:lastModifiedBy>peter</cp:lastModifiedBy>
  <cp:revision>28</cp:revision>
  <dcterms:created xsi:type="dcterms:W3CDTF">2013-11-16T08:29:57Z</dcterms:created>
  <dcterms:modified xsi:type="dcterms:W3CDTF">2013-11-18T03:34:48Z</dcterms:modified>
</cp:coreProperties>
</file>
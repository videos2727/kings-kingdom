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5" r:id="rId12"/>
    <p:sldId id="269" r:id="rId13"/>
    <p:sldId id="266" r:id="rId14"/>
    <p:sldId id="267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18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63557-0D20-47B5-AD2B-3DDE972AC0FB}" type="datetimeFigureOut">
              <a:rPr lang="en-AU" smtClean="0"/>
              <a:t>6/12/2013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A8A68-2C50-45F4-8D07-2EA1C35AA8D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63557-0D20-47B5-AD2B-3DDE972AC0FB}" type="datetimeFigureOut">
              <a:rPr lang="en-AU" smtClean="0"/>
              <a:t>6/12/2013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A8A68-2C50-45F4-8D07-2EA1C35AA8D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63557-0D20-47B5-AD2B-3DDE972AC0FB}" type="datetimeFigureOut">
              <a:rPr lang="en-AU" smtClean="0"/>
              <a:t>6/12/2013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A8A68-2C50-45F4-8D07-2EA1C35AA8D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63557-0D20-47B5-AD2B-3DDE972AC0FB}" type="datetimeFigureOut">
              <a:rPr lang="en-AU" smtClean="0"/>
              <a:t>6/12/2013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A8A68-2C50-45F4-8D07-2EA1C35AA8D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63557-0D20-47B5-AD2B-3DDE972AC0FB}" type="datetimeFigureOut">
              <a:rPr lang="en-AU" smtClean="0"/>
              <a:t>6/12/2013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A8A68-2C50-45F4-8D07-2EA1C35AA8D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63557-0D20-47B5-AD2B-3DDE972AC0FB}" type="datetimeFigureOut">
              <a:rPr lang="en-AU" smtClean="0"/>
              <a:t>6/12/2013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A8A68-2C50-45F4-8D07-2EA1C35AA8D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63557-0D20-47B5-AD2B-3DDE972AC0FB}" type="datetimeFigureOut">
              <a:rPr lang="en-AU" smtClean="0"/>
              <a:t>6/12/2013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A8A68-2C50-45F4-8D07-2EA1C35AA8D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63557-0D20-47B5-AD2B-3DDE972AC0FB}" type="datetimeFigureOut">
              <a:rPr lang="en-AU" smtClean="0"/>
              <a:t>6/12/2013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A8A68-2C50-45F4-8D07-2EA1C35AA8D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63557-0D20-47B5-AD2B-3DDE972AC0FB}" type="datetimeFigureOut">
              <a:rPr lang="en-AU" smtClean="0"/>
              <a:t>6/12/2013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A8A68-2C50-45F4-8D07-2EA1C35AA8D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63557-0D20-47B5-AD2B-3DDE972AC0FB}" type="datetimeFigureOut">
              <a:rPr lang="en-AU" smtClean="0"/>
              <a:t>6/12/2013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A8A68-2C50-45F4-8D07-2EA1C35AA8D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63557-0D20-47B5-AD2B-3DDE972AC0FB}" type="datetimeFigureOut">
              <a:rPr lang="en-AU" smtClean="0"/>
              <a:t>6/12/2013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A8A68-2C50-45F4-8D07-2EA1C35AA8D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alphaModFix amt="46000"/>
            <a:lum/>
          </a:blip>
          <a:srcRect/>
          <a:stretch>
            <a:fillRect l="-26000" r="-2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463557-0D20-47B5-AD2B-3DDE972AC0FB}" type="datetimeFigureOut">
              <a:rPr lang="en-AU" smtClean="0"/>
              <a:t>6/12/2013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CA8A68-2C50-45F4-8D07-2EA1C35AA8D4}" type="slidenum">
              <a:rPr lang="en-AU" smtClean="0"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The Harlem </a:t>
            </a:r>
            <a:r>
              <a:rPr lang="en-AU" dirty="0" err="1" smtClean="0"/>
              <a:t>Hellfighters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Unit 2A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08720"/>
          </a:xfrm>
        </p:spPr>
        <p:txBody>
          <a:bodyPr>
            <a:normAutofit/>
          </a:bodyPr>
          <a:lstStyle/>
          <a:p>
            <a:r>
              <a:rPr lang="en-AU" dirty="0" smtClean="0"/>
              <a:t>America enters the war.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258816" cy="4525963"/>
          </a:xfrm>
        </p:spPr>
        <p:txBody>
          <a:bodyPr>
            <a:normAutofit fontScale="85000" lnSpcReduction="10000"/>
          </a:bodyPr>
          <a:lstStyle/>
          <a:p>
            <a:r>
              <a:rPr lang="en-AU" dirty="0" smtClean="0"/>
              <a:t>April </a:t>
            </a:r>
            <a:r>
              <a:rPr lang="en-AU" dirty="0"/>
              <a:t>2, 1917, </a:t>
            </a:r>
            <a:r>
              <a:rPr lang="en-AU" dirty="0" smtClean="0"/>
              <a:t>President </a:t>
            </a:r>
            <a:r>
              <a:rPr lang="en-AU" dirty="0"/>
              <a:t>Wilson asked Congress to declare war on Germany. "The world," he said, "must be made safe for democracy</a:t>
            </a:r>
            <a:r>
              <a:rPr lang="en-AU" dirty="0" smtClean="0"/>
              <a:t>.“</a:t>
            </a:r>
          </a:p>
          <a:p>
            <a:r>
              <a:rPr lang="en-AU" dirty="0" smtClean="0"/>
              <a:t> </a:t>
            </a:r>
            <a:r>
              <a:rPr lang="en-AU" dirty="0"/>
              <a:t>Quickly, Americans swung into action to raise, equip, and ship the American Expeditionary Force to the trenches of Europe. </a:t>
            </a:r>
          </a:p>
        </p:txBody>
      </p:sp>
      <p:pic>
        <p:nvPicPr>
          <p:cNvPr id="4" name="Picture 3" descr="Hattie's Bible Declaration of War 00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932040" y="1052736"/>
            <a:ext cx="3842964" cy="53285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64704"/>
          </a:xfrm>
        </p:spPr>
        <p:txBody>
          <a:bodyPr/>
          <a:lstStyle/>
          <a:p>
            <a:r>
              <a:rPr lang="en-AU" dirty="0" smtClean="0"/>
              <a:t>Harlem </a:t>
            </a:r>
            <a:r>
              <a:rPr lang="en-AU" dirty="0" err="1" smtClean="0"/>
              <a:t>Hellfighters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9952" y="1412776"/>
            <a:ext cx="4546848" cy="4713387"/>
          </a:xfrm>
        </p:spPr>
        <p:txBody>
          <a:bodyPr>
            <a:normAutofit fontScale="85000" lnSpcReduction="10000"/>
          </a:bodyPr>
          <a:lstStyle/>
          <a:p>
            <a:r>
              <a:rPr lang="en-AU" dirty="0"/>
              <a:t>Among the first regiments to arrive in France, and among the most highly decorated when it returned, was the </a:t>
            </a:r>
            <a:r>
              <a:rPr lang="en-AU" dirty="0" smtClean="0"/>
              <a:t>369</a:t>
            </a:r>
            <a:r>
              <a:rPr lang="en-AU" baseline="30000" dirty="0" smtClean="0"/>
              <a:t>th</a:t>
            </a:r>
            <a:r>
              <a:rPr lang="en-AU" dirty="0" smtClean="0"/>
              <a:t>, the </a:t>
            </a:r>
            <a:r>
              <a:rPr lang="en-AU" dirty="0"/>
              <a:t>"Harlem </a:t>
            </a:r>
            <a:r>
              <a:rPr lang="en-AU" dirty="0" err="1"/>
              <a:t>Hellfighters</a:t>
            </a:r>
            <a:r>
              <a:rPr lang="en-AU" dirty="0"/>
              <a:t>." </a:t>
            </a:r>
            <a:endParaRPr lang="en-AU" dirty="0" smtClean="0"/>
          </a:p>
          <a:p>
            <a:r>
              <a:rPr lang="en-AU" dirty="0" smtClean="0"/>
              <a:t>The </a:t>
            </a:r>
            <a:r>
              <a:rPr lang="en-AU" dirty="0"/>
              <a:t>369th was an all-black regiment under the command of mostly white officers including their commander, Colonel William Hayward.</a:t>
            </a:r>
          </a:p>
          <a:p>
            <a:endParaRPr lang="en-AU" dirty="0"/>
          </a:p>
        </p:txBody>
      </p:sp>
      <p:pic>
        <p:nvPicPr>
          <p:cNvPr id="4" name="Picture 3" descr="band-members.g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67544" y="1268760"/>
            <a:ext cx="3456384" cy="50897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Content Placeholder 3" descr="0701001r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95536" y="188640"/>
            <a:ext cx="8280920" cy="666936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Content Placeholder 3" descr="mjhwdeg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67544" y="0"/>
            <a:ext cx="8208912" cy="666936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Content Placeholder 3" descr="WWI Recuriting Poster 1918 234 kbjpg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23528" y="260648"/>
            <a:ext cx="8496944" cy="6336704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/>
          <a:lstStyle/>
          <a:p>
            <a:r>
              <a:rPr lang="en-AU" dirty="0" smtClean="0"/>
              <a:t>Equality in service?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328592"/>
          </a:xfrm>
        </p:spPr>
        <p:txBody>
          <a:bodyPr>
            <a:normAutofit fontScale="92500" lnSpcReduction="10000"/>
          </a:bodyPr>
          <a:lstStyle/>
          <a:p>
            <a:r>
              <a:rPr lang="en-AU" dirty="0"/>
              <a:t>Participation in the war effort was problematic for African Americans.  </a:t>
            </a:r>
            <a:endParaRPr lang="en-AU" dirty="0" smtClean="0"/>
          </a:p>
          <a:p>
            <a:r>
              <a:rPr lang="en-AU" i="1" dirty="0" err="1" smtClean="0"/>
              <a:t>Plessy</a:t>
            </a:r>
            <a:r>
              <a:rPr lang="en-AU" i="1" dirty="0" smtClean="0"/>
              <a:t> </a:t>
            </a:r>
            <a:r>
              <a:rPr lang="en-AU" i="1" dirty="0"/>
              <a:t>v. Ferguson</a:t>
            </a:r>
            <a:r>
              <a:rPr lang="en-AU" dirty="0"/>
              <a:t> (1896) established that the 14th Amendment allowed for separate but equal treatment under the </a:t>
            </a:r>
            <a:r>
              <a:rPr lang="en-AU" dirty="0" smtClean="0"/>
              <a:t>law. </a:t>
            </a:r>
          </a:p>
          <a:p>
            <a:r>
              <a:rPr lang="en-AU" dirty="0" smtClean="0"/>
              <a:t>The </a:t>
            </a:r>
            <a:r>
              <a:rPr lang="en-AU" dirty="0"/>
              <a:t>U.S. Army at this time drafted both black and white men, but they served in segregated units</a:t>
            </a:r>
            <a:r>
              <a:rPr lang="en-AU" dirty="0" smtClean="0"/>
              <a:t>.</a:t>
            </a:r>
          </a:p>
          <a:p>
            <a:r>
              <a:rPr lang="en-AU" dirty="0" smtClean="0"/>
              <a:t> </a:t>
            </a:r>
            <a:r>
              <a:rPr lang="en-AU" dirty="0"/>
              <a:t>After the black community organized protests, the Army finally agreed to train African American officers but it never put them in command of white troops.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832648"/>
          </a:xfrm>
        </p:spPr>
        <p:txBody>
          <a:bodyPr>
            <a:normAutofit/>
          </a:bodyPr>
          <a:lstStyle/>
          <a:p>
            <a:r>
              <a:rPr lang="en-AU" dirty="0"/>
              <a:t>During World War I 380,000 African Americans served in the wartime Army</a:t>
            </a:r>
            <a:r>
              <a:rPr lang="en-AU" dirty="0" smtClean="0"/>
              <a:t>.</a:t>
            </a:r>
          </a:p>
          <a:p>
            <a:r>
              <a:rPr lang="en-AU" dirty="0" smtClean="0"/>
              <a:t> </a:t>
            </a:r>
            <a:r>
              <a:rPr lang="en-AU" dirty="0"/>
              <a:t>Approximately 200,000 of these were sent to Europe</a:t>
            </a:r>
            <a:r>
              <a:rPr lang="en-AU" dirty="0" smtClean="0"/>
              <a:t>.</a:t>
            </a:r>
          </a:p>
          <a:p>
            <a:r>
              <a:rPr lang="en-AU" dirty="0" smtClean="0"/>
              <a:t> </a:t>
            </a:r>
            <a:r>
              <a:rPr lang="en-AU" dirty="0"/>
              <a:t>More than half of those sent abroad were assigned to </a:t>
            </a:r>
            <a:r>
              <a:rPr lang="en-AU" dirty="0" err="1"/>
              <a:t>labor</a:t>
            </a:r>
            <a:r>
              <a:rPr lang="en-AU" dirty="0"/>
              <a:t> and stevedore battalions, but they performed essential duties nonetheless, building roads, bridges, and trenches in support of the front-line battles</a:t>
            </a:r>
            <a:r>
              <a:rPr lang="en-AU" dirty="0" smtClean="0"/>
              <a:t>.</a:t>
            </a:r>
          </a:p>
          <a:p>
            <a:r>
              <a:rPr lang="en-AU" dirty="0" smtClean="0"/>
              <a:t> </a:t>
            </a:r>
            <a:r>
              <a:rPr lang="en-AU" dirty="0"/>
              <a:t>Roughly 42,000 saw combat.</a:t>
            </a:r>
          </a:p>
          <a:p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The </a:t>
            </a:r>
            <a:r>
              <a:rPr lang="en-AU" dirty="0" err="1" smtClean="0"/>
              <a:t>Hellfighters</a:t>
            </a:r>
            <a:r>
              <a:rPr lang="en-AU" dirty="0" smtClean="0"/>
              <a:t> in France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 lnSpcReduction="10000"/>
          </a:bodyPr>
          <a:lstStyle/>
          <a:p>
            <a:r>
              <a:rPr lang="en-AU" dirty="0"/>
              <a:t>The 369th Infantry helped to repel the German offensive and to launch a counteroffensive. </a:t>
            </a:r>
            <a:endParaRPr lang="en-AU" dirty="0" smtClean="0"/>
          </a:p>
          <a:p>
            <a:r>
              <a:rPr lang="en-AU" dirty="0" smtClean="0"/>
              <a:t>With </a:t>
            </a:r>
            <a:r>
              <a:rPr lang="en-AU" dirty="0"/>
              <a:t>the French, the Harlem </a:t>
            </a:r>
            <a:r>
              <a:rPr lang="en-AU" dirty="0" err="1"/>
              <a:t>Hellfighters</a:t>
            </a:r>
            <a:r>
              <a:rPr lang="en-AU" dirty="0"/>
              <a:t> fought at Chateau-Thierry and Belleau Wood. </a:t>
            </a:r>
            <a:endParaRPr lang="en-AU" dirty="0" smtClean="0"/>
          </a:p>
          <a:p>
            <a:r>
              <a:rPr lang="en-AU" dirty="0" smtClean="0"/>
              <a:t>They </a:t>
            </a:r>
            <a:r>
              <a:rPr lang="en-AU" dirty="0"/>
              <a:t>spent 191 days in combat, longer than any other American unit in the war. </a:t>
            </a:r>
            <a:endParaRPr lang="en-AU" dirty="0" smtClean="0"/>
          </a:p>
          <a:p>
            <a:r>
              <a:rPr lang="en-AU" dirty="0" smtClean="0"/>
              <a:t>"</a:t>
            </a:r>
            <a:r>
              <a:rPr lang="en-AU" dirty="0"/>
              <a:t>My men never retire, they go forward or they die," said Colonel Hayward. Indeed, the 369th was the first Allied unit to reach the Rhine.</a:t>
            </a:r>
          </a:p>
          <a:p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Content Placeholder 3" descr="305px-Harlem_Hell_Fighters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83568" y="332656"/>
            <a:ext cx="8208912" cy="5976664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Honour for the </a:t>
            </a:r>
            <a:r>
              <a:rPr lang="en-AU" dirty="0" err="1" smtClean="0"/>
              <a:t>Hellfighters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 fontScale="85000" lnSpcReduction="20000"/>
          </a:bodyPr>
          <a:lstStyle/>
          <a:p>
            <a:r>
              <a:rPr lang="en-AU" dirty="0"/>
              <a:t>The extraordinary </a:t>
            </a:r>
            <a:r>
              <a:rPr lang="en-AU" dirty="0" err="1"/>
              <a:t>valor</a:t>
            </a:r>
            <a:r>
              <a:rPr lang="en-AU" dirty="0"/>
              <a:t> of the 369th earned them fame in Europe and America</a:t>
            </a:r>
            <a:r>
              <a:rPr lang="en-AU" dirty="0" smtClean="0"/>
              <a:t>.</a:t>
            </a:r>
          </a:p>
          <a:p>
            <a:r>
              <a:rPr lang="en-AU" dirty="0" smtClean="0"/>
              <a:t> </a:t>
            </a:r>
            <a:r>
              <a:rPr lang="en-AU" dirty="0"/>
              <a:t>Newspapers headlined the feats of Corporal Henry Johnson and Private Needham Roberts</a:t>
            </a:r>
            <a:r>
              <a:rPr lang="en-AU" dirty="0" smtClean="0"/>
              <a:t>.</a:t>
            </a:r>
          </a:p>
          <a:p>
            <a:r>
              <a:rPr lang="en-AU" dirty="0" smtClean="0"/>
              <a:t> </a:t>
            </a:r>
            <a:r>
              <a:rPr lang="en-AU" dirty="0"/>
              <a:t>In May 1918 they were defending an isolated lookout post on the Western Front, when they were attacked by a German unit. Though wounded, they refused to surrender, fighting on with whatever weapons were at hand</a:t>
            </a:r>
            <a:r>
              <a:rPr lang="en-AU" dirty="0" smtClean="0"/>
              <a:t>.</a:t>
            </a:r>
          </a:p>
          <a:p>
            <a:r>
              <a:rPr lang="en-AU" dirty="0" smtClean="0"/>
              <a:t> </a:t>
            </a:r>
            <a:r>
              <a:rPr lang="en-AU" dirty="0"/>
              <a:t>They were the first Americans awarded the Croix de Guerre, and they were not the only Harlem </a:t>
            </a:r>
            <a:r>
              <a:rPr lang="en-AU" dirty="0" err="1"/>
              <a:t>Hellfighters</a:t>
            </a:r>
            <a:r>
              <a:rPr lang="en-AU" dirty="0"/>
              <a:t> to win awards; 171 of its officers and men received individual medals and the unit received a Croix de Guerre for taking </a:t>
            </a:r>
            <a:r>
              <a:rPr lang="en-AU" dirty="0" err="1"/>
              <a:t>Sechault</a:t>
            </a:r>
            <a:r>
              <a:rPr lang="en-AU" dirty="0"/>
              <a:t>.</a:t>
            </a:r>
          </a:p>
          <a:p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Content Placeholder 3" descr="black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11560" y="332656"/>
            <a:ext cx="8064896" cy="5904656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The return home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435280" cy="5112568"/>
          </a:xfrm>
        </p:spPr>
        <p:txBody>
          <a:bodyPr>
            <a:normAutofit lnSpcReduction="10000"/>
          </a:bodyPr>
          <a:lstStyle/>
          <a:p>
            <a:r>
              <a:rPr lang="en-AU" dirty="0" smtClean="0"/>
              <a:t>Upon departure they were not permitted </a:t>
            </a:r>
            <a:r>
              <a:rPr lang="en-AU" dirty="0"/>
              <a:t>to participate in the farewell parade of New York's National Guard, the so-called Rainbow division</a:t>
            </a:r>
            <a:r>
              <a:rPr lang="en-AU" dirty="0" smtClean="0"/>
              <a:t>.</a:t>
            </a:r>
          </a:p>
          <a:p>
            <a:r>
              <a:rPr lang="en-AU" dirty="0" smtClean="0"/>
              <a:t> "black </a:t>
            </a:r>
            <a:r>
              <a:rPr lang="en-AU" dirty="0"/>
              <a:t>is not a </a:t>
            </a:r>
            <a:r>
              <a:rPr lang="en-AU" dirty="0" err="1"/>
              <a:t>color</a:t>
            </a:r>
            <a:r>
              <a:rPr lang="en-AU" dirty="0"/>
              <a:t> in the Rainbow</a:t>
            </a:r>
            <a:r>
              <a:rPr lang="en-AU" dirty="0" smtClean="0"/>
              <a:t>.“</a:t>
            </a:r>
          </a:p>
          <a:p>
            <a:r>
              <a:rPr lang="en-AU" dirty="0" smtClean="0"/>
              <a:t>Granted a victory </a:t>
            </a:r>
            <a:r>
              <a:rPr lang="en-AU" dirty="0"/>
              <a:t>parade when they came home in February 1919</a:t>
            </a:r>
            <a:r>
              <a:rPr lang="en-AU" dirty="0" smtClean="0"/>
              <a:t>.</a:t>
            </a:r>
          </a:p>
          <a:p>
            <a:r>
              <a:rPr lang="en-AU" dirty="0" smtClean="0"/>
              <a:t> </a:t>
            </a:r>
            <a:r>
              <a:rPr lang="en-AU" dirty="0"/>
              <a:t>Crowds thronged New York City's Fifth Avenue as the 369th marched to the music of their now- famous regimental jazz band leader, James Reese Europe</a:t>
            </a:r>
            <a:r>
              <a:rPr lang="en-AU" dirty="0" smtClean="0"/>
              <a:t>.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Equality @ home?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dirty="0"/>
              <a:t>On the political front, participation in World War I did little to directly advance the equal rights of African Americans</a:t>
            </a:r>
            <a:r>
              <a:rPr lang="en-AU" dirty="0" smtClean="0"/>
              <a:t>.</a:t>
            </a:r>
          </a:p>
          <a:p>
            <a:r>
              <a:rPr lang="en-AU" dirty="0" smtClean="0"/>
              <a:t>It </a:t>
            </a:r>
            <a:r>
              <a:rPr lang="en-AU" dirty="0"/>
              <a:t>did heighten awareness of the gulf that existed between American rhetoric and reality. </a:t>
            </a:r>
            <a:endParaRPr lang="en-AU" dirty="0" smtClean="0"/>
          </a:p>
          <a:p>
            <a:r>
              <a:rPr lang="en-AU" dirty="0" smtClean="0"/>
              <a:t>"</a:t>
            </a:r>
            <a:r>
              <a:rPr lang="en-AU" dirty="0"/>
              <a:t>I want to congratulate you for doing your bit to make the world safe for democracy . . . and unsafe for hypocrisy</a:t>
            </a:r>
            <a:r>
              <a:rPr lang="en-AU" dirty="0" smtClean="0"/>
              <a:t>.“ Philip Randolph</a:t>
            </a:r>
            <a:endParaRPr lang="en-AU" dirty="0"/>
          </a:p>
          <a:p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541</Words>
  <Application>Microsoft Office PowerPoint</Application>
  <PresentationFormat>On-screen Show (4:3)</PresentationFormat>
  <Paragraphs>36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The Harlem Hellfighters</vt:lpstr>
      <vt:lpstr>America enters the war.</vt:lpstr>
      <vt:lpstr>Harlem Hellfighters</vt:lpstr>
      <vt:lpstr>PowerPoint Presentation</vt:lpstr>
      <vt:lpstr>PowerPoint Presentation</vt:lpstr>
      <vt:lpstr>PowerPoint Presentation</vt:lpstr>
      <vt:lpstr>Equality in service?</vt:lpstr>
      <vt:lpstr>PowerPoint Presentation</vt:lpstr>
      <vt:lpstr>The Hellfighters in France</vt:lpstr>
      <vt:lpstr>PowerPoint Presentation</vt:lpstr>
      <vt:lpstr>Honour for the Hellfighters</vt:lpstr>
      <vt:lpstr>PowerPoint Presentation</vt:lpstr>
      <vt:lpstr>The return home</vt:lpstr>
      <vt:lpstr>Equality @ home?</vt:lpstr>
    </vt:vector>
  </TitlesOfParts>
  <Company>Hewlett-Packard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Harlem Hellfighters</dc:title>
  <dc:creator>peter</dc:creator>
  <cp:lastModifiedBy>Kieren</cp:lastModifiedBy>
  <cp:revision>8</cp:revision>
  <dcterms:created xsi:type="dcterms:W3CDTF">2013-12-05T16:02:05Z</dcterms:created>
  <dcterms:modified xsi:type="dcterms:W3CDTF">2013-12-06T06:50:57Z</dcterms:modified>
</cp:coreProperties>
</file>
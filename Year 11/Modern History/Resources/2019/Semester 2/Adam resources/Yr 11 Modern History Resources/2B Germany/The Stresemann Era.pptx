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8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4855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8365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85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42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8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327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04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763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3139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436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92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C19A1-4A93-4023-BB8A-8C5BC5575D98}" type="datetimeFigureOut">
              <a:rPr lang="en-AU" smtClean="0"/>
              <a:t>1/07/2013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53F77-8C00-4E10-BD21-F97CB3953E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29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260648"/>
            <a:ext cx="7772400" cy="1470025"/>
          </a:xfrm>
        </p:spPr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Stresemann Era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1268760"/>
            <a:ext cx="6400800" cy="1752600"/>
          </a:xfrm>
        </p:spPr>
        <p:txBody>
          <a:bodyPr/>
          <a:lstStyle/>
          <a:p>
            <a:r>
              <a:rPr lang="en-AU" dirty="0" smtClean="0">
                <a:solidFill>
                  <a:schemeClr val="tx2"/>
                </a:solidFill>
              </a:rPr>
              <a:t>Gustav Stresemann</a:t>
            </a:r>
          </a:p>
          <a:p>
            <a:r>
              <a:rPr lang="en-AU" dirty="0" smtClean="0">
                <a:solidFill>
                  <a:schemeClr val="tx2"/>
                </a:solidFill>
              </a:rPr>
              <a:t>The Voice of Moderation.</a:t>
            </a:r>
            <a:endParaRPr lang="en-AU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2996952"/>
            <a:ext cx="8568952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AU" dirty="0" smtClean="0"/>
              <a:t>Gustav Stresemann became Chancellor and Foreign Minister in August 1923.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AU" dirty="0" smtClean="0"/>
              <a:t>His new government was a coalition between his German People’s Party (DVP) and the Social Democrats.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AU" dirty="0" smtClean="0"/>
              <a:t>WW1 General Paul von Hindenburg won the election for President by a large margin to replace Ebert, who had died of a burst appendix.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886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Stresemann’s Five Steps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1800" dirty="0" smtClean="0"/>
              <a:t>Stresemann’s government was elected into the leadership of a society facing seemingly insurmountable problems.  Political, social and economic issues were facing them at every turn.</a:t>
            </a:r>
          </a:p>
          <a:p>
            <a:r>
              <a:rPr lang="en-AU" sz="1800" dirty="0" smtClean="0"/>
              <a:t>Opposition to the government in general was rife within the community and social cohesiveness was at breaking point.</a:t>
            </a:r>
          </a:p>
          <a:p>
            <a:r>
              <a:rPr lang="en-AU" sz="1800" dirty="0" smtClean="0"/>
              <a:t>Stresemann’s government managed to stabilise German society to a large extent by achieving five key things: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Stabilizing the currency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Adopting the Dawes Plan in August, 1924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Signing the Locarno Treaty in October, 1925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Achieving admission into the League of Nations in September 1926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- The Young Plan of 1929.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3801375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Stabilizing the currency.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060848"/>
            <a:ext cx="8229600" cy="4525963"/>
          </a:xfrm>
        </p:spPr>
        <p:txBody>
          <a:bodyPr>
            <a:normAutofit/>
          </a:bodyPr>
          <a:lstStyle/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13 November 1923,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Hjalmar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Schacht became Germany’s currency commissioner and introduced the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Rentenmark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as a temporary unit of currency.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Rentenmark’s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value was fixed at 4.2 trillion to the US Dollar which in turn stabilized the new Mark at 4.2 gold marks to the US Dollar.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German mark was now fixed at a stable value, and as a consequence the hyperinflation was brought to a halt.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printing and distribution of this new currency was strictly controlled by Schacht to ensure it was hold its worth.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restored faith in the new currency and ended speculation about inflation returning to ruin the economy.</a:t>
            </a:r>
          </a:p>
          <a:p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August 1924, a new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Reichsmark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replaced the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Rentenmark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Schacht was appointed president of the </a:t>
            </a:r>
            <a:r>
              <a:rPr lang="en-AU" sz="1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Reichsbank</a:t>
            </a:r>
            <a:r>
              <a:rPr lang="en-AU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AU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317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4000"/>
            <a:lum/>
          </a:blip>
          <a:srcRect/>
          <a:stretch>
            <a:fillRect t="-37000" b="-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Dawes Plan 1924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1800" dirty="0" smtClean="0"/>
              <a:t>General Charles Dawes was the US representative on the Reparations Commission and put in charge of a 10 man committee to address whether the current reparations were viable for Germany to pay.</a:t>
            </a:r>
          </a:p>
          <a:p>
            <a:r>
              <a:rPr lang="en-AU" sz="1800" dirty="0" smtClean="0"/>
              <a:t>His report published in April 1924 recommended that</a:t>
            </a:r>
            <a:r>
              <a:rPr lang="en-AU" sz="1800" dirty="0" smtClean="0"/>
              <a:t>:</a:t>
            </a:r>
          </a:p>
          <a:p>
            <a:pPr marL="0" indent="0">
              <a:buNone/>
            </a:pP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err="1" smtClean="0"/>
              <a:t>i</a:t>
            </a:r>
            <a:r>
              <a:rPr lang="en-AU" sz="1800" dirty="0" smtClean="0"/>
              <a:t>. The Ruhr be evacuated by Allied occupation troops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ii. Reparation payments were to be set at 1 billion marks for the first year and then increase to 2.5 billion each year over the next four.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iii. The </a:t>
            </a:r>
            <a:r>
              <a:rPr lang="en-AU" sz="1800" dirty="0" err="1" smtClean="0"/>
              <a:t>Reichsbank</a:t>
            </a:r>
            <a:r>
              <a:rPr lang="en-AU" sz="1800" dirty="0" smtClean="0"/>
              <a:t> was to be reorganized, under Allied supervision.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/>
              <a:t>i</a:t>
            </a:r>
            <a:r>
              <a:rPr lang="en-AU" sz="1800" dirty="0" smtClean="0"/>
              <a:t>v. Increased foreign loans would be made available to Germany, mainly from American banks.</a:t>
            </a:r>
            <a:br>
              <a:rPr lang="en-AU" sz="1800" dirty="0" smtClean="0"/>
            </a:br>
            <a:r>
              <a:rPr lang="en-AU" sz="1800" dirty="0" smtClean="0"/>
              <a:t/>
            </a:r>
            <a:br>
              <a:rPr lang="en-AU" sz="1800" dirty="0" smtClean="0"/>
            </a:br>
            <a:r>
              <a:rPr lang="en-AU" sz="1800" dirty="0" smtClean="0"/>
              <a:t>v. The money for reparation should include transport, </a:t>
            </a:r>
            <a:r>
              <a:rPr lang="en-AU" sz="1800" dirty="0" err="1" smtClean="0"/>
              <a:t>exise</a:t>
            </a:r>
            <a:r>
              <a:rPr lang="en-AU" sz="1800" dirty="0" smtClean="0"/>
              <a:t>, and customs taxes.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62463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6000"/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Treaty of Locarno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1800" dirty="0" smtClean="0"/>
              <a:t>Stresemann was keen to establish more harmonious relations with Germany’s former enemies.  He met with representatives from France, Britain, Belgium, Italy, Czechoslovakia and Poland at Locarno in Switzerland from 5-16 October 1925.</a:t>
            </a:r>
          </a:p>
          <a:p>
            <a:r>
              <a:rPr lang="en-AU" sz="1800" dirty="0" smtClean="0"/>
              <a:t>An agreement was struck that Belgium, France and Germany would not attack each other and Britain and Italy were to act as guarantors.</a:t>
            </a:r>
          </a:p>
          <a:p>
            <a:r>
              <a:rPr lang="en-AU" sz="1800" dirty="0" smtClean="0"/>
              <a:t>The key principle was the understanding that any disputes would be settles with arbitration rather than military action.</a:t>
            </a:r>
          </a:p>
          <a:p>
            <a:r>
              <a:rPr lang="en-AU" sz="1800" dirty="0" smtClean="0"/>
              <a:t>The Treaty became an important feature of relations in Western Europe of the next few years.</a:t>
            </a:r>
          </a:p>
          <a:p>
            <a:r>
              <a:rPr lang="en-AU" sz="1800" dirty="0" smtClean="0"/>
              <a:t>Stresemann also signed the Treaty of Berlin with the Soviet Union in 1926 which quietened tensions on Germany’s eastern borders.</a:t>
            </a:r>
          </a:p>
          <a:p>
            <a:r>
              <a:rPr lang="en-AU" sz="1800" dirty="0" smtClean="0"/>
              <a:t>Germany was accepted into the League of Nations as a direct consequence of these Treaties.</a:t>
            </a:r>
          </a:p>
          <a:p>
            <a:r>
              <a:rPr lang="en-AU" sz="1800" dirty="0" smtClean="0"/>
              <a:t>Stresemann, Briand (French Prime Minister) and Chamberlain (British Prime Minister) were jointly awarded the Nobel Peace Prize in 1926.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4262240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Kellogg-Briand Pact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 smtClean="0"/>
              <a:t>Germany supported the Kellogg – Briand Pact of August 1928 between France and the United States.</a:t>
            </a:r>
          </a:p>
          <a:p>
            <a:r>
              <a:rPr lang="en-AU" dirty="0" smtClean="0"/>
              <a:t>It was designed to be an international treaty </a:t>
            </a:r>
            <a:r>
              <a:rPr lang="en-AU" i="1" dirty="0" smtClean="0"/>
              <a:t>“providing for the renunciation of war as an instrument of national policy”.</a:t>
            </a:r>
          </a:p>
          <a:p>
            <a:r>
              <a:rPr lang="en-AU" dirty="0" smtClean="0"/>
              <a:t>It was signed by 15 countries including the US, Australia, Germany, Great Britain, Italy, Belgium, France and Japan.</a:t>
            </a:r>
          </a:p>
          <a:p>
            <a:r>
              <a:rPr lang="en-AU" dirty="0" smtClean="0"/>
              <a:t>A further 40 countries signed as “instruments of adherence”.</a:t>
            </a:r>
          </a:p>
          <a:p>
            <a:r>
              <a:rPr lang="en-AU" dirty="0" smtClean="0"/>
              <a:t>It failed in the long term as dramatic social, economic and political events dominated the 1930’s.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388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49000" b="-4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Young Plan 1929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 smtClean="0"/>
              <a:t>The Allied Reparations Committee appointed the American Owen D. Young to head a investigation into the reparations problem.</a:t>
            </a:r>
          </a:p>
          <a:p>
            <a:r>
              <a:rPr lang="en-AU" dirty="0" smtClean="0"/>
              <a:t>They recommended that Germany pay a sum of 40 billion </a:t>
            </a:r>
            <a:r>
              <a:rPr lang="en-AU" dirty="0" err="1" smtClean="0"/>
              <a:t>Reichsmarks</a:t>
            </a:r>
            <a:r>
              <a:rPr lang="en-AU" dirty="0" smtClean="0"/>
              <a:t> over 59 years, amounting to about 50% of Germany’s national income.</a:t>
            </a:r>
          </a:p>
          <a:p>
            <a:r>
              <a:rPr lang="en-AU" dirty="0" smtClean="0"/>
              <a:t>This was in addition to the external debt that Germany had already accumulated to the sum of 30 billion </a:t>
            </a:r>
            <a:r>
              <a:rPr lang="en-AU" dirty="0" err="1" smtClean="0"/>
              <a:t>Reichsmarks</a:t>
            </a:r>
            <a:r>
              <a:rPr lang="en-AU" dirty="0" smtClean="0"/>
              <a:t>.</a:t>
            </a:r>
          </a:p>
          <a:p>
            <a:r>
              <a:rPr lang="en-AU" dirty="0" smtClean="0"/>
              <a:t>Gustav Stresemann died on 3 October.</a:t>
            </a:r>
          </a:p>
          <a:p>
            <a:r>
              <a:rPr lang="en-AU" dirty="0" smtClean="0"/>
              <a:t>He had been a moderating influence on the political scene in Germany and wider Europe.</a:t>
            </a:r>
          </a:p>
          <a:p>
            <a:r>
              <a:rPr lang="en-AU" dirty="0" smtClean="0"/>
              <a:t>Wall Street crashes on 24 October, the economic shockwaves are felt globally.</a:t>
            </a:r>
          </a:p>
          <a:p>
            <a:r>
              <a:rPr lang="en-AU" dirty="0" smtClean="0"/>
              <a:t>Foreign lending to Germany came to a sudden halt and in light of this, the German governments decision to accept or reject the Young Plan became </a:t>
            </a:r>
            <a:r>
              <a:rPr lang="en-AU" dirty="0" smtClean="0"/>
              <a:t>even </a:t>
            </a:r>
            <a:r>
              <a:rPr lang="en-AU" dirty="0" smtClean="0"/>
              <a:t>more difficult and contentious.</a:t>
            </a:r>
          </a:p>
        </p:txBody>
      </p:sp>
    </p:spTree>
    <p:extLst>
      <p:ext uri="{BB962C8B-B14F-4D97-AF65-F5344CB8AC3E}">
        <p14:creationId xmlns:p14="http://schemas.microsoft.com/office/powerpoint/2010/main" val="293273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49000" b="-4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Opposition to the Young Plan</a:t>
            </a:r>
            <a:endParaRPr lang="en-A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AU" dirty="0" smtClean="0"/>
              <a:t>A ferocious campaign against the Young Plan was launched by members of the Right.</a:t>
            </a:r>
          </a:p>
          <a:p>
            <a:r>
              <a:rPr lang="en-AU" dirty="0" smtClean="0"/>
              <a:t>A selection of nationalist politicians formed the Reich Committee for a German Referendum, demanding that the decision on the Young Plan be put to the people.</a:t>
            </a:r>
          </a:p>
          <a:p>
            <a:r>
              <a:rPr lang="en-AU" dirty="0" smtClean="0"/>
              <a:t>This group was dominated by the Right’s new rising star, Adolf Hitler.</a:t>
            </a:r>
          </a:p>
          <a:p>
            <a:r>
              <a:rPr lang="en-AU" dirty="0" smtClean="0"/>
              <a:t>Hitler believed that the Young Plan was tacit acceptance of “war guilt” and anyone who agreed to it was guilty of treason.</a:t>
            </a:r>
          </a:p>
          <a:p>
            <a:r>
              <a:rPr lang="en-AU" dirty="0" smtClean="0"/>
              <a:t>The Referendum was held on 22 December 1929 but only received 5.8 million votes of the 22 million required for success.</a:t>
            </a:r>
          </a:p>
          <a:p>
            <a:r>
              <a:rPr lang="en-AU" dirty="0" smtClean="0"/>
              <a:t>The Reichstag accepted the Young Plan the following March and Hindenburg signed it </a:t>
            </a:r>
            <a:r>
              <a:rPr lang="en-AU" i="1" dirty="0" smtClean="0"/>
              <a:t>‘with a heavy heart”.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869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5440</TotalTime>
  <Words>842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The Stresemann Era</vt:lpstr>
      <vt:lpstr>Stresemann’s Five Steps</vt:lpstr>
      <vt:lpstr>Stabilizing the currency.</vt:lpstr>
      <vt:lpstr>The Dawes Plan 1924</vt:lpstr>
      <vt:lpstr>The Treaty of Locarno</vt:lpstr>
      <vt:lpstr>Kellogg-Briand Pact</vt:lpstr>
      <vt:lpstr>The Young Plan 1929</vt:lpstr>
      <vt:lpstr>Opposition to the Young Plan</vt:lpstr>
    </vt:vector>
  </TitlesOfParts>
  <Company>ARKSWA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Stresemann Era</dc:title>
  <dc:creator>Kieren</dc:creator>
  <cp:lastModifiedBy>Kieren</cp:lastModifiedBy>
  <cp:revision>14</cp:revision>
  <dcterms:created xsi:type="dcterms:W3CDTF">2013-06-28T04:40:25Z</dcterms:created>
  <dcterms:modified xsi:type="dcterms:W3CDTF">2013-07-02T01:00:25Z</dcterms:modified>
</cp:coreProperties>
</file>
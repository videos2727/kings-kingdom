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1" r:id="rId6"/>
    <p:sldId id="262" r:id="rId7"/>
    <p:sldId id="263" r:id="rId8"/>
    <p:sldId id="264" r:id="rId9"/>
    <p:sldId id="265" r:id="rId10"/>
    <p:sldId id="266" r:id="rId11"/>
    <p:sldId id="259"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694655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2772532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1665600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2248096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121162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77320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2505635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155308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1304948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785482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25B81BD-308B-4122-AACA-2639F65647A3}" type="datetimeFigureOut">
              <a:rPr lang="en-GB" smtClean="0"/>
              <a:pPr/>
              <a:t>16/06/2011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933392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5B81BD-308B-4122-AACA-2639F65647A3}" type="datetimeFigureOut">
              <a:rPr lang="en-GB" smtClean="0"/>
              <a:pPr/>
              <a:t>16/06/2011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8E6205-6D60-417F-A032-171E2113632C}" type="slidenum">
              <a:rPr lang="en-GB" smtClean="0"/>
              <a:pPr/>
              <a:t>‹#›</a:t>
            </a:fld>
            <a:endParaRPr lang="en-GB"/>
          </a:p>
        </p:txBody>
      </p:sp>
    </p:spTree>
    <p:extLst>
      <p:ext uri="{BB962C8B-B14F-4D97-AF65-F5344CB8AC3E}">
        <p14:creationId xmlns:p14="http://schemas.microsoft.com/office/powerpoint/2010/main" xmlns="" val="1731358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audio" Target="file:///D:\PGCE\St%20Francis%20Xavier\Teaching\GCSE\10D\BBC%20Newsnight%20Theme%20Opening%20Titles%20and%20Headline%20underscore%20music.mp3" TargetMode="Externa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188640"/>
            <a:ext cx="7772400" cy="1470025"/>
          </a:xfrm>
        </p:spPr>
        <p:txBody>
          <a:bodyPr/>
          <a:lstStyle/>
          <a:p>
            <a:r>
              <a:rPr lang="en-GB" u="sng" dirty="0" smtClean="0"/>
              <a:t>Gustav Stresemann</a:t>
            </a:r>
            <a:endParaRPr lang="en-GB" u="sng" dirty="0"/>
          </a:p>
        </p:txBody>
      </p:sp>
      <p:sp>
        <p:nvSpPr>
          <p:cNvPr id="3" name="Subtitle 2"/>
          <p:cNvSpPr>
            <a:spLocks noGrp="1"/>
          </p:cNvSpPr>
          <p:nvPr>
            <p:ph type="subTitle" idx="1"/>
          </p:nvPr>
        </p:nvSpPr>
        <p:spPr>
          <a:xfrm>
            <a:off x="2743200" y="0"/>
            <a:ext cx="6400800" cy="1752600"/>
          </a:xfrm>
        </p:spPr>
        <p:txBody>
          <a:bodyPr/>
          <a:lstStyle/>
          <a:p>
            <a:pPr algn="r"/>
            <a:r>
              <a:rPr lang="en-GB" u="sng" dirty="0" smtClean="0"/>
              <a:t>Thursday 16</a:t>
            </a:r>
            <a:r>
              <a:rPr lang="en-GB" u="sng" baseline="30000" dirty="0" smtClean="0"/>
              <a:t>th</a:t>
            </a:r>
            <a:r>
              <a:rPr lang="en-GB" u="sng" dirty="0" smtClean="0"/>
              <a:t> June 2011</a:t>
            </a:r>
            <a:endParaRPr lang="en-GB" u="sng" dirty="0"/>
          </a:p>
        </p:txBody>
      </p:sp>
    </p:spTree>
    <p:extLst>
      <p:ext uri="{BB962C8B-B14F-4D97-AF65-F5344CB8AC3E}">
        <p14:creationId xmlns:p14="http://schemas.microsoft.com/office/powerpoint/2010/main" xmlns="" val="8086542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Enter: Gustav Stresemann</a:t>
            </a:r>
            <a:endParaRPr lang="en-GB" dirty="0"/>
          </a:p>
        </p:txBody>
      </p:sp>
      <p:sp>
        <p:nvSpPr>
          <p:cNvPr id="3" name="Content Placeholder 2"/>
          <p:cNvSpPr>
            <a:spLocks noGrp="1"/>
          </p:cNvSpPr>
          <p:nvPr>
            <p:ph idx="1"/>
          </p:nvPr>
        </p:nvSpPr>
        <p:spPr>
          <a:xfrm>
            <a:off x="457200" y="1600200"/>
            <a:ext cx="4114800" cy="4525963"/>
          </a:xfrm>
        </p:spPr>
        <p:txBody>
          <a:bodyPr>
            <a:normAutofit fontScale="85000" lnSpcReduction="10000"/>
          </a:bodyPr>
          <a:lstStyle/>
          <a:p>
            <a:r>
              <a:rPr lang="en-GB" dirty="0"/>
              <a:t>After 1924, a politician named Gustav Stresemann   led the government (he became Chancellor in August 1923).  </a:t>
            </a:r>
            <a:endParaRPr lang="en-GB" dirty="0" smtClean="0"/>
          </a:p>
          <a:p>
            <a:r>
              <a:rPr lang="en-GB" dirty="0" smtClean="0"/>
              <a:t>At </a:t>
            </a:r>
            <a:r>
              <a:rPr lang="en-GB" dirty="0"/>
              <a:t>first he had opposed the Weimar Republic, but changed when he realised the alternative was anarchy.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860032" y="1412776"/>
            <a:ext cx="3744416" cy="52005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673723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smtClean="0"/>
              <a:t>Streseman’s</a:t>
            </a:r>
            <a:r>
              <a:rPr lang="en-GB" b="1" dirty="0" smtClean="0"/>
              <a:t> Achievements</a:t>
            </a:r>
            <a:endParaRPr lang="en-GB" b="1" dirty="0"/>
          </a:p>
        </p:txBody>
      </p:sp>
      <p:sp>
        <p:nvSpPr>
          <p:cNvPr id="3" name="Content Placeholder 2"/>
          <p:cNvSpPr>
            <a:spLocks noGrp="1"/>
          </p:cNvSpPr>
          <p:nvPr>
            <p:ph idx="1"/>
          </p:nvPr>
        </p:nvSpPr>
        <p:spPr/>
        <p:txBody>
          <a:bodyPr>
            <a:normAutofit/>
          </a:bodyPr>
          <a:lstStyle/>
          <a:p>
            <a:r>
              <a:rPr lang="en-GB" dirty="0" smtClean="0"/>
              <a:t>Dawes </a:t>
            </a:r>
            <a:r>
              <a:rPr lang="en-GB" dirty="0"/>
              <a:t>Plan, 1924</a:t>
            </a:r>
            <a:endParaRPr lang="en-GB" dirty="0" smtClean="0">
              <a:effectLst/>
            </a:endParaRPr>
          </a:p>
          <a:p>
            <a:r>
              <a:rPr lang="en-GB" dirty="0" smtClean="0"/>
              <a:t>Inflation </a:t>
            </a:r>
            <a:r>
              <a:rPr lang="en-GB" dirty="0"/>
              <a:t>controlled, November 1923</a:t>
            </a:r>
            <a:endParaRPr lang="en-GB" dirty="0" smtClean="0">
              <a:effectLst/>
            </a:endParaRPr>
          </a:p>
          <a:p>
            <a:r>
              <a:rPr lang="en-GB" dirty="0" smtClean="0"/>
              <a:t>French </a:t>
            </a:r>
            <a:r>
              <a:rPr lang="en-GB" dirty="0"/>
              <a:t>leave the Ruhr, April 1924</a:t>
            </a:r>
            <a:endParaRPr lang="en-GB" dirty="0" smtClean="0">
              <a:effectLst/>
            </a:endParaRPr>
          </a:p>
          <a:p>
            <a:r>
              <a:rPr lang="en-GB" dirty="0" smtClean="0"/>
              <a:t>Foreign Affairs</a:t>
            </a:r>
            <a:endParaRPr lang="en-GB" dirty="0"/>
          </a:p>
          <a:p>
            <a:r>
              <a:rPr lang="en-GB" dirty="0" smtClean="0"/>
              <a:t>Economic </a:t>
            </a:r>
            <a:r>
              <a:rPr lang="en-GB" dirty="0"/>
              <a:t>Growth</a:t>
            </a:r>
            <a:endParaRPr lang="en-GB" dirty="0" smtClean="0">
              <a:effectLst/>
            </a:endParaRPr>
          </a:p>
          <a:p>
            <a:r>
              <a:rPr lang="en-GB" dirty="0" smtClean="0"/>
              <a:t>Reforms</a:t>
            </a:r>
            <a:endParaRPr lang="en-GB" dirty="0" smtClean="0">
              <a:effectLst/>
            </a:endParaRPr>
          </a:p>
          <a:p>
            <a:r>
              <a:rPr lang="en-GB" dirty="0" smtClean="0"/>
              <a:t>Strength </a:t>
            </a:r>
            <a:r>
              <a:rPr lang="en-GB" dirty="0"/>
              <a:t>at the </a:t>
            </a:r>
            <a:r>
              <a:rPr lang="en-GB" dirty="0" smtClean="0"/>
              <a:t>Centre</a:t>
            </a:r>
            <a:endParaRPr lang="en-GB" dirty="0" smtClean="0">
              <a:effectLst/>
            </a:endParaRPr>
          </a:p>
        </p:txBody>
      </p:sp>
      <p:sp>
        <p:nvSpPr>
          <p:cNvPr id="4" name="TextBox 3"/>
          <p:cNvSpPr txBox="1"/>
          <p:nvPr/>
        </p:nvSpPr>
        <p:spPr>
          <a:xfrm>
            <a:off x="6966012" y="0"/>
            <a:ext cx="2177988" cy="707886"/>
          </a:xfrm>
          <a:prstGeom prst="rect">
            <a:avLst/>
          </a:prstGeom>
          <a:noFill/>
        </p:spPr>
        <p:txBody>
          <a:bodyPr wrap="square" rtlCol="0">
            <a:spAutoFit/>
          </a:bodyPr>
          <a:lstStyle/>
          <a:p>
            <a:r>
              <a:rPr lang="en-GB" sz="4000" b="1" dirty="0" smtClean="0">
                <a:solidFill>
                  <a:srgbClr val="FF0000"/>
                </a:solidFill>
              </a:rPr>
              <a:t> DIFFERS</a:t>
            </a:r>
            <a:endParaRPr lang="en-GB" sz="4000" b="1" dirty="0" smtClean="0">
              <a:solidFill>
                <a:srgbClr val="FF0000"/>
              </a:solidFill>
              <a:effectLst/>
            </a:endParaRPr>
          </a:p>
        </p:txBody>
      </p:sp>
    </p:spTree>
    <p:extLst>
      <p:ext uri="{BB962C8B-B14F-4D97-AF65-F5344CB8AC3E}">
        <p14:creationId xmlns:p14="http://schemas.microsoft.com/office/powerpoint/2010/main" xmlns="" val="17405609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Dawes Plan 1924</a:t>
            </a:r>
            <a:endParaRPr lang="en-GB" dirty="0"/>
          </a:p>
        </p:txBody>
      </p:sp>
      <p:sp>
        <p:nvSpPr>
          <p:cNvPr id="3" name="Content Placeholder 2"/>
          <p:cNvSpPr>
            <a:spLocks noGrp="1"/>
          </p:cNvSpPr>
          <p:nvPr>
            <p:ph idx="1"/>
          </p:nvPr>
        </p:nvSpPr>
        <p:spPr>
          <a:xfrm>
            <a:off x="395536" y="1268760"/>
            <a:ext cx="8147248" cy="4525963"/>
          </a:xfrm>
        </p:spPr>
        <p:txBody>
          <a:bodyPr>
            <a:normAutofit/>
          </a:bodyPr>
          <a:lstStyle/>
          <a:p>
            <a:pPr marL="0" indent="0">
              <a:buNone/>
            </a:pPr>
            <a:r>
              <a:rPr lang="en-GB" sz="2400" dirty="0"/>
              <a:t>Stresemann called off the 1923 Ruhr strike and started to pay reparations again – but the American Dawes Plan gave Germany longer to make the payments (and the Young Plan of 1929 reduced the payments).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75656" y="2780928"/>
            <a:ext cx="6345328" cy="37444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734048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Inflation controlled, Nov 1923</a:t>
            </a:r>
            <a:endParaRPr lang="en-GB" dirty="0"/>
          </a:p>
        </p:txBody>
      </p:sp>
      <p:sp>
        <p:nvSpPr>
          <p:cNvPr id="3" name="Content Placeholder 2"/>
          <p:cNvSpPr>
            <a:spLocks noGrp="1"/>
          </p:cNvSpPr>
          <p:nvPr>
            <p:ph idx="1"/>
          </p:nvPr>
        </p:nvSpPr>
        <p:spPr>
          <a:xfrm>
            <a:off x="471153" y="1340768"/>
            <a:ext cx="8291264" cy="4525963"/>
          </a:xfrm>
        </p:spPr>
        <p:txBody>
          <a:bodyPr>
            <a:normAutofit/>
          </a:bodyPr>
          <a:lstStyle/>
          <a:p>
            <a:r>
              <a:rPr lang="en-GB" sz="2400" dirty="0"/>
              <a:t>Stresemann called in all the old, worthless marks </a:t>
            </a:r>
            <a:r>
              <a:rPr lang="en-GB" sz="2400" dirty="0" smtClean="0"/>
              <a:t>(due to HYPERINFLATION) and </a:t>
            </a:r>
            <a:r>
              <a:rPr lang="en-GB" sz="2400" dirty="0"/>
              <a:t>burned them.  He replaced them with a new </a:t>
            </a:r>
            <a:r>
              <a:rPr lang="en-GB" sz="2400" dirty="0" err="1"/>
              <a:t>Rentenmark</a:t>
            </a:r>
            <a:r>
              <a:rPr lang="en-GB" sz="2400" dirty="0"/>
              <a:t> (worth 3,000 million old marks</a:t>
            </a:r>
            <a:r>
              <a:rPr lang="en-GB" sz="2400" dirty="0" smtClean="0"/>
              <a:t>). This stabilised inflation.</a:t>
            </a:r>
            <a:endParaRPr lang="en-GB"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59632" y="2996952"/>
            <a:ext cx="6714306" cy="36820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910700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French leave the Ruhr, April 1924</a:t>
            </a:r>
            <a:endParaRPr lang="en-GB" dirty="0"/>
          </a:p>
        </p:txBody>
      </p:sp>
      <p:sp>
        <p:nvSpPr>
          <p:cNvPr id="3" name="Content Placeholder 2"/>
          <p:cNvSpPr>
            <a:spLocks noGrp="1"/>
          </p:cNvSpPr>
          <p:nvPr>
            <p:ph idx="1"/>
          </p:nvPr>
        </p:nvSpPr>
        <p:spPr/>
        <p:txBody>
          <a:bodyPr>
            <a:normAutofit/>
          </a:bodyPr>
          <a:lstStyle/>
          <a:p>
            <a:pPr marL="0" indent="0">
              <a:buNone/>
            </a:pPr>
            <a:r>
              <a:rPr lang="en-GB" sz="2400" dirty="0"/>
              <a:t>Stresemann persuaded the French to leave.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42047" y="2204864"/>
            <a:ext cx="6683474" cy="45011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54085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Foreign Affairs</a:t>
            </a:r>
            <a:endParaRPr lang="en-GB" dirty="0"/>
          </a:p>
        </p:txBody>
      </p:sp>
      <p:sp>
        <p:nvSpPr>
          <p:cNvPr id="3" name="Content Placeholder 2"/>
          <p:cNvSpPr>
            <a:spLocks noGrp="1"/>
          </p:cNvSpPr>
          <p:nvPr>
            <p:ph idx="1"/>
          </p:nvPr>
        </p:nvSpPr>
        <p:spPr>
          <a:xfrm>
            <a:off x="475750" y="1268760"/>
            <a:ext cx="8229600" cy="4525963"/>
          </a:xfrm>
        </p:spPr>
        <p:txBody>
          <a:bodyPr>
            <a:normAutofit/>
          </a:bodyPr>
          <a:lstStyle/>
          <a:p>
            <a:pPr marL="0" indent="0">
              <a:buNone/>
            </a:pPr>
            <a:r>
              <a:rPr lang="en-GB" sz="2400" dirty="0"/>
              <a:t>In 1925, Stresemann signed the Locarno Treaty, agreeing to the loss of Alsace-Lorraine.  In 1926, Germany was allowed to join the League of Nations.  Germany had become a world power again.</a:t>
            </a:r>
          </a:p>
        </p:txBody>
      </p:sp>
      <p:sp>
        <p:nvSpPr>
          <p:cNvPr id="4" name="Rectangle 3"/>
          <p:cNvSpPr/>
          <p:nvPr/>
        </p:nvSpPr>
        <p:spPr>
          <a:xfrm>
            <a:off x="451311" y="2924944"/>
            <a:ext cx="8136904" cy="3785652"/>
          </a:xfrm>
          <a:prstGeom prst="rect">
            <a:avLst/>
          </a:prstGeom>
          <a:ln>
            <a:solidFill>
              <a:schemeClr val="tx1"/>
            </a:solidFill>
          </a:ln>
        </p:spPr>
        <p:txBody>
          <a:bodyPr wrap="square">
            <a:spAutoFit/>
          </a:bodyPr>
          <a:lstStyle/>
          <a:p>
            <a:r>
              <a:rPr lang="en-GB" sz="2400" b="1" dirty="0" smtClean="0">
                <a:effectLst/>
              </a:rPr>
              <a:t>Source A</a:t>
            </a:r>
          </a:p>
          <a:p>
            <a:endParaRPr lang="en-GB" sz="2400" b="1" dirty="0" smtClean="0">
              <a:effectLst/>
            </a:endParaRPr>
          </a:p>
          <a:p>
            <a:r>
              <a:rPr lang="en-GB" sz="2400" dirty="0"/>
              <a:t>Stresemann ... worked hard to rebuild his shattered country and for peace and co-operation abroad.  Because of his leadership Germany is now prospering and has an important place in the affairs of Europe</a:t>
            </a:r>
            <a:r>
              <a:rPr lang="en-GB" sz="2400" dirty="0" smtClean="0"/>
              <a:t>.</a:t>
            </a:r>
          </a:p>
          <a:p>
            <a:endParaRPr lang="en-GB" sz="2400" dirty="0" smtClean="0">
              <a:effectLst/>
            </a:endParaRPr>
          </a:p>
          <a:p>
            <a:r>
              <a:rPr lang="en-GB" sz="2400" dirty="0"/>
              <a:t>from </a:t>
            </a:r>
            <a:r>
              <a:rPr lang="en-GB" sz="2400" i="1" dirty="0"/>
              <a:t>The Times</a:t>
            </a:r>
            <a:r>
              <a:rPr lang="en-GB" sz="2400" dirty="0"/>
              <a:t>, 4 October 1929.</a:t>
            </a:r>
            <a:endParaRPr lang="en-GB" sz="2400" dirty="0" smtClean="0">
              <a:effectLst/>
            </a:endParaRPr>
          </a:p>
          <a:p>
            <a:r>
              <a:rPr lang="en-GB" sz="2400" dirty="0"/>
              <a:t>An account of his life and achievements which was written just after his death.</a:t>
            </a:r>
            <a:endParaRPr lang="en-GB" sz="2400" dirty="0">
              <a:effectLst/>
            </a:endParaRPr>
          </a:p>
        </p:txBody>
      </p:sp>
    </p:spTree>
    <p:extLst>
      <p:ext uri="{BB962C8B-B14F-4D97-AF65-F5344CB8AC3E}">
        <p14:creationId xmlns:p14="http://schemas.microsoft.com/office/powerpoint/2010/main" xmlns="" val="33000473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Economic Growth</a:t>
            </a:r>
            <a:endParaRPr lang="en-GB" dirty="0"/>
          </a:p>
        </p:txBody>
      </p:sp>
      <p:sp>
        <p:nvSpPr>
          <p:cNvPr id="3" name="Content Placeholder 2"/>
          <p:cNvSpPr>
            <a:spLocks noGrp="1"/>
          </p:cNvSpPr>
          <p:nvPr>
            <p:ph idx="1"/>
          </p:nvPr>
        </p:nvSpPr>
        <p:spPr/>
        <p:txBody>
          <a:bodyPr>
            <a:normAutofit/>
          </a:bodyPr>
          <a:lstStyle/>
          <a:p>
            <a:pPr marL="0" indent="0">
              <a:buNone/>
            </a:pPr>
            <a:r>
              <a:rPr lang="en-GB" sz="2400" dirty="0"/>
              <a:t>Germany borrowed 25,000 million gold marks, mainly from America.  This was used to build roads, railways and factories.  The economy boomed and led to prosperity.  Cultural life also boomed (the Roaring Twenties).</a:t>
            </a:r>
          </a:p>
        </p:txBody>
      </p:sp>
      <p:sp>
        <p:nvSpPr>
          <p:cNvPr id="4" name="Rectangle 3"/>
          <p:cNvSpPr/>
          <p:nvPr/>
        </p:nvSpPr>
        <p:spPr>
          <a:xfrm>
            <a:off x="746836" y="3212976"/>
            <a:ext cx="7569580" cy="3416320"/>
          </a:xfrm>
          <a:prstGeom prst="rect">
            <a:avLst/>
          </a:prstGeom>
          <a:ln>
            <a:solidFill>
              <a:schemeClr val="tx1"/>
            </a:solidFill>
          </a:ln>
        </p:spPr>
        <p:txBody>
          <a:bodyPr wrap="square">
            <a:spAutoFit/>
          </a:bodyPr>
          <a:lstStyle/>
          <a:p>
            <a:r>
              <a:rPr lang="en-GB" sz="2400" b="1" dirty="0" smtClean="0">
                <a:effectLst/>
              </a:rPr>
              <a:t>Source B</a:t>
            </a:r>
          </a:p>
          <a:p>
            <a:endParaRPr lang="en-GB" sz="2400" b="1" dirty="0" smtClean="0">
              <a:effectLst/>
            </a:endParaRPr>
          </a:p>
          <a:p>
            <a:r>
              <a:rPr lang="en-GB" sz="2400" dirty="0"/>
              <a:t>The German economy is doing well only on the surface.  Germany is in fact dancing on a volcano.  If the short-term loans are called in by America, most of our economy will collapse</a:t>
            </a:r>
            <a:r>
              <a:rPr lang="en-GB" sz="2400" dirty="0" smtClean="0"/>
              <a:t>.</a:t>
            </a:r>
          </a:p>
          <a:p>
            <a:endParaRPr lang="en-GB" sz="2400" dirty="0" smtClean="0">
              <a:effectLst/>
            </a:endParaRPr>
          </a:p>
          <a:p>
            <a:r>
              <a:rPr lang="en-GB" sz="2400" dirty="0"/>
              <a:t>from a speech made by Gustav Stresemann shortly before his death on 3 October 1929</a:t>
            </a:r>
            <a:endParaRPr lang="en-GB" sz="2400" dirty="0">
              <a:effectLst/>
            </a:endParaRPr>
          </a:p>
        </p:txBody>
      </p:sp>
    </p:spTree>
    <p:extLst>
      <p:ext uri="{BB962C8B-B14F-4D97-AF65-F5344CB8AC3E}">
        <p14:creationId xmlns:p14="http://schemas.microsoft.com/office/powerpoint/2010/main" xmlns="" val="40790586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Reforms</a:t>
            </a:r>
            <a:endParaRPr lang="en-GB" dirty="0"/>
          </a:p>
        </p:txBody>
      </p:sp>
      <p:sp>
        <p:nvSpPr>
          <p:cNvPr id="3" name="Content Placeholder 2"/>
          <p:cNvSpPr>
            <a:spLocks noGrp="1"/>
          </p:cNvSpPr>
          <p:nvPr>
            <p:ph idx="1"/>
          </p:nvPr>
        </p:nvSpPr>
        <p:spPr>
          <a:xfrm>
            <a:off x="467544" y="1412776"/>
            <a:ext cx="8229600" cy="4525963"/>
          </a:xfrm>
        </p:spPr>
        <p:txBody>
          <a:bodyPr>
            <a:normAutofit/>
          </a:bodyPr>
          <a:lstStyle/>
          <a:p>
            <a:pPr marL="0" indent="0">
              <a:buNone/>
            </a:pPr>
            <a:r>
              <a:rPr lang="en-GB" sz="2400" dirty="0"/>
              <a:t>Stresemann introduced reforms to make life better for the working classes - Labour Exchanges (1927) and unemployment pay.  Also, 3 million new houses were built.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619672" y="2851301"/>
            <a:ext cx="5549788" cy="37859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331231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Strength at the Centre</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Stresemann </a:t>
            </a:r>
            <a:r>
              <a:rPr lang="en-GB" dirty="0"/>
              <a:t>arranged a 'Great Coalition' of the moderate pro-democracy parties (based around the SDP, the Centre party and Stresemann's own 'German people's Party', the DVP). </a:t>
            </a:r>
            <a:endParaRPr lang="en-GB" dirty="0" smtClean="0"/>
          </a:p>
          <a:p>
            <a:r>
              <a:rPr lang="en-GB" dirty="0"/>
              <a:t> United together, they were able to resist the criticism from smaller extremist parties, and in this way, he overcame the effects of proportional representation - the government had enough members of the Reichstag supporting it to pass the laws it needed.</a:t>
            </a:r>
          </a:p>
        </p:txBody>
      </p:sp>
    </p:spTree>
    <p:extLst>
      <p:ext uri="{BB962C8B-B14F-4D97-AF65-F5344CB8AC3E}">
        <p14:creationId xmlns:p14="http://schemas.microsoft.com/office/powerpoint/2010/main" xmlns="" val="3195957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7544" y="476672"/>
            <a:ext cx="8229600" cy="1143000"/>
          </a:xfrm>
        </p:spPr>
        <p:txBody>
          <a:bodyPr>
            <a:normAutofit fontScale="90000"/>
          </a:bodyPr>
          <a:lstStyle/>
          <a:p>
            <a:r>
              <a:rPr lang="en-GB" dirty="0" smtClean="0"/>
              <a:t>Which of Stresemann’s actions was the </a:t>
            </a:r>
            <a:r>
              <a:rPr lang="en-GB" b="1" u="sng" dirty="0" smtClean="0"/>
              <a:t>most significant </a:t>
            </a:r>
            <a:r>
              <a:rPr lang="en-GB" dirty="0" smtClean="0"/>
              <a:t>in helping the Weimar Republic to survive?</a:t>
            </a:r>
            <a:endParaRPr lang="en-GB" dirty="0"/>
          </a:p>
        </p:txBody>
      </p:sp>
      <p:sp>
        <p:nvSpPr>
          <p:cNvPr id="6" name="Content Placeholder 5"/>
          <p:cNvSpPr>
            <a:spLocks noGrp="1"/>
          </p:cNvSpPr>
          <p:nvPr>
            <p:ph sz="half" idx="1"/>
          </p:nvPr>
        </p:nvSpPr>
        <p:spPr>
          <a:xfrm>
            <a:off x="467544" y="2492896"/>
            <a:ext cx="4038600" cy="3672408"/>
          </a:xfrm>
        </p:spPr>
        <p:txBody>
          <a:bodyPr>
            <a:normAutofit lnSpcReduction="10000"/>
          </a:bodyPr>
          <a:lstStyle/>
          <a:p>
            <a:r>
              <a:rPr lang="en-GB" sz="2400" dirty="0" smtClean="0"/>
              <a:t>Dawes Plan, 1924</a:t>
            </a:r>
            <a:endParaRPr lang="en-GB" sz="2400" dirty="0" smtClean="0">
              <a:effectLst/>
            </a:endParaRPr>
          </a:p>
          <a:p>
            <a:r>
              <a:rPr lang="en-GB" sz="2400" dirty="0" smtClean="0"/>
              <a:t>Inflation controlled, November 1923</a:t>
            </a:r>
            <a:endParaRPr lang="en-GB" sz="2400" dirty="0" smtClean="0">
              <a:effectLst/>
            </a:endParaRPr>
          </a:p>
          <a:p>
            <a:r>
              <a:rPr lang="en-GB" sz="2400" dirty="0" smtClean="0"/>
              <a:t>French leave the Ruhr, April 1924</a:t>
            </a:r>
            <a:endParaRPr lang="en-GB" sz="2400" dirty="0" smtClean="0">
              <a:effectLst/>
            </a:endParaRPr>
          </a:p>
          <a:p>
            <a:r>
              <a:rPr lang="en-GB" sz="2400" dirty="0" smtClean="0"/>
              <a:t>Foreign Affairs</a:t>
            </a:r>
          </a:p>
          <a:p>
            <a:r>
              <a:rPr lang="en-GB" sz="2400" dirty="0" smtClean="0"/>
              <a:t>Economic Growth</a:t>
            </a:r>
            <a:endParaRPr lang="en-GB" sz="2400" dirty="0" smtClean="0">
              <a:effectLst/>
            </a:endParaRPr>
          </a:p>
          <a:p>
            <a:r>
              <a:rPr lang="en-GB" sz="2400" dirty="0" smtClean="0"/>
              <a:t>Reforms</a:t>
            </a:r>
            <a:endParaRPr lang="en-GB" sz="2400" dirty="0" smtClean="0">
              <a:effectLst/>
            </a:endParaRPr>
          </a:p>
          <a:p>
            <a:r>
              <a:rPr lang="en-GB" sz="2400" dirty="0" smtClean="0"/>
              <a:t>Strength at the Centre</a:t>
            </a:r>
            <a:endParaRPr lang="en-GB" sz="2400" dirty="0" smtClean="0">
              <a:effectLst/>
            </a:endParaRPr>
          </a:p>
          <a:p>
            <a:endParaRPr lang="en-GB" dirty="0"/>
          </a:p>
        </p:txBody>
      </p:sp>
      <p:sp>
        <p:nvSpPr>
          <p:cNvPr id="7" name="Content Placeholder 6"/>
          <p:cNvSpPr>
            <a:spLocks noGrp="1"/>
          </p:cNvSpPr>
          <p:nvPr>
            <p:ph sz="half" idx="2"/>
          </p:nvPr>
        </p:nvSpPr>
        <p:spPr>
          <a:xfrm>
            <a:off x="4644008" y="2132856"/>
            <a:ext cx="4038600" cy="4525963"/>
          </a:xfrm>
        </p:spPr>
        <p:txBody>
          <a:bodyPr>
            <a:normAutofit lnSpcReduction="10000"/>
          </a:bodyPr>
          <a:lstStyle/>
          <a:p>
            <a:r>
              <a:rPr lang="en-GB" dirty="0" smtClean="0"/>
              <a:t>Rank his actions in order of significance (1-7).</a:t>
            </a:r>
          </a:p>
          <a:p>
            <a:r>
              <a:rPr lang="en-GB" dirty="0" smtClean="0"/>
              <a:t>Which is the most significant?</a:t>
            </a:r>
          </a:p>
          <a:p>
            <a:r>
              <a:rPr lang="en-GB" dirty="0" smtClean="0"/>
              <a:t>Why?</a:t>
            </a:r>
          </a:p>
          <a:p>
            <a:r>
              <a:rPr lang="en-GB" dirty="0" smtClean="0"/>
              <a:t>Why this action over the others?</a:t>
            </a:r>
          </a:p>
          <a:p>
            <a:r>
              <a:rPr lang="en-GB" b="1" dirty="0" smtClean="0"/>
              <a:t> </a:t>
            </a:r>
            <a:r>
              <a:rPr lang="en-GB" b="1" dirty="0" smtClean="0">
                <a:solidFill>
                  <a:srgbClr val="FF0000"/>
                </a:solidFill>
              </a:rPr>
              <a:t>BE PREPARED TO EXPLAIN TO CLASS!!!</a:t>
            </a:r>
            <a:endParaRPr lang="en-GB" b="1" dirty="0">
              <a:solidFill>
                <a:srgbClr val="FF0000"/>
              </a:solidFill>
            </a:endParaRPr>
          </a:p>
        </p:txBody>
      </p:sp>
    </p:spTree>
    <p:extLst>
      <p:ext uri="{BB962C8B-B14F-4D97-AF65-F5344CB8AC3E}">
        <p14:creationId xmlns:p14="http://schemas.microsoft.com/office/powerpoint/2010/main" xmlns="" val="3087608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4008" y="274638"/>
            <a:ext cx="4042792" cy="1143000"/>
          </a:xfrm>
        </p:spPr>
        <p:txBody>
          <a:bodyPr/>
          <a:lstStyle/>
          <a:p>
            <a:r>
              <a:rPr lang="en-GB" dirty="0" smtClean="0"/>
              <a:t>Debate</a:t>
            </a:r>
            <a:endParaRPr lang="en-GB" dirty="0"/>
          </a:p>
        </p:txBody>
      </p:sp>
      <p:sp>
        <p:nvSpPr>
          <p:cNvPr id="4" name="Content Placeholder 3"/>
          <p:cNvSpPr>
            <a:spLocks noGrp="1"/>
          </p:cNvSpPr>
          <p:nvPr>
            <p:ph sz="half" idx="2"/>
          </p:nvPr>
        </p:nvSpPr>
        <p:spPr/>
        <p:txBody>
          <a:bodyPr>
            <a:normAutofit lnSpcReduction="10000"/>
          </a:bodyPr>
          <a:lstStyle/>
          <a:p>
            <a:pPr marL="0" indent="0">
              <a:buNone/>
            </a:pPr>
            <a:r>
              <a:rPr lang="en-GB" dirty="0" smtClean="0"/>
              <a:t>With political pundits…</a:t>
            </a:r>
          </a:p>
          <a:p>
            <a:pPr marL="0" indent="0">
              <a:buNone/>
            </a:pPr>
            <a:endParaRPr lang="en-GB" dirty="0" smtClean="0"/>
          </a:p>
          <a:p>
            <a:r>
              <a:rPr lang="en-GB" dirty="0" smtClean="0"/>
              <a:t>Christopher Dunn</a:t>
            </a:r>
          </a:p>
          <a:p>
            <a:r>
              <a:rPr lang="en-GB" dirty="0" smtClean="0"/>
              <a:t>Andrew </a:t>
            </a:r>
            <a:r>
              <a:rPr lang="en-GB" dirty="0" err="1" smtClean="0"/>
              <a:t>Wileman</a:t>
            </a:r>
            <a:endParaRPr lang="en-GB" dirty="0" smtClean="0"/>
          </a:p>
          <a:p>
            <a:r>
              <a:rPr lang="en-GB" dirty="0" smtClean="0"/>
              <a:t>Harrison Rees</a:t>
            </a:r>
          </a:p>
          <a:p>
            <a:r>
              <a:rPr lang="en-GB" dirty="0" smtClean="0"/>
              <a:t>Ethan Ming</a:t>
            </a:r>
          </a:p>
          <a:p>
            <a:r>
              <a:rPr lang="en-GB" dirty="0" smtClean="0"/>
              <a:t>Jake Hill</a:t>
            </a:r>
          </a:p>
          <a:p>
            <a:r>
              <a:rPr lang="en-GB" dirty="0" smtClean="0"/>
              <a:t>Stephen Smith</a:t>
            </a:r>
          </a:p>
          <a:p>
            <a:r>
              <a:rPr lang="en-GB" dirty="0" smtClean="0"/>
              <a:t>Sean Lamb</a:t>
            </a:r>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5331" y="116632"/>
            <a:ext cx="4457700" cy="2724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TextBox 4"/>
          <p:cNvSpPr txBox="1"/>
          <p:nvPr/>
        </p:nvSpPr>
        <p:spPr>
          <a:xfrm>
            <a:off x="251520" y="3212976"/>
            <a:ext cx="4104456" cy="2554545"/>
          </a:xfrm>
          <a:prstGeom prst="rect">
            <a:avLst/>
          </a:prstGeom>
          <a:noFill/>
        </p:spPr>
        <p:txBody>
          <a:bodyPr wrap="square" rtlCol="0">
            <a:spAutoFit/>
          </a:bodyPr>
          <a:lstStyle/>
          <a:p>
            <a:pPr algn="ctr"/>
            <a:r>
              <a:rPr lang="en-GB" sz="4000" b="1" dirty="0" smtClean="0"/>
              <a:t>What was the best thing Stresemann ever did for us?</a:t>
            </a:r>
            <a:endParaRPr lang="en-GB" sz="4000" b="1" dirty="0"/>
          </a:p>
        </p:txBody>
      </p:sp>
      <p:pic>
        <p:nvPicPr>
          <p:cNvPr id="7" name="BBC Newsnight Theme Opening Titles and Headline underscore music.mp3">
            <a:hlinkClick r:id="" action="ppaction://media"/>
          </p:cNvPr>
          <p:cNvPicPr>
            <a:picLocks noRot="1" noChangeAspect="1"/>
          </p:cNvPicPr>
          <p:nvPr>
            <a:audioFile r:link="rId1"/>
          </p:nvPr>
        </p:nvPicPr>
        <p:blipFill>
          <a:blip r:embed="rId4"/>
          <a:stretch>
            <a:fillRect/>
          </a:stretch>
        </p:blipFill>
        <p:spPr>
          <a:xfrm>
            <a:off x="8572528" y="6286520"/>
            <a:ext cx="304800" cy="304800"/>
          </a:xfrm>
          <a:prstGeom prst="rect">
            <a:avLst/>
          </a:prstGeom>
        </p:spPr>
      </p:pic>
    </p:spTree>
    <p:extLst>
      <p:ext uri="{BB962C8B-B14F-4D97-AF65-F5344CB8AC3E}">
        <p14:creationId xmlns:p14="http://schemas.microsoft.com/office/powerpoint/2010/main" xmlns="" val="108661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03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Homework</a:t>
            </a:r>
            <a:endParaRPr lang="en-GB" dirty="0"/>
          </a:p>
        </p:txBody>
      </p:sp>
      <p:sp>
        <p:nvSpPr>
          <p:cNvPr id="3" name="Content Placeholder 2"/>
          <p:cNvSpPr>
            <a:spLocks noGrp="1"/>
          </p:cNvSpPr>
          <p:nvPr>
            <p:ph sz="half" idx="1"/>
          </p:nvPr>
        </p:nvSpPr>
        <p:spPr>
          <a:xfrm>
            <a:off x="1475656" y="1628800"/>
            <a:ext cx="4038600" cy="4525963"/>
          </a:xfrm>
        </p:spPr>
        <p:txBody>
          <a:bodyPr>
            <a:normAutofit/>
          </a:bodyPr>
          <a:lstStyle/>
          <a:p>
            <a:pPr marL="0" indent="0" algn="ctr">
              <a:buNone/>
            </a:pPr>
            <a:r>
              <a:rPr lang="en-GB" sz="3200" b="1" u="sng" dirty="0" smtClean="0"/>
              <a:t>How</a:t>
            </a:r>
            <a:r>
              <a:rPr lang="en-GB" sz="3200" dirty="0" smtClean="0"/>
              <a:t> did Stresemann “save” the Weimar Republic?</a:t>
            </a:r>
          </a:p>
          <a:p>
            <a:pPr marL="0" indent="0" algn="ctr">
              <a:buNone/>
            </a:pPr>
            <a:endParaRPr lang="en-GB" sz="3200" dirty="0"/>
          </a:p>
          <a:p>
            <a:pPr marL="0" indent="0" algn="ctr">
              <a:buNone/>
            </a:pPr>
            <a:r>
              <a:rPr lang="en-GB" sz="3200" dirty="0" smtClean="0"/>
              <a:t>i.e. Mention ALL 7 of </a:t>
            </a:r>
            <a:r>
              <a:rPr lang="en-GB" sz="3200" dirty="0" err="1" smtClean="0"/>
              <a:t>Streseman’s</a:t>
            </a:r>
            <a:r>
              <a:rPr lang="en-GB" sz="3200" dirty="0" smtClean="0"/>
              <a:t> actions.</a:t>
            </a:r>
            <a:endParaRPr lang="en-GB" sz="32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82510" y="12576"/>
            <a:ext cx="2952750" cy="2867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185155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364</Words>
  <Application>Microsoft Office PowerPoint</Application>
  <PresentationFormat>On-screen Show (4:3)</PresentationFormat>
  <Paragraphs>68</Paragraphs>
  <Slides>13</Slides>
  <Notes>0</Notes>
  <HiddenSlides>0</HiddenSlides>
  <MMClips>1</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Gustav Stresemann</vt:lpstr>
      <vt:lpstr>Enter: Gustav Stresemann</vt:lpstr>
      <vt:lpstr>Streseman’s Achievements</vt:lpstr>
      <vt:lpstr>Dawes Plan 1924</vt:lpstr>
      <vt:lpstr>Inflation controlled, Nov 1923</vt:lpstr>
      <vt:lpstr>French leave the Ruhr, April 1924</vt:lpstr>
      <vt:lpstr>Foreign Affairs</vt:lpstr>
      <vt:lpstr>Economic Growth</vt:lpstr>
      <vt:lpstr>Reforms</vt:lpstr>
      <vt:lpstr>Strength at the Centre</vt:lpstr>
      <vt:lpstr>Which of Stresemann’s actions was the most significant in helping the Weimar Republic to survive?</vt:lpstr>
      <vt:lpstr>Debate</vt:lpstr>
      <vt:lpstr>Homework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Gustav Stresemann</dc:title>
  <dc:creator>Lainey-bop</dc:creator>
  <cp:lastModifiedBy>ACN</cp:lastModifiedBy>
  <cp:revision>10</cp:revision>
  <dcterms:created xsi:type="dcterms:W3CDTF">2011-06-14T18:21:15Z</dcterms:created>
  <dcterms:modified xsi:type="dcterms:W3CDTF">2011-06-16T11:26:29Z</dcterms:modified>
</cp:coreProperties>
</file>
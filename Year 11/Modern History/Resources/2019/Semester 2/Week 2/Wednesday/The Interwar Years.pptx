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3" r:id="rId4"/>
    <p:sldId id="257" r:id="rId5"/>
    <p:sldId id="264" r:id="rId6"/>
    <p:sldId id="265" r:id="rId7"/>
    <p:sldId id="266" r:id="rId8"/>
    <p:sldId id="267" r:id="rId9"/>
    <p:sldId id="268" r:id="rId10"/>
    <p:sldId id="259" r:id="rId11"/>
    <p:sldId id="269" r:id="rId12"/>
    <p:sldId id="270" r:id="rId13"/>
    <p:sldId id="271" r:id="rId14"/>
    <p:sldId id="272" r:id="rId15"/>
    <p:sldId id="273" r:id="rId16"/>
    <p:sldId id="26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48" autoAdjust="0"/>
  </p:normalViewPr>
  <p:slideViewPr>
    <p:cSldViewPr>
      <p:cViewPr varScale="1">
        <p:scale>
          <a:sx n="68" d="100"/>
          <a:sy n="68" d="100"/>
        </p:scale>
        <p:origin x="57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538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871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163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8594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72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15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824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47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2763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926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0296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naslo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851" y="1122363"/>
            <a:ext cx="6330950" cy="2387600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851" y="3509963"/>
            <a:ext cx="633095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8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22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lo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1747841"/>
            <a:ext cx="6723270" cy="2852737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850" y="4627566"/>
            <a:ext cx="672327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66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Naslov i 2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816102"/>
            <a:ext cx="32702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0950" y="1816102"/>
            <a:ext cx="32702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88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eđe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301628"/>
            <a:ext cx="67232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851" y="1617663"/>
            <a:ext cx="329769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851" y="2441575"/>
            <a:ext cx="329769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3190" y="1617663"/>
            <a:ext cx="331393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3190" y="2441575"/>
            <a:ext cx="331393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02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08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94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a opisom sli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35465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4500" y="457201"/>
            <a:ext cx="4062620" cy="541178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35465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34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a opisom sli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1" y="457200"/>
            <a:ext cx="2495550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19400" y="457201"/>
            <a:ext cx="4235261" cy="541178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851" y="2057400"/>
            <a:ext cx="2495550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3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vertikaln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08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n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11802" y="365125"/>
            <a:ext cx="153531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488315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9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A341F-0D33-486B-BEBE-1C282E09B47A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A3BBA-FC9F-4313-9B1B-2F100620FE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708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251" y="339726"/>
            <a:ext cx="67373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s-Latn-BA"/>
              <a:t>Kliknite da biste uredili stilove prototipa naslova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251" y="1800225"/>
            <a:ext cx="6737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s-Latn-BA"/>
              <a:t>Kliknite da biste uredili stilove teksta prototipa</a:t>
            </a:r>
          </a:p>
          <a:p>
            <a:pPr lvl="1"/>
            <a:r>
              <a:rPr lang="bs-Latn-BA"/>
              <a:t>Drugi nivo</a:t>
            </a:r>
          </a:p>
          <a:p>
            <a:pPr lvl="2"/>
            <a:r>
              <a:rPr lang="bs-Latn-BA"/>
              <a:t>Treći nivo</a:t>
            </a:r>
          </a:p>
          <a:p>
            <a:pPr lvl="3"/>
            <a:r>
              <a:rPr lang="bs-Latn-BA"/>
              <a:t>Četvrti nivo</a:t>
            </a:r>
          </a:p>
          <a:p>
            <a:pPr lvl="4"/>
            <a:r>
              <a:rPr lang="bs-Latn-BA"/>
              <a:t>Peti nivo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250" y="6330953"/>
            <a:ext cx="1757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402D1C"/>
                </a:solidFill>
              </a:defRPr>
            </a:lvl1pPr>
          </a:lstStyle>
          <a:p>
            <a:fld id="{F570871A-492A-4CAC-ADF5-F0866DB31B51}" type="datetimeFigureOut">
              <a:rPr lang="en-US" smtClean="0"/>
              <a:pPr/>
              <a:t>5/23/2019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708" y="6324604"/>
            <a:ext cx="263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402D1C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87951" y="6330953"/>
            <a:ext cx="1757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402D1C"/>
                </a:solidFill>
              </a:defRPr>
            </a:lvl1pPr>
          </a:lstStyle>
          <a:p>
            <a:fld id="{570B7371-373E-4D93-A138-879E0635481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-1024113" y="5332239"/>
            <a:ext cx="1695700" cy="3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7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402D1C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jycVFL8CNM&amp;index=2&amp;list=PLu2xst_eS6dqvm8HMr6xMw8trY7JNWBOS" TargetMode="External"/><Relationship Id="rId2" Type="http://schemas.openxmlformats.org/officeDocument/2006/relationships/hyperlink" Target="https://www.youtube.com/watch?v=vrYhLNQMRro&amp;list=PLu2xst_eS6dqvm8HMr6xMw8trY7JNWBO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060" y="116632"/>
            <a:ext cx="7772400" cy="1683618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Bookman Old Style" panose="02050604050505020204" pitchFamily="18" charset="0"/>
              </a:rPr>
              <a:t>Year </a:t>
            </a:r>
            <a:r>
              <a:rPr lang="en-AU" dirty="0" smtClean="0">
                <a:latin typeface="Bookman Old Style" panose="02050604050505020204" pitchFamily="18" charset="0"/>
              </a:rPr>
              <a:t>11 </a:t>
            </a:r>
            <a:r>
              <a:rPr lang="en-AU" dirty="0" smtClean="0">
                <a:latin typeface="Bookman Old Style" panose="02050604050505020204" pitchFamily="18" charset="0"/>
              </a:rPr>
              <a:t>History</a:t>
            </a:r>
            <a:br>
              <a:rPr lang="en-AU" dirty="0" smtClean="0">
                <a:latin typeface="Bookman Old Style" panose="02050604050505020204" pitchFamily="18" charset="0"/>
              </a:rPr>
            </a:br>
            <a:r>
              <a:rPr lang="en-AU" dirty="0" smtClean="0">
                <a:latin typeface="Bookman Old Style" panose="02050604050505020204" pitchFamily="18" charset="0"/>
              </a:rPr>
              <a:t>The Interwar Years</a:t>
            </a:r>
            <a:br>
              <a:rPr lang="en-AU" dirty="0" smtClean="0">
                <a:latin typeface="Bookman Old Style" panose="02050604050505020204" pitchFamily="18" charset="0"/>
              </a:rPr>
            </a:br>
            <a:r>
              <a:rPr lang="en-AU" dirty="0" smtClean="0">
                <a:latin typeface="Bookman Old Style" panose="02050604050505020204" pitchFamily="18" charset="0"/>
              </a:rPr>
              <a:t>1918-1939</a:t>
            </a:r>
            <a:endParaRPr lang="en-AU" dirty="0">
              <a:latin typeface="Bookman Old Style" panose="0205060405050502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4293096"/>
            <a:ext cx="8424936" cy="2351112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47500" lnSpcReduction="20000"/>
          </a:bodyPr>
          <a:lstStyle/>
          <a:p>
            <a:pPr algn="l"/>
            <a:r>
              <a:rPr lang="en-AU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Learning intentions: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AU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Apply key concepts to the study of the Interwar Years (sources, evidence, cause and effect, change and continuity, perspectives, significance, empathy, contestability).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AU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l"/>
            <a:r>
              <a:rPr lang="en-AU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Success criteria: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AU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State one cause of WW2.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AU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Briefly outline what the Versailles Treaty was and its repercussions for Germany.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AU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Briefly outline the events of the Wall Street Crash and Great Depression.</a:t>
            </a:r>
            <a:endParaRPr lang="en-AU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026" name="Picture 2" descr="Image result for hitler interwar yea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826" y="1843847"/>
            <a:ext cx="3466356" cy="240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64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204864"/>
            <a:ext cx="8229600" cy="2146250"/>
          </a:xfrm>
        </p:spPr>
        <p:txBody>
          <a:bodyPr>
            <a:normAutofit/>
          </a:bodyPr>
          <a:lstStyle/>
          <a:p>
            <a:r>
              <a:rPr lang="en-AU" dirty="0" smtClean="0"/>
              <a:t>What do you remember from year 10 about the interwar period from 1919 to 1939?</a:t>
            </a:r>
            <a:endParaRPr lang="en-AU" dirty="0"/>
          </a:p>
        </p:txBody>
      </p:sp>
      <p:pic>
        <p:nvPicPr>
          <p:cNvPr id="2050" name="Picture 2" descr="Image result for treaty of versaill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509120"/>
            <a:ext cx="2716681" cy="190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weimar republi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32656"/>
            <a:ext cx="2688233" cy="149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germany hyperinflati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933056"/>
            <a:ext cx="1989556" cy="272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jewish persecution in german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06859"/>
            <a:ext cx="3036808" cy="189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97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6601"/>
            <a:ext cx="8229600" cy="11430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AU" dirty="0" smtClean="0"/>
              <a:t>The Treaty of Versailles 1919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5661248"/>
            <a:ext cx="8229600" cy="1108720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en-AU" sz="1500" dirty="0" smtClean="0">
                <a:hlinkClick r:id="rId2"/>
              </a:rPr>
              <a:t>https://www.youtube.com/watch?v=vrYhLNQMRro&amp;list=PLu2xst_eS6dqvm8HMr6xMw8trY7JNWBOS</a:t>
            </a:r>
            <a:r>
              <a:rPr lang="en-AU" sz="1500" dirty="0" smtClean="0"/>
              <a:t>  </a:t>
            </a:r>
          </a:p>
          <a:p>
            <a:pPr marL="0" indent="0">
              <a:buNone/>
            </a:pPr>
            <a:endParaRPr lang="en-AU" sz="1500" dirty="0"/>
          </a:p>
          <a:p>
            <a:pPr marL="0" indent="0">
              <a:buNone/>
            </a:pPr>
            <a:r>
              <a:rPr lang="en-AU" sz="1500" dirty="0" smtClean="0">
                <a:hlinkClick r:id="rId3"/>
              </a:rPr>
              <a:t>https://www.youtube.com/watch?v=0jycVFL8CNM&amp;index=2&amp;list=PLu2xst_eS6dqvm8HMr6xMw8trY7JNWBOS</a:t>
            </a:r>
            <a:r>
              <a:rPr lang="en-AU" sz="1500" dirty="0" smtClean="0"/>
              <a:t>   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321290"/>
            <a:ext cx="3456384" cy="423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78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AU" dirty="0"/>
              <a:t>The Treaty of Versailles and the </a:t>
            </a:r>
            <a:r>
              <a:rPr lang="en-AU" i="1" dirty="0" err="1"/>
              <a:t>Dolchstosslegende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1" y="2207419"/>
            <a:ext cx="5292725" cy="3414713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AU" dirty="0"/>
              <a:t>Many German’s bitterly resented the harsh terms of the Treaty of Versailles and its humiliating clause blaming Germany for World </a:t>
            </a:r>
            <a:r>
              <a:rPr lang="en-AU"/>
              <a:t>War </a:t>
            </a:r>
            <a:r>
              <a:rPr lang="en-AU" smtClean="0"/>
              <a:t>One.</a:t>
            </a: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The </a:t>
            </a:r>
            <a:r>
              <a:rPr lang="en-AU" i="1" dirty="0"/>
              <a:t>‘Stab in the Back’ </a:t>
            </a:r>
            <a:r>
              <a:rPr lang="en-AU" dirty="0"/>
              <a:t>myth (</a:t>
            </a:r>
            <a:r>
              <a:rPr lang="en-AU" dirty="0" err="1"/>
              <a:t>Dolchstosslegende</a:t>
            </a:r>
            <a:r>
              <a:rPr lang="en-AU" dirty="0"/>
              <a:t>) was created, promoting the idea that Germany had not been defeated but was betrayed by the ‘November criminals’, the Democratic Socialists who signed the Treaty.</a:t>
            </a:r>
          </a:p>
          <a:p>
            <a:endParaRPr lang="en-AU" dirty="0"/>
          </a:p>
        </p:txBody>
      </p:sp>
      <p:pic>
        <p:nvPicPr>
          <p:cNvPr id="5122" name="Picture 2" descr="Image result for weimar republic political cartoons">
            <a:extLst>
              <a:ext uri="{FF2B5EF4-FFF2-40B4-BE49-F238E27FC236}">
                <a16:creationId xmlns:a16="http://schemas.microsoft.com/office/drawing/2014/main" id="{F14C853F-1B3E-484F-9F13-65EE7B47F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453" y="2677692"/>
            <a:ext cx="3303460" cy="224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E739A5-0169-44F6-9E04-8095C5D76821}"/>
              </a:ext>
            </a:extLst>
          </p:cNvPr>
          <p:cNvSpPr txBox="1"/>
          <p:nvPr/>
        </p:nvSpPr>
        <p:spPr>
          <a:xfrm>
            <a:off x="8051452" y="2400692"/>
            <a:ext cx="904461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Trebuchet MS" panose="020B0603020202020204"/>
              </a:rPr>
              <a:t>Source 1</a:t>
            </a:r>
          </a:p>
        </p:txBody>
      </p:sp>
    </p:spTree>
    <p:extLst>
      <p:ext uri="{BB962C8B-B14F-4D97-AF65-F5344CB8AC3E}">
        <p14:creationId xmlns:p14="http://schemas.microsoft.com/office/powerpoint/2010/main" val="184503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1" y="1112045"/>
            <a:ext cx="4926368" cy="994172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AU" dirty="0"/>
              <a:t>The Impact of the 1930s Great Depression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1" y="2207419"/>
            <a:ext cx="4731887" cy="3263504"/>
          </a:xfrm>
          <a:solidFill>
            <a:schemeClr val="bg1"/>
          </a:solidFill>
        </p:spPr>
        <p:txBody>
          <a:bodyPr/>
          <a:lstStyle/>
          <a:p>
            <a:r>
              <a:rPr lang="en-AU" dirty="0"/>
              <a:t>In the early 1920s Germany suffered hyperinflation as a result of printing money for reparations.</a:t>
            </a:r>
          </a:p>
          <a:p>
            <a:endParaRPr lang="en-AU" dirty="0"/>
          </a:p>
          <a:p>
            <a:r>
              <a:rPr lang="en-AU" dirty="0"/>
              <a:t>Germany was most severely affected by Great Depression.</a:t>
            </a:r>
          </a:p>
          <a:p>
            <a:endParaRPr lang="en-AU" dirty="0"/>
          </a:p>
          <a:p>
            <a:r>
              <a:rPr lang="en-AU" dirty="0"/>
              <a:t>By 1932 six million Germans were unemployed.</a:t>
            </a:r>
          </a:p>
        </p:txBody>
      </p:sp>
      <p:pic>
        <p:nvPicPr>
          <p:cNvPr id="1026" name="Picture 2" descr="Image result for german hyperinfla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986" y="968582"/>
            <a:ext cx="3613018" cy="495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446487-044E-4EAE-981C-856205E36B8F}"/>
              </a:ext>
            </a:extLst>
          </p:cNvPr>
          <p:cNvSpPr txBox="1"/>
          <p:nvPr/>
        </p:nvSpPr>
        <p:spPr>
          <a:xfrm>
            <a:off x="8239539" y="5723751"/>
            <a:ext cx="904461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Trebuchet MS" panose="020B0603020202020204"/>
              </a:rPr>
              <a:t>Source </a:t>
            </a:r>
            <a:r>
              <a:rPr lang="en-AU" sz="1350" dirty="0">
                <a:solidFill>
                  <a:srgbClr val="FF0000"/>
                </a:solidFill>
                <a:latin typeface="Trebuchet MS" panose="020B0603020202020204"/>
              </a:rPr>
              <a:t>2</a:t>
            </a:r>
            <a:endParaRPr lang="en-AU" sz="1350" dirty="0">
              <a:solidFill>
                <a:srgbClr val="FF0000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5442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D8C7-64A5-41D4-9ABF-24488EE1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51"/>
            <a:ext cx="4787072" cy="994172"/>
          </a:xfrm>
          <a:solidFill>
            <a:schemeClr val="bg1"/>
          </a:solidFill>
        </p:spPr>
        <p:txBody>
          <a:bodyPr/>
          <a:lstStyle/>
          <a:p>
            <a:r>
              <a:rPr lang="en-AU" dirty="0"/>
              <a:t>The Rise of the Nazis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02C6B-315F-4741-A14B-015C895AE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7447"/>
            <a:ext cx="9144000" cy="4163303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AU" dirty="0"/>
              <a:t>After a failed attempt (sending Hitler to jail where he wrote </a:t>
            </a:r>
            <a:r>
              <a:rPr lang="en-AU" i="1" dirty="0"/>
              <a:t>Mein Kampf </a:t>
            </a:r>
            <a:r>
              <a:rPr lang="en-AU" dirty="0"/>
              <a:t>(My Struggle)) to seize power in 1923, Hitler focused on building support.</a:t>
            </a:r>
          </a:p>
          <a:p>
            <a:pPr>
              <a:lnSpc>
                <a:spcPct val="170000"/>
              </a:lnSpc>
            </a:pPr>
            <a:r>
              <a:rPr lang="en-AU" dirty="0"/>
              <a:t>He built support through:</a:t>
            </a:r>
          </a:p>
          <a:p>
            <a:pPr lvl="1">
              <a:lnSpc>
                <a:spcPct val="170000"/>
              </a:lnSpc>
            </a:pPr>
            <a:r>
              <a:rPr lang="en-AU" dirty="0"/>
              <a:t>Propaganda (Joseph Goebbels)</a:t>
            </a:r>
          </a:p>
          <a:p>
            <a:pPr lvl="1">
              <a:lnSpc>
                <a:spcPct val="170000"/>
              </a:lnSpc>
            </a:pPr>
            <a:r>
              <a:rPr lang="en-AU" dirty="0"/>
              <a:t>Nuremburg rallies</a:t>
            </a:r>
          </a:p>
          <a:p>
            <a:pPr lvl="1">
              <a:lnSpc>
                <a:spcPct val="170000"/>
              </a:lnSpc>
            </a:pPr>
            <a:r>
              <a:rPr lang="en-AU" dirty="0"/>
              <a:t>Hitler Youth</a:t>
            </a:r>
          </a:p>
          <a:p>
            <a:pPr>
              <a:lnSpc>
                <a:spcPct val="170000"/>
              </a:lnSpc>
            </a:pPr>
            <a:r>
              <a:rPr lang="en-AU" dirty="0"/>
              <a:t>Nazi ideology:</a:t>
            </a:r>
          </a:p>
          <a:p>
            <a:pPr lvl="1">
              <a:lnSpc>
                <a:spcPct val="170000"/>
              </a:lnSpc>
            </a:pPr>
            <a:r>
              <a:rPr lang="en-AU" dirty="0"/>
              <a:t>Only the strong survive</a:t>
            </a:r>
          </a:p>
          <a:p>
            <a:pPr lvl="1">
              <a:lnSpc>
                <a:spcPct val="170000"/>
              </a:lnSpc>
            </a:pPr>
            <a:r>
              <a:rPr lang="en-AU" dirty="0"/>
              <a:t>The hated communism was a Jewish ideology</a:t>
            </a:r>
          </a:p>
          <a:p>
            <a:pPr lvl="1">
              <a:lnSpc>
                <a:spcPct val="170000"/>
              </a:lnSpc>
            </a:pPr>
            <a:r>
              <a:rPr lang="en-AU" dirty="0"/>
              <a:t>The Germanic master race must defeat its racial </a:t>
            </a:r>
          </a:p>
          <a:p>
            <a:pPr lvl="1">
              <a:lnSpc>
                <a:spcPct val="170000"/>
              </a:lnSpc>
            </a:pPr>
            <a:r>
              <a:rPr lang="en-AU" dirty="0"/>
              <a:t>Germany must gain </a:t>
            </a:r>
            <a:r>
              <a:rPr lang="en-AU" i="1" dirty="0"/>
              <a:t>Lebensraum</a:t>
            </a:r>
            <a:r>
              <a:rPr lang="en-AU" dirty="0"/>
              <a:t> (living space) for its expanding population by taking land from non-Aryan races</a:t>
            </a:r>
          </a:p>
          <a:p>
            <a:pPr lvl="1">
              <a:lnSpc>
                <a:spcPct val="170000"/>
              </a:lnSpc>
            </a:pPr>
            <a:r>
              <a:rPr lang="en-AU" dirty="0"/>
              <a:t>The </a:t>
            </a:r>
            <a:r>
              <a:rPr lang="en-AU" i="1" dirty="0" err="1"/>
              <a:t>Fuhrerprinzip</a:t>
            </a:r>
            <a:r>
              <a:rPr lang="en-AU" i="1" dirty="0"/>
              <a:t> </a:t>
            </a:r>
            <a:r>
              <a:rPr lang="en-AU" dirty="0"/>
              <a:t>(leader principle) dictates that all opposition must be crushed and there must be total obedience to the leader.</a:t>
            </a:r>
          </a:p>
        </p:txBody>
      </p:sp>
      <p:pic>
        <p:nvPicPr>
          <p:cNvPr id="3074" name="Picture 2" descr="Image result for joseph goebbels and hitler">
            <a:extLst>
              <a:ext uri="{FF2B5EF4-FFF2-40B4-BE49-F238E27FC236}">
                <a16:creationId xmlns:a16="http://schemas.microsoft.com/office/drawing/2014/main" id="{45C25FCA-F02D-47AD-82C4-92ADB8A41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869" y="2582343"/>
            <a:ext cx="2877068" cy="214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38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AU" dirty="0"/>
              <a:t>The fall of democratic government (Weimar)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1" y="2207419"/>
            <a:ext cx="5542445" cy="3624440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AU" dirty="0"/>
              <a:t>Following WW1, German officials believed the ‘Big Three’ wouldn’t give them such harsh terms in the Treaty of Versailles if they had a democratic government. Therefore, the Weimar Republic was created.</a:t>
            </a:r>
          </a:p>
          <a:p>
            <a:pPr>
              <a:lnSpc>
                <a:spcPct val="150000"/>
              </a:lnSpc>
            </a:pPr>
            <a:r>
              <a:rPr lang="en-AU" dirty="0"/>
              <a:t>The Nazi’s used the Great Depression and negative economic climate in Germany to gain popularity.</a:t>
            </a:r>
          </a:p>
          <a:p>
            <a:pPr>
              <a:lnSpc>
                <a:spcPct val="150000"/>
              </a:lnSpc>
            </a:pPr>
            <a:r>
              <a:rPr lang="en-AU" dirty="0"/>
              <a:t>The Nazi Party gained votes in the Reichstag (government/parliament).</a:t>
            </a:r>
          </a:p>
          <a:p>
            <a:pPr>
              <a:lnSpc>
                <a:spcPct val="150000"/>
              </a:lnSpc>
            </a:pPr>
            <a:r>
              <a:rPr lang="en-AU" dirty="0"/>
              <a:t>On 30</a:t>
            </a:r>
            <a:r>
              <a:rPr lang="en-AU" baseline="30000" dirty="0"/>
              <a:t>th</a:t>
            </a:r>
            <a:r>
              <a:rPr lang="en-AU" dirty="0"/>
              <a:t> </a:t>
            </a:r>
            <a:r>
              <a:rPr lang="en-AU" dirty="0" smtClean="0"/>
              <a:t>January 1933, </a:t>
            </a:r>
            <a:r>
              <a:rPr lang="en-AU" dirty="0"/>
              <a:t>President Hindenburg invited Hitler to become Chancellor.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2F76B-1040-4F67-8569-77567AA70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864" y="2345516"/>
            <a:ext cx="2915535" cy="3173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D528CA-4A64-4068-8DFE-42BC389373C3}"/>
              </a:ext>
            </a:extLst>
          </p:cNvPr>
          <p:cNvSpPr txBox="1"/>
          <p:nvPr/>
        </p:nvSpPr>
        <p:spPr>
          <a:xfrm>
            <a:off x="8130938" y="5517395"/>
            <a:ext cx="904461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Trebuchet MS" panose="020B0603020202020204"/>
              </a:rPr>
              <a:t>Source </a:t>
            </a:r>
            <a:r>
              <a:rPr lang="en-AU" sz="1350" dirty="0">
                <a:solidFill>
                  <a:srgbClr val="FF0000"/>
                </a:solidFill>
                <a:latin typeface="Trebuchet MS" panose="020B0603020202020204"/>
              </a:rPr>
              <a:t>3</a:t>
            </a:r>
            <a:endParaRPr lang="en-AU" sz="1350" dirty="0">
              <a:solidFill>
                <a:srgbClr val="FF0000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1141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29EE-028D-49FF-8BB9-4F5078B07BB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AU" dirty="0"/>
              <a:t>Consolidating Nazi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894EA-9258-4703-B3B2-1D433740D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251" y="2207419"/>
            <a:ext cx="6737350" cy="3793331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AU" dirty="0"/>
              <a:t>A month after Hitler became Chancellor, the Reichstag was severely damaged by fire.</a:t>
            </a:r>
          </a:p>
          <a:p>
            <a:pPr>
              <a:lnSpc>
                <a:spcPct val="170000"/>
              </a:lnSpc>
            </a:pPr>
            <a:r>
              <a:rPr lang="en-AU" dirty="0"/>
              <a:t>The Nazi’s used this to stir fears of a Communist uprising.</a:t>
            </a:r>
          </a:p>
          <a:p>
            <a:pPr>
              <a:lnSpc>
                <a:spcPct val="170000"/>
              </a:lnSpc>
            </a:pPr>
            <a:r>
              <a:rPr lang="en-AU" dirty="0"/>
              <a:t>Hitler persuaded President Hindenburg to issue a Decree for the Protection of People and State (The Reichstag Fire Decree) which abolished freedom of the press, speech and assembly.</a:t>
            </a:r>
          </a:p>
          <a:p>
            <a:pPr>
              <a:lnSpc>
                <a:spcPct val="170000"/>
              </a:lnSpc>
            </a:pPr>
            <a:r>
              <a:rPr lang="en-AU" dirty="0"/>
              <a:t>The Nazi’s used this decree to restrict other political party campaigning.</a:t>
            </a:r>
          </a:p>
          <a:p>
            <a:pPr>
              <a:lnSpc>
                <a:spcPct val="170000"/>
              </a:lnSpc>
            </a:pPr>
            <a:r>
              <a:rPr lang="en-AU" dirty="0"/>
              <a:t>March 1933 Reichstag elections, Nazi’s won.</a:t>
            </a:r>
          </a:p>
          <a:p>
            <a:pPr>
              <a:lnSpc>
                <a:spcPct val="170000"/>
              </a:lnSpc>
            </a:pPr>
            <a:r>
              <a:rPr lang="en-AU" dirty="0"/>
              <a:t>23 March 1933 Enabling Act gave Hitler dictatorial powers.</a:t>
            </a:r>
          </a:p>
        </p:txBody>
      </p:sp>
      <p:pic>
        <p:nvPicPr>
          <p:cNvPr id="7170" name="Picture 2" descr="Image result for reichstag fire">
            <a:extLst>
              <a:ext uri="{FF2B5EF4-FFF2-40B4-BE49-F238E27FC236}">
                <a16:creationId xmlns:a16="http://schemas.microsoft.com/office/drawing/2014/main" id="{DDCDC742-5CB1-4936-9D63-69E273C91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026" y="1761998"/>
            <a:ext cx="2320940" cy="141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 result for enabling act">
            <a:extLst>
              <a:ext uri="{FF2B5EF4-FFF2-40B4-BE49-F238E27FC236}">
                <a16:creationId xmlns:a16="http://schemas.microsoft.com/office/drawing/2014/main" id="{8E27261C-47B6-4F28-944A-0E2A9C3AB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212" y="3525595"/>
            <a:ext cx="1571625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53A3A8-2684-4D59-8958-BA521D16B4DF}"/>
              </a:ext>
            </a:extLst>
          </p:cNvPr>
          <p:cNvSpPr txBox="1"/>
          <p:nvPr/>
        </p:nvSpPr>
        <p:spPr>
          <a:xfrm>
            <a:off x="8014376" y="3248596"/>
            <a:ext cx="904461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Trebuchet MS" panose="020B0603020202020204"/>
              </a:rPr>
              <a:t>Source </a:t>
            </a:r>
            <a:r>
              <a:rPr lang="en-AU" sz="1350" dirty="0">
                <a:solidFill>
                  <a:srgbClr val="FF0000"/>
                </a:solidFill>
                <a:latin typeface="Trebuchet MS" panose="020B0603020202020204"/>
              </a:rPr>
              <a:t>4</a:t>
            </a:r>
            <a:endParaRPr lang="en-AU" sz="1350" dirty="0">
              <a:solidFill>
                <a:srgbClr val="FF0000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1432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AU" dirty="0" smtClean="0"/>
              <a:t>The Second World War begins…1939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844824"/>
            <a:ext cx="5525368" cy="47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47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1" y="806053"/>
            <a:ext cx="6737350" cy="99417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AU" dirty="0" smtClean="0"/>
              <a:t>Quick facts!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000" dirty="0"/>
              <a:t>Polish Catholic midwife </a:t>
            </a:r>
            <a:r>
              <a:rPr lang="en-AU" sz="3000" dirty="0" err="1"/>
              <a:t>Stanisława</a:t>
            </a:r>
            <a:r>
              <a:rPr lang="en-AU" sz="3000" dirty="0"/>
              <a:t> </a:t>
            </a:r>
            <a:r>
              <a:rPr lang="en-AU" sz="3000" dirty="0" err="1"/>
              <a:t>Leszczyńska</a:t>
            </a:r>
            <a:r>
              <a:rPr lang="en-AU" sz="3000" dirty="0"/>
              <a:t> delivered 3,000 babies at the Auschwitz concentration camp during the Holocaust in occupied Poland.</a:t>
            </a:r>
          </a:p>
        </p:txBody>
      </p:sp>
    </p:spTree>
    <p:extLst>
      <p:ext uri="{BB962C8B-B14F-4D97-AF65-F5344CB8AC3E}">
        <p14:creationId xmlns:p14="http://schemas.microsoft.com/office/powerpoint/2010/main" val="4189488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1" y="1070897"/>
            <a:ext cx="6737350" cy="99417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AU" dirty="0" smtClean="0"/>
              <a:t>Quick facts!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000" dirty="0"/>
              <a:t>In World War II, British soldiers got a ration of three sheets of toilet paper a day. Americans got 22.</a:t>
            </a:r>
          </a:p>
        </p:txBody>
      </p:sp>
    </p:spTree>
    <p:extLst>
      <p:ext uri="{BB962C8B-B14F-4D97-AF65-F5344CB8AC3E}">
        <p14:creationId xmlns:p14="http://schemas.microsoft.com/office/powerpoint/2010/main" val="3536477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1" y="1070897"/>
            <a:ext cx="6737350" cy="99417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AU" dirty="0" smtClean="0"/>
              <a:t>Quick facts!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000" dirty="0"/>
              <a:t>Only 20% of the males born in the Soviet Union in 1923 survived the war.</a:t>
            </a:r>
          </a:p>
        </p:txBody>
      </p:sp>
    </p:spTree>
    <p:extLst>
      <p:ext uri="{BB962C8B-B14F-4D97-AF65-F5344CB8AC3E}">
        <p14:creationId xmlns:p14="http://schemas.microsoft.com/office/powerpoint/2010/main" val="2434403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AU" dirty="0" smtClean="0"/>
              <a:t>Pop Question!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1" y="2207419"/>
            <a:ext cx="6189980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500" dirty="0"/>
              <a:t>Who was </a:t>
            </a:r>
            <a:r>
              <a:rPr lang="en-AU" sz="4500" i="1" dirty="0"/>
              <a:t>Time Magazine’s Man of the Year</a:t>
            </a:r>
            <a:r>
              <a:rPr lang="en-AU" sz="4500" dirty="0"/>
              <a:t> in 1938?</a:t>
            </a:r>
            <a:endParaRPr lang="en-AU" sz="4500" dirty="0"/>
          </a:p>
        </p:txBody>
      </p:sp>
    </p:spTree>
    <p:extLst>
      <p:ext uri="{BB962C8B-B14F-4D97-AF65-F5344CB8AC3E}">
        <p14:creationId xmlns:p14="http://schemas.microsoft.com/office/powerpoint/2010/main" val="4086965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adolf hitler time magazine 1938 man of the ye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518" y="1012459"/>
            <a:ext cx="3686810" cy="485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358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AU" sz="3500" dirty="0" smtClean="0"/>
              <a:t>321RIQ: The Interwar Years (1918-1939)</a:t>
            </a:r>
            <a:endParaRPr lang="en-AU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5141168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AU" b="1" dirty="0" smtClean="0">
                <a:solidFill>
                  <a:srgbClr val="002060"/>
                </a:solidFill>
              </a:rPr>
              <a:t>3 recalls</a:t>
            </a:r>
            <a:endParaRPr lang="en-AU" dirty="0">
              <a:solidFill>
                <a:srgbClr val="00206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AU" dirty="0" smtClean="0"/>
              <a:t>State 3 facts you can recall (key dates, significant individuals, key events, economic/political/social relationships)</a:t>
            </a:r>
          </a:p>
          <a:p>
            <a:pPr marL="0" indent="0">
              <a:lnSpc>
                <a:spcPct val="170000"/>
              </a:lnSpc>
              <a:buNone/>
            </a:pPr>
            <a:endParaRPr lang="en-AU" dirty="0"/>
          </a:p>
          <a:p>
            <a:pPr marL="0" indent="0">
              <a:lnSpc>
                <a:spcPct val="170000"/>
              </a:lnSpc>
              <a:buNone/>
            </a:pPr>
            <a:r>
              <a:rPr lang="en-AU" b="1" dirty="0" smtClean="0">
                <a:solidFill>
                  <a:srgbClr val="002060"/>
                </a:solidFill>
              </a:rPr>
              <a:t>2 insights</a:t>
            </a:r>
            <a:endParaRPr lang="en-AU" dirty="0" smtClean="0">
              <a:solidFill>
                <a:srgbClr val="00206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AU" dirty="0"/>
              <a:t>O</a:t>
            </a:r>
            <a:r>
              <a:rPr lang="en-AU" dirty="0" smtClean="0"/>
              <a:t>utline 2 insights you have (why is the information relevant? What is the </a:t>
            </a:r>
            <a:r>
              <a:rPr lang="en-AU" b="1" dirty="0" smtClean="0">
                <a:solidFill>
                  <a:srgbClr val="CC0000"/>
                </a:solidFill>
              </a:rPr>
              <a:t>significance</a:t>
            </a:r>
            <a:r>
              <a:rPr lang="en-AU" b="1" dirty="0" smtClean="0"/>
              <a:t> </a:t>
            </a:r>
            <a:r>
              <a:rPr lang="en-AU" dirty="0" smtClean="0"/>
              <a:t>of the events? How does this information relate to you? How does this information show </a:t>
            </a:r>
            <a:r>
              <a:rPr lang="en-AU" b="1" dirty="0" smtClean="0">
                <a:solidFill>
                  <a:srgbClr val="C00000"/>
                </a:solidFill>
              </a:rPr>
              <a:t>cause and effect </a:t>
            </a:r>
            <a:r>
              <a:rPr lang="en-AU" dirty="0" smtClean="0"/>
              <a:t>or </a:t>
            </a:r>
            <a:r>
              <a:rPr lang="en-AU" b="1" dirty="0" smtClean="0">
                <a:solidFill>
                  <a:srgbClr val="C00000"/>
                </a:solidFill>
              </a:rPr>
              <a:t>continuity and change</a:t>
            </a:r>
            <a:r>
              <a:rPr lang="en-AU" dirty="0" smtClean="0"/>
              <a:t>?)</a:t>
            </a:r>
          </a:p>
          <a:p>
            <a:pPr marL="0" indent="0">
              <a:lnSpc>
                <a:spcPct val="170000"/>
              </a:lnSpc>
              <a:buNone/>
            </a:pPr>
            <a:endParaRPr lang="en-AU" dirty="0"/>
          </a:p>
          <a:p>
            <a:pPr marL="0" indent="0">
              <a:lnSpc>
                <a:spcPct val="170000"/>
              </a:lnSpc>
              <a:buNone/>
            </a:pPr>
            <a:r>
              <a:rPr lang="en-AU" b="1" dirty="0" smtClean="0">
                <a:solidFill>
                  <a:srgbClr val="002060"/>
                </a:solidFill>
              </a:rPr>
              <a:t>1 question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AU" dirty="0" smtClean="0"/>
              <a:t>(I do not understand why… How does this affect… What is the relevance of… How does this relate to… What would have happened if… 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678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istory-PowerPoint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ija1" id="{D4D880D6-7451-4D65-9B84-DE71E52ED0E8}" vid="{2B51C142-A047-47E3-8D0A-FBD1B02EE17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699</Words>
  <Application>Microsoft Office PowerPoint</Application>
  <PresentationFormat>On-screen Show (4:3)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Bookman Old Style</vt:lpstr>
      <vt:lpstr>Calibri</vt:lpstr>
      <vt:lpstr>Trebuchet MS</vt:lpstr>
      <vt:lpstr>Office Theme</vt:lpstr>
      <vt:lpstr>History-PowerPoint-Template</vt:lpstr>
      <vt:lpstr>Year 11 History The Interwar Years 1918-1939</vt:lpstr>
      <vt:lpstr>What do you remember from year 10 about the interwar period from 1919 to 1939?</vt:lpstr>
      <vt:lpstr>The Treaty of Versailles 1919</vt:lpstr>
      <vt:lpstr>The Treaty of Versailles and the Dolchstosslegende</vt:lpstr>
      <vt:lpstr>The Impact of the 1930s Great Depression</vt:lpstr>
      <vt:lpstr>The Rise of the Nazis</vt:lpstr>
      <vt:lpstr>The fall of democratic government (Weimar)</vt:lpstr>
      <vt:lpstr>Consolidating Nazi Power</vt:lpstr>
      <vt:lpstr>The Second World War begins…1939</vt:lpstr>
      <vt:lpstr>Quick facts!</vt:lpstr>
      <vt:lpstr>Quick facts!</vt:lpstr>
      <vt:lpstr>Quick facts!</vt:lpstr>
      <vt:lpstr>Pop Question!</vt:lpstr>
      <vt:lpstr>PowerPoint Presentation</vt:lpstr>
      <vt:lpstr>321RIQ: The Interwar Years (1918-1939)</vt:lpstr>
    </vt:vector>
  </TitlesOfParts>
  <Company>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10 History The Interwar Years 1918-1939</dc:title>
  <dc:creator>e4097773</dc:creator>
  <cp:lastModifiedBy>HAWKES Natasha [Narrogin Senior High School]</cp:lastModifiedBy>
  <cp:revision>6</cp:revision>
  <dcterms:created xsi:type="dcterms:W3CDTF">2018-07-23T23:54:09Z</dcterms:created>
  <dcterms:modified xsi:type="dcterms:W3CDTF">2019-05-23T05:16:41Z</dcterms:modified>
</cp:coreProperties>
</file>
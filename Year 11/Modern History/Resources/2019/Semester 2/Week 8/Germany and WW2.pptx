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6" r:id="rId8"/>
    <p:sldId id="263" r:id="rId9"/>
    <p:sldId id="264" r:id="rId10"/>
    <p:sldId id="262" r:id="rId11"/>
    <p:sldId id="267" r:id="rId12"/>
    <p:sldId id="265" r:id="rId13"/>
    <p:sldId id="268" r:id="rId14"/>
    <p:sldId id="269" r:id="rId15"/>
    <p:sldId id="270" r:id="rId16"/>
    <p:sldId id="271" r:id="rId17"/>
    <p:sldId id="278" r:id="rId18"/>
    <p:sldId id="279" r:id="rId19"/>
    <p:sldId id="272" r:id="rId20"/>
    <p:sldId id="273" r:id="rId21"/>
    <p:sldId id="274" r:id="rId22"/>
    <p:sldId id="275" r:id="rId23"/>
    <p:sldId id="276" r:id="rId24"/>
    <p:sldId id="27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115" d="100"/>
          <a:sy n="115" d="100"/>
        </p:scale>
        <p:origin x="20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2D239FF-36A9-45D8-B03F-9361AD9420D8}" type="datetimeFigureOut">
              <a:rPr lang="en-AU" smtClean="0"/>
              <a:t>11/09/2019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712582FC-2EB3-446C-870D-FA2D96D64099}" type="slidenum">
              <a:rPr lang="en-AU" smtClean="0"/>
              <a:t>‹#›</a:t>
            </a:fld>
            <a:endParaRPr lang="en-AU"/>
          </a:p>
        </p:txBody>
      </p:sp>
    </p:spTree>
    <p:extLst>
      <p:ext uri="{BB962C8B-B14F-4D97-AF65-F5344CB8AC3E}">
        <p14:creationId xmlns:p14="http://schemas.microsoft.com/office/powerpoint/2010/main" val="119394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D239FF-36A9-45D8-B03F-9361AD9420D8}" type="datetimeFigureOut">
              <a:rPr lang="en-AU" smtClean="0"/>
              <a:t>11/09/2019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12582FC-2EB3-446C-870D-FA2D96D64099}" type="slidenum">
              <a:rPr lang="en-AU" smtClean="0"/>
              <a:t>‹#›</a:t>
            </a:fld>
            <a:endParaRPr lang="en-AU"/>
          </a:p>
        </p:txBody>
      </p:sp>
    </p:spTree>
    <p:extLst>
      <p:ext uri="{BB962C8B-B14F-4D97-AF65-F5344CB8AC3E}">
        <p14:creationId xmlns:p14="http://schemas.microsoft.com/office/powerpoint/2010/main" val="3515153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E2D239FF-36A9-45D8-B03F-9361AD9420D8}" type="datetimeFigureOut">
              <a:rPr lang="en-AU" smtClean="0"/>
              <a:t>11/09/2019</a:t>
            </a:fld>
            <a:endParaRPr lang="en-AU"/>
          </a:p>
        </p:txBody>
      </p:sp>
      <p:sp>
        <p:nvSpPr>
          <p:cNvPr id="5" name="Footer Placeholder 4"/>
          <p:cNvSpPr>
            <a:spLocks noGrp="1"/>
          </p:cNvSpPr>
          <p:nvPr>
            <p:ph type="ftr" sz="quarter" idx="11"/>
          </p:nvPr>
        </p:nvSpPr>
        <p:spPr>
          <a:xfrm>
            <a:off x="2182708" y="6272784"/>
            <a:ext cx="6327648" cy="365125"/>
          </a:xfrm>
        </p:spPr>
        <p:txBody>
          <a:bodyPr/>
          <a:lstStyle/>
          <a:p>
            <a:endParaRPr lang="en-AU"/>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712582FC-2EB3-446C-870D-FA2D96D64099}" type="slidenum">
              <a:rPr lang="en-AU" smtClean="0"/>
              <a:t>‹#›</a:t>
            </a:fld>
            <a:endParaRPr lang="en-AU"/>
          </a:p>
        </p:txBody>
      </p:sp>
    </p:spTree>
    <p:extLst>
      <p:ext uri="{BB962C8B-B14F-4D97-AF65-F5344CB8AC3E}">
        <p14:creationId xmlns:p14="http://schemas.microsoft.com/office/powerpoint/2010/main" val="2455816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2D239FF-36A9-45D8-B03F-9361AD9420D8}" type="datetimeFigureOut">
              <a:rPr lang="en-AU" smtClean="0"/>
              <a:t>11/09/2019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12582FC-2EB3-446C-870D-FA2D96D64099}" type="slidenum">
              <a:rPr lang="en-AU" smtClean="0"/>
              <a:t>‹#›</a:t>
            </a:fld>
            <a:endParaRPr lang="en-AU"/>
          </a:p>
        </p:txBody>
      </p:sp>
    </p:spTree>
    <p:extLst>
      <p:ext uri="{BB962C8B-B14F-4D97-AF65-F5344CB8AC3E}">
        <p14:creationId xmlns:p14="http://schemas.microsoft.com/office/powerpoint/2010/main" val="3899021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2D239FF-36A9-45D8-B03F-9361AD9420D8}" type="datetimeFigureOut">
              <a:rPr lang="en-AU" smtClean="0"/>
              <a:t>11/09/2019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12582FC-2EB3-446C-870D-FA2D96D64099}" type="slidenum">
              <a:rPr lang="en-AU" smtClean="0"/>
              <a:t>‹#›</a:t>
            </a:fld>
            <a:endParaRPr lang="en-AU"/>
          </a:p>
        </p:txBody>
      </p:sp>
    </p:spTree>
    <p:extLst>
      <p:ext uri="{BB962C8B-B14F-4D97-AF65-F5344CB8AC3E}">
        <p14:creationId xmlns:p14="http://schemas.microsoft.com/office/powerpoint/2010/main" val="4061395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2D239FF-36A9-45D8-B03F-9361AD9420D8}" type="datetimeFigureOut">
              <a:rPr lang="en-AU" smtClean="0"/>
              <a:t>11/09/2019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12582FC-2EB3-446C-870D-FA2D96D64099}" type="slidenum">
              <a:rPr lang="en-AU" smtClean="0"/>
              <a:t>‹#›</a:t>
            </a:fld>
            <a:endParaRPr lang="en-AU"/>
          </a:p>
        </p:txBody>
      </p:sp>
    </p:spTree>
    <p:extLst>
      <p:ext uri="{BB962C8B-B14F-4D97-AF65-F5344CB8AC3E}">
        <p14:creationId xmlns:p14="http://schemas.microsoft.com/office/powerpoint/2010/main" val="1839072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239FF-36A9-45D8-B03F-9361AD9420D8}" type="datetimeFigureOut">
              <a:rPr lang="en-AU" smtClean="0"/>
              <a:t>11/09/2019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12582FC-2EB3-446C-870D-FA2D96D64099}" type="slidenum">
              <a:rPr lang="en-AU" smtClean="0"/>
              <a:t>‹#›</a:t>
            </a:fld>
            <a:endParaRPr lang="en-AU"/>
          </a:p>
        </p:txBody>
      </p:sp>
    </p:spTree>
    <p:extLst>
      <p:ext uri="{BB962C8B-B14F-4D97-AF65-F5344CB8AC3E}">
        <p14:creationId xmlns:p14="http://schemas.microsoft.com/office/powerpoint/2010/main" val="1443935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2D239FF-36A9-45D8-B03F-9361AD9420D8}" type="datetimeFigureOut">
              <a:rPr lang="en-AU" smtClean="0"/>
              <a:t>11/09/2019</a:t>
            </a:fld>
            <a:endParaRPr lang="en-AU"/>
          </a:p>
        </p:txBody>
      </p:sp>
      <p:sp>
        <p:nvSpPr>
          <p:cNvPr id="6" name="Footer Placeholder 5"/>
          <p:cNvSpPr>
            <a:spLocks noGrp="1"/>
          </p:cNvSpPr>
          <p:nvPr>
            <p:ph type="ftr" sz="quarter" idx="11"/>
          </p:nvPr>
        </p:nvSpPr>
        <p:spPr/>
        <p:txBody>
          <a:bodyPr/>
          <a:lstStyle/>
          <a:p>
            <a:endParaRPr lang="en-AU"/>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12582FC-2EB3-446C-870D-FA2D96D64099}" type="slidenum">
              <a:rPr lang="en-AU" smtClean="0"/>
              <a:t>‹#›</a:t>
            </a:fld>
            <a:endParaRPr lang="en-AU"/>
          </a:p>
        </p:txBody>
      </p:sp>
    </p:spTree>
    <p:extLst>
      <p:ext uri="{BB962C8B-B14F-4D97-AF65-F5344CB8AC3E}">
        <p14:creationId xmlns:p14="http://schemas.microsoft.com/office/powerpoint/2010/main" val="2545039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2D239FF-36A9-45D8-B03F-9361AD9420D8}" type="datetimeFigureOut">
              <a:rPr lang="en-AU" smtClean="0"/>
              <a:t>11/09/2019</a:t>
            </a:fld>
            <a:endParaRPr lang="en-AU"/>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12582FC-2EB3-446C-870D-FA2D96D64099}" type="slidenum">
              <a:rPr lang="en-AU" smtClean="0"/>
              <a:t>‹#›</a:t>
            </a:fld>
            <a:endParaRPr lang="en-AU"/>
          </a:p>
        </p:txBody>
      </p:sp>
    </p:spTree>
    <p:extLst>
      <p:ext uri="{BB962C8B-B14F-4D97-AF65-F5344CB8AC3E}">
        <p14:creationId xmlns:p14="http://schemas.microsoft.com/office/powerpoint/2010/main" val="372006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D239FF-36A9-45D8-B03F-9361AD9420D8}" type="datetimeFigureOut">
              <a:rPr lang="en-AU" smtClean="0"/>
              <a:t>11/09/2019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12582FC-2EB3-446C-870D-FA2D96D64099}" type="slidenum">
              <a:rPr lang="en-AU" smtClean="0"/>
              <a:t>‹#›</a:t>
            </a:fld>
            <a:endParaRPr lang="en-AU"/>
          </a:p>
        </p:txBody>
      </p:sp>
    </p:spTree>
    <p:extLst>
      <p:ext uri="{BB962C8B-B14F-4D97-AF65-F5344CB8AC3E}">
        <p14:creationId xmlns:p14="http://schemas.microsoft.com/office/powerpoint/2010/main" val="2413453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D239FF-36A9-45D8-B03F-9361AD9420D8}" type="datetimeFigureOut">
              <a:rPr lang="en-AU" smtClean="0"/>
              <a:t>11/09/2019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12582FC-2EB3-446C-870D-FA2D96D64099}" type="slidenum">
              <a:rPr lang="en-AU" smtClean="0"/>
              <a:t>‹#›</a:t>
            </a:fld>
            <a:endParaRPr lang="en-AU"/>
          </a:p>
        </p:txBody>
      </p:sp>
    </p:spTree>
    <p:extLst>
      <p:ext uri="{BB962C8B-B14F-4D97-AF65-F5344CB8AC3E}">
        <p14:creationId xmlns:p14="http://schemas.microsoft.com/office/powerpoint/2010/main" val="229169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E2D239FF-36A9-45D8-B03F-9361AD9420D8}" type="datetimeFigureOut">
              <a:rPr lang="en-AU" smtClean="0"/>
              <a:t>11/09/2019</a:t>
            </a:fld>
            <a:endParaRPr lang="en-AU"/>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AU"/>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712582FC-2EB3-446C-870D-FA2D96D64099}" type="slidenum">
              <a:rPr lang="en-AU" smtClean="0"/>
              <a:t>‹#›</a:t>
            </a:fld>
            <a:endParaRPr lang="en-AU"/>
          </a:p>
        </p:txBody>
      </p:sp>
    </p:spTree>
    <p:extLst>
      <p:ext uri="{BB962C8B-B14F-4D97-AF65-F5344CB8AC3E}">
        <p14:creationId xmlns:p14="http://schemas.microsoft.com/office/powerpoint/2010/main" val="100521342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watch?v=bClvk6T_CYQ"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hyperlink" Target="https://encyclopedia.ushmm.org/content/en/oral-history/blanka-rothschild-describes-forced-labor-in-the-ravensbrueck-camp?parent=en/268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526244"/>
          </a:xfrm>
        </p:spPr>
        <p:txBody>
          <a:bodyPr/>
          <a:lstStyle/>
          <a:p>
            <a:r>
              <a:rPr lang="en-AU" dirty="0" smtClean="0"/>
              <a:t>Germany and WW2</a:t>
            </a:r>
            <a:endParaRPr lang="en-AU" dirty="0"/>
          </a:p>
        </p:txBody>
      </p:sp>
      <p:sp>
        <p:nvSpPr>
          <p:cNvPr id="3" name="Subtitle 2"/>
          <p:cNvSpPr>
            <a:spLocks noGrp="1"/>
          </p:cNvSpPr>
          <p:nvPr>
            <p:ph type="subTitle" idx="1"/>
          </p:nvPr>
        </p:nvSpPr>
        <p:spPr>
          <a:xfrm>
            <a:off x="1524000" y="3602037"/>
            <a:ext cx="9144000" cy="2767231"/>
          </a:xfrm>
        </p:spPr>
        <p:txBody>
          <a:bodyPr>
            <a:normAutofit/>
          </a:bodyPr>
          <a:lstStyle/>
          <a:p>
            <a:pPr algn="l"/>
            <a:r>
              <a:rPr lang="en-AU" dirty="0" smtClean="0"/>
              <a:t>Invasion of Poland / Blitzkrieg </a:t>
            </a:r>
          </a:p>
          <a:p>
            <a:pPr algn="l"/>
            <a:r>
              <a:rPr lang="en-AU" dirty="0" smtClean="0"/>
              <a:t>‘</a:t>
            </a:r>
            <a:r>
              <a:rPr lang="en-AU" dirty="0"/>
              <a:t>P</a:t>
            </a:r>
            <a:r>
              <a:rPr lang="en-AU" dirty="0" smtClean="0"/>
              <a:t>honey </a:t>
            </a:r>
            <a:r>
              <a:rPr lang="en-AU" dirty="0"/>
              <a:t>W</a:t>
            </a:r>
            <a:r>
              <a:rPr lang="en-AU" dirty="0" smtClean="0"/>
              <a:t>ar’</a:t>
            </a:r>
          </a:p>
          <a:p>
            <a:pPr algn="l"/>
            <a:r>
              <a:rPr lang="en-AU" dirty="0" smtClean="0"/>
              <a:t>Fall of France and the Battle of Britain</a:t>
            </a:r>
          </a:p>
          <a:p>
            <a:pPr algn="l"/>
            <a:r>
              <a:rPr lang="en-AU" dirty="0" smtClean="0"/>
              <a:t>Operation Barbarossa</a:t>
            </a:r>
          </a:p>
          <a:p>
            <a:pPr algn="l"/>
            <a:r>
              <a:rPr lang="en-AU" dirty="0" smtClean="0"/>
              <a:t>Stalingrad </a:t>
            </a:r>
          </a:p>
          <a:p>
            <a:pPr algn="l"/>
            <a:r>
              <a:rPr lang="en-AU" dirty="0" smtClean="0"/>
              <a:t>The final solution </a:t>
            </a:r>
            <a:endParaRPr lang="en-AU" dirty="0"/>
          </a:p>
        </p:txBody>
      </p:sp>
    </p:spTree>
    <p:extLst>
      <p:ext uri="{BB962C8B-B14F-4D97-AF65-F5344CB8AC3E}">
        <p14:creationId xmlns:p14="http://schemas.microsoft.com/office/powerpoint/2010/main" val="2347238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Invasion of Poland / Blitzkrieg </a:t>
            </a:r>
          </a:p>
        </p:txBody>
      </p:sp>
      <p:sp>
        <p:nvSpPr>
          <p:cNvPr id="3" name="Content Placeholder 2"/>
          <p:cNvSpPr>
            <a:spLocks noGrp="1"/>
          </p:cNvSpPr>
          <p:nvPr>
            <p:ph idx="1"/>
          </p:nvPr>
        </p:nvSpPr>
        <p:spPr>
          <a:xfrm>
            <a:off x="268014" y="2121408"/>
            <a:ext cx="10860234" cy="4358220"/>
          </a:xfrm>
        </p:spPr>
        <p:txBody>
          <a:bodyPr>
            <a:normAutofit/>
          </a:bodyPr>
          <a:lstStyle/>
          <a:p>
            <a:pPr marL="0" indent="0">
              <a:buNone/>
            </a:pPr>
            <a:endParaRPr lang="en-AU" dirty="0"/>
          </a:p>
          <a:p>
            <a:r>
              <a:rPr lang="en-AU" dirty="0" smtClean="0"/>
              <a:t>What was the Blitzkrieg? </a:t>
            </a:r>
            <a:r>
              <a:rPr lang="en-AU" dirty="0">
                <a:hlinkClick r:id="rId2"/>
              </a:rPr>
              <a:t>https://</a:t>
            </a:r>
            <a:r>
              <a:rPr lang="en-AU" dirty="0" smtClean="0">
                <a:hlinkClick r:id="rId2"/>
              </a:rPr>
              <a:t>www.youtube.com/watch?v=bClvk6T_CYQ</a:t>
            </a:r>
            <a:endParaRPr lang="en-AU" dirty="0" smtClean="0"/>
          </a:p>
          <a:p>
            <a:pPr marL="0" indent="0">
              <a:buNone/>
            </a:pPr>
            <a:endParaRPr lang="en-AU" dirty="0" smtClean="0"/>
          </a:p>
          <a:p>
            <a:r>
              <a:rPr lang="en-AU" dirty="0" smtClean="0"/>
              <a:t>Blitzkrieg = lightning war</a:t>
            </a:r>
          </a:p>
          <a:p>
            <a:r>
              <a:rPr lang="en-AU" dirty="0" smtClean="0"/>
              <a:t>A </a:t>
            </a:r>
            <a:r>
              <a:rPr lang="en-AU" dirty="0"/>
              <a:t>military tactic designed to create </a:t>
            </a:r>
            <a:r>
              <a:rPr lang="en-AU" dirty="0" smtClean="0"/>
              <a:t>disorganisation </a:t>
            </a:r>
            <a:r>
              <a:rPr lang="en-AU" dirty="0"/>
              <a:t>among enemy forces through the use of mobile forces and locally concentrated firepower</a:t>
            </a:r>
            <a:r>
              <a:rPr lang="en-AU" dirty="0" smtClean="0"/>
              <a:t>.</a:t>
            </a:r>
          </a:p>
          <a:p>
            <a:r>
              <a:rPr lang="en-AU" dirty="0"/>
              <a:t>Poland had received the former German provinces of West Prussia, Poznan, and Upper Silesia under the Treaty of Versailles. </a:t>
            </a:r>
            <a:endParaRPr lang="en-AU" dirty="0" smtClean="0"/>
          </a:p>
          <a:p>
            <a:r>
              <a:rPr lang="en-AU" dirty="0"/>
              <a:t>On September 1, 1939, Germany invaded Poland. To justify the action, Nazi propagandists falsely claimed that Poland had been planning, with its allies Great Britain and France, to encircle and dismember Germany and that Poles were persecuting ethnic Germans.</a:t>
            </a:r>
          </a:p>
        </p:txBody>
      </p:sp>
    </p:spTree>
    <p:extLst>
      <p:ext uri="{BB962C8B-B14F-4D97-AF65-F5344CB8AC3E}">
        <p14:creationId xmlns:p14="http://schemas.microsoft.com/office/powerpoint/2010/main" val="3262832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germany invade pola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478" y="1614706"/>
            <a:ext cx="4763267" cy="36523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germany invade pola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8649" y="1751533"/>
            <a:ext cx="5988816" cy="3378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802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erman gains, 1936-1938 [LCID: ger76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603" y="319416"/>
            <a:ext cx="9272204" cy="6084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016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‘Phoney War</a:t>
            </a:r>
            <a:r>
              <a:rPr lang="en-AU" dirty="0" smtClean="0"/>
              <a:t>’</a:t>
            </a:r>
            <a:endParaRPr lang="en-AU" dirty="0"/>
          </a:p>
        </p:txBody>
      </p:sp>
      <p:sp>
        <p:nvSpPr>
          <p:cNvPr id="3" name="Content Placeholder 2"/>
          <p:cNvSpPr>
            <a:spLocks noGrp="1"/>
          </p:cNvSpPr>
          <p:nvPr>
            <p:ph idx="1"/>
          </p:nvPr>
        </p:nvSpPr>
        <p:spPr>
          <a:xfrm>
            <a:off x="359439" y="1790332"/>
            <a:ext cx="5773348" cy="4815420"/>
          </a:xfrm>
        </p:spPr>
        <p:txBody>
          <a:bodyPr>
            <a:normAutofit lnSpcReduction="10000"/>
          </a:bodyPr>
          <a:lstStyle/>
          <a:p>
            <a:pPr>
              <a:lnSpc>
                <a:spcPct val="150000"/>
              </a:lnSpc>
            </a:pPr>
            <a:r>
              <a:rPr lang="en-AU" dirty="0" smtClean="0"/>
              <a:t>The </a:t>
            </a:r>
            <a:r>
              <a:rPr lang="en-AU" dirty="0"/>
              <a:t>name given to the period of time in World War Two from September 1939 to April 1940 when, after the blitzkrieg attack on Poland in September 1939, seemingly nothing happened. </a:t>
            </a:r>
            <a:endParaRPr lang="en-AU" dirty="0" smtClean="0"/>
          </a:p>
          <a:p>
            <a:pPr>
              <a:lnSpc>
                <a:spcPct val="150000"/>
              </a:lnSpc>
            </a:pPr>
            <a:r>
              <a:rPr lang="en-AU" dirty="0"/>
              <a:t>To assume that nothing was going on in Europe would be wrong as Poland was in the process of being occupied with all that brought for the Polish people. However, in Western Europe very little of military importance did take place.</a:t>
            </a:r>
          </a:p>
        </p:txBody>
      </p:sp>
      <p:pic>
        <p:nvPicPr>
          <p:cNvPr id="3074" name="Picture 2" descr="Image result for phony w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9628" y="1289304"/>
            <a:ext cx="5505339" cy="41840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939048" y="5631704"/>
            <a:ext cx="3373821" cy="646331"/>
          </a:xfrm>
          <a:prstGeom prst="rect">
            <a:avLst/>
          </a:prstGeom>
          <a:noFill/>
        </p:spPr>
        <p:txBody>
          <a:bodyPr wrap="square" rtlCol="0">
            <a:spAutoFit/>
          </a:bodyPr>
          <a:lstStyle/>
          <a:p>
            <a:r>
              <a:rPr lang="en-AU" i="1" dirty="0" smtClean="0"/>
              <a:t>British soldiers during the ‘Phony War’</a:t>
            </a:r>
            <a:endParaRPr lang="en-AU" i="1" dirty="0"/>
          </a:p>
        </p:txBody>
      </p:sp>
    </p:spTree>
    <p:extLst>
      <p:ext uri="{BB962C8B-B14F-4D97-AF65-F5344CB8AC3E}">
        <p14:creationId xmlns:p14="http://schemas.microsoft.com/office/powerpoint/2010/main" val="2280709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Fall of </a:t>
            </a:r>
            <a:r>
              <a:rPr lang="en-AU" dirty="0" smtClean="0"/>
              <a:t>France</a:t>
            </a:r>
            <a:endParaRPr lang="en-AU" dirty="0"/>
          </a:p>
        </p:txBody>
      </p:sp>
      <p:sp>
        <p:nvSpPr>
          <p:cNvPr id="3" name="Content Placeholder 2"/>
          <p:cNvSpPr>
            <a:spLocks noGrp="1"/>
          </p:cNvSpPr>
          <p:nvPr>
            <p:ph idx="1"/>
          </p:nvPr>
        </p:nvSpPr>
        <p:spPr>
          <a:xfrm>
            <a:off x="315310" y="2121408"/>
            <a:ext cx="10812938" cy="4468578"/>
          </a:xfrm>
        </p:spPr>
        <p:txBody>
          <a:bodyPr>
            <a:normAutofit lnSpcReduction="10000"/>
          </a:bodyPr>
          <a:lstStyle/>
          <a:p>
            <a:pPr>
              <a:lnSpc>
                <a:spcPct val="150000"/>
              </a:lnSpc>
            </a:pPr>
            <a:r>
              <a:rPr lang="en-AU" dirty="0" smtClean="0"/>
              <a:t>On </a:t>
            </a:r>
            <a:r>
              <a:rPr lang="en-AU" dirty="0"/>
              <a:t>10 May 1940, when Germany launched an invasion of </a:t>
            </a:r>
            <a:r>
              <a:rPr lang="en-AU" dirty="0" smtClean="0"/>
              <a:t>France.</a:t>
            </a:r>
          </a:p>
          <a:p>
            <a:pPr>
              <a:lnSpc>
                <a:spcPct val="150000"/>
              </a:lnSpc>
            </a:pPr>
            <a:r>
              <a:rPr lang="en-AU" dirty="0"/>
              <a:t>The German plan of attack, codenamed Case Yellow, entailed an armoured offensive through the Ardennes Forest, which bypassed the strong French frontier defences of the Maginot Line. </a:t>
            </a:r>
            <a:endParaRPr lang="en-AU" dirty="0" smtClean="0"/>
          </a:p>
          <a:p>
            <a:pPr>
              <a:lnSpc>
                <a:spcPct val="150000"/>
              </a:lnSpc>
            </a:pPr>
            <a:r>
              <a:rPr lang="en-AU" dirty="0"/>
              <a:t>On 5 June, the Germans swung southwards and French resistance finally collapsed, although not without heavy fighting. On 10 June, Italy opportunistically entered the war on Germany's side. Four days later, the French capital fell, provoking the flight of the French Government to Bordeaux. The Government capitulated on 25 June, just seven weeks after the beginning of the invasion.</a:t>
            </a:r>
          </a:p>
        </p:txBody>
      </p:sp>
    </p:spTree>
    <p:extLst>
      <p:ext uri="{BB962C8B-B14F-4D97-AF65-F5344CB8AC3E}">
        <p14:creationId xmlns:p14="http://schemas.microsoft.com/office/powerpoint/2010/main" val="1839732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fall of france ww2 m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381" y="232755"/>
            <a:ext cx="6699678" cy="6357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643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hitler fr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788" y="981403"/>
            <a:ext cx="975360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9854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hitler fr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740" y="571664"/>
            <a:ext cx="8515459" cy="5676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128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a:t>
            </a:r>
            <a:r>
              <a:rPr lang="en-AU" dirty="0" smtClean="0"/>
              <a:t>he </a:t>
            </a:r>
            <a:r>
              <a:rPr lang="en-AU" dirty="0"/>
              <a:t>Battle of Britain</a:t>
            </a:r>
          </a:p>
        </p:txBody>
      </p:sp>
      <p:sp>
        <p:nvSpPr>
          <p:cNvPr id="3" name="Content Placeholder 2"/>
          <p:cNvSpPr>
            <a:spLocks noGrp="1"/>
          </p:cNvSpPr>
          <p:nvPr>
            <p:ph idx="1"/>
          </p:nvPr>
        </p:nvSpPr>
        <p:spPr>
          <a:xfrm>
            <a:off x="1069848" y="2121408"/>
            <a:ext cx="5879592" cy="4412396"/>
          </a:xfrm>
        </p:spPr>
        <p:txBody>
          <a:bodyPr>
            <a:normAutofit/>
          </a:bodyPr>
          <a:lstStyle/>
          <a:p>
            <a:r>
              <a:rPr lang="en-AU" dirty="0"/>
              <a:t>Started on July 10th, 1940</a:t>
            </a:r>
          </a:p>
          <a:p>
            <a:r>
              <a:rPr lang="en-AU" dirty="0" smtClean="0"/>
              <a:t>After </a:t>
            </a:r>
            <a:r>
              <a:rPr lang="en-AU" dirty="0"/>
              <a:t>Germany and Hitler had conquered most of Europe, including France, the only major country left to fight them was Great Britain. </a:t>
            </a:r>
            <a:endParaRPr lang="en-AU" dirty="0" smtClean="0"/>
          </a:p>
          <a:p>
            <a:r>
              <a:rPr lang="en-AU" dirty="0" smtClean="0"/>
              <a:t>Germany </a:t>
            </a:r>
            <a:r>
              <a:rPr lang="en-AU" dirty="0"/>
              <a:t>wanted to invade Great Britain, but first they needed to destroy Great Britain's Royal Air Force. </a:t>
            </a:r>
            <a:endParaRPr lang="en-AU" dirty="0" smtClean="0"/>
          </a:p>
          <a:p>
            <a:r>
              <a:rPr lang="en-AU" dirty="0" smtClean="0"/>
              <a:t>The </a:t>
            </a:r>
            <a:r>
              <a:rPr lang="en-AU" dirty="0"/>
              <a:t>Battle of Britain was when Germany bombed Great Britain in order to try and destroy their air force and prepare for invasion</a:t>
            </a:r>
            <a:r>
              <a:rPr lang="en-AU" dirty="0" smtClean="0"/>
              <a:t>.</a:t>
            </a:r>
          </a:p>
        </p:txBody>
      </p:sp>
      <p:pic>
        <p:nvPicPr>
          <p:cNvPr id="1026" name="Picture 2" descr="London bombed during Battle of Brita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9673" y="2093976"/>
            <a:ext cx="3838575" cy="23812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495608" y="4563687"/>
            <a:ext cx="2784764" cy="369332"/>
          </a:xfrm>
          <a:prstGeom prst="rect">
            <a:avLst/>
          </a:prstGeom>
          <a:noFill/>
        </p:spPr>
        <p:txBody>
          <a:bodyPr wrap="square" rtlCol="0">
            <a:spAutoFit/>
          </a:bodyPr>
          <a:lstStyle/>
          <a:p>
            <a:r>
              <a:rPr lang="en-AU" i="1" dirty="0"/>
              <a:t>A bombed London street</a:t>
            </a:r>
            <a:endParaRPr lang="en-AU" dirty="0"/>
          </a:p>
        </p:txBody>
      </p:sp>
    </p:spTree>
    <p:extLst>
      <p:ext uri="{BB962C8B-B14F-4D97-AF65-F5344CB8AC3E}">
        <p14:creationId xmlns:p14="http://schemas.microsoft.com/office/powerpoint/2010/main" val="743440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battle of britain ww2 m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965" y="306559"/>
            <a:ext cx="8655915" cy="6095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13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Operation </a:t>
            </a:r>
            <a:r>
              <a:rPr lang="en-AU" dirty="0" smtClean="0"/>
              <a:t>Barbarossa</a:t>
            </a:r>
            <a:endParaRPr lang="en-AU" dirty="0"/>
          </a:p>
        </p:txBody>
      </p:sp>
      <p:sp>
        <p:nvSpPr>
          <p:cNvPr id="3" name="Content Placeholder 2"/>
          <p:cNvSpPr>
            <a:spLocks noGrp="1"/>
          </p:cNvSpPr>
          <p:nvPr>
            <p:ph idx="1"/>
          </p:nvPr>
        </p:nvSpPr>
        <p:spPr>
          <a:xfrm>
            <a:off x="1069848" y="2121408"/>
            <a:ext cx="4316799" cy="4050792"/>
          </a:xfrm>
        </p:spPr>
        <p:txBody>
          <a:bodyPr/>
          <a:lstStyle/>
          <a:p>
            <a:r>
              <a:rPr lang="en-AU" dirty="0"/>
              <a:t>Under the codename Operation "Barbarossa," Nazi Germany invaded the Soviet Union on June 22, </a:t>
            </a:r>
            <a:r>
              <a:rPr lang="en-AU" dirty="0" smtClean="0"/>
              <a:t>1941.</a:t>
            </a:r>
          </a:p>
          <a:p>
            <a:r>
              <a:rPr lang="en-AU" dirty="0"/>
              <a:t>Went against the Soviet-Germany Non-Aggression </a:t>
            </a:r>
            <a:r>
              <a:rPr lang="en-AU" dirty="0" smtClean="0"/>
              <a:t>pact of1939.</a:t>
            </a:r>
          </a:p>
          <a:p>
            <a:r>
              <a:rPr lang="en-AU" dirty="0" smtClean="0"/>
              <a:t>The </a:t>
            </a:r>
            <a:r>
              <a:rPr lang="en-AU" dirty="0"/>
              <a:t>seizure of prime land within Soviet borders for long-term German settlement had been core policy of the Nazi movement since the </a:t>
            </a:r>
            <a:r>
              <a:rPr lang="en-AU" dirty="0" smtClean="0"/>
              <a:t>1920s.</a:t>
            </a:r>
          </a:p>
          <a:p>
            <a:pPr lvl="1"/>
            <a:r>
              <a:rPr lang="en-AU" dirty="0" smtClean="0"/>
              <a:t>The Nazis were also firmly against Communism.</a:t>
            </a:r>
            <a:endParaRPr lang="en-AU" dirty="0"/>
          </a:p>
        </p:txBody>
      </p:sp>
      <p:pic>
        <p:nvPicPr>
          <p:cNvPr id="4098" name="Picture 2" descr="Image result for Operation Barbarossa political carto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3724" y="1851227"/>
            <a:ext cx="6052069" cy="4735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053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Operation Barbarossa m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531" y="369916"/>
            <a:ext cx="8630978" cy="6041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9049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Battle of Stalingrad</a:t>
            </a:r>
            <a:endParaRPr lang="en-AU" dirty="0"/>
          </a:p>
        </p:txBody>
      </p:sp>
      <p:sp>
        <p:nvSpPr>
          <p:cNvPr id="3" name="Content Placeholder 2"/>
          <p:cNvSpPr>
            <a:spLocks noGrp="1"/>
          </p:cNvSpPr>
          <p:nvPr>
            <p:ph idx="1"/>
          </p:nvPr>
        </p:nvSpPr>
        <p:spPr>
          <a:xfrm>
            <a:off x="1069848" y="2121408"/>
            <a:ext cx="4790625" cy="4050792"/>
          </a:xfrm>
        </p:spPr>
        <p:txBody>
          <a:bodyPr>
            <a:normAutofit lnSpcReduction="10000"/>
          </a:bodyPr>
          <a:lstStyle/>
          <a:p>
            <a:r>
              <a:rPr lang="en-AU" dirty="0"/>
              <a:t>Late 1942 and early </a:t>
            </a:r>
            <a:r>
              <a:rPr lang="en-AU" dirty="0" smtClean="0"/>
              <a:t>1943.</a:t>
            </a:r>
          </a:p>
          <a:p>
            <a:r>
              <a:rPr lang="en-AU" dirty="0"/>
              <a:t> </a:t>
            </a:r>
            <a:r>
              <a:rPr lang="en-AU" dirty="0" smtClean="0"/>
              <a:t>The </a:t>
            </a:r>
            <a:r>
              <a:rPr lang="en-AU" dirty="0"/>
              <a:t>Luftwaffe, </a:t>
            </a:r>
            <a:r>
              <a:rPr lang="en-AU" dirty="0" smtClean="0"/>
              <a:t>bombed </a:t>
            </a:r>
            <a:r>
              <a:rPr lang="en-AU" dirty="0"/>
              <a:t>the Volga River and the then the city of Stalingrad</a:t>
            </a:r>
            <a:r>
              <a:rPr lang="en-AU" dirty="0" smtClean="0"/>
              <a:t>.</a:t>
            </a:r>
          </a:p>
          <a:p>
            <a:r>
              <a:rPr lang="en-AU" dirty="0" smtClean="0"/>
              <a:t>A </a:t>
            </a:r>
            <a:r>
              <a:rPr lang="en-AU" dirty="0"/>
              <a:t>turning point in the war. After losing the battle, the German army lost so many soldiers and took such a defeat that they never quite recovered.</a:t>
            </a:r>
            <a:endParaRPr lang="en-AU" dirty="0" smtClean="0"/>
          </a:p>
          <a:p>
            <a:r>
              <a:rPr lang="en-AU" dirty="0" smtClean="0"/>
              <a:t>A </a:t>
            </a:r>
            <a:r>
              <a:rPr lang="en-AU" dirty="0"/>
              <a:t>major industrial and communications </a:t>
            </a:r>
            <a:r>
              <a:rPr lang="en-AU" dirty="0" smtClean="0"/>
              <a:t>centre </a:t>
            </a:r>
            <a:r>
              <a:rPr lang="en-AU" dirty="0"/>
              <a:t>for the Soviet Union in the </a:t>
            </a:r>
            <a:r>
              <a:rPr lang="en-AU" dirty="0" smtClean="0"/>
              <a:t>south.</a:t>
            </a:r>
          </a:p>
          <a:p>
            <a:pPr lvl="1"/>
            <a:r>
              <a:rPr lang="en-AU" dirty="0" smtClean="0"/>
              <a:t>Also</a:t>
            </a:r>
            <a:r>
              <a:rPr lang="en-AU" dirty="0"/>
              <a:t>, it was named after the Soviet leader Josef Stalin. </a:t>
            </a:r>
          </a:p>
        </p:txBody>
      </p:sp>
      <p:pic>
        <p:nvPicPr>
          <p:cNvPr id="6146" name="Picture 2" descr="Soviet Tanks in WW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175" y="2210354"/>
            <a:ext cx="5402638" cy="2535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484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battle stalingrad m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7174" y="810866"/>
            <a:ext cx="9139647" cy="4758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760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a:t>
            </a:r>
            <a:r>
              <a:rPr lang="en-AU" dirty="0" smtClean="0"/>
              <a:t>Final Solution </a:t>
            </a:r>
            <a:endParaRPr lang="en-AU" dirty="0"/>
          </a:p>
        </p:txBody>
      </p:sp>
      <p:sp>
        <p:nvSpPr>
          <p:cNvPr id="3" name="Content Placeholder 2"/>
          <p:cNvSpPr>
            <a:spLocks noGrp="1"/>
          </p:cNvSpPr>
          <p:nvPr>
            <p:ph idx="1"/>
          </p:nvPr>
        </p:nvSpPr>
        <p:spPr/>
        <p:txBody>
          <a:bodyPr/>
          <a:lstStyle/>
          <a:p>
            <a:r>
              <a:rPr lang="en-AU" dirty="0"/>
              <a:t>On January 20, 1942, </a:t>
            </a:r>
            <a:r>
              <a:rPr lang="en-AU" dirty="0" err="1"/>
              <a:t>Reinhard</a:t>
            </a:r>
            <a:r>
              <a:rPr lang="en-AU" dirty="0"/>
              <a:t> </a:t>
            </a:r>
            <a:r>
              <a:rPr lang="en-AU" dirty="0" err="1"/>
              <a:t>Heydrich</a:t>
            </a:r>
            <a:r>
              <a:rPr lang="en-AU" dirty="0"/>
              <a:t>, the chief of Germany’s Security Police, held a secret meeting known as the </a:t>
            </a:r>
            <a:r>
              <a:rPr lang="en-AU" dirty="0" err="1"/>
              <a:t>Wannsee</a:t>
            </a:r>
            <a:r>
              <a:rPr lang="en-AU" dirty="0"/>
              <a:t> Conference. Leading police and civilian officials discussed the continuing implementation of the "Final Solution</a:t>
            </a:r>
            <a:r>
              <a:rPr lang="en-AU" dirty="0" smtClean="0"/>
              <a:t>.“</a:t>
            </a:r>
          </a:p>
          <a:p>
            <a:r>
              <a:rPr lang="en-AU" dirty="0"/>
              <a:t>It is unclear when exactly Hitler decided to murder Europe’s Jews. The decision was probably made sometime in 1941, with the invasion of the Soviet Union</a:t>
            </a:r>
            <a:r>
              <a:rPr lang="en-AU" dirty="0" smtClean="0"/>
              <a:t>.</a:t>
            </a:r>
          </a:p>
          <a:p>
            <a:r>
              <a:rPr lang="en-AU" dirty="0"/>
              <a:t>The Nazi leaders envisioned killing 11 million Jews as part of the “Final Solution.” They succeeded in murdering 6 million</a:t>
            </a:r>
            <a:r>
              <a:rPr lang="en-AU" dirty="0" smtClean="0"/>
              <a:t>.</a:t>
            </a:r>
          </a:p>
          <a:p>
            <a:r>
              <a:rPr lang="en-AU" dirty="0" smtClean="0"/>
              <a:t>Special group of SS soldiers – Einsatzgruppen – were sent to murder all the Jews they could, by the end of 1941 about 500,000 Jews had been shot.</a:t>
            </a:r>
          </a:p>
          <a:p>
            <a:r>
              <a:rPr lang="en-AU" dirty="0" smtClean="0"/>
              <a:t>Death camps were built in Poland, far away from Germany - Auschwitz</a:t>
            </a:r>
            <a:endParaRPr lang="en-AU" dirty="0"/>
          </a:p>
        </p:txBody>
      </p:sp>
    </p:spTree>
    <p:extLst>
      <p:ext uri="{BB962C8B-B14F-4D97-AF65-F5344CB8AC3E}">
        <p14:creationId xmlns:p14="http://schemas.microsoft.com/office/powerpoint/2010/main" val="76211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8690" t="9007" r="39487" b="3596"/>
          <a:stretch/>
        </p:blipFill>
        <p:spPr>
          <a:xfrm>
            <a:off x="2563859" y="154555"/>
            <a:ext cx="5790432" cy="6554245"/>
          </a:xfrm>
          <a:prstGeom prst="rect">
            <a:avLst/>
          </a:prstGeom>
        </p:spPr>
      </p:pic>
    </p:spTree>
    <p:extLst>
      <p:ext uri="{BB962C8B-B14F-4D97-AF65-F5344CB8AC3E}">
        <p14:creationId xmlns:p14="http://schemas.microsoft.com/office/powerpoint/2010/main" val="3672428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68903" t="8244" r="3791" b="1662"/>
          <a:stretch/>
        </p:blipFill>
        <p:spPr>
          <a:xfrm>
            <a:off x="2078180" y="193754"/>
            <a:ext cx="3624349" cy="6477561"/>
          </a:xfrm>
          <a:prstGeom prst="rect">
            <a:avLst/>
          </a:prstGeom>
        </p:spPr>
      </p:pic>
      <p:pic>
        <p:nvPicPr>
          <p:cNvPr id="5" name="Picture 4"/>
          <p:cNvPicPr>
            <a:picLocks noChangeAspect="1"/>
          </p:cNvPicPr>
          <p:nvPr/>
        </p:nvPicPr>
        <p:blipFill rotWithShape="1">
          <a:blip r:embed="rId3"/>
          <a:srcRect l="68816" t="17551" r="3856" b="951"/>
          <a:stretch/>
        </p:blipFill>
        <p:spPr>
          <a:xfrm>
            <a:off x="5702529" y="329323"/>
            <a:ext cx="3842075" cy="6206425"/>
          </a:xfrm>
          <a:prstGeom prst="rect">
            <a:avLst/>
          </a:prstGeom>
        </p:spPr>
      </p:pic>
    </p:spTree>
    <p:extLst>
      <p:ext uri="{BB962C8B-B14F-4D97-AF65-F5344CB8AC3E}">
        <p14:creationId xmlns:p14="http://schemas.microsoft.com/office/powerpoint/2010/main" val="1701458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2121408"/>
            <a:ext cx="2122239" cy="4050792"/>
          </a:xfrm>
        </p:spPr>
        <p:txBody>
          <a:bodyPr/>
          <a:lstStyle/>
          <a:p>
            <a:pPr marL="0" indent="0">
              <a:buNone/>
            </a:pPr>
            <a:r>
              <a:rPr lang="en-AU" dirty="0"/>
              <a:t>A destitute child in the Warsaw ghetto</a:t>
            </a:r>
          </a:p>
          <a:p>
            <a:pPr marL="0" indent="0">
              <a:buNone/>
            </a:pPr>
            <a:r>
              <a:rPr lang="en-AU" dirty="0"/>
              <a:t>An emaciated child eats in the streets of the Warsaw ghetto. Warsaw, Poland, between 1940 and 1943.</a:t>
            </a:r>
          </a:p>
        </p:txBody>
      </p:sp>
      <p:pic>
        <p:nvPicPr>
          <p:cNvPr id="8194" name="Picture 2" descr="An emaciated child eats in the streets of the Warsaw ghetto. [LCID: 894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8953" y="182880"/>
            <a:ext cx="4233487" cy="6451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5356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2121408"/>
            <a:ext cx="2363308" cy="4050792"/>
          </a:xfrm>
        </p:spPr>
        <p:txBody>
          <a:bodyPr/>
          <a:lstStyle/>
          <a:p>
            <a:pPr marL="0" indent="0">
              <a:buNone/>
            </a:pPr>
            <a:r>
              <a:rPr lang="en-AU" dirty="0"/>
              <a:t>Deportation to </a:t>
            </a:r>
            <a:r>
              <a:rPr lang="en-AU" dirty="0" err="1"/>
              <a:t>Belzec</a:t>
            </a:r>
            <a:endParaRPr lang="en-AU" dirty="0"/>
          </a:p>
          <a:p>
            <a:pPr marL="0" indent="0">
              <a:buNone/>
            </a:pPr>
            <a:r>
              <a:rPr lang="en-AU" dirty="0"/>
              <a:t>Jews are forced into boxcars for deportation to the </a:t>
            </a:r>
            <a:r>
              <a:rPr lang="en-AU" dirty="0" err="1"/>
              <a:t>Belzec</a:t>
            </a:r>
            <a:r>
              <a:rPr lang="en-AU" dirty="0"/>
              <a:t> killing </a:t>
            </a:r>
            <a:r>
              <a:rPr lang="en-AU" dirty="0" smtClean="0"/>
              <a:t>centre. </a:t>
            </a:r>
            <a:r>
              <a:rPr lang="en-AU" dirty="0"/>
              <a:t>Lublin, Poland, 1942.</a:t>
            </a:r>
          </a:p>
          <a:p>
            <a:endParaRPr lang="en-AU" dirty="0"/>
          </a:p>
          <a:p>
            <a:endParaRPr lang="en-AU" dirty="0"/>
          </a:p>
        </p:txBody>
      </p:sp>
      <p:pic>
        <p:nvPicPr>
          <p:cNvPr id="9218" name="Picture 2" descr="Jews are forced into boxcars destined for the Belzec killing center. [LCID: 634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867" y="357129"/>
            <a:ext cx="7620000" cy="5343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4688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1702" y="1697460"/>
            <a:ext cx="3036639" cy="4050792"/>
          </a:xfrm>
        </p:spPr>
        <p:txBody>
          <a:bodyPr/>
          <a:lstStyle/>
          <a:p>
            <a:pPr marL="0" indent="0">
              <a:buNone/>
            </a:pPr>
            <a:r>
              <a:rPr lang="en-AU" dirty="0"/>
              <a:t>Deportation of Jewish children from the Lodz ghetto</a:t>
            </a:r>
          </a:p>
          <a:p>
            <a:pPr marL="0" indent="0">
              <a:buNone/>
            </a:pPr>
            <a:r>
              <a:rPr lang="en-AU" dirty="0"/>
              <a:t>Deportation of Jewish children from the Lodz ghetto in German-occupied Poland during the "</a:t>
            </a:r>
            <a:r>
              <a:rPr lang="en-AU" dirty="0" err="1"/>
              <a:t>Gehsperre</a:t>
            </a:r>
            <a:r>
              <a:rPr lang="en-AU" dirty="0"/>
              <a:t>" </a:t>
            </a:r>
            <a:r>
              <a:rPr lang="en-AU" dirty="0" err="1"/>
              <a:t>Aktion</a:t>
            </a:r>
            <a:r>
              <a:rPr lang="en-AU" dirty="0"/>
              <a:t>, September 1942.</a:t>
            </a:r>
          </a:p>
        </p:txBody>
      </p:sp>
      <p:pic>
        <p:nvPicPr>
          <p:cNvPr id="10242" name="Picture 2" descr="Deportation of Jewish children from the Lodz ghetto, Poland, during the &quot;Gehsperre&quot; Aktion, September 1942. [LCID: 503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59" y="779261"/>
            <a:ext cx="7620000"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187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2121408"/>
            <a:ext cx="2487999" cy="4050792"/>
          </a:xfrm>
        </p:spPr>
        <p:txBody>
          <a:bodyPr/>
          <a:lstStyle/>
          <a:p>
            <a:pPr marL="0" indent="0">
              <a:buNone/>
            </a:pPr>
            <a:r>
              <a:rPr lang="en-AU" dirty="0"/>
              <a:t>Early view of the Dachau concentration camp</a:t>
            </a:r>
          </a:p>
          <a:p>
            <a:pPr marL="0" indent="0">
              <a:buNone/>
            </a:pPr>
            <a:r>
              <a:rPr lang="en-AU" dirty="0"/>
              <a:t>An early view of the Dachau concentration camp. Columns of prisoners are visible behind the barbed wire. Dachau, Germany, May 24, 1933.</a:t>
            </a:r>
          </a:p>
        </p:txBody>
      </p:sp>
      <p:pic>
        <p:nvPicPr>
          <p:cNvPr id="11266" name="Picture 2" descr="An early view of the Dachau concentration camp. Columns of prisoners are visible behind the barbed wire. [LCID: 636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4182" y="495559"/>
            <a:ext cx="7288933" cy="5166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242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7709" y="2066203"/>
            <a:ext cx="2446436" cy="4050792"/>
          </a:xfrm>
        </p:spPr>
        <p:txBody>
          <a:bodyPr>
            <a:normAutofit lnSpcReduction="10000"/>
          </a:bodyPr>
          <a:lstStyle/>
          <a:p>
            <a:pPr marL="0" indent="0">
              <a:buNone/>
            </a:pPr>
            <a:r>
              <a:rPr lang="en-AU" dirty="0"/>
              <a:t>Entrance to the gas chamber in Auschwitz </a:t>
            </a:r>
          </a:p>
          <a:p>
            <a:pPr marL="0" indent="0">
              <a:buNone/>
            </a:pPr>
            <a:r>
              <a:rPr lang="en-AU" dirty="0"/>
              <a:t>The entrance to the gas chamber in </a:t>
            </a:r>
            <a:r>
              <a:rPr lang="en-AU" dirty="0" smtClean="0"/>
              <a:t>Auschwitz, </a:t>
            </a:r>
            <a:r>
              <a:rPr lang="en-AU" dirty="0"/>
              <a:t>where Zyklon B was tested on Soviet prisoners of war. The building in the background is a hospital for SS members. Auschwitz, Poland, date uncertain.</a:t>
            </a:r>
          </a:p>
        </p:txBody>
      </p:sp>
      <p:pic>
        <p:nvPicPr>
          <p:cNvPr id="12290" name="Picture 2" descr="The entrance to the gas chamber in Auschwitz I, where Zyklon B was tested on Soviet prisoners of war. [LCID: 507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59" y="659101"/>
            <a:ext cx="7620000" cy="539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612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BLANKA ROTHSCHILD DESCRIBES FORCED LABOR IN THE RAVENSBRÜCK </a:t>
            </a:r>
            <a:r>
              <a:rPr lang="en-AU" dirty="0" smtClean="0"/>
              <a:t>CAMP</a:t>
            </a:r>
            <a:endParaRPr lang="en-AU" dirty="0"/>
          </a:p>
        </p:txBody>
      </p:sp>
      <p:sp>
        <p:nvSpPr>
          <p:cNvPr id="3" name="Content Placeholder 2"/>
          <p:cNvSpPr>
            <a:spLocks noGrp="1"/>
          </p:cNvSpPr>
          <p:nvPr>
            <p:ph idx="1"/>
          </p:nvPr>
        </p:nvSpPr>
        <p:spPr>
          <a:xfrm>
            <a:off x="1069848" y="5843847"/>
            <a:ext cx="10058400" cy="818804"/>
          </a:xfrm>
        </p:spPr>
        <p:txBody>
          <a:bodyPr/>
          <a:lstStyle/>
          <a:p>
            <a:pPr marL="0" indent="0">
              <a:buNone/>
            </a:pPr>
            <a:r>
              <a:rPr lang="en-AU" dirty="0">
                <a:hlinkClick r:id="rId2"/>
              </a:rPr>
              <a:t>https://encyclopedia.ushmm.org/content/en/oral-history/blanka-rothschild-describes-forced-labor-in-the-ravensbrueck-camp?parent=en%2F2689</a:t>
            </a:r>
            <a:endParaRPr lang="en-AU" dirty="0"/>
          </a:p>
        </p:txBody>
      </p:sp>
      <p:pic>
        <p:nvPicPr>
          <p:cNvPr id="13314" name="Picture 2" descr="Image result for RAVENSBRÃCK CA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2334" y="2408655"/>
            <a:ext cx="5370426" cy="3120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378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docProps/app.xml><?xml version="1.0" encoding="utf-8"?>
<Properties xmlns="http://schemas.openxmlformats.org/officeDocument/2006/extended-properties" xmlns:vt="http://schemas.openxmlformats.org/officeDocument/2006/docPropsVTypes">
  <Template>Wood Type</Template>
  <TotalTime>54</TotalTime>
  <Words>823</Words>
  <Application>Microsoft Office PowerPoint</Application>
  <PresentationFormat>Widescreen</PresentationFormat>
  <Paragraphs>58</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Georgia</vt:lpstr>
      <vt:lpstr>Trebuchet MS</vt:lpstr>
      <vt:lpstr>Wingdings</vt:lpstr>
      <vt:lpstr>Wood Type</vt:lpstr>
      <vt:lpstr>Germany and WW2</vt:lpstr>
      <vt:lpstr>Invasion of Poland / Blitzkrieg </vt:lpstr>
      <vt:lpstr>PowerPoint Presentation</vt:lpstr>
      <vt:lpstr>PowerPoint Presentation</vt:lpstr>
      <vt:lpstr>‘Phoney War’</vt:lpstr>
      <vt:lpstr>Fall of France</vt:lpstr>
      <vt:lpstr>PowerPoint Presentation</vt:lpstr>
      <vt:lpstr>PowerPoint Presentation</vt:lpstr>
      <vt:lpstr>PowerPoint Presentation</vt:lpstr>
      <vt:lpstr>The Battle of Britain</vt:lpstr>
      <vt:lpstr>PowerPoint Presentation</vt:lpstr>
      <vt:lpstr>Operation Barbarossa</vt:lpstr>
      <vt:lpstr>PowerPoint Presentation</vt:lpstr>
      <vt:lpstr>Battle of Stalingrad</vt:lpstr>
      <vt:lpstr>PowerPoint Presentation</vt:lpstr>
      <vt:lpstr>The Final Solution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BLANKA ROTHSCHILD DESCRIBES FORCED LABOR IN THE RAVENSBRÜCK CAMP</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Germany and WW2</dc:title>
  <dc:creator>HAWKES Natasha [Narrogin Senior High School]</dc:creator>
  <cp:lastModifiedBy>HAWKES Natasha [Narrogin Senior High School]</cp:lastModifiedBy>
  <cp:revision>11</cp:revision>
  <dcterms:created xsi:type="dcterms:W3CDTF">2019-09-05T05:09:39Z</dcterms:created>
  <dcterms:modified xsi:type="dcterms:W3CDTF">2019-09-11T01:32:55Z</dcterms:modified>
</cp:coreProperties>
</file>
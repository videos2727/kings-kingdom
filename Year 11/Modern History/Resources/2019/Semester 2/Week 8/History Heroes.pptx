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5" d="100"/>
          <a:sy n="115" d="100"/>
        </p:scale>
        <p:origin x="372"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lumMod val="75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61872" y="758952"/>
            <a:ext cx="9418320" cy="4041648"/>
          </a:xfrm>
        </p:spPr>
        <p:txBody>
          <a:bodyPr anchor="b">
            <a:normAutofit/>
          </a:bodyPr>
          <a:lstStyle>
            <a:lvl1pPr algn="l">
              <a:lnSpc>
                <a:spcPct val="85000"/>
              </a:lnSpc>
              <a:defRPr sz="7200" baseline="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261872" y="4800600"/>
            <a:ext cx="9418320" cy="1691640"/>
          </a:xfrm>
        </p:spPr>
        <p:txBody>
          <a:bodyPr>
            <a:normAutofit/>
          </a:bodyPr>
          <a:lstStyle>
            <a:lvl1pPr marL="0" indent="0" algn="l">
              <a:buNone/>
              <a:defRPr sz="2200" baseline="0">
                <a:solidFill>
                  <a:schemeClr val="tx1">
                    <a:lumMod val="75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solidFill>
                  <a:schemeClr val="tx1">
                    <a:lumMod val="50000"/>
                  </a:schemeClr>
                </a:solidFill>
              </a:defRPr>
            </a:lvl1pPr>
          </a:lstStyle>
          <a:p>
            <a:fld id="{0718150C-AA87-40E0-B1B1-1474EE91EFA3}" type="datetimeFigureOut">
              <a:rPr lang="en-AU" smtClean="0"/>
              <a:t>12/09/2019</a:t>
            </a:fld>
            <a:endParaRPr lang="en-AU"/>
          </a:p>
        </p:txBody>
      </p:sp>
      <p:sp>
        <p:nvSpPr>
          <p:cNvPr id="5" name="Footer Placeholder 4"/>
          <p:cNvSpPr>
            <a:spLocks noGrp="1"/>
          </p:cNvSpPr>
          <p:nvPr>
            <p:ph type="ftr" sz="quarter" idx="11"/>
          </p:nvPr>
        </p:nvSpPr>
        <p:spPr/>
        <p:txBody>
          <a:bodyPr/>
          <a:lstStyle>
            <a:lvl1pPr>
              <a:defRPr>
                <a:solidFill>
                  <a:schemeClr val="tx1">
                    <a:lumMod val="65000"/>
                  </a:schemeClr>
                </a:solidFill>
              </a:defRPr>
            </a:lvl1pPr>
          </a:lstStyle>
          <a:p>
            <a:endParaRPr lang="en-AU"/>
          </a:p>
        </p:txBody>
      </p:sp>
      <p:sp>
        <p:nvSpPr>
          <p:cNvPr id="6" name="Slide Number Placeholder 5"/>
          <p:cNvSpPr>
            <a:spLocks noGrp="1"/>
          </p:cNvSpPr>
          <p:nvPr>
            <p:ph type="sldNum" sz="quarter" idx="12"/>
          </p:nvPr>
        </p:nvSpPr>
        <p:spPr/>
        <p:txBody>
          <a:bodyPr/>
          <a:lstStyle>
            <a:lvl1pPr>
              <a:defRPr>
                <a:solidFill>
                  <a:schemeClr val="tx1">
                    <a:lumMod val="65000"/>
                  </a:schemeClr>
                </a:solidFill>
              </a:defRPr>
            </a:lvl1pPr>
          </a:lstStyle>
          <a:p>
            <a:fld id="{E50DC13D-48D0-4CBD-B6A7-0CFD1DC5802B}" type="slidenum">
              <a:rPr lang="en-AU" smtClean="0"/>
              <a:t>‹#›</a:t>
            </a:fld>
            <a:endParaRPr lang="en-AU"/>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4117993870"/>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718150C-AA87-40E0-B1B1-1474EE91EFA3}" type="datetimeFigureOut">
              <a:rPr lang="en-AU" smtClean="0"/>
              <a:t>12/09/2019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50DC13D-48D0-4CBD-B6A7-0CFD1DC5802B}" type="slidenum">
              <a:rPr lang="en-AU" smtClean="0"/>
              <a:t>‹#›</a:t>
            </a:fld>
            <a:endParaRPr lang="en-AU"/>
          </a:p>
        </p:txBody>
      </p:sp>
    </p:spTree>
    <p:extLst>
      <p:ext uri="{BB962C8B-B14F-4D97-AF65-F5344CB8AC3E}">
        <p14:creationId xmlns:p14="http://schemas.microsoft.com/office/powerpoint/2010/main" val="8543204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61872" y="758952"/>
            <a:ext cx="9418320" cy="4041648"/>
          </a:xfrm>
        </p:spPr>
        <p:txBody>
          <a:bodyPr anchor="b">
            <a:normAutofit/>
          </a:bodyPr>
          <a:lstStyle>
            <a:lvl1pPr>
              <a:lnSpc>
                <a:spcPct val="85000"/>
              </a:lnSpc>
              <a:defRPr sz="7200" b="0"/>
            </a:lvl1pPr>
          </a:lstStyle>
          <a:p>
            <a:r>
              <a:rPr lang="en-US" smtClean="0"/>
              <a:t>Click to edit Master title style</a:t>
            </a:r>
            <a:endParaRPr lang="en-US" dirty="0"/>
          </a:p>
        </p:txBody>
      </p:sp>
      <p:sp>
        <p:nvSpPr>
          <p:cNvPr id="3" name="Text Placeholder 2"/>
          <p:cNvSpPr>
            <a:spLocks noGrp="1"/>
          </p:cNvSpPr>
          <p:nvPr>
            <p:ph type="body" idx="1"/>
          </p:nvPr>
        </p:nvSpPr>
        <p:spPr>
          <a:xfrm>
            <a:off x="1261872" y="4800600"/>
            <a:ext cx="9418320" cy="1691640"/>
          </a:xfrm>
        </p:spPr>
        <p:txBody>
          <a:bodyPr anchor="t">
            <a:normAutofit/>
          </a:bodyPr>
          <a:lstStyle>
            <a:lvl1pPr marL="0" indent="0">
              <a:buNone/>
              <a:defRPr sz="22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718150C-AA87-40E0-B1B1-1474EE91EFA3}" type="datetimeFigureOut">
              <a:rPr lang="en-AU" smtClean="0"/>
              <a:t>12/09/2019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50DC13D-48D0-4CBD-B6A7-0CFD1DC5802B}" type="slidenum">
              <a:rPr lang="en-AU" smtClean="0"/>
              <a:t>‹#›</a:t>
            </a:fld>
            <a:endParaRPr lang="en-AU"/>
          </a:p>
        </p:txBody>
      </p:sp>
      <p:sp>
        <p:nvSpPr>
          <p:cNvPr id="7" name="Rectangle 6"/>
          <p:cNvSpPr/>
          <p:nvPr/>
        </p:nvSpPr>
        <p:spPr>
          <a:xfrm>
            <a:off x="0" y="0"/>
            <a:ext cx="4572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val="33821129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261872"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26480" y="1828800"/>
            <a:ext cx="4480560" cy="4351337"/>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718150C-AA87-40E0-B1B1-1474EE91EFA3}" type="datetimeFigureOut">
              <a:rPr lang="en-AU" smtClean="0"/>
              <a:t>12/09/2019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50DC13D-48D0-4CBD-B6A7-0CFD1DC5802B}" type="slidenum">
              <a:rPr lang="en-AU" smtClean="0"/>
              <a:t>‹#›</a:t>
            </a:fld>
            <a:endParaRPr lang="en-AU"/>
          </a:p>
        </p:txBody>
      </p:sp>
    </p:spTree>
    <p:extLst>
      <p:ext uri="{BB962C8B-B14F-4D97-AF65-F5344CB8AC3E}">
        <p14:creationId xmlns:p14="http://schemas.microsoft.com/office/powerpoint/2010/main" val="16144174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261872" y="1713655"/>
            <a:ext cx="4480560" cy="731520"/>
          </a:xfrm>
        </p:spPr>
        <p:txBody>
          <a:bodyPr anchor="b">
            <a:normAutofit/>
          </a:bodyPr>
          <a:lstStyle>
            <a:lvl1pPr marL="0" indent="0">
              <a:spcBef>
                <a:spcPts val="0"/>
              </a:spcBef>
              <a:buNone/>
              <a:defRPr sz="2000" b="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261872"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26480" y="1713655"/>
            <a:ext cx="4480560" cy="731520"/>
          </a:xfrm>
        </p:spPr>
        <p:txBody>
          <a:bodyPr anchor="b">
            <a:normAutofit/>
          </a:bodyPr>
          <a:lstStyle>
            <a:lvl1pPr marL="0" indent="0">
              <a:lnSpc>
                <a:spcPct val="95000"/>
              </a:lnSpc>
              <a:spcBef>
                <a:spcPts val="0"/>
              </a:spcBef>
              <a:buNone/>
              <a:defRPr lang="en-US" sz="2000" b="0" kern="1200" dirty="0">
                <a:solidFill>
                  <a:schemeClr val="tx2"/>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2000"/>
              </a:spcBef>
              <a:buFontTx/>
              <a:buNone/>
            </a:pPr>
            <a:r>
              <a:rPr lang="en-US" smtClean="0"/>
              <a:t>Edit Master text styles</a:t>
            </a:r>
          </a:p>
        </p:txBody>
      </p:sp>
      <p:sp>
        <p:nvSpPr>
          <p:cNvPr id="6" name="Content Placeholder 5"/>
          <p:cNvSpPr>
            <a:spLocks noGrp="1"/>
          </p:cNvSpPr>
          <p:nvPr>
            <p:ph sz="quarter" idx="4"/>
          </p:nvPr>
        </p:nvSpPr>
        <p:spPr>
          <a:xfrm>
            <a:off x="6126480" y="2507550"/>
            <a:ext cx="4480560" cy="3664650"/>
          </a:xfrm>
        </p:spPr>
        <p:txBody>
          <a:bodyPr/>
          <a:lstStyle>
            <a:lvl1pPr>
              <a:defRPr sz="1800"/>
            </a:lvl1pPr>
            <a:lvl2pPr>
              <a:defRPr sz="1600"/>
            </a:lvl2pPr>
            <a:lvl3pPr>
              <a:defRPr sz="14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718150C-AA87-40E0-B1B1-1474EE91EFA3}" type="datetimeFigureOut">
              <a:rPr lang="en-AU" smtClean="0"/>
              <a:t>12/09/2019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E50DC13D-48D0-4CBD-B6A7-0CFD1DC5802B}" type="slidenum">
              <a:rPr lang="en-AU" smtClean="0"/>
              <a:t>‹#›</a:t>
            </a:fld>
            <a:endParaRPr lang="en-AU"/>
          </a:p>
        </p:txBody>
      </p:sp>
    </p:spTree>
    <p:extLst>
      <p:ext uri="{BB962C8B-B14F-4D97-AF65-F5344CB8AC3E}">
        <p14:creationId xmlns:p14="http://schemas.microsoft.com/office/powerpoint/2010/main" val="20484515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718150C-AA87-40E0-B1B1-1474EE91EFA3}" type="datetimeFigureOut">
              <a:rPr lang="en-AU" smtClean="0"/>
              <a:t>12/09/2019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E50DC13D-48D0-4CBD-B6A7-0CFD1DC5802B}" type="slidenum">
              <a:rPr lang="en-AU" smtClean="0"/>
              <a:t>‹#›</a:t>
            </a:fld>
            <a:endParaRPr lang="en-AU"/>
          </a:p>
        </p:txBody>
      </p:sp>
    </p:spTree>
    <p:extLst>
      <p:ext uri="{BB962C8B-B14F-4D97-AF65-F5344CB8AC3E}">
        <p14:creationId xmlns:p14="http://schemas.microsoft.com/office/powerpoint/2010/main" val="18776032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18150C-AA87-40E0-B1B1-1474EE91EFA3}" type="datetimeFigureOut">
              <a:rPr lang="en-AU" smtClean="0"/>
              <a:t>12/09/2019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E50DC13D-48D0-4CBD-B6A7-0CFD1DC5802B}" type="slidenum">
              <a:rPr lang="en-AU" smtClean="0"/>
              <a:t>‹#›</a:t>
            </a:fld>
            <a:endParaRPr lang="en-AU"/>
          </a:p>
        </p:txBody>
      </p:sp>
    </p:spTree>
    <p:extLst>
      <p:ext uri="{BB962C8B-B14F-4D97-AF65-F5344CB8AC3E}">
        <p14:creationId xmlns:p14="http://schemas.microsoft.com/office/powerpoint/2010/main" val="13927040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1248" y="457200"/>
            <a:ext cx="3200400" cy="1600197"/>
          </a:xfrm>
        </p:spPr>
        <p:txBody>
          <a:bodyPr anchor="b">
            <a:normAutofit/>
          </a:bodyPr>
          <a:lstStyle>
            <a:lvl1pPr>
              <a:defRPr sz="3200" b="0" baseline="0"/>
            </a:lvl1pPr>
          </a:lstStyle>
          <a:p>
            <a:r>
              <a:rPr lang="en-US" smtClean="0"/>
              <a:t>Click to edit Master title style</a:t>
            </a:r>
            <a:endParaRPr lang="en-US" dirty="0"/>
          </a:p>
        </p:txBody>
      </p:sp>
      <p:sp>
        <p:nvSpPr>
          <p:cNvPr id="3" name="Content Placeholder 2"/>
          <p:cNvSpPr>
            <a:spLocks noGrp="1"/>
          </p:cNvSpPr>
          <p:nvPr>
            <p:ph idx="1"/>
          </p:nvPr>
        </p:nvSpPr>
        <p:spPr>
          <a:xfrm>
            <a:off x="4504267" y="685800"/>
            <a:ext cx="6079066" cy="548640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41248" y="2099734"/>
            <a:ext cx="3200400" cy="3810001"/>
          </a:xfrm>
        </p:spPr>
        <p:txBody>
          <a:bodyPr>
            <a:normAutofit/>
          </a:bodyPr>
          <a:lstStyle>
            <a:lvl1pPr marL="0" indent="0">
              <a:lnSpc>
                <a:spcPct val="114000"/>
              </a:lnSpc>
              <a:spcBef>
                <a:spcPts val="800"/>
              </a:spcBef>
              <a:buNone/>
              <a:defRPr sz="13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718150C-AA87-40E0-B1B1-1474EE91EFA3}" type="datetimeFigureOut">
              <a:rPr lang="en-AU" smtClean="0"/>
              <a:t>12/09/2019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50DC13D-48D0-4CBD-B6A7-0CFD1DC5802B}" type="slidenum">
              <a:rPr lang="en-AU" smtClean="0"/>
              <a:t>‹#›</a:t>
            </a:fld>
            <a:endParaRPr lang="en-AU"/>
          </a:p>
        </p:txBody>
      </p:sp>
    </p:spTree>
    <p:extLst>
      <p:ext uri="{BB962C8B-B14F-4D97-AF65-F5344CB8AC3E}">
        <p14:creationId xmlns:p14="http://schemas.microsoft.com/office/powerpoint/2010/main" val="10571988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5105400"/>
            <a:ext cx="11292840" cy="17526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914400" y="5257800"/>
            <a:ext cx="9982200" cy="914400"/>
          </a:xfrm>
        </p:spPr>
        <p:txBody>
          <a:bodyPr anchor="b">
            <a:normAutofit/>
          </a:bodyPr>
          <a:lstStyle>
            <a:lvl1pPr>
              <a:defRPr sz="2800" b="0">
                <a:solidFill>
                  <a:schemeClr val="bg1"/>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0"/>
            <a:ext cx="11292840" cy="5128923"/>
          </a:xfrm>
          <a:solidFill>
            <a:schemeClr val="accent1"/>
          </a:solidFill>
        </p:spPr>
        <p:txBody>
          <a:bodyPr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4400" y="6108589"/>
            <a:ext cx="9982200" cy="597011"/>
          </a:xfrm>
        </p:spPr>
        <p:txBody>
          <a:bodyPr>
            <a:normAutofit/>
          </a:bodyPr>
          <a:lstStyle>
            <a:lvl1pPr marL="0" indent="0">
              <a:lnSpc>
                <a:spcPct val="100000"/>
              </a:lnSpc>
              <a:spcBef>
                <a:spcPts val="800"/>
              </a:spcBef>
              <a:buNone/>
              <a:defRPr sz="1300">
                <a:solidFill>
                  <a:schemeClr val="bg1">
                    <a:lumMod val="8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0718150C-AA87-40E0-B1B1-1474EE91EFA3}" type="datetimeFigureOut">
              <a:rPr lang="en-AU" smtClean="0"/>
              <a:t>12/09/2019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50DC13D-48D0-4CBD-B6A7-0CFD1DC5802B}" type="slidenum">
              <a:rPr lang="en-AU" smtClean="0"/>
              <a:t>‹#›</a:t>
            </a:fld>
            <a:endParaRPr lang="en-AU"/>
          </a:p>
        </p:txBody>
      </p:sp>
    </p:spTree>
    <p:extLst>
      <p:ext uri="{BB962C8B-B14F-4D97-AF65-F5344CB8AC3E}">
        <p14:creationId xmlns:p14="http://schemas.microsoft.com/office/powerpoint/2010/main" val="39387595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718150C-AA87-40E0-B1B1-1474EE91EFA3}" type="datetimeFigureOut">
              <a:rPr lang="en-AU" smtClean="0"/>
              <a:t>12/09/2019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50DC13D-48D0-4CBD-B6A7-0CFD1DC5802B}" type="slidenum">
              <a:rPr lang="en-AU" smtClean="0"/>
              <a:t>‹#›</a:t>
            </a:fld>
            <a:endParaRPr lang="en-AU"/>
          </a:p>
        </p:txBody>
      </p:sp>
    </p:spTree>
    <p:extLst>
      <p:ext uri="{BB962C8B-B14F-4D97-AF65-F5344CB8AC3E}">
        <p14:creationId xmlns:p14="http://schemas.microsoft.com/office/powerpoint/2010/main" val="27283211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48700" y="381000"/>
            <a:ext cx="2476500" cy="589756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62000" y="381000"/>
            <a:ext cx="7734300" cy="5897562"/>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718150C-AA87-40E0-B1B1-1474EE91EFA3}" type="datetimeFigureOut">
              <a:rPr lang="en-AU" smtClean="0"/>
              <a:t>12/09/2019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50DC13D-48D0-4CBD-B6A7-0CFD1DC5802B}" type="slidenum">
              <a:rPr lang="en-AU" smtClean="0"/>
              <a:t>‹#›</a:t>
            </a:fld>
            <a:endParaRPr lang="en-AU"/>
          </a:p>
        </p:txBody>
      </p:sp>
    </p:spTree>
    <p:extLst>
      <p:ext uri="{BB962C8B-B14F-4D97-AF65-F5344CB8AC3E}">
        <p14:creationId xmlns:p14="http://schemas.microsoft.com/office/powerpoint/2010/main" val="10640987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1292840" y="0"/>
            <a:ext cx="914400" cy="6858000"/>
          </a:xfrm>
          <a:prstGeom prst="rect">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261872" y="365760"/>
            <a:ext cx="9692640" cy="1325562"/>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261872" y="1828800"/>
            <a:ext cx="8595360" cy="4351337"/>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16200000">
            <a:off x="10797542" y="998537"/>
            <a:ext cx="1904999" cy="365125"/>
          </a:xfrm>
          <a:prstGeom prst="rect">
            <a:avLst/>
          </a:prstGeom>
        </p:spPr>
        <p:txBody>
          <a:bodyPr vert="horz" lIns="91440" tIns="45720" rIns="91440" bIns="45720" rtlCol="0" anchor="ctr"/>
          <a:lstStyle>
            <a:lvl1pPr algn="r">
              <a:defRPr sz="1050" b="0">
                <a:solidFill>
                  <a:schemeClr val="tx2">
                    <a:lumMod val="20000"/>
                    <a:lumOff val="80000"/>
                  </a:schemeClr>
                </a:solidFill>
              </a:defRPr>
            </a:lvl1pPr>
          </a:lstStyle>
          <a:p>
            <a:fld id="{0718150C-AA87-40E0-B1B1-1474EE91EFA3}" type="datetimeFigureOut">
              <a:rPr lang="en-AU" smtClean="0"/>
              <a:t>12/09/2019</a:t>
            </a:fld>
            <a:endParaRPr lang="en-AU"/>
          </a:p>
        </p:txBody>
      </p:sp>
      <p:sp>
        <p:nvSpPr>
          <p:cNvPr id="5" name="Footer Placeholder 4"/>
          <p:cNvSpPr>
            <a:spLocks noGrp="1"/>
          </p:cNvSpPr>
          <p:nvPr>
            <p:ph type="ftr" sz="quarter" idx="3"/>
          </p:nvPr>
        </p:nvSpPr>
        <p:spPr>
          <a:xfrm rot="16200000">
            <a:off x="9959341" y="4046537"/>
            <a:ext cx="3581400" cy="365125"/>
          </a:xfrm>
          <a:prstGeom prst="rect">
            <a:avLst/>
          </a:prstGeom>
        </p:spPr>
        <p:txBody>
          <a:bodyPr vert="horz" lIns="91440" tIns="45720" rIns="91440" bIns="45720" rtlCol="0" anchor="ctr"/>
          <a:lstStyle>
            <a:lvl1pPr algn="l">
              <a:defRPr sz="1050">
                <a:solidFill>
                  <a:schemeClr val="tx2">
                    <a:lumMod val="20000"/>
                    <a:lumOff val="80000"/>
                  </a:schemeClr>
                </a:solidFill>
              </a:defRPr>
            </a:lvl1pPr>
          </a:lstStyle>
          <a:p>
            <a:endParaRPr lang="en-AU"/>
          </a:p>
        </p:txBody>
      </p:sp>
      <p:sp>
        <p:nvSpPr>
          <p:cNvPr id="6" name="Slide Number Placeholder 5"/>
          <p:cNvSpPr>
            <a:spLocks noGrp="1"/>
          </p:cNvSpPr>
          <p:nvPr>
            <p:ph type="sldNum" sz="quarter" idx="4"/>
          </p:nvPr>
        </p:nvSpPr>
        <p:spPr>
          <a:xfrm>
            <a:off x="11292840" y="6172200"/>
            <a:ext cx="914400" cy="593725"/>
          </a:xfrm>
          <a:prstGeom prst="rect">
            <a:avLst/>
          </a:prstGeom>
        </p:spPr>
        <p:txBody>
          <a:bodyPr vert="horz" lIns="45720" tIns="45720" rIns="45720" bIns="45720" rtlCol="0" anchor="ctr">
            <a:normAutofit/>
          </a:bodyPr>
          <a:lstStyle>
            <a:lvl1pPr algn="ctr">
              <a:defRPr sz="3600">
                <a:solidFill>
                  <a:schemeClr val="tx2">
                    <a:lumMod val="60000"/>
                    <a:lumOff val="40000"/>
                  </a:schemeClr>
                </a:solidFill>
              </a:defRPr>
            </a:lvl1pPr>
          </a:lstStyle>
          <a:p>
            <a:fld id="{E50DC13D-48D0-4CBD-B6A7-0CFD1DC5802B}" type="slidenum">
              <a:rPr lang="en-AU" smtClean="0"/>
              <a:t>‹#›</a:t>
            </a:fld>
            <a:endParaRPr lang="en-AU"/>
          </a:p>
        </p:txBody>
      </p:sp>
    </p:spTree>
    <p:extLst>
      <p:ext uri="{BB962C8B-B14F-4D97-AF65-F5344CB8AC3E}">
        <p14:creationId xmlns:p14="http://schemas.microsoft.com/office/powerpoint/2010/main" val="3003654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spc="-50" baseline="0">
          <a:solidFill>
            <a:schemeClr val="tx1"/>
          </a:solidFill>
          <a:latin typeface="+mj-lt"/>
          <a:ea typeface="+mj-ea"/>
          <a:cs typeface="+mj-cs"/>
        </a:defRPr>
      </a:lvl1pPr>
    </p:titleStyle>
    <p:bodyStyle>
      <a:lvl1pPr marL="182880" indent="-182880" algn="l" defTabSz="914400" rtl="0" eaLnBrk="1" latinLnBrk="0" hangingPunct="1">
        <a:lnSpc>
          <a:spcPct val="95000"/>
        </a:lnSpc>
        <a:spcBef>
          <a:spcPts val="1400"/>
        </a:spcBef>
        <a:spcAft>
          <a:spcPts val="200"/>
        </a:spcAft>
        <a:buClr>
          <a:schemeClr val="accent1"/>
        </a:buClr>
        <a:buSzPct val="80000"/>
        <a:buFont typeface="Arial" pitchFamily="34" charset="0"/>
        <a:buChar char="•"/>
        <a:defRPr sz="1800" kern="1200" spc="10" baseline="0">
          <a:solidFill>
            <a:schemeClr val="tx1"/>
          </a:solidFill>
          <a:latin typeface="+mn-lt"/>
          <a:ea typeface="+mn-ea"/>
          <a:cs typeface="+mn-cs"/>
        </a:defRPr>
      </a:lvl1pPr>
      <a:lvl2pPr marL="45720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600" kern="1200">
          <a:solidFill>
            <a:schemeClr val="tx1">
              <a:lumMod val="85000"/>
              <a:lumOff val="15000"/>
            </a:schemeClr>
          </a:solidFill>
          <a:latin typeface="+mn-lt"/>
          <a:ea typeface="+mn-ea"/>
          <a:cs typeface="+mn-cs"/>
        </a:defRPr>
      </a:lvl2pPr>
      <a:lvl3pPr marL="73152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3pPr>
      <a:lvl4pPr marL="100584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4pPr>
      <a:lvl5pPr marL="1280160" indent="-18288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5pPr>
      <a:lvl6pPr marL="16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6pPr>
      <a:lvl7pPr marL="19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7pPr>
      <a:lvl8pPr marL="22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8pPr>
      <a:lvl9pPr marL="2500000" indent="-228600" algn="l" defTabSz="914400" rtl="0" eaLnBrk="1" latinLnBrk="0" hangingPunct="1">
        <a:lnSpc>
          <a:spcPct val="90000"/>
        </a:lnSpc>
        <a:spcBef>
          <a:spcPts val="300"/>
        </a:spcBef>
        <a:spcAft>
          <a:spcPts val="300"/>
        </a:spcAft>
        <a:buClr>
          <a:schemeClr val="accent1"/>
        </a:buClr>
        <a:buFont typeface="Wingdings 2" pitchFamily="18" charset="2"/>
        <a:buChar char=""/>
        <a:defRPr sz="14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05166" y="280450"/>
            <a:ext cx="4340906" cy="4041648"/>
          </a:xfrm>
        </p:spPr>
        <p:txBody>
          <a:bodyPr/>
          <a:lstStyle/>
          <a:p>
            <a:r>
              <a:rPr lang="en-AU" dirty="0" smtClean="0"/>
              <a:t>History Heroes</a:t>
            </a:r>
            <a:endParaRPr lang="en-AU" dirty="0"/>
          </a:p>
        </p:txBody>
      </p:sp>
      <p:sp>
        <p:nvSpPr>
          <p:cNvPr id="3" name="Subtitle 2"/>
          <p:cNvSpPr>
            <a:spLocks noGrp="1"/>
          </p:cNvSpPr>
          <p:nvPr>
            <p:ph type="subTitle" idx="1"/>
          </p:nvPr>
        </p:nvSpPr>
        <p:spPr/>
        <p:txBody>
          <a:bodyPr/>
          <a:lstStyle/>
          <a:p>
            <a:r>
              <a:rPr lang="en-AU" dirty="0" smtClean="0"/>
              <a:t>Week 8</a:t>
            </a:r>
            <a:endParaRPr lang="en-AU" dirty="0"/>
          </a:p>
        </p:txBody>
      </p:sp>
      <p:pic>
        <p:nvPicPr>
          <p:cNvPr id="1028" name="Picture 4" descr="Carl Lutz"/>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7796" y="280450"/>
            <a:ext cx="5592803" cy="314595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6412853" y="3549535"/>
            <a:ext cx="5302688" cy="2862322"/>
          </a:xfrm>
          <a:prstGeom prst="rect">
            <a:avLst/>
          </a:prstGeom>
          <a:noFill/>
        </p:spPr>
        <p:txBody>
          <a:bodyPr wrap="square" rtlCol="0">
            <a:spAutoFit/>
          </a:bodyPr>
          <a:lstStyle/>
          <a:p>
            <a:r>
              <a:rPr lang="en-AU" i="1" dirty="0"/>
              <a:t>Credited with saving half of Budapest’s Jewish population from the Holocaust, Carl Lutz used paper, not weapons, to fight the Nazis. He even issued official Swiss protection to safe houses throughout Budapest. And, as thousands of Jews were forced to walk to various concentration camps in Austria and Germany, Lutz, with his wife, pulled as many people as they could from the grim march and issued them protective documents. </a:t>
            </a:r>
          </a:p>
        </p:txBody>
      </p:sp>
    </p:spTree>
    <p:extLst>
      <p:ext uri="{BB962C8B-B14F-4D97-AF65-F5344CB8AC3E}">
        <p14:creationId xmlns:p14="http://schemas.microsoft.com/office/powerpoint/2010/main" val="1739150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1. How are marks awarded for this question?</a:t>
            </a:r>
            <a:endParaRPr lang="en-AU" dirty="0"/>
          </a:p>
        </p:txBody>
      </p:sp>
      <p:sp>
        <p:nvSpPr>
          <p:cNvPr id="3" name="Content Placeholder 2"/>
          <p:cNvSpPr>
            <a:spLocks noGrp="1"/>
          </p:cNvSpPr>
          <p:nvPr>
            <p:ph idx="1"/>
          </p:nvPr>
        </p:nvSpPr>
        <p:spPr>
          <a:xfrm>
            <a:off x="1261872" y="2119745"/>
            <a:ext cx="8595360" cy="4060392"/>
          </a:xfrm>
        </p:spPr>
        <p:txBody>
          <a:bodyPr/>
          <a:lstStyle/>
          <a:p>
            <a:pPr marL="0" indent="0">
              <a:buNone/>
            </a:pPr>
            <a:r>
              <a:rPr lang="en-AU" dirty="0"/>
              <a:t>Explain the historical context of Source 1. Include the relevant events, people and ideas depicted or represented in the source.          	        </a:t>
            </a:r>
            <a:endParaRPr lang="en-AU" dirty="0" smtClean="0"/>
          </a:p>
          <a:p>
            <a:pPr marL="0" indent="0">
              <a:buNone/>
            </a:pPr>
            <a:r>
              <a:rPr lang="en-AU" dirty="0" smtClean="0"/>
              <a:t>(</a:t>
            </a:r>
            <a:r>
              <a:rPr lang="en-AU" dirty="0"/>
              <a:t>4 marks)</a:t>
            </a:r>
          </a:p>
        </p:txBody>
      </p:sp>
    </p:spTree>
    <p:extLst>
      <p:ext uri="{BB962C8B-B14F-4D97-AF65-F5344CB8AC3E}">
        <p14:creationId xmlns:p14="http://schemas.microsoft.com/office/powerpoint/2010/main" val="23265824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2</a:t>
            </a:r>
            <a:r>
              <a:rPr lang="en-AU" dirty="0" smtClean="0"/>
              <a:t>. How are marks awarded for this question?</a:t>
            </a:r>
            <a:endParaRPr lang="en-AU" dirty="0"/>
          </a:p>
        </p:txBody>
      </p:sp>
      <p:sp>
        <p:nvSpPr>
          <p:cNvPr id="3" name="Content Placeholder 2"/>
          <p:cNvSpPr>
            <a:spLocks noGrp="1"/>
          </p:cNvSpPr>
          <p:nvPr>
            <p:ph idx="1"/>
          </p:nvPr>
        </p:nvSpPr>
        <p:spPr>
          <a:xfrm>
            <a:off x="1261872" y="2119745"/>
            <a:ext cx="8595360" cy="4060392"/>
          </a:xfrm>
        </p:spPr>
        <p:txBody>
          <a:bodyPr/>
          <a:lstStyle/>
          <a:p>
            <a:pPr marL="0" indent="0">
              <a:buNone/>
            </a:pPr>
            <a:r>
              <a:rPr lang="en-AU" dirty="0"/>
              <a:t>Compare and contrast the purpose of Sources 1 and 2.       	 (5 marks)</a:t>
            </a:r>
          </a:p>
        </p:txBody>
      </p:sp>
    </p:spTree>
    <p:extLst>
      <p:ext uri="{BB962C8B-B14F-4D97-AF65-F5344CB8AC3E}">
        <p14:creationId xmlns:p14="http://schemas.microsoft.com/office/powerpoint/2010/main" val="2551230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3</a:t>
            </a:r>
            <a:r>
              <a:rPr lang="en-AU" dirty="0" smtClean="0"/>
              <a:t>. How are marks awarded for this question?</a:t>
            </a:r>
            <a:endParaRPr lang="en-AU" dirty="0"/>
          </a:p>
        </p:txBody>
      </p:sp>
      <p:sp>
        <p:nvSpPr>
          <p:cNvPr id="3" name="Content Placeholder 2"/>
          <p:cNvSpPr>
            <a:spLocks noGrp="1"/>
          </p:cNvSpPr>
          <p:nvPr>
            <p:ph idx="1"/>
          </p:nvPr>
        </p:nvSpPr>
        <p:spPr>
          <a:xfrm>
            <a:off x="1261872" y="2119745"/>
            <a:ext cx="8595360" cy="4060392"/>
          </a:xfrm>
        </p:spPr>
        <p:txBody>
          <a:bodyPr/>
          <a:lstStyle/>
          <a:p>
            <a:pPr marL="0" indent="0">
              <a:buNone/>
            </a:pPr>
            <a:r>
              <a:rPr lang="en-AU" dirty="0"/>
              <a:t>Explain the message of Source 3.         	(3 marks)</a:t>
            </a:r>
          </a:p>
        </p:txBody>
      </p:sp>
    </p:spTree>
    <p:extLst>
      <p:ext uri="{BB962C8B-B14F-4D97-AF65-F5344CB8AC3E}">
        <p14:creationId xmlns:p14="http://schemas.microsoft.com/office/powerpoint/2010/main" val="30330313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4</a:t>
            </a:r>
            <a:r>
              <a:rPr lang="en-AU" dirty="0" smtClean="0"/>
              <a:t>. How are marks awarded for this question?</a:t>
            </a:r>
            <a:endParaRPr lang="en-AU" dirty="0"/>
          </a:p>
        </p:txBody>
      </p:sp>
      <p:sp>
        <p:nvSpPr>
          <p:cNvPr id="3" name="Content Placeholder 2"/>
          <p:cNvSpPr>
            <a:spLocks noGrp="1"/>
          </p:cNvSpPr>
          <p:nvPr>
            <p:ph idx="1"/>
          </p:nvPr>
        </p:nvSpPr>
        <p:spPr>
          <a:xfrm>
            <a:off x="1261872" y="2119745"/>
            <a:ext cx="8595360" cy="4060392"/>
          </a:xfrm>
        </p:spPr>
        <p:txBody>
          <a:bodyPr/>
          <a:lstStyle/>
          <a:p>
            <a:pPr marL="0" indent="0">
              <a:buNone/>
            </a:pPr>
            <a:r>
              <a:rPr lang="en-AU" dirty="0"/>
              <a:t>Identify how, and discuss why, Sources 3 and 4 are contestable.     	(6 marks)</a:t>
            </a:r>
          </a:p>
        </p:txBody>
      </p:sp>
    </p:spTree>
    <p:extLst>
      <p:ext uri="{BB962C8B-B14F-4D97-AF65-F5344CB8AC3E}">
        <p14:creationId xmlns:p14="http://schemas.microsoft.com/office/powerpoint/2010/main" val="4529269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5</a:t>
            </a:r>
            <a:r>
              <a:rPr lang="en-AU" dirty="0" smtClean="0"/>
              <a:t>. How are marks awarded for this question?</a:t>
            </a:r>
            <a:endParaRPr lang="en-AU" dirty="0"/>
          </a:p>
        </p:txBody>
      </p:sp>
      <p:sp>
        <p:nvSpPr>
          <p:cNvPr id="3" name="Content Placeholder 2"/>
          <p:cNvSpPr>
            <a:spLocks noGrp="1"/>
          </p:cNvSpPr>
          <p:nvPr>
            <p:ph idx="1"/>
          </p:nvPr>
        </p:nvSpPr>
        <p:spPr>
          <a:xfrm>
            <a:off x="1261872" y="2119745"/>
            <a:ext cx="8595360" cy="4060392"/>
          </a:xfrm>
        </p:spPr>
        <p:txBody>
          <a:bodyPr/>
          <a:lstStyle/>
          <a:p>
            <a:pPr marL="0" indent="0">
              <a:buNone/>
            </a:pPr>
            <a:r>
              <a:rPr lang="en-AU" dirty="0"/>
              <a:t>Using your knowledge of the whole period of study, evaluate the importance of the themes, ideas and/or events represented in the four sources.       	 (7 marks)</a:t>
            </a:r>
          </a:p>
        </p:txBody>
      </p:sp>
    </p:spTree>
    <p:extLst>
      <p:ext uri="{BB962C8B-B14F-4D97-AF65-F5344CB8AC3E}">
        <p14:creationId xmlns:p14="http://schemas.microsoft.com/office/powerpoint/2010/main" val="21727181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6. </a:t>
            </a:r>
            <a:r>
              <a:rPr lang="en-AU" dirty="0"/>
              <a:t>What is </a:t>
            </a:r>
            <a:r>
              <a:rPr lang="en-AU" dirty="0" smtClean="0"/>
              <a:t>Anschluss?</a:t>
            </a:r>
            <a:endParaRPr lang="en-AU"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23401785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7. </a:t>
            </a:r>
            <a:r>
              <a:rPr lang="en-AU" dirty="0"/>
              <a:t>What was the Soviet-Germany Non-Aggression </a:t>
            </a:r>
            <a:r>
              <a:rPr lang="en-AU" dirty="0" smtClean="0"/>
              <a:t>pact?</a:t>
            </a:r>
            <a:endParaRPr lang="en-AU"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25368033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8. What was the Munich Pact?</a:t>
            </a:r>
            <a:endParaRPr lang="en-AU"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209977178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9. What is appeasement?</a:t>
            </a:r>
            <a:endParaRPr lang="en-AU"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11351506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10. </a:t>
            </a:r>
            <a:r>
              <a:rPr lang="en-AU" dirty="0"/>
              <a:t>What is </a:t>
            </a:r>
            <a:r>
              <a:rPr lang="en-AU" dirty="0" smtClean="0"/>
              <a:t>Blitzkrieg?</a:t>
            </a:r>
            <a:endParaRPr lang="en-AU" dirty="0"/>
          </a:p>
        </p:txBody>
      </p:sp>
      <p:sp>
        <p:nvSpPr>
          <p:cNvPr id="3" name="Content Placeholder 2"/>
          <p:cNvSpPr>
            <a:spLocks noGrp="1"/>
          </p:cNvSpPr>
          <p:nvPr>
            <p:ph idx="1"/>
          </p:nvPr>
        </p:nvSpPr>
        <p:spPr/>
        <p:txBody>
          <a:bodyPr/>
          <a:lstStyle/>
          <a:p>
            <a:endParaRPr lang="en-AU"/>
          </a:p>
        </p:txBody>
      </p:sp>
    </p:spTree>
    <p:extLst>
      <p:ext uri="{BB962C8B-B14F-4D97-AF65-F5344CB8AC3E}">
        <p14:creationId xmlns:p14="http://schemas.microsoft.com/office/powerpoint/2010/main" val="19743989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ANSWERS</a:t>
            </a:r>
            <a:endParaRPr lang="en-AU" dirty="0"/>
          </a:p>
        </p:txBody>
      </p:sp>
      <p:sp>
        <p:nvSpPr>
          <p:cNvPr id="3" name="Content Placeholder 2"/>
          <p:cNvSpPr>
            <a:spLocks noGrp="1"/>
          </p:cNvSpPr>
          <p:nvPr>
            <p:ph idx="1"/>
          </p:nvPr>
        </p:nvSpPr>
        <p:spPr/>
        <p:txBody>
          <a:bodyPr/>
          <a:lstStyle/>
          <a:p>
            <a:endParaRPr lang="en-AU"/>
          </a:p>
        </p:txBody>
      </p:sp>
      <p:pic>
        <p:nvPicPr>
          <p:cNvPr id="8194" name="Picture 2" descr="Image result for hitler thumbs u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8201" y="1936865"/>
            <a:ext cx="6038850" cy="4591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28231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1. How are marks awarded for this question?</a:t>
            </a:r>
            <a:endParaRPr lang="en-AU" dirty="0"/>
          </a:p>
        </p:txBody>
      </p:sp>
      <p:sp>
        <p:nvSpPr>
          <p:cNvPr id="3" name="Content Placeholder 2"/>
          <p:cNvSpPr>
            <a:spLocks noGrp="1"/>
          </p:cNvSpPr>
          <p:nvPr>
            <p:ph idx="1"/>
          </p:nvPr>
        </p:nvSpPr>
        <p:spPr>
          <a:xfrm>
            <a:off x="1261872" y="2119745"/>
            <a:ext cx="8595360" cy="4060392"/>
          </a:xfrm>
        </p:spPr>
        <p:txBody>
          <a:bodyPr/>
          <a:lstStyle/>
          <a:p>
            <a:pPr marL="0" indent="0">
              <a:buNone/>
            </a:pPr>
            <a:r>
              <a:rPr lang="en-AU" dirty="0"/>
              <a:t>Explain the historical context of Source 1. Include the relevant events, people and ideas depicted or represented in the source.          	        </a:t>
            </a:r>
            <a:endParaRPr lang="en-AU" dirty="0" smtClean="0"/>
          </a:p>
          <a:p>
            <a:pPr marL="0" indent="0">
              <a:buNone/>
            </a:pPr>
            <a:r>
              <a:rPr lang="en-AU" dirty="0" smtClean="0"/>
              <a:t>(</a:t>
            </a:r>
            <a:r>
              <a:rPr lang="en-AU" dirty="0"/>
              <a:t>4 marks)</a:t>
            </a:r>
          </a:p>
        </p:txBody>
      </p:sp>
      <p:graphicFrame>
        <p:nvGraphicFramePr>
          <p:cNvPr id="4" name="Table 3"/>
          <p:cNvGraphicFramePr>
            <a:graphicFrameLocks noGrp="1"/>
          </p:cNvGraphicFramePr>
          <p:nvPr>
            <p:extLst>
              <p:ext uri="{D42A27DB-BD31-4B8C-83A1-F6EECF244321}">
                <p14:modId xmlns:p14="http://schemas.microsoft.com/office/powerpoint/2010/main" val="138244002"/>
              </p:ext>
            </p:extLst>
          </p:nvPr>
        </p:nvGraphicFramePr>
        <p:xfrm>
          <a:off x="1261872" y="3610547"/>
          <a:ext cx="8497270" cy="2974335"/>
        </p:xfrm>
        <a:graphic>
          <a:graphicData uri="http://schemas.openxmlformats.org/drawingml/2006/table">
            <a:tbl>
              <a:tblPr firstRow="1" firstCol="1" bandRow="1" bandCol="1"/>
              <a:tblGrid>
                <a:gridCol w="7246079">
                  <a:extLst>
                    <a:ext uri="{9D8B030D-6E8A-4147-A177-3AD203B41FA5}">
                      <a16:colId xmlns:a16="http://schemas.microsoft.com/office/drawing/2014/main" val="2271466268"/>
                    </a:ext>
                  </a:extLst>
                </a:gridCol>
                <a:gridCol w="1251191">
                  <a:extLst>
                    <a:ext uri="{9D8B030D-6E8A-4147-A177-3AD203B41FA5}">
                      <a16:colId xmlns:a16="http://schemas.microsoft.com/office/drawing/2014/main" val="2575006428"/>
                    </a:ext>
                  </a:extLst>
                </a:gridCol>
              </a:tblGrid>
              <a:tr h="308181">
                <a:tc>
                  <a:txBody>
                    <a:bodyPr/>
                    <a:lstStyle/>
                    <a:p>
                      <a:pPr algn="ctr">
                        <a:lnSpc>
                          <a:spcPct val="115000"/>
                        </a:lnSpc>
                        <a:spcAft>
                          <a:spcPts val="0"/>
                        </a:spcAft>
                        <a:tabLst>
                          <a:tab pos="228600" algn="l"/>
                          <a:tab pos="457200" algn="l"/>
                          <a:tab pos="914400" algn="l"/>
                          <a:tab pos="1371600" algn="l"/>
                          <a:tab pos="5943600" algn="r"/>
                        </a:tabLst>
                      </a:pPr>
                      <a:r>
                        <a:rPr lang="en-AU" sz="15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Description</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algn="ctr">
                        <a:lnSpc>
                          <a:spcPct val="115000"/>
                        </a:lnSpc>
                        <a:spcAft>
                          <a:spcPts val="0"/>
                        </a:spcAft>
                        <a:tabLst>
                          <a:tab pos="228600" algn="l"/>
                          <a:tab pos="457200" algn="l"/>
                          <a:tab pos="914400" algn="l"/>
                          <a:tab pos="1371600" algn="l"/>
                          <a:tab pos="5943600" algn="r"/>
                        </a:tabLst>
                      </a:pPr>
                      <a:r>
                        <a:rPr lang="en-AU" sz="1500" b="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Marks</a:t>
                      </a:r>
                      <a:endParaRPr lang="en-AU" sz="15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extLst>
                  <a:ext uri="{0D108BD9-81ED-4DB2-BD59-A6C34878D82A}">
                    <a16:rowId xmlns:a16="http://schemas.microsoft.com/office/drawing/2014/main" val="118776940"/>
                  </a:ext>
                </a:extLst>
              </a:tr>
              <a:tr h="308181">
                <a:tc>
                  <a:txBody>
                    <a:bodyPr/>
                    <a:lstStyle/>
                    <a:p>
                      <a:pPr>
                        <a:lnSpc>
                          <a:spcPct val="115000"/>
                        </a:lnSpc>
                        <a:spcAft>
                          <a:spcPts val="0"/>
                        </a:spcAft>
                        <a:tabLst>
                          <a:tab pos="228600" algn="l"/>
                          <a:tab pos="457200" algn="l"/>
                          <a:tab pos="914400" algn="l"/>
                          <a:tab pos="1371600" algn="l"/>
                          <a:tab pos="5943600" algn="r"/>
                        </a:tabLst>
                      </a:pPr>
                      <a:r>
                        <a:rPr lang="en-AU" sz="1500" dirty="0">
                          <a:effectLst/>
                          <a:latin typeface="Arial" panose="020B0604020202020204" pitchFamily="34" charset="0"/>
                          <a:ea typeface="Calibri" panose="020F0502020204030204" pitchFamily="34" charset="0"/>
                          <a:cs typeface="Times New Roman" panose="02020603050405020304" pitchFamily="18" charset="0"/>
                        </a:rPr>
                        <a:t>Identifies the focus of the source</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228600" algn="l"/>
                          <a:tab pos="457200" algn="l"/>
                          <a:tab pos="914400" algn="l"/>
                          <a:tab pos="1371600" algn="l"/>
                          <a:tab pos="5943600" algn="r"/>
                        </a:tabLst>
                      </a:pPr>
                      <a:r>
                        <a:rPr lang="en-AU" sz="15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a:t>
                      </a:r>
                      <a:endParaRPr lang="en-AU" sz="15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50528878"/>
                  </a:ext>
                </a:extLst>
              </a:tr>
              <a:tr h="308181">
                <a:tc>
                  <a:txBody>
                    <a:bodyPr/>
                    <a:lstStyle/>
                    <a:p>
                      <a:pPr>
                        <a:lnSpc>
                          <a:spcPct val="115000"/>
                        </a:lnSpc>
                        <a:spcAft>
                          <a:spcPts val="0"/>
                        </a:spcAft>
                        <a:tabLst>
                          <a:tab pos="228600" algn="l"/>
                          <a:tab pos="457200" algn="l"/>
                          <a:tab pos="914400" algn="l"/>
                          <a:tab pos="1371600" algn="l"/>
                          <a:tab pos="5943600" algn="r"/>
                        </a:tabLst>
                      </a:pPr>
                      <a:r>
                        <a:rPr lang="en-AU" sz="1500" dirty="0">
                          <a:effectLst/>
                          <a:latin typeface="Arial" panose="020B0604020202020204" pitchFamily="34" charset="0"/>
                          <a:ea typeface="Calibri" panose="020F0502020204030204" pitchFamily="34" charset="0"/>
                          <a:cs typeface="Times New Roman" panose="02020603050405020304" pitchFamily="18" charset="0"/>
                        </a:rPr>
                        <a:t>Outlines the causes or event that led to the focus of the source</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228600" algn="l"/>
                          <a:tab pos="457200" algn="l"/>
                          <a:tab pos="914400" algn="l"/>
                          <a:tab pos="1371600" algn="l"/>
                          <a:tab pos="5943600" algn="r"/>
                        </a:tabLst>
                      </a:pPr>
                      <a:r>
                        <a:rPr lang="en-AU" sz="15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a:t>
                      </a:r>
                      <a:endParaRPr lang="en-AU" sz="15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65572418"/>
                  </a:ext>
                </a:extLst>
              </a:tr>
              <a:tr h="308181">
                <a:tc>
                  <a:txBody>
                    <a:bodyPr/>
                    <a:lstStyle/>
                    <a:p>
                      <a:pPr>
                        <a:lnSpc>
                          <a:spcPct val="115000"/>
                        </a:lnSpc>
                        <a:spcAft>
                          <a:spcPts val="0"/>
                        </a:spcAft>
                        <a:tabLst>
                          <a:tab pos="228600" algn="l"/>
                          <a:tab pos="457200" algn="l"/>
                          <a:tab pos="914400" algn="l"/>
                          <a:tab pos="1371600" algn="l"/>
                          <a:tab pos="5943600" algn="r"/>
                        </a:tabLst>
                      </a:pPr>
                      <a:r>
                        <a:rPr lang="en-AU" sz="1500" dirty="0">
                          <a:effectLst/>
                          <a:latin typeface="Arial" panose="020B0604020202020204" pitchFamily="34" charset="0"/>
                          <a:ea typeface="Calibri" panose="020F0502020204030204" pitchFamily="34" charset="0"/>
                          <a:cs typeface="Times New Roman" panose="02020603050405020304" pitchFamily="18" charset="0"/>
                        </a:rPr>
                        <a:t>Provides specific details of the focus of the source, events/people/ideas/dates/places</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228600" algn="l"/>
                          <a:tab pos="457200" algn="l"/>
                          <a:tab pos="914400" algn="l"/>
                          <a:tab pos="1371600" algn="l"/>
                          <a:tab pos="5943600" algn="r"/>
                        </a:tabLst>
                      </a:pPr>
                      <a:r>
                        <a:rPr lang="en-AU" sz="15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2</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82894336"/>
                  </a:ext>
                </a:extLst>
              </a:tr>
              <a:tr h="308181">
                <a:tc>
                  <a:txBody>
                    <a:bodyPr/>
                    <a:lstStyle/>
                    <a:p>
                      <a:pPr algn="r">
                        <a:lnSpc>
                          <a:spcPct val="115000"/>
                        </a:lnSpc>
                        <a:spcAft>
                          <a:spcPts val="0"/>
                        </a:spcAft>
                        <a:tabLst>
                          <a:tab pos="228600" algn="l"/>
                          <a:tab pos="457200" algn="l"/>
                          <a:tab pos="914400" algn="l"/>
                          <a:tab pos="1371600" algn="l"/>
                          <a:tab pos="5943600" algn="r"/>
                        </a:tabLst>
                      </a:pPr>
                      <a:r>
                        <a:rPr lang="en-AU" sz="1500" b="1">
                          <a:effectLst/>
                          <a:latin typeface="Arial" panose="020B0604020202020204" pitchFamily="34" charset="0"/>
                          <a:ea typeface="Calibri" panose="020F0502020204030204" pitchFamily="34" charset="0"/>
                          <a:cs typeface="Times New Roman" panose="02020603050405020304" pitchFamily="18" charset="0"/>
                        </a:rPr>
                        <a:t>Total</a:t>
                      </a:r>
                      <a:endParaRPr lang="en-AU" sz="15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228600" algn="l"/>
                          <a:tab pos="457200" algn="l"/>
                          <a:tab pos="914400" algn="l"/>
                          <a:tab pos="1371600" algn="l"/>
                          <a:tab pos="5943600" algn="r"/>
                        </a:tabLst>
                      </a:pPr>
                      <a:r>
                        <a:rPr lang="en-AU" sz="15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4</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7628932"/>
                  </a:ext>
                </a:extLst>
              </a:tr>
              <a:tr h="1232722">
                <a:tc gridSpan="2">
                  <a:txBody>
                    <a:bodyPr/>
                    <a:lstStyle/>
                    <a:p>
                      <a:pPr>
                        <a:lnSpc>
                          <a:spcPct val="115000"/>
                        </a:lnSpc>
                        <a:spcAft>
                          <a:spcPts val="0"/>
                        </a:spcAft>
                        <a:tabLst>
                          <a:tab pos="228600" algn="l"/>
                          <a:tab pos="457200" algn="l"/>
                          <a:tab pos="914400" algn="l"/>
                          <a:tab pos="1371600" algn="l"/>
                          <a:tab pos="5943600" algn="r"/>
                        </a:tabLst>
                      </a:pPr>
                      <a:r>
                        <a:rPr lang="en-AU" sz="15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Note: </a:t>
                      </a:r>
                      <a:r>
                        <a:rPr lang="en-AU" sz="15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This question is concerned with the historical context in which the source is located.</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spcAft>
                          <a:spcPts val="0"/>
                        </a:spcAft>
                        <a:tabLst>
                          <a:tab pos="228600" algn="l"/>
                          <a:tab pos="457200" algn="l"/>
                          <a:tab pos="914400" algn="l"/>
                          <a:tab pos="1371600" algn="l"/>
                          <a:tab pos="5943600" algn="r"/>
                        </a:tabLst>
                      </a:pPr>
                      <a:r>
                        <a:rPr lang="en-AU" sz="15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Answers should:</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tabLst>
                          <a:tab pos="228600" algn="l"/>
                          <a:tab pos="457200" algn="l"/>
                          <a:tab pos="914400" algn="l"/>
                          <a:tab pos="1371600" algn="l"/>
                          <a:tab pos="5943600" algn="r"/>
                        </a:tabLst>
                      </a:pPr>
                      <a:r>
                        <a:rPr lang="en-AU" sz="15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focus on what is in the source</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tabLst>
                          <a:tab pos="228600" algn="l"/>
                          <a:tab pos="457200" algn="l"/>
                          <a:tab pos="914400" algn="l"/>
                          <a:tab pos="1371600" algn="l"/>
                          <a:tab pos="5943600" algn="r"/>
                        </a:tabLst>
                      </a:pPr>
                      <a:r>
                        <a:rPr lang="en-AU" sz="15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provide the big ‘picture’ for that source.</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AU"/>
                    </a:p>
                  </a:txBody>
                  <a:tcPr/>
                </a:tc>
                <a:extLst>
                  <a:ext uri="{0D108BD9-81ED-4DB2-BD59-A6C34878D82A}">
                    <a16:rowId xmlns:a16="http://schemas.microsoft.com/office/drawing/2014/main" val="3272667673"/>
                  </a:ext>
                </a:extLst>
              </a:tr>
            </a:tbl>
          </a:graphicData>
        </a:graphic>
      </p:graphicFrame>
    </p:spTree>
    <p:extLst>
      <p:ext uri="{BB962C8B-B14F-4D97-AF65-F5344CB8AC3E}">
        <p14:creationId xmlns:p14="http://schemas.microsoft.com/office/powerpoint/2010/main" val="2047610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2</a:t>
            </a:r>
            <a:r>
              <a:rPr lang="en-AU" dirty="0" smtClean="0"/>
              <a:t>. How are marks awarded for this question?</a:t>
            </a:r>
            <a:endParaRPr lang="en-AU" dirty="0"/>
          </a:p>
        </p:txBody>
      </p:sp>
      <p:sp>
        <p:nvSpPr>
          <p:cNvPr id="3" name="Content Placeholder 2"/>
          <p:cNvSpPr>
            <a:spLocks noGrp="1"/>
          </p:cNvSpPr>
          <p:nvPr>
            <p:ph idx="1"/>
          </p:nvPr>
        </p:nvSpPr>
        <p:spPr>
          <a:xfrm>
            <a:off x="1261872" y="2119745"/>
            <a:ext cx="8595360" cy="4060392"/>
          </a:xfrm>
        </p:spPr>
        <p:txBody>
          <a:bodyPr/>
          <a:lstStyle/>
          <a:p>
            <a:pPr marL="0" indent="0">
              <a:buNone/>
            </a:pPr>
            <a:r>
              <a:rPr lang="en-AU" dirty="0"/>
              <a:t>Compare and contrast the purpose of Sources 1 and 2.       	 (5 marks)</a:t>
            </a:r>
          </a:p>
        </p:txBody>
      </p:sp>
      <p:graphicFrame>
        <p:nvGraphicFramePr>
          <p:cNvPr id="5" name="Table 4"/>
          <p:cNvGraphicFramePr>
            <a:graphicFrameLocks noGrp="1"/>
          </p:cNvGraphicFramePr>
          <p:nvPr>
            <p:extLst>
              <p:ext uri="{D42A27DB-BD31-4B8C-83A1-F6EECF244321}">
                <p14:modId xmlns:p14="http://schemas.microsoft.com/office/powerpoint/2010/main" val="2632309072"/>
              </p:ext>
            </p:extLst>
          </p:nvPr>
        </p:nvGraphicFramePr>
        <p:xfrm>
          <a:off x="625389" y="2767325"/>
          <a:ext cx="9898524" cy="3841234"/>
        </p:xfrm>
        <a:graphic>
          <a:graphicData uri="http://schemas.openxmlformats.org/drawingml/2006/table">
            <a:tbl>
              <a:tblPr firstRow="1" firstCol="1" bandRow="1" bandCol="1"/>
              <a:tblGrid>
                <a:gridCol w="8515364">
                  <a:extLst>
                    <a:ext uri="{9D8B030D-6E8A-4147-A177-3AD203B41FA5}">
                      <a16:colId xmlns:a16="http://schemas.microsoft.com/office/drawing/2014/main" val="3159514074"/>
                    </a:ext>
                  </a:extLst>
                </a:gridCol>
                <a:gridCol w="1383160">
                  <a:extLst>
                    <a:ext uri="{9D8B030D-6E8A-4147-A177-3AD203B41FA5}">
                      <a16:colId xmlns:a16="http://schemas.microsoft.com/office/drawing/2014/main" val="917016917"/>
                    </a:ext>
                  </a:extLst>
                </a:gridCol>
              </a:tblGrid>
              <a:tr h="274374">
                <a:tc>
                  <a:txBody>
                    <a:bodyPr/>
                    <a:lstStyle/>
                    <a:p>
                      <a:pPr algn="ctr">
                        <a:lnSpc>
                          <a:spcPct val="115000"/>
                        </a:lnSpc>
                        <a:spcAft>
                          <a:spcPts val="0"/>
                        </a:spcAft>
                        <a:tabLst>
                          <a:tab pos="228600" algn="l"/>
                          <a:tab pos="457200" algn="l"/>
                          <a:tab pos="914400" algn="l"/>
                          <a:tab pos="1371600" algn="l"/>
                          <a:tab pos="5943600" algn="r"/>
                        </a:tabLst>
                      </a:pPr>
                      <a:r>
                        <a:rPr lang="en-AU" sz="15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Description</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algn="ctr">
                        <a:lnSpc>
                          <a:spcPct val="115000"/>
                        </a:lnSpc>
                        <a:spcAft>
                          <a:spcPts val="0"/>
                        </a:spcAft>
                        <a:tabLst>
                          <a:tab pos="228600" algn="l"/>
                          <a:tab pos="457200" algn="l"/>
                          <a:tab pos="914400" algn="l"/>
                          <a:tab pos="1371600" algn="l"/>
                          <a:tab pos="5943600" algn="r"/>
                        </a:tabLst>
                      </a:pPr>
                      <a:r>
                        <a:rPr lang="en-AU" sz="1500" b="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Marks</a:t>
                      </a:r>
                      <a:endParaRPr lang="en-AU" sz="15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extLst>
                  <a:ext uri="{0D108BD9-81ED-4DB2-BD59-A6C34878D82A}">
                    <a16:rowId xmlns:a16="http://schemas.microsoft.com/office/drawing/2014/main" val="4041388612"/>
                  </a:ext>
                </a:extLst>
              </a:tr>
              <a:tr h="274374">
                <a:tc>
                  <a:txBody>
                    <a:bodyPr/>
                    <a:lstStyle/>
                    <a:p>
                      <a:pPr>
                        <a:lnSpc>
                          <a:spcPct val="115000"/>
                        </a:lnSpc>
                        <a:spcAft>
                          <a:spcPts val="0"/>
                        </a:spcAft>
                        <a:tabLst>
                          <a:tab pos="228600" algn="l"/>
                          <a:tab pos="457200" algn="l"/>
                          <a:tab pos="914400" algn="l"/>
                          <a:tab pos="1371600" algn="l"/>
                          <a:tab pos="5943600" algn="r"/>
                        </a:tabLst>
                      </a:pPr>
                      <a:r>
                        <a:rPr lang="en-AU" sz="1500" dirty="0">
                          <a:effectLst/>
                          <a:latin typeface="Arial" panose="020B0604020202020204" pitchFamily="34" charset="0"/>
                          <a:ea typeface="Calibri" panose="020F0502020204030204" pitchFamily="34" charset="0"/>
                          <a:cs typeface="Times New Roman" panose="02020603050405020304" pitchFamily="18" charset="0"/>
                        </a:rPr>
                        <a:t>Identifies the purpose of Source 1</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228600" algn="l"/>
                          <a:tab pos="457200" algn="l"/>
                          <a:tab pos="914400" algn="l"/>
                          <a:tab pos="1371600" algn="l"/>
                          <a:tab pos="5943600" algn="r"/>
                        </a:tabLst>
                      </a:pPr>
                      <a:r>
                        <a:rPr lang="en-AU" sz="15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a:t>
                      </a:r>
                      <a:endParaRPr lang="en-AU" sz="15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92928923"/>
                  </a:ext>
                </a:extLst>
              </a:tr>
              <a:tr h="274374">
                <a:tc>
                  <a:txBody>
                    <a:bodyPr/>
                    <a:lstStyle/>
                    <a:p>
                      <a:pPr>
                        <a:lnSpc>
                          <a:spcPct val="115000"/>
                        </a:lnSpc>
                        <a:spcAft>
                          <a:spcPts val="0"/>
                        </a:spcAft>
                        <a:tabLst>
                          <a:tab pos="228600" algn="l"/>
                          <a:tab pos="457200" algn="l"/>
                          <a:tab pos="914400" algn="l"/>
                          <a:tab pos="1371600" algn="l"/>
                          <a:tab pos="5943600" algn="r"/>
                        </a:tabLst>
                      </a:pPr>
                      <a:r>
                        <a:rPr lang="en-AU" sz="1500" dirty="0">
                          <a:effectLst/>
                          <a:latin typeface="Arial" panose="020B0604020202020204" pitchFamily="34" charset="0"/>
                          <a:ea typeface="Calibri" panose="020F0502020204030204" pitchFamily="34" charset="0"/>
                          <a:cs typeface="Times New Roman" panose="02020603050405020304" pitchFamily="18" charset="0"/>
                        </a:rPr>
                        <a:t>Identifies the purpose of Source 2</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228600" algn="l"/>
                          <a:tab pos="457200" algn="l"/>
                          <a:tab pos="914400" algn="l"/>
                          <a:tab pos="1371600" algn="l"/>
                          <a:tab pos="5943600" algn="r"/>
                        </a:tabLst>
                      </a:pPr>
                      <a:r>
                        <a:rPr lang="en-AU" sz="15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a:t>
                      </a:r>
                      <a:endParaRPr lang="en-AU" sz="15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8814533"/>
                  </a:ext>
                </a:extLst>
              </a:tr>
              <a:tr h="274374">
                <a:tc>
                  <a:txBody>
                    <a:bodyPr/>
                    <a:lstStyle/>
                    <a:p>
                      <a:pPr>
                        <a:lnSpc>
                          <a:spcPct val="115000"/>
                        </a:lnSpc>
                        <a:spcAft>
                          <a:spcPts val="0"/>
                        </a:spcAft>
                        <a:tabLst>
                          <a:tab pos="228600" algn="l"/>
                          <a:tab pos="457200" algn="l"/>
                          <a:tab pos="914400" algn="l"/>
                          <a:tab pos="1371600" algn="l"/>
                          <a:tab pos="5943600" algn="r"/>
                        </a:tabLst>
                      </a:pPr>
                      <a:r>
                        <a:rPr lang="en-AU" sz="1500" dirty="0">
                          <a:effectLst/>
                          <a:latin typeface="Arial" panose="020B0604020202020204" pitchFamily="34" charset="0"/>
                          <a:ea typeface="Calibri" panose="020F0502020204030204" pitchFamily="34" charset="0"/>
                          <a:cs typeface="Times New Roman" panose="02020603050405020304" pitchFamily="18" charset="0"/>
                        </a:rPr>
                        <a:t>Identifies elements of comparison and contrast between the two sources</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228600" algn="l"/>
                          <a:tab pos="457200" algn="l"/>
                          <a:tab pos="914400" algn="l"/>
                          <a:tab pos="1371600" algn="l"/>
                          <a:tab pos="5943600" algn="r"/>
                        </a:tabLst>
                      </a:pPr>
                      <a:r>
                        <a:rPr lang="en-AU" sz="15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1–3</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27437162"/>
                  </a:ext>
                </a:extLst>
              </a:tr>
              <a:tr h="274374">
                <a:tc>
                  <a:txBody>
                    <a:bodyPr/>
                    <a:lstStyle/>
                    <a:p>
                      <a:pPr algn="r">
                        <a:lnSpc>
                          <a:spcPct val="115000"/>
                        </a:lnSpc>
                        <a:spcAft>
                          <a:spcPts val="0"/>
                        </a:spcAft>
                        <a:tabLst>
                          <a:tab pos="228600" algn="l"/>
                          <a:tab pos="457200" algn="l"/>
                          <a:tab pos="914400" algn="l"/>
                          <a:tab pos="1371600" algn="l"/>
                          <a:tab pos="5943600" algn="r"/>
                        </a:tabLst>
                      </a:pPr>
                      <a:r>
                        <a:rPr lang="en-AU" sz="15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Total</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228600" algn="l"/>
                          <a:tab pos="457200" algn="l"/>
                          <a:tab pos="914400" algn="l"/>
                          <a:tab pos="1371600" algn="l"/>
                          <a:tab pos="5943600" algn="r"/>
                        </a:tabLst>
                      </a:pPr>
                      <a:r>
                        <a:rPr lang="en-AU" sz="15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5</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1096106"/>
                  </a:ext>
                </a:extLst>
              </a:tr>
              <a:tr h="2469364">
                <a:tc gridSpan="2">
                  <a:txBody>
                    <a:bodyPr/>
                    <a:lstStyle/>
                    <a:p>
                      <a:pPr>
                        <a:lnSpc>
                          <a:spcPct val="115000"/>
                        </a:lnSpc>
                        <a:spcAft>
                          <a:spcPts val="0"/>
                        </a:spcAft>
                        <a:tabLst>
                          <a:tab pos="228600" algn="l"/>
                          <a:tab pos="457200" algn="l"/>
                          <a:tab pos="914400" algn="l"/>
                          <a:tab pos="1371600" algn="l"/>
                          <a:tab pos="5943600" algn="r"/>
                        </a:tabLst>
                      </a:pPr>
                      <a:r>
                        <a:rPr lang="en-AU" sz="15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Note: </a:t>
                      </a:r>
                      <a:r>
                        <a:rPr lang="en-AU" sz="15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This question focuses on the reasons for the construction of the sources, and what they aim to achieve. </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tabLst>
                          <a:tab pos="228600" algn="l"/>
                          <a:tab pos="457200" algn="l"/>
                          <a:tab pos="914400" algn="l"/>
                          <a:tab pos="1371600" algn="l"/>
                          <a:tab pos="5943600" algn="r"/>
                        </a:tabLst>
                      </a:pPr>
                      <a:r>
                        <a:rPr lang="en-AU" sz="15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Answers should:</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tabLst>
                          <a:tab pos="228600" algn="l"/>
                          <a:tab pos="457200" algn="l"/>
                          <a:tab pos="914400" algn="l"/>
                          <a:tab pos="1371600" algn="l"/>
                          <a:tab pos="5943600" algn="r"/>
                        </a:tabLst>
                      </a:pPr>
                      <a:r>
                        <a:rPr lang="en-AU" sz="15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identify the issue/event/subject of each source</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tabLst>
                          <a:tab pos="228600" algn="l"/>
                          <a:tab pos="457200" algn="l"/>
                          <a:tab pos="914400" algn="l"/>
                          <a:tab pos="1371600" algn="l"/>
                          <a:tab pos="5943600" algn="r"/>
                        </a:tabLst>
                      </a:pPr>
                      <a:r>
                        <a:rPr lang="en-AU" sz="15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identify the message of the sources</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tabLst>
                          <a:tab pos="228600" algn="l"/>
                          <a:tab pos="457200" algn="l"/>
                          <a:tab pos="914400" algn="l"/>
                          <a:tab pos="1371600" algn="l"/>
                          <a:tab pos="5943600" algn="r"/>
                        </a:tabLst>
                      </a:pPr>
                      <a:r>
                        <a:rPr lang="en-AU" sz="15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identify the likely purpose for which the source was constructed (or, in the case of the photograph, how the source might have been used, which might produce variations in student interpretation)</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tabLst>
                          <a:tab pos="228600" algn="l"/>
                          <a:tab pos="457200" algn="l"/>
                          <a:tab pos="914400" algn="l"/>
                          <a:tab pos="1371600" algn="l"/>
                          <a:tab pos="5943600" algn="r"/>
                        </a:tabLst>
                      </a:pPr>
                      <a:r>
                        <a:rPr lang="en-AU" sz="15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use evidence from the source to support the response</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tabLst>
                          <a:tab pos="228600" algn="l"/>
                          <a:tab pos="457200" algn="l"/>
                          <a:tab pos="914400" algn="l"/>
                          <a:tab pos="1371600" algn="l"/>
                          <a:tab pos="5943600" algn="r"/>
                        </a:tabLst>
                      </a:pPr>
                      <a:r>
                        <a:rPr lang="en-AU" sz="15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explain how they compare (are similar) and contrast (are different) in terms of their purpose.</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tabLst>
                          <a:tab pos="228600" algn="l"/>
                          <a:tab pos="457200" algn="l"/>
                          <a:tab pos="914400" algn="l"/>
                          <a:tab pos="1371600" algn="l"/>
                          <a:tab pos="5943600" algn="r"/>
                        </a:tabLst>
                      </a:pPr>
                      <a:r>
                        <a:rPr lang="en-AU" sz="15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 strong answer will integrate comparisons and contrasts within the discussion of purpose.</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AU"/>
                    </a:p>
                  </a:txBody>
                  <a:tcPr/>
                </a:tc>
                <a:extLst>
                  <a:ext uri="{0D108BD9-81ED-4DB2-BD59-A6C34878D82A}">
                    <a16:rowId xmlns:a16="http://schemas.microsoft.com/office/drawing/2014/main" val="868496889"/>
                  </a:ext>
                </a:extLst>
              </a:tr>
            </a:tbl>
          </a:graphicData>
        </a:graphic>
      </p:graphicFrame>
    </p:spTree>
    <p:extLst>
      <p:ext uri="{BB962C8B-B14F-4D97-AF65-F5344CB8AC3E}">
        <p14:creationId xmlns:p14="http://schemas.microsoft.com/office/powerpoint/2010/main" val="34817220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3</a:t>
            </a:r>
            <a:r>
              <a:rPr lang="en-AU" dirty="0" smtClean="0"/>
              <a:t>. How are marks awarded for this question?</a:t>
            </a:r>
            <a:endParaRPr lang="en-AU" dirty="0"/>
          </a:p>
        </p:txBody>
      </p:sp>
      <p:sp>
        <p:nvSpPr>
          <p:cNvPr id="3" name="Content Placeholder 2"/>
          <p:cNvSpPr>
            <a:spLocks noGrp="1"/>
          </p:cNvSpPr>
          <p:nvPr>
            <p:ph idx="1"/>
          </p:nvPr>
        </p:nvSpPr>
        <p:spPr>
          <a:xfrm>
            <a:off x="1261872" y="2119745"/>
            <a:ext cx="8595360" cy="4060392"/>
          </a:xfrm>
        </p:spPr>
        <p:txBody>
          <a:bodyPr/>
          <a:lstStyle/>
          <a:p>
            <a:pPr marL="0" indent="0">
              <a:buNone/>
            </a:pPr>
            <a:r>
              <a:rPr lang="en-AU" dirty="0"/>
              <a:t>Explain the message of Source 3.         	(3 marks)</a:t>
            </a:r>
          </a:p>
        </p:txBody>
      </p:sp>
      <p:graphicFrame>
        <p:nvGraphicFramePr>
          <p:cNvPr id="4" name="Table 3"/>
          <p:cNvGraphicFramePr>
            <a:graphicFrameLocks noGrp="1"/>
          </p:cNvGraphicFramePr>
          <p:nvPr>
            <p:extLst>
              <p:ext uri="{D42A27DB-BD31-4B8C-83A1-F6EECF244321}">
                <p14:modId xmlns:p14="http://schemas.microsoft.com/office/powerpoint/2010/main" val="4263608429"/>
              </p:ext>
            </p:extLst>
          </p:nvPr>
        </p:nvGraphicFramePr>
        <p:xfrm>
          <a:off x="657801" y="2829361"/>
          <a:ext cx="10165369" cy="3712754"/>
        </p:xfrm>
        <a:graphic>
          <a:graphicData uri="http://schemas.openxmlformats.org/drawingml/2006/table">
            <a:tbl>
              <a:tblPr firstRow="1" firstCol="1" bandRow="1" bandCol="1"/>
              <a:tblGrid>
                <a:gridCol w="8668557">
                  <a:extLst>
                    <a:ext uri="{9D8B030D-6E8A-4147-A177-3AD203B41FA5}">
                      <a16:colId xmlns:a16="http://schemas.microsoft.com/office/drawing/2014/main" val="3131273806"/>
                    </a:ext>
                  </a:extLst>
                </a:gridCol>
                <a:gridCol w="1496812">
                  <a:extLst>
                    <a:ext uri="{9D8B030D-6E8A-4147-A177-3AD203B41FA5}">
                      <a16:colId xmlns:a16="http://schemas.microsoft.com/office/drawing/2014/main" val="600625041"/>
                    </a:ext>
                  </a:extLst>
                </a:gridCol>
              </a:tblGrid>
              <a:tr h="337523">
                <a:tc>
                  <a:txBody>
                    <a:bodyPr/>
                    <a:lstStyle/>
                    <a:p>
                      <a:pPr algn="ctr">
                        <a:lnSpc>
                          <a:spcPct val="115000"/>
                        </a:lnSpc>
                        <a:spcAft>
                          <a:spcPts val="0"/>
                        </a:spcAft>
                        <a:tabLst>
                          <a:tab pos="228600" algn="l"/>
                          <a:tab pos="457200" algn="l"/>
                          <a:tab pos="914400" algn="l"/>
                          <a:tab pos="1371600" algn="l"/>
                          <a:tab pos="5943600" algn="r"/>
                        </a:tabLst>
                      </a:pPr>
                      <a:r>
                        <a:rPr lang="en-AU" sz="15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Description</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algn="ctr">
                        <a:lnSpc>
                          <a:spcPct val="115000"/>
                        </a:lnSpc>
                        <a:spcAft>
                          <a:spcPts val="0"/>
                        </a:spcAft>
                        <a:tabLst>
                          <a:tab pos="228600" algn="l"/>
                          <a:tab pos="457200" algn="l"/>
                          <a:tab pos="914400" algn="l"/>
                          <a:tab pos="1371600" algn="l"/>
                          <a:tab pos="5943600" algn="r"/>
                        </a:tabLst>
                      </a:pPr>
                      <a:r>
                        <a:rPr lang="en-AU" sz="1500" b="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Marks</a:t>
                      </a:r>
                      <a:endParaRPr lang="en-AU" sz="15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extLst>
                  <a:ext uri="{0D108BD9-81ED-4DB2-BD59-A6C34878D82A}">
                    <a16:rowId xmlns:a16="http://schemas.microsoft.com/office/drawing/2014/main" val="2247105490"/>
                  </a:ext>
                </a:extLst>
              </a:tr>
              <a:tr h="337523">
                <a:tc>
                  <a:txBody>
                    <a:bodyPr/>
                    <a:lstStyle/>
                    <a:p>
                      <a:pPr>
                        <a:lnSpc>
                          <a:spcPct val="115000"/>
                        </a:lnSpc>
                        <a:spcAft>
                          <a:spcPts val="0"/>
                        </a:spcAft>
                        <a:tabLst>
                          <a:tab pos="228600" algn="l"/>
                          <a:tab pos="457200" algn="l"/>
                          <a:tab pos="914400" algn="l"/>
                          <a:tab pos="1371600" algn="l"/>
                          <a:tab pos="5943600" algn="r"/>
                        </a:tabLst>
                      </a:pPr>
                      <a:r>
                        <a:rPr lang="en-AU" sz="1500" dirty="0">
                          <a:effectLst/>
                          <a:latin typeface="Arial" panose="020B0604020202020204" pitchFamily="34" charset="0"/>
                          <a:ea typeface="Calibri" panose="020F0502020204030204" pitchFamily="34" charset="0"/>
                          <a:cs typeface="Times New Roman" panose="02020603050405020304" pitchFamily="18" charset="0"/>
                        </a:rPr>
                        <a:t>Explains the message of the source</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ctr">
                        <a:lnSpc>
                          <a:spcPct val="115000"/>
                        </a:lnSpc>
                        <a:spcAft>
                          <a:spcPts val="0"/>
                        </a:spcAft>
                        <a:tabLst>
                          <a:tab pos="228600" algn="l"/>
                          <a:tab pos="457200" algn="l"/>
                          <a:tab pos="914400" algn="l"/>
                          <a:tab pos="1371600" algn="l"/>
                          <a:tab pos="5943600" algn="r"/>
                        </a:tabLst>
                      </a:pPr>
                      <a:r>
                        <a:rPr lang="en-AU" sz="15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3</a:t>
                      </a:r>
                      <a:endParaRPr lang="en-AU" sz="15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3473498668"/>
                  </a:ext>
                </a:extLst>
              </a:tr>
              <a:tr h="337523">
                <a:tc>
                  <a:txBody>
                    <a:bodyPr/>
                    <a:lstStyle/>
                    <a:p>
                      <a:pPr>
                        <a:lnSpc>
                          <a:spcPct val="115000"/>
                        </a:lnSpc>
                        <a:spcAft>
                          <a:spcPts val="0"/>
                        </a:spcAft>
                        <a:tabLst>
                          <a:tab pos="228600" algn="l"/>
                          <a:tab pos="457200" algn="l"/>
                          <a:tab pos="914400" algn="l"/>
                          <a:tab pos="1371600" algn="l"/>
                          <a:tab pos="5943600" algn="r"/>
                        </a:tabLst>
                      </a:pPr>
                      <a:r>
                        <a:rPr lang="en-AU" sz="1500" dirty="0">
                          <a:effectLst/>
                          <a:latin typeface="Arial" panose="020B0604020202020204" pitchFamily="34" charset="0"/>
                          <a:ea typeface="Calibri" panose="020F0502020204030204" pitchFamily="34" charset="0"/>
                          <a:cs typeface="Times New Roman" panose="02020603050405020304" pitchFamily="18" charset="0"/>
                        </a:rPr>
                        <a:t>Outlines the message of the source </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tc>
                  <a:txBody>
                    <a:bodyPr/>
                    <a:lstStyle/>
                    <a:p>
                      <a:pPr algn="ctr">
                        <a:lnSpc>
                          <a:spcPct val="115000"/>
                        </a:lnSpc>
                        <a:spcAft>
                          <a:spcPts val="0"/>
                        </a:spcAft>
                        <a:tabLst>
                          <a:tab pos="228600" algn="l"/>
                          <a:tab pos="457200" algn="l"/>
                          <a:tab pos="914400" algn="l"/>
                          <a:tab pos="1371600" algn="l"/>
                          <a:tab pos="5943600" algn="r"/>
                        </a:tabLst>
                      </a:pPr>
                      <a:r>
                        <a:rPr lang="en-AU" sz="15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2</a:t>
                      </a:r>
                      <a:endParaRPr lang="en-AU" sz="15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dot"/>
                      <a:round/>
                      <a:headEnd type="none" w="med" len="med"/>
                      <a:tailEnd type="none" w="med" len="med"/>
                    </a:lnB>
                  </a:tcPr>
                </a:tc>
                <a:extLst>
                  <a:ext uri="{0D108BD9-81ED-4DB2-BD59-A6C34878D82A}">
                    <a16:rowId xmlns:a16="http://schemas.microsoft.com/office/drawing/2014/main" val="2882065641"/>
                  </a:ext>
                </a:extLst>
              </a:tr>
              <a:tr h="337523">
                <a:tc>
                  <a:txBody>
                    <a:bodyPr/>
                    <a:lstStyle/>
                    <a:p>
                      <a:pPr>
                        <a:lnSpc>
                          <a:spcPct val="115000"/>
                        </a:lnSpc>
                        <a:spcAft>
                          <a:spcPts val="0"/>
                        </a:spcAft>
                        <a:tabLst>
                          <a:tab pos="228600" algn="l"/>
                          <a:tab pos="457200" algn="l"/>
                          <a:tab pos="914400" algn="l"/>
                          <a:tab pos="1371600" algn="l"/>
                          <a:tab pos="5943600" algn="r"/>
                        </a:tabLst>
                      </a:pPr>
                      <a:r>
                        <a:rPr lang="en-AU" sz="1500" dirty="0">
                          <a:effectLst/>
                          <a:latin typeface="Arial" panose="020B0604020202020204" pitchFamily="34" charset="0"/>
                          <a:ea typeface="Calibri" panose="020F0502020204030204" pitchFamily="34" charset="0"/>
                          <a:cs typeface="Times New Roman" panose="02020603050405020304" pitchFamily="18" charset="0"/>
                        </a:rPr>
                        <a:t>Identifies an aspect of the message of the source</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228600" algn="l"/>
                          <a:tab pos="457200" algn="l"/>
                          <a:tab pos="914400" algn="l"/>
                          <a:tab pos="1371600" algn="l"/>
                          <a:tab pos="5943600" algn="r"/>
                        </a:tabLst>
                      </a:pPr>
                      <a:r>
                        <a:rPr lang="en-AU" sz="15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dot"/>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48952994"/>
                  </a:ext>
                </a:extLst>
              </a:tr>
              <a:tr h="337523">
                <a:tc>
                  <a:txBody>
                    <a:bodyPr/>
                    <a:lstStyle/>
                    <a:p>
                      <a:pPr algn="r">
                        <a:lnSpc>
                          <a:spcPct val="115000"/>
                        </a:lnSpc>
                        <a:spcAft>
                          <a:spcPts val="0"/>
                        </a:spcAft>
                        <a:tabLst>
                          <a:tab pos="228600" algn="l"/>
                          <a:tab pos="457200" algn="l"/>
                          <a:tab pos="914400" algn="l"/>
                          <a:tab pos="1371600" algn="l"/>
                          <a:tab pos="5943600" algn="r"/>
                        </a:tabLst>
                      </a:pPr>
                      <a:r>
                        <a:rPr lang="en-AU" sz="1500" b="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Total</a:t>
                      </a:r>
                      <a:endParaRPr lang="en-AU" sz="15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228600" algn="l"/>
                          <a:tab pos="457200" algn="l"/>
                          <a:tab pos="914400" algn="l"/>
                          <a:tab pos="1371600" algn="l"/>
                          <a:tab pos="5943600" algn="r"/>
                        </a:tabLst>
                      </a:pPr>
                      <a:r>
                        <a:rPr lang="en-AU" sz="15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3</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928544089"/>
                  </a:ext>
                </a:extLst>
              </a:tr>
              <a:tr h="2025139">
                <a:tc gridSpan="2">
                  <a:txBody>
                    <a:bodyPr/>
                    <a:lstStyle/>
                    <a:p>
                      <a:pPr>
                        <a:lnSpc>
                          <a:spcPct val="115000"/>
                        </a:lnSpc>
                        <a:spcAft>
                          <a:spcPts val="0"/>
                        </a:spcAft>
                        <a:tabLst>
                          <a:tab pos="228600" algn="l"/>
                          <a:tab pos="457200" algn="l"/>
                          <a:tab pos="914400" algn="l"/>
                          <a:tab pos="1371600" algn="l"/>
                          <a:tab pos="5943600" algn="r"/>
                        </a:tabLst>
                      </a:pPr>
                      <a:r>
                        <a:rPr lang="en-AU" sz="15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Note: </a:t>
                      </a:r>
                      <a:r>
                        <a:rPr lang="en-AU" sz="15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Look for the message conveyed by the source. </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tabLst>
                          <a:tab pos="228600" algn="l"/>
                          <a:tab pos="457200" algn="l"/>
                          <a:tab pos="914400" algn="l"/>
                          <a:tab pos="1371600" algn="l"/>
                          <a:tab pos="5943600" algn="r"/>
                        </a:tabLst>
                      </a:pPr>
                      <a:r>
                        <a:rPr lang="en-AU" sz="15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Answers should:</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tabLst>
                          <a:tab pos="228600" algn="l"/>
                          <a:tab pos="457200" algn="l"/>
                          <a:tab pos="914400" algn="l"/>
                          <a:tab pos="1371600" algn="l"/>
                          <a:tab pos="5943600" algn="r"/>
                        </a:tabLst>
                      </a:pPr>
                      <a:r>
                        <a:rPr lang="en-AU" sz="15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consider all the elements of the source (title/author/date/location)</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tabLst>
                          <a:tab pos="228600" algn="l"/>
                          <a:tab pos="457200" algn="l"/>
                          <a:tab pos="914400" algn="l"/>
                          <a:tab pos="1371600" algn="l"/>
                          <a:tab pos="5943600" algn="r"/>
                        </a:tabLst>
                      </a:pPr>
                      <a:r>
                        <a:rPr lang="en-AU" sz="15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identify the issue/event/subject</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tabLst>
                          <a:tab pos="228600" algn="l"/>
                          <a:tab pos="457200" algn="l"/>
                          <a:tab pos="914400" algn="l"/>
                          <a:tab pos="1371600" algn="l"/>
                          <a:tab pos="5943600" algn="r"/>
                        </a:tabLst>
                      </a:pPr>
                      <a:r>
                        <a:rPr lang="en-AU" sz="15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identify the representation or opinion being expressed</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tabLst>
                          <a:tab pos="228600" algn="l"/>
                          <a:tab pos="457200" algn="l"/>
                          <a:tab pos="914400" algn="l"/>
                          <a:tab pos="1371600" algn="l"/>
                          <a:tab pos="5943600" algn="r"/>
                        </a:tabLst>
                      </a:pPr>
                      <a:r>
                        <a:rPr lang="en-AU" sz="15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provide evidence from the source to support the response.</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AU"/>
                    </a:p>
                  </a:txBody>
                  <a:tcPr/>
                </a:tc>
                <a:extLst>
                  <a:ext uri="{0D108BD9-81ED-4DB2-BD59-A6C34878D82A}">
                    <a16:rowId xmlns:a16="http://schemas.microsoft.com/office/drawing/2014/main" val="2790633110"/>
                  </a:ext>
                </a:extLst>
              </a:tr>
            </a:tbl>
          </a:graphicData>
        </a:graphic>
      </p:graphicFrame>
    </p:spTree>
    <p:extLst>
      <p:ext uri="{BB962C8B-B14F-4D97-AF65-F5344CB8AC3E}">
        <p14:creationId xmlns:p14="http://schemas.microsoft.com/office/powerpoint/2010/main" val="2540441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4</a:t>
            </a:r>
            <a:r>
              <a:rPr lang="en-AU" dirty="0" smtClean="0"/>
              <a:t>. How are marks awarded for this question?</a:t>
            </a:r>
            <a:endParaRPr lang="en-AU" dirty="0"/>
          </a:p>
        </p:txBody>
      </p:sp>
      <p:sp>
        <p:nvSpPr>
          <p:cNvPr id="3" name="Content Placeholder 2"/>
          <p:cNvSpPr>
            <a:spLocks noGrp="1"/>
          </p:cNvSpPr>
          <p:nvPr>
            <p:ph idx="1"/>
          </p:nvPr>
        </p:nvSpPr>
        <p:spPr>
          <a:xfrm>
            <a:off x="1261872" y="2119745"/>
            <a:ext cx="8595360" cy="4060392"/>
          </a:xfrm>
        </p:spPr>
        <p:txBody>
          <a:bodyPr/>
          <a:lstStyle/>
          <a:p>
            <a:pPr marL="0" indent="0">
              <a:buNone/>
            </a:pPr>
            <a:r>
              <a:rPr lang="en-AU" dirty="0"/>
              <a:t>Identify how, and discuss why, Sources 3 and 4 are contestable.     	(6 marks)</a:t>
            </a:r>
          </a:p>
        </p:txBody>
      </p:sp>
      <p:graphicFrame>
        <p:nvGraphicFramePr>
          <p:cNvPr id="4" name="Table 3"/>
          <p:cNvGraphicFramePr>
            <a:graphicFrameLocks noGrp="1"/>
          </p:cNvGraphicFramePr>
          <p:nvPr>
            <p:extLst>
              <p:ext uri="{D42A27DB-BD31-4B8C-83A1-F6EECF244321}">
                <p14:modId xmlns:p14="http://schemas.microsoft.com/office/powerpoint/2010/main" val="3258318731"/>
              </p:ext>
            </p:extLst>
          </p:nvPr>
        </p:nvGraphicFramePr>
        <p:xfrm>
          <a:off x="643080" y="2808448"/>
          <a:ext cx="10105275" cy="3813699"/>
        </p:xfrm>
        <a:graphic>
          <a:graphicData uri="http://schemas.openxmlformats.org/drawingml/2006/table">
            <a:tbl>
              <a:tblPr firstRow="1" firstCol="1" bandRow="1" bandCol="1"/>
              <a:tblGrid>
                <a:gridCol w="9142289">
                  <a:extLst>
                    <a:ext uri="{9D8B030D-6E8A-4147-A177-3AD203B41FA5}">
                      <a16:colId xmlns:a16="http://schemas.microsoft.com/office/drawing/2014/main" val="1376789275"/>
                    </a:ext>
                  </a:extLst>
                </a:gridCol>
                <a:gridCol w="962986">
                  <a:extLst>
                    <a:ext uri="{9D8B030D-6E8A-4147-A177-3AD203B41FA5}">
                      <a16:colId xmlns:a16="http://schemas.microsoft.com/office/drawing/2014/main" val="2713280782"/>
                    </a:ext>
                  </a:extLst>
                </a:gridCol>
              </a:tblGrid>
              <a:tr h="277947">
                <a:tc>
                  <a:txBody>
                    <a:bodyPr/>
                    <a:lstStyle/>
                    <a:p>
                      <a:pPr algn="ctr">
                        <a:lnSpc>
                          <a:spcPct val="115000"/>
                        </a:lnSpc>
                        <a:spcAft>
                          <a:spcPts val="0"/>
                        </a:spcAft>
                        <a:tabLst>
                          <a:tab pos="228600" algn="l"/>
                          <a:tab pos="457200" algn="l"/>
                          <a:tab pos="914400" algn="l"/>
                          <a:tab pos="1371600" algn="l"/>
                          <a:tab pos="5943600" algn="r"/>
                        </a:tabLst>
                      </a:pPr>
                      <a:r>
                        <a:rPr lang="en-AU" sz="15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Description</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algn="ctr">
                        <a:lnSpc>
                          <a:spcPct val="115000"/>
                        </a:lnSpc>
                        <a:spcAft>
                          <a:spcPts val="0"/>
                        </a:spcAft>
                        <a:tabLst>
                          <a:tab pos="228600" algn="l"/>
                          <a:tab pos="457200" algn="l"/>
                          <a:tab pos="914400" algn="l"/>
                          <a:tab pos="1371600" algn="l"/>
                          <a:tab pos="5943600" algn="r"/>
                        </a:tabLst>
                      </a:pPr>
                      <a:r>
                        <a:rPr lang="en-AU" sz="1500" b="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Marks</a:t>
                      </a:r>
                      <a:endParaRPr lang="en-AU" sz="15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extLst>
                  <a:ext uri="{0D108BD9-81ED-4DB2-BD59-A6C34878D82A}">
                    <a16:rowId xmlns:a16="http://schemas.microsoft.com/office/drawing/2014/main" val="990770955"/>
                  </a:ext>
                </a:extLst>
              </a:tr>
              <a:tr h="258590">
                <a:tc>
                  <a:txBody>
                    <a:bodyPr/>
                    <a:lstStyle/>
                    <a:p>
                      <a:pPr>
                        <a:lnSpc>
                          <a:spcPct val="107000"/>
                        </a:lnSpc>
                        <a:spcAft>
                          <a:spcPts val="0"/>
                        </a:spcAft>
                      </a:pPr>
                      <a:r>
                        <a:rPr lang="en-AU" sz="15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Identifies the element/s of contestability for Sources 3 and 4 </a:t>
                      </a:r>
                    </a:p>
                  </a:txBody>
                  <a:tcPr marL="73025" marR="730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AU" sz="15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1–2</a:t>
                      </a: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03929786"/>
                  </a:ext>
                </a:extLst>
              </a:tr>
              <a:tr h="258590">
                <a:tc>
                  <a:txBody>
                    <a:bodyPr/>
                    <a:lstStyle/>
                    <a:p>
                      <a:pPr>
                        <a:lnSpc>
                          <a:spcPct val="107000"/>
                        </a:lnSpc>
                        <a:spcAft>
                          <a:spcPts val="0"/>
                        </a:spcAft>
                      </a:pPr>
                      <a:r>
                        <a:rPr lang="en-AU" sz="15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Discusses the reasons for the contestability of Source 3</a:t>
                      </a:r>
                    </a:p>
                  </a:txBody>
                  <a:tcPr marL="73025" marR="730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AU" sz="15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1–2</a:t>
                      </a: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357717"/>
                  </a:ext>
                </a:extLst>
              </a:tr>
              <a:tr h="258590">
                <a:tc>
                  <a:txBody>
                    <a:bodyPr/>
                    <a:lstStyle/>
                    <a:p>
                      <a:pPr>
                        <a:lnSpc>
                          <a:spcPct val="107000"/>
                        </a:lnSpc>
                        <a:spcAft>
                          <a:spcPts val="0"/>
                        </a:spcAft>
                      </a:pPr>
                      <a:r>
                        <a:rPr lang="en-AU" sz="15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Discusses the reasons for the contestability of Source 4</a:t>
                      </a:r>
                    </a:p>
                  </a:txBody>
                  <a:tcPr marL="73025" marR="730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AU" sz="15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1–2</a:t>
                      </a: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9419432"/>
                  </a:ext>
                </a:extLst>
              </a:tr>
              <a:tr h="258590">
                <a:tc>
                  <a:txBody>
                    <a:bodyPr/>
                    <a:lstStyle/>
                    <a:p>
                      <a:pPr>
                        <a:lnSpc>
                          <a:spcPct val="107000"/>
                        </a:lnSpc>
                        <a:spcAft>
                          <a:spcPts val="0"/>
                        </a:spcAft>
                      </a:pPr>
                      <a:r>
                        <a:rPr lang="en-AU" sz="1500" b="1"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Total </a:t>
                      </a:r>
                      <a:endParaRPr lang="en-AU" sz="15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07000"/>
                        </a:lnSpc>
                        <a:spcAft>
                          <a:spcPts val="0"/>
                        </a:spcAft>
                      </a:pPr>
                      <a:r>
                        <a:rPr lang="en-AU" sz="1500" b="1">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6</a:t>
                      </a:r>
                      <a:endParaRPr lang="en-AU" sz="150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31080711"/>
                  </a:ext>
                </a:extLst>
              </a:tr>
              <a:tr h="2404735">
                <a:tc>
                  <a:txBody>
                    <a:bodyPr/>
                    <a:lstStyle/>
                    <a:p>
                      <a:pPr>
                        <a:lnSpc>
                          <a:spcPct val="107000"/>
                        </a:lnSpc>
                        <a:spcAft>
                          <a:spcPts val="0"/>
                        </a:spcAft>
                      </a:pPr>
                      <a:r>
                        <a:rPr lang="en-AU" sz="15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Note: The concept of contestability requires a discussion of conflicting historical interpretations represented in source material, specifically why they are different and open to debate. </a:t>
                      </a:r>
                    </a:p>
                    <a:p>
                      <a:pPr>
                        <a:lnSpc>
                          <a:spcPct val="107000"/>
                        </a:lnSpc>
                        <a:spcAft>
                          <a:spcPts val="0"/>
                        </a:spcAft>
                      </a:pPr>
                      <a:r>
                        <a:rPr lang="en-AU" sz="15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Answers should: </a:t>
                      </a:r>
                    </a:p>
                    <a:p>
                      <a:pPr marL="342900" lvl="0" indent="-342900">
                        <a:lnSpc>
                          <a:spcPct val="115000"/>
                        </a:lnSpc>
                        <a:spcAft>
                          <a:spcPts val="0"/>
                        </a:spcAft>
                        <a:buFont typeface="Symbol" panose="05050102010706020507" pitchFamily="18" charset="2"/>
                        <a:buChar char=""/>
                        <a:tabLst>
                          <a:tab pos="228600" algn="l"/>
                          <a:tab pos="457200" algn="l"/>
                          <a:tab pos="914400" algn="l"/>
                          <a:tab pos="1371600" algn="l"/>
                          <a:tab pos="5943600" algn="r"/>
                        </a:tabLst>
                      </a:pPr>
                      <a:r>
                        <a:rPr lang="en-AU" sz="15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demonstrate an understanding of what can make a source contestable, whether it provides a certain interpretation of events for which other interpretations exist; or whether the source/s can be disputed as historical evidence</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tabLst>
                          <a:tab pos="228600" algn="l"/>
                          <a:tab pos="457200" algn="l"/>
                          <a:tab pos="914400" algn="l"/>
                          <a:tab pos="1371600" algn="l"/>
                          <a:tab pos="5943600" algn="r"/>
                        </a:tabLst>
                      </a:pPr>
                      <a:r>
                        <a:rPr lang="en-AU" sz="15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identify</a:t>
                      </a:r>
                      <a:r>
                        <a:rPr lang="en-AU" sz="1500" dirty="0">
                          <a:effectLst/>
                          <a:latin typeface="Arial" panose="020B0604020202020204" pitchFamily="34" charset="0"/>
                          <a:ea typeface="Calibri" panose="020F0502020204030204" pitchFamily="34" charset="0"/>
                          <a:cs typeface="Times New Roman" panose="02020603050405020304" pitchFamily="18" charset="0"/>
                        </a:rPr>
                        <a:t> in each source the argument/s, biases, motives or perspectives that can be disputed.</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0"/>
                        </a:spcAft>
                      </a:pPr>
                      <a:r>
                        <a:rPr lang="en-AU" sz="1500" dirty="0">
                          <a:solidFill>
                            <a:srgbClr val="000000"/>
                          </a:solidFill>
                          <a:effectLst/>
                          <a:latin typeface="Arial" panose="020B0604020202020204" pitchFamily="34" charset="0"/>
                          <a:ea typeface="Times New Roman" panose="02020603050405020304" pitchFamily="18" charset="0"/>
                          <a:cs typeface="Times New Roman" panose="02020603050405020304" pitchFamily="18" charset="0"/>
                        </a:rPr>
                        <a:t> Stronger candidates may discuss the nature of the contestability, perhaps by referring to alternative arguments or viewpoints on the interpretations presented by the sources, or by making comparisons between the two sources.</a:t>
                      </a:r>
                    </a:p>
                  </a:txBody>
                  <a:tcPr marL="73025" marR="730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228600" algn="l"/>
                          <a:tab pos="457200" algn="l"/>
                          <a:tab pos="914400" algn="l"/>
                          <a:tab pos="1371600" algn="l"/>
                          <a:tab pos="5943600" algn="r"/>
                        </a:tabLst>
                      </a:pPr>
                      <a:r>
                        <a:rPr lang="en-AU" sz="15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 </a:t>
                      </a:r>
                      <a:endParaRPr lang="en-AU" sz="15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78789021"/>
                  </a:ext>
                </a:extLst>
              </a:tr>
            </a:tbl>
          </a:graphicData>
        </a:graphic>
      </p:graphicFrame>
    </p:spTree>
    <p:extLst>
      <p:ext uri="{BB962C8B-B14F-4D97-AF65-F5344CB8AC3E}">
        <p14:creationId xmlns:p14="http://schemas.microsoft.com/office/powerpoint/2010/main" val="417457199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t>5</a:t>
            </a:r>
            <a:r>
              <a:rPr lang="en-AU" dirty="0" smtClean="0"/>
              <a:t>. How are marks awarded for this question?</a:t>
            </a:r>
            <a:endParaRPr lang="en-AU" dirty="0"/>
          </a:p>
        </p:txBody>
      </p:sp>
      <p:sp>
        <p:nvSpPr>
          <p:cNvPr id="3" name="Content Placeholder 2"/>
          <p:cNvSpPr>
            <a:spLocks noGrp="1"/>
          </p:cNvSpPr>
          <p:nvPr>
            <p:ph idx="1"/>
          </p:nvPr>
        </p:nvSpPr>
        <p:spPr>
          <a:xfrm>
            <a:off x="1261872" y="2119745"/>
            <a:ext cx="8595360" cy="4060392"/>
          </a:xfrm>
        </p:spPr>
        <p:txBody>
          <a:bodyPr/>
          <a:lstStyle/>
          <a:p>
            <a:pPr marL="0" indent="0">
              <a:buNone/>
            </a:pPr>
            <a:r>
              <a:rPr lang="en-AU" dirty="0"/>
              <a:t>Using your knowledge of the whole period of study, evaluate the importance of the themes, ideas and/or events represented in the four sources.       	 (7 marks)</a:t>
            </a:r>
          </a:p>
        </p:txBody>
      </p:sp>
      <p:graphicFrame>
        <p:nvGraphicFramePr>
          <p:cNvPr id="4" name="Table 3"/>
          <p:cNvGraphicFramePr>
            <a:graphicFrameLocks noGrp="1"/>
          </p:cNvGraphicFramePr>
          <p:nvPr>
            <p:extLst>
              <p:ext uri="{D42A27DB-BD31-4B8C-83A1-F6EECF244321}">
                <p14:modId xmlns:p14="http://schemas.microsoft.com/office/powerpoint/2010/main" val="1820533600"/>
              </p:ext>
            </p:extLst>
          </p:nvPr>
        </p:nvGraphicFramePr>
        <p:xfrm>
          <a:off x="484014" y="2865971"/>
          <a:ext cx="10172902" cy="3659521"/>
        </p:xfrm>
        <a:graphic>
          <a:graphicData uri="http://schemas.openxmlformats.org/drawingml/2006/table">
            <a:tbl>
              <a:tblPr firstRow="1" firstCol="1" bandRow="1" bandCol="1"/>
              <a:tblGrid>
                <a:gridCol w="8763135">
                  <a:extLst>
                    <a:ext uri="{9D8B030D-6E8A-4147-A177-3AD203B41FA5}">
                      <a16:colId xmlns:a16="http://schemas.microsoft.com/office/drawing/2014/main" val="2899582001"/>
                    </a:ext>
                  </a:extLst>
                </a:gridCol>
                <a:gridCol w="1409767">
                  <a:extLst>
                    <a:ext uri="{9D8B030D-6E8A-4147-A177-3AD203B41FA5}">
                      <a16:colId xmlns:a16="http://schemas.microsoft.com/office/drawing/2014/main" val="617995782"/>
                    </a:ext>
                  </a:extLst>
                </a:gridCol>
              </a:tblGrid>
              <a:tr h="224784">
                <a:tc>
                  <a:txBody>
                    <a:bodyPr/>
                    <a:lstStyle/>
                    <a:p>
                      <a:pPr algn="ctr">
                        <a:lnSpc>
                          <a:spcPct val="115000"/>
                        </a:lnSpc>
                        <a:spcAft>
                          <a:spcPts val="0"/>
                        </a:spcAft>
                        <a:tabLst>
                          <a:tab pos="228600" algn="l"/>
                          <a:tab pos="457200" algn="l"/>
                          <a:tab pos="914400" algn="l"/>
                          <a:tab pos="1371600" algn="l"/>
                          <a:tab pos="5943600" algn="r"/>
                        </a:tabLst>
                      </a:pPr>
                      <a:r>
                        <a:rPr lang="en-AU" sz="12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Description</a:t>
                      </a:r>
                      <a:endParaRPr lang="en-AU"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tc>
                  <a:txBody>
                    <a:bodyPr/>
                    <a:lstStyle/>
                    <a:p>
                      <a:pPr algn="ctr">
                        <a:lnSpc>
                          <a:spcPct val="115000"/>
                        </a:lnSpc>
                        <a:spcAft>
                          <a:spcPts val="0"/>
                        </a:spcAft>
                        <a:tabLst>
                          <a:tab pos="228600" algn="l"/>
                          <a:tab pos="457200" algn="l"/>
                          <a:tab pos="914400" algn="l"/>
                          <a:tab pos="1371600" algn="l"/>
                          <a:tab pos="5943600" algn="r"/>
                        </a:tabLst>
                      </a:pPr>
                      <a:r>
                        <a:rPr lang="en-AU" sz="1200" b="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Marks</a:t>
                      </a:r>
                      <a:endParaRPr lang="en-AU" sz="12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D966"/>
                    </a:solidFill>
                  </a:tcPr>
                </a:tc>
                <a:extLst>
                  <a:ext uri="{0D108BD9-81ED-4DB2-BD59-A6C34878D82A}">
                    <a16:rowId xmlns:a16="http://schemas.microsoft.com/office/drawing/2014/main" val="1550341190"/>
                  </a:ext>
                </a:extLst>
              </a:tr>
              <a:tr h="224784">
                <a:tc>
                  <a:txBody>
                    <a:bodyPr/>
                    <a:lstStyle/>
                    <a:p>
                      <a:pPr>
                        <a:lnSpc>
                          <a:spcPct val="115000"/>
                        </a:lnSpc>
                        <a:spcAft>
                          <a:spcPts val="0"/>
                        </a:spcAft>
                        <a:tabLst>
                          <a:tab pos="228600" algn="l"/>
                          <a:tab pos="457200" algn="l"/>
                          <a:tab pos="914400" algn="l"/>
                          <a:tab pos="1371600" algn="l"/>
                          <a:tab pos="5943600" algn="r"/>
                        </a:tabLst>
                      </a:pPr>
                      <a:r>
                        <a:rPr lang="en-AU" sz="1200" dirty="0">
                          <a:effectLst/>
                          <a:latin typeface="Arial" panose="020B0604020202020204" pitchFamily="34" charset="0"/>
                          <a:ea typeface="Calibri" panose="020F0502020204030204" pitchFamily="34" charset="0"/>
                          <a:cs typeface="Times New Roman" panose="02020603050405020304" pitchFamily="18" charset="0"/>
                        </a:rPr>
                        <a:t>Identification of the themes/ideas/events</a:t>
                      </a:r>
                      <a:endParaRPr lang="en-AU"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228600" algn="l"/>
                          <a:tab pos="457200" algn="l"/>
                          <a:tab pos="914400" algn="l"/>
                          <a:tab pos="1371600" algn="l"/>
                          <a:tab pos="5943600" algn="r"/>
                        </a:tabLst>
                      </a:pPr>
                      <a:r>
                        <a:rPr lang="en-AU"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a:t>
                      </a:r>
                      <a:endParaRPr lang="en-AU" sz="12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965103407"/>
                  </a:ext>
                </a:extLst>
              </a:tr>
              <a:tr h="449567">
                <a:tc>
                  <a:txBody>
                    <a:bodyPr/>
                    <a:lstStyle/>
                    <a:p>
                      <a:pPr>
                        <a:lnSpc>
                          <a:spcPct val="115000"/>
                        </a:lnSpc>
                        <a:spcAft>
                          <a:spcPts val="0"/>
                        </a:spcAft>
                        <a:tabLst>
                          <a:tab pos="228600" algn="l"/>
                          <a:tab pos="457200" algn="l"/>
                          <a:tab pos="914400" algn="l"/>
                          <a:tab pos="1371600" algn="l"/>
                          <a:tab pos="5943600" algn="r"/>
                        </a:tabLst>
                      </a:pPr>
                      <a:r>
                        <a:rPr lang="en-AU" sz="1200" dirty="0">
                          <a:effectLst/>
                          <a:latin typeface="Arial" panose="020B0604020202020204" pitchFamily="34" charset="0"/>
                          <a:ea typeface="Calibri" panose="020F0502020204030204" pitchFamily="34" charset="0"/>
                          <a:cs typeface="Times New Roman" panose="02020603050405020304" pitchFamily="18" charset="0"/>
                        </a:rPr>
                        <a:t>Placement of the themes/ideas/events with the themes/ideas/events of the broader historical context of the time. Students should be able to demonstrate a breadth and depth of knowledge of the time period.</a:t>
                      </a:r>
                      <a:endParaRPr lang="en-AU"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228600" algn="l"/>
                          <a:tab pos="457200" algn="l"/>
                          <a:tab pos="914400" algn="l"/>
                          <a:tab pos="1371600" algn="l"/>
                          <a:tab pos="5943600" algn="r"/>
                        </a:tabLst>
                      </a:pPr>
                      <a:r>
                        <a:rPr lang="en-AU"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1–2</a:t>
                      </a:r>
                      <a:endParaRPr lang="en-AU" sz="12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94013004"/>
                  </a:ext>
                </a:extLst>
              </a:tr>
              <a:tr h="224784">
                <a:tc>
                  <a:txBody>
                    <a:bodyPr/>
                    <a:lstStyle/>
                    <a:p>
                      <a:pPr>
                        <a:lnSpc>
                          <a:spcPct val="115000"/>
                        </a:lnSpc>
                        <a:spcAft>
                          <a:spcPts val="0"/>
                        </a:spcAft>
                        <a:tabLst>
                          <a:tab pos="228600" algn="l"/>
                          <a:tab pos="457200" algn="l"/>
                          <a:tab pos="914400" algn="l"/>
                          <a:tab pos="1371600" algn="l"/>
                          <a:tab pos="5943600" algn="r"/>
                        </a:tabLst>
                      </a:pPr>
                      <a:r>
                        <a:rPr lang="en-AU" sz="1200" dirty="0">
                          <a:effectLst/>
                          <a:latin typeface="Arial" panose="020B0604020202020204" pitchFamily="34" charset="0"/>
                          <a:ea typeface="Calibri" panose="020F0502020204030204" pitchFamily="34" charset="0"/>
                          <a:cs typeface="Times New Roman" panose="02020603050405020304" pitchFamily="18" charset="0"/>
                        </a:rPr>
                        <a:t>Evaluation of the themes/ideas/events in relation to those of the broader historical context</a:t>
                      </a:r>
                      <a:endParaRPr lang="en-AU"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228600" algn="l"/>
                          <a:tab pos="457200" algn="l"/>
                          <a:tab pos="914400" algn="l"/>
                          <a:tab pos="1371600" algn="l"/>
                          <a:tab pos="5943600" algn="r"/>
                        </a:tabLst>
                      </a:pPr>
                      <a:r>
                        <a:rPr lang="en-AU"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1–2</a:t>
                      </a:r>
                      <a:endParaRPr lang="en-AU" sz="12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84496552"/>
                  </a:ext>
                </a:extLst>
              </a:tr>
              <a:tr h="287766">
                <a:tc>
                  <a:txBody>
                    <a:bodyPr/>
                    <a:lstStyle/>
                    <a:p>
                      <a:pPr>
                        <a:lnSpc>
                          <a:spcPct val="115000"/>
                        </a:lnSpc>
                        <a:spcAft>
                          <a:spcPts val="0"/>
                        </a:spcAft>
                        <a:tabLst>
                          <a:tab pos="228600" algn="l"/>
                          <a:tab pos="457200" algn="l"/>
                          <a:tab pos="914400" algn="l"/>
                          <a:tab pos="1371600" algn="l"/>
                          <a:tab pos="5943600" algn="r"/>
                        </a:tabLst>
                      </a:pPr>
                      <a:r>
                        <a:rPr lang="en-AU" sz="1200" dirty="0">
                          <a:effectLst/>
                          <a:latin typeface="Arial" panose="020B0604020202020204" pitchFamily="34" charset="0"/>
                          <a:ea typeface="Calibri" panose="020F0502020204030204" pitchFamily="34" charset="0"/>
                          <a:cs typeface="Times New Roman" panose="02020603050405020304" pitchFamily="18" charset="0"/>
                        </a:rPr>
                        <a:t>Compare and/or contrast what is in the sources with the other themes/ideas/events of the time period</a:t>
                      </a:r>
                      <a:endParaRPr lang="en-AU"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228600" algn="l"/>
                          <a:tab pos="457200" algn="l"/>
                          <a:tab pos="914400" algn="l"/>
                          <a:tab pos="1371600" algn="l"/>
                          <a:tab pos="5943600" algn="r"/>
                        </a:tabLst>
                      </a:pPr>
                      <a:r>
                        <a:rPr lang="en-AU" sz="120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1–2</a:t>
                      </a:r>
                      <a:endParaRPr lang="en-AU" sz="12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8902503"/>
                  </a:ext>
                </a:extLst>
              </a:tr>
              <a:tr h="224784">
                <a:tc>
                  <a:txBody>
                    <a:bodyPr/>
                    <a:lstStyle/>
                    <a:p>
                      <a:pPr algn="r">
                        <a:lnSpc>
                          <a:spcPct val="115000"/>
                        </a:lnSpc>
                        <a:spcAft>
                          <a:spcPts val="0"/>
                        </a:spcAft>
                        <a:tabLst>
                          <a:tab pos="228600" algn="l"/>
                          <a:tab pos="457200" algn="l"/>
                          <a:tab pos="914400" algn="l"/>
                          <a:tab pos="1371600" algn="l"/>
                          <a:tab pos="5943600" algn="r"/>
                        </a:tabLst>
                      </a:pPr>
                      <a:r>
                        <a:rPr lang="en-AU" sz="12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Total</a:t>
                      </a:r>
                      <a:endParaRPr lang="en-AU"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a:lnSpc>
                          <a:spcPct val="115000"/>
                        </a:lnSpc>
                        <a:spcAft>
                          <a:spcPts val="0"/>
                        </a:spcAft>
                        <a:tabLst>
                          <a:tab pos="228600" algn="l"/>
                          <a:tab pos="457200" algn="l"/>
                          <a:tab pos="914400" algn="l"/>
                          <a:tab pos="1371600" algn="l"/>
                          <a:tab pos="5943600" algn="r"/>
                        </a:tabLst>
                      </a:pPr>
                      <a:r>
                        <a:rPr lang="en-AU" sz="1200" b="1">
                          <a:solidFill>
                            <a:srgbClr val="000000"/>
                          </a:solidFill>
                          <a:effectLst/>
                          <a:latin typeface="Arial" panose="020B0604020202020204" pitchFamily="34" charset="0"/>
                          <a:ea typeface="Calibri" panose="020F0502020204030204" pitchFamily="34" charset="0"/>
                          <a:cs typeface="Times New Roman" panose="02020603050405020304" pitchFamily="18" charset="0"/>
                        </a:rPr>
                        <a:t>7</a:t>
                      </a:r>
                      <a:endParaRPr lang="en-AU" sz="120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14280827"/>
                  </a:ext>
                </a:extLst>
              </a:tr>
              <a:tr h="2023052">
                <a:tc gridSpan="2">
                  <a:txBody>
                    <a:bodyPr/>
                    <a:lstStyle/>
                    <a:p>
                      <a:pPr>
                        <a:lnSpc>
                          <a:spcPct val="115000"/>
                        </a:lnSpc>
                        <a:spcAft>
                          <a:spcPts val="0"/>
                        </a:spcAft>
                        <a:tabLst>
                          <a:tab pos="228600" algn="l"/>
                          <a:tab pos="457200" algn="l"/>
                          <a:tab pos="914400" algn="l"/>
                          <a:tab pos="1371600" algn="l"/>
                          <a:tab pos="5943600" algn="r"/>
                        </a:tabLst>
                      </a:pPr>
                      <a:r>
                        <a:rPr lang="en-AU" sz="1200" b="1"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Note: </a:t>
                      </a:r>
                      <a:r>
                        <a:rPr lang="en-AU"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This question does not require reiteration of the messages in the sources.</a:t>
                      </a:r>
                      <a:endParaRPr lang="en-AU" sz="1200" dirty="0">
                        <a:effectLst/>
                        <a:latin typeface="Calibri" panose="020F0502020204030204" pitchFamily="34" charset="0"/>
                        <a:ea typeface="Calibri" panose="020F0502020204030204" pitchFamily="34" charset="0"/>
                        <a:cs typeface="Times New Roman" panose="02020603050405020304" pitchFamily="18" charset="0"/>
                      </a:endParaRPr>
                    </a:p>
                    <a:p>
                      <a:pPr marL="457200">
                        <a:lnSpc>
                          <a:spcPct val="115000"/>
                        </a:lnSpc>
                        <a:spcAft>
                          <a:spcPts val="0"/>
                        </a:spcAft>
                        <a:tabLst>
                          <a:tab pos="228600" algn="l"/>
                          <a:tab pos="457200" algn="l"/>
                          <a:tab pos="914400" algn="l"/>
                          <a:tab pos="1371600" algn="l"/>
                          <a:tab pos="5943600" algn="r"/>
                        </a:tabLst>
                      </a:pPr>
                      <a:r>
                        <a:rPr lang="en-AU"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Evaluate the importance of the theme/idea/event in relation to how they are represented in the sources; relates to the other themes/ideas/events of the whole period.</a:t>
                      </a:r>
                      <a:endParaRPr lang="en-AU" sz="12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15000"/>
                        </a:lnSpc>
                        <a:spcAft>
                          <a:spcPts val="0"/>
                        </a:spcAft>
                        <a:tabLst>
                          <a:tab pos="228600" algn="l"/>
                          <a:tab pos="457200" algn="l"/>
                          <a:tab pos="914400" algn="l"/>
                          <a:tab pos="1371600" algn="l"/>
                          <a:tab pos="5943600" algn="r"/>
                        </a:tabLst>
                      </a:pPr>
                      <a:r>
                        <a:rPr lang="en-AU"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Answers should:</a:t>
                      </a:r>
                      <a:endParaRPr lang="en-AU"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tabLst>
                          <a:tab pos="228600" algn="l"/>
                          <a:tab pos="457200" algn="l"/>
                          <a:tab pos="914400" algn="l"/>
                          <a:tab pos="1371600" algn="l"/>
                          <a:tab pos="5943600" algn="r"/>
                        </a:tabLst>
                      </a:pPr>
                      <a:r>
                        <a:rPr lang="en-AU"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identify the themes/ideas/events in the sources</a:t>
                      </a:r>
                      <a:endParaRPr lang="en-AU"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tabLst>
                          <a:tab pos="228600" algn="l"/>
                          <a:tab pos="457200" algn="l"/>
                          <a:tab pos="914400" algn="l"/>
                          <a:tab pos="1371600" algn="l"/>
                          <a:tab pos="5943600" algn="r"/>
                        </a:tabLst>
                      </a:pPr>
                      <a:r>
                        <a:rPr lang="en-AU"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evaluate the importance of what is shown in the sources by using evidence from the sources and the whole historical period</a:t>
                      </a:r>
                      <a:endParaRPr lang="en-AU"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tabLst>
                          <a:tab pos="228600" algn="l"/>
                          <a:tab pos="457200" algn="l"/>
                          <a:tab pos="914400" algn="l"/>
                          <a:tab pos="1371600" algn="l"/>
                          <a:tab pos="5943600" algn="r"/>
                        </a:tabLst>
                      </a:pPr>
                      <a:r>
                        <a:rPr lang="en-AU"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refer to the long-term and/or short-term effects of the theme/idea/event</a:t>
                      </a:r>
                      <a:endParaRPr lang="en-AU"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tabLst>
                          <a:tab pos="228600" algn="l"/>
                          <a:tab pos="457200" algn="l"/>
                          <a:tab pos="914400" algn="l"/>
                          <a:tab pos="1371600" algn="l"/>
                          <a:tab pos="5943600" algn="r"/>
                        </a:tabLst>
                      </a:pPr>
                      <a:r>
                        <a:rPr lang="en-AU"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refer to elements of continuity and/or change evident in the theme/idea/event</a:t>
                      </a:r>
                      <a:endParaRPr lang="en-AU" sz="1200" dirty="0">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nSpc>
                          <a:spcPct val="115000"/>
                        </a:lnSpc>
                        <a:spcAft>
                          <a:spcPts val="0"/>
                        </a:spcAft>
                        <a:buFont typeface="Symbol" panose="05050102010706020507" pitchFamily="18" charset="2"/>
                        <a:buChar char=""/>
                        <a:tabLst>
                          <a:tab pos="228600" algn="l"/>
                          <a:tab pos="457200" algn="l"/>
                          <a:tab pos="914400" algn="l"/>
                          <a:tab pos="1371600" algn="l"/>
                          <a:tab pos="5943600" algn="r"/>
                        </a:tabLst>
                      </a:pPr>
                      <a:r>
                        <a:rPr lang="en-AU" sz="1200" dirty="0">
                          <a:solidFill>
                            <a:srgbClr val="000000"/>
                          </a:solidFill>
                          <a:effectLst/>
                          <a:latin typeface="Arial" panose="020B0604020202020204" pitchFamily="34" charset="0"/>
                          <a:ea typeface="Calibri" panose="020F0502020204030204" pitchFamily="34" charset="0"/>
                          <a:cs typeface="Times New Roman" panose="02020603050405020304" pitchFamily="18" charset="0"/>
                        </a:rPr>
                        <a:t>demonstrate a depth and breadth of knowledge for the whole time period.</a:t>
                      </a:r>
                      <a:endParaRPr lang="en-AU"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73025" marR="7302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AU"/>
                    </a:p>
                  </a:txBody>
                  <a:tcPr/>
                </a:tc>
                <a:extLst>
                  <a:ext uri="{0D108BD9-81ED-4DB2-BD59-A6C34878D82A}">
                    <a16:rowId xmlns:a16="http://schemas.microsoft.com/office/drawing/2014/main" val="229338491"/>
                  </a:ext>
                </a:extLst>
              </a:tr>
            </a:tbl>
          </a:graphicData>
        </a:graphic>
      </p:graphicFrame>
    </p:spTree>
    <p:extLst>
      <p:ext uri="{BB962C8B-B14F-4D97-AF65-F5344CB8AC3E}">
        <p14:creationId xmlns:p14="http://schemas.microsoft.com/office/powerpoint/2010/main" val="41409543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6. </a:t>
            </a:r>
            <a:r>
              <a:rPr lang="en-AU" dirty="0"/>
              <a:t>What is </a:t>
            </a:r>
            <a:r>
              <a:rPr lang="en-AU" dirty="0" smtClean="0"/>
              <a:t>Anschluss?</a:t>
            </a:r>
            <a:endParaRPr lang="en-AU" dirty="0"/>
          </a:p>
        </p:txBody>
      </p:sp>
      <p:sp>
        <p:nvSpPr>
          <p:cNvPr id="3" name="Content Placeholder 2"/>
          <p:cNvSpPr>
            <a:spLocks noGrp="1"/>
          </p:cNvSpPr>
          <p:nvPr>
            <p:ph idx="1"/>
          </p:nvPr>
        </p:nvSpPr>
        <p:spPr>
          <a:xfrm>
            <a:off x="1261872" y="2709949"/>
            <a:ext cx="8595360" cy="3470188"/>
          </a:xfrm>
        </p:spPr>
        <p:txBody>
          <a:bodyPr/>
          <a:lstStyle/>
          <a:p>
            <a:pPr marL="0" indent="0">
              <a:buNone/>
            </a:pPr>
            <a:r>
              <a:rPr lang="en-AU" sz="5000" dirty="0" smtClean="0">
                <a:solidFill>
                  <a:srgbClr val="FF0000"/>
                </a:solidFill>
              </a:rPr>
              <a:t>The </a:t>
            </a:r>
            <a:r>
              <a:rPr lang="en-AU" sz="5000" dirty="0">
                <a:solidFill>
                  <a:srgbClr val="FF0000"/>
                </a:solidFill>
              </a:rPr>
              <a:t>annexation of Austria into Nazi Germany on 12 March 1938.</a:t>
            </a:r>
          </a:p>
          <a:p>
            <a:endParaRPr lang="en-AU" dirty="0"/>
          </a:p>
        </p:txBody>
      </p:sp>
    </p:spTree>
    <p:extLst>
      <p:ext uri="{BB962C8B-B14F-4D97-AF65-F5344CB8AC3E}">
        <p14:creationId xmlns:p14="http://schemas.microsoft.com/office/powerpoint/2010/main" val="16473227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7. </a:t>
            </a:r>
            <a:r>
              <a:rPr lang="en-AU" dirty="0"/>
              <a:t>What was the Soviet-Germany Non-Aggression </a:t>
            </a:r>
            <a:r>
              <a:rPr lang="en-AU" dirty="0" smtClean="0"/>
              <a:t>pact?</a:t>
            </a:r>
            <a:endParaRPr lang="en-AU" dirty="0"/>
          </a:p>
        </p:txBody>
      </p:sp>
      <p:sp>
        <p:nvSpPr>
          <p:cNvPr id="3" name="Content Placeholder 2"/>
          <p:cNvSpPr>
            <a:spLocks noGrp="1"/>
          </p:cNvSpPr>
          <p:nvPr>
            <p:ph idx="1"/>
          </p:nvPr>
        </p:nvSpPr>
        <p:spPr>
          <a:xfrm>
            <a:off x="1261872" y="2651760"/>
            <a:ext cx="8595360" cy="3528377"/>
          </a:xfrm>
        </p:spPr>
        <p:txBody>
          <a:bodyPr/>
          <a:lstStyle/>
          <a:p>
            <a:pPr marL="0" indent="0">
              <a:buNone/>
            </a:pPr>
            <a:r>
              <a:rPr lang="en-AU" sz="5000" dirty="0">
                <a:solidFill>
                  <a:srgbClr val="FF0000"/>
                </a:solidFill>
              </a:rPr>
              <a:t>Non-aggression pact between Germany and the Soviet Union signed 23 August </a:t>
            </a:r>
            <a:r>
              <a:rPr lang="en-AU" sz="5000" dirty="0" smtClean="0">
                <a:solidFill>
                  <a:srgbClr val="FF0000"/>
                </a:solidFill>
              </a:rPr>
              <a:t>1939.</a:t>
            </a:r>
            <a:endParaRPr lang="en-AU" sz="5000" dirty="0">
              <a:solidFill>
                <a:srgbClr val="FF0000"/>
              </a:solidFill>
            </a:endParaRPr>
          </a:p>
          <a:p>
            <a:endParaRPr lang="en-AU" dirty="0"/>
          </a:p>
        </p:txBody>
      </p:sp>
    </p:spTree>
    <p:extLst>
      <p:ext uri="{BB962C8B-B14F-4D97-AF65-F5344CB8AC3E}">
        <p14:creationId xmlns:p14="http://schemas.microsoft.com/office/powerpoint/2010/main" val="23836799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8. What was the Munich Pact?</a:t>
            </a:r>
            <a:endParaRPr lang="en-AU" dirty="0"/>
          </a:p>
        </p:txBody>
      </p:sp>
      <p:sp>
        <p:nvSpPr>
          <p:cNvPr id="3" name="Content Placeholder 2"/>
          <p:cNvSpPr>
            <a:spLocks noGrp="1"/>
          </p:cNvSpPr>
          <p:nvPr>
            <p:ph idx="1"/>
          </p:nvPr>
        </p:nvSpPr>
        <p:spPr/>
        <p:txBody>
          <a:bodyPr/>
          <a:lstStyle/>
          <a:p>
            <a:pPr marL="0" indent="0">
              <a:buNone/>
            </a:pPr>
            <a:endParaRPr lang="en-AU" dirty="0" smtClean="0"/>
          </a:p>
          <a:p>
            <a:pPr marL="0" indent="0">
              <a:buNone/>
            </a:pPr>
            <a:r>
              <a:rPr lang="en-AU" sz="4000" dirty="0" smtClean="0">
                <a:solidFill>
                  <a:srgbClr val="FF0000"/>
                </a:solidFill>
              </a:rPr>
              <a:t>(</a:t>
            </a:r>
            <a:r>
              <a:rPr lang="en-AU" sz="4000" dirty="0">
                <a:solidFill>
                  <a:srgbClr val="FF0000"/>
                </a:solidFill>
              </a:rPr>
              <a:t>September 30, 1938), settlement reached by Germany, Great Britain, France, and Italy that permitted German annexation of the Sudetenland, in western Czechoslovakia.</a:t>
            </a:r>
          </a:p>
        </p:txBody>
      </p:sp>
    </p:spTree>
    <p:extLst>
      <p:ext uri="{BB962C8B-B14F-4D97-AF65-F5344CB8AC3E}">
        <p14:creationId xmlns:p14="http://schemas.microsoft.com/office/powerpoint/2010/main" val="8212921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9. What is appeasement?</a:t>
            </a:r>
            <a:endParaRPr lang="en-AU" dirty="0"/>
          </a:p>
        </p:txBody>
      </p:sp>
      <p:sp>
        <p:nvSpPr>
          <p:cNvPr id="3" name="Content Placeholder 2"/>
          <p:cNvSpPr>
            <a:spLocks noGrp="1"/>
          </p:cNvSpPr>
          <p:nvPr>
            <p:ph idx="1"/>
          </p:nvPr>
        </p:nvSpPr>
        <p:spPr>
          <a:xfrm>
            <a:off x="1261872" y="2818015"/>
            <a:ext cx="8595360" cy="3362122"/>
          </a:xfrm>
        </p:spPr>
        <p:txBody>
          <a:bodyPr/>
          <a:lstStyle/>
          <a:p>
            <a:pPr marL="0" indent="0">
              <a:buNone/>
            </a:pPr>
            <a:r>
              <a:rPr lang="en-AU" sz="3000" dirty="0">
                <a:solidFill>
                  <a:srgbClr val="FF0000"/>
                </a:solidFill>
              </a:rPr>
              <a:t>To prevent further disagreement in arguments or war by giving to the opposing side an advantage that they have demanded.</a:t>
            </a:r>
          </a:p>
          <a:p>
            <a:endParaRPr lang="en-AU" dirty="0"/>
          </a:p>
        </p:txBody>
      </p:sp>
    </p:spTree>
    <p:extLst>
      <p:ext uri="{BB962C8B-B14F-4D97-AF65-F5344CB8AC3E}">
        <p14:creationId xmlns:p14="http://schemas.microsoft.com/office/powerpoint/2010/main" val="130585124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10. </a:t>
            </a:r>
            <a:r>
              <a:rPr lang="en-AU" dirty="0"/>
              <a:t>What is </a:t>
            </a:r>
            <a:r>
              <a:rPr lang="en-AU" dirty="0" smtClean="0"/>
              <a:t>Blitzkrieg?</a:t>
            </a:r>
            <a:endParaRPr lang="en-AU" dirty="0"/>
          </a:p>
        </p:txBody>
      </p:sp>
      <p:sp>
        <p:nvSpPr>
          <p:cNvPr id="3" name="Content Placeholder 2"/>
          <p:cNvSpPr>
            <a:spLocks noGrp="1"/>
          </p:cNvSpPr>
          <p:nvPr>
            <p:ph idx="1"/>
          </p:nvPr>
        </p:nvSpPr>
        <p:spPr>
          <a:xfrm>
            <a:off x="1261872" y="2443942"/>
            <a:ext cx="8595360" cy="3736195"/>
          </a:xfrm>
        </p:spPr>
        <p:txBody>
          <a:bodyPr>
            <a:normAutofit lnSpcReduction="10000"/>
          </a:bodyPr>
          <a:lstStyle/>
          <a:p>
            <a:pPr marL="0" indent="0">
              <a:buNone/>
            </a:pPr>
            <a:r>
              <a:rPr lang="en-AU" sz="4000" dirty="0" smtClean="0">
                <a:solidFill>
                  <a:srgbClr val="FF0000"/>
                </a:solidFill>
              </a:rPr>
              <a:t>Lightning </a:t>
            </a:r>
            <a:r>
              <a:rPr lang="en-AU" sz="4000" dirty="0">
                <a:solidFill>
                  <a:srgbClr val="FF0000"/>
                </a:solidFill>
              </a:rPr>
              <a:t>war</a:t>
            </a:r>
          </a:p>
          <a:p>
            <a:pPr marL="0" indent="0">
              <a:buNone/>
            </a:pPr>
            <a:r>
              <a:rPr lang="en-AU" sz="4000" dirty="0">
                <a:solidFill>
                  <a:srgbClr val="FF0000"/>
                </a:solidFill>
              </a:rPr>
              <a:t>A military tactic designed to create disorganisation among enemy forces through the use of mobile forces and locally concentrated firepower.</a:t>
            </a:r>
          </a:p>
          <a:p>
            <a:endParaRPr lang="en-AU" dirty="0"/>
          </a:p>
        </p:txBody>
      </p:sp>
    </p:spTree>
    <p:extLst>
      <p:ext uri="{BB962C8B-B14F-4D97-AF65-F5344CB8AC3E}">
        <p14:creationId xmlns:p14="http://schemas.microsoft.com/office/powerpoint/2010/main" val="263325385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Results?      /30</a:t>
            </a:r>
            <a:endParaRPr lang="en-AU" dirty="0"/>
          </a:p>
        </p:txBody>
      </p:sp>
      <p:sp>
        <p:nvSpPr>
          <p:cNvPr id="3" name="Content Placeholder 2"/>
          <p:cNvSpPr>
            <a:spLocks noGrp="1"/>
          </p:cNvSpPr>
          <p:nvPr>
            <p:ph idx="1"/>
          </p:nvPr>
        </p:nvSpPr>
        <p:spPr/>
        <p:txBody>
          <a:bodyPr/>
          <a:lstStyle/>
          <a:p>
            <a:endParaRPr lang="en-AU"/>
          </a:p>
        </p:txBody>
      </p:sp>
      <p:pic>
        <p:nvPicPr>
          <p:cNvPr id="7170" name="Picture 2" descr="Image result for hitler thumbs up"/>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82149" y="2104129"/>
            <a:ext cx="6038850" cy="45910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48442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Source of the week</a:t>
            </a:r>
            <a:endParaRPr lang="en-AU" dirty="0"/>
          </a:p>
        </p:txBody>
      </p:sp>
      <p:sp>
        <p:nvSpPr>
          <p:cNvPr id="3" name="Content Placeholder 2"/>
          <p:cNvSpPr>
            <a:spLocks noGrp="1"/>
          </p:cNvSpPr>
          <p:nvPr>
            <p:ph idx="1"/>
          </p:nvPr>
        </p:nvSpPr>
        <p:spPr/>
        <p:txBody>
          <a:bodyPr/>
          <a:lstStyle/>
          <a:p>
            <a:endParaRPr lang="en-AU"/>
          </a:p>
        </p:txBody>
      </p:sp>
      <p:pic>
        <p:nvPicPr>
          <p:cNvPr id="10242" name="Picture 2" descr="Image result for german sauc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1752" y="1828800"/>
            <a:ext cx="4638214" cy="463821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46430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6810" y="1828800"/>
            <a:ext cx="2819677" cy="4351337"/>
          </a:xfrm>
        </p:spPr>
        <p:txBody>
          <a:bodyPr/>
          <a:lstStyle/>
          <a:p>
            <a:pPr marL="0" indent="0">
              <a:buNone/>
            </a:pPr>
            <a:r>
              <a:rPr lang="en-AU" dirty="0" smtClean="0"/>
              <a:t>Write three questions you have about this source.</a:t>
            </a:r>
            <a:endParaRPr lang="en-AU" dirty="0"/>
          </a:p>
        </p:txBody>
      </p:sp>
      <p:pic>
        <p:nvPicPr>
          <p:cNvPr id="9218" name="Picture 2" descr="Image result for soviet german pact cartoo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85905" y="533024"/>
            <a:ext cx="4406150" cy="60334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7501122"/>
      </p:ext>
    </p:extLst>
  </p:cSld>
  <p:clrMapOvr>
    <a:masterClrMapping/>
  </p:clrMapOvr>
</p:sld>
</file>

<file path=ppt/theme/theme1.xml><?xml version="1.0" encoding="utf-8"?>
<a:theme xmlns:a="http://schemas.openxmlformats.org/drawingml/2006/main" name="View">
  <a:themeElements>
    <a:clrScheme name="View">
      <a:dk1>
        <a:srgbClr val="000000"/>
      </a:dk1>
      <a:lt1>
        <a:srgbClr val="FFFFFF"/>
      </a:lt1>
      <a:dk2>
        <a:srgbClr val="46464A"/>
      </a:dk2>
      <a:lt2>
        <a:srgbClr val="D6D3CC"/>
      </a:lt2>
      <a:accent1>
        <a:srgbClr val="6F6F74"/>
      </a:accent1>
      <a:accent2>
        <a:srgbClr val="92A9B9"/>
      </a:accent2>
      <a:accent3>
        <a:srgbClr val="A7B789"/>
      </a:accent3>
      <a:accent4>
        <a:srgbClr val="B9A489"/>
      </a:accent4>
      <a:accent5>
        <a:srgbClr val="8D6374"/>
      </a:accent5>
      <a:accent6>
        <a:srgbClr val="9B7362"/>
      </a:accent6>
      <a:hlink>
        <a:srgbClr val="67AABF"/>
      </a:hlink>
      <a:folHlink>
        <a:srgbClr val="ABAFA5"/>
      </a:folHlink>
    </a:clrScheme>
    <a:fontScheme name="View">
      <a:maj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Schoolbook" panose="0204060405050502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View">
      <a:fillStyleLst>
        <a:solidFill>
          <a:schemeClr val="phClr"/>
        </a:solidFill>
        <a:solidFill>
          <a:schemeClr val="phClr">
            <a:tint val="60000"/>
            <a:satMod val="120000"/>
          </a:schemeClr>
        </a:solidFill>
        <a:solidFill>
          <a:schemeClr val="phClr">
            <a:shade val="75000"/>
            <a:satMod val="160000"/>
          </a:schemeClr>
        </a:solidFill>
      </a:fillStyleLst>
      <a:lnStyleLst>
        <a:ln w="9525" cap="flat" cmpd="sng" algn="ctr">
          <a:solidFill>
            <a:schemeClr val="phClr"/>
          </a:solidFill>
          <a:prstDash val="solid"/>
        </a:ln>
        <a:ln w="13970" cap="flat" cmpd="sng" algn="ctr">
          <a:solidFill>
            <a:schemeClr val="phClr"/>
          </a:solidFill>
          <a:prstDash val="solid"/>
        </a:ln>
        <a:ln w="17145" cap="flat" cmpd="sng" algn="ctr">
          <a:solidFill>
            <a:schemeClr val="phClr">
              <a:shade val="95000"/>
              <a:alpha val="95000"/>
              <a:satMod val="150000"/>
            </a:schemeClr>
          </a:solidFill>
          <a:prstDash val="solid"/>
        </a:ln>
      </a:lnStyleLst>
      <a:effectStyleLst>
        <a:effectStyle>
          <a:effectLst/>
        </a:effectStyle>
        <a:effectStyle>
          <a:effectLst>
            <a:outerShdw blurRad="50800" dist="15240" dir="5400000" algn="tl" rotWithShape="0">
              <a:srgbClr val="000000">
                <a:alpha val="75000"/>
              </a:srgbClr>
            </a:outerShdw>
          </a:effectLst>
          <a:scene3d>
            <a:camera prst="orthographicFront">
              <a:rot lat="0" lon="0" rev="0"/>
            </a:camera>
            <a:lightRig rig="brightRoom" dir="tl"/>
          </a:scene3d>
          <a:sp3d contourW="9525" prstMaterial="flat">
            <a:bevelT w="0" h="0" prst="coolSlant"/>
            <a:contourClr>
              <a:schemeClr val="phClr">
                <a:shade val="35000"/>
                <a:satMod val="130000"/>
              </a:schemeClr>
            </a:contourClr>
          </a:sp3d>
        </a:effectStyle>
        <a:effectStyle>
          <a:effectLst>
            <a:outerShdw blurRad="76200" dist="25400" dir="5400000" algn="tl" rotWithShape="0">
              <a:srgbClr val="000000">
                <a:alpha val="55000"/>
              </a:srgbClr>
            </a:outerShdw>
          </a:effectLst>
          <a:scene3d>
            <a:camera prst="orthographicFront">
              <a:rot lat="0" lon="0" rev="0"/>
            </a:camera>
            <a:lightRig rig="brightRoom" dir="tl"/>
          </a:scene3d>
          <a:sp3d contourW="19050" prstMaterial="flat">
            <a:bevelT w="0" h="0" prst="coolSlant"/>
            <a:contourClr>
              <a:schemeClr val="phClr">
                <a:shade val="25000"/>
                <a:satMod val="140000"/>
              </a:schemeClr>
            </a:contourClr>
          </a:sp3d>
        </a:effectStyle>
      </a:effectStyleLst>
      <a:bgFillStyleLst>
        <a:solidFill>
          <a:schemeClr val="phClr"/>
        </a:solidFill>
        <a:solidFill>
          <a:schemeClr val="phClr">
            <a:tint val="95000"/>
            <a:satMod val="170000"/>
          </a:schemeClr>
        </a:solidFill>
        <a:gradFill rotWithShape="1">
          <a:gsLst>
            <a:gs pos="0">
              <a:schemeClr val="phClr">
                <a:tint val="94000"/>
                <a:shade val="98000"/>
                <a:satMod val="130000"/>
                <a:lumMod val="102000"/>
              </a:schemeClr>
            </a:gs>
            <a:gs pos="100000">
              <a:schemeClr val="phClr">
                <a:tint val="98000"/>
                <a:shade val="78000"/>
                <a:satMod val="140000"/>
              </a:schemeClr>
            </a:gs>
          </a:gsLst>
          <a:path path="circle">
            <a:fillToRect l="100000" t="100000" r="100000" b="100000"/>
          </a:path>
        </a:gradFill>
      </a:bgFillStyleLst>
    </a:fmtScheme>
  </a:themeElements>
  <a:objectDefaults/>
  <a:extraClrSchemeLst/>
  <a:extLst>
    <a:ext uri="{05A4C25C-085E-4340-85A3-A5531E510DB2}">
      <thm15:themeFamily xmlns:thm15="http://schemas.microsoft.com/office/thememl/2012/main" name="View" id="{BA0EB5A6-F2D4-4F82-977B-64ADEE4A2A69}" vid="{3969A8A2-35DB-4E3B-8885-16FD20568674}"/>
    </a:ext>
  </a:extLst>
</a:theme>
</file>

<file path=docProps/app.xml><?xml version="1.0" encoding="utf-8"?>
<Properties xmlns="http://schemas.openxmlformats.org/officeDocument/2006/extended-properties" xmlns:vt="http://schemas.openxmlformats.org/officeDocument/2006/docPropsVTypes">
  <Template>View</Template>
  <TotalTime>139</TotalTime>
  <Words>1157</Words>
  <Application>Microsoft Office PowerPoint</Application>
  <PresentationFormat>Widescreen</PresentationFormat>
  <Paragraphs>130</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Century Schoolbook</vt:lpstr>
      <vt:lpstr>Symbol</vt:lpstr>
      <vt:lpstr>Times New Roman</vt:lpstr>
      <vt:lpstr>Wingdings 2</vt:lpstr>
      <vt:lpstr>View</vt:lpstr>
      <vt:lpstr>History Heroes</vt:lpstr>
      <vt:lpstr>1. How are marks awarded for this question?</vt:lpstr>
      <vt:lpstr>2. How are marks awarded for this question?</vt:lpstr>
      <vt:lpstr>3. How are marks awarded for this question?</vt:lpstr>
      <vt:lpstr>4. How are marks awarded for this question?</vt:lpstr>
      <vt:lpstr>5. How are marks awarded for this question?</vt:lpstr>
      <vt:lpstr>6. What is Anschluss?</vt:lpstr>
      <vt:lpstr>7. What was the Soviet-Germany Non-Aggression pact?</vt:lpstr>
      <vt:lpstr>8. What was the Munich Pact?</vt:lpstr>
      <vt:lpstr>9. What is appeasement?</vt:lpstr>
      <vt:lpstr>10. What is Blitzkrieg?</vt:lpstr>
      <vt:lpstr>ANSWERS</vt:lpstr>
      <vt:lpstr>1. How are marks awarded for this question?</vt:lpstr>
      <vt:lpstr>2. How are marks awarded for this question?</vt:lpstr>
      <vt:lpstr>3. How are marks awarded for this question?</vt:lpstr>
      <vt:lpstr>4. How are marks awarded for this question?</vt:lpstr>
      <vt:lpstr>5. How are marks awarded for this question?</vt:lpstr>
      <vt:lpstr>6. What is Anschluss?</vt:lpstr>
      <vt:lpstr>7. What was the Soviet-Germany Non-Aggression pact?</vt:lpstr>
      <vt:lpstr>8. What was the Munich Pact?</vt:lpstr>
      <vt:lpstr>9. What is appeasement?</vt:lpstr>
      <vt:lpstr>10. What is Blitzkrieg?</vt:lpstr>
      <vt:lpstr>Results?      /30</vt:lpstr>
      <vt:lpstr>Source of the week</vt:lpstr>
      <vt:lpstr>PowerPoint Presentation</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History Heroes</dc:title>
  <dc:creator>HAWKES Natasha [Narrogin Senior High School]</dc:creator>
  <cp:lastModifiedBy>HAWKES Natasha [Narrogin Senior High School]</cp:lastModifiedBy>
  <cp:revision>5</cp:revision>
  <dcterms:created xsi:type="dcterms:W3CDTF">2019-09-12T00:30:08Z</dcterms:created>
  <dcterms:modified xsi:type="dcterms:W3CDTF">2019-09-12T02:49:44Z</dcterms:modified>
</cp:coreProperties>
</file>
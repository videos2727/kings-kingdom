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2704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7801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039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0094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1129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9064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763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8704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598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5536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7897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6646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3706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1458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18658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5035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9078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37BC0F0-9F20-4F98-9DCB-44CD241846FE}" type="datetimeFigureOut">
              <a:rPr lang="en-AU" smtClean="0"/>
              <a:t>25/06/2019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EDDD31A-324E-408F-81F2-E2176DB264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3845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PERSPECTIVES of the Treaty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656" y="1732449"/>
            <a:ext cx="11227633" cy="4833243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AU" b="1" dirty="0" smtClean="0"/>
              <a:t>Germany</a:t>
            </a:r>
          </a:p>
          <a:p>
            <a:pPr marL="36900" indent="0">
              <a:buNone/>
            </a:pPr>
            <a:endParaRPr lang="en-AU" dirty="0"/>
          </a:p>
          <a:p>
            <a:pPr marL="36900" indent="0">
              <a:buNone/>
            </a:pPr>
            <a:r>
              <a:rPr lang="en-AU" dirty="0"/>
              <a:t>The Germans hated everything about the treaty</a:t>
            </a:r>
            <a:r>
              <a:rPr lang="en-AU" dirty="0" smtClean="0"/>
              <a:t>:</a:t>
            </a:r>
            <a:endParaRPr lang="en-AU" dirty="0"/>
          </a:p>
          <a:p>
            <a:r>
              <a:rPr lang="en-AU" dirty="0"/>
              <a:t>They were angry that they had not been allowed to negotiate.</a:t>
            </a:r>
          </a:p>
          <a:p>
            <a:r>
              <a:rPr lang="en-AU" dirty="0"/>
              <a:t>'Deutsche </a:t>
            </a:r>
            <a:r>
              <a:rPr lang="en-AU" dirty="0" err="1"/>
              <a:t>Zeitung</a:t>
            </a:r>
            <a:r>
              <a:rPr lang="en-AU" dirty="0"/>
              <a:t>', a German newspaper, vowed: "We will never stop until we win back what we deserve."</a:t>
            </a:r>
          </a:p>
          <a:p>
            <a:r>
              <a:rPr lang="en-AU" dirty="0"/>
              <a:t>Count </a:t>
            </a:r>
            <a:r>
              <a:rPr lang="en-AU" dirty="0" err="1"/>
              <a:t>Brockdorff-Rantzau</a:t>
            </a:r>
            <a:r>
              <a:rPr lang="en-AU" dirty="0"/>
              <a:t>, leader of the German delegation at Versailles said Article 231 - the war-guilt clause - was "a lie". Germany officially denied the war-guilt clause in 1927.</a:t>
            </a:r>
          </a:p>
          <a:p>
            <a:r>
              <a:rPr lang="en-AU" dirty="0"/>
              <a:t>There was a revolution (the </a:t>
            </a:r>
            <a:r>
              <a:rPr lang="en-AU" dirty="0" err="1"/>
              <a:t>Kapp</a:t>
            </a:r>
            <a:r>
              <a:rPr lang="en-AU" dirty="0"/>
              <a:t> Putsch) against the treaty in Berlin in 1920.</a:t>
            </a:r>
          </a:p>
          <a:p>
            <a:r>
              <a:rPr lang="en-AU" dirty="0"/>
              <a:t>Germany hated reparations, and was forced to begin paying them in 1921. They defaulted in 1923 and eventually Hitler refused to pay altogether.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192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PERSPECTIVES of the Treaty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725" y="1732449"/>
            <a:ext cx="10847832" cy="4893203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AU" sz="2500" b="1" dirty="0"/>
              <a:t>Britain</a:t>
            </a:r>
          </a:p>
          <a:p>
            <a:pPr marL="36900" indent="0">
              <a:buNone/>
            </a:pPr>
            <a:endParaRPr lang="en-AU" sz="2500" dirty="0" smtClean="0"/>
          </a:p>
          <a:p>
            <a:pPr marL="36900" indent="0">
              <a:buNone/>
            </a:pPr>
            <a:r>
              <a:rPr lang="en-AU" sz="2500" dirty="0" smtClean="0"/>
              <a:t>Britain </a:t>
            </a:r>
            <a:r>
              <a:rPr lang="en-AU" sz="2500" dirty="0"/>
              <a:t>gained some German colonies and the German navy was destroyed but</a:t>
            </a:r>
            <a:r>
              <a:rPr lang="en-AU" sz="2500" dirty="0" smtClean="0"/>
              <a:t>:</a:t>
            </a:r>
            <a:endParaRPr lang="en-AU" sz="2500" dirty="0"/>
          </a:p>
          <a:p>
            <a:r>
              <a:rPr lang="en-AU" sz="2500" dirty="0"/>
              <a:t>Lloyd George thought the treaty was too harsh, saying: "We shall have to fight another war again in 25 years time."</a:t>
            </a:r>
          </a:p>
          <a:p>
            <a:r>
              <a:rPr lang="en-AU" sz="2500" dirty="0"/>
              <a:t>The British diplomat Harold Nicolson called it "neither just nor wise" and the people who made it "stupid".</a:t>
            </a:r>
          </a:p>
          <a:p>
            <a:r>
              <a:rPr lang="en-AU" sz="2500" dirty="0"/>
              <a:t>The economist John Maynard Keynes prophesied that reparations would ruin the economy of Europe.</a:t>
            </a:r>
          </a:p>
        </p:txBody>
      </p:sp>
      <p:pic>
        <p:nvPicPr>
          <p:cNvPr id="1026" name="Picture 2" descr="Image result for david lloyd george treaty of versail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7720" y="199822"/>
            <a:ext cx="1752600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96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PERSPECTIVES of the Treaty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715" y="1771619"/>
            <a:ext cx="10832842" cy="4779084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AU" sz="3000" b="1" dirty="0">
                <a:effectLst/>
              </a:rPr>
              <a:t>France</a:t>
            </a:r>
          </a:p>
          <a:p>
            <a:pPr marL="36900" indent="0">
              <a:buNone/>
            </a:pPr>
            <a:endParaRPr lang="en-AU" sz="3000" dirty="0" smtClean="0">
              <a:effectLst/>
            </a:endParaRPr>
          </a:p>
          <a:p>
            <a:pPr marL="36900" indent="0">
              <a:buNone/>
            </a:pPr>
            <a:r>
              <a:rPr lang="en-AU" sz="3000" dirty="0" smtClean="0">
                <a:effectLst/>
              </a:rPr>
              <a:t>France </a:t>
            </a:r>
            <a:r>
              <a:rPr lang="en-AU" sz="3000" dirty="0">
                <a:effectLst/>
              </a:rPr>
              <a:t>got Alsace-Lorraine, German colonies, harsh reparations and a tiny German army </a:t>
            </a:r>
            <a:r>
              <a:rPr lang="en-AU" sz="3000" b="1" dirty="0">
                <a:effectLst/>
              </a:rPr>
              <a:t>but</a:t>
            </a:r>
            <a:r>
              <a:rPr lang="en-AU" sz="3000" dirty="0">
                <a:effectLst/>
              </a:rPr>
              <a:t>:</a:t>
            </a:r>
          </a:p>
          <a:p>
            <a:r>
              <a:rPr lang="en-AU" sz="3000" dirty="0">
                <a:effectLst/>
              </a:rPr>
              <a:t>Many French people wanted an independent, not a demilitarised, Rhineland.</a:t>
            </a:r>
          </a:p>
          <a:p>
            <a:r>
              <a:rPr lang="en-AU" sz="3000" dirty="0">
                <a:effectLst/>
              </a:rPr>
              <a:t>Most French people did not think the League of Nations would protect them against Germany.</a:t>
            </a:r>
          </a:p>
          <a:p>
            <a:pPr marL="36900" indent="0">
              <a:buNone/>
            </a:pPr>
            <a:endParaRPr lang="en-AU" dirty="0"/>
          </a:p>
        </p:txBody>
      </p:sp>
      <p:pic>
        <p:nvPicPr>
          <p:cNvPr id="2050" name="Picture 2" descr="Image result for georges clemence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9408" y="418032"/>
            <a:ext cx="1905000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40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PERSPECTIVES of the Treaty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784" y="1469037"/>
            <a:ext cx="9402053" cy="5126636"/>
          </a:xfrm>
        </p:spPr>
        <p:txBody>
          <a:bodyPr>
            <a:normAutofit/>
          </a:bodyPr>
          <a:lstStyle/>
          <a:p>
            <a:r>
              <a:rPr lang="en-AU" sz="2500" b="1" dirty="0">
                <a:effectLst/>
              </a:rPr>
              <a:t>America</a:t>
            </a:r>
          </a:p>
          <a:p>
            <a:pPr marL="36900" indent="0">
              <a:buNone/>
            </a:pPr>
            <a:endParaRPr lang="en-AU" sz="2500" dirty="0" smtClean="0">
              <a:effectLst/>
            </a:endParaRPr>
          </a:p>
          <a:p>
            <a:pPr marL="36900" indent="0">
              <a:buNone/>
            </a:pPr>
            <a:r>
              <a:rPr lang="en-AU" sz="2500" dirty="0" smtClean="0">
                <a:effectLst/>
              </a:rPr>
              <a:t>Woodrow </a:t>
            </a:r>
            <a:r>
              <a:rPr lang="en-AU" sz="2500" dirty="0">
                <a:effectLst/>
              </a:rPr>
              <a:t>Wilson got the League of Nations, and new nation-states were set up in Eastern Europe </a:t>
            </a:r>
            <a:r>
              <a:rPr lang="en-AU" sz="2500" b="1" dirty="0">
                <a:effectLst/>
              </a:rPr>
              <a:t>but</a:t>
            </a:r>
            <a:r>
              <a:rPr lang="en-AU" sz="2500" dirty="0">
                <a:effectLst/>
              </a:rPr>
              <a:t>:</a:t>
            </a:r>
          </a:p>
          <a:p>
            <a:r>
              <a:rPr lang="en-AU" sz="2500" dirty="0">
                <a:effectLst/>
              </a:rPr>
              <a:t>Wilson thought the treaty was far too harsh.</a:t>
            </a:r>
          </a:p>
          <a:p>
            <a:r>
              <a:rPr lang="en-AU" sz="2500" dirty="0">
                <a:effectLst/>
              </a:rPr>
              <a:t>Self-determination proved impossible to implement - neither Czechoslovakia or Yugoslavia survived as united countries.</a:t>
            </a:r>
          </a:p>
          <a:p>
            <a:r>
              <a:rPr lang="en-AU" sz="2500" dirty="0">
                <a:effectLst/>
              </a:rPr>
              <a:t>Many Americans did not want to get involved in Europe, and in 1920 the American Senate refused to sign the Treaty of Versailles, or join the League of Nations.</a:t>
            </a:r>
          </a:p>
          <a:p>
            <a:pPr marL="36900" indent="0">
              <a:buNone/>
            </a:pPr>
            <a:endParaRPr lang="en-AU" dirty="0"/>
          </a:p>
        </p:txBody>
      </p:sp>
      <p:pic>
        <p:nvPicPr>
          <p:cNvPr id="3074" name="Picture 2" descr="Image result for woodrow wils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837" y="1817340"/>
            <a:ext cx="2095500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125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243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Calisto MT</vt:lpstr>
      <vt:lpstr>Trebuchet MS</vt:lpstr>
      <vt:lpstr>Wingdings 2</vt:lpstr>
      <vt:lpstr>Slate</vt:lpstr>
      <vt:lpstr>PERSPECTIVES of the Treaty</vt:lpstr>
      <vt:lpstr>PERSPECTIVES of the Treaty</vt:lpstr>
      <vt:lpstr>PERSPECTIVES of the Treaty</vt:lpstr>
      <vt:lpstr>PERSPECTIVES of the Treaty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PERSPECTIVES of the Treaty</dc:title>
  <dc:creator>HAWKES Natasha [Narrogin Senior High School]</dc:creator>
  <cp:lastModifiedBy>HAWKES Natasha [Narrogin Senior High School]</cp:lastModifiedBy>
  <cp:revision>4</cp:revision>
  <dcterms:created xsi:type="dcterms:W3CDTF">2019-06-24T05:10:14Z</dcterms:created>
  <dcterms:modified xsi:type="dcterms:W3CDTF">2019-06-25T06:52:15Z</dcterms:modified>
</cp:coreProperties>
</file>
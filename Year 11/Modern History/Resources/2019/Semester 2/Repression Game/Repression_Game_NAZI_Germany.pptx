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notesSlides/notesSlide48.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notesSlides/notesSlide55.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ppt/notesSlides/notesSlide53.xml" ContentType="application/vnd.openxmlformats-officedocument.presentationml.notesSlide+xml"/>
  <Override PartName="/ppt/notesSlides/notesSlide6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51.xml" ContentType="application/vnd.openxmlformats-officedocument.presentationml.notesSlide+xml"/>
  <Override PartName="/ppt/notesSlides/notesSlide60.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257" r:id="rId2"/>
    <p:sldId id="258" r:id="rId3"/>
    <p:sldId id="259" r:id="rId4"/>
    <p:sldId id="260" r:id="rId5"/>
    <p:sldId id="261" r:id="rId6"/>
    <p:sldId id="262" r:id="rId7"/>
    <p:sldId id="263" r:id="rId8"/>
    <p:sldId id="264" r:id="rId9"/>
    <p:sldId id="266" r:id="rId10"/>
    <p:sldId id="267" r:id="rId11"/>
    <p:sldId id="268" r:id="rId12"/>
    <p:sldId id="269" r:id="rId13"/>
    <p:sldId id="270" r:id="rId14"/>
    <p:sldId id="272" r:id="rId15"/>
    <p:sldId id="271" r:id="rId16"/>
    <p:sldId id="273" r:id="rId17"/>
    <p:sldId id="274" r:id="rId18"/>
    <p:sldId id="275" r:id="rId19"/>
    <p:sldId id="276" r:id="rId20"/>
    <p:sldId id="277" r:id="rId21"/>
    <p:sldId id="278" r:id="rId22"/>
    <p:sldId id="279" r:id="rId23"/>
    <p:sldId id="280" r:id="rId24"/>
    <p:sldId id="281" r:id="rId25"/>
    <p:sldId id="282" r:id="rId26"/>
    <p:sldId id="284" r:id="rId27"/>
    <p:sldId id="285"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 id="304" r:id="rId46"/>
    <p:sldId id="305" r:id="rId47"/>
    <p:sldId id="306" r:id="rId48"/>
    <p:sldId id="307" r:id="rId49"/>
    <p:sldId id="308" r:id="rId50"/>
    <p:sldId id="309" r:id="rId51"/>
    <p:sldId id="310" r:id="rId52"/>
    <p:sldId id="311" r:id="rId53"/>
    <p:sldId id="312" r:id="rId54"/>
    <p:sldId id="313" r:id="rId55"/>
    <p:sldId id="314" r:id="rId56"/>
    <p:sldId id="315" r:id="rId57"/>
    <p:sldId id="316" r:id="rId58"/>
    <p:sldId id="317" r:id="rId59"/>
    <p:sldId id="318" r:id="rId60"/>
    <p:sldId id="319" r:id="rId61"/>
    <p:sldId id="320" r:id="rId62"/>
    <p:sldId id="321" r:id="rId63"/>
  </p:sldIdLst>
  <p:sldSz cx="9144000" cy="6858000" type="screen4x3"/>
  <p:notesSz cx="6858000" cy="9144000"/>
  <p:defaultTextStyle>
    <a:defPPr>
      <a:defRPr lang="en-AU"/>
    </a:defPPr>
    <a:lvl1pPr algn="l" rtl="0" fontAlgn="base">
      <a:spcBef>
        <a:spcPct val="0"/>
      </a:spcBef>
      <a:spcAft>
        <a:spcPct val="0"/>
      </a:spcAft>
      <a:defRPr sz="4000" kern="1200">
        <a:solidFill>
          <a:schemeClr val="bg1"/>
        </a:solidFill>
        <a:latin typeface="Arial" charset="0"/>
        <a:ea typeface="+mn-ea"/>
        <a:cs typeface="+mn-cs"/>
      </a:defRPr>
    </a:lvl1pPr>
    <a:lvl2pPr marL="457200" algn="l" rtl="0" fontAlgn="base">
      <a:spcBef>
        <a:spcPct val="0"/>
      </a:spcBef>
      <a:spcAft>
        <a:spcPct val="0"/>
      </a:spcAft>
      <a:defRPr sz="4000" kern="1200">
        <a:solidFill>
          <a:schemeClr val="bg1"/>
        </a:solidFill>
        <a:latin typeface="Arial" charset="0"/>
        <a:ea typeface="+mn-ea"/>
        <a:cs typeface="+mn-cs"/>
      </a:defRPr>
    </a:lvl2pPr>
    <a:lvl3pPr marL="914400" algn="l" rtl="0" fontAlgn="base">
      <a:spcBef>
        <a:spcPct val="0"/>
      </a:spcBef>
      <a:spcAft>
        <a:spcPct val="0"/>
      </a:spcAft>
      <a:defRPr sz="4000" kern="1200">
        <a:solidFill>
          <a:schemeClr val="bg1"/>
        </a:solidFill>
        <a:latin typeface="Arial" charset="0"/>
        <a:ea typeface="+mn-ea"/>
        <a:cs typeface="+mn-cs"/>
      </a:defRPr>
    </a:lvl3pPr>
    <a:lvl4pPr marL="1371600" algn="l" rtl="0" fontAlgn="base">
      <a:spcBef>
        <a:spcPct val="0"/>
      </a:spcBef>
      <a:spcAft>
        <a:spcPct val="0"/>
      </a:spcAft>
      <a:defRPr sz="4000" kern="1200">
        <a:solidFill>
          <a:schemeClr val="bg1"/>
        </a:solidFill>
        <a:latin typeface="Arial" charset="0"/>
        <a:ea typeface="+mn-ea"/>
        <a:cs typeface="+mn-cs"/>
      </a:defRPr>
    </a:lvl4pPr>
    <a:lvl5pPr marL="1828800" algn="l" rtl="0" fontAlgn="base">
      <a:spcBef>
        <a:spcPct val="0"/>
      </a:spcBef>
      <a:spcAft>
        <a:spcPct val="0"/>
      </a:spcAft>
      <a:defRPr sz="4000" kern="1200">
        <a:solidFill>
          <a:schemeClr val="bg1"/>
        </a:solidFill>
        <a:latin typeface="Arial" charset="0"/>
        <a:ea typeface="+mn-ea"/>
        <a:cs typeface="+mn-cs"/>
      </a:defRPr>
    </a:lvl5pPr>
    <a:lvl6pPr marL="2286000" algn="l" defTabSz="914400" rtl="0" eaLnBrk="1" latinLnBrk="0" hangingPunct="1">
      <a:defRPr sz="4000" kern="1200">
        <a:solidFill>
          <a:schemeClr val="bg1"/>
        </a:solidFill>
        <a:latin typeface="Arial" charset="0"/>
        <a:ea typeface="+mn-ea"/>
        <a:cs typeface="+mn-cs"/>
      </a:defRPr>
    </a:lvl6pPr>
    <a:lvl7pPr marL="2743200" algn="l" defTabSz="914400" rtl="0" eaLnBrk="1" latinLnBrk="0" hangingPunct="1">
      <a:defRPr sz="4000" kern="1200">
        <a:solidFill>
          <a:schemeClr val="bg1"/>
        </a:solidFill>
        <a:latin typeface="Arial" charset="0"/>
        <a:ea typeface="+mn-ea"/>
        <a:cs typeface="+mn-cs"/>
      </a:defRPr>
    </a:lvl7pPr>
    <a:lvl8pPr marL="3200400" algn="l" defTabSz="914400" rtl="0" eaLnBrk="1" latinLnBrk="0" hangingPunct="1">
      <a:defRPr sz="4000" kern="1200">
        <a:solidFill>
          <a:schemeClr val="bg1"/>
        </a:solidFill>
        <a:latin typeface="Arial" charset="0"/>
        <a:ea typeface="+mn-ea"/>
        <a:cs typeface="+mn-cs"/>
      </a:defRPr>
    </a:lvl8pPr>
    <a:lvl9pPr marL="3657600" algn="l" defTabSz="914400" rtl="0" eaLnBrk="1" latinLnBrk="0" hangingPunct="1">
      <a:defRPr sz="4000" kern="1200">
        <a:solidFill>
          <a:schemeClr val="bg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4" d="100"/>
          <a:sy n="74" d="100"/>
        </p:scale>
        <p:origin x="-1044"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60033A3-1915-4EF5-BC8E-AAF725BA312C}" type="datetimeFigureOut">
              <a:rPr lang="en-AU" smtClean="0"/>
              <a:t>25/11/2011</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EE37CB5-204F-42C2-AB3B-FC39C2D2D558}" type="slidenum">
              <a:rPr lang="en-AU" smtClean="0"/>
              <a:t>‹#›</a:t>
            </a:fld>
            <a:endParaRPr lang="en-A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1</a:t>
            </a:fld>
            <a:endParaRPr lang="en-A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2</a:t>
            </a:fld>
            <a:endParaRPr lang="en-A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3</a:t>
            </a:fld>
            <a:endParaRPr lang="en-A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4</a:t>
            </a:fld>
            <a:endParaRPr lang="en-A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5</a:t>
            </a:fld>
            <a:endParaRPr lang="en-A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6</a:t>
            </a:fld>
            <a:endParaRPr lang="en-A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7</a:t>
            </a:fld>
            <a:endParaRPr lang="en-A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8</a:t>
            </a:fld>
            <a:endParaRPr lang="en-A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9</a:t>
            </a:fld>
            <a:endParaRPr lang="en-A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10</a:t>
            </a:fld>
            <a:endParaRPr lang="en-AU"/>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11</a:t>
            </a:fld>
            <a:endParaRPr lang="en-AU"/>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12</a:t>
            </a:fld>
            <a:endParaRPr lang="en-AU"/>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13</a:t>
            </a:fld>
            <a:endParaRPr lang="en-AU"/>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14</a:t>
            </a:fld>
            <a:endParaRPr lang="en-AU"/>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15</a:t>
            </a:fld>
            <a:endParaRPr lang="en-AU"/>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16</a:t>
            </a:fld>
            <a:endParaRPr lang="en-AU"/>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17</a:t>
            </a:fld>
            <a:endParaRPr lang="en-AU"/>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18</a:t>
            </a:fld>
            <a:endParaRPr lang="en-AU"/>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19</a:t>
            </a:fld>
            <a:endParaRPr lang="en-AU"/>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20</a:t>
            </a:fld>
            <a:endParaRPr lang="en-AU"/>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21</a:t>
            </a:fld>
            <a:endParaRPr lang="en-AU"/>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22</a:t>
            </a:fld>
            <a:endParaRPr lang="en-AU"/>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23</a:t>
            </a:fld>
            <a:endParaRPr lang="en-AU"/>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24</a:t>
            </a:fld>
            <a:endParaRPr lang="en-AU"/>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25</a:t>
            </a:fld>
            <a:endParaRPr lang="en-AU"/>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26</a:t>
            </a:fld>
            <a:endParaRPr lang="en-AU"/>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27</a:t>
            </a:fld>
            <a:endParaRPr lang="en-AU"/>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28</a:t>
            </a:fld>
            <a:endParaRPr lang="en-AU"/>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29</a:t>
            </a:fld>
            <a:endParaRPr lang="en-AU"/>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30</a:t>
            </a:fld>
            <a:endParaRPr lang="en-AU"/>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31</a:t>
            </a:fld>
            <a:endParaRPr lang="en-AU"/>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32</a:t>
            </a:fld>
            <a:endParaRPr lang="en-AU"/>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33</a:t>
            </a:fld>
            <a:endParaRPr lang="en-AU"/>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34</a:t>
            </a:fld>
            <a:endParaRPr lang="en-AU"/>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35</a:t>
            </a:fld>
            <a:endParaRPr lang="en-AU"/>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36</a:t>
            </a:fld>
            <a:endParaRPr lang="en-AU"/>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37</a:t>
            </a:fld>
            <a:endParaRPr lang="en-AU"/>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38</a:t>
            </a:fld>
            <a:endParaRPr lang="en-AU"/>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39</a:t>
            </a:fld>
            <a:endParaRPr lang="en-AU"/>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40</a:t>
            </a:fld>
            <a:endParaRPr lang="en-AU"/>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41</a:t>
            </a:fld>
            <a:endParaRPr lang="en-AU"/>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42</a:t>
            </a:fld>
            <a:endParaRPr lang="en-AU"/>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43</a:t>
            </a:fld>
            <a:endParaRPr lang="en-AU"/>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44</a:t>
            </a:fld>
            <a:endParaRPr lang="en-AU"/>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45</a:t>
            </a:fld>
            <a:endParaRPr lang="en-AU"/>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46</a:t>
            </a:fld>
            <a:endParaRPr lang="en-AU"/>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47</a:t>
            </a:fld>
            <a:endParaRPr lang="en-AU"/>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48</a:t>
            </a:fld>
            <a:endParaRPr lang="en-AU"/>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49</a:t>
            </a:fld>
            <a:endParaRPr lang="en-AU"/>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50</a:t>
            </a:fld>
            <a:endParaRPr lang="en-AU"/>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51</a:t>
            </a:fld>
            <a:endParaRPr lang="en-AU"/>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52</a:t>
            </a:fld>
            <a:endParaRPr lang="en-AU"/>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53</a:t>
            </a:fld>
            <a:endParaRPr lang="en-AU"/>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54</a:t>
            </a:fld>
            <a:endParaRPr lang="en-AU"/>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55</a:t>
            </a:fld>
            <a:endParaRPr lang="en-AU"/>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56</a:t>
            </a:fld>
            <a:endParaRPr lang="en-AU"/>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57</a:t>
            </a:fld>
            <a:endParaRPr lang="en-AU"/>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58</a:t>
            </a:fld>
            <a:endParaRPr lang="en-AU"/>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59</a:t>
            </a:fld>
            <a:endParaRPr lang="en-AU"/>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60</a:t>
            </a:fld>
            <a:endParaRPr lang="en-AU"/>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61</a:t>
            </a:fld>
            <a:endParaRPr lang="en-AU"/>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EE37CB5-204F-42C2-AB3B-FC39C2D2D558}" type="slidenum">
              <a:rPr lang="en-AU" smtClean="0"/>
              <a:t>62</a:t>
            </a:fld>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3E9C30F2-82AA-426A-9502-8E44BB5B60B9}" type="slidenum">
              <a:rPr lang="en-AU"/>
              <a:pPr/>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8CA777A3-5010-46CE-8151-50A48E44EF51}" type="slidenum">
              <a:rPr lang="en-AU"/>
              <a:pPr/>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05E2FCBF-2544-4088-97B1-689621CABF70}" type="slidenum">
              <a:rPr lang="en-AU"/>
              <a:pPr/>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7DA5952C-28EC-4EBD-A2C6-678C9508455B}" type="slidenum">
              <a:rPr lang="en-AU"/>
              <a:pPr/>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lvl1pPr>
              <a:defRPr/>
            </a:lvl1pPr>
          </a:lstStyle>
          <a:p>
            <a:endParaRPr lang="en-AU"/>
          </a:p>
        </p:txBody>
      </p:sp>
      <p:sp>
        <p:nvSpPr>
          <p:cNvPr id="8" name="Footer Placeholder 7"/>
          <p:cNvSpPr>
            <a:spLocks noGrp="1"/>
          </p:cNvSpPr>
          <p:nvPr>
            <p:ph type="ftr" sz="quarter" idx="11"/>
          </p:nvPr>
        </p:nvSpPr>
        <p:spPr/>
        <p:txBody>
          <a:bodyPr/>
          <a:lstStyle>
            <a:lvl1pPr>
              <a:defRPr/>
            </a:lvl1pPr>
          </a:lstStyle>
          <a:p>
            <a:endParaRPr lang="en-AU"/>
          </a:p>
        </p:txBody>
      </p:sp>
      <p:sp>
        <p:nvSpPr>
          <p:cNvPr id="9" name="Slide Number Placeholder 8"/>
          <p:cNvSpPr>
            <a:spLocks noGrp="1"/>
          </p:cNvSpPr>
          <p:nvPr>
            <p:ph type="sldNum" sz="quarter" idx="12"/>
          </p:nvPr>
        </p:nvSpPr>
        <p:spPr/>
        <p:txBody>
          <a:bodyPr/>
          <a:lstStyle>
            <a:lvl1pPr>
              <a:defRPr/>
            </a:lvl1pPr>
          </a:lstStyle>
          <a:p>
            <a:fld id="{0D28F3FB-75B9-47A9-98F8-8EAE15EEE834}" type="slidenum">
              <a:rPr lang="en-AU"/>
              <a:pPr/>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lvl1pPr>
              <a:defRPr/>
            </a:lvl1pPr>
          </a:lstStyle>
          <a:p>
            <a:endParaRPr lang="en-AU"/>
          </a:p>
        </p:txBody>
      </p:sp>
      <p:sp>
        <p:nvSpPr>
          <p:cNvPr id="4" name="Footer Placeholder 3"/>
          <p:cNvSpPr>
            <a:spLocks noGrp="1"/>
          </p:cNvSpPr>
          <p:nvPr>
            <p:ph type="ftr" sz="quarter" idx="11"/>
          </p:nvPr>
        </p:nvSpPr>
        <p:spPr/>
        <p:txBody>
          <a:bodyPr/>
          <a:lstStyle>
            <a:lvl1pPr>
              <a:defRPr/>
            </a:lvl1pPr>
          </a:lstStyle>
          <a:p>
            <a:endParaRPr lang="en-AU"/>
          </a:p>
        </p:txBody>
      </p:sp>
      <p:sp>
        <p:nvSpPr>
          <p:cNvPr id="5" name="Slide Number Placeholder 4"/>
          <p:cNvSpPr>
            <a:spLocks noGrp="1"/>
          </p:cNvSpPr>
          <p:nvPr>
            <p:ph type="sldNum" sz="quarter" idx="12"/>
          </p:nvPr>
        </p:nvSpPr>
        <p:spPr/>
        <p:txBody>
          <a:bodyPr/>
          <a:lstStyle>
            <a:lvl1pPr>
              <a:defRPr/>
            </a:lvl1pPr>
          </a:lstStyle>
          <a:p>
            <a:fld id="{27381777-C879-4834-9193-7EA764858003}" type="slidenum">
              <a:rPr lang="en-AU"/>
              <a:pPr/>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AU"/>
          </a:p>
        </p:txBody>
      </p:sp>
      <p:sp>
        <p:nvSpPr>
          <p:cNvPr id="3" name="Footer Placeholder 2"/>
          <p:cNvSpPr>
            <a:spLocks noGrp="1"/>
          </p:cNvSpPr>
          <p:nvPr>
            <p:ph type="ftr" sz="quarter" idx="11"/>
          </p:nvPr>
        </p:nvSpPr>
        <p:spPr/>
        <p:txBody>
          <a:bodyPr/>
          <a:lstStyle>
            <a:lvl1pPr>
              <a:defRPr/>
            </a:lvl1pPr>
          </a:lstStyle>
          <a:p>
            <a:endParaRPr lang="en-AU"/>
          </a:p>
        </p:txBody>
      </p:sp>
      <p:sp>
        <p:nvSpPr>
          <p:cNvPr id="4" name="Slide Number Placeholder 3"/>
          <p:cNvSpPr>
            <a:spLocks noGrp="1"/>
          </p:cNvSpPr>
          <p:nvPr>
            <p:ph type="sldNum" sz="quarter" idx="12"/>
          </p:nvPr>
        </p:nvSpPr>
        <p:spPr/>
        <p:txBody>
          <a:bodyPr/>
          <a:lstStyle>
            <a:lvl1pPr>
              <a:defRPr/>
            </a:lvl1pPr>
          </a:lstStyle>
          <a:p>
            <a:fld id="{BD6F138C-1FA3-4C9F-9C0F-179C8370F100}" type="slidenum">
              <a:rPr lang="en-AU"/>
              <a:pPr/>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4F15DBDE-96E3-4C96-B680-50043D69BC92}" type="slidenum">
              <a:rPr lang="en-AU"/>
              <a:pPr/>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E0FC1ACB-F0C2-4F5B-B20D-F750B888B64D}" type="slidenum">
              <a:rPr lang="en-AU"/>
              <a:pPr/>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0CC2B0D3-C777-4292-8847-8EAAEDD868BA}" type="slidenum">
              <a:rPr lang="en-AU"/>
              <a:pPr/>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C1306B89-763E-4C26-827D-B5C26ABF085C}" type="slidenum">
              <a:rPr lang="en-AU"/>
              <a:pPr/>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AU"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tx1"/>
                </a:solidFill>
              </a:defRPr>
            </a:lvl1pPr>
          </a:lstStyle>
          <a:p>
            <a:endParaRPr lang="en-AU"/>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solidFill>
                  <a:schemeClr val="tx1"/>
                </a:solidFill>
              </a:defRPr>
            </a:lvl1pPr>
          </a:lstStyle>
          <a:p>
            <a:endParaRPr lang="en-AU"/>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defRPr>
            </a:lvl1pPr>
          </a:lstStyle>
          <a:p>
            <a:fld id="{9E07425B-E0A0-445A-80C7-3889E2425601}" type="slidenum">
              <a:rPr lang="en-AU"/>
              <a:pPr/>
              <a:t>‹#›</a:t>
            </a:fld>
            <a:endParaRPr lang="en-A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endParaRPr lang="en-AU"/>
          </a:p>
        </p:txBody>
      </p:sp>
      <p:sp>
        <p:nvSpPr>
          <p:cNvPr id="3075"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3076" name="Text Box 4"/>
          <p:cNvSpPr txBox="1">
            <a:spLocks noChangeArrowheads="1"/>
          </p:cNvSpPr>
          <p:nvPr/>
        </p:nvSpPr>
        <p:spPr bwMode="auto">
          <a:xfrm>
            <a:off x="381000" y="836613"/>
            <a:ext cx="8763000" cy="701675"/>
          </a:xfrm>
          <a:prstGeom prst="rect">
            <a:avLst/>
          </a:prstGeom>
          <a:noFill/>
          <a:ln w="9525">
            <a:noFill/>
            <a:miter lim="800000"/>
            <a:headEnd/>
            <a:tailEnd/>
          </a:ln>
          <a:effectLst/>
        </p:spPr>
        <p:txBody>
          <a:bodyPr>
            <a:spAutoFit/>
          </a:bodyPr>
          <a:lstStyle/>
          <a:p>
            <a:pPr>
              <a:spcBef>
                <a:spcPct val="50000"/>
              </a:spcBef>
            </a:pPr>
            <a:r>
              <a:rPr lang="en-GB" b="1">
                <a:solidFill>
                  <a:schemeClr val="tx1"/>
                </a:solidFill>
                <a:latin typeface="Times New Roman" pitchFamily="18" charset="0"/>
              </a:rPr>
              <a:t>	THE REPRESSION GAME</a:t>
            </a:r>
          </a:p>
        </p:txBody>
      </p:sp>
      <p:pic>
        <p:nvPicPr>
          <p:cNvPr id="3077"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3079" name="Rectangle 7"/>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3081" name="Text Box 9"/>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pic>
        <p:nvPicPr>
          <p:cNvPr id="3082" name="Picture 10" descr="558px-Swastika"/>
          <p:cNvPicPr>
            <a:picLocks noChangeAspect="1" noChangeArrowheads="1"/>
          </p:cNvPicPr>
          <p:nvPr/>
        </p:nvPicPr>
        <p:blipFill>
          <a:blip r:embed="rId4" cstate="print"/>
          <a:srcRect/>
          <a:stretch>
            <a:fillRect/>
          </a:stretch>
        </p:blipFill>
        <p:spPr bwMode="auto">
          <a:xfrm>
            <a:off x="2268538" y="1528763"/>
            <a:ext cx="4535487" cy="3987800"/>
          </a:xfrm>
          <a:prstGeom prst="rect">
            <a:avLst/>
          </a:prstGeom>
          <a:noFill/>
          <a:ln w="9525">
            <a:noFill/>
            <a:miter lim="800000"/>
            <a:headEnd/>
            <a:tailEnd/>
          </a:ln>
        </p:spPr>
      </p:pic>
      <p:sp>
        <p:nvSpPr>
          <p:cNvPr id="3083" name="Text Box 11"/>
          <p:cNvSpPr txBox="1">
            <a:spLocks noChangeArrowheads="1"/>
          </p:cNvSpPr>
          <p:nvPr/>
        </p:nvSpPr>
        <p:spPr bwMode="auto">
          <a:xfrm>
            <a:off x="971550" y="5661025"/>
            <a:ext cx="7473950" cy="915988"/>
          </a:xfrm>
          <a:prstGeom prst="rect">
            <a:avLst/>
          </a:prstGeom>
          <a:noFill/>
          <a:ln w="9525">
            <a:noFill/>
            <a:miter lim="800000"/>
            <a:headEnd/>
            <a:tailEnd/>
          </a:ln>
          <a:effectLst/>
        </p:spPr>
        <p:txBody>
          <a:bodyPr>
            <a:spAutoFit/>
          </a:bodyPr>
          <a:lstStyle/>
          <a:p>
            <a:pPr algn="ctr"/>
            <a:r>
              <a:rPr lang="en-AU" sz="1800">
                <a:solidFill>
                  <a:schemeClr val="tx1"/>
                </a:solidFill>
              </a:rPr>
              <a:t>Originally devised by Coral Broadbent (1982), Christchurch, New Zealand: Cabbage Tree. (No longer available in print)</a:t>
            </a:r>
          </a:p>
          <a:p>
            <a:pPr algn="ctr"/>
            <a:r>
              <a:rPr lang="en-AU" sz="1800">
                <a:solidFill>
                  <a:schemeClr val="tx1"/>
                </a:solidFill>
              </a:rPr>
              <a:t>Adapted to Powerpoint by Ciara Lyons, Australind SHS (2008)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6"/>
                                        </p:tgtEl>
                                        <p:attrNameLst>
                                          <p:attrName>style.visibility</p:attrName>
                                        </p:attrNameLst>
                                      </p:cBhvr>
                                      <p:to>
                                        <p:strVal val="visible"/>
                                      </p:to>
                                    </p:set>
                                    <p:animEffect transition="in" filter="blinds(horizontal)">
                                      <p:cBhvr>
                                        <p:cTn id="7" dur="500"/>
                                        <p:tgtEl>
                                          <p:spTgt spid="307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3081"/>
                                        </p:tgtEl>
                                        <p:attrNameLst>
                                          <p:attrName>style.visibility</p:attrName>
                                        </p:attrNameLst>
                                      </p:cBhvr>
                                      <p:to>
                                        <p:strVal val="visible"/>
                                      </p:to>
                                    </p:set>
                                    <p:animEffect transition="in" filter="dissolve">
                                      <p:cBhvr>
                                        <p:cTn id="12" dur="500"/>
                                        <p:tgtEl>
                                          <p:spTgt spid="30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6" grpId="0" autoUpdateAnimBg="0"/>
      <p:bldP spid="3081"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Situation 1</a:t>
            </a:r>
          </a:p>
        </p:txBody>
      </p:sp>
      <p:sp>
        <p:nvSpPr>
          <p:cNvPr id="4099"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pic>
        <p:nvPicPr>
          <p:cNvPr id="4101"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4102" name="Rectangle 6"/>
          <p:cNvSpPr>
            <a:spLocks noChangeArrowheads="1"/>
          </p:cNvSpPr>
          <p:nvPr/>
        </p:nvSpPr>
        <p:spPr bwMode="auto">
          <a:xfrm flipV="1">
            <a:off x="539750" y="1052513"/>
            <a:ext cx="7605713" cy="366712"/>
          </a:xfrm>
          <a:prstGeom prst="rect">
            <a:avLst/>
          </a:prstGeom>
          <a:noFill/>
          <a:ln w="12700" cap="sq">
            <a:noFill/>
            <a:miter lim="800000"/>
            <a:headEnd type="none" w="sm" len="sm"/>
            <a:tailEnd type="none" w="sm" len="sm"/>
          </a:ln>
          <a:effectLst/>
        </p:spPr>
        <p:txBody>
          <a:bodyPr rot="10800000">
            <a:spAutoFit/>
          </a:bodyPr>
          <a:lstStyle/>
          <a:p>
            <a:endParaRPr lang="en-US" sz="1800">
              <a:solidFill>
                <a:schemeClr val="tx1"/>
              </a:solidFill>
            </a:endParaRPr>
          </a:p>
        </p:txBody>
      </p:sp>
      <p:sp>
        <p:nvSpPr>
          <p:cNvPr id="4103"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
        <p:nvSpPr>
          <p:cNvPr id="4106" name="Text Box 10"/>
          <p:cNvSpPr txBox="1">
            <a:spLocks noChangeArrowheads="1"/>
          </p:cNvSpPr>
          <p:nvPr/>
        </p:nvSpPr>
        <p:spPr bwMode="auto">
          <a:xfrm>
            <a:off x="468313" y="1125538"/>
            <a:ext cx="8372475" cy="4838700"/>
          </a:xfrm>
          <a:prstGeom prst="rect">
            <a:avLst/>
          </a:prstGeom>
          <a:noFill/>
          <a:ln w="9525">
            <a:noFill/>
            <a:miter lim="800000"/>
            <a:headEnd/>
            <a:tailEnd/>
          </a:ln>
          <a:effectLst/>
        </p:spPr>
        <p:txBody>
          <a:bodyPr>
            <a:spAutoFit/>
          </a:bodyPr>
          <a:lstStyle/>
          <a:p>
            <a:endParaRPr lang="en-AU" sz="2400">
              <a:solidFill>
                <a:schemeClr val="tx1"/>
              </a:solidFill>
            </a:endParaRPr>
          </a:p>
          <a:p>
            <a:r>
              <a:rPr lang="en-AU" sz="2400">
                <a:solidFill>
                  <a:schemeClr val="tx1"/>
                </a:solidFill>
              </a:rPr>
              <a:t>It is 1930. The Reparations demanded by the Allies after World War One, the loss of the Industrial Saar and the Depression of the twenties have resulted in Germany experiencing a time of difficulty. There is a high level of unemployment, increasing inflation, an ever-widening gap between the rich and the poor, shortages  of food and widespread resentment towards the terms of the Treaty of Versailles. The Nazi Party wins another 95 seats in the Reichstag, becoming the second largest party.</a:t>
            </a:r>
          </a:p>
          <a:p>
            <a:endParaRPr lang="en-AU" sz="2400">
              <a:solidFill>
                <a:schemeClr val="tx1"/>
              </a:solidFill>
            </a:endParaRPr>
          </a:p>
          <a:p>
            <a:endParaRPr lang="en-AU" sz="2400">
              <a:solidFill>
                <a:schemeClr val="tx1"/>
              </a:solidFill>
            </a:endParaRPr>
          </a:p>
          <a:p>
            <a:r>
              <a:rPr lang="en-AU" sz="2400">
                <a:solidFill>
                  <a:schemeClr val="tx1"/>
                </a:solidFill>
              </a:rPr>
              <a:t>			</a:t>
            </a:r>
            <a:endParaRPr lang="en-AU" sz="32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nodePh="1">
                                  <p:stCondLst>
                                    <p:cond delay="0"/>
                                  </p:stCondLst>
                                  <p:endCondLst>
                                    <p:cond evt="begin" delay="0">
                                      <p:tn val="5"/>
                                    </p:cond>
                                  </p:endCondLst>
                                  <p:childTnLst>
                                    <p:set>
                                      <p:cBhvr>
                                        <p:cTn id="6" dur="1" fill="hold">
                                          <p:stCondLst>
                                            <p:cond delay="0"/>
                                          </p:stCondLst>
                                        </p:cTn>
                                        <p:tgtEl>
                                          <p:spTgt spid="4103"/>
                                        </p:tgtEl>
                                        <p:attrNameLst>
                                          <p:attrName>style.visibility</p:attrName>
                                        </p:attrNameLst>
                                      </p:cBhvr>
                                      <p:to>
                                        <p:strVal val="visible"/>
                                      </p:to>
                                    </p:set>
                                    <p:animEffect transition="in" filter="dissolve">
                                      <p:cBhvr>
                                        <p:cTn id="7" dur="500"/>
                                        <p:tgtEl>
                                          <p:spTgt spid="4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3"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ACT NOW</a:t>
            </a:r>
          </a:p>
        </p:txBody>
      </p:sp>
      <p:sp>
        <p:nvSpPr>
          <p:cNvPr id="5123"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5124" name="Text Box 4"/>
          <p:cNvSpPr txBox="1">
            <a:spLocks noChangeArrowheads="1"/>
          </p:cNvSpPr>
          <p:nvPr/>
        </p:nvSpPr>
        <p:spPr bwMode="auto">
          <a:xfrm>
            <a:off x="539750" y="1628775"/>
            <a:ext cx="8078788" cy="4237038"/>
          </a:xfrm>
          <a:prstGeom prst="rect">
            <a:avLst/>
          </a:prstGeom>
          <a:noFill/>
          <a:ln w="9525">
            <a:noFill/>
            <a:miter lim="800000"/>
            <a:headEnd/>
            <a:tailEnd/>
          </a:ln>
          <a:effectLst/>
        </p:spPr>
        <p:txBody>
          <a:bodyPr>
            <a:spAutoFit/>
          </a:bodyPr>
          <a:lstStyle/>
          <a:p>
            <a:pPr marL="342900" indent="-342900">
              <a:spcBef>
                <a:spcPct val="50000"/>
              </a:spcBef>
              <a:buFontTx/>
              <a:buAutoNum type="alphaUcParenR"/>
            </a:pPr>
            <a:r>
              <a:rPr lang="en-GB" sz="3200" b="1">
                <a:solidFill>
                  <a:schemeClr val="tx1"/>
                </a:solidFill>
              </a:rPr>
              <a:t>You see no need to be worried</a:t>
            </a:r>
          </a:p>
          <a:p>
            <a:pPr marL="342900" indent="-342900">
              <a:spcBef>
                <a:spcPct val="50000"/>
              </a:spcBef>
              <a:buFontTx/>
              <a:buAutoNum type="alphaUcParenR"/>
            </a:pPr>
            <a:r>
              <a:rPr lang="en-GB" sz="3200" b="1">
                <a:solidFill>
                  <a:schemeClr val="tx1"/>
                </a:solidFill>
              </a:rPr>
              <a:t>You are a little disturbed but too busy with your own life to think seriously about the issue</a:t>
            </a:r>
          </a:p>
          <a:p>
            <a:pPr marL="342900" indent="-342900">
              <a:spcBef>
                <a:spcPct val="50000"/>
              </a:spcBef>
              <a:buFontTx/>
              <a:buAutoNum type="alphaUcParenR"/>
            </a:pPr>
            <a:r>
              <a:rPr lang="en-GB" sz="3200" b="1">
                <a:solidFill>
                  <a:schemeClr val="tx1"/>
                </a:solidFill>
              </a:rPr>
              <a:t>You complain to your friends about what is happening</a:t>
            </a:r>
          </a:p>
          <a:p>
            <a:pPr marL="342900" indent="-342900">
              <a:spcBef>
                <a:spcPct val="50000"/>
              </a:spcBef>
              <a:buFontTx/>
              <a:buAutoNum type="alphaUcParenR"/>
            </a:pPr>
            <a:r>
              <a:rPr lang="en-GB" sz="3200" b="1">
                <a:solidFill>
                  <a:schemeClr val="tx1"/>
                </a:solidFill>
              </a:rPr>
              <a:t>You write letters to the newspapers</a:t>
            </a:r>
          </a:p>
        </p:txBody>
      </p:sp>
      <p:pic>
        <p:nvPicPr>
          <p:cNvPr id="5125"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5126"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5127"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4"/>
                                        </p:tgtEl>
                                        <p:attrNameLst>
                                          <p:attrName>style.visibility</p:attrName>
                                        </p:attrNameLst>
                                      </p:cBhvr>
                                      <p:to>
                                        <p:strVal val="visible"/>
                                      </p:to>
                                    </p:set>
                                    <p:animEffect transition="in" filter="blinds(horizontal)">
                                      <p:cBhvr>
                                        <p:cTn id="7" dur="500"/>
                                        <p:tgtEl>
                                          <p:spTgt spid="512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5127"/>
                                        </p:tgtEl>
                                        <p:attrNameLst>
                                          <p:attrName>style.visibility</p:attrName>
                                        </p:attrNameLst>
                                      </p:cBhvr>
                                      <p:to>
                                        <p:strVal val="visible"/>
                                      </p:to>
                                    </p:set>
                                    <p:animEffect transition="in" filter="dissolve">
                                      <p:cBhvr>
                                        <p:cTn id="12" dur="500"/>
                                        <p:tgtEl>
                                          <p:spTgt spid="5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 grpId="0" autoUpdateAnimBg="0"/>
      <p:bldP spid="5127"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RESULTS</a:t>
            </a:r>
          </a:p>
        </p:txBody>
      </p:sp>
      <p:sp>
        <p:nvSpPr>
          <p:cNvPr id="6147"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6148" name="Text Box 4"/>
          <p:cNvSpPr txBox="1">
            <a:spLocks noChangeArrowheads="1"/>
          </p:cNvSpPr>
          <p:nvPr/>
        </p:nvSpPr>
        <p:spPr bwMode="auto">
          <a:xfrm>
            <a:off x="381000" y="838200"/>
            <a:ext cx="8763000" cy="701675"/>
          </a:xfrm>
          <a:prstGeom prst="rect">
            <a:avLst/>
          </a:prstGeom>
          <a:noFill/>
          <a:ln w="9525">
            <a:noFill/>
            <a:miter lim="800000"/>
            <a:headEnd/>
            <a:tailEnd/>
          </a:ln>
          <a:effectLst/>
        </p:spPr>
        <p:txBody>
          <a:bodyPr>
            <a:spAutoFit/>
          </a:bodyPr>
          <a:lstStyle/>
          <a:p>
            <a:pPr>
              <a:spcBef>
                <a:spcPct val="50000"/>
              </a:spcBef>
            </a:pPr>
            <a:r>
              <a:rPr lang="en-GB" b="1">
                <a:solidFill>
                  <a:schemeClr val="tx1"/>
                </a:solidFill>
                <a:latin typeface="Times New Roman" pitchFamily="18" charset="0"/>
              </a:rPr>
              <a:t>	</a:t>
            </a:r>
          </a:p>
        </p:txBody>
      </p:sp>
      <p:pic>
        <p:nvPicPr>
          <p:cNvPr id="6149"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6150"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6151"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
        <p:nvSpPr>
          <p:cNvPr id="6152" name="Text Box 8"/>
          <p:cNvSpPr txBox="1">
            <a:spLocks noChangeArrowheads="1"/>
          </p:cNvSpPr>
          <p:nvPr/>
        </p:nvSpPr>
        <p:spPr bwMode="auto">
          <a:xfrm>
            <a:off x="1042988" y="1484313"/>
            <a:ext cx="6388100" cy="1554162"/>
          </a:xfrm>
          <a:prstGeom prst="rect">
            <a:avLst/>
          </a:prstGeom>
          <a:noFill/>
          <a:ln w="9525">
            <a:noFill/>
            <a:miter lim="800000"/>
            <a:headEnd/>
            <a:tailEnd/>
          </a:ln>
          <a:effectLst/>
        </p:spPr>
        <p:txBody>
          <a:bodyPr wrap="none">
            <a:spAutoFit/>
          </a:bodyPr>
          <a:lstStyle/>
          <a:p>
            <a:r>
              <a:rPr lang="en-AU" sz="3200">
                <a:solidFill>
                  <a:schemeClr val="tx1"/>
                </a:solidFill>
              </a:rPr>
              <a:t>If you chose situation A, B, C or D:</a:t>
            </a:r>
          </a:p>
          <a:p>
            <a:endParaRPr lang="en-AU" sz="3200">
              <a:solidFill>
                <a:schemeClr val="tx1"/>
              </a:solidFill>
            </a:endParaRPr>
          </a:p>
          <a:p>
            <a:r>
              <a:rPr lang="en-AU" sz="3200">
                <a:solidFill>
                  <a:schemeClr val="tx1"/>
                </a:solidFill>
              </a:rPr>
              <a:t>You are alright for the present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8"/>
                                        </p:tgtEl>
                                        <p:attrNameLst>
                                          <p:attrName>style.visibility</p:attrName>
                                        </p:attrNameLst>
                                      </p:cBhvr>
                                      <p:to>
                                        <p:strVal val="visible"/>
                                      </p:to>
                                    </p:set>
                                    <p:animEffect transition="in" filter="blinds(horizontal)">
                                      <p:cBhvr>
                                        <p:cTn id="7" dur="500"/>
                                        <p:tgtEl>
                                          <p:spTgt spid="614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6151"/>
                                        </p:tgtEl>
                                        <p:attrNameLst>
                                          <p:attrName>style.visibility</p:attrName>
                                        </p:attrNameLst>
                                      </p:cBhvr>
                                      <p:to>
                                        <p:strVal val="visible"/>
                                      </p:to>
                                    </p:set>
                                    <p:animEffect transition="in" filter="dissolve">
                                      <p:cBhvr>
                                        <p:cTn id="12" dur="500"/>
                                        <p:tgtEl>
                                          <p:spTgt spid="6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autoUpdateAnimBg="0"/>
      <p:bldP spid="6151"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SITUATION 2</a:t>
            </a:r>
          </a:p>
        </p:txBody>
      </p:sp>
      <p:sp>
        <p:nvSpPr>
          <p:cNvPr id="7171"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7172" name="Text Box 4"/>
          <p:cNvSpPr txBox="1">
            <a:spLocks noChangeArrowheads="1"/>
          </p:cNvSpPr>
          <p:nvPr/>
        </p:nvSpPr>
        <p:spPr bwMode="auto">
          <a:xfrm>
            <a:off x="381000" y="838200"/>
            <a:ext cx="8763000" cy="701675"/>
          </a:xfrm>
          <a:prstGeom prst="rect">
            <a:avLst/>
          </a:prstGeom>
          <a:noFill/>
          <a:ln w="9525">
            <a:noFill/>
            <a:miter lim="800000"/>
            <a:headEnd/>
            <a:tailEnd/>
          </a:ln>
          <a:effectLst/>
        </p:spPr>
        <p:txBody>
          <a:bodyPr>
            <a:spAutoFit/>
          </a:bodyPr>
          <a:lstStyle/>
          <a:p>
            <a:pPr>
              <a:spcBef>
                <a:spcPct val="50000"/>
              </a:spcBef>
            </a:pPr>
            <a:r>
              <a:rPr lang="en-GB" b="1">
                <a:solidFill>
                  <a:schemeClr val="tx1"/>
                </a:solidFill>
                <a:latin typeface="Times New Roman" pitchFamily="18" charset="0"/>
              </a:rPr>
              <a:t>	</a:t>
            </a:r>
          </a:p>
        </p:txBody>
      </p:sp>
      <p:pic>
        <p:nvPicPr>
          <p:cNvPr id="7173"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7174"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7175"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
        <p:nvSpPr>
          <p:cNvPr id="7176" name="Text Box 8"/>
          <p:cNvSpPr txBox="1">
            <a:spLocks noChangeArrowheads="1"/>
          </p:cNvSpPr>
          <p:nvPr/>
        </p:nvSpPr>
        <p:spPr bwMode="auto">
          <a:xfrm>
            <a:off x="395288" y="1773238"/>
            <a:ext cx="8372475" cy="3508375"/>
          </a:xfrm>
          <a:prstGeom prst="rect">
            <a:avLst/>
          </a:prstGeom>
          <a:noFill/>
          <a:ln w="9525">
            <a:noFill/>
            <a:miter lim="800000"/>
            <a:headEnd/>
            <a:tailEnd/>
          </a:ln>
          <a:effectLst/>
        </p:spPr>
        <p:txBody>
          <a:bodyPr>
            <a:spAutoFit/>
          </a:bodyPr>
          <a:lstStyle/>
          <a:p>
            <a:r>
              <a:rPr lang="en-AU" sz="2800">
                <a:solidFill>
                  <a:schemeClr val="tx1"/>
                </a:solidFill>
              </a:rPr>
              <a:t>There is growing dissatisfaction. Rallies and protests which turn violent are now common. Adolf Hitler, the leader of the National Socialists, has a personal bodyguard- the SA, who carry out his every command. The Nazi Storm-troopers (S.A.) drill, march and beat up opposition members in the streets. Fights and political murders are becoming common.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2"/>
                                        </p:tgtEl>
                                        <p:attrNameLst>
                                          <p:attrName>style.visibility</p:attrName>
                                        </p:attrNameLst>
                                      </p:cBhvr>
                                      <p:to>
                                        <p:strVal val="visible"/>
                                      </p:to>
                                    </p:set>
                                    <p:animEffect transition="in" filter="blinds(horizontal)">
                                      <p:cBhvr>
                                        <p:cTn id="7" dur="500"/>
                                        <p:tgtEl>
                                          <p:spTgt spid="717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7175"/>
                                        </p:tgtEl>
                                        <p:attrNameLst>
                                          <p:attrName>style.visibility</p:attrName>
                                        </p:attrNameLst>
                                      </p:cBhvr>
                                      <p:to>
                                        <p:strVal val="visible"/>
                                      </p:to>
                                    </p:set>
                                    <p:animEffect transition="in" filter="dissolve">
                                      <p:cBhvr>
                                        <p:cTn id="12" dur="500"/>
                                        <p:tgtEl>
                                          <p:spTgt spid="7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autoUpdateAnimBg="0"/>
      <p:bldP spid="7175"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ACT NOW</a:t>
            </a:r>
          </a:p>
        </p:txBody>
      </p:sp>
      <p:sp>
        <p:nvSpPr>
          <p:cNvPr id="8195"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8196" name="Text Box 4"/>
          <p:cNvSpPr txBox="1">
            <a:spLocks noChangeArrowheads="1"/>
          </p:cNvSpPr>
          <p:nvPr/>
        </p:nvSpPr>
        <p:spPr bwMode="auto">
          <a:xfrm>
            <a:off x="381000" y="838200"/>
            <a:ext cx="8763000" cy="701675"/>
          </a:xfrm>
          <a:prstGeom prst="rect">
            <a:avLst/>
          </a:prstGeom>
          <a:noFill/>
          <a:ln w="9525">
            <a:noFill/>
            <a:miter lim="800000"/>
            <a:headEnd/>
            <a:tailEnd/>
          </a:ln>
          <a:effectLst/>
        </p:spPr>
        <p:txBody>
          <a:bodyPr>
            <a:spAutoFit/>
          </a:bodyPr>
          <a:lstStyle/>
          <a:p>
            <a:pPr>
              <a:spcBef>
                <a:spcPct val="50000"/>
              </a:spcBef>
            </a:pPr>
            <a:r>
              <a:rPr lang="en-GB" b="1">
                <a:solidFill>
                  <a:schemeClr val="tx1"/>
                </a:solidFill>
                <a:latin typeface="Times New Roman" pitchFamily="18" charset="0"/>
              </a:rPr>
              <a:t>	</a:t>
            </a:r>
          </a:p>
        </p:txBody>
      </p:sp>
      <p:pic>
        <p:nvPicPr>
          <p:cNvPr id="8197"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8198"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8199"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
        <p:nvSpPr>
          <p:cNvPr id="8200" name="Text Box 8"/>
          <p:cNvSpPr txBox="1">
            <a:spLocks noChangeArrowheads="1"/>
          </p:cNvSpPr>
          <p:nvPr/>
        </p:nvSpPr>
        <p:spPr bwMode="auto">
          <a:xfrm>
            <a:off x="323850" y="908050"/>
            <a:ext cx="8640763" cy="5940425"/>
          </a:xfrm>
          <a:prstGeom prst="rect">
            <a:avLst/>
          </a:prstGeom>
          <a:noFill/>
          <a:ln w="9525">
            <a:noFill/>
            <a:miter lim="800000"/>
            <a:headEnd/>
            <a:tailEnd/>
          </a:ln>
          <a:effectLst/>
        </p:spPr>
        <p:txBody>
          <a:bodyPr>
            <a:spAutoFit/>
          </a:bodyPr>
          <a:lstStyle/>
          <a:p>
            <a:pPr marL="342900" indent="-342900">
              <a:buFontTx/>
              <a:buAutoNum type="alphaUcParenR"/>
            </a:pPr>
            <a:r>
              <a:rPr lang="en-AU" sz="3200">
                <a:solidFill>
                  <a:schemeClr val="tx1"/>
                </a:solidFill>
              </a:rPr>
              <a:t>You do nothing but are slightly disturbed</a:t>
            </a:r>
          </a:p>
          <a:p>
            <a:pPr marL="342900" indent="-342900"/>
            <a:endParaRPr lang="en-AU" sz="3200">
              <a:solidFill>
                <a:schemeClr val="tx1"/>
              </a:solidFill>
            </a:endParaRPr>
          </a:p>
          <a:p>
            <a:pPr marL="342900" indent="-342900"/>
            <a:r>
              <a:rPr lang="en-AU" sz="3200">
                <a:solidFill>
                  <a:schemeClr val="tx1"/>
                </a:solidFill>
              </a:rPr>
              <a:t>B)You take part in a non-violent protest</a:t>
            </a:r>
          </a:p>
          <a:p>
            <a:pPr marL="342900" indent="-342900"/>
            <a:endParaRPr lang="en-AU" sz="3200">
              <a:solidFill>
                <a:schemeClr val="tx1"/>
              </a:solidFill>
            </a:endParaRPr>
          </a:p>
          <a:p>
            <a:pPr marL="342900" indent="-342900"/>
            <a:r>
              <a:rPr lang="en-AU" sz="3200">
                <a:solidFill>
                  <a:schemeClr val="tx1"/>
                </a:solidFill>
              </a:rPr>
              <a:t>C)You help distribute information that criticises </a:t>
            </a:r>
          </a:p>
          <a:p>
            <a:pPr marL="342900" indent="-342900"/>
            <a:r>
              <a:rPr lang="en-AU" sz="3200">
                <a:solidFill>
                  <a:schemeClr val="tx1"/>
                </a:solidFill>
              </a:rPr>
              <a:t>	the government</a:t>
            </a:r>
          </a:p>
          <a:p>
            <a:pPr marL="342900" indent="-342900"/>
            <a:endParaRPr lang="en-AU" sz="3200">
              <a:solidFill>
                <a:schemeClr val="tx1"/>
              </a:solidFill>
            </a:endParaRPr>
          </a:p>
          <a:p>
            <a:pPr marL="342900" indent="-342900"/>
            <a:r>
              <a:rPr lang="en-AU" sz="3200">
                <a:solidFill>
                  <a:schemeClr val="tx1"/>
                </a:solidFill>
              </a:rPr>
              <a:t>D)You remain optimistic that once law and order is restored the country will return to normal</a:t>
            </a:r>
          </a:p>
          <a:p>
            <a:pPr marL="342900" indent="-342900"/>
            <a:r>
              <a:rPr lang="en-AU" sz="3200">
                <a:solidFill>
                  <a:schemeClr val="tx1"/>
                </a:solidFill>
              </a:rPr>
              <a:t>				</a:t>
            </a:r>
          </a:p>
          <a:p>
            <a:pPr marL="342900" indent="-342900"/>
            <a:endParaRPr lang="en-AU" sz="32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96"/>
                                        </p:tgtEl>
                                        <p:attrNameLst>
                                          <p:attrName>style.visibility</p:attrName>
                                        </p:attrNameLst>
                                      </p:cBhvr>
                                      <p:to>
                                        <p:strVal val="visible"/>
                                      </p:to>
                                    </p:set>
                                    <p:animEffect transition="in" filter="blinds(horizontal)">
                                      <p:cBhvr>
                                        <p:cTn id="7" dur="500"/>
                                        <p:tgtEl>
                                          <p:spTgt spid="819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8199"/>
                                        </p:tgtEl>
                                        <p:attrNameLst>
                                          <p:attrName>style.visibility</p:attrName>
                                        </p:attrNameLst>
                                      </p:cBhvr>
                                      <p:to>
                                        <p:strVal val="visible"/>
                                      </p:to>
                                    </p:set>
                                    <p:animEffect transition="in" filter="dissolve">
                                      <p:cBhvr>
                                        <p:cTn id="12" dur="500"/>
                                        <p:tgtEl>
                                          <p:spTgt spid="8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autoUpdateAnimBg="0"/>
      <p:bldP spid="8199"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RESULTS</a:t>
            </a:r>
          </a:p>
        </p:txBody>
      </p:sp>
      <p:sp>
        <p:nvSpPr>
          <p:cNvPr id="9219"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9220" name="Text Box 4"/>
          <p:cNvSpPr txBox="1">
            <a:spLocks noChangeArrowheads="1"/>
          </p:cNvSpPr>
          <p:nvPr/>
        </p:nvSpPr>
        <p:spPr bwMode="auto">
          <a:xfrm>
            <a:off x="381000" y="838200"/>
            <a:ext cx="8763000" cy="701675"/>
          </a:xfrm>
          <a:prstGeom prst="rect">
            <a:avLst/>
          </a:prstGeom>
          <a:noFill/>
          <a:ln w="9525">
            <a:noFill/>
            <a:miter lim="800000"/>
            <a:headEnd/>
            <a:tailEnd/>
          </a:ln>
          <a:effectLst/>
        </p:spPr>
        <p:txBody>
          <a:bodyPr>
            <a:spAutoFit/>
          </a:bodyPr>
          <a:lstStyle/>
          <a:p>
            <a:pPr>
              <a:spcBef>
                <a:spcPct val="50000"/>
              </a:spcBef>
            </a:pPr>
            <a:r>
              <a:rPr lang="en-GB" b="1">
                <a:solidFill>
                  <a:schemeClr val="tx1"/>
                </a:solidFill>
                <a:latin typeface="Times New Roman" pitchFamily="18" charset="0"/>
              </a:rPr>
              <a:t>	</a:t>
            </a:r>
          </a:p>
        </p:txBody>
      </p:sp>
      <p:pic>
        <p:nvPicPr>
          <p:cNvPr id="9221"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9222"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9223"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
        <p:nvSpPr>
          <p:cNvPr id="9224" name="Text Box 8"/>
          <p:cNvSpPr txBox="1">
            <a:spLocks noChangeArrowheads="1"/>
          </p:cNvSpPr>
          <p:nvPr/>
        </p:nvSpPr>
        <p:spPr bwMode="auto">
          <a:xfrm>
            <a:off x="376238" y="900113"/>
            <a:ext cx="8443912" cy="5453062"/>
          </a:xfrm>
          <a:prstGeom prst="rect">
            <a:avLst/>
          </a:prstGeom>
          <a:noFill/>
          <a:ln w="9525">
            <a:noFill/>
            <a:miter lim="800000"/>
            <a:headEnd/>
            <a:tailEnd/>
          </a:ln>
          <a:effectLst/>
        </p:spPr>
        <p:txBody>
          <a:bodyPr>
            <a:spAutoFit/>
          </a:bodyPr>
          <a:lstStyle/>
          <a:p>
            <a:pPr marL="342900" indent="-342900">
              <a:buFontTx/>
              <a:buAutoNum type="alphaUcParenR"/>
            </a:pPr>
            <a:r>
              <a:rPr lang="en-AU" sz="3200">
                <a:solidFill>
                  <a:schemeClr val="tx1"/>
                </a:solidFill>
              </a:rPr>
              <a:t>You become increasingly worried. Lose 1 anxiety card</a:t>
            </a:r>
          </a:p>
          <a:p>
            <a:pPr marL="342900" indent="-342900"/>
            <a:endParaRPr lang="en-AU" sz="3200">
              <a:solidFill>
                <a:schemeClr val="tx1"/>
              </a:solidFill>
            </a:endParaRPr>
          </a:p>
          <a:p>
            <a:pPr marL="342900" indent="-342900"/>
            <a:r>
              <a:rPr lang="en-AU" sz="3200">
                <a:solidFill>
                  <a:schemeClr val="tx1"/>
                </a:solidFill>
              </a:rPr>
              <a:t>B) You are beaten up at the rally. Lose 1 Health card</a:t>
            </a:r>
          </a:p>
          <a:p>
            <a:pPr marL="342900" indent="-342900"/>
            <a:endParaRPr lang="en-AU" sz="3200">
              <a:solidFill>
                <a:schemeClr val="tx1"/>
              </a:solidFill>
            </a:endParaRPr>
          </a:p>
          <a:p>
            <a:pPr marL="342900" indent="-342900"/>
            <a:r>
              <a:rPr lang="en-AU" sz="3200">
                <a:solidFill>
                  <a:schemeClr val="tx1"/>
                </a:solidFill>
              </a:rPr>
              <a:t>C) Your employer has become aware of your activities and you lose your job. Lose 1 Income card</a:t>
            </a:r>
          </a:p>
          <a:p>
            <a:pPr marL="342900" indent="-342900"/>
            <a:endParaRPr lang="en-AU" sz="3200">
              <a:solidFill>
                <a:schemeClr val="tx1"/>
              </a:solidFill>
            </a:endParaRPr>
          </a:p>
          <a:p>
            <a:pPr marL="342900" indent="-342900"/>
            <a:r>
              <a:rPr lang="en-AU" sz="3200">
                <a:solidFill>
                  <a:schemeClr val="tx1"/>
                </a:solidFill>
              </a:rPr>
              <a:t>D) You are alright for the present.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20"/>
                                        </p:tgtEl>
                                        <p:attrNameLst>
                                          <p:attrName>style.visibility</p:attrName>
                                        </p:attrNameLst>
                                      </p:cBhvr>
                                      <p:to>
                                        <p:strVal val="visible"/>
                                      </p:to>
                                    </p:set>
                                    <p:animEffect transition="in" filter="blinds(horizontal)">
                                      <p:cBhvr>
                                        <p:cTn id="7" dur="500"/>
                                        <p:tgtEl>
                                          <p:spTgt spid="92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9223"/>
                                        </p:tgtEl>
                                        <p:attrNameLst>
                                          <p:attrName>style.visibility</p:attrName>
                                        </p:attrNameLst>
                                      </p:cBhvr>
                                      <p:to>
                                        <p:strVal val="visible"/>
                                      </p:to>
                                    </p:set>
                                    <p:animEffect transition="in" filter="dissolve">
                                      <p:cBhvr>
                                        <p:cTn id="12" dur="500"/>
                                        <p:tgtEl>
                                          <p:spTgt spid="9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autoUpdateAnimBg="0"/>
      <p:bldP spid="9223"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SITUATION 3</a:t>
            </a:r>
          </a:p>
        </p:txBody>
      </p:sp>
      <p:sp>
        <p:nvSpPr>
          <p:cNvPr id="10243"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10244" name="Text Box 4"/>
          <p:cNvSpPr txBox="1">
            <a:spLocks noChangeArrowheads="1"/>
          </p:cNvSpPr>
          <p:nvPr/>
        </p:nvSpPr>
        <p:spPr bwMode="auto">
          <a:xfrm>
            <a:off x="179388" y="1628775"/>
            <a:ext cx="8713787" cy="4362450"/>
          </a:xfrm>
          <a:prstGeom prst="rect">
            <a:avLst/>
          </a:prstGeom>
          <a:noFill/>
          <a:ln w="9525">
            <a:noFill/>
            <a:miter lim="800000"/>
            <a:headEnd/>
            <a:tailEnd/>
          </a:ln>
          <a:effectLst/>
        </p:spPr>
        <p:txBody>
          <a:bodyPr>
            <a:spAutoFit/>
          </a:bodyPr>
          <a:lstStyle/>
          <a:p>
            <a:pPr>
              <a:spcBef>
                <a:spcPct val="50000"/>
              </a:spcBef>
            </a:pPr>
            <a:r>
              <a:rPr lang="en-GB" sz="2800">
                <a:solidFill>
                  <a:schemeClr val="tx1"/>
                </a:solidFill>
              </a:rPr>
              <a:t>In January 1933 Adolf Hitler becomes Chancellor of Germany. On the 5</a:t>
            </a:r>
            <a:r>
              <a:rPr lang="en-GB" sz="2800" baseline="30000">
                <a:solidFill>
                  <a:schemeClr val="tx1"/>
                </a:solidFill>
              </a:rPr>
              <a:t>th</a:t>
            </a:r>
            <a:r>
              <a:rPr lang="en-GB" sz="2800">
                <a:solidFill>
                  <a:schemeClr val="tx1"/>
                </a:solidFill>
              </a:rPr>
              <a:t> of March an election is held. The Nazi’s, disappointed by their failure to gain a clear majority, form a coalition with the Nationalists and suppress the Communist Party. Hitler then passes an Enabling Act which gives him power to rule by decree. The S.A., both during and after the election, have been violently intimidating their opposition. The S.A. and S.S. are now authorised to act as auxiliary police</a:t>
            </a:r>
            <a:r>
              <a:rPr lang="en-GB" sz="2800" b="1">
                <a:solidFill>
                  <a:schemeClr val="tx1"/>
                </a:solidFill>
                <a:latin typeface="Times New Roman" pitchFamily="18" charset="0"/>
              </a:rPr>
              <a:t>	</a:t>
            </a:r>
          </a:p>
        </p:txBody>
      </p:sp>
      <p:pic>
        <p:nvPicPr>
          <p:cNvPr id="10245"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10246"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10247"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4"/>
                                        </p:tgtEl>
                                        <p:attrNameLst>
                                          <p:attrName>style.visibility</p:attrName>
                                        </p:attrNameLst>
                                      </p:cBhvr>
                                      <p:to>
                                        <p:strVal val="visible"/>
                                      </p:to>
                                    </p:set>
                                    <p:animEffect transition="in" filter="blinds(horizontal)">
                                      <p:cBhvr>
                                        <p:cTn id="7" dur="500"/>
                                        <p:tgtEl>
                                          <p:spTgt spid="1024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10247"/>
                                        </p:tgtEl>
                                        <p:attrNameLst>
                                          <p:attrName>style.visibility</p:attrName>
                                        </p:attrNameLst>
                                      </p:cBhvr>
                                      <p:to>
                                        <p:strVal val="visible"/>
                                      </p:to>
                                    </p:set>
                                    <p:animEffect transition="in" filter="dissolve">
                                      <p:cBhvr>
                                        <p:cTn id="12" dur="500"/>
                                        <p:tgtEl>
                                          <p:spTgt spid="10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autoUpdateAnimBg="0"/>
      <p:bldP spid="10247"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ACT NOW</a:t>
            </a:r>
          </a:p>
        </p:txBody>
      </p:sp>
      <p:sp>
        <p:nvSpPr>
          <p:cNvPr id="12291"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12292" name="Text Box 4"/>
          <p:cNvSpPr txBox="1">
            <a:spLocks noChangeArrowheads="1"/>
          </p:cNvSpPr>
          <p:nvPr/>
        </p:nvSpPr>
        <p:spPr bwMode="auto">
          <a:xfrm>
            <a:off x="179388" y="981075"/>
            <a:ext cx="8713787" cy="5151438"/>
          </a:xfrm>
          <a:prstGeom prst="rect">
            <a:avLst/>
          </a:prstGeom>
          <a:noFill/>
          <a:ln w="9525">
            <a:noFill/>
            <a:miter lim="800000"/>
            <a:headEnd/>
            <a:tailEnd/>
          </a:ln>
          <a:effectLst/>
        </p:spPr>
        <p:txBody>
          <a:bodyPr>
            <a:spAutoFit/>
          </a:bodyPr>
          <a:lstStyle/>
          <a:p>
            <a:pPr marL="342900" indent="-342900">
              <a:spcBef>
                <a:spcPct val="50000"/>
              </a:spcBef>
              <a:buFontTx/>
              <a:buAutoNum type="alphaUcParenR"/>
            </a:pPr>
            <a:r>
              <a:rPr lang="en-GB" sz="3200">
                <a:solidFill>
                  <a:schemeClr val="tx1"/>
                </a:solidFill>
              </a:rPr>
              <a:t>You take part in a campaign to give publicity and legal redress to people who claim to have been intimidated</a:t>
            </a:r>
          </a:p>
          <a:p>
            <a:pPr marL="342900" indent="-342900">
              <a:spcBef>
                <a:spcPct val="50000"/>
              </a:spcBef>
            </a:pPr>
            <a:r>
              <a:rPr lang="en-GB" sz="3200">
                <a:solidFill>
                  <a:schemeClr val="tx1"/>
                </a:solidFill>
              </a:rPr>
              <a:t>B) You join a group that calls on the government to hold a fresh election</a:t>
            </a:r>
          </a:p>
          <a:p>
            <a:pPr marL="342900" indent="-342900">
              <a:spcBef>
                <a:spcPct val="50000"/>
              </a:spcBef>
            </a:pPr>
            <a:r>
              <a:rPr lang="en-GB" sz="3200">
                <a:solidFill>
                  <a:schemeClr val="tx1"/>
                </a:solidFill>
              </a:rPr>
              <a:t>C) You do nothing</a:t>
            </a:r>
          </a:p>
          <a:p>
            <a:pPr marL="342900" indent="-342900">
              <a:spcBef>
                <a:spcPct val="50000"/>
              </a:spcBef>
            </a:pPr>
            <a:r>
              <a:rPr lang="en-GB" sz="3200">
                <a:solidFill>
                  <a:schemeClr val="tx1"/>
                </a:solidFill>
              </a:rPr>
              <a:t>D) You take part in an illegal street march</a:t>
            </a:r>
          </a:p>
          <a:p>
            <a:pPr marL="342900" indent="-342900">
              <a:spcBef>
                <a:spcPct val="50000"/>
              </a:spcBef>
            </a:pPr>
            <a:r>
              <a:rPr lang="en-GB" b="1">
                <a:solidFill>
                  <a:schemeClr val="tx1"/>
                </a:solidFill>
                <a:latin typeface="Times New Roman" pitchFamily="18" charset="0"/>
              </a:rPr>
              <a:t>					</a:t>
            </a:r>
          </a:p>
        </p:txBody>
      </p:sp>
      <p:pic>
        <p:nvPicPr>
          <p:cNvPr id="12293"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12294"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12295"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92"/>
                                        </p:tgtEl>
                                        <p:attrNameLst>
                                          <p:attrName>style.visibility</p:attrName>
                                        </p:attrNameLst>
                                      </p:cBhvr>
                                      <p:to>
                                        <p:strVal val="visible"/>
                                      </p:to>
                                    </p:set>
                                    <p:animEffect transition="in" filter="blinds(horizontal)">
                                      <p:cBhvr>
                                        <p:cTn id="7" dur="500"/>
                                        <p:tgtEl>
                                          <p:spTgt spid="1229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12295"/>
                                        </p:tgtEl>
                                        <p:attrNameLst>
                                          <p:attrName>style.visibility</p:attrName>
                                        </p:attrNameLst>
                                      </p:cBhvr>
                                      <p:to>
                                        <p:strVal val="visible"/>
                                      </p:to>
                                    </p:set>
                                    <p:animEffect transition="in" filter="dissolve">
                                      <p:cBhvr>
                                        <p:cTn id="12" dur="500"/>
                                        <p:tgtEl>
                                          <p:spTgt spid="12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autoUpdateAnimBg="0"/>
      <p:bldP spid="12295"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RESULTS</a:t>
            </a:r>
          </a:p>
        </p:txBody>
      </p:sp>
      <p:sp>
        <p:nvSpPr>
          <p:cNvPr id="13315"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13316" name="Text Box 4"/>
          <p:cNvSpPr txBox="1">
            <a:spLocks noChangeArrowheads="1"/>
          </p:cNvSpPr>
          <p:nvPr/>
        </p:nvSpPr>
        <p:spPr bwMode="auto">
          <a:xfrm>
            <a:off x="381000" y="838200"/>
            <a:ext cx="8512175" cy="5211763"/>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A and B: You receive numerous phone calls making death threats against you and your family. Some callers appear to have links with the S.A. Lose 1 anxiety card.</a:t>
            </a:r>
          </a:p>
          <a:p>
            <a:pPr>
              <a:spcBef>
                <a:spcPct val="50000"/>
              </a:spcBef>
            </a:pPr>
            <a:r>
              <a:rPr lang="en-GB" sz="3200">
                <a:solidFill>
                  <a:schemeClr val="tx1"/>
                </a:solidFill>
              </a:rPr>
              <a:t>C) You are alright for the present</a:t>
            </a:r>
          </a:p>
          <a:p>
            <a:pPr>
              <a:spcBef>
                <a:spcPct val="50000"/>
              </a:spcBef>
            </a:pPr>
            <a:endParaRPr lang="en-GB" sz="3200">
              <a:solidFill>
                <a:schemeClr val="tx1"/>
              </a:solidFill>
            </a:endParaRPr>
          </a:p>
          <a:p>
            <a:pPr>
              <a:spcBef>
                <a:spcPct val="50000"/>
              </a:spcBef>
            </a:pPr>
            <a:r>
              <a:rPr lang="en-GB" sz="3200">
                <a:solidFill>
                  <a:schemeClr val="tx1"/>
                </a:solidFill>
              </a:rPr>
              <a:t>D) You are arrested and imprisoned. The result is that you lose your job. Lose 1 imprisonment card and 1 income card.</a:t>
            </a:r>
          </a:p>
        </p:txBody>
      </p:sp>
      <p:pic>
        <p:nvPicPr>
          <p:cNvPr id="13317"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13318"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13319"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6"/>
                                        </p:tgtEl>
                                        <p:attrNameLst>
                                          <p:attrName>style.visibility</p:attrName>
                                        </p:attrNameLst>
                                      </p:cBhvr>
                                      <p:to>
                                        <p:strVal val="visible"/>
                                      </p:to>
                                    </p:set>
                                    <p:animEffect transition="in" filter="blinds(horizontal)">
                                      <p:cBhvr>
                                        <p:cTn id="7" dur="500"/>
                                        <p:tgtEl>
                                          <p:spTgt spid="1331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13319"/>
                                        </p:tgtEl>
                                        <p:attrNameLst>
                                          <p:attrName>style.visibility</p:attrName>
                                        </p:attrNameLst>
                                      </p:cBhvr>
                                      <p:to>
                                        <p:strVal val="visible"/>
                                      </p:to>
                                    </p:set>
                                    <p:animEffect transition="in" filter="dissolve">
                                      <p:cBhvr>
                                        <p:cTn id="12" dur="500"/>
                                        <p:tgtEl>
                                          <p:spTgt spid="133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autoUpdateAnimBg="0"/>
      <p:bldP spid="13319"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SITUATION 4</a:t>
            </a:r>
          </a:p>
        </p:txBody>
      </p:sp>
      <p:sp>
        <p:nvSpPr>
          <p:cNvPr id="14339"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14340" name="Text Box 4"/>
          <p:cNvSpPr txBox="1">
            <a:spLocks noChangeArrowheads="1"/>
          </p:cNvSpPr>
          <p:nvPr/>
        </p:nvSpPr>
        <p:spPr bwMode="auto">
          <a:xfrm>
            <a:off x="395288" y="1412875"/>
            <a:ext cx="8294687" cy="2651125"/>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On the 7</a:t>
            </a:r>
            <a:r>
              <a:rPr lang="en-GB" sz="3200" baseline="30000">
                <a:solidFill>
                  <a:schemeClr val="tx1"/>
                </a:solidFill>
              </a:rPr>
              <a:t>th</a:t>
            </a:r>
            <a:r>
              <a:rPr lang="en-GB" sz="3200">
                <a:solidFill>
                  <a:schemeClr val="tx1"/>
                </a:solidFill>
              </a:rPr>
              <a:t> of April 1933, legislation is passed which allows judges to be dismissed or demoted for political reasons. The courts from this time will be under increasing Nazi  control.</a:t>
            </a:r>
            <a:r>
              <a:rPr lang="en-GB" b="1">
                <a:solidFill>
                  <a:schemeClr val="tx1"/>
                </a:solidFill>
                <a:latin typeface="Times New Roman" pitchFamily="18" charset="0"/>
              </a:rPr>
              <a:t>	</a:t>
            </a:r>
          </a:p>
        </p:txBody>
      </p:sp>
      <p:pic>
        <p:nvPicPr>
          <p:cNvPr id="14341"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14342"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14343"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blinds(horizontal)">
                                      <p:cBhvr>
                                        <p:cTn id="7" dur="500"/>
                                        <p:tgtEl>
                                          <p:spTgt spid="1434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14343"/>
                                        </p:tgtEl>
                                        <p:attrNameLst>
                                          <p:attrName>style.visibility</p:attrName>
                                        </p:attrNameLst>
                                      </p:cBhvr>
                                      <p:to>
                                        <p:strVal val="visible"/>
                                      </p:to>
                                    </p:set>
                                    <p:animEffect transition="in" filter="dissolve">
                                      <p:cBhvr>
                                        <p:cTn id="12" dur="500"/>
                                        <p:tgtEl>
                                          <p:spTgt spid="14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autoUpdateAnimBg="0"/>
      <p:bldP spid="14343"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ACT NOW</a:t>
            </a:r>
          </a:p>
        </p:txBody>
      </p:sp>
      <p:sp>
        <p:nvSpPr>
          <p:cNvPr id="15363"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15364" name="Text Box 4"/>
          <p:cNvSpPr txBox="1">
            <a:spLocks noChangeArrowheads="1"/>
          </p:cNvSpPr>
          <p:nvPr/>
        </p:nvSpPr>
        <p:spPr bwMode="auto">
          <a:xfrm>
            <a:off x="381000" y="838200"/>
            <a:ext cx="8367713" cy="5813425"/>
          </a:xfrm>
          <a:prstGeom prst="rect">
            <a:avLst/>
          </a:prstGeom>
          <a:noFill/>
          <a:ln w="9525">
            <a:noFill/>
            <a:miter lim="800000"/>
            <a:headEnd/>
            <a:tailEnd/>
          </a:ln>
          <a:effectLst/>
        </p:spPr>
        <p:txBody>
          <a:bodyPr>
            <a:spAutoFit/>
          </a:bodyPr>
          <a:lstStyle/>
          <a:p>
            <a:pPr marL="342900" indent="-342900">
              <a:spcBef>
                <a:spcPct val="50000"/>
              </a:spcBef>
              <a:buFontTx/>
              <a:buAutoNum type="alphaUcParenR"/>
            </a:pPr>
            <a:r>
              <a:rPr lang="en-GB" sz="2400">
                <a:solidFill>
                  <a:schemeClr val="tx1"/>
                </a:solidFill>
              </a:rPr>
              <a:t>You think it is a pity that the judiciary has lost its independence, but you are not seriously worried</a:t>
            </a:r>
          </a:p>
          <a:p>
            <a:pPr marL="342900" indent="-342900">
              <a:spcBef>
                <a:spcPct val="50000"/>
              </a:spcBef>
            </a:pPr>
            <a:r>
              <a:rPr lang="en-GB" sz="2400">
                <a:solidFill>
                  <a:schemeClr val="tx1"/>
                </a:solidFill>
              </a:rPr>
              <a:t>B) You are a little anxious about this development but remain confident that the present government will be voted out at the next election and that the legislation can be repealed</a:t>
            </a:r>
          </a:p>
          <a:p>
            <a:pPr marL="342900" indent="-342900">
              <a:spcBef>
                <a:spcPct val="50000"/>
              </a:spcBef>
            </a:pPr>
            <a:r>
              <a:rPr lang="en-GB" sz="2400">
                <a:solidFill>
                  <a:schemeClr val="tx1"/>
                </a:solidFill>
              </a:rPr>
              <a:t>C) You are worried about this and other developments so you put all your energies into supporting another major political party which promises widespread changes</a:t>
            </a:r>
            <a:r>
              <a:rPr lang="en-GB" b="1">
                <a:solidFill>
                  <a:schemeClr val="tx1"/>
                </a:solidFill>
                <a:latin typeface="Times New Roman" pitchFamily="18" charset="0"/>
              </a:rPr>
              <a:t>	</a:t>
            </a:r>
            <a:r>
              <a:rPr lang="en-GB" sz="2400">
                <a:solidFill>
                  <a:schemeClr val="tx1"/>
                </a:solidFill>
              </a:rPr>
              <a:t>if elected to office</a:t>
            </a:r>
          </a:p>
          <a:p>
            <a:pPr marL="342900" indent="-342900">
              <a:spcBef>
                <a:spcPct val="50000"/>
              </a:spcBef>
            </a:pPr>
            <a:r>
              <a:rPr lang="en-GB" sz="2400">
                <a:solidFill>
                  <a:schemeClr val="tx1"/>
                </a:solidFill>
              </a:rPr>
              <a:t>D) You and a group of others who feel strongly about this matter chain yourselves to the court railings in protest</a:t>
            </a:r>
          </a:p>
          <a:p>
            <a:pPr marL="342900" indent="-342900">
              <a:spcBef>
                <a:spcPct val="50000"/>
              </a:spcBef>
            </a:pPr>
            <a:r>
              <a:rPr lang="en-GB" sz="2400">
                <a:solidFill>
                  <a:schemeClr val="tx1"/>
                </a:solidFill>
              </a:rPr>
              <a:t>				</a:t>
            </a:r>
            <a:endParaRPr lang="en-GB" b="1">
              <a:solidFill>
                <a:schemeClr val="tx1"/>
              </a:solidFill>
              <a:latin typeface="Times New Roman" pitchFamily="18" charset="0"/>
            </a:endParaRPr>
          </a:p>
        </p:txBody>
      </p:sp>
      <p:pic>
        <p:nvPicPr>
          <p:cNvPr id="15365"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15366"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15367"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364"/>
                                        </p:tgtEl>
                                        <p:attrNameLst>
                                          <p:attrName>style.visibility</p:attrName>
                                        </p:attrNameLst>
                                      </p:cBhvr>
                                      <p:to>
                                        <p:strVal val="visible"/>
                                      </p:to>
                                    </p:set>
                                    <p:animEffect transition="in" filter="blinds(horizontal)">
                                      <p:cBhvr>
                                        <p:cTn id="7" dur="500"/>
                                        <p:tgtEl>
                                          <p:spTgt spid="1536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15367"/>
                                        </p:tgtEl>
                                        <p:attrNameLst>
                                          <p:attrName>style.visibility</p:attrName>
                                        </p:attrNameLst>
                                      </p:cBhvr>
                                      <p:to>
                                        <p:strVal val="visible"/>
                                      </p:to>
                                    </p:set>
                                    <p:animEffect transition="in" filter="dissolve">
                                      <p:cBhvr>
                                        <p:cTn id="12" dur="500"/>
                                        <p:tgtEl>
                                          <p:spTgt spid="153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autoUpdateAnimBg="0"/>
      <p:bldP spid="15367"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RESULTS</a:t>
            </a:r>
          </a:p>
        </p:txBody>
      </p:sp>
      <p:sp>
        <p:nvSpPr>
          <p:cNvPr id="16387"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16388" name="Text Box 4"/>
          <p:cNvSpPr txBox="1">
            <a:spLocks noChangeArrowheads="1"/>
          </p:cNvSpPr>
          <p:nvPr/>
        </p:nvSpPr>
        <p:spPr bwMode="auto">
          <a:xfrm>
            <a:off x="395288" y="1268413"/>
            <a:ext cx="8439150" cy="3871912"/>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A and B:</a:t>
            </a:r>
          </a:p>
          <a:p>
            <a:pPr>
              <a:spcBef>
                <a:spcPct val="50000"/>
              </a:spcBef>
            </a:pPr>
            <a:r>
              <a:rPr lang="en-GB" sz="3200">
                <a:solidFill>
                  <a:schemeClr val="tx1"/>
                </a:solidFill>
              </a:rPr>
              <a:t>You are alright for the present</a:t>
            </a:r>
          </a:p>
          <a:p>
            <a:pPr>
              <a:spcBef>
                <a:spcPct val="50000"/>
              </a:spcBef>
            </a:pPr>
            <a:r>
              <a:rPr lang="en-GB" sz="3200">
                <a:solidFill>
                  <a:schemeClr val="tx1"/>
                </a:solidFill>
              </a:rPr>
              <a:t>C) Lose 1 anxiety card</a:t>
            </a:r>
          </a:p>
          <a:p>
            <a:pPr>
              <a:spcBef>
                <a:spcPct val="50000"/>
              </a:spcBef>
            </a:pPr>
            <a:r>
              <a:rPr lang="en-GB" sz="3200">
                <a:solidFill>
                  <a:schemeClr val="tx1"/>
                </a:solidFill>
              </a:rPr>
              <a:t>D) You are arrested and beaten up by S.S. men but no charges are laid and next day you are allowed to go home. Lose 1 Health Card.</a:t>
            </a:r>
            <a:r>
              <a:rPr lang="en-GB" b="1">
                <a:solidFill>
                  <a:schemeClr val="tx1"/>
                </a:solidFill>
                <a:latin typeface="Times New Roman" pitchFamily="18" charset="0"/>
              </a:rPr>
              <a:t>	</a:t>
            </a:r>
          </a:p>
        </p:txBody>
      </p:sp>
      <p:pic>
        <p:nvPicPr>
          <p:cNvPr id="16389"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16390"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16391"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388"/>
                                        </p:tgtEl>
                                        <p:attrNameLst>
                                          <p:attrName>style.visibility</p:attrName>
                                        </p:attrNameLst>
                                      </p:cBhvr>
                                      <p:to>
                                        <p:strVal val="visible"/>
                                      </p:to>
                                    </p:set>
                                    <p:animEffect transition="in" filter="blinds(horizontal)">
                                      <p:cBhvr>
                                        <p:cTn id="7" dur="500"/>
                                        <p:tgtEl>
                                          <p:spTgt spid="1638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16391"/>
                                        </p:tgtEl>
                                        <p:attrNameLst>
                                          <p:attrName>style.visibility</p:attrName>
                                        </p:attrNameLst>
                                      </p:cBhvr>
                                      <p:to>
                                        <p:strVal val="visible"/>
                                      </p:to>
                                    </p:set>
                                    <p:animEffect transition="in" filter="dissolve">
                                      <p:cBhvr>
                                        <p:cTn id="12" dur="500"/>
                                        <p:tgtEl>
                                          <p:spTgt spid="163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autoUpdateAnimBg="0"/>
      <p:bldP spid="16391"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SITUATION 5</a:t>
            </a:r>
          </a:p>
        </p:txBody>
      </p:sp>
      <p:sp>
        <p:nvSpPr>
          <p:cNvPr id="18435"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18436" name="Text Box 4"/>
          <p:cNvSpPr txBox="1">
            <a:spLocks noChangeArrowheads="1"/>
          </p:cNvSpPr>
          <p:nvPr/>
        </p:nvSpPr>
        <p:spPr bwMode="auto">
          <a:xfrm>
            <a:off x="323850" y="1125538"/>
            <a:ext cx="8512175" cy="3260725"/>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The Trade Union movement is seen by the government as encouraging dissatisfaction, strikes and anti-government activity.</a:t>
            </a:r>
          </a:p>
          <a:p>
            <a:pPr>
              <a:spcBef>
                <a:spcPct val="50000"/>
              </a:spcBef>
            </a:pPr>
            <a:r>
              <a:rPr lang="en-GB" sz="3200">
                <a:solidFill>
                  <a:schemeClr val="tx1"/>
                </a:solidFill>
              </a:rPr>
              <a:t>You have always been a committed member of your union, which has become increasingly critical of government actions.</a:t>
            </a:r>
          </a:p>
        </p:txBody>
      </p:sp>
      <p:pic>
        <p:nvPicPr>
          <p:cNvPr id="18437"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18438"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18439"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436"/>
                                        </p:tgtEl>
                                        <p:attrNameLst>
                                          <p:attrName>style.visibility</p:attrName>
                                        </p:attrNameLst>
                                      </p:cBhvr>
                                      <p:to>
                                        <p:strVal val="visible"/>
                                      </p:to>
                                    </p:set>
                                    <p:animEffect transition="in" filter="blinds(horizontal)">
                                      <p:cBhvr>
                                        <p:cTn id="7" dur="500"/>
                                        <p:tgtEl>
                                          <p:spTgt spid="1843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18439"/>
                                        </p:tgtEl>
                                        <p:attrNameLst>
                                          <p:attrName>style.visibility</p:attrName>
                                        </p:attrNameLst>
                                      </p:cBhvr>
                                      <p:to>
                                        <p:strVal val="visible"/>
                                      </p:to>
                                    </p:set>
                                    <p:animEffect transition="in" filter="dissolve">
                                      <p:cBhvr>
                                        <p:cTn id="12" dur="500"/>
                                        <p:tgtEl>
                                          <p:spTgt spid="184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autoUpdateAnimBg="0"/>
      <p:bldP spid="18439"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ACT NOW</a:t>
            </a:r>
          </a:p>
        </p:txBody>
      </p:sp>
      <p:sp>
        <p:nvSpPr>
          <p:cNvPr id="17411"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17412" name="Text Box 4"/>
          <p:cNvSpPr txBox="1">
            <a:spLocks noChangeArrowheads="1"/>
          </p:cNvSpPr>
          <p:nvPr/>
        </p:nvSpPr>
        <p:spPr bwMode="auto">
          <a:xfrm>
            <a:off x="395288" y="1196975"/>
            <a:ext cx="8439150" cy="3749675"/>
          </a:xfrm>
          <a:prstGeom prst="rect">
            <a:avLst/>
          </a:prstGeom>
          <a:noFill/>
          <a:ln w="9525">
            <a:noFill/>
            <a:miter lim="800000"/>
            <a:headEnd/>
            <a:tailEnd/>
          </a:ln>
          <a:effectLst/>
        </p:spPr>
        <p:txBody>
          <a:bodyPr>
            <a:spAutoFit/>
          </a:bodyPr>
          <a:lstStyle/>
          <a:p>
            <a:pPr marL="342900" indent="-342900">
              <a:spcBef>
                <a:spcPct val="50000"/>
              </a:spcBef>
              <a:buFontTx/>
              <a:buAutoNum type="alphaUcParenR"/>
            </a:pPr>
            <a:r>
              <a:rPr lang="en-GB" sz="3200">
                <a:solidFill>
                  <a:schemeClr val="tx1"/>
                </a:solidFill>
              </a:rPr>
              <a:t>You resign your membership immediately</a:t>
            </a:r>
          </a:p>
          <a:p>
            <a:pPr marL="342900" indent="-342900">
              <a:spcBef>
                <a:spcPct val="50000"/>
              </a:spcBef>
              <a:buFontTx/>
              <a:buAutoNum type="alphaUcParenR"/>
            </a:pPr>
            <a:r>
              <a:rPr lang="en-GB" sz="3200">
                <a:solidFill>
                  <a:schemeClr val="tx1"/>
                </a:solidFill>
              </a:rPr>
              <a:t>You become more involved in the protest activities of your union</a:t>
            </a:r>
          </a:p>
          <a:p>
            <a:pPr marL="342900" indent="-342900">
              <a:spcBef>
                <a:spcPct val="50000"/>
              </a:spcBef>
              <a:buFontTx/>
              <a:buAutoNum type="alphaUcParenR"/>
            </a:pPr>
            <a:r>
              <a:rPr lang="en-GB" sz="3200">
                <a:solidFill>
                  <a:schemeClr val="tx1"/>
                </a:solidFill>
              </a:rPr>
              <a:t>You decide to remain a nominal member only</a:t>
            </a:r>
          </a:p>
          <a:p>
            <a:pPr marL="342900" indent="-342900">
              <a:spcBef>
                <a:spcPct val="50000"/>
              </a:spcBef>
              <a:buFontTx/>
              <a:buAutoNum type="alphaUcParenR"/>
            </a:pPr>
            <a:r>
              <a:rPr lang="en-GB" sz="3200">
                <a:solidFill>
                  <a:schemeClr val="tx1"/>
                </a:solidFill>
              </a:rPr>
              <a:t>You ignore the whole question</a:t>
            </a:r>
          </a:p>
        </p:txBody>
      </p:sp>
      <p:pic>
        <p:nvPicPr>
          <p:cNvPr id="17413"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17414"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17415"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12"/>
                                        </p:tgtEl>
                                        <p:attrNameLst>
                                          <p:attrName>style.visibility</p:attrName>
                                        </p:attrNameLst>
                                      </p:cBhvr>
                                      <p:to>
                                        <p:strVal val="visible"/>
                                      </p:to>
                                    </p:set>
                                    <p:animEffect transition="in" filter="blinds(horizontal)">
                                      <p:cBhvr>
                                        <p:cTn id="7" dur="500"/>
                                        <p:tgtEl>
                                          <p:spTgt spid="174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17415"/>
                                        </p:tgtEl>
                                        <p:attrNameLst>
                                          <p:attrName>style.visibility</p:attrName>
                                        </p:attrNameLst>
                                      </p:cBhvr>
                                      <p:to>
                                        <p:strVal val="visible"/>
                                      </p:to>
                                    </p:set>
                                    <p:animEffect transition="in" filter="dissolve">
                                      <p:cBhvr>
                                        <p:cTn id="12" dur="500"/>
                                        <p:tgtEl>
                                          <p:spTgt spid="17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2" grpId="0" autoUpdateAnimBg="0"/>
      <p:bldP spid="17415"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RESULTS</a:t>
            </a:r>
          </a:p>
        </p:txBody>
      </p:sp>
      <p:sp>
        <p:nvSpPr>
          <p:cNvPr id="19459"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19460" name="Text Box 4"/>
          <p:cNvSpPr txBox="1">
            <a:spLocks noChangeArrowheads="1"/>
          </p:cNvSpPr>
          <p:nvPr/>
        </p:nvSpPr>
        <p:spPr bwMode="auto">
          <a:xfrm>
            <a:off x="381000" y="838200"/>
            <a:ext cx="8512175" cy="5821363"/>
          </a:xfrm>
          <a:prstGeom prst="rect">
            <a:avLst/>
          </a:prstGeom>
          <a:noFill/>
          <a:ln w="9525">
            <a:noFill/>
            <a:miter lim="800000"/>
            <a:headEnd/>
            <a:tailEnd/>
          </a:ln>
          <a:effectLst/>
        </p:spPr>
        <p:txBody>
          <a:bodyPr>
            <a:spAutoFit/>
          </a:bodyPr>
          <a:lstStyle/>
          <a:p>
            <a:pPr>
              <a:spcBef>
                <a:spcPct val="50000"/>
              </a:spcBef>
            </a:pPr>
            <a:r>
              <a:rPr lang="en-GB" sz="2400">
                <a:solidFill>
                  <a:schemeClr val="tx1"/>
                </a:solidFill>
              </a:rPr>
              <a:t>On the 2nd of May 1933 all Trade Unions are abolished. In their place a government controlled Labour Front is established.</a:t>
            </a:r>
          </a:p>
          <a:p>
            <a:pPr>
              <a:spcBef>
                <a:spcPct val="50000"/>
              </a:spcBef>
            </a:pPr>
            <a:r>
              <a:rPr lang="en-GB" sz="3200">
                <a:solidFill>
                  <a:schemeClr val="tx1"/>
                </a:solidFill>
              </a:rPr>
              <a:t>A and D:</a:t>
            </a:r>
          </a:p>
          <a:p>
            <a:pPr>
              <a:spcBef>
                <a:spcPct val="50000"/>
              </a:spcBef>
            </a:pPr>
            <a:r>
              <a:rPr lang="en-GB" sz="3200">
                <a:solidFill>
                  <a:schemeClr val="tx1"/>
                </a:solidFill>
              </a:rPr>
              <a:t>You are alright for the present</a:t>
            </a:r>
          </a:p>
          <a:p>
            <a:pPr>
              <a:spcBef>
                <a:spcPct val="50000"/>
              </a:spcBef>
            </a:pPr>
            <a:r>
              <a:rPr lang="en-GB" sz="3200">
                <a:solidFill>
                  <a:schemeClr val="tx1"/>
                </a:solidFill>
              </a:rPr>
              <a:t>B) You are arrested for taking part in a peaceful picket. Lose 1 imprisonment card.</a:t>
            </a:r>
          </a:p>
          <a:p>
            <a:pPr>
              <a:spcBef>
                <a:spcPct val="50000"/>
              </a:spcBef>
            </a:pPr>
            <a:r>
              <a:rPr lang="en-GB" sz="3200">
                <a:solidFill>
                  <a:schemeClr val="tx1"/>
                </a:solidFill>
              </a:rPr>
              <a:t>C)You are very worried about the turn of events. Lose 1 Anxiety card</a:t>
            </a:r>
          </a:p>
          <a:p>
            <a:pPr>
              <a:spcBef>
                <a:spcPct val="50000"/>
              </a:spcBef>
            </a:pPr>
            <a:endParaRPr lang="en-GB" sz="3200">
              <a:solidFill>
                <a:schemeClr val="tx1"/>
              </a:solidFill>
            </a:endParaRPr>
          </a:p>
        </p:txBody>
      </p:sp>
      <p:pic>
        <p:nvPicPr>
          <p:cNvPr id="19461"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19462"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19463"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60"/>
                                        </p:tgtEl>
                                        <p:attrNameLst>
                                          <p:attrName>style.visibility</p:attrName>
                                        </p:attrNameLst>
                                      </p:cBhvr>
                                      <p:to>
                                        <p:strVal val="visible"/>
                                      </p:to>
                                    </p:set>
                                    <p:animEffect transition="in" filter="blinds(horizontal)">
                                      <p:cBhvr>
                                        <p:cTn id="7" dur="500"/>
                                        <p:tgtEl>
                                          <p:spTgt spid="1946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19463"/>
                                        </p:tgtEl>
                                        <p:attrNameLst>
                                          <p:attrName>style.visibility</p:attrName>
                                        </p:attrNameLst>
                                      </p:cBhvr>
                                      <p:to>
                                        <p:strVal val="visible"/>
                                      </p:to>
                                    </p:set>
                                    <p:animEffect transition="in" filter="dissolve">
                                      <p:cBhvr>
                                        <p:cTn id="12" dur="500"/>
                                        <p:tgtEl>
                                          <p:spTgt spid="194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autoUpdateAnimBg="0"/>
      <p:bldP spid="19463"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SITUATION 6</a:t>
            </a:r>
          </a:p>
        </p:txBody>
      </p:sp>
      <p:sp>
        <p:nvSpPr>
          <p:cNvPr id="20483"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20484" name="Text Box 4"/>
          <p:cNvSpPr txBox="1">
            <a:spLocks noChangeArrowheads="1"/>
          </p:cNvSpPr>
          <p:nvPr/>
        </p:nvSpPr>
        <p:spPr bwMode="auto">
          <a:xfrm>
            <a:off x="395288" y="1773238"/>
            <a:ext cx="8439150" cy="2163762"/>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It is the 14</a:t>
            </a:r>
            <a:r>
              <a:rPr lang="en-GB" sz="3200" baseline="30000">
                <a:solidFill>
                  <a:schemeClr val="tx1"/>
                </a:solidFill>
              </a:rPr>
              <a:t>th</a:t>
            </a:r>
            <a:r>
              <a:rPr lang="en-GB" sz="3200">
                <a:solidFill>
                  <a:schemeClr val="tx1"/>
                </a:solidFill>
              </a:rPr>
              <a:t> of July 1933. The Nazi Party is declared the only legal party in Germany. You have always belonged to one of the opposition parties.</a:t>
            </a:r>
            <a:r>
              <a:rPr lang="en-GB" b="1">
                <a:solidFill>
                  <a:schemeClr val="tx1"/>
                </a:solidFill>
                <a:latin typeface="Times New Roman" pitchFamily="18" charset="0"/>
              </a:rPr>
              <a:t>	</a:t>
            </a:r>
          </a:p>
        </p:txBody>
      </p:sp>
      <p:pic>
        <p:nvPicPr>
          <p:cNvPr id="20485"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20486"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20487"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484"/>
                                        </p:tgtEl>
                                        <p:attrNameLst>
                                          <p:attrName>style.visibility</p:attrName>
                                        </p:attrNameLst>
                                      </p:cBhvr>
                                      <p:to>
                                        <p:strVal val="visible"/>
                                      </p:to>
                                    </p:set>
                                    <p:animEffect transition="in" filter="blinds(horizontal)">
                                      <p:cBhvr>
                                        <p:cTn id="7" dur="500"/>
                                        <p:tgtEl>
                                          <p:spTgt spid="2048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20487"/>
                                        </p:tgtEl>
                                        <p:attrNameLst>
                                          <p:attrName>style.visibility</p:attrName>
                                        </p:attrNameLst>
                                      </p:cBhvr>
                                      <p:to>
                                        <p:strVal val="visible"/>
                                      </p:to>
                                    </p:set>
                                    <p:animEffect transition="in" filter="dissolve">
                                      <p:cBhvr>
                                        <p:cTn id="12" dur="500"/>
                                        <p:tgtEl>
                                          <p:spTgt spid="204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autoUpdateAnimBg="0"/>
      <p:bldP spid="20487"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ACT NOW</a:t>
            </a:r>
          </a:p>
        </p:txBody>
      </p:sp>
      <p:sp>
        <p:nvSpPr>
          <p:cNvPr id="21507"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21508" name="Text Box 4"/>
          <p:cNvSpPr txBox="1">
            <a:spLocks noChangeArrowheads="1"/>
          </p:cNvSpPr>
          <p:nvPr/>
        </p:nvSpPr>
        <p:spPr bwMode="auto">
          <a:xfrm>
            <a:off x="381000" y="838200"/>
            <a:ext cx="8367713" cy="4846638"/>
          </a:xfrm>
          <a:prstGeom prst="rect">
            <a:avLst/>
          </a:prstGeom>
          <a:noFill/>
          <a:ln w="9525">
            <a:noFill/>
            <a:miter lim="800000"/>
            <a:headEnd/>
            <a:tailEnd/>
          </a:ln>
          <a:effectLst/>
        </p:spPr>
        <p:txBody>
          <a:bodyPr>
            <a:spAutoFit/>
          </a:bodyPr>
          <a:lstStyle/>
          <a:p>
            <a:pPr marL="342900" indent="-342900">
              <a:spcBef>
                <a:spcPct val="50000"/>
              </a:spcBef>
              <a:buFontTx/>
              <a:buAutoNum type="alphaUcParenR"/>
            </a:pPr>
            <a:r>
              <a:rPr lang="en-GB" sz="3200">
                <a:solidFill>
                  <a:schemeClr val="tx1"/>
                </a:solidFill>
              </a:rPr>
              <a:t>You resign your membership immediately</a:t>
            </a:r>
          </a:p>
          <a:p>
            <a:pPr marL="342900" indent="-342900">
              <a:spcBef>
                <a:spcPct val="50000"/>
              </a:spcBef>
            </a:pPr>
            <a:r>
              <a:rPr lang="en-GB" sz="3200">
                <a:solidFill>
                  <a:schemeClr val="tx1"/>
                </a:solidFill>
              </a:rPr>
              <a:t>B) You remain a member but take a non-active part</a:t>
            </a:r>
          </a:p>
          <a:p>
            <a:pPr marL="342900" indent="-342900">
              <a:spcBef>
                <a:spcPct val="50000"/>
              </a:spcBef>
            </a:pPr>
            <a:r>
              <a:rPr lang="en-GB" sz="3200">
                <a:solidFill>
                  <a:schemeClr val="tx1"/>
                </a:solidFill>
              </a:rPr>
              <a:t>C) You take a very active part in the now suppressed group.</a:t>
            </a:r>
          </a:p>
          <a:p>
            <a:pPr marL="342900" indent="-342900">
              <a:spcBef>
                <a:spcPct val="50000"/>
              </a:spcBef>
            </a:pPr>
            <a:r>
              <a:rPr lang="en-GB" sz="3200">
                <a:solidFill>
                  <a:schemeClr val="tx1"/>
                </a:solidFill>
              </a:rPr>
              <a:t>D) You leave the party you’ve always belonged to and join a much more radical one.</a:t>
            </a:r>
            <a:r>
              <a:rPr lang="en-GB" b="1">
                <a:solidFill>
                  <a:schemeClr val="tx1"/>
                </a:solidFill>
                <a:latin typeface="Times New Roman" pitchFamily="18" charset="0"/>
              </a:rPr>
              <a:t>	</a:t>
            </a:r>
          </a:p>
        </p:txBody>
      </p:sp>
      <p:pic>
        <p:nvPicPr>
          <p:cNvPr id="21509"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21510"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21511"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508"/>
                                        </p:tgtEl>
                                        <p:attrNameLst>
                                          <p:attrName>style.visibility</p:attrName>
                                        </p:attrNameLst>
                                      </p:cBhvr>
                                      <p:to>
                                        <p:strVal val="visible"/>
                                      </p:to>
                                    </p:set>
                                    <p:animEffect transition="in" filter="blinds(horizontal)">
                                      <p:cBhvr>
                                        <p:cTn id="7" dur="500"/>
                                        <p:tgtEl>
                                          <p:spTgt spid="2150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21511"/>
                                        </p:tgtEl>
                                        <p:attrNameLst>
                                          <p:attrName>style.visibility</p:attrName>
                                        </p:attrNameLst>
                                      </p:cBhvr>
                                      <p:to>
                                        <p:strVal val="visible"/>
                                      </p:to>
                                    </p:set>
                                    <p:animEffect transition="in" filter="dissolve">
                                      <p:cBhvr>
                                        <p:cTn id="12" dur="500"/>
                                        <p:tgtEl>
                                          <p:spTgt spid="215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autoUpdateAnimBg="0"/>
      <p:bldP spid="21511"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RESULTS</a:t>
            </a:r>
          </a:p>
        </p:txBody>
      </p:sp>
      <p:sp>
        <p:nvSpPr>
          <p:cNvPr id="22531"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22532" name="Text Box 4"/>
          <p:cNvSpPr txBox="1">
            <a:spLocks noChangeArrowheads="1"/>
          </p:cNvSpPr>
          <p:nvPr/>
        </p:nvSpPr>
        <p:spPr bwMode="auto">
          <a:xfrm>
            <a:off x="381000" y="838200"/>
            <a:ext cx="8294688" cy="5089525"/>
          </a:xfrm>
          <a:prstGeom prst="rect">
            <a:avLst/>
          </a:prstGeom>
          <a:noFill/>
          <a:ln w="9525">
            <a:noFill/>
            <a:miter lim="800000"/>
            <a:headEnd/>
            <a:tailEnd/>
          </a:ln>
          <a:effectLst/>
        </p:spPr>
        <p:txBody>
          <a:bodyPr>
            <a:spAutoFit/>
          </a:bodyPr>
          <a:lstStyle/>
          <a:p>
            <a:pPr marL="342900" indent="-342900">
              <a:spcBef>
                <a:spcPct val="50000"/>
              </a:spcBef>
              <a:buFontTx/>
              <a:buAutoNum type="alphaUcParenR"/>
            </a:pPr>
            <a:r>
              <a:rPr lang="en-GB" sz="3200">
                <a:solidFill>
                  <a:schemeClr val="tx1"/>
                </a:solidFill>
              </a:rPr>
              <a:t>The local chief of the Gestapo knows of your previous membership and demands a substantial amount of money not to tell a prospective government employer (School, uni) of your previous party membership. Lose 1 Income card.</a:t>
            </a:r>
          </a:p>
          <a:p>
            <a:pPr marL="342900" indent="-342900">
              <a:spcBef>
                <a:spcPct val="50000"/>
              </a:spcBef>
            </a:pPr>
            <a:r>
              <a:rPr lang="en-GB" sz="3200">
                <a:solidFill>
                  <a:schemeClr val="tx1"/>
                </a:solidFill>
              </a:rPr>
              <a:t>B, C and D:</a:t>
            </a:r>
          </a:p>
          <a:p>
            <a:pPr marL="342900" indent="-342900">
              <a:spcBef>
                <a:spcPct val="50000"/>
              </a:spcBef>
            </a:pPr>
            <a:r>
              <a:rPr lang="en-GB" sz="3200">
                <a:solidFill>
                  <a:schemeClr val="tx1"/>
                </a:solidFill>
              </a:rPr>
              <a:t>You are alright for the moment but you are very worried. Lose 1 Anxiety card.</a:t>
            </a:r>
            <a:r>
              <a:rPr lang="en-GB" b="1">
                <a:solidFill>
                  <a:schemeClr val="tx1"/>
                </a:solidFill>
                <a:latin typeface="Times New Roman" pitchFamily="18" charset="0"/>
              </a:rPr>
              <a:t>	</a:t>
            </a:r>
          </a:p>
        </p:txBody>
      </p:sp>
      <p:pic>
        <p:nvPicPr>
          <p:cNvPr id="22533"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22534"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22535"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32"/>
                                        </p:tgtEl>
                                        <p:attrNameLst>
                                          <p:attrName>style.visibility</p:attrName>
                                        </p:attrNameLst>
                                      </p:cBhvr>
                                      <p:to>
                                        <p:strVal val="visible"/>
                                      </p:to>
                                    </p:set>
                                    <p:animEffect transition="in" filter="blinds(horizontal)">
                                      <p:cBhvr>
                                        <p:cTn id="7" dur="500"/>
                                        <p:tgtEl>
                                          <p:spTgt spid="2253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22535"/>
                                        </p:tgtEl>
                                        <p:attrNameLst>
                                          <p:attrName>style.visibility</p:attrName>
                                        </p:attrNameLst>
                                      </p:cBhvr>
                                      <p:to>
                                        <p:strVal val="visible"/>
                                      </p:to>
                                    </p:set>
                                    <p:animEffect transition="in" filter="dissolve">
                                      <p:cBhvr>
                                        <p:cTn id="12" dur="500"/>
                                        <p:tgtEl>
                                          <p:spTgt spid="225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autoUpdateAnimBg="0"/>
      <p:bldP spid="22535"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SITUATION 7</a:t>
            </a:r>
          </a:p>
        </p:txBody>
      </p:sp>
      <p:sp>
        <p:nvSpPr>
          <p:cNvPr id="23555"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23556" name="Text Box 4"/>
          <p:cNvSpPr txBox="1">
            <a:spLocks noChangeArrowheads="1"/>
          </p:cNvSpPr>
          <p:nvPr/>
        </p:nvSpPr>
        <p:spPr bwMode="auto">
          <a:xfrm>
            <a:off x="395288" y="1484313"/>
            <a:ext cx="8439150" cy="3138487"/>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1933: All Protestant Churches are to be organised into the German Christian Movement which will be under control of a Nazi sympathiser Ludwig Muller who is appointed Bishop of the whole Reich. Your church refuses to accept this development.</a:t>
            </a:r>
            <a:r>
              <a:rPr lang="en-GB" b="1">
                <a:solidFill>
                  <a:schemeClr val="tx1"/>
                </a:solidFill>
                <a:latin typeface="Times New Roman" pitchFamily="18" charset="0"/>
              </a:rPr>
              <a:t>	</a:t>
            </a:r>
          </a:p>
        </p:txBody>
      </p:sp>
      <p:pic>
        <p:nvPicPr>
          <p:cNvPr id="23557"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23558"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23559"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556"/>
                                        </p:tgtEl>
                                        <p:attrNameLst>
                                          <p:attrName>style.visibility</p:attrName>
                                        </p:attrNameLst>
                                      </p:cBhvr>
                                      <p:to>
                                        <p:strVal val="visible"/>
                                      </p:to>
                                    </p:set>
                                    <p:animEffect transition="in" filter="blinds(horizontal)">
                                      <p:cBhvr>
                                        <p:cTn id="7" dur="500"/>
                                        <p:tgtEl>
                                          <p:spTgt spid="2355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23559"/>
                                        </p:tgtEl>
                                        <p:attrNameLst>
                                          <p:attrName>style.visibility</p:attrName>
                                        </p:attrNameLst>
                                      </p:cBhvr>
                                      <p:to>
                                        <p:strVal val="visible"/>
                                      </p:to>
                                    </p:set>
                                    <p:animEffect transition="in" filter="dissolve">
                                      <p:cBhvr>
                                        <p:cTn id="12" dur="500"/>
                                        <p:tgtEl>
                                          <p:spTgt spid="23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autoUpdateAnimBg="0"/>
      <p:bldP spid="23559"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ACT NOW</a:t>
            </a:r>
          </a:p>
        </p:txBody>
      </p:sp>
      <p:sp>
        <p:nvSpPr>
          <p:cNvPr id="24579"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24580" name="Text Box 4"/>
          <p:cNvSpPr txBox="1">
            <a:spLocks noChangeArrowheads="1"/>
          </p:cNvSpPr>
          <p:nvPr/>
        </p:nvSpPr>
        <p:spPr bwMode="auto">
          <a:xfrm>
            <a:off x="381000" y="838200"/>
            <a:ext cx="8367713" cy="5211763"/>
          </a:xfrm>
          <a:prstGeom prst="rect">
            <a:avLst/>
          </a:prstGeom>
          <a:noFill/>
          <a:ln w="9525">
            <a:noFill/>
            <a:miter lim="800000"/>
            <a:headEnd/>
            <a:tailEnd/>
          </a:ln>
          <a:effectLst/>
        </p:spPr>
        <p:txBody>
          <a:bodyPr>
            <a:spAutoFit/>
          </a:bodyPr>
          <a:lstStyle/>
          <a:p>
            <a:pPr marL="342900" indent="-342900">
              <a:spcBef>
                <a:spcPct val="50000"/>
              </a:spcBef>
              <a:buFontTx/>
              <a:buAutoNum type="alphaUcParenR"/>
            </a:pPr>
            <a:r>
              <a:rPr lang="en-GB" sz="3200">
                <a:solidFill>
                  <a:schemeClr val="tx1"/>
                </a:solidFill>
              </a:rPr>
              <a:t>You transfer your membership to an approved church</a:t>
            </a:r>
          </a:p>
          <a:p>
            <a:pPr marL="342900" indent="-342900">
              <a:spcBef>
                <a:spcPct val="50000"/>
              </a:spcBef>
              <a:buFontTx/>
              <a:buAutoNum type="alphaUcParenR"/>
            </a:pPr>
            <a:r>
              <a:rPr lang="en-GB" sz="3200">
                <a:solidFill>
                  <a:schemeClr val="tx1"/>
                </a:solidFill>
              </a:rPr>
              <a:t>You remain a nominal member of your church but stop going there</a:t>
            </a:r>
          </a:p>
          <a:p>
            <a:pPr marL="342900" indent="-342900">
              <a:spcBef>
                <a:spcPct val="50000"/>
              </a:spcBef>
              <a:buFontTx/>
              <a:buAutoNum type="alphaUcParenR"/>
            </a:pPr>
            <a:r>
              <a:rPr lang="en-GB" sz="3200">
                <a:solidFill>
                  <a:schemeClr val="tx1"/>
                </a:solidFill>
              </a:rPr>
              <a:t>You continue to attend church services even though they are now illegal</a:t>
            </a:r>
          </a:p>
          <a:p>
            <a:pPr marL="342900" indent="-342900">
              <a:spcBef>
                <a:spcPct val="50000"/>
              </a:spcBef>
              <a:buFontTx/>
              <a:buAutoNum type="alphaUcParenR"/>
            </a:pPr>
            <a:r>
              <a:rPr lang="en-GB" sz="3200">
                <a:solidFill>
                  <a:schemeClr val="tx1"/>
                </a:solidFill>
              </a:rPr>
              <a:t>You organise secret meetings for the church and play a prominent part in the affairs of the church</a:t>
            </a:r>
          </a:p>
        </p:txBody>
      </p:sp>
      <p:pic>
        <p:nvPicPr>
          <p:cNvPr id="24581"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24582"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24583"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80"/>
                                        </p:tgtEl>
                                        <p:attrNameLst>
                                          <p:attrName>style.visibility</p:attrName>
                                        </p:attrNameLst>
                                      </p:cBhvr>
                                      <p:to>
                                        <p:strVal val="visible"/>
                                      </p:to>
                                    </p:set>
                                    <p:animEffect transition="in" filter="blinds(horizontal)">
                                      <p:cBhvr>
                                        <p:cTn id="7" dur="500"/>
                                        <p:tgtEl>
                                          <p:spTgt spid="2458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24583"/>
                                        </p:tgtEl>
                                        <p:attrNameLst>
                                          <p:attrName>style.visibility</p:attrName>
                                        </p:attrNameLst>
                                      </p:cBhvr>
                                      <p:to>
                                        <p:strVal val="visible"/>
                                      </p:to>
                                    </p:set>
                                    <p:animEffect transition="in" filter="dissolve">
                                      <p:cBhvr>
                                        <p:cTn id="12" dur="500"/>
                                        <p:tgtEl>
                                          <p:spTgt spid="24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0" grpId="0" autoUpdateAnimBg="0"/>
      <p:bldP spid="24583"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RESULTS</a:t>
            </a:r>
          </a:p>
        </p:txBody>
      </p:sp>
      <p:sp>
        <p:nvSpPr>
          <p:cNvPr id="25603"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25604" name="Text Box 4"/>
          <p:cNvSpPr txBox="1">
            <a:spLocks noChangeArrowheads="1"/>
          </p:cNvSpPr>
          <p:nvPr/>
        </p:nvSpPr>
        <p:spPr bwMode="auto">
          <a:xfrm>
            <a:off x="381000" y="838200"/>
            <a:ext cx="8512175" cy="3749675"/>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A and B:</a:t>
            </a:r>
          </a:p>
          <a:p>
            <a:pPr>
              <a:spcBef>
                <a:spcPct val="50000"/>
              </a:spcBef>
            </a:pPr>
            <a:r>
              <a:rPr lang="en-GB" sz="3200">
                <a:solidFill>
                  <a:schemeClr val="tx1"/>
                </a:solidFill>
              </a:rPr>
              <a:t>You are alright for the present</a:t>
            </a:r>
          </a:p>
          <a:p>
            <a:pPr>
              <a:spcBef>
                <a:spcPct val="50000"/>
              </a:spcBef>
            </a:pPr>
            <a:r>
              <a:rPr lang="en-GB" sz="3200">
                <a:solidFill>
                  <a:schemeClr val="tx1"/>
                </a:solidFill>
              </a:rPr>
              <a:t>C and D:</a:t>
            </a:r>
          </a:p>
          <a:p>
            <a:pPr>
              <a:spcBef>
                <a:spcPct val="50000"/>
              </a:spcBef>
            </a:pPr>
            <a:r>
              <a:rPr lang="en-GB" sz="3200">
                <a:solidFill>
                  <a:schemeClr val="tx1"/>
                </a:solidFill>
              </a:rPr>
              <a:t>The Gestapo arrive and violently break up one of your services. You and a number of others are injured. Lose 1 Health card.</a:t>
            </a:r>
          </a:p>
        </p:txBody>
      </p:sp>
      <p:pic>
        <p:nvPicPr>
          <p:cNvPr id="25605"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25606"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25607"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4"/>
                                        </p:tgtEl>
                                        <p:attrNameLst>
                                          <p:attrName>style.visibility</p:attrName>
                                        </p:attrNameLst>
                                      </p:cBhvr>
                                      <p:to>
                                        <p:strVal val="visible"/>
                                      </p:to>
                                    </p:set>
                                    <p:animEffect transition="in" filter="blinds(horizontal)">
                                      <p:cBhvr>
                                        <p:cTn id="7" dur="500"/>
                                        <p:tgtEl>
                                          <p:spTgt spid="2560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25607"/>
                                        </p:tgtEl>
                                        <p:attrNameLst>
                                          <p:attrName>style.visibility</p:attrName>
                                        </p:attrNameLst>
                                      </p:cBhvr>
                                      <p:to>
                                        <p:strVal val="visible"/>
                                      </p:to>
                                    </p:set>
                                    <p:animEffect transition="in" filter="dissolve">
                                      <p:cBhvr>
                                        <p:cTn id="12" dur="500"/>
                                        <p:tgtEl>
                                          <p:spTgt spid="256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4" grpId="0" autoUpdateAnimBg="0"/>
      <p:bldP spid="25607"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SITUATION 8</a:t>
            </a:r>
          </a:p>
        </p:txBody>
      </p:sp>
      <p:sp>
        <p:nvSpPr>
          <p:cNvPr id="26627"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26628" name="Text Box 4"/>
          <p:cNvSpPr txBox="1">
            <a:spLocks noChangeArrowheads="1"/>
          </p:cNvSpPr>
          <p:nvPr/>
        </p:nvSpPr>
        <p:spPr bwMode="auto">
          <a:xfrm>
            <a:off x="323850" y="1341438"/>
            <a:ext cx="8512175" cy="1676400"/>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It is June 30</a:t>
            </a:r>
            <a:r>
              <a:rPr lang="en-GB" sz="3200" baseline="30000">
                <a:solidFill>
                  <a:schemeClr val="tx1"/>
                </a:solidFill>
              </a:rPr>
              <a:t>th</a:t>
            </a:r>
            <a:r>
              <a:rPr lang="en-GB" sz="3200">
                <a:solidFill>
                  <a:schemeClr val="tx1"/>
                </a:solidFill>
              </a:rPr>
              <a:t> 1934. Hitler organises a purge, (Night of the Long Knives) in which hundreds are murdered.</a:t>
            </a:r>
            <a:r>
              <a:rPr lang="en-GB" b="1">
                <a:solidFill>
                  <a:schemeClr val="tx1"/>
                </a:solidFill>
                <a:latin typeface="Times New Roman" pitchFamily="18" charset="0"/>
              </a:rPr>
              <a:t>	</a:t>
            </a:r>
          </a:p>
        </p:txBody>
      </p:sp>
      <p:pic>
        <p:nvPicPr>
          <p:cNvPr id="26629"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26630"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26631"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28"/>
                                        </p:tgtEl>
                                        <p:attrNameLst>
                                          <p:attrName>style.visibility</p:attrName>
                                        </p:attrNameLst>
                                      </p:cBhvr>
                                      <p:to>
                                        <p:strVal val="visible"/>
                                      </p:to>
                                    </p:set>
                                    <p:animEffect transition="in" filter="blinds(horizontal)">
                                      <p:cBhvr>
                                        <p:cTn id="7" dur="500"/>
                                        <p:tgtEl>
                                          <p:spTgt spid="2662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26631"/>
                                        </p:tgtEl>
                                        <p:attrNameLst>
                                          <p:attrName>style.visibility</p:attrName>
                                        </p:attrNameLst>
                                      </p:cBhvr>
                                      <p:to>
                                        <p:strVal val="visible"/>
                                      </p:to>
                                    </p:set>
                                    <p:animEffect transition="in" filter="dissolve">
                                      <p:cBhvr>
                                        <p:cTn id="12" dur="500"/>
                                        <p:tgtEl>
                                          <p:spTgt spid="266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autoUpdateAnimBg="0"/>
      <p:bldP spid="26631"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ACT NOW</a:t>
            </a:r>
          </a:p>
        </p:txBody>
      </p:sp>
      <p:sp>
        <p:nvSpPr>
          <p:cNvPr id="27651"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27652" name="Text Box 4"/>
          <p:cNvSpPr txBox="1">
            <a:spLocks noChangeArrowheads="1"/>
          </p:cNvSpPr>
          <p:nvPr/>
        </p:nvSpPr>
        <p:spPr bwMode="auto">
          <a:xfrm>
            <a:off x="381000" y="838200"/>
            <a:ext cx="8512175" cy="5211763"/>
          </a:xfrm>
          <a:prstGeom prst="rect">
            <a:avLst/>
          </a:prstGeom>
          <a:noFill/>
          <a:ln w="9525">
            <a:noFill/>
            <a:miter lim="800000"/>
            <a:headEnd/>
            <a:tailEnd/>
          </a:ln>
          <a:effectLst/>
        </p:spPr>
        <p:txBody>
          <a:bodyPr>
            <a:spAutoFit/>
          </a:bodyPr>
          <a:lstStyle/>
          <a:p>
            <a:pPr marL="342900" indent="-342900">
              <a:spcBef>
                <a:spcPct val="50000"/>
              </a:spcBef>
              <a:buFontTx/>
              <a:buAutoNum type="alphaUcParenR"/>
            </a:pPr>
            <a:r>
              <a:rPr lang="en-GB" sz="3200">
                <a:solidFill>
                  <a:schemeClr val="tx1"/>
                </a:solidFill>
              </a:rPr>
              <a:t>You believe the much publicised official statement that explains away the affair.</a:t>
            </a:r>
          </a:p>
          <a:p>
            <a:pPr marL="342900" indent="-342900">
              <a:spcBef>
                <a:spcPct val="50000"/>
              </a:spcBef>
              <a:buFontTx/>
              <a:buAutoNum type="alphaUcParenR"/>
            </a:pPr>
            <a:r>
              <a:rPr lang="en-GB" sz="3200">
                <a:solidFill>
                  <a:schemeClr val="tx1"/>
                </a:solidFill>
              </a:rPr>
              <a:t>You discuss the matter repeatedly with friends but cannot decide on any action</a:t>
            </a:r>
          </a:p>
          <a:p>
            <a:pPr marL="342900" indent="-342900">
              <a:spcBef>
                <a:spcPct val="50000"/>
              </a:spcBef>
              <a:buFontTx/>
              <a:buAutoNum type="alphaUcParenR"/>
            </a:pPr>
            <a:r>
              <a:rPr lang="en-GB" sz="3200">
                <a:solidFill>
                  <a:schemeClr val="tx1"/>
                </a:solidFill>
              </a:rPr>
              <a:t>You sign a petition calling for an inquiry into the affair</a:t>
            </a:r>
          </a:p>
          <a:p>
            <a:pPr marL="342900" indent="-342900">
              <a:spcBef>
                <a:spcPct val="50000"/>
              </a:spcBef>
              <a:buFontTx/>
              <a:buAutoNum type="alphaUcParenR"/>
            </a:pPr>
            <a:r>
              <a:rPr lang="en-GB" sz="3200">
                <a:solidFill>
                  <a:schemeClr val="tx1"/>
                </a:solidFill>
              </a:rPr>
              <a:t>You join a secret group which seeks to gather and publish all available evidence on the killings.</a:t>
            </a:r>
          </a:p>
        </p:txBody>
      </p:sp>
      <p:pic>
        <p:nvPicPr>
          <p:cNvPr id="27653"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27654"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27655"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652"/>
                                        </p:tgtEl>
                                        <p:attrNameLst>
                                          <p:attrName>style.visibility</p:attrName>
                                        </p:attrNameLst>
                                      </p:cBhvr>
                                      <p:to>
                                        <p:strVal val="visible"/>
                                      </p:to>
                                    </p:set>
                                    <p:animEffect transition="in" filter="blinds(horizontal)">
                                      <p:cBhvr>
                                        <p:cTn id="7" dur="500"/>
                                        <p:tgtEl>
                                          <p:spTgt spid="2765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27655"/>
                                        </p:tgtEl>
                                        <p:attrNameLst>
                                          <p:attrName>style.visibility</p:attrName>
                                        </p:attrNameLst>
                                      </p:cBhvr>
                                      <p:to>
                                        <p:strVal val="visible"/>
                                      </p:to>
                                    </p:set>
                                    <p:animEffect transition="in" filter="dissolve">
                                      <p:cBhvr>
                                        <p:cTn id="12" dur="500"/>
                                        <p:tgtEl>
                                          <p:spTgt spid="276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autoUpdateAnimBg="0"/>
      <p:bldP spid="27655"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RESULTS</a:t>
            </a:r>
          </a:p>
        </p:txBody>
      </p:sp>
      <p:sp>
        <p:nvSpPr>
          <p:cNvPr id="28675"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28676" name="Text Box 4"/>
          <p:cNvSpPr txBox="1">
            <a:spLocks noChangeArrowheads="1"/>
          </p:cNvSpPr>
          <p:nvPr/>
        </p:nvSpPr>
        <p:spPr bwMode="auto">
          <a:xfrm>
            <a:off x="381000" y="838200"/>
            <a:ext cx="8367713" cy="5334000"/>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Hitler declared he was forced to act to prevent a conspiracy against him and the security of Germany</a:t>
            </a:r>
          </a:p>
          <a:p>
            <a:pPr>
              <a:spcBef>
                <a:spcPct val="50000"/>
              </a:spcBef>
            </a:pPr>
            <a:r>
              <a:rPr lang="en-GB" sz="3200">
                <a:solidFill>
                  <a:schemeClr val="tx1"/>
                </a:solidFill>
              </a:rPr>
              <a:t>A and B: You are alright for the present</a:t>
            </a:r>
          </a:p>
          <a:p>
            <a:pPr>
              <a:spcBef>
                <a:spcPct val="50000"/>
              </a:spcBef>
            </a:pPr>
            <a:r>
              <a:rPr lang="en-GB" sz="3200">
                <a:solidFill>
                  <a:schemeClr val="tx1"/>
                </a:solidFill>
              </a:rPr>
              <a:t>C) Fear prevents the petition from ever being presented. Lose 1 Anxiety card</a:t>
            </a:r>
          </a:p>
          <a:p>
            <a:pPr>
              <a:spcBef>
                <a:spcPct val="50000"/>
              </a:spcBef>
            </a:pPr>
            <a:r>
              <a:rPr lang="en-GB" sz="3200">
                <a:solidFill>
                  <a:schemeClr val="tx1"/>
                </a:solidFill>
              </a:rPr>
              <a:t>D) Witnesses to the killings refuse to speak. Your group finds it impossible to ever gauge the number killed. Lose 2 Anxiety cards.</a:t>
            </a:r>
            <a:r>
              <a:rPr lang="en-GB" b="1">
                <a:solidFill>
                  <a:schemeClr val="tx1"/>
                </a:solidFill>
                <a:latin typeface="Times New Roman" pitchFamily="18" charset="0"/>
              </a:rPr>
              <a:t>	</a:t>
            </a:r>
          </a:p>
        </p:txBody>
      </p:sp>
      <p:pic>
        <p:nvPicPr>
          <p:cNvPr id="28677"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28678"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28679"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676"/>
                                        </p:tgtEl>
                                        <p:attrNameLst>
                                          <p:attrName>style.visibility</p:attrName>
                                        </p:attrNameLst>
                                      </p:cBhvr>
                                      <p:to>
                                        <p:strVal val="visible"/>
                                      </p:to>
                                    </p:set>
                                    <p:animEffect transition="in" filter="blinds(horizontal)">
                                      <p:cBhvr>
                                        <p:cTn id="7" dur="500"/>
                                        <p:tgtEl>
                                          <p:spTgt spid="2867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28679"/>
                                        </p:tgtEl>
                                        <p:attrNameLst>
                                          <p:attrName>style.visibility</p:attrName>
                                        </p:attrNameLst>
                                      </p:cBhvr>
                                      <p:to>
                                        <p:strVal val="visible"/>
                                      </p:to>
                                    </p:set>
                                    <p:animEffect transition="in" filter="dissolve">
                                      <p:cBhvr>
                                        <p:cTn id="12" dur="500"/>
                                        <p:tgtEl>
                                          <p:spTgt spid="286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autoUpdateAnimBg="0"/>
      <p:bldP spid="28679"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SITUATION 9</a:t>
            </a:r>
          </a:p>
        </p:txBody>
      </p:sp>
      <p:sp>
        <p:nvSpPr>
          <p:cNvPr id="30723"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30724" name="Text Box 4"/>
          <p:cNvSpPr txBox="1">
            <a:spLocks noChangeArrowheads="1"/>
          </p:cNvSpPr>
          <p:nvPr/>
        </p:nvSpPr>
        <p:spPr bwMode="auto">
          <a:xfrm>
            <a:off x="468313" y="1628775"/>
            <a:ext cx="8294687" cy="3138488"/>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Reports are circulating of torture and death of prisoners in the custody of the Gestapo. People are detained for indefinite periods without charge or trial. Concentration camps have been established at Dachau, Sachsenhausen and Oranienburg.</a:t>
            </a:r>
            <a:r>
              <a:rPr lang="en-GB" b="1">
                <a:solidFill>
                  <a:schemeClr val="tx1"/>
                </a:solidFill>
                <a:latin typeface="Times New Roman" pitchFamily="18" charset="0"/>
              </a:rPr>
              <a:t>	</a:t>
            </a:r>
          </a:p>
        </p:txBody>
      </p:sp>
      <p:pic>
        <p:nvPicPr>
          <p:cNvPr id="30725"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30726"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30727"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24"/>
                                        </p:tgtEl>
                                        <p:attrNameLst>
                                          <p:attrName>style.visibility</p:attrName>
                                        </p:attrNameLst>
                                      </p:cBhvr>
                                      <p:to>
                                        <p:strVal val="visible"/>
                                      </p:to>
                                    </p:set>
                                    <p:animEffect transition="in" filter="blinds(horizontal)">
                                      <p:cBhvr>
                                        <p:cTn id="7" dur="500"/>
                                        <p:tgtEl>
                                          <p:spTgt spid="3072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30727"/>
                                        </p:tgtEl>
                                        <p:attrNameLst>
                                          <p:attrName>style.visibility</p:attrName>
                                        </p:attrNameLst>
                                      </p:cBhvr>
                                      <p:to>
                                        <p:strVal val="visible"/>
                                      </p:to>
                                    </p:set>
                                    <p:animEffect transition="in" filter="dissolve">
                                      <p:cBhvr>
                                        <p:cTn id="12" dur="500"/>
                                        <p:tgtEl>
                                          <p:spTgt spid="307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autoUpdateAnimBg="0"/>
      <p:bldP spid="30727"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ACT NOW</a:t>
            </a:r>
          </a:p>
        </p:txBody>
      </p:sp>
      <p:sp>
        <p:nvSpPr>
          <p:cNvPr id="31747"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31748" name="Text Box 4"/>
          <p:cNvSpPr txBox="1">
            <a:spLocks noChangeArrowheads="1"/>
          </p:cNvSpPr>
          <p:nvPr/>
        </p:nvSpPr>
        <p:spPr bwMode="auto">
          <a:xfrm>
            <a:off x="381000" y="838200"/>
            <a:ext cx="8512175" cy="4967288"/>
          </a:xfrm>
          <a:prstGeom prst="rect">
            <a:avLst/>
          </a:prstGeom>
          <a:noFill/>
          <a:ln w="9525">
            <a:noFill/>
            <a:miter lim="800000"/>
            <a:headEnd/>
            <a:tailEnd/>
          </a:ln>
          <a:effectLst/>
        </p:spPr>
        <p:txBody>
          <a:bodyPr>
            <a:spAutoFit/>
          </a:bodyPr>
          <a:lstStyle/>
          <a:p>
            <a:pPr marL="342900" indent="-342900">
              <a:spcBef>
                <a:spcPct val="50000"/>
              </a:spcBef>
              <a:buFontTx/>
              <a:buAutoNum type="alphaUcParenR"/>
            </a:pPr>
            <a:r>
              <a:rPr lang="en-GB" sz="3200">
                <a:solidFill>
                  <a:schemeClr val="tx1"/>
                </a:solidFill>
              </a:rPr>
              <a:t>You agree to have you name added to the list calling for an investigation into the treatment of political prisoners.</a:t>
            </a:r>
          </a:p>
          <a:p>
            <a:pPr marL="342900" indent="-342900">
              <a:spcBef>
                <a:spcPct val="50000"/>
              </a:spcBef>
            </a:pPr>
            <a:r>
              <a:rPr lang="en-GB" sz="3200">
                <a:solidFill>
                  <a:schemeClr val="tx1"/>
                </a:solidFill>
              </a:rPr>
              <a:t>B)You disbelieve the rumour about the deaths because you are confident that such things would not happen.</a:t>
            </a:r>
          </a:p>
          <a:p>
            <a:pPr marL="342900" indent="-342900">
              <a:spcBef>
                <a:spcPct val="50000"/>
              </a:spcBef>
            </a:pPr>
            <a:r>
              <a:rPr lang="en-GB" sz="3200">
                <a:solidFill>
                  <a:schemeClr val="tx1"/>
                </a:solidFill>
              </a:rPr>
              <a:t>C) You give money to a civil liberties group which is endeavouring to publish a booklet that documents such cases.</a:t>
            </a:r>
            <a:endParaRPr lang="en-GB" b="1">
              <a:solidFill>
                <a:schemeClr val="tx1"/>
              </a:solidFill>
              <a:latin typeface="Times New Roman" pitchFamily="18" charset="0"/>
            </a:endParaRPr>
          </a:p>
        </p:txBody>
      </p:sp>
      <p:pic>
        <p:nvPicPr>
          <p:cNvPr id="31749"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31750"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31751"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748"/>
                                        </p:tgtEl>
                                        <p:attrNameLst>
                                          <p:attrName>style.visibility</p:attrName>
                                        </p:attrNameLst>
                                      </p:cBhvr>
                                      <p:to>
                                        <p:strVal val="visible"/>
                                      </p:to>
                                    </p:set>
                                    <p:animEffect transition="in" filter="blinds(horizontal)">
                                      <p:cBhvr>
                                        <p:cTn id="7" dur="500"/>
                                        <p:tgtEl>
                                          <p:spTgt spid="3174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31751"/>
                                        </p:tgtEl>
                                        <p:attrNameLst>
                                          <p:attrName>style.visibility</p:attrName>
                                        </p:attrNameLst>
                                      </p:cBhvr>
                                      <p:to>
                                        <p:strVal val="visible"/>
                                      </p:to>
                                    </p:set>
                                    <p:animEffect transition="in" filter="dissolve">
                                      <p:cBhvr>
                                        <p:cTn id="12" dur="500"/>
                                        <p:tgtEl>
                                          <p:spTgt spid="317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8" grpId="0" autoUpdateAnimBg="0"/>
      <p:bldP spid="31751"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RESULTS</a:t>
            </a:r>
          </a:p>
        </p:txBody>
      </p:sp>
      <p:sp>
        <p:nvSpPr>
          <p:cNvPr id="33795"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33796" name="Text Box 4"/>
          <p:cNvSpPr txBox="1">
            <a:spLocks noChangeArrowheads="1"/>
          </p:cNvSpPr>
          <p:nvPr/>
        </p:nvSpPr>
        <p:spPr bwMode="auto">
          <a:xfrm>
            <a:off x="395288" y="1125538"/>
            <a:ext cx="8512175" cy="3505200"/>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A and C:</a:t>
            </a:r>
          </a:p>
          <a:p>
            <a:pPr>
              <a:spcBef>
                <a:spcPct val="50000"/>
              </a:spcBef>
            </a:pPr>
            <a:r>
              <a:rPr lang="en-GB" sz="3200">
                <a:solidFill>
                  <a:schemeClr val="tx1"/>
                </a:solidFill>
              </a:rPr>
              <a:t>The Gestapo arrest all those associated with either project. After several hours of questioning you are released. Lose 1 Anxiety card</a:t>
            </a:r>
          </a:p>
          <a:p>
            <a:pPr>
              <a:spcBef>
                <a:spcPct val="50000"/>
              </a:spcBef>
            </a:pPr>
            <a:r>
              <a:rPr lang="en-GB" sz="3200">
                <a:solidFill>
                  <a:schemeClr val="tx1"/>
                </a:solidFill>
              </a:rPr>
              <a:t>B) You are alright for the present</a:t>
            </a:r>
          </a:p>
        </p:txBody>
      </p:sp>
      <p:pic>
        <p:nvPicPr>
          <p:cNvPr id="33797"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33798"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33799"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796"/>
                                        </p:tgtEl>
                                        <p:attrNameLst>
                                          <p:attrName>style.visibility</p:attrName>
                                        </p:attrNameLst>
                                      </p:cBhvr>
                                      <p:to>
                                        <p:strVal val="visible"/>
                                      </p:to>
                                    </p:set>
                                    <p:animEffect transition="in" filter="blinds(horizontal)">
                                      <p:cBhvr>
                                        <p:cTn id="7" dur="500"/>
                                        <p:tgtEl>
                                          <p:spTgt spid="3379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33799"/>
                                        </p:tgtEl>
                                        <p:attrNameLst>
                                          <p:attrName>style.visibility</p:attrName>
                                        </p:attrNameLst>
                                      </p:cBhvr>
                                      <p:to>
                                        <p:strVal val="visible"/>
                                      </p:to>
                                    </p:set>
                                    <p:animEffect transition="in" filter="dissolve">
                                      <p:cBhvr>
                                        <p:cTn id="12" dur="500"/>
                                        <p:tgtEl>
                                          <p:spTgt spid="337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autoUpdateAnimBg="0"/>
      <p:bldP spid="33799"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SITUATION 10</a:t>
            </a:r>
          </a:p>
        </p:txBody>
      </p:sp>
      <p:sp>
        <p:nvSpPr>
          <p:cNvPr id="34819"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34820" name="Text Box 4"/>
          <p:cNvSpPr txBox="1">
            <a:spLocks noChangeArrowheads="1"/>
          </p:cNvSpPr>
          <p:nvPr/>
        </p:nvSpPr>
        <p:spPr bwMode="auto">
          <a:xfrm>
            <a:off x="395288" y="1484313"/>
            <a:ext cx="8512175" cy="3503612"/>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You are working as a teacher in a local school. A new set of texts is brought out to replace the books you are currently using. The new books are really thinly disguised as government propaganda designed to indoctrinate children in Nazi attitudes and anti-Semitism.</a:t>
            </a:r>
          </a:p>
        </p:txBody>
      </p:sp>
      <p:pic>
        <p:nvPicPr>
          <p:cNvPr id="34821"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34822"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34823"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820"/>
                                        </p:tgtEl>
                                        <p:attrNameLst>
                                          <p:attrName>style.visibility</p:attrName>
                                        </p:attrNameLst>
                                      </p:cBhvr>
                                      <p:to>
                                        <p:strVal val="visible"/>
                                      </p:to>
                                    </p:set>
                                    <p:animEffect transition="in" filter="blinds(horizontal)">
                                      <p:cBhvr>
                                        <p:cTn id="7" dur="500"/>
                                        <p:tgtEl>
                                          <p:spTgt spid="348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34823"/>
                                        </p:tgtEl>
                                        <p:attrNameLst>
                                          <p:attrName>style.visibility</p:attrName>
                                        </p:attrNameLst>
                                      </p:cBhvr>
                                      <p:to>
                                        <p:strVal val="visible"/>
                                      </p:to>
                                    </p:set>
                                    <p:animEffect transition="in" filter="dissolve">
                                      <p:cBhvr>
                                        <p:cTn id="12" dur="500"/>
                                        <p:tgtEl>
                                          <p:spTgt spid="348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0" autoUpdateAnimBg="0"/>
      <p:bldP spid="34823"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ACT NOW</a:t>
            </a:r>
          </a:p>
        </p:txBody>
      </p:sp>
      <p:sp>
        <p:nvSpPr>
          <p:cNvPr id="35843"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35844" name="Text Box 4"/>
          <p:cNvSpPr txBox="1">
            <a:spLocks noChangeArrowheads="1"/>
          </p:cNvSpPr>
          <p:nvPr/>
        </p:nvSpPr>
        <p:spPr bwMode="auto">
          <a:xfrm>
            <a:off x="323850" y="671513"/>
            <a:ext cx="8583613" cy="6186487"/>
          </a:xfrm>
          <a:prstGeom prst="rect">
            <a:avLst/>
          </a:prstGeom>
          <a:noFill/>
          <a:ln w="9525">
            <a:noFill/>
            <a:miter lim="800000"/>
            <a:headEnd/>
            <a:tailEnd/>
          </a:ln>
          <a:effectLst/>
        </p:spPr>
        <p:txBody>
          <a:bodyPr>
            <a:spAutoFit/>
          </a:bodyPr>
          <a:lstStyle/>
          <a:p>
            <a:pPr marL="342900" indent="-342900">
              <a:spcBef>
                <a:spcPct val="50000"/>
              </a:spcBef>
              <a:buFontTx/>
              <a:buAutoNum type="alphaUcParenR"/>
            </a:pPr>
            <a:r>
              <a:rPr lang="en-GB" sz="3200">
                <a:solidFill>
                  <a:schemeClr val="tx1"/>
                </a:solidFill>
              </a:rPr>
              <a:t>You go on using the old books and hope no-one will notice</a:t>
            </a:r>
          </a:p>
          <a:p>
            <a:pPr marL="342900" indent="-342900">
              <a:spcBef>
                <a:spcPct val="50000"/>
              </a:spcBef>
              <a:buFontTx/>
              <a:buAutoNum type="alphaUcParenR"/>
            </a:pPr>
            <a:r>
              <a:rPr lang="en-GB" sz="3200">
                <a:solidFill>
                  <a:schemeClr val="tx1"/>
                </a:solidFill>
              </a:rPr>
              <a:t>You complain to the Principal of the school and say you will refuse to use the new books.</a:t>
            </a:r>
          </a:p>
          <a:p>
            <a:pPr marL="342900" indent="-342900">
              <a:spcBef>
                <a:spcPct val="50000"/>
              </a:spcBef>
              <a:buFontTx/>
              <a:buAutoNum type="alphaUcParenR"/>
            </a:pPr>
            <a:r>
              <a:rPr lang="en-GB" sz="3200">
                <a:solidFill>
                  <a:schemeClr val="tx1"/>
                </a:solidFill>
              </a:rPr>
              <a:t>You give up using the old books and you keep the new ones in your classroom but you seldom use them</a:t>
            </a:r>
          </a:p>
          <a:p>
            <a:pPr marL="342900" indent="-342900">
              <a:spcBef>
                <a:spcPct val="50000"/>
              </a:spcBef>
              <a:buFontTx/>
              <a:buAutoNum type="alphaUcParenR"/>
            </a:pPr>
            <a:r>
              <a:rPr lang="en-GB" sz="3200">
                <a:solidFill>
                  <a:schemeClr val="tx1"/>
                </a:solidFill>
              </a:rPr>
              <a:t>You use the new books and hope the pupils will realise for themselves how biased they are</a:t>
            </a:r>
          </a:p>
        </p:txBody>
      </p:sp>
      <p:pic>
        <p:nvPicPr>
          <p:cNvPr id="35845"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35846"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35847"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844"/>
                                        </p:tgtEl>
                                        <p:attrNameLst>
                                          <p:attrName>style.visibility</p:attrName>
                                        </p:attrNameLst>
                                      </p:cBhvr>
                                      <p:to>
                                        <p:strVal val="visible"/>
                                      </p:to>
                                    </p:set>
                                    <p:animEffect transition="in" filter="blinds(horizontal)">
                                      <p:cBhvr>
                                        <p:cTn id="7" dur="500"/>
                                        <p:tgtEl>
                                          <p:spTgt spid="3584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35847"/>
                                        </p:tgtEl>
                                        <p:attrNameLst>
                                          <p:attrName>style.visibility</p:attrName>
                                        </p:attrNameLst>
                                      </p:cBhvr>
                                      <p:to>
                                        <p:strVal val="visible"/>
                                      </p:to>
                                    </p:set>
                                    <p:animEffect transition="in" filter="dissolve">
                                      <p:cBhvr>
                                        <p:cTn id="12" dur="500"/>
                                        <p:tgtEl>
                                          <p:spTgt spid="358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autoUpdateAnimBg="0"/>
      <p:bldP spid="35847"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RESULTS</a:t>
            </a:r>
          </a:p>
        </p:txBody>
      </p:sp>
      <p:sp>
        <p:nvSpPr>
          <p:cNvPr id="36867"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36868" name="Text Box 4"/>
          <p:cNvSpPr txBox="1">
            <a:spLocks noChangeArrowheads="1"/>
          </p:cNvSpPr>
          <p:nvPr/>
        </p:nvSpPr>
        <p:spPr bwMode="auto">
          <a:xfrm>
            <a:off x="381000" y="838200"/>
            <a:ext cx="8583613" cy="5821363"/>
          </a:xfrm>
          <a:prstGeom prst="rect">
            <a:avLst/>
          </a:prstGeom>
          <a:noFill/>
          <a:ln w="9525">
            <a:noFill/>
            <a:miter lim="800000"/>
            <a:headEnd/>
            <a:tailEnd/>
          </a:ln>
          <a:effectLst/>
        </p:spPr>
        <p:txBody>
          <a:bodyPr>
            <a:spAutoFit/>
          </a:bodyPr>
          <a:lstStyle/>
          <a:p>
            <a:pPr marL="342900" indent="-342900">
              <a:spcBef>
                <a:spcPct val="50000"/>
              </a:spcBef>
              <a:buFontTx/>
              <a:buAutoNum type="alphaUcParenR"/>
            </a:pPr>
            <a:r>
              <a:rPr lang="en-GB" sz="3200">
                <a:solidFill>
                  <a:schemeClr val="tx1"/>
                </a:solidFill>
              </a:rPr>
              <a:t>It is discovered that you are not using the books and your employment is terminated at the end of the term. Lose 1 Income card</a:t>
            </a:r>
          </a:p>
          <a:p>
            <a:pPr marL="342900" indent="-342900">
              <a:spcBef>
                <a:spcPct val="50000"/>
              </a:spcBef>
              <a:buFontTx/>
              <a:buAutoNum type="alphaUcParenR"/>
            </a:pPr>
            <a:r>
              <a:rPr lang="en-GB" sz="3200">
                <a:solidFill>
                  <a:schemeClr val="tx1"/>
                </a:solidFill>
              </a:rPr>
              <a:t>Your employment is terminated immediately for trumped up reasons and your teachers certificate is cancelled. Lose 1 Income card and 1 Anxiety card</a:t>
            </a:r>
          </a:p>
          <a:p>
            <a:pPr marL="342900" indent="-342900">
              <a:spcBef>
                <a:spcPct val="50000"/>
              </a:spcBef>
            </a:pPr>
            <a:r>
              <a:rPr lang="en-GB" sz="3200">
                <a:solidFill>
                  <a:schemeClr val="tx1"/>
                </a:solidFill>
              </a:rPr>
              <a:t>C and D:You are alright for the present</a:t>
            </a:r>
          </a:p>
          <a:p>
            <a:pPr marL="342900" indent="-342900">
              <a:spcBef>
                <a:spcPct val="50000"/>
              </a:spcBef>
            </a:pPr>
            <a:r>
              <a:rPr lang="en-GB" sz="3200">
                <a:solidFill>
                  <a:schemeClr val="tx1"/>
                </a:solidFill>
              </a:rPr>
              <a:t>HOPE: </a:t>
            </a:r>
            <a:r>
              <a:rPr lang="en-GB" sz="2000">
                <a:solidFill>
                  <a:schemeClr val="tx1"/>
                </a:solidFill>
              </a:rPr>
              <a:t>An old school friend becomes Gaultier in your area and appears friendly towards you and your family. You can pick up 1 imprisonment card provided you have no more than 2 left.</a:t>
            </a:r>
            <a:endParaRPr lang="en-GB" sz="3200">
              <a:solidFill>
                <a:schemeClr val="tx1"/>
              </a:solidFill>
            </a:endParaRPr>
          </a:p>
        </p:txBody>
      </p:sp>
      <p:pic>
        <p:nvPicPr>
          <p:cNvPr id="36869"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36870"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36871"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868"/>
                                        </p:tgtEl>
                                        <p:attrNameLst>
                                          <p:attrName>style.visibility</p:attrName>
                                        </p:attrNameLst>
                                      </p:cBhvr>
                                      <p:to>
                                        <p:strVal val="visible"/>
                                      </p:to>
                                    </p:set>
                                    <p:animEffect transition="in" filter="blinds(horizontal)">
                                      <p:cBhvr>
                                        <p:cTn id="7" dur="500"/>
                                        <p:tgtEl>
                                          <p:spTgt spid="3686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36871"/>
                                        </p:tgtEl>
                                        <p:attrNameLst>
                                          <p:attrName>style.visibility</p:attrName>
                                        </p:attrNameLst>
                                      </p:cBhvr>
                                      <p:to>
                                        <p:strVal val="visible"/>
                                      </p:to>
                                    </p:set>
                                    <p:animEffect transition="in" filter="dissolve">
                                      <p:cBhvr>
                                        <p:cTn id="12" dur="500"/>
                                        <p:tgtEl>
                                          <p:spTgt spid="368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autoUpdateAnimBg="0"/>
      <p:bldP spid="36871"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SITUATION 11</a:t>
            </a:r>
          </a:p>
        </p:txBody>
      </p:sp>
      <p:sp>
        <p:nvSpPr>
          <p:cNvPr id="37891"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37892" name="Text Box 4"/>
          <p:cNvSpPr txBox="1">
            <a:spLocks noChangeArrowheads="1"/>
          </p:cNvSpPr>
          <p:nvPr/>
        </p:nvSpPr>
        <p:spPr bwMode="auto">
          <a:xfrm>
            <a:off x="395288" y="1484313"/>
            <a:ext cx="8439150" cy="3016250"/>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The Church you belong to has started working with families of Concentration camp prisoners and produces an underground newspaper which highlights the suffering of those people. You are asked to store the printing equipment in your garage.</a:t>
            </a:r>
          </a:p>
        </p:txBody>
      </p:sp>
      <p:pic>
        <p:nvPicPr>
          <p:cNvPr id="37893"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37894"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37895"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892"/>
                                        </p:tgtEl>
                                        <p:attrNameLst>
                                          <p:attrName>style.visibility</p:attrName>
                                        </p:attrNameLst>
                                      </p:cBhvr>
                                      <p:to>
                                        <p:strVal val="visible"/>
                                      </p:to>
                                    </p:set>
                                    <p:animEffect transition="in" filter="blinds(horizontal)">
                                      <p:cBhvr>
                                        <p:cTn id="7" dur="500"/>
                                        <p:tgtEl>
                                          <p:spTgt spid="3789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37895"/>
                                        </p:tgtEl>
                                        <p:attrNameLst>
                                          <p:attrName>style.visibility</p:attrName>
                                        </p:attrNameLst>
                                      </p:cBhvr>
                                      <p:to>
                                        <p:strVal val="visible"/>
                                      </p:to>
                                    </p:set>
                                    <p:animEffect transition="in" filter="dissolve">
                                      <p:cBhvr>
                                        <p:cTn id="12" dur="500"/>
                                        <p:tgtEl>
                                          <p:spTgt spid="378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autoUpdateAnimBg="0"/>
      <p:bldP spid="37895"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ACT NOW</a:t>
            </a:r>
          </a:p>
        </p:txBody>
      </p:sp>
      <p:sp>
        <p:nvSpPr>
          <p:cNvPr id="38915"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38916" name="Text Box 4"/>
          <p:cNvSpPr txBox="1">
            <a:spLocks noChangeArrowheads="1"/>
          </p:cNvSpPr>
          <p:nvPr/>
        </p:nvSpPr>
        <p:spPr bwMode="auto">
          <a:xfrm>
            <a:off x="381000" y="838200"/>
            <a:ext cx="8512175" cy="5699125"/>
          </a:xfrm>
          <a:prstGeom prst="rect">
            <a:avLst/>
          </a:prstGeom>
          <a:noFill/>
          <a:ln w="9525">
            <a:noFill/>
            <a:miter lim="800000"/>
            <a:headEnd/>
            <a:tailEnd/>
          </a:ln>
          <a:effectLst/>
        </p:spPr>
        <p:txBody>
          <a:bodyPr>
            <a:spAutoFit/>
          </a:bodyPr>
          <a:lstStyle/>
          <a:p>
            <a:pPr marL="342900" indent="-342900">
              <a:spcBef>
                <a:spcPct val="50000"/>
              </a:spcBef>
              <a:buFontTx/>
              <a:buAutoNum type="alphaUcParenR"/>
            </a:pPr>
            <a:r>
              <a:rPr lang="en-GB" sz="3200">
                <a:solidFill>
                  <a:schemeClr val="tx1"/>
                </a:solidFill>
              </a:rPr>
              <a:t>You refuse the request as you don’t see any connection between the life of the church and a radical newspaper.</a:t>
            </a:r>
          </a:p>
          <a:p>
            <a:pPr marL="342900" indent="-342900">
              <a:spcBef>
                <a:spcPct val="50000"/>
              </a:spcBef>
              <a:buFontTx/>
              <a:buAutoNum type="alphaUcParenR"/>
            </a:pPr>
            <a:r>
              <a:rPr lang="en-GB" sz="3200">
                <a:solidFill>
                  <a:schemeClr val="tx1"/>
                </a:solidFill>
              </a:rPr>
              <a:t>You agree to the request but take no other part in the project</a:t>
            </a:r>
          </a:p>
          <a:p>
            <a:pPr marL="342900" indent="-342900">
              <a:spcBef>
                <a:spcPct val="50000"/>
              </a:spcBef>
              <a:buFontTx/>
              <a:buAutoNum type="alphaUcParenR"/>
            </a:pPr>
            <a:r>
              <a:rPr lang="en-GB" sz="3200">
                <a:solidFill>
                  <a:schemeClr val="tx1"/>
                </a:solidFill>
              </a:rPr>
              <a:t>You become very enthusiastic about the newspaper and help with its distribution</a:t>
            </a:r>
          </a:p>
          <a:p>
            <a:pPr marL="342900" indent="-342900">
              <a:spcBef>
                <a:spcPct val="50000"/>
              </a:spcBef>
              <a:buFontTx/>
              <a:buAutoNum type="alphaUcParenR"/>
            </a:pPr>
            <a:r>
              <a:rPr lang="en-GB" sz="3200">
                <a:solidFill>
                  <a:schemeClr val="tx1"/>
                </a:solidFill>
              </a:rPr>
              <a:t>You decide to leave your Church as you feel its concern with politics has nothing to do with religion</a:t>
            </a:r>
          </a:p>
        </p:txBody>
      </p:sp>
      <p:pic>
        <p:nvPicPr>
          <p:cNvPr id="38917"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38918"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38919"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916"/>
                                        </p:tgtEl>
                                        <p:attrNameLst>
                                          <p:attrName>style.visibility</p:attrName>
                                        </p:attrNameLst>
                                      </p:cBhvr>
                                      <p:to>
                                        <p:strVal val="visible"/>
                                      </p:to>
                                    </p:set>
                                    <p:animEffect transition="in" filter="blinds(horizontal)">
                                      <p:cBhvr>
                                        <p:cTn id="7" dur="500"/>
                                        <p:tgtEl>
                                          <p:spTgt spid="3891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38919"/>
                                        </p:tgtEl>
                                        <p:attrNameLst>
                                          <p:attrName>style.visibility</p:attrName>
                                        </p:attrNameLst>
                                      </p:cBhvr>
                                      <p:to>
                                        <p:strVal val="visible"/>
                                      </p:to>
                                    </p:set>
                                    <p:animEffect transition="in" filter="dissolve">
                                      <p:cBhvr>
                                        <p:cTn id="12" dur="500"/>
                                        <p:tgtEl>
                                          <p:spTgt spid="389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autoUpdateAnimBg="0"/>
      <p:bldP spid="38919"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RESULTS</a:t>
            </a:r>
          </a:p>
        </p:txBody>
      </p:sp>
      <p:sp>
        <p:nvSpPr>
          <p:cNvPr id="39939"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39940" name="Text Box 4"/>
          <p:cNvSpPr txBox="1">
            <a:spLocks noChangeArrowheads="1"/>
          </p:cNvSpPr>
          <p:nvPr/>
        </p:nvSpPr>
        <p:spPr bwMode="auto">
          <a:xfrm>
            <a:off x="381000" y="838200"/>
            <a:ext cx="8512175" cy="5697538"/>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A and D: The minister of your Church is arrested. At the Gestapo headquarters he is tortured to give information about suspected people. His screams are relayed down the phone to his wife who is forced to listen from her own home. She has a heart attack and dies. You are very shocked as you feel your decisions were quite wrong in light of this event. Lose 2 Anxiety cards.</a:t>
            </a:r>
          </a:p>
          <a:p>
            <a:pPr>
              <a:spcBef>
                <a:spcPct val="50000"/>
              </a:spcBef>
            </a:pPr>
            <a:r>
              <a:rPr lang="en-GB" sz="3200">
                <a:solidFill>
                  <a:schemeClr val="tx1"/>
                </a:solidFill>
              </a:rPr>
              <a:t>B and C: You venture remains undetected but you are very worried. Lose 1 Anxiety card</a:t>
            </a:r>
          </a:p>
        </p:txBody>
      </p:sp>
      <p:pic>
        <p:nvPicPr>
          <p:cNvPr id="39941"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39942"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39943"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940"/>
                                        </p:tgtEl>
                                        <p:attrNameLst>
                                          <p:attrName>style.visibility</p:attrName>
                                        </p:attrNameLst>
                                      </p:cBhvr>
                                      <p:to>
                                        <p:strVal val="visible"/>
                                      </p:to>
                                    </p:set>
                                    <p:animEffect transition="in" filter="blinds(horizontal)">
                                      <p:cBhvr>
                                        <p:cTn id="7" dur="500"/>
                                        <p:tgtEl>
                                          <p:spTgt spid="3994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39943"/>
                                        </p:tgtEl>
                                        <p:attrNameLst>
                                          <p:attrName>style.visibility</p:attrName>
                                        </p:attrNameLst>
                                      </p:cBhvr>
                                      <p:to>
                                        <p:strVal val="visible"/>
                                      </p:to>
                                    </p:set>
                                    <p:animEffect transition="in" filter="dissolve">
                                      <p:cBhvr>
                                        <p:cTn id="12" dur="500"/>
                                        <p:tgtEl>
                                          <p:spTgt spid="399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autoUpdateAnimBg="0"/>
      <p:bldP spid="39943"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SITUATION 12</a:t>
            </a:r>
          </a:p>
        </p:txBody>
      </p:sp>
      <p:sp>
        <p:nvSpPr>
          <p:cNvPr id="40963"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40964" name="Text Box 4"/>
          <p:cNvSpPr txBox="1">
            <a:spLocks noChangeArrowheads="1"/>
          </p:cNvSpPr>
          <p:nvPr/>
        </p:nvSpPr>
        <p:spPr bwMode="auto">
          <a:xfrm>
            <a:off x="323850" y="1412875"/>
            <a:ext cx="8512175" cy="3138488"/>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The Hitler Youth, a para-military organisation is run by the Government for young people. It is almost compulsory for teenage boys to belong. You do not like the values or attitudes it teaches but you do have sons in the appropriate age group.</a:t>
            </a:r>
            <a:r>
              <a:rPr lang="en-GB" b="1">
                <a:solidFill>
                  <a:schemeClr val="tx1"/>
                </a:solidFill>
                <a:latin typeface="Times New Roman" pitchFamily="18" charset="0"/>
              </a:rPr>
              <a:t>	</a:t>
            </a:r>
          </a:p>
        </p:txBody>
      </p:sp>
      <p:pic>
        <p:nvPicPr>
          <p:cNvPr id="40965"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40966"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40967"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964"/>
                                        </p:tgtEl>
                                        <p:attrNameLst>
                                          <p:attrName>style.visibility</p:attrName>
                                        </p:attrNameLst>
                                      </p:cBhvr>
                                      <p:to>
                                        <p:strVal val="visible"/>
                                      </p:to>
                                    </p:set>
                                    <p:animEffect transition="in" filter="blinds(horizontal)">
                                      <p:cBhvr>
                                        <p:cTn id="7" dur="500"/>
                                        <p:tgtEl>
                                          <p:spTgt spid="4096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40967"/>
                                        </p:tgtEl>
                                        <p:attrNameLst>
                                          <p:attrName>style.visibility</p:attrName>
                                        </p:attrNameLst>
                                      </p:cBhvr>
                                      <p:to>
                                        <p:strVal val="visible"/>
                                      </p:to>
                                    </p:set>
                                    <p:animEffect transition="in" filter="dissolve">
                                      <p:cBhvr>
                                        <p:cTn id="12" dur="500"/>
                                        <p:tgtEl>
                                          <p:spTgt spid="40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autoUpdateAnimBg="0"/>
      <p:bldP spid="40967"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ACT NOW</a:t>
            </a:r>
          </a:p>
        </p:txBody>
      </p:sp>
      <p:sp>
        <p:nvSpPr>
          <p:cNvPr id="41987"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41988" name="Text Box 4"/>
          <p:cNvSpPr txBox="1">
            <a:spLocks noChangeArrowheads="1"/>
          </p:cNvSpPr>
          <p:nvPr/>
        </p:nvSpPr>
        <p:spPr bwMode="auto">
          <a:xfrm>
            <a:off x="179388" y="838200"/>
            <a:ext cx="8785225" cy="4846638"/>
          </a:xfrm>
          <a:prstGeom prst="rect">
            <a:avLst/>
          </a:prstGeom>
          <a:noFill/>
          <a:ln w="9525">
            <a:noFill/>
            <a:miter lim="800000"/>
            <a:headEnd/>
            <a:tailEnd/>
          </a:ln>
          <a:effectLst/>
        </p:spPr>
        <p:txBody>
          <a:bodyPr>
            <a:spAutoFit/>
          </a:bodyPr>
          <a:lstStyle/>
          <a:p>
            <a:pPr marL="342900" indent="-342900">
              <a:spcBef>
                <a:spcPct val="50000"/>
              </a:spcBef>
              <a:buFontTx/>
              <a:buAutoNum type="alphaUcParenR"/>
            </a:pPr>
            <a:r>
              <a:rPr lang="en-GB" sz="3200">
                <a:solidFill>
                  <a:schemeClr val="tx1"/>
                </a:solidFill>
              </a:rPr>
              <a:t>You let your children join believing that the home influence will have more impact on than the organisation</a:t>
            </a:r>
          </a:p>
          <a:p>
            <a:pPr marL="342900" indent="-342900">
              <a:spcBef>
                <a:spcPct val="50000"/>
              </a:spcBef>
            </a:pPr>
            <a:r>
              <a:rPr lang="en-GB" sz="3200">
                <a:solidFill>
                  <a:schemeClr val="tx1"/>
                </a:solidFill>
              </a:rPr>
              <a:t>B) You let the children decide for themselves</a:t>
            </a:r>
          </a:p>
          <a:p>
            <a:pPr marL="342900" indent="-342900">
              <a:spcBef>
                <a:spcPct val="50000"/>
              </a:spcBef>
            </a:pPr>
            <a:r>
              <a:rPr lang="en-GB" sz="3200">
                <a:solidFill>
                  <a:schemeClr val="tx1"/>
                </a:solidFill>
              </a:rPr>
              <a:t>C) You forbid the children to join</a:t>
            </a:r>
          </a:p>
          <a:p>
            <a:pPr marL="342900" indent="-342900">
              <a:spcBef>
                <a:spcPct val="50000"/>
              </a:spcBef>
            </a:pPr>
            <a:r>
              <a:rPr lang="en-GB" sz="3200">
                <a:solidFill>
                  <a:schemeClr val="tx1"/>
                </a:solidFill>
              </a:rPr>
              <a:t>D) You apply to become the Youth leader in a local column so you can have some influence on that particular group.</a:t>
            </a:r>
            <a:r>
              <a:rPr lang="en-GB" b="1">
                <a:solidFill>
                  <a:schemeClr val="tx1"/>
                </a:solidFill>
                <a:latin typeface="Times New Roman" pitchFamily="18" charset="0"/>
              </a:rPr>
              <a:t>	</a:t>
            </a:r>
          </a:p>
        </p:txBody>
      </p:sp>
      <p:pic>
        <p:nvPicPr>
          <p:cNvPr id="41989"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41990"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41991"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988"/>
                                        </p:tgtEl>
                                        <p:attrNameLst>
                                          <p:attrName>style.visibility</p:attrName>
                                        </p:attrNameLst>
                                      </p:cBhvr>
                                      <p:to>
                                        <p:strVal val="visible"/>
                                      </p:to>
                                    </p:set>
                                    <p:animEffect transition="in" filter="blinds(horizontal)">
                                      <p:cBhvr>
                                        <p:cTn id="7" dur="500"/>
                                        <p:tgtEl>
                                          <p:spTgt spid="4198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41991"/>
                                        </p:tgtEl>
                                        <p:attrNameLst>
                                          <p:attrName>style.visibility</p:attrName>
                                        </p:attrNameLst>
                                      </p:cBhvr>
                                      <p:to>
                                        <p:strVal val="visible"/>
                                      </p:to>
                                    </p:set>
                                    <p:animEffect transition="in" filter="dissolve">
                                      <p:cBhvr>
                                        <p:cTn id="12" dur="500"/>
                                        <p:tgtEl>
                                          <p:spTgt spid="419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autoUpdateAnimBg="0"/>
      <p:bldP spid="41991"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RESULTS</a:t>
            </a:r>
          </a:p>
        </p:txBody>
      </p:sp>
      <p:sp>
        <p:nvSpPr>
          <p:cNvPr id="43011"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43012" name="Text Box 4"/>
          <p:cNvSpPr txBox="1">
            <a:spLocks noChangeArrowheads="1"/>
          </p:cNvSpPr>
          <p:nvPr/>
        </p:nvSpPr>
        <p:spPr bwMode="auto">
          <a:xfrm>
            <a:off x="179388" y="838200"/>
            <a:ext cx="8713787" cy="6856413"/>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A and B: The boys join the Hitler Youth and quickly become enthusiastic about the organisation. You are horrified. Lose 1 Anxiety card.</a:t>
            </a:r>
          </a:p>
          <a:p>
            <a:pPr>
              <a:spcBef>
                <a:spcPct val="50000"/>
              </a:spcBef>
            </a:pPr>
            <a:r>
              <a:rPr lang="en-GB" sz="3200">
                <a:solidFill>
                  <a:schemeClr val="tx1"/>
                </a:solidFill>
              </a:rPr>
              <a:t>C) You are arrested and imprisoned without trial for nearly a year. Lose 1 Imprisonment card</a:t>
            </a:r>
          </a:p>
          <a:p>
            <a:pPr>
              <a:spcBef>
                <a:spcPct val="50000"/>
              </a:spcBef>
            </a:pPr>
            <a:r>
              <a:rPr lang="en-GB" sz="3200">
                <a:solidFill>
                  <a:schemeClr val="tx1"/>
                </a:solidFill>
              </a:rPr>
              <a:t>D) Your application is refused. The local Gestapo police visits you and tells you that for a long time you have been viewed with suspicion. Lose 2 Anxiety cards.</a:t>
            </a:r>
          </a:p>
          <a:p>
            <a:pPr>
              <a:spcBef>
                <a:spcPct val="50000"/>
              </a:spcBef>
            </a:pPr>
            <a:r>
              <a:rPr lang="en-GB" b="1">
                <a:solidFill>
                  <a:schemeClr val="tx1"/>
                </a:solidFill>
                <a:latin typeface="Times New Roman" pitchFamily="18" charset="0"/>
              </a:rPr>
              <a:t>	</a:t>
            </a:r>
          </a:p>
        </p:txBody>
      </p:sp>
      <p:pic>
        <p:nvPicPr>
          <p:cNvPr id="43013"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43014"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43015"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012"/>
                                        </p:tgtEl>
                                        <p:attrNameLst>
                                          <p:attrName>style.visibility</p:attrName>
                                        </p:attrNameLst>
                                      </p:cBhvr>
                                      <p:to>
                                        <p:strVal val="visible"/>
                                      </p:to>
                                    </p:set>
                                    <p:animEffect transition="in" filter="blinds(horizontal)">
                                      <p:cBhvr>
                                        <p:cTn id="7" dur="500"/>
                                        <p:tgtEl>
                                          <p:spTgt spid="430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43015"/>
                                        </p:tgtEl>
                                        <p:attrNameLst>
                                          <p:attrName>style.visibility</p:attrName>
                                        </p:attrNameLst>
                                      </p:cBhvr>
                                      <p:to>
                                        <p:strVal val="visible"/>
                                      </p:to>
                                    </p:set>
                                    <p:animEffect transition="in" filter="dissolve">
                                      <p:cBhvr>
                                        <p:cTn id="12" dur="500"/>
                                        <p:tgtEl>
                                          <p:spTgt spid="430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autoUpdateAnimBg="0"/>
      <p:bldP spid="43015"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SITUATION 13</a:t>
            </a:r>
          </a:p>
        </p:txBody>
      </p:sp>
      <p:sp>
        <p:nvSpPr>
          <p:cNvPr id="44035"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44036" name="Text Box 4"/>
          <p:cNvSpPr txBox="1">
            <a:spLocks noChangeArrowheads="1"/>
          </p:cNvSpPr>
          <p:nvPr/>
        </p:nvSpPr>
        <p:spPr bwMode="auto">
          <a:xfrm>
            <a:off x="468313" y="1484313"/>
            <a:ext cx="8439150" cy="1676400"/>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The Gestapo break into your home and say they are taking away your 16 year old son for questioning.</a:t>
            </a:r>
            <a:r>
              <a:rPr lang="en-GB" b="1">
                <a:solidFill>
                  <a:schemeClr val="tx1"/>
                </a:solidFill>
                <a:latin typeface="Times New Roman" pitchFamily="18" charset="0"/>
              </a:rPr>
              <a:t>	</a:t>
            </a:r>
          </a:p>
        </p:txBody>
      </p:sp>
      <p:pic>
        <p:nvPicPr>
          <p:cNvPr id="44037"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44038"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44039"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4036"/>
                                        </p:tgtEl>
                                        <p:attrNameLst>
                                          <p:attrName>style.visibility</p:attrName>
                                        </p:attrNameLst>
                                      </p:cBhvr>
                                      <p:to>
                                        <p:strVal val="visible"/>
                                      </p:to>
                                    </p:set>
                                    <p:animEffect transition="in" filter="blinds(horizontal)">
                                      <p:cBhvr>
                                        <p:cTn id="7" dur="500"/>
                                        <p:tgtEl>
                                          <p:spTgt spid="4403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44039"/>
                                        </p:tgtEl>
                                        <p:attrNameLst>
                                          <p:attrName>style.visibility</p:attrName>
                                        </p:attrNameLst>
                                      </p:cBhvr>
                                      <p:to>
                                        <p:strVal val="visible"/>
                                      </p:to>
                                    </p:set>
                                    <p:animEffect transition="in" filter="dissolve">
                                      <p:cBhvr>
                                        <p:cTn id="12" dur="500"/>
                                        <p:tgtEl>
                                          <p:spTgt spid="440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6" grpId="0" autoUpdateAnimBg="0"/>
      <p:bldP spid="44039"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ACT NOW</a:t>
            </a:r>
          </a:p>
        </p:txBody>
      </p:sp>
      <p:sp>
        <p:nvSpPr>
          <p:cNvPr id="45059"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45060" name="Text Box 4"/>
          <p:cNvSpPr txBox="1">
            <a:spLocks noChangeArrowheads="1"/>
          </p:cNvSpPr>
          <p:nvPr/>
        </p:nvSpPr>
        <p:spPr bwMode="auto">
          <a:xfrm>
            <a:off x="395288" y="1341438"/>
            <a:ext cx="8367712" cy="3932237"/>
          </a:xfrm>
          <a:prstGeom prst="rect">
            <a:avLst/>
          </a:prstGeom>
          <a:noFill/>
          <a:ln w="9525">
            <a:noFill/>
            <a:miter lim="800000"/>
            <a:headEnd/>
            <a:tailEnd/>
          </a:ln>
          <a:effectLst/>
        </p:spPr>
        <p:txBody>
          <a:bodyPr>
            <a:spAutoFit/>
          </a:bodyPr>
          <a:lstStyle/>
          <a:p>
            <a:pPr marL="342900" indent="-342900">
              <a:spcBef>
                <a:spcPct val="50000"/>
              </a:spcBef>
              <a:buFontTx/>
              <a:buAutoNum type="alphaUcParenR"/>
            </a:pPr>
            <a:r>
              <a:rPr lang="en-GB" sz="3200">
                <a:solidFill>
                  <a:schemeClr val="tx1"/>
                </a:solidFill>
              </a:rPr>
              <a:t>You insist on coming along aswell</a:t>
            </a:r>
          </a:p>
          <a:p>
            <a:pPr marL="342900" indent="-342900">
              <a:spcBef>
                <a:spcPct val="50000"/>
              </a:spcBef>
            </a:pPr>
            <a:r>
              <a:rPr lang="en-GB" sz="3200">
                <a:solidFill>
                  <a:schemeClr val="tx1"/>
                </a:solidFill>
              </a:rPr>
              <a:t>B) You remain at home but make immediate contact with a friend who is a solicitor</a:t>
            </a:r>
          </a:p>
          <a:p>
            <a:pPr marL="342900" indent="-342900">
              <a:spcBef>
                <a:spcPct val="50000"/>
              </a:spcBef>
            </a:pPr>
            <a:r>
              <a:rPr lang="en-GB" sz="3200">
                <a:solidFill>
                  <a:schemeClr val="tx1"/>
                </a:solidFill>
              </a:rPr>
              <a:t>C) You engage the secret police in talk while he escapes over the roof.</a:t>
            </a:r>
          </a:p>
          <a:p>
            <a:pPr marL="342900" indent="-342900">
              <a:spcBef>
                <a:spcPct val="50000"/>
              </a:spcBef>
            </a:pPr>
            <a:r>
              <a:rPr lang="en-GB" sz="3200">
                <a:solidFill>
                  <a:schemeClr val="tx1"/>
                </a:solidFill>
              </a:rPr>
              <a:t>D) You let the boy go and take no action</a:t>
            </a:r>
            <a:r>
              <a:rPr lang="en-GB" b="1">
                <a:solidFill>
                  <a:schemeClr val="tx1"/>
                </a:solidFill>
                <a:latin typeface="Times New Roman" pitchFamily="18" charset="0"/>
              </a:rPr>
              <a:t>	</a:t>
            </a:r>
          </a:p>
        </p:txBody>
      </p:sp>
      <p:pic>
        <p:nvPicPr>
          <p:cNvPr id="45061"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45062"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45063"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5060"/>
                                        </p:tgtEl>
                                        <p:attrNameLst>
                                          <p:attrName>style.visibility</p:attrName>
                                        </p:attrNameLst>
                                      </p:cBhvr>
                                      <p:to>
                                        <p:strVal val="visible"/>
                                      </p:to>
                                    </p:set>
                                    <p:animEffect transition="in" filter="blinds(horizontal)">
                                      <p:cBhvr>
                                        <p:cTn id="7" dur="500"/>
                                        <p:tgtEl>
                                          <p:spTgt spid="4506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45063"/>
                                        </p:tgtEl>
                                        <p:attrNameLst>
                                          <p:attrName>style.visibility</p:attrName>
                                        </p:attrNameLst>
                                      </p:cBhvr>
                                      <p:to>
                                        <p:strVal val="visible"/>
                                      </p:to>
                                    </p:set>
                                    <p:animEffect transition="in" filter="dissolve">
                                      <p:cBhvr>
                                        <p:cTn id="12" dur="500"/>
                                        <p:tgtEl>
                                          <p:spTgt spid="450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0" grpId="0" autoUpdateAnimBg="0"/>
      <p:bldP spid="45063"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RESULTS</a:t>
            </a:r>
          </a:p>
        </p:txBody>
      </p:sp>
      <p:sp>
        <p:nvSpPr>
          <p:cNvPr id="46083"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46084" name="Text Box 4"/>
          <p:cNvSpPr txBox="1">
            <a:spLocks noChangeArrowheads="1"/>
          </p:cNvSpPr>
          <p:nvPr/>
        </p:nvSpPr>
        <p:spPr bwMode="auto">
          <a:xfrm>
            <a:off x="381000" y="838200"/>
            <a:ext cx="8512175" cy="5205413"/>
          </a:xfrm>
          <a:prstGeom prst="rect">
            <a:avLst/>
          </a:prstGeom>
          <a:noFill/>
          <a:ln w="9525">
            <a:noFill/>
            <a:miter lim="800000"/>
            <a:headEnd/>
            <a:tailEnd/>
          </a:ln>
          <a:effectLst/>
        </p:spPr>
        <p:txBody>
          <a:bodyPr>
            <a:spAutoFit/>
          </a:bodyPr>
          <a:lstStyle/>
          <a:p>
            <a:pPr marL="342900" indent="-342900">
              <a:spcBef>
                <a:spcPct val="50000"/>
              </a:spcBef>
              <a:buFontTx/>
              <a:buAutoNum type="alphaUcParenR"/>
            </a:pPr>
            <a:r>
              <a:rPr lang="en-GB" sz="2400">
                <a:solidFill>
                  <a:schemeClr val="tx1"/>
                </a:solidFill>
              </a:rPr>
              <a:t>When you arrive at Gestapo headquarters you are also placed under arrest. Lose 1 Imprisonment card</a:t>
            </a:r>
          </a:p>
          <a:p>
            <a:pPr marL="342900" indent="-342900">
              <a:spcBef>
                <a:spcPct val="50000"/>
              </a:spcBef>
            </a:pPr>
            <a:r>
              <a:rPr lang="en-GB" sz="2400">
                <a:solidFill>
                  <a:schemeClr val="tx1"/>
                </a:solidFill>
              </a:rPr>
              <a:t>B) The lawyer is denied access to your son. Lose 1 Anxiety card.</a:t>
            </a:r>
          </a:p>
          <a:p>
            <a:pPr marL="342900" indent="-342900">
              <a:spcBef>
                <a:spcPct val="50000"/>
              </a:spcBef>
            </a:pPr>
            <a:r>
              <a:rPr lang="en-GB" sz="2400">
                <a:solidFill>
                  <a:schemeClr val="tx1"/>
                </a:solidFill>
              </a:rPr>
              <a:t>C) Your ploy is discovered and you are arrested. The Gestapo also assume you are part of the secret opposition group to which your son belongs. You are tortured to give information and imprisoned. Lose 1 Imprisonment card and 1 Anxiety card.</a:t>
            </a:r>
          </a:p>
          <a:p>
            <a:pPr marL="342900" indent="-342900">
              <a:spcBef>
                <a:spcPct val="50000"/>
              </a:spcBef>
            </a:pPr>
            <a:r>
              <a:rPr lang="en-GB" sz="2400">
                <a:solidFill>
                  <a:schemeClr val="tx1"/>
                </a:solidFill>
              </a:rPr>
              <a:t>D) Lose all the Anxiety cards you have left.</a:t>
            </a:r>
          </a:p>
          <a:p>
            <a:pPr marL="342900" indent="-342900">
              <a:spcBef>
                <a:spcPct val="50000"/>
              </a:spcBef>
            </a:pPr>
            <a:r>
              <a:rPr lang="en-GB" b="1">
                <a:solidFill>
                  <a:schemeClr val="tx1"/>
                </a:solidFill>
                <a:latin typeface="Times New Roman" pitchFamily="18" charset="0"/>
              </a:rPr>
              <a:t>	</a:t>
            </a:r>
          </a:p>
        </p:txBody>
      </p:sp>
      <p:pic>
        <p:nvPicPr>
          <p:cNvPr id="46085"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46086"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46087"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084"/>
                                        </p:tgtEl>
                                        <p:attrNameLst>
                                          <p:attrName>style.visibility</p:attrName>
                                        </p:attrNameLst>
                                      </p:cBhvr>
                                      <p:to>
                                        <p:strVal val="visible"/>
                                      </p:to>
                                    </p:set>
                                    <p:animEffect transition="in" filter="blinds(horizontal)">
                                      <p:cBhvr>
                                        <p:cTn id="7" dur="500"/>
                                        <p:tgtEl>
                                          <p:spTgt spid="4608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46087"/>
                                        </p:tgtEl>
                                        <p:attrNameLst>
                                          <p:attrName>style.visibility</p:attrName>
                                        </p:attrNameLst>
                                      </p:cBhvr>
                                      <p:to>
                                        <p:strVal val="visible"/>
                                      </p:to>
                                    </p:set>
                                    <p:animEffect transition="in" filter="dissolve">
                                      <p:cBhvr>
                                        <p:cTn id="12" dur="500"/>
                                        <p:tgtEl>
                                          <p:spTgt spid="460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4" grpId="0" autoUpdateAnimBg="0"/>
      <p:bldP spid="46087"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SITUATION 14</a:t>
            </a:r>
          </a:p>
        </p:txBody>
      </p:sp>
      <p:sp>
        <p:nvSpPr>
          <p:cNvPr id="47107"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47108" name="Text Box 4"/>
          <p:cNvSpPr txBox="1">
            <a:spLocks noChangeArrowheads="1"/>
          </p:cNvSpPr>
          <p:nvPr/>
        </p:nvSpPr>
        <p:spPr bwMode="auto">
          <a:xfrm>
            <a:off x="323850" y="1989138"/>
            <a:ext cx="8512175" cy="2528887"/>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You are working in your garage late at night when you see your neighbour been forced into the car by four men. Your neighbour, who is bleeding from several wounds to the face and body shouts to you for your help.</a:t>
            </a:r>
          </a:p>
        </p:txBody>
      </p:sp>
      <p:pic>
        <p:nvPicPr>
          <p:cNvPr id="47109"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47110"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47111"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7108"/>
                                        </p:tgtEl>
                                        <p:attrNameLst>
                                          <p:attrName>style.visibility</p:attrName>
                                        </p:attrNameLst>
                                      </p:cBhvr>
                                      <p:to>
                                        <p:strVal val="visible"/>
                                      </p:to>
                                    </p:set>
                                    <p:animEffect transition="in" filter="blinds(horizontal)">
                                      <p:cBhvr>
                                        <p:cTn id="7" dur="500"/>
                                        <p:tgtEl>
                                          <p:spTgt spid="4710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47111"/>
                                        </p:tgtEl>
                                        <p:attrNameLst>
                                          <p:attrName>style.visibility</p:attrName>
                                        </p:attrNameLst>
                                      </p:cBhvr>
                                      <p:to>
                                        <p:strVal val="visible"/>
                                      </p:to>
                                    </p:set>
                                    <p:animEffect transition="in" filter="dissolve">
                                      <p:cBhvr>
                                        <p:cTn id="12" dur="500"/>
                                        <p:tgtEl>
                                          <p:spTgt spid="47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8" grpId="0" autoUpdateAnimBg="0"/>
      <p:bldP spid="47111"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ACT NOW</a:t>
            </a:r>
          </a:p>
        </p:txBody>
      </p:sp>
      <p:sp>
        <p:nvSpPr>
          <p:cNvPr id="48131"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48132" name="Text Box 4"/>
          <p:cNvSpPr txBox="1">
            <a:spLocks noChangeArrowheads="1"/>
          </p:cNvSpPr>
          <p:nvPr/>
        </p:nvSpPr>
        <p:spPr bwMode="auto">
          <a:xfrm>
            <a:off x="381000" y="838200"/>
            <a:ext cx="8512175" cy="5005388"/>
          </a:xfrm>
          <a:prstGeom prst="rect">
            <a:avLst/>
          </a:prstGeom>
          <a:noFill/>
          <a:ln w="9525">
            <a:noFill/>
            <a:miter lim="800000"/>
            <a:headEnd/>
            <a:tailEnd/>
          </a:ln>
          <a:effectLst/>
        </p:spPr>
        <p:txBody>
          <a:bodyPr>
            <a:spAutoFit/>
          </a:bodyPr>
          <a:lstStyle/>
          <a:p>
            <a:pPr marL="342900" indent="-342900">
              <a:spcBef>
                <a:spcPct val="50000"/>
              </a:spcBef>
              <a:buFontTx/>
              <a:buAutoNum type="alphaUcParenR"/>
            </a:pPr>
            <a:r>
              <a:rPr lang="en-GB" sz="2800">
                <a:solidFill>
                  <a:schemeClr val="tx1"/>
                </a:solidFill>
              </a:rPr>
              <a:t>You suspect the men are part of the Gestapo so you quickly go inside and turn on the radio</a:t>
            </a:r>
          </a:p>
          <a:p>
            <a:pPr marL="342900" indent="-342900">
              <a:spcBef>
                <a:spcPct val="50000"/>
              </a:spcBef>
            </a:pPr>
            <a:r>
              <a:rPr lang="en-GB" sz="2800">
                <a:solidFill>
                  <a:schemeClr val="tx1"/>
                </a:solidFill>
              </a:rPr>
              <a:t>B) You run to the car. One of the 4 men say that your neighbour has had a breakdown and that he is being taken to hospital. You do nothing and hope that this is true</a:t>
            </a:r>
          </a:p>
          <a:p>
            <a:pPr marL="342900" indent="-342900">
              <a:spcBef>
                <a:spcPct val="50000"/>
              </a:spcBef>
            </a:pPr>
            <a:r>
              <a:rPr lang="en-GB" sz="2800">
                <a:solidFill>
                  <a:schemeClr val="tx1"/>
                </a:solidFill>
              </a:rPr>
              <a:t>C) You run to the car and try to pull your neighbour out onto the pavement</a:t>
            </a:r>
          </a:p>
          <a:p>
            <a:pPr marL="342900" indent="-342900">
              <a:spcBef>
                <a:spcPct val="50000"/>
              </a:spcBef>
            </a:pPr>
            <a:r>
              <a:rPr lang="en-GB" sz="2800">
                <a:solidFill>
                  <a:schemeClr val="tx1"/>
                </a:solidFill>
              </a:rPr>
              <a:t>D) You send a smuggled letter outlining the event to your friend the Gaultier.</a:t>
            </a:r>
            <a:endParaRPr lang="en-GB" sz="2800" b="1">
              <a:solidFill>
                <a:schemeClr val="tx1"/>
              </a:solidFill>
              <a:latin typeface="Times New Roman" pitchFamily="18" charset="0"/>
            </a:endParaRPr>
          </a:p>
        </p:txBody>
      </p:sp>
      <p:pic>
        <p:nvPicPr>
          <p:cNvPr id="48133"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48134"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48135"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8132"/>
                                        </p:tgtEl>
                                        <p:attrNameLst>
                                          <p:attrName>style.visibility</p:attrName>
                                        </p:attrNameLst>
                                      </p:cBhvr>
                                      <p:to>
                                        <p:strVal val="visible"/>
                                      </p:to>
                                    </p:set>
                                    <p:animEffect transition="in" filter="blinds(horizontal)">
                                      <p:cBhvr>
                                        <p:cTn id="7" dur="500"/>
                                        <p:tgtEl>
                                          <p:spTgt spid="4813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48135"/>
                                        </p:tgtEl>
                                        <p:attrNameLst>
                                          <p:attrName>style.visibility</p:attrName>
                                        </p:attrNameLst>
                                      </p:cBhvr>
                                      <p:to>
                                        <p:strVal val="visible"/>
                                      </p:to>
                                    </p:set>
                                    <p:animEffect transition="in" filter="dissolve">
                                      <p:cBhvr>
                                        <p:cTn id="12" dur="500"/>
                                        <p:tgtEl>
                                          <p:spTgt spid="48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2" grpId="0" autoUpdateAnimBg="0"/>
      <p:bldP spid="48135"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RESULTS</a:t>
            </a:r>
          </a:p>
        </p:txBody>
      </p:sp>
      <p:sp>
        <p:nvSpPr>
          <p:cNvPr id="49155"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49156" name="Text Box 4"/>
          <p:cNvSpPr txBox="1">
            <a:spLocks noChangeArrowheads="1"/>
          </p:cNvSpPr>
          <p:nvPr/>
        </p:nvSpPr>
        <p:spPr bwMode="auto">
          <a:xfrm>
            <a:off x="395288" y="1052513"/>
            <a:ext cx="8439150" cy="4175125"/>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A and B: You are very worried that you should have done more to help. Lose 1 Anxiety card</a:t>
            </a:r>
          </a:p>
          <a:p>
            <a:pPr>
              <a:spcBef>
                <a:spcPct val="50000"/>
              </a:spcBef>
            </a:pPr>
            <a:r>
              <a:rPr lang="en-GB" sz="3200">
                <a:solidFill>
                  <a:schemeClr val="tx1"/>
                </a:solidFill>
              </a:rPr>
              <a:t>C) You are arrested and detained in solitary confinement for six weeks. Lose 1 Imprisonment card</a:t>
            </a:r>
          </a:p>
          <a:p>
            <a:pPr>
              <a:spcBef>
                <a:spcPct val="50000"/>
              </a:spcBef>
            </a:pPr>
            <a:r>
              <a:rPr lang="en-GB" sz="3200">
                <a:solidFill>
                  <a:schemeClr val="tx1"/>
                </a:solidFill>
              </a:rPr>
              <a:t>D) You are alright for the present</a:t>
            </a:r>
            <a:r>
              <a:rPr lang="en-GB" b="1">
                <a:solidFill>
                  <a:schemeClr val="tx1"/>
                </a:solidFill>
                <a:latin typeface="Times New Roman" pitchFamily="18" charset="0"/>
              </a:rPr>
              <a:t>	</a:t>
            </a:r>
          </a:p>
        </p:txBody>
      </p:sp>
      <p:pic>
        <p:nvPicPr>
          <p:cNvPr id="49157"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49158"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49159"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9156"/>
                                        </p:tgtEl>
                                        <p:attrNameLst>
                                          <p:attrName>style.visibility</p:attrName>
                                        </p:attrNameLst>
                                      </p:cBhvr>
                                      <p:to>
                                        <p:strVal val="visible"/>
                                      </p:to>
                                    </p:set>
                                    <p:animEffect transition="in" filter="blinds(horizontal)">
                                      <p:cBhvr>
                                        <p:cTn id="7" dur="500"/>
                                        <p:tgtEl>
                                          <p:spTgt spid="4915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49159"/>
                                        </p:tgtEl>
                                        <p:attrNameLst>
                                          <p:attrName>style.visibility</p:attrName>
                                        </p:attrNameLst>
                                      </p:cBhvr>
                                      <p:to>
                                        <p:strVal val="visible"/>
                                      </p:to>
                                    </p:set>
                                    <p:animEffect transition="in" filter="dissolve">
                                      <p:cBhvr>
                                        <p:cTn id="12" dur="500"/>
                                        <p:tgtEl>
                                          <p:spTgt spid="49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autoUpdateAnimBg="0"/>
      <p:bldP spid="49159"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SITUATION 15</a:t>
            </a:r>
          </a:p>
        </p:txBody>
      </p:sp>
      <p:sp>
        <p:nvSpPr>
          <p:cNvPr id="50179"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50180" name="Text Box 4"/>
          <p:cNvSpPr txBox="1">
            <a:spLocks noChangeArrowheads="1"/>
          </p:cNvSpPr>
          <p:nvPr/>
        </p:nvSpPr>
        <p:spPr bwMode="auto">
          <a:xfrm>
            <a:off x="323850" y="1196975"/>
            <a:ext cx="8512175" cy="4113213"/>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You are in a Nazi occupied country where there are resistance fighters trying to overthrow the Germans by force. You are a doctor and one night a man from one of the resistance groups is brought to you with severe wounds. You know that any action on your part other than immediate notification to the authorities is considered a major offence.</a:t>
            </a:r>
            <a:r>
              <a:rPr lang="en-GB" b="1">
                <a:solidFill>
                  <a:schemeClr val="tx1"/>
                </a:solidFill>
                <a:latin typeface="Times New Roman" pitchFamily="18" charset="0"/>
              </a:rPr>
              <a:t>	</a:t>
            </a:r>
          </a:p>
        </p:txBody>
      </p:sp>
      <p:pic>
        <p:nvPicPr>
          <p:cNvPr id="50181"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50182"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50183"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0180"/>
                                        </p:tgtEl>
                                        <p:attrNameLst>
                                          <p:attrName>style.visibility</p:attrName>
                                        </p:attrNameLst>
                                      </p:cBhvr>
                                      <p:to>
                                        <p:strVal val="visible"/>
                                      </p:to>
                                    </p:set>
                                    <p:animEffect transition="in" filter="blinds(horizontal)">
                                      <p:cBhvr>
                                        <p:cTn id="7" dur="500"/>
                                        <p:tgtEl>
                                          <p:spTgt spid="5018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50183"/>
                                        </p:tgtEl>
                                        <p:attrNameLst>
                                          <p:attrName>style.visibility</p:attrName>
                                        </p:attrNameLst>
                                      </p:cBhvr>
                                      <p:to>
                                        <p:strVal val="visible"/>
                                      </p:to>
                                    </p:set>
                                    <p:animEffect transition="in" filter="dissolve">
                                      <p:cBhvr>
                                        <p:cTn id="12" dur="500"/>
                                        <p:tgtEl>
                                          <p:spTgt spid="50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0" grpId="0" autoUpdateAnimBg="0"/>
      <p:bldP spid="50183"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ACT NOW</a:t>
            </a:r>
          </a:p>
        </p:txBody>
      </p:sp>
      <p:sp>
        <p:nvSpPr>
          <p:cNvPr id="51203"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51204" name="Text Box 4"/>
          <p:cNvSpPr txBox="1">
            <a:spLocks noChangeArrowheads="1"/>
          </p:cNvSpPr>
          <p:nvPr/>
        </p:nvSpPr>
        <p:spPr bwMode="auto">
          <a:xfrm>
            <a:off x="381000" y="838200"/>
            <a:ext cx="8367713" cy="5334000"/>
          </a:xfrm>
          <a:prstGeom prst="rect">
            <a:avLst/>
          </a:prstGeom>
          <a:noFill/>
          <a:ln w="9525">
            <a:noFill/>
            <a:miter lim="800000"/>
            <a:headEnd/>
            <a:tailEnd/>
          </a:ln>
          <a:effectLst/>
        </p:spPr>
        <p:txBody>
          <a:bodyPr>
            <a:spAutoFit/>
          </a:bodyPr>
          <a:lstStyle/>
          <a:p>
            <a:pPr marL="342900" indent="-342900">
              <a:spcBef>
                <a:spcPct val="50000"/>
              </a:spcBef>
              <a:buFontTx/>
              <a:buAutoNum type="alphaUcParenR"/>
            </a:pPr>
            <a:r>
              <a:rPr lang="en-GB" sz="3200">
                <a:solidFill>
                  <a:schemeClr val="tx1"/>
                </a:solidFill>
              </a:rPr>
              <a:t>You notify the authorities</a:t>
            </a:r>
          </a:p>
          <a:p>
            <a:pPr marL="342900" indent="-342900">
              <a:spcBef>
                <a:spcPct val="50000"/>
              </a:spcBef>
            </a:pPr>
            <a:r>
              <a:rPr lang="en-GB" sz="3200">
                <a:solidFill>
                  <a:schemeClr val="tx1"/>
                </a:solidFill>
              </a:rPr>
              <a:t>B) You refuse to give help and you tell the guerrillas to remove the injured man</a:t>
            </a:r>
          </a:p>
          <a:p>
            <a:pPr marL="342900" indent="-342900">
              <a:spcBef>
                <a:spcPct val="50000"/>
              </a:spcBef>
            </a:pPr>
            <a:r>
              <a:rPr lang="en-GB" sz="3200">
                <a:solidFill>
                  <a:schemeClr val="tx1"/>
                </a:solidFill>
              </a:rPr>
              <a:t>C) You dress the man’s wounds and allow him to stay in your house until he recovers</a:t>
            </a:r>
          </a:p>
          <a:p>
            <a:pPr marL="342900" indent="-342900">
              <a:spcBef>
                <a:spcPct val="50000"/>
              </a:spcBef>
            </a:pPr>
            <a:r>
              <a:rPr lang="en-GB" sz="3200">
                <a:solidFill>
                  <a:schemeClr val="tx1"/>
                </a:solidFill>
              </a:rPr>
              <a:t>D) You attend to the man on the condition he is immediately removed from your house. You know this could result in his death.</a:t>
            </a:r>
            <a:r>
              <a:rPr lang="en-GB" b="1">
                <a:solidFill>
                  <a:schemeClr val="tx1"/>
                </a:solidFill>
                <a:latin typeface="Times New Roman" pitchFamily="18" charset="0"/>
              </a:rPr>
              <a:t>	</a:t>
            </a:r>
          </a:p>
        </p:txBody>
      </p:sp>
      <p:pic>
        <p:nvPicPr>
          <p:cNvPr id="51205"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51206"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51207"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04"/>
                                        </p:tgtEl>
                                        <p:attrNameLst>
                                          <p:attrName>style.visibility</p:attrName>
                                        </p:attrNameLst>
                                      </p:cBhvr>
                                      <p:to>
                                        <p:strVal val="visible"/>
                                      </p:to>
                                    </p:set>
                                    <p:animEffect transition="in" filter="blinds(horizontal)">
                                      <p:cBhvr>
                                        <p:cTn id="7" dur="500"/>
                                        <p:tgtEl>
                                          <p:spTgt spid="5120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51207"/>
                                        </p:tgtEl>
                                        <p:attrNameLst>
                                          <p:attrName>style.visibility</p:attrName>
                                        </p:attrNameLst>
                                      </p:cBhvr>
                                      <p:to>
                                        <p:strVal val="visible"/>
                                      </p:to>
                                    </p:set>
                                    <p:animEffect transition="in" filter="dissolve">
                                      <p:cBhvr>
                                        <p:cTn id="12" dur="500"/>
                                        <p:tgtEl>
                                          <p:spTgt spid="51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4" grpId="0" autoUpdateAnimBg="0"/>
      <p:bldP spid="51207"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RESULTS</a:t>
            </a:r>
          </a:p>
        </p:txBody>
      </p:sp>
      <p:sp>
        <p:nvSpPr>
          <p:cNvPr id="52227"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52228" name="Text Box 4"/>
          <p:cNvSpPr txBox="1">
            <a:spLocks noChangeArrowheads="1"/>
          </p:cNvSpPr>
          <p:nvPr/>
        </p:nvSpPr>
        <p:spPr bwMode="auto">
          <a:xfrm>
            <a:off x="381000" y="838200"/>
            <a:ext cx="8439150" cy="6072188"/>
          </a:xfrm>
          <a:prstGeom prst="rect">
            <a:avLst/>
          </a:prstGeom>
          <a:noFill/>
          <a:ln w="9525">
            <a:noFill/>
            <a:miter lim="800000"/>
            <a:headEnd/>
            <a:tailEnd/>
          </a:ln>
          <a:effectLst/>
        </p:spPr>
        <p:txBody>
          <a:bodyPr>
            <a:spAutoFit/>
          </a:bodyPr>
          <a:lstStyle/>
          <a:p>
            <a:pPr marL="342900" indent="-342900">
              <a:spcBef>
                <a:spcPct val="50000"/>
              </a:spcBef>
              <a:buFontTx/>
              <a:buAutoNum type="alphaUcParenR"/>
            </a:pPr>
            <a:r>
              <a:rPr lang="en-GB" sz="2800">
                <a:solidFill>
                  <a:schemeClr val="tx1"/>
                </a:solidFill>
              </a:rPr>
              <a:t>The Gestapo arrive and a gun battle breaks out with the resistance fighters. You are shot in the leg by mistake and all the others are killed though none of the Gestapo are hurt. Lose 1 Health card</a:t>
            </a:r>
          </a:p>
          <a:p>
            <a:pPr marL="342900" indent="-342900">
              <a:spcBef>
                <a:spcPct val="50000"/>
              </a:spcBef>
            </a:pPr>
            <a:r>
              <a:rPr lang="en-GB" sz="2800">
                <a:solidFill>
                  <a:schemeClr val="tx1"/>
                </a:solidFill>
              </a:rPr>
              <a:t>B and D: You feel afterwards that your actions were not appropriate to your profession. Lose 1 Anxiety card.</a:t>
            </a:r>
          </a:p>
          <a:p>
            <a:pPr marL="342900" indent="-342900">
              <a:spcBef>
                <a:spcPct val="50000"/>
              </a:spcBef>
            </a:pPr>
            <a:r>
              <a:rPr lang="en-GB" sz="2800">
                <a:solidFill>
                  <a:schemeClr val="tx1"/>
                </a:solidFill>
              </a:rPr>
              <a:t>C) Your action is discovered by the Gestapo who presume you are a member of the resistance. You are imprisoned in a concentration camp and repeatedly tortured to give information that you do not possess. Lose 1 Imprisonment and 2 Anxiety Cards.</a:t>
            </a:r>
            <a:r>
              <a:rPr lang="en-GB" sz="2800" b="1">
                <a:solidFill>
                  <a:schemeClr val="tx1"/>
                </a:solidFill>
                <a:latin typeface="Times New Roman" pitchFamily="18" charset="0"/>
              </a:rPr>
              <a:t>	</a:t>
            </a:r>
          </a:p>
        </p:txBody>
      </p:sp>
      <p:pic>
        <p:nvPicPr>
          <p:cNvPr id="52229"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52230"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52231"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2228"/>
                                        </p:tgtEl>
                                        <p:attrNameLst>
                                          <p:attrName>style.visibility</p:attrName>
                                        </p:attrNameLst>
                                      </p:cBhvr>
                                      <p:to>
                                        <p:strVal val="visible"/>
                                      </p:to>
                                    </p:set>
                                    <p:animEffect transition="in" filter="blinds(horizontal)">
                                      <p:cBhvr>
                                        <p:cTn id="7" dur="500"/>
                                        <p:tgtEl>
                                          <p:spTgt spid="5222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52231"/>
                                        </p:tgtEl>
                                        <p:attrNameLst>
                                          <p:attrName>style.visibility</p:attrName>
                                        </p:attrNameLst>
                                      </p:cBhvr>
                                      <p:to>
                                        <p:strVal val="visible"/>
                                      </p:to>
                                    </p:set>
                                    <p:animEffect transition="in" filter="dissolve">
                                      <p:cBhvr>
                                        <p:cTn id="12" dur="500"/>
                                        <p:tgtEl>
                                          <p:spTgt spid="52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autoUpdateAnimBg="0"/>
      <p:bldP spid="52231"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SITUATION 16</a:t>
            </a:r>
          </a:p>
        </p:txBody>
      </p:sp>
      <p:sp>
        <p:nvSpPr>
          <p:cNvPr id="53251"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53252" name="Text Box 4"/>
          <p:cNvSpPr txBox="1">
            <a:spLocks noChangeArrowheads="1"/>
          </p:cNvSpPr>
          <p:nvPr/>
        </p:nvSpPr>
        <p:spPr bwMode="auto">
          <a:xfrm>
            <a:off x="395288" y="1557338"/>
            <a:ext cx="8512175" cy="3625850"/>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You have always considered yourself a pacifist but your convictions have never been tested. In 1935 compulsory military service was introduced for all men and refusal to bear arms meant imprisonment or death. You have just reached the age when you will be conscripted.</a:t>
            </a:r>
            <a:r>
              <a:rPr lang="en-GB" b="1">
                <a:solidFill>
                  <a:schemeClr val="tx1"/>
                </a:solidFill>
                <a:latin typeface="Times New Roman" pitchFamily="18" charset="0"/>
              </a:rPr>
              <a:t>	</a:t>
            </a:r>
          </a:p>
        </p:txBody>
      </p:sp>
      <p:pic>
        <p:nvPicPr>
          <p:cNvPr id="53253"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53254"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53255"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animEffect transition="in" filter="blinds(horizontal)">
                                      <p:cBhvr>
                                        <p:cTn id="7" dur="500"/>
                                        <p:tgtEl>
                                          <p:spTgt spid="5325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53255"/>
                                        </p:tgtEl>
                                        <p:attrNameLst>
                                          <p:attrName>style.visibility</p:attrName>
                                        </p:attrNameLst>
                                      </p:cBhvr>
                                      <p:to>
                                        <p:strVal val="visible"/>
                                      </p:to>
                                    </p:set>
                                    <p:animEffect transition="in" filter="dissolve">
                                      <p:cBhvr>
                                        <p:cTn id="12" dur="500"/>
                                        <p:tgtEl>
                                          <p:spTgt spid="532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autoUpdateAnimBg="0"/>
      <p:bldP spid="53255"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ACT NOW</a:t>
            </a:r>
          </a:p>
        </p:txBody>
      </p:sp>
      <p:sp>
        <p:nvSpPr>
          <p:cNvPr id="54275"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54276" name="Text Box 4"/>
          <p:cNvSpPr txBox="1">
            <a:spLocks noChangeArrowheads="1"/>
          </p:cNvSpPr>
          <p:nvPr/>
        </p:nvSpPr>
        <p:spPr bwMode="auto">
          <a:xfrm>
            <a:off x="395288" y="1484313"/>
            <a:ext cx="8294687" cy="3262312"/>
          </a:xfrm>
          <a:prstGeom prst="rect">
            <a:avLst/>
          </a:prstGeom>
          <a:noFill/>
          <a:ln w="9525">
            <a:noFill/>
            <a:miter lim="800000"/>
            <a:headEnd/>
            <a:tailEnd/>
          </a:ln>
          <a:effectLst/>
        </p:spPr>
        <p:txBody>
          <a:bodyPr>
            <a:spAutoFit/>
          </a:bodyPr>
          <a:lstStyle/>
          <a:p>
            <a:pPr marL="342900" indent="-342900">
              <a:spcBef>
                <a:spcPct val="50000"/>
              </a:spcBef>
              <a:buFontTx/>
              <a:buAutoNum type="alphaUcParenR"/>
            </a:pPr>
            <a:r>
              <a:rPr lang="en-GB" sz="3200">
                <a:solidFill>
                  <a:schemeClr val="tx1"/>
                </a:solidFill>
              </a:rPr>
              <a:t>You join the army when your papers arrive</a:t>
            </a:r>
          </a:p>
          <a:p>
            <a:pPr marL="342900" indent="-342900">
              <a:spcBef>
                <a:spcPct val="50000"/>
              </a:spcBef>
              <a:buFontTx/>
              <a:buAutoNum type="alphaUcParenR"/>
            </a:pPr>
            <a:r>
              <a:rPr lang="en-GB" sz="3200">
                <a:solidFill>
                  <a:schemeClr val="tx1"/>
                </a:solidFill>
              </a:rPr>
              <a:t>You join the army but ask to serve in a medical team</a:t>
            </a:r>
          </a:p>
          <a:p>
            <a:pPr marL="342900" indent="-342900">
              <a:spcBef>
                <a:spcPct val="50000"/>
              </a:spcBef>
              <a:buFontTx/>
              <a:buAutoNum type="alphaUcParenR"/>
            </a:pPr>
            <a:r>
              <a:rPr lang="en-GB" sz="3200">
                <a:solidFill>
                  <a:schemeClr val="tx1"/>
                </a:solidFill>
              </a:rPr>
              <a:t>You refuse to join the army</a:t>
            </a:r>
          </a:p>
          <a:p>
            <a:pPr marL="342900" indent="-342900">
              <a:spcBef>
                <a:spcPct val="50000"/>
              </a:spcBef>
              <a:buFontTx/>
              <a:buAutoNum type="alphaUcParenR"/>
            </a:pPr>
            <a:r>
              <a:rPr lang="en-GB" sz="3200">
                <a:solidFill>
                  <a:schemeClr val="tx1"/>
                </a:solidFill>
              </a:rPr>
              <a:t>You refuse to do as instructed</a:t>
            </a:r>
          </a:p>
        </p:txBody>
      </p:sp>
      <p:pic>
        <p:nvPicPr>
          <p:cNvPr id="54277"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54278"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54279"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4276"/>
                                        </p:tgtEl>
                                        <p:attrNameLst>
                                          <p:attrName>style.visibility</p:attrName>
                                        </p:attrNameLst>
                                      </p:cBhvr>
                                      <p:to>
                                        <p:strVal val="visible"/>
                                      </p:to>
                                    </p:set>
                                    <p:animEffect transition="in" filter="blinds(horizontal)">
                                      <p:cBhvr>
                                        <p:cTn id="7" dur="500"/>
                                        <p:tgtEl>
                                          <p:spTgt spid="5427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54279"/>
                                        </p:tgtEl>
                                        <p:attrNameLst>
                                          <p:attrName>style.visibility</p:attrName>
                                        </p:attrNameLst>
                                      </p:cBhvr>
                                      <p:to>
                                        <p:strVal val="visible"/>
                                      </p:to>
                                    </p:set>
                                    <p:animEffect transition="in" filter="dissolve">
                                      <p:cBhvr>
                                        <p:cTn id="12" dur="500"/>
                                        <p:tgtEl>
                                          <p:spTgt spid="54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6" grpId="0" autoUpdateAnimBg="0"/>
      <p:bldP spid="54279"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RESULTS</a:t>
            </a:r>
          </a:p>
        </p:txBody>
      </p:sp>
      <p:sp>
        <p:nvSpPr>
          <p:cNvPr id="55299"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55300" name="Text Box 4"/>
          <p:cNvSpPr txBox="1">
            <a:spLocks noChangeArrowheads="1"/>
          </p:cNvSpPr>
          <p:nvPr/>
        </p:nvSpPr>
        <p:spPr bwMode="auto">
          <a:xfrm>
            <a:off x="250825" y="692150"/>
            <a:ext cx="8439150" cy="5664200"/>
          </a:xfrm>
          <a:prstGeom prst="rect">
            <a:avLst/>
          </a:prstGeom>
          <a:noFill/>
          <a:ln w="9525">
            <a:noFill/>
            <a:miter lim="800000"/>
            <a:headEnd/>
            <a:tailEnd/>
          </a:ln>
          <a:effectLst/>
        </p:spPr>
        <p:txBody>
          <a:bodyPr>
            <a:spAutoFit/>
          </a:bodyPr>
          <a:lstStyle/>
          <a:p>
            <a:pPr>
              <a:spcBef>
                <a:spcPct val="50000"/>
              </a:spcBef>
            </a:pPr>
            <a:r>
              <a:rPr lang="en-GB" sz="2400">
                <a:solidFill>
                  <a:schemeClr val="tx1"/>
                </a:solidFill>
              </a:rPr>
              <a:t>A and B) You are enlisted in the army of a government you hate. Lose 1 Anxiety card.</a:t>
            </a:r>
          </a:p>
          <a:p>
            <a:pPr>
              <a:spcBef>
                <a:spcPct val="50000"/>
              </a:spcBef>
            </a:pPr>
            <a:r>
              <a:rPr lang="en-GB" sz="2400">
                <a:solidFill>
                  <a:schemeClr val="tx1"/>
                </a:solidFill>
              </a:rPr>
              <a:t>C) You are imprisoned in a concentration camp and treated with great brutality. Lose 1 Imprisonment card and 1 Health card.</a:t>
            </a:r>
          </a:p>
          <a:p>
            <a:pPr>
              <a:spcBef>
                <a:spcPct val="50000"/>
              </a:spcBef>
            </a:pPr>
            <a:r>
              <a:rPr lang="en-GB" sz="2400">
                <a:solidFill>
                  <a:schemeClr val="tx1"/>
                </a:solidFill>
              </a:rPr>
              <a:t>D) You are arrested at the border by the authorities who decide you are a spy. You are beaten up repeatedly before they realise their mistake. You are put on a train bound for a concentration camp but manage to escape and go into hiding. Lose 1 Anxiety and 1 Health card.</a:t>
            </a:r>
          </a:p>
          <a:p>
            <a:pPr>
              <a:spcBef>
                <a:spcPct val="50000"/>
              </a:spcBef>
            </a:pPr>
            <a:r>
              <a:rPr lang="en-GB" sz="2800">
                <a:solidFill>
                  <a:schemeClr val="tx1"/>
                </a:solidFill>
              </a:rPr>
              <a:t>HOPE: </a:t>
            </a:r>
            <a:r>
              <a:rPr lang="en-GB" sz="2000">
                <a:solidFill>
                  <a:schemeClr val="tx1"/>
                </a:solidFill>
              </a:rPr>
              <a:t>Kurt Gerstein, who holds a very responsible position in the S.S. is using his knowledge and power to warn potential victims of the Gestapo so that they may escape. You may pick up any card you have previously forfeited.</a:t>
            </a:r>
            <a:endParaRPr lang="en-GB" sz="2800" b="1">
              <a:solidFill>
                <a:schemeClr val="tx1"/>
              </a:solidFill>
              <a:latin typeface="Times New Roman" pitchFamily="18" charset="0"/>
            </a:endParaRPr>
          </a:p>
        </p:txBody>
      </p:sp>
      <p:pic>
        <p:nvPicPr>
          <p:cNvPr id="55301"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55302"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55303"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5300"/>
                                        </p:tgtEl>
                                        <p:attrNameLst>
                                          <p:attrName>style.visibility</p:attrName>
                                        </p:attrNameLst>
                                      </p:cBhvr>
                                      <p:to>
                                        <p:strVal val="visible"/>
                                      </p:to>
                                    </p:set>
                                    <p:animEffect transition="in" filter="blinds(horizontal)">
                                      <p:cBhvr>
                                        <p:cTn id="7" dur="500"/>
                                        <p:tgtEl>
                                          <p:spTgt spid="5530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55303"/>
                                        </p:tgtEl>
                                        <p:attrNameLst>
                                          <p:attrName>style.visibility</p:attrName>
                                        </p:attrNameLst>
                                      </p:cBhvr>
                                      <p:to>
                                        <p:strVal val="visible"/>
                                      </p:to>
                                    </p:set>
                                    <p:animEffect transition="in" filter="dissolve">
                                      <p:cBhvr>
                                        <p:cTn id="12" dur="500"/>
                                        <p:tgtEl>
                                          <p:spTgt spid="55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0" grpId="0" autoUpdateAnimBg="0"/>
      <p:bldP spid="55303"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SITUATION 17</a:t>
            </a:r>
          </a:p>
        </p:txBody>
      </p:sp>
      <p:sp>
        <p:nvSpPr>
          <p:cNvPr id="56323"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56324" name="Text Box 4"/>
          <p:cNvSpPr txBox="1">
            <a:spLocks noChangeArrowheads="1"/>
          </p:cNvSpPr>
          <p:nvPr/>
        </p:nvSpPr>
        <p:spPr bwMode="auto">
          <a:xfrm>
            <a:off x="381000" y="838200"/>
            <a:ext cx="8223250" cy="2651125"/>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September 1</a:t>
            </a:r>
            <a:r>
              <a:rPr lang="en-GB" sz="3200" baseline="30000">
                <a:solidFill>
                  <a:schemeClr val="tx1"/>
                </a:solidFill>
              </a:rPr>
              <a:t>st</a:t>
            </a:r>
            <a:r>
              <a:rPr lang="en-GB" sz="3200">
                <a:solidFill>
                  <a:schemeClr val="tx1"/>
                </a:solidFill>
              </a:rPr>
              <a:t> 1941, legislation is passed saying “Jews over six years of age are prohibited from appearing in public without wearing a Jewish star.”. You are a young Jew.</a:t>
            </a:r>
            <a:r>
              <a:rPr lang="en-GB" b="1">
                <a:solidFill>
                  <a:schemeClr val="tx1"/>
                </a:solidFill>
                <a:latin typeface="Times New Roman" pitchFamily="18" charset="0"/>
              </a:rPr>
              <a:t>	</a:t>
            </a:r>
          </a:p>
        </p:txBody>
      </p:sp>
      <p:pic>
        <p:nvPicPr>
          <p:cNvPr id="56325"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56326"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56327"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pic>
        <p:nvPicPr>
          <p:cNvPr id="56329" name="Picture 9" descr="jude2"/>
          <p:cNvPicPr>
            <a:picLocks noChangeAspect="1" noChangeArrowheads="1"/>
          </p:cNvPicPr>
          <p:nvPr/>
        </p:nvPicPr>
        <p:blipFill>
          <a:blip r:embed="rId4" cstate="print"/>
          <a:srcRect/>
          <a:stretch>
            <a:fillRect/>
          </a:stretch>
        </p:blipFill>
        <p:spPr bwMode="auto">
          <a:xfrm>
            <a:off x="2555875" y="3284538"/>
            <a:ext cx="3810000" cy="3211512"/>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6324"/>
                                        </p:tgtEl>
                                        <p:attrNameLst>
                                          <p:attrName>style.visibility</p:attrName>
                                        </p:attrNameLst>
                                      </p:cBhvr>
                                      <p:to>
                                        <p:strVal val="visible"/>
                                      </p:to>
                                    </p:set>
                                    <p:animEffect transition="in" filter="blinds(horizontal)">
                                      <p:cBhvr>
                                        <p:cTn id="7" dur="500"/>
                                        <p:tgtEl>
                                          <p:spTgt spid="5632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56327"/>
                                        </p:tgtEl>
                                        <p:attrNameLst>
                                          <p:attrName>style.visibility</p:attrName>
                                        </p:attrNameLst>
                                      </p:cBhvr>
                                      <p:to>
                                        <p:strVal val="visible"/>
                                      </p:to>
                                    </p:set>
                                    <p:animEffect transition="in" filter="dissolve">
                                      <p:cBhvr>
                                        <p:cTn id="12" dur="500"/>
                                        <p:tgtEl>
                                          <p:spTgt spid="563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4" grpId="0" autoUpdateAnimBg="0"/>
      <p:bldP spid="56327"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ACT NOW </a:t>
            </a:r>
          </a:p>
        </p:txBody>
      </p:sp>
      <p:sp>
        <p:nvSpPr>
          <p:cNvPr id="57347"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57348" name="Text Box 4"/>
          <p:cNvSpPr txBox="1">
            <a:spLocks noChangeArrowheads="1"/>
          </p:cNvSpPr>
          <p:nvPr/>
        </p:nvSpPr>
        <p:spPr bwMode="auto">
          <a:xfrm>
            <a:off x="395288" y="1125538"/>
            <a:ext cx="8439150" cy="4237037"/>
          </a:xfrm>
          <a:prstGeom prst="rect">
            <a:avLst/>
          </a:prstGeom>
          <a:noFill/>
          <a:ln w="9525">
            <a:noFill/>
            <a:miter lim="800000"/>
            <a:headEnd/>
            <a:tailEnd/>
          </a:ln>
          <a:effectLst/>
        </p:spPr>
        <p:txBody>
          <a:bodyPr>
            <a:spAutoFit/>
          </a:bodyPr>
          <a:lstStyle/>
          <a:p>
            <a:pPr marL="342900" indent="-342900">
              <a:spcBef>
                <a:spcPct val="50000"/>
              </a:spcBef>
              <a:buFontTx/>
              <a:buAutoNum type="alphaUcParenR"/>
            </a:pPr>
            <a:r>
              <a:rPr lang="en-GB" sz="3200">
                <a:solidFill>
                  <a:schemeClr val="tx1"/>
                </a:solidFill>
              </a:rPr>
              <a:t>You say you will refuse one but when the legislation is passed you do in fact do as required.</a:t>
            </a:r>
          </a:p>
          <a:p>
            <a:pPr marL="342900" indent="-342900">
              <a:spcBef>
                <a:spcPct val="50000"/>
              </a:spcBef>
              <a:buFontTx/>
              <a:buAutoNum type="alphaUcParenR"/>
            </a:pPr>
            <a:r>
              <a:rPr lang="en-GB" sz="3200">
                <a:solidFill>
                  <a:schemeClr val="tx1"/>
                </a:solidFill>
              </a:rPr>
              <a:t>You say you will take part in a mass rally where they will be ritually burnt</a:t>
            </a:r>
          </a:p>
          <a:p>
            <a:pPr marL="342900" indent="-342900">
              <a:spcBef>
                <a:spcPct val="50000"/>
              </a:spcBef>
              <a:buFontTx/>
              <a:buAutoNum type="alphaUcParenR"/>
            </a:pPr>
            <a:r>
              <a:rPr lang="en-GB" sz="3200">
                <a:solidFill>
                  <a:schemeClr val="tx1"/>
                </a:solidFill>
              </a:rPr>
              <a:t>You do as you are instructed</a:t>
            </a:r>
          </a:p>
          <a:p>
            <a:pPr marL="342900" indent="-342900">
              <a:spcBef>
                <a:spcPct val="50000"/>
              </a:spcBef>
              <a:buFontTx/>
              <a:buAutoNum type="alphaUcParenR"/>
            </a:pPr>
            <a:r>
              <a:rPr lang="en-GB" sz="3200">
                <a:solidFill>
                  <a:schemeClr val="tx1"/>
                </a:solidFill>
              </a:rPr>
              <a:t>You refuse to do as instructed	</a:t>
            </a:r>
          </a:p>
        </p:txBody>
      </p:sp>
      <p:pic>
        <p:nvPicPr>
          <p:cNvPr id="57349"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57350"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57351"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7348"/>
                                        </p:tgtEl>
                                        <p:attrNameLst>
                                          <p:attrName>style.visibility</p:attrName>
                                        </p:attrNameLst>
                                      </p:cBhvr>
                                      <p:to>
                                        <p:strVal val="visible"/>
                                      </p:to>
                                    </p:set>
                                    <p:animEffect transition="in" filter="blinds(horizontal)">
                                      <p:cBhvr>
                                        <p:cTn id="7" dur="500"/>
                                        <p:tgtEl>
                                          <p:spTgt spid="5734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57351"/>
                                        </p:tgtEl>
                                        <p:attrNameLst>
                                          <p:attrName>style.visibility</p:attrName>
                                        </p:attrNameLst>
                                      </p:cBhvr>
                                      <p:to>
                                        <p:strVal val="visible"/>
                                      </p:to>
                                    </p:set>
                                    <p:animEffect transition="in" filter="dissolve">
                                      <p:cBhvr>
                                        <p:cTn id="12" dur="500"/>
                                        <p:tgtEl>
                                          <p:spTgt spid="57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8" grpId="0" autoUpdateAnimBg="0"/>
      <p:bldP spid="57351"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RESULTS</a:t>
            </a:r>
          </a:p>
        </p:txBody>
      </p:sp>
      <p:sp>
        <p:nvSpPr>
          <p:cNvPr id="58371"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58372" name="Text Box 4"/>
          <p:cNvSpPr txBox="1">
            <a:spLocks noChangeArrowheads="1"/>
          </p:cNvSpPr>
          <p:nvPr/>
        </p:nvSpPr>
        <p:spPr bwMode="auto">
          <a:xfrm>
            <a:off x="381000" y="838200"/>
            <a:ext cx="8294688" cy="4846638"/>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A and C:</a:t>
            </a:r>
          </a:p>
          <a:p>
            <a:pPr>
              <a:spcBef>
                <a:spcPct val="50000"/>
              </a:spcBef>
            </a:pPr>
            <a:r>
              <a:rPr lang="en-GB" sz="3200">
                <a:solidFill>
                  <a:schemeClr val="tx1"/>
                </a:solidFill>
              </a:rPr>
              <a:t>You are alright for the present</a:t>
            </a:r>
          </a:p>
          <a:p>
            <a:pPr>
              <a:spcBef>
                <a:spcPct val="50000"/>
              </a:spcBef>
            </a:pPr>
            <a:r>
              <a:rPr lang="en-GB" sz="3200">
                <a:solidFill>
                  <a:schemeClr val="tx1"/>
                </a:solidFill>
              </a:rPr>
              <a:t>B) Fear of reprisals against you and your family prevents you from taking any action. Lose 1 Anxiety card</a:t>
            </a:r>
          </a:p>
          <a:p>
            <a:pPr>
              <a:spcBef>
                <a:spcPct val="50000"/>
              </a:spcBef>
            </a:pPr>
            <a:r>
              <a:rPr lang="en-GB" sz="3200">
                <a:solidFill>
                  <a:schemeClr val="tx1"/>
                </a:solidFill>
              </a:rPr>
              <a:t>D) You are arrested for refusal to wear the star and sent to a concentration camp. Lose 1 Imprisonment card.</a:t>
            </a:r>
            <a:r>
              <a:rPr lang="en-GB" b="1">
                <a:solidFill>
                  <a:schemeClr val="tx1"/>
                </a:solidFill>
                <a:latin typeface="Times New Roman" pitchFamily="18" charset="0"/>
              </a:rPr>
              <a:t>	</a:t>
            </a:r>
          </a:p>
        </p:txBody>
      </p:sp>
      <p:pic>
        <p:nvPicPr>
          <p:cNvPr id="58373"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58374"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58375"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8372"/>
                                        </p:tgtEl>
                                        <p:attrNameLst>
                                          <p:attrName>style.visibility</p:attrName>
                                        </p:attrNameLst>
                                      </p:cBhvr>
                                      <p:to>
                                        <p:strVal val="visible"/>
                                      </p:to>
                                    </p:set>
                                    <p:animEffect transition="in" filter="blinds(horizontal)">
                                      <p:cBhvr>
                                        <p:cTn id="7" dur="500"/>
                                        <p:tgtEl>
                                          <p:spTgt spid="5837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58375"/>
                                        </p:tgtEl>
                                        <p:attrNameLst>
                                          <p:attrName>style.visibility</p:attrName>
                                        </p:attrNameLst>
                                      </p:cBhvr>
                                      <p:to>
                                        <p:strVal val="visible"/>
                                      </p:to>
                                    </p:set>
                                    <p:animEffect transition="in" filter="dissolve">
                                      <p:cBhvr>
                                        <p:cTn id="12" dur="500"/>
                                        <p:tgtEl>
                                          <p:spTgt spid="583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2" grpId="0" autoUpdateAnimBg="0"/>
      <p:bldP spid="58375"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SITUATION 18</a:t>
            </a:r>
          </a:p>
        </p:txBody>
      </p:sp>
      <p:sp>
        <p:nvSpPr>
          <p:cNvPr id="59395"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59396" name="Text Box 4"/>
          <p:cNvSpPr txBox="1">
            <a:spLocks noChangeArrowheads="1"/>
          </p:cNvSpPr>
          <p:nvPr/>
        </p:nvSpPr>
        <p:spPr bwMode="auto">
          <a:xfrm>
            <a:off x="395288" y="1341438"/>
            <a:ext cx="8583612" cy="2651125"/>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It is May 27 1942. You are queuing for food outside a city shop in Prague when there is a sound of shooting and a rumour spreads among the crowd that the Gestapo leader Reinhard Heydrich has been shot.</a:t>
            </a:r>
            <a:r>
              <a:rPr lang="en-GB" b="1">
                <a:solidFill>
                  <a:schemeClr val="tx1"/>
                </a:solidFill>
                <a:latin typeface="Times New Roman" pitchFamily="18" charset="0"/>
              </a:rPr>
              <a:t>	</a:t>
            </a:r>
          </a:p>
        </p:txBody>
      </p:sp>
      <p:pic>
        <p:nvPicPr>
          <p:cNvPr id="59397"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59398"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59399"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396"/>
                                        </p:tgtEl>
                                        <p:attrNameLst>
                                          <p:attrName>style.visibility</p:attrName>
                                        </p:attrNameLst>
                                      </p:cBhvr>
                                      <p:to>
                                        <p:strVal val="visible"/>
                                      </p:to>
                                    </p:set>
                                    <p:animEffect transition="in" filter="blinds(horizontal)">
                                      <p:cBhvr>
                                        <p:cTn id="7" dur="500"/>
                                        <p:tgtEl>
                                          <p:spTgt spid="5939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59399"/>
                                        </p:tgtEl>
                                        <p:attrNameLst>
                                          <p:attrName>style.visibility</p:attrName>
                                        </p:attrNameLst>
                                      </p:cBhvr>
                                      <p:to>
                                        <p:strVal val="visible"/>
                                      </p:to>
                                    </p:set>
                                    <p:animEffect transition="in" filter="dissolve">
                                      <p:cBhvr>
                                        <p:cTn id="12" dur="500"/>
                                        <p:tgtEl>
                                          <p:spTgt spid="593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6" grpId="0" autoUpdateAnimBg="0"/>
      <p:bldP spid="59399"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ACT NOW</a:t>
            </a:r>
          </a:p>
        </p:txBody>
      </p:sp>
      <p:sp>
        <p:nvSpPr>
          <p:cNvPr id="60419"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60420" name="Text Box 4"/>
          <p:cNvSpPr txBox="1">
            <a:spLocks noChangeArrowheads="1"/>
          </p:cNvSpPr>
          <p:nvPr/>
        </p:nvSpPr>
        <p:spPr bwMode="auto">
          <a:xfrm>
            <a:off x="250825" y="1412875"/>
            <a:ext cx="8512175" cy="3932238"/>
          </a:xfrm>
          <a:prstGeom prst="rect">
            <a:avLst/>
          </a:prstGeom>
          <a:noFill/>
          <a:ln w="9525">
            <a:noFill/>
            <a:miter lim="800000"/>
            <a:headEnd/>
            <a:tailEnd/>
          </a:ln>
          <a:effectLst/>
        </p:spPr>
        <p:txBody>
          <a:bodyPr>
            <a:spAutoFit/>
          </a:bodyPr>
          <a:lstStyle/>
          <a:p>
            <a:pPr marL="342900" indent="-342900">
              <a:spcBef>
                <a:spcPct val="50000"/>
              </a:spcBef>
              <a:buFontTx/>
              <a:buAutoNum type="alphaUcParenR"/>
            </a:pPr>
            <a:r>
              <a:rPr lang="en-GB" sz="3200">
                <a:solidFill>
                  <a:schemeClr val="tx1"/>
                </a:solidFill>
              </a:rPr>
              <a:t>You move quickly away in another direction</a:t>
            </a:r>
          </a:p>
          <a:p>
            <a:pPr marL="342900" indent="-342900">
              <a:spcBef>
                <a:spcPct val="50000"/>
              </a:spcBef>
            </a:pPr>
            <a:r>
              <a:rPr lang="en-GB" sz="3200">
                <a:solidFill>
                  <a:schemeClr val="tx1"/>
                </a:solidFill>
              </a:rPr>
              <a:t>B) You remain in the queue</a:t>
            </a:r>
          </a:p>
          <a:p>
            <a:pPr marL="342900" indent="-342900">
              <a:spcBef>
                <a:spcPct val="50000"/>
              </a:spcBef>
            </a:pPr>
            <a:r>
              <a:rPr lang="en-GB" sz="3200">
                <a:solidFill>
                  <a:schemeClr val="tx1"/>
                </a:solidFill>
              </a:rPr>
              <a:t>C) You walk towards the place where the explosion happened so you can find out what took place</a:t>
            </a:r>
          </a:p>
          <a:p>
            <a:pPr marL="342900" indent="-342900">
              <a:spcBef>
                <a:spcPct val="50000"/>
              </a:spcBef>
            </a:pPr>
            <a:r>
              <a:rPr lang="en-GB" sz="3200">
                <a:solidFill>
                  <a:schemeClr val="tx1"/>
                </a:solidFill>
              </a:rPr>
              <a:t>D) You give a loud cheer</a:t>
            </a:r>
            <a:r>
              <a:rPr lang="en-GB" b="1">
                <a:solidFill>
                  <a:schemeClr val="tx1"/>
                </a:solidFill>
                <a:latin typeface="Times New Roman" pitchFamily="18" charset="0"/>
              </a:rPr>
              <a:t>	</a:t>
            </a:r>
          </a:p>
        </p:txBody>
      </p:sp>
      <p:pic>
        <p:nvPicPr>
          <p:cNvPr id="60421"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60422"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60423"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0420"/>
                                        </p:tgtEl>
                                        <p:attrNameLst>
                                          <p:attrName>style.visibility</p:attrName>
                                        </p:attrNameLst>
                                      </p:cBhvr>
                                      <p:to>
                                        <p:strVal val="visible"/>
                                      </p:to>
                                    </p:set>
                                    <p:animEffect transition="in" filter="blinds(horizontal)">
                                      <p:cBhvr>
                                        <p:cTn id="7" dur="500"/>
                                        <p:tgtEl>
                                          <p:spTgt spid="604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60423"/>
                                        </p:tgtEl>
                                        <p:attrNameLst>
                                          <p:attrName>style.visibility</p:attrName>
                                        </p:attrNameLst>
                                      </p:cBhvr>
                                      <p:to>
                                        <p:strVal val="visible"/>
                                      </p:to>
                                    </p:set>
                                    <p:animEffect transition="in" filter="dissolve">
                                      <p:cBhvr>
                                        <p:cTn id="12" dur="500"/>
                                        <p:tgtEl>
                                          <p:spTgt spid="604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0" grpId="0" autoUpdateAnimBg="0"/>
      <p:bldP spid="60423"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RESULTS</a:t>
            </a:r>
          </a:p>
        </p:txBody>
      </p:sp>
      <p:sp>
        <p:nvSpPr>
          <p:cNvPr id="61443"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61444" name="Text Box 4"/>
          <p:cNvSpPr txBox="1">
            <a:spLocks noChangeArrowheads="1"/>
          </p:cNvSpPr>
          <p:nvPr/>
        </p:nvSpPr>
        <p:spPr bwMode="auto">
          <a:xfrm>
            <a:off x="381000" y="838200"/>
            <a:ext cx="8439150" cy="6218238"/>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Heydrich dies of wounds a few days later. Fearful reprisals are taken and many people are killed in Czechoslovakia as a result.</a:t>
            </a:r>
          </a:p>
          <a:p>
            <a:pPr>
              <a:spcBef>
                <a:spcPct val="50000"/>
              </a:spcBef>
            </a:pPr>
            <a:r>
              <a:rPr lang="en-GB" sz="3200">
                <a:solidFill>
                  <a:schemeClr val="tx1"/>
                </a:solidFill>
              </a:rPr>
              <a:t>A, B, C and D: </a:t>
            </a:r>
          </a:p>
          <a:p>
            <a:pPr>
              <a:spcBef>
                <a:spcPct val="50000"/>
              </a:spcBef>
            </a:pPr>
            <a:r>
              <a:rPr lang="en-GB" sz="3200">
                <a:solidFill>
                  <a:schemeClr val="tx1"/>
                </a:solidFill>
              </a:rPr>
              <a:t>You are all arrested but later released. Lose 1 Imprisonment card. </a:t>
            </a:r>
          </a:p>
          <a:p>
            <a:pPr>
              <a:spcBef>
                <a:spcPct val="50000"/>
              </a:spcBef>
            </a:pPr>
            <a:endParaRPr lang="en-GB" sz="3200">
              <a:solidFill>
                <a:schemeClr val="tx1"/>
              </a:solidFill>
            </a:endParaRPr>
          </a:p>
          <a:p>
            <a:pPr>
              <a:spcBef>
                <a:spcPct val="50000"/>
              </a:spcBef>
            </a:pPr>
            <a:r>
              <a:rPr lang="en-GB" sz="2000">
                <a:solidFill>
                  <a:schemeClr val="tx1"/>
                </a:solidFill>
              </a:rPr>
              <a:t>HOPE: It is 1944. A plot to kill Hitler is organised by Count Von Stauffenberg. You may pick up 1 Imprisonment card so long as you have 2 or less left</a:t>
            </a:r>
          </a:p>
          <a:p>
            <a:pPr>
              <a:spcBef>
                <a:spcPct val="50000"/>
              </a:spcBef>
            </a:pPr>
            <a:r>
              <a:rPr lang="en-GB" b="1">
                <a:solidFill>
                  <a:schemeClr val="tx1"/>
                </a:solidFill>
                <a:latin typeface="Times New Roman" pitchFamily="18" charset="0"/>
              </a:rPr>
              <a:t>	</a:t>
            </a:r>
          </a:p>
        </p:txBody>
      </p:sp>
      <p:pic>
        <p:nvPicPr>
          <p:cNvPr id="61445"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61446"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61447"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44"/>
                                        </p:tgtEl>
                                        <p:attrNameLst>
                                          <p:attrName>style.visibility</p:attrName>
                                        </p:attrNameLst>
                                      </p:cBhvr>
                                      <p:to>
                                        <p:strVal val="visible"/>
                                      </p:to>
                                    </p:set>
                                    <p:animEffect transition="in" filter="blinds(horizontal)">
                                      <p:cBhvr>
                                        <p:cTn id="7" dur="500"/>
                                        <p:tgtEl>
                                          <p:spTgt spid="6144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61447"/>
                                        </p:tgtEl>
                                        <p:attrNameLst>
                                          <p:attrName>style.visibility</p:attrName>
                                        </p:attrNameLst>
                                      </p:cBhvr>
                                      <p:to>
                                        <p:strVal val="visible"/>
                                      </p:to>
                                    </p:set>
                                    <p:animEffect transition="in" filter="dissolve">
                                      <p:cBhvr>
                                        <p:cTn id="12" dur="500"/>
                                        <p:tgtEl>
                                          <p:spTgt spid="614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4" grpId="0" autoUpdateAnimBg="0"/>
      <p:bldP spid="61447"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SITUATION 19</a:t>
            </a:r>
          </a:p>
        </p:txBody>
      </p:sp>
      <p:sp>
        <p:nvSpPr>
          <p:cNvPr id="62467"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62468" name="Text Box 4"/>
          <p:cNvSpPr txBox="1">
            <a:spLocks noChangeArrowheads="1"/>
          </p:cNvSpPr>
          <p:nvPr/>
        </p:nvSpPr>
        <p:spPr bwMode="auto">
          <a:xfrm>
            <a:off x="395288" y="1628775"/>
            <a:ext cx="8367712" cy="2651125"/>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You are now a prisoner in a concentration camp. Your health has deteriorated and you are chronically ill. In secret some prisoners have managed to make a tunnel. You are asked to escape with them. </a:t>
            </a:r>
            <a:r>
              <a:rPr lang="en-GB" b="1">
                <a:solidFill>
                  <a:schemeClr val="tx1"/>
                </a:solidFill>
                <a:latin typeface="Times New Roman" pitchFamily="18" charset="0"/>
              </a:rPr>
              <a:t>	</a:t>
            </a:r>
          </a:p>
        </p:txBody>
      </p:sp>
      <p:pic>
        <p:nvPicPr>
          <p:cNvPr id="62469"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62470"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62471"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2468"/>
                                        </p:tgtEl>
                                        <p:attrNameLst>
                                          <p:attrName>style.visibility</p:attrName>
                                        </p:attrNameLst>
                                      </p:cBhvr>
                                      <p:to>
                                        <p:strVal val="visible"/>
                                      </p:to>
                                    </p:set>
                                    <p:animEffect transition="in" filter="blinds(horizontal)">
                                      <p:cBhvr>
                                        <p:cTn id="7" dur="500"/>
                                        <p:tgtEl>
                                          <p:spTgt spid="6246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62471"/>
                                        </p:tgtEl>
                                        <p:attrNameLst>
                                          <p:attrName>style.visibility</p:attrName>
                                        </p:attrNameLst>
                                      </p:cBhvr>
                                      <p:to>
                                        <p:strVal val="visible"/>
                                      </p:to>
                                    </p:set>
                                    <p:animEffect transition="in" filter="dissolve">
                                      <p:cBhvr>
                                        <p:cTn id="12" dur="500"/>
                                        <p:tgtEl>
                                          <p:spTgt spid="624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8" grpId="0" autoUpdateAnimBg="0"/>
      <p:bldP spid="62471"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ACT NOW</a:t>
            </a:r>
          </a:p>
        </p:txBody>
      </p:sp>
      <p:sp>
        <p:nvSpPr>
          <p:cNvPr id="63491"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63492" name="Text Box 4"/>
          <p:cNvSpPr txBox="1">
            <a:spLocks noChangeArrowheads="1"/>
          </p:cNvSpPr>
          <p:nvPr/>
        </p:nvSpPr>
        <p:spPr bwMode="auto">
          <a:xfrm>
            <a:off x="381000" y="838200"/>
            <a:ext cx="8151813" cy="5005388"/>
          </a:xfrm>
          <a:prstGeom prst="rect">
            <a:avLst/>
          </a:prstGeom>
          <a:noFill/>
          <a:ln w="9525">
            <a:noFill/>
            <a:miter lim="800000"/>
            <a:headEnd/>
            <a:tailEnd/>
          </a:ln>
          <a:effectLst/>
        </p:spPr>
        <p:txBody>
          <a:bodyPr>
            <a:spAutoFit/>
          </a:bodyPr>
          <a:lstStyle/>
          <a:p>
            <a:pPr marL="342900" indent="-342900">
              <a:spcBef>
                <a:spcPct val="50000"/>
              </a:spcBef>
              <a:buFontTx/>
              <a:buAutoNum type="alphaUcParenR"/>
            </a:pPr>
            <a:r>
              <a:rPr lang="en-GB" sz="2800">
                <a:solidFill>
                  <a:schemeClr val="tx1"/>
                </a:solidFill>
              </a:rPr>
              <a:t>You refuse as you feel you have not the strength to cope with such a journey.</a:t>
            </a:r>
          </a:p>
          <a:p>
            <a:pPr marL="342900" indent="-342900">
              <a:spcBef>
                <a:spcPct val="50000"/>
              </a:spcBef>
            </a:pPr>
            <a:r>
              <a:rPr lang="en-GB" sz="2800">
                <a:solidFill>
                  <a:schemeClr val="tx1"/>
                </a:solidFill>
              </a:rPr>
              <a:t>B) You decide to join in the attempt as you feel you will not survive long anyway under the present conditions.</a:t>
            </a:r>
          </a:p>
          <a:p>
            <a:pPr marL="342900" indent="-342900">
              <a:spcBef>
                <a:spcPct val="50000"/>
              </a:spcBef>
            </a:pPr>
            <a:r>
              <a:rPr lang="en-GB" sz="2800">
                <a:solidFill>
                  <a:schemeClr val="tx1"/>
                </a:solidFill>
              </a:rPr>
              <a:t>C) You convince the others to wait until a time of the year when the weather is better</a:t>
            </a:r>
          </a:p>
          <a:p>
            <a:pPr marL="342900" indent="-342900">
              <a:spcBef>
                <a:spcPct val="50000"/>
              </a:spcBef>
            </a:pPr>
            <a:r>
              <a:rPr lang="en-GB" sz="2800">
                <a:solidFill>
                  <a:schemeClr val="tx1"/>
                </a:solidFill>
              </a:rPr>
              <a:t>D) You decide to join the escapers but when you are nearing the guard dogs you lose your nerve and turn back. </a:t>
            </a:r>
            <a:r>
              <a:rPr lang="en-GB" sz="2800" b="1">
                <a:solidFill>
                  <a:schemeClr val="tx1"/>
                </a:solidFill>
                <a:latin typeface="Times New Roman" pitchFamily="18" charset="0"/>
              </a:rPr>
              <a:t>	</a:t>
            </a:r>
          </a:p>
        </p:txBody>
      </p:sp>
      <p:pic>
        <p:nvPicPr>
          <p:cNvPr id="63493"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63494"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63495"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3492"/>
                                        </p:tgtEl>
                                        <p:attrNameLst>
                                          <p:attrName>style.visibility</p:attrName>
                                        </p:attrNameLst>
                                      </p:cBhvr>
                                      <p:to>
                                        <p:strVal val="visible"/>
                                      </p:to>
                                    </p:set>
                                    <p:animEffect transition="in" filter="blinds(horizontal)">
                                      <p:cBhvr>
                                        <p:cTn id="7" dur="500"/>
                                        <p:tgtEl>
                                          <p:spTgt spid="6349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63495"/>
                                        </p:tgtEl>
                                        <p:attrNameLst>
                                          <p:attrName>style.visibility</p:attrName>
                                        </p:attrNameLst>
                                      </p:cBhvr>
                                      <p:to>
                                        <p:strVal val="visible"/>
                                      </p:to>
                                    </p:set>
                                    <p:animEffect transition="in" filter="dissolve">
                                      <p:cBhvr>
                                        <p:cTn id="12" dur="500"/>
                                        <p:tgtEl>
                                          <p:spTgt spid="634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2" grpId="0" autoUpdateAnimBg="0"/>
      <p:bldP spid="63495"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RESULTS</a:t>
            </a:r>
          </a:p>
        </p:txBody>
      </p:sp>
      <p:sp>
        <p:nvSpPr>
          <p:cNvPr id="64515"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64516" name="Text Box 4"/>
          <p:cNvSpPr txBox="1">
            <a:spLocks noChangeArrowheads="1"/>
          </p:cNvSpPr>
          <p:nvPr/>
        </p:nvSpPr>
        <p:spPr bwMode="auto">
          <a:xfrm>
            <a:off x="381000" y="838200"/>
            <a:ext cx="8439150" cy="5859463"/>
          </a:xfrm>
          <a:prstGeom prst="rect">
            <a:avLst/>
          </a:prstGeom>
          <a:noFill/>
          <a:ln w="9525">
            <a:noFill/>
            <a:miter lim="800000"/>
            <a:headEnd/>
            <a:tailEnd/>
          </a:ln>
          <a:effectLst/>
        </p:spPr>
        <p:txBody>
          <a:bodyPr>
            <a:spAutoFit/>
          </a:bodyPr>
          <a:lstStyle/>
          <a:p>
            <a:pPr marL="342900" indent="-342900">
              <a:spcBef>
                <a:spcPct val="50000"/>
              </a:spcBef>
            </a:pPr>
            <a:r>
              <a:rPr lang="en-GB" sz="2800">
                <a:solidFill>
                  <a:schemeClr val="tx1"/>
                </a:solidFill>
              </a:rPr>
              <a:t> A and D: </a:t>
            </a:r>
          </a:p>
          <a:p>
            <a:pPr marL="342900" indent="-342900">
              <a:spcBef>
                <a:spcPct val="50000"/>
              </a:spcBef>
            </a:pPr>
            <a:r>
              <a:rPr lang="en-GB" sz="2800">
                <a:solidFill>
                  <a:schemeClr val="tx1"/>
                </a:solidFill>
              </a:rPr>
              <a:t>The next morning the escape is discovered and you and all the others in the escaper’s compound are held responsible. You are beaten unconscious and left tied to a tree without food and water for 4 days. Lose 1 Health card.</a:t>
            </a:r>
            <a:r>
              <a:rPr lang="en-GB" sz="2800" b="1">
                <a:solidFill>
                  <a:schemeClr val="tx1"/>
                </a:solidFill>
                <a:latin typeface="Times New Roman" pitchFamily="18" charset="0"/>
              </a:rPr>
              <a:t>	</a:t>
            </a:r>
          </a:p>
          <a:p>
            <a:pPr marL="342900" indent="-342900">
              <a:spcBef>
                <a:spcPct val="50000"/>
              </a:spcBef>
            </a:pPr>
            <a:r>
              <a:rPr lang="en-GB" sz="2800">
                <a:solidFill>
                  <a:schemeClr val="tx1"/>
                </a:solidFill>
              </a:rPr>
              <a:t>B) Two of the escapers die in the attempt but you and the others manage to get out. You return home where you hide in the attic. Lose 1 Anxiety card</a:t>
            </a:r>
          </a:p>
          <a:p>
            <a:pPr marL="342900" indent="-342900">
              <a:spcBef>
                <a:spcPct val="50000"/>
              </a:spcBef>
            </a:pPr>
            <a:r>
              <a:rPr lang="en-GB" sz="2800">
                <a:solidFill>
                  <a:schemeClr val="tx1"/>
                </a:solidFill>
              </a:rPr>
              <a:t>C) The escapers agree to wait but actually leave that night. You receive the same fate as A and D.</a:t>
            </a:r>
          </a:p>
        </p:txBody>
      </p:sp>
      <p:pic>
        <p:nvPicPr>
          <p:cNvPr id="64517"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64518"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64519"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4516"/>
                                        </p:tgtEl>
                                        <p:attrNameLst>
                                          <p:attrName>style.visibility</p:attrName>
                                        </p:attrNameLst>
                                      </p:cBhvr>
                                      <p:to>
                                        <p:strVal val="visible"/>
                                      </p:to>
                                    </p:set>
                                    <p:animEffect transition="in" filter="blinds(horizontal)">
                                      <p:cBhvr>
                                        <p:cTn id="7" dur="500"/>
                                        <p:tgtEl>
                                          <p:spTgt spid="6451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64519"/>
                                        </p:tgtEl>
                                        <p:attrNameLst>
                                          <p:attrName>style.visibility</p:attrName>
                                        </p:attrNameLst>
                                      </p:cBhvr>
                                      <p:to>
                                        <p:strVal val="visible"/>
                                      </p:to>
                                    </p:set>
                                    <p:animEffect transition="in" filter="dissolve">
                                      <p:cBhvr>
                                        <p:cTn id="12" dur="500"/>
                                        <p:tgtEl>
                                          <p:spTgt spid="645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6" grpId="0" autoUpdateAnimBg="0"/>
      <p:bldP spid="64519"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SITUATION 20</a:t>
            </a:r>
          </a:p>
        </p:txBody>
      </p:sp>
      <p:sp>
        <p:nvSpPr>
          <p:cNvPr id="65539"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65540" name="Text Box 4"/>
          <p:cNvSpPr txBox="1">
            <a:spLocks noChangeArrowheads="1"/>
          </p:cNvSpPr>
          <p:nvPr/>
        </p:nvSpPr>
        <p:spPr bwMode="auto">
          <a:xfrm>
            <a:off x="395288" y="1484313"/>
            <a:ext cx="8223250" cy="3138487"/>
          </a:xfrm>
          <a:prstGeom prst="rect">
            <a:avLst/>
          </a:prstGeom>
          <a:noFill/>
          <a:ln w="9525">
            <a:noFill/>
            <a:miter lim="800000"/>
            <a:headEnd/>
            <a:tailEnd/>
          </a:ln>
          <a:effectLst/>
        </p:spPr>
        <p:txBody>
          <a:bodyPr>
            <a:spAutoFit/>
          </a:bodyPr>
          <a:lstStyle/>
          <a:p>
            <a:pPr>
              <a:spcBef>
                <a:spcPct val="50000"/>
              </a:spcBef>
            </a:pPr>
            <a:r>
              <a:rPr lang="en-GB" sz="3200">
                <a:solidFill>
                  <a:schemeClr val="tx1"/>
                </a:solidFill>
              </a:rPr>
              <a:t>It is early 1945. The Allied Powers are advancing across Europe. Resistance groups in German occupied territory organise a growing number of raids on Nazi posts and installations. You realise the Third Reich may be at an end.</a:t>
            </a:r>
            <a:r>
              <a:rPr lang="en-GB" b="1">
                <a:solidFill>
                  <a:schemeClr val="tx1"/>
                </a:solidFill>
                <a:latin typeface="Times New Roman" pitchFamily="18" charset="0"/>
              </a:rPr>
              <a:t>	</a:t>
            </a:r>
          </a:p>
        </p:txBody>
      </p:sp>
      <p:pic>
        <p:nvPicPr>
          <p:cNvPr id="65541"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65542"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65543"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5540"/>
                                        </p:tgtEl>
                                        <p:attrNameLst>
                                          <p:attrName>style.visibility</p:attrName>
                                        </p:attrNameLst>
                                      </p:cBhvr>
                                      <p:to>
                                        <p:strVal val="visible"/>
                                      </p:to>
                                    </p:set>
                                    <p:animEffect transition="in" filter="blinds(horizontal)">
                                      <p:cBhvr>
                                        <p:cTn id="7" dur="500"/>
                                        <p:tgtEl>
                                          <p:spTgt spid="6554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65543"/>
                                        </p:tgtEl>
                                        <p:attrNameLst>
                                          <p:attrName>style.visibility</p:attrName>
                                        </p:attrNameLst>
                                      </p:cBhvr>
                                      <p:to>
                                        <p:strVal val="visible"/>
                                      </p:to>
                                    </p:set>
                                    <p:animEffect transition="in" filter="dissolve">
                                      <p:cBhvr>
                                        <p:cTn id="12" dur="500"/>
                                        <p:tgtEl>
                                          <p:spTgt spid="655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0" grpId="0" autoUpdateAnimBg="0"/>
      <p:bldP spid="65543"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ACT NOW</a:t>
            </a:r>
          </a:p>
        </p:txBody>
      </p:sp>
      <p:sp>
        <p:nvSpPr>
          <p:cNvPr id="66563"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66564" name="Text Box 4"/>
          <p:cNvSpPr txBox="1">
            <a:spLocks noChangeArrowheads="1"/>
          </p:cNvSpPr>
          <p:nvPr/>
        </p:nvSpPr>
        <p:spPr bwMode="auto">
          <a:xfrm>
            <a:off x="381000" y="838200"/>
            <a:ext cx="8151813" cy="4359275"/>
          </a:xfrm>
          <a:prstGeom prst="rect">
            <a:avLst/>
          </a:prstGeom>
          <a:noFill/>
          <a:ln w="9525">
            <a:noFill/>
            <a:miter lim="800000"/>
            <a:headEnd/>
            <a:tailEnd/>
          </a:ln>
          <a:effectLst/>
        </p:spPr>
        <p:txBody>
          <a:bodyPr>
            <a:spAutoFit/>
          </a:bodyPr>
          <a:lstStyle/>
          <a:p>
            <a:pPr marL="342900" indent="-342900">
              <a:spcBef>
                <a:spcPct val="50000"/>
              </a:spcBef>
              <a:buFontTx/>
              <a:buAutoNum type="alphaUcParenR"/>
            </a:pPr>
            <a:r>
              <a:rPr lang="en-GB" sz="3200">
                <a:solidFill>
                  <a:schemeClr val="tx1"/>
                </a:solidFill>
              </a:rPr>
              <a:t>You pray that liberation will come soon</a:t>
            </a:r>
          </a:p>
          <a:p>
            <a:pPr marL="342900" indent="-342900">
              <a:spcBef>
                <a:spcPct val="50000"/>
              </a:spcBef>
            </a:pPr>
            <a:r>
              <a:rPr lang="en-GB" sz="3200">
                <a:solidFill>
                  <a:schemeClr val="tx1"/>
                </a:solidFill>
              </a:rPr>
              <a:t>B) You leave your home and join fighters in the hills and forests.</a:t>
            </a:r>
          </a:p>
          <a:p>
            <a:pPr marL="342900" indent="-342900">
              <a:spcBef>
                <a:spcPct val="50000"/>
              </a:spcBef>
            </a:pPr>
            <a:r>
              <a:rPr lang="en-GB" sz="3200">
                <a:solidFill>
                  <a:schemeClr val="tx1"/>
                </a:solidFill>
              </a:rPr>
              <a:t>C) You agree to distribute material asking people to support the struggle. </a:t>
            </a:r>
          </a:p>
          <a:p>
            <a:pPr marL="342900" indent="-342900">
              <a:spcBef>
                <a:spcPct val="50000"/>
              </a:spcBef>
            </a:pPr>
            <a:r>
              <a:rPr lang="en-GB" sz="3200">
                <a:solidFill>
                  <a:schemeClr val="tx1"/>
                </a:solidFill>
              </a:rPr>
              <a:t>D) You give money to a secret fund organised by opposition groups</a:t>
            </a:r>
            <a:r>
              <a:rPr lang="en-GB" b="1">
                <a:solidFill>
                  <a:schemeClr val="tx1"/>
                </a:solidFill>
                <a:latin typeface="Times New Roman" pitchFamily="18" charset="0"/>
              </a:rPr>
              <a:t>	</a:t>
            </a:r>
          </a:p>
        </p:txBody>
      </p:sp>
      <p:pic>
        <p:nvPicPr>
          <p:cNvPr id="66565"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66566"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66567"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6564"/>
                                        </p:tgtEl>
                                        <p:attrNameLst>
                                          <p:attrName>style.visibility</p:attrName>
                                        </p:attrNameLst>
                                      </p:cBhvr>
                                      <p:to>
                                        <p:strVal val="visible"/>
                                      </p:to>
                                    </p:set>
                                    <p:animEffect transition="in" filter="blinds(horizontal)">
                                      <p:cBhvr>
                                        <p:cTn id="7" dur="500"/>
                                        <p:tgtEl>
                                          <p:spTgt spid="6656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66567"/>
                                        </p:tgtEl>
                                        <p:attrNameLst>
                                          <p:attrName>style.visibility</p:attrName>
                                        </p:attrNameLst>
                                      </p:cBhvr>
                                      <p:to>
                                        <p:strVal val="visible"/>
                                      </p:to>
                                    </p:set>
                                    <p:animEffect transition="in" filter="dissolve">
                                      <p:cBhvr>
                                        <p:cTn id="12" dur="500"/>
                                        <p:tgtEl>
                                          <p:spTgt spid="665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4" grpId="0" autoUpdateAnimBg="0"/>
      <p:bldP spid="66567"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pPr algn="ctr"/>
            <a:r>
              <a:rPr lang="en-AU"/>
              <a:t>RESULTS</a:t>
            </a:r>
          </a:p>
        </p:txBody>
      </p:sp>
      <p:sp>
        <p:nvSpPr>
          <p:cNvPr id="67587"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67588" name="Text Box 4"/>
          <p:cNvSpPr txBox="1">
            <a:spLocks noChangeArrowheads="1"/>
          </p:cNvSpPr>
          <p:nvPr/>
        </p:nvSpPr>
        <p:spPr bwMode="auto">
          <a:xfrm>
            <a:off x="323850" y="1412875"/>
            <a:ext cx="8512175" cy="3997325"/>
          </a:xfrm>
          <a:prstGeom prst="rect">
            <a:avLst/>
          </a:prstGeom>
          <a:noFill/>
          <a:ln w="9525">
            <a:noFill/>
            <a:miter lim="800000"/>
            <a:headEnd/>
            <a:tailEnd/>
          </a:ln>
          <a:effectLst/>
        </p:spPr>
        <p:txBody>
          <a:bodyPr>
            <a:spAutoFit/>
          </a:bodyPr>
          <a:lstStyle/>
          <a:p>
            <a:pPr>
              <a:spcBef>
                <a:spcPct val="50000"/>
              </a:spcBef>
            </a:pPr>
            <a:r>
              <a:rPr lang="en-GB" sz="3600">
                <a:solidFill>
                  <a:schemeClr val="tx1"/>
                </a:solidFill>
              </a:rPr>
              <a:t>The Allies converge on Berlin and the capital is virtually destroyed. Hitler in his underground bunker commits suicide, his lieutenants flee and the Third Reich disintegrates. The concentration camp victims are liberated. You have survived. </a:t>
            </a:r>
            <a:r>
              <a:rPr lang="en-GB" b="1">
                <a:solidFill>
                  <a:schemeClr val="tx1"/>
                </a:solidFill>
                <a:latin typeface="Times New Roman" pitchFamily="18" charset="0"/>
              </a:rPr>
              <a:t>	</a:t>
            </a:r>
          </a:p>
        </p:txBody>
      </p:sp>
      <p:pic>
        <p:nvPicPr>
          <p:cNvPr id="67589"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67590"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67591"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7588"/>
                                        </p:tgtEl>
                                        <p:attrNameLst>
                                          <p:attrName>style.visibility</p:attrName>
                                        </p:attrNameLst>
                                      </p:cBhvr>
                                      <p:to>
                                        <p:strVal val="visible"/>
                                      </p:to>
                                    </p:set>
                                    <p:animEffect transition="in" filter="blinds(horizontal)">
                                      <p:cBhvr>
                                        <p:cTn id="7" dur="500"/>
                                        <p:tgtEl>
                                          <p:spTgt spid="6758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67591"/>
                                        </p:tgtEl>
                                        <p:attrNameLst>
                                          <p:attrName>style.visibility</p:attrName>
                                        </p:attrNameLst>
                                      </p:cBhvr>
                                      <p:to>
                                        <p:strVal val="visible"/>
                                      </p:to>
                                    </p:set>
                                    <p:animEffect transition="in" filter="dissolve">
                                      <p:cBhvr>
                                        <p:cTn id="12" dur="500"/>
                                        <p:tgtEl>
                                          <p:spTgt spid="67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8" grpId="0" autoUpdateAnimBg="0"/>
      <p:bldP spid="67591"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ChangeArrowheads="1"/>
          </p:cNvSpPr>
          <p:nvPr/>
        </p:nvSpPr>
        <p:spPr bwMode="auto">
          <a:xfrm>
            <a:off x="0" y="0"/>
            <a:ext cx="9144000" cy="762000"/>
          </a:xfrm>
          <a:prstGeom prst="rect">
            <a:avLst/>
          </a:prstGeom>
          <a:solidFill>
            <a:srgbClr val="FC3000"/>
          </a:solidFill>
          <a:ln w="12700" cap="sq">
            <a:solidFill>
              <a:schemeClr val="tx1"/>
            </a:solidFill>
            <a:miter lim="800000"/>
            <a:headEnd type="none" w="sm" len="sm"/>
            <a:tailEnd type="none" w="sm" len="sm"/>
          </a:ln>
          <a:effectLst/>
        </p:spPr>
        <p:txBody>
          <a:bodyPr wrap="none" anchor="ctr"/>
          <a:lstStyle/>
          <a:p>
            <a:endParaRPr lang="en-AU"/>
          </a:p>
        </p:txBody>
      </p:sp>
      <p:sp>
        <p:nvSpPr>
          <p:cNvPr id="68611" name="Text Box 3"/>
          <p:cNvSpPr txBox="1">
            <a:spLocks noChangeArrowheads="1"/>
          </p:cNvSpPr>
          <p:nvPr/>
        </p:nvSpPr>
        <p:spPr bwMode="auto">
          <a:xfrm>
            <a:off x="-1143000" y="3429000"/>
            <a:ext cx="533400" cy="1098550"/>
          </a:xfrm>
          <a:prstGeom prst="rect">
            <a:avLst/>
          </a:prstGeom>
          <a:noFill/>
          <a:ln w="9525">
            <a:noFill/>
            <a:miter lim="800000"/>
            <a:headEnd/>
            <a:tailEnd/>
          </a:ln>
          <a:effectLst/>
        </p:spPr>
        <p:txBody>
          <a:bodyPr>
            <a:spAutoFit/>
          </a:bodyPr>
          <a:lstStyle/>
          <a:p>
            <a:pPr>
              <a:spcBef>
                <a:spcPct val="50000"/>
              </a:spcBef>
            </a:pPr>
            <a:endParaRPr lang="en-US" sz="6600" b="1">
              <a:solidFill>
                <a:schemeClr val="tx1"/>
              </a:solidFill>
              <a:latin typeface="Times New Roman" pitchFamily="18" charset="0"/>
            </a:endParaRPr>
          </a:p>
        </p:txBody>
      </p:sp>
      <p:sp>
        <p:nvSpPr>
          <p:cNvPr id="68612" name="Text Box 4"/>
          <p:cNvSpPr txBox="1">
            <a:spLocks noChangeArrowheads="1"/>
          </p:cNvSpPr>
          <p:nvPr/>
        </p:nvSpPr>
        <p:spPr bwMode="auto">
          <a:xfrm>
            <a:off x="381000" y="838200"/>
            <a:ext cx="8763000" cy="701675"/>
          </a:xfrm>
          <a:prstGeom prst="rect">
            <a:avLst/>
          </a:prstGeom>
          <a:noFill/>
          <a:ln w="9525">
            <a:noFill/>
            <a:miter lim="800000"/>
            <a:headEnd/>
            <a:tailEnd/>
          </a:ln>
          <a:effectLst/>
        </p:spPr>
        <p:txBody>
          <a:bodyPr>
            <a:spAutoFit/>
          </a:bodyPr>
          <a:lstStyle/>
          <a:p>
            <a:pPr>
              <a:spcBef>
                <a:spcPct val="50000"/>
              </a:spcBef>
            </a:pPr>
            <a:r>
              <a:rPr lang="en-GB" b="1">
                <a:solidFill>
                  <a:schemeClr val="tx1"/>
                </a:solidFill>
                <a:latin typeface="Times New Roman" pitchFamily="18" charset="0"/>
              </a:rPr>
              <a:t>	</a:t>
            </a:r>
          </a:p>
        </p:txBody>
      </p:sp>
      <p:pic>
        <p:nvPicPr>
          <p:cNvPr id="68613" name="Picture 5" descr="de~1933"/>
          <p:cNvPicPr>
            <a:picLocks noChangeAspect="1" noChangeArrowheads="1"/>
          </p:cNvPicPr>
          <p:nvPr/>
        </p:nvPicPr>
        <p:blipFill>
          <a:blip r:embed="rId3" cstate="print"/>
          <a:srcRect/>
          <a:stretch>
            <a:fillRect/>
          </a:stretch>
        </p:blipFill>
        <p:spPr bwMode="auto">
          <a:xfrm>
            <a:off x="0" y="57150"/>
            <a:ext cx="914400" cy="681038"/>
          </a:xfrm>
          <a:prstGeom prst="rect">
            <a:avLst/>
          </a:prstGeom>
          <a:noFill/>
        </p:spPr>
      </p:pic>
      <p:sp>
        <p:nvSpPr>
          <p:cNvPr id="68614" name="Rectangle 6"/>
          <p:cNvSpPr>
            <a:spLocks noChangeArrowheads="1"/>
          </p:cNvSpPr>
          <p:nvPr/>
        </p:nvSpPr>
        <p:spPr bwMode="auto">
          <a:xfrm>
            <a:off x="369888" y="1406525"/>
            <a:ext cx="9144000" cy="0"/>
          </a:xfrm>
          <a:prstGeom prst="rect">
            <a:avLst/>
          </a:prstGeom>
          <a:noFill/>
          <a:ln w="12700" cap="sq">
            <a:noFill/>
            <a:miter lim="800000"/>
            <a:headEnd type="none" w="sm" len="sm"/>
            <a:tailEnd type="none" w="sm" len="sm"/>
          </a:ln>
          <a:effectLst/>
        </p:spPr>
        <p:txBody>
          <a:bodyPr>
            <a:spAutoFit/>
          </a:bodyPr>
          <a:lstStyle/>
          <a:p>
            <a:endParaRPr lang="en-AU"/>
          </a:p>
        </p:txBody>
      </p:sp>
      <p:sp>
        <p:nvSpPr>
          <p:cNvPr id="68615" name="Text Box 7"/>
          <p:cNvSpPr txBox="1">
            <a:spLocks noChangeArrowheads="1"/>
          </p:cNvSpPr>
          <p:nvPr/>
        </p:nvSpPr>
        <p:spPr bwMode="auto">
          <a:xfrm>
            <a:off x="5943600" y="0"/>
            <a:ext cx="3200400" cy="304800"/>
          </a:xfrm>
          <a:prstGeom prst="rect">
            <a:avLst/>
          </a:prstGeom>
          <a:noFill/>
          <a:ln w="12700" cap="sq">
            <a:noFill/>
            <a:miter lim="800000"/>
            <a:headEnd type="none" w="sm" len="sm"/>
            <a:tailEnd type="none" w="sm" len="sm"/>
          </a:ln>
          <a:effectLst/>
        </p:spPr>
        <p:txBody>
          <a:bodyPr>
            <a:spAutoFit/>
          </a:bodyPr>
          <a:lstStyle/>
          <a:p>
            <a:pPr algn="r">
              <a:spcBef>
                <a:spcPct val="50000"/>
              </a:spcBef>
            </a:pPr>
            <a:endParaRPr lang="en-GB" sz="1400">
              <a:solidFill>
                <a:srgbClr val="FFFF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8612"/>
                                        </p:tgtEl>
                                        <p:attrNameLst>
                                          <p:attrName>style.visibility</p:attrName>
                                        </p:attrNameLst>
                                      </p:cBhvr>
                                      <p:to>
                                        <p:strVal val="visible"/>
                                      </p:to>
                                    </p:set>
                                    <p:animEffect transition="in" filter="blinds(horizontal)">
                                      <p:cBhvr>
                                        <p:cTn id="7" dur="500"/>
                                        <p:tgtEl>
                                          <p:spTgt spid="686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68615"/>
                                        </p:tgtEl>
                                        <p:attrNameLst>
                                          <p:attrName>style.visibility</p:attrName>
                                        </p:attrNameLst>
                                      </p:cBhvr>
                                      <p:to>
                                        <p:strVal val="visible"/>
                                      </p:to>
                                    </p:set>
                                    <p:animEffect transition="in" filter="dissolve">
                                      <p:cBhvr>
                                        <p:cTn id="12" dur="500"/>
                                        <p:tgtEl>
                                          <p:spTgt spid="686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autoUpdateAnimBg="0"/>
      <p:bldP spid="68615" grpId="0" autoUpdateAnimBg="0"/>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AU" sz="40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AU" sz="4000" b="0" i="0" u="none" strike="noStrike" cap="none" normalizeH="0" baseline="0" smtClean="0">
            <a:ln>
              <a:noFill/>
            </a:ln>
            <a:solidFill>
              <a:schemeClr val="bg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376</TotalTime>
  <Words>3540</Words>
  <Application>Microsoft Office PowerPoint</Application>
  <PresentationFormat>On-screen Show (4:3)</PresentationFormat>
  <Paragraphs>318</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Times New Roman</vt:lpstr>
      <vt:lpstr>Default Design</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Department of Education and Training (WA)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DET</dc:creator>
  <cp:lastModifiedBy>Robyn</cp:lastModifiedBy>
  <cp:revision>31</cp:revision>
  <dcterms:created xsi:type="dcterms:W3CDTF">2008-09-14T07:40:06Z</dcterms:created>
  <dcterms:modified xsi:type="dcterms:W3CDTF">2011-11-25T14:18:43Z</dcterms:modified>
</cp:coreProperties>
</file>
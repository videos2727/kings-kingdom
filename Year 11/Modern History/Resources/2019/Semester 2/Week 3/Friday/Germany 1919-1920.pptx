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0" r:id="rId5"/>
    <p:sldId id="258" r:id="rId6"/>
    <p:sldId id="262" r:id="rId7"/>
    <p:sldId id="265" r:id="rId8"/>
    <p:sldId id="263" r:id="rId9"/>
    <p:sldId id="270" r:id="rId10"/>
    <p:sldId id="272" r:id="rId11"/>
    <p:sldId id="273" r:id="rId12"/>
    <p:sldId id="274" r:id="rId13"/>
    <p:sldId id="275" r:id="rId14"/>
    <p:sldId id="276" r:id="rId15"/>
    <p:sldId id="277" r:id="rId16"/>
    <p:sldId id="278" r:id="rId17"/>
    <p:sldId id="279" r:id="rId18"/>
    <p:sldId id="280" r:id="rId19"/>
    <p:sldId id="267" r:id="rId20"/>
    <p:sldId id="268" r:id="rId21"/>
    <p:sldId id="269" r:id="rId22"/>
    <p:sldId id="266" r:id="rId23"/>
    <p:sldId id="271" r:id="rId24"/>
    <p:sldId id="281" r:id="rId25"/>
    <p:sldId id="282" r:id="rId26"/>
    <p:sldId id="283"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7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37BC0F0-9F20-4F98-9DCB-44CD241846FE}" type="datetimeFigureOut">
              <a:rPr lang="en-AU" smtClean="0"/>
              <a:t>21/06/2019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227026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7BC0F0-9F20-4F98-9DCB-44CD241846FE}" type="datetimeFigureOut">
              <a:rPr lang="en-AU" smtClean="0"/>
              <a:t>21/06/2019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137075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37BC0F0-9F20-4F98-9DCB-44CD241846FE}" type="datetimeFigureOut">
              <a:rPr lang="en-AU" smtClean="0"/>
              <a:t>21/06/2019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101627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2167043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37BC0F0-9F20-4F98-9DCB-44CD241846FE}" type="datetimeFigureOut">
              <a:rPr lang="en-AU" smtClean="0"/>
              <a:t>21/06/2019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49215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37BC0F0-9F20-4F98-9DCB-44CD241846FE}" type="datetimeFigureOut">
              <a:rPr lang="en-AU" smtClean="0"/>
              <a:t>21/06/2019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18764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7BC0F0-9F20-4F98-9DCB-44CD241846FE}" type="datetimeFigureOut">
              <a:rPr lang="en-AU" smtClean="0"/>
              <a:t>21/06/2019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1481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2413966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68209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2125101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1965210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656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7BC0F0-9F20-4F98-9DCB-44CD241846FE}" type="datetimeFigureOut">
              <a:rPr lang="en-AU" smtClean="0"/>
              <a:t>21/06/2019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4063831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37BC0F0-9F20-4F98-9DCB-44CD241846FE}" type="datetimeFigureOut">
              <a:rPr lang="en-AU" smtClean="0"/>
              <a:t>21/06/2019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1740525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37BC0F0-9F20-4F98-9DCB-44CD241846FE}" type="datetimeFigureOut">
              <a:rPr lang="en-AU" smtClean="0"/>
              <a:t>21/06/2019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566177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7BC0F0-9F20-4F98-9DCB-44CD241846FE}" type="datetimeFigureOut">
              <a:rPr lang="en-AU" smtClean="0"/>
              <a:t>21/06/2019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7811549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7BC0F0-9F20-4F98-9DCB-44CD241846FE}" type="datetimeFigureOut">
              <a:rPr lang="en-AU" smtClean="0"/>
              <a:t>21/06/2019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DDD31A-324E-408F-81F2-E2176DB26453}" type="slidenum">
              <a:rPr lang="en-AU" smtClean="0"/>
              <a:t>‹#›</a:t>
            </a:fld>
            <a:endParaRPr lang="en-AU"/>
          </a:p>
        </p:txBody>
      </p:sp>
    </p:spTree>
    <p:extLst>
      <p:ext uri="{BB962C8B-B14F-4D97-AF65-F5344CB8AC3E}">
        <p14:creationId xmlns:p14="http://schemas.microsoft.com/office/powerpoint/2010/main" val="3511205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37BC0F0-9F20-4F98-9DCB-44CD241846FE}" type="datetimeFigureOut">
              <a:rPr lang="en-AU" smtClean="0"/>
              <a:t>21/06/2019</a:t>
            </a:fld>
            <a:endParaRPr lang="en-A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A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EDDD31A-324E-408F-81F2-E2176DB26453}" type="slidenum">
              <a:rPr lang="en-AU" smtClean="0"/>
              <a:t>‹#›</a:t>
            </a:fld>
            <a:endParaRPr lang="en-AU"/>
          </a:p>
        </p:txBody>
      </p:sp>
    </p:spTree>
    <p:extLst>
      <p:ext uri="{BB962C8B-B14F-4D97-AF65-F5344CB8AC3E}">
        <p14:creationId xmlns:p14="http://schemas.microsoft.com/office/powerpoint/2010/main" val="108973861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DtvJbm_KFz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hyperlink" Target="https://www.youtube.com/watch?v=k6uqiavnu-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www.youtube.com/watch?v=KzY0fKz6dXc"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youtube.com/watch?v=vrYhLNQMRr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create.kahoot.it/details/treaty-of-versailles/612b6d2d-3dc5-4e07-9f6a-b5737ef48d87"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497693"/>
            <a:ext cx="9440034" cy="1828801"/>
          </a:xfrm>
        </p:spPr>
        <p:txBody>
          <a:bodyPr/>
          <a:lstStyle/>
          <a:p>
            <a:r>
              <a:rPr lang="en-AU" dirty="0" smtClean="0"/>
              <a:t>Germany </a:t>
            </a:r>
            <a:r>
              <a:rPr lang="en-AU" dirty="0"/>
              <a:t>1919-1920</a:t>
            </a:r>
          </a:p>
        </p:txBody>
      </p:sp>
      <p:sp>
        <p:nvSpPr>
          <p:cNvPr id="3" name="Subtitle 2"/>
          <p:cNvSpPr>
            <a:spLocks noGrp="1"/>
          </p:cNvSpPr>
          <p:nvPr>
            <p:ph type="subTitle" idx="1"/>
          </p:nvPr>
        </p:nvSpPr>
        <p:spPr>
          <a:xfrm>
            <a:off x="1370693" y="3598339"/>
            <a:ext cx="9440034" cy="2661145"/>
          </a:xfrm>
        </p:spPr>
        <p:txBody>
          <a:bodyPr>
            <a:normAutofit/>
          </a:bodyPr>
          <a:lstStyle/>
          <a:p>
            <a:r>
              <a:rPr lang="en-AU" dirty="0" smtClean="0"/>
              <a:t>The </a:t>
            </a:r>
            <a:r>
              <a:rPr lang="en-AU" dirty="0"/>
              <a:t>impact of </a:t>
            </a:r>
            <a:r>
              <a:rPr lang="en-AU" dirty="0" smtClean="0"/>
              <a:t>defeat – November 1918 </a:t>
            </a:r>
            <a:endParaRPr lang="en-AU" dirty="0"/>
          </a:p>
          <a:p>
            <a:r>
              <a:rPr lang="en-AU" dirty="0" smtClean="0"/>
              <a:t>The </a:t>
            </a:r>
            <a:r>
              <a:rPr lang="en-AU" dirty="0"/>
              <a:t>November R</a:t>
            </a:r>
            <a:r>
              <a:rPr lang="en-AU" dirty="0" smtClean="0"/>
              <a:t>evolution – 1918-1919</a:t>
            </a:r>
            <a:endParaRPr lang="en-AU" dirty="0"/>
          </a:p>
          <a:p>
            <a:r>
              <a:rPr lang="en-AU" dirty="0" smtClean="0"/>
              <a:t>Establishment </a:t>
            </a:r>
            <a:r>
              <a:rPr lang="en-AU" dirty="0"/>
              <a:t>of the Weimar </a:t>
            </a:r>
            <a:r>
              <a:rPr lang="en-AU" dirty="0" smtClean="0"/>
              <a:t>Republic 1919</a:t>
            </a:r>
            <a:endParaRPr lang="en-AU" dirty="0"/>
          </a:p>
          <a:p>
            <a:r>
              <a:rPr lang="en-AU" dirty="0" smtClean="0"/>
              <a:t>The </a:t>
            </a:r>
            <a:r>
              <a:rPr lang="en-AU" dirty="0"/>
              <a:t>Weimar constitution and its weaknesses </a:t>
            </a:r>
          </a:p>
          <a:p>
            <a:r>
              <a:rPr lang="en-AU" dirty="0" smtClean="0"/>
              <a:t>The Treaty of Versailles</a:t>
            </a:r>
            <a:endParaRPr lang="en-AU" dirty="0"/>
          </a:p>
        </p:txBody>
      </p:sp>
      <p:pic>
        <p:nvPicPr>
          <p:cNvPr id="1026" name="Picture 2" descr="Image result for november revolution germa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15" y="4218681"/>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weimar constit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146" y="797731"/>
            <a:ext cx="2095500" cy="30575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germany's defeat in w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3999" y="4608360"/>
            <a:ext cx="2619606" cy="17534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germany's defeat in ww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7815" y="974838"/>
            <a:ext cx="2357419" cy="1572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3840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impact of defeat</a:t>
            </a:r>
            <a:endParaRPr lang="en-AU" dirty="0"/>
          </a:p>
        </p:txBody>
      </p:sp>
      <p:sp>
        <p:nvSpPr>
          <p:cNvPr id="3" name="Content Placeholder 2"/>
          <p:cNvSpPr>
            <a:spLocks noGrp="1"/>
          </p:cNvSpPr>
          <p:nvPr>
            <p:ph idx="1"/>
          </p:nvPr>
        </p:nvSpPr>
        <p:spPr/>
        <p:txBody>
          <a:bodyPr>
            <a:normAutofit/>
          </a:bodyPr>
          <a:lstStyle/>
          <a:p>
            <a:r>
              <a:rPr lang="en-AU" sz="3000" dirty="0" smtClean="0"/>
              <a:t>Devastating impact economically and socially.</a:t>
            </a:r>
          </a:p>
          <a:p>
            <a:r>
              <a:rPr lang="en-AU" sz="3000" dirty="0" smtClean="0"/>
              <a:t>Completely changed the political climate of Germany – from monarchy to republic (democracy)</a:t>
            </a:r>
            <a:endParaRPr lang="en-AU" sz="3000" dirty="0"/>
          </a:p>
        </p:txBody>
      </p:sp>
      <p:pic>
        <p:nvPicPr>
          <p:cNvPr id="2050" name="Picture 2" descr="Image result for germany defeat ww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0694" y="3677688"/>
            <a:ext cx="3399963" cy="282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9005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The November Revolution 1918-1919</a:t>
            </a:r>
            <a:endParaRPr lang="en-AU" dirty="0"/>
          </a:p>
        </p:txBody>
      </p:sp>
      <p:sp>
        <p:nvSpPr>
          <p:cNvPr id="3" name="Content Placeholder 2"/>
          <p:cNvSpPr>
            <a:spLocks noGrp="1"/>
          </p:cNvSpPr>
          <p:nvPr>
            <p:ph idx="1"/>
          </p:nvPr>
        </p:nvSpPr>
        <p:spPr>
          <a:xfrm>
            <a:off x="913795" y="1732448"/>
            <a:ext cx="10353762" cy="4801355"/>
          </a:xfrm>
        </p:spPr>
        <p:txBody>
          <a:bodyPr>
            <a:normAutofit lnSpcReduction="10000"/>
          </a:bodyPr>
          <a:lstStyle/>
          <a:p>
            <a:r>
              <a:rPr lang="en-AU" sz="2400" dirty="0" smtClean="0"/>
              <a:t>German Revolution: </a:t>
            </a:r>
            <a:r>
              <a:rPr lang="en-AU" sz="2400" dirty="0">
                <a:hlinkClick r:id="rId2"/>
              </a:rPr>
              <a:t>https://www.youtube.com/watch?v=DtvJbm_KFzY</a:t>
            </a:r>
            <a:endParaRPr lang="en-AU" sz="2400" dirty="0" smtClean="0"/>
          </a:p>
          <a:p>
            <a:r>
              <a:rPr lang="en-AU" sz="2400" dirty="0" smtClean="0"/>
              <a:t>Kaiser Wilhelm II abdicated 10</a:t>
            </a:r>
            <a:r>
              <a:rPr lang="en-AU" sz="2400" baseline="30000" dirty="0" smtClean="0"/>
              <a:t>th</a:t>
            </a:r>
            <a:r>
              <a:rPr lang="en-AU" sz="2400" dirty="0" smtClean="0"/>
              <a:t> November, a day later armistice signed by Social Democrats ending WW1 – admitting defeat.</a:t>
            </a:r>
          </a:p>
          <a:p>
            <a:r>
              <a:rPr lang="en-AU" sz="2400" dirty="0" smtClean="0"/>
              <a:t>Following end of monarchy political unrest. Most popular political party at the time the Social Democratic Party of Germany (SPD) in control, announce Weimar Republic – later called ‘November Criminals’ for signing armistice.</a:t>
            </a:r>
          </a:p>
          <a:p>
            <a:r>
              <a:rPr lang="en-AU" sz="2400" dirty="0" smtClean="0"/>
              <a:t>On </a:t>
            </a:r>
            <a:r>
              <a:rPr lang="en-AU" sz="2400" dirty="0"/>
              <a:t>January 5th 1919, the Spartacists attempted an armed takeover of </a:t>
            </a:r>
            <a:r>
              <a:rPr lang="en-AU" sz="2400" dirty="0" smtClean="0"/>
              <a:t>Berlin (Spartacist Uprising - Communists) – unsuccessful</a:t>
            </a:r>
            <a:r>
              <a:rPr lang="en-AU" sz="2400" dirty="0"/>
              <a:t>. </a:t>
            </a:r>
            <a:r>
              <a:rPr lang="en-AU" sz="2400" dirty="0" smtClean="0"/>
              <a:t>Government saved by armed </a:t>
            </a:r>
            <a:r>
              <a:rPr lang="en-AU" sz="2400" dirty="0"/>
              <a:t>bands of ex-soldiers, known as the Freikorps, who defeated the Spartacist rebels.</a:t>
            </a:r>
            <a:endParaRPr lang="en-AU" sz="2400" dirty="0" smtClean="0"/>
          </a:p>
          <a:p>
            <a:r>
              <a:rPr lang="en-AU" sz="2400" dirty="0" smtClean="0"/>
              <a:t>Revolution ended August 1919 when Weimar Constitution signed.</a:t>
            </a:r>
          </a:p>
          <a:p>
            <a:endParaRPr lang="en-AU" dirty="0"/>
          </a:p>
        </p:txBody>
      </p:sp>
    </p:spTree>
    <p:extLst>
      <p:ext uri="{BB962C8B-B14F-4D97-AF65-F5344CB8AC3E}">
        <p14:creationId xmlns:p14="http://schemas.microsoft.com/office/powerpoint/2010/main" val="1634174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5884" y="254833"/>
            <a:ext cx="11596255" cy="5561351"/>
          </a:xfrm>
          <a:ln>
            <a:solidFill>
              <a:schemeClr val="tx1"/>
            </a:solidFill>
          </a:ln>
        </p:spPr>
        <p:txBody>
          <a:bodyPr>
            <a:noAutofit/>
          </a:bodyPr>
          <a:lstStyle/>
          <a:p>
            <a:pPr marL="36900" indent="0">
              <a:buNone/>
            </a:pPr>
            <a:r>
              <a:rPr lang="en-AU" sz="1600" dirty="0"/>
              <a:t>With Germany on the brink of defeat in World War I and a revolutionary mood sweeping the country, the unpopular emperor Kaiser Wilhelm II was forced to abdicate, ending Germany's monarchy.</a:t>
            </a:r>
          </a:p>
          <a:p>
            <a:pPr marL="36900" indent="0">
              <a:buNone/>
            </a:pPr>
            <a:r>
              <a:rPr lang="en-AU" sz="1600" dirty="0" smtClean="0"/>
              <a:t>Word </a:t>
            </a:r>
            <a:r>
              <a:rPr lang="en-AU" sz="1600" dirty="0"/>
              <a:t>spread that the Communists, led by Karl Liebknecht, would soon pronounce a communist republic. To prevent this, on November 9th, 1918, the deputy chairman of the Social Democrats, Philipp </a:t>
            </a:r>
            <a:r>
              <a:rPr lang="en-AU" sz="1600" dirty="0" err="1"/>
              <a:t>Scheidemann</a:t>
            </a:r>
            <a:r>
              <a:rPr lang="en-AU" sz="1600" dirty="0"/>
              <a:t> rushed to the balcony of Berlin's Reichstag parliament to announce the birth of what would become the Weimar Republic.</a:t>
            </a:r>
          </a:p>
          <a:p>
            <a:pPr marL="36900" indent="0">
              <a:buNone/>
            </a:pPr>
            <a:r>
              <a:rPr lang="en-AU" sz="1600" dirty="0" smtClean="0"/>
              <a:t>"</a:t>
            </a:r>
            <a:r>
              <a:rPr lang="en-AU" sz="1600" dirty="0"/>
              <a:t>Long live the German republic!" he shouted.</a:t>
            </a:r>
          </a:p>
          <a:p>
            <a:pPr marL="36900" indent="0">
              <a:buNone/>
            </a:pPr>
            <a:r>
              <a:rPr lang="en-AU" sz="1600" dirty="0" smtClean="0"/>
              <a:t>But </a:t>
            </a:r>
            <a:r>
              <a:rPr lang="en-AU" sz="1600" dirty="0"/>
              <a:t>a few hours later, Liebknecht also declared the birth of the ‘free socialist German republic’. Germany was in a state of instability and strife.</a:t>
            </a:r>
          </a:p>
          <a:p>
            <a:pPr marL="36900" indent="0">
              <a:buNone/>
            </a:pPr>
            <a:r>
              <a:rPr lang="en-AU" sz="1600" dirty="0" smtClean="0"/>
              <a:t>Two </a:t>
            </a:r>
            <a:r>
              <a:rPr lang="en-AU" sz="1600" dirty="0"/>
              <a:t>days later, Germany agreed to sign an armistice that ended the Great War against the Allied forces.</a:t>
            </a:r>
          </a:p>
          <a:p>
            <a:pPr marL="36900" indent="0">
              <a:buNone/>
            </a:pPr>
            <a:r>
              <a:rPr lang="en-AU" sz="1600" dirty="0" smtClean="0"/>
              <a:t>Eventually</a:t>
            </a:r>
            <a:r>
              <a:rPr lang="en-AU" sz="1600" dirty="0"/>
              <a:t>, the government relocated to Weimar in January 1919, where it was able to establish a parliamentary democracy. But serious problems and unrest still plagued the country.</a:t>
            </a:r>
          </a:p>
          <a:p>
            <a:pPr marL="36900" indent="0">
              <a:buNone/>
            </a:pPr>
            <a:r>
              <a:rPr lang="en-AU" sz="1600" dirty="0" smtClean="0"/>
              <a:t>The </a:t>
            </a:r>
            <a:r>
              <a:rPr lang="en-AU" sz="1600" dirty="0"/>
              <a:t>terms of Germany's surrender were deemed so humiliating that historians believe they helped sow the seeds for World War II.</a:t>
            </a:r>
          </a:p>
          <a:p>
            <a:pPr marL="36900" indent="0">
              <a:buNone/>
            </a:pPr>
            <a:r>
              <a:rPr lang="en-AU" sz="1600" dirty="0" smtClean="0"/>
              <a:t>It </a:t>
            </a:r>
            <a:r>
              <a:rPr lang="en-AU" sz="1600" dirty="0"/>
              <a:t>became the basis of the </a:t>
            </a:r>
            <a:r>
              <a:rPr lang="en-AU" sz="1600" dirty="0" err="1"/>
              <a:t>Dolchstoßegende</a:t>
            </a:r>
            <a:r>
              <a:rPr lang="en-AU" sz="1600" dirty="0"/>
              <a:t>, or the “stab-in-the-back-myth”. Right-wing circles asserted the belief that the German forces had not actually lost the war, but that the country had been betrayed, or stabbed in the back, by civilians at home.</a:t>
            </a:r>
          </a:p>
          <a:p>
            <a:pPr marL="36900" indent="0">
              <a:buNone/>
            </a:pPr>
            <a:r>
              <a:rPr lang="en-AU" sz="1600" dirty="0" smtClean="0"/>
              <a:t>They </a:t>
            </a:r>
            <a:r>
              <a:rPr lang="en-AU" sz="1600" dirty="0"/>
              <a:t>wanted to blame the so-called “November Criminals”, the politicians involved in the armistice and the November Revolution.</a:t>
            </a:r>
          </a:p>
          <a:p>
            <a:pPr marL="36900" indent="0">
              <a:buNone/>
            </a:pPr>
            <a:r>
              <a:rPr lang="en-AU" sz="1600" dirty="0" smtClean="0"/>
              <a:t>In </a:t>
            </a:r>
            <a:r>
              <a:rPr lang="en-AU" sz="1600" dirty="0"/>
              <a:t>the following decades, the </a:t>
            </a:r>
            <a:r>
              <a:rPr lang="en-AU" sz="1600" dirty="0" err="1"/>
              <a:t>Dolchstoßlegende</a:t>
            </a:r>
            <a:r>
              <a:rPr lang="en-AU" sz="1600" dirty="0"/>
              <a:t> and the myth of the November Criminals became a core component of right-wing rhetoric.</a:t>
            </a:r>
          </a:p>
        </p:txBody>
      </p:sp>
      <p:sp>
        <p:nvSpPr>
          <p:cNvPr id="4" name="TextBox 3"/>
          <p:cNvSpPr txBox="1"/>
          <p:nvPr/>
        </p:nvSpPr>
        <p:spPr>
          <a:xfrm>
            <a:off x="315884" y="6169407"/>
            <a:ext cx="7822276" cy="369332"/>
          </a:xfrm>
          <a:prstGeom prst="rect">
            <a:avLst/>
          </a:prstGeom>
          <a:noFill/>
        </p:spPr>
        <p:txBody>
          <a:bodyPr wrap="square" rtlCol="0">
            <a:spAutoFit/>
          </a:bodyPr>
          <a:lstStyle/>
          <a:p>
            <a:r>
              <a:rPr lang="en-AU" dirty="0" smtClean="0"/>
              <a:t>What is the </a:t>
            </a:r>
            <a:r>
              <a:rPr lang="en-AU" u="sng" dirty="0" smtClean="0"/>
              <a:t>perspective</a:t>
            </a:r>
            <a:r>
              <a:rPr lang="en-AU" dirty="0" smtClean="0"/>
              <a:t> of this article? Are there alternative perspectives?</a:t>
            </a:r>
            <a:endParaRPr lang="en-AU" dirty="0"/>
          </a:p>
        </p:txBody>
      </p:sp>
    </p:spTree>
    <p:extLst>
      <p:ext uri="{BB962C8B-B14F-4D97-AF65-F5344CB8AC3E}">
        <p14:creationId xmlns:p14="http://schemas.microsoft.com/office/powerpoint/2010/main" val="7487788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Kaiser Wilhelm II Abdicates</a:t>
            </a:r>
            <a:endParaRPr lang="en-AU" dirty="0"/>
          </a:p>
        </p:txBody>
      </p:sp>
      <p:sp>
        <p:nvSpPr>
          <p:cNvPr id="3" name="Content Placeholder 2"/>
          <p:cNvSpPr>
            <a:spLocks noGrp="1"/>
          </p:cNvSpPr>
          <p:nvPr>
            <p:ph idx="1"/>
          </p:nvPr>
        </p:nvSpPr>
        <p:spPr/>
        <p:txBody>
          <a:bodyPr/>
          <a:lstStyle/>
          <a:p>
            <a:pPr marL="36900" indent="0">
              <a:buNone/>
            </a:pPr>
            <a:r>
              <a:rPr lang="en-AU" dirty="0">
                <a:hlinkClick r:id="rId2"/>
              </a:rPr>
              <a:t>https://</a:t>
            </a:r>
            <a:r>
              <a:rPr lang="en-AU" dirty="0" smtClean="0">
                <a:hlinkClick r:id="rId2"/>
              </a:rPr>
              <a:t>www.youtube.com/watch?v=k6uqiavnu-E</a:t>
            </a:r>
            <a:r>
              <a:rPr lang="en-AU" dirty="0" smtClean="0"/>
              <a:t> </a:t>
            </a:r>
            <a:endParaRPr lang="en-AU" dirty="0"/>
          </a:p>
        </p:txBody>
      </p:sp>
      <p:pic>
        <p:nvPicPr>
          <p:cNvPr id="1026" name="Picture 2" descr="Image result for abdication kais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3801" y="2527068"/>
            <a:ext cx="333375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1383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Establishment of the Weimar Republic 1919</a:t>
            </a:r>
            <a:endParaRPr lang="en-AU" dirty="0"/>
          </a:p>
        </p:txBody>
      </p:sp>
      <p:sp>
        <p:nvSpPr>
          <p:cNvPr id="3" name="Content Placeholder 2"/>
          <p:cNvSpPr>
            <a:spLocks noGrp="1"/>
          </p:cNvSpPr>
          <p:nvPr>
            <p:ph idx="1"/>
          </p:nvPr>
        </p:nvSpPr>
        <p:spPr/>
        <p:txBody>
          <a:bodyPr>
            <a:normAutofit/>
          </a:bodyPr>
          <a:lstStyle/>
          <a:p>
            <a:r>
              <a:rPr lang="en-AU" sz="2800" dirty="0">
                <a:hlinkClick r:id="rId2"/>
              </a:rPr>
              <a:t>https://www.youtube.com/watch?v=KzY0fKz6dXc</a:t>
            </a:r>
            <a:endParaRPr lang="en-AU" sz="2500" dirty="0" smtClean="0"/>
          </a:p>
          <a:p>
            <a:r>
              <a:rPr lang="en-AU" sz="2500" dirty="0" smtClean="0"/>
              <a:t>10</a:t>
            </a:r>
            <a:r>
              <a:rPr lang="en-AU" sz="2500" baseline="30000" dirty="0" smtClean="0"/>
              <a:t>th</a:t>
            </a:r>
            <a:r>
              <a:rPr lang="en-AU" sz="2500" dirty="0" smtClean="0"/>
              <a:t> November (day before end of WW1) </a:t>
            </a:r>
            <a:r>
              <a:rPr lang="en-AU" sz="2500" dirty="0"/>
              <a:t>a provisional government was announced made up of members of the Social Democratic Party (SDP) and the Independent Social Democratic Party of Germany (</a:t>
            </a:r>
            <a:r>
              <a:rPr lang="en-AU" sz="2500" dirty="0" smtClean="0"/>
              <a:t>USDP).</a:t>
            </a:r>
          </a:p>
          <a:p>
            <a:r>
              <a:rPr lang="en-AU" sz="2500" dirty="0" smtClean="0"/>
              <a:t>December </a:t>
            </a:r>
            <a:r>
              <a:rPr lang="en-AU" sz="2500" dirty="0"/>
              <a:t>1918, </a:t>
            </a:r>
            <a:r>
              <a:rPr lang="en-AU" sz="2500" dirty="0" smtClean="0"/>
              <a:t>elections </a:t>
            </a:r>
            <a:r>
              <a:rPr lang="en-AU" sz="2500" dirty="0"/>
              <a:t>held for a National Assembly tasked with creating a new parliamentary constitution. </a:t>
            </a:r>
          </a:p>
          <a:p>
            <a:r>
              <a:rPr lang="en-AU" sz="2500" dirty="0" smtClean="0"/>
              <a:t>February </a:t>
            </a:r>
            <a:r>
              <a:rPr lang="en-AU" sz="2500" dirty="0"/>
              <a:t>6, 1919, the National Assembly met in the town of Weimar and formed the Weimar </a:t>
            </a:r>
            <a:r>
              <a:rPr lang="en-AU" sz="2500" dirty="0" smtClean="0"/>
              <a:t>Coalition - elected </a:t>
            </a:r>
            <a:r>
              <a:rPr lang="en-AU" sz="2500" dirty="0"/>
              <a:t>SDP leader Friedrich Ebert as President of the Weimar Republic.</a:t>
            </a:r>
          </a:p>
        </p:txBody>
      </p:sp>
      <p:pic>
        <p:nvPicPr>
          <p:cNvPr id="3074" name="Picture 2" descr="Image result for weimar republic"/>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03" r="3091"/>
          <a:stretch/>
        </p:blipFill>
        <p:spPr bwMode="auto">
          <a:xfrm>
            <a:off x="9259695" y="5508184"/>
            <a:ext cx="2007862" cy="119000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weimar republ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0760" y="5508184"/>
            <a:ext cx="1982071" cy="1349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4598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Weimar Constitution</a:t>
            </a:r>
            <a:endParaRPr lang="en-AU" dirty="0"/>
          </a:p>
        </p:txBody>
      </p:sp>
      <p:sp>
        <p:nvSpPr>
          <p:cNvPr id="3" name="Content Placeholder 2"/>
          <p:cNvSpPr>
            <a:spLocks noGrp="1"/>
          </p:cNvSpPr>
          <p:nvPr>
            <p:ph idx="1"/>
          </p:nvPr>
        </p:nvSpPr>
        <p:spPr>
          <a:xfrm>
            <a:off x="913795" y="1732449"/>
            <a:ext cx="10353762" cy="4842918"/>
          </a:xfrm>
        </p:spPr>
        <p:txBody>
          <a:bodyPr>
            <a:normAutofit fontScale="85000" lnSpcReduction="20000"/>
          </a:bodyPr>
          <a:lstStyle/>
          <a:p>
            <a:r>
              <a:rPr lang="en-AU" dirty="0" smtClean="0"/>
              <a:t>The </a:t>
            </a:r>
            <a:r>
              <a:rPr lang="en-AU" dirty="0"/>
              <a:t>German Reich is a Republic.</a:t>
            </a:r>
          </a:p>
          <a:p>
            <a:r>
              <a:rPr lang="en-AU" dirty="0"/>
              <a:t>The government is made of a president, a chancellor and a parliament (Reichstag).</a:t>
            </a:r>
          </a:p>
          <a:p>
            <a:r>
              <a:rPr lang="en-AU" dirty="0"/>
              <a:t>Representatives of the people must be elected equally every four years by all men and women over age 20.</a:t>
            </a:r>
          </a:p>
          <a:p>
            <a:r>
              <a:rPr lang="en-AU" dirty="0"/>
              <a:t>The term of the President is seven years.</a:t>
            </a:r>
          </a:p>
          <a:p>
            <a:r>
              <a:rPr lang="en-AU" dirty="0"/>
              <a:t>All orders of the President must be endorsed by the Chancellor or a Reich Minister.</a:t>
            </a:r>
          </a:p>
          <a:p>
            <a:r>
              <a:rPr lang="en-AU" dirty="0"/>
              <a:t>Article 48 allows the President to suspend civil rights and operate independently in an emergency.</a:t>
            </a:r>
          </a:p>
          <a:p>
            <a:r>
              <a:rPr lang="en-AU" dirty="0"/>
              <a:t>Two legislative bodies (the Reichstag and the </a:t>
            </a:r>
            <a:r>
              <a:rPr lang="en-AU" dirty="0" err="1"/>
              <a:t>Reichsrat</a:t>
            </a:r>
            <a:r>
              <a:rPr lang="en-AU" dirty="0"/>
              <a:t>) were formed to represent the German people.</a:t>
            </a:r>
          </a:p>
          <a:p>
            <a:r>
              <a:rPr lang="en-AU" dirty="0"/>
              <a:t>All Germans are equal and have the same civil rights and responsibilities.</a:t>
            </a:r>
          </a:p>
          <a:p>
            <a:r>
              <a:rPr lang="en-AU" dirty="0"/>
              <a:t>All Germans have the right to freedom of expression.</a:t>
            </a:r>
          </a:p>
          <a:p>
            <a:r>
              <a:rPr lang="en-AU" dirty="0"/>
              <a:t>All Germans have the right to peaceful assembly.</a:t>
            </a:r>
          </a:p>
          <a:p>
            <a:r>
              <a:rPr lang="en-AU" dirty="0"/>
              <a:t>All Germans have the right to freedom of religion; there is no state church.</a:t>
            </a:r>
          </a:p>
          <a:p>
            <a:r>
              <a:rPr lang="en-AU" dirty="0"/>
              <a:t>State-run, public education is free and mandatory for children.</a:t>
            </a:r>
          </a:p>
          <a:p>
            <a:r>
              <a:rPr lang="en-AU" dirty="0"/>
              <a:t>All Germans have the right of private property.</a:t>
            </a:r>
          </a:p>
          <a:p>
            <a:r>
              <a:rPr lang="en-AU" dirty="0"/>
              <a:t>All Germans have the right to equal opportunity and earnings in the workplace.</a:t>
            </a:r>
          </a:p>
        </p:txBody>
      </p:sp>
      <p:pic>
        <p:nvPicPr>
          <p:cNvPr id="4098" name="Picture 2" descr="Image result for weimar constit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5427" y="4339849"/>
            <a:ext cx="1532130" cy="2235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3909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The Weimar </a:t>
            </a:r>
            <a:r>
              <a:rPr lang="en-AU" dirty="0" smtClean="0"/>
              <a:t>Constitution </a:t>
            </a:r>
            <a:r>
              <a:rPr lang="en-AU" dirty="0"/>
              <a:t>and its weaknesses </a:t>
            </a:r>
          </a:p>
        </p:txBody>
      </p:sp>
      <p:sp>
        <p:nvSpPr>
          <p:cNvPr id="3" name="Content Placeholder 2"/>
          <p:cNvSpPr>
            <a:spLocks noGrp="1"/>
          </p:cNvSpPr>
          <p:nvPr>
            <p:ph idx="1"/>
          </p:nvPr>
        </p:nvSpPr>
        <p:spPr>
          <a:xfrm>
            <a:off x="913795" y="1732449"/>
            <a:ext cx="10353762" cy="4668351"/>
          </a:xfrm>
        </p:spPr>
        <p:txBody>
          <a:bodyPr>
            <a:normAutofit lnSpcReduction="10000"/>
          </a:bodyPr>
          <a:lstStyle/>
          <a:p>
            <a:r>
              <a:rPr lang="en-AU" dirty="0" smtClean="0"/>
              <a:t>Weimar Republic</a:t>
            </a:r>
          </a:p>
          <a:p>
            <a:r>
              <a:rPr lang="en-AU" dirty="0" smtClean="0"/>
              <a:t>Republic is type of democracy where the people elect/vote a President and political party to rule (not a monarch-Kaiser).</a:t>
            </a:r>
          </a:p>
          <a:p>
            <a:r>
              <a:rPr lang="en-AU" dirty="0" smtClean="0"/>
              <a:t>Therefore, needs a constitution (laws about how the country will be run/governed).</a:t>
            </a:r>
          </a:p>
          <a:p>
            <a:pPr marL="36900" indent="0">
              <a:buNone/>
            </a:pPr>
            <a:endParaRPr lang="en-AU" b="1" dirty="0" smtClean="0"/>
          </a:p>
          <a:p>
            <a:pPr marL="36900" indent="0">
              <a:buNone/>
            </a:pPr>
            <a:r>
              <a:rPr lang="en-AU" b="1" u="sng" dirty="0" smtClean="0"/>
              <a:t>Weaknesses</a:t>
            </a:r>
            <a:r>
              <a:rPr lang="en-AU" u="sng" dirty="0" smtClean="0"/>
              <a:t> </a:t>
            </a:r>
            <a:r>
              <a:rPr lang="en-AU" dirty="0" smtClean="0"/>
              <a:t>(ultimately contributing to Hitler and Nazis being able to take power through the legal/political system)</a:t>
            </a:r>
          </a:p>
          <a:p>
            <a:r>
              <a:rPr lang="en-AU" b="1" dirty="0"/>
              <a:t>Proportional representation </a:t>
            </a:r>
            <a:r>
              <a:rPr lang="en-AU" dirty="0"/>
              <a:t>– an electoral system in which parties gain seats in proportion to the number of votes cast for </a:t>
            </a:r>
            <a:r>
              <a:rPr lang="en-AU" dirty="0" smtClean="0"/>
              <a:t>them – therefore, often </a:t>
            </a:r>
            <a:r>
              <a:rPr lang="en-AU" dirty="0"/>
              <a:t>differing ideas about how Germany should be governed. When parties disagreed it often meant that the government collapsed, and they needed to have fresh </a:t>
            </a:r>
            <a:r>
              <a:rPr lang="en-AU" dirty="0" smtClean="0"/>
              <a:t>elections – took time and nothing resolved.</a:t>
            </a:r>
          </a:p>
          <a:p>
            <a:r>
              <a:rPr lang="en-AU" dirty="0" smtClean="0"/>
              <a:t>Use </a:t>
            </a:r>
            <a:r>
              <a:rPr lang="en-AU" dirty="0"/>
              <a:t>of </a:t>
            </a:r>
            <a:r>
              <a:rPr lang="en-AU" b="1" dirty="0" smtClean="0"/>
              <a:t>emergency powers </a:t>
            </a:r>
            <a:r>
              <a:rPr lang="en-AU" dirty="0" smtClean="0"/>
              <a:t>- Article </a:t>
            </a:r>
            <a:r>
              <a:rPr lang="en-AU" dirty="0"/>
              <a:t>48. This enabled the President to </a:t>
            </a:r>
            <a:r>
              <a:rPr lang="en-AU" dirty="0" smtClean="0"/>
              <a:t>make decisions without consulting the Reichstag. </a:t>
            </a:r>
          </a:p>
        </p:txBody>
      </p:sp>
    </p:spTree>
    <p:extLst>
      <p:ext uri="{BB962C8B-B14F-4D97-AF65-F5344CB8AC3E}">
        <p14:creationId xmlns:p14="http://schemas.microsoft.com/office/powerpoint/2010/main" val="2268787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Week 8</a:t>
            </a:r>
            <a:endParaRPr lang="en-AU" dirty="0"/>
          </a:p>
        </p:txBody>
      </p:sp>
      <p:sp>
        <p:nvSpPr>
          <p:cNvPr id="3" name="Content Placeholder 2"/>
          <p:cNvSpPr>
            <a:spLocks noGrp="1"/>
          </p:cNvSpPr>
          <p:nvPr>
            <p:ph idx="1"/>
          </p:nvPr>
        </p:nvSpPr>
        <p:spPr>
          <a:xfrm>
            <a:off x="913795" y="2323475"/>
            <a:ext cx="10353762" cy="3467725"/>
          </a:xfrm>
        </p:spPr>
        <p:txBody>
          <a:bodyPr/>
          <a:lstStyle/>
          <a:p>
            <a:pPr marL="494100" indent="-457200">
              <a:buAutoNum type="arabicPeriod"/>
            </a:pPr>
            <a:r>
              <a:rPr lang="en-AU" sz="3000" dirty="0" smtClean="0"/>
              <a:t>What impact did the defeat in WW1 have on Germany?</a:t>
            </a:r>
          </a:p>
          <a:p>
            <a:pPr marL="36900" indent="0">
              <a:buNone/>
            </a:pPr>
            <a:endParaRPr lang="en-AU" dirty="0"/>
          </a:p>
        </p:txBody>
      </p:sp>
    </p:spTree>
    <p:extLst>
      <p:ext uri="{BB962C8B-B14F-4D97-AF65-F5344CB8AC3E}">
        <p14:creationId xmlns:p14="http://schemas.microsoft.com/office/powerpoint/2010/main" val="36560985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a:t>
            </a:r>
            <a:r>
              <a:rPr lang="en-AU" dirty="0"/>
              <a:t>W</a:t>
            </a:r>
            <a:r>
              <a:rPr lang="en-AU" dirty="0" smtClean="0"/>
              <a:t>eek 8</a:t>
            </a:r>
            <a:endParaRPr lang="en-AU" dirty="0"/>
          </a:p>
        </p:txBody>
      </p:sp>
      <p:sp>
        <p:nvSpPr>
          <p:cNvPr id="3" name="Content Placeholder 2"/>
          <p:cNvSpPr>
            <a:spLocks noGrp="1"/>
          </p:cNvSpPr>
          <p:nvPr>
            <p:ph idx="1"/>
          </p:nvPr>
        </p:nvSpPr>
        <p:spPr>
          <a:xfrm>
            <a:off x="913795" y="2244436"/>
            <a:ext cx="10353762" cy="3546764"/>
          </a:xfrm>
        </p:spPr>
        <p:txBody>
          <a:bodyPr/>
          <a:lstStyle/>
          <a:p>
            <a:pPr marL="36900" indent="0">
              <a:buNone/>
            </a:pPr>
            <a:r>
              <a:rPr lang="en-AU" sz="3000" dirty="0" smtClean="0"/>
              <a:t>2. Why </a:t>
            </a:r>
            <a:r>
              <a:rPr lang="en-AU" sz="3000" dirty="0"/>
              <a:t>was the Weimar Republic established? What did it end?</a:t>
            </a:r>
          </a:p>
          <a:p>
            <a:endParaRPr lang="en-AU" dirty="0"/>
          </a:p>
        </p:txBody>
      </p:sp>
    </p:spTree>
    <p:extLst>
      <p:ext uri="{BB962C8B-B14F-4D97-AF65-F5344CB8AC3E}">
        <p14:creationId xmlns:p14="http://schemas.microsoft.com/office/powerpoint/2010/main" val="9685355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Week 8</a:t>
            </a:r>
            <a:endParaRPr lang="en-AU" dirty="0"/>
          </a:p>
        </p:txBody>
      </p:sp>
      <p:sp>
        <p:nvSpPr>
          <p:cNvPr id="3" name="Content Placeholder 2"/>
          <p:cNvSpPr>
            <a:spLocks noGrp="1"/>
          </p:cNvSpPr>
          <p:nvPr>
            <p:ph idx="1"/>
          </p:nvPr>
        </p:nvSpPr>
        <p:spPr>
          <a:xfrm>
            <a:off x="913795" y="2610196"/>
            <a:ext cx="10353762" cy="3181004"/>
          </a:xfrm>
        </p:spPr>
        <p:txBody>
          <a:bodyPr/>
          <a:lstStyle/>
          <a:p>
            <a:pPr marL="36900" indent="0">
              <a:buNone/>
            </a:pPr>
            <a:r>
              <a:rPr lang="en-AU" sz="3000" dirty="0" smtClean="0"/>
              <a:t>3. In </a:t>
            </a:r>
            <a:r>
              <a:rPr lang="en-AU" sz="3000" dirty="0"/>
              <a:t>what two ways was the Weimar Constitution flawed?</a:t>
            </a:r>
          </a:p>
          <a:p>
            <a:endParaRPr lang="en-AU" dirty="0"/>
          </a:p>
        </p:txBody>
      </p:sp>
    </p:spTree>
    <p:extLst>
      <p:ext uri="{BB962C8B-B14F-4D97-AF65-F5344CB8AC3E}">
        <p14:creationId xmlns:p14="http://schemas.microsoft.com/office/powerpoint/2010/main" val="31237413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33" y="2538152"/>
            <a:ext cx="10353762" cy="970450"/>
          </a:xfrm>
        </p:spPr>
        <p:txBody>
          <a:bodyPr/>
          <a:lstStyle/>
          <a:p>
            <a:r>
              <a:rPr lang="en-AU" dirty="0" smtClean="0"/>
              <a:t>ANSWERS</a:t>
            </a:r>
            <a:endParaRPr lang="en-AU" dirty="0"/>
          </a:p>
        </p:txBody>
      </p:sp>
    </p:spTree>
    <p:extLst>
      <p:ext uri="{BB962C8B-B14F-4D97-AF65-F5344CB8AC3E}">
        <p14:creationId xmlns:p14="http://schemas.microsoft.com/office/powerpoint/2010/main" val="42464882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Week 8</a:t>
            </a:r>
            <a:endParaRPr lang="en-AU" dirty="0"/>
          </a:p>
        </p:txBody>
      </p:sp>
      <p:sp>
        <p:nvSpPr>
          <p:cNvPr id="3" name="Content Placeholder 2"/>
          <p:cNvSpPr>
            <a:spLocks noGrp="1"/>
          </p:cNvSpPr>
          <p:nvPr>
            <p:ph idx="1"/>
          </p:nvPr>
        </p:nvSpPr>
        <p:spPr>
          <a:xfrm>
            <a:off x="913795" y="2323475"/>
            <a:ext cx="10353762" cy="3467725"/>
          </a:xfrm>
        </p:spPr>
        <p:txBody>
          <a:bodyPr/>
          <a:lstStyle/>
          <a:p>
            <a:pPr marL="494100" indent="-457200">
              <a:buAutoNum type="arabicPeriod"/>
            </a:pPr>
            <a:r>
              <a:rPr lang="en-AU" sz="3000" dirty="0" smtClean="0"/>
              <a:t>What impact did the defeat in WW1 have on Germany?</a:t>
            </a:r>
          </a:p>
          <a:p>
            <a:pPr marL="36900" indent="0">
              <a:buNone/>
            </a:pPr>
            <a:endParaRPr lang="en-AU" sz="3000" b="1" dirty="0">
              <a:solidFill>
                <a:srgbClr val="FF0000"/>
              </a:solidFill>
            </a:endParaRPr>
          </a:p>
          <a:p>
            <a:pPr marL="36900" indent="0">
              <a:buNone/>
            </a:pPr>
            <a:r>
              <a:rPr lang="en-AU" sz="3000" b="1" dirty="0">
                <a:solidFill>
                  <a:srgbClr val="FF0000"/>
                </a:solidFill>
              </a:rPr>
              <a:t>Devastating impact economically and socially.</a:t>
            </a:r>
          </a:p>
          <a:p>
            <a:pPr marL="36900" indent="0">
              <a:buNone/>
            </a:pPr>
            <a:r>
              <a:rPr lang="en-AU" sz="3000" b="1" dirty="0">
                <a:solidFill>
                  <a:srgbClr val="FF0000"/>
                </a:solidFill>
              </a:rPr>
              <a:t>Completely changed the political climate of Germany – from monarchy to republic (democracy)</a:t>
            </a:r>
          </a:p>
          <a:p>
            <a:pPr marL="36900" indent="0">
              <a:buNone/>
            </a:pPr>
            <a:endParaRPr lang="en-AU" sz="3000" dirty="0" smtClean="0"/>
          </a:p>
          <a:p>
            <a:pPr marL="36900" indent="0">
              <a:buNone/>
            </a:pPr>
            <a:endParaRPr lang="en-AU" dirty="0"/>
          </a:p>
        </p:txBody>
      </p:sp>
    </p:spTree>
    <p:extLst>
      <p:ext uri="{BB962C8B-B14F-4D97-AF65-F5344CB8AC3E}">
        <p14:creationId xmlns:p14="http://schemas.microsoft.com/office/powerpoint/2010/main" val="4181374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a:t>
            </a:r>
            <a:r>
              <a:rPr lang="en-AU" dirty="0"/>
              <a:t>W</a:t>
            </a:r>
            <a:r>
              <a:rPr lang="en-AU" dirty="0" smtClean="0"/>
              <a:t>eek 8</a:t>
            </a:r>
            <a:endParaRPr lang="en-AU" dirty="0"/>
          </a:p>
        </p:txBody>
      </p:sp>
      <p:sp>
        <p:nvSpPr>
          <p:cNvPr id="3" name="Content Placeholder 2"/>
          <p:cNvSpPr>
            <a:spLocks noGrp="1"/>
          </p:cNvSpPr>
          <p:nvPr>
            <p:ph idx="1"/>
          </p:nvPr>
        </p:nvSpPr>
        <p:spPr>
          <a:xfrm>
            <a:off x="913795" y="2244436"/>
            <a:ext cx="10353762" cy="3546764"/>
          </a:xfrm>
        </p:spPr>
        <p:txBody>
          <a:bodyPr/>
          <a:lstStyle/>
          <a:p>
            <a:pPr marL="36900" indent="0">
              <a:buNone/>
            </a:pPr>
            <a:r>
              <a:rPr lang="en-AU" sz="3000" dirty="0" smtClean="0"/>
              <a:t>2. Why </a:t>
            </a:r>
            <a:r>
              <a:rPr lang="en-AU" sz="3000" dirty="0"/>
              <a:t>was the Weimar Republic established? What did it end</a:t>
            </a:r>
            <a:r>
              <a:rPr lang="en-AU" sz="3000" dirty="0" smtClean="0"/>
              <a:t>?</a:t>
            </a:r>
          </a:p>
          <a:p>
            <a:pPr marL="36900" indent="0">
              <a:buNone/>
            </a:pPr>
            <a:endParaRPr lang="en-AU" sz="3000" dirty="0"/>
          </a:p>
          <a:p>
            <a:pPr marL="36900" indent="0">
              <a:buNone/>
            </a:pPr>
            <a:r>
              <a:rPr lang="en-AU" sz="3000" b="1" dirty="0" smtClean="0">
                <a:solidFill>
                  <a:srgbClr val="FF0000"/>
                </a:solidFill>
              </a:rPr>
              <a:t>The Weimar Republic was established as a result of Woodrow Wilson’s terms for peace and the ending of WW1. The democratic republic ended the monarchy in Germany.</a:t>
            </a:r>
            <a:endParaRPr lang="en-AU" b="1" dirty="0">
              <a:solidFill>
                <a:srgbClr val="FF0000"/>
              </a:solidFill>
            </a:endParaRPr>
          </a:p>
        </p:txBody>
      </p:sp>
    </p:spTree>
    <p:extLst>
      <p:ext uri="{BB962C8B-B14F-4D97-AF65-F5344CB8AC3E}">
        <p14:creationId xmlns:p14="http://schemas.microsoft.com/office/powerpoint/2010/main" val="10041144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History Heroes Week 8</a:t>
            </a:r>
            <a:endParaRPr lang="en-AU" dirty="0"/>
          </a:p>
        </p:txBody>
      </p:sp>
      <p:sp>
        <p:nvSpPr>
          <p:cNvPr id="3" name="Content Placeholder 2"/>
          <p:cNvSpPr>
            <a:spLocks noGrp="1"/>
          </p:cNvSpPr>
          <p:nvPr>
            <p:ph idx="1"/>
          </p:nvPr>
        </p:nvSpPr>
        <p:spPr>
          <a:xfrm>
            <a:off x="913795" y="2610196"/>
            <a:ext cx="10353762" cy="3931920"/>
          </a:xfrm>
        </p:spPr>
        <p:txBody>
          <a:bodyPr>
            <a:normAutofit fontScale="85000" lnSpcReduction="20000"/>
          </a:bodyPr>
          <a:lstStyle/>
          <a:p>
            <a:pPr marL="36900" indent="0">
              <a:buNone/>
            </a:pPr>
            <a:r>
              <a:rPr lang="en-AU" sz="3000" dirty="0" smtClean="0"/>
              <a:t>3. In </a:t>
            </a:r>
            <a:r>
              <a:rPr lang="en-AU" sz="3000" dirty="0"/>
              <a:t>what two ways was the Weimar Constitution flawed</a:t>
            </a:r>
            <a:r>
              <a:rPr lang="en-AU" sz="3000" dirty="0" smtClean="0"/>
              <a:t>?</a:t>
            </a:r>
          </a:p>
          <a:p>
            <a:pPr marL="36900" indent="0">
              <a:buNone/>
            </a:pPr>
            <a:endParaRPr lang="en-AU" sz="3000" dirty="0"/>
          </a:p>
          <a:p>
            <a:r>
              <a:rPr lang="en-AU" sz="3000" b="1" dirty="0">
                <a:solidFill>
                  <a:srgbClr val="FF0000"/>
                </a:solidFill>
              </a:rPr>
              <a:t>Proportional representation </a:t>
            </a:r>
            <a:r>
              <a:rPr lang="en-AU" sz="3000" dirty="0"/>
              <a:t>– an electoral system in which parties gain seats in proportion to the number of votes cast for them – therefore, often differing ideas about how Germany should be governed. When parties disagreed it often meant that the government collapsed, and they needed to have fresh elections – took time and nothing resolved.</a:t>
            </a:r>
          </a:p>
          <a:p>
            <a:r>
              <a:rPr lang="en-AU" sz="3000" dirty="0"/>
              <a:t>Use of </a:t>
            </a:r>
            <a:r>
              <a:rPr lang="en-AU" sz="3000" b="1" dirty="0">
                <a:solidFill>
                  <a:srgbClr val="FF0000"/>
                </a:solidFill>
              </a:rPr>
              <a:t>emergency powers - Article 48</a:t>
            </a:r>
            <a:r>
              <a:rPr lang="en-AU" sz="3000" dirty="0"/>
              <a:t>. This enabled the President to make decisions without consulting the Reichstag. </a:t>
            </a:r>
          </a:p>
          <a:p>
            <a:pPr marL="36900" indent="0">
              <a:buNone/>
            </a:pPr>
            <a:endParaRPr lang="en-AU" sz="3000" dirty="0"/>
          </a:p>
          <a:p>
            <a:endParaRPr lang="en-AU" dirty="0"/>
          </a:p>
        </p:txBody>
      </p:sp>
    </p:spTree>
    <p:extLst>
      <p:ext uri="{BB962C8B-B14F-4D97-AF65-F5344CB8AC3E}">
        <p14:creationId xmlns:p14="http://schemas.microsoft.com/office/powerpoint/2010/main" val="7597153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0668" y="2721033"/>
            <a:ext cx="10353762" cy="970450"/>
          </a:xfrm>
        </p:spPr>
        <p:txBody>
          <a:bodyPr/>
          <a:lstStyle/>
          <a:p>
            <a:r>
              <a:rPr lang="en-AU" dirty="0" smtClean="0"/>
              <a:t>RESULTS</a:t>
            </a:r>
            <a:endParaRPr lang="en-AU" dirty="0"/>
          </a:p>
        </p:txBody>
      </p:sp>
    </p:spTree>
    <p:extLst>
      <p:ext uri="{BB962C8B-B14F-4D97-AF65-F5344CB8AC3E}">
        <p14:creationId xmlns:p14="http://schemas.microsoft.com/office/powerpoint/2010/main" val="27069798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of the week</a:t>
            </a:r>
            <a:endParaRPr lang="en-AU" dirty="0"/>
          </a:p>
        </p:txBody>
      </p:sp>
      <p:pic>
        <p:nvPicPr>
          <p:cNvPr id="1026" name="Picture 2" descr="Image result for GERMAN SAU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7840" y="2093365"/>
            <a:ext cx="4165671" cy="4177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4745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487978"/>
            <a:ext cx="10353762" cy="2011680"/>
          </a:xfrm>
          <a:ln>
            <a:solidFill>
              <a:schemeClr val="tx1"/>
            </a:solidFill>
          </a:ln>
        </p:spPr>
        <p:txBody>
          <a:bodyPr/>
          <a:lstStyle/>
          <a:p>
            <a:endParaRPr lang="en-AU"/>
          </a:p>
        </p:txBody>
      </p:sp>
      <p:sp>
        <p:nvSpPr>
          <p:cNvPr id="3" name="Content Placeholder 2"/>
          <p:cNvSpPr>
            <a:spLocks noGrp="1"/>
          </p:cNvSpPr>
          <p:nvPr>
            <p:ph idx="1"/>
          </p:nvPr>
        </p:nvSpPr>
        <p:spPr/>
        <p:txBody>
          <a:bodyPr/>
          <a:lstStyle/>
          <a:p>
            <a:pPr marL="36900" indent="0">
              <a:lnSpc>
                <a:spcPct val="150000"/>
              </a:lnSpc>
              <a:buNone/>
            </a:pPr>
            <a:r>
              <a:rPr lang="en-AU" dirty="0" smtClean="0"/>
              <a:t>“Today in the Hall of Mirrors [at Versailles] the disgraceful treaty is being signed. Do not forget it! The German people will, with unceasing labour, press forward to reconquer the place among nations to which they are entitled.”</a:t>
            </a:r>
          </a:p>
          <a:p>
            <a:pPr marL="36900" indent="0">
              <a:lnSpc>
                <a:spcPct val="150000"/>
              </a:lnSpc>
              <a:buNone/>
            </a:pPr>
            <a:endParaRPr lang="en-AU" dirty="0" smtClean="0"/>
          </a:p>
          <a:p>
            <a:pPr marL="36900" indent="0">
              <a:lnSpc>
                <a:spcPct val="150000"/>
              </a:lnSpc>
              <a:buNone/>
            </a:pPr>
            <a:endParaRPr lang="en-AU" dirty="0"/>
          </a:p>
          <a:p>
            <a:pPr marL="36900" indent="0">
              <a:lnSpc>
                <a:spcPct val="150000"/>
              </a:lnSpc>
              <a:buNone/>
            </a:pPr>
            <a:r>
              <a:rPr lang="en-AU" dirty="0" smtClean="0"/>
              <a:t>-From the newspaper </a:t>
            </a:r>
            <a:r>
              <a:rPr lang="en-AU" i="1" dirty="0" smtClean="0"/>
              <a:t>Deutsche </a:t>
            </a:r>
            <a:r>
              <a:rPr lang="en-AU" i="1" dirty="0" err="1" smtClean="0"/>
              <a:t>Zeitung</a:t>
            </a:r>
            <a:r>
              <a:rPr lang="en-AU" i="1" dirty="0" smtClean="0"/>
              <a:t> </a:t>
            </a:r>
            <a:r>
              <a:rPr lang="en-AU" dirty="0" smtClean="0"/>
              <a:t>(German News) on the day the treaty was signed.</a:t>
            </a:r>
            <a:endParaRPr lang="en-AU" dirty="0"/>
          </a:p>
        </p:txBody>
      </p:sp>
    </p:spTree>
    <p:extLst>
      <p:ext uri="{BB962C8B-B14F-4D97-AF65-F5344CB8AC3E}">
        <p14:creationId xmlns:p14="http://schemas.microsoft.com/office/powerpoint/2010/main" val="24175446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850" y="0"/>
            <a:ext cx="10353762" cy="970450"/>
          </a:xfrm>
        </p:spPr>
        <p:txBody>
          <a:bodyPr>
            <a:normAutofit/>
          </a:bodyPr>
          <a:lstStyle/>
          <a:p>
            <a:r>
              <a:rPr lang="en-AU" sz="3000" dirty="0" smtClean="0"/>
              <a:t>The Treaty of Versailles</a:t>
            </a:r>
            <a:endParaRPr lang="en-AU" sz="3000" dirty="0"/>
          </a:p>
        </p:txBody>
      </p:sp>
      <p:sp>
        <p:nvSpPr>
          <p:cNvPr id="3" name="Content Placeholder 2"/>
          <p:cNvSpPr>
            <a:spLocks noGrp="1"/>
          </p:cNvSpPr>
          <p:nvPr>
            <p:ph idx="1"/>
          </p:nvPr>
        </p:nvSpPr>
        <p:spPr>
          <a:xfrm>
            <a:off x="164892" y="839450"/>
            <a:ext cx="11664119" cy="6018550"/>
          </a:xfrm>
        </p:spPr>
        <p:txBody>
          <a:bodyPr>
            <a:normAutofit fontScale="92500" lnSpcReduction="20000"/>
          </a:bodyPr>
          <a:lstStyle/>
          <a:p>
            <a:r>
              <a:rPr lang="en-AU" dirty="0">
                <a:hlinkClick r:id="rId2"/>
              </a:rPr>
              <a:t>https://www.youtube.com/watch?v=vrYhLNQMRro</a:t>
            </a:r>
            <a:endParaRPr lang="en-AU" dirty="0" smtClean="0"/>
          </a:p>
          <a:p>
            <a:r>
              <a:rPr lang="en-AU" dirty="0" smtClean="0"/>
              <a:t>Germany not invited to negotiations.</a:t>
            </a:r>
          </a:p>
          <a:p>
            <a:r>
              <a:rPr lang="en-AU" dirty="0" smtClean="0"/>
              <a:t>Allies (including ‘Big Three’) met at Versailles Palace in France in June1919 to create treaty.</a:t>
            </a:r>
          </a:p>
          <a:p>
            <a:pPr lvl="1"/>
            <a:r>
              <a:rPr lang="en-AU" dirty="0" smtClean="0"/>
              <a:t>(USA)Wilson's </a:t>
            </a:r>
            <a:r>
              <a:rPr lang="en-AU" dirty="0"/>
              <a:t>aims</a:t>
            </a:r>
            <a:r>
              <a:rPr lang="en-AU" dirty="0" smtClean="0"/>
              <a:t>:</a:t>
            </a:r>
            <a:endParaRPr lang="en-AU" dirty="0"/>
          </a:p>
          <a:p>
            <a:pPr lvl="2"/>
            <a:r>
              <a:rPr lang="en-AU" dirty="0"/>
              <a:t>to end war by creating a League of Nations based on his Fourteen Points</a:t>
            </a:r>
          </a:p>
          <a:p>
            <a:pPr lvl="2"/>
            <a:r>
              <a:rPr lang="en-AU" dirty="0"/>
              <a:t>to ensure Germany was not destroyed</a:t>
            </a:r>
          </a:p>
          <a:p>
            <a:pPr lvl="2"/>
            <a:r>
              <a:rPr lang="en-AU" dirty="0"/>
              <a:t>not to blame Germany for the war - he hated the Guilt Clause</a:t>
            </a:r>
          </a:p>
          <a:p>
            <a:pPr lvl="1"/>
            <a:r>
              <a:rPr lang="en-AU" dirty="0" smtClean="0"/>
              <a:t>(France) Clemenceau's </a:t>
            </a:r>
            <a:r>
              <a:rPr lang="en-AU" dirty="0"/>
              <a:t>aims</a:t>
            </a:r>
            <a:r>
              <a:rPr lang="en-AU" dirty="0" smtClean="0"/>
              <a:t>:</a:t>
            </a:r>
            <a:endParaRPr lang="en-AU" dirty="0"/>
          </a:p>
          <a:p>
            <a:pPr lvl="2"/>
            <a:r>
              <a:rPr lang="en-AU" dirty="0"/>
              <a:t>to punish Germany and seek revenge</a:t>
            </a:r>
          </a:p>
          <a:p>
            <a:pPr lvl="2"/>
            <a:r>
              <a:rPr lang="en-AU" dirty="0"/>
              <a:t>to return Alsace-Lorraine to France</a:t>
            </a:r>
          </a:p>
          <a:p>
            <a:pPr lvl="2"/>
            <a:r>
              <a:rPr lang="en-AU" dirty="0"/>
              <a:t>no League of Nations</a:t>
            </a:r>
          </a:p>
          <a:p>
            <a:pPr lvl="2"/>
            <a:r>
              <a:rPr lang="en-AU" dirty="0"/>
              <a:t>an independent Rhineland</a:t>
            </a:r>
          </a:p>
          <a:p>
            <a:pPr lvl="2"/>
            <a:r>
              <a:rPr lang="en-AU" dirty="0"/>
              <a:t>huge reparations</a:t>
            </a:r>
          </a:p>
          <a:p>
            <a:pPr lvl="2"/>
            <a:r>
              <a:rPr lang="en-AU" dirty="0"/>
              <a:t>to disband the German army so that Germany would never be strong enough to attack France again</a:t>
            </a:r>
          </a:p>
          <a:p>
            <a:pPr lvl="1"/>
            <a:r>
              <a:rPr lang="en-AU" dirty="0" smtClean="0"/>
              <a:t>(Britain) Lloyd </a:t>
            </a:r>
            <a:r>
              <a:rPr lang="en-AU" dirty="0"/>
              <a:t>George's aims</a:t>
            </a:r>
            <a:r>
              <a:rPr lang="en-AU" dirty="0" smtClean="0"/>
              <a:t>:</a:t>
            </a:r>
            <a:endParaRPr lang="en-AU" dirty="0"/>
          </a:p>
          <a:p>
            <a:pPr lvl="2"/>
            <a:r>
              <a:rPr lang="en-AU" dirty="0"/>
              <a:t>a 'just' peace that would be tough enough to please the electors who wanted to 'make Germany pay', but would leave Germany strong enough to trade</a:t>
            </a:r>
          </a:p>
          <a:p>
            <a:pPr lvl="2"/>
            <a:r>
              <a:rPr lang="en-AU" dirty="0"/>
              <a:t>land for Britain's empire</a:t>
            </a:r>
          </a:p>
          <a:p>
            <a:pPr lvl="2"/>
            <a:r>
              <a:rPr lang="en-AU" dirty="0"/>
              <a:t>to safeguard Britain's naval supremacy</a:t>
            </a:r>
            <a:endParaRPr lang="en-AU" dirty="0" smtClean="0"/>
          </a:p>
        </p:txBody>
      </p:sp>
      <p:pic>
        <p:nvPicPr>
          <p:cNvPr id="1026" name="Picture 2" descr="Lloyd George, Clemenceau and Wilson walk in a Paris stre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173" y="2143593"/>
            <a:ext cx="2029838" cy="2569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598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59895"/>
            <a:ext cx="10353762" cy="970450"/>
          </a:xfrm>
        </p:spPr>
        <p:txBody>
          <a:bodyPr/>
          <a:lstStyle/>
          <a:p>
            <a:r>
              <a:rPr lang="en-AU" dirty="0" smtClean="0"/>
              <a:t>Clauses of the Treaty of Versailles</a:t>
            </a:r>
            <a:endParaRPr lang="en-AU" dirty="0"/>
          </a:p>
        </p:txBody>
      </p:sp>
      <p:sp>
        <p:nvSpPr>
          <p:cNvPr id="3" name="Content Placeholder 2"/>
          <p:cNvSpPr>
            <a:spLocks noGrp="1"/>
          </p:cNvSpPr>
          <p:nvPr>
            <p:ph idx="1"/>
          </p:nvPr>
        </p:nvSpPr>
        <p:spPr>
          <a:xfrm>
            <a:off x="913795" y="1130345"/>
            <a:ext cx="10353762" cy="5465327"/>
          </a:xfrm>
        </p:spPr>
        <p:txBody>
          <a:bodyPr>
            <a:normAutofit fontScale="77500" lnSpcReduction="20000"/>
          </a:bodyPr>
          <a:lstStyle/>
          <a:p>
            <a:pPr marL="551250" indent="-514350">
              <a:buFont typeface="+mj-lt"/>
              <a:buAutoNum type="arabicPeriod"/>
            </a:pPr>
            <a:r>
              <a:rPr lang="en-AU" dirty="0" smtClean="0"/>
              <a:t>Germany to accept guilt for starting WW1</a:t>
            </a:r>
          </a:p>
          <a:p>
            <a:pPr marL="551250" indent="-514350">
              <a:buFont typeface="+mj-lt"/>
              <a:buAutoNum type="arabicPeriod"/>
            </a:pPr>
            <a:r>
              <a:rPr lang="en-AU" dirty="0" smtClean="0"/>
              <a:t>Germany </a:t>
            </a:r>
            <a:r>
              <a:rPr lang="en-AU" dirty="0"/>
              <a:t>had to pay $31.4 billion in reparations</a:t>
            </a:r>
          </a:p>
          <a:p>
            <a:pPr marL="814050" lvl="1" indent="-400050">
              <a:buFont typeface="+mj-lt"/>
              <a:buAutoNum type="romanUcPeriod"/>
            </a:pPr>
            <a:r>
              <a:rPr lang="en-AU" dirty="0"/>
              <a:t>Economically these reparations went on to cripple Germany.</a:t>
            </a:r>
            <a:endParaRPr lang="en-AU" dirty="0" smtClean="0"/>
          </a:p>
          <a:p>
            <a:pPr marL="551250" indent="-514350">
              <a:buFont typeface="+mj-lt"/>
              <a:buAutoNum type="arabicPeriod"/>
            </a:pPr>
            <a:r>
              <a:rPr lang="en-AU" dirty="0" smtClean="0">
                <a:effectLst/>
              </a:rPr>
              <a:t>Germany </a:t>
            </a:r>
            <a:r>
              <a:rPr lang="en-AU" dirty="0">
                <a:effectLst/>
              </a:rPr>
              <a:t>had to make substantial territorial </a:t>
            </a:r>
            <a:r>
              <a:rPr lang="en-AU" dirty="0" smtClean="0">
                <a:effectLst/>
              </a:rPr>
              <a:t>concessions. They </a:t>
            </a:r>
            <a:r>
              <a:rPr lang="en-AU" dirty="0">
                <a:effectLst/>
              </a:rPr>
              <a:t>lost control of:</a:t>
            </a:r>
          </a:p>
          <a:p>
            <a:pPr marL="850050" lvl="1" indent="-400050">
              <a:buFont typeface="+mj-lt"/>
              <a:buAutoNum type="romanUcPeriod"/>
            </a:pPr>
            <a:r>
              <a:rPr lang="en-AU" dirty="0">
                <a:effectLst/>
              </a:rPr>
              <a:t>Alsace Lorraine (France)</a:t>
            </a:r>
          </a:p>
          <a:p>
            <a:pPr marL="850050" lvl="1" indent="-400050">
              <a:buFont typeface="+mj-lt"/>
              <a:buAutoNum type="romanUcPeriod"/>
            </a:pPr>
            <a:r>
              <a:rPr lang="en-AU" dirty="0" err="1">
                <a:effectLst/>
              </a:rPr>
              <a:t>Eupen</a:t>
            </a:r>
            <a:r>
              <a:rPr lang="en-AU" dirty="0">
                <a:effectLst/>
              </a:rPr>
              <a:t> and </a:t>
            </a:r>
            <a:r>
              <a:rPr lang="en-AU" dirty="0" err="1">
                <a:effectLst/>
              </a:rPr>
              <a:t>Malmedy</a:t>
            </a:r>
            <a:r>
              <a:rPr lang="en-AU" dirty="0">
                <a:effectLst/>
              </a:rPr>
              <a:t> (Belgium)</a:t>
            </a:r>
          </a:p>
          <a:p>
            <a:pPr marL="850050" lvl="1" indent="-400050">
              <a:buFont typeface="+mj-lt"/>
              <a:buAutoNum type="romanUcPeriod"/>
            </a:pPr>
            <a:r>
              <a:rPr lang="en-AU" dirty="0">
                <a:effectLst/>
              </a:rPr>
              <a:t>North Schleswig (Denmark)</a:t>
            </a:r>
          </a:p>
          <a:p>
            <a:pPr marL="850050" lvl="1" indent="-400050">
              <a:buFont typeface="+mj-lt"/>
              <a:buAutoNum type="romanUcPeriod"/>
            </a:pPr>
            <a:r>
              <a:rPr lang="en-AU" dirty="0" err="1">
                <a:effectLst/>
              </a:rPr>
              <a:t>Hulschin</a:t>
            </a:r>
            <a:r>
              <a:rPr lang="en-AU" dirty="0">
                <a:effectLst/>
              </a:rPr>
              <a:t> (Czechoslovakia)</a:t>
            </a:r>
          </a:p>
          <a:p>
            <a:pPr marL="850050" lvl="1" indent="-400050">
              <a:buFont typeface="+mj-lt"/>
              <a:buAutoNum type="romanUcPeriod"/>
            </a:pPr>
            <a:r>
              <a:rPr lang="en-AU" dirty="0">
                <a:effectLst/>
              </a:rPr>
              <a:t>West Prussia, Posen and Upper Silesia (Poland)</a:t>
            </a:r>
          </a:p>
          <a:p>
            <a:pPr marL="850050" lvl="1" indent="-400050">
              <a:buFont typeface="+mj-lt"/>
              <a:buAutoNum type="romanUcPeriod"/>
            </a:pPr>
            <a:r>
              <a:rPr lang="en-AU" dirty="0">
                <a:effectLst/>
              </a:rPr>
              <a:t>Saar, Danzig and Memel (League of Nations)</a:t>
            </a:r>
          </a:p>
          <a:p>
            <a:pPr marL="850050" lvl="1" indent="-400050">
              <a:buFont typeface="+mj-lt"/>
              <a:buAutoNum type="romanUcPeriod"/>
            </a:pPr>
            <a:r>
              <a:rPr lang="en-AU" dirty="0">
                <a:effectLst/>
              </a:rPr>
              <a:t>All gains from the Treaty of Brest </a:t>
            </a:r>
            <a:r>
              <a:rPr lang="en-AU" dirty="0" err="1">
                <a:effectLst/>
              </a:rPr>
              <a:t>Litovsk</a:t>
            </a:r>
            <a:r>
              <a:rPr lang="en-AU" dirty="0">
                <a:effectLst/>
              </a:rPr>
              <a:t> (Russia)</a:t>
            </a:r>
          </a:p>
          <a:p>
            <a:pPr marL="850050" lvl="1" indent="-400050">
              <a:buFont typeface="+mj-lt"/>
              <a:buAutoNum type="romanUcPeriod"/>
            </a:pPr>
            <a:r>
              <a:rPr lang="en-AU" dirty="0">
                <a:effectLst/>
              </a:rPr>
              <a:t>All colonies (League of Nations</a:t>
            </a:r>
            <a:r>
              <a:rPr lang="en-AU" dirty="0" smtClean="0">
                <a:effectLst/>
              </a:rPr>
              <a:t>)</a:t>
            </a:r>
            <a:endParaRPr lang="en-AU" dirty="0" smtClean="0"/>
          </a:p>
          <a:p>
            <a:pPr marL="551250" indent="-514350">
              <a:buFont typeface="+mj-lt"/>
              <a:buAutoNum type="arabicPeriod"/>
            </a:pPr>
            <a:r>
              <a:rPr lang="en-AU" dirty="0" smtClean="0"/>
              <a:t>Military</a:t>
            </a:r>
          </a:p>
          <a:p>
            <a:pPr marL="871200" lvl="1" indent="-457200">
              <a:buFont typeface="+mj-lt"/>
              <a:buAutoNum type="romanUcPeriod"/>
            </a:pPr>
            <a:r>
              <a:rPr lang="en-AU" dirty="0" smtClean="0"/>
              <a:t>No air force</a:t>
            </a:r>
          </a:p>
          <a:p>
            <a:pPr marL="871200" lvl="1" indent="-457200">
              <a:buFont typeface="+mj-lt"/>
              <a:buAutoNum type="romanUcPeriod"/>
            </a:pPr>
            <a:r>
              <a:rPr lang="en-AU" dirty="0" smtClean="0"/>
              <a:t>Army limited to 100,000 soldiers</a:t>
            </a:r>
          </a:p>
          <a:p>
            <a:pPr marL="871200" lvl="1" indent="-457200">
              <a:buFont typeface="+mj-lt"/>
              <a:buAutoNum type="romanUcPeriod"/>
            </a:pPr>
            <a:r>
              <a:rPr lang="en-AU" dirty="0" smtClean="0"/>
              <a:t>No submarines</a:t>
            </a:r>
          </a:p>
          <a:p>
            <a:pPr marL="871200" lvl="1" indent="-457200">
              <a:buFont typeface="+mj-lt"/>
              <a:buAutoNum type="romanUcPeriod"/>
            </a:pPr>
            <a:r>
              <a:rPr lang="en-AU" dirty="0" smtClean="0"/>
              <a:t>6 battleships</a:t>
            </a:r>
          </a:p>
          <a:p>
            <a:pPr marL="871200" lvl="1" indent="-457200">
              <a:buFont typeface="+mj-lt"/>
              <a:buAutoNum type="romanUcPeriod"/>
            </a:pPr>
            <a:r>
              <a:rPr lang="en-AU" dirty="0" smtClean="0"/>
              <a:t>Demilitarisation of the Rhineland</a:t>
            </a:r>
            <a:endParaRPr lang="en-AU" dirty="0"/>
          </a:p>
          <a:p>
            <a:pPr marL="414000" lvl="1" indent="0">
              <a:buNone/>
            </a:pPr>
            <a:endParaRPr lang="en-AU" dirty="0"/>
          </a:p>
        </p:txBody>
      </p:sp>
      <p:pic>
        <p:nvPicPr>
          <p:cNvPr id="5" name="Picture 4"/>
          <p:cNvPicPr>
            <a:picLocks noChangeAspect="1"/>
          </p:cNvPicPr>
          <p:nvPr/>
        </p:nvPicPr>
        <p:blipFill>
          <a:blip r:embed="rId2"/>
          <a:stretch>
            <a:fillRect/>
          </a:stretch>
        </p:blipFill>
        <p:spPr>
          <a:xfrm>
            <a:off x="8769246" y="2543796"/>
            <a:ext cx="2498311" cy="3802374"/>
          </a:xfrm>
          <a:prstGeom prst="rect">
            <a:avLst/>
          </a:prstGeom>
        </p:spPr>
      </p:pic>
    </p:spTree>
    <p:extLst>
      <p:ext uri="{BB962C8B-B14F-4D97-AF65-F5344CB8AC3E}">
        <p14:creationId xmlns:p14="http://schemas.microsoft.com/office/powerpoint/2010/main" val="2645901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Impact of the Treaty of Versailles on Germany</a:t>
            </a:r>
            <a:endParaRPr lang="en-AU" dirty="0"/>
          </a:p>
        </p:txBody>
      </p:sp>
      <p:sp>
        <p:nvSpPr>
          <p:cNvPr id="3" name="Content Placeholder 2"/>
          <p:cNvSpPr>
            <a:spLocks noGrp="1"/>
          </p:cNvSpPr>
          <p:nvPr>
            <p:ph idx="1"/>
          </p:nvPr>
        </p:nvSpPr>
        <p:spPr/>
        <p:txBody>
          <a:bodyPr/>
          <a:lstStyle/>
          <a:p>
            <a:r>
              <a:rPr lang="en-AU" dirty="0" smtClean="0"/>
              <a:t>Most Germans rejected the treaty – widespread outrage and anger</a:t>
            </a:r>
          </a:p>
          <a:p>
            <a:r>
              <a:rPr lang="en-AU" dirty="0"/>
              <a:t>‘The Stab in the back Myth’</a:t>
            </a:r>
          </a:p>
          <a:p>
            <a:r>
              <a:rPr lang="en-AU" dirty="0" smtClean="0"/>
              <a:t>Signing of the treaty linked to Weimar Republic – German’s did not support new government</a:t>
            </a:r>
          </a:p>
          <a:p>
            <a:r>
              <a:rPr lang="en-AU" dirty="0" smtClean="0"/>
              <a:t>Economic repayments caused hyperinflation in 1920s</a:t>
            </a:r>
          </a:p>
          <a:p>
            <a:r>
              <a:rPr lang="en-AU" dirty="0" smtClean="0"/>
              <a:t>Harsh terms of the treaty influenced WW2 </a:t>
            </a:r>
          </a:p>
          <a:p>
            <a:endParaRPr lang="en-AU" dirty="0"/>
          </a:p>
          <a:p>
            <a:endParaRPr lang="en-AU" dirty="0" smtClean="0"/>
          </a:p>
          <a:p>
            <a:pPr marL="36900" indent="0">
              <a:buNone/>
            </a:pPr>
            <a:r>
              <a:rPr lang="en-AU" b="1" u="sng" dirty="0" smtClean="0"/>
              <a:t>Use the handout given to you to highlight key impacts of the Treaty of Versailles.</a:t>
            </a:r>
            <a:endParaRPr lang="en-AU" b="1" u="sng" dirty="0"/>
          </a:p>
        </p:txBody>
      </p:sp>
    </p:spTree>
    <p:extLst>
      <p:ext uri="{BB962C8B-B14F-4D97-AF65-F5344CB8AC3E}">
        <p14:creationId xmlns:p14="http://schemas.microsoft.com/office/powerpoint/2010/main" val="42049988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Student activity!</a:t>
            </a:r>
            <a:endParaRPr lang="en-AU" dirty="0"/>
          </a:p>
        </p:txBody>
      </p:sp>
      <p:sp>
        <p:nvSpPr>
          <p:cNvPr id="3" name="Content Placeholder 2"/>
          <p:cNvSpPr>
            <a:spLocks noGrp="1"/>
          </p:cNvSpPr>
          <p:nvPr>
            <p:ph idx="1"/>
          </p:nvPr>
        </p:nvSpPr>
        <p:spPr>
          <a:xfrm>
            <a:off x="6782580" y="2094459"/>
            <a:ext cx="5112932" cy="4058751"/>
          </a:xfrm>
        </p:spPr>
        <p:txBody>
          <a:bodyPr/>
          <a:lstStyle/>
          <a:p>
            <a:r>
              <a:rPr lang="en-AU" dirty="0" smtClean="0"/>
              <a:t>Complete the </a:t>
            </a:r>
            <a:r>
              <a:rPr lang="en-AU" b="1" u="sng" dirty="0" smtClean="0"/>
              <a:t>practice source analysis </a:t>
            </a:r>
            <a:r>
              <a:rPr lang="en-AU" dirty="0" smtClean="0"/>
              <a:t>given to you.</a:t>
            </a:r>
          </a:p>
          <a:p>
            <a:endParaRPr lang="en-AU" dirty="0"/>
          </a:p>
          <a:p>
            <a:r>
              <a:rPr lang="en-AU" dirty="0" smtClean="0"/>
              <a:t>Miss Hawkes will come and check your revision/reading booklets!</a:t>
            </a:r>
            <a:endParaRPr lang="en-AU" dirty="0"/>
          </a:p>
        </p:txBody>
      </p:sp>
      <p:pic>
        <p:nvPicPr>
          <p:cNvPr id="6148" name="Picture 4" descr="Image result for friedrich ebe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026" y="1809258"/>
            <a:ext cx="3324225" cy="4629151"/>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p:cNvSpPr/>
          <p:nvPr/>
        </p:nvSpPr>
        <p:spPr>
          <a:xfrm>
            <a:off x="723207" y="1094825"/>
            <a:ext cx="3250277" cy="2122200"/>
          </a:xfrm>
          <a:prstGeom prst="wedgeEllipseCallout">
            <a:avLst>
              <a:gd name="adj1" fmla="val 49755"/>
              <a:gd name="adj2" fmla="val 546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000" dirty="0" smtClean="0"/>
              <a:t>Stay up to date with your readings!</a:t>
            </a:r>
            <a:endParaRPr lang="en-AU" sz="2000" dirty="0"/>
          </a:p>
        </p:txBody>
      </p:sp>
    </p:spTree>
    <p:extLst>
      <p:ext uri="{BB962C8B-B14F-4D97-AF65-F5344CB8AC3E}">
        <p14:creationId xmlns:p14="http://schemas.microsoft.com/office/powerpoint/2010/main" val="25385571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err="1" smtClean="0"/>
              <a:t>Kahoot</a:t>
            </a:r>
            <a:r>
              <a:rPr lang="en-AU" dirty="0" smtClean="0"/>
              <a:t>!</a:t>
            </a:r>
            <a:endParaRPr lang="en-AU" dirty="0"/>
          </a:p>
        </p:txBody>
      </p:sp>
      <p:sp>
        <p:nvSpPr>
          <p:cNvPr id="3" name="Content Placeholder 2"/>
          <p:cNvSpPr>
            <a:spLocks noGrp="1"/>
          </p:cNvSpPr>
          <p:nvPr>
            <p:ph idx="1"/>
          </p:nvPr>
        </p:nvSpPr>
        <p:spPr/>
        <p:txBody>
          <a:bodyPr/>
          <a:lstStyle/>
          <a:p>
            <a:r>
              <a:rPr lang="en-AU" dirty="0">
                <a:hlinkClick r:id="rId2"/>
              </a:rPr>
              <a:t>https://create.kahoot.it/details/treaty-of-versailles/612b6d2d-3dc5-4e07-9f6a-b5737ef48d87</a:t>
            </a:r>
            <a:endParaRPr lang="en-AU" dirty="0"/>
          </a:p>
        </p:txBody>
      </p:sp>
      <p:pic>
        <p:nvPicPr>
          <p:cNvPr id="5" name="Picture 4"/>
          <p:cNvPicPr>
            <a:picLocks noChangeAspect="1"/>
          </p:cNvPicPr>
          <p:nvPr/>
        </p:nvPicPr>
        <p:blipFill>
          <a:blip r:embed="rId3"/>
          <a:stretch>
            <a:fillRect/>
          </a:stretch>
        </p:blipFill>
        <p:spPr>
          <a:xfrm>
            <a:off x="5019113" y="3844376"/>
            <a:ext cx="2143125" cy="2028825"/>
          </a:xfrm>
          <a:prstGeom prst="rect">
            <a:avLst/>
          </a:prstGeom>
        </p:spPr>
      </p:pic>
    </p:spTree>
    <p:extLst>
      <p:ext uri="{BB962C8B-B14F-4D97-AF65-F5344CB8AC3E}">
        <p14:creationId xmlns:p14="http://schemas.microsoft.com/office/powerpoint/2010/main" val="4033191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PERSPECTIVES of the Treaty</a:t>
            </a:r>
            <a:endParaRPr lang="en-AU" dirty="0"/>
          </a:p>
        </p:txBody>
      </p:sp>
      <p:sp>
        <p:nvSpPr>
          <p:cNvPr id="3" name="Content Placeholder 2"/>
          <p:cNvSpPr>
            <a:spLocks noGrp="1"/>
          </p:cNvSpPr>
          <p:nvPr>
            <p:ph idx="1"/>
          </p:nvPr>
        </p:nvSpPr>
        <p:spPr/>
        <p:txBody>
          <a:bodyPr>
            <a:normAutofit fontScale="92500" lnSpcReduction="10000"/>
          </a:bodyPr>
          <a:lstStyle/>
          <a:p>
            <a:pPr marL="36900" indent="0">
              <a:buNone/>
            </a:pPr>
            <a:r>
              <a:rPr lang="en-AU" b="1" dirty="0" smtClean="0"/>
              <a:t>Germany</a:t>
            </a:r>
          </a:p>
          <a:p>
            <a:pPr marL="36900" indent="0">
              <a:buNone/>
            </a:pPr>
            <a:endParaRPr lang="en-AU" dirty="0"/>
          </a:p>
          <a:p>
            <a:pPr marL="36900" indent="0">
              <a:buNone/>
            </a:pPr>
            <a:r>
              <a:rPr lang="en-AU" dirty="0"/>
              <a:t>The Germans hated everything about the treaty</a:t>
            </a:r>
            <a:r>
              <a:rPr lang="en-AU" dirty="0" smtClean="0"/>
              <a:t>:</a:t>
            </a:r>
            <a:endParaRPr lang="en-AU" dirty="0"/>
          </a:p>
          <a:p>
            <a:r>
              <a:rPr lang="en-AU" dirty="0"/>
              <a:t>They were angry that they had not been allowed to negotiate.</a:t>
            </a:r>
          </a:p>
          <a:p>
            <a:r>
              <a:rPr lang="en-AU" dirty="0"/>
              <a:t>'Deutsche </a:t>
            </a:r>
            <a:r>
              <a:rPr lang="en-AU" dirty="0" err="1"/>
              <a:t>Zeitung</a:t>
            </a:r>
            <a:r>
              <a:rPr lang="en-AU" dirty="0"/>
              <a:t>', a German newspaper, vowed: "We will never stop until we win back what we deserve."</a:t>
            </a:r>
          </a:p>
          <a:p>
            <a:r>
              <a:rPr lang="en-AU" dirty="0"/>
              <a:t>Count </a:t>
            </a:r>
            <a:r>
              <a:rPr lang="en-AU" dirty="0" err="1"/>
              <a:t>Brockdorff-Rantzau</a:t>
            </a:r>
            <a:r>
              <a:rPr lang="en-AU" dirty="0"/>
              <a:t>, leader of the German delegation at Versailles said Article 231 - the war-guilt clause - was "a lie". Germany officially denied the war-guilt clause in 1927.</a:t>
            </a:r>
          </a:p>
          <a:p>
            <a:r>
              <a:rPr lang="en-AU" dirty="0"/>
              <a:t>There was a revolution (the </a:t>
            </a:r>
            <a:r>
              <a:rPr lang="en-AU" dirty="0" err="1"/>
              <a:t>Kapp</a:t>
            </a:r>
            <a:r>
              <a:rPr lang="en-AU" dirty="0"/>
              <a:t> Putsch) against the treaty in Berlin in 1920.</a:t>
            </a:r>
          </a:p>
          <a:p>
            <a:r>
              <a:rPr lang="en-AU" dirty="0"/>
              <a:t>Germany hated reparations, and was forced to begin paying them in 1921. They defaulted in 1923 and eventually Hitler refused to pay altogether.</a:t>
            </a:r>
          </a:p>
          <a:p>
            <a:endParaRPr lang="en-AU" dirty="0"/>
          </a:p>
        </p:txBody>
      </p:sp>
    </p:spTree>
    <p:extLst>
      <p:ext uri="{BB962C8B-B14F-4D97-AF65-F5344CB8AC3E}">
        <p14:creationId xmlns:p14="http://schemas.microsoft.com/office/powerpoint/2010/main" val="3436240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PERSPECTIVES of the Treaty</a:t>
            </a:r>
            <a:endParaRPr lang="en-AU" dirty="0"/>
          </a:p>
        </p:txBody>
      </p:sp>
      <p:sp>
        <p:nvSpPr>
          <p:cNvPr id="3" name="Content Placeholder 2"/>
          <p:cNvSpPr>
            <a:spLocks noGrp="1"/>
          </p:cNvSpPr>
          <p:nvPr>
            <p:ph idx="1"/>
          </p:nvPr>
        </p:nvSpPr>
        <p:spPr/>
        <p:txBody>
          <a:bodyPr>
            <a:normAutofit/>
          </a:bodyPr>
          <a:lstStyle/>
          <a:p>
            <a:pPr marL="36900" indent="0">
              <a:buNone/>
            </a:pPr>
            <a:r>
              <a:rPr lang="en-AU" b="1" dirty="0"/>
              <a:t>Britain</a:t>
            </a:r>
          </a:p>
          <a:p>
            <a:pPr marL="36900" indent="0">
              <a:buNone/>
            </a:pPr>
            <a:endParaRPr lang="en-AU" dirty="0" smtClean="0"/>
          </a:p>
          <a:p>
            <a:pPr marL="36900" indent="0">
              <a:buNone/>
            </a:pPr>
            <a:r>
              <a:rPr lang="en-AU" dirty="0" smtClean="0"/>
              <a:t>Britain </a:t>
            </a:r>
            <a:r>
              <a:rPr lang="en-AU" dirty="0"/>
              <a:t>gained some German colonies and the German navy was destroyed but</a:t>
            </a:r>
            <a:r>
              <a:rPr lang="en-AU" dirty="0" smtClean="0"/>
              <a:t>:</a:t>
            </a:r>
            <a:endParaRPr lang="en-AU" dirty="0"/>
          </a:p>
          <a:p>
            <a:r>
              <a:rPr lang="en-AU" dirty="0"/>
              <a:t>Lloyd George thought the treaty was too harsh, saying: "We shall have to fight another war again in 25 years time."</a:t>
            </a:r>
          </a:p>
          <a:p>
            <a:r>
              <a:rPr lang="en-AU" dirty="0"/>
              <a:t>The British diplomat Harold Nicolson called it "neither just nor wise" and the people who made it "stupid".</a:t>
            </a:r>
          </a:p>
          <a:p>
            <a:r>
              <a:rPr lang="en-AU" dirty="0"/>
              <a:t>The economist John Maynard Keynes prophesied that reparations would ruin the economy of Europe.</a:t>
            </a:r>
          </a:p>
        </p:txBody>
      </p:sp>
      <p:pic>
        <p:nvPicPr>
          <p:cNvPr id="1026" name="Picture 2" descr="Image result for david lloyd george treaty of versail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7720" y="199822"/>
            <a:ext cx="1752600"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118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PERSPECTIVES of the Treaty</a:t>
            </a:r>
            <a:endParaRPr lang="en-AU" dirty="0"/>
          </a:p>
        </p:txBody>
      </p:sp>
      <p:sp>
        <p:nvSpPr>
          <p:cNvPr id="3" name="Content Placeholder 2"/>
          <p:cNvSpPr>
            <a:spLocks noGrp="1"/>
          </p:cNvSpPr>
          <p:nvPr>
            <p:ph idx="1"/>
          </p:nvPr>
        </p:nvSpPr>
        <p:spPr>
          <a:xfrm>
            <a:off x="913795" y="2460567"/>
            <a:ext cx="10353762" cy="3330633"/>
          </a:xfrm>
        </p:spPr>
        <p:txBody>
          <a:bodyPr>
            <a:normAutofit/>
          </a:bodyPr>
          <a:lstStyle/>
          <a:p>
            <a:pPr marL="36900" indent="0">
              <a:buNone/>
            </a:pPr>
            <a:r>
              <a:rPr lang="en-AU" b="1" dirty="0">
                <a:effectLst/>
              </a:rPr>
              <a:t>France</a:t>
            </a:r>
          </a:p>
          <a:p>
            <a:pPr marL="36900" indent="0">
              <a:buNone/>
            </a:pPr>
            <a:endParaRPr lang="en-AU" dirty="0" smtClean="0">
              <a:effectLst/>
            </a:endParaRPr>
          </a:p>
          <a:p>
            <a:pPr marL="36900" indent="0">
              <a:buNone/>
            </a:pPr>
            <a:r>
              <a:rPr lang="en-AU" dirty="0" smtClean="0">
                <a:effectLst/>
              </a:rPr>
              <a:t>France </a:t>
            </a:r>
            <a:r>
              <a:rPr lang="en-AU" dirty="0">
                <a:effectLst/>
              </a:rPr>
              <a:t>got Alsace-Lorraine, German colonies, harsh reparations and a tiny German army </a:t>
            </a:r>
            <a:r>
              <a:rPr lang="en-AU" b="1" dirty="0">
                <a:effectLst/>
              </a:rPr>
              <a:t>but</a:t>
            </a:r>
            <a:r>
              <a:rPr lang="en-AU" dirty="0">
                <a:effectLst/>
              </a:rPr>
              <a:t>:</a:t>
            </a:r>
          </a:p>
          <a:p>
            <a:r>
              <a:rPr lang="en-AU" dirty="0">
                <a:effectLst/>
              </a:rPr>
              <a:t>Many French people wanted an independent, not a demilitarised, Rhineland.</a:t>
            </a:r>
          </a:p>
          <a:p>
            <a:r>
              <a:rPr lang="en-AU" dirty="0">
                <a:effectLst/>
              </a:rPr>
              <a:t>Most French people did not think the League of Nations would protect them against Germany.</a:t>
            </a:r>
          </a:p>
          <a:p>
            <a:pPr marL="36900" indent="0">
              <a:buNone/>
            </a:pPr>
            <a:endParaRPr lang="en-AU" dirty="0"/>
          </a:p>
        </p:txBody>
      </p:sp>
      <p:pic>
        <p:nvPicPr>
          <p:cNvPr id="2050" name="Picture 2" descr="Image result for georges clemencea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9408" y="418032"/>
            <a:ext cx="1905000"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869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PERSPECTIVES of the Treaty</a:t>
            </a:r>
            <a:endParaRPr lang="en-AU" dirty="0"/>
          </a:p>
        </p:txBody>
      </p:sp>
      <p:sp>
        <p:nvSpPr>
          <p:cNvPr id="3" name="Content Placeholder 2"/>
          <p:cNvSpPr>
            <a:spLocks noGrp="1"/>
          </p:cNvSpPr>
          <p:nvPr>
            <p:ph idx="1"/>
          </p:nvPr>
        </p:nvSpPr>
        <p:spPr>
          <a:xfrm>
            <a:off x="913795" y="1732449"/>
            <a:ext cx="8338270" cy="4718227"/>
          </a:xfrm>
        </p:spPr>
        <p:txBody>
          <a:bodyPr>
            <a:normAutofit/>
          </a:bodyPr>
          <a:lstStyle/>
          <a:p>
            <a:r>
              <a:rPr lang="en-AU" b="1" dirty="0">
                <a:effectLst/>
              </a:rPr>
              <a:t>America</a:t>
            </a:r>
          </a:p>
          <a:p>
            <a:pPr marL="36900" indent="0">
              <a:buNone/>
            </a:pPr>
            <a:endParaRPr lang="en-AU" dirty="0" smtClean="0">
              <a:effectLst/>
            </a:endParaRPr>
          </a:p>
          <a:p>
            <a:pPr marL="36900" indent="0">
              <a:buNone/>
            </a:pPr>
            <a:r>
              <a:rPr lang="en-AU" dirty="0" smtClean="0">
                <a:effectLst/>
              </a:rPr>
              <a:t>Woodrow </a:t>
            </a:r>
            <a:r>
              <a:rPr lang="en-AU" dirty="0">
                <a:effectLst/>
              </a:rPr>
              <a:t>Wilson got the League of Nations, and new nation-states were set up in Eastern Europe </a:t>
            </a:r>
            <a:r>
              <a:rPr lang="en-AU" b="1" dirty="0">
                <a:effectLst/>
              </a:rPr>
              <a:t>but</a:t>
            </a:r>
            <a:r>
              <a:rPr lang="en-AU" dirty="0">
                <a:effectLst/>
              </a:rPr>
              <a:t>:</a:t>
            </a:r>
          </a:p>
          <a:p>
            <a:r>
              <a:rPr lang="en-AU" dirty="0">
                <a:effectLst/>
              </a:rPr>
              <a:t>Wilson thought the treaty was far too harsh.</a:t>
            </a:r>
          </a:p>
          <a:p>
            <a:r>
              <a:rPr lang="en-AU" dirty="0">
                <a:effectLst/>
              </a:rPr>
              <a:t>Self-determination proved impossible to implement - neither Czechoslovakia or Yugoslavia survived as united countries.</a:t>
            </a:r>
          </a:p>
          <a:p>
            <a:r>
              <a:rPr lang="en-AU" dirty="0">
                <a:effectLst/>
              </a:rPr>
              <a:t>Many Americans did not want to get involved in Europe, and in 1920 the American Senate refused to sign the Treaty of Versailles, or join the League of Nations.</a:t>
            </a:r>
          </a:p>
          <a:p>
            <a:pPr marL="36900" indent="0">
              <a:buNone/>
            </a:pPr>
            <a:endParaRPr lang="en-AU" dirty="0"/>
          </a:p>
        </p:txBody>
      </p:sp>
      <p:pic>
        <p:nvPicPr>
          <p:cNvPr id="3074" name="Picture 2" descr="Image result for woodrow wil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837" y="1817340"/>
            <a:ext cx="2095500" cy="3171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8716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469</TotalTime>
  <Words>1834</Words>
  <Application>Microsoft Office PowerPoint</Application>
  <PresentationFormat>Widescreen</PresentationFormat>
  <Paragraphs>166</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Calisto MT</vt:lpstr>
      <vt:lpstr>Trebuchet MS</vt:lpstr>
      <vt:lpstr>Wingdings 2</vt:lpstr>
      <vt:lpstr>Slate</vt:lpstr>
      <vt:lpstr>Germany 1919-1920</vt:lpstr>
      <vt:lpstr>The impact of defeat</vt:lpstr>
      <vt:lpstr>The November Revolution 1918-1919</vt:lpstr>
      <vt:lpstr>PowerPoint Presentation</vt:lpstr>
      <vt:lpstr>Kaiser Wilhelm II Abdicates</vt:lpstr>
      <vt:lpstr>Establishment of the Weimar Republic 1919</vt:lpstr>
      <vt:lpstr>The Weimar Constitution</vt:lpstr>
      <vt:lpstr>The Weimar Constitution and its weaknesses </vt:lpstr>
      <vt:lpstr>History Heroes Week 8</vt:lpstr>
      <vt:lpstr>History Heroes Week 8</vt:lpstr>
      <vt:lpstr>History Heroes Week 8</vt:lpstr>
      <vt:lpstr>ANSWERS</vt:lpstr>
      <vt:lpstr>History Heroes Week 8</vt:lpstr>
      <vt:lpstr>History Heroes Week 8</vt:lpstr>
      <vt:lpstr>History Heroes Week 8</vt:lpstr>
      <vt:lpstr>RESULTS</vt:lpstr>
      <vt:lpstr>Source of the week</vt:lpstr>
      <vt:lpstr>PowerPoint Presentation</vt:lpstr>
      <vt:lpstr>The Treaty of Versailles</vt:lpstr>
      <vt:lpstr>Clauses of the Treaty of Versailles</vt:lpstr>
      <vt:lpstr>Impact of the Treaty of Versailles on Germany</vt:lpstr>
      <vt:lpstr>Student activity!</vt:lpstr>
      <vt:lpstr>Kahoot!</vt:lpstr>
      <vt:lpstr>PERSPECTIVES of the Treaty</vt:lpstr>
      <vt:lpstr>PERSPECTIVES of the Treaty</vt:lpstr>
      <vt:lpstr>PERSPECTIVES of the Treaty</vt:lpstr>
      <vt:lpstr>PERSPECTIVES of the Treaty</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Germany 1919-1920</dc:title>
  <dc:creator>HAWKES Natasha [Narrogin Senior High School]</dc:creator>
  <cp:lastModifiedBy>HAWKES Natasha [Narrogin Senior High School]</cp:lastModifiedBy>
  <cp:revision>42</cp:revision>
  <dcterms:created xsi:type="dcterms:W3CDTF">2019-06-19T03:05:42Z</dcterms:created>
  <dcterms:modified xsi:type="dcterms:W3CDTF">2019-06-21T07:00:20Z</dcterms:modified>
</cp:coreProperties>
</file>
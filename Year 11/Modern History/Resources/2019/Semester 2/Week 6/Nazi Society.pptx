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76" r:id="rId3"/>
    <p:sldId id="257" r:id="rId4"/>
    <p:sldId id="258" r:id="rId5"/>
    <p:sldId id="259" r:id="rId6"/>
    <p:sldId id="262" r:id="rId7"/>
    <p:sldId id="263" r:id="rId8"/>
    <p:sldId id="264" r:id="rId9"/>
    <p:sldId id="265" r:id="rId10"/>
    <p:sldId id="266" r:id="rId11"/>
    <p:sldId id="275" r:id="rId12"/>
    <p:sldId id="267" r:id="rId13"/>
    <p:sldId id="268" r:id="rId14"/>
    <p:sldId id="269" r:id="rId15"/>
    <p:sldId id="270" r:id="rId16"/>
    <p:sldId id="271" r:id="rId17"/>
    <p:sldId id="272" r:id="rId18"/>
    <p:sldId id="273" r:id="rId19"/>
    <p:sldId id="274" r:id="rId20"/>
    <p:sldId id="260" r:id="rId21"/>
    <p:sldId id="26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AA04E24-52CB-4089-ACA0-A0F00E8739F3}" type="datetimeFigureOut">
              <a:rPr lang="en-AU" smtClean="0"/>
              <a:t>28/08/2019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5BBE6C5D-354A-46AF-AA4D-DD1F96D7D8F7}" type="slidenum">
              <a:rPr lang="en-AU" smtClean="0"/>
              <a:t>‹#›</a:t>
            </a:fld>
            <a:endParaRPr lang="en-AU"/>
          </a:p>
        </p:txBody>
      </p:sp>
    </p:spTree>
    <p:extLst>
      <p:ext uri="{BB962C8B-B14F-4D97-AF65-F5344CB8AC3E}">
        <p14:creationId xmlns:p14="http://schemas.microsoft.com/office/powerpoint/2010/main" val="2723025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04E24-52CB-4089-ACA0-A0F00E8739F3}" type="datetimeFigureOut">
              <a:rPr lang="en-AU" smtClean="0"/>
              <a:t>28/08/2019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424797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0AA04E24-52CB-4089-ACA0-A0F00E8739F3}" type="datetimeFigureOut">
              <a:rPr lang="en-AU" smtClean="0"/>
              <a:t>28/08/2019</a:t>
            </a:fld>
            <a:endParaRPr lang="en-AU"/>
          </a:p>
        </p:txBody>
      </p:sp>
      <p:sp>
        <p:nvSpPr>
          <p:cNvPr id="5" name="Footer Placeholder 4"/>
          <p:cNvSpPr>
            <a:spLocks noGrp="1"/>
          </p:cNvSpPr>
          <p:nvPr>
            <p:ph type="ftr" sz="quarter" idx="11"/>
          </p:nvPr>
        </p:nvSpPr>
        <p:spPr>
          <a:xfrm>
            <a:off x="2182708" y="6272784"/>
            <a:ext cx="6327648" cy="365125"/>
          </a:xfrm>
        </p:spPr>
        <p:txBody>
          <a:bodyPr/>
          <a:lstStyle/>
          <a:p>
            <a:endParaRPr lang="en-AU"/>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5BBE6C5D-354A-46AF-AA4D-DD1F96D7D8F7}" type="slidenum">
              <a:rPr lang="en-AU" smtClean="0"/>
              <a:t>‹#›</a:t>
            </a:fld>
            <a:endParaRPr lang="en-AU"/>
          </a:p>
        </p:txBody>
      </p:sp>
    </p:spTree>
    <p:extLst>
      <p:ext uri="{BB962C8B-B14F-4D97-AF65-F5344CB8AC3E}">
        <p14:creationId xmlns:p14="http://schemas.microsoft.com/office/powerpoint/2010/main" val="2351100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AA04E24-52CB-4089-ACA0-A0F00E8739F3}" type="datetimeFigureOut">
              <a:rPr lang="en-AU" smtClean="0"/>
              <a:t>28/08/2019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215308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AA04E24-52CB-4089-ACA0-A0F00E8739F3}" type="datetimeFigureOut">
              <a:rPr lang="en-AU" smtClean="0"/>
              <a:t>28/08/2019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558409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AA04E24-52CB-4089-ACA0-A0F00E8739F3}" type="datetimeFigureOut">
              <a:rPr lang="en-AU" smtClean="0"/>
              <a:t>28/08/2019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1791007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A04E24-52CB-4089-ACA0-A0F00E8739F3}" type="datetimeFigureOut">
              <a:rPr lang="en-AU" smtClean="0"/>
              <a:t>28/08/2019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2377095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AA04E24-52CB-4089-ACA0-A0F00E8739F3}" type="datetimeFigureOut">
              <a:rPr lang="en-AU" smtClean="0"/>
              <a:t>28/08/2019</a:t>
            </a:fld>
            <a:endParaRPr lang="en-AU"/>
          </a:p>
        </p:txBody>
      </p:sp>
      <p:sp>
        <p:nvSpPr>
          <p:cNvPr id="6" name="Footer Placeholder 5"/>
          <p:cNvSpPr>
            <a:spLocks noGrp="1"/>
          </p:cNvSpPr>
          <p:nvPr>
            <p:ph type="ftr" sz="quarter" idx="11"/>
          </p:nvPr>
        </p:nvSpPr>
        <p:spPr/>
        <p:txBody>
          <a:bodyPr/>
          <a:lstStyle/>
          <a:p>
            <a:endParaRPr lang="en-AU"/>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365605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AA04E24-52CB-4089-ACA0-A0F00E8739F3}" type="datetimeFigureOut">
              <a:rPr lang="en-AU" smtClean="0"/>
              <a:t>28/08/2019</a:t>
            </a:fld>
            <a:endParaRPr lang="en-AU"/>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1925156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04E24-52CB-4089-ACA0-A0F00E8739F3}" type="datetimeFigureOut">
              <a:rPr lang="en-AU" smtClean="0"/>
              <a:t>28/08/2019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343439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04E24-52CB-4089-ACA0-A0F00E8739F3}" type="datetimeFigureOut">
              <a:rPr lang="en-AU" smtClean="0"/>
              <a:t>28/08/2019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BBE6C5D-354A-46AF-AA4D-DD1F96D7D8F7}" type="slidenum">
              <a:rPr lang="en-AU" smtClean="0"/>
              <a:t>‹#›</a:t>
            </a:fld>
            <a:endParaRPr lang="en-AU"/>
          </a:p>
        </p:txBody>
      </p:sp>
    </p:spTree>
    <p:extLst>
      <p:ext uri="{BB962C8B-B14F-4D97-AF65-F5344CB8AC3E}">
        <p14:creationId xmlns:p14="http://schemas.microsoft.com/office/powerpoint/2010/main" val="5861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AA04E24-52CB-4089-ACA0-A0F00E8739F3}" type="datetimeFigureOut">
              <a:rPr lang="en-AU" smtClean="0"/>
              <a:t>28/08/2019</a:t>
            </a:fld>
            <a:endParaRPr lang="en-AU"/>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AU"/>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5BBE6C5D-354A-46AF-AA4D-DD1F96D7D8F7}" type="slidenum">
              <a:rPr lang="en-AU" smtClean="0"/>
              <a:t>‹#›</a:t>
            </a:fld>
            <a:endParaRPr lang="en-AU"/>
          </a:p>
        </p:txBody>
      </p:sp>
    </p:spTree>
    <p:extLst>
      <p:ext uri="{BB962C8B-B14F-4D97-AF65-F5344CB8AC3E}">
        <p14:creationId xmlns:p14="http://schemas.microsoft.com/office/powerpoint/2010/main" val="12489794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sz="5000" dirty="0" smtClean="0"/>
              <a:t>Nazi Society:</a:t>
            </a:r>
            <a:br>
              <a:rPr lang="en-AU" sz="5000" dirty="0" smtClean="0"/>
            </a:br>
            <a:r>
              <a:rPr lang="en-AU" sz="5000" dirty="0"/>
              <a:t>Creating the </a:t>
            </a:r>
            <a:r>
              <a:rPr lang="en-AU" sz="5000" dirty="0" err="1"/>
              <a:t>volksgemeinschaft</a:t>
            </a:r>
            <a:endParaRPr lang="en-AU" sz="5000" dirty="0"/>
          </a:p>
        </p:txBody>
      </p:sp>
      <p:sp>
        <p:nvSpPr>
          <p:cNvPr id="3" name="Subtitle 2"/>
          <p:cNvSpPr>
            <a:spLocks noGrp="1"/>
          </p:cNvSpPr>
          <p:nvPr>
            <p:ph type="subTitle" idx="1"/>
          </p:nvPr>
        </p:nvSpPr>
        <p:spPr>
          <a:xfrm>
            <a:off x="1069848" y="4389120"/>
            <a:ext cx="7891272" cy="2219498"/>
          </a:xfrm>
        </p:spPr>
        <p:txBody>
          <a:bodyPr>
            <a:normAutofit fontScale="55000" lnSpcReduction="20000"/>
          </a:bodyPr>
          <a:lstStyle/>
          <a:p>
            <a:r>
              <a:rPr lang="en-AU" dirty="0" smtClean="0"/>
              <a:t>Hitler as a dictator</a:t>
            </a:r>
          </a:p>
          <a:p>
            <a:r>
              <a:rPr lang="en-AU" dirty="0" smtClean="0"/>
              <a:t>Nazi </a:t>
            </a:r>
            <a:r>
              <a:rPr lang="en-AU" dirty="0"/>
              <a:t>Youth</a:t>
            </a:r>
          </a:p>
          <a:p>
            <a:r>
              <a:rPr lang="en-AU" dirty="0" smtClean="0"/>
              <a:t>Dissent </a:t>
            </a:r>
            <a:r>
              <a:rPr lang="en-AU" dirty="0"/>
              <a:t>- Edelweiss Pirates and Swing Youth</a:t>
            </a:r>
          </a:p>
          <a:p>
            <a:r>
              <a:rPr lang="en-AU" dirty="0" smtClean="0"/>
              <a:t>Women </a:t>
            </a:r>
            <a:r>
              <a:rPr lang="en-AU" dirty="0"/>
              <a:t>- the family and Nazi dogma</a:t>
            </a:r>
          </a:p>
          <a:p>
            <a:r>
              <a:rPr lang="en-AU" dirty="0" smtClean="0"/>
              <a:t>Mothers </a:t>
            </a:r>
            <a:r>
              <a:rPr lang="en-AU" dirty="0"/>
              <a:t>of the Reich</a:t>
            </a:r>
          </a:p>
          <a:p>
            <a:r>
              <a:rPr lang="en-AU" dirty="0" smtClean="0"/>
              <a:t>Strength </a:t>
            </a:r>
            <a:r>
              <a:rPr lang="en-AU" dirty="0"/>
              <a:t>Through Joy</a:t>
            </a:r>
          </a:p>
          <a:p>
            <a:r>
              <a:rPr lang="en-AU" dirty="0" smtClean="0"/>
              <a:t>Propaganda </a:t>
            </a:r>
            <a:r>
              <a:rPr lang="en-AU" dirty="0"/>
              <a:t>- Goebbels</a:t>
            </a:r>
          </a:p>
          <a:p>
            <a:r>
              <a:rPr lang="en-AU" dirty="0" smtClean="0"/>
              <a:t>The </a:t>
            </a:r>
            <a:r>
              <a:rPr lang="en-AU" dirty="0"/>
              <a:t>Media and the Arts</a:t>
            </a:r>
          </a:p>
          <a:p>
            <a:endParaRPr lang="en-AU" dirty="0"/>
          </a:p>
        </p:txBody>
      </p:sp>
      <p:pic>
        <p:nvPicPr>
          <p:cNvPr id="1026" name="Picture 2" descr="Image result for hitler dict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9519" y="2061686"/>
            <a:ext cx="3026410" cy="169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129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err="1" smtClean="0"/>
              <a:t>Volksgemeinschaft</a:t>
            </a:r>
            <a:endParaRPr lang="en-AU" dirty="0"/>
          </a:p>
        </p:txBody>
      </p:sp>
      <p:sp>
        <p:nvSpPr>
          <p:cNvPr id="3" name="Content Placeholder 2"/>
          <p:cNvSpPr>
            <a:spLocks noGrp="1"/>
          </p:cNvSpPr>
          <p:nvPr>
            <p:ph idx="1"/>
          </p:nvPr>
        </p:nvSpPr>
        <p:spPr>
          <a:xfrm>
            <a:off x="1069848" y="2121408"/>
            <a:ext cx="3891896" cy="4050792"/>
          </a:xfrm>
        </p:spPr>
        <p:txBody>
          <a:bodyPr/>
          <a:lstStyle/>
          <a:p>
            <a:r>
              <a:rPr lang="en-AU" dirty="0" smtClean="0"/>
              <a:t>Volk = people</a:t>
            </a:r>
          </a:p>
          <a:p>
            <a:r>
              <a:rPr lang="en-AU" dirty="0" err="1" smtClean="0"/>
              <a:t>Volksgemeinschaft</a:t>
            </a:r>
            <a:r>
              <a:rPr lang="en-AU" dirty="0" smtClean="0"/>
              <a:t> = Peoples’ Community</a:t>
            </a:r>
          </a:p>
          <a:p>
            <a:r>
              <a:rPr lang="en-AU" dirty="0" smtClean="0"/>
              <a:t>Nazi ideology</a:t>
            </a:r>
          </a:p>
          <a:p>
            <a:r>
              <a:rPr lang="en-AU" dirty="0" smtClean="0"/>
              <a:t>Rejected </a:t>
            </a:r>
            <a:r>
              <a:rPr lang="en-AU" dirty="0"/>
              <a:t>old religions, ideologies, and class divisions, instead forming a united German identity based around ideas of race, struggle, and state leadership.</a:t>
            </a:r>
          </a:p>
          <a:p>
            <a:pPr marL="0" indent="0">
              <a:buNone/>
            </a:pPr>
            <a:endParaRPr lang="en-AU" dirty="0"/>
          </a:p>
        </p:txBody>
      </p:sp>
      <p:pic>
        <p:nvPicPr>
          <p:cNvPr id="5" name="Picture 4"/>
          <p:cNvPicPr>
            <a:picLocks noChangeAspect="1"/>
          </p:cNvPicPr>
          <p:nvPr/>
        </p:nvPicPr>
        <p:blipFill>
          <a:blip r:embed="rId2"/>
          <a:stretch>
            <a:fillRect/>
          </a:stretch>
        </p:blipFill>
        <p:spPr>
          <a:xfrm>
            <a:off x="5584965" y="2093976"/>
            <a:ext cx="5832543" cy="4078224"/>
          </a:xfrm>
          <a:prstGeom prst="rect">
            <a:avLst/>
          </a:prstGeom>
        </p:spPr>
      </p:pic>
    </p:spTree>
    <p:extLst>
      <p:ext uri="{BB962C8B-B14F-4D97-AF65-F5344CB8AC3E}">
        <p14:creationId xmlns:p14="http://schemas.microsoft.com/office/powerpoint/2010/main" val="33655222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Hitler as a dictator </a:t>
            </a:r>
            <a:endParaRPr lang="en-AU" dirty="0"/>
          </a:p>
        </p:txBody>
      </p:sp>
      <p:sp>
        <p:nvSpPr>
          <p:cNvPr id="3" name="Content Placeholder 2"/>
          <p:cNvSpPr>
            <a:spLocks noGrp="1"/>
          </p:cNvSpPr>
          <p:nvPr>
            <p:ph idx="1"/>
          </p:nvPr>
        </p:nvSpPr>
        <p:spPr/>
        <p:txBody>
          <a:bodyPr/>
          <a:lstStyle/>
          <a:p>
            <a:r>
              <a:rPr lang="en-AU" dirty="0" smtClean="0"/>
              <a:t>2</a:t>
            </a:r>
            <a:r>
              <a:rPr lang="en-AU" baseline="30000" dirty="0" smtClean="0"/>
              <a:t>nd</a:t>
            </a:r>
            <a:r>
              <a:rPr lang="en-AU" dirty="0" smtClean="0"/>
              <a:t> August 1934, two weeks after the Night of the Long Knives, President Hindenburg died.</a:t>
            </a:r>
          </a:p>
          <a:p>
            <a:r>
              <a:rPr lang="en-AU" dirty="0" smtClean="0"/>
              <a:t>Hitler declared himself President.</a:t>
            </a:r>
          </a:p>
          <a:p>
            <a:r>
              <a:rPr lang="en-AU" dirty="0" smtClean="0"/>
              <a:t>Now Chancellor, President, Head of State and Commander of the Army.</a:t>
            </a:r>
          </a:p>
          <a:p>
            <a:r>
              <a:rPr lang="en-AU" dirty="0" smtClean="0"/>
              <a:t>Every </a:t>
            </a:r>
            <a:r>
              <a:rPr lang="en-AU" dirty="0" smtClean="0"/>
              <a:t>soldier </a:t>
            </a:r>
            <a:r>
              <a:rPr lang="en-AU" dirty="0" smtClean="0"/>
              <a:t>swore an oath of loyalty to Hitler himself.</a:t>
            </a:r>
          </a:p>
        </p:txBody>
      </p:sp>
      <p:pic>
        <p:nvPicPr>
          <p:cNvPr id="3074" name="Picture 2" descr="Image result for hitler presid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8464" y="4118006"/>
            <a:ext cx="4873741" cy="2739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6267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Nazi youth</a:t>
            </a:r>
            <a:endParaRPr lang="en-AU" dirty="0"/>
          </a:p>
        </p:txBody>
      </p:sp>
      <p:sp>
        <p:nvSpPr>
          <p:cNvPr id="3" name="Content Placeholder 2"/>
          <p:cNvSpPr>
            <a:spLocks noGrp="1"/>
          </p:cNvSpPr>
          <p:nvPr>
            <p:ph idx="1"/>
          </p:nvPr>
        </p:nvSpPr>
        <p:spPr>
          <a:xfrm>
            <a:off x="1069848" y="2121408"/>
            <a:ext cx="2621003" cy="4050792"/>
          </a:xfrm>
        </p:spPr>
        <p:txBody>
          <a:bodyPr/>
          <a:lstStyle/>
          <a:p>
            <a:r>
              <a:rPr lang="en-AU" dirty="0" smtClean="0"/>
              <a:t>Aimed to indoctrinate.</a:t>
            </a:r>
          </a:p>
          <a:p>
            <a:r>
              <a:rPr lang="en-AU" dirty="0" smtClean="0"/>
              <a:t>Nazi Youth an organisation for children.</a:t>
            </a:r>
          </a:p>
          <a:p>
            <a:r>
              <a:rPr lang="en-AU" dirty="0" smtClean="0"/>
              <a:t>Hitler Youth for boys.</a:t>
            </a:r>
          </a:p>
          <a:p>
            <a:r>
              <a:rPr lang="en-AU" dirty="0" smtClean="0"/>
              <a:t>League of German Maidens for girls.</a:t>
            </a:r>
            <a:endParaRPr lang="en-AU" dirty="0"/>
          </a:p>
        </p:txBody>
      </p:sp>
      <p:pic>
        <p:nvPicPr>
          <p:cNvPr id="2050" name="Picture 2" descr="Image result for nazi you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202" y="1912533"/>
            <a:ext cx="6386197" cy="4259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913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47732" t="8205" r="28241" b="2013"/>
          <a:stretch/>
        </p:blipFill>
        <p:spPr>
          <a:xfrm>
            <a:off x="1388226" y="77648"/>
            <a:ext cx="3350029" cy="6780352"/>
          </a:xfrm>
          <a:prstGeom prst="rect">
            <a:avLst/>
          </a:prstGeom>
        </p:spPr>
      </p:pic>
      <p:pic>
        <p:nvPicPr>
          <p:cNvPr id="5" name="Picture 4"/>
          <p:cNvPicPr>
            <a:picLocks noChangeAspect="1"/>
          </p:cNvPicPr>
          <p:nvPr/>
        </p:nvPicPr>
        <p:blipFill rotWithShape="1">
          <a:blip r:embed="rId3"/>
          <a:srcRect l="30649" t="9658" r="29478" b="3187"/>
          <a:stretch/>
        </p:blipFill>
        <p:spPr>
          <a:xfrm>
            <a:off x="5685905" y="0"/>
            <a:ext cx="5688984" cy="6735508"/>
          </a:xfrm>
          <a:prstGeom prst="rect">
            <a:avLst/>
          </a:prstGeom>
        </p:spPr>
      </p:pic>
    </p:spTree>
    <p:extLst>
      <p:ext uri="{BB962C8B-B14F-4D97-AF65-F5344CB8AC3E}">
        <p14:creationId xmlns:p14="http://schemas.microsoft.com/office/powerpoint/2010/main" val="21521304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Women - the family and Nazi </a:t>
            </a:r>
            <a:r>
              <a:rPr lang="en-AU" dirty="0" smtClean="0"/>
              <a:t>dogma</a:t>
            </a:r>
            <a:endParaRPr lang="en-AU" dirty="0"/>
          </a:p>
        </p:txBody>
      </p:sp>
      <p:sp>
        <p:nvSpPr>
          <p:cNvPr id="3" name="Content Placeholder 2"/>
          <p:cNvSpPr>
            <a:spLocks noGrp="1"/>
          </p:cNvSpPr>
          <p:nvPr>
            <p:ph idx="1"/>
          </p:nvPr>
        </p:nvSpPr>
        <p:spPr>
          <a:xfrm>
            <a:off x="1069848" y="2462230"/>
            <a:ext cx="4632683" cy="4050792"/>
          </a:xfrm>
        </p:spPr>
        <p:txBody>
          <a:bodyPr/>
          <a:lstStyle/>
          <a:p>
            <a:r>
              <a:rPr lang="en-AU" dirty="0" smtClean="0"/>
              <a:t>Nazis believed women had different roles to men.</a:t>
            </a:r>
          </a:p>
          <a:p>
            <a:r>
              <a:rPr lang="en-AU" dirty="0" smtClean="0"/>
              <a:t>Women should be in the home producing children.</a:t>
            </a:r>
          </a:p>
          <a:p>
            <a:r>
              <a:rPr lang="en-AU" dirty="0" smtClean="0"/>
              <a:t>Women should be mothers.</a:t>
            </a:r>
          </a:p>
          <a:p>
            <a:r>
              <a:rPr lang="en-AU" dirty="0" smtClean="0"/>
              <a:t>Encouraged to stop smoking, stop slimming and do sport.</a:t>
            </a:r>
          </a:p>
          <a:p>
            <a:r>
              <a:rPr lang="en-AU" dirty="0" smtClean="0"/>
              <a:t>Women not allowed in the workforce…until 1939…</a:t>
            </a:r>
            <a:endParaRPr lang="en-AU" dirty="0"/>
          </a:p>
        </p:txBody>
      </p:sp>
      <p:pic>
        <p:nvPicPr>
          <p:cNvPr id="5" name="Picture 4"/>
          <p:cNvPicPr>
            <a:picLocks noChangeAspect="1"/>
          </p:cNvPicPr>
          <p:nvPr/>
        </p:nvPicPr>
        <p:blipFill>
          <a:blip r:embed="rId2"/>
          <a:stretch>
            <a:fillRect/>
          </a:stretch>
        </p:blipFill>
        <p:spPr>
          <a:xfrm>
            <a:off x="5904808" y="2294313"/>
            <a:ext cx="5896494" cy="3316778"/>
          </a:xfrm>
          <a:prstGeom prst="rect">
            <a:avLst/>
          </a:prstGeom>
        </p:spPr>
      </p:pic>
    </p:spTree>
    <p:extLst>
      <p:ext uri="{BB962C8B-B14F-4D97-AF65-F5344CB8AC3E}">
        <p14:creationId xmlns:p14="http://schemas.microsoft.com/office/powerpoint/2010/main" val="2827459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1172095"/>
            <a:ext cx="10058400" cy="5000105"/>
          </a:xfrm>
        </p:spPr>
        <p:txBody>
          <a:bodyPr>
            <a:normAutofit/>
          </a:bodyPr>
          <a:lstStyle/>
          <a:p>
            <a:pPr marL="0" indent="0">
              <a:lnSpc>
                <a:spcPct val="150000"/>
              </a:lnSpc>
              <a:buNone/>
            </a:pPr>
            <a:r>
              <a:rPr lang="en-AU" sz="4000" dirty="0" smtClean="0"/>
              <a:t>“Woman has her battlefield too; with each child that she brings into the world for the nation she is fighting her fight on behalf of the nation.”</a:t>
            </a:r>
          </a:p>
          <a:p>
            <a:pPr marL="0" indent="0">
              <a:buNone/>
            </a:pPr>
            <a:endParaRPr lang="en-AU" dirty="0"/>
          </a:p>
          <a:p>
            <a:pPr marL="0" indent="0">
              <a:buNone/>
            </a:pPr>
            <a:r>
              <a:rPr lang="en-AU" dirty="0" smtClean="0"/>
              <a:t>-Hitler, speaking in 1934 at the Reich Party Conference</a:t>
            </a:r>
            <a:endParaRPr lang="en-AU" dirty="0"/>
          </a:p>
        </p:txBody>
      </p:sp>
    </p:spTree>
    <p:extLst>
      <p:ext uri="{BB962C8B-B14F-4D97-AF65-F5344CB8AC3E}">
        <p14:creationId xmlns:p14="http://schemas.microsoft.com/office/powerpoint/2010/main" val="243276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Mothers of the </a:t>
            </a:r>
            <a:r>
              <a:rPr lang="en-AU" dirty="0" smtClean="0"/>
              <a:t>Reich</a:t>
            </a:r>
            <a:endParaRPr lang="en-AU" dirty="0"/>
          </a:p>
        </p:txBody>
      </p:sp>
      <p:sp>
        <p:nvSpPr>
          <p:cNvPr id="3" name="Content Placeholder 2"/>
          <p:cNvSpPr>
            <a:spLocks noGrp="1"/>
          </p:cNvSpPr>
          <p:nvPr>
            <p:ph idx="1"/>
          </p:nvPr>
        </p:nvSpPr>
        <p:spPr/>
        <p:txBody>
          <a:bodyPr/>
          <a:lstStyle/>
          <a:p>
            <a:pPr marL="0" indent="0">
              <a:buNone/>
            </a:pPr>
            <a:r>
              <a:rPr lang="en-AU" dirty="0" smtClean="0"/>
              <a:t>‘The Honour Cross of the German Mother’</a:t>
            </a:r>
          </a:p>
          <a:p>
            <a:pPr marL="0" indent="0">
              <a:buNone/>
            </a:pPr>
            <a:endParaRPr lang="en-AU" dirty="0"/>
          </a:p>
          <a:p>
            <a:r>
              <a:rPr lang="en-AU" dirty="0" smtClean="0"/>
              <a:t>Gold for 8 children</a:t>
            </a:r>
          </a:p>
          <a:p>
            <a:r>
              <a:rPr lang="en-AU" dirty="0" smtClean="0"/>
              <a:t>Silver for 6 children</a:t>
            </a:r>
          </a:p>
          <a:p>
            <a:r>
              <a:rPr lang="en-AU" dirty="0" smtClean="0"/>
              <a:t>Bronze for 4 children</a:t>
            </a:r>
            <a:endParaRPr lang="en-AU" dirty="0"/>
          </a:p>
        </p:txBody>
      </p:sp>
      <p:pic>
        <p:nvPicPr>
          <p:cNvPr id="6146" name="Picture 2" descr="Image result for the honour cross german wom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1287" y="920952"/>
            <a:ext cx="3544223" cy="5144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990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Strength Through </a:t>
            </a:r>
            <a:r>
              <a:rPr lang="en-AU" dirty="0" smtClean="0"/>
              <a:t>Joy</a:t>
            </a:r>
            <a:endParaRPr lang="en-AU" dirty="0"/>
          </a:p>
        </p:txBody>
      </p:sp>
      <p:sp>
        <p:nvSpPr>
          <p:cNvPr id="3" name="Content Placeholder 2"/>
          <p:cNvSpPr>
            <a:spLocks noGrp="1"/>
          </p:cNvSpPr>
          <p:nvPr>
            <p:ph idx="1"/>
          </p:nvPr>
        </p:nvSpPr>
        <p:spPr>
          <a:xfrm>
            <a:off x="587710" y="1963466"/>
            <a:ext cx="5846341" cy="4620214"/>
          </a:xfrm>
        </p:spPr>
        <p:txBody>
          <a:bodyPr>
            <a:normAutofit/>
          </a:bodyPr>
          <a:lstStyle/>
          <a:p>
            <a:r>
              <a:rPr lang="en-AU" dirty="0" smtClean="0"/>
              <a:t>(</a:t>
            </a:r>
            <a:r>
              <a:rPr lang="en-AU" dirty="0"/>
              <a:t>Kraft </a:t>
            </a:r>
            <a:r>
              <a:rPr lang="en-AU" dirty="0" err="1"/>
              <a:t>durch</a:t>
            </a:r>
            <a:r>
              <a:rPr lang="en-AU" dirty="0"/>
              <a:t> </a:t>
            </a:r>
            <a:r>
              <a:rPr lang="en-AU" dirty="0" err="1"/>
              <a:t>Freude</a:t>
            </a:r>
            <a:r>
              <a:rPr lang="en-AU" dirty="0"/>
              <a:t>) </a:t>
            </a:r>
          </a:p>
          <a:p>
            <a:r>
              <a:rPr lang="en-AU" dirty="0" smtClean="0"/>
              <a:t>Set </a:t>
            </a:r>
            <a:r>
              <a:rPr lang="en-AU" dirty="0"/>
              <a:t>up in Nazi Germany so that all aspects of a worker’s non-working time were looked after. </a:t>
            </a:r>
            <a:endParaRPr lang="en-AU" dirty="0" smtClean="0"/>
          </a:p>
          <a:p>
            <a:r>
              <a:rPr lang="en-AU" dirty="0" smtClean="0"/>
              <a:t>Supervised after-work </a:t>
            </a:r>
            <a:r>
              <a:rPr lang="en-AU" dirty="0"/>
              <a:t>activities, holidays and leisure time. </a:t>
            </a:r>
            <a:endParaRPr lang="en-AU" dirty="0" smtClean="0"/>
          </a:p>
          <a:p>
            <a:r>
              <a:rPr lang="en-AU" dirty="0"/>
              <a:t>T</a:t>
            </a:r>
            <a:r>
              <a:rPr lang="en-AU" dirty="0" smtClean="0"/>
              <a:t>wo </a:t>
            </a:r>
            <a:r>
              <a:rPr lang="en-AU" dirty="0"/>
              <a:t>main </a:t>
            </a:r>
            <a:r>
              <a:rPr lang="en-AU" dirty="0" smtClean="0"/>
              <a:t>purposes:</a:t>
            </a:r>
          </a:p>
          <a:p>
            <a:pPr lvl="1"/>
            <a:r>
              <a:rPr lang="en-AU" dirty="0" smtClean="0"/>
              <a:t>to </a:t>
            </a:r>
            <a:r>
              <a:rPr lang="en-AU" dirty="0"/>
              <a:t>ensure that no one had too much time on their hands to get involved in untoward activities against the state. </a:t>
            </a:r>
            <a:endParaRPr lang="en-AU" dirty="0" smtClean="0"/>
          </a:p>
          <a:p>
            <a:pPr lvl="1"/>
            <a:r>
              <a:rPr lang="en-AU" dirty="0" smtClean="0"/>
              <a:t>to </a:t>
            </a:r>
            <a:r>
              <a:rPr lang="en-AU" dirty="0"/>
              <a:t>produce an environment within Nazi Germany whereby the average worker would be grateful to the state for providing activities and holidays that in ‘normal’ circumstances they could not afford as individuals.</a:t>
            </a:r>
          </a:p>
        </p:txBody>
      </p:sp>
      <p:pic>
        <p:nvPicPr>
          <p:cNvPr id="7170" name="Picture 2" descr="Image result for strength through jo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4869" y="1916429"/>
            <a:ext cx="3333750" cy="466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920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Propaganda and censorship </a:t>
            </a:r>
            <a:r>
              <a:rPr lang="en-AU" dirty="0"/>
              <a:t>- </a:t>
            </a:r>
            <a:r>
              <a:rPr lang="en-AU" dirty="0" smtClean="0"/>
              <a:t>Goebbels</a:t>
            </a:r>
            <a:endParaRPr lang="en-AU" dirty="0"/>
          </a:p>
        </p:txBody>
      </p:sp>
      <p:sp>
        <p:nvSpPr>
          <p:cNvPr id="3" name="Content Placeholder 2"/>
          <p:cNvSpPr>
            <a:spLocks noGrp="1"/>
          </p:cNvSpPr>
          <p:nvPr>
            <p:ph idx="1"/>
          </p:nvPr>
        </p:nvSpPr>
        <p:spPr/>
        <p:txBody>
          <a:bodyPr/>
          <a:lstStyle/>
          <a:p>
            <a:r>
              <a:rPr lang="en-AU" dirty="0" smtClean="0"/>
              <a:t>Josef Goebbels – Nazi Minister for Propaganda and National Enlightenment</a:t>
            </a:r>
          </a:p>
          <a:p>
            <a:r>
              <a:rPr lang="en-AU" dirty="0" smtClean="0"/>
              <a:t>Controlled newspapers</a:t>
            </a:r>
          </a:p>
          <a:p>
            <a:r>
              <a:rPr lang="en-AU" dirty="0" smtClean="0"/>
              <a:t>Films</a:t>
            </a:r>
          </a:p>
          <a:p>
            <a:r>
              <a:rPr lang="en-AU" dirty="0" smtClean="0"/>
              <a:t>Radio</a:t>
            </a:r>
          </a:p>
          <a:p>
            <a:r>
              <a:rPr lang="en-AU" dirty="0" smtClean="0"/>
              <a:t>Festivals and celebrations</a:t>
            </a:r>
            <a:endParaRPr lang="en-AU" dirty="0"/>
          </a:p>
        </p:txBody>
      </p:sp>
      <p:pic>
        <p:nvPicPr>
          <p:cNvPr id="9218" name="Picture 2" descr="Image result for goebbels finds out photographer j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2683" y="2701636"/>
            <a:ext cx="2619502" cy="401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421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763" y="3906417"/>
            <a:ext cx="10798233" cy="2862322"/>
          </a:xfrm>
          <a:prstGeom prst="rect">
            <a:avLst/>
          </a:prstGeom>
          <a:noFill/>
          <a:ln>
            <a:solidFill>
              <a:schemeClr val="tx1"/>
            </a:solidFill>
          </a:ln>
        </p:spPr>
        <p:txBody>
          <a:bodyPr wrap="square" rtlCol="0">
            <a:spAutoFit/>
          </a:bodyPr>
          <a:lstStyle/>
          <a:p>
            <a:r>
              <a:rPr lang="en-AU" sz="2000" b="1" dirty="0"/>
              <a:t>May 10, 1933 </a:t>
            </a:r>
          </a:p>
          <a:p>
            <a:endParaRPr lang="en-AU" sz="2000" dirty="0" smtClean="0"/>
          </a:p>
          <a:p>
            <a:r>
              <a:rPr lang="en-AU" sz="2000" dirty="0" smtClean="0"/>
              <a:t>Joseph </a:t>
            </a:r>
            <a:r>
              <a:rPr lang="en-AU" sz="2000" dirty="0"/>
              <a:t>Goebbels speaks at book burning in Berlin </a:t>
            </a:r>
          </a:p>
          <a:p>
            <a:endParaRPr lang="en-AU" sz="2000" dirty="0" smtClean="0"/>
          </a:p>
          <a:p>
            <a:r>
              <a:rPr lang="en-AU" sz="2000" dirty="0" smtClean="0"/>
              <a:t>Forty </a:t>
            </a:r>
            <a:r>
              <a:rPr lang="en-AU" sz="2000" dirty="0"/>
              <a:t>thousand people gather to hear German propaganda minister Joseph Goebbels speak in Berlin's Opera Square. Goebbels condemns works written by Jews, liberals, leftists, pacifists, foreigners, and others as "un-German." Nazi students begin burning books. Libraries across Germany are purged of "censored" books. Goebbels proclaims the "cleansing of the German spirit."</a:t>
            </a:r>
          </a:p>
        </p:txBody>
      </p:sp>
      <p:pic>
        <p:nvPicPr>
          <p:cNvPr id="10242" name="Picture 2" descr="Image result for 1933 book burning nazi germa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8906" y="182880"/>
            <a:ext cx="6277206" cy="3532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86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This Nazi propaganda poster comes from Adolf Hitler's campaign to become Germany's supreme leader. The text reads, "We will take the fate of the nation into our hands! Hitler will be Reich President!"</a:t>
            </a:r>
          </a:p>
        </p:txBody>
      </p:sp>
      <p:pic>
        <p:nvPicPr>
          <p:cNvPr id="1026" name="Picture 2" descr="Nazi Propaganda Pos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4705004" cy="6868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62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In this Nazi fundraising poster, a member of the Hitler youth asks for money to build youth hostels and homes.</a:t>
            </a:r>
          </a:p>
          <a:p>
            <a:pPr marL="0" indent="0">
              <a:lnSpc>
                <a:spcPct val="150000"/>
              </a:lnSpc>
              <a:buNone/>
            </a:pPr>
            <a:endParaRPr lang="en-AU" dirty="0"/>
          </a:p>
        </p:txBody>
      </p:sp>
      <p:pic>
        <p:nvPicPr>
          <p:cNvPr id="2050" name="Picture 2" descr="Build Hostels Hom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613564" cy="6851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855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A German family salutes the German Imperial Railroad.</a:t>
            </a:r>
          </a:p>
        </p:txBody>
      </p:sp>
      <p:pic>
        <p:nvPicPr>
          <p:cNvPr id="3074" name="Picture 2" descr="German Imperial Railr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7492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857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Here, a patriotic member of the Hitler Youth poses with the flag of the Nazi party. The text reads, "German students fight for the Fuhrer and the people."</a:t>
            </a:r>
          </a:p>
        </p:txBody>
      </p:sp>
      <p:pic>
        <p:nvPicPr>
          <p:cNvPr id="4098" name="Picture 2" descr="German Students Figh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8577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440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This poster, which reads "Jews are lice," was plastered across Poland, spreading fear that Jewish people carried typhus.</a:t>
            </a:r>
          </a:p>
          <a:p>
            <a:pPr marL="0" indent="0">
              <a:lnSpc>
                <a:spcPct val="150000"/>
              </a:lnSpc>
              <a:buNone/>
            </a:pPr>
            <a:endParaRPr lang="en-AU" dirty="0"/>
          </a:p>
        </p:txBody>
      </p:sp>
      <p:pic>
        <p:nvPicPr>
          <p:cNvPr id="5122" name="Picture 2" descr="Nazi Propaganda Posters From World War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4971011" cy="6856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621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This poster tells German women to protect their families by voting for Hitler.</a:t>
            </a:r>
          </a:p>
        </p:txBody>
      </p:sp>
      <p:pic>
        <p:nvPicPr>
          <p:cNvPr id="7170" name="Picture 2" descr="Women Rescue German Famil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57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322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311" y="1639269"/>
            <a:ext cx="4499679" cy="4050792"/>
          </a:xfrm>
        </p:spPr>
        <p:txBody>
          <a:bodyPr/>
          <a:lstStyle/>
          <a:p>
            <a:pPr marL="0" indent="0">
              <a:lnSpc>
                <a:spcPct val="150000"/>
              </a:lnSpc>
              <a:buNone/>
            </a:pPr>
            <a:r>
              <a:rPr lang="en-AU" dirty="0"/>
              <a:t>This is a poster for a film called the </a:t>
            </a:r>
            <a:r>
              <a:rPr lang="en-AU" dirty="0" err="1"/>
              <a:t>The</a:t>
            </a:r>
            <a:r>
              <a:rPr lang="en-AU" dirty="0"/>
              <a:t> Eternal Jew. The film was marketed as a documentary and depicted the Jewish people as manipulative and uncivilized.</a:t>
            </a:r>
          </a:p>
        </p:txBody>
      </p:sp>
      <p:pic>
        <p:nvPicPr>
          <p:cNvPr id="8194" name="Picture 2" descr="The Eternal J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4530436" cy="6847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339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866" y="135497"/>
            <a:ext cx="10058400" cy="1609344"/>
          </a:xfrm>
        </p:spPr>
        <p:txBody>
          <a:bodyPr/>
          <a:lstStyle/>
          <a:p>
            <a:r>
              <a:rPr lang="en-AU" dirty="0" smtClean="0"/>
              <a:t>The Media and the Arts</a:t>
            </a:r>
            <a:endParaRPr lang="en-AU" dirty="0"/>
          </a:p>
        </p:txBody>
      </p:sp>
      <p:sp>
        <p:nvSpPr>
          <p:cNvPr id="3" name="Content Placeholder 2"/>
          <p:cNvSpPr>
            <a:spLocks noGrp="1"/>
          </p:cNvSpPr>
          <p:nvPr>
            <p:ph idx="1"/>
          </p:nvPr>
        </p:nvSpPr>
        <p:spPr>
          <a:xfrm>
            <a:off x="315883" y="1496291"/>
            <a:ext cx="11405061" cy="5153891"/>
          </a:xfrm>
        </p:spPr>
        <p:txBody>
          <a:bodyPr>
            <a:normAutofit fontScale="85000" lnSpcReduction="20000"/>
          </a:bodyPr>
          <a:lstStyle/>
          <a:p>
            <a:pPr marL="0" indent="0">
              <a:buNone/>
            </a:pPr>
            <a:r>
              <a:rPr lang="en-AU" b="1" dirty="0" smtClean="0"/>
              <a:t>Art</a:t>
            </a:r>
          </a:p>
          <a:p>
            <a:r>
              <a:rPr lang="en-AU" dirty="0"/>
              <a:t>Great Exhibition of German Art, showcasing recent leading examples of "Aryan" art. </a:t>
            </a:r>
            <a:endParaRPr lang="en-AU" dirty="0" smtClean="0"/>
          </a:p>
          <a:p>
            <a:r>
              <a:rPr lang="en-AU" dirty="0" err="1" smtClean="0"/>
              <a:t>Entartete</a:t>
            </a:r>
            <a:r>
              <a:rPr lang="en-AU" dirty="0" smtClean="0"/>
              <a:t> </a:t>
            </a:r>
            <a:r>
              <a:rPr lang="en-AU" dirty="0" err="1"/>
              <a:t>Kunst</a:t>
            </a:r>
            <a:r>
              <a:rPr lang="en-AU" dirty="0"/>
              <a:t> (Degenerate Art) Exhibition, which offered a tour through the art that the National Socialist Party had rejected on ideological grounds. It was made up of art that was not considered "Aryan" and offered a last glimpse before these works of art disappeared.</a:t>
            </a:r>
          </a:p>
          <a:p>
            <a:pPr marL="0" indent="0">
              <a:buNone/>
            </a:pPr>
            <a:r>
              <a:rPr lang="en-AU" b="1" dirty="0" smtClean="0"/>
              <a:t>Literature</a:t>
            </a:r>
          </a:p>
          <a:p>
            <a:r>
              <a:rPr lang="en-AU" dirty="0" smtClean="0"/>
              <a:t>Listed banned books</a:t>
            </a:r>
          </a:p>
          <a:p>
            <a:r>
              <a:rPr lang="en-AU" dirty="0" smtClean="0"/>
              <a:t>Goebbels wanted books about race, war and the Nazi movement</a:t>
            </a:r>
          </a:p>
          <a:p>
            <a:pPr marL="0" indent="0">
              <a:buNone/>
            </a:pPr>
            <a:r>
              <a:rPr lang="en-AU" b="1" dirty="0" smtClean="0"/>
              <a:t>Music</a:t>
            </a:r>
          </a:p>
          <a:p>
            <a:r>
              <a:rPr lang="en-AU" dirty="0" smtClean="0"/>
              <a:t>Goebbels drew up guidelines for what music was acceptable</a:t>
            </a:r>
          </a:p>
          <a:p>
            <a:pPr marL="0" indent="0">
              <a:buNone/>
            </a:pPr>
            <a:r>
              <a:rPr lang="en-AU" b="1" dirty="0" smtClean="0"/>
              <a:t>Films</a:t>
            </a:r>
          </a:p>
          <a:p>
            <a:r>
              <a:rPr lang="en-AU" dirty="0" smtClean="0"/>
              <a:t>Goebbels encouraged new films</a:t>
            </a:r>
          </a:p>
          <a:p>
            <a:r>
              <a:rPr lang="en-AU" dirty="0" smtClean="0"/>
              <a:t>Cinema popular</a:t>
            </a:r>
          </a:p>
          <a:p>
            <a:r>
              <a:rPr lang="en-AU" dirty="0" smtClean="0"/>
              <a:t>Propaganda films</a:t>
            </a:r>
          </a:p>
          <a:p>
            <a:pPr lvl="1"/>
            <a:r>
              <a:rPr lang="en-AU" dirty="0" smtClean="0"/>
              <a:t>Jud Suss (evil Jew)</a:t>
            </a:r>
          </a:p>
          <a:p>
            <a:pPr lvl="1"/>
            <a:r>
              <a:rPr lang="en-AU" dirty="0" smtClean="0"/>
              <a:t>Triumph of the Will (</a:t>
            </a:r>
            <a:r>
              <a:rPr lang="en-AU" dirty="0" err="1" smtClean="0"/>
              <a:t>Leni</a:t>
            </a:r>
            <a:r>
              <a:rPr lang="en-AU" dirty="0" smtClean="0"/>
              <a:t> Riefenstahl)</a:t>
            </a:r>
          </a:p>
          <a:p>
            <a:endParaRPr lang="en-AU" dirty="0"/>
          </a:p>
        </p:txBody>
      </p:sp>
    </p:spTree>
    <p:extLst>
      <p:ext uri="{BB962C8B-B14F-4D97-AF65-F5344CB8AC3E}">
        <p14:creationId xmlns:p14="http://schemas.microsoft.com/office/powerpoint/2010/main" val="3119428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Dissent - Edelweiss Pirates and Swing </a:t>
            </a:r>
            <a:r>
              <a:rPr lang="en-AU" dirty="0" smtClean="0"/>
              <a:t>Youth</a:t>
            </a:r>
            <a:endParaRPr lang="en-AU" dirty="0"/>
          </a:p>
        </p:txBody>
      </p:sp>
      <p:sp>
        <p:nvSpPr>
          <p:cNvPr id="3" name="Content Placeholder 2"/>
          <p:cNvSpPr>
            <a:spLocks noGrp="1"/>
          </p:cNvSpPr>
          <p:nvPr>
            <p:ph idx="1"/>
          </p:nvPr>
        </p:nvSpPr>
        <p:spPr>
          <a:xfrm>
            <a:off x="1069848" y="2453917"/>
            <a:ext cx="10058400" cy="4050792"/>
          </a:xfrm>
        </p:spPr>
        <p:txBody>
          <a:bodyPr>
            <a:normAutofit fontScale="85000" lnSpcReduction="10000"/>
          </a:bodyPr>
          <a:lstStyle/>
          <a:p>
            <a:r>
              <a:rPr lang="en-AU" dirty="0"/>
              <a:t>Youth protest movements did exist in Nazi Germany. </a:t>
            </a:r>
            <a:endParaRPr lang="en-AU" dirty="0" smtClean="0"/>
          </a:p>
          <a:p>
            <a:endParaRPr lang="en-AU" dirty="0" smtClean="0"/>
          </a:p>
          <a:p>
            <a:r>
              <a:rPr lang="en-AU" dirty="0" smtClean="0"/>
              <a:t>In </a:t>
            </a:r>
            <a:r>
              <a:rPr lang="en-AU" dirty="0"/>
              <a:t>1937 the Edelweiss Pirates (</a:t>
            </a:r>
            <a:r>
              <a:rPr lang="en-AU" dirty="0" err="1"/>
              <a:t>Eidelweisspiraten</a:t>
            </a:r>
            <a:r>
              <a:rPr lang="en-AU" dirty="0"/>
              <a:t>) movement started. </a:t>
            </a:r>
          </a:p>
          <a:p>
            <a:pPr lvl="1"/>
            <a:r>
              <a:rPr lang="en-AU" dirty="0"/>
              <a:t>Mainly working class male youths. </a:t>
            </a:r>
          </a:p>
          <a:p>
            <a:pPr lvl="1"/>
            <a:r>
              <a:rPr lang="en-AU" dirty="0"/>
              <a:t>They would gather together and act in a manner that they would know would anger the local Nazi leaders. </a:t>
            </a:r>
          </a:p>
          <a:p>
            <a:pPr lvl="1"/>
            <a:r>
              <a:rPr lang="en-AU" dirty="0"/>
              <a:t>Edelweiss members wore more bohemian clothing</a:t>
            </a:r>
            <a:r>
              <a:rPr lang="en-AU" dirty="0" smtClean="0"/>
              <a:t>.</a:t>
            </a:r>
          </a:p>
          <a:p>
            <a:endParaRPr lang="en-AU" dirty="0" smtClean="0"/>
          </a:p>
          <a:p>
            <a:r>
              <a:rPr lang="en-AU" dirty="0" smtClean="0"/>
              <a:t>Youths </a:t>
            </a:r>
            <a:r>
              <a:rPr lang="en-AU" dirty="0"/>
              <a:t>from more upper class backgrounds formed ‘swing groups’. </a:t>
            </a:r>
            <a:endParaRPr lang="en-AU" dirty="0" smtClean="0"/>
          </a:p>
          <a:p>
            <a:pPr lvl="1"/>
            <a:r>
              <a:rPr lang="en-AU" dirty="0"/>
              <a:t>E</a:t>
            </a:r>
            <a:r>
              <a:rPr lang="en-AU" dirty="0" smtClean="0"/>
              <a:t>ngaged </a:t>
            </a:r>
            <a:r>
              <a:rPr lang="en-AU" dirty="0"/>
              <a:t>in what would have been perceived as non-Germanic </a:t>
            </a:r>
            <a:r>
              <a:rPr lang="en-AU" dirty="0" smtClean="0"/>
              <a:t>activities.</a:t>
            </a:r>
          </a:p>
          <a:p>
            <a:endParaRPr lang="en-AU" dirty="0" smtClean="0"/>
          </a:p>
          <a:p>
            <a:r>
              <a:rPr lang="en-AU" dirty="0" smtClean="0"/>
              <a:t>White </a:t>
            </a:r>
            <a:r>
              <a:rPr lang="en-AU" dirty="0"/>
              <a:t>Rose movement founded by Hans and Sophie Scholl. </a:t>
            </a:r>
            <a:endParaRPr lang="en-AU" dirty="0" smtClean="0"/>
          </a:p>
          <a:p>
            <a:pPr lvl="1"/>
            <a:r>
              <a:rPr lang="en-AU" dirty="0" smtClean="0"/>
              <a:t>Members </a:t>
            </a:r>
            <a:r>
              <a:rPr lang="en-AU" dirty="0"/>
              <a:t>of this movement openly campaigned against Hitler and the continuation of World War </a:t>
            </a:r>
            <a:r>
              <a:rPr lang="en-AU" dirty="0" smtClean="0"/>
              <a:t>Two.</a:t>
            </a:r>
          </a:p>
          <a:p>
            <a:pPr marL="274320" lvl="1" indent="0">
              <a:buNone/>
            </a:pPr>
            <a:endParaRPr lang="en-AU" dirty="0" smtClean="0"/>
          </a:p>
        </p:txBody>
      </p:sp>
    </p:spTree>
    <p:extLst>
      <p:ext uri="{BB962C8B-B14F-4D97-AF65-F5344CB8AC3E}">
        <p14:creationId xmlns:p14="http://schemas.microsoft.com/office/powerpoint/2010/main" val="27838778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578" y="6076603"/>
            <a:ext cx="10058400" cy="586047"/>
          </a:xfrm>
        </p:spPr>
        <p:txBody>
          <a:bodyPr/>
          <a:lstStyle/>
          <a:p>
            <a:pPr marL="0" indent="0">
              <a:buNone/>
            </a:pPr>
            <a:r>
              <a:rPr lang="en-AU" dirty="0" smtClean="0"/>
              <a:t>Sophie and Han Scholl</a:t>
            </a:r>
            <a:endParaRPr lang="en-AU" dirty="0"/>
          </a:p>
        </p:txBody>
      </p:sp>
      <p:pic>
        <p:nvPicPr>
          <p:cNvPr id="4098" name="Picture 2" descr="Image result for sophie scho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578" y="316715"/>
            <a:ext cx="9672088" cy="5444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71024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Wood Type</Template>
  <TotalTime>83</TotalTime>
  <Words>866</Words>
  <Application>Microsoft Office PowerPoint</Application>
  <PresentationFormat>Widescreen</PresentationFormat>
  <Paragraphs>93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Georgia</vt:lpstr>
      <vt:lpstr>Trebuchet MS</vt:lpstr>
      <vt:lpstr>Wingdings</vt:lpstr>
      <vt:lpstr>Wood Type</vt:lpstr>
      <vt:lpstr>Nazi Society: Creating the volksgemeinschaft</vt:lpstr>
      <vt:lpstr>Volksgemeinschaft</vt:lpstr>
      <vt:lpstr>Hitler as a dictator </vt:lpstr>
      <vt:lpstr>Nazi youth</vt:lpstr>
      <vt:lpstr>PowerPoint Presentation</vt:lpstr>
      <vt:lpstr>Women - the family and Nazi dogma</vt:lpstr>
      <vt:lpstr>PowerPoint Presentation</vt:lpstr>
      <vt:lpstr>Mothers of the Reich</vt:lpstr>
      <vt:lpstr>Strength Through Joy</vt:lpstr>
      <vt:lpstr>Propaganda and censorship - Goebbels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Media and the Arts</vt:lpstr>
      <vt:lpstr>Dissent - Edelweiss Pirates and Swing Youth</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Nazi Society</dc:title>
  <dc:creator>HAWKES Natasha [Narrogin Senior High School]</dc:creator>
  <cp:lastModifiedBy>HAWKES Natasha [Narrogin Senior High School]</cp:lastModifiedBy>
  <cp:revision>13</cp:revision>
  <dcterms:created xsi:type="dcterms:W3CDTF">2019-08-23T07:20:47Z</dcterms:created>
  <dcterms:modified xsi:type="dcterms:W3CDTF">2019-08-28T03:57:35Z</dcterms:modified>
</cp:coreProperties>
</file>
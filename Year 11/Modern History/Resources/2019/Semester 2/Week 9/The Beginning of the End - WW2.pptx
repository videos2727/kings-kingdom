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sp>
        <p:nvSpPr>
          <p:cNvPr id="2" name="Title 1"/>
          <p:cNvSpPr>
            <a:spLocks noGrp="1"/>
          </p:cNvSpPr>
          <p:nvPr>
            <p:ph type="ctrTitle"/>
          </p:nvPr>
        </p:nvSpPr>
        <p:spPr>
          <a:xfrm>
            <a:off x="1088913" y="1143293"/>
            <a:ext cx="7034362" cy="4268965"/>
          </a:xfrm>
        </p:spPr>
        <p:txBody>
          <a:bodyPr anchor="t">
            <a:normAutofit/>
          </a:bodyPr>
          <a:lstStyle>
            <a:lvl1pPr algn="l">
              <a:lnSpc>
                <a:spcPct val="85000"/>
              </a:lnSpc>
              <a:defRPr sz="77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088914" y="5537925"/>
            <a:ext cx="7034362" cy="706355"/>
          </a:xfrm>
        </p:spPr>
        <p:txBody>
          <a:bodyPr>
            <a:normAutofit/>
          </a:bodyPr>
          <a:lstStyle>
            <a:lvl1pPr marL="0" indent="0" algn="l">
              <a:lnSpc>
                <a:spcPct val="114000"/>
              </a:lnSpc>
              <a:spcBef>
                <a:spcPts val="0"/>
              </a:spcBef>
              <a:buNone/>
              <a:defRPr sz="20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1088913" y="6314440"/>
            <a:ext cx="1596622" cy="365125"/>
          </a:xfrm>
        </p:spPr>
        <p:txBody>
          <a:bodyPr/>
          <a:lstStyle>
            <a:lvl1pPr algn="l">
              <a:defRPr sz="1200">
                <a:solidFill>
                  <a:schemeClr val="tx2"/>
                </a:solidFill>
              </a:defRPr>
            </a:lvl1pPr>
          </a:lstStyle>
          <a:p>
            <a:fld id="{EA7D622B-9DB0-411A-871D-9B9B1C522586}" type="datetimeFigureOut">
              <a:rPr lang="en-AU" smtClean="0"/>
              <a:t>18/09/2019</a:t>
            </a:fld>
            <a:endParaRPr lang="en-AU"/>
          </a:p>
        </p:txBody>
      </p:sp>
      <p:sp>
        <p:nvSpPr>
          <p:cNvPr id="5" name="Footer Placeholder 4"/>
          <p:cNvSpPr>
            <a:spLocks noGrp="1"/>
          </p:cNvSpPr>
          <p:nvPr>
            <p:ph type="ftr" sz="quarter" idx="11"/>
          </p:nvPr>
        </p:nvSpPr>
        <p:spPr>
          <a:xfrm>
            <a:off x="3000591" y="6314440"/>
            <a:ext cx="5122683" cy="365125"/>
          </a:xfrm>
        </p:spPr>
        <p:txBody>
          <a:bodyPr/>
          <a:lstStyle>
            <a:lvl1pPr algn="l">
              <a:defRPr b="0">
                <a:solidFill>
                  <a:schemeClr val="tx2"/>
                </a:solidFill>
              </a:defRPr>
            </a:lvl1pPr>
          </a:lstStyle>
          <a:p>
            <a:endParaRPr lang="en-AU"/>
          </a:p>
        </p:txBody>
      </p:sp>
      <p:sp>
        <p:nvSpPr>
          <p:cNvPr id="6" name="Slide Number Placeholder 5"/>
          <p:cNvSpPr>
            <a:spLocks noGrp="1"/>
          </p:cNvSpPr>
          <p:nvPr>
            <p:ph type="sldNum" sz="quarter" idx="12"/>
          </p:nvPr>
        </p:nvSpPr>
        <p:spPr>
          <a:xfrm>
            <a:off x="11784011" y="1416216"/>
            <a:ext cx="407988" cy="365125"/>
          </a:xfrm>
        </p:spPr>
        <p:txBody>
          <a:bodyPr/>
          <a:lstStyle>
            <a:lvl1pPr algn="r">
              <a:defRPr>
                <a:solidFill>
                  <a:schemeClr val="bg2"/>
                </a:solidFill>
              </a:defRPr>
            </a:lvl1pPr>
          </a:lstStyle>
          <a:p>
            <a:fld id="{5448896F-BBB1-4232-A3B8-696CC92DB8A3}" type="slidenum">
              <a:rPr lang="en-AU" smtClean="0"/>
              <a:t>‹#›</a:t>
            </a:fld>
            <a:endParaRPr lang="en-AU"/>
          </a:p>
        </p:txBody>
      </p:sp>
      <p:cxnSp>
        <p:nvCxnSpPr>
          <p:cNvPr id="9" name="Straight Connector 8" title="Verticle Rule Line"/>
          <p:cNvCxnSpPr/>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4040215"/>
      </p:ext>
    </p:extLst>
  </p:cSld>
  <p:clrMapOvr>
    <a:overrideClrMapping bg1="dk1" tx1="lt1" bg2="dk2" tx2="lt2" accent1="accent1" accent2="accent2" accent3="accent3" accent4="accent4" accent5="accent5" accent6="accent6" hlink="hlink" folHlink="folHlink"/>
  </p:clrMapOvr>
  <p:extLst mod="1">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A7D622B-9DB0-411A-871D-9B9B1C522586}" type="datetimeFigureOut">
              <a:rPr lang="en-AU" smtClean="0"/>
              <a:t>18/09/2019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448896F-BBB1-4232-A3B8-696CC92DB8A3}" type="slidenum">
              <a:rPr lang="en-AU" smtClean="0"/>
              <a:t>‹#›</a:t>
            </a:fld>
            <a:endParaRPr lang="en-AU"/>
          </a:p>
        </p:txBody>
      </p:sp>
    </p:spTree>
    <p:extLst>
      <p:ext uri="{BB962C8B-B14F-4D97-AF65-F5344CB8AC3E}">
        <p14:creationId xmlns:p14="http://schemas.microsoft.com/office/powerpoint/2010/main" val="911254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1947673" y="2571722"/>
            <a:ext cx="8296654" cy="3286153"/>
          </a:xfrm>
        </p:spPr>
        <p:txBody>
          <a:bodyPr anchor="t">
            <a:normAutofit/>
          </a:bodyPr>
          <a:lstStyle>
            <a:lvl1pPr>
              <a:lnSpc>
                <a:spcPct val="85000"/>
              </a:lnSpc>
              <a:defRPr sz="7700" cap="all" baseline="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742955" y="6314439"/>
            <a:ext cx="1596622" cy="365125"/>
          </a:xfrm>
        </p:spPr>
        <p:txBody>
          <a:bodyPr/>
          <a:lstStyle>
            <a:lvl1pPr>
              <a:defRPr sz="1200">
                <a:solidFill>
                  <a:schemeClr val="tx1">
                    <a:lumMod val="85000"/>
                    <a:lumOff val="15000"/>
                  </a:schemeClr>
                </a:solidFill>
              </a:defRPr>
            </a:lvl1pPr>
          </a:lstStyle>
          <a:p>
            <a:fld id="{EA7D622B-9DB0-411A-871D-9B9B1C522586}" type="datetimeFigureOut">
              <a:rPr lang="en-AU" smtClean="0"/>
              <a:t>18/09/2019</a:t>
            </a:fld>
            <a:endParaRPr lang="en-AU"/>
          </a:p>
        </p:txBody>
      </p:sp>
      <p:sp>
        <p:nvSpPr>
          <p:cNvPr id="5" name="Footer Placeholder 4"/>
          <p:cNvSpPr>
            <a:spLocks noGrp="1"/>
          </p:cNvSpPr>
          <p:nvPr>
            <p:ph type="ftr" sz="quarter" idx="11"/>
          </p:nvPr>
        </p:nvSpPr>
        <p:spPr>
          <a:xfrm>
            <a:off x="1947673" y="6314440"/>
            <a:ext cx="6480226" cy="365125"/>
          </a:xfrm>
        </p:spPr>
        <p:txBody>
          <a:bodyPr/>
          <a:lstStyle>
            <a:lvl1pPr>
              <a:defRPr b="0">
                <a:solidFill>
                  <a:schemeClr val="tx1">
                    <a:lumMod val="85000"/>
                    <a:lumOff val="15000"/>
                  </a:schemeClr>
                </a:solidFill>
              </a:defRPr>
            </a:lvl1pPr>
          </a:lstStyle>
          <a:p>
            <a:endParaRPr lang="en-AU"/>
          </a:p>
        </p:txBody>
      </p:sp>
      <p:sp>
        <p:nvSpPr>
          <p:cNvPr id="6" name="Slide Number Placeholder 5"/>
          <p:cNvSpPr>
            <a:spLocks noGrp="1"/>
          </p:cNvSpPr>
          <p:nvPr>
            <p:ph type="sldNum" sz="quarter" idx="12"/>
          </p:nvPr>
        </p:nvSpPr>
        <p:spPr>
          <a:xfrm>
            <a:off x="11784011" y="1620760"/>
            <a:ext cx="407988" cy="365125"/>
          </a:xfrm>
        </p:spPr>
        <p:txBody>
          <a:bodyPr/>
          <a:lstStyle>
            <a:lvl1pPr>
              <a:defRPr>
                <a:solidFill>
                  <a:schemeClr val="bg2"/>
                </a:solidFill>
              </a:defRPr>
            </a:lvl1pPr>
          </a:lstStyle>
          <a:p>
            <a:fld id="{5448896F-BBB1-4232-A3B8-696CC92DB8A3}" type="slidenum">
              <a:rPr lang="en-AU" smtClean="0"/>
              <a:t>‹#›</a:t>
            </a:fld>
            <a:endParaRPr lang="en-AU"/>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554343"/>
      </p:ext>
    </p:extLst>
  </p:cSld>
  <p:clrMapOvr>
    <a:masterClrMapping/>
  </p:clrMapOvr>
  <p:extLst mod="1">
    <p:ext uri="{DCECCB84-F9BA-43D5-87BE-67443E8EF086}">
      <p15:sldGuideLst xmlns:p15="http://schemas.microsoft.com/office/powerpoint/2012/main">
        <p15:guide id="1" pos="64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81600" y="540628"/>
            <a:ext cx="6248400" cy="248894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181600" y="3712467"/>
            <a:ext cx="6248400" cy="248222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A7D622B-9DB0-411A-871D-9B9B1C522586}" type="datetimeFigureOut">
              <a:rPr lang="en-AU" smtClean="0"/>
              <a:t>18/09/2019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448896F-BBB1-4232-A3B8-696CC92DB8A3}" type="slidenum">
              <a:rPr lang="en-AU" smtClean="0"/>
              <a:t>‹#›</a:t>
            </a:fld>
            <a:endParaRPr lang="en-AU"/>
          </a:p>
        </p:txBody>
      </p:sp>
    </p:spTree>
    <p:extLst>
      <p:ext uri="{BB962C8B-B14F-4D97-AF65-F5344CB8AC3E}">
        <p14:creationId xmlns:p14="http://schemas.microsoft.com/office/powerpoint/2010/main" val="29826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A7D622B-9DB0-411A-871D-9B9B1C522586}" type="datetimeFigureOut">
              <a:rPr lang="en-AU" smtClean="0"/>
              <a:t>18/09/2019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448896F-BBB1-4232-A3B8-696CC92DB8A3}" type="slidenum">
              <a:rPr lang="en-AU" smtClean="0"/>
              <a:t>‹#›</a:t>
            </a:fld>
            <a:endParaRPr lang="en-AU"/>
          </a:p>
        </p:txBody>
      </p:sp>
    </p:spTree>
    <p:extLst>
      <p:ext uri="{BB962C8B-B14F-4D97-AF65-F5344CB8AC3E}">
        <p14:creationId xmlns:p14="http://schemas.microsoft.com/office/powerpoint/2010/main" val="1740328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A7D622B-9DB0-411A-871D-9B9B1C522586}" type="datetimeFigureOut">
              <a:rPr lang="en-AU" smtClean="0"/>
              <a:t>18/09/2019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5448896F-BBB1-4232-A3B8-696CC92DB8A3}" type="slidenum">
              <a:rPr lang="en-AU" smtClean="0"/>
              <a:t>‹#›</a:t>
            </a:fld>
            <a:endParaRPr lang="en-AU"/>
          </a:p>
        </p:txBody>
      </p:sp>
    </p:spTree>
    <p:extLst>
      <p:ext uri="{BB962C8B-B14F-4D97-AF65-F5344CB8AC3E}">
        <p14:creationId xmlns:p14="http://schemas.microsoft.com/office/powerpoint/2010/main" val="329899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7D622B-9DB0-411A-871D-9B9B1C522586}" type="datetimeFigureOut">
              <a:rPr lang="en-AU" smtClean="0"/>
              <a:t>18/09/2019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448896F-BBB1-4232-A3B8-696CC92DB8A3}" type="slidenum">
              <a:rPr lang="en-AU" smtClean="0"/>
              <a:t>‹#›</a:t>
            </a:fld>
            <a:endParaRPr lang="en-AU"/>
          </a:p>
        </p:txBody>
      </p:sp>
    </p:spTree>
    <p:extLst>
      <p:ext uri="{BB962C8B-B14F-4D97-AF65-F5344CB8AC3E}">
        <p14:creationId xmlns:p14="http://schemas.microsoft.com/office/powerpoint/2010/main" val="873862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5479"/>
            <a:ext cx="3838776" cy="1921022"/>
          </a:xfrm>
        </p:spPr>
        <p:txBody>
          <a:bodyPr anchor="t">
            <a:noAutofit/>
          </a:bodyPr>
          <a:lstStyle>
            <a:lvl1pPr>
              <a:lnSpc>
                <a:spcPct val="93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181600" y="564147"/>
            <a:ext cx="6248400" cy="5622644"/>
          </a:xfrm>
        </p:spPr>
        <p:txBody>
          <a:bodyPr/>
          <a:lstStyle>
            <a:lvl1pPr>
              <a:lnSpc>
                <a:spcPct val="112000"/>
              </a:lnSpc>
              <a:defRPr sz="2000"/>
            </a:lvl1pPr>
            <a:lvl2pPr>
              <a:lnSpc>
                <a:spcPct val="112000"/>
              </a:lnSpc>
              <a:defRPr sz="1800"/>
            </a:lvl2pPr>
            <a:lvl3pPr>
              <a:lnSpc>
                <a:spcPct val="112000"/>
              </a:lnSpc>
              <a:defRPr sz="1600"/>
            </a:lvl3pPr>
            <a:lvl4pPr>
              <a:lnSpc>
                <a:spcPct val="112000"/>
              </a:lnSpc>
              <a:defRPr sz="1400"/>
            </a:lvl4pPr>
            <a:lvl5pPr>
              <a:lnSpc>
                <a:spcPct val="112000"/>
              </a:lnSpc>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A7D622B-9DB0-411A-871D-9B9B1C522586}" type="datetimeFigureOut">
              <a:rPr lang="en-AU" smtClean="0"/>
              <a:t>18/09/2019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448896F-BBB1-4232-A3B8-696CC92DB8A3}" type="slidenum">
              <a:rPr lang="en-AU" smtClean="0"/>
              <a:t>‹#›</a:t>
            </a:fld>
            <a:endParaRPr lang="en-AU"/>
          </a:p>
        </p:txBody>
      </p:sp>
    </p:spTree>
    <p:extLst>
      <p:ext uri="{BB962C8B-B14F-4D97-AF65-F5344CB8AC3E}">
        <p14:creationId xmlns:p14="http://schemas.microsoft.com/office/powerpoint/2010/main" val="4041880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557261"/>
            <a:ext cx="3840480" cy="1919239"/>
          </a:xfrm>
        </p:spPr>
        <p:txBody>
          <a:bodyPr anchor="t">
            <a:noAutofit/>
          </a:bodyPr>
          <a:lstStyle>
            <a:lvl1pPr>
              <a:lnSpc>
                <a:spcPct val="93000"/>
              </a:lnSpc>
              <a:defRPr sz="40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257800" y="0"/>
            <a:ext cx="6172200"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58952" y="2621512"/>
            <a:ext cx="3840480" cy="3236976"/>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A7D622B-9DB0-411A-871D-9B9B1C522586}" type="datetimeFigureOut">
              <a:rPr lang="en-AU" smtClean="0"/>
              <a:t>18/09/2019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448896F-BBB1-4232-A3B8-696CC92DB8A3}" type="slidenum">
              <a:rPr lang="en-AU" smtClean="0"/>
              <a:t>‹#›</a:t>
            </a:fld>
            <a:endParaRPr lang="en-AU"/>
          </a:p>
        </p:txBody>
      </p:sp>
    </p:spTree>
    <p:extLst>
      <p:ext uri="{BB962C8B-B14F-4D97-AF65-F5344CB8AC3E}">
        <p14:creationId xmlns:p14="http://schemas.microsoft.com/office/powerpoint/2010/main" val="3897518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81600" y="640080"/>
            <a:ext cx="6248398" cy="5584142"/>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A7D622B-9DB0-411A-871D-9B9B1C522586}" type="datetimeFigureOut">
              <a:rPr lang="en-AU" smtClean="0"/>
              <a:t>18/09/2019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448896F-BBB1-4232-A3B8-696CC92DB8A3}" type="slidenum">
              <a:rPr lang="en-AU" smtClean="0"/>
              <a:t>‹#›</a:t>
            </a:fld>
            <a:endParaRPr lang="en-AU"/>
          </a:p>
        </p:txBody>
      </p:sp>
    </p:spTree>
    <p:extLst>
      <p:ext uri="{BB962C8B-B14F-4D97-AF65-F5344CB8AC3E}">
        <p14:creationId xmlns:p14="http://schemas.microsoft.com/office/powerpoint/2010/main" val="786575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2"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rgbClr val="262626"/>
          </a:solidFill>
          <a:ln w="0">
            <a:noFill/>
            <a:prstDash val="solid"/>
            <a:round/>
            <a:headEnd/>
            <a:tailEnd/>
          </a:ln>
        </p:spPr>
      </p:sp>
      <p:sp>
        <p:nvSpPr>
          <p:cNvPr id="2" name="Vertical Title 1"/>
          <p:cNvSpPr>
            <a:spLocks noGrp="1"/>
          </p:cNvSpPr>
          <p:nvPr>
            <p:ph type="title" orient="vert"/>
          </p:nvPr>
        </p:nvSpPr>
        <p:spPr>
          <a:xfrm>
            <a:off x="7990765" y="642931"/>
            <a:ext cx="2446670" cy="4678106"/>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642932"/>
            <a:ext cx="7070678" cy="467810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536187" y="5927131"/>
            <a:ext cx="3814856" cy="365125"/>
          </a:xfrm>
        </p:spPr>
        <p:txBody>
          <a:bodyPr/>
          <a:lstStyle/>
          <a:p>
            <a:fld id="{EA7D622B-9DB0-411A-871D-9B9B1C522586}" type="datetimeFigureOut">
              <a:rPr lang="en-AU" smtClean="0"/>
              <a:t>18/09/2019</a:t>
            </a:fld>
            <a:endParaRPr lang="en-AU"/>
          </a:p>
        </p:txBody>
      </p:sp>
      <p:sp>
        <p:nvSpPr>
          <p:cNvPr id="5" name="Footer Placeholder 4"/>
          <p:cNvSpPr>
            <a:spLocks noGrp="1"/>
          </p:cNvSpPr>
          <p:nvPr>
            <p:ph type="ftr" sz="quarter" idx="11"/>
          </p:nvPr>
        </p:nvSpPr>
        <p:spPr>
          <a:xfrm>
            <a:off x="6536187" y="6315949"/>
            <a:ext cx="3814856" cy="365125"/>
          </a:xfrm>
        </p:spPr>
        <p:txBody>
          <a:bodyPr/>
          <a:lstStyle/>
          <a:p>
            <a:endParaRPr lang="en-AU"/>
          </a:p>
        </p:txBody>
      </p:sp>
      <p:sp>
        <p:nvSpPr>
          <p:cNvPr id="6" name="Slide Number Placeholder 5"/>
          <p:cNvSpPr>
            <a:spLocks noGrp="1"/>
          </p:cNvSpPr>
          <p:nvPr>
            <p:ph type="sldNum" sz="quarter" idx="12"/>
          </p:nvPr>
        </p:nvSpPr>
        <p:spPr>
          <a:xfrm>
            <a:off x="11784011" y="5607592"/>
            <a:ext cx="407988" cy="365125"/>
          </a:xfrm>
        </p:spPr>
        <p:txBody>
          <a:bodyPr/>
          <a:lstStyle/>
          <a:p>
            <a:fld id="{5448896F-BBB1-4232-A3B8-696CC92DB8A3}" type="slidenum">
              <a:rPr lang="en-AU" smtClean="0"/>
              <a:t>‹#›</a:t>
            </a:fld>
            <a:endParaRPr lang="en-AU"/>
          </a:p>
        </p:txBody>
      </p:sp>
      <p:cxnSp>
        <p:nvCxnSpPr>
          <p:cNvPr id="13" name="Straight Connector 12" title="Horizontal Rule Line"/>
          <p:cNvCxnSpPr/>
          <p:nvPr/>
        </p:nvCxnSpPr>
        <p:spPr>
          <a:xfrm>
            <a:off x="0" y="6199730"/>
            <a:ext cx="10260011"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5902571"/>
      </p:ext>
    </p:extLst>
  </p:cSld>
  <p:clrMapOvr>
    <a:masterClrMapping/>
  </p:clrMapOvr>
  <p:extLst mod="1">
    <p:ext uri="{DCECCB84-F9BA-43D5-87BE-67443E8EF086}">
      <p15:sldGuideLst xmlns:p15="http://schemas.microsoft.com/office/powerpoint/2012/main">
        <p15:guide id="1" pos="64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fld id="{EA7D622B-9DB0-411A-871D-9B9B1C522586}" type="datetimeFigureOut">
              <a:rPr lang="en-AU" smtClean="0"/>
              <a:t>18/09/2019</a:t>
            </a:fld>
            <a:endParaRPr lang="en-AU"/>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endParaRPr lang="en-AU"/>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5448896F-BBB1-4232-A3B8-696CC92DB8A3}" type="slidenum">
              <a:rPr lang="en-AU" smtClean="0"/>
              <a:t>‹#›</a:t>
            </a:fld>
            <a:endParaRPr lang="en-AU"/>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6034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history.com/topics/world-war-ii/d-day#&amp;gid=ci0241980a10002494&amp;pid=d-day_gettyimages-600204788"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www.youtube.com/watch?v=mJBLlBvI3bw"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66152"/>
            <a:ext cx="9144000" cy="2387600"/>
          </a:xfrm>
        </p:spPr>
        <p:txBody>
          <a:bodyPr/>
          <a:lstStyle/>
          <a:p>
            <a:r>
              <a:rPr lang="en-AU" dirty="0" smtClean="0"/>
              <a:t>The Beginning of the End</a:t>
            </a:r>
            <a:endParaRPr lang="en-AU" dirty="0"/>
          </a:p>
        </p:txBody>
      </p:sp>
      <p:sp>
        <p:nvSpPr>
          <p:cNvPr id="3" name="Subtitle 2"/>
          <p:cNvSpPr>
            <a:spLocks noGrp="1"/>
          </p:cNvSpPr>
          <p:nvPr>
            <p:ph type="subTitle" idx="1"/>
          </p:nvPr>
        </p:nvSpPr>
        <p:spPr>
          <a:xfrm>
            <a:off x="1524000" y="4375121"/>
            <a:ext cx="9144000" cy="1655762"/>
          </a:xfrm>
        </p:spPr>
        <p:txBody>
          <a:bodyPr>
            <a:normAutofit/>
          </a:bodyPr>
          <a:lstStyle/>
          <a:p>
            <a:pPr algn="l"/>
            <a:r>
              <a:rPr lang="en-AU" dirty="0" smtClean="0"/>
              <a:t>The second front</a:t>
            </a:r>
          </a:p>
          <a:p>
            <a:pPr algn="l"/>
            <a:r>
              <a:rPr lang="en-AU" dirty="0" smtClean="0"/>
              <a:t>D-Day: Normandy Landings</a:t>
            </a:r>
          </a:p>
          <a:p>
            <a:pPr algn="l"/>
            <a:r>
              <a:rPr lang="en-AU" dirty="0" smtClean="0"/>
              <a:t>The final collapse</a:t>
            </a:r>
          </a:p>
          <a:p>
            <a:endParaRPr lang="en-AU" dirty="0"/>
          </a:p>
        </p:txBody>
      </p:sp>
    </p:spTree>
    <p:extLst>
      <p:ext uri="{BB962C8B-B14F-4D97-AF65-F5344CB8AC3E}">
        <p14:creationId xmlns:p14="http://schemas.microsoft.com/office/powerpoint/2010/main" val="400398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Class brainstorm</a:t>
            </a:r>
            <a:endParaRPr lang="en-AU" dirty="0"/>
          </a:p>
        </p:txBody>
      </p:sp>
      <p:sp>
        <p:nvSpPr>
          <p:cNvPr id="3" name="Content Placeholder 2"/>
          <p:cNvSpPr>
            <a:spLocks noGrp="1"/>
          </p:cNvSpPr>
          <p:nvPr>
            <p:ph idx="1"/>
          </p:nvPr>
        </p:nvSpPr>
        <p:spPr/>
        <p:txBody>
          <a:bodyPr/>
          <a:lstStyle/>
          <a:p>
            <a:pPr marL="0" indent="0">
              <a:buNone/>
            </a:pPr>
            <a:r>
              <a:rPr lang="en-AU" dirty="0" smtClean="0"/>
              <a:t>What have we learnt so far?</a:t>
            </a:r>
            <a:endParaRPr lang="en-AU" dirty="0"/>
          </a:p>
        </p:txBody>
      </p:sp>
    </p:spTree>
    <p:extLst>
      <p:ext uri="{BB962C8B-B14F-4D97-AF65-F5344CB8AC3E}">
        <p14:creationId xmlns:p14="http://schemas.microsoft.com/office/powerpoint/2010/main" val="1431836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Second Front</a:t>
            </a:r>
            <a:endParaRPr lang="en-AU" dirty="0"/>
          </a:p>
        </p:txBody>
      </p:sp>
      <p:sp>
        <p:nvSpPr>
          <p:cNvPr id="3" name="Content Placeholder 2"/>
          <p:cNvSpPr>
            <a:spLocks noGrp="1"/>
          </p:cNvSpPr>
          <p:nvPr>
            <p:ph idx="1"/>
          </p:nvPr>
        </p:nvSpPr>
        <p:spPr/>
        <p:txBody>
          <a:bodyPr/>
          <a:lstStyle/>
          <a:p>
            <a:pPr marL="0" indent="0">
              <a:lnSpc>
                <a:spcPct val="150000"/>
              </a:lnSpc>
              <a:buNone/>
            </a:pPr>
            <a:r>
              <a:rPr lang="en-AU" dirty="0"/>
              <a:t>The second phase consisted of large-scale ground combat (supported by a massive air war considered to be an additional front), which began in June 1944 with the Allied landings in Normandy and continued until the defeat of Germany in May 1945.</a:t>
            </a:r>
          </a:p>
        </p:txBody>
      </p:sp>
      <p:pic>
        <p:nvPicPr>
          <p:cNvPr id="1028" name="Picture 4" descr="Image result for second front ww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1115" y="3396644"/>
            <a:ext cx="4281618" cy="3204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9002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second front ww2"/>
          <p:cNvPicPr>
            <a:picLocks noChangeAspect="1" noChangeArrowheads="1"/>
          </p:cNvPicPr>
          <p:nvPr/>
        </p:nvPicPr>
        <p:blipFill rotWithShape="1">
          <a:blip r:embed="rId2">
            <a:extLst>
              <a:ext uri="{28A0092B-C50C-407E-A947-70E740481C1C}">
                <a14:useLocalDpi xmlns:a14="http://schemas.microsoft.com/office/drawing/2010/main" val="0"/>
              </a:ext>
            </a:extLst>
          </a:blip>
          <a:srcRect l="4100" r="4137" b="2114"/>
          <a:stretch/>
        </p:blipFill>
        <p:spPr bwMode="auto">
          <a:xfrm>
            <a:off x="1603948" y="445333"/>
            <a:ext cx="8847850" cy="5310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4387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559678"/>
            <a:ext cx="3360295" cy="2992991"/>
          </a:xfrm>
        </p:spPr>
        <p:txBody>
          <a:bodyPr/>
          <a:lstStyle/>
          <a:p>
            <a:r>
              <a:rPr lang="en-AU" dirty="0" smtClean="0"/>
              <a:t>D-Day: Normandy Landings </a:t>
            </a:r>
            <a:endParaRPr lang="en-AU" dirty="0"/>
          </a:p>
        </p:txBody>
      </p:sp>
      <p:sp>
        <p:nvSpPr>
          <p:cNvPr id="3" name="Content Placeholder 2"/>
          <p:cNvSpPr>
            <a:spLocks noGrp="1"/>
          </p:cNvSpPr>
          <p:nvPr>
            <p:ph idx="1"/>
          </p:nvPr>
        </p:nvSpPr>
        <p:spPr>
          <a:xfrm>
            <a:off x="4357140" y="194311"/>
            <a:ext cx="7515069" cy="6296429"/>
          </a:xfrm>
        </p:spPr>
        <p:txBody>
          <a:bodyPr>
            <a:normAutofit/>
          </a:bodyPr>
          <a:lstStyle/>
          <a:p>
            <a:pPr marL="0" indent="0">
              <a:buNone/>
            </a:pPr>
            <a:r>
              <a:rPr lang="en-AU" sz="2200" dirty="0"/>
              <a:t>During World War II (1939-1945), the Battle of Normandy, which lasted from June 1944 to August 1944, resulted in the Allied liberation of Western Europe from Nazi Germany’s control. Codenamed Operation Overlord, the battle began on June 6, 1944, also known as D-Day, when some 156,000 American, British and Canadian forces landed on five beaches along a 50-mile stretch of the heavily fortified coast of France’s Normandy region. The invasion was one of the largest amphibious military assaults in history and required extensive planning. Prior to D-Day, the Allies conducted a large-scale deception campaign designed to mislead the Germans about the intended invasion target. By late August 1944, all of northern France had been liberated, and by the following spring the Allies had defeated the Germans. The Normandy landings have been called the beginning of the end of war in Europe.</a:t>
            </a:r>
          </a:p>
        </p:txBody>
      </p:sp>
      <p:sp>
        <p:nvSpPr>
          <p:cNvPr id="11" name="TextBox 10"/>
          <p:cNvSpPr txBox="1"/>
          <p:nvPr/>
        </p:nvSpPr>
        <p:spPr>
          <a:xfrm>
            <a:off x="284813" y="5486400"/>
            <a:ext cx="3177915" cy="553998"/>
          </a:xfrm>
          <a:prstGeom prst="rect">
            <a:avLst/>
          </a:prstGeom>
          <a:noFill/>
        </p:spPr>
        <p:txBody>
          <a:bodyPr wrap="square" rtlCol="0">
            <a:spAutoFit/>
          </a:bodyPr>
          <a:lstStyle/>
          <a:p>
            <a:r>
              <a:rPr lang="en-AU" sz="1000" dirty="0">
                <a:hlinkClick r:id="rId2"/>
              </a:rPr>
              <a:t>https://www.history.com/topics/world-war-ii/d-day#&amp;gid=ci0241980a10002494&amp;pid=d-day_gettyimages-600204788</a:t>
            </a:r>
            <a:endParaRPr lang="en-AU" sz="1000" dirty="0"/>
          </a:p>
        </p:txBody>
      </p:sp>
      <p:pic>
        <p:nvPicPr>
          <p:cNvPr id="3097" name="Picture 25" descr="Image result for d day invas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0" y="2830370"/>
            <a:ext cx="3239125" cy="241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4190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final collapse</a:t>
            </a:r>
            <a:endParaRPr lang="en-AU" dirty="0"/>
          </a:p>
        </p:txBody>
      </p:sp>
      <p:sp>
        <p:nvSpPr>
          <p:cNvPr id="3" name="Content Placeholder 2"/>
          <p:cNvSpPr>
            <a:spLocks noGrp="1"/>
          </p:cNvSpPr>
          <p:nvPr>
            <p:ph idx="1"/>
          </p:nvPr>
        </p:nvSpPr>
        <p:spPr>
          <a:xfrm>
            <a:off x="6553604" y="429760"/>
            <a:ext cx="5214445" cy="5655156"/>
          </a:xfrm>
        </p:spPr>
        <p:txBody>
          <a:bodyPr>
            <a:normAutofit fontScale="92500" lnSpcReduction="20000"/>
          </a:bodyPr>
          <a:lstStyle/>
          <a:p>
            <a:r>
              <a:rPr lang="en-AU" dirty="0" smtClean="0"/>
              <a:t>By July 1944 Allied armies were pushing back Germans in the west and east.</a:t>
            </a:r>
          </a:p>
          <a:p>
            <a:r>
              <a:rPr lang="en-AU" dirty="0" smtClean="0"/>
              <a:t>In early 1945 some of the most extreme air raids began.</a:t>
            </a:r>
          </a:p>
          <a:p>
            <a:pPr lvl="1"/>
            <a:r>
              <a:rPr lang="en-AU" dirty="0" smtClean="0"/>
              <a:t>In two nights of bombing up to 150,000 people were killed in Dresden.</a:t>
            </a:r>
          </a:p>
          <a:p>
            <a:pPr lvl="1"/>
            <a:r>
              <a:rPr lang="en-AU" dirty="0" smtClean="0"/>
              <a:t>By the end of the war almost as many German civilians had died as German soldiers.</a:t>
            </a:r>
          </a:p>
          <a:p>
            <a:r>
              <a:rPr lang="en-AU" dirty="0" smtClean="0"/>
              <a:t>By early 1945 government plans were in chaos.</a:t>
            </a:r>
          </a:p>
          <a:p>
            <a:pPr lvl="1"/>
            <a:r>
              <a:rPr lang="en-AU" dirty="0" smtClean="0"/>
              <a:t>Food rationing was unorganised, as defeat loomed, stars of David could be purchased on the Black Market.</a:t>
            </a:r>
          </a:p>
          <a:p>
            <a:r>
              <a:rPr lang="en-AU" dirty="0" smtClean="0"/>
              <a:t>In April 1945 as Russian troops were taking over Berlin, Hitler, Goebbels and other Nazi officials committed suicide.</a:t>
            </a:r>
          </a:p>
          <a:p>
            <a:r>
              <a:rPr lang="en-AU" dirty="0" smtClean="0"/>
              <a:t>With the war lost, many Germans tried to prove they had opposed the Nazi regime all along.</a:t>
            </a:r>
            <a:endParaRPr lang="en-AU" dirty="0"/>
          </a:p>
        </p:txBody>
      </p:sp>
      <p:sp>
        <p:nvSpPr>
          <p:cNvPr id="4" name="TextBox 3"/>
          <p:cNvSpPr txBox="1"/>
          <p:nvPr/>
        </p:nvSpPr>
        <p:spPr>
          <a:xfrm>
            <a:off x="423949" y="5444836"/>
            <a:ext cx="4089862" cy="640080"/>
          </a:xfrm>
          <a:prstGeom prst="rect">
            <a:avLst/>
          </a:prstGeom>
          <a:noFill/>
        </p:spPr>
        <p:txBody>
          <a:bodyPr wrap="square" rtlCol="0">
            <a:spAutoFit/>
          </a:bodyPr>
          <a:lstStyle/>
          <a:p>
            <a:r>
              <a:rPr lang="en-AU" dirty="0">
                <a:hlinkClick r:id="rId2"/>
              </a:rPr>
              <a:t>https://www.youtube.com/watch?v=mJBLlBvI3bw</a:t>
            </a:r>
            <a:endParaRPr lang="en-AU" dirty="0"/>
          </a:p>
        </p:txBody>
      </p:sp>
      <p:pic>
        <p:nvPicPr>
          <p:cNvPr id="1026" name="Picture 2" descr="Image result for russian troops take over berl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116540"/>
            <a:ext cx="5318364" cy="3162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3740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559678"/>
            <a:ext cx="2396836" cy="4952492"/>
          </a:xfrm>
        </p:spPr>
        <p:txBody>
          <a:bodyPr/>
          <a:lstStyle/>
          <a:p>
            <a:r>
              <a:rPr lang="en-AU" dirty="0" smtClean="0"/>
              <a:t>Hitler’s bunker</a:t>
            </a:r>
            <a:endParaRPr lang="en-AU" dirty="0"/>
          </a:p>
        </p:txBody>
      </p:sp>
      <p:pic>
        <p:nvPicPr>
          <p:cNvPr id="2052" name="Picture 4" descr="Image result for hitlers bunk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2007" y="559678"/>
            <a:ext cx="7505975" cy="4843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470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a:t>With only candles to light their way, war correspondents examine a couch stained with blood (see dark patch on the arm of the sofa) located inside Hitler's bunker.</a:t>
            </a:r>
          </a:p>
        </p:txBody>
      </p:sp>
      <p:pic>
        <p:nvPicPr>
          <p:cNvPr id="3074" name="Picture 2" descr="With only candles to light their way, war correspondents examine a couch stained with blood (see dark patch on the arm of the sofa) located inside Hitler's bunk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8031" y="182255"/>
            <a:ext cx="6041967" cy="6041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554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a:t>An SS officer's cap, with the infamous death's-head skull emblem barely visible.</a:t>
            </a:r>
          </a:p>
        </p:txBody>
      </p:sp>
      <p:pic>
        <p:nvPicPr>
          <p:cNvPr id="4098" name="Picture 2" descr="&lt;b&gt;Not published in LIFE.&lt;/b&gt; An SS officer's cap, with the infamous death's-head skull emblem barely visi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9465" y="149629"/>
            <a:ext cx="6041968" cy="6041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566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549" y="318609"/>
            <a:ext cx="3833906" cy="4952492"/>
          </a:xfrm>
        </p:spPr>
        <p:txBody>
          <a:bodyPr/>
          <a:lstStyle/>
          <a:p>
            <a:r>
              <a:rPr lang="en-AU" dirty="0" smtClean="0"/>
              <a:t>Hitler’s bunker now</a:t>
            </a:r>
            <a:endParaRPr lang="en-AU" dirty="0"/>
          </a:p>
        </p:txBody>
      </p:sp>
      <p:pic>
        <p:nvPicPr>
          <p:cNvPr id="5122" name="Picture 2" descr="Image result for hitlers bunker n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3167" y="1905000"/>
            <a:ext cx="8678950" cy="4881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1124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69066"/>
            <a:ext cx="3833906" cy="4952492"/>
          </a:xfrm>
        </p:spPr>
        <p:txBody>
          <a:bodyPr/>
          <a:lstStyle/>
          <a:p>
            <a:r>
              <a:rPr lang="en-AU" dirty="0" smtClean="0"/>
              <a:t>Hitler’s bunker now</a:t>
            </a:r>
            <a:endParaRPr lang="en-AU" dirty="0"/>
          </a:p>
        </p:txBody>
      </p:sp>
      <p:sp>
        <p:nvSpPr>
          <p:cNvPr id="3" name="Content Placeholder 2"/>
          <p:cNvSpPr>
            <a:spLocks noGrp="1"/>
          </p:cNvSpPr>
          <p:nvPr>
            <p:ph idx="1"/>
          </p:nvPr>
        </p:nvSpPr>
        <p:spPr/>
        <p:txBody>
          <a:bodyPr/>
          <a:lstStyle/>
          <a:p>
            <a:endParaRPr lang="en-AU" dirty="0"/>
          </a:p>
        </p:txBody>
      </p:sp>
      <p:pic>
        <p:nvPicPr>
          <p:cNvPr id="6146" name="Picture 2" descr="Image result for hitlers bunker now"/>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97374" y="539915"/>
            <a:ext cx="6970453" cy="5684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4156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Source analysis assessment</a:t>
            </a:r>
            <a:endParaRPr lang="en-AU" dirty="0"/>
          </a:p>
        </p:txBody>
      </p:sp>
      <p:sp>
        <p:nvSpPr>
          <p:cNvPr id="3" name="Content Placeholder 2"/>
          <p:cNvSpPr>
            <a:spLocks noGrp="1"/>
          </p:cNvSpPr>
          <p:nvPr>
            <p:ph idx="1"/>
          </p:nvPr>
        </p:nvSpPr>
        <p:spPr/>
        <p:txBody>
          <a:bodyPr/>
          <a:lstStyle/>
          <a:p>
            <a:pPr marL="0" indent="0">
              <a:buNone/>
            </a:pPr>
            <a:r>
              <a:rPr lang="en-AU" dirty="0" smtClean="0"/>
              <a:t>1. In what ways were the Jews in Germany persecuted from 1935-1939? What specific events precipitated the Holocaust? </a:t>
            </a:r>
          </a:p>
          <a:p>
            <a:pPr marL="0" indent="0">
              <a:buNone/>
            </a:pPr>
            <a:r>
              <a:rPr lang="en-AU" dirty="0" smtClean="0"/>
              <a:t>2. What is appeasement and why did the allies pursue a policy of appeasement in the lead up to ww2?</a:t>
            </a:r>
          </a:p>
          <a:p>
            <a:pPr marL="0" indent="0">
              <a:buNone/>
            </a:pPr>
            <a:endParaRPr lang="en-AU" dirty="0" smtClean="0"/>
          </a:p>
          <a:p>
            <a:r>
              <a:rPr lang="en-AU" dirty="0" smtClean="0"/>
              <a:t>Revision:</a:t>
            </a:r>
          </a:p>
          <a:p>
            <a:pPr lvl="1"/>
            <a:r>
              <a:rPr lang="en-AU" dirty="0" smtClean="0"/>
              <a:t>Persecution of Jews</a:t>
            </a:r>
          </a:p>
          <a:p>
            <a:pPr lvl="1"/>
            <a:r>
              <a:rPr lang="en-AU" dirty="0" smtClean="0"/>
              <a:t>Nazi foreign policy 1936-39</a:t>
            </a:r>
          </a:p>
          <a:p>
            <a:pPr lvl="2"/>
            <a:r>
              <a:rPr lang="en-AU" dirty="0" smtClean="0"/>
              <a:t>Hitler’s 5 main foreign policy aims (Treaty of Versailles;</a:t>
            </a:r>
            <a:r>
              <a:rPr lang="en-AU" dirty="0" smtClean="0"/>
              <a:t> </a:t>
            </a:r>
            <a:r>
              <a:rPr lang="en-AU" dirty="0"/>
              <a:t>Removal of Germany from the League of Nations; Lebensraum; Greater German </a:t>
            </a:r>
            <a:r>
              <a:rPr lang="en-AU" dirty="0" smtClean="0"/>
              <a:t>Reich/uniting all German </a:t>
            </a:r>
            <a:r>
              <a:rPr lang="en-AU" dirty="0"/>
              <a:t>speaking people; </a:t>
            </a:r>
            <a:r>
              <a:rPr lang="en-AU" dirty="0" smtClean="0"/>
              <a:t>Territory – East (Russia), Czechoslovakia</a:t>
            </a:r>
            <a:r>
              <a:rPr lang="en-AU" smtClean="0"/>
              <a:t>, Poland)</a:t>
            </a:r>
            <a:endParaRPr lang="en-AU" dirty="0" smtClean="0"/>
          </a:p>
          <a:p>
            <a:pPr lvl="2"/>
            <a:r>
              <a:rPr lang="en-AU" dirty="0" smtClean="0"/>
              <a:t>Appeasement </a:t>
            </a:r>
            <a:endParaRPr lang="en-AU" dirty="0"/>
          </a:p>
        </p:txBody>
      </p:sp>
    </p:spTree>
    <p:extLst>
      <p:ext uri="{BB962C8B-B14F-4D97-AF65-F5344CB8AC3E}">
        <p14:creationId xmlns:p14="http://schemas.microsoft.com/office/powerpoint/2010/main" val="3646192804"/>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 id="{3841520A-25F2-4EB8-BE4C-611DB5ABEED9}" vid="{ECD25A4C-D97E-4C12-84B1-63580BFFAEEB}"/>
    </a:ext>
  </a:extLst>
</a:theme>
</file>

<file path=docProps/app.xml><?xml version="1.0" encoding="utf-8"?>
<Properties xmlns="http://schemas.openxmlformats.org/officeDocument/2006/extended-properties" xmlns:vt="http://schemas.openxmlformats.org/officeDocument/2006/docPropsVTypes">
  <Template>Headlines</Template>
  <TotalTime>38</TotalTime>
  <Words>522</Words>
  <Application>Microsoft Office PowerPoint</Application>
  <PresentationFormat>Widescreen</PresentationFormat>
  <Paragraphs>35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Schoolbook</vt:lpstr>
      <vt:lpstr>Corbel</vt:lpstr>
      <vt:lpstr>Headlines</vt:lpstr>
      <vt:lpstr>The Beginning of the End</vt:lpstr>
      <vt:lpstr>Class brainstorm</vt:lpstr>
      <vt:lpstr>The Second Front</vt:lpstr>
      <vt:lpstr>PowerPoint Presentation</vt:lpstr>
      <vt:lpstr>D-Day: Normandy Landings </vt:lpstr>
      <vt:lpstr>The final collapse</vt:lpstr>
      <vt:lpstr>Hitler’s bunker</vt:lpstr>
      <vt:lpstr>With only candles to light their way, war correspondents examine a couch stained with blood (see dark patch on the arm of the sofa) located inside Hitler's bunker.</vt:lpstr>
      <vt:lpstr>An SS officer's cap, with the infamous death's-head skull emblem barely visible.</vt:lpstr>
      <vt:lpstr>Hitler’s bunker now</vt:lpstr>
      <vt:lpstr>Hitler’s bunker now</vt:lpstr>
      <vt:lpstr>Source analysis assessment</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Beginning of the End</dc:title>
  <dc:creator>HAWKES Natasha [Narrogin Senior High School]</dc:creator>
  <cp:lastModifiedBy>HAWKES Natasha [Narrogin Senior High School]</cp:lastModifiedBy>
  <cp:revision>8</cp:revision>
  <dcterms:created xsi:type="dcterms:W3CDTF">2019-09-13T03:48:52Z</dcterms:created>
  <dcterms:modified xsi:type="dcterms:W3CDTF">2019-09-18T00:44:31Z</dcterms:modified>
</cp:coreProperties>
</file>
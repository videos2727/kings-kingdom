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9" r:id="rId2"/>
    <p:sldId id="262" r:id="rId3"/>
    <p:sldId id="260" r:id="rId4"/>
    <p:sldId id="261" r:id="rId5"/>
  </p:sldIdLst>
  <p:sldSz cx="9144000" cy="6858000" type="screen4x3"/>
  <p:notesSz cx="6858000" cy="9144000"/>
  <p:defaultTextStyle>
    <a:defPPr>
      <a:defRPr lang="en-AU"/>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11" autoAdjust="0"/>
    <p:restoredTop sz="90929"/>
  </p:normalViewPr>
  <p:slideViewPr>
    <p:cSldViewPr>
      <p:cViewPr varScale="1">
        <p:scale>
          <a:sx n="105" d="100"/>
          <a:sy n="105" d="100"/>
        </p:scale>
        <p:origin x="205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4702E-9A73-4560-A79F-A91FC9523D05}" type="datetimeFigureOut">
              <a:rPr lang="en-AU" smtClean="0"/>
              <a:t>28/08/2019</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7BAB1B-FD21-4720-8884-461AD5186822}"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287BAB1B-FD21-4720-8884-461AD5186822}" type="slidenum">
              <a:rPr lang="en-AU" smtClean="0"/>
              <a:t>4</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C1C3CEBB-D1EF-4163-928E-058E30CD5FF6}" type="slidenum">
              <a:rPr lang="en-AU"/>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031868D-38B2-4672-BB5A-4C09A0A3BD77}" type="slidenum">
              <a:rPr lang="en-AU"/>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DCE09BF8-AB28-4524-AB37-49C6523560AA}" type="slidenum">
              <a:rPr lang="en-AU"/>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74A0CD42-8903-42C2-8E81-D1BA4D036A8E}" type="slidenum">
              <a:rPr lang="en-AU"/>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E1C33E82-DC06-4DF1-A258-1B15BE43FCD9}" type="slidenum">
              <a:rPr lang="en-AU"/>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CC74BF50-27ED-4AC6-A105-27B083A3C813}" type="slidenum">
              <a:rPr lang="en-AU"/>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F2EDD390-7311-47D6-967F-FB4F757A9C05}" type="slidenum">
              <a:rPr lang="en-AU"/>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62382C39-9DB0-48E6-A4FD-6365FB24465D}" type="slidenum">
              <a:rPr lang="en-AU"/>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43F83A97-0CE6-42BC-8D08-19D7D975C44D}" type="slidenum">
              <a:rPr lang="en-AU"/>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8C0163B-A2BA-470C-9479-9822FA28A8A4}" type="slidenum">
              <a:rPr lang="en-AU"/>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01623F8C-8FA2-4F6A-A3B8-4BF4754DD353}" type="slidenum">
              <a:rPr lang="en-AU"/>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AU"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AU"/>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AU"/>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0806E71-2679-4F2B-B6B9-3B78B2F19CE4}"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http://www.calvin.edu/academic/cas/gpa/posters/derjude.jpg"/>
          <p:cNvPicPr>
            <a:picLocks noChangeAspect="1" noChangeArrowheads="1"/>
          </p:cNvPicPr>
          <p:nvPr/>
        </p:nvPicPr>
        <p:blipFill>
          <a:blip r:embed="rId3" cstate="print"/>
          <a:srcRect/>
          <a:stretch>
            <a:fillRect/>
          </a:stretch>
        </p:blipFill>
        <p:spPr bwMode="auto">
          <a:xfrm>
            <a:off x="685800" y="152400"/>
            <a:ext cx="4549775" cy="6503988"/>
          </a:xfrm>
          <a:prstGeom prst="rect">
            <a:avLst/>
          </a:prstGeom>
          <a:noFill/>
        </p:spPr>
      </p:pic>
      <p:sp>
        <p:nvSpPr>
          <p:cNvPr id="5124" name="Rectangle 4"/>
          <p:cNvSpPr>
            <a:spLocks noChangeArrowheads="1"/>
          </p:cNvSpPr>
          <p:nvPr/>
        </p:nvSpPr>
        <p:spPr bwMode="auto">
          <a:xfrm>
            <a:off x="1884363" y="3017838"/>
            <a:ext cx="9144000" cy="0"/>
          </a:xfrm>
          <a:prstGeom prst="rect">
            <a:avLst/>
          </a:prstGeom>
          <a:noFill/>
          <a:ln w="9525">
            <a:noFill/>
            <a:miter lim="800000"/>
            <a:headEnd/>
            <a:tailEnd/>
          </a:ln>
          <a:effectLst/>
        </p:spPr>
        <p:txBody>
          <a:bodyPr>
            <a:spAutoFit/>
          </a:bodyPr>
          <a:lstStyle/>
          <a:p>
            <a:endParaRPr lang="en-AU"/>
          </a:p>
        </p:txBody>
      </p:sp>
      <p:sp>
        <p:nvSpPr>
          <p:cNvPr id="5125" name="Rectangle 5"/>
          <p:cNvSpPr>
            <a:spLocks noChangeArrowheads="1"/>
          </p:cNvSpPr>
          <p:nvPr/>
        </p:nvSpPr>
        <p:spPr bwMode="auto">
          <a:xfrm>
            <a:off x="1884363" y="3017838"/>
            <a:ext cx="5483225" cy="0"/>
          </a:xfrm>
          <a:prstGeom prst="rect">
            <a:avLst/>
          </a:prstGeom>
          <a:noFill/>
          <a:ln w="9525">
            <a:noFill/>
            <a:miter lim="800000"/>
            <a:headEnd/>
            <a:tailEnd/>
          </a:ln>
          <a:effectLst/>
        </p:spPr>
        <p:txBody>
          <a:bodyPr>
            <a:spAutoFit/>
          </a:bodyPr>
          <a:lstStyle/>
          <a:p>
            <a:endParaRPr lang="en-AU"/>
          </a:p>
        </p:txBody>
      </p:sp>
      <p:grpSp>
        <p:nvGrpSpPr>
          <p:cNvPr id="5130" name="Group 10"/>
          <p:cNvGrpSpPr>
            <a:grpSpLocks/>
          </p:cNvGrpSpPr>
          <p:nvPr/>
        </p:nvGrpSpPr>
        <p:grpSpPr bwMode="auto">
          <a:xfrm>
            <a:off x="5562600" y="1676400"/>
            <a:ext cx="3327400" cy="3429000"/>
            <a:chOff x="-3" y="-3"/>
            <a:chExt cx="3392" cy="524"/>
          </a:xfrm>
        </p:grpSpPr>
        <p:grpSp>
          <p:nvGrpSpPr>
            <p:cNvPr id="5128" name="Group 8"/>
            <p:cNvGrpSpPr>
              <a:grpSpLocks/>
            </p:cNvGrpSpPr>
            <p:nvPr/>
          </p:nvGrpSpPr>
          <p:grpSpPr bwMode="auto">
            <a:xfrm>
              <a:off x="0" y="0"/>
              <a:ext cx="3386" cy="518"/>
              <a:chOff x="0" y="0"/>
              <a:chExt cx="3386" cy="518"/>
            </a:xfrm>
          </p:grpSpPr>
          <p:sp>
            <p:nvSpPr>
              <p:cNvPr id="5126" name="Rectangle 6"/>
              <p:cNvSpPr>
                <a:spLocks noChangeArrowheads="1"/>
              </p:cNvSpPr>
              <p:nvPr/>
            </p:nvSpPr>
            <p:spPr bwMode="auto">
              <a:xfrm>
                <a:off x="0" y="0"/>
                <a:ext cx="3386" cy="518"/>
              </a:xfrm>
              <a:prstGeom prst="rect">
                <a:avLst/>
              </a:prstGeom>
              <a:noFill/>
              <a:ln w="9525">
                <a:noFill/>
                <a:miter lim="800000"/>
                <a:headEnd/>
                <a:tailEnd/>
              </a:ln>
              <a:effectLst/>
            </p:spPr>
            <p:txBody>
              <a:bodyPr anchor="ctr"/>
              <a:lstStyle/>
              <a:p>
                <a:r>
                  <a:rPr lang="en-AU" sz="4400">
                    <a:solidFill>
                      <a:schemeClr val="bg1"/>
                    </a:solidFill>
                  </a:rPr>
                  <a:t>"The Jew: The inciter of war, the prolonger of war."</a:t>
                </a:r>
              </a:p>
            </p:txBody>
          </p:sp>
          <p:sp>
            <p:nvSpPr>
              <p:cNvPr id="5127" name="Rectangle 7"/>
              <p:cNvSpPr>
                <a:spLocks noChangeArrowheads="1"/>
              </p:cNvSpPr>
              <p:nvPr/>
            </p:nvSpPr>
            <p:spPr bwMode="auto">
              <a:xfrm>
                <a:off x="0" y="0"/>
                <a:ext cx="3386" cy="518"/>
              </a:xfrm>
              <a:prstGeom prst="rect">
                <a:avLst/>
              </a:prstGeom>
              <a:noFill/>
              <a:ln w="7">
                <a:solidFill>
                  <a:srgbClr val="A0A0A0"/>
                </a:solidFill>
                <a:miter lim="800000"/>
                <a:headEnd/>
                <a:tailEnd/>
              </a:ln>
              <a:effectLst/>
            </p:spPr>
            <p:txBody>
              <a:bodyPr/>
              <a:lstStyle/>
              <a:p>
                <a:endParaRPr lang="en-AU"/>
              </a:p>
            </p:txBody>
          </p:sp>
        </p:grpSp>
        <p:sp>
          <p:nvSpPr>
            <p:cNvPr id="5129" name="Rectangle 9"/>
            <p:cNvSpPr>
              <a:spLocks noChangeArrowheads="1"/>
            </p:cNvSpPr>
            <p:nvPr/>
          </p:nvSpPr>
          <p:spPr bwMode="auto">
            <a:xfrm>
              <a:off x="-3" y="-3"/>
              <a:ext cx="3392" cy="524"/>
            </a:xfrm>
            <a:prstGeom prst="rect">
              <a:avLst/>
            </a:prstGeom>
            <a:noFill/>
            <a:ln w="9525">
              <a:solidFill>
                <a:srgbClr val="A0A0A0"/>
              </a:solidFill>
              <a:miter lim="800000"/>
              <a:headEnd/>
              <a:tailEnd/>
            </a:ln>
            <a:effectLst/>
          </p:spPr>
          <p:txBody>
            <a:bodyPr/>
            <a:lstStyle/>
            <a:p>
              <a:endParaRPr lang="en-AU"/>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04800" y="228600"/>
            <a:ext cx="8610600" cy="6427788"/>
          </a:xfrm>
          <a:prstGeom prst="rect">
            <a:avLst/>
          </a:prstGeom>
          <a:noFill/>
          <a:ln w="9525">
            <a:noFill/>
            <a:miter lim="800000"/>
            <a:headEnd/>
            <a:tailEnd/>
          </a:ln>
          <a:effectLst/>
        </p:spPr>
        <p:txBody>
          <a:bodyPr>
            <a:spAutoFit/>
          </a:bodyPr>
          <a:lstStyle/>
          <a:p>
            <a:pPr>
              <a:spcBef>
                <a:spcPct val="50000"/>
              </a:spcBef>
            </a:pPr>
            <a:r>
              <a:rPr lang="en-AU" sz="3200" b="1">
                <a:solidFill>
                  <a:schemeClr val="bg1"/>
                </a:solidFill>
                <a:latin typeface="Trebuchet MS" pitchFamily="34" charset="0"/>
              </a:rPr>
              <a:t>"My program for educating youth is hard. Weakness must be hammered away. In my castles of the Teutonic Order a youth will grow up before which the world will tremble. I want a brutal, domineering, fearless, cruel youth. Youth must be all that. It must bear pain. There must be nothing weak and gentle about it. The free, splendid beast of prey must once again flash from its eyes...That is how I will eradicate thousands of years of human domestication...That is how I will create the New Order."  (Adolf Hitler, 1933)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http://www.calvin.edu/academic/cas/gpa/posters/hj.jpg"/>
          <p:cNvPicPr>
            <a:picLocks noChangeAspect="1" noChangeArrowheads="1"/>
          </p:cNvPicPr>
          <p:nvPr/>
        </p:nvPicPr>
        <p:blipFill>
          <a:blip r:embed="rId3" cstate="print"/>
          <a:srcRect/>
          <a:stretch>
            <a:fillRect/>
          </a:stretch>
        </p:blipFill>
        <p:spPr bwMode="auto">
          <a:xfrm>
            <a:off x="214313" y="0"/>
            <a:ext cx="4784725" cy="6858000"/>
          </a:xfrm>
          <a:prstGeom prst="rect">
            <a:avLst/>
          </a:prstGeom>
          <a:noFill/>
        </p:spPr>
      </p:pic>
      <p:sp>
        <p:nvSpPr>
          <p:cNvPr id="6148" name="Text Box 4"/>
          <p:cNvSpPr txBox="1">
            <a:spLocks noChangeArrowheads="1"/>
          </p:cNvSpPr>
          <p:nvPr/>
        </p:nvSpPr>
        <p:spPr bwMode="auto">
          <a:xfrm>
            <a:off x="5334000" y="2438400"/>
            <a:ext cx="3581400" cy="2647950"/>
          </a:xfrm>
          <a:prstGeom prst="rect">
            <a:avLst/>
          </a:prstGeom>
          <a:noFill/>
          <a:ln w="9525">
            <a:noFill/>
            <a:miter lim="800000"/>
            <a:headEnd/>
            <a:tailEnd/>
          </a:ln>
          <a:effectLst/>
        </p:spPr>
        <p:txBody>
          <a:bodyPr>
            <a:spAutoFit/>
          </a:bodyPr>
          <a:lstStyle/>
          <a:p>
            <a:pPr>
              <a:spcBef>
                <a:spcPct val="50000"/>
              </a:spcBef>
            </a:pPr>
            <a:r>
              <a:rPr lang="en-AU">
                <a:solidFill>
                  <a:schemeClr val="bg1"/>
                </a:solidFill>
              </a:rPr>
              <a:t>The text of this 1940 poster reads: "Youth Serves the Führer. All 10-year-olds into the Hitler Youth." Membership in the Hitler Youth had become mandatory in 1936.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descr="http://www.calvin.edu/academic/cas/gpa/posters/dove.jpg"/>
          <p:cNvPicPr>
            <a:picLocks noChangeAspect="1" noChangeArrowheads="1"/>
          </p:cNvPicPr>
          <p:nvPr/>
        </p:nvPicPr>
        <p:blipFill>
          <a:blip r:embed="rId3" cstate="print"/>
          <a:srcRect/>
          <a:stretch>
            <a:fillRect/>
          </a:stretch>
        </p:blipFill>
        <p:spPr bwMode="auto">
          <a:xfrm>
            <a:off x="109538" y="304800"/>
            <a:ext cx="5643562" cy="6553200"/>
          </a:xfrm>
          <a:prstGeom prst="rect">
            <a:avLst/>
          </a:prstGeom>
          <a:noFill/>
        </p:spPr>
      </p:pic>
      <p:sp>
        <p:nvSpPr>
          <p:cNvPr id="7172" name="Text Box 4"/>
          <p:cNvSpPr txBox="1">
            <a:spLocks noChangeArrowheads="1"/>
          </p:cNvSpPr>
          <p:nvPr/>
        </p:nvSpPr>
        <p:spPr bwMode="auto">
          <a:xfrm>
            <a:off x="6172200" y="376238"/>
            <a:ext cx="2590800" cy="6116637"/>
          </a:xfrm>
          <a:prstGeom prst="rect">
            <a:avLst/>
          </a:prstGeom>
          <a:noFill/>
          <a:ln w="9525">
            <a:noFill/>
            <a:miter lim="800000"/>
            <a:headEnd/>
            <a:tailEnd/>
          </a:ln>
          <a:effectLst/>
        </p:spPr>
        <p:txBody>
          <a:bodyPr>
            <a:spAutoFit/>
          </a:bodyPr>
          <a:lstStyle/>
          <a:p>
            <a:pPr>
              <a:spcBef>
                <a:spcPct val="50000"/>
              </a:spcBef>
            </a:pPr>
            <a:r>
              <a:rPr lang="en-AU">
                <a:solidFill>
                  <a:schemeClr val="bg1"/>
                </a:solidFill>
              </a:rPr>
              <a:t>This poster makes a direct religious comparison.  Just as a dove descended on Christ when he was baptised by John the Baptist, so what looks to be an eagle hovers against the light of heaven over an idealized Hitler. The text: "Long live Germany!."</a:t>
            </a:r>
          </a:p>
          <a:p>
            <a:pPr>
              <a:spcBef>
                <a:spcPct val="50000"/>
              </a:spcBef>
            </a:pPr>
            <a:endParaRPr lang="en-AU">
              <a:solidFill>
                <a:schemeClr val="bg1"/>
              </a:solidFill>
            </a:endParaRP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211</Words>
  <Application>Microsoft Office PowerPoint</Application>
  <PresentationFormat>On-screen Show (4:3)</PresentationFormat>
  <Paragraphs>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Calibri</vt:lpstr>
      <vt:lpstr>Times New Roman</vt:lpstr>
      <vt:lpstr>Trebuchet MS</vt:lpstr>
      <vt:lpstr>Default Design</vt:lpstr>
      <vt:lpstr>PowerPoint Presentation</vt:lpstr>
      <vt:lpstr>PowerPoint Presentation</vt:lpstr>
      <vt:lpstr>PowerPoint Presentation</vt:lpstr>
      <vt:lpstr>PowerPoint Presentation</vt:lpstr>
    </vt:vector>
  </TitlesOfParts>
  <Company>DOE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DOE</dc:creator>
  <cp:lastModifiedBy>HAWKES Natasha [Narrogin Senior High School]</cp:lastModifiedBy>
  <cp:revision>2</cp:revision>
  <dcterms:created xsi:type="dcterms:W3CDTF">2003-08-03T16:44:15Z</dcterms:created>
  <dcterms:modified xsi:type="dcterms:W3CDTF">2019-08-28T07:36:55Z</dcterms:modified>
</cp:coreProperties>
</file>
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2" r:id="rId5"/>
    <p:sldId id="259" r:id="rId6"/>
    <p:sldId id="260" r:id="rId7"/>
    <p:sldId id="261"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4" d="100"/>
          <a:sy n="64" d="100"/>
        </p:scale>
        <p:origin x="78" y="2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18920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2"/>
          </a:solidFill>
          <a:ln w="0">
            <a:noFill/>
            <a:prstDash val="solid"/>
            <a:round/>
            <a:headEnd/>
            <a:tailEnd/>
          </a:ln>
        </p:spPr>
      </p:sp>
      <p:sp>
        <p:nvSpPr>
          <p:cNvPr id="2" name="Title 1"/>
          <p:cNvSpPr>
            <a:spLocks noGrp="1"/>
          </p:cNvSpPr>
          <p:nvPr>
            <p:ph type="ctrTitle"/>
          </p:nvPr>
        </p:nvSpPr>
        <p:spPr>
          <a:xfrm>
            <a:off x="1088913" y="1143293"/>
            <a:ext cx="7034362" cy="4268965"/>
          </a:xfrm>
        </p:spPr>
        <p:txBody>
          <a:bodyPr anchor="t">
            <a:normAutofit/>
          </a:bodyPr>
          <a:lstStyle>
            <a:lvl1pPr algn="l">
              <a:lnSpc>
                <a:spcPct val="85000"/>
              </a:lnSpc>
              <a:defRPr sz="77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1088914" y="5537925"/>
            <a:ext cx="7034362" cy="706355"/>
          </a:xfrm>
        </p:spPr>
        <p:txBody>
          <a:bodyPr>
            <a:normAutofit/>
          </a:bodyPr>
          <a:lstStyle>
            <a:lvl1pPr marL="0" indent="0" algn="l">
              <a:lnSpc>
                <a:spcPct val="114000"/>
              </a:lnSpc>
              <a:spcBef>
                <a:spcPts val="0"/>
              </a:spcBef>
              <a:buNone/>
              <a:defRPr sz="20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88913" y="6314440"/>
            <a:ext cx="1596622" cy="365125"/>
          </a:xfrm>
        </p:spPr>
        <p:txBody>
          <a:bodyPr/>
          <a:lstStyle>
            <a:lvl1pPr algn="l">
              <a:defRPr sz="1200">
                <a:solidFill>
                  <a:schemeClr val="tx2"/>
                </a:solidFill>
              </a:defRPr>
            </a:lvl1pPr>
          </a:lstStyle>
          <a:p>
            <a:fld id="{E6FF78DD-1AEF-45EE-ADB7-00EFB05CA623}" type="datetimeFigureOut">
              <a:rPr lang="en-AU" smtClean="0"/>
              <a:t>3/09/2019</a:t>
            </a:fld>
            <a:endParaRPr lang="en-AU"/>
          </a:p>
        </p:txBody>
      </p:sp>
      <p:sp>
        <p:nvSpPr>
          <p:cNvPr id="5" name="Footer Placeholder 4"/>
          <p:cNvSpPr>
            <a:spLocks noGrp="1"/>
          </p:cNvSpPr>
          <p:nvPr>
            <p:ph type="ftr" sz="quarter" idx="11"/>
          </p:nvPr>
        </p:nvSpPr>
        <p:spPr>
          <a:xfrm>
            <a:off x="3000591" y="6314440"/>
            <a:ext cx="5122683" cy="365125"/>
          </a:xfrm>
        </p:spPr>
        <p:txBody>
          <a:bodyPr/>
          <a:lstStyle>
            <a:lvl1pPr algn="l">
              <a:defRPr b="0">
                <a:solidFill>
                  <a:schemeClr val="tx2"/>
                </a:solidFill>
              </a:defRPr>
            </a:lvl1pPr>
          </a:lstStyle>
          <a:p>
            <a:endParaRPr lang="en-AU"/>
          </a:p>
        </p:txBody>
      </p:sp>
      <p:sp>
        <p:nvSpPr>
          <p:cNvPr id="6" name="Slide Number Placeholder 5"/>
          <p:cNvSpPr>
            <a:spLocks noGrp="1"/>
          </p:cNvSpPr>
          <p:nvPr>
            <p:ph type="sldNum" sz="quarter" idx="12"/>
          </p:nvPr>
        </p:nvSpPr>
        <p:spPr>
          <a:xfrm>
            <a:off x="11784011" y="1416216"/>
            <a:ext cx="407988" cy="365125"/>
          </a:xfrm>
        </p:spPr>
        <p:txBody>
          <a:bodyPr/>
          <a:lstStyle>
            <a:lvl1pPr algn="r">
              <a:defRPr>
                <a:solidFill>
                  <a:schemeClr val="bg2"/>
                </a:solidFill>
              </a:defRPr>
            </a:lvl1pPr>
          </a:lstStyle>
          <a:p>
            <a:fld id="{C4534710-16F9-456A-B9BB-85CA3C680095}" type="slidenum">
              <a:rPr lang="en-AU" smtClean="0"/>
              <a:t>‹#›</a:t>
            </a:fld>
            <a:endParaRPr lang="en-AU"/>
          </a:p>
        </p:txBody>
      </p:sp>
      <p:cxnSp>
        <p:nvCxnSpPr>
          <p:cNvPr id="9" name="Straight Connector 8" title="Verticle Rule Line"/>
          <p:cNvCxnSpPr/>
          <p:nvPr/>
        </p:nvCxnSpPr>
        <p:spPr>
          <a:xfrm>
            <a:off x="773855" y="1257300"/>
            <a:ext cx="0" cy="560070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169863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FF78DD-1AEF-45EE-ADB7-00EFB05CA623}" type="datetimeFigureOut">
              <a:rPr lang="en-AU" smtClean="0"/>
              <a:t>3/09/2019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3535320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all" baseline="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E6FF78DD-1AEF-45EE-ADB7-00EFB05CA623}" type="datetimeFigureOut">
              <a:rPr lang="en-AU" smtClean="0"/>
              <a:t>3/09/2019</a:t>
            </a:fld>
            <a:endParaRPr lang="en-AU"/>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AU"/>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C4534710-16F9-456A-B9BB-85CA3C680095}" type="slidenum">
              <a:rPr lang="en-AU" smtClean="0"/>
              <a:t>‹#›</a:t>
            </a:fld>
            <a:endParaRPr lang="en-AU"/>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6379377"/>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81600" y="540628"/>
            <a:ext cx="6248400" cy="248894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181600" y="3712467"/>
            <a:ext cx="6248400" cy="248222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FF78DD-1AEF-45EE-ADB7-00EFB05CA623}" type="datetimeFigureOut">
              <a:rPr lang="en-AU" smtClean="0"/>
              <a:t>3/09/2019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3221352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FF78DD-1AEF-45EE-ADB7-00EFB05CA623}" type="datetimeFigureOut">
              <a:rPr lang="en-AU" smtClean="0"/>
              <a:t>3/09/2019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610617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FF78DD-1AEF-45EE-ADB7-00EFB05CA623}" type="datetimeFigureOut">
              <a:rPr lang="en-AU" smtClean="0"/>
              <a:t>3/09/2019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2801949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F78DD-1AEF-45EE-ADB7-00EFB05CA623}" type="datetimeFigureOut">
              <a:rPr lang="en-AU" smtClean="0"/>
              <a:t>3/09/2019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2493386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5479"/>
            <a:ext cx="3838776" cy="1921022"/>
          </a:xfrm>
        </p:spPr>
        <p:txBody>
          <a:bodyPr anchor="t">
            <a:noAutofit/>
          </a:bodyPr>
          <a:lstStyle>
            <a:lvl1pPr>
              <a:lnSpc>
                <a:spcPct val="93000"/>
              </a:lnSpc>
              <a:defRPr sz="4000"/>
            </a:lvl1pPr>
          </a:lstStyle>
          <a:p>
            <a:r>
              <a:rPr lang="en-US"/>
              <a:t>Click to edit Master title style</a:t>
            </a:r>
            <a:endParaRPr lang="en-US" dirty="0"/>
          </a:p>
        </p:txBody>
      </p:sp>
      <p:sp>
        <p:nvSpPr>
          <p:cNvPr id="3" name="Content Placeholder 2"/>
          <p:cNvSpPr>
            <a:spLocks noGrp="1"/>
          </p:cNvSpPr>
          <p:nvPr>
            <p:ph idx="1"/>
          </p:nvPr>
        </p:nvSpPr>
        <p:spPr>
          <a:xfrm>
            <a:off x="5181600" y="564147"/>
            <a:ext cx="6248400" cy="5622644"/>
          </a:xfrm>
        </p:spPr>
        <p:txBody>
          <a:bodyPr/>
          <a:lstStyle>
            <a:lvl1pPr>
              <a:lnSpc>
                <a:spcPct val="112000"/>
              </a:lnSpc>
              <a:defRPr sz="2000"/>
            </a:lvl1pPr>
            <a:lvl2pPr>
              <a:lnSpc>
                <a:spcPct val="112000"/>
              </a:lnSpc>
              <a:defRPr sz="1800"/>
            </a:lvl2pPr>
            <a:lvl3pPr>
              <a:lnSpc>
                <a:spcPct val="112000"/>
              </a:lnSpc>
              <a:defRPr sz="1600"/>
            </a:lvl3pPr>
            <a:lvl4pPr>
              <a:lnSpc>
                <a:spcPct val="112000"/>
              </a:lnSpc>
              <a:defRPr sz="1400"/>
            </a:lvl4pPr>
            <a:lvl5pPr>
              <a:lnSpc>
                <a:spcPct val="112000"/>
              </a:lnSpc>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2000" y="2621512"/>
            <a:ext cx="3838776" cy="3239537"/>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FF78DD-1AEF-45EE-ADB7-00EFB05CA623}" type="datetimeFigureOut">
              <a:rPr lang="en-AU" smtClean="0"/>
              <a:t>3/09/2019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146373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58952" y="557261"/>
            <a:ext cx="3840480" cy="1919239"/>
          </a:xfrm>
        </p:spPr>
        <p:txBody>
          <a:bodyPr anchor="t">
            <a:noAutofit/>
          </a:bodyPr>
          <a:lstStyle>
            <a:lvl1pPr>
              <a:lnSpc>
                <a:spcPct val="93000"/>
              </a:lnSpc>
              <a:defRPr sz="40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57800" y="0"/>
            <a:ext cx="6172200"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58952" y="2621512"/>
            <a:ext cx="3840480" cy="3236976"/>
          </a:xfrm>
        </p:spPr>
        <p:txBody>
          <a:bodyPr/>
          <a:lstStyle>
            <a:lvl1pPr marL="0" indent="0" algn="r">
              <a:lnSpc>
                <a:spcPct val="125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6FF78DD-1AEF-45EE-ADB7-00EFB05CA623}" type="datetimeFigureOut">
              <a:rPr lang="en-AU" smtClean="0"/>
              <a:t>3/09/2019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3035288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181600" y="640080"/>
            <a:ext cx="6248398" cy="558414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FF78DD-1AEF-45EE-ADB7-00EFB05CA623}" type="datetimeFigureOut">
              <a:rPr lang="en-AU" smtClean="0"/>
              <a:t>3/09/2019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C4534710-16F9-456A-B9BB-85CA3C680095}" type="slidenum">
              <a:rPr lang="en-AU" smtClean="0"/>
              <a:t>‹#›</a:t>
            </a:fld>
            <a:endParaRPr lang="en-AU"/>
          </a:p>
        </p:txBody>
      </p:sp>
    </p:spTree>
    <p:extLst>
      <p:ext uri="{BB962C8B-B14F-4D97-AF65-F5344CB8AC3E}">
        <p14:creationId xmlns:p14="http://schemas.microsoft.com/office/powerpoint/2010/main" val="28712335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12"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rgbClr val="262626"/>
          </a:solidFill>
          <a:ln w="0">
            <a:noFill/>
            <a:prstDash val="solid"/>
            <a:round/>
            <a:headEnd/>
            <a:tailEnd/>
          </a:ln>
        </p:spPr>
      </p:sp>
      <p:sp>
        <p:nvSpPr>
          <p:cNvPr id="2" name="Vertical Title 1"/>
          <p:cNvSpPr>
            <a:spLocks noGrp="1"/>
          </p:cNvSpPr>
          <p:nvPr>
            <p:ph type="title" orient="vert"/>
          </p:nvPr>
        </p:nvSpPr>
        <p:spPr>
          <a:xfrm>
            <a:off x="7990765" y="642931"/>
            <a:ext cx="2446670" cy="467810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0" y="642932"/>
            <a:ext cx="7070678" cy="46781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536187" y="5927131"/>
            <a:ext cx="3814856" cy="365125"/>
          </a:xfrm>
        </p:spPr>
        <p:txBody>
          <a:bodyPr/>
          <a:lstStyle/>
          <a:p>
            <a:fld id="{E6FF78DD-1AEF-45EE-ADB7-00EFB05CA623}" type="datetimeFigureOut">
              <a:rPr lang="en-AU" smtClean="0"/>
              <a:t>3/09/2019</a:t>
            </a:fld>
            <a:endParaRPr lang="en-AU"/>
          </a:p>
        </p:txBody>
      </p:sp>
      <p:sp>
        <p:nvSpPr>
          <p:cNvPr id="5" name="Footer Placeholder 4"/>
          <p:cNvSpPr>
            <a:spLocks noGrp="1"/>
          </p:cNvSpPr>
          <p:nvPr>
            <p:ph type="ftr" sz="quarter" idx="11"/>
          </p:nvPr>
        </p:nvSpPr>
        <p:spPr>
          <a:xfrm>
            <a:off x="6536187" y="6315949"/>
            <a:ext cx="3814856" cy="365125"/>
          </a:xfrm>
        </p:spPr>
        <p:txBody>
          <a:bodyPr/>
          <a:lstStyle/>
          <a:p>
            <a:endParaRPr lang="en-AU"/>
          </a:p>
        </p:txBody>
      </p:sp>
      <p:sp>
        <p:nvSpPr>
          <p:cNvPr id="6" name="Slide Number Placeholder 5"/>
          <p:cNvSpPr>
            <a:spLocks noGrp="1"/>
          </p:cNvSpPr>
          <p:nvPr>
            <p:ph type="sldNum" sz="quarter" idx="12"/>
          </p:nvPr>
        </p:nvSpPr>
        <p:spPr>
          <a:xfrm>
            <a:off x="11784011" y="5607592"/>
            <a:ext cx="407988" cy="365125"/>
          </a:xfrm>
        </p:spPr>
        <p:txBody>
          <a:bodyPr/>
          <a:lstStyle/>
          <a:p>
            <a:fld id="{C4534710-16F9-456A-B9BB-85CA3C680095}" type="slidenum">
              <a:rPr lang="en-AU" smtClean="0"/>
              <a:t>‹#›</a:t>
            </a:fld>
            <a:endParaRPr lang="en-AU"/>
          </a:p>
        </p:txBody>
      </p:sp>
      <p:cxnSp>
        <p:nvCxnSpPr>
          <p:cNvPr id="13" name="Straight Connector 12" title="Horizontal Rule Line"/>
          <p:cNvCxnSpPr/>
          <p:nvPr/>
        </p:nvCxnSpPr>
        <p:spPr>
          <a:xfrm>
            <a:off x="0" y="6199730"/>
            <a:ext cx="10260011"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7569410"/>
      </p:ext>
    </p:extLst>
  </p:cSld>
  <p:clrMapOvr>
    <a:masterClrMapping/>
  </p:clrMapOvr>
  <p:extLst>
    <p:ext uri="{DCECCB84-F9BA-43D5-87BE-67443E8EF086}">
      <p15:sldGuideLst xmlns:p15="http://schemas.microsoft.com/office/powerpoint/2012/main">
        <p15:guide id="1" pos="6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E6FF78DD-1AEF-45EE-ADB7-00EFB05CA623}" type="datetimeFigureOut">
              <a:rPr lang="en-AU" smtClean="0"/>
              <a:t>3/09/2019</a:t>
            </a:fld>
            <a:endParaRPr lang="en-AU"/>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AU"/>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C4534710-16F9-456A-B9BB-85CA3C680095}" type="slidenum">
              <a:rPr lang="en-AU" smtClean="0"/>
              <a:t>‹#›</a:t>
            </a:fld>
            <a:endParaRPr lang="en-AU"/>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7604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cyclopedia.ushmm.org/content/en/oral-history/samuel-gruber-describes-a-german-girls-reaction-to-learning-that-he-was-jewish?parent=en%2F11128" TargetMode="External"/><Relationship Id="rId2" Type="http://schemas.openxmlformats.org/officeDocument/2006/relationships/hyperlink" Target="https://www.washingtonpost.com/news/morning-mix/wp/2014/07/07/the-perfect-aryan-child-the-nazis-used-in-propaganda-was-actually-jewish/?noredirect=on" TargetMode="External"/><Relationship Id="rId1" Type="http://schemas.openxmlformats.org/officeDocument/2006/relationships/slideLayout" Target="../slideLayouts/slideLayout2.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hyperlink" Target="https://encyclopedia.ushmm.org/content/en/photo/gerda-d-was-sterilized-after-a-disputed-diagnosis-of-schizophrenia?parent=en%2F9301"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encyclopedia.ushmm.org/content/en/photo/fritz-gluecksteins-family-on-an-outing?parent=en/11475" TargetMode="External"/><Relationship Id="rId2" Type="http://schemas.openxmlformats.org/officeDocument/2006/relationships/hyperlink" Target="https://encyclopedia.ushmm.org/content/en/film/nuremberg-laws-proclaimed?parent=en/11475" TargetMode="Externa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encyclopedia.ushmm.org/content/en/oral-history/johanna-gerechter-neumann-describes-kristallnacht-in-hamburg?parent=en/4063"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88913" y="1143294"/>
            <a:ext cx="7034362" cy="1683034"/>
          </a:xfrm>
        </p:spPr>
        <p:txBody>
          <a:bodyPr>
            <a:normAutofit/>
          </a:bodyPr>
          <a:lstStyle/>
          <a:p>
            <a:r>
              <a:rPr lang="en-AU" sz="5000" dirty="0"/>
              <a:t>Persecution of minorities</a:t>
            </a:r>
          </a:p>
        </p:txBody>
      </p:sp>
      <p:sp>
        <p:nvSpPr>
          <p:cNvPr id="3" name="Subtitle 2"/>
          <p:cNvSpPr>
            <a:spLocks noGrp="1"/>
          </p:cNvSpPr>
          <p:nvPr>
            <p:ph type="subTitle" idx="1"/>
          </p:nvPr>
        </p:nvSpPr>
        <p:spPr>
          <a:xfrm>
            <a:off x="1088914" y="3807228"/>
            <a:ext cx="7034362" cy="2437051"/>
          </a:xfrm>
        </p:spPr>
        <p:txBody>
          <a:bodyPr>
            <a:normAutofit/>
          </a:bodyPr>
          <a:lstStyle/>
          <a:p>
            <a:r>
              <a:rPr lang="en-AU" sz="3000" dirty="0"/>
              <a:t>The idea of the Aryan race</a:t>
            </a:r>
          </a:p>
          <a:p>
            <a:r>
              <a:rPr lang="en-AU" sz="3000" dirty="0"/>
              <a:t>Eugenics</a:t>
            </a:r>
          </a:p>
          <a:p>
            <a:r>
              <a:rPr lang="en-AU" sz="3000" dirty="0"/>
              <a:t>Nuremberg Laws</a:t>
            </a:r>
          </a:p>
          <a:p>
            <a:r>
              <a:rPr lang="en-AU" sz="3000" dirty="0"/>
              <a:t>Kristallnacht</a:t>
            </a:r>
          </a:p>
          <a:p>
            <a:endParaRPr lang="en-AU" dirty="0"/>
          </a:p>
        </p:txBody>
      </p:sp>
    </p:spTree>
    <p:extLst>
      <p:ext uri="{BB962C8B-B14F-4D97-AF65-F5344CB8AC3E}">
        <p14:creationId xmlns:p14="http://schemas.microsoft.com/office/powerpoint/2010/main" val="31360135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0B749-5934-4FE4-9CE7-3B6B92289780}"/>
              </a:ext>
            </a:extLst>
          </p:cNvPr>
          <p:cNvSpPr>
            <a:spLocks noGrp="1"/>
          </p:cNvSpPr>
          <p:nvPr>
            <p:ph type="title"/>
          </p:nvPr>
        </p:nvSpPr>
        <p:spPr>
          <a:xfrm>
            <a:off x="218661" y="480165"/>
            <a:ext cx="2471530" cy="4952492"/>
          </a:xfrm>
        </p:spPr>
        <p:txBody>
          <a:bodyPr/>
          <a:lstStyle/>
          <a:p>
            <a:r>
              <a:rPr lang="en-AU" dirty="0"/>
              <a:t>Origin of the Aryan</a:t>
            </a:r>
          </a:p>
        </p:txBody>
      </p:sp>
      <p:sp>
        <p:nvSpPr>
          <p:cNvPr id="3" name="Content Placeholder 2">
            <a:extLst>
              <a:ext uri="{FF2B5EF4-FFF2-40B4-BE49-F238E27FC236}">
                <a16:creationId xmlns:a16="http://schemas.microsoft.com/office/drawing/2014/main" id="{BF0D2C9F-4819-4A60-87F3-A255C00934DE}"/>
              </a:ext>
            </a:extLst>
          </p:cNvPr>
          <p:cNvSpPr>
            <a:spLocks noGrp="1"/>
          </p:cNvSpPr>
          <p:nvPr>
            <p:ph idx="1"/>
          </p:nvPr>
        </p:nvSpPr>
        <p:spPr>
          <a:xfrm>
            <a:off x="3061253" y="291547"/>
            <a:ext cx="8368746" cy="6188765"/>
          </a:xfrm>
        </p:spPr>
        <p:txBody>
          <a:bodyPr>
            <a:normAutofit/>
          </a:bodyPr>
          <a:lstStyle/>
          <a:p>
            <a:r>
              <a:rPr lang="en-US" dirty="0"/>
              <a:t>The word Aryan comes from the ancient languages of Iran and India. It was the term that ancient Indo-Iranian-speaking people likely used to identify themselves in the period around 2000 B.C.E. </a:t>
            </a:r>
          </a:p>
          <a:p>
            <a:r>
              <a:rPr lang="en-US" dirty="0"/>
              <a:t>It is thought to mean ‘a noble one’.</a:t>
            </a:r>
          </a:p>
          <a:p>
            <a:r>
              <a:rPr lang="en-US" dirty="0"/>
              <a:t>By the early 20th century, Alfred Rosenberg and other northern European "thinkers" had taken the idea of the pure Nordic Aryan and turned it into a "religion of the blood." </a:t>
            </a:r>
          </a:p>
          <a:p>
            <a:r>
              <a:rPr lang="en-US" dirty="0"/>
              <a:t>Calling for the annihilation of racially inferior, non-Aryan types of people in northern Europe - </a:t>
            </a:r>
            <a:r>
              <a:rPr lang="en-US" i="1" dirty="0" err="1"/>
              <a:t>Untermenschen</a:t>
            </a:r>
            <a:r>
              <a:rPr lang="en-US" dirty="0"/>
              <a:t>, or </a:t>
            </a:r>
            <a:r>
              <a:rPr lang="en-US" dirty="0" err="1"/>
              <a:t>subhumans</a:t>
            </a:r>
            <a:r>
              <a:rPr lang="en-US" dirty="0"/>
              <a:t>, included Jews, Roma, and Slavs, as well as Africans, Asians, and Native Americans.</a:t>
            </a:r>
          </a:p>
          <a:p>
            <a:r>
              <a:rPr lang="en-US" dirty="0"/>
              <a:t>It was a short step for Adolf Hitler and his lieutenants to move from these pseudoscientific ideas to the concept of a "Final Solution" for the preservation of so-called "Aryan" purity. In the end, this linguistic designation, combined with a heavy dose of Social Darwinism, gave them a perfect excuse for the Holocaust, in which the Nazis targeted the </a:t>
            </a:r>
            <a:r>
              <a:rPr lang="en-US" dirty="0" err="1"/>
              <a:t>Untermenschen</a:t>
            </a:r>
            <a:r>
              <a:rPr lang="en-US" dirty="0"/>
              <a:t> for death by the millions.</a:t>
            </a:r>
            <a:endParaRPr lang="en-AU" dirty="0"/>
          </a:p>
        </p:txBody>
      </p:sp>
    </p:spTree>
    <p:extLst>
      <p:ext uri="{BB962C8B-B14F-4D97-AF65-F5344CB8AC3E}">
        <p14:creationId xmlns:p14="http://schemas.microsoft.com/office/powerpoint/2010/main" val="258912213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DDC6-95FA-4310-B12B-C293D79096B7}"/>
              </a:ext>
            </a:extLst>
          </p:cNvPr>
          <p:cNvSpPr>
            <a:spLocks noGrp="1"/>
          </p:cNvSpPr>
          <p:nvPr>
            <p:ph type="title"/>
          </p:nvPr>
        </p:nvSpPr>
        <p:spPr/>
        <p:txBody>
          <a:bodyPr/>
          <a:lstStyle/>
          <a:p>
            <a:r>
              <a:rPr lang="en-AU" dirty="0"/>
              <a:t>Hitler’s Aryans</a:t>
            </a:r>
          </a:p>
        </p:txBody>
      </p:sp>
      <p:sp>
        <p:nvSpPr>
          <p:cNvPr id="3" name="Content Placeholder 2">
            <a:extLst>
              <a:ext uri="{FF2B5EF4-FFF2-40B4-BE49-F238E27FC236}">
                <a16:creationId xmlns:a16="http://schemas.microsoft.com/office/drawing/2014/main" id="{537EA902-FB52-49AE-9C20-15D8AD5404D9}"/>
              </a:ext>
            </a:extLst>
          </p:cNvPr>
          <p:cNvSpPr>
            <a:spLocks noGrp="1"/>
          </p:cNvSpPr>
          <p:nvPr>
            <p:ph idx="1"/>
          </p:nvPr>
        </p:nvSpPr>
        <p:spPr>
          <a:xfrm>
            <a:off x="5181600" y="569066"/>
            <a:ext cx="6248398" cy="4254725"/>
          </a:xfrm>
        </p:spPr>
        <p:txBody>
          <a:bodyPr>
            <a:normAutofit/>
          </a:bodyPr>
          <a:lstStyle/>
          <a:p>
            <a:pPr marL="0" indent="0">
              <a:buNone/>
            </a:pPr>
            <a:r>
              <a:rPr lang="en-US" sz="1000" dirty="0">
                <a:hlinkClick r:id="rId2"/>
              </a:rPr>
              <a:t>https://www.washingtonpost.com/news/morning-mix/wp/2014/07/07/the-perfect-aryan-child-the-nazis-used-in-propaganda-was-actually-jewish/?noredirect=on</a:t>
            </a:r>
            <a:r>
              <a:rPr lang="en-US" sz="1000" dirty="0"/>
              <a:t> </a:t>
            </a:r>
          </a:p>
          <a:p>
            <a:pPr marL="0" indent="0">
              <a:buNone/>
            </a:pPr>
            <a:endParaRPr lang="en-US" sz="2500" dirty="0"/>
          </a:p>
          <a:p>
            <a:r>
              <a:rPr lang="en-US" sz="2500" dirty="0"/>
              <a:t>For Hitler, the ideal "Aryan" was blond, blue-eyed, and tall.</a:t>
            </a:r>
          </a:p>
          <a:p>
            <a:r>
              <a:rPr lang="en-US" sz="2500" dirty="0"/>
              <a:t>Tests were developed to decide who were ideal Aryans.</a:t>
            </a:r>
          </a:p>
          <a:p>
            <a:pPr lvl="1"/>
            <a:r>
              <a:rPr lang="en-US" sz="2500" dirty="0"/>
              <a:t>Matching hair </a:t>
            </a:r>
            <a:r>
              <a:rPr lang="en-US" sz="2500" dirty="0" err="1"/>
              <a:t>colours</a:t>
            </a:r>
            <a:endParaRPr lang="en-US" sz="2500" dirty="0"/>
          </a:p>
          <a:p>
            <a:pPr lvl="1"/>
            <a:r>
              <a:rPr lang="en-US" sz="2500" dirty="0"/>
              <a:t>Measuring dimensions of the face</a:t>
            </a:r>
          </a:p>
        </p:txBody>
      </p:sp>
      <p:sp>
        <p:nvSpPr>
          <p:cNvPr id="4" name="TextBox 3">
            <a:extLst>
              <a:ext uri="{FF2B5EF4-FFF2-40B4-BE49-F238E27FC236}">
                <a16:creationId xmlns:a16="http://schemas.microsoft.com/office/drawing/2014/main" id="{02601681-6C65-4FFF-B412-05FF11A1CA23}"/>
              </a:ext>
            </a:extLst>
          </p:cNvPr>
          <p:cNvSpPr txBox="1"/>
          <p:nvPr/>
        </p:nvSpPr>
        <p:spPr>
          <a:xfrm>
            <a:off x="5267737" y="5103674"/>
            <a:ext cx="6195391" cy="1754326"/>
          </a:xfrm>
          <a:prstGeom prst="rect">
            <a:avLst/>
          </a:prstGeom>
          <a:noFill/>
        </p:spPr>
        <p:txBody>
          <a:bodyPr wrap="square" rtlCol="0">
            <a:spAutoFit/>
          </a:bodyPr>
          <a:lstStyle/>
          <a:p>
            <a:r>
              <a:rPr lang="en-US" dirty="0"/>
              <a:t>SAMUEL GRUBER DESCRIBES A GERMAN GIRL'S REACTION TO LEARNING THAT HE WAS JEWISH: </a:t>
            </a:r>
            <a:r>
              <a:rPr lang="en-US" dirty="0">
                <a:hlinkClick r:id="rId3"/>
              </a:rPr>
              <a:t>https://encyclopedia.ushmm.org/content/en/oral-history/samuel-gruber-describes-a-german-girls-reaction-to-learning-that-he-was-jewish?parent=en%2F11128</a:t>
            </a:r>
            <a:r>
              <a:rPr lang="en-US" dirty="0"/>
              <a:t> </a:t>
            </a:r>
          </a:p>
          <a:p>
            <a:endParaRPr lang="en-AU" dirty="0"/>
          </a:p>
        </p:txBody>
      </p:sp>
      <p:pic>
        <p:nvPicPr>
          <p:cNvPr id="1026" name="Picture 2" descr="Image result for nazi aryan">
            <a:extLst>
              <a:ext uri="{FF2B5EF4-FFF2-40B4-BE49-F238E27FC236}">
                <a16:creationId xmlns:a16="http://schemas.microsoft.com/office/drawing/2014/main" id="{D4F57C46-E534-4B40-A32A-529CF1A5540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60355" y="2746840"/>
            <a:ext cx="1894359" cy="3038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754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89829-CAB1-4A54-B340-00004AA06F73}"/>
              </a:ext>
            </a:extLst>
          </p:cNvPr>
          <p:cNvSpPr>
            <a:spLocks noGrp="1"/>
          </p:cNvSpPr>
          <p:nvPr>
            <p:ph type="title"/>
          </p:nvPr>
        </p:nvSpPr>
        <p:spPr/>
        <p:txBody>
          <a:bodyPr/>
          <a:lstStyle/>
          <a:p>
            <a:r>
              <a:rPr lang="en-AU" dirty="0"/>
              <a:t>The Nazi Race, 1929</a:t>
            </a:r>
          </a:p>
        </p:txBody>
      </p:sp>
      <p:sp>
        <p:nvSpPr>
          <p:cNvPr id="3" name="Content Placeholder 2">
            <a:extLst>
              <a:ext uri="{FF2B5EF4-FFF2-40B4-BE49-F238E27FC236}">
                <a16:creationId xmlns:a16="http://schemas.microsoft.com/office/drawing/2014/main" id="{B5F94D8C-2682-439D-B3EA-D8670E148BD9}"/>
              </a:ext>
            </a:extLst>
          </p:cNvPr>
          <p:cNvSpPr>
            <a:spLocks noGrp="1"/>
          </p:cNvSpPr>
          <p:nvPr>
            <p:ph idx="1"/>
          </p:nvPr>
        </p:nvSpPr>
        <p:spPr/>
        <p:txBody>
          <a:bodyPr>
            <a:normAutofit/>
          </a:bodyPr>
          <a:lstStyle/>
          <a:p>
            <a:pPr marL="0" indent="0">
              <a:lnSpc>
                <a:spcPct val="150000"/>
              </a:lnSpc>
              <a:buNone/>
            </a:pPr>
            <a:r>
              <a:rPr lang="en-AU" sz="2500" dirty="0"/>
              <a:t>“The Nordic (Aryan) race is tall, long-legged, slim…male height of above 1.74m. The race is narrow-faced with a narrow forehead, a narrow high-built nose and a lower jaw and prominent chin, the skin is rosy bright and blood shines through…the hair is smooth, straight or wavy – possibly curly in childhood. The colour is blonde.”</a:t>
            </a:r>
          </a:p>
        </p:txBody>
      </p:sp>
    </p:spTree>
    <p:extLst>
      <p:ext uri="{BB962C8B-B14F-4D97-AF65-F5344CB8AC3E}">
        <p14:creationId xmlns:p14="http://schemas.microsoft.com/office/powerpoint/2010/main" val="29028852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t;p&gt;The Nazis used public displays to spread their ideas of race. The chart shown here is titled &quot;The Biology of Growth,&quot; and is labeled &quot;Stages of Growth for Members of the Nordic Race.&quot;&lt;/p&gt;">
            <a:extLst>
              <a:ext uri="{FF2B5EF4-FFF2-40B4-BE49-F238E27FC236}">
                <a16:creationId xmlns:a16="http://schemas.microsoft.com/office/drawing/2014/main" id="{5E57192F-23D2-4BFE-B1C8-35AAE12D5B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0"/>
            <a:ext cx="9312639"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2759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lt;p&gt;Establishing racial descent by measuring an ear at the Kaiser Wilhelm Institute for Anthropology. Germany, date uncertain.&lt;/p&gt;">
            <a:extLst>
              <a:ext uri="{FF2B5EF4-FFF2-40B4-BE49-F238E27FC236}">
                <a16:creationId xmlns:a16="http://schemas.microsoft.com/office/drawing/2014/main" id="{DFD5BE1F-F148-400E-A69E-2446B3375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4772025" cy="687023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lt;p&gt;At the Kaiser Wilhelm Institute for Anthropology, Human Genetics, and Eugenics, a racial hygienist measures a woman's features in an attempt to determine her racial ancestry. Berlin, Germany, date uncertain.&lt;/p&gt;">
            <a:extLst>
              <a:ext uri="{FF2B5EF4-FFF2-40B4-BE49-F238E27FC236}">
                <a16:creationId xmlns:a16="http://schemas.microsoft.com/office/drawing/2014/main" id="{67B4E8D0-1FBC-43C2-8A4E-7A096E5837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4963" y="309563"/>
            <a:ext cx="6467475" cy="47023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815284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BC86E-D251-41DE-A3B2-64E4B130DA3F}"/>
              </a:ext>
            </a:extLst>
          </p:cNvPr>
          <p:cNvSpPr>
            <a:spLocks noGrp="1"/>
          </p:cNvSpPr>
          <p:nvPr>
            <p:ph type="title"/>
          </p:nvPr>
        </p:nvSpPr>
        <p:spPr/>
        <p:txBody>
          <a:bodyPr/>
          <a:lstStyle/>
          <a:p>
            <a:r>
              <a:rPr lang="en-AU" dirty="0"/>
              <a:t>Eugenics </a:t>
            </a:r>
          </a:p>
        </p:txBody>
      </p:sp>
      <p:sp>
        <p:nvSpPr>
          <p:cNvPr id="3" name="Content Placeholder 2">
            <a:extLst>
              <a:ext uri="{FF2B5EF4-FFF2-40B4-BE49-F238E27FC236}">
                <a16:creationId xmlns:a16="http://schemas.microsoft.com/office/drawing/2014/main" id="{FE51E57F-EDB8-47D5-88BA-7161161F5DD7}"/>
              </a:ext>
            </a:extLst>
          </p:cNvPr>
          <p:cNvSpPr>
            <a:spLocks noGrp="1"/>
          </p:cNvSpPr>
          <p:nvPr>
            <p:ph idx="1"/>
          </p:nvPr>
        </p:nvSpPr>
        <p:spPr/>
        <p:txBody>
          <a:bodyPr/>
          <a:lstStyle/>
          <a:p>
            <a:r>
              <a:rPr lang="en-US" dirty="0"/>
              <a:t>The science of improving a population by controlled breeding to increase the occurrence of desirable heritable characteristics.</a:t>
            </a:r>
          </a:p>
          <a:p>
            <a:r>
              <a:rPr lang="en-US" dirty="0"/>
              <a:t>Nazi policy encouraged racially "acceptable" couples to have as many children as possible.</a:t>
            </a:r>
          </a:p>
          <a:p>
            <a:r>
              <a:rPr lang="en-US" dirty="0"/>
              <a:t>On July 14, 1933, the Nazi dictatorship fulfilled the long-held dreams of eugenics proponents by enacting the Law for the Prevention of Genetically Diseased Offspring, based on a voluntary sterilization law drafted by Prussian health officials in 1932. </a:t>
            </a:r>
          </a:p>
          <a:p>
            <a:pPr marL="0" indent="0">
              <a:buNone/>
            </a:pPr>
            <a:endParaRPr lang="en-US" dirty="0"/>
          </a:p>
          <a:p>
            <a:pPr marL="0" indent="0">
              <a:buNone/>
            </a:pPr>
            <a:r>
              <a:rPr lang="en-AU" dirty="0">
                <a:hlinkClick r:id="rId2"/>
              </a:rPr>
              <a:t>https://encyclopedia.ushmm.org/content/en/photo/gerda-d-was-sterilized-after-a-disputed-diagnosis-of-schizophrenia?parent=en%2F9301</a:t>
            </a:r>
            <a:endParaRPr lang="en-AU" dirty="0"/>
          </a:p>
        </p:txBody>
      </p:sp>
      <p:pic>
        <p:nvPicPr>
          <p:cNvPr id="4098" name="Picture 2" descr="Image result for nazi eugenics">
            <a:extLst>
              <a:ext uri="{FF2B5EF4-FFF2-40B4-BE49-F238E27FC236}">
                <a16:creationId xmlns:a16="http://schemas.microsoft.com/office/drawing/2014/main" id="{564CD53B-9224-4839-8EB5-BDD67EF8B0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66" y="2548765"/>
            <a:ext cx="4184374" cy="2353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2726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B2BF-53AE-4F17-8D02-D5C09407220D}"/>
              </a:ext>
            </a:extLst>
          </p:cNvPr>
          <p:cNvSpPr>
            <a:spLocks noGrp="1"/>
          </p:cNvSpPr>
          <p:nvPr>
            <p:ph type="title"/>
          </p:nvPr>
        </p:nvSpPr>
        <p:spPr/>
        <p:txBody>
          <a:bodyPr/>
          <a:lstStyle/>
          <a:p>
            <a:r>
              <a:rPr lang="en-AU" dirty="0"/>
              <a:t>Nuremberg laws</a:t>
            </a:r>
          </a:p>
        </p:txBody>
      </p:sp>
      <p:sp>
        <p:nvSpPr>
          <p:cNvPr id="3" name="Content Placeholder 2">
            <a:extLst>
              <a:ext uri="{FF2B5EF4-FFF2-40B4-BE49-F238E27FC236}">
                <a16:creationId xmlns:a16="http://schemas.microsoft.com/office/drawing/2014/main" id="{A461F272-0EB2-4C52-864C-6FC4EA1C0C88}"/>
              </a:ext>
            </a:extLst>
          </p:cNvPr>
          <p:cNvSpPr>
            <a:spLocks noGrp="1"/>
          </p:cNvSpPr>
          <p:nvPr>
            <p:ph idx="1"/>
          </p:nvPr>
        </p:nvSpPr>
        <p:spPr>
          <a:xfrm>
            <a:off x="5181600" y="251791"/>
            <a:ext cx="6248398" cy="6427305"/>
          </a:xfrm>
        </p:spPr>
        <p:txBody>
          <a:bodyPr>
            <a:normAutofit/>
          </a:bodyPr>
          <a:lstStyle/>
          <a:p>
            <a:r>
              <a:rPr lang="en-US" dirty="0"/>
              <a:t>Two distinct laws passed in Nazi Germany in September 1935 are known collectively as the Nuremberg Laws: the Reich Citizenship Law and the Law for the Protection of German Blood and German Honor. </a:t>
            </a:r>
          </a:p>
          <a:p>
            <a:r>
              <a:rPr lang="en-US" dirty="0"/>
              <a:t>These laws embodied many of the racial theories underpinning Nazi ideology. </a:t>
            </a:r>
          </a:p>
          <a:p>
            <a:r>
              <a:rPr lang="en-US" dirty="0"/>
              <a:t>They would provide the legal framework for the systematic persecution of Jews in Germany.</a:t>
            </a:r>
          </a:p>
          <a:p>
            <a:r>
              <a:rPr lang="en-US" dirty="0"/>
              <a:t>According to the Reich Citizenship Law and many clarifying decrees on its implementation, only people of “German or kindred blood” could be citizens of Germany. The law defined who was and was not a German, and who was and was not a Jew. The Nazis rejected the traditional view of Jews as members of a religious or cultural community. They claimed instead that Jews were a race defined by birth and by blood.</a:t>
            </a:r>
          </a:p>
        </p:txBody>
      </p:sp>
      <p:sp>
        <p:nvSpPr>
          <p:cNvPr id="4" name="TextBox 3">
            <a:extLst>
              <a:ext uri="{FF2B5EF4-FFF2-40B4-BE49-F238E27FC236}">
                <a16:creationId xmlns:a16="http://schemas.microsoft.com/office/drawing/2014/main" id="{C2D6E8EC-8B9C-4C9D-B42A-5ACE6A8D169A}"/>
              </a:ext>
            </a:extLst>
          </p:cNvPr>
          <p:cNvSpPr txBox="1"/>
          <p:nvPr/>
        </p:nvSpPr>
        <p:spPr>
          <a:xfrm>
            <a:off x="318052" y="4943061"/>
            <a:ext cx="4399722" cy="861774"/>
          </a:xfrm>
          <a:prstGeom prst="rect">
            <a:avLst/>
          </a:prstGeom>
          <a:noFill/>
        </p:spPr>
        <p:txBody>
          <a:bodyPr wrap="square" rtlCol="0">
            <a:spAutoFit/>
          </a:bodyPr>
          <a:lstStyle/>
          <a:p>
            <a:r>
              <a:rPr lang="en-AU" sz="1000" dirty="0">
                <a:hlinkClick r:id="rId2"/>
              </a:rPr>
              <a:t>https://encyclopedia.ushmm.org/content/en/film/nuremberg-laws-proclaimed?parent=en%2F11475</a:t>
            </a:r>
            <a:endParaRPr lang="en-AU" sz="1000" dirty="0"/>
          </a:p>
          <a:p>
            <a:endParaRPr lang="en-AU" sz="1000" dirty="0"/>
          </a:p>
          <a:p>
            <a:r>
              <a:rPr lang="en-AU" sz="1000" dirty="0">
                <a:hlinkClick r:id="rId3"/>
              </a:rPr>
              <a:t>https://encyclopedia.ushmm.org/content/en/photo/fritz-gluecksteins-family-on-an-outing?parent=en%2F11475</a:t>
            </a:r>
            <a:r>
              <a:rPr lang="en-AU" sz="1000" dirty="0"/>
              <a:t> </a:t>
            </a:r>
          </a:p>
        </p:txBody>
      </p:sp>
      <p:pic>
        <p:nvPicPr>
          <p:cNvPr id="5122" name="Picture 2" descr="Image result for nuremberg laws">
            <a:extLst>
              <a:ext uri="{FF2B5EF4-FFF2-40B4-BE49-F238E27FC236}">
                <a16:creationId xmlns:a16="http://schemas.microsoft.com/office/drawing/2014/main" id="{07EED4BF-D66C-488F-88F0-7C4BC8269A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7921" y="2253775"/>
            <a:ext cx="3142064" cy="2100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59517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Image result for nuremberg laws">
            <a:extLst>
              <a:ext uri="{FF2B5EF4-FFF2-40B4-BE49-F238E27FC236}">
                <a16:creationId xmlns:a16="http://schemas.microsoft.com/office/drawing/2014/main" id="{D83E06D1-EA1C-4E44-B0D0-3A3A5005A9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570" y="749576"/>
            <a:ext cx="5482229" cy="366526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result for nuremberg laws">
            <a:extLst>
              <a:ext uri="{FF2B5EF4-FFF2-40B4-BE49-F238E27FC236}">
                <a16:creationId xmlns:a16="http://schemas.microsoft.com/office/drawing/2014/main" id="{3A389B28-ED3C-41F8-B8F3-82F569B99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646" y="642937"/>
            <a:ext cx="6403354" cy="451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515549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B0A40B-08BD-46CF-830F-000DF7A826FD}"/>
              </a:ext>
            </a:extLst>
          </p:cNvPr>
          <p:cNvSpPr>
            <a:spLocks noGrp="1"/>
          </p:cNvSpPr>
          <p:nvPr>
            <p:ph idx="1"/>
          </p:nvPr>
        </p:nvSpPr>
        <p:spPr>
          <a:xfrm>
            <a:off x="280987" y="311427"/>
            <a:ext cx="5496961" cy="6346547"/>
          </a:xfrm>
          <a:solidFill>
            <a:schemeClr val="tx2">
              <a:lumMod val="10000"/>
              <a:lumOff val="90000"/>
            </a:schemeClr>
          </a:solidFill>
        </p:spPr>
        <p:txBody>
          <a:bodyPr>
            <a:normAutofit fontScale="92500" lnSpcReduction="20000"/>
          </a:bodyPr>
          <a:lstStyle/>
          <a:p>
            <a:pPr marL="0" indent="0">
              <a:buNone/>
            </a:pPr>
            <a:r>
              <a:rPr lang="en-AU" sz="2900" dirty="0"/>
              <a:t>How did the Nazis treat the Jews from 1933 to 1939?</a:t>
            </a:r>
          </a:p>
          <a:p>
            <a:pPr marL="0" indent="0">
              <a:buNone/>
            </a:pPr>
            <a:r>
              <a:rPr lang="en-AU" dirty="0"/>
              <a:t>1933</a:t>
            </a:r>
          </a:p>
          <a:p>
            <a:pPr marL="0" indent="0">
              <a:buNone/>
            </a:pPr>
            <a:r>
              <a:rPr lang="en-AU" b="1" dirty="0"/>
              <a:t>April</a:t>
            </a:r>
            <a:r>
              <a:rPr lang="en-AU" dirty="0"/>
              <a:t> – Official one-day boycott of Jewish shops, lawyers and doctors all over Germany.</a:t>
            </a:r>
          </a:p>
          <a:p>
            <a:pPr marL="0" indent="0">
              <a:buNone/>
            </a:pPr>
            <a:endParaRPr lang="en-AU" dirty="0"/>
          </a:p>
          <a:p>
            <a:pPr marL="0" indent="0">
              <a:buNone/>
            </a:pPr>
            <a:r>
              <a:rPr lang="en-AU" dirty="0"/>
              <a:t>1934</a:t>
            </a:r>
          </a:p>
          <a:p>
            <a:pPr marL="0" indent="0">
              <a:buNone/>
            </a:pPr>
            <a:r>
              <a:rPr lang="en-AU" dirty="0"/>
              <a:t>Anti-Jewish propaganda increased.</a:t>
            </a:r>
          </a:p>
          <a:p>
            <a:pPr marL="0" indent="0">
              <a:buNone/>
            </a:pPr>
            <a:endParaRPr lang="en-AU" dirty="0"/>
          </a:p>
          <a:p>
            <a:pPr marL="0" indent="0">
              <a:buNone/>
            </a:pPr>
            <a:r>
              <a:rPr lang="en-AU" dirty="0"/>
              <a:t>1935</a:t>
            </a:r>
          </a:p>
          <a:p>
            <a:pPr marL="0" indent="0">
              <a:buNone/>
            </a:pPr>
            <a:r>
              <a:rPr lang="en-AU" b="1" dirty="0"/>
              <a:t>May</a:t>
            </a:r>
            <a:r>
              <a:rPr lang="en-AU" dirty="0"/>
              <a:t> – Jew forbidden to join the army.</a:t>
            </a:r>
          </a:p>
          <a:p>
            <a:pPr marL="0" indent="0">
              <a:buNone/>
            </a:pPr>
            <a:r>
              <a:rPr lang="en-AU" b="1" dirty="0"/>
              <a:t>September</a:t>
            </a:r>
            <a:r>
              <a:rPr lang="en-AU" dirty="0"/>
              <a:t> – The Nuremberg Laws; Law for the Protection of German Blood and Honour – banned marriages between Jews and Aryans, and forbade them to have sexual relations outside of marriage. Reich Citizenship Law – made Jews ‘subjects’ rather than citizens and they lost certain rights.</a:t>
            </a:r>
          </a:p>
          <a:p>
            <a:pPr marL="0" indent="0">
              <a:buNone/>
            </a:pPr>
            <a:endParaRPr lang="en-AU" dirty="0"/>
          </a:p>
        </p:txBody>
      </p:sp>
      <p:sp>
        <p:nvSpPr>
          <p:cNvPr id="4" name="Content Placeholder 2">
            <a:extLst>
              <a:ext uri="{FF2B5EF4-FFF2-40B4-BE49-F238E27FC236}">
                <a16:creationId xmlns:a16="http://schemas.microsoft.com/office/drawing/2014/main" id="{D84A904B-DB31-41CF-93AD-3343251EB79D}"/>
              </a:ext>
            </a:extLst>
          </p:cNvPr>
          <p:cNvSpPr txBox="1">
            <a:spLocks/>
          </p:cNvSpPr>
          <p:nvPr/>
        </p:nvSpPr>
        <p:spPr>
          <a:xfrm>
            <a:off x="5950226" y="311427"/>
            <a:ext cx="5936972" cy="6346546"/>
          </a:xfrm>
          <a:prstGeom prst="rect">
            <a:avLst/>
          </a:prstGeom>
          <a:solidFill>
            <a:schemeClr val="tx2">
              <a:lumMod val="10000"/>
              <a:lumOff val="90000"/>
            </a:schemeClr>
          </a:solidFill>
        </p:spPr>
        <p:txBody>
          <a:bodyPr vert="horz" lIns="91440" tIns="45720" rIns="91440" bIns="45720" rtlCol="0">
            <a:normAutofit fontScale="85000" lnSpcReduction="10000"/>
          </a:bodyPr>
          <a:lst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a:lstStyle>
          <a:p>
            <a:pPr marL="0" indent="0">
              <a:buNone/>
            </a:pPr>
            <a:r>
              <a:rPr lang="en-AU" dirty="0"/>
              <a:t>1936</a:t>
            </a:r>
          </a:p>
          <a:p>
            <a:pPr marL="0" indent="0">
              <a:buNone/>
            </a:pPr>
            <a:r>
              <a:rPr lang="en-AU" dirty="0"/>
              <a:t>There was a lull in the anti-Jewish campaign as the Berlin Olympics were taking place, anti-Jewish signs were taken down.</a:t>
            </a:r>
          </a:p>
          <a:p>
            <a:pPr marL="0" indent="0">
              <a:buNone/>
            </a:pPr>
            <a:endParaRPr lang="en-AU" dirty="0"/>
          </a:p>
          <a:p>
            <a:pPr marL="0" indent="0">
              <a:buNone/>
            </a:pPr>
            <a:r>
              <a:rPr lang="en-AU" dirty="0"/>
              <a:t>1937</a:t>
            </a:r>
          </a:p>
          <a:p>
            <a:pPr marL="0" indent="0">
              <a:buNone/>
            </a:pPr>
            <a:r>
              <a:rPr lang="en-AU" b="1" dirty="0"/>
              <a:t>September</a:t>
            </a:r>
            <a:r>
              <a:rPr lang="en-AU" dirty="0"/>
              <a:t> – For the first time in two years, Hitler made an outspoken attack on the Jews. The </a:t>
            </a:r>
            <a:r>
              <a:rPr lang="en-AU" dirty="0" err="1"/>
              <a:t>Aryanisation</a:t>
            </a:r>
            <a:r>
              <a:rPr lang="en-AU" dirty="0"/>
              <a:t> of business was stepped up – more Jewish businesses were confiscated.</a:t>
            </a:r>
          </a:p>
          <a:p>
            <a:pPr marL="0" indent="0">
              <a:buNone/>
            </a:pPr>
            <a:endParaRPr lang="en-AU" dirty="0"/>
          </a:p>
          <a:p>
            <a:pPr marL="0" indent="0">
              <a:buNone/>
            </a:pPr>
            <a:r>
              <a:rPr lang="en-AU" dirty="0"/>
              <a:t>1938</a:t>
            </a:r>
          </a:p>
          <a:p>
            <a:pPr marL="0" indent="0">
              <a:buNone/>
            </a:pPr>
            <a:r>
              <a:rPr lang="en-AU" b="1" dirty="0"/>
              <a:t>April </a:t>
            </a:r>
            <a:r>
              <a:rPr lang="en-AU" dirty="0"/>
              <a:t>– Jews had to register their property, making it easier to confiscate.</a:t>
            </a:r>
          </a:p>
          <a:p>
            <a:pPr marL="0" indent="0">
              <a:buNone/>
            </a:pPr>
            <a:r>
              <a:rPr lang="en-AU" b="1" dirty="0"/>
              <a:t>June-July</a:t>
            </a:r>
            <a:r>
              <a:rPr lang="en-AU" dirty="0"/>
              <a:t> – Jewish doctors, dentists and lawyers were forbidden to treat Aryans.</a:t>
            </a:r>
          </a:p>
          <a:p>
            <a:pPr marL="0" indent="0">
              <a:buNone/>
            </a:pPr>
            <a:r>
              <a:rPr lang="en-AU" b="1" dirty="0"/>
              <a:t>October</a:t>
            </a:r>
            <a:r>
              <a:rPr lang="en-AU" dirty="0"/>
              <a:t> – Jews had to have a red letter ‘J’ stamped on their passports.</a:t>
            </a:r>
          </a:p>
          <a:p>
            <a:pPr marL="0" indent="0">
              <a:buNone/>
            </a:pPr>
            <a:r>
              <a:rPr lang="en-AU" b="1" dirty="0"/>
              <a:t>9-10 November </a:t>
            </a:r>
            <a:r>
              <a:rPr lang="en-AU" dirty="0"/>
              <a:t>– Kristallnacht; Nazis destroyed synagogues, Jewish homes and shops.</a:t>
            </a:r>
          </a:p>
        </p:txBody>
      </p:sp>
    </p:spTree>
    <p:extLst>
      <p:ext uri="{BB962C8B-B14F-4D97-AF65-F5344CB8AC3E}">
        <p14:creationId xmlns:p14="http://schemas.microsoft.com/office/powerpoint/2010/main" val="126298881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A9889-C7B9-4764-8B09-03C2EFF5DC21}"/>
              </a:ext>
            </a:extLst>
          </p:cNvPr>
          <p:cNvSpPr>
            <a:spLocks noGrp="1"/>
          </p:cNvSpPr>
          <p:nvPr>
            <p:ph type="title"/>
          </p:nvPr>
        </p:nvSpPr>
        <p:spPr>
          <a:xfrm>
            <a:off x="437322" y="559678"/>
            <a:ext cx="4158584" cy="4952492"/>
          </a:xfrm>
        </p:spPr>
        <p:txBody>
          <a:bodyPr/>
          <a:lstStyle/>
          <a:p>
            <a:r>
              <a:rPr lang="en-AU" dirty="0"/>
              <a:t>Kristallnacht</a:t>
            </a:r>
          </a:p>
        </p:txBody>
      </p:sp>
      <p:sp>
        <p:nvSpPr>
          <p:cNvPr id="3" name="Content Placeholder 2">
            <a:extLst>
              <a:ext uri="{FF2B5EF4-FFF2-40B4-BE49-F238E27FC236}">
                <a16:creationId xmlns:a16="http://schemas.microsoft.com/office/drawing/2014/main" id="{B4494190-7672-4FEC-951B-A8D51B0E23C0}"/>
              </a:ext>
            </a:extLst>
          </p:cNvPr>
          <p:cNvSpPr>
            <a:spLocks noGrp="1"/>
          </p:cNvSpPr>
          <p:nvPr>
            <p:ph idx="1"/>
          </p:nvPr>
        </p:nvSpPr>
        <p:spPr/>
        <p:txBody>
          <a:bodyPr>
            <a:normAutofit lnSpcReduction="10000"/>
          </a:bodyPr>
          <a:lstStyle/>
          <a:p>
            <a:r>
              <a:rPr lang="en-US" sz="2200" dirty="0"/>
              <a:t>On November 9–10, 1938, Nazi leaders unleashed a series of attacks against the Jewish population in Germany .</a:t>
            </a:r>
          </a:p>
          <a:p>
            <a:r>
              <a:rPr lang="en-US" sz="2200" dirty="0"/>
              <a:t>This event came to be called Kristallnacht (The Night of Broken Glass) because of the shattered glass that littered the streets after the vandalism and destruction of Jewish-owned businesses, synagogues, and homes. </a:t>
            </a:r>
          </a:p>
          <a:p>
            <a:r>
              <a:rPr lang="en-US" sz="2200" dirty="0"/>
              <a:t>During the attacks, some 30,000 Jewish males were rounded up and taken to concentration camps. This unprecedented violence against the Reich’s Jews generated international outrage.</a:t>
            </a:r>
          </a:p>
          <a:p>
            <a:pPr marL="0" indent="0">
              <a:buNone/>
            </a:pPr>
            <a:endParaRPr lang="en-US" dirty="0"/>
          </a:p>
          <a:p>
            <a:pPr marL="0" indent="0">
              <a:buNone/>
            </a:pPr>
            <a:r>
              <a:rPr lang="en-AU" sz="1000" dirty="0">
                <a:hlinkClick r:id="rId2"/>
              </a:rPr>
              <a:t>https://encyclopedia.ushmm.org/content/en/oral-history/johanna-gerechter-neumann-describes-kristallnacht-in-hamburg?parent=en%2F4063</a:t>
            </a:r>
            <a:endParaRPr lang="en-AU" sz="1000" dirty="0"/>
          </a:p>
        </p:txBody>
      </p:sp>
      <p:pic>
        <p:nvPicPr>
          <p:cNvPr id="7170" name="Picture 2" descr="Image result for Kristallnacht">
            <a:extLst>
              <a:ext uri="{FF2B5EF4-FFF2-40B4-BE49-F238E27FC236}">
                <a16:creationId xmlns:a16="http://schemas.microsoft.com/office/drawing/2014/main" id="{D11743BD-EC11-4BFA-B927-7DB25325F6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408" y="2067339"/>
            <a:ext cx="4602283" cy="3060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557426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result for Kristallnacht">
            <a:extLst>
              <a:ext uri="{FF2B5EF4-FFF2-40B4-BE49-F238E27FC236}">
                <a16:creationId xmlns:a16="http://schemas.microsoft.com/office/drawing/2014/main" id="{AFEAD384-53F5-4606-9ED2-6E444931BE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0"/>
            <a:ext cx="8320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38619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1" name="Freeform 6">
            <a:extLst>
              <a:ext uri="{FF2B5EF4-FFF2-40B4-BE49-F238E27FC236}">
                <a16:creationId xmlns:a16="http://schemas.microsoft.com/office/drawing/2014/main" id="{F09D282A-F5A8-44DF-A035-882D6338C8A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cxnSp>
        <p:nvCxnSpPr>
          <p:cNvPr id="73" name="Straight Connector 72">
            <a:extLst>
              <a:ext uri="{FF2B5EF4-FFF2-40B4-BE49-F238E27FC236}">
                <a16:creationId xmlns:a16="http://schemas.microsoft.com/office/drawing/2014/main" id="{85F290F9-7434-4EE1-AE59-4773C03B4E2C}"/>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9218" name="Picture 2" descr="Image result for Kristallnacht">
            <a:extLst>
              <a:ext uri="{FF2B5EF4-FFF2-40B4-BE49-F238E27FC236}">
                <a16:creationId xmlns:a16="http://schemas.microsoft.com/office/drawing/2014/main" id="{A26E4B47-760F-49FC-811A-84DA4D93D49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129" r="8760" b="1"/>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75" name="Freeform 6">
            <a:extLst>
              <a:ext uri="{FF2B5EF4-FFF2-40B4-BE49-F238E27FC236}">
                <a16:creationId xmlns:a16="http://schemas.microsoft.com/office/drawing/2014/main" id="{289A92E9-3C43-426A-BECD-CD99EB0BB2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48006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2"/>
          </a:solidFill>
          <a:ln w="0">
            <a:noFill/>
            <a:prstDash val="solid"/>
            <a:round/>
            <a:headEnd/>
            <a:tailEnd/>
          </a:ln>
        </p:spPr>
      </p:sp>
    </p:spTree>
    <p:extLst>
      <p:ext uri="{BB962C8B-B14F-4D97-AF65-F5344CB8AC3E}">
        <p14:creationId xmlns:p14="http://schemas.microsoft.com/office/powerpoint/2010/main" val="4185482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A2DEF-3516-4105-AF60-C9FC01931488}"/>
              </a:ext>
            </a:extLst>
          </p:cNvPr>
          <p:cNvSpPr>
            <a:spLocks noGrp="1"/>
          </p:cNvSpPr>
          <p:nvPr>
            <p:ph type="title"/>
          </p:nvPr>
        </p:nvSpPr>
        <p:spPr/>
        <p:txBody>
          <a:bodyPr>
            <a:normAutofit/>
          </a:bodyPr>
          <a:lstStyle/>
          <a:p>
            <a:r>
              <a:rPr lang="en-AU" sz="4000" dirty="0"/>
              <a:t>Report of Reinhardt Heydrich, Chief of Security Police, on the damage, dated 11 November</a:t>
            </a:r>
          </a:p>
        </p:txBody>
      </p:sp>
      <p:sp>
        <p:nvSpPr>
          <p:cNvPr id="3" name="Content Placeholder 2">
            <a:extLst>
              <a:ext uri="{FF2B5EF4-FFF2-40B4-BE49-F238E27FC236}">
                <a16:creationId xmlns:a16="http://schemas.microsoft.com/office/drawing/2014/main" id="{D1CF7E12-2AE7-4666-B7B9-120A7B3B7855}"/>
              </a:ext>
            </a:extLst>
          </p:cNvPr>
          <p:cNvSpPr>
            <a:spLocks noGrp="1"/>
          </p:cNvSpPr>
          <p:nvPr>
            <p:ph idx="1"/>
          </p:nvPr>
        </p:nvSpPr>
        <p:spPr>
          <a:xfrm>
            <a:off x="5886450" y="569066"/>
            <a:ext cx="5543548" cy="5655156"/>
          </a:xfrm>
        </p:spPr>
        <p:txBody>
          <a:bodyPr>
            <a:normAutofit/>
          </a:bodyPr>
          <a:lstStyle/>
          <a:p>
            <a:pPr marL="0" indent="0">
              <a:buNone/>
            </a:pPr>
            <a:r>
              <a:rPr lang="en-AU" sz="2500" dirty="0"/>
              <a:t>“Shops – 815 destroyed</a:t>
            </a:r>
          </a:p>
          <a:p>
            <a:pPr marL="0" indent="0">
              <a:buNone/>
            </a:pPr>
            <a:r>
              <a:rPr lang="en-AU" sz="2500" dirty="0"/>
              <a:t>Synagogues – 276 destroyed</a:t>
            </a:r>
          </a:p>
          <a:p>
            <a:pPr marL="0" indent="0">
              <a:buNone/>
            </a:pPr>
            <a:r>
              <a:rPr lang="en-AU" sz="2500" dirty="0"/>
              <a:t>Jews – 20,000 arrested</a:t>
            </a:r>
          </a:p>
          <a:p>
            <a:pPr marL="0" indent="0">
              <a:buNone/>
            </a:pPr>
            <a:r>
              <a:rPr lang="en-AU" sz="2500" dirty="0"/>
              <a:t>Foreigners – 3 arrested</a:t>
            </a:r>
          </a:p>
          <a:p>
            <a:pPr marL="0" indent="0">
              <a:buNone/>
            </a:pPr>
            <a:r>
              <a:rPr lang="en-AU" sz="2500" dirty="0"/>
              <a:t>Looting – 174 looters arrested”</a:t>
            </a:r>
          </a:p>
          <a:p>
            <a:pPr marL="0" indent="0">
              <a:buNone/>
            </a:pPr>
            <a:endParaRPr lang="en-AU" sz="2500" dirty="0"/>
          </a:p>
          <a:p>
            <a:pPr marL="0" indent="0">
              <a:buNone/>
            </a:pPr>
            <a:r>
              <a:rPr lang="en-AU" sz="2500" dirty="0"/>
              <a:t>Heydrich noted: ‘The true figures must be several times greater than those reported.’</a:t>
            </a:r>
          </a:p>
        </p:txBody>
      </p:sp>
      <p:sp>
        <p:nvSpPr>
          <p:cNvPr id="4" name="TextBox 3">
            <a:extLst>
              <a:ext uri="{FF2B5EF4-FFF2-40B4-BE49-F238E27FC236}">
                <a16:creationId xmlns:a16="http://schemas.microsoft.com/office/drawing/2014/main" id="{98EF1A51-3017-4993-9FCF-9A7A1BBDDAF8}"/>
              </a:ext>
            </a:extLst>
          </p:cNvPr>
          <p:cNvSpPr txBox="1"/>
          <p:nvPr/>
        </p:nvSpPr>
        <p:spPr>
          <a:xfrm>
            <a:off x="5114925" y="5886450"/>
            <a:ext cx="5543548" cy="477054"/>
          </a:xfrm>
          <a:prstGeom prst="rect">
            <a:avLst/>
          </a:prstGeom>
          <a:noFill/>
        </p:spPr>
        <p:txBody>
          <a:bodyPr wrap="square" rtlCol="0">
            <a:spAutoFit/>
          </a:bodyPr>
          <a:lstStyle/>
          <a:p>
            <a:r>
              <a:rPr lang="en-AU" sz="2500" b="1" dirty="0">
                <a:solidFill>
                  <a:srgbClr val="FF0000"/>
                </a:solidFill>
              </a:rPr>
              <a:t>How could this source be contested?</a:t>
            </a:r>
          </a:p>
        </p:txBody>
      </p:sp>
    </p:spTree>
    <p:extLst>
      <p:ext uri="{BB962C8B-B14F-4D97-AF65-F5344CB8AC3E}">
        <p14:creationId xmlns:p14="http://schemas.microsoft.com/office/powerpoint/2010/main" val="4160838536"/>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 id="{3841520A-25F2-4EB8-BE4C-611DB5ABEED9}" vid="{ECD25A4C-D97E-4C12-84B1-63580BFFAEEB}"/>
    </a:ext>
  </a:extLst>
</a:theme>
</file>

<file path=docProps/app.xml><?xml version="1.0" encoding="utf-8"?>
<Properties xmlns="http://schemas.openxmlformats.org/officeDocument/2006/extended-properties" xmlns:vt="http://schemas.openxmlformats.org/officeDocument/2006/docPropsVTypes">
  <TotalTime>56</TotalTime>
  <Words>936</Words>
  <Application>Microsoft Office PowerPoint</Application>
  <PresentationFormat>Widescreen</PresentationFormat>
  <Paragraphs>71</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Century Schoolbook</vt:lpstr>
      <vt:lpstr>Corbel</vt:lpstr>
      <vt:lpstr>Headlines</vt:lpstr>
      <vt:lpstr>Persecution of minorities</vt:lpstr>
      <vt:lpstr>Origin of the Aryan</vt:lpstr>
      <vt:lpstr>Hitler’s Aryans</vt:lpstr>
      <vt:lpstr>The Nazi Race, 1929</vt:lpstr>
      <vt:lpstr>PowerPoint Presentation</vt:lpstr>
      <vt:lpstr>PowerPoint Presentation</vt:lpstr>
      <vt:lpstr>Eugenics </vt:lpstr>
      <vt:lpstr>Nuremberg laws</vt:lpstr>
      <vt:lpstr>PowerPoint Presentation</vt:lpstr>
      <vt:lpstr>PowerPoint Presentation</vt:lpstr>
      <vt:lpstr>Kristallnacht</vt:lpstr>
      <vt:lpstr>PowerPoint Presentation</vt:lpstr>
      <vt:lpstr>PowerPoint Presentation</vt:lpstr>
      <vt:lpstr>Report of Reinhardt Heydrich, Chief of Security Police, on the damage, dated 11 November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Persecution of minorities</dc:title>
  <dc:creator>Natasha Hawkes</dc:creator>
  <cp:lastModifiedBy>HAWKES Natasha [Narrogin Senior High School]</cp:lastModifiedBy>
  <cp:revision>4</cp:revision>
  <dcterms:created xsi:type="dcterms:W3CDTF">2019-08-31T05:31:43Z</dcterms:created>
  <dcterms:modified xsi:type="dcterms:W3CDTF">2019-09-03T06:58:51Z</dcterms:modified>
</cp:coreProperties>
</file>
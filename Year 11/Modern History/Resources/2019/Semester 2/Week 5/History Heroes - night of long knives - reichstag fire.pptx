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FDDEEC4-4B72-488B-A56F-1D2B73F65FD6}" type="datetimeFigureOut">
              <a:rPr lang="en-AU" smtClean="0"/>
              <a:t>21/08/2019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DDC5B3F-D877-483E-8A2E-ECAF5515A59E}" type="slidenum">
              <a:rPr lang="en-AU" smtClean="0"/>
              <a:t>‹#›</a:t>
            </a:fld>
            <a:endParaRPr lang="en-AU"/>
          </a:p>
        </p:txBody>
      </p:sp>
    </p:spTree>
    <p:extLst>
      <p:ext uri="{BB962C8B-B14F-4D97-AF65-F5344CB8AC3E}">
        <p14:creationId xmlns:p14="http://schemas.microsoft.com/office/powerpoint/2010/main" val="2080031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FDDEEC4-4B72-488B-A56F-1D2B73F65FD6}" type="datetimeFigureOut">
              <a:rPr lang="en-AU" smtClean="0"/>
              <a:t>21/08/2019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DDC5B3F-D877-483E-8A2E-ECAF5515A59E}" type="slidenum">
              <a:rPr lang="en-AU" smtClean="0"/>
              <a:t>‹#›</a:t>
            </a:fld>
            <a:endParaRPr lang="en-AU"/>
          </a:p>
        </p:txBody>
      </p:sp>
    </p:spTree>
    <p:extLst>
      <p:ext uri="{BB962C8B-B14F-4D97-AF65-F5344CB8AC3E}">
        <p14:creationId xmlns:p14="http://schemas.microsoft.com/office/powerpoint/2010/main" val="714170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FDDEEC4-4B72-488B-A56F-1D2B73F65FD6}" type="datetimeFigureOut">
              <a:rPr lang="en-AU" smtClean="0"/>
              <a:t>21/08/2019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DDC5B3F-D877-483E-8A2E-ECAF5515A59E}" type="slidenum">
              <a:rPr lang="en-AU" smtClean="0"/>
              <a:t>‹#›</a:t>
            </a:fld>
            <a:endParaRPr lang="en-AU"/>
          </a:p>
        </p:txBody>
      </p:sp>
    </p:spTree>
    <p:extLst>
      <p:ext uri="{BB962C8B-B14F-4D97-AF65-F5344CB8AC3E}">
        <p14:creationId xmlns:p14="http://schemas.microsoft.com/office/powerpoint/2010/main" val="3186005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FDDEEC4-4B72-488B-A56F-1D2B73F65FD6}" type="datetimeFigureOut">
              <a:rPr lang="en-AU" smtClean="0"/>
              <a:t>21/08/2019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DDC5B3F-D877-483E-8A2E-ECAF5515A59E}" type="slidenum">
              <a:rPr lang="en-AU" smtClean="0"/>
              <a:t>‹#›</a:t>
            </a:fld>
            <a:endParaRPr lang="en-AU"/>
          </a:p>
        </p:txBody>
      </p:sp>
    </p:spTree>
    <p:extLst>
      <p:ext uri="{BB962C8B-B14F-4D97-AF65-F5344CB8AC3E}">
        <p14:creationId xmlns:p14="http://schemas.microsoft.com/office/powerpoint/2010/main" val="3666757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FDDEEC4-4B72-488B-A56F-1D2B73F65FD6}" type="datetimeFigureOut">
              <a:rPr lang="en-AU" smtClean="0"/>
              <a:t>21/08/2019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8DDC5B3F-D877-483E-8A2E-ECAF5515A59E}" type="slidenum">
              <a:rPr lang="en-AU" smtClean="0"/>
              <a:t>‹#›</a:t>
            </a:fld>
            <a:endParaRPr lang="en-AU"/>
          </a:p>
        </p:txBody>
      </p:sp>
    </p:spTree>
    <p:extLst>
      <p:ext uri="{BB962C8B-B14F-4D97-AF65-F5344CB8AC3E}">
        <p14:creationId xmlns:p14="http://schemas.microsoft.com/office/powerpoint/2010/main" val="935650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FDDEEC4-4B72-488B-A56F-1D2B73F65FD6}" type="datetimeFigureOut">
              <a:rPr lang="en-AU" smtClean="0"/>
              <a:t>21/08/2019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8DDC5B3F-D877-483E-8A2E-ECAF5515A59E}" type="slidenum">
              <a:rPr lang="en-AU" smtClean="0"/>
              <a:t>‹#›</a:t>
            </a:fld>
            <a:endParaRPr lang="en-AU"/>
          </a:p>
        </p:txBody>
      </p:sp>
    </p:spTree>
    <p:extLst>
      <p:ext uri="{BB962C8B-B14F-4D97-AF65-F5344CB8AC3E}">
        <p14:creationId xmlns:p14="http://schemas.microsoft.com/office/powerpoint/2010/main" val="4151871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DDEEC4-4B72-488B-A56F-1D2B73F65FD6}" type="datetimeFigureOut">
              <a:rPr lang="en-AU" smtClean="0"/>
              <a:t>21/08/2019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8DDC5B3F-D877-483E-8A2E-ECAF5515A59E}" type="slidenum">
              <a:rPr lang="en-AU" smtClean="0"/>
              <a:t>‹#›</a:t>
            </a:fld>
            <a:endParaRPr lang="en-AU"/>
          </a:p>
        </p:txBody>
      </p:sp>
    </p:spTree>
    <p:extLst>
      <p:ext uri="{BB962C8B-B14F-4D97-AF65-F5344CB8AC3E}">
        <p14:creationId xmlns:p14="http://schemas.microsoft.com/office/powerpoint/2010/main" val="3191380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FDDEEC4-4B72-488B-A56F-1D2B73F65FD6}" type="datetimeFigureOut">
              <a:rPr lang="en-AU" smtClean="0"/>
              <a:t>21/08/2019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DDC5B3F-D877-483E-8A2E-ECAF5515A59E}" type="slidenum">
              <a:rPr lang="en-AU" smtClean="0"/>
              <a:t>‹#›</a:t>
            </a:fld>
            <a:endParaRPr lang="en-AU"/>
          </a:p>
        </p:txBody>
      </p:sp>
    </p:spTree>
    <p:extLst>
      <p:ext uri="{BB962C8B-B14F-4D97-AF65-F5344CB8AC3E}">
        <p14:creationId xmlns:p14="http://schemas.microsoft.com/office/powerpoint/2010/main" val="2725094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FDDEEC4-4B72-488B-A56F-1D2B73F65FD6}" type="datetimeFigureOut">
              <a:rPr lang="en-AU" smtClean="0"/>
              <a:t>21/08/2019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DDC5B3F-D877-483E-8A2E-ECAF5515A59E}" type="slidenum">
              <a:rPr lang="en-AU" smtClean="0"/>
              <a:t>‹#›</a:t>
            </a:fld>
            <a:endParaRPr lang="en-AU"/>
          </a:p>
        </p:txBody>
      </p:sp>
    </p:spTree>
    <p:extLst>
      <p:ext uri="{BB962C8B-B14F-4D97-AF65-F5344CB8AC3E}">
        <p14:creationId xmlns:p14="http://schemas.microsoft.com/office/powerpoint/2010/main" val="16501267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FDDEEC4-4B72-488B-A56F-1D2B73F65FD6}" type="datetimeFigureOut">
              <a:rPr lang="en-AU" smtClean="0"/>
              <a:t>21/08/2019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DDC5B3F-D877-483E-8A2E-ECAF5515A59E}" type="slidenum">
              <a:rPr lang="en-AU" smtClean="0"/>
              <a:t>‹#›</a:t>
            </a:fld>
            <a:endParaRPr lang="en-AU"/>
          </a:p>
        </p:txBody>
      </p:sp>
    </p:spTree>
    <p:extLst>
      <p:ext uri="{BB962C8B-B14F-4D97-AF65-F5344CB8AC3E}">
        <p14:creationId xmlns:p14="http://schemas.microsoft.com/office/powerpoint/2010/main" val="4167958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FDDEEC4-4B72-488B-A56F-1D2B73F65FD6}" type="datetimeFigureOut">
              <a:rPr lang="en-AU" smtClean="0"/>
              <a:t>21/08/2019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DDC5B3F-D877-483E-8A2E-ECAF5515A59E}" type="slidenum">
              <a:rPr lang="en-AU" smtClean="0"/>
              <a:t>‹#›</a:t>
            </a:fld>
            <a:endParaRPr lang="en-AU"/>
          </a:p>
        </p:txBody>
      </p:sp>
    </p:spTree>
    <p:extLst>
      <p:ext uri="{BB962C8B-B14F-4D97-AF65-F5344CB8AC3E}">
        <p14:creationId xmlns:p14="http://schemas.microsoft.com/office/powerpoint/2010/main" val="18516913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FDDEEC4-4B72-488B-A56F-1D2B73F65FD6}" type="datetimeFigureOut">
              <a:rPr lang="en-AU" smtClean="0"/>
              <a:t>21/08/2019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DDC5B3F-D877-483E-8A2E-ECAF5515A59E}" type="slidenum">
              <a:rPr lang="en-AU" smtClean="0"/>
              <a:t>‹#›</a:t>
            </a:fld>
            <a:endParaRPr lang="en-AU"/>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0497341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FDDEEC4-4B72-488B-A56F-1D2B73F65FD6}" type="datetimeFigureOut">
              <a:rPr lang="en-AU" smtClean="0"/>
              <a:t>21/08/2019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DDC5B3F-D877-483E-8A2E-ECAF5515A59E}" type="slidenum">
              <a:rPr lang="en-AU" smtClean="0"/>
              <a:t>‹#›</a:t>
            </a:fld>
            <a:endParaRPr lang="en-AU"/>
          </a:p>
        </p:txBody>
      </p:sp>
    </p:spTree>
    <p:extLst>
      <p:ext uri="{BB962C8B-B14F-4D97-AF65-F5344CB8AC3E}">
        <p14:creationId xmlns:p14="http://schemas.microsoft.com/office/powerpoint/2010/main" val="24906613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8FDDEEC4-4B72-488B-A56F-1D2B73F65FD6}" type="datetimeFigureOut">
              <a:rPr lang="en-AU" smtClean="0"/>
              <a:t>21/08/2019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8DDC5B3F-D877-483E-8A2E-ECAF5515A59E}" type="slidenum">
              <a:rPr lang="en-AU" smtClean="0"/>
              <a:t>‹#›</a:t>
            </a:fld>
            <a:endParaRPr lang="en-AU"/>
          </a:p>
        </p:txBody>
      </p:sp>
    </p:spTree>
    <p:extLst>
      <p:ext uri="{BB962C8B-B14F-4D97-AF65-F5344CB8AC3E}">
        <p14:creationId xmlns:p14="http://schemas.microsoft.com/office/powerpoint/2010/main" val="17916799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8FDDEEC4-4B72-488B-A56F-1D2B73F65FD6}" type="datetimeFigureOut">
              <a:rPr lang="en-AU" smtClean="0"/>
              <a:t>21/08/2019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8DDC5B3F-D877-483E-8A2E-ECAF5515A59E}" type="slidenum">
              <a:rPr lang="en-AU" smtClean="0"/>
              <a:t>‹#›</a:t>
            </a:fld>
            <a:endParaRPr lang="en-AU"/>
          </a:p>
        </p:txBody>
      </p:sp>
    </p:spTree>
    <p:extLst>
      <p:ext uri="{BB962C8B-B14F-4D97-AF65-F5344CB8AC3E}">
        <p14:creationId xmlns:p14="http://schemas.microsoft.com/office/powerpoint/2010/main" val="32394310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FDDEEC4-4B72-488B-A56F-1D2B73F65FD6}" type="datetimeFigureOut">
              <a:rPr lang="en-AU" smtClean="0"/>
              <a:t>21/08/2019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DDC5B3F-D877-483E-8A2E-ECAF5515A59E}" type="slidenum">
              <a:rPr lang="en-AU" smtClean="0"/>
              <a:t>‹#›</a:t>
            </a:fld>
            <a:endParaRPr lang="en-AU"/>
          </a:p>
        </p:txBody>
      </p:sp>
    </p:spTree>
    <p:extLst>
      <p:ext uri="{BB962C8B-B14F-4D97-AF65-F5344CB8AC3E}">
        <p14:creationId xmlns:p14="http://schemas.microsoft.com/office/powerpoint/2010/main" val="28416925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FDDEEC4-4B72-488B-A56F-1D2B73F65FD6}" type="datetimeFigureOut">
              <a:rPr lang="en-AU" smtClean="0"/>
              <a:t>21/08/2019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DDC5B3F-D877-483E-8A2E-ECAF5515A59E}" type="slidenum">
              <a:rPr lang="en-AU" smtClean="0"/>
              <a:t>‹#›</a:t>
            </a:fld>
            <a:endParaRPr lang="en-AU"/>
          </a:p>
        </p:txBody>
      </p:sp>
    </p:spTree>
    <p:extLst>
      <p:ext uri="{BB962C8B-B14F-4D97-AF65-F5344CB8AC3E}">
        <p14:creationId xmlns:p14="http://schemas.microsoft.com/office/powerpoint/2010/main" val="1794644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8FDDEEC4-4B72-488B-A56F-1D2B73F65FD6}" type="datetimeFigureOut">
              <a:rPr lang="en-AU" smtClean="0"/>
              <a:t>21/08/2019</a:t>
            </a:fld>
            <a:endParaRPr lang="en-AU"/>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AU"/>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8DDC5B3F-D877-483E-8A2E-ECAF5515A59E}" type="slidenum">
              <a:rPr lang="en-AU" smtClean="0"/>
              <a:t>‹#›</a:t>
            </a:fld>
            <a:endParaRPr lang="en-AU"/>
          </a:p>
        </p:txBody>
      </p:sp>
    </p:spTree>
    <p:extLst>
      <p:ext uri="{BB962C8B-B14F-4D97-AF65-F5344CB8AC3E}">
        <p14:creationId xmlns:p14="http://schemas.microsoft.com/office/powerpoint/2010/main" val="210639790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8635" y="4465531"/>
            <a:ext cx="9440034" cy="1828801"/>
          </a:xfrm>
        </p:spPr>
        <p:txBody>
          <a:bodyPr/>
          <a:lstStyle/>
          <a:p>
            <a:r>
              <a:rPr lang="en-AU" dirty="0" smtClean="0"/>
              <a:t>History Heroes</a:t>
            </a:r>
            <a:endParaRPr lang="en-AU" dirty="0"/>
          </a:p>
        </p:txBody>
      </p:sp>
      <p:sp>
        <p:nvSpPr>
          <p:cNvPr id="3" name="Subtitle 2"/>
          <p:cNvSpPr>
            <a:spLocks noGrp="1"/>
          </p:cNvSpPr>
          <p:nvPr>
            <p:ph type="subTitle" idx="1"/>
          </p:nvPr>
        </p:nvSpPr>
        <p:spPr>
          <a:xfrm>
            <a:off x="1432844" y="3940598"/>
            <a:ext cx="9440034" cy="1049867"/>
          </a:xfrm>
        </p:spPr>
        <p:txBody>
          <a:bodyPr/>
          <a:lstStyle/>
          <a:p>
            <a:r>
              <a:rPr lang="en-AU" dirty="0" smtClean="0"/>
              <a:t>Week 5</a:t>
            </a:r>
          </a:p>
        </p:txBody>
      </p:sp>
      <p:pic>
        <p:nvPicPr>
          <p:cNvPr id="1026" name="Picture 2" descr="Image result for night of long knives meme"/>
          <p:cNvPicPr>
            <a:picLocks noChangeAspect="1" noChangeArrowheads="1"/>
          </p:cNvPicPr>
          <p:nvPr/>
        </p:nvPicPr>
        <p:blipFill rotWithShape="1">
          <a:blip r:embed="rId2">
            <a:extLst>
              <a:ext uri="{28A0092B-C50C-407E-A947-70E740481C1C}">
                <a14:useLocalDpi xmlns:a14="http://schemas.microsoft.com/office/drawing/2010/main" val="0"/>
              </a:ext>
            </a:extLst>
          </a:blip>
          <a:srcRect b="19230"/>
          <a:stretch/>
        </p:blipFill>
        <p:spPr bwMode="auto">
          <a:xfrm>
            <a:off x="3771611" y="313373"/>
            <a:ext cx="4762500" cy="3169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0156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1. What date did Hitler become Chancellor? </a:t>
            </a:r>
            <a:br>
              <a:rPr lang="en-AU" dirty="0" smtClean="0"/>
            </a:br>
            <a:r>
              <a:rPr lang="en-AU" dirty="0" smtClean="0"/>
              <a:t>(3 marks – day, month, year)</a:t>
            </a:r>
            <a:endParaRPr lang="en-AU"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3660683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2. What date was the Reichstag Fire? </a:t>
            </a:r>
            <a:br>
              <a:rPr lang="en-AU" dirty="0" smtClean="0"/>
            </a:br>
            <a:r>
              <a:rPr lang="en-AU" dirty="0" smtClean="0"/>
              <a:t>(3 marks – day, month, year)</a:t>
            </a:r>
            <a:endParaRPr lang="en-AU"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2210595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3. Who was blamed for starting the Reichstag Fire? (1 mark)</a:t>
            </a:r>
            <a:endParaRPr lang="en-AU"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4102819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4. What decree was put into place as a result of the Reichstag Fire and what was its importance? </a:t>
            </a:r>
            <a:br>
              <a:rPr lang="en-AU" dirty="0" smtClean="0"/>
            </a:br>
            <a:r>
              <a:rPr lang="en-AU" dirty="0" smtClean="0"/>
              <a:t>(2 marks)</a:t>
            </a:r>
            <a:endParaRPr lang="en-AU" dirty="0"/>
          </a:p>
        </p:txBody>
      </p:sp>
      <p:sp>
        <p:nvSpPr>
          <p:cNvPr id="3" name="Content Placeholder 2"/>
          <p:cNvSpPr>
            <a:spLocks noGrp="1"/>
          </p:cNvSpPr>
          <p:nvPr>
            <p:ph idx="1"/>
          </p:nvPr>
        </p:nvSpPr>
        <p:spPr/>
        <p:txBody>
          <a:bodyPr/>
          <a:lstStyle/>
          <a:p>
            <a:endParaRPr lang="en-AU" dirty="0"/>
          </a:p>
        </p:txBody>
      </p:sp>
    </p:spTree>
    <p:extLst>
      <p:ext uri="{BB962C8B-B14F-4D97-AF65-F5344CB8AC3E}">
        <p14:creationId xmlns:p14="http://schemas.microsoft.com/office/powerpoint/2010/main" val="314784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5. What date was the Night of the Long Knives? </a:t>
            </a:r>
            <a:br>
              <a:rPr lang="en-AU" dirty="0" smtClean="0"/>
            </a:br>
            <a:r>
              <a:rPr lang="en-AU" dirty="0" smtClean="0"/>
              <a:t>(3 marks – day, month, year)</a:t>
            </a:r>
            <a:endParaRPr lang="en-AU"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2754763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ANSWERS</a:t>
            </a:r>
            <a:endParaRPr lang="en-AU"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3253931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1. What date did Hitler become Chancellor? </a:t>
            </a:r>
            <a:br>
              <a:rPr lang="en-AU" dirty="0" smtClean="0"/>
            </a:br>
            <a:r>
              <a:rPr lang="en-AU" dirty="0" smtClean="0"/>
              <a:t>(3 marks – day, month, year)</a:t>
            </a:r>
            <a:endParaRPr lang="en-AU" dirty="0"/>
          </a:p>
        </p:txBody>
      </p:sp>
      <p:sp>
        <p:nvSpPr>
          <p:cNvPr id="3" name="Content Placeholder 2"/>
          <p:cNvSpPr>
            <a:spLocks noGrp="1"/>
          </p:cNvSpPr>
          <p:nvPr>
            <p:ph idx="1"/>
          </p:nvPr>
        </p:nvSpPr>
        <p:spPr>
          <a:xfrm>
            <a:off x="913795" y="2360815"/>
            <a:ext cx="10353762" cy="3430385"/>
          </a:xfrm>
        </p:spPr>
        <p:txBody>
          <a:bodyPr>
            <a:normAutofit/>
          </a:bodyPr>
          <a:lstStyle/>
          <a:p>
            <a:r>
              <a:rPr lang="en-AU" sz="5000" dirty="0" smtClean="0">
                <a:solidFill>
                  <a:srgbClr val="FF0000"/>
                </a:solidFill>
              </a:rPr>
              <a:t>30 January 1933</a:t>
            </a:r>
            <a:endParaRPr lang="en-AU" sz="5000" dirty="0">
              <a:solidFill>
                <a:srgbClr val="FF0000"/>
              </a:solidFill>
            </a:endParaRPr>
          </a:p>
        </p:txBody>
      </p:sp>
    </p:spTree>
    <p:extLst>
      <p:ext uri="{BB962C8B-B14F-4D97-AF65-F5344CB8AC3E}">
        <p14:creationId xmlns:p14="http://schemas.microsoft.com/office/powerpoint/2010/main" val="63027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2. What date was the Reichstag Fire? </a:t>
            </a:r>
            <a:br>
              <a:rPr lang="en-AU" dirty="0" smtClean="0"/>
            </a:br>
            <a:r>
              <a:rPr lang="en-AU" dirty="0" smtClean="0"/>
              <a:t>(3 marks – day, month, year)</a:t>
            </a:r>
            <a:endParaRPr lang="en-AU" dirty="0"/>
          </a:p>
        </p:txBody>
      </p:sp>
      <p:sp>
        <p:nvSpPr>
          <p:cNvPr id="3" name="Content Placeholder 2"/>
          <p:cNvSpPr>
            <a:spLocks noGrp="1"/>
          </p:cNvSpPr>
          <p:nvPr>
            <p:ph idx="1"/>
          </p:nvPr>
        </p:nvSpPr>
        <p:spPr>
          <a:xfrm>
            <a:off x="913795" y="2734887"/>
            <a:ext cx="10353762" cy="3056313"/>
          </a:xfrm>
        </p:spPr>
        <p:txBody>
          <a:bodyPr>
            <a:normAutofit/>
          </a:bodyPr>
          <a:lstStyle/>
          <a:p>
            <a:r>
              <a:rPr lang="en-AU" sz="5000" dirty="0" smtClean="0">
                <a:solidFill>
                  <a:srgbClr val="FF0000"/>
                </a:solidFill>
              </a:rPr>
              <a:t>27</a:t>
            </a:r>
            <a:r>
              <a:rPr lang="en-AU" sz="5000" baseline="30000" dirty="0" smtClean="0">
                <a:solidFill>
                  <a:srgbClr val="FF0000"/>
                </a:solidFill>
              </a:rPr>
              <a:t>th</a:t>
            </a:r>
            <a:r>
              <a:rPr lang="en-AU" sz="5000" dirty="0" smtClean="0">
                <a:solidFill>
                  <a:srgbClr val="FF0000"/>
                </a:solidFill>
              </a:rPr>
              <a:t> February 1934</a:t>
            </a:r>
            <a:endParaRPr lang="en-AU" sz="5000" dirty="0">
              <a:solidFill>
                <a:srgbClr val="FF0000"/>
              </a:solidFill>
            </a:endParaRPr>
          </a:p>
        </p:txBody>
      </p:sp>
    </p:spTree>
    <p:extLst>
      <p:ext uri="{BB962C8B-B14F-4D97-AF65-F5344CB8AC3E}">
        <p14:creationId xmlns:p14="http://schemas.microsoft.com/office/powerpoint/2010/main" val="20423595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3. Who was blamed for starting the Reichstag Fire? (1 mark)</a:t>
            </a:r>
            <a:endParaRPr lang="en-AU" dirty="0"/>
          </a:p>
        </p:txBody>
      </p:sp>
      <p:sp>
        <p:nvSpPr>
          <p:cNvPr id="3" name="Content Placeholder 2"/>
          <p:cNvSpPr>
            <a:spLocks noGrp="1"/>
          </p:cNvSpPr>
          <p:nvPr>
            <p:ph idx="1"/>
          </p:nvPr>
        </p:nvSpPr>
        <p:spPr>
          <a:xfrm>
            <a:off x="913795" y="3025833"/>
            <a:ext cx="10353762" cy="2765367"/>
          </a:xfrm>
        </p:spPr>
        <p:txBody>
          <a:bodyPr>
            <a:normAutofit/>
          </a:bodyPr>
          <a:lstStyle/>
          <a:p>
            <a:r>
              <a:rPr lang="en-AU" sz="5000" dirty="0" smtClean="0">
                <a:solidFill>
                  <a:srgbClr val="FF0000"/>
                </a:solidFill>
              </a:rPr>
              <a:t>Communist </a:t>
            </a:r>
            <a:r>
              <a:rPr lang="en-AU" sz="5000" dirty="0" err="1" smtClean="0">
                <a:solidFill>
                  <a:srgbClr val="FF0000"/>
                </a:solidFill>
              </a:rPr>
              <a:t>Martinus</a:t>
            </a:r>
            <a:r>
              <a:rPr lang="en-AU" sz="5000" dirty="0" smtClean="0">
                <a:solidFill>
                  <a:srgbClr val="FF0000"/>
                </a:solidFill>
              </a:rPr>
              <a:t> van der </a:t>
            </a:r>
            <a:r>
              <a:rPr lang="en-AU" sz="5000" dirty="0" err="1" smtClean="0">
                <a:solidFill>
                  <a:srgbClr val="FF0000"/>
                </a:solidFill>
              </a:rPr>
              <a:t>Lubbe</a:t>
            </a:r>
            <a:endParaRPr lang="en-AU" sz="5000" dirty="0">
              <a:solidFill>
                <a:srgbClr val="FF0000"/>
              </a:solidFill>
            </a:endParaRPr>
          </a:p>
        </p:txBody>
      </p:sp>
    </p:spTree>
    <p:extLst>
      <p:ext uri="{BB962C8B-B14F-4D97-AF65-F5344CB8AC3E}">
        <p14:creationId xmlns:p14="http://schemas.microsoft.com/office/powerpoint/2010/main" val="1513461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4. What Act was passed as a result of the Reichstag Fire and what was its importance? </a:t>
            </a:r>
            <a:br>
              <a:rPr lang="en-AU" dirty="0" smtClean="0"/>
            </a:br>
            <a:r>
              <a:rPr lang="en-AU" dirty="0" smtClean="0"/>
              <a:t>(2 marks)</a:t>
            </a:r>
            <a:endParaRPr lang="en-AU" dirty="0"/>
          </a:p>
        </p:txBody>
      </p:sp>
      <p:sp>
        <p:nvSpPr>
          <p:cNvPr id="3" name="Content Placeholder 2"/>
          <p:cNvSpPr>
            <a:spLocks noGrp="1"/>
          </p:cNvSpPr>
          <p:nvPr>
            <p:ph idx="1"/>
          </p:nvPr>
        </p:nvSpPr>
        <p:spPr>
          <a:xfrm>
            <a:off x="473826" y="2626822"/>
            <a:ext cx="11205556" cy="4114800"/>
          </a:xfrm>
        </p:spPr>
        <p:txBody>
          <a:bodyPr>
            <a:noAutofit/>
          </a:bodyPr>
          <a:lstStyle/>
          <a:p>
            <a:r>
              <a:rPr lang="en-AU" sz="4000" dirty="0" smtClean="0">
                <a:solidFill>
                  <a:srgbClr val="FF0000"/>
                </a:solidFill>
              </a:rPr>
              <a:t>Emergency Decree</a:t>
            </a:r>
          </a:p>
          <a:p>
            <a:endParaRPr lang="en-AU" sz="4000" dirty="0">
              <a:solidFill>
                <a:srgbClr val="FF0000"/>
              </a:solidFill>
            </a:endParaRPr>
          </a:p>
          <a:p>
            <a:r>
              <a:rPr lang="en-AU" sz="4000" dirty="0">
                <a:solidFill>
                  <a:srgbClr val="FF0000"/>
                </a:solidFill>
              </a:rPr>
              <a:t>B</a:t>
            </a:r>
            <a:r>
              <a:rPr lang="en-AU" sz="4000" dirty="0" smtClean="0">
                <a:solidFill>
                  <a:srgbClr val="FF0000"/>
                </a:solidFill>
              </a:rPr>
              <a:t>anned the Communists from the elections.</a:t>
            </a:r>
            <a:endParaRPr lang="en-AU" sz="4000" dirty="0">
              <a:solidFill>
                <a:srgbClr val="FF0000"/>
              </a:solidFill>
            </a:endParaRPr>
          </a:p>
        </p:txBody>
      </p:sp>
    </p:spTree>
    <p:extLst>
      <p:ext uri="{BB962C8B-B14F-4D97-AF65-F5344CB8AC3E}">
        <p14:creationId xmlns:p14="http://schemas.microsoft.com/office/powerpoint/2010/main" val="4092649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5. What date was the Night of the Long Knives? </a:t>
            </a:r>
            <a:br>
              <a:rPr lang="en-AU" dirty="0" smtClean="0"/>
            </a:br>
            <a:r>
              <a:rPr lang="en-AU" dirty="0" smtClean="0"/>
              <a:t>(3 marks – day, month, year)</a:t>
            </a:r>
            <a:endParaRPr lang="en-AU" dirty="0"/>
          </a:p>
        </p:txBody>
      </p:sp>
      <p:sp>
        <p:nvSpPr>
          <p:cNvPr id="3" name="Content Placeholder 2"/>
          <p:cNvSpPr>
            <a:spLocks noGrp="1"/>
          </p:cNvSpPr>
          <p:nvPr>
            <p:ph idx="1"/>
          </p:nvPr>
        </p:nvSpPr>
        <p:spPr>
          <a:xfrm>
            <a:off x="913795" y="2518756"/>
            <a:ext cx="10353762" cy="3272444"/>
          </a:xfrm>
        </p:spPr>
        <p:txBody>
          <a:bodyPr>
            <a:normAutofit/>
          </a:bodyPr>
          <a:lstStyle/>
          <a:p>
            <a:r>
              <a:rPr lang="en-AU" sz="5000" dirty="0" smtClean="0">
                <a:solidFill>
                  <a:srgbClr val="FF0000"/>
                </a:solidFill>
              </a:rPr>
              <a:t>29</a:t>
            </a:r>
            <a:r>
              <a:rPr lang="en-AU" sz="5000" baseline="30000" dirty="0" smtClean="0">
                <a:solidFill>
                  <a:srgbClr val="FF0000"/>
                </a:solidFill>
              </a:rPr>
              <a:t>th</a:t>
            </a:r>
            <a:r>
              <a:rPr lang="en-AU" sz="5000" dirty="0" smtClean="0">
                <a:solidFill>
                  <a:srgbClr val="FF0000"/>
                </a:solidFill>
              </a:rPr>
              <a:t> June 1934</a:t>
            </a:r>
            <a:endParaRPr lang="en-AU" sz="5000" dirty="0">
              <a:solidFill>
                <a:srgbClr val="FF0000"/>
              </a:solidFill>
            </a:endParaRPr>
          </a:p>
        </p:txBody>
      </p:sp>
    </p:spTree>
    <p:extLst>
      <p:ext uri="{BB962C8B-B14F-4D97-AF65-F5344CB8AC3E}">
        <p14:creationId xmlns:p14="http://schemas.microsoft.com/office/powerpoint/2010/main" val="3543032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RESULTS        /12</a:t>
            </a:r>
            <a:endParaRPr lang="en-AU"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1726294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Source of the week</a:t>
            </a:r>
            <a:endParaRPr lang="en-AU" dirty="0"/>
          </a:p>
        </p:txBody>
      </p:sp>
      <p:pic>
        <p:nvPicPr>
          <p:cNvPr id="2050" name="Picture 2" descr="Image result for tomato sau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9426" y="1870364"/>
            <a:ext cx="47625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13081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36900" indent="0">
              <a:lnSpc>
                <a:spcPct val="150000"/>
              </a:lnSpc>
              <a:buNone/>
            </a:pPr>
            <a:r>
              <a:rPr lang="en-AU" dirty="0" smtClean="0"/>
              <a:t>“The smoothness with which the murders of 30 June were carried out is powerful proof that no Rohm plot was imminent. There was no resistance encountered anywhere…many victims unsuspectingly surrendered voluntarily, believing it was all a big mistake. The only shots fired were those of the executioners…the numbers of victims is estimated at between 150 and 200.” </a:t>
            </a:r>
          </a:p>
          <a:p>
            <a:pPr marL="36900" indent="0">
              <a:buNone/>
            </a:pPr>
            <a:endParaRPr lang="en-AU" dirty="0"/>
          </a:p>
          <a:p>
            <a:pPr marL="36900" indent="0">
              <a:buNone/>
            </a:pPr>
            <a:r>
              <a:rPr lang="en-AU" i="1" dirty="0" smtClean="0"/>
              <a:t>-The historian Karl </a:t>
            </a:r>
            <a:r>
              <a:rPr lang="en-AU" i="1" dirty="0" err="1" smtClean="0"/>
              <a:t>Bracher</a:t>
            </a:r>
            <a:r>
              <a:rPr lang="en-AU" i="1" dirty="0" smtClean="0"/>
              <a:t>, in his book ‘The German Dictatorship’, 1971</a:t>
            </a:r>
            <a:endParaRPr lang="en-AU" i="1" dirty="0"/>
          </a:p>
        </p:txBody>
      </p:sp>
    </p:spTree>
    <p:extLst>
      <p:ext uri="{BB962C8B-B14F-4D97-AF65-F5344CB8AC3E}">
        <p14:creationId xmlns:p14="http://schemas.microsoft.com/office/powerpoint/2010/main" val="2328573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Hitler’s consolidation of power</a:t>
            </a:r>
          </a:p>
        </p:txBody>
      </p:sp>
      <p:sp>
        <p:nvSpPr>
          <p:cNvPr id="3" name="Content Placeholder 2"/>
          <p:cNvSpPr>
            <a:spLocks noGrp="1"/>
          </p:cNvSpPr>
          <p:nvPr>
            <p:ph idx="1"/>
          </p:nvPr>
        </p:nvSpPr>
        <p:spPr>
          <a:xfrm>
            <a:off x="913795" y="2568633"/>
            <a:ext cx="10353762" cy="3222567"/>
          </a:xfrm>
        </p:spPr>
        <p:txBody>
          <a:bodyPr/>
          <a:lstStyle/>
          <a:p>
            <a:r>
              <a:rPr lang="en-AU" dirty="0" smtClean="0"/>
              <a:t>The </a:t>
            </a:r>
            <a:r>
              <a:rPr lang="en-AU" dirty="0"/>
              <a:t>Reichstag fire and the Enabling Act</a:t>
            </a:r>
          </a:p>
          <a:p>
            <a:r>
              <a:rPr lang="en-AU" dirty="0" smtClean="0"/>
              <a:t>Night </a:t>
            </a:r>
            <a:r>
              <a:rPr lang="en-AU" dirty="0"/>
              <a:t>of the long Knives </a:t>
            </a:r>
            <a:endParaRPr lang="en-AU" dirty="0" smtClean="0"/>
          </a:p>
          <a:p>
            <a:r>
              <a:rPr lang="en-AU" dirty="0" smtClean="0"/>
              <a:t>Process </a:t>
            </a:r>
            <a:r>
              <a:rPr lang="en-AU" dirty="0"/>
              <a:t>of ‘</a:t>
            </a:r>
            <a:r>
              <a:rPr lang="en-AU" dirty="0" err="1"/>
              <a:t>Gleischaltung</a:t>
            </a:r>
            <a:r>
              <a:rPr lang="en-AU" dirty="0"/>
              <a:t>’ </a:t>
            </a:r>
          </a:p>
          <a:p>
            <a:r>
              <a:rPr lang="en-AU" dirty="0" smtClean="0"/>
              <a:t>The </a:t>
            </a:r>
            <a:r>
              <a:rPr lang="en-AU" dirty="0"/>
              <a:t>path to Dictatorship</a:t>
            </a:r>
          </a:p>
          <a:p>
            <a:endParaRPr lang="en-AU" dirty="0"/>
          </a:p>
        </p:txBody>
      </p:sp>
    </p:spTree>
    <p:extLst>
      <p:ext uri="{BB962C8B-B14F-4D97-AF65-F5344CB8AC3E}">
        <p14:creationId xmlns:p14="http://schemas.microsoft.com/office/powerpoint/2010/main" val="917994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What do we know so far…</a:t>
            </a:r>
            <a:endParaRPr lang="en-AU"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3850756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Reichstag fire</a:t>
            </a:r>
            <a:endParaRPr lang="en-AU"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18971954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Slate</Template>
  <TotalTime>90</TotalTime>
  <Words>276</Words>
  <Application>Microsoft Office PowerPoint</Application>
  <PresentationFormat>Widescreen</PresentationFormat>
  <Paragraphs>32</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Calisto MT</vt:lpstr>
      <vt:lpstr>Trebuchet MS</vt:lpstr>
      <vt:lpstr>Wingdings 2</vt:lpstr>
      <vt:lpstr>Slate</vt:lpstr>
      <vt:lpstr>History Heroes</vt:lpstr>
      <vt:lpstr>1. What date did Hitler become Chancellor?  (3 marks – day, month, year)</vt:lpstr>
      <vt:lpstr>2. What date was the Reichstag Fire?  (3 marks – day, month, year)</vt:lpstr>
      <vt:lpstr>3. Who was blamed for starting the Reichstag Fire? (1 mark)</vt:lpstr>
      <vt:lpstr>4. What decree was put into place as a result of the Reichstag Fire and what was its importance?  (2 marks)</vt:lpstr>
      <vt:lpstr>5. What date was the Night of the Long Knives?  (3 marks – day, month, year)</vt:lpstr>
      <vt:lpstr>ANSWERS</vt:lpstr>
      <vt:lpstr>1. What date did Hitler become Chancellor?  (3 marks – day, month, year)</vt:lpstr>
      <vt:lpstr>2. What date was the Reichstag Fire?  (3 marks – day, month, year)</vt:lpstr>
      <vt:lpstr>3. Who was blamed for starting the Reichstag Fire? (1 mark)</vt:lpstr>
      <vt:lpstr>4. What Act was passed as a result of the Reichstag Fire and what was its importance?  (2 marks)</vt:lpstr>
      <vt:lpstr>5. What date was the Night of the Long Knives?  (3 marks – day, month, year)</vt:lpstr>
      <vt:lpstr>RESULTS        /12</vt:lpstr>
      <vt:lpstr>Source of the week</vt:lpstr>
      <vt:lpstr>PowerPoint Presentation</vt:lpstr>
      <vt:lpstr>Hitler’s consolidation of power</vt:lpstr>
      <vt:lpstr>What do we know so far…</vt:lpstr>
      <vt:lpstr>Reichstag fire</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History Heroes</dc:title>
  <dc:creator>HAWKES Natasha [Narrogin Senior High School]</dc:creator>
  <cp:lastModifiedBy>HAWKES Natasha [Narrogin Senior High School]</cp:lastModifiedBy>
  <cp:revision>4</cp:revision>
  <dcterms:created xsi:type="dcterms:W3CDTF">2019-08-21T05:52:58Z</dcterms:created>
  <dcterms:modified xsi:type="dcterms:W3CDTF">2019-08-21T07:23:37Z</dcterms:modified>
</cp:coreProperties>
</file>
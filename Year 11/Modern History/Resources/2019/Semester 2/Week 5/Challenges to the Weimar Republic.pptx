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1" r:id="rId3"/>
    <p:sldId id="262" r:id="rId4"/>
    <p:sldId id="263" r:id="rId5"/>
    <p:sldId id="264" r:id="rId6"/>
    <p:sldId id="257" r:id="rId7"/>
    <p:sldId id="258" r:id="rId8"/>
    <p:sldId id="259" r:id="rId9"/>
    <p:sldId id="265" r:id="rId10"/>
    <p:sldId id="260" r:id="rId11"/>
    <p:sldId id="266" r:id="rId12"/>
    <p:sldId id="267" r:id="rId13"/>
    <p:sldId id="268" r:id="rId14"/>
    <p:sldId id="269" r:id="rId15"/>
    <p:sldId id="291" r:id="rId16"/>
    <p:sldId id="292" r:id="rId17"/>
    <p:sldId id="294" r:id="rId18"/>
    <p:sldId id="285" r:id="rId19"/>
    <p:sldId id="286" r:id="rId20"/>
    <p:sldId id="297"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98" r:id="rId37"/>
    <p:sldId id="299" r:id="rId38"/>
    <p:sldId id="300" r:id="rId39"/>
    <p:sldId id="301" r:id="rId40"/>
    <p:sldId id="295"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5694F5-BDBE-4CD1-AAB3-04E4C9300817}" type="doc">
      <dgm:prSet loTypeId="urn:microsoft.com/office/officeart/2005/8/layout/process1" loCatId="process" qsTypeId="urn:microsoft.com/office/officeart/2005/8/quickstyle/simple1" qsCatId="simple" csTypeId="urn:microsoft.com/office/officeart/2005/8/colors/colorful4" csCatId="colorful" phldr="1"/>
      <dgm:spPr/>
    </dgm:pt>
    <dgm:pt modelId="{0BAB4A91-4129-4CDF-97ED-2FD5CE5C3D73}">
      <dgm:prSet phldrT="[Text]"/>
      <dgm:spPr/>
      <dgm:t>
        <a:bodyPr/>
        <a:lstStyle/>
        <a:p>
          <a:r>
            <a:rPr lang="en-US" dirty="0" smtClean="0">
              <a:solidFill>
                <a:schemeClr val="tx1"/>
              </a:solidFill>
            </a:rPr>
            <a:t>Pre-1914</a:t>
          </a:r>
          <a:endParaRPr lang="en-US" dirty="0">
            <a:solidFill>
              <a:schemeClr val="tx1"/>
            </a:solidFill>
          </a:endParaRPr>
        </a:p>
      </dgm:t>
    </dgm:pt>
    <dgm:pt modelId="{4EB66A38-E939-4ED4-96CB-710BAEFF38A6}" type="parTrans" cxnId="{3663ED4B-5623-4559-9FAD-0C6FFED7B2A1}">
      <dgm:prSet/>
      <dgm:spPr/>
      <dgm:t>
        <a:bodyPr/>
        <a:lstStyle/>
        <a:p>
          <a:endParaRPr lang="en-US"/>
        </a:p>
      </dgm:t>
    </dgm:pt>
    <dgm:pt modelId="{62A22437-5D94-4542-9743-556FDB3B6F56}" type="sibTrans" cxnId="{3663ED4B-5623-4559-9FAD-0C6FFED7B2A1}">
      <dgm:prSet/>
      <dgm:spPr/>
      <dgm:t>
        <a:bodyPr/>
        <a:lstStyle/>
        <a:p>
          <a:endParaRPr lang="en-US"/>
        </a:p>
      </dgm:t>
    </dgm:pt>
    <dgm:pt modelId="{791D7D0F-09BE-453D-BF9A-BB0BFE05F308}">
      <dgm:prSet phldrT="[Text]"/>
      <dgm:spPr/>
      <dgm:t>
        <a:bodyPr/>
        <a:lstStyle/>
        <a:p>
          <a:r>
            <a:rPr lang="en-US" dirty="0" smtClean="0">
              <a:solidFill>
                <a:schemeClr val="tx1"/>
              </a:solidFill>
            </a:rPr>
            <a:t>1914-1918</a:t>
          </a:r>
          <a:endParaRPr lang="en-US" dirty="0">
            <a:solidFill>
              <a:schemeClr val="tx1"/>
            </a:solidFill>
          </a:endParaRPr>
        </a:p>
      </dgm:t>
    </dgm:pt>
    <dgm:pt modelId="{53A3A0BF-56EF-4D30-B6A0-BA1177040D1A}" type="parTrans" cxnId="{619EB592-C256-4716-9862-4264C0A48DFB}">
      <dgm:prSet/>
      <dgm:spPr/>
      <dgm:t>
        <a:bodyPr/>
        <a:lstStyle/>
        <a:p>
          <a:endParaRPr lang="en-US"/>
        </a:p>
      </dgm:t>
    </dgm:pt>
    <dgm:pt modelId="{7F3E3B9B-EC32-4617-B094-16289EF80C6A}" type="sibTrans" cxnId="{619EB592-C256-4716-9862-4264C0A48DFB}">
      <dgm:prSet/>
      <dgm:spPr/>
      <dgm:t>
        <a:bodyPr/>
        <a:lstStyle/>
        <a:p>
          <a:endParaRPr lang="en-US"/>
        </a:p>
      </dgm:t>
    </dgm:pt>
    <dgm:pt modelId="{CDF14BEC-C50B-4082-873A-73285358F39E}">
      <dgm:prSet phldrT="[Text]"/>
      <dgm:spPr/>
      <dgm:t>
        <a:bodyPr/>
        <a:lstStyle/>
        <a:p>
          <a:r>
            <a:rPr lang="en-US" dirty="0" smtClean="0">
              <a:solidFill>
                <a:schemeClr val="tx1"/>
              </a:solidFill>
            </a:rPr>
            <a:t>November 1918-June 1919</a:t>
          </a:r>
          <a:endParaRPr lang="en-US" dirty="0">
            <a:solidFill>
              <a:schemeClr val="tx1"/>
            </a:solidFill>
          </a:endParaRPr>
        </a:p>
      </dgm:t>
    </dgm:pt>
    <dgm:pt modelId="{364A5546-2535-495B-8173-7DD94E4F5903}" type="parTrans" cxnId="{ECAEFA61-565D-4DC8-ADC2-436EE5380224}">
      <dgm:prSet/>
      <dgm:spPr/>
      <dgm:t>
        <a:bodyPr/>
        <a:lstStyle/>
        <a:p>
          <a:endParaRPr lang="en-US"/>
        </a:p>
      </dgm:t>
    </dgm:pt>
    <dgm:pt modelId="{56D74B23-50FB-4CC3-A9BC-67212086C869}" type="sibTrans" cxnId="{ECAEFA61-565D-4DC8-ADC2-436EE5380224}">
      <dgm:prSet/>
      <dgm:spPr/>
      <dgm:t>
        <a:bodyPr/>
        <a:lstStyle/>
        <a:p>
          <a:endParaRPr lang="en-US"/>
        </a:p>
      </dgm:t>
    </dgm:pt>
    <dgm:pt modelId="{3B234B01-B9D6-4BEA-882B-D499CDE97FEF}">
      <dgm:prSet phldrT="[Text]"/>
      <dgm:spPr/>
      <dgm:t>
        <a:bodyPr/>
        <a:lstStyle/>
        <a:p>
          <a:r>
            <a:rPr lang="en-US" dirty="0" smtClean="0">
              <a:solidFill>
                <a:schemeClr val="tx1"/>
              </a:solidFill>
            </a:rPr>
            <a:t>June 1919</a:t>
          </a:r>
          <a:endParaRPr lang="en-US" dirty="0">
            <a:solidFill>
              <a:schemeClr val="tx1"/>
            </a:solidFill>
          </a:endParaRPr>
        </a:p>
      </dgm:t>
    </dgm:pt>
    <dgm:pt modelId="{01CEB95A-B165-4206-986D-9F2F24944C93}" type="parTrans" cxnId="{6367EB26-D56D-409A-AE21-283CF8D4176E}">
      <dgm:prSet/>
      <dgm:spPr/>
      <dgm:t>
        <a:bodyPr/>
        <a:lstStyle/>
        <a:p>
          <a:endParaRPr lang="en-US"/>
        </a:p>
      </dgm:t>
    </dgm:pt>
    <dgm:pt modelId="{1C835BC4-E763-4FB3-888C-25CCAC770BA2}" type="sibTrans" cxnId="{6367EB26-D56D-409A-AE21-283CF8D4176E}">
      <dgm:prSet/>
      <dgm:spPr/>
      <dgm:t>
        <a:bodyPr/>
        <a:lstStyle/>
        <a:p>
          <a:endParaRPr lang="en-US"/>
        </a:p>
      </dgm:t>
    </dgm:pt>
    <dgm:pt modelId="{0D1FC17E-3694-404F-A07D-63678B288E1E}" type="pres">
      <dgm:prSet presAssocID="{885694F5-BDBE-4CD1-AAB3-04E4C9300817}" presName="Name0" presStyleCnt="0">
        <dgm:presLayoutVars>
          <dgm:dir/>
          <dgm:resizeHandles val="exact"/>
        </dgm:presLayoutVars>
      </dgm:prSet>
      <dgm:spPr/>
    </dgm:pt>
    <dgm:pt modelId="{4B1578A3-2726-45EA-9692-7A23BED1A11F}" type="pres">
      <dgm:prSet presAssocID="{0BAB4A91-4129-4CDF-97ED-2FD5CE5C3D73}" presName="node" presStyleLbl="node1" presStyleIdx="0" presStyleCnt="4">
        <dgm:presLayoutVars>
          <dgm:bulletEnabled val="1"/>
        </dgm:presLayoutVars>
      </dgm:prSet>
      <dgm:spPr/>
      <dgm:t>
        <a:bodyPr/>
        <a:lstStyle/>
        <a:p>
          <a:endParaRPr lang="en-US"/>
        </a:p>
      </dgm:t>
    </dgm:pt>
    <dgm:pt modelId="{7C3C28B5-314A-4F7B-A029-ACB69E7D6B60}" type="pres">
      <dgm:prSet presAssocID="{62A22437-5D94-4542-9743-556FDB3B6F56}" presName="sibTrans" presStyleLbl="sibTrans2D1" presStyleIdx="0" presStyleCnt="3"/>
      <dgm:spPr/>
      <dgm:t>
        <a:bodyPr/>
        <a:lstStyle/>
        <a:p>
          <a:endParaRPr lang="en-US"/>
        </a:p>
      </dgm:t>
    </dgm:pt>
    <dgm:pt modelId="{7FE92F47-FF1A-4CCA-8349-00C7E24AA2C2}" type="pres">
      <dgm:prSet presAssocID="{62A22437-5D94-4542-9743-556FDB3B6F56}" presName="connectorText" presStyleLbl="sibTrans2D1" presStyleIdx="0" presStyleCnt="3"/>
      <dgm:spPr/>
      <dgm:t>
        <a:bodyPr/>
        <a:lstStyle/>
        <a:p>
          <a:endParaRPr lang="en-US"/>
        </a:p>
      </dgm:t>
    </dgm:pt>
    <dgm:pt modelId="{EC7A1689-0546-4B9F-9C2A-74D41CA6B0C1}" type="pres">
      <dgm:prSet presAssocID="{791D7D0F-09BE-453D-BF9A-BB0BFE05F308}" presName="node" presStyleLbl="node1" presStyleIdx="1" presStyleCnt="4">
        <dgm:presLayoutVars>
          <dgm:bulletEnabled val="1"/>
        </dgm:presLayoutVars>
      </dgm:prSet>
      <dgm:spPr/>
      <dgm:t>
        <a:bodyPr/>
        <a:lstStyle/>
        <a:p>
          <a:endParaRPr lang="en-US"/>
        </a:p>
      </dgm:t>
    </dgm:pt>
    <dgm:pt modelId="{6E49E5C1-9BBB-43E9-A0F9-00EE87BEE511}" type="pres">
      <dgm:prSet presAssocID="{7F3E3B9B-EC32-4617-B094-16289EF80C6A}" presName="sibTrans" presStyleLbl="sibTrans2D1" presStyleIdx="1" presStyleCnt="3"/>
      <dgm:spPr/>
      <dgm:t>
        <a:bodyPr/>
        <a:lstStyle/>
        <a:p>
          <a:endParaRPr lang="en-US"/>
        </a:p>
      </dgm:t>
    </dgm:pt>
    <dgm:pt modelId="{C1BC3380-DE2F-4155-A15D-B6618896DE24}" type="pres">
      <dgm:prSet presAssocID="{7F3E3B9B-EC32-4617-B094-16289EF80C6A}" presName="connectorText" presStyleLbl="sibTrans2D1" presStyleIdx="1" presStyleCnt="3"/>
      <dgm:spPr/>
      <dgm:t>
        <a:bodyPr/>
        <a:lstStyle/>
        <a:p>
          <a:endParaRPr lang="en-US"/>
        </a:p>
      </dgm:t>
    </dgm:pt>
    <dgm:pt modelId="{EB740563-B90C-4480-A44B-E1F6DCE661E8}" type="pres">
      <dgm:prSet presAssocID="{CDF14BEC-C50B-4082-873A-73285358F39E}" presName="node" presStyleLbl="node1" presStyleIdx="2" presStyleCnt="4">
        <dgm:presLayoutVars>
          <dgm:bulletEnabled val="1"/>
        </dgm:presLayoutVars>
      </dgm:prSet>
      <dgm:spPr/>
      <dgm:t>
        <a:bodyPr/>
        <a:lstStyle/>
        <a:p>
          <a:endParaRPr lang="en-US"/>
        </a:p>
      </dgm:t>
    </dgm:pt>
    <dgm:pt modelId="{2FE65169-F9DD-43C9-B2D2-726D97A12D43}" type="pres">
      <dgm:prSet presAssocID="{56D74B23-50FB-4CC3-A9BC-67212086C869}" presName="sibTrans" presStyleLbl="sibTrans2D1" presStyleIdx="2" presStyleCnt="3"/>
      <dgm:spPr/>
      <dgm:t>
        <a:bodyPr/>
        <a:lstStyle/>
        <a:p>
          <a:endParaRPr lang="en-US"/>
        </a:p>
      </dgm:t>
    </dgm:pt>
    <dgm:pt modelId="{BABBFFB0-8282-41B7-BDCC-A24131FE5857}" type="pres">
      <dgm:prSet presAssocID="{56D74B23-50FB-4CC3-A9BC-67212086C869}" presName="connectorText" presStyleLbl="sibTrans2D1" presStyleIdx="2" presStyleCnt="3"/>
      <dgm:spPr/>
      <dgm:t>
        <a:bodyPr/>
        <a:lstStyle/>
        <a:p>
          <a:endParaRPr lang="en-US"/>
        </a:p>
      </dgm:t>
    </dgm:pt>
    <dgm:pt modelId="{9351A0F3-87E7-47A7-AE75-81998956F8B6}" type="pres">
      <dgm:prSet presAssocID="{3B234B01-B9D6-4BEA-882B-D499CDE97FEF}" presName="node" presStyleLbl="node1" presStyleIdx="3" presStyleCnt="4">
        <dgm:presLayoutVars>
          <dgm:bulletEnabled val="1"/>
        </dgm:presLayoutVars>
      </dgm:prSet>
      <dgm:spPr/>
      <dgm:t>
        <a:bodyPr/>
        <a:lstStyle/>
        <a:p>
          <a:endParaRPr lang="en-US"/>
        </a:p>
      </dgm:t>
    </dgm:pt>
  </dgm:ptLst>
  <dgm:cxnLst>
    <dgm:cxn modelId="{DC7AA332-0A10-4170-AB05-4CFA775EEA0A}" type="presOf" srcId="{62A22437-5D94-4542-9743-556FDB3B6F56}" destId="{7FE92F47-FF1A-4CCA-8349-00C7E24AA2C2}" srcOrd="1" destOrd="0" presId="urn:microsoft.com/office/officeart/2005/8/layout/process1"/>
    <dgm:cxn modelId="{9876A631-3399-4AC4-BAD5-402C1B5881F1}" type="presOf" srcId="{3B234B01-B9D6-4BEA-882B-D499CDE97FEF}" destId="{9351A0F3-87E7-47A7-AE75-81998956F8B6}" srcOrd="0" destOrd="0" presId="urn:microsoft.com/office/officeart/2005/8/layout/process1"/>
    <dgm:cxn modelId="{6367EB26-D56D-409A-AE21-283CF8D4176E}" srcId="{885694F5-BDBE-4CD1-AAB3-04E4C9300817}" destId="{3B234B01-B9D6-4BEA-882B-D499CDE97FEF}" srcOrd="3" destOrd="0" parTransId="{01CEB95A-B165-4206-986D-9F2F24944C93}" sibTransId="{1C835BC4-E763-4FB3-888C-25CCAC770BA2}"/>
    <dgm:cxn modelId="{C3CFE554-0116-4F73-B188-7A965B233090}" type="presOf" srcId="{7F3E3B9B-EC32-4617-B094-16289EF80C6A}" destId="{C1BC3380-DE2F-4155-A15D-B6618896DE24}" srcOrd="1" destOrd="0" presId="urn:microsoft.com/office/officeart/2005/8/layout/process1"/>
    <dgm:cxn modelId="{91A46097-D739-44B1-941E-E747403F6020}" type="presOf" srcId="{7F3E3B9B-EC32-4617-B094-16289EF80C6A}" destId="{6E49E5C1-9BBB-43E9-A0F9-00EE87BEE511}" srcOrd="0" destOrd="0" presId="urn:microsoft.com/office/officeart/2005/8/layout/process1"/>
    <dgm:cxn modelId="{13BF21F4-613D-465D-BF6E-04C804D3C552}" type="presOf" srcId="{0BAB4A91-4129-4CDF-97ED-2FD5CE5C3D73}" destId="{4B1578A3-2726-45EA-9692-7A23BED1A11F}" srcOrd="0" destOrd="0" presId="urn:microsoft.com/office/officeart/2005/8/layout/process1"/>
    <dgm:cxn modelId="{619EB592-C256-4716-9862-4264C0A48DFB}" srcId="{885694F5-BDBE-4CD1-AAB3-04E4C9300817}" destId="{791D7D0F-09BE-453D-BF9A-BB0BFE05F308}" srcOrd="1" destOrd="0" parTransId="{53A3A0BF-56EF-4D30-B6A0-BA1177040D1A}" sibTransId="{7F3E3B9B-EC32-4617-B094-16289EF80C6A}"/>
    <dgm:cxn modelId="{BB45F493-C762-4213-8457-9C63E9D1838E}" type="presOf" srcId="{791D7D0F-09BE-453D-BF9A-BB0BFE05F308}" destId="{EC7A1689-0546-4B9F-9C2A-74D41CA6B0C1}" srcOrd="0" destOrd="0" presId="urn:microsoft.com/office/officeart/2005/8/layout/process1"/>
    <dgm:cxn modelId="{26FE7B2A-CC70-4C7F-A675-65580BC44878}" type="presOf" srcId="{56D74B23-50FB-4CC3-A9BC-67212086C869}" destId="{BABBFFB0-8282-41B7-BDCC-A24131FE5857}" srcOrd="1" destOrd="0" presId="urn:microsoft.com/office/officeart/2005/8/layout/process1"/>
    <dgm:cxn modelId="{1AA28751-F43D-4D02-955C-98F42C31A076}" type="presOf" srcId="{56D74B23-50FB-4CC3-A9BC-67212086C869}" destId="{2FE65169-F9DD-43C9-B2D2-726D97A12D43}" srcOrd="0" destOrd="0" presId="urn:microsoft.com/office/officeart/2005/8/layout/process1"/>
    <dgm:cxn modelId="{07915AA7-2AE3-483E-8832-37D32C1BCC45}" type="presOf" srcId="{885694F5-BDBE-4CD1-AAB3-04E4C9300817}" destId="{0D1FC17E-3694-404F-A07D-63678B288E1E}" srcOrd="0" destOrd="0" presId="urn:microsoft.com/office/officeart/2005/8/layout/process1"/>
    <dgm:cxn modelId="{3663ED4B-5623-4559-9FAD-0C6FFED7B2A1}" srcId="{885694F5-BDBE-4CD1-AAB3-04E4C9300817}" destId="{0BAB4A91-4129-4CDF-97ED-2FD5CE5C3D73}" srcOrd="0" destOrd="0" parTransId="{4EB66A38-E939-4ED4-96CB-710BAEFF38A6}" sibTransId="{62A22437-5D94-4542-9743-556FDB3B6F56}"/>
    <dgm:cxn modelId="{ECAEFA61-565D-4DC8-ADC2-436EE5380224}" srcId="{885694F5-BDBE-4CD1-AAB3-04E4C9300817}" destId="{CDF14BEC-C50B-4082-873A-73285358F39E}" srcOrd="2" destOrd="0" parTransId="{364A5546-2535-495B-8173-7DD94E4F5903}" sibTransId="{56D74B23-50FB-4CC3-A9BC-67212086C869}"/>
    <dgm:cxn modelId="{99DE11EE-E949-4776-A826-EF79A5A6E6A4}" type="presOf" srcId="{62A22437-5D94-4542-9743-556FDB3B6F56}" destId="{7C3C28B5-314A-4F7B-A029-ACB69E7D6B60}" srcOrd="0" destOrd="0" presId="urn:microsoft.com/office/officeart/2005/8/layout/process1"/>
    <dgm:cxn modelId="{A72C45DE-4688-4175-871C-F1597F1E461C}" type="presOf" srcId="{CDF14BEC-C50B-4082-873A-73285358F39E}" destId="{EB740563-B90C-4480-A44B-E1F6DCE661E8}" srcOrd="0" destOrd="0" presId="urn:microsoft.com/office/officeart/2005/8/layout/process1"/>
    <dgm:cxn modelId="{54B0FDA6-2F41-4C94-9E4C-0323EFE23CC5}" type="presParOf" srcId="{0D1FC17E-3694-404F-A07D-63678B288E1E}" destId="{4B1578A3-2726-45EA-9692-7A23BED1A11F}" srcOrd="0" destOrd="0" presId="urn:microsoft.com/office/officeart/2005/8/layout/process1"/>
    <dgm:cxn modelId="{08722E5D-6CA5-4F83-B2F4-19CF5765485D}" type="presParOf" srcId="{0D1FC17E-3694-404F-A07D-63678B288E1E}" destId="{7C3C28B5-314A-4F7B-A029-ACB69E7D6B60}" srcOrd="1" destOrd="0" presId="urn:microsoft.com/office/officeart/2005/8/layout/process1"/>
    <dgm:cxn modelId="{A90A9EC0-60ED-4784-B0D6-C90F0E52778C}" type="presParOf" srcId="{7C3C28B5-314A-4F7B-A029-ACB69E7D6B60}" destId="{7FE92F47-FF1A-4CCA-8349-00C7E24AA2C2}" srcOrd="0" destOrd="0" presId="urn:microsoft.com/office/officeart/2005/8/layout/process1"/>
    <dgm:cxn modelId="{5B0F3A18-5B0E-46F1-98B1-8D6C06B0A8FE}" type="presParOf" srcId="{0D1FC17E-3694-404F-A07D-63678B288E1E}" destId="{EC7A1689-0546-4B9F-9C2A-74D41CA6B0C1}" srcOrd="2" destOrd="0" presId="urn:microsoft.com/office/officeart/2005/8/layout/process1"/>
    <dgm:cxn modelId="{FE2D305B-1B48-41A7-8C5C-49BFF1219F42}" type="presParOf" srcId="{0D1FC17E-3694-404F-A07D-63678B288E1E}" destId="{6E49E5C1-9BBB-43E9-A0F9-00EE87BEE511}" srcOrd="3" destOrd="0" presId="urn:microsoft.com/office/officeart/2005/8/layout/process1"/>
    <dgm:cxn modelId="{2FD2909A-AC3B-4054-B0D5-5F464316D37A}" type="presParOf" srcId="{6E49E5C1-9BBB-43E9-A0F9-00EE87BEE511}" destId="{C1BC3380-DE2F-4155-A15D-B6618896DE24}" srcOrd="0" destOrd="0" presId="urn:microsoft.com/office/officeart/2005/8/layout/process1"/>
    <dgm:cxn modelId="{E631D996-B13D-44B0-9F02-7D348323EE4F}" type="presParOf" srcId="{0D1FC17E-3694-404F-A07D-63678B288E1E}" destId="{EB740563-B90C-4480-A44B-E1F6DCE661E8}" srcOrd="4" destOrd="0" presId="urn:microsoft.com/office/officeart/2005/8/layout/process1"/>
    <dgm:cxn modelId="{DB39A9D7-7C2B-43B0-99AC-4A22F82E68A2}" type="presParOf" srcId="{0D1FC17E-3694-404F-A07D-63678B288E1E}" destId="{2FE65169-F9DD-43C9-B2D2-726D97A12D43}" srcOrd="5" destOrd="0" presId="urn:microsoft.com/office/officeart/2005/8/layout/process1"/>
    <dgm:cxn modelId="{E53709B8-FE57-4FBA-AEBD-D5AF1828B335}" type="presParOf" srcId="{2FE65169-F9DD-43C9-B2D2-726D97A12D43}" destId="{BABBFFB0-8282-41B7-BDCC-A24131FE5857}" srcOrd="0" destOrd="0" presId="urn:microsoft.com/office/officeart/2005/8/layout/process1"/>
    <dgm:cxn modelId="{A06939A0-CBBF-44B1-96E0-7833A5F67ED8}" type="presParOf" srcId="{0D1FC17E-3694-404F-A07D-63678B288E1E}" destId="{9351A0F3-87E7-47A7-AE75-81998956F8B6}"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1578A3-2726-45EA-9692-7A23BED1A11F}">
      <dsp:nvSpPr>
        <dsp:cNvPr id="0" name=""/>
        <dsp:cNvSpPr/>
      </dsp:nvSpPr>
      <dsp:spPr>
        <a:xfrm>
          <a:off x="4996" y="2053994"/>
          <a:ext cx="2184464" cy="131067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dirty="0" smtClean="0">
              <a:solidFill>
                <a:schemeClr val="tx1"/>
              </a:solidFill>
            </a:rPr>
            <a:t>Pre-1914</a:t>
          </a:r>
          <a:endParaRPr lang="en-US" sz="2500" kern="1200" dirty="0">
            <a:solidFill>
              <a:schemeClr val="tx1"/>
            </a:solidFill>
          </a:endParaRPr>
        </a:p>
      </dsp:txBody>
      <dsp:txXfrm>
        <a:off x="43384" y="2092382"/>
        <a:ext cx="2107688" cy="1233902"/>
      </dsp:txXfrm>
    </dsp:sp>
    <dsp:sp modelId="{7C3C28B5-314A-4F7B-A029-ACB69E7D6B60}">
      <dsp:nvSpPr>
        <dsp:cNvPr id="0" name=""/>
        <dsp:cNvSpPr/>
      </dsp:nvSpPr>
      <dsp:spPr>
        <a:xfrm>
          <a:off x="2407907" y="2438459"/>
          <a:ext cx="463106" cy="54174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en-US" sz="2000" kern="1200"/>
        </a:p>
      </dsp:txBody>
      <dsp:txXfrm>
        <a:off x="2407907" y="2546808"/>
        <a:ext cx="324174" cy="325049"/>
      </dsp:txXfrm>
    </dsp:sp>
    <dsp:sp modelId="{EC7A1689-0546-4B9F-9C2A-74D41CA6B0C1}">
      <dsp:nvSpPr>
        <dsp:cNvPr id="0" name=""/>
        <dsp:cNvSpPr/>
      </dsp:nvSpPr>
      <dsp:spPr>
        <a:xfrm>
          <a:off x="3063246" y="2053994"/>
          <a:ext cx="2184464" cy="1310678"/>
        </a:xfrm>
        <a:prstGeom prst="roundRect">
          <a:avLst>
            <a:gd name="adj" fmla="val 10000"/>
          </a:avLst>
        </a:prstGeom>
        <a:solidFill>
          <a:schemeClr val="accent4">
            <a:hueOff val="-5272249"/>
            <a:satOff val="-5509"/>
            <a:lumOff val="137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dirty="0" smtClean="0">
              <a:solidFill>
                <a:schemeClr val="tx1"/>
              </a:solidFill>
            </a:rPr>
            <a:t>1914-1918</a:t>
          </a:r>
          <a:endParaRPr lang="en-US" sz="2500" kern="1200" dirty="0">
            <a:solidFill>
              <a:schemeClr val="tx1"/>
            </a:solidFill>
          </a:endParaRPr>
        </a:p>
      </dsp:txBody>
      <dsp:txXfrm>
        <a:off x="3101634" y="2092382"/>
        <a:ext cx="2107688" cy="1233902"/>
      </dsp:txXfrm>
    </dsp:sp>
    <dsp:sp modelId="{6E49E5C1-9BBB-43E9-A0F9-00EE87BEE511}">
      <dsp:nvSpPr>
        <dsp:cNvPr id="0" name=""/>
        <dsp:cNvSpPr/>
      </dsp:nvSpPr>
      <dsp:spPr>
        <a:xfrm>
          <a:off x="5466157" y="2438459"/>
          <a:ext cx="463106" cy="541747"/>
        </a:xfrm>
        <a:prstGeom prst="rightArrow">
          <a:avLst>
            <a:gd name="adj1" fmla="val 60000"/>
            <a:gd name="adj2" fmla="val 50000"/>
          </a:avLst>
        </a:prstGeom>
        <a:solidFill>
          <a:schemeClr val="accent4">
            <a:hueOff val="-7908374"/>
            <a:satOff val="-8264"/>
            <a:lumOff val="205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en-US" sz="2000" kern="1200"/>
        </a:p>
      </dsp:txBody>
      <dsp:txXfrm>
        <a:off x="5466157" y="2546808"/>
        <a:ext cx="324174" cy="325049"/>
      </dsp:txXfrm>
    </dsp:sp>
    <dsp:sp modelId="{EB740563-B90C-4480-A44B-E1F6DCE661E8}">
      <dsp:nvSpPr>
        <dsp:cNvPr id="0" name=""/>
        <dsp:cNvSpPr/>
      </dsp:nvSpPr>
      <dsp:spPr>
        <a:xfrm>
          <a:off x="6121496" y="2053994"/>
          <a:ext cx="2184464" cy="1310678"/>
        </a:xfrm>
        <a:prstGeom prst="roundRect">
          <a:avLst>
            <a:gd name="adj" fmla="val 10000"/>
          </a:avLst>
        </a:prstGeom>
        <a:solidFill>
          <a:schemeClr val="accent4">
            <a:hueOff val="-10544498"/>
            <a:satOff val="-11018"/>
            <a:lumOff val="274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dirty="0" smtClean="0">
              <a:solidFill>
                <a:schemeClr val="tx1"/>
              </a:solidFill>
            </a:rPr>
            <a:t>November 1918-June 1919</a:t>
          </a:r>
          <a:endParaRPr lang="en-US" sz="2500" kern="1200" dirty="0">
            <a:solidFill>
              <a:schemeClr val="tx1"/>
            </a:solidFill>
          </a:endParaRPr>
        </a:p>
      </dsp:txBody>
      <dsp:txXfrm>
        <a:off x="6159884" y="2092382"/>
        <a:ext cx="2107688" cy="1233902"/>
      </dsp:txXfrm>
    </dsp:sp>
    <dsp:sp modelId="{2FE65169-F9DD-43C9-B2D2-726D97A12D43}">
      <dsp:nvSpPr>
        <dsp:cNvPr id="0" name=""/>
        <dsp:cNvSpPr/>
      </dsp:nvSpPr>
      <dsp:spPr>
        <a:xfrm>
          <a:off x="8524407" y="2438459"/>
          <a:ext cx="463106" cy="541747"/>
        </a:xfrm>
        <a:prstGeom prst="rightArrow">
          <a:avLst>
            <a:gd name="adj1" fmla="val 60000"/>
            <a:gd name="adj2" fmla="val 50000"/>
          </a:avLst>
        </a:prstGeom>
        <a:solidFill>
          <a:schemeClr val="accent4">
            <a:hueOff val="-15816747"/>
            <a:satOff val="-16527"/>
            <a:lumOff val="411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en-US" sz="2000" kern="1200"/>
        </a:p>
      </dsp:txBody>
      <dsp:txXfrm>
        <a:off x="8524407" y="2546808"/>
        <a:ext cx="324174" cy="325049"/>
      </dsp:txXfrm>
    </dsp:sp>
    <dsp:sp modelId="{9351A0F3-87E7-47A7-AE75-81998956F8B6}">
      <dsp:nvSpPr>
        <dsp:cNvPr id="0" name=""/>
        <dsp:cNvSpPr/>
      </dsp:nvSpPr>
      <dsp:spPr>
        <a:xfrm>
          <a:off x="9179746" y="2053994"/>
          <a:ext cx="2184464" cy="1310678"/>
        </a:xfrm>
        <a:prstGeom prst="roundRect">
          <a:avLst>
            <a:gd name="adj" fmla="val 10000"/>
          </a:avLst>
        </a:prstGeom>
        <a:solidFill>
          <a:schemeClr val="accent4">
            <a:hueOff val="-15816747"/>
            <a:satOff val="-16527"/>
            <a:lumOff val="411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dirty="0" smtClean="0">
              <a:solidFill>
                <a:schemeClr val="tx1"/>
              </a:solidFill>
            </a:rPr>
            <a:t>June 1919</a:t>
          </a:r>
          <a:endParaRPr lang="en-US" sz="2500" kern="1200" dirty="0">
            <a:solidFill>
              <a:schemeClr val="tx1"/>
            </a:solidFill>
          </a:endParaRPr>
        </a:p>
      </dsp:txBody>
      <dsp:txXfrm>
        <a:off x="9218134" y="2092382"/>
        <a:ext cx="2107688" cy="123390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82762"/>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000" b="1">
                <a:solidFill>
                  <a:schemeClr val="accent2">
                    <a:lumMod val="7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72473B-484D-4ED3-9DFD-F24BF5EDBF07}" type="datetimeFigureOut">
              <a:rPr lang="en-AU" smtClean="0"/>
              <a:t>26/07/2019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5512678B-9425-4F48-914B-34721F128192}" type="slidenum">
              <a:rPr lang="en-AU" smtClean="0"/>
              <a:t>‹#›</a:t>
            </a:fld>
            <a:endParaRPr lang="en-AU"/>
          </a:p>
        </p:txBody>
      </p:sp>
    </p:spTree>
    <p:extLst>
      <p:ext uri="{BB962C8B-B14F-4D97-AF65-F5344CB8AC3E}">
        <p14:creationId xmlns:p14="http://schemas.microsoft.com/office/powerpoint/2010/main" val="3973958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2473B-484D-4ED3-9DFD-F24BF5EDBF07}" type="datetimeFigureOut">
              <a:rPr lang="en-AU" smtClean="0"/>
              <a:t>26/07/2019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2132678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b="1">
                <a:solidFill>
                  <a:schemeClr val="accent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lvl1pPr>
              <a:defRPr>
                <a:solidFill>
                  <a:schemeClr val="accent2">
                    <a:lumMod val="50000"/>
                  </a:schemeClr>
                </a:solidFill>
              </a:defRPr>
            </a:lvl1pPr>
          </a:lstStyle>
          <a:p>
            <a:fld id="{0472473B-484D-4ED3-9DFD-F24BF5EDBF07}" type="datetimeFigureOut">
              <a:rPr lang="en-AU" smtClean="0"/>
              <a:t>26/07/2019</a:t>
            </a:fld>
            <a:endParaRPr lang="en-AU"/>
          </a:p>
        </p:txBody>
      </p:sp>
      <p:sp>
        <p:nvSpPr>
          <p:cNvPr id="5" name="Footer Placeholder 4"/>
          <p:cNvSpPr>
            <a:spLocks noGrp="1"/>
          </p:cNvSpPr>
          <p:nvPr>
            <p:ph type="ftr" sz="quarter" idx="11"/>
          </p:nvPr>
        </p:nvSpPr>
        <p:spPr>
          <a:xfrm>
            <a:off x="2182708" y="6272784"/>
            <a:ext cx="6327648" cy="365125"/>
          </a:xfrm>
        </p:spPr>
        <p:txBody>
          <a:bodyPr/>
          <a:lstStyle>
            <a:lvl1pPr>
              <a:defRPr>
                <a:solidFill>
                  <a:schemeClr val="accent2">
                    <a:lumMod val="50000"/>
                  </a:schemeClr>
                </a:solidFill>
              </a:defRPr>
            </a:lvl1pPr>
          </a:lstStyle>
          <a:p>
            <a:endParaRPr lang="en-AU"/>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5512678B-9425-4F48-914B-34721F128192}" type="slidenum">
              <a:rPr lang="en-AU" smtClean="0"/>
              <a:t>‹#›</a:t>
            </a:fld>
            <a:endParaRPr lang="en-AU"/>
          </a:p>
        </p:txBody>
      </p:sp>
    </p:spTree>
    <p:extLst>
      <p:ext uri="{BB962C8B-B14F-4D97-AF65-F5344CB8AC3E}">
        <p14:creationId xmlns:p14="http://schemas.microsoft.com/office/powerpoint/2010/main" val="2052912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472473B-484D-4ED3-9DFD-F24BF5EDBF07}" type="datetimeFigureOut">
              <a:rPr lang="en-AU" smtClean="0"/>
              <a:t>26/07/2019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4044879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72473B-484D-4ED3-9DFD-F24BF5EDBF07}" type="datetimeFigureOut">
              <a:rPr lang="en-AU" smtClean="0"/>
              <a:t>26/07/2019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317911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472473B-484D-4ED3-9DFD-F24BF5EDBF07}" type="datetimeFigureOut">
              <a:rPr lang="en-AU" smtClean="0"/>
              <a:t>26/07/2019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2812031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72473B-484D-4ED3-9DFD-F24BF5EDBF07}" type="datetimeFigureOut">
              <a:rPr lang="en-AU" smtClean="0"/>
              <a:t>26/07/2019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555068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472473B-484D-4ED3-9DFD-F24BF5EDBF07}" type="datetimeFigureOut">
              <a:rPr lang="en-AU" smtClean="0"/>
              <a:t>26/07/2019</a:t>
            </a:fld>
            <a:endParaRPr lang="en-AU"/>
          </a:p>
        </p:txBody>
      </p:sp>
      <p:sp>
        <p:nvSpPr>
          <p:cNvPr id="6" name="Footer Placeholder 5"/>
          <p:cNvSpPr>
            <a:spLocks noGrp="1"/>
          </p:cNvSpPr>
          <p:nvPr>
            <p:ph type="ftr" sz="quarter" idx="11"/>
          </p:nvPr>
        </p:nvSpPr>
        <p:spPr/>
        <p:txBody>
          <a:bodyPr/>
          <a:lstStyle/>
          <a:p>
            <a:endParaRPr lang="en-AU"/>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3587506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0472473B-484D-4ED3-9DFD-F24BF5EDBF07}" type="datetimeFigureOut">
              <a:rPr lang="en-AU" smtClean="0"/>
              <a:t>26/07/2019</a:t>
            </a:fld>
            <a:endParaRPr lang="en-AU"/>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448215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2473B-484D-4ED3-9DFD-F24BF5EDBF07}" type="datetimeFigureOut">
              <a:rPr lang="en-AU" smtClean="0"/>
              <a:t>26/07/2019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220114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2473B-484D-4ED3-9DFD-F24BF5EDBF07}" type="datetimeFigureOut">
              <a:rPr lang="en-AU" smtClean="0"/>
              <a:t>26/07/2019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512678B-9425-4F48-914B-34721F128192}" type="slidenum">
              <a:rPr lang="en-AU" smtClean="0"/>
              <a:t>‹#›</a:t>
            </a:fld>
            <a:endParaRPr lang="en-AU"/>
          </a:p>
        </p:txBody>
      </p:sp>
    </p:spTree>
    <p:extLst>
      <p:ext uri="{BB962C8B-B14F-4D97-AF65-F5344CB8AC3E}">
        <p14:creationId xmlns:p14="http://schemas.microsoft.com/office/powerpoint/2010/main" val="1601470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accent2">
                    <a:lumMod val="50000"/>
                  </a:schemeClr>
                </a:solidFill>
              </a:defRPr>
            </a:lvl1pPr>
          </a:lstStyle>
          <a:p>
            <a:fld id="{0472473B-484D-4ED3-9DFD-F24BF5EDBF07}" type="datetimeFigureOut">
              <a:rPr lang="en-AU" smtClean="0"/>
              <a:t>26/07/2019</a:t>
            </a:fld>
            <a:endParaRPr lang="en-AU"/>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accent2">
                    <a:lumMod val="50000"/>
                  </a:schemeClr>
                </a:solidFill>
              </a:defRPr>
            </a:lvl1pPr>
          </a:lstStyle>
          <a:p>
            <a:endParaRPr lang="en-AU"/>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2">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5512678B-9425-4F48-914B-34721F128192}" type="slidenum">
              <a:rPr lang="en-AU" smtClean="0"/>
              <a:t>‹#›</a:t>
            </a:fld>
            <a:endParaRPr lang="en-AU"/>
          </a:p>
        </p:txBody>
      </p:sp>
    </p:spTree>
    <p:extLst>
      <p:ext uri="{BB962C8B-B14F-4D97-AF65-F5344CB8AC3E}">
        <p14:creationId xmlns:p14="http://schemas.microsoft.com/office/powerpoint/2010/main" val="218732646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6PPeszzSQvo"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youtube.com/watch?v=E1jggIpv8M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mTFerHrvm18"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www.funtrivia.com/playquiz/quiz21347818718d8.html"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Challenges to the Weimar Republic</a:t>
            </a:r>
            <a:endParaRPr lang="en-AU" dirty="0"/>
          </a:p>
        </p:txBody>
      </p:sp>
      <p:sp>
        <p:nvSpPr>
          <p:cNvPr id="3" name="Subtitle 2"/>
          <p:cNvSpPr>
            <a:spLocks noGrp="1"/>
          </p:cNvSpPr>
          <p:nvPr>
            <p:ph type="subTitle" idx="1"/>
          </p:nvPr>
        </p:nvSpPr>
        <p:spPr>
          <a:xfrm>
            <a:off x="3906437" y="4468031"/>
            <a:ext cx="7531058" cy="2025678"/>
          </a:xfrm>
        </p:spPr>
        <p:txBody>
          <a:bodyPr>
            <a:normAutofit/>
          </a:bodyPr>
          <a:lstStyle/>
          <a:p>
            <a:pPr marL="342900" lvl="0" indent="-342900" algn="l">
              <a:buFont typeface="Arial" panose="020B0604020202020204" pitchFamily="34" charset="0"/>
              <a:buChar char="•"/>
            </a:pPr>
            <a:r>
              <a:rPr lang="en-GB" dirty="0" smtClean="0"/>
              <a:t>The </a:t>
            </a:r>
            <a:r>
              <a:rPr lang="en-GB" dirty="0" err="1"/>
              <a:t>Kapp</a:t>
            </a:r>
            <a:r>
              <a:rPr lang="en-GB" dirty="0"/>
              <a:t> Putsch </a:t>
            </a:r>
            <a:endParaRPr lang="en-AU" sz="3600" dirty="0"/>
          </a:p>
          <a:p>
            <a:pPr marL="342900" lvl="0" indent="-342900" algn="l">
              <a:buFont typeface="Arial" panose="020B0604020202020204" pitchFamily="34" charset="0"/>
              <a:buChar char="•"/>
            </a:pPr>
            <a:r>
              <a:rPr lang="en-GB" dirty="0"/>
              <a:t>The 1923 </a:t>
            </a:r>
            <a:r>
              <a:rPr lang="en-GB" dirty="0" smtClean="0"/>
              <a:t>crises</a:t>
            </a:r>
          </a:p>
          <a:p>
            <a:pPr marL="800100" lvl="1" indent="-342900" algn="l">
              <a:buFont typeface="Arial" panose="020B0604020202020204" pitchFamily="34" charset="0"/>
              <a:buChar char="•"/>
            </a:pPr>
            <a:r>
              <a:rPr lang="en-AU" sz="2100" dirty="0" smtClean="0"/>
              <a:t>Occupation </a:t>
            </a:r>
            <a:r>
              <a:rPr lang="en-AU" sz="2100" dirty="0"/>
              <a:t>of the </a:t>
            </a:r>
            <a:r>
              <a:rPr lang="en-AU" sz="2100" dirty="0" smtClean="0"/>
              <a:t>Ruhr</a:t>
            </a:r>
          </a:p>
          <a:p>
            <a:pPr marL="800100" lvl="1" indent="-342900" algn="l">
              <a:buFont typeface="Arial" panose="020B0604020202020204" pitchFamily="34" charset="0"/>
              <a:buChar char="•"/>
            </a:pPr>
            <a:r>
              <a:rPr lang="en-AU" sz="2100" dirty="0" smtClean="0"/>
              <a:t>Economic </a:t>
            </a:r>
            <a:r>
              <a:rPr lang="en-AU" sz="2100" dirty="0"/>
              <a:t>collapse and hyperinflation </a:t>
            </a:r>
            <a:endParaRPr lang="en-AU" sz="2100" dirty="0" smtClean="0"/>
          </a:p>
          <a:p>
            <a:pPr marL="800100" lvl="1" indent="-342900" algn="l">
              <a:buFont typeface="Arial" panose="020B0604020202020204" pitchFamily="34" charset="0"/>
              <a:buChar char="•"/>
            </a:pPr>
            <a:r>
              <a:rPr lang="en-AU" sz="2100" dirty="0" smtClean="0"/>
              <a:t>Munich </a:t>
            </a:r>
            <a:r>
              <a:rPr lang="en-AU" sz="2100" dirty="0"/>
              <a:t>(Beer Hall) Putsch</a:t>
            </a:r>
          </a:p>
          <a:p>
            <a:endParaRPr lang="en-AU" dirty="0"/>
          </a:p>
        </p:txBody>
      </p:sp>
      <p:pic>
        <p:nvPicPr>
          <p:cNvPr id="1026" name="Picture 2" descr="Image result for weimar republic fla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7587" y="4739861"/>
            <a:ext cx="1867440" cy="1244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7805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5035" y="6115988"/>
            <a:ext cx="10058400" cy="535898"/>
          </a:xfrm>
        </p:spPr>
        <p:txBody>
          <a:bodyPr/>
          <a:lstStyle/>
          <a:p>
            <a:pPr marL="0" indent="0">
              <a:buNone/>
            </a:pPr>
            <a:r>
              <a:rPr lang="en-AU" dirty="0"/>
              <a:t>Official postcard of the National Assembly</a:t>
            </a:r>
          </a:p>
        </p:txBody>
      </p:sp>
      <p:pic>
        <p:nvPicPr>
          <p:cNvPr id="2053" name="Picture 5" descr="Offizielle Postkarte Weimarer Nationalkversammlu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318" y="204802"/>
            <a:ext cx="8261460" cy="5641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2505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726242"/>
            <a:ext cx="10058400" cy="445957"/>
          </a:xfrm>
        </p:spPr>
        <p:txBody>
          <a:bodyPr/>
          <a:lstStyle/>
          <a:p>
            <a:pPr marL="0" indent="0" algn="ctr">
              <a:buNone/>
            </a:pPr>
            <a:r>
              <a:rPr lang="en-AU" dirty="0"/>
              <a:t>One-million mark notes used as notepaper, October 1923</a:t>
            </a:r>
          </a:p>
        </p:txBody>
      </p:sp>
      <p:pic>
        <p:nvPicPr>
          <p:cNvPr id="3074" name="Picture 2" descr="Bundesarchiv Bild 102-00193, Inflation, Ein-Millionen-Marksche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3445" y="176134"/>
            <a:ext cx="7751206" cy="5325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8375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231567"/>
            <a:ext cx="10058400" cy="1375348"/>
          </a:xfrm>
        </p:spPr>
        <p:txBody>
          <a:bodyPr/>
          <a:lstStyle/>
          <a:p>
            <a:pPr marL="0" indent="0">
              <a:buNone/>
            </a:pPr>
            <a:r>
              <a:rPr lang="en-AU" dirty="0"/>
              <a:t>50-million mark banknote issued in 1923, worth approximately one US dollar when issued. Nine years earlier, 50 million marks would have been worth approximately 12 million US dollars. Within a few weeks, inflation made the banknote practically worthless</a:t>
            </a:r>
          </a:p>
        </p:txBody>
      </p:sp>
      <p:pic>
        <p:nvPicPr>
          <p:cNvPr id="4098" name="Picture 2" descr="50 millionen mark 1 september 19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3932" y="251085"/>
            <a:ext cx="7190232"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222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876143"/>
            <a:ext cx="10058400" cy="745761"/>
          </a:xfrm>
        </p:spPr>
        <p:txBody>
          <a:bodyPr/>
          <a:lstStyle/>
          <a:p>
            <a:pPr marL="0" indent="0">
              <a:buNone/>
            </a:pPr>
            <a:r>
              <a:rPr lang="en-AU" dirty="0"/>
              <a:t>The "Golden Twenties" in Berlin: a jazz band plays for a tea dance at the hotel Esplanade, 1926</a:t>
            </a:r>
          </a:p>
        </p:txBody>
      </p:sp>
      <p:pic>
        <p:nvPicPr>
          <p:cNvPr id="5122" name="Picture 2" descr="Bundesarchiv Bild 183-K0623-0502-001, Berlin, Tanztee im &quot;Esplanad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264" y="236094"/>
            <a:ext cx="7707568" cy="5295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1960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story so far…</a:t>
            </a:r>
            <a:endParaRPr lang="en-AU" dirty="0"/>
          </a:p>
        </p:txBody>
      </p:sp>
      <p:graphicFrame>
        <p:nvGraphicFramePr>
          <p:cNvPr id="4" name="Diagram 3"/>
          <p:cNvGraphicFramePr/>
          <p:nvPr>
            <p:extLst>
              <p:ext uri="{D42A27DB-BD31-4B8C-83A1-F6EECF244321}">
                <p14:modId xmlns:p14="http://schemas.microsoft.com/office/powerpoint/2010/main" val="118478489"/>
              </p:ext>
            </p:extLst>
          </p:nvPr>
        </p:nvGraphicFramePr>
        <p:xfrm>
          <a:off x="414444" y="599745"/>
          <a:ext cx="1136920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00756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Problems in Weimar Germany</a:t>
            </a:r>
            <a:endParaRPr lang="en-AU" dirty="0"/>
          </a:p>
        </p:txBody>
      </p:sp>
      <p:sp>
        <p:nvSpPr>
          <p:cNvPr id="3" name="Content Placeholder 2"/>
          <p:cNvSpPr>
            <a:spLocks noGrp="1"/>
          </p:cNvSpPr>
          <p:nvPr>
            <p:ph idx="1"/>
          </p:nvPr>
        </p:nvSpPr>
        <p:spPr/>
        <p:txBody>
          <a:bodyPr/>
          <a:lstStyle/>
          <a:p>
            <a:pPr marL="0" indent="0">
              <a:buNone/>
            </a:pPr>
            <a:r>
              <a:rPr lang="en-AU" dirty="0" smtClean="0">
                <a:hlinkClick r:id="rId2"/>
              </a:rPr>
              <a:t>https://www.youtube.com/watch?v=6PPeszzSQvo</a:t>
            </a:r>
            <a:endParaRPr lang="en-AU" dirty="0" smtClean="0"/>
          </a:p>
          <a:p>
            <a:endParaRPr lang="en-AU" dirty="0"/>
          </a:p>
          <a:p>
            <a:pPr marL="0" indent="0">
              <a:buNone/>
            </a:pPr>
            <a:endParaRPr lang="en-AU" dirty="0"/>
          </a:p>
          <a:p>
            <a:pPr marL="0" indent="0">
              <a:buNone/>
            </a:pPr>
            <a:r>
              <a:rPr lang="en-AU" sz="3000" b="1" dirty="0" smtClean="0"/>
              <a:t>What were the main issues of the Weimar Republic and what impact did this have on Germany?</a:t>
            </a:r>
          </a:p>
          <a:p>
            <a:pPr marL="0" indent="0">
              <a:buNone/>
            </a:pPr>
            <a:endParaRPr lang="en-AU" dirty="0"/>
          </a:p>
          <a:p>
            <a:pPr marL="0" indent="0">
              <a:buNone/>
            </a:pPr>
            <a:r>
              <a:rPr lang="en-AU" dirty="0" smtClean="0"/>
              <a:t>Write a 1 sentence response.</a:t>
            </a:r>
            <a:endParaRPr lang="en-AU" dirty="0"/>
          </a:p>
        </p:txBody>
      </p:sp>
    </p:spTree>
    <p:extLst>
      <p:ext uri="{BB962C8B-B14F-4D97-AF65-F5344CB8AC3E}">
        <p14:creationId xmlns:p14="http://schemas.microsoft.com/office/powerpoint/2010/main" val="11238738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a:t>
            </a:r>
            <a:r>
              <a:rPr lang="en-AU" dirty="0" err="1" smtClean="0"/>
              <a:t>Kapp</a:t>
            </a:r>
            <a:r>
              <a:rPr lang="en-AU" dirty="0" smtClean="0"/>
              <a:t> Putsch</a:t>
            </a:r>
            <a:endParaRPr lang="en-AU" dirty="0"/>
          </a:p>
        </p:txBody>
      </p:sp>
      <p:sp>
        <p:nvSpPr>
          <p:cNvPr id="3" name="Content Placeholder 2"/>
          <p:cNvSpPr>
            <a:spLocks noGrp="1"/>
          </p:cNvSpPr>
          <p:nvPr>
            <p:ph idx="1"/>
          </p:nvPr>
        </p:nvSpPr>
        <p:spPr>
          <a:xfrm>
            <a:off x="419725" y="2121408"/>
            <a:ext cx="10708523" cy="4736592"/>
          </a:xfrm>
        </p:spPr>
        <p:txBody>
          <a:bodyPr>
            <a:normAutofit/>
          </a:bodyPr>
          <a:lstStyle/>
          <a:p>
            <a:r>
              <a:rPr lang="en-AU" dirty="0" smtClean="0">
                <a:hlinkClick r:id="rId2"/>
              </a:rPr>
              <a:t>https://www.youtube.com/watch?v=E1jggIpv8Mg</a:t>
            </a:r>
            <a:endParaRPr lang="en-AU" dirty="0" smtClean="0"/>
          </a:p>
          <a:p>
            <a:r>
              <a:rPr lang="en-AU" sz="2300" b="1" dirty="0"/>
              <a:t>The threat from the </a:t>
            </a:r>
            <a:r>
              <a:rPr lang="en-AU" sz="2300" b="1" dirty="0" smtClean="0"/>
              <a:t>Right</a:t>
            </a:r>
          </a:p>
          <a:p>
            <a:r>
              <a:rPr lang="en-AU" sz="2300" dirty="0" smtClean="0"/>
              <a:t>In </a:t>
            </a:r>
            <a:r>
              <a:rPr lang="en-AU" sz="2300" dirty="0"/>
              <a:t>crushing the </a:t>
            </a:r>
            <a:r>
              <a:rPr lang="en-AU" sz="2300" dirty="0" smtClean="0"/>
              <a:t>communists (The Spartacist Uprising) </a:t>
            </a:r>
            <a:r>
              <a:rPr lang="en-AU" sz="2300" dirty="0"/>
              <a:t>the Freikorps had saved the government, but the terms of the </a:t>
            </a:r>
            <a:r>
              <a:rPr lang="en-AU" sz="2300" b="1" dirty="0"/>
              <a:t>Treaty of Versailles</a:t>
            </a:r>
            <a:r>
              <a:rPr lang="en-AU" sz="2300" dirty="0"/>
              <a:t> meant Germany’s army had to be significantly reduced and the Freikorps had to be disbanded.</a:t>
            </a:r>
          </a:p>
          <a:p>
            <a:r>
              <a:rPr lang="en-AU" sz="2300" dirty="0"/>
              <a:t>During 13 - 17 March 1920, as a reaction to this, the right-wing </a:t>
            </a:r>
            <a:r>
              <a:rPr lang="en-AU" sz="2300" b="1" dirty="0"/>
              <a:t>nationalist</a:t>
            </a:r>
            <a:r>
              <a:rPr lang="en-AU" sz="2300" dirty="0"/>
              <a:t>, Dr Wolfgang </a:t>
            </a:r>
            <a:r>
              <a:rPr lang="en-AU" sz="2300" dirty="0" err="1"/>
              <a:t>Kapp</a:t>
            </a:r>
            <a:r>
              <a:rPr lang="en-AU" sz="2300" dirty="0"/>
              <a:t> led a Freikorps takeover in Berlin.</a:t>
            </a:r>
          </a:p>
          <a:p>
            <a:r>
              <a:rPr lang="en-AU" sz="2300" dirty="0"/>
              <a:t>The regular army refused to attack the Freikorps; </a:t>
            </a:r>
            <a:r>
              <a:rPr lang="en-AU" sz="2300" dirty="0" err="1"/>
              <a:t>Kapp</a:t>
            </a:r>
            <a:r>
              <a:rPr lang="en-AU" sz="2300" dirty="0"/>
              <a:t> was only defeated when the workers of Berlin went on strike and refused to cooperate with him</a:t>
            </a:r>
            <a:r>
              <a:rPr lang="en-AU" sz="2300" dirty="0" smtClean="0"/>
              <a:t>.</a:t>
            </a:r>
          </a:p>
        </p:txBody>
      </p:sp>
      <p:pic>
        <p:nvPicPr>
          <p:cNvPr id="6148" name="Picture 4" descr="Image result for kapp wolfga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4914" y="166220"/>
            <a:ext cx="1810024" cy="2427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6008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kapp puts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418" y="209863"/>
            <a:ext cx="9605561" cy="64157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103370" y="494675"/>
            <a:ext cx="1738860" cy="2585323"/>
          </a:xfrm>
          <a:prstGeom prst="rect">
            <a:avLst/>
          </a:prstGeom>
          <a:noFill/>
        </p:spPr>
        <p:txBody>
          <a:bodyPr wrap="square" rtlCol="0">
            <a:spAutoFit/>
          </a:bodyPr>
          <a:lstStyle/>
          <a:p>
            <a:r>
              <a:rPr lang="en-AU" b="1" dirty="0">
                <a:solidFill>
                  <a:srgbClr val="FF0000"/>
                </a:solidFill>
              </a:rPr>
              <a:t>What would have happened if the </a:t>
            </a:r>
            <a:r>
              <a:rPr lang="en-AU" b="1" dirty="0" err="1">
                <a:solidFill>
                  <a:srgbClr val="FF0000"/>
                </a:solidFill>
              </a:rPr>
              <a:t>Kapp</a:t>
            </a:r>
            <a:r>
              <a:rPr lang="en-AU" b="1" dirty="0">
                <a:solidFill>
                  <a:srgbClr val="FF0000"/>
                </a:solidFill>
              </a:rPr>
              <a:t> Putsch was successful? (1 sentence answer)</a:t>
            </a:r>
          </a:p>
          <a:p>
            <a:endParaRPr lang="en-AU" dirty="0"/>
          </a:p>
        </p:txBody>
      </p:sp>
    </p:spTree>
    <p:extLst>
      <p:ext uri="{BB962C8B-B14F-4D97-AF65-F5344CB8AC3E}">
        <p14:creationId xmlns:p14="http://schemas.microsoft.com/office/powerpoint/2010/main" val="20529529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754" y="199819"/>
            <a:ext cx="10058400" cy="984404"/>
          </a:xfrm>
        </p:spPr>
        <p:txBody>
          <a:bodyPr>
            <a:normAutofit/>
          </a:bodyPr>
          <a:lstStyle/>
          <a:p>
            <a:r>
              <a:rPr lang="en-AU" sz="4000" dirty="0" smtClean="0"/>
              <a:t>1923 Crises: Occupation of the Ruhr</a:t>
            </a:r>
            <a:endParaRPr lang="en-AU" sz="4000" dirty="0"/>
          </a:p>
        </p:txBody>
      </p:sp>
      <p:sp>
        <p:nvSpPr>
          <p:cNvPr id="3" name="Content Placeholder 2"/>
          <p:cNvSpPr>
            <a:spLocks noGrp="1"/>
          </p:cNvSpPr>
          <p:nvPr>
            <p:ph idx="1"/>
          </p:nvPr>
        </p:nvSpPr>
        <p:spPr>
          <a:xfrm>
            <a:off x="374754" y="1304144"/>
            <a:ext cx="10753494" cy="5336499"/>
          </a:xfrm>
        </p:spPr>
        <p:txBody>
          <a:bodyPr>
            <a:normAutofit/>
          </a:bodyPr>
          <a:lstStyle/>
          <a:p>
            <a:r>
              <a:rPr lang="en-AU" b="1" dirty="0"/>
              <a:t>French and Belgian occupation of the Ruhr</a:t>
            </a:r>
          </a:p>
          <a:p>
            <a:r>
              <a:rPr lang="en-AU" dirty="0"/>
              <a:t>In November 1922 Germany defaulted on its reparations payment as scheduled. The first reparations payment had taken all she could afford to pay. </a:t>
            </a:r>
            <a:endParaRPr lang="en-AU" dirty="0" smtClean="0"/>
          </a:p>
          <a:p>
            <a:r>
              <a:rPr lang="en-AU" dirty="0" smtClean="0"/>
              <a:t>In </a:t>
            </a:r>
            <a:r>
              <a:rPr lang="en-AU" dirty="0"/>
              <a:t>response, France and Belgium sent troops into Germany’s main industrial area, the </a:t>
            </a:r>
            <a:r>
              <a:rPr lang="en-AU" b="1" dirty="0"/>
              <a:t>Ruhr</a:t>
            </a:r>
            <a:r>
              <a:rPr lang="en-AU" dirty="0"/>
              <a:t> Valley. </a:t>
            </a:r>
            <a:r>
              <a:rPr lang="en-AU" dirty="0" smtClean="0"/>
              <a:t>They </a:t>
            </a:r>
            <a:r>
              <a:rPr lang="en-AU" dirty="0"/>
              <a:t>occupied coal mines, railways, steel works and factories – all things that were important to Germany’s economy.</a:t>
            </a:r>
          </a:p>
          <a:p>
            <a:r>
              <a:rPr lang="en-AU" dirty="0"/>
              <a:t>The German government ordered workers to follow a policy of ‘passive resistance’ – refusing to work or co-operate with the foreign troops and in return the government continued to pay their wages.</a:t>
            </a:r>
          </a:p>
          <a:p>
            <a:r>
              <a:rPr lang="en-AU" dirty="0"/>
              <a:t>The French responded firmly – in the Krupp steel works, workers refusing to take orders were shot at. </a:t>
            </a:r>
            <a:r>
              <a:rPr lang="en-AU" dirty="0" smtClean="0"/>
              <a:t>Overall</a:t>
            </a:r>
            <a:r>
              <a:rPr lang="en-AU" dirty="0"/>
              <a:t>, 132 were killed and approximately 150,000 expelled from the area.</a:t>
            </a:r>
          </a:p>
          <a:p>
            <a:r>
              <a:rPr lang="en-AU" dirty="0"/>
              <a:t>The immediate consequences of the occupation were not good for the Weimar government – they decided to print more money to pay the workers in the region, contributing to hyperinflation. A general strike (when all the workers in the country stopped work) was called, and political instability was rife</a:t>
            </a:r>
            <a:r>
              <a:rPr lang="en-AU" dirty="0" smtClean="0"/>
              <a:t>.</a:t>
            </a:r>
            <a:endParaRPr lang="en-AU" dirty="0"/>
          </a:p>
        </p:txBody>
      </p:sp>
    </p:spTree>
    <p:extLst>
      <p:ext uri="{BB962C8B-B14F-4D97-AF65-F5344CB8AC3E}">
        <p14:creationId xmlns:p14="http://schemas.microsoft.com/office/powerpoint/2010/main" val="41051682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mage result for occupation of the ruh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368" y="233595"/>
            <a:ext cx="11095660" cy="48330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24262" y="5831174"/>
            <a:ext cx="7689954" cy="646331"/>
          </a:xfrm>
          <a:prstGeom prst="rect">
            <a:avLst/>
          </a:prstGeom>
          <a:noFill/>
        </p:spPr>
        <p:txBody>
          <a:bodyPr wrap="square" rtlCol="0">
            <a:spAutoFit/>
          </a:bodyPr>
          <a:lstStyle/>
          <a:p>
            <a:r>
              <a:rPr lang="en-AU" b="1" dirty="0" smtClean="0">
                <a:solidFill>
                  <a:srgbClr val="FF0000"/>
                </a:solidFill>
              </a:rPr>
              <a:t>What did the French and Belgium occupations of the Ruhr aim to achieve? (1 sentence answer)</a:t>
            </a:r>
            <a:endParaRPr lang="en-AU" b="1" dirty="0">
              <a:solidFill>
                <a:srgbClr val="FF0000"/>
              </a:solidFill>
            </a:endParaRPr>
          </a:p>
        </p:txBody>
      </p:sp>
    </p:spTree>
    <p:extLst>
      <p:ext uri="{BB962C8B-B14F-4D97-AF65-F5344CB8AC3E}">
        <p14:creationId xmlns:p14="http://schemas.microsoft.com/office/powerpoint/2010/main" val="39149105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1923 Crises</a:t>
            </a:r>
            <a:r>
              <a:rPr lang="en-AU" dirty="0" smtClean="0"/>
              <a:t>: Economic </a:t>
            </a:r>
            <a:r>
              <a:rPr lang="en-AU" dirty="0"/>
              <a:t>collapse and hyperinflation </a:t>
            </a:r>
            <a:r>
              <a:rPr lang="en-AU" dirty="0" smtClean="0"/>
              <a:t> </a:t>
            </a:r>
            <a:endParaRPr lang="en-AU" dirty="0"/>
          </a:p>
        </p:txBody>
      </p:sp>
      <p:sp>
        <p:nvSpPr>
          <p:cNvPr id="3" name="Content Placeholder 2"/>
          <p:cNvSpPr>
            <a:spLocks noGrp="1"/>
          </p:cNvSpPr>
          <p:nvPr>
            <p:ph idx="1"/>
          </p:nvPr>
        </p:nvSpPr>
        <p:spPr>
          <a:xfrm>
            <a:off x="389744" y="2271309"/>
            <a:ext cx="10738504" cy="4369334"/>
          </a:xfrm>
        </p:spPr>
        <p:txBody>
          <a:bodyPr>
            <a:normAutofit/>
          </a:bodyPr>
          <a:lstStyle/>
          <a:p>
            <a:r>
              <a:rPr lang="en-AU" dirty="0"/>
              <a:t>Germany was already suffering from high levels of inflation due to the effects of the war and the </a:t>
            </a:r>
            <a:r>
              <a:rPr lang="en-AU" dirty="0" smtClean="0"/>
              <a:t>Treaty of Versailles.</a:t>
            </a:r>
            <a:endParaRPr lang="en-AU" dirty="0"/>
          </a:p>
          <a:p>
            <a:r>
              <a:rPr lang="en-AU" dirty="0"/>
              <a:t>‘Passive resistance’ meant that whilst the workers were on strike fewer industrial goods were being produced, which weakened the economy still further.</a:t>
            </a:r>
          </a:p>
          <a:p>
            <a:r>
              <a:rPr lang="en-AU" dirty="0"/>
              <a:t>In order to pay the striking workers the government simply printed more money. This flood of money led to hyperinflation as the more money was printed, the more prices rose.</a:t>
            </a:r>
          </a:p>
          <a:p>
            <a:r>
              <a:rPr lang="en-AU" dirty="0"/>
              <a:t>Prices ran out of control, for example a loaf of bread, which cost 250 marks in January 1923, had risen to 200,000 million marks in November 1923.</a:t>
            </a:r>
          </a:p>
          <a:p>
            <a:r>
              <a:rPr lang="en-AU" dirty="0"/>
              <a:t>By autumn 1923 it cost more to print a note than the note was worth.</a:t>
            </a:r>
          </a:p>
          <a:p>
            <a:r>
              <a:rPr lang="en-AU" dirty="0"/>
              <a:t>During the crisis, workers were often paid twice per day because prices rose so fast their wages were virtually worthless by lunchtime</a:t>
            </a:r>
            <a:r>
              <a:rPr lang="en-AU" dirty="0" smtClean="0"/>
              <a:t>.</a:t>
            </a:r>
            <a:endParaRPr lang="en-AU" dirty="0"/>
          </a:p>
        </p:txBody>
      </p:sp>
    </p:spTree>
    <p:extLst>
      <p:ext uri="{BB962C8B-B14F-4D97-AF65-F5344CB8AC3E}">
        <p14:creationId xmlns:p14="http://schemas.microsoft.com/office/powerpoint/2010/main" val="10697099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Image result for children playing money germany hyperinfl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00538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Image result for children playing money germany hyperinflation"/>
          <p:cNvPicPr>
            <a:picLocks noChangeAspect="1" noChangeArrowheads="1"/>
          </p:cNvPicPr>
          <p:nvPr/>
        </p:nvPicPr>
        <p:blipFill rotWithShape="1">
          <a:blip r:embed="rId3">
            <a:extLst>
              <a:ext uri="{28A0092B-C50C-407E-A947-70E740481C1C}">
                <a14:useLocalDpi xmlns:a14="http://schemas.microsoft.com/office/drawing/2010/main" val="0"/>
              </a:ext>
            </a:extLst>
          </a:blip>
          <a:srcRect l="40773"/>
          <a:stretch/>
        </p:blipFill>
        <p:spPr bwMode="auto">
          <a:xfrm>
            <a:off x="5821796" y="149901"/>
            <a:ext cx="5830557" cy="55613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651292" y="5876144"/>
            <a:ext cx="5051685" cy="923330"/>
          </a:xfrm>
          <a:prstGeom prst="rect">
            <a:avLst/>
          </a:prstGeom>
          <a:noFill/>
        </p:spPr>
        <p:txBody>
          <a:bodyPr wrap="square" rtlCol="0">
            <a:spAutoFit/>
          </a:bodyPr>
          <a:lstStyle/>
          <a:p>
            <a:r>
              <a:rPr lang="en-AU" b="1" dirty="0" smtClean="0">
                <a:solidFill>
                  <a:srgbClr val="FF0000"/>
                </a:solidFill>
              </a:rPr>
              <a:t>What impact did hyperinflation have on Germany? (Hint: Weimar Republic) (1 sentence answer)</a:t>
            </a:r>
            <a:endParaRPr lang="en-AU" b="1" dirty="0">
              <a:solidFill>
                <a:srgbClr val="FF0000"/>
              </a:solidFill>
            </a:endParaRPr>
          </a:p>
        </p:txBody>
      </p:sp>
    </p:spTree>
    <p:extLst>
      <p:ext uri="{BB962C8B-B14F-4D97-AF65-F5344CB8AC3E}">
        <p14:creationId xmlns:p14="http://schemas.microsoft.com/office/powerpoint/2010/main" val="30351636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1923 </a:t>
            </a:r>
            <a:r>
              <a:rPr lang="en-AU" dirty="0"/>
              <a:t>Crises:  The Munich (Beer Hall) </a:t>
            </a:r>
            <a:r>
              <a:rPr lang="en-AU" dirty="0" smtClean="0"/>
              <a:t>Putsch</a:t>
            </a:r>
            <a:endParaRPr lang="en-AU" dirty="0"/>
          </a:p>
        </p:txBody>
      </p:sp>
      <p:sp>
        <p:nvSpPr>
          <p:cNvPr id="3" name="Content Placeholder 2"/>
          <p:cNvSpPr>
            <a:spLocks noGrp="1"/>
          </p:cNvSpPr>
          <p:nvPr>
            <p:ph idx="1"/>
          </p:nvPr>
        </p:nvSpPr>
        <p:spPr>
          <a:xfrm>
            <a:off x="485231" y="2093976"/>
            <a:ext cx="10787372" cy="4516686"/>
          </a:xfrm>
        </p:spPr>
        <p:txBody>
          <a:bodyPr/>
          <a:lstStyle/>
          <a:p>
            <a:r>
              <a:rPr lang="en-AU" dirty="0">
                <a:hlinkClick r:id="rId2"/>
              </a:rPr>
              <a:t>https://www.youtube.com/watch?v=mTFerHrvm18</a:t>
            </a:r>
            <a:endParaRPr lang="en-AU" dirty="0" smtClean="0"/>
          </a:p>
          <a:p>
            <a:r>
              <a:rPr lang="en-AU" sz="2500" dirty="0" smtClean="0"/>
              <a:t>On </a:t>
            </a:r>
            <a:r>
              <a:rPr lang="en-AU" sz="2500" dirty="0"/>
              <a:t>November 8–9, 1923, Adolf Hitler and the Nazi Party led a coalition group in an attempt to overthrow the German government. This attempted coup d'état came to be known as the Beer Hall Putsch</a:t>
            </a:r>
            <a:r>
              <a:rPr lang="en-AU" sz="2500" dirty="0" smtClean="0"/>
              <a:t>.</a:t>
            </a:r>
          </a:p>
          <a:p>
            <a:r>
              <a:rPr lang="en-AU" sz="2500" smtClean="0"/>
              <a:t>A </a:t>
            </a:r>
            <a:r>
              <a:rPr lang="en-AU" sz="2500" dirty="0"/>
              <a:t>failed takeover of the government in </a:t>
            </a:r>
            <a:r>
              <a:rPr lang="en-AU" sz="2500" dirty="0" smtClean="0"/>
              <a:t>Bavaria.</a:t>
            </a:r>
          </a:p>
          <a:p>
            <a:r>
              <a:rPr lang="en-AU" sz="2500" dirty="0"/>
              <a:t>Since 1921, Hitler had led the Nazi </a:t>
            </a:r>
            <a:r>
              <a:rPr lang="en-AU" sz="2500" dirty="0" smtClean="0"/>
              <a:t>Party</a:t>
            </a:r>
          </a:p>
          <a:p>
            <a:r>
              <a:rPr lang="en-AU" sz="2500" dirty="0"/>
              <a:t>In the aftermath of the failed “putsch,” or coup d’état, Hitler was convicted of treason and sentenced to five years in prison. He spent less than a year behind bars, during which time he dictated “Mein </a:t>
            </a:r>
            <a:r>
              <a:rPr lang="en-AU" sz="2500" dirty="0" err="1"/>
              <a:t>Kampf</a:t>
            </a:r>
            <a:r>
              <a:rPr lang="en-AU" sz="2500" dirty="0"/>
              <a:t>,” his political autobiography. </a:t>
            </a:r>
          </a:p>
        </p:txBody>
      </p:sp>
    </p:spTree>
    <p:extLst>
      <p:ext uri="{BB962C8B-B14F-4D97-AF65-F5344CB8AC3E}">
        <p14:creationId xmlns:p14="http://schemas.microsoft.com/office/powerpoint/2010/main" val="32119482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1919536" y="828677"/>
            <a:ext cx="8642350" cy="317658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1900" b="1" u="sng" dirty="0">
                <a:latin typeface="Comic Sans MS" panose="030F0702030302020204" pitchFamily="66" charset="0"/>
                <a:cs typeface="Times New Roman" panose="02020603050405020304" pitchFamily="18" charset="0"/>
              </a:rPr>
              <a:t>Source A</a:t>
            </a:r>
            <a:endParaRPr lang="en-GB" altLang="en-US" sz="1900" dirty="0">
              <a:latin typeface="Comic Sans MS" panose="030F0702030302020204" pitchFamily="66" charset="0"/>
              <a:cs typeface="Times New Roman" panose="02020603050405020304" pitchFamily="18" charset="0"/>
            </a:endParaRPr>
          </a:p>
          <a:p>
            <a:pPr eaLnBrk="1" hangingPunct="1">
              <a:lnSpc>
                <a:spcPct val="125000"/>
              </a:lnSpc>
              <a:spcBef>
                <a:spcPct val="50000"/>
              </a:spcBef>
              <a:buFontTx/>
              <a:buNone/>
            </a:pPr>
            <a:r>
              <a:rPr lang="en-GB" altLang="en-US" sz="2200" dirty="0">
                <a:latin typeface="Comic Sans MS" panose="030F0702030302020204" pitchFamily="66" charset="0"/>
                <a:cs typeface="Times New Roman" panose="02020603050405020304" pitchFamily="18" charset="0"/>
              </a:rPr>
              <a:t>It was at this point that Hitler seemed to snatch some kind of victory out of the jaws of defeat. The trial gave him a national platform on which to speak…Newspapers throughout Germany and around the world reported his claim that he had led the movement against the ‘treasonable’ Weimar system…</a:t>
            </a:r>
          </a:p>
          <a:p>
            <a:pPr algn="r" eaLnBrk="1" hangingPunct="1">
              <a:spcBef>
                <a:spcPct val="50000"/>
              </a:spcBef>
              <a:buFontTx/>
              <a:buNone/>
            </a:pPr>
            <a:r>
              <a:rPr lang="en-GB" altLang="en-US" sz="1600" dirty="0" err="1">
                <a:latin typeface="Comic Sans MS" panose="030F0702030302020204" pitchFamily="66" charset="0"/>
                <a:cs typeface="Times New Roman" panose="02020603050405020304" pitchFamily="18" charset="0"/>
              </a:rPr>
              <a:t>Lacey</a:t>
            </a:r>
            <a:r>
              <a:rPr lang="en-GB" altLang="en-US" sz="1600" dirty="0">
                <a:latin typeface="Comic Sans MS" panose="030F0702030302020204" pitchFamily="66" charset="0"/>
                <a:cs typeface="Times New Roman" panose="02020603050405020304" pitchFamily="18" charset="0"/>
              </a:rPr>
              <a:t> and </a:t>
            </a:r>
            <a:r>
              <a:rPr lang="en-GB" altLang="en-US" sz="1600" dirty="0" err="1">
                <a:latin typeface="Comic Sans MS" panose="030F0702030302020204" pitchFamily="66" charset="0"/>
                <a:cs typeface="Times New Roman" panose="02020603050405020304" pitchFamily="18" charset="0"/>
              </a:rPr>
              <a:t>Shephard</a:t>
            </a:r>
            <a:r>
              <a:rPr lang="en-GB" altLang="en-US" sz="1600" dirty="0">
                <a:latin typeface="Comic Sans MS" panose="030F0702030302020204" pitchFamily="66" charset="0"/>
                <a:cs typeface="Times New Roman" panose="02020603050405020304" pitchFamily="18" charset="0"/>
              </a:rPr>
              <a:t>, 1997.</a:t>
            </a:r>
            <a:r>
              <a:rPr lang="en-GB" altLang="en-US" sz="2200" dirty="0">
                <a:latin typeface="Comic Sans MS" panose="030F0702030302020204" pitchFamily="66" charset="0"/>
                <a:cs typeface="Times New Roman" panose="02020603050405020304" pitchFamily="18" charset="0"/>
              </a:rPr>
              <a:t> </a:t>
            </a:r>
          </a:p>
        </p:txBody>
      </p:sp>
      <p:sp>
        <p:nvSpPr>
          <p:cNvPr id="40963" name="Text Box 3"/>
          <p:cNvSpPr txBox="1">
            <a:spLocks noChangeArrowheads="1"/>
          </p:cNvSpPr>
          <p:nvPr/>
        </p:nvSpPr>
        <p:spPr bwMode="auto">
          <a:xfrm>
            <a:off x="1524000" y="0"/>
            <a:ext cx="7467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US" altLang="en-US" sz="2200" b="1">
              <a:solidFill>
                <a:schemeClr val="accent2"/>
              </a:solidFill>
              <a:latin typeface="Comic Sans MS" panose="030F0702030302020204" pitchFamily="66" charset="0"/>
              <a:cs typeface="Times New Roman" panose="02020603050405020304" pitchFamily="18" charset="0"/>
            </a:endParaRPr>
          </a:p>
        </p:txBody>
      </p:sp>
      <p:sp>
        <p:nvSpPr>
          <p:cNvPr id="40965" name="Text Box 5"/>
          <p:cNvSpPr txBox="1">
            <a:spLocks noChangeArrowheads="1"/>
          </p:cNvSpPr>
          <p:nvPr/>
        </p:nvSpPr>
        <p:spPr bwMode="auto">
          <a:xfrm>
            <a:off x="1558620" y="18573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GB" altLang="en-US" sz="2400" i="1" dirty="0">
                <a:solidFill>
                  <a:schemeClr val="accent2"/>
                </a:solidFill>
                <a:latin typeface="Comic Sans MS" panose="030F0702030302020204" pitchFamily="66" charset="0"/>
                <a:cs typeface="Times New Roman" panose="02020603050405020304" pitchFamily="18" charset="0"/>
              </a:rPr>
              <a:t>How successful was the Munich Putsch?</a:t>
            </a:r>
          </a:p>
        </p:txBody>
      </p:sp>
      <p:pic>
        <p:nvPicPr>
          <p:cNvPr id="40967" name="Picture 7" descr="MCBD05517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3389" y="4437063"/>
            <a:ext cx="12223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1221158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774825" y="1412876"/>
            <a:ext cx="8642350" cy="44799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GB" altLang="en-US" sz="2200" b="1" u="sng" dirty="0">
                <a:latin typeface="Comic Sans MS" panose="030F0702030302020204" pitchFamily="66" charset="0"/>
                <a:cs typeface="Times New Roman" panose="02020603050405020304" pitchFamily="18" charset="0"/>
              </a:rPr>
              <a:t>Source B</a:t>
            </a:r>
            <a:endParaRPr lang="en-GB" altLang="en-US" sz="2200" dirty="0">
              <a:latin typeface="Comic Sans MS" panose="030F0702030302020204" pitchFamily="66" charset="0"/>
              <a:cs typeface="Times New Roman" panose="02020603050405020304" pitchFamily="18" charset="0"/>
            </a:endParaRPr>
          </a:p>
          <a:p>
            <a:pPr eaLnBrk="1" hangingPunct="1">
              <a:lnSpc>
                <a:spcPct val="125000"/>
              </a:lnSpc>
              <a:spcBef>
                <a:spcPct val="50000"/>
              </a:spcBef>
              <a:buFontTx/>
              <a:buNone/>
            </a:pPr>
            <a:r>
              <a:rPr lang="en-GB" altLang="en-US" sz="2200" dirty="0">
                <a:latin typeface="Comic Sans MS" panose="030F0702030302020204" pitchFamily="66" charset="0"/>
                <a:cs typeface="Times New Roman" panose="02020603050405020304" pitchFamily="18" charset="0"/>
              </a:rPr>
              <a:t>The court was also sympathetic to Hitler. Instead of sentencing him to death as it might have done, it gave him the minimum sentence for the offence – five years imprisonment. The judges also made it clear that he could expect an early release. In fact, Hitler served just nine months of his sentence…He spent much of the time dictating the first part of his book, </a:t>
            </a:r>
            <a:r>
              <a:rPr lang="en-GB" altLang="en-US" sz="2200" i="1" dirty="0">
                <a:latin typeface="Comic Sans MS" panose="030F0702030302020204" pitchFamily="66" charset="0"/>
                <a:cs typeface="Times New Roman" panose="02020603050405020304" pitchFamily="18" charset="0"/>
              </a:rPr>
              <a:t>Mein </a:t>
            </a:r>
            <a:r>
              <a:rPr lang="en-GB" altLang="en-US" sz="2200" i="1" dirty="0" err="1">
                <a:latin typeface="Comic Sans MS" panose="030F0702030302020204" pitchFamily="66" charset="0"/>
                <a:cs typeface="Times New Roman" panose="02020603050405020304" pitchFamily="18" charset="0"/>
              </a:rPr>
              <a:t>Kampf</a:t>
            </a:r>
            <a:r>
              <a:rPr lang="en-GB" altLang="en-US" sz="2200" i="1" dirty="0">
                <a:latin typeface="Comic Sans MS" panose="030F0702030302020204" pitchFamily="66" charset="0"/>
                <a:cs typeface="Times New Roman" panose="02020603050405020304" pitchFamily="18" charset="0"/>
              </a:rPr>
              <a:t> </a:t>
            </a:r>
            <a:r>
              <a:rPr lang="en-GB" altLang="en-US" sz="2200" dirty="0">
                <a:latin typeface="Comic Sans MS" panose="030F0702030302020204" pitchFamily="66" charset="0"/>
                <a:cs typeface="Times New Roman" panose="02020603050405020304" pitchFamily="18" charset="0"/>
              </a:rPr>
              <a:t>(‘My Struggle’). Imprisonment provided Hitler with a period of enforced leisure in which he was able to sort out his main ideas. </a:t>
            </a:r>
          </a:p>
          <a:p>
            <a:pPr algn="r" eaLnBrk="1" hangingPunct="1">
              <a:spcBef>
                <a:spcPct val="50000"/>
              </a:spcBef>
              <a:buFontTx/>
              <a:buNone/>
            </a:pPr>
            <a:r>
              <a:rPr lang="en-GB" altLang="en-US" sz="1600" dirty="0">
                <a:latin typeface="Comic Sans MS" panose="030F0702030302020204" pitchFamily="66" charset="0"/>
                <a:cs typeface="Times New Roman" panose="02020603050405020304" pitchFamily="18" charset="0"/>
              </a:rPr>
              <a:t>Stephen Lee, 1996</a:t>
            </a:r>
            <a:r>
              <a:rPr lang="en-GB" altLang="en-US" sz="2200" dirty="0">
                <a:latin typeface="Comic Sans MS" panose="030F0702030302020204" pitchFamily="66" charset="0"/>
                <a:cs typeface="Times New Roman" panose="02020603050405020304" pitchFamily="18" charset="0"/>
              </a:rPr>
              <a:t>.</a:t>
            </a:r>
          </a:p>
        </p:txBody>
      </p:sp>
      <p:sp>
        <p:nvSpPr>
          <p:cNvPr id="41987" name="Text Box 3"/>
          <p:cNvSpPr txBox="1">
            <a:spLocks noChangeArrowheads="1"/>
          </p:cNvSpPr>
          <p:nvPr/>
        </p:nvSpPr>
        <p:spPr bwMode="auto">
          <a:xfrm>
            <a:off x="1524000" y="0"/>
            <a:ext cx="7467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US" altLang="en-US" sz="2200" b="1">
              <a:solidFill>
                <a:schemeClr val="accent2"/>
              </a:solidFill>
              <a:latin typeface="Comic Sans MS" panose="030F0702030302020204" pitchFamily="66" charset="0"/>
              <a:cs typeface="Times New Roman" panose="02020603050405020304" pitchFamily="18" charset="0"/>
            </a:endParaRPr>
          </a:p>
        </p:txBody>
      </p:sp>
      <p:sp>
        <p:nvSpPr>
          <p:cNvPr id="41990" name="Text Box 6"/>
          <p:cNvSpPr txBox="1">
            <a:spLocks noChangeArrowheads="1"/>
          </p:cNvSpPr>
          <p:nvPr/>
        </p:nvSpPr>
        <p:spPr bwMode="auto">
          <a:xfrm>
            <a:off x="1524000" y="351632"/>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GB" altLang="en-US" sz="2400" i="1" dirty="0">
                <a:solidFill>
                  <a:schemeClr val="accent2"/>
                </a:solidFill>
                <a:latin typeface="Comic Sans MS" panose="030F0702030302020204" pitchFamily="66" charset="0"/>
                <a:cs typeface="Times New Roman" panose="02020603050405020304" pitchFamily="18" charset="0"/>
              </a:rPr>
              <a:t>How successful was the Munich Putsch?</a:t>
            </a:r>
          </a:p>
        </p:txBody>
      </p:sp>
      <p:pic>
        <p:nvPicPr>
          <p:cNvPr id="41991" name="Picture 7" descr="MCj0305389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774825" y="5445126"/>
            <a:ext cx="83820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032684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4858" y="0"/>
            <a:ext cx="10058400" cy="1609344"/>
          </a:xfrm>
        </p:spPr>
        <p:txBody>
          <a:bodyPr>
            <a:noAutofit/>
          </a:bodyPr>
          <a:lstStyle/>
          <a:p>
            <a:pPr algn="ctr"/>
            <a:r>
              <a:rPr lang="en-GB" sz="3200" dirty="0"/>
              <a:t>What do the statements say about the Munich Beer Hall Putsch – success or failure?</a:t>
            </a:r>
          </a:p>
        </p:txBody>
      </p:sp>
      <p:graphicFrame>
        <p:nvGraphicFramePr>
          <p:cNvPr id="3" name="Table 2"/>
          <p:cNvGraphicFramePr>
            <a:graphicFrameLocks noGrp="1"/>
          </p:cNvGraphicFramePr>
          <p:nvPr>
            <p:extLst>
              <p:ext uri="{D42A27DB-BD31-4B8C-83A1-F6EECF244321}">
                <p14:modId xmlns:p14="http://schemas.microsoft.com/office/powerpoint/2010/main" val="2014158807"/>
              </p:ext>
            </p:extLst>
          </p:nvPr>
        </p:nvGraphicFramePr>
        <p:xfrm>
          <a:off x="839449" y="1417640"/>
          <a:ext cx="10073391" cy="5148052"/>
        </p:xfrm>
        <a:graphic>
          <a:graphicData uri="http://schemas.openxmlformats.org/drawingml/2006/table">
            <a:tbl>
              <a:tblPr/>
              <a:tblGrid>
                <a:gridCol w="3357071">
                  <a:extLst>
                    <a:ext uri="{9D8B030D-6E8A-4147-A177-3AD203B41FA5}">
                      <a16:colId xmlns:a16="http://schemas.microsoft.com/office/drawing/2014/main" val="20000"/>
                    </a:ext>
                  </a:extLst>
                </a:gridCol>
                <a:gridCol w="3358160">
                  <a:extLst>
                    <a:ext uri="{9D8B030D-6E8A-4147-A177-3AD203B41FA5}">
                      <a16:colId xmlns:a16="http://schemas.microsoft.com/office/drawing/2014/main" val="20001"/>
                    </a:ext>
                  </a:extLst>
                </a:gridCol>
                <a:gridCol w="3358160">
                  <a:extLst>
                    <a:ext uri="{9D8B030D-6E8A-4147-A177-3AD203B41FA5}">
                      <a16:colId xmlns:a16="http://schemas.microsoft.com/office/drawing/2014/main" val="20002"/>
                    </a:ext>
                  </a:extLst>
                </a:gridCol>
              </a:tblGrid>
              <a:tr h="1287013">
                <a:tc>
                  <a:txBody>
                    <a:bodyPr/>
                    <a:lstStyle/>
                    <a:p>
                      <a:pPr algn="ctr">
                        <a:lnSpc>
                          <a:spcPct val="115000"/>
                        </a:lnSpc>
                        <a:spcAft>
                          <a:spcPts val="0"/>
                        </a:spcAft>
                      </a:pPr>
                      <a:endParaRPr lang="en-GB" sz="1600" b="1" dirty="0" smtClean="0">
                        <a:latin typeface="+mj-lt"/>
                        <a:ea typeface="Calibri"/>
                        <a:cs typeface="Times New Roman"/>
                      </a:endParaRPr>
                    </a:p>
                    <a:p>
                      <a:pPr algn="ctr">
                        <a:lnSpc>
                          <a:spcPct val="115000"/>
                        </a:lnSpc>
                        <a:spcAft>
                          <a:spcPts val="0"/>
                        </a:spcAft>
                      </a:pPr>
                      <a:r>
                        <a:rPr lang="en-GB" sz="1600" b="1" dirty="0" smtClean="0">
                          <a:latin typeface="+mj-lt"/>
                          <a:ea typeface="Calibri"/>
                          <a:cs typeface="Times New Roman"/>
                        </a:rPr>
                        <a:t>Hitler </a:t>
                      </a:r>
                      <a:r>
                        <a:rPr lang="en-GB" sz="1600" b="1" dirty="0">
                          <a:latin typeface="+mj-lt"/>
                          <a:ea typeface="Calibri"/>
                          <a:cs typeface="Times New Roman"/>
                        </a:rPr>
                        <a:t>was mistaken in his support from the army and police.</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GB" sz="1600" b="1" dirty="0" smtClean="0">
                        <a:latin typeface="+mj-lt"/>
                        <a:ea typeface="Calibri"/>
                        <a:cs typeface="Times New Roman"/>
                      </a:endParaRPr>
                    </a:p>
                    <a:p>
                      <a:pPr algn="ctr">
                        <a:lnSpc>
                          <a:spcPct val="115000"/>
                        </a:lnSpc>
                        <a:spcAft>
                          <a:spcPts val="0"/>
                        </a:spcAft>
                      </a:pPr>
                      <a:r>
                        <a:rPr lang="en-GB" sz="1600" b="1" dirty="0" smtClean="0">
                          <a:latin typeface="+mj-lt"/>
                          <a:ea typeface="Calibri"/>
                          <a:cs typeface="Times New Roman"/>
                        </a:rPr>
                        <a:t>Hitler </a:t>
                      </a:r>
                      <a:r>
                        <a:rPr lang="en-GB" sz="1600" b="1" dirty="0">
                          <a:latin typeface="+mj-lt"/>
                          <a:ea typeface="Calibri"/>
                          <a:cs typeface="Times New Roman"/>
                        </a:rPr>
                        <a:t>got much public support during his Munich march.</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GB" sz="1600" b="1" dirty="0" smtClean="0">
                        <a:latin typeface="+mj-lt"/>
                        <a:ea typeface="Calibri"/>
                        <a:cs typeface="Times New Roman"/>
                      </a:endParaRPr>
                    </a:p>
                    <a:p>
                      <a:pPr algn="ctr">
                        <a:lnSpc>
                          <a:spcPct val="115000"/>
                        </a:lnSpc>
                        <a:spcAft>
                          <a:spcPts val="0"/>
                        </a:spcAft>
                      </a:pPr>
                      <a:r>
                        <a:rPr lang="en-GB" sz="1600" b="1" dirty="0" smtClean="0">
                          <a:latin typeface="+mj-lt"/>
                          <a:ea typeface="Calibri"/>
                          <a:cs typeface="Times New Roman"/>
                        </a:rPr>
                        <a:t>Hitler </a:t>
                      </a:r>
                      <a:r>
                        <a:rPr lang="en-GB" sz="1600" b="1" dirty="0">
                          <a:latin typeface="+mj-lt"/>
                          <a:ea typeface="Calibri"/>
                          <a:cs typeface="Times New Roman"/>
                        </a:rPr>
                        <a:t>served out his sentence in a comfortable jail</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87013">
                <a:tc>
                  <a:txBody>
                    <a:bodyPr/>
                    <a:lstStyle/>
                    <a:p>
                      <a:pPr algn="ctr">
                        <a:lnSpc>
                          <a:spcPct val="115000"/>
                        </a:lnSpc>
                        <a:spcAft>
                          <a:spcPts val="0"/>
                        </a:spcAft>
                      </a:pPr>
                      <a:endParaRPr lang="en-GB" sz="1600" b="1">
                        <a:latin typeface="+mj-lt"/>
                        <a:ea typeface="Calibri"/>
                        <a:cs typeface="Times New Roman"/>
                      </a:endParaRPr>
                    </a:p>
                    <a:p>
                      <a:pPr algn="ctr">
                        <a:lnSpc>
                          <a:spcPct val="115000"/>
                        </a:lnSpc>
                        <a:spcAft>
                          <a:spcPts val="0"/>
                        </a:spcAft>
                      </a:pPr>
                      <a:r>
                        <a:rPr lang="en-GB" sz="1600" b="1">
                          <a:latin typeface="+mj-lt"/>
                          <a:ea typeface="Calibri"/>
                          <a:cs typeface="Times New Roman"/>
                        </a:rPr>
                        <a:t>Many Nazi supporters got light sentences.</a:t>
                      </a:r>
                      <a:endParaRPr lang="en-GB" sz="1200" b="1">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GB" sz="1600" b="1" dirty="0" smtClean="0">
                        <a:latin typeface="+mj-lt"/>
                        <a:ea typeface="Calibri"/>
                        <a:cs typeface="Times New Roman"/>
                      </a:endParaRPr>
                    </a:p>
                    <a:p>
                      <a:pPr algn="ctr">
                        <a:lnSpc>
                          <a:spcPct val="115000"/>
                        </a:lnSpc>
                        <a:spcAft>
                          <a:spcPts val="0"/>
                        </a:spcAft>
                      </a:pPr>
                      <a:r>
                        <a:rPr lang="en-GB" sz="1600" b="1" dirty="0" smtClean="0">
                          <a:latin typeface="+mj-lt"/>
                          <a:ea typeface="Calibri"/>
                          <a:cs typeface="Times New Roman"/>
                        </a:rPr>
                        <a:t>Hitler’s </a:t>
                      </a:r>
                      <a:r>
                        <a:rPr lang="en-GB" sz="1600" b="1" dirty="0">
                          <a:latin typeface="+mj-lt"/>
                          <a:ea typeface="Calibri"/>
                          <a:cs typeface="Times New Roman"/>
                        </a:rPr>
                        <a:t>time in prison allowed him to write Mein </a:t>
                      </a:r>
                      <a:r>
                        <a:rPr lang="en-GB" sz="1600" b="1" dirty="0" err="1">
                          <a:latin typeface="+mj-lt"/>
                          <a:ea typeface="Calibri"/>
                          <a:cs typeface="Times New Roman"/>
                        </a:rPr>
                        <a:t>Kampf</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GB" sz="1600" b="1" dirty="0">
                        <a:latin typeface="+mj-lt"/>
                        <a:ea typeface="Calibri"/>
                        <a:cs typeface="Times New Roman"/>
                      </a:endParaRPr>
                    </a:p>
                    <a:p>
                      <a:pPr algn="ctr">
                        <a:lnSpc>
                          <a:spcPct val="115000"/>
                        </a:lnSpc>
                        <a:spcAft>
                          <a:spcPts val="0"/>
                        </a:spcAft>
                      </a:pPr>
                      <a:r>
                        <a:rPr lang="en-GB" sz="1600" b="1" dirty="0">
                          <a:latin typeface="+mj-lt"/>
                          <a:ea typeface="Calibri"/>
                          <a:cs typeface="Times New Roman"/>
                        </a:rPr>
                        <a:t>Hitler changed his strategy </a:t>
                      </a:r>
                      <a:r>
                        <a:rPr lang="en-GB" sz="1600" b="1" dirty="0" smtClean="0">
                          <a:latin typeface="+mj-lt"/>
                          <a:ea typeface="Calibri"/>
                          <a:cs typeface="Times New Roman"/>
                        </a:rPr>
                        <a:t>to winning power to </a:t>
                      </a:r>
                      <a:r>
                        <a:rPr lang="en-GB" sz="1600" b="1" dirty="0">
                          <a:latin typeface="+mj-lt"/>
                          <a:ea typeface="Calibri"/>
                          <a:cs typeface="Times New Roman"/>
                        </a:rPr>
                        <a:t>legal means.</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7013">
                <a:tc>
                  <a:txBody>
                    <a:bodyPr/>
                    <a:lstStyle/>
                    <a:p>
                      <a:pPr algn="ctr">
                        <a:lnSpc>
                          <a:spcPct val="115000"/>
                        </a:lnSpc>
                        <a:spcAft>
                          <a:spcPts val="0"/>
                        </a:spcAft>
                      </a:pPr>
                      <a:endParaRPr lang="en-GB" sz="1600" b="1" dirty="0">
                        <a:latin typeface="+mj-lt"/>
                        <a:ea typeface="Calibri"/>
                        <a:cs typeface="Times New Roman"/>
                      </a:endParaRPr>
                    </a:p>
                    <a:p>
                      <a:pPr algn="ctr">
                        <a:lnSpc>
                          <a:spcPct val="115000"/>
                        </a:lnSpc>
                        <a:spcAft>
                          <a:spcPts val="0"/>
                        </a:spcAft>
                      </a:pPr>
                      <a:r>
                        <a:rPr lang="en-GB" sz="1600" b="1" dirty="0">
                          <a:latin typeface="+mj-lt"/>
                          <a:ea typeface="Calibri"/>
                          <a:cs typeface="Times New Roman"/>
                        </a:rPr>
                        <a:t>Opposition within the Nazi Party melted.</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GB" sz="1600" b="1" dirty="0" smtClean="0">
                        <a:latin typeface="+mj-lt"/>
                        <a:ea typeface="Calibri"/>
                        <a:cs typeface="Times New Roman"/>
                      </a:endParaRPr>
                    </a:p>
                    <a:p>
                      <a:pPr algn="ctr">
                        <a:lnSpc>
                          <a:spcPct val="115000"/>
                        </a:lnSpc>
                        <a:spcAft>
                          <a:spcPts val="0"/>
                        </a:spcAft>
                      </a:pPr>
                      <a:r>
                        <a:rPr lang="en-GB" sz="1600" b="1" dirty="0" smtClean="0">
                          <a:latin typeface="+mj-lt"/>
                          <a:ea typeface="Calibri"/>
                          <a:cs typeface="Times New Roman"/>
                        </a:rPr>
                        <a:t>Hitler </a:t>
                      </a:r>
                      <a:r>
                        <a:rPr lang="en-GB" sz="1600" b="1" dirty="0">
                          <a:latin typeface="+mj-lt"/>
                          <a:ea typeface="Calibri"/>
                          <a:cs typeface="Times New Roman"/>
                        </a:rPr>
                        <a:t>was mistaken in his support from the Bavarian government.</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GB" sz="1600" b="1" dirty="0">
                        <a:latin typeface="+mj-lt"/>
                        <a:ea typeface="Calibri"/>
                        <a:cs typeface="Times New Roman"/>
                      </a:endParaRPr>
                    </a:p>
                    <a:p>
                      <a:pPr algn="ctr">
                        <a:lnSpc>
                          <a:spcPct val="115000"/>
                        </a:lnSpc>
                        <a:spcAft>
                          <a:spcPts val="0"/>
                        </a:spcAft>
                      </a:pPr>
                      <a:r>
                        <a:rPr lang="en-GB" sz="1600" b="1" dirty="0">
                          <a:latin typeface="+mj-lt"/>
                          <a:ea typeface="Calibri"/>
                          <a:cs typeface="Times New Roman"/>
                        </a:rPr>
                        <a:t>Hitler’s trial made him into a national figure.</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87013">
                <a:tc>
                  <a:txBody>
                    <a:bodyPr/>
                    <a:lstStyle/>
                    <a:p>
                      <a:pPr algn="ctr">
                        <a:lnSpc>
                          <a:spcPct val="115000"/>
                        </a:lnSpc>
                        <a:spcAft>
                          <a:spcPts val="0"/>
                        </a:spcAft>
                      </a:pPr>
                      <a:endParaRPr kumimoji="0" lang="en-GB" sz="1400" b="1" kern="1200" dirty="0" smtClean="0">
                        <a:solidFill>
                          <a:schemeClr val="tx1"/>
                        </a:solidFill>
                        <a:effectLst/>
                        <a:latin typeface="+mj-lt"/>
                        <a:ea typeface="+mn-ea"/>
                        <a:cs typeface="+mn-cs"/>
                      </a:endParaRPr>
                    </a:p>
                    <a:p>
                      <a:pPr algn="ctr">
                        <a:lnSpc>
                          <a:spcPct val="115000"/>
                        </a:lnSpc>
                        <a:spcAft>
                          <a:spcPts val="0"/>
                        </a:spcAft>
                      </a:pPr>
                      <a:r>
                        <a:rPr kumimoji="0" lang="en-GB" sz="1600" b="1" kern="1200" dirty="0" smtClean="0">
                          <a:solidFill>
                            <a:schemeClr val="tx1"/>
                          </a:solidFill>
                          <a:effectLst/>
                          <a:latin typeface="+mj-lt"/>
                          <a:ea typeface="+mn-ea"/>
                          <a:cs typeface="+mn-cs"/>
                        </a:rPr>
                        <a:t>The Nazis did not have enough weapons to attempt a strong coup.</a:t>
                      </a:r>
                      <a:endParaRPr lang="en-GB" sz="14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GB" sz="1600" b="1" dirty="0">
                        <a:latin typeface="+mj-lt"/>
                        <a:ea typeface="Calibri"/>
                        <a:cs typeface="Times New Roman"/>
                      </a:endParaRPr>
                    </a:p>
                    <a:p>
                      <a:pPr algn="ctr">
                        <a:lnSpc>
                          <a:spcPct val="115000"/>
                        </a:lnSpc>
                        <a:spcAft>
                          <a:spcPts val="0"/>
                        </a:spcAft>
                      </a:pPr>
                      <a:r>
                        <a:rPr lang="en-GB" sz="1600" b="1" dirty="0">
                          <a:latin typeface="+mj-lt"/>
                          <a:ea typeface="Calibri"/>
                          <a:cs typeface="Times New Roman"/>
                        </a:rPr>
                        <a:t>The Putsch failed and 16 Nazis were killed.</a:t>
                      </a:r>
                      <a:endParaRPr lang="en-GB" sz="12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kumimoji="0" lang="en-GB" sz="1600" b="1" kern="1200" dirty="0" smtClean="0">
                        <a:solidFill>
                          <a:schemeClr val="tx1"/>
                        </a:solidFill>
                        <a:effectLst/>
                        <a:latin typeface="+mj-lt"/>
                        <a:ea typeface="+mn-ea"/>
                        <a:cs typeface="+mn-cs"/>
                      </a:endParaRPr>
                    </a:p>
                    <a:p>
                      <a:pPr algn="ctr">
                        <a:lnSpc>
                          <a:spcPct val="115000"/>
                        </a:lnSpc>
                        <a:spcAft>
                          <a:spcPts val="0"/>
                        </a:spcAft>
                      </a:pPr>
                      <a:r>
                        <a:rPr kumimoji="0" lang="en-GB" sz="1600" b="1" kern="1200" dirty="0" smtClean="0">
                          <a:solidFill>
                            <a:schemeClr val="tx1"/>
                          </a:solidFill>
                          <a:effectLst/>
                          <a:latin typeface="+mj-lt"/>
                          <a:ea typeface="+mn-ea"/>
                          <a:cs typeface="+mn-cs"/>
                        </a:rPr>
                        <a:t>The Bavarian leaders were set free and betrayed Hitler.</a:t>
                      </a:r>
                      <a:endParaRPr lang="en-GB" sz="1400" b="1"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013568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381468"/>
            <a:ext cx="10058400" cy="790731"/>
          </a:xfrm>
        </p:spPr>
        <p:txBody>
          <a:bodyPr/>
          <a:lstStyle/>
          <a:p>
            <a:pPr marL="0" indent="0">
              <a:buNone/>
            </a:pPr>
            <a:r>
              <a:rPr lang="en-AU" b="1" dirty="0" smtClean="0">
                <a:solidFill>
                  <a:srgbClr val="FF0000"/>
                </a:solidFill>
              </a:rPr>
              <a:t>What was the impact of the Munich Beer Hall Putsch? Think of short-term effects and long-term effects. (1 sentence answer)</a:t>
            </a:r>
            <a:endParaRPr lang="en-AU" b="1" dirty="0">
              <a:solidFill>
                <a:srgbClr val="FF0000"/>
              </a:solidFill>
            </a:endParaRPr>
          </a:p>
        </p:txBody>
      </p:sp>
      <p:pic>
        <p:nvPicPr>
          <p:cNvPr id="10244" name="Picture 4" descr="Image result for munich beer hall puts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680" y="200937"/>
            <a:ext cx="8380444" cy="4805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68473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379" y="244856"/>
            <a:ext cx="10058400" cy="1609344"/>
          </a:xfrm>
        </p:spPr>
        <p:txBody>
          <a:bodyPr/>
          <a:lstStyle/>
          <a:p>
            <a:r>
              <a:rPr lang="en-AU" dirty="0" smtClean="0"/>
              <a:t>History hero</a:t>
            </a:r>
            <a:endParaRPr lang="en-AU" dirty="0"/>
          </a:p>
        </p:txBody>
      </p:sp>
      <p:pic>
        <p:nvPicPr>
          <p:cNvPr id="11270" name="Picture 6" descr="Johan van Hul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633" y="2536646"/>
            <a:ext cx="6323900" cy="35466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944787" y="629803"/>
            <a:ext cx="3177915" cy="5632311"/>
          </a:xfrm>
          <a:prstGeom prst="rect">
            <a:avLst/>
          </a:prstGeom>
          <a:noFill/>
        </p:spPr>
        <p:txBody>
          <a:bodyPr wrap="square" rtlCol="0">
            <a:spAutoFit/>
          </a:bodyPr>
          <a:lstStyle/>
          <a:p>
            <a:r>
              <a:rPr lang="en-AU" b="1" dirty="0"/>
              <a:t>Teacher, Johan van </a:t>
            </a:r>
            <a:r>
              <a:rPr lang="en-AU" b="1" dirty="0" err="1"/>
              <a:t>Hulst</a:t>
            </a:r>
            <a:r>
              <a:rPr lang="en-AU" b="1" dirty="0"/>
              <a:t>, Saved Hundreds of Jewish Children</a:t>
            </a:r>
            <a:endParaRPr lang="en-AU" dirty="0"/>
          </a:p>
          <a:p>
            <a:endParaRPr lang="en-AU" dirty="0" smtClean="0"/>
          </a:p>
          <a:p>
            <a:r>
              <a:rPr lang="en-AU" dirty="0"/>
              <a:t>In 1942 and 1943, Dutch educator Johan van </a:t>
            </a:r>
            <a:r>
              <a:rPr lang="en-AU" dirty="0" err="1"/>
              <a:t>Hulst</a:t>
            </a:r>
            <a:r>
              <a:rPr lang="en-AU" dirty="0"/>
              <a:t> arranged for the transport of some very precious cargo. It was passed over a hedge, hidden in basket and sacks, and then whisked out of Amsterdam by bicycle. The cargo wasn’t food or supplies: It was Jewish children, smuggled and saved by van </a:t>
            </a:r>
            <a:r>
              <a:rPr lang="en-AU" dirty="0" err="1"/>
              <a:t>Hulst</a:t>
            </a:r>
            <a:r>
              <a:rPr lang="en-AU" dirty="0"/>
              <a:t> and his colleagues during the Nazi occupation of the Netherlands.</a:t>
            </a:r>
          </a:p>
        </p:txBody>
      </p:sp>
    </p:spTree>
    <p:extLst>
      <p:ext uri="{BB962C8B-B14F-4D97-AF65-F5344CB8AC3E}">
        <p14:creationId xmlns:p14="http://schemas.microsoft.com/office/powerpoint/2010/main" val="39415881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History Heroes Week 1, Term 3</a:t>
            </a:r>
            <a:endParaRPr lang="en-AU" dirty="0"/>
          </a:p>
        </p:txBody>
      </p:sp>
      <p:pic>
        <p:nvPicPr>
          <p:cNvPr id="1026" name="Picture 2" descr="Image result for nazi germany m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208" y="2093976"/>
            <a:ext cx="7185242" cy="4603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734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9927" y="952174"/>
            <a:ext cx="10058400" cy="5403655"/>
          </a:xfrm>
        </p:spPr>
        <p:txBody>
          <a:bodyPr>
            <a:normAutofit/>
          </a:bodyPr>
          <a:lstStyle/>
          <a:p>
            <a:pPr marL="0" indent="0">
              <a:buNone/>
            </a:pPr>
            <a:r>
              <a:rPr lang="en-AU" sz="2500" dirty="0"/>
              <a:t>When did Germany agree to an </a:t>
            </a:r>
            <a:r>
              <a:rPr lang="en-AU" sz="2500" dirty="0" smtClean="0"/>
              <a:t>armistice following WW1?</a:t>
            </a:r>
            <a:endParaRPr lang="en-AU" sz="2500" dirty="0"/>
          </a:p>
          <a:p>
            <a:endParaRPr lang="en-AU" sz="2500" dirty="0"/>
          </a:p>
          <a:p>
            <a:endParaRPr lang="en-AU" sz="2500" dirty="0"/>
          </a:p>
          <a:p>
            <a:pPr marL="0" indent="0">
              <a:buNone/>
            </a:pPr>
            <a:r>
              <a:rPr lang="en-AU" sz="2500" dirty="0" smtClean="0"/>
              <a:t>a. 3 </a:t>
            </a:r>
            <a:r>
              <a:rPr lang="en-AU" sz="2500" dirty="0"/>
              <a:t>November 1918</a:t>
            </a:r>
          </a:p>
          <a:p>
            <a:endParaRPr lang="en-AU" sz="2500" dirty="0"/>
          </a:p>
          <a:p>
            <a:endParaRPr lang="en-AU" sz="2500" dirty="0"/>
          </a:p>
          <a:p>
            <a:pPr marL="0" indent="0">
              <a:buNone/>
            </a:pPr>
            <a:r>
              <a:rPr lang="en-AU" sz="2500" dirty="0" smtClean="0"/>
              <a:t>b. 9 </a:t>
            </a:r>
            <a:r>
              <a:rPr lang="en-AU" sz="2500" dirty="0"/>
              <a:t>November 1918</a:t>
            </a:r>
          </a:p>
          <a:p>
            <a:endParaRPr lang="en-AU" sz="2500" dirty="0"/>
          </a:p>
          <a:p>
            <a:endParaRPr lang="en-AU" sz="2500" dirty="0"/>
          </a:p>
          <a:p>
            <a:pPr marL="0" indent="0">
              <a:buNone/>
            </a:pPr>
            <a:r>
              <a:rPr lang="en-AU" sz="2500" dirty="0" smtClean="0"/>
              <a:t>c. 11 </a:t>
            </a:r>
            <a:r>
              <a:rPr lang="en-AU" sz="2500" dirty="0"/>
              <a:t>November 1918</a:t>
            </a:r>
          </a:p>
        </p:txBody>
      </p:sp>
    </p:spTree>
    <p:extLst>
      <p:ext uri="{BB962C8B-B14F-4D97-AF65-F5344CB8AC3E}">
        <p14:creationId xmlns:p14="http://schemas.microsoft.com/office/powerpoint/2010/main" val="6623003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99607"/>
            <a:ext cx="10058400" cy="5572593"/>
          </a:xfrm>
        </p:spPr>
        <p:txBody>
          <a:bodyPr>
            <a:normAutofit/>
          </a:bodyPr>
          <a:lstStyle/>
          <a:p>
            <a:pPr marL="0" indent="0">
              <a:buNone/>
            </a:pPr>
            <a:r>
              <a:rPr lang="en-AU" sz="2500" dirty="0"/>
              <a:t>Which of the following features of the Weimar constitution was considered to be a strength?</a:t>
            </a:r>
          </a:p>
          <a:p>
            <a:endParaRPr lang="en-AU" sz="2500" dirty="0"/>
          </a:p>
          <a:p>
            <a:endParaRPr lang="en-AU" sz="2500" dirty="0"/>
          </a:p>
          <a:p>
            <a:pPr marL="0" indent="0">
              <a:buNone/>
            </a:pPr>
            <a:r>
              <a:rPr lang="en-AU" sz="2500" dirty="0" smtClean="0"/>
              <a:t>a. Article </a:t>
            </a:r>
            <a:r>
              <a:rPr lang="en-AU" sz="2500" dirty="0"/>
              <a:t>48</a:t>
            </a:r>
          </a:p>
          <a:p>
            <a:endParaRPr lang="en-AU" sz="2500" dirty="0"/>
          </a:p>
          <a:p>
            <a:endParaRPr lang="en-AU" sz="2500" dirty="0"/>
          </a:p>
          <a:p>
            <a:pPr marL="0" indent="0">
              <a:buNone/>
            </a:pPr>
            <a:r>
              <a:rPr lang="en-AU" sz="2500" dirty="0" smtClean="0"/>
              <a:t>b. Bill </a:t>
            </a:r>
            <a:r>
              <a:rPr lang="en-AU" sz="2500" dirty="0"/>
              <a:t>of Rights</a:t>
            </a:r>
          </a:p>
          <a:p>
            <a:endParaRPr lang="en-AU" sz="2500" dirty="0"/>
          </a:p>
          <a:p>
            <a:endParaRPr lang="en-AU" sz="2500" dirty="0"/>
          </a:p>
          <a:p>
            <a:pPr marL="0" indent="0">
              <a:buNone/>
            </a:pPr>
            <a:r>
              <a:rPr lang="en-AU" sz="2500" dirty="0" smtClean="0"/>
              <a:t>c. Proportional </a:t>
            </a:r>
            <a:r>
              <a:rPr lang="en-AU" sz="2500" dirty="0"/>
              <a:t>representation</a:t>
            </a:r>
          </a:p>
        </p:txBody>
      </p:sp>
    </p:spTree>
    <p:extLst>
      <p:ext uri="{BB962C8B-B14F-4D97-AF65-F5344CB8AC3E}">
        <p14:creationId xmlns:p14="http://schemas.microsoft.com/office/powerpoint/2010/main" val="18927615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614597"/>
            <a:ext cx="10058400" cy="5557603"/>
          </a:xfrm>
        </p:spPr>
        <p:txBody>
          <a:bodyPr>
            <a:normAutofit/>
          </a:bodyPr>
          <a:lstStyle/>
          <a:p>
            <a:pPr marL="0" indent="0">
              <a:buNone/>
            </a:pPr>
            <a:r>
              <a:rPr lang="en-AU" sz="2500" dirty="0"/>
              <a:t>What nickname was often given to those German politicians who negotiated the armistice at the end of World War One?</a:t>
            </a:r>
          </a:p>
          <a:p>
            <a:endParaRPr lang="en-AU" sz="2500" dirty="0"/>
          </a:p>
          <a:p>
            <a:endParaRPr lang="en-AU" sz="2500" dirty="0"/>
          </a:p>
          <a:p>
            <a:pPr marL="0" indent="0">
              <a:buNone/>
            </a:pPr>
            <a:r>
              <a:rPr lang="en-AU" sz="2500" dirty="0" smtClean="0"/>
              <a:t>a. Freikorps</a:t>
            </a:r>
            <a:endParaRPr lang="en-AU" sz="2500" dirty="0"/>
          </a:p>
          <a:p>
            <a:endParaRPr lang="en-AU" sz="2500" dirty="0"/>
          </a:p>
          <a:p>
            <a:endParaRPr lang="en-AU" sz="2500" dirty="0"/>
          </a:p>
          <a:p>
            <a:pPr marL="0" indent="0">
              <a:buNone/>
            </a:pPr>
            <a:r>
              <a:rPr lang="en-AU" sz="2500" dirty="0" smtClean="0"/>
              <a:t>b. November </a:t>
            </a:r>
            <a:r>
              <a:rPr lang="en-AU" sz="2500" dirty="0"/>
              <a:t>Criminals</a:t>
            </a:r>
          </a:p>
          <a:p>
            <a:endParaRPr lang="en-AU" sz="2500" dirty="0"/>
          </a:p>
          <a:p>
            <a:endParaRPr lang="en-AU" sz="2500" dirty="0"/>
          </a:p>
          <a:p>
            <a:pPr marL="0" indent="0">
              <a:buNone/>
            </a:pPr>
            <a:r>
              <a:rPr lang="en-AU" sz="2500" dirty="0" smtClean="0"/>
              <a:t>c. Spartacists</a:t>
            </a:r>
            <a:endParaRPr lang="en-AU" sz="2500" dirty="0"/>
          </a:p>
        </p:txBody>
      </p:sp>
    </p:spTree>
    <p:extLst>
      <p:ext uri="{BB962C8B-B14F-4D97-AF65-F5344CB8AC3E}">
        <p14:creationId xmlns:p14="http://schemas.microsoft.com/office/powerpoint/2010/main" val="504315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84616"/>
            <a:ext cx="10058400" cy="5587584"/>
          </a:xfrm>
        </p:spPr>
        <p:txBody>
          <a:bodyPr>
            <a:normAutofit/>
          </a:bodyPr>
          <a:lstStyle/>
          <a:p>
            <a:pPr marL="0" indent="0">
              <a:buNone/>
            </a:pPr>
            <a:r>
              <a:rPr lang="en-AU" sz="2500" dirty="0"/>
              <a:t>What did Article 231 of the Treaty of Versailles say?</a:t>
            </a:r>
          </a:p>
          <a:p>
            <a:endParaRPr lang="en-AU" sz="2500" dirty="0"/>
          </a:p>
          <a:p>
            <a:endParaRPr lang="en-AU" sz="2500" dirty="0"/>
          </a:p>
          <a:p>
            <a:pPr marL="0" indent="0">
              <a:buNone/>
            </a:pPr>
            <a:r>
              <a:rPr lang="en-AU" sz="2500" dirty="0" smtClean="0"/>
              <a:t>a. Germany </a:t>
            </a:r>
            <a:r>
              <a:rPr lang="en-AU" sz="2500" dirty="0"/>
              <a:t>had to pay reparations to the Allies</a:t>
            </a:r>
          </a:p>
          <a:p>
            <a:endParaRPr lang="en-AU" sz="2500" dirty="0"/>
          </a:p>
          <a:p>
            <a:endParaRPr lang="en-AU" sz="2500" dirty="0"/>
          </a:p>
          <a:p>
            <a:pPr marL="0" indent="0">
              <a:buNone/>
            </a:pPr>
            <a:r>
              <a:rPr lang="en-AU" sz="2500" dirty="0" smtClean="0"/>
              <a:t>b. Germany </a:t>
            </a:r>
            <a:r>
              <a:rPr lang="en-AU" sz="2500" dirty="0"/>
              <a:t>had to accept blame for starting the war</a:t>
            </a:r>
          </a:p>
          <a:p>
            <a:endParaRPr lang="en-AU" sz="2500" dirty="0"/>
          </a:p>
          <a:p>
            <a:endParaRPr lang="en-AU" sz="2500" dirty="0"/>
          </a:p>
          <a:p>
            <a:pPr marL="0" indent="0">
              <a:buNone/>
            </a:pPr>
            <a:r>
              <a:rPr lang="en-AU" sz="2500" dirty="0" smtClean="0"/>
              <a:t>c. Germany </a:t>
            </a:r>
            <a:r>
              <a:rPr lang="en-AU" sz="2500" dirty="0"/>
              <a:t>had to give up its overseas colonies</a:t>
            </a:r>
          </a:p>
        </p:txBody>
      </p:sp>
    </p:spTree>
    <p:extLst>
      <p:ext uri="{BB962C8B-B14F-4D97-AF65-F5344CB8AC3E}">
        <p14:creationId xmlns:p14="http://schemas.microsoft.com/office/powerpoint/2010/main" val="2097352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54636"/>
            <a:ext cx="10058400" cy="5617564"/>
          </a:xfrm>
        </p:spPr>
        <p:txBody>
          <a:bodyPr>
            <a:normAutofit/>
          </a:bodyPr>
          <a:lstStyle/>
          <a:p>
            <a:pPr marL="0" indent="0">
              <a:buNone/>
            </a:pPr>
            <a:r>
              <a:rPr lang="en-AU" sz="2500" dirty="0"/>
              <a:t>When did France and Belgium occupy the Ruhr industrial area of Germany in response to the non-payment of reparations?</a:t>
            </a:r>
          </a:p>
          <a:p>
            <a:endParaRPr lang="en-AU" sz="2500" dirty="0"/>
          </a:p>
          <a:p>
            <a:endParaRPr lang="en-AU" sz="2500" dirty="0"/>
          </a:p>
          <a:p>
            <a:pPr marL="0" indent="0">
              <a:buNone/>
            </a:pPr>
            <a:r>
              <a:rPr lang="en-AU" sz="2500" dirty="0" smtClean="0"/>
              <a:t>a. May </a:t>
            </a:r>
            <a:r>
              <a:rPr lang="en-AU" sz="2500" dirty="0"/>
              <a:t>1921</a:t>
            </a:r>
          </a:p>
          <a:p>
            <a:endParaRPr lang="en-AU" sz="2500" dirty="0"/>
          </a:p>
          <a:p>
            <a:endParaRPr lang="en-AU" sz="2500" dirty="0"/>
          </a:p>
          <a:p>
            <a:pPr marL="0" indent="0">
              <a:buNone/>
            </a:pPr>
            <a:r>
              <a:rPr lang="en-AU" sz="2500" dirty="0" smtClean="0"/>
              <a:t>b. November </a:t>
            </a:r>
            <a:r>
              <a:rPr lang="en-AU" sz="2500" dirty="0"/>
              <a:t>1922</a:t>
            </a:r>
          </a:p>
          <a:p>
            <a:endParaRPr lang="en-AU" sz="2500" dirty="0"/>
          </a:p>
          <a:p>
            <a:endParaRPr lang="en-AU" sz="2500" dirty="0"/>
          </a:p>
          <a:p>
            <a:pPr marL="0" indent="0">
              <a:buNone/>
            </a:pPr>
            <a:r>
              <a:rPr lang="en-AU" sz="2500" dirty="0" smtClean="0"/>
              <a:t>c. January </a:t>
            </a:r>
            <a:r>
              <a:rPr lang="en-AU" sz="2500" dirty="0"/>
              <a:t>1923</a:t>
            </a:r>
          </a:p>
        </p:txBody>
      </p:sp>
    </p:spTree>
    <p:extLst>
      <p:ext uri="{BB962C8B-B14F-4D97-AF65-F5344CB8AC3E}">
        <p14:creationId xmlns:p14="http://schemas.microsoft.com/office/powerpoint/2010/main" val="2983410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84616"/>
            <a:ext cx="10058400" cy="5587584"/>
          </a:xfrm>
        </p:spPr>
        <p:txBody>
          <a:bodyPr>
            <a:normAutofit/>
          </a:bodyPr>
          <a:lstStyle/>
          <a:p>
            <a:pPr marL="0" indent="0">
              <a:buNone/>
            </a:pPr>
            <a:r>
              <a:rPr lang="en-AU" sz="2500" dirty="0"/>
              <a:t>What was the name of the new currency introduced in October 1923 that helped to end hyperinflation?</a:t>
            </a:r>
          </a:p>
          <a:p>
            <a:endParaRPr lang="en-AU" sz="2500" dirty="0"/>
          </a:p>
          <a:p>
            <a:endParaRPr lang="en-AU" sz="2500" dirty="0"/>
          </a:p>
          <a:p>
            <a:pPr marL="0" indent="0">
              <a:buNone/>
            </a:pPr>
            <a:r>
              <a:rPr lang="en-AU" sz="2500" dirty="0" smtClean="0"/>
              <a:t>a. </a:t>
            </a:r>
            <a:r>
              <a:rPr lang="en-AU" sz="2500" dirty="0" err="1" smtClean="0"/>
              <a:t>Papiermark</a:t>
            </a:r>
            <a:endParaRPr lang="en-AU" sz="2500" dirty="0"/>
          </a:p>
          <a:p>
            <a:endParaRPr lang="en-AU" sz="2500" dirty="0"/>
          </a:p>
          <a:p>
            <a:endParaRPr lang="en-AU" sz="2500" dirty="0"/>
          </a:p>
          <a:p>
            <a:pPr marL="0" indent="0">
              <a:buNone/>
            </a:pPr>
            <a:r>
              <a:rPr lang="en-AU" sz="2500" dirty="0" smtClean="0"/>
              <a:t>b. </a:t>
            </a:r>
            <a:r>
              <a:rPr lang="en-AU" sz="2500" dirty="0" err="1" smtClean="0"/>
              <a:t>Rentenmark</a:t>
            </a:r>
            <a:endParaRPr lang="en-AU" sz="2500" dirty="0"/>
          </a:p>
          <a:p>
            <a:endParaRPr lang="en-AU" sz="2500" dirty="0"/>
          </a:p>
          <a:p>
            <a:endParaRPr lang="en-AU" sz="2500" dirty="0"/>
          </a:p>
          <a:p>
            <a:pPr marL="0" indent="0">
              <a:buNone/>
            </a:pPr>
            <a:r>
              <a:rPr lang="en-AU" sz="2500" dirty="0" smtClean="0"/>
              <a:t>c. Deutsche </a:t>
            </a:r>
            <a:r>
              <a:rPr lang="en-AU" sz="2500" dirty="0"/>
              <a:t>Mark</a:t>
            </a:r>
          </a:p>
        </p:txBody>
      </p:sp>
    </p:spTree>
    <p:extLst>
      <p:ext uri="{BB962C8B-B14F-4D97-AF65-F5344CB8AC3E}">
        <p14:creationId xmlns:p14="http://schemas.microsoft.com/office/powerpoint/2010/main" val="777054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839449"/>
            <a:ext cx="10058400" cy="5332751"/>
          </a:xfrm>
        </p:spPr>
        <p:txBody>
          <a:bodyPr>
            <a:normAutofit/>
          </a:bodyPr>
          <a:lstStyle/>
          <a:p>
            <a:pPr marL="0" indent="0">
              <a:buNone/>
            </a:pPr>
            <a:r>
              <a:rPr lang="en-AU" sz="2500" dirty="0"/>
              <a:t>What was the name of the repayment plan agreed for Germany's reparations in September 1924?</a:t>
            </a:r>
          </a:p>
          <a:p>
            <a:endParaRPr lang="en-AU" sz="2500" dirty="0"/>
          </a:p>
          <a:p>
            <a:endParaRPr lang="en-AU" sz="2500" dirty="0"/>
          </a:p>
          <a:p>
            <a:pPr marL="0" indent="0">
              <a:buNone/>
            </a:pPr>
            <a:r>
              <a:rPr lang="en-AU" sz="2500" dirty="0" smtClean="0"/>
              <a:t>a. Dawes </a:t>
            </a:r>
            <a:r>
              <a:rPr lang="en-AU" sz="2500" dirty="0"/>
              <a:t>Plan</a:t>
            </a:r>
          </a:p>
          <a:p>
            <a:endParaRPr lang="en-AU" sz="2500" dirty="0"/>
          </a:p>
          <a:p>
            <a:endParaRPr lang="en-AU" sz="2500" dirty="0"/>
          </a:p>
          <a:p>
            <a:pPr marL="0" indent="0">
              <a:buNone/>
            </a:pPr>
            <a:r>
              <a:rPr lang="en-AU" sz="2500" dirty="0" smtClean="0"/>
              <a:t>b. Young </a:t>
            </a:r>
            <a:r>
              <a:rPr lang="en-AU" sz="2500" dirty="0"/>
              <a:t>Plan</a:t>
            </a:r>
          </a:p>
          <a:p>
            <a:endParaRPr lang="en-AU" sz="2500" dirty="0"/>
          </a:p>
          <a:p>
            <a:endParaRPr lang="en-AU" sz="2500" dirty="0"/>
          </a:p>
          <a:p>
            <a:pPr marL="0" indent="0">
              <a:buNone/>
            </a:pPr>
            <a:r>
              <a:rPr lang="en-AU" sz="2500" dirty="0" smtClean="0"/>
              <a:t>c. Marshall </a:t>
            </a:r>
            <a:r>
              <a:rPr lang="en-AU" sz="2500" dirty="0"/>
              <a:t>Plan</a:t>
            </a:r>
          </a:p>
        </p:txBody>
      </p:sp>
    </p:spTree>
    <p:extLst>
      <p:ext uri="{BB962C8B-B14F-4D97-AF65-F5344CB8AC3E}">
        <p14:creationId xmlns:p14="http://schemas.microsoft.com/office/powerpoint/2010/main" val="3946638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ANSWERS</a:t>
            </a:r>
            <a:endParaRPr lang="en-AU" dirty="0"/>
          </a:p>
        </p:txBody>
      </p:sp>
      <p:pic>
        <p:nvPicPr>
          <p:cNvPr id="2050" name="Picture 2" descr="Image result for nazi germany correct m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8933" y="2400560"/>
            <a:ext cx="5817622" cy="3490573"/>
          </a:xfrm>
          <a:prstGeom prst="rect">
            <a:avLst/>
          </a:prstGeom>
          <a:noFill/>
          <a:extLst>
            <a:ext uri="{909E8E84-426E-40DD-AFC4-6F175D3DCCD1}">
              <a14:hiddenFill xmlns:a14="http://schemas.microsoft.com/office/drawing/2010/main">
                <a:solidFill>
                  <a:srgbClr val="FFFFFF"/>
                </a:solidFill>
              </a14:hiddenFill>
            </a:ext>
          </a:extLst>
        </p:spPr>
      </p:pic>
      <p:sp>
        <p:nvSpPr>
          <p:cNvPr id="4" name="Oval Callout 3"/>
          <p:cNvSpPr/>
          <p:nvPr/>
        </p:nvSpPr>
        <p:spPr>
          <a:xfrm>
            <a:off x="7755461" y="1104625"/>
            <a:ext cx="3372787" cy="1978702"/>
          </a:xfrm>
          <a:prstGeom prst="wedgeEllipseCallout">
            <a:avLst>
              <a:gd name="adj1" fmla="val -44833"/>
              <a:gd name="adj2" fmla="val 579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000" b="1" dirty="0" smtClean="0"/>
              <a:t>Nein</a:t>
            </a:r>
            <a:endParaRPr lang="en-AU" sz="4000" b="1" dirty="0"/>
          </a:p>
        </p:txBody>
      </p:sp>
    </p:spTree>
    <p:extLst>
      <p:ext uri="{BB962C8B-B14F-4D97-AF65-F5344CB8AC3E}">
        <p14:creationId xmlns:p14="http://schemas.microsoft.com/office/powerpoint/2010/main" val="4469726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629587"/>
            <a:ext cx="10058400" cy="5542613"/>
          </a:xfrm>
        </p:spPr>
        <p:txBody>
          <a:bodyPr>
            <a:normAutofit/>
          </a:bodyPr>
          <a:lstStyle/>
          <a:p>
            <a:pPr marL="0" indent="0">
              <a:buNone/>
            </a:pPr>
            <a:r>
              <a:rPr lang="en-AU" sz="2500" dirty="0"/>
              <a:t>When did Germany agree to an armistice?</a:t>
            </a:r>
          </a:p>
          <a:p>
            <a:endParaRPr lang="en-AU" sz="2500" dirty="0"/>
          </a:p>
          <a:p>
            <a:endParaRPr lang="en-AU" sz="2500" dirty="0"/>
          </a:p>
          <a:p>
            <a:pPr marL="0" indent="0">
              <a:buNone/>
            </a:pPr>
            <a:r>
              <a:rPr lang="en-AU" sz="2500" dirty="0" smtClean="0"/>
              <a:t>a. 3 </a:t>
            </a:r>
            <a:r>
              <a:rPr lang="en-AU" sz="2500" dirty="0"/>
              <a:t>November 1918</a:t>
            </a:r>
          </a:p>
          <a:p>
            <a:endParaRPr lang="en-AU" sz="2500" dirty="0"/>
          </a:p>
          <a:p>
            <a:endParaRPr lang="en-AU" sz="2500" dirty="0"/>
          </a:p>
          <a:p>
            <a:pPr marL="0" indent="0">
              <a:buNone/>
            </a:pPr>
            <a:r>
              <a:rPr lang="en-AU" sz="2500" dirty="0" smtClean="0"/>
              <a:t>b. 9 </a:t>
            </a:r>
            <a:r>
              <a:rPr lang="en-AU" sz="2500" dirty="0"/>
              <a:t>November 1918</a:t>
            </a:r>
          </a:p>
          <a:p>
            <a:endParaRPr lang="en-AU" sz="2500" dirty="0"/>
          </a:p>
          <a:p>
            <a:endParaRPr lang="en-AU" sz="2500" dirty="0"/>
          </a:p>
          <a:p>
            <a:pPr marL="0" indent="0">
              <a:buNone/>
            </a:pPr>
            <a:r>
              <a:rPr lang="en-AU" sz="2500" b="1" dirty="0" smtClean="0">
                <a:solidFill>
                  <a:srgbClr val="FF0000"/>
                </a:solidFill>
              </a:rPr>
              <a:t>c. 11 </a:t>
            </a:r>
            <a:r>
              <a:rPr lang="en-AU" sz="2500" b="1" dirty="0">
                <a:solidFill>
                  <a:srgbClr val="FF0000"/>
                </a:solidFill>
              </a:rPr>
              <a:t>November 1918</a:t>
            </a:r>
          </a:p>
        </p:txBody>
      </p:sp>
    </p:spTree>
    <p:extLst>
      <p:ext uri="{BB962C8B-B14F-4D97-AF65-F5344CB8AC3E}">
        <p14:creationId xmlns:p14="http://schemas.microsoft.com/office/powerpoint/2010/main" val="9920501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84616"/>
            <a:ext cx="10058400" cy="5587584"/>
          </a:xfrm>
        </p:spPr>
        <p:txBody>
          <a:bodyPr>
            <a:normAutofit/>
          </a:bodyPr>
          <a:lstStyle/>
          <a:p>
            <a:pPr marL="0" indent="0">
              <a:buNone/>
            </a:pPr>
            <a:r>
              <a:rPr lang="en-AU" sz="2500" dirty="0"/>
              <a:t>Which of the following features of the Weimar constitution was considered to be a strength?</a:t>
            </a:r>
          </a:p>
          <a:p>
            <a:endParaRPr lang="en-AU" sz="2500" dirty="0"/>
          </a:p>
          <a:p>
            <a:endParaRPr lang="en-AU" sz="2500" dirty="0"/>
          </a:p>
          <a:p>
            <a:pPr marL="0" indent="0">
              <a:buNone/>
            </a:pPr>
            <a:r>
              <a:rPr lang="en-AU" sz="2500" dirty="0" smtClean="0"/>
              <a:t>a. Article </a:t>
            </a:r>
            <a:r>
              <a:rPr lang="en-AU" sz="2500" dirty="0"/>
              <a:t>48</a:t>
            </a:r>
          </a:p>
          <a:p>
            <a:endParaRPr lang="en-AU" sz="2500" dirty="0"/>
          </a:p>
          <a:p>
            <a:endParaRPr lang="en-AU" sz="2500" dirty="0"/>
          </a:p>
          <a:p>
            <a:pPr marL="0" indent="0">
              <a:buNone/>
            </a:pPr>
            <a:r>
              <a:rPr lang="en-AU" sz="2500" b="1" dirty="0" smtClean="0">
                <a:solidFill>
                  <a:srgbClr val="FF0000"/>
                </a:solidFill>
              </a:rPr>
              <a:t>b. Bill </a:t>
            </a:r>
            <a:r>
              <a:rPr lang="en-AU" sz="2500" b="1" dirty="0">
                <a:solidFill>
                  <a:srgbClr val="FF0000"/>
                </a:solidFill>
              </a:rPr>
              <a:t>of Rights</a:t>
            </a:r>
          </a:p>
          <a:p>
            <a:endParaRPr lang="en-AU" sz="2500" dirty="0"/>
          </a:p>
          <a:p>
            <a:endParaRPr lang="en-AU" sz="2500" dirty="0"/>
          </a:p>
          <a:p>
            <a:pPr marL="0" indent="0">
              <a:buNone/>
            </a:pPr>
            <a:r>
              <a:rPr lang="en-AU" sz="2500" dirty="0" smtClean="0"/>
              <a:t>c. Proportional </a:t>
            </a:r>
            <a:r>
              <a:rPr lang="en-AU" sz="2500" dirty="0"/>
              <a:t>representation</a:t>
            </a:r>
          </a:p>
        </p:txBody>
      </p:sp>
    </p:spTree>
    <p:extLst>
      <p:ext uri="{BB962C8B-B14F-4D97-AF65-F5344CB8AC3E}">
        <p14:creationId xmlns:p14="http://schemas.microsoft.com/office/powerpoint/2010/main" val="2535155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494675"/>
            <a:ext cx="10058400" cy="5677525"/>
          </a:xfrm>
        </p:spPr>
        <p:txBody>
          <a:bodyPr>
            <a:normAutofit/>
          </a:bodyPr>
          <a:lstStyle/>
          <a:p>
            <a:pPr marL="0" indent="0">
              <a:buNone/>
            </a:pPr>
            <a:r>
              <a:rPr lang="en-AU" sz="2500" dirty="0"/>
              <a:t>What nickname was often given to those German politicians who negotiated the armistice at the end of World War One?</a:t>
            </a:r>
          </a:p>
          <a:p>
            <a:endParaRPr lang="en-AU" sz="2500" dirty="0"/>
          </a:p>
          <a:p>
            <a:endParaRPr lang="en-AU" sz="2500" dirty="0"/>
          </a:p>
          <a:p>
            <a:pPr marL="0" indent="0">
              <a:buNone/>
            </a:pPr>
            <a:r>
              <a:rPr lang="en-AU" sz="2500" dirty="0" smtClean="0"/>
              <a:t>a. Freikorps</a:t>
            </a:r>
            <a:endParaRPr lang="en-AU" sz="2500" dirty="0"/>
          </a:p>
          <a:p>
            <a:endParaRPr lang="en-AU" sz="2500" dirty="0"/>
          </a:p>
          <a:p>
            <a:endParaRPr lang="en-AU" sz="2500" dirty="0"/>
          </a:p>
          <a:p>
            <a:pPr marL="0" indent="0">
              <a:buNone/>
            </a:pPr>
            <a:r>
              <a:rPr lang="en-AU" sz="2500" b="1" dirty="0" smtClean="0">
                <a:solidFill>
                  <a:srgbClr val="FF0000"/>
                </a:solidFill>
              </a:rPr>
              <a:t>b. November </a:t>
            </a:r>
            <a:r>
              <a:rPr lang="en-AU" sz="2500" b="1" dirty="0">
                <a:solidFill>
                  <a:srgbClr val="FF0000"/>
                </a:solidFill>
              </a:rPr>
              <a:t>Criminals</a:t>
            </a:r>
          </a:p>
          <a:p>
            <a:endParaRPr lang="en-AU" sz="2500" dirty="0"/>
          </a:p>
          <a:p>
            <a:endParaRPr lang="en-AU" sz="2500" dirty="0"/>
          </a:p>
          <a:p>
            <a:pPr marL="0" indent="0">
              <a:buNone/>
            </a:pPr>
            <a:r>
              <a:rPr lang="en-AU" sz="2500" dirty="0" smtClean="0"/>
              <a:t>c. Spartacists</a:t>
            </a:r>
            <a:endParaRPr lang="en-AU" sz="2500" dirty="0"/>
          </a:p>
        </p:txBody>
      </p:sp>
    </p:spTree>
    <p:extLst>
      <p:ext uri="{BB962C8B-B14F-4D97-AF65-F5344CB8AC3E}">
        <p14:creationId xmlns:p14="http://schemas.microsoft.com/office/powerpoint/2010/main" val="570501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569626"/>
            <a:ext cx="10058400" cy="5602574"/>
          </a:xfrm>
        </p:spPr>
        <p:txBody>
          <a:bodyPr>
            <a:normAutofit/>
          </a:bodyPr>
          <a:lstStyle/>
          <a:p>
            <a:pPr marL="0" indent="0">
              <a:buNone/>
            </a:pPr>
            <a:r>
              <a:rPr lang="en-AU" sz="2500" dirty="0"/>
              <a:t>What did Article 231 of the Treaty of Versailles say?</a:t>
            </a:r>
          </a:p>
          <a:p>
            <a:endParaRPr lang="en-AU" sz="2500" dirty="0"/>
          </a:p>
          <a:p>
            <a:endParaRPr lang="en-AU" sz="2500" dirty="0"/>
          </a:p>
          <a:p>
            <a:pPr marL="0" indent="0">
              <a:buNone/>
            </a:pPr>
            <a:r>
              <a:rPr lang="en-AU" sz="2500" dirty="0" smtClean="0"/>
              <a:t>a. Germany </a:t>
            </a:r>
            <a:r>
              <a:rPr lang="en-AU" sz="2500" dirty="0"/>
              <a:t>had to pay reparations to the Allies</a:t>
            </a:r>
          </a:p>
          <a:p>
            <a:endParaRPr lang="en-AU" sz="2500" dirty="0"/>
          </a:p>
          <a:p>
            <a:endParaRPr lang="en-AU" sz="2500" dirty="0"/>
          </a:p>
          <a:p>
            <a:pPr marL="0" indent="0">
              <a:buNone/>
            </a:pPr>
            <a:r>
              <a:rPr lang="en-AU" sz="2500" b="1" dirty="0" smtClean="0">
                <a:solidFill>
                  <a:srgbClr val="FF0000"/>
                </a:solidFill>
              </a:rPr>
              <a:t>b. Germany </a:t>
            </a:r>
            <a:r>
              <a:rPr lang="en-AU" sz="2500" b="1" dirty="0">
                <a:solidFill>
                  <a:srgbClr val="FF0000"/>
                </a:solidFill>
              </a:rPr>
              <a:t>had to accept blame for starting the war</a:t>
            </a:r>
          </a:p>
          <a:p>
            <a:endParaRPr lang="en-AU" sz="2500" dirty="0"/>
          </a:p>
          <a:p>
            <a:endParaRPr lang="en-AU" sz="2500" dirty="0"/>
          </a:p>
          <a:p>
            <a:pPr marL="0" indent="0">
              <a:buNone/>
            </a:pPr>
            <a:r>
              <a:rPr lang="en-AU" sz="2500" dirty="0" smtClean="0"/>
              <a:t>c. Germany </a:t>
            </a:r>
            <a:r>
              <a:rPr lang="en-AU" sz="2500" dirty="0"/>
              <a:t>had to give up its overseas colonies</a:t>
            </a:r>
          </a:p>
        </p:txBody>
      </p:sp>
    </p:spTree>
    <p:extLst>
      <p:ext uri="{BB962C8B-B14F-4D97-AF65-F5344CB8AC3E}">
        <p14:creationId xmlns:p14="http://schemas.microsoft.com/office/powerpoint/2010/main" val="2672479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629587"/>
            <a:ext cx="10058400" cy="5542613"/>
          </a:xfrm>
        </p:spPr>
        <p:txBody>
          <a:bodyPr>
            <a:normAutofit/>
          </a:bodyPr>
          <a:lstStyle/>
          <a:p>
            <a:pPr marL="0" indent="0">
              <a:buNone/>
            </a:pPr>
            <a:r>
              <a:rPr lang="en-AU" sz="2500" dirty="0"/>
              <a:t>When did France and Belgium occupy the Ruhr industrial area of Germany in response to the non-payment of reparations?</a:t>
            </a:r>
          </a:p>
          <a:p>
            <a:endParaRPr lang="en-AU" sz="2500" dirty="0"/>
          </a:p>
          <a:p>
            <a:endParaRPr lang="en-AU" sz="2500" dirty="0"/>
          </a:p>
          <a:p>
            <a:pPr marL="0" indent="0">
              <a:buNone/>
            </a:pPr>
            <a:r>
              <a:rPr lang="en-AU" sz="2500" dirty="0" smtClean="0"/>
              <a:t>a. May </a:t>
            </a:r>
            <a:r>
              <a:rPr lang="en-AU" sz="2500" dirty="0"/>
              <a:t>1921</a:t>
            </a:r>
          </a:p>
          <a:p>
            <a:endParaRPr lang="en-AU" sz="2500" dirty="0"/>
          </a:p>
          <a:p>
            <a:endParaRPr lang="en-AU" sz="2500" dirty="0"/>
          </a:p>
          <a:p>
            <a:pPr marL="0" indent="0">
              <a:buNone/>
            </a:pPr>
            <a:r>
              <a:rPr lang="en-AU" sz="2500" dirty="0" smtClean="0"/>
              <a:t>b. November </a:t>
            </a:r>
            <a:r>
              <a:rPr lang="en-AU" sz="2500" dirty="0"/>
              <a:t>1922</a:t>
            </a:r>
          </a:p>
          <a:p>
            <a:endParaRPr lang="en-AU" sz="2500" dirty="0"/>
          </a:p>
          <a:p>
            <a:endParaRPr lang="en-AU" sz="2500" dirty="0"/>
          </a:p>
          <a:p>
            <a:pPr marL="0" indent="0">
              <a:buNone/>
            </a:pPr>
            <a:r>
              <a:rPr lang="en-AU" sz="2500" b="1" dirty="0" smtClean="0">
                <a:solidFill>
                  <a:srgbClr val="FF0000"/>
                </a:solidFill>
              </a:rPr>
              <a:t>c. January </a:t>
            </a:r>
            <a:r>
              <a:rPr lang="en-AU" sz="2500" b="1" dirty="0">
                <a:solidFill>
                  <a:srgbClr val="FF0000"/>
                </a:solidFill>
              </a:rPr>
              <a:t>1923</a:t>
            </a:r>
          </a:p>
        </p:txBody>
      </p:sp>
    </p:spTree>
    <p:extLst>
      <p:ext uri="{BB962C8B-B14F-4D97-AF65-F5344CB8AC3E}">
        <p14:creationId xmlns:p14="http://schemas.microsoft.com/office/powerpoint/2010/main" val="8582960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494675"/>
            <a:ext cx="10058400" cy="5677525"/>
          </a:xfrm>
        </p:spPr>
        <p:txBody>
          <a:bodyPr>
            <a:normAutofit/>
          </a:bodyPr>
          <a:lstStyle/>
          <a:p>
            <a:pPr marL="0" indent="0">
              <a:buNone/>
            </a:pPr>
            <a:r>
              <a:rPr lang="en-AU" sz="2500" dirty="0"/>
              <a:t>What was the name of the new currency introduced in October 1923 that helped to end hyperinflation?</a:t>
            </a:r>
          </a:p>
          <a:p>
            <a:endParaRPr lang="en-AU" sz="2500" dirty="0"/>
          </a:p>
          <a:p>
            <a:endParaRPr lang="en-AU" sz="2500" dirty="0"/>
          </a:p>
          <a:p>
            <a:pPr marL="0" indent="0">
              <a:buNone/>
            </a:pPr>
            <a:r>
              <a:rPr lang="en-AU" sz="2500" dirty="0" smtClean="0"/>
              <a:t>a. </a:t>
            </a:r>
            <a:r>
              <a:rPr lang="en-AU" sz="2500" dirty="0" err="1" smtClean="0"/>
              <a:t>Papiermark</a:t>
            </a:r>
            <a:endParaRPr lang="en-AU" sz="2500" dirty="0"/>
          </a:p>
          <a:p>
            <a:endParaRPr lang="en-AU" sz="2500" dirty="0"/>
          </a:p>
          <a:p>
            <a:endParaRPr lang="en-AU" sz="2500" dirty="0"/>
          </a:p>
          <a:p>
            <a:pPr marL="0" indent="0">
              <a:buNone/>
            </a:pPr>
            <a:r>
              <a:rPr lang="en-AU" sz="2500" b="1" dirty="0" smtClean="0">
                <a:solidFill>
                  <a:srgbClr val="FF0000"/>
                </a:solidFill>
              </a:rPr>
              <a:t>b. </a:t>
            </a:r>
            <a:r>
              <a:rPr lang="en-AU" sz="2500" b="1" dirty="0" err="1" smtClean="0">
                <a:solidFill>
                  <a:srgbClr val="FF0000"/>
                </a:solidFill>
              </a:rPr>
              <a:t>Rentenmark</a:t>
            </a:r>
            <a:endParaRPr lang="en-AU" sz="2500" b="1" dirty="0">
              <a:solidFill>
                <a:srgbClr val="FF0000"/>
              </a:solidFill>
            </a:endParaRPr>
          </a:p>
          <a:p>
            <a:endParaRPr lang="en-AU" sz="2500" dirty="0"/>
          </a:p>
          <a:p>
            <a:endParaRPr lang="en-AU" sz="2500" dirty="0"/>
          </a:p>
          <a:p>
            <a:pPr marL="0" indent="0">
              <a:buNone/>
            </a:pPr>
            <a:r>
              <a:rPr lang="en-AU" sz="2500" dirty="0" smtClean="0"/>
              <a:t>c. Deutsche </a:t>
            </a:r>
            <a:r>
              <a:rPr lang="en-AU" sz="2500" dirty="0"/>
              <a:t>Mark</a:t>
            </a:r>
          </a:p>
        </p:txBody>
      </p:sp>
    </p:spTree>
    <p:extLst>
      <p:ext uri="{BB962C8B-B14F-4D97-AF65-F5344CB8AC3E}">
        <p14:creationId xmlns:p14="http://schemas.microsoft.com/office/powerpoint/2010/main" val="32822701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494675"/>
            <a:ext cx="10058400" cy="5677525"/>
          </a:xfrm>
        </p:spPr>
        <p:txBody>
          <a:bodyPr>
            <a:normAutofit/>
          </a:bodyPr>
          <a:lstStyle/>
          <a:p>
            <a:pPr marL="0" indent="0">
              <a:buNone/>
            </a:pPr>
            <a:r>
              <a:rPr lang="en-AU" sz="2500" dirty="0"/>
              <a:t>What was the name of the repayment plan agreed for Germany's reparations in September 1924?</a:t>
            </a:r>
          </a:p>
          <a:p>
            <a:endParaRPr lang="en-AU" sz="2500" dirty="0"/>
          </a:p>
          <a:p>
            <a:endParaRPr lang="en-AU" sz="2500" dirty="0"/>
          </a:p>
          <a:p>
            <a:pPr marL="0" indent="0">
              <a:buNone/>
            </a:pPr>
            <a:r>
              <a:rPr lang="en-AU" sz="2500" b="1" dirty="0" smtClean="0">
                <a:solidFill>
                  <a:srgbClr val="FF0000"/>
                </a:solidFill>
              </a:rPr>
              <a:t>a. Dawes </a:t>
            </a:r>
            <a:r>
              <a:rPr lang="en-AU" sz="2500" b="1" dirty="0">
                <a:solidFill>
                  <a:srgbClr val="FF0000"/>
                </a:solidFill>
              </a:rPr>
              <a:t>Plan</a:t>
            </a:r>
          </a:p>
          <a:p>
            <a:endParaRPr lang="en-AU" sz="2500" dirty="0"/>
          </a:p>
          <a:p>
            <a:endParaRPr lang="en-AU" sz="2500" dirty="0"/>
          </a:p>
          <a:p>
            <a:pPr marL="0" indent="0">
              <a:buNone/>
            </a:pPr>
            <a:r>
              <a:rPr lang="en-AU" sz="2500" dirty="0" smtClean="0"/>
              <a:t>b. Young </a:t>
            </a:r>
            <a:r>
              <a:rPr lang="en-AU" sz="2500" dirty="0"/>
              <a:t>Plan</a:t>
            </a:r>
          </a:p>
          <a:p>
            <a:endParaRPr lang="en-AU" sz="2500" dirty="0"/>
          </a:p>
          <a:p>
            <a:endParaRPr lang="en-AU" sz="2500" dirty="0"/>
          </a:p>
          <a:p>
            <a:pPr marL="0" indent="0">
              <a:buNone/>
            </a:pPr>
            <a:r>
              <a:rPr lang="en-AU" sz="2500" dirty="0" smtClean="0"/>
              <a:t>c. Marshall </a:t>
            </a:r>
            <a:r>
              <a:rPr lang="en-AU" sz="2500" dirty="0"/>
              <a:t>Plan</a:t>
            </a:r>
          </a:p>
        </p:txBody>
      </p:sp>
    </p:spTree>
    <p:extLst>
      <p:ext uri="{BB962C8B-B14F-4D97-AF65-F5344CB8AC3E}">
        <p14:creationId xmlns:p14="http://schemas.microsoft.com/office/powerpoint/2010/main" val="3558046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nazi germany correct m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8933" y="2400560"/>
            <a:ext cx="5817622" cy="3490573"/>
          </a:xfrm>
          <a:prstGeom prst="rect">
            <a:avLst/>
          </a:prstGeom>
          <a:noFill/>
          <a:extLst>
            <a:ext uri="{909E8E84-426E-40DD-AFC4-6F175D3DCCD1}">
              <a14:hiddenFill xmlns:a14="http://schemas.microsoft.com/office/drawing/2010/main">
                <a:solidFill>
                  <a:srgbClr val="FFFFFF"/>
                </a:solidFill>
              </a14:hiddenFill>
            </a:ext>
          </a:extLst>
        </p:spPr>
      </p:pic>
      <p:sp>
        <p:nvSpPr>
          <p:cNvPr id="5" name="Oval Callout 4"/>
          <p:cNvSpPr/>
          <p:nvPr/>
        </p:nvSpPr>
        <p:spPr>
          <a:xfrm>
            <a:off x="7755461" y="1104625"/>
            <a:ext cx="3372787" cy="1978702"/>
          </a:xfrm>
          <a:prstGeom prst="wedgeEllipseCallout">
            <a:avLst>
              <a:gd name="adj1" fmla="val -44833"/>
              <a:gd name="adj2" fmla="val 579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800" b="1" dirty="0" smtClean="0"/>
              <a:t>Results?</a:t>
            </a:r>
            <a:endParaRPr lang="en-AU" sz="3800" b="1" dirty="0"/>
          </a:p>
        </p:txBody>
      </p:sp>
      <p:sp>
        <p:nvSpPr>
          <p:cNvPr id="7" name="TextBox 6"/>
          <p:cNvSpPr txBox="1"/>
          <p:nvPr/>
        </p:nvSpPr>
        <p:spPr>
          <a:xfrm>
            <a:off x="1873770" y="299803"/>
            <a:ext cx="4032355" cy="1631216"/>
          </a:xfrm>
          <a:prstGeom prst="rect">
            <a:avLst/>
          </a:prstGeom>
          <a:noFill/>
        </p:spPr>
        <p:txBody>
          <a:bodyPr wrap="square" rtlCol="0">
            <a:spAutoFit/>
          </a:bodyPr>
          <a:lstStyle/>
          <a:p>
            <a:r>
              <a:rPr lang="en-AU" sz="10000" dirty="0" smtClean="0"/>
              <a:t>/7</a:t>
            </a:r>
            <a:endParaRPr lang="en-AU" sz="10000" dirty="0"/>
          </a:p>
        </p:txBody>
      </p:sp>
    </p:spTree>
    <p:extLst>
      <p:ext uri="{BB962C8B-B14F-4D97-AF65-F5344CB8AC3E}">
        <p14:creationId xmlns:p14="http://schemas.microsoft.com/office/powerpoint/2010/main" val="2324361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Source of the week</a:t>
            </a:r>
            <a:endParaRPr lang="en-AU" dirty="0"/>
          </a:p>
        </p:txBody>
      </p:sp>
      <p:pic>
        <p:nvPicPr>
          <p:cNvPr id="1026" name="Picture 2" descr="Image result for german sau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2373" y="1926536"/>
            <a:ext cx="4405286" cy="4654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873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Write down 3 questions you have about this source.</a:t>
            </a:r>
            <a:endParaRPr lang="en-AU" dirty="0"/>
          </a:p>
        </p:txBody>
      </p:sp>
      <p:sp>
        <p:nvSpPr>
          <p:cNvPr id="3" name="Content Placeholder 2"/>
          <p:cNvSpPr>
            <a:spLocks noGrp="1"/>
          </p:cNvSpPr>
          <p:nvPr>
            <p:ph idx="1"/>
          </p:nvPr>
        </p:nvSpPr>
        <p:spPr>
          <a:xfrm>
            <a:off x="1069848" y="2859577"/>
            <a:ext cx="10058400" cy="2913611"/>
          </a:xfrm>
          <a:ln>
            <a:solidFill>
              <a:schemeClr val="tx1"/>
            </a:solidFill>
          </a:ln>
        </p:spPr>
        <p:txBody>
          <a:bodyPr>
            <a:normAutofit/>
          </a:bodyPr>
          <a:lstStyle/>
          <a:p>
            <a:pPr marL="0" indent="0">
              <a:buNone/>
            </a:pPr>
            <a:r>
              <a:rPr lang="en-AU" sz="3000" dirty="0" smtClean="0"/>
              <a:t>“You very often bought things you did not need. But with those things in hand you could start to barter. You went round and exchanged a pair of shoes for a shirt, or a pair of socks for a sack of potatoes. And this process was repeated until you eventually ended up with things you actually wanted.”</a:t>
            </a:r>
            <a:endParaRPr lang="en-AU" sz="3000" dirty="0"/>
          </a:p>
        </p:txBody>
      </p:sp>
    </p:spTree>
    <p:extLst>
      <p:ext uri="{BB962C8B-B14F-4D97-AF65-F5344CB8AC3E}">
        <p14:creationId xmlns:p14="http://schemas.microsoft.com/office/powerpoint/2010/main" val="38518785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i="1" dirty="0" smtClean="0"/>
              <a:t>A </a:t>
            </a:r>
            <a:r>
              <a:rPr lang="en-AU" i="1" dirty="0"/>
              <a:t>G</a:t>
            </a:r>
            <a:r>
              <a:rPr lang="en-AU" i="1" dirty="0" smtClean="0"/>
              <a:t>erman man who was a student at the time of the Great Inflation</a:t>
            </a:r>
            <a:endParaRPr lang="en-AU" i="1" dirty="0"/>
          </a:p>
        </p:txBody>
      </p:sp>
      <p:sp>
        <p:nvSpPr>
          <p:cNvPr id="3" name="Content Placeholder 2"/>
          <p:cNvSpPr>
            <a:spLocks noGrp="1"/>
          </p:cNvSpPr>
          <p:nvPr>
            <p:ph idx="1"/>
          </p:nvPr>
        </p:nvSpPr>
        <p:spPr>
          <a:xfrm>
            <a:off x="1069848" y="2859577"/>
            <a:ext cx="10058400" cy="2913611"/>
          </a:xfrm>
          <a:ln>
            <a:solidFill>
              <a:schemeClr val="tx1"/>
            </a:solidFill>
          </a:ln>
        </p:spPr>
        <p:txBody>
          <a:bodyPr>
            <a:normAutofit/>
          </a:bodyPr>
          <a:lstStyle/>
          <a:p>
            <a:pPr marL="0" indent="0">
              <a:buNone/>
            </a:pPr>
            <a:r>
              <a:rPr lang="en-AU" sz="3000" dirty="0" smtClean="0"/>
              <a:t>“You very often bought things you did not need. But with those things in hand you could start to barter. You went round and exchanged a pair of shoes for a shirt, or a pair of socks for a sack of potatoes. And this process was repeated until you eventually ended up with things you actually wanted.”</a:t>
            </a:r>
            <a:endParaRPr lang="en-AU" sz="3000" dirty="0"/>
          </a:p>
        </p:txBody>
      </p:sp>
    </p:spTree>
    <p:extLst>
      <p:ext uri="{BB962C8B-B14F-4D97-AF65-F5344CB8AC3E}">
        <p14:creationId xmlns:p14="http://schemas.microsoft.com/office/powerpoint/2010/main" val="1704006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Fun Trivia Quiz</a:t>
            </a:r>
            <a:endParaRPr lang="en-AU" dirty="0"/>
          </a:p>
        </p:txBody>
      </p:sp>
      <p:sp>
        <p:nvSpPr>
          <p:cNvPr id="3" name="Content Placeholder 2"/>
          <p:cNvSpPr>
            <a:spLocks noGrp="1"/>
          </p:cNvSpPr>
          <p:nvPr>
            <p:ph idx="1"/>
          </p:nvPr>
        </p:nvSpPr>
        <p:spPr/>
        <p:txBody>
          <a:bodyPr/>
          <a:lstStyle/>
          <a:p>
            <a:r>
              <a:rPr lang="en-AU" dirty="0">
                <a:hlinkClick r:id="rId2"/>
              </a:rPr>
              <a:t>http://www.funtrivia.com/playquiz/quiz21347818718d8.html</a:t>
            </a:r>
            <a:endParaRPr lang="en-AU" dirty="0"/>
          </a:p>
        </p:txBody>
      </p:sp>
    </p:spTree>
    <p:extLst>
      <p:ext uri="{BB962C8B-B14F-4D97-AF65-F5344CB8AC3E}">
        <p14:creationId xmlns:p14="http://schemas.microsoft.com/office/powerpoint/2010/main" val="36889511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695" y="67755"/>
            <a:ext cx="10058400" cy="1609344"/>
          </a:xfrm>
        </p:spPr>
        <p:txBody>
          <a:bodyPr/>
          <a:lstStyle/>
          <a:p>
            <a:r>
              <a:rPr lang="en-AU" dirty="0" smtClean="0"/>
              <a:t>Essay questions</a:t>
            </a:r>
            <a:endParaRPr lang="en-AU" dirty="0"/>
          </a:p>
        </p:txBody>
      </p:sp>
      <p:sp>
        <p:nvSpPr>
          <p:cNvPr id="3" name="Content Placeholder 2"/>
          <p:cNvSpPr>
            <a:spLocks noGrp="1"/>
          </p:cNvSpPr>
          <p:nvPr>
            <p:ph idx="1"/>
          </p:nvPr>
        </p:nvSpPr>
        <p:spPr>
          <a:xfrm>
            <a:off x="464695" y="1484027"/>
            <a:ext cx="10663553" cy="5231566"/>
          </a:xfrm>
        </p:spPr>
        <p:txBody>
          <a:bodyPr>
            <a:normAutofit/>
          </a:bodyPr>
          <a:lstStyle/>
          <a:p>
            <a:pPr marL="0" indent="0">
              <a:buNone/>
            </a:pPr>
            <a:r>
              <a:rPr lang="en-AU" dirty="0" smtClean="0"/>
              <a:t>Choose one of the questions above and plan an essay you could write in response to it.</a:t>
            </a:r>
          </a:p>
          <a:p>
            <a:pPr fontAlgn="base">
              <a:buFont typeface="+mj-lt"/>
              <a:buAutoNum type="arabicPeriod"/>
            </a:pPr>
            <a:r>
              <a:rPr lang="en-AU" dirty="0" smtClean="0">
                <a:solidFill>
                  <a:srgbClr val="2B2B2B"/>
                </a:solidFill>
              </a:rPr>
              <a:t>To what extent did extremist political groups </a:t>
            </a:r>
            <a:r>
              <a:rPr lang="en-AU" dirty="0">
                <a:solidFill>
                  <a:srgbClr val="2B2B2B"/>
                </a:solidFill>
              </a:rPr>
              <a:t>contribute to political unrest and instability in early 1920s Germany?</a:t>
            </a:r>
          </a:p>
          <a:p>
            <a:pPr fontAlgn="base">
              <a:buFont typeface="+mj-lt"/>
              <a:buAutoNum type="arabicPeriod"/>
            </a:pPr>
            <a:r>
              <a:rPr lang="en-AU" dirty="0" smtClean="0">
                <a:solidFill>
                  <a:srgbClr val="2B2B2B"/>
                </a:solidFill>
              </a:rPr>
              <a:t>What </a:t>
            </a:r>
            <a:r>
              <a:rPr lang="en-AU" dirty="0">
                <a:solidFill>
                  <a:srgbClr val="2B2B2B"/>
                </a:solidFill>
              </a:rPr>
              <a:t>events or factors led to the </a:t>
            </a:r>
            <a:r>
              <a:rPr lang="en-AU" dirty="0" err="1">
                <a:solidFill>
                  <a:srgbClr val="2B2B2B"/>
                </a:solidFill>
              </a:rPr>
              <a:t>Kapp</a:t>
            </a:r>
            <a:r>
              <a:rPr lang="en-AU" dirty="0">
                <a:solidFill>
                  <a:srgbClr val="2B2B2B"/>
                </a:solidFill>
              </a:rPr>
              <a:t> </a:t>
            </a:r>
            <a:r>
              <a:rPr lang="en-AU" i="1" dirty="0">
                <a:solidFill>
                  <a:srgbClr val="2B2B2B"/>
                </a:solidFill>
              </a:rPr>
              <a:t>putsch</a:t>
            </a:r>
            <a:r>
              <a:rPr lang="en-AU" dirty="0">
                <a:solidFill>
                  <a:srgbClr val="2B2B2B"/>
                </a:solidFill>
              </a:rPr>
              <a:t> of 1920? How was this </a:t>
            </a:r>
            <a:r>
              <a:rPr lang="en-AU" i="1" dirty="0">
                <a:solidFill>
                  <a:srgbClr val="2B2B2B"/>
                </a:solidFill>
              </a:rPr>
              <a:t>putsch</a:t>
            </a:r>
            <a:r>
              <a:rPr lang="en-AU" dirty="0">
                <a:solidFill>
                  <a:srgbClr val="2B2B2B"/>
                </a:solidFill>
              </a:rPr>
              <a:t> eventually defeated?</a:t>
            </a:r>
          </a:p>
          <a:p>
            <a:pPr fontAlgn="base">
              <a:buFont typeface="+mj-lt"/>
              <a:buAutoNum type="arabicPeriod"/>
            </a:pPr>
            <a:r>
              <a:rPr lang="en-AU" dirty="0">
                <a:solidFill>
                  <a:srgbClr val="2B2B2B"/>
                </a:solidFill>
              </a:rPr>
              <a:t>Was Germany’s failure to make reparations payments in 1921-22 the result of financial inability, political defiance, or both?</a:t>
            </a:r>
          </a:p>
          <a:p>
            <a:pPr fontAlgn="base">
              <a:buFont typeface="+mj-lt"/>
              <a:buAutoNum type="arabicPeriod"/>
            </a:pPr>
            <a:r>
              <a:rPr lang="en-AU" dirty="0">
                <a:solidFill>
                  <a:srgbClr val="2B2B2B"/>
                </a:solidFill>
              </a:rPr>
              <a:t>Why did foreign troops occupy the Ruhr in early 1923 and how did the German government, press and people respond to this?</a:t>
            </a:r>
          </a:p>
          <a:p>
            <a:pPr fontAlgn="base">
              <a:buFont typeface="+mj-lt"/>
              <a:buAutoNum type="arabicPeriod"/>
            </a:pPr>
            <a:r>
              <a:rPr lang="en-AU" dirty="0">
                <a:solidFill>
                  <a:srgbClr val="2B2B2B"/>
                </a:solidFill>
              </a:rPr>
              <a:t>How did the Weimar government contribute to the hyperinflation crisis of late 1923? How was this crisis eventually resolved?</a:t>
            </a:r>
          </a:p>
          <a:p>
            <a:pPr fontAlgn="base">
              <a:buFont typeface="+mj-lt"/>
              <a:buAutoNum type="arabicPeriod"/>
            </a:pPr>
            <a:r>
              <a:rPr lang="en-AU" dirty="0">
                <a:solidFill>
                  <a:srgbClr val="2B2B2B"/>
                </a:solidFill>
              </a:rPr>
              <a:t>Which groups or classes were most affected by the hyperinflation of 1923? Did anyone benefit from hyperinflation</a:t>
            </a:r>
            <a:r>
              <a:rPr lang="en-AU" dirty="0" smtClean="0">
                <a:solidFill>
                  <a:srgbClr val="2B2B2B"/>
                </a:solidFill>
              </a:rPr>
              <a:t>?</a:t>
            </a:r>
            <a:endParaRPr lang="en-AU" dirty="0">
              <a:solidFill>
                <a:srgbClr val="2B2B2B"/>
              </a:solidFill>
            </a:endParaRPr>
          </a:p>
        </p:txBody>
      </p:sp>
    </p:spTree>
    <p:extLst>
      <p:ext uri="{BB962C8B-B14F-4D97-AF65-F5344CB8AC3E}">
        <p14:creationId xmlns:p14="http://schemas.microsoft.com/office/powerpoint/2010/main" val="28139210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Custom 8">
      <a:dk1>
        <a:sysClr val="windowText" lastClr="000000"/>
      </a:dk1>
      <a:lt1>
        <a:sysClr val="window" lastClr="FFFFFF"/>
      </a:lt1>
      <a:dk2>
        <a:srgbClr val="84ACB6"/>
      </a:dk2>
      <a:lt2>
        <a:srgbClr val="EBE9DD"/>
      </a:lt2>
      <a:accent1>
        <a:srgbClr val="6F8183"/>
      </a:accent1>
      <a:accent2>
        <a:srgbClr val="000000"/>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docProps/app.xml><?xml version="1.0" encoding="utf-8"?>
<Properties xmlns="http://schemas.openxmlformats.org/officeDocument/2006/extended-properties" xmlns:vt="http://schemas.openxmlformats.org/officeDocument/2006/docPropsVTypes">
  <Template>Wood Type</Template>
  <TotalTime>189</TotalTime>
  <Words>1637</Words>
  <Application>Microsoft Office PowerPoint</Application>
  <PresentationFormat>Widescreen</PresentationFormat>
  <Paragraphs>249</Paragraphs>
  <Slides>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Bookman Old Style</vt:lpstr>
      <vt:lpstr>Calibri</vt:lpstr>
      <vt:lpstr>Century Gothic</vt:lpstr>
      <vt:lpstr>Comic Sans MS</vt:lpstr>
      <vt:lpstr>Times New Roman</vt:lpstr>
      <vt:lpstr>Wingdings</vt:lpstr>
      <vt:lpstr>Wood Type</vt:lpstr>
      <vt:lpstr>Challenges to the Weimar Republic</vt:lpstr>
      <vt:lpstr>PowerPoint Presentation</vt:lpstr>
      <vt:lpstr>PowerPoint Presentation</vt:lpstr>
      <vt:lpstr>PowerPoint Presentation</vt:lpstr>
      <vt:lpstr>PowerPoint Presentation</vt:lpstr>
      <vt:lpstr>The story so far…</vt:lpstr>
      <vt:lpstr>Problems in Weimar Germany</vt:lpstr>
      <vt:lpstr>The Kapp Putsch</vt:lpstr>
      <vt:lpstr>PowerPoint Presentation</vt:lpstr>
      <vt:lpstr>1923 Crises: Occupation of the Ruhr</vt:lpstr>
      <vt:lpstr>PowerPoint Presentation</vt:lpstr>
      <vt:lpstr>1923 Crises: Economic collapse and hyperinflation  </vt:lpstr>
      <vt:lpstr>PowerPoint Presentation</vt:lpstr>
      <vt:lpstr>1923 Crises:  The Munich (Beer Hall) Putsch</vt:lpstr>
      <vt:lpstr>PowerPoint Presentation</vt:lpstr>
      <vt:lpstr>PowerPoint Presentation</vt:lpstr>
      <vt:lpstr>What do the statements say about the Munich Beer Hall Putsch – success or failure?</vt:lpstr>
      <vt:lpstr>PowerPoint Presentation</vt:lpstr>
      <vt:lpstr>History hero</vt:lpstr>
      <vt:lpstr>History Heroes Week 1, Term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ANSWERS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Source of the week</vt:lpstr>
      <vt:lpstr>Write down 3 questions you have about this source.</vt:lpstr>
      <vt:lpstr>A German man who was a student at the time of the Great Inflation</vt:lpstr>
      <vt:lpstr>Fun Trivia Quiz</vt:lpstr>
      <vt:lpstr>Essay questions</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to the Weimar Republic</dc:title>
  <dc:creator>HAWKES Natasha [Narrogin Senior High School]</dc:creator>
  <cp:lastModifiedBy>HAWKES Natasha [Narrogin Senior High School]</cp:lastModifiedBy>
  <cp:revision>22</cp:revision>
  <dcterms:created xsi:type="dcterms:W3CDTF">2019-06-26T02:50:59Z</dcterms:created>
  <dcterms:modified xsi:type="dcterms:W3CDTF">2019-07-25T23:58:21Z</dcterms:modified>
</cp:coreProperties>
</file>
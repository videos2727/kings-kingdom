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5" r:id="rId4"/>
    <p:sldId id="257" r:id="rId5"/>
    <p:sldId id="259" r:id="rId6"/>
    <p:sldId id="264" r:id="rId7"/>
    <p:sldId id="260"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5" d="100"/>
          <a:sy n="115" d="100"/>
        </p:scale>
        <p:origin x="432"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4C5F927-0C56-443F-B09C-EF6114BA7E72}" type="datetimeFigureOut">
              <a:rPr lang="en-AU" smtClean="0"/>
              <a:t>20/06/2019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1224459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4C5F927-0C56-443F-B09C-EF6114BA7E72}" type="datetimeFigureOut">
              <a:rPr lang="en-AU" smtClean="0"/>
              <a:t>20/06/2019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2067547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4C5F927-0C56-443F-B09C-EF6114BA7E72}" type="datetimeFigureOut">
              <a:rPr lang="en-AU" smtClean="0"/>
              <a:t>20/06/2019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3197248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4C5F927-0C56-443F-B09C-EF6114BA7E72}" type="datetimeFigureOut">
              <a:rPr lang="en-AU" smtClean="0"/>
              <a:t>20/06/2019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2763997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4C5F927-0C56-443F-B09C-EF6114BA7E72}" type="datetimeFigureOut">
              <a:rPr lang="en-AU" smtClean="0"/>
              <a:t>20/06/2019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2459022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4C5F927-0C56-443F-B09C-EF6114BA7E72}" type="datetimeFigureOut">
              <a:rPr lang="en-AU" smtClean="0"/>
              <a:t>20/06/2019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1780270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C5F927-0C56-443F-B09C-EF6114BA7E72}" type="datetimeFigureOut">
              <a:rPr lang="en-AU" smtClean="0"/>
              <a:t>20/06/2019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2351431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C5F927-0C56-443F-B09C-EF6114BA7E72}" type="datetimeFigureOut">
              <a:rPr lang="en-AU" smtClean="0"/>
              <a:t>20/06/2019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1854232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C5F927-0C56-443F-B09C-EF6114BA7E72}" type="datetimeFigureOut">
              <a:rPr lang="en-AU" smtClean="0"/>
              <a:t>20/06/2019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2126033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4C5F927-0C56-443F-B09C-EF6114BA7E72}" type="datetimeFigureOut">
              <a:rPr lang="en-AU" smtClean="0"/>
              <a:t>20/06/2019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4174192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4C5F927-0C56-443F-B09C-EF6114BA7E72}" type="datetimeFigureOut">
              <a:rPr lang="en-AU" smtClean="0"/>
              <a:t>20/06/2019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542639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C5F927-0C56-443F-B09C-EF6114BA7E72}" type="datetimeFigureOut">
              <a:rPr lang="en-AU" smtClean="0"/>
              <a:t>20/06/2019</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943242-FDCF-4C57-9AFF-8BE5FBCB45A8}" type="slidenum">
              <a:rPr lang="en-AU" smtClean="0"/>
              <a:t>‹#›</a:t>
            </a:fld>
            <a:endParaRPr lang="en-AU"/>
          </a:p>
        </p:txBody>
      </p:sp>
    </p:spTree>
    <p:extLst>
      <p:ext uri="{BB962C8B-B14F-4D97-AF65-F5344CB8AC3E}">
        <p14:creationId xmlns:p14="http://schemas.microsoft.com/office/powerpoint/2010/main" val="3586685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Essay practice</a:t>
            </a:r>
            <a:endParaRPr lang="en-AU" dirty="0"/>
          </a:p>
        </p:txBody>
      </p:sp>
      <p:sp>
        <p:nvSpPr>
          <p:cNvPr id="3" name="Subtitle 2"/>
          <p:cNvSpPr>
            <a:spLocks noGrp="1"/>
          </p:cNvSpPr>
          <p:nvPr>
            <p:ph type="subTitle" idx="1"/>
          </p:nvPr>
        </p:nvSpPr>
        <p:spPr>
          <a:xfrm>
            <a:off x="1024128" y="3602038"/>
            <a:ext cx="10433304" cy="2076386"/>
          </a:xfrm>
        </p:spPr>
        <p:txBody>
          <a:bodyPr>
            <a:normAutofit/>
          </a:bodyPr>
          <a:lstStyle/>
          <a:p>
            <a:r>
              <a:rPr lang="en-US" dirty="0" smtClean="0"/>
              <a:t>The following slides are examples of how you </a:t>
            </a:r>
            <a:r>
              <a:rPr lang="en-US" i="1" dirty="0" smtClean="0"/>
              <a:t>could</a:t>
            </a:r>
            <a:r>
              <a:rPr lang="en-US" dirty="0" smtClean="0"/>
              <a:t> structure an essay and what you </a:t>
            </a:r>
            <a:r>
              <a:rPr lang="en-US" i="1" dirty="0" smtClean="0"/>
              <a:t>could</a:t>
            </a:r>
            <a:r>
              <a:rPr lang="en-US" dirty="0" smtClean="0"/>
              <a:t> say, however, there are other ways. The key is on ensuring you are make clear statements that directly address the question and that you are using evidence that directly supports those points. </a:t>
            </a:r>
            <a:endParaRPr lang="en-AU" dirty="0"/>
          </a:p>
        </p:txBody>
      </p:sp>
    </p:spTree>
    <p:extLst>
      <p:ext uri="{BB962C8B-B14F-4D97-AF65-F5344CB8AC3E}">
        <p14:creationId xmlns:p14="http://schemas.microsoft.com/office/powerpoint/2010/main" val="37812840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0"/>
            <a:ext cx="10515600" cy="1325563"/>
          </a:xfrm>
        </p:spPr>
        <p:txBody>
          <a:bodyPr/>
          <a:lstStyle/>
          <a:p>
            <a:r>
              <a:rPr lang="en-AU" dirty="0" smtClean="0"/>
              <a:t>Homework:</a:t>
            </a:r>
            <a:endParaRPr lang="en-AU" dirty="0"/>
          </a:p>
        </p:txBody>
      </p:sp>
      <p:sp>
        <p:nvSpPr>
          <p:cNvPr id="3" name="Content Placeholder 2"/>
          <p:cNvSpPr>
            <a:spLocks noGrp="1"/>
          </p:cNvSpPr>
          <p:nvPr>
            <p:ph idx="1"/>
          </p:nvPr>
        </p:nvSpPr>
        <p:spPr>
          <a:xfrm>
            <a:off x="320040" y="1690688"/>
            <a:ext cx="11731752" cy="4618671"/>
          </a:xfrm>
        </p:spPr>
        <p:txBody>
          <a:bodyPr>
            <a:normAutofit/>
          </a:bodyPr>
          <a:lstStyle/>
          <a:p>
            <a:pPr marL="457200" lvl="0" indent="-457200">
              <a:buFont typeface="+mj-lt"/>
              <a:buAutoNum type="arabicPeriod"/>
            </a:pPr>
            <a:r>
              <a:rPr lang="en-AU" dirty="0"/>
              <a:t>Explain how the Nazi regime </a:t>
            </a:r>
            <a:r>
              <a:rPr lang="en-AU" dirty="0" smtClean="0"/>
              <a:t>&amp; the </a:t>
            </a:r>
            <a:r>
              <a:rPr lang="en-AU" dirty="0"/>
              <a:t>organisations within it </a:t>
            </a:r>
            <a:r>
              <a:rPr lang="en-AU" dirty="0" smtClean="0"/>
              <a:t>controlled </a:t>
            </a:r>
            <a:r>
              <a:rPr lang="en-AU" dirty="0"/>
              <a:t>and oppressed the German people and minimised opposition. </a:t>
            </a:r>
          </a:p>
          <a:p>
            <a:endParaRPr lang="en-AU" dirty="0"/>
          </a:p>
          <a:p>
            <a:endParaRPr lang="en-AU" dirty="0"/>
          </a:p>
          <a:p>
            <a:pPr marL="457200" lvl="0" indent="-457200">
              <a:buFont typeface="+mj-lt"/>
              <a:buAutoNum type="arabicPeriod" startAt="2"/>
            </a:pPr>
            <a:r>
              <a:rPr lang="en-AU" dirty="0"/>
              <a:t>Evaluate the following proposition:</a:t>
            </a:r>
          </a:p>
          <a:p>
            <a:pPr marL="0" indent="0">
              <a:buNone/>
            </a:pPr>
            <a:r>
              <a:rPr lang="en-AU" dirty="0" smtClean="0"/>
              <a:t>	“</a:t>
            </a:r>
            <a:r>
              <a:rPr lang="en-AU" dirty="0"/>
              <a:t>Hitler didn’t come to power by luck but he cleverly used the </a:t>
            </a:r>
            <a:r>
              <a:rPr lang="en-AU" dirty="0" smtClean="0"/>
              <a:t>events 	that </a:t>
            </a:r>
            <a:r>
              <a:rPr lang="en-AU" dirty="0"/>
              <a:t>he </a:t>
            </a:r>
            <a:r>
              <a:rPr lang="en-AU" dirty="0" smtClean="0"/>
              <a:t>did </a:t>
            </a:r>
            <a:r>
              <a:rPr lang="en-AU" dirty="0"/>
              <a:t>not cause to achieve his ultimate goal – </a:t>
            </a:r>
            <a:r>
              <a:rPr lang="en-AU" dirty="0" smtClean="0"/>
              <a:t>becoming Fuhrer </a:t>
            </a:r>
            <a:r>
              <a:rPr lang="en-AU" dirty="0"/>
              <a:t>of </a:t>
            </a:r>
            <a:r>
              <a:rPr lang="en-AU" dirty="0" smtClean="0"/>
              <a:t>	Germany</a:t>
            </a:r>
            <a:r>
              <a:rPr lang="en-AU" dirty="0"/>
              <a:t>”</a:t>
            </a:r>
          </a:p>
          <a:p>
            <a:pPr marL="0" indent="0">
              <a:buNone/>
            </a:pPr>
            <a:r>
              <a:rPr lang="en-AU" dirty="0" smtClean="0"/>
              <a:t>	Refer </a:t>
            </a:r>
            <a:r>
              <a:rPr lang="en-AU" dirty="0"/>
              <a:t>to key events from 1928-1934 to support your answer.</a:t>
            </a:r>
          </a:p>
          <a:p>
            <a:endParaRPr lang="en-AU" dirty="0"/>
          </a:p>
        </p:txBody>
      </p:sp>
    </p:spTree>
    <p:extLst>
      <p:ext uri="{BB962C8B-B14F-4D97-AF65-F5344CB8AC3E}">
        <p14:creationId xmlns:p14="http://schemas.microsoft.com/office/powerpoint/2010/main" val="34588467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328" y="374269"/>
            <a:ext cx="11558016" cy="1325563"/>
          </a:xfrm>
        </p:spPr>
        <p:txBody>
          <a:bodyPr>
            <a:noAutofit/>
          </a:bodyPr>
          <a:lstStyle/>
          <a:p>
            <a:pPr algn="ctr"/>
            <a:r>
              <a:rPr lang="en-AU" sz="3600" dirty="0" smtClean="0"/>
              <a:t>Explain how the Nazi regime &amp; the organisations within it controlled and oppressed the German people and minimised opposition. </a:t>
            </a:r>
            <a:endParaRPr lang="en-AU" sz="3600" dirty="0"/>
          </a:p>
        </p:txBody>
      </p:sp>
      <p:sp>
        <p:nvSpPr>
          <p:cNvPr id="3" name="Content Placeholder 2"/>
          <p:cNvSpPr>
            <a:spLocks noGrp="1"/>
          </p:cNvSpPr>
          <p:nvPr>
            <p:ph idx="1"/>
          </p:nvPr>
        </p:nvSpPr>
        <p:spPr>
          <a:xfrm>
            <a:off x="173736" y="2039112"/>
            <a:ext cx="11722608" cy="4818888"/>
          </a:xfrm>
        </p:spPr>
        <p:txBody>
          <a:bodyPr>
            <a:normAutofit lnSpcReduction="10000"/>
          </a:bodyPr>
          <a:lstStyle/>
          <a:p>
            <a:r>
              <a:rPr lang="en-US" dirty="0" smtClean="0"/>
              <a:t>What is the question asking you to do?</a:t>
            </a:r>
          </a:p>
          <a:p>
            <a:pPr lvl="1"/>
            <a:r>
              <a:rPr lang="en-US" dirty="0" smtClean="0"/>
              <a:t>Explain how the Nazis controlled and oppressed the German people.</a:t>
            </a:r>
          </a:p>
          <a:p>
            <a:pPr marL="457200" lvl="1" indent="0">
              <a:buNone/>
            </a:pPr>
            <a:r>
              <a:rPr lang="en-US" dirty="0"/>
              <a:t>	</a:t>
            </a:r>
            <a:r>
              <a:rPr lang="en-US" dirty="0" smtClean="0"/>
              <a:t>				AND</a:t>
            </a:r>
            <a:endParaRPr lang="en-US" dirty="0"/>
          </a:p>
          <a:p>
            <a:pPr lvl="1"/>
            <a:r>
              <a:rPr lang="en-US" dirty="0" smtClean="0"/>
              <a:t>Explain how the Nazis minimized opposition. </a:t>
            </a:r>
          </a:p>
          <a:p>
            <a:pPr lvl="1"/>
            <a:endParaRPr lang="en-US" dirty="0"/>
          </a:p>
          <a:p>
            <a:pPr lvl="1"/>
            <a:endParaRPr lang="en-US" dirty="0" smtClean="0"/>
          </a:p>
          <a:p>
            <a:r>
              <a:rPr lang="en-US" dirty="0" smtClean="0"/>
              <a:t>A simple way to break this question up is to do so chronologically:</a:t>
            </a:r>
          </a:p>
          <a:p>
            <a:pPr lvl="1"/>
            <a:r>
              <a:rPr lang="en-US" dirty="0" smtClean="0"/>
              <a:t>1933 – How did the Germans initially control the German people and secure their position?</a:t>
            </a:r>
          </a:p>
          <a:p>
            <a:pPr lvl="1"/>
            <a:r>
              <a:rPr lang="en-US" dirty="0" smtClean="0"/>
              <a:t>1933-34 – How did they transform that position into a totalitarian dictatorship?</a:t>
            </a:r>
          </a:p>
          <a:p>
            <a:pPr lvl="1"/>
            <a:r>
              <a:rPr lang="en-US" dirty="0" smtClean="0"/>
              <a:t>1933-45 – How did they maintain their control as their regime continued?</a:t>
            </a:r>
          </a:p>
          <a:p>
            <a:pPr lvl="1"/>
            <a:r>
              <a:rPr lang="en-US" dirty="0" smtClean="0"/>
              <a:t>1933-45 –</a:t>
            </a:r>
            <a:r>
              <a:rPr lang="en-US" dirty="0"/>
              <a:t> </a:t>
            </a:r>
            <a:r>
              <a:rPr lang="en-US" dirty="0" smtClean="0"/>
              <a:t>How did they specifically minimize opposition?</a:t>
            </a:r>
          </a:p>
        </p:txBody>
      </p:sp>
    </p:spTree>
    <p:extLst>
      <p:ext uri="{BB962C8B-B14F-4D97-AF65-F5344CB8AC3E}">
        <p14:creationId xmlns:p14="http://schemas.microsoft.com/office/powerpoint/2010/main" val="2181598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328" y="17653"/>
            <a:ext cx="11558016" cy="1325563"/>
          </a:xfrm>
        </p:spPr>
        <p:txBody>
          <a:bodyPr>
            <a:noAutofit/>
          </a:bodyPr>
          <a:lstStyle/>
          <a:p>
            <a:pPr algn="ctr"/>
            <a:r>
              <a:rPr lang="en-AU" sz="3200" dirty="0" smtClean="0"/>
              <a:t>Explain how the Nazi regime &amp; the organisations within it controlled and oppressed the German people and minimised opposition. </a:t>
            </a:r>
            <a:endParaRPr lang="en-AU" sz="3200" dirty="0"/>
          </a:p>
        </p:txBody>
      </p:sp>
      <p:sp>
        <p:nvSpPr>
          <p:cNvPr id="3" name="Content Placeholder 2"/>
          <p:cNvSpPr>
            <a:spLocks noGrp="1"/>
          </p:cNvSpPr>
          <p:nvPr>
            <p:ph idx="1"/>
          </p:nvPr>
        </p:nvSpPr>
        <p:spPr>
          <a:xfrm>
            <a:off x="182880" y="1343216"/>
            <a:ext cx="11713464" cy="5514784"/>
          </a:xfrm>
        </p:spPr>
        <p:txBody>
          <a:bodyPr>
            <a:normAutofit fontScale="62500" lnSpcReduction="20000"/>
          </a:bodyPr>
          <a:lstStyle/>
          <a:p>
            <a:r>
              <a:rPr lang="en-US" dirty="0" smtClean="0"/>
              <a:t>Introduction:</a:t>
            </a:r>
          </a:p>
          <a:p>
            <a:r>
              <a:rPr lang="en-US" dirty="0" smtClean="0"/>
              <a:t>Paragraph 1 – Explain how the Nazis secured control in the initial months following Hitler’s appointment as Chancellor (Jan 30, 1933) – </a:t>
            </a:r>
            <a:r>
              <a:rPr lang="en-US" dirty="0" err="1"/>
              <a:t>i</a:t>
            </a:r>
            <a:r>
              <a:rPr lang="en-US" dirty="0" err="1" smtClean="0"/>
              <a:t>Initial</a:t>
            </a:r>
            <a:r>
              <a:rPr lang="en-US" dirty="0" smtClean="0"/>
              <a:t> securing of control / the process of </a:t>
            </a:r>
            <a:r>
              <a:rPr lang="en-US" i="1" dirty="0" err="1" smtClean="0"/>
              <a:t>Gleicshaltung</a:t>
            </a:r>
            <a:r>
              <a:rPr lang="en-US" dirty="0"/>
              <a:t> </a:t>
            </a:r>
            <a:r>
              <a:rPr lang="en-US" dirty="0" smtClean="0"/>
              <a:t>/ creating a totalitarian state:</a:t>
            </a:r>
          </a:p>
          <a:p>
            <a:pPr lvl="1"/>
            <a:r>
              <a:rPr lang="en-US" dirty="0" smtClean="0"/>
              <a:t>Establishing a police state:</a:t>
            </a:r>
          </a:p>
          <a:p>
            <a:pPr lvl="2"/>
            <a:r>
              <a:rPr lang="en-US" dirty="0" smtClean="0"/>
              <a:t>The </a:t>
            </a:r>
            <a:r>
              <a:rPr lang="en-US" i="1" dirty="0" smtClean="0"/>
              <a:t>Reichstag </a:t>
            </a:r>
            <a:r>
              <a:rPr lang="en-US" dirty="0" smtClean="0"/>
              <a:t>Fire, emergency decree &amp; the Enabling Act </a:t>
            </a:r>
          </a:p>
          <a:p>
            <a:pPr lvl="2"/>
            <a:r>
              <a:rPr lang="en-US" dirty="0" smtClean="0"/>
              <a:t>Locking up political prisoners </a:t>
            </a:r>
          </a:p>
          <a:p>
            <a:pPr lvl="2"/>
            <a:r>
              <a:rPr lang="en-US" dirty="0" smtClean="0"/>
              <a:t>Creation of first concentration camps </a:t>
            </a:r>
          </a:p>
          <a:p>
            <a:pPr lvl="2"/>
            <a:r>
              <a:rPr lang="en-US" dirty="0" smtClean="0"/>
              <a:t>Establishment of the Gestapo</a:t>
            </a:r>
          </a:p>
          <a:p>
            <a:pPr lvl="1"/>
            <a:r>
              <a:rPr lang="en-US" dirty="0" smtClean="0"/>
              <a:t>As part of this process, also embarked more broadly on process of coordination / </a:t>
            </a:r>
            <a:r>
              <a:rPr lang="en-US" i="1" dirty="0" err="1" smtClean="0"/>
              <a:t>Gleicshaltung</a:t>
            </a:r>
            <a:r>
              <a:rPr lang="en-US" dirty="0"/>
              <a:t>:</a:t>
            </a:r>
            <a:endParaRPr lang="en-US" dirty="0" smtClean="0"/>
          </a:p>
          <a:p>
            <a:pPr lvl="2"/>
            <a:r>
              <a:rPr lang="en-US" dirty="0" smtClean="0"/>
              <a:t>Banning Trade Unions, replaced with…</a:t>
            </a:r>
          </a:p>
          <a:p>
            <a:pPr lvl="2"/>
            <a:r>
              <a:rPr lang="en-US" dirty="0" smtClean="0"/>
              <a:t>Banning of other political parties (minimizing chance of opposition) </a:t>
            </a:r>
          </a:p>
          <a:p>
            <a:pPr lvl="2"/>
            <a:r>
              <a:rPr lang="en-US" dirty="0" smtClean="0"/>
              <a:t>…</a:t>
            </a:r>
          </a:p>
          <a:p>
            <a:r>
              <a:rPr lang="en-US" dirty="0" smtClean="0"/>
              <a:t>Paragraph 2 – Explain how the Nazis transformed their initial power and control into a dictatorship:</a:t>
            </a:r>
          </a:p>
          <a:p>
            <a:pPr lvl="1"/>
            <a:r>
              <a:rPr lang="en-US" dirty="0" smtClean="0"/>
              <a:t>Night of the Long Knives – opposition within Nazi Party (SA) </a:t>
            </a:r>
          </a:p>
          <a:p>
            <a:pPr lvl="1"/>
            <a:r>
              <a:rPr lang="en-US" dirty="0" smtClean="0"/>
              <a:t>Oath of Allegiance (</a:t>
            </a:r>
            <a:r>
              <a:rPr lang="en-US" dirty="0" err="1" smtClean="0"/>
              <a:t>Wermacht</a:t>
            </a:r>
            <a:r>
              <a:rPr lang="en-US" dirty="0" smtClean="0"/>
              <a:t> swears oath directly to Hitler)</a:t>
            </a:r>
          </a:p>
          <a:p>
            <a:pPr lvl="1"/>
            <a:r>
              <a:rPr lang="en-US" dirty="0" smtClean="0"/>
              <a:t>Death of Hindenburg (Chancellor &amp; President merged)</a:t>
            </a:r>
          </a:p>
          <a:p>
            <a:r>
              <a:rPr lang="en-US" dirty="0" smtClean="0"/>
              <a:t>Paragraph 3 – Ongoing measures of control and oppression &amp; minimizing opposition:</a:t>
            </a:r>
          </a:p>
          <a:p>
            <a:pPr lvl="1"/>
            <a:r>
              <a:rPr lang="en-US" dirty="0" smtClean="0"/>
              <a:t>Police state and repression</a:t>
            </a:r>
          </a:p>
          <a:p>
            <a:pPr lvl="1"/>
            <a:r>
              <a:rPr lang="en-US" dirty="0" smtClean="0"/>
              <a:t>Propaganda</a:t>
            </a:r>
          </a:p>
          <a:p>
            <a:pPr lvl="1"/>
            <a:r>
              <a:rPr lang="en-US" dirty="0" smtClean="0"/>
              <a:t>Education </a:t>
            </a:r>
          </a:p>
          <a:p>
            <a:pPr lvl="1"/>
            <a:r>
              <a:rPr lang="en-US" dirty="0" smtClean="0"/>
              <a:t>Why did more people not oppose the regime?</a:t>
            </a:r>
          </a:p>
          <a:p>
            <a:r>
              <a:rPr lang="en-US" dirty="0" smtClean="0"/>
              <a:t>Paragraph 4 – …EACH OF THE PARAGRAPHS ABOVE CAN BE DIVIDED UP FURTHER</a:t>
            </a:r>
          </a:p>
          <a:p>
            <a:r>
              <a:rPr lang="en-US" dirty="0" smtClean="0"/>
              <a:t>Conclusion:</a:t>
            </a:r>
          </a:p>
        </p:txBody>
      </p:sp>
    </p:spTree>
    <p:extLst>
      <p:ext uri="{BB962C8B-B14F-4D97-AF65-F5344CB8AC3E}">
        <p14:creationId xmlns:p14="http://schemas.microsoft.com/office/powerpoint/2010/main" val="34214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6" end="1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17" end="17"/>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18" end="18"/>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20" end="20"/>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
                                            <p:txEl>
                                              <p:pRg st="21" end="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9478"/>
            <a:ext cx="12271248" cy="1325563"/>
          </a:xfrm>
        </p:spPr>
        <p:txBody>
          <a:bodyPr>
            <a:noAutofit/>
          </a:bodyPr>
          <a:lstStyle/>
          <a:p>
            <a:pPr algn="ctr"/>
            <a:r>
              <a:rPr lang="en-AU" sz="2800" dirty="0"/>
              <a:t>Evaluate the following proposition:</a:t>
            </a:r>
            <a:br>
              <a:rPr lang="en-AU" sz="2800" dirty="0"/>
            </a:br>
            <a:r>
              <a:rPr lang="en-AU" sz="2800" dirty="0"/>
              <a:t>	“Hitler didn’t come to power by luck but he cleverly used the </a:t>
            </a:r>
            <a:r>
              <a:rPr lang="en-AU" sz="2800" dirty="0" smtClean="0"/>
              <a:t>events that </a:t>
            </a:r>
            <a:r>
              <a:rPr lang="en-AU" sz="2800" dirty="0"/>
              <a:t>he did not cause to achieve his ultimate goal – </a:t>
            </a:r>
            <a:r>
              <a:rPr lang="en-AU" sz="2800" dirty="0" smtClean="0"/>
              <a:t>becoming Fuhrer </a:t>
            </a:r>
            <a:r>
              <a:rPr lang="en-AU" sz="2800" dirty="0"/>
              <a:t>of Germany”</a:t>
            </a:r>
            <a:br>
              <a:rPr lang="en-AU" sz="2800" dirty="0"/>
            </a:br>
            <a:r>
              <a:rPr lang="en-AU" sz="2800" dirty="0"/>
              <a:t>	Refer to key events from 1928-1934 to support your answer.</a:t>
            </a:r>
            <a:br>
              <a:rPr lang="en-AU" sz="2800" dirty="0"/>
            </a:br>
            <a:endParaRPr lang="en-AU" sz="2800" dirty="0"/>
          </a:p>
        </p:txBody>
      </p:sp>
      <p:sp>
        <p:nvSpPr>
          <p:cNvPr id="3" name="Content Placeholder 2"/>
          <p:cNvSpPr>
            <a:spLocks noGrp="1"/>
          </p:cNvSpPr>
          <p:nvPr>
            <p:ph idx="1"/>
          </p:nvPr>
        </p:nvSpPr>
        <p:spPr>
          <a:xfrm>
            <a:off x="448056" y="1901952"/>
            <a:ext cx="11594592" cy="4818887"/>
          </a:xfrm>
        </p:spPr>
        <p:txBody>
          <a:bodyPr/>
          <a:lstStyle/>
          <a:p>
            <a:r>
              <a:rPr lang="en-US" dirty="0" smtClean="0"/>
              <a:t>What is the proposition actually saying?</a:t>
            </a:r>
          </a:p>
          <a:p>
            <a:pPr lvl="1"/>
            <a:r>
              <a:rPr lang="en-US" dirty="0" smtClean="0"/>
              <a:t>Even though Hitler did not cause all of the events prior to 1934, he was able to cleverly use them to his advantage to come to power, ultimately using them to become the Fuhrer of Germany. </a:t>
            </a:r>
          </a:p>
          <a:p>
            <a:pPr lvl="1"/>
            <a:endParaRPr lang="en-US" dirty="0"/>
          </a:p>
          <a:p>
            <a:r>
              <a:rPr lang="en-US" dirty="0" smtClean="0"/>
              <a:t>Evaluate?</a:t>
            </a:r>
          </a:p>
          <a:p>
            <a:pPr lvl="1"/>
            <a:r>
              <a:rPr lang="en-US" dirty="0" smtClean="0"/>
              <a:t>How is this proposition true?</a:t>
            </a:r>
          </a:p>
          <a:p>
            <a:pPr lvl="1"/>
            <a:r>
              <a:rPr lang="en-US" dirty="0" smtClean="0"/>
              <a:t>How is this proposition false? Or not entirely true?</a:t>
            </a:r>
          </a:p>
          <a:p>
            <a:pPr lvl="1"/>
            <a:r>
              <a:rPr lang="en-US" dirty="0" smtClean="0"/>
              <a:t>Overall, what do you think?</a:t>
            </a:r>
            <a:endParaRPr lang="en-AU" dirty="0"/>
          </a:p>
        </p:txBody>
      </p:sp>
    </p:spTree>
    <p:extLst>
      <p:ext uri="{BB962C8B-B14F-4D97-AF65-F5344CB8AC3E}">
        <p14:creationId xmlns:p14="http://schemas.microsoft.com/office/powerpoint/2010/main" val="1879950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3446"/>
            <a:ext cx="12271248" cy="1325563"/>
          </a:xfrm>
        </p:spPr>
        <p:txBody>
          <a:bodyPr>
            <a:noAutofit/>
          </a:bodyPr>
          <a:lstStyle/>
          <a:p>
            <a:pPr algn="ctr"/>
            <a:r>
              <a:rPr lang="en-AU" sz="2400" dirty="0"/>
              <a:t>Evaluate the following proposition:</a:t>
            </a:r>
            <a:br>
              <a:rPr lang="en-AU" sz="2400" dirty="0"/>
            </a:br>
            <a:r>
              <a:rPr lang="en-AU" sz="2400" dirty="0"/>
              <a:t>	“Hitler didn’t come to power by luck but he cleverly used the </a:t>
            </a:r>
            <a:r>
              <a:rPr lang="en-AU" sz="2400" dirty="0" smtClean="0"/>
              <a:t>events that </a:t>
            </a:r>
            <a:r>
              <a:rPr lang="en-AU" sz="2400" dirty="0"/>
              <a:t>he did not cause to achieve his ultimate goal – </a:t>
            </a:r>
            <a:r>
              <a:rPr lang="en-AU" sz="2400" dirty="0" smtClean="0"/>
              <a:t>becoming Fuhrer </a:t>
            </a:r>
            <a:r>
              <a:rPr lang="en-AU" sz="2400" dirty="0"/>
              <a:t>of Germany”</a:t>
            </a:r>
            <a:br>
              <a:rPr lang="en-AU" sz="2400" dirty="0"/>
            </a:br>
            <a:r>
              <a:rPr lang="en-AU" sz="2400" dirty="0"/>
              <a:t>	Refer to key events from 1928-1934 to support your answer.</a:t>
            </a:r>
            <a:br>
              <a:rPr lang="en-AU" sz="2400" dirty="0"/>
            </a:br>
            <a:endParaRPr lang="en-AU" sz="2400" dirty="0"/>
          </a:p>
        </p:txBody>
      </p:sp>
      <p:sp>
        <p:nvSpPr>
          <p:cNvPr id="3" name="Content Placeholder 2"/>
          <p:cNvSpPr>
            <a:spLocks noGrp="1"/>
          </p:cNvSpPr>
          <p:nvPr>
            <p:ph idx="1"/>
          </p:nvPr>
        </p:nvSpPr>
        <p:spPr>
          <a:xfrm>
            <a:off x="0" y="1469009"/>
            <a:ext cx="12192000" cy="5388991"/>
          </a:xfrm>
        </p:spPr>
        <p:txBody>
          <a:bodyPr>
            <a:normAutofit fontScale="85000" lnSpcReduction="20000"/>
          </a:bodyPr>
          <a:lstStyle/>
          <a:p>
            <a:r>
              <a:rPr lang="en-US" dirty="0" smtClean="0"/>
              <a:t>Introduction:</a:t>
            </a:r>
          </a:p>
          <a:p>
            <a:r>
              <a:rPr lang="en-US" dirty="0" smtClean="0"/>
              <a:t>Paragraph 1 – You do not have to do this, but you could describe the events leading up to Hitler coming to power / Give some background / context. </a:t>
            </a:r>
          </a:p>
          <a:p>
            <a:r>
              <a:rPr lang="en-US" dirty="0" smtClean="0"/>
              <a:t>Paragraph 2 – Present the ways in which the proposition can be considered true – Hitler did not come to power by luck, he cleverly used the events that he did not cause to achieve his goal of becoming Fuhrer.</a:t>
            </a:r>
          </a:p>
          <a:p>
            <a:pPr lvl="1"/>
            <a:r>
              <a:rPr lang="en-US" dirty="0" smtClean="0"/>
              <a:t>Focus is on showing Hitler was clever in taking advantage of events. </a:t>
            </a:r>
          </a:p>
          <a:p>
            <a:r>
              <a:rPr lang="en-US" dirty="0" smtClean="0"/>
              <a:t>Paragraph 3 – Present the ways in which the proposition can be considered false / not entirely true – Hitler came to power mainly due to luck.</a:t>
            </a:r>
          </a:p>
          <a:p>
            <a:pPr lvl="1"/>
            <a:r>
              <a:rPr lang="en-US" dirty="0" smtClean="0"/>
              <a:t>Focus on showing that, even if Hitler was clever, he came  to power in large part due to luck and events he had no control over. </a:t>
            </a:r>
          </a:p>
          <a:p>
            <a:r>
              <a:rPr lang="en-US" dirty="0" smtClean="0"/>
              <a:t>Paragraph 4 – Can be done in your conclusion, but you need to come to a conclusion – what do you think? </a:t>
            </a:r>
          </a:p>
          <a:p>
            <a:pPr lvl="1"/>
            <a:r>
              <a:rPr lang="en-US" dirty="0" smtClean="0"/>
              <a:t>Overall – not entirely true &amp; not entirely false – truth is somewhere in the middle. </a:t>
            </a:r>
          </a:p>
          <a:p>
            <a:pPr lvl="2"/>
            <a:r>
              <a:rPr lang="en-US" dirty="0" smtClean="0"/>
              <a:t>Difficult to imagine Hitler could have come to power without events like the Great Depression, however, he certainly demonstrated certain skills and cleverness in taking advantage of them.</a:t>
            </a:r>
          </a:p>
          <a:p>
            <a:r>
              <a:rPr lang="en-US" dirty="0" smtClean="0"/>
              <a:t>Conclusion:</a:t>
            </a:r>
            <a:endParaRPr lang="en-US" dirty="0"/>
          </a:p>
        </p:txBody>
      </p:sp>
    </p:spTree>
    <p:extLst>
      <p:ext uri="{BB962C8B-B14F-4D97-AF65-F5344CB8AC3E}">
        <p14:creationId xmlns:p14="http://schemas.microsoft.com/office/powerpoint/2010/main" val="333796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168" y="36577"/>
            <a:ext cx="11667744" cy="978408"/>
          </a:xfrm>
        </p:spPr>
        <p:txBody>
          <a:bodyPr>
            <a:noAutofit/>
          </a:bodyPr>
          <a:lstStyle/>
          <a:p>
            <a:pPr marL="457200" lvl="0" indent="-457200" algn="ctr"/>
            <a:r>
              <a:rPr lang="en-AU" sz="1600" dirty="0" smtClean="0"/>
              <a:t>Evaluate the following proposition:</a:t>
            </a:r>
            <a:br>
              <a:rPr lang="en-AU" sz="1600" dirty="0" smtClean="0"/>
            </a:br>
            <a:r>
              <a:rPr lang="en-AU" sz="1600" dirty="0" smtClean="0"/>
              <a:t>	“Hitler didn’t come to power by luck but he cleverly used the events that he did not cause to achieve his ultimate goal – becoming Fuhrer of Germany”</a:t>
            </a:r>
            <a:br>
              <a:rPr lang="en-AU" sz="1600" dirty="0" smtClean="0"/>
            </a:br>
            <a:r>
              <a:rPr lang="en-AU" sz="1600" dirty="0" smtClean="0"/>
              <a:t>	Refer to key events from 1928-1934 to support your answer.</a:t>
            </a:r>
            <a:br>
              <a:rPr lang="en-AU" sz="1600" dirty="0" smtClean="0"/>
            </a:br>
            <a:endParaRPr lang="en-AU" sz="1600" dirty="0"/>
          </a:p>
        </p:txBody>
      </p:sp>
      <p:sp>
        <p:nvSpPr>
          <p:cNvPr id="3" name="Content Placeholder 2"/>
          <p:cNvSpPr>
            <a:spLocks noGrp="1"/>
          </p:cNvSpPr>
          <p:nvPr>
            <p:ph idx="1"/>
          </p:nvPr>
        </p:nvSpPr>
        <p:spPr>
          <a:xfrm>
            <a:off x="0" y="832104"/>
            <a:ext cx="12192000" cy="6025896"/>
          </a:xfrm>
        </p:spPr>
        <p:txBody>
          <a:bodyPr>
            <a:normAutofit fontScale="32500" lnSpcReduction="20000"/>
          </a:bodyPr>
          <a:lstStyle/>
          <a:p>
            <a:r>
              <a:rPr lang="en-US" dirty="0" smtClean="0"/>
              <a:t>Introduction:</a:t>
            </a:r>
          </a:p>
          <a:p>
            <a:r>
              <a:rPr lang="en-US" dirty="0" smtClean="0"/>
              <a:t>Paragraph 1: Description of events from 1928-1934 </a:t>
            </a:r>
          </a:p>
          <a:p>
            <a:pPr lvl="1"/>
            <a:r>
              <a:rPr lang="en-US" dirty="0" smtClean="0"/>
              <a:t>Weimar period of stability 1924-1928 = Nazi Party only a fringe group</a:t>
            </a:r>
          </a:p>
          <a:p>
            <a:pPr lvl="2"/>
            <a:r>
              <a:rPr lang="en-US" dirty="0" smtClean="0"/>
              <a:t>Evidence? 1928 </a:t>
            </a:r>
            <a:r>
              <a:rPr lang="en-US" i="1" dirty="0" smtClean="0"/>
              <a:t>Reichstag </a:t>
            </a:r>
            <a:r>
              <a:rPr lang="en-US" dirty="0" smtClean="0"/>
              <a:t>elections Nazi Party won 12 seats = only 2.8%</a:t>
            </a:r>
          </a:p>
          <a:p>
            <a:pPr lvl="2"/>
            <a:r>
              <a:rPr lang="en-US" dirty="0" smtClean="0"/>
              <a:t>However, it was in this period that Hitler &amp; the Nazis committed to increasing their supporter base and achieving power through more legal means following failed Beer Hall Putsch – this would ultimately succeed. </a:t>
            </a:r>
          </a:p>
          <a:p>
            <a:pPr lvl="1"/>
            <a:r>
              <a:rPr lang="en-US" dirty="0" smtClean="0"/>
              <a:t>Great Depression strikes 1929 = economic &amp; political chaos which Weimar governments unable to resolve</a:t>
            </a:r>
          </a:p>
          <a:p>
            <a:pPr lvl="2"/>
            <a:r>
              <a:rPr lang="en-US" dirty="0" smtClean="0"/>
              <a:t>GD triggered unemployment, social hardship &amp; pol. instability. </a:t>
            </a:r>
          </a:p>
          <a:p>
            <a:pPr lvl="2"/>
            <a:r>
              <a:rPr lang="en-US" dirty="0"/>
              <a:t>Political system in turmoil as successive government </a:t>
            </a:r>
            <a:r>
              <a:rPr lang="en-US" dirty="0" smtClean="0"/>
              <a:t>dismissed: </a:t>
            </a:r>
          </a:p>
          <a:p>
            <a:pPr lvl="3"/>
            <a:r>
              <a:rPr lang="en-US" dirty="0" smtClean="0"/>
              <a:t>March 1930 – </a:t>
            </a:r>
            <a:r>
              <a:rPr lang="en-US" dirty="0" err="1" smtClean="0"/>
              <a:t>Bruning</a:t>
            </a:r>
            <a:r>
              <a:rPr lang="en-US" dirty="0" smtClean="0"/>
              <a:t> appoint. Chancellor without </a:t>
            </a:r>
            <a:r>
              <a:rPr lang="en-US" i="1" dirty="0" smtClean="0"/>
              <a:t>Reichstag </a:t>
            </a:r>
            <a:r>
              <a:rPr lang="en-US" dirty="0" smtClean="0"/>
              <a:t>majority – Pres. Hindenburg invoked Article 48 (power for Pres. to implement law be decree) = start of Pres. Rule. </a:t>
            </a:r>
          </a:p>
          <a:p>
            <a:pPr lvl="3"/>
            <a:r>
              <a:rPr lang="en-US" dirty="0" smtClean="0"/>
              <a:t>No confidence vote in </a:t>
            </a:r>
            <a:r>
              <a:rPr lang="en-US" i="1" dirty="0" smtClean="0"/>
              <a:t>Reichstag</a:t>
            </a:r>
            <a:r>
              <a:rPr lang="en-US" dirty="0" smtClean="0"/>
              <a:t>, new elections.</a:t>
            </a:r>
          </a:p>
          <a:p>
            <a:pPr lvl="3"/>
            <a:r>
              <a:rPr lang="en-US" dirty="0" smtClean="0"/>
              <a:t>Process repeated… democracy being weakened and eroded. </a:t>
            </a:r>
          </a:p>
          <a:p>
            <a:pPr lvl="1"/>
            <a:r>
              <a:rPr lang="en-US" dirty="0" smtClean="0"/>
              <a:t>Throughout this chaos, support for extremist groups, incl. the Nazis, rises:</a:t>
            </a:r>
          </a:p>
          <a:p>
            <a:pPr lvl="2"/>
            <a:r>
              <a:rPr lang="en-US" dirty="0" smtClean="0"/>
              <a:t>Evidence?  Sep.1930 </a:t>
            </a:r>
            <a:r>
              <a:rPr lang="en-US" i="1" dirty="0" smtClean="0"/>
              <a:t>Reichstag</a:t>
            </a:r>
            <a:r>
              <a:rPr lang="en-US" dirty="0" smtClean="0"/>
              <a:t> elections Nazis won 107 seats = 18.3%, Communist Party won 77 seats (13.1</a:t>
            </a:r>
            <a:r>
              <a:rPr lang="en-US" dirty="0"/>
              <a:t>%). </a:t>
            </a:r>
            <a:endParaRPr lang="en-US" dirty="0" smtClean="0"/>
          </a:p>
          <a:p>
            <a:pPr lvl="2"/>
            <a:r>
              <a:rPr lang="en-US" dirty="0" smtClean="0"/>
              <a:t>Evidence</a:t>
            </a:r>
            <a:r>
              <a:rPr lang="en-US" dirty="0"/>
              <a:t>? Alan Bullock: ‘…men standing hopelessly on the street corners of every industrial town in Germany; of houses without food or warmth; of boys and girls leaving school without any chance of a job…one may begin to guess something of the incalculable human anxiety and embitterment burnt into the minds of millions of ordinary German working men and women</a:t>
            </a:r>
            <a:r>
              <a:rPr lang="en-US" dirty="0" smtClean="0"/>
              <a:t>.’</a:t>
            </a:r>
            <a:endParaRPr lang="en-US" dirty="0"/>
          </a:p>
          <a:p>
            <a:r>
              <a:rPr lang="en-US" dirty="0" smtClean="0"/>
              <a:t>Paragraph 2: Proposition = True:</a:t>
            </a:r>
          </a:p>
          <a:p>
            <a:pPr lvl="1"/>
            <a:r>
              <a:rPr lang="en-US" dirty="0" smtClean="0"/>
              <a:t>Hitler did not come to power by luck, instead, he cleverly used events he did not cause to become the Fuhrer of Germany </a:t>
            </a:r>
          </a:p>
          <a:p>
            <a:pPr lvl="2"/>
            <a:r>
              <a:rPr lang="en-US" dirty="0" smtClean="0"/>
              <a:t>Following failed Beer Hall Putsch (1923), Hitler committed to achieving power through legal means - </a:t>
            </a:r>
            <a:r>
              <a:rPr lang="en-US" dirty="0"/>
              <a:t> </a:t>
            </a:r>
            <a:r>
              <a:rPr lang="en-US" dirty="0" smtClean="0"/>
              <a:t>did not work immediately but came to fruition as other events occurred (GD). </a:t>
            </a:r>
          </a:p>
          <a:p>
            <a:pPr lvl="3"/>
            <a:r>
              <a:rPr lang="en-US" dirty="0" smtClean="0"/>
              <a:t>Evidence? Goebbels quote 1928: ‘we are entering the </a:t>
            </a:r>
            <a:r>
              <a:rPr lang="en-US" i="1" dirty="0" smtClean="0"/>
              <a:t>Reichstag</a:t>
            </a:r>
            <a:r>
              <a:rPr lang="en-US" dirty="0" smtClean="0"/>
              <a:t> in order that we may arm ourselves with the weapons of democracy from its own arsenal. We shall become </a:t>
            </a:r>
            <a:r>
              <a:rPr lang="en-US" i="1" dirty="0" smtClean="0"/>
              <a:t>Reichstag</a:t>
            </a:r>
            <a:r>
              <a:rPr lang="en-US" dirty="0" smtClean="0"/>
              <a:t> deputies</a:t>
            </a:r>
            <a:r>
              <a:rPr lang="en-US" i="1" dirty="0" smtClean="0"/>
              <a:t> </a:t>
            </a:r>
            <a:r>
              <a:rPr lang="en-US" dirty="0" smtClean="0"/>
              <a:t>in order that the Weimar ideology should itself help us to destroy it.’</a:t>
            </a:r>
          </a:p>
          <a:p>
            <a:pPr lvl="2"/>
            <a:r>
              <a:rPr lang="en-US" dirty="0" smtClean="0"/>
              <a:t>GD deepening, political chaos and new elections set for September 1930, Nazis &amp; Hitler launched vigorous campaign to win support. </a:t>
            </a:r>
          </a:p>
          <a:p>
            <a:pPr lvl="3"/>
            <a:r>
              <a:rPr lang="en-US" dirty="0" smtClean="0"/>
              <a:t>‘Party of action’ </a:t>
            </a:r>
          </a:p>
          <a:p>
            <a:pPr lvl="3"/>
            <a:r>
              <a:rPr lang="en-US" dirty="0" smtClean="0"/>
              <a:t>Hundreds of rallies &amp; pol. meetings across the country.</a:t>
            </a:r>
          </a:p>
          <a:p>
            <a:pPr lvl="3"/>
            <a:r>
              <a:rPr lang="en-US" dirty="0" smtClean="0"/>
              <a:t>Hitler &amp; other leaders attacked weakness &amp; inefficiency of parliamentary system, divided pol. parties, threat of communism, </a:t>
            </a:r>
            <a:r>
              <a:rPr lang="en-US" dirty="0" err="1" smtClean="0"/>
              <a:t>soc.</a:t>
            </a:r>
            <a:r>
              <a:rPr lang="en-US" dirty="0" smtClean="0"/>
              <a:t> &amp; econ. consequences of GD. </a:t>
            </a:r>
          </a:p>
          <a:p>
            <a:pPr lvl="3"/>
            <a:r>
              <a:rPr lang="en-US" dirty="0" smtClean="0"/>
              <a:t>Tapped into mood of resentment</a:t>
            </a:r>
          </a:p>
          <a:p>
            <a:pPr lvl="3"/>
            <a:r>
              <a:rPr lang="en-US" dirty="0" smtClean="0"/>
              <a:t>Promised revitalization of national will</a:t>
            </a:r>
          </a:p>
          <a:p>
            <a:pPr lvl="3"/>
            <a:r>
              <a:rPr lang="en-US" dirty="0" smtClean="0"/>
              <a:t>Hitler’s simple msg. = growing appeal to disillusioned middle class, small </a:t>
            </a:r>
            <a:r>
              <a:rPr lang="en-US" dirty="0" err="1" smtClean="0"/>
              <a:t>busin</a:t>
            </a:r>
            <a:r>
              <a:rPr lang="en-US" dirty="0" smtClean="0"/>
              <a:t>. operators &amp; rural / farming pop. </a:t>
            </a:r>
          </a:p>
          <a:p>
            <a:pPr lvl="3"/>
            <a:r>
              <a:rPr lang="en-US" dirty="0" smtClean="0"/>
              <a:t>Tactics won wide support</a:t>
            </a:r>
            <a:r>
              <a:rPr lang="en-US" dirty="0"/>
              <a:t>: Evidence = ?  Sep.1930 </a:t>
            </a:r>
            <a:r>
              <a:rPr lang="en-US" i="1" dirty="0"/>
              <a:t>Reichstag</a:t>
            </a:r>
            <a:r>
              <a:rPr lang="en-US" dirty="0"/>
              <a:t> elections Nazis </a:t>
            </a:r>
            <a:r>
              <a:rPr lang="en-US" dirty="0" smtClean="0"/>
              <a:t>increased seats from 12 to 107 </a:t>
            </a:r>
            <a:r>
              <a:rPr lang="en-US" dirty="0"/>
              <a:t>seats = 18.3</a:t>
            </a:r>
            <a:r>
              <a:rPr lang="en-US" dirty="0" smtClean="0"/>
              <a:t>% of the vote = 6 million votes out of total of 35 million voters = second largest party in </a:t>
            </a:r>
            <a:r>
              <a:rPr lang="en-US" i="1" dirty="0" smtClean="0"/>
              <a:t>Reichstag. </a:t>
            </a:r>
          </a:p>
          <a:p>
            <a:pPr lvl="2"/>
            <a:r>
              <a:rPr lang="en-US" dirty="0" smtClean="0"/>
              <a:t>Nazis and others made </a:t>
            </a:r>
            <a:r>
              <a:rPr lang="en-US" i="1" dirty="0" smtClean="0"/>
              <a:t>Reichstag </a:t>
            </a:r>
            <a:r>
              <a:rPr lang="en-US" dirty="0" smtClean="0"/>
              <a:t>unworkable – sought to destroy Weimar govt. = chaos cont. &amp; GD deepened</a:t>
            </a:r>
          </a:p>
          <a:p>
            <a:pPr lvl="2"/>
            <a:r>
              <a:rPr lang="en-US" dirty="0" smtClean="0"/>
              <a:t>1932 Presidential elections – Hitler &amp; Nazis campaigned vigorously:</a:t>
            </a:r>
          </a:p>
          <a:p>
            <a:pPr lvl="3"/>
            <a:r>
              <a:rPr lang="en-US" dirty="0" smtClean="0"/>
              <a:t>Hitler = first modern pol. to take to the air (five cities a day – prop. Slogan = ‘Hitler over Germany’)</a:t>
            </a:r>
          </a:p>
          <a:p>
            <a:pPr lvl="3"/>
            <a:r>
              <a:rPr lang="en-US" dirty="0" smtClean="0"/>
              <a:t>Hitler lost but got to second round of voting = demonstrated growing support for Nazis &amp; Hitler specifically = tactics working. </a:t>
            </a:r>
            <a:endParaRPr lang="en-US" dirty="0"/>
          </a:p>
          <a:p>
            <a:r>
              <a:rPr lang="en-US" dirty="0" smtClean="0"/>
              <a:t>Paragraph 3: Proposition = False:</a:t>
            </a:r>
          </a:p>
          <a:p>
            <a:pPr lvl="1"/>
            <a:r>
              <a:rPr lang="en-US" dirty="0" smtClean="0"/>
              <a:t>Hitler came to power by luck or at least not because he was particularly clever </a:t>
            </a:r>
          </a:p>
          <a:p>
            <a:pPr lvl="2"/>
            <a:r>
              <a:rPr lang="en-US" dirty="0" smtClean="0"/>
              <a:t>Hitler and the Nazis increased popularity was not due to their skill, rather, it was due to the failures of others (people &amp; parties)</a:t>
            </a:r>
          </a:p>
          <a:p>
            <a:pPr lvl="2"/>
            <a:r>
              <a:rPr lang="en-US" dirty="0" smtClean="0"/>
              <a:t>Hitler was only appointed Chancellor as part of the chaotic political wheeling and dealing and intrigue in which others were trying outmaneuver each other. </a:t>
            </a:r>
          </a:p>
          <a:p>
            <a:pPr lvl="2"/>
            <a:r>
              <a:rPr lang="en-US" dirty="0" smtClean="0"/>
              <a:t>Support for the Nazis actually fell in the final elections in 1932</a:t>
            </a:r>
          </a:p>
          <a:p>
            <a:pPr lvl="2"/>
            <a:r>
              <a:rPr lang="en-US" dirty="0" smtClean="0"/>
              <a:t>Hitler was appointed </a:t>
            </a:r>
            <a:r>
              <a:rPr lang="en-US" smtClean="0"/>
              <a:t>Chancellor because…</a:t>
            </a:r>
            <a:endParaRPr lang="en-US" dirty="0" smtClean="0"/>
          </a:p>
          <a:p>
            <a:r>
              <a:rPr lang="en-US" dirty="0" smtClean="0"/>
              <a:t>Paragraph 4: Overall? </a:t>
            </a:r>
          </a:p>
          <a:p>
            <a:r>
              <a:rPr lang="en-US" dirty="0" smtClean="0"/>
              <a:t>Conclusion:</a:t>
            </a:r>
            <a:endParaRPr lang="en-AU" dirty="0"/>
          </a:p>
        </p:txBody>
      </p:sp>
    </p:spTree>
    <p:extLst>
      <p:ext uri="{BB962C8B-B14F-4D97-AF65-F5344CB8AC3E}">
        <p14:creationId xmlns:p14="http://schemas.microsoft.com/office/powerpoint/2010/main" val="1822184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5" end="15"/>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18" end="18"/>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19" end="19"/>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xEl>
                                              <p:pRg st="20" end="20"/>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21" end="21"/>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
                                            <p:txEl>
                                              <p:pRg st="22" end="22"/>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
                                            <p:txEl>
                                              <p:pRg st="23" end="23"/>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
                                            <p:txEl>
                                              <p:pRg st="24" end="24"/>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
                                            <p:txEl>
                                              <p:pRg st="25" end="25"/>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
                                            <p:txEl>
                                              <p:pRg st="26" end="26"/>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
                                            <p:txEl>
                                              <p:pRg st="27" end="27"/>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
                                            <p:txEl>
                                              <p:pRg st="28" end="28"/>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
                                            <p:txEl>
                                              <p:pRg st="29" end="29"/>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
                                            <p:txEl>
                                              <p:pRg st="30" end="30"/>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
                                            <p:txEl>
                                              <p:pRg st="31" end="31"/>
                                            </p:txEl>
                                          </p:spTgt>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
                                            <p:txEl>
                                              <p:pRg st="32" end="32"/>
                                            </p:txEl>
                                          </p:spTgt>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
                                            <p:txEl>
                                              <p:pRg st="33" end="33"/>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
                                            <p:txEl>
                                              <p:pRg st="34" end="34"/>
                                            </p:txEl>
                                          </p:spTgt>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
                                            <p:txEl>
                                              <p:pRg st="35" end="35"/>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
                                            <p:txEl>
                                              <p:pRg st="36" end="36"/>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
                                            <p:txEl>
                                              <p:pRg st="37" end="3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5820" y="1"/>
            <a:ext cx="10515600" cy="713231"/>
          </a:xfrm>
        </p:spPr>
        <p:txBody>
          <a:bodyPr/>
          <a:lstStyle/>
          <a:p>
            <a:pPr algn="ctr"/>
            <a:r>
              <a:rPr lang="en-US" dirty="0" smtClean="0"/>
              <a:t>Other practice questions:</a:t>
            </a:r>
            <a:endParaRPr lang="en-AU" dirty="0"/>
          </a:p>
        </p:txBody>
      </p:sp>
      <p:sp>
        <p:nvSpPr>
          <p:cNvPr id="3" name="Content Placeholder 2"/>
          <p:cNvSpPr>
            <a:spLocks noGrp="1"/>
          </p:cNvSpPr>
          <p:nvPr>
            <p:ph idx="1"/>
          </p:nvPr>
        </p:nvSpPr>
        <p:spPr>
          <a:xfrm>
            <a:off x="64008" y="795528"/>
            <a:ext cx="12127992" cy="6126480"/>
          </a:xfrm>
        </p:spPr>
        <p:txBody>
          <a:bodyPr>
            <a:normAutofit fontScale="92500" lnSpcReduction="20000"/>
          </a:bodyPr>
          <a:lstStyle/>
          <a:p>
            <a:pPr marL="514350" indent="-514350">
              <a:buFont typeface="+mj-lt"/>
              <a:buAutoNum type="arabicPeriod"/>
            </a:pPr>
            <a:r>
              <a:rPr lang="en-US" dirty="0" smtClean="0"/>
              <a:t>Evaluate the extent to which the Treaty of Versailles was a cause of World War Two. </a:t>
            </a:r>
          </a:p>
          <a:p>
            <a:pPr marL="514350" indent="-514350">
              <a:buFont typeface="+mj-lt"/>
              <a:buAutoNum type="arabicPeriod"/>
            </a:pPr>
            <a:r>
              <a:rPr lang="en-US" dirty="0" smtClean="0"/>
              <a:t>Describe the reasons for the failure of the Weimar Republic to deal with the social, political and economic problems it encountered. </a:t>
            </a:r>
          </a:p>
          <a:p>
            <a:pPr marL="514350" indent="-514350">
              <a:buFont typeface="+mj-lt"/>
              <a:buAutoNum type="arabicPeriod"/>
            </a:pPr>
            <a:r>
              <a:rPr lang="en-US" dirty="0" smtClean="0"/>
              <a:t>Evaluate the reasons for the Nazi Party’s rise to power. </a:t>
            </a:r>
          </a:p>
          <a:p>
            <a:pPr marL="514350" indent="-514350">
              <a:buFont typeface="+mj-lt"/>
              <a:buAutoNum type="arabicPeriod"/>
            </a:pPr>
            <a:r>
              <a:rPr lang="en-US" dirty="0" smtClean="0"/>
              <a:t>Evaluate the extent to which the Nazis were able to create a truly totalitarian state. </a:t>
            </a:r>
          </a:p>
          <a:p>
            <a:pPr marL="514350" indent="-514350">
              <a:buFont typeface="+mj-lt"/>
              <a:buAutoNum type="arabicPeriod"/>
            </a:pPr>
            <a:r>
              <a:rPr lang="en-US" dirty="0" smtClean="0"/>
              <a:t>Evaluate the role and impact of a significant individual in Weimar Germany / Nazi Germany [i.e. Hitler, Speer, Stresemann, Hindenburg, Himmler, Goebbels…].</a:t>
            </a:r>
          </a:p>
          <a:p>
            <a:pPr marL="514350" indent="-514350">
              <a:buFont typeface="+mj-lt"/>
              <a:buAutoNum type="arabicPeriod"/>
            </a:pPr>
            <a:r>
              <a:rPr lang="en-US" dirty="0" smtClean="0"/>
              <a:t>Describe the military, social, political and economic circumstances in Germany following the end of WW1 and evaluate the extent to which this contributed to the rise of Nazism</a:t>
            </a:r>
            <a:r>
              <a:rPr lang="en-US" dirty="0"/>
              <a:t>. </a:t>
            </a:r>
            <a:endParaRPr lang="en-US" dirty="0" smtClean="0"/>
          </a:p>
          <a:p>
            <a:pPr marL="514350" indent="-514350">
              <a:buFont typeface="+mj-lt"/>
              <a:buAutoNum type="arabicPeriod"/>
            </a:pPr>
            <a:r>
              <a:rPr lang="en-US" dirty="0" smtClean="0"/>
              <a:t>Describe </a:t>
            </a:r>
            <a:r>
              <a:rPr lang="en-US" dirty="0"/>
              <a:t>how Adolf Hitler and the Nazi Party changed German society between 1933 and 1945. </a:t>
            </a:r>
          </a:p>
          <a:p>
            <a:pPr marL="514350" indent="-514350">
              <a:buFont typeface="+mj-lt"/>
              <a:buAutoNum type="arabicPeriod"/>
            </a:pPr>
            <a:r>
              <a:rPr lang="en-US" dirty="0"/>
              <a:t>Evaluate the impact of the Nazi Party’s economic / political / social [YOU CAN PRACTIC THIS QUESTION WITH ANY THESE] policies from 1933 to 1945. </a:t>
            </a:r>
            <a:endParaRPr lang="en-US" dirty="0" smtClean="0"/>
          </a:p>
          <a:p>
            <a:pPr marL="514350" indent="-514350">
              <a:buFont typeface="+mj-lt"/>
              <a:buAutoNum type="arabicPeriod"/>
            </a:pPr>
            <a:r>
              <a:rPr lang="en-US" dirty="0" smtClean="0"/>
              <a:t>Describe the nature of opposition to the Nazis and explain why more people did not actively oppose them. </a:t>
            </a:r>
            <a:endParaRPr lang="en-US" dirty="0"/>
          </a:p>
          <a:p>
            <a:pPr marL="514350" indent="-514350">
              <a:buFont typeface="+mj-lt"/>
              <a:buAutoNum type="arabicPeriod"/>
            </a:pPr>
            <a:endParaRPr lang="en-AU" dirty="0"/>
          </a:p>
        </p:txBody>
      </p:sp>
    </p:spTree>
    <p:extLst>
      <p:ext uri="{BB962C8B-B14F-4D97-AF65-F5344CB8AC3E}">
        <p14:creationId xmlns:p14="http://schemas.microsoft.com/office/powerpoint/2010/main" val="23070240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TotalTime>
  <Words>1537</Words>
  <Application>Microsoft Office PowerPoint</Application>
  <PresentationFormat>Widescreen</PresentationFormat>
  <Paragraphs>112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Essay practice</vt:lpstr>
      <vt:lpstr>Homework:</vt:lpstr>
      <vt:lpstr>Explain how the Nazi regime &amp; the organisations within it controlled and oppressed the German people and minimised opposition. </vt:lpstr>
      <vt:lpstr>Explain how the Nazi regime &amp; the organisations within it controlled and oppressed the German people and minimised opposition. </vt:lpstr>
      <vt:lpstr>Evaluate the following proposition:  “Hitler didn’t come to power by luck but he cleverly used the events that he did not cause to achieve his ultimate goal – becoming Fuhrer of Germany”  Refer to key events from 1928-1934 to support your answer. </vt:lpstr>
      <vt:lpstr>Evaluate the following proposition:  “Hitler didn’t come to power by luck but he cleverly used the events that he did not cause to achieve his ultimate goal – becoming Fuhrer of Germany”  Refer to key events from 1928-1934 to support your answer. </vt:lpstr>
      <vt:lpstr>Evaluate the following proposition:  “Hitler didn’t come to power by luck but he cleverly used the events that he did not cause to achieve his ultimate goal – becoming Fuhrer of Germany”  Refer to key events from 1928-1934 to support your answer. </vt:lpstr>
      <vt:lpstr>Other practice questions:</vt:lpstr>
    </vt:vector>
  </TitlesOfParts>
  <Company>Ballajura Community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Pedrotti</dc:creator>
  <cp:lastModifiedBy>HAWKES Natasha [Narrogin Senior High School]</cp:lastModifiedBy>
  <cp:revision>13</cp:revision>
  <dcterms:created xsi:type="dcterms:W3CDTF">2017-10-30T08:11:25Z</dcterms:created>
  <dcterms:modified xsi:type="dcterms:W3CDTF">2019-06-20T00:14:46Z</dcterms:modified>
</cp:coreProperties>
</file>
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Default Extension="png" ContentType="image/png"/>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61" r:id="rId5"/>
    <p:sldId id="260" r:id="rId6"/>
    <p:sldId id="262" r:id="rId7"/>
    <p:sldId id="259" r:id="rId8"/>
    <p:sldId id="263" r:id="rId9"/>
    <p:sldId id="264" r:id="rId10"/>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00FFFF"/>
    <a:srgbClr val="FF0000"/>
    <a:srgbClr val="FF66CC"/>
    <a:srgbClr val="FFFF66"/>
    <a:srgbClr val="000066"/>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104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38122F9-6B25-4257-8677-8973D0C1AB14}" type="datetimeFigureOut">
              <a:rPr lang="en-AU" smtClean="0"/>
              <a:t>25/11/2011</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59D09AC-2F18-45EE-88B8-46F6E6936F00}" type="slidenum">
              <a:rPr lang="en-AU" smtClean="0"/>
              <a:t>‹#›</a:t>
            </a:fld>
            <a:endParaRPr lang="en-AU"/>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59D09AC-2F18-45EE-88B8-46F6E6936F00}" type="slidenum">
              <a:rPr lang="en-AU" smtClean="0"/>
              <a:t>1</a:t>
            </a:fld>
            <a:endParaRPr lang="en-AU"/>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59D09AC-2F18-45EE-88B8-46F6E6936F00}" type="slidenum">
              <a:rPr lang="en-AU" smtClean="0"/>
              <a:t>2</a:t>
            </a:fld>
            <a:endParaRPr lang="en-A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59D09AC-2F18-45EE-88B8-46F6E6936F00}" type="slidenum">
              <a:rPr lang="en-AU" smtClean="0"/>
              <a:t>3</a:t>
            </a:fld>
            <a:endParaRPr lang="en-A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59D09AC-2F18-45EE-88B8-46F6E6936F00}" type="slidenum">
              <a:rPr lang="en-AU" smtClean="0"/>
              <a:t>4</a:t>
            </a:fld>
            <a:endParaRPr lang="en-AU"/>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59D09AC-2F18-45EE-88B8-46F6E6936F00}" type="slidenum">
              <a:rPr lang="en-AU" smtClean="0"/>
              <a:t>5</a:t>
            </a:fld>
            <a:endParaRPr lang="en-A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59D09AC-2F18-45EE-88B8-46F6E6936F00}" type="slidenum">
              <a:rPr lang="en-AU" smtClean="0"/>
              <a:t>6</a:t>
            </a:fld>
            <a:endParaRPr lang="en-A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59D09AC-2F18-45EE-88B8-46F6E6936F00}" type="slidenum">
              <a:rPr lang="en-AU" smtClean="0"/>
              <a:t>7</a:t>
            </a:fld>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59D09AC-2F18-45EE-88B8-46F6E6936F00}" type="slidenum">
              <a:rPr lang="en-AU" smtClean="0"/>
              <a:t>8</a:t>
            </a:fld>
            <a:endParaRPr lang="en-A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AU"/>
          </a:p>
        </p:txBody>
      </p:sp>
      <p:sp>
        <p:nvSpPr>
          <p:cNvPr id="4" name="Slide Number Placeholder 3"/>
          <p:cNvSpPr>
            <a:spLocks noGrp="1"/>
          </p:cNvSpPr>
          <p:nvPr>
            <p:ph type="sldNum" sz="quarter" idx="10"/>
          </p:nvPr>
        </p:nvSpPr>
        <p:spPr/>
        <p:txBody>
          <a:bodyPr/>
          <a:lstStyle/>
          <a:p>
            <a:fld id="{859D09AC-2F18-45EE-88B8-46F6E6936F00}" type="slidenum">
              <a:rPr lang="en-AU" smtClean="0"/>
              <a:t>9</a:t>
            </a:fld>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E6A7836-3B16-45DD-8B21-A8B3972C906A}"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9CA1D8A-CCF6-4280-8664-D5D142202903}"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FE550772-CD8A-499D-8A34-DA553FC21B6F}"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8EFB1351-4E20-4512-B1FC-08E282FC8E61}"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6A88BAAA-BCE2-4FA5-920D-B6E8EB281F2E}"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0313135C-D81F-4451-8F63-0CE63533B1C6}"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337300EA-8F5A-40FD-8E05-7AE57520B2FE}"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EC879DCF-4BDA-44FB-B766-B53950E1F3CF}"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2FC8635-1A07-4DC2-94FF-D92323B21F28}"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07A656B9-70D1-4C31-9DE7-573F028CAE5B}"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BA5B011-3B4F-4C96-8597-A3B26B3B9DBD}"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0066">
                <a:gamma/>
                <a:shade val="46275"/>
                <a:invGamma/>
              </a:srgbClr>
            </a:gs>
            <a:gs pos="100000">
              <a:srgbClr val="000066"/>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BED9FC49-1BAC-44E4-8F41-CA6DD7428E2F}"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charset="0"/>
          <a:cs typeface="Arial" charset="0"/>
        </a:defRPr>
      </a:lvl2pPr>
      <a:lvl3pPr algn="ctr" rtl="0" fontAlgn="base">
        <a:spcBef>
          <a:spcPct val="0"/>
        </a:spcBef>
        <a:spcAft>
          <a:spcPct val="0"/>
        </a:spcAft>
        <a:defRPr sz="4400">
          <a:solidFill>
            <a:schemeClr val="tx2"/>
          </a:solidFill>
          <a:latin typeface="Arial" charset="0"/>
          <a:cs typeface="Arial" charset="0"/>
        </a:defRPr>
      </a:lvl3pPr>
      <a:lvl4pPr algn="ctr" rtl="0" fontAlgn="base">
        <a:spcBef>
          <a:spcPct val="0"/>
        </a:spcBef>
        <a:spcAft>
          <a:spcPct val="0"/>
        </a:spcAft>
        <a:defRPr sz="4400">
          <a:solidFill>
            <a:schemeClr val="tx2"/>
          </a:solidFill>
          <a:latin typeface="Arial" charset="0"/>
          <a:cs typeface="Arial" charset="0"/>
        </a:defRPr>
      </a:lvl4pPr>
      <a:lvl5pPr algn="ctr" rtl="0" fontAlgn="base">
        <a:spcBef>
          <a:spcPct val="0"/>
        </a:spcBef>
        <a:spcAft>
          <a:spcPct val="0"/>
        </a:spcAft>
        <a:defRPr sz="4400">
          <a:solidFill>
            <a:schemeClr val="tx2"/>
          </a:solidFill>
          <a:latin typeface="Arial"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cs typeface="+mn-cs"/>
        </a:defRPr>
      </a:lvl2pPr>
      <a:lvl3pPr marL="1143000" indent="-228600" algn="l" rtl="0" fontAlgn="base">
        <a:spcBef>
          <a:spcPct val="20000"/>
        </a:spcBef>
        <a:spcAft>
          <a:spcPct val="0"/>
        </a:spcAft>
        <a:buChar char="•"/>
        <a:defRPr sz="2400">
          <a:solidFill>
            <a:schemeClr val="tx1"/>
          </a:solidFill>
          <a:latin typeface="+mn-lt"/>
          <a:cs typeface="+mn-cs"/>
        </a:defRPr>
      </a:lvl3pPr>
      <a:lvl4pPr marL="1600200" indent="-228600" algn="l" rtl="0" fontAlgn="base">
        <a:spcBef>
          <a:spcPct val="20000"/>
        </a:spcBef>
        <a:spcAft>
          <a:spcPct val="0"/>
        </a:spcAft>
        <a:buChar char="–"/>
        <a:defRPr sz="2000">
          <a:solidFill>
            <a:schemeClr val="tx1"/>
          </a:solidFill>
          <a:latin typeface="+mn-lt"/>
          <a:cs typeface="+mn-cs"/>
        </a:defRPr>
      </a:lvl4pPr>
      <a:lvl5pPr marL="2057400" indent="-228600" algn="l" rtl="0" fontAlgn="base">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aolsearch.aol.co.uk/image_browse?query=rosa%20luxemburg&amp;first=1&amp;last=12&amp;imgurl=http://www.marxmail.org/rosa.jpg&amp;refurl=http%3A%2F%2Fwww.marxmail.org%2Fsub.htm&amp;width=222&amp;height=285&amp;rank=4&amp;encquery=rosa+luxemburg"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Text Box 4"/>
          <p:cNvSpPr txBox="1">
            <a:spLocks noChangeArrowheads="1"/>
          </p:cNvSpPr>
          <p:nvPr/>
        </p:nvSpPr>
        <p:spPr bwMode="auto">
          <a:xfrm>
            <a:off x="900113" y="333375"/>
            <a:ext cx="7704137" cy="1433513"/>
          </a:xfrm>
          <a:prstGeom prst="rect">
            <a:avLst/>
          </a:prstGeom>
          <a:noFill/>
          <a:ln w="9525">
            <a:noFill/>
            <a:miter lim="800000"/>
            <a:headEnd/>
            <a:tailEnd/>
          </a:ln>
          <a:effectLst/>
        </p:spPr>
        <p:txBody>
          <a:bodyPr>
            <a:spAutoFit/>
          </a:bodyPr>
          <a:lstStyle/>
          <a:p>
            <a:pPr>
              <a:spcBef>
                <a:spcPct val="50000"/>
              </a:spcBef>
            </a:pPr>
            <a:r>
              <a:rPr lang="en-US" sz="8800">
                <a:solidFill>
                  <a:srgbClr val="FFFF66"/>
                </a:solidFill>
                <a:latin typeface="Chiller" pitchFamily="82" charset="0"/>
              </a:rPr>
              <a:t>WEIMAR GERMANY</a:t>
            </a:r>
          </a:p>
        </p:txBody>
      </p:sp>
      <p:sp>
        <p:nvSpPr>
          <p:cNvPr id="2053" name="Text Box 5"/>
          <p:cNvSpPr txBox="1">
            <a:spLocks noChangeArrowheads="1"/>
          </p:cNvSpPr>
          <p:nvPr/>
        </p:nvSpPr>
        <p:spPr bwMode="auto">
          <a:xfrm>
            <a:off x="3203575" y="1484313"/>
            <a:ext cx="3024188" cy="762000"/>
          </a:xfrm>
          <a:prstGeom prst="rect">
            <a:avLst/>
          </a:prstGeom>
          <a:noFill/>
          <a:ln w="9525">
            <a:noFill/>
            <a:miter lim="800000"/>
            <a:headEnd/>
            <a:tailEnd/>
          </a:ln>
          <a:effectLst/>
        </p:spPr>
        <p:txBody>
          <a:bodyPr>
            <a:spAutoFit/>
          </a:bodyPr>
          <a:lstStyle/>
          <a:p>
            <a:pPr algn="ctr">
              <a:spcBef>
                <a:spcPct val="50000"/>
              </a:spcBef>
            </a:pPr>
            <a:r>
              <a:rPr lang="en-US" sz="4400">
                <a:solidFill>
                  <a:srgbClr val="FF66CC"/>
                </a:solidFill>
                <a:latin typeface="Chiller" pitchFamily="82" charset="0"/>
              </a:rPr>
              <a:t>1918-1923</a:t>
            </a:r>
          </a:p>
        </p:txBody>
      </p:sp>
      <p:sp>
        <p:nvSpPr>
          <p:cNvPr id="2054" name="Text Box 6"/>
          <p:cNvSpPr txBox="1">
            <a:spLocks noChangeArrowheads="1"/>
          </p:cNvSpPr>
          <p:nvPr/>
        </p:nvSpPr>
        <p:spPr bwMode="auto">
          <a:xfrm>
            <a:off x="971550" y="3573463"/>
            <a:ext cx="7416800" cy="2101850"/>
          </a:xfrm>
          <a:prstGeom prst="rect">
            <a:avLst/>
          </a:prstGeom>
          <a:noFill/>
          <a:ln w="9525">
            <a:noFill/>
            <a:miter lim="800000"/>
            <a:headEnd/>
            <a:tailEnd/>
          </a:ln>
          <a:effectLst/>
        </p:spPr>
        <p:txBody>
          <a:bodyPr>
            <a:spAutoFit/>
          </a:bodyPr>
          <a:lstStyle/>
          <a:p>
            <a:pPr algn="ctr">
              <a:spcBef>
                <a:spcPct val="50000"/>
              </a:spcBef>
            </a:pPr>
            <a:r>
              <a:rPr lang="en-US" sz="4400">
                <a:solidFill>
                  <a:srgbClr val="FFFF66"/>
                </a:solidFill>
                <a:latin typeface="Kristen ITC" pitchFamily="66" charset="0"/>
              </a:rPr>
              <a:t>Background and early opposition to the Weimar Republic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2052"/>
                                        </p:tgtEl>
                                        <p:attrNameLst>
                                          <p:attrName>style.visibility</p:attrName>
                                        </p:attrNameLst>
                                      </p:cBhvr>
                                      <p:to>
                                        <p:strVal val="visible"/>
                                      </p:to>
                                    </p:set>
                                    <p:anim calcmode="discrete" valueType="clr">
                                      <p:cBhvr override="childStyle">
                                        <p:cTn id="7" dur="80"/>
                                        <p:tgtEl>
                                          <p:spTgt spid="2052"/>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2052"/>
                                        </p:tgtEl>
                                        <p:attrNameLst>
                                          <p:attrName>fillcolor</p:attrName>
                                        </p:attrNameLst>
                                      </p:cBhvr>
                                      <p:tavLst>
                                        <p:tav tm="0">
                                          <p:val>
                                            <p:clrVal>
                                              <a:schemeClr val="accent2"/>
                                            </p:clrVal>
                                          </p:val>
                                        </p:tav>
                                        <p:tav tm="50000">
                                          <p:val>
                                            <p:clrVal>
                                              <a:schemeClr val="hlink"/>
                                            </p:clrVal>
                                          </p:val>
                                        </p:tav>
                                      </p:tavLst>
                                    </p:anim>
                                    <p:set>
                                      <p:cBhvr>
                                        <p:cTn id="9" dur="80"/>
                                        <p:tgtEl>
                                          <p:spTgt spid="2052"/>
                                        </p:tgtEl>
                                        <p:attrNameLst>
                                          <p:attrName>fill.type</p:attrName>
                                        </p:attrNameLst>
                                      </p:cBhvr>
                                      <p:to>
                                        <p:strVal val="solid"/>
                                      </p:to>
                                    </p:set>
                                  </p:childTnLst>
                                </p:cTn>
                              </p:par>
                              <p:par>
                                <p:cTn id="10" presetID="27" presetClass="entr" presetSubtype="0" fill="hold" grpId="0" nodeType="withEffect">
                                  <p:stCondLst>
                                    <p:cond delay="0"/>
                                  </p:stCondLst>
                                  <p:iterate type="lt">
                                    <p:tmPct val="50000"/>
                                  </p:iterate>
                                  <p:childTnLst>
                                    <p:set>
                                      <p:cBhvr>
                                        <p:cTn id="11" dur="1" fill="hold">
                                          <p:stCondLst>
                                            <p:cond delay="0"/>
                                          </p:stCondLst>
                                        </p:cTn>
                                        <p:tgtEl>
                                          <p:spTgt spid="2053"/>
                                        </p:tgtEl>
                                        <p:attrNameLst>
                                          <p:attrName>style.visibility</p:attrName>
                                        </p:attrNameLst>
                                      </p:cBhvr>
                                      <p:to>
                                        <p:strVal val="visible"/>
                                      </p:to>
                                    </p:set>
                                    <p:anim calcmode="discrete" valueType="clr">
                                      <p:cBhvr override="childStyle">
                                        <p:cTn id="12" dur="80"/>
                                        <p:tgtEl>
                                          <p:spTgt spid="2053"/>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2053"/>
                                        </p:tgtEl>
                                        <p:attrNameLst>
                                          <p:attrName>fillcolor</p:attrName>
                                        </p:attrNameLst>
                                      </p:cBhvr>
                                      <p:tavLst>
                                        <p:tav tm="0">
                                          <p:val>
                                            <p:clrVal>
                                              <a:schemeClr val="accent2"/>
                                            </p:clrVal>
                                          </p:val>
                                        </p:tav>
                                        <p:tav tm="50000">
                                          <p:val>
                                            <p:clrVal>
                                              <a:schemeClr val="hlink"/>
                                            </p:clrVal>
                                          </p:val>
                                        </p:tav>
                                      </p:tavLst>
                                    </p:anim>
                                    <p:set>
                                      <p:cBhvr>
                                        <p:cTn id="14" dur="80"/>
                                        <p:tgtEl>
                                          <p:spTgt spid="2053"/>
                                        </p:tgtEl>
                                        <p:attrNameLst>
                                          <p:attrName>fill.type</p:attrName>
                                        </p:attrNameLst>
                                      </p:cBhvr>
                                      <p:to>
                                        <p:strVal val="solid"/>
                                      </p:to>
                                    </p:set>
                                  </p:childTnLst>
                                </p:cTn>
                              </p:par>
                            </p:childTnLst>
                          </p:cTn>
                        </p:par>
                      </p:childTnLst>
                    </p:cTn>
                  </p:par>
                  <p:par>
                    <p:cTn id="15" fill="hold">
                      <p:stCondLst>
                        <p:cond delay="indefinite"/>
                      </p:stCondLst>
                      <p:childTnLst>
                        <p:par>
                          <p:cTn id="16" fill="hold">
                            <p:stCondLst>
                              <p:cond delay="0"/>
                            </p:stCondLst>
                            <p:childTnLst>
                              <p:par>
                                <p:cTn id="17" presetID="27" presetClass="entr" presetSubtype="0" fill="hold" grpId="0" nodeType="clickEffect">
                                  <p:stCondLst>
                                    <p:cond delay="0"/>
                                  </p:stCondLst>
                                  <p:iterate type="lt">
                                    <p:tmPct val="50000"/>
                                  </p:iterate>
                                  <p:childTnLst>
                                    <p:set>
                                      <p:cBhvr>
                                        <p:cTn id="18" dur="1" fill="hold">
                                          <p:stCondLst>
                                            <p:cond delay="0"/>
                                          </p:stCondLst>
                                        </p:cTn>
                                        <p:tgtEl>
                                          <p:spTgt spid="2054"/>
                                        </p:tgtEl>
                                        <p:attrNameLst>
                                          <p:attrName>style.visibility</p:attrName>
                                        </p:attrNameLst>
                                      </p:cBhvr>
                                      <p:to>
                                        <p:strVal val="visible"/>
                                      </p:to>
                                    </p:set>
                                    <p:anim calcmode="discrete" valueType="clr">
                                      <p:cBhvr override="childStyle">
                                        <p:cTn id="19" dur="80"/>
                                        <p:tgtEl>
                                          <p:spTgt spid="2054"/>
                                        </p:tgtEl>
                                        <p:attrNameLst>
                                          <p:attrName>style.color</p:attrName>
                                        </p:attrNameLst>
                                      </p:cBhvr>
                                      <p:tavLst>
                                        <p:tav tm="0">
                                          <p:val>
                                            <p:clrVal>
                                              <a:schemeClr val="accent2"/>
                                            </p:clrVal>
                                          </p:val>
                                        </p:tav>
                                        <p:tav tm="50000">
                                          <p:val>
                                            <p:clrVal>
                                              <a:schemeClr val="hlink"/>
                                            </p:clrVal>
                                          </p:val>
                                        </p:tav>
                                      </p:tavLst>
                                    </p:anim>
                                    <p:anim calcmode="discrete" valueType="clr">
                                      <p:cBhvr>
                                        <p:cTn id="20" dur="80"/>
                                        <p:tgtEl>
                                          <p:spTgt spid="2054"/>
                                        </p:tgtEl>
                                        <p:attrNameLst>
                                          <p:attrName>fillcolor</p:attrName>
                                        </p:attrNameLst>
                                      </p:cBhvr>
                                      <p:tavLst>
                                        <p:tav tm="0">
                                          <p:val>
                                            <p:clrVal>
                                              <a:schemeClr val="accent2"/>
                                            </p:clrVal>
                                          </p:val>
                                        </p:tav>
                                        <p:tav tm="50000">
                                          <p:val>
                                            <p:clrVal>
                                              <a:schemeClr val="hlink"/>
                                            </p:clrVal>
                                          </p:val>
                                        </p:tav>
                                      </p:tavLst>
                                    </p:anim>
                                    <p:set>
                                      <p:cBhvr>
                                        <p:cTn id="21" dur="80"/>
                                        <p:tgtEl>
                                          <p:spTgt spid="2054"/>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2" grpId="0"/>
      <p:bldP spid="2053" grpId="0"/>
      <p:bldP spid="205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4" name="Text Box 12"/>
          <p:cNvSpPr txBox="1">
            <a:spLocks noChangeArrowheads="1"/>
          </p:cNvSpPr>
          <p:nvPr/>
        </p:nvSpPr>
        <p:spPr bwMode="auto">
          <a:xfrm>
            <a:off x="1547813" y="1557338"/>
            <a:ext cx="4464050" cy="366712"/>
          </a:xfrm>
          <a:prstGeom prst="rect">
            <a:avLst/>
          </a:prstGeom>
          <a:noFill/>
          <a:ln w="9525">
            <a:noFill/>
            <a:miter lim="800000"/>
            <a:headEnd/>
            <a:tailEnd/>
          </a:ln>
          <a:effectLst/>
        </p:spPr>
        <p:txBody>
          <a:bodyPr>
            <a:spAutoFit/>
          </a:bodyPr>
          <a:lstStyle/>
          <a:p>
            <a:pPr>
              <a:spcBef>
                <a:spcPct val="50000"/>
              </a:spcBef>
            </a:pPr>
            <a:endParaRPr lang="en-US"/>
          </a:p>
        </p:txBody>
      </p:sp>
      <p:sp>
        <p:nvSpPr>
          <p:cNvPr id="3086" name="AutoShape 14" descr="wilhelm2-0"/>
          <p:cNvSpPr>
            <a:spLocks noChangeAspect="1" noChangeArrowheads="1"/>
          </p:cNvSpPr>
          <p:nvPr/>
        </p:nvSpPr>
        <p:spPr bwMode="auto">
          <a:xfrm>
            <a:off x="155575" y="46038"/>
            <a:ext cx="304800" cy="304800"/>
          </a:xfrm>
          <a:prstGeom prst="rect">
            <a:avLst/>
          </a:prstGeom>
          <a:noFill/>
        </p:spPr>
        <p:txBody>
          <a:bodyPr/>
          <a:lstStyle/>
          <a:p>
            <a:endParaRPr lang="en-AU"/>
          </a:p>
        </p:txBody>
      </p:sp>
      <p:pic>
        <p:nvPicPr>
          <p:cNvPr id="3087" name="Picture 15" descr="Kaiser"/>
          <p:cNvPicPr>
            <a:picLocks noChangeAspect="1" noChangeArrowheads="1"/>
          </p:cNvPicPr>
          <p:nvPr/>
        </p:nvPicPr>
        <p:blipFill>
          <a:blip r:embed="rId3" cstate="print"/>
          <a:srcRect/>
          <a:stretch>
            <a:fillRect/>
          </a:stretch>
        </p:blipFill>
        <p:spPr bwMode="auto">
          <a:xfrm>
            <a:off x="900113" y="1412875"/>
            <a:ext cx="2124075" cy="2733675"/>
          </a:xfrm>
          <a:prstGeom prst="rect">
            <a:avLst/>
          </a:prstGeom>
          <a:noFill/>
        </p:spPr>
      </p:pic>
      <p:sp>
        <p:nvSpPr>
          <p:cNvPr id="3088" name="AutoShape 16"/>
          <p:cNvSpPr>
            <a:spLocks noChangeArrowheads="1"/>
          </p:cNvSpPr>
          <p:nvPr/>
        </p:nvSpPr>
        <p:spPr bwMode="auto">
          <a:xfrm>
            <a:off x="2843213" y="1268413"/>
            <a:ext cx="1944687" cy="1295400"/>
          </a:xfrm>
          <a:prstGeom prst="wedgeEllipseCallout">
            <a:avLst>
              <a:gd name="adj1" fmla="val -56449"/>
              <a:gd name="adj2" fmla="val 57597"/>
            </a:avLst>
          </a:prstGeom>
          <a:solidFill>
            <a:schemeClr val="accent1"/>
          </a:solidFill>
          <a:ln w="9525">
            <a:solidFill>
              <a:schemeClr val="tx1"/>
            </a:solidFill>
            <a:miter lim="800000"/>
            <a:headEnd/>
            <a:tailEnd/>
          </a:ln>
          <a:effectLst/>
        </p:spPr>
        <p:txBody>
          <a:bodyPr/>
          <a:lstStyle/>
          <a:p>
            <a:pPr algn="ctr"/>
            <a:r>
              <a:rPr lang="en-US"/>
              <a:t>“I’m off to Holland!”</a:t>
            </a:r>
          </a:p>
        </p:txBody>
      </p:sp>
      <p:sp>
        <p:nvSpPr>
          <p:cNvPr id="3089" name="Text Box 17"/>
          <p:cNvSpPr txBox="1">
            <a:spLocks noChangeArrowheads="1"/>
          </p:cNvSpPr>
          <p:nvPr/>
        </p:nvSpPr>
        <p:spPr bwMode="auto">
          <a:xfrm>
            <a:off x="1619250" y="260350"/>
            <a:ext cx="6481763" cy="579438"/>
          </a:xfrm>
          <a:prstGeom prst="rect">
            <a:avLst/>
          </a:prstGeom>
          <a:noFill/>
          <a:ln w="9525">
            <a:noFill/>
            <a:miter lim="800000"/>
            <a:headEnd/>
            <a:tailEnd/>
          </a:ln>
          <a:effectLst/>
        </p:spPr>
        <p:txBody>
          <a:bodyPr>
            <a:spAutoFit/>
          </a:bodyPr>
          <a:lstStyle/>
          <a:p>
            <a:pPr algn="ctr">
              <a:spcBef>
                <a:spcPct val="50000"/>
              </a:spcBef>
            </a:pPr>
            <a:r>
              <a:rPr lang="en-US" sz="3200" u="sng">
                <a:solidFill>
                  <a:srgbClr val="FFFF66"/>
                </a:solidFill>
                <a:latin typeface="Kristen ITC" pitchFamily="66" charset="0"/>
              </a:rPr>
              <a:t>The Abdication of the Kaiser</a:t>
            </a:r>
          </a:p>
        </p:txBody>
      </p:sp>
      <p:sp>
        <p:nvSpPr>
          <p:cNvPr id="3090" name="Text Box 18"/>
          <p:cNvSpPr txBox="1">
            <a:spLocks noChangeArrowheads="1"/>
          </p:cNvSpPr>
          <p:nvPr/>
        </p:nvSpPr>
        <p:spPr bwMode="auto">
          <a:xfrm>
            <a:off x="5003800" y="1412875"/>
            <a:ext cx="3527425" cy="3025775"/>
          </a:xfrm>
          <a:prstGeom prst="rect">
            <a:avLst/>
          </a:prstGeom>
          <a:noFill/>
          <a:ln w="9525">
            <a:noFill/>
            <a:miter lim="800000"/>
            <a:headEnd/>
            <a:tailEnd/>
          </a:ln>
          <a:effectLst/>
        </p:spPr>
        <p:txBody>
          <a:bodyPr>
            <a:spAutoFit/>
          </a:bodyPr>
          <a:lstStyle/>
          <a:p>
            <a:pPr algn="ctr">
              <a:spcBef>
                <a:spcPct val="50000"/>
              </a:spcBef>
            </a:pPr>
            <a:r>
              <a:rPr lang="en-US" sz="1600">
                <a:solidFill>
                  <a:schemeClr val="bg1"/>
                </a:solidFill>
              </a:rPr>
              <a:t>In the final year of WW1 the people of Germany were living in terrible conditions. Starvation, hunger and poverty dominated the streets of the country. By November 1918, strikes and riots about such conditions left Germany in chaos. Without support, the Kaiser abdicated (gave up his throne) and went to Holland. Friedrich Ebert took control as he was leader of the Germanys largest political party.</a:t>
            </a:r>
          </a:p>
        </p:txBody>
      </p:sp>
      <p:pic>
        <p:nvPicPr>
          <p:cNvPr id="3091" name="Picture 19"/>
          <p:cNvPicPr>
            <a:picLocks noChangeAspect="1" noChangeArrowheads="1"/>
          </p:cNvPicPr>
          <p:nvPr/>
        </p:nvPicPr>
        <p:blipFill>
          <a:blip r:embed="rId4" cstate="print"/>
          <a:srcRect l="11111" r="8333" b="23125"/>
          <a:stretch>
            <a:fillRect/>
          </a:stretch>
        </p:blipFill>
        <p:spPr bwMode="auto">
          <a:xfrm>
            <a:off x="5724525" y="4471988"/>
            <a:ext cx="2303463" cy="1952625"/>
          </a:xfrm>
          <a:prstGeom prst="rect">
            <a:avLst/>
          </a:prstGeom>
          <a:noFill/>
          <a:ln w="9525" algn="in">
            <a:noFill/>
            <a:miter lim="800000"/>
            <a:headEnd/>
            <a:tailEnd/>
          </a:ln>
          <a:effectLst/>
        </p:spPr>
      </p:pic>
      <p:sp>
        <p:nvSpPr>
          <p:cNvPr id="3092" name="Text Box 20"/>
          <p:cNvSpPr txBox="1">
            <a:spLocks noChangeArrowheads="1"/>
          </p:cNvSpPr>
          <p:nvPr/>
        </p:nvSpPr>
        <p:spPr bwMode="auto">
          <a:xfrm>
            <a:off x="5724525" y="6380163"/>
            <a:ext cx="2301875" cy="274637"/>
          </a:xfrm>
          <a:prstGeom prst="rect">
            <a:avLst/>
          </a:prstGeom>
          <a:solidFill>
            <a:schemeClr val="tx2"/>
          </a:solidFill>
          <a:ln w="9525">
            <a:noFill/>
            <a:miter lim="800000"/>
            <a:headEnd/>
            <a:tailEnd/>
          </a:ln>
          <a:effectLst/>
        </p:spPr>
        <p:txBody>
          <a:bodyPr>
            <a:spAutoFit/>
          </a:bodyPr>
          <a:lstStyle/>
          <a:p>
            <a:pPr algn="ctr">
              <a:spcBef>
                <a:spcPct val="50000"/>
              </a:spcBef>
            </a:pPr>
            <a:r>
              <a:rPr lang="en-US" sz="1200">
                <a:solidFill>
                  <a:schemeClr val="bg1"/>
                </a:solidFill>
              </a:rPr>
              <a:t>Friedrich Ebert</a:t>
            </a:r>
          </a:p>
        </p:txBody>
      </p:sp>
      <p:sp>
        <p:nvSpPr>
          <p:cNvPr id="3093" name="AutoShape 21"/>
          <p:cNvSpPr>
            <a:spLocks noChangeArrowheads="1"/>
          </p:cNvSpPr>
          <p:nvPr/>
        </p:nvSpPr>
        <p:spPr bwMode="auto">
          <a:xfrm>
            <a:off x="3635375" y="4221163"/>
            <a:ext cx="1944688" cy="1295400"/>
          </a:xfrm>
          <a:prstGeom prst="wedgeEllipseCallout">
            <a:avLst>
              <a:gd name="adj1" fmla="val 62407"/>
              <a:gd name="adj2" fmla="val 59190"/>
            </a:avLst>
          </a:prstGeom>
          <a:solidFill>
            <a:schemeClr val="accent1"/>
          </a:solidFill>
          <a:ln w="9525">
            <a:solidFill>
              <a:schemeClr val="tx1"/>
            </a:solidFill>
            <a:miter lim="800000"/>
            <a:headEnd/>
            <a:tailEnd/>
          </a:ln>
          <a:effectLst/>
        </p:spPr>
        <p:txBody>
          <a:bodyPr/>
          <a:lstStyle/>
          <a:p>
            <a:pPr algn="ctr"/>
            <a:r>
              <a:rPr lang="en-US"/>
              <a:t>“I’ll take over then!”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3089"/>
                                        </p:tgtEl>
                                        <p:attrNameLst>
                                          <p:attrName>style.visibility</p:attrName>
                                        </p:attrNameLst>
                                      </p:cBhvr>
                                      <p:to>
                                        <p:strVal val="visible"/>
                                      </p:to>
                                    </p:set>
                                    <p:anim calcmode="discrete" valueType="clr">
                                      <p:cBhvr override="childStyle">
                                        <p:cTn id="7" dur="80"/>
                                        <p:tgtEl>
                                          <p:spTgt spid="3089"/>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3089"/>
                                        </p:tgtEl>
                                        <p:attrNameLst>
                                          <p:attrName>fillcolor</p:attrName>
                                        </p:attrNameLst>
                                      </p:cBhvr>
                                      <p:tavLst>
                                        <p:tav tm="0">
                                          <p:val>
                                            <p:clrVal>
                                              <a:schemeClr val="accent2"/>
                                            </p:clrVal>
                                          </p:val>
                                        </p:tav>
                                        <p:tav tm="50000">
                                          <p:val>
                                            <p:clrVal>
                                              <a:schemeClr val="hlink"/>
                                            </p:clrVal>
                                          </p:val>
                                        </p:tav>
                                      </p:tavLst>
                                    </p:anim>
                                    <p:set>
                                      <p:cBhvr>
                                        <p:cTn id="9" dur="80"/>
                                        <p:tgtEl>
                                          <p:spTgt spid="3089"/>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30" presetClass="entr" presetSubtype="0" fill="hold" grpId="0" nodeType="clickEffect" nodePh="1">
                                  <p:stCondLst>
                                    <p:cond delay="0"/>
                                  </p:stCondLst>
                                  <p:endCondLst>
                                    <p:cond evt="begin" delay="0">
                                      <p:tn val="12"/>
                                    </p:cond>
                                  </p:endCondLst>
                                  <p:childTnLst>
                                    <p:set>
                                      <p:cBhvr>
                                        <p:cTn id="13" dur="1" fill="hold">
                                          <p:stCondLst>
                                            <p:cond delay="0"/>
                                          </p:stCondLst>
                                        </p:cTn>
                                        <p:tgtEl>
                                          <p:spTgt spid="3084"/>
                                        </p:tgtEl>
                                        <p:attrNameLst>
                                          <p:attrName>style.visibility</p:attrName>
                                        </p:attrNameLst>
                                      </p:cBhvr>
                                      <p:to>
                                        <p:strVal val="visible"/>
                                      </p:to>
                                    </p:set>
                                    <p:animEffect transition="in" filter="fade">
                                      <p:cBhvr>
                                        <p:cTn id="14" dur="800" decel="100000"/>
                                        <p:tgtEl>
                                          <p:spTgt spid="3084"/>
                                        </p:tgtEl>
                                      </p:cBhvr>
                                    </p:animEffect>
                                    <p:anim calcmode="lin" valueType="num">
                                      <p:cBhvr>
                                        <p:cTn id="15" dur="800" decel="100000" fill="hold"/>
                                        <p:tgtEl>
                                          <p:spTgt spid="3084"/>
                                        </p:tgtEl>
                                        <p:attrNameLst>
                                          <p:attrName>style.rotation</p:attrName>
                                        </p:attrNameLst>
                                      </p:cBhvr>
                                      <p:tavLst>
                                        <p:tav tm="0">
                                          <p:val>
                                            <p:fltVal val="-90"/>
                                          </p:val>
                                        </p:tav>
                                        <p:tav tm="100000">
                                          <p:val>
                                            <p:fltVal val="0"/>
                                          </p:val>
                                        </p:tav>
                                      </p:tavLst>
                                    </p:anim>
                                    <p:anim calcmode="lin" valueType="num">
                                      <p:cBhvr>
                                        <p:cTn id="16" dur="800" decel="100000" fill="hold"/>
                                        <p:tgtEl>
                                          <p:spTgt spid="3084"/>
                                        </p:tgtEl>
                                        <p:attrNameLst>
                                          <p:attrName>ppt_x</p:attrName>
                                        </p:attrNameLst>
                                      </p:cBhvr>
                                      <p:tavLst>
                                        <p:tav tm="0">
                                          <p:val>
                                            <p:strVal val="#ppt_x+0.4"/>
                                          </p:val>
                                        </p:tav>
                                        <p:tav tm="100000">
                                          <p:val>
                                            <p:strVal val="#ppt_x-0.05"/>
                                          </p:val>
                                        </p:tav>
                                      </p:tavLst>
                                    </p:anim>
                                    <p:anim calcmode="lin" valueType="num">
                                      <p:cBhvr>
                                        <p:cTn id="17" dur="800" decel="100000" fill="hold"/>
                                        <p:tgtEl>
                                          <p:spTgt spid="3084"/>
                                        </p:tgtEl>
                                        <p:attrNameLst>
                                          <p:attrName>ppt_y</p:attrName>
                                        </p:attrNameLst>
                                      </p:cBhvr>
                                      <p:tavLst>
                                        <p:tav tm="0">
                                          <p:val>
                                            <p:strVal val="#ppt_y-0.4"/>
                                          </p:val>
                                        </p:tav>
                                        <p:tav tm="100000">
                                          <p:val>
                                            <p:strVal val="#ppt_y+0.1"/>
                                          </p:val>
                                        </p:tav>
                                      </p:tavLst>
                                    </p:anim>
                                    <p:anim calcmode="lin" valueType="num">
                                      <p:cBhvr>
                                        <p:cTn id="18" dur="200" accel="100000" fill="hold">
                                          <p:stCondLst>
                                            <p:cond delay="800"/>
                                          </p:stCondLst>
                                        </p:cTn>
                                        <p:tgtEl>
                                          <p:spTgt spid="3084"/>
                                        </p:tgtEl>
                                        <p:attrNameLst>
                                          <p:attrName>ppt_x</p:attrName>
                                        </p:attrNameLst>
                                      </p:cBhvr>
                                      <p:tavLst>
                                        <p:tav tm="0">
                                          <p:val>
                                            <p:strVal val="#ppt_x-0.05"/>
                                          </p:val>
                                        </p:tav>
                                        <p:tav tm="100000">
                                          <p:val>
                                            <p:strVal val="#ppt_x"/>
                                          </p:val>
                                        </p:tav>
                                      </p:tavLst>
                                    </p:anim>
                                    <p:anim calcmode="lin" valueType="num">
                                      <p:cBhvr>
                                        <p:cTn id="19" dur="200" accel="100000" fill="hold">
                                          <p:stCondLst>
                                            <p:cond delay="800"/>
                                          </p:stCondLst>
                                        </p:cTn>
                                        <p:tgtEl>
                                          <p:spTgt spid="3084"/>
                                        </p:tgtEl>
                                        <p:attrNameLst>
                                          <p:attrName>ppt_y</p:attrName>
                                        </p:attrNameLst>
                                      </p:cBhvr>
                                      <p:tavLst>
                                        <p:tav tm="0">
                                          <p:val>
                                            <p:strVal val="#ppt_y+0.1"/>
                                          </p:val>
                                        </p:tav>
                                        <p:tav tm="100000">
                                          <p:val>
                                            <p:strVal val="#ppt_y"/>
                                          </p:val>
                                        </p:tav>
                                      </p:tavLst>
                                    </p:anim>
                                  </p:childTnLst>
                                </p:cTn>
                              </p:par>
                              <p:par>
                                <p:cTn id="20" presetID="30" presetClass="entr" presetSubtype="0" fill="hold" nodeType="withEffect">
                                  <p:stCondLst>
                                    <p:cond delay="0"/>
                                  </p:stCondLst>
                                  <p:childTnLst>
                                    <p:set>
                                      <p:cBhvr>
                                        <p:cTn id="21" dur="1" fill="hold">
                                          <p:stCondLst>
                                            <p:cond delay="0"/>
                                          </p:stCondLst>
                                        </p:cTn>
                                        <p:tgtEl>
                                          <p:spTgt spid="3087"/>
                                        </p:tgtEl>
                                        <p:attrNameLst>
                                          <p:attrName>style.visibility</p:attrName>
                                        </p:attrNameLst>
                                      </p:cBhvr>
                                      <p:to>
                                        <p:strVal val="visible"/>
                                      </p:to>
                                    </p:set>
                                    <p:animEffect transition="in" filter="fade">
                                      <p:cBhvr>
                                        <p:cTn id="22" dur="800" decel="100000"/>
                                        <p:tgtEl>
                                          <p:spTgt spid="3087"/>
                                        </p:tgtEl>
                                      </p:cBhvr>
                                    </p:animEffect>
                                    <p:anim calcmode="lin" valueType="num">
                                      <p:cBhvr>
                                        <p:cTn id="23" dur="800" decel="100000" fill="hold"/>
                                        <p:tgtEl>
                                          <p:spTgt spid="3087"/>
                                        </p:tgtEl>
                                        <p:attrNameLst>
                                          <p:attrName>style.rotation</p:attrName>
                                        </p:attrNameLst>
                                      </p:cBhvr>
                                      <p:tavLst>
                                        <p:tav tm="0">
                                          <p:val>
                                            <p:fltVal val="-90"/>
                                          </p:val>
                                        </p:tav>
                                        <p:tav tm="100000">
                                          <p:val>
                                            <p:fltVal val="0"/>
                                          </p:val>
                                        </p:tav>
                                      </p:tavLst>
                                    </p:anim>
                                    <p:anim calcmode="lin" valueType="num">
                                      <p:cBhvr>
                                        <p:cTn id="24" dur="800" decel="100000" fill="hold"/>
                                        <p:tgtEl>
                                          <p:spTgt spid="3087"/>
                                        </p:tgtEl>
                                        <p:attrNameLst>
                                          <p:attrName>ppt_x</p:attrName>
                                        </p:attrNameLst>
                                      </p:cBhvr>
                                      <p:tavLst>
                                        <p:tav tm="0">
                                          <p:val>
                                            <p:strVal val="#ppt_x+0.4"/>
                                          </p:val>
                                        </p:tav>
                                        <p:tav tm="100000">
                                          <p:val>
                                            <p:strVal val="#ppt_x-0.05"/>
                                          </p:val>
                                        </p:tav>
                                      </p:tavLst>
                                    </p:anim>
                                    <p:anim calcmode="lin" valueType="num">
                                      <p:cBhvr>
                                        <p:cTn id="25" dur="800" decel="100000" fill="hold"/>
                                        <p:tgtEl>
                                          <p:spTgt spid="3087"/>
                                        </p:tgtEl>
                                        <p:attrNameLst>
                                          <p:attrName>ppt_y</p:attrName>
                                        </p:attrNameLst>
                                      </p:cBhvr>
                                      <p:tavLst>
                                        <p:tav tm="0">
                                          <p:val>
                                            <p:strVal val="#ppt_y-0.4"/>
                                          </p:val>
                                        </p:tav>
                                        <p:tav tm="100000">
                                          <p:val>
                                            <p:strVal val="#ppt_y+0.1"/>
                                          </p:val>
                                        </p:tav>
                                      </p:tavLst>
                                    </p:anim>
                                    <p:anim calcmode="lin" valueType="num">
                                      <p:cBhvr>
                                        <p:cTn id="26" dur="200" accel="100000" fill="hold">
                                          <p:stCondLst>
                                            <p:cond delay="800"/>
                                          </p:stCondLst>
                                        </p:cTn>
                                        <p:tgtEl>
                                          <p:spTgt spid="3087"/>
                                        </p:tgtEl>
                                        <p:attrNameLst>
                                          <p:attrName>ppt_x</p:attrName>
                                        </p:attrNameLst>
                                      </p:cBhvr>
                                      <p:tavLst>
                                        <p:tav tm="0">
                                          <p:val>
                                            <p:strVal val="#ppt_x-0.05"/>
                                          </p:val>
                                        </p:tav>
                                        <p:tav tm="100000">
                                          <p:val>
                                            <p:strVal val="#ppt_x"/>
                                          </p:val>
                                        </p:tav>
                                      </p:tavLst>
                                    </p:anim>
                                    <p:anim calcmode="lin" valueType="num">
                                      <p:cBhvr>
                                        <p:cTn id="27" dur="200" accel="100000" fill="hold">
                                          <p:stCondLst>
                                            <p:cond delay="800"/>
                                          </p:stCondLst>
                                        </p:cTn>
                                        <p:tgtEl>
                                          <p:spTgt spid="3087"/>
                                        </p:tgtEl>
                                        <p:attrNameLst>
                                          <p:attrName>ppt_y</p:attrName>
                                        </p:attrNameLst>
                                      </p:cBhvr>
                                      <p:tavLst>
                                        <p:tav tm="0">
                                          <p:val>
                                            <p:strVal val="#ppt_y+0.1"/>
                                          </p:val>
                                        </p:tav>
                                        <p:tav tm="100000">
                                          <p:val>
                                            <p:strVal val="#ppt_y"/>
                                          </p:val>
                                        </p:tav>
                                      </p:tavLst>
                                    </p:anim>
                                  </p:childTnLst>
                                </p:cTn>
                              </p:par>
                              <p:par>
                                <p:cTn id="28" presetID="30" presetClass="entr" presetSubtype="0" fill="hold" grpId="0" nodeType="withEffect">
                                  <p:stCondLst>
                                    <p:cond delay="0"/>
                                  </p:stCondLst>
                                  <p:childTnLst>
                                    <p:set>
                                      <p:cBhvr>
                                        <p:cTn id="29" dur="1" fill="hold">
                                          <p:stCondLst>
                                            <p:cond delay="0"/>
                                          </p:stCondLst>
                                        </p:cTn>
                                        <p:tgtEl>
                                          <p:spTgt spid="3088"/>
                                        </p:tgtEl>
                                        <p:attrNameLst>
                                          <p:attrName>style.visibility</p:attrName>
                                        </p:attrNameLst>
                                      </p:cBhvr>
                                      <p:to>
                                        <p:strVal val="visible"/>
                                      </p:to>
                                    </p:set>
                                    <p:animEffect transition="in" filter="fade">
                                      <p:cBhvr>
                                        <p:cTn id="30" dur="800" decel="100000"/>
                                        <p:tgtEl>
                                          <p:spTgt spid="3088"/>
                                        </p:tgtEl>
                                      </p:cBhvr>
                                    </p:animEffect>
                                    <p:anim calcmode="lin" valueType="num">
                                      <p:cBhvr>
                                        <p:cTn id="31" dur="800" decel="100000" fill="hold"/>
                                        <p:tgtEl>
                                          <p:spTgt spid="3088"/>
                                        </p:tgtEl>
                                        <p:attrNameLst>
                                          <p:attrName>style.rotation</p:attrName>
                                        </p:attrNameLst>
                                      </p:cBhvr>
                                      <p:tavLst>
                                        <p:tav tm="0">
                                          <p:val>
                                            <p:fltVal val="-90"/>
                                          </p:val>
                                        </p:tav>
                                        <p:tav tm="100000">
                                          <p:val>
                                            <p:fltVal val="0"/>
                                          </p:val>
                                        </p:tav>
                                      </p:tavLst>
                                    </p:anim>
                                    <p:anim calcmode="lin" valueType="num">
                                      <p:cBhvr>
                                        <p:cTn id="32" dur="800" decel="100000" fill="hold"/>
                                        <p:tgtEl>
                                          <p:spTgt spid="3088"/>
                                        </p:tgtEl>
                                        <p:attrNameLst>
                                          <p:attrName>ppt_x</p:attrName>
                                        </p:attrNameLst>
                                      </p:cBhvr>
                                      <p:tavLst>
                                        <p:tav tm="0">
                                          <p:val>
                                            <p:strVal val="#ppt_x+0.4"/>
                                          </p:val>
                                        </p:tav>
                                        <p:tav tm="100000">
                                          <p:val>
                                            <p:strVal val="#ppt_x-0.05"/>
                                          </p:val>
                                        </p:tav>
                                      </p:tavLst>
                                    </p:anim>
                                    <p:anim calcmode="lin" valueType="num">
                                      <p:cBhvr>
                                        <p:cTn id="33" dur="800" decel="100000" fill="hold"/>
                                        <p:tgtEl>
                                          <p:spTgt spid="3088"/>
                                        </p:tgtEl>
                                        <p:attrNameLst>
                                          <p:attrName>ppt_y</p:attrName>
                                        </p:attrNameLst>
                                      </p:cBhvr>
                                      <p:tavLst>
                                        <p:tav tm="0">
                                          <p:val>
                                            <p:strVal val="#ppt_y-0.4"/>
                                          </p:val>
                                        </p:tav>
                                        <p:tav tm="100000">
                                          <p:val>
                                            <p:strVal val="#ppt_y+0.1"/>
                                          </p:val>
                                        </p:tav>
                                      </p:tavLst>
                                    </p:anim>
                                    <p:anim calcmode="lin" valueType="num">
                                      <p:cBhvr>
                                        <p:cTn id="34" dur="200" accel="100000" fill="hold">
                                          <p:stCondLst>
                                            <p:cond delay="800"/>
                                          </p:stCondLst>
                                        </p:cTn>
                                        <p:tgtEl>
                                          <p:spTgt spid="3088"/>
                                        </p:tgtEl>
                                        <p:attrNameLst>
                                          <p:attrName>ppt_x</p:attrName>
                                        </p:attrNameLst>
                                      </p:cBhvr>
                                      <p:tavLst>
                                        <p:tav tm="0">
                                          <p:val>
                                            <p:strVal val="#ppt_x-0.05"/>
                                          </p:val>
                                        </p:tav>
                                        <p:tav tm="100000">
                                          <p:val>
                                            <p:strVal val="#ppt_x"/>
                                          </p:val>
                                        </p:tav>
                                      </p:tavLst>
                                    </p:anim>
                                    <p:anim calcmode="lin" valueType="num">
                                      <p:cBhvr>
                                        <p:cTn id="35" dur="200" accel="100000" fill="hold">
                                          <p:stCondLst>
                                            <p:cond delay="800"/>
                                          </p:stCondLst>
                                        </p:cTn>
                                        <p:tgtEl>
                                          <p:spTgt spid="3088"/>
                                        </p:tgtEl>
                                        <p:attrNameLst>
                                          <p:attrName>ppt_y</p:attrName>
                                        </p:attrNameLst>
                                      </p:cBhvr>
                                      <p:tavLst>
                                        <p:tav tm="0">
                                          <p:val>
                                            <p:strVal val="#ppt_y+0.1"/>
                                          </p:val>
                                        </p:tav>
                                        <p:tav tm="100000">
                                          <p:val>
                                            <p:strVal val="#ppt_y"/>
                                          </p:val>
                                        </p:tav>
                                      </p:tavLst>
                                    </p:anim>
                                  </p:childTnLst>
                                </p:cTn>
                              </p:par>
                              <p:par>
                                <p:cTn id="36" presetID="30" presetClass="entr" presetSubtype="0" fill="hold" grpId="0" nodeType="withEffect">
                                  <p:stCondLst>
                                    <p:cond delay="0"/>
                                  </p:stCondLst>
                                  <p:childTnLst>
                                    <p:set>
                                      <p:cBhvr>
                                        <p:cTn id="37" dur="1" fill="hold">
                                          <p:stCondLst>
                                            <p:cond delay="0"/>
                                          </p:stCondLst>
                                        </p:cTn>
                                        <p:tgtEl>
                                          <p:spTgt spid="3090"/>
                                        </p:tgtEl>
                                        <p:attrNameLst>
                                          <p:attrName>style.visibility</p:attrName>
                                        </p:attrNameLst>
                                      </p:cBhvr>
                                      <p:to>
                                        <p:strVal val="visible"/>
                                      </p:to>
                                    </p:set>
                                    <p:animEffect transition="in" filter="fade">
                                      <p:cBhvr>
                                        <p:cTn id="38" dur="800" decel="100000"/>
                                        <p:tgtEl>
                                          <p:spTgt spid="3090"/>
                                        </p:tgtEl>
                                      </p:cBhvr>
                                    </p:animEffect>
                                    <p:anim calcmode="lin" valueType="num">
                                      <p:cBhvr>
                                        <p:cTn id="39" dur="800" decel="100000" fill="hold"/>
                                        <p:tgtEl>
                                          <p:spTgt spid="3090"/>
                                        </p:tgtEl>
                                        <p:attrNameLst>
                                          <p:attrName>style.rotation</p:attrName>
                                        </p:attrNameLst>
                                      </p:cBhvr>
                                      <p:tavLst>
                                        <p:tav tm="0">
                                          <p:val>
                                            <p:fltVal val="-90"/>
                                          </p:val>
                                        </p:tav>
                                        <p:tav tm="100000">
                                          <p:val>
                                            <p:fltVal val="0"/>
                                          </p:val>
                                        </p:tav>
                                      </p:tavLst>
                                    </p:anim>
                                    <p:anim calcmode="lin" valueType="num">
                                      <p:cBhvr>
                                        <p:cTn id="40" dur="800" decel="100000" fill="hold"/>
                                        <p:tgtEl>
                                          <p:spTgt spid="3090"/>
                                        </p:tgtEl>
                                        <p:attrNameLst>
                                          <p:attrName>ppt_x</p:attrName>
                                        </p:attrNameLst>
                                      </p:cBhvr>
                                      <p:tavLst>
                                        <p:tav tm="0">
                                          <p:val>
                                            <p:strVal val="#ppt_x+0.4"/>
                                          </p:val>
                                        </p:tav>
                                        <p:tav tm="100000">
                                          <p:val>
                                            <p:strVal val="#ppt_x-0.05"/>
                                          </p:val>
                                        </p:tav>
                                      </p:tavLst>
                                    </p:anim>
                                    <p:anim calcmode="lin" valueType="num">
                                      <p:cBhvr>
                                        <p:cTn id="41" dur="800" decel="100000" fill="hold"/>
                                        <p:tgtEl>
                                          <p:spTgt spid="3090"/>
                                        </p:tgtEl>
                                        <p:attrNameLst>
                                          <p:attrName>ppt_y</p:attrName>
                                        </p:attrNameLst>
                                      </p:cBhvr>
                                      <p:tavLst>
                                        <p:tav tm="0">
                                          <p:val>
                                            <p:strVal val="#ppt_y-0.4"/>
                                          </p:val>
                                        </p:tav>
                                        <p:tav tm="100000">
                                          <p:val>
                                            <p:strVal val="#ppt_y+0.1"/>
                                          </p:val>
                                        </p:tav>
                                      </p:tavLst>
                                    </p:anim>
                                    <p:anim calcmode="lin" valueType="num">
                                      <p:cBhvr>
                                        <p:cTn id="42" dur="200" accel="100000" fill="hold">
                                          <p:stCondLst>
                                            <p:cond delay="800"/>
                                          </p:stCondLst>
                                        </p:cTn>
                                        <p:tgtEl>
                                          <p:spTgt spid="3090"/>
                                        </p:tgtEl>
                                        <p:attrNameLst>
                                          <p:attrName>ppt_x</p:attrName>
                                        </p:attrNameLst>
                                      </p:cBhvr>
                                      <p:tavLst>
                                        <p:tav tm="0">
                                          <p:val>
                                            <p:strVal val="#ppt_x-0.05"/>
                                          </p:val>
                                        </p:tav>
                                        <p:tav tm="100000">
                                          <p:val>
                                            <p:strVal val="#ppt_x"/>
                                          </p:val>
                                        </p:tav>
                                      </p:tavLst>
                                    </p:anim>
                                    <p:anim calcmode="lin" valueType="num">
                                      <p:cBhvr>
                                        <p:cTn id="43" dur="200" accel="100000" fill="hold">
                                          <p:stCondLst>
                                            <p:cond delay="800"/>
                                          </p:stCondLst>
                                        </p:cTn>
                                        <p:tgtEl>
                                          <p:spTgt spid="3090"/>
                                        </p:tgtEl>
                                        <p:attrNameLst>
                                          <p:attrName>ppt_y</p:attrName>
                                        </p:attrNameLst>
                                      </p:cBhvr>
                                      <p:tavLst>
                                        <p:tav tm="0">
                                          <p:val>
                                            <p:strVal val="#ppt_y+0.1"/>
                                          </p:val>
                                        </p:tav>
                                        <p:tav tm="100000">
                                          <p:val>
                                            <p:strVal val="#ppt_y"/>
                                          </p:val>
                                        </p:tav>
                                      </p:tavLst>
                                    </p:anim>
                                  </p:childTnLst>
                                </p:cTn>
                              </p:par>
                              <p:par>
                                <p:cTn id="44" presetID="30" presetClass="entr" presetSubtype="0" fill="hold" nodeType="withEffect">
                                  <p:stCondLst>
                                    <p:cond delay="0"/>
                                  </p:stCondLst>
                                  <p:childTnLst>
                                    <p:set>
                                      <p:cBhvr>
                                        <p:cTn id="45" dur="1" fill="hold">
                                          <p:stCondLst>
                                            <p:cond delay="0"/>
                                          </p:stCondLst>
                                        </p:cTn>
                                        <p:tgtEl>
                                          <p:spTgt spid="3091"/>
                                        </p:tgtEl>
                                        <p:attrNameLst>
                                          <p:attrName>style.visibility</p:attrName>
                                        </p:attrNameLst>
                                      </p:cBhvr>
                                      <p:to>
                                        <p:strVal val="visible"/>
                                      </p:to>
                                    </p:set>
                                    <p:animEffect transition="in" filter="fade">
                                      <p:cBhvr>
                                        <p:cTn id="46" dur="800" decel="100000"/>
                                        <p:tgtEl>
                                          <p:spTgt spid="3091"/>
                                        </p:tgtEl>
                                      </p:cBhvr>
                                    </p:animEffect>
                                    <p:anim calcmode="lin" valueType="num">
                                      <p:cBhvr>
                                        <p:cTn id="47" dur="800" decel="100000" fill="hold"/>
                                        <p:tgtEl>
                                          <p:spTgt spid="3091"/>
                                        </p:tgtEl>
                                        <p:attrNameLst>
                                          <p:attrName>style.rotation</p:attrName>
                                        </p:attrNameLst>
                                      </p:cBhvr>
                                      <p:tavLst>
                                        <p:tav tm="0">
                                          <p:val>
                                            <p:fltVal val="-90"/>
                                          </p:val>
                                        </p:tav>
                                        <p:tav tm="100000">
                                          <p:val>
                                            <p:fltVal val="0"/>
                                          </p:val>
                                        </p:tav>
                                      </p:tavLst>
                                    </p:anim>
                                    <p:anim calcmode="lin" valueType="num">
                                      <p:cBhvr>
                                        <p:cTn id="48" dur="800" decel="100000" fill="hold"/>
                                        <p:tgtEl>
                                          <p:spTgt spid="3091"/>
                                        </p:tgtEl>
                                        <p:attrNameLst>
                                          <p:attrName>ppt_x</p:attrName>
                                        </p:attrNameLst>
                                      </p:cBhvr>
                                      <p:tavLst>
                                        <p:tav tm="0">
                                          <p:val>
                                            <p:strVal val="#ppt_x+0.4"/>
                                          </p:val>
                                        </p:tav>
                                        <p:tav tm="100000">
                                          <p:val>
                                            <p:strVal val="#ppt_x-0.05"/>
                                          </p:val>
                                        </p:tav>
                                      </p:tavLst>
                                    </p:anim>
                                    <p:anim calcmode="lin" valueType="num">
                                      <p:cBhvr>
                                        <p:cTn id="49" dur="800" decel="100000" fill="hold"/>
                                        <p:tgtEl>
                                          <p:spTgt spid="3091"/>
                                        </p:tgtEl>
                                        <p:attrNameLst>
                                          <p:attrName>ppt_y</p:attrName>
                                        </p:attrNameLst>
                                      </p:cBhvr>
                                      <p:tavLst>
                                        <p:tav tm="0">
                                          <p:val>
                                            <p:strVal val="#ppt_y-0.4"/>
                                          </p:val>
                                        </p:tav>
                                        <p:tav tm="100000">
                                          <p:val>
                                            <p:strVal val="#ppt_y+0.1"/>
                                          </p:val>
                                        </p:tav>
                                      </p:tavLst>
                                    </p:anim>
                                    <p:anim calcmode="lin" valueType="num">
                                      <p:cBhvr>
                                        <p:cTn id="50" dur="200" accel="100000" fill="hold">
                                          <p:stCondLst>
                                            <p:cond delay="800"/>
                                          </p:stCondLst>
                                        </p:cTn>
                                        <p:tgtEl>
                                          <p:spTgt spid="3091"/>
                                        </p:tgtEl>
                                        <p:attrNameLst>
                                          <p:attrName>ppt_x</p:attrName>
                                        </p:attrNameLst>
                                      </p:cBhvr>
                                      <p:tavLst>
                                        <p:tav tm="0">
                                          <p:val>
                                            <p:strVal val="#ppt_x-0.05"/>
                                          </p:val>
                                        </p:tav>
                                        <p:tav tm="100000">
                                          <p:val>
                                            <p:strVal val="#ppt_x"/>
                                          </p:val>
                                        </p:tav>
                                      </p:tavLst>
                                    </p:anim>
                                    <p:anim calcmode="lin" valueType="num">
                                      <p:cBhvr>
                                        <p:cTn id="51" dur="200" accel="100000" fill="hold">
                                          <p:stCondLst>
                                            <p:cond delay="800"/>
                                          </p:stCondLst>
                                        </p:cTn>
                                        <p:tgtEl>
                                          <p:spTgt spid="3091"/>
                                        </p:tgtEl>
                                        <p:attrNameLst>
                                          <p:attrName>ppt_y</p:attrName>
                                        </p:attrNameLst>
                                      </p:cBhvr>
                                      <p:tavLst>
                                        <p:tav tm="0">
                                          <p:val>
                                            <p:strVal val="#ppt_y+0.1"/>
                                          </p:val>
                                        </p:tav>
                                        <p:tav tm="100000">
                                          <p:val>
                                            <p:strVal val="#ppt_y"/>
                                          </p:val>
                                        </p:tav>
                                      </p:tavLst>
                                    </p:anim>
                                  </p:childTnLst>
                                </p:cTn>
                              </p:par>
                              <p:par>
                                <p:cTn id="52" presetID="30" presetClass="entr" presetSubtype="0" fill="hold" grpId="0" nodeType="withEffect">
                                  <p:stCondLst>
                                    <p:cond delay="0"/>
                                  </p:stCondLst>
                                  <p:childTnLst>
                                    <p:set>
                                      <p:cBhvr>
                                        <p:cTn id="53" dur="1" fill="hold">
                                          <p:stCondLst>
                                            <p:cond delay="0"/>
                                          </p:stCondLst>
                                        </p:cTn>
                                        <p:tgtEl>
                                          <p:spTgt spid="3092"/>
                                        </p:tgtEl>
                                        <p:attrNameLst>
                                          <p:attrName>style.visibility</p:attrName>
                                        </p:attrNameLst>
                                      </p:cBhvr>
                                      <p:to>
                                        <p:strVal val="visible"/>
                                      </p:to>
                                    </p:set>
                                    <p:animEffect transition="in" filter="fade">
                                      <p:cBhvr>
                                        <p:cTn id="54" dur="800" decel="100000"/>
                                        <p:tgtEl>
                                          <p:spTgt spid="3092"/>
                                        </p:tgtEl>
                                      </p:cBhvr>
                                    </p:animEffect>
                                    <p:anim calcmode="lin" valueType="num">
                                      <p:cBhvr>
                                        <p:cTn id="55" dur="800" decel="100000" fill="hold"/>
                                        <p:tgtEl>
                                          <p:spTgt spid="3092"/>
                                        </p:tgtEl>
                                        <p:attrNameLst>
                                          <p:attrName>style.rotation</p:attrName>
                                        </p:attrNameLst>
                                      </p:cBhvr>
                                      <p:tavLst>
                                        <p:tav tm="0">
                                          <p:val>
                                            <p:fltVal val="-90"/>
                                          </p:val>
                                        </p:tav>
                                        <p:tav tm="100000">
                                          <p:val>
                                            <p:fltVal val="0"/>
                                          </p:val>
                                        </p:tav>
                                      </p:tavLst>
                                    </p:anim>
                                    <p:anim calcmode="lin" valueType="num">
                                      <p:cBhvr>
                                        <p:cTn id="56" dur="800" decel="100000" fill="hold"/>
                                        <p:tgtEl>
                                          <p:spTgt spid="3092"/>
                                        </p:tgtEl>
                                        <p:attrNameLst>
                                          <p:attrName>ppt_x</p:attrName>
                                        </p:attrNameLst>
                                      </p:cBhvr>
                                      <p:tavLst>
                                        <p:tav tm="0">
                                          <p:val>
                                            <p:strVal val="#ppt_x+0.4"/>
                                          </p:val>
                                        </p:tav>
                                        <p:tav tm="100000">
                                          <p:val>
                                            <p:strVal val="#ppt_x-0.05"/>
                                          </p:val>
                                        </p:tav>
                                      </p:tavLst>
                                    </p:anim>
                                    <p:anim calcmode="lin" valueType="num">
                                      <p:cBhvr>
                                        <p:cTn id="57" dur="800" decel="100000" fill="hold"/>
                                        <p:tgtEl>
                                          <p:spTgt spid="3092"/>
                                        </p:tgtEl>
                                        <p:attrNameLst>
                                          <p:attrName>ppt_y</p:attrName>
                                        </p:attrNameLst>
                                      </p:cBhvr>
                                      <p:tavLst>
                                        <p:tav tm="0">
                                          <p:val>
                                            <p:strVal val="#ppt_y-0.4"/>
                                          </p:val>
                                        </p:tav>
                                        <p:tav tm="100000">
                                          <p:val>
                                            <p:strVal val="#ppt_y+0.1"/>
                                          </p:val>
                                        </p:tav>
                                      </p:tavLst>
                                    </p:anim>
                                    <p:anim calcmode="lin" valueType="num">
                                      <p:cBhvr>
                                        <p:cTn id="58" dur="200" accel="100000" fill="hold">
                                          <p:stCondLst>
                                            <p:cond delay="800"/>
                                          </p:stCondLst>
                                        </p:cTn>
                                        <p:tgtEl>
                                          <p:spTgt spid="3092"/>
                                        </p:tgtEl>
                                        <p:attrNameLst>
                                          <p:attrName>ppt_x</p:attrName>
                                        </p:attrNameLst>
                                      </p:cBhvr>
                                      <p:tavLst>
                                        <p:tav tm="0">
                                          <p:val>
                                            <p:strVal val="#ppt_x-0.05"/>
                                          </p:val>
                                        </p:tav>
                                        <p:tav tm="100000">
                                          <p:val>
                                            <p:strVal val="#ppt_x"/>
                                          </p:val>
                                        </p:tav>
                                      </p:tavLst>
                                    </p:anim>
                                    <p:anim calcmode="lin" valueType="num">
                                      <p:cBhvr>
                                        <p:cTn id="59" dur="200" accel="100000" fill="hold">
                                          <p:stCondLst>
                                            <p:cond delay="800"/>
                                          </p:stCondLst>
                                        </p:cTn>
                                        <p:tgtEl>
                                          <p:spTgt spid="3092"/>
                                        </p:tgtEl>
                                        <p:attrNameLst>
                                          <p:attrName>ppt_y</p:attrName>
                                        </p:attrNameLst>
                                      </p:cBhvr>
                                      <p:tavLst>
                                        <p:tav tm="0">
                                          <p:val>
                                            <p:strVal val="#ppt_y+0.1"/>
                                          </p:val>
                                        </p:tav>
                                        <p:tav tm="100000">
                                          <p:val>
                                            <p:strVal val="#ppt_y"/>
                                          </p:val>
                                        </p:tav>
                                      </p:tavLst>
                                    </p:anim>
                                  </p:childTnLst>
                                </p:cTn>
                              </p:par>
                              <p:par>
                                <p:cTn id="60" presetID="30" presetClass="entr" presetSubtype="0" fill="hold" grpId="0" nodeType="withEffect">
                                  <p:stCondLst>
                                    <p:cond delay="0"/>
                                  </p:stCondLst>
                                  <p:childTnLst>
                                    <p:set>
                                      <p:cBhvr>
                                        <p:cTn id="61" dur="1" fill="hold">
                                          <p:stCondLst>
                                            <p:cond delay="0"/>
                                          </p:stCondLst>
                                        </p:cTn>
                                        <p:tgtEl>
                                          <p:spTgt spid="3093"/>
                                        </p:tgtEl>
                                        <p:attrNameLst>
                                          <p:attrName>style.visibility</p:attrName>
                                        </p:attrNameLst>
                                      </p:cBhvr>
                                      <p:to>
                                        <p:strVal val="visible"/>
                                      </p:to>
                                    </p:set>
                                    <p:animEffect transition="in" filter="fade">
                                      <p:cBhvr>
                                        <p:cTn id="62" dur="800" decel="100000"/>
                                        <p:tgtEl>
                                          <p:spTgt spid="3093"/>
                                        </p:tgtEl>
                                      </p:cBhvr>
                                    </p:animEffect>
                                    <p:anim calcmode="lin" valueType="num">
                                      <p:cBhvr>
                                        <p:cTn id="63" dur="800" decel="100000" fill="hold"/>
                                        <p:tgtEl>
                                          <p:spTgt spid="3093"/>
                                        </p:tgtEl>
                                        <p:attrNameLst>
                                          <p:attrName>style.rotation</p:attrName>
                                        </p:attrNameLst>
                                      </p:cBhvr>
                                      <p:tavLst>
                                        <p:tav tm="0">
                                          <p:val>
                                            <p:fltVal val="-90"/>
                                          </p:val>
                                        </p:tav>
                                        <p:tav tm="100000">
                                          <p:val>
                                            <p:fltVal val="0"/>
                                          </p:val>
                                        </p:tav>
                                      </p:tavLst>
                                    </p:anim>
                                    <p:anim calcmode="lin" valueType="num">
                                      <p:cBhvr>
                                        <p:cTn id="64" dur="800" decel="100000" fill="hold"/>
                                        <p:tgtEl>
                                          <p:spTgt spid="3093"/>
                                        </p:tgtEl>
                                        <p:attrNameLst>
                                          <p:attrName>ppt_x</p:attrName>
                                        </p:attrNameLst>
                                      </p:cBhvr>
                                      <p:tavLst>
                                        <p:tav tm="0">
                                          <p:val>
                                            <p:strVal val="#ppt_x+0.4"/>
                                          </p:val>
                                        </p:tav>
                                        <p:tav tm="100000">
                                          <p:val>
                                            <p:strVal val="#ppt_x-0.05"/>
                                          </p:val>
                                        </p:tav>
                                      </p:tavLst>
                                    </p:anim>
                                    <p:anim calcmode="lin" valueType="num">
                                      <p:cBhvr>
                                        <p:cTn id="65" dur="800" decel="100000" fill="hold"/>
                                        <p:tgtEl>
                                          <p:spTgt spid="3093"/>
                                        </p:tgtEl>
                                        <p:attrNameLst>
                                          <p:attrName>ppt_y</p:attrName>
                                        </p:attrNameLst>
                                      </p:cBhvr>
                                      <p:tavLst>
                                        <p:tav tm="0">
                                          <p:val>
                                            <p:strVal val="#ppt_y-0.4"/>
                                          </p:val>
                                        </p:tav>
                                        <p:tav tm="100000">
                                          <p:val>
                                            <p:strVal val="#ppt_y+0.1"/>
                                          </p:val>
                                        </p:tav>
                                      </p:tavLst>
                                    </p:anim>
                                    <p:anim calcmode="lin" valueType="num">
                                      <p:cBhvr>
                                        <p:cTn id="66" dur="200" accel="100000" fill="hold">
                                          <p:stCondLst>
                                            <p:cond delay="800"/>
                                          </p:stCondLst>
                                        </p:cTn>
                                        <p:tgtEl>
                                          <p:spTgt spid="3093"/>
                                        </p:tgtEl>
                                        <p:attrNameLst>
                                          <p:attrName>ppt_x</p:attrName>
                                        </p:attrNameLst>
                                      </p:cBhvr>
                                      <p:tavLst>
                                        <p:tav tm="0">
                                          <p:val>
                                            <p:strVal val="#ppt_x-0.05"/>
                                          </p:val>
                                        </p:tav>
                                        <p:tav tm="100000">
                                          <p:val>
                                            <p:strVal val="#ppt_x"/>
                                          </p:val>
                                        </p:tav>
                                      </p:tavLst>
                                    </p:anim>
                                    <p:anim calcmode="lin" valueType="num">
                                      <p:cBhvr>
                                        <p:cTn id="67" dur="200" accel="100000" fill="hold">
                                          <p:stCondLst>
                                            <p:cond delay="800"/>
                                          </p:stCondLst>
                                        </p:cTn>
                                        <p:tgtEl>
                                          <p:spTgt spid="3093"/>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4" grpId="0"/>
      <p:bldP spid="3088" grpId="0" animBg="1"/>
      <p:bldP spid="3089" grpId="0"/>
      <p:bldP spid="3090" grpId="0"/>
      <p:bldP spid="3092" grpId="0" animBg="1"/>
      <p:bldP spid="309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Text Box 4"/>
          <p:cNvSpPr txBox="1">
            <a:spLocks noChangeArrowheads="1"/>
          </p:cNvSpPr>
          <p:nvPr/>
        </p:nvSpPr>
        <p:spPr bwMode="auto">
          <a:xfrm>
            <a:off x="827088" y="4076700"/>
            <a:ext cx="7489825" cy="2286000"/>
          </a:xfrm>
          <a:prstGeom prst="rect">
            <a:avLst/>
          </a:prstGeom>
          <a:noFill/>
          <a:ln w="9525">
            <a:noFill/>
            <a:miter lim="800000"/>
            <a:headEnd/>
            <a:tailEnd/>
          </a:ln>
          <a:effectLst/>
        </p:spPr>
        <p:txBody>
          <a:bodyPr>
            <a:spAutoFit/>
          </a:bodyPr>
          <a:lstStyle/>
          <a:p>
            <a:pPr algn="ctr">
              <a:spcBef>
                <a:spcPct val="50000"/>
              </a:spcBef>
            </a:pPr>
            <a:r>
              <a:rPr lang="en-US" sz="7200">
                <a:solidFill>
                  <a:schemeClr val="bg1"/>
                </a:solidFill>
                <a:latin typeface="Chiller" pitchFamily="82" charset="0"/>
              </a:rPr>
              <a:t>11</a:t>
            </a:r>
            <a:r>
              <a:rPr lang="en-US" sz="7200" baseline="30000">
                <a:solidFill>
                  <a:schemeClr val="bg1"/>
                </a:solidFill>
                <a:latin typeface="Chiller" pitchFamily="82" charset="0"/>
              </a:rPr>
              <a:t>th</a:t>
            </a:r>
            <a:r>
              <a:rPr lang="en-US" sz="7200">
                <a:solidFill>
                  <a:schemeClr val="bg1"/>
                </a:solidFill>
                <a:latin typeface="Chiller" pitchFamily="82" charset="0"/>
              </a:rPr>
              <a:t> November 1918 Germany Surrenders</a:t>
            </a:r>
          </a:p>
        </p:txBody>
      </p:sp>
      <p:sp>
        <p:nvSpPr>
          <p:cNvPr id="4102" name="AutoShape 6"/>
          <p:cNvSpPr>
            <a:spLocks noChangeArrowheads="1"/>
          </p:cNvSpPr>
          <p:nvPr/>
        </p:nvSpPr>
        <p:spPr bwMode="auto">
          <a:xfrm>
            <a:off x="5651500" y="692150"/>
            <a:ext cx="3492500" cy="2808288"/>
          </a:xfrm>
          <a:prstGeom prst="wedgeEllipseCallout">
            <a:avLst>
              <a:gd name="adj1" fmla="val -46866"/>
              <a:gd name="adj2" fmla="val 59778"/>
            </a:avLst>
          </a:prstGeom>
          <a:solidFill>
            <a:srgbClr val="FFFF00"/>
          </a:solidFill>
          <a:ln w="9525">
            <a:solidFill>
              <a:schemeClr val="tx1"/>
            </a:solidFill>
            <a:miter lim="800000"/>
            <a:headEnd/>
            <a:tailEnd/>
          </a:ln>
          <a:effectLst/>
        </p:spPr>
        <p:txBody>
          <a:bodyPr/>
          <a:lstStyle/>
          <a:p>
            <a:pPr algn="ctr"/>
            <a:r>
              <a:rPr lang="en-US"/>
              <a:t>Many Germans were surprised and ANGRY about losing the war because they had been told that they were winning.</a:t>
            </a:r>
          </a:p>
        </p:txBody>
      </p:sp>
      <p:sp>
        <p:nvSpPr>
          <p:cNvPr id="4104" name="AutoShape 8"/>
          <p:cNvSpPr>
            <a:spLocks noChangeArrowheads="1"/>
          </p:cNvSpPr>
          <p:nvPr/>
        </p:nvSpPr>
        <p:spPr bwMode="auto">
          <a:xfrm>
            <a:off x="0" y="620713"/>
            <a:ext cx="3240088" cy="2954337"/>
          </a:xfrm>
          <a:prstGeom prst="wedgeEllipseCallout">
            <a:avLst>
              <a:gd name="adj1" fmla="val 42065"/>
              <a:gd name="adj2" fmla="val 60315"/>
            </a:avLst>
          </a:prstGeom>
          <a:solidFill>
            <a:srgbClr val="800080"/>
          </a:solidFill>
          <a:ln w="9525">
            <a:solidFill>
              <a:schemeClr val="tx1"/>
            </a:solidFill>
            <a:miter lim="800000"/>
            <a:headEnd/>
            <a:tailEnd/>
          </a:ln>
          <a:effectLst/>
        </p:spPr>
        <p:txBody>
          <a:bodyPr/>
          <a:lstStyle/>
          <a:p>
            <a:pPr algn="ctr"/>
            <a:r>
              <a:rPr lang="en-US">
                <a:solidFill>
                  <a:schemeClr val="bg1"/>
                </a:solidFill>
              </a:rPr>
              <a:t>Hitler called the people responsible for the surrender as ‘NOVEMBER CRIMINALS’ </a:t>
            </a:r>
          </a:p>
          <a:p>
            <a:pPr algn="ctr"/>
            <a:r>
              <a:rPr lang="en-US">
                <a:solidFill>
                  <a:schemeClr val="bg1"/>
                </a:solidFill>
              </a:rPr>
              <a:t>and wanted REVENGE.</a:t>
            </a:r>
          </a:p>
        </p:txBody>
      </p:sp>
      <p:sp>
        <p:nvSpPr>
          <p:cNvPr id="4105" name="AutoShape 9"/>
          <p:cNvSpPr>
            <a:spLocks noChangeArrowheads="1"/>
          </p:cNvSpPr>
          <p:nvPr/>
        </p:nvSpPr>
        <p:spPr bwMode="auto">
          <a:xfrm>
            <a:off x="2771775" y="549275"/>
            <a:ext cx="3529013" cy="3168650"/>
          </a:xfrm>
          <a:prstGeom prst="wedgeEllipseCallout">
            <a:avLst>
              <a:gd name="adj1" fmla="val 968"/>
              <a:gd name="adj2" fmla="val 67634"/>
            </a:avLst>
          </a:prstGeom>
          <a:solidFill>
            <a:srgbClr val="FF0000"/>
          </a:solidFill>
          <a:ln w="9525">
            <a:solidFill>
              <a:schemeClr val="tx1"/>
            </a:solidFill>
            <a:miter lim="800000"/>
            <a:headEnd/>
            <a:tailEnd/>
          </a:ln>
          <a:effectLst/>
        </p:spPr>
        <p:txBody>
          <a:bodyPr/>
          <a:lstStyle/>
          <a:p>
            <a:pPr algn="ctr"/>
            <a:r>
              <a:rPr lang="en-US">
                <a:solidFill>
                  <a:schemeClr val="bg1"/>
                </a:solidFill>
              </a:rPr>
              <a:t>Hitler was absolutely furious and upset at the surrender. He compared the feelings of surrender to the grief of when his Mother died when he was young.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4100"/>
                                        </p:tgtEl>
                                        <p:attrNameLst>
                                          <p:attrName>style.visibility</p:attrName>
                                        </p:attrNameLst>
                                      </p:cBhvr>
                                      <p:to>
                                        <p:strVal val="visible"/>
                                      </p:to>
                                    </p:set>
                                    <p:anim calcmode="discrete" valueType="clr">
                                      <p:cBhvr override="childStyle">
                                        <p:cTn id="7" dur="80"/>
                                        <p:tgtEl>
                                          <p:spTgt spid="4100"/>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4100"/>
                                        </p:tgtEl>
                                        <p:attrNameLst>
                                          <p:attrName>fillcolor</p:attrName>
                                        </p:attrNameLst>
                                      </p:cBhvr>
                                      <p:tavLst>
                                        <p:tav tm="0">
                                          <p:val>
                                            <p:clrVal>
                                              <a:schemeClr val="accent2"/>
                                            </p:clrVal>
                                          </p:val>
                                        </p:tav>
                                        <p:tav tm="50000">
                                          <p:val>
                                            <p:clrVal>
                                              <a:schemeClr val="hlink"/>
                                            </p:clrVal>
                                          </p:val>
                                        </p:tav>
                                      </p:tavLst>
                                    </p:anim>
                                    <p:set>
                                      <p:cBhvr>
                                        <p:cTn id="9" dur="80"/>
                                        <p:tgtEl>
                                          <p:spTgt spid="4100"/>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49" presetClass="entr" presetSubtype="0" decel="100000" fill="hold" grpId="0" nodeType="clickEffect">
                                  <p:stCondLst>
                                    <p:cond delay="0"/>
                                  </p:stCondLst>
                                  <p:childTnLst>
                                    <p:set>
                                      <p:cBhvr>
                                        <p:cTn id="13" dur="1" fill="hold">
                                          <p:stCondLst>
                                            <p:cond delay="0"/>
                                          </p:stCondLst>
                                        </p:cTn>
                                        <p:tgtEl>
                                          <p:spTgt spid="4104"/>
                                        </p:tgtEl>
                                        <p:attrNameLst>
                                          <p:attrName>style.visibility</p:attrName>
                                        </p:attrNameLst>
                                      </p:cBhvr>
                                      <p:to>
                                        <p:strVal val="visible"/>
                                      </p:to>
                                    </p:set>
                                    <p:anim calcmode="lin" valueType="num">
                                      <p:cBhvr>
                                        <p:cTn id="14" dur="500" fill="hold"/>
                                        <p:tgtEl>
                                          <p:spTgt spid="4104"/>
                                        </p:tgtEl>
                                        <p:attrNameLst>
                                          <p:attrName>ppt_w</p:attrName>
                                        </p:attrNameLst>
                                      </p:cBhvr>
                                      <p:tavLst>
                                        <p:tav tm="0">
                                          <p:val>
                                            <p:fltVal val="0"/>
                                          </p:val>
                                        </p:tav>
                                        <p:tav tm="100000">
                                          <p:val>
                                            <p:strVal val="#ppt_w"/>
                                          </p:val>
                                        </p:tav>
                                      </p:tavLst>
                                    </p:anim>
                                    <p:anim calcmode="lin" valueType="num">
                                      <p:cBhvr>
                                        <p:cTn id="15" dur="500" fill="hold"/>
                                        <p:tgtEl>
                                          <p:spTgt spid="4104"/>
                                        </p:tgtEl>
                                        <p:attrNameLst>
                                          <p:attrName>ppt_h</p:attrName>
                                        </p:attrNameLst>
                                      </p:cBhvr>
                                      <p:tavLst>
                                        <p:tav tm="0">
                                          <p:val>
                                            <p:fltVal val="0"/>
                                          </p:val>
                                        </p:tav>
                                        <p:tav tm="100000">
                                          <p:val>
                                            <p:strVal val="#ppt_h"/>
                                          </p:val>
                                        </p:tav>
                                      </p:tavLst>
                                    </p:anim>
                                    <p:anim calcmode="lin" valueType="num">
                                      <p:cBhvr>
                                        <p:cTn id="16" dur="500" fill="hold"/>
                                        <p:tgtEl>
                                          <p:spTgt spid="4104"/>
                                        </p:tgtEl>
                                        <p:attrNameLst>
                                          <p:attrName>style.rotation</p:attrName>
                                        </p:attrNameLst>
                                      </p:cBhvr>
                                      <p:tavLst>
                                        <p:tav tm="0">
                                          <p:val>
                                            <p:fltVal val="360"/>
                                          </p:val>
                                        </p:tav>
                                        <p:tav tm="100000">
                                          <p:val>
                                            <p:fltVal val="0"/>
                                          </p:val>
                                        </p:tav>
                                      </p:tavLst>
                                    </p:anim>
                                    <p:animEffect transition="in" filter="fade">
                                      <p:cBhvr>
                                        <p:cTn id="17" dur="500"/>
                                        <p:tgtEl>
                                          <p:spTgt spid="4104"/>
                                        </p:tgtEl>
                                      </p:cBhvr>
                                    </p:animEffect>
                                  </p:childTnLst>
                                </p:cTn>
                              </p:par>
                            </p:childTnLst>
                          </p:cTn>
                        </p:par>
                      </p:childTnLst>
                    </p:cTn>
                  </p:par>
                  <p:par>
                    <p:cTn id="18" fill="hold">
                      <p:stCondLst>
                        <p:cond delay="indefinite"/>
                      </p:stCondLst>
                      <p:childTnLst>
                        <p:par>
                          <p:cTn id="19" fill="hold">
                            <p:stCondLst>
                              <p:cond delay="0"/>
                            </p:stCondLst>
                            <p:childTnLst>
                              <p:par>
                                <p:cTn id="20" presetID="49" presetClass="entr" presetSubtype="0" decel="100000" fill="hold" grpId="0" nodeType="clickEffect">
                                  <p:stCondLst>
                                    <p:cond delay="0"/>
                                  </p:stCondLst>
                                  <p:childTnLst>
                                    <p:set>
                                      <p:cBhvr>
                                        <p:cTn id="21" dur="1" fill="hold">
                                          <p:stCondLst>
                                            <p:cond delay="0"/>
                                          </p:stCondLst>
                                        </p:cTn>
                                        <p:tgtEl>
                                          <p:spTgt spid="4105"/>
                                        </p:tgtEl>
                                        <p:attrNameLst>
                                          <p:attrName>style.visibility</p:attrName>
                                        </p:attrNameLst>
                                      </p:cBhvr>
                                      <p:to>
                                        <p:strVal val="visible"/>
                                      </p:to>
                                    </p:set>
                                    <p:anim calcmode="lin" valueType="num">
                                      <p:cBhvr>
                                        <p:cTn id="22" dur="500" fill="hold"/>
                                        <p:tgtEl>
                                          <p:spTgt spid="4105"/>
                                        </p:tgtEl>
                                        <p:attrNameLst>
                                          <p:attrName>ppt_w</p:attrName>
                                        </p:attrNameLst>
                                      </p:cBhvr>
                                      <p:tavLst>
                                        <p:tav tm="0">
                                          <p:val>
                                            <p:fltVal val="0"/>
                                          </p:val>
                                        </p:tav>
                                        <p:tav tm="100000">
                                          <p:val>
                                            <p:strVal val="#ppt_w"/>
                                          </p:val>
                                        </p:tav>
                                      </p:tavLst>
                                    </p:anim>
                                    <p:anim calcmode="lin" valueType="num">
                                      <p:cBhvr>
                                        <p:cTn id="23" dur="500" fill="hold"/>
                                        <p:tgtEl>
                                          <p:spTgt spid="4105"/>
                                        </p:tgtEl>
                                        <p:attrNameLst>
                                          <p:attrName>ppt_h</p:attrName>
                                        </p:attrNameLst>
                                      </p:cBhvr>
                                      <p:tavLst>
                                        <p:tav tm="0">
                                          <p:val>
                                            <p:fltVal val="0"/>
                                          </p:val>
                                        </p:tav>
                                        <p:tav tm="100000">
                                          <p:val>
                                            <p:strVal val="#ppt_h"/>
                                          </p:val>
                                        </p:tav>
                                      </p:tavLst>
                                    </p:anim>
                                    <p:anim calcmode="lin" valueType="num">
                                      <p:cBhvr>
                                        <p:cTn id="24" dur="500" fill="hold"/>
                                        <p:tgtEl>
                                          <p:spTgt spid="4105"/>
                                        </p:tgtEl>
                                        <p:attrNameLst>
                                          <p:attrName>style.rotation</p:attrName>
                                        </p:attrNameLst>
                                      </p:cBhvr>
                                      <p:tavLst>
                                        <p:tav tm="0">
                                          <p:val>
                                            <p:fltVal val="360"/>
                                          </p:val>
                                        </p:tav>
                                        <p:tav tm="100000">
                                          <p:val>
                                            <p:fltVal val="0"/>
                                          </p:val>
                                        </p:tav>
                                      </p:tavLst>
                                    </p:anim>
                                    <p:animEffect transition="in" filter="fade">
                                      <p:cBhvr>
                                        <p:cTn id="25" dur="500"/>
                                        <p:tgtEl>
                                          <p:spTgt spid="4105"/>
                                        </p:tgtEl>
                                      </p:cBhvr>
                                    </p:animEffect>
                                  </p:childTnLst>
                                </p:cTn>
                              </p:par>
                            </p:childTnLst>
                          </p:cTn>
                        </p:par>
                      </p:childTnLst>
                    </p:cTn>
                  </p:par>
                  <p:par>
                    <p:cTn id="26" fill="hold">
                      <p:stCondLst>
                        <p:cond delay="indefinite"/>
                      </p:stCondLst>
                      <p:childTnLst>
                        <p:par>
                          <p:cTn id="27" fill="hold">
                            <p:stCondLst>
                              <p:cond delay="0"/>
                            </p:stCondLst>
                            <p:childTnLst>
                              <p:par>
                                <p:cTn id="28" presetID="49" presetClass="entr" presetSubtype="0" decel="100000" fill="hold" grpId="0" nodeType="clickEffect">
                                  <p:stCondLst>
                                    <p:cond delay="0"/>
                                  </p:stCondLst>
                                  <p:childTnLst>
                                    <p:set>
                                      <p:cBhvr>
                                        <p:cTn id="29" dur="1" fill="hold">
                                          <p:stCondLst>
                                            <p:cond delay="0"/>
                                          </p:stCondLst>
                                        </p:cTn>
                                        <p:tgtEl>
                                          <p:spTgt spid="4102"/>
                                        </p:tgtEl>
                                        <p:attrNameLst>
                                          <p:attrName>style.visibility</p:attrName>
                                        </p:attrNameLst>
                                      </p:cBhvr>
                                      <p:to>
                                        <p:strVal val="visible"/>
                                      </p:to>
                                    </p:set>
                                    <p:anim calcmode="lin" valueType="num">
                                      <p:cBhvr>
                                        <p:cTn id="30" dur="500" fill="hold"/>
                                        <p:tgtEl>
                                          <p:spTgt spid="4102"/>
                                        </p:tgtEl>
                                        <p:attrNameLst>
                                          <p:attrName>ppt_w</p:attrName>
                                        </p:attrNameLst>
                                      </p:cBhvr>
                                      <p:tavLst>
                                        <p:tav tm="0">
                                          <p:val>
                                            <p:fltVal val="0"/>
                                          </p:val>
                                        </p:tav>
                                        <p:tav tm="100000">
                                          <p:val>
                                            <p:strVal val="#ppt_w"/>
                                          </p:val>
                                        </p:tav>
                                      </p:tavLst>
                                    </p:anim>
                                    <p:anim calcmode="lin" valueType="num">
                                      <p:cBhvr>
                                        <p:cTn id="31" dur="500" fill="hold"/>
                                        <p:tgtEl>
                                          <p:spTgt spid="4102"/>
                                        </p:tgtEl>
                                        <p:attrNameLst>
                                          <p:attrName>ppt_h</p:attrName>
                                        </p:attrNameLst>
                                      </p:cBhvr>
                                      <p:tavLst>
                                        <p:tav tm="0">
                                          <p:val>
                                            <p:fltVal val="0"/>
                                          </p:val>
                                        </p:tav>
                                        <p:tav tm="100000">
                                          <p:val>
                                            <p:strVal val="#ppt_h"/>
                                          </p:val>
                                        </p:tav>
                                      </p:tavLst>
                                    </p:anim>
                                    <p:anim calcmode="lin" valueType="num">
                                      <p:cBhvr>
                                        <p:cTn id="32" dur="500" fill="hold"/>
                                        <p:tgtEl>
                                          <p:spTgt spid="4102"/>
                                        </p:tgtEl>
                                        <p:attrNameLst>
                                          <p:attrName>style.rotation</p:attrName>
                                        </p:attrNameLst>
                                      </p:cBhvr>
                                      <p:tavLst>
                                        <p:tav tm="0">
                                          <p:val>
                                            <p:fltVal val="360"/>
                                          </p:val>
                                        </p:tav>
                                        <p:tav tm="100000">
                                          <p:val>
                                            <p:fltVal val="0"/>
                                          </p:val>
                                        </p:tav>
                                      </p:tavLst>
                                    </p:anim>
                                    <p:animEffect transition="in" filter="fade">
                                      <p:cBhvr>
                                        <p:cTn id="33" dur="500"/>
                                        <p:tgtEl>
                                          <p:spTgt spid="41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0" grpId="0"/>
      <p:bldP spid="4102" grpId="0" animBg="1"/>
      <p:bldP spid="4104" grpId="0" animBg="1"/>
      <p:bldP spid="410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lstStyle/>
          <a:p>
            <a:r>
              <a:rPr lang="en-US" u="sng">
                <a:solidFill>
                  <a:srgbClr val="FF66CC"/>
                </a:solidFill>
                <a:latin typeface="Kristen ITC" pitchFamily="66" charset="0"/>
              </a:rPr>
              <a:t>The Spartacist Revolt</a:t>
            </a:r>
          </a:p>
        </p:txBody>
      </p:sp>
      <p:pic>
        <p:nvPicPr>
          <p:cNvPr id="7172" name="Picture 4" descr="rosa">
            <a:hlinkClick r:id="rId3"/>
          </p:cNvPr>
          <p:cNvPicPr>
            <a:picLocks noChangeAspect="1" noChangeArrowheads="1"/>
          </p:cNvPicPr>
          <p:nvPr>
            <p:ph sz="half" idx="1"/>
          </p:nvPr>
        </p:nvPicPr>
        <p:blipFill>
          <a:blip r:embed="rId4" cstate="print"/>
          <a:srcRect/>
          <a:stretch>
            <a:fillRect/>
          </a:stretch>
        </p:blipFill>
        <p:spPr>
          <a:xfrm>
            <a:off x="7019925" y="1700213"/>
            <a:ext cx="1965325" cy="2520950"/>
          </a:xfrm>
          <a:noFill/>
          <a:ln/>
        </p:spPr>
      </p:pic>
      <p:sp>
        <p:nvSpPr>
          <p:cNvPr id="7174" name="Text Box 6"/>
          <p:cNvSpPr txBox="1">
            <a:spLocks noChangeArrowheads="1"/>
          </p:cNvSpPr>
          <p:nvPr/>
        </p:nvSpPr>
        <p:spPr bwMode="auto">
          <a:xfrm>
            <a:off x="2411413" y="1557338"/>
            <a:ext cx="4464050" cy="3270250"/>
          </a:xfrm>
          <a:prstGeom prst="rect">
            <a:avLst/>
          </a:prstGeom>
          <a:noFill/>
          <a:ln w="9525">
            <a:noFill/>
            <a:miter lim="800000"/>
            <a:headEnd/>
            <a:tailEnd/>
          </a:ln>
          <a:effectLst/>
        </p:spPr>
        <p:txBody>
          <a:bodyPr>
            <a:spAutoFit/>
          </a:bodyPr>
          <a:lstStyle/>
          <a:p>
            <a:pPr algn="ctr">
              <a:spcBef>
                <a:spcPct val="50000"/>
              </a:spcBef>
            </a:pPr>
            <a:r>
              <a:rPr lang="en-US" sz="1600">
                <a:solidFill>
                  <a:srgbClr val="FFFF66"/>
                </a:solidFill>
                <a:latin typeface="Comic Sans MS" pitchFamily="66" charset="0"/>
              </a:rPr>
              <a:t>Not everybody welcomed the new Government. Many, like the Spartacists led by Rosa Luxemburg, wanted massive changes in Germany by making it a Communist country. The Spartacists demonstrated against Ebert but he called out the troops and the demo ended. However, in January 1919 they tried to seize power in Berlin. Ebert needed the Free Korps (a gang of soldiers from WW1 led by Wolfgang Kapp) to destroy the Spartacists. A few days after their attempts, the Spartacists were destroyed and their leaders murdered.</a:t>
            </a:r>
          </a:p>
        </p:txBody>
      </p:sp>
      <p:sp>
        <p:nvSpPr>
          <p:cNvPr id="7175" name="Text Box 7"/>
          <p:cNvSpPr txBox="1">
            <a:spLocks noChangeArrowheads="1"/>
          </p:cNvSpPr>
          <p:nvPr/>
        </p:nvSpPr>
        <p:spPr bwMode="auto">
          <a:xfrm>
            <a:off x="611188" y="5013325"/>
            <a:ext cx="8137525" cy="1555750"/>
          </a:xfrm>
          <a:prstGeom prst="rect">
            <a:avLst/>
          </a:prstGeom>
          <a:noFill/>
          <a:ln w="9525">
            <a:noFill/>
            <a:miter lim="800000"/>
            <a:headEnd/>
            <a:tailEnd/>
          </a:ln>
          <a:effectLst/>
        </p:spPr>
        <p:txBody>
          <a:bodyPr>
            <a:spAutoFit/>
          </a:bodyPr>
          <a:lstStyle/>
          <a:p>
            <a:pPr algn="ctr">
              <a:spcBef>
                <a:spcPct val="50000"/>
              </a:spcBef>
            </a:pPr>
            <a:r>
              <a:rPr lang="en-US" sz="4800">
                <a:solidFill>
                  <a:schemeClr val="accent1"/>
                </a:solidFill>
                <a:latin typeface="Ravie" pitchFamily="82" charset="0"/>
              </a:rPr>
              <a:t>Opposition from the </a:t>
            </a:r>
            <a:r>
              <a:rPr lang="en-US" sz="4800">
                <a:solidFill>
                  <a:srgbClr val="FF0000"/>
                </a:solidFill>
                <a:latin typeface="Ravie" pitchFamily="82" charset="0"/>
              </a:rPr>
              <a:t>LEFT</a:t>
            </a:r>
          </a:p>
        </p:txBody>
      </p:sp>
      <p:pic>
        <p:nvPicPr>
          <p:cNvPr id="7176" name="Picture 8" descr="Kapp"/>
          <p:cNvPicPr>
            <a:picLocks noChangeAspect="1" noChangeArrowheads="1"/>
          </p:cNvPicPr>
          <p:nvPr>
            <p:ph sz="half" idx="2"/>
          </p:nvPr>
        </p:nvPicPr>
        <p:blipFill>
          <a:blip r:embed="rId5" cstate="print"/>
          <a:srcRect/>
          <a:stretch>
            <a:fillRect/>
          </a:stretch>
        </p:blipFill>
        <p:spPr>
          <a:xfrm>
            <a:off x="323850" y="1628775"/>
            <a:ext cx="1852613" cy="2500313"/>
          </a:xfrm>
          <a:noFill/>
          <a:ln/>
        </p:spPr>
      </p:pic>
      <p:sp>
        <p:nvSpPr>
          <p:cNvPr id="7178" name="Text Box 10"/>
          <p:cNvSpPr txBox="1">
            <a:spLocks noChangeArrowheads="1"/>
          </p:cNvSpPr>
          <p:nvPr/>
        </p:nvSpPr>
        <p:spPr bwMode="auto">
          <a:xfrm>
            <a:off x="323850" y="4076700"/>
            <a:ext cx="1871663" cy="457200"/>
          </a:xfrm>
          <a:prstGeom prst="rect">
            <a:avLst/>
          </a:prstGeom>
          <a:solidFill>
            <a:schemeClr val="tx1"/>
          </a:solidFill>
          <a:ln w="9525">
            <a:noFill/>
            <a:miter lim="800000"/>
            <a:headEnd/>
            <a:tailEnd/>
          </a:ln>
          <a:effectLst/>
        </p:spPr>
        <p:txBody>
          <a:bodyPr>
            <a:spAutoFit/>
          </a:bodyPr>
          <a:lstStyle/>
          <a:p>
            <a:pPr algn="ctr">
              <a:spcBef>
                <a:spcPct val="50000"/>
              </a:spcBef>
            </a:pPr>
            <a:r>
              <a:rPr lang="en-US" sz="1200">
                <a:solidFill>
                  <a:schemeClr val="bg1"/>
                </a:solidFill>
              </a:rPr>
              <a:t>Wolfgang Kapp (leader of the Free Korps)</a:t>
            </a:r>
          </a:p>
        </p:txBody>
      </p:sp>
      <p:sp>
        <p:nvSpPr>
          <p:cNvPr id="7179" name="Text Box 11"/>
          <p:cNvSpPr txBox="1">
            <a:spLocks noChangeArrowheads="1"/>
          </p:cNvSpPr>
          <p:nvPr/>
        </p:nvSpPr>
        <p:spPr bwMode="auto">
          <a:xfrm>
            <a:off x="7019925" y="4221163"/>
            <a:ext cx="1944688" cy="274637"/>
          </a:xfrm>
          <a:prstGeom prst="rect">
            <a:avLst/>
          </a:prstGeom>
          <a:solidFill>
            <a:schemeClr val="tx1"/>
          </a:solidFill>
          <a:ln w="9525">
            <a:noFill/>
            <a:miter lim="800000"/>
            <a:headEnd/>
            <a:tailEnd/>
          </a:ln>
          <a:effectLst/>
        </p:spPr>
        <p:txBody>
          <a:bodyPr>
            <a:spAutoFit/>
          </a:bodyPr>
          <a:lstStyle/>
          <a:p>
            <a:pPr algn="ctr">
              <a:spcBef>
                <a:spcPct val="50000"/>
              </a:spcBef>
            </a:pPr>
            <a:r>
              <a:rPr lang="en-US" sz="1200">
                <a:solidFill>
                  <a:schemeClr val="bg1"/>
                </a:solidFill>
              </a:rPr>
              <a:t>Rosa Luxemburg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7170"/>
                                        </p:tgtEl>
                                        <p:attrNameLst>
                                          <p:attrName>style.visibility</p:attrName>
                                        </p:attrNameLst>
                                      </p:cBhvr>
                                      <p:to>
                                        <p:strVal val="visible"/>
                                      </p:to>
                                    </p:set>
                                    <p:anim calcmode="discrete" valueType="clr">
                                      <p:cBhvr override="childStyle">
                                        <p:cTn id="7" dur="80"/>
                                        <p:tgtEl>
                                          <p:spTgt spid="7170"/>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7170"/>
                                        </p:tgtEl>
                                        <p:attrNameLst>
                                          <p:attrName>fillcolor</p:attrName>
                                        </p:attrNameLst>
                                      </p:cBhvr>
                                      <p:tavLst>
                                        <p:tav tm="0">
                                          <p:val>
                                            <p:clrVal>
                                              <a:schemeClr val="accent2"/>
                                            </p:clrVal>
                                          </p:val>
                                        </p:tav>
                                        <p:tav tm="50000">
                                          <p:val>
                                            <p:clrVal>
                                              <a:schemeClr val="hlink"/>
                                            </p:clrVal>
                                          </p:val>
                                        </p:tav>
                                      </p:tavLst>
                                    </p:anim>
                                    <p:set>
                                      <p:cBhvr>
                                        <p:cTn id="9" dur="80"/>
                                        <p:tgtEl>
                                          <p:spTgt spid="7170"/>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2" presetClass="entr" presetSubtype="4" fill="hold" nodeType="clickEffect">
                                  <p:stCondLst>
                                    <p:cond delay="0"/>
                                  </p:stCondLst>
                                  <p:childTnLst>
                                    <p:set>
                                      <p:cBhvr>
                                        <p:cTn id="13" dur="1" fill="hold">
                                          <p:stCondLst>
                                            <p:cond delay="0"/>
                                          </p:stCondLst>
                                        </p:cTn>
                                        <p:tgtEl>
                                          <p:spTgt spid="7176"/>
                                        </p:tgtEl>
                                        <p:attrNameLst>
                                          <p:attrName>style.visibility</p:attrName>
                                        </p:attrNameLst>
                                      </p:cBhvr>
                                      <p:to>
                                        <p:strVal val="visible"/>
                                      </p:to>
                                    </p:set>
                                    <p:anim calcmode="lin" valueType="num">
                                      <p:cBhvr additive="base">
                                        <p:cTn id="14" dur="500" fill="hold"/>
                                        <p:tgtEl>
                                          <p:spTgt spid="7176"/>
                                        </p:tgtEl>
                                        <p:attrNameLst>
                                          <p:attrName>ppt_x</p:attrName>
                                        </p:attrNameLst>
                                      </p:cBhvr>
                                      <p:tavLst>
                                        <p:tav tm="0">
                                          <p:val>
                                            <p:strVal val="#ppt_x"/>
                                          </p:val>
                                        </p:tav>
                                        <p:tav tm="100000">
                                          <p:val>
                                            <p:strVal val="#ppt_x"/>
                                          </p:val>
                                        </p:tav>
                                      </p:tavLst>
                                    </p:anim>
                                    <p:anim calcmode="lin" valueType="num">
                                      <p:cBhvr additive="base">
                                        <p:cTn id="15" dur="500" fill="hold"/>
                                        <p:tgtEl>
                                          <p:spTgt spid="7176"/>
                                        </p:tgtEl>
                                        <p:attrNameLst>
                                          <p:attrName>ppt_y</p:attrName>
                                        </p:attrNameLst>
                                      </p:cBhvr>
                                      <p:tavLst>
                                        <p:tav tm="0">
                                          <p:val>
                                            <p:strVal val="1+#ppt_h/2"/>
                                          </p:val>
                                        </p:tav>
                                        <p:tav tm="100000">
                                          <p:val>
                                            <p:strVal val="#ppt_y"/>
                                          </p:val>
                                        </p:tav>
                                      </p:tavLst>
                                    </p:anim>
                                  </p:childTnLst>
                                </p:cTn>
                              </p:par>
                              <p:par>
                                <p:cTn id="16" presetID="2" presetClass="entr" presetSubtype="4" fill="hold" grpId="0" nodeType="withEffect">
                                  <p:stCondLst>
                                    <p:cond delay="0"/>
                                  </p:stCondLst>
                                  <p:childTnLst>
                                    <p:set>
                                      <p:cBhvr>
                                        <p:cTn id="17" dur="1" fill="hold">
                                          <p:stCondLst>
                                            <p:cond delay="0"/>
                                          </p:stCondLst>
                                        </p:cTn>
                                        <p:tgtEl>
                                          <p:spTgt spid="7178"/>
                                        </p:tgtEl>
                                        <p:attrNameLst>
                                          <p:attrName>style.visibility</p:attrName>
                                        </p:attrNameLst>
                                      </p:cBhvr>
                                      <p:to>
                                        <p:strVal val="visible"/>
                                      </p:to>
                                    </p:set>
                                    <p:anim calcmode="lin" valueType="num">
                                      <p:cBhvr additive="base">
                                        <p:cTn id="18" dur="500" fill="hold"/>
                                        <p:tgtEl>
                                          <p:spTgt spid="7178"/>
                                        </p:tgtEl>
                                        <p:attrNameLst>
                                          <p:attrName>ppt_x</p:attrName>
                                        </p:attrNameLst>
                                      </p:cBhvr>
                                      <p:tavLst>
                                        <p:tav tm="0">
                                          <p:val>
                                            <p:strVal val="#ppt_x"/>
                                          </p:val>
                                        </p:tav>
                                        <p:tav tm="100000">
                                          <p:val>
                                            <p:strVal val="#ppt_x"/>
                                          </p:val>
                                        </p:tav>
                                      </p:tavLst>
                                    </p:anim>
                                    <p:anim calcmode="lin" valueType="num">
                                      <p:cBhvr additive="base">
                                        <p:cTn id="19" dur="500" fill="hold"/>
                                        <p:tgtEl>
                                          <p:spTgt spid="7178"/>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7172"/>
                                        </p:tgtEl>
                                        <p:attrNameLst>
                                          <p:attrName>style.visibility</p:attrName>
                                        </p:attrNameLst>
                                      </p:cBhvr>
                                      <p:to>
                                        <p:strVal val="visible"/>
                                      </p:to>
                                    </p:set>
                                    <p:anim calcmode="lin" valueType="num">
                                      <p:cBhvr additive="base">
                                        <p:cTn id="24" dur="500" fill="hold"/>
                                        <p:tgtEl>
                                          <p:spTgt spid="7172"/>
                                        </p:tgtEl>
                                        <p:attrNameLst>
                                          <p:attrName>ppt_x</p:attrName>
                                        </p:attrNameLst>
                                      </p:cBhvr>
                                      <p:tavLst>
                                        <p:tav tm="0">
                                          <p:val>
                                            <p:strVal val="#ppt_x"/>
                                          </p:val>
                                        </p:tav>
                                        <p:tav tm="100000">
                                          <p:val>
                                            <p:strVal val="#ppt_x"/>
                                          </p:val>
                                        </p:tav>
                                      </p:tavLst>
                                    </p:anim>
                                    <p:anim calcmode="lin" valueType="num">
                                      <p:cBhvr additive="base">
                                        <p:cTn id="25" dur="500" fill="hold"/>
                                        <p:tgtEl>
                                          <p:spTgt spid="7172"/>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7179"/>
                                        </p:tgtEl>
                                        <p:attrNameLst>
                                          <p:attrName>style.visibility</p:attrName>
                                        </p:attrNameLst>
                                      </p:cBhvr>
                                      <p:to>
                                        <p:strVal val="visible"/>
                                      </p:to>
                                    </p:set>
                                    <p:anim calcmode="lin" valueType="num">
                                      <p:cBhvr additive="base">
                                        <p:cTn id="28" dur="500" fill="hold"/>
                                        <p:tgtEl>
                                          <p:spTgt spid="7179"/>
                                        </p:tgtEl>
                                        <p:attrNameLst>
                                          <p:attrName>ppt_x</p:attrName>
                                        </p:attrNameLst>
                                      </p:cBhvr>
                                      <p:tavLst>
                                        <p:tav tm="0">
                                          <p:val>
                                            <p:strVal val="#ppt_x"/>
                                          </p:val>
                                        </p:tav>
                                        <p:tav tm="100000">
                                          <p:val>
                                            <p:strVal val="#ppt_x"/>
                                          </p:val>
                                        </p:tav>
                                      </p:tavLst>
                                    </p:anim>
                                    <p:anim calcmode="lin" valueType="num">
                                      <p:cBhvr additive="base">
                                        <p:cTn id="29" dur="500" fill="hold"/>
                                        <p:tgtEl>
                                          <p:spTgt spid="7179"/>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8" presetClass="entr" presetSubtype="16" fill="hold" grpId="0" nodeType="clickEffect">
                                  <p:stCondLst>
                                    <p:cond delay="0"/>
                                  </p:stCondLst>
                                  <p:childTnLst>
                                    <p:set>
                                      <p:cBhvr>
                                        <p:cTn id="33" dur="1" fill="hold">
                                          <p:stCondLst>
                                            <p:cond delay="0"/>
                                          </p:stCondLst>
                                        </p:cTn>
                                        <p:tgtEl>
                                          <p:spTgt spid="7174"/>
                                        </p:tgtEl>
                                        <p:attrNameLst>
                                          <p:attrName>style.visibility</p:attrName>
                                        </p:attrNameLst>
                                      </p:cBhvr>
                                      <p:to>
                                        <p:strVal val="visible"/>
                                      </p:to>
                                    </p:set>
                                    <p:animEffect transition="in" filter="diamond(in)">
                                      <p:cBhvr>
                                        <p:cTn id="34" dur="2000"/>
                                        <p:tgtEl>
                                          <p:spTgt spid="7174"/>
                                        </p:tgtEl>
                                      </p:cBhvr>
                                    </p:animEffect>
                                  </p:childTnLst>
                                </p:cTn>
                              </p:par>
                            </p:childTnLst>
                          </p:cTn>
                        </p:par>
                      </p:childTnLst>
                    </p:cTn>
                  </p:par>
                  <p:par>
                    <p:cTn id="35" fill="hold">
                      <p:stCondLst>
                        <p:cond delay="indefinite"/>
                      </p:stCondLst>
                      <p:childTnLst>
                        <p:par>
                          <p:cTn id="36" fill="hold">
                            <p:stCondLst>
                              <p:cond delay="0"/>
                            </p:stCondLst>
                            <p:childTnLst>
                              <p:par>
                                <p:cTn id="37" presetID="27" presetClass="entr" presetSubtype="0" fill="hold" grpId="0" nodeType="clickEffect">
                                  <p:stCondLst>
                                    <p:cond delay="0"/>
                                  </p:stCondLst>
                                  <p:iterate type="lt">
                                    <p:tmPct val="50000"/>
                                  </p:iterate>
                                  <p:childTnLst>
                                    <p:set>
                                      <p:cBhvr>
                                        <p:cTn id="38" dur="1" fill="hold">
                                          <p:stCondLst>
                                            <p:cond delay="0"/>
                                          </p:stCondLst>
                                        </p:cTn>
                                        <p:tgtEl>
                                          <p:spTgt spid="7175"/>
                                        </p:tgtEl>
                                        <p:attrNameLst>
                                          <p:attrName>style.visibility</p:attrName>
                                        </p:attrNameLst>
                                      </p:cBhvr>
                                      <p:to>
                                        <p:strVal val="visible"/>
                                      </p:to>
                                    </p:set>
                                    <p:anim calcmode="discrete" valueType="clr">
                                      <p:cBhvr override="childStyle">
                                        <p:cTn id="39" dur="80"/>
                                        <p:tgtEl>
                                          <p:spTgt spid="7175"/>
                                        </p:tgtEl>
                                        <p:attrNameLst>
                                          <p:attrName>style.color</p:attrName>
                                        </p:attrNameLst>
                                      </p:cBhvr>
                                      <p:tavLst>
                                        <p:tav tm="0">
                                          <p:val>
                                            <p:clrVal>
                                              <a:schemeClr val="accent2"/>
                                            </p:clrVal>
                                          </p:val>
                                        </p:tav>
                                        <p:tav tm="50000">
                                          <p:val>
                                            <p:clrVal>
                                              <a:schemeClr val="hlink"/>
                                            </p:clrVal>
                                          </p:val>
                                        </p:tav>
                                      </p:tavLst>
                                    </p:anim>
                                    <p:anim calcmode="discrete" valueType="clr">
                                      <p:cBhvr>
                                        <p:cTn id="40" dur="80"/>
                                        <p:tgtEl>
                                          <p:spTgt spid="7175"/>
                                        </p:tgtEl>
                                        <p:attrNameLst>
                                          <p:attrName>fillcolor</p:attrName>
                                        </p:attrNameLst>
                                      </p:cBhvr>
                                      <p:tavLst>
                                        <p:tav tm="0">
                                          <p:val>
                                            <p:clrVal>
                                              <a:schemeClr val="accent2"/>
                                            </p:clrVal>
                                          </p:val>
                                        </p:tav>
                                        <p:tav tm="50000">
                                          <p:val>
                                            <p:clrVal>
                                              <a:schemeClr val="hlink"/>
                                            </p:clrVal>
                                          </p:val>
                                        </p:tav>
                                      </p:tavLst>
                                    </p:anim>
                                    <p:set>
                                      <p:cBhvr>
                                        <p:cTn id="41" dur="80"/>
                                        <p:tgtEl>
                                          <p:spTgt spid="7175"/>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P spid="7174" grpId="0"/>
      <p:bldP spid="7175" grpId="0"/>
      <p:bldP spid="7178" grpId="0" animBg="1"/>
      <p:bldP spid="717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1619250" y="260350"/>
            <a:ext cx="5905500" cy="2012950"/>
          </a:xfrm>
          <a:prstGeom prst="rect">
            <a:avLst/>
          </a:prstGeom>
          <a:noFill/>
          <a:ln w="9525">
            <a:noFill/>
            <a:miter lim="800000"/>
            <a:headEnd/>
            <a:tailEnd/>
          </a:ln>
          <a:effectLst/>
        </p:spPr>
        <p:txBody>
          <a:bodyPr>
            <a:spAutoFit/>
          </a:bodyPr>
          <a:lstStyle/>
          <a:p>
            <a:pPr algn="ctr">
              <a:spcBef>
                <a:spcPct val="50000"/>
              </a:spcBef>
            </a:pPr>
            <a:r>
              <a:rPr lang="en-US" sz="4800">
                <a:solidFill>
                  <a:srgbClr val="FF66CC"/>
                </a:solidFill>
                <a:latin typeface="Kristen ITC" pitchFamily="66" charset="0"/>
              </a:rPr>
              <a:t>Germany becomes a Republic</a:t>
            </a:r>
            <a:r>
              <a:rPr lang="en-US">
                <a:solidFill>
                  <a:srgbClr val="FF66CC"/>
                </a:solidFill>
                <a:latin typeface="Kristen ITC" pitchFamily="66" charset="0"/>
              </a:rPr>
              <a:t> </a:t>
            </a:r>
          </a:p>
          <a:p>
            <a:pPr algn="ctr">
              <a:spcBef>
                <a:spcPct val="50000"/>
              </a:spcBef>
            </a:pPr>
            <a:r>
              <a:rPr lang="en-US" sz="2000">
                <a:solidFill>
                  <a:srgbClr val="FF66CC"/>
                </a:solidFill>
                <a:latin typeface="Comic Sans MS" pitchFamily="66" charset="0"/>
              </a:rPr>
              <a:t>(A country without a King)</a:t>
            </a:r>
          </a:p>
        </p:txBody>
      </p:sp>
      <p:sp>
        <p:nvSpPr>
          <p:cNvPr id="6149" name="Text Box 5"/>
          <p:cNvSpPr txBox="1">
            <a:spLocks noChangeArrowheads="1"/>
          </p:cNvSpPr>
          <p:nvPr/>
        </p:nvSpPr>
        <p:spPr bwMode="auto">
          <a:xfrm>
            <a:off x="1979613" y="2420938"/>
            <a:ext cx="5113337" cy="1190625"/>
          </a:xfrm>
          <a:prstGeom prst="rect">
            <a:avLst/>
          </a:prstGeom>
          <a:noFill/>
          <a:ln w="9525">
            <a:noFill/>
            <a:miter lim="800000"/>
            <a:headEnd/>
            <a:tailEnd/>
          </a:ln>
          <a:effectLst/>
        </p:spPr>
        <p:txBody>
          <a:bodyPr>
            <a:spAutoFit/>
          </a:bodyPr>
          <a:lstStyle/>
          <a:p>
            <a:pPr algn="ctr">
              <a:spcBef>
                <a:spcPct val="50000"/>
              </a:spcBef>
            </a:pPr>
            <a:r>
              <a:rPr lang="en-US">
                <a:solidFill>
                  <a:srgbClr val="FFFF66"/>
                </a:solidFill>
              </a:rPr>
              <a:t>Germany became a Democratic country where for the first time in their history German people were allowed to vote for a Leader of Germany. In January 1919 the Weimar Republic was born.</a:t>
            </a:r>
          </a:p>
        </p:txBody>
      </p:sp>
      <p:sp>
        <p:nvSpPr>
          <p:cNvPr id="6150" name="Text Box 6"/>
          <p:cNvSpPr txBox="1">
            <a:spLocks noChangeArrowheads="1"/>
          </p:cNvSpPr>
          <p:nvPr/>
        </p:nvSpPr>
        <p:spPr bwMode="auto">
          <a:xfrm>
            <a:off x="611188" y="3860800"/>
            <a:ext cx="8064500" cy="914400"/>
          </a:xfrm>
          <a:prstGeom prst="rect">
            <a:avLst/>
          </a:prstGeom>
          <a:noFill/>
          <a:ln w="9525">
            <a:noFill/>
            <a:miter lim="800000"/>
            <a:headEnd/>
            <a:tailEnd/>
          </a:ln>
          <a:effectLst/>
        </p:spPr>
        <p:txBody>
          <a:bodyPr>
            <a:spAutoFit/>
          </a:bodyPr>
          <a:lstStyle/>
          <a:p>
            <a:pPr algn="ctr">
              <a:spcBef>
                <a:spcPct val="50000"/>
              </a:spcBef>
            </a:pPr>
            <a:r>
              <a:rPr lang="en-US" sz="5400">
                <a:solidFill>
                  <a:srgbClr val="FFFF66"/>
                </a:solidFill>
                <a:latin typeface="Arial Black" pitchFamily="34" charset="0"/>
              </a:rPr>
              <a:t>W</a:t>
            </a:r>
            <a:r>
              <a:rPr lang="en-US" sz="5400">
                <a:solidFill>
                  <a:srgbClr val="FF66CC"/>
                </a:solidFill>
                <a:latin typeface="Arial Black" pitchFamily="34" charset="0"/>
              </a:rPr>
              <a:t>E</a:t>
            </a:r>
            <a:r>
              <a:rPr lang="en-US" sz="5400">
                <a:solidFill>
                  <a:srgbClr val="00FFFF"/>
                </a:solidFill>
                <a:latin typeface="Arial Black" pitchFamily="34" charset="0"/>
              </a:rPr>
              <a:t>I</a:t>
            </a:r>
            <a:r>
              <a:rPr lang="en-US" sz="5400">
                <a:solidFill>
                  <a:srgbClr val="FF0000"/>
                </a:solidFill>
                <a:latin typeface="Arial Black" pitchFamily="34" charset="0"/>
              </a:rPr>
              <a:t>M</a:t>
            </a:r>
            <a:r>
              <a:rPr lang="en-US" sz="5400">
                <a:solidFill>
                  <a:schemeClr val="bg1"/>
                </a:solidFill>
                <a:latin typeface="Arial Black" pitchFamily="34" charset="0"/>
              </a:rPr>
              <a:t>A</a:t>
            </a:r>
            <a:r>
              <a:rPr lang="en-US" sz="5400">
                <a:solidFill>
                  <a:schemeClr val="folHlink"/>
                </a:solidFill>
                <a:latin typeface="Arial Black" pitchFamily="34" charset="0"/>
              </a:rPr>
              <a:t>R</a:t>
            </a:r>
            <a:r>
              <a:rPr lang="en-US" sz="5400">
                <a:latin typeface="Arial Black" pitchFamily="34" charset="0"/>
              </a:rPr>
              <a:t> </a:t>
            </a:r>
            <a:r>
              <a:rPr lang="en-US" sz="5400">
                <a:solidFill>
                  <a:schemeClr val="accent1"/>
                </a:solidFill>
                <a:latin typeface="Arial Black" pitchFamily="34" charset="0"/>
              </a:rPr>
              <a:t>R</a:t>
            </a:r>
            <a:r>
              <a:rPr lang="en-US" sz="5400">
                <a:solidFill>
                  <a:srgbClr val="00FF00"/>
                </a:solidFill>
                <a:latin typeface="Arial Black" pitchFamily="34" charset="0"/>
              </a:rPr>
              <a:t>E</a:t>
            </a:r>
            <a:r>
              <a:rPr lang="en-US" sz="5400">
                <a:solidFill>
                  <a:schemeClr val="accent2"/>
                </a:solidFill>
                <a:latin typeface="Arial Black" pitchFamily="34" charset="0"/>
              </a:rPr>
              <a:t>P</a:t>
            </a:r>
            <a:r>
              <a:rPr lang="en-US" sz="5400">
                <a:solidFill>
                  <a:schemeClr val="bg1"/>
                </a:solidFill>
                <a:latin typeface="Arial Black" pitchFamily="34" charset="0"/>
              </a:rPr>
              <a:t>U</a:t>
            </a:r>
            <a:r>
              <a:rPr lang="en-US" sz="5400">
                <a:solidFill>
                  <a:srgbClr val="FF0000"/>
                </a:solidFill>
                <a:latin typeface="Arial Black" pitchFamily="34" charset="0"/>
              </a:rPr>
              <a:t>B</a:t>
            </a:r>
            <a:r>
              <a:rPr lang="en-US" sz="5400">
                <a:solidFill>
                  <a:srgbClr val="00FFFF"/>
                </a:solidFill>
                <a:latin typeface="Arial Black" pitchFamily="34" charset="0"/>
              </a:rPr>
              <a:t>L</a:t>
            </a:r>
            <a:r>
              <a:rPr lang="en-US" sz="5400">
                <a:solidFill>
                  <a:srgbClr val="FF66CC"/>
                </a:solidFill>
                <a:latin typeface="Arial Black" pitchFamily="34" charset="0"/>
              </a:rPr>
              <a:t>I</a:t>
            </a:r>
            <a:r>
              <a:rPr lang="en-US" sz="5400">
                <a:solidFill>
                  <a:srgbClr val="FFFF66"/>
                </a:solidFill>
                <a:latin typeface="Arial Black" pitchFamily="34" charset="0"/>
              </a:rPr>
              <a:t>C</a:t>
            </a:r>
          </a:p>
        </p:txBody>
      </p:sp>
      <p:sp>
        <p:nvSpPr>
          <p:cNvPr id="6151" name="Text Box 7"/>
          <p:cNvSpPr txBox="1">
            <a:spLocks noChangeArrowheads="1"/>
          </p:cNvSpPr>
          <p:nvPr/>
        </p:nvSpPr>
        <p:spPr bwMode="auto">
          <a:xfrm>
            <a:off x="1692275" y="5013325"/>
            <a:ext cx="5832475" cy="1465263"/>
          </a:xfrm>
          <a:prstGeom prst="rect">
            <a:avLst/>
          </a:prstGeom>
          <a:noFill/>
          <a:ln w="9525">
            <a:noFill/>
            <a:miter lim="800000"/>
            <a:headEnd/>
            <a:tailEnd/>
          </a:ln>
          <a:effectLst/>
        </p:spPr>
        <p:txBody>
          <a:bodyPr>
            <a:spAutoFit/>
          </a:bodyPr>
          <a:lstStyle/>
          <a:p>
            <a:pPr algn="ctr">
              <a:spcBef>
                <a:spcPct val="50000"/>
              </a:spcBef>
            </a:pPr>
            <a:r>
              <a:rPr lang="en-US">
                <a:solidFill>
                  <a:srgbClr val="FFFF66"/>
                </a:solidFill>
              </a:rPr>
              <a:t>(Many thought that Democracy would be a failure as Germany had always had a strong and powerful leader. When the Weimar Republic failed many liked the idea of Hitler being a strong and powerful leader – just like the ‘good old days’ when the Kaiser was in power.)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6148"/>
                                        </p:tgtEl>
                                        <p:attrNameLst>
                                          <p:attrName>style.visibility</p:attrName>
                                        </p:attrNameLst>
                                      </p:cBhvr>
                                      <p:to>
                                        <p:strVal val="visible"/>
                                      </p:to>
                                    </p:set>
                                    <p:anim calcmode="discrete" valueType="clr">
                                      <p:cBhvr override="childStyle">
                                        <p:cTn id="7" dur="80"/>
                                        <p:tgtEl>
                                          <p:spTgt spid="6148"/>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6148"/>
                                        </p:tgtEl>
                                        <p:attrNameLst>
                                          <p:attrName>fillcolor</p:attrName>
                                        </p:attrNameLst>
                                      </p:cBhvr>
                                      <p:tavLst>
                                        <p:tav tm="0">
                                          <p:val>
                                            <p:clrVal>
                                              <a:schemeClr val="accent2"/>
                                            </p:clrVal>
                                          </p:val>
                                        </p:tav>
                                        <p:tav tm="50000">
                                          <p:val>
                                            <p:clrVal>
                                              <a:schemeClr val="hlink"/>
                                            </p:clrVal>
                                          </p:val>
                                        </p:tav>
                                      </p:tavLst>
                                    </p:anim>
                                    <p:set>
                                      <p:cBhvr>
                                        <p:cTn id="9" dur="80"/>
                                        <p:tgtEl>
                                          <p:spTgt spid="6148"/>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8" presetClass="entr" presetSubtype="16" fill="hold" grpId="0" nodeType="clickEffect">
                                  <p:stCondLst>
                                    <p:cond delay="0"/>
                                  </p:stCondLst>
                                  <p:childTnLst>
                                    <p:set>
                                      <p:cBhvr>
                                        <p:cTn id="13" dur="1" fill="hold">
                                          <p:stCondLst>
                                            <p:cond delay="0"/>
                                          </p:stCondLst>
                                        </p:cTn>
                                        <p:tgtEl>
                                          <p:spTgt spid="6149"/>
                                        </p:tgtEl>
                                        <p:attrNameLst>
                                          <p:attrName>style.visibility</p:attrName>
                                        </p:attrNameLst>
                                      </p:cBhvr>
                                      <p:to>
                                        <p:strVal val="visible"/>
                                      </p:to>
                                    </p:set>
                                    <p:animEffect transition="in" filter="diamond(in)">
                                      <p:cBhvr>
                                        <p:cTn id="14" dur="2000"/>
                                        <p:tgtEl>
                                          <p:spTgt spid="6149"/>
                                        </p:tgtEl>
                                      </p:cBhvr>
                                    </p:animEffect>
                                  </p:childTnLst>
                                </p:cTn>
                              </p:par>
                            </p:childTnLst>
                          </p:cTn>
                        </p:par>
                      </p:childTnLst>
                    </p:cTn>
                  </p:par>
                  <p:par>
                    <p:cTn id="15" fill="hold">
                      <p:stCondLst>
                        <p:cond delay="indefinite"/>
                      </p:stCondLst>
                      <p:childTnLst>
                        <p:par>
                          <p:cTn id="16" fill="hold">
                            <p:stCondLst>
                              <p:cond delay="0"/>
                            </p:stCondLst>
                            <p:childTnLst>
                              <p:par>
                                <p:cTn id="17" presetID="55" presetClass="entr" presetSubtype="0" fill="hold" grpId="0" nodeType="clickEffect">
                                  <p:stCondLst>
                                    <p:cond delay="0"/>
                                  </p:stCondLst>
                                  <p:childTnLst>
                                    <p:set>
                                      <p:cBhvr>
                                        <p:cTn id="18" dur="1" fill="hold">
                                          <p:stCondLst>
                                            <p:cond delay="0"/>
                                          </p:stCondLst>
                                        </p:cTn>
                                        <p:tgtEl>
                                          <p:spTgt spid="6150"/>
                                        </p:tgtEl>
                                        <p:attrNameLst>
                                          <p:attrName>style.visibility</p:attrName>
                                        </p:attrNameLst>
                                      </p:cBhvr>
                                      <p:to>
                                        <p:strVal val="visible"/>
                                      </p:to>
                                    </p:set>
                                    <p:anim calcmode="lin" valueType="num">
                                      <p:cBhvr>
                                        <p:cTn id="19" dur="1000" fill="hold"/>
                                        <p:tgtEl>
                                          <p:spTgt spid="6150"/>
                                        </p:tgtEl>
                                        <p:attrNameLst>
                                          <p:attrName>ppt_w</p:attrName>
                                        </p:attrNameLst>
                                      </p:cBhvr>
                                      <p:tavLst>
                                        <p:tav tm="0">
                                          <p:val>
                                            <p:strVal val="#ppt_w*0.70"/>
                                          </p:val>
                                        </p:tav>
                                        <p:tav tm="100000">
                                          <p:val>
                                            <p:strVal val="#ppt_w"/>
                                          </p:val>
                                        </p:tav>
                                      </p:tavLst>
                                    </p:anim>
                                    <p:anim calcmode="lin" valueType="num">
                                      <p:cBhvr>
                                        <p:cTn id="20" dur="1000" fill="hold"/>
                                        <p:tgtEl>
                                          <p:spTgt spid="6150"/>
                                        </p:tgtEl>
                                        <p:attrNameLst>
                                          <p:attrName>ppt_h</p:attrName>
                                        </p:attrNameLst>
                                      </p:cBhvr>
                                      <p:tavLst>
                                        <p:tav tm="0">
                                          <p:val>
                                            <p:strVal val="#ppt_h"/>
                                          </p:val>
                                        </p:tav>
                                        <p:tav tm="100000">
                                          <p:val>
                                            <p:strVal val="#ppt_h"/>
                                          </p:val>
                                        </p:tav>
                                      </p:tavLst>
                                    </p:anim>
                                    <p:animEffect transition="in" filter="fade">
                                      <p:cBhvr>
                                        <p:cTn id="21" dur="1000"/>
                                        <p:tgtEl>
                                          <p:spTgt spid="6150"/>
                                        </p:tgtEl>
                                      </p:cBhvr>
                                    </p:animEffect>
                                  </p:childTnLst>
                                </p:cTn>
                              </p:par>
                            </p:childTnLst>
                          </p:cTn>
                        </p:par>
                      </p:childTnLst>
                    </p:cTn>
                  </p:par>
                  <p:par>
                    <p:cTn id="22" fill="hold">
                      <p:stCondLst>
                        <p:cond delay="indefinite"/>
                      </p:stCondLst>
                      <p:childTnLst>
                        <p:par>
                          <p:cTn id="23" fill="hold">
                            <p:stCondLst>
                              <p:cond delay="0"/>
                            </p:stCondLst>
                            <p:childTnLst>
                              <p:par>
                                <p:cTn id="24" presetID="8" presetClass="entr" presetSubtype="16" fill="hold" grpId="0" nodeType="clickEffect">
                                  <p:stCondLst>
                                    <p:cond delay="0"/>
                                  </p:stCondLst>
                                  <p:childTnLst>
                                    <p:set>
                                      <p:cBhvr>
                                        <p:cTn id="25" dur="1" fill="hold">
                                          <p:stCondLst>
                                            <p:cond delay="0"/>
                                          </p:stCondLst>
                                        </p:cTn>
                                        <p:tgtEl>
                                          <p:spTgt spid="6151"/>
                                        </p:tgtEl>
                                        <p:attrNameLst>
                                          <p:attrName>style.visibility</p:attrName>
                                        </p:attrNameLst>
                                      </p:cBhvr>
                                      <p:to>
                                        <p:strVal val="visible"/>
                                      </p:to>
                                    </p:set>
                                    <p:animEffect transition="in" filter="diamond(in)">
                                      <p:cBhvr>
                                        <p:cTn id="26" dur="2000"/>
                                        <p:tgtEl>
                                          <p:spTgt spid="61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p:bldP spid="6149" grpId="0"/>
      <p:bldP spid="6150" grpId="0"/>
      <p:bldP spid="615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Text Box 4"/>
          <p:cNvSpPr txBox="1">
            <a:spLocks noChangeArrowheads="1"/>
          </p:cNvSpPr>
          <p:nvPr/>
        </p:nvSpPr>
        <p:spPr bwMode="auto">
          <a:xfrm>
            <a:off x="250825" y="476250"/>
            <a:ext cx="8713788" cy="5273675"/>
          </a:xfrm>
          <a:prstGeom prst="rect">
            <a:avLst/>
          </a:prstGeom>
          <a:noFill/>
          <a:ln w="9525">
            <a:noFill/>
            <a:miter lim="800000"/>
            <a:headEnd/>
            <a:tailEnd/>
          </a:ln>
          <a:effectLst/>
        </p:spPr>
        <p:txBody>
          <a:bodyPr>
            <a:spAutoFit/>
          </a:bodyPr>
          <a:lstStyle/>
          <a:p>
            <a:pPr algn="ctr">
              <a:spcBef>
                <a:spcPct val="50000"/>
              </a:spcBef>
            </a:pPr>
            <a:r>
              <a:rPr lang="en-US" sz="17000">
                <a:solidFill>
                  <a:srgbClr val="FF0000"/>
                </a:solidFill>
                <a:latin typeface="Chiller" pitchFamily="82" charset="0"/>
              </a:rPr>
              <a:t>The Treaty of Versailles</a:t>
            </a:r>
          </a:p>
        </p:txBody>
      </p:sp>
      <p:sp>
        <p:nvSpPr>
          <p:cNvPr id="9221" name="Text Box 5"/>
          <p:cNvSpPr txBox="1">
            <a:spLocks noChangeArrowheads="1"/>
          </p:cNvSpPr>
          <p:nvPr/>
        </p:nvSpPr>
        <p:spPr bwMode="auto">
          <a:xfrm>
            <a:off x="900113" y="5373688"/>
            <a:ext cx="7559675" cy="641350"/>
          </a:xfrm>
          <a:prstGeom prst="rect">
            <a:avLst/>
          </a:prstGeom>
          <a:noFill/>
          <a:ln w="9525">
            <a:noFill/>
            <a:miter lim="800000"/>
            <a:headEnd/>
            <a:tailEnd/>
          </a:ln>
          <a:effectLst/>
        </p:spPr>
        <p:txBody>
          <a:bodyPr>
            <a:spAutoFit/>
          </a:bodyPr>
          <a:lstStyle/>
          <a:p>
            <a:pPr algn="ctr">
              <a:spcBef>
                <a:spcPct val="50000"/>
              </a:spcBef>
            </a:pPr>
            <a:r>
              <a:rPr lang="en-US">
                <a:solidFill>
                  <a:schemeClr val="bg1"/>
                </a:solidFill>
              </a:rPr>
              <a:t>(This created massive problems for the new Weimar Republic - See the Power Point on the Treaty)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9220"/>
                                        </p:tgtEl>
                                        <p:attrNameLst>
                                          <p:attrName>style.visibility</p:attrName>
                                        </p:attrNameLst>
                                      </p:cBhvr>
                                      <p:to>
                                        <p:strVal val="visible"/>
                                      </p:to>
                                    </p:set>
                                    <p:anim calcmode="discrete" valueType="clr">
                                      <p:cBhvr override="childStyle">
                                        <p:cTn id="7" dur="80"/>
                                        <p:tgtEl>
                                          <p:spTgt spid="9220"/>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9220"/>
                                        </p:tgtEl>
                                        <p:attrNameLst>
                                          <p:attrName>fillcolor</p:attrName>
                                        </p:attrNameLst>
                                      </p:cBhvr>
                                      <p:tavLst>
                                        <p:tav tm="0">
                                          <p:val>
                                            <p:clrVal>
                                              <a:schemeClr val="accent2"/>
                                            </p:clrVal>
                                          </p:val>
                                        </p:tav>
                                        <p:tav tm="50000">
                                          <p:val>
                                            <p:clrVal>
                                              <a:schemeClr val="hlink"/>
                                            </p:clrVal>
                                          </p:val>
                                        </p:tav>
                                      </p:tavLst>
                                    </p:anim>
                                    <p:set>
                                      <p:cBhvr>
                                        <p:cTn id="9" dur="80"/>
                                        <p:tgtEl>
                                          <p:spTgt spid="9220"/>
                                        </p:tgtEl>
                                        <p:attrNameLst>
                                          <p:attrName>fill.type</p:attrName>
                                        </p:attrNameLst>
                                      </p:cBhvr>
                                      <p:to>
                                        <p:strVal val="solid"/>
                                      </p:to>
                                    </p:set>
                                  </p:childTnLst>
                                </p:cTn>
                              </p:par>
                              <p:par>
                                <p:cTn id="10" presetID="27" presetClass="entr" presetSubtype="0" fill="hold" grpId="0" nodeType="withEffect">
                                  <p:stCondLst>
                                    <p:cond delay="0"/>
                                  </p:stCondLst>
                                  <p:iterate type="lt">
                                    <p:tmPct val="50000"/>
                                  </p:iterate>
                                  <p:childTnLst>
                                    <p:set>
                                      <p:cBhvr>
                                        <p:cTn id="11" dur="1" fill="hold">
                                          <p:stCondLst>
                                            <p:cond delay="0"/>
                                          </p:stCondLst>
                                        </p:cTn>
                                        <p:tgtEl>
                                          <p:spTgt spid="9221"/>
                                        </p:tgtEl>
                                        <p:attrNameLst>
                                          <p:attrName>style.visibility</p:attrName>
                                        </p:attrNameLst>
                                      </p:cBhvr>
                                      <p:to>
                                        <p:strVal val="visible"/>
                                      </p:to>
                                    </p:set>
                                    <p:anim calcmode="discrete" valueType="clr">
                                      <p:cBhvr override="childStyle">
                                        <p:cTn id="12" dur="80"/>
                                        <p:tgtEl>
                                          <p:spTgt spid="9221"/>
                                        </p:tgtEl>
                                        <p:attrNameLst>
                                          <p:attrName>style.color</p:attrName>
                                        </p:attrNameLst>
                                      </p:cBhvr>
                                      <p:tavLst>
                                        <p:tav tm="0">
                                          <p:val>
                                            <p:clrVal>
                                              <a:schemeClr val="accent2"/>
                                            </p:clrVal>
                                          </p:val>
                                        </p:tav>
                                        <p:tav tm="50000">
                                          <p:val>
                                            <p:clrVal>
                                              <a:schemeClr val="hlink"/>
                                            </p:clrVal>
                                          </p:val>
                                        </p:tav>
                                      </p:tavLst>
                                    </p:anim>
                                    <p:anim calcmode="discrete" valueType="clr">
                                      <p:cBhvr>
                                        <p:cTn id="13" dur="80"/>
                                        <p:tgtEl>
                                          <p:spTgt spid="9221"/>
                                        </p:tgtEl>
                                        <p:attrNameLst>
                                          <p:attrName>fillcolor</p:attrName>
                                        </p:attrNameLst>
                                      </p:cBhvr>
                                      <p:tavLst>
                                        <p:tav tm="0">
                                          <p:val>
                                            <p:clrVal>
                                              <a:schemeClr val="accent2"/>
                                            </p:clrVal>
                                          </p:val>
                                        </p:tav>
                                        <p:tav tm="50000">
                                          <p:val>
                                            <p:clrVal>
                                              <a:schemeClr val="hlink"/>
                                            </p:clrVal>
                                          </p:val>
                                        </p:tav>
                                      </p:tavLst>
                                    </p:anim>
                                    <p:set>
                                      <p:cBhvr>
                                        <p:cTn id="14" dur="80"/>
                                        <p:tgtEl>
                                          <p:spTgt spid="9221"/>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0" grpId="0"/>
      <p:bldP spid="922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 name="Rectangle 10"/>
          <p:cNvSpPr>
            <a:spLocks noChangeArrowheads="1"/>
          </p:cNvSpPr>
          <p:nvPr/>
        </p:nvSpPr>
        <p:spPr bwMode="auto">
          <a:xfrm>
            <a:off x="457200" y="274638"/>
            <a:ext cx="8229600" cy="1143000"/>
          </a:xfrm>
          <a:prstGeom prst="rect">
            <a:avLst/>
          </a:prstGeom>
          <a:noFill/>
          <a:ln w="9525">
            <a:noFill/>
            <a:miter lim="800000"/>
            <a:headEnd/>
            <a:tailEnd/>
          </a:ln>
          <a:effectLst/>
        </p:spPr>
        <p:txBody>
          <a:bodyPr anchor="ctr"/>
          <a:lstStyle/>
          <a:p>
            <a:pPr algn="ctr"/>
            <a:r>
              <a:rPr lang="en-US" sz="4400" u="sng">
                <a:solidFill>
                  <a:srgbClr val="FF66CC"/>
                </a:solidFill>
                <a:latin typeface="Kristen ITC" pitchFamily="66" charset="0"/>
              </a:rPr>
              <a:t>Revolts in Berlin and Bavaria</a:t>
            </a:r>
          </a:p>
        </p:txBody>
      </p:sp>
      <p:sp>
        <p:nvSpPr>
          <p:cNvPr id="5131" name="Text Box 11"/>
          <p:cNvSpPr txBox="1">
            <a:spLocks noChangeArrowheads="1"/>
          </p:cNvSpPr>
          <p:nvPr/>
        </p:nvSpPr>
        <p:spPr bwMode="auto">
          <a:xfrm>
            <a:off x="5148263" y="2205038"/>
            <a:ext cx="3600450" cy="2838450"/>
          </a:xfrm>
          <a:prstGeom prst="rect">
            <a:avLst/>
          </a:prstGeom>
          <a:noFill/>
          <a:ln w="9525">
            <a:noFill/>
            <a:miter lim="800000"/>
            <a:headEnd/>
            <a:tailEnd/>
          </a:ln>
          <a:effectLst/>
        </p:spPr>
        <p:txBody>
          <a:bodyPr>
            <a:spAutoFit/>
          </a:bodyPr>
          <a:lstStyle/>
          <a:p>
            <a:pPr algn="ctr">
              <a:spcBef>
                <a:spcPct val="50000"/>
              </a:spcBef>
            </a:pPr>
            <a:r>
              <a:rPr lang="en-US">
                <a:solidFill>
                  <a:schemeClr val="bg1"/>
                </a:solidFill>
              </a:rPr>
              <a:t>Again, people showed they did not want the new Republic by trying to take over in Berlin and Bavaria. In Bavaria, a new republic was declared by </a:t>
            </a:r>
            <a:r>
              <a:rPr lang="en-US">
                <a:solidFill>
                  <a:srgbClr val="FF0000"/>
                </a:solidFill>
              </a:rPr>
              <a:t>Communists</a:t>
            </a:r>
            <a:r>
              <a:rPr lang="en-US">
                <a:solidFill>
                  <a:schemeClr val="bg1"/>
                </a:solidFill>
              </a:rPr>
              <a:t> where houses and land were taken from the rich and given to the poor. However, Ebert had to rely on the Free Korps to destroy opposition.</a:t>
            </a:r>
          </a:p>
        </p:txBody>
      </p:sp>
      <p:pic>
        <p:nvPicPr>
          <p:cNvPr id="5132" name="Picture 12" descr="Kapp"/>
          <p:cNvPicPr>
            <a:picLocks noChangeAspect="1" noChangeArrowheads="1"/>
          </p:cNvPicPr>
          <p:nvPr/>
        </p:nvPicPr>
        <p:blipFill>
          <a:blip r:embed="rId3" cstate="print"/>
          <a:srcRect/>
          <a:stretch>
            <a:fillRect/>
          </a:stretch>
        </p:blipFill>
        <p:spPr bwMode="auto">
          <a:xfrm>
            <a:off x="827088" y="2060575"/>
            <a:ext cx="1852612" cy="2500313"/>
          </a:xfrm>
          <a:prstGeom prst="rect">
            <a:avLst/>
          </a:prstGeom>
          <a:noFill/>
          <a:ln w="9525">
            <a:noFill/>
            <a:miter lim="800000"/>
            <a:headEnd/>
            <a:tailEnd/>
          </a:ln>
        </p:spPr>
      </p:pic>
      <p:sp>
        <p:nvSpPr>
          <p:cNvPr id="5133" name="Text Box 13"/>
          <p:cNvSpPr txBox="1">
            <a:spLocks noChangeArrowheads="1"/>
          </p:cNvSpPr>
          <p:nvPr/>
        </p:nvSpPr>
        <p:spPr bwMode="auto">
          <a:xfrm>
            <a:off x="827088" y="4508500"/>
            <a:ext cx="1871662" cy="457200"/>
          </a:xfrm>
          <a:prstGeom prst="rect">
            <a:avLst/>
          </a:prstGeom>
          <a:solidFill>
            <a:schemeClr val="tx1"/>
          </a:solidFill>
          <a:ln w="9525">
            <a:noFill/>
            <a:miter lim="800000"/>
            <a:headEnd/>
            <a:tailEnd/>
          </a:ln>
          <a:effectLst/>
        </p:spPr>
        <p:txBody>
          <a:bodyPr>
            <a:spAutoFit/>
          </a:bodyPr>
          <a:lstStyle/>
          <a:p>
            <a:pPr algn="ctr">
              <a:spcBef>
                <a:spcPct val="50000"/>
              </a:spcBef>
            </a:pPr>
            <a:r>
              <a:rPr lang="en-US" sz="1200">
                <a:solidFill>
                  <a:schemeClr val="bg1"/>
                </a:solidFill>
              </a:rPr>
              <a:t>Wolfgang Kapp (leader of the Free Korps)</a:t>
            </a:r>
          </a:p>
        </p:txBody>
      </p:sp>
      <p:sp>
        <p:nvSpPr>
          <p:cNvPr id="5134" name="AutoShape 14"/>
          <p:cNvSpPr>
            <a:spLocks noChangeArrowheads="1"/>
          </p:cNvSpPr>
          <p:nvPr/>
        </p:nvSpPr>
        <p:spPr bwMode="auto">
          <a:xfrm>
            <a:off x="2555875" y="1700213"/>
            <a:ext cx="2447925" cy="1655762"/>
          </a:xfrm>
          <a:prstGeom prst="wedgeEllipseCallout">
            <a:avLst>
              <a:gd name="adj1" fmla="val -47926"/>
              <a:gd name="adj2" fmla="val 59491"/>
            </a:avLst>
          </a:prstGeom>
          <a:solidFill>
            <a:schemeClr val="accent1"/>
          </a:solidFill>
          <a:ln w="9525">
            <a:solidFill>
              <a:schemeClr val="tx1"/>
            </a:solidFill>
            <a:miter lim="800000"/>
            <a:headEnd/>
            <a:tailEnd/>
          </a:ln>
          <a:effectLst/>
        </p:spPr>
        <p:txBody>
          <a:bodyPr/>
          <a:lstStyle/>
          <a:p>
            <a:pPr algn="ctr"/>
            <a:r>
              <a:rPr lang="en-US"/>
              <a:t>Free Korps to the rescue…again!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5130"/>
                                        </p:tgtEl>
                                        <p:attrNameLst>
                                          <p:attrName>style.visibility</p:attrName>
                                        </p:attrNameLst>
                                      </p:cBhvr>
                                      <p:to>
                                        <p:strVal val="visible"/>
                                      </p:to>
                                    </p:set>
                                    <p:anim calcmode="discrete" valueType="clr">
                                      <p:cBhvr override="childStyle">
                                        <p:cTn id="7" dur="80"/>
                                        <p:tgtEl>
                                          <p:spTgt spid="5130"/>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5130"/>
                                        </p:tgtEl>
                                        <p:attrNameLst>
                                          <p:attrName>fillcolor</p:attrName>
                                        </p:attrNameLst>
                                      </p:cBhvr>
                                      <p:tavLst>
                                        <p:tav tm="0">
                                          <p:val>
                                            <p:clrVal>
                                              <a:schemeClr val="accent2"/>
                                            </p:clrVal>
                                          </p:val>
                                        </p:tav>
                                        <p:tav tm="50000">
                                          <p:val>
                                            <p:clrVal>
                                              <a:schemeClr val="hlink"/>
                                            </p:clrVal>
                                          </p:val>
                                        </p:tav>
                                      </p:tavLst>
                                    </p:anim>
                                    <p:set>
                                      <p:cBhvr>
                                        <p:cTn id="9" dur="80"/>
                                        <p:tgtEl>
                                          <p:spTgt spid="5130"/>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8" presetClass="entr" presetSubtype="16" fill="hold" grpId="0" nodeType="clickEffect">
                                  <p:stCondLst>
                                    <p:cond delay="0"/>
                                  </p:stCondLst>
                                  <p:childTnLst>
                                    <p:set>
                                      <p:cBhvr>
                                        <p:cTn id="13" dur="1" fill="hold">
                                          <p:stCondLst>
                                            <p:cond delay="0"/>
                                          </p:stCondLst>
                                        </p:cTn>
                                        <p:tgtEl>
                                          <p:spTgt spid="5131"/>
                                        </p:tgtEl>
                                        <p:attrNameLst>
                                          <p:attrName>style.visibility</p:attrName>
                                        </p:attrNameLst>
                                      </p:cBhvr>
                                      <p:to>
                                        <p:strVal val="visible"/>
                                      </p:to>
                                    </p:set>
                                    <p:animEffect transition="in" filter="diamond(in)">
                                      <p:cBhvr>
                                        <p:cTn id="14" dur="2000"/>
                                        <p:tgtEl>
                                          <p:spTgt spid="5131"/>
                                        </p:tgtEl>
                                      </p:cBhvr>
                                    </p:animEffect>
                                  </p:childTnLst>
                                </p:cTn>
                              </p:par>
                            </p:childTnLst>
                          </p:cTn>
                        </p:par>
                      </p:childTnLst>
                    </p:cTn>
                  </p:par>
                  <p:par>
                    <p:cTn id="15" fill="hold">
                      <p:stCondLst>
                        <p:cond delay="indefinite"/>
                      </p:stCondLst>
                      <p:childTnLst>
                        <p:par>
                          <p:cTn id="16" fill="hold">
                            <p:stCondLst>
                              <p:cond delay="0"/>
                            </p:stCondLst>
                            <p:childTnLst>
                              <p:par>
                                <p:cTn id="17" presetID="49" presetClass="entr" presetSubtype="0" decel="100000" fill="hold" nodeType="clickEffect">
                                  <p:stCondLst>
                                    <p:cond delay="0"/>
                                  </p:stCondLst>
                                  <p:childTnLst>
                                    <p:set>
                                      <p:cBhvr>
                                        <p:cTn id="18" dur="1" fill="hold">
                                          <p:stCondLst>
                                            <p:cond delay="0"/>
                                          </p:stCondLst>
                                        </p:cTn>
                                        <p:tgtEl>
                                          <p:spTgt spid="5132"/>
                                        </p:tgtEl>
                                        <p:attrNameLst>
                                          <p:attrName>style.visibility</p:attrName>
                                        </p:attrNameLst>
                                      </p:cBhvr>
                                      <p:to>
                                        <p:strVal val="visible"/>
                                      </p:to>
                                    </p:set>
                                    <p:anim calcmode="lin" valueType="num">
                                      <p:cBhvr>
                                        <p:cTn id="19" dur="2000" fill="hold"/>
                                        <p:tgtEl>
                                          <p:spTgt spid="5132"/>
                                        </p:tgtEl>
                                        <p:attrNameLst>
                                          <p:attrName>ppt_w</p:attrName>
                                        </p:attrNameLst>
                                      </p:cBhvr>
                                      <p:tavLst>
                                        <p:tav tm="0">
                                          <p:val>
                                            <p:fltVal val="0"/>
                                          </p:val>
                                        </p:tav>
                                        <p:tav tm="100000">
                                          <p:val>
                                            <p:strVal val="#ppt_w"/>
                                          </p:val>
                                        </p:tav>
                                      </p:tavLst>
                                    </p:anim>
                                    <p:anim calcmode="lin" valueType="num">
                                      <p:cBhvr>
                                        <p:cTn id="20" dur="2000" fill="hold"/>
                                        <p:tgtEl>
                                          <p:spTgt spid="5132"/>
                                        </p:tgtEl>
                                        <p:attrNameLst>
                                          <p:attrName>ppt_h</p:attrName>
                                        </p:attrNameLst>
                                      </p:cBhvr>
                                      <p:tavLst>
                                        <p:tav tm="0">
                                          <p:val>
                                            <p:fltVal val="0"/>
                                          </p:val>
                                        </p:tav>
                                        <p:tav tm="100000">
                                          <p:val>
                                            <p:strVal val="#ppt_h"/>
                                          </p:val>
                                        </p:tav>
                                      </p:tavLst>
                                    </p:anim>
                                    <p:anim calcmode="lin" valueType="num">
                                      <p:cBhvr>
                                        <p:cTn id="21" dur="2000" fill="hold"/>
                                        <p:tgtEl>
                                          <p:spTgt spid="5132"/>
                                        </p:tgtEl>
                                        <p:attrNameLst>
                                          <p:attrName>style.rotation</p:attrName>
                                        </p:attrNameLst>
                                      </p:cBhvr>
                                      <p:tavLst>
                                        <p:tav tm="0">
                                          <p:val>
                                            <p:fltVal val="360"/>
                                          </p:val>
                                        </p:tav>
                                        <p:tav tm="100000">
                                          <p:val>
                                            <p:fltVal val="0"/>
                                          </p:val>
                                        </p:tav>
                                      </p:tavLst>
                                    </p:anim>
                                    <p:animEffect transition="in" filter="fade">
                                      <p:cBhvr>
                                        <p:cTn id="22" dur="2000"/>
                                        <p:tgtEl>
                                          <p:spTgt spid="5132"/>
                                        </p:tgtEl>
                                      </p:cBhvr>
                                    </p:animEffect>
                                  </p:childTnLst>
                                </p:cTn>
                              </p:par>
                              <p:par>
                                <p:cTn id="23" presetID="49" presetClass="entr" presetSubtype="0" decel="100000" fill="hold" grpId="0" nodeType="withEffect">
                                  <p:stCondLst>
                                    <p:cond delay="0"/>
                                  </p:stCondLst>
                                  <p:childTnLst>
                                    <p:set>
                                      <p:cBhvr>
                                        <p:cTn id="24" dur="1" fill="hold">
                                          <p:stCondLst>
                                            <p:cond delay="0"/>
                                          </p:stCondLst>
                                        </p:cTn>
                                        <p:tgtEl>
                                          <p:spTgt spid="5133"/>
                                        </p:tgtEl>
                                        <p:attrNameLst>
                                          <p:attrName>style.visibility</p:attrName>
                                        </p:attrNameLst>
                                      </p:cBhvr>
                                      <p:to>
                                        <p:strVal val="visible"/>
                                      </p:to>
                                    </p:set>
                                    <p:anim calcmode="lin" valueType="num">
                                      <p:cBhvr>
                                        <p:cTn id="25" dur="2000" fill="hold"/>
                                        <p:tgtEl>
                                          <p:spTgt spid="5133"/>
                                        </p:tgtEl>
                                        <p:attrNameLst>
                                          <p:attrName>ppt_w</p:attrName>
                                        </p:attrNameLst>
                                      </p:cBhvr>
                                      <p:tavLst>
                                        <p:tav tm="0">
                                          <p:val>
                                            <p:fltVal val="0"/>
                                          </p:val>
                                        </p:tav>
                                        <p:tav tm="100000">
                                          <p:val>
                                            <p:strVal val="#ppt_w"/>
                                          </p:val>
                                        </p:tav>
                                      </p:tavLst>
                                    </p:anim>
                                    <p:anim calcmode="lin" valueType="num">
                                      <p:cBhvr>
                                        <p:cTn id="26" dur="2000" fill="hold"/>
                                        <p:tgtEl>
                                          <p:spTgt spid="5133"/>
                                        </p:tgtEl>
                                        <p:attrNameLst>
                                          <p:attrName>ppt_h</p:attrName>
                                        </p:attrNameLst>
                                      </p:cBhvr>
                                      <p:tavLst>
                                        <p:tav tm="0">
                                          <p:val>
                                            <p:fltVal val="0"/>
                                          </p:val>
                                        </p:tav>
                                        <p:tav tm="100000">
                                          <p:val>
                                            <p:strVal val="#ppt_h"/>
                                          </p:val>
                                        </p:tav>
                                      </p:tavLst>
                                    </p:anim>
                                    <p:anim calcmode="lin" valueType="num">
                                      <p:cBhvr>
                                        <p:cTn id="27" dur="2000" fill="hold"/>
                                        <p:tgtEl>
                                          <p:spTgt spid="5133"/>
                                        </p:tgtEl>
                                        <p:attrNameLst>
                                          <p:attrName>style.rotation</p:attrName>
                                        </p:attrNameLst>
                                      </p:cBhvr>
                                      <p:tavLst>
                                        <p:tav tm="0">
                                          <p:val>
                                            <p:fltVal val="360"/>
                                          </p:val>
                                        </p:tav>
                                        <p:tav tm="100000">
                                          <p:val>
                                            <p:fltVal val="0"/>
                                          </p:val>
                                        </p:tav>
                                      </p:tavLst>
                                    </p:anim>
                                    <p:animEffect transition="in" filter="fade">
                                      <p:cBhvr>
                                        <p:cTn id="28" dur="2000"/>
                                        <p:tgtEl>
                                          <p:spTgt spid="5133"/>
                                        </p:tgtEl>
                                      </p:cBhvr>
                                    </p:animEffect>
                                  </p:childTnLst>
                                </p:cTn>
                              </p:par>
                              <p:par>
                                <p:cTn id="29" presetID="49" presetClass="entr" presetSubtype="0" decel="100000" fill="hold" grpId="0" nodeType="withEffect">
                                  <p:stCondLst>
                                    <p:cond delay="0"/>
                                  </p:stCondLst>
                                  <p:childTnLst>
                                    <p:set>
                                      <p:cBhvr>
                                        <p:cTn id="30" dur="1" fill="hold">
                                          <p:stCondLst>
                                            <p:cond delay="0"/>
                                          </p:stCondLst>
                                        </p:cTn>
                                        <p:tgtEl>
                                          <p:spTgt spid="5134"/>
                                        </p:tgtEl>
                                        <p:attrNameLst>
                                          <p:attrName>style.visibility</p:attrName>
                                        </p:attrNameLst>
                                      </p:cBhvr>
                                      <p:to>
                                        <p:strVal val="visible"/>
                                      </p:to>
                                    </p:set>
                                    <p:anim calcmode="lin" valueType="num">
                                      <p:cBhvr>
                                        <p:cTn id="31" dur="2000" fill="hold"/>
                                        <p:tgtEl>
                                          <p:spTgt spid="5134"/>
                                        </p:tgtEl>
                                        <p:attrNameLst>
                                          <p:attrName>ppt_w</p:attrName>
                                        </p:attrNameLst>
                                      </p:cBhvr>
                                      <p:tavLst>
                                        <p:tav tm="0">
                                          <p:val>
                                            <p:fltVal val="0"/>
                                          </p:val>
                                        </p:tav>
                                        <p:tav tm="100000">
                                          <p:val>
                                            <p:strVal val="#ppt_w"/>
                                          </p:val>
                                        </p:tav>
                                      </p:tavLst>
                                    </p:anim>
                                    <p:anim calcmode="lin" valueType="num">
                                      <p:cBhvr>
                                        <p:cTn id="32" dur="2000" fill="hold"/>
                                        <p:tgtEl>
                                          <p:spTgt spid="5134"/>
                                        </p:tgtEl>
                                        <p:attrNameLst>
                                          <p:attrName>ppt_h</p:attrName>
                                        </p:attrNameLst>
                                      </p:cBhvr>
                                      <p:tavLst>
                                        <p:tav tm="0">
                                          <p:val>
                                            <p:fltVal val="0"/>
                                          </p:val>
                                        </p:tav>
                                        <p:tav tm="100000">
                                          <p:val>
                                            <p:strVal val="#ppt_h"/>
                                          </p:val>
                                        </p:tav>
                                      </p:tavLst>
                                    </p:anim>
                                    <p:anim calcmode="lin" valueType="num">
                                      <p:cBhvr>
                                        <p:cTn id="33" dur="2000" fill="hold"/>
                                        <p:tgtEl>
                                          <p:spTgt spid="5134"/>
                                        </p:tgtEl>
                                        <p:attrNameLst>
                                          <p:attrName>style.rotation</p:attrName>
                                        </p:attrNameLst>
                                      </p:cBhvr>
                                      <p:tavLst>
                                        <p:tav tm="0">
                                          <p:val>
                                            <p:fltVal val="360"/>
                                          </p:val>
                                        </p:tav>
                                        <p:tav tm="100000">
                                          <p:val>
                                            <p:fltVal val="0"/>
                                          </p:val>
                                        </p:tav>
                                      </p:tavLst>
                                    </p:anim>
                                    <p:animEffect transition="in" filter="fade">
                                      <p:cBhvr>
                                        <p:cTn id="34" dur="2000"/>
                                        <p:tgtEl>
                                          <p:spTgt spid="5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 grpId="0"/>
      <p:bldP spid="5131" grpId="0"/>
      <p:bldP spid="5133" grpId="0" animBg="1"/>
      <p:bldP spid="513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p:cNvSpPr>
            <a:spLocks noChangeArrowheads="1"/>
          </p:cNvSpPr>
          <p:nvPr/>
        </p:nvSpPr>
        <p:spPr bwMode="auto">
          <a:xfrm>
            <a:off x="468313" y="188913"/>
            <a:ext cx="8229600" cy="922337"/>
          </a:xfrm>
          <a:prstGeom prst="rect">
            <a:avLst/>
          </a:prstGeom>
          <a:noFill/>
          <a:ln w="9525">
            <a:noFill/>
            <a:miter lim="800000"/>
            <a:headEnd/>
            <a:tailEnd/>
          </a:ln>
          <a:effectLst/>
        </p:spPr>
        <p:txBody>
          <a:bodyPr anchor="ctr"/>
          <a:lstStyle/>
          <a:p>
            <a:pPr algn="ctr"/>
            <a:r>
              <a:rPr lang="en-US" sz="4400" u="sng">
                <a:solidFill>
                  <a:srgbClr val="FF66CC"/>
                </a:solidFill>
                <a:latin typeface="Kristen ITC" pitchFamily="66" charset="0"/>
              </a:rPr>
              <a:t>The Kapp Putsch</a:t>
            </a:r>
          </a:p>
        </p:txBody>
      </p:sp>
      <p:sp>
        <p:nvSpPr>
          <p:cNvPr id="10248" name="Text Box 8"/>
          <p:cNvSpPr txBox="1">
            <a:spLocks noChangeArrowheads="1"/>
          </p:cNvSpPr>
          <p:nvPr/>
        </p:nvSpPr>
        <p:spPr bwMode="auto">
          <a:xfrm>
            <a:off x="3132138" y="1700213"/>
            <a:ext cx="5400675" cy="2976562"/>
          </a:xfrm>
          <a:prstGeom prst="rect">
            <a:avLst/>
          </a:prstGeom>
          <a:noFill/>
          <a:ln w="9525">
            <a:noFill/>
            <a:miter lim="800000"/>
            <a:headEnd/>
            <a:tailEnd/>
          </a:ln>
          <a:effectLst/>
        </p:spPr>
        <p:txBody>
          <a:bodyPr>
            <a:spAutoFit/>
          </a:bodyPr>
          <a:lstStyle/>
          <a:p>
            <a:pPr>
              <a:spcBef>
                <a:spcPct val="50000"/>
              </a:spcBef>
            </a:pPr>
            <a:r>
              <a:rPr lang="en-US">
                <a:solidFill>
                  <a:schemeClr val="bg1"/>
                </a:solidFill>
              </a:rPr>
              <a:t>The Treaty of Versailles ordered the reduction of the Army and it also told the Government to disband the ‘Free Korps’. Therefore, Ebert had no choice but to do exactly that. However, its leader (Wolfgang Kapp) decided to try and seize power by force (a putsch). Kapp had the support of the Army and the police and the putsch took place in March 1920 in Berlin. </a:t>
            </a:r>
          </a:p>
          <a:p>
            <a:pPr>
              <a:spcBef>
                <a:spcPct val="50000"/>
              </a:spcBef>
            </a:pPr>
            <a:r>
              <a:rPr lang="en-US">
                <a:solidFill>
                  <a:schemeClr val="bg1"/>
                </a:solidFill>
              </a:rPr>
              <a:t>However, the people of Berlin organized a General Strike and managed to save the Weimar Republic</a:t>
            </a:r>
            <a:r>
              <a:rPr lang="en-US"/>
              <a:t>.</a:t>
            </a:r>
          </a:p>
        </p:txBody>
      </p:sp>
      <p:sp>
        <p:nvSpPr>
          <p:cNvPr id="10249" name="Text Box 9"/>
          <p:cNvSpPr txBox="1">
            <a:spLocks noChangeArrowheads="1"/>
          </p:cNvSpPr>
          <p:nvPr/>
        </p:nvSpPr>
        <p:spPr bwMode="auto">
          <a:xfrm>
            <a:off x="611188" y="5013325"/>
            <a:ext cx="8137525" cy="1555750"/>
          </a:xfrm>
          <a:prstGeom prst="rect">
            <a:avLst/>
          </a:prstGeom>
          <a:noFill/>
          <a:ln w="9525">
            <a:noFill/>
            <a:miter lim="800000"/>
            <a:headEnd/>
            <a:tailEnd/>
          </a:ln>
          <a:effectLst/>
        </p:spPr>
        <p:txBody>
          <a:bodyPr>
            <a:spAutoFit/>
          </a:bodyPr>
          <a:lstStyle/>
          <a:p>
            <a:pPr algn="ctr">
              <a:spcBef>
                <a:spcPct val="50000"/>
              </a:spcBef>
            </a:pPr>
            <a:r>
              <a:rPr lang="en-US" sz="4800">
                <a:solidFill>
                  <a:schemeClr val="accent1"/>
                </a:solidFill>
                <a:latin typeface="Ravie" pitchFamily="82" charset="0"/>
              </a:rPr>
              <a:t>Opposition from the </a:t>
            </a:r>
            <a:r>
              <a:rPr lang="en-US" sz="4800">
                <a:solidFill>
                  <a:srgbClr val="FF0000"/>
                </a:solidFill>
                <a:latin typeface="Ravie" pitchFamily="82" charset="0"/>
              </a:rPr>
              <a:t>RIGHT</a:t>
            </a:r>
          </a:p>
        </p:txBody>
      </p:sp>
      <p:pic>
        <p:nvPicPr>
          <p:cNvPr id="10250" name="Picture 10" descr="Kapp"/>
          <p:cNvPicPr>
            <a:picLocks noChangeAspect="1" noChangeArrowheads="1"/>
          </p:cNvPicPr>
          <p:nvPr/>
        </p:nvPicPr>
        <p:blipFill>
          <a:blip r:embed="rId3" cstate="print"/>
          <a:srcRect/>
          <a:stretch>
            <a:fillRect/>
          </a:stretch>
        </p:blipFill>
        <p:spPr bwMode="auto">
          <a:xfrm>
            <a:off x="539750" y="1700213"/>
            <a:ext cx="1852613" cy="2500312"/>
          </a:xfrm>
          <a:prstGeom prst="rect">
            <a:avLst/>
          </a:prstGeom>
          <a:noFill/>
          <a:ln w="9525">
            <a:noFill/>
            <a:miter lim="800000"/>
            <a:headEnd/>
            <a:tailEnd/>
          </a:ln>
        </p:spPr>
      </p:pic>
      <p:sp>
        <p:nvSpPr>
          <p:cNvPr id="10251" name="Text Box 11"/>
          <p:cNvSpPr txBox="1">
            <a:spLocks noChangeArrowheads="1"/>
          </p:cNvSpPr>
          <p:nvPr/>
        </p:nvSpPr>
        <p:spPr bwMode="auto">
          <a:xfrm>
            <a:off x="539750" y="4148138"/>
            <a:ext cx="1871663" cy="457200"/>
          </a:xfrm>
          <a:prstGeom prst="rect">
            <a:avLst/>
          </a:prstGeom>
          <a:solidFill>
            <a:schemeClr val="tx1"/>
          </a:solidFill>
          <a:ln w="9525">
            <a:noFill/>
            <a:miter lim="800000"/>
            <a:headEnd/>
            <a:tailEnd/>
          </a:ln>
          <a:effectLst/>
        </p:spPr>
        <p:txBody>
          <a:bodyPr>
            <a:spAutoFit/>
          </a:bodyPr>
          <a:lstStyle/>
          <a:p>
            <a:pPr algn="ctr">
              <a:spcBef>
                <a:spcPct val="50000"/>
              </a:spcBef>
            </a:pPr>
            <a:r>
              <a:rPr lang="en-US" sz="1200">
                <a:solidFill>
                  <a:schemeClr val="bg1"/>
                </a:solidFill>
              </a:rPr>
              <a:t>Wolfgang Kapp (leader of the Free Korps)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ntr" presetSubtype="0" fill="hold" grpId="0" nodeType="clickEffect">
                                  <p:stCondLst>
                                    <p:cond delay="0"/>
                                  </p:stCondLst>
                                  <p:iterate type="lt">
                                    <p:tmPct val="50000"/>
                                  </p:iterate>
                                  <p:childTnLst>
                                    <p:set>
                                      <p:cBhvr>
                                        <p:cTn id="6" dur="1" fill="hold">
                                          <p:stCondLst>
                                            <p:cond delay="0"/>
                                          </p:stCondLst>
                                        </p:cTn>
                                        <p:tgtEl>
                                          <p:spTgt spid="10244"/>
                                        </p:tgtEl>
                                        <p:attrNameLst>
                                          <p:attrName>style.visibility</p:attrName>
                                        </p:attrNameLst>
                                      </p:cBhvr>
                                      <p:to>
                                        <p:strVal val="visible"/>
                                      </p:to>
                                    </p:set>
                                    <p:anim calcmode="discrete" valueType="clr">
                                      <p:cBhvr override="childStyle">
                                        <p:cTn id="7" dur="80"/>
                                        <p:tgtEl>
                                          <p:spTgt spid="10244"/>
                                        </p:tgtEl>
                                        <p:attrNameLst>
                                          <p:attrName>style.color</p:attrName>
                                        </p:attrNameLst>
                                      </p:cBhvr>
                                      <p:tavLst>
                                        <p:tav tm="0">
                                          <p:val>
                                            <p:clrVal>
                                              <a:schemeClr val="accent2"/>
                                            </p:clrVal>
                                          </p:val>
                                        </p:tav>
                                        <p:tav tm="50000">
                                          <p:val>
                                            <p:clrVal>
                                              <a:schemeClr val="hlink"/>
                                            </p:clrVal>
                                          </p:val>
                                        </p:tav>
                                      </p:tavLst>
                                    </p:anim>
                                    <p:anim calcmode="discrete" valueType="clr">
                                      <p:cBhvr>
                                        <p:cTn id="8" dur="80"/>
                                        <p:tgtEl>
                                          <p:spTgt spid="10244"/>
                                        </p:tgtEl>
                                        <p:attrNameLst>
                                          <p:attrName>fillcolor</p:attrName>
                                        </p:attrNameLst>
                                      </p:cBhvr>
                                      <p:tavLst>
                                        <p:tav tm="0">
                                          <p:val>
                                            <p:clrVal>
                                              <a:schemeClr val="accent2"/>
                                            </p:clrVal>
                                          </p:val>
                                        </p:tav>
                                        <p:tav tm="50000">
                                          <p:val>
                                            <p:clrVal>
                                              <a:schemeClr val="hlink"/>
                                            </p:clrVal>
                                          </p:val>
                                        </p:tav>
                                      </p:tavLst>
                                    </p:anim>
                                    <p:set>
                                      <p:cBhvr>
                                        <p:cTn id="9" dur="80"/>
                                        <p:tgtEl>
                                          <p:spTgt spid="10244"/>
                                        </p:tgtEl>
                                        <p:attrNameLst>
                                          <p:attrName>fill.type</p:attrName>
                                        </p:attrNameLst>
                                      </p:cBhvr>
                                      <p:to>
                                        <p:strVal val="solid"/>
                                      </p:to>
                                    </p:set>
                                  </p:childTnLst>
                                </p:cTn>
                              </p:par>
                            </p:childTnLst>
                          </p:cTn>
                        </p:par>
                      </p:childTnLst>
                    </p:cTn>
                  </p:par>
                  <p:par>
                    <p:cTn id="10" fill="hold">
                      <p:stCondLst>
                        <p:cond delay="indefinite"/>
                      </p:stCondLst>
                      <p:childTnLst>
                        <p:par>
                          <p:cTn id="11" fill="hold">
                            <p:stCondLst>
                              <p:cond delay="0"/>
                            </p:stCondLst>
                            <p:childTnLst>
                              <p:par>
                                <p:cTn id="12" presetID="4" presetClass="entr" presetSubtype="16" fill="hold" grpId="0" nodeType="clickEffect">
                                  <p:stCondLst>
                                    <p:cond delay="0"/>
                                  </p:stCondLst>
                                  <p:childTnLst>
                                    <p:set>
                                      <p:cBhvr>
                                        <p:cTn id="13" dur="1" fill="hold">
                                          <p:stCondLst>
                                            <p:cond delay="0"/>
                                          </p:stCondLst>
                                        </p:cTn>
                                        <p:tgtEl>
                                          <p:spTgt spid="10248"/>
                                        </p:tgtEl>
                                        <p:attrNameLst>
                                          <p:attrName>style.visibility</p:attrName>
                                        </p:attrNameLst>
                                      </p:cBhvr>
                                      <p:to>
                                        <p:strVal val="visible"/>
                                      </p:to>
                                    </p:set>
                                    <p:animEffect transition="in" filter="box(in)">
                                      <p:cBhvr>
                                        <p:cTn id="14" dur="500"/>
                                        <p:tgtEl>
                                          <p:spTgt spid="10248"/>
                                        </p:tgtEl>
                                      </p:cBhvr>
                                    </p:animEffect>
                                  </p:childTnLst>
                                </p:cTn>
                              </p:par>
                              <p:par>
                                <p:cTn id="15" presetID="4" presetClass="entr" presetSubtype="16" fill="hold" nodeType="withEffect">
                                  <p:stCondLst>
                                    <p:cond delay="0"/>
                                  </p:stCondLst>
                                  <p:childTnLst>
                                    <p:set>
                                      <p:cBhvr>
                                        <p:cTn id="16" dur="1" fill="hold">
                                          <p:stCondLst>
                                            <p:cond delay="0"/>
                                          </p:stCondLst>
                                        </p:cTn>
                                        <p:tgtEl>
                                          <p:spTgt spid="10250"/>
                                        </p:tgtEl>
                                        <p:attrNameLst>
                                          <p:attrName>style.visibility</p:attrName>
                                        </p:attrNameLst>
                                      </p:cBhvr>
                                      <p:to>
                                        <p:strVal val="visible"/>
                                      </p:to>
                                    </p:set>
                                    <p:animEffect transition="in" filter="box(in)">
                                      <p:cBhvr>
                                        <p:cTn id="17" dur="500"/>
                                        <p:tgtEl>
                                          <p:spTgt spid="10250"/>
                                        </p:tgtEl>
                                      </p:cBhvr>
                                    </p:animEffect>
                                  </p:childTnLst>
                                </p:cTn>
                              </p:par>
                              <p:par>
                                <p:cTn id="18" presetID="4" presetClass="entr" presetSubtype="16" fill="hold" grpId="0" nodeType="withEffect">
                                  <p:stCondLst>
                                    <p:cond delay="0"/>
                                  </p:stCondLst>
                                  <p:childTnLst>
                                    <p:set>
                                      <p:cBhvr>
                                        <p:cTn id="19" dur="1" fill="hold">
                                          <p:stCondLst>
                                            <p:cond delay="0"/>
                                          </p:stCondLst>
                                        </p:cTn>
                                        <p:tgtEl>
                                          <p:spTgt spid="10251"/>
                                        </p:tgtEl>
                                        <p:attrNameLst>
                                          <p:attrName>style.visibility</p:attrName>
                                        </p:attrNameLst>
                                      </p:cBhvr>
                                      <p:to>
                                        <p:strVal val="visible"/>
                                      </p:to>
                                    </p:set>
                                    <p:animEffect transition="in" filter="box(in)">
                                      <p:cBhvr>
                                        <p:cTn id="20" dur="500"/>
                                        <p:tgtEl>
                                          <p:spTgt spid="10251"/>
                                        </p:tgtEl>
                                      </p:cBhvr>
                                    </p:animEffect>
                                  </p:childTnLst>
                                </p:cTn>
                              </p:par>
                            </p:childTnLst>
                          </p:cTn>
                        </p:par>
                      </p:childTnLst>
                    </p:cTn>
                  </p:par>
                  <p:par>
                    <p:cTn id="21" fill="hold">
                      <p:stCondLst>
                        <p:cond delay="indefinite"/>
                      </p:stCondLst>
                      <p:childTnLst>
                        <p:par>
                          <p:cTn id="22" fill="hold">
                            <p:stCondLst>
                              <p:cond delay="0"/>
                            </p:stCondLst>
                            <p:childTnLst>
                              <p:par>
                                <p:cTn id="23" presetID="27" presetClass="entr" presetSubtype="0" fill="hold" grpId="0" nodeType="clickEffect">
                                  <p:stCondLst>
                                    <p:cond delay="0"/>
                                  </p:stCondLst>
                                  <p:iterate type="lt">
                                    <p:tmPct val="50000"/>
                                  </p:iterate>
                                  <p:childTnLst>
                                    <p:set>
                                      <p:cBhvr>
                                        <p:cTn id="24" dur="1" fill="hold">
                                          <p:stCondLst>
                                            <p:cond delay="0"/>
                                          </p:stCondLst>
                                        </p:cTn>
                                        <p:tgtEl>
                                          <p:spTgt spid="10249"/>
                                        </p:tgtEl>
                                        <p:attrNameLst>
                                          <p:attrName>style.visibility</p:attrName>
                                        </p:attrNameLst>
                                      </p:cBhvr>
                                      <p:to>
                                        <p:strVal val="visible"/>
                                      </p:to>
                                    </p:set>
                                    <p:anim calcmode="discrete" valueType="clr">
                                      <p:cBhvr override="childStyle">
                                        <p:cTn id="25" dur="80"/>
                                        <p:tgtEl>
                                          <p:spTgt spid="10249"/>
                                        </p:tgtEl>
                                        <p:attrNameLst>
                                          <p:attrName>style.color</p:attrName>
                                        </p:attrNameLst>
                                      </p:cBhvr>
                                      <p:tavLst>
                                        <p:tav tm="0">
                                          <p:val>
                                            <p:clrVal>
                                              <a:schemeClr val="accent2"/>
                                            </p:clrVal>
                                          </p:val>
                                        </p:tav>
                                        <p:tav tm="50000">
                                          <p:val>
                                            <p:clrVal>
                                              <a:schemeClr val="hlink"/>
                                            </p:clrVal>
                                          </p:val>
                                        </p:tav>
                                      </p:tavLst>
                                    </p:anim>
                                    <p:anim calcmode="discrete" valueType="clr">
                                      <p:cBhvr>
                                        <p:cTn id="26" dur="80"/>
                                        <p:tgtEl>
                                          <p:spTgt spid="10249"/>
                                        </p:tgtEl>
                                        <p:attrNameLst>
                                          <p:attrName>fillcolor</p:attrName>
                                        </p:attrNameLst>
                                      </p:cBhvr>
                                      <p:tavLst>
                                        <p:tav tm="0">
                                          <p:val>
                                            <p:clrVal>
                                              <a:schemeClr val="accent2"/>
                                            </p:clrVal>
                                          </p:val>
                                        </p:tav>
                                        <p:tav tm="50000">
                                          <p:val>
                                            <p:clrVal>
                                              <a:schemeClr val="hlink"/>
                                            </p:clrVal>
                                          </p:val>
                                        </p:tav>
                                      </p:tavLst>
                                    </p:anim>
                                    <p:set>
                                      <p:cBhvr>
                                        <p:cTn id="27" dur="80"/>
                                        <p:tgtEl>
                                          <p:spTgt spid="10249"/>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p:bldP spid="10248" grpId="0"/>
      <p:bldP spid="10249" grpId="0"/>
      <p:bldP spid="1025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Text Box 4"/>
          <p:cNvSpPr txBox="1">
            <a:spLocks noChangeArrowheads="1"/>
          </p:cNvSpPr>
          <p:nvPr/>
        </p:nvSpPr>
        <p:spPr bwMode="auto">
          <a:xfrm>
            <a:off x="1042988" y="1052513"/>
            <a:ext cx="7129462" cy="3533775"/>
          </a:xfrm>
          <a:prstGeom prst="rect">
            <a:avLst/>
          </a:prstGeom>
          <a:noFill/>
          <a:ln w="9525">
            <a:noFill/>
            <a:miter lim="800000"/>
            <a:headEnd/>
            <a:tailEnd/>
          </a:ln>
          <a:effectLst/>
        </p:spPr>
        <p:txBody>
          <a:bodyPr>
            <a:spAutoFit/>
          </a:bodyPr>
          <a:lstStyle/>
          <a:p>
            <a:pPr algn="ctr">
              <a:spcBef>
                <a:spcPct val="50000"/>
              </a:spcBef>
            </a:pPr>
            <a:r>
              <a:rPr lang="en-US" sz="2800">
                <a:solidFill>
                  <a:srgbClr val="FFFF66"/>
                </a:solidFill>
                <a:latin typeface="Kristen ITC" pitchFamily="66" charset="0"/>
              </a:rPr>
              <a:t>What comes next?</a:t>
            </a:r>
          </a:p>
          <a:p>
            <a:pPr algn="ctr">
              <a:spcBef>
                <a:spcPct val="50000"/>
              </a:spcBef>
            </a:pPr>
            <a:r>
              <a:rPr lang="en-GB" sz="4400">
                <a:solidFill>
                  <a:srgbClr val="FFFF66"/>
                </a:solidFill>
                <a:latin typeface="Kristen ITC" pitchFamily="66" charset="0"/>
              </a:rPr>
              <a:t>What exactly was the Treaty of Versailles and how did Germany react to it?</a:t>
            </a:r>
            <a:endParaRPr lang="en-US" sz="4400">
              <a:solidFill>
                <a:srgbClr val="FFFF66"/>
              </a:solidFill>
              <a:latin typeface="Kristen ITC" pitchFamily="66"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grpId="0" nodeType="clickEffect">
                                  <p:stCondLst>
                                    <p:cond delay="0"/>
                                  </p:stCondLst>
                                  <p:childTnLst>
                                    <p:set>
                                      <p:cBhvr>
                                        <p:cTn id="6" dur="1" fill="hold">
                                          <p:stCondLst>
                                            <p:cond delay="0"/>
                                          </p:stCondLst>
                                        </p:cTn>
                                        <p:tgtEl>
                                          <p:spTgt spid="12292"/>
                                        </p:tgtEl>
                                        <p:attrNameLst>
                                          <p:attrName>style.visibility</p:attrName>
                                        </p:attrNameLst>
                                      </p:cBhvr>
                                      <p:to>
                                        <p:strVal val="visible"/>
                                      </p:to>
                                    </p:set>
                                    <p:anim calcmode="lin" valueType="num">
                                      <p:cBhvr>
                                        <p:cTn id="7" dur="2000" fill="hold"/>
                                        <p:tgtEl>
                                          <p:spTgt spid="12292"/>
                                        </p:tgtEl>
                                        <p:attrNameLst>
                                          <p:attrName>ppt_w</p:attrName>
                                        </p:attrNameLst>
                                      </p:cBhvr>
                                      <p:tavLst>
                                        <p:tav tm="0">
                                          <p:val>
                                            <p:fltVal val="0"/>
                                          </p:val>
                                        </p:tav>
                                        <p:tav tm="100000">
                                          <p:val>
                                            <p:strVal val="#ppt_w"/>
                                          </p:val>
                                        </p:tav>
                                      </p:tavLst>
                                    </p:anim>
                                    <p:anim calcmode="lin" valueType="num">
                                      <p:cBhvr>
                                        <p:cTn id="8" dur="2000" fill="hold"/>
                                        <p:tgtEl>
                                          <p:spTgt spid="12292"/>
                                        </p:tgtEl>
                                        <p:attrNameLst>
                                          <p:attrName>ppt_h</p:attrName>
                                        </p:attrNameLst>
                                      </p:cBhvr>
                                      <p:tavLst>
                                        <p:tav tm="0">
                                          <p:val>
                                            <p:fltVal val="0"/>
                                          </p:val>
                                        </p:tav>
                                        <p:tav tm="100000">
                                          <p:val>
                                            <p:strVal val="#ppt_h"/>
                                          </p:val>
                                        </p:tav>
                                      </p:tavLst>
                                    </p:anim>
                                    <p:anim calcmode="lin" valueType="num">
                                      <p:cBhvr>
                                        <p:cTn id="9" dur="2000" fill="hold"/>
                                        <p:tgtEl>
                                          <p:spTgt spid="12292"/>
                                        </p:tgtEl>
                                        <p:attrNameLst>
                                          <p:attrName>style.rotation</p:attrName>
                                        </p:attrNameLst>
                                      </p:cBhvr>
                                      <p:tavLst>
                                        <p:tav tm="0">
                                          <p:val>
                                            <p:fltVal val="360"/>
                                          </p:val>
                                        </p:tav>
                                        <p:tav tm="100000">
                                          <p:val>
                                            <p:fltVal val="0"/>
                                          </p:val>
                                        </p:tav>
                                      </p:tavLst>
                                    </p:anim>
                                    <p:animEffect transition="in" filter="fade">
                                      <p:cBhvr>
                                        <p:cTn id="10" dur="2000"/>
                                        <p:tgtEl>
                                          <p:spTgt spid="122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233</TotalTime>
  <Words>631</Words>
  <Application>Microsoft Office PowerPoint</Application>
  <PresentationFormat>On-screen Show (4:3)</PresentationFormat>
  <Paragraphs>45</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Chiller</vt:lpstr>
      <vt:lpstr>Kristen ITC</vt:lpstr>
      <vt:lpstr>Comic Sans MS</vt:lpstr>
      <vt:lpstr>Ravie</vt:lpstr>
      <vt:lpstr>Arial Black</vt:lpstr>
      <vt:lpstr>Default Design</vt:lpstr>
      <vt:lpstr>Slide 1</vt:lpstr>
      <vt:lpstr>Slide 2</vt:lpstr>
      <vt:lpstr>Slide 3</vt:lpstr>
      <vt:lpstr>The Spartacist Revolt</vt:lpstr>
      <vt:lpstr>Slide 5</vt:lpstr>
      <vt:lpstr>Slide 6</vt:lpstr>
      <vt:lpstr>Slide 7</vt:lpstr>
      <vt:lpstr>Slide 8</vt:lpstr>
      <vt:lpstr>Slide 9</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Administrator</dc:creator>
  <cp:lastModifiedBy>Robyn</cp:lastModifiedBy>
  <cp:revision>10</cp:revision>
  <dcterms:created xsi:type="dcterms:W3CDTF">1988-01-02T09:45:49Z</dcterms:created>
  <dcterms:modified xsi:type="dcterms:W3CDTF">2011-11-25T14:24:26Z</dcterms:modified>
</cp:coreProperties>
</file>
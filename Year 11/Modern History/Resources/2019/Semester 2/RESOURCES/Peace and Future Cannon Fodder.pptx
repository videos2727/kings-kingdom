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handoutMasterIdLst>
    <p:handoutMasterId r:id="rId13"/>
  </p:handoutMasterIdLst>
  <p:sldIdLst>
    <p:sldId id="256" r:id="rId2"/>
    <p:sldId id="257" r:id="rId3"/>
    <p:sldId id="267" r:id="rId4"/>
    <p:sldId id="260" r:id="rId5"/>
    <p:sldId id="261" r:id="rId6"/>
    <p:sldId id="262" r:id="rId7"/>
    <p:sldId id="264" r:id="rId8"/>
    <p:sldId id="265" r:id="rId9"/>
    <p:sldId id="266" r:id="rId10"/>
    <p:sldId id="263" r:id="rId11"/>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mn-ea"/>
        <a:cs typeface="+mn-cs"/>
      </a:defRPr>
    </a:lvl1pPr>
    <a:lvl2pPr marL="457200" algn="l" defTabSz="457200" rtl="0" fontAlgn="base">
      <a:spcBef>
        <a:spcPct val="0"/>
      </a:spcBef>
      <a:spcAft>
        <a:spcPct val="0"/>
      </a:spcAft>
      <a:defRPr kern="1200">
        <a:solidFill>
          <a:schemeClr val="tx1"/>
        </a:solidFill>
        <a:latin typeface="Arial" charset="0"/>
        <a:ea typeface="+mn-ea"/>
        <a:cs typeface="+mn-cs"/>
      </a:defRPr>
    </a:lvl2pPr>
    <a:lvl3pPr marL="914400" algn="l" defTabSz="457200" rtl="0" fontAlgn="base">
      <a:spcBef>
        <a:spcPct val="0"/>
      </a:spcBef>
      <a:spcAft>
        <a:spcPct val="0"/>
      </a:spcAft>
      <a:defRPr kern="1200">
        <a:solidFill>
          <a:schemeClr val="tx1"/>
        </a:solidFill>
        <a:latin typeface="Arial" charset="0"/>
        <a:ea typeface="+mn-ea"/>
        <a:cs typeface="+mn-cs"/>
      </a:defRPr>
    </a:lvl3pPr>
    <a:lvl4pPr marL="1371600" algn="l" defTabSz="457200" rtl="0" fontAlgn="base">
      <a:spcBef>
        <a:spcPct val="0"/>
      </a:spcBef>
      <a:spcAft>
        <a:spcPct val="0"/>
      </a:spcAft>
      <a:defRPr kern="1200">
        <a:solidFill>
          <a:schemeClr val="tx1"/>
        </a:solidFill>
        <a:latin typeface="Arial" charset="0"/>
        <a:ea typeface="+mn-ea"/>
        <a:cs typeface="+mn-cs"/>
      </a:defRPr>
    </a:lvl4pPr>
    <a:lvl5pPr marL="1828800" algn="l" defTabSz="457200"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04C2A"/>
    <a:srgbClr val="B1BD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1112" y="-10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handoutMaster" Target="handoutMasters/handoutMaster1.xml"/><Relationship Id="rId14" Type="http://schemas.openxmlformats.org/officeDocument/2006/relationships/printerSettings" Target="printerSettings/printerSettings1.bin"/><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defRPr>
            </a:lvl1pPr>
          </a:lstStyle>
          <a:p>
            <a:pPr>
              <a:defRPr/>
            </a:pPr>
            <a:fld id="{39649DDC-1F73-4437-B23B-C125777346D3}" type="datetime1">
              <a:rPr lang="en-US"/>
              <a:pPr>
                <a:defRPr/>
              </a:pPr>
              <a:t>16/06/2014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defRPr>
            </a:lvl1pPr>
          </a:lstStyle>
          <a:p>
            <a:pPr>
              <a:defRPr/>
            </a:pPr>
            <a:fld id="{D3BF8201-9E47-49FC-A52A-6D998F2A7A17}" type="slidenum">
              <a:rPr lang="en-US"/>
              <a:pPr>
                <a:defRPr/>
              </a:pPr>
              <a:t>‹#›</a:t>
            </a:fld>
            <a:endParaRPr lang="en-US"/>
          </a:p>
        </p:txBody>
      </p:sp>
    </p:spTree>
    <p:extLst>
      <p:ext uri="{BB962C8B-B14F-4D97-AF65-F5344CB8AC3E}">
        <p14:creationId xmlns:p14="http://schemas.microsoft.com/office/powerpoint/2010/main" val="231974455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defRPr>
            </a:lvl1pPr>
          </a:lstStyle>
          <a:p>
            <a:pPr>
              <a:defRPr/>
            </a:pPr>
            <a:fld id="{09E21337-D47F-4C82-A3CE-ECD9CE8E2BE5}" type="datetime1">
              <a:rPr lang="en-US"/>
              <a:pPr>
                <a:defRPr/>
              </a:pPr>
              <a:t>16/06/2014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defRPr>
            </a:lvl1pPr>
          </a:lstStyle>
          <a:p>
            <a:pPr>
              <a:defRPr/>
            </a:pPr>
            <a:fld id="{8004E38B-F5ED-440D-8FDC-D97FB2BE2026}" type="slidenum">
              <a:rPr lang="en-US"/>
              <a:pPr>
                <a:defRPr/>
              </a:pPr>
              <a:t>‹#›</a:t>
            </a:fld>
            <a:endParaRPr lang="en-US"/>
          </a:p>
        </p:txBody>
      </p:sp>
    </p:spTree>
    <p:extLst>
      <p:ext uri="{BB962C8B-B14F-4D97-AF65-F5344CB8AC3E}">
        <p14:creationId xmlns:p14="http://schemas.microsoft.com/office/powerpoint/2010/main" val="409759175"/>
      </p:ext>
    </p:extLst>
  </p:cSld>
  <p:clrMap bg1="lt1" tx1="dk1" bg2="lt2" tx2="dk2" accent1="accent1" accent2="accent2" accent3="accent3" accent4="accent4" accent5="accent5" accent6="accent6" hlink="hlink" folHlink="folHlink"/>
  <p:hf hdr="0" ftr="0" dt="0"/>
  <p:notesStyle>
    <a:lvl1pPr algn="l" defTabSz="457200" rtl="0" fontAlgn="base">
      <a:spcBef>
        <a:spcPct val="30000"/>
      </a:spcBef>
      <a:spcAft>
        <a:spcPct val="0"/>
      </a:spcAft>
      <a:defRPr sz="1200" kern="1200">
        <a:solidFill>
          <a:schemeClr val="tx1"/>
        </a:solidFill>
        <a:latin typeface="+mn-lt"/>
        <a:ea typeface="+mn-ea"/>
        <a:cs typeface="+mn-cs"/>
      </a:defRPr>
    </a:lvl1pPr>
    <a:lvl2pPr marL="457200" algn="l" defTabSz="457200" rtl="0" fontAlgn="base">
      <a:spcBef>
        <a:spcPct val="30000"/>
      </a:spcBef>
      <a:spcAft>
        <a:spcPct val="0"/>
      </a:spcAft>
      <a:defRPr sz="1200" kern="1200">
        <a:solidFill>
          <a:schemeClr val="tx1"/>
        </a:solidFill>
        <a:latin typeface="+mn-lt"/>
        <a:ea typeface="+mn-ea"/>
        <a:cs typeface="+mn-cs"/>
      </a:defRPr>
    </a:lvl2pPr>
    <a:lvl3pPr marL="914400" algn="l" defTabSz="457200" rtl="0" fontAlgn="base">
      <a:spcBef>
        <a:spcPct val="30000"/>
      </a:spcBef>
      <a:spcAft>
        <a:spcPct val="0"/>
      </a:spcAft>
      <a:defRPr sz="1200" kern="1200">
        <a:solidFill>
          <a:schemeClr val="tx1"/>
        </a:solidFill>
        <a:latin typeface="+mn-lt"/>
        <a:ea typeface="+mn-ea"/>
        <a:cs typeface="+mn-cs"/>
      </a:defRPr>
    </a:lvl3pPr>
    <a:lvl4pPr marL="1371600" algn="l" defTabSz="457200" rtl="0" fontAlgn="base">
      <a:spcBef>
        <a:spcPct val="30000"/>
      </a:spcBef>
      <a:spcAft>
        <a:spcPct val="0"/>
      </a:spcAft>
      <a:defRPr sz="1200" kern="1200">
        <a:solidFill>
          <a:schemeClr val="tx1"/>
        </a:solidFill>
        <a:latin typeface="+mn-lt"/>
        <a:ea typeface="+mn-ea"/>
        <a:cs typeface="+mn-cs"/>
      </a:defRPr>
    </a:lvl4pPr>
    <a:lvl5pPr marL="1828800" algn="l" defTabSz="457200" rtl="0" fontAlgn="base">
      <a:spcBef>
        <a:spcPct val="30000"/>
      </a:spcBef>
      <a:spcAft>
        <a:spcPct val="0"/>
      </a:spcAft>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16387"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B60B31BA-F6C0-4B88-8947-759BFED32360}" type="slidenum">
              <a:rPr lang="en-US"/>
              <a:pPr fontAlgn="base">
                <a:spcBef>
                  <a:spcPct val="0"/>
                </a:spcBef>
                <a:spcAft>
                  <a:spcPct val="0"/>
                </a:spcAft>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FA864F47-0585-4B69-A037-30CAADDD21FF}" type="datetime1">
              <a:rPr lang="en-US"/>
              <a:pPr>
                <a:defRPr/>
              </a:pPr>
              <a:t>16/06/2014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401184E-A4B9-46A3-8363-5B6AF30A0A19}"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idx="1"/>
          </p:nvPr>
        </p:nvSpPr>
        <p:spPr/>
        <p:txBody>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CAA0F4BD-2EDB-4910-AFBB-EF0D3000D1C7}" type="datetime1">
              <a:rPr lang="en-US"/>
              <a:pPr>
                <a:defRPr/>
              </a:pPr>
              <a:t>16/06/2014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DF048F2-EB40-414B-9DAD-0EC308728357}"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06BF2ECD-7AD8-4705-85C7-8955433700EF}" type="datetime1">
              <a:rPr lang="en-US"/>
              <a:pPr>
                <a:defRPr/>
              </a:pPr>
              <a:t>16/06/2014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891354B-AFA8-4B36-8F88-ABB63BD260A3}"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7443A086-F3C8-4E95-8D5A-EA7873BAE355}" type="datetime1">
              <a:rPr lang="en-US"/>
              <a:pPr>
                <a:defRPr/>
              </a:pPr>
              <a:t>16/06/2014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3D6CBEF-17DB-4CAA-BCCF-7D7691E9DF38}"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2BA7E854-6C6E-4D18-AEE4-AC360C858E6B}" type="datetime1">
              <a:rPr lang="en-US"/>
              <a:pPr>
                <a:defRPr/>
              </a:pPr>
              <a:t>16/06/2014</a:t>
            </a:fld>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0BF8CA82-34A2-4A5C-8A90-1751178484D1}"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5798EB36-B572-4A22-AFBB-0A6CE255B3C5}" type="datetime1">
              <a:rPr lang="en-US"/>
              <a:pPr>
                <a:defRPr/>
              </a:pPr>
              <a:t>16/06/2014</a:t>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B9F9B074-38CA-4BE2-BC05-EE0531891C7D}"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0523CAC1-19DB-4585-B48D-3BDA7D0137D0}" type="datetime1">
              <a:rPr lang="en-US"/>
              <a:pPr>
                <a:defRPr/>
              </a:pPr>
              <a:t>16/06/2014</a:t>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E77EF667-6AAE-42B1-93E8-F257A3FC995F}"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033F64EE-DCC8-4E27-BE86-B481F32332F3}" type="datetime1">
              <a:rPr lang="en-US"/>
              <a:pPr>
                <a:defRPr/>
              </a:pPr>
              <a:t>16/06/2014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54ACD6F-8E68-4495-A4DB-06F16D1A654C}"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8C385C67-6E11-45F9-8CAB-517EE4C9C29F}" type="datetime1">
              <a:rPr lang="en-US"/>
              <a:pPr>
                <a:defRPr/>
              </a:pPr>
              <a:t>16/06/2014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2480885-DF1F-45AE-BA17-34CDF7350371}"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E7B5611C-172E-487F-9BCE-8C79970D9F92}" type="datetime1">
              <a:rPr lang="en-US"/>
              <a:pPr>
                <a:defRPr/>
              </a:pPr>
              <a:t>16/06/2014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2C0D5AD-200C-4FD2-BE72-17E3ABA5493F}"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360CAB8B-575A-4971-9DC9-F07933609ACA}" type="datetime1">
              <a:rPr lang="en-US"/>
              <a:pPr>
                <a:defRPr/>
              </a:pPr>
              <a:t>16/06/2014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F48AC44-E01F-47AE-8B27-B6814CB22711}"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4" name="Picture 13" descr="Head Banner International Relations.png"/>
          <p:cNvPicPr>
            <a:picLocks noChangeAspect="1"/>
          </p:cNvPicPr>
          <p:nvPr userDrawn="1"/>
        </p:nvPicPr>
        <p:blipFill>
          <a:blip r:embed="rId13"/>
          <a:stretch>
            <a:fillRect/>
          </a:stretch>
        </p:blipFill>
        <p:spPr>
          <a:xfrm>
            <a:off x="0" y="0"/>
            <a:ext cx="9144000" cy="832377"/>
          </a:xfrm>
          <a:prstGeom prst="rect">
            <a:avLst/>
          </a:prstGeom>
        </p:spPr>
      </p:pic>
      <p:pic>
        <p:nvPicPr>
          <p:cNvPr id="12" name="Picture 11" descr="Footer International Relations.png"/>
          <p:cNvPicPr>
            <a:picLocks noChangeAspect="1"/>
          </p:cNvPicPr>
          <p:nvPr userDrawn="1"/>
        </p:nvPicPr>
        <p:blipFill>
          <a:blip r:embed="rId14"/>
          <a:stretch>
            <a:fillRect/>
          </a:stretch>
        </p:blipFill>
        <p:spPr>
          <a:xfrm>
            <a:off x="0" y="6439052"/>
            <a:ext cx="9144000" cy="418948"/>
          </a:xfrm>
          <a:prstGeom prst="rect">
            <a:avLst/>
          </a:prstGeom>
        </p:spPr>
      </p:pic>
      <p:sp>
        <p:nvSpPr>
          <p:cNvPr id="1028" name="Title Placeholder 1"/>
          <p:cNvSpPr>
            <a:spLocks noGrp="1"/>
          </p:cNvSpPr>
          <p:nvPr>
            <p:ph type="title"/>
          </p:nvPr>
        </p:nvSpPr>
        <p:spPr bwMode="auto">
          <a:xfrm>
            <a:off x="457200" y="927100"/>
            <a:ext cx="8229600" cy="8223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smtClean="0"/>
              <a:t>Click to edit Master title style</a:t>
            </a:r>
            <a:endParaRPr lang="en-US" smtClean="0"/>
          </a:p>
        </p:txBody>
      </p:sp>
      <p:sp>
        <p:nvSpPr>
          <p:cNvPr id="1029" name="Text Placeholder 2"/>
          <p:cNvSpPr>
            <a:spLocks noGrp="1"/>
          </p:cNvSpPr>
          <p:nvPr>
            <p:ph type="body" idx="1"/>
          </p:nvPr>
        </p:nvSpPr>
        <p:spPr bwMode="auto">
          <a:xfrm>
            <a:off x="457200" y="1992313"/>
            <a:ext cx="8229600" cy="41338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dirty="0" smtClean="0"/>
              <a:t>Click to edit Master text styles</a:t>
            </a:r>
          </a:p>
          <a:p>
            <a:pPr lvl="1"/>
            <a:r>
              <a:rPr lang="en-GB" dirty="0" smtClean="0"/>
              <a:t>Second level</a:t>
            </a:r>
          </a:p>
          <a:p>
            <a:pPr lvl="2"/>
            <a:r>
              <a:rPr lang="en-GB" dirty="0" smtClean="0"/>
              <a:t>Third level</a:t>
            </a:r>
          </a:p>
          <a:p>
            <a:pPr lvl="3"/>
            <a:r>
              <a:rPr lang="en-GB" dirty="0" smtClean="0"/>
              <a:t>Fourth level</a:t>
            </a:r>
          </a:p>
          <a:p>
            <a:pPr lvl="4"/>
            <a:r>
              <a:rPr lang="en-GB" dirty="0" smtClean="0"/>
              <a:t>Fifth level</a:t>
            </a:r>
            <a:endParaRPr lang="en-US" dirty="0"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defRPr>
            </a:lvl1pPr>
          </a:lstStyle>
          <a:p>
            <a:pPr>
              <a:defRPr/>
            </a:pPr>
            <a:fld id="{9890F0E6-8F15-47DC-A5F8-329B64E4CD5C}" type="datetime1">
              <a:rPr lang="en-US"/>
              <a:pPr>
                <a:defRPr/>
              </a:pPr>
              <a:t>16/06/2014</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dirty="0">
                <a:solidFill>
                  <a:schemeClr val="tx1">
                    <a:tint val="75000"/>
                  </a:schemeClr>
                </a:solidFill>
                <a:latin typeface="+mn-lt"/>
              </a:defRPr>
            </a:lvl1pPr>
          </a:lstStyle>
          <a:p>
            <a:pPr>
              <a:defRPr/>
            </a:pPr>
            <a:endParaRPr lang="en-US" dirty="0"/>
          </a:p>
        </p:txBody>
      </p:sp>
      <p:sp>
        <p:nvSpPr>
          <p:cNvPr id="6" name="Slide Number Placeholder 5"/>
          <p:cNvSpPr>
            <a:spLocks noGrp="1"/>
          </p:cNvSpPr>
          <p:nvPr>
            <p:ph type="sldNum" sz="quarter" idx="4"/>
          </p:nvPr>
        </p:nvSpPr>
        <p:spPr>
          <a:xfrm>
            <a:off x="6902450" y="6484938"/>
            <a:ext cx="21336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defRPr>
            </a:lvl1pPr>
          </a:lstStyle>
          <a:p>
            <a:pPr>
              <a:defRPr/>
            </a:pPr>
            <a:fld id="{B762B74D-8D40-4020-BCF7-86630A14BAB4}" type="slidenum">
              <a:rPr lang="en-US"/>
              <a:pPr>
                <a:defRPr/>
              </a:pPr>
              <a:t>‹#›</a:t>
            </a:fld>
            <a:endParaRPr lang="en-US" dirty="0"/>
          </a:p>
        </p:txBody>
      </p:sp>
      <p:sp>
        <p:nvSpPr>
          <p:cNvPr id="16" name="TextBox 15"/>
          <p:cNvSpPr txBox="1"/>
          <p:nvPr userDrawn="1"/>
        </p:nvSpPr>
        <p:spPr>
          <a:xfrm>
            <a:off x="6019800" y="233363"/>
            <a:ext cx="2886075" cy="366712"/>
          </a:xfrm>
          <a:prstGeom prst="rect">
            <a:avLst/>
          </a:prstGeom>
          <a:noFill/>
        </p:spPr>
        <p:txBody>
          <a:bodyPr>
            <a:spAutoFit/>
          </a:bodyPr>
          <a:lstStyle/>
          <a:p>
            <a:pPr algn="r"/>
            <a:r>
              <a:rPr lang="en-US">
                <a:latin typeface="Franklin Gothic Medium" pitchFamily="34" charset="0"/>
              </a:rPr>
              <a:t>Cartoon Interpretation</a:t>
            </a:r>
          </a:p>
        </p:txBody>
      </p:sp>
      <p:sp>
        <p:nvSpPr>
          <p:cNvPr id="17" name="TextBox 16"/>
          <p:cNvSpPr txBox="1"/>
          <p:nvPr userDrawn="1"/>
        </p:nvSpPr>
        <p:spPr>
          <a:xfrm>
            <a:off x="222250" y="139700"/>
            <a:ext cx="4881016" cy="461665"/>
          </a:xfrm>
          <a:prstGeom prst="rect">
            <a:avLst/>
          </a:prstGeom>
          <a:noFill/>
        </p:spPr>
        <p:txBody>
          <a:bodyPr wrap="square">
            <a:spAutoFit/>
          </a:bodyPr>
          <a:lstStyle/>
          <a:p>
            <a:r>
              <a:rPr lang="en-US" sz="2400" dirty="0" smtClean="0">
                <a:latin typeface="Franklin Gothic Medium" pitchFamily="34" charset="0"/>
              </a:rPr>
              <a:t>The Treaty of Versailles</a:t>
            </a:r>
            <a:endParaRPr lang="en-US" sz="2400" dirty="0">
              <a:latin typeface="Franklin Gothic Medium" pitchFamily="34" charset="0"/>
            </a:endParaRPr>
          </a:p>
        </p:txBody>
      </p:sp>
      <p:sp>
        <p:nvSpPr>
          <p:cNvPr id="18" name="TextBox 17"/>
          <p:cNvSpPr txBox="1"/>
          <p:nvPr userDrawn="1"/>
        </p:nvSpPr>
        <p:spPr>
          <a:xfrm>
            <a:off x="354013" y="6484938"/>
            <a:ext cx="3605212" cy="277812"/>
          </a:xfrm>
          <a:prstGeom prst="rect">
            <a:avLst/>
          </a:prstGeom>
          <a:noFill/>
        </p:spPr>
        <p:txBody>
          <a:bodyPr>
            <a:spAutoFit/>
          </a:bodyPr>
          <a:lstStyle/>
          <a:p>
            <a:pPr fontAlgn="auto">
              <a:spcBef>
                <a:spcPts val="0"/>
              </a:spcBef>
              <a:spcAft>
                <a:spcPts val="0"/>
              </a:spcAft>
              <a:defRPr/>
            </a:pPr>
            <a:r>
              <a:rPr lang="en-US" sz="1200" dirty="0">
                <a:latin typeface="Franklin Gothic Medium"/>
                <a:cs typeface="Franklin Gothic Medium"/>
              </a:rPr>
              <a:t>© The History Bank</a:t>
            </a:r>
          </a:p>
        </p:txBody>
      </p:sp>
    </p:spTree>
  </p:cSld>
  <p:clrMap bg1="lt1" tx1="dk1" bg2="lt2" tx2="dk2" accent1="accent1" accent2="accent2" accent3="accent3" accent4="accent4" accent5="accent5" accent6="accent6" hlink="hlink" folHlink="folHlink"/>
  <p:sldLayoutIdLst>
    <p:sldLayoutId id="2147483659" r:id="rId1"/>
    <p:sldLayoutId id="2147483658" r:id="rId2"/>
    <p:sldLayoutId id="2147483657" r:id="rId3"/>
    <p:sldLayoutId id="2147483656" r:id="rId4"/>
    <p:sldLayoutId id="2147483655" r:id="rId5"/>
    <p:sldLayoutId id="2147483654" r:id="rId6"/>
    <p:sldLayoutId id="2147483653" r:id="rId7"/>
    <p:sldLayoutId id="2147483652" r:id="rId8"/>
    <p:sldLayoutId id="2147483651" r:id="rId9"/>
    <p:sldLayoutId id="2147483650" r:id="rId10"/>
    <p:sldLayoutId id="2147483649" r:id="rId11"/>
  </p:sldLayoutIdLst>
  <p:hf hdr="0" ftr="0" dt="0"/>
  <p:txStyles>
    <p:titleStyle>
      <a:lvl1pPr algn="ctr" defTabSz="457200" rtl="0" fontAlgn="base">
        <a:spcBef>
          <a:spcPct val="0"/>
        </a:spcBef>
        <a:spcAft>
          <a:spcPct val="0"/>
        </a:spcAft>
        <a:defRPr sz="4400" kern="1200">
          <a:solidFill>
            <a:schemeClr val="tx1"/>
          </a:solidFill>
          <a:latin typeface="Franklin Gothic Medium"/>
          <a:ea typeface="+mj-ea"/>
          <a:cs typeface="Franklin Gothic Medium"/>
        </a:defRPr>
      </a:lvl1pPr>
      <a:lvl2pPr algn="ctr" defTabSz="457200" rtl="0" fontAlgn="base">
        <a:spcBef>
          <a:spcPct val="0"/>
        </a:spcBef>
        <a:spcAft>
          <a:spcPct val="0"/>
        </a:spcAft>
        <a:defRPr sz="4400">
          <a:solidFill>
            <a:schemeClr val="tx1"/>
          </a:solidFill>
          <a:latin typeface="Franklin Gothic Medium" pitchFamily="34" charset="0"/>
        </a:defRPr>
      </a:lvl2pPr>
      <a:lvl3pPr algn="ctr" defTabSz="457200" rtl="0" fontAlgn="base">
        <a:spcBef>
          <a:spcPct val="0"/>
        </a:spcBef>
        <a:spcAft>
          <a:spcPct val="0"/>
        </a:spcAft>
        <a:defRPr sz="4400">
          <a:solidFill>
            <a:schemeClr val="tx1"/>
          </a:solidFill>
          <a:latin typeface="Franklin Gothic Medium" pitchFamily="34" charset="0"/>
        </a:defRPr>
      </a:lvl3pPr>
      <a:lvl4pPr algn="ctr" defTabSz="457200" rtl="0" fontAlgn="base">
        <a:spcBef>
          <a:spcPct val="0"/>
        </a:spcBef>
        <a:spcAft>
          <a:spcPct val="0"/>
        </a:spcAft>
        <a:defRPr sz="4400">
          <a:solidFill>
            <a:schemeClr val="tx1"/>
          </a:solidFill>
          <a:latin typeface="Franklin Gothic Medium" pitchFamily="34" charset="0"/>
        </a:defRPr>
      </a:lvl4pPr>
      <a:lvl5pPr algn="ctr" defTabSz="457200" rtl="0" fontAlgn="base">
        <a:spcBef>
          <a:spcPct val="0"/>
        </a:spcBef>
        <a:spcAft>
          <a:spcPct val="0"/>
        </a:spcAft>
        <a:defRPr sz="4400">
          <a:solidFill>
            <a:schemeClr val="tx1"/>
          </a:solidFill>
          <a:latin typeface="Franklin Gothic Medium" pitchFamily="34" charset="0"/>
        </a:defRPr>
      </a:lvl5pPr>
      <a:lvl6pPr marL="457200" algn="ctr" defTabSz="457200" rtl="0" fontAlgn="base">
        <a:spcBef>
          <a:spcPct val="0"/>
        </a:spcBef>
        <a:spcAft>
          <a:spcPct val="0"/>
        </a:spcAft>
        <a:defRPr sz="4400">
          <a:solidFill>
            <a:schemeClr val="tx1"/>
          </a:solidFill>
          <a:latin typeface="Franklin Gothic Medium" pitchFamily="34" charset="0"/>
        </a:defRPr>
      </a:lvl6pPr>
      <a:lvl7pPr marL="914400" algn="ctr" defTabSz="457200" rtl="0" fontAlgn="base">
        <a:spcBef>
          <a:spcPct val="0"/>
        </a:spcBef>
        <a:spcAft>
          <a:spcPct val="0"/>
        </a:spcAft>
        <a:defRPr sz="4400">
          <a:solidFill>
            <a:schemeClr val="tx1"/>
          </a:solidFill>
          <a:latin typeface="Franklin Gothic Medium" pitchFamily="34" charset="0"/>
        </a:defRPr>
      </a:lvl7pPr>
      <a:lvl8pPr marL="1371600" algn="ctr" defTabSz="457200" rtl="0" fontAlgn="base">
        <a:spcBef>
          <a:spcPct val="0"/>
        </a:spcBef>
        <a:spcAft>
          <a:spcPct val="0"/>
        </a:spcAft>
        <a:defRPr sz="4400">
          <a:solidFill>
            <a:schemeClr val="tx1"/>
          </a:solidFill>
          <a:latin typeface="Franklin Gothic Medium" pitchFamily="34" charset="0"/>
        </a:defRPr>
      </a:lvl8pPr>
      <a:lvl9pPr marL="1828800" algn="ctr" defTabSz="457200" rtl="0" fontAlgn="base">
        <a:spcBef>
          <a:spcPct val="0"/>
        </a:spcBef>
        <a:spcAft>
          <a:spcPct val="0"/>
        </a:spcAft>
        <a:defRPr sz="4400">
          <a:solidFill>
            <a:schemeClr val="tx1"/>
          </a:solidFill>
          <a:latin typeface="Franklin Gothic Medium" pitchFamily="34" charset="0"/>
        </a:defRPr>
      </a:lvl9pPr>
    </p:titleStyle>
    <p:bodyStyle>
      <a:lvl1pPr marL="342900" indent="-342900" algn="l" defTabSz="457200" rtl="0" fontAlgn="base">
        <a:spcBef>
          <a:spcPct val="20000"/>
        </a:spcBef>
        <a:spcAft>
          <a:spcPct val="0"/>
        </a:spcAft>
        <a:buFont typeface="Arial" charset="0"/>
        <a:buChar char="•"/>
        <a:defRPr sz="2800" kern="1200">
          <a:solidFill>
            <a:schemeClr val="tx1"/>
          </a:solidFill>
          <a:latin typeface="Arial"/>
          <a:ea typeface="+mn-ea"/>
          <a:cs typeface="Arial"/>
        </a:defRPr>
      </a:lvl1pPr>
      <a:lvl2pPr marL="742950" indent="-285750" algn="l" defTabSz="457200" rtl="0" fontAlgn="base">
        <a:spcBef>
          <a:spcPct val="20000"/>
        </a:spcBef>
        <a:spcAft>
          <a:spcPct val="0"/>
        </a:spcAft>
        <a:buFont typeface="Arial" charset="0"/>
        <a:buChar char="–"/>
        <a:defRPr sz="2400" kern="1200">
          <a:solidFill>
            <a:schemeClr val="tx1"/>
          </a:solidFill>
          <a:latin typeface="Arial"/>
          <a:ea typeface="+mn-ea"/>
          <a:cs typeface="Arial"/>
        </a:defRPr>
      </a:lvl2pPr>
      <a:lvl3pPr marL="1143000" indent="-228600" algn="l" defTabSz="457200" rtl="0" fontAlgn="base">
        <a:spcBef>
          <a:spcPct val="20000"/>
        </a:spcBef>
        <a:spcAft>
          <a:spcPct val="0"/>
        </a:spcAft>
        <a:buFont typeface="Arial" charset="0"/>
        <a:buChar char="•"/>
        <a:defRPr sz="2000" kern="1200">
          <a:solidFill>
            <a:schemeClr val="tx1"/>
          </a:solidFill>
          <a:latin typeface="Arial"/>
          <a:ea typeface="+mn-ea"/>
          <a:cs typeface="Arial"/>
        </a:defRPr>
      </a:lvl3pPr>
      <a:lvl4pPr marL="1600200" indent="-228600" algn="l" defTabSz="457200" rtl="0" fontAlgn="base">
        <a:spcBef>
          <a:spcPct val="20000"/>
        </a:spcBef>
        <a:spcAft>
          <a:spcPct val="0"/>
        </a:spcAft>
        <a:buFont typeface="Arial" charset="0"/>
        <a:buChar char="–"/>
        <a:defRPr kern="1200">
          <a:solidFill>
            <a:schemeClr val="tx1"/>
          </a:solidFill>
          <a:latin typeface="Arial"/>
          <a:ea typeface="+mn-ea"/>
          <a:cs typeface="Arial"/>
        </a:defRPr>
      </a:lvl4pPr>
      <a:lvl5pPr marL="2057400" indent="-228600" algn="l" defTabSz="457200" rtl="0" fontAlgn="base">
        <a:spcBef>
          <a:spcPct val="20000"/>
        </a:spcBef>
        <a:spcAft>
          <a:spcPct val="0"/>
        </a:spcAft>
        <a:buFont typeface="Arial" charset="0"/>
        <a:buChar char="»"/>
        <a:defRPr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p:cNvSpPr>
            <a:spLocks noGrp="1"/>
          </p:cNvSpPr>
          <p:nvPr>
            <p:ph type="ctrTitle"/>
          </p:nvPr>
        </p:nvSpPr>
        <p:spPr/>
        <p:txBody>
          <a:bodyPr/>
          <a:lstStyle/>
          <a:p>
            <a:r>
              <a:rPr lang="en-US" dirty="0" smtClean="0">
                <a:latin typeface="Franklin Gothic Medium" pitchFamily="34" charset="0"/>
              </a:rPr>
              <a:t>The Treaty of Versailles</a:t>
            </a:r>
          </a:p>
        </p:txBody>
      </p:sp>
      <p:sp>
        <p:nvSpPr>
          <p:cNvPr id="3" name="Subtitle 2"/>
          <p:cNvSpPr>
            <a:spLocks noGrp="1"/>
          </p:cNvSpPr>
          <p:nvPr>
            <p:ph type="subTitle" idx="1"/>
          </p:nvPr>
        </p:nvSpPr>
        <p:spPr>
          <a:xfrm>
            <a:off x="1371600" y="3892351"/>
            <a:ext cx="6400800" cy="979524"/>
          </a:xfrm>
        </p:spPr>
        <p:txBody>
          <a:bodyPr>
            <a:normAutofit/>
          </a:bodyPr>
          <a:lstStyle/>
          <a:p>
            <a:r>
              <a:rPr lang="en-US" dirty="0" smtClean="0">
                <a:solidFill>
                  <a:srgbClr val="898989"/>
                </a:solidFill>
                <a:latin typeface="Arial" charset="0"/>
                <a:cs typeface="Arial" charset="0"/>
              </a:rPr>
              <a:t>Peace and Future Cannon Fodder</a:t>
            </a:r>
          </a:p>
        </p:txBody>
      </p:sp>
      <p:sp>
        <p:nvSpPr>
          <p:cNvPr id="4" name="Slide Number Placeholder 3"/>
          <p:cNvSpPr>
            <a:spLocks noGrp="1"/>
          </p:cNvSpPr>
          <p:nvPr>
            <p:ph type="sldNum" sz="quarter" idx="12"/>
          </p:nvPr>
        </p:nvSpPr>
        <p:spPr/>
        <p:txBody>
          <a:bodyPr/>
          <a:lstStyle/>
          <a:p>
            <a:pPr>
              <a:defRPr/>
            </a:pPr>
            <a:fld id="{6E68CFEC-AE89-488B-BBD3-F97C71FDE1B9}" type="slidenum">
              <a:rPr lang="en-US"/>
              <a:pPr>
                <a:defRPr/>
              </a:pPr>
              <a:t>1</a:t>
            </a:fld>
            <a:endParaRPr lang="en-US"/>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BC48D1FC-2195-4DB1-B156-62599414F4A4}" type="slidenum">
              <a:rPr lang="en-US" smtClean="0"/>
              <a:pPr>
                <a:defRPr/>
              </a:pPr>
              <a:t>2</a:t>
            </a:fld>
            <a:endParaRPr lang="en-US"/>
          </a:p>
        </p:txBody>
      </p:sp>
      <p:pic>
        <p:nvPicPr>
          <p:cNvPr id="17416" name="Picture 8" descr="cannonfodder"/>
          <p:cNvPicPr>
            <a:picLocks noChangeAspect="1" noChangeArrowheads="1"/>
          </p:cNvPicPr>
          <p:nvPr/>
        </p:nvPicPr>
        <p:blipFill>
          <a:blip r:embed="rId2"/>
          <a:srcRect/>
          <a:stretch>
            <a:fillRect/>
          </a:stretch>
        </p:blipFill>
        <p:spPr bwMode="auto">
          <a:xfrm>
            <a:off x="2644775" y="1308100"/>
            <a:ext cx="3756025" cy="4597400"/>
          </a:xfrm>
          <a:prstGeom prst="rect">
            <a:avLst/>
          </a:prstGeom>
          <a:noFill/>
        </p:spPr>
      </p:pic>
      <p:sp>
        <p:nvSpPr>
          <p:cNvPr id="17417" name="Text Box 9"/>
          <p:cNvSpPr txBox="1">
            <a:spLocks noChangeArrowheads="1"/>
          </p:cNvSpPr>
          <p:nvPr/>
        </p:nvSpPr>
        <p:spPr bwMode="auto">
          <a:xfrm>
            <a:off x="365125" y="6019800"/>
            <a:ext cx="3559688" cy="338554"/>
          </a:xfrm>
          <a:prstGeom prst="rect">
            <a:avLst/>
          </a:prstGeom>
          <a:noFill/>
          <a:ln w="9525">
            <a:noFill/>
            <a:miter lim="800000"/>
            <a:headEnd/>
            <a:tailEnd/>
          </a:ln>
          <a:effectLst/>
        </p:spPr>
        <p:txBody>
          <a:bodyPr wrap="none">
            <a:spAutoFit/>
          </a:bodyPr>
          <a:lstStyle/>
          <a:p>
            <a:pPr defTabSz="914400"/>
            <a:r>
              <a:rPr lang="en-GB" sz="1600" b="1" dirty="0"/>
              <a:t>What is the message of the source </a:t>
            </a:r>
            <a:endParaRPr lang="en-US" sz="1600" b="1" dirty="0"/>
          </a:p>
        </p:txBody>
      </p:sp>
      <p:sp>
        <p:nvSpPr>
          <p:cNvPr id="17418" name="Title 1"/>
          <p:cNvSpPr>
            <a:spLocks/>
          </p:cNvSpPr>
          <p:nvPr/>
        </p:nvSpPr>
        <p:spPr bwMode="auto">
          <a:xfrm>
            <a:off x="300038" y="965646"/>
            <a:ext cx="8229600" cy="535309"/>
          </a:xfrm>
          <a:prstGeom prst="rect">
            <a:avLst/>
          </a:prstGeom>
          <a:noFill/>
          <a:ln w="9525">
            <a:noFill/>
            <a:miter lim="800000"/>
            <a:headEnd/>
            <a:tailEnd/>
          </a:ln>
        </p:spPr>
        <p:txBody>
          <a:bodyPr anchor="ctr"/>
          <a:lstStyle/>
          <a:p>
            <a:pPr>
              <a:lnSpc>
                <a:spcPct val="45000"/>
              </a:lnSpc>
            </a:pPr>
            <a:r>
              <a:rPr lang="en-US" sz="1600" b="1" dirty="0">
                <a:latin typeface="Franklin Gothic Medium" pitchFamily="34" charset="0"/>
              </a:rPr>
              <a:t>'Peace and future cannon fodder' - a cartoon of 1919 by the Australian artist Will Dyson which appeared in the Daily Herald of 1919.</a:t>
            </a:r>
            <a:r>
              <a:rPr lang="en-US" sz="4400" b="1" dirty="0" smtClean="0">
                <a:latin typeface="Franklin Gothic Medium" pitchFamily="34" charset="0"/>
              </a:rPr>
              <a:t> </a:t>
            </a:r>
            <a:endParaRPr lang="en-US" sz="4400" dirty="0">
              <a:latin typeface="Franklin Gothic Medium" pitchFamily="34" charset="0"/>
            </a:endParaRPr>
          </a:p>
        </p:txBody>
      </p:sp>
    </p:spTree>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E77EF667-6AAE-42B1-93E8-F257A3FC995F}" type="slidenum">
              <a:rPr lang="en-US" smtClean="0"/>
              <a:pPr>
                <a:defRPr/>
              </a:pPr>
              <a:t>3</a:t>
            </a:fld>
            <a:endParaRPr lang="en-US" dirty="0"/>
          </a:p>
        </p:txBody>
      </p:sp>
      <p:pic>
        <p:nvPicPr>
          <p:cNvPr id="3" name="Picture 8" descr="cannonfodder"/>
          <p:cNvPicPr>
            <a:picLocks noChangeAspect="1" noChangeArrowheads="1"/>
          </p:cNvPicPr>
          <p:nvPr/>
        </p:nvPicPr>
        <p:blipFill>
          <a:blip r:embed="rId2"/>
          <a:srcRect/>
          <a:stretch>
            <a:fillRect/>
          </a:stretch>
        </p:blipFill>
        <p:spPr bwMode="auto">
          <a:xfrm>
            <a:off x="1563007" y="-15991"/>
            <a:ext cx="5633339" cy="6895245"/>
          </a:xfrm>
          <a:prstGeom prst="rect">
            <a:avLst/>
          </a:prstGeom>
          <a:noFill/>
        </p:spPr>
      </p:pic>
    </p:spTree>
    <p:extLst>
      <p:ext uri="{BB962C8B-B14F-4D97-AF65-F5344CB8AC3E}">
        <p14:creationId xmlns:p14="http://schemas.microsoft.com/office/powerpoint/2010/main" val="1487316449"/>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51" name="Picture 19" descr="cannonfodder"/>
          <p:cNvPicPr>
            <a:picLocks noChangeAspect="1" noChangeArrowheads="1"/>
          </p:cNvPicPr>
          <p:nvPr/>
        </p:nvPicPr>
        <p:blipFill>
          <a:blip r:embed="rId2"/>
          <a:srcRect/>
          <a:stretch>
            <a:fillRect/>
          </a:stretch>
        </p:blipFill>
        <p:spPr bwMode="auto">
          <a:xfrm>
            <a:off x="2644775" y="1717444"/>
            <a:ext cx="3756025" cy="4597400"/>
          </a:xfrm>
          <a:prstGeom prst="rect">
            <a:avLst/>
          </a:prstGeom>
          <a:noFill/>
        </p:spPr>
      </p:pic>
      <p:sp>
        <p:nvSpPr>
          <p:cNvPr id="4" name="Slide Number Placeholder 3"/>
          <p:cNvSpPr>
            <a:spLocks noGrp="1"/>
          </p:cNvSpPr>
          <p:nvPr>
            <p:ph type="sldNum" sz="quarter" idx="12"/>
          </p:nvPr>
        </p:nvSpPr>
        <p:spPr/>
        <p:txBody>
          <a:bodyPr/>
          <a:lstStyle/>
          <a:p>
            <a:pPr>
              <a:defRPr/>
            </a:pPr>
            <a:fld id="{C7409732-CBA8-4002-8C3D-62379D03108C}" type="slidenum">
              <a:rPr lang="en-US"/>
              <a:pPr>
                <a:defRPr/>
              </a:pPr>
              <a:t>4</a:t>
            </a:fld>
            <a:endParaRPr lang="en-US"/>
          </a:p>
        </p:txBody>
      </p:sp>
      <p:sp>
        <p:nvSpPr>
          <p:cNvPr id="7" name="Rounded Rectangle 6">
            <a:hlinkClick r:id="" action="ppaction://hlinkshowjump?jump=nextslide" tooltip="Click here for the answers "/>
          </p:cNvPr>
          <p:cNvSpPr/>
          <p:nvPr/>
        </p:nvSpPr>
        <p:spPr>
          <a:xfrm>
            <a:off x="7485062" y="5840412"/>
            <a:ext cx="1225550" cy="355600"/>
          </a:xfrm>
          <a:prstGeom prst="roundRect">
            <a:avLst/>
          </a:prstGeom>
          <a:solidFill>
            <a:srgbClr val="B04C2A"/>
          </a:solidFill>
          <a:ln>
            <a:solidFill>
              <a:srgbClr val="B04C2A"/>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sz="1200" dirty="0">
                <a:solidFill>
                  <a:schemeClr val="tx1"/>
                </a:solidFill>
              </a:rPr>
              <a:t>Check Answers</a:t>
            </a:r>
          </a:p>
        </p:txBody>
      </p:sp>
      <p:sp useBgFill="1">
        <p:nvSpPr>
          <p:cNvPr id="10" name="Rounded Rectangle 9"/>
          <p:cNvSpPr/>
          <p:nvPr/>
        </p:nvSpPr>
        <p:spPr>
          <a:xfrm>
            <a:off x="98425" y="1419225"/>
            <a:ext cx="2546350" cy="1111250"/>
          </a:xfrm>
          <a:prstGeom prst="roundRect">
            <a:avLst/>
          </a:prstGeom>
          <a:ln>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a:lstStyle/>
          <a:p>
            <a:pPr algn="ctr"/>
            <a:r>
              <a:rPr lang="en-US" sz="1000" b="1" dirty="0">
                <a:solidFill>
                  <a:srgbClr val="000000"/>
                </a:solidFill>
              </a:rPr>
              <a:t>What can we learn from the title and caption?</a:t>
            </a:r>
          </a:p>
        </p:txBody>
      </p:sp>
      <p:sp useBgFill="1">
        <p:nvSpPr>
          <p:cNvPr id="13" name="Rounded Rectangle 12"/>
          <p:cNvSpPr/>
          <p:nvPr/>
        </p:nvSpPr>
        <p:spPr>
          <a:xfrm>
            <a:off x="98425" y="4783138"/>
            <a:ext cx="2378075" cy="1612900"/>
          </a:xfrm>
          <a:prstGeom prst="roundRect">
            <a:avLst/>
          </a:prstGeom>
          <a:ln>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a:lstStyle/>
          <a:p>
            <a:pPr algn="ctr"/>
            <a:r>
              <a:rPr lang="en-US" sz="1000" b="1" dirty="0">
                <a:solidFill>
                  <a:srgbClr val="000000"/>
                </a:solidFill>
              </a:rPr>
              <a:t>What </a:t>
            </a:r>
            <a:r>
              <a:rPr lang="en-US" sz="1000" b="1" dirty="0" smtClean="0">
                <a:solidFill>
                  <a:srgbClr val="000000"/>
                </a:solidFill>
              </a:rPr>
              <a:t>does </a:t>
            </a:r>
            <a:r>
              <a:rPr lang="en-US" sz="1000" b="1" dirty="0">
                <a:solidFill>
                  <a:srgbClr val="000000"/>
                </a:solidFill>
              </a:rPr>
              <a:t>the piece of paper signify on the floor?</a:t>
            </a:r>
          </a:p>
        </p:txBody>
      </p:sp>
      <p:sp useBgFill="1">
        <p:nvSpPr>
          <p:cNvPr id="16" name="Rounded Rectangle 15"/>
          <p:cNvSpPr/>
          <p:nvPr/>
        </p:nvSpPr>
        <p:spPr>
          <a:xfrm>
            <a:off x="98425" y="2795588"/>
            <a:ext cx="2546350" cy="1773237"/>
          </a:xfrm>
          <a:prstGeom prst="roundRect">
            <a:avLst/>
          </a:prstGeom>
          <a:ln>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a:lstStyle/>
          <a:p>
            <a:pPr algn="ctr"/>
            <a:r>
              <a:rPr lang="en-US" sz="1000" b="1" dirty="0">
                <a:solidFill>
                  <a:srgbClr val="000000"/>
                </a:solidFill>
              </a:rPr>
              <a:t>What is this child doing ? How old will he be in 1940 if he is a child in 1919? How does his crying link to the title?</a:t>
            </a:r>
          </a:p>
        </p:txBody>
      </p:sp>
      <p:sp useBgFill="1">
        <p:nvSpPr>
          <p:cNvPr id="19" name="Rounded Rectangle 18"/>
          <p:cNvSpPr/>
          <p:nvPr/>
        </p:nvSpPr>
        <p:spPr>
          <a:xfrm>
            <a:off x="6400800" y="1419225"/>
            <a:ext cx="2635250" cy="1376363"/>
          </a:xfrm>
          <a:prstGeom prst="roundRect">
            <a:avLst/>
          </a:prstGeom>
          <a:ln>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a:lstStyle/>
          <a:p>
            <a:pPr algn="ctr"/>
            <a:r>
              <a:rPr lang="en-US" sz="1000" b="1" dirty="0">
                <a:solidFill>
                  <a:srgbClr val="000000"/>
                </a:solidFill>
              </a:rPr>
              <a:t>Who are these men and what are they doing?</a:t>
            </a:r>
          </a:p>
        </p:txBody>
      </p:sp>
      <p:sp useBgFill="1">
        <p:nvSpPr>
          <p:cNvPr id="22" name="Rounded Rectangle 21"/>
          <p:cNvSpPr/>
          <p:nvPr/>
        </p:nvSpPr>
        <p:spPr>
          <a:xfrm>
            <a:off x="6400800" y="2903538"/>
            <a:ext cx="2635250" cy="749300"/>
          </a:xfrm>
          <a:prstGeom prst="roundRect">
            <a:avLst/>
          </a:prstGeom>
          <a:ln>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a:lstStyle/>
          <a:p>
            <a:pPr algn="ctr"/>
            <a:r>
              <a:rPr lang="en-US" sz="1000" b="1" dirty="0">
                <a:solidFill>
                  <a:srgbClr val="000000"/>
                </a:solidFill>
              </a:rPr>
              <a:t>Why is the child naked and what does it represent?</a:t>
            </a:r>
          </a:p>
        </p:txBody>
      </p:sp>
      <p:sp useBgFill="1">
        <p:nvSpPr>
          <p:cNvPr id="25" name="Rounded Rectangle 24"/>
          <p:cNvSpPr/>
          <p:nvPr/>
        </p:nvSpPr>
        <p:spPr>
          <a:xfrm>
            <a:off x="6400800" y="3805238"/>
            <a:ext cx="2635250" cy="1933575"/>
          </a:xfrm>
          <a:prstGeom prst="roundRect">
            <a:avLst/>
          </a:prstGeom>
          <a:ln>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a:lstStyle/>
          <a:p>
            <a:pPr algn="ctr"/>
            <a:r>
              <a:rPr lang="en-US" sz="1000" b="1" dirty="0">
                <a:solidFill>
                  <a:srgbClr val="000000"/>
                </a:solidFill>
              </a:rPr>
              <a:t>What is the comment at the foot of this cartoon saying?</a:t>
            </a:r>
          </a:p>
        </p:txBody>
      </p:sp>
      <p:sp>
        <p:nvSpPr>
          <p:cNvPr id="18450" name="Title 1"/>
          <p:cNvSpPr>
            <a:spLocks/>
          </p:cNvSpPr>
          <p:nvPr/>
        </p:nvSpPr>
        <p:spPr bwMode="auto">
          <a:xfrm>
            <a:off x="300038" y="1115150"/>
            <a:ext cx="8229600" cy="425450"/>
          </a:xfrm>
          <a:prstGeom prst="rect">
            <a:avLst/>
          </a:prstGeom>
          <a:noFill/>
          <a:ln w="9525">
            <a:noFill/>
            <a:miter lim="800000"/>
            <a:headEnd/>
            <a:tailEnd/>
          </a:ln>
        </p:spPr>
        <p:txBody>
          <a:bodyPr anchor="ctr"/>
          <a:lstStyle/>
          <a:p>
            <a:pPr>
              <a:lnSpc>
                <a:spcPct val="45000"/>
              </a:lnSpc>
            </a:pPr>
            <a:r>
              <a:rPr lang="en-US" sz="1600" b="1" dirty="0">
                <a:latin typeface="Franklin Gothic Medium" pitchFamily="34" charset="0"/>
              </a:rPr>
              <a:t>'Peace and future cannon fodder' - a cartoon of 1919 by the Australian artist Will Dyson which appeared in the Daily Herald of 1919.</a:t>
            </a:r>
            <a:r>
              <a:rPr lang="en-US" sz="4400" b="1" dirty="0">
                <a:latin typeface="Franklin Gothic Medium" pitchFamily="34" charset="0"/>
              </a:rPr>
              <a:t>  </a:t>
            </a:r>
            <a:r>
              <a:rPr lang="en-US" sz="4400" dirty="0">
                <a:latin typeface="Franklin Gothic Medium" pitchFamily="34" charset="0"/>
              </a:rPr>
              <a:t> </a:t>
            </a:r>
          </a:p>
        </p:txBody>
      </p:sp>
      <p:sp>
        <p:nvSpPr>
          <p:cNvPr id="18452" name="Line 20"/>
          <p:cNvSpPr>
            <a:spLocks noChangeShapeType="1"/>
          </p:cNvSpPr>
          <p:nvPr/>
        </p:nvSpPr>
        <p:spPr bwMode="auto">
          <a:xfrm>
            <a:off x="2595097" y="1639818"/>
            <a:ext cx="909931" cy="223892"/>
          </a:xfrm>
          <a:prstGeom prst="line">
            <a:avLst/>
          </a:prstGeom>
          <a:noFill/>
          <a:ln w="38100">
            <a:solidFill>
              <a:schemeClr val="tx1"/>
            </a:solidFill>
            <a:round/>
            <a:headEnd/>
            <a:tailEnd type="triangle" w="med" len="med"/>
          </a:ln>
          <a:effectLst/>
        </p:spPr>
        <p:txBody>
          <a:bodyPr/>
          <a:lstStyle/>
          <a:p>
            <a:endParaRPr lang="en-US"/>
          </a:p>
        </p:txBody>
      </p:sp>
      <p:sp>
        <p:nvSpPr>
          <p:cNvPr id="18453" name="Line 21"/>
          <p:cNvSpPr>
            <a:spLocks noChangeShapeType="1"/>
          </p:cNvSpPr>
          <p:nvPr/>
        </p:nvSpPr>
        <p:spPr bwMode="auto">
          <a:xfrm flipH="1">
            <a:off x="5049837" y="1617663"/>
            <a:ext cx="1604159" cy="661987"/>
          </a:xfrm>
          <a:prstGeom prst="line">
            <a:avLst/>
          </a:prstGeom>
          <a:noFill/>
          <a:ln w="38100">
            <a:solidFill>
              <a:schemeClr val="tx1"/>
            </a:solidFill>
            <a:round/>
            <a:headEnd/>
            <a:tailEnd type="triangle" w="med" len="med"/>
          </a:ln>
          <a:effectLst/>
        </p:spPr>
        <p:txBody>
          <a:bodyPr/>
          <a:lstStyle/>
          <a:p>
            <a:endParaRPr lang="en-US"/>
          </a:p>
        </p:txBody>
      </p:sp>
      <p:sp>
        <p:nvSpPr>
          <p:cNvPr id="18454" name="Line 22"/>
          <p:cNvSpPr>
            <a:spLocks noChangeShapeType="1"/>
          </p:cNvSpPr>
          <p:nvPr/>
        </p:nvSpPr>
        <p:spPr bwMode="auto">
          <a:xfrm>
            <a:off x="2644775" y="3165475"/>
            <a:ext cx="365125" cy="639763"/>
          </a:xfrm>
          <a:prstGeom prst="line">
            <a:avLst/>
          </a:prstGeom>
          <a:noFill/>
          <a:ln w="38100">
            <a:solidFill>
              <a:schemeClr val="tx1"/>
            </a:solidFill>
            <a:round/>
            <a:headEnd/>
            <a:tailEnd type="triangle" w="med" len="med"/>
          </a:ln>
          <a:effectLst/>
        </p:spPr>
        <p:txBody>
          <a:bodyPr/>
          <a:lstStyle/>
          <a:p>
            <a:endParaRPr lang="en-US"/>
          </a:p>
        </p:txBody>
      </p:sp>
      <p:sp>
        <p:nvSpPr>
          <p:cNvPr id="18455" name="Line 23"/>
          <p:cNvSpPr>
            <a:spLocks noChangeShapeType="1"/>
          </p:cNvSpPr>
          <p:nvPr/>
        </p:nvSpPr>
        <p:spPr bwMode="auto">
          <a:xfrm>
            <a:off x="1997075" y="5049837"/>
            <a:ext cx="1382400" cy="790575"/>
          </a:xfrm>
          <a:prstGeom prst="line">
            <a:avLst/>
          </a:prstGeom>
          <a:noFill/>
          <a:ln w="38100">
            <a:solidFill>
              <a:schemeClr val="tx1"/>
            </a:solidFill>
            <a:round/>
            <a:headEnd/>
            <a:tailEnd type="triangle" w="med" len="med"/>
          </a:ln>
          <a:effectLst/>
        </p:spPr>
        <p:txBody>
          <a:bodyPr/>
          <a:lstStyle/>
          <a:p>
            <a:endParaRPr lang="en-US"/>
          </a:p>
        </p:txBody>
      </p:sp>
      <p:sp>
        <p:nvSpPr>
          <p:cNvPr id="18458" name="Line 26"/>
          <p:cNvSpPr>
            <a:spLocks noChangeShapeType="1"/>
          </p:cNvSpPr>
          <p:nvPr/>
        </p:nvSpPr>
        <p:spPr bwMode="auto">
          <a:xfrm flipH="1">
            <a:off x="3235324" y="3033422"/>
            <a:ext cx="3418673" cy="1159166"/>
          </a:xfrm>
          <a:prstGeom prst="line">
            <a:avLst/>
          </a:prstGeom>
          <a:noFill/>
          <a:ln w="38100">
            <a:solidFill>
              <a:schemeClr val="tx1"/>
            </a:solidFill>
            <a:round/>
            <a:headEnd/>
            <a:tailEnd type="triangle" w="med" len="med"/>
          </a:ln>
          <a:effectLst/>
        </p:spPr>
        <p:txBody>
          <a:bodyPr/>
          <a:lstStyle/>
          <a:p>
            <a:endParaRPr lang="en-US"/>
          </a:p>
        </p:txBody>
      </p:sp>
      <p:sp>
        <p:nvSpPr>
          <p:cNvPr id="18459" name="Line 27"/>
          <p:cNvSpPr>
            <a:spLocks noChangeShapeType="1"/>
          </p:cNvSpPr>
          <p:nvPr/>
        </p:nvSpPr>
        <p:spPr bwMode="auto">
          <a:xfrm flipH="1">
            <a:off x="5049837" y="4192589"/>
            <a:ext cx="2054225" cy="1922462"/>
          </a:xfrm>
          <a:prstGeom prst="line">
            <a:avLst/>
          </a:prstGeom>
          <a:noFill/>
          <a:ln w="38100">
            <a:solidFill>
              <a:schemeClr val="tx1"/>
            </a:solidFill>
            <a:round/>
            <a:headEnd/>
            <a:tailEnd type="triangle" w="med" len="med"/>
          </a:ln>
          <a:effectLst/>
        </p:spPr>
        <p:txBody>
          <a:bodyPr/>
          <a:lstStyle/>
          <a:p>
            <a:endParaRPr lang="en-US"/>
          </a:p>
        </p:txBody>
      </p:sp>
    </p:spTree>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364DD350-F957-4BE8-A76A-4EAC00199404}" type="slidenum">
              <a:rPr lang="en-US"/>
              <a:pPr>
                <a:defRPr/>
              </a:pPr>
              <a:t>5</a:t>
            </a:fld>
            <a:endParaRPr lang="en-US"/>
          </a:p>
        </p:txBody>
      </p:sp>
      <p:pic>
        <p:nvPicPr>
          <p:cNvPr id="19474" name="Picture 18" descr="cannonfodder"/>
          <p:cNvPicPr>
            <a:picLocks noChangeAspect="1" noChangeArrowheads="1"/>
          </p:cNvPicPr>
          <p:nvPr/>
        </p:nvPicPr>
        <p:blipFill>
          <a:blip r:embed="rId2"/>
          <a:srcRect/>
          <a:stretch>
            <a:fillRect/>
          </a:stretch>
        </p:blipFill>
        <p:spPr bwMode="auto">
          <a:xfrm>
            <a:off x="2644775" y="1308100"/>
            <a:ext cx="3756025" cy="4597400"/>
          </a:xfrm>
          <a:prstGeom prst="rect">
            <a:avLst/>
          </a:prstGeom>
          <a:noFill/>
        </p:spPr>
      </p:pic>
      <p:sp useBgFill="1">
        <p:nvSpPr>
          <p:cNvPr id="10" name="Rounded Rectangle 9"/>
          <p:cNvSpPr/>
          <p:nvPr/>
        </p:nvSpPr>
        <p:spPr>
          <a:xfrm>
            <a:off x="98425" y="1419225"/>
            <a:ext cx="2546350" cy="1111250"/>
          </a:xfrm>
          <a:prstGeom prst="roundRect">
            <a:avLst/>
          </a:prstGeom>
          <a:ln>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a:lstStyle/>
          <a:p>
            <a:pPr algn="ctr"/>
            <a:r>
              <a:rPr lang="en-US" sz="1100" b="1" dirty="0" smtClean="0">
                <a:solidFill>
                  <a:schemeClr val="tx1"/>
                </a:solidFill>
              </a:rPr>
              <a:t>What can we learn from this caption?</a:t>
            </a:r>
          </a:p>
          <a:p>
            <a:pPr algn="ctr"/>
            <a:r>
              <a:rPr lang="en-US" sz="1000" dirty="0" smtClean="0">
                <a:solidFill>
                  <a:schemeClr val="tx1"/>
                </a:solidFill>
              </a:rPr>
              <a:t>This </a:t>
            </a:r>
            <a:r>
              <a:rPr lang="en-US" sz="1000" dirty="0">
                <a:solidFill>
                  <a:schemeClr val="tx1"/>
                </a:solidFill>
              </a:rPr>
              <a:t>title was given to this cartoon, as it was believed that all the Treaty of Versailles did was set up the future generations of the world to be nothing more than “cannon fodder</a:t>
            </a:r>
            <a:r>
              <a:rPr lang="en-US" sz="1000" dirty="0"/>
              <a:t>”</a:t>
            </a:r>
            <a:endParaRPr lang="en-US" sz="1000" dirty="0">
              <a:solidFill>
                <a:srgbClr val="000000"/>
              </a:solidFill>
            </a:endParaRPr>
          </a:p>
        </p:txBody>
      </p:sp>
      <p:sp useBgFill="1">
        <p:nvSpPr>
          <p:cNvPr id="13" name="Rounded Rectangle 12"/>
          <p:cNvSpPr/>
          <p:nvPr/>
        </p:nvSpPr>
        <p:spPr>
          <a:xfrm>
            <a:off x="98425" y="5014050"/>
            <a:ext cx="2378075" cy="1367676"/>
          </a:xfrm>
          <a:prstGeom prst="roundRect">
            <a:avLst/>
          </a:prstGeom>
          <a:ln>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a:lstStyle/>
          <a:p>
            <a:pPr algn="ctr"/>
            <a:r>
              <a:rPr lang="en-US" sz="1000" b="1" dirty="0">
                <a:solidFill>
                  <a:srgbClr val="000000"/>
                </a:solidFill>
              </a:rPr>
              <a:t>What </a:t>
            </a:r>
            <a:r>
              <a:rPr lang="en-US" sz="1000" b="1" dirty="0" smtClean="0">
                <a:solidFill>
                  <a:srgbClr val="000000"/>
                </a:solidFill>
              </a:rPr>
              <a:t>does </a:t>
            </a:r>
            <a:r>
              <a:rPr lang="en-US" sz="1000" b="1" dirty="0">
                <a:solidFill>
                  <a:srgbClr val="000000"/>
                </a:solidFill>
              </a:rPr>
              <a:t>the piece of paper signify on the floor</a:t>
            </a:r>
            <a:r>
              <a:rPr lang="en-US" sz="1000" b="1" dirty="0" smtClean="0">
                <a:solidFill>
                  <a:srgbClr val="000000"/>
                </a:solidFill>
              </a:rPr>
              <a:t>?</a:t>
            </a:r>
          </a:p>
          <a:p>
            <a:pPr algn="ctr"/>
            <a:r>
              <a:rPr lang="en-US" sz="1000" dirty="0">
                <a:solidFill>
                  <a:srgbClr val="000000"/>
                </a:solidFill>
              </a:rPr>
              <a:t>Beside the feet of the young boy is the peace treaty, which explains that Germany does not agree with these terms, as they are harsh and incredibly one-</a:t>
            </a:r>
            <a:r>
              <a:rPr lang="en-US" sz="1000" dirty="0" smtClean="0">
                <a:solidFill>
                  <a:srgbClr val="000000"/>
                </a:solidFill>
              </a:rPr>
              <a:t>sided</a:t>
            </a:r>
            <a:endParaRPr lang="en-US" sz="1000" dirty="0">
              <a:solidFill>
                <a:srgbClr val="000000"/>
              </a:solidFill>
            </a:endParaRPr>
          </a:p>
        </p:txBody>
      </p:sp>
      <p:sp useBgFill="1">
        <p:nvSpPr>
          <p:cNvPr id="16" name="Rounded Rectangle 15"/>
          <p:cNvSpPr/>
          <p:nvPr/>
        </p:nvSpPr>
        <p:spPr>
          <a:xfrm>
            <a:off x="98425" y="2795589"/>
            <a:ext cx="2546350" cy="1570860"/>
          </a:xfrm>
          <a:prstGeom prst="roundRect">
            <a:avLst/>
          </a:prstGeom>
          <a:ln>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a:lstStyle/>
          <a:p>
            <a:pPr algn="ctr"/>
            <a:r>
              <a:rPr lang="en-US" sz="1000" b="1" dirty="0">
                <a:solidFill>
                  <a:srgbClr val="000000"/>
                </a:solidFill>
              </a:rPr>
              <a:t>What is this child doing ? How old will he be in 1940 if he is a child in 1919? How does his crying link to the title</a:t>
            </a:r>
            <a:r>
              <a:rPr lang="en-US" sz="1000" b="1" dirty="0" smtClean="0">
                <a:solidFill>
                  <a:srgbClr val="000000"/>
                </a:solidFill>
              </a:rPr>
              <a:t>?</a:t>
            </a:r>
          </a:p>
          <a:p>
            <a:pPr algn="ctr"/>
            <a:r>
              <a:rPr lang="en-GB" sz="1000" dirty="0" smtClean="0">
                <a:solidFill>
                  <a:srgbClr val="000000"/>
                </a:solidFill>
              </a:rPr>
              <a:t>Clemenceau (’the Tiger’) hears a baby weeping; it is labelled 1940 class (= liable for call-up in 1940). The child is weeping because he is going to be ‘cannon-fodder’ in 1940. The Treaty will not bring a lasting peace – there will be another world war in 20 years’ time.</a:t>
            </a:r>
          </a:p>
          <a:p>
            <a:pPr algn="ctr"/>
            <a:endParaRPr lang="en-US" sz="1000" dirty="0">
              <a:solidFill>
                <a:srgbClr val="000000"/>
              </a:solidFill>
            </a:endParaRPr>
          </a:p>
        </p:txBody>
      </p:sp>
      <p:sp useBgFill="1">
        <p:nvSpPr>
          <p:cNvPr id="19" name="Rounded Rectangle 18"/>
          <p:cNvSpPr/>
          <p:nvPr/>
        </p:nvSpPr>
        <p:spPr>
          <a:xfrm>
            <a:off x="6400800" y="1419225"/>
            <a:ext cx="2635250" cy="1746250"/>
          </a:xfrm>
          <a:prstGeom prst="roundRect">
            <a:avLst/>
          </a:prstGeom>
          <a:ln>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a:lstStyle/>
          <a:p>
            <a:pPr algn="ctr"/>
            <a:r>
              <a:rPr lang="en-US" sz="1000" b="1" dirty="0">
                <a:solidFill>
                  <a:srgbClr val="000000"/>
                </a:solidFill>
              </a:rPr>
              <a:t>Who are these men and what are they doing</a:t>
            </a:r>
            <a:r>
              <a:rPr lang="en-US" sz="1000" b="1" dirty="0" smtClean="0">
                <a:solidFill>
                  <a:srgbClr val="000000"/>
                </a:solidFill>
              </a:rPr>
              <a:t>?</a:t>
            </a:r>
          </a:p>
          <a:p>
            <a:pPr algn="ctr"/>
            <a:r>
              <a:rPr lang="en-GB" sz="1000" dirty="0" smtClean="0">
                <a:solidFill>
                  <a:srgbClr val="000000"/>
                </a:solidFill>
              </a:rPr>
              <a:t>Three four   figures are leaving the building. They represent  Lloyd George, Clemenceau (the Tiger), the prime minister of Italy Vittorio </a:t>
            </a:r>
            <a:r>
              <a:rPr lang="en-GB" sz="1000" dirty="0" err="1" smtClean="0">
                <a:solidFill>
                  <a:srgbClr val="000000"/>
                </a:solidFill>
              </a:rPr>
              <a:t>Orlando</a:t>
            </a:r>
            <a:r>
              <a:rPr lang="en-GB" sz="1000" smtClean="0">
                <a:solidFill>
                  <a:srgbClr val="000000"/>
                </a:solidFill>
              </a:rPr>
              <a:t>   </a:t>
            </a:r>
            <a:r>
              <a:rPr lang="en-GB" sz="1000" dirty="0" smtClean="0">
                <a:solidFill>
                  <a:srgbClr val="000000"/>
                </a:solidFill>
              </a:rPr>
              <a:t>and Wilson. The Big Four have made the Treaty and believe that they have finished their work. Clemenceau is in front of Wilson and Lloyd George to show that The Tiger was the main decision maker and beneficiary of the Treaty.</a:t>
            </a:r>
          </a:p>
          <a:p>
            <a:pPr algn="ctr"/>
            <a:endParaRPr lang="en-GB" sz="1000" dirty="0" smtClean="0">
              <a:solidFill>
                <a:srgbClr val="000000"/>
              </a:solidFill>
            </a:endParaRPr>
          </a:p>
          <a:p>
            <a:pPr algn="ctr"/>
            <a:endParaRPr lang="en-GB" sz="1000" dirty="0" smtClean="0">
              <a:solidFill>
                <a:srgbClr val="000000"/>
              </a:solidFill>
            </a:endParaRPr>
          </a:p>
          <a:p>
            <a:pPr algn="ctr"/>
            <a:endParaRPr lang="en-US" sz="1000" dirty="0">
              <a:solidFill>
                <a:srgbClr val="000000"/>
              </a:solidFill>
            </a:endParaRPr>
          </a:p>
        </p:txBody>
      </p:sp>
      <p:sp useBgFill="1">
        <p:nvSpPr>
          <p:cNvPr id="22" name="Rounded Rectangle 21"/>
          <p:cNvSpPr/>
          <p:nvPr/>
        </p:nvSpPr>
        <p:spPr>
          <a:xfrm>
            <a:off x="6400800" y="3249906"/>
            <a:ext cx="2635250" cy="1318919"/>
          </a:xfrm>
          <a:prstGeom prst="roundRect">
            <a:avLst/>
          </a:prstGeom>
          <a:ln>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a:lstStyle/>
          <a:p>
            <a:pPr algn="ctr"/>
            <a:r>
              <a:rPr lang="en-US" sz="1000" b="1" dirty="0">
                <a:solidFill>
                  <a:srgbClr val="000000"/>
                </a:solidFill>
              </a:rPr>
              <a:t>Why is the child naked and what does it represent</a:t>
            </a:r>
            <a:r>
              <a:rPr lang="en-US" sz="1000" b="1" dirty="0" smtClean="0">
                <a:solidFill>
                  <a:srgbClr val="000000"/>
                </a:solidFill>
              </a:rPr>
              <a:t>?</a:t>
            </a:r>
          </a:p>
          <a:p>
            <a:pPr algn="ctr"/>
            <a:r>
              <a:rPr lang="en-GB" sz="1000" dirty="0" smtClean="0">
                <a:solidFill>
                  <a:srgbClr val="000000"/>
                </a:solidFill>
              </a:rPr>
              <a:t>The child is naked –Message is that what Germany possessed, had been stripped away from them. </a:t>
            </a:r>
          </a:p>
          <a:p>
            <a:pPr algn="ctr"/>
            <a:endParaRPr lang="en-GB" sz="1000" dirty="0" smtClean="0">
              <a:solidFill>
                <a:srgbClr val="000000"/>
              </a:solidFill>
            </a:endParaRPr>
          </a:p>
          <a:p>
            <a:pPr algn="ctr"/>
            <a:endParaRPr lang="en-US" sz="1000" dirty="0">
              <a:solidFill>
                <a:srgbClr val="000000"/>
              </a:solidFill>
            </a:endParaRPr>
          </a:p>
        </p:txBody>
      </p:sp>
      <p:sp useBgFill="1">
        <p:nvSpPr>
          <p:cNvPr id="25" name="Rounded Rectangle 24"/>
          <p:cNvSpPr/>
          <p:nvPr/>
        </p:nvSpPr>
        <p:spPr>
          <a:xfrm>
            <a:off x="6433602" y="4691331"/>
            <a:ext cx="2635250" cy="1690395"/>
          </a:xfrm>
          <a:prstGeom prst="roundRect">
            <a:avLst/>
          </a:prstGeom>
          <a:ln>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a:lstStyle/>
          <a:p>
            <a:pPr algn="ctr"/>
            <a:r>
              <a:rPr lang="en-US" sz="1000" b="1" dirty="0" smtClean="0">
                <a:solidFill>
                  <a:srgbClr val="000000"/>
                </a:solidFill>
              </a:rPr>
              <a:t>What is this comment saying?</a:t>
            </a:r>
          </a:p>
          <a:p>
            <a:pPr algn="ctr"/>
            <a:r>
              <a:rPr lang="en-US" sz="1000" dirty="0" smtClean="0">
                <a:solidFill>
                  <a:srgbClr val="000000"/>
                </a:solidFill>
              </a:rPr>
              <a:t>Clemenceau </a:t>
            </a:r>
            <a:r>
              <a:rPr lang="en-US" sz="1000" dirty="0">
                <a:solidFill>
                  <a:srgbClr val="000000"/>
                </a:solidFill>
              </a:rPr>
              <a:t>looking over his shoulder while commenting “Curious! I seem to hear a child weeping!” gets the audience to depict him as a pitiless and callous man. His comment suggests that he does not notice or understand Germany’s cries for more considerate terms</a:t>
            </a:r>
          </a:p>
        </p:txBody>
      </p:sp>
      <p:sp>
        <p:nvSpPr>
          <p:cNvPr id="19481" name="Line 25"/>
          <p:cNvSpPr>
            <a:spLocks noChangeShapeType="1"/>
          </p:cNvSpPr>
          <p:nvPr/>
        </p:nvSpPr>
        <p:spPr bwMode="auto">
          <a:xfrm flipV="1">
            <a:off x="2644775" y="1456632"/>
            <a:ext cx="819018" cy="168767"/>
          </a:xfrm>
          <a:prstGeom prst="line">
            <a:avLst/>
          </a:prstGeom>
          <a:noFill/>
          <a:ln w="38100">
            <a:solidFill>
              <a:schemeClr val="tx1"/>
            </a:solidFill>
            <a:round/>
            <a:headEnd/>
            <a:tailEnd type="triangle" w="med" len="med"/>
          </a:ln>
          <a:effectLst/>
        </p:spPr>
        <p:txBody>
          <a:bodyPr/>
          <a:lstStyle/>
          <a:p>
            <a:endParaRPr lang="en-US"/>
          </a:p>
        </p:txBody>
      </p:sp>
      <p:sp>
        <p:nvSpPr>
          <p:cNvPr id="19482" name="Line 26"/>
          <p:cNvSpPr>
            <a:spLocks noChangeShapeType="1"/>
          </p:cNvSpPr>
          <p:nvPr/>
        </p:nvSpPr>
        <p:spPr bwMode="auto">
          <a:xfrm flipH="1">
            <a:off x="5049838" y="1617663"/>
            <a:ext cx="1350962" cy="661987"/>
          </a:xfrm>
          <a:prstGeom prst="line">
            <a:avLst/>
          </a:prstGeom>
          <a:noFill/>
          <a:ln w="38100">
            <a:solidFill>
              <a:schemeClr val="tx1"/>
            </a:solidFill>
            <a:round/>
            <a:headEnd/>
            <a:tailEnd type="triangle" w="med" len="med"/>
          </a:ln>
          <a:effectLst/>
        </p:spPr>
        <p:txBody>
          <a:bodyPr/>
          <a:lstStyle/>
          <a:p>
            <a:endParaRPr lang="en-US"/>
          </a:p>
        </p:txBody>
      </p:sp>
      <p:sp>
        <p:nvSpPr>
          <p:cNvPr id="19483" name="Line 27"/>
          <p:cNvSpPr>
            <a:spLocks noChangeShapeType="1"/>
          </p:cNvSpPr>
          <p:nvPr/>
        </p:nvSpPr>
        <p:spPr bwMode="auto">
          <a:xfrm>
            <a:off x="2644775" y="3165475"/>
            <a:ext cx="365125" cy="487363"/>
          </a:xfrm>
          <a:prstGeom prst="line">
            <a:avLst/>
          </a:prstGeom>
          <a:noFill/>
          <a:ln w="38100">
            <a:solidFill>
              <a:schemeClr val="tx1"/>
            </a:solidFill>
            <a:round/>
            <a:headEnd/>
            <a:tailEnd type="triangle" w="med" len="med"/>
          </a:ln>
          <a:effectLst/>
        </p:spPr>
        <p:txBody>
          <a:bodyPr/>
          <a:lstStyle/>
          <a:p>
            <a:endParaRPr lang="en-US"/>
          </a:p>
        </p:txBody>
      </p:sp>
      <p:sp>
        <p:nvSpPr>
          <p:cNvPr id="19484" name="Line 28"/>
          <p:cNvSpPr>
            <a:spLocks noChangeShapeType="1"/>
          </p:cNvSpPr>
          <p:nvPr/>
        </p:nvSpPr>
        <p:spPr bwMode="auto">
          <a:xfrm>
            <a:off x="2476499" y="5269126"/>
            <a:ext cx="758825" cy="217273"/>
          </a:xfrm>
          <a:prstGeom prst="line">
            <a:avLst/>
          </a:prstGeom>
          <a:noFill/>
          <a:ln w="38100">
            <a:solidFill>
              <a:schemeClr val="tx1"/>
            </a:solidFill>
            <a:round/>
            <a:headEnd/>
            <a:tailEnd type="triangle" w="med" len="med"/>
          </a:ln>
          <a:effectLst/>
        </p:spPr>
        <p:txBody>
          <a:bodyPr/>
          <a:lstStyle/>
          <a:p>
            <a:endParaRPr lang="en-US"/>
          </a:p>
        </p:txBody>
      </p:sp>
      <p:sp>
        <p:nvSpPr>
          <p:cNvPr id="19485" name="Line 29"/>
          <p:cNvSpPr>
            <a:spLocks noChangeShapeType="1"/>
          </p:cNvSpPr>
          <p:nvPr/>
        </p:nvSpPr>
        <p:spPr bwMode="auto">
          <a:xfrm flipH="1">
            <a:off x="3235324" y="3379798"/>
            <a:ext cx="3397683" cy="812789"/>
          </a:xfrm>
          <a:prstGeom prst="line">
            <a:avLst/>
          </a:prstGeom>
          <a:noFill/>
          <a:ln w="38100">
            <a:solidFill>
              <a:schemeClr val="tx1"/>
            </a:solidFill>
            <a:round/>
            <a:headEnd/>
            <a:tailEnd type="triangle" w="med" len="med"/>
          </a:ln>
          <a:effectLst/>
        </p:spPr>
        <p:txBody>
          <a:bodyPr/>
          <a:lstStyle/>
          <a:p>
            <a:endParaRPr lang="en-US"/>
          </a:p>
        </p:txBody>
      </p:sp>
      <p:sp>
        <p:nvSpPr>
          <p:cNvPr id="19486" name="Line 30"/>
          <p:cNvSpPr>
            <a:spLocks noChangeShapeType="1"/>
          </p:cNvSpPr>
          <p:nvPr/>
        </p:nvSpPr>
        <p:spPr bwMode="auto">
          <a:xfrm flipH="1">
            <a:off x="5049838" y="5486400"/>
            <a:ext cx="1350962" cy="252413"/>
          </a:xfrm>
          <a:prstGeom prst="line">
            <a:avLst/>
          </a:prstGeom>
          <a:noFill/>
          <a:ln w="38100">
            <a:solidFill>
              <a:schemeClr val="tx1"/>
            </a:solidFill>
            <a:round/>
            <a:headEnd/>
            <a:tailEnd type="triangle" w="med" len="med"/>
          </a:ln>
          <a:effectLst/>
        </p:spPr>
        <p:txBody>
          <a:bodyPr/>
          <a:lstStyle/>
          <a:p>
            <a:endParaRPr lang="en-US"/>
          </a:p>
        </p:txBody>
      </p:sp>
      <p:sp>
        <p:nvSpPr>
          <p:cNvPr id="19487" name="Title 1"/>
          <p:cNvSpPr>
            <a:spLocks/>
          </p:cNvSpPr>
          <p:nvPr/>
        </p:nvSpPr>
        <p:spPr bwMode="auto">
          <a:xfrm>
            <a:off x="300038" y="1031182"/>
            <a:ext cx="8229600" cy="425450"/>
          </a:xfrm>
          <a:prstGeom prst="rect">
            <a:avLst/>
          </a:prstGeom>
          <a:noFill/>
          <a:ln w="9525">
            <a:noFill/>
            <a:miter lim="800000"/>
            <a:headEnd/>
            <a:tailEnd/>
          </a:ln>
        </p:spPr>
        <p:txBody>
          <a:bodyPr anchor="ctr"/>
          <a:lstStyle/>
          <a:p>
            <a:pPr>
              <a:lnSpc>
                <a:spcPct val="45000"/>
              </a:lnSpc>
            </a:pPr>
            <a:r>
              <a:rPr lang="en-US" sz="1600" b="1" dirty="0">
                <a:latin typeface="Franklin Gothic Medium" pitchFamily="34" charset="0"/>
              </a:rPr>
              <a:t>'Peace and future cannon fodder' - a cartoon of 1919 by the Australian artist Will Dyson which appeared in the Daily Herald of 1919.</a:t>
            </a:r>
            <a:r>
              <a:rPr lang="en-US" sz="4400" b="1" dirty="0">
                <a:latin typeface="Franklin Gothic Medium" pitchFamily="34" charset="0"/>
              </a:rPr>
              <a:t>  </a:t>
            </a:r>
            <a:r>
              <a:rPr lang="en-US" sz="4400" dirty="0">
                <a:latin typeface="Franklin Gothic Medium" pitchFamily="34" charset="0"/>
              </a:rPr>
              <a:t> </a:t>
            </a:r>
          </a:p>
        </p:txBody>
      </p:sp>
    </p:spTree>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p:cNvSpPr>
          <p:nvPr>
            <p:ph type="title"/>
          </p:nvPr>
        </p:nvSpPr>
        <p:spPr/>
        <p:txBody>
          <a:bodyPr/>
          <a:lstStyle/>
          <a:p>
            <a:r>
              <a:rPr lang="en-GB" smtClean="0">
                <a:latin typeface="Franklin Gothic Medium" pitchFamily="34" charset="0"/>
              </a:rPr>
              <a:t>Source Analysis</a:t>
            </a:r>
            <a:endParaRPr lang="en-US" smtClean="0">
              <a:latin typeface="Franklin Gothic Medium" pitchFamily="34" charset="0"/>
            </a:endParaRPr>
          </a:p>
        </p:txBody>
      </p:sp>
      <p:sp>
        <p:nvSpPr>
          <p:cNvPr id="20483" name="Rectangle 3"/>
          <p:cNvSpPr>
            <a:spLocks noGrp="1"/>
          </p:cNvSpPr>
          <p:nvPr>
            <p:ph type="body" idx="1"/>
          </p:nvPr>
        </p:nvSpPr>
        <p:spPr/>
        <p:txBody>
          <a:bodyPr>
            <a:normAutofit lnSpcReduction="10000"/>
          </a:bodyPr>
          <a:lstStyle/>
          <a:p>
            <a:r>
              <a:rPr lang="en-GB" dirty="0" smtClean="0">
                <a:latin typeface="Arial" charset="0"/>
                <a:cs typeface="Arial" charset="0"/>
              </a:rPr>
              <a:t>N – Nature (What type of source is it)</a:t>
            </a:r>
          </a:p>
          <a:p>
            <a:r>
              <a:rPr lang="en-GB" dirty="0" smtClean="0">
                <a:latin typeface="Arial" charset="0"/>
                <a:cs typeface="Arial" charset="0"/>
              </a:rPr>
              <a:t>O – Origin (When and where was it made and by whom)</a:t>
            </a:r>
          </a:p>
          <a:p>
            <a:r>
              <a:rPr lang="en-GB" dirty="0" smtClean="0">
                <a:latin typeface="Arial" charset="0"/>
                <a:cs typeface="Arial" charset="0"/>
              </a:rPr>
              <a:t>P – Purpose (Why was it made and was it public or private source)</a:t>
            </a:r>
          </a:p>
          <a:p>
            <a:r>
              <a:rPr lang="en-GB" dirty="0" smtClean="0">
                <a:latin typeface="Arial" charset="0"/>
                <a:cs typeface="Arial" charset="0"/>
              </a:rPr>
              <a:t>C – Content (What can you see in the source)</a:t>
            </a:r>
          </a:p>
          <a:p>
            <a:r>
              <a:rPr lang="en-GB" dirty="0" smtClean="0">
                <a:latin typeface="Arial" charset="0"/>
                <a:cs typeface="Arial" charset="0"/>
              </a:rPr>
              <a:t>C – Context (What is going on at the time)</a:t>
            </a:r>
          </a:p>
          <a:p>
            <a:r>
              <a:rPr lang="en-GB" dirty="0" smtClean="0">
                <a:latin typeface="Arial" charset="0"/>
                <a:cs typeface="Arial" charset="0"/>
              </a:rPr>
              <a:t>C – Content (What does the content say about the context)</a:t>
            </a:r>
            <a:endParaRPr lang="en-US" dirty="0" smtClean="0">
              <a:latin typeface="Arial" charset="0"/>
              <a:cs typeface="Arial" charset="0"/>
            </a:endParaRPr>
          </a:p>
        </p:txBody>
      </p:sp>
    </p:spTree>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Content – What is going on in the cartoon?</a:t>
            </a:r>
            <a:endParaRPr lang="en-US" sz="3200" dirty="0"/>
          </a:p>
        </p:txBody>
      </p:sp>
      <p:sp>
        <p:nvSpPr>
          <p:cNvPr id="3" name="Content Placeholder 2"/>
          <p:cNvSpPr>
            <a:spLocks noGrp="1"/>
          </p:cNvSpPr>
          <p:nvPr>
            <p:ph idx="1"/>
          </p:nvPr>
        </p:nvSpPr>
        <p:spPr/>
        <p:txBody>
          <a:bodyPr>
            <a:normAutofit lnSpcReduction="10000"/>
          </a:bodyPr>
          <a:lstStyle/>
          <a:p>
            <a:r>
              <a:rPr lang="en-US" dirty="0" smtClean="0"/>
              <a:t>Four men are leaving a building. </a:t>
            </a:r>
          </a:p>
          <a:p>
            <a:r>
              <a:rPr lang="en-US" dirty="0" smtClean="0"/>
              <a:t>They are carrying their coats and hats, they have finished. </a:t>
            </a:r>
          </a:p>
          <a:p>
            <a:r>
              <a:rPr lang="en-US" dirty="0" smtClean="0"/>
              <a:t>The pillar represents a grand building. </a:t>
            </a:r>
          </a:p>
          <a:p>
            <a:r>
              <a:rPr lang="en-US" dirty="0" smtClean="0"/>
              <a:t>A child is crying behind a pillar. </a:t>
            </a:r>
          </a:p>
          <a:p>
            <a:r>
              <a:rPr lang="en-US" dirty="0" smtClean="0"/>
              <a:t>A copy of the peace treaty is by it's feet. </a:t>
            </a:r>
          </a:p>
          <a:p>
            <a:r>
              <a:rPr lang="en-US" dirty="0" smtClean="0"/>
              <a:t>The man in front finds it difficult to understand why the child is upset. He looks quite pleased with himself. </a:t>
            </a:r>
          </a:p>
          <a:p>
            <a:endParaRPr lang="en-US" dirty="0"/>
          </a:p>
        </p:txBody>
      </p:sp>
      <p:sp>
        <p:nvSpPr>
          <p:cNvPr id="4" name="Slide Number Placeholder 3"/>
          <p:cNvSpPr>
            <a:spLocks noGrp="1"/>
          </p:cNvSpPr>
          <p:nvPr>
            <p:ph type="sldNum" sz="quarter" idx="12"/>
          </p:nvPr>
        </p:nvSpPr>
        <p:spPr/>
        <p:txBody>
          <a:bodyPr/>
          <a:lstStyle/>
          <a:p>
            <a:pPr>
              <a:defRPr/>
            </a:pPr>
            <a:fld id="{1DF048F2-EB40-414B-9DAD-0EC308728357}" type="slidenum">
              <a:rPr lang="en-US" smtClean="0"/>
              <a:pPr>
                <a:defRPr/>
              </a:pPr>
              <a:t>7</a:t>
            </a:fld>
            <a:endParaRPr lang="en-US" dirty="0"/>
          </a:p>
        </p:txBody>
      </p:sp>
    </p:spTree>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Context – What is going on at the time?</a:t>
            </a:r>
            <a:endParaRPr lang="en-US" sz="3200" dirty="0"/>
          </a:p>
        </p:txBody>
      </p:sp>
      <p:sp>
        <p:nvSpPr>
          <p:cNvPr id="3" name="Content Placeholder 2"/>
          <p:cNvSpPr>
            <a:spLocks noGrp="1"/>
          </p:cNvSpPr>
          <p:nvPr>
            <p:ph idx="1"/>
          </p:nvPr>
        </p:nvSpPr>
        <p:spPr/>
        <p:txBody>
          <a:bodyPr>
            <a:normAutofit fontScale="92500" lnSpcReduction="20000"/>
          </a:bodyPr>
          <a:lstStyle/>
          <a:p>
            <a:r>
              <a:rPr lang="en-US" dirty="0" smtClean="0"/>
              <a:t>Peace Treaty being discussed at Versailles. </a:t>
            </a:r>
          </a:p>
          <a:p>
            <a:r>
              <a:rPr lang="en-US" dirty="0" smtClean="0"/>
              <a:t>Big Four -Clemenceau, Lloyd George, Woodrow Wilson’ and Orlando. </a:t>
            </a:r>
          </a:p>
          <a:p>
            <a:r>
              <a:rPr lang="en-US" dirty="0" smtClean="0"/>
              <a:t>Demand that Germany should be punished. </a:t>
            </a:r>
          </a:p>
          <a:p>
            <a:r>
              <a:rPr lang="en-US" dirty="0" smtClean="0"/>
              <a:t>Wilson Fourteen Points could be basis for peace. </a:t>
            </a:r>
          </a:p>
          <a:p>
            <a:r>
              <a:rPr lang="en-US" dirty="0" smtClean="0"/>
              <a:t>WW1 supposed to be the war to end all wars. </a:t>
            </a:r>
          </a:p>
          <a:p>
            <a:r>
              <a:rPr lang="en-US" dirty="0" smtClean="0"/>
              <a:t>Who would pay for damage? </a:t>
            </a:r>
          </a:p>
          <a:p>
            <a:r>
              <a:rPr lang="en-US" dirty="0" smtClean="0"/>
              <a:t>How could war be avoided in the future? </a:t>
            </a:r>
          </a:p>
          <a:p>
            <a:r>
              <a:rPr lang="en-US" dirty="0" smtClean="0"/>
              <a:t>The leaders could not agree on what to do with Germany. </a:t>
            </a:r>
          </a:p>
          <a:p>
            <a:pPr>
              <a:buNone/>
            </a:pPr>
            <a:endParaRPr lang="en-US" dirty="0" smtClean="0"/>
          </a:p>
          <a:p>
            <a:endParaRPr lang="en-US" dirty="0"/>
          </a:p>
        </p:txBody>
      </p:sp>
      <p:sp>
        <p:nvSpPr>
          <p:cNvPr id="4" name="Slide Number Placeholder 3"/>
          <p:cNvSpPr>
            <a:spLocks noGrp="1"/>
          </p:cNvSpPr>
          <p:nvPr>
            <p:ph type="sldNum" sz="quarter" idx="12"/>
          </p:nvPr>
        </p:nvSpPr>
        <p:spPr/>
        <p:txBody>
          <a:bodyPr/>
          <a:lstStyle/>
          <a:p>
            <a:pPr>
              <a:defRPr/>
            </a:pPr>
            <a:fld id="{1DF048F2-EB40-414B-9DAD-0EC308728357}" type="slidenum">
              <a:rPr lang="en-US" smtClean="0"/>
              <a:pPr>
                <a:defRPr/>
              </a:pPr>
              <a:t>8</a:t>
            </a:fld>
            <a:endParaRPr lang="en-US" dirty="0"/>
          </a:p>
        </p:txBody>
      </p:sp>
    </p:spTree>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Comment – What point is the cartoonist trying to make?</a:t>
            </a:r>
            <a:endParaRPr lang="en-US" sz="3200" dirty="0"/>
          </a:p>
        </p:txBody>
      </p:sp>
      <p:sp>
        <p:nvSpPr>
          <p:cNvPr id="3" name="Content Placeholder 2"/>
          <p:cNvSpPr>
            <a:spLocks noGrp="1"/>
          </p:cNvSpPr>
          <p:nvPr>
            <p:ph idx="1"/>
          </p:nvPr>
        </p:nvSpPr>
        <p:spPr/>
        <p:txBody>
          <a:bodyPr>
            <a:normAutofit fontScale="62500" lnSpcReduction="20000"/>
          </a:bodyPr>
          <a:lstStyle/>
          <a:p>
            <a:r>
              <a:rPr lang="en-US" dirty="0" smtClean="0"/>
              <a:t>The Big Four- Clemenceau, Wilson, Orlando and Lloyd George negotiated the peace settlement. </a:t>
            </a:r>
          </a:p>
          <a:p>
            <a:r>
              <a:rPr lang="en-US" dirty="0" smtClean="0"/>
              <a:t>The building is the Palace of Versailles where the Germans had to sign the Treaty. </a:t>
            </a:r>
          </a:p>
          <a:p>
            <a:r>
              <a:rPr lang="en-US" dirty="0" smtClean="0"/>
              <a:t>The child has read the treaty and as been upset by it's terms. </a:t>
            </a:r>
          </a:p>
          <a:p>
            <a:r>
              <a:rPr lang="en-US" dirty="0" smtClean="0"/>
              <a:t>In 1940 the child will be 21 old enough to fight, he believes there will be a war then. </a:t>
            </a:r>
          </a:p>
          <a:p>
            <a:r>
              <a:rPr lang="en-US" dirty="0" smtClean="0"/>
              <a:t>The Tiger does not understand why the child is crying even though he  should understand the situation. He had lived through the France-Prussian War 1870-71, and like all the French had been angered by the harsh treaty which saw France </a:t>
            </a:r>
            <a:r>
              <a:rPr lang="en-US" smtClean="0"/>
              <a:t>lose Alsace</a:t>
            </a:r>
            <a:r>
              <a:rPr lang="en-US" dirty="0" smtClean="0"/>
              <a:t>-Lorraine to Germany. France had always sought revenge for that loss. He should </a:t>
            </a:r>
            <a:r>
              <a:rPr lang="en-US" dirty="0" err="1" smtClean="0"/>
              <a:t>realise</a:t>
            </a:r>
            <a:r>
              <a:rPr lang="en-US" dirty="0" smtClean="0"/>
              <a:t> that Germany will now want revenge for her losses in the Treaty of Versailles. </a:t>
            </a:r>
          </a:p>
          <a:p>
            <a:r>
              <a:rPr lang="en-US" dirty="0" smtClean="0"/>
              <a:t>The order in which they leave suggests the level of blame for the treaty. </a:t>
            </a:r>
          </a:p>
          <a:p>
            <a:r>
              <a:rPr lang="en-US" dirty="0" smtClean="0"/>
              <a:t>The title suggests there is peace now but there will be war in the future and that war will begin in 1940. </a:t>
            </a:r>
          </a:p>
          <a:p>
            <a:pPr>
              <a:buNone/>
            </a:pPr>
            <a:endParaRPr lang="en-US" dirty="0" smtClean="0"/>
          </a:p>
          <a:p>
            <a:endParaRPr lang="en-US" dirty="0"/>
          </a:p>
        </p:txBody>
      </p:sp>
      <p:sp>
        <p:nvSpPr>
          <p:cNvPr id="4" name="Slide Number Placeholder 3"/>
          <p:cNvSpPr>
            <a:spLocks noGrp="1"/>
          </p:cNvSpPr>
          <p:nvPr>
            <p:ph type="sldNum" sz="quarter" idx="12"/>
          </p:nvPr>
        </p:nvSpPr>
        <p:spPr/>
        <p:txBody>
          <a:bodyPr/>
          <a:lstStyle/>
          <a:p>
            <a:pPr>
              <a:defRPr/>
            </a:pPr>
            <a:fld id="{1DF048F2-EB40-414B-9DAD-0EC308728357}" type="slidenum">
              <a:rPr lang="en-US" smtClean="0"/>
              <a:pPr>
                <a:defRPr/>
              </a:pPr>
              <a:t>9</a:t>
            </a:fld>
            <a:endParaRPr lang="en-US" dirty="0"/>
          </a:p>
        </p:txBody>
      </p:sp>
    </p:spTree>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What is the message of the source? [6]</a:t>
            </a:r>
            <a:endParaRPr lang="en-US" sz="3200" dirty="0"/>
          </a:p>
        </p:txBody>
      </p:sp>
      <p:sp>
        <p:nvSpPr>
          <p:cNvPr id="3" name="Content Placeholder 2"/>
          <p:cNvSpPr>
            <a:spLocks noGrp="1"/>
          </p:cNvSpPr>
          <p:nvPr>
            <p:ph idx="1"/>
          </p:nvPr>
        </p:nvSpPr>
        <p:spPr>
          <a:xfrm>
            <a:off x="457200" y="1749425"/>
            <a:ext cx="8229600" cy="4376738"/>
          </a:xfrm>
        </p:spPr>
        <p:txBody>
          <a:bodyPr/>
          <a:lstStyle/>
          <a:p>
            <a:pPr marL="0" indent="0">
              <a:buNone/>
            </a:pPr>
            <a:r>
              <a:rPr lang="en-US" dirty="0" smtClean="0"/>
              <a:t>The message of this source is ….</a:t>
            </a:r>
            <a:endParaRPr lang="en-US" dirty="0"/>
          </a:p>
        </p:txBody>
      </p:sp>
      <p:sp>
        <p:nvSpPr>
          <p:cNvPr id="4" name="Slide Number Placeholder 3"/>
          <p:cNvSpPr>
            <a:spLocks noGrp="1"/>
          </p:cNvSpPr>
          <p:nvPr>
            <p:ph type="sldNum" sz="quarter" idx="12"/>
          </p:nvPr>
        </p:nvSpPr>
        <p:spPr/>
        <p:txBody>
          <a:bodyPr/>
          <a:lstStyle/>
          <a:p>
            <a:pPr>
              <a:defRPr/>
            </a:pPr>
            <a:fld id="{1DF048F2-EB40-414B-9DAD-0EC308728357}" type="slidenum">
              <a:rPr lang="en-US" smtClean="0"/>
              <a:pPr>
                <a:defRPr/>
              </a:pPr>
              <a:t>10</a:t>
            </a:fld>
            <a:endParaRPr lang="en-US" dirty="0"/>
          </a:p>
        </p:txBody>
      </p:sp>
    </p:spTree>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760</TotalTime>
  <Words>1000</Words>
  <Application>Microsoft Macintosh PowerPoint</Application>
  <PresentationFormat>On-screen Show (4:3)</PresentationFormat>
  <Paragraphs>69</Paragraphs>
  <Slides>10</Slides>
  <Notes>1</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The Treaty of Versailles</vt:lpstr>
      <vt:lpstr>PowerPoint Presentation</vt:lpstr>
      <vt:lpstr>PowerPoint Presentation</vt:lpstr>
      <vt:lpstr>PowerPoint Presentation</vt:lpstr>
      <vt:lpstr>PowerPoint Presentation</vt:lpstr>
      <vt:lpstr>Source Analysis</vt:lpstr>
      <vt:lpstr>Content – What is going on in the cartoon?</vt:lpstr>
      <vt:lpstr>Context – What is going on at the time?</vt:lpstr>
      <vt:lpstr>Comment – What point is the cartoonist trying to make?</vt:lpstr>
      <vt:lpstr>What is the message of the source? [6]</vt:lpstr>
    </vt:vector>
  </TitlesOfParts>
  <Company>Battlefield Historian Ltd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Final Solution</dc:title>
  <dc:creator>Neil Powell</dc:creator>
  <cp:lastModifiedBy>Adam Harris</cp:lastModifiedBy>
  <cp:revision>15</cp:revision>
  <dcterms:created xsi:type="dcterms:W3CDTF">2011-12-30T08:53:13Z</dcterms:created>
  <dcterms:modified xsi:type="dcterms:W3CDTF">2014-06-16T04:13:41Z</dcterms:modified>
</cp:coreProperties>
</file>
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Default Extension="wav" ContentType="audio/wav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50"/>
  </p:notesMasterIdLst>
  <p:sldIdLst>
    <p:sldId id="256" r:id="rId2"/>
    <p:sldId id="262" r:id="rId3"/>
    <p:sldId id="257" r:id="rId4"/>
    <p:sldId id="304" r:id="rId5"/>
    <p:sldId id="258" r:id="rId6"/>
    <p:sldId id="259" r:id="rId7"/>
    <p:sldId id="260" r:id="rId8"/>
    <p:sldId id="261" r:id="rId9"/>
    <p:sldId id="263" r:id="rId10"/>
    <p:sldId id="264" r:id="rId11"/>
    <p:sldId id="266" r:id="rId12"/>
    <p:sldId id="265" r:id="rId13"/>
    <p:sldId id="267" r:id="rId14"/>
    <p:sldId id="268" r:id="rId15"/>
    <p:sldId id="269" r:id="rId16"/>
    <p:sldId id="270" r:id="rId17"/>
    <p:sldId id="271" r:id="rId18"/>
    <p:sldId id="289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92" r:id="rId31"/>
    <p:sldId id="293" r:id="rId32"/>
    <p:sldId id="283" r:id="rId33"/>
    <p:sldId id="307" r:id="rId34"/>
    <p:sldId id="284" r:id="rId35"/>
    <p:sldId id="298" r:id="rId36"/>
    <p:sldId id="286" r:id="rId37"/>
    <p:sldId id="302" r:id="rId38"/>
    <p:sldId id="303" r:id="rId39"/>
    <p:sldId id="287" r:id="rId40"/>
    <p:sldId id="297" r:id="rId41"/>
    <p:sldId id="290" r:id="rId42"/>
    <p:sldId id="295" r:id="rId43"/>
    <p:sldId id="299" r:id="rId44"/>
    <p:sldId id="300" r:id="rId45"/>
    <p:sldId id="301" r:id="rId46"/>
    <p:sldId id="288" r:id="rId47"/>
    <p:sldId id="305" r:id="rId48"/>
    <p:sldId id="308" r:id="rId49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50000"/>
      </a:spcBef>
      <a:spcAft>
        <a:spcPct val="0"/>
      </a:spcAft>
      <a:defRPr sz="8800" b="1" kern="1200">
        <a:solidFill>
          <a:srgbClr val="FF0000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50000"/>
      </a:spcBef>
      <a:spcAft>
        <a:spcPct val="0"/>
      </a:spcAft>
      <a:defRPr sz="8800" b="1" kern="1200">
        <a:solidFill>
          <a:srgbClr val="FF0000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50000"/>
      </a:spcBef>
      <a:spcAft>
        <a:spcPct val="0"/>
      </a:spcAft>
      <a:defRPr sz="8800" b="1" kern="1200">
        <a:solidFill>
          <a:srgbClr val="FF0000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50000"/>
      </a:spcBef>
      <a:spcAft>
        <a:spcPct val="0"/>
      </a:spcAft>
      <a:defRPr sz="8800" b="1" kern="1200">
        <a:solidFill>
          <a:srgbClr val="FF0000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50000"/>
      </a:spcBef>
      <a:spcAft>
        <a:spcPct val="0"/>
      </a:spcAft>
      <a:defRPr sz="8800" b="1" kern="1200">
        <a:solidFill>
          <a:srgbClr val="FF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8800" b="1" kern="1200">
        <a:solidFill>
          <a:srgbClr val="FF0000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8800" b="1" kern="1200">
        <a:solidFill>
          <a:srgbClr val="FF0000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8800" b="1" kern="1200">
        <a:solidFill>
          <a:srgbClr val="FF0000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8800" b="1" kern="1200">
        <a:solidFill>
          <a:srgbClr val="FF0000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339933"/>
    <a:srgbClr val="FF9900"/>
    <a:srgbClr val="A50021"/>
    <a:srgbClr val="996633"/>
    <a:srgbClr val="FFFF00"/>
    <a:srgbClr val="0000FF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4" d="100"/>
          <a:sy n="54" d="100"/>
        </p:scale>
        <p:origin x="-1614" y="-5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14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A0E63-3FF0-4897-97F0-00B93F359DE6}" type="datetimeFigureOut">
              <a:rPr lang="en-AU" smtClean="0"/>
              <a:t>25/11/2011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779A12-3A0D-4F80-977D-F510BD0F9F59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1</a:t>
            </a:fld>
            <a:endParaRPr lang="en-A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2</a:t>
            </a:fld>
            <a:endParaRPr lang="en-A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3</a:t>
            </a:fld>
            <a:endParaRPr lang="en-A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4</a:t>
            </a:fld>
            <a:endParaRPr lang="en-A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5</a:t>
            </a:fld>
            <a:endParaRPr lang="en-A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6</a:t>
            </a:fld>
            <a:endParaRPr lang="en-A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7</a:t>
            </a:fld>
            <a:endParaRPr lang="en-A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8</a:t>
            </a:fld>
            <a:endParaRPr lang="en-A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9</a:t>
            </a:fld>
            <a:endParaRPr lang="en-A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10</a:t>
            </a:fld>
            <a:endParaRPr lang="en-A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11</a:t>
            </a:fld>
            <a:endParaRPr lang="en-A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12</a:t>
            </a:fld>
            <a:endParaRPr lang="en-A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13</a:t>
            </a:fld>
            <a:endParaRPr lang="en-A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14</a:t>
            </a:fld>
            <a:endParaRPr lang="en-A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15</a:t>
            </a:fld>
            <a:endParaRPr lang="en-A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16</a:t>
            </a:fld>
            <a:endParaRPr lang="en-A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17</a:t>
            </a:fld>
            <a:endParaRPr lang="en-A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18</a:t>
            </a:fld>
            <a:endParaRPr lang="en-AU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19</a:t>
            </a:fld>
            <a:endParaRPr lang="en-AU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20</a:t>
            </a:fld>
            <a:endParaRPr lang="en-AU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21</a:t>
            </a:fld>
            <a:endParaRPr lang="en-AU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22</a:t>
            </a:fld>
            <a:endParaRPr lang="en-AU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23</a:t>
            </a:fld>
            <a:endParaRPr lang="en-AU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24</a:t>
            </a:fld>
            <a:endParaRPr lang="en-AU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25</a:t>
            </a:fld>
            <a:endParaRPr lang="en-AU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26</a:t>
            </a:fld>
            <a:endParaRPr lang="en-AU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27</a:t>
            </a:fld>
            <a:endParaRPr lang="en-AU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28</a:t>
            </a:fld>
            <a:endParaRPr lang="en-AU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29</a:t>
            </a:fld>
            <a:endParaRPr lang="en-AU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30</a:t>
            </a:fld>
            <a:endParaRPr lang="en-AU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31</a:t>
            </a:fld>
            <a:endParaRPr lang="en-AU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32</a:t>
            </a:fld>
            <a:endParaRPr lang="en-AU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33</a:t>
            </a:fld>
            <a:endParaRPr lang="en-AU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34</a:t>
            </a:fld>
            <a:endParaRPr lang="en-AU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35</a:t>
            </a:fld>
            <a:endParaRPr lang="en-AU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36</a:t>
            </a:fld>
            <a:endParaRPr lang="en-AU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37</a:t>
            </a:fld>
            <a:endParaRPr lang="en-AU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38</a:t>
            </a:fld>
            <a:endParaRPr lang="en-AU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39</a:t>
            </a:fld>
            <a:endParaRPr lang="en-AU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40</a:t>
            </a:fld>
            <a:endParaRPr lang="en-AU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41</a:t>
            </a:fld>
            <a:endParaRPr lang="en-AU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42</a:t>
            </a:fld>
            <a:endParaRPr lang="en-AU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43</a:t>
            </a:fld>
            <a:endParaRPr lang="en-AU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44</a:t>
            </a:fld>
            <a:endParaRPr lang="en-AU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45</a:t>
            </a:fld>
            <a:endParaRPr lang="en-AU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46</a:t>
            </a:fld>
            <a:endParaRPr lang="en-AU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47</a:t>
            </a:fld>
            <a:endParaRPr lang="en-AU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79A12-3A0D-4F80-977D-F510BD0F9F59}" type="slidenum">
              <a:rPr lang="en-AU" smtClean="0"/>
              <a:t>48</a:t>
            </a:fld>
            <a:endParaRPr lang="en-A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A034CB-6068-490E-A607-0F7EDFF90E9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6542E0-683F-4F3C-A7BB-C760204ABAC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2A5B2A-294F-4761-AB1A-4BDB6A8B038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82E04D-AF82-481D-B5C3-12C1BEF4EB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B70126-DC68-451C-89FF-A6973FCE97B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1E6F9-CBB3-42DD-A939-9FDB2856569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61AA6B-038A-4023-AF90-8E4BA47ADD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C777CF-BAC9-4026-8628-91708D67554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B5C96D-3EB2-4625-A3AA-5281D25FF69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AB2FFF-B8F5-4E44-ACE0-036C62C8D76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0CC10F-CAA3-45B7-92EE-C8AEC36B43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D4343C7-EC06-4B53-A247-BFFC26188C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0A77B0A-E047-4AC9-95DF-D0928A59CC4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F256883-33FB-4D8F-8FE7-4A2F202177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7F022BAB-312D-43CD-A145-BB1859BDD8E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400" b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400" b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 b="0">
                <a:solidFill>
                  <a:schemeClr val="tx1"/>
                </a:solidFill>
              </a:defRPr>
            </a:lvl1pPr>
          </a:lstStyle>
          <a:p>
            <a:fld id="{E35B28C1-B969-4773-B9B7-BE44AEEC42B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1.bin"/><Relationship Id="rId4" Type="http://schemas.openxmlformats.org/officeDocument/2006/relationships/audio" Target="../media/audio3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2.bin"/><Relationship Id="rId4" Type="http://schemas.openxmlformats.org/officeDocument/2006/relationships/audio" Target="../media/audio2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jpeg"/><Relationship Id="rId4" Type="http://schemas.openxmlformats.org/officeDocument/2006/relationships/audio" Target="../media/audio1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jpeg"/><Relationship Id="rId4" Type="http://schemas.openxmlformats.org/officeDocument/2006/relationships/audio" Target="../media/audio7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8.wav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audio" Target="../media/audio6.wav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8.wav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audio" Target="../media/audio9.wav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0.wav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1.wav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audio" Target="../media/audio5.wav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1.wav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7.wav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3.bin"/><Relationship Id="rId4" Type="http://schemas.openxmlformats.org/officeDocument/2006/relationships/audio" Target="../media/audio10.wav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4.bin"/><Relationship Id="rId4" Type="http://schemas.openxmlformats.org/officeDocument/2006/relationships/audio" Target="../media/audio1.wav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b="1" u="sng">
                <a:solidFill>
                  <a:schemeClr val="tx1"/>
                </a:solidFill>
              </a:rPr>
              <a:t>THE HOLOCAUST</a:t>
            </a:r>
            <a:endParaRPr lang="en-US"/>
          </a:p>
        </p:txBody>
      </p:sp>
      <p:pic>
        <p:nvPicPr>
          <p:cNvPr id="2051" name="Picture 3" descr="H:\pile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19200" y="1752600"/>
            <a:ext cx="6934200" cy="4800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cmd type="evt" cmd="onstopaudio">
                                      <p:cBhvr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ldTgt/>
                                        </p:tgtEl>
                                      </p:cBhvr>
                                    </p:cmd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u="sng">
                <a:solidFill>
                  <a:srgbClr val="FF0000"/>
                </a:solidFill>
              </a:rPr>
              <a:t>OBJECTIVES:</a:t>
            </a:r>
            <a:endParaRPr lang="en-US"/>
          </a:p>
        </p:txBody>
      </p:sp>
      <p:sp>
        <p:nvSpPr>
          <p:cNvPr id="1024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DEFINE  THE TERMS HOLOCAUST AND GENOCIDE.</a:t>
            </a:r>
          </a:p>
          <a:p>
            <a:r>
              <a:rPr lang="en-US"/>
              <a:t>DESCRIBE ANTI- JEWISH POLICIES PASSED BY THE NAZIS IN THE 1930’S.</a:t>
            </a:r>
          </a:p>
          <a:p>
            <a:r>
              <a:rPr lang="en-US"/>
              <a:t>IDENTIFY AND DESCRIBE HITLER’S “FINAL SOLUTION” PROGRAM.</a:t>
            </a:r>
          </a:p>
          <a:p>
            <a:r>
              <a:rPr lang="en-US"/>
              <a:t>DESCRIBE THE CONCENTRATION AND DEATH CAMPS USED IN WW II.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>
                <a:solidFill>
                  <a:srgbClr val="0000FF"/>
                </a:solidFill>
              </a:rPr>
              <a:t>DEFINTIONS:</a:t>
            </a: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u="sng"/>
              <a:t> </a:t>
            </a:r>
            <a:r>
              <a:rPr lang="en-US" sz="3600" b="1" i="1" u="sng">
                <a:solidFill>
                  <a:srgbClr val="FF0000"/>
                </a:solidFill>
              </a:rPr>
              <a:t>HOLOCAUST</a:t>
            </a:r>
            <a:r>
              <a:rPr lang="en-US" b="1" u="sng"/>
              <a:t> </a:t>
            </a:r>
            <a:endParaRPr lang="en-US"/>
          </a:p>
          <a:p>
            <a:r>
              <a:rPr lang="en-US"/>
              <a:t>A PROGRAM OF MASS MURDER</a:t>
            </a:r>
          </a:p>
          <a:p>
            <a:endParaRPr lang="en-US"/>
          </a:p>
          <a:p>
            <a:pPr algn="ctr"/>
            <a:r>
              <a:rPr lang="en-US" sz="3600" b="1" i="1" u="sng">
                <a:solidFill>
                  <a:srgbClr val="FF0000"/>
                </a:solidFill>
              </a:rPr>
              <a:t>GENOCIDE </a:t>
            </a:r>
            <a:endParaRPr lang="en-US"/>
          </a:p>
          <a:p>
            <a:r>
              <a:rPr lang="en-US"/>
              <a:t>THE ANNIHILATON OF ENTIRE RACE OF PEOPLE</a:t>
            </a:r>
          </a:p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>
                <a:solidFill>
                  <a:srgbClr val="FF0000"/>
                </a:solidFill>
              </a:rPr>
              <a:t>HOLOCAUST STATISTICS</a:t>
            </a:r>
          </a:p>
        </p:txBody>
      </p:sp>
      <p:graphicFrame>
        <p:nvGraphicFramePr>
          <p:cNvPr id="63488" name="Object 1024"/>
          <p:cNvGraphicFramePr>
            <a:graphicFrameLocks noChangeAspect="1"/>
          </p:cNvGraphicFramePr>
          <p:nvPr>
            <p:ph type="chart" idx="1"/>
          </p:nvPr>
        </p:nvGraphicFramePr>
        <p:xfrm>
          <a:off x="685800" y="1981200"/>
          <a:ext cx="7772400" cy="4113213"/>
        </p:xfrm>
        <a:graphic>
          <a:graphicData uri="http://schemas.openxmlformats.org/presentationml/2006/ole">
            <p:oleObj spid="_x0000_s63488" name="Chart" r:id="rId5" imgW="7772638" imgH="4115038" progId="MSGraph.Chart.8">
              <p:embed followColorScheme="full"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3488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">
                                            <p:oleChartEl type="category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3488">
                                            <p:oleChartEl type="category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">
                                            <p:oleChartEl type="category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63488">
                                            <p:oleChartEl type="category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">
                                            <p:oleChartEl type="category" lvl="3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3488">
                                            <p:oleChartEl type="category" lvl="3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">
                                            <p:oleChartEl type="category" lvl="4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63488">
                                            <p:oleChartEl type="category" lvl="4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63488" grpId="0" bld="category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u="sng">
                <a:solidFill>
                  <a:srgbClr val="FFFF00"/>
                </a:solidFill>
              </a:rPr>
              <a:t>PROGRESSION OF DISCRIMINATION TOWARDS JEWS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NAZI party and Adolf Hitler seized power in 1933 and slowly began their program against the Jews of Germany</a:t>
            </a:r>
          </a:p>
          <a:p>
            <a:r>
              <a:rPr lang="en-US"/>
              <a:t>In 1933 there were 566,000 Jews living in Germany.</a:t>
            </a:r>
          </a:p>
          <a:p>
            <a:r>
              <a:rPr lang="en-US"/>
              <a:t>Each new year in Germany led to harsher policies directed towards the Jews.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utoUpdateAnimBg="0"/>
      <p:bldP spid="512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b="1" u="sng">
                <a:solidFill>
                  <a:srgbClr val="FFFF00"/>
                </a:solidFill>
              </a:rPr>
              <a:t>1933</a:t>
            </a: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800"/>
              <a:t>NAZIS boycott Jewish businesses</a:t>
            </a:r>
          </a:p>
          <a:p>
            <a:r>
              <a:rPr lang="en-US" sz="2800"/>
              <a:t> issue decree that defines non-Aryans</a:t>
            </a:r>
          </a:p>
          <a:p>
            <a:r>
              <a:rPr lang="en-US" sz="2800"/>
              <a:t>Hermann Goering creates the GESTAPO</a:t>
            </a:r>
          </a:p>
          <a:p>
            <a:r>
              <a:rPr lang="en-US" sz="2800"/>
              <a:t>first concentration camps are built</a:t>
            </a:r>
          </a:p>
          <a:p>
            <a:r>
              <a:rPr lang="en-US" sz="2800"/>
              <a:t>Dachau - 3/22/33</a:t>
            </a:r>
          </a:p>
        </p:txBody>
      </p:sp>
      <p:pic>
        <p:nvPicPr>
          <p:cNvPr id="6150" name="Picture 6" descr="H:\goering.jpg"/>
          <p:cNvPicPr>
            <a:picLocks noChangeAspect="1" noChangeArrowheads="1"/>
          </p:cNvPicPr>
          <p:nvPr>
            <p:ph type="clipArt" sz="half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5126038" y="1981200"/>
            <a:ext cx="2854325" cy="411480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b="1" u="sng">
                <a:solidFill>
                  <a:srgbClr val="FFFF00"/>
                </a:solidFill>
              </a:rPr>
              <a:t>1934</a:t>
            </a: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800"/>
              <a:t>Jews are not allowed to have national health insurance</a:t>
            </a:r>
          </a:p>
          <a:p>
            <a:r>
              <a:rPr lang="en-US" sz="2800"/>
              <a:t>the SS (Schutzstaffel) is formed</a:t>
            </a:r>
          </a:p>
          <a:p>
            <a:r>
              <a:rPr lang="en-US" sz="2800"/>
              <a:t>Hitler becomes Der Fuherer and receives a 90% approval rating from the people</a:t>
            </a:r>
          </a:p>
        </p:txBody>
      </p:sp>
      <p:pic>
        <p:nvPicPr>
          <p:cNvPr id="7174" name="Picture 6" descr="H:\Hitlerz.jpg"/>
          <p:cNvPicPr>
            <a:picLocks noChangeAspect="1" noChangeArrowheads="1"/>
          </p:cNvPicPr>
          <p:nvPr>
            <p:ph type="clipArt" sz="half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4953000" y="1676400"/>
            <a:ext cx="3714750" cy="487680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>
                <a:solidFill>
                  <a:srgbClr val="FFFF00"/>
                </a:solidFill>
              </a:rPr>
              <a:t>1935- Nuremberg Race Laws</a:t>
            </a:r>
            <a:endParaRPr lang="en-US"/>
          </a:p>
        </p:txBody>
      </p:sp>
      <p:graphicFrame>
        <p:nvGraphicFramePr>
          <p:cNvPr id="64512" name="Object 1024"/>
          <p:cNvGraphicFramePr>
            <a:graphicFrameLocks noChangeAspect="1"/>
          </p:cNvGraphicFramePr>
          <p:nvPr>
            <p:ph type="dgm" idx="1"/>
          </p:nvPr>
        </p:nvGraphicFramePr>
        <p:xfrm>
          <a:off x="381000" y="2209800"/>
          <a:ext cx="8458200" cy="3505200"/>
        </p:xfrm>
        <a:graphic>
          <a:graphicData uri="http://schemas.openxmlformats.org/presentationml/2006/ole">
            <p:oleObj spid="_x0000_s64512" name="MS Org Chart" r:id="rId5" imgW="7772400" imgH="1917360" progId="OrgPlusWOPX.4">
              <p:embed followColorScheme="full"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45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b="1" u="sng">
                <a:solidFill>
                  <a:srgbClr val="FFFF00"/>
                </a:solidFill>
              </a:rPr>
              <a:t>1936</a:t>
            </a:r>
            <a:endParaRPr lang="en-US" sz="6000" b="1" u="sng">
              <a:solidFill>
                <a:srgbClr val="FFFF00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800"/>
              <a:t>SS Deathshead division is created to guard camps</a:t>
            </a:r>
          </a:p>
          <a:p>
            <a:r>
              <a:rPr lang="en-US" sz="2800"/>
              <a:t>Heinreich Himmler is appointed Chief of the German Police</a:t>
            </a:r>
          </a:p>
          <a:p>
            <a:r>
              <a:rPr lang="en-US" sz="2800"/>
              <a:t>Olympic games in Berlin, Jews treated better - briefly.</a:t>
            </a:r>
          </a:p>
        </p:txBody>
      </p:sp>
      <p:pic>
        <p:nvPicPr>
          <p:cNvPr id="11270" name="Picture 6" descr="H:\himmler2.jpg"/>
          <p:cNvPicPr>
            <a:picLocks noChangeAspect="1" noChangeArrowheads="1"/>
          </p:cNvPicPr>
          <p:nvPr>
            <p:ph type="clipArt" sz="half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4572000" y="2133600"/>
            <a:ext cx="4572000" cy="340995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b="1" u="sng">
                <a:solidFill>
                  <a:srgbClr val="FFFF00"/>
                </a:solidFill>
              </a:rPr>
              <a:t>1937</a:t>
            </a:r>
            <a:endParaRPr lang="en-US" sz="6000" b="1" u="sng">
              <a:solidFill>
                <a:srgbClr val="FFFF00"/>
              </a:solidFill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800"/>
              <a:t>Jews are not allowed to teach Germans</a:t>
            </a:r>
          </a:p>
          <a:p>
            <a:r>
              <a:rPr lang="en-US" sz="2800"/>
              <a:t>not allowed to be accountants or dentists</a:t>
            </a:r>
          </a:p>
          <a:p>
            <a:r>
              <a:rPr lang="en-US" sz="2800"/>
              <a:t>“Eternal Jew” exhibit opened in Germany</a:t>
            </a:r>
          </a:p>
          <a:p>
            <a:r>
              <a:rPr lang="en-US" sz="2800"/>
              <a:t>this promoted stereo-types of Jews and warned Germans</a:t>
            </a:r>
          </a:p>
        </p:txBody>
      </p:sp>
      <p:pic>
        <p:nvPicPr>
          <p:cNvPr id="12294" name="Picture 6" descr="H:\eternal.jpg"/>
          <p:cNvPicPr>
            <a:picLocks noChangeAspect="1" noChangeArrowheads="1"/>
          </p:cNvPicPr>
          <p:nvPr>
            <p:ph type="clipArt"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648200" y="2209800"/>
            <a:ext cx="4495800" cy="3284538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b="1" u="sng">
                <a:solidFill>
                  <a:srgbClr val="FFFF00"/>
                </a:solidFill>
              </a:rPr>
              <a:t>1938</a:t>
            </a:r>
            <a:endParaRPr lang="en-US" sz="5400" b="1" u="sng">
              <a:solidFill>
                <a:srgbClr val="FFFF00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800"/>
              <a:t>Nazi troops enter Austria</a:t>
            </a:r>
          </a:p>
          <a:p>
            <a:r>
              <a:rPr lang="en-US" sz="2800"/>
              <a:t>League of Nations considers helping Jews fleeing Hitler, but no country will take them</a:t>
            </a:r>
          </a:p>
          <a:p>
            <a:r>
              <a:rPr lang="en-US" sz="2800"/>
              <a:t>Jews are not allowed to practice medicine</a:t>
            </a:r>
          </a:p>
        </p:txBody>
      </p:sp>
      <p:pic>
        <p:nvPicPr>
          <p:cNvPr id="14342" name="Picture 6" descr="H:\Hitler.jpg"/>
          <p:cNvPicPr>
            <a:picLocks noChangeAspect="1" noChangeArrowheads="1"/>
          </p:cNvPicPr>
          <p:nvPr>
            <p:ph type="clipArt" sz="half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4648200" y="1905000"/>
            <a:ext cx="4495800" cy="4351338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>
                <a:solidFill>
                  <a:srgbClr val="FFFF00"/>
                </a:solidFill>
              </a:rPr>
              <a:t>1939-KRISTALLNACHT</a:t>
            </a:r>
            <a:endParaRPr lang="en-US" b="1" u="sng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800"/>
              <a:t>Night of Broken Glass</a:t>
            </a:r>
          </a:p>
          <a:p>
            <a:r>
              <a:rPr lang="en-US" sz="2800"/>
              <a:t>Jewish stores, shops and synagogues burned down</a:t>
            </a:r>
          </a:p>
          <a:p>
            <a:r>
              <a:rPr lang="en-US" sz="2800"/>
              <a:t>Took place because a German official was killed in Paris by a Jew</a:t>
            </a:r>
          </a:p>
          <a:p>
            <a:r>
              <a:rPr lang="en-US" sz="2800"/>
              <a:t>November 9, 1939 </a:t>
            </a:r>
          </a:p>
        </p:txBody>
      </p:sp>
      <p:pic>
        <p:nvPicPr>
          <p:cNvPr id="13318" name="Picture 6" descr="H:\nacht2.jpg"/>
          <p:cNvPicPr>
            <a:picLocks noChangeAspect="1" noChangeArrowheads="1"/>
          </p:cNvPicPr>
          <p:nvPr>
            <p:ph type="chart" sz="half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4648200" y="2057400"/>
            <a:ext cx="4495800" cy="4162425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autoUpdateAnimBg="0"/>
      <p:bldP spid="13315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b="1" u="sng">
                <a:solidFill>
                  <a:srgbClr val="FFFF00"/>
                </a:solidFill>
              </a:rPr>
              <a:t>1939</a:t>
            </a:r>
            <a:endParaRPr lang="en-US" sz="5400" b="1" u="sng">
              <a:solidFill>
                <a:srgbClr val="FFFF00"/>
              </a:solidFill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800"/>
              <a:t>Reinhard Heydrich is ordered to speed up emigration of Jews</a:t>
            </a:r>
          </a:p>
          <a:p>
            <a:r>
              <a:rPr lang="en-US" sz="2800"/>
              <a:t>The </a:t>
            </a:r>
            <a:r>
              <a:rPr lang="en-US" sz="2800" i="1"/>
              <a:t>St. Louis</a:t>
            </a:r>
            <a:r>
              <a:rPr lang="en-US" sz="2800"/>
              <a:t> is turned away from the US.</a:t>
            </a:r>
          </a:p>
          <a:p>
            <a:r>
              <a:rPr lang="en-US" sz="2800"/>
              <a:t>Jews must hand over all gold and silver.</a:t>
            </a:r>
          </a:p>
          <a:p>
            <a:r>
              <a:rPr lang="en-US" sz="2800"/>
              <a:t>Nazi troops seize Czechoslovakia</a:t>
            </a:r>
          </a:p>
          <a:p>
            <a:r>
              <a:rPr lang="en-US" sz="2800"/>
              <a:t>350,000 Jews</a:t>
            </a:r>
          </a:p>
          <a:p>
            <a:endParaRPr lang="en-US" sz="2800"/>
          </a:p>
        </p:txBody>
      </p:sp>
      <p:pic>
        <p:nvPicPr>
          <p:cNvPr id="15369" name="Picture 9" descr="H:\stlouis2.jpg"/>
          <p:cNvPicPr>
            <a:picLocks noChangeAspect="1" noChangeArrowheads="1"/>
          </p:cNvPicPr>
          <p:nvPr>
            <p:ph type="clipArt"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419600" y="2438400"/>
            <a:ext cx="4495800" cy="3113088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b="1" u="sng">
                <a:solidFill>
                  <a:srgbClr val="FFFF00"/>
                </a:solidFill>
              </a:rPr>
              <a:t>POLAND 1939</a:t>
            </a:r>
            <a:endParaRPr lang="en-US" sz="5400" b="1" u="sng">
              <a:solidFill>
                <a:srgbClr val="FFFF0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800"/>
              <a:t>Sept. 1, 1939 Nazis invade Poland</a:t>
            </a:r>
          </a:p>
          <a:p>
            <a:r>
              <a:rPr lang="en-US" sz="2800"/>
              <a:t>3.35 million Jews</a:t>
            </a:r>
          </a:p>
          <a:p>
            <a:r>
              <a:rPr lang="en-US" sz="2800"/>
              <a:t>Hans Frank becomes governor of Poland</a:t>
            </a:r>
          </a:p>
          <a:p>
            <a:r>
              <a:rPr lang="en-US" sz="2800"/>
              <a:t>Forced labor decree issued and all Jews must wear yellow stars</a:t>
            </a:r>
          </a:p>
        </p:txBody>
      </p:sp>
      <p:pic>
        <p:nvPicPr>
          <p:cNvPr id="16390" name="Picture 6" descr="H:\hansfrank.jpg"/>
          <p:cNvPicPr>
            <a:picLocks noChangeAspect="1" noChangeArrowheads="1"/>
          </p:cNvPicPr>
          <p:nvPr>
            <p:ph type="clipArt" sz="half" idx="2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4267200" y="1981200"/>
            <a:ext cx="4495800" cy="3313113"/>
          </a:xfrm>
        </p:spPr>
      </p:pic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4953000" y="5715000"/>
            <a:ext cx="38862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400" b="0">
                <a:solidFill>
                  <a:schemeClr val="tx1"/>
                </a:solidFill>
              </a:rPr>
              <a:t>“I ask nothing of Jews except that they should disappear”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 autoUpdateAnimBg="0"/>
      <p:bldP spid="1639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b="1" u="sng">
                <a:solidFill>
                  <a:srgbClr val="FFFF00"/>
                </a:solidFill>
              </a:rPr>
              <a:t>1940</a:t>
            </a:r>
            <a:endParaRPr lang="en-US" sz="5400" b="1" u="sng">
              <a:solidFill>
                <a:srgbClr val="FFFF00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800"/>
              <a:t>German Jews are deported to Poland</a:t>
            </a:r>
          </a:p>
          <a:p>
            <a:r>
              <a:rPr lang="en-US" sz="2800"/>
              <a:t>Ghettos of Lodz, Krakow and Warsaw are sealed off.</a:t>
            </a:r>
          </a:p>
          <a:p>
            <a:r>
              <a:rPr lang="en-US" sz="2800"/>
              <a:t>Total of 600,000 Jews</a:t>
            </a:r>
          </a:p>
          <a:p>
            <a:r>
              <a:rPr lang="en-US" sz="2800"/>
              <a:t>These ghettos will be liquidated starting in 1942</a:t>
            </a:r>
          </a:p>
        </p:txBody>
      </p:sp>
      <p:pic>
        <p:nvPicPr>
          <p:cNvPr id="17417" name="Picture 9" descr="H:\g2.jpg"/>
          <p:cNvPicPr>
            <a:picLocks noChangeAspect="1" noChangeArrowheads="1"/>
          </p:cNvPicPr>
          <p:nvPr>
            <p:ph type="clipArt" sz="half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4343400" y="1752600"/>
            <a:ext cx="4800600" cy="3114675"/>
          </a:xfrm>
        </p:spPr>
      </p:pic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4648200" y="5334000"/>
            <a:ext cx="4191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400"/>
              <a:t>German soldiers rounding up Jews to be placed in ghettos</a:t>
            </a:r>
            <a:endParaRPr lang="en-US" sz="24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 autoUpdateAnimBg="0"/>
      <p:bldP spid="1741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b="1" u="sng">
                <a:solidFill>
                  <a:srgbClr val="FFFF00"/>
                </a:solidFill>
              </a:rPr>
              <a:t>1941</a:t>
            </a:r>
            <a:endParaRPr lang="en-US" sz="5400" b="1" u="sng">
              <a:solidFill>
                <a:srgbClr val="FFFF00"/>
              </a:solidFill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800"/>
              <a:t>Nazis invade the Soviet Union</a:t>
            </a:r>
          </a:p>
          <a:p>
            <a:r>
              <a:rPr lang="en-US" sz="2800"/>
              <a:t>Jewish population of 3 million</a:t>
            </a:r>
          </a:p>
          <a:p>
            <a:r>
              <a:rPr lang="en-US" sz="2800"/>
              <a:t>Hitler issues infamous “Commissar Order”</a:t>
            </a:r>
          </a:p>
          <a:p>
            <a:r>
              <a:rPr lang="en-US" sz="2800"/>
              <a:t>SS Einsatzgruppen follow advance of German Army</a:t>
            </a:r>
          </a:p>
        </p:txBody>
      </p:sp>
      <p:pic>
        <p:nvPicPr>
          <p:cNvPr id="19462" name="Picture 6" descr="H:\wsaw-exec.jpg"/>
          <p:cNvPicPr>
            <a:picLocks noChangeAspect="1" noChangeArrowheads="1"/>
          </p:cNvPicPr>
          <p:nvPr>
            <p:ph type="clipArt" sz="half" idx="2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4648200" y="2057400"/>
            <a:ext cx="4267200" cy="2806700"/>
          </a:xfrm>
        </p:spPr>
      </p:pic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4572000" y="5257800"/>
            <a:ext cx="4191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400" b="0">
                <a:solidFill>
                  <a:schemeClr val="tx1"/>
                </a:solidFill>
              </a:rPr>
              <a:t>“Liquidate all Communist officials you encounter!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icoche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autoUpdateAnimBg="0"/>
      <p:bldP spid="1946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u="sng">
                <a:solidFill>
                  <a:srgbClr val="FF0000"/>
                </a:solidFill>
              </a:rPr>
              <a:t>Einsatzgruppen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SS “Special Action Groups” organized in early years of war by Reinhard Heydrich</a:t>
            </a:r>
          </a:p>
          <a:p>
            <a:r>
              <a:rPr lang="en-US"/>
              <a:t>Heydrich organized 4 large groups (A,B,C,D) in Soviet Union</a:t>
            </a:r>
          </a:p>
          <a:p>
            <a:r>
              <a:rPr lang="en-US"/>
              <a:t>Competition between group leaders to see who could kill the most Jews</a:t>
            </a:r>
          </a:p>
          <a:p>
            <a:r>
              <a:rPr lang="en-US"/>
              <a:t>1,300,000 Russian Jews killed by end of war by these “mobile killing units”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utoUpdateAnimBg="0"/>
      <p:bldP spid="20483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026"/>
          <p:cNvSpPr txBox="1">
            <a:spLocks noChangeArrowheads="1"/>
          </p:cNvSpPr>
          <p:nvPr/>
        </p:nvSpPr>
        <p:spPr bwMode="auto">
          <a:xfrm>
            <a:off x="685800" y="0"/>
            <a:ext cx="7162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3200" u="sng"/>
              <a:t>EINSATZ AREA OF OPERATIONS </a:t>
            </a:r>
          </a:p>
        </p:txBody>
      </p:sp>
      <p:pic>
        <p:nvPicPr>
          <p:cNvPr id="38915" name="Picture 1027" descr="H:\einmap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85800"/>
            <a:ext cx="9144000" cy="60023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u="sng">
                <a:solidFill>
                  <a:srgbClr val="FF0000"/>
                </a:solidFill>
              </a:rPr>
              <a:t>Wannsee Conference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Heydrich was ordered by Hermann Goering to prepare a “final solution” to the Jewish question </a:t>
            </a:r>
          </a:p>
          <a:p>
            <a:r>
              <a:rPr lang="en-US"/>
              <a:t>Heydrich organized a meeting with 15 top Nazi officials in Berlin = Jan. 20, 1942</a:t>
            </a:r>
          </a:p>
          <a:p>
            <a:r>
              <a:rPr lang="en-US"/>
              <a:t>Nazis would attempt to exterminate the entire Jewish population of Europe, an estimated 11 million persons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utoUpdateAnimBg="0"/>
      <p:bldP spid="21507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u="sng">
                <a:solidFill>
                  <a:srgbClr val="FF0000"/>
                </a:solidFill>
              </a:rPr>
              <a:t>Reinhard Heydrich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800"/>
              <a:t>Nicknamed “The Blond Beast” and “Hangman Heydrich”</a:t>
            </a:r>
          </a:p>
          <a:p>
            <a:r>
              <a:rPr lang="en-US" sz="2800"/>
              <a:t>second in command of Gestapo and SS</a:t>
            </a:r>
          </a:p>
          <a:p>
            <a:r>
              <a:rPr lang="en-US" sz="2800"/>
              <a:t>principle planner of the Final Solution</a:t>
            </a:r>
          </a:p>
          <a:p>
            <a:r>
              <a:rPr lang="en-US" sz="2800"/>
              <a:t>Brigadier General in SS at the age of 30</a:t>
            </a:r>
          </a:p>
        </p:txBody>
      </p:sp>
      <p:pic>
        <p:nvPicPr>
          <p:cNvPr id="22534" name="Picture 6" descr="H:\heydrich2.jpg"/>
          <p:cNvPicPr>
            <a:picLocks noChangeAspect="1" noChangeArrowheads="1"/>
          </p:cNvPicPr>
          <p:nvPr>
            <p:ph type="clipArt"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648200" y="1752600"/>
            <a:ext cx="3938588" cy="487680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>
                <a:solidFill>
                  <a:srgbClr val="FF0000"/>
                </a:solidFill>
              </a:rPr>
              <a:t>Heydrich and Final Solution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800"/>
              <a:t>“Europe would be combed of Jews from East to West”</a:t>
            </a:r>
          </a:p>
          <a:p>
            <a:r>
              <a:rPr lang="en-US" sz="2800"/>
              <a:t>“Madagascar Plan”</a:t>
            </a:r>
          </a:p>
          <a:p>
            <a:r>
              <a:rPr lang="en-US" sz="2800"/>
              <a:t>ordered Einsatzs to round up and kill Jews in occupied countries</a:t>
            </a:r>
          </a:p>
          <a:p>
            <a:r>
              <a:rPr lang="en-US" sz="2800"/>
              <a:t>leader of RSHA</a:t>
            </a:r>
          </a:p>
          <a:p>
            <a:endParaRPr lang="en-US" sz="2800"/>
          </a:p>
        </p:txBody>
      </p:sp>
      <p:pic>
        <p:nvPicPr>
          <p:cNvPr id="23558" name="Picture 6" descr="H:\hey-seat.jpg"/>
          <p:cNvPicPr>
            <a:picLocks noChangeAspect="1" noChangeArrowheads="1"/>
          </p:cNvPicPr>
          <p:nvPr>
            <p:ph type="clipArt"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648200" y="1905000"/>
            <a:ext cx="4495800" cy="4244975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>
                <a:solidFill>
                  <a:srgbClr val="FF0000"/>
                </a:solidFill>
              </a:rPr>
              <a:t>Heydrich assassinated 1942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800"/>
              <a:t>Czech underground agents bombed his car</a:t>
            </a:r>
          </a:p>
          <a:p>
            <a:r>
              <a:rPr lang="en-US" sz="2800"/>
              <a:t>SS hunted down and killed 1000 suspects</a:t>
            </a:r>
          </a:p>
          <a:p>
            <a:r>
              <a:rPr lang="en-US" sz="2800"/>
              <a:t>Czech town of Lidice was liquidated</a:t>
            </a:r>
          </a:p>
          <a:p>
            <a:r>
              <a:rPr lang="en-US" sz="2800"/>
              <a:t>Hilter called him “The man with the iron heart.”</a:t>
            </a:r>
          </a:p>
        </p:txBody>
      </p:sp>
      <p:pic>
        <p:nvPicPr>
          <p:cNvPr id="24582" name="Picture 6" descr="H:\lidice1.jpg"/>
          <p:cNvPicPr>
            <a:picLocks noChangeAspect="1" noChangeArrowheads="1"/>
          </p:cNvPicPr>
          <p:nvPr>
            <p:ph type="clipArt" sz="half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4419600" y="2438400"/>
            <a:ext cx="4495800" cy="2917825"/>
          </a:xfrm>
        </p:spPr>
      </p:pic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4876800" y="5630863"/>
            <a:ext cx="4038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400" b="0">
                <a:solidFill>
                  <a:schemeClr val="tx1"/>
                </a:solidFill>
              </a:rPr>
              <a:t>172 men shot in village of Lidice in retaliation.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 autoUpdateAnimBg="0"/>
      <p:bldP spid="24583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u="sng">
                <a:solidFill>
                  <a:srgbClr val="FF0000"/>
                </a:solidFill>
              </a:rPr>
              <a:t>FINAL SOLUTION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“Now judgement has begun and it will reach its conclusion only when the knowledge of the Jews has been erased from the earth!”  Nazi Newspaper</a:t>
            </a:r>
          </a:p>
          <a:p>
            <a:r>
              <a:rPr lang="en-US"/>
              <a:t>there were 3 phases of the Nazi plan to wipe out the Jewish population of Europe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utoUpdateAnimBg="0"/>
      <p:bldP spid="25603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u="sng">
                <a:solidFill>
                  <a:srgbClr val="FF0000"/>
                </a:solidFill>
              </a:rPr>
              <a:t>Phase 1 = Shooting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800"/>
              <a:t>Jews were rounded up and told they were to be relocated</a:t>
            </a:r>
          </a:p>
          <a:p>
            <a:r>
              <a:rPr lang="en-US" sz="2800"/>
              <a:t>They were taken to the woods and were shot one by one</a:t>
            </a:r>
          </a:p>
          <a:p>
            <a:r>
              <a:rPr lang="en-US" sz="2800"/>
              <a:t>their bodies were buried in mass graves</a:t>
            </a:r>
          </a:p>
        </p:txBody>
      </p:sp>
      <p:pic>
        <p:nvPicPr>
          <p:cNvPr id="26630" name="Picture 6" descr="H:\ ex.gif"/>
          <p:cNvPicPr>
            <a:picLocks noChangeAspect="1" noChangeArrowheads="1"/>
          </p:cNvPicPr>
          <p:nvPr>
            <p:ph type="clipArt" sz="half" idx="2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4648200" y="1676400"/>
            <a:ext cx="3981450" cy="487680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iveB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autoUpdateAnimBg="0"/>
      <p:bldP spid="26627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u="sng">
                <a:solidFill>
                  <a:srgbClr val="FF0000"/>
                </a:solidFill>
              </a:rPr>
              <a:t>Phase 2 = Gas Vans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800"/>
              <a:t>Again, Jews were rounded up and told they were to be relocated in vans</a:t>
            </a:r>
          </a:p>
          <a:p>
            <a:r>
              <a:rPr lang="en-US" sz="2800"/>
              <a:t> The vans were equipped so that the van’s exhaust was piped back into the van</a:t>
            </a:r>
          </a:p>
        </p:txBody>
      </p:sp>
      <p:pic>
        <p:nvPicPr>
          <p:cNvPr id="27654" name="Picture 6" descr="H:\gas vans.gif"/>
          <p:cNvPicPr>
            <a:picLocks noChangeAspect="1" noChangeArrowheads="1"/>
          </p:cNvPicPr>
          <p:nvPr>
            <p:ph type="clipArt" sz="half" idx="2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4267200" y="1828800"/>
            <a:ext cx="4876800" cy="3657600"/>
          </a:xfrm>
        </p:spPr>
      </p:pic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4343400" y="6019800"/>
            <a:ext cx="4419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800"/>
              <a:t>700,000 Jews killed in Vans</a:t>
            </a:r>
            <a:endParaRPr lang="en-US" sz="24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iveB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utoUpdateAnimBg="0"/>
      <p:bldP spid="27651" grpId="0" build="p" autoUpdateAnimBg="0"/>
      <p:bldP spid="27655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>
                <a:solidFill>
                  <a:srgbClr val="FF0000"/>
                </a:solidFill>
              </a:rPr>
              <a:t>Problems with Phases 1,2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Nazis encountered several problems with the executions and gas vans</a:t>
            </a:r>
          </a:p>
          <a:p>
            <a:r>
              <a:rPr lang="en-US"/>
              <a:t>First, they were both taking to much time</a:t>
            </a:r>
          </a:p>
          <a:p>
            <a:r>
              <a:rPr lang="en-US"/>
              <a:t>Second, resources such as gas and munitions were becoming scarce</a:t>
            </a:r>
          </a:p>
          <a:p>
            <a:r>
              <a:rPr lang="en-US"/>
              <a:t>Third, soldiers involved were beginning to have psychological problems with what they were doing.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u="sng">
                <a:solidFill>
                  <a:srgbClr val="FF0000"/>
                </a:solidFill>
              </a:rPr>
              <a:t>Phase 3 = The Camps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Nazi leaders decided to drastically speed up the Final Solution</a:t>
            </a:r>
          </a:p>
          <a:p>
            <a:r>
              <a:rPr lang="en-US"/>
              <a:t>there were two different types of camps:</a:t>
            </a:r>
          </a:p>
          <a:p>
            <a:r>
              <a:rPr lang="en-US"/>
              <a:t>CONCENTRATION CAMPS</a:t>
            </a:r>
          </a:p>
          <a:p>
            <a:r>
              <a:rPr lang="en-US"/>
              <a:t>EXTERMINATION CAMPS</a:t>
            </a:r>
          </a:p>
          <a:p>
            <a:r>
              <a:rPr lang="en-US"/>
              <a:t>Jews from all over occupied Europe were to be brought here.</a:t>
            </a: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H:\campsmap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2964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u="sng">
                <a:solidFill>
                  <a:srgbClr val="FF0000"/>
                </a:solidFill>
              </a:rPr>
              <a:t>CONCENTRATION</a:t>
            </a:r>
            <a:endParaRPr lang="en-US" b="1" u="sng">
              <a:solidFill>
                <a:srgbClr val="FF0000"/>
              </a:solidFill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100 of these in Nazi-occupied Europe</a:t>
            </a:r>
          </a:p>
          <a:p>
            <a:r>
              <a:rPr lang="en-US"/>
              <a:t>prisoners used for forced labor</a:t>
            </a:r>
          </a:p>
          <a:p>
            <a:r>
              <a:rPr lang="en-US"/>
              <a:t>prisoners usually lasted less than 1/2 year</a:t>
            </a:r>
          </a:p>
          <a:p>
            <a:r>
              <a:rPr lang="en-US"/>
              <a:t>communists, homosexuals, criminals, social-democrats, artists.</a:t>
            </a:r>
          </a:p>
          <a:p>
            <a:r>
              <a:rPr lang="en-US"/>
              <a:t>First camp was opened in 1933, right after Nazis came to power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u="sng">
                <a:solidFill>
                  <a:srgbClr val="FF0000"/>
                </a:solidFill>
              </a:rPr>
              <a:t>RAVENSBRUCK</a:t>
            </a:r>
            <a:endParaRPr lang="en-US" sz="4800" b="1">
              <a:solidFill>
                <a:srgbClr val="FF0000"/>
              </a:solidFill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800"/>
              <a:t>Camp for women only</a:t>
            </a:r>
          </a:p>
          <a:p>
            <a:r>
              <a:rPr lang="en-US" sz="2800"/>
              <a:t>run by German women who were criminals</a:t>
            </a:r>
          </a:p>
          <a:p>
            <a:r>
              <a:rPr lang="en-US" sz="2800"/>
              <a:t>prisoners worked on remodeling furs</a:t>
            </a:r>
          </a:p>
          <a:p>
            <a:r>
              <a:rPr lang="en-US" sz="2800"/>
              <a:t>50,000 killed</a:t>
            </a:r>
          </a:p>
          <a:p>
            <a:r>
              <a:rPr lang="en-US" sz="2800"/>
              <a:t>14,000 rescued by Swedish diplomat</a:t>
            </a:r>
          </a:p>
          <a:p>
            <a:endParaRPr lang="en-US" sz="2800"/>
          </a:p>
        </p:txBody>
      </p:sp>
      <p:pic>
        <p:nvPicPr>
          <p:cNvPr id="41990" name="Picture 6" descr="H:\RAV.gif"/>
          <p:cNvPicPr>
            <a:picLocks noChangeAspect="1" noChangeArrowheads="1"/>
          </p:cNvPicPr>
          <p:nvPr>
            <p:ph type="clipArt"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648200" y="1905000"/>
            <a:ext cx="4495800" cy="3371850"/>
          </a:xfrm>
        </p:spPr>
      </p:pic>
      <p:sp>
        <p:nvSpPr>
          <p:cNvPr id="41991" name="Text Box 7"/>
          <p:cNvSpPr txBox="1">
            <a:spLocks noChangeArrowheads="1"/>
          </p:cNvSpPr>
          <p:nvPr/>
        </p:nvSpPr>
        <p:spPr bwMode="auto">
          <a:xfrm>
            <a:off x="4800600" y="5334000"/>
            <a:ext cx="41148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 b="0">
                <a:solidFill>
                  <a:srgbClr val="A50021"/>
                </a:solidFill>
              </a:rPr>
              <a:t>Count Folke Bernadette negotiating for prisoners</a:t>
            </a:r>
            <a:endParaRPr lang="en-US" sz="24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 autoUpdateAnimBg="0"/>
      <p:bldP spid="41991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u="sng">
                <a:solidFill>
                  <a:srgbClr val="FF0000"/>
                </a:solidFill>
              </a:rPr>
              <a:t>THERESIENSTADT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800"/>
              <a:t>Most humane camp</a:t>
            </a:r>
          </a:p>
          <a:p>
            <a:r>
              <a:rPr lang="en-US" sz="2800"/>
              <a:t>well connected Jews and war veterans</a:t>
            </a:r>
          </a:p>
          <a:p>
            <a:r>
              <a:rPr lang="en-US" sz="2800"/>
              <a:t>Jews married to Aryans could pay to go to this camp</a:t>
            </a:r>
          </a:p>
          <a:p>
            <a:r>
              <a:rPr lang="en-US" sz="2800"/>
              <a:t>Red Cross inspected this camp, good rating</a:t>
            </a:r>
          </a:p>
          <a:p>
            <a:r>
              <a:rPr lang="en-US" sz="2800"/>
              <a:t>stop over on the way to Auschwitz</a:t>
            </a:r>
          </a:p>
        </p:txBody>
      </p:sp>
      <p:pic>
        <p:nvPicPr>
          <p:cNvPr id="43014" name="Picture 6" descr="H:\redcross.gif"/>
          <p:cNvPicPr>
            <a:picLocks noChangeAspect="1" noChangeArrowheads="1"/>
          </p:cNvPicPr>
          <p:nvPr>
            <p:ph type="clipArt" sz="half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4648200" y="2057400"/>
            <a:ext cx="4495800" cy="3371850"/>
          </a:xfrm>
        </p:spPr>
      </p:pic>
      <p:sp>
        <p:nvSpPr>
          <p:cNvPr id="43015" name="Text Box 7"/>
          <p:cNvSpPr txBox="1">
            <a:spLocks noChangeArrowheads="1"/>
          </p:cNvSpPr>
          <p:nvPr/>
        </p:nvSpPr>
        <p:spPr bwMode="auto">
          <a:xfrm>
            <a:off x="4800600" y="5486400"/>
            <a:ext cx="43434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>
                <a:solidFill>
                  <a:srgbClr val="FFFF00"/>
                </a:solidFill>
              </a:rPr>
              <a:t>Jewish band playing for Red Cross inspection team</a:t>
            </a:r>
            <a:endParaRPr lang="en-US" sz="24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 autoUpdateAnimBg="0"/>
      <p:bldP spid="43015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u="sng">
                <a:solidFill>
                  <a:srgbClr val="FF0000"/>
                </a:solidFill>
              </a:rPr>
              <a:t>EXTERMINATION</a:t>
            </a:r>
            <a:endParaRPr lang="en-US" sz="4800" b="1" u="sng">
              <a:solidFill>
                <a:srgbClr val="FF0000"/>
              </a:solidFill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Started out as ordinary concentration camps</a:t>
            </a:r>
          </a:p>
          <a:p>
            <a:r>
              <a:rPr lang="en-US"/>
              <a:t>later modified with gassing installations for use on humans, now “DEATH CAMPS”</a:t>
            </a:r>
          </a:p>
          <a:p>
            <a:r>
              <a:rPr lang="en-US"/>
              <a:t>two sub-groups:</a:t>
            </a:r>
          </a:p>
          <a:p>
            <a:r>
              <a:rPr lang="en-US"/>
              <a:t>1)  Majdanek and Auschwitz, Birkenau</a:t>
            </a:r>
          </a:p>
          <a:p>
            <a:r>
              <a:rPr lang="en-US"/>
              <a:t>2)  Operation Reinhard camps and Chelmno</a:t>
            </a:r>
          </a:p>
          <a:p>
            <a:r>
              <a:rPr lang="en-US"/>
              <a:t>“NAZIS GET CLOSE TO CREATING HELL ON EARTH!!!”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u="sng">
                <a:solidFill>
                  <a:srgbClr val="FF0000"/>
                </a:solidFill>
              </a:rPr>
              <a:t>CHELMNO</a:t>
            </a:r>
          </a:p>
        </p:txBody>
      </p:sp>
      <p:pic>
        <p:nvPicPr>
          <p:cNvPr id="61444" name="Picture 4" descr="H:\chlemn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4600" y="3163888"/>
            <a:ext cx="6629400" cy="3694112"/>
          </a:xfrm>
          <a:prstGeom prst="rect">
            <a:avLst/>
          </a:prstGeom>
          <a:noFill/>
        </p:spPr>
      </p:pic>
      <p:sp>
        <p:nvSpPr>
          <p:cNvPr id="61445" name="Text Box 5"/>
          <p:cNvSpPr txBox="1">
            <a:spLocks noChangeArrowheads="1"/>
          </p:cNvSpPr>
          <p:nvPr/>
        </p:nvSpPr>
        <p:spPr bwMode="auto">
          <a:xfrm>
            <a:off x="0" y="1905000"/>
            <a:ext cx="8839200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 b="0">
                <a:solidFill>
                  <a:srgbClr val="FFFF00"/>
                </a:solidFill>
              </a:rPr>
              <a:t>Jews from the Lodz ghetto in Poland sent here</a:t>
            </a:r>
          </a:p>
          <a:p>
            <a:r>
              <a:rPr lang="en-US" sz="2800" b="0">
                <a:solidFill>
                  <a:srgbClr val="FFFF00"/>
                </a:solidFill>
              </a:rPr>
              <a:t>First death camp built = 1941</a:t>
            </a:r>
            <a:endParaRPr lang="en-US" sz="2400" b="0">
              <a:solidFill>
                <a:schemeClr val="tx1"/>
              </a:solidFill>
            </a:endParaRPr>
          </a:p>
        </p:txBody>
      </p:sp>
      <p:sp>
        <p:nvSpPr>
          <p:cNvPr id="61446" name="Text Box 6"/>
          <p:cNvSpPr txBox="1">
            <a:spLocks noChangeArrowheads="1"/>
          </p:cNvSpPr>
          <p:nvPr/>
        </p:nvSpPr>
        <p:spPr bwMode="auto">
          <a:xfrm>
            <a:off x="304800" y="4114800"/>
            <a:ext cx="21336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>
                <a:solidFill>
                  <a:srgbClr val="FFFF00"/>
                </a:solidFill>
              </a:rPr>
              <a:t>First to use Gas Vans on Jews</a:t>
            </a:r>
            <a:endParaRPr lang="en-US" sz="24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 autoUpdateAnimBg="0"/>
      <p:bldP spid="61445" grpId="0" autoUpdateAnimBg="0"/>
      <p:bldP spid="61446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sz="4800" b="1" u="sng">
              <a:solidFill>
                <a:srgbClr val="FF0000"/>
              </a:solidFill>
            </a:endParaRPr>
          </a:p>
        </p:txBody>
      </p:sp>
      <p:pic>
        <p:nvPicPr>
          <p:cNvPr id="33795" name="Picture 3" descr="H:\POLANDCAMP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058863"/>
            <a:ext cx="9144000" cy="5999162"/>
          </a:xfrm>
          <a:prstGeom prst="rect">
            <a:avLst/>
          </a:prstGeom>
          <a:noFill/>
        </p:spPr>
      </p:pic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1905000" y="0"/>
            <a:ext cx="5715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4400" u="sng"/>
              <a:t>CAMPS IN POLAND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u="sng">
                <a:solidFill>
                  <a:srgbClr val="FF0000"/>
                </a:solidFill>
              </a:rPr>
              <a:t>MAJDANEK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800"/>
              <a:t>Established in 1941 as a POW camp</a:t>
            </a:r>
          </a:p>
          <a:p>
            <a:r>
              <a:rPr lang="en-US" sz="2800"/>
              <a:t>started its part in the Final Solution in 1942</a:t>
            </a:r>
          </a:p>
          <a:p>
            <a:r>
              <a:rPr lang="en-US" sz="2800"/>
              <a:t>Jews, Poles and Soviet POW’s sent here</a:t>
            </a:r>
          </a:p>
          <a:p>
            <a:r>
              <a:rPr lang="en-US" sz="2800"/>
              <a:t>had two gas chambers to exterminate</a:t>
            </a:r>
          </a:p>
        </p:txBody>
      </p:sp>
      <p:pic>
        <p:nvPicPr>
          <p:cNvPr id="48134" name="Picture 6" descr="H:\mdj.gif"/>
          <p:cNvPicPr>
            <a:picLocks noChangeAspect="1" noChangeArrowheads="1"/>
          </p:cNvPicPr>
          <p:nvPr>
            <p:ph type="clipArt" sz="half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5029200" y="1600200"/>
            <a:ext cx="3340100" cy="487680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autoUpdateAnimBg="0"/>
      <p:bldP spid="48131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u="sng">
                <a:solidFill>
                  <a:srgbClr val="FF0000"/>
                </a:solidFill>
              </a:rPr>
              <a:t>AUSCHWITZ</a:t>
            </a:r>
            <a:endParaRPr lang="en-US" sz="4800" b="1" u="sng">
              <a:solidFill>
                <a:srgbClr val="FF0000"/>
              </a:solidFill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Started operations in January 1940 (Poland)</a:t>
            </a:r>
          </a:p>
          <a:p>
            <a:r>
              <a:rPr lang="en-US"/>
              <a:t>Himmler chose Auschwitz as the place for the Final Solution</a:t>
            </a:r>
          </a:p>
          <a:p>
            <a:r>
              <a:rPr lang="en-US"/>
              <a:t>had 4 gas chambers/crematories by 1943 </a:t>
            </a:r>
          </a:p>
          <a:p>
            <a:r>
              <a:rPr lang="en-US"/>
              <a:t>mass killings with Zyklon B gas</a:t>
            </a:r>
          </a:p>
          <a:p>
            <a:r>
              <a:rPr lang="en-US"/>
              <a:t>commanded by Rudolph Hoess</a:t>
            </a:r>
          </a:p>
          <a:p>
            <a:r>
              <a:rPr lang="en-US"/>
              <a:t>recorded 12,000 kills in one day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autoUpdateAnimBg="0"/>
      <p:bldP spid="35843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>
                <a:solidFill>
                  <a:srgbClr val="FF0000"/>
                </a:solidFill>
              </a:rPr>
              <a:t>THE SS AT AUSCHWITZ</a:t>
            </a:r>
          </a:p>
        </p:txBody>
      </p:sp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304800" y="1524000"/>
            <a:ext cx="88392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FFFF00"/>
                </a:solidFill>
              </a:rPr>
              <a:t>ORDERED TO TAKE ALL POSSESSIONS FROM JEWS</a:t>
            </a:r>
            <a:endParaRPr lang="en-US" sz="2400" b="0">
              <a:solidFill>
                <a:schemeClr val="tx1"/>
              </a:solidFill>
            </a:endParaRPr>
          </a:p>
        </p:txBody>
      </p:sp>
      <p:pic>
        <p:nvPicPr>
          <p:cNvPr id="56324" name="Picture 4" descr="H:\glasses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2743200"/>
            <a:ext cx="4343400" cy="3171825"/>
          </a:xfrm>
          <a:prstGeom prst="rect">
            <a:avLst/>
          </a:prstGeom>
          <a:noFill/>
        </p:spPr>
      </p:pic>
      <p:pic>
        <p:nvPicPr>
          <p:cNvPr id="56326" name="Picture 6" descr="H:\teeth.gi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3394075"/>
            <a:ext cx="4343400" cy="3463925"/>
          </a:xfrm>
          <a:prstGeom prst="rect">
            <a:avLst/>
          </a:prstGeom>
          <a:noFill/>
        </p:spPr>
      </p:pic>
      <p:sp>
        <p:nvSpPr>
          <p:cNvPr id="56327" name="Text Box 7"/>
          <p:cNvSpPr txBox="1">
            <a:spLocks noChangeArrowheads="1"/>
          </p:cNvSpPr>
          <p:nvPr/>
        </p:nvSpPr>
        <p:spPr bwMode="auto">
          <a:xfrm>
            <a:off x="304800" y="2895600"/>
            <a:ext cx="381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>
                <a:solidFill>
                  <a:srgbClr val="FFFF00"/>
                </a:solidFill>
              </a:rPr>
              <a:t>TEETH WITH GOLD</a:t>
            </a:r>
            <a:endParaRPr lang="en-US" sz="2400" b="0">
              <a:solidFill>
                <a:schemeClr val="tx1"/>
              </a:solidFill>
            </a:endParaRPr>
          </a:p>
        </p:txBody>
      </p:sp>
      <p:sp>
        <p:nvSpPr>
          <p:cNvPr id="56328" name="Text Box 8"/>
          <p:cNvSpPr txBox="1">
            <a:spLocks noChangeArrowheads="1"/>
          </p:cNvSpPr>
          <p:nvPr/>
        </p:nvSpPr>
        <p:spPr bwMode="auto">
          <a:xfrm>
            <a:off x="5410200" y="6096000"/>
            <a:ext cx="3429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>
                <a:solidFill>
                  <a:srgbClr val="FFFF00"/>
                </a:solidFill>
              </a:rPr>
              <a:t>PILES OF GLASSES</a:t>
            </a:r>
            <a:endParaRPr lang="en-US" sz="24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u="sng">
                <a:solidFill>
                  <a:srgbClr val="FF0000"/>
                </a:solidFill>
              </a:rPr>
              <a:t>ZYKLON-B</a:t>
            </a:r>
          </a:p>
        </p:txBody>
      </p:sp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228600" y="1600200"/>
            <a:ext cx="8610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GAS USED TO KILL VERMIN.  IT WAS INEXPENSIVE COMPARED TO GAS.  DROPPED FROM CEILINGS</a:t>
            </a:r>
            <a:endParaRPr lang="en-US" sz="2400" b="0">
              <a:solidFill>
                <a:schemeClr val="tx1"/>
              </a:solidFill>
            </a:endParaRPr>
          </a:p>
        </p:txBody>
      </p:sp>
      <p:pic>
        <p:nvPicPr>
          <p:cNvPr id="57348" name="Picture 4" descr="H:\zyklon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362200"/>
            <a:ext cx="3328988" cy="4191000"/>
          </a:xfrm>
          <a:prstGeom prst="rect">
            <a:avLst/>
          </a:prstGeom>
          <a:noFill/>
        </p:spPr>
      </p:pic>
      <p:pic>
        <p:nvPicPr>
          <p:cNvPr id="57349" name="Picture 5" descr="H:\Z2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0" y="2362200"/>
            <a:ext cx="3048000" cy="2286000"/>
          </a:xfrm>
          <a:prstGeom prst="rect">
            <a:avLst/>
          </a:prstGeom>
          <a:noFill/>
        </p:spPr>
      </p:pic>
      <p:pic>
        <p:nvPicPr>
          <p:cNvPr id="57350" name="Picture 6" descr="H:\Z3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43400" y="4171950"/>
            <a:ext cx="3581400" cy="26860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73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73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u="sng">
                <a:solidFill>
                  <a:srgbClr val="FF0000"/>
                </a:solidFill>
              </a:rPr>
              <a:t>Dr. Josef Mengele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800"/>
              <a:t>Arrived in Auschwitz in May of 1943</a:t>
            </a:r>
          </a:p>
          <a:p>
            <a:r>
              <a:rPr lang="en-US" sz="2800"/>
              <a:t>SS Doctor who had power of life/death</a:t>
            </a:r>
          </a:p>
          <a:p>
            <a:r>
              <a:rPr lang="en-US" sz="2800"/>
              <a:t>performed medical experiments on Jewish children </a:t>
            </a:r>
          </a:p>
        </p:txBody>
      </p:sp>
      <p:pic>
        <p:nvPicPr>
          <p:cNvPr id="36870" name="Picture 6" descr="H:\meng.gif"/>
          <p:cNvPicPr>
            <a:picLocks noChangeAspect="1" noChangeArrowheads="1"/>
          </p:cNvPicPr>
          <p:nvPr>
            <p:ph type="clipArt" sz="half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4419600" y="2057400"/>
            <a:ext cx="4495800" cy="3371850"/>
          </a:xfrm>
        </p:spPr>
      </p:pic>
      <p:sp>
        <p:nvSpPr>
          <p:cNvPr id="36871" name="Text Box 7"/>
          <p:cNvSpPr txBox="1">
            <a:spLocks noChangeArrowheads="1"/>
          </p:cNvSpPr>
          <p:nvPr/>
        </p:nvSpPr>
        <p:spPr bwMode="auto">
          <a:xfrm>
            <a:off x="4114800" y="5791200"/>
            <a:ext cx="4724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3200">
                <a:solidFill>
                  <a:srgbClr val="FFFF00"/>
                </a:solidFill>
              </a:rPr>
              <a:t>“ANGEL OF DEATH”</a:t>
            </a:r>
            <a:endParaRPr lang="en-US" sz="24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 autoUpdateAnimBg="0"/>
      <p:bldP spid="36871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u="sng">
                <a:solidFill>
                  <a:srgbClr val="FF0000"/>
                </a:solidFill>
              </a:rPr>
              <a:t>MEDICAL EXPERIMENTS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Sterilization of men and women</a:t>
            </a:r>
          </a:p>
          <a:p>
            <a:r>
              <a:rPr lang="en-US"/>
              <a:t>endurance of pain to high and low temperatures and pressure</a:t>
            </a:r>
          </a:p>
          <a:p>
            <a:r>
              <a:rPr lang="en-US"/>
              <a:t>experiments on twins to increase number of multiple births to Aryan women</a:t>
            </a:r>
          </a:p>
          <a:p>
            <a:r>
              <a:rPr lang="en-US"/>
              <a:t>injections of phenol to kill patients</a:t>
            </a:r>
          </a:p>
          <a:p>
            <a:r>
              <a:rPr lang="en-US"/>
              <a:t>Dr. Mengele attempted to sew children together to make Siamese twins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>
                <a:solidFill>
                  <a:srgbClr val="FF0000"/>
                </a:solidFill>
              </a:rPr>
              <a:t>MEDICAL EXPERIMENTS</a:t>
            </a:r>
          </a:p>
        </p:txBody>
      </p:sp>
      <p:pic>
        <p:nvPicPr>
          <p:cNvPr id="39940" name="Picture 4" descr="H:\medexp01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524000"/>
            <a:ext cx="4191000" cy="3336925"/>
          </a:xfrm>
          <a:prstGeom prst="rect">
            <a:avLst/>
          </a:prstGeom>
          <a:noFill/>
        </p:spPr>
      </p:pic>
      <p:pic>
        <p:nvPicPr>
          <p:cNvPr id="39941" name="Picture 5" descr="H:\ORGANS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00600" y="3352800"/>
            <a:ext cx="4114800" cy="3086100"/>
          </a:xfrm>
          <a:prstGeom prst="rect">
            <a:avLst/>
          </a:prstGeom>
          <a:noFill/>
        </p:spPr>
      </p:pic>
      <p:sp>
        <p:nvSpPr>
          <p:cNvPr id="39943" name="Text Box 7"/>
          <p:cNvSpPr txBox="1">
            <a:spLocks noChangeArrowheads="1"/>
          </p:cNvSpPr>
          <p:nvPr/>
        </p:nvSpPr>
        <p:spPr bwMode="auto">
          <a:xfrm>
            <a:off x="4953000" y="2590800"/>
            <a:ext cx="350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endParaRPr lang="en-US" sz="2400" b="0">
              <a:solidFill>
                <a:schemeClr val="tx1"/>
              </a:solidFill>
            </a:endParaRPr>
          </a:p>
        </p:txBody>
      </p:sp>
      <p:sp>
        <p:nvSpPr>
          <p:cNvPr id="39944" name="Text Box 8"/>
          <p:cNvSpPr txBox="1">
            <a:spLocks noChangeArrowheads="1"/>
          </p:cNvSpPr>
          <p:nvPr/>
        </p:nvSpPr>
        <p:spPr bwMode="auto">
          <a:xfrm>
            <a:off x="5105400" y="2362200"/>
            <a:ext cx="3276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/>
              <a:t>EXTRACTED HUMAN ORGANS</a:t>
            </a:r>
            <a:endParaRPr lang="en-US" sz="2400" b="0">
              <a:solidFill>
                <a:schemeClr val="tx1"/>
              </a:solidFill>
            </a:endParaRPr>
          </a:p>
        </p:txBody>
      </p:sp>
      <p:sp>
        <p:nvSpPr>
          <p:cNvPr id="39945" name="Text Box 9"/>
          <p:cNvSpPr txBox="1">
            <a:spLocks noChangeArrowheads="1"/>
          </p:cNvSpPr>
          <p:nvPr/>
        </p:nvSpPr>
        <p:spPr bwMode="auto">
          <a:xfrm>
            <a:off x="304800" y="5105400"/>
            <a:ext cx="38862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rgbClr val="FFFF00"/>
                </a:solidFill>
              </a:rPr>
              <a:t>EXPERIMENTS ON CHILDREN IN AUSCHWITZ</a:t>
            </a:r>
            <a:endParaRPr lang="en-US" sz="24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4" grpId="0" autoUpdateAnimBg="0"/>
      <p:bldP spid="39945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u="sng">
                <a:solidFill>
                  <a:srgbClr val="FF0000"/>
                </a:solidFill>
              </a:rPr>
              <a:t>OPERATION REINHARD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Largest single massacre of Holocaust</a:t>
            </a:r>
          </a:p>
          <a:p>
            <a:r>
              <a:rPr lang="en-US"/>
              <a:t>March 1942-November 1943</a:t>
            </a:r>
          </a:p>
          <a:p>
            <a:r>
              <a:rPr lang="en-US"/>
              <a:t>named after Reinhard Heydrich</a:t>
            </a:r>
          </a:p>
          <a:p>
            <a:r>
              <a:rPr lang="en-US"/>
              <a:t>carried out at three camps, run by the SS</a:t>
            </a:r>
          </a:p>
          <a:p>
            <a:r>
              <a:rPr lang="en-US"/>
              <a:t>every Jew that arrived at one of the camps would be dead in 2 hours.</a:t>
            </a:r>
          </a:p>
          <a:p>
            <a:r>
              <a:rPr lang="en-US"/>
              <a:t>Total of 1,700,000 Jews killed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icoche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icoche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icoche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icoche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icoche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icoche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autoUpdateAnimBg="0"/>
      <p:bldP spid="45059" grpId="0" build="p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u="sng">
                <a:solidFill>
                  <a:srgbClr val="FF0000"/>
                </a:solidFill>
              </a:rPr>
              <a:t>BELZEC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800"/>
              <a:t>MARCH 1942</a:t>
            </a:r>
          </a:p>
          <a:p>
            <a:r>
              <a:rPr lang="en-US" sz="2800"/>
              <a:t>JEWS FROM LUBIN GHETTO- POLAND</a:t>
            </a:r>
          </a:p>
          <a:p>
            <a:r>
              <a:rPr lang="en-US" sz="2800"/>
              <a:t>OPERATIONS STOP DECEMBER 1942</a:t>
            </a:r>
          </a:p>
          <a:p>
            <a:r>
              <a:rPr lang="en-US" sz="2800"/>
              <a:t>CAMP WAS DISMANTLED AND PLOWED OVER AND PLANTED ON</a:t>
            </a:r>
          </a:p>
        </p:txBody>
      </p:sp>
      <p:pic>
        <p:nvPicPr>
          <p:cNvPr id="51206" name="Picture 6" descr="H:\belzec.gif"/>
          <p:cNvPicPr>
            <a:picLocks noChangeAspect="1" noChangeArrowheads="1"/>
          </p:cNvPicPr>
          <p:nvPr>
            <p:ph type="clipArt" sz="half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4419600" y="1981200"/>
            <a:ext cx="4495800" cy="337185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 autoUpdateAnimBg="0"/>
      <p:bldP spid="51203" grpId="0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u="sng">
                <a:solidFill>
                  <a:srgbClr val="FF0000"/>
                </a:solidFill>
              </a:rPr>
              <a:t>SOBIBOR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800"/>
              <a:t>MAY 1942</a:t>
            </a:r>
          </a:p>
          <a:p>
            <a:r>
              <a:rPr lang="en-US" sz="2800"/>
              <a:t>3 GAS CHAMBERS</a:t>
            </a:r>
          </a:p>
          <a:p>
            <a:r>
              <a:rPr lang="en-US" sz="2800"/>
              <a:t>ESCAPE OF 300 JEWS AND SOVIET POW’S</a:t>
            </a:r>
          </a:p>
          <a:p>
            <a:r>
              <a:rPr lang="en-US" sz="2800"/>
              <a:t>ONLY 50 LIVE</a:t>
            </a:r>
          </a:p>
          <a:p>
            <a:r>
              <a:rPr lang="en-US" sz="2800"/>
              <a:t>GAS CHAMBERS SHUT DOWN AFTER ESCAPE</a:t>
            </a:r>
          </a:p>
        </p:txBody>
      </p:sp>
      <p:pic>
        <p:nvPicPr>
          <p:cNvPr id="52230" name="Picture 6" descr="H:\child.gif"/>
          <p:cNvPicPr>
            <a:picLocks noChangeAspect="1" noChangeArrowheads="1"/>
          </p:cNvPicPr>
          <p:nvPr>
            <p:ph type="clipArt" sz="half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4343400" y="1981200"/>
            <a:ext cx="4800600" cy="360045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 autoUpdateAnimBg="0"/>
      <p:bldP spid="52227" grpId="0" build="p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u="sng">
                <a:solidFill>
                  <a:srgbClr val="FF0000"/>
                </a:solidFill>
              </a:rPr>
              <a:t>TREBLINKA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800"/>
              <a:t>JEWS FROM WARSAW GHETTO</a:t>
            </a:r>
          </a:p>
          <a:p>
            <a:r>
              <a:rPr lang="en-US" sz="2800"/>
              <a:t>10 GAS CHAMBERS</a:t>
            </a:r>
          </a:p>
          <a:p>
            <a:r>
              <a:rPr lang="en-US" sz="2800"/>
              <a:t>LOCATED EAST OF WARSAW</a:t>
            </a:r>
          </a:p>
          <a:p>
            <a:r>
              <a:rPr lang="en-US" sz="2800"/>
              <a:t>BODIES WERE BURNED IN OPEN PITS</a:t>
            </a:r>
          </a:p>
          <a:p>
            <a:r>
              <a:rPr lang="en-US" sz="2800"/>
              <a:t>AUGUST 1943</a:t>
            </a:r>
          </a:p>
        </p:txBody>
      </p:sp>
      <p:pic>
        <p:nvPicPr>
          <p:cNvPr id="53254" name="Picture 6" descr="H:\terb.gif"/>
          <p:cNvPicPr>
            <a:picLocks noChangeAspect="1" noChangeArrowheads="1"/>
          </p:cNvPicPr>
          <p:nvPr>
            <p:ph type="clipArt" sz="half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4343400" y="2057400"/>
            <a:ext cx="4800600" cy="360045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autoUpdateAnimBg="0"/>
      <p:bldP spid="53251" grpId="0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b="1" u="sng">
                <a:solidFill>
                  <a:srgbClr val="FF0000"/>
                </a:solidFill>
              </a:rPr>
              <a:t>Camp Totals</a:t>
            </a:r>
            <a:endParaRPr lang="en-US" b="1" u="sng">
              <a:solidFill>
                <a:srgbClr val="FF0000"/>
              </a:solidFill>
            </a:endParaRPr>
          </a:p>
        </p:txBody>
      </p:sp>
      <p:graphicFrame>
        <p:nvGraphicFramePr>
          <p:cNvPr id="37891" name="Object 3"/>
          <p:cNvGraphicFramePr>
            <a:graphicFrameLocks noChangeAspect="1"/>
          </p:cNvGraphicFramePr>
          <p:nvPr>
            <p:ph type="chart" idx="1"/>
          </p:nvPr>
        </p:nvGraphicFramePr>
        <p:xfrm>
          <a:off x="685800" y="1981200"/>
          <a:ext cx="7770813" cy="4113213"/>
        </p:xfrm>
        <a:graphic>
          <a:graphicData uri="http://schemas.openxmlformats.org/presentationml/2006/ole">
            <p:oleObj spid="_x0000_s37891" name="Chart" r:id="rId5" imgW="7772638" imgH="4115038" progId="MSGraph.Chart.8">
              <p:embed followColorScheme="full"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oleChartEl type="category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oleChartEl type="category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oleChartEl type="category" lvl="3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oleChartEl type="category" lvl="4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oleChartEl type="category" lvl="5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oleChartEl type="category" lvl="6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autoUpdateAnimBg="0"/>
      <p:bldOleChart spid="37891" grpId="0" bld="category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>
                <a:solidFill>
                  <a:srgbClr val="FF0000"/>
                </a:solidFill>
              </a:rPr>
              <a:t>STATISTICS BY COUNTRY</a:t>
            </a:r>
          </a:p>
        </p:txBody>
      </p:sp>
      <p:graphicFrame>
        <p:nvGraphicFramePr>
          <p:cNvPr id="59395" name="Object 3"/>
          <p:cNvGraphicFramePr>
            <a:graphicFrameLocks noChangeAspect="1"/>
          </p:cNvGraphicFramePr>
          <p:nvPr>
            <p:ph type="chart" idx="1"/>
          </p:nvPr>
        </p:nvGraphicFramePr>
        <p:xfrm>
          <a:off x="762000" y="1600200"/>
          <a:ext cx="7772400" cy="4113213"/>
        </p:xfrm>
        <a:graphic>
          <a:graphicData uri="http://schemas.openxmlformats.org/presentationml/2006/ole">
            <p:oleObj spid="_x0000_s59395" name="Chart" r:id="rId5" imgW="7772638" imgH="4115038" progId="MSGraph.Chart.8">
              <p:embed followColorScheme="full"/>
            </p:oleObj>
          </a:graphicData>
        </a:graphic>
      </p:graphicFrame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762000" y="5715000"/>
            <a:ext cx="7772400" cy="8223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>
                <a:solidFill>
                  <a:srgbClr val="339933"/>
                </a:solidFill>
              </a:rPr>
              <a:t>Jewish population before</a:t>
            </a:r>
            <a:r>
              <a:rPr lang="en-US" sz="2400">
                <a:solidFill>
                  <a:schemeClr val="tx1"/>
                </a:solidFill>
              </a:rPr>
              <a:t>, </a:t>
            </a:r>
            <a:r>
              <a:rPr lang="en-US" sz="2400">
                <a:solidFill>
                  <a:srgbClr val="0000CC"/>
                </a:solidFill>
              </a:rPr>
              <a:t>Jewish population after</a:t>
            </a:r>
            <a:r>
              <a:rPr lang="en-US" sz="2400">
                <a:solidFill>
                  <a:schemeClr val="tx1"/>
                </a:solidFill>
              </a:rPr>
              <a:t> </a:t>
            </a:r>
            <a:r>
              <a:rPr lang="en-US" sz="2400"/>
              <a:t>Holocaust</a:t>
            </a:r>
            <a:endParaRPr lang="en-US" sz="24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9395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oleChartEl type="category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9395">
                                            <p:oleChartEl type="category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oleChartEl type="category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9395">
                                            <p:oleChartEl type="category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oleChartEl type="category" lvl="3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9395">
                                            <p:oleChartEl type="category" lvl="3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oleChartEl type="category" lvl="4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9395">
                                            <p:oleChartEl type="category" lvl="4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59395" grpId="0" bld="category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/>
          <p:cNvSpPr txBox="1">
            <a:spLocks noChangeArrowheads="1"/>
          </p:cNvSpPr>
          <p:nvPr/>
        </p:nvSpPr>
        <p:spPr bwMode="auto">
          <a:xfrm>
            <a:off x="914400" y="2438400"/>
            <a:ext cx="762000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9600"/>
              <a:t>THE END</a:t>
            </a:r>
            <a:endParaRPr lang="en-US" sz="5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2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2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 autoUpdateAnimBg="0"/>
    </p:bld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88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88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784</TotalTime>
  <Words>1428</Words>
  <Application>Microsoft Office PowerPoint</Application>
  <PresentationFormat>On-screen Show (4:3)</PresentationFormat>
  <Paragraphs>258</Paragraphs>
  <Slides>48</Slides>
  <Notes>48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Times New Roman</vt:lpstr>
      <vt:lpstr>Blank Presentation</vt:lpstr>
      <vt:lpstr>MS Organization Chart 2.0</vt:lpstr>
      <vt:lpstr>Microsoft Graph 97 Chart</vt:lpstr>
      <vt:lpstr>THE HOLOCAUST</vt:lpstr>
      <vt:lpstr>OBJECTIVES:</vt:lpstr>
      <vt:lpstr>DEFINTIONS:</vt:lpstr>
      <vt:lpstr>HOLOCAUST STATISTICS</vt:lpstr>
      <vt:lpstr>PROGRESSION OF DISCRIMINATION TOWARDS JEWS</vt:lpstr>
      <vt:lpstr>1933</vt:lpstr>
      <vt:lpstr>1934</vt:lpstr>
      <vt:lpstr>1935- Nuremberg Race Laws</vt:lpstr>
      <vt:lpstr>1936</vt:lpstr>
      <vt:lpstr>1937</vt:lpstr>
      <vt:lpstr>1938</vt:lpstr>
      <vt:lpstr>1939-KRISTALLNACHT</vt:lpstr>
      <vt:lpstr>1939</vt:lpstr>
      <vt:lpstr>POLAND 1939</vt:lpstr>
      <vt:lpstr>1940</vt:lpstr>
      <vt:lpstr>1941</vt:lpstr>
      <vt:lpstr>Einsatzgruppen</vt:lpstr>
      <vt:lpstr>Slide 18</vt:lpstr>
      <vt:lpstr>Wannsee Conference</vt:lpstr>
      <vt:lpstr>Reinhard Heydrich</vt:lpstr>
      <vt:lpstr>Heydrich and Final Solution</vt:lpstr>
      <vt:lpstr>Heydrich assassinated 1942</vt:lpstr>
      <vt:lpstr>FINAL SOLUTION</vt:lpstr>
      <vt:lpstr>Phase 1 = Shooting</vt:lpstr>
      <vt:lpstr>Phase 2 = Gas Vans</vt:lpstr>
      <vt:lpstr>Problems with Phases 1,2</vt:lpstr>
      <vt:lpstr>Phase 3 = The Camps</vt:lpstr>
      <vt:lpstr>Slide 28</vt:lpstr>
      <vt:lpstr>CONCENTRATION</vt:lpstr>
      <vt:lpstr>RAVENSBRUCK</vt:lpstr>
      <vt:lpstr>THERESIENSTADT</vt:lpstr>
      <vt:lpstr>EXTERMINATION</vt:lpstr>
      <vt:lpstr>CHELMNO</vt:lpstr>
      <vt:lpstr>Slide 34</vt:lpstr>
      <vt:lpstr>MAJDANEK</vt:lpstr>
      <vt:lpstr>AUSCHWITZ</vt:lpstr>
      <vt:lpstr>THE SS AT AUSCHWITZ</vt:lpstr>
      <vt:lpstr>ZYKLON-B</vt:lpstr>
      <vt:lpstr>Dr. Josef Mengele</vt:lpstr>
      <vt:lpstr>MEDICAL EXPERIMENTS</vt:lpstr>
      <vt:lpstr>MEDICAL EXPERIMENTS</vt:lpstr>
      <vt:lpstr>OPERATION REINHARD</vt:lpstr>
      <vt:lpstr>BELZEC</vt:lpstr>
      <vt:lpstr>SOBIBOR</vt:lpstr>
      <vt:lpstr>TREBLINKA</vt:lpstr>
      <vt:lpstr>Camp Totals</vt:lpstr>
      <vt:lpstr>STATISTICS BY COUNTRY</vt:lpstr>
      <vt:lpstr>Slide 48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HOLOCAUST</dc:title>
  <dc:creator>Danmiel J.Greenberg</dc:creator>
  <cp:lastModifiedBy>Robyn</cp:lastModifiedBy>
  <cp:revision>35</cp:revision>
  <dcterms:created xsi:type="dcterms:W3CDTF">1999-12-22T17:03:23Z</dcterms:created>
  <dcterms:modified xsi:type="dcterms:W3CDTF">2011-11-25T14:21:55Z</dcterms:modified>
</cp:coreProperties>
</file>
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59" r:id="rId6"/>
    <p:sldId id="263" r:id="rId7"/>
    <p:sldId id="260" r:id="rId8"/>
    <p:sldId id="264" r:id="rId9"/>
    <p:sldId id="262" r:id="rId10"/>
    <p:sldId id="265" r:id="rId11"/>
    <p:sldId id="267" r:id="rId12"/>
    <p:sldId id="266"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150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9E491ABC-F00B-4C32-9957-A9455116E1EC}"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39000"/>
            <a:lum/>
          </a:blip>
          <a:srcRect/>
          <a:stretch>
            <a:fillRect l="-25000" r="-2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C8606D-CAF9-4608-8F88-A291FC4296BC}" type="datetimeFigureOut">
              <a:rPr lang="en-AU" smtClean="0"/>
              <a:pPr/>
              <a:t>27/11/2013</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91ABC-F00B-4C32-9957-A9455116E1EC}"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American Isolationism before WW1</a:t>
            </a:r>
            <a:endParaRPr lang="en-AU" dirty="0"/>
          </a:p>
        </p:txBody>
      </p:sp>
      <p:sp>
        <p:nvSpPr>
          <p:cNvPr id="3" name="Subtitle 2"/>
          <p:cNvSpPr>
            <a:spLocks noGrp="1"/>
          </p:cNvSpPr>
          <p:nvPr>
            <p:ph type="subTitle" idx="1"/>
          </p:nvPr>
        </p:nvSpPr>
        <p:spPr/>
        <p:txBody>
          <a:bodyPr/>
          <a:lstStyle/>
          <a:p>
            <a:r>
              <a:rPr lang="en-AU" dirty="0" smtClean="0"/>
              <a:t>Unit 2A Societies &amp; Change</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smtClean="0"/>
              <a:t>Key Terms</a:t>
            </a:r>
            <a:endParaRPr lang="en-AU" b="1" dirty="0"/>
          </a:p>
        </p:txBody>
      </p:sp>
      <p:sp>
        <p:nvSpPr>
          <p:cNvPr id="3" name="Content Placeholder 2"/>
          <p:cNvSpPr>
            <a:spLocks noGrp="1"/>
          </p:cNvSpPr>
          <p:nvPr>
            <p:ph idx="1"/>
          </p:nvPr>
        </p:nvSpPr>
        <p:spPr>
          <a:xfrm>
            <a:off x="457200" y="1340768"/>
            <a:ext cx="8229600" cy="5112568"/>
          </a:xfrm>
        </p:spPr>
        <p:txBody>
          <a:bodyPr>
            <a:normAutofit fontScale="85000" lnSpcReduction="20000"/>
          </a:bodyPr>
          <a:lstStyle/>
          <a:p>
            <a:pPr>
              <a:buNone/>
            </a:pPr>
            <a:r>
              <a:rPr lang="en-AU" dirty="0" smtClean="0"/>
              <a:t>Isolationism - a policy of remaining apart from the affairs or interests of other groups, especially the political affairs of other countries.</a:t>
            </a:r>
          </a:p>
          <a:p>
            <a:pPr>
              <a:buNone/>
            </a:pPr>
            <a:r>
              <a:rPr lang="en-AU" dirty="0" smtClean="0"/>
              <a:t>Imperialism - The policy of extending a nation's authority by territorial acquisition or by the establishment of economic and political hegemony over other nations.</a:t>
            </a:r>
          </a:p>
          <a:p>
            <a:pPr>
              <a:buNone/>
            </a:pPr>
            <a:r>
              <a:rPr lang="en-AU" dirty="0" smtClean="0"/>
              <a:t>Hegemony -Leadership or dominance, especially by one state or social group over others.</a:t>
            </a:r>
          </a:p>
          <a:p>
            <a:pPr>
              <a:buNone/>
            </a:pPr>
            <a:r>
              <a:rPr lang="en-AU" dirty="0" smtClean="0"/>
              <a:t>Sphere of influence - A country or area in which another country has power to affect developments though it has no formal authority.</a:t>
            </a:r>
          </a:p>
          <a:p>
            <a:pPr>
              <a:buNone/>
            </a:pPr>
            <a:r>
              <a:rPr lang="en-AU" dirty="0" smtClean="0"/>
              <a:t>Foreign Policy – The making of deliberate choices to protect a nation’s world power and protect its self interest.</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Introduction</a:t>
            </a:r>
            <a:endParaRPr lang="en-AU" b="1" dirty="0"/>
          </a:p>
        </p:txBody>
      </p:sp>
      <p:sp>
        <p:nvSpPr>
          <p:cNvPr id="3" name="Content Placeholder 2"/>
          <p:cNvSpPr>
            <a:spLocks noGrp="1"/>
          </p:cNvSpPr>
          <p:nvPr>
            <p:ph idx="1"/>
          </p:nvPr>
        </p:nvSpPr>
        <p:spPr>
          <a:xfrm>
            <a:off x="457200" y="1556792"/>
            <a:ext cx="8229600" cy="4569371"/>
          </a:xfrm>
        </p:spPr>
        <p:txBody>
          <a:bodyPr>
            <a:normAutofit lnSpcReduction="10000"/>
          </a:bodyPr>
          <a:lstStyle/>
          <a:p>
            <a:pPr algn="ctr">
              <a:buNone/>
            </a:pPr>
            <a:r>
              <a:rPr lang="en-AU" i="1" dirty="0" smtClean="0"/>
              <a:t>‘The big fate Republic that is afraid of nothing because nothing up to the present day has ever happened to make her afraid, is as unprotected as a jellyfish.’ </a:t>
            </a:r>
          </a:p>
          <a:p>
            <a:pPr>
              <a:buNone/>
            </a:pPr>
            <a:r>
              <a:rPr lang="en-AU" dirty="0" smtClean="0"/>
              <a:t>Rudyard Kipling speaking in 1891 about the USA</a:t>
            </a:r>
          </a:p>
          <a:p>
            <a:pPr>
              <a:buNone/>
            </a:pPr>
            <a:endParaRPr lang="en-AU" dirty="0" smtClean="0"/>
          </a:p>
          <a:p>
            <a:pPr>
              <a:buNone/>
            </a:pPr>
            <a:r>
              <a:rPr lang="en-AU" dirty="0" smtClean="0"/>
              <a:t>FOCUS QUESTION: How did the USA go from a policy of isolationism to become the strongest military power in the world?</a:t>
            </a:r>
          </a:p>
          <a:p>
            <a:pPr>
              <a:buNone/>
            </a:pPr>
            <a:endParaRPr lang="en-AU"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68760"/>
          </a:xfrm>
        </p:spPr>
        <p:txBody>
          <a:bodyPr/>
          <a:lstStyle/>
          <a:p>
            <a:r>
              <a:rPr lang="en-AU" b="1" dirty="0" smtClean="0"/>
              <a:t>Non Intervention</a:t>
            </a:r>
            <a:endParaRPr lang="en-AU" b="1" dirty="0"/>
          </a:p>
        </p:txBody>
      </p:sp>
      <p:sp>
        <p:nvSpPr>
          <p:cNvPr id="3" name="Content Placeholder 2"/>
          <p:cNvSpPr>
            <a:spLocks noGrp="1"/>
          </p:cNvSpPr>
          <p:nvPr>
            <p:ph idx="1"/>
          </p:nvPr>
        </p:nvSpPr>
        <p:spPr>
          <a:xfrm>
            <a:off x="0" y="1124744"/>
            <a:ext cx="5148064" cy="5001419"/>
          </a:xfrm>
        </p:spPr>
        <p:txBody>
          <a:bodyPr>
            <a:normAutofit fontScale="85000" lnSpcReduction="20000"/>
          </a:bodyPr>
          <a:lstStyle/>
          <a:p>
            <a:r>
              <a:rPr lang="en-AU" i="1" dirty="0" smtClean="0"/>
              <a:t>“Our business with them, and theirs with us, is commerce, not politics, much less war”. </a:t>
            </a:r>
            <a:r>
              <a:rPr lang="en-AU" dirty="0" smtClean="0"/>
              <a:t>– John Adams 1780 Foreign Envoy to Europe.</a:t>
            </a:r>
          </a:p>
          <a:p>
            <a:r>
              <a:rPr lang="en-AU" dirty="0" smtClean="0"/>
              <a:t>Non involvement was America’s policy pre-WW1.</a:t>
            </a:r>
          </a:p>
          <a:p>
            <a:r>
              <a:rPr lang="en-AU" dirty="0" smtClean="0"/>
              <a:t>The Pacific and Atlantic Oceans were also immense natural barriers hence no need to create a strong US navy.</a:t>
            </a:r>
          </a:p>
          <a:p>
            <a:r>
              <a:rPr lang="en-AU" dirty="0" smtClean="0"/>
              <a:t>There was no need for a strong army as no state on America’s was a major threat. </a:t>
            </a:r>
          </a:p>
          <a:p>
            <a:pPr>
              <a:buNone/>
            </a:pPr>
            <a:endParaRPr lang="en-AU" dirty="0" smtClean="0"/>
          </a:p>
          <a:p>
            <a:endParaRPr lang="en-AU" dirty="0"/>
          </a:p>
        </p:txBody>
      </p:sp>
      <p:pic>
        <p:nvPicPr>
          <p:cNvPr id="4" name="Picture 3" descr="hhhoeihdoied.jpg"/>
          <p:cNvPicPr>
            <a:picLocks noChangeAspect="1"/>
          </p:cNvPicPr>
          <p:nvPr/>
        </p:nvPicPr>
        <p:blipFill>
          <a:blip r:embed="rId2" cstate="print"/>
          <a:stretch>
            <a:fillRect/>
          </a:stretch>
        </p:blipFill>
        <p:spPr>
          <a:xfrm>
            <a:off x="5292080" y="1268760"/>
            <a:ext cx="3672408" cy="48245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The Monroe Doctrine</a:t>
            </a:r>
            <a:endParaRPr lang="en-AU" b="1" dirty="0"/>
          </a:p>
        </p:txBody>
      </p:sp>
      <p:sp>
        <p:nvSpPr>
          <p:cNvPr id="3" name="Content Placeholder 2"/>
          <p:cNvSpPr>
            <a:spLocks noGrp="1"/>
          </p:cNvSpPr>
          <p:nvPr>
            <p:ph idx="1"/>
          </p:nvPr>
        </p:nvSpPr>
        <p:spPr/>
        <p:txBody>
          <a:bodyPr>
            <a:normAutofit fontScale="92500" lnSpcReduction="10000"/>
          </a:bodyPr>
          <a:lstStyle/>
          <a:p>
            <a:r>
              <a:rPr lang="en-AU" dirty="0" smtClean="0"/>
              <a:t>1823 the Monroe Doctrine established the scope of American interests in early 19</a:t>
            </a:r>
            <a:r>
              <a:rPr lang="en-AU" baseline="30000" dirty="0" smtClean="0"/>
              <a:t>th</a:t>
            </a:r>
            <a:r>
              <a:rPr lang="en-AU" dirty="0" smtClean="0"/>
              <a:t> century. The doctrine stated that:</a:t>
            </a:r>
          </a:p>
          <a:p>
            <a:pPr marL="514350" indent="-514350">
              <a:buFont typeface="+mj-lt"/>
              <a:buAutoNum type="arabicPeriod"/>
            </a:pPr>
            <a:r>
              <a:rPr lang="en-AU" dirty="0" smtClean="0"/>
              <a:t>US policy was to avoid becoming involved in European wars unless American interests were involved</a:t>
            </a:r>
          </a:p>
          <a:p>
            <a:pPr marL="514350" indent="-514350">
              <a:buFont typeface="+mj-lt"/>
              <a:buAutoNum type="arabicPeriod"/>
            </a:pPr>
            <a:r>
              <a:rPr lang="en-AU" dirty="0" smtClean="0"/>
              <a:t>The ‘American continents’ were not to be colonised by any European powers</a:t>
            </a:r>
          </a:p>
          <a:p>
            <a:pPr marL="514350" indent="-514350">
              <a:buFont typeface="+mj-lt"/>
              <a:buAutoNum type="arabicPeriod"/>
            </a:pPr>
            <a:r>
              <a:rPr lang="en-AU" dirty="0" smtClean="0"/>
              <a:t>Any such attempts at colonisation would be regarded as ‘unfriendly’ acts.</a:t>
            </a:r>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pic>
        <p:nvPicPr>
          <p:cNvPr id="1026" name="Picture 2" descr="http://www.expat-chronicles.com/wp-content/uploads/2011/10/monroe-doctrine-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60648"/>
            <a:ext cx="6120680" cy="62595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648"/>
            <a:ext cx="9144000" cy="936104"/>
          </a:xfrm>
        </p:spPr>
        <p:txBody>
          <a:bodyPr>
            <a:normAutofit fontScale="90000"/>
          </a:bodyPr>
          <a:lstStyle/>
          <a:p>
            <a:r>
              <a:rPr lang="en-AU" b="1" dirty="0" smtClean="0"/>
              <a:t>The Spanish-American War of 1898</a:t>
            </a:r>
            <a:r>
              <a:rPr lang="en-AU" dirty="0" smtClean="0"/>
              <a:t/>
            </a:r>
            <a:br>
              <a:rPr lang="en-AU" dirty="0" smtClean="0"/>
            </a:br>
            <a:endParaRPr lang="en-AU" dirty="0"/>
          </a:p>
        </p:txBody>
      </p:sp>
      <p:sp>
        <p:nvSpPr>
          <p:cNvPr id="3" name="Content Placeholder 2"/>
          <p:cNvSpPr>
            <a:spLocks noGrp="1"/>
          </p:cNvSpPr>
          <p:nvPr>
            <p:ph idx="1"/>
          </p:nvPr>
        </p:nvSpPr>
        <p:spPr>
          <a:xfrm>
            <a:off x="251520" y="1052736"/>
            <a:ext cx="8640960" cy="5805264"/>
          </a:xfrm>
        </p:spPr>
        <p:txBody>
          <a:bodyPr>
            <a:normAutofit fontScale="85000" lnSpcReduction="20000"/>
          </a:bodyPr>
          <a:lstStyle/>
          <a:p>
            <a:r>
              <a:rPr lang="en-AU" dirty="0" smtClean="0"/>
              <a:t>Cuba was according to the Monroe Doctrine in USA’s sphere on influence.</a:t>
            </a:r>
          </a:p>
          <a:p>
            <a:r>
              <a:rPr lang="en-AU" dirty="0" smtClean="0"/>
              <a:t>Cuban revolutionaries demanded independence from Spain </a:t>
            </a:r>
          </a:p>
          <a:p>
            <a:pPr>
              <a:buNone/>
            </a:pPr>
            <a:r>
              <a:rPr lang="en-AU" dirty="0" smtClean="0"/>
              <a:t>INCIDENT 1</a:t>
            </a:r>
          </a:p>
          <a:p>
            <a:r>
              <a:rPr lang="en-AU" dirty="0" smtClean="0"/>
              <a:t>The Spanish ambassador criticised the President in a private letter. </a:t>
            </a:r>
          </a:p>
          <a:p>
            <a:pPr>
              <a:buNone/>
            </a:pPr>
            <a:r>
              <a:rPr lang="en-AU" dirty="0" smtClean="0"/>
              <a:t>Incident 2</a:t>
            </a:r>
          </a:p>
          <a:p>
            <a:r>
              <a:rPr lang="en-AU" dirty="0" smtClean="0"/>
              <a:t> February of 1898 the Maine exploded in Havana Harbour. </a:t>
            </a:r>
          </a:p>
          <a:p>
            <a:r>
              <a:rPr lang="en-AU" dirty="0" smtClean="0"/>
              <a:t>Perception that Spain in Cuba posed a military and economic threat.</a:t>
            </a:r>
          </a:p>
          <a:p>
            <a:pPr>
              <a:buNone/>
            </a:pPr>
            <a:r>
              <a:rPr lang="en-AU" dirty="0" smtClean="0"/>
              <a:t>WAR</a:t>
            </a:r>
          </a:p>
          <a:p>
            <a:r>
              <a:rPr lang="en-AU" dirty="0" smtClean="0"/>
              <a:t>In April 1898 the US launched a double attack on Spanish territories in the Philippines and in Cuba and defeated the Spanish troops after 17 days.</a:t>
            </a:r>
          </a:p>
          <a:p>
            <a:pPr>
              <a:buNone/>
            </a:pPr>
            <a:endParaRPr lang="en-AU" dirty="0" smtClean="0"/>
          </a:p>
          <a:p>
            <a:pPr>
              <a:buNone/>
            </a:pPr>
            <a:endParaRPr lang="en-AU" dirty="0" smtClean="0"/>
          </a:p>
          <a:p>
            <a:pPr>
              <a:buNone/>
            </a:pPr>
            <a:endParaRPr lang="en-AU"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aine.jpg"/>
          <p:cNvPicPr>
            <a:picLocks noGrp="1" noChangeAspect="1"/>
          </p:cNvPicPr>
          <p:nvPr>
            <p:ph idx="1"/>
          </p:nvPr>
        </p:nvPicPr>
        <p:blipFill>
          <a:blip r:embed="rId2" cstate="print"/>
          <a:stretch>
            <a:fillRect/>
          </a:stretch>
        </p:blipFill>
        <p:spPr>
          <a:xfrm>
            <a:off x="467545" y="620688"/>
            <a:ext cx="4104455" cy="5472608"/>
          </a:xfrm>
        </p:spPr>
      </p:pic>
      <p:pic>
        <p:nvPicPr>
          <p:cNvPr id="5" name="Picture 4" descr="tumblr_lzfr63kimP1r9eq2so1_1280.jpg"/>
          <p:cNvPicPr>
            <a:picLocks noChangeAspect="1"/>
          </p:cNvPicPr>
          <p:nvPr/>
        </p:nvPicPr>
        <p:blipFill>
          <a:blip r:embed="rId3" cstate="print"/>
          <a:stretch>
            <a:fillRect/>
          </a:stretch>
        </p:blipFill>
        <p:spPr>
          <a:xfrm>
            <a:off x="4932040" y="692696"/>
            <a:ext cx="3888432" cy="53285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AU" dirty="0" smtClean="0"/>
              <a:t>Spoils of War</a:t>
            </a:r>
            <a:endParaRPr lang="en-AU" dirty="0"/>
          </a:p>
        </p:txBody>
      </p:sp>
      <p:sp>
        <p:nvSpPr>
          <p:cNvPr id="3" name="Content Placeholder 2"/>
          <p:cNvSpPr>
            <a:spLocks noGrp="1"/>
          </p:cNvSpPr>
          <p:nvPr>
            <p:ph idx="1"/>
          </p:nvPr>
        </p:nvSpPr>
        <p:spPr>
          <a:xfrm>
            <a:off x="457200" y="980728"/>
            <a:ext cx="8229600" cy="5145435"/>
          </a:xfrm>
        </p:spPr>
        <p:txBody>
          <a:bodyPr>
            <a:normAutofit fontScale="85000" lnSpcReduction="20000"/>
          </a:bodyPr>
          <a:lstStyle/>
          <a:p>
            <a:r>
              <a:rPr lang="en-AU" dirty="0" smtClean="0"/>
              <a:t>Treaty of Paris of 1898 showed the USA as victors. It stated that:</a:t>
            </a:r>
          </a:p>
          <a:p>
            <a:pPr marL="514350" indent="-514350">
              <a:buFont typeface="+mj-lt"/>
              <a:buAutoNum type="arabicPeriod"/>
            </a:pPr>
            <a:r>
              <a:rPr lang="en-AU" dirty="0" smtClean="0"/>
              <a:t>Cuban independence was recognised but US influenced its constitution and took possession of Guantanamo Bay.</a:t>
            </a:r>
          </a:p>
          <a:p>
            <a:pPr marL="514350" indent="-514350">
              <a:buFont typeface="+mj-lt"/>
              <a:buAutoNum type="arabicPeriod"/>
            </a:pPr>
            <a:r>
              <a:rPr lang="en-AU" dirty="0" smtClean="0"/>
              <a:t>Spain lost Puerto Rico and Guam.</a:t>
            </a:r>
          </a:p>
          <a:p>
            <a:pPr marL="514350" indent="-514350">
              <a:buFont typeface="+mj-lt"/>
              <a:buAutoNum type="arabicPeriod"/>
            </a:pPr>
            <a:r>
              <a:rPr lang="en-AU" dirty="0" smtClean="0"/>
              <a:t>The US was able to purchase the Philippine Islands for $20 million.</a:t>
            </a:r>
          </a:p>
          <a:p>
            <a:pPr marL="514350" indent="-514350"/>
            <a:r>
              <a:rPr lang="en-AU" dirty="0" smtClean="0"/>
              <a:t>The USA had demonstrated that it was willing to go to war to defend its spheres of influence and now also had Pacific bases. </a:t>
            </a:r>
          </a:p>
          <a:p>
            <a:pPr marL="514350" indent="-514350"/>
            <a:r>
              <a:rPr lang="en-AU" dirty="0" smtClean="0"/>
              <a:t>Treatment of Filipinos by American soldiers led to a reaction against imperialism within the US</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 Foreign Policy</a:t>
            </a:r>
            <a:endParaRPr lang="en-AU" dirty="0"/>
          </a:p>
        </p:txBody>
      </p:sp>
      <p:sp>
        <p:nvSpPr>
          <p:cNvPr id="3" name="Content Placeholder 2"/>
          <p:cNvSpPr>
            <a:spLocks noGrp="1"/>
          </p:cNvSpPr>
          <p:nvPr>
            <p:ph idx="1"/>
          </p:nvPr>
        </p:nvSpPr>
        <p:spPr>
          <a:xfrm>
            <a:off x="457200" y="1412776"/>
            <a:ext cx="8229600" cy="4713387"/>
          </a:xfrm>
        </p:spPr>
        <p:txBody>
          <a:bodyPr>
            <a:normAutofit lnSpcReduction="10000"/>
          </a:bodyPr>
          <a:lstStyle/>
          <a:p>
            <a:r>
              <a:rPr lang="en-AU" dirty="0" smtClean="0"/>
              <a:t>Presidents became the major directors of foreign policy.</a:t>
            </a:r>
          </a:p>
          <a:p>
            <a:r>
              <a:rPr lang="en-AU" dirty="0" smtClean="0"/>
              <a:t>Theodore Roosevelt relished the control of foreign policy.</a:t>
            </a:r>
          </a:p>
          <a:p>
            <a:r>
              <a:rPr lang="en-AU" dirty="0" smtClean="0"/>
              <a:t>“The biggest matters, such as the Portsmouth Peace, the acquisition of Panama, and sending the fleet around the world I  managed without consultations with anyone; for when a matter is of capital importance, it is well to be handled by one man only”. Roosevelt </a:t>
            </a:r>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Roosevelt’s annual message to Congress, 1904</a:t>
            </a:r>
            <a:endParaRPr lang="en-AU" dirty="0"/>
          </a:p>
        </p:txBody>
      </p:sp>
      <p:sp>
        <p:nvSpPr>
          <p:cNvPr id="3" name="Content Placeholder 2"/>
          <p:cNvSpPr>
            <a:spLocks noGrp="1"/>
          </p:cNvSpPr>
          <p:nvPr>
            <p:ph idx="1"/>
          </p:nvPr>
        </p:nvSpPr>
        <p:spPr>
          <a:xfrm>
            <a:off x="251520" y="1556792"/>
            <a:ext cx="8640960" cy="4968552"/>
          </a:xfrm>
        </p:spPr>
        <p:txBody>
          <a:bodyPr>
            <a:normAutofit fontScale="85000" lnSpcReduction="10000"/>
          </a:bodyPr>
          <a:lstStyle/>
          <a:p>
            <a:pPr>
              <a:buNone/>
            </a:pPr>
            <a:r>
              <a:rPr lang="en-AU" dirty="0" smtClean="0"/>
              <a:t>..</a:t>
            </a:r>
            <a:r>
              <a:rPr lang="en-AU" i="1" dirty="0" smtClean="0"/>
              <a:t>it is not true that the US feels any land hunger or entertains any project as regards the other nations of the Western Hemisphere save as for their welfare….but the adherence of the US to the Monroe Doctrine may force the United States, however reluctantly, in flagrant cases of such wrongdoing or impotence, to exercise as an international police power…We would interfere with them only in the last resort and then only if it became evident that their inability or unwillingness to do justice at home and abroad had violated the rights of the US or had invited foreign aggressions to the detriment of the entire body of American nations.</a:t>
            </a:r>
            <a:endParaRPr lang="en-AU"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WW1</a:t>
            </a:r>
            <a:endParaRPr lang="en-AU" dirty="0"/>
          </a:p>
        </p:txBody>
      </p:sp>
      <p:sp>
        <p:nvSpPr>
          <p:cNvPr id="3" name="Content Placeholder 2"/>
          <p:cNvSpPr>
            <a:spLocks noGrp="1"/>
          </p:cNvSpPr>
          <p:nvPr>
            <p:ph idx="1"/>
          </p:nvPr>
        </p:nvSpPr>
        <p:spPr/>
        <p:txBody>
          <a:bodyPr/>
          <a:lstStyle/>
          <a:p>
            <a:r>
              <a:rPr lang="en-AU" dirty="0" smtClean="0"/>
              <a:t>The US believed that the war that broke out in 1914 was a European dispute. The US claimed neutrality, however neutrality was impossible with America trading with Britain and France</a:t>
            </a:r>
          </a:p>
          <a:p>
            <a:r>
              <a:rPr lang="en-AU" dirty="0" smtClean="0"/>
              <a:t>There was an increase in peace movements within the US that argued against the corruption of war, the loss of young </a:t>
            </a:r>
            <a:r>
              <a:rPr lang="en-AU" dirty="0" smtClean="0"/>
              <a:t>lives </a:t>
            </a:r>
            <a:r>
              <a:rPr lang="en-AU" dirty="0" smtClean="0"/>
              <a:t>and the inadequacy of war as a solution. </a:t>
            </a:r>
          </a:p>
          <a:p>
            <a:endParaRPr lang="en-AU"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Steps towards war</a:t>
            </a:r>
            <a:endParaRPr lang="en-AU" dirty="0"/>
          </a:p>
        </p:txBody>
      </p:sp>
      <p:sp>
        <p:nvSpPr>
          <p:cNvPr id="3" name="Content Placeholder 2"/>
          <p:cNvSpPr>
            <a:spLocks noGrp="1"/>
          </p:cNvSpPr>
          <p:nvPr>
            <p:ph idx="1"/>
          </p:nvPr>
        </p:nvSpPr>
        <p:spPr>
          <a:xfrm>
            <a:off x="457200" y="1340768"/>
            <a:ext cx="8229600" cy="5112568"/>
          </a:xfrm>
        </p:spPr>
        <p:txBody>
          <a:bodyPr>
            <a:normAutofit fontScale="92500" lnSpcReduction="20000"/>
          </a:bodyPr>
          <a:lstStyle/>
          <a:p>
            <a:pPr marL="514350" indent="-514350">
              <a:buFont typeface="+mj-lt"/>
              <a:buAutoNum type="arabicPeriod"/>
            </a:pPr>
            <a:r>
              <a:rPr lang="en-AU" dirty="0" smtClean="0"/>
              <a:t>Lusitania, a passenger ship, was sunk by German submarines in 1915. 1200 people died and America was shocked that civilians were now enemy targets.</a:t>
            </a:r>
          </a:p>
          <a:p>
            <a:pPr marL="514350" indent="-514350">
              <a:buFont typeface="+mj-lt"/>
              <a:buAutoNum type="arabicPeriod"/>
            </a:pPr>
            <a:r>
              <a:rPr lang="en-AU" dirty="0" smtClean="0"/>
              <a:t>Germany resumed unrestricted submarine warfare against all shipping around Britain and France in 1917.</a:t>
            </a:r>
          </a:p>
          <a:p>
            <a:pPr marL="514350" indent="-514350">
              <a:buFont typeface="+mj-lt"/>
              <a:buAutoNum type="arabicPeriod"/>
            </a:pPr>
            <a:r>
              <a:rPr lang="en-AU" dirty="0" smtClean="0"/>
              <a:t>The Zimmerman Telegraph, 1917. Invitation from Germany to Mexico to enter WW1 on the side of the </a:t>
            </a:r>
            <a:r>
              <a:rPr lang="en-AU" dirty="0" smtClean="0"/>
              <a:t>Alliance</a:t>
            </a:r>
            <a:r>
              <a:rPr lang="en-AU" dirty="0" smtClean="0"/>
              <a:t> </a:t>
            </a:r>
            <a:r>
              <a:rPr lang="en-AU" dirty="0" smtClean="0"/>
              <a:t>Powers. They would be given Texas, New Mexico and Arizona. Outraged public opinion and generated support for the US entering the war.</a:t>
            </a:r>
            <a:endParaRPr lang="en-AU"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68760"/>
          </a:xfrm>
        </p:spPr>
        <p:txBody>
          <a:bodyPr/>
          <a:lstStyle/>
          <a:p>
            <a:r>
              <a:rPr lang="en-AU" dirty="0" smtClean="0"/>
              <a:t>Declaration of war</a:t>
            </a:r>
            <a:endParaRPr lang="en-AU" dirty="0"/>
          </a:p>
        </p:txBody>
      </p:sp>
      <p:sp>
        <p:nvSpPr>
          <p:cNvPr id="3" name="Content Placeholder 2"/>
          <p:cNvSpPr>
            <a:spLocks noGrp="1"/>
          </p:cNvSpPr>
          <p:nvPr>
            <p:ph idx="1"/>
          </p:nvPr>
        </p:nvSpPr>
        <p:spPr>
          <a:xfrm>
            <a:off x="251520" y="980728"/>
            <a:ext cx="8568952" cy="5544616"/>
          </a:xfrm>
        </p:spPr>
        <p:txBody>
          <a:bodyPr>
            <a:normAutofit fontScale="85000" lnSpcReduction="10000"/>
          </a:bodyPr>
          <a:lstStyle/>
          <a:p>
            <a:r>
              <a:rPr lang="en-AU" dirty="0" smtClean="0"/>
              <a:t>March 1917 ordered all merchant ships to be armed and that the navy should fire on U-boats. </a:t>
            </a:r>
          </a:p>
          <a:p>
            <a:r>
              <a:rPr lang="en-AU" dirty="0" smtClean="0"/>
              <a:t>Germany responded by sinking 5 American ships in one week.</a:t>
            </a:r>
          </a:p>
          <a:p>
            <a:r>
              <a:rPr lang="en-AU" dirty="0" smtClean="0"/>
              <a:t>The President asked congress for a declaration of war on Germany.</a:t>
            </a:r>
          </a:p>
          <a:p>
            <a:pPr>
              <a:buNone/>
            </a:pPr>
            <a:r>
              <a:rPr lang="en-AU" dirty="0" smtClean="0"/>
              <a:t>….I advise that congress declare the recent course of the Imperial Government to be in fact nothing less than war against the government and people of the United States…to take immediate steps not only to put the country in a more thorough state of defence but also to exert all its power and employ all its resources to bring the Government of the German Empire to terms….. (President Wilson, Address to Congress, 1917</a:t>
            </a:r>
            <a:endParaRPr lang="en-A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TotalTime>
  <Words>987</Words>
  <Application>Microsoft Office PowerPoint</Application>
  <PresentationFormat>On-screen Show (4:3)</PresentationFormat>
  <Paragraphs>59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American Isolationism before WW1</vt:lpstr>
      <vt:lpstr>Key Terms</vt:lpstr>
      <vt:lpstr>Introduction</vt:lpstr>
      <vt:lpstr>Non Intervention</vt:lpstr>
      <vt:lpstr>The Monroe Doctrine</vt:lpstr>
      <vt:lpstr>PowerPoint Presentation</vt:lpstr>
      <vt:lpstr>The Spanish-American War of 1898 </vt:lpstr>
      <vt:lpstr>PowerPoint Presentation</vt:lpstr>
      <vt:lpstr>Spoils of War</vt:lpstr>
      <vt:lpstr>US Foreign Policy</vt:lpstr>
      <vt:lpstr>Roosevelt’s annual message to Congress, 1904</vt:lpstr>
      <vt:lpstr>WW1</vt:lpstr>
      <vt:lpstr>Steps towards war</vt:lpstr>
      <vt:lpstr>Declaration of war</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Isolationism before WW1</dc:title>
  <dc:creator>peter</dc:creator>
  <cp:lastModifiedBy>Kieren</cp:lastModifiedBy>
  <cp:revision>22</cp:revision>
  <dcterms:created xsi:type="dcterms:W3CDTF">2013-11-24T13:45:54Z</dcterms:created>
  <dcterms:modified xsi:type="dcterms:W3CDTF">2013-11-27T00:53:50Z</dcterms:modified>
</cp:coreProperties>
</file>
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18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A1B0A901-0AD8-4562-802A-D17802445615}" type="datetimeFigureOut">
              <a:rPr lang="en-AU" smtClean="0"/>
              <a:t>20/09/2013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375955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A1B0A901-0AD8-4562-802A-D17802445615}" type="datetimeFigureOut">
              <a:rPr lang="en-AU" smtClean="0"/>
              <a:t>20/09/2013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3811583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B0A901-0AD8-4562-802A-D17802445615}" type="datetimeFigureOut">
              <a:rPr lang="en-AU" smtClean="0"/>
              <a:t>20/09/2013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624838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A1B0A901-0AD8-4562-802A-D17802445615}" type="datetimeFigureOut">
              <a:rPr lang="en-AU" smtClean="0"/>
              <a:t>20/09/2013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1949725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A1B0A901-0AD8-4562-802A-D17802445615}" type="datetimeFigureOut">
              <a:rPr lang="en-AU" smtClean="0"/>
              <a:t>20/09/2013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1095383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A1B0A901-0AD8-4562-802A-D17802445615}" type="datetimeFigureOut">
              <a:rPr lang="en-AU" smtClean="0"/>
              <a:t>20/09/2013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348184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B0A901-0AD8-4562-802A-D17802445615}" type="datetimeFigureOut">
              <a:rPr lang="en-AU" smtClean="0"/>
              <a:t>20/09/2013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226654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B0A901-0AD8-4562-802A-D17802445615}" type="datetimeFigureOut">
              <a:rPr lang="en-AU" smtClean="0"/>
              <a:t>20/09/2013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3470418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1B0A901-0AD8-4562-802A-D17802445615}" type="datetimeFigureOut">
              <a:rPr lang="en-AU" smtClean="0"/>
              <a:t>20/09/2013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989063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A1B0A901-0AD8-4562-802A-D17802445615}" type="datetimeFigureOut">
              <a:rPr lang="en-AU" smtClean="0"/>
              <a:t>20/09/2013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301895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A1B0A901-0AD8-4562-802A-D17802445615}" type="datetimeFigureOut">
              <a:rPr lang="en-AU" smtClean="0"/>
              <a:t>20/09/2013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16FC515-19FC-4C2E-9AB4-5E2CD3AFDB6B}" type="slidenum">
              <a:rPr lang="en-AU" smtClean="0"/>
              <a:t>‹#›</a:t>
            </a:fld>
            <a:endParaRPr lang="en-AU"/>
          </a:p>
        </p:txBody>
      </p:sp>
    </p:spTree>
    <p:extLst>
      <p:ext uri="{BB962C8B-B14F-4D97-AF65-F5344CB8AC3E}">
        <p14:creationId xmlns:p14="http://schemas.microsoft.com/office/powerpoint/2010/main" val="1504418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B0A901-0AD8-4562-802A-D17802445615}" type="datetimeFigureOut">
              <a:rPr lang="en-AU" smtClean="0"/>
              <a:t>20/09/2013</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6FC515-19FC-4C2E-9AB4-5E2CD3AFDB6B}" type="slidenum">
              <a:rPr lang="en-AU" smtClean="0"/>
              <a:t>‹#›</a:t>
            </a:fld>
            <a:endParaRPr lang="en-AU"/>
          </a:p>
        </p:txBody>
      </p:sp>
    </p:spTree>
    <p:extLst>
      <p:ext uri="{BB962C8B-B14F-4D97-AF65-F5344CB8AC3E}">
        <p14:creationId xmlns:p14="http://schemas.microsoft.com/office/powerpoint/2010/main" val="299378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260648"/>
            <a:ext cx="7772400" cy="1470025"/>
          </a:xfrm>
        </p:spPr>
        <p:txBody>
          <a:bodyPr/>
          <a:lstStyle/>
          <a:p>
            <a:r>
              <a:rPr lang="en-AU" dirty="0" smtClean="0">
                <a:solidFill>
                  <a:schemeClr val="bg1">
                    <a:lumMod val="95000"/>
                  </a:schemeClr>
                </a:solidFill>
                <a:effectLst>
                  <a:outerShdw blurRad="38100" dist="38100" dir="2700000" algn="tl">
                    <a:srgbClr val="000000">
                      <a:alpha val="43137"/>
                    </a:srgbClr>
                  </a:outerShdw>
                </a:effectLst>
              </a:rPr>
              <a:t>Propaganda</a:t>
            </a:r>
            <a:endParaRPr lang="en-AU" dirty="0">
              <a:solidFill>
                <a:schemeClr val="bg1">
                  <a:lumMod val="95000"/>
                </a:schemeClr>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467544" y="1412776"/>
            <a:ext cx="8424936" cy="4896544"/>
          </a:xfrm>
        </p:spPr>
        <p:txBody>
          <a:bodyPr>
            <a:normAutofit fontScale="92500"/>
          </a:bodyPr>
          <a:lstStyle/>
          <a:p>
            <a:pPr algn="l"/>
            <a:r>
              <a:rPr lang="en-AU" dirty="0" smtClean="0">
                <a:solidFill>
                  <a:schemeClr val="bg1">
                    <a:lumMod val="95000"/>
                  </a:schemeClr>
                </a:solidFill>
              </a:rPr>
              <a:t>Defined as any organised scheme which deliberately promotes a one-sided view in order to gain support for a particular viewpoint, creed or belief.</a:t>
            </a:r>
          </a:p>
          <a:p>
            <a:pPr algn="l"/>
            <a:r>
              <a:rPr lang="en-AU" dirty="0" smtClean="0">
                <a:solidFill>
                  <a:schemeClr val="bg1">
                    <a:lumMod val="95000"/>
                  </a:schemeClr>
                </a:solidFill>
              </a:rPr>
              <a:t>Methods:</a:t>
            </a:r>
          </a:p>
          <a:p>
            <a:pPr marL="457200" indent="-457200" algn="l">
              <a:buFont typeface="Arial" pitchFamily="34" charset="0"/>
              <a:buChar char="•"/>
            </a:pPr>
            <a:r>
              <a:rPr lang="en-AU" dirty="0" smtClean="0">
                <a:solidFill>
                  <a:schemeClr val="bg1">
                    <a:lumMod val="95000"/>
                  </a:schemeClr>
                </a:solidFill>
              </a:rPr>
              <a:t>Catch the attention of the audience.</a:t>
            </a:r>
          </a:p>
          <a:p>
            <a:pPr marL="457200" indent="-457200" algn="l">
              <a:buFont typeface="Arial" pitchFamily="34" charset="0"/>
              <a:buChar char="•"/>
            </a:pPr>
            <a:r>
              <a:rPr lang="en-AU" dirty="0" smtClean="0">
                <a:solidFill>
                  <a:schemeClr val="bg1">
                    <a:lumMod val="95000"/>
                  </a:schemeClr>
                </a:solidFill>
              </a:rPr>
              <a:t>Appeal to the emotions.</a:t>
            </a:r>
          </a:p>
          <a:p>
            <a:pPr marL="457200" indent="-457200" algn="l">
              <a:buFont typeface="Arial" pitchFamily="34" charset="0"/>
              <a:buChar char="•"/>
            </a:pPr>
            <a:r>
              <a:rPr lang="en-AU" dirty="0" smtClean="0">
                <a:solidFill>
                  <a:schemeClr val="bg1">
                    <a:lumMod val="95000"/>
                  </a:schemeClr>
                </a:solidFill>
              </a:rPr>
              <a:t>Supply simple solutions.</a:t>
            </a:r>
          </a:p>
          <a:p>
            <a:pPr marL="457200" indent="-457200" algn="l">
              <a:buFont typeface="Arial" pitchFamily="34" charset="0"/>
              <a:buChar char="•"/>
            </a:pPr>
            <a:r>
              <a:rPr lang="en-AU" dirty="0" smtClean="0">
                <a:solidFill>
                  <a:schemeClr val="bg1">
                    <a:lumMod val="95000"/>
                  </a:schemeClr>
                </a:solidFill>
              </a:rPr>
              <a:t>Confine the message to a few essentials.</a:t>
            </a:r>
          </a:p>
          <a:p>
            <a:pPr marL="457200" indent="-457200" algn="l">
              <a:buFont typeface="Arial" pitchFamily="34" charset="0"/>
              <a:buChar char="•"/>
            </a:pPr>
            <a:r>
              <a:rPr lang="en-AU" dirty="0" smtClean="0">
                <a:solidFill>
                  <a:schemeClr val="bg1">
                    <a:lumMod val="95000"/>
                  </a:schemeClr>
                </a:solidFill>
              </a:rPr>
              <a:t>Use repetition and stereotyped slogans.</a:t>
            </a:r>
            <a:endParaRPr lang="en-AU" dirty="0">
              <a:solidFill>
                <a:schemeClr val="bg1">
                  <a:lumMod val="95000"/>
                </a:schemeClr>
              </a:solidFill>
            </a:endParaRPr>
          </a:p>
        </p:txBody>
      </p:sp>
    </p:spTree>
    <p:extLst>
      <p:ext uri="{BB962C8B-B14F-4D97-AF65-F5344CB8AC3E}">
        <p14:creationId xmlns:p14="http://schemas.microsoft.com/office/powerpoint/2010/main" val="1750355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solidFill>
                  <a:schemeClr val="bg1">
                    <a:lumMod val="95000"/>
                  </a:schemeClr>
                </a:solidFill>
                <a:effectLst>
                  <a:outerShdw blurRad="38100" dist="38100" dir="2700000" algn="tl">
                    <a:srgbClr val="000000">
                      <a:alpha val="43137"/>
                    </a:srgbClr>
                  </a:outerShdw>
                </a:effectLst>
              </a:rPr>
              <a:t>Techniques of Propagandists</a:t>
            </a:r>
            <a:endParaRPr lang="en-AU" dirty="0">
              <a:solidFill>
                <a:schemeClr val="bg1">
                  <a:lumMod val="95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AU" b="1" dirty="0" smtClean="0">
                <a:solidFill>
                  <a:schemeClr val="bg1">
                    <a:lumMod val="95000"/>
                  </a:schemeClr>
                </a:solidFill>
              </a:rPr>
              <a:t>Name Calling</a:t>
            </a:r>
            <a:r>
              <a:rPr lang="en-AU" dirty="0" smtClean="0">
                <a:solidFill>
                  <a:schemeClr val="bg1">
                    <a:lumMod val="95000"/>
                  </a:schemeClr>
                </a:solidFill>
              </a:rPr>
              <a:t> - Using negative words to create an </a:t>
            </a:r>
            <a:r>
              <a:rPr lang="en-AU" dirty="0" err="1" smtClean="0">
                <a:solidFill>
                  <a:schemeClr val="bg1">
                    <a:lumMod val="95000"/>
                  </a:schemeClr>
                </a:solidFill>
              </a:rPr>
              <a:t>unfavorable</a:t>
            </a:r>
            <a:r>
              <a:rPr lang="en-AU" dirty="0" smtClean="0">
                <a:solidFill>
                  <a:schemeClr val="bg1">
                    <a:lumMod val="95000"/>
                  </a:schemeClr>
                </a:solidFill>
              </a:rPr>
              <a:t> opinion or hatred against a group, beliefs, ideas or institutions.  This method calls for a conclusion without examining any evidence.</a:t>
            </a:r>
          </a:p>
          <a:p>
            <a:r>
              <a:rPr lang="en-AU" b="1" dirty="0" smtClean="0">
                <a:solidFill>
                  <a:schemeClr val="bg1">
                    <a:lumMod val="95000"/>
                  </a:schemeClr>
                </a:solidFill>
              </a:rPr>
              <a:t>Glittering Generalities</a:t>
            </a:r>
            <a:r>
              <a:rPr lang="en-AU" dirty="0" smtClean="0">
                <a:solidFill>
                  <a:schemeClr val="bg1">
                    <a:lumMod val="95000"/>
                  </a:schemeClr>
                </a:solidFill>
              </a:rPr>
              <a:t> – Vague, sweeping statements using language associated with values and beliefs deeply held by the audience.  Notions of </a:t>
            </a:r>
            <a:r>
              <a:rPr lang="en-AU" dirty="0" err="1" smtClean="0">
                <a:solidFill>
                  <a:schemeClr val="bg1">
                    <a:lumMod val="95000"/>
                  </a:schemeClr>
                </a:solidFill>
              </a:rPr>
              <a:t>honor</a:t>
            </a:r>
            <a:r>
              <a:rPr lang="en-AU" dirty="0" smtClean="0">
                <a:solidFill>
                  <a:schemeClr val="bg1">
                    <a:lumMod val="95000"/>
                  </a:schemeClr>
                </a:solidFill>
              </a:rPr>
              <a:t>, glory, love of country or family values are often used.</a:t>
            </a:r>
            <a:endParaRPr lang="en-AU" dirty="0">
              <a:solidFill>
                <a:schemeClr val="bg1">
                  <a:lumMod val="95000"/>
                </a:schemeClr>
              </a:solidFill>
            </a:endParaRPr>
          </a:p>
        </p:txBody>
      </p:sp>
    </p:spTree>
    <p:extLst>
      <p:ext uri="{BB962C8B-B14F-4D97-AF65-F5344CB8AC3E}">
        <p14:creationId xmlns:p14="http://schemas.microsoft.com/office/powerpoint/2010/main" val="2769092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lstStyle/>
          <a:p>
            <a:r>
              <a:rPr lang="en-AU" b="1" dirty="0" smtClean="0">
                <a:solidFill>
                  <a:schemeClr val="bg1">
                    <a:lumMod val="95000"/>
                  </a:schemeClr>
                </a:solidFill>
              </a:rPr>
              <a:t>Transfer</a:t>
            </a:r>
            <a:r>
              <a:rPr lang="en-AU" dirty="0" smtClean="0">
                <a:solidFill>
                  <a:schemeClr val="bg1">
                    <a:lumMod val="95000"/>
                  </a:schemeClr>
                </a:solidFill>
              </a:rPr>
              <a:t> – Used to carry over the authority and approval of something we respect and revere to something the propagandist would have us accept. Symbols such as flags or icons are often used to stir emotions and win approval.</a:t>
            </a:r>
          </a:p>
          <a:p>
            <a:r>
              <a:rPr lang="en-AU" b="1" dirty="0" smtClean="0">
                <a:solidFill>
                  <a:schemeClr val="bg1">
                    <a:lumMod val="95000"/>
                  </a:schemeClr>
                </a:solidFill>
              </a:rPr>
              <a:t>Testimonial – </a:t>
            </a:r>
            <a:r>
              <a:rPr lang="en-AU" dirty="0" smtClean="0">
                <a:solidFill>
                  <a:schemeClr val="bg1">
                    <a:lumMod val="95000"/>
                  </a:schemeClr>
                </a:solidFill>
              </a:rPr>
              <a:t>Used to associate a respected person or someone with experience to endorse a product or cause by giving it their stamp of approval hoping that the intended audience will follow their example.</a:t>
            </a:r>
            <a:endParaRPr lang="en-AU" b="1" dirty="0">
              <a:solidFill>
                <a:schemeClr val="bg1">
                  <a:lumMod val="95000"/>
                </a:schemeClr>
              </a:solidFill>
            </a:endParaRPr>
          </a:p>
        </p:txBody>
      </p:sp>
    </p:spTree>
    <p:extLst>
      <p:ext uri="{BB962C8B-B14F-4D97-AF65-F5344CB8AC3E}">
        <p14:creationId xmlns:p14="http://schemas.microsoft.com/office/powerpoint/2010/main" val="1011563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r>
              <a:rPr lang="en-AU" b="1" dirty="0" smtClean="0">
                <a:solidFill>
                  <a:schemeClr val="bg1">
                    <a:lumMod val="95000"/>
                  </a:schemeClr>
                </a:solidFill>
              </a:rPr>
              <a:t>Plain Folks – </a:t>
            </a:r>
            <a:r>
              <a:rPr lang="en-AU" dirty="0" smtClean="0">
                <a:solidFill>
                  <a:schemeClr val="bg1">
                    <a:lumMod val="95000"/>
                  </a:schemeClr>
                </a:solidFill>
              </a:rPr>
              <a:t>Used to convince the audience that the spokesperson is from humble origins, someone they can trust and who has their interests at heart.</a:t>
            </a:r>
          </a:p>
          <a:p>
            <a:r>
              <a:rPr lang="en-AU" b="1" dirty="0" smtClean="0">
                <a:solidFill>
                  <a:schemeClr val="bg1">
                    <a:lumMod val="95000"/>
                  </a:schemeClr>
                </a:solidFill>
              </a:rPr>
              <a:t>Bandwagon – </a:t>
            </a:r>
            <a:r>
              <a:rPr lang="en-AU" dirty="0" smtClean="0">
                <a:solidFill>
                  <a:schemeClr val="bg1">
                    <a:lumMod val="95000"/>
                  </a:schemeClr>
                </a:solidFill>
              </a:rPr>
              <a:t>Used to persuade the audience to follow the crowd.  This creates the impression of widespread support and reinforces the human desire to be on the winning side.</a:t>
            </a:r>
          </a:p>
          <a:p>
            <a:pPr marL="0" indent="0">
              <a:buNone/>
            </a:pPr>
            <a:endParaRPr lang="en-AU" b="1" dirty="0">
              <a:solidFill>
                <a:schemeClr val="bg1">
                  <a:lumMod val="95000"/>
                </a:schemeClr>
              </a:solidFill>
            </a:endParaRPr>
          </a:p>
        </p:txBody>
      </p:sp>
    </p:spTree>
    <p:extLst>
      <p:ext uri="{BB962C8B-B14F-4D97-AF65-F5344CB8AC3E}">
        <p14:creationId xmlns:p14="http://schemas.microsoft.com/office/powerpoint/2010/main" val="963069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92500"/>
          </a:bodyPr>
          <a:lstStyle/>
          <a:p>
            <a:r>
              <a:rPr lang="en-AU" b="1" dirty="0" smtClean="0">
                <a:solidFill>
                  <a:schemeClr val="bg1">
                    <a:lumMod val="95000"/>
                  </a:schemeClr>
                </a:solidFill>
              </a:rPr>
              <a:t>Card Stacking – </a:t>
            </a:r>
            <a:r>
              <a:rPr lang="en-AU" dirty="0" smtClean="0">
                <a:solidFill>
                  <a:schemeClr val="bg1">
                    <a:lumMod val="95000"/>
                  </a:schemeClr>
                </a:solidFill>
              </a:rPr>
              <a:t>Used to make the best case possible for his side and the worst for the opposing viewpoint by carefully using only those facts that support his or her side of the argument while attempting to lead the audience into accepting the facts as a conclusion.</a:t>
            </a:r>
          </a:p>
          <a:p>
            <a:r>
              <a:rPr lang="en-AU" b="1" dirty="0" smtClean="0">
                <a:solidFill>
                  <a:schemeClr val="bg1">
                    <a:lumMod val="95000"/>
                  </a:schemeClr>
                </a:solidFill>
              </a:rPr>
              <a:t>Scapegoating – </a:t>
            </a:r>
            <a:r>
              <a:rPr lang="en-AU" dirty="0" smtClean="0">
                <a:solidFill>
                  <a:schemeClr val="bg1">
                    <a:lumMod val="95000"/>
                  </a:schemeClr>
                </a:solidFill>
              </a:rPr>
              <a:t>Using a group or race of people as the blame for another groups misfortunes.  It relies on turning the collective intelligence away from the real causal problems and refocusing them on an </a:t>
            </a:r>
            <a:r>
              <a:rPr lang="en-AU" smtClean="0">
                <a:solidFill>
                  <a:schemeClr val="bg1">
                    <a:lumMod val="95000"/>
                  </a:schemeClr>
                </a:solidFill>
              </a:rPr>
              <a:t>easily identifiable target.</a:t>
            </a:r>
            <a:endParaRPr lang="en-AU" b="1" dirty="0">
              <a:solidFill>
                <a:schemeClr val="bg1">
                  <a:lumMod val="95000"/>
                </a:schemeClr>
              </a:solidFill>
            </a:endParaRPr>
          </a:p>
        </p:txBody>
      </p:sp>
    </p:spTree>
    <p:extLst>
      <p:ext uri="{BB962C8B-B14F-4D97-AF65-F5344CB8AC3E}">
        <p14:creationId xmlns:p14="http://schemas.microsoft.com/office/powerpoint/2010/main" val="1342731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354</Words>
  <Application>Microsoft Office PowerPoint</Application>
  <PresentationFormat>On-screen Show (4:3)</PresentationFormat>
  <Paragraphs>17</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Propaganda</vt:lpstr>
      <vt:lpstr>Techniques of Propagandists</vt:lpstr>
      <vt:lpstr>PowerPoint Presentation</vt:lpstr>
      <vt:lpstr>PowerPoint Presentation</vt:lpstr>
      <vt:lpstr>PowerPoint Presentation</vt:lpstr>
    </vt:vector>
  </TitlesOfParts>
  <Company>ARKSWA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Propaganda</dc:title>
  <dc:creator>Kieren</dc:creator>
  <cp:lastModifiedBy>Kieren</cp:lastModifiedBy>
  <cp:revision>3</cp:revision>
  <dcterms:created xsi:type="dcterms:W3CDTF">2013-09-20T03:34:49Z</dcterms:created>
  <dcterms:modified xsi:type="dcterms:W3CDTF">2013-09-20T04:03:40Z</dcterms:modified>
</cp:coreProperties>
</file>
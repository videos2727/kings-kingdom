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5" d="100"/>
          <a:sy n="115" d="100"/>
        </p:scale>
        <p:origin x="43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615D6914-B591-4940-B409-98601B5B646B}" type="datetimeFigureOut">
              <a:rPr lang="en-AU" smtClean="0"/>
              <a:t>20/06/2019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A54DF09-3D76-4710-BB07-5D61623A4590}" type="slidenum">
              <a:rPr lang="en-AU" smtClean="0"/>
              <a:t>‹#›</a:t>
            </a:fld>
            <a:endParaRPr lang="en-AU"/>
          </a:p>
        </p:txBody>
      </p:sp>
    </p:spTree>
    <p:extLst>
      <p:ext uri="{BB962C8B-B14F-4D97-AF65-F5344CB8AC3E}">
        <p14:creationId xmlns:p14="http://schemas.microsoft.com/office/powerpoint/2010/main" val="27744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15D6914-B591-4940-B409-98601B5B646B}" type="datetimeFigureOut">
              <a:rPr lang="en-AU" smtClean="0"/>
              <a:t>20/06/2019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A54DF09-3D76-4710-BB07-5D61623A4590}" type="slidenum">
              <a:rPr lang="en-AU" smtClean="0"/>
              <a:t>‹#›</a:t>
            </a:fld>
            <a:endParaRPr lang="en-AU"/>
          </a:p>
        </p:txBody>
      </p:sp>
    </p:spTree>
    <p:extLst>
      <p:ext uri="{BB962C8B-B14F-4D97-AF65-F5344CB8AC3E}">
        <p14:creationId xmlns:p14="http://schemas.microsoft.com/office/powerpoint/2010/main" val="4618386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15D6914-B591-4940-B409-98601B5B646B}" type="datetimeFigureOut">
              <a:rPr lang="en-AU" smtClean="0"/>
              <a:t>20/06/2019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A54DF09-3D76-4710-BB07-5D61623A4590}" type="slidenum">
              <a:rPr lang="en-AU" smtClean="0"/>
              <a:t>‹#›</a:t>
            </a:fld>
            <a:endParaRPr lang="en-AU"/>
          </a:p>
        </p:txBody>
      </p:sp>
    </p:spTree>
    <p:extLst>
      <p:ext uri="{BB962C8B-B14F-4D97-AF65-F5344CB8AC3E}">
        <p14:creationId xmlns:p14="http://schemas.microsoft.com/office/powerpoint/2010/main" val="559615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615D6914-B591-4940-B409-98601B5B646B}" type="datetimeFigureOut">
              <a:rPr lang="en-AU" smtClean="0"/>
              <a:t>20/06/2019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A54DF09-3D76-4710-BB07-5D61623A4590}" type="slidenum">
              <a:rPr lang="en-AU" smtClean="0"/>
              <a:t>‹#›</a:t>
            </a:fld>
            <a:endParaRPr lang="en-AU"/>
          </a:p>
        </p:txBody>
      </p:sp>
    </p:spTree>
    <p:extLst>
      <p:ext uri="{BB962C8B-B14F-4D97-AF65-F5344CB8AC3E}">
        <p14:creationId xmlns:p14="http://schemas.microsoft.com/office/powerpoint/2010/main" val="1855688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615D6914-B591-4940-B409-98601B5B646B}" type="datetimeFigureOut">
              <a:rPr lang="en-AU" smtClean="0"/>
              <a:t>20/06/2019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CA54DF09-3D76-4710-BB07-5D61623A4590}" type="slidenum">
              <a:rPr lang="en-AU" smtClean="0"/>
              <a:t>‹#›</a:t>
            </a:fld>
            <a:endParaRPr lang="en-AU"/>
          </a:p>
        </p:txBody>
      </p:sp>
    </p:spTree>
    <p:extLst>
      <p:ext uri="{BB962C8B-B14F-4D97-AF65-F5344CB8AC3E}">
        <p14:creationId xmlns:p14="http://schemas.microsoft.com/office/powerpoint/2010/main" val="2526308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615D6914-B591-4940-B409-98601B5B646B}" type="datetimeFigureOut">
              <a:rPr lang="en-AU" smtClean="0"/>
              <a:t>20/06/2019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A54DF09-3D76-4710-BB07-5D61623A4590}" type="slidenum">
              <a:rPr lang="en-AU" smtClean="0"/>
              <a:t>‹#›</a:t>
            </a:fld>
            <a:endParaRPr lang="en-AU"/>
          </a:p>
        </p:txBody>
      </p:sp>
    </p:spTree>
    <p:extLst>
      <p:ext uri="{BB962C8B-B14F-4D97-AF65-F5344CB8AC3E}">
        <p14:creationId xmlns:p14="http://schemas.microsoft.com/office/powerpoint/2010/main" val="2969685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5D6914-B591-4940-B409-98601B5B646B}" type="datetimeFigureOut">
              <a:rPr lang="en-AU" smtClean="0"/>
              <a:t>20/06/2019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A54DF09-3D76-4710-BB07-5D61623A4590}" type="slidenum">
              <a:rPr lang="en-AU" smtClean="0"/>
              <a:t>‹#›</a:t>
            </a:fld>
            <a:endParaRPr lang="en-AU"/>
          </a:p>
        </p:txBody>
      </p:sp>
    </p:spTree>
    <p:extLst>
      <p:ext uri="{BB962C8B-B14F-4D97-AF65-F5344CB8AC3E}">
        <p14:creationId xmlns:p14="http://schemas.microsoft.com/office/powerpoint/2010/main" val="855777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5D6914-B591-4940-B409-98601B5B646B}" type="datetimeFigureOut">
              <a:rPr lang="en-AU" smtClean="0"/>
              <a:t>20/06/2019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A54DF09-3D76-4710-BB07-5D61623A4590}" type="slidenum">
              <a:rPr lang="en-AU" smtClean="0"/>
              <a:t>‹#›</a:t>
            </a:fld>
            <a:endParaRPr lang="en-AU"/>
          </a:p>
        </p:txBody>
      </p:sp>
    </p:spTree>
    <p:extLst>
      <p:ext uri="{BB962C8B-B14F-4D97-AF65-F5344CB8AC3E}">
        <p14:creationId xmlns:p14="http://schemas.microsoft.com/office/powerpoint/2010/main" val="3944657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5D6914-B591-4940-B409-98601B5B646B}" type="datetimeFigureOut">
              <a:rPr lang="en-AU" smtClean="0"/>
              <a:t>20/06/2019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A54DF09-3D76-4710-BB07-5D61623A4590}" type="slidenum">
              <a:rPr lang="en-AU" smtClean="0"/>
              <a:t>‹#›</a:t>
            </a:fld>
            <a:endParaRPr lang="en-AU"/>
          </a:p>
        </p:txBody>
      </p:sp>
    </p:spTree>
    <p:extLst>
      <p:ext uri="{BB962C8B-B14F-4D97-AF65-F5344CB8AC3E}">
        <p14:creationId xmlns:p14="http://schemas.microsoft.com/office/powerpoint/2010/main" val="3733650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15D6914-B591-4940-B409-98601B5B646B}" type="datetimeFigureOut">
              <a:rPr lang="en-AU" smtClean="0"/>
              <a:t>20/06/2019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A54DF09-3D76-4710-BB07-5D61623A4590}" type="slidenum">
              <a:rPr lang="en-AU" smtClean="0"/>
              <a:t>‹#›</a:t>
            </a:fld>
            <a:endParaRPr lang="en-AU"/>
          </a:p>
        </p:txBody>
      </p:sp>
    </p:spTree>
    <p:extLst>
      <p:ext uri="{BB962C8B-B14F-4D97-AF65-F5344CB8AC3E}">
        <p14:creationId xmlns:p14="http://schemas.microsoft.com/office/powerpoint/2010/main" val="1513289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615D6914-B591-4940-B409-98601B5B646B}" type="datetimeFigureOut">
              <a:rPr lang="en-AU" smtClean="0"/>
              <a:t>20/06/2019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A54DF09-3D76-4710-BB07-5D61623A4590}" type="slidenum">
              <a:rPr lang="en-AU" smtClean="0"/>
              <a:t>‹#›</a:t>
            </a:fld>
            <a:endParaRPr lang="en-AU"/>
          </a:p>
        </p:txBody>
      </p:sp>
    </p:spTree>
    <p:extLst>
      <p:ext uri="{BB962C8B-B14F-4D97-AF65-F5344CB8AC3E}">
        <p14:creationId xmlns:p14="http://schemas.microsoft.com/office/powerpoint/2010/main" val="912180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5D6914-B591-4940-B409-98601B5B646B}" type="datetimeFigureOut">
              <a:rPr lang="en-AU" smtClean="0"/>
              <a:t>20/06/2019</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54DF09-3D76-4710-BB07-5D61623A4590}" type="slidenum">
              <a:rPr lang="en-AU" smtClean="0"/>
              <a:t>‹#›</a:t>
            </a:fld>
            <a:endParaRPr lang="en-AU"/>
          </a:p>
        </p:txBody>
      </p:sp>
    </p:spTree>
    <p:extLst>
      <p:ext uri="{BB962C8B-B14F-4D97-AF65-F5344CB8AC3E}">
        <p14:creationId xmlns:p14="http://schemas.microsoft.com/office/powerpoint/2010/main" val="31417265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Source Analysis Practice </a:t>
            </a:r>
            <a:endParaRPr lang="en-AU" dirty="0"/>
          </a:p>
        </p:txBody>
      </p:sp>
      <p:sp>
        <p:nvSpPr>
          <p:cNvPr id="3" name="Subtitle 2"/>
          <p:cNvSpPr>
            <a:spLocks noGrp="1"/>
          </p:cNvSpPr>
          <p:nvPr>
            <p:ph type="subTitle" idx="1"/>
          </p:nvPr>
        </p:nvSpPr>
        <p:spPr/>
        <p:txBody>
          <a:bodyPr/>
          <a:lstStyle/>
          <a:p>
            <a:r>
              <a:rPr lang="en-US" dirty="0" smtClean="0"/>
              <a:t>While there are often different but equally valid interpretations of historical sources, there is often one truly correct interpretation. </a:t>
            </a:r>
            <a:endParaRPr lang="en-AU" dirty="0"/>
          </a:p>
        </p:txBody>
      </p:sp>
    </p:spTree>
    <p:extLst>
      <p:ext uri="{BB962C8B-B14F-4D97-AF65-F5344CB8AC3E}">
        <p14:creationId xmlns:p14="http://schemas.microsoft.com/office/powerpoint/2010/main" val="124222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r="50907" b="6496"/>
          <a:stretch/>
        </p:blipFill>
        <p:spPr>
          <a:xfrm>
            <a:off x="3104586" y="260186"/>
            <a:ext cx="6396030" cy="6186334"/>
          </a:xfrm>
          <a:prstGeom prst="rect">
            <a:avLst/>
          </a:prstGeom>
        </p:spPr>
      </p:pic>
    </p:spTree>
    <p:extLst>
      <p:ext uri="{BB962C8B-B14F-4D97-AF65-F5344CB8AC3E}">
        <p14:creationId xmlns:p14="http://schemas.microsoft.com/office/powerpoint/2010/main" val="3734331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4" name="Picture 3"/>
          <p:cNvPicPr>
            <a:picLocks noChangeAspect="1"/>
          </p:cNvPicPr>
          <p:nvPr/>
        </p:nvPicPr>
        <p:blipFill rotWithShape="1">
          <a:blip r:embed="rId2"/>
          <a:srcRect r="51700"/>
          <a:stretch/>
        </p:blipFill>
        <p:spPr>
          <a:xfrm>
            <a:off x="2048256" y="145634"/>
            <a:ext cx="7598664" cy="6680058"/>
          </a:xfrm>
          <a:prstGeom prst="rect">
            <a:avLst/>
          </a:prstGeom>
        </p:spPr>
      </p:pic>
    </p:spTree>
    <p:extLst>
      <p:ext uri="{BB962C8B-B14F-4D97-AF65-F5344CB8AC3E}">
        <p14:creationId xmlns:p14="http://schemas.microsoft.com/office/powerpoint/2010/main" val="350167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1170432"/>
          </a:xfrm>
        </p:spPr>
        <p:txBody>
          <a:bodyPr>
            <a:normAutofit/>
          </a:bodyPr>
          <a:lstStyle/>
          <a:p>
            <a:pPr algn="ctr"/>
            <a:r>
              <a:rPr lang="en-AU" sz="2800" dirty="0" smtClean="0"/>
              <a:t>1.	Compare and contrast the message of Source 1 and Source 2.</a:t>
            </a:r>
            <a:r>
              <a:rPr lang="en-AU" sz="2800" dirty="0"/>
              <a:t> </a:t>
            </a:r>
            <a:r>
              <a:rPr lang="en-AU" sz="2800" dirty="0" smtClean="0"/>
              <a:t>(4 marks)</a:t>
            </a:r>
            <a:endParaRPr lang="en-AU" sz="2800" dirty="0"/>
          </a:p>
        </p:txBody>
      </p:sp>
      <p:sp>
        <p:nvSpPr>
          <p:cNvPr id="3" name="Content Placeholder 2"/>
          <p:cNvSpPr>
            <a:spLocks noGrp="1"/>
          </p:cNvSpPr>
          <p:nvPr>
            <p:ph idx="1"/>
          </p:nvPr>
        </p:nvSpPr>
        <p:spPr>
          <a:xfrm>
            <a:off x="5714999" y="969264"/>
            <a:ext cx="6477001" cy="5888736"/>
          </a:xfrm>
        </p:spPr>
        <p:txBody>
          <a:bodyPr>
            <a:normAutofit fontScale="92500" lnSpcReduction="20000"/>
          </a:bodyPr>
          <a:lstStyle/>
          <a:p>
            <a:r>
              <a:rPr lang="en-US" dirty="0" smtClean="0"/>
              <a:t>Msg. of S1 = the Communist Party / Spartacists want to cut down / defeat / destroy ‘new militarism, capitalism. </a:t>
            </a:r>
          </a:p>
          <a:p>
            <a:r>
              <a:rPr lang="en-US" dirty="0" smtClean="0"/>
              <a:t>Msg. of S2 = German General </a:t>
            </a:r>
            <a:r>
              <a:rPr lang="en-US" dirty="0" err="1" smtClean="0"/>
              <a:t>Lundendorff</a:t>
            </a:r>
            <a:r>
              <a:rPr lang="en-US" dirty="0" smtClean="0"/>
              <a:t> thought that Germany lost World War 1 because they were stabbed in the back.</a:t>
            </a:r>
          </a:p>
          <a:p>
            <a:pPr lvl="1"/>
            <a:r>
              <a:rPr lang="en-US" dirty="0" smtClean="0"/>
              <a:t>He also had other ‘excuses’ too. </a:t>
            </a:r>
          </a:p>
          <a:p>
            <a:r>
              <a:rPr lang="en-US" dirty="0" smtClean="0"/>
              <a:t>Similarities:</a:t>
            </a:r>
          </a:p>
          <a:p>
            <a:pPr lvl="1"/>
            <a:r>
              <a:rPr lang="en-US" dirty="0" smtClean="0"/>
              <a:t>Both relate to chaotic period following WW1, specifically 1919.</a:t>
            </a:r>
          </a:p>
          <a:p>
            <a:pPr lvl="1"/>
            <a:r>
              <a:rPr lang="en-US" dirty="0" smtClean="0"/>
              <a:t>Both relate to how Germany / Germans tried to deal with the impact the loss of the war had. </a:t>
            </a:r>
          </a:p>
          <a:p>
            <a:r>
              <a:rPr lang="en-US" dirty="0" smtClean="0"/>
              <a:t>Differences:</a:t>
            </a:r>
          </a:p>
          <a:p>
            <a:pPr lvl="1"/>
            <a:r>
              <a:rPr lang="en-US" dirty="0" smtClean="0"/>
              <a:t>S1 = Communist Party perspective on what needs to occur in Germany, whereas, S2 = focuses on past &amp; trying to understand why Germany lost the war.</a:t>
            </a:r>
          </a:p>
          <a:p>
            <a:pPr lvl="1"/>
            <a:r>
              <a:rPr lang="en-US" dirty="0" smtClean="0"/>
              <a:t>…</a:t>
            </a:r>
            <a:endParaRPr lang="en-AU" dirty="0"/>
          </a:p>
        </p:txBody>
      </p:sp>
      <p:pic>
        <p:nvPicPr>
          <p:cNvPr id="7" name="Picture 6"/>
          <p:cNvPicPr>
            <a:picLocks noChangeAspect="1"/>
          </p:cNvPicPr>
          <p:nvPr/>
        </p:nvPicPr>
        <p:blipFill rotWithShape="1">
          <a:blip r:embed="rId2"/>
          <a:srcRect r="50907" b="6496"/>
          <a:stretch/>
        </p:blipFill>
        <p:spPr>
          <a:xfrm>
            <a:off x="534234" y="1325563"/>
            <a:ext cx="5180765" cy="5010912"/>
          </a:xfrm>
          <a:prstGeom prst="rect">
            <a:avLst/>
          </a:prstGeom>
        </p:spPr>
      </p:pic>
    </p:spTree>
    <p:extLst>
      <p:ext uri="{BB962C8B-B14F-4D97-AF65-F5344CB8AC3E}">
        <p14:creationId xmlns:p14="http://schemas.microsoft.com/office/powerpoint/2010/main" val="1558254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pPr algn="ctr"/>
            <a:r>
              <a:rPr lang="en-AU" sz="3200" dirty="0" smtClean="0"/>
              <a:t>2.	Explain the historical context of Source 2. (4 marks)</a:t>
            </a:r>
            <a:endParaRPr lang="en-AU" sz="3200" dirty="0"/>
          </a:p>
        </p:txBody>
      </p:sp>
      <p:sp>
        <p:nvSpPr>
          <p:cNvPr id="3" name="Content Placeholder 2"/>
          <p:cNvSpPr>
            <a:spLocks noGrp="1"/>
          </p:cNvSpPr>
          <p:nvPr>
            <p:ph idx="1"/>
          </p:nvPr>
        </p:nvSpPr>
        <p:spPr>
          <a:xfrm>
            <a:off x="512064" y="2607341"/>
            <a:ext cx="10841736" cy="3894043"/>
          </a:xfrm>
        </p:spPr>
        <p:txBody>
          <a:bodyPr>
            <a:normAutofit fontScale="85000" lnSpcReduction="20000"/>
          </a:bodyPr>
          <a:lstStyle/>
          <a:p>
            <a:r>
              <a:rPr lang="en-US" dirty="0" smtClean="0"/>
              <a:t>S2 relates to…</a:t>
            </a:r>
          </a:p>
          <a:p>
            <a:pPr lvl="1"/>
            <a:r>
              <a:rPr lang="en-US" dirty="0" smtClean="0"/>
              <a:t>Germany’s defeat in WW1 and some of the reasons why Germans believed they had lost. </a:t>
            </a:r>
          </a:p>
          <a:p>
            <a:pPr lvl="2"/>
            <a:r>
              <a:rPr lang="en-US" dirty="0" smtClean="0"/>
              <a:t>Specifically, the source relates to the myth that developed that Germany had been ‘stabbed in the back.’ </a:t>
            </a:r>
          </a:p>
          <a:p>
            <a:r>
              <a:rPr lang="en-US" dirty="0" smtClean="0"/>
              <a:t>BEFORE…</a:t>
            </a:r>
          </a:p>
          <a:p>
            <a:pPr lvl="1"/>
            <a:r>
              <a:rPr lang="en-US" dirty="0" smtClean="0"/>
              <a:t>Although Allied troops did not actually set foot on German soil, it became clear early in 1918 that Germany could not win the war. Nevertheless, when news of the armistice was announced in November 1918, many Germans were shocked and confused at the fact that their country had surrendered. This shock and anger quickly gave rise to a number of myths and excuses that sought to make sense of Germany’s defeat, chiefly the </a:t>
            </a:r>
            <a:r>
              <a:rPr lang="en-US" i="1" dirty="0" err="1" smtClean="0"/>
              <a:t>Dolchstosslegende</a:t>
            </a:r>
            <a:r>
              <a:rPr lang="en-US" dirty="0" smtClean="0"/>
              <a:t> or Stab in the Back myth. </a:t>
            </a:r>
          </a:p>
          <a:p>
            <a:pPr lvl="1"/>
            <a:endParaRPr lang="en-US" dirty="0"/>
          </a:p>
          <a:p>
            <a:r>
              <a:rPr lang="en-US" dirty="0" smtClean="0"/>
              <a:t>DURING…</a:t>
            </a:r>
          </a:p>
          <a:p>
            <a:pPr lvl="1"/>
            <a:r>
              <a:rPr lang="en-US" dirty="0" smtClean="0"/>
              <a:t>…</a:t>
            </a:r>
            <a:endParaRPr lang="en-AU" dirty="0"/>
          </a:p>
        </p:txBody>
      </p:sp>
      <p:pic>
        <p:nvPicPr>
          <p:cNvPr id="4" name="Picture 3"/>
          <p:cNvPicPr>
            <a:picLocks noChangeAspect="1"/>
          </p:cNvPicPr>
          <p:nvPr/>
        </p:nvPicPr>
        <p:blipFill rotWithShape="1">
          <a:blip r:embed="rId2"/>
          <a:srcRect t="69873" r="50907" b="6496"/>
          <a:stretch/>
        </p:blipFill>
        <p:spPr>
          <a:xfrm>
            <a:off x="2897985" y="1043907"/>
            <a:ext cx="6396030" cy="1563435"/>
          </a:xfrm>
          <a:prstGeom prst="rect">
            <a:avLst/>
          </a:prstGeom>
        </p:spPr>
      </p:pic>
    </p:spTree>
    <p:extLst>
      <p:ext uri="{BB962C8B-B14F-4D97-AF65-F5344CB8AC3E}">
        <p14:creationId xmlns:p14="http://schemas.microsoft.com/office/powerpoint/2010/main" val="2138636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Autofit/>
          </a:bodyPr>
          <a:lstStyle/>
          <a:p>
            <a:pPr algn="ctr"/>
            <a:r>
              <a:rPr lang="en-AU" sz="2800" dirty="0" smtClean="0"/>
              <a:t>3.	Evaluate the usefulness of Source 3 and Source 4 as representations of the impact of hyperinflation on Germany in 1923. (5 marks)</a:t>
            </a:r>
            <a:endParaRPr lang="en-AU" sz="2800" dirty="0"/>
          </a:p>
        </p:txBody>
      </p:sp>
      <p:sp>
        <p:nvSpPr>
          <p:cNvPr id="3" name="Content Placeholder 2"/>
          <p:cNvSpPr>
            <a:spLocks noGrp="1"/>
          </p:cNvSpPr>
          <p:nvPr>
            <p:ph idx="1"/>
          </p:nvPr>
        </p:nvSpPr>
        <p:spPr>
          <a:xfrm>
            <a:off x="6446520" y="1325563"/>
            <a:ext cx="5559552" cy="5395277"/>
          </a:xfrm>
        </p:spPr>
        <p:txBody>
          <a:bodyPr>
            <a:normAutofit fontScale="62500" lnSpcReduction="20000"/>
          </a:bodyPr>
          <a:lstStyle/>
          <a:p>
            <a:r>
              <a:rPr lang="en-US" dirty="0" smtClean="0"/>
              <a:t>Source 3 is very useful in understanding the reality of hyperinflation for Germany as it clearly allows us to see how the value of the German Mark plummeted as hyperinflation took hold by showing a comparison to the US Dollar. </a:t>
            </a:r>
          </a:p>
          <a:p>
            <a:r>
              <a:rPr lang="en-US" dirty="0" smtClean="0"/>
              <a:t>However, the source does not really address the impact hyperinflation might have been having.</a:t>
            </a:r>
          </a:p>
          <a:p>
            <a:r>
              <a:rPr lang="en-US" dirty="0" smtClean="0"/>
              <a:t>Source 4 is very useful in representing the impact of hyperinflation as it conveys what the quickly changing prices really meant for ordinary German people. It highlights the realities of hyperinflation by recounting the perspective of someone who lived at the time, stating that an entire day’s salary was only sufficient to buy one loaf of brad and a small piece of cheese and that in the time it took to travel to Berlin from the suburbs, a month’s salary was devalued so quickly. </a:t>
            </a:r>
          </a:p>
          <a:p>
            <a:r>
              <a:rPr lang="en-US" dirty="0" smtClean="0"/>
              <a:t>The source is limited by its perspective too though, as it does not indicate the impacts of hyperinflation on a large scale and requires us to extrapolate or infer. </a:t>
            </a:r>
          </a:p>
          <a:p>
            <a:r>
              <a:rPr lang="en-US" dirty="0" smtClean="0"/>
              <a:t>Overall, Source 3 and 4 are very useful when used together, however, Source 4 is much more useful if we are trying to understand the actual realities / impact of hyperinflation on Germany. </a:t>
            </a:r>
            <a:endParaRPr lang="en-AU" dirty="0"/>
          </a:p>
        </p:txBody>
      </p:sp>
      <p:pic>
        <p:nvPicPr>
          <p:cNvPr id="4" name="Picture 3"/>
          <p:cNvPicPr>
            <a:picLocks noChangeAspect="1"/>
          </p:cNvPicPr>
          <p:nvPr/>
        </p:nvPicPr>
        <p:blipFill rotWithShape="1">
          <a:blip r:embed="rId2"/>
          <a:srcRect r="51700"/>
          <a:stretch/>
        </p:blipFill>
        <p:spPr>
          <a:xfrm>
            <a:off x="576072" y="1325563"/>
            <a:ext cx="5870448" cy="5160767"/>
          </a:xfrm>
          <a:prstGeom prst="rect">
            <a:avLst/>
          </a:prstGeom>
        </p:spPr>
      </p:pic>
    </p:spTree>
    <p:extLst>
      <p:ext uri="{BB962C8B-B14F-4D97-AF65-F5344CB8AC3E}">
        <p14:creationId xmlns:p14="http://schemas.microsoft.com/office/powerpoint/2010/main" val="3300172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192000" cy="972498"/>
          </a:xfrm>
        </p:spPr>
        <p:txBody>
          <a:bodyPr>
            <a:normAutofit/>
          </a:bodyPr>
          <a:lstStyle/>
          <a:p>
            <a:pPr algn="ctr"/>
            <a:r>
              <a:rPr lang="en-AU" sz="2800" dirty="0" smtClean="0"/>
              <a:t>4.	Compare and contrast the purposes of Source 3 and Source 4. (4 marks)</a:t>
            </a:r>
            <a:endParaRPr lang="en-AU" sz="2800" dirty="0"/>
          </a:p>
        </p:txBody>
      </p:sp>
      <p:sp>
        <p:nvSpPr>
          <p:cNvPr id="3" name="Content Placeholder 2"/>
          <p:cNvSpPr>
            <a:spLocks noGrp="1"/>
          </p:cNvSpPr>
          <p:nvPr>
            <p:ph idx="1"/>
          </p:nvPr>
        </p:nvSpPr>
        <p:spPr>
          <a:xfrm>
            <a:off x="5669280" y="832104"/>
            <a:ext cx="6522720" cy="5925312"/>
          </a:xfrm>
        </p:spPr>
        <p:txBody>
          <a:bodyPr>
            <a:normAutofit fontScale="92500" lnSpcReduction="10000"/>
          </a:bodyPr>
          <a:lstStyle/>
          <a:p>
            <a:r>
              <a:rPr lang="en-US" dirty="0" smtClean="0"/>
              <a:t>Source 3 was made / produced to demonstrate the value of the German mark in comparison to US dollars from 1922 to 1923, to illustrate the period of hyperinflation. This allows us to see the rapid fall in the value of the German mark. </a:t>
            </a:r>
          </a:p>
          <a:p>
            <a:r>
              <a:rPr lang="en-US" dirty="0" smtClean="0"/>
              <a:t>Source 4 was produced to recount one person’s experiences of the period of hyperinflation, and what it was like for them. </a:t>
            </a:r>
          </a:p>
          <a:p>
            <a:r>
              <a:rPr lang="en-US" dirty="0" smtClean="0"/>
              <a:t>The sources were therefore both produced to convey different aspects of the period of hyperinflation.</a:t>
            </a:r>
          </a:p>
          <a:p>
            <a:r>
              <a:rPr lang="en-US" dirty="0" smtClean="0"/>
              <a:t>However, the purpose of source 3 is simply to convey the economic realities / effects whereas source 4 was made to convey what those economic effects really meant for ordinary Germans’ lives. </a:t>
            </a:r>
          </a:p>
          <a:p>
            <a:pPr lvl="1"/>
            <a:endParaRPr lang="en-US" dirty="0" smtClean="0"/>
          </a:p>
        </p:txBody>
      </p:sp>
      <p:pic>
        <p:nvPicPr>
          <p:cNvPr id="4" name="Picture 3"/>
          <p:cNvPicPr>
            <a:picLocks noChangeAspect="1"/>
          </p:cNvPicPr>
          <p:nvPr/>
        </p:nvPicPr>
        <p:blipFill rotWithShape="1">
          <a:blip r:embed="rId2"/>
          <a:srcRect r="51700"/>
          <a:stretch/>
        </p:blipFill>
        <p:spPr>
          <a:xfrm>
            <a:off x="155448" y="1252411"/>
            <a:ext cx="5700346" cy="5011229"/>
          </a:xfrm>
          <a:prstGeom prst="rect">
            <a:avLst/>
          </a:prstGeom>
        </p:spPr>
      </p:pic>
    </p:spTree>
    <p:extLst>
      <p:ext uri="{BB962C8B-B14F-4D97-AF65-F5344CB8AC3E}">
        <p14:creationId xmlns:p14="http://schemas.microsoft.com/office/powerpoint/2010/main" val="22814542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484</TotalTime>
  <Words>620</Words>
  <Application>Microsoft Office PowerPoint</Application>
  <PresentationFormat>Widescreen</PresentationFormat>
  <Paragraphs>32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Source Analysis Practice </vt:lpstr>
      <vt:lpstr>PowerPoint Presentation</vt:lpstr>
      <vt:lpstr>PowerPoint Presentation</vt:lpstr>
      <vt:lpstr>1. Compare and contrast the message of Source 1 and Source 2. (4 marks)</vt:lpstr>
      <vt:lpstr>2. Explain the historical context of Source 2. (4 marks)</vt:lpstr>
      <vt:lpstr>3. Evaluate the usefulness of Source 3 and Source 4 as representations of the impact of hyperinflation on Germany in 1923. (5 marks)</vt:lpstr>
      <vt:lpstr>4. Compare and contrast the purposes of Source 3 and Source 4. (4 marks)</vt:lpstr>
    </vt:vector>
  </TitlesOfParts>
  <Company>Ballajura Community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Source Analysis Practice</dc:title>
  <dc:creator>Adam Pedrotti</dc:creator>
  <cp:lastModifiedBy>HAWKES Natasha [Narrogin Senior High School]</cp:lastModifiedBy>
  <cp:revision>7</cp:revision>
  <dcterms:created xsi:type="dcterms:W3CDTF">2017-10-31T00:14:48Z</dcterms:created>
  <dcterms:modified xsi:type="dcterms:W3CDTF">2019-06-20T00:14:05Z</dcterms:modified>
</cp:coreProperties>
</file>
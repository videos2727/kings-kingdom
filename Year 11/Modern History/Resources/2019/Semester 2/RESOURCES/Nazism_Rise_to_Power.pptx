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Default Extension="wav" ContentType="audio/wav"/>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9"/>
  </p:notesMasterIdLst>
  <p:sldIdLst>
    <p:sldId id="256" r:id="rId2"/>
    <p:sldId id="257" r:id="rId3"/>
    <p:sldId id="261"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6858000" type="screen4x3"/>
  <p:notesSz cx="6858000" cy="9144000"/>
  <p:defaultTextStyle>
    <a:defPPr>
      <a:defRPr lang="en-US"/>
    </a:defPPr>
    <a:lvl1pPr algn="l" rtl="0" eaLnBrk="0" fontAlgn="base" hangingPunct="0">
      <a:spcBef>
        <a:spcPct val="0"/>
      </a:spcBef>
      <a:spcAft>
        <a:spcPct val="0"/>
      </a:spcAft>
      <a:defRPr sz="6000" b="1" u="sng" kern="1200">
        <a:solidFill>
          <a:schemeClr val="tx1"/>
        </a:solidFill>
        <a:latin typeface="Times New Roman"/>
        <a:ea typeface="+mn-ea"/>
        <a:cs typeface="+mn-cs"/>
      </a:defRPr>
    </a:lvl1pPr>
    <a:lvl2pPr marL="457200" algn="l" rtl="0" eaLnBrk="0" fontAlgn="base" hangingPunct="0">
      <a:spcBef>
        <a:spcPct val="0"/>
      </a:spcBef>
      <a:spcAft>
        <a:spcPct val="0"/>
      </a:spcAft>
      <a:defRPr sz="6000" b="1" u="sng" kern="1200">
        <a:solidFill>
          <a:schemeClr val="tx1"/>
        </a:solidFill>
        <a:latin typeface="Times New Roman"/>
        <a:ea typeface="+mn-ea"/>
        <a:cs typeface="+mn-cs"/>
      </a:defRPr>
    </a:lvl2pPr>
    <a:lvl3pPr marL="914400" algn="l" rtl="0" eaLnBrk="0" fontAlgn="base" hangingPunct="0">
      <a:spcBef>
        <a:spcPct val="0"/>
      </a:spcBef>
      <a:spcAft>
        <a:spcPct val="0"/>
      </a:spcAft>
      <a:defRPr sz="6000" b="1" u="sng" kern="1200">
        <a:solidFill>
          <a:schemeClr val="tx1"/>
        </a:solidFill>
        <a:latin typeface="Times New Roman"/>
        <a:ea typeface="+mn-ea"/>
        <a:cs typeface="+mn-cs"/>
      </a:defRPr>
    </a:lvl3pPr>
    <a:lvl4pPr marL="1371600" algn="l" rtl="0" eaLnBrk="0" fontAlgn="base" hangingPunct="0">
      <a:spcBef>
        <a:spcPct val="0"/>
      </a:spcBef>
      <a:spcAft>
        <a:spcPct val="0"/>
      </a:spcAft>
      <a:defRPr sz="6000" b="1" u="sng" kern="1200">
        <a:solidFill>
          <a:schemeClr val="tx1"/>
        </a:solidFill>
        <a:latin typeface="Times New Roman"/>
        <a:ea typeface="+mn-ea"/>
        <a:cs typeface="+mn-cs"/>
      </a:defRPr>
    </a:lvl4pPr>
    <a:lvl5pPr marL="1828800" algn="l" rtl="0" eaLnBrk="0" fontAlgn="base" hangingPunct="0">
      <a:spcBef>
        <a:spcPct val="0"/>
      </a:spcBef>
      <a:spcAft>
        <a:spcPct val="0"/>
      </a:spcAft>
      <a:defRPr sz="6000" b="1" u="sng" kern="1200">
        <a:solidFill>
          <a:schemeClr val="tx1"/>
        </a:solidFill>
        <a:latin typeface="Times New Roman"/>
        <a:ea typeface="+mn-ea"/>
        <a:cs typeface="+mn-cs"/>
      </a:defRPr>
    </a:lvl5pPr>
    <a:lvl6pPr marL="2286000" algn="l" defTabSz="914400" rtl="0" eaLnBrk="1" latinLnBrk="0" hangingPunct="1">
      <a:defRPr sz="6000" b="1" u="sng" kern="1200">
        <a:solidFill>
          <a:schemeClr val="tx1"/>
        </a:solidFill>
        <a:latin typeface="Times New Roman"/>
        <a:ea typeface="+mn-ea"/>
        <a:cs typeface="+mn-cs"/>
      </a:defRPr>
    </a:lvl6pPr>
    <a:lvl7pPr marL="2743200" algn="l" defTabSz="914400" rtl="0" eaLnBrk="1" latinLnBrk="0" hangingPunct="1">
      <a:defRPr sz="6000" b="1" u="sng" kern="1200">
        <a:solidFill>
          <a:schemeClr val="tx1"/>
        </a:solidFill>
        <a:latin typeface="Times New Roman"/>
        <a:ea typeface="+mn-ea"/>
        <a:cs typeface="+mn-cs"/>
      </a:defRPr>
    </a:lvl7pPr>
    <a:lvl8pPr marL="3200400" algn="l" defTabSz="914400" rtl="0" eaLnBrk="1" latinLnBrk="0" hangingPunct="1">
      <a:defRPr sz="6000" b="1" u="sng" kern="1200">
        <a:solidFill>
          <a:schemeClr val="tx1"/>
        </a:solidFill>
        <a:latin typeface="Times New Roman"/>
        <a:ea typeface="+mn-ea"/>
        <a:cs typeface="+mn-cs"/>
      </a:defRPr>
    </a:lvl8pPr>
    <a:lvl9pPr marL="3657600" algn="l" defTabSz="914400" rtl="0" eaLnBrk="1" latinLnBrk="0" hangingPunct="1">
      <a:defRPr sz="6000" b="1" u="sng" kern="1200">
        <a:solidFill>
          <a:schemeClr val="tx1"/>
        </a:solidFill>
        <a:latin typeface="Times New Roman"/>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0000"/>
    <a:srgbClr val="FFFFFF"/>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4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17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1748"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17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17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17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A7A9298-1D19-4DBA-A5A6-9335737F829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a:ea typeface="+mn-ea"/>
        <a:cs typeface="+mn-cs"/>
      </a:defRPr>
    </a:lvl1pPr>
    <a:lvl2pPr marL="457200" algn="l" rtl="0" eaLnBrk="0" fontAlgn="base" hangingPunct="0">
      <a:spcBef>
        <a:spcPct val="30000"/>
      </a:spcBef>
      <a:spcAft>
        <a:spcPct val="0"/>
      </a:spcAft>
      <a:defRPr sz="1200" kern="1200">
        <a:solidFill>
          <a:schemeClr val="tx1"/>
        </a:solidFill>
        <a:latin typeface="Times New Roman"/>
        <a:ea typeface="+mn-ea"/>
        <a:cs typeface="+mn-cs"/>
      </a:defRPr>
    </a:lvl2pPr>
    <a:lvl3pPr marL="914400" algn="l" rtl="0" eaLnBrk="0" fontAlgn="base" hangingPunct="0">
      <a:spcBef>
        <a:spcPct val="30000"/>
      </a:spcBef>
      <a:spcAft>
        <a:spcPct val="0"/>
      </a:spcAft>
      <a:defRPr sz="1200" kern="1200">
        <a:solidFill>
          <a:schemeClr val="tx1"/>
        </a:solidFill>
        <a:latin typeface="Times New Roman"/>
        <a:ea typeface="+mn-ea"/>
        <a:cs typeface="+mn-cs"/>
      </a:defRPr>
    </a:lvl3pPr>
    <a:lvl4pPr marL="1371600" algn="l" rtl="0" eaLnBrk="0" fontAlgn="base" hangingPunct="0">
      <a:spcBef>
        <a:spcPct val="30000"/>
      </a:spcBef>
      <a:spcAft>
        <a:spcPct val="0"/>
      </a:spcAft>
      <a:defRPr sz="1200" kern="1200">
        <a:solidFill>
          <a:schemeClr val="tx1"/>
        </a:solidFill>
        <a:latin typeface="Times New Roman"/>
        <a:ea typeface="+mn-ea"/>
        <a:cs typeface="+mn-cs"/>
      </a:defRPr>
    </a:lvl4pPr>
    <a:lvl5pPr marL="1828800" algn="l" rtl="0" eaLnBrk="0" fontAlgn="base" hangingPunct="0">
      <a:spcBef>
        <a:spcPct val="30000"/>
      </a:spcBef>
      <a:spcAft>
        <a:spcPct val="0"/>
      </a:spcAft>
      <a:defRPr sz="1200" kern="1200">
        <a:solidFill>
          <a:schemeClr val="tx1"/>
        </a:solidFill>
        <a:latin typeface="Times New Roman"/>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A7A9298-1D19-4DBA-A5A6-9335737F8295}" type="slidenum">
              <a:rPr lang="en-US" smtClean="0"/>
              <a:pPr/>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B519647-8959-4C27-9B2C-F25EEDC817B3}"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5B01139-E4C0-451D-BAE3-984D11077C9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68F99E6-1045-4852-9050-91B56A1513D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29821D60-DAC5-4BD1-89D9-DA28464A100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DF22A534-0425-4564-930B-3135B2C6A5A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6E9B40B4-C9BE-46B0-9ED7-22E5E328575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EE5A1DDD-504E-45C6-954C-9B9A98370473}"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8F63320-FFCA-4D04-94DF-8FCDCCC609AC}"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D537E49-8C61-47AC-9BA3-385BB0F372DB}"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8D3E045-0F47-48D1-A31D-9621163263FC}"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B79F3F5-F290-4D99-B1BE-92E542C579C6}"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lipArt Placeholder 3"/>
          <p:cNvSpPr>
            <a:spLocks noGrp="1"/>
          </p:cNvSpPr>
          <p:nvPr>
            <p:ph type="clipArt" sz="half" idx="2"/>
          </p:nvPr>
        </p:nvSpPr>
        <p:spPr>
          <a:xfrm>
            <a:off x="4648200" y="1981200"/>
            <a:ext cx="3810000" cy="4114800"/>
          </a:xfrm>
        </p:spPr>
        <p:txBody>
          <a:bodyPr/>
          <a:lstStyle/>
          <a:p>
            <a:endParaRPr lang="en-AU"/>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E97E65C6-CEA2-470B-BBA0-8860CD8C9A49}"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35294"/>
                <a:invGamma/>
              </a:schemeClr>
            </a:gs>
          </a:gsLst>
          <a:path path="rect">
            <a:fillToRect r="100000" b="100000"/>
          </a:path>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u="none"/>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u="none"/>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u="none"/>
            </a:lvl1pPr>
          </a:lstStyle>
          <a:p>
            <a:fld id="{88F28194-AF29-4133-B5AE-C22DC3ABD0A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a:defRPr>
      </a:lvl2pPr>
      <a:lvl3pPr algn="ctr" rtl="0" eaLnBrk="0" fontAlgn="base" hangingPunct="0">
        <a:spcBef>
          <a:spcPct val="0"/>
        </a:spcBef>
        <a:spcAft>
          <a:spcPct val="0"/>
        </a:spcAft>
        <a:defRPr sz="4400">
          <a:solidFill>
            <a:schemeClr val="tx2"/>
          </a:solidFill>
          <a:latin typeface="Times New Roman"/>
        </a:defRPr>
      </a:lvl3pPr>
      <a:lvl4pPr algn="ctr" rtl="0" eaLnBrk="0" fontAlgn="base" hangingPunct="0">
        <a:spcBef>
          <a:spcPct val="0"/>
        </a:spcBef>
        <a:spcAft>
          <a:spcPct val="0"/>
        </a:spcAft>
        <a:defRPr sz="4400">
          <a:solidFill>
            <a:schemeClr val="tx2"/>
          </a:solidFill>
          <a:latin typeface="Times New Roman"/>
        </a:defRPr>
      </a:lvl4pPr>
      <a:lvl5pPr algn="ctr" rtl="0" eaLnBrk="0" fontAlgn="base" hangingPunct="0">
        <a:spcBef>
          <a:spcPct val="0"/>
        </a:spcBef>
        <a:spcAft>
          <a:spcPct val="0"/>
        </a:spcAft>
        <a:defRPr sz="4400">
          <a:solidFill>
            <a:schemeClr val="tx2"/>
          </a:solidFill>
          <a:latin typeface="Times New Roman"/>
        </a:defRPr>
      </a:lvl5pPr>
      <a:lvl6pPr marL="457200" algn="ctr" rtl="0" eaLnBrk="0" fontAlgn="base" hangingPunct="0">
        <a:spcBef>
          <a:spcPct val="0"/>
        </a:spcBef>
        <a:spcAft>
          <a:spcPct val="0"/>
        </a:spcAft>
        <a:defRPr sz="4400">
          <a:solidFill>
            <a:schemeClr val="tx2"/>
          </a:solidFill>
          <a:latin typeface="Times New Roman"/>
        </a:defRPr>
      </a:lvl6pPr>
      <a:lvl7pPr marL="914400" algn="ctr" rtl="0" eaLnBrk="0" fontAlgn="base" hangingPunct="0">
        <a:spcBef>
          <a:spcPct val="0"/>
        </a:spcBef>
        <a:spcAft>
          <a:spcPct val="0"/>
        </a:spcAft>
        <a:defRPr sz="4400">
          <a:solidFill>
            <a:schemeClr val="tx2"/>
          </a:solidFill>
          <a:latin typeface="Times New Roman"/>
        </a:defRPr>
      </a:lvl7pPr>
      <a:lvl8pPr marL="1371600" algn="ctr" rtl="0" eaLnBrk="0" fontAlgn="base" hangingPunct="0">
        <a:spcBef>
          <a:spcPct val="0"/>
        </a:spcBef>
        <a:spcAft>
          <a:spcPct val="0"/>
        </a:spcAft>
        <a:defRPr sz="4400">
          <a:solidFill>
            <a:schemeClr val="tx2"/>
          </a:solidFill>
          <a:latin typeface="Times New Roman"/>
        </a:defRPr>
      </a:lvl8pPr>
      <a:lvl9pPr marL="1828800" algn="ctr" rtl="0" eaLnBrk="0" fontAlgn="base" hangingPunct="0">
        <a:spcBef>
          <a:spcPct val="0"/>
        </a:spcBef>
        <a:spcAft>
          <a:spcPct val="0"/>
        </a:spcAft>
        <a:defRPr sz="4400">
          <a:solidFill>
            <a:schemeClr val="tx2"/>
          </a:solidFill>
          <a:latin typeface="Times New Roman"/>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2.wav"/></Relationships>
</file>

<file path=ppt/slides/_rels/slide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2.jpeg"/><Relationship Id="rId4" Type="http://schemas.openxmlformats.org/officeDocument/2006/relationships/audio" Target="../media/audio8.wav"/></Relationships>
</file>

<file path=ppt/slides/_rels/slide13.xml.rels><?xml version="1.0" encoding="UTF-8" standalone="yes"?>
<Relationships xmlns="http://schemas.openxmlformats.org/package/2006/relationships"><Relationship Id="rId3" Type="http://schemas.openxmlformats.org/officeDocument/2006/relationships/audio" Target="../media/audio9.wav"/><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audio" Target="../media/audio10.wav"/></Relationships>
</file>

<file path=ppt/slides/_rels/slide14.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audio" Target="../media/audio11.wav"/><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audio" Target="../media/audio12.wav"/><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715000"/>
            <a:ext cx="7772400" cy="1143000"/>
          </a:xfrm>
        </p:spPr>
        <p:txBody>
          <a:bodyPr/>
          <a:lstStyle/>
          <a:p>
            <a:r>
              <a:rPr lang="en-US" sz="10000" b="1">
                <a:solidFill>
                  <a:srgbClr val="FF0000"/>
                </a:solidFill>
              </a:rPr>
              <a:t>Adolf Hitler</a:t>
            </a:r>
            <a:endParaRPr lang="en-US" sz="4800" b="1"/>
          </a:p>
        </p:txBody>
      </p:sp>
      <p:sp>
        <p:nvSpPr>
          <p:cNvPr id="2051" name="Rectangle 3"/>
          <p:cNvSpPr>
            <a:spLocks noGrp="1" noChangeArrowheads="1"/>
          </p:cNvSpPr>
          <p:nvPr>
            <p:ph type="subTitle" idx="1"/>
          </p:nvPr>
        </p:nvSpPr>
        <p:spPr>
          <a:xfrm>
            <a:off x="1066800" y="0"/>
            <a:ext cx="7010400" cy="1752600"/>
          </a:xfrm>
        </p:spPr>
        <p:txBody>
          <a:bodyPr/>
          <a:lstStyle/>
          <a:p>
            <a:r>
              <a:rPr lang="en-US" sz="8000" b="1">
                <a:solidFill>
                  <a:srgbClr val="FF0000"/>
                </a:solidFill>
              </a:rPr>
              <a:t>Rise to Power</a:t>
            </a:r>
            <a:endParaRPr lang="en-US" sz="4000" b="1"/>
          </a:p>
        </p:txBody>
      </p:sp>
      <p:pic>
        <p:nvPicPr>
          <p:cNvPr id="2052" name="Picture 4" descr="H:\Dan's PP\Hitler\hat in hand.gif"/>
          <p:cNvPicPr>
            <a:picLocks noChangeAspect="1" noChangeArrowheads="1"/>
          </p:cNvPicPr>
          <p:nvPr/>
        </p:nvPicPr>
        <p:blipFill>
          <a:blip r:embed="rId5" cstate="print"/>
          <a:srcRect/>
          <a:stretch>
            <a:fillRect/>
          </a:stretch>
        </p:blipFill>
        <p:spPr bwMode="auto">
          <a:xfrm>
            <a:off x="2895600" y="1066800"/>
            <a:ext cx="3155950" cy="4648200"/>
          </a:xfrm>
          <a:prstGeom prst="rect">
            <a:avLst/>
          </a:prstGeom>
          <a:noFill/>
        </p:spPr>
      </p:pic>
      <p:pic>
        <p:nvPicPr>
          <p:cNvPr id="2053" name="Picture 5" descr="H:\Dan's PP\Hitler\swas.gif"/>
          <p:cNvPicPr>
            <a:picLocks noChangeAspect="1" noChangeArrowheads="1"/>
          </p:cNvPicPr>
          <p:nvPr/>
        </p:nvPicPr>
        <p:blipFill>
          <a:blip r:embed="rId6" cstate="print"/>
          <a:srcRect/>
          <a:stretch>
            <a:fillRect/>
          </a:stretch>
        </p:blipFill>
        <p:spPr bwMode="auto">
          <a:xfrm>
            <a:off x="6553200" y="2438400"/>
            <a:ext cx="2209800" cy="2209800"/>
          </a:xfrm>
          <a:prstGeom prst="rect">
            <a:avLst/>
          </a:prstGeom>
          <a:noFill/>
        </p:spPr>
      </p:pic>
      <p:pic>
        <p:nvPicPr>
          <p:cNvPr id="2054" name="Picture 6" descr="H:\Dan's PP\Hitler\swas.gif"/>
          <p:cNvPicPr>
            <a:picLocks noChangeAspect="1" noChangeArrowheads="1"/>
          </p:cNvPicPr>
          <p:nvPr/>
        </p:nvPicPr>
        <p:blipFill>
          <a:blip r:embed="rId6" cstate="print"/>
          <a:srcRect/>
          <a:stretch>
            <a:fillRect/>
          </a:stretch>
        </p:blipFill>
        <p:spPr bwMode="auto">
          <a:xfrm>
            <a:off x="381000" y="2514600"/>
            <a:ext cx="2209800" cy="2209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dissolve">
                                      <p:cBhvr>
                                        <p:cTn id="7" dur="500"/>
                                        <p:tgtEl>
                                          <p:spTgt spid="2050"/>
                                        </p:tgtEl>
                                      </p:cBhvr>
                                    </p:animEffect>
                                  </p:childTnLst>
                                  <p:subTnLst>
                                    <p:audio>
                                      <p:cMediaNode>
                                        <p:cTn display="0" masterRel="sameClick">
                                          <p:stCondLst>
                                            <p:cond evt="begin" delay="0">
                                              <p:tn val="5"/>
                                            </p:cond>
                                          </p:stCondLst>
                                          <p:endCondLst>
                                            <p:cond evt="onStopAudio" delay="0">
                                              <p:tgtEl>
                                                <p:sldTgt/>
                                              </p:tgtEl>
                                            </p:cond>
                                          </p:endCondLst>
                                        </p:cTn>
                                        <p:tgtEl>
                                          <p:sndTgt r:embed="rId3" name="bolt.wav"/>
                                        </p:tgtEl>
                                      </p:cMediaNode>
                                    </p:audio>
                                  </p:subTnLst>
                                </p:cTn>
                              </p:par>
                            </p:childTnLst>
                          </p:cTn>
                        </p:par>
                      </p:childTnLst>
                    </p:cTn>
                  </p:par>
                  <p:par>
                    <p:cTn id="8" fill="hold">
                      <p:stCondLst>
                        <p:cond delay="indefinite"/>
                      </p:stCondLst>
                      <p:childTnLst>
                        <p:par>
                          <p:cTn id="9" fill="hold">
                            <p:stCondLst>
                              <p:cond delay="0"/>
                            </p:stCondLst>
                            <p:childTnLst>
                              <p:par>
                                <p:cTn id="10" presetID="7" presetClass="entr" presetSubtype="4" fill="hold" grpId="0" nodeType="clickEffect">
                                  <p:stCondLst>
                                    <p:cond delay="0"/>
                                  </p:stCondLst>
                                  <p:childTnLst>
                                    <p:set>
                                      <p:cBhvr>
                                        <p:cTn id="11" dur="1" fill="hold">
                                          <p:stCondLst>
                                            <p:cond delay="0"/>
                                          </p:stCondLst>
                                        </p:cTn>
                                        <p:tgtEl>
                                          <p:spTgt spid="2051">
                                            <p:txEl>
                                              <p:pRg st="0" end="0"/>
                                            </p:txEl>
                                          </p:spTgt>
                                        </p:tgtEl>
                                        <p:attrNameLst>
                                          <p:attrName>style.visibility</p:attrName>
                                        </p:attrNameLst>
                                      </p:cBhvr>
                                      <p:to>
                                        <p:strVal val="visible"/>
                                      </p:to>
                                    </p:set>
                                    <p:anim calcmode="lin" valueType="num">
                                      <p:cBhvr additive="base">
                                        <p:cTn id="12" dur="5000" fill="hold"/>
                                        <p:tgtEl>
                                          <p:spTgt spid="2051">
                                            <p:txEl>
                                              <p:pRg st="0" end="0"/>
                                            </p:txEl>
                                          </p:spTgt>
                                        </p:tgtEl>
                                        <p:attrNameLst>
                                          <p:attrName>ppt_x</p:attrName>
                                        </p:attrNameLst>
                                      </p:cBhvr>
                                      <p:tavLst>
                                        <p:tav tm="0">
                                          <p:val>
                                            <p:strVal val="#ppt_x"/>
                                          </p:val>
                                        </p:tav>
                                        <p:tav tm="100000">
                                          <p:val>
                                            <p:strVal val="#ppt_x"/>
                                          </p:val>
                                        </p:tav>
                                      </p:tavLst>
                                    </p:anim>
                                    <p:anim calcmode="lin" valueType="num">
                                      <p:cBhvr additive="base">
                                        <p:cTn id="13" dur="5000" fill="hold"/>
                                        <p:tgtEl>
                                          <p:spTgt spid="2051">
                                            <p:txEl>
                                              <p:pRg st="0" end="0"/>
                                            </p:txEl>
                                          </p:spTgt>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051">
                                            <p:txEl>
                                              <p:pRg st="0" end="0"/>
                                            </p:txEl>
                                          </p:spTgt>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4" name="empir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autoUpdateAnimBg="0"/>
      <p:bldP spid="2051"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6000" b="1" u="sng">
                <a:solidFill>
                  <a:srgbClr val="FF0000"/>
                </a:solidFill>
              </a:rPr>
              <a:t>Objectives:</a:t>
            </a:r>
          </a:p>
        </p:txBody>
      </p:sp>
      <p:sp>
        <p:nvSpPr>
          <p:cNvPr id="3075" name="Rectangle 3"/>
          <p:cNvSpPr>
            <a:spLocks noGrp="1" noChangeArrowheads="1"/>
          </p:cNvSpPr>
          <p:nvPr>
            <p:ph type="body" idx="1"/>
          </p:nvPr>
        </p:nvSpPr>
        <p:spPr/>
        <p:txBody>
          <a:bodyPr/>
          <a:lstStyle/>
          <a:p>
            <a:r>
              <a:rPr lang="en-US"/>
              <a:t>The objective of this presentation is to give  students an understanding of Adolf Hitler’s early, pre-adult years.</a:t>
            </a:r>
          </a:p>
          <a:p>
            <a:r>
              <a:rPr lang="en-US"/>
              <a:t>Students will also become familiar with how this seemingly unimportant Austrian rose to power in post World War I Germany.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p:txBody>
          <a:bodyPr/>
          <a:lstStyle/>
          <a:p>
            <a:r>
              <a:rPr lang="en-US" sz="6000" b="1" u="sng">
                <a:solidFill>
                  <a:srgbClr val="FF0000"/>
                </a:solidFill>
              </a:rPr>
              <a:t>Overall Purpose:</a:t>
            </a:r>
            <a:endParaRPr lang="en-US" sz="6600" b="1" u="sng">
              <a:solidFill>
                <a:srgbClr val="FF0000"/>
              </a:solidFill>
            </a:endParaRPr>
          </a:p>
        </p:txBody>
      </p:sp>
      <p:pic>
        <p:nvPicPr>
          <p:cNvPr id="7171" name="Picture 1027" descr="H:\Dan's PP\Hitler\h-12.jpg"/>
          <p:cNvPicPr>
            <a:picLocks noChangeAspect="1" noChangeArrowheads="1"/>
          </p:cNvPicPr>
          <p:nvPr/>
        </p:nvPicPr>
        <p:blipFill>
          <a:blip r:embed="rId3" cstate="print"/>
          <a:srcRect/>
          <a:stretch>
            <a:fillRect/>
          </a:stretch>
        </p:blipFill>
        <p:spPr bwMode="auto">
          <a:xfrm>
            <a:off x="0" y="2133600"/>
            <a:ext cx="1963738" cy="3886200"/>
          </a:xfrm>
          <a:prstGeom prst="rect">
            <a:avLst/>
          </a:prstGeom>
          <a:noFill/>
        </p:spPr>
      </p:pic>
      <p:pic>
        <p:nvPicPr>
          <p:cNvPr id="7172" name="Picture 1028" descr="H:\Dan's PP\Hitler\fuhrer1.jpg"/>
          <p:cNvPicPr>
            <a:picLocks noChangeAspect="1" noChangeArrowheads="1"/>
          </p:cNvPicPr>
          <p:nvPr/>
        </p:nvPicPr>
        <p:blipFill>
          <a:blip r:embed="rId4" cstate="print"/>
          <a:srcRect/>
          <a:stretch>
            <a:fillRect/>
          </a:stretch>
        </p:blipFill>
        <p:spPr bwMode="auto">
          <a:xfrm>
            <a:off x="6508750" y="2209800"/>
            <a:ext cx="2635250" cy="3810000"/>
          </a:xfrm>
          <a:prstGeom prst="rect">
            <a:avLst/>
          </a:prstGeom>
          <a:noFill/>
        </p:spPr>
      </p:pic>
      <p:sp>
        <p:nvSpPr>
          <p:cNvPr id="7173" name="Text Box 1029"/>
          <p:cNvSpPr txBox="1">
            <a:spLocks noChangeArrowheads="1"/>
          </p:cNvSpPr>
          <p:nvPr/>
        </p:nvSpPr>
        <p:spPr bwMode="auto">
          <a:xfrm>
            <a:off x="2057400" y="2362200"/>
            <a:ext cx="4419600" cy="3508375"/>
          </a:xfrm>
          <a:prstGeom prst="rect">
            <a:avLst/>
          </a:prstGeom>
          <a:noFill/>
          <a:ln w="9525">
            <a:noFill/>
            <a:miter lim="800000"/>
            <a:headEnd/>
            <a:tailEnd/>
          </a:ln>
          <a:effectLst/>
        </p:spPr>
        <p:txBody>
          <a:bodyPr>
            <a:spAutoFit/>
          </a:bodyPr>
          <a:lstStyle/>
          <a:p>
            <a:pPr algn="ctr">
              <a:spcBef>
                <a:spcPct val="50000"/>
              </a:spcBef>
            </a:pPr>
            <a:r>
              <a:rPr lang="en-US" sz="2800" u="none"/>
              <a:t>The overall purpose of this presentation is to explain how this little boy on the left became the man on the right who was ultimately responsible for the death of about </a:t>
            </a:r>
            <a:r>
              <a:rPr lang="en-US" sz="2800" u="none">
                <a:solidFill>
                  <a:srgbClr val="FFFFFF"/>
                </a:solidFill>
              </a:rPr>
              <a:t>50 million people</a:t>
            </a:r>
            <a:r>
              <a:rPr lang="en-US" sz="2800" u="none"/>
              <a:t> all over the world!!</a:t>
            </a:r>
            <a:endParaRPr lang="en-US" sz="2400" u="none"/>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sz="6600" b="1" u="sng">
                <a:solidFill>
                  <a:srgbClr val="FF0000"/>
                </a:solidFill>
              </a:rPr>
              <a:t>Birth</a:t>
            </a:r>
            <a:endParaRPr lang="en-US" sz="4800"/>
          </a:p>
        </p:txBody>
      </p:sp>
      <p:sp>
        <p:nvSpPr>
          <p:cNvPr id="4099" name="Rectangle 3"/>
          <p:cNvSpPr>
            <a:spLocks noGrp="1" noChangeArrowheads="1"/>
          </p:cNvSpPr>
          <p:nvPr>
            <p:ph type="body" sz="half" idx="1"/>
          </p:nvPr>
        </p:nvSpPr>
        <p:spPr/>
        <p:txBody>
          <a:bodyPr/>
          <a:lstStyle/>
          <a:p>
            <a:r>
              <a:rPr lang="en-US" b="1"/>
              <a:t>Adolf Hitler was born on April 20, 1889 in Braunau, Austria.</a:t>
            </a:r>
          </a:p>
          <a:p>
            <a:r>
              <a:rPr lang="en-US" b="1"/>
              <a:t>Adolf was 1 of 6 children - 3 of who died at early ages</a:t>
            </a:r>
            <a:endParaRPr lang="en-US" sz="2800" b="1"/>
          </a:p>
        </p:txBody>
      </p:sp>
      <p:pic>
        <p:nvPicPr>
          <p:cNvPr id="4102" name="Picture 6" descr="H:\Dan's PP\Hitler\h-baby.jpg"/>
          <p:cNvPicPr>
            <a:picLocks noChangeAspect="1" noChangeArrowheads="1"/>
          </p:cNvPicPr>
          <p:nvPr>
            <p:ph type="clipArt" sz="half" idx="2"/>
          </p:nvPr>
        </p:nvPicPr>
        <p:blipFill>
          <a:blip r:embed="rId3" cstate="print"/>
          <a:srcRect/>
          <a:stretch>
            <a:fillRect/>
          </a:stretch>
        </p:blipFill>
        <p:spPr>
          <a:xfrm>
            <a:off x="5029200" y="1752600"/>
            <a:ext cx="3616325" cy="4876800"/>
          </a:xfrm>
        </p:spPr>
      </p:pic>
    </p:spTree>
  </p:cSld>
  <p:clrMapOvr>
    <a:masterClrMapping/>
  </p:clrMapOvr>
  <p:transition>
    <p:check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z="6600" b="1" u="sng">
                <a:solidFill>
                  <a:srgbClr val="FF0000"/>
                </a:solidFill>
              </a:rPr>
              <a:t> Parents</a:t>
            </a:r>
          </a:p>
        </p:txBody>
      </p:sp>
      <p:pic>
        <p:nvPicPr>
          <p:cNvPr id="5123" name="Picture 3" descr="H:\Dan's PP\Hitler\mom.jpg"/>
          <p:cNvPicPr>
            <a:picLocks noChangeAspect="1" noChangeArrowheads="1"/>
          </p:cNvPicPr>
          <p:nvPr/>
        </p:nvPicPr>
        <p:blipFill>
          <a:blip r:embed="rId4" cstate="print"/>
          <a:srcRect/>
          <a:stretch>
            <a:fillRect/>
          </a:stretch>
        </p:blipFill>
        <p:spPr bwMode="auto">
          <a:xfrm>
            <a:off x="7178675" y="4173538"/>
            <a:ext cx="1965325" cy="2684462"/>
          </a:xfrm>
          <a:prstGeom prst="rect">
            <a:avLst/>
          </a:prstGeom>
          <a:noFill/>
        </p:spPr>
      </p:pic>
      <p:pic>
        <p:nvPicPr>
          <p:cNvPr id="5124" name="Picture 4" descr="H:\Dan's PP\Hitler\dad.jpg"/>
          <p:cNvPicPr>
            <a:picLocks noChangeAspect="1" noChangeArrowheads="1"/>
          </p:cNvPicPr>
          <p:nvPr/>
        </p:nvPicPr>
        <p:blipFill>
          <a:blip r:embed="rId5" cstate="print"/>
          <a:srcRect/>
          <a:stretch>
            <a:fillRect/>
          </a:stretch>
        </p:blipFill>
        <p:spPr bwMode="auto">
          <a:xfrm>
            <a:off x="0" y="1371600"/>
            <a:ext cx="1962150" cy="2667000"/>
          </a:xfrm>
          <a:prstGeom prst="rect">
            <a:avLst/>
          </a:prstGeom>
          <a:noFill/>
        </p:spPr>
      </p:pic>
      <p:sp>
        <p:nvSpPr>
          <p:cNvPr id="5125" name="Text Box 5"/>
          <p:cNvSpPr txBox="1">
            <a:spLocks noChangeArrowheads="1"/>
          </p:cNvSpPr>
          <p:nvPr/>
        </p:nvSpPr>
        <p:spPr bwMode="auto">
          <a:xfrm>
            <a:off x="2133600" y="2133600"/>
            <a:ext cx="7010400" cy="1552575"/>
          </a:xfrm>
          <a:prstGeom prst="rect">
            <a:avLst/>
          </a:prstGeom>
          <a:noFill/>
          <a:ln w="9525">
            <a:noFill/>
            <a:miter lim="800000"/>
            <a:headEnd/>
            <a:tailEnd/>
          </a:ln>
          <a:effectLst/>
        </p:spPr>
        <p:txBody>
          <a:bodyPr>
            <a:spAutoFit/>
          </a:bodyPr>
          <a:lstStyle/>
          <a:p>
            <a:pPr>
              <a:spcBef>
                <a:spcPct val="50000"/>
              </a:spcBef>
            </a:pPr>
            <a:r>
              <a:rPr lang="en-US" sz="2400" u="none"/>
              <a:t>Alois Schickelgruber Hitler was a customs official who was illegitimate by birth.  His father, Adolf’s grandfather, may have been Jewish.  He died when Adolf was 14 and left him a small inheritance.</a:t>
            </a:r>
            <a:endParaRPr lang="en-US" sz="2400" u="none">
              <a:solidFill>
                <a:srgbClr val="000000"/>
              </a:solidFill>
            </a:endParaRPr>
          </a:p>
        </p:txBody>
      </p:sp>
      <p:sp>
        <p:nvSpPr>
          <p:cNvPr id="5126" name="Text Box 6"/>
          <p:cNvSpPr txBox="1">
            <a:spLocks noChangeArrowheads="1"/>
          </p:cNvSpPr>
          <p:nvPr/>
        </p:nvSpPr>
        <p:spPr bwMode="auto">
          <a:xfrm>
            <a:off x="228600" y="4419600"/>
            <a:ext cx="6858000" cy="1917700"/>
          </a:xfrm>
          <a:prstGeom prst="rect">
            <a:avLst/>
          </a:prstGeom>
          <a:noFill/>
          <a:ln w="9525">
            <a:noFill/>
            <a:miter lim="800000"/>
            <a:headEnd/>
            <a:tailEnd/>
          </a:ln>
          <a:effectLst/>
        </p:spPr>
        <p:txBody>
          <a:bodyPr>
            <a:spAutoFit/>
          </a:bodyPr>
          <a:lstStyle/>
          <a:p>
            <a:pPr>
              <a:spcBef>
                <a:spcPct val="50000"/>
              </a:spcBef>
            </a:pPr>
            <a:r>
              <a:rPr lang="en-US" sz="2400" u="none"/>
              <a:t>Klara Hitler was very young when she married the older Alois.  She showered young Adolf with love and affection.  Adolf carried a picture of his mom until the day he died.  She died of breast cancer when Adolf was 18 years old.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fill="hold"/>
                                        <p:tgtEl>
                                          <p:spTgt spid="5125"/>
                                        </p:tgtEl>
                                        <p:attrNameLst>
                                          <p:attrName>ppt_x</p:attrName>
                                        </p:attrNameLst>
                                      </p:cBhvr>
                                      <p:tavLst>
                                        <p:tav tm="0">
                                          <p:val>
                                            <p:strVal val="1+#ppt_w/2"/>
                                          </p:val>
                                        </p:tav>
                                        <p:tav tm="100000">
                                          <p:val>
                                            <p:strVal val="#ppt_x"/>
                                          </p:val>
                                        </p:tav>
                                      </p:tavLst>
                                    </p:anim>
                                    <p:anim calcmode="lin" valueType="num">
                                      <p:cBhvr additive="base">
                                        <p:cTn id="8" dur="500" fill="hold"/>
                                        <p:tgtEl>
                                          <p:spTgt spid="51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0-#ppt_w/2"/>
                                          </p:val>
                                        </p:tav>
                                        <p:tav tm="100000">
                                          <p:val>
                                            <p:strVal val="#ppt_x"/>
                                          </p:val>
                                        </p:tav>
                                      </p:tavLst>
                                    </p:anim>
                                    <p:anim calcmode="lin" valueType="num">
                                      <p:cBhvr additive="base">
                                        <p:cTn id="14" dur="500" fill="hold"/>
                                        <p:tgtEl>
                                          <p:spTgt spid="512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utoUpdateAnimBg="0"/>
      <p:bldP spid="512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228600"/>
            <a:ext cx="7772400" cy="1143000"/>
          </a:xfrm>
        </p:spPr>
        <p:txBody>
          <a:bodyPr/>
          <a:lstStyle/>
          <a:p>
            <a:r>
              <a:rPr lang="en-US" sz="6600" b="1" u="sng">
                <a:solidFill>
                  <a:srgbClr val="FF0000"/>
                </a:solidFill>
              </a:rPr>
              <a:t>Education</a:t>
            </a:r>
          </a:p>
        </p:txBody>
      </p:sp>
      <p:sp>
        <p:nvSpPr>
          <p:cNvPr id="6147" name="Rectangle 3"/>
          <p:cNvSpPr>
            <a:spLocks noGrp="1" noChangeArrowheads="1"/>
          </p:cNvSpPr>
          <p:nvPr>
            <p:ph type="body" idx="1"/>
          </p:nvPr>
        </p:nvSpPr>
        <p:spPr>
          <a:xfrm>
            <a:off x="762000" y="1447800"/>
            <a:ext cx="7772400" cy="4114800"/>
          </a:xfrm>
        </p:spPr>
        <p:txBody>
          <a:bodyPr/>
          <a:lstStyle/>
          <a:p>
            <a:r>
              <a:rPr lang="en-US" sz="2800" b="1"/>
              <a:t>Attended a Benedictine monastery school where he took part in the choir.</a:t>
            </a:r>
          </a:p>
          <a:p>
            <a:r>
              <a:rPr lang="en-US" sz="2800" b="1"/>
              <a:t>When it was time to choose a secondary school, Adolf wanted to become an artist.</a:t>
            </a:r>
          </a:p>
          <a:p>
            <a:r>
              <a:rPr lang="en-US" sz="2800" b="1"/>
              <a:t>His father wanted him to become a civil servant, but after his father died, he dropped out of high school and attempted to get into the Vienna Academy of Fine Arts - he failed.</a:t>
            </a:r>
          </a:p>
          <a:p>
            <a:r>
              <a:rPr lang="en-US" sz="2800" b="1"/>
              <a:t>The following slides are examples of Adolf’s artwork.</a:t>
            </a:r>
            <a:endParaRPr lang="en-US" b="1"/>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Projcto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Projcto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828800" y="0"/>
            <a:ext cx="7772400" cy="1143000"/>
          </a:xfrm>
        </p:spPr>
        <p:txBody>
          <a:bodyPr/>
          <a:lstStyle/>
          <a:p>
            <a:endParaRPr lang="en-US" sz="6000" b="1" u="sng"/>
          </a:p>
        </p:txBody>
      </p:sp>
      <p:sp>
        <p:nvSpPr>
          <p:cNvPr id="8197" name="Text Box 5"/>
          <p:cNvSpPr txBox="1">
            <a:spLocks noChangeArrowheads="1"/>
          </p:cNvSpPr>
          <p:nvPr/>
        </p:nvSpPr>
        <p:spPr bwMode="auto">
          <a:xfrm>
            <a:off x="5486400" y="6400800"/>
            <a:ext cx="1600200" cy="457200"/>
          </a:xfrm>
          <a:prstGeom prst="rect">
            <a:avLst/>
          </a:prstGeom>
          <a:noFill/>
          <a:ln w="9525">
            <a:noFill/>
            <a:miter lim="800000"/>
            <a:headEnd/>
            <a:tailEnd/>
          </a:ln>
          <a:effectLst/>
        </p:spPr>
        <p:txBody>
          <a:bodyPr>
            <a:spAutoFit/>
          </a:bodyPr>
          <a:lstStyle/>
          <a:p>
            <a:pPr algn="r">
              <a:spcBef>
                <a:spcPct val="50000"/>
              </a:spcBef>
            </a:pPr>
            <a:r>
              <a:rPr lang="en-US" sz="2400" u="none"/>
              <a:t>signature</a:t>
            </a:r>
            <a:endParaRPr lang="en-US" sz="2400" b="0" u="none"/>
          </a:p>
        </p:txBody>
      </p:sp>
      <p:sp>
        <p:nvSpPr>
          <p:cNvPr id="8202" name="Line 10"/>
          <p:cNvSpPr>
            <a:spLocks noChangeShapeType="1"/>
          </p:cNvSpPr>
          <p:nvPr/>
        </p:nvSpPr>
        <p:spPr bwMode="auto">
          <a:xfrm>
            <a:off x="7086600" y="6629400"/>
            <a:ext cx="990600" cy="0"/>
          </a:xfrm>
          <a:prstGeom prst="line">
            <a:avLst/>
          </a:prstGeom>
          <a:noFill/>
          <a:ln w="9525">
            <a:solidFill>
              <a:schemeClr val="tx1"/>
            </a:solidFill>
            <a:round/>
            <a:headEnd/>
            <a:tailEnd type="triangle" w="med" len="med"/>
          </a:ln>
          <a:effectLst/>
        </p:spPr>
        <p:txBody>
          <a:bodyPr wrap="none" anchor="ctr"/>
          <a:lstStyle/>
          <a:p>
            <a:endParaRPr lang="en-AU"/>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5638800" y="6019800"/>
            <a:ext cx="1403350" cy="457200"/>
          </a:xfrm>
          <a:prstGeom prst="rect">
            <a:avLst/>
          </a:prstGeom>
          <a:noFill/>
          <a:ln w="9525">
            <a:noFill/>
            <a:miter lim="800000"/>
            <a:headEnd/>
            <a:tailEnd/>
          </a:ln>
          <a:effectLst/>
        </p:spPr>
        <p:txBody>
          <a:bodyPr wrap="none">
            <a:spAutoFit/>
          </a:bodyPr>
          <a:lstStyle/>
          <a:p>
            <a:r>
              <a:rPr lang="en-US" sz="2400" u="none"/>
              <a:t>signature</a:t>
            </a:r>
            <a:endParaRPr lang="en-US" sz="2400" u="none">
              <a:solidFill>
                <a:srgbClr val="FF0000"/>
              </a:solidFill>
            </a:endParaRPr>
          </a:p>
        </p:txBody>
      </p:sp>
      <p:sp>
        <p:nvSpPr>
          <p:cNvPr id="9219" name="Line 3"/>
          <p:cNvSpPr>
            <a:spLocks noChangeShapeType="1"/>
          </p:cNvSpPr>
          <p:nvPr/>
        </p:nvSpPr>
        <p:spPr bwMode="auto">
          <a:xfrm>
            <a:off x="7086600" y="6248400"/>
            <a:ext cx="990600" cy="0"/>
          </a:xfrm>
          <a:prstGeom prst="line">
            <a:avLst/>
          </a:prstGeom>
          <a:noFill/>
          <a:ln w="9525">
            <a:solidFill>
              <a:schemeClr val="tx1"/>
            </a:solidFill>
            <a:round/>
            <a:headEnd/>
            <a:tailEnd type="triangle" w="med" len="med"/>
          </a:ln>
          <a:effectLst/>
        </p:spPr>
        <p:txBody>
          <a:bodyPr wrap="none" anchor="ctr"/>
          <a:lstStyle/>
          <a:p>
            <a:endParaRPr lang="en-AU"/>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z="6000" b="1" u="sng">
                <a:solidFill>
                  <a:srgbClr val="FF0000"/>
                </a:solidFill>
              </a:rPr>
              <a:t>Years in Vienna</a:t>
            </a:r>
          </a:p>
        </p:txBody>
      </p:sp>
      <p:sp>
        <p:nvSpPr>
          <p:cNvPr id="10243" name="Rectangle 3"/>
          <p:cNvSpPr>
            <a:spLocks noGrp="1" noChangeArrowheads="1"/>
          </p:cNvSpPr>
          <p:nvPr>
            <p:ph type="body" idx="1"/>
          </p:nvPr>
        </p:nvSpPr>
        <p:spPr/>
        <p:txBody>
          <a:bodyPr/>
          <a:lstStyle/>
          <a:p>
            <a:r>
              <a:rPr lang="en-US" sz="2800"/>
              <a:t>After his mother died, Adolf (now 18) decided to move to Austria to pursue his dream of becoming a great artist.</a:t>
            </a:r>
          </a:p>
          <a:p>
            <a:r>
              <a:rPr lang="en-US" sz="2800"/>
              <a:t>Again he failed to gain entrance into the Academy</a:t>
            </a:r>
          </a:p>
          <a:p>
            <a:r>
              <a:rPr lang="en-US" sz="2800"/>
              <a:t>He eventually sold all his possessions and became a homeless drifter who slept on park benches and ate at soup kitchens throughout Vienna (age 19)</a:t>
            </a:r>
          </a:p>
          <a:p>
            <a:r>
              <a:rPr lang="en-US" sz="2800"/>
              <a:t>Adolf did manage to sell some paintings and postcards, but remained impoverished</a:t>
            </a:r>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Projcto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Projcto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z="6000" b="1" u="sng">
                <a:solidFill>
                  <a:srgbClr val="FF0000"/>
                </a:solidFill>
              </a:rPr>
              <a:t>Vienna -Importance</a:t>
            </a:r>
            <a:endParaRPr lang="en-US" sz="6000" b="1" u="sng"/>
          </a:p>
        </p:txBody>
      </p:sp>
      <p:sp>
        <p:nvSpPr>
          <p:cNvPr id="11267" name="Rectangle 3"/>
          <p:cNvSpPr>
            <a:spLocks noGrp="1" noChangeArrowheads="1"/>
          </p:cNvSpPr>
          <p:nvPr>
            <p:ph type="body" sz="half" idx="1"/>
          </p:nvPr>
        </p:nvSpPr>
        <p:spPr/>
        <p:txBody>
          <a:bodyPr/>
          <a:lstStyle/>
          <a:p>
            <a:r>
              <a:rPr lang="en-US" sz="2800"/>
              <a:t>Influenced by the anti-Semitic mayor of Vienna, Karl Lueger</a:t>
            </a:r>
          </a:p>
          <a:p>
            <a:r>
              <a:rPr lang="en-US" sz="2800"/>
              <a:t>Became interested in the idea of German nationalism.</a:t>
            </a:r>
          </a:p>
          <a:p>
            <a:r>
              <a:rPr lang="en-US" sz="2800"/>
              <a:t>Also received first taste of politics </a:t>
            </a:r>
          </a:p>
        </p:txBody>
      </p:sp>
      <p:pic>
        <p:nvPicPr>
          <p:cNvPr id="11276" name="Picture 12" descr="H:\Dan's PP\Hitler\brandenburg.gate.jpg"/>
          <p:cNvPicPr>
            <a:picLocks noChangeAspect="1" noChangeArrowheads="1"/>
          </p:cNvPicPr>
          <p:nvPr>
            <p:ph type="clipArt" sz="half" idx="2"/>
          </p:nvPr>
        </p:nvPicPr>
        <p:blipFill>
          <a:blip r:embed="rId3" cstate="print"/>
          <a:srcRect/>
          <a:stretch>
            <a:fillRect/>
          </a:stretch>
        </p:blipFill>
        <p:spPr>
          <a:xfrm>
            <a:off x="4648200" y="2057400"/>
            <a:ext cx="4495800" cy="4243388"/>
          </a:xfrm>
        </p:spPr>
      </p:pic>
    </p:spTree>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33400" y="228600"/>
            <a:ext cx="7772400" cy="1143000"/>
          </a:xfrm>
        </p:spPr>
        <p:txBody>
          <a:bodyPr/>
          <a:lstStyle/>
          <a:p>
            <a:r>
              <a:rPr lang="en-US" sz="6000" b="1" u="sng">
                <a:solidFill>
                  <a:srgbClr val="FF0000"/>
                </a:solidFill>
              </a:rPr>
              <a:t>Military Service</a:t>
            </a:r>
            <a:endParaRPr lang="en-US" sz="6000" b="1" u="sng"/>
          </a:p>
        </p:txBody>
      </p:sp>
      <p:pic>
        <p:nvPicPr>
          <p:cNvPr id="13315" name="Picture 3" descr="H:\Dan's PP\Hitler\Crowd.gif"/>
          <p:cNvPicPr>
            <a:picLocks noChangeAspect="1" noChangeArrowheads="1"/>
          </p:cNvPicPr>
          <p:nvPr/>
        </p:nvPicPr>
        <p:blipFill>
          <a:blip r:embed="rId4" cstate="print"/>
          <a:srcRect/>
          <a:stretch>
            <a:fillRect/>
          </a:stretch>
        </p:blipFill>
        <p:spPr bwMode="auto">
          <a:xfrm>
            <a:off x="3657600" y="3035300"/>
            <a:ext cx="5486400" cy="3822700"/>
          </a:xfrm>
          <a:prstGeom prst="rect">
            <a:avLst/>
          </a:prstGeom>
          <a:noFill/>
        </p:spPr>
      </p:pic>
      <p:sp>
        <p:nvSpPr>
          <p:cNvPr id="13316" name="Text Box 4"/>
          <p:cNvSpPr txBox="1">
            <a:spLocks noChangeArrowheads="1"/>
          </p:cNvSpPr>
          <p:nvPr/>
        </p:nvSpPr>
        <p:spPr bwMode="auto">
          <a:xfrm>
            <a:off x="609600" y="1524000"/>
            <a:ext cx="8534400" cy="946150"/>
          </a:xfrm>
          <a:prstGeom prst="rect">
            <a:avLst/>
          </a:prstGeom>
          <a:noFill/>
          <a:ln w="9525">
            <a:noFill/>
            <a:miter lim="800000"/>
            <a:headEnd/>
            <a:tailEnd/>
          </a:ln>
          <a:effectLst/>
        </p:spPr>
        <p:txBody>
          <a:bodyPr>
            <a:spAutoFit/>
          </a:bodyPr>
          <a:lstStyle/>
          <a:p>
            <a:pPr algn="ctr">
              <a:spcBef>
                <a:spcPct val="50000"/>
              </a:spcBef>
            </a:pPr>
            <a:r>
              <a:rPr lang="en-US" sz="2800" u="none"/>
              <a:t>Adolf left Austria at the age of 24 to avoid mandatory military service that was required of all men.</a:t>
            </a:r>
            <a:endParaRPr lang="en-US" sz="2400" u="none"/>
          </a:p>
        </p:txBody>
      </p:sp>
      <p:sp>
        <p:nvSpPr>
          <p:cNvPr id="13317" name="Text Box 5"/>
          <p:cNvSpPr txBox="1">
            <a:spLocks noChangeArrowheads="1"/>
          </p:cNvSpPr>
          <p:nvPr/>
        </p:nvSpPr>
        <p:spPr bwMode="auto">
          <a:xfrm>
            <a:off x="0" y="3048000"/>
            <a:ext cx="3810000" cy="3508375"/>
          </a:xfrm>
          <a:prstGeom prst="rect">
            <a:avLst/>
          </a:prstGeom>
          <a:noFill/>
          <a:ln w="9525">
            <a:noFill/>
            <a:miter lim="800000"/>
            <a:headEnd/>
            <a:tailEnd/>
          </a:ln>
          <a:effectLst/>
        </p:spPr>
        <p:txBody>
          <a:bodyPr>
            <a:spAutoFit/>
          </a:bodyPr>
          <a:lstStyle/>
          <a:p>
            <a:pPr algn="ctr">
              <a:spcBef>
                <a:spcPct val="50000"/>
              </a:spcBef>
            </a:pPr>
            <a:r>
              <a:rPr lang="en-US" sz="2800" u="none"/>
              <a:t>But he did sign up for military service at the start of WW I.  He joined a Bavarian unit of the German Army.  This is a picture of Hitler listening to an enlistment speech.</a:t>
            </a:r>
            <a:endParaRPr lang="en-US" sz="2400" u="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anim calcmode="lin" valueType="num">
                                      <p:cBhvr additive="base">
                                        <p:cTn id="7" dur="500" fill="hold"/>
                                        <p:tgtEl>
                                          <p:spTgt spid="13317"/>
                                        </p:tgtEl>
                                        <p:attrNameLst>
                                          <p:attrName>ppt_x</p:attrName>
                                        </p:attrNameLst>
                                      </p:cBhvr>
                                      <p:tavLst>
                                        <p:tav tm="0">
                                          <p:val>
                                            <p:strVal val="#ppt_x"/>
                                          </p:val>
                                        </p:tav>
                                        <p:tav tm="100000">
                                          <p:val>
                                            <p:strVal val="#ppt_x"/>
                                          </p:val>
                                        </p:tav>
                                      </p:tavLst>
                                    </p:anim>
                                    <p:anim calcmode="lin" valueType="num">
                                      <p:cBhvr additive="base">
                                        <p:cTn id="8" dur="500" fill="hold"/>
                                        <p:tgtEl>
                                          <p:spTgt spid="1331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eers 1.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z="6000" b="1" u="sng">
                <a:solidFill>
                  <a:srgbClr val="FF0000"/>
                </a:solidFill>
              </a:rPr>
              <a:t>World War I</a:t>
            </a:r>
            <a:endParaRPr lang="en-US" sz="6000" b="1" u="sng"/>
          </a:p>
        </p:txBody>
      </p:sp>
      <p:sp>
        <p:nvSpPr>
          <p:cNvPr id="14339" name="Rectangle 3"/>
          <p:cNvSpPr>
            <a:spLocks noGrp="1" noChangeArrowheads="1"/>
          </p:cNvSpPr>
          <p:nvPr>
            <p:ph type="body" sz="half" idx="1"/>
          </p:nvPr>
        </p:nvSpPr>
        <p:spPr/>
        <p:txBody>
          <a:bodyPr/>
          <a:lstStyle/>
          <a:p>
            <a:r>
              <a:rPr lang="en-US" sz="2800"/>
              <a:t>Excited to fight for Germany.</a:t>
            </a:r>
          </a:p>
          <a:p>
            <a:r>
              <a:rPr lang="en-US" sz="2800"/>
              <a:t>Found a home fighting for the Fatherland.</a:t>
            </a:r>
          </a:p>
          <a:p>
            <a:r>
              <a:rPr lang="en-US" sz="2800"/>
              <a:t>Highest rank held was corporal.</a:t>
            </a:r>
          </a:p>
          <a:p>
            <a:r>
              <a:rPr lang="en-US" sz="2800"/>
              <a:t>Was a regimental messenger, not an easy job at all.</a:t>
            </a:r>
          </a:p>
          <a:p>
            <a:endParaRPr lang="en-US" sz="2800"/>
          </a:p>
        </p:txBody>
      </p:sp>
      <p:pic>
        <p:nvPicPr>
          <p:cNvPr id="14342" name="Picture 6" descr="H:\Dan's PP\Hitler\hitler-ww1.jpg"/>
          <p:cNvPicPr>
            <a:picLocks noChangeAspect="1" noChangeArrowheads="1"/>
          </p:cNvPicPr>
          <p:nvPr>
            <p:ph type="clipArt" sz="half" idx="2"/>
          </p:nvPr>
        </p:nvPicPr>
        <p:blipFill>
          <a:blip r:embed="rId5" cstate="print"/>
          <a:srcRect/>
          <a:stretch>
            <a:fillRect/>
          </a:stretch>
        </p:blipFill>
        <p:spPr>
          <a:xfrm>
            <a:off x="4648200" y="2438400"/>
            <a:ext cx="4495800" cy="3255963"/>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blinds(horizontal)">
                                      <p:cBhvr>
                                        <p:cTn id="7" dur="500"/>
                                        <p:tgtEl>
                                          <p:spTgt spid="14338"/>
                                        </p:tgtEl>
                                      </p:cBhvr>
                                    </p:animEffect>
                                  </p:childTnLst>
                                  <p:subTnLst>
                                    <p:audio>
                                      <p:cMediaNode>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339">
                                            <p:txEl>
                                              <p:pRg st="0" end="0"/>
                                            </p:txEl>
                                          </p:spTgt>
                                        </p:tgtEl>
                                        <p:attrNameLst>
                                          <p:attrName>style.visibility</p:attrName>
                                        </p:attrNameLst>
                                      </p:cBhvr>
                                      <p:to>
                                        <p:strVal val="visible"/>
                                      </p:to>
                                    </p:set>
                                    <p:anim calcmode="lin" valueType="num">
                                      <p:cBhvr additive="base">
                                        <p:cTn id="12" dur="500" fill="hold"/>
                                        <p:tgtEl>
                                          <p:spTgt spid="14339">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33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GunShot.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339">
                                            <p:txEl>
                                              <p:pRg st="1" end="1"/>
                                            </p:txEl>
                                          </p:spTgt>
                                        </p:tgtEl>
                                        <p:attrNameLst>
                                          <p:attrName>style.visibility</p:attrName>
                                        </p:attrNameLst>
                                      </p:cBhvr>
                                      <p:to>
                                        <p:strVal val="visible"/>
                                      </p:to>
                                    </p:set>
                                    <p:anim calcmode="lin" valueType="num">
                                      <p:cBhvr additive="base">
                                        <p:cTn id="18" dur="500" fill="hold"/>
                                        <p:tgtEl>
                                          <p:spTgt spid="14339">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433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GunShot.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4339">
                                            <p:txEl>
                                              <p:pRg st="2" end="2"/>
                                            </p:txEl>
                                          </p:spTgt>
                                        </p:tgtEl>
                                        <p:attrNameLst>
                                          <p:attrName>style.visibility</p:attrName>
                                        </p:attrNameLst>
                                      </p:cBhvr>
                                      <p:to>
                                        <p:strVal val="visible"/>
                                      </p:to>
                                    </p:set>
                                    <p:anim calcmode="lin" valueType="num">
                                      <p:cBhvr additive="base">
                                        <p:cTn id="24" dur="500" fill="hold"/>
                                        <p:tgtEl>
                                          <p:spTgt spid="14339">
                                            <p:txEl>
                                              <p:pRg st="2" end="2"/>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433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GunShot.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4339">
                                            <p:txEl>
                                              <p:pRg st="3" end="3"/>
                                            </p:txEl>
                                          </p:spTgt>
                                        </p:tgtEl>
                                        <p:attrNameLst>
                                          <p:attrName>style.visibility</p:attrName>
                                        </p:attrNameLst>
                                      </p:cBhvr>
                                      <p:to>
                                        <p:strVal val="visible"/>
                                      </p:to>
                                    </p:set>
                                    <p:anim calcmode="lin" valueType="num">
                                      <p:cBhvr additive="base">
                                        <p:cTn id="30" dur="500" fill="hold"/>
                                        <p:tgtEl>
                                          <p:spTgt spid="14339">
                                            <p:txEl>
                                              <p:pRg st="3" end="3"/>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433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GunSho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z="6000" b="1" u="sng">
                <a:solidFill>
                  <a:srgbClr val="FF0000"/>
                </a:solidFill>
              </a:rPr>
              <a:t>Military Record</a:t>
            </a:r>
          </a:p>
        </p:txBody>
      </p:sp>
      <p:sp>
        <p:nvSpPr>
          <p:cNvPr id="15363" name="Rectangle 3"/>
          <p:cNvSpPr>
            <a:spLocks noGrp="1" noChangeArrowheads="1"/>
          </p:cNvSpPr>
          <p:nvPr>
            <p:ph type="body" sz="half" idx="1"/>
          </p:nvPr>
        </p:nvSpPr>
        <p:spPr/>
        <p:txBody>
          <a:bodyPr/>
          <a:lstStyle/>
          <a:p>
            <a:r>
              <a:rPr lang="en-US" sz="2800"/>
              <a:t>Was awarded the Iron Cross twice. (5 medals overall)</a:t>
            </a:r>
          </a:p>
          <a:p>
            <a:r>
              <a:rPr lang="en-US" sz="2800"/>
              <a:t>Highest military honor in German Army.</a:t>
            </a:r>
          </a:p>
          <a:p>
            <a:r>
              <a:rPr lang="en-US" sz="2800"/>
              <a:t>Single handedly captured 4 French soldiers.</a:t>
            </a:r>
          </a:p>
          <a:p>
            <a:r>
              <a:rPr lang="en-US" sz="2800"/>
              <a:t>Blinded by gas attack towards end of war.</a:t>
            </a:r>
          </a:p>
        </p:txBody>
      </p:sp>
      <p:pic>
        <p:nvPicPr>
          <p:cNvPr id="15366" name="Picture 6" descr="H:\Dan's PP\Hitler\iron poor.jpg"/>
          <p:cNvPicPr>
            <a:picLocks noChangeAspect="1" noChangeArrowheads="1"/>
          </p:cNvPicPr>
          <p:nvPr>
            <p:ph type="clipArt" sz="half" idx="2"/>
          </p:nvPr>
        </p:nvPicPr>
        <p:blipFill>
          <a:blip r:embed="rId5" cstate="print"/>
          <a:srcRect/>
          <a:stretch>
            <a:fillRect/>
          </a:stretch>
        </p:blipFill>
        <p:spPr>
          <a:xfrm>
            <a:off x="4648200" y="2089150"/>
            <a:ext cx="3810000" cy="3897313"/>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wipe(up)">
                                      <p:cBhvr>
                                        <p:cTn id="7" dur="500"/>
                                        <p:tgtEl>
                                          <p:spTgt spid="15362"/>
                                        </p:tgtEl>
                                      </p:cBhvr>
                                    </p:animEffect>
                                  </p:childTnLst>
                                  <p:subTnLst>
                                    <p:audio>
                                      <p:cMediaNode>
                                        <p:cTn display="0" masterRel="sameClick">
                                          <p:stCondLst>
                                            <p:cond evt="begin" delay="0">
                                              <p:tn val="5"/>
                                            </p:cond>
                                          </p:stCondLst>
                                          <p:endCondLst>
                                            <p:cond evt="onStopAudio" delay="0">
                                              <p:tgtEl>
                                                <p:sldTgt/>
                                              </p:tgtEl>
                                            </p:cond>
                                          </p:endCondLst>
                                        </p:cTn>
                                        <p:tgtEl>
                                          <p:sndTgt r:embed="rId3" name="BUGLE.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5363">
                                            <p:txEl>
                                              <p:pRg st="0" end="0"/>
                                            </p:txEl>
                                          </p:spTgt>
                                        </p:tgtEl>
                                        <p:attrNameLst>
                                          <p:attrName>style.visibility</p:attrName>
                                        </p:attrNameLst>
                                      </p:cBhvr>
                                      <p:to>
                                        <p:strVal val="visible"/>
                                      </p:to>
                                    </p:set>
                                    <p:anim calcmode="lin" valueType="num">
                                      <p:cBhvr additive="base">
                                        <p:cTn id="12" dur="500" fill="hold"/>
                                        <p:tgtEl>
                                          <p:spTgt spid="15363">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53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5363">
                                            <p:txEl>
                                              <p:pRg st="1" end="1"/>
                                            </p:txEl>
                                          </p:spTgt>
                                        </p:tgtEl>
                                        <p:attrNameLst>
                                          <p:attrName>style.visibility</p:attrName>
                                        </p:attrNameLst>
                                      </p:cBhvr>
                                      <p:to>
                                        <p:strVal val="visible"/>
                                      </p:to>
                                    </p:set>
                                    <p:anim calcmode="lin" valueType="num">
                                      <p:cBhvr additive="base">
                                        <p:cTn id="18" dur="500" fill="hold"/>
                                        <p:tgtEl>
                                          <p:spTgt spid="15363">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536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5363">
                                            <p:txEl>
                                              <p:pRg st="2" end="2"/>
                                            </p:txEl>
                                          </p:spTgt>
                                        </p:tgtEl>
                                        <p:attrNameLst>
                                          <p:attrName>style.visibility</p:attrName>
                                        </p:attrNameLst>
                                      </p:cBhvr>
                                      <p:to>
                                        <p:strVal val="visible"/>
                                      </p:to>
                                    </p:set>
                                    <p:anim calcmode="lin" valueType="num">
                                      <p:cBhvr additive="base">
                                        <p:cTn id="24" dur="500" fill="hold"/>
                                        <p:tgtEl>
                                          <p:spTgt spid="15363">
                                            <p:txEl>
                                              <p:pRg st="2" end="2"/>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536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5363">
                                            <p:txEl>
                                              <p:pRg st="3" end="3"/>
                                            </p:txEl>
                                          </p:spTgt>
                                        </p:tgtEl>
                                        <p:attrNameLst>
                                          <p:attrName>style.visibility</p:attrName>
                                        </p:attrNameLst>
                                      </p:cBhvr>
                                      <p:to>
                                        <p:strVal val="visible"/>
                                      </p:to>
                                    </p:set>
                                    <p:anim calcmode="lin" valueType="num">
                                      <p:cBhvr additive="base">
                                        <p:cTn id="30" dur="500" fill="hold"/>
                                        <p:tgtEl>
                                          <p:spTgt spid="15363">
                                            <p:txEl>
                                              <p:pRg st="3" end="3"/>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536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sz="6000" b="1" u="sng">
                <a:solidFill>
                  <a:srgbClr val="FF0000"/>
                </a:solidFill>
              </a:rPr>
              <a:t>German Loss in WW I</a:t>
            </a:r>
          </a:p>
        </p:txBody>
      </p:sp>
      <p:sp>
        <p:nvSpPr>
          <p:cNvPr id="16387" name="Rectangle 3"/>
          <p:cNvSpPr>
            <a:spLocks noGrp="1" noChangeArrowheads="1"/>
          </p:cNvSpPr>
          <p:nvPr>
            <p:ph type="body" idx="1"/>
          </p:nvPr>
        </p:nvSpPr>
        <p:spPr/>
        <p:txBody>
          <a:bodyPr/>
          <a:lstStyle/>
          <a:p>
            <a:r>
              <a:rPr lang="en-US" sz="2800"/>
              <a:t>Hitler was devastated when he heard the news of the German surrender.</a:t>
            </a:r>
          </a:p>
          <a:p>
            <a:r>
              <a:rPr lang="en-US" sz="2800"/>
              <a:t>He was appalled at the anti-war sentiment among the German civilians.</a:t>
            </a:r>
          </a:p>
          <a:p>
            <a:r>
              <a:rPr lang="en-US" sz="2800"/>
              <a:t>Believed there was an anti-war conspiracy that involved the Jews and Marxists.</a:t>
            </a:r>
          </a:p>
          <a:p>
            <a:r>
              <a:rPr lang="en-US" sz="2800"/>
              <a:t>Also, felt that the German military did not lose the war, but that the politicians (mostly Jews) at home were responsible for the defeat.</a:t>
            </a: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Projcto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Projcto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z="6000" b="1" u="sng">
                <a:solidFill>
                  <a:srgbClr val="FF0000"/>
                </a:solidFill>
              </a:rPr>
              <a:t>Life after WW I</a:t>
            </a:r>
            <a:endParaRPr lang="en-US" sz="6000" b="1" u="sng"/>
          </a:p>
        </p:txBody>
      </p:sp>
      <p:sp>
        <p:nvSpPr>
          <p:cNvPr id="17411" name="Rectangle 3"/>
          <p:cNvSpPr>
            <a:spLocks noGrp="1" noChangeArrowheads="1"/>
          </p:cNvSpPr>
          <p:nvPr>
            <p:ph type="body" sz="half" idx="1"/>
          </p:nvPr>
        </p:nvSpPr>
        <p:spPr/>
        <p:txBody>
          <a:bodyPr/>
          <a:lstStyle/>
          <a:p>
            <a:r>
              <a:rPr lang="en-US" sz="2800"/>
              <a:t>Hitler was depressed after WW I.</a:t>
            </a:r>
          </a:p>
          <a:p>
            <a:r>
              <a:rPr lang="en-US" sz="2800"/>
              <a:t>Still in the army, he became an undercover agent whose job was to root out Marxists</a:t>
            </a:r>
          </a:p>
          <a:p>
            <a:r>
              <a:rPr lang="en-US" sz="2800"/>
              <a:t>Also, lectured about the dangers of Communism and Jews</a:t>
            </a:r>
          </a:p>
          <a:p>
            <a:endParaRPr lang="en-US" sz="2800"/>
          </a:p>
        </p:txBody>
      </p:sp>
      <p:pic>
        <p:nvPicPr>
          <p:cNvPr id="17417" name="Picture 9" descr="H:\Dan's PP\Hitler\fuhrer_speaks.jpg"/>
          <p:cNvPicPr>
            <a:picLocks noChangeAspect="1" noChangeArrowheads="1"/>
          </p:cNvPicPr>
          <p:nvPr>
            <p:ph type="clipArt" sz="half" idx="2"/>
          </p:nvPr>
        </p:nvPicPr>
        <p:blipFill>
          <a:blip r:embed="rId3" cstate="print"/>
          <a:srcRect/>
          <a:stretch>
            <a:fillRect/>
          </a:stretch>
        </p:blipFill>
        <p:spPr>
          <a:xfrm>
            <a:off x="5267325" y="1981200"/>
            <a:ext cx="2571750" cy="4114800"/>
          </a:xfrm>
        </p:spPr>
      </p:pic>
    </p:spTree>
  </p:cSld>
  <p:clrMapOvr>
    <a:masterClrMapping/>
  </p:clrMapOvr>
  <p:transition>
    <p:check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609600"/>
            <a:ext cx="8763000" cy="1143000"/>
          </a:xfrm>
        </p:spPr>
        <p:txBody>
          <a:bodyPr/>
          <a:lstStyle/>
          <a:p>
            <a:r>
              <a:rPr lang="en-US" sz="6000" b="1" u="sng">
                <a:solidFill>
                  <a:srgbClr val="FF0000"/>
                </a:solidFill>
              </a:rPr>
              <a:t>German Worker’s Party</a:t>
            </a:r>
            <a:endParaRPr lang="en-US" sz="6000" b="1" u="sng"/>
          </a:p>
        </p:txBody>
      </p:sp>
      <p:sp>
        <p:nvSpPr>
          <p:cNvPr id="18435" name="Rectangle 3"/>
          <p:cNvSpPr>
            <a:spLocks noGrp="1" noChangeArrowheads="1"/>
          </p:cNvSpPr>
          <p:nvPr>
            <p:ph type="body" sz="half" idx="1"/>
          </p:nvPr>
        </p:nvSpPr>
        <p:spPr/>
        <p:txBody>
          <a:bodyPr/>
          <a:lstStyle/>
          <a:p>
            <a:r>
              <a:rPr lang="en-US" sz="2800"/>
              <a:t>Hitler was sent to investigate this group in Munich in 1919.</a:t>
            </a:r>
          </a:p>
          <a:p>
            <a:r>
              <a:rPr lang="en-US" sz="2800"/>
              <a:t>He went to a meeting and gave a speech.</a:t>
            </a:r>
          </a:p>
          <a:p>
            <a:r>
              <a:rPr lang="en-US" sz="2800"/>
              <a:t>He was them asked to become a member, which he did</a:t>
            </a:r>
          </a:p>
        </p:txBody>
      </p:sp>
      <p:pic>
        <p:nvPicPr>
          <p:cNvPr id="18438" name="Picture 6" descr="H:\Dan's PP\Hitler\meeting_painting.jpg"/>
          <p:cNvPicPr>
            <a:picLocks noChangeAspect="1" noChangeArrowheads="1"/>
          </p:cNvPicPr>
          <p:nvPr>
            <p:ph type="clipArt" sz="half" idx="2"/>
          </p:nvPr>
        </p:nvPicPr>
        <p:blipFill>
          <a:blip r:embed="rId3" cstate="print"/>
          <a:srcRect/>
          <a:stretch>
            <a:fillRect/>
          </a:stretch>
        </p:blipFill>
        <p:spPr>
          <a:xfrm>
            <a:off x="4648200" y="2133600"/>
            <a:ext cx="3810000" cy="3810000"/>
          </a:xfrm>
        </p:spPr>
      </p:pic>
    </p:spTree>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z="6000" b="1" u="sng">
                <a:solidFill>
                  <a:srgbClr val="FF0000"/>
                </a:solidFill>
              </a:rPr>
              <a:t>NAZI Party is Formed</a:t>
            </a:r>
          </a:p>
        </p:txBody>
      </p:sp>
      <p:sp>
        <p:nvSpPr>
          <p:cNvPr id="19459" name="Rectangle 3"/>
          <p:cNvSpPr>
            <a:spLocks noGrp="1" noChangeArrowheads="1"/>
          </p:cNvSpPr>
          <p:nvPr>
            <p:ph type="body" sz="half" idx="1"/>
          </p:nvPr>
        </p:nvSpPr>
        <p:spPr/>
        <p:txBody>
          <a:bodyPr/>
          <a:lstStyle/>
          <a:p>
            <a:r>
              <a:rPr lang="en-US" sz="2400" b="1"/>
              <a:t>Hitler began to think big for the German Worker’s Party</a:t>
            </a:r>
          </a:p>
          <a:p>
            <a:r>
              <a:rPr lang="en-US" sz="2400" b="1"/>
              <a:t>Began placing ads for meetings in anti-Semitic newspapers</a:t>
            </a:r>
          </a:p>
          <a:p>
            <a:r>
              <a:rPr lang="en-US" sz="2400" b="1"/>
              <a:t>Hitler changed the name to National Socialist German Worker’s Party or the NAZIS</a:t>
            </a:r>
            <a:endParaRPr lang="en-US" sz="2800"/>
          </a:p>
        </p:txBody>
      </p:sp>
      <p:pic>
        <p:nvPicPr>
          <p:cNvPr id="19462" name="Picture 6" descr="H:\Dan's PP\Hitler\speaks.jpg"/>
          <p:cNvPicPr>
            <a:picLocks noChangeAspect="1" noChangeArrowheads="1"/>
          </p:cNvPicPr>
          <p:nvPr>
            <p:ph type="clipArt" sz="half" idx="2"/>
          </p:nvPr>
        </p:nvPicPr>
        <p:blipFill>
          <a:blip r:embed="rId3" cstate="print"/>
          <a:srcRect/>
          <a:stretch>
            <a:fillRect/>
          </a:stretch>
        </p:blipFill>
        <p:spPr>
          <a:xfrm>
            <a:off x="4648200" y="1987550"/>
            <a:ext cx="3810000" cy="4100513"/>
          </a:xfrm>
        </p:spPr>
      </p:pic>
    </p:spTree>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sz="6000" b="1" u="sng">
                <a:solidFill>
                  <a:srgbClr val="FF0000"/>
                </a:solidFill>
              </a:rPr>
              <a:t>Party Platform</a:t>
            </a:r>
            <a:endParaRPr lang="en-US" sz="6000" b="1" u="sng"/>
          </a:p>
        </p:txBody>
      </p:sp>
      <p:sp>
        <p:nvSpPr>
          <p:cNvPr id="20483" name="Rectangle 3"/>
          <p:cNvSpPr>
            <a:spLocks noGrp="1" noChangeArrowheads="1"/>
          </p:cNvSpPr>
          <p:nvPr>
            <p:ph type="body" sz="half" idx="1"/>
          </p:nvPr>
        </p:nvSpPr>
        <p:spPr/>
        <p:txBody>
          <a:bodyPr/>
          <a:lstStyle/>
          <a:p>
            <a:r>
              <a:rPr lang="en-US" sz="2800" b="1"/>
              <a:t>Hitler drafted a platform of 25 points</a:t>
            </a:r>
          </a:p>
          <a:p>
            <a:r>
              <a:rPr lang="en-US" sz="2800" b="1"/>
              <a:t>Revoke Versailles Treaty</a:t>
            </a:r>
          </a:p>
          <a:p>
            <a:r>
              <a:rPr lang="en-US" sz="2800" b="1"/>
              <a:t>Revoke civil rights of Jews</a:t>
            </a:r>
          </a:p>
          <a:p>
            <a:r>
              <a:rPr lang="en-US" sz="2800" b="1"/>
              <a:t>Confiscate              any war             profits</a:t>
            </a:r>
          </a:p>
        </p:txBody>
      </p:sp>
      <p:pic>
        <p:nvPicPr>
          <p:cNvPr id="20486" name="Picture 6" descr="H:\Dan's PP\Hitler\NAZI flag.gif"/>
          <p:cNvPicPr>
            <a:picLocks noChangeAspect="1" noChangeArrowheads="1"/>
          </p:cNvPicPr>
          <p:nvPr>
            <p:ph type="clipArt" sz="half" idx="2"/>
          </p:nvPr>
        </p:nvPicPr>
        <p:blipFill>
          <a:blip r:embed="rId4" cstate="print"/>
          <a:srcRect/>
          <a:stretch>
            <a:fillRect/>
          </a:stretch>
        </p:blipFill>
        <p:spPr>
          <a:xfrm>
            <a:off x="4724400" y="2133600"/>
            <a:ext cx="4419600" cy="2638425"/>
          </a:xfrm>
        </p:spPr>
      </p:pic>
      <p:sp>
        <p:nvSpPr>
          <p:cNvPr id="20487" name="Text Box 7"/>
          <p:cNvSpPr txBox="1">
            <a:spLocks noChangeArrowheads="1"/>
          </p:cNvSpPr>
          <p:nvPr/>
        </p:nvSpPr>
        <p:spPr bwMode="auto">
          <a:xfrm>
            <a:off x="3048000" y="4953000"/>
            <a:ext cx="6096000" cy="1373188"/>
          </a:xfrm>
          <a:prstGeom prst="rect">
            <a:avLst/>
          </a:prstGeom>
          <a:noFill/>
          <a:ln w="9525">
            <a:noFill/>
            <a:miter lim="800000"/>
            <a:headEnd/>
            <a:tailEnd/>
          </a:ln>
          <a:effectLst/>
        </p:spPr>
        <p:txBody>
          <a:bodyPr>
            <a:spAutoFit/>
          </a:bodyPr>
          <a:lstStyle/>
          <a:p>
            <a:pPr algn="ctr">
              <a:spcBef>
                <a:spcPct val="50000"/>
              </a:spcBef>
            </a:pPr>
            <a:r>
              <a:rPr lang="en-US" sz="2800" u="none">
                <a:solidFill>
                  <a:srgbClr val="FFFFFF"/>
                </a:solidFill>
              </a:rPr>
              <a:t>Besides changing the party name, the red flag with the SWASTIKA was adopted as the party symbol</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0487"/>
                                        </p:tgtEl>
                                        <p:attrNameLst>
                                          <p:attrName>style.visibility</p:attrName>
                                        </p:attrNameLst>
                                      </p:cBhvr>
                                      <p:to>
                                        <p:strVal val="visible"/>
                                      </p:to>
                                    </p:set>
                                    <p:anim calcmode="lin" valueType="num">
                                      <p:cBhvr additive="base">
                                        <p:cTn id="7" dur="500" fill="hold"/>
                                        <p:tgtEl>
                                          <p:spTgt spid="20487"/>
                                        </p:tgtEl>
                                        <p:attrNameLst>
                                          <p:attrName>ppt_x</p:attrName>
                                        </p:attrNameLst>
                                      </p:cBhvr>
                                      <p:tavLst>
                                        <p:tav tm="0">
                                          <p:val>
                                            <p:strVal val="#ppt_x"/>
                                          </p:val>
                                        </p:tav>
                                        <p:tav tm="100000">
                                          <p:val>
                                            <p:strVal val="#ppt_x"/>
                                          </p:val>
                                        </p:tav>
                                      </p:tavLst>
                                    </p:anim>
                                    <p:anim calcmode="lin" valueType="num">
                                      <p:cBhvr additive="base">
                                        <p:cTn id="8" dur="500" fill="hold"/>
                                        <p:tgtEl>
                                          <p:spTgt spid="20487"/>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lightningXX.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sz="6000" b="1" u="sng">
                <a:solidFill>
                  <a:srgbClr val="FF0000"/>
                </a:solidFill>
              </a:rPr>
              <a:t>Beer Hall Putsch</a:t>
            </a:r>
          </a:p>
        </p:txBody>
      </p:sp>
      <p:sp>
        <p:nvSpPr>
          <p:cNvPr id="21507" name="Rectangle 3"/>
          <p:cNvSpPr>
            <a:spLocks noGrp="1" noChangeArrowheads="1"/>
          </p:cNvSpPr>
          <p:nvPr>
            <p:ph type="body" sz="half" idx="1"/>
          </p:nvPr>
        </p:nvSpPr>
        <p:spPr/>
        <p:txBody>
          <a:bodyPr/>
          <a:lstStyle/>
          <a:p>
            <a:r>
              <a:rPr lang="en-US" sz="2800" b="1"/>
              <a:t>October 30, 1923</a:t>
            </a:r>
          </a:p>
          <a:p>
            <a:r>
              <a:rPr lang="en-US" sz="2800" b="1"/>
              <a:t>Hitler held a rally in Munich beer hall and declared revolution</a:t>
            </a:r>
          </a:p>
          <a:p>
            <a:r>
              <a:rPr lang="en-US" sz="2800" b="1"/>
              <a:t>Led 2000 men in take over of Bavarian Government</a:t>
            </a:r>
          </a:p>
          <a:p>
            <a:r>
              <a:rPr lang="en-US" sz="2800" b="1"/>
              <a:t>It failed and Hitler was imprisoned</a:t>
            </a:r>
          </a:p>
        </p:txBody>
      </p:sp>
      <p:pic>
        <p:nvPicPr>
          <p:cNvPr id="21510" name="Picture 6" descr="H:\Dan's PP\Hitler\putsch-01.jpg"/>
          <p:cNvPicPr>
            <a:picLocks noChangeAspect="1" noChangeArrowheads="1"/>
          </p:cNvPicPr>
          <p:nvPr>
            <p:ph type="clipArt" sz="half" idx="2"/>
          </p:nvPr>
        </p:nvPicPr>
        <p:blipFill>
          <a:blip r:embed="rId3" cstate="print"/>
          <a:srcRect/>
          <a:stretch>
            <a:fillRect/>
          </a:stretch>
        </p:blipFill>
        <p:spPr>
          <a:xfrm>
            <a:off x="4648200" y="2362200"/>
            <a:ext cx="4495800" cy="3446463"/>
          </a:xfrm>
        </p:spPr>
      </p:pic>
    </p:spTree>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sz="6000" b="1" u="sng">
                <a:solidFill>
                  <a:srgbClr val="FF0000"/>
                </a:solidFill>
              </a:rPr>
              <a:t>Trial and Jail</a:t>
            </a:r>
          </a:p>
        </p:txBody>
      </p:sp>
      <p:sp>
        <p:nvSpPr>
          <p:cNvPr id="22532" name="Text Box 4"/>
          <p:cNvSpPr txBox="1">
            <a:spLocks noChangeArrowheads="1"/>
          </p:cNvSpPr>
          <p:nvPr/>
        </p:nvSpPr>
        <p:spPr bwMode="auto">
          <a:xfrm>
            <a:off x="0" y="1676400"/>
            <a:ext cx="4724400" cy="4838700"/>
          </a:xfrm>
          <a:prstGeom prst="rect">
            <a:avLst/>
          </a:prstGeom>
          <a:noFill/>
          <a:ln w="9525">
            <a:noFill/>
            <a:miter lim="800000"/>
            <a:headEnd/>
            <a:tailEnd/>
          </a:ln>
          <a:effectLst/>
        </p:spPr>
        <p:txBody>
          <a:bodyPr>
            <a:spAutoFit/>
          </a:bodyPr>
          <a:lstStyle/>
          <a:p>
            <a:pPr>
              <a:buFontTx/>
              <a:buChar char="•"/>
            </a:pPr>
            <a:r>
              <a:rPr lang="en-US" sz="2400" u="none"/>
              <a:t>At his trial (Hitler was charged with treason), he used the opportunity to speak about the NAZI platform and spread his popularity.</a:t>
            </a:r>
          </a:p>
          <a:p>
            <a:pPr>
              <a:buFontTx/>
              <a:buChar char="•"/>
            </a:pPr>
            <a:r>
              <a:rPr lang="en-US" sz="2400" u="none"/>
              <a:t>The whole nation suddenly knew who Adolf Hitler was and what he stood for</a:t>
            </a:r>
          </a:p>
          <a:p>
            <a:pPr>
              <a:buFontTx/>
              <a:buChar char="•"/>
            </a:pPr>
            <a:r>
              <a:rPr lang="en-US" sz="2400" u="none"/>
              <a:t>He was sentenced to five years, but actually only served about 9 months</a:t>
            </a:r>
          </a:p>
          <a:p>
            <a:pPr>
              <a:buFontTx/>
              <a:buChar char="•"/>
            </a:pPr>
            <a:r>
              <a:rPr lang="en-US" sz="2400" u="none"/>
              <a:t>When he left prison, he was ready to go into action again.</a:t>
            </a:r>
          </a:p>
        </p:txBody>
      </p:sp>
      <p:pic>
        <p:nvPicPr>
          <p:cNvPr id="22533" name="Picture 5" descr="H:\Dan's PP\Hitler\leaving prison.jpg"/>
          <p:cNvPicPr>
            <a:picLocks noChangeAspect="1" noChangeArrowheads="1"/>
          </p:cNvPicPr>
          <p:nvPr/>
        </p:nvPicPr>
        <p:blipFill>
          <a:blip r:embed="rId4" cstate="print"/>
          <a:srcRect/>
          <a:stretch>
            <a:fillRect/>
          </a:stretch>
        </p:blipFill>
        <p:spPr bwMode="auto">
          <a:xfrm>
            <a:off x="5029200" y="1600200"/>
            <a:ext cx="3759200" cy="5029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ipe(down)">
                                      <p:cBhvr>
                                        <p:cTn id="7" dur="500"/>
                                        <p:tgtEl>
                                          <p:spTgt spid="22530"/>
                                        </p:tgtEl>
                                      </p:cBhvr>
                                    </p:animEffect>
                                  </p:childTnLst>
                                  <p:subTnLst>
                                    <p:audio>
                                      <p:cMediaNode>
                                        <p:cTn display="0" masterRel="sameClick">
                                          <p:stCondLst>
                                            <p:cond evt="begin" delay="0">
                                              <p:tn val="5"/>
                                            </p:cond>
                                          </p:stCondLst>
                                          <p:endCondLst>
                                            <p:cond evt="onStopAudio" delay="0">
                                              <p:tgtEl>
                                                <p:sldTgt/>
                                              </p:tgtEl>
                                            </p:cond>
                                          </p:endCondLst>
                                        </p:cTn>
                                        <p:tgtEl>
                                          <p:sndTgt r:embed="rId3" name="gavel.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2532"/>
                                        </p:tgtEl>
                                        <p:attrNameLst>
                                          <p:attrName>style.visibility</p:attrName>
                                        </p:attrNameLst>
                                      </p:cBhvr>
                                      <p:to>
                                        <p:strVal val="visible"/>
                                      </p:to>
                                    </p:set>
                                    <p:anim calcmode="lin" valueType="num">
                                      <p:cBhvr additive="base">
                                        <p:cTn id="12" dur="500" fill="hold"/>
                                        <p:tgtEl>
                                          <p:spTgt spid="22532"/>
                                        </p:tgtEl>
                                        <p:attrNameLst>
                                          <p:attrName>ppt_x</p:attrName>
                                        </p:attrNameLst>
                                      </p:cBhvr>
                                      <p:tavLst>
                                        <p:tav tm="0">
                                          <p:val>
                                            <p:strVal val="0-#ppt_w/2"/>
                                          </p:val>
                                        </p:tav>
                                        <p:tav tm="100000">
                                          <p:val>
                                            <p:strVal val="#ppt_x"/>
                                          </p:val>
                                        </p:tav>
                                      </p:tavLst>
                                    </p:anim>
                                    <p:anim calcmode="lin" valueType="num">
                                      <p:cBhvr additive="base">
                                        <p:cTn id="13" dur="500" fill="hold"/>
                                        <p:tgtEl>
                                          <p:spTgt spid="2253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gavel.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6000" b="1" u="sng">
                <a:solidFill>
                  <a:srgbClr val="FF0000"/>
                </a:solidFill>
              </a:rPr>
              <a:t>Mein Kampf</a:t>
            </a:r>
          </a:p>
        </p:txBody>
      </p:sp>
      <p:sp>
        <p:nvSpPr>
          <p:cNvPr id="23555" name="Rectangle 3"/>
          <p:cNvSpPr>
            <a:spLocks noGrp="1" noChangeArrowheads="1"/>
          </p:cNvSpPr>
          <p:nvPr>
            <p:ph type="body" sz="half" idx="1"/>
          </p:nvPr>
        </p:nvSpPr>
        <p:spPr/>
        <p:txBody>
          <a:bodyPr/>
          <a:lstStyle/>
          <a:p>
            <a:r>
              <a:rPr lang="en-US" sz="2400" b="1"/>
              <a:t>Hitler’s book “My Struggle</a:t>
            </a:r>
            <a:r>
              <a:rPr lang="en-US" sz="2400"/>
              <a:t>”</a:t>
            </a:r>
            <a:r>
              <a:rPr lang="en-US" sz="2400" b="1"/>
              <a:t> - wrote while in jail</a:t>
            </a:r>
            <a:endParaRPr lang="en-US" sz="2400"/>
          </a:p>
          <a:p>
            <a:r>
              <a:rPr lang="en-US" sz="2400" b="1"/>
              <a:t>Sold 5 million copies, made him rich</a:t>
            </a:r>
            <a:endParaRPr lang="en-US" sz="2800" b="1"/>
          </a:p>
          <a:p>
            <a:r>
              <a:rPr lang="en-US" sz="2400" b="1"/>
              <a:t>Topics included:  Jews were evil, Germans were superior race, Fuhrer principal, dislike of Communism and Democracy and need to conquer Russia</a:t>
            </a:r>
            <a:endParaRPr lang="en-US" sz="2800"/>
          </a:p>
        </p:txBody>
      </p:sp>
      <p:pic>
        <p:nvPicPr>
          <p:cNvPr id="23561" name="Picture 9" descr="H:\Dan's PP\Hitler\3471665536.03.MZZZZZZZ.jpg"/>
          <p:cNvPicPr>
            <a:picLocks noChangeAspect="1" noChangeArrowheads="1"/>
          </p:cNvPicPr>
          <p:nvPr>
            <p:ph type="clipArt" sz="half" idx="2"/>
          </p:nvPr>
        </p:nvPicPr>
        <p:blipFill>
          <a:blip r:embed="rId3" cstate="print"/>
          <a:srcRect/>
          <a:stretch>
            <a:fillRect/>
          </a:stretch>
        </p:blipFill>
        <p:spPr>
          <a:xfrm>
            <a:off x="5181600" y="1752600"/>
            <a:ext cx="2960688" cy="4876800"/>
          </a:xfrm>
        </p:spPr>
      </p:pic>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sz="6000" b="1" u="sng">
                <a:solidFill>
                  <a:srgbClr val="FF0000"/>
                </a:solidFill>
              </a:rPr>
              <a:t>Legal Rise to Power</a:t>
            </a:r>
            <a:endParaRPr lang="en-US" sz="6000" b="1" u="sng"/>
          </a:p>
        </p:txBody>
      </p:sp>
      <p:sp>
        <p:nvSpPr>
          <p:cNvPr id="24579" name="Rectangle 3"/>
          <p:cNvSpPr>
            <a:spLocks noGrp="1" noChangeArrowheads="1"/>
          </p:cNvSpPr>
          <p:nvPr>
            <p:ph type="body" sz="half" idx="1"/>
          </p:nvPr>
        </p:nvSpPr>
        <p:spPr/>
        <p:txBody>
          <a:bodyPr/>
          <a:lstStyle/>
          <a:p>
            <a:r>
              <a:rPr lang="en-US" sz="2400" b="1"/>
              <a:t>Used popularity from failed revolution and book to seize power legally</a:t>
            </a:r>
          </a:p>
          <a:p>
            <a:r>
              <a:rPr lang="en-US" sz="2400" b="1"/>
              <a:t>Spoke to mass audiences about making Germany a great nation again</a:t>
            </a:r>
          </a:p>
          <a:p>
            <a:r>
              <a:rPr lang="en-US" sz="2400" b="1"/>
              <a:t>Nazi Party:</a:t>
            </a:r>
          </a:p>
          <a:p>
            <a:pPr lvl="1"/>
            <a:r>
              <a:rPr lang="en-US" sz="2400" b="1"/>
              <a:t>1930 = 18% of vote</a:t>
            </a:r>
          </a:p>
          <a:p>
            <a:pPr lvl="1"/>
            <a:r>
              <a:rPr lang="en-US" sz="2400" b="1"/>
              <a:t>1932 = 30% of vote</a:t>
            </a:r>
          </a:p>
          <a:p>
            <a:pPr lvl="1"/>
            <a:r>
              <a:rPr lang="en-US" sz="2400" b="1"/>
              <a:t>Hitler becomes Chancellor in 1933</a:t>
            </a:r>
            <a:endParaRPr lang="en-US" sz="2000" b="1"/>
          </a:p>
        </p:txBody>
      </p:sp>
      <p:pic>
        <p:nvPicPr>
          <p:cNvPr id="24582" name="Picture 6" descr="H:\Dan's PP\Hitler\beer hall.jpg"/>
          <p:cNvPicPr>
            <a:picLocks noChangeAspect="1" noChangeArrowheads="1"/>
          </p:cNvPicPr>
          <p:nvPr>
            <p:ph type="clipArt" sz="half" idx="2"/>
          </p:nvPr>
        </p:nvPicPr>
        <p:blipFill>
          <a:blip r:embed="rId3" cstate="print"/>
          <a:srcRect/>
          <a:stretch>
            <a:fillRect/>
          </a:stretch>
        </p:blipFill>
        <p:spPr>
          <a:xfrm>
            <a:off x="4876800" y="1828800"/>
            <a:ext cx="3859213" cy="4495800"/>
          </a:xfrm>
        </p:spPr>
      </p:pic>
    </p:spTree>
  </p:cSld>
  <p:clrMapOvr>
    <a:masterClrMapping/>
  </p:clrMapOvr>
  <p:transition>
    <p:blinds/>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sz="6000" b="1" u="sng">
                <a:solidFill>
                  <a:srgbClr val="FF0000"/>
                </a:solidFill>
              </a:rPr>
              <a:t>Appeal of Hitler</a:t>
            </a:r>
          </a:p>
        </p:txBody>
      </p:sp>
      <p:sp>
        <p:nvSpPr>
          <p:cNvPr id="26627" name="Rectangle 3"/>
          <p:cNvSpPr>
            <a:spLocks noGrp="1" noChangeArrowheads="1"/>
          </p:cNvSpPr>
          <p:nvPr>
            <p:ph type="body" idx="1"/>
          </p:nvPr>
        </p:nvSpPr>
        <p:spPr/>
        <p:txBody>
          <a:bodyPr/>
          <a:lstStyle/>
          <a:p>
            <a:r>
              <a:rPr lang="en-US" sz="2800" b="1"/>
              <a:t>Germany was in the midst of an economic depression with hyper-inflation</a:t>
            </a:r>
          </a:p>
          <a:p>
            <a:r>
              <a:rPr lang="en-US" sz="2800" b="1"/>
              <a:t>Hitler was a WW I hero who talked about bringing glory back to the “Fatherland”</a:t>
            </a:r>
          </a:p>
          <a:p>
            <a:r>
              <a:rPr lang="en-US" sz="2800" b="1"/>
              <a:t>He promised the rich industrialists that he would end any communist threat in Germany</a:t>
            </a:r>
          </a:p>
          <a:p>
            <a:r>
              <a:rPr lang="en-US" sz="2800" b="1"/>
              <a:t>Constantly blamed Jews for Germany’s problems, not the German people.</a:t>
            </a:r>
          </a:p>
          <a:p>
            <a:r>
              <a:rPr lang="en-US" sz="2800" b="1"/>
              <a:t>Hitler was an excellent public speaker.</a:t>
            </a:r>
            <a:endParaRPr 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Projcto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Projctor.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Projctor.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6627">
                                            <p:txEl>
                                              <p:pRg st="4" end="4"/>
                                            </p:txEl>
                                          </p:spTgt>
                                        </p:tgtEl>
                                        <p:attrNameLst>
                                          <p:attrName>style.visibility</p:attrName>
                                        </p:attrNameLst>
                                      </p:cBhvr>
                                      <p:to>
                                        <p:strVal val="visible"/>
                                      </p:to>
                                    </p:set>
                                    <p:anim calcmode="lin" valueType="num">
                                      <p:cBhvr additive="base">
                                        <p:cTn id="31" dur="500" fill="hold"/>
                                        <p:tgtEl>
                                          <p:spTgt spid="266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662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6000" b="1" u="sng">
                <a:solidFill>
                  <a:srgbClr val="FF0000"/>
                </a:solidFill>
              </a:rPr>
              <a:t>Strong Arm Tactics</a:t>
            </a:r>
          </a:p>
        </p:txBody>
      </p:sp>
      <p:sp>
        <p:nvSpPr>
          <p:cNvPr id="27651" name="Rectangle 3"/>
          <p:cNvSpPr>
            <a:spLocks noGrp="1" noChangeArrowheads="1"/>
          </p:cNvSpPr>
          <p:nvPr>
            <p:ph type="body" sz="half" idx="1"/>
          </p:nvPr>
        </p:nvSpPr>
        <p:spPr/>
        <p:txBody>
          <a:bodyPr/>
          <a:lstStyle/>
          <a:p>
            <a:r>
              <a:rPr lang="en-US" sz="2400" b="1"/>
              <a:t>The “Brownshirts” or SA (Stormtroopers)</a:t>
            </a:r>
          </a:p>
          <a:p>
            <a:r>
              <a:rPr lang="en-US" sz="2400" b="1"/>
              <a:t>SA was used to put down opposition parties</a:t>
            </a:r>
          </a:p>
          <a:p>
            <a:r>
              <a:rPr lang="en-US" sz="2400" b="1"/>
              <a:t>Threatened and beat up Jews and ant-Nazi voters</a:t>
            </a:r>
          </a:p>
          <a:p>
            <a:r>
              <a:rPr lang="en-US" sz="2400" b="1"/>
              <a:t>Wore brownshirts, pants and boots</a:t>
            </a:r>
          </a:p>
          <a:p>
            <a:r>
              <a:rPr lang="en-US" sz="2400" b="1"/>
              <a:t>Numbered almost 400,000 by 1932</a:t>
            </a:r>
          </a:p>
          <a:p>
            <a:endParaRPr lang="en-US" sz="2400" b="1"/>
          </a:p>
          <a:p>
            <a:endParaRPr lang="en-US" sz="2400" b="1"/>
          </a:p>
        </p:txBody>
      </p:sp>
      <p:pic>
        <p:nvPicPr>
          <p:cNvPr id="27654" name="Picture 6" descr="H:\Dan's PP\Hitler\BROWN.jpg"/>
          <p:cNvPicPr>
            <a:picLocks noChangeAspect="1" noChangeArrowheads="1"/>
          </p:cNvPicPr>
          <p:nvPr>
            <p:ph type="clipArt" sz="half" idx="2"/>
          </p:nvPr>
        </p:nvPicPr>
        <p:blipFill>
          <a:blip r:embed="rId3" cstate="print"/>
          <a:srcRect/>
          <a:stretch>
            <a:fillRect/>
          </a:stretch>
        </p:blipFill>
        <p:spPr>
          <a:xfrm>
            <a:off x="5181600" y="1676400"/>
            <a:ext cx="3340100" cy="4876800"/>
          </a:xfrm>
        </p:spPr>
      </p:pic>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z="6000" b="1" u="sng">
                <a:solidFill>
                  <a:srgbClr val="FF0000"/>
                </a:solidFill>
              </a:rPr>
              <a:t>Dictator</a:t>
            </a:r>
          </a:p>
        </p:txBody>
      </p:sp>
      <p:sp>
        <p:nvSpPr>
          <p:cNvPr id="28675" name="Rectangle 3"/>
          <p:cNvSpPr>
            <a:spLocks noGrp="1" noChangeArrowheads="1"/>
          </p:cNvSpPr>
          <p:nvPr>
            <p:ph type="body" sz="half" idx="1"/>
          </p:nvPr>
        </p:nvSpPr>
        <p:spPr/>
        <p:txBody>
          <a:bodyPr/>
          <a:lstStyle/>
          <a:p>
            <a:r>
              <a:rPr lang="en-US" sz="2800"/>
              <a:t>“Reichstag fire” gives Hitler total power</a:t>
            </a:r>
          </a:p>
          <a:p>
            <a:r>
              <a:rPr lang="en-US" sz="2800"/>
              <a:t> In 1933, all parties were outlawed except the Nazi party</a:t>
            </a:r>
          </a:p>
          <a:p>
            <a:r>
              <a:rPr lang="en-US" sz="2800"/>
              <a:t>People’s civil rights were suspended</a:t>
            </a:r>
          </a:p>
          <a:p>
            <a:r>
              <a:rPr lang="en-US" sz="2800"/>
              <a:t>“Night of the Long Knives”</a:t>
            </a:r>
          </a:p>
        </p:txBody>
      </p:sp>
      <p:pic>
        <p:nvPicPr>
          <p:cNvPr id="28678" name="Picture 6" descr="H:\Dan's PP\Hitler\fuhrer1.jpg"/>
          <p:cNvPicPr>
            <a:picLocks noChangeAspect="1" noChangeArrowheads="1"/>
          </p:cNvPicPr>
          <p:nvPr>
            <p:ph type="clipArt" sz="half" idx="2"/>
          </p:nvPr>
        </p:nvPicPr>
        <p:blipFill>
          <a:blip r:embed="rId3" cstate="print"/>
          <a:srcRect/>
          <a:stretch>
            <a:fillRect/>
          </a:stretch>
        </p:blipFill>
        <p:spPr>
          <a:xfrm>
            <a:off x="5334000" y="1752600"/>
            <a:ext cx="3371850" cy="4876800"/>
          </a:xfrm>
        </p:spPr>
      </p:pic>
    </p:spTree>
  </p:cSld>
  <p:clrMapOvr>
    <a:masterClrMapping/>
  </p:clrMapOvr>
  <p:transition>
    <p:check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sz="6000" b="1" u="sng">
                <a:solidFill>
                  <a:srgbClr val="FF0000"/>
                </a:solidFill>
              </a:rPr>
              <a:t>Absolute Power</a:t>
            </a:r>
          </a:p>
        </p:txBody>
      </p:sp>
      <p:sp>
        <p:nvSpPr>
          <p:cNvPr id="29699" name="Rectangle 3"/>
          <p:cNvSpPr>
            <a:spLocks noGrp="1" noChangeArrowheads="1"/>
          </p:cNvSpPr>
          <p:nvPr>
            <p:ph type="body" sz="half" idx="1"/>
          </p:nvPr>
        </p:nvSpPr>
        <p:spPr/>
        <p:txBody>
          <a:bodyPr/>
          <a:lstStyle/>
          <a:p>
            <a:r>
              <a:rPr lang="en-US" sz="2800"/>
              <a:t>German economy was improving, people were happy</a:t>
            </a:r>
          </a:p>
          <a:p>
            <a:r>
              <a:rPr lang="en-US" sz="2800"/>
              <a:t>Hilter had not political opposition</a:t>
            </a:r>
          </a:p>
          <a:p>
            <a:r>
              <a:rPr lang="en-US" sz="2800"/>
              <a:t>1st concentration camp opened in 1933</a:t>
            </a:r>
          </a:p>
          <a:p>
            <a:r>
              <a:rPr lang="en-US" sz="2800"/>
              <a:t>Began rearming German Army for expansion of the Reich</a:t>
            </a:r>
          </a:p>
        </p:txBody>
      </p:sp>
      <p:pic>
        <p:nvPicPr>
          <p:cNvPr id="29702" name="Picture 6" descr="H:\Dan's PP\Hitler\LAST.jpg"/>
          <p:cNvPicPr>
            <a:picLocks noChangeAspect="1" noChangeArrowheads="1"/>
          </p:cNvPicPr>
          <p:nvPr>
            <p:ph type="clipArt" sz="half" idx="2"/>
          </p:nvPr>
        </p:nvPicPr>
        <p:blipFill>
          <a:blip r:embed="rId3" cstate="print"/>
          <a:srcRect/>
          <a:stretch>
            <a:fillRect/>
          </a:stretch>
        </p:blipFill>
        <p:spPr>
          <a:xfrm>
            <a:off x="5181600" y="1676400"/>
            <a:ext cx="3494088" cy="4876800"/>
          </a:xfrm>
        </p:spPr>
      </p:pic>
    </p:spTree>
  </p:cSld>
  <p:clrMapOvr>
    <a:masterClrMapping/>
  </p:clrMapOvr>
  <p:transition>
    <p:check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762000" y="1447800"/>
            <a:ext cx="5715000" cy="1920875"/>
          </a:xfrm>
          <a:prstGeom prst="rect">
            <a:avLst/>
          </a:prstGeom>
          <a:noFill/>
          <a:ln w="9525">
            <a:noFill/>
            <a:miter lim="800000"/>
            <a:headEnd/>
            <a:tailEnd/>
          </a:ln>
          <a:effectLst/>
        </p:spPr>
        <p:txBody>
          <a:bodyPr>
            <a:spAutoFit/>
          </a:bodyPr>
          <a:lstStyle/>
          <a:p>
            <a:pPr algn="ctr">
              <a:spcBef>
                <a:spcPct val="50000"/>
              </a:spcBef>
            </a:pPr>
            <a:r>
              <a:rPr lang="en-US" sz="12000" u="none">
                <a:solidFill>
                  <a:srgbClr val="FF0000"/>
                </a:solidFill>
              </a:rPr>
              <a:t>THE</a:t>
            </a:r>
            <a:endParaRPr lang="en-US" sz="9600" u="none">
              <a:solidFill>
                <a:srgbClr val="FF0000"/>
              </a:solidFill>
            </a:endParaRPr>
          </a:p>
        </p:txBody>
      </p:sp>
      <p:sp>
        <p:nvSpPr>
          <p:cNvPr id="30723" name="Text Box 3"/>
          <p:cNvSpPr txBox="1">
            <a:spLocks noChangeArrowheads="1"/>
          </p:cNvSpPr>
          <p:nvPr/>
        </p:nvSpPr>
        <p:spPr bwMode="auto">
          <a:xfrm>
            <a:off x="3200400" y="3352800"/>
            <a:ext cx="5257800" cy="1920875"/>
          </a:xfrm>
          <a:prstGeom prst="rect">
            <a:avLst/>
          </a:prstGeom>
          <a:noFill/>
          <a:ln w="9525">
            <a:noFill/>
            <a:miter lim="800000"/>
            <a:headEnd/>
            <a:tailEnd/>
          </a:ln>
          <a:effectLst/>
        </p:spPr>
        <p:txBody>
          <a:bodyPr>
            <a:spAutoFit/>
          </a:bodyPr>
          <a:lstStyle/>
          <a:p>
            <a:pPr algn="ctr">
              <a:spcBef>
                <a:spcPct val="50000"/>
              </a:spcBef>
            </a:pPr>
            <a:r>
              <a:rPr lang="en-US" sz="12000" u="none">
                <a:solidFill>
                  <a:srgbClr val="FF0000"/>
                </a:solidFill>
              </a:rPr>
              <a:t>END</a:t>
            </a:r>
            <a:endParaRPr lang="en-US" sz="9600" u="none"/>
          </a:p>
        </p:txBody>
      </p:sp>
      <p:sp>
        <p:nvSpPr>
          <p:cNvPr id="30724" name="Text Box 4"/>
          <p:cNvSpPr txBox="1">
            <a:spLocks noChangeArrowheads="1"/>
          </p:cNvSpPr>
          <p:nvPr/>
        </p:nvSpPr>
        <p:spPr bwMode="auto">
          <a:xfrm>
            <a:off x="457200" y="5715000"/>
            <a:ext cx="9753600" cy="579438"/>
          </a:xfrm>
          <a:prstGeom prst="rect">
            <a:avLst/>
          </a:prstGeom>
          <a:noFill/>
          <a:ln w="9525">
            <a:noFill/>
            <a:miter lim="800000"/>
            <a:headEnd/>
            <a:tailEnd/>
          </a:ln>
          <a:effectLst/>
        </p:spPr>
        <p:txBody>
          <a:bodyPr>
            <a:spAutoFit/>
          </a:bodyPr>
          <a:lstStyle/>
          <a:p>
            <a:pPr>
              <a:spcBef>
                <a:spcPct val="50000"/>
              </a:spcBef>
            </a:pPr>
            <a:r>
              <a:rPr lang="en-US" sz="3200" u="none"/>
              <a:t>.......................Until the start of World War II</a:t>
            </a:r>
            <a:endParaRPr lang="en-US" sz="4400" u="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bolt.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0723"/>
                                        </p:tgtEl>
                                        <p:attrNameLst>
                                          <p:attrName>style.visibility</p:attrName>
                                        </p:attrNameLst>
                                      </p:cBhvr>
                                      <p:to>
                                        <p:strVal val="visible"/>
                                      </p:to>
                                    </p:set>
                                    <p:anim calcmode="lin" valueType="num">
                                      <p:cBhvr additive="base">
                                        <p:cTn id="13" dur="500" fill="hold"/>
                                        <p:tgtEl>
                                          <p:spTgt spid="30723"/>
                                        </p:tgtEl>
                                        <p:attrNameLst>
                                          <p:attrName>ppt_x</p:attrName>
                                        </p:attrNameLst>
                                      </p:cBhvr>
                                      <p:tavLst>
                                        <p:tav tm="0">
                                          <p:val>
                                            <p:strVal val="#ppt_x"/>
                                          </p:val>
                                        </p:tav>
                                        <p:tav tm="100000">
                                          <p:val>
                                            <p:strVal val="#ppt_x"/>
                                          </p:val>
                                        </p:tav>
                                      </p:tavLst>
                                    </p:anim>
                                    <p:anim calcmode="lin" valueType="num">
                                      <p:cBhvr additive="base">
                                        <p:cTn id="14" dur="500" fill="hold"/>
                                        <p:tgtEl>
                                          <p:spTgt spid="30723"/>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bolt.wav"/>
                                        </p:tgtEl>
                                      </p:cMediaNode>
                                    </p:audio>
                                  </p:subTnLst>
                                </p:cTn>
                              </p:par>
                            </p:childTnLst>
                          </p:cTn>
                        </p:par>
                      </p:childTnLst>
                    </p:cTn>
                  </p:par>
                  <p:par>
                    <p:cTn id="15" fill="hold">
                      <p:stCondLst>
                        <p:cond delay="indefinite"/>
                      </p:stCondLst>
                      <p:childTnLst>
                        <p:par>
                          <p:cTn id="16" fill="hold">
                            <p:stCondLst>
                              <p:cond delay="0"/>
                            </p:stCondLst>
                            <p:childTnLst>
                              <p:par>
                                <p:cTn id="17" presetID="7" presetClass="entr" presetSubtype="8" fill="hold" grpId="0" nodeType="clickEffect">
                                  <p:stCondLst>
                                    <p:cond delay="0"/>
                                  </p:stCondLst>
                                  <p:childTnLst>
                                    <p:set>
                                      <p:cBhvr>
                                        <p:cTn id="18" dur="1" fill="hold">
                                          <p:stCondLst>
                                            <p:cond delay="0"/>
                                          </p:stCondLst>
                                        </p:cTn>
                                        <p:tgtEl>
                                          <p:spTgt spid="30724"/>
                                        </p:tgtEl>
                                        <p:attrNameLst>
                                          <p:attrName>style.visibility</p:attrName>
                                        </p:attrNameLst>
                                      </p:cBhvr>
                                      <p:to>
                                        <p:strVal val="visible"/>
                                      </p:to>
                                    </p:set>
                                    <p:anim calcmode="lin" valueType="num">
                                      <p:cBhvr additive="base">
                                        <p:cTn id="19" dur="5000" fill="hold"/>
                                        <p:tgtEl>
                                          <p:spTgt spid="30724"/>
                                        </p:tgtEl>
                                        <p:attrNameLst>
                                          <p:attrName>ppt_x</p:attrName>
                                        </p:attrNameLst>
                                      </p:cBhvr>
                                      <p:tavLst>
                                        <p:tav tm="0">
                                          <p:val>
                                            <p:strVal val="0-#ppt_w/2"/>
                                          </p:val>
                                        </p:tav>
                                        <p:tav tm="100000">
                                          <p:val>
                                            <p:strVal val="#ppt_x"/>
                                          </p:val>
                                        </p:tav>
                                      </p:tavLst>
                                    </p:anim>
                                    <p:anim calcmode="lin" valueType="num">
                                      <p:cBhvr additive="base">
                                        <p:cTn id="20" dur="5000" fill="hold"/>
                                        <p:tgtEl>
                                          <p:spTgt spid="3072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4" name="empir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3" grpId="0" autoUpdateAnimBg="0"/>
      <p:bldP spid="30724" grpId="0" autoUpdateAnimBg="0"/>
    </p:bld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6000" b="1" i="0" u="sng" strike="noStrike" cap="none" normalizeH="0" baseline="0" smtClean="0">
            <a:ln>
              <a:noFill/>
            </a:ln>
            <a:solidFill>
              <a:schemeClr val="tx1"/>
            </a:solidFill>
            <a:effectLst/>
            <a:latin typeface="Times New Roman"/>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6000" b="1" i="0" u="sng" strike="noStrike" cap="none" normalizeH="0" baseline="0" smtClean="0">
            <a:ln>
              <a:noFill/>
            </a:ln>
            <a:solidFill>
              <a:schemeClr val="tx1"/>
            </a:solidFill>
            <a:effectLst/>
            <a:latin typeface="Times New Roman"/>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406</TotalTime>
  <Words>1137</Words>
  <Application>Microsoft Office PowerPoint</Application>
  <PresentationFormat>On-screen Show (4:3)</PresentationFormat>
  <Paragraphs>138</Paragraphs>
  <Slides>27</Slides>
  <Notes>27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Times New Roman</vt:lpstr>
      <vt:lpstr>Office Theme</vt:lpstr>
      <vt:lpstr>Adolf Hitler</vt:lpstr>
      <vt:lpstr>Objectives:</vt:lpstr>
      <vt:lpstr>Overall Purpose:</vt:lpstr>
      <vt:lpstr>Birth</vt:lpstr>
      <vt:lpstr> Parents</vt:lpstr>
      <vt:lpstr>Education</vt:lpstr>
      <vt:lpstr>Slide 7</vt:lpstr>
      <vt:lpstr>Slide 8</vt:lpstr>
      <vt:lpstr>Years in Vienna</vt:lpstr>
      <vt:lpstr>Vienna -Importance</vt:lpstr>
      <vt:lpstr>Military Service</vt:lpstr>
      <vt:lpstr>World War I</vt:lpstr>
      <vt:lpstr>Military Record</vt:lpstr>
      <vt:lpstr>German Loss in WW I</vt:lpstr>
      <vt:lpstr>Life after WW I</vt:lpstr>
      <vt:lpstr>German Worker’s Party</vt:lpstr>
      <vt:lpstr>NAZI Party is Formed</vt:lpstr>
      <vt:lpstr>Party Platform</vt:lpstr>
      <vt:lpstr>Beer Hall Putsch</vt:lpstr>
      <vt:lpstr>Trial and Jail</vt:lpstr>
      <vt:lpstr>Mein Kampf</vt:lpstr>
      <vt:lpstr>Legal Rise to Power</vt:lpstr>
      <vt:lpstr>Appeal of Hitler</vt:lpstr>
      <vt:lpstr>Strong Arm Tactics</vt:lpstr>
      <vt:lpstr>Dictator</vt:lpstr>
      <vt:lpstr>Absolute Power</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Adolf Hitler:</dc:title>
  <dc:creator>Greenberg</dc:creator>
  <cp:lastModifiedBy>Robyn</cp:lastModifiedBy>
  <cp:revision>50</cp:revision>
  <dcterms:created xsi:type="dcterms:W3CDTF">2001-11-26T15:30:11Z</dcterms:created>
  <dcterms:modified xsi:type="dcterms:W3CDTF">2011-11-25T14:20:41Z</dcterms:modified>
</cp:coreProperties>
</file>
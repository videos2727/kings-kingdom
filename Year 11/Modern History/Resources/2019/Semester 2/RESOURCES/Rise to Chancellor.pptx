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6" d="100"/>
          <a:sy n="46" d="100"/>
        </p:scale>
        <p:origin x="-3448" y="-1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10576C-6681-4C9D-A11E-0F4AEF63F7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39546-CCFC-415A-9F83-5C4E4FEE29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FC56E6-AE93-451C-9466-830853914F1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EACAA7-8AB1-4C81-9AEF-C2EDA2DA3B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CE0572-A036-45FD-B0B4-B8A0236B24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02D5D8-564F-4081-B521-CCD2A3843F5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D6BCA-2D18-49E7-8607-2CC0F3131AA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4F381A-DAC5-40D5-B8BD-B6A28B60B2D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3101D8-F042-499F-9056-F6E5A22BB6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04D7FA-D128-4634-A5EB-48DD16110FF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EAA919-4045-474F-B912-9BF21CE1E15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4C84DB4-0F3C-4CEF-B5E1-81B3D78C38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1233FF5-29F8-4F51-9965-9C396F43F3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D053315-5B66-418A-AA66-B745A7680A3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260350"/>
            <a:ext cx="7772400" cy="2016125"/>
          </a:xfrm>
        </p:spPr>
        <p:txBody>
          <a:bodyPr/>
          <a:lstStyle/>
          <a:p>
            <a:r>
              <a:rPr lang="en-US" b="1" dirty="0" smtClean="0">
                <a:solidFill>
                  <a:srgbClr val="CC0000"/>
                </a:solidFill>
                <a:latin typeface="Castellar" pitchFamily="18" charset="0"/>
              </a:rPr>
              <a:t>Chancellor Hitler:</a:t>
            </a:r>
            <a:br>
              <a:rPr lang="en-US" b="1" dirty="0" smtClean="0">
                <a:solidFill>
                  <a:srgbClr val="CC0000"/>
                </a:solidFill>
                <a:latin typeface="Castellar" pitchFamily="18" charset="0"/>
              </a:rPr>
            </a:br>
            <a:r>
              <a:rPr lang="en-US" b="1" dirty="0" smtClean="0">
                <a:solidFill>
                  <a:srgbClr val="CC0000"/>
                </a:solidFill>
                <a:latin typeface="Castellar" pitchFamily="18" charset="0"/>
              </a:rPr>
              <a:t>The Rise of </a:t>
            </a:r>
            <a:r>
              <a:rPr lang="en-US" b="1" dirty="0">
                <a:solidFill>
                  <a:srgbClr val="CC0000"/>
                </a:solidFill>
                <a:latin typeface="Castellar" pitchFamily="18" charset="0"/>
              </a:rPr>
              <a:t>Evil</a:t>
            </a:r>
          </a:p>
        </p:txBody>
      </p:sp>
      <p:pic>
        <p:nvPicPr>
          <p:cNvPr id="2052" name="Picture 4" descr="S_de-nazi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0731" y="1571611"/>
            <a:ext cx="7221731" cy="5236515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Castellar" pitchFamily="18" charset="0"/>
              </a:rPr>
              <a:t>Support for the Nazi Party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600200"/>
            <a:ext cx="4475163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200" dirty="0"/>
              <a:t>The </a:t>
            </a:r>
            <a:r>
              <a:rPr lang="en-US" sz="2200" dirty="0" smtClean="0"/>
              <a:t>Nazis used </a:t>
            </a:r>
            <a:r>
              <a:rPr lang="en-US" sz="2200" dirty="0"/>
              <a:t>propaganda to </a:t>
            </a:r>
            <a:r>
              <a:rPr lang="en-US" sz="2200" dirty="0" smtClean="0"/>
              <a:t>gather the support </a:t>
            </a:r>
            <a:r>
              <a:rPr lang="en-US" sz="2200" dirty="0"/>
              <a:t>of the people. 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Joseph Goebbels </a:t>
            </a:r>
            <a:r>
              <a:rPr lang="en-US" sz="2200" dirty="0" smtClean="0"/>
              <a:t>was in charge of propaganda</a:t>
            </a:r>
            <a:r>
              <a:rPr lang="en-US" sz="2200" dirty="0"/>
              <a:t>, using every method he could to get maximum publicity for the Hitler.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He made records, films, displayed posters and flags, held mass rallies where Hitler would speak.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The Nazis also used the SA to gain support, beating up Communists and breaking up their meetings.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2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900" dirty="0"/>
              <a:t> </a:t>
            </a:r>
          </a:p>
          <a:p>
            <a:pPr>
              <a:lnSpc>
                <a:spcPct val="80000"/>
              </a:lnSpc>
            </a:pPr>
            <a:endParaRPr lang="en-US" sz="900" dirty="0"/>
          </a:p>
          <a:p>
            <a:pPr>
              <a:lnSpc>
                <a:spcPct val="80000"/>
              </a:lnSpc>
            </a:pPr>
            <a:endParaRPr lang="en-US" sz="900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sz="900" dirty="0"/>
          </a:p>
        </p:txBody>
      </p:sp>
      <p:pic>
        <p:nvPicPr>
          <p:cNvPr id="4104" name="Picture 8" descr="goebbels1"/>
          <p:cNvPicPr>
            <a:picLocks noChangeAspect="1" noChangeArrowheads="1"/>
          </p:cNvPicPr>
          <p:nvPr/>
        </p:nvPicPr>
        <p:blipFill>
          <a:blip r:embed="rId2"/>
          <a:srcRect l="25209" b="-4460"/>
          <a:stretch>
            <a:fillRect/>
          </a:stretch>
        </p:blipFill>
        <p:spPr bwMode="auto">
          <a:xfrm>
            <a:off x="4656396" y="1500174"/>
            <a:ext cx="4200267" cy="41560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r>
              <a:rPr lang="en-US" b="1" dirty="0">
                <a:latin typeface="Castellar" pitchFamily="18" charset="0"/>
              </a:rPr>
              <a:t>1932 </a:t>
            </a:r>
            <a:r>
              <a:rPr lang="en-US" b="1" dirty="0" smtClean="0">
                <a:latin typeface="Castellar" pitchFamily="18" charset="0"/>
              </a:rPr>
              <a:t>and 1933 </a:t>
            </a:r>
            <a:endParaRPr lang="en-US" b="1" dirty="0">
              <a:latin typeface="Castellar" pitchFamily="18" charset="0"/>
            </a:endParaRPr>
          </a:p>
        </p:txBody>
      </p:sp>
      <p:sp>
        <p:nvSpPr>
          <p:cNvPr id="7172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323850" y="1484313"/>
            <a:ext cx="3095625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200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714744" y="1000108"/>
            <a:ext cx="5143536" cy="5500726"/>
          </a:xfrm>
        </p:spPr>
        <p:txBody>
          <a:bodyPr/>
          <a:lstStyle/>
          <a:p>
            <a:r>
              <a:rPr lang="en-US" sz="2400" dirty="0"/>
              <a:t>As the largest party in the Reichstag Hitler demanded to be made Chancellor.</a:t>
            </a:r>
          </a:p>
          <a:p>
            <a:r>
              <a:rPr lang="en-US" sz="2400" dirty="0" smtClean="0"/>
              <a:t>Hindenburg </a:t>
            </a:r>
            <a:r>
              <a:rPr lang="en-US" sz="2400" dirty="0"/>
              <a:t>refused to give him the post. He did not want the power of the Reichstag to be given to a new party with its violent political methods.</a:t>
            </a:r>
          </a:p>
          <a:p>
            <a:r>
              <a:rPr lang="en-US" sz="2400" dirty="0" smtClean="0"/>
              <a:t>Hindenburg </a:t>
            </a:r>
            <a:r>
              <a:rPr lang="en-US" sz="2400" dirty="0"/>
              <a:t>allowed present Chancellor Franz Von Papen to stay in office, using his powers to make Papen’s decisions law. Papen only had the support of 97 seats in the Reichstag.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7180" name="Picture 12" descr="19390901_hitler_reichsta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825" y="928670"/>
            <a:ext cx="3392481" cy="521988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052513"/>
          </a:xfrm>
        </p:spPr>
        <p:txBody>
          <a:bodyPr/>
          <a:lstStyle/>
          <a:p>
            <a:r>
              <a:rPr lang="en-US" sz="4000" b="1" dirty="0">
                <a:latin typeface="Castellar" pitchFamily="18" charset="0"/>
              </a:rPr>
              <a:t>Hitler’s Rise to Power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276600" y="1196975"/>
            <a:ext cx="5867400" cy="547211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200" i="1" dirty="0"/>
              <a:t>After the reappointment of Papen in November:</a:t>
            </a:r>
          </a:p>
          <a:p>
            <a:pPr>
              <a:lnSpc>
                <a:spcPct val="90000"/>
              </a:lnSpc>
            </a:pPr>
            <a:r>
              <a:rPr lang="en-US" sz="2200" b="1" dirty="0"/>
              <a:t>Kurt von Schleicher</a:t>
            </a:r>
            <a:r>
              <a:rPr lang="en-US" sz="2200" dirty="0"/>
              <a:t> one of </a:t>
            </a:r>
            <a:r>
              <a:rPr lang="en-US" sz="2200" dirty="0" smtClean="0"/>
              <a:t>Hindenburg's </a:t>
            </a:r>
            <a:r>
              <a:rPr lang="en-US" sz="2200" dirty="0"/>
              <a:t>advisors, told him that the army would not support Papen staying in office, threatening a general strike, even civil war.</a:t>
            </a:r>
          </a:p>
          <a:p>
            <a:pPr>
              <a:lnSpc>
                <a:spcPct val="90000"/>
              </a:lnSpc>
            </a:pPr>
            <a:r>
              <a:rPr lang="en-US" sz="2200" dirty="0" smtClean="0"/>
              <a:t>Hindenburg </a:t>
            </a:r>
            <a:r>
              <a:rPr lang="en-US" sz="2200" dirty="0"/>
              <a:t>had to get rid of Papen, appointing Schleicher as Chancellor.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Schleicher lasted 57 days, the Reichstag would not support his decisions either.</a:t>
            </a:r>
          </a:p>
          <a:p>
            <a:pPr>
              <a:lnSpc>
                <a:spcPct val="90000"/>
              </a:lnSpc>
            </a:pPr>
            <a:r>
              <a:rPr lang="en-US" sz="2200" dirty="0" smtClean="0"/>
              <a:t>Hindenburg </a:t>
            </a:r>
            <a:r>
              <a:rPr lang="en-US" sz="2200" dirty="0"/>
              <a:t>had no choice but to appoint Hitler Chancellor, this occurred on 30</a:t>
            </a:r>
            <a:r>
              <a:rPr lang="en-US" sz="2200" baseline="30000" dirty="0"/>
              <a:t>th</a:t>
            </a:r>
            <a:r>
              <a:rPr lang="en-US" sz="2200" dirty="0"/>
              <a:t> January 1933.</a:t>
            </a:r>
          </a:p>
          <a:p>
            <a:pPr>
              <a:lnSpc>
                <a:spcPct val="90000"/>
              </a:lnSpc>
            </a:pPr>
            <a:endParaRPr lang="en-US" sz="2200" dirty="0"/>
          </a:p>
        </p:txBody>
      </p:sp>
      <p:pic>
        <p:nvPicPr>
          <p:cNvPr id="11269" name="Picture 5" descr="hitler-hindenber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8370" y="1071547"/>
            <a:ext cx="3219184" cy="446912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908050"/>
          </a:xfrm>
        </p:spPr>
        <p:txBody>
          <a:bodyPr/>
          <a:lstStyle/>
          <a:p>
            <a:r>
              <a:rPr lang="en-US" sz="4000" b="1">
                <a:latin typeface="Castellar" pitchFamily="18" charset="0"/>
              </a:rPr>
              <a:t>Hitler’s Rise to Power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908050"/>
            <a:ext cx="4835525" cy="5472113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200" i="1" dirty="0"/>
              <a:t>While Hitler seemed on his way to take control of Germany there were some obstacles in his way. </a:t>
            </a:r>
          </a:p>
          <a:p>
            <a:pPr>
              <a:lnSpc>
                <a:spcPct val="90000"/>
              </a:lnSpc>
            </a:pPr>
            <a:r>
              <a:rPr lang="en-US" sz="2200" b="1" dirty="0" smtClean="0"/>
              <a:t>Firstly,</a:t>
            </a:r>
            <a:r>
              <a:rPr lang="en-US" sz="2200" dirty="0" smtClean="0"/>
              <a:t> </a:t>
            </a:r>
            <a:r>
              <a:rPr lang="en-US" sz="2200" dirty="0"/>
              <a:t>Germany was a democracy, laws could only be made if the Reichstag supported them. As more than half the government was made up of parties who opposed </a:t>
            </a:r>
            <a:r>
              <a:rPr lang="en-US" sz="2200" dirty="0" err="1"/>
              <a:t>Hilter</a:t>
            </a:r>
            <a:r>
              <a:rPr lang="en-US" sz="2200" dirty="0"/>
              <a:t>, making it difficult </a:t>
            </a:r>
            <a:r>
              <a:rPr lang="en-US" sz="2200" dirty="0" err="1"/>
              <a:t>legalise</a:t>
            </a:r>
            <a:r>
              <a:rPr lang="en-US" sz="2200" dirty="0"/>
              <a:t> his policies.</a:t>
            </a:r>
          </a:p>
          <a:p>
            <a:pPr>
              <a:lnSpc>
                <a:spcPct val="90000"/>
              </a:lnSpc>
            </a:pPr>
            <a:r>
              <a:rPr lang="en-US" sz="2200" b="1" dirty="0" smtClean="0"/>
              <a:t>Secondly,</a:t>
            </a:r>
            <a:r>
              <a:rPr lang="en-US" sz="2200" dirty="0" smtClean="0"/>
              <a:t> </a:t>
            </a:r>
            <a:r>
              <a:rPr lang="en-US" sz="2200" dirty="0"/>
              <a:t>Hitler owed his position to </a:t>
            </a:r>
            <a:r>
              <a:rPr lang="en-US" sz="2200" dirty="0" err="1" smtClean="0"/>
              <a:t>Hindenberg</a:t>
            </a:r>
            <a:r>
              <a:rPr lang="en-US" sz="2200" dirty="0" smtClean="0"/>
              <a:t>, who </a:t>
            </a:r>
            <a:r>
              <a:rPr lang="en-US" sz="2200" dirty="0"/>
              <a:t>could easily make him resign if he disagreed with Hitler’s decisions.</a:t>
            </a:r>
          </a:p>
          <a:p>
            <a:pPr>
              <a:lnSpc>
                <a:spcPct val="90000"/>
              </a:lnSpc>
            </a:pPr>
            <a:r>
              <a:rPr lang="en-US" sz="2200" b="1" dirty="0" smtClean="0"/>
              <a:t>So, </a:t>
            </a:r>
            <a:r>
              <a:rPr lang="en-US" sz="2200" dirty="0" smtClean="0"/>
              <a:t>Hitler </a:t>
            </a:r>
            <a:r>
              <a:rPr lang="en-US" sz="2200" dirty="0"/>
              <a:t>had to be careful about the careful about how he got rid of his opponents. </a:t>
            </a:r>
          </a:p>
          <a:p>
            <a:pPr>
              <a:lnSpc>
                <a:spcPct val="90000"/>
              </a:lnSpc>
            </a:pPr>
            <a:endParaRPr lang="en-US" sz="2200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580063" y="1484313"/>
            <a:ext cx="31750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2000"/>
          </a:p>
        </p:txBody>
      </p:sp>
      <p:pic>
        <p:nvPicPr>
          <p:cNvPr id="12294" name="Picture 6" descr="220px-Hindenburg_ernennt_Hitl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1214422"/>
            <a:ext cx="4543426" cy="450162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6B7359681D047809A3D0B0658179B" ma:contentTypeVersion="0" ma:contentTypeDescription="Create a new document." ma:contentTypeScope="" ma:versionID="2c827d7d60be376599dc10ebf61e807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7A2DA0-E5C8-4AD3-8294-B77B2BA5DB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2554D7A2-3EBA-46A2-968A-A6136D0FEDE1}">
  <ds:schemaRefs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1F82C80-0D8B-4A8D-836B-C5EBF1090B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350</Words>
  <Application>Microsoft Macintosh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Default Design</vt:lpstr>
      <vt:lpstr>Chancellor Hitler: The Rise of Evil</vt:lpstr>
      <vt:lpstr>Support for the Nazi Party</vt:lpstr>
      <vt:lpstr>1932 and 1933 </vt:lpstr>
      <vt:lpstr>Hitler’s Rise to Power</vt:lpstr>
      <vt:lpstr>Hitler’s Rise to Power</vt:lpstr>
    </vt:vector>
  </TitlesOfParts>
  <Company>Perth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Rise of Evil</dc:title>
  <dc:creator>Bethany</dc:creator>
  <cp:lastModifiedBy>Mike Turner</cp:lastModifiedBy>
  <cp:revision>4</cp:revision>
  <dcterms:created xsi:type="dcterms:W3CDTF">2006-08-07T10:36:39Z</dcterms:created>
  <dcterms:modified xsi:type="dcterms:W3CDTF">2012-08-13T03:27:11Z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0x0101007A26B7359681D047809A3D0B0658179B</vt:lpwstr>
  </property>
</Properties>
</file>
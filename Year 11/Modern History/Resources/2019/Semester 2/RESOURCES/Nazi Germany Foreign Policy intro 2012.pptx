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9" r:id="rId3"/>
    <p:sldId id="263" r:id="rId4"/>
    <p:sldId id="260" r:id="rId5"/>
    <p:sldId id="261" r:id="rId6"/>
    <p:sldId id="262" r:id="rId7"/>
    <p:sldId id="266" r:id="rId8"/>
    <p:sldId id="264" r:id="rId9"/>
    <p:sldId id="265" r:id="rId10"/>
    <p:sldId id="267" r:id="rId11"/>
  </p:sldIdLst>
  <p:sldSz cx="9144000" cy="6858000" type="screen4x3"/>
  <p:notesSz cx="6797675" cy="987425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66"/>
    <a:srgbClr val="FF9933"/>
    <a:srgbClr val="6699FF"/>
    <a:srgbClr val="FFFF66"/>
    <a:srgbClr val="FFFF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-19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interSettings" Target="printerSettings/printerSettings1.bin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0152B6E-EFAA-9746-A656-F6C99590C84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92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57" tIns="45629" rIns="91257" bIns="45629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57" tIns="45629" rIns="91257" bIns="45629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39775"/>
            <a:ext cx="493712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57" tIns="45629" rIns="91257" bIns="456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57" tIns="45629" rIns="91257" bIns="45629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57" tIns="45629" rIns="91257" bIns="45629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fld id="{EFE5AAB8-9416-3547-9D3E-29ED4FB768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019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9128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128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128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12813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3CAFCF6-4E5E-D647-A8BC-891BCB1A8C85}" type="slidenum">
              <a:rPr lang="en-US"/>
              <a:pPr eaLnBrk="1" hangingPunct="1"/>
              <a:t>1</a:t>
            </a:fld>
            <a:endParaRPr 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F8BBD7-E8E5-7143-9D31-C847023FACD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8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66D137-5549-3D40-BAC1-0BD2C5635EC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33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C635A6-1029-2746-824A-04B034F94BA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52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B8EDE2-AE28-284D-A190-39DFA16BEF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58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7E1FDB-7AFC-844D-B524-577DC31F8C3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071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F84F9D-8CF3-2E4E-90F6-2240C9EC51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83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681C55-EDD2-C44C-956D-243C2B0F3E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892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7F0671-D93E-474A-80C4-FB28EE8F6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642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7D4668-DE49-4246-A0BC-DCA09EEB45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89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9122D1-96C2-854F-AF7D-C5608170E0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853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8255E9-5069-EE4C-A8B9-E01644447B5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514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13C833-1B96-734E-B76D-7C0EF2A0DF5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73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79D57B-CAD7-EF4E-B6FC-D9256536725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9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endParaRPr lang="en-A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DB6BCA-E639-1442-B018-9D4D2718FF3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73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en-AU" noProof="0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012282-9D10-5B4F-B7D3-429B49F27B6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47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7DA59D-41DA-3146-8E29-D293A04FEE4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24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2768AB8-3157-F641-A923-0E547453EA0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-242888"/>
            <a:ext cx="7772400" cy="1470026"/>
          </a:xfrm>
        </p:spPr>
        <p:txBody>
          <a:bodyPr/>
          <a:lstStyle/>
          <a:p>
            <a:pPr eaLnBrk="1" hangingPunct="1"/>
            <a:r>
              <a:rPr lang="en-US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stellar" charset="0"/>
              </a:rPr>
              <a:t>Nazi Germany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31913" y="5734050"/>
            <a:ext cx="6400800" cy="865188"/>
          </a:xfrm>
        </p:spPr>
        <p:txBody>
          <a:bodyPr/>
          <a:lstStyle/>
          <a:p>
            <a:pPr eaLnBrk="1" hangingPunct="1"/>
            <a:r>
              <a:rPr lang="en-US" sz="4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latin typeface="Castellar" charset="0"/>
              </a:rPr>
              <a:t>Foreign Policy</a:t>
            </a:r>
          </a:p>
        </p:txBody>
      </p:sp>
      <p:pic>
        <p:nvPicPr>
          <p:cNvPr id="2052" name="Picture 5" descr="hf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908050"/>
            <a:ext cx="3046412" cy="47021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9600" cy="981075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hangingPunct="1"/>
            <a:r>
              <a:rPr lang="en-US" sz="4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stellar" charset="0"/>
              </a:rPr>
              <a:t>Foreign Policy Aims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980728"/>
            <a:ext cx="5832772" cy="5544616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i="1" dirty="0">
                <a:latin typeface="Verdana" charset="0"/>
              </a:rPr>
              <a:t>Hitler and the Nazi Party believed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i="1" dirty="0">
                <a:latin typeface="Verdana" charset="0"/>
              </a:rPr>
              <a:t>in building a strong German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i="1" dirty="0">
                <a:latin typeface="Verdana" charset="0"/>
              </a:rPr>
              <a:t>Empire, they actively opposed the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i="1" dirty="0">
                <a:latin typeface="Verdana" charset="0"/>
              </a:rPr>
              <a:t>Weimar Republic</a:t>
            </a:r>
            <a:r>
              <a:rPr lang="ja-JP" altLang="en-US" sz="2400" i="1" dirty="0">
                <a:latin typeface="Verdana" charset="0"/>
              </a:rPr>
              <a:t>’</a:t>
            </a:r>
            <a:r>
              <a:rPr lang="en-US" sz="2400" i="1" dirty="0">
                <a:latin typeface="Verdana" charset="0"/>
              </a:rPr>
              <a:t>s policies and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i="1" dirty="0">
                <a:latin typeface="Verdana" charset="0"/>
              </a:rPr>
              <a:t>were embarrassed by the outcome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i="1" dirty="0">
                <a:latin typeface="Verdana" charset="0"/>
              </a:rPr>
              <a:t>of World War I.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i="1" dirty="0">
                <a:latin typeface="Verdana" charset="0"/>
              </a:rPr>
              <a:t>The </a:t>
            </a:r>
            <a:r>
              <a:rPr lang="en-US" sz="2400" i="1" dirty="0" smtClean="0">
                <a:latin typeface="Verdana" charset="0"/>
              </a:rPr>
              <a:t>Nazis </a:t>
            </a:r>
            <a:r>
              <a:rPr lang="en-US" sz="2400" i="1" dirty="0">
                <a:latin typeface="Verdana" charset="0"/>
              </a:rPr>
              <a:t>used these ideals to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i="1" dirty="0">
                <a:latin typeface="Verdana" charset="0"/>
              </a:rPr>
              <a:t>gain support within the public and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i="1" dirty="0">
                <a:latin typeface="Verdana" charset="0"/>
              </a:rPr>
              <a:t>in 1934 Hitler became the Fuhrer.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sz="2400" i="1" dirty="0" smtClean="0">
              <a:latin typeface="Verdana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i="1" dirty="0" smtClean="0">
                <a:latin typeface="Verdana" charset="0"/>
              </a:rPr>
              <a:t>Hitler</a:t>
            </a:r>
            <a:r>
              <a:rPr lang="ja-JP" altLang="en-US" sz="2400" i="1" dirty="0" smtClean="0">
                <a:latin typeface="Verdana" charset="0"/>
              </a:rPr>
              <a:t>’</a:t>
            </a:r>
            <a:r>
              <a:rPr lang="en-US" sz="2400" i="1" dirty="0" smtClean="0">
                <a:latin typeface="Verdana" charset="0"/>
              </a:rPr>
              <a:t>s </a:t>
            </a:r>
            <a:r>
              <a:rPr lang="en-US" sz="2400" i="1" dirty="0">
                <a:latin typeface="Verdana" charset="0"/>
              </a:rPr>
              <a:t>foreign policy was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sz="2400" i="1" dirty="0">
                <a:latin typeface="Verdana" charset="0"/>
              </a:rPr>
              <a:t>therefore based on the </a:t>
            </a:r>
            <a:r>
              <a:rPr lang="en-US" sz="2400" i="1" dirty="0" smtClean="0">
                <a:latin typeface="Verdana" charset="0"/>
              </a:rPr>
              <a:t>points which follow</a:t>
            </a:r>
            <a:endParaRPr lang="en-US" sz="2400" i="1" dirty="0">
              <a:latin typeface="Arial" charset="0"/>
            </a:endParaRP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endParaRPr lang="en-US" sz="2400" i="1" dirty="0">
              <a:latin typeface="Arial" charset="0"/>
            </a:endParaRPr>
          </a:p>
        </p:txBody>
      </p:sp>
      <p:pic>
        <p:nvPicPr>
          <p:cNvPr id="3076" name="Picture 7" descr="image128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836712"/>
            <a:ext cx="2683010" cy="4382194"/>
          </a:xfrm>
          <a:prstGeom prst="roundRect">
            <a:avLst>
              <a:gd name="adj" fmla="val 3086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hangingPunct="1"/>
            <a:r>
              <a:rPr lang="en-US" sz="4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stellar" charset="0"/>
              </a:rPr>
              <a:t>Foreign Policy Aims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1125538"/>
            <a:ext cx="8229600" cy="2185987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sz="2400" u="sng" dirty="0">
                <a:latin typeface="Verdana" charset="0"/>
              </a:rPr>
              <a:t>Hitler wanted to destroy the Treaty of Versailles:</a:t>
            </a:r>
            <a:r>
              <a:rPr lang="en-US" sz="2400" dirty="0">
                <a:latin typeface="Verdana" charset="0"/>
              </a:rPr>
              <a:t> the Treaty was seen as a great embarrassment to Germany, Hitler had built his political reputation on the promise he would overturn it. This would help Hitler rearm Germany and </a:t>
            </a:r>
            <a:r>
              <a:rPr lang="en-US" sz="2400" dirty="0" err="1">
                <a:latin typeface="Verdana" charset="0"/>
              </a:rPr>
              <a:t>remilitarise</a:t>
            </a:r>
            <a:r>
              <a:rPr lang="en-US" sz="2400" dirty="0">
                <a:latin typeface="Verdana" charset="0"/>
              </a:rPr>
              <a:t> the Rhineland. 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US" sz="2400" dirty="0">
              <a:latin typeface="Verdana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400" dirty="0">
              <a:latin typeface="Verdana" charset="0"/>
            </a:endParaRPr>
          </a:p>
          <a:p>
            <a:pPr marL="609600" indent="-609600" eaLnBrk="1" hangingPunct="1">
              <a:lnSpc>
                <a:spcPct val="90000"/>
              </a:lnSpc>
            </a:pPr>
            <a:endParaRPr lang="en-US" sz="2400" dirty="0">
              <a:latin typeface="Verdana" charset="0"/>
            </a:endParaRPr>
          </a:p>
        </p:txBody>
      </p:sp>
      <p:pic>
        <p:nvPicPr>
          <p:cNvPr id="13323" name="Picture 11" descr="wpvd724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3284538"/>
            <a:ext cx="4672012" cy="32131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/>
        </p:spPr>
      </p:pic>
    </p:spTree>
  </p:cSld>
  <p:clrMapOvr>
    <a:masterClrMapping/>
  </p:clrMapOvr>
  <p:transition xmlns:p14="http://schemas.microsoft.com/office/powerpoint/2010/main" spd="slow">
    <p:randomBar dir="vert"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0"/>
            <a:ext cx="8229600" cy="1143000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hangingPunct="1"/>
            <a:r>
              <a:rPr lang="en-US" sz="4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stellar" charset="0"/>
              </a:rPr>
              <a:t>Foreign Policy Aims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356100" y="1600200"/>
            <a:ext cx="4608513" cy="4525963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sz="2800" dirty="0">
                <a:latin typeface="Arial" charset="0"/>
              </a:rPr>
              <a:t>2.  </a:t>
            </a:r>
            <a:r>
              <a:rPr lang="en-US" sz="2800" u="sng" dirty="0">
                <a:latin typeface="Arial" charset="0"/>
              </a:rPr>
              <a:t>Removal of Germany from the League of Nations:</a:t>
            </a:r>
            <a:r>
              <a:rPr lang="en-US" sz="2800" dirty="0">
                <a:latin typeface="Arial" charset="0"/>
              </a:rPr>
              <a:t> Hitler aimed to expand the German empire and change the boundaries of nations that the peace treaties and the League had protected for so long. </a:t>
            </a:r>
          </a:p>
        </p:txBody>
      </p:sp>
      <p:pic>
        <p:nvPicPr>
          <p:cNvPr id="6151" name="Picture 7" descr="Tows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268413"/>
            <a:ext cx="3989388" cy="465137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/>
        </p:spPr>
      </p:pic>
    </p:spTree>
  </p:cSld>
  <p:clrMapOvr>
    <a:masterClrMapping/>
  </p:clrMapOvr>
  <p:transition xmlns:p14="http://schemas.microsoft.com/office/powerpoint/2010/main" spd="slow">
    <p:randomBar dir="vert"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hangingPunct="1"/>
            <a:r>
              <a:rPr lang="en-US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stellar" charset="0"/>
              </a:rPr>
              <a:t>Foreign Policy Aims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dirty="0">
                <a:latin typeface="Arial" charset="0"/>
              </a:rPr>
              <a:t>3. </a:t>
            </a:r>
            <a:r>
              <a:rPr lang="en-US" u="sng" dirty="0">
                <a:latin typeface="Arial" charset="0"/>
              </a:rPr>
              <a:t>Lebensraum:</a:t>
            </a:r>
            <a:r>
              <a:rPr lang="en-US" dirty="0">
                <a:latin typeface="Arial" charset="0"/>
              </a:rPr>
              <a:t> Hitler need </a:t>
            </a:r>
            <a:r>
              <a:rPr lang="ja-JP" altLang="en-US" dirty="0">
                <a:latin typeface="Arial" charset="0"/>
              </a:rPr>
              <a:t>‘</a:t>
            </a:r>
            <a:r>
              <a:rPr lang="en-US" dirty="0">
                <a:latin typeface="Arial" charset="0"/>
              </a:rPr>
              <a:t>living space</a:t>
            </a:r>
            <a:r>
              <a:rPr lang="ja-JP" altLang="en-US" dirty="0">
                <a:latin typeface="Arial" charset="0"/>
              </a:rPr>
              <a:t>’</a:t>
            </a:r>
            <a:r>
              <a:rPr lang="en-US" dirty="0">
                <a:latin typeface="Arial" charset="0"/>
              </a:rPr>
              <a:t> for   his </a:t>
            </a:r>
            <a:r>
              <a:rPr lang="ja-JP" altLang="en-US" dirty="0">
                <a:latin typeface="Arial" charset="0"/>
              </a:rPr>
              <a:t>‘</a:t>
            </a:r>
            <a:r>
              <a:rPr lang="en-US" dirty="0">
                <a:latin typeface="Arial" charset="0"/>
              </a:rPr>
              <a:t>master race</a:t>
            </a:r>
            <a:r>
              <a:rPr lang="ja-JP" altLang="en-US" dirty="0">
                <a:latin typeface="Arial" charset="0"/>
              </a:rPr>
              <a:t>’</a:t>
            </a:r>
            <a:r>
              <a:rPr lang="en-US" dirty="0">
                <a:latin typeface="Arial" charset="0"/>
              </a:rPr>
              <a:t>, the Aryans. In order to achieve this he needed the territory to expand into.</a:t>
            </a:r>
          </a:p>
          <a:p>
            <a:pPr eaLnBrk="1" hangingPunct="1">
              <a:buFontTx/>
              <a:buNone/>
            </a:pPr>
            <a:r>
              <a:rPr lang="en-US" dirty="0">
                <a:latin typeface="Arial" charset="0"/>
              </a:rPr>
              <a:t>4. </a:t>
            </a:r>
            <a:r>
              <a:rPr lang="en-US" u="sng" dirty="0">
                <a:latin typeface="Arial" charset="0"/>
              </a:rPr>
              <a:t>Greater German Reich:</a:t>
            </a:r>
            <a:r>
              <a:rPr lang="en-US" dirty="0">
                <a:latin typeface="Arial" charset="0"/>
              </a:rPr>
              <a:t> Hitler wanted to create a master German race, by uniting all German speaking peoples, in particular Austria.</a:t>
            </a:r>
          </a:p>
          <a:p>
            <a:pPr eaLnBrk="1" hangingPunct="1"/>
            <a:endParaRPr lang="en-US" dirty="0">
              <a:latin typeface="Arial" charset="0"/>
            </a:endParaRPr>
          </a:p>
        </p:txBody>
      </p:sp>
    </p:spTree>
  </p:cSld>
  <p:clrMapOvr>
    <a:masterClrMapping/>
  </p:clrMapOvr>
  <p:transition xmlns:p14="http://schemas.microsoft.com/office/powerpoint/2010/main" spd="slow">
    <p:randomBar dir="vert"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hangingPunct="1"/>
            <a:r>
              <a:rPr lang="en-US" sz="4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stellar" charset="0"/>
              </a:rPr>
              <a:t>Foreign Policy Aims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1124744"/>
            <a:ext cx="4475163" cy="4713288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400" dirty="0">
                <a:latin typeface="Verdana" charset="0"/>
              </a:rPr>
              <a:t>5. </a:t>
            </a:r>
            <a:r>
              <a:rPr lang="en-US" sz="2400" u="sng" dirty="0">
                <a:latin typeface="Verdana" charset="0"/>
              </a:rPr>
              <a:t>Attack and Invade the Eastern Europe and Russia</a:t>
            </a:r>
            <a:r>
              <a:rPr lang="en-US" sz="2400" dirty="0">
                <a:latin typeface="Verdana" charset="0"/>
              </a:rPr>
              <a:t>: There were several reasons for Hitler wanting to do this;</a:t>
            </a:r>
          </a:p>
          <a:p>
            <a:pPr eaLnBrk="1" hangingPunct="1">
              <a:spcBef>
                <a:spcPct val="0"/>
              </a:spcBef>
            </a:pPr>
            <a:r>
              <a:rPr lang="en-US" sz="2400" dirty="0">
                <a:latin typeface="Verdana" charset="0"/>
              </a:rPr>
              <a:t>He wanted to use this land to achieve </a:t>
            </a:r>
            <a:r>
              <a:rPr lang="ja-JP" altLang="en-US" sz="2400" dirty="0">
                <a:latin typeface="Verdana" charset="0"/>
              </a:rPr>
              <a:t>‘</a:t>
            </a:r>
            <a:r>
              <a:rPr lang="en-US" sz="2400" dirty="0">
                <a:latin typeface="Verdana" charset="0"/>
              </a:rPr>
              <a:t>lebensraum</a:t>
            </a:r>
            <a:r>
              <a:rPr lang="ja-JP" altLang="en-US" sz="2400" dirty="0">
                <a:latin typeface="Verdana" charset="0"/>
              </a:rPr>
              <a:t>’</a:t>
            </a:r>
            <a:r>
              <a:rPr lang="en-US" sz="2400" dirty="0">
                <a:latin typeface="Verdana" charset="0"/>
              </a:rPr>
              <a:t> and Eastern Europe and Russia were close targets. </a:t>
            </a:r>
          </a:p>
          <a:p>
            <a:pPr eaLnBrk="1" hangingPunct="1">
              <a:spcBef>
                <a:spcPct val="0"/>
              </a:spcBef>
            </a:pPr>
            <a:r>
              <a:rPr lang="en-US" sz="2400" dirty="0">
                <a:latin typeface="Verdana" charset="0"/>
              </a:rPr>
              <a:t>He could </a:t>
            </a:r>
            <a:r>
              <a:rPr lang="ja-JP" altLang="en-US" sz="2400" dirty="0">
                <a:latin typeface="Verdana" charset="0"/>
              </a:rPr>
              <a:t>‘</a:t>
            </a:r>
            <a:r>
              <a:rPr lang="en-US" sz="2400" dirty="0">
                <a:latin typeface="Verdana" charset="0"/>
              </a:rPr>
              <a:t>cleanse</a:t>
            </a:r>
            <a:r>
              <a:rPr lang="ja-JP" altLang="en-US" sz="2400" dirty="0">
                <a:latin typeface="Verdana" charset="0"/>
              </a:rPr>
              <a:t>’</a:t>
            </a:r>
            <a:r>
              <a:rPr lang="en-US" sz="2400" dirty="0">
                <a:latin typeface="Verdana" charset="0"/>
              </a:rPr>
              <a:t> Europe of Communists and racial inferiors, particularly the Jews. </a:t>
            </a:r>
          </a:p>
        </p:txBody>
      </p:sp>
      <p:pic>
        <p:nvPicPr>
          <p:cNvPr id="12295" name="Picture 7" descr="Map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268760"/>
            <a:ext cx="3950023" cy="498325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9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hangingPunct="1"/>
            <a:r>
              <a:rPr lang="en-US" sz="4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stellar" charset="0"/>
              </a:rPr>
              <a:t>Foreign Policy Aims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1341438"/>
            <a:ext cx="4402137" cy="48577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2000" i="1" dirty="0">
                <a:latin typeface="Verdana" charset="0"/>
              </a:rPr>
              <a:t>(5 continued)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sz="2400" dirty="0">
                <a:latin typeface="Verdana" charset="0"/>
              </a:rPr>
              <a:t>He </a:t>
            </a:r>
            <a:r>
              <a:rPr lang="en-US" sz="2400" dirty="0" err="1">
                <a:latin typeface="Verdana" charset="0"/>
              </a:rPr>
              <a:t>realised</a:t>
            </a:r>
            <a:r>
              <a:rPr lang="en-US" sz="2400" dirty="0">
                <a:latin typeface="Verdana" charset="0"/>
              </a:rPr>
              <a:t> he needed to eliminate any states which may be </a:t>
            </a:r>
            <a:r>
              <a:rPr lang="ja-JP" altLang="en-US" sz="2400" dirty="0">
                <a:latin typeface="Verdana" charset="0"/>
              </a:rPr>
              <a:t>‘</a:t>
            </a:r>
            <a:r>
              <a:rPr lang="en-US" sz="2400" dirty="0">
                <a:latin typeface="Verdana" charset="0"/>
              </a:rPr>
              <a:t>unfriendly</a:t>
            </a:r>
            <a:r>
              <a:rPr lang="ja-JP" altLang="en-US" sz="2400" dirty="0">
                <a:latin typeface="Verdana" charset="0"/>
              </a:rPr>
              <a:t>’</a:t>
            </a:r>
            <a:r>
              <a:rPr lang="en-US" sz="2400" dirty="0">
                <a:latin typeface="Verdana" charset="0"/>
              </a:rPr>
              <a:t> towards Germany, in particular Poland and Czechoslovakia. 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sz="2400" dirty="0">
                <a:latin typeface="Verdana" charset="0"/>
              </a:rPr>
              <a:t>He also believed that strong empires need certain goods to survive, including food and raw materials both of which could be found in Eastern Europe and Russia</a:t>
            </a:r>
            <a:r>
              <a:rPr lang="en-US" sz="2400" dirty="0" smtClean="0">
                <a:latin typeface="Verdana" charset="0"/>
              </a:rPr>
              <a:t>. He promoted ‘autarky’</a:t>
            </a:r>
            <a:endParaRPr lang="en-US" sz="2400" dirty="0">
              <a:latin typeface="Verdana" charset="0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Verdana" charset="0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Arial" charset="0"/>
            </a:endParaRPr>
          </a:p>
        </p:txBody>
      </p:sp>
      <p:pic>
        <p:nvPicPr>
          <p:cNvPr id="23556" name="Picture 4" descr="ilw025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1412875"/>
            <a:ext cx="3506788" cy="47228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hangingPunct="1"/>
            <a:r>
              <a:rPr lang="en-US" sz="3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stellar" charset="0"/>
              </a:rPr>
              <a:t>Foreign Policy Constraints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851275" y="1268413"/>
            <a:ext cx="4906963" cy="53990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i="1" dirty="0">
                <a:latin typeface="Arial" charset="0"/>
              </a:rPr>
              <a:t>There were some constraints to Hitler</a:t>
            </a:r>
            <a:r>
              <a:rPr lang="ja-JP" altLang="en-US" sz="2400" i="1" dirty="0">
                <a:latin typeface="Arial" charset="0"/>
              </a:rPr>
              <a:t>’</a:t>
            </a:r>
            <a:r>
              <a:rPr lang="en-US" sz="2400" i="1" dirty="0">
                <a:latin typeface="Arial" charset="0"/>
              </a:rPr>
              <a:t>s foreign </a:t>
            </a:r>
            <a:r>
              <a:rPr lang="en-US" sz="2400" i="1" dirty="0" smtClean="0">
                <a:latin typeface="Arial" charset="0"/>
              </a:rPr>
              <a:t>policy</a:t>
            </a:r>
            <a:r>
              <a:rPr lang="en-US" sz="2400" i="1" dirty="0" smtClean="0"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</a:rPr>
              <a:t>:</a:t>
            </a:r>
            <a:endParaRPr lang="en-US" sz="2400" i="1" dirty="0">
              <a:effectLst>
                <a:outerShdw blurRad="38100" dist="38100" dir="2700000" algn="tl">
                  <a:srgbClr val="FFFFFF"/>
                </a:outerShdw>
              </a:effectLst>
              <a:latin typeface="Arial" charset="0"/>
            </a:endParaRPr>
          </a:p>
          <a:p>
            <a:pPr eaLnBrk="1" hangingPunct="1"/>
            <a:r>
              <a:rPr lang="en-US" sz="2400" dirty="0">
                <a:latin typeface="Arial" charset="0"/>
              </a:rPr>
              <a:t>Hitler knew that there would be opposition from Britain and France over his aims. </a:t>
            </a:r>
          </a:p>
          <a:p>
            <a:pPr eaLnBrk="1" hangingPunct="1"/>
            <a:r>
              <a:rPr lang="en-US" sz="2400" dirty="0">
                <a:latin typeface="Arial" charset="0"/>
              </a:rPr>
              <a:t>France however was not considered to be a military threat while Hitler believed Britain and Germany were natural allies. </a:t>
            </a:r>
          </a:p>
          <a:p>
            <a:pPr eaLnBrk="1" hangingPunct="1"/>
            <a:r>
              <a:rPr lang="en-US" sz="2400" dirty="0">
                <a:latin typeface="Arial" charset="0"/>
              </a:rPr>
              <a:t>He also used the British and French</a:t>
            </a:r>
            <a:r>
              <a:rPr lang="ja-JP" altLang="en-US" sz="2400" dirty="0">
                <a:latin typeface="Arial" charset="0"/>
              </a:rPr>
              <a:t>’</a:t>
            </a:r>
            <a:r>
              <a:rPr lang="en-US" sz="2400" dirty="0">
                <a:latin typeface="Arial" charset="0"/>
              </a:rPr>
              <a:t>s suspicion of Communism to exaggerate the threat of Russia.</a:t>
            </a:r>
          </a:p>
        </p:txBody>
      </p:sp>
      <p:pic>
        <p:nvPicPr>
          <p:cNvPr id="14346" name="Picture 10" descr="Neville_Chamberlain_and_Adolf_Hitler_Peace_in_our_tim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341438"/>
            <a:ext cx="3184525" cy="450691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/>
        </p:spPr>
      </p:pic>
    </p:spTree>
  </p:cSld>
  <p:clrMapOvr>
    <a:masterClrMapping/>
  </p:clrMapOvr>
  <p:transition xmlns:p14="http://schemas.microsoft.com/office/powerpoint/2010/main" spd="slow">
    <p:randomBar dir="vert"/>
  </p:transition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hangingPunct="1"/>
            <a:r>
              <a:rPr lang="en-US" sz="3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Castellar" charset="0"/>
              </a:rPr>
              <a:t>Foreign Policy Constraints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052513"/>
            <a:ext cx="4764088" cy="54006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i="1" dirty="0">
                <a:latin typeface="Arial" charset="0"/>
              </a:rPr>
              <a:t>(continued)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Arial" charset="0"/>
              </a:rPr>
              <a:t>He also needed to be cautious as Germany was </a:t>
            </a:r>
            <a:r>
              <a:rPr lang="en-US" sz="2400" dirty="0" smtClean="0">
                <a:latin typeface="Arial" charset="0"/>
              </a:rPr>
              <a:t>relatively weak economically and </a:t>
            </a:r>
            <a:r>
              <a:rPr lang="en-US" sz="2400" dirty="0">
                <a:latin typeface="Arial" charset="0"/>
              </a:rPr>
              <a:t>had few allies. Hitler had to represent all his actions as being in the interests of peace, also promising each change would be his </a:t>
            </a:r>
            <a:r>
              <a:rPr lang="en-US" sz="2400" dirty="0" smtClean="0">
                <a:latin typeface="Arial" charset="0"/>
              </a:rPr>
              <a:t>last! </a:t>
            </a:r>
            <a:endParaRPr lang="en-US" sz="2400" dirty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Arial" charset="0"/>
              </a:rPr>
              <a:t>Germany had a weak military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Arial" charset="0"/>
              </a:rPr>
              <a:t>		</a:t>
            </a:r>
            <a:r>
              <a:rPr lang="en-US" sz="2400" dirty="0" err="1">
                <a:latin typeface="Arial" charset="0"/>
              </a:rPr>
              <a:t>i</a:t>
            </a:r>
            <a:r>
              <a:rPr lang="en-US" sz="2400" dirty="0">
                <a:latin typeface="Arial" charset="0"/>
              </a:rPr>
              <a:t>.  100, 000 men </a:t>
            </a:r>
            <a:r>
              <a:rPr lang="en-US" sz="2400" dirty="0" smtClean="0">
                <a:latin typeface="Arial" charset="0"/>
              </a:rPr>
              <a:t> in the 	army</a:t>
            </a:r>
            <a:endParaRPr lang="en-US" sz="2400" dirty="0">
              <a:latin typeface="Arial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Arial" charset="0"/>
              </a:rPr>
              <a:t>		ii.  No air force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Arial" charset="0"/>
              </a:rPr>
              <a:t>		iii. No tanks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400" dirty="0">
                <a:latin typeface="Arial" charset="0"/>
              </a:rPr>
              <a:t>		iv. No battleships, U-boats, </a:t>
            </a:r>
            <a:r>
              <a:rPr lang="en-US" sz="2400" dirty="0" smtClean="0">
                <a:latin typeface="Arial" charset="0"/>
              </a:rPr>
              <a:t>	aircraft </a:t>
            </a:r>
            <a:r>
              <a:rPr lang="en-US" sz="2400" dirty="0">
                <a:latin typeface="Arial" charset="0"/>
              </a:rPr>
              <a:t>carriers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>
              <a:latin typeface="Arial" charset="0"/>
            </a:endParaRPr>
          </a:p>
        </p:txBody>
      </p:sp>
      <p:pic>
        <p:nvPicPr>
          <p:cNvPr id="19466" name="Picture 10" descr="nazi%20soldiers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47" r="11269" b="781"/>
          <a:stretch>
            <a:fillRect/>
          </a:stretch>
        </p:blipFill>
        <p:spPr bwMode="auto">
          <a:xfrm>
            <a:off x="5076825" y="1646238"/>
            <a:ext cx="3814763" cy="37290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013325"/>
            <a:ext cx="9144000" cy="1570038"/>
          </a:xfrm>
        </p:spPr>
        <p:txBody>
          <a:bodyPr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eaLnBrk="1" hangingPunct="1"/>
            <a:r>
              <a:rPr lang="en-US" sz="3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This was an outline of Hitler</a:t>
            </a:r>
            <a:r>
              <a:rPr lang="ja-JP" altLang="en-US" sz="3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’</a:t>
            </a:r>
            <a:r>
              <a:rPr lang="en-US" sz="3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s foreign policy aims, now we are </a:t>
            </a:r>
            <a:r>
              <a:rPr lang="en-US" sz="36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can </a:t>
            </a:r>
            <a:r>
              <a:rPr lang="en-US" sz="3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look at Hitler</a:t>
            </a:r>
            <a:r>
              <a:rPr lang="ja-JP" altLang="en-US" sz="3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’</a:t>
            </a:r>
            <a:r>
              <a:rPr lang="en-US" sz="3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s </a:t>
            </a:r>
            <a:r>
              <a:rPr lang="ja-JP" altLang="en-US" sz="3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‘</a:t>
            </a:r>
            <a:r>
              <a:rPr lang="en-US" sz="3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steps to war</a:t>
            </a:r>
            <a:r>
              <a:rPr lang="ja-JP" altLang="en-US" sz="3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’</a:t>
            </a:r>
            <a:r>
              <a:rPr lang="en-US" sz="36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.</a:t>
            </a:r>
          </a:p>
        </p:txBody>
      </p:sp>
      <p:pic>
        <p:nvPicPr>
          <p:cNvPr id="11267" name="Picture 6" descr="40-49%20german%20propaganda%2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88640"/>
            <a:ext cx="3960440" cy="40838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  <a:ex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xmlns:p14="http://schemas.microsoft.com/office/powerpoint/2010/main" spd="slow">
        <p:circle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483</Words>
  <Application>Microsoft Macintosh PowerPoint</Application>
  <PresentationFormat>On-screen Show (4:3)</PresentationFormat>
  <Paragraphs>46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Default Design</vt:lpstr>
      <vt:lpstr>Nazi Germany</vt:lpstr>
      <vt:lpstr>Foreign Policy Aims</vt:lpstr>
      <vt:lpstr>Foreign Policy Aims</vt:lpstr>
      <vt:lpstr>Foreign Policy Aims</vt:lpstr>
      <vt:lpstr>Foreign Policy Aims</vt:lpstr>
      <vt:lpstr>Foreign Policy Aims</vt:lpstr>
      <vt:lpstr>Foreign Policy Aims</vt:lpstr>
      <vt:lpstr>Foreign Policy Constraints</vt:lpstr>
      <vt:lpstr>Foreign Policy Constraints</vt:lpstr>
      <vt:lpstr>This was an outline of Hitler’s foreign policy aims, now we are can look at Hitler’s ‘steps to war’.</vt:lpstr>
    </vt:vector>
  </TitlesOfParts>
  <Company>Perth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Nazi Germany</dc:title>
  <dc:creator>Bethany</dc:creator>
  <cp:lastModifiedBy>Mike Turner</cp:lastModifiedBy>
  <cp:revision>19</cp:revision>
  <dcterms:created xsi:type="dcterms:W3CDTF">2006-10-22T02:01:35Z</dcterms:created>
  <dcterms:modified xsi:type="dcterms:W3CDTF">2012-10-29T03:33:56Z</dcterms:modified>
</cp:coreProperties>
</file>
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96" r:id="rId2"/>
    <p:sldMasterId id="2147483708" r:id="rId3"/>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CAE768-34FF-423A-9B4A-A0AB31D27116}" type="datetimeFigureOut">
              <a:rPr lang="en-AU" smtClean="0"/>
              <a:t>18/09/2019</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64413-6C5C-4FDB-823C-F521D60C6D00}" type="slidenum">
              <a:rPr lang="en-AU" smtClean="0"/>
              <a:t>‹#›</a:t>
            </a:fld>
            <a:endParaRPr lang="en-AU"/>
          </a:p>
        </p:txBody>
      </p:sp>
    </p:spTree>
    <p:extLst>
      <p:ext uri="{BB962C8B-B14F-4D97-AF65-F5344CB8AC3E}">
        <p14:creationId xmlns:p14="http://schemas.microsoft.com/office/powerpoint/2010/main" val="1155937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3027CA-3E6B-4A1B-B282-8B7DDF864D67}"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795885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8CCB509-663B-474A-8ADC-5072D9342776}"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A7C13B0F-315B-416A-A782-3F7ADC9E8D67}" type="slidenum">
              <a:rPr lang="en-AU" smtClean="0"/>
              <a:t>‹#›</a:t>
            </a:fld>
            <a:endParaRPr lang="en-AU"/>
          </a:p>
        </p:txBody>
      </p:sp>
    </p:spTree>
    <p:extLst>
      <p:ext uri="{BB962C8B-B14F-4D97-AF65-F5344CB8AC3E}">
        <p14:creationId xmlns:p14="http://schemas.microsoft.com/office/powerpoint/2010/main" val="2719865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CCB509-663B-474A-8ADC-5072D9342776}"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494934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98CCB509-663B-474A-8ADC-5072D9342776}" type="datetimeFigureOut">
              <a:rPr lang="en-AU" smtClean="0"/>
              <a:t>18/09/2019</a:t>
            </a:fld>
            <a:endParaRPr lang="en-AU"/>
          </a:p>
        </p:txBody>
      </p:sp>
      <p:sp>
        <p:nvSpPr>
          <p:cNvPr id="5" name="Footer Placeholder 4"/>
          <p:cNvSpPr>
            <a:spLocks noGrp="1"/>
          </p:cNvSpPr>
          <p:nvPr>
            <p:ph type="ftr" sz="quarter" idx="11"/>
          </p:nvPr>
        </p:nvSpPr>
        <p:spPr>
          <a:xfrm>
            <a:off x="2182708" y="6272784"/>
            <a:ext cx="6327648" cy="365125"/>
          </a:xfrm>
        </p:spPr>
        <p:txBody>
          <a:bodyPr/>
          <a:lstStyle/>
          <a:p>
            <a:endParaRPr lang="en-AU"/>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A7C13B0F-315B-416A-A782-3F7ADC9E8D67}" type="slidenum">
              <a:rPr lang="en-AU" smtClean="0"/>
              <a:t>‹#›</a:t>
            </a:fld>
            <a:endParaRPr lang="en-AU"/>
          </a:p>
        </p:txBody>
      </p:sp>
    </p:spTree>
    <p:extLst>
      <p:ext uri="{BB962C8B-B14F-4D97-AF65-F5344CB8AC3E}">
        <p14:creationId xmlns:p14="http://schemas.microsoft.com/office/powerpoint/2010/main" val="464583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8CCB509-663B-474A-8ADC-5072D9342776}"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1550682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8CCB509-663B-474A-8ADC-5072D9342776}" type="datetimeFigureOut">
              <a:rPr lang="en-AU" smtClean="0"/>
              <a:t>18/09/2019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278594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8CCB509-663B-474A-8ADC-5072D9342776}" type="datetimeFigureOut">
              <a:rPr lang="en-AU" smtClean="0"/>
              <a:t>18/09/2019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859523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CCB509-663B-474A-8ADC-5072D9342776}" type="datetimeFigureOut">
              <a:rPr lang="en-AU" smtClean="0"/>
              <a:t>18/09/2019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501197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8CCB509-663B-474A-8ADC-5072D9342776}"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956357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8CCB509-663B-474A-8ADC-5072D9342776}" type="datetimeFigureOut">
              <a:rPr lang="en-AU" smtClean="0"/>
              <a:t>18/09/2019</a:t>
            </a:fld>
            <a:endParaRPr lang="en-AU"/>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1489376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CCB509-663B-474A-8ADC-5072D9342776}"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1067550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CCB509-663B-474A-8ADC-5072D9342776}"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C13B0F-315B-416A-A782-3F7ADC9E8D67}" type="slidenum">
              <a:rPr lang="en-AU" smtClean="0"/>
              <a:t>‹#›</a:t>
            </a:fld>
            <a:endParaRPr lang="en-AU"/>
          </a:p>
        </p:txBody>
      </p:sp>
    </p:spTree>
    <p:extLst>
      <p:ext uri="{BB962C8B-B14F-4D97-AF65-F5344CB8AC3E}">
        <p14:creationId xmlns:p14="http://schemas.microsoft.com/office/powerpoint/2010/main" val="1224121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0241-553C-48EF-8543-99FE3E4C4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CA89CB0D-4FC6-46BE-A5D1-1EFEBE6FB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866D5E8-B1A9-4029-8DEE-876BEA661D6C}"/>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a:extLst>
              <a:ext uri="{FF2B5EF4-FFF2-40B4-BE49-F238E27FC236}">
                <a16:creationId xmlns:a16="http://schemas.microsoft.com/office/drawing/2014/main" id="{8351579C-043C-4378-A0E4-4BE4941776F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8FF6CB8-582E-416C-BC46-B3AAA2C78E64}"/>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33051681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EAB0B-302C-40AA-8862-B26DB708424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7828E61-74EE-403A-B5FB-1F6D6679238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FFE130E-A486-4998-AF34-871657B72471}"/>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a:extLst>
              <a:ext uri="{FF2B5EF4-FFF2-40B4-BE49-F238E27FC236}">
                <a16:creationId xmlns:a16="http://schemas.microsoft.com/office/drawing/2014/main" id="{59A2EDB0-AD26-4128-971F-A0688220C5A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299ACBF-AEB1-4ECC-A4DC-29CA8B499CF1}"/>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1786187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B258-D5AF-4A7E-AF4E-3B948E70E1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B626973-331D-4407-8796-3AA2572777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40A9E2-3538-4ED1-88D5-DF3CFF49E40C}"/>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a:extLst>
              <a:ext uri="{FF2B5EF4-FFF2-40B4-BE49-F238E27FC236}">
                <a16:creationId xmlns:a16="http://schemas.microsoft.com/office/drawing/2014/main" id="{20E0E940-3EB8-4342-9E3D-28F3092F452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AC0942B-032D-46AE-AB5C-FC36ECA81D15}"/>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2887804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36C07-5B9C-42D2-8A44-256B54ECF99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48BC255-01AD-4FEA-8E53-3CABC287EB1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C3687A5-9A72-4CB8-A845-BC834C1C6A0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80AD546-9E9E-439D-A432-5EBB44918080}"/>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6" name="Footer Placeholder 5">
            <a:extLst>
              <a:ext uri="{FF2B5EF4-FFF2-40B4-BE49-F238E27FC236}">
                <a16:creationId xmlns:a16="http://schemas.microsoft.com/office/drawing/2014/main" id="{D1E25E0B-4D57-468E-B7EC-3A3950A6E68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143B3F0-18D1-4DCA-BC0C-82A4A012D029}"/>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3284099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39AA2-A032-4CAC-BE54-7B367C341721}"/>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EA88C39-3308-4F78-87B5-055F65AAFB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014641-06D7-4360-9DBB-78005916C97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C06D69B-3D0E-40E8-A495-3298AD03EB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38C290F-5515-48E2-9107-74E700C89A4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D73AD7B9-32B0-449B-84FD-45EA671C0480}"/>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8" name="Footer Placeholder 7">
            <a:extLst>
              <a:ext uri="{FF2B5EF4-FFF2-40B4-BE49-F238E27FC236}">
                <a16:creationId xmlns:a16="http://schemas.microsoft.com/office/drawing/2014/main" id="{FF7CC0A5-4D7A-4806-A11F-9BB0A946C7F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52CC99C-B889-49A5-BFA3-0978EFA002D6}"/>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2066263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E7F3-D86E-4DE4-8C42-7B239EC36FE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DC09663-40EA-4580-9B56-658B3C445958}"/>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4" name="Footer Placeholder 3">
            <a:extLst>
              <a:ext uri="{FF2B5EF4-FFF2-40B4-BE49-F238E27FC236}">
                <a16:creationId xmlns:a16="http://schemas.microsoft.com/office/drawing/2014/main" id="{8B0E1FA7-3D72-4B19-9467-DFFA9830EC4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7E75DB8-502E-4E0E-A708-79F5E85BCA6D}"/>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4017360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B88AE3-F8C9-4A0E-942D-C79DDA8F6D7A}"/>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3" name="Footer Placeholder 2">
            <a:extLst>
              <a:ext uri="{FF2B5EF4-FFF2-40B4-BE49-F238E27FC236}">
                <a16:creationId xmlns:a16="http://schemas.microsoft.com/office/drawing/2014/main" id="{2980D150-E231-45B9-855A-E6FAC2B0359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349A2AB-042B-4D8C-AA14-AD0993DD941F}"/>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349624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5708D-CCC4-4883-90DD-834A13395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9277D28-FE0D-4397-B787-72046E5F59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E2217E9-0C1A-43B9-8B05-706A11743C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A99520A-BDAF-4F83-ABCB-7AF6FE5C1448}"/>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6" name="Footer Placeholder 5">
            <a:extLst>
              <a:ext uri="{FF2B5EF4-FFF2-40B4-BE49-F238E27FC236}">
                <a16:creationId xmlns:a16="http://schemas.microsoft.com/office/drawing/2014/main" id="{E89B1E1C-9AFB-4BBB-ABF2-9BEACFFF13C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C483402-A3AD-4B7D-BE2A-25036CD8937B}"/>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1989028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048E1-52B5-4700-998A-3A2A08536C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6FAB352-3EDB-4187-8087-57581D7933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EAE7F0C-FFDB-45CD-B4F5-ACF14300D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27ABFF2-6CA7-4A01-91EF-1AD6FF390BFB}"/>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6" name="Footer Placeholder 5">
            <a:extLst>
              <a:ext uri="{FF2B5EF4-FFF2-40B4-BE49-F238E27FC236}">
                <a16:creationId xmlns:a16="http://schemas.microsoft.com/office/drawing/2014/main" id="{998FF3BB-F384-4470-8FC6-B77E44957F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D668D5C-EE84-48CF-B946-F17C36EC3C33}"/>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27066073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F4C9-81A0-457C-A171-08605E8EA7F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5568EE2-B8FF-4E85-9645-00B395C90C5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A8EA2D5-4351-42D3-A8E6-06FF871904D2}"/>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a:extLst>
              <a:ext uri="{FF2B5EF4-FFF2-40B4-BE49-F238E27FC236}">
                <a16:creationId xmlns:a16="http://schemas.microsoft.com/office/drawing/2014/main" id="{F036DB1D-9983-4F59-9404-57ADAB6F615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931B973-1BF8-497A-96B7-FB0E8B9DE90C}"/>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35462989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94C264-82F4-4E42-8D95-17343CB030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2DF3A3D-D734-41A5-B0AF-314F8FAAEC3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1D5C8A1-7B36-4CEF-A2FE-B4F45B9EFA05}"/>
              </a:ext>
            </a:extLst>
          </p:cNvPr>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a:extLst>
              <a:ext uri="{FF2B5EF4-FFF2-40B4-BE49-F238E27FC236}">
                <a16:creationId xmlns:a16="http://schemas.microsoft.com/office/drawing/2014/main" id="{F618E1F9-2728-41AE-ABBD-52ABC5F841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9065E32-500B-4BFA-8976-600F220D66A4}"/>
              </a:ext>
            </a:extLst>
          </p:cNvPr>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26158627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A8887642-6112-4FC9-AE99-E12F2ED18C18}" type="datetimeFigureOut">
              <a:rPr lang="en-AU" smtClean="0"/>
              <a:t>18/09/2019</a:t>
            </a:fld>
            <a:endParaRPr lang="en-AU"/>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D57ACB5-2C2D-475B-AA81-349C93CB91AF}"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60856015"/>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9822333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D57ACB5-2C2D-475B-AA81-349C93CB91AF}"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703487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887642-6112-4FC9-AE99-E12F2ED18C18}"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17462176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887642-6112-4FC9-AE99-E12F2ED18C18}" type="datetimeFigureOut">
              <a:rPr lang="en-AU" smtClean="0"/>
              <a:t>18/09/2019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1809319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8887642-6112-4FC9-AE99-E12F2ED18C18}" type="datetimeFigureOut">
              <a:rPr lang="en-AU" smtClean="0"/>
              <a:t>18/09/2019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2099669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887642-6112-4FC9-AE99-E12F2ED18C18}" type="datetimeFigureOut">
              <a:rPr lang="en-AU" smtClean="0"/>
              <a:t>18/09/2019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19559868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887642-6112-4FC9-AE99-E12F2ED18C18}"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18146527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887642-6112-4FC9-AE99-E12F2ED18C18}"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29164925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164562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887642-6112-4FC9-AE99-E12F2ED18C18}"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D57ACB5-2C2D-475B-AA81-349C93CB91AF}" type="slidenum">
              <a:rPr lang="en-AU" smtClean="0"/>
              <a:t>‹#›</a:t>
            </a:fld>
            <a:endParaRPr lang="en-AU"/>
          </a:p>
        </p:txBody>
      </p:sp>
    </p:spTree>
    <p:extLst>
      <p:ext uri="{BB962C8B-B14F-4D97-AF65-F5344CB8AC3E}">
        <p14:creationId xmlns:p14="http://schemas.microsoft.com/office/powerpoint/2010/main" val="3077963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8CCB509-663B-474A-8ADC-5072D9342776}" type="datetimeFigureOut">
              <a:rPr lang="en-AU" smtClean="0"/>
              <a:t>18/09/2019</a:t>
            </a:fld>
            <a:endParaRPr lang="en-AU"/>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AU"/>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A7C13B0F-315B-416A-A782-3F7ADC9E8D67}" type="slidenum">
              <a:rPr lang="en-AU" smtClean="0"/>
              <a:t>‹#›</a:t>
            </a:fld>
            <a:endParaRPr lang="en-AU"/>
          </a:p>
        </p:txBody>
      </p:sp>
    </p:spTree>
    <p:extLst>
      <p:ext uri="{BB962C8B-B14F-4D97-AF65-F5344CB8AC3E}">
        <p14:creationId xmlns:p14="http://schemas.microsoft.com/office/powerpoint/2010/main" val="37367117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5000" r="-5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F492B0-2B6F-4509-926F-4ECF448F1D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D86400E-64DC-4C60-B273-D6A78C4F25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32DB086-1046-4CDF-937D-4A5B6D48A0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887642-6112-4FC9-AE99-E12F2ED18C18}" type="datetimeFigureOut">
              <a:rPr lang="en-AU" smtClean="0"/>
              <a:t>18/09/2019</a:t>
            </a:fld>
            <a:endParaRPr lang="en-AU"/>
          </a:p>
        </p:txBody>
      </p:sp>
      <p:sp>
        <p:nvSpPr>
          <p:cNvPr id="5" name="Footer Placeholder 4">
            <a:extLst>
              <a:ext uri="{FF2B5EF4-FFF2-40B4-BE49-F238E27FC236}">
                <a16:creationId xmlns:a16="http://schemas.microsoft.com/office/drawing/2014/main" id="{EE0CFD88-02F0-42E6-B333-B512531FF7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9CFCA53-D64A-4365-874D-A0838F8DB3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57ACB5-2C2D-475B-AA81-349C93CB91AF}" type="slidenum">
              <a:rPr lang="en-AU" smtClean="0"/>
              <a:t>‹#›</a:t>
            </a:fld>
            <a:endParaRPr lang="en-AU"/>
          </a:p>
        </p:txBody>
      </p:sp>
    </p:spTree>
    <p:extLst>
      <p:ext uri="{BB962C8B-B14F-4D97-AF65-F5344CB8AC3E}">
        <p14:creationId xmlns:p14="http://schemas.microsoft.com/office/powerpoint/2010/main" val="37849857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A8887642-6112-4FC9-AE99-E12F2ED18C18}" type="datetimeFigureOut">
              <a:rPr lang="en-AU" smtClean="0"/>
              <a:t>18/09/2019</a:t>
            </a:fld>
            <a:endParaRPr lang="en-A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A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D57ACB5-2C2D-475B-AA81-349C93CB91AF}" type="slidenum">
              <a:rPr lang="en-AU" smtClean="0"/>
              <a:t>‹#›</a:t>
            </a:fld>
            <a:endParaRPr lang="en-AU"/>
          </a:p>
        </p:txBody>
      </p:sp>
    </p:spTree>
    <p:extLst>
      <p:ext uri="{BB962C8B-B14F-4D97-AF65-F5344CB8AC3E}">
        <p14:creationId xmlns:p14="http://schemas.microsoft.com/office/powerpoint/2010/main" val="22457058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413019"/>
          </a:xfrm>
        </p:spPr>
        <p:txBody>
          <a:bodyPr/>
          <a:lstStyle/>
          <a:p>
            <a:r>
              <a:rPr lang="en-AU" dirty="0" smtClean="0"/>
              <a:t>Legacy of Nazism</a:t>
            </a:r>
            <a:endParaRPr lang="en-AU" dirty="0"/>
          </a:p>
        </p:txBody>
      </p:sp>
      <p:sp>
        <p:nvSpPr>
          <p:cNvPr id="3" name="Subtitle 2"/>
          <p:cNvSpPr>
            <a:spLocks noGrp="1"/>
          </p:cNvSpPr>
          <p:nvPr>
            <p:ph type="subTitle" idx="1"/>
          </p:nvPr>
        </p:nvSpPr>
        <p:spPr>
          <a:xfrm>
            <a:off x="1069848" y="4389119"/>
            <a:ext cx="7891272" cy="2227811"/>
          </a:xfrm>
        </p:spPr>
        <p:txBody>
          <a:bodyPr>
            <a:normAutofit/>
          </a:bodyPr>
          <a:lstStyle/>
          <a:p>
            <a:pPr algn="l"/>
            <a:r>
              <a:rPr lang="en-AU" dirty="0" smtClean="0"/>
              <a:t>Aftermath of WWII</a:t>
            </a:r>
          </a:p>
          <a:p>
            <a:pPr algn="l"/>
            <a:r>
              <a:rPr lang="en-AU" dirty="0" smtClean="0"/>
              <a:t>Germany after Hitler</a:t>
            </a:r>
          </a:p>
          <a:p>
            <a:pPr algn="l"/>
            <a:r>
              <a:rPr lang="en-AU" dirty="0" smtClean="0"/>
              <a:t>United Nations establishment</a:t>
            </a:r>
            <a:endParaRPr lang="de-DE" dirty="0" smtClean="0"/>
          </a:p>
          <a:p>
            <a:pPr algn="l"/>
            <a:r>
              <a:rPr lang="de-DE" dirty="0" smtClean="0"/>
              <a:t>Nuremburg Trials and Nazi Hunters</a:t>
            </a:r>
            <a:endParaRPr lang="en-AU" dirty="0"/>
          </a:p>
        </p:txBody>
      </p:sp>
    </p:spTree>
    <p:extLst>
      <p:ext uri="{BB962C8B-B14F-4D97-AF65-F5344CB8AC3E}">
        <p14:creationId xmlns:p14="http://schemas.microsoft.com/office/powerpoint/2010/main" val="2188568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Aftermath of WW2</a:t>
            </a:r>
            <a:endParaRPr lang="en-AU" dirty="0"/>
          </a:p>
        </p:txBody>
      </p:sp>
      <p:sp>
        <p:nvSpPr>
          <p:cNvPr id="3" name="Content Placeholder 2"/>
          <p:cNvSpPr>
            <a:spLocks noGrp="1"/>
          </p:cNvSpPr>
          <p:nvPr>
            <p:ph idx="1"/>
          </p:nvPr>
        </p:nvSpPr>
        <p:spPr>
          <a:xfrm>
            <a:off x="1069848" y="1872026"/>
            <a:ext cx="10058400" cy="4050792"/>
          </a:xfrm>
        </p:spPr>
        <p:txBody>
          <a:bodyPr/>
          <a:lstStyle/>
          <a:p>
            <a:pPr marL="0" indent="0">
              <a:lnSpc>
                <a:spcPct val="150000"/>
              </a:lnSpc>
              <a:buNone/>
            </a:pPr>
            <a:r>
              <a:rPr lang="en-AU" dirty="0"/>
              <a:t>Germany had occupied much of Europe during World War II. Many of the countries in the west returned to the same governments and borders they had prior to the war. However, Germany was divided up into Eastern and Western Germany. The Eastern part was controlled by the USSR (Russia) and the Western part by the Allies</a:t>
            </a:r>
            <a:r>
              <a:rPr lang="en-AU" dirty="0" smtClean="0"/>
              <a:t>.</a:t>
            </a:r>
            <a:endParaRPr lang="en-AU" dirty="0"/>
          </a:p>
        </p:txBody>
      </p:sp>
      <p:pic>
        <p:nvPicPr>
          <p:cNvPr id="3074" name="Picture 2" descr="Image result for aftermath ww2 german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8971" y="4081549"/>
            <a:ext cx="3418879" cy="2564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139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germany after ww2 east and west german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987" y="150278"/>
            <a:ext cx="8568055" cy="6426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959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Berlin Wall</a:t>
            </a:r>
            <a:endParaRPr lang="en-AU" dirty="0"/>
          </a:p>
        </p:txBody>
      </p:sp>
      <p:sp>
        <p:nvSpPr>
          <p:cNvPr id="3" name="Content Placeholder 2"/>
          <p:cNvSpPr>
            <a:spLocks noGrp="1"/>
          </p:cNvSpPr>
          <p:nvPr>
            <p:ph idx="1"/>
          </p:nvPr>
        </p:nvSpPr>
        <p:spPr>
          <a:xfrm>
            <a:off x="504582" y="2312600"/>
            <a:ext cx="6203788" cy="4050792"/>
          </a:xfrm>
        </p:spPr>
        <p:txBody>
          <a:bodyPr>
            <a:normAutofit fontScale="92500" lnSpcReduction="20000"/>
          </a:bodyPr>
          <a:lstStyle/>
          <a:p>
            <a:pPr marL="0" indent="0">
              <a:lnSpc>
                <a:spcPct val="150000"/>
              </a:lnSpc>
              <a:buNone/>
            </a:pPr>
            <a:r>
              <a:rPr lang="en-AU" dirty="0"/>
              <a:t>On August 13, 1961, the Communist government of the German Democratic Republic (GDR, or East Germany) began to build a barbed wire and concrete “</a:t>
            </a:r>
            <a:r>
              <a:rPr lang="en-AU" dirty="0" err="1"/>
              <a:t>Antifascistischer</a:t>
            </a:r>
            <a:r>
              <a:rPr lang="en-AU" dirty="0"/>
              <a:t> </a:t>
            </a:r>
            <a:r>
              <a:rPr lang="en-AU" dirty="0" err="1"/>
              <a:t>Schutzwall</a:t>
            </a:r>
            <a:r>
              <a:rPr lang="en-AU" dirty="0"/>
              <a:t>,” or “antifascist bulwark,” between East and West Berlin. The official purpose of this Berlin Wall was to keep Western “fascists” from entering East Germany and undermining the socialist state, but it primarily served the objective of stemming mass defections from East to West. The Berlin Wall stood until November 9, </a:t>
            </a:r>
            <a:r>
              <a:rPr lang="en-AU" dirty="0" smtClean="0"/>
              <a:t>1989.</a:t>
            </a:r>
            <a:endParaRPr lang="en-AU" dirty="0"/>
          </a:p>
        </p:txBody>
      </p:sp>
      <p:pic>
        <p:nvPicPr>
          <p:cNvPr id="2050" name="Picture 2" descr="Image result for berlin 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8179" y="675824"/>
            <a:ext cx="4516530" cy="2540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8825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328" y="118872"/>
            <a:ext cx="10058400" cy="1609344"/>
          </a:xfrm>
        </p:spPr>
        <p:txBody>
          <a:bodyPr/>
          <a:lstStyle/>
          <a:p>
            <a:r>
              <a:rPr lang="en-AU" dirty="0" smtClean="0"/>
              <a:t>Germany after Hitler - denazification</a:t>
            </a:r>
            <a:endParaRPr lang="en-AU" dirty="0"/>
          </a:p>
        </p:txBody>
      </p:sp>
      <p:sp>
        <p:nvSpPr>
          <p:cNvPr id="3" name="Content Placeholder 2"/>
          <p:cNvSpPr>
            <a:spLocks noGrp="1"/>
          </p:cNvSpPr>
          <p:nvPr>
            <p:ph idx="1"/>
          </p:nvPr>
        </p:nvSpPr>
        <p:spPr>
          <a:xfrm>
            <a:off x="338328" y="1728216"/>
            <a:ext cx="11590436" cy="4880402"/>
          </a:xfrm>
        </p:spPr>
        <p:txBody>
          <a:bodyPr>
            <a:normAutofit fontScale="62500" lnSpcReduction="20000"/>
          </a:bodyPr>
          <a:lstStyle/>
          <a:p>
            <a:pPr>
              <a:lnSpc>
                <a:spcPct val="170000"/>
              </a:lnSpc>
            </a:pPr>
            <a:r>
              <a:rPr lang="en-AU" dirty="0" smtClean="0"/>
              <a:t>Allies rid </a:t>
            </a:r>
            <a:r>
              <a:rPr lang="en-AU" dirty="0"/>
              <a:t>German and Austrian society, culture, press, economy, judiciary, and politics of the National Socialist ideology (Nazism). It was carried out by removing those who had been Nazi Party or SS members from positions of power and influence and by disbanding or rendering impotent the organizations associated with Nazism</a:t>
            </a:r>
            <a:r>
              <a:rPr lang="en-AU" dirty="0" smtClean="0"/>
              <a:t>.</a:t>
            </a:r>
          </a:p>
          <a:p>
            <a:pPr>
              <a:lnSpc>
                <a:spcPct val="170000"/>
              </a:lnSpc>
            </a:pPr>
            <a:r>
              <a:rPr lang="en-AU" dirty="0"/>
              <a:t>Germany, much of Europe and Russia lay in ruins following Hitler's war, the most destructive conflict in the history of humanity, in which 54 million persons had perished – with more civilians killed than combatants – while another 60 million civilians had been uprooted from their homes or seen them destroyed</a:t>
            </a:r>
            <a:r>
              <a:rPr lang="en-AU" dirty="0" smtClean="0"/>
              <a:t>.</a:t>
            </a:r>
            <a:endParaRPr lang="en-AU" dirty="0"/>
          </a:p>
          <a:p>
            <a:pPr>
              <a:lnSpc>
                <a:spcPct val="170000"/>
              </a:lnSpc>
            </a:pPr>
            <a:r>
              <a:rPr lang="en-AU" dirty="0"/>
              <a:t>The immediate </a:t>
            </a:r>
            <a:r>
              <a:rPr lang="en-AU" dirty="0" smtClean="0"/>
              <a:t>post-war </a:t>
            </a:r>
            <a:r>
              <a:rPr lang="en-AU" dirty="0"/>
              <a:t>problem for the victorious Allies in Germany was coping with the eleven million displaced persons (DPs) now wandering around. This included people from all over Europe and Russia who had been slave </a:t>
            </a:r>
            <a:r>
              <a:rPr lang="en-AU" dirty="0" err="1"/>
              <a:t>laborers</a:t>
            </a:r>
            <a:r>
              <a:rPr lang="en-AU" dirty="0"/>
              <a:t>, military conscripts, prisoners of war, and concentration camp inmates, including about 100,000 Jews who had survived the Final Solution</a:t>
            </a:r>
            <a:r>
              <a:rPr lang="en-AU" dirty="0" smtClean="0"/>
              <a:t>.</a:t>
            </a:r>
            <a:endParaRPr lang="en-AU" dirty="0"/>
          </a:p>
          <a:p>
            <a:pPr>
              <a:lnSpc>
                <a:spcPct val="170000"/>
              </a:lnSpc>
            </a:pPr>
            <a:r>
              <a:rPr lang="en-AU" dirty="0"/>
              <a:t>Upon regaining their health, many of the Jews returned home, trying in vain to locate family members. In some cases, they found former </a:t>
            </a:r>
            <a:r>
              <a:rPr lang="en-AU" dirty="0" err="1"/>
              <a:t>neighbors</a:t>
            </a:r>
            <a:r>
              <a:rPr lang="en-AU" dirty="0"/>
              <a:t> now inhabiting their homes and shops. The new occupants soon made it clear they wished the Jews had never returned. Elsewhere, particularly in Eastern Europe, people lashed out at the returning Jews and hundreds were killed. As a result, the displaced Jews headed back to Germany and took refuge in American DP Camps, while they considered leaving Europe altogether and relocating to the historic Jewish homeland in the Middle East, an epic saga that would eventually lead to the founding of Israel.</a:t>
            </a:r>
          </a:p>
        </p:txBody>
      </p:sp>
    </p:spTree>
    <p:extLst>
      <p:ext uri="{BB962C8B-B14F-4D97-AF65-F5344CB8AC3E}">
        <p14:creationId xmlns:p14="http://schemas.microsoft.com/office/powerpoint/2010/main" val="2189600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423971"/>
            <a:ext cx="10058400" cy="1609344"/>
          </a:xfrm>
        </p:spPr>
        <p:txBody>
          <a:bodyPr>
            <a:normAutofit fontScale="90000"/>
          </a:bodyPr>
          <a:lstStyle/>
          <a:p>
            <a:r>
              <a:rPr lang="en-AU" dirty="0" smtClean="0"/>
              <a:t>“The most horrible crime ever committed in the whole history of the world”</a:t>
            </a:r>
            <a:endParaRPr lang="en-AU" dirty="0"/>
          </a:p>
        </p:txBody>
      </p:sp>
      <p:sp>
        <p:nvSpPr>
          <p:cNvPr id="3" name="Content Placeholder 2"/>
          <p:cNvSpPr>
            <a:spLocks noGrp="1"/>
          </p:cNvSpPr>
          <p:nvPr>
            <p:ph idx="1"/>
          </p:nvPr>
        </p:nvSpPr>
        <p:spPr>
          <a:xfrm>
            <a:off x="1069848" y="5303520"/>
            <a:ext cx="10058400" cy="868680"/>
          </a:xfrm>
        </p:spPr>
        <p:txBody>
          <a:bodyPr/>
          <a:lstStyle/>
          <a:p>
            <a:pPr marL="0" indent="0">
              <a:buNone/>
            </a:pPr>
            <a:r>
              <a:rPr lang="en-AU" dirty="0" smtClean="0"/>
              <a:t>How do we ensure this never happens again?</a:t>
            </a:r>
            <a:endParaRPr lang="en-AU" dirty="0"/>
          </a:p>
        </p:txBody>
      </p:sp>
    </p:spTree>
    <p:extLst>
      <p:ext uri="{BB962C8B-B14F-4D97-AF65-F5344CB8AC3E}">
        <p14:creationId xmlns:p14="http://schemas.microsoft.com/office/powerpoint/2010/main" val="2125160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89219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9D0D6A50-9BA8-4FCE-8CD7-50D3BE4E47F4}"/>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l="18745" r="19174" b="-3"/>
          <a:stretch/>
        </p:blipFill>
        <p:spPr>
          <a:xfrm>
            <a:off x="5797543" y="10"/>
            <a:ext cx="6394152" cy="6857990"/>
          </a:xfrm>
          <a:prstGeom prst="rect">
            <a:avLst/>
          </a:prstGeom>
        </p:spPr>
      </p:pic>
      <p:pic>
        <p:nvPicPr>
          <p:cNvPr id="13" name="Picture 12">
            <a:extLst>
              <a:ext uri="{FF2B5EF4-FFF2-40B4-BE49-F238E27FC236}">
                <a16:creationId xmlns:a16="http://schemas.microsoft.com/office/drawing/2014/main" id="{54DDEBDD-D8BD-41A6-8A0D-B00E3768B0F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a:extLst>
              <a:ext uri="{FF2B5EF4-FFF2-40B4-BE49-F238E27FC236}">
                <a16:creationId xmlns:a16="http://schemas.microsoft.com/office/drawing/2014/main" id="{DA2494F4-592A-4516-86EC-E2DD54531F12}"/>
              </a:ext>
            </a:extLst>
          </p:cNvPr>
          <p:cNvSpPr>
            <a:spLocks noGrp="1"/>
          </p:cNvSpPr>
          <p:nvPr>
            <p:ph type="title"/>
          </p:nvPr>
        </p:nvSpPr>
        <p:spPr>
          <a:xfrm>
            <a:off x="190500" y="0"/>
            <a:ext cx="4803636" cy="1814687"/>
          </a:xfrm>
        </p:spPr>
        <p:txBody>
          <a:bodyPr>
            <a:normAutofit/>
          </a:bodyPr>
          <a:lstStyle/>
          <a:p>
            <a:r>
              <a:rPr lang="en-AU" dirty="0">
                <a:solidFill>
                  <a:srgbClr val="000000"/>
                </a:solidFill>
              </a:rPr>
              <a:t>The United Nations (UN)</a:t>
            </a:r>
          </a:p>
        </p:txBody>
      </p:sp>
      <p:sp>
        <p:nvSpPr>
          <p:cNvPr id="10" name="Content Placeholder 9">
            <a:extLst>
              <a:ext uri="{FF2B5EF4-FFF2-40B4-BE49-F238E27FC236}">
                <a16:creationId xmlns:a16="http://schemas.microsoft.com/office/drawing/2014/main" id="{16B977FA-B260-460A-BBC2-C69D8F1A3BA4}"/>
              </a:ext>
            </a:extLst>
          </p:cNvPr>
          <p:cNvSpPr>
            <a:spLocks noGrp="1"/>
          </p:cNvSpPr>
          <p:nvPr>
            <p:ph idx="1"/>
          </p:nvPr>
        </p:nvSpPr>
        <p:spPr>
          <a:xfrm>
            <a:off x="190500" y="1677720"/>
            <a:ext cx="5905500" cy="4797895"/>
          </a:xfrm>
        </p:spPr>
        <p:txBody>
          <a:bodyPr anchor="ctr">
            <a:noAutofit/>
          </a:bodyPr>
          <a:lstStyle/>
          <a:p>
            <a:pPr marL="0" indent="0">
              <a:buNone/>
            </a:pPr>
            <a:r>
              <a:rPr lang="en-US" sz="2400" dirty="0">
                <a:solidFill>
                  <a:srgbClr val="000000"/>
                </a:solidFill>
              </a:rPr>
              <a:t>T</a:t>
            </a:r>
            <a:r>
              <a:rPr lang="en-US" sz="2400" dirty="0" smtClean="0">
                <a:solidFill>
                  <a:srgbClr val="000000"/>
                </a:solidFill>
              </a:rPr>
              <a:t>asked </a:t>
            </a:r>
            <a:r>
              <a:rPr lang="en-US" sz="2400" dirty="0">
                <a:solidFill>
                  <a:srgbClr val="000000"/>
                </a:solidFill>
              </a:rPr>
              <a:t>to promote international co-operation. </a:t>
            </a:r>
          </a:p>
          <a:p>
            <a:pPr marL="0" indent="0">
              <a:buNone/>
            </a:pPr>
            <a:endParaRPr lang="en-US" sz="2400" dirty="0">
              <a:solidFill>
                <a:srgbClr val="000000"/>
              </a:solidFill>
            </a:endParaRPr>
          </a:p>
          <a:p>
            <a:pPr marL="0" indent="0">
              <a:buNone/>
            </a:pPr>
            <a:r>
              <a:rPr lang="en-US" sz="2400" dirty="0">
                <a:solidFill>
                  <a:srgbClr val="000000"/>
                </a:solidFill>
              </a:rPr>
              <a:t>It was created as a replacement for the ineffective League of Nations.</a:t>
            </a:r>
          </a:p>
          <a:p>
            <a:pPr marL="0" indent="0">
              <a:buNone/>
            </a:pPr>
            <a:endParaRPr lang="en-US" sz="2400" dirty="0">
              <a:solidFill>
                <a:srgbClr val="000000"/>
              </a:solidFill>
            </a:endParaRPr>
          </a:p>
          <a:p>
            <a:pPr marL="0" indent="0">
              <a:buNone/>
            </a:pPr>
            <a:r>
              <a:rPr lang="en-US" sz="2400" dirty="0">
                <a:solidFill>
                  <a:srgbClr val="000000"/>
                </a:solidFill>
              </a:rPr>
              <a:t>The UN was established on 24 October 1945 after World War II with the aim of preventing another such conflict. </a:t>
            </a:r>
            <a:endParaRPr lang="en-US" sz="2400" dirty="0" smtClean="0">
              <a:solidFill>
                <a:srgbClr val="000000"/>
              </a:solidFill>
            </a:endParaRPr>
          </a:p>
          <a:p>
            <a:pPr marL="0" indent="0">
              <a:buNone/>
            </a:pPr>
            <a:endParaRPr lang="en-US" sz="2400" dirty="0">
              <a:solidFill>
                <a:srgbClr val="000000"/>
              </a:solidFill>
            </a:endParaRPr>
          </a:p>
          <a:p>
            <a:pPr marL="0" indent="0">
              <a:buNone/>
            </a:pPr>
            <a:r>
              <a:rPr lang="en-US" sz="2400" dirty="0" smtClean="0">
                <a:solidFill>
                  <a:srgbClr val="000000"/>
                </a:solidFill>
              </a:rPr>
              <a:t>Universal Declaration of Human Rights (1948)</a:t>
            </a:r>
            <a:endParaRPr lang="en-US" sz="2400" dirty="0">
              <a:solidFill>
                <a:srgbClr val="000000"/>
              </a:solidFill>
            </a:endParaRPr>
          </a:p>
          <a:p>
            <a:pPr marL="0" indent="0">
              <a:buNone/>
            </a:pPr>
            <a:endParaRPr lang="en-US" sz="2400" dirty="0">
              <a:solidFill>
                <a:srgbClr val="000000"/>
              </a:solidFill>
            </a:endParaRPr>
          </a:p>
        </p:txBody>
      </p:sp>
    </p:spTree>
    <p:extLst>
      <p:ext uri="{BB962C8B-B14F-4D97-AF65-F5344CB8AC3E}">
        <p14:creationId xmlns:p14="http://schemas.microsoft.com/office/powerpoint/2010/main" val="3276604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184" y="191192"/>
            <a:ext cx="9692640" cy="929077"/>
          </a:xfrm>
        </p:spPr>
        <p:txBody>
          <a:bodyPr/>
          <a:lstStyle/>
          <a:p>
            <a:r>
              <a:rPr lang="en-AU" dirty="0" smtClean="0"/>
              <a:t>The Nuremburg war crimes trials</a:t>
            </a:r>
            <a:endParaRPr lang="en-AU" dirty="0"/>
          </a:p>
        </p:txBody>
      </p:sp>
      <p:sp>
        <p:nvSpPr>
          <p:cNvPr id="3" name="Content Placeholder 2"/>
          <p:cNvSpPr>
            <a:spLocks noGrp="1"/>
          </p:cNvSpPr>
          <p:nvPr>
            <p:ph idx="1"/>
          </p:nvPr>
        </p:nvSpPr>
        <p:spPr>
          <a:xfrm>
            <a:off x="208925" y="1468582"/>
            <a:ext cx="10985547" cy="4351337"/>
          </a:xfrm>
        </p:spPr>
        <p:txBody>
          <a:bodyPr/>
          <a:lstStyle/>
          <a:p>
            <a:r>
              <a:rPr lang="en-AU" dirty="0" smtClean="0"/>
              <a:t>When the war was over the Allies put leading Nazis on trial.</a:t>
            </a:r>
          </a:p>
          <a:p>
            <a:r>
              <a:rPr lang="en-AU" dirty="0" smtClean="0"/>
              <a:t>Hitler and several other high ranking Nazis had already committed suicide.</a:t>
            </a:r>
          </a:p>
          <a:p>
            <a:r>
              <a:rPr lang="en-AU" dirty="0" smtClean="0"/>
              <a:t>Ribbentrop (Hitler’s Foreign </a:t>
            </a:r>
            <a:r>
              <a:rPr lang="en-AU" dirty="0"/>
              <a:t>M</a:t>
            </a:r>
            <a:r>
              <a:rPr lang="en-AU" dirty="0" smtClean="0"/>
              <a:t>inister), Rosenberg (Minister for Occupied Territories), Goering (Commander of the Luftwaffe, Economics Minister) all condemned to death…although Goering committed suicide the day before he was to be hanged.</a:t>
            </a:r>
          </a:p>
          <a:p>
            <a:r>
              <a:rPr lang="en-AU" dirty="0" smtClean="0"/>
              <a:t>Adolf Eichmann, who played a leading role in the Holocaust, was captured by Israeli agents in Argentina in 1960, was tried in Israel and hanged in 1962</a:t>
            </a:r>
            <a:r>
              <a:rPr lang="en-AU" dirty="0" smtClean="0"/>
              <a:t>.</a:t>
            </a:r>
          </a:p>
          <a:p>
            <a:r>
              <a:rPr lang="en-AU" dirty="0" smtClean="0"/>
              <a:t>Nazi Hunters were tasked with finding leading Nazis.</a:t>
            </a:r>
            <a:endParaRPr lang="en-AU" dirty="0"/>
          </a:p>
        </p:txBody>
      </p:sp>
      <p:pic>
        <p:nvPicPr>
          <p:cNvPr id="3074" name="Picture 2" descr="Image result for nuremberg tri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3171" y="4082360"/>
            <a:ext cx="4653684" cy="2617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4160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19</TotalTime>
  <Words>666</Words>
  <Application>Microsoft Office PowerPoint</Application>
  <PresentationFormat>Widescreen</PresentationFormat>
  <Paragraphs>31</Paragraphs>
  <Slides>9</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9</vt:i4>
      </vt:variant>
    </vt:vector>
  </HeadingPairs>
  <TitlesOfParts>
    <vt:vector size="20" baseType="lpstr">
      <vt:lpstr>Arial</vt:lpstr>
      <vt:lpstr>Calibri</vt:lpstr>
      <vt:lpstr>Calibri Light</vt:lpstr>
      <vt:lpstr>Century Schoolbook</vt:lpstr>
      <vt:lpstr>Georgia</vt:lpstr>
      <vt:lpstr>Trebuchet MS</vt:lpstr>
      <vt:lpstr>Wingdings</vt:lpstr>
      <vt:lpstr>Wingdings 2</vt:lpstr>
      <vt:lpstr>Wood Type</vt:lpstr>
      <vt:lpstr>1_Office Theme</vt:lpstr>
      <vt:lpstr>View</vt:lpstr>
      <vt:lpstr>Legacy of Nazism</vt:lpstr>
      <vt:lpstr>Aftermath of WW2</vt:lpstr>
      <vt:lpstr>PowerPoint Presentation</vt:lpstr>
      <vt:lpstr>Berlin Wall</vt:lpstr>
      <vt:lpstr>Germany after Hitler - denazification</vt:lpstr>
      <vt:lpstr>“The most horrible crime ever committed in the whole history of the world”</vt:lpstr>
      <vt:lpstr>PowerPoint Presentation</vt:lpstr>
      <vt:lpstr>The United Nations (UN)</vt:lpstr>
      <vt:lpstr>The Nuremburg war crimes trials</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of Nazism</dc:title>
  <dc:creator>HAWKES Natasha [Narrogin Senior High School]</dc:creator>
  <cp:lastModifiedBy>HAWKES Natasha [Narrogin Senior High School]</cp:lastModifiedBy>
  <cp:revision>5</cp:revision>
  <dcterms:created xsi:type="dcterms:W3CDTF">2019-09-18T08:01:48Z</dcterms:created>
  <dcterms:modified xsi:type="dcterms:W3CDTF">2019-09-18T08:21:16Z</dcterms:modified>
</cp:coreProperties>
</file>
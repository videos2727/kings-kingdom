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mp4" ContentType="video/mp4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16" autoAdjust="0"/>
    <p:restoredTop sz="94660"/>
  </p:normalViewPr>
  <p:slideViewPr>
    <p:cSldViewPr snapToGrid="0">
      <p:cViewPr varScale="1">
        <p:scale>
          <a:sx n="76" d="100"/>
          <a:sy n="76" d="100"/>
        </p:scale>
        <p:origin x="126" y="79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69F7F-915F-42B8-B91B-E6425A6C116F}" type="datetimeFigureOut">
              <a:rPr lang="en-AU" smtClean="0"/>
              <a:t>15/07/2020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779C27-73F8-4412-8CF9-6697C9B3567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787836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69F7F-915F-42B8-B91B-E6425A6C116F}" type="datetimeFigureOut">
              <a:rPr lang="en-AU" smtClean="0"/>
              <a:t>15/07/2020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779C27-73F8-4412-8CF9-6697C9B3567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739287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69F7F-915F-42B8-B91B-E6425A6C116F}" type="datetimeFigureOut">
              <a:rPr lang="en-AU" smtClean="0"/>
              <a:t>15/07/2020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779C27-73F8-4412-8CF9-6697C9B3567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607237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69F7F-915F-42B8-B91B-E6425A6C116F}" type="datetimeFigureOut">
              <a:rPr lang="en-AU" smtClean="0"/>
              <a:t>15/07/2020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779C27-73F8-4412-8CF9-6697C9B3567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578668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69F7F-915F-42B8-B91B-E6425A6C116F}" type="datetimeFigureOut">
              <a:rPr lang="en-AU" smtClean="0"/>
              <a:t>15/07/2020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779C27-73F8-4412-8CF9-6697C9B3567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917509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69F7F-915F-42B8-B91B-E6425A6C116F}" type="datetimeFigureOut">
              <a:rPr lang="en-AU" smtClean="0"/>
              <a:t>15/07/2020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779C27-73F8-4412-8CF9-6697C9B3567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738024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69F7F-915F-42B8-B91B-E6425A6C116F}" type="datetimeFigureOut">
              <a:rPr lang="en-AU" smtClean="0"/>
              <a:t>15/07/2020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779C27-73F8-4412-8CF9-6697C9B3567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42137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69F7F-915F-42B8-B91B-E6425A6C116F}" type="datetimeFigureOut">
              <a:rPr lang="en-AU" smtClean="0"/>
              <a:t>15/07/2020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779C27-73F8-4412-8CF9-6697C9B3567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945189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69F7F-915F-42B8-B91B-E6425A6C116F}" type="datetimeFigureOut">
              <a:rPr lang="en-AU" smtClean="0"/>
              <a:t>15/07/2020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779C27-73F8-4412-8CF9-6697C9B3567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958559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69F7F-915F-42B8-B91B-E6425A6C116F}" type="datetimeFigureOut">
              <a:rPr lang="en-AU" smtClean="0"/>
              <a:t>15/07/2020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779C27-73F8-4412-8CF9-6697C9B3567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99719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69F7F-915F-42B8-B91B-E6425A6C116F}" type="datetimeFigureOut">
              <a:rPr lang="en-AU" smtClean="0"/>
              <a:t>15/07/2020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779C27-73F8-4412-8CF9-6697C9B3567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421673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5669F7F-915F-42B8-B91B-E6425A6C116F}" type="datetimeFigureOut">
              <a:rPr lang="en-AU" smtClean="0"/>
              <a:t>15/07/2020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9779C27-73F8-4412-8CF9-6697C9B3567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195162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AU" dirty="0" smtClean="0"/>
              <a:t>Impulse</a:t>
            </a:r>
            <a:endParaRPr lang="en-AU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016637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74800" y="850037"/>
            <a:ext cx="9652000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In this Smart Lesson you will learn to: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AU" sz="2400" b="1" i="0" dirty="0" smtClean="0">
                <a:solidFill>
                  <a:srgbClr val="009900"/>
                </a:solidFill>
                <a:effectLst/>
                <a:latin typeface="Arial" panose="020B0604020202020204" pitchFamily="34" charset="0"/>
              </a:rPr>
              <a:t>Define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the term </a:t>
            </a:r>
            <a:r>
              <a:rPr lang="en-AU" sz="2400" b="1" i="0" dirty="0" smtClean="0">
                <a:solidFill>
                  <a:srgbClr val="F30277"/>
                </a:solidFill>
                <a:effectLst/>
                <a:latin typeface="Arial" panose="020B0604020202020204" pitchFamily="34" charset="0"/>
              </a:rPr>
              <a:t>impulse.</a:t>
            </a:r>
            <a:endParaRPr lang="en-AU" sz="2400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AU" sz="2400" b="1" i="0" dirty="0" smtClean="0">
                <a:solidFill>
                  <a:srgbClr val="571A98"/>
                </a:solidFill>
                <a:effectLst/>
                <a:latin typeface="Arial" panose="020B0604020202020204" pitchFamily="34" charset="0"/>
              </a:rPr>
              <a:t>Solve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problems involving </a:t>
            </a:r>
            <a:r>
              <a:rPr lang="en-AU" sz="2400" b="1" i="0" dirty="0" smtClean="0">
                <a:solidFill>
                  <a:srgbClr val="00868B"/>
                </a:solidFill>
                <a:effectLst/>
                <a:latin typeface="Arial" panose="020B0604020202020204" pitchFamily="34" charset="0"/>
              </a:rPr>
              <a:t>momentum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 </a:t>
            </a:r>
            <a:r>
              <a:rPr lang="en-AU" sz="2400" b="1" i="0" dirty="0" smtClean="0">
                <a:solidFill>
                  <a:srgbClr val="F30277"/>
                </a:solidFill>
                <a:effectLst/>
                <a:latin typeface="Arial" panose="020B0604020202020204" pitchFamily="34" charset="0"/>
              </a:rPr>
              <a:t>impulse.</a:t>
            </a:r>
            <a:endParaRPr lang="en-AU" sz="2400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AU" sz="2400" b="1" i="0" dirty="0" smtClean="0">
                <a:solidFill>
                  <a:srgbClr val="1B479F"/>
                </a:solidFill>
                <a:effectLst/>
                <a:latin typeface="Arial" panose="020B0604020202020204" pitchFamily="34" charset="0"/>
              </a:rPr>
              <a:t>Determine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 </a:t>
            </a:r>
            <a:r>
              <a:rPr lang="en-AU" sz="2400" b="1" i="0" dirty="0" smtClean="0">
                <a:solidFill>
                  <a:srgbClr val="1B479F"/>
                </a:solidFill>
                <a:effectLst/>
                <a:latin typeface="Arial" panose="020B0604020202020204" pitchFamily="34" charset="0"/>
              </a:rPr>
              <a:t>interpret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the area under a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force-time graph.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026" name="Picture 2" descr="https://www.educationperfect.com/media/content/Science/1460522646.261861g/1460522647060-956379328143144-400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25875" y="3114675"/>
            <a:ext cx="3810000" cy="3381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824466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54000" y="472639"/>
            <a:ext cx="116840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Understanding </a:t>
            </a:r>
            <a:r>
              <a:rPr lang="en-AU" sz="2400" b="1" i="0" dirty="0" smtClean="0">
                <a:solidFill>
                  <a:srgbClr val="F30277"/>
                </a:solidFill>
                <a:effectLst/>
                <a:latin typeface="Arial" panose="020B0604020202020204" pitchFamily="34" charset="0"/>
              </a:rPr>
              <a:t>impulse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in physics has many everyday applications.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Have you ever wondered how the air-bags in cars work? Or how to play the perfect game of snooker? Or how to hit a cricket ball for 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KaTeX_Main"/>
              </a:rPr>
              <a:t>6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?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An understanding of </a:t>
            </a:r>
            <a:r>
              <a:rPr lang="en-AU" sz="2400" b="1" i="0" dirty="0" smtClean="0">
                <a:solidFill>
                  <a:srgbClr val="F30277"/>
                </a:solidFill>
                <a:effectLst/>
                <a:latin typeface="Arial" panose="020B0604020202020204" pitchFamily="34" charset="0"/>
              </a:rPr>
              <a:t>impulse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will help you learn how these all work.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400" y="3278187"/>
            <a:ext cx="10609206" cy="2754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32727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25500" y="456337"/>
            <a:ext cx="10274300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F30277"/>
                </a:solidFill>
                <a:effectLst/>
                <a:latin typeface="Arial" panose="020B0604020202020204" pitchFamily="34" charset="0"/>
              </a:rPr>
              <a:t>Impulse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is defined as the </a:t>
            </a:r>
            <a:r>
              <a:rPr lang="en-AU" sz="2400" b="1" i="0" dirty="0" smtClean="0">
                <a:solidFill>
                  <a:srgbClr val="00868B"/>
                </a:solidFill>
                <a:effectLst/>
                <a:latin typeface="Arial" panose="020B0604020202020204" pitchFamily="34" charset="0"/>
              </a:rPr>
              <a:t>change in momentum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 an object.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It equals the product of a </a:t>
            </a:r>
            <a:r>
              <a:rPr lang="en-AU" sz="2400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force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 the </a:t>
            </a:r>
            <a:r>
              <a:rPr lang="en-AU" sz="2400" b="1" i="0" dirty="0" smtClean="0">
                <a:solidFill>
                  <a:srgbClr val="64B131"/>
                </a:solidFill>
                <a:effectLst/>
                <a:latin typeface="Arial" panose="020B0604020202020204" pitchFamily="34" charset="0"/>
              </a:rPr>
              <a:t>time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interval over which the force acts. If you graph the </a:t>
            </a:r>
            <a:r>
              <a:rPr lang="en-AU" sz="2400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force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applied over </a:t>
            </a:r>
            <a:r>
              <a:rPr lang="en-AU" sz="2400" b="1" i="0" dirty="0" smtClean="0">
                <a:solidFill>
                  <a:srgbClr val="64B131"/>
                </a:solidFill>
                <a:effectLst/>
                <a:latin typeface="Arial" panose="020B0604020202020204" pitchFamily="34" charset="0"/>
              </a:rPr>
              <a:t>time,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the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area under the graph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is the </a:t>
            </a:r>
            <a:r>
              <a:rPr lang="en-AU" sz="2400" b="1" i="0" dirty="0" smtClean="0">
                <a:solidFill>
                  <a:srgbClr val="F30277"/>
                </a:solidFill>
                <a:effectLst/>
                <a:latin typeface="Arial" panose="020B0604020202020204" pitchFamily="34" charset="0"/>
              </a:rPr>
              <a:t>impulse.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2050" name="Picture 2" descr="https://www.educationperfect.com/media/content/Science/1435012991.550741g/1435012979577-687033848-optimised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24225" y="2855912"/>
            <a:ext cx="5276850" cy="32194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018322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168400" y="527735"/>
            <a:ext cx="1054100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For example, calculate the </a:t>
            </a:r>
            <a:r>
              <a:rPr lang="en-AU" sz="2400" b="1" i="0" dirty="0" smtClean="0">
                <a:solidFill>
                  <a:srgbClr val="F30277"/>
                </a:solidFill>
                <a:effectLst/>
                <a:latin typeface="Arial" panose="020B0604020202020204" pitchFamily="34" charset="0"/>
              </a:rPr>
              <a:t>impulse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 an object from the following force-time graph.</a:t>
            </a:r>
            <a:endParaRPr lang="en-AU" sz="2400" b="1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074" name="Picture 2" descr="https://www.educationperfect.com/media/content/Science/1544665732.692651g/1544665732150-1167751327537092-800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9275" y="1276867"/>
            <a:ext cx="7620000" cy="50768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2"/>
          <p:cNvSpPr/>
          <p:nvPr/>
        </p:nvSpPr>
        <p:spPr>
          <a:xfrm>
            <a:off x="3526366" y="6353693"/>
            <a:ext cx="559646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AU" b="0" i="1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Remember, the </a:t>
            </a:r>
            <a:r>
              <a:rPr lang="en-AU" b="1" i="1" dirty="0" smtClean="0">
                <a:solidFill>
                  <a:srgbClr val="F30277"/>
                </a:solidFill>
                <a:effectLst/>
                <a:latin typeface="Arial" panose="020B0604020202020204" pitchFamily="34" charset="0"/>
              </a:rPr>
              <a:t>impulse</a:t>
            </a:r>
            <a:r>
              <a:rPr lang="en-AU" b="0" i="1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is the area under the graph.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5136706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325735"/>
            <a:ext cx="1201420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First divide the area under the graph into simple shapes, then work out the area.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098" name="Picture 2" descr="https://www.educationperfect.com/media/content/Science/1544666264.077921g/1544666263684-1167751327537092-800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5375" y="741233"/>
            <a:ext cx="7620000" cy="50768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2"/>
          <p:cNvSpPr/>
          <p:nvPr/>
        </p:nvSpPr>
        <p:spPr>
          <a:xfrm>
            <a:off x="6718300" y="2614136"/>
            <a:ext cx="6096000" cy="1938992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F30277"/>
                </a:solidFill>
                <a:effectLst/>
                <a:latin typeface="Arial" panose="020B0604020202020204" pitchFamily="34" charset="0"/>
              </a:rPr>
              <a:t>Impulse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= area under graph</a:t>
            </a:r>
            <a:endParaRPr lang="en-AU" sz="2400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1" i="0" dirty="0" smtClean="0">
                <a:solidFill>
                  <a:srgbClr val="F30277"/>
                </a:solidFill>
                <a:effectLst/>
                <a:latin typeface="Arial" panose="020B0604020202020204" pitchFamily="34" charset="0"/>
              </a:rPr>
              <a:t>Impulse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= 240 + 180</a:t>
            </a:r>
            <a:endParaRPr lang="en-AU" sz="2400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1" i="0" dirty="0" smtClean="0">
                <a:solidFill>
                  <a:srgbClr val="F30277"/>
                </a:solidFill>
                <a:effectLst/>
                <a:latin typeface="Arial" panose="020B0604020202020204" pitchFamily="34" charset="0"/>
              </a:rPr>
              <a:t>Impulse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= 420 Ns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07955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55600" y="343238"/>
            <a:ext cx="11353800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An </a:t>
            </a:r>
            <a:r>
              <a:rPr lang="en-AU" sz="2400" b="1" i="0" dirty="0" smtClean="0">
                <a:solidFill>
                  <a:srgbClr val="F30277"/>
                </a:solidFill>
                <a:effectLst/>
                <a:latin typeface="Arial" panose="020B0604020202020204" pitchFamily="34" charset="0"/>
              </a:rPr>
              <a:t>impulse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is a </a:t>
            </a:r>
            <a:r>
              <a:rPr lang="en-AU" sz="2400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force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applied over </a:t>
            </a:r>
            <a:r>
              <a:rPr lang="en-AU" sz="2400" b="1" i="0" dirty="0" smtClean="0">
                <a:solidFill>
                  <a:srgbClr val="64B131"/>
                </a:solidFill>
                <a:effectLst/>
                <a:latin typeface="Arial" panose="020B0604020202020204" pitchFamily="34" charset="0"/>
              </a:rPr>
              <a:t>time.</a:t>
            </a:r>
            <a:endParaRPr lang="en-AU" sz="2400" b="1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It acts in the </a:t>
            </a:r>
            <a:r>
              <a:rPr lang="en-AU" sz="2400" b="0" i="0" u="sng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same direction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as the force, so is a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vector.</a:t>
            </a:r>
            <a:endParaRPr lang="en-AU" sz="2400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KaTeX_Main"/>
              </a:rPr>
              <a:t>I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KaTeX_Main"/>
              </a:rPr>
              <a:t>=</a:t>
            </a:r>
            <a:r>
              <a:rPr lang="en-AU" sz="2400" b="1" i="0" dirty="0" err="1" smtClean="0">
                <a:solidFill>
                  <a:srgbClr val="444444"/>
                </a:solidFill>
                <a:effectLst/>
                <a:latin typeface="KaTeX_Main"/>
              </a:rPr>
              <a:t>F</a:t>
            </a:r>
            <a:r>
              <a:rPr lang="en-AU" sz="2400" b="0" i="0" dirty="0" err="1" smtClean="0">
                <a:solidFill>
                  <a:srgbClr val="444444"/>
                </a:solidFill>
                <a:effectLst/>
                <a:latin typeface="KaTeX_Main"/>
              </a:rPr>
              <a:t>×</a:t>
            </a:r>
            <a:r>
              <a:rPr lang="en-AU" sz="2400" b="1" i="0" dirty="0" err="1" smtClean="0">
                <a:solidFill>
                  <a:srgbClr val="444444"/>
                </a:solidFill>
                <a:effectLst/>
                <a:latin typeface="KaTeX_Main"/>
              </a:rPr>
              <a:t>Δt</a:t>
            </a:r>
            <a:endParaRPr lang="en-AU" sz="2400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unit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 impulse is the </a:t>
            </a:r>
            <a:r>
              <a:rPr lang="en-AU" sz="2400" b="1" i="0" dirty="0" smtClean="0">
                <a:solidFill>
                  <a:srgbClr val="571A98"/>
                </a:solidFill>
                <a:effectLst/>
                <a:latin typeface="Arial" panose="020B0604020202020204" pitchFamily="34" charset="0"/>
              </a:rPr>
              <a:t>newton-second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(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KaTeX_Main"/>
              </a:rPr>
              <a:t>Ns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).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5122" name="Picture 2" descr="https://www.educationperfect.com/media/content/Science/1435012645.113061g/1435012632992-687033848-400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71774" y="3149122"/>
            <a:ext cx="6080125" cy="37088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793809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87400" y="305138"/>
            <a:ext cx="10820400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F30277"/>
                </a:solidFill>
                <a:effectLst/>
                <a:latin typeface="Arial" panose="020B0604020202020204" pitchFamily="34" charset="0"/>
              </a:rPr>
              <a:t>Impulse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acting on a mass is equal to the </a:t>
            </a:r>
            <a:r>
              <a:rPr lang="en-AU" sz="2400" b="1" i="0" dirty="0" smtClean="0">
                <a:solidFill>
                  <a:srgbClr val="00868B"/>
                </a:solidFill>
                <a:effectLst/>
                <a:latin typeface="Arial" panose="020B0604020202020204" pitchFamily="34" charset="0"/>
              </a:rPr>
              <a:t>change in momentum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 the </a:t>
            </a:r>
            <a:r>
              <a:rPr lang="en-AU" sz="2400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mass.</a:t>
            </a:r>
            <a:endParaRPr lang="en-AU" sz="2400" b="1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KaTeX_Main"/>
              </a:rPr>
              <a:t>I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KaTeX_Main"/>
              </a:rPr>
              <a:t>=</a:t>
            </a:r>
            <a:r>
              <a:rPr lang="en-AU" sz="2400" b="1" i="0" dirty="0" err="1" smtClean="0">
                <a:solidFill>
                  <a:srgbClr val="444444"/>
                </a:solidFill>
                <a:effectLst/>
                <a:latin typeface="KaTeX_Main"/>
              </a:rPr>
              <a:t>Δp</a:t>
            </a:r>
            <a:endParaRPr lang="en-AU" sz="2400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We can double check this idea by looking at the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units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 impulse and momentum.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1987" y="2982794"/>
            <a:ext cx="4989513" cy="25049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39106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31800" y="184140"/>
            <a:ext cx="11569700" cy="41549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So how does this relate back to collisions such as car crashes and hitting a cricket ball?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You know that </a:t>
            </a:r>
            <a:r>
              <a:rPr lang="en-AU" sz="2400" b="1" i="0" dirty="0" smtClean="0">
                <a:solidFill>
                  <a:srgbClr val="F30277"/>
                </a:solidFill>
                <a:effectLst/>
                <a:latin typeface="Arial" panose="020B0604020202020204" pitchFamily="34" charset="0"/>
              </a:rPr>
              <a:t>impulse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= </a:t>
            </a:r>
            <a:r>
              <a:rPr lang="en-AU" sz="2400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force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KaTeX_Main"/>
              </a:rPr>
              <a:t>×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en-AU" sz="2400" b="1" i="0" dirty="0" smtClean="0">
                <a:solidFill>
                  <a:srgbClr val="64B131"/>
                </a:solidFill>
                <a:effectLst/>
                <a:latin typeface="Arial" panose="020B0604020202020204" pitchFamily="34" charset="0"/>
              </a:rPr>
              <a:t>time.</a:t>
            </a:r>
            <a:endParaRPr lang="en-AU" sz="2400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If a </a:t>
            </a:r>
            <a:r>
              <a:rPr lang="en-AU" sz="2400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force 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is applied for a longer </a:t>
            </a:r>
            <a:r>
              <a:rPr lang="en-AU" sz="2400" b="1" i="0" dirty="0" smtClean="0">
                <a:solidFill>
                  <a:srgbClr val="64B131"/>
                </a:solidFill>
                <a:effectLst/>
                <a:latin typeface="Arial" panose="020B0604020202020204" pitchFamily="34" charset="0"/>
              </a:rPr>
              <a:t>time, 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it will have a larger </a:t>
            </a:r>
            <a:r>
              <a:rPr lang="en-AU" sz="2400" b="1" i="0" dirty="0" smtClean="0">
                <a:solidFill>
                  <a:srgbClr val="F30277"/>
                </a:solidFill>
                <a:effectLst/>
                <a:latin typeface="Arial" panose="020B0604020202020204" pitchFamily="34" charset="0"/>
              </a:rPr>
              <a:t>impulse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 larger change in</a:t>
            </a:r>
            <a:r>
              <a:rPr lang="en-AU" sz="2400" b="1" i="0" dirty="0" smtClean="0">
                <a:solidFill>
                  <a:srgbClr val="00868B"/>
                </a:solidFill>
                <a:effectLst/>
                <a:latin typeface="Arial" panose="020B0604020202020204" pitchFamily="34" charset="0"/>
              </a:rPr>
              <a:t> momentum.</a:t>
            </a:r>
            <a:endParaRPr lang="en-AU" sz="2400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For example, when you swing for a cricket ball, don't stop when you hit it, but follow through. This keeps the bat in contact with the ball for a longer time, creating more impulse, so you can hit that ball for 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KaTeX_Main"/>
              </a:rPr>
              <a:t>6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!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6146" name="Picture 2" descr="https://www.educationperfect.com/media/content/Social%20Studies/1415570470.979411g/1415570497933-966516318-optimised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30775" y="4622800"/>
            <a:ext cx="2752725" cy="1905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218865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55600" y="898436"/>
            <a:ext cx="110998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By understanding collisions in terms of </a:t>
            </a:r>
            <a:r>
              <a:rPr lang="en-AU" sz="2400" b="1" i="0" dirty="0" smtClean="0">
                <a:solidFill>
                  <a:srgbClr val="F30277"/>
                </a:solidFill>
                <a:effectLst/>
                <a:latin typeface="Arial" panose="020B0604020202020204" pitchFamily="34" charset="0"/>
              </a:rPr>
              <a:t>impulse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 </a:t>
            </a:r>
            <a:r>
              <a:rPr lang="en-AU" sz="2400" b="1" i="0" dirty="0" smtClean="0">
                <a:solidFill>
                  <a:srgbClr val="00868B"/>
                </a:solidFill>
                <a:effectLst/>
                <a:latin typeface="Arial" panose="020B0604020202020204" pitchFamily="34" charset="0"/>
              </a:rPr>
              <a:t>momentum,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car manufacturers have been able to design air-bags to minimise the damage caused during a crash.</a:t>
            </a:r>
            <a:endParaRPr lang="en-AU" sz="2400" b="1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7170" name="Picture 2" descr="https://www.educationperfect.com/media/content/Science/1460522646.261861g/1460522647060-956379328143144-400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19475" y="2505075"/>
            <a:ext cx="3810000" cy="3381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910149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17500" y="179338"/>
            <a:ext cx="11506200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When a car crashes, the people in the car still have forward </a:t>
            </a:r>
            <a:r>
              <a:rPr lang="en-AU" sz="2400" b="1" i="0" dirty="0" smtClean="0">
                <a:solidFill>
                  <a:srgbClr val="00868B"/>
                </a:solidFill>
                <a:effectLst/>
                <a:latin typeface="Arial" panose="020B0604020202020204" pitchFamily="34" charset="0"/>
              </a:rPr>
              <a:t>momentum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and are thrown forward.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By calculating the </a:t>
            </a:r>
            <a:r>
              <a:rPr lang="en-AU" sz="2400" b="1" i="0" dirty="0" smtClean="0">
                <a:solidFill>
                  <a:srgbClr val="00868B"/>
                </a:solidFill>
                <a:effectLst/>
                <a:latin typeface="Arial" panose="020B0604020202020204" pitchFamily="34" charset="0"/>
              </a:rPr>
              <a:t>momentum,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car designers can work out how to cushion the impact with a rapidly inflating airbag, which helps absorb the energy of the forward motion and reduce injuries. As the airbag slows the impact over a longer period of time, the force is reduced.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" name="1531360396.64733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3022600" y="3047999"/>
            <a:ext cx="5803900" cy="3917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45748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267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77</Words>
  <Application>Microsoft Office PowerPoint</Application>
  <PresentationFormat>Widescreen</PresentationFormat>
  <Paragraphs>46</Paragraphs>
  <Slides>11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Calibri Light</vt:lpstr>
      <vt:lpstr>KaTeX_Main</vt:lpstr>
      <vt:lpstr>Office Theme</vt:lpstr>
      <vt:lpstr>Impulse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Impulse</dc:title>
  <dc:creator>Joseph D'cruz</dc:creator>
  <cp:lastModifiedBy>Joseph D'cruz</cp:lastModifiedBy>
  <cp:revision>1</cp:revision>
  <dcterms:created xsi:type="dcterms:W3CDTF">2020-07-15T12:05:28Z</dcterms:created>
  <dcterms:modified xsi:type="dcterms:W3CDTF">2020-07-15T12:05:41Z</dcterms:modified>
</cp:coreProperties>
</file>
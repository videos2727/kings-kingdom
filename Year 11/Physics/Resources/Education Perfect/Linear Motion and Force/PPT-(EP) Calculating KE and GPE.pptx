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9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CC0D-E28E-4F62-AE20-9FCFA97B700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F8A3-18D7-4FC7-86D2-039FA71020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8412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CC0D-E28E-4F62-AE20-9FCFA97B700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F8A3-18D7-4FC7-86D2-039FA71020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3673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CC0D-E28E-4F62-AE20-9FCFA97B700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F8A3-18D7-4FC7-86D2-039FA71020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2923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CC0D-E28E-4F62-AE20-9FCFA97B700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F8A3-18D7-4FC7-86D2-039FA71020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606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CC0D-E28E-4F62-AE20-9FCFA97B700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F8A3-18D7-4FC7-86D2-039FA71020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5237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CC0D-E28E-4F62-AE20-9FCFA97B700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F8A3-18D7-4FC7-86D2-039FA71020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7687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CC0D-E28E-4F62-AE20-9FCFA97B700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F8A3-18D7-4FC7-86D2-039FA71020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164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CC0D-E28E-4F62-AE20-9FCFA97B700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F8A3-18D7-4FC7-86D2-039FA71020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7101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CC0D-E28E-4F62-AE20-9FCFA97B700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F8A3-18D7-4FC7-86D2-039FA71020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9530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CC0D-E28E-4F62-AE20-9FCFA97B700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F8A3-18D7-4FC7-86D2-039FA71020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6828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CC0D-E28E-4F62-AE20-9FCFA97B700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F8A3-18D7-4FC7-86D2-039FA71020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3810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DCC0D-E28E-4F62-AE20-9FCFA97B7008}" type="datetimeFigureOut">
              <a:rPr lang="en-AU" smtClean="0"/>
              <a:t>20/07/2020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5F8A3-18D7-4FC7-86D2-039FA710206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065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Calculating KE and GPE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8856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1052" y="823573"/>
            <a:ext cx="1147010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Solve problems involving </a:t>
            </a:r>
            <a:r>
              <a:rPr lang="en-AU" sz="32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32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32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gravitational potential energy.</a:t>
            </a:r>
            <a:endParaRPr lang="en-AU" sz="32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4776.3682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26813" y="2885676"/>
            <a:ext cx="3218581" cy="371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6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3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9022" y="175067"/>
            <a:ext cx="103325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Gravitational potential energy (GPE)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energy stored in an object due to its position (height).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calculate gravitational potential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following formula: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839" y="2452436"/>
            <a:ext cx="6079707" cy="884321"/>
          </a:xfrm>
          <a:prstGeom prst="rect">
            <a:avLst/>
          </a:prstGeom>
        </p:spPr>
      </p:pic>
      <p:pic>
        <p:nvPicPr>
          <p:cNvPr id="1026" name="Picture 2" descr="https://www.educationperfect.com/media/content/German/1470364857.135841g/1470364859406-2559926834855688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892" y="3336757"/>
            <a:ext cx="36576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428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5590" y="397477"/>
            <a:ext cx="105090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three factors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the gravitational potential energy depends on. These are: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837285"/>
              </p:ext>
            </p:extLst>
          </p:nvPr>
        </p:nvGraphicFramePr>
        <p:xfrm>
          <a:off x="4069001" y="1509354"/>
          <a:ext cx="5267504" cy="1440180"/>
        </p:xfrm>
        <a:graphic>
          <a:graphicData uri="http://schemas.openxmlformats.org/drawingml/2006/table">
            <a:tbl>
              <a:tblPr/>
              <a:tblGrid>
                <a:gridCol w="626720">
                  <a:extLst>
                    <a:ext uri="{9D8B030D-6E8A-4147-A177-3AD203B41FA5}">
                      <a16:colId xmlns:a16="http://schemas.microsoft.com/office/drawing/2014/main" val="139222572"/>
                    </a:ext>
                  </a:extLst>
                </a:gridCol>
                <a:gridCol w="4640784">
                  <a:extLst>
                    <a:ext uri="{9D8B030D-6E8A-4147-A177-3AD203B41FA5}">
                      <a16:colId xmlns:a16="http://schemas.microsoft.com/office/drawing/2014/main" val="3619775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b="1">
                          <a:solidFill>
                            <a:srgbClr val="0066CC"/>
                          </a:solidFill>
                          <a:effectLst/>
                        </a:rPr>
                        <a:t>Mass</a:t>
                      </a:r>
                      <a:endParaRPr lang="en-AU" sz="240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619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b="1" dirty="0">
                          <a:solidFill>
                            <a:srgbClr val="64B131"/>
                          </a:solidFill>
                          <a:effectLst/>
                        </a:rPr>
                        <a:t>Acceleration due to gravity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780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>
                          <a:effectLst/>
                        </a:rPr>
                        <a:t>•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b="1" dirty="0">
                          <a:solidFill>
                            <a:srgbClr val="F30277"/>
                          </a:solidFill>
                          <a:effectLst/>
                        </a:rPr>
                        <a:t>Height</a:t>
                      </a:r>
                      <a:endParaRPr lang="en-AU" sz="2400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485998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06753" y="3098931"/>
            <a:ext cx="108954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Mass is represented by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formula below, acceleration due to gravity is represented by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KaTeX_Main"/>
              </a:rPr>
              <a:t>g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and height is given by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KaTeX_Main"/>
              </a:rPr>
              <a:t>h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156" y="4381287"/>
            <a:ext cx="7010036" cy="154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99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4087" y="606943"/>
            <a:ext cx="1119789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You may be wondering what the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Δ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symbol means. This symbol is called </a:t>
            </a:r>
            <a:r>
              <a:rPr lang="en-AU" sz="28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delta,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it represents </a:t>
            </a:r>
            <a:r>
              <a:rPr lang="en-AU" sz="28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change.</a:t>
            </a:r>
            <a:endParaRPr lang="en-AU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7" y="2159417"/>
            <a:ext cx="6902450" cy="117734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4087" y="3935125"/>
            <a:ext cx="115508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formula, it means that there is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only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gravitational potential energy if the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object's height changes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(assuming that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remains the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same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18626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8637" y="461895"/>
            <a:ext cx="111820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 are doing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calculations,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is very important that you use the right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units.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189138"/>
              </p:ext>
            </p:extLst>
          </p:nvPr>
        </p:nvGraphicFramePr>
        <p:xfrm>
          <a:off x="1676400" y="1605607"/>
          <a:ext cx="10515600" cy="16230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2894241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800">
                          <a:effectLst/>
                        </a:rPr>
                        <a:t>The unit for </a:t>
                      </a:r>
                      <a:r>
                        <a:rPr lang="en-AU" sz="2800" b="1">
                          <a:solidFill>
                            <a:srgbClr val="0066CC"/>
                          </a:solidFill>
                          <a:effectLst/>
                        </a:rPr>
                        <a:t>mass</a:t>
                      </a:r>
                      <a:r>
                        <a:rPr lang="en-AU" sz="2800">
                          <a:effectLst/>
                        </a:rPr>
                        <a:t> is the </a:t>
                      </a:r>
                      <a:r>
                        <a:rPr lang="en-AU" sz="2800" b="1">
                          <a:solidFill>
                            <a:srgbClr val="0066CC"/>
                          </a:solidFill>
                          <a:effectLst/>
                        </a:rPr>
                        <a:t>kilogram</a:t>
                      </a:r>
                      <a:r>
                        <a:rPr lang="en-AU" sz="2800">
                          <a:effectLst/>
                        </a:rPr>
                        <a:t> (</a:t>
                      </a:r>
                      <a:r>
                        <a:rPr lang="en-AU" sz="2800">
                          <a:effectLst/>
                          <a:latin typeface="KaTeX_Main"/>
                        </a:rPr>
                        <a:t>kg</a:t>
                      </a:r>
                      <a:r>
                        <a:rPr lang="en-AU" sz="2800">
                          <a:effectLst/>
                        </a:rPr>
                        <a:t>).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06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800" dirty="0">
                          <a:effectLst/>
                        </a:rPr>
                        <a:t>The unit for </a:t>
                      </a:r>
                      <a:r>
                        <a:rPr lang="en-AU" sz="2800" b="1" dirty="0">
                          <a:solidFill>
                            <a:srgbClr val="F30277"/>
                          </a:solidFill>
                          <a:effectLst/>
                        </a:rPr>
                        <a:t>height</a:t>
                      </a:r>
                      <a:r>
                        <a:rPr lang="en-AU" sz="2800" dirty="0">
                          <a:effectLst/>
                        </a:rPr>
                        <a:t> is the </a:t>
                      </a:r>
                      <a:r>
                        <a:rPr lang="en-AU" sz="2800" b="1" dirty="0">
                          <a:solidFill>
                            <a:srgbClr val="F30277"/>
                          </a:solidFill>
                          <a:effectLst/>
                        </a:rPr>
                        <a:t>metre</a:t>
                      </a:r>
                      <a:r>
                        <a:rPr lang="en-AU" sz="2800" dirty="0">
                          <a:effectLst/>
                        </a:rPr>
                        <a:t> (</a:t>
                      </a:r>
                      <a:r>
                        <a:rPr lang="en-AU" sz="2800" dirty="0">
                          <a:effectLst/>
                          <a:latin typeface="KaTeX_Main"/>
                        </a:rPr>
                        <a:t>m</a:t>
                      </a:r>
                      <a:r>
                        <a:rPr lang="en-AU" sz="2800" dirty="0">
                          <a:effectLst/>
                        </a:rPr>
                        <a:t>).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04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800" dirty="0">
                          <a:effectLst/>
                        </a:rPr>
                        <a:t>The unit for </a:t>
                      </a:r>
                      <a:r>
                        <a:rPr lang="en-AU" sz="2800" b="1" dirty="0">
                          <a:solidFill>
                            <a:srgbClr val="00B6EE"/>
                          </a:solidFill>
                          <a:effectLst/>
                        </a:rPr>
                        <a:t>energy</a:t>
                      </a:r>
                      <a:r>
                        <a:rPr lang="en-AU" sz="2800" dirty="0">
                          <a:effectLst/>
                        </a:rPr>
                        <a:t> is the </a:t>
                      </a:r>
                      <a:r>
                        <a:rPr lang="en-AU" sz="2800" b="1" dirty="0">
                          <a:solidFill>
                            <a:srgbClr val="00B6EE"/>
                          </a:solidFill>
                          <a:effectLst/>
                        </a:rPr>
                        <a:t>joule</a:t>
                      </a:r>
                      <a:r>
                        <a:rPr lang="en-AU" sz="2800" dirty="0">
                          <a:effectLst/>
                        </a:rPr>
                        <a:t> (</a:t>
                      </a:r>
                      <a:r>
                        <a:rPr lang="en-AU" sz="2800" dirty="0">
                          <a:effectLst/>
                          <a:latin typeface="KaTeX_Main"/>
                        </a:rPr>
                        <a:t>J</a:t>
                      </a:r>
                      <a:r>
                        <a:rPr lang="en-AU" sz="2800" dirty="0">
                          <a:effectLst/>
                        </a:rPr>
                        <a:t>).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593457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28636" y="3541382"/>
            <a:ext cx="109895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Acceleration due to gravity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constant, so it is always: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743" y="4315762"/>
            <a:ext cx="3193131" cy="129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228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0304" y="645417"/>
            <a:ext cx="1097397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look at an example.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5kg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climbs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up a tree. What is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cat's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gravitational potential energy?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Use the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formula: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784" y="3098633"/>
            <a:ext cx="4520616" cy="2033495"/>
          </a:xfrm>
          <a:prstGeom prst="rect">
            <a:avLst/>
          </a:prstGeom>
        </p:spPr>
      </p:pic>
      <p:pic>
        <p:nvPicPr>
          <p:cNvPr id="4098" name="Picture 2" descr="https://www.educationperfect.com/media/content/Maths/1470108285.447311g/1470108285180-632478161732823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091" y="2953740"/>
            <a:ext cx="2565486" cy="3094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1732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400" y="0"/>
            <a:ext cx="6445168" cy="686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509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8804" y="448962"/>
            <a:ext cx="1131026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Sometimes we need to find an object's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change in height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its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gravitational potential energy.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do this by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rearranging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equation for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gravitational potential energy.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 we have to do here is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divide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both sides of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original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equation by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939" y="3139740"/>
            <a:ext cx="5958640" cy="288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90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95136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Worked example for calculating height from GPE.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Sophie is bouncing on the </a:t>
            </a:r>
            <a:r>
              <a:rPr lang="en-AU" sz="28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trampoline.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She has a mass of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60kg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her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change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sz="28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gravitational potential energy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her highest and lowest points is </a:t>
            </a:r>
            <a:r>
              <a:rPr lang="en-AU" sz="2800" b="0" i="0" dirty="0" err="1" smtClean="0">
                <a:solidFill>
                  <a:srgbClr val="444444"/>
                </a:solidFill>
                <a:effectLst/>
                <a:latin typeface="KaTeX_Main"/>
              </a:rPr>
              <a:t>ΔE</a:t>
            </a:r>
            <a:r>
              <a:rPr lang="en-AU" sz="2800" b="0" i="0" baseline="-25000" dirty="0" err="1" smtClean="0">
                <a:solidFill>
                  <a:srgbClr val="444444"/>
                </a:solidFill>
                <a:effectLst/>
                <a:latin typeface="KaTeX_Main"/>
              </a:rPr>
              <a:t>p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​=900J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find Sophie's </a:t>
            </a:r>
            <a:r>
              <a:rPr lang="en-AU" sz="28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change in height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her highest and lowest points, we </a:t>
            </a:r>
            <a:r>
              <a:rPr lang="en-AU" sz="28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rearrange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equation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gravitational potential energy and </a:t>
            </a:r>
            <a:r>
              <a:rPr lang="en-AU" sz="28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substitute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values we are given into the equation.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953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79" y="419099"/>
            <a:ext cx="10080458" cy="60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395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0387" y="212697"/>
            <a:ext cx="1123055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may also want to find an object's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its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gravitational potential energy.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do this, we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rearrange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equation for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gravitational potential energy.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do this by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dividing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both sides by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height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acceleration due to gravity.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468" y="3135228"/>
            <a:ext cx="5862256" cy="217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972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8724" y="1638427"/>
            <a:ext cx="1089367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Worked example for calculating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gravitational potential energy.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eagle takes off and </a:t>
            </a:r>
            <a:r>
              <a:rPr lang="en-AU" sz="2400" b="1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flies.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Its change in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height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during the flight was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200m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its change in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potential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was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8000J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find the eagle's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rearrange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equation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gravitational potential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substitute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values we are given into the equation.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909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480" y="520867"/>
            <a:ext cx="7985961" cy="617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855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56869" y="456266"/>
            <a:ext cx="75328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Kinetic energy is calculated by using this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formula: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369" y="917931"/>
            <a:ext cx="4125829" cy="410983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13811" y="5489433"/>
            <a:ext cx="1219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this formula, </a:t>
            </a:r>
            <a:r>
              <a:rPr lang="en-AU" sz="2800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AU" sz="2800" b="0" i="0" baseline="-2500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​ represents </a:t>
            </a:r>
            <a:r>
              <a:rPr lang="en-AU" sz="28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kinetic energy,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m represents </a:t>
            </a:r>
            <a:r>
              <a:rPr lang="en-AU" sz="28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mass,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 v represents </a:t>
            </a:r>
            <a:r>
              <a:rPr lang="en-AU" sz="28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speed.</a:t>
            </a:r>
            <a:endParaRPr lang="en-A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400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8106"/>
            <a:ext cx="119513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formula, we see that kinetic energy is proportional to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proportional to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speed squared.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6114"/>
          <a:stretch/>
        </p:blipFill>
        <p:spPr>
          <a:xfrm>
            <a:off x="4278731" y="1130787"/>
            <a:ext cx="3998996" cy="187938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2069" y="2642822"/>
            <a:ext cx="113272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when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 doubles,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also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doubles.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However, when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doubles, the kinetic energy gets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four times larger.</a:t>
            </a:r>
            <a:endParaRPr lang="en-AU" sz="2400" dirty="0"/>
          </a:p>
        </p:txBody>
      </p:sp>
      <p:pic>
        <p:nvPicPr>
          <p:cNvPr id="5122" name="Picture 2" descr="https://www.educationperfect.com/media/content/Science/1509569821.410171g/1509569832351-774912695646034-2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0991" y="4399132"/>
            <a:ext cx="1514475" cy="189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990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4553" y="0"/>
            <a:ext cx="109734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What units are used in this formula?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we use this formula,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be in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kilograms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kg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and the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be in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metres per second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ms</a:t>
            </a:r>
            <a:r>
              <a:rPr lang="en-AU" sz="2400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gives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joules.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10870558.793521g/1510870563274-2127847279053611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960" y="2726154"/>
            <a:ext cx="3810000" cy="3714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427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89" y="420995"/>
            <a:ext cx="1148689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Worked example calculating </a:t>
            </a:r>
            <a:r>
              <a:rPr lang="en-AU" sz="28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kinetic energy.</a:t>
            </a:r>
            <a:endParaRPr lang="en-AU" sz="28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jogger has a </a:t>
            </a:r>
            <a:r>
              <a:rPr lang="en-AU" sz="28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60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kg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is travelling at a </a:t>
            </a:r>
            <a:r>
              <a:rPr lang="en-AU" sz="28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7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KaTeX_Main"/>
              </a:rPr>
              <a:t>ms</a:t>
            </a:r>
            <a:r>
              <a:rPr lang="en-AU" sz="28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To find the jogger's </a:t>
            </a:r>
            <a:r>
              <a:rPr lang="en-AU" sz="28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kinetic energy,</a:t>
            </a:r>
            <a:r>
              <a:rPr lang="en-AU" sz="28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substitute these values into the </a:t>
            </a:r>
            <a:r>
              <a:rPr lang="en-AU" sz="28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kinetic energy formula:</a:t>
            </a:r>
            <a:endParaRPr lang="en-AU" sz="28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075" y="3054768"/>
            <a:ext cx="4076198" cy="3300638"/>
          </a:xfrm>
          <a:prstGeom prst="rect">
            <a:avLst/>
          </a:prstGeom>
        </p:spPr>
      </p:pic>
      <p:pic>
        <p:nvPicPr>
          <p:cNvPr id="4" name="1509324660.45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72766" y="2926406"/>
            <a:ext cx="34671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907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11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5221" y="919552"/>
            <a:ext cx="1134176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Sometimes you will be given the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 and asked to find the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which it is travelling.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find this by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rearranging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formula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use to calculate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kinetic energy.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08796883.234941f/1508796888442-4155073883953425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104" y="3392905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7578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94325" y="359763"/>
            <a:ext cx="50385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formula for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is: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921" y="1090110"/>
            <a:ext cx="4549961" cy="176538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1921" y="2855495"/>
            <a:ext cx="115057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find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speed,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need to make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subject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this equation. Here's how we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rearrange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equation:</a:t>
            </a:r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554" y="3686492"/>
            <a:ext cx="8156373" cy="322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91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959" y="439636"/>
            <a:ext cx="1192070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Worked example calculating speed or velocity from kinetic energy.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soccer ball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 a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25J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What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speed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ball if its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0.5kg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solve this problem, we take our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rearranged formula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571A98"/>
                </a:solidFill>
                <a:effectLst/>
                <a:latin typeface="Arial" panose="020B0604020202020204" pitchFamily="34" charset="0"/>
              </a:rPr>
              <a:t>substitute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values for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mass.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081" y="3117292"/>
            <a:ext cx="2927435" cy="37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687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2640" y="427208"/>
            <a:ext cx="112624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may also want to find the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mass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object.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also do this by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rearranging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formula for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kinetic energy.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find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mass,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need to make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subject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this equation. Here's how we </a:t>
            </a:r>
            <a:r>
              <a:rPr lang="en-AU" sz="2400" b="1" i="0" dirty="0" smtClean="0">
                <a:solidFill>
                  <a:srgbClr val="00B6EE"/>
                </a:solidFill>
                <a:effectLst/>
                <a:latin typeface="Arial" panose="020B0604020202020204" pitchFamily="34" charset="0"/>
              </a:rPr>
              <a:t>rearrange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equation: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127" y="2735532"/>
            <a:ext cx="8403297" cy="366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441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1043</Words>
  <Application>Microsoft Office PowerPoint</Application>
  <PresentationFormat>Widescreen</PresentationFormat>
  <Paragraphs>73</Paragraphs>
  <Slides>22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KaTeX_Main</vt:lpstr>
      <vt:lpstr>Office Theme</vt:lpstr>
      <vt:lpstr>Calculating KE and GPE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Calculating KE and GPE</dc:title>
  <dc:creator>D'CRUZ Jean [Narrogin Senior High School]</dc:creator>
  <cp:lastModifiedBy>D'CRUZ Jean [Narrogin Senior High School]</cp:lastModifiedBy>
  <cp:revision>2</cp:revision>
  <dcterms:created xsi:type="dcterms:W3CDTF">2020-07-20T06:25:23Z</dcterms:created>
  <dcterms:modified xsi:type="dcterms:W3CDTF">2020-07-20T06:31:06Z</dcterms:modified>
</cp:coreProperties>
</file>
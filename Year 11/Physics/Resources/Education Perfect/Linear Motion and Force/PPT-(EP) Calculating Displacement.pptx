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E733-C493-4D0C-B749-DB9E29CAC96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E2415-0309-492D-9169-D8515ABE3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4122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E733-C493-4D0C-B749-DB9E29CAC96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E2415-0309-492D-9169-D8515ABE3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1884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E733-C493-4D0C-B749-DB9E29CAC96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E2415-0309-492D-9169-D8515ABE3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1804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E733-C493-4D0C-B749-DB9E29CAC96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E2415-0309-492D-9169-D8515ABE3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8611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E733-C493-4D0C-B749-DB9E29CAC96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E2415-0309-492D-9169-D8515ABE3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7790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E733-C493-4D0C-B749-DB9E29CAC96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E2415-0309-492D-9169-D8515ABE3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6384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E733-C493-4D0C-B749-DB9E29CAC96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E2415-0309-492D-9169-D8515ABE3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5628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E733-C493-4D0C-B749-DB9E29CAC96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E2415-0309-492D-9169-D8515ABE3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888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E733-C493-4D0C-B749-DB9E29CAC96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E2415-0309-492D-9169-D8515ABE3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2236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E733-C493-4D0C-B749-DB9E29CAC96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E2415-0309-492D-9169-D8515ABE3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0236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9E733-C493-4D0C-B749-DB9E29CAC96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E2415-0309-492D-9169-D8515ABE3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5645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9E733-C493-4D0C-B749-DB9E29CAC96A}" type="datetimeFigureOut">
              <a:rPr lang="en-AU" smtClean="0"/>
              <a:t>15/07/2020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E2415-0309-492D-9169-D8515ABE3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400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vFeR1MAm9tI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Calculating Displacement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8674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245239"/>
            <a:ext cx="115189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that you've learnt about what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is, let's learn how to </a:t>
            </a: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displacement.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will also learn about </a:t>
            </a:r>
            <a:r>
              <a:rPr lang="en-AU" sz="2400" b="1" i="0" dirty="0" smtClean="0">
                <a:solidFill>
                  <a:srgbClr val="E3316F"/>
                </a:solidFill>
                <a:effectLst/>
                <a:latin typeface="Arial" panose="020B0604020202020204" pitchFamily="34" charset="0"/>
              </a:rPr>
              <a:t>Pythagoras' Theorem,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is an essential tool for calculating displacements 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the lesson, you should be able to: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displacements.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E3316F"/>
                </a:solidFill>
                <a:effectLst/>
                <a:latin typeface="Arial" panose="020B0604020202020204" pitchFamily="34" charset="0"/>
              </a:rPr>
              <a:t>Pythagoras' Theorem.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Calculate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distances using </a:t>
            </a:r>
            <a:r>
              <a:rPr lang="en-AU" sz="2400" b="1" i="0" dirty="0" smtClean="0">
                <a:solidFill>
                  <a:srgbClr val="E3316F"/>
                </a:solidFill>
                <a:effectLst/>
                <a:latin typeface="Arial" panose="020B0604020202020204" pitchFamily="34" charset="0"/>
              </a:rPr>
              <a:t>Pythagoras' Theorem.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0071.7574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81474" y="3831841"/>
            <a:ext cx="3959225" cy="302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989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772636"/>
            <a:ext cx="11303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Calculating Displacement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an object travels a distance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x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certain direction and then travels a distance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 </a:t>
            </a:r>
            <a:r>
              <a:rPr lang="en-AU" sz="24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same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direction, we use the following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equation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calculate its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40100" y="2916535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2800" b="0" i="1" dirty="0" smtClean="0">
                <a:solidFill>
                  <a:srgbClr val="444444"/>
                </a:solidFill>
                <a:effectLst/>
                <a:latin typeface="KaTeX_Math"/>
              </a:rPr>
              <a:t/>
            </a:r>
            <a:br>
              <a:rPr lang="en-AU" sz="2800" b="0" i="1" dirty="0" smtClean="0">
                <a:solidFill>
                  <a:srgbClr val="444444"/>
                </a:solidFill>
                <a:effectLst/>
                <a:latin typeface="KaTeX_Math"/>
              </a:rPr>
            </a:br>
            <a:r>
              <a:rPr lang="en-AU" sz="2800" b="0" i="1" dirty="0" smtClean="0">
                <a:solidFill>
                  <a:srgbClr val="444444"/>
                </a:solidFill>
                <a:effectLst/>
                <a:latin typeface="KaTeX_Math"/>
              </a:rPr>
              <a:t>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2800" b="0" i="1" dirty="0" err="1" smtClean="0">
                <a:solidFill>
                  <a:srgbClr val="444444"/>
                </a:solidFill>
                <a:effectLst/>
                <a:latin typeface="KaTeX_Math"/>
              </a:rPr>
              <a:t>x</a:t>
            </a:r>
            <a:r>
              <a:rPr lang="en-AU" sz="2800" b="0" i="0" dirty="0" err="1" smtClean="0">
                <a:solidFill>
                  <a:srgbClr val="444444"/>
                </a:solidFill>
                <a:effectLst/>
                <a:latin typeface="KaTeX_Main"/>
              </a:rPr>
              <a:t>+</a:t>
            </a:r>
            <a:r>
              <a:rPr lang="en-AU" sz="2800" b="0" i="1" dirty="0" err="1" smtClean="0">
                <a:solidFill>
                  <a:srgbClr val="444444"/>
                </a:solidFill>
                <a:effectLst/>
                <a:latin typeface="KaTeX_Math"/>
              </a:rPr>
              <a:t>y</a:t>
            </a:r>
            <a:endParaRPr lang="en-AU" sz="28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24197625.702641g/1524197625670-3056342234859781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387" y="4130675"/>
            <a:ext cx="759142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7632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6900" y="530136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Consider a surfer. He paddles </a:t>
            </a:r>
            <a:r>
              <a:rPr lang="en-AU" sz="24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east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away from the beach, out into the sea. After reaching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he stops to rest. Then he starts paddling again for a further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30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same direction.</a:t>
            </a:r>
            <a:endParaRPr lang="en-AU" sz="2400" dirty="0"/>
          </a:p>
        </p:txBody>
      </p:sp>
      <p:pic>
        <p:nvPicPr>
          <p:cNvPr id="3" name="1509326067.6856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692900" y="387349"/>
            <a:ext cx="4318000" cy="23209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30300" y="2943136"/>
            <a:ext cx="96901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surfer's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displacement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found by adding together those two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distances,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like this: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=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m+30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m=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50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east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24197193.221691g/1524197193203-3056342234859781-400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4512796"/>
            <a:ext cx="3790950" cy="16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8483600" y="5522356"/>
            <a:ext cx="4279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Remember,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mathematical symbol for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displacement.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41071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0700" y="274935"/>
            <a:ext cx="104775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an object travels a distance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x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certain direction and then travels distance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opposite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direction, we use the following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formula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calculate displacement: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2882900" y="1698536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AU" sz="3200" b="0" i="1" dirty="0" smtClean="0">
                <a:solidFill>
                  <a:srgbClr val="444444"/>
                </a:solidFill>
                <a:effectLst/>
                <a:latin typeface="KaTeX_Math"/>
              </a:rPr>
              <a:t/>
            </a:r>
            <a:br>
              <a:rPr lang="en-AU" sz="3200" b="0" i="1" dirty="0" smtClean="0">
                <a:solidFill>
                  <a:srgbClr val="444444"/>
                </a:solidFill>
                <a:effectLst/>
                <a:latin typeface="KaTeX_Math"/>
              </a:rPr>
            </a:br>
            <a:r>
              <a:rPr lang="en-AU" sz="3200" b="0" i="1" dirty="0" smtClean="0">
                <a:solidFill>
                  <a:srgbClr val="444444"/>
                </a:solidFill>
                <a:effectLst/>
                <a:latin typeface="KaTeX_Math"/>
              </a:rPr>
              <a:t>s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3200" b="0" i="1" dirty="0" smtClean="0">
                <a:solidFill>
                  <a:srgbClr val="444444"/>
                </a:solidFill>
                <a:effectLst/>
                <a:latin typeface="KaTeX_Math"/>
              </a:rPr>
              <a:t>x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KaTeX_Main"/>
              </a:rPr>
              <a:t>−</a:t>
            </a:r>
            <a:r>
              <a:rPr lang="en-AU" sz="3200" b="0" i="1" dirty="0" smtClean="0">
                <a:solidFill>
                  <a:srgbClr val="444444"/>
                </a:solidFill>
                <a:effectLst/>
                <a:latin typeface="KaTeX_Math"/>
              </a:rPr>
              <a:t>y</a:t>
            </a:r>
            <a:endParaRPr lang="en-AU" sz="32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sz="3200" dirty="0" smtClean="0"/>
              <a:t/>
            </a:r>
            <a:br>
              <a:rPr lang="en-AU" sz="3200" dirty="0" smtClean="0"/>
            </a:br>
            <a:endParaRPr lang="en-AU" sz="3200" dirty="0"/>
          </a:p>
        </p:txBody>
      </p:sp>
      <p:pic>
        <p:nvPicPr>
          <p:cNvPr id="3074" name="Picture 2" descr="https://www.educationperfect.com/media/content/Science/1524197802.278151g/1524197802091-3056342234859781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950" y="3760639"/>
            <a:ext cx="7581900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454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054152"/>
              </p:ext>
            </p:extLst>
          </p:nvPr>
        </p:nvGraphicFramePr>
        <p:xfrm>
          <a:off x="615950" y="411004"/>
          <a:ext cx="5441950" cy="2674620"/>
        </p:xfrm>
        <a:graphic>
          <a:graphicData uri="http://schemas.openxmlformats.org/drawingml/2006/table">
            <a:tbl>
              <a:tblPr/>
              <a:tblGrid>
                <a:gridCol w="5441950">
                  <a:extLst>
                    <a:ext uri="{9D8B030D-6E8A-4147-A177-3AD203B41FA5}">
                      <a16:colId xmlns:a16="http://schemas.microsoft.com/office/drawing/2014/main" val="16950079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For this example, let's have a look at another surfer. Suppose he paddles </a:t>
                      </a:r>
                      <a:r>
                        <a:rPr lang="en-AU" sz="2400" b="1" dirty="0">
                          <a:effectLst/>
                          <a:latin typeface="KaTeX_Main"/>
                        </a:rPr>
                        <a:t>15</a:t>
                      </a:r>
                      <a:r>
                        <a:rPr lang="en-AU" sz="2400" dirty="0">
                          <a:effectLst/>
                          <a:latin typeface="KaTeX_Main"/>
                        </a:rPr>
                        <a:t> </a:t>
                      </a:r>
                      <a:r>
                        <a:rPr lang="en-AU" sz="2400" b="1" dirty="0">
                          <a:effectLst/>
                          <a:latin typeface="KaTeX_Main"/>
                        </a:rPr>
                        <a:t> m</a:t>
                      </a:r>
                      <a:r>
                        <a:rPr lang="en-AU" sz="2400" dirty="0">
                          <a:effectLst/>
                        </a:rPr>
                        <a:t> to the </a:t>
                      </a:r>
                      <a:r>
                        <a:rPr lang="en-AU" sz="2400" b="1" dirty="0">
                          <a:solidFill>
                            <a:srgbClr val="2FCC71"/>
                          </a:solidFill>
                          <a:effectLst/>
                        </a:rPr>
                        <a:t>east,</a:t>
                      </a:r>
                      <a:r>
                        <a:rPr lang="en-AU" sz="2400" dirty="0">
                          <a:effectLst/>
                        </a:rPr>
                        <a:t> then catches a wave that carries him </a:t>
                      </a:r>
                      <a:r>
                        <a:rPr lang="en-AU" sz="2400" b="1" dirty="0">
                          <a:effectLst/>
                          <a:latin typeface="KaTeX_Main"/>
                        </a:rPr>
                        <a:t>25</a:t>
                      </a:r>
                      <a:r>
                        <a:rPr lang="en-AU" sz="2400" dirty="0">
                          <a:effectLst/>
                          <a:latin typeface="KaTeX_Main"/>
                        </a:rPr>
                        <a:t> </a:t>
                      </a:r>
                      <a:r>
                        <a:rPr lang="en-AU" sz="2400" b="1" dirty="0">
                          <a:effectLst/>
                          <a:latin typeface="KaTeX_Main"/>
                        </a:rPr>
                        <a:t> m</a:t>
                      </a:r>
                      <a:r>
                        <a:rPr lang="en-AU" sz="2400" dirty="0">
                          <a:effectLst/>
                        </a:rPr>
                        <a:t> to the </a:t>
                      </a:r>
                      <a:r>
                        <a:rPr lang="en-AU" sz="2400" b="1" dirty="0">
                          <a:solidFill>
                            <a:srgbClr val="3598DC"/>
                          </a:solidFill>
                          <a:effectLst/>
                        </a:rPr>
                        <a:t>west.</a:t>
                      </a:r>
                      <a:r>
                        <a:rPr lang="en-AU" sz="2400" dirty="0">
                          <a:effectLst/>
                        </a:rPr>
                        <a:t> To find his displacement, we need to </a:t>
                      </a:r>
                      <a:r>
                        <a:rPr lang="en-AU" sz="2400" b="1" dirty="0">
                          <a:solidFill>
                            <a:srgbClr val="E84C3D"/>
                          </a:solidFill>
                          <a:effectLst/>
                        </a:rPr>
                        <a:t>subtract</a:t>
                      </a:r>
                      <a:r>
                        <a:rPr lang="en-AU" sz="2400" dirty="0">
                          <a:effectLst/>
                        </a:rPr>
                        <a:t> these two distances because they are in </a:t>
                      </a:r>
                      <a:r>
                        <a:rPr lang="en-AU" sz="2400" b="1" dirty="0">
                          <a:solidFill>
                            <a:srgbClr val="E84C3D"/>
                          </a:solidFill>
                          <a:effectLst/>
                        </a:rPr>
                        <a:t>opposite directions.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50136"/>
                  </a:ext>
                </a:extLst>
              </a:tr>
            </a:tbl>
          </a:graphicData>
        </a:graphic>
      </p:graphicFrame>
      <p:pic>
        <p:nvPicPr>
          <p:cNvPr id="4098" name="Picture 2" descr="https://www.educationperfect.com/Images/Content/Science/1369959685000-7494819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8225" y="474028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048000" y="3105835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/>
            </a:r>
            <a:b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</a:b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=25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m−15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m=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west</a:t>
            </a:r>
            <a:endParaRPr lang="en-AU" sz="2400" dirty="0"/>
          </a:p>
        </p:txBody>
      </p:sp>
      <p:pic>
        <p:nvPicPr>
          <p:cNvPr id="4100" name="Picture 4" descr="https://www.educationperfect.com/media/content/Science/1524198827.547071g/1524198827550-3056342234859781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575" y="4473575"/>
            <a:ext cx="379095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143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FeR1MAm9tI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295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211435"/>
            <a:ext cx="1143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Pythagoras' Theorem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mathematical expression that relates the three side lengths of a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right-angled triangle.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Science/1524717935.38211g/1524717935370-760709831259795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75" y="1287462"/>
            <a:ext cx="3800475" cy="200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44500" y="3532743"/>
            <a:ext cx="115697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Consider this triangle. It has a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right angle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shown by the red square.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side opposite the right angle,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is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longest side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triangle.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b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simply the other two sides.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169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502335"/>
            <a:ext cx="10871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Pythagoras' Theorem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by the following equation: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775200" y="60393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3600" b="0" i="1" dirty="0" smtClean="0">
                <a:solidFill>
                  <a:srgbClr val="444444"/>
                </a:solidFill>
                <a:effectLst/>
                <a:latin typeface="KaTeX_Math"/>
              </a:rPr>
              <a:t/>
            </a:r>
            <a:br>
              <a:rPr lang="en-AU" sz="3600" b="0" i="1" dirty="0" smtClean="0">
                <a:solidFill>
                  <a:srgbClr val="444444"/>
                </a:solidFill>
                <a:effectLst/>
                <a:latin typeface="KaTeX_Math"/>
              </a:rPr>
            </a:br>
            <a:r>
              <a:rPr lang="en-AU" sz="3600" b="0" i="1" dirty="0" smtClean="0">
                <a:solidFill>
                  <a:srgbClr val="444444"/>
                </a:solidFill>
                <a:effectLst/>
                <a:latin typeface="KaTeX_Math"/>
              </a:rPr>
              <a:t>c</a:t>
            </a:r>
            <a:r>
              <a:rPr lang="en-AU" sz="36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36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3600" b="0" i="1" dirty="0" smtClean="0">
                <a:solidFill>
                  <a:srgbClr val="444444"/>
                </a:solidFill>
                <a:effectLst/>
                <a:latin typeface="KaTeX_Math"/>
              </a:rPr>
              <a:t>a</a:t>
            </a:r>
            <a:r>
              <a:rPr lang="en-AU" sz="36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3600" b="0" i="0" dirty="0" smtClean="0">
                <a:solidFill>
                  <a:srgbClr val="444444"/>
                </a:solidFill>
                <a:effectLst/>
                <a:latin typeface="KaTeX_Main"/>
              </a:rPr>
              <a:t>+</a:t>
            </a:r>
            <a:r>
              <a:rPr lang="en-AU" sz="3600" b="0" i="1" dirty="0" smtClean="0">
                <a:solidFill>
                  <a:srgbClr val="444444"/>
                </a:solidFill>
                <a:effectLst/>
                <a:latin typeface="KaTeX_Math"/>
              </a:rPr>
              <a:t>b</a:t>
            </a:r>
            <a:r>
              <a:rPr lang="en-AU" sz="36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endParaRPr lang="en-AU" sz="3600" baseline="30000" dirty="0"/>
          </a:p>
        </p:txBody>
      </p:sp>
      <p:sp>
        <p:nvSpPr>
          <p:cNvPr id="4" name="Rectangle 3"/>
          <p:cNvSpPr/>
          <p:nvPr/>
        </p:nvSpPr>
        <p:spPr>
          <a:xfrm>
            <a:off x="1092200" y="2423636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We'll look at a written </a:t>
            </a:r>
            <a:r>
              <a:rPr lang="en-AU" sz="2400" b="1" i="0" dirty="0" smtClean="0">
                <a:solidFill>
                  <a:srgbClr val="E84C3D"/>
                </a:solidFill>
                <a:effectLst/>
                <a:latin typeface="Arial" panose="020B0604020202020204" pitchFamily="34" charset="0"/>
              </a:rPr>
              <a:t>example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how it's used, but first, let's think about why we need to use this equation at all.</a:t>
            </a: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Imagine your neighbour's pet </a:t>
            </a:r>
            <a:r>
              <a:rPr lang="en-AU" sz="2400" b="1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perentie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broken loose and is wandering around the block. (Scary thought, right?)</a:t>
            </a:r>
            <a:endParaRPr lang="en-AU" sz="2400" dirty="0"/>
          </a:p>
        </p:txBody>
      </p:sp>
      <p:pic>
        <p:nvPicPr>
          <p:cNvPr id="6146" name="Picture 2" descr="https://www.educationperfect.com/media/content/Science/1454378620.891361g/1454378626460-421237273536681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2548592"/>
            <a:ext cx="38100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7996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1638" y="196334"/>
            <a:ext cx="37385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wandering </a:t>
            </a:r>
            <a:r>
              <a:rPr lang="en-AU" sz="2400" b="1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perentie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: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524" y="657999"/>
            <a:ext cx="10048875" cy="613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568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276136"/>
            <a:ext cx="11404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let's put some numbers on that triangle and find the 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perentie's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displacement.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Say it moved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45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south,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then smelled a tasty BBQ down the road and walked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60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east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toward it.</a:t>
            </a:r>
            <a:endParaRPr lang="en-AU" sz="2400" dirty="0"/>
          </a:p>
        </p:txBody>
      </p:sp>
      <p:pic>
        <p:nvPicPr>
          <p:cNvPr id="7170" name="Picture 2" descr="https://www.educationperfect.com/media/content/Science/1525737362.032311g/1525737362053-44288816201275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1582737"/>
            <a:ext cx="3810000" cy="244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s://www.educationperfect.com/media/content/Science/1521777215.617621g/1521777215879-4472415115778077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575" y="1854200"/>
            <a:ext cx="187642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46100" y="4860835"/>
            <a:ext cx="11645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equation for </a:t>
            </a:r>
            <a:r>
              <a:rPr lang="en-AU" sz="24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Pythagoras' Theorem,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can say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45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b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=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60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34155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0"/>
            <a:ext cx="10452100" cy="653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983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196840"/>
            <a:ext cx="11480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more thing.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example, the answer came out as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whole number,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when you use </a:t>
            </a:r>
            <a:r>
              <a:rPr lang="en-AU" sz="2400" b="1" i="0" dirty="0" smtClean="0">
                <a:solidFill>
                  <a:srgbClr val="2FCC71"/>
                </a:solidFill>
                <a:effectLst/>
                <a:latin typeface="Arial" panose="020B0604020202020204" pitchFamily="34" charset="0"/>
              </a:rPr>
              <a:t>Pythagoras' Theorem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often get answers that are </a:t>
            </a:r>
            <a:r>
              <a:rPr lang="en-AU" sz="2400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recurring decimals.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means they have an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infinite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number of digits!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 get an answer like this, it must be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rounded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 computer can mark it. In the exercises that follow, our answers will be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rounded to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significant figures.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can leave them more accurate if you want to.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07085148.243511g/1507085156198-3014388425102806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982492"/>
            <a:ext cx="3810000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4859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Microsoft Office PowerPoint</Application>
  <PresentationFormat>Widescreen</PresentationFormat>
  <Paragraphs>39</Paragraphs>
  <Slides>13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KaTeX_Main</vt:lpstr>
      <vt:lpstr>KaTeX_Math</vt:lpstr>
      <vt:lpstr>Office Theme</vt:lpstr>
      <vt:lpstr>Calculating Displacement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Calculating Displacement</dc:title>
  <dc:creator>Joseph D'cruz</dc:creator>
  <cp:lastModifiedBy>Joseph D'cruz</cp:lastModifiedBy>
  <cp:revision>1</cp:revision>
  <dcterms:created xsi:type="dcterms:W3CDTF">2020-07-15T09:35:33Z</dcterms:created>
  <dcterms:modified xsi:type="dcterms:W3CDTF">2020-07-15T09:35:51Z</dcterms:modified>
</cp:coreProperties>
</file>
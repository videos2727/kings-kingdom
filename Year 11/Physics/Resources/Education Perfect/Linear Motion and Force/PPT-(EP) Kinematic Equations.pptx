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51E2AA61-27F8-4764-8E29-98FBEFA0971D}" type="datetimeFigureOut">
              <a:rPr lang="en-AU" smtClean="0"/>
              <a:t>15/07/2020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5C4F2B-865A-4F2B-8B84-49A1BE87B10F}" type="slidenum">
              <a:rPr lang="en-AU" smtClean="0"/>
              <a:t>‹#›</a:t>
            </a:fld>
            <a:endParaRPr lang="en-AU"/>
          </a:p>
        </p:txBody>
      </p:sp>
    </p:spTree>
    <p:extLst>
      <p:ext uri="{BB962C8B-B14F-4D97-AF65-F5344CB8AC3E}">
        <p14:creationId xmlns:p14="http://schemas.microsoft.com/office/powerpoint/2010/main" val="2594823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51E2AA61-27F8-4764-8E29-98FBEFA0971D}" type="datetimeFigureOut">
              <a:rPr lang="en-AU" smtClean="0"/>
              <a:t>15/07/2020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5C4F2B-865A-4F2B-8B84-49A1BE87B10F}" type="slidenum">
              <a:rPr lang="en-AU" smtClean="0"/>
              <a:t>‹#›</a:t>
            </a:fld>
            <a:endParaRPr lang="en-AU"/>
          </a:p>
        </p:txBody>
      </p:sp>
    </p:spTree>
    <p:extLst>
      <p:ext uri="{BB962C8B-B14F-4D97-AF65-F5344CB8AC3E}">
        <p14:creationId xmlns:p14="http://schemas.microsoft.com/office/powerpoint/2010/main" val="2833702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1E2AA61-27F8-4764-8E29-98FBEFA0971D}" type="datetimeFigureOut">
              <a:rPr lang="en-AU" smtClean="0"/>
              <a:t>15/07/2020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5C4F2B-865A-4F2B-8B84-49A1BE87B10F}" type="slidenum">
              <a:rPr lang="en-AU" smtClean="0"/>
              <a:t>‹#›</a:t>
            </a:fld>
            <a:endParaRPr lang="en-AU"/>
          </a:p>
        </p:txBody>
      </p:sp>
    </p:spTree>
    <p:extLst>
      <p:ext uri="{BB962C8B-B14F-4D97-AF65-F5344CB8AC3E}">
        <p14:creationId xmlns:p14="http://schemas.microsoft.com/office/powerpoint/2010/main" val="3766948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51E2AA61-27F8-4764-8E29-98FBEFA0971D}" type="datetimeFigureOut">
              <a:rPr lang="en-AU" smtClean="0"/>
              <a:t>15/07/2020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55C4F2B-865A-4F2B-8B84-49A1BE87B10F}" type="slidenum">
              <a:rPr lang="en-AU" smtClean="0"/>
              <a:t>‹#›</a:t>
            </a:fld>
            <a:endParaRPr lang="en-AU"/>
          </a:p>
        </p:txBody>
      </p:sp>
    </p:spTree>
    <p:extLst>
      <p:ext uri="{BB962C8B-B14F-4D97-AF65-F5344CB8AC3E}">
        <p14:creationId xmlns:p14="http://schemas.microsoft.com/office/powerpoint/2010/main" val="3668560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51E2AA61-27F8-4764-8E29-98FBEFA0971D}" type="datetimeFigureOut">
              <a:rPr lang="en-AU" smtClean="0"/>
              <a:t>15/07/2020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255C4F2B-865A-4F2B-8B84-49A1BE87B10F}" type="slidenum">
              <a:rPr lang="en-AU" smtClean="0"/>
              <a:t>‹#›</a:t>
            </a:fld>
            <a:endParaRPr lang="en-AU"/>
          </a:p>
        </p:txBody>
      </p:sp>
    </p:spTree>
    <p:extLst>
      <p:ext uri="{BB962C8B-B14F-4D97-AF65-F5344CB8AC3E}">
        <p14:creationId xmlns:p14="http://schemas.microsoft.com/office/powerpoint/2010/main" val="3916839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51E2AA61-27F8-4764-8E29-98FBEFA0971D}" type="datetimeFigureOut">
              <a:rPr lang="en-AU" smtClean="0"/>
              <a:t>15/07/2020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255C4F2B-865A-4F2B-8B84-49A1BE87B10F}" type="slidenum">
              <a:rPr lang="en-AU" smtClean="0"/>
              <a:t>‹#›</a:t>
            </a:fld>
            <a:endParaRPr lang="en-AU"/>
          </a:p>
        </p:txBody>
      </p:sp>
    </p:spTree>
    <p:extLst>
      <p:ext uri="{BB962C8B-B14F-4D97-AF65-F5344CB8AC3E}">
        <p14:creationId xmlns:p14="http://schemas.microsoft.com/office/powerpoint/2010/main" val="3617514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E2AA61-27F8-4764-8E29-98FBEFA0971D}" type="datetimeFigureOut">
              <a:rPr lang="en-AU" smtClean="0"/>
              <a:t>15/07/2020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255C4F2B-865A-4F2B-8B84-49A1BE87B10F}" type="slidenum">
              <a:rPr lang="en-AU" smtClean="0"/>
              <a:t>‹#›</a:t>
            </a:fld>
            <a:endParaRPr lang="en-AU"/>
          </a:p>
        </p:txBody>
      </p:sp>
    </p:spTree>
    <p:extLst>
      <p:ext uri="{BB962C8B-B14F-4D97-AF65-F5344CB8AC3E}">
        <p14:creationId xmlns:p14="http://schemas.microsoft.com/office/powerpoint/2010/main" val="13308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1E2AA61-27F8-4764-8E29-98FBEFA0971D}" type="datetimeFigureOut">
              <a:rPr lang="en-AU" smtClean="0"/>
              <a:t>15/07/2020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55C4F2B-865A-4F2B-8B84-49A1BE87B10F}" type="slidenum">
              <a:rPr lang="en-AU" smtClean="0"/>
              <a:t>‹#›</a:t>
            </a:fld>
            <a:endParaRPr lang="en-AU"/>
          </a:p>
        </p:txBody>
      </p:sp>
    </p:spTree>
    <p:extLst>
      <p:ext uri="{BB962C8B-B14F-4D97-AF65-F5344CB8AC3E}">
        <p14:creationId xmlns:p14="http://schemas.microsoft.com/office/powerpoint/2010/main" val="2706238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1E2AA61-27F8-4764-8E29-98FBEFA0971D}" type="datetimeFigureOut">
              <a:rPr lang="en-AU" smtClean="0"/>
              <a:t>15/07/2020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55C4F2B-865A-4F2B-8B84-49A1BE87B10F}" type="slidenum">
              <a:rPr lang="en-AU" smtClean="0"/>
              <a:t>‹#›</a:t>
            </a:fld>
            <a:endParaRPr lang="en-AU"/>
          </a:p>
        </p:txBody>
      </p:sp>
    </p:spTree>
    <p:extLst>
      <p:ext uri="{BB962C8B-B14F-4D97-AF65-F5344CB8AC3E}">
        <p14:creationId xmlns:p14="http://schemas.microsoft.com/office/powerpoint/2010/main" val="1152569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51E2AA61-27F8-4764-8E29-98FBEFA0971D}" type="datetimeFigureOut">
              <a:rPr lang="en-AU" smtClean="0"/>
              <a:t>15/07/2020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5C4F2B-865A-4F2B-8B84-49A1BE87B10F}" type="slidenum">
              <a:rPr lang="en-AU" smtClean="0"/>
              <a:t>‹#›</a:t>
            </a:fld>
            <a:endParaRPr lang="en-AU"/>
          </a:p>
        </p:txBody>
      </p:sp>
    </p:spTree>
    <p:extLst>
      <p:ext uri="{BB962C8B-B14F-4D97-AF65-F5344CB8AC3E}">
        <p14:creationId xmlns:p14="http://schemas.microsoft.com/office/powerpoint/2010/main" val="1229681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51E2AA61-27F8-4764-8E29-98FBEFA0971D}" type="datetimeFigureOut">
              <a:rPr lang="en-AU" smtClean="0"/>
              <a:t>15/07/2020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5C4F2B-865A-4F2B-8B84-49A1BE87B10F}" type="slidenum">
              <a:rPr lang="en-AU" smtClean="0"/>
              <a:t>‹#›</a:t>
            </a:fld>
            <a:endParaRPr lang="en-AU"/>
          </a:p>
        </p:txBody>
      </p:sp>
    </p:spTree>
    <p:extLst>
      <p:ext uri="{BB962C8B-B14F-4D97-AF65-F5344CB8AC3E}">
        <p14:creationId xmlns:p14="http://schemas.microsoft.com/office/powerpoint/2010/main" val="316113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E2AA61-27F8-4764-8E29-98FBEFA0971D}" type="datetimeFigureOut">
              <a:rPr lang="en-AU" smtClean="0"/>
              <a:t>15/07/2020</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5C4F2B-865A-4F2B-8B84-49A1BE87B10F}" type="slidenum">
              <a:rPr lang="en-AU" smtClean="0"/>
              <a:t>‹#›</a:t>
            </a:fld>
            <a:endParaRPr lang="en-AU"/>
          </a:p>
        </p:txBody>
      </p:sp>
    </p:spTree>
    <p:extLst>
      <p:ext uri="{BB962C8B-B14F-4D97-AF65-F5344CB8AC3E}">
        <p14:creationId xmlns:p14="http://schemas.microsoft.com/office/powerpoint/2010/main" val="642275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Kinematic Equations</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2712765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57300" y="885736"/>
            <a:ext cx="10071100" cy="1569660"/>
          </a:xfrm>
          <a:prstGeom prst="rect">
            <a:avLst/>
          </a:prstGeom>
        </p:spPr>
        <p:txBody>
          <a:bodyPr wrap="square">
            <a:spAutoFit/>
          </a:bodyPr>
          <a:lstStyle/>
          <a:p>
            <a:pPr algn="ctr"/>
            <a:r>
              <a:rPr lang="en-AU" sz="2400" b="0" i="0" dirty="0" smtClean="0">
                <a:solidFill>
                  <a:srgbClr val="444444"/>
                </a:solidFill>
                <a:effectLst/>
                <a:latin typeface="Arial" panose="020B0604020202020204" pitchFamily="34" charset="0"/>
              </a:rPr>
              <a:t>In this Smart Lesson you will learn to:</a:t>
            </a:r>
          </a:p>
          <a:p>
            <a:pPr algn="ctr"/>
            <a:r>
              <a:rPr lang="en-AU" sz="2400" b="0" i="0" dirty="0" smtClean="0">
                <a:solidFill>
                  <a:srgbClr val="444444"/>
                </a:solidFill>
                <a:effectLst/>
                <a:latin typeface="Arial" panose="020B0604020202020204" pitchFamily="34" charset="0"/>
              </a:rPr>
              <a:t> </a:t>
            </a:r>
          </a:p>
          <a:p>
            <a:pPr>
              <a:buFont typeface="Arial" panose="020B0604020202020204" pitchFamily="34" charset="0"/>
              <a:buChar char="•"/>
            </a:pPr>
            <a:r>
              <a:rPr lang="en-AU" sz="2400" b="1" i="0" dirty="0" smtClean="0">
                <a:solidFill>
                  <a:srgbClr val="009900"/>
                </a:solidFill>
                <a:effectLst/>
                <a:latin typeface="Arial" panose="020B0604020202020204" pitchFamily="34" charset="0"/>
              </a:rPr>
              <a:t>Recall </a:t>
            </a:r>
            <a:r>
              <a:rPr lang="en-AU" sz="2400" b="0" i="0" dirty="0" smtClean="0">
                <a:solidFill>
                  <a:srgbClr val="444444"/>
                </a:solidFill>
                <a:effectLst/>
                <a:latin typeface="Arial" panose="020B0604020202020204" pitchFamily="34" charset="0"/>
              </a:rPr>
              <a:t>the </a:t>
            </a:r>
            <a:r>
              <a:rPr lang="en-AU" sz="2400" b="1" i="0" dirty="0" smtClean="0">
                <a:solidFill>
                  <a:srgbClr val="0066CC"/>
                </a:solidFill>
                <a:effectLst/>
                <a:latin typeface="Arial" panose="020B0604020202020204" pitchFamily="34" charset="0"/>
              </a:rPr>
              <a:t>kinematic equations.</a:t>
            </a:r>
            <a:endParaRPr lang="en-AU" sz="2400" b="0" i="0" dirty="0" smtClean="0">
              <a:solidFill>
                <a:srgbClr val="444444"/>
              </a:solidFill>
              <a:effectLst/>
              <a:latin typeface="Arial" panose="020B0604020202020204" pitchFamily="34" charset="0"/>
            </a:endParaRPr>
          </a:p>
          <a:p>
            <a:pPr>
              <a:buFont typeface="Arial" panose="020B0604020202020204" pitchFamily="34" charset="0"/>
              <a:buChar char="•"/>
            </a:pPr>
            <a:r>
              <a:rPr lang="en-AU" sz="2400" b="1" i="0" dirty="0" smtClean="0">
                <a:solidFill>
                  <a:srgbClr val="571A98"/>
                </a:solidFill>
                <a:effectLst/>
                <a:latin typeface="Arial" panose="020B0604020202020204" pitchFamily="34" charset="0"/>
              </a:rPr>
              <a:t>Solve</a:t>
            </a:r>
            <a:r>
              <a:rPr lang="en-AU" sz="2400" b="0" i="0" dirty="0" smtClean="0">
                <a:solidFill>
                  <a:srgbClr val="444444"/>
                </a:solidFill>
                <a:effectLst/>
                <a:latin typeface="Arial" panose="020B0604020202020204" pitchFamily="34" charset="0"/>
              </a:rPr>
              <a:t> problems using the </a:t>
            </a:r>
            <a:r>
              <a:rPr lang="en-AU" sz="2400" b="1" i="0" dirty="0" smtClean="0">
                <a:solidFill>
                  <a:srgbClr val="0066CC"/>
                </a:solidFill>
                <a:effectLst/>
                <a:latin typeface="Arial" panose="020B0604020202020204" pitchFamily="34" charset="0"/>
              </a:rPr>
              <a:t>kinematic equations.</a:t>
            </a:r>
            <a:endParaRPr lang="en-AU" sz="2400" b="0" i="0" dirty="0">
              <a:solidFill>
                <a:srgbClr val="444444"/>
              </a:solidFill>
              <a:effectLst/>
              <a:latin typeface="Arial" panose="020B0604020202020204" pitchFamily="34" charset="0"/>
            </a:endParaRPr>
          </a:p>
        </p:txBody>
      </p:sp>
      <p:pic>
        <p:nvPicPr>
          <p:cNvPr id="3" name="1512424716.37126">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619500" y="3000374"/>
            <a:ext cx="4991100" cy="3743325"/>
          </a:xfrm>
          <a:prstGeom prst="rect">
            <a:avLst/>
          </a:prstGeom>
        </p:spPr>
      </p:pic>
    </p:spTree>
    <p:extLst>
      <p:ext uri="{BB962C8B-B14F-4D97-AF65-F5344CB8AC3E}">
        <p14:creationId xmlns:p14="http://schemas.microsoft.com/office/powerpoint/2010/main" val="3886810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35"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6400" y="40839"/>
            <a:ext cx="11188700" cy="3046988"/>
          </a:xfrm>
          <a:prstGeom prst="rect">
            <a:avLst/>
          </a:prstGeom>
        </p:spPr>
        <p:txBody>
          <a:bodyPr wrap="square">
            <a:spAutoFit/>
          </a:bodyPr>
          <a:lstStyle/>
          <a:p>
            <a:pPr algn="ctr"/>
            <a:r>
              <a:rPr lang="en-AU" sz="2400" b="1" i="0" smtClean="0">
                <a:solidFill>
                  <a:srgbClr val="444444"/>
                </a:solidFill>
                <a:effectLst/>
                <a:latin typeface="Arial" panose="020B0604020202020204" pitchFamily="34" charset="0"/>
              </a:rPr>
              <a:t>In this lesson, we will be learning about </a:t>
            </a:r>
            <a:r>
              <a:rPr lang="en-AU" sz="2400" b="1" i="0" smtClean="0">
                <a:solidFill>
                  <a:srgbClr val="FF9505"/>
                </a:solidFill>
                <a:effectLst/>
                <a:latin typeface="Arial" panose="020B0604020202020204" pitchFamily="34" charset="0"/>
              </a:rPr>
              <a:t>kinematics</a:t>
            </a:r>
            <a:r>
              <a:rPr lang="en-AU" sz="2400" b="1" i="0" smtClean="0">
                <a:solidFill>
                  <a:srgbClr val="444444"/>
                </a:solidFill>
                <a:effectLst/>
                <a:latin typeface="Arial" panose="020B0604020202020204" pitchFamily="34" charset="0"/>
              </a:rPr>
              <a:t> in the context of weapons of war in medieval times.</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 medieval period was a </a:t>
            </a:r>
            <a:r>
              <a:rPr lang="en-AU" sz="2400" b="1" i="0" dirty="0" smtClean="0">
                <a:solidFill>
                  <a:srgbClr val="C81F27"/>
                </a:solidFill>
                <a:effectLst/>
                <a:latin typeface="Arial" panose="020B0604020202020204" pitchFamily="34" charset="0"/>
              </a:rPr>
              <a:t>violent period of history,</a:t>
            </a:r>
            <a:r>
              <a:rPr lang="en-AU" sz="2400" b="0" i="0" dirty="0" smtClean="0">
                <a:solidFill>
                  <a:srgbClr val="444444"/>
                </a:solidFill>
                <a:effectLst/>
                <a:latin typeface="Arial" panose="020B0604020202020204" pitchFamily="34" charset="0"/>
              </a:rPr>
              <a:t> and many different weapons were used during this time.</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 simple bow and arrow was one of the most effective killing devices as it could be fired from </a:t>
            </a:r>
            <a:r>
              <a:rPr lang="en-AU" sz="2400" b="1" i="0" dirty="0" smtClean="0">
                <a:solidFill>
                  <a:srgbClr val="0066CC"/>
                </a:solidFill>
                <a:effectLst/>
                <a:latin typeface="Arial" panose="020B0604020202020204" pitchFamily="34" charset="0"/>
              </a:rPr>
              <a:t>distance</a:t>
            </a:r>
            <a:r>
              <a:rPr lang="en-AU" sz="2400" b="0" i="0" dirty="0" smtClean="0">
                <a:solidFill>
                  <a:srgbClr val="444444"/>
                </a:solidFill>
                <a:effectLst/>
                <a:latin typeface="Arial" panose="020B0604020202020204" pitchFamily="34" charset="0"/>
              </a:rPr>
              <a:t> on the battlefield or from the safety of a castle.</a:t>
            </a:r>
            <a:endParaRPr lang="en-AU" sz="2400" b="0" i="0" dirty="0">
              <a:solidFill>
                <a:srgbClr val="444444"/>
              </a:solidFill>
              <a:effectLst/>
              <a:latin typeface="Arial" panose="020B0604020202020204" pitchFamily="34" charset="0"/>
            </a:endParaRPr>
          </a:p>
        </p:txBody>
      </p:sp>
      <p:pic>
        <p:nvPicPr>
          <p:cNvPr id="1026" name="Picture 2" descr="https://www.educationperfect.com/media/content/History/1534291216.922861g/1534291216908-1586966969844383-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7475" y="3563937"/>
            <a:ext cx="3800475" cy="2686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896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300" y="533738"/>
            <a:ext cx="11760200" cy="1938992"/>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What are the </a:t>
            </a:r>
            <a:r>
              <a:rPr lang="en-AU" sz="2400" b="1" i="0" dirty="0" smtClean="0">
                <a:solidFill>
                  <a:srgbClr val="0066CC"/>
                </a:solidFill>
                <a:effectLst/>
                <a:latin typeface="Arial" panose="020B0604020202020204" pitchFamily="34" charset="0"/>
              </a:rPr>
              <a:t>kinematic equations?</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When you study Physics, it doesn't take long to find more complex situations where the velocity and acceleration definitions don't work by themselves. This means we need some more equations, the </a:t>
            </a:r>
            <a:r>
              <a:rPr lang="en-AU" sz="2400" b="1" i="0" dirty="0" smtClean="0">
                <a:solidFill>
                  <a:srgbClr val="0066CC"/>
                </a:solidFill>
                <a:effectLst/>
                <a:latin typeface="Arial" panose="020B0604020202020204" pitchFamily="34" charset="0"/>
              </a:rPr>
              <a:t>kinematic equations.</a:t>
            </a:r>
            <a:r>
              <a:rPr lang="en-AU" sz="2400" b="0" i="0" dirty="0" smtClean="0">
                <a:solidFill>
                  <a:srgbClr val="444444"/>
                </a:solidFill>
                <a:effectLst/>
                <a:latin typeface="Arial" panose="020B0604020202020204" pitchFamily="34" charset="0"/>
              </a:rPr>
              <a:t> Here they are in a nice table:</a:t>
            </a:r>
            <a:endParaRPr lang="en-AU" sz="2400"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3257550" y="2562662"/>
            <a:ext cx="4603750" cy="1502989"/>
          </a:xfrm>
          <a:prstGeom prst="rect">
            <a:avLst/>
          </a:prstGeom>
        </p:spPr>
      </p:pic>
      <p:sp>
        <p:nvSpPr>
          <p:cNvPr id="4" name="Rectangle 3"/>
          <p:cNvSpPr/>
          <p:nvPr/>
        </p:nvSpPr>
        <p:spPr>
          <a:xfrm>
            <a:off x="-44450" y="4315242"/>
            <a:ext cx="12077700" cy="2677656"/>
          </a:xfrm>
          <a:prstGeom prst="rect">
            <a:avLst/>
          </a:prstGeom>
        </p:spPr>
        <p:txBody>
          <a:bodyPr wrap="square">
            <a:spAutoFit/>
          </a:bodyPr>
          <a:lstStyle/>
          <a:p>
            <a:pPr algn="ctr"/>
            <a:r>
              <a:rPr lang="en-AU" sz="2400" b="0" i="0" dirty="0" smtClean="0">
                <a:solidFill>
                  <a:srgbClr val="444444"/>
                </a:solidFill>
                <a:effectLst/>
                <a:latin typeface="Arial" panose="020B0604020202020204" pitchFamily="34" charset="0"/>
              </a:rPr>
              <a:t>In the above equations, "s" can also be written as "d" (displacement).</a:t>
            </a:r>
            <a:br>
              <a:rPr lang="en-AU" sz="2400" b="0" i="0" dirty="0" smtClean="0">
                <a:solidFill>
                  <a:srgbClr val="444444"/>
                </a:solidFill>
                <a:effectLst/>
                <a:latin typeface="Arial" panose="020B0604020202020204" pitchFamily="34" charset="0"/>
              </a:rPr>
            </a:br>
            <a:r>
              <a:rPr lang="en-AU" sz="2400" b="0" i="0" dirty="0" smtClean="0">
                <a:solidFill>
                  <a:srgbClr val="444444"/>
                </a:solidFill>
                <a:effectLst/>
                <a:latin typeface="Arial" panose="020B0604020202020204" pitchFamily="34" charset="0"/>
              </a:rPr>
              <a:t>Also "v" may be written "</a:t>
            </a:r>
            <a:r>
              <a:rPr lang="en-AU" sz="2400" b="0" i="0" dirty="0" err="1" smtClean="0">
                <a:solidFill>
                  <a:srgbClr val="444444"/>
                </a:solidFill>
                <a:effectLst/>
                <a:latin typeface="KaTeX_Main"/>
              </a:rPr>
              <a:t>v</a:t>
            </a:r>
            <a:r>
              <a:rPr lang="en-AU" sz="2400" b="0" i="1" baseline="-25000" dirty="0" err="1" smtClean="0">
                <a:solidFill>
                  <a:srgbClr val="444444"/>
                </a:solidFill>
                <a:effectLst/>
                <a:latin typeface="KaTeX_Math"/>
              </a:rPr>
              <a:t>f</a:t>
            </a:r>
            <a:r>
              <a:rPr lang="en-AU" sz="2400" b="0" i="0" baseline="-25000" dirty="0" smtClean="0">
                <a:solidFill>
                  <a:srgbClr val="444444"/>
                </a:solidFill>
                <a:effectLst/>
                <a:latin typeface="KaTeX_Main"/>
              </a:rPr>
              <a:t>​</a:t>
            </a:r>
            <a:r>
              <a:rPr lang="en-AU" sz="2400" b="0" i="0" dirty="0" smtClean="0">
                <a:solidFill>
                  <a:srgbClr val="444444"/>
                </a:solidFill>
                <a:effectLst/>
                <a:latin typeface="Arial" panose="020B0604020202020204" pitchFamily="34" charset="0"/>
              </a:rPr>
              <a:t>" (final velocity) and "u" may be written "</a:t>
            </a:r>
            <a:r>
              <a:rPr lang="en-AU" sz="2400" b="0" i="0" dirty="0" smtClean="0">
                <a:solidFill>
                  <a:srgbClr val="444444"/>
                </a:solidFill>
                <a:effectLst/>
                <a:latin typeface="KaTeX_Main"/>
              </a:rPr>
              <a:t>v</a:t>
            </a:r>
            <a:r>
              <a:rPr lang="en-AU" sz="2400" b="0" i="1" baseline="-25000" dirty="0" smtClean="0">
                <a:solidFill>
                  <a:srgbClr val="444444"/>
                </a:solidFill>
                <a:effectLst/>
                <a:latin typeface="KaTeX_Math"/>
              </a:rPr>
              <a:t>i</a:t>
            </a:r>
            <a:r>
              <a:rPr lang="en-AU" sz="2400" b="0" i="0" dirty="0" smtClean="0">
                <a:solidFill>
                  <a:srgbClr val="444444"/>
                </a:solidFill>
                <a:effectLst/>
                <a:latin typeface="KaTeX_Main"/>
              </a:rPr>
              <a:t>​</a:t>
            </a:r>
            <a:r>
              <a:rPr lang="en-AU" sz="2400" b="0" i="0" dirty="0" smtClean="0">
                <a:solidFill>
                  <a:srgbClr val="444444"/>
                </a:solidFill>
                <a:effectLst/>
                <a:latin typeface="Arial" panose="020B0604020202020204" pitchFamily="34" charset="0"/>
              </a:rPr>
              <a:t>" (initial velocity).</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These equations can only be used when the object you're looking at has a </a:t>
            </a:r>
            <a:r>
              <a:rPr lang="en-AU" sz="2400" b="1" i="0" dirty="0" smtClean="0">
                <a:solidFill>
                  <a:srgbClr val="444444"/>
                </a:solidFill>
                <a:effectLst/>
                <a:latin typeface="Arial" panose="020B0604020202020204" pitchFamily="34" charset="0"/>
              </a:rPr>
              <a:t>constant acceleration</a:t>
            </a:r>
            <a:r>
              <a:rPr lang="en-AU" sz="2400" b="0" i="0" dirty="0" smtClean="0">
                <a:solidFill>
                  <a:srgbClr val="444444"/>
                </a:solidFill>
                <a:effectLst/>
                <a:latin typeface="Arial" panose="020B0604020202020204" pitchFamily="34" charset="0"/>
              </a:rPr>
              <a:t>. You will be given enough data to use at least one equation; if you have a choice, use the one that requires the </a:t>
            </a:r>
            <a:r>
              <a:rPr lang="en-AU" sz="2400" b="1" i="0" dirty="0" smtClean="0">
                <a:solidFill>
                  <a:srgbClr val="444444"/>
                </a:solidFill>
                <a:effectLst/>
                <a:latin typeface="Arial" panose="020B0604020202020204" pitchFamily="34" charset="0"/>
              </a:rPr>
              <a:t>least algebra</a:t>
            </a:r>
            <a:r>
              <a:rPr lang="en-AU" sz="2400" b="0" i="0" dirty="0" smtClean="0">
                <a:solidFill>
                  <a:srgbClr val="444444"/>
                </a:solidFill>
                <a:effectLst/>
                <a:latin typeface="Arial" panose="020B0604020202020204" pitchFamily="34" charset="0"/>
              </a:rPr>
              <a:t> to solve.</a:t>
            </a:r>
          </a:p>
          <a:p>
            <a:pPr algn="ctr"/>
            <a:r>
              <a:rPr lang="en-AU" sz="2400" b="0" i="0" dirty="0" smtClean="0">
                <a:solidFill>
                  <a:srgbClr val="444444"/>
                </a:solidFill>
                <a:effectLst/>
                <a:latin typeface="Arial" panose="020B0604020202020204" pitchFamily="34" charset="0"/>
              </a:rPr>
              <a:t> </a:t>
            </a:r>
          </a:p>
        </p:txBody>
      </p:sp>
    </p:spTree>
    <p:extLst>
      <p:ext uri="{BB962C8B-B14F-4D97-AF65-F5344CB8AC3E}">
        <p14:creationId xmlns:p14="http://schemas.microsoft.com/office/powerpoint/2010/main" val="1470619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4000" y="134035"/>
            <a:ext cx="11544300" cy="830997"/>
          </a:xfrm>
          <a:prstGeom prst="rect">
            <a:avLst/>
          </a:prstGeom>
        </p:spPr>
        <p:txBody>
          <a:bodyPr wrap="square">
            <a:spAutoFit/>
          </a:bodyPr>
          <a:lstStyle/>
          <a:p>
            <a:pPr algn="ctr"/>
            <a:r>
              <a:rPr lang="en-AU" sz="2400" b="1" i="0" smtClean="0">
                <a:solidFill>
                  <a:srgbClr val="444444"/>
                </a:solidFill>
                <a:effectLst/>
                <a:latin typeface="Arial" panose="020B0604020202020204" pitchFamily="34" charset="0"/>
              </a:rPr>
              <a:t>When we record the </a:t>
            </a:r>
            <a:r>
              <a:rPr lang="en-AU" sz="2400" b="1" i="0" smtClean="0">
                <a:solidFill>
                  <a:srgbClr val="571A98"/>
                </a:solidFill>
                <a:effectLst/>
                <a:latin typeface="Arial" panose="020B0604020202020204" pitchFamily="34" charset="0"/>
              </a:rPr>
              <a:t>motion of an object,</a:t>
            </a:r>
            <a:r>
              <a:rPr lang="en-AU" sz="2400" b="1" i="0" smtClean="0">
                <a:solidFill>
                  <a:srgbClr val="444444"/>
                </a:solidFill>
                <a:effectLst/>
                <a:latin typeface="Arial" panose="020B0604020202020204" pitchFamily="34" charset="0"/>
              </a:rPr>
              <a:t> we are usually interested in these </a:t>
            </a:r>
            <a:r>
              <a:rPr lang="en-AU" sz="2400" b="1" i="0" smtClean="0">
                <a:solidFill>
                  <a:srgbClr val="F30277"/>
                </a:solidFill>
                <a:effectLst/>
                <a:latin typeface="Arial" panose="020B0604020202020204" pitchFamily="34" charset="0"/>
              </a:rPr>
              <a:t>five quantities of motion:</a:t>
            </a:r>
            <a:endParaRPr lang="en-AU" sz="2400" b="1" i="0">
              <a:solidFill>
                <a:srgbClr val="444444"/>
              </a:solidFill>
              <a:effectLst/>
              <a:latin typeface="Arial" panose="020B0604020202020204" pitchFamily="34" charset="0"/>
            </a:endParaRPr>
          </a:p>
        </p:txBody>
      </p:sp>
      <p:sp>
        <p:nvSpPr>
          <p:cNvPr id="3" name="Rectangle 2"/>
          <p:cNvSpPr/>
          <p:nvPr/>
        </p:nvSpPr>
        <p:spPr>
          <a:xfrm>
            <a:off x="4445000" y="1521936"/>
            <a:ext cx="6096000" cy="1938992"/>
          </a:xfrm>
          <a:prstGeom prst="rect">
            <a:avLst/>
          </a:prstGeom>
        </p:spPr>
        <p:txBody>
          <a:bodyPr>
            <a:spAutoFit/>
          </a:bodyPr>
          <a:lstStyle/>
          <a:p>
            <a:pPr>
              <a:buFont typeface="Arial" panose="020B0604020202020204" pitchFamily="34" charset="0"/>
              <a:buChar char="•"/>
            </a:pPr>
            <a:r>
              <a:rPr lang="en-AU" sz="2400" b="1" i="0" dirty="0" smtClean="0">
                <a:solidFill>
                  <a:srgbClr val="571A98"/>
                </a:solidFill>
                <a:effectLst/>
                <a:latin typeface="Arial" panose="020B0604020202020204" pitchFamily="34" charset="0"/>
              </a:rPr>
              <a:t>Initial speed</a:t>
            </a:r>
            <a:r>
              <a:rPr lang="en-AU" sz="2400" b="0" i="0" dirty="0" smtClean="0">
                <a:solidFill>
                  <a:srgbClr val="444444"/>
                </a:solidFill>
                <a:effectLst/>
                <a:latin typeface="Arial" panose="020B0604020202020204" pitchFamily="34" charset="0"/>
              </a:rPr>
              <a:t> (</a:t>
            </a:r>
            <a:r>
              <a:rPr lang="en-AU" sz="2400" b="0" i="0" dirty="0" smtClean="0">
                <a:solidFill>
                  <a:srgbClr val="444444"/>
                </a:solidFill>
                <a:effectLst/>
                <a:latin typeface="KaTeX_Main"/>
              </a:rPr>
              <a:t>u</a:t>
            </a:r>
            <a:r>
              <a:rPr lang="en-AU" sz="2400" b="0" i="0" dirty="0" smtClean="0">
                <a:solidFill>
                  <a:srgbClr val="444444"/>
                </a:solidFill>
                <a:effectLst/>
                <a:latin typeface="Arial" panose="020B0604020202020204" pitchFamily="34" charset="0"/>
              </a:rPr>
              <a:t> or </a:t>
            </a:r>
            <a:r>
              <a:rPr lang="en-AU" sz="2400" b="0" i="0" dirty="0" smtClean="0">
                <a:solidFill>
                  <a:srgbClr val="444444"/>
                </a:solidFill>
                <a:effectLst/>
                <a:latin typeface="KaTeX_Main"/>
              </a:rPr>
              <a:t>v</a:t>
            </a:r>
            <a:r>
              <a:rPr lang="en-AU" sz="2400" b="0" i="1" baseline="-25000" dirty="0" smtClean="0">
                <a:solidFill>
                  <a:srgbClr val="444444"/>
                </a:solidFill>
                <a:effectLst/>
                <a:latin typeface="KaTeX_Math"/>
              </a:rPr>
              <a:t>i</a:t>
            </a:r>
            <a:r>
              <a:rPr lang="en-AU" sz="2400" b="0" i="0" baseline="-25000" dirty="0" smtClean="0">
                <a:solidFill>
                  <a:srgbClr val="444444"/>
                </a:solidFill>
                <a:effectLst/>
                <a:latin typeface="KaTeX_Main"/>
              </a:rPr>
              <a:t>​</a:t>
            </a:r>
            <a:r>
              <a:rPr lang="en-AU" sz="2400" b="0" i="0" dirty="0" smtClean="0">
                <a:solidFill>
                  <a:srgbClr val="444444"/>
                </a:solidFill>
                <a:effectLst/>
                <a:latin typeface="Arial" panose="020B0604020202020204" pitchFamily="34" charset="0"/>
              </a:rPr>
              <a:t>)</a:t>
            </a:r>
          </a:p>
          <a:p>
            <a:pPr>
              <a:buFont typeface="Arial" panose="020B0604020202020204" pitchFamily="34" charset="0"/>
              <a:buChar char="•"/>
            </a:pPr>
            <a:r>
              <a:rPr lang="en-AU" sz="2400" b="1" i="0" dirty="0" smtClean="0">
                <a:solidFill>
                  <a:srgbClr val="0066CC"/>
                </a:solidFill>
                <a:effectLst/>
                <a:latin typeface="Arial" panose="020B0604020202020204" pitchFamily="34" charset="0"/>
              </a:rPr>
              <a:t>Displacement</a:t>
            </a:r>
            <a:r>
              <a:rPr lang="en-AU" sz="2400" b="0" i="0" dirty="0" smtClean="0">
                <a:solidFill>
                  <a:srgbClr val="444444"/>
                </a:solidFill>
                <a:effectLst/>
                <a:latin typeface="Arial" panose="020B0604020202020204" pitchFamily="34" charset="0"/>
              </a:rPr>
              <a:t> (</a:t>
            </a:r>
            <a:r>
              <a:rPr lang="en-AU" sz="2400" b="0" i="0" dirty="0" smtClean="0">
                <a:solidFill>
                  <a:srgbClr val="444444"/>
                </a:solidFill>
                <a:effectLst/>
                <a:latin typeface="KaTeX_Main"/>
              </a:rPr>
              <a:t>s</a:t>
            </a:r>
            <a:r>
              <a:rPr lang="en-AU" sz="2400" b="0" i="0" dirty="0" smtClean="0">
                <a:solidFill>
                  <a:srgbClr val="444444"/>
                </a:solidFill>
                <a:effectLst/>
                <a:latin typeface="Arial" panose="020B0604020202020204" pitchFamily="34" charset="0"/>
              </a:rPr>
              <a:t> or </a:t>
            </a:r>
            <a:r>
              <a:rPr lang="en-AU" sz="2400" b="0" i="0" dirty="0" smtClean="0">
                <a:solidFill>
                  <a:srgbClr val="444444"/>
                </a:solidFill>
                <a:effectLst/>
                <a:latin typeface="KaTeX_Main"/>
              </a:rPr>
              <a:t>d</a:t>
            </a:r>
            <a:r>
              <a:rPr lang="en-AU" sz="2400" b="0" i="0" dirty="0" smtClean="0">
                <a:solidFill>
                  <a:srgbClr val="444444"/>
                </a:solidFill>
                <a:effectLst/>
                <a:latin typeface="Arial" panose="020B0604020202020204" pitchFamily="34" charset="0"/>
              </a:rPr>
              <a:t>)</a:t>
            </a:r>
          </a:p>
          <a:p>
            <a:pPr>
              <a:buFont typeface="Arial" panose="020B0604020202020204" pitchFamily="34" charset="0"/>
              <a:buChar char="•"/>
            </a:pPr>
            <a:r>
              <a:rPr lang="en-AU" sz="2400" b="1" i="0" dirty="0" smtClean="0">
                <a:solidFill>
                  <a:srgbClr val="FB6611"/>
                </a:solidFill>
                <a:effectLst/>
                <a:latin typeface="Arial" panose="020B0604020202020204" pitchFamily="34" charset="0"/>
              </a:rPr>
              <a:t>Acceleration</a:t>
            </a:r>
            <a:r>
              <a:rPr lang="en-AU" sz="2400" b="0" i="0" dirty="0" smtClean="0">
                <a:solidFill>
                  <a:srgbClr val="444444"/>
                </a:solidFill>
                <a:effectLst/>
                <a:latin typeface="Arial" panose="020B0604020202020204" pitchFamily="34" charset="0"/>
              </a:rPr>
              <a:t> </a:t>
            </a:r>
            <a:r>
              <a:rPr lang="en-AU" sz="2400" b="0" i="0" dirty="0" smtClean="0">
                <a:solidFill>
                  <a:srgbClr val="444444"/>
                </a:solidFill>
                <a:effectLst/>
                <a:latin typeface="KaTeX_Main"/>
              </a:rPr>
              <a:t>(a)</a:t>
            </a:r>
            <a:r>
              <a:rPr lang="en-AU" sz="2400" b="0" i="0" dirty="0" smtClean="0">
                <a:solidFill>
                  <a:srgbClr val="444444"/>
                </a:solidFill>
                <a:effectLst/>
                <a:latin typeface="Arial" panose="020B0604020202020204" pitchFamily="34" charset="0"/>
              </a:rPr>
              <a:t> </a:t>
            </a:r>
          </a:p>
          <a:p>
            <a:pPr>
              <a:buFont typeface="Arial" panose="020B0604020202020204" pitchFamily="34" charset="0"/>
              <a:buChar char="•"/>
            </a:pPr>
            <a:r>
              <a:rPr lang="en-AU" sz="2400" b="1" i="0" dirty="0" smtClean="0">
                <a:solidFill>
                  <a:srgbClr val="571A98"/>
                </a:solidFill>
                <a:effectLst/>
                <a:latin typeface="Arial" panose="020B0604020202020204" pitchFamily="34" charset="0"/>
              </a:rPr>
              <a:t>Final speed</a:t>
            </a:r>
            <a:r>
              <a:rPr lang="en-AU" sz="2400" b="0" i="0" dirty="0" smtClean="0">
                <a:solidFill>
                  <a:srgbClr val="444444"/>
                </a:solidFill>
                <a:effectLst/>
                <a:latin typeface="Arial" panose="020B0604020202020204" pitchFamily="34" charset="0"/>
              </a:rPr>
              <a:t> (</a:t>
            </a:r>
            <a:r>
              <a:rPr lang="en-AU" sz="2400" b="0" i="0" dirty="0" smtClean="0">
                <a:solidFill>
                  <a:srgbClr val="444444"/>
                </a:solidFill>
                <a:effectLst/>
                <a:latin typeface="KaTeX_Main"/>
              </a:rPr>
              <a:t>v</a:t>
            </a:r>
            <a:r>
              <a:rPr lang="en-AU" sz="2400" b="0" i="0" dirty="0" smtClean="0">
                <a:solidFill>
                  <a:srgbClr val="444444"/>
                </a:solidFill>
                <a:effectLst/>
                <a:latin typeface="Arial" panose="020B0604020202020204" pitchFamily="34" charset="0"/>
              </a:rPr>
              <a:t> or </a:t>
            </a:r>
            <a:r>
              <a:rPr lang="en-AU" sz="2400" b="0" i="0" dirty="0" err="1" smtClean="0">
                <a:solidFill>
                  <a:srgbClr val="444444"/>
                </a:solidFill>
                <a:effectLst/>
                <a:latin typeface="KaTeX_Main"/>
              </a:rPr>
              <a:t>v</a:t>
            </a:r>
            <a:r>
              <a:rPr lang="en-AU" sz="2400" b="0" i="1" baseline="-25000" dirty="0" err="1" smtClean="0">
                <a:solidFill>
                  <a:srgbClr val="444444"/>
                </a:solidFill>
                <a:effectLst/>
                <a:latin typeface="KaTeX_Math"/>
              </a:rPr>
              <a:t>f</a:t>
            </a:r>
            <a:r>
              <a:rPr lang="en-AU" sz="2400" b="0" i="0" dirty="0" smtClean="0">
                <a:solidFill>
                  <a:srgbClr val="444444"/>
                </a:solidFill>
                <a:effectLst/>
                <a:latin typeface="KaTeX_Main"/>
              </a:rPr>
              <a:t>​</a:t>
            </a:r>
            <a:r>
              <a:rPr lang="en-AU" sz="2400" b="0" i="0" dirty="0" smtClean="0">
                <a:solidFill>
                  <a:srgbClr val="444444"/>
                </a:solidFill>
                <a:effectLst/>
                <a:latin typeface="Arial" panose="020B0604020202020204" pitchFamily="34" charset="0"/>
              </a:rPr>
              <a:t>)</a:t>
            </a:r>
          </a:p>
          <a:p>
            <a:pPr>
              <a:buFont typeface="Arial" panose="020B0604020202020204" pitchFamily="34" charset="0"/>
              <a:buChar char="•"/>
            </a:pPr>
            <a:r>
              <a:rPr lang="en-AU" sz="2400" b="1" i="0" dirty="0" smtClean="0">
                <a:solidFill>
                  <a:srgbClr val="FF9505"/>
                </a:solidFill>
                <a:effectLst/>
                <a:latin typeface="Arial" panose="020B0604020202020204" pitchFamily="34" charset="0"/>
              </a:rPr>
              <a:t>Time</a:t>
            </a:r>
            <a:r>
              <a:rPr lang="en-AU" sz="2400" b="0" i="0" dirty="0" smtClean="0">
                <a:solidFill>
                  <a:srgbClr val="444444"/>
                </a:solidFill>
                <a:effectLst/>
                <a:latin typeface="Arial" panose="020B0604020202020204" pitchFamily="34" charset="0"/>
              </a:rPr>
              <a:t> </a:t>
            </a:r>
            <a:r>
              <a:rPr lang="en-AU" sz="2400" b="0" i="0" dirty="0" smtClean="0">
                <a:solidFill>
                  <a:srgbClr val="444444"/>
                </a:solidFill>
                <a:effectLst/>
                <a:latin typeface="KaTeX_Main"/>
              </a:rPr>
              <a:t>(t)</a:t>
            </a:r>
            <a:endParaRPr lang="en-AU" sz="2400" b="0" i="0" dirty="0">
              <a:solidFill>
                <a:srgbClr val="444444"/>
              </a:solidFill>
              <a:effectLst/>
              <a:latin typeface="Arial" panose="020B0604020202020204" pitchFamily="34" charset="0"/>
            </a:endParaRPr>
          </a:p>
        </p:txBody>
      </p:sp>
      <p:sp>
        <p:nvSpPr>
          <p:cNvPr id="4" name="Rectangle 3"/>
          <p:cNvSpPr/>
          <p:nvPr/>
        </p:nvSpPr>
        <p:spPr>
          <a:xfrm>
            <a:off x="977900" y="4250035"/>
            <a:ext cx="10591800" cy="830997"/>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The great thing about these quantities is that if we know </a:t>
            </a:r>
            <a:r>
              <a:rPr lang="en-AU" sz="2400" b="1" i="0" dirty="0" smtClean="0">
                <a:solidFill>
                  <a:srgbClr val="00B6EE"/>
                </a:solidFill>
                <a:effectLst/>
                <a:latin typeface="Arial" panose="020B0604020202020204" pitchFamily="34" charset="0"/>
              </a:rPr>
              <a:t>three values</a:t>
            </a:r>
            <a:r>
              <a:rPr lang="en-AU" sz="2400" b="0" i="0" dirty="0" smtClean="0">
                <a:solidFill>
                  <a:srgbClr val="444444"/>
                </a:solidFill>
                <a:effectLst/>
                <a:latin typeface="Arial" panose="020B0604020202020204" pitchFamily="34" charset="0"/>
              </a:rPr>
              <a:t> we can work out the values of either of the </a:t>
            </a:r>
            <a:r>
              <a:rPr lang="en-AU" sz="2400" b="1" i="0" dirty="0" smtClean="0">
                <a:solidFill>
                  <a:srgbClr val="FF9505"/>
                </a:solidFill>
                <a:effectLst/>
                <a:latin typeface="Arial" panose="020B0604020202020204" pitchFamily="34" charset="0"/>
              </a:rPr>
              <a:t>other two.</a:t>
            </a:r>
            <a:endParaRPr lang="en-AU" sz="2400" dirty="0"/>
          </a:p>
        </p:txBody>
      </p:sp>
    </p:spTree>
    <p:extLst>
      <p:ext uri="{BB962C8B-B14F-4D97-AF65-F5344CB8AC3E}">
        <p14:creationId xmlns:p14="http://schemas.microsoft.com/office/powerpoint/2010/main" val="4024198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1300" y="553135"/>
            <a:ext cx="11341100" cy="830997"/>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To work out </a:t>
            </a:r>
            <a:r>
              <a:rPr lang="en-AU" sz="2400" b="1" i="0" dirty="0" smtClean="0">
                <a:solidFill>
                  <a:srgbClr val="F30277"/>
                </a:solidFill>
                <a:effectLst/>
                <a:latin typeface="Arial" panose="020B0604020202020204" pitchFamily="34" charset="0"/>
              </a:rPr>
              <a:t>unknown values</a:t>
            </a:r>
            <a:r>
              <a:rPr lang="en-AU" sz="2400" b="1" i="0" dirty="0" smtClean="0">
                <a:solidFill>
                  <a:srgbClr val="444444"/>
                </a:solidFill>
                <a:effectLst/>
                <a:latin typeface="Arial" panose="020B0604020202020204" pitchFamily="34" charset="0"/>
              </a:rPr>
              <a:t> we use equations called the </a:t>
            </a:r>
            <a:r>
              <a:rPr lang="en-AU" sz="2400" b="1" i="0" dirty="0" smtClean="0">
                <a:solidFill>
                  <a:srgbClr val="0066CC"/>
                </a:solidFill>
                <a:effectLst/>
                <a:latin typeface="Arial" panose="020B0604020202020204" pitchFamily="34" charset="0"/>
              </a:rPr>
              <a:t>kinematic equations.</a:t>
            </a:r>
            <a:endParaRPr lang="en-AU" sz="2400" b="1"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2500312" y="1500187"/>
            <a:ext cx="6823075" cy="2089790"/>
          </a:xfrm>
          <a:prstGeom prst="rect">
            <a:avLst/>
          </a:prstGeom>
        </p:spPr>
      </p:pic>
      <p:sp>
        <p:nvSpPr>
          <p:cNvPr id="4" name="Rectangle 3"/>
          <p:cNvSpPr/>
          <p:nvPr/>
        </p:nvSpPr>
        <p:spPr>
          <a:xfrm>
            <a:off x="889000" y="3811012"/>
            <a:ext cx="10858500" cy="2308324"/>
          </a:xfrm>
          <a:prstGeom prst="rect">
            <a:avLst/>
          </a:prstGeom>
        </p:spPr>
        <p:txBody>
          <a:bodyPr wrap="square">
            <a:spAutoFit/>
          </a:bodyPr>
          <a:lstStyle/>
          <a:p>
            <a:pPr algn="ctr"/>
            <a:r>
              <a:rPr lang="en-AU" sz="2400" b="0" i="0" dirty="0" smtClean="0">
                <a:solidFill>
                  <a:srgbClr val="444444"/>
                </a:solidFill>
                <a:effectLst/>
                <a:latin typeface="Arial" panose="020B0604020202020204" pitchFamily="34" charset="0"/>
              </a:rPr>
              <a:t>For any </a:t>
            </a:r>
            <a:r>
              <a:rPr lang="en-AU" sz="2400" b="1" i="0" dirty="0" smtClean="0">
                <a:solidFill>
                  <a:srgbClr val="FF9505"/>
                </a:solidFill>
                <a:effectLst/>
                <a:latin typeface="Arial" panose="020B0604020202020204" pitchFamily="34" charset="0"/>
              </a:rPr>
              <a:t>given problem</a:t>
            </a:r>
            <a:r>
              <a:rPr lang="en-AU" sz="2400" b="0" i="0" dirty="0" smtClean="0">
                <a:solidFill>
                  <a:srgbClr val="444444"/>
                </a:solidFill>
                <a:effectLst/>
                <a:latin typeface="Arial" panose="020B0604020202020204" pitchFamily="34" charset="0"/>
              </a:rPr>
              <a:t> you will need to:</a:t>
            </a:r>
          </a:p>
          <a:p>
            <a:pPr algn="ctr"/>
            <a:r>
              <a:rPr lang="en-AU" sz="2400" b="0" i="0" dirty="0" smtClean="0">
                <a:solidFill>
                  <a:srgbClr val="444444"/>
                </a:solidFill>
                <a:effectLst/>
                <a:latin typeface="Arial" panose="020B0604020202020204" pitchFamily="34" charset="0"/>
              </a:rPr>
              <a:t> </a:t>
            </a:r>
          </a:p>
          <a:p>
            <a:pPr>
              <a:buFont typeface="Arial" panose="020B0604020202020204" pitchFamily="34" charset="0"/>
              <a:buChar char="•"/>
            </a:pPr>
            <a:r>
              <a:rPr lang="en-AU" sz="2400" b="0" i="0" dirty="0" smtClean="0">
                <a:solidFill>
                  <a:srgbClr val="444444"/>
                </a:solidFill>
                <a:effectLst/>
                <a:latin typeface="Arial" panose="020B0604020202020204" pitchFamily="34" charset="0"/>
              </a:rPr>
              <a:t>List </a:t>
            </a:r>
            <a:r>
              <a:rPr lang="en-AU" sz="2400" b="1" i="0" dirty="0" smtClean="0">
                <a:solidFill>
                  <a:srgbClr val="00B6EE"/>
                </a:solidFill>
                <a:effectLst/>
                <a:latin typeface="Arial" panose="020B0604020202020204" pitchFamily="34" charset="0"/>
              </a:rPr>
              <a:t>known values</a:t>
            </a:r>
            <a:r>
              <a:rPr lang="en-AU" sz="2400" b="0" i="0" dirty="0" smtClean="0">
                <a:solidFill>
                  <a:srgbClr val="444444"/>
                </a:solidFill>
                <a:effectLst/>
                <a:latin typeface="Arial" panose="020B0604020202020204" pitchFamily="34" charset="0"/>
              </a:rPr>
              <a:t> from </a:t>
            </a:r>
            <a:r>
              <a:rPr lang="en-AU" sz="2400" b="0" i="0" dirty="0" smtClean="0">
                <a:solidFill>
                  <a:srgbClr val="444444"/>
                </a:solidFill>
                <a:effectLst/>
                <a:latin typeface="KaTeX_Main"/>
              </a:rPr>
              <a:t>v</a:t>
            </a:r>
            <a:r>
              <a:rPr lang="en-AU" sz="2400" b="0" i="0" dirty="0" smtClean="0">
                <a:solidFill>
                  <a:srgbClr val="444444"/>
                </a:solidFill>
                <a:effectLst/>
                <a:latin typeface="Arial" panose="020B0604020202020204" pitchFamily="34" charset="0"/>
              </a:rPr>
              <a:t>, </a:t>
            </a:r>
            <a:r>
              <a:rPr lang="en-AU" sz="2400" b="0" i="0" dirty="0" smtClean="0">
                <a:solidFill>
                  <a:srgbClr val="444444"/>
                </a:solidFill>
                <a:effectLst/>
                <a:latin typeface="KaTeX_Main"/>
              </a:rPr>
              <a:t>u</a:t>
            </a:r>
            <a:r>
              <a:rPr lang="en-AU" sz="2400" b="0" i="0" dirty="0" smtClean="0">
                <a:solidFill>
                  <a:srgbClr val="444444"/>
                </a:solidFill>
                <a:effectLst/>
                <a:latin typeface="Arial" panose="020B0604020202020204" pitchFamily="34" charset="0"/>
              </a:rPr>
              <a:t>, </a:t>
            </a:r>
            <a:r>
              <a:rPr lang="en-AU" sz="2400" b="0" i="0" dirty="0" smtClean="0">
                <a:solidFill>
                  <a:srgbClr val="444444"/>
                </a:solidFill>
                <a:effectLst/>
                <a:latin typeface="KaTeX_Main"/>
              </a:rPr>
              <a:t>a</a:t>
            </a:r>
            <a:r>
              <a:rPr lang="en-AU" sz="2400" b="0" i="0" dirty="0" smtClean="0">
                <a:solidFill>
                  <a:srgbClr val="444444"/>
                </a:solidFill>
                <a:effectLst/>
                <a:latin typeface="Arial" panose="020B0604020202020204" pitchFamily="34" charset="0"/>
              </a:rPr>
              <a:t>, </a:t>
            </a:r>
            <a:r>
              <a:rPr lang="en-AU" sz="2400" b="0" i="0" dirty="0" smtClean="0">
                <a:solidFill>
                  <a:srgbClr val="444444"/>
                </a:solidFill>
                <a:effectLst/>
                <a:latin typeface="KaTeX_Main"/>
              </a:rPr>
              <a:t>s</a:t>
            </a:r>
            <a:r>
              <a:rPr lang="en-AU" sz="2400" b="0" i="0" dirty="0" smtClean="0">
                <a:solidFill>
                  <a:srgbClr val="444444"/>
                </a:solidFill>
                <a:effectLst/>
                <a:latin typeface="Arial" panose="020B0604020202020204" pitchFamily="34" charset="0"/>
              </a:rPr>
              <a:t>, and </a:t>
            </a:r>
            <a:r>
              <a:rPr lang="en-AU" sz="2400" b="0" i="0" dirty="0" smtClean="0">
                <a:solidFill>
                  <a:srgbClr val="444444"/>
                </a:solidFill>
                <a:effectLst/>
                <a:latin typeface="KaTeX_Main"/>
              </a:rPr>
              <a:t>t</a:t>
            </a:r>
            <a:r>
              <a:rPr lang="en-AU" sz="2400" b="0" i="0" dirty="0" smtClean="0">
                <a:solidFill>
                  <a:srgbClr val="444444"/>
                </a:solidFill>
                <a:effectLst/>
                <a:latin typeface="Arial" panose="020B0604020202020204" pitchFamily="34" charset="0"/>
              </a:rPr>
              <a:t>.</a:t>
            </a:r>
          </a:p>
          <a:p>
            <a:pPr>
              <a:buFont typeface="Arial" panose="020B0604020202020204" pitchFamily="34" charset="0"/>
              <a:buChar char="•"/>
            </a:pPr>
            <a:r>
              <a:rPr lang="en-AU" sz="2400" b="0" i="0" dirty="0" smtClean="0">
                <a:solidFill>
                  <a:srgbClr val="444444"/>
                </a:solidFill>
                <a:effectLst/>
                <a:latin typeface="Arial" panose="020B0604020202020204" pitchFamily="34" charset="0"/>
              </a:rPr>
              <a:t>Identify the </a:t>
            </a:r>
            <a:r>
              <a:rPr lang="en-AU" sz="2400" b="1" i="0" dirty="0" smtClean="0">
                <a:solidFill>
                  <a:srgbClr val="F30277"/>
                </a:solidFill>
                <a:effectLst/>
                <a:latin typeface="Arial" panose="020B0604020202020204" pitchFamily="34" charset="0"/>
              </a:rPr>
              <a:t>unknown value.</a:t>
            </a:r>
            <a:endParaRPr lang="en-AU" sz="2400" b="0" i="0" dirty="0" smtClean="0">
              <a:solidFill>
                <a:srgbClr val="444444"/>
              </a:solidFill>
              <a:effectLst/>
              <a:latin typeface="Arial" panose="020B0604020202020204" pitchFamily="34" charset="0"/>
            </a:endParaRPr>
          </a:p>
          <a:p>
            <a:pPr>
              <a:buFont typeface="Arial" panose="020B0604020202020204" pitchFamily="34" charset="0"/>
              <a:buChar char="•"/>
            </a:pPr>
            <a:r>
              <a:rPr lang="en-AU" sz="2400" b="0" i="0" dirty="0" smtClean="0">
                <a:solidFill>
                  <a:srgbClr val="444444"/>
                </a:solidFill>
                <a:effectLst/>
                <a:latin typeface="Arial" panose="020B0604020202020204" pitchFamily="34" charset="0"/>
              </a:rPr>
              <a:t>Select an appropriate </a:t>
            </a:r>
            <a:r>
              <a:rPr lang="en-AU" sz="2400" b="1" i="0" dirty="0" smtClean="0">
                <a:solidFill>
                  <a:srgbClr val="0066CC"/>
                </a:solidFill>
                <a:effectLst/>
                <a:latin typeface="Arial" panose="020B0604020202020204" pitchFamily="34" charset="0"/>
              </a:rPr>
              <a:t>kinematic equation.</a:t>
            </a:r>
            <a:endParaRPr lang="en-AU" sz="2400" b="0" i="0" dirty="0" smtClean="0">
              <a:solidFill>
                <a:srgbClr val="444444"/>
              </a:solidFill>
              <a:effectLst/>
              <a:latin typeface="Arial" panose="020B0604020202020204" pitchFamily="34" charset="0"/>
            </a:endParaRPr>
          </a:p>
          <a:p>
            <a:pPr>
              <a:buFont typeface="Arial" panose="020B0604020202020204" pitchFamily="34" charset="0"/>
              <a:buChar char="•"/>
            </a:pPr>
            <a:r>
              <a:rPr lang="en-AU" sz="2400" b="0" i="0" dirty="0" smtClean="0">
                <a:solidFill>
                  <a:srgbClr val="444444"/>
                </a:solidFill>
                <a:effectLst/>
                <a:latin typeface="Arial" panose="020B0604020202020204" pitchFamily="34" charset="0"/>
              </a:rPr>
              <a:t>Solve the problem and answer the question.</a:t>
            </a:r>
            <a:endParaRPr lang="en-AU" sz="2400"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2295971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8300" y="454442"/>
            <a:ext cx="9093200" cy="5632311"/>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Let's look at an example.</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 first thing you need to do is list </a:t>
            </a:r>
            <a:r>
              <a:rPr lang="en-AU" sz="2400" b="1" i="0" dirty="0" smtClean="0">
                <a:solidFill>
                  <a:srgbClr val="F30277"/>
                </a:solidFill>
                <a:effectLst/>
                <a:latin typeface="Arial" panose="020B0604020202020204" pitchFamily="34" charset="0"/>
              </a:rPr>
              <a:t>known and unknown values</a:t>
            </a:r>
            <a:r>
              <a:rPr lang="en-AU" sz="2400" b="0" i="0" dirty="0" smtClean="0">
                <a:solidFill>
                  <a:srgbClr val="444444"/>
                </a:solidFill>
                <a:effectLst/>
                <a:latin typeface="Arial" panose="020B0604020202020204" pitchFamily="34" charset="0"/>
              </a:rPr>
              <a:t> from </a:t>
            </a:r>
            <a:r>
              <a:rPr lang="en-AU" sz="2400" b="0" i="0" dirty="0" smtClean="0">
                <a:solidFill>
                  <a:srgbClr val="444444"/>
                </a:solidFill>
                <a:effectLst/>
                <a:latin typeface="KaTeX_Main"/>
              </a:rPr>
              <a:t>v</a:t>
            </a:r>
            <a:r>
              <a:rPr lang="en-AU" sz="2400" b="0" i="0" dirty="0" smtClean="0">
                <a:solidFill>
                  <a:srgbClr val="444444"/>
                </a:solidFill>
                <a:effectLst/>
                <a:latin typeface="Arial" panose="020B0604020202020204" pitchFamily="34" charset="0"/>
              </a:rPr>
              <a:t>, </a:t>
            </a:r>
            <a:r>
              <a:rPr lang="en-AU" sz="2400" b="0" i="0" dirty="0" smtClean="0">
                <a:solidFill>
                  <a:srgbClr val="444444"/>
                </a:solidFill>
                <a:effectLst/>
                <a:latin typeface="KaTeX_Main"/>
              </a:rPr>
              <a:t>u</a:t>
            </a:r>
            <a:r>
              <a:rPr lang="en-AU" sz="2400" b="0" i="0" dirty="0" smtClean="0">
                <a:solidFill>
                  <a:srgbClr val="444444"/>
                </a:solidFill>
                <a:effectLst/>
                <a:latin typeface="Arial" panose="020B0604020202020204" pitchFamily="34" charset="0"/>
              </a:rPr>
              <a:t>, </a:t>
            </a:r>
            <a:r>
              <a:rPr lang="en-AU" sz="2400" b="0" i="0" dirty="0" smtClean="0">
                <a:solidFill>
                  <a:srgbClr val="444444"/>
                </a:solidFill>
                <a:effectLst/>
                <a:latin typeface="KaTeX_Main"/>
              </a:rPr>
              <a:t>a</a:t>
            </a:r>
            <a:r>
              <a:rPr lang="en-AU" sz="2400" b="0" i="0" dirty="0" smtClean="0">
                <a:solidFill>
                  <a:srgbClr val="444444"/>
                </a:solidFill>
                <a:effectLst/>
                <a:latin typeface="Arial" panose="020B0604020202020204" pitchFamily="34" charset="0"/>
              </a:rPr>
              <a:t>, </a:t>
            </a:r>
            <a:r>
              <a:rPr lang="en-AU" sz="2400" b="0" i="0" dirty="0" smtClean="0">
                <a:solidFill>
                  <a:srgbClr val="444444"/>
                </a:solidFill>
                <a:effectLst/>
                <a:latin typeface="KaTeX_Main"/>
              </a:rPr>
              <a:t>s</a:t>
            </a:r>
            <a:r>
              <a:rPr lang="en-AU" sz="2400" b="0" i="0" dirty="0" smtClean="0">
                <a:solidFill>
                  <a:srgbClr val="444444"/>
                </a:solidFill>
                <a:effectLst/>
                <a:latin typeface="Arial" panose="020B0604020202020204" pitchFamily="34" charset="0"/>
              </a:rPr>
              <a:t> and </a:t>
            </a:r>
            <a:r>
              <a:rPr lang="en-AU" sz="2400" b="0" i="0" dirty="0" smtClean="0">
                <a:solidFill>
                  <a:srgbClr val="444444"/>
                </a:solidFill>
                <a:effectLst/>
                <a:latin typeface="KaTeX_Main"/>
              </a:rPr>
              <a:t>t</a:t>
            </a:r>
            <a:r>
              <a:rPr lang="en-AU" sz="2400" b="0" i="0" dirty="0" smtClean="0">
                <a:solidFill>
                  <a:srgbClr val="444444"/>
                </a:solidFill>
                <a:effectLst/>
                <a:latin typeface="Arial" panose="020B0604020202020204" pitchFamily="34" charset="0"/>
              </a:rPr>
              <a:t>.</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Have a look at </a:t>
            </a:r>
            <a:r>
              <a:rPr lang="en-AU" sz="2400" b="1" i="0" dirty="0" smtClean="0">
                <a:solidFill>
                  <a:srgbClr val="FF9505"/>
                </a:solidFill>
                <a:effectLst/>
                <a:latin typeface="Arial" panose="020B0604020202020204" pitchFamily="34" charset="0"/>
              </a:rPr>
              <a:t>the question below.</a:t>
            </a:r>
            <a:r>
              <a:rPr lang="en-AU" sz="2400" b="0" i="0" dirty="0" smtClean="0">
                <a:solidFill>
                  <a:srgbClr val="444444"/>
                </a:solidFill>
                <a:effectLst/>
                <a:latin typeface="Arial" panose="020B0604020202020204" pitchFamily="34" charset="0"/>
              </a:rPr>
              <a:t> Read and interpret the question carefully to match up the </a:t>
            </a:r>
            <a:r>
              <a:rPr lang="en-AU" sz="2400" b="1" i="0" dirty="0" smtClean="0">
                <a:solidFill>
                  <a:srgbClr val="F30277"/>
                </a:solidFill>
                <a:effectLst/>
                <a:latin typeface="Arial" panose="020B0604020202020204" pitchFamily="34" charset="0"/>
              </a:rPr>
              <a:t>three known values</a:t>
            </a:r>
            <a:r>
              <a:rPr lang="en-AU" sz="2400" b="0" i="0" dirty="0" smtClean="0">
                <a:solidFill>
                  <a:srgbClr val="444444"/>
                </a:solidFill>
                <a:effectLst/>
                <a:latin typeface="Arial" panose="020B0604020202020204" pitchFamily="34" charset="0"/>
              </a:rPr>
              <a:t> to the list above.</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Which </a:t>
            </a:r>
            <a:r>
              <a:rPr lang="en-AU" sz="2400" b="1" i="0" dirty="0" smtClean="0">
                <a:solidFill>
                  <a:srgbClr val="F30277"/>
                </a:solidFill>
                <a:effectLst/>
                <a:latin typeface="Arial" panose="020B0604020202020204" pitchFamily="34" charset="0"/>
              </a:rPr>
              <a:t>quantity</a:t>
            </a:r>
            <a:r>
              <a:rPr lang="en-AU" sz="2400" b="0" i="0" dirty="0" smtClean="0">
                <a:solidFill>
                  <a:srgbClr val="444444"/>
                </a:solidFill>
                <a:effectLst/>
                <a:latin typeface="Arial" panose="020B0604020202020204" pitchFamily="34" charset="0"/>
              </a:rPr>
              <a:t> is mentioned in the question, but not given as a value?</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"An arrow being pushed by a bow string accelerates at </a:t>
            </a:r>
            <a:r>
              <a:rPr lang="en-AU" sz="2400" b="0" i="0" dirty="0" smtClean="0">
                <a:solidFill>
                  <a:srgbClr val="444444"/>
                </a:solidFill>
                <a:effectLst/>
                <a:latin typeface="KaTeX_Main"/>
              </a:rPr>
              <a:t>160 ms</a:t>
            </a:r>
            <a:r>
              <a:rPr lang="en-AU" sz="2400" b="0" i="0" baseline="30000" dirty="0" smtClean="0">
                <a:solidFill>
                  <a:srgbClr val="444444"/>
                </a:solidFill>
                <a:effectLst/>
                <a:latin typeface="KaTeX_Main"/>
              </a:rPr>
              <a:t>−2</a:t>
            </a:r>
            <a:r>
              <a:rPr lang="en-AU" sz="2400" b="0" i="0" dirty="0" smtClean="0">
                <a:solidFill>
                  <a:srgbClr val="444444"/>
                </a:solidFill>
                <a:effectLst/>
                <a:latin typeface="Arial" panose="020B0604020202020204" pitchFamily="34" charset="0"/>
              </a:rPr>
              <a:t> over </a:t>
            </a:r>
            <a:r>
              <a:rPr lang="en-AU" sz="2400" b="0" i="0" dirty="0" smtClean="0">
                <a:solidFill>
                  <a:srgbClr val="444444"/>
                </a:solidFill>
                <a:effectLst/>
                <a:latin typeface="KaTeX_Main"/>
              </a:rPr>
              <a:t>0.11 s</a:t>
            </a:r>
            <a:r>
              <a:rPr lang="en-AU" sz="2400" b="0" i="0" dirty="0" smtClean="0">
                <a:solidFill>
                  <a:srgbClr val="444444"/>
                </a:solidFill>
                <a:effectLst/>
                <a:latin typeface="Arial" panose="020B0604020202020204" pitchFamily="34" charset="0"/>
              </a:rPr>
              <a:t>. The initial speed of the arrow is </a:t>
            </a:r>
            <a:r>
              <a:rPr lang="en-AU" sz="2400" b="0" i="0" dirty="0" smtClean="0">
                <a:solidFill>
                  <a:srgbClr val="444444"/>
                </a:solidFill>
                <a:effectLst/>
                <a:latin typeface="KaTeX_Main"/>
              </a:rPr>
              <a:t>0 ms</a:t>
            </a:r>
            <a:r>
              <a:rPr lang="en-AU" sz="2400" b="0" i="0" baseline="30000" dirty="0" smtClean="0">
                <a:solidFill>
                  <a:srgbClr val="444444"/>
                </a:solidFill>
                <a:effectLst/>
                <a:latin typeface="KaTeX_Main"/>
              </a:rPr>
              <a:t>−1</a:t>
            </a:r>
            <a:r>
              <a:rPr lang="en-AU" sz="2400" b="0" i="0" dirty="0" smtClean="0">
                <a:solidFill>
                  <a:srgbClr val="444444"/>
                </a:solidFill>
                <a:effectLst/>
                <a:latin typeface="Arial" panose="020B0604020202020204" pitchFamily="34" charset="0"/>
              </a:rPr>
              <a:t> How far does the arrow travel during this time?"</a:t>
            </a:r>
            <a:endParaRPr lang="en-AU" sz="2400" b="0" i="0" dirty="0">
              <a:solidFill>
                <a:srgbClr val="444444"/>
              </a:solidFill>
              <a:effectLst/>
              <a:latin typeface="Arial" panose="020B0604020202020204" pitchFamily="34" charset="0"/>
            </a:endParaRPr>
          </a:p>
        </p:txBody>
      </p:sp>
      <p:pic>
        <p:nvPicPr>
          <p:cNvPr id="2050" name="Picture 2" descr="https://www.educationperfect.com/media/content/Maths/1502256313.972221g/1502256353650-4081888884900184-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1375" y="2589212"/>
            <a:ext cx="2289212" cy="2681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246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 y="240437"/>
            <a:ext cx="11582400" cy="1569660"/>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First write down the known values:</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"An arrow being pushed by a bow string accelerates at </a:t>
            </a:r>
            <a:r>
              <a:rPr lang="en-AU" sz="2400" b="1" i="0" dirty="0" smtClean="0">
                <a:solidFill>
                  <a:srgbClr val="FB6611"/>
                </a:solidFill>
                <a:effectLst/>
                <a:latin typeface="KaTeX_Main"/>
              </a:rPr>
              <a:t>160 ms</a:t>
            </a:r>
            <a:r>
              <a:rPr lang="en-AU" sz="2400" b="1" i="0" baseline="30000" dirty="0" smtClean="0">
                <a:solidFill>
                  <a:srgbClr val="FB6611"/>
                </a:solidFill>
                <a:effectLst/>
                <a:latin typeface="KaTeX_Main"/>
              </a:rPr>
              <a:t>-2</a:t>
            </a:r>
            <a:r>
              <a:rPr lang="en-AU" sz="2400" b="0" i="0" dirty="0" smtClean="0">
                <a:solidFill>
                  <a:srgbClr val="444444"/>
                </a:solidFill>
                <a:effectLst/>
                <a:latin typeface="Arial" panose="020B0604020202020204" pitchFamily="34" charset="0"/>
              </a:rPr>
              <a:t> over </a:t>
            </a:r>
            <a:r>
              <a:rPr lang="en-AU" sz="2400" b="1" i="0" dirty="0" smtClean="0">
                <a:solidFill>
                  <a:srgbClr val="FF9505"/>
                </a:solidFill>
                <a:effectLst/>
                <a:latin typeface="KaTeX_Main"/>
              </a:rPr>
              <a:t>0.11 s</a:t>
            </a:r>
            <a:r>
              <a:rPr lang="en-AU" sz="2400" b="0" i="0" dirty="0" smtClean="0">
                <a:solidFill>
                  <a:srgbClr val="FF9505"/>
                </a:solidFill>
                <a:effectLst/>
                <a:latin typeface="KaTeX_Main"/>
              </a:rPr>
              <a:t>.</a:t>
            </a:r>
            <a:r>
              <a:rPr lang="en-AU" sz="2400" b="0" i="0" dirty="0" smtClean="0">
                <a:solidFill>
                  <a:srgbClr val="444444"/>
                </a:solidFill>
                <a:effectLst/>
                <a:latin typeface="Arial" panose="020B0604020202020204" pitchFamily="34" charset="0"/>
              </a:rPr>
              <a:t> The initial speed of the arrow is </a:t>
            </a:r>
            <a:r>
              <a:rPr lang="en-AU" sz="2400" b="1" i="0" dirty="0" smtClean="0">
                <a:solidFill>
                  <a:srgbClr val="571A98"/>
                </a:solidFill>
                <a:effectLst/>
                <a:latin typeface="KaTeX_Main"/>
              </a:rPr>
              <a:t>0 ms</a:t>
            </a:r>
            <a:r>
              <a:rPr lang="en-AU" sz="2400" b="1" i="0" baseline="30000" dirty="0" smtClean="0">
                <a:solidFill>
                  <a:srgbClr val="571A98"/>
                </a:solidFill>
                <a:effectLst/>
                <a:latin typeface="KaTeX_Main"/>
              </a:rPr>
              <a:t>-1</a:t>
            </a:r>
            <a:r>
              <a:rPr lang="en-AU" sz="2400" b="0" i="0" dirty="0" smtClean="0">
                <a:solidFill>
                  <a:srgbClr val="571A98"/>
                </a:solidFill>
                <a:effectLst/>
                <a:latin typeface="KaTeX_Main"/>
              </a:rPr>
              <a:t>.</a:t>
            </a:r>
            <a:r>
              <a:rPr lang="en-AU" sz="2400" b="0" i="0" dirty="0" smtClean="0">
                <a:solidFill>
                  <a:srgbClr val="444444"/>
                </a:solidFill>
                <a:effectLst/>
                <a:latin typeface="Arial" panose="020B0604020202020204" pitchFamily="34" charset="0"/>
              </a:rPr>
              <a:t> </a:t>
            </a:r>
            <a:r>
              <a:rPr lang="en-AU" sz="2400" b="1" i="0" dirty="0" smtClean="0">
                <a:solidFill>
                  <a:srgbClr val="0066CC"/>
                </a:solidFill>
                <a:effectLst/>
                <a:latin typeface="Arial" panose="020B0604020202020204" pitchFamily="34" charset="0"/>
              </a:rPr>
              <a:t>How far</a:t>
            </a:r>
            <a:r>
              <a:rPr lang="en-AU" sz="2400" b="0" i="0" dirty="0" smtClean="0">
                <a:solidFill>
                  <a:srgbClr val="444444"/>
                </a:solidFill>
                <a:effectLst/>
                <a:latin typeface="Arial" panose="020B0604020202020204" pitchFamily="34" charset="0"/>
              </a:rPr>
              <a:t> does the arrow travel during this time?"</a:t>
            </a:r>
            <a:endParaRPr lang="en-AU" sz="2400" b="0" i="0" dirty="0">
              <a:solidFill>
                <a:srgbClr val="444444"/>
              </a:solidFill>
              <a:effectLst/>
              <a:latin typeface="Arial" panose="020B0604020202020204" pitchFamily="34" charset="0"/>
            </a:endParaRPr>
          </a:p>
        </p:txBody>
      </p:sp>
      <p:sp>
        <p:nvSpPr>
          <p:cNvPr id="6" name="Rectangle 5"/>
          <p:cNvSpPr/>
          <p:nvPr/>
        </p:nvSpPr>
        <p:spPr>
          <a:xfrm>
            <a:off x="2980583" y="2164834"/>
            <a:ext cx="5572359" cy="461665"/>
          </a:xfrm>
          <a:prstGeom prst="rect">
            <a:avLst/>
          </a:prstGeom>
        </p:spPr>
        <p:txBody>
          <a:bodyPr wrap="none">
            <a:spAutoFit/>
          </a:bodyPr>
          <a:lstStyle/>
          <a:p>
            <a:r>
              <a:rPr lang="en-AU" sz="2400" b="0" i="0" dirty="0" smtClean="0">
                <a:solidFill>
                  <a:srgbClr val="444444"/>
                </a:solidFill>
                <a:effectLst/>
                <a:latin typeface="Arial" panose="020B0604020202020204" pitchFamily="34" charset="0"/>
              </a:rPr>
              <a:t>The </a:t>
            </a:r>
            <a:r>
              <a:rPr lang="en-AU" sz="2400" b="1" i="0" dirty="0" smtClean="0">
                <a:solidFill>
                  <a:srgbClr val="F30277"/>
                </a:solidFill>
                <a:effectLst/>
                <a:latin typeface="Arial" panose="020B0604020202020204" pitchFamily="34" charset="0"/>
              </a:rPr>
              <a:t>known values</a:t>
            </a:r>
            <a:r>
              <a:rPr lang="en-AU" sz="2400" b="0" i="0" dirty="0" smtClean="0">
                <a:solidFill>
                  <a:srgbClr val="444444"/>
                </a:solidFill>
                <a:effectLst/>
                <a:latin typeface="Arial" panose="020B0604020202020204" pitchFamily="34" charset="0"/>
              </a:rPr>
              <a:t> in this question are:</a:t>
            </a:r>
            <a:endParaRPr lang="en-AU" sz="2400" dirty="0"/>
          </a:p>
        </p:txBody>
      </p:sp>
      <p:graphicFrame>
        <p:nvGraphicFramePr>
          <p:cNvPr id="7" name="Table 6"/>
          <p:cNvGraphicFramePr>
            <a:graphicFrameLocks noGrp="1"/>
          </p:cNvGraphicFramePr>
          <p:nvPr>
            <p:extLst>
              <p:ext uri="{D42A27DB-BD31-4B8C-83A1-F6EECF244321}">
                <p14:modId xmlns:p14="http://schemas.microsoft.com/office/powerpoint/2010/main" val="1164081403"/>
              </p:ext>
            </p:extLst>
          </p:nvPr>
        </p:nvGraphicFramePr>
        <p:xfrm>
          <a:off x="1943100" y="2834164"/>
          <a:ext cx="10515600" cy="1440180"/>
        </p:xfrm>
        <a:graphic>
          <a:graphicData uri="http://schemas.openxmlformats.org/drawingml/2006/table">
            <a:tbl>
              <a:tblPr/>
              <a:tblGrid>
                <a:gridCol w="3505200">
                  <a:extLst>
                    <a:ext uri="{9D8B030D-6E8A-4147-A177-3AD203B41FA5}">
                      <a16:colId xmlns:a16="http://schemas.microsoft.com/office/drawing/2014/main" val="1335991785"/>
                    </a:ext>
                  </a:extLst>
                </a:gridCol>
                <a:gridCol w="787400">
                  <a:extLst>
                    <a:ext uri="{9D8B030D-6E8A-4147-A177-3AD203B41FA5}">
                      <a16:colId xmlns:a16="http://schemas.microsoft.com/office/drawing/2014/main" val="1550404934"/>
                    </a:ext>
                  </a:extLst>
                </a:gridCol>
                <a:gridCol w="6223000">
                  <a:extLst>
                    <a:ext uri="{9D8B030D-6E8A-4147-A177-3AD203B41FA5}">
                      <a16:colId xmlns:a16="http://schemas.microsoft.com/office/drawing/2014/main" val="1084558138"/>
                    </a:ext>
                  </a:extLst>
                </a:gridCol>
              </a:tblGrid>
              <a:tr h="0">
                <a:tc>
                  <a:txBody>
                    <a:bodyPr/>
                    <a:lstStyle/>
                    <a:p>
                      <a:pPr algn="r" fontAlgn="ctr"/>
                      <a:r>
                        <a:rPr lang="en-AU" sz="2400" b="1">
                          <a:solidFill>
                            <a:srgbClr val="FB6611"/>
                          </a:solidFill>
                          <a:effectLst/>
                        </a:rPr>
                        <a:t>Acceleration</a:t>
                      </a:r>
                      <a:r>
                        <a:rPr lang="en-AU" sz="2400">
                          <a:solidFill>
                            <a:srgbClr val="FB6611"/>
                          </a:solidFill>
                          <a:effectLst/>
                        </a:rPr>
                        <a:t> </a:t>
                      </a:r>
                      <a:r>
                        <a:rPr lang="en-AU" sz="2400">
                          <a:effectLst/>
                          <a:latin typeface="KaTeX_Main"/>
                        </a:rPr>
                        <a:t>(a)</a:t>
                      </a:r>
                      <a:endParaRPr lang="en-AU" sz="2400">
                        <a:effectLst/>
                      </a:endParaRPr>
                    </a:p>
                  </a:txBody>
                  <a:tcPr marL="57150" marR="57150" marT="57150" marB="57150" anchor="ctr">
                    <a:lnL>
                      <a:noFill/>
                    </a:lnL>
                    <a:lnR>
                      <a:noFill/>
                    </a:lnR>
                    <a:lnT>
                      <a:noFill/>
                    </a:lnT>
                    <a:lnB>
                      <a:noFill/>
                    </a:lnB>
                    <a:solidFill>
                      <a:srgbClr val="FFFFFF"/>
                    </a:solidFill>
                  </a:tcPr>
                </a:tc>
                <a:tc>
                  <a:txBody>
                    <a:bodyPr/>
                    <a:lstStyle/>
                    <a:p>
                      <a:pPr algn="l" fontAlgn="ctr"/>
                      <a:r>
                        <a:rPr lang="en-AU" sz="2400">
                          <a:effectLst/>
                          <a:latin typeface="KaTeX_Main"/>
                        </a:rPr>
                        <a:t>=</a:t>
                      </a:r>
                      <a:endParaRPr lang="en-AU" sz="2400">
                        <a:effectLst/>
                      </a:endParaRPr>
                    </a:p>
                  </a:txBody>
                  <a:tcPr marL="57150" marR="57150" marT="57150" marB="57150" anchor="ctr">
                    <a:lnL>
                      <a:noFill/>
                    </a:lnL>
                    <a:lnR>
                      <a:noFill/>
                    </a:lnR>
                    <a:lnT>
                      <a:noFill/>
                    </a:lnT>
                    <a:lnB>
                      <a:noFill/>
                    </a:lnB>
                    <a:solidFill>
                      <a:srgbClr val="FFFFFF"/>
                    </a:solidFill>
                  </a:tcPr>
                </a:tc>
                <a:tc>
                  <a:txBody>
                    <a:bodyPr/>
                    <a:lstStyle/>
                    <a:p>
                      <a:pPr algn="l" fontAlgn="ctr"/>
                      <a:r>
                        <a:rPr lang="en-AU" sz="2400" dirty="0">
                          <a:effectLst/>
                          <a:latin typeface="KaTeX_Main"/>
                        </a:rPr>
                        <a:t>160 ms</a:t>
                      </a:r>
                      <a:r>
                        <a:rPr lang="en-AU" sz="2400" baseline="30000" dirty="0">
                          <a:effectLst/>
                          <a:latin typeface="KaTeX_Main"/>
                        </a:rPr>
                        <a:t>−2</a:t>
                      </a:r>
                      <a:endParaRPr lang="en-AU" sz="2400" baseline="30000" dirty="0">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991370689"/>
                  </a:ext>
                </a:extLst>
              </a:tr>
              <a:tr h="0">
                <a:tc>
                  <a:txBody>
                    <a:bodyPr/>
                    <a:lstStyle/>
                    <a:p>
                      <a:pPr algn="r" fontAlgn="ctr"/>
                      <a:r>
                        <a:rPr lang="en-AU" sz="2400" b="1">
                          <a:solidFill>
                            <a:srgbClr val="FF9505"/>
                          </a:solidFill>
                          <a:effectLst/>
                        </a:rPr>
                        <a:t>Time</a:t>
                      </a:r>
                      <a:r>
                        <a:rPr lang="en-AU" sz="2400">
                          <a:solidFill>
                            <a:srgbClr val="FF9505"/>
                          </a:solidFill>
                          <a:effectLst/>
                        </a:rPr>
                        <a:t> </a:t>
                      </a:r>
                      <a:r>
                        <a:rPr lang="en-AU" sz="2400">
                          <a:effectLst/>
                          <a:latin typeface="KaTeX_Main"/>
                        </a:rPr>
                        <a:t>(t)</a:t>
                      </a:r>
                      <a:endParaRPr lang="en-AU" sz="2400">
                        <a:effectLst/>
                      </a:endParaRPr>
                    </a:p>
                  </a:txBody>
                  <a:tcPr marL="57150" marR="57150" marT="57150" marB="57150" anchor="ctr">
                    <a:lnL>
                      <a:noFill/>
                    </a:lnL>
                    <a:lnR>
                      <a:noFill/>
                    </a:lnR>
                    <a:lnT>
                      <a:noFill/>
                    </a:lnT>
                    <a:lnB>
                      <a:noFill/>
                    </a:lnB>
                    <a:solidFill>
                      <a:srgbClr val="FFFFFF"/>
                    </a:solidFill>
                  </a:tcPr>
                </a:tc>
                <a:tc>
                  <a:txBody>
                    <a:bodyPr/>
                    <a:lstStyle/>
                    <a:p>
                      <a:pPr algn="l" fontAlgn="ctr"/>
                      <a:r>
                        <a:rPr lang="en-AU" sz="2400">
                          <a:effectLst/>
                          <a:latin typeface="KaTeX_Main"/>
                        </a:rPr>
                        <a:t>=</a:t>
                      </a:r>
                      <a:endParaRPr lang="en-AU" sz="2400">
                        <a:effectLst/>
                      </a:endParaRPr>
                    </a:p>
                  </a:txBody>
                  <a:tcPr marL="57150" marR="57150" marT="57150" marB="57150" anchor="ctr">
                    <a:lnL>
                      <a:noFill/>
                    </a:lnL>
                    <a:lnR>
                      <a:noFill/>
                    </a:lnR>
                    <a:lnT>
                      <a:noFill/>
                    </a:lnT>
                    <a:lnB>
                      <a:noFill/>
                    </a:lnB>
                    <a:solidFill>
                      <a:srgbClr val="FFFFFF"/>
                    </a:solidFill>
                  </a:tcPr>
                </a:tc>
                <a:tc>
                  <a:txBody>
                    <a:bodyPr/>
                    <a:lstStyle/>
                    <a:p>
                      <a:pPr algn="l" fontAlgn="ctr"/>
                      <a:r>
                        <a:rPr lang="en-AU" sz="2400" dirty="0">
                          <a:effectLst/>
                          <a:latin typeface="KaTeX_Main"/>
                        </a:rPr>
                        <a:t>0.11 s</a:t>
                      </a:r>
                      <a:endParaRPr lang="en-AU" sz="2400" dirty="0">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1022217136"/>
                  </a:ext>
                </a:extLst>
              </a:tr>
              <a:tr h="0">
                <a:tc>
                  <a:txBody>
                    <a:bodyPr/>
                    <a:lstStyle/>
                    <a:p>
                      <a:pPr algn="r" fontAlgn="ctr"/>
                      <a:r>
                        <a:rPr lang="en-AU" sz="2400" b="1">
                          <a:solidFill>
                            <a:srgbClr val="571A98"/>
                          </a:solidFill>
                          <a:effectLst/>
                        </a:rPr>
                        <a:t>Initial speed</a:t>
                      </a:r>
                      <a:r>
                        <a:rPr lang="en-AU" sz="2400">
                          <a:solidFill>
                            <a:srgbClr val="571A98"/>
                          </a:solidFill>
                          <a:effectLst/>
                        </a:rPr>
                        <a:t> </a:t>
                      </a:r>
                      <a:r>
                        <a:rPr lang="en-AU" sz="2400">
                          <a:effectLst/>
                          <a:latin typeface="KaTeX_Main"/>
                        </a:rPr>
                        <a:t>(u)</a:t>
                      </a:r>
                      <a:endParaRPr lang="en-AU" sz="2400">
                        <a:effectLst/>
                      </a:endParaRPr>
                    </a:p>
                  </a:txBody>
                  <a:tcPr marL="57150" marR="57150" marT="57150" marB="57150" anchor="ctr">
                    <a:lnL>
                      <a:noFill/>
                    </a:lnL>
                    <a:lnR>
                      <a:noFill/>
                    </a:lnR>
                    <a:lnT>
                      <a:noFill/>
                    </a:lnT>
                    <a:lnB>
                      <a:noFill/>
                    </a:lnB>
                    <a:solidFill>
                      <a:srgbClr val="FFFFFF"/>
                    </a:solidFill>
                  </a:tcPr>
                </a:tc>
                <a:tc>
                  <a:txBody>
                    <a:bodyPr/>
                    <a:lstStyle/>
                    <a:p>
                      <a:pPr algn="l" fontAlgn="ctr"/>
                      <a:r>
                        <a:rPr lang="en-AU" sz="2400">
                          <a:effectLst/>
                          <a:latin typeface="KaTeX_Main"/>
                        </a:rPr>
                        <a:t>=</a:t>
                      </a:r>
                      <a:endParaRPr lang="en-AU" sz="2400">
                        <a:effectLst/>
                      </a:endParaRPr>
                    </a:p>
                  </a:txBody>
                  <a:tcPr marL="57150" marR="57150" marT="57150" marB="57150" anchor="ctr">
                    <a:lnL>
                      <a:noFill/>
                    </a:lnL>
                    <a:lnR>
                      <a:noFill/>
                    </a:lnR>
                    <a:lnT>
                      <a:noFill/>
                    </a:lnT>
                    <a:lnB>
                      <a:noFill/>
                    </a:lnB>
                    <a:solidFill>
                      <a:srgbClr val="FFFFFF"/>
                    </a:solidFill>
                  </a:tcPr>
                </a:tc>
                <a:tc>
                  <a:txBody>
                    <a:bodyPr/>
                    <a:lstStyle/>
                    <a:p>
                      <a:pPr algn="l" fontAlgn="ctr"/>
                      <a:r>
                        <a:rPr lang="en-AU" sz="2400" dirty="0">
                          <a:effectLst/>
                          <a:latin typeface="KaTeX_Main"/>
                        </a:rPr>
                        <a:t>0 ms</a:t>
                      </a:r>
                      <a:r>
                        <a:rPr lang="en-AU" sz="2400" baseline="30000" dirty="0">
                          <a:effectLst/>
                          <a:latin typeface="KaTeX_Main"/>
                        </a:rPr>
                        <a:t>−1</a:t>
                      </a:r>
                      <a:endParaRPr lang="en-AU" sz="2400" baseline="30000" dirty="0">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1776354763"/>
                  </a:ext>
                </a:extLst>
              </a:tr>
            </a:tbl>
          </a:graphicData>
        </a:graphic>
      </p:graphicFrame>
      <p:sp>
        <p:nvSpPr>
          <p:cNvPr id="8" name="Rectangle 7"/>
          <p:cNvSpPr/>
          <p:nvPr/>
        </p:nvSpPr>
        <p:spPr>
          <a:xfrm>
            <a:off x="2980583" y="5067578"/>
            <a:ext cx="5190845" cy="461665"/>
          </a:xfrm>
          <a:prstGeom prst="rect">
            <a:avLst/>
          </a:prstGeom>
        </p:spPr>
        <p:txBody>
          <a:bodyPr wrap="none">
            <a:spAutoFit/>
          </a:bodyPr>
          <a:lstStyle/>
          <a:p>
            <a:r>
              <a:rPr lang="en-AU" sz="2400" b="0" i="0" dirty="0" smtClean="0">
                <a:solidFill>
                  <a:srgbClr val="444444"/>
                </a:solidFill>
                <a:effectLst/>
                <a:latin typeface="Arial" panose="020B0604020202020204" pitchFamily="34" charset="0"/>
              </a:rPr>
              <a:t>The </a:t>
            </a:r>
            <a:r>
              <a:rPr lang="en-AU" sz="2400" b="1" i="0" dirty="0" smtClean="0">
                <a:solidFill>
                  <a:srgbClr val="F30277"/>
                </a:solidFill>
                <a:effectLst/>
                <a:latin typeface="Arial" panose="020B0604020202020204" pitchFamily="34" charset="0"/>
              </a:rPr>
              <a:t>unknown value</a:t>
            </a:r>
            <a:r>
              <a:rPr lang="en-AU" sz="2400" b="0" i="0" dirty="0" smtClean="0">
                <a:solidFill>
                  <a:srgbClr val="444444"/>
                </a:solidFill>
                <a:effectLst/>
                <a:latin typeface="Arial" panose="020B0604020202020204" pitchFamily="34" charset="0"/>
              </a:rPr>
              <a:t> is </a:t>
            </a:r>
            <a:r>
              <a:rPr lang="en-AU" sz="2400" b="1" i="0" dirty="0" smtClean="0">
                <a:solidFill>
                  <a:srgbClr val="0066CC"/>
                </a:solidFill>
                <a:effectLst/>
                <a:latin typeface="Arial" panose="020B0604020202020204" pitchFamily="34" charset="0"/>
              </a:rPr>
              <a:t>distance</a:t>
            </a:r>
            <a:r>
              <a:rPr lang="en-AU" sz="2400" b="0" i="0" dirty="0" smtClean="0">
                <a:solidFill>
                  <a:srgbClr val="444444"/>
                </a:solidFill>
                <a:effectLst/>
                <a:latin typeface="Arial" panose="020B0604020202020204" pitchFamily="34" charset="0"/>
              </a:rPr>
              <a:t> </a:t>
            </a:r>
            <a:r>
              <a:rPr lang="en-AU" sz="2400" b="0" i="0" dirty="0" smtClean="0">
                <a:solidFill>
                  <a:srgbClr val="444444"/>
                </a:solidFill>
                <a:effectLst/>
                <a:latin typeface="KaTeX_Main"/>
              </a:rPr>
              <a:t>(s)</a:t>
            </a:r>
            <a:r>
              <a:rPr lang="en-AU" sz="2400" b="0" i="0" dirty="0" smtClean="0">
                <a:solidFill>
                  <a:srgbClr val="444444"/>
                </a:solidFill>
                <a:effectLst/>
                <a:latin typeface="Arial" panose="020B0604020202020204" pitchFamily="34" charset="0"/>
              </a:rPr>
              <a:t>.</a:t>
            </a:r>
            <a:endParaRPr lang="en-AU" sz="2400" dirty="0"/>
          </a:p>
        </p:txBody>
      </p:sp>
    </p:spTree>
    <p:extLst>
      <p:ext uri="{BB962C8B-B14F-4D97-AF65-F5344CB8AC3E}">
        <p14:creationId xmlns:p14="http://schemas.microsoft.com/office/powerpoint/2010/main" val="24626094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900" y="398840"/>
            <a:ext cx="11747500" cy="3416320"/>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 next thing you need to do is find a </a:t>
            </a:r>
            <a:r>
              <a:rPr lang="en-AU" sz="2400" b="1" i="0" dirty="0" smtClean="0">
                <a:solidFill>
                  <a:srgbClr val="FB6611"/>
                </a:solidFill>
                <a:effectLst/>
                <a:latin typeface="Arial" panose="020B0604020202020204" pitchFamily="34" charset="0"/>
              </a:rPr>
              <a:t>kinematic equation</a:t>
            </a:r>
            <a:r>
              <a:rPr lang="en-AU" sz="2400" b="1" i="0" dirty="0" smtClean="0">
                <a:solidFill>
                  <a:srgbClr val="444444"/>
                </a:solidFill>
                <a:effectLst/>
                <a:latin typeface="Arial" panose="020B0604020202020204" pitchFamily="34" charset="0"/>
              </a:rPr>
              <a:t> that contains these </a:t>
            </a:r>
            <a:r>
              <a:rPr lang="en-AU" sz="2400" b="1" i="0" dirty="0" smtClean="0">
                <a:solidFill>
                  <a:srgbClr val="F30277"/>
                </a:solidFill>
                <a:effectLst/>
                <a:latin typeface="Arial" panose="020B0604020202020204" pitchFamily="34" charset="0"/>
              </a:rPr>
              <a:t>four values.</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"An arrow being pushed by a bow string accelerates at </a:t>
            </a:r>
            <a:r>
              <a:rPr lang="en-AU" sz="2400" b="0" i="0" dirty="0" smtClean="0">
                <a:solidFill>
                  <a:srgbClr val="444444"/>
                </a:solidFill>
                <a:effectLst/>
                <a:latin typeface="KaTeX_Main"/>
              </a:rPr>
              <a:t>160 ms</a:t>
            </a:r>
            <a:r>
              <a:rPr lang="en-AU" sz="2400" b="0" i="0" baseline="30000" dirty="0" smtClean="0">
                <a:solidFill>
                  <a:srgbClr val="444444"/>
                </a:solidFill>
                <a:effectLst/>
                <a:latin typeface="KaTeX_Main"/>
              </a:rPr>
              <a:t>−2</a:t>
            </a:r>
            <a:r>
              <a:rPr lang="en-AU" sz="2400" b="0" i="0" dirty="0" smtClean="0">
                <a:solidFill>
                  <a:srgbClr val="444444"/>
                </a:solidFill>
                <a:effectLst/>
                <a:latin typeface="Arial" panose="020B0604020202020204" pitchFamily="34" charset="0"/>
              </a:rPr>
              <a:t> over </a:t>
            </a:r>
            <a:r>
              <a:rPr lang="en-AU" sz="2400" b="0" i="0" dirty="0" smtClean="0">
                <a:solidFill>
                  <a:srgbClr val="444444"/>
                </a:solidFill>
                <a:effectLst/>
                <a:latin typeface="KaTeX_Main"/>
              </a:rPr>
              <a:t>0.11 s</a:t>
            </a:r>
            <a:r>
              <a:rPr lang="en-AU" sz="2400" b="0" i="0" dirty="0" smtClean="0">
                <a:solidFill>
                  <a:srgbClr val="444444"/>
                </a:solidFill>
                <a:effectLst/>
                <a:latin typeface="Arial" panose="020B0604020202020204" pitchFamily="34" charset="0"/>
              </a:rPr>
              <a:t>. The initial speed of the arrow is </a:t>
            </a:r>
            <a:r>
              <a:rPr lang="en-AU" sz="2400" b="0" i="0" dirty="0" smtClean="0">
                <a:solidFill>
                  <a:srgbClr val="444444"/>
                </a:solidFill>
                <a:effectLst/>
                <a:latin typeface="KaTeX_Main"/>
              </a:rPr>
              <a:t>0 ms</a:t>
            </a:r>
            <a:r>
              <a:rPr lang="en-AU" sz="2400" b="0" i="0" baseline="30000" dirty="0" smtClean="0">
                <a:solidFill>
                  <a:srgbClr val="444444"/>
                </a:solidFill>
                <a:effectLst/>
                <a:latin typeface="KaTeX_Main"/>
              </a:rPr>
              <a:t>−1</a:t>
            </a:r>
            <a:r>
              <a:rPr lang="en-AU" sz="2400" b="0" i="0" dirty="0" smtClean="0">
                <a:solidFill>
                  <a:srgbClr val="444444"/>
                </a:solidFill>
                <a:effectLst/>
                <a:latin typeface="Arial" panose="020B0604020202020204" pitchFamily="34" charset="0"/>
              </a:rPr>
              <a:t> How far does the arrow travel during this time?"</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You have values for </a:t>
            </a:r>
            <a:r>
              <a:rPr lang="en-AU" sz="2400" b="0" i="0" dirty="0" smtClean="0">
                <a:solidFill>
                  <a:srgbClr val="444444"/>
                </a:solidFill>
                <a:effectLst/>
                <a:latin typeface="KaTeX_Main"/>
              </a:rPr>
              <a:t>a, t and u</a:t>
            </a:r>
            <a:r>
              <a:rPr lang="en-AU" sz="2400" b="0" i="0" dirty="0" smtClean="0">
                <a:solidFill>
                  <a:srgbClr val="444444"/>
                </a:solidFill>
                <a:effectLst/>
                <a:latin typeface="Arial" panose="020B0604020202020204" pitchFamily="34" charset="0"/>
              </a:rPr>
              <a:t> and need to find </a:t>
            </a:r>
            <a:r>
              <a:rPr lang="en-AU" sz="2400" b="0" i="0" dirty="0" smtClean="0">
                <a:solidFill>
                  <a:srgbClr val="444444"/>
                </a:solidFill>
                <a:effectLst/>
                <a:latin typeface="KaTeX_Main"/>
              </a:rPr>
              <a:t>s</a:t>
            </a:r>
            <a:r>
              <a:rPr lang="en-AU" sz="2400" b="0" i="0" dirty="0" smtClean="0">
                <a:solidFill>
                  <a:srgbClr val="444444"/>
                </a:solidFill>
                <a:effectLst/>
                <a:latin typeface="Arial" panose="020B0604020202020204" pitchFamily="34" charset="0"/>
              </a:rPr>
              <a:t>.</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Which </a:t>
            </a:r>
            <a:r>
              <a:rPr lang="en-AU" sz="2400" b="1" i="0" dirty="0" smtClean="0">
                <a:solidFill>
                  <a:srgbClr val="FB6611"/>
                </a:solidFill>
                <a:effectLst/>
                <a:latin typeface="Arial" panose="020B0604020202020204" pitchFamily="34" charset="0"/>
              </a:rPr>
              <a:t>equation</a:t>
            </a:r>
            <a:r>
              <a:rPr lang="en-AU" sz="2400" b="0" i="0" dirty="0" smtClean="0">
                <a:solidFill>
                  <a:srgbClr val="444444"/>
                </a:solidFill>
                <a:effectLst/>
                <a:latin typeface="Arial" panose="020B0604020202020204" pitchFamily="34" charset="0"/>
              </a:rPr>
              <a:t> below contains all </a:t>
            </a:r>
            <a:r>
              <a:rPr lang="en-AU" sz="2400" b="1" i="0" dirty="0" smtClean="0">
                <a:solidFill>
                  <a:srgbClr val="F30277"/>
                </a:solidFill>
                <a:effectLst/>
                <a:latin typeface="Arial" panose="020B0604020202020204" pitchFamily="34" charset="0"/>
              </a:rPr>
              <a:t>four values</a:t>
            </a:r>
            <a:r>
              <a:rPr lang="en-AU" sz="2400" b="0" i="0" dirty="0" smtClean="0">
                <a:solidFill>
                  <a:srgbClr val="444444"/>
                </a:solidFill>
                <a:effectLst/>
                <a:latin typeface="Arial" panose="020B0604020202020204" pitchFamily="34" charset="0"/>
              </a:rPr>
              <a:t> mentioned in the question above?</a:t>
            </a:r>
            <a:endParaRPr lang="en-AU" sz="2400"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3229232" y="3933824"/>
            <a:ext cx="5974836" cy="2403475"/>
          </a:xfrm>
          <a:prstGeom prst="rect">
            <a:avLst/>
          </a:prstGeom>
        </p:spPr>
      </p:pic>
    </p:spTree>
    <p:extLst>
      <p:ext uri="{BB962C8B-B14F-4D97-AF65-F5344CB8AC3E}">
        <p14:creationId xmlns:p14="http://schemas.microsoft.com/office/powerpoint/2010/main" val="3517787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25674" y="709612"/>
            <a:ext cx="7455131" cy="4446588"/>
          </a:xfrm>
          <a:prstGeom prst="rect">
            <a:avLst/>
          </a:prstGeom>
        </p:spPr>
      </p:pic>
    </p:spTree>
    <p:extLst>
      <p:ext uri="{BB962C8B-B14F-4D97-AF65-F5344CB8AC3E}">
        <p14:creationId xmlns:p14="http://schemas.microsoft.com/office/powerpoint/2010/main" val="208522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4625" y="241300"/>
            <a:ext cx="12027742" cy="6286500"/>
          </a:xfrm>
          <a:prstGeom prst="rect">
            <a:avLst/>
          </a:prstGeom>
        </p:spPr>
      </p:pic>
    </p:spTree>
    <p:extLst>
      <p:ext uri="{BB962C8B-B14F-4D97-AF65-F5344CB8AC3E}">
        <p14:creationId xmlns:p14="http://schemas.microsoft.com/office/powerpoint/2010/main" val="2715063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06400" y="227737"/>
            <a:ext cx="11366500" cy="1569660"/>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Once we have the equation, we need to substitute in the known values:</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"An arrow being pushed by a bow string accelerates at </a:t>
            </a:r>
            <a:r>
              <a:rPr lang="en-AU" sz="2400" b="0" i="0" dirty="0" smtClean="0">
                <a:solidFill>
                  <a:srgbClr val="444444"/>
                </a:solidFill>
                <a:effectLst/>
                <a:latin typeface="KaTeX_Main"/>
              </a:rPr>
              <a:t>160 ms</a:t>
            </a:r>
            <a:r>
              <a:rPr lang="en-AU" sz="2400" b="0" i="0" baseline="30000" dirty="0" smtClean="0">
                <a:solidFill>
                  <a:srgbClr val="444444"/>
                </a:solidFill>
                <a:effectLst/>
                <a:latin typeface="KaTeX_Main"/>
              </a:rPr>
              <a:t>−2</a:t>
            </a:r>
            <a:r>
              <a:rPr lang="en-AU" sz="2400" b="0" i="0" dirty="0" smtClean="0">
                <a:solidFill>
                  <a:srgbClr val="444444"/>
                </a:solidFill>
                <a:effectLst/>
                <a:latin typeface="Arial" panose="020B0604020202020204" pitchFamily="34" charset="0"/>
              </a:rPr>
              <a:t> over </a:t>
            </a:r>
            <a:r>
              <a:rPr lang="en-AU" sz="2400" b="0" i="0" dirty="0" smtClean="0">
                <a:solidFill>
                  <a:srgbClr val="444444"/>
                </a:solidFill>
                <a:effectLst/>
                <a:latin typeface="KaTeX_Main"/>
              </a:rPr>
              <a:t>0.11 s</a:t>
            </a:r>
            <a:r>
              <a:rPr lang="en-AU" sz="2400" b="0" i="0" dirty="0" smtClean="0">
                <a:solidFill>
                  <a:srgbClr val="444444"/>
                </a:solidFill>
                <a:effectLst/>
                <a:latin typeface="Arial" panose="020B0604020202020204" pitchFamily="34" charset="0"/>
              </a:rPr>
              <a:t>. The initial speed of the arrow is </a:t>
            </a:r>
            <a:r>
              <a:rPr lang="en-AU" sz="2400" b="0" i="0" dirty="0" smtClean="0">
                <a:solidFill>
                  <a:srgbClr val="444444"/>
                </a:solidFill>
                <a:effectLst/>
                <a:latin typeface="KaTeX_Main"/>
              </a:rPr>
              <a:t>0 ms</a:t>
            </a:r>
            <a:r>
              <a:rPr lang="en-AU" sz="2400" b="0" i="0" baseline="30000" dirty="0" smtClean="0">
                <a:solidFill>
                  <a:srgbClr val="444444"/>
                </a:solidFill>
                <a:effectLst/>
                <a:latin typeface="KaTeX_Main"/>
              </a:rPr>
              <a:t>−1</a:t>
            </a:r>
            <a:r>
              <a:rPr lang="en-AU" sz="2400" b="0" i="0" dirty="0" smtClean="0">
                <a:solidFill>
                  <a:srgbClr val="444444"/>
                </a:solidFill>
                <a:effectLst/>
                <a:latin typeface="Arial" panose="020B0604020202020204" pitchFamily="34" charset="0"/>
              </a:rPr>
              <a:t> How far does the arrow travel during this time?"</a:t>
            </a:r>
            <a:endParaRPr lang="en-AU" sz="2400" b="0" i="0" dirty="0">
              <a:solidFill>
                <a:srgbClr val="444444"/>
              </a:solidFill>
              <a:effectLst/>
              <a:latin typeface="Arial" panose="020B0604020202020204" pitchFamily="34" charset="0"/>
            </a:endParaRPr>
          </a:p>
        </p:txBody>
      </p:sp>
      <p:pic>
        <p:nvPicPr>
          <p:cNvPr id="4" name="Picture 3"/>
          <p:cNvPicPr>
            <a:picLocks noChangeAspect="1"/>
          </p:cNvPicPr>
          <p:nvPr/>
        </p:nvPicPr>
        <p:blipFill>
          <a:blip r:embed="rId2"/>
          <a:stretch>
            <a:fillRect/>
          </a:stretch>
        </p:blipFill>
        <p:spPr>
          <a:xfrm>
            <a:off x="2674937" y="2105024"/>
            <a:ext cx="7398222" cy="3724275"/>
          </a:xfrm>
          <a:prstGeom prst="rect">
            <a:avLst/>
          </a:prstGeom>
        </p:spPr>
      </p:pic>
    </p:spTree>
    <p:extLst>
      <p:ext uri="{BB962C8B-B14F-4D97-AF65-F5344CB8AC3E}">
        <p14:creationId xmlns:p14="http://schemas.microsoft.com/office/powerpoint/2010/main" val="3618605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27074" y="0"/>
            <a:ext cx="9445625" cy="4386669"/>
          </a:xfrm>
          <a:prstGeom prst="rect">
            <a:avLst/>
          </a:prstGeom>
        </p:spPr>
      </p:pic>
      <p:pic>
        <p:nvPicPr>
          <p:cNvPr id="4098" name="Picture 2" descr="https://www.educationperfect.com/media/content/Science/1447128166.123321g/1447128169634-2214951776018797-4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48" y="4386669"/>
            <a:ext cx="3216275" cy="2339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46339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114</Words>
  <Application>Microsoft Office PowerPoint</Application>
  <PresentationFormat>Widescreen</PresentationFormat>
  <Paragraphs>64</Paragraphs>
  <Slides>13</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KaTeX_Main</vt:lpstr>
      <vt:lpstr>KaTeX_Math</vt:lpstr>
      <vt:lpstr>Office Theme</vt:lpstr>
      <vt:lpstr>Kinematic Equations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Kinematic Equations</dc:title>
  <dc:creator>Joseph D'cruz</dc:creator>
  <cp:lastModifiedBy>Joseph D'cruz</cp:lastModifiedBy>
  <cp:revision>2</cp:revision>
  <dcterms:created xsi:type="dcterms:W3CDTF">2020-07-15T10:37:55Z</dcterms:created>
  <dcterms:modified xsi:type="dcterms:W3CDTF">2020-07-15T10:43:06Z</dcterms:modified>
</cp:coreProperties>
</file>
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0" r:id="rId7"/>
    <p:sldId id="263" r:id="rId8"/>
    <p:sldId id="264" r:id="rId9"/>
    <p:sldId id="265" r:id="rId10"/>
    <p:sldId id="266" r:id="rId11"/>
    <p:sldId id="267" r:id="rId12"/>
    <p:sldId id="268" r:id="rId13"/>
    <p:sldId id="269" r:id="rId14"/>
    <p:sldId id="271" r:id="rId15"/>
    <p:sldId id="272" r:id="rId16"/>
    <p:sldId id="273" r:id="rId17"/>
    <p:sldId id="274" r:id="rId18"/>
    <p:sldId id="275"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4423228-8208-4085-9EA1-5D4649A41F97}"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1885680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4423228-8208-4085-9EA1-5D4649A41F97}"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2478761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423228-8208-4085-9EA1-5D4649A41F97}"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339886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4423228-8208-4085-9EA1-5D4649A41F97}"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593557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4423228-8208-4085-9EA1-5D4649A41F97}" type="datetimeFigureOut">
              <a:rPr lang="en-AU" smtClean="0"/>
              <a:t>14/07/2020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1745386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4423228-8208-4085-9EA1-5D4649A41F97}" type="datetimeFigureOut">
              <a:rPr lang="en-AU" smtClean="0"/>
              <a:t>14/07/2020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258627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423228-8208-4085-9EA1-5D4649A41F97}" type="datetimeFigureOut">
              <a:rPr lang="en-AU" smtClean="0"/>
              <a:t>14/07/2020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34609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423228-8208-4085-9EA1-5D4649A41F97}"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4131745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423228-8208-4085-9EA1-5D4649A41F97}"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2294222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4423228-8208-4085-9EA1-5D4649A41F97}"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388371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4423228-8208-4085-9EA1-5D4649A41F97}"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272908F-A753-454A-B751-D75DD6802D7A}" type="slidenum">
              <a:rPr lang="en-AU" smtClean="0"/>
              <a:t>‹#›</a:t>
            </a:fld>
            <a:endParaRPr lang="en-AU"/>
          </a:p>
        </p:txBody>
      </p:sp>
    </p:spTree>
    <p:extLst>
      <p:ext uri="{BB962C8B-B14F-4D97-AF65-F5344CB8AC3E}">
        <p14:creationId xmlns:p14="http://schemas.microsoft.com/office/powerpoint/2010/main" val="327311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423228-8208-4085-9EA1-5D4649A41F97}" type="datetimeFigureOut">
              <a:rPr lang="en-AU" smtClean="0"/>
              <a:t>14/07/2020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72908F-A753-454A-B751-D75DD6802D7A}" type="slidenum">
              <a:rPr lang="en-AU" smtClean="0"/>
              <a:t>‹#›</a:t>
            </a:fld>
            <a:endParaRPr lang="en-AU"/>
          </a:p>
        </p:txBody>
      </p:sp>
    </p:spTree>
    <p:extLst>
      <p:ext uri="{BB962C8B-B14F-4D97-AF65-F5344CB8AC3E}">
        <p14:creationId xmlns:p14="http://schemas.microsoft.com/office/powerpoint/2010/main" val="1438346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thnDxFdkzZ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7.xml"/><Relationship Id="rId1" Type="http://schemas.openxmlformats.org/officeDocument/2006/relationships/video" Target="https://www.youtube.com/embed/03iWCjxjCdA"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Nuclear Model</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1022584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316637"/>
            <a:ext cx="11061700" cy="2677656"/>
          </a:xfrm>
          <a:prstGeom prst="rect">
            <a:avLst/>
          </a:prstGeom>
        </p:spPr>
        <p:txBody>
          <a:bodyPr wrap="square">
            <a:spAutoFit/>
          </a:bodyPr>
          <a:lstStyle/>
          <a:p>
            <a:pPr algn="ctr"/>
            <a:r>
              <a:rPr lang="en-AU" sz="2800" b="0" i="0" dirty="0" smtClean="0">
                <a:solidFill>
                  <a:srgbClr val="444444"/>
                </a:solidFill>
                <a:effectLst/>
                <a:latin typeface="Arial" panose="020B0604020202020204" pitchFamily="34" charset="0"/>
              </a:rPr>
              <a:t>In this Smart Lesson you will learn to:</a:t>
            </a:r>
          </a:p>
          <a:p>
            <a:pPr algn="ctr"/>
            <a:r>
              <a:rPr lang="en-AU" sz="28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800" b="1" i="0" dirty="0" smtClean="0">
                <a:solidFill>
                  <a:srgbClr val="009900"/>
                </a:solidFill>
                <a:effectLst/>
                <a:latin typeface="Arial" panose="020B0604020202020204" pitchFamily="34" charset="0"/>
              </a:rPr>
              <a:t>Outline</a:t>
            </a:r>
            <a:r>
              <a:rPr lang="en-AU" sz="2800" b="0" i="0" dirty="0" smtClean="0">
                <a:solidFill>
                  <a:srgbClr val="444444"/>
                </a:solidFill>
                <a:effectLst/>
                <a:latin typeface="Arial" panose="020B0604020202020204" pitchFamily="34" charset="0"/>
              </a:rPr>
              <a:t> the history of the </a:t>
            </a:r>
            <a:r>
              <a:rPr lang="en-AU" sz="2800" b="1" i="0" dirty="0" smtClean="0">
                <a:solidFill>
                  <a:srgbClr val="F30277"/>
                </a:solidFill>
                <a:effectLst/>
                <a:latin typeface="Arial" panose="020B0604020202020204" pitchFamily="34" charset="0"/>
              </a:rPr>
              <a:t>nuclear model.</a:t>
            </a:r>
            <a:endParaRPr lang="en-AU" sz="28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800" b="1" i="0" dirty="0" smtClean="0">
                <a:solidFill>
                  <a:srgbClr val="009900"/>
                </a:solidFill>
                <a:effectLst/>
                <a:latin typeface="Arial" panose="020B0604020202020204" pitchFamily="34" charset="0"/>
              </a:rPr>
              <a:t>Describe</a:t>
            </a:r>
            <a:r>
              <a:rPr lang="en-AU" sz="2800" b="0" i="0" dirty="0" smtClean="0">
                <a:solidFill>
                  <a:srgbClr val="444444"/>
                </a:solidFill>
                <a:effectLst/>
                <a:latin typeface="Arial" panose="020B0604020202020204" pitchFamily="34" charset="0"/>
              </a:rPr>
              <a:t> the </a:t>
            </a:r>
            <a:r>
              <a:rPr lang="en-AU" sz="2800" b="1" i="0" dirty="0" smtClean="0">
                <a:solidFill>
                  <a:srgbClr val="F30277"/>
                </a:solidFill>
                <a:effectLst/>
                <a:latin typeface="Arial" panose="020B0604020202020204" pitchFamily="34" charset="0"/>
              </a:rPr>
              <a:t>nuclear model of the atom</a:t>
            </a:r>
            <a:r>
              <a:rPr lang="en-AU" sz="2800" b="0" i="0" dirty="0" smtClean="0">
                <a:solidFill>
                  <a:srgbClr val="444444"/>
                </a:solidFill>
                <a:effectLst/>
                <a:latin typeface="Arial" panose="020B0604020202020204" pitchFamily="34" charset="0"/>
              </a:rPr>
              <a:t> characterised by a small nucleus surrounded by electrons.</a:t>
            </a:r>
          </a:p>
          <a:p>
            <a:pPr>
              <a:buFont typeface="Arial" panose="020B0604020202020204" pitchFamily="34" charset="0"/>
              <a:buChar char="•"/>
            </a:pPr>
            <a:r>
              <a:rPr lang="en-AU" sz="2800" b="1" i="0" dirty="0" smtClean="0">
                <a:solidFill>
                  <a:srgbClr val="009900"/>
                </a:solidFill>
                <a:effectLst/>
                <a:latin typeface="Arial" panose="020B0604020202020204" pitchFamily="34" charset="0"/>
              </a:rPr>
              <a:t>Explain</a:t>
            </a:r>
            <a:r>
              <a:rPr lang="en-AU" sz="2800" b="0" i="0" dirty="0" smtClean="0">
                <a:solidFill>
                  <a:srgbClr val="444444"/>
                </a:solidFill>
                <a:effectLst/>
                <a:latin typeface="Arial" panose="020B0604020202020204" pitchFamily="34" charset="0"/>
              </a:rPr>
              <a:t> why </a:t>
            </a:r>
            <a:r>
              <a:rPr lang="en-AU" sz="2800" b="1" i="0" dirty="0" smtClean="0">
                <a:solidFill>
                  <a:srgbClr val="0066CC"/>
                </a:solidFill>
                <a:effectLst/>
                <a:latin typeface="Arial" panose="020B0604020202020204" pitchFamily="34" charset="0"/>
              </a:rPr>
              <a:t>protons</a:t>
            </a:r>
            <a:r>
              <a:rPr lang="en-AU" sz="2800" b="0" i="0" dirty="0" smtClean="0">
                <a:solidFill>
                  <a:srgbClr val="444444"/>
                </a:solidFill>
                <a:effectLst/>
                <a:latin typeface="Arial" panose="020B0604020202020204" pitchFamily="34" charset="0"/>
              </a:rPr>
              <a:t> in the nucleus </a:t>
            </a:r>
            <a:r>
              <a:rPr lang="en-AU" sz="2800" b="1" i="0" dirty="0" smtClean="0">
                <a:solidFill>
                  <a:srgbClr val="444444"/>
                </a:solidFill>
                <a:effectLst/>
                <a:latin typeface="Arial" panose="020B0604020202020204" pitchFamily="34" charset="0"/>
              </a:rPr>
              <a:t>repel </a:t>
            </a:r>
            <a:r>
              <a:rPr lang="en-AU" sz="2800" b="0" i="0" dirty="0" smtClean="0">
                <a:solidFill>
                  <a:srgbClr val="444444"/>
                </a:solidFill>
                <a:effectLst/>
                <a:latin typeface="Arial" panose="020B0604020202020204" pitchFamily="34" charset="0"/>
              </a:rPr>
              <a:t>each other.</a:t>
            </a:r>
            <a:endParaRPr lang="en-AU" sz="2800" b="0" i="0" dirty="0">
              <a:solidFill>
                <a:srgbClr val="444444"/>
              </a:solidFill>
              <a:effectLst/>
              <a:latin typeface="Arial" panose="020B0604020202020204" pitchFamily="34" charset="0"/>
            </a:endParaRPr>
          </a:p>
        </p:txBody>
      </p:sp>
      <p:pic>
        <p:nvPicPr>
          <p:cNvPr id="1026" name="Picture 2" descr="https://www.educationperfect.com/media/content/Science/1526858433.43841g/1526858462071-3822536701487795-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0475" y="3032393"/>
            <a:ext cx="40957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378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0" y="730935"/>
            <a:ext cx="10553700" cy="461665"/>
          </a:xfrm>
          <a:prstGeom prst="rect">
            <a:avLst/>
          </a:prstGeom>
        </p:spPr>
        <p:txBody>
          <a:bodyPr wrap="square">
            <a:spAutoFit/>
          </a:bodyPr>
          <a:lstStyle/>
          <a:p>
            <a:pPr algn="ctr"/>
            <a:r>
              <a:rPr lang="en-AU" sz="2400" b="1" i="0" dirty="0" smtClean="0">
                <a:solidFill>
                  <a:srgbClr val="F30277"/>
                </a:solidFill>
                <a:effectLst/>
                <a:latin typeface="Arial" panose="020B0604020202020204" pitchFamily="34" charset="0"/>
              </a:rPr>
              <a:t>Atoms</a:t>
            </a:r>
            <a:r>
              <a:rPr lang="en-AU" sz="2400" b="1" i="0" dirty="0" smtClean="0">
                <a:solidFill>
                  <a:srgbClr val="444444"/>
                </a:solidFill>
                <a:effectLst/>
                <a:latin typeface="Arial" panose="020B0604020202020204" pitchFamily="34" charset="0"/>
              </a:rPr>
              <a:t> are the incredibly tiny particles that </a:t>
            </a:r>
            <a:r>
              <a:rPr lang="en-AU" sz="2400" b="1" i="0" dirty="0" smtClean="0">
                <a:solidFill>
                  <a:srgbClr val="0066CC"/>
                </a:solidFill>
                <a:effectLst/>
                <a:latin typeface="Arial" panose="020B0604020202020204" pitchFamily="34" charset="0"/>
              </a:rPr>
              <a:t>everything is made of!</a:t>
            </a:r>
            <a:endParaRPr lang="en-AU" sz="2400" b="1" i="0" dirty="0">
              <a:solidFill>
                <a:srgbClr val="444444"/>
              </a:solidFill>
              <a:effectLst/>
              <a:latin typeface="Arial" panose="020B0604020202020204" pitchFamily="34" charset="0"/>
            </a:endParaRPr>
          </a:p>
        </p:txBody>
      </p:sp>
      <p:pic>
        <p:nvPicPr>
          <p:cNvPr id="2050" name="Picture 2" descr="https://www.educationperfect.com/media/content/Science/1441839450.688511g/1441839461214-1901673146059824-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2" y="1379537"/>
            <a:ext cx="3800475" cy="31718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0600" y="5099735"/>
            <a:ext cx="10401300" cy="830997"/>
          </a:xfrm>
          <a:prstGeom prst="rect">
            <a:avLst/>
          </a:prstGeom>
        </p:spPr>
        <p:txBody>
          <a:bodyPr wrap="square">
            <a:spAutoFit/>
          </a:bodyPr>
          <a:lstStyle/>
          <a:p>
            <a:r>
              <a:rPr lang="en-AU" sz="2400" b="0" i="1" dirty="0" smtClean="0">
                <a:solidFill>
                  <a:srgbClr val="444444"/>
                </a:solidFill>
                <a:effectLst/>
                <a:latin typeface="Arial" panose="020B0604020202020204" pitchFamily="34" charset="0"/>
              </a:rPr>
              <a:t>Atoms are so small that you can't see them without a special microscope that uses electrons instead of light!</a:t>
            </a:r>
            <a:endParaRPr lang="en-AU" sz="2400" dirty="0"/>
          </a:p>
        </p:txBody>
      </p:sp>
    </p:spTree>
    <p:extLst>
      <p:ext uri="{BB962C8B-B14F-4D97-AF65-F5344CB8AC3E}">
        <p14:creationId xmlns:p14="http://schemas.microsoft.com/office/powerpoint/2010/main" val="1555030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hnDxFdkzZs"/>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03398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200" y="496838"/>
            <a:ext cx="108077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current model of the atom has not been around forever!</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Over </a:t>
            </a:r>
            <a:r>
              <a:rPr lang="en-AU" sz="2400" b="0" i="0" dirty="0" smtClean="0">
                <a:solidFill>
                  <a:srgbClr val="444444"/>
                </a:solidFill>
                <a:effectLst/>
                <a:latin typeface="KaTeX_Main"/>
              </a:rPr>
              <a:t>2000</a:t>
            </a:r>
            <a:r>
              <a:rPr lang="en-AU" sz="2400" b="0" i="0" dirty="0" smtClean="0">
                <a:solidFill>
                  <a:srgbClr val="444444"/>
                </a:solidFill>
                <a:effectLst/>
                <a:latin typeface="Arial" panose="020B0604020202020204" pitchFamily="34" charset="0"/>
              </a:rPr>
              <a:t> years ago a Greek philosopher called </a:t>
            </a:r>
            <a:r>
              <a:rPr lang="en-AU" sz="2400" b="1" i="0" dirty="0" smtClean="0">
                <a:solidFill>
                  <a:srgbClr val="444444"/>
                </a:solidFill>
                <a:effectLst/>
                <a:latin typeface="Arial" panose="020B0604020202020204" pitchFamily="34" charset="0"/>
              </a:rPr>
              <a:t>Democritus</a:t>
            </a:r>
            <a:r>
              <a:rPr lang="en-AU" sz="2400" b="0" i="0" dirty="0" smtClean="0">
                <a:solidFill>
                  <a:srgbClr val="444444"/>
                </a:solidFill>
                <a:effectLst/>
                <a:latin typeface="Arial" panose="020B0604020202020204" pitchFamily="34" charset="0"/>
              </a:rPr>
              <a:t> hypothesised about </a:t>
            </a:r>
            <a:r>
              <a:rPr lang="en-AU" sz="2400" b="1" i="0" dirty="0" smtClean="0">
                <a:solidFill>
                  <a:srgbClr val="444444"/>
                </a:solidFill>
                <a:effectLst/>
                <a:latin typeface="Arial" panose="020B0604020202020204" pitchFamily="34" charset="0"/>
              </a:rPr>
              <a:t>dividing a material again and again</a:t>
            </a:r>
            <a:r>
              <a:rPr lang="en-AU" sz="2400" b="0" i="0" dirty="0" smtClean="0">
                <a:solidFill>
                  <a:srgbClr val="444444"/>
                </a:solidFill>
                <a:effectLst/>
                <a:latin typeface="Arial" panose="020B0604020202020204" pitchFamily="34" charset="0"/>
              </a:rPr>
              <a:t> until you </a:t>
            </a:r>
            <a:r>
              <a:rPr lang="en-AU" sz="2400" b="1" i="0" dirty="0" smtClean="0">
                <a:solidFill>
                  <a:srgbClr val="0066CC"/>
                </a:solidFill>
                <a:effectLst/>
                <a:latin typeface="Arial" panose="020B0604020202020204" pitchFamily="34" charset="0"/>
              </a:rPr>
              <a:t>cannot divide it any more.</a:t>
            </a:r>
            <a:r>
              <a:rPr lang="en-AU" sz="2400" b="0" i="0" dirty="0" smtClean="0">
                <a:solidFill>
                  <a:srgbClr val="444444"/>
                </a:solidFill>
                <a:effectLst/>
                <a:latin typeface="Arial" panose="020B0604020202020204" pitchFamily="34" charset="0"/>
              </a:rPr>
              <a:t> He called what remained an </a:t>
            </a:r>
            <a:r>
              <a:rPr lang="en-AU" sz="2400" b="1" i="0" dirty="0" err="1" smtClean="0">
                <a:solidFill>
                  <a:srgbClr val="F30277"/>
                </a:solidFill>
                <a:effectLst/>
                <a:latin typeface="Arial" panose="020B0604020202020204" pitchFamily="34" charset="0"/>
              </a:rPr>
              <a:t>atomos</a:t>
            </a:r>
            <a:r>
              <a:rPr lang="en-AU" sz="2400" b="1" i="0" dirty="0" smtClean="0">
                <a:solidFill>
                  <a:srgbClr val="F30277"/>
                </a:solidFill>
                <a:effectLst/>
                <a:latin typeface="Arial" panose="020B0604020202020204" pitchFamily="34" charset="0"/>
              </a:rPr>
              <a:t>,</a:t>
            </a:r>
            <a:r>
              <a:rPr lang="en-AU" sz="2400" b="0" i="0" dirty="0" smtClean="0">
                <a:solidFill>
                  <a:srgbClr val="444444"/>
                </a:solidFill>
                <a:effectLst/>
                <a:latin typeface="Arial" panose="020B0604020202020204" pitchFamily="34" charset="0"/>
              </a:rPr>
              <a:t> which is Greek for </a:t>
            </a:r>
            <a:r>
              <a:rPr lang="en-AU" sz="2400" b="1" i="0" dirty="0" smtClean="0">
                <a:solidFill>
                  <a:srgbClr val="F30277"/>
                </a:solidFill>
                <a:effectLst/>
                <a:latin typeface="Arial" panose="020B0604020202020204" pitchFamily="34" charset="0"/>
              </a:rPr>
              <a:t>indivisible.</a:t>
            </a:r>
            <a:endParaRPr lang="en-AU" sz="2400" b="0" i="0" dirty="0">
              <a:solidFill>
                <a:srgbClr val="444444"/>
              </a:solidFill>
              <a:effectLst/>
              <a:latin typeface="Arial" panose="020B0604020202020204" pitchFamily="34" charset="0"/>
            </a:endParaRPr>
          </a:p>
        </p:txBody>
      </p:sp>
      <p:pic>
        <p:nvPicPr>
          <p:cNvPr id="3074" name="Picture 2" descr="https://www.educationperfect.com/media/content/Science/1454385011.806391g/1454385051637-3073972159577730-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974" y="2738437"/>
            <a:ext cx="2841625" cy="3926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786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274241"/>
            <a:ext cx="11468100" cy="378565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Models of atomic structure.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English chemist </a:t>
            </a:r>
            <a:r>
              <a:rPr lang="en-AU" sz="2400" b="1" i="0" dirty="0" smtClean="0">
                <a:solidFill>
                  <a:srgbClr val="444444"/>
                </a:solidFill>
                <a:effectLst/>
                <a:latin typeface="Arial" panose="020B0604020202020204" pitchFamily="34" charset="0"/>
              </a:rPr>
              <a:t>John Dalton</a:t>
            </a:r>
            <a:r>
              <a:rPr lang="en-AU" sz="2400" b="0" i="0" dirty="0" smtClean="0">
                <a:solidFill>
                  <a:srgbClr val="444444"/>
                </a:solidFill>
                <a:effectLst/>
                <a:latin typeface="Arial" panose="020B0604020202020204" pitchFamily="34" charset="0"/>
              </a:rPr>
              <a:t> proposed in </a:t>
            </a:r>
            <a:r>
              <a:rPr lang="en-AU" sz="2400" b="0" i="0" dirty="0" smtClean="0">
                <a:solidFill>
                  <a:srgbClr val="444444"/>
                </a:solidFill>
                <a:effectLst/>
                <a:latin typeface="KaTeX_Main"/>
              </a:rPr>
              <a:t>1803</a:t>
            </a:r>
            <a:r>
              <a:rPr lang="en-AU" sz="2400" b="0" i="0" dirty="0" smtClean="0">
                <a:solidFill>
                  <a:srgbClr val="444444"/>
                </a:solidFill>
                <a:effectLst/>
                <a:latin typeface="Arial" panose="020B0604020202020204" pitchFamily="34" charset="0"/>
              </a:rPr>
              <a:t> that matter was composed of solid, indivisible spheres which cannot be destroyed. But what was the structure of the spheres?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first widely accepted model of the </a:t>
            </a:r>
            <a:r>
              <a:rPr lang="en-AU" sz="2400" b="1" i="0" dirty="0" smtClean="0">
                <a:solidFill>
                  <a:srgbClr val="F30277"/>
                </a:solidFill>
                <a:effectLst/>
                <a:latin typeface="Arial" panose="020B0604020202020204" pitchFamily="34" charset="0"/>
              </a:rPr>
              <a:t>atom</a:t>
            </a:r>
            <a:r>
              <a:rPr lang="en-AU" sz="2400" b="0" i="0" dirty="0" smtClean="0">
                <a:solidFill>
                  <a:srgbClr val="444444"/>
                </a:solidFill>
                <a:effectLst/>
                <a:latin typeface="Arial" panose="020B0604020202020204" pitchFamily="34" charset="0"/>
              </a:rPr>
              <a:t> was </a:t>
            </a:r>
            <a:r>
              <a:rPr lang="en-AU" sz="2400" b="1" i="0" dirty="0" smtClean="0">
                <a:solidFill>
                  <a:srgbClr val="444444"/>
                </a:solidFill>
                <a:effectLst/>
                <a:latin typeface="Arial" panose="020B0604020202020204" pitchFamily="34" charset="0"/>
              </a:rPr>
              <a:t>J. J. Thomson's</a:t>
            </a:r>
            <a:r>
              <a:rPr lang="en-AU" sz="2400" b="0" i="0" dirty="0" smtClean="0">
                <a:solidFill>
                  <a:srgbClr val="444444"/>
                </a:solidFill>
                <a:effectLst/>
                <a:latin typeface="Arial" panose="020B0604020202020204" pitchFamily="34" charset="0"/>
              </a:rPr>
              <a:t> model of the atom in </a:t>
            </a:r>
            <a:r>
              <a:rPr lang="en-AU" sz="2400" b="0" i="0" dirty="0" smtClean="0">
                <a:solidFill>
                  <a:srgbClr val="444444"/>
                </a:solidFill>
                <a:effectLst/>
                <a:latin typeface="KaTeX_Main"/>
              </a:rPr>
              <a:t>1904</a:t>
            </a:r>
            <a:r>
              <a:rPr lang="en-AU" sz="2400" b="0" i="0" dirty="0" smtClean="0">
                <a:solidFill>
                  <a:srgbClr val="444444"/>
                </a:solidFill>
                <a:effectLst/>
                <a:latin typeface="Arial" panose="020B0604020202020204" pitchFamily="34" charset="0"/>
              </a:rPr>
              <a:t>, shortly after the discovery of electrons. Thomson suggested that the </a:t>
            </a:r>
            <a:r>
              <a:rPr lang="en-AU" sz="2400" b="1" i="0" dirty="0" smtClean="0">
                <a:solidFill>
                  <a:srgbClr val="0066CC"/>
                </a:solidFill>
                <a:effectLst/>
                <a:latin typeface="Arial" panose="020B0604020202020204" pitchFamily="34" charset="0"/>
              </a:rPr>
              <a:t>electrons</a:t>
            </a:r>
            <a:r>
              <a:rPr lang="en-AU" sz="2400" b="0" i="0" dirty="0" smtClean="0">
                <a:solidFill>
                  <a:srgbClr val="444444"/>
                </a:solidFill>
                <a:effectLst/>
                <a:latin typeface="Arial" panose="020B0604020202020204" pitchFamily="34" charset="0"/>
              </a:rPr>
              <a:t> were randomly scattered within a </a:t>
            </a:r>
            <a:r>
              <a:rPr lang="en-AU" sz="2400" b="1" i="0" dirty="0" smtClean="0">
                <a:solidFill>
                  <a:srgbClr val="444444"/>
                </a:solidFill>
                <a:effectLst/>
                <a:latin typeface="Arial" panose="020B0604020202020204" pitchFamily="34" charset="0"/>
              </a:rPr>
              <a:t>positive matrix,</a:t>
            </a:r>
            <a:r>
              <a:rPr lang="en-AU" sz="2400" b="0" i="0" dirty="0" smtClean="0">
                <a:solidFill>
                  <a:srgbClr val="444444"/>
                </a:solidFill>
                <a:effectLst/>
                <a:latin typeface="Arial" panose="020B0604020202020204" pitchFamily="34" charset="0"/>
              </a:rPr>
              <a:t> like plums in a plum pudding. This earned the nickname </a:t>
            </a:r>
            <a:r>
              <a:rPr lang="en-AU" sz="2400" b="1" i="0" dirty="0" smtClean="0">
                <a:solidFill>
                  <a:srgbClr val="444444"/>
                </a:solidFill>
                <a:effectLst/>
                <a:latin typeface="Arial" panose="020B0604020202020204" pitchFamily="34" charset="0"/>
              </a:rPr>
              <a:t>the plum-pudding model.</a:t>
            </a:r>
            <a:endParaRPr lang="en-AU" sz="2400" b="0" i="0" dirty="0">
              <a:solidFill>
                <a:srgbClr val="444444"/>
              </a:solidFill>
              <a:effectLst/>
              <a:latin typeface="Arial" panose="020B0604020202020204" pitchFamily="34" charset="0"/>
            </a:endParaRPr>
          </a:p>
        </p:txBody>
      </p:sp>
      <p:pic>
        <p:nvPicPr>
          <p:cNvPr id="4098" name="Picture 2" descr="https://www.educationperfect.com/Images/Content/Science/1403397174410-174086313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74" y="4059892"/>
            <a:ext cx="2790825"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695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638939"/>
            <a:ext cx="115697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Experimental evidence led to a new theory.</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former student of J. J. Thomson, </a:t>
            </a:r>
            <a:r>
              <a:rPr lang="en-AU" sz="2400" b="1" i="0" dirty="0" smtClean="0">
                <a:solidFill>
                  <a:srgbClr val="444444"/>
                </a:solidFill>
                <a:effectLst/>
                <a:latin typeface="Arial" panose="020B0604020202020204" pitchFamily="34" charset="0"/>
              </a:rPr>
              <a:t>Ernest Rutherford</a:t>
            </a:r>
            <a:r>
              <a:rPr lang="en-AU" sz="2400" b="0" i="0" dirty="0" smtClean="0">
                <a:solidFill>
                  <a:srgbClr val="444444"/>
                </a:solidFill>
                <a:effectLst/>
                <a:latin typeface="Arial" panose="020B0604020202020204" pitchFamily="34" charset="0"/>
              </a:rPr>
              <a:t> disproved Thomson's model of the atom by firing </a:t>
            </a:r>
            <a:r>
              <a:rPr lang="en-AU" sz="2400" b="0" i="1" dirty="0" smtClean="0">
                <a:solidFill>
                  <a:srgbClr val="444444"/>
                </a:solidFill>
                <a:effectLst/>
                <a:latin typeface="KaTeX_Math"/>
              </a:rPr>
              <a:t>α</a:t>
            </a:r>
            <a:r>
              <a:rPr lang="en-AU" sz="2400" b="0" i="0" dirty="0" smtClean="0">
                <a:solidFill>
                  <a:srgbClr val="444444"/>
                </a:solidFill>
                <a:effectLst/>
                <a:latin typeface="Arial" panose="020B0604020202020204" pitchFamily="34" charset="0"/>
              </a:rPr>
              <a:t>-radiation at an incredibly thin sheet of gold foil. If Thomson's model was true, then the radiation should have gone </a:t>
            </a:r>
            <a:r>
              <a:rPr lang="en-AU" sz="2400" b="1" i="0" dirty="0" smtClean="0">
                <a:solidFill>
                  <a:srgbClr val="444444"/>
                </a:solidFill>
                <a:effectLst/>
                <a:latin typeface="Arial" panose="020B0604020202020204" pitchFamily="34" charset="0"/>
              </a:rPr>
              <a:t>directly through with very little spread.</a:t>
            </a:r>
            <a:r>
              <a:rPr lang="en-AU" sz="2400" b="0" i="0" dirty="0" smtClean="0">
                <a:solidFill>
                  <a:srgbClr val="444444"/>
                </a:solidFill>
                <a:effectLst/>
                <a:latin typeface="Arial" panose="020B0604020202020204" pitchFamily="34" charset="0"/>
              </a:rPr>
              <a:t> Instead, Rutherford found that a small amount of radiation was </a:t>
            </a:r>
            <a:r>
              <a:rPr lang="en-AU" sz="2400" b="1" i="0" dirty="0" smtClean="0">
                <a:solidFill>
                  <a:srgbClr val="F30277"/>
                </a:solidFill>
                <a:effectLst/>
                <a:latin typeface="Arial" panose="020B0604020202020204" pitchFamily="34" charset="0"/>
              </a:rPr>
              <a:t>deflected,</a:t>
            </a:r>
            <a:r>
              <a:rPr lang="en-AU" sz="2400" b="0" i="0" dirty="0" smtClean="0">
                <a:solidFill>
                  <a:srgbClr val="444444"/>
                </a:solidFill>
                <a:effectLst/>
                <a:latin typeface="Arial" panose="020B0604020202020204" pitchFamily="34" charset="0"/>
              </a:rPr>
              <a:t> and an even smaller amount </a:t>
            </a:r>
            <a:r>
              <a:rPr lang="en-AU" sz="2400" b="1" i="0" dirty="0" smtClean="0">
                <a:solidFill>
                  <a:srgbClr val="0066CC"/>
                </a:solidFill>
                <a:effectLst/>
                <a:latin typeface="Arial" panose="020B0604020202020204" pitchFamily="34" charset="0"/>
              </a:rPr>
              <a:t>bounced completely back.</a:t>
            </a:r>
            <a:endParaRPr lang="en-AU" sz="2400" b="0" i="0" dirty="0">
              <a:solidFill>
                <a:srgbClr val="444444"/>
              </a:solidFill>
              <a:effectLst/>
              <a:latin typeface="Arial" panose="020B0604020202020204" pitchFamily="34" charset="0"/>
            </a:endParaRPr>
          </a:p>
        </p:txBody>
      </p:sp>
      <p:pic>
        <p:nvPicPr>
          <p:cNvPr id="5122" name="Picture 2" descr="https://www.educationperfect.com/media/content/Science/1447300287.491491g/1447300294757-49048379440308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5875" y="3733800"/>
            <a:ext cx="381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335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51839" y="399534"/>
            <a:ext cx="7367723" cy="461665"/>
          </a:xfrm>
          <a:prstGeom prst="rect">
            <a:avLst/>
          </a:prstGeom>
        </p:spPr>
        <p:txBody>
          <a:bodyPr wrap="none">
            <a:spAutoFit/>
          </a:bodyPr>
          <a:lstStyle/>
          <a:p>
            <a:pPr algn="ctr"/>
            <a:r>
              <a:rPr lang="en-AU" sz="2400" b="1" i="0" dirty="0" smtClean="0">
                <a:solidFill>
                  <a:srgbClr val="444444"/>
                </a:solidFill>
                <a:effectLst/>
                <a:latin typeface="Arial" panose="020B0604020202020204" pitchFamily="34" charset="0"/>
              </a:rPr>
              <a:t>Rutherford's observations suggested two things:</a:t>
            </a:r>
            <a:endParaRPr lang="en-AU" sz="2400" b="1" i="0" dirty="0">
              <a:solidFill>
                <a:srgbClr val="444444"/>
              </a:solidFill>
              <a:effectLst/>
              <a:latin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061556102"/>
              </p:ext>
            </p:extLst>
          </p:nvPr>
        </p:nvGraphicFramePr>
        <p:xfrm>
          <a:off x="1258755" y="1305084"/>
          <a:ext cx="9802945" cy="2537460"/>
        </p:xfrm>
        <a:graphic>
          <a:graphicData uri="http://schemas.openxmlformats.org/drawingml/2006/table">
            <a:tbl>
              <a:tblPr/>
              <a:tblGrid>
                <a:gridCol w="735145">
                  <a:extLst>
                    <a:ext uri="{9D8B030D-6E8A-4147-A177-3AD203B41FA5}">
                      <a16:colId xmlns:a16="http://schemas.microsoft.com/office/drawing/2014/main" val="2761450387"/>
                    </a:ext>
                  </a:extLst>
                </a:gridCol>
                <a:gridCol w="9067800">
                  <a:extLst>
                    <a:ext uri="{9D8B030D-6E8A-4147-A177-3AD203B41FA5}">
                      <a16:colId xmlns:a16="http://schemas.microsoft.com/office/drawing/2014/main" val="2772920504"/>
                    </a:ext>
                  </a:extLst>
                </a:gridCol>
              </a:tblGrid>
              <a:tr h="0">
                <a:tc>
                  <a:txBody>
                    <a:bodyPr/>
                    <a:lstStyle/>
                    <a:p>
                      <a:pPr algn="l" fontAlgn="t"/>
                      <a:r>
                        <a:rPr lang="en-AU" sz="2400">
                          <a:effectLst/>
                          <a:latin typeface="KaTeX_Main"/>
                        </a:rPr>
                        <a:t/>
                      </a:r>
                      <a:br>
                        <a:rPr lang="en-AU" sz="2400">
                          <a:effectLst/>
                          <a:latin typeface="KaTeX_Main"/>
                        </a:rPr>
                      </a:br>
                      <a:r>
                        <a:rPr lang="en-AU" sz="2400">
                          <a:effectLst/>
                          <a:latin typeface="KaTeX_Main"/>
                        </a:rPr>
                        <a:t>1.</a:t>
                      </a:r>
                      <a:endParaRPr lang="en-AU" sz="2400">
                        <a:effectLst/>
                      </a:endParaRPr>
                    </a:p>
                  </a:txBody>
                  <a:tcPr marL="57150" marR="57150" marT="57150" marB="57150">
                    <a:lnL>
                      <a:noFill/>
                    </a:lnL>
                    <a:lnR>
                      <a:noFill/>
                    </a:lnR>
                    <a:lnT>
                      <a:noFill/>
                    </a:lnT>
                    <a:lnB>
                      <a:noFill/>
                    </a:lnB>
                    <a:solidFill>
                      <a:srgbClr val="FFFFFF"/>
                    </a:solidFill>
                  </a:tcPr>
                </a:tc>
                <a:tc>
                  <a:txBody>
                    <a:bodyPr/>
                    <a:lstStyle/>
                    <a:p>
                      <a:pPr algn="l" fontAlgn="ctr"/>
                      <a:r>
                        <a:rPr lang="en-AU" sz="2400" b="1" dirty="0">
                          <a:solidFill>
                            <a:srgbClr val="0066CC"/>
                          </a:solidFill>
                          <a:effectLst/>
                        </a:rPr>
                        <a:t>All the mass and positive charge are found in a small portion of the atom,</a:t>
                      </a:r>
                      <a:r>
                        <a:rPr lang="en-AU" sz="2400" dirty="0">
                          <a:solidFill>
                            <a:srgbClr val="0066CC"/>
                          </a:solidFill>
                          <a:effectLst/>
                        </a:rPr>
                        <a:t> as it takes a very dense positive mass to deflect the fast moving </a:t>
                      </a:r>
                      <a:r>
                        <a:rPr lang="en-AU" sz="2400" i="1" dirty="0">
                          <a:effectLst/>
                          <a:latin typeface="KaTeX_Math"/>
                        </a:rPr>
                        <a:t>α</a:t>
                      </a:r>
                      <a:r>
                        <a:rPr lang="en-AU" sz="2400" dirty="0">
                          <a:effectLst/>
                        </a:rPr>
                        <a:t>-radiation particles. He called this the </a:t>
                      </a:r>
                      <a:r>
                        <a:rPr lang="en-AU" sz="2400" b="1" dirty="0">
                          <a:effectLst/>
                        </a:rPr>
                        <a:t>nucleus.</a:t>
                      </a:r>
                      <a:endParaRPr lang="en-AU" sz="2400"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854621376"/>
                  </a:ext>
                </a:extLst>
              </a:tr>
              <a:tr h="0">
                <a:tc>
                  <a:txBody>
                    <a:bodyPr/>
                    <a:lstStyle/>
                    <a:p>
                      <a:pPr algn="l" fontAlgn="t"/>
                      <a:r>
                        <a:rPr lang="en-AU" sz="2400">
                          <a:effectLst/>
                        </a:rPr>
                        <a:t> </a:t>
                      </a:r>
                    </a:p>
                  </a:txBody>
                  <a:tcPr marL="57150" marR="57150" marT="57150" marB="57150">
                    <a:lnL>
                      <a:noFill/>
                    </a:lnL>
                    <a:lnR>
                      <a:noFill/>
                    </a:lnR>
                    <a:lnT>
                      <a:noFill/>
                    </a:lnT>
                    <a:lnB>
                      <a:noFill/>
                    </a:lnB>
                    <a:solidFill>
                      <a:srgbClr val="FFFFFF"/>
                    </a:solidFill>
                  </a:tcPr>
                </a:tc>
                <a:tc>
                  <a:txBody>
                    <a:bodyPr/>
                    <a:lstStyle/>
                    <a:p>
                      <a:pPr algn="l" fontAlgn="ctr"/>
                      <a:r>
                        <a:rPr lang="en-AU" sz="2400">
                          <a:effectLst/>
                        </a:rPr>
                        <a:t> </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763915397"/>
                  </a:ext>
                </a:extLst>
              </a:tr>
              <a:tr h="0">
                <a:tc>
                  <a:txBody>
                    <a:bodyPr/>
                    <a:lstStyle/>
                    <a:p>
                      <a:pPr algn="l" fontAlgn="t"/>
                      <a:r>
                        <a:rPr lang="en-AU" sz="2400">
                          <a:effectLst/>
                          <a:latin typeface="KaTeX_Main"/>
                        </a:rPr>
                        <a:t>2.</a:t>
                      </a:r>
                      <a:endParaRPr lang="en-AU" sz="2400">
                        <a:effectLst/>
                      </a:endParaRPr>
                    </a:p>
                  </a:txBody>
                  <a:tcPr marL="57150" marR="57150" marT="57150" marB="57150">
                    <a:lnL>
                      <a:noFill/>
                    </a:lnL>
                    <a:lnR>
                      <a:noFill/>
                    </a:lnR>
                    <a:lnT>
                      <a:noFill/>
                    </a:lnT>
                    <a:lnB>
                      <a:noFill/>
                    </a:lnB>
                    <a:solidFill>
                      <a:srgbClr val="FFFFFF"/>
                    </a:solidFill>
                  </a:tcPr>
                </a:tc>
                <a:tc>
                  <a:txBody>
                    <a:bodyPr/>
                    <a:lstStyle/>
                    <a:p>
                      <a:pPr algn="l" fontAlgn="ctr"/>
                      <a:r>
                        <a:rPr lang="en-AU" sz="2400" b="1" dirty="0">
                          <a:solidFill>
                            <a:srgbClr val="F30277"/>
                          </a:solidFill>
                          <a:effectLst/>
                        </a:rPr>
                        <a:t>Most of an atom is empty space,</a:t>
                      </a:r>
                      <a:r>
                        <a:rPr lang="en-AU" sz="2400" b="1" dirty="0">
                          <a:effectLst/>
                        </a:rPr>
                        <a:t> since the path for most of the </a:t>
                      </a:r>
                      <a:r>
                        <a:rPr lang="en-AU" sz="2400" i="1" dirty="0">
                          <a:effectLst/>
                          <a:latin typeface="KaTeX_Math"/>
                        </a:rPr>
                        <a:t>α</a:t>
                      </a:r>
                      <a:r>
                        <a:rPr lang="en-AU" sz="2400" dirty="0">
                          <a:effectLst/>
                        </a:rPr>
                        <a:t>-radiation particles was unaffected.</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313988418"/>
                  </a:ext>
                </a:extLst>
              </a:tr>
            </a:tbl>
          </a:graphicData>
        </a:graphic>
      </p:graphicFrame>
      <p:pic>
        <p:nvPicPr>
          <p:cNvPr id="6147" name="Picture 3" descr="https://www.educationperfect.com/media/content/Science/1447127152.83631g/1447127149527-3578476633067403-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94" y="3842544"/>
            <a:ext cx="3109367" cy="3008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6915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984935"/>
            <a:ext cx="10731500" cy="830997"/>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Rutherford believed that the </a:t>
            </a:r>
            <a:r>
              <a:rPr lang="en-AU" sz="2400" b="1" i="0" dirty="0" smtClean="0">
                <a:solidFill>
                  <a:srgbClr val="0066CC"/>
                </a:solidFill>
                <a:effectLst/>
                <a:latin typeface="Arial" panose="020B0604020202020204" pitchFamily="34" charset="0"/>
              </a:rPr>
              <a:t>electrons</a:t>
            </a:r>
            <a:r>
              <a:rPr lang="en-AU" sz="2400" b="1" i="0" dirty="0" smtClean="0">
                <a:solidFill>
                  <a:srgbClr val="444444"/>
                </a:solidFill>
                <a:effectLst/>
                <a:latin typeface="Arial" panose="020B0604020202020204" pitchFamily="34" charset="0"/>
              </a:rPr>
              <a:t> orbited this newly discovered </a:t>
            </a:r>
            <a:r>
              <a:rPr lang="en-AU" sz="2400" b="1" i="0" dirty="0" smtClean="0">
                <a:solidFill>
                  <a:srgbClr val="0066CC"/>
                </a:solidFill>
                <a:effectLst/>
                <a:latin typeface="Arial" panose="020B0604020202020204" pitchFamily="34" charset="0"/>
              </a:rPr>
              <a:t>nucleus,</a:t>
            </a:r>
            <a:r>
              <a:rPr lang="en-AU" sz="2400" b="1" i="0" dirty="0" smtClean="0">
                <a:solidFill>
                  <a:srgbClr val="444444"/>
                </a:solidFill>
                <a:effectLst/>
                <a:latin typeface="Arial" panose="020B0604020202020204" pitchFamily="34" charset="0"/>
              </a:rPr>
              <a:t> like planets around a sun.</a:t>
            </a:r>
            <a:endParaRPr lang="en-AU" sz="2400" b="1" i="0" dirty="0">
              <a:solidFill>
                <a:srgbClr val="444444"/>
              </a:solidFill>
              <a:effectLst/>
              <a:latin typeface="Arial" panose="020B0604020202020204" pitchFamily="34" charset="0"/>
            </a:endParaRPr>
          </a:p>
        </p:txBody>
      </p:sp>
      <p:pic>
        <p:nvPicPr>
          <p:cNvPr id="7170" name="Picture 2" descr="https://www.educationperfect.com/media/content/Science/1447300351.881711g/1447300358898-49048379440308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8263" y="2401888"/>
            <a:ext cx="3810000"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2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92438"/>
            <a:ext cx="112903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Niels Bohr's model of the atom.</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444444"/>
                </a:solidFill>
                <a:effectLst/>
                <a:latin typeface="Arial" panose="020B0604020202020204" pitchFamily="34" charset="0"/>
              </a:rPr>
              <a:t>Niels Bohr</a:t>
            </a:r>
            <a:r>
              <a:rPr lang="en-AU" sz="2400" b="0" i="0" dirty="0" smtClean="0">
                <a:solidFill>
                  <a:srgbClr val="444444"/>
                </a:solidFill>
                <a:effectLst/>
                <a:latin typeface="Arial" panose="020B0604020202020204" pitchFamily="34" charset="0"/>
              </a:rPr>
              <a:t> provided the next piece to the model in </a:t>
            </a:r>
            <a:r>
              <a:rPr lang="en-AU" sz="2400" b="0" i="0" dirty="0" smtClean="0">
                <a:solidFill>
                  <a:srgbClr val="444444"/>
                </a:solidFill>
                <a:effectLst/>
                <a:latin typeface="KaTeX_Main"/>
              </a:rPr>
              <a:t>1913</a:t>
            </a:r>
            <a:r>
              <a:rPr lang="en-AU" sz="2400" b="0" i="0" dirty="0" smtClean="0">
                <a:solidFill>
                  <a:srgbClr val="444444"/>
                </a:solidFill>
                <a:effectLst/>
                <a:latin typeface="Arial" panose="020B0604020202020204" pitchFamily="34" charset="0"/>
              </a:rPr>
              <a:t> by observing that electrons could only orbit stably at </a:t>
            </a:r>
            <a:r>
              <a:rPr lang="en-AU" sz="2400" b="1" i="0" dirty="0" smtClean="0">
                <a:solidFill>
                  <a:srgbClr val="F30277"/>
                </a:solidFill>
                <a:effectLst/>
                <a:latin typeface="Arial" panose="020B0604020202020204" pitchFamily="34" charset="0"/>
              </a:rPr>
              <a:t>specific distances from the nucleus.</a:t>
            </a:r>
            <a:r>
              <a:rPr lang="en-AU" sz="2400" b="0" i="0" dirty="0" smtClean="0">
                <a:solidFill>
                  <a:srgbClr val="444444"/>
                </a:solidFill>
                <a:effectLst/>
                <a:latin typeface="Arial" panose="020B0604020202020204" pitchFamily="34" charset="0"/>
              </a:rPr>
              <a:t> We call these distances </a:t>
            </a:r>
            <a:r>
              <a:rPr lang="en-AU" sz="2400" b="1" i="0" dirty="0" smtClean="0">
                <a:solidFill>
                  <a:srgbClr val="0066CC"/>
                </a:solidFill>
                <a:effectLst/>
                <a:latin typeface="Arial" panose="020B0604020202020204" pitchFamily="34" charset="0"/>
              </a:rPr>
              <a:t>electron shells,</a:t>
            </a:r>
            <a:r>
              <a:rPr lang="en-AU" sz="2400" b="0" i="0" dirty="0" smtClean="0">
                <a:solidFill>
                  <a:srgbClr val="444444"/>
                </a:solidFill>
                <a:effectLst/>
                <a:latin typeface="Arial" panose="020B0604020202020204" pitchFamily="34" charset="0"/>
              </a:rPr>
              <a:t> each of which corresponds to electrons with a </a:t>
            </a:r>
            <a:r>
              <a:rPr lang="en-AU" sz="2400" b="1" i="0" dirty="0" smtClean="0">
                <a:solidFill>
                  <a:srgbClr val="444444"/>
                </a:solidFill>
                <a:effectLst/>
                <a:latin typeface="Arial" panose="020B0604020202020204" pitchFamily="34" charset="0"/>
              </a:rPr>
              <a:t>certain energy level.</a:t>
            </a:r>
            <a:endParaRPr lang="en-AU" sz="2400" b="0" i="0" dirty="0">
              <a:solidFill>
                <a:srgbClr val="444444"/>
              </a:solidFill>
              <a:effectLst/>
              <a:latin typeface="Arial" panose="020B0604020202020204" pitchFamily="34" charset="0"/>
            </a:endParaRPr>
          </a:p>
        </p:txBody>
      </p:sp>
      <p:pic>
        <p:nvPicPr>
          <p:cNvPr id="8194" name="Picture 2" descr="https://www.educationperfect.com/media/content/Science/1447236097.807181g/1447236095861-308774733258816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4263" y="3290888"/>
            <a:ext cx="2857500"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652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576640"/>
            <a:ext cx="11645900" cy="341632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Quantum Mechanical Model.</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As understanding of matter evolved, scientists realised waves could exhibit particle like properties and vice versa.</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Austrian scientist, </a:t>
            </a:r>
            <a:r>
              <a:rPr lang="en-AU" sz="2400" b="1" i="0" dirty="0" smtClean="0">
                <a:solidFill>
                  <a:srgbClr val="444444"/>
                </a:solidFill>
                <a:effectLst/>
                <a:latin typeface="Arial" panose="020B0604020202020204" pitchFamily="34" charset="0"/>
              </a:rPr>
              <a:t>Erwin Schr</a:t>
            </a:r>
            <a:r>
              <a:rPr lang="en-AU" sz="2400" b="1" i="0" dirty="0" smtClean="0">
                <a:solidFill>
                  <a:srgbClr val="21242C"/>
                </a:solidFill>
                <a:effectLst/>
                <a:latin typeface="Arial" panose="020B0604020202020204" pitchFamily="34" charset="0"/>
              </a:rPr>
              <a:t>ödinger </a:t>
            </a:r>
            <a:r>
              <a:rPr lang="en-AU" sz="2400" b="0" i="0" dirty="0" smtClean="0">
                <a:solidFill>
                  <a:srgbClr val="21242C"/>
                </a:solidFill>
                <a:effectLst/>
                <a:latin typeface="Arial" panose="020B0604020202020204" pitchFamily="34" charset="0"/>
              </a:rPr>
              <a:t>treated electrons as waves and in </a:t>
            </a:r>
            <a:r>
              <a:rPr lang="en-AU" sz="2400" b="0" i="0" dirty="0" smtClean="0">
                <a:solidFill>
                  <a:srgbClr val="444444"/>
                </a:solidFill>
                <a:effectLst/>
                <a:latin typeface="KaTeX_Main"/>
              </a:rPr>
              <a:t>1926</a:t>
            </a:r>
            <a:r>
              <a:rPr lang="en-AU" sz="2400" b="0" i="0" dirty="0" smtClean="0">
                <a:solidFill>
                  <a:srgbClr val="444444"/>
                </a:solidFill>
                <a:effectLst/>
                <a:latin typeface="Arial" panose="020B0604020202020204" pitchFamily="34" charset="0"/>
              </a:rPr>
              <a:t> proposed the Quantum Mechanical model of atomic structure. In this model there are orbitals which show where the electrons are likely to be </a:t>
            </a:r>
            <a:r>
              <a:rPr lang="en-AU" sz="2400" b="0" i="0" dirty="0" smtClean="0">
                <a:solidFill>
                  <a:srgbClr val="444444"/>
                </a:solidFill>
                <a:effectLst/>
                <a:latin typeface="KaTeX_Main"/>
              </a:rPr>
              <a:t>90%</a:t>
            </a:r>
            <a:r>
              <a:rPr lang="en-AU" sz="2400" b="0" i="0" dirty="0" smtClean="0">
                <a:solidFill>
                  <a:srgbClr val="444444"/>
                </a:solidFill>
                <a:effectLst/>
                <a:latin typeface="Arial" panose="020B0604020202020204" pitchFamily="34" charset="0"/>
              </a:rPr>
              <a:t> of the time! It shows the probability of an electron being within a given region of the atom.</a:t>
            </a:r>
            <a:endParaRPr lang="en-AU" sz="2400" b="0" i="0" dirty="0">
              <a:solidFill>
                <a:srgbClr val="444444"/>
              </a:solidFill>
              <a:effectLst/>
              <a:latin typeface="Arial" panose="020B0604020202020204" pitchFamily="34" charset="0"/>
            </a:endParaRPr>
          </a:p>
        </p:txBody>
      </p:sp>
      <p:pic>
        <p:nvPicPr>
          <p:cNvPr id="9218" name="Picture 2" descr="https://www.educationperfect.com/media/content/Science/1440641611.800791g/1440641613214-4143564-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4163" y="4119563"/>
            <a:ext cx="38100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260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03iWCjxjCdA"/>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334790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0" y="1248539"/>
            <a:ext cx="6769100" cy="4154984"/>
          </a:xfrm>
          <a:prstGeom prst="rect">
            <a:avLst/>
          </a:prstGeom>
        </p:spPr>
        <p:txBody>
          <a:bodyPr wrap="square">
            <a:spAutoFit/>
          </a:bodyPr>
          <a:lstStyle/>
          <a:p>
            <a:pPr algn="ctr"/>
            <a:r>
              <a:rPr lang="en-AU" sz="2400" b="1" i="0" dirty="0" smtClean="0">
                <a:solidFill>
                  <a:srgbClr val="070B85"/>
                </a:solidFill>
                <a:effectLst/>
                <a:latin typeface="Arial" panose="020B0604020202020204" pitchFamily="34" charset="0"/>
              </a:rPr>
              <a:t>Atoms</a:t>
            </a:r>
            <a:r>
              <a:rPr lang="en-AU" sz="2400" b="1" i="0" dirty="0" smtClean="0">
                <a:solidFill>
                  <a:srgbClr val="444444"/>
                </a:solidFill>
                <a:effectLst/>
                <a:latin typeface="Arial" panose="020B0604020202020204" pitchFamily="34" charset="0"/>
              </a:rPr>
              <a:t> are made up of </a:t>
            </a:r>
            <a:r>
              <a:rPr lang="en-AU" sz="2400" b="1" i="0" dirty="0" smtClean="0">
                <a:solidFill>
                  <a:srgbClr val="EC7063"/>
                </a:solidFill>
                <a:effectLst/>
                <a:latin typeface="Arial" panose="020B0604020202020204" pitchFamily="34" charset="0"/>
              </a:rPr>
              <a:t>subatomic particles</a:t>
            </a:r>
            <a:r>
              <a:rPr lang="en-AU" sz="2400" b="1" i="0" dirty="0" smtClean="0">
                <a:solidFill>
                  <a:srgbClr val="444444"/>
                </a:solidFill>
                <a:effectLst/>
                <a:latin typeface="Arial" panose="020B0604020202020204" pitchFamily="34" charset="0"/>
              </a:rPr>
              <a:t> ("smaller than an atom" particles); these are protons, neutrons, and electrons.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protons and neutrons make up the </a:t>
            </a:r>
            <a:r>
              <a:rPr lang="en-AU" sz="2400" b="1" i="0" dirty="0" smtClean="0">
                <a:solidFill>
                  <a:srgbClr val="EC7063"/>
                </a:solidFill>
                <a:effectLst/>
                <a:latin typeface="Arial" panose="020B0604020202020204" pitchFamily="34" charset="0"/>
              </a:rPr>
              <a:t>nucleus,</a:t>
            </a:r>
            <a:r>
              <a:rPr lang="en-AU" sz="2400" b="0" i="0" dirty="0" smtClean="0">
                <a:solidFill>
                  <a:srgbClr val="444444"/>
                </a:solidFill>
                <a:effectLst/>
                <a:latin typeface="Arial" panose="020B0604020202020204" pitchFamily="34" charset="0"/>
              </a:rPr>
              <a:t> which is at the </a:t>
            </a:r>
            <a:r>
              <a:rPr lang="en-AU" sz="2400" b="1" i="0" dirty="0" smtClean="0">
                <a:solidFill>
                  <a:srgbClr val="EC7063"/>
                </a:solidFill>
                <a:effectLst/>
                <a:latin typeface="Arial" panose="020B0604020202020204" pitchFamily="34" charset="0"/>
              </a:rPr>
              <a:t>centre</a:t>
            </a:r>
            <a:r>
              <a:rPr lang="en-AU" sz="2400" b="0" i="0" dirty="0" smtClean="0">
                <a:solidFill>
                  <a:srgbClr val="444444"/>
                </a:solidFill>
                <a:effectLst/>
                <a:latin typeface="Arial" panose="020B0604020202020204" pitchFamily="34" charset="0"/>
              </a:rPr>
              <a:t> of the atom. The electrons are found in </a:t>
            </a:r>
            <a:r>
              <a:rPr lang="en-AU" sz="2400" b="1" i="0" dirty="0" smtClean="0">
                <a:solidFill>
                  <a:srgbClr val="EB8306"/>
                </a:solidFill>
                <a:effectLst/>
                <a:latin typeface="Arial" panose="020B0604020202020204" pitchFamily="34" charset="0"/>
              </a:rPr>
              <a:t>orbitals</a:t>
            </a:r>
            <a:r>
              <a:rPr lang="en-AU" sz="2400" b="0" i="0" dirty="0" smtClean="0">
                <a:solidFill>
                  <a:srgbClr val="444444"/>
                </a:solidFill>
                <a:effectLst/>
                <a:latin typeface="Arial" panose="020B0604020202020204" pitchFamily="34" charset="0"/>
              </a:rPr>
              <a:t> (or </a:t>
            </a:r>
            <a:r>
              <a:rPr lang="en-AU" sz="2400" b="1" i="0" dirty="0" smtClean="0">
                <a:solidFill>
                  <a:srgbClr val="444444"/>
                </a:solidFill>
                <a:effectLst/>
                <a:latin typeface="Arial" panose="020B0604020202020204" pitchFamily="34" charset="0"/>
              </a:rPr>
              <a:t>shells</a:t>
            </a:r>
            <a:r>
              <a:rPr lang="en-AU" sz="2400" b="0" i="0" dirty="0" smtClean="0">
                <a:solidFill>
                  <a:srgbClr val="444444"/>
                </a:solidFill>
                <a:effectLst/>
                <a:latin typeface="Arial" panose="020B0604020202020204" pitchFamily="34" charset="0"/>
              </a:rPr>
              <a:t>) around the </a:t>
            </a:r>
            <a:r>
              <a:rPr lang="en-AU" sz="2400" b="1" i="0" dirty="0" smtClean="0">
                <a:solidFill>
                  <a:srgbClr val="EB8306"/>
                </a:solidFill>
                <a:effectLst/>
                <a:latin typeface="Arial" panose="020B0604020202020204" pitchFamily="34" charset="0"/>
              </a:rPr>
              <a:t>outside</a:t>
            </a:r>
            <a:r>
              <a:rPr lang="en-AU" sz="2400" b="0" i="0" dirty="0" smtClean="0">
                <a:solidFill>
                  <a:srgbClr val="444444"/>
                </a:solidFill>
                <a:effectLst/>
                <a:latin typeface="Arial" panose="020B0604020202020204" pitchFamily="34" charset="0"/>
              </a:rPr>
              <a:t> of the nucleus. The different orbitals are represented as </a:t>
            </a:r>
            <a:r>
              <a:rPr lang="en-AU" sz="2400" b="1" i="0" dirty="0" smtClean="0">
                <a:solidFill>
                  <a:srgbClr val="61A220"/>
                </a:solidFill>
                <a:effectLst/>
                <a:latin typeface="Arial" panose="020B0604020202020204" pitchFamily="34" charset="0"/>
              </a:rPr>
              <a:t>circles</a:t>
            </a:r>
            <a:r>
              <a:rPr lang="en-AU" sz="2400" b="0" i="0" dirty="0" smtClean="0">
                <a:solidFill>
                  <a:srgbClr val="444444"/>
                </a:solidFill>
                <a:effectLst/>
                <a:latin typeface="Arial" panose="020B0604020202020204" pitchFamily="34" charset="0"/>
              </a:rPr>
              <a:t> at different distances from the nucleus because they have different </a:t>
            </a:r>
            <a:r>
              <a:rPr lang="en-AU" sz="2400" b="1" i="0" dirty="0" smtClean="0">
                <a:solidFill>
                  <a:srgbClr val="61A220"/>
                </a:solidFill>
                <a:effectLst/>
                <a:latin typeface="Arial" panose="020B0604020202020204" pitchFamily="34" charset="0"/>
              </a:rPr>
              <a:t>energies.</a:t>
            </a:r>
            <a:endParaRPr lang="en-AU" sz="2400" b="0" i="0" dirty="0">
              <a:solidFill>
                <a:srgbClr val="444444"/>
              </a:solidFill>
              <a:effectLst/>
              <a:latin typeface="Arial" panose="020B0604020202020204" pitchFamily="34" charset="0"/>
            </a:endParaRPr>
          </a:p>
        </p:txBody>
      </p:sp>
      <p:pic>
        <p:nvPicPr>
          <p:cNvPr id="10242" name="Picture 2" descr="https://www.educationperfect.com/media/content/Science/1446688623.717571g/1446688621618-267112062201720-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7175" y="1790700"/>
            <a:ext cx="3810000"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492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57700" y="223441"/>
            <a:ext cx="7200900" cy="5262979"/>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different subatomic particles have different charges.</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EC7063"/>
                </a:solidFill>
                <a:effectLst/>
                <a:latin typeface="Arial" panose="020B0604020202020204" pitchFamily="34" charset="0"/>
              </a:rPr>
              <a:t>Protons</a:t>
            </a:r>
            <a:r>
              <a:rPr lang="en-AU" sz="2400" b="0" i="0" dirty="0" smtClean="0">
                <a:solidFill>
                  <a:srgbClr val="444444"/>
                </a:solidFill>
                <a:effectLst/>
                <a:latin typeface="Arial" panose="020B0604020202020204" pitchFamily="34" charset="0"/>
              </a:rPr>
              <a:t> are </a:t>
            </a:r>
            <a:r>
              <a:rPr lang="en-AU" sz="2400" b="1" i="0" dirty="0" smtClean="0">
                <a:solidFill>
                  <a:srgbClr val="EC7063"/>
                </a:solidFill>
                <a:effectLst/>
                <a:latin typeface="Arial" panose="020B0604020202020204" pitchFamily="34" charset="0"/>
              </a:rPr>
              <a:t>positively charged</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t>
            </a:r>
            <a:r>
              <a:rPr lang="en-AU" sz="2400" b="1" i="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 </a:t>
            </a:r>
            <a:r>
              <a:rPr lang="en-AU" sz="2400" b="1" i="0" dirty="0" smtClean="0">
                <a:solidFill>
                  <a:srgbClr val="538D9F"/>
                </a:solidFill>
                <a:effectLst/>
                <a:latin typeface="Arial" panose="020B0604020202020204" pitchFamily="34" charset="0"/>
              </a:rPr>
              <a:t>electrons</a:t>
            </a:r>
            <a:r>
              <a:rPr lang="en-AU" sz="2400" b="0" i="0" dirty="0" smtClean="0">
                <a:solidFill>
                  <a:srgbClr val="444444"/>
                </a:solidFill>
                <a:effectLst/>
                <a:latin typeface="Arial" panose="020B0604020202020204" pitchFamily="34" charset="0"/>
              </a:rPr>
              <a:t> are </a:t>
            </a:r>
            <a:r>
              <a:rPr lang="en-AU" sz="2400" b="1" i="0" dirty="0" smtClean="0">
                <a:solidFill>
                  <a:srgbClr val="538D9F"/>
                </a:solidFill>
                <a:effectLst/>
                <a:latin typeface="Arial" panose="020B0604020202020204" pitchFamily="34" charset="0"/>
              </a:rPr>
              <a:t>negatively charged</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t>
            </a:r>
            <a:r>
              <a:rPr lang="en-AU" sz="2400" b="1" i="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 and </a:t>
            </a:r>
            <a:r>
              <a:rPr lang="en-AU" sz="2400" b="1" i="0" dirty="0" smtClean="0">
                <a:solidFill>
                  <a:srgbClr val="009900"/>
                </a:solidFill>
                <a:effectLst/>
                <a:latin typeface="Arial" panose="020B0604020202020204" pitchFamily="34" charset="0"/>
              </a:rPr>
              <a:t>neutrons</a:t>
            </a:r>
            <a:r>
              <a:rPr lang="en-AU" sz="2400" b="0" i="0" dirty="0" smtClean="0">
                <a:solidFill>
                  <a:srgbClr val="444444"/>
                </a:solidFill>
                <a:effectLst/>
                <a:latin typeface="Arial" panose="020B0604020202020204" pitchFamily="34" charset="0"/>
              </a:rPr>
              <a:t> have </a:t>
            </a:r>
            <a:r>
              <a:rPr lang="en-AU" sz="2400" b="1" i="0" dirty="0" smtClean="0">
                <a:solidFill>
                  <a:srgbClr val="009900"/>
                </a:solidFill>
                <a:effectLst/>
                <a:latin typeface="Arial" panose="020B0604020202020204" pitchFamily="34" charset="0"/>
              </a:rPr>
              <a:t>no charge</a:t>
            </a:r>
            <a:r>
              <a:rPr lang="en-AU" sz="2400" b="0" i="0" dirty="0" smtClean="0">
                <a:solidFill>
                  <a:srgbClr val="444444"/>
                </a:solidFill>
                <a:effectLst/>
                <a:latin typeface="Arial" panose="020B0604020202020204" pitchFamily="34" charset="0"/>
              </a:rPr>
              <a:t> (</a:t>
            </a:r>
            <a:r>
              <a:rPr lang="en-AU" sz="2400" b="1" i="0" dirty="0" smtClean="0">
                <a:solidFill>
                  <a:srgbClr val="444444"/>
                </a:solidFill>
                <a:effectLst/>
                <a:latin typeface="KaTeX_Main"/>
              </a:rPr>
              <a:t>0</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Protons and electrons have exactly </a:t>
            </a:r>
            <a:r>
              <a:rPr lang="en-AU" sz="2400" b="1" i="0" dirty="0" smtClean="0">
                <a:solidFill>
                  <a:srgbClr val="DC7633"/>
                </a:solidFill>
                <a:effectLst/>
                <a:latin typeface="Arial" panose="020B0604020202020204" pitchFamily="34" charset="0"/>
              </a:rPr>
              <a:t>opposite charges</a:t>
            </a:r>
            <a:r>
              <a:rPr lang="en-AU" sz="2400" b="0" i="0" dirty="0" smtClean="0">
                <a:solidFill>
                  <a:srgbClr val="444444"/>
                </a:solidFill>
                <a:effectLst/>
                <a:latin typeface="Arial" panose="020B0604020202020204" pitchFamily="34" charset="0"/>
              </a:rPr>
              <a:t> to each other. Opposite charges </a:t>
            </a:r>
            <a:r>
              <a:rPr lang="en-AU" sz="2400" b="1" i="0" dirty="0" smtClean="0">
                <a:solidFill>
                  <a:srgbClr val="DC7633"/>
                </a:solidFill>
                <a:effectLst/>
                <a:latin typeface="Arial" panose="020B0604020202020204" pitchFamily="34" charset="0"/>
              </a:rPr>
              <a:t>attract,</a:t>
            </a:r>
            <a:r>
              <a:rPr lang="en-AU" sz="2400" b="0" i="0" dirty="0" smtClean="0">
                <a:solidFill>
                  <a:srgbClr val="444444"/>
                </a:solidFill>
                <a:effectLst/>
                <a:latin typeface="Arial" panose="020B0604020202020204" pitchFamily="34" charset="0"/>
              </a:rPr>
              <a:t> and this is how the electrons are held in their shells outside of the nucleus. Neutrons have </a:t>
            </a:r>
            <a:r>
              <a:rPr lang="en-AU" sz="2400" b="1" i="0" dirty="0" smtClean="0">
                <a:solidFill>
                  <a:srgbClr val="009900"/>
                </a:solidFill>
                <a:effectLst/>
                <a:latin typeface="Arial" panose="020B0604020202020204" pitchFamily="34" charset="0"/>
              </a:rPr>
              <a:t>no charge,</a:t>
            </a:r>
            <a:r>
              <a:rPr lang="en-AU" sz="2400" b="0" i="0" dirty="0" smtClean="0">
                <a:solidFill>
                  <a:srgbClr val="444444"/>
                </a:solidFill>
                <a:effectLst/>
                <a:latin typeface="Arial" panose="020B0604020202020204" pitchFamily="34" charset="0"/>
              </a:rPr>
              <a:t> and they help prevent electrons and protons from crashing into each other and destroying the universe.</a:t>
            </a:r>
            <a:endParaRPr lang="en-AU" sz="2400" b="0" i="0" dirty="0">
              <a:solidFill>
                <a:srgbClr val="444444"/>
              </a:solidFill>
              <a:effectLst/>
              <a:latin typeface="Arial" panose="020B0604020202020204" pitchFamily="34" charset="0"/>
            </a:endParaRPr>
          </a:p>
        </p:txBody>
      </p:sp>
      <p:pic>
        <p:nvPicPr>
          <p:cNvPr id="11266" name="Picture 2" descr="https://www.educationperfect.com/Images/Content/Science/1403398456206-179658857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1362075"/>
            <a:ext cx="33909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80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0300" y="747236"/>
            <a:ext cx="99060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Why do </a:t>
            </a:r>
            <a:r>
              <a:rPr lang="en-AU" sz="2400" b="1" i="0" dirty="0" smtClean="0">
                <a:solidFill>
                  <a:srgbClr val="EC7063"/>
                </a:solidFill>
                <a:effectLst/>
                <a:latin typeface="Arial" panose="020B0604020202020204" pitchFamily="34" charset="0"/>
              </a:rPr>
              <a:t>protons</a:t>
            </a:r>
            <a:r>
              <a:rPr lang="en-AU" sz="2400" b="1" i="0" dirty="0" smtClean="0">
                <a:solidFill>
                  <a:srgbClr val="444444"/>
                </a:solidFill>
                <a:effectLst/>
                <a:latin typeface="Arial" panose="020B0604020202020204" pitchFamily="34" charset="0"/>
              </a:rPr>
              <a:t> repel each other?</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EC7063"/>
                </a:solidFill>
                <a:effectLst/>
                <a:latin typeface="Arial" panose="020B0604020202020204" pitchFamily="34" charset="0"/>
              </a:rPr>
              <a:t>Protons</a:t>
            </a:r>
            <a:r>
              <a:rPr lang="en-AU" sz="2400" b="0" i="0" dirty="0" smtClean="0">
                <a:solidFill>
                  <a:srgbClr val="444444"/>
                </a:solidFill>
                <a:effectLst/>
                <a:latin typeface="Arial" panose="020B0604020202020204" pitchFamily="34" charset="0"/>
              </a:rPr>
              <a:t> are </a:t>
            </a:r>
            <a:r>
              <a:rPr lang="en-AU" sz="2400" b="1" i="0" dirty="0" smtClean="0">
                <a:solidFill>
                  <a:srgbClr val="EC7063"/>
                </a:solidFill>
                <a:effectLst/>
                <a:latin typeface="Arial" panose="020B0604020202020204" pitchFamily="34" charset="0"/>
              </a:rPr>
              <a:t>positively charged</a:t>
            </a:r>
            <a:r>
              <a:rPr lang="en-AU" sz="2400" b="0" i="0" dirty="0" smtClean="0">
                <a:solidFill>
                  <a:srgbClr val="444444"/>
                </a:solidFill>
                <a:effectLst/>
                <a:latin typeface="Arial" panose="020B0604020202020204" pitchFamily="34" charset="0"/>
              </a:rPr>
              <a:t> (</a:t>
            </a:r>
            <a:r>
              <a:rPr lang="en-AU" sz="2400" b="0" i="0" dirty="0" smtClean="0">
                <a:solidFill>
                  <a:srgbClr val="444444"/>
                </a:solidFill>
                <a:effectLst/>
                <a:latin typeface="KaTeX_Main"/>
              </a:rPr>
              <a:t>+</a:t>
            </a:r>
            <a:r>
              <a:rPr lang="en-AU" sz="2400" b="1" i="0" dirty="0" smtClean="0">
                <a:solidFill>
                  <a:srgbClr val="444444"/>
                </a:solidFill>
                <a:effectLst/>
                <a:latin typeface="KaTeX_Main"/>
              </a:rPr>
              <a:t>1</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Like charges </a:t>
            </a:r>
            <a:r>
              <a:rPr lang="en-AU" sz="2400" b="1" i="0" dirty="0" smtClean="0">
                <a:solidFill>
                  <a:srgbClr val="444444"/>
                </a:solidFill>
                <a:effectLst/>
                <a:latin typeface="Arial" panose="020B0604020202020204" pitchFamily="34" charset="0"/>
              </a:rPr>
              <a:t>repel.</a:t>
            </a:r>
            <a:endParaRPr lang="en-AU" sz="2400" b="0" i="0" dirty="0">
              <a:solidFill>
                <a:srgbClr val="444444"/>
              </a:solidFill>
              <a:effectLst/>
              <a:latin typeface="Arial" panose="020B0604020202020204" pitchFamily="34" charset="0"/>
            </a:endParaRPr>
          </a:p>
        </p:txBody>
      </p:sp>
      <p:pic>
        <p:nvPicPr>
          <p:cNvPr id="12290" name="Picture 2" descr="https://www.educationperfect.com/media/content/Science/1504653339.648981g/1504653345748-206336265252075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7474" y="2916237"/>
            <a:ext cx="7109827" cy="13255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92787" y="4610100"/>
            <a:ext cx="8839200" cy="1569660"/>
          </a:xfrm>
          <a:prstGeom prst="rect">
            <a:avLst/>
          </a:prstGeom>
        </p:spPr>
        <p:txBody>
          <a:bodyPr wrap="square">
            <a:spAutoFit/>
          </a:bodyPr>
          <a:lstStyle/>
          <a:p>
            <a:r>
              <a:rPr lang="en-AU" sz="2400" b="0" i="1" dirty="0" smtClean="0">
                <a:solidFill>
                  <a:srgbClr val="444444"/>
                </a:solidFill>
                <a:effectLst/>
                <a:latin typeface="Arial" panose="020B0604020202020204" pitchFamily="34" charset="0"/>
              </a:rPr>
              <a:t>The neutrons act like glue and hold the nucleus together. The relative number of protons and neutrons is very important. If there are too few or too many neutrons compared to protons, the nucleus is unstable.</a:t>
            </a:r>
            <a:endParaRPr lang="en-AU" sz="2400" dirty="0"/>
          </a:p>
        </p:txBody>
      </p:sp>
    </p:spTree>
    <p:extLst>
      <p:ext uri="{BB962C8B-B14F-4D97-AF65-F5344CB8AC3E}">
        <p14:creationId xmlns:p14="http://schemas.microsoft.com/office/powerpoint/2010/main" val="4103091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523439"/>
            <a:ext cx="112649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It is also important to look at the </a:t>
            </a:r>
            <a:r>
              <a:rPr lang="en-AU" sz="2400" b="1" i="0" dirty="0" smtClean="0">
                <a:solidFill>
                  <a:srgbClr val="EB8306"/>
                </a:solidFill>
                <a:effectLst/>
                <a:latin typeface="Arial" panose="020B0604020202020204" pitchFamily="34" charset="0"/>
              </a:rPr>
              <a:t>size</a:t>
            </a:r>
            <a:r>
              <a:rPr lang="en-AU" sz="2400" b="1" i="0" dirty="0" smtClean="0">
                <a:solidFill>
                  <a:srgbClr val="444444"/>
                </a:solidFill>
                <a:effectLst/>
                <a:latin typeface="Arial" panose="020B0604020202020204" pitchFamily="34" charset="0"/>
              </a:rPr>
              <a:t> of the subatomic particles.</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6DB00D"/>
                </a:solidFill>
                <a:effectLst/>
                <a:latin typeface="Arial" panose="020B0604020202020204" pitchFamily="34" charset="0"/>
              </a:rPr>
              <a:t>Protons and neutrons</a:t>
            </a:r>
            <a:r>
              <a:rPr lang="en-AU" sz="2400" b="0" i="0" dirty="0" smtClean="0">
                <a:solidFill>
                  <a:srgbClr val="444444"/>
                </a:solidFill>
                <a:effectLst/>
                <a:latin typeface="Arial" panose="020B0604020202020204" pitchFamily="34" charset="0"/>
              </a:rPr>
              <a:t> each have a mass of </a:t>
            </a:r>
            <a:r>
              <a:rPr lang="en-AU" sz="2400" b="0" i="0" dirty="0" smtClean="0">
                <a:solidFill>
                  <a:srgbClr val="444444"/>
                </a:solidFill>
                <a:effectLst/>
                <a:latin typeface="KaTeX_Main"/>
              </a:rPr>
              <a:t>1.67×10</a:t>
            </a:r>
            <a:r>
              <a:rPr lang="en-AU" sz="2400" b="0" i="0" baseline="30000" dirty="0" smtClean="0">
                <a:solidFill>
                  <a:srgbClr val="444444"/>
                </a:solidFill>
                <a:effectLst/>
                <a:latin typeface="KaTeX_Main"/>
              </a:rPr>
              <a:t>−24</a:t>
            </a:r>
            <a:r>
              <a:rPr lang="en-AU" sz="2400" b="0" i="0" dirty="0" smtClean="0">
                <a:solidFill>
                  <a:srgbClr val="444444"/>
                </a:solidFill>
                <a:effectLst/>
                <a:latin typeface="KaTeX_Main"/>
              </a:rPr>
              <a:t>g</a:t>
            </a:r>
            <a:r>
              <a:rPr lang="en-AU" sz="2400" b="0" i="0" dirty="0" smtClean="0">
                <a:solidFill>
                  <a:srgbClr val="444444"/>
                </a:solidFill>
                <a:effectLst/>
                <a:latin typeface="Arial" panose="020B0604020202020204" pitchFamily="34" charset="0"/>
              </a:rPr>
              <a:t>. This is such a tiny number that a new unit of mass is used: the </a:t>
            </a:r>
            <a:r>
              <a:rPr lang="en-AU" sz="2400" b="1" i="0" dirty="0" smtClean="0">
                <a:solidFill>
                  <a:srgbClr val="444444"/>
                </a:solidFill>
                <a:effectLst/>
                <a:latin typeface="Arial" panose="020B0604020202020204" pitchFamily="34" charset="0"/>
              </a:rPr>
              <a:t>atomic mass unit (</a:t>
            </a:r>
            <a:r>
              <a:rPr lang="en-AU" sz="2400" b="1" i="0" dirty="0" err="1" smtClean="0">
                <a:solidFill>
                  <a:srgbClr val="444444"/>
                </a:solidFill>
                <a:effectLst/>
                <a:latin typeface="Arial" panose="020B0604020202020204" pitchFamily="34" charset="0"/>
              </a:rPr>
              <a:t>amu</a:t>
            </a:r>
            <a:r>
              <a:rPr lang="en-AU" sz="2400" b="1" i="0" dirty="0" smtClean="0">
                <a:solidFill>
                  <a:srgbClr val="444444"/>
                </a:solidFill>
                <a:effectLst/>
                <a:latin typeface="Arial" panose="020B0604020202020204" pitchFamily="34" charset="0"/>
              </a:rPr>
              <a:t>)</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Protons and neutrons both have a mass of </a:t>
            </a:r>
            <a:r>
              <a:rPr lang="en-AU" sz="2400" b="1" i="0" dirty="0" smtClean="0">
                <a:solidFill>
                  <a:srgbClr val="444444"/>
                </a:solidFill>
                <a:effectLst/>
                <a:latin typeface="KaTeX_Main"/>
              </a:rPr>
              <a:t>1</a:t>
            </a:r>
            <a:r>
              <a:rPr lang="en-AU" sz="2400" b="0" i="0" dirty="0" smtClean="0">
                <a:solidFill>
                  <a:srgbClr val="444444"/>
                </a:solidFill>
                <a:effectLst/>
                <a:latin typeface="KaTeX_Main"/>
              </a:rPr>
              <a:t> </a:t>
            </a:r>
            <a:r>
              <a:rPr lang="en-AU" sz="2400" b="1" i="0" dirty="0" smtClean="0">
                <a:solidFill>
                  <a:srgbClr val="444444"/>
                </a:solidFill>
                <a:effectLst/>
                <a:latin typeface="KaTeX_Main"/>
              </a:rPr>
              <a:t> </a:t>
            </a:r>
            <a:r>
              <a:rPr lang="en-AU" sz="2400" b="1" i="0" dirty="0" err="1" smtClean="0">
                <a:solidFill>
                  <a:srgbClr val="444444"/>
                </a:solidFill>
                <a:effectLst/>
                <a:latin typeface="KaTeX_Main"/>
              </a:rPr>
              <a:t>amu</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endParaRPr lang="en-AU" sz="2400" b="0" i="0" dirty="0">
              <a:solidFill>
                <a:srgbClr val="444444"/>
              </a:solidFill>
              <a:effectLst/>
              <a:latin typeface="Arial" panose="020B0604020202020204" pitchFamily="34" charset="0"/>
            </a:endParaRPr>
          </a:p>
        </p:txBody>
      </p:sp>
      <p:pic>
        <p:nvPicPr>
          <p:cNvPr id="13314" name="Picture 2" descr="https://www.educationperfect.com/media/content/Science/1440130070.273911g/1440130066899-102673255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7775" y="3436937"/>
            <a:ext cx="5238750" cy="2457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570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862737"/>
            <a:ext cx="10795000" cy="1569660"/>
          </a:xfrm>
          <a:prstGeom prst="rect">
            <a:avLst/>
          </a:prstGeom>
        </p:spPr>
        <p:txBody>
          <a:bodyPr wrap="square">
            <a:spAutoFit/>
          </a:bodyPr>
          <a:lstStyle/>
          <a:p>
            <a:pPr algn="ctr"/>
            <a:r>
              <a:rPr lang="en-AU" sz="2400" b="1" i="0" dirty="0" smtClean="0">
                <a:solidFill>
                  <a:srgbClr val="EC7063"/>
                </a:solidFill>
                <a:effectLst/>
                <a:latin typeface="Arial" panose="020B0604020202020204" pitchFamily="34" charset="0"/>
              </a:rPr>
              <a:t>Electrons</a:t>
            </a:r>
            <a:r>
              <a:rPr lang="en-AU" sz="2400" b="1" i="0" dirty="0" smtClean="0">
                <a:solidFill>
                  <a:srgbClr val="444444"/>
                </a:solidFill>
                <a:effectLst/>
                <a:latin typeface="Arial" panose="020B0604020202020204" pitchFamily="34" charset="0"/>
              </a:rPr>
              <a:t> are 1840 times smaller than protons and neutrons.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They have a mass of </a:t>
            </a:r>
            <a:r>
              <a:rPr lang="en-AU" sz="2400" b="0" i="0" dirty="0" smtClean="0">
                <a:solidFill>
                  <a:srgbClr val="444444"/>
                </a:solidFill>
                <a:effectLst/>
                <a:latin typeface="KaTeX_Main"/>
              </a:rPr>
              <a:t>0.000549  </a:t>
            </a:r>
            <a:r>
              <a:rPr lang="en-AU" sz="2400" b="0" i="0" dirty="0" err="1" smtClean="0">
                <a:solidFill>
                  <a:srgbClr val="444444"/>
                </a:solidFill>
                <a:effectLst/>
                <a:latin typeface="KaTeX_Main"/>
              </a:rPr>
              <a:t>amu</a:t>
            </a:r>
            <a:r>
              <a:rPr lang="en-AU" sz="2400" b="0" i="0" dirty="0" smtClean="0">
                <a:solidFill>
                  <a:srgbClr val="444444"/>
                </a:solidFill>
                <a:effectLst/>
                <a:latin typeface="Arial" panose="020B0604020202020204" pitchFamily="34" charset="0"/>
              </a:rPr>
              <a:t>. This is usually represented in terms of the </a:t>
            </a:r>
            <a:r>
              <a:rPr lang="en-AU" sz="2400" b="1" i="0" dirty="0" smtClean="0">
                <a:solidFill>
                  <a:srgbClr val="EB8306"/>
                </a:solidFill>
                <a:effectLst/>
                <a:latin typeface="Arial" panose="020B0604020202020204" pitchFamily="34" charset="0"/>
              </a:rPr>
              <a:t>relative mass,</a:t>
            </a:r>
            <a:r>
              <a:rPr lang="en-AU" sz="2400" b="0" i="0" dirty="0" smtClean="0">
                <a:solidFill>
                  <a:srgbClr val="444444"/>
                </a:solidFill>
                <a:effectLst/>
                <a:latin typeface="Arial" panose="020B0604020202020204" pitchFamily="34" charset="0"/>
              </a:rPr>
              <a:t> i.e. </a:t>
            </a:r>
            <a:r>
              <a:rPr lang="en-AU" sz="2400" b="0" i="0" dirty="0" smtClean="0">
                <a:solidFill>
                  <a:srgbClr val="444444"/>
                </a:solidFill>
                <a:effectLst/>
                <a:latin typeface="KaTeX_Main"/>
              </a:rPr>
              <a:t>1</a:t>
            </a:r>
            <a:r>
              <a:rPr lang="en-AU" sz="2400" b="1" i="0" dirty="0" smtClean="0">
                <a:solidFill>
                  <a:srgbClr val="444444"/>
                </a:solidFill>
                <a:effectLst/>
                <a:latin typeface="Arial" panose="020B0604020202020204" pitchFamily="34" charset="0"/>
              </a:rPr>
              <a:t>/</a:t>
            </a:r>
            <a:r>
              <a:rPr lang="en-AU" sz="2400" b="0" i="0" dirty="0" smtClean="0">
                <a:solidFill>
                  <a:srgbClr val="444444"/>
                </a:solidFill>
                <a:effectLst/>
                <a:latin typeface="KaTeX_Main"/>
              </a:rPr>
              <a:t>1840</a:t>
            </a:r>
            <a:r>
              <a:rPr lang="en-AU" sz="2400" b="0" i="0" dirty="0" smtClean="0">
                <a:solidFill>
                  <a:srgbClr val="444444"/>
                </a:solidFill>
                <a:effectLst/>
                <a:latin typeface="Arial" panose="020B0604020202020204" pitchFamily="34" charset="0"/>
              </a:rPr>
              <a:t> of the mass of protons and neutrons.</a:t>
            </a:r>
            <a:endParaRPr lang="en-AU" sz="2400" b="0" i="0" dirty="0">
              <a:solidFill>
                <a:srgbClr val="444444"/>
              </a:solidFill>
              <a:effectLst/>
              <a:latin typeface="Arial" panose="020B0604020202020204" pitchFamily="34" charset="0"/>
            </a:endParaRPr>
          </a:p>
        </p:txBody>
      </p:sp>
      <p:pic>
        <p:nvPicPr>
          <p:cNvPr id="14338" name="Picture 2" descr="https://www.educationperfect.com/media/content/Science/1522722170.587461g/1522722178485-3210008850422928-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275" y="3419475"/>
            <a:ext cx="5864225" cy="3130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503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750838"/>
            <a:ext cx="112776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Electrons are also found a very long way from the nucleus, which means that </a:t>
            </a:r>
            <a:r>
              <a:rPr lang="en-AU" sz="2400" b="1" i="0" dirty="0" smtClean="0">
                <a:solidFill>
                  <a:srgbClr val="EB8306"/>
                </a:solidFill>
                <a:effectLst/>
                <a:latin typeface="Arial" panose="020B0604020202020204" pitchFamily="34" charset="0"/>
              </a:rPr>
              <a:t>most of an atom is empty space!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If the nucleus of a hydrogen atom were the size of a golf ball, then the electron would be the width of a human hair, and the distance between the two would be similar to the length of three rugby fields!</a:t>
            </a:r>
            <a:endParaRPr lang="en-AU" sz="2400" b="0" i="0" dirty="0">
              <a:solidFill>
                <a:srgbClr val="444444"/>
              </a:solidFill>
              <a:effectLst/>
              <a:latin typeface="Arial" panose="020B0604020202020204" pitchFamily="34" charset="0"/>
            </a:endParaRPr>
          </a:p>
        </p:txBody>
      </p:sp>
      <p:pic>
        <p:nvPicPr>
          <p:cNvPr id="15362" name="Picture 2" descr="https://www.educationperfect.com/media/content/Science/1446762972.839911g/1446762973403-4391005400701117-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9475" y="3470275"/>
            <a:ext cx="3800475"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875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489635"/>
            <a:ext cx="10972800" cy="830997"/>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This table summarises the information you need to know about the subatomic particles:</a:t>
            </a:r>
            <a:endParaRPr lang="en-AU" sz="2400" b="1"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735796" y="2244724"/>
            <a:ext cx="10593407" cy="2873375"/>
          </a:xfrm>
          <a:prstGeom prst="rect">
            <a:avLst/>
          </a:prstGeom>
        </p:spPr>
      </p:pic>
    </p:spTree>
    <p:extLst>
      <p:ext uri="{BB962C8B-B14F-4D97-AF65-F5344CB8AC3E}">
        <p14:creationId xmlns:p14="http://schemas.microsoft.com/office/powerpoint/2010/main" val="3701047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Words>
  <Application>Microsoft Office PowerPoint</Application>
  <PresentationFormat>Widescreen</PresentationFormat>
  <Paragraphs>62</Paragraphs>
  <Slides>19</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KaTeX_Main</vt:lpstr>
      <vt:lpstr>KaTeX_Math</vt:lpstr>
      <vt:lpstr>Office Theme</vt:lpstr>
      <vt:lpstr>Nuclear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Nuclear Model</dc:title>
  <dc:creator>Joseph D'cruz</dc:creator>
  <cp:lastModifiedBy>Joseph D'cruz</cp:lastModifiedBy>
  <cp:revision>1</cp:revision>
  <dcterms:created xsi:type="dcterms:W3CDTF">2020-07-14T07:52:37Z</dcterms:created>
  <dcterms:modified xsi:type="dcterms:W3CDTF">2020-07-14T07:52:53Z</dcterms:modified>
</cp:coreProperties>
</file>
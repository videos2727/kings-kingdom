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9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4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62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02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05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11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68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59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740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619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83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2AFD-E899-49D8-8AA1-B6859C66DC7F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BBC54-BF3D-469D-A1D0-F82EEE75F4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623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7LO8lL4Ai4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Fuel as a Resource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18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7LO8lL4Ai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5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813138"/>
            <a:ext cx="101219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on </a:t>
            </a:r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should be able to do the following: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 </a:t>
            </a:r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and why it is a </a:t>
            </a:r>
            <a:r>
              <a:rPr lang="en-AU" sz="2400" b="1" i="0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non-renewable resource.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difference between </a:t>
            </a:r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fossil fuels.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50204" y="210443"/>
            <a:ext cx="8535991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Here's a brief summary of how nuclear power plants work: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611589"/>
              </p:ext>
            </p:extLst>
          </p:nvPr>
        </p:nvGraphicFramePr>
        <p:xfrm>
          <a:off x="1470024" y="856774"/>
          <a:ext cx="10125075" cy="2286000"/>
        </p:xfrm>
        <a:graphic>
          <a:graphicData uri="http://schemas.openxmlformats.org/drawingml/2006/table">
            <a:tbl>
              <a:tblPr/>
              <a:tblGrid>
                <a:gridCol w="686446">
                  <a:extLst>
                    <a:ext uri="{9D8B030D-6E8A-4147-A177-3AD203B41FA5}">
                      <a16:colId xmlns:a16="http://schemas.microsoft.com/office/drawing/2014/main" val="2906036185"/>
                    </a:ext>
                  </a:extLst>
                </a:gridCol>
                <a:gridCol w="9438629">
                  <a:extLst>
                    <a:ext uri="{9D8B030D-6E8A-4147-A177-3AD203B41FA5}">
                      <a16:colId xmlns:a16="http://schemas.microsoft.com/office/drawing/2014/main" val="171019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  <a:latin typeface="KaTeX_Main"/>
                        </a:rPr>
                        <a:t>1.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solidFill>
                            <a:srgbClr val="9BC1BC"/>
                          </a:solidFill>
                          <a:effectLst/>
                        </a:rPr>
                        <a:t>Uranium</a:t>
                      </a:r>
                      <a:r>
                        <a:rPr lang="en-AU" sz="2400" b="1">
                          <a:effectLst/>
                        </a:rPr>
                        <a:t> is mined and made into rods. These are placed into the core of the nuclear power plant.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304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2.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A </a:t>
                      </a:r>
                      <a:r>
                        <a:rPr lang="en-AU" sz="2400" b="1" dirty="0">
                          <a:solidFill>
                            <a:srgbClr val="ED6A5A"/>
                          </a:solidFill>
                          <a:effectLst/>
                        </a:rPr>
                        <a:t>reaction</a:t>
                      </a:r>
                      <a:r>
                        <a:rPr lang="en-AU" sz="2400" dirty="0">
                          <a:effectLst/>
                        </a:rPr>
                        <a:t> occurs within the uranium rods. This produces lots of </a:t>
                      </a:r>
                      <a:r>
                        <a:rPr lang="en-AU" sz="2400" b="1" dirty="0">
                          <a:solidFill>
                            <a:srgbClr val="ED6A4A"/>
                          </a:solidFill>
                          <a:effectLst/>
                        </a:rPr>
                        <a:t>heat.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97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3.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The heat </a:t>
                      </a:r>
                      <a:r>
                        <a:rPr lang="en-AU" sz="2400" b="1">
                          <a:effectLst/>
                        </a:rPr>
                        <a:t>evaporates</a:t>
                      </a:r>
                      <a:r>
                        <a:rPr lang="en-AU" sz="2400">
                          <a:effectLst/>
                        </a:rPr>
                        <a:t> the </a:t>
                      </a:r>
                      <a:r>
                        <a:rPr lang="en-AU" sz="2400" b="1">
                          <a:solidFill>
                            <a:srgbClr val="36C9C6"/>
                          </a:solidFill>
                          <a:effectLst/>
                        </a:rPr>
                        <a:t>water</a:t>
                      </a:r>
                      <a:r>
                        <a:rPr lang="en-AU" sz="2400">
                          <a:effectLst/>
                        </a:rPr>
                        <a:t> surrounding the core, producing </a:t>
                      </a:r>
                      <a:r>
                        <a:rPr lang="en-AU" sz="2400" b="1">
                          <a:effectLst/>
                        </a:rPr>
                        <a:t>steam.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5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4.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The </a:t>
                      </a:r>
                      <a:r>
                        <a:rPr lang="en-AU" sz="2400" b="1" dirty="0">
                          <a:effectLst/>
                        </a:rPr>
                        <a:t>steam</a:t>
                      </a:r>
                      <a:r>
                        <a:rPr lang="en-AU" sz="2400" dirty="0">
                          <a:effectLst/>
                        </a:rPr>
                        <a:t> turns a </a:t>
                      </a:r>
                      <a:r>
                        <a:rPr lang="en-AU" sz="2400" b="1" dirty="0">
                          <a:effectLst/>
                        </a:rPr>
                        <a:t>turbine,</a:t>
                      </a:r>
                      <a:r>
                        <a:rPr lang="en-AU" sz="2400" dirty="0">
                          <a:effectLst/>
                        </a:rPr>
                        <a:t> which produces </a:t>
                      </a:r>
                      <a:r>
                        <a:rPr lang="en-AU" sz="2400" b="1" dirty="0">
                          <a:solidFill>
                            <a:srgbClr val="FFCE45"/>
                          </a:solidFill>
                          <a:effectLst/>
                        </a:rPr>
                        <a:t>electricity!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496957"/>
                  </a:ext>
                </a:extLst>
              </a:tr>
            </a:tbl>
          </a:graphicData>
        </a:graphic>
      </p:graphicFrame>
      <p:pic>
        <p:nvPicPr>
          <p:cNvPr id="4" name="1514590296.821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48666" y="3606800"/>
            <a:ext cx="4334933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9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608737"/>
            <a:ext cx="11328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9BC1BC"/>
                </a:solidFill>
                <a:effectLst/>
                <a:latin typeface="Arial" panose="020B0604020202020204" pitchFamily="34" charset="0"/>
              </a:rPr>
              <a:t>Uranium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 </a:t>
            </a:r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fuel.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elements, like plutonium, can also be used as nuclear fuel.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sz="2400" b="1" i="0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non-renewable resource.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elements like </a:t>
            </a:r>
            <a:r>
              <a:rPr lang="en-AU" sz="2400" b="1" i="0" dirty="0" smtClean="0">
                <a:solidFill>
                  <a:srgbClr val="9BC1BC"/>
                </a:solidFill>
                <a:effectLst/>
                <a:latin typeface="Arial" panose="020B0604020202020204" pitchFamily="34" charset="0"/>
              </a:rPr>
              <a:t>uranium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plutonium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take an extremely </a:t>
            </a:r>
            <a:r>
              <a:rPr lang="en-AU" sz="2400" b="1" i="0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long time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14591178.126921g/1514591187556-320786910851551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800" y="2709863"/>
            <a:ext cx="3762375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30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68238"/>
            <a:ext cx="11137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different from other non-renewable fuels such as petrol and coal.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uranium is extracted from </a:t>
            </a:r>
            <a:r>
              <a:rPr lang="en-AU" sz="2400" b="1" i="0" dirty="0" smtClean="0">
                <a:solidFill>
                  <a:srgbClr val="9BC1BC"/>
                </a:solidFill>
                <a:effectLst/>
                <a:latin typeface="Arial" panose="020B0604020202020204" pitchFamily="34" charset="0"/>
              </a:rPr>
              <a:t>uranium ore,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 type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rock.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other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non-renewable fuels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sz="2400" b="1" i="0" dirty="0" smtClean="0">
                <a:solidFill>
                  <a:srgbClr val="7C7C7C"/>
                </a:solidFill>
                <a:effectLst/>
                <a:latin typeface="Arial" panose="020B0604020202020204" pitchFamily="34" charset="0"/>
              </a:rPr>
              <a:t>fossil fuels,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formed from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plants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animals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were buried millions of years ago.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9364531.931331g/1449364553054-358245032822192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00" y="3544888"/>
            <a:ext cx="3276600" cy="309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03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636538"/>
            <a:ext cx="1066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C7CCC7"/>
                </a:solidFill>
                <a:effectLst/>
                <a:latin typeface="Arial" panose="020B0604020202020204" pitchFamily="34" charset="0"/>
              </a:rPr>
              <a:t>Nuclear waste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produced from nuclear fuel which has been used in a power plant.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waste is </a:t>
            </a:r>
            <a:r>
              <a:rPr lang="en-AU" sz="2400" b="1" i="0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extremely dangerous.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stood a few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unshielded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nuclear waste which came straight out of a </a:t>
            </a:r>
            <a:r>
              <a:rPr lang="en-AU" sz="2400" b="1" i="0" dirty="0" smtClean="0">
                <a:solidFill>
                  <a:srgbClr val="FFCE45"/>
                </a:solidFill>
                <a:effectLst/>
                <a:latin typeface="Arial" panose="020B0604020202020204" pitchFamily="34" charset="0"/>
              </a:rPr>
              <a:t>nuclear power plant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would </a:t>
            </a:r>
            <a:r>
              <a:rPr lang="en-AU" sz="2400" b="1" i="0" u="sng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die.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14591891.631211g/1514591909846-320786910851551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00" y="3314194"/>
            <a:ext cx="4813300" cy="336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76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896035"/>
            <a:ext cx="9410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it's really important to </a:t>
            </a:r>
            <a:r>
              <a:rPr lang="en-AU" sz="2400" b="1" i="0" dirty="0" smtClean="0">
                <a:solidFill>
                  <a:srgbClr val="C7CCC7"/>
                </a:solidFill>
                <a:effectLst/>
                <a:latin typeface="Arial" panose="020B0604020202020204" pitchFamily="34" charset="0"/>
              </a:rPr>
              <a:t>store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nuclear waste where it won't </a:t>
            </a:r>
            <a:r>
              <a:rPr lang="en-AU" sz="2400" b="1" i="0" dirty="0" smtClean="0">
                <a:solidFill>
                  <a:srgbClr val="ED6A5A"/>
                </a:solidFill>
                <a:effectLst/>
                <a:latin typeface="Arial" panose="020B0604020202020204" pitchFamily="34" charset="0"/>
              </a:rPr>
              <a:t>harm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anyone or anything.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14592497.57941g/1514592515418-320786910851551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4475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39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92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27</Paragraphs>
  <Slides>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KaTeX_Main</vt:lpstr>
      <vt:lpstr>Office Theme</vt:lpstr>
      <vt:lpstr>Nuclear Fuel as a Resource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Fuel as a Resource</dc:title>
  <dc:creator>Joseph D'cruz</dc:creator>
  <cp:lastModifiedBy>Joseph D'cruz</cp:lastModifiedBy>
  <cp:revision>1</cp:revision>
  <dcterms:created xsi:type="dcterms:W3CDTF">2020-07-14T10:02:27Z</dcterms:created>
  <dcterms:modified xsi:type="dcterms:W3CDTF">2020-07-14T10:03:03Z</dcterms:modified>
</cp:coreProperties>
</file>
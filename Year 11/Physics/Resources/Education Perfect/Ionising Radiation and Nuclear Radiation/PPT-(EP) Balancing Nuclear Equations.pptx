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79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638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185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536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8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52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57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56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99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7342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25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7DF87-9B4C-4B43-A031-3862752AF7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20AE8-6782-48A0-B443-6ABC7383B3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79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guageperfect.com/media/content/Science/1456429348.51831g/1456429350052-2169576686836925.pn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Balancing Nuclear Equations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548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990938"/>
            <a:ext cx="10896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balancing nuclear equations.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spontaneous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beta 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 using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decay equations.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 radionuclide will, through a series of spontaneous decays, become a stable nuclide.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0299100.492691g/1450299101456-34536874874437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68594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363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969139"/>
            <a:ext cx="1092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now know all about the three different types of radiation: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alpha,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lesson, you will learn how to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write equations for nuclear reactions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involve the release of alpha or beta particles from radioactive atoms.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equations are important because you can use them to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determine which new element a radioactive decay reaction will form.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50772649.005641g/1450772641472-355209678552863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175" y="4165600"/>
            <a:ext cx="38004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078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82938"/>
            <a:ext cx="11176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 that isotopes can be represented using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nuclear symbols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(atomic symbols).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nuclear symbol shows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symbol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element, with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2A52B3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written to the left. For example, carbon-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written like this: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0129361.622281g/1450129374112-54131639861979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4" y="2590800"/>
            <a:ext cx="4467225" cy="20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63600" y="4506436"/>
            <a:ext cx="10731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mass number is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 (number of protons plus neutrons) and this is written at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top.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atomic number is the </a:t>
            </a:r>
            <a:r>
              <a:rPr lang="en-AU" sz="2400" b="1" i="0" dirty="0" smtClean="0">
                <a:solidFill>
                  <a:srgbClr val="2A52B3"/>
                </a:solidFill>
                <a:effectLst/>
                <a:latin typeface="Arial" panose="020B0604020202020204" pitchFamily="34" charset="0"/>
              </a:rPr>
              <a:t>smaller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 (number of protons) and this is written at the </a:t>
            </a:r>
            <a:r>
              <a:rPr lang="en-AU" sz="2400" b="1" i="0" dirty="0" smtClean="0">
                <a:solidFill>
                  <a:srgbClr val="2A52B3"/>
                </a:solidFill>
                <a:effectLst/>
                <a:latin typeface="Arial" panose="020B0604020202020204" pitchFamily="34" charset="0"/>
              </a:rPr>
              <a:t>bottom.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atomic number is equal to the </a:t>
            </a:r>
            <a:r>
              <a:rPr lang="en-AU" sz="2400" b="1" i="0" dirty="0" smtClean="0">
                <a:solidFill>
                  <a:srgbClr val="2A52B3"/>
                </a:solidFill>
                <a:effectLst/>
                <a:latin typeface="Arial" panose="020B0604020202020204" pitchFamily="34" charset="0"/>
              </a:rPr>
              <a:t>charge on the nucleus.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4257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7" y="358774"/>
            <a:ext cx="10722775" cy="3540125"/>
          </a:xfrm>
          <a:prstGeom prst="rect">
            <a:avLst/>
          </a:prstGeom>
        </p:spPr>
      </p:pic>
      <p:pic>
        <p:nvPicPr>
          <p:cNvPr id="4098" name="Picture 2" descr="https://www.educationperfect.com/media/content/Science/1453244556.606531g/1453244583301-4064613173328979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4" y="3771899"/>
            <a:ext cx="5584825" cy="280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12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374"/>
            <a:ext cx="11745174" cy="3171825"/>
          </a:xfrm>
          <a:prstGeom prst="rect">
            <a:avLst/>
          </a:prstGeom>
        </p:spPr>
      </p:pic>
      <p:pic>
        <p:nvPicPr>
          <p:cNvPr id="5122" name="Picture 2" descr="https://www.educationperfect.com/media/content/Science/1453245013.948261g/1453245040567-4064613173328979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974" y="3632200"/>
            <a:ext cx="4721225" cy="237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08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" y="411162"/>
            <a:ext cx="11588958" cy="3627438"/>
          </a:xfrm>
          <a:prstGeom prst="rect">
            <a:avLst/>
          </a:prstGeom>
        </p:spPr>
      </p:pic>
      <p:pic>
        <p:nvPicPr>
          <p:cNvPr id="6146" name="Picture 2" descr="https://www.educationperfect.com/media/content/Science/1537941697.854411g/1537941697515-2434960507716925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75" y="4541837"/>
            <a:ext cx="3781425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08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2" y="738187"/>
            <a:ext cx="10350394" cy="496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688539"/>
            <a:ext cx="11099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reaction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one that involves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change in the number of protons and/or neutrons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reactions always involve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release of radiation.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Whenever a nuclear reaction occurs,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new element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formed. The element that is formed depends on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type of radioactive particle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released.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42628696.515421g/1442628695856-353298749065661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75" y="37338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37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68646" y="539234"/>
            <a:ext cx="48641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reactions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385977"/>
              </p:ext>
            </p:extLst>
          </p:nvPr>
        </p:nvGraphicFramePr>
        <p:xfrm>
          <a:off x="692150" y="1538764"/>
          <a:ext cx="5810250" cy="1211580"/>
        </p:xfrm>
        <a:graphic>
          <a:graphicData uri="http://schemas.openxmlformats.org/drawingml/2006/table">
            <a:tbl>
              <a:tblPr/>
              <a:tblGrid>
                <a:gridCol w="5810250">
                  <a:extLst>
                    <a:ext uri="{9D8B030D-6E8A-4147-A177-3AD203B41FA5}">
                      <a16:colId xmlns:a16="http://schemas.microsoft.com/office/drawing/2014/main" val="3919104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For example, </a:t>
                      </a:r>
                      <a:r>
                        <a:rPr lang="en-AU" sz="2400" b="1" dirty="0">
                          <a:solidFill>
                            <a:srgbClr val="0066CC"/>
                          </a:solidFill>
                          <a:effectLst/>
                        </a:rPr>
                        <a:t>large atoms</a:t>
                      </a:r>
                      <a:r>
                        <a:rPr lang="en-AU" sz="2400" dirty="0">
                          <a:effectLst/>
                        </a:rPr>
                        <a:t> with mass numbers over 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200</a:t>
                      </a:r>
                      <a:r>
                        <a:rPr lang="en-AU" sz="2400" dirty="0">
                          <a:effectLst/>
                        </a:rPr>
                        <a:t> often release </a:t>
                      </a:r>
                      <a:r>
                        <a:rPr lang="en-AU" sz="2400" b="1" dirty="0">
                          <a:solidFill>
                            <a:srgbClr val="571A98"/>
                          </a:solidFill>
                          <a:effectLst/>
                        </a:rPr>
                        <a:t>alpha particles</a:t>
                      </a:r>
                      <a:r>
                        <a:rPr lang="en-AU" sz="2400" dirty="0">
                          <a:effectLst/>
                        </a:rPr>
                        <a:t> during radioactive decay.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855893"/>
                  </a:ext>
                </a:extLst>
              </a:tr>
            </a:tbl>
          </a:graphicData>
        </a:graphic>
      </p:graphicFrame>
      <p:pic>
        <p:nvPicPr>
          <p:cNvPr id="8194" name="Picture 2" descr="https://www.educationperfect.com/media/content/Science/1406505399290-143657768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925" y="1000899"/>
            <a:ext cx="380047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0823" y="3452336"/>
            <a:ext cx="11099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Polonium-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209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decays by releasing an alpha particle. Since an alpha particle has a mass number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 charge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during the decay reaction, polonium's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mass number is decreased by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charge is decreased by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new element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lead-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205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737" y="5290234"/>
            <a:ext cx="7337104" cy="15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648038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that have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too many neutrons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often release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negative particles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during radioactive decay.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 beta negative decay,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 changes into a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proton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proton remains in the nucleus and the electron (beta particle) is released.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41331514.974091g/1441331504405-73773771241304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550" y="2538412"/>
            <a:ext cx="5657850" cy="384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185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561539"/>
            <a:ext cx="11303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carbon-14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releases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negative particle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during its decay reaction.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Since a neutron has changed into a proton which remains in the nucleus,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charge must increase by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mass number stays the 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an electron has such a small mass that it does not affect the mass number.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Nitrogen-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produced during the decay reaction of carbon-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53327172.423641g/1453327202354-34906555166521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350" y="3239195"/>
            <a:ext cx="476250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689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217438"/>
            <a:ext cx="11557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reactions can be represented with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reaction equation,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similar to how you would write a reaction equation for a chemical reaction.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reaction equations must always show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particle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involved in the reaction. For example, the reaction equation for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 decay of polonium-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209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4" y="2735262"/>
            <a:ext cx="5978525" cy="15563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233510"/>
            <a:ext cx="1149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equation shows that polonium-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decays into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lead-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205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plus an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particle.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1047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57300" y="1457236"/>
            <a:ext cx="9474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rules that you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follow when writing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nuclear reaction equations: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240717"/>
              </p:ext>
            </p:extLst>
          </p:nvPr>
        </p:nvGraphicFramePr>
        <p:xfrm>
          <a:off x="1447800" y="2525554"/>
          <a:ext cx="10515600" cy="132588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1545254804"/>
                    </a:ext>
                  </a:extLst>
                </a:gridCol>
                <a:gridCol w="9499600">
                  <a:extLst>
                    <a:ext uri="{9D8B030D-6E8A-4147-A177-3AD203B41FA5}">
                      <a16:colId xmlns:a16="http://schemas.microsoft.com/office/drawing/2014/main" val="122157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/>
                      </a:r>
                      <a:br>
                        <a:rPr lang="en-AU" sz="2400">
                          <a:effectLst/>
                          <a:latin typeface="KaTeX_Main"/>
                        </a:rPr>
                      </a:br>
                      <a:r>
                        <a:rPr lang="en-AU" sz="2400">
                          <a:effectLst/>
                          <a:latin typeface="KaTeX_Main"/>
                        </a:rPr>
                        <a:t>1</a:t>
                      </a:r>
                      <a:r>
                        <a:rPr lang="en-AU" sz="240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The </a:t>
                      </a:r>
                      <a:r>
                        <a:rPr lang="en-AU" sz="2400" b="1">
                          <a:solidFill>
                            <a:srgbClr val="FF0000"/>
                          </a:solidFill>
                          <a:effectLst/>
                        </a:rPr>
                        <a:t>total mass numbers</a:t>
                      </a:r>
                      <a:r>
                        <a:rPr lang="en-AU" sz="2400">
                          <a:effectLst/>
                        </a:rPr>
                        <a:t> must be the </a:t>
                      </a:r>
                      <a:r>
                        <a:rPr lang="en-AU" sz="2400" b="1">
                          <a:solidFill>
                            <a:srgbClr val="FF0000"/>
                          </a:solidFill>
                          <a:effectLst/>
                        </a:rPr>
                        <a:t>same</a:t>
                      </a:r>
                      <a:r>
                        <a:rPr lang="en-AU" sz="2400">
                          <a:effectLst/>
                        </a:rPr>
                        <a:t> on each side of the equation.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45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40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solidFill>
                            <a:srgbClr val="0066CC"/>
                          </a:solidFill>
                          <a:effectLst/>
                        </a:rPr>
                        <a:t>total nuclear charge</a:t>
                      </a:r>
                      <a:r>
                        <a:rPr lang="en-AU" sz="2400" dirty="0">
                          <a:effectLst/>
                        </a:rPr>
                        <a:t> must be the </a:t>
                      </a:r>
                      <a:r>
                        <a:rPr lang="en-AU" sz="2400" b="1" dirty="0">
                          <a:solidFill>
                            <a:srgbClr val="0066CC"/>
                          </a:solidFill>
                          <a:effectLst/>
                        </a:rPr>
                        <a:t>same</a:t>
                      </a:r>
                      <a:r>
                        <a:rPr lang="en-AU" sz="2400" dirty="0">
                          <a:effectLst/>
                        </a:rPr>
                        <a:t> on each side of the equation.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720"/>
                  </a:ext>
                </a:extLst>
              </a:tr>
            </a:tbl>
          </a:graphicData>
        </a:graphic>
      </p:graphicFrame>
      <p:pic>
        <p:nvPicPr>
          <p:cNvPr id="11267" name="Picture 3" descr="https://www.educationperfect.com/media/content/German/1450063970.354791g/1450063995317-404334228218230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1" y="3759199"/>
            <a:ext cx="2906713" cy="290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21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367437"/>
            <a:ext cx="11582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1. 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 mass numbers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each side of the equation.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decay reaction,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starting element is polonium-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decays into lead-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an alpha particle: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53340428.064891g/1453340446632-167676431794909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1937097"/>
            <a:ext cx="6667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92125" y="4630528"/>
            <a:ext cx="1148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Polonium's mass number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mass number of the lead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while the mass number of the alpha particle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reaction equation has a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 mass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209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60792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8700" y="603935"/>
            <a:ext cx="10985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2. 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 nuclear charge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each side of the equation.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453340929.203521g/1453340960149-167676431794909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1065600"/>
            <a:ext cx="66675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98600" y="4340136"/>
            <a:ext cx="949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Polonium's nuclear charge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84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nuclear charge of the lead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82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while the nuclear charge of the alpha particle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reaction equation has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 nuclear charge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84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63281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0"/>
            <a:ext cx="12026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 example of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negative decay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reaction.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 mass numbers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each side of the equation.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beta decay reaction,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starting element is carbon-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decays into nitrogen-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 beta particle: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453341476.159291g/1453341485000-167676431794909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2209463"/>
            <a:ext cx="66675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74650" y="4848136"/>
            <a:ext cx="11607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Carbon's mass number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mass number of nitrogen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while the mass number of the beta particle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reaction equation has a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 mass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17218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692835"/>
            <a:ext cx="11518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2.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 nuclear charge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each side of the equation.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453342981.567591g/1453342990388-167676431794909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923667"/>
            <a:ext cx="66675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6600" y="3692436"/>
            <a:ext cx="10795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Carbon's nuclear charge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protons. The nuclear charge of nitrogen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7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while the nuclear charge of the beta particle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reaction equation has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 nuclear charge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98406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0" y="629335"/>
            <a:ext cx="1022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would you complete this reaction equation so that it follows the two rules?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212" y="1557337"/>
            <a:ext cx="4537075" cy="107920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939645"/>
              </p:ext>
            </p:extLst>
          </p:nvPr>
        </p:nvGraphicFramePr>
        <p:xfrm>
          <a:off x="869949" y="2733549"/>
          <a:ext cx="10515600" cy="193548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1528266694"/>
                    </a:ext>
                  </a:extLst>
                </a:gridCol>
                <a:gridCol w="9575800">
                  <a:extLst>
                    <a:ext uri="{9D8B030D-6E8A-4147-A177-3AD203B41FA5}">
                      <a16:colId xmlns:a16="http://schemas.microsoft.com/office/drawing/2014/main" val="3717781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sz="2800">
                          <a:effectLst/>
                          <a:latin typeface="KaTeX_Main"/>
                        </a:rPr>
                        <a:t/>
                      </a:r>
                      <a:br>
                        <a:rPr lang="en-AU" sz="2800">
                          <a:effectLst/>
                          <a:latin typeface="KaTeX_Main"/>
                        </a:rPr>
                      </a:br>
                      <a:r>
                        <a:rPr lang="en-AU" sz="2800">
                          <a:effectLst/>
                          <a:latin typeface="KaTeX_Main"/>
                        </a:rPr>
                        <a:t>1</a:t>
                      </a:r>
                      <a:r>
                        <a:rPr lang="en-AU" sz="2800">
                          <a:effectLst/>
                        </a:rPr>
                        <a:t>.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>
                          <a:effectLst/>
                        </a:rPr>
                        <a:t>The </a:t>
                      </a:r>
                      <a:r>
                        <a:rPr lang="en-AU" sz="2800" b="1">
                          <a:solidFill>
                            <a:srgbClr val="FF0000"/>
                          </a:solidFill>
                          <a:effectLst/>
                        </a:rPr>
                        <a:t>total mass numbers</a:t>
                      </a:r>
                      <a:r>
                        <a:rPr lang="en-AU" sz="2800">
                          <a:effectLst/>
                        </a:rPr>
                        <a:t> must be the </a:t>
                      </a:r>
                      <a:r>
                        <a:rPr lang="en-AU" sz="2800" b="1">
                          <a:solidFill>
                            <a:srgbClr val="FF0000"/>
                          </a:solidFill>
                          <a:effectLst/>
                        </a:rPr>
                        <a:t>same</a:t>
                      </a:r>
                      <a:r>
                        <a:rPr lang="en-AU" sz="2800">
                          <a:effectLst/>
                        </a:rPr>
                        <a:t> on each side of the equation.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141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sz="280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800">
                          <a:effectLst/>
                        </a:rPr>
                        <a:t>.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dirty="0">
                          <a:effectLst/>
                        </a:rPr>
                        <a:t>The </a:t>
                      </a:r>
                      <a:r>
                        <a:rPr lang="en-AU" sz="2800" b="1" dirty="0">
                          <a:solidFill>
                            <a:srgbClr val="0066CC"/>
                          </a:solidFill>
                          <a:effectLst/>
                        </a:rPr>
                        <a:t>total nuclear charge</a:t>
                      </a:r>
                      <a:r>
                        <a:rPr lang="en-AU" sz="2800" dirty="0">
                          <a:effectLst/>
                        </a:rPr>
                        <a:t> must be the </a:t>
                      </a:r>
                      <a:r>
                        <a:rPr lang="en-AU" sz="2800" b="1" dirty="0">
                          <a:solidFill>
                            <a:srgbClr val="0066CC"/>
                          </a:solidFill>
                          <a:effectLst/>
                        </a:rPr>
                        <a:t>same</a:t>
                      </a:r>
                      <a:r>
                        <a:rPr lang="en-AU" sz="2800" dirty="0">
                          <a:effectLst/>
                        </a:rPr>
                        <a:t> on each side of the equation.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12482"/>
                  </a:ext>
                </a:extLst>
              </a:tr>
            </a:tbl>
          </a:graphicData>
        </a:graphic>
      </p:graphicFrame>
      <p:pic>
        <p:nvPicPr>
          <p:cNvPr id="16386" name="Picture 2" descr="https://www.educationperfect.com/media/content/Science/1529640978.465291g/1529640978266-2374073830049361-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4709594"/>
            <a:ext cx="6838950" cy="214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285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2" y="376237"/>
            <a:ext cx="11437938" cy="3355327"/>
          </a:xfrm>
          <a:prstGeom prst="rect">
            <a:avLst/>
          </a:prstGeom>
        </p:spPr>
      </p:pic>
      <p:pic>
        <p:nvPicPr>
          <p:cNvPr id="17410" name="Picture 2" descr="https://www.educationperfect.com/media/content/German/1470781158.315691g/1470781172645-3167842507884243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028" y="4241800"/>
            <a:ext cx="2285722" cy="226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7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521038"/>
            <a:ext cx="11252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know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type of nuclear decay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certain element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undergoes, you can figure out which element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produced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reaction!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Say you know that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sodium-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undergoes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negative decay.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can write down the nuclear equation with information that you know: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453532031.504921g/1453532035223-200382473277957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5" y="2649537"/>
            <a:ext cx="3781425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587500" y="4185335"/>
            <a:ext cx="9817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makes it easy to see what you need to find out about the element produced in the reaction.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3444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 descr="https://www.educationperfect.com/media/content/Science/1453532031.504921g/1453532035223-200382473277957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7" y="1212532"/>
            <a:ext cx="5064919" cy="146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25661" y="2679700"/>
            <a:ext cx="10528139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figure out which isotope is produced, you need to know three things: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820455"/>
              </p:ext>
            </p:extLst>
          </p:nvPr>
        </p:nvGraphicFramePr>
        <p:xfrm>
          <a:off x="838200" y="3418364"/>
          <a:ext cx="10515600" cy="144018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572568491"/>
                    </a:ext>
                  </a:extLst>
                </a:gridCol>
                <a:gridCol w="8864600">
                  <a:extLst>
                    <a:ext uri="{9D8B030D-6E8A-4147-A177-3AD203B41FA5}">
                      <a16:colId xmlns:a16="http://schemas.microsoft.com/office/drawing/2014/main" val="1618460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effectLst/>
                          <a:latin typeface="KaTeX_Main"/>
                        </a:rPr>
                        <a:t>1</a:t>
                      </a:r>
                      <a:r>
                        <a:rPr lang="en-AU" sz="240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The </a:t>
                      </a:r>
                      <a:r>
                        <a:rPr lang="en-AU" sz="2400" b="1">
                          <a:solidFill>
                            <a:srgbClr val="FF0000"/>
                          </a:solidFill>
                          <a:effectLst/>
                        </a:rPr>
                        <a:t>mass number</a:t>
                      </a:r>
                      <a:r>
                        <a:rPr lang="en-AU" sz="2400">
                          <a:effectLst/>
                        </a:rPr>
                        <a:t> of the new element.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69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effectLst/>
                          <a:latin typeface="KaTeX_Main"/>
                        </a:rPr>
                        <a:t>2</a:t>
                      </a:r>
                      <a:r>
                        <a:rPr lang="en-AU" sz="240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solidFill>
                            <a:srgbClr val="0066CC"/>
                          </a:solidFill>
                          <a:effectLst/>
                        </a:rPr>
                        <a:t>charge</a:t>
                      </a:r>
                      <a:r>
                        <a:rPr lang="en-AU" sz="2400" dirty="0">
                          <a:effectLst/>
                        </a:rPr>
                        <a:t> of the new element.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559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effectLst/>
                          <a:latin typeface="KaTeX_Main"/>
                        </a:rPr>
                        <a:t>3</a:t>
                      </a:r>
                      <a:r>
                        <a:rPr lang="en-AU" sz="240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solidFill>
                            <a:srgbClr val="64B131"/>
                          </a:solidFill>
                          <a:effectLst/>
                        </a:rPr>
                        <a:t>symbol</a:t>
                      </a:r>
                      <a:r>
                        <a:rPr lang="en-AU" sz="2400" dirty="0">
                          <a:effectLst/>
                        </a:rPr>
                        <a:t> of the new element.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315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10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770235"/>
            <a:ext cx="10528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new element can easily be found by looking at the equation you have written.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453532031.504921g/1453532035223-200382473277957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5" y="1927225"/>
            <a:ext cx="5973555" cy="173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22300" y="3858736"/>
            <a:ext cx="10604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 that both the total mass and total charge must be the same on each side of the equation.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case, the new element has a mass number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 charge (atomic number)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475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7119" y="225988"/>
            <a:ext cx="74959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can you work out what element is produced?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453532031.504921g/1453532035223-200382473277957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4" y="687653"/>
            <a:ext cx="4975225" cy="1441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47700" y="1805674"/>
            <a:ext cx="11315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which element this is, you now need to look at the </a:t>
            </a:r>
            <a:r>
              <a:rPr lang="en-AU" sz="2400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3"/>
              </a:rPr>
              <a:t>periodic table.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element with an atomic number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magnesium.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isotope formed in the reaction must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magnesium-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24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8" name="Picture 4" descr="https://www.educationperfect.com/media/content/Science/1461026068.157921g/1461026072922-4213622659372830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75" y="3027660"/>
            <a:ext cx="282892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324" y="4685010"/>
            <a:ext cx="5940657" cy="81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50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248335"/>
            <a:ext cx="8788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Often when a radionuclide decays, it forms another unstable atom.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0500" y="1708140"/>
            <a:ext cx="76581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atom will then also decay, forming a new atom. This will continue until a stable nuclide is formed.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call this chain of reactions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decay 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chain.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Uranium eventually forms lead through a series of decays, shown here: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summary, a radionuclide will, through a series of spontaneous decays, become a stable nuclide.</a:t>
            </a:r>
            <a:endParaRPr lang="en-AU" sz="2400" dirty="0"/>
          </a:p>
        </p:txBody>
      </p:sp>
      <p:pic>
        <p:nvPicPr>
          <p:cNvPr id="22530" name="Picture 2" descr="https://www.educationperfect.com/media/content/Science/1538006903.238461g/1538006902738-2300781944207443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987" y="800100"/>
            <a:ext cx="3305687" cy="605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65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248</Words>
  <Application>Microsoft Office PowerPoint</Application>
  <PresentationFormat>Widescreen</PresentationFormat>
  <Paragraphs>79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KaTeX_Main</vt:lpstr>
      <vt:lpstr>Office Theme</vt:lpstr>
      <vt:lpstr>Balancing Nuclear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Balancing Nuclear Equations</dc:title>
  <dc:creator>Joseph D'cruz</dc:creator>
  <cp:lastModifiedBy>Joseph D'cruz</cp:lastModifiedBy>
  <cp:revision>3</cp:revision>
  <dcterms:created xsi:type="dcterms:W3CDTF">2020-07-14T08:44:30Z</dcterms:created>
  <dcterms:modified xsi:type="dcterms:W3CDTF">2020-07-14T09:06:18Z</dcterms:modified>
</cp:coreProperties>
</file>
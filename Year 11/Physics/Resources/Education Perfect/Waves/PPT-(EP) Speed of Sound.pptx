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14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F4562-5E0B-4905-9FF2-C6726A6E13C2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31D2-D6F9-4961-84DC-46B3352F4A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2091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F4562-5E0B-4905-9FF2-C6726A6E13C2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31D2-D6F9-4961-84DC-46B3352F4A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8802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F4562-5E0B-4905-9FF2-C6726A6E13C2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31D2-D6F9-4961-84DC-46B3352F4A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6637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F4562-5E0B-4905-9FF2-C6726A6E13C2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31D2-D6F9-4961-84DC-46B3352F4A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4919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F4562-5E0B-4905-9FF2-C6726A6E13C2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31D2-D6F9-4961-84DC-46B3352F4A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3407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F4562-5E0B-4905-9FF2-C6726A6E13C2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31D2-D6F9-4961-84DC-46B3352F4A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6610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F4562-5E0B-4905-9FF2-C6726A6E13C2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31D2-D6F9-4961-84DC-46B3352F4A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560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F4562-5E0B-4905-9FF2-C6726A6E13C2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31D2-D6F9-4961-84DC-46B3352F4A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6455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F4562-5E0B-4905-9FF2-C6726A6E13C2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31D2-D6F9-4961-84DC-46B3352F4A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0045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F4562-5E0B-4905-9FF2-C6726A6E13C2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31D2-D6F9-4961-84DC-46B3352F4A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0896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F4562-5E0B-4905-9FF2-C6726A6E13C2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31D2-D6F9-4961-84DC-46B3352F4A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5015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F4562-5E0B-4905-9FF2-C6726A6E13C2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6D31D2-D6F9-4961-84DC-46B3352F4A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3612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Speed of Sound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1036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700" y="1102836"/>
            <a:ext cx="112395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Recall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factors that affect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speed of sound.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Calculate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speed of sound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wavelength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frequency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wave.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German/1459463563.758271g/1459463573870-116657126841789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2200" y="3314700"/>
            <a:ext cx="4762500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6952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7000" y="503535"/>
            <a:ext cx="115951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there is a storm, you may have noticed that you see the flash of lightning before you hear the clap of thunder.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47160754.7539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882900" y="1466850"/>
            <a:ext cx="6299200" cy="35433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41300" y="5142468"/>
            <a:ext cx="11480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 </a:t>
            </a:r>
            <a:r>
              <a:rPr lang="en-AU" sz="2400" b="1" i="0" dirty="0" smtClean="0">
                <a:solidFill>
                  <a:srgbClr val="FEB900"/>
                </a:solidFill>
                <a:effectLst/>
                <a:latin typeface="Arial" panose="020B0604020202020204" pitchFamily="34" charset="0"/>
              </a:rPr>
              <a:t>light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travels faster than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sound,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how much faster?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And does sound always travel at the same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speed?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753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9100" y="471438"/>
            <a:ext cx="112903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speed of sound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determined by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medium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travels through.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Each medium has a different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density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different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elastic properties (elasticity).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means that the speed of sound changes depending on what it's travelling through.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sound travels faster through water than air.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549759386.204451g/1549759326124-997946065307140-8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9025" y="3420035"/>
            <a:ext cx="4870450" cy="3437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974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5100" y="401935"/>
            <a:ext cx="11557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phase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matter (e.g. whether it is </a:t>
            </a:r>
            <a:r>
              <a:rPr lang="en-AU" sz="2400" b="1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solid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AU" sz="2400" b="1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liquid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or </a:t>
            </a:r>
            <a:r>
              <a:rPr lang="en-AU" sz="2400" b="1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gas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has the largest impact on the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elastic properties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medium.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094934"/>
              </p:ext>
            </p:extLst>
          </p:nvPr>
        </p:nvGraphicFramePr>
        <p:xfrm>
          <a:off x="857250" y="1594644"/>
          <a:ext cx="6864350" cy="1577340"/>
        </p:xfrm>
        <a:graphic>
          <a:graphicData uri="http://schemas.openxmlformats.org/drawingml/2006/table">
            <a:tbl>
              <a:tblPr/>
              <a:tblGrid>
                <a:gridCol w="6864350">
                  <a:extLst>
                    <a:ext uri="{9D8B030D-6E8A-4147-A177-3AD203B41FA5}">
                      <a16:colId xmlns:a16="http://schemas.microsoft.com/office/drawing/2014/main" val="1354431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dirty="0">
                          <a:effectLst/>
                        </a:rPr>
                        <a:t>Sound travels fastest in </a:t>
                      </a:r>
                      <a:r>
                        <a:rPr lang="en-AU" sz="2400" b="1" dirty="0">
                          <a:effectLst/>
                        </a:rPr>
                        <a:t>solids</a:t>
                      </a:r>
                      <a:r>
                        <a:rPr lang="en-AU" sz="2400" dirty="0">
                          <a:effectLst/>
                        </a:rPr>
                        <a:t> because they have the </a:t>
                      </a:r>
                      <a:r>
                        <a:rPr lang="en-AU" sz="2400" b="1" dirty="0">
                          <a:solidFill>
                            <a:srgbClr val="00868B"/>
                          </a:solidFill>
                          <a:effectLst/>
                        </a:rPr>
                        <a:t>strongest interactions</a:t>
                      </a:r>
                      <a:r>
                        <a:rPr lang="en-AU" sz="2400" dirty="0">
                          <a:effectLst/>
                        </a:rPr>
                        <a:t> between particles. Strong interactions mean that particles </a:t>
                      </a:r>
                      <a:r>
                        <a:rPr lang="en-AU" sz="2400" b="1" dirty="0">
                          <a:solidFill>
                            <a:srgbClr val="00868B"/>
                          </a:solidFill>
                          <a:effectLst/>
                        </a:rPr>
                        <a:t>respond rapidly to collisions,</a:t>
                      </a:r>
                      <a:r>
                        <a:rPr lang="en-AU" sz="2400" dirty="0">
                          <a:effectLst/>
                        </a:rPr>
                        <a:t> allowing the wave to travel faster.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248186"/>
                  </a:ext>
                </a:extLst>
              </a:tr>
            </a:tbl>
          </a:graphicData>
        </a:graphic>
      </p:graphicFrame>
      <p:pic>
        <p:nvPicPr>
          <p:cNvPr id="3074" name="Picture 2" descr="https://www.educationperfect.com/media/content/Science/1434322547.108111g/1434322541667-1807370867-2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525" y="817433"/>
            <a:ext cx="2949575" cy="294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584199" y="3616393"/>
            <a:ext cx="106298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Sound travels slowest in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gases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because they have the </a:t>
            </a:r>
            <a:r>
              <a:rPr lang="en-AU" sz="2400" b="0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weakest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interactions between particles.</a:t>
            </a:r>
            <a:endParaRPr lang="en-AU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2787" y="4621995"/>
            <a:ext cx="6377338" cy="223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027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5900" y="770741"/>
            <a:ext cx="80518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After phase,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density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medium has the largest effect on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wave speed.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two media are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same phase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have different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densities,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sound will travel at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different speeds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through these two media.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High density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solids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results in sound travelling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more slowly.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is because the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interactions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the neighbouring particles occur more slowly as it requires more energy to move the larger particles. In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gases,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however, higher density often reflects particles being closer together, so sound often travels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faster in denser gases.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0471184.0573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9774" y="1682967"/>
            <a:ext cx="3438525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186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0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1300" y="495638"/>
            <a:ext cx="11709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Humidity can also affect the speed of sound.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Moist air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less dense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dry air, due to lighter molecules, so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sound travels faster at high humidity.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is because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water vapour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less dense than oxygen and nitrogen. However, humidity has very little effect except at high altitudes.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German/1448326026.34631g/1448326030855-4273438351453117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0" y="3238500"/>
            <a:ext cx="4762500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477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4500" y="302736"/>
            <a:ext cx="112903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Temperature also affects the speed of sound.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Warm air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 higher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kinetic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cold air, so the molecules vibrate faster and therefore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sound travels faster.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Images/Content/French/1405459739962-815904235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775" y="24765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5414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6700" y="400735"/>
            <a:ext cx="11201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summary, there are several factors that affect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the speed of sound.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7" y="1014412"/>
            <a:ext cx="11235595" cy="480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010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2300" y="426135"/>
            <a:ext cx="10820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sound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 wave, the same formula is used to calculate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speed of sound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any wave.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613400" y="1257132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3200" b="0" i="1" dirty="0" smtClean="0">
                <a:solidFill>
                  <a:srgbClr val="444444"/>
                </a:solidFill>
                <a:effectLst/>
                <a:latin typeface="KaTeX_Math"/>
              </a:rPr>
              <a:t/>
            </a:r>
            <a:br>
              <a:rPr lang="en-AU" sz="3200" b="0" i="1" dirty="0" smtClean="0">
                <a:solidFill>
                  <a:srgbClr val="444444"/>
                </a:solidFill>
                <a:effectLst/>
                <a:latin typeface="KaTeX_Math"/>
              </a:rPr>
            </a:br>
            <a:r>
              <a:rPr lang="en-AU" sz="3200" b="0" i="1" dirty="0" smtClean="0">
                <a:solidFill>
                  <a:srgbClr val="444444"/>
                </a:solidFill>
                <a:effectLst/>
                <a:latin typeface="KaTeX_Math"/>
              </a:rPr>
              <a:t>v</a:t>
            </a:r>
            <a:r>
              <a:rPr lang="en-AU" sz="3200" b="0" i="0" dirty="0" smtClean="0">
                <a:solidFill>
                  <a:srgbClr val="444444"/>
                </a:solidFill>
                <a:effectLst/>
                <a:latin typeface="KaTeX_Main"/>
              </a:rPr>
              <a:t>=</a:t>
            </a:r>
            <a:r>
              <a:rPr lang="en-AU" sz="3200" b="0" i="1" dirty="0" smtClean="0">
                <a:solidFill>
                  <a:srgbClr val="444444"/>
                </a:solidFill>
                <a:effectLst/>
                <a:latin typeface="KaTeX_Math"/>
              </a:rPr>
              <a:t>f</a:t>
            </a:r>
            <a:r>
              <a:rPr lang="el-GR" sz="3200" b="0" i="1" dirty="0" smtClean="0">
                <a:solidFill>
                  <a:srgbClr val="444444"/>
                </a:solidFill>
                <a:effectLst/>
                <a:latin typeface="KaTeX_Math"/>
              </a:rPr>
              <a:t>λ</a:t>
            </a:r>
            <a:endParaRPr lang="en-AU" sz="3200" dirty="0"/>
          </a:p>
        </p:txBody>
      </p:sp>
      <p:sp>
        <p:nvSpPr>
          <p:cNvPr id="4" name="Rectangle 3"/>
          <p:cNvSpPr/>
          <p:nvPr/>
        </p:nvSpPr>
        <p:spPr>
          <a:xfrm>
            <a:off x="457200" y="2712135"/>
            <a:ext cx="11455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Where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v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speed of sound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Size1"/>
              </a:rPr>
              <a:t>(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ms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Size1"/>
              </a:rPr>
              <a:t>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f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frequency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(Hz)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λ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wavelength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(m)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dirty="0"/>
          </a:p>
        </p:txBody>
      </p:sp>
      <p:pic>
        <p:nvPicPr>
          <p:cNvPr id="6146" name="Picture 2" descr="https://www.educationperfect.com/media/content/Science/1549151460.302581g/1549151459452-1196828348074002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0300" y="3271402"/>
            <a:ext cx="5848350" cy="358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8807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1499"/>
            <a:ext cx="8061325" cy="6111776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956709" y="259834"/>
            <a:ext cx="39737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Calculating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wave velocity.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547598412.398331g/1547598412098-1345211630305579-8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1040" y="4127312"/>
            <a:ext cx="6022465" cy="270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2115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</Words>
  <Application>Microsoft Office PowerPoint</Application>
  <PresentationFormat>Widescreen</PresentationFormat>
  <Paragraphs>33</Paragraphs>
  <Slides>11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KaTeX_Main</vt:lpstr>
      <vt:lpstr>KaTeX_Math</vt:lpstr>
      <vt:lpstr>KaTeX_Size1</vt:lpstr>
      <vt:lpstr>Office Theme</vt:lpstr>
      <vt:lpstr>Speed of Sound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Speed of Sound</dc:title>
  <dc:creator>Joseph D'cruz</dc:creator>
  <cp:lastModifiedBy>Joseph D'cruz</cp:lastModifiedBy>
  <cp:revision>1</cp:revision>
  <dcterms:created xsi:type="dcterms:W3CDTF">2020-08-08T11:49:16Z</dcterms:created>
  <dcterms:modified xsi:type="dcterms:W3CDTF">2020-08-08T11:49:26Z</dcterms:modified>
</cp:coreProperties>
</file>
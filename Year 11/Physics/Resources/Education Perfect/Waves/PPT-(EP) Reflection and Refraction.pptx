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62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5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85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13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0830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12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28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442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0533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61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070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147CD-6540-4079-813D-E89FC64E569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2554A-EB3C-4A6B-9C1A-963C1CFEC0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5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HqYB42WfZk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AivtXJOsiI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Reflection and Refraction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75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560338"/>
            <a:ext cx="11455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 refraction.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phenomena related to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reflection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refraction,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wave model of light.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refraction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 at a boundary between two media.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Geography/1541027067.460241g/1541027066095-306647494136211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600" y="3237994"/>
            <a:ext cx="5257800" cy="3503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828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621437"/>
            <a:ext cx="11226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have all heard of the term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see your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every day in mirrors, glass and other reflective surfaces.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does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to do with waves?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9883101.1861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84600" y="2600325"/>
            <a:ext cx="45720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3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7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417036"/>
            <a:ext cx="11353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 when waves bounce off a surface.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when incident waves at a boundary change direction returning into the same medium according to the law of reflection.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53669831.512681g/1453669834075-309991975609370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74" y="2283327"/>
            <a:ext cx="6232525" cy="457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205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507137"/>
            <a:ext cx="11417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drawing a wave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off a surface, it is easiest to draw an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incident ray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show the direction of the wave.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wave bounces off the surface and is shown by a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reflected ray.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0734758.881481g/1450734759526-40165024001686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7" y="2708274"/>
            <a:ext cx="6511925" cy="3619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681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852438"/>
            <a:ext cx="10655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another important line called 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normal.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 line drawn along 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point at which the incident ray hits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reflects away. It is usually used to help draw a reflection diagram.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normal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always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 </a:t>
            </a:r>
            <a:r>
              <a:rPr lang="en-AU" sz="2400" b="1" i="0" dirty="0" smtClean="0">
                <a:solidFill>
                  <a:srgbClr val="7A21B1"/>
                </a:solidFill>
                <a:effectLst/>
                <a:latin typeface="Arial" panose="020B0604020202020204" pitchFamily="34" charset="0"/>
              </a:rPr>
              <a:t>right 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to the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surface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29967590.110971g/1529967591167-389683462793597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3411537"/>
            <a:ext cx="5143500" cy="32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667435"/>
            <a:ext cx="11290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E3897F"/>
                </a:solidFill>
                <a:effectLst/>
                <a:latin typeface="Arial" panose="020B0604020202020204" pitchFamily="34" charset="0"/>
              </a:rPr>
              <a:t>angle of incidence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angle between the incident ray and 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normal.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29968296.280651g/1529968297284-389683462793597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75" y="2627312"/>
            <a:ext cx="542925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85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137335"/>
            <a:ext cx="11417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E3BB7F"/>
                </a:solidFill>
                <a:effectLst/>
                <a:latin typeface="Arial" panose="020B0604020202020204" pitchFamily="34" charset="0"/>
              </a:rPr>
              <a:t>angle of reflection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angle between the reflected ray and the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normal.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29968499.150441g/1529968500185-389683462793597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4" y="2436812"/>
            <a:ext cx="6677025" cy="374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99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HqYB42WfZk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01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36"/>
            <a:ext cx="12077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Law of Reflection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states that the </a:t>
            </a:r>
            <a:r>
              <a:rPr lang="en-AU" sz="2400" b="1" i="0" dirty="0" smtClean="0">
                <a:solidFill>
                  <a:srgbClr val="E3BB7F"/>
                </a:solidFill>
                <a:effectLst/>
                <a:latin typeface="Arial" panose="020B0604020202020204" pitchFamily="34" charset="0"/>
              </a:rPr>
              <a:t>angle of reflection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equal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sz="2400" b="1" i="0" dirty="0" smtClean="0">
                <a:solidFill>
                  <a:srgbClr val="E3897F"/>
                </a:solidFill>
                <a:effectLst/>
                <a:latin typeface="Arial" panose="020B0604020202020204" pitchFamily="34" charset="0"/>
              </a:rPr>
              <a:t>angle of incidence.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a light ray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reflects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off a mirror at the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same 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it hits the mirror at.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29971003.268151g/1529971004302-3896834627935979-optimis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333" y="2316162"/>
            <a:ext cx="7271034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1509323818.2245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94200" y="3973334"/>
            <a:ext cx="30226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493236"/>
            <a:ext cx="11239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Light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not always reflected from an object - instead, it can sometimes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pass through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 that allow light to move through them are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translucent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transparent.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German/1462663994.083231g/1462664001022-149402045940771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32512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63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80936"/>
            <a:ext cx="11404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 light wave is travelling through affects the speed of that light wave.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different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media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different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densities.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9881476.7574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86100" y="3197225"/>
            <a:ext cx="5499100" cy="299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9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7040"/>
            <a:ext cx="118999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moves through a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medium,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bounces around between the particles of the medium.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reflect, absorb and redirect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essentially, light is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scattered.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scattering means that light takes a lot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longer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get where it needs to go. Its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 medium is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slower than the speed of light.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travels at light speed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particles, but the scattering means that,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overall,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goes slower.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30142160.828141g/1530142164238-312787040790302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899" y="4312692"/>
            <a:ext cx="3355975" cy="239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6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282139"/>
            <a:ext cx="11645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denser medium has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more particles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causes the light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scatter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the particles and </a:t>
            </a:r>
            <a:r>
              <a:rPr lang="en-AU" sz="2400" b="1" i="0" dirty="0" smtClean="0">
                <a:solidFill>
                  <a:srgbClr val="92485E"/>
                </a:solidFill>
                <a:effectLst/>
                <a:latin typeface="Arial" panose="020B0604020202020204" pitchFamily="34" charset="0"/>
              </a:rPr>
              <a:t>slow down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slightly.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vacuum,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space, has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it. This means that there is nothing to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scatter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light and slow it down.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travels </a:t>
            </a:r>
            <a:r>
              <a:rPr lang="en-AU" sz="2400" b="1" i="0" dirty="0" smtClean="0">
                <a:solidFill>
                  <a:srgbClr val="485392"/>
                </a:solidFill>
                <a:effectLst/>
                <a:latin typeface="Arial" panose="020B0604020202020204" pitchFamily="34" charset="0"/>
              </a:rPr>
              <a:t>fastest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vacuum.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338.5918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57550" y="3557587"/>
            <a:ext cx="5867400" cy="330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1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5636"/>
            <a:ext cx="11823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vacuum,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no particles, so light has a </a:t>
            </a:r>
            <a:r>
              <a:rPr lang="en-AU" sz="24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straight path from point to point.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allows it to travel at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speed of light.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not slowed down by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getting in the way.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30142160.828141g/1530142164238-312787040790302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320" y="2717800"/>
            <a:ext cx="5796280" cy="414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163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293638"/>
            <a:ext cx="11734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Light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passing through a dense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like someone trying to run through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a densely crowded area.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still travel at the same speed, but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bouncing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people and moving in random directions means that overall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they take a lot longer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get through.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German/1473900145.620541g/1473900167653-34088327536041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29591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862478" y="3955534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VS</a:t>
            </a:r>
            <a:endParaRPr lang="en-AU" dirty="0"/>
          </a:p>
        </p:txBody>
      </p:sp>
      <p:pic>
        <p:nvPicPr>
          <p:cNvPr id="11268" name="Picture 4" descr="https://www.educationperfect.com/media/content/Science/1479095699.612531g/1479095702872-4075978942227451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9591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633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305138"/>
            <a:ext cx="11544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Waves travelling at different speeds in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different media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have pretty significant effects.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particular, it causes a phenomenon called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refraction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occur.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most easily observed by studying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waves.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7717215.7025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81400" y="2981324"/>
            <a:ext cx="466090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2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100" y="305138"/>
            <a:ext cx="1092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Refraction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waves occurs when the waves pass from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one medium into another.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wavefront meets the boundary at an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other than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there is a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 in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When the wavefront meets the boundary at a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right 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is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change in 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Images/Content/Science/1373323143964-791114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2781300"/>
            <a:ext cx="66770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63600" y="5520035"/>
            <a:ext cx="10985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frequency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change, but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wavelength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waves are changed during refraction.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25502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2318" y="424934"/>
            <a:ext cx="78165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Refraction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seen as a </a:t>
            </a:r>
            <a:r>
              <a:rPr lang="en-AU" sz="28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bending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 rays.</a:t>
            </a:r>
            <a:endParaRPr lang="en-AU" sz="28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089244"/>
              </p:ext>
            </p:extLst>
          </p:nvPr>
        </p:nvGraphicFramePr>
        <p:xfrm>
          <a:off x="692150" y="1257300"/>
          <a:ext cx="6940550" cy="3771900"/>
        </p:xfrm>
        <a:graphic>
          <a:graphicData uri="http://schemas.openxmlformats.org/drawingml/2006/table">
            <a:tbl>
              <a:tblPr/>
              <a:tblGrid>
                <a:gridCol w="6940550">
                  <a:extLst>
                    <a:ext uri="{9D8B030D-6E8A-4147-A177-3AD203B41FA5}">
                      <a16:colId xmlns:a16="http://schemas.microsoft.com/office/drawing/2014/main" val="1146407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It occurs when light </a:t>
                      </a:r>
                      <a:r>
                        <a:rPr lang="en-AU" sz="2400" b="1" dirty="0">
                          <a:effectLst/>
                        </a:rPr>
                        <a:t>travels</a:t>
                      </a:r>
                      <a:r>
                        <a:rPr lang="en-AU" sz="2400" dirty="0">
                          <a:effectLst/>
                        </a:rPr>
                        <a:t> from </a:t>
                      </a:r>
                      <a:r>
                        <a:rPr lang="en-AU" sz="2400" b="1" dirty="0">
                          <a:solidFill>
                            <a:srgbClr val="732DA4"/>
                          </a:solidFill>
                          <a:effectLst/>
                        </a:rPr>
                        <a:t>one medium</a:t>
                      </a:r>
                      <a:r>
                        <a:rPr lang="en-AU" sz="2400" dirty="0">
                          <a:effectLst/>
                        </a:rPr>
                        <a:t> into a medium with a </a:t>
                      </a:r>
                      <a:r>
                        <a:rPr lang="en-AU" sz="2400" b="1" dirty="0">
                          <a:solidFill>
                            <a:srgbClr val="A4372D"/>
                          </a:solidFill>
                          <a:effectLst/>
                        </a:rPr>
                        <a:t>different density.</a:t>
                      </a:r>
                      <a:r>
                        <a:rPr lang="en-AU" sz="2400" dirty="0">
                          <a:effectLst/>
                        </a:rPr>
                        <a:t/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/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/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>We most commonly see this when light travels between air and water.</a:t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/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/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>For example, the pencil in the picture to the right looks </a:t>
                      </a:r>
                      <a:r>
                        <a:rPr lang="en-AU" sz="2400" b="1" dirty="0">
                          <a:solidFill>
                            <a:srgbClr val="21A0B1"/>
                          </a:solidFill>
                          <a:effectLst/>
                        </a:rPr>
                        <a:t>disjointed.</a:t>
                      </a:r>
                      <a:r>
                        <a:rPr lang="en-AU" sz="2400" dirty="0">
                          <a:effectLst/>
                        </a:rPr>
                        <a:t> This is due to </a:t>
                      </a:r>
                      <a:r>
                        <a:rPr lang="en-AU" sz="2400" b="1" dirty="0">
                          <a:solidFill>
                            <a:srgbClr val="00868B"/>
                          </a:solidFill>
                          <a:effectLst/>
                        </a:rPr>
                        <a:t>refraction.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72378"/>
                  </a:ext>
                </a:extLst>
              </a:tr>
            </a:tbl>
          </a:graphicData>
        </a:graphic>
      </p:graphicFrame>
      <p:pic>
        <p:nvPicPr>
          <p:cNvPr id="13314" name="Picture 2" descr="https://www.educationperfect.com/media/content/Science/1439504704.441451g/1439504679392-50809551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13843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405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396439"/>
            <a:ext cx="11531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Refraction.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Refraction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when incident waves at a boundary change direction and speed when passing into another medium according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Snell's law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refraction.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law states that the angle of refraction can be determined from the angle of incidence and the refractive indices of the materials.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5963.5392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05200" y="3074094"/>
            <a:ext cx="53340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6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vtXJOsiI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35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0"/>
            <a:ext cx="11252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 a car to visualise how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light rays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bend when they are refracted.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imagine a car on 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concrete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driving onto </a:t>
            </a:r>
            <a:r>
              <a:rPr lang="en-AU" sz="2400" b="1" i="0" dirty="0" smtClean="0">
                <a:solidFill>
                  <a:srgbClr val="E38E31"/>
                </a:solidFill>
                <a:effectLst/>
                <a:latin typeface="Arial" panose="020B0604020202020204" pitchFamily="34" charset="0"/>
              </a:rPr>
              <a:t>sand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 denser medium) at an angle.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wheel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touches the sand will </a:t>
            </a:r>
            <a:r>
              <a:rPr lang="en-AU" sz="2400" b="1" i="0" dirty="0" smtClean="0">
                <a:solidFill>
                  <a:srgbClr val="92485E"/>
                </a:solidFill>
                <a:effectLst/>
                <a:latin typeface="Arial" panose="020B0604020202020204" pitchFamily="34" charset="0"/>
              </a:rPr>
              <a:t>slow down,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other wheels travel at the </a:t>
            </a:r>
            <a:r>
              <a:rPr lang="en-AU" sz="2400" b="1" i="0" dirty="0" smtClean="0">
                <a:solidFill>
                  <a:srgbClr val="485E92"/>
                </a:solidFill>
                <a:effectLst/>
                <a:latin typeface="Arial" panose="020B0604020202020204" pitchFamily="34" charset="0"/>
              </a:rPr>
              <a:t>same speed.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 one wheel going slowly, the car will turn towards the slow wheel. This causes the car to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change direction.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0068645.2217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25900" y="3133724"/>
            <a:ext cx="49657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6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7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0138"/>
            <a:ext cx="11938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similar thing happens when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light rays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 into a different medium.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light ray travels into a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denser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medium, it will bend.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 light ray travels </a:t>
            </a:r>
            <a:r>
              <a:rPr lang="en-AU" sz="2400" b="1" i="0" dirty="0" smtClean="0">
                <a:solidFill>
                  <a:srgbClr val="E37FA7"/>
                </a:solidFill>
                <a:effectLst/>
                <a:latin typeface="Arial" panose="020B0604020202020204" pitchFamily="34" charset="0"/>
              </a:rPr>
              <a:t>slower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new medium.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Images/Content/Maths/1372108312780-78154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2519362"/>
            <a:ext cx="3810000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454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557937"/>
            <a:ext cx="1092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ray diagrams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demonstrate how light bends when it passes through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different mediums.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E37FA7"/>
                </a:solidFill>
                <a:effectLst/>
                <a:latin typeface="Arial" panose="020B0604020202020204" pitchFamily="34" charset="0"/>
              </a:rPr>
              <a:t>normal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imaginary line that runs at a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o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angle to the boundary of the media. It is usually represented with a dotted line.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439680561.576081g/1439680558711-26909366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3271837"/>
            <a:ext cx="5638800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398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36"/>
            <a:ext cx="11531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ray that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approaches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place where two mediums meet is called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incident ray.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ray that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called the </a:t>
            </a:r>
            <a:r>
              <a:rPr lang="en-AU" sz="2400" b="1" i="0" dirty="0" smtClean="0">
                <a:solidFill>
                  <a:srgbClr val="4A008B"/>
                </a:solidFill>
                <a:effectLst/>
                <a:latin typeface="Arial" panose="020B0604020202020204" pitchFamily="34" charset="0"/>
              </a:rPr>
              <a:t>refracted ray.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439518028.468081g/1439518024689-69148814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7" y="2382837"/>
            <a:ext cx="6753225" cy="340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970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617835"/>
            <a:ext cx="11315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diagram below shows how the light ray bends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towards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E37FA7"/>
                </a:solidFill>
                <a:effectLst/>
                <a:latin typeface="Arial" panose="020B0604020202020204" pitchFamily="34" charset="0"/>
              </a:rPr>
              <a:t>normal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travels from air into water.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439518028.468081g/1439518024689-69148814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337" y="1544637"/>
            <a:ext cx="6753225" cy="340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1828800" y="4945063"/>
            <a:ext cx="934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This happens because water is denser than air and so the wave slows.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10333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586939"/>
            <a:ext cx="110617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light ray travels into a </a:t>
            </a:r>
            <a:r>
              <a:rPr lang="en-AU" sz="2400" b="1" i="1" dirty="0" smtClean="0">
                <a:solidFill>
                  <a:srgbClr val="B121A0"/>
                </a:solidFill>
                <a:effectLst/>
                <a:latin typeface="Arial" panose="020B0604020202020204" pitchFamily="34" charset="0"/>
              </a:rPr>
              <a:t>less</a:t>
            </a:r>
            <a:r>
              <a:rPr lang="en-AU" sz="2400" b="1" i="0" dirty="0" smtClean="0">
                <a:solidFill>
                  <a:srgbClr val="B121A0"/>
                </a:solidFill>
                <a:effectLst/>
                <a:latin typeface="Arial" panose="020B0604020202020204" pitchFamily="34" charset="0"/>
              </a:rPr>
              <a:t> dense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medium, it travels </a:t>
            </a:r>
            <a:r>
              <a:rPr lang="en-AU" sz="2400" b="1" i="0" dirty="0" smtClean="0">
                <a:solidFill>
                  <a:srgbClr val="BB7FE3"/>
                </a:solidFill>
                <a:effectLst/>
                <a:latin typeface="Arial" panose="020B0604020202020204" pitchFamily="34" charset="0"/>
              </a:rPr>
              <a:t>away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normal.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 ray travels </a:t>
            </a:r>
            <a:r>
              <a:rPr lang="en-AU" sz="2400" b="1" i="0" dirty="0" smtClean="0">
                <a:solidFill>
                  <a:srgbClr val="485E92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new medium.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travels from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sz="2400" b="1" i="0" dirty="0" smtClean="0">
                <a:solidFill>
                  <a:srgbClr val="7979C8"/>
                </a:solidFill>
                <a:effectLst/>
                <a:latin typeface="Arial" panose="020B0604020202020204" pitchFamily="34" charset="0"/>
              </a:rPr>
              <a:t>glass,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bends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towards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normal as it </a:t>
            </a:r>
            <a:r>
              <a:rPr lang="en-AU" sz="2400" b="1" i="0" dirty="0" smtClean="0">
                <a:solidFill>
                  <a:srgbClr val="92485E"/>
                </a:solidFill>
                <a:effectLst/>
                <a:latin typeface="Arial" panose="020B0604020202020204" pitchFamily="34" charset="0"/>
              </a:rPr>
              <a:t>slows down.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light leaves the </a:t>
            </a:r>
            <a:r>
              <a:rPr lang="en-AU" sz="2400" b="1" i="0" dirty="0" smtClean="0">
                <a:solidFill>
                  <a:srgbClr val="7979C8"/>
                </a:solidFill>
                <a:effectLst/>
                <a:latin typeface="Arial" panose="020B0604020202020204" pitchFamily="34" charset="0"/>
              </a:rPr>
              <a:t>glass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enters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again, the ray bends </a:t>
            </a:r>
            <a:r>
              <a:rPr lang="en-AU" sz="2400" b="1" i="0" dirty="0" smtClean="0">
                <a:solidFill>
                  <a:srgbClr val="BB7FE3"/>
                </a:solidFill>
                <a:effectLst/>
                <a:latin typeface="Arial" panose="020B0604020202020204" pitchFamily="34" charset="0"/>
              </a:rPr>
              <a:t>away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normal because it can </a:t>
            </a:r>
            <a:r>
              <a:rPr lang="en-AU" sz="2400" b="1" i="0" dirty="0" smtClean="0">
                <a:solidFill>
                  <a:srgbClr val="485E92"/>
                </a:solidFill>
                <a:effectLst/>
                <a:latin typeface="Arial" panose="020B0604020202020204" pitchFamily="34" charset="0"/>
              </a:rPr>
              <a:t>travel faster.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30143045.795881g/1530143049302-312787040790302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399" y="3633927"/>
            <a:ext cx="5680075" cy="3408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432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" y="224135"/>
            <a:ext cx="11722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diagram below shows how a light ray bends away from the normal as it travels from </a:t>
            </a:r>
            <a:r>
              <a:rPr lang="en-AU" sz="2400" b="1" i="0" dirty="0" smtClean="0">
                <a:solidFill>
                  <a:srgbClr val="2770C7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air.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media/content/Science/1452628616.422231g/1452628617235-37777747569969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192212"/>
            <a:ext cx="592455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130300" y="4540935"/>
            <a:ext cx="10045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This happens because air is less dense than water.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5316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</Words>
  <Application>Microsoft Office PowerPoint</Application>
  <PresentationFormat>Widescreen</PresentationFormat>
  <Paragraphs>96</Paragraphs>
  <Slides>28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KaTeX_Main</vt:lpstr>
      <vt:lpstr>Office Theme</vt:lpstr>
      <vt:lpstr>Reflection and Refraction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and Refraction</dc:title>
  <dc:creator>Joseph D'cruz</dc:creator>
  <cp:lastModifiedBy>Joseph D'cruz</cp:lastModifiedBy>
  <cp:revision>2</cp:revision>
  <dcterms:created xsi:type="dcterms:W3CDTF">2020-08-08T11:23:32Z</dcterms:created>
  <dcterms:modified xsi:type="dcterms:W3CDTF">2020-08-08T11:28:12Z</dcterms:modified>
</cp:coreProperties>
</file>
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78CCC-14F5-43E2-A231-DD57B6491C48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0D8F3-2F85-4001-8EBC-F21AC20D6C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5104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78CCC-14F5-43E2-A231-DD57B6491C48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0D8F3-2F85-4001-8EBC-F21AC20D6C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742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78CCC-14F5-43E2-A231-DD57B6491C48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0D8F3-2F85-4001-8EBC-F21AC20D6C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1714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78CCC-14F5-43E2-A231-DD57B6491C48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0D8F3-2F85-4001-8EBC-F21AC20D6C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097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78CCC-14F5-43E2-A231-DD57B6491C48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0D8F3-2F85-4001-8EBC-F21AC20D6C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4162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78CCC-14F5-43E2-A231-DD57B6491C48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0D8F3-2F85-4001-8EBC-F21AC20D6C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7275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78CCC-14F5-43E2-A231-DD57B6491C48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0D8F3-2F85-4001-8EBC-F21AC20D6C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9005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78CCC-14F5-43E2-A231-DD57B6491C48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0D8F3-2F85-4001-8EBC-F21AC20D6C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7045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78CCC-14F5-43E2-A231-DD57B6491C48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0D8F3-2F85-4001-8EBC-F21AC20D6C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0722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78CCC-14F5-43E2-A231-DD57B6491C48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0D8F3-2F85-4001-8EBC-F21AC20D6C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3473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78CCC-14F5-43E2-A231-DD57B6491C48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0D8F3-2F85-4001-8EBC-F21AC20D6C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4818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78CCC-14F5-43E2-A231-DD57B6491C48}" type="datetimeFigureOut">
              <a:rPr lang="en-AU" smtClean="0"/>
              <a:t>4/09/2020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0D8F3-2F85-4001-8EBC-F21AC20D6C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3726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Refraction of Light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6088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519837"/>
            <a:ext cx="110871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lesson, you should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refraction of light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it changes between different mediums.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relationship between </a:t>
            </a: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refractive index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speed of light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medium.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dispersion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white light.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94007219.533741g/1594007219430-145982570539404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950" y="2336800"/>
            <a:ext cx="6533650" cy="4339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571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400" y="401241"/>
            <a:ext cx="11493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might not think of it, but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refraction of light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many applications in everyday life.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Have you ever been to a swimming pool, and noticed that people swimming under the water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seem to be in a different position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they actually are? Or put a straw in a glass of water and seen it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appear to bend?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That’s refraction.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Refraction enables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optical lenses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such as glasses, binoculars and microscopes to function. It is also responsible for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natural phenomena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such as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rainbows and mirages.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English%20&amp;%20Literature/1594007360.726881g/1594007360680-30868782245605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200" y="3227381"/>
            <a:ext cx="4781550" cy="3189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087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18344"/>
            <a:ext cx="11531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Light will bend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it changes mediums.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medium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this context is any substance through which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light can travel.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change in medium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could involve light passing from air to glass, or water, or crystal</a:t>
            </a:r>
            <a:r>
              <a:rPr lang="en-AU" b="0" i="0" dirty="0" smtClean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—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or going in the other direction (i.e. from water to air).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can see an obvious example of this when you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place a straw in a glass of water.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submerged part of the straw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appears disconnected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top. What you are seeing is refraction. The light reflected from the straw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bends a different amount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it passes from water to glass compared to when it passes from glass to air. Thus, the bottom of the straw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seems to be at a different angle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top.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endParaRPr lang="en-AU" dirty="0"/>
          </a:p>
        </p:txBody>
      </p:sp>
      <p:pic>
        <p:nvPicPr>
          <p:cNvPr id="3074" name="Picture 2" descr="https://www.educationperfect.com/media/content/Science/1594007515.843721g/1594007515789-30868782245605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412" y="3457665"/>
            <a:ext cx="4422775" cy="2927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754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96439"/>
            <a:ext cx="11353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Refraction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caused by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change in the speed of light.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often talk about the speed of light as being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3.00×108 m s−1,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however light only travels 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3.00×108 m s−1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in a vacuum.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light travels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through a medium,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travels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slower.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speed of light is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different for each medium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light travels through, but it is always less than the speed of light in a vacuum. For example, the speed of light in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water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only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2.25×108 m s−1.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94605685.861361g/1594605686002-126831284012338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863151"/>
            <a:ext cx="5270500" cy="351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1243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0" y="156339"/>
            <a:ext cx="11734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an analogy, imagine a car driving from </a:t>
            </a:r>
            <a:r>
              <a:rPr lang="en-AU" b="1" i="0" dirty="0" smtClean="0">
                <a:solidFill>
                  <a:srgbClr val="F3290C"/>
                </a:solidFill>
                <a:effectLst/>
                <a:latin typeface="Arial" panose="020B0604020202020204" pitchFamily="34" charset="0"/>
              </a:rPr>
              <a:t>concrete onto sand.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Sand is </a:t>
            </a:r>
            <a:r>
              <a:rPr lang="en-AU" b="1" i="0" dirty="0" smtClean="0">
                <a:solidFill>
                  <a:srgbClr val="F3290C"/>
                </a:solidFill>
                <a:effectLst/>
                <a:latin typeface="Arial" panose="020B0604020202020204" pitchFamily="34" charset="0"/>
              </a:rPr>
              <a:t>harder to drive 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concrete, so it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slows the car down.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the car drives in a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straight line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one to the other, it will slow down but not change direction.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Remember, 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normal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line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perpendicular to the boundary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two mediums. The car, then, is travelling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parallel to the normal.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94617755.846111g/1594617755612-429753901628114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402" y="2730499"/>
            <a:ext cx="5426698" cy="3618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8111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148441"/>
            <a:ext cx="11303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Something different happens if the car drives onto the sand </a:t>
            </a:r>
            <a:r>
              <a:rPr lang="en-AU" b="1" i="0" dirty="0" smtClean="0">
                <a:solidFill>
                  <a:srgbClr val="F3290C"/>
                </a:solidFill>
                <a:effectLst/>
                <a:latin typeface="Arial" panose="020B0604020202020204" pitchFamily="34" charset="0"/>
              </a:rPr>
              <a:t>at an angle.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 wheel will hit the sand first, and it will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slow down before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rest of the car. The car must remain as one moving object (driving onto a different surface will not make your car fall apart), so the body of the car will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rotate around that wheel.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Thus, as the car passes onto the sand it will </a:t>
            </a:r>
            <a:r>
              <a:rPr lang="en-AU" b="1" i="0" dirty="0" smtClean="0">
                <a:solidFill>
                  <a:srgbClr val="F3290C"/>
                </a:solidFill>
                <a:effectLst/>
                <a:latin typeface="Arial" panose="020B0604020202020204" pitchFamily="34" charset="0"/>
              </a:rPr>
              <a:t>change direction, towards the normal. 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 car </a:t>
            </a:r>
            <a:r>
              <a:rPr lang="en-AU" b="1" i="0" dirty="0" smtClean="0">
                <a:solidFill>
                  <a:srgbClr val="F3290C"/>
                </a:solidFill>
                <a:effectLst/>
                <a:latin typeface="Arial" panose="020B0604020202020204" pitchFamily="34" charset="0"/>
              </a:rPr>
              <a:t>drives back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sand onto concrete, the opposite will occur. One wheel will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speed up before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others, and the car will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rotate back in the other direction.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30068627.936781f/1530068629829-3164763247038707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712" y="3166268"/>
            <a:ext cx="4295775" cy="3221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182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400" y="135741"/>
            <a:ext cx="11785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same way as the car,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 in which light bends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depends on whether it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slows down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speeds up.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light changes mediums and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slows down,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will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bend towards the normal.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light changes mediums and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speeds up,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will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bend away from the normal.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Refraction only occurs if light hits the boundary of a medium with an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angle of incidence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is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greater than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KaTeX_Main"/>
              </a:rPr>
              <a:t>0∘.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the incident ray travels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parallel to the normal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(as when the car drives straight at the sand),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no refraction will occur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light ray will not bend.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95802503.017651g/1595802508073-279273675060543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299" y="3154362"/>
            <a:ext cx="8296275" cy="3154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5987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49640"/>
            <a:ext cx="111887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light changes mediums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frequency of the light remains constant.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But what happens to the wavelength? We know from the wave equation that 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v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b="0" i="1" dirty="0" err="1" smtClean="0">
                <a:solidFill>
                  <a:srgbClr val="444444"/>
                </a:solidFill>
                <a:effectLst/>
                <a:latin typeface="KaTeX_Math"/>
              </a:rPr>
              <a:t>fλ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;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speed is changing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frequency is constant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then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wavelength of light must change!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as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speed decreases,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wavelength also decreases.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as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speed increases,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wavelength also increases.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Digital%20Technology/1535320896.699371g/1535320896678-225015264722201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012" y="2661848"/>
            <a:ext cx="5857875" cy="4196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2925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900" y="452041"/>
            <a:ext cx="11557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striking example of refraction is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position of objects underwater.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you look at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fish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air above its pond,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true position is deeper than it appears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you. The light rays reflected from the fish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speed up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they pass from water to air, so they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refract (bend) away from the normal.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the rays reach your eyes at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shallower angle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they left the fish. Your eyes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interpret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angle as its true position. If you then try to catch the fish, you might be surprised to find that it is not where you thought it was.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94095212.000831g/1594095212308-597335755769239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3162" y="3190876"/>
            <a:ext cx="5070475" cy="297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708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4200" y="402441"/>
            <a:ext cx="110617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So, how can we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predict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way light will refract?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absolute refractive index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(denoted by 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is a measure 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how much light is slowed down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a material,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relative to its speed in a vacuum.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the refractive index is a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ratio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doesn’t have a unit!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speed of light is highest in vacuum.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Every material slows light down. Thus, vacuum is used as 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standard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which every other refractive index is calculated. The absolute refractive index of a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vacuum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1,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since the speed of light in a vacuum relative to the vacuum is the same.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594605671.966161g/1594605672099-126831284012338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812" y="3466722"/>
            <a:ext cx="4308475" cy="287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3405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300" y="355243"/>
            <a:ext cx="11150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amount that light is slowed down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depends on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density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material; a denser medium will slow light down more than a less dense one.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medium with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higher density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(and a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higher refractive index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than the medium the light comes from will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slow light down,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it will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bend towards the normal.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medium with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lower density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(lower refractive index)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speed light up,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it will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bend away from the normal.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light will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always slow down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it enters a medium from vacuum, thus the refractive index of a material is always greater than 1. Since a vacuum has 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lowest possible density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(and thus the highest possible speed of light), light always slows down when leaving a vacuum.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594605709.01421g/1594605709147-126831284012338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812" y="3621856"/>
            <a:ext cx="4473575" cy="2961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9647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406043"/>
            <a:ext cx="11557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Historically, scientists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couldn’t measure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speed of light in different mediums.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they could still use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refractive indices.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Any given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pair of materials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bend light by a different,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constant amount.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relative refractive index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between the two materials can be calculated from this.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relative refractive index is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ratio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speed of light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one material and the speed of light in another, where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neither material is a vacuum.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the ratio between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water and vacuum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absolute refractive index of water. The ratio between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water and air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relative refractive index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these two substances.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Geography/1524016047.649131g/1524016047601-147254626863830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600" y="3701676"/>
            <a:ext cx="3860800" cy="2838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2100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300" y="417543"/>
            <a:ext cx="11658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(absolute) refractive index of a substance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depends on its density.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air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a refractive index of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1.0003,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light travels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only slightly slower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air than in a vacuum. Using a refractive index (RI) of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sufficiently accurate for most situations.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table below gives some examples of the speed of light and refractive index of different substances. Note that as RI is a measure 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how much light slows down,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slower speed of light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correlates to a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higher RI.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material through which light travels at half its speed in a vacuum would have an RI of 2.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100" y="2847975"/>
            <a:ext cx="4940300" cy="397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673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411540"/>
            <a:ext cx="11353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F3290C"/>
                </a:solidFill>
                <a:effectLst/>
                <a:latin typeface="Arial" panose="020B0604020202020204" pitchFamily="34" charset="0"/>
              </a:rPr>
              <a:t>Colours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correspond to different wavelengths of light.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possible wavelengths of light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vary continuously,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the colours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grade into each other,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you can see in the spectrum below. </a:t>
            </a:r>
            <a:r>
              <a:rPr lang="en-AU" b="1" i="0" dirty="0" smtClean="0">
                <a:solidFill>
                  <a:srgbClr val="F3290C"/>
                </a:solidFill>
                <a:effectLst/>
                <a:latin typeface="Arial" panose="020B0604020202020204" pitchFamily="34" charset="0"/>
              </a:rPr>
              <a:t>Red light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the </a:t>
            </a:r>
            <a:r>
              <a:rPr lang="en-AU" b="1" i="0" dirty="0" smtClean="0">
                <a:solidFill>
                  <a:srgbClr val="F3290C"/>
                </a:solidFill>
                <a:effectLst/>
                <a:latin typeface="Arial" panose="020B0604020202020204" pitchFamily="34" charset="0"/>
              </a:rPr>
              <a:t>longest wavelength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can see, and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violet light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shortest wavelength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can see.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White light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light that is composed of the </a:t>
            </a:r>
            <a:r>
              <a:rPr lang="en-AU" b="1" i="0" dirty="0" smtClean="0">
                <a:solidFill>
                  <a:srgbClr val="F3290C"/>
                </a:solidFill>
                <a:effectLst/>
                <a:latin typeface="Arial" panose="020B0604020202020204" pitchFamily="34" charset="0"/>
              </a:rPr>
              <a:t>whole visible spectrum;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white is not a colour, but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mixture of all colours.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594010106.154871g/1594010105923-2520644094681188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975619"/>
            <a:ext cx="7785100" cy="3488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2935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3441"/>
            <a:ext cx="11696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F3290C"/>
                </a:solidFill>
                <a:effectLst/>
                <a:latin typeface="Arial" panose="020B0604020202020204" pitchFamily="34" charset="0"/>
              </a:rPr>
              <a:t>Each colour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light has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different refractive index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given substance.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if white light is shone into a different medium, </a:t>
            </a:r>
            <a:r>
              <a:rPr lang="en-AU" b="1" i="0" dirty="0" smtClean="0">
                <a:solidFill>
                  <a:srgbClr val="F3290C"/>
                </a:solidFill>
                <a:effectLst/>
                <a:latin typeface="Arial" panose="020B0604020202020204" pitchFamily="34" charset="0"/>
              </a:rPr>
              <a:t>each colour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refract at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slightly different angle.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These varying angles will cause the light to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split into its component colours,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producing a spectrum. This is called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dispersion.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most circumstances this effect is very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subtle,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occasionally visible, for example, as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faint rainbows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around the edges of a glass. In some instances, though, it can be </a:t>
            </a:r>
            <a:r>
              <a:rPr lang="en-AU" b="1" i="0" dirty="0" smtClean="0">
                <a:solidFill>
                  <a:srgbClr val="F3290C"/>
                </a:solidFill>
                <a:effectLst/>
                <a:latin typeface="Arial" panose="020B0604020202020204" pitchFamily="34" charset="0"/>
              </a:rPr>
              <a:t>spectacular.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8" name="Picture 2" descr="https://www.educationperfect.com/media/content/Science/1594007635.671421g/1594007635530-30868782245605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075" y="3201956"/>
            <a:ext cx="4857750" cy="3240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5442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5100" y="0"/>
            <a:ext cx="11772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 narrow beam of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white light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pointed at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glass triangular prism,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spreads into a rainbow.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the light </a:t>
            </a:r>
            <a:r>
              <a:rPr lang="en-AU" b="1" i="0" dirty="0" smtClean="0">
                <a:solidFill>
                  <a:srgbClr val="F3290C"/>
                </a:solidFill>
                <a:effectLst/>
                <a:latin typeface="Arial" panose="020B0604020202020204" pitchFamily="34" charset="0"/>
              </a:rPr>
              <a:t>enters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prism, it is </a:t>
            </a:r>
            <a:r>
              <a:rPr lang="en-AU" b="1" i="0" dirty="0" smtClean="0">
                <a:solidFill>
                  <a:srgbClr val="F3290C"/>
                </a:solidFill>
                <a:effectLst/>
                <a:latin typeface="Arial" panose="020B0604020202020204" pitchFamily="34" charset="0"/>
              </a:rPr>
              <a:t>refracted towards the normal.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it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leaves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prism, it is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refracted away from the normal.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colour refracts at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different angle,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the overall effect is that the rays of different colours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spread out.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Colours with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shorter wavelengths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(the blue end of the spectrum) will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bend more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those with </a:t>
            </a:r>
            <a:r>
              <a:rPr lang="en-AU" b="1" i="0" dirty="0" smtClean="0">
                <a:solidFill>
                  <a:srgbClr val="F3290C"/>
                </a:solidFill>
                <a:effectLst/>
                <a:latin typeface="Arial" panose="020B0604020202020204" pitchFamily="34" charset="0"/>
              </a:rPr>
              <a:t>longer wavelengths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(the red end). The result is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continuous spectrum.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2" name="Picture 2" descr="https://www.educationperfect.com/media/content/Science/1594691710.570161g/1594691710659-326834985773944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372320"/>
            <a:ext cx="5105400" cy="2585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https://www.educationperfect.com/media/content/Science/1594009300.26691g/1594009299999-252064409468118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399" y="2679700"/>
            <a:ext cx="3857278" cy="3857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8372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57266" y="374134"/>
            <a:ext cx="5737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Why does this not occur with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rectangular prism?</a:t>
            </a:r>
            <a:endParaRPr lang="en-AU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0200" y="910441"/>
            <a:ext cx="11099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Unlike in a triangular prism, in a rectangular prism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normal is at the same angle on both sides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prism.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light entering the prism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refracts towards the normal.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colours all refract at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different angles,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the difference is slight and not readily observable. And when the rays leave the prism, they refract away from the normal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by exactly the same amount.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Thus, they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recombined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 a beam of white light travelling out the other side of the prism at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same angle as they entered.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order for dispersion to occur, the angles at each side of the prism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must be different.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387" name="Picture 3" descr="https://www.educationperfect.com/media/content/Science/1594691764.998281g/1594691765154-326834985773944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787" y="3555314"/>
            <a:ext cx="5840413" cy="2961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0745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Office PowerPoint</Application>
  <PresentationFormat>Widescreen</PresentationFormat>
  <Paragraphs>89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KaTeX_Main</vt:lpstr>
      <vt:lpstr>KaTeX_Math</vt:lpstr>
      <vt:lpstr>Office Theme</vt:lpstr>
      <vt:lpstr>Refraction of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Refraction of Light</dc:title>
  <dc:creator>Joseph D'cruz</dc:creator>
  <cp:lastModifiedBy>Joseph D'cruz</cp:lastModifiedBy>
  <cp:revision>1</cp:revision>
  <dcterms:created xsi:type="dcterms:W3CDTF">2020-09-04T13:01:55Z</dcterms:created>
  <dcterms:modified xsi:type="dcterms:W3CDTF">2020-09-04T13:02:12Z</dcterms:modified>
</cp:coreProperties>
</file>
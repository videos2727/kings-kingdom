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C9A61EE-818F-4741-8DD2-31E14715AAF6}"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C27E41A-5B48-4312-8D1C-CE10B419EA8C}" type="slidenum">
              <a:rPr lang="en-AU" smtClean="0"/>
              <a:t>‹#›</a:t>
            </a:fld>
            <a:endParaRPr lang="en-AU"/>
          </a:p>
        </p:txBody>
      </p:sp>
    </p:spTree>
    <p:extLst>
      <p:ext uri="{BB962C8B-B14F-4D97-AF65-F5344CB8AC3E}">
        <p14:creationId xmlns:p14="http://schemas.microsoft.com/office/powerpoint/2010/main" val="948134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C9A61EE-818F-4741-8DD2-31E14715AAF6}"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C27E41A-5B48-4312-8D1C-CE10B419EA8C}" type="slidenum">
              <a:rPr lang="en-AU" smtClean="0"/>
              <a:t>‹#›</a:t>
            </a:fld>
            <a:endParaRPr lang="en-AU"/>
          </a:p>
        </p:txBody>
      </p:sp>
    </p:spTree>
    <p:extLst>
      <p:ext uri="{BB962C8B-B14F-4D97-AF65-F5344CB8AC3E}">
        <p14:creationId xmlns:p14="http://schemas.microsoft.com/office/powerpoint/2010/main" val="593988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C9A61EE-818F-4741-8DD2-31E14715AAF6}"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C27E41A-5B48-4312-8D1C-CE10B419EA8C}" type="slidenum">
              <a:rPr lang="en-AU" smtClean="0"/>
              <a:t>‹#›</a:t>
            </a:fld>
            <a:endParaRPr lang="en-AU"/>
          </a:p>
        </p:txBody>
      </p:sp>
    </p:spTree>
    <p:extLst>
      <p:ext uri="{BB962C8B-B14F-4D97-AF65-F5344CB8AC3E}">
        <p14:creationId xmlns:p14="http://schemas.microsoft.com/office/powerpoint/2010/main" val="4117972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C9A61EE-818F-4741-8DD2-31E14715AAF6}" type="datetimeFigureOut">
              <a:rPr lang="en-AU" smtClean="0"/>
              <a:t>8/08/2020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C27E41A-5B48-4312-8D1C-CE10B419EA8C}" type="slidenum">
              <a:rPr lang="en-AU" smtClean="0"/>
              <a:t>‹#›</a:t>
            </a:fld>
            <a:endParaRPr lang="en-AU"/>
          </a:p>
        </p:txBody>
      </p:sp>
    </p:spTree>
    <p:extLst>
      <p:ext uri="{BB962C8B-B14F-4D97-AF65-F5344CB8AC3E}">
        <p14:creationId xmlns:p14="http://schemas.microsoft.com/office/powerpoint/2010/main" val="3912778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C9A61EE-818F-4741-8DD2-31E14715AAF6}" type="datetimeFigureOut">
              <a:rPr lang="en-AU" smtClean="0"/>
              <a:t>8/08/2020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DC27E41A-5B48-4312-8D1C-CE10B419EA8C}" type="slidenum">
              <a:rPr lang="en-AU" smtClean="0"/>
              <a:t>‹#›</a:t>
            </a:fld>
            <a:endParaRPr lang="en-AU"/>
          </a:p>
        </p:txBody>
      </p:sp>
    </p:spTree>
    <p:extLst>
      <p:ext uri="{BB962C8B-B14F-4D97-AF65-F5344CB8AC3E}">
        <p14:creationId xmlns:p14="http://schemas.microsoft.com/office/powerpoint/2010/main" val="1620804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C9A61EE-818F-4741-8DD2-31E14715AAF6}" type="datetimeFigureOut">
              <a:rPr lang="en-AU" smtClean="0"/>
              <a:t>8/08/2020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C27E41A-5B48-4312-8D1C-CE10B419EA8C}" type="slidenum">
              <a:rPr lang="en-AU" smtClean="0"/>
              <a:t>‹#›</a:t>
            </a:fld>
            <a:endParaRPr lang="en-AU"/>
          </a:p>
        </p:txBody>
      </p:sp>
    </p:spTree>
    <p:extLst>
      <p:ext uri="{BB962C8B-B14F-4D97-AF65-F5344CB8AC3E}">
        <p14:creationId xmlns:p14="http://schemas.microsoft.com/office/powerpoint/2010/main" val="204738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9A61EE-818F-4741-8DD2-31E14715AAF6}" type="datetimeFigureOut">
              <a:rPr lang="en-AU" smtClean="0"/>
              <a:t>8/08/2020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DC27E41A-5B48-4312-8D1C-CE10B419EA8C}" type="slidenum">
              <a:rPr lang="en-AU" smtClean="0"/>
              <a:t>‹#›</a:t>
            </a:fld>
            <a:endParaRPr lang="en-AU"/>
          </a:p>
        </p:txBody>
      </p:sp>
    </p:spTree>
    <p:extLst>
      <p:ext uri="{BB962C8B-B14F-4D97-AF65-F5344CB8AC3E}">
        <p14:creationId xmlns:p14="http://schemas.microsoft.com/office/powerpoint/2010/main" val="558451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C9A61EE-818F-4741-8DD2-31E14715AAF6}" type="datetimeFigureOut">
              <a:rPr lang="en-AU" smtClean="0"/>
              <a:t>8/08/2020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C27E41A-5B48-4312-8D1C-CE10B419EA8C}" type="slidenum">
              <a:rPr lang="en-AU" smtClean="0"/>
              <a:t>‹#›</a:t>
            </a:fld>
            <a:endParaRPr lang="en-AU"/>
          </a:p>
        </p:txBody>
      </p:sp>
    </p:spTree>
    <p:extLst>
      <p:ext uri="{BB962C8B-B14F-4D97-AF65-F5344CB8AC3E}">
        <p14:creationId xmlns:p14="http://schemas.microsoft.com/office/powerpoint/2010/main" val="1405573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C9A61EE-818F-4741-8DD2-31E14715AAF6}" type="datetimeFigureOut">
              <a:rPr lang="en-AU" smtClean="0"/>
              <a:t>8/08/2020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C27E41A-5B48-4312-8D1C-CE10B419EA8C}" type="slidenum">
              <a:rPr lang="en-AU" smtClean="0"/>
              <a:t>‹#›</a:t>
            </a:fld>
            <a:endParaRPr lang="en-AU"/>
          </a:p>
        </p:txBody>
      </p:sp>
    </p:spTree>
    <p:extLst>
      <p:ext uri="{BB962C8B-B14F-4D97-AF65-F5344CB8AC3E}">
        <p14:creationId xmlns:p14="http://schemas.microsoft.com/office/powerpoint/2010/main" val="1199126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C9A61EE-818F-4741-8DD2-31E14715AAF6}"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C27E41A-5B48-4312-8D1C-CE10B419EA8C}" type="slidenum">
              <a:rPr lang="en-AU" smtClean="0"/>
              <a:t>‹#›</a:t>
            </a:fld>
            <a:endParaRPr lang="en-AU"/>
          </a:p>
        </p:txBody>
      </p:sp>
    </p:spTree>
    <p:extLst>
      <p:ext uri="{BB962C8B-B14F-4D97-AF65-F5344CB8AC3E}">
        <p14:creationId xmlns:p14="http://schemas.microsoft.com/office/powerpoint/2010/main" val="65771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C9A61EE-818F-4741-8DD2-31E14715AAF6}"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C27E41A-5B48-4312-8D1C-CE10B419EA8C}" type="slidenum">
              <a:rPr lang="en-AU" smtClean="0"/>
              <a:t>‹#›</a:t>
            </a:fld>
            <a:endParaRPr lang="en-AU"/>
          </a:p>
        </p:txBody>
      </p:sp>
    </p:spTree>
    <p:extLst>
      <p:ext uri="{BB962C8B-B14F-4D97-AF65-F5344CB8AC3E}">
        <p14:creationId xmlns:p14="http://schemas.microsoft.com/office/powerpoint/2010/main" val="2479753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9A61EE-818F-4741-8DD2-31E14715AAF6}" type="datetimeFigureOut">
              <a:rPr lang="en-AU" smtClean="0"/>
              <a:t>8/08/2020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27E41A-5B48-4312-8D1C-CE10B419EA8C}" type="slidenum">
              <a:rPr lang="en-AU" smtClean="0"/>
              <a:t>‹#›</a:t>
            </a:fld>
            <a:endParaRPr lang="en-AU"/>
          </a:p>
        </p:txBody>
      </p:sp>
    </p:spTree>
    <p:extLst>
      <p:ext uri="{BB962C8B-B14F-4D97-AF65-F5344CB8AC3E}">
        <p14:creationId xmlns:p14="http://schemas.microsoft.com/office/powerpoint/2010/main" val="28784223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AU" i="0" dirty="0" smtClean="0">
                <a:solidFill>
                  <a:srgbClr val="444444"/>
                </a:solidFill>
                <a:effectLst/>
                <a:latin typeface="Arial" panose="020B0604020202020204" pitchFamily="34" charset="0"/>
              </a:rPr>
              <a:t>Refraction of Light through a Convex Lens Forming Real Images</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483151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7700" y="839738"/>
            <a:ext cx="10680700" cy="3046988"/>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When you have completed this lesson you should be able to:</a:t>
            </a:r>
          </a:p>
          <a:p>
            <a:endParaRPr lang="en-AU" sz="2400" b="0" i="0" dirty="0" smtClean="0">
              <a:solidFill>
                <a:srgbClr val="444444"/>
              </a:solidFill>
              <a:effectLst/>
              <a:latin typeface="Arial" panose="020B0604020202020204" pitchFamily="34" charset="0"/>
            </a:endParaRPr>
          </a:p>
          <a:p>
            <a:pPr>
              <a:buFont typeface="Arial" panose="020B0604020202020204" pitchFamily="34" charset="0"/>
              <a:buChar char="•"/>
            </a:pPr>
            <a:r>
              <a:rPr lang="en-AU" sz="2400" b="1" i="0" dirty="0" smtClean="0">
                <a:solidFill>
                  <a:srgbClr val="48927C"/>
                </a:solidFill>
                <a:effectLst/>
                <a:latin typeface="Arial" panose="020B0604020202020204" pitchFamily="34" charset="0"/>
              </a:rPr>
              <a:t>Understand</a:t>
            </a:r>
            <a:r>
              <a:rPr lang="en-AU" sz="2400" b="0" i="0" dirty="0" smtClean="0">
                <a:solidFill>
                  <a:srgbClr val="444444"/>
                </a:solidFill>
                <a:effectLst/>
                <a:latin typeface="Arial" panose="020B0604020202020204" pitchFamily="34" charset="0"/>
              </a:rPr>
              <a:t> the behaviour of </a:t>
            </a:r>
            <a:r>
              <a:rPr lang="en-AU" sz="2400" b="1" i="0" dirty="0" smtClean="0">
                <a:solidFill>
                  <a:srgbClr val="8C4AB2"/>
                </a:solidFill>
                <a:effectLst/>
                <a:latin typeface="Arial" panose="020B0604020202020204" pitchFamily="34" charset="0"/>
              </a:rPr>
              <a:t>three principal rays</a:t>
            </a:r>
            <a:r>
              <a:rPr lang="en-AU" sz="2400" b="0" i="0" dirty="0" smtClean="0">
                <a:solidFill>
                  <a:srgbClr val="444444"/>
                </a:solidFill>
                <a:effectLst/>
                <a:latin typeface="Arial" panose="020B0604020202020204" pitchFamily="34" charset="0"/>
              </a:rPr>
              <a:t> drawn on ray diagrams to form a real image.</a:t>
            </a:r>
          </a:p>
          <a:p>
            <a:pPr>
              <a:buFont typeface="Arial" panose="020B0604020202020204" pitchFamily="34" charset="0"/>
              <a:buChar char="•"/>
            </a:pPr>
            <a:r>
              <a:rPr lang="en-AU" sz="2400" b="1" i="0" dirty="0" smtClean="0">
                <a:solidFill>
                  <a:srgbClr val="3770C7"/>
                </a:solidFill>
                <a:effectLst/>
                <a:latin typeface="Arial" panose="020B0604020202020204" pitchFamily="34" charset="0"/>
              </a:rPr>
              <a:t>Draw</a:t>
            </a:r>
            <a:r>
              <a:rPr lang="en-AU" sz="2400" b="0" i="0" dirty="0" smtClean="0">
                <a:solidFill>
                  <a:srgbClr val="444444"/>
                </a:solidFill>
                <a:effectLst/>
                <a:latin typeface="Arial" panose="020B0604020202020204" pitchFamily="34" charset="0"/>
              </a:rPr>
              <a:t> </a:t>
            </a:r>
            <a:r>
              <a:rPr lang="en-AU" sz="2400" b="1" i="0" dirty="0" smtClean="0">
                <a:solidFill>
                  <a:srgbClr val="3770C7"/>
                </a:solidFill>
                <a:effectLst/>
                <a:latin typeface="Arial" panose="020B0604020202020204" pitchFamily="34" charset="0"/>
              </a:rPr>
              <a:t>ray diagrams</a:t>
            </a:r>
            <a:r>
              <a:rPr lang="en-AU" sz="2400" b="0" i="0" dirty="0" smtClean="0">
                <a:solidFill>
                  <a:srgbClr val="444444"/>
                </a:solidFill>
                <a:effectLst/>
                <a:latin typeface="Arial" panose="020B0604020202020204" pitchFamily="34" charset="0"/>
              </a:rPr>
              <a:t> showing the </a:t>
            </a:r>
            <a:r>
              <a:rPr lang="en-AU" sz="2400" b="1" i="0" dirty="0" smtClean="0">
                <a:solidFill>
                  <a:srgbClr val="48927C"/>
                </a:solidFill>
                <a:effectLst/>
                <a:latin typeface="Arial" panose="020B0604020202020204" pitchFamily="34" charset="0"/>
              </a:rPr>
              <a:t>formation of a real image</a:t>
            </a:r>
            <a:r>
              <a:rPr lang="en-AU" sz="2400" b="0" i="0" dirty="0" smtClean="0">
                <a:solidFill>
                  <a:srgbClr val="444444"/>
                </a:solidFill>
                <a:effectLst/>
                <a:latin typeface="Arial" panose="020B0604020202020204" pitchFamily="34" charset="0"/>
              </a:rPr>
              <a:t> from a convex lens.</a:t>
            </a:r>
          </a:p>
          <a:p>
            <a:pPr>
              <a:buFont typeface="Arial" panose="020B0604020202020204" pitchFamily="34" charset="0"/>
              <a:buChar char="•"/>
            </a:pPr>
            <a:r>
              <a:rPr lang="en-AU" sz="2400" b="1" i="0" dirty="0" smtClean="0">
                <a:solidFill>
                  <a:srgbClr val="48927C"/>
                </a:solidFill>
                <a:effectLst/>
                <a:latin typeface="Arial" panose="020B0604020202020204" pitchFamily="34" charset="0"/>
              </a:rPr>
              <a:t>Describe</a:t>
            </a:r>
            <a:r>
              <a:rPr lang="en-AU" sz="2400" b="0" i="0" dirty="0" smtClean="0">
                <a:solidFill>
                  <a:srgbClr val="444444"/>
                </a:solidFill>
                <a:effectLst/>
                <a:latin typeface="Arial" panose="020B0604020202020204" pitchFamily="34" charset="0"/>
              </a:rPr>
              <a:t> the </a:t>
            </a:r>
            <a:r>
              <a:rPr lang="en-AU" sz="2400" b="1" i="0" dirty="0" smtClean="0">
                <a:solidFill>
                  <a:srgbClr val="8C4AB2"/>
                </a:solidFill>
                <a:effectLst/>
                <a:latin typeface="Arial" panose="020B0604020202020204" pitchFamily="34" charset="0"/>
              </a:rPr>
              <a:t>nature of the real image</a:t>
            </a:r>
            <a:r>
              <a:rPr lang="en-AU" sz="2400" b="0" i="0" dirty="0" smtClean="0">
                <a:solidFill>
                  <a:srgbClr val="444444"/>
                </a:solidFill>
                <a:effectLst/>
                <a:latin typeface="Arial" panose="020B0604020202020204" pitchFamily="34" charset="0"/>
              </a:rPr>
              <a:t> produced by a convex lens given the location of the object.</a:t>
            </a:r>
            <a:endParaRPr lang="en-AU" sz="2400" b="0" i="0" dirty="0">
              <a:solidFill>
                <a:srgbClr val="444444"/>
              </a:solidFill>
              <a:effectLst/>
              <a:latin typeface="Arial" panose="020B0604020202020204" pitchFamily="34" charset="0"/>
            </a:endParaRPr>
          </a:p>
        </p:txBody>
      </p:sp>
      <p:pic>
        <p:nvPicPr>
          <p:cNvPr id="1026" name="Picture 2" descr="https://www.educationperfect.com/media/content/History/1534455145.344481g/1534455142953-4298037892532556-8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8300" y="3633384"/>
            <a:ext cx="4870450" cy="3224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892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000" y="453241"/>
            <a:ext cx="7251700" cy="6001643"/>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There are many uses of </a:t>
            </a:r>
            <a:r>
              <a:rPr lang="en-AU" sz="2400" b="1" i="0" dirty="0" smtClean="0">
                <a:solidFill>
                  <a:srgbClr val="3598DC"/>
                </a:solidFill>
                <a:effectLst/>
                <a:latin typeface="Arial" panose="020B0604020202020204" pitchFamily="34" charset="0"/>
              </a:rPr>
              <a:t>convex lenses</a:t>
            </a:r>
            <a:r>
              <a:rPr lang="en-AU" sz="2400" b="1" i="0" dirty="0" smtClean="0">
                <a:solidFill>
                  <a:srgbClr val="444444"/>
                </a:solidFill>
                <a:effectLst/>
                <a:latin typeface="Arial" panose="020B0604020202020204" pitchFamily="34" charset="0"/>
              </a:rPr>
              <a:t> in everyday life.</a:t>
            </a: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The most common example of lenses that we see and use on a day to day basis are the </a:t>
            </a:r>
            <a:r>
              <a:rPr lang="en-AU" sz="2400" b="1" i="0" dirty="0" smtClean="0">
                <a:solidFill>
                  <a:srgbClr val="B1067D"/>
                </a:solidFill>
                <a:effectLst/>
                <a:latin typeface="Arial" panose="020B0604020202020204" pitchFamily="34" charset="0"/>
              </a:rPr>
              <a:t>lenses placed in glasses.</a:t>
            </a:r>
            <a:endParaRPr lang="en-AU" sz="2400" b="0"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If you suffer from </a:t>
            </a:r>
            <a:r>
              <a:rPr lang="en-AU" sz="2400" b="1" i="0" dirty="0" smtClean="0">
                <a:solidFill>
                  <a:srgbClr val="3598DC"/>
                </a:solidFill>
                <a:effectLst/>
                <a:latin typeface="Arial" panose="020B0604020202020204" pitchFamily="34" charset="0"/>
              </a:rPr>
              <a:t>long-sightedness or hyperopia</a:t>
            </a:r>
            <a:r>
              <a:rPr lang="en-AU" sz="2400" b="0" i="0" dirty="0" smtClean="0">
                <a:solidFill>
                  <a:srgbClr val="444444"/>
                </a:solidFill>
                <a:effectLst/>
                <a:latin typeface="Arial" panose="020B0604020202020204" pitchFamily="34" charset="0"/>
              </a:rPr>
              <a:t> (meaning you are unable to focus on nearby objects), then light entering your eye will </a:t>
            </a:r>
            <a:r>
              <a:rPr lang="en-AU" sz="2400" b="1" i="0" dirty="0" smtClean="0">
                <a:solidFill>
                  <a:srgbClr val="3598DC"/>
                </a:solidFill>
                <a:effectLst/>
                <a:latin typeface="Arial" panose="020B0604020202020204" pitchFamily="34" charset="0"/>
              </a:rPr>
              <a:t>focus behind your retina.</a:t>
            </a:r>
            <a:r>
              <a:rPr lang="en-AU" sz="2400" b="0" i="0" dirty="0" smtClean="0">
                <a:solidFill>
                  <a:srgbClr val="444444"/>
                </a:solidFill>
                <a:effectLst/>
                <a:latin typeface="Arial" panose="020B0604020202020204" pitchFamily="34" charset="0"/>
              </a:rPr>
              <a:t> This could be due to a short eyeball or an inability of the lens in your eye to focus correctly due to age. Long-sightedness is corrected by using </a:t>
            </a:r>
            <a:r>
              <a:rPr lang="en-AU" sz="2400" b="1" i="0" dirty="0" smtClean="0">
                <a:solidFill>
                  <a:srgbClr val="B1067D"/>
                </a:solidFill>
                <a:effectLst/>
                <a:latin typeface="Arial" panose="020B0604020202020204" pitchFamily="34" charset="0"/>
              </a:rPr>
              <a:t>glasses that contain convex lenses,</a:t>
            </a:r>
            <a:r>
              <a:rPr lang="en-AU" sz="2400" b="0" i="0" dirty="0" smtClean="0">
                <a:solidFill>
                  <a:srgbClr val="444444"/>
                </a:solidFill>
                <a:effectLst/>
                <a:latin typeface="Arial" panose="020B0604020202020204" pitchFamily="34" charset="0"/>
              </a:rPr>
              <a:t> which </a:t>
            </a:r>
            <a:r>
              <a:rPr lang="en-AU" sz="2400" b="1" i="0" dirty="0" smtClean="0">
                <a:solidFill>
                  <a:srgbClr val="B1067D"/>
                </a:solidFill>
                <a:effectLst/>
                <a:latin typeface="Arial" panose="020B0604020202020204" pitchFamily="34" charset="0"/>
              </a:rPr>
              <a:t>focus the light on your retina,</a:t>
            </a:r>
            <a:r>
              <a:rPr lang="en-AU" sz="2400" b="0" i="0" dirty="0" smtClean="0">
                <a:solidFill>
                  <a:srgbClr val="444444"/>
                </a:solidFill>
                <a:effectLst/>
                <a:latin typeface="Arial" panose="020B0604020202020204" pitchFamily="34" charset="0"/>
              </a:rPr>
              <a:t> resulting in sharp images being formed.</a:t>
            </a:r>
            <a:endParaRPr lang="en-AU" sz="2400" b="0" i="0" dirty="0">
              <a:solidFill>
                <a:srgbClr val="444444"/>
              </a:solidFill>
              <a:effectLst/>
              <a:latin typeface="Arial" panose="020B0604020202020204" pitchFamily="34" charset="0"/>
            </a:endParaRPr>
          </a:p>
        </p:txBody>
      </p:sp>
      <p:pic>
        <p:nvPicPr>
          <p:cNvPr id="2050" name="Picture 2" descr="https://www.educationperfect.com/media/content/Science/1583956755.049641g/1583956754650-257751796112349-8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5700" y="1803400"/>
            <a:ext cx="4486672" cy="3589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08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9100" y="545237"/>
            <a:ext cx="11582400" cy="1938992"/>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Why does </a:t>
            </a:r>
            <a:r>
              <a:rPr lang="en-AU" sz="2400" b="1" i="0" dirty="0" smtClean="0">
                <a:solidFill>
                  <a:srgbClr val="3598DC"/>
                </a:solidFill>
                <a:effectLst/>
                <a:latin typeface="Arial" panose="020B0604020202020204" pitchFamily="34" charset="0"/>
              </a:rPr>
              <a:t>light bend</a:t>
            </a:r>
            <a:r>
              <a:rPr lang="en-AU" sz="2400" b="1" i="0" dirty="0" smtClean="0">
                <a:solidFill>
                  <a:srgbClr val="444444"/>
                </a:solidFill>
                <a:effectLst/>
                <a:latin typeface="Arial" panose="020B0604020202020204" pitchFamily="34" charset="0"/>
              </a:rPr>
              <a:t> as it passes through a lens?</a:t>
            </a: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We know that light bends or refracts as it passes between two mediums that have different indices of refraction. Most lenses are made from plastic or glass which have </a:t>
            </a:r>
            <a:r>
              <a:rPr lang="en-AU" sz="2400" b="1" i="0" dirty="0" smtClean="0">
                <a:solidFill>
                  <a:srgbClr val="32B57C"/>
                </a:solidFill>
                <a:effectLst/>
                <a:latin typeface="Arial" panose="020B0604020202020204" pitchFamily="34" charset="0"/>
              </a:rPr>
              <a:t>higher indices of refraction than air.</a:t>
            </a:r>
            <a:endParaRPr lang="en-AU" sz="2400" b="0" i="0" dirty="0">
              <a:solidFill>
                <a:srgbClr val="444444"/>
              </a:solidFill>
              <a:effectLst/>
              <a:latin typeface="Arial" panose="020B0604020202020204" pitchFamily="34" charset="0"/>
            </a:endParaRPr>
          </a:p>
        </p:txBody>
      </p:sp>
      <p:sp>
        <p:nvSpPr>
          <p:cNvPr id="3" name="Rectangle 2"/>
          <p:cNvSpPr/>
          <p:nvPr/>
        </p:nvSpPr>
        <p:spPr>
          <a:xfrm>
            <a:off x="533400" y="2484229"/>
            <a:ext cx="11379200" cy="2308324"/>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As light enters the lens it goes into a region with a </a:t>
            </a:r>
            <a:r>
              <a:rPr lang="en-AU" sz="2400" b="1" i="0" dirty="0" smtClean="0">
                <a:solidFill>
                  <a:srgbClr val="32B57C"/>
                </a:solidFill>
                <a:effectLst/>
                <a:latin typeface="Arial" panose="020B0604020202020204" pitchFamily="34" charset="0"/>
              </a:rPr>
              <a:t>higher refractive index</a:t>
            </a:r>
            <a:r>
              <a:rPr lang="en-AU" sz="2400" b="0" i="0" dirty="0" smtClean="0">
                <a:solidFill>
                  <a:srgbClr val="444444"/>
                </a:solidFill>
                <a:effectLst/>
                <a:latin typeface="Arial" panose="020B0604020202020204" pitchFamily="34" charset="0"/>
              </a:rPr>
              <a:t> and therefore bends towards the normal. Similarly, as light leaves the lens it goes into a region with a </a:t>
            </a:r>
            <a:r>
              <a:rPr lang="en-AU" sz="2400" b="1" i="0" dirty="0" smtClean="0">
                <a:solidFill>
                  <a:srgbClr val="642DBF"/>
                </a:solidFill>
                <a:effectLst/>
                <a:latin typeface="Arial" panose="020B0604020202020204" pitchFamily="34" charset="0"/>
              </a:rPr>
              <a:t>lower refractive index</a:t>
            </a:r>
            <a:r>
              <a:rPr lang="en-AU" sz="2400" b="0" i="0" dirty="0" smtClean="0">
                <a:solidFill>
                  <a:srgbClr val="444444"/>
                </a:solidFill>
                <a:effectLst/>
                <a:latin typeface="Arial" panose="020B0604020202020204" pitchFamily="34" charset="0"/>
              </a:rPr>
              <a:t> and bends </a:t>
            </a:r>
            <a:r>
              <a:rPr lang="en-AU" sz="2400" b="1" i="0" dirty="0" smtClean="0">
                <a:solidFill>
                  <a:srgbClr val="642DBF"/>
                </a:solidFill>
                <a:effectLst/>
                <a:latin typeface="Arial" panose="020B0604020202020204" pitchFamily="34" charset="0"/>
              </a:rPr>
              <a:t>away from the normal.</a:t>
            </a:r>
            <a:r>
              <a:rPr lang="en-AU" sz="2400" b="0" i="0" dirty="0" smtClean="0">
                <a:solidFill>
                  <a:srgbClr val="444444"/>
                </a:solidFill>
                <a:effectLst/>
                <a:latin typeface="Arial" panose="020B0604020202020204" pitchFamily="34" charset="0"/>
              </a:rPr>
              <a:t> If we consider the light ray before it entered the lens and the light ray after it exits the lens, we can see it is </a:t>
            </a:r>
            <a:r>
              <a:rPr lang="en-AU" sz="2400" b="1" i="0" dirty="0" smtClean="0">
                <a:solidFill>
                  <a:srgbClr val="3598DC"/>
                </a:solidFill>
                <a:effectLst/>
                <a:latin typeface="Arial" panose="020B0604020202020204" pitchFamily="34" charset="0"/>
              </a:rPr>
              <a:t>travelling in a different direction</a:t>
            </a:r>
            <a:r>
              <a:rPr lang="en-AU" sz="2400" b="0" i="0" dirty="0" smtClean="0">
                <a:solidFill>
                  <a:srgbClr val="444444"/>
                </a:solidFill>
                <a:effectLst/>
                <a:latin typeface="Arial" panose="020B0604020202020204" pitchFamily="34" charset="0"/>
              </a:rPr>
              <a:t> and has therefore </a:t>
            </a:r>
            <a:r>
              <a:rPr lang="en-AU" sz="2400" b="1" i="0" dirty="0" smtClean="0">
                <a:solidFill>
                  <a:srgbClr val="3598DC"/>
                </a:solidFill>
                <a:effectLst/>
                <a:latin typeface="Arial" panose="020B0604020202020204" pitchFamily="34" charset="0"/>
              </a:rPr>
              <a:t>undergone refraction</a:t>
            </a:r>
            <a:r>
              <a:rPr lang="en-AU" sz="2400" b="0" i="0" dirty="0" smtClean="0">
                <a:solidFill>
                  <a:srgbClr val="444444"/>
                </a:solidFill>
                <a:effectLst/>
                <a:latin typeface="Arial" panose="020B0604020202020204" pitchFamily="34" charset="0"/>
              </a:rPr>
              <a:t> from the lens.</a:t>
            </a:r>
            <a:endParaRPr lang="en-AU" sz="2400" dirty="0"/>
          </a:p>
        </p:txBody>
      </p:sp>
      <p:pic>
        <p:nvPicPr>
          <p:cNvPr id="3074" name="Picture 2" descr="https://www.educationperfect.com/media/content/Science/1584491198.271871g/1584491198160-922062741539059-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6200" y="5054389"/>
            <a:ext cx="2628900" cy="1803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8897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100" y="228938"/>
            <a:ext cx="11480800" cy="1631216"/>
          </a:xfrm>
          <a:prstGeom prst="rect">
            <a:avLst/>
          </a:prstGeom>
        </p:spPr>
        <p:txBody>
          <a:bodyPr wrap="square">
            <a:spAutoFit/>
          </a:bodyPr>
          <a:lstStyle/>
          <a:p>
            <a:pPr algn="ctr"/>
            <a:r>
              <a:rPr lang="en-AU" sz="2000" b="1" i="0" dirty="0" smtClean="0">
                <a:solidFill>
                  <a:srgbClr val="444444"/>
                </a:solidFill>
                <a:effectLst/>
                <a:latin typeface="Arial" panose="020B0604020202020204" pitchFamily="34" charset="0"/>
              </a:rPr>
              <a:t>A convex lens is a type of </a:t>
            </a:r>
            <a:r>
              <a:rPr lang="en-AU" sz="2000" b="1" i="0" dirty="0" smtClean="0">
                <a:solidFill>
                  <a:srgbClr val="32B57C"/>
                </a:solidFill>
                <a:effectLst/>
                <a:latin typeface="Arial" panose="020B0604020202020204" pitchFamily="34" charset="0"/>
              </a:rPr>
              <a:t>converging lens.</a:t>
            </a:r>
            <a:endParaRPr lang="en-AU" sz="2000" b="1" i="0" dirty="0" smtClean="0">
              <a:solidFill>
                <a:srgbClr val="444444"/>
              </a:solidFill>
              <a:effectLst/>
              <a:latin typeface="Arial" panose="020B0604020202020204" pitchFamily="34" charset="0"/>
            </a:endParaRP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This means light rays coming from a </a:t>
            </a:r>
            <a:r>
              <a:rPr lang="en-AU" sz="2000" b="1" i="0" dirty="0" smtClean="0">
                <a:solidFill>
                  <a:srgbClr val="3598DC"/>
                </a:solidFill>
                <a:effectLst/>
                <a:latin typeface="Arial" panose="020B0604020202020204" pitchFamily="34" charset="0"/>
              </a:rPr>
              <a:t>distant source</a:t>
            </a:r>
            <a:r>
              <a:rPr lang="en-AU" sz="2000" b="0" i="0" dirty="0" smtClean="0">
                <a:solidFill>
                  <a:srgbClr val="444444"/>
                </a:solidFill>
                <a:effectLst/>
                <a:latin typeface="Arial" panose="020B0604020202020204" pitchFamily="34" charset="0"/>
              </a:rPr>
              <a:t> (which are considered to be parallel to each other) enter the lens and get </a:t>
            </a:r>
            <a:r>
              <a:rPr lang="en-AU" sz="2000" b="1" i="0" dirty="0" smtClean="0">
                <a:solidFill>
                  <a:srgbClr val="32B57C"/>
                </a:solidFill>
                <a:effectLst/>
                <a:latin typeface="Arial" panose="020B0604020202020204" pitchFamily="34" charset="0"/>
              </a:rPr>
              <a:t>refracted inwards.</a:t>
            </a:r>
            <a:r>
              <a:rPr lang="en-AU" sz="2000" b="0" i="0" dirty="0" smtClean="0">
                <a:solidFill>
                  <a:srgbClr val="444444"/>
                </a:solidFill>
                <a:effectLst/>
                <a:latin typeface="Arial" panose="020B0604020202020204" pitchFamily="34" charset="0"/>
              </a:rPr>
              <a:t> These refracted rays </a:t>
            </a:r>
            <a:r>
              <a:rPr lang="en-AU" sz="2000" b="1" i="0" dirty="0" smtClean="0">
                <a:solidFill>
                  <a:srgbClr val="32B57C"/>
                </a:solidFill>
                <a:effectLst/>
                <a:latin typeface="Arial" panose="020B0604020202020204" pitchFamily="34" charset="0"/>
              </a:rPr>
              <a:t>all pass through the same spot</a:t>
            </a:r>
            <a:r>
              <a:rPr lang="en-AU" sz="2000" b="0" i="0" dirty="0" smtClean="0">
                <a:solidFill>
                  <a:srgbClr val="444444"/>
                </a:solidFill>
                <a:effectLst/>
                <a:latin typeface="Arial" panose="020B0604020202020204" pitchFamily="34" charset="0"/>
              </a:rPr>
              <a:t> (converge) on the other side of the lens.</a:t>
            </a:r>
            <a:endParaRPr lang="en-AU" sz="2000" b="0" i="0" dirty="0">
              <a:solidFill>
                <a:srgbClr val="444444"/>
              </a:solidFill>
              <a:effectLst/>
              <a:latin typeface="Arial" panose="020B0604020202020204" pitchFamily="34" charset="0"/>
            </a:endParaRPr>
          </a:p>
        </p:txBody>
      </p:sp>
      <p:sp>
        <p:nvSpPr>
          <p:cNvPr id="3" name="Rectangle 2"/>
          <p:cNvSpPr/>
          <p:nvPr/>
        </p:nvSpPr>
        <p:spPr>
          <a:xfrm>
            <a:off x="292100" y="2069237"/>
            <a:ext cx="11658600" cy="1323439"/>
          </a:xfrm>
          <a:prstGeom prst="rect">
            <a:avLst/>
          </a:prstGeom>
        </p:spPr>
        <p:txBody>
          <a:bodyPr wrap="square">
            <a:spAutoFit/>
          </a:bodyPr>
          <a:lstStyle/>
          <a:p>
            <a:r>
              <a:rPr lang="en-AU" sz="2000" b="0" i="0" dirty="0" smtClean="0">
                <a:solidFill>
                  <a:srgbClr val="444444"/>
                </a:solidFill>
                <a:effectLst/>
                <a:latin typeface="Arial" panose="020B0604020202020204" pitchFamily="34" charset="0"/>
              </a:rPr>
              <a:t>The spot where all the light rays converge is called the </a:t>
            </a:r>
            <a:r>
              <a:rPr lang="en-AU" sz="2000" b="1" i="0" dirty="0" smtClean="0">
                <a:solidFill>
                  <a:srgbClr val="32B57C"/>
                </a:solidFill>
                <a:effectLst/>
                <a:latin typeface="Arial" panose="020B0604020202020204" pitchFamily="34" charset="0"/>
              </a:rPr>
              <a:t>focus of the lens,</a:t>
            </a:r>
            <a:r>
              <a:rPr lang="en-AU" sz="2000" b="0" i="0" dirty="0" smtClean="0">
                <a:solidFill>
                  <a:srgbClr val="444444"/>
                </a:solidFill>
                <a:effectLst/>
                <a:latin typeface="Arial" panose="020B0604020202020204" pitchFamily="34" charset="0"/>
              </a:rPr>
              <a:t> denoted by F. The distance between the focus and the lens is referred to as the </a:t>
            </a:r>
            <a:r>
              <a:rPr lang="en-AU" sz="2000" b="1" i="0" dirty="0" smtClean="0">
                <a:solidFill>
                  <a:srgbClr val="3598DC"/>
                </a:solidFill>
                <a:effectLst/>
                <a:latin typeface="Arial" panose="020B0604020202020204" pitchFamily="34" charset="0"/>
              </a:rPr>
              <a:t>focal length,</a:t>
            </a:r>
            <a:r>
              <a:rPr lang="en-AU" sz="2000" b="0" i="0" dirty="0" smtClean="0">
                <a:solidFill>
                  <a:srgbClr val="444444"/>
                </a:solidFill>
                <a:effectLst/>
                <a:latin typeface="Arial" panose="020B0604020202020204" pitchFamily="34" charset="0"/>
              </a:rPr>
              <a:t> </a:t>
            </a:r>
            <a:r>
              <a:rPr lang="en-AU" sz="2000" b="0" i="1" dirty="0" smtClean="0">
                <a:solidFill>
                  <a:srgbClr val="444444"/>
                </a:solidFill>
                <a:effectLst/>
                <a:latin typeface="KaTeX_Math"/>
              </a:rPr>
              <a:t>f</a:t>
            </a:r>
            <a:r>
              <a:rPr lang="en-AU" sz="2000" b="0" i="0" dirty="0" smtClean="0">
                <a:solidFill>
                  <a:srgbClr val="444444"/>
                </a:solidFill>
                <a:effectLst/>
                <a:latin typeface="KaTeX_Main"/>
              </a:rPr>
              <a:t>,</a:t>
            </a:r>
            <a:r>
              <a:rPr lang="en-AU" sz="2000" b="0" i="0" dirty="0" smtClean="0">
                <a:solidFill>
                  <a:srgbClr val="444444"/>
                </a:solidFill>
                <a:effectLst/>
                <a:latin typeface="Arial" panose="020B0604020202020204" pitchFamily="34" charset="0"/>
              </a:rPr>
              <a:t> of the lens. </a:t>
            </a:r>
            <a:r>
              <a:rPr lang="en-AU" sz="2000" b="1" i="0" dirty="0" smtClean="0">
                <a:solidFill>
                  <a:srgbClr val="3598DC"/>
                </a:solidFill>
                <a:effectLst/>
                <a:latin typeface="Arial" panose="020B0604020202020204" pitchFamily="34" charset="0"/>
              </a:rPr>
              <a:t>Twice the focus</a:t>
            </a:r>
            <a:r>
              <a:rPr lang="en-AU" sz="2000" b="0" i="0" dirty="0" smtClean="0">
                <a:solidFill>
                  <a:srgbClr val="444444"/>
                </a:solidFill>
                <a:effectLst/>
                <a:latin typeface="Arial" panose="020B0604020202020204" pitchFamily="34" charset="0"/>
              </a:rPr>
              <a:t> of a lens, denoted by 2F, is also included in lens diagrams. This point is located </a:t>
            </a:r>
            <a:r>
              <a:rPr lang="en-AU" sz="2000" b="1" i="0" dirty="0" smtClean="0">
                <a:solidFill>
                  <a:srgbClr val="32B57C"/>
                </a:solidFill>
                <a:effectLst/>
                <a:latin typeface="Arial" panose="020B0604020202020204" pitchFamily="34" charset="0"/>
              </a:rPr>
              <a:t>two focal lengths</a:t>
            </a:r>
            <a:r>
              <a:rPr lang="en-AU" sz="2000" b="0" i="0" dirty="0" smtClean="0">
                <a:solidFill>
                  <a:srgbClr val="444444"/>
                </a:solidFill>
                <a:effectLst/>
                <a:latin typeface="Arial" panose="020B0604020202020204" pitchFamily="34" charset="0"/>
              </a:rPr>
              <a:t> away from the lens.</a:t>
            </a:r>
            <a:endParaRPr lang="en-AU" sz="2000" dirty="0"/>
          </a:p>
        </p:txBody>
      </p:sp>
      <p:pic>
        <p:nvPicPr>
          <p:cNvPr id="4098" name="Picture 2" descr="https://www.educationperfect.com/media/content/Science/1584305540.801941g/1584305539500-3009559563531639-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9975" y="3392676"/>
            <a:ext cx="4457700" cy="292417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www.educationperfect.com/media/content/Science/1584305513.479721g/1584305512116-3009559563531639-optimi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3375" y="3392676"/>
            <a:ext cx="4457700" cy="2924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4678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500" y="465941"/>
            <a:ext cx="11658600" cy="3170099"/>
          </a:xfrm>
          <a:prstGeom prst="rect">
            <a:avLst/>
          </a:prstGeom>
        </p:spPr>
        <p:txBody>
          <a:bodyPr wrap="square">
            <a:spAutoFit/>
          </a:bodyPr>
          <a:lstStyle/>
          <a:p>
            <a:pPr algn="ctr"/>
            <a:r>
              <a:rPr lang="en-AU" sz="2000" b="1" i="0" dirty="0" smtClean="0">
                <a:solidFill>
                  <a:srgbClr val="444444"/>
                </a:solidFill>
                <a:effectLst/>
                <a:latin typeface="Arial" panose="020B0604020202020204" pitchFamily="34" charset="0"/>
              </a:rPr>
              <a:t>Light can pass through </a:t>
            </a:r>
            <a:r>
              <a:rPr lang="en-AU" sz="2000" b="1" i="0" dirty="0" smtClean="0">
                <a:solidFill>
                  <a:srgbClr val="B1067D"/>
                </a:solidFill>
                <a:effectLst/>
                <a:latin typeface="Arial" panose="020B0604020202020204" pitchFamily="34" charset="0"/>
              </a:rPr>
              <a:t>either side of a lens.</a:t>
            </a:r>
            <a:endParaRPr lang="en-AU" sz="2000" b="1" i="0" dirty="0" smtClean="0">
              <a:solidFill>
                <a:srgbClr val="444444"/>
              </a:solidFill>
              <a:effectLst/>
              <a:latin typeface="Arial" panose="020B0604020202020204" pitchFamily="34" charset="0"/>
            </a:endParaRP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If light is </a:t>
            </a:r>
            <a:r>
              <a:rPr lang="en-AU" sz="2000" b="1" i="0" dirty="0" smtClean="0">
                <a:solidFill>
                  <a:srgbClr val="6773B2"/>
                </a:solidFill>
                <a:effectLst/>
                <a:latin typeface="Arial" panose="020B0604020202020204" pitchFamily="34" charset="0"/>
              </a:rPr>
              <a:t>incident on the lens from the left,</a:t>
            </a:r>
            <a:r>
              <a:rPr lang="en-AU" sz="2000" b="0" i="0" dirty="0" smtClean="0">
                <a:solidFill>
                  <a:srgbClr val="444444"/>
                </a:solidFill>
                <a:effectLst/>
                <a:latin typeface="Arial" panose="020B0604020202020204" pitchFamily="34" charset="0"/>
              </a:rPr>
              <a:t> then it will converge at a focus on the right. If light is </a:t>
            </a:r>
            <a:r>
              <a:rPr lang="en-AU" sz="2000" b="1" i="0" dirty="0" smtClean="0">
                <a:solidFill>
                  <a:srgbClr val="6773B2"/>
                </a:solidFill>
                <a:effectLst/>
                <a:latin typeface="Arial" panose="020B0604020202020204" pitchFamily="34" charset="0"/>
              </a:rPr>
              <a:t>incident from the right</a:t>
            </a:r>
            <a:r>
              <a:rPr lang="en-AU" sz="2000" b="0" i="0" dirty="0" smtClean="0">
                <a:solidFill>
                  <a:srgbClr val="444444"/>
                </a:solidFill>
                <a:effectLst/>
                <a:latin typeface="Arial" panose="020B0604020202020204" pitchFamily="34" charset="0"/>
              </a:rPr>
              <a:t> then it will converge at a focus on the left. This means every lens will have </a:t>
            </a:r>
            <a:r>
              <a:rPr lang="en-AU" sz="2000" b="1" i="0" dirty="0" smtClean="0">
                <a:solidFill>
                  <a:srgbClr val="B1067D"/>
                </a:solidFill>
                <a:effectLst/>
                <a:latin typeface="Arial" panose="020B0604020202020204" pitchFamily="34" charset="0"/>
              </a:rPr>
              <a:t>two focus points</a:t>
            </a:r>
            <a:r>
              <a:rPr lang="en-AU" sz="2000" b="0" i="0" dirty="0" smtClean="0">
                <a:solidFill>
                  <a:srgbClr val="444444"/>
                </a:solidFill>
                <a:effectLst/>
                <a:latin typeface="Arial" panose="020B0604020202020204" pitchFamily="34" charset="0"/>
              </a:rPr>
              <a:t> and we need to use each of these when creating ray diagrams.</a:t>
            </a: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To simplify this process we will label the focus which is on the </a:t>
            </a:r>
            <a:r>
              <a:rPr lang="en-AU" sz="2000" b="1" i="0" dirty="0" smtClean="0">
                <a:solidFill>
                  <a:srgbClr val="6773B2"/>
                </a:solidFill>
                <a:effectLst/>
                <a:latin typeface="Arial" panose="020B0604020202020204" pitchFamily="34" charset="0"/>
              </a:rPr>
              <a:t>same side as the incident light</a:t>
            </a:r>
            <a:r>
              <a:rPr lang="en-AU" sz="2000" b="0" i="0" dirty="0" smtClean="0">
                <a:solidFill>
                  <a:srgbClr val="444444"/>
                </a:solidFill>
                <a:effectLst/>
                <a:latin typeface="Arial" panose="020B0604020202020204" pitchFamily="34" charset="0"/>
              </a:rPr>
              <a:t> the </a:t>
            </a:r>
            <a:r>
              <a:rPr lang="en-AU" sz="2000" b="1" i="0" dirty="0" smtClean="0">
                <a:solidFill>
                  <a:srgbClr val="6773B2"/>
                </a:solidFill>
                <a:effectLst/>
                <a:latin typeface="Arial" panose="020B0604020202020204" pitchFamily="34" charset="0"/>
              </a:rPr>
              <a:t>virtual focus,</a:t>
            </a:r>
            <a:r>
              <a:rPr lang="en-AU" sz="2000" b="0" i="0" dirty="0" smtClean="0">
                <a:solidFill>
                  <a:srgbClr val="444444"/>
                </a:solidFill>
                <a:effectLst/>
                <a:latin typeface="Arial" panose="020B0604020202020204" pitchFamily="34" charset="0"/>
              </a:rPr>
              <a:t> and the focus which is on the </a:t>
            </a:r>
            <a:r>
              <a:rPr lang="en-AU" sz="2000" b="1" i="0" dirty="0" smtClean="0">
                <a:solidFill>
                  <a:srgbClr val="B1067D"/>
                </a:solidFill>
                <a:effectLst/>
                <a:latin typeface="Arial" panose="020B0604020202020204" pitchFamily="34" charset="0"/>
              </a:rPr>
              <a:t>same side as the refracted light</a:t>
            </a:r>
            <a:r>
              <a:rPr lang="en-AU" sz="2000" b="0" i="0" dirty="0" smtClean="0">
                <a:solidFill>
                  <a:srgbClr val="444444"/>
                </a:solidFill>
                <a:effectLst/>
                <a:latin typeface="Arial" panose="020B0604020202020204" pitchFamily="34" charset="0"/>
              </a:rPr>
              <a:t> the </a:t>
            </a:r>
            <a:r>
              <a:rPr lang="en-AU" sz="2000" b="1" i="0" dirty="0" smtClean="0">
                <a:solidFill>
                  <a:srgbClr val="B1067D"/>
                </a:solidFill>
                <a:effectLst/>
                <a:latin typeface="Arial" panose="020B0604020202020204" pitchFamily="34" charset="0"/>
              </a:rPr>
              <a:t>real focus.</a:t>
            </a:r>
            <a:r>
              <a:rPr lang="en-AU" sz="2000" b="0" i="0" dirty="0" smtClean="0">
                <a:solidFill>
                  <a:srgbClr val="444444"/>
                </a:solidFill>
                <a:effectLst/>
                <a:latin typeface="Arial" panose="020B0604020202020204" pitchFamily="34" charset="0"/>
              </a:rPr>
              <a:t> This choice of naming will become clear in later lessons but will help us now when trying to describe how to draw ray diagrams for lenses.</a:t>
            </a:r>
            <a:endParaRPr lang="en-AU" sz="2000" b="0" i="0" dirty="0">
              <a:solidFill>
                <a:srgbClr val="444444"/>
              </a:solidFill>
              <a:effectLst/>
              <a:latin typeface="Arial" panose="020B0604020202020204" pitchFamily="34" charset="0"/>
            </a:endParaRPr>
          </a:p>
        </p:txBody>
      </p:sp>
      <p:pic>
        <p:nvPicPr>
          <p:cNvPr id="5122" name="Picture 2" descr="https://www.educationperfect.com/media/content/Science/1584308785.5531g/1584308785471-3009559563531639-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775" y="3817937"/>
            <a:ext cx="4676775" cy="292417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www.educationperfect.com/media/content/Science/1584308797.51611g/1584308797431-3009559563531639-optimi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9775" y="3632865"/>
            <a:ext cx="4648200" cy="2924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9653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000" y="333445"/>
            <a:ext cx="11658600" cy="3785652"/>
          </a:xfrm>
          <a:prstGeom prst="rect">
            <a:avLst/>
          </a:prstGeom>
        </p:spPr>
        <p:txBody>
          <a:bodyPr wrap="square">
            <a:spAutoFit/>
          </a:bodyPr>
          <a:lstStyle/>
          <a:p>
            <a:pPr algn="ctr"/>
            <a:r>
              <a:rPr lang="en-AU" sz="2000" b="1" i="0" dirty="0" smtClean="0">
                <a:solidFill>
                  <a:srgbClr val="444444"/>
                </a:solidFill>
                <a:effectLst/>
                <a:latin typeface="Arial" panose="020B0604020202020204" pitchFamily="34" charset="0"/>
              </a:rPr>
              <a:t>A </a:t>
            </a:r>
            <a:r>
              <a:rPr lang="en-AU" sz="2000" b="1" i="0" dirty="0" smtClean="0">
                <a:solidFill>
                  <a:srgbClr val="32B57C"/>
                </a:solidFill>
                <a:effectLst/>
                <a:latin typeface="Arial" panose="020B0604020202020204" pitchFamily="34" charset="0"/>
              </a:rPr>
              <a:t>ray diagram</a:t>
            </a:r>
            <a:r>
              <a:rPr lang="en-AU" sz="2000" b="1" i="0" dirty="0" smtClean="0">
                <a:solidFill>
                  <a:srgbClr val="444444"/>
                </a:solidFill>
                <a:effectLst/>
                <a:latin typeface="Arial" panose="020B0604020202020204" pitchFamily="34" charset="0"/>
              </a:rPr>
              <a:t> is a drawing which can be used to describe the </a:t>
            </a:r>
            <a:r>
              <a:rPr lang="en-AU" sz="2000" b="1" i="0" dirty="0" smtClean="0">
                <a:solidFill>
                  <a:srgbClr val="8C4AB2"/>
                </a:solidFill>
                <a:effectLst/>
                <a:latin typeface="Arial" panose="020B0604020202020204" pitchFamily="34" charset="0"/>
              </a:rPr>
              <a:t>image formed by a convex lens.</a:t>
            </a:r>
            <a:endParaRPr lang="en-AU" sz="2000" b="1" i="0" dirty="0" smtClean="0">
              <a:solidFill>
                <a:srgbClr val="444444"/>
              </a:solidFill>
              <a:effectLst/>
              <a:latin typeface="Arial" panose="020B0604020202020204" pitchFamily="34" charset="0"/>
            </a:endParaRP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To draw a ray diagram we first need to draw some axes. The first of these is called the </a:t>
            </a:r>
            <a:r>
              <a:rPr lang="en-AU" sz="2000" b="1" i="0" dirty="0" smtClean="0">
                <a:solidFill>
                  <a:srgbClr val="32B57C"/>
                </a:solidFill>
                <a:effectLst/>
                <a:latin typeface="Arial" panose="020B0604020202020204" pitchFamily="34" charset="0"/>
              </a:rPr>
              <a:t>principal axis</a:t>
            </a:r>
            <a:r>
              <a:rPr lang="en-AU" sz="2000" b="0" i="0" dirty="0" smtClean="0">
                <a:solidFill>
                  <a:srgbClr val="444444"/>
                </a:solidFill>
                <a:effectLst/>
                <a:latin typeface="Arial" panose="020B0604020202020204" pitchFamily="34" charset="0"/>
              </a:rPr>
              <a:t> and consists of a </a:t>
            </a:r>
            <a:r>
              <a:rPr lang="en-AU" sz="2000" b="1" i="0" dirty="0" smtClean="0">
                <a:solidFill>
                  <a:srgbClr val="3598DC"/>
                </a:solidFill>
                <a:effectLst/>
                <a:latin typeface="Arial" panose="020B0604020202020204" pitchFamily="34" charset="0"/>
              </a:rPr>
              <a:t>horizontal line.</a:t>
            </a:r>
            <a:r>
              <a:rPr lang="en-AU" sz="2000" b="0" i="0" dirty="0" smtClean="0">
                <a:solidFill>
                  <a:srgbClr val="444444"/>
                </a:solidFill>
                <a:effectLst/>
                <a:latin typeface="Arial" panose="020B0604020202020204" pitchFamily="34" charset="0"/>
              </a:rPr>
              <a:t> The second axis is called the </a:t>
            </a:r>
            <a:r>
              <a:rPr lang="en-AU" sz="2000" b="1" i="0" dirty="0" smtClean="0">
                <a:solidFill>
                  <a:srgbClr val="32B57C"/>
                </a:solidFill>
                <a:effectLst/>
                <a:latin typeface="Arial" panose="020B0604020202020204" pitchFamily="34" charset="0"/>
              </a:rPr>
              <a:t>optical axis</a:t>
            </a:r>
            <a:r>
              <a:rPr lang="en-AU" sz="2000" b="0" i="0" dirty="0" smtClean="0">
                <a:solidFill>
                  <a:srgbClr val="444444"/>
                </a:solidFill>
                <a:effectLst/>
                <a:latin typeface="Arial" panose="020B0604020202020204" pitchFamily="34" charset="0"/>
              </a:rPr>
              <a:t> and it approximates the convex lens as a </a:t>
            </a:r>
            <a:r>
              <a:rPr lang="en-AU" sz="2000" b="1" i="0" dirty="0" smtClean="0">
                <a:solidFill>
                  <a:srgbClr val="3598DC"/>
                </a:solidFill>
                <a:effectLst/>
                <a:latin typeface="Arial" panose="020B0604020202020204" pitchFamily="34" charset="0"/>
              </a:rPr>
              <a:t>vertical straight line.</a:t>
            </a:r>
            <a:r>
              <a:rPr lang="en-AU" sz="2000" b="0" i="0" dirty="0" smtClean="0">
                <a:solidFill>
                  <a:srgbClr val="444444"/>
                </a:solidFill>
                <a:effectLst/>
                <a:latin typeface="Arial" panose="020B0604020202020204" pitchFamily="34" charset="0"/>
              </a:rPr>
              <a:t> The optical axis is placed in the middle of the principal axis and all </a:t>
            </a:r>
            <a:r>
              <a:rPr lang="en-AU" sz="2000" b="1" i="0" dirty="0" smtClean="0">
                <a:solidFill>
                  <a:srgbClr val="8C4AB2"/>
                </a:solidFill>
                <a:effectLst/>
                <a:latin typeface="Arial" panose="020B0604020202020204" pitchFamily="34" charset="0"/>
              </a:rPr>
              <a:t>refraction occurs along this line.</a:t>
            </a:r>
            <a:endParaRPr lang="en-AU" sz="2000" b="0" i="0" dirty="0" smtClean="0">
              <a:solidFill>
                <a:srgbClr val="444444"/>
              </a:solidFill>
              <a:effectLst/>
              <a:latin typeface="Arial" panose="020B0604020202020204" pitchFamily="34" charset="0"/>
            </a:endParaRP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The </a:t>
            </a:r>
            <a:r>
              <a:rPr lang="en-AU" sz="2000" b="1" i="0" dirty="0" smtClean="0">
                <a:solidFill>
                  <a:srgbClr val="8C4AB2"/>
                </a:solidFill>
                <a:effectLst/>
                <a:latin typeface="Arial" panose="020B0604020202020204" pitchFamily="34" charset="0"/>
              </a:rPr>
              <a:t>intersection between the principal and optical axes</a:t>
            </a:r>
            <a:r>
              <a:rPr lang="en-AU" sz="2000" b="0" i="0" dirty="0" smtClean="0">
                <a:solidFill>
                  <a:srgbClr val="444444"/>
                </a:solidFill>
                <a:effectLst/>
                <a:latin typeface="Arial" panose="020B0604020202020204" pitchFamily="34" charset="0"/>
              </a:rPr>
              <a:t> is referred to as the </a:t>
            </a:r>
            <a:r>
              <a:rPr lang="en-AU" sz="2000" b="1" i="0" dirty="0" smtClean="0">
                <a:solidFill>
                  <a:srgbClr val="3598DC"/>
                </a:solidFill>
                <a:effectLst/>
                <a:latin typeface="Arial" panose="020B0604020202020204" pitchFamily="34" charset="0"/>
              </a:rPr>
              <a:t>optical centre of the lens,</a:t>
            </a:r>
            <a:r>
              <a:rPr lang="en-AU" sz="2000" b="0" i="0" dirty="0" smtClean="0">
                <a:solidFill>
                  <a:srgbClr val="444444"/>
                </a:solidFill>
                <a:effectLst/>
                <a:latin typeface="Arial" panose="020B0604020202020204" pitchFamily="34" charset="0"/>
              </a:rPr>
              <a:t> denoted in the diagram by OC. Both of the focus points and twice the distance of the focus points are also included along the principal axis. The horizontal and vertical scales of ray diagrams </a:t>
            </a:r>
            <a:r>
              <a:rPr lang="en-AU" sz="2000" b="1" i="0" dirty="0" smtClean="0">
                <a:solidFill>
                  <a:srgbClr val="32B57C"/>
                </a:solidFill>
                <a:effectLst/>
                <a:latin typeface="Arial" panose="020B0604020202020204" pitchFamily="34" charset="0"/>
              </a:rPr>
              <a:t>do not have to be the same.</a:t>
            </a:r>
            <a:r>
              <a:rPr lang="en-AU" sz="2000" b="0" i="0" dirty="0" smtClean="0">
                <a:solidFill>
                  <a:srgbClr val="444444"/>
                </a:solidFill>
                <a:effectLst/>
                <a:latin typeface="Arial" panose="020B0604020202020204" pitchFamily="34" charset="0"/>
              </a:rPr>
              <a:t> In fact, the </a:t>
            </a:r>
            <a:r>
              <a:rPr lang="en-AU" sz="2000" b="1" i="0" dirty="0" smtClean="0">
                <a:solidFill>
                  <a:srgbClr val="3598DC"/>
                </a:solidFill>
                <a:effectLst/>
                <a:latin typeface="Arial" panose="020B0604020202020204" pitchFamily="34" charset="0"/>
              </a:rPr>
              <a:t>vertical scale is often much more magnified</a:t>
            </a:r>
            <a:r>
              <a:rPr lang="en-AU" sz="2000" b="0" i="0" dirty="0" smtClean="0">
                <a:solidFill>
                  <a:srgbClr val="444444"/>
                </a:solidFill>
                <a:effectLst/>
                <a:latin typeface="Arial" panose="020B0604020202020204" pitchFamily="34" charset="0"/>
              </a:rPr>
              <a:t> than the horizontal scale, so that the diagram is easier to draw.</a:t>
            </a:r>
            <a:endParaRPr lang="en-AU" sz="2000" b="0" i="0" dirty="0">
              <a:solidFill>
                <a:srgbClr val="444444"/>
              </a:solidFill>
              <a:effectLst/>
              <a:latin typeface="Arial" panose="020B0604020202020204" pitchFamily="34" charset="0"/>
            </a:endParaRPr>
          </a:p>
        </p:txBody>
      </p:sp>
      <p:pic>
        <p:nvPicPr>
          <p:cNvPr id="6146" name="Picture 2" descr="https://www.educationperfect.com/media/content/Science/1584046740.046241g/1584046738262-3751439691612665-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500" y="3939841"/>
            <a:ext cx="6040437" cy="2918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516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5575" y="76200"/>
            <a:ext cx="11544300" cy="4154984"/>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Once we have the axis of a ray diagram set up we can </a:t>
            </a:r>
            <a:r>
              <a:rPr lang="en-AU" sz="2400" b="1" i="0" dirty="0" smtClean="0">
                <a:solidFill>
                  <a:srgbClr val="B1067D"/>
                </a:solidFill>
                <a:effectLst/>
                <a:latin typeface="Arial" panose="020B0604020202020204" pitchFamily="34" charset="0"/>
              </a:rPr>
              <a:t>add the object</a:t>
            </a:r>
            <a:r>
              <a:rPr lang="en-AU" sz="2400" b="1" i="0" dirty="0" smtClean="0">
                <a:solidFill>
                  <a:srgbClr val="444444"/>
                </a:solidFill>
                <a:effectLst/>
                <a:latin typeface="Arial" panose="020B0604020202020204" pitchFamily="34" charset="0"/>
              </a:rPr>
              <a:t> and start to </a:t>
            </a:r>
            <a:r>
              <a:rPr lang="en-AU" sz="2400" b="1" i="0" dirty="0" smtClean="0">
                <a:solidFill>
                  <a:srgbClr val="6773B2"/>
                </a:solidFill>
                <a:effectLst/>
                <a:latin typeface="Arial" panose="020B0604020202020204" pitchFamily="34" charset="0"/>
              </a:rPr>
              <a:t>determine its refracted image.</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The object is generally </a:t>
            </a:r>
            <a:r>
              <a:rPr lang="en-AU" sz="2400" b="1" i="0" dirty="0" smtClean="0">
                <a:solidFill>
                  <a:srgbClr val="6773B2"/>
                </a:solidFill>
                <a:effectLst/>
                <a:latin typeface="Arial" panose="020B0604020202020204" pitchFamily="34" charset="0"/>
              </a:rPr>
              <a:t>placed to the left of the optical axis</a:t>
            </a:r>
            <a:r>
              <a:rPr lang="en-AU" sz="2400" b="0" i="0" dirty="0" smtClean="0">
                <a:solidFill>
                  <a:srgbClr val="444444"/>
                </a:solidFill>
                <a:effectLst/>
                <a:latin typeface="Arial" panose="020B0604020202020204" pitchFamily="34" charset="0"/>
              </a:rPr>
              <a:t> and is represented by a </a:t>
            </a:r>
            <a:r>
              <a:rPr lang="en-AU" sz="2400" b="1" i="0" dirty="0" smtClean="0">
                <a:solidFill>
                  <a:srgbClr val="B1067D"/>
                </a:solidFill>
                <a:effectLst/>
                <a:latin typeface="Arial" panose="020B0604020202020204" pitchFamily="34" charset="0"/>
              </a:rPr>
              <a:t>vertical arrow, pointing upwards.</a:t>
            </a:r>
            <a:r>
              <a:rPr lang="en-AU" sz="2400" b="0" i="0" dirty="0" smtClean="0">
                <a:solidFill>
                  <a:srgbClr val="444444"/>
                </a:solidFill>
                <a:effectLst/>
                <a:latin typeface="Arial" panose="020B0604020202020204" pitchFamily="34" charset="0"/>
              </a:rPr>
              <a:t> This will make it much easier to determine the nature of the image.</a:t>
            </a: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The object is usually </a:t>
            </a:r>
            <a:r>
              <a:rPr lang="en-AU" sz="2400" b="1" i="0" dirty="0" smtClean="0">
                <a:solidFill>
                  <a:srgbClr val="6773B2"/>
                </a:solidFill>
                <a:effectLst/>
                <a:latin typeface="Arial" panose="020B0604020202020204" pitchFamily="34" charset="0"/>
              </a:rPr>
              <a:t>placed in relation to the properties</a:t>
            </a:r>
            <a:r>
              <a:rPr lang="en-AU" sz="2400" b="0" i="0" dirty="0" smtClean="0">
                <a:solidFill>
                  <a:srgbClr val="444444"/>
                </a:solidFill>
                <a:effectLst/>
                <a:latin typeface="Arial" panose="020B0604020202020204" pitchFamily="34" charset="0"/>
              </a:rPr>
              <a:t> of the lens. For our first example, we will place the </a:t>
            </a:r>
            <a:r>
              <a:rPr lang="en-AU" sz="2400" b="1" i="0" dirty="0" smtClean="0">
                <a:solidFill>
                  <a:srgbClr val="B1067D"/>
                </a:solidFill>
                <a:effectLst/>
                <a:latin typeface="Arial" panose="020B0604020202020204" pitchFamily="34" charset="0"/>
              </a:rPr>
              <a:t>object outside (to the left of) twice the virtual focus</a:t>
            </a:r>
            <a:r>
              <a:rPr lang="en-AU" sz="2400" b="0" i="0" dirty="0" smtClean="0">
                <a:solidFill>
                  <a:srgbClr val="444444"/>
                </a:solidFill>
                <a:effectLst/>
                <a:latin typeface="Arial" panose="020B0604020202020204" pitchFamily="34" charset="0"/>
              </a:rPr>
              <a:t> of the convex lens. Note the virtual focus is located on the </a:t>
            </a:r>
            <a:r>
              <a:rPr lang="en-AU" sz="2400" b="1" i="0" dirty="0" smtClean="0">
                <a:solidFill>
                  <a:srgbClr val="6773B2"/>
                </a:solidFill>
                <a:effectLst/>
                <a:latin typeface="Arial" panose="020B0604020202020204" pitchFamily="34" charset="0"/>
              </a:rPr>
              <a:t>same side of the lens as the object.</a:t>
            </a:r>
            <a:endParaRPr lang="en-AU" sz="2400" b="0" i="0" dirty="0">
              <a:solidFill>
                <a:srgbClr val="444444"/>
              </a:solidFill>
              <a:effectLst/>
              <a:latin typeface="Arial" panose="020B0604020202020204" pitchFamily="34" charset="0"/>
            </a:endParaRPr>
          </a:p>
        </p:txBody>
      </p:sp>
      <p:pic>
        <p:nvPicPr>
          <p:cNvPr id="7170" name="Picture 2" descr="https://www.educationperfect.com/media/content/Science/1584052229.388751g/1584052225995-3751439691612665-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7200" y="3940862"/>
            <a:ext cx="6254750" cy="3006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9860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8800" y="144840"/>
            <a:ext cx="11074400" cy="2246769"/>
          </a:xfrm>
          <a:prstGeom prst="rect">
            <a:avLst/>
          </a:prstGeom>
        </p:spPr>
        <p:txBody>
          <a:bodyPr wrap="square">
            <a:spAutoFit/>
          </a:bodyPr>
          <a:lstStyle/>
          <a:p>
            <a:pPr algn="ctr"/>
            <a:r>
              <a:rPr lang="en-AU" sz="2000" b="1" i="0" dirty="0" smtClean="0">
                <a:solidFill>
                  <a:srgbClr val="444444"/>
                </a:solidFill>
                <a:effectLst/>
                <a:latin typeface="Arial" panose="020B0604020202020204" pitchFamily="34" charset="0"/>
              </a:rPr>
              <a:t>Now that we have set up our ray diagram, we can use </a:t>
            </a:r>
            <a:r>
              <a:rPr lang="en-AU" sz="2000" b="1" i="0" dirty="0" smtClean="0">
                <a:solidFill>
                  <a:srgbClr val="3598DC"/>
                </a:solidFill>
                <a:effectLst/>
                <a:latin typeface="Arial" panose="020B0604020202020204" pitchFamily="34" charset="0"/>
              </a:rPr>
              <a:t>three principal rays</a:t>
            </a:r>
            <a:r>
              <a:rPr lang="en-AU" sz="2000" b="1" i="0" dirty="0" smtClean="0">
                <a:solidFill>
                  <a:srgbClr val="444444"/>
                </a:solidFill>
                <a:effectLst/>
                <a:latin typeface="Arial" panose="020B0604020202020204" pitchFamily="34" charset="0"/>
              </a:rPr>
              <a:t> to determine the </a:t>
            </a:r>
            <a:r>
              <a:rPr lang="en-AU" sz="2000" b="1" i="0" dirty="0" smtClean="0">
                <a:solidFill>
                  <a:srgbClr val="3598DC"/>
                </a:solidFill>
                <a:effectLst/>
                <a:latin typeface="Arial" panose="020B0604020202020204" pitchFamily="34" charset="0"/>
              </a:rPr>
              <a:t>position of the image</a:t>
            </a:r>
            <a:r>
              <a:rPr lang="en-AU" sz="2000" b="1" i="0" dirty="0" smtClean="0">
                <a:solidFill>
                  <a:srgbClr val="444444"/>
                </a:solidFill>
                <a:effectLst/>
                <a:latin typeface="Arial" panose="020B0604020202020204" pitchFamily="34" charset="0"/>
              </a:rPr>
              <a:t> produced by a convex lens.</a:t>
            </a: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The </a:t>
            </a:r>
            <a:r>
              <a:rPr lang="en-AU" sz="2000" b="1" i="0" dirty="0" smtClean="0">
                <a:solidFill>
                  <a:srgbClr val="FF7F50"/>
                </a:solidFill>
                <a:effectLst/>
                <a:latin typeface="Arial" panose="020B0604020202020204" pitchFamily="34" charset="0"/>
              </a:rPr>
              <a:t>first principal ray</a:t>
            </a:r>
            <a:r>
              <a:rPr lang="en-AU" sz="2000" b="0" i="0" dirty="0" smtClean="0">
                <a:solidFill>
                  <a:srgbClr val="444444"/>
                </a:solidFill>
                <a:effectLst/>
                <a:latin typeface="Arial" panose="020B0604020202020204" pitchFamily="34" charset="0"/>
              </a:rPr>
              <a:t> we consider will </a:t>
            </a:r>
            <a:r>
              <a:rPr lang="en-AU" sz="2000" b="1" i="0" dirty="0" smtClean="0">
                <a:solidFill>
                  <a:srgbClr val="3598DC"/>
                </a:solidFill>
                <a:effectLst/>
                <a:latin typeface="Arial" panose="020B0604020202020204" pitchFamily="34" charset="0"/>
              </a:rPr>
              <a:t>start at the top of the object.</a:t>
            </a:r>
            <a:r>
              <a:rPr lang="en-AU" sz="2000" b="0" i="0" dirty="0" smtClean="0">
                <a:solidFill>
                  <a:srgbClr val="444444"/>
                </a:solidFill>
                <a:effectLst/>
                <a:latin typeface="Arial" panose="020B0604020202020204" pitchFamily="34" charset="0"/>
              </a:rPr>
              <a:t> It will then travel </a:t>
            </a:r>
            <a:r>
              <a:rPr lang="en-AU" sz="2000" b="1" i="0" dirty="0" smtClean="0">
                <a:solidFill>
                  <a:srgbClr val="FF7F50"/>
                </a:solidFill>
                <a:effectLst/>
                <a:latin typeface="Arial" panose="020B0604020202020204" pitchFamily="34" charset="0"/>
              </a:rPr>
              <a:t>parallel to the principal axis</a:t>
            </a:r>
            <a:r>
              <a:rPr lang="en-AU" sz="2000" b="0" i="0" dirty="0" smtClean="0">
                <a:solidFill>
                  <a:srgbClr val="444444"/>
                </a:solidFill>
                <a:effectLst/>
                <a:latin typeface="Arial" panose="020B0604020202020204" pitchFamily="34" charset="0"/>
              </a:rPr>
              <a:t> until it reaches the optical axis (the lens). As it refracts from the lens it will travel </a:t>
            </a:r>
            <a:r>
              <a:rPr lang="en-AU" sz="2000" b="1" i="0" dirty="0" smtClean="0">
                <a:solidFill>
                  <a:srgbClr val="FF7F50"/>
                </a:solidFill>
                <a:effectLst/>
                <a:latin typeface="Arial" panose="020B0604020202020204" pitchFamily="34" charset="0"/>
              </a:rPr>
              <a:t>through the real focus of the lens</a:t>
            </a:r>
            <a:r>
              <a:rPr lang="en-AU" sz="2000" b="0" i="0" dirty="0" smtClean="0">
                <a:solidFill>
                  <a:srgbClr val="444444"/>
                </a:solidFill>
                <a:effectLst/>
                <a:latin typeface="Arial" panose="020B0604020202020204" pitchFamily="34" charset="0"/>
              </a:rPr>
              <a:t> (where all the refracted rays of incident parallel rays will converge) and continue on beyond the ray diagram.</a:t>
            </a:r>
            <a:endParaRPr lang="en-AU" sz="2000" b="0" i="0" dirty="0">
              <a:solidFill>
                <a:srgbClr val="444444"/>
              </a:solidFill>
              <a:effectLst/>
              <a:latin typeface="Arial" panose="020B0604020202020204" pitchFamily="34" charset="0"/>
            </a:endParaRPr>
          </a:p>
        </p:txBody>
      </p:sp>
      <p:pic>
        <p:nvPicPr>
          <p:cNvPr id="3" name="1584483508.5511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159000" y="3057921"/>
            <a:ext cx="7874000" cy="3555603"/>
          </a:xfrm>
          <a:prstGeom prst="rect">
            <a:avLst/>
          </a:prstGeom>
        </p:spPr>
      </p:pic>
    </p:spTree>
    <p:extLst>
      <p:ext uri="{BB962C8B-B14F-4D97-AF65-F5344CB8AC3E}">
        <p14:creationId xmlns:p14="http://schemas.microsoft.com/office/powerpoint/2010/main" val="839382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90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0" y="285740"/>
            <a:ext cx="11760200" cy="2554545"/>
          </a:xfrm>
          <a:prstGeom prst="rect">
            <a:avLst/>
          </a:prstGeom>
        </p:spPr>
        <p:txBody>
          <a:bodyPr wrap="square">
            <a:spAutoFit/>
          </a:bodyPr>
          <a:lstStyle/>
          <a:p>
            <a:pPr algn="ctr"/>
            <a:r>
              <a:rPr lang="en-AU" sz="2000" b="1" i="0" dirty="0" smtClean="0">
                <a:solidFill>
                  <a:srgbClr val="444444"/>
                </a:solidFill>
                <a:effectLst/>
                <a:latin typeface="Arial" panose="020B0604020202020204" pitchFamily="34" charset="0"/>
              </a:rPr>
              <a:t>The </a:t>
            </a:r>
            <a:r>
              <a:rPr lang="en-AU" sz="2000" b="1" i="0" dirty="0" smtClean="0">
                <a:solidFill>
                  <a:srgbClr val="3598DC"/>
                </a:solidFill>
                <a:effectLst/>
                <a:latin typeface="Arial" panose="020B0604020202020204" pitchFamily="34" charset="0"/>
              </a:rPr>
              <a:t>second principal ray</a:t>
            </a:r>
            <a:r>
              <a:rPr lang="en-AU" sz="2000" b="1" i="0" dirty="0" smtClean="0">
                <a:solidFill>
                  <a:srgbClr val="444444"/>
                </a:solidFill>
                <a:effectLst/>
                <a:latin typeface="Arial" panose="020B0604020202020204" pitchFamily="34" charset="0"/>
              </a:rPr>
              <a:t> we will consider is the </a:t>
            </a:r>
            <a:r>
              <a:rPr lang="en-AU" sz="2000" b="1" i="0" dirty="0" smtClean="0">
                <a:solidFill>
                  <a:srgbClr val="B1067D"/>
                </a:solidFill>
                <a:effectLst/>
                <a:latin typeface="Arial" panose="020B0604020202020204" pitchFamily="34" charset="0"/>
              </a:rPr>
              <a:t>reverse process</a:t>
            </a:r>
            <a:r>
              <a:rPr lang="en-AU" sz="2000" b="1" i="0" dirty="0" smtClean="0">
                <a:solidFill>
                  <a:srgbClr val="444444"/>
                </a:solidFill>
                <a:effectLst/>
                <a:latin typeface="Arial" panose="020B0604020202020204" pitchFamily="34" charset="0"/>
              </a:rPr>
              <a:t> of the first principal ray.</a:t>
            </a: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The </a:t>
            </a:r>
            <a:r>
              <a:rPr lang="en-AU" sz="2000" b="1" i="0" dirty="0" smtClean="0">
                <a:solidFill>
                  <a:srgbClr val="3598DC"/>
                </a:solidFill>
                <a:effectLst/>
                <a:latin typeface="Arial" panose="020B0604020202020204" pitchFamily="34" charset="0"/>
              </a:rPr>
              <a:t>second principal ray</a:t>
            </a:r>
            <a:r>
              <a:rPr lang="en-AU" sz="2000" b="0" i="0" dirty="0" smtClean="0">
                <a:solidFill>
                  <a:srgbClr val="444444"/>
                </a:solidFill>
                <a:effectLst/>
                <a:latin typeface="Arial" panose="020B0604020202020204" pitchFamily="34" charset="0"/>
              </a:rPr>
              <a:t> will also </a:t>
            </a:r>
            <a:r>
              <a:rPr lang="en-AU" sz="2000" b="1" i="0" dirty="0" smtClean="0">
                <a:solidFill>
                  <a:srgbClr val="B1067D"/>
                </a:solidFill>
                <a:effectLst/>
                <a:latin typeface="Arial" panose="020B0604020202020204" pitchFamily="34" charset="0"/>
              </a:rPr>
              <a:t>start at the top of the object.</a:t>
            </a:r>
            <a:r>
              <a:rPr lang="en-AU" sz="2000" b="0" i="0" dirty="0" smtClean="0">
                <a:solidFill>
                  <a:srgbClr val="444444"/>
                </a:solidFill>
                <a:effectLst/>
                <a:latin typeface="Arial" panose="020B0604020202020204" pitchFamily="34" charset="0"/>
              </a:rPr>
              <a:t> It will then travel to the optical axis by passing </a:t>
            </a:r>
            <a:r>
              <a:rPr lang="en-AU" sz="2000" b="1" i="0" dirty="0" smtClean="0">
                <a:solidFill>
                  <a:srgbClr val="3598DC"/>
                </a:solidFill>
                <a:effectLst/>
                <a:latin typeface="Arial" panose="020B0604020202020204" pitchFamily="34" charset="0"/>
              </a:rPr>
              <a:t>through the virtual focus</a:t>
            </a:r>
            <a:r>
              <a:rPr lang="en-AU" sz="2000" b="0" i="0" dirty="0" smtClean="0">
                <a:solidFill>
                  <a:srgbClr val="444444"/>
                </a:solidFill>
                <a:effectLst/>
                <a:latin typeface="Arial" panose="020B0604020202020204" pitchFamily="34" charset="0"/>
              </a:rPr>
              <a:t> of the convex lens. Once it reaches the optical axis it will be </a:t>
            </a:r>
            <a:r>
              <a:rPr lang="en-AU" sz="2000" b="1" i="0" dirty="0" smtClean="0">
                <a:solidFill>
                  <a:srgbClr val="B1067D"/>
                </a:solidFill>
                <a:effectLst/>
                <a:latin typeface="Arial" panose="020B0604020202020204" pitchFamily="34" charset="0"/>
              </a:rPr>
              <a:t>refracted</a:t>
            </a:r>
            <a:r>
              <a:rPr lang="en-AU" sz="2000" b="0" i="0" dirty="0" smtClean="0">
                <a:solidFill>
                  <a:srgbClr val="444444"/>
                </a:solidFill>
                <a:effectLst/>
                <a:latin typeface="Arial" panose="020B0604020202020204" pitchFamily="34" charset="0"/>
              </a:rPr>
              <a:t> such that it travels </a:t>
            </a:r>
            <a:r>
              <a:rPr lang="en-AU" sz="2000" b="1" i="0" dirty="0" smtClean="0">
                <a:solidFill>
                  <a:srgbClr val="3598DC"/>
                </a:solidFill>
                <a:effectLst/>
                <a:latin typeface="Arial" panose="020B0604020202020204" pitchFamily="34" charset="0"/>
              </a:rPr>
              <a:t>parallel to the principal axis.</a:t>
            </a:r>
            <a:endParaRPr lang="en-AU" sz="2000" b="0" i="0" dirty="0" smtClean="0">
              <a:solidFill>
                <a:srgbClr val="444444"/>
              </a:solidFill>
              <a:effectLst/>
              <a:latin typeface="Arial" panose="020B0604020202020204" pitchFamily="34" charset="0"/>
            </a:endParaRP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This rule is often shortened to: </a:t>
            </a:r>
            <a:r>
              <a:rPr lang="en-AU" sz="2000" b="0" i="1" dirty="0" smtClean="0">
                <a:solidFill>
                  <a:srgbClr val="444444"/>
                </a:solidFill>
                <a:effectLst/>
                <a:latin typeface="Arial" panose="020B0604020202020204" pitchFamily="34" charset="0"/>
              </a:rPr>
              <a:t>"an incident ray travelling through the virtual focus will be refracted parallel to the principal axis."</a:t>
            </a:r>
            <a:endParaRPr lang="en-AU" sz="2000" b="0" i="0" dirty="0">
              <a:solidFill>
                <a:srgbClr val="444444"/>
              </a:solidFill>
              <a:effectLst/>
              <a:latin typeface="Arial" panose="020B0604020202020204" pitchFamily="34" charset="0"/>
            </a:endParaRPr>
          </a:p>
        </p:txBody>
      </p:sp>
      <p:pic>
        <p:nvPicPr>
          <p:cNvPr id="3" name="1584483484.5793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349500" y="3067347"/>
            <a:ext cx="7937500" cy="3584277"/>
          </a:xfrm>
          <a:prstGeom prst="rect">
            <a:avLst/>
          </a:prstGeom>
        </p:spPr>
      </p:pic>
    </p:spTree>
    <p:extLst>
      <p:ext uri="{BB962C8B-B14F-4D97-AF65-F5344CB8AC3E}">
        <p14:creationId xmlns:p14="http://schemas.microsoft.com/office/powerpoint/2010/main" val="292355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90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100" y="132140"/>
            <a:ext cx="11684000" cy="3416320"/>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a:t>
            </a:r>
            <a:r>
              <a:rPr lang="en-AU" sz="2400" b="1" i="0" dirty="0" smtClean="0">
                <a:solidFill>
                  <a:srgbClr val="8C4AB2"/>
                </a:solidFill>
                <a:effectLst/>
                <a:latin typeface="Arial" panose="020B0604020202020204" pitchFamily="34" charset="0"/>
              </a:rPr>
              <a:t>third principal ray</a:t>
            </a:r>
            <a:r>
              <a:rPr lang="en-AU" sz="2400" b="1" i="0" dirty="0" smtClean="0">
                <a:solidFill>
                  <a:srgbClr val="444444"/>
                </a:solidFill>
                <a:effectLst/>
                <a:latin typeface="Arial" panose="020B0604020202020204" pitchFamily="34" charset="0"/>
              </a:rPr>
              <a:t> we will consider is </a:t>
            </a:r>
            <a:r>
              <a:rPr lang="en-AU" sz="2400" b="1" i="0" dirty="0" smtClean="0">
                <a:solidFill>
                  <a:srgbClr val="3770C7"/>
                </a:solidFill>
                <a:effectLst/>
                <a:latin typeface="Arial" panose="020B0604020202020204" pitchFamily="34" charset="0"/>
              </a:rPr>
              <a:t>unaffected</a:t>
            </a:r>
            <a:r>
              <a:rPr lang="en-AU" sz="2400" b="1" i="0" dirty="0" smtClean="0">
                <a:solidFill>
                  <a:srgbClr val="444444"/>
                </a:solidFill>
                <a:effectLst/>
                <a:latin typeface="Arial" panose="020B0604020202020204" pitchFamily="34" charset="0"/>
              </a:rPr>
              <a:t> by the lens.</a:t>
            </a: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The third principal ray </a:t>
            </a:r>
            <a:r>
              <a:rPr lang="en-AU" sz="2400" b="1" i="0" dirty="0" smtClean="0">
                <a:solidFill>
                  <a:srgbClr val="3770C7"/>
                </a:solidFill>
                <a:effectLst/>
                <a:latin typeface="Arial" panose="020B0604020202020204" pitchFamily="34" charset="0"/>
              </a:rPr>
              <a:t>starts at the top of the object</a:t>
            </a:r>
            <a:r>
              <a:rPr lang="en-AU" sz="2400" b="0" i="0" dirty="0" smtClean="0">
                <a:solidFill>
                  <a:srgbClr val="444444"/>
                </a:solidFill>
                <a:effectLst/>
                <a:latin typeface="Arial" panose="020B0604020202020204" pitchFamily="34" charset="0"/>
              </a:rPr>
              <a:t> (the same as the two previous rays). It then travels from the </a:t>
            </a:r>
            <a:r>
              <a:rPr lang="en-AU" sz="2400" b="1" i="0" dirty="0" smtClean="0">
                <a:solidFill>
                  <a:srgbClr val="8C4AB2"/>
                </a:solidFill>
                <a:effectLst/>
                <a:latin typeface="Arial" panose="020B0604020202020204" pitchFamily="34" charset="0"/>
              </a:rPr>
              <a:t>top of the object to the optical centre</a:t>
            </a:r>
            <a:r>
              <a:rPr lang="en-AU" sz="2400" b="0" i="0" dirty="0" smtClean="0">
                <a:solidFill>
                  <a:srgbClr val="444444"/>
                </a:solidFill>
                <a:effectLst/>
                <a:latin typeface="Arial" panose="020B0604020202020204" pitchFamily="34" charset="0"/>
              </a:rPr>
              <a:t> of the lens. It will pass through the optical centre of the lens along the same path, </a:t>
            </a:r>
            <a:r>
              <a:rPr lang="en-AU" sz="2400" b="1" i="0" dirty="0" smtClean="0">
                <a:solidFill>
                  <a:srgbClr val="3770C7"/>
                </a:solidFill>
                <a:effectLst/>
                <a:latin typeface="Arial" panose="020B0604020202020204" pitchFamily="34" charset="0"/>
              </a:rPr>
              <a:t>without undergoing any refraction.</a:t>
            </a:r>
            <a:endParaRPr lang="en-AU" sz="2400" b="0"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Shortening this rule: </a:t>
            </a:r>
            <a:r>
              <a:rPr lang="en-AU" sz="2400" b="0" i="1" dirty="0" smtClean="0">
                <a:solidFill>
                  <a:srgbClr val="444444"/>
                </a:solidFill>
                <a:effectLst/>
                <a:latin typeface="Arial" panose="020B0604020202020204" pitchFamily="34" charset="0"/>
              </a:rPr>
              <a:t>"A ray will travel straight through the optical centre of the lens, unaffected by refraction."</a:t>
            </a:r>
            <a:endParaRPr lang="en-AU" sz="2400" b="0" i="0" dirty="0">
              <a:solidFill>
                <a:srgbClr val="444444"/>
              </a:solidFill>
              <a:effectLst/>
              <a:latin typeface="Arial" panose="020B0604020202020204" pitchFamily="34" charset="0"/>
            </a:endParaRPr>
          </a:p>
        </p:txBody>
      </p:sp>
      <p:pic>
        <p:nvPicPr>
          <p:cNvPr id="3" name="1584483463.5538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946400" y="3950097"/>
            <a:ext cx="5842000" cy="2638028"/>
          </a:xfrm>
          <a:prstGeom prst="rect">
            <a:avLst/>
          </a:prstGeom>
        </p:spPr>
      </p:pic>
    </p:spTree>
    <p:extLst>
      <p:ext uri="{BB962C8B-B14F-4D97-AF65-F5344CB8AC3E}">
        <p14:creationId xmlns:p14="http://schemas.microsoft.com/office/powerpoint/2010/main" val="33823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90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000" y="302359"/>
            <a:ext cx="11938000" cy="4093428"/>
          </a:xfrm>
          <a:prstGeom prst="rect">
            <a:avLst/>
          </a:prstGeom>
        </p:spPr>
        <p:txBody>
          <a:bodyPr wrap="square">
            <a:spAutoFit/>
          </a:bodyPr>
          <a:lstStyle/>
          <a:p>
            <a:pPr algn="ctr"/>
            <a:r>
              <a:rPr lang="en-AU" sz="2000" b="1" i="0" dirty="0" smtClean="0">
                <a:solidFill>
                  <a:srgbClr val="444444"/>
                </a:solidFill>
                <a:effectLst/>
                <a:latin typeface="Arial" panose="020B0604020202020204" pitchFamily="34" charset="0"/>
              </a:rPr>
              <a:t>To determine the </a:t>
            </a:r>
            <a:r>
              <a:rPr lang="en-AU" sz="2000" b="1" i="0" dirty="0" smtClean="0">
                <a:solidFill>
                  <a:srgbClr val="3598DC"/>
                </a:solidFill>
                <a:effectLst/>
                <a:latin typeface="Arial" panose="020B0604020202020204" pitchFamily="34" charset="0"/>
              </a:rPr>
              <a:t>location of the image</a:t>
            </a:r>
            <a:r>
              <a:rPr lang="en-AU" sz="2000" b="1" i="0" dirty="0" smtClean="0">
                <a:solidFill>
                  <a:srgbClr val="444444"/>
                </a:solidFill>
                <a:effectLst/>
                <a:latin typeface="Arial" panose="020B0604020202020204" pitchFamily="34" charset="0"/>
              </a:rPr>
              <a:t> we need to </a:t>
            </a:r>
            <a:r>
              <a:rPr lang="en-AU" sz="2000" b="1" i="0" dirty="0" smtClean="0">
                <a:solidFill>
                  <a:srgbClr val="8C4AB2"/>
                </a:solidFill>
                <a:effectLst/>
                <a:latin typeface="Arial" panose="020B0604020202020204" pitchFamily="34" charset="0"/>
              </a:rPr>
              <a:t>combine three principal rays</a:t>
            </a:r>
            <a:r>
              <a:rPr lang="en-AU" sz="2000" b="1" i="0" dirty="0" smtClean="0">
                <a:solidFill>
                  <a:srgbClr val="444444"/>
                </a:solidFill>
                <a:effectLst/>
                <a:latin typeface="Arial" panose="020B0604020202020204" pitchFamily="34" charset="0"/>
              </a:rPr>
              <a:t> onto one diagram.</a:t>
            </a: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As we draw on three principal rays (always starting from the top of the object) we notice that the three </a:t>
            </a:r>
            <a:r>
              <a:rPr lang="en-AU" sz="2000" b="1" i="0" dirty="0" smtClean="0">
                <a:solidFill>
                  <a:srgbClr val="FF7F50"/>
                </a:solidFill>
                <a:effectLst/>
                <a:latin typeface="Arial" panose="020B0604020202020204" pitchFamily="34" charset="0"/>
              </a:rPr>
              <a:t>refracted rays all converge</a:t>
            </a:r>
            <a:r>
              <a:rPr lang="en-AU" sz="2000" b="0" i="0" dirty="0" smtClean="0">
                <a:solidFill>
                  <a:srgbClr val="444444"/>
                </a:solidFill>
                <a:effectLst/>
                <a:latin typeface="Arial" panose="020B0604020202020204" pitchFamily="34" charset="0"/>
              </a:rPr>
              <a:t> at a point below the principal axis. This point of intersection between the three refracted rays </a:t>
            </a:r>
            <a:r>
              <a:rPr lang="en-AU" sz="2000" b="1" i="0" dirty="0" smtClean="0">
                <a:solidFill>
                  <a:srgbClr val="3598DC"/>
                </a:solidFill>
                <a:effectLst/>
                <a:latin typeface="Arial" panose="020B0604020202020204" pitchFamily="34" charset="0"/>
              </a:rPr>
              <a:t>identifies the top of the image.</a:t>
            </a:r>
            <a:endParaRPr lang="en-AU" sz="2000" b="0" i="0" dirty="0" smtClean="0">
              <a:solidFill>
                <a:srgbClr val="444444"/>
              </a:solidFill>
              <a:effectLst/>
              <a:latin typeface="Arial" panose="020B0604020202020204" pitchFamily="34" charset="0"/>
            </a:endParaRP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We can trace this location </a:t>
            </a:r>
            <a:r>
              <a:rPr lang="en-AU" sz="2000" b="1" i="0" dirty="0" smtClean="0">
                <a:solidFill>
                  <a:srgbClr val="8C4AB2"/>
                </a:solidFill>
                <a:effectLst/>
                <a:latin typeface="Arial" panose="020B0604020202020204" pitchFamily="34" charset="0"/>
              </a:rPr>
              <a:t>vertically back to the principal axis</a:t>
            </a:r>
            <a:r>
              <a:rPr lang="en-AU" sz="2000" b="0" i="0" dirty="0" smtClean="0">
                <a:solidFill>
                  <a:srgbClr val="444444"/>
                </a:solidFill>
                <a:effectLst/>
                <a:latin typeface="Arial" panose="020B0604020202020204" pitchFamily="34" charset="0"/>
              </a:rPr>
              <a:t> to show the formation of the image. Although </a:t>
            </a:r>
            <a:r>
              <a:rPr lang="en-AU" sz="2000" b="1" i="0" dirty="0" smtClean="0">
                <a:solidFill>
                  <a:srgbClr val="3598DC"/>
                </a:solidFill>
                <a:effectLst/>
                <a:latin typeface="Arial" panose="020B0604020202020204" pitchFamily="34" charset="0"/>
              </a:rPr>
              <a:t>two of the principal rays would be sufficient</a:t>
            </a:r>
            <a:r>
              <a:rPr lang="en-AU" sz="2000" b="0" i="0" dirty="0" smtClean="0">
                <a:solidFill>
                  <a:srgbClr val="444444"/>
                </a:solidFill>
                <a:effectLst/>
                <a:latin typeface="Arial" panose="020B0604020202020204" pitchFamily="34" charset="0"/>
              </a:rPr>
              <a:t> to determine the location of the image, we include a third principal ray just to </a:t>
            </a:r>
            <a:r>
              <a:rPr lang="en-AU" sz="2000" b="1" i="0" dirty="0" smtClean="0">
                <a:solidFill>
                  <a:srgbClr val="FF7F50"/>
                </a:solidFill>
                <a:effectLst/>
                <a:latin typeface="Arial" panose="020B0604020202020204" pitchFamily="34" charset="0"/>
              </a:rPr>
              <a:t>make sure we have the correct spot.</a:t>
            </a:r>
            <a:endParaRPr lang="en-AU" sz="2000" b="0" i="0" dirty="0" smtClean="0">
              <a:solidFill>
                <a:srgbClr val="444444"/>
              </a:solidFill>
              <a:effectLst/>
              <a:latin typeface="Arial" panose="020B0604020202020204" pitchFamily="34" charset="0"/>
            </a:endParaRP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The image in the ray diagram below is </a:t>
            </a:r>
            <a:r>
              <a:rPr lang="en-AU" sz="2000" b="1" i="0" dirty="0" smtClean="0">
                <a:solidFill>
                  <a:srgbClr val="8C4AB2"/>
                </a:solidFill>
                <a:effectLst/>
                <a:latin typeface="Arial" panose="020B0604020202020204" pitchFamily="34" charset="0"/>
              </a:rPr>
              <a:t>formed between the real focus and twice the real focus</a:t>
            </a:r>
            <a:r>
              <a:rPr lang="en-AU" sz="2000" b="0" i="0" dirty="0" smtClean="0">
                <a:solidFill>
                  <a:srgbClr val="444444"/>
                </a:solidFill>
                <a:effectLst/>
                <a:latin typeface="Arial" panose="020B0604020202020204" pitchFamily="34" charset="0"/>
              </a:rPr>
              <a:t> of the convex lens.</a:t>
            </a:r>
            <a:endParaRPr lang="en-AU" sz="2000" b="0" i="0" dirty="0">
              <a:solidFill>
                <a:srgbClr val="444444"/>
              </a:solidFill>
              <a:effectLst/>
              <a:latin typeface="Arial" panose="020B0604020202020204" pitchFamily="34" charset="0"/>
            </a:endParaRPr>
          </a:p>
        </p:txBody>
      </p:sp>
      <p:pic>
        <p:nvPicPr>
          <p:cNvPr id="3" name="1584483437.8585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484371" y="4051300"/>
            <a:ext cx="5477258" cy="2473325"/>
          </a:xfrm>
          <a:prstGeom prst="rect">
            <a:avLst/>
          </a:prstGeom>
        </p:spPr>
      </p:pic>
    </p:spTree>
    <p:extLst>
      <p:ext uri="{BB962C8B-B14F-4D97-AF65-F5344CB8AC3E}">
        <p14:creationId xmlns:p14="http://schemas.microsoft.com/office/powerpoint/2010/main" val="1395188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60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9900" y="296545"/>
            <a:ext cx="11455400" cy="4093428"/>
          </a:xfrm>
          <a:prstGeom prst="rect">
            <a:avLst/>
          </a:prstGeom>
        </p:spPr>
        <p:txBody>
          <a:bodyPr wrap="square">
            <a:spAutoFit/>
          </a:bodyPr>
          <a:lstStyle/>
          <a:p>
            <a:pPr algn="ctr"/>
            <a:r>
              <a:rPr lang="en-AU" sz="2000" b="1" i="0" dirty="0" smtClean="0">
                <a:solidFill>
                  <a:srgbClr val="444444"/>
                </a:solidFill>
                <a:effectLst/>
                <a:latin typeface="Arial" panose="020B0604020202020204" pitchFamily="34" charset="0"/>
              </a:rPr>
              <a:t>It is not enough just to show the location of the image on a ray diagram. Often we also need to </a:t>
            </a:r>
            <a:r>
              <a:rPr lang="en-AU" sz="2000" b="1" i="0" dirty="0" smtClean="0">
                <a:solidFill>
                  <a:srgbClr val="8C4AB2"/>
                </a:solidFill>
                <a:effectLst/>
                <a:latin typeface="Arial" panose="020B0604020202020204" pitchFamily="34" charset="0"/>
              </a:rPr>
              <a:t>describe the nature of the image,</a:t>
            </a:r>
            <a:r>
              <a:rPr lang="en-AU" sz="2000" b="1" i="0" dirty="0" smtClean="0">
                <a:solidFill>
                  <a:srgbClr val="444444"/>
                </a:solidFill>
                <a:effectLst/>
                <a:latin typeface="Arial" panose="020B0604020202020204" pitchFamily="34" charset="0"/>
              </a:rPr>
              <a:t> consisting of </a:t>
            </a:r>
            <a:r>
              <a:rPr lang="en-AU" sz="2000" b="1" i="0" dirty="0" smtClean="0">
                <a:solidFill>
                  <a:srgbClr val="3598DC"/>
                </a:solidFill>
                <a:effectLst/>
                <a:latin typeface="Arial" panose="020B0604020202020204" pitchFamily="34" charset="0"/>
              </a:rPr>
              <a:t>three different properties.</a:t>
            </a:r>
            <a:endParaRPr lang="en-AU" sz="2000" b="1" i="0" dirty="0" smtClean="0">
              <a:solidFill>
                <a:srgbClr val="444444"/>
              </a:solidFill>
              <a:effectLst/>
              <a:latin typeface="Arial" panose="020B0604020202020204" pitchFamily="34" charset="0"/>
            </a:endParaRP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In the ray diagram below, we can see that the </a:t>
            </a:r>
            <a:r>
              <a:rPr lang="en-AU" sz="2000" b="1" i="0" dirty="0" smtClean="0">
                <a:solidFill>
                  <a:srgbClr val="3598DC"/>
                </a:solidFill>
                <a:effectLst/>
                <a:latin typeface="Arial" panose="020B0604020202020204" pitchFamily="34" charset="0"/>
              </a:rPr>
              <a:t>image is upside down</a:t>
            </a:r>
            <a:r>
              <a:rPr lang="en-AU" sz="2000" b="0" i="0" dirty="0" smtClean="0">
                <a:solidFill>
                  <a:srgbClr val="444444"/>
                </a:solidFill>
                <a:effectLst/>
                <a:latin typeface="Arial" panose="020B0604020202020204" pitchFamily="34" charset="0"/>
              </a:rPr>
              <a:t> (compared to the object). The arrow is now </a:t>
            </a:r>
            <a:r>
              <a:rPr lang="en-AU" sz="2000" b="1" i="0" dirty="0" smtClean="0">
                <a:solidFill>
                  <a:srgbClr val="FF7F50"/>
                </a:solidFill>
                <a:effectLst/>
                <a:latin typeface="Arial" panose="020B0604020202020204" pitchFamily="34" charset="0"/>
              </a:rPr>
              <a:t>pointing downwards</a:t>
            </a:r>
            <a:r>
              <a:rPr lang="en-AU" sz="2000" b="0" i="0" dirty="0" smtClean="0">
                <a:solidFill>
                  <a:srgbClr val="444444"/>
                </a:solidFill>
                <a:effectLst/>
                <a:latin typeface="Arial" panose="020B0604020202020204" pitchFamily="34" charset="0"/>
              </a:rPr>
              <a:t> instead of upwards. We refer to this as an </a:t>
            </a:r>
            <a:r>
              <a:rPr lang="en-AU" sz="2000" b="1" i="0" dirty="0" smtClean="0">
                <a:solidFill>
                  <a:srgbClr val="FF7F50"/>
                </a:solidFill>
                <a:effectLst/>
                <a:latin typeface="Arial" panose="020B0604020202020204" pitchFamily="34" charset="0"/>
              </a:rPr>
              <a:t>inverted image.</a:t>
            </a:r>
            <a:r>
              <a:rPr lang="en-AU" sz="2000" b="0" i="0" dirty="0" smtClean="0">
                <a:solidFill>
                  <a:srgbClr val="444444"/>
                </a:solidFill>
                <a:effectLst/>
                <a:latin typeface="Arial" panose="020B0604020202020204" pitchFamily="34" charset="0"/>
              </a:rPr>
              <a:t> If the arrow points upwards in the image it would be called an </a:t>
            </a:r>
            <a:r>
              <a:rPr lang="en-AU" sz="2000" b="1" i="0" dirty="0" smtClean="0">
                <a:solidFill>
                  <a:srgbClr val="8C4AB2"/>
                </a:solidFill>
                <a:effectLst/>
                <a:latin typeface="Arial" panose="020B0604020202020204" pitchFamily="34" charset="0"/>
              </a:rPr>
              <a:t>upright image.</a:t>
            </a:r>
            <a:endParaRPr lang="en-AU" sz="2000" b="0" i="0" dirty="0" smtClean="0">
              <a:solidFill>
                <a:srgbClr val="444444"/>
              </a:solidFill>
              <a:effectLst/>
              <a:latin typeface="Arial" panose="020B0604020202020204" pitchFamily="34" charset="0"/>
            </a:endParaRP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If we placed a screen at the location of the image, we would be able to </a:t>
            </a:r>
            <a:r>
              <a:rPr lang="en-AU" sz="2000" b="1" i="0" dirty="0" smtClean="0">
                <a:solidFill>
                  <a:srgbClr val="3598DC"/>
                </a:solidFill>
                <a:effectLst/>
                <a:latin typeface="Arial" panose="020B0604020202020204" pitchFamily="34" charset="0"/>
              </a:rPr>
              <a:t>see the image on the screen.</a:t>
            </a:r>
            <a:r>
              <a:rPr lang="en-AU" sz="2000" b="0" i="0" dirty="0" smtClean="0">
                <a:solidFill>
                  <a:srgbClr val="444444"/>
                </a:solidFill>
                <a:effectLst/>
                <a:latin typeface="Arial" panose="020B0604020202020204" pitchFamily="34" charset="0"/>
              </a:rPr>
              <a:t> Thus, we have created </a:t>
            </a:r>
            <a:r>
              <a:rPr lang="en-AU" sz="2000" b="1" i="0" dirty="0" smtClean="0">
                <a:solidFill>
                  <a:srgbClr val="FF7F50"/>
                </a:solidFill>
                <a:effectLst/>
                <a:latin typeface="Arial" panose="020B0604020202020204" pitchFamily="34" charset="0"/>
              </a:rPr>
              <a:t>a real image, formed from real light rays.</a:t>
            </a:r>
            <a:r>
              <a:rPr lang="en-AU" sz="2000" b="0" i="0" dirty="0" smtClean="0">
                <a:solidFill>
                  <a:srgbClr val="444444"/>
                </a:solidFill>
                <a:effectLst/>
                <a:latin typeface="Arial" panose="020B0604020202020204" pitchFamily="34" charset="0"/>
              </a:rPr>
              <a:t> If an image is not real, it is referred to as </a:t>
            </a:r>
            <a:r>
              <a:rPr lang="en-AU" sz="2000" b="1" i="0" dirty="0" smtClean="0">
                <a:solidFill>
                  <a:srgbClr val="8C4AB2"/>
                </a:solidFill>
                <a:effectLst/>
                <a:latin typeface="Arial" panose="020B0604020202020204" pitchFamily="34" charset="0"/>
              </a:rPr>
              <a:t>a virtual image.</a:t>
            </a:r>
            <a:endParaRPr lang="en-AU" sz="2000" b="0" i="0" dirty="0" smtClean="0">
              <a:solidFill>
                <a:srgbClr val="444444"/>
              </a:solidFill>
              <a:effectLst/>
              <a:latin typeface="Arial" panose="020B0604020202020204" pitchFamily="34" charset="0"/>
            </a:endParaRP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It turns out that </a:t>
            </a:r>
            <a:r>
              <a:rPr lang="en-AU" sz="2000" b="1" i="0" dirty="0" smtClean="0">
                <a:solidFill>
                  <a:srgbClr val="8C4AB2"/>
                </a:solidFill>
                <a:effectLst/>
                <a:latin typeface="Arial" panose="020B0604020202020204" pitchFamily="34" charset="0"/>
              </a:rPr>
              <a:t>real images are always inverted</a:t>
            </a:r>
            <a:r>
              <a:rPr lang="en-AU" sz="2000" b="0" i="0" dirty="0" smtClean="0">
                <a:solidFill>
                  <a:srgbClr val="444444"/>
                </a:solidFill>
                <a:effectLst/>
                <a:latin typeface="Arial" panose="020B0604020202020204" pitchFamily="34" charset="0"/>
              </a:rPr>
              <a:t> and </a:t>
            </a:r>
            <a:r>
              <a:rPr lang="en-AU" sz="2000" b="1" i="0" dirty="0" smtClean="0">
                <a:solidFill>
                  <a:srgbClr val="3598DC"/>
                </a:solidFill>
                <a:effectLst/>
                <a:latin typeface="Arial" panose="020B0604020202020204" pitchFamily="34" charset="0"/>
              </a:rPr>
              <a:t>inverted images are always real.</a:t>
            </a:r>
            <a:r>
              <a:rPr lang="en-AU" sz="2000" b="0" i="0" dirty="0" smtClean="0">
                <a:solidFill>
                  <a:srgbClr val="444444"/>
                </a:solidFill>
                <a:effectLst/>
                <a:latin typeface="Arial" panose="020B0604020202020204" pitchFamily="34" charset="0"/>
              </a:rPr>
              <a:t> Thus, if we know one of these properties we will know the other also.</a:t>
            </a:r>
            <a:endParaRPr lang="en-AU" sz="2000"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3487668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400040"/>
            <a:ext cx="11341100" cy="2862322"/>
          </a:xfrm>
          <a:prstGeom prst="rect">
            <a:avLst/>
          </a:prstGeom>
        </p:spPr>
        <p:txBody>
          <a:bodyPr wrap="square">
            <a:spAutoFit/>
          </a:bodyPr>
          <a:lstStyle/>
          <a:p>
            <a:pPr algn="ctr"/>
            <a:r>
              <a:rPr lang="en-AU" sz="2000" b="1" i="0" dirty="0" smtClean="0">
                <a:solidFill>
                  <a:srgbClr val="444444"/>
                </a:solidFill>
                <a:effectLst/>
                <a:latin typeface="Arial" panose="020B0604020202020204" pitchFamily="34" charset="0"/>
              </a:rPr>
              <a:t>The last thing we need to consider to describe the nature of the image is its </a:t>
            </a:r>
            <a:r>
              <a:rPr lang="en-AU" sz="2000" b="1" i="0" dirty="0" smtClean="0">
                <a:solidFill>
                  <a:srgbClr val="3598DC"/>
                </a:solidFill>
                <a:effectLst/>
                <a:latin typeface="Arial" panose="020B0604020202020204" pitchFamily="34" charset="0"/>
              </a:rPr>
              <a:t>relative size.</a:t>
            </a:r>
            <a:endParaRPr lang="en-AU" sz="2000" b="1" i="0" dirty="0" smtClean="0">
              <a:solidFill>
                <a:srgbClr val="444444"/>
              </a:solidFill>
              <a:effectLst/>
              <a:latin typeface="Arial" panose="020B0604020202020204" pitchFamily="34" charset="0"/>
            </a:endParaRP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The image in the ray diagram below is </a:t>
            </a:r>
            <a:r>
              <a:rPr lang="en-AU" sz="2000" b="1" i="0" dirty="0" smtClean="0">
                <a:solidFill>
                  <a:srgbClr val="FF7F50"/>
                </a:solidFill>
                <a:effectLst/>
                <a:latin typeface="Arial" panose="020B0604020202020204" pitchFamily="34" charset="0"/>
              </a:rPr>
              <a:t>smaller than the object.</a:t>
            </a:r>
            <a:r>
              <a:rPr lang="en-AU" sz="2000" b="0" i="0" dirty="0" smtClean="0">
                <a:solidFill>
                  <a:srgbClr val="444444"/>
                </a:solidFill>
                <a:effectLst/>
                <a:latin typeface="Arial" panose="020B0604020202020204" pitchFamily="34" charset="0"/>
              </a:rPr>
              <a:t> We refer to this image as being </a:t>
            </a:r>
            <a:r>
              <a:rPr lang="en-AU" sz="2000" b="1" i="0" dirty="0" smtClean="0">
                <a:solidFill>
                  <a:srgbClr val="FF7F50"/>
                </a:solidFill>
                <a:effectLst/>
                <a:latin typeface="Arial" panose="020B0604020202020204" pitchFamily="34" charset="0"/>
              </a:rPr>
              <a:t>diminished.</a:t>
            </a:r>
            <a:r>
              <a:rPr lang="en-AU" sz="2000" b="0" i="0" dirty="0" smtClean="0">
                <a:solidFill>
                  <a:srgbClr val="444444"/>
                </a:solidFill>
                <a:effectLst/>
                <a:latin typeface="Arial" panose="020B0604020202020204" pitchFamily="34" charset="0"/>
              </a:rPr>
              <a:t> If the image in the diagram had been </a:t>
            </a:r>
            <a:r>
              <a:rPr lang="en-AU" sz="2000" b="1" i="0" dirty="0" smtClean="0">
                <a:solidFill>
                  <a:srgbClr val="8C4AB2"/>
                </a:solidFill>
                <a:effectLst/>
                <a:latin typeface="Arial" panose="020B0604020202020204" pitchFamily="34" charset="0"/>
              </a:rPr>
              <a:t>larger than the object</a:t>
            </a:r>
            <a:r>
              <a:rPr lang="en-AU" sz="2000" b="0" i="0" dirty="0" smtClean="0">
                <a:solidFill>
                  <a:srgbClr val="444444"/>
                </a:solidFill>
                <a:effectLst/>
                <a:latin typeface="Arial" panose="020B0604020202020204" pitchFamily="34" charset="0"/>
              </a:rPr>
              <a:t> then we would refer to this as an </a:t>
            </a:r>
            <a:r>
              <a:rPr lang="en-AU" sz="2000" b="1" i="0" dirty="0" smtClean="0">
                <a:solidFill>
                  <a:srgbClr val="8C4AB2"/>
                </a:solidFill>
                <a:effectLst/>
                <a:latin typeface="Arial" panose="020B0604020202020204" pitchFamily="34" charset="0"/>
              </a:rPr>
              <a:t>enlarged image.</a:t>
            </a:r>
            <a:endParaRPr lang="en-AU" sz="2000" b="0" i="0" dirty="0" smtClean="0">
              <a:solidFill>
                <a:srgbClr val="444444"/>
              </a:solidFill>
              <a:effectLst/>
              <a:latin typeface="Arial" panose="020B0604020202020204" pitchFamily="34" charset="0"/>
            </a:endParaRP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Thus to </a:t>
            </a:r>
            <a:r>
              <a:rPr lang="en-AU" sz="2000" b="1" i="0" dirty="0" smtClean="0">
                <a:solidFill>
                  <a:srgbClr val="8C4AB2"/>
                </a:solidFill>
                <a:effectLst/>
                <a:latin typeface="Arial" panose="020B0604020202020204" pitchFamily="34" charset="0"/>
              </a:rPr>
              <a:t>describe the nature of an image</a:t>
            </a:r>
            <a:r>
              <a:rPr lang="en-AU" sz="2000" b="0" i="0" dirty="0" smtClean="0">
                <a:solidFill>
                  <a:srgbClr val="444444"/>
                </a:solidFill>
                <a:effectLst/>
                <a:latin typeface="Arial" panose="020B0604020202020204" pitchFamily="34" charset="0"/>
              </a:rPr>
              <a:t> we must identify whether it is </a:t>
            </a:r>
            <a:r>
              <a:rPr lang="en-AU" sz="2000" b="1" i="0" dirty="0" smtClean="0">
                <a:solidFill>
                  <a:srgbClr val="3598DC"/>
                </a:solidFill>
                <a:effectLst/>
                <a:latin typeface="Arial" panose="020B0604020202020204" pitchFamily="34" charset="0"/>
              </a:rPr>
              <a:t>real or virtual, inverted or upright and enlarged or diminished.</a:t>
            </a:r>
            <a:r>
              <a:rPr lang="en-AU" sz="2000" b="0" i="0" dirty="0" smtClean="0">
                <a:solidFill>
                  <a:srgbClr val="444444"/>
                </a:solidFill>
                <a:effectLst/>
                <a:latin typeface="Arial" panose="020B0604020202020204" pitchFamily="34" charset="0"/>
              </a:rPr>
              <a:t> The nature of the image in the ray diagram below is </a:t>
            </a:r>
            <a:r>
              <a:rPr lang="en-AU" sz="2000" b="1" i="0" dirty="0" smtClean="0">
                <a:solidFill>
                  <a:srgbClr val="FF7F50"/>
                </a:solidFill>
                <a:effectLst/>
                <a:latin typeface="Arial" panose="020B0604020202020204" pitchFamily="34" charset="0"/>
              </a:rPr>
              <a:t>real, inverted and diminished.</a:t>
            </a:r>
            <a:endParaRPr lang="en-AU" sz="2000" b="0" i="0" dirty="0">
              <a:solidFill>
                <a:srgbClr val="444444"/>
              </a:solidFill>
              <a:effectLst/>
              <a:latin typeface="Arial" panose="020B0604020202020204" pitchFamily="34" charset="0"/>
            </a:endParaRPr>
          </a:p>
        </p:txBody>
      </p:sp>
      <p:pic>
        <p:nvPicPr>
          <p:cNvPr id="8194" name="Picture 2" descr="https://www.educationperfect.com/media/content/Science/1584054209.554531g/1584054207550-3751439691612665-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1275" y="3467100"/>
            <a:ext cx="7620000" cy="339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0617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6700" y="274935"/>
            <a:ext cx="11633200" cy="1200329"/>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We have seen </a:t>
            </a:r>
            <a:r>
              <a:rPr lang="en-AU" sz="2400" b="1" i="0" dirty="0" smtClean="0">
                <a:solidFill>
                  <a:srgbClr val="6773B2"/>
                </a:solidFill>
                <a:effectLst/>
                <a:latin typeface="Arial" panose="020B0604020202020204" pitchFamily="34" charset="0"/>
              </a:rPr>
              <a:t>many different images</a:t>
            </a:r>
            <a:r>
              <a:rPr lang="en-AU" sz="2400" b="1" i="0" dirty="0" smtClean="0">
                <a:solidFill>
                  <a:srgbClr val="444444"/>
                </a:solidFill>
                <a:effectLst/>
                <a:latin typeface="Arial" panose="020B0604020202020204" pitchFamily="34" charset="0"/>
              </a:rPr>
              <a:t> formed up to this point so let's summarise all we have learned about the </a:t>
            </a:r>
            <a:r>
              <a:rPr lang="en-AU" sz="2400" b="1" i="0" dirty="0" smtClean="0">
                <a:solidFill>
                  <a:srgbClr val="6773B2"/>
                </a:solidFill>
                <a:effectLst/>
                <a:latin typeface="Arial" panose="020B0604020202020204" pitchFamily="34" charset="0"/>
              </a:rPr>
              <a:t>location of the object</a:t>
            </a:r>
            <a:r>
              <a:rPr lang="en-AU" sz="2400" b="1" i="0" dirty="0" smtClean="0">
                <a:solidFill>
                  <a:srgbClr val="444444"/>
                </a:solidFill>
                <a:effectLst/>
                <a:latin typeface="Arial" panose="020B0604020202020204" pitchFamily="34" charset="0"/>
              </a:rPr>
              <a:t> and the </a:t>
            </a:r>
            <a:r>
              <a:rPr lang="en-AU" sz="2400" b="1" i="0" dirty="0" smtClean="0">
                <a:solidFill>
                  <a:srgbClr val="B1067D"/>
                </a:solidFill>
                <a:effectLst/>
                <a:latin typeface="Arial" panose="020B0604020202020204" pitchFamily="34" charset="0"/>
              </a:rPr>
              <a:t>image formed.</a:t>
            </a:r>
            <a:endParaRPr lang="en-AU" sz="2400" b="1"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1552574" y="1475264"/>
            <a:ext cx="9610725" cy="3860045"/>
          </a:xfrm>
          <a:prstGeom prst="rect">
            <a:avLst/>
          </a:prstGeom>
        </p:spPr>
      </p:pic>
    </p:spTree>
    <p:extLst>
      <p:ext uri="{BB962C8B-B14F-4D97-AF65-F5344CB8AC3E}">
        <p14:creationId xmlns:p14="http://schemas.microsoft.com/office/powerpoint/2010/main" val="17158863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137</Words>
  <Application>Microsoft Office PowerPoint</Application>
  <PresentationFormat>Widescreen</PresentationFormat>
  <Paragraphs>67</Paragraphs>
  <Slides>15</Slides>
  <Notes>0</Notes>
  <HiddenSlides>0</HiddenSlides>
  <MMClips>4</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KaTeX_Main</vt:lpstr>
      <vt:lpstr>KaTeX_Math</vt:lpstr>
      <vt:lpstr>Office Theme</vt:lpstr>
      <vt:lpstr>Refraction of Light through a Convex Lens Forming Real Images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Refraction of Light through a Convex Lens Forming Real Images</dc:title>
  <dc:creator>Joseph D'cruz</dc:creator>
  <cp:lastModifiedBy>Joseph D'cruz</cp:lastModifiedBy>
  <cp:revision>3</cp:revision>
  <dcterms:created xsi:type="dcterms:W3CDTF">2020-08-08T13:56:19Z</dcterms:created>
  <dcterms:modified xsi:type="dcterms:W3CDTF">2020-08-08T14:01:01Z</dcterms:modified>
</cp:coreProperties>
</file>
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70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348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26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945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89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3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7644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123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675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746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39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4A6B2-710A-4920-A7DD-9D7D3B586B0A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EBFC0-0F33-491F-9E95-5CEB6B9CD5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91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Snell’s Law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684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711538"/>
            <a:ext cx="1069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Lesson, you should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critical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light passes between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two different media.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Write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B12158"/>
                </a:solidFill>
                <a:effectLst/>
                <a:latin typeface="Arial" panose="020B0604020202020204" pitchFamily="34" charset="0"/>
              </a:rPr>
              <a:t>Snell's law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critical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547350.6556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11032" y="3784600"/>
            <a:ext cx="5215467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6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473839"/>
            <a:ext cx="6400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passes from a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more dense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substance into a </a:t>
            </a:r>
            <a:r>
              <a:rPr lang="en-AU" sz="2400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substance at a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certain angle,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something very interesting happens.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angle increases, light is eventually </a:t>
            </a:r>
            <a:r>
              <a:rPr lang="en-AU" sz="2400" b="1" i="0" dirty="0" smtClean="0">
                <a:solidFill>
                  <a:srgbClr val="B12158"/>
                </a:solidFill>
                <a:effectLst/>
                <a:latin typeface="Arial" panose="020B0604020202020204" pitchFamily="34" charset="0"/>
              </a:rPr>
              <a:t>unable to pass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more dense medium. Instead, it travels along the </a:t>
            </a:r>
            <a:r>
              <a:rPr lang="en-AU" sz="2400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boundary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media.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 at which this occurs is known as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critical angle.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Maths/1480460810.90461f/1480460818448-2372462817753618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113" y="1981201"/>
            <a:ext cx="4703912" cy="2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15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51500" y="143543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 we know where the critical angle is?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critical angle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varies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the </a:t>
            </a:r>
            <a:r>
              <a:rPr lang="en-AU" sz="2400" b="1" i="0" dirty="0" smtClean="0">
                <a:solidFill>
                  <a:srgbClr val="B12158"/>
                </a:solidFill>
                <a:effectLst/>
                <a:latin typeface="Arial" panose="020B0604020202020204" pitchFamily="34" charset="0"/>
              </a:rPr>
              <a:t>density of the two media.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we can calculate the critical angle by using an equation known as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Snell's law!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8166901.758951f/1528166900374-400097806303413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013308"/>
            <a:ext cx="504825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23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300" y="951637"/>
            <a:ext cx="972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dirty="0" smtClean="0">
                <a:effectLst/>
                <a:latin typeface="Arial" panose="020B0604020202020204" pitchFamily="34" charset="0"/>
              </a:rPr>
              <a:t>We can use </a:t>
            </a:r>
            <a:r>
              <a:rPr lang="en-AU" sz="2400" b="1" dirty="0" smtClean="0">
                <a:solidFill>
                  <a:srgbClr val="B12158"/>
                </a:solidFill>
                <a:effectLst/>
                <a:latin typeface="Arial" panose="020B0604020202020204" pitchFamily="34" charset="0"/>
              </a:rPr>
              <a:t>Snell's Law</a:t>
            </a:r>
            <a:r>
              <a:rPr lang="en-AU" sz="2400" b="1" dirty="0" smtClean="0">
                <a:effectLst/>
                <a:latin typeface="Arial" panose="020B0604020202020204" pitchFamily="34" charset="0"/>
              </a:rPr>
              <a:t> to find the </a:t>
            </a:r>
            <a:r>
              <a:rPr lang="en-AU" sz="2400" b="1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critical angle.</a:t>
            </a:r>
            <a:endParaRPr lang="en-AU" sz="2400" b="1" dirty="0" smtClean="0"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dirty="0" smtClean="0">
                <a:effectLst/>
              </a:rPr>
              <a:t> </a:t>
            </a:r>
          </a:p>
          <a:p>
            <a:pPr algn="ctr"/>
            <a:r>
              <a:rPr lang="en-AU" sz="2400" b="1" dirty="0" smtClean="0">
                <a:effectLst/>
              </a:rPr>
              <a:t>This is Snell's Law:</a:t>
            </a:r>
            <a:endParaRPr lang="en-AU" sz="2400" dirty="0" smtClean="0">
              <a:effectLst/>
            </a:endParaRPr>
          </a:p>
          <a:p>
            <a:pPr algn="ctr"/>
            <a:r>
              <a:rPr lang="en-AU" sz="2400" dirty="0" smtClean="0">
                <a:effectLst/>
              </a:rPr>
              <a:t> </a:t>
            </a:r>
          </a:p>
          <a:p>
            <a:pPr algn="ctr"/>
            <a:r>
              <a:rPr lang="en-AU" sz="3600" dirty="0" err="1" smtClean="0">
                <a:effectLst/>
                <a:latin typeface="KaTeX_Main"/>
              </a:rPr>
              <a:t>n</a:t>
            </a:r>
            <a:r>
              <a:rPr lang="en-AU" sz="3600" i="1" baseline="-25000" dirty="0" err="1" smtClean="0">
                <a:effectLst/>
                <a:latin typeface="KaTeX_Math"/>
              </a:rPr>
              <a:t>i</a:t>
            </a:r>
            <a:r>
              <a:rPr lang="en-AU" sz="3600" baseline="-25000" dirty="0" smtClean="0">
                <a:effectLst/>
                <a:latin typeface="KaTeX_Main"/>
              </a:rPr>
              <a:t>​</a:t>
            </a:r>
            <a:r>
              <a:rPr lang="en-AU" sz="3600" dirty="0" err="1" smtClean="0">
                <a:effectLst/>
                <a:latin typeface="KaTeX_Main"/>
              </a:rPr>
              <a:t>sin</a:t>
            </a:r>
            <a:r>
              <a:rPr lang="en-AU" sz="3600" i="1" dirty="0" err="1" smtClean="0">
                <a:effectLst/>
                <a:latin typeface="KaTeX_Math"/>
              </a:rPr>
              <a:t>θ</a:t>
            </a:r>
            <a:r>
              <a:rPr lang="en-AU" sz="3600" i="1" baseline="-25000" dirty="0" err="1" smtClean="0">
                <a:effectLst/>
                <a:latin typeface="KaTeX_Math"/>
              </a:rPr>
              <a:t>i</a:t>
            </a:r>
            <a:r>
              <a:rPr lang="en-AU" sz="3600" dirty="0" smtClean="0">
                <a:effectLst/>
                <a:latin typeface="KaTeX_Main"/>
              </a:rPr>
              <a:t>​=</a:t>
            </a:r>
            <a:r>
              <a:rPr lang="en-AU" sz="3600" dirty="0" err="1" smtClean="0">
                <a:effectLst/>
                <a:latin typeface="KaTeX_Main"/>
              </a:rPr>
              <a:t>n</a:t>
            </a:r>
            <a:r>
              <a:rPr lang="en-AU" sz="3600" i="1" baseline="-25000" dirty="0" err="1" smtClean="0">
                <a:effectLst/>
                <a:latin typeface="KaTeX_Math"/>
              </a:rPr>
              <a:t>r</a:t>
            </a:r>
            <a:r>
              <a:rPr lang="en-AU" sz="3600" dirty="0" smtClean="0">
                <a:effectLst/>
                <a:latin typeface="KaTeX_Main"/>
              </a:rPr>
              <a:t>​</a:t>
            </a:r>
            <a:r>
              <a:rPr lang="en-AU" sz="3600" dirty="0" err="1" smtClean="0">
                <a:effectLst/>
                <a:latin typeface="KaTeX_Main"/>
              </a:rPr>
              <a:t>sin</a:t>
            </a:r>
            <a:r>
              <a:rPr lang="en-AU" sz="3600" i="1" dirty="0" err="1" smtClean="0">
                <a:effectLst/>
                <a:latin typeface="KaTeX_Math"/>
              </a:rPr>
              <a:t>θ</a:t>
            </a:r>
            <a:r>
              <a:rPr lang="en-AU" sz="36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r</a:t>
            </a:r>
            <a:r>
              <a:rPr lang="en-AU" sz="36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br>
              <a:rPr lang="en-AU" sz="3600" b="0" i="0" dirty="0" smtClean="0">
                <a:solidFill>
                  <a:srgbClr val="444444"/>
                </a:solidFill>
                <a:effectLst/>
                <a:latin typeface="KaTeX_Main"/>
              </a:rPr>
            </a:br>
            <a:endParaRPr lang="en-AU" sz="3600" dirty="0"/>
          </a:p>
        </p:txBody>
      </p:sp>
      <p:pic>
        <p:nvPicPr>
          <p:cNvPr id="3074" name="Picture 2" descr="https://www.educationperfect.com/media/content/Science/1515125492.677621g/1515125503276-39531608644026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236" y="3629293"/>
            <a:ext cx="4008328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77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4" y="568324"/>
            <a:ext cx="9598025" cy="3705013"/>
          </a:xfrm>
          <a:prstGeom prst="rect">
            <a:avLst/>
          </a:prstGeom>
        </p:spPr>
      </p:pic>
      <p:pic>
        <p:nvPicPr>
          <p:cNvPr id="4098" name="Picture 2" descr="https://www.educationperfect.com/media/content/Science/1531949647.497361g/1531949651661-91095747683743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4000500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2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50" y="179387"/>
            <a:ext cx="5911850" cy="3781281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532387921.876961g/1532387934410-805272255087245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3797300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623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94439"/>
            <a:ext cx="10883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know the equation, let's work through an example together.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critical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 light ray travels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medium with a refractive index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2.2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medium with a refractive index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1.8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Remember: the </a:t>
            </a:r>
            <a:r>
              <a:rPr lang="en-AU" sz="2400" b="1" i="0" dirty="0" smtClean="0">
                <a:solidFill>
                  <a:srgbClr val="C78E37"/>
                </a:solidFill>
                <a:effectLst/>
                <a:latin typeface="Arial" panose="020B0604020202020204" pitchFamily="34" charset="0"/>
              </a:rPr>
              <a:t>angle of refraction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must always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angle of incidence is the critical angle.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916184.1259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63900" y="3448049"/>
            <a:ext cx="5524500" cy="31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166638"/>
            <a:ext cx="11645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 calculation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critical angle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 light ray travels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medium with a refractive index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2.2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medium with a refractive index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1.8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First, we need to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extract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information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out of the question.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46" y="2643187"/>
            <a:ext cx="10614454" cy="3249613"/>
          </a:xfrm>
          <a:prstGeom prst="rect">
            <a:avLst/>
          </a:prstGeom>
        </p:spPr>
      </p:pic>
      <p:pic>
        <p:nvPicPr>
          <p:cNvPr id="6146" name="Picture 2" descr="https://www.educationperfect.com/media/content/Science/1532387720.707091g/1532387733227-805272255087245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33" y="2474962"/>
            <a:ext cx="3667042" cy="22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60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144462"/>
            <a:ext cx="9871075" cy="62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9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14312"/>
            <a:ext cx="10833100" cy="61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3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4" y="0"/>
            <a:ext cx="9032875" cy="6197882"/>
          </a:xfrm>
          <a:prstGeom prst="rect">
            <a:avLst/>
          </a:prstGeom>
        </p:spPr>
      </p:pic>
      <p:pic>
        <p:nvPicPr>
          <p:cNvPr id="7170" name="Picture 2" descr="https://www.educationperfect.com/media/content/Science/1532387518.828111g/1532387531244-805272255087245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99" y="3098941"/>
            <a:ext cx="3343275" cy="200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70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</Words>
  <Application>Microsoft Office PowerPoint</Application>
  <PresentationFormat>Widescreen</PresentationFormat>
  <Paragraphs>31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KaTeX_Math</vt:lpstr>
      <vt:lpstr>Office Theme</vt:lpstr>
      <vt:lpstr>Snell’s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Snell’s Law</dc:title>
  <dc:creator>Joseph D'cruz</dc:creator>
  <cp:lastModifiedBy>Joseph D'cruz</cp:lastModifiedBy>
  <cp:revision>1</cp:revision>
  <dcterms:created xsi:type="dcterms:W3CDTF">2020-08-09T00:48:40Z</dcterms:created>
  <dcterms:modified xsi:type="dcterms:W3CDTF">2020-08-09T00:57:56Z</dcterms:modified>
</cp:coreProperties>
</file>
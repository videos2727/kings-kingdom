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mp4" ContentType="video/mp4"/>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76" d="100"/>
          <a:sy n="76" d="100"/>
        </p:scale>
        <p:origin x="126" y="7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8135723F-A331-4C90-AB10-D3D8F43179B1}" type="datetimeFigureOut">
              <a:rPr lang="en-AU" smtClean="0"/>
              <a:t>8/08/2020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A69C2-3C60-4549-BBE4-E8449473CEAA}" type="slidenum">
              <a:rPr lang="en-AU" smtClean="0"/>
              <a:t>‹#›</a:t>
            </a:fld>
            <a:endParaRPr lang="en-AU"/>
          </a:p>
        </p:txBody>
      </p:sp>
    </p:spTree>
    <p:extLst>
      <p:ext uri="{BB962C8B-B14F-4D97-AF65-F5344CB8AC3E}">
        <p14:creationId xmlns:p14="http://schemas.microsoft.com/office/powerpoint/2010/main" val="34233221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8135723F-A331-4C90-AB10-D3D8F43179B1}" type="datetimeFigureOut">
              <a:rPr lang="en-AU" smtClean="0"/>
              <a:t>8/08/2020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A69C2-3C60-4549-BBE4-E8449473CEAA}" type="slidenum">
              <a:rPr lang="en-AU" smtClean="0"/>
              <a:t>‹#›</a:t>
            </a:fld>
            <a:endParaRPr lang="en-AU"/>
          </a:p>
        </p:txBody>
      </p:sp>
    </p:spTree>
    <p:extLst>
      <p:ext uri="{BB962C8B-B14F-4D97-AF65-F5344CB8AC3E}">
        <p14:creationId xmlns:p14="http://schemas.microsoft.com/office/powerpoint/2010/main" val="2707008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135723F-A331-4C90-AB10-D3D8F43179B1}" type="datetimeFigureOut">
              <a:rPr lang="en-AU" smtClean="0"/>
              <a:t>8/08/2020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A69C2-3C60-4549-BBE4-E8449473CEAA}" type="slidenum">
              <a:rPr lang="en-AU" smtClean="0"/>
              <a:t>‹#›</a:t>
            </a:fld>
            <a:endParaRPr lang="en-AU"/>
          </a:p>
        </p:txBody>
      </p:sp>
    </p:spTree>
    <p:extLst>
      <p:ext uri="{BB962C8B-B14F-4D97-AF65-F5344CB8AC3E}">
        <p14:creationId xmlns:p14="http://schemas.microsoft.com/office/powerpoint/2010/main" val="3143973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8135723F-A331-4C90-AB10-D3D8F43179B1}" type="datetimeFigureOut">
              <a:rPr lang="en-AU" smtClean="0"/>
              <a:t>8/08/2020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A69C2-3C60-4549-BBE4-E8449473CEAA}" type="slidenum">
              <a:rPr lang="en-AU" smtClean="0"/>
              <a:t>‹#›</a:t>
            </a:fld>
            <a:endParaRPr lang="en-AU"/>
          </a:p>
        </p:txBody>
      </p:sp>
    </p:spTree>
    <p:extLst>
      <p:ext uri="{BB962C8B-B14F-4D97-AF65-F5344CB8AC3E}">
        <p14:creationId xmlns:p14="http://schemas.microsoft.com/office/powerpoint/2010/main" val="3595596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8135723F-A331-4C90-AB10-D3D8F43179B1}" type="datetimeFigureOut">
              <a:rPr lang="en-AU" smtClean="0"/>
              <a:t>8/08/2020</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9DA69C2-3C60-4549-BBE4-E8449473CEAA}" type="slidenum">
              <a:rPr lang="en-AU" smtClean="0"/>
              <a:t>‹#›</a:t>
            </a:fld>
            <a:endParaRPr lang="en-AU"/>
          </a:p>
        </p:txBody>
      </p:sp>
    </p:spTree>
    <p:extLst>
      <p:ext uri="{BB962C8B-B14F-4D97-AF65-F5344CB8AC3E}">
        <p14:creationId xmlns:p14="http://schemas.microsoft.com/office/powerpoint/2010/main" val="2064280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8135723F-A331-4C90-AB10-D3D8F43179B1}" type="datetimeFigureOut">
              <a:rPr lang="en-AU" smtClean="0"/>
              <a:t>8/08/2020</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9DA69C2-3C60-4549-BBE4-E8449473CEAA}" type="slidenum">
              <a:rPr lang="en-AU" smtClean="0"/>
              <a:t>‹#›</a:t>
            </a:fld>
            <a:endParaRPr lang="en-AU"/>
          </a:p>
        </p:txBody>
      </p:sp>
    </p:spTree>
    <p:extLst>
      <p:ext uri="{BB962C8B-B14F-4D97-AF65-F5344CB8AC3E}">
        <p14:creationId xmlns:p14="http://schemas.microsoft.com/office/powerpoint/2010/main" val="211851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35723F-A331-4C90-AB10-D3D8F43179B1}" type="datetimeFigureOut">
              <a:rPr lang="en-AU" smtClean="0"/>
              <a:t>8/08/2020</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9DA69C2-3C60-4549-BBE4-E8449473CEAA}" type="slidenum">
              <a:rPr lang="en-AU" smtClean="0"/>
              <a:t>‹#›</a:t>
            </a:fld>
            <a:endParaRPr lang="en-AU"/>
          </a:p>
        </p:txBody>
      </p:sp>
    </p:spTree>
    <p:extLst>
      <p:ext uri="{BB962C8B-B14F-4D97-AF65-F5344CB8AC3E}">
        <p14:creationId xmlns:p14="http://schemas.microsoft.com/office/powerpoint/2010/main" val="908127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135723F-A331-4C90-AB10-D3D8F43179B1}" type="datetimeFigureOut">
              <a:rPr lang="en-AU" smtClean="0"/>
              <a:t>8/08/2020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A69C2-3C60-4549-BBE4-E8449473CEAA}" type="slidenum">
              <a:rPr lang="en-AU" smtClean="0"/>
              <a:t>‹#›</a:t>
            </a:fld>
            <a:endParaRPr lang="en-AU"/>
          </a:p>
        </p:txBody>
      </p:sp>
    </p:spTree>
    <p:extLst>
      <p:ext uri="{BB962C8B-B14F-4D97-AF65-F5344CB8AC3E}">
        <p14:creationId xmlns:p14="http://schemas.microsoft.com/office/powerpoint/2010/main" val="1417824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135723F-A331-4C90-AB10-D3D8F43179B1}" type="datetimeFigureOut">
              <a:rPr lang="en-AU" smtClean="0"/>
              <a:t>8/08/2020</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9DA69C2-3C60-4549-BBE4-E8449473CEAA}" type="slidenum">
              <a:rPr lang="en-AU" smtClean="0"/>
              <a:t>‹#›</a:t>
            </a:fld>
            <a:endParaRPr lang="en-AU"/>
          </a:p>
        </p:txBody>
      </p:sp>
    </p:spTree>
    <p:extLst>
      <p:ext uri="{BB962C8B-B14F-4D97-AF65-F5344CB8AC3E}">
        <p14:creationId xmlns:p14="http://schemas.microsoft.com/office/powerpoint/2010/main" val="3483074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8135723F-A331-4C90-AB10-D3D8F43179B1}" type="datetimeFigureOut">
              <a:rPr lang="en-AU" smtClean="0"/>
              <a:t>8/08/2020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A69C2-3C60-4549-BBE4-E8449473CEAA}" type="slidenum">
              <a:rPr lang="en-AU" smtClean="0"/>
              <a:t>‹#›</a:t>
            </a:fld>
            <a:endParaRPr lang="en-AU"/>
          </a:p>
        </p:txBody>
      </p:sp>
    </p:spTree>
    <p:extLst>
      <p:ext uri="{BB962C8B-B14F-4D97-AF65-F5344CB8AC3E}">
        <p14:creationId xmlns:p14="http://schemas.microsoft.com/office/powerpoint/2010/main" val="16322952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8135723F-A331-4C90-AB10-D3D8F43179B1}" type="datetimeFigureOut">
              <a:rPr lang="en-AU" smtClean="0"/>
              <a:t>8/08/2020</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9DA69C2-3C60-4549-BBE4-E8449473CEAA}" type="slidenum">
              <a:rPr lang="en-AU" smtClean="0"/>
              <a:t>‹#›</a:t>
            </a:fld>
            <a:endParaRPr lang="en-AU"/>
          </a:p>
        </p:txBody>
      </p:sp>
    </p:spTree>
    <p:extLst>
      <p:ext uri="{BB962C8B-B14F-4D97-AF65-F5344CB8AC3E}">
        <p14:creationId xmlns:p14="http://schemas.microsoft.com/office/powerpoint/2010/main" val="4063309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35723F-A331-4C90-AB10-D3D8F43179B1}" type="datetimeFigureOut">
              <a:rPr lang="en-AU" smtClean="0"/>
              <a:t>8/08/2020</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DA69C2-3C60-4549-BBE4-E8449473CEAA}" type="slidenum">
              <a:rPr lang="en-AU" smtClean="0"/>
              <a:t>‹#›</a:t>
            </a:fld>
            <a:endParaRPr lang="en-AU"/>
          </a:p>
        </p:txBody>
      </p:sp>
    </p:spTree>
    <p:extLst>
      <p:ext uri="{BB962C8B-B14F-4D97-AF65-F5344CB8AC3E}">
        <p14:creationId xmlns:p14="http://schemas.microsoft.com/office/powerpoint/2010/main" val="20269184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7.xml"/><Relationship Id="rId1" Type="http://schemas.openxmlformats.org/officeDocument/2006/relationships/video" Target="https://www.youtube.com/embed/LZYz8jEs8Ew"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slideLayout" Target="../slideLayouts/slideLayout7.xml"/><Relationship Id="rId1" Type="http://schemas.openxmlformats.org/officeDocument/2006/relationships/video" Target="https://www.youtube.com/embed/Iuv6hY6zsd0"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slideLayout" Target="../slideLayouts/slideLayout7.xml"/><Relationship Id="rId1" Type="http://schemas.openxmlformats.org/officeDocument/2006/relationships/video" Target="https://www.youtube.com/embed/jz8IIk_bps0"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slideLayout" Target="../slideLayouts/slideLayout7.xml"/><Relationship Id="rId1" Type="http://schemas.openxmlformats.org/officeDocument/2006/relationships/video" Target="https://www.youtube.com/embed/XtH8l999aRM" TargetMode="Externa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slideLayout" Target="../slideLayouts/slideLayout7.xml"/><Relationship Id="rId1" Type="http://schemas.openxmlformats.org/officeDocument/2006/relationships/video" Target="https://www.youtube.com/embed/GgfKdVFfM28"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Superposition, Diffraction and Interference</a:t>
            </a:r>
            <a:endParaRPr lang="en-AU" dirty="0"/>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34171931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3700" y="894140"/>
            <a:ext cx="11544300" cy="3416320"/>
          </a:xfrm>
          <a:prstGeom prst="rect">
            <a:avLst/>
          </a:prstGeom>
        </p:spPr>
        <p:txBody>
          <a:bodyPr wrap="square">
            <a:spAutoFit/>
          </a:bodyPr>
          <a:lstStyle/>
          <a:p>
            <a:pPr algn="ctr"/>
            <a:r>
              <a:rPr lang="en-AU" sz="2400" b="0" i="0" dirty="0" smtClean="0">
                <a:solidFill>
                  <a:srgbClr val="444444"/>
                </a:solidFill>
                <a:effectLst/>
                <a:latin typeface="Arial" panose="020B0604020202020204" pitchFamily="34" charset="0"/>
              </a:rPr>
              <a:t>In this Smart Lesson you will learn to:</a:t>
            </a:r>
          </a:p>
          <a:p>
            <a:pPr algn="ctr"/>
            <a:r>
              <a:rPr lang="en-AU" sz="2400" b="0" i="0" dirty="0" smtClean="0">
                <a:solidFill>
                  <a:srgbClr val="444444"/>
                </a:solidFill>
                <a:effectLst/>
                <a:latin typeface="Arial" panose="020B0604020202020204" pitchFamily="34" charset="0"/>
              </a:rPr>
              <a:t> </a:t>
            </a:r>
          </a:p>
          <a:p>
            <a:pPr>
              <a:buFont typeface="Arial" panose="020B0604020202020204" pitchFamily="34" charset="0"/>
              <a:buChar char="•"/>
            </a:pPr>
            <a:r>
              <a:rPr lang="en-AU" sz="2400" b="1" i="0" dirty="0" smtClean="0">
                <a:solidFill>
                  <a:srgbClr val="009900"/>
                </a:solidFill>
                <a:effectLst/>
                <a:latin typeface="Arial" panose="020B0604020202020204" pitchFamily="34" charset="0"/>
              </a:rPr>
              <a:t>Define</a:t>
            </a:r>
            <a:r>
              <a:rPr lang="en-AU" sz="2400" b="0" i="0" dirty="0" smtClean="0">
                <a:solidFill>
                  <a:srgbClr val="444444"/>
                </a:solidFill>
                <a:effectLst/>
                <a:latin typeface="Arial" panose="020B0604020202020204" pitchFamily="34" charset="0"/>
              </a:rPr>
              <a:t> the terms </a:t>
            </a:r>
            <a:r>
              <a:rPr lang="en-AU" sz="2400" b="1" i="0" dirty="0" smtClean="0">
                <a:solidFill>
                  <a:srgbClr val="571A98"/>
                </a:solidFill>
                <a:effectLst/>
                <a:latin typeface="Arial" panose="020B0604020202020204" pitchFamily="34" charset="0"/>
              </a:rPr>
              <a:t>diffraction</a:t>
            </a:r>
            <a:r>
              <a:rPr lang="en-AU" sz="2400" b="0" i="0" dirty="0" smtClean="0">
                <a:solidFill>
                  <a:srgbClr val="444444"/>
                </a:solidFill>
                <a:effectLst/>
                <a:latin typeface="Arial" panose="020B0604020202020204" pitchFamily="34" charset="0"/>
              </a:rPr>
              <a:t> and </a:t>
            </a:r>
            <a:r>
              <a:rPr lang="en-AU" sz="2400" b="1" i="0" dirty="0" smtClean="0">
                <a:solidFill>
                  <a:srgbClr val="F30277"/>
                </a:solidFill>
                <a:effectLst/>
                <a:latin typeface="Arial" panose="020B0604020202020204" pitchFamily="34" charset="0"/>
              </a:rPr>
              <a:t>superposition.</a:t>
            </a:r>
            <a:endParaRPr lang="en-AU" sz="2400" b="0" i="0" dirty="0" smtClean="0">
              <a:solidFill>
                <a:srgbClr val="444444"/>
              </a:solidFill>
              <a:effectLst/>
              <a:latin typeface="Arial" panose="020B0604020202020204" pitchFamily="34" charset="0"/>
            </a:endParaRPr>
          </a:p>
          <a:p>
            <a:pPr>
              <a:buFont typeface="Arial" panose="020B0604020202020204" pitchFamily="34" charset="0"/>
              <a:buChar char="•"/>
            </a:pPr>
            <a:r>
              <a:rPr lang="en-AU" sz="2400" b="1" i="0" dirty="0" smtClean="0">
                <a:solidFill>
                  <a:srgbClr val="1B479F"/>
                </a:solidFill>
                <a:effectLst/>
                <a:latin typeface="Arial" panose="020B0604020202020204" pitchFamily="34" charset="0"/>
              </a:rPr>
              <a:t>Apply</a:t>
            </a:r>
            <a:r>
              <a:rPr lang="en-AU" sz="2400" b="0" i="0" dirty="0" smtClean="0">
                <a:solidFill>
                  <a:srgbClr val="444444"/>
                </a:solidFill>
                <a:effectLst/>
                <a:latin typeface="Arial" panose="020B0604020202020204" pitchFamily="34" charset="0"/>
              </a:rPr>
              <a:t> the principle of </a:t>
            </a:r>
            <a:r>
              <a:rPr lang="en-AU" sz="2400" b="1" i="0" dirty="0" smtClean="0">
                <a:solidFill>
                  <a:srgbClr val="F30277"/>
                </a:solidFill>
                <a:effectLst/>
                <a:latin typeface="Arial" panose="020B0604020202020204" pitchFamily="34" charset="0"/>
              </a:rPr>
              <a:t>superposition</a:t>
            </a:r>
            <a:r>
              <a:rPr lang="en-AU" sz="2400" b="0" i="0" dirty="0" smtClean="0">
                <a:solidFill>
                  <a:srgbClr val="444444"/>
                </a:solidFill>
                <a:effectLst/>
                <a:latin typeface="Arial" panose="020B0604020202020204" pitchFamily="34" charset="0"/>
              </a:rPr>
              <a:t> to </a:t>
            </a:r>
            <a:r>
              <a:rPr lang="en-AU" sz="2400" b="1" i="0" dirty="0" smtClean="0">
                <a:solidFill>
                  <a:srgbClr val="1B479F"/>
                </a:solidFill>
                <a:effectLst/>
                <a:latin typeface="Arial" panose="020B0604020202020204" pitchFamily="34" charset="0"/>
              </a:rPr>
              <a:t>determine</a:t>
            </a:r>
            <a:r>
              <a:rPr lang="en-AU" sz="2400" b="0" i="0" dirty="0" smtClean="0">
                <a:solidFill>
                  <a:srgbClr val="444444"/>
                </a:solidFill>
                <a:effectLst/>
                <a:latin typeface="Arial" panose="020B0604020202020204" pitchFamily="34" charset="0"/>
              </a:rPr>
              <a:t> the resultant </a:t>
            </a:r>
            <a:r>
              <a:rPr lang="en-AU" sz="2400" b="1" i="0" dirty="0" smtClean="0">
                <a:solidFill>
                  <a:srgbClr val="00B6EE"/>
                </a:solidFill>
                <a:effectLst/>
                <a:latin typeface="Arial" panose="020B0604020202020204" pitchFamily="34" charset="0"/>
              </a:rPr>
              <a:t>amplitude</a:t>
            </a:r>
            <a:r>
              <a:rPr lang="en-AU" sz="2400" b="0" i="0" dirty="0" smtClean="0">
                <a:solidFill>
                  <a:srgbClr val="444444"/>
                </a:solidFill>
                <a:effectLst/>
                <a:latin typeface="Arial" panose="020B0604020202020204" pitchFamily="34" charset="0"/>
              </a:rPr>
              <a:t> of two simple waves.</a:t>
            </a:r>
          </a:p>
          <a:p>
            <a:pPr>
              <a:buFont typeface="Arial" panose="020B0604020202020204" pitchFamily="34" charset="0"/>
              <a:buChar char="•"/>
            </a:pPr>
            <a:r>
              <a:rPr lang="en-AU" sz="2400" b="1" i="0" dirty="0" smtClean="0">
                <a:solidFill>
                  <a:srgbClr val="009900"/>
                </a:solidFill>
                <a:effectLst/>
                <a:latin typeface="Arial" panose="020B0604020202020204" pitchFamily="34" charset="0"/>
              </a:rPr>
              <a:t>Explain</a:t>
            </a:r>
            <a:r>
              <a:rPr lang="en-AU" sz="2400" b="0" i="0" dirty="0" smtClean="0">
                <a:solidFill>
                  <a:srgbClr val="444444"/>
                </a:solidFill>
                <a:effectLst/>
                <a:latin typeface="Arial" panose="020B0604020202020204" pitchFamily="34" charset="0"/>
              </a:rPr>
              <a:t> </a:t>
            </a:r>
            <a:r>
              <a:rPr lang="en-AU" sz="2400" b="1" i="0" dirty="0" smtClean="0">
                <a:solidFill>
                  <a:srgbClr val="00B6EE"/>
                </a:solidFill>
                <a:effectLst/>
                <a:latin typeface="Arial" panose="020B0604020202020204" pitchFamily="34" charset="0"/>
              </a:rPr>
              <a:t>constructive interference</a:t>
            </a:r>
            <a:r>
              <a:rPr lang="en-AU" sz="2400" b="0" i="0" dirty="0" smtClean="0">
                <a:solidFill>
                  <a:srgbClr val="444444"/>
                </a:solidFill>
                <a:effectLst/>
                <a:latin typeface="Arial" panose="020B0604020202020204" pitchFamily="34" charset="0"/>
              </a:rPr>
              <a:t> and </a:t>
            </a:r>
            <a:r>
              <a:rPr lang="en-AU" sz="2400" b="1" i="0" dirty="0" smtClean="0">
                <a:solidFill>
                  <a:srgbClr val="CC0000"/>
                </a:solidFill>
                <a:effectLst/>
                <a:latin typeface="Arial" panose="020B0604020202020204" pitchFamily="34" charset="0"/>
              </a:rPr>
              <a:t>destructive interference</a:t>
            </a:r>
            <a:r>
              <a:rPr lang="en-AU" sz="2400" b="0" i="0" dirty="0" smtClean="0">
                <a:solidFill>
                  <a:srgbClr val="444444"/>
                </a:solidFill>
                <a:effectLst/>
                <a:latin typeface="Arial" panose="020B0604020202020204" pitchFamily="34" charset="0"/>
              </a:rPr>
              <a:t> of two simple waves.</a:t>
            </a:r>
          </a:p>
          <a:p>
            <a:pPr>
              <a:buFont typeface="Arial" panose="020B0604020202020204" pitchFamily="34" charset="0"/>
              <a:buChar char="•"/>
            </a:pPr>
            <a:r>
              <a:rPr lang="en-AU" sz="2400" b="1" i="0" dirty="0" smtClean="0">
                <a:solidFill>
                  <a:srgbClr val="009900"/>
                </a:solidFill>
                <a:effectLst/>
                <a:latin typeface="Arial" panose="020B0604020202020204" pitchFamily="34" charset="0"/>
              </a:rPr>
              <a:t>Explain</a:t>
            </a:r>
            <a:r>
              <a:rPr lang="en-AU" sz="2400" b="0" i="0" dirty="0" smtClean="0">
                <a:solidFill>
                  <a:srgbClr val="444444"/>
                </a:solidFill>
                <a:effectLst/>
                <a:latin typeface="Arial" panose="020B0604020202020204" pitchFamily="34" charset="0"/>
              </a:rPr>
              <a:t> the formation of </a:t>
            </a:r>
            <a:r>
              <a:rPr lang="en-AU" sz="2400" b="1" i="0" dirty="0" smtClean="0">
                <a:solidFill>
                  <a:srgbClr val="0066CC"/>
                </a:solidFill>
                <a:effectLst/>
                <a:latin typeface="Arial" panose="020B0604020202020204" pitchFamily="34" charset="0"/>
              </a:rPr>
              <a:t>standing waves</a:t>
            </a:r>
            <a:r>
              <a:rPr lang="en-AU" sz="2400" b="0" i="0" dirty="0" smtClean="0">
                <a:solidFill>
                  <a:srgbClr val="444444"/>
                </a:solidFill>
                <a:effectLst/>
                <a:latin typeface="Arial" panose="020B0604020202020204" pitchFamily="34" charset="0"/>
              </a:rPr>
              <a:t> in terms of </a:t>
            </a:r>
            <a:r>
              <a:rPr lang="en-AU" sz="2400" b="1" i="0" dirty="0" smtClean="0">
                <a:solidFill>
                  <a:srgbClr val="F30277"/>
                </a:solidFill>
                <a:effectLst/>
                <a:latin typeface="Arial" panose="020B0604020202020204" pitchFamily="34" charset="0"/>
              </a:rPr>
              <a:t>superposition</a:t>
            </a:r>
            <a:r>
              <a:rPr lang="en-AU" sz="2400" b="0" i="0" dirty="0" smtClean="0">
                <a:solidFill>
                  <a:srgbClr val="444444"/>
                </a:solidFill>
                <a:effectLst/>
                <a:latin typeface="Arial" panose="020B0604020202020204" pitchFamily="34" charset="0"/>
              </a:rPr>
              <a:t> with reference to </a:t>
            </a:r>
            <a:r>
              <a:rPr lang="en-AU" sz="2400" b="1" i="0" dirty="0" smtClean="0">
                <a:solidFill>
                  <a:srgbClr val="00B6EE"/>
                </a:solidFill>
                <a:effectLst/>
                <a:latin typeface="Arial" panose="020B0604020202020204" pitchFamily="34" charset="0"/>
              </a:rPr>
              <a:t>constructive</a:t>
            </a:r>
            <a:r>
              <a:rPr lang="en-AU" sz="2400" b="1" i="0" dirty="0" smtClean="0">
                <a:solidFill>
                  <a:srgbClr val="444444"/>
                </a:solidFill>
                <a:effectLst/>
                <a:latin typeface="Arial" panose="020B0604020202020204" pitchFamily="34" charset="0"/>
              </a:rPr>
              <a:t> </a:t>
            </a:r>
            <a:r>
              <a:rPr lang="en-AU" sz="2400" b="0" i="0" dirty="0" smtClean="0">
                <a:solidFill>
                  <a:srgbClr val="444444"/>
                </a:solidFill>
                <a:effectLst/>
                <a:latin typeface="Arial" panose="020B0604020202020204" pitchFamily="34" charset="0"/>
              </a:rPr>
              <a:t>and </a:t>
            </a:r>
            <a:r>
              <a:rPr lang="en-AU" sz="2400" b="1" i="0" dirty="0" smtClean="0">
                <a:solidFill>
                  <a:srgbClr val="CC0000"/>
                </a:solidFill>
                <a:effectLst/>
                <a:latin typeface="Arial" panose="020B0604020202020204" pitchFamily="34" charset="0"/>
              </a:rPr>
              <a:t>destructive</a:t>
            </a:r>
            <a:r>
              <a:rPr lang="en-AU" sz="2400" b="1" i="0" dirty="0" smtClean="0">
                <a:solidFill>
                  <a:srgbClr val="444444"/>
                </a:solidFill>
                <a:effectLst/>
                <a:latin typeface="Arial" panose="020B0604020202020204" pitchFamily="34" charset="0"/>
              </a:rPr>
              <a:t> interference,</a:t>
            </a:r>
            <a:r>
              <a:rPr lang="en-AU" sz="2400" b="0" i="0" dirty="0" smtClean="0">
                <a:solidFill>
                  <a:srgbClr val="444444"/>
                </a:solidFill>
                <a:effectLst/>
                <a:latin typeface="Arial" panose="020B0604020202020204" pitchFamily="34" charset="0"/>
              </a:rPr>
              <a:t> and </a:t>
            </a:r>
            <a:r>
              <a:rPr lang="en-AU" sz="2400" b="1" i="0" dirty="0" smtClean="0">
                <a:solidFill>
                  <a:srgbClr val="00B6EE"/>
                </a:solidFill>
                <a:effectLst/>
                <a:latin typeface="Arial" panose="020B0604020202020204" pitchFamily="34" charset="0"/>
              </a:rPr>
              <a:t>nodes</a:t>
            </a:r>
            <a:r>
              <a:rPr lang="en-AU" sz="2400" b="0" i="0" dirty="0" smtClean="0">
                <a:solidFill>
                  <a:srgbClr val="444444"/>
                </a:solidFill>
                <a:effectLst/>
                <a:latin typeface="Arial" panose="020B0604020202020204" pitchFamily="34" charset="0"/>
              </a:rPr>
              <a:t> and </a:t>
            </a:r>
            <a:r>
              <a:rPr lang="en-AU" sz="2400" b="1" i="0" dirty="0" smtClean="0">
                <a:solidFill>
                  <a:srgbClr val="CC0000"/>
                </a:solidFill>
                <a:effectLst/>
                <a:latin typeface="Arial" panose="020B0604020202020204" pitchFamily="34" charset="0"/>
              </a:rPr>
              <a:t>antinodes.</a:t>
            </a:r>
            <a:endParaRPr lang="en-AU" sz="2400"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2078826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500" y="296039"/>
            <a:ext cx="11645900" cy="2677656"/>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So far, you have been learning about a </a:t>
            </a:r>
            <a:r>
              <a:rPr lang="en-AU" sz="2400" b="1" i="0" dirty="0" smtClean="0">
                <a:solidFill>
                  <a:srgbClr val="0066CC"/>
                </a:solidFill>
                <a:effectLst/>
                <a:latin typeface="Arial" panose="020B0604020202020204" pitchFamily="34" charset="0"/>
              </a:rPr>
              <a:t>single wave</a:t>
            </a:r>
            <a:r>
              <a:rPr lang="en-AU" sz="2400" b="1" i="0" dirty="0" smtClean="0">
                <a:solidFill>
                  <a:srgbClr val="444444"/>
                </a:solidFill>
                <a:effectLst/>
                <a:latin typeface="Arial" panose="020B0604020202020204" pitchFamily="34" charset="0"/>
              </a:rPr>
              <a:t> and its properties.</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But have you thought about what happens if there is </a:t>
            </a:r>
            <a:r>
              <a:rPr lang="en-AU" sz="2400" b="1" i="0" dirty="0" smtClean="0">
                <a:solidFill>
                  <a:srgbClr val="571A98"/>
                </a:solidFill>
                <a:effectLst/>
                <a:latin typeface="Arial" panose="020B0604020202020204" pitchFamily="34" charset="0"/>
              </a:rPr>
              <a:t>more than one wave?</a:t>
            </a:r>
            <a:endParaRPr lang="en-AU" sz="2400" b="0"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What happens if there are </a:t>
            </a:r>
            <a:r>
              <a:rPr lang="en-AU" sz="2400" b="0" i="0" dirty="0" smtClean="0">
                <a:solidFill>
                  <a:srgbClr val="444444"/>
                </a:solidFill>
                <a:effectLst/>
                <a:latin typeface="KaTeX_Main"/>
              </a:rPr>
              <a:t>2</a:t>
            </a:r>
            <a:r>
              <a:rPr lang="en-AU" sz="2400" b="0" i="0" dirty="0" smtClean="0">
                <a:solidFill>
                  <a:srgbClr val="444444"/>
                </a:solidFill>
                <a:effectLst/>
                <a:latin typeface="Arial" panose="020B0604020202020204" pitchFamily="34" charset="0"/>
              </a:rPr>
              <a:t> sources of waves, such as </a:t>
            </a:r>
            <a:r>
              <a:rPr lang="en-AU" sz="2400" b="0" i="0" dirty="0" smtClean="0">
                <a:solidFill>
                  <a:srgbClr val="444444"/>
                </a:solidFill>
                <a:effectLst/>
                <a:latin typeface="KaTeX_Main"/>
              </a:rPr>
              <a:t>2</a:t>
            </a:r>
            <a:r>
              <a:rPr lang="en-AU" sz="2400" b="0" i="0" dirty="0" smtClean="0">
                <a:solidFill>
                  <a:srgbClr val="444444"/>
                </a:solidFill>
                <a:effectLst/>
                <a:latin typeface="Arial" panose="020B0604020202020204" pitchFamily="34" charset="0"/>
              </a:rPr>
              <a:t> speakers?</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How will the </a:t>
            </a:r>
            <a:r>
              <a:rPr lang="en-AU" sz="2400" b="0" i="0" dirty="0" smtClean="0">
                <a:solidFill>
                  <a:srgbClr val="444444"/>
                </a:solidFill>
                <a:effectLst/>
                <a:latin typeface="KaTeX_Main"/>
              </a:rPr>
              <a:t>2</a:t>
            </a:r>
            <a:r>
              <a:rPr lang="en-AU" sz="2400" b="0" i="0" dirty="0" smtClean="0">
                <a:solidFill>
                  <a:srgbClr val="444444"/>
                </a:solidFill>
                <a:effectLst/>
                <a:latin typeface="Arial" panose="020B0604020202020204" pitchFamily="34" charset="0"/>
              </a:rPr>
              <a:t> waves interact with each other?</a:t>
            </a:r>
            <a:endParaRPr lang="en-AU" sz="2400" b="0" i="0" dirty="0">
              <a:solidFill>
                <a:srgbClr val="444444"/>
              </a:solidFill>
              <a:effectLst/>
              <a:latin typeface="Arial" panose="020B0604020202020204" pitchFamily="34" charset="0"/>
            </a:endParaRPr>
          </a:p>
        </p:txBody>
      </p:sp>
      <p:pic>
        <p:nvPicPr>
          <p:cNvPr id="3" name="1509316096.54059">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432300" y="3132667"/>
            <a:ext cx="3632200" cy="3725333"/>
          </a:xfrm>
          <a:prstGeom prst="rect">
            <a:avLst/>
          </a:prstGeom>
        </p:spPr>
      </p:pic>
    </p:spTree>
    <p:extLst>
      <p:ext uri="{BB962C8B-B14F-4D97-AF65-F5344CB8AC3E}">
        <p14:creationId xmlns:p14="http://schemas.microsoft.com/office/powerpoint/2010/main" val="734286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LZYz8jEs8Ew"/>
          <p:cNvPicPr>
            <a:picLocks noRot="1" noChangeAspect="1"/>
          </p:cNvPicPr>
          <p:nvPr>
            <a:videoFile r:link="rId1"/>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44486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286941"/>
            <a:ext cx="11264900" cy="3785652"/>
          </a:xfrm>
          <a:prstGeom prst="rect">
            <a:avLst/>
          </a:prstGeom>
        </p:spPr>
        <p:txBody>
          <a:bodyPr wrap="square">
            <a:spAutoFit/>
          </a:bodyPr>
          <a:lstStyle/>
          <a:p>
            <a:pPr algn="ctr"/>
            <a:r>
              <a:rPr lang="en-AU" sz="2400" b="1" i="0" dirty="0" smtClean="0">
                <a:solidFill>
                  <a:srgbClr val="F30277"/>
                </a:solidFill>
                <a:effectLst/>
                <a:latin typeface="Arial" panose="020B0604020202020204" pitchFamily="34" charset="0"/>
              </a:rPr>
              <a:t>Superposition</a:t>
            </a:r>
            <a:r>
              <a:rPr lang="en-AU" sz="2400" b="1" i="0" dirty="0" smtClean="0">
                <a:solidFill>
                  <a:srgbClr val="444444"/>
                </a:solidFill>
                <a:effectLst/>
                <a:latin typeface="Arial" panose="020B0604020202020204" pitchFamily="34" charset="0"/>
              </a:rPr>
              <a:t> refers to the process that happens when two waves meet.</a:t>
            </a:r>
          </a:p>
          <a:p>
            <a:pPr algn="ctr"/>
            <a:r>
              <a:rPr lang="en-AU" sz="2400" b="0" i="0" dirty="0" smtClean="0">
                <a:solidFill>
                  <a:srgbClr val="444444"/>
                </a:solidFill>
                <a:effectLst/>
                <a:latin typeface="Arial" panose="020B0604020202020204" pitchFamily="34" charset="0"/>
              </a:rPr>
              <a:t> </a:t>
            </a:r>
          </a:p>
          <a:p>
            <a:pPr>
              <a:buFont typeface="Arial" panose="020B0604020202020204" pitchFamily="34" charset="0"/>
              <a:buChar char="•"/>
            </a:pPr>
            <a:r>
              <a:rPr lang="en-AU" sz="2400" b="0" i="0" dirty="0" smtClean="0">
                <a:solidFill>
                  <a:srgbClr val="444444"/>
                </a:solidFill>
                <a:effectLst/>
                <a:latin typeface="Arial" panose="020B0604020202020204" pitchFamily="34" charset="0"/>
              </a:rPr>
              <a:t>The </a:t>
            </a:r>
            <a:r>
              <a:rPr lang="en-AU" sz="2400" b="1" i="0" dirty="0" smtClean="0">
                <a:solidFill>
                  <a:srgbClr val="0066CC"/>
                </a:solidFill>
                <a:effectLst/>
                <a:latin typeface="Arial" panose="020B0604020202020204" pitchFamily="34" charset="0"/>
              </a:rPr>
              <a:t>waves</a:t>
            </a:r>
            <a:r>
              <a:rPr lang="en-AU" sz="2400" b="0" i="0" dirty="0" smtClean="0">
                <a:solidFill>
                  <a:srgbClr val="444444"/>
                </a:solidFill>
                <a:effectLst/>
                <a:latin typeface="Arial" panose="020B0604020202020204" pitchFamily="34" charset="0"/>
              </a:rPr>
              <a:t> pass through each other.</a:t>
            </a:r>
          </a:p>
          <a:p>
            <a:pPr>
              <a:buFont typeface="Arial" panose="020B0604020202020204" pitchFamily="34" charset="0"/>
              <a:buChar char="•"/>
            </a:pPr>
            <a:r>
              <a:rPr lang="en-AU" sz="2400" b="0" i="0" dirty="0" smtClean="0">
                <a:solidFill>
                  <a:srgbClr val="444444"/>
                </a:solidFill>
                <a:effectLst/>
                <a:latin typeface="Arial" panose="020B0604020202020204" pitchFamily="34" charset="0"/>
              </a:rPr>
              <a:t>As they do so, their amplitudes are combined.</a:t>
            </a:r>
          </a:p>
          <a:p>
            <a:pPr>
              <a:buFont typeface="Arial" panose="020B0604020202020204" pitchFamily="34" charset="0"/>
              <a:buChar char="•"/>
            </a:pPr>
            <a:r>
              <a:rPr lang="en-AU" sz="2400" b="0" i="0" dirty="0" smtClean="0">
                <a:solidFill>
                  <a:srgbClr val="444444"/>
                </a:solidFill>
                <a:effectLst/>
                <a:latin typeface="Arial" panose="020B0604020202020204" pitchFamily="34" charset="0"/>
              </a:rPr>
              <a:t>If the waves match, such as both having crests, or both having troughs, the amplitudes add together. This is known as </a:t>
            </a:r>
            <a:r>
              <a:rPr lang="en-AU" sz="2400" b="1" i="0" dirty="0" smtClean="0">
                <a:solidFill>
                  <a:srgbClr val="00B6EE"/>
                </a:solidFill>
                <a:effectLst/>
                <a:latin typeface="Arial" panose="020B0604020202020204" pitchFamily="34" charset="0"/>
              </a:rPr>
              <a:t>constructive interference.</a:t>
            </a:r>
            <a:r>
              <a:rPr lang="en-AU" sz="2400" b="0" i="0" dirty="0" smtClean="0">
                <a:solidFill>
                  <a:srgbClr val="444444"/>
                </a:solidFill>
                <a:effectLst/>
                <a:latin typeface="Arial" panose="020B0604020202020204" pitchFamily="34" charset="0"/>
              </a:rPr>
              <a:t> The waves are said to be </a:t>
            </a:r>
            <a:r>
              <a:rPr lang="en-AU" sz="2400" b="1" i="0" dirty="0" smtClean="0">
                <a:solidFill>
                  <a:srgbClr val="00B6EE"/>
                </a:solidFill>
                <a:effectLst/>
                <a:latin typeface="Arial" panose="020B0604020202020204" pitchFamily="34" charset="0"/>
              </a:rPr>
              <a:t>in phase.</a:t>
            </a:r>
            <a:endParaRPr lang="en-AU" sz="2400" b="0" i="0" dirty="0" smtClean="0">
              <a:solidFill>
                <a:srgbClr val="444444"/>
              </a:solidFill>
              <a:effectLst/>
              <a:latin typeface="Arial" panose="020B0604020202020204" pitchFamily="34" charset="0"/>
            </a:endParaRPr>
          </a:p>
          <a:p>
            <a:pPr>
              <a:buFont typeface="Arial" panose="020B0604020202020204" pitchFamily="34" charset="0"/>
              <a:buChar char="•"/>
            </a:pPr>
            <a:r>
              <a:rPr lang="en-AU" sz="2400" b="0" i="0" dirty="0" smtClean="0">
                <a:solidFill>
                  <a:srgbClr val="444444"/>
                </a:solidFill>
                <a:effectLst/>
                <a:latin typeface="Arial" panose="020B0604020202020204" pitchFamily="34" charset="0"/>
              </a:rPr>
              <a:t>If the waves do not match, and have a crest and a trough, the amplitudes are added, but one is negative, so in effect they are subtracted. The overall amplitude decreases. This is known as </a:t>
            </a:r>
            <a:r>
              <a:rPr lang="en-AU" sz="2400" b="1" i="0" dirty="0" smtClean="0">
                <a:solidFill>
                  <a:srgbClr val="CC0000"/>
                </a:solidFill>
                <a:effectLst/>
                <a:latin typeface="Arial" panose="020B0604020202020204" pitchFamily="34" charset="0"/>
              </a:rPr>
              <a:t>destructive interference.</a:t>
            </a:r>
            <a:endParaRPr lang="en-AU" sz="2400" b="0" i="0" dirty="0">
              <a:solidFill>
                <a:srgbClr val="444444"/>
              </a:solidFill>
              <a:effectLst/>
              <a:latin typeface="Arial" panose="020B0604020202020204" pitchFamily="34" charset="0"/>
            </a:endParaRPr>
          </a:p>
        </p:txBody>
      </p:sp>
      <p:pic>
        <p:nvPicPr>
          <p:cNvPr id="1026" name="Picture 2" descr="Wave superposition"/>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032125" y="4072593"/>
            <a:ext cx="6572250" cy="2809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8545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90500" y="208340"/>
            <a:ext cx="11722100" cy="2677656"/>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In summary, to calculate the </a:t>
            </a:r>
            <a:r>
              <a:rPr lang="en-AU" sz="2400" b="1" i="0" dirty="0" smtClean="0">
                <a:solidFill>
                  <a:srgbClr val="0066CC"/>
                </a:solidFill>
                <a:effectLst/>
                <a:latin typeface="Arial" panose="020B0604020202020204" pitchFamily="34" charset="0"/>
              </a:rPr>
              <a:t>resultant wave</a:t>
            </a:r>
            <a:r>
              <a:rPr lang="en-AU" sz="2400" b="1" i="0" dirty="0" smtClean="0">
                <a:solidFill>
                  <a:srgbClr val="444444"/>
                </a:solidFill>
                <a:effectLst/>
                <a:latin typeface="Arial" panose="020B0604020202020204" pitchFamily="34" charset="0"/>
              </a:rPr>
              <a:t> when two waves pass each other, simply </a:t>
            </a:r>
            <a:r>
              <a:rPr lang="en-AU" sz="2400" b="1" i="0" dirty="0" smtClean="0">
                <a:solidFill>
                  <a:srgbClr val="00B6EE"/>
                </a:solidFill>
                <a:effectLst/>
                <a:latin typeface="Arial" panose="020B0604020202020204" pitchFamily="34" charset="0"/>
              </a:rPr>
              <a:t>add the amplitudes.</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1" i="0" dirty="0" smtClean="0">
                <a:solidFill>
                  <a:srgbClr val="F30277"/>
                </a:solidFill>
                <a:effectLst/>
                <a:latin typeface="Arial" panose="020B0604020202020204" pitchFamily="34" charset="0"/>
              </a:rPr>
              <a:t>Superposition</a:t>
            </a:r>
            <a:r>
              <a:rPr lang="en-AU" sz="2400" b="0" i="0" dirty="0" smtClean="0">
                <a:solidFill>
                  <a:srgbClr val="444444"/>
                </a:solidFill>
                <a:effectLst/>
                <a:latin typeface="Arial" panose="020B0604020202020204" pitchFamily="34" charset="0"/>
              </a:rPr>
              <a:t> is defined as when two or more waves overlap in space, the resultant wave is the algebraic sum of the individual waves.</a:t>
            </a:r>
          </a:p>
          <a:p>
            <a:pPr algn="ctr"/>
            <a:r>
              <a:rPr lang="en-AU" sz="2400" b="0" i="0" dirty="0" smtClean="0">
                <a:solidFill>
                  <a:srgbClr val="444444"/>
                </a:solidFill>
                <a:effectLst/>
                <a:latin typeface="Arial" panose="020B0604020202020204" pitchFamily="34" charset="0"/>
              </a:rPr>
              <a:t> </a:t>
            </a:r>
          </a:p>
          <a:p>
            <a:pPr algn="ctr"/>
            <a:r>
              <a:rPr lang="en-AU" sz="2400" b="1" i="0" dirty="0" smtClean="0">
                <a:solidFill>
                  <a:srgbClr val="444444"/>
                </a:solidFill>
                <a:effectLst/>
                <a:latin typeface="Arial" panose="020B0604020202020204" pitchFamily="34" charset="0"/>
              </a:rPr>
              <a:t>Crests</a:t>
            </a:r>
            <a:r>
              <a:rPr lang="en-AU" sz="2400" b="0" i="0" dirty="0" smtClean="0">
                <a:solidFill>
                  <a:srgbClr val="444444"/>
                </a:solidFill>
                <a:effectLst/>
                <a:latin typeface="Arial" panose="020B0604020202020204" pitchFamily="34" charset="0"/>
              </a:rPr>
              <a:t> are considered </a:t>
            </a:r>
            <a:r>
              <a:rPr lang="en-AU" sz="2400" b="1" i="0" dirty="0" smtClean="0">
                <a:solidFill>
                  <a:srgbClr val="444444"/>
                </a:solidFill>
                <a:effectLst/>
                <a:latin typeface="Arial" panose="020B0604020202020204" pitchFamily="34" charset="0"/>
              </a:rPr>
              <a:t>positive</a:t>
            </a:r>
            <a:r>
              <a:rPr lang="en-AU" sz="2400" b="0" i="0" dirty="0" smtClean="0">
                <a:solidFill>
                  <a:srgbClr val="444444"/>
                </a:solidFill>
                <a:effectLst/>
                <a:latin typeface="Arial" panose="020B0604020202020204" pitchFamily="34" charset="0"/>
              </a:rPr>
              <a:t> and </a:t>
            </a:r>
            <a:r>
              <a:rPr lang="en-AU" sz="2400" b="1" i="0" dirty="0" smtClean="0">
                <a:solidFill>
                  <a:srgbClr val="444444"/>
                </a:solidFill>
                <a:effectLst/>
                <a:latin typeface="Arial" panose="020B0604020202020204" pitchFamily="34" charset="0"/>
              </a:rPr>
              <a:t>troughs negative.</a:t>
            </a:r>
            <a:endParaRPr lang="en-AU" sz="2400" b="0" i="0" dirty="0" smtClean="0">
              <a:solidFill>
                <a:srgbClr val="444444"/>
              </a:solidFill>
              <a:effectLst/>
              <a:latin typeface="Arial" panose="020B0604020202020204" pitchFamily="34" charset="0"/>
            </a:endParaRPr>
          </a:p>
        </p:txBody>
      </p:sp>
      <p:pic>
        <p:nvPicPr>
          <p:cNvPr id="2050" name="Picture 2" descr="https://www.educationperfect.com/Images/Content/Science/1382049932672-9397241-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5850" y="3467100"/>
            <a:ext cx="739140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67960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uv6hY6zsd0"/>
          <p:cNvPicPr>
            <a:picLocks noRot="1" noChangeAspect="1"/>
          </p:cNvPicPr>
          <p:nvPr>
            <a:videoFile r:link="rId1"/>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081360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6700" y="155139"/>
            <a:ext cx="11785600" cy="3046988"/>
          </a:xfrm>
          <a:prstGeom prst="rect">
            <a:avLst/>
          </a:prstGeom>
        </p:spPr>
        <p:txBody>
          <a:bodyPr wrap="square">
            <a:spAutoFit/>
          </a:bodyPr>
          <a:lstStyle/>
          <a:p>
            <a:pPr algn="ctr"/>
            <a:r>
              <a:rPr lang="en-AU" sz="2400" b="1" i="0" dirty="0" smtClean="0">
                <a:solidFill>
                  <a:srgbClr val="CC0000"/>
                </a:solidFill>
                <a:effectLst/>
                <a:latin typeface="Arial" panose="020B0604020202020204" pitchFamily="34" charset="0"/>
              </a:rPr>
              <a:t>Constructive</a:t>
            </a:r>
            <a:r>
              <a:rPr lang="en-AU" sz="2400" b="1" i="0" dirty="0" smtClean="0">
                <a:solidFill>
                  <a:srgbClr val="444444"/>
                </a:solidFill>
                <a:effectLst/>
                <a:latin typeface="Arial" panose="020B0604020202020204" pitchFamily="34" charset="0"/>
              </a:rPr>
              <a:t> and </a:t>
            </a:r>
            <a:r>
              <a:rPr lang="en-AU" sz="2400" b="1" i="0" dirty="0" smtClean="0">
                <a:solidFill>
                  <a:srgbClr val="0066CC"/>
                </a:solidFill>
                <a:effectLst/>
                <a:latin typeface="Arial" panose="020B0604020202020204" pitchFamily="34" charset="0"/>
              </a:rPr>
              <a:t>destructive</a:t>
            </a:r>
            <a:r>
              <a:rPr lang="en-AU" sz="2400" b="1" i="0" dirty="0" smtClean="0">
                <a:solidFill>
                  <a:srgbClr val="444444"/>
                </a:solidFill>
                <a:effectLst/>
                <a:latin typeface="Arial" panose="020B0604020202020204" pitchFamily="34" charset="0"/>
              </a:rPr>
              <a:t> </a:t>
            </a:r>
            <a:r>
              <a:rPr lang="en-AU" sz="2400" b="1" i="0" dirty="0" smtClean="0">
                <a:solidFill>
                  <a:srgbClr val="571A98"/>
                </a:solidFill>
                <a:effectLst/>
                <a:latin typeface="Arial" panose="020B0604020202020204" pitchFamily="34" charset="0"/>
              </a:rPr>
              <a:t>interference.</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1" i="0" dirty="0" smtClean="0">
                <a:solidFill>
                  <a:srgbClr val="CC0000"/>
                </a:solidFill>
                <a:effectLst/>
                <a:latin typeface="Arial" panose="020B0604020202020204" pitchFamily="34" charset="0"/>
              </a:rPr>
              <a:t>Constructive interference </a:t>
            </a:r>
            <a:r>
              <a:rPr lang="en-AU" sz="2400" b="0" i="0" dirty="0" smtClean="0">
                <a:solidFill>
                  <a:srgbClr val="444444"/>
                </a:solidFill>
                <a:effectLst/>
                <a:latin typeface="Arial" panose="020B0604020202020204" pitchFamily="34" charset="0"/>
              </a:rPr>
              <a:t>is defined as the interference of two or more waves of the same, or almost the same, frequency and in phase with each other, superposing to produce an observable pattern in intensity.</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Simply, it is when the waves interfere to make a larger wave, such as when a crest meets a crest.</a:t>
            </a:r>
            <a:endParaRPr lang="en-AU" sz="2400" b="0" i="0" dirty="0">
              <a:solidFill>
                <a:srgbClr val="444444"/>
              </a:solidFill>
              <a:effectLst/>
              <a:latin typeface="Arial" panose="020B0604020202020204" pitchFamily="34" charset="0"/>
            </a:endParaRPr>
          </a:p>
        </p:txBody>
      </p:sp>
      <p:pic>
        <p:nvPicPr>
          <p:cNvPr id="3074" name="Picture 2" descr="https://www.educationperfect.com/Images/Content/Science/1382049932672-9397241-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3675" y="3632200"/>
            <a:ext cx="739140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5966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84939"/>
            <a:ext cx="11518900" cy="3046988"/>
          </a:xfrm>
          <a:prstGeom prst="rect">
            <a:avLst/>
          </a:prstGeom>
        </p:spPr>
        <p:txBody>
          <a:bodyPr wrap="square">
            <a:spAutoFit/>
          </a:bodyPr>
          <a:lstStyle/>
          <a:p>
            <a:pPr algn="ctr"/>
            <a:r>
              <a:rPr lang="en-AU" sz="2400" b="1" i="0" dirty="0" smtClean="0">
                <a:solidFill>
                  <a:srgbClr val="CC0000"/>
                </a:solidFill>
                <a:effectLst/>
                <a:latin typeface="Arial" panose="020B0604020202020204" pitchFamily="34" charset="0"/>
              </a:rPr>
              <a:t>Constructive</a:t>
            </a:r>
            <a:r>
              <a:rPr lang="en-AU" sz="2400" b="1" i="0" dirty="0" smtClean="0">
                <a:solidFill>
                  <a:srgbClr val="444444"/>
                </a:solidFill>
                <a:effectLst/>
                <a:latin typeface="Arial" panose="020B0604020202020204" pitchFamily="34" charset="0"/>
              </a:rPr>
              <a:t> and </a:t>
            </a:r>
            <a:r>
              <a:rPr lang="en-AU" sz="2400" b="1" i="0" dirty="0" smtClean="0">
                <a:solidFill>
                  <a:srgbClr val="0066CC"/>
                </a:solidFill>
                <a:effectLst/>
                <a:latin typeface="Arial" panose="020B0604020202020204" pitchFamily="34" charset="0"/>
              </a:rPr>
              <a:t>Destructive</a:t>
            </a:r>
            <a:r>
              <a:rPr lang="en-AU" sz="2400" b="1" i="0" dirty="0" smtClean="0">
                <a:solidFill>
                  <a:srgbClr val="444444"/>
                </a:solidFill>
                <a:effectLst/>
                <a:latin typeface="Arial" panose="020B0604020202020204" pitchFamily="34" charset="0"/>
              </a:rPr>
              <a:t> </a:t>
            </a:r>
            <a:r>
              <a:rPr lang="en-AU" sz="2400" b="1" i="0" dirty="0" smtClean="0">
                <a:solidFill>
                  <a:srgbClr val="571A98"/>
                </a:solidFill>
                <a:effectLst/>
                <a:latin typeface="Arial" panose="020B0604020202020204" pitchFamily="34" charset="0"/>
              </a:rPr>
              <a:t>Interference</a:t>
            </a:r>
            <a:r>
              <a:rPr lang="en-AU" sz="2400" b="1" i="0" dirty="0" smtClean="0">
                <a:solidFill>
                  <a:srgbClr val="444444"/>
                </a:solidFill>
                <a:effectLst/>
                <a:latin typeface="Arial" panose="020B0604020202020204" pitchFamily="34" charset="0"/>
              </a:rPr>
              <a:t> (cont.).</a:t>
            </a:r>
          </a:p>
          <a:p>
            <a:pPr algn="ctr"/>
            <a:r>
              <a:rPr lang="en-AU" sz="2400" b="0" i="0" dirty="0" smtClean="0">
                <a:solidFill>
                  <a:srgbClr val="444444"/>
                </a:solidFill>
                <a:effectLst/>
                <a:latin typeface="Arial" panose="020B0604020202020204" pitchFamily="34" charset="0"/>
              </a:rPr>
              <a:t> </a:t>
            </a:r>
          </a:p>
          <a:p>
            <a:pPr algn="ctr"/>
            <a:r>
              <a:rPr lang="en-AU" sz="2400" b="1" i="0" dirty="0" smtClean="0">
                <a:solidFill>
                  <a:srgbClr val="0066CC"/>
                </a:solidFill>
                <a:effectLst/>
                <a:latin typeface="Arial" panose="020B0604020202020204" pitchFamily="34" charset="0"/>
              </a:rPr>
              <a:t>Destructive interference</a:t>
            </a:r>
            <a:r>
              <a:rPr lang="en-AU" sz="2400" b="0" i="0" dirty="0" smtClean="0">
                <a:solidFill>
                  <a:srgbClr val="444444"/>
                </a:solidFill>
                <a:effectLst/>
                <a:latin typeface="Arial" panose="020B0604020202020204" pitchFamily="34" charset="0"/>
              </a:rPr>
              <a:t> is defined as the interference of two or more waves of the same, or almost the same frequency and </a:t>
            </a:r>
            <a:r>
              <a:rPr lang="en-AU" sz="2400" b="0" i="0" dirty="0" smtClean="0">
                <a:solidFill>
                  <a:srgbClr val="444444"/>
                </a:solidFill>
                <a:effectLst/>
                <a:latin typeface="KaTeX_Main"/>
              </a:rPr>
              <a:t>180</a:t>
            </a:r>
            <a:r>
              <a:rPr lang="en-AU" sz="2400" b="0" i="0" baseline="30000" dirty="0" smtClean="0">
                <a:solidFill>
                  <a:srgbClr val="444444"/>
                </a:solidFill>
                <a:effectLst/>
                <a:latin typeface="KaTeX_Main"/>
              </a:rPr>
              <a:t>∘</a:t>
            </a:r>
            <a:r>
              <a:rPr lang="en-AU" sz="2400" b="0" i="0" dirty="0" smtClean="0">
                <a:solidFill>
                  <a:srgbClr val="444444"/>
                </a:solidFill>
                <a:effectLst/>
                <a:latin typeface="Arial" panose="020B0604020202020204" pitchFamily="34" charset="0"/>
              </a:rPr>
              <a:t> out of phase with each other, superposing to produce a resultant wave with reduced amplitude.</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In this case, the waves interfere to make a smaller wave (or no wave), with a crest meeting a trough.</a:t>
            </a:r>
            <a:endParaRPr lang="en-AU" sz="2400" b="0" i="0" dirty="0">
              <a:solidFill>
                <a:srgbClr val="444444"/>
              </a:solidFill>
              <a:effectLst/>
              <a:latin typeface="Arial" panose="020B0604020202020204" pitchFamily="34" charset="0"/>
            </a:endParaRPr>
          </a:p>
        </p:txBody>
      </p:sp>
      <p:pic>
        <p:nvPicPr>
          <p:cNvPr id="4098" name="Picture 2" descr="https://www.educationperfect.com/Images/Content/Science/1382049998581-9397241-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4750" y="3873500"/>
            <a:ext cx="739140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1822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69439"/>
            <a:ext cx="11188700" cy="3046988"/>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When two waves are travelling at the same frequency, through the same medium, in opposite directions, a wave pattern can form known as a </a:t>
            </a:r>
            <a:r>
              <a:rPr lang="en-AU" sz="2400" b="1" i="0" dirty="0" smtClean="0">
                <a:solidFill>
                  <a:srgbClr val="00868B"/>
                </a:solidFill>
                <a:effectLst/>
                <a:latin typeface="Arial" panose="020B0604020202020204" pitchFamily="34" charset="0"/>
              </a:rPr>
              <a:t>standing wave.</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For example, if a rope is fixed at one end and a wave is sent along the rope from the other end, when it reaches the fixed end it will </a:t>
            </a:r>
            <a:r>
              <a:rPr lang="en-AU" sz="2400" b="1" i="0" dirty="0" smtClean="0">
                <a:solidFill>
                  <a:srgbClr val="00B6EE"/>
                </a:solidFill>
                <a:effectLst/>
                <a:latin typeface="Arial" panose="020B0604020202020204" pitchFamily="34" charset="0"/>
              </a:rPr>
              <a:t>reflect</a:t>
            </a:r>
            <a:r>
              <a:rPr lang="en-AU" sz="2400" b="0" i="0" dirty="0" smtClean="0">
                <a:solidFill>
                  <a:srgbClr val="444444"/>
                </a:solidFill>
                <a:effectLst/>
                <a:latin typeface="Arial" panose="020B0604020202020204" pitchFamily="34" charset="0"/>
              </a:rPr>
              <a:t> and bounce back. The </a:t>
            </a:r>
            <a:r>
              <a:rPr lang="en-AU" sz="2400" b="1" i="0" dirty="0" smtClean="0">
                <a:solidFill>
                  <a:srgbClr val="00B6EE"/>
                </a:solidFill>
                <a:effectLst/>
                <a:latin typeface="Arial" panose="020B0604020202020204" pitchFamily="34" charset="0"/>
              </a:rPr>
              <a:t>reflected wave</a:t>
            </a:r>
            <a:r>
              <a:rPr lang="en-AU" sz="2400" b="0" i="0" dirty="0" smtClean="0">
                <a:solidFill>
                  <a:srgbClr val="444444"/>
                </a:solidFill>
                <a:effectLst/>
                <a:latin typeface="Arial" panose="020B0604020202020204" pitchFamily="34" charset="0"/>
              </a:rPr>
              <a:t> causes </a:t>
            </a:r>
            <a:r>
              <a:rPr lang="en-AU" sz="2400" b="1" i="0" dirty="0" smtClean="0">
                <a:solidFill>
                  <a:srgbClr val="571A98"/>
                </a:solidFill>
                <a:effectLst/>
                <a:latin typeface="Arial" panose="020B0604020202020204" pitchFamily="34" charset="0"/>
              </a:rPr>
              <a:t>interference</a:t>
            </a:r>
            <a:r>
              <a:rPr lang="en-AU" sz="2400" b="0" i="0" dirty="0" smtClean="0">
                <a:solidFill>
                  <a:srgbClr val="444444"/>
                </a:solidFill>
                <a:effectLst/>
                <a:latin typeface="Arial" panose="020B0604020202020204" pitchFamily="34" charset="0"/>
              </a:rPr>
              <a:t> with the first moving wave and sets up a </a:t>
            </a:r>
            <a:r>
              <a:rPr lang="en-AU" sz="2400" b="1" i="0" dirty="0" smtClean="0">
                <a:solidFill>
                  <a:srgbClr val="00868B"/>
                </a:solidFill>
                <a:effectLst/>
                <a:latin typeface="Arial" panose="020B0604020202020204" pitchFamily="34" charset="0"/>
              </a:rPr>
              <a:t>standing wave.</a:t>
            </a:r>
            <a:endParaRPr lang="en-AU" sz="2400" b="0" i="0" dirty="0">
              <a:solidFill>
                <a:srgbClr val="444444"/>
              </a:solidFill>
              <a:effectLst/>
              <a:latin typeface="Arial" panose="020B0604020202020204" pitchFamily="34" charset="0"/>
            </a:endParaRPr>
          </a:p>
        </p:txBody>
      </p:sp>
      <p:pic>
        <p:nvPicPr>
          <p:cNvPr id="5122" name="Picture 2" descr="https://www.educationperfect.com/media/content/Science/1460510533.340221f/1460510535321-253757742354227.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644775" y="3810000"/>
            <a:ext cx="7432040" cy="193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05800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600" y="315436"/>
            <a:ext cx="11823700" cy="1569660"/>
          </a:xfrm>
          <a:prstGeom prst="rect">
            <a:avLst/>
          </a:prstGeom>
        </p:spPr>
        <p:txBody>
          <a:bodyPr wrap="square">
            <a:spAutoFit/>
          </a:bodyPr>
          <a:lstStyle/>
          <a:p>
            <a:pPr algn="ctr"/>
            <a:r>
              <a:rPr lang="en-AU" sz="2400" b="1" i="0" dirty="0" smtClean="0">
                <a:solidFill>
                  <a:srgbClr val="48D1CC"/>
                </a:solidFill>
                <a:effectLst/>
                <a:latin typeface="Arial" panose="020B0604020202020204" pitchFamily="34" charset="0"/>
              </a:rPr>
              <a:t>Nodes</a:t>
            </a:r>
            <a:r>
              <a:rPr lang="en-AU" sz="2400" b="1" i="0" dirty="0" smtClean="0">
                <a:solidFill>
                  <a:srgbClr val="444444"/>
                </a:solidFill>
                <a:effectLst/>
                <a:latin typeface="Arial" panose="020B0604020202020204" pitchFamily="34" charset="0"/>
              </a:rPr>
              <a:t> and </a:t>
            </a:r>
            <a:r>
              <a:rPr lang="en-AU" sz="2400" b="1" i="0" dirty="0" smtClean="0">
                <a:solidFill>
                  <a:srgbClr val="EE82EE"/>
                </a:solidFill>
                <a:effectLst/>
                <a:latin typeface="Arial" panose="020B0604020202020204" pitchFamily="34" charset="0"/>
              </a:rPr>
              <a:t>Antinodes.</a:t>
            </a:r>
            <a:endParaRPr lang="en-AU" sz="2400" b="1" i="0" dirty="0" smtClean="0">
              <a:solidFill>
                <a:srgbClr val="444444"/>
              </a:solidFill>
              <a:effectLst/>
              <a:latin typeface="Arial" panose="020B0604020202020204" pitchFamily="34" charset="0"/>
            </a:endParaRP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In a </a:t>
            </a:r>
            <a:r>
              <a:rPr lang="en-AU" sz="2400" b="1" i="0" dirty="0" smtClean="0">
                <a:solidFill>
                  <a:srgbClr val="00868B"/>
                </a:solidFill>
                <a:effectLst/>
                <a:latin typeface="Arial" panose="020B0604020202020204" pitchFamily="34" charset="0"/>
              </a:rPr>
              <a:t>standing wave, </a:t>
            </a:r>
            <a:r>
              <a:rPr lang="en-AU" sz="2400" b="0" i="0" dirty="0" smtClean="0">
                <a:solidFill>
                  <a:srgbClr val="444444"/>
                </a:solidFill>
                <a:effectLst/>
                <a:latin typeface="Arial" panose="020B0604020202020204" pitchFamily="34" charset="0"/>
              </a:rPr>
              <a:t>there are points that do not move. This is where there is perfect </a:t>
            </a:r>
            <a:r>
              <a:rPr lang="en-AU" sz="2400" b="1" i="0" dirty="0" smtClean="0">
                <a:solidFill>
                  <a:srgbClr val="0066CC"/>
                </a:solidFill>
                <a:effectLst/>
                <a:latin typeface="Arial" panose="020B0604020202020204" pitchFamily="34" charset="0"/>
              </a:rPr>
              <a:t>destructive interference.</a:t>
            </a:r>
            <a:r>
              <a:rPr lang="en-AU" sz="2400" b="0" i="0" dirty="0" smtClean="0">
                <a:solidFill>
                  <a:srgbClr val="444444"/>
                </a:solidFill>
                <a:effectLst/>
                <a:latin typeface="Arial" panose="020B0604020202020204" pitchFamily="34" charset="0"/>
              </a:rPr>
              <a:t> These points are known as </a:t>
            </a:r>
            <a:r>
              <a:rPr lang="en-AU" sz="2400" b="1" i="0" dirty="0" smtClean="0">
                <a:solidFill>
                  <a:srgbClr val="48D1CC"/>
                </a:solidFill>
                <a:effectLst/>
                <a:latin typeface="Arial" panose="020B0604020202020204" pitchFamily="34" charset="0"/>
              </a:rPr>
              <a:t>nodes.</a:t>
            </a:r>
            <a:endParaRPr lang="en-AU" sz="2400" b="0" i="0" dirty="0">
              <a:solidFill>
                <a:srgbClr val="444444"/>
              </a:solidFill>
              <a:effectLst/>
              <a:latin typeface="Arial" panose="020B0604020202020204" pitchFamily="34" charset="0"/>
            </a:endParaRPr>
          </a:p>
        </p:txBody>
      </p:sp>
      <p:pic>
        <p:nvPicPr>
          <p:cNvPr id="6146" name="Picture 2" descr="https://www.educationperfect.com/media/content/Science/1460510533.340221f/1460510535321-253757742354227.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336675" y="1885096"/>
            <a:ext cx="8779940" cy="2280504"/>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317500" y="4442936"/>
            <a:ext cx="11366500" cy="1569660"/>
          </a:xfrm>
          <a:prstGeom prst="rect">
            <a:avLst/>
          </a:prstGeom>
        </p:spPr>
        <p:txBody>
          <a:bodyPr wrap="square">
            <a:spAutoFit/>
          </a:bodyPr>
          <a:lstStyle/>
          <a:p>
            <a:pPr algn="ctr"/>
            <a:r>
              <a:rPr lang="en-AU" sz="2400" b="0" i="0" dirty="0" smtClean="0">
                <a:solidFill>
                  <a:srgbClr val="444444"/>
                </a:solidFill>
                <a:effectLst/>
                <a:latin typeface="Arial" panose="020B0604020202020204" pitchFamily="34" charset="0"/>
              </a:rPr>
              <a:t>Here the </a:t>
            </a:r>
            <a:r>
              <a:rPr lang="en-AU" sz="2400" b="1" i="0" dirty="0" smtClean="0">
                <a:solidFill>
                  <a:srgbClr val="48D1CC"/>
                </a:solidFill>
                <a:effectLst/>
                <a:latin typeface="Arial" panose="020B0604020202020204" pitchFamily="34" charset="0"/>
              </a:rPr>
              <a:t>nodes</a:t>
            </a:r>
            <a:r>
              <a:rPr lang="en-AU" sz="2400" b="0" i="0" dirty="0" smtClean="0">
                <a:solidFill>
                  <a:srgbClr val="444444"/>
                </a:solidFill>
                <a:effectLst/>
                <a:latin typeface="Arial" panose="020B0604020202020204" pitchFamily="34" charset="0"/>
              </a:rPr>
              <a:t> are shown as red dots.</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A </a:t>
            </a:r>
            <a:r>
              <a:rPr lang="en-AU" sz="2400" b="1" i="0" dirty="0" smtClean="0">
                <a:solidFill>
                  <a:srgbClr val="48D1CC"/>
                </a:solidFill>
                <a:effectLst/>
                <a:latin typeface="Arial" panose="020B0604020202020204" pitchFamily="34" charset="0"/>
              </a:rPr>
              <a:t>node </a:t>
            </a:r>
            <a:r>
              <a:rPr lang="en-AU" sz="2400" b="0" i="0" dirty="0" smtClean="0">
                <a:solidFill>
                  <a:srgbClr val="444444"/>
                </a:solidFill>
                <a:effectLst/>
                <a:latin typeface="Arial" panose="020B0604020202020204" pitchFamily="34" charset="0"/>
              </a:rPr>
              <a:t>is defined as point in a medium that is not displaced</a:t>
            </a:r>
            <a:br>
              <a:rPr lang="en-AU" sz="2400" b="0" i="0" dirty="0" smtClean="0">
                <a:solidFill>
                  <a:srgbClr val="444444"/>
                </a:solidFill>
                <a:effectLst/>
                <a:latin typeface="Arial" panose="020B0604020202020204" pitchFamily="34" charset="0"/>
              </a:rPr>
            </a:br>
            <a:r>
              <a:rPr lang="en-AU" sz="2400" b="0" i="0" dirty="0" smtClean="0">
                <a:solidFill>
                  <a:srgbClr val="444444"/>
                </a:solidFill>
                <a:effectLst/>
                <a:latin typeface="Arial" panose="020B0604020202020204" pitchFamily="34" charset="0"/>
              </a:rPr>
              <a:t>as a wave is propagated through it.</a:t>
            </a:r>
            <a:endParaRPr lang="en-AU" sz="2400" b="0"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3729922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600" y="202337"/>
            <a:ext cx="11887200" cy="1938992"/>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An </a:t>
            </a:r>
            <a:r>
              <a:rPr lang="en-AU" sz="2400" b="1" i="0" dirty="0" smtClean="0">
                <a:solidFill>
                  <a:srgbClr val="EE82EE"/>
                </a:solidFill>
                <a:effectLst/>
                <a:latin typeface="Arial" panose="020B0604020202020204" pitchFamily="34" charset="0"/>
              </a:rPr>
              <a:t>antinode</a:t>
            </a:r>
            <a:r>
              <a:rPr lang="en-AU" sz="2400" b="1" i="0" dirty="0" smtClean="0">
                <a:solidFill>
                  <a:srgbClr val="444444"/>
                </a:solidFill>
                <a:effectLst/>
                <a:latin typeface="Arial" panose="020B0604020202020204" pitchFamily="34" charset="0"/>
              </a:rPr>
              <a:t> is defined as the midway point between each pair of nodes where there is maximum amplitude of vibration.</a:t>
            </a:r>
          </a:p>
          <a:p>
            <a:pPr algn="ctr"/>
            <a:r>
              <a:rPr lang="en-AU" sz="2400" b="0" i="0" dirty="0" smtClean="0">
                <a:solidFill>
                  <a:srgbClr val="444444"/>
                </a:solidFill>
                <a:effectLst/>
                <a:latin typeface="Arial" panose="020B0604020202020204" pitchFamily="34" charset="0"/>
              </a:rPr>
              <a:t> </a:t>
            </a:r>
          </a:p>
          <a:p>
            <a:pPr algn="ctr"/>
            <a:r>
              <a:rPr lang="en-AU" sz="2400" b="0" i="0" dirty="0" smtClean="0">
                <a:solidFill>
                  <a:srgbClr val="444444"/>
                </a:solidFill>
                <a:effectLst/>
                <a:latin typeface="Arial" panose="020B0604020202020204" pitchFamily="34" charset="0"/>
              </a:rPr>
              <a:t>When you look at a </a:t>
            </a:r>
            <a:r>
              <a:rPr lang="en-AU" sz="2400" b="1" i="0" dirty="0" smtClean="0">
                <a:solidFill>
                  <a:srgbClr val="00868B"/>
                </a:solidFill>
                <a:effectLst/>
                <a:latin typeface="Arial" panose="020B0604020202020204" pitchFamily="34" charset="0"/>
              </a:rPr>
              <a:t>standing wave,</a:t>
            </a:r>
            <a:r>
              <a:rPr lang="en-AU" sz="2400" b="0" i="0" dirty="0" smtClean="0">
                <a:solidFill>
                  <a:srgbClr val="444444"/>
                </a:solidFill>
                <a:effectLst/>
                <a:latin typeface="Arial" panose="020B0604020202020204" pitchFamily="34" charset="0"/>
              </a:rPr>
              <a:t> this is seen as the point that moves furthest up and down.</a:t>
            </a:r>
            <a:endParaRPr lang="en-AU" sz="2400" b="0" i="0" dirty="0">
              <a:solidFill>
                <a:srgbClr val="444444"/>
              </a:solidFill>
              <a:effectLst/>
              <a:latin typeface="Arial" panose="020B0604020202020204" pitchFamily="34" charset="0"/>
            </a:endParaRPr>
          </a:p>
        </p:txBody>
      </p:sp>
      <p:pic>
        <p:nvPicPr>
          <p:cNvPr id="7170" name="Picture 2" descr="https://www.educationperfect.com/media/content/Science/1460510533.340221f/1460510535321-253757742354227.gif"/>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539875" y="2311399"/>
            <a:ext cx="8137525" cy="2113643"/>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p:cNvSpPr/>
          <p:nvPr/>
        </p:nvSpPr>
        <p:spPr>
          <a:xfrm>
            <a:off x="2560637" y="5023535"/>
            <a:ext cx="6096000" cy="830997"/>
          </a:xfrm>
          <a:prstGeom prst="rect">
            <a:avLst/>
          </a:prstGeom>
        </p:spPr>
        <p:txBody>
          <a:bodyPr>
            <a:spAutoFit/>
          </a:bodyPr>
          <a:lstStyle/>
          <a:p>
            <a:r>
              <a:rPr lang="en-AU" sz="2400" dirty="0" smtClean="0"/>
              <a:t>Can you identify the antinodes on this wave?</a:t>
            </a:r>
          </a:p>
          <a:p>
            <a:endParaRPr lang="en-AU" sz="2400" dirty="0"/>
          </a:p>
        </p:txBody>
      </p:sp>
    </p:spTree>
    <p:extLst>
      <p:ext uri="{BB962C8B-B14F-4D97-AF65-F5344CB8AC3E}">
        <p14:creationId xmlns:p14="http://schemas.microsoft.com/office/powerpoint/2010/main" val="6921250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2600" y="428536"/>
            <a:ext cx="11074400" cy="1569660"/>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A </a:t>
            </a:r>
            <a:r>
              <a:rPr lang="en-AU" sz="2400" b="1" i="0" dirty="0" smtClean="0">
                <a:solidFill>
                  <a:srgbClr val="00868B"/>
                </a:solidFill>
                <a:effectLst/>
                <a:latin typeface="Arial" panose="020B0604020202020204" pitchFamily="34" charset="0"/>
              </a:rPr>
              <a:t>standing wave</a:t>
            </a:r>
            <a:r>
              <a:rPr lang="en-AU" sz="2400" b="1" i="0" dirty="0" smtClean="0">
                <a:solidFill>
                  <a:srgbClr val="444444"/>
                </a:solidFill>
                <a:effectLst/>
                <a:latin typeface="Arial" panose="020B0604020202020204" pitchFamily="34" charset="0"/>
              </a:rPr>
              <a:t> is often drawn showing the range of displacement of the waves.</a:t>
            </a:r>
          </a:p>
          <a:p>
            <a:r>
              <a:rPr lang="en-AU" sz="2400" dirty="0" smtClean="0"/>
              <a:t/>
            </a:r>
            <a:br>
              <a:rPr lang="en-AU" sz="2400" dirty="0" smtClean="0"/>
            </a:br>
            <a:endParaRPr lang="en-AU" sz="2400" dirty="0"/>
          </a:p>
        </p:txBody>
      </p:sp>
      <p:pic>
        <p:nvPicPr>
          <p:cNvPr id="8194" name="Picture 2" descr="https://www.educationperfect.com/media/content/Science/1426648075.923791g/1426648064420-196029631-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8287" y="1375202"/>
            <a:ext cx="6423025" cy="256921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965200" y="4667935"/>
            <a:ext cx="9537700" cy="954107"/>
          </a:xfrm>
          <a:prstGeom prst="rect">
            <a:avLst/>
          </a:prstGeom>
        </p:spPr>
        <p:txBody>
          <a:bodyPr wrap="square">
            <a:spAutoFit/>
          </a:bodyPr>
          <a:lstStyle/>
          <a:p>
            <a:r>
              <a:rPr lang="en-AU" sz="2800" dirty="0" smtClean="0"/>
              <a:t>On this image, A labels a node, whilst B and C label antinodes.</a:t>
            </a:r>
          </a:p>
          <a:p>
            <a:endParaRPr lang="en-AU" sz="2800" dirty="0"/>
          </a:p>
        </p:txBody>
      </p:sp>
    </p:spTree>
    <p:extLst>
      <p:ext uri="{BB962C8B-B14F-4D97-AF65-F5344CB8AC3E}">
        <p14:creationId xmlns:p14="http://schemas.microsoft.com/office/powerpoint/2010/main" val="1359259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2900" y="2713335"/>
            <a:ext cx="11125200" cy="830997"/>
          </a:xfrm>
          <a:prstGeom prst="rect">
            <a:avLst/>
          </a:prstGeom>
        </p:spPr>
        <p:txBody>
          <a:bodyPr wrap="square">
            <a:spAutoFit/>
          </a:bodyPr>
          <a:lstStyle/>
          <a:p>
            <a:pPr algn="ctr"/>
            <a:r>
              <a:rPr lang="en-AU" sz="2400" b="1" i="0" dirty="0" smtClean="0">
                <a:solidFill>
                  <a:srgbClr val="00868B"/>
                </a:solidFill>
                <a:effectLst/>
                <a:latin typeface="Arial" panose="020B0604020202020204" pitchFamily="34" charset="0"/>
              </a:rPr>
              <a:t>Standing waves</a:t>
            </a:r>
            <a:r>
              <a:rPr lang="en-AU" sz="2400" b="1" i="0" dirty="0" smtClean="0">
                <a:solidFill>
                  <a:srgbClr val="444444"/>
                </a:solidFill>
                <a:effectLst/>
                <a:latin typeface="Arial" panose="020B0604020202020204" pitchFamily="34" charset="0"/>
              </a:rPr>
              <a:t> are defined as waves with stationary vibration patterns formed due to the superposition of waves with particular frequencies.</a:t>
            </a:r>
            <a:endParaRPr lang="en-AU" sz="2400" b="1" i="0" dirty="0">
              <a:solidFill>
                <a:srgbClr val="444444"/>
              </a:solidFill>
              <a:effectLst/>
              <a:latin typeface="Arial" panose="020B0604020202020204" pitchFamily="34" charset="0"/>
            </a:endParaRPr>
          </a:p>
        </p:txBody>
      </p:sp>
    </p:spTree>
    <p:extLst>
      <p:ext uri="{BB962C8B-B14F-4D97-AF65-F5344CB8AC3E}">
        <p14:creationId xmlns:p14="http://schemas.microsoft.com/office/powerpoint/2010/main" val="36689379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jz8IIk_bps0"/>
          <p:cNvPicPr>
            <a:picLocks noRot="1" noChangeAspect="1"/>
          </p:cNvPicPr>
          <p:nvPr>
            <a:videoFile r:link="rId1"/>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5974368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5100" y="426135"/>
            <a:ext cx="11798300" cy="461665"/>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Consider how you would identify </a:t>
            </a:r>
            <a:r>
              <a:rPr lang="en-AU" sz="2400" b="1" i="0" dirty="0" smtClean="0">
                <a:solidFill>
                  <a:srgbClr val="48D1CC"/>
                </a:solidFill>
                <a:effectLst/>
                <a:latin typeface="Arial" panose="020B0604020202020204" pitchFamily="34" charset="0"/>
              </a:rPr>
              <a:t>nodes</a:t>
            </a:r>
            <a:r>
              <a:rPr lang="en-AU" sz="2400" b="1" i="0" dirty="0" smtClean="0">
                <a:solidFill>
                  <a:srgbClr val="444444"/>
                </a:solidFill>
                <a:effectLst/>
                <a:latin typeface="Arial" panose="020B0604020202020204" pitchFamily="34" charset="0"/>
              </a:rPr>
              <a:t> and </a:t>
            </a:r>
            <a:r>
              <a:rPr lang="en-AU" sz="2400" b="1" i="0" dirty="0" smtClean="0">
                <a:solidFill>
                  <a:srgbClr val="EE82EE"/>
                </a:solidFill>
                <a:effectLst/>
                <a:latin typeface="Arial" panose="020B0604020202020204" pitchFamily="34" charset="0"/>
              </a:rPr>
              <a:t>antinodes</a:t>
            </a:r>
            <a:r>
              <a:rPr lang="en-AU" sz="2400" b="1" i="0" dirty="0" smtClean="0">
                <a:solidFill>
                  <a:srgbClr val="444444"/>
                </a:solidFill>
                <a:effectLst/>
                <a:latin typeface="Arial" panose="020B0604020202020204" pitchFamily="34" charset="0"/>
              </a:rPr>
              <a:t> if there were 2 sources:</a:t>
            </a:r>
            <a:endParaRPr lang="en-AU" sz="2400" b="1" i="0" dirty="0">
              <a:solidFill>
                <a:srgbClr val="444444"/>
              </a:solidFill>
              <a:effectLst/>
              <a:latin typeface="Arial" panose="020B0604020202020204" pitchFamily="34" charset="0"/>
            </a:endParaRPr>
          </a:p>
        </p:txBody>
      </p:sp>
      <p:pic>
        <p:nvPicPr>
          <p:cNvPr id="9218" name="Picture 2" descr="https://www.educationperfect.com/media/content/Science/1426466626.591211g/1426466616387-1814534211-40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8393" y="758567"/>
            <a:ext cx="4811713" cy="3007321"/>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09995" y="3498155"/>
            <a:ext cx="10908507" cy="1200329"/>
          </a:xfrm>
          <a:prstGeom prst="rect">
            <a:avLst/>
          </a:prstGeom>
        </p:spPr>
        <p:txBody>
          <a:bodyPr wrap="square">
            <a:spAutoFit/>
          </a:bodyPr>
          <a:lstStyle/>
          <a:p>
            <a:r>
              <a:rPr lang="en-AU" sz="2400" b="0" i="0" dirty="0" smtClean="0">
                <a:solidFill>
                  <a:srgbClr val="444444"/>
                </a:solidFill>
                <a:effectLst/>
                <a:latin typeface="Arial" panose="020B0604020202020204" pitchFamily="34" charset="0"/>
              </a:rPr>
              <a:t>The</a:t>
            </a:r>
            <a:r>
              <a:rPr lang="en-AU" sz="2400" b="1" i="0" dirty="0" smtClean="0">
                <a:solidFill>
                  <a:srgbClr val="EE82EE"/>
                </a:solidFill>
                <a:effectLst/>
                <a:latin typeface="Arial" panose="020B0604020202020204" pitchFamily="34" charset="0"/>
              </a:rPr>
              <a:t> antinodes </a:t>
            </a:r>
            <a:r>
              <a:rPr lang="en-AU" sz="2400" b="0" i="0" dirty="0" smtClean="0">
                <a:solidFill>
                  <a:srgbClr val="444444"/>
                </a:solidFill>
                <a:effectLst/>
                <a:latin typeface="Arial" panose="020B0604020202020204" pitchFamily="34" charset="0"/>
              </a:rPr>
              <a:t>would occur where the waves overlapped crest with crest and trough with trough, whilst the </a:t>
            </a:r>
            <a:r>
              <a:rPr lang="en-AU" sz="2400" b="1" i="0" dirty="0" smtClean="0">
                <a:solidFill>
                  <a:srgbClr val="48D1CC"/>
                </a:solidFill>
                <a:effectLst/>
                <a:latin typeface="Arial" panose="020B0604020202020204" pitchFamily="34" charset="0"/>
              </a:rPr>
              <a:t>nodes</a:t>
            </a:r>
            <a:r>
              <a:rPr lang="en-AU" sz="2400" b="0" i="0" dirty="0" smtClean="0">
                <a:solidFill>
                  <a:srgbClr val="444444"/>
                </a:solidFill>
                <a:effectLst/>
                <a:latin typeface="Arial" panose="020B0604020202020204" pitchFamily="34" charset="0"/>
              </a:rPr>
              <a:t> occur where the waves cancel each other out - crest with tough:</a:t>
            </a:r>
            <a:endParaRPr lang="en-AU" sz="2400" dirty="0"/>
          </a:p>
        </p:txBody>
      </p:sp>
      <p:pic>
        <p:nvPicPr>
          <p:cNvPr id="9220" name="Picture 4" descr="https://www.educationperfect.com/media/content/Science/1425516323.447091g/1425516322197-2103328097-40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9838" y="4436082"/>
            <a:ext cx="3605766" cy="2421918"/>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https://www.educationperfect.com/media/content/Science/1425516422.946231g/1425516419280-2103328097-40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4700" y="4482304"/>
            <a:ext cx="3536950" cy="23756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07315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XtH8l999aRM"/>
          <p:cNvPicPr>
            <a:picLocks noRot="1" noChangeAspect="1"/>
          </p:cNvPicPr>
          <p:nvPr>
            <a:videoFile r:link="rId1"/>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772049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800" y="672237"/>
            <a:ext cx="12153900" cy="1938992"/>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When waves encounter an object or pass through a gap, a process called </a:t>
            </a:r>
            <a:r>
              <a:rPr lang="en-AU" sz="2400" b="1" i="0" dirty="0" smtClean="0">
                <a:solidFill>
                  <a:srgbClr val="571A98"/>
                </a:solidFill>
                <a:effectLst/>
                <a:latin typeface="Arial" panose="020B0604020202020204" pitchFamily="34" charset="0"/>
              </a:rPr>
              <a:t>diffraction</a:t>
            </a:r>
            <a:r>
              <a:rPr lang="en-AU" sz="2400" b="1" i="0" dirty="0" smtClean="0">
                <a:solidFill>
                  <a:srgbClr val="444444"/>
                </a:solidFill>
                <a:effectLst/>
                <a:latin typeface="Arial" panose="020B0604020202020204" pitchFamily="34" charset="0"/>
              </a:rPr>
              <a:t> occurs.</a:t>
            </a:r>
          </a:p>
          <a:p>
            <a:pPr algn="ctr"/>
            <a:r>
              <a:rPr lang="en-AU" sz="2400" b="0" i="0" dirty="0" smtClean="0">
                <a:solidFill>
                  <a:srgbClr val="444444"/>
                </a:solidFill>
                <a:effectLst/>
                <a:latin typeface="Arial" panose="020B0604020202020204" pitchFamily="34" charset="0"/>
              </a:rPr>
              <a:t> </a:t>
            </a:r>
          </a:p>
          <a:p>
            <a:pPr algn="ctr"/>
            <a:r>
              <a:rPr lang="en-AU" sz="2400" b="1" i="0" dirty="0" smtClean="0">
                <a:solidFill>
                  <a:srgbClr val="571A98"/>
                </a:solidFill>
                <a:effectLst/>
                <a:latin typeface="Arial" panose="020B0604020202020204" pitchFamily="34" charset="0"/>
              </a:rPr>
              <a:t>Diffraction</a:t>
            </a:r>
            <a:r>
              <a:rPr lang="en-AU" sz="2400" b="0" i="0" dirty="0" smtClean="0">
                <a:solidFill>
                  <a:srgbClr val="444444"/>
                </a:solidFill>
                <a:effectLst/>
                <a:latin typeface="Arial" panose="020B0604020202020204" pitchFamily="34" charset="0"/>
              </a:rPr>
              <a:t> is defined as a phenomenon in which waves either bend behind a barrier or the wavefront is broken up into many small sources.</a:t>
            </a:r>
            <a:endParaRPr lang="en-AU" sz="2400" b="0" i="0" dirty="0">
              <a:solidFill>
                <a:srgbClr val="444444"/>
              </a:solidFill>
              <a:effectLst/>
              <a:latin typeface="Arial" panose="020B0604020202020204" pitchFamily="34" charset="0"/>
            </a:endParaRPr>
          </a:p>
        </p:txBody>
      </p:sp>
      <p:pic>
        <p:nvPicPr>
          <p:cNvPr id="3" name="1516306479.1659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4078287" y="2847974"/>
            <a:ext cx="3895725" cy="3895725"/>
          </a:xfrm>
          <a:prstGeom prst="rect">
            <a:avLst/>
          </a:prstGeom>
        </p:spPr>
      </p:pic>
    </p:spTree>
    <p:extLst>
      <p:ext uri="{BB962C8B-B14F-4D97-AF65-F5344CB8AC3E}">
        <p14:creationId xmlns:p14="http://schemas.microsoft.com/office/powerpoint/2010/main" val="1607318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3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gfKdVFfM28"/>
          <p:cNvPicPr>
            <a:picLocks noRot="1" noChangeAspect="1"/>
          </p:cNvPicPr>
          <p:nvPr>
            <a:videoFile r:link="rId1"/>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1227385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4500" y="734536"/>
            <a:ext cx="11341100" cy="1200329"/>
          </a:xfrm>
          <a:prstGeom prst="rect">
            <a:avLst/>
          </a:prstGeom>
        </p:spPr>
        <p:txBody>
          <a:bodyPr wrap="square">
            <a:spAutoFit/>
          </a:bodyPr>
          <a:lstStyle/>
          <a:p>
            <a:pPr algn="ctr"/>
            <a:r>
              <a:rPr lang="en-AU" sz="2400" b="1" i="0" dirty="0" smtClean="0">
                <a:solidFill>
                  <a:srgbClr val="444444"/>
                </a:solidFill>
                <a:effectLst/>
                <a:latin typeface="Arial" panose="020B0604020202020204" pitchFamily="34" charset="0"/>
              </a:rPr>
              <a:t>As the gap size is decreased, the </a:t>
            </a:r>
            <a:r>
              <a:rPr lang="en-AU" sz="2400" b="1" i="0" dirty="0" smtClean="0">
                <a:solidFill>
                  <a:srgbClr val="571A98"/>
                </a:solidFill>
                <a:effectLst/>
                <a:latin typeface="Arial" panose="020B0604020202020204" pitchFamily="34" charset="0"/>
              </a:rPr>
              <a:t>diffraction</a:t>
            </a:r>
            <a:r>
              <a:rPr lang="en-AU" sz="2400" b="1" i="0" dirty="0" smtClean="0">
                <a:solidFill>
                  <a:srgbClr val="444444"/>
                </a:solidFill>
                <a:effectLst/>
                <a:latin typeface="Arial" panose="020B0604020202020204" pitchFamily="34" charset="0"/>
              </a:rPr>
              <a:t> increases.</a:t>
            </a:r>
          </a:p>
          <a:p>
            <a:pPr algn="ctr"/>
            <a:r>
              <a:rPr lang="en-AU" sz="2400" b="0" i="0" dirty="0" smtClean="0">
                <a:solidFill>
                  <a:srgbClr val="444444"/>
                </a:solidFill>
                <a:effectLst/>
                <a:latin typeface="Arial" panose="020B0604020202020204" pitchFamily="34" charset="0"/>
              </a:rPr>
              <a:t> </a:t>
            </a:r>
          </a:p>
          <a:p>
            <a:pPr algn="ctr"/>
            <a:r>
              <a:rPr lang="en-AU" sz="2400" b="1" i="0" dirty="0" smtClean="0">
                <a:solidFill>
                  <a:srgbClr val="571A98"/>
                </a:solidFill>
                <a:effectLst/>
                <a:latin typeface="Arial" panose="020B0604020202020204" pitchFamily="34" charset="0"/>
              </a:rPr>
              <a:t>Maximum diffraction</a:t>
            </a:r>
            <a:r>
              <a:rPr lang="en-AU" sz="2400" b="0" i="0" dirty="0" smtClean="0">
                <a:solidFill>
                  <a:srgbClr val="444444"/>
                </a:solidFill>
                <a:effectLst/>
                <a:latin typeface="Arial" panose="020B0604020202020204" pitchFamily="34" charset="0"/>
              </a:rPr>
              <a:t> occurs when the </a:t>
            </a:r>
            <a:r>
              <a:rPr lang="en-AU" sz="2400" b="1" i="0" dirty="0" smtClean="0">
                <a:solidFill>
                  <a:srgbClr val="444444"/>
                </a:solidFill>
                <a:effectLst/>
                <a:latin typeface="Arial" panose="020B0604020202020204" pitchFamily="34" charset="0"/>
              </a:rPr>
              <a:t>gap size</a:t>
            </a:r>
            <a:r>
              <a:rPr lang="en-AU" sz="2400" b="0" i="0" dirty="0" smtClean="0">
                <a:solidFill>
                  <a:srgbClr val="444444"/>
                </a:solidFill>
                <a:effectLst/>
                <a:latin typeface="Arial" panose="020B0604020202020204" pitchFamily="34" charset="0"/>
              </a:rPr>
              <a:t> equals the </a:t>
            </a:r>
            <a:r>
              <a:rPr lang="en-AU" sz="2400" b="1" i="0" dirty="0" smtClean="0">
                <a:solidFill>
                  <a:srgbClr val="64B131"/>
                </a:solidFill>
                <a:effectLst/>
                <a:latin typeface="Arial" panose="020B0604020202020204" pitchFamily="34" charset="0"/>
              </a:rPr>
              <a:t>wavelength.</a:t>
            </a:r>
            <a:endParaRPr lang="en-AU" sz="2400" b="0" i="0" dirty="0">
              <a:solidFill>
                <a:srgbClr val="444444"/>
              </a:solidFill>
              <a:effectLst/>
              <a:latin typeface="Arial" panose="020B0604020202020204" pitchFamily="34" charset="0"/>
            </a:endParaRPr>
          </a:p>
        </p:txBody>
      </p:sp>
      <p:pic>
        <p:nvPicPr>
          <p:cNvPr id="10242" name="Picture 2" descr="https://www.educationperfect.com/media/content/Science/1516330012.808511g/1516330013374-949056940180552-optimis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2375" y="2746375"/>
            <a:ext cx="3844925" cy="3326508"/>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descr="https://www.educationperfect.com/media/content/Science/1516330022.389721g/1516330022844-949056940180552-optimise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0074" y="2746375"/>
            <a:ext cx="3806825" cy="3323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4904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TotalTime>
  <Words>119</Words>
  <Application>Microsoft Office PowerPoint</Application>
  <PresentationFormat>Widescreen</PresentationFormat>
  <Paragraphs>60</Paragraphs>
  <Slides>20</Slides>
  <Notes>0</Notes>
  <HiddenSlides>0</HiddenSlides>
  <MMClips>7</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Calibri Light</vt:lpstr>
      <vt:lpstr>KaTeX_Main</vt:lpstr>
      <vt:lpstr>Office Theme</vt:lpstr>
      <vt:lpstr>Superposition, Diffraction and Interference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Superposition, Diffraction and Interference</dc:title>
  <dc:creator>Joseph D'cruz</dc:creator>
  <cp:lastModifiedBy>Joseph D'cruz</cp:lastModifiedBy>
  <cp:revision>2</cp:revision>
  <dcterms:created xsi:type="dcterms:W3CDTF">2020-08-08T11:31:24Z</dcterms:created>
  <dcterms:modified xsi:type="dcterms:W3CDTF">2020-08-08T11:40:19Z</dcterms:modified>
</cp:coreProperties>
</file>
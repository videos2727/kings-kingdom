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p:cViewPr varScale="1">
        <p:scale>
          <a:sx n="76" d="100"/>
          <a:sy n="76" d="100"/>
        </p:scale>
        <p:origin x="126" y="7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0B10837E-AF2C-4110-AE8B-4E7AB5817E97}" type="datetimeFigureOut">
              <a:rPr lang="en-AU" smtClean="0"/>
              <a:t>4/09/2020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8D88C3B-F846-4EC0-9266-0F71AB92DCA2}" type="slidenum">
              <a:rPr lang="en-AU" smtClean="0"/>
              <a:t>‹#›</a:t>
            </a:fld>
            <a:endParaRPr lang="en-AU"/>
          </a:p>
        </p:txBody>
      </p:sp>
    </p:spTree>
    <p:extLst>
      <p:ext uri="{BB962C8B-B14F-4D97-AF65-F5344CB8AC3E}">
        <p14:creationId xmlns:p14="http://schemas.microsoft.com/office/powerpoint/2010/main" val="18339991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B10837E-AF2C-4110-AE8B-4E7AB5817E97}" type="datetimeFigureOut">
              <a:rPr lang="en-AU" smtClean="0"/>
              <a:t>4/09/2020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8D88C3B-F846-4EC0-9266-0F71AB92DCA2}" type="slidenum">
              <a:rPr lang="en-AU" smtClean="0"/>
              <a:t>‹#›</a:t>
            </a:fld>
            <a:endParaRPr lang="en-AU"/>
          </a:p>
        </p:txBody>
      </p:sp>
    </p:spTree>
    <p:extLst>
      <p:ext uri="{BB962C8B-B14F-4D97-AF65-F5344CB8AC3E}">
        <p14:creationId xmlns:p14="http://schemas.microsoft.com/office/powerpoint/2010/main" val="2017097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B10837E-AF2C-4110-AE8B-4E7AB5817E97}" type="datetimeFigureOut">
              <a:rPr lang="en-AU" smtClean="0"/>
              <a:t>4/09/2020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8D88C3B-F846-4EC0-9266-0F71AB92DCA2}" type="slidenum">
              <a:rPr lang="en-AU" smtClean="0"/>
              <a:t>‹#›</a:t>
            </a:fld>
            <a:endParaRPr lang="en-AU"/>
          </a:p>
        </p:txBody>
      </p:sp>
    </p:spTree>
    <p:extLst>
      <p:ext uri="{BB962C8B-B14F-4D97-AF65-F5344CB8AC3E}">
        <p14:creationId xmlns:p14="http://schemas.microsoft.com/office/powerpoint/2010/main" val="3440298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0B10837E-AF2C-4110-AE8B-4E7AB5817E97}" type="datetimeFigureOut">
              <a:rPr lang="en-AU" smtClean="0"/>
              <a:t>4/09/2020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8D88C3B-F846-4EC0-9266-0F71AB92DCA2}" type="slidenum">
              <a:rPr lang="en-AU" smtClean="0"/>
              <a:t>‹#›</a:t>
            </a:fld>
            <a:endParaRPr lang="en-AU"/>
          </a:p>
        </p:txBody>
      </p:sp>
    </p:spTree>
    <p:extLst>
      <p:ext uri="{BB962C8B-B14F-4D97-AF65-F5344CB8AC3E}">
        <p14:creationId xmlns:p14="http://schemas.microsoft.com/office/powerpoint/2010/main" val="35913706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0B10837E-AF2C-4110-AE8B-4E7AB5817E97}" type="datetimeFigureOut">
              <a:rPr lang="en-AU" smtClean="0"/>
              <a:t>4/09/2020</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88D88C3B-F846-4EC0-9266-0F71AB92DCA2}" type="slidenum">
              <a:rPr lang="en-AU" smtClean="0"/>
              <a:t>‹#›</a:t>
            </a:fld>
            <a:endParaRPr lang="en-AU"/>
          </a:p>
        </p:txBody>
      </p:sp>
    </p:spTree>
    <p:extLst>
      <p:ext uri="{BB962C8B-B14F-4D97-AF65-F5344CB8AC3E}">
        <p14:creationId xmlns:p14="http://schemas.microsoft.com/office/powerpoint/2010/main" val="38874529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0B10837E-AF2C-4110-AE8B-4E7AB5817E97}" type="datetimeFigureOut">
              <a:rPr lang="en-AU" smtClean="0"/>
              <a:t>4/09/2020</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88D88C3B-F846-4EC0-9266-0F71AB92DCA2}" type="slidenum">
              <a:rPr lang="en-AU" smtClean="0"/>
              <a:t>‹#›</a:t>
            </a:fld>
            <a:endParaRPr lang="en-AU"/>
          </a:p>
        </p:txBody>
      </p:sp>
    </p:spTree>
    <p:extLst>
      <p:ext uri="{BB962C8B-B14F-4D97-AF65-F5344CB8AC3E}">
        <p14:creationId xmlns:p14="http://schemas.microsoft.com/office/powerpoint/2010/main" val="29929556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10837E-AF2C-4110-AE8B-4E7AB5817E97}" type="datetimeFigureOut">
              <a:rPr lang="en-AU" smtClean="0"/>
              <a:t>4/09/2020</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88D88C3B-F846-4EC0-9266-0F71AB92DCA2}" type="slidenum">
              <a:rPr lang="en-AU" smtClean="0"/>
              <a:t>‹#›</a:t>
            </a:fld>
            <a:endParaRPr lang="en-AU"/>
          </a:p>
        </p:txBody>
      </p:sp>
    </p:spTree>
    <p:extLst>
      <p:ext uri="{BB962C8B-B14F-4D97-AF65-F5344CB8AC3E}">
        <p14:creationId xmlns:p14="http://schemas.microsoft.com/office/powerpoint/2010/main" val="22100444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B10837E-AF2C-4110-AE8B-4E7AB5817E97}" type="datetimeFigureOut">
              <a:rPr lang="en-AU" smtClean="0"/>
              <a:t>4/09/2020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8D88C3B-F846-4EC0-9266-0F71AB92DCA2}" type="slidenum">
              <a:rPr lang="en-AU" smtClean="0"/>
              <a:t>‹#›</a:t>
            </a:fld>
            <a:endParaRPr lang="en-AU"/>
          </a:p>
        </p:txBody>
      </p:sp>
    </p:spTree>
    <p:extLst>
      <p:ext uri="{BB962C8B-B14F-4D97-AF65-F5344CB8AC3E}">
        <p14:creationId xmlns:p14="http://schemas.microsoft.com/office/powerpoint/2010/main" val="3672014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B10837E-AF2C-4110-AE8B-4E7AB5817E97}" type="datetimeFigureOut">
              <a:rPr lang="en-AU" smtClean="0"/>
              <a:t>4/09/2020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8D88C3B-F846-4EC0-9266-0F71AB92DCA2}" type="slidenum">
              <a:rPr lang="en-AU" smtClean="0"/>
              <a:t>‹#›</a:t>
            </a:fld>
            <a:endParaRPr lang="en-AU"/>
          </a:p>
        </p:txBody>
      </p:sp>
    </p:spTree>
    <p:extLst>
      <p:ext uri="{BB962C8B-B14F-4D97-AF65-F5344CB8AC3E}">
        <p14:creationId xmlns:p14="http://schemas.microsoft.com/office/powerpoint/2010/main" val="25970165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B10837E-AF2C-4110-AE8B-4E7AB5817E97}" type="datetimeFigureOut">
              <a:rPr lang="en-AU" smtClean="0"/>
              <a:t>4/09/2020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8D88C3B-F846-4EC0-9266-0F71AB92DCA2}" type="slidenum">
              <a:rPr lang="en-AU" smtClean="0"/>
              <a:t>‹#›</a:t>
            </a:fld>
            <a:endParaRPr lang="en-AU"/>
          </a:p>
        </p:txBody>
      </p:sp>
    </p:spTree>
    <p:extLst>
      <p:ext uri="{BB962C8B-B14F-4D97-AF65-F5344CB8AC3E}">
        <p14:creationId xmlns:p14="http://schemas.microsoft.com/office/powerpoint/2010/main" val="1147948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B10837E-AF2C-4110-AE8B-4E7AB5817E97}" type="datetimeFigureOut">
              <a:rPr lang="en-AU" smtClean="0"/>
              <a:t>4/09/2020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8D88C3B-F846-4EC0-9266-0F71AB92DCA2}" type="slidenum">
              <a:rPr lang="en-AU" smtClean="0"/>
              <a:t>‹#›</a:t>
            </a:fld>
            <a:endParaRPr lang="en-AU"/>
          </a:p>
        </p:txBody>
      </p:sp>
    </p:spTree>
    <p:extLst>
      <p:ext uri="{BB962C8B-B14F-4D97-AF65-F5344CB8AC3E}">
        <p14:creationId xmlns:p14="http://schemas.microsoft.com/office/powerpoint/2010/main" val="15843954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10837E-AF2C-4110-AE8B-4E7AB5817E97}" type="datetimeFigureOut">
              <a:rPr lang="en-AU" smtClean="0"/>
              <a:t>4/09/2020</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D88C3B-F846-4EC0-9266-0F71AB92DCA2}" type="slidenum">
              <a:rPr lang="en-AU" smtClean="0"/>
              <a:t>‹#›</a:t>
            </a:fld>
            <a:endParaRPr lang="en-AU"/>
          </a:p>
        </p:txBody>
      </p:sp>
    </p:spTree>
    <p:extLst>
      <p:ext uri="{BB962C8B-B14F-4D97-AF65-F5344CB8AC3E}">
        <p14:creationId xmlns:p14="http://schemas.microsoft.com/office/powerpoint/2010/main" val="178640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Diffraction Around a Barrier</a:t>
            </a:r>
            <a:endParaRPr lang="en-AU" dirty="0"/>
          </a:p>
        </p:txBody>
      </p:sp>
      <p:sp>
        <p:nvSpPr>
          <p:cNvPr id="3" name="Subtitle 2"/>
          <p:cNvSpPr>
            <a:spLocks noGrp="1"/>
          </p:cNvSpPr>
          <p:nvPr>
            <p:ph type="subTitle" idx="1"/>
          </p:nvPr>
        </p:nvSpPr>
        <p:spPr/>
        <p:txBody>
          <a:bodyPr/>
          <a:lstStyle/>
          <a:p>
            <a:endParaRPr lang="en-AU"/>
          </a:p>
        </p:txBody>
      </p:sp>
    </p:spTree>
    <p:extLst>
      <p:ext uri="{BB962C8B-B14F-4D97-AF65-F5344CB8AC3E}">
        <p14:creationId xmlns:p14="http://schemas.microsoft.com/office/powerpoint/2010/main" val="138024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84200" y="657136"/>
            <a:ext cx="10071100" cy="923330"/>
          </a:xfrm>
          <a:prstGeom prst="rect">
            <a:avLst/>
          </a:prstGeom>
        </p:spPr>
        <p:txBody>
          <a:bodyPr wrap="square">
            <a:spAutoFit/>
          </a:bodyPr>
          <a:lstStyle/>
          <a:p>
            <a:r>
              <a:rPr lang="en-AU" b="0" i="0" dirty="0" smtClean="0">
                <a:solidFill>
                  <a:srgbClr val="444444"/>
                </a:solidFill>
                <a:effectLst/>
                <a:latin typeface="Arial" panose="020B0604020202020204" pitchFamily="34" charset="0"/>
              </a:rPr>
              <a:t>By the end of this lesson, you should be able to:</a:t>
            </a:r>
          </a:p>
          <a:p>
            <a:pPr>
              <a:buFont typeface="Arial" panose="020B0604020202020204" pitchFamily="34" charset="0"/>
              <a:buChar char="•"/>
            </a:pPr>
            <a:r>
              <a:rPr lang="en-AU" b="1" i="0" dirty="0" smtClean="0">
                <a:solidFill>
                  <a:srgbClr val="48927C"/>
                </a:solidFill>
                <a:effectLst/>
                <a:latin typeface="Arial" panose="020B0604020202020204" pitchFamily="34" charset="0"/>
              </a:rPr>
              <a:t>Define</a:t>
            </a:r>
            <a:r>
              <a:rPr lang="en-AU" b="0" i="0" dirty="0" smtClean="0">
                <a:solidFill>
                  <a:srgbClr val="444444"/>
                </a:solidFill>
                <a:effectLst/>
                <a:latin typeface="Arial" panose="020B0604020202020204" pitchFamily="34" charset="0"/>
              </a:rPr>
              <a:t> the term diffraction.</a:t>
            </a:r>
          </a:p>
          <a:p>
            <a:pPr>
              <a:buFont typeface="Arial" panose="020B0604020202020204" pitchFamily="34" charset="0"/>
              <a:buChar char="•"/>
            </a:pPr>
            <a:r>
              <a:rPr lang="en-AU" b="1" i="0" dirty="0" smtClean="0">
                <a:solidFill>
                  <a:srgbClr val="48927C"/>
                </a:solidFill>
                <a:effectLst/>
                <a:latin typeface="Arial" panose="020B0604020202020204" pitchFamily="34" charset="0"/>
              </a:rPr>
              <a:t>Explain</a:t>
            </a:r>
            <a:r>
              <a:rPr lang="en-AU" b="0" i="0" dirty="0" smtClean="0">
                <a:solidFill>
                  <a:srgbClr val="444444"/>
                </a:solidFill>
                <a:effectLst/>
                <a:latin typeface="Arial" panose="020B0604020202020204" pitchFamily="34" charset="0"/>
              </a:rPr>
              <a:t> the relationship between </a:t>
            </a:r>
            <a:r>
              <a:rPr lang="en-AU" b="1" i="0" dirty="0" smtClean="0">
                <a:solidFill>
                  <a:srgbClr val="067DB1"/>
                </a:solidFill>
                <a:effectLst/>
                <a:latin typeface="Arial" panose="020B0604020202020204" pitchFamily="34" charset="0"/>
              </a:rPr>
              <a:t>diffraction and wavelength.</a:t>
            </a:r>
            <a:endParaRPr lang="en-AU" b="0" i="0" dirty="0">
              <a:solidFill>
                <a:srgbClr val="444444"/>
              </a:solidFill>
              <a:effectLst/>
              <a:latin typeface="Arial" panose="020B0604020202020204" pitchFamily="34" charset="0"/>
            </a:endParaRPr>
          </a:p>
        </p:txBody>
      </p:sp>
      <p:pic>
        <p:nvPicPr>
          <p:cNvPr id="1026" name="Picture 2" descr="https://www.educationperfect.com/media/content/Science/1576112183.880731f/1576112184483-2489356150063044.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857375" y="1831975"/>
            <a:ext cx="8572500" cy="4819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56981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6100" y="505242"/>
            <a:ext cx="11214100" cy="2585323"/>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What is diffraction?</a:t>
            </a:r>
          </a:p>
          <a:p>
            <a:pPr algn="ctr"/>
            <a:r>
              <a:rPr lang="en-AU" b="0" i="0" dirty="0" smtClean="0">
                <a:solidFill>
                  <a:srgbClr val="444444"/>
                </a:solidFill>
                <a:effectLst/>
                <a:latin typeface="Arial" panose="020B0604020202020204" pitchFamily="34" charset="0"/>
              </a:rPr>
              <a:t> </a:t>
            </a:r>
          </a:p>
          <a:p>
            <a:r>
              <a:rPr lang="en-AU" b="1" i="0" dirty="0" smtClean="0">
                <a:solidFill>
                  <a:srgbClr val="FF7F50"/>
                </a:solidFill>
                <a:effectLst/>
                <a:latin typeface="Arial" panose="020B0604020202020204" pitchFamily="34" charset="0"/>
              </a:rPr>
              <a:t>Imagine you are standing</a:t>
            </a:r>
            <a:r>
              <a:rPr lang="en-AU" b="0" i="0" dirty="0" smtClean="0">
                <a:solidFill>
                  <a:srgbClr val="444444"/>
                </a:solidFill>
                <a:effectLst/>
                <a:latin typeface="Arial" panose="020B0604020202020204" pitchFamily="34" charset="0"/>
              </a:rPr>
              <a:t> at the bottom of a hill. You </a:t>
            </a:r>
            <a:r>
              <a:rPr lang="en-AU" b="1" i="0" dirty="0" smtClean="0">
                <a:solidFill>
                  <a:srgbClr val="067DB1"/>
                </a:solidFill>
                <a:effectLst/>
                <a:latin typeface="Arial" panose="020B0604020202020204" pitchFamily="34" charset="0"/>
              </a:rPr>
              <a:t>hear the motor</a:t>
            </a:r>
            <a:r>
              <a:rPr lang="en-AU" b="0" i="0" dirty="0" smtClean="0">
                <a:solidFill>
                  <a:srgbClr val="444444"/>
                </a:solidFill>
                <a:effectLst/>
                <a:latin typeface="Arial" panose="020B0604020202020204" pitchFamily="34" charset="0"/>
              </a:rPr>
              <a:t> of a car approaching on the </a:t>
            </a:r>
            <a:r>
              <a:rPr lang="en-AU" b="1" i="0" dirty="0" smtClean="0">
                <a:solidFill>
                  <a:srgbClr val="8C4AB2"/>
                </a:solidFill>
                <a:effectLst/>
                <a:latin typeface="Arial" panose="020B0604020202020204" pitchFamily="34" charset="0"/>
              </a:rPr>
              <a:t>other side of the hill.</a:t>
            </a:r>
            <a:r>
              <a:rPr lang="en-AU" b="0" i="0" dirty="0" smtClean="0">
                <a:solidFill>
                  <a:srgbClr val="444444"/>
                </a:solidFill>
                <a:effectLst/>
                <a:latin typeface="Arial" panose="020B0604020202020204" pitchFamily="34" charset="0"/>
              </a:rPr>
              <a:t> You are hearing sound from the far side of the hill, which means, somehow the sound waves are making their way to your ears. The sound can’t travel through the hill, so </a:t>
            </a:r>
            <a:r>
              <a:rPr lang="en-AU" b="1" i="0" dirty="0" smtClean="0">
                <a:solidFill>
                  <a:srgbClr val="067DB1"/>
                </a:solidFill>
                <a:effectLst/>
                <a:latin typeface="Arial" panose="020B0604020202020204" pitchFamily="34" charset="0"/>
              </a:rPr>
              <a:t>what is happening?</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In fact, the sound waves are </a:t>
            </a:r>
            <a:r>
              <a:rPr lang="en-AU" b="1" i="0" dirty="0" smtClean="0">
                <a:solidFill>
                  <a:srgbClr val="FF7F50"/>
                </a:solidFill>
                <a:effectLst/>
                <a:latin typeface="Arial" panose="020B0604020202020204" pitchFamily="34" charset="0"/>
              </a:rPr>
              <a:t>bending around the hill!</a:t>
            </a:r>
            <a:r>
              <a:rPr lang="en-AU" b="0" i="0" dirty="0" smtClean="0">
                <a:solidFill>
                  <a:srgbClr val="444444"/>
                </a:solidFill>
                <a:effectLst/>
                <a:latin typeface="Arial" panose="020B0604020202020204" pitchFamily="34" charset="0"/>
              </a:rPr>
              <a:t> This is due to </a:t>
            </a:r>
            <a:r>
              <a:rPr lang="en-AU" b="1" i="0" dirty="0" smtClean="0">
                <a:solidFill>
                  <a:srgbClr val="8C4AB2"/>
                </a:solidFill>
                <a:effectLst/>
                <a:latin typeface="Arial" panose="020B0604020202020204" pitchFamily="34" charset="0"/>
              </a:rPr>
              <a:t>diffraction,</a:t>
            </a:r>
            <a:r>
              <a:rPr lang="en-AU" b="0" i="0" dirty="0" smtClean="0">
                <a:solidFill>
                  <a:srgbClr val="444444"/>
                </a:solidFill>
                <a:effectLst/>
                <a:latin typeface="Arial" panose="020B0604020202020204" pitchFamily="34" charset="0"/>
              </a:rPr>
              <a:t> which refers to the ability of </a:t>
            </a:r>
            <a:r>
              <a:rPr lang="en-AU" b="1" i="0" dirty="0" smtClean="0">
                <a:solidFill>
                  <a:srgbClr val="067DB1"/>
                </a:solidFill>
                <a:effectLst/>
                <a:latin typeface="Arial" panose="020B0604020202020204" pitchFamily="34" charset="0"/>
              </a:rPr>
              <a:t>waves to bend around a barrier.</a:t>
            </a:r>
            <a:r>
              <a:rPr lang="en-AU" b="0" i="0" dirty="0" smtClean="0">
                <a:solidFill>
                  <a:srgbClr val="444444"/>
                </a:solidFill>
                <a:effectLst/>
                <a:latin typeface="Arial" panose="020B0604020202020204" pitchFamily="34" charset="0"/>
              </a:rPr>
              <a:t> We observe this in day to day life with sound, but </a:t>
            </a:r>
            <a:r>
              <a:rPr lang="en-AU" b="1" i="0" dirty="0" smtClean="0">
                <a:solidFill>
                  <a:srgbClr val="8C4AB2"/>
                </a:solidFill>
                <a:effectLst/>
                <a:latin typeface="Arial" panose="020B0604020202020204" pitchFamily="34" charset="0"/>
              </a:rPr>
              <a:t>all waves—</a:t>
            </a:r>
            <a:r>
              <a:rPr lang="en-AU" b="0" i="0" dirty="0" smtClean="0">
                <a:solidFill>
                  <a:srgbClr val="444444"/>
                </a:solidFill>
                <a:effectLst/>
                <a:latin typeface="Arial" panose="020B0604020202020204" pitchFamily="34" charset="0"/>
              </a:rPr>
              <a:t>including water waves, seismic waves, and even light waves—will </a:t>
            </a:r>
            <a:r>
              <a:rPr lang="en-AU" b="1" i="0" dirty="0" smtClean="0">
                <a:solidFill>
                  <a:srgbClr val="FF7F50"/>
                </a:solidFill>
                <a:effectLst/>
                <a:latin typeface="Arial" panose="020B0604020202020204" pitchFamily="34" charset="0"/>
              </a:rPr>
              <a:t>undergo diffraction.</a:t>
            </a:r>
            <a:r>
              <a:rPr lang="en-AU" b="0" i="0" dirty="0" smtClean="0">
                <a:solidFill>
                  <a:srgbClr val="444444"/>
                </a:solidFill>
                <a:effectLst/>
                <a:latin typeface="Arial" panose="020B0604020202020204" pitchFamily="34" charset="0"/>
              </a:rPr>
              <a:t> </a:t>
            </a:r>
            <a:endParaRPr lang="en-AU" b="0" i="0" dirty="0">
              <a:solidFill>
                <a:srgbClr val="444444"/>
              </a:solidFill>
              <a:effectLst/>
              <a:latin typeface="Arial" panose="020B0604020202020204" pitchFamily="34" charset="0"/>
            </a:endParaRPr>
          </a:p>
        </p:txBody>
      </p:sp>
      <p:pic>
        <p:nvPicPr>
          <p:cNvPr id="2050" name="Picture 2" descr="https://www.educationperfect.com/media/content/Science/1591833431.623231g/1591833430821-180880327585085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7300" y="3401738"/>
            <a:ext cx="5378450" cy="33292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8331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00100" y="662444"/>
            <a:ext cx="6096000" cy="5355312"/>
          </a:xfrm>
          <a:prstGeom prst="rect">
            <a:avLst/>
          </a:prstGeom>
        </p:spPr>
        <p:txBody>
          <a:bodyPr>
            <a:spAutoFit/>
          </a:bodyPr>
          <a:lstStyle/>
          <a:p>
            <a:pPr algn="ctr"/>
            <a:r>
              <a:rPr lang="en-AU" b="1" i="0" dirty="0" smtClean="0">
                <a:solidFill>
                  <a:srgbClr val="444444"/>
                </a:solidFill>
                <a:effectLst/>
                <a:latin typeface="Arial" panose="020B0604020202020204" pitchFamily="34" charset="0"/>
              </a:rPr>
              <a:t>We call the ability of waves to bend around barriers </a:t>
            </a:r>
            <a:r>
              <a:rPr lang="en-AU" b="1" i="0" dirty="0" smtClean="0">
                <a:solidFill>
                  <a:srgbClr val="FF7F50"/>
                </a:solidFill>
                <a:effectLst/>
                <a:latin typeface="Arial" panose="020B0604020202020204" pitchFamily="34" charset="0"/>
              </a:rPr>
              <a:t>diffraction.</a:t>
            </a:r>
            <a:endParaRPr lang="en-AU" b="1"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We represent a travelling wave by </a:t>
            </a:r>
            <a:r>
              <a:rPr lang="en-AU" b="1" i="0" dirty="0" smtClean="0">
                <a:solidFill>
                  <a:srgbClr val="067DB1"/>
                </a:solidFill>
                <a:effectLst/>
                <a:latin typeface="Arial" panose="020B0604020202020204" pitchFamily="34" charset="0"/>
              </a:rPr>
              <a:t>drawing wavefronts.</a:t>
            </a:r>
            <a:r>
              <a:rPr lang="en-AU" b="0" i="0" dirty="0" smtClean="0">
                <a:solidFill>
                  <a:srgbClr val="444444"/>
                </a:solidFill>
                <a:effectLst/>
                <a:latin typeface="Arial" panose="020B0604020202020204" pitchFamily="34" charset="0"/>
              </a:rPr>
              <a:t> Wavefronts are </a:t>
            </a:r>
            <a:r>
              <a:rPr lang="en-AU" b="1" i="0" dirty="0" smtClean="0">
                <a:solidFill>
                  <a:srgbClr val="8C4AB2"/>
                </a:solidFill>
                <a:effectLst/>
                <a:latin typeface="Arial" panose="020B0604020202020204" pitchFamily="34" charset="0"/>
              </a:rPr>
              <a:t>imaginary lines</a:t>
            </a:r>
            <a:r>
              <a:rPr lang="en-AU" b="0" i="0" dirty="0" smtClean="0">
                <a:solidFill>
                  <a:srgbClr val="444444"/>
                </a:solidFill>
                <a:effectLst/>
                <a:latin typeface="Arial" panose="020B0604020202020204" pitchFamily="34" charset="0"/>
              </a:rPr>
              <a:t> that connect all points reached by a wave at </a:t>
            </a:r>
            <a:r>
              <a:rPr lang="en-AU" b="1" i="0" dirty="0" smtClean="0">
                <a:solidFill>
                  <a:srgbClr val="FF7F50"/>
                </a:solidFill>
                <a:effectLst/>
                <a:latin typeface="Arial" panose="020B0604020202020204" pitchFamily="34" charset="0"/>
              </a:rPr>
              <a:t>the same time.</a:t>
            </a:r>
            <a:r>
              <a:rPr lang="en-AU" b="0" i="0" dirty="0" smtClean="0">
                <a:solidFill>
                  <a:srgbClr val="444444"/>
                </a:solidFill>
                <a:effectLst/>
                <a:latin typeface="Arial" panose="020B0604020202020204" pitchFamily="34" charset="0"/>
              </a:rPr>
              <a:t> The direction of wave propagation is at </a:t>
            </a:r>
            <a:r>
              <a:rPr lang="en-AU" b="1" i="0" dirty="0" smtClean="0">
                <a:solidFill>
                  <a:srgbClr val="067DB1"/>
                </a:solidFill>
                <a:effectLst/>
                <a:latin typeface="Arial" panose="020B0604020202020204" pitchFamily="34" charset="0"/>
              </a:rPr>
              <a:t>right angles</a:t>
            </a:r>
            <a:r>
              <a:rPr lang="en-AU" b="0" i="0" dirty="0" smtClean="0">
                <a:solidFill>
                  <a:srgbClr val="444444"/>
                </a:solidFill>
                <a:effectLst/>
                <a:latin typeface="Arial" panose="020B0604020202020204" pitchFamily="34" charset="0"/>
              </a:rPr>
              <a:t> to the wavefronts.</a:t>
            </a: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When these waves encounter a barrier, they </a:t>
            </a:r>
            <a:r>
              <a:rPr lang="en-AU" b="1" i="0" dirty="0" smtClean="0">
                <a:solidFill>
                  <a:srgbClr val="FF7F50"/>
                </a:solidFill>
                <a:effectLst/>
                <a:latin typeface="Arial" panose="020B0604020202020204" pitchFamily="34" charset="0"/>
              </a:rPr>
              <a:t>undergo diffraction.</a:t>
            </a:r>
            <a:r>
              <a:rPr lang="en-AU" b="0" i="0" dirty="0" smtClean="0">
                <a:solidFill>
                  <a:srgbClr val="444444"/>
                </a:solidFill>
                <a:effectLst/>
                <a:latin typeface="Arial" panose="020B0604020202020204" pitchFamily="34" charset="0"/>
              </a:rPr>
              <a:t> We represent this by drawing </a:t>
            </a:r>
            <a:r>
              <a:rPr lang="en-AU" b="1" i="0" dirty="0" smtClean="0">
                <a:solidFill>
                  <a:srgbClr val="067DB1"/>
                </a:solidFill>
                <a:effectLst/>
                <a:latin typeface="Arial" panose="020B0604020202020204" pitchFamily="34" charset="0"/>
              </a:rPr>
              <a:t>new, curved wavefronts</a:t>
            </a:r>
            <a:r>
              <a:rPr lang="en-AU" b="0" i="0" dirty="0" smtClean="0">
                <a:solidFill>
                  <a:srgbClr val="444444"/>
                </a:solidFill>
                <a:effectLst/>
                <a:latin typeface="Arial" panose="020B0604020202020204" pitchFamily="34" charset="0"/>
              </a:rPr>
              <a:t> past the barrier, in the direction of the </a:t>
            </a:r>
            <a:r>
              <a:rPr lang="en-AU" b="1" i="0" dirty="0" smtClean="0">
                <a:solidFill>
                  <a:srgbClr val="8C4AB2"/>
                </a:solidFill>
                <a:effectLst/>
                <a:latin typeface="Arial" panose="020B0604020202020204" pitchFamily="34" charset="0"/>
              </a:rPr>
              <a:t>wave propagation.</a:t>
            </a:r>
            <a:r>
              <a:rPr lang="en-AU" b="0" i="0" dirty="0" smtClean="0">
                <a:solidFill>
                  <a:srgbClr val="444444"/>
                </a:solidFill>
                <a:effectLst/>
                <a:latin typeface="Arial" panose="020B0604020202020204" pitchFamily="34" charset="0"/>
              </a:rPr>
              <a:t> It is important to note that the </a:t>
            </a:r>
            <a:r>
              <a:rPr lang="en-AU" b="1" i="0" dirty="0" smtClean="0">
                <a:solidFill>
                  <a:srgbClr val="FF7F50"/>
                </a:solidFill>
                <a:effectLst/>
                <a:latin typeface="Arial" panose="020B0604020202020204" pitchFamily="34" charset="0"/>
              </a:rPr>
              <a:t>wavelength</a:t>
            </a:r>
            <a:r>
              <a:rPr lang="en-AU" b="0" i="0" dirty="0" smtClean="0">
                <a:solidFill>
                  <a:srgbClr val="444444"/>
                </a:solidFill>
                <a:effectLst/>
                <a:latin typeface="Arial" panose="020B0604020202020204" pitchFamily="34" charset="0"/>
              </a:rPr>
              <a:t> of the diffracted wave is </a:t>
            </a:r>
            <a:r>
              <a:rPr lang="en-AU" b="1" i="0" dirty="0" smtClean="0">
                <a:solidFill>
                  <a:srgbClr val="067DB1"/>
                </a:solidFill>
                <a:effectLst/>
                <a:latin typeface="Arial" panose="020B0604020202020204" pitchFamily="34" charset="0"/>
              </a:rPr>
              <a:t>the same</a:t>
            </a:r>
            <a:r>
              <a:rPr lang="en-AU" b="0" i="0" dirty="0" smtClean="0">
                <a:solidFill>
                  <a:srgbClr val="444444"/>
                </a:solidFill>
                <a:effectLst/>
                <a:latin typeface="Arial" panose="020B0604020202020204" pitchFamily="34" charset="0"/>
              </a:rPr>
              <a:t> </a:t>
            </a:r>
            <a:r>
              <a:rPr lang="en-AU" b="1" i="0" dirty="0" smtClean="0">
                <a:solidFill>
                  <a:srgbClr val="067DB1"/>
                </a:solidFill>
                <a:effectLst/>
                <a:latin typeface="Arial" panose="020B0604020202020204" pitchFamily="34" charset="0"/>
              </a:rPr>
              <a:t>as before</a:t>
            </a:r>
            <a:r>
              <a:rPr lang="en-AU" b="0" i="0" dirty="0" smtClean="0">
                <a:solidFill>
                  <a:srgbClr val="444444"/>
                </a:solidFill>
                <a:effectLst/>
                <a:latin typeface="Arial" panose="020B0604020202020204" pitchFamily="34" charset="0"/>
              </a:rPr>
              <a:t> it undergoes diffraction.</a:t>
            </a: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However, since the </a:t>
            </a:r>
            <a:r>
              <a:rPr lang="en-AU" b="1" i="0" dirty="0" smtClean="0">
                <a:solidFill>
                  <a:srgbClr val="8C4AB2"/>
                </a:solidFill>
                <a:effectLst/>
                <a:latin typeface="Arial" panose="020B0604020202020204" pitchFamily="34" charset="0"/>
              </a:rPr>
              <a:t>diffracted wave is bent,</a:t>
            </a:r>
            <a:r>
              <a:rPr lang="en-AU" b="0" i="0" dirty="0" smtClean="0">
                <a:solidFill>
                  <a:srgbClr val="444444"/>
                </a:solidFill>
                <a:effectLst/>
                <a:latin typeface="Arial" panose="020B0604020202020204" pitchFamily="34" charset="0"/>
              </a:rPr>
              <a:t> the wave does not solely propagate in the same </a:t>
            </a:r>
            <a:r>
              <a:rPr lang="en-AU" b="1" i="0" dirty="0" smtClean="0">
                <a:solidFill>
                  <a:srgbClr val="067DB1"/>
                </a:solidFill>
                <a:effectLst/>
                <a:latin typeface="Arial" panose="020B0604020202020204" pitchFamily="34" charset="0"/>
              </a:rPr>
              <a:t>direction as earlier!</a:t>
            </a:r>
            <a:r>
              <a:rPr lang="en-AU" b="0" i="0" dirty="0" smtClean="0">
                <a:solidFill>
                  <a:srgbClr val="444444"/>
                </a:solidFill>
                <a:effectLst/>
                <a:latin typeface="Arial" panose="020B0604020202020204" pitchFamily="34" charset="0"/>
              </a:rPr>
              <a:t> </a:t>
            </a:r>
            <a:endParaRPr lang="en-AU" b="0" i="0" dirty="0">
              <a:solidFill>
                <a:srgbClr val="444444"/>
              </a:solidFill>
              <a:effectLst/>
              <a:latin typeface="Arial" panose="020B0604020202020204" pitchFamily="34" charset="0"/>
            </a:endParaRPr>
          </a:p>
        </p:txBody>
      </p:sp>
      <p:pic>
        <p:nvPicPr>
          <p:cNvPr id="3074" name="Picture 2" descr="https://www.educationperfect.com/media/content/Science/1593985475.117971g/1593985474645-415068399430672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4511" y="2260600"/>
            <a:ext cx="5427489" cy="264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3170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3200" y="598438"/>
            <a:ext cx="11658600" cy="1477328"/>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The </a:t>
            </a:r>
            <a:r>
              <a:rPr lang="en-AU" b="1" i="0" dirty="0" smtClean="0">
                <a:solidFill>
                  <a:srgbClr val="8C4AB2"/>
                </a:solidFill>
                <a:effectLst/>
                <a:latin typeface="Arial" panose="020B0604020202020204" pitchFamily="34" charset="0"/>
              </a:rPr>
              <a:t>direction of wave propagation</a:t>
            </a:r>
            <a:r>
              <a:rPr lang="en-AU" b="1" i="0" dirty="0" smtClean="0">
                <a:solidFill>
                  <a:srgbClr val="444444"/>
                </a:solidFill>
                <a:effectLst/>
                <a:latin typeface="Arial" panose="020B0604020202020204" pitchFamily="34" charset="0"/>
              </a:rPr>
              <a:t> has changed </a:t>
            </a:r>
            <a:r>
              <a:rPr lang="en-AU" b="1" i="0" dirty="0" smtClean="0">
                <a:solidFill>
                  <a:srgbClr val="FF7F50"/>
                </a:solidFill>
                <a:effectLst/>
                <a:latin typeface="Arial" panose="020B0604020202020204" pitchFamily="34" charset="0"/>
              </a:rPr>
              <a:t>after diffraction.</a:t>
            </a:r>
            <a:endParaRPr lang="en-AU" b="1"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This explains why, in the example at the </a:t>
            </a:r>
            <a:r>
              <a:rPr lang="en-AU" b="1" i="0" dirty="0" smtClean="0">
                <a:solidFill>
                  <a:srgbClr val="067DB1"/>
                </a:solidFill>
                <a:effectLst/>
                <a:latin typeface="Arial" panose="020B0604020202020204" pitchFamily="34" charset="0"/>
              </a:rPr>
              <a:t>start of the lesson,</a:t>
            </a:r>
            <a:r>
              <a:rPr lang="en-AU" b="0" i="0" dirty="0" smtClean="0">
                <a:solidFill>
                  <a:srgbClr val="444444"/>
                </a:solidFill>
                <a:effectLst/>
                <a:latin typeface="Arial" panose="020B0604020202020204" pitchFamily="34" charset="0"/>
              </a:rPr>
              <a:t> we can </a:t>
            </a:r>
            <a:r>
              <a:rPr lang="en-AU" b="1" i="0" dirty="0" smtClean="0">
                <a:solidFill>
                  <a:srgbClr val="8C4AB2"/>
                </a:solidFill>
                <a:effectLst/>
                <a:latin typeface="Arial" panose="020B0604020202020204" pitchFamily="34" charset="0"/>
              </a:rPr>
              <a:t>hear the noise</a:t>
            </a:r>
            <a:r>
              <a:rPr lang="en-AU" b="0" i="0" dirty="0" smtClean="0">
                <a:solidFill>
                  <a:srgbClr val="444444"/>
                </a:solidFill>
                <a:effectLst/>
                <a:latin typeface="Arial" panose="020B0604020202020204" pitchFamily="34" charset="0"/>
              </a:rPr>
              <a:t> from the car engine. The </a:t>
            </a:r>
            <a:r>
              <a:rPr lang="en-AU" b="1" i="0" dirty="0" smtClean="0">
                <a:solidFill>
                  <a:srgbClr val="FF7F50"/>
                </a:solidFill>
                <a:effectLst/>
                <a:latin typeface="Arial" panose="020B0604020202020204" pitchFamily="34" charset="0"/>
              </a:rPr>
              <a:t>sound waves are diffracting</a:t>
            </a:r>
            <a:r>
              <a:rPr lang="en-AU" b="0" i="0" dirty="0" smtClean="0">
                <a:solidFill>
                  <a:srgbClr val="444444"/>
                </a:solidFill>
                <a:effectLst/>
                <a:latin typeface="Arial" panose="020B0604020202020204" pitchFamily="34" charset="0"/>
              </a:rPr>
              <a:t> around the barrier, and, because of their </a:t>
            </a:r>
            <a:r>
              <a:rPr lang="en-AU" b="1" i="0" dirty="0" smtClean="0">
                <a:solidFill>
                  <a:srgbClr val="8C4AB2"/>
                </a:solidFill>
                <a:effectLst/>
                <a:latin typeface="Arial" panose="020B0604020202020204" pitchFamily="34" charset="0"/>
              </a:rPr>
              <a:t>new direction of propagation,</a:t>
            </a:r>
            <a:r>
              <a:rPr lang="en-AU" b="0" i="0" dirty="0" smtClean="0">
                <a:solidFill>
                  <a:srgbClr val="444444"/>
                </a:solidFill>
                <a:effectLst/>
                <a:latin typeface="Arial" panose="020B0604020202020204" pitchFamily="34" charset="0"/>
              </a:rPr>
              <a:t> can now reach our ears. </a:t>
            </a:r>
            <a:endParaRPr lang="en-AU" b="0" i="0" dirty="0">
              <a:solidFill>
                <a:srgbClr val="444444"/>
              </a:solidFill>
              <a:effectLst/>
              <a:latin typeface="Arial" panose="020B0604020202020204" pitchFamily="34" charset="0"/>
            </a:endParaRPr>
          </a:p>
        </p:txBody>
      </p:sp>
      <p:pic>
        <p:nvPicPr>
          <p:cNvPr id="4098" name="Picture 2" descr="https://www.educationperfect.com/media/content/English/1583256942.536071g/1583256941296-1303065984436275.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77548" y="2933699"/>
            <a:ext cx="6015675" cy="33845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2918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5900" y="187236"/>
            <a:ext cx="11811000" cy="923330"/>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Some waves will diffract </a:t>
            </a:r>
            <a:r>
              <a:rPr lang="en-AU" b="1" i="0" dirty="0" smtClean="0">
                <a:solidFill>
                  <a:srgbClr val="FF7F50"/>
                </a:solidFill>
                <a:effectLst/>
                <a:latin typeface="Arial" panose="020B0604020202020204" pitchFamily="34" charset="0"/>
              </a:rPr>
              <a:t>more than others.</a:t>
            </a:r>
            <a:endParaRPr lang="en-AU" b="1"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In general, a wave with a </a:t>
            </a:r>
            <a:r>
              <a:rPr lang="en-AU" b="1" i="0" dirty="0" smtClean="0">
                <a:solidFill>
                  <a:srgbClr val="FF7F50"/>
                </a:solidFill>
                <a:effectLst/>
                <a:latin typeface="Arial" panose="020B0604020202020204" pitchFamily="34" charset="0"/>
              </a:rPr>
              <a:t>larger wavelength</a:t>
            </a:r>
            <a:r>
              <a:rPr lang="en-AU" b="0" i="0" dirty="0" smtClean="0">
                <a:solidFill>
                  <a:srgbClr val="444444"/>
                </a:solidFill>
                <a:effectLst/>
                <a:latin typeface="Arial" panose="020B0604020202020204" pitchFamily="34" charset="0"/>
              </a:rPr>
              <a:t> will </a:t>
            </a:r>
            <a:r>
              <a:rPr lang="en-AU" b="1" i="0" dirty="0" smtClean="0">
                <a:solidFill>
                  <a:srgbClr val="067DB1"/>
                </a:solidFill>
                <a:effectLst/>
                <a:latin typeface="Arial" panose="020B0604020202020204" pitchFamily="34" charset="0"/>
              </a:rPr>
              <a:t>diffract more.</a:t>
            </a:r>
            <a:r>
              <a:rPr lang="en-AU" b="0" i="0" dirty="0" smtClean="0">
                <a:solidFill>
                  <a:srgbClr val="444444"/>
                </a:solidFill>
                <a:effectLst/>
                <a:latin typeface="Arial" panose="020B0604020202020204" pitchFamily="34" charset="0"/>
              </a:rPr>
              <a:t> We can see this on the two </a:t>
            </a:r>
            <a:r>
              <a:rPr lang="en-AU" b="1" i="0" dirty="0" smtClean="0">
                <a:solidFill>
                  <a:srgbClr val="8C4AB2"/>
                </a:solidFill>
                <a:effectLst/>
                <a:latin typeface="Arial" panose="020B0604020202020204" pitchFamily="34" charset="0"/>
              </a:rPr>
              <a:t>diagrams below.</a:t>
            </a:r>
            <a:endParaRPr lang="en-AU" b="0" i="0" dirty="0">
              <a:solidFill>
                <a:srgbClr val="444444"/>
              </a:solidFill>
              <a:effectLst/>
              <a:latin typeface="Arial" panose="020B0604020202020204" pitchFamily="34" charset="0"/>
            </a:endParaRPr>
          </a:p>
        </p:txBody>
      </p:sp>
      <p:pic>
        <p:nvPicPr>
          <p:cNvPr id="5122" name="Picture 2" descr="https://www.educationperfect.com/media/content/Science/1593985475.117971g/1593985474645-415068399430672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175" y="1282700"/>
            <a:ext cx="5318125" cy="2588372"/>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A shorter wavelength will diffract less sharpl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5999" y="4037894"/>
            <a:ext cx="6207125" cy="27185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0590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1800" y="248841"/>
            <a:ext cx="11531600" cy="2308324"/>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This is why we </a:t>
            </a:r>
            <a:r>
              <a:rPr lang="en-AU" b="1" i="0" dirty="0" smtClean="0">
                <a:solidFill>
                  <a:srgbClr val="8C4AB2"/>
                </a:solidFill>
                <a:effectLst/>
                <a:latin typeface="Arial" panose="020B0604020202020204" pitchFamily="34" charset="0"/>
              </a:rPr>
              <a:t>don’t see light</a:t>
            </a:r>
            <a:r>
              <a:rPr lang="en-AU" b="1" i="0" dirty="0" smtClean="0">
                <a:solidFill>
                  <a:srgbClr val="444444"/>
                </a:solidFill>
                <a:effectLst/>
                <a:latin typeface="Arial" panose="020B0604020202020204" pitchFamily="34" charset="0"/>
              </a:rPr>
              <a:t> undergo diffraction. </a:t>
            </a:r>
          </a:p>
          <a:p>
            <a:pPr algn="ctr"/>
            <a:r>
              <a:rPr lang="en-AU" b="0" i="0" dirty="0" smtClean="0">
                <a:solidFill>
                  <a:srgbClr val="444444"/>
                </a:solidFill>
                <a:effectLst/>
                <a:latin typeface="Arial" panose="020B0604020202020204" pitchFamily="34" charset="0"/>
              </a:rPr>
              <a:t> </a:t>
            </a:r>
          </a:p>
          <a:p>
            <a:r>
              <a:rPr lang="en-AU" b="1" i="0" dirty="0" smtClean="0">
                <a:solidFill>
                  <a:srgbClr val="067DB1"/>
                </a:solidFill>
                <a:effectLst/>
                <a:latin typeface="Arial" panose="020B0604020202020204" pitchFamily="34" charset="0"/>
              </a:rPr>
              <a:t>Sound waves</a:t>
            </a:r>
            <a:r>
              <a:rPr lang="en-AU" b="0" i="0" dirty="0" smtClean="0">
                <a:solidFill>
                  <a:srgbClr val="444444"/>
                </a:solidFill>
                <a:effectLst/>
                <a:latin typeface="Arial" panose="020B0604020202020204" pitchFamily="34" charset="0"/>
              </a:rPr>
              <a:t> that we can hear have </a:t>
            </a:r>
            <a:r>
              <a:rPr lang="en-AU" b="1" i="0" dirty="0" smtClean="0">
                <a:solidFill>
                  <a:srgbClr val="FF7F50"/>
                </a:solidFill>
                <a:effectLst/>
                <a:latin typeface="Arial" panose="020B0604020202020204" pitchFamily="34" charset="0"/>
              </a:rPr>
              <a:t>wavelengths</a:t>
            </a:r>
            <a:r>
              <a:rPr lang="en-AU" b="0" i="0" dirty="0" smtClean="0">
                <a:solidFill>
                  <a:srgbClr val="444444"/>
                </a:solidFill>
                <a:effectLst/>
                <a:latin typeface="Arial" panose="020B0604020202020204" pitchFamily="34" charset="0"/>
              </a:rPr>
              <a:t> of between 17 centimetres and 17 metres. Most objects that we encounter are on this </a:t>
            </a:r>
            <a:r>
              <a:rPr lang="en-AU" b="1" i="0" dirty="0" smtClean="0">
                <a:solidFill>
                  <a:srgbClr val="8C4AB2"/>
                </a:solidFill>
                <a:effectLst/>
                <a:latin typeface="Arial" panose="020B0604020202020204" pitchFamily="34" charset="0"/>
              </a:rPr>
              <a:t>sort of scale, </a:t>
            </a:r>
            <a:r>
              <a:rPr lang="en-AU" b="0" i="0" dirty="0" smtClean="0">
                <a:solidFill>
                  <a:srgbClr val="444444"/>
                </a:solidFill>
                <a:effectLst/>
                <a:latin typeface="Arial" panose="020B0604020202020204" pitchFamily="34" charset="0"/>
              </a:rPr>
              <a:t>which is why sound diffracts.</a:t>
            </a: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However </a:t>
            </a:r>
            <a:r>
              <a:rPr lang="en-AU" b="1" i="0" dirty="0" smtClean="0">
                <a:solidFill>
                  <a:srgbClr val="8C4AB2"/>
                </a:solidFill>
                <a:effectLst/>
                <a:latin typeface="Arial" panose="020B0604020202020204" pitchFamily="34" charset="0"/>
              </a:rPr>
              <a:t>light waves</a:t>
            </a:r>
            <a:r>
              <a:rPr lang="en-AU" b="0" i="0" dirty="0" smtClean="0">
                <a:solidFill>
                  <a:srgbClr val="444444"/>
                </a:solidFill>
                <a:effectLst/>
                <a:latin typeface="Arial" panose="020B0604020202020204" pitchFamily="34" charset="0"/>
              </a:rPr>
              <a:t> have a </a:t>
            </a:r>
            <a:r>
              <a:rPr lang="en-AU" b="1" i="0" dirty="0" smtClean="0">
                <a:solidFill>
                  <a:srgbClr val="FF7F50"/>
                </a:solidFill>
                <a:effectLst/>
                <a:latin typeface="Arial" panose="020B0604020202020204" pitchFamily="34" charset="0"/>
              </a:rPr>
              <a:t>wavelength</a:t>
            </a:r>
            <a:r>
              <a:rPr lang="en-AU" b="0" i="0" dirty="0" smtClean="0">
                <a:solidFill>
                  <a:srgbClr val="444444"/>
                </a:solidFill>
                <a:effectLst/>
                <a:latin typeface="Arial" panose="020B0604020202020204" pitchFamily="34" charset="0"/>
              </a:rPr>
              <a:t> of 400 to 700 </a:t>
            </a:r>
            <a:r>
              <a:rPr lang="en-AU" b="1" i="0" dirty="0" smtClean="0">
                <a:solidFill>
                  <a:srgbClr val="067DB1"/>
                </a:solidFill>
                <a:effectLst/>
                <a:latin typeface="Arial" panose="020B0604020202020204" pitchFamily="34" charset="0"/>
              </a:rPr>
              <a:t>nanometres.</a:t>
            </a:r>
            <a:r>
              <a:rPr lang="en-AU" b="0" i="0" dirty="0" smtClean="0">
                <a:solidFill>
                  <a:srgbClr val="444444"/>
                </a:solidFill>
                <a:effectLst/>
                <a:latin typeface="Arial" panose="020B0604020202020204" pitchFamily="34" charset="0"/>
              </a:rPr>
              <a:t> These wavelengths are approximately </a:t>
            </a:r>
            <a:r>
              <a:rPr lang="en-AU" b="1" i="0" dirty="0" smtClean="0">
                <a:solidFill>
                  <a:srgbClr val="FF7F50"/>
                </a:solidFill>
                <a:effectLst/>
                <a:latin typeface="Arial" panose="020B0604020202020204" pitchFamily="34" charset="0"/>
              </a:rPr>
              <a:t>ten thousand times smaller</a:t>
            </a:r>
            <a:r>
              <a:rPr lang="en-AU" b="0" i="0" dirty="0" smtClean="0">
                <a:solidFill>
                  <a:srgbClr val="444444"/>
                </a:solidFill>
                <a:effectLst/>
                <a:latin typeface="Arial" panose="020B0604020202020204" pitchFamily="34" charset="0"/>
              </a:rPr>
              <a:t> than a millimetre. The objects in our day to day lives are simply too much larger than the </a:t>
            </a:r>
            <a:r>
              <a:rPr lang="en-AU" b="1" i="0" dirty="0" smtClean="0">
                <a:solidFill>
                  <a:srgbClr val="067DB1"/>
                </a:solidFill>
                <a:effectLst/>
                <a:latin typeface="Arial" panose="020B0604020202020204" pitchFamily="34" charset="0"/>
              </a:rPr>
              <a:t>wavelength of light</a:t>
            </a:r>
            <a:r>
              <a:rPr lang="en-AU" b="0" i="0" dirty="0" smtClean="0">
                <a:solidFill>
                  <a:srgbClr val="444444"/>
                </a:solidFill>
                <a:effectLst/>
                <a:latin typeface="Arial" panose="020B0604020202020204" pitchFamily="34" charset="0"/>
              </a:rPr>
              <a:t> to cause noticeable diffraction.</a:t>
            </a:r>
            <a:endParaRPr lang="en-AU" b="0" i="0" dirty="0">
              <a:solidFill>
                <a:srgbClr val="444444"/>
              </a:solidFill>
              <a:effectLst/>
              <a:latin typeface="Arial" panose="020B0604020202020204" pitchFamily="34" charset="0"/>
            </a:endParaRPr>
          </a:p>
        </p:txBody>
      </p:sp>
      <p:pic>
        <p:nvPicPr>
          <p:cNvPr id="6146" name="Picture 2" descr="https://www.educationperfect.com/media/content/Digital%20Technologies/1538943724.059181g/1538943729025-3317101244819322.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14077" y="3136900"/>
            <a:ext cx="5167046" cy="36052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5973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8300" y="134541"/>
            <a:ext cx="11455400" cy="2585323"/>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What about if a wave passes </a:t>
            </a:r>
            <a:r>
              <a:rPr lang="en-AU" b="1" i="0" dirty="0" smtClean="0">
                <a:solidFill>
                  <a:srgbClr val="FF6090"/>
                </a:solidFill>
                <a:effectLst/>
                <a:latin typeface="Arial" panose="020B0604020202020204" pitchFamily="34" charset="0"/>
              </a:rPr>
              <a:t>through a gap?</a:t>
            </a:r>
            <a:endParaRPr lang="en-AU" b="1"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Well, we can think of a gap as being the </a:t>
            </a:r>
            <a:r>
              <a:rPr lang="en-AU" b="1" i="0" dirty="0" smtClean="0">
                <a:solidFill>
                  <a:srgbClr val="FF7F50"/>
                </a:solidFill>
                <a:effectLst/>
                <a:latin typeface="Arial" panose="020B0604020202020204" pitchFamily="34" charset="0"/>
              </a:rPr>
              <a:t>separation between two barriers.</a:t>
            </a:r>
            <a:r>
              <a:rPr lang="en-AU" b="0" i="0" dirty="0" smtClean="0">
                <a:solidFill>
                  <a:srgbClr val="444444"/>
                </a:solidFill>
                <a:effectLst/>
                <a:latin typeface="Arial" panose="020B0604020202020204" pitchFamily="34" charset="0"/>
              </a:rPr>
              <a:t> Since we have seen that </a:t>
            </a:r>
            <a:r>
              <a:rPr lang="en-AU" b="1" i="0" dirty="0" smtClean="0">
                <a:solidFill>
                  <a:srgbClr val="067DB1"/>
                </a:solidFill>
                <a:effectLst/>
                <a:latin typeface="Arial" panose="020B0604020202020204" pitchFamily="34" charset="0"/>
              </a:rPr>
              <a:t>waves will bend</a:t>
            </a:r>
            <a:r>
              <a:rPr lang="en-AU" b="0" i="0" dirty="0" smtClean="0">
                <a:solidFill>
                  <a:srgbClr val="444444"/>
                </a:solidFill>
                <a:effectLst/>
                <a:latin typeface="Arial" panose="020B0604020202020204" pitchFamily="34" charset="0"/>
              </a:rPr>
              <a:t> around a barrier, we expect something </a:t>
            </a:r>
            <a:r>
              <a:rPr lang="en-AU" b="1" i="0" dirty="0" smtClean="0">
                <a:solidFill>
                  <a:srgbClr val="FF6090"/>
                </a:solidFill>
                <a:effectLst/>
                <a:latin typeface="Arial" panose="020B0604020202020204" pitchFamily="34" charset="0"/>
              </a:rPr>
              <a:t>similar to occur here.</a:t>
            </a: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In fact, the wave will bend around </a:t>
            </a:r>
            <a:r>
              <a:rPr lang="en-AU" b="1" i="0" dirty="0" smtClean="0">
                <a:solidFill>
                  <a:srgbClr val="FF7F50"/>
                </a:solidFill>
                <a:effectLst/>
                <a:latin typeface="Arial" panose="020B0604020202020204" pitchFamily="34" charset="0"/>
              </a:rPr>
              <a:t>both sides of the gap,</a:t>
            </a:r>
            <a:r>
              <a:rPr lang="en-AU" b="0" i="0" dirty="0" smtClean="0">
                <a:solidFill>
                  <a:srgbClr val="444444"/>
                </a:solidFill>
                <a:effectLst/>
                <a:latin typeface="Arial" panose="020B0604020202020204" pitchFamily="34" charset="0"/>
              </a:rPr>
              <a:t> and fan out. The </a:t>
            </a:r>
            <a:r>
              <a:rPr lang="en-AU" b="1" i="0" dirty="0" smtClean="0">
                <a:solidFill>
                  <a:srgbClr val="067DB1"/>
                </a:solidFill>
                <a:effectLst/>
                <a:latin typeface="Arial" panose="020B0604020202020204" pitchFamily="34" charset="0"/>
              </a:rPr>
              <a:t>diffracted wave</a:t>
            </a:r>
            <a:r>
              <a:rPr lang="en-AU" b="0" i="0" dirty="0" smtClean="0">
                <a:solidFill>
                  <a:srgbClr val="444444"/>
                </a:solidFill>
                <a:effectLst/>
                <a:latin typeface="Arial" panose="020B0604020202020204" pitchFamily="34" charset="0"/>
              </a:rPr>
              <a:t> will retain the </a:t>
            </a:r>
            <a:r>
              <a:rPr lang="en-AU" b="1" i="0" dirty="0" smtClean="0">
                <a:solidFill>
                  <a:srgbClr val="067DB1"/>
                </a:solidFill>
                <a:effectLst/>
                <a:latin typeface="Arial" panose="020B0604020202020204" pitchFamily="34" charset="0"/>
              </a:rPr>
              <a:t>frequency, speed and wavelength</a:t>
            </a:r>
            <a:r>
              <a:rPr lang="en-AU" b="0" i="0" dirty="0" smtClean="0">
                <a:solidFill>
                  <a:srgbClr val="444444"/>
                </a:solidFill>
                <a:effectLst/>
                <a:latin typeface="Arial" panose="020B0604020202020204" pitchFamily="34" charset="0"/>
              </a:rPr>
              <a:t> from before it underwent diffraction, however, as before, the </a:t>
            </a:r>
            <a:r>
              <a:rPr lang="en-AU" b="1" i="0" dirty="0" smtClean="0">
                <a:solidFill>
                  <a:srgbClr val="FF6090"/>
                </a:solidFill>
                <a:effectLst/>
                <a:latin typeface="Arial" panose="020B0604020202020204" pitchFamily="34" charset="0"/>
              </a:rPr>
              <a:t>direction of propagation has changed.</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endParaRPr lang="en-AU" b="0" i="0" dirty="0">
              <a:solidFill>
                <a:srgbClr val="444444"/>
              </a:solidFill>
              <a:effectLst/>
              <a:latin typeface="Arial" panose="020B0604020202020204" pitchFamily="34" charset="0"/>
            </a:endParaRPr>
          </a:p>
        </p:txBody>
      </p:sp>
      <p:pic>
        <p:nvPicPr>
          <p:cNvPr id="7170" name="Picture 2" descr="https://www.educationperfect.com/media/content/Science/1591833431.623231g/1591833430821-180880327585085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5962" y="3180108"/>
            <a:ext cx="5680075" cy="35159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846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1800" y="227043"/>
            <a:ext cx="11480800" cy="2862322"/>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How does the </a:t>
            </a:r>
            <a:r>
              <a:rPr lang="en-AU" b="1" i="0" dirty="0" smtClean="0">
                <a:solidFill>
                  <a:srgbClr val="FF6090"/>
                </a:solidFill>
                <a:effectLst/>
                <a:latin typeface="Arial" panose="020B0604020202020204" pitchFamily="34" charset="0"/>
              </a:rPr>
              <a:t>size of the wavelength </a:t>
            </a:r>
            <a:r>
              <a:rPr lang="en-AU" b="1" i="0" dirty="0" smtClean="0">
                <a:solidFill>
                  <a:srgbClr val="444444"/>
                </a:solidFill>
                <a:effectLst/>
                <a:latin typeface="Arial" panose="020B0604020202020204" pitchFamily="34" charset="0"/>
              </a:rPr>
              <a:t>affect the </a:t>
            </a:r>
            <a:r>
              <a:rPr lang="en-AU" b="1" i="0" dirty="0" smtClean="0">
                <a:solidFill>
                  <a:srgbClr val="067DB1"/>
                </a:solidFill>
                <a:effectLst/>
                <a:latin typeface="Arial" panose="020B0604020202020204" pitchFamily="34" charset="0"/>
              </a:rPr>
              <a:t>amount of diffraction</a:t>
            </a:r>
            <a:r>
              <a:rPr lang="en-AU" b="1" i="0" dirty="0" smtClean="0">
                <a:solidFill>
                  <a:srgbClr val="444444"/>
                </a:solidFill>
                <a:effectLst/>
                <a:latin typeface="Arial" panose="020B0604020202020204" pitchFamily="34" charset="0"/>
              </a:rPr>
              <a:t> through a gap?</a:t>
            </a: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We saw earlier that a </a:t>
            </a:r>
            <a:r>
              <a:rPr lang="en-AU" b="1" i="0" dirty="0" smtClean="0">
                <a:solidFill>
                  <a:srgbClr val="067DB1"/>
                </a:solidFill>
                <a:effectLst/>
                <a:latin typeface="Arial" panose="020B0604020202020204" pitchFamily="34" charset="0"/>
              </a:rPr>
              <a:t>larger wavelength</a:t>
            </a:r>
            <a:r>
              <a:rPr lang="en-AU" b="0" i="0" dirty="0" smtClean="0">
                <a:solidFill>
                  <a:srgbClr val="444444"/>
                </a:solidFill>
                <a:effectLst/>
                <a:latin typeface="Arial" panose="020B0604020202020204" pitchFamily="34" charset="0"/>
              </a:rPr>
              <a:t> will diffract more than a </a:t>
            </a:r>
            <a:r>
              <a:rPr lang="en-AU" b="1" i="0" dirty="0" smtClean="0">
                <a:solidFill>
                  <a:srgbClr val="FF6090"/>
                </a:solidFill>
                <a:effectLst/>
                <a:latin typeface="Arial" panose="020B0604020202020204" pitchFamily="34" charset="0"/>
              </a:rPr>
              <a:t>shorter wavelength</a:t>
            </a:r>
            <a:r>
              <a:rPr lang="en-AU" b="0" i="0" dirty="0" smtClean="0">
                <a:solidFill>
                  <a:srgbClr val="444444"/>
                </a:solidFill>
                <a:effectLst/>
                <a:latin typeface="Arial" panose="020B0604020202020204" pitchFamily="34" charset="0"/>
              </a:rPr>
              <a:t> when encountering a barrier. This is similar to what happens when a wave </a:t>
            </a:r>
            <a:r>
              <a:rPr lang="en-AU" b="1" i="0" dirty="0" smtClean="0">
                <a:solidFill>
                  <a:srgbClr val="067DB1"/>
                </a:solidFill>
                <a:effectLst/>
                <a:latin typeface="Arial" panose="020B0604020202020204" pitchFamily="34" charset="0"/>
              </a:rPr>
              <a:t>passes through a gap,</a:t>
            </a:r>
            <a:r>
              <a:rPr lang="en-AU" b="0" i="0" dirty="0" smtClean="0">
                <a:solidFill>
                  <a:srgbClr val="444444"/>
                </a:solidFill>
                <a:effectLst/>
                <a:latin typeface="Arial" panose="020B0604020202020204" pitchFamily="34" charset="0"/>
              </a:rPr>
              <a:t> but there are </a:t>
            </a:r>
            <a:r>
              <a:rPr lang="en-AU" b="1" i="0" dirty="0" smtClean="0">
                <a:solidFill>
                  <a:srgbClr val="FF7F50"/>
                </a:solidFill>
                <a:effectLst/>
                <a:latin typeface="Arial" panose="020B0604020202020204" pitchFamily="34" charset="0"/>
              </a:rPr>
              <a:t>some differences.</a:t>
            </a: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
            </a:r>
            <a:br>
              <a:rPr lang="en-AU" b="0" i="0" dirty="0" smtClean="0">
                <a:solidFill>
                  <a:srgbClr val="444444"/>
                </a:solidFill>
                <a:effectLst/>
                <a:latin typeface="Arial" panose="020B0604020202020204" pitchFamily="34" charset="0"/>
              </a:rPr>
            </a:br>
            <a:r>
              <a:rPr lang="en-AU" b="0" i="0" dirty="0" smtClean="0">
                <a:solidFill>
                  <a:srgbClr val="444444"/>
                </a:solidFill>
                <a:effectLst/>
                <a:latin typeface="Arial" panose="020B0604020202020204" pitchFamily="34" charset="0"/>
              </a:rPr>
              <a:t>When a wave passes through a gap, maximal diffraction will occur when the </a:t>
            </a:r>
            <a:r>
              <a:rPr lang="en-AU" b="1" i="0" dirty="0" smtClean="0">
                <a:solidFill>
                  <a:srgbClr val="FF6090"/>
                </a:solidFill>
                <a:effectLst/>
                <a:latin typeface="Arial" panose="020B0604020202020204" pitchFamily="34" charset="0"/>
              </a:rPr>
              <a:t>size of the wavelength</a:t>
            </a:r>
            <a:r>
              <a:rPr lang="en-AU" b="0" i="0" dirty="0" smtClean="0">
                <a:solidFill>
                  <a:srgbClr val="444444"/>
                </a:solidFill>
                <a:effectLst/>
                <a:latin typeface="Arial" panose="020B0604020202020204" pitchFamily="34" charset="0"/>
              </a:rPr>
              <a:t> is approximately equal to the </a:t>
            </a:r>
            <a:r>
              <a:rPr lang="en-AU" b="1" i="0" dirty="0" smtClean="0">
                <a:solidFill>
                  <a:srgbClr val="FF7F50"/>
                </a:solidFill>
                <a:effectLst/>
                <a:latin typeface="Arial" panose="020B0604020202020204" pitchFamily="34" charset="0"/>
              </a:rPr>
              <a:t>width of the gap.</a:t>
            </a:r>
            <a:r>
              <a:rPr lang="en-AU" b="0" i="0" dirty="0" smtClean="0">
                <a:solidFill>
                  <a:srgbClr val="444444"/>
                </a:solidFill>
                <a:effectLst/>
                <a:latin typeface="Arial" panose="020B0604020202020204" pitchFamily="34" charset="0"/>
              </a:rPr>
              <a:t> Waves with a </a:t>
            </a:r>
            <a:r>
              <a:rPr lang="en-AU" b="1" i="0" dirty="0" smtClean="0">
                <a:solidFill>
                  <a:srgbClr val="067DB1"/>
                </a:solidFill>
                <a:effectLst/>
                <a:latin typeface="Arial" panose="020B0604020202020204" pitchFamily="34" charset="0"/>
              </a:rPr>
              <a:t>wavelength shorter</a:t>
            </a:r>
            <a:r>
              <a:rPr lang="en-AU" b="0" i="0" dirty="0" smtClean="0">
                <a:solidFill>
                  <a:srgbClr val="444444"/>
                </a:solidFill>
                <a:effectLst/>
                <a:latin typeface="Arial" panose="020B0604020202020204" pitchFamily="34" charset="0"/>
              </a:rPr>
              <a:t> than this will diffract less.</a:t>
            </a: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If the wavelength is many times larger than the width of the gap, the wave will not pass through easily. This will </a:t>
            </a:r>
            <a:r>
              <a:rPr lang="en-AU" b="1" i="0" dirty="0" smtClean="0">
                <a:solidFill>
                  <a:srgbClr val="FF7F50"/>
                </a:solidFill>
                <a:effectLst/>
                <a:latin typeface="Arial" panose="020B0604020202020204" pitchFamily="34" charset="0"/>
              </a:rPr>
              <a:t>not be covered</a:t>
            </a:r>
            <a:r>
              <a:rPr lang="en-AU" b="0" i="0" dirty="0" smtClean="0">
                <a:solidFill>
                  <a:srgbClr val="444444"/>
                </a:solidFill>
                <a:effectLst/>
                <a:latin typeface="Arial" panose="020B0604020202020204" pitchFamily="34" charset="0"/>
              </a:rPr>
              <a:t> in much detail in this lesson.</a:t>
            </a:r>
            <a:endParaRPr lang="en-AU" b="0" i="0" dirty="0">
              <a:solidFill>
                <a:srgbClr val="444444"/>
              </a:solidFill>
              <a:effectLst/>
              <a:latin typeface="Arial" panose="020B0604020202020204" pitchFamily="34" charset="0"/>
            </a:endParaRPr>
          </a:p>
        </p:txBody>
      </p:sp>
      <p:pic>
        <p:nvPicPr>
          <p:cNvPr id="8194" name="Picture 2" descr="Maximal diffraction through a ga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7969" y="3563534"/>
            <a:ext cx="4208462" cy="28245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61098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7500" y="231339"/>
            <a:ext cx="11696700" cy="2031325"/>
          </a:xfrm>
          <a:prstGeom prst="rect">
            <a:avLst/>
          </a:prstGeom>
        </p:spPr>
        <p:txBody>
          <a:bodyPr wrap="square">
            <a:spAutoFit/>
          </a:bodyPr>
          <a:lstStyle/>
          <a:p>
            <a:pPr algn="ctr"/>
            <a:r>
              <a:rPr lang="en-AU" b="1" dirty="0" smtClean="0">
                <a:solidFill>
                  <a:srgbClr val="444444"/>
                </a:solidFill>
                <a:effectLst/>
                <a:latin typeface="Arial" panose="020B0604020202020204" pitchFamily="34" charset="0"/>
              </a:rPr>
              <a:t>A typical speaker</a:t>
            </a:r>
            <a:r>
              <a:rPr lang="en-AU" b="1" dirty="0" smtClean="0">
                <a:effectLst/>
                <a:latin typeface="Arial" panose="020B0604020202020204" pitchFamily="34" charset="0"/>
              </a:rPr>
              <a:t> </a:t>
            </a:r>
            <a:r>
              <a:rPr lang="en-AU" b="1" dirty="0" smtClean="0">
                <a:solidFill>
                  <a:srgbClr val="FF7F50"/>
                </a:solidFill>
                <a:effectLst/>
                <a:latin typeface="Arial" panose="020B0604020202020204" pitchFamily="34" charset="0"/>
              </a:rPr>
              <a:t>has a gap in the front</a:t>
            </a:r>
            <a:r>
              <a:rPr lang="en-AU" b="1" dirty="0" smtClean="0">
                <a:effectLst/>
                <a:latin typeface="Arial" panose="020B0604020202020204" pitchFamily="34" charset="0"/>
              </a:rPr>
              <a:t> </a:t>
            </a:r>
            <a:r>
              <a:rPr lang="en-AU" b="1" dirty="0" smtClean="0">
                <a:solidFill>
                  <a:srgbClr val="444444"/>
                </a:solidFill>
                <a:effectLst/>
                <a:latin typeface="Arial" panose="020B0604020202020204" pitchFamily="34" charset="0"/>
              </a:rPr>
              <a:t>which allows sound waves to escape.</a:t>
            </a:r>
            <a:endParaRPr lang="en-AU" b="1" dirty="0" smtClean="0">
              <a:effectLst/>
              <a:latin typeface="Arial" panose="020B0604020202020204" pitchFamily="34" charset="0"/>
            </a:endParaRPr>
          </a:p>
          <a:p>
            <a:pPr algn="ctr"/>
            <a:r>
              <a:rPr lang="en-AU" b="1" dirty="0" smtClean="0">
                <a:effectLst/>
                <a:latin typeface="Arial" panose="020B0604020202020204" pitchFamily="34" charset="0"/>
              </a:rPr>
              <a:t> </a:t>
            </a:r>
          </a:p>
          <a:p>
            <a:r>
              <a:rPr lang="en-AU" b="0" i="0" dirty="0" smtClean="0">
                <a:solidFill>
                  <a:srgbClr val="444444"/>
                </a:solidFill>
                <a:effectLst/>
                <a:latin typeface="Arial" panose="020B0604020202020204" pitchFamily="34" charset="0"/>
              </a:rPr>
              <a:t>If you stand </a:t>
            </a:r>
            <a:r>
              <a:rPr lang="en-AU" b="1" i="0" dirty="0" smtClean="0">
                <a:solidFill>
                  <a:srgbClr val="FF6090"/>
                </a:solidFill>
                <a:effectLst/>
                <a:latin typeface="Arial" panose="020B0604020202020204" pitchFamily="34" charset="0"/>
              </a:rPr>
              <a:t>in front of a speaker,</a:t>
            </a:r>
            <a:r>
              <a:rPr lang="en-AU" b="0" i="0" dirty="0" smtClean="0">
                <a:solidFill>
                  <a:srgbClr val="444444"/>
                </a:solidFill>
                <a:effectLst/>
                <a:latin typeface="Arial" panose="020B0604020202020204" pitchFamily="34" charset="0"/>
              </a:rPr>
              <a:t> you will hear both the high and low pitched sounds. However, if you </a:t>
            </a:r>
            <a:r>
              <a:rPr lang="en-AU" b="1" i="0" dirty="0" smtClean="0">
                <a:solidFill>
                  <a:srgbClr val="067DB1"/>
                </a:solidFill>
                <a:effectLst/>
                <a:latin typeface="Arial" panose="020B0604020202020204" pitchFamily="34" charset="0"/>
              </a:rPr>
              <a:t>walk to one side,</a:t>
            </a:r>
            <a:r>
              <a:rPr lang="en-AU" b="0" i="0" dirty="0" smtClean="0">
                <a:solidFill>
                  <a:srgbClr val="444444"/>
                </a:solidFill>
                <a:effectLst/>
                <a:latin typeface="Arial" panose="020B0604020202020204" pitchFamily="34" charset="0"/>
              </a:rPr>
              <a:t> you will stop hearing the </a:t>
            </a:r>
            <a:r>
              <a:rPr lang="en-AU" b="1" i="0" dirty="0" smtClean="0">
                <a:solidFill>
                  <a:srgbClr val="FF7F50"/>
                </a:solidFill>
                <a:effectLst/>
                <a:latin typeface="Arial" panose="020B0604020202020204" pitchFamily="34" charset="0"/>
              </a:rPr>
              <a:t>high pitched sounds,</a:t>
            </a:r>
            <a:r>
              <a:rPr lang="en-AU" b="0" i="0" dirty="0" smtClean="0">
                <a:solidFill>
                  <a:srgbClr val="444444"/>
                </a:solidFill>
                <a:effectLst/>
                <a:latin typeface="Arial" panose="020B0604020202020204" pitchFamily="34" charset="0"/>
              </a:rPr>
              <a:t> while still hearing the lower sounds.</a:t>
            </a:r>
          </a:p>
          <a:p>
            <a:r>
              <a:rPr lang="en-AU" b="0" i="0" dirty="0" smtClean="0">
                <a:solidFill>
                  <a:srgbClr val="444444"/>
                </a:solidFill>
                <a:effectLst/>
                <a:latin typeface="Arial" panose="020B0604020202020204" pitchFamily="34" charset="0"/>
              </a:rPr>
              <a:t/>
            </a:r>
            <a:br>
              <a:rPr lang="en-AU" b="0" i="0" dirty="0" smtClean="0">
                <a:solidFill>
                  <a:srgbClr val="444444"/>
                </a:solidFill>
                <a:effectLst/>
                <a:latin typeface="Arial" panose="020B0604020202020204" pitchFamily="34" charset="0"/>
              </a:rPr>
            </a:br>
            <a:r>
              <a:rPr lang="en-AU" b="0" i="0" dirty="0" smtClean="0">
                <a:solidFill>
                  <a:srgbClr val="444444"/>
                </a:solidFill>
                <a:effectLst/>
                <a:latin typeface="Arial" panose="020B0604020202020204" pitchFamily="34" charset="0"/>
              </a:rPr>
              <a:t>Evidently, there is </a:t>
            </a:r>
            <a:r>
              <a:rPr lang="en-AU" b="1" i="0" dirty="0" smtClean="0">
                <a:solidFill>
                  <a:srgbClr val="FF6090"/>
                </a:solidFill>
                <a:effectLst/>
                <a:latin typeface="Arial" panose="020B0604020202020204" pitchFamily="34" charset="0"/>
              </a:rPr>
              <a:t>some diffraction </a:t>
            </a:r>
            <a:r>
              <a:rPr lang="en-AU" b="1" i="0" dirty="0" err="1" smtClean="0">
                <a:solidFill>
                  <a:srgbClr val="FF6090"/>
                </a:solidFill>
                <a:effectLst/>
                <a:latin typeface="Arial" panose="020B0604020202020204" pitchFamily="34" charset="0"/>
              </a:rPr>
              <a:t>occuring</a:t>
            </a:r>
            <a:r>
              <a:rPr lang="en-AU" b="1" i="0" dirty="0" smtClean="0">
                <a:solidFill>
                  <a:srgbClr val="FF6090"/>
                </a:solidFill>
                <a:effectLst/>
                <a:latin typeface="Arial" panose="020B0604020202020204" pitchFamily="34" charset="0"/>
              </a:rPr>
              <a:t>,</a:t>
            </a:r>
            <a:r>
              <a:rPr lang="en-AU" b="0" i="0" dirty="0" smtClean="0">
                <a:solidFill>
                  <a:srgbClr val="444444"/>
                </a:solidFill>
                <a:effectLst/>
                <a:latin typeface="Arial" panose="020B0604020202020204" pitchFamily="34" charset="0"/>
              </a:rPr>
              <a:t> but different sounds are </a:t>
            </a:r>
            <a:r>
              <a:rPr lang="en-AU" b="1" i="0" dirty="0" smtClean="0">
                <a:solidFill>
                  <a:srgbClr val="067DB1"/>
                </a:solidFill>
                <a:effectLst/>
                <a:latin typeface="Arial" panose="020B0604020202020204" pitchFamily="34" charset="0"/>
              </a:rPr>
              <a:t>diffracting different amounts.</a:t>
            </a:r>
            <a:r>
              <a:rPr lang="en-AU" b="0" i="0" dirty="0" smtClean="0">
                <a:solidFill>
                  <a:srgbClr val="444444"/>
                </a:solidFill>
                <a:effectLst/>
                <a:latin typeface="Arial" panose="020B0604020202020204" pitchFamily="34" charset="0"/>
              </a:rPr>
              <a:t> How do you think we can explain this?</a:t>
            </a:r>
            <a:endParaRPr lang="en-AU" dirty="0"/>
          </a:p>
        </p:txBody>
      </p:sp>
      <p:pic>
        <p:nvPicPr>
          <p:cNvPr id="9218" name="Picture 2" descr="https://www.educationperfect.com/media/content/Digital%20Technologies/1551821482.44641f/1551821482268-2780085411164826.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841499" y="2966144"/>
            <a:ext cx="7893628" cy="34473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309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https://www.educationperfect.com/media/content/Science/1594092898.574611g/1594092898393-81489953112299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775" y="325437"/>
            <a:ext cx="4314825" cy="602932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5664200" y="1035040"/>
            <a:ext cx="6096000" cy="3416320"/>
          </a:xfrm>
          <a:prstGeom prst="rect">
            <a:avLst/>
          </a:prstGeom>
        </p:spPr>
        <p:txBody>
          <a:bodyPr>
            <a:spAutoFit/>
          </a:bodyPr>
          <a:lstStyle/>
          <a:p>
            <a:pPr algn="ctr"/>
            <a:r>
              <a:rPr lang="en-AU" b="1" i="0" dirty="0" smtClean="0">
                <a:solidFill>
                  <a:srgbClr val="444444"/>
                </a:solidFill>
                <a:effectLst/>
                <a:latin typeface="Arial" panose="020B0604020202020204" pitchFamily="34" charset="0"/>
              </a:rPr>
              <a:t/>
            </a:r>
            <a:br>
              <a:rPr lang="en-AU" b="1" i="0" dirty="0" smtClean="0">
                <a:solidFill>
                  <a:srgbClr val="444444"/>
                </a:solidFill>
                <a:effectLst/>
                <a:latin typeface="Arial" panose="020B0604020202020204" pitchFamily="34" charset="0"/>
              </a:rPr>
            </a:br>
            <a:r>
              <a:rPr lang="en-AU" b="1" i="0" dirty="0" smtClean="0">
                <a:solidFill>
                  <a:srgbClr val="444444"/>
                </a:solidFill>
                <a:effectLst/>
                <a:latin typeface="Arial" panose="020B0604020202020204" pitchFamily="34" charset="0"/>
              </a:rPr>
              <a:t>This is because the </a:t>
            </a:r>
            <a:r>
              <a:rPr lang="en-AU" b="1" i="0" dirty="0" smtClean="0">
                <a:solidFill>
                  <a:srgbClr val="067DB1"/>
                </a:solidFill>
                <a:effectLst/>
                <a:latin typeface="Arial" panose="020B0604020202020204" pitchFamily="34" charset="0"/>
              </a:rPr>
              <a:t>sound waves diffract </a:t>
            </a:r>
            <a:r>
              <a:rPr lang="en-AU" b="1" i="0" dirty="0" smtClean="0">
                <a:solidFill>
                  <a:srgbClr val="444444"/>
                </a:solidFill>
                <a:effectLst/>
                <a:latin typeface="Arial" panose="020B0604020202020204" pitchFamily="34" charset="0"/>
              </a:rPr>
              <a:t>through the gap.</a:t>
            </a: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Lower sounds have </a:t>
            </a:r>
            <a:r>
              <a:rPr lang="en-AU" b="1" i="0" dirty="0" smtClean="0">
                <a:solidFill>
                  <a:srgbClr val="FF7F50"/>
                </a:solidFill>
                <a:effectLst/>
                <a:latin typeface="Arial" panose="020B0604020202020204" pitchFamily="34" charset="0"/>
              </a:rPr>
              <a:t>lower frequencies,</a:t>
            </a:r>
            <a:r>
              <a:rPr lang="en-AU" b="0" i="0" dirty="0" smtClean="0">
                <a:solidFill>
                  <a:srgbClr val="444444"/>
                </a:solidFill>
                <a:effectLst/>
                <a:latin typeface="Arial" panose="020B0604020202020204" pitchFamily="34" charset="0"/>
              </a:rPr>
              <a:t> and therefore longer wavelengths than higher sounds. Since the lower sounds have </a:t>
            </a:r>
            <a:r>
              <a:rPr lang="en-AU" b="1" i="0" dirty="0" smtClean="0">
                <a:solidFill>
                  <a:srgbClr val="FF7F50"/>
                </a:solidFill>
                <a:effectLst/>
                <a:latin typeface="Arial" panose="020B0604020202020204" pitchFamily="34" charset="0"/>
              </a:rPr>
              <a:t>longer wavelengths</a:t>
            </a:r>
            <a:r>
              <a:rPr lang="en-AU" b="0" i="0" dirty="0" smtClean="0">
                <a:solidFill>
                  <a:srgbClr val="444444"/>
                </a:solidFill>
                <a:effectLst/>
                <a:latin typeface="Arial" panose="020B0604020202020204" pitchFamily="34" charset="0"/>
              </a:rPr>
              <a:t>—closer to the size of the gap—they will </a:t>
            </a:r>
            <a:r>
              <a:rPr lang="en-AU" b="1" i="0" dirty="0" smtClean="0">
                <a:solidFill>
                  <a:srgbClr val="067DB1"/>
                </a:solidFill>
                <a:effectLst/>
                <a:latin typeface="Arial" panose="020B0604020202020204" pitchFamily="34" charset="0"/>
              </a:rPr>
              <a:t>diffract more.</a:t>
            </a: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Conversely, the </a:t>
            </a:r>
            <a:r>
              <a:rPr lang="en-AU" b="1" i="0" dirty="0" smtClean="0">
                <a:solidFill>
                  <a:srgbClr val="FF6090"/>
                </a:solidFill>
                <a:effectLst/>
                <a:latin typeface="Arial" panose="020B0604020202020204" pitchFamily="34" charset="0"/>
              </a:rPr>
              <a:t>higher sounds</a:t>
            </a:r>
            <a:r>
              <a:rPr lang="en-AU" b="0" i="0" dirty="0" smtClean="0">
                <a:solidFill>
                  <a:srgbClr val="444444"/>
                </a:solidFill>
                <a:effectLst/>
                <a:latin typeface="Arial" panose="020B0604020202020204" pitchFamily="34" charset="0"/>
              </a:rPr>
              <a:t> have higher frequencies and therefore </a:t>
            </a:r>
            <a:r>
              <a:rPr lang="en-AU" b="1" i="0" dirty="0" smtClean="0">
                <a:solidFill>
                  <a:srgbClr val="FF6090"/>
                </a:solidFill>
                <a:effectLst/>
                <a:latin typeface="Arial" panose="020B0604020202020204" pitchFamily="34" charset="0"/>
              </a:rPr>
              <a:t>shorter wavelengths. </a:t>
            </a:r>
            <a:r>
              <a:rPr lang="en-AU" b="0" i="0" dirty="0" smtClean="0">
                <a:solidFill>
                  <a:srgbClr val="444444"/>
                </a:solidFill>
                <a:effectLst/>
                <a:latin typeface="Arial" panose="020B0604020202020204" pitchFamily="34" charset="0"/>
              </a:rPr>
              <a:t>This means they </a:t>
            </a:r>
            <a:r>
              <a:rPr lang="en-AU" b="1" i="0" dirty="0" smtClean="0">
                <a:solidFill>
                  <a:srgbClr val="067DB1"/>
                </a:solidFill>
                <a:effectLst/>
                <a:latin typeface="Arial" panose="020B0604020202020204" pitchFamily="34" charset="0"/>
              </a:rPr>
              <a:t>diffract less,</a:t>
            </a:r>
            <a:r>
              <a:rPr lang="en-AU" b="0" i="0" dirty="0" smtClean="0">
                <a:solidFill>
                  <a:srgbClr val="444444"/>
                </a:solidFill>
                <a:effectLst/>
                <a:latin typeface="Arial" panose="020B0604020202020204" pitchFamily="34" charset="0"/>
              </a:rPr>
              <a:t> and do not spread out as far.</a:t>
            </a:r>
            <a:endParaRPr lang="en-AU" b="0" i="0" dirty="0">
              <a:solidFill>
                <a:srgbClr val="444444"/>
              </a:solidFill>
              <a:effectLst/>
              <a:latin typeface="Arial" panose="020B0604020202020204" pitchFamily="34" charset="0"/>
            </a:endParaRPr>
          </a:p>
        </p:txBody>
      </p:sp>
    </p:spTree>
    <p:extLst>
      <p:ext uri="{BB962C8B-B14F-4D97-AF65-F5344CB8AC3E}">
        <p14:creationId xmlns:p14="http://schemas.microsoft.com/office/powerpoint/2010/main" val="34094538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2600" y="403642"/>
            <a:ext cx="11430000" cy="2585323"/>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This explains why </a:t>
            </a:r>
            <a:r>
              <a:rPr lang="en-AU" b="1" i="0" dirty="0" smtClean="0">
                <a:solidFill>
                  <a:srgbClr val="067DB1"/>
                </a:solidFill>
                <a:effectLst/>
                <a:latin typeface="Arial" panose="020B0604020202020204" pitchFamily="34" charset="0"/>
              </a:rPr>
              <a:t>sound will diffract</a:t>
            </a:r>
            <a:r>
              <a:rPr lang="en-AU" b="1" i="0" dirty="0" smtClean="0">
                <a:solidFill>
                  <a:srgbClr val="444444"/>
                </a:solidFill>
                <a:effectLst/>
                <a:latin typeface="Arial" panose="020B0604020202020204" pitchFamily="34" charset="0"/>
              </a:rPr>
              <a:t> through a doorway, but </a:t>
            </a:r>
            <a:r>
              <a:rPr lang="en-AU" b="1" i="0" dirty="0" smtClean="0">
                <a:solidFill>
                  <a:srgbClr val="FF6090"/>
                </a:solidFill>
                <a:effectLst/>
                <a:latin typeface="Arial" panose="020B0604020202020204" pitchFamily="34" charset="0"/>
              </a:rPr>
              <a:t>light won’t.</a:t>
            </a:r>
            <a:r>
              <a:rPr lang="en-AU" b="1"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 </a:t>
            </a:r>
          </a:p>
          <a:p>
            <a:r>
              <a:rPr lang="en-AU" b="1" i="0" dirty="0" smtClean="0">
                <a:solidFill>
                  <a:srgbClr val="FF7F50"/>
                </a:solidFill>
                <a:effectLst/>
                <a:latin typeface="Arial" panose="020B0604020202020204" pitchFamily="34" charset="0"/>
              </a:rPr>
              <a:t>Imagine a guitarist</a:t>
            </a:r>
            <a:r>
              <a:rPr lang="en-AU" b="0" i="0" dirty="0" smtClean="0">
                <a:solidFill>
                  <a:srgbClr val="444444"/>
                </a:solidFill>
                <a:effectLst/>
                <a:latin typeface="Arial" panose="020B0604020202020204" pitchFamily="34" charset="0"/>
              </a:rPr>
              <a:t> in a room playing music. You are standing to the left of the door, and </a:t>
            </a:r>
            <a:r>
              <a:rPr lang="en-AU" b="1" i="0" dirty="0" smtClean="0">
                <a:solidFill>
                  <a:srgbClr val="067DB1"/>
                </a:solidFill>
                <a:effectLst/>
                <a:latin typeface="Arial" panose="020B0604020202020204" pitchFamily="34" charset="0"/>
              </a:rPr>
              <a:t>cannot see</a:t>
            </a:r>
            <a:r>
              <a:rPr lang="en-AU" b="0" i="0" dirty="0" smtClean="0">
                <a:solidFill>
                  <a:srgbClr val="444444"/>
                </a:solidFill>
                <a:effectLst/>
                <a:latin typeface="Arial" panose="020B0604020202020204" pitchFamily="34" charset="0"/>
              </a:rPr>
              <a:t> the guitarist. However, you </a:t>
            </a:r>
            <a:r>
              <a:rPr lang="en-AU" b="1" i="0" dirty="0" smtClean="0">
                <a:solidFill>
                  <a:srgbClr val="FF6090"/>
                </a:solidFill>
                <a:effectLst/>
                <a:latin typeface="Arial" panose="020B0604020202020204" pitchFamily="34" charset="0"/>
              </a:rPr>
              <a:t>can hear the music</a:t>
            </a:r>
            <a:r>
              <a:rPr lang="en-AU" b="0" i="0" dirty="0" smtClean="0">
                <a:solidFill>
                  <a:srgbClr val="444444"/>
                </a:solidFill>
                <a:effectLst/>
                <a:latin typeface="Arial" panose="020B0604020202020204" pitchFamily="34" charset="0"/>
              </a:rPr>
              <a:t> she is playing. </a:t>
            </a: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This is because the sound waves have </a:t>
            </a:r>
            <a:r>
              <a:rPr lang="en-AU" b="1" i="0" dirty="0" smtClean="0">
                <a:solidFill>
                  <a:srgbClr val="FF7F50"/>
                </a:solidFill>
                <a:effectLst/>
                <a:latin typeface="Arial" panose="020B0604020202020204" pitchFamily="34" charset="0"/>
              </a:rPr>
              <a:t>wavelengths relatively close</a:t>
            </a:r>
            <a:r>
              <a:rPr lang="en-AU" b="0" i="0" dirty="0" smtClean="0">
                <a:solidFill>
                  <a:srgbClr val="444444"/>
                </a:solidFill>
                <a:effectLst/>
                <a:latin typeface="Arial" panose="020B0604020202020204" pitchFamily="34" charset="0"/>
              </a:rPr>
              <a:t> to the size of the door (which acts like a gap). These </a:t>
            </a:r>
            <a:r>
              <a:rPr lang="en-AU" b="1" i="0" dirty="0" smtClean="0">
                <a:solidFill>
                  <a:srgbClr val="067DB1"/>
                </a:solidFill>
                <a:effectLst/>
                <a:latin typeface="Arial" panose="020B0604020202020204" pitchFamily="34" charset="0"/>
              </a:rPr>
              <a:t>waves diffract sharply,</a:t>
            </a:r>
            <a:r>
              <a:rPr lang="en-AU" b="0" i="0" dirty="0" smtClean="0">
                <a:solidFill>
                  <a:srgbClr val="444444"/>
                </a:solidFill>
                <a:effectLst/>
                <a:latin typeface="Arial" panose="020B0604020202020204" pitchFamily="34" charset="0"/>
              </a:rPr>
              <a:t> and reach your ears. The </a:t>
            </a:r>
            <a:r>
              <a:rPr lang="en-AU" b="1" i="0" dirty="0" smtClean="0">
                <a:solidFill>
                  <a:srgbClr val="FF7F50"/>
                </a:solidFill>
                <a:effectLst/>
                <a:latin typeface="Arial" panose="020B0604020202020204" pitchFamily="34" charset="0"/>
              </a:rPr>
              <a:t>light waves</a:t>
            </a:r>
            <a:r>
              <a:rPr lang="en-AU" b="0" i="0" dirty="0" smtClean="0">
                <a:solidFill>
                  <a:srgbClr val="444444"/>
                </a:solidFill>
                <a:effectLst/>
                <a:latin typeface="Arial" panose="020B0604020202020204" pitchFamily="34" charset="0"/>
              </a:rPr>
              <a:t> have wavelengths much smaller than the size of the door though, and do </a:t>
            </a:r>
            <a:r>
              <a:rPr lang="en-AU" b="1" i="0" dirty="0" smtClean="0">
                <a:solidFill>
                  <a:srgbClr val="FF6090"/>
                </a:solidFill>
                <a:effectLst/>
                <a:latin typeface="Arial" panose="020B0604020202020204" pitchFamily="34" charset="0"/>
              </a:rPr>
              <a:t>not undergo diffraction.</a:t>
            </a:r>
            <a:r>
              <a:rPr lang="en-AU" b="0" i="0" dirty="0" smtClean="0">
                <a:solidFill>
                  <a:srgbClr val="444444"/>
                </a:solidFill>
                <a:effectLst/>
                <a:latin typeface="Arial" panose="020B0604020202020204" pitchFamily="34" charset="0"/>
              </a:rPr>
              <a:t> This results in sharp shadows being formed on the ground. </a:t>
            </a:r>
            <a:endParaRPr lang="en-AU" b="0" i="0" dirty="0">
              <a:solidFill>
                <a:srgbClr val="444444"/>
              </a:solidFill>
              <a:effectLst/>
              <a:latin typeface="Arial" panose="020B0604020202020204" pitchFamily="34" charset="0"/>
            </a:endParaRPr>
          </a:p>
        </p:txBody>
      </p:sp>
      <p:pic>
        <p:nvPicPr>
          <p:cNvPr id="11266" name="Picture 2" descr="https://www.educationperfect.com/media/content/Science/1593729009.848981g/1593729009831-18265101129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0299" y="2912269"/>
            <a:ext cx="5260975" cy="39457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99180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Words>
  <Application>Microsoft Office PowerPoint</Application>
  <PresentationFormat>Widescreen</PresentationFormat>
  <Paragraphs>53</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Diffraction Around a Barrier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Diffraction Around a Barrier</dc:title>
  <dc:creator>Joseph D'cruz</dc:creator>
  <cp:lastModifiedBy>Joseph D'cruz</cp:lastModifiedBy>
  <cp:revision>1</cp:revision>
  <dcterms:created xsi:type="dcterms:W3CDTF">2020-09-04T12:53:22Z</dcterms:created>
  <dcterms:modified xsi:type="dcterms:W3CDTF">2020-09-04T12:53:39Z</dcterms:modified>
</cp:coreProperties>
</file>
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9A226D8-5C3E-4D03-A51D-84E186F87901}" type="datetimeFigureOut">
              <a:rPr lang="en-AU" smtClean="0"/>
              <a:t>8/08/2020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8D2D198-66CF-46B7-8F4A-5912E9B3E4D0}" type="slidenum">
              <a:rPr lang="en-AU" smtClean="0"/>
              <a:t>‹#›</a:t>
            </a:fld>
            <a:endParaRPr lang="en-AU"/>
          </a:p>
        </p:txBody>
      </p:sp>
    </p:spTree>
    <p:extLst>
      <p:ext uri="{BB962C8B-B14F-4D97-AF65-F5344CB8AC3E}">
        <p14:creationId xmlns:p14="http://schemas.microsoft.com/office/powerpoint/2010/main" val="879938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9A226D8-5C3E-4D03-A51D-84E186F87901}" type="datetimeFigureOut">
              <a:rPr lang="en-AU" smtClean="0"/>
              <a:t>8/08/2020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8D2D198-66CF-46B7-8F4A-5912E9B3E4D0}" type="slidenum">
              <a:rPr lang="en-AU" smtClean="0"/>
              <a:t>‹#›</a:t>
            </a:fld>
            <a:endParaRPr lang="en-AU"/>
          </a:p>
        </p:txBody>
      </p:sp>
    </p:spTree>
    <p:extLst>
      <p:ext uri="{BB962C8B-B14F-4D97-AF65-F5344CB8AC3E}">
        <p14:creationId xmlns:p14="http://schemas.microsoft.com/office/powerpoint/2010/main" val="862780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9A226D8-5C3E-4D03-A51D-84E186F87901}" type="datetimeFigureOut">
              <a:rPr lang="en-AU" smtClean="0"/>
              <a:t>8/08/2020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8D2D198-66CF-46B7-8F4A-5912E9B3E4D0}" type="slidenum">
              <a:rPr lang="en-AU" smtClean="0"/>
              <a:t>‹#›</a:t>
            </a:fld>
            <a:endParaRPr lang="en-AU"/>
          </a:p>
        </p:txBody>
      </p:sp>
    </p:spTree>
    <p:extLst>
      <p:ext uri="{BB962C8B-B14F-4D97-AF65-F5344CB8AC3E}">
        <p14:creationId xmlns:p14="http://schemas.microsoft.com/office/powerpoint/2010/main" val="3156337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9A226D8-5C3E-4D03-A51D-84E186F87901}" type="datetimeFigureOut">
              <a:rPr lang="en-AU" smtClean="0"/>
              <a:t>8/08/2020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8D2D198-66CF-46B7-8F4A-5912E9B3E4D0}" type="slidenum">
              <a:rPr lang="en-AU" smtClean="0"/>
              <a:t>‹#›</a:t>
            </a:fld>
            <a:endParaRPr lang="en-AU"/>
          </a:p>
        </p:txBody>
      </p:sp>
    </p:spTree>
    <p:extLst>
      <p:ext uri="{BB962C8B-B14F-4D97-AF65-F5344CB8AC3E}">
        <p14:creationId xmlns:p14="http://schemas.microsoft.com/office/powerpoint/2010/main" val="643660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9A226D8-5C3E-4D03-A51D-84E186F87901}" type="datetimeFigureOut">
              <a:rPr lang="en-AU" smtClean="0"/>
              <a:t>8/08/2020</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8D2D198-66CF-46B7-8F4A-5912E9B3E4D0}" type="slidenum">
              <a:rPr lang="en-AU" smtClean="0"/>
              <a:t>‹#›</a:t>
            </a:fld>
            <a:endParaRPr lang="en-AU"/>
          </a:p>
        </p:txBody>
      </p:sp>
    </p:spTree>
    <p:extLst>
      <p:ext uri="{BB962C8B-B14F-4D97-AF65-F5344CB8AC3E}">
        <p14:creationId xmlns:p14="http://schemas.microsoft.com/office/powerpoint/2010/main" val="1787028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9A226D8-5C3E-4D03-A51D-84E186F87901}" type="datetimeFigureOut">
              <a:rPr lang="en-AU" smtClean="0"/>
              <a:t>8/08/2020</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8D2D198-66CF-46B7-8F4A-5912E9B3E4D0}" type="slidenum">
              <a:rPr lang="en-AU" smtClean="0"/>
              <a:t>‹#›</a:t>
            </a:fld>
            <a:endParaRPr lang="en-AU"/>
          </a:p>
        </p:txBody>
      </p:sp>
    </p:spTree>
    <p:extLst>
      <p:ext uri="{BB962C8B-B14F-4D97-AF65-F5344CB8AC3E}">
        <p14:creationId xmlns:p14="http://schemas.microsoft.com/office/powerpoint/2010/main" val="1732011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A226D8-5C3E-4D03-A51D-84E186F87901}" type="datetimeFigureOut">
              <a:rPr lang="en-AU" smtClean="0"/>
              <a:t>8/08/2020</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8D2D198-66CF-46B7-8F4A-5912E9B3E4D0}" type="slidenum">
              <a:rPr lang="en-AU" smtClean="0"/>
              <a:t>‹#›</a:t>
            </a:fld>
            <a:endParaRPr lang="en-AU"/>
          </a:p>
        </p:txBody>
      </p:sp>
    </p:spTree>
    <p:extLst>
      <p:ext uri="{BB962C8B-B14F-4D97-AF65-F5344CB8AC3E}">
        <p14:creationId xmlns:p14="http://schemas.microsoft.com/office/powerpoint/2010/main" val="4176074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9A226D8-5C3E-4D03-A51D-84E186F87901}" type="datetimeFigureOut">
              <a:rPr lang="en-AU" smtClean="0"/>
              <a:t>8/08/2020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8D2D198-66CF-46B7-8F4A-5912E9B3E4D0}" type="slidenum">
              <a:rPr lang="en-AU" smtClean="0"/>
              <a:t>‹#›</a:t>
            </a:fld>
            <a:endParaRPr lang="en-AU"/>
          </a:p>
        </p:txBody>
      </p:sp>
    </p:spTree>
    <p:extLst>
      <p:ext uri="{BB962C8B-B14F-4D97-AF65-F5344CB8AC3E}">
        <p14:creationId xmlns:p14="http://schemas.microsoft.com/office/powerpoint/2010/main" val="603326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9A226D8-5C3E-4D03-A51D-84E186F87901}" type="datetimeFigureOut">
              <a:rPr lang="en-AU" smtClean="0"/>
              <a:t>8/08/2020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8D2D198-66CF-46B7-8F4A-5912E9B3E4D0}" type="slidenum">
              <a:rPr lang="en-AU" smtClean="0"/>
              <a:t>‹#›</a:t>
            </a:fld>
            <a:endParaRPr lang="en-AU"/>
          </a:p>
        </p:txBody>
      </p:sp>
    </p:spTree>
    <p:extLst>
      <p:ext uri="{BB962C8B-B14F-4D97-AF65-F5344CB8AC3E}">
        <p14:creationId xmlns:p14="http://schemas.microsoft.com/office/powerpoint/2010/main" val="837659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9A226D8-5C3E-4D03-A51D-84E186F87901}" type="datetimeFigureOut">
              <a:rPr lang="en-AU" smtClean="0"/>
              <a:t>8/08/2020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8D2D198-66CF-46B7-8F4A-5912E9B3E4D0}" type="slidenum">
              <a:rPr lang="en-AU" smtClean="0"/>
              <a:t>‹#›</a:t>
            </a:fld>
            <a:endParaRPr lang="en-AU"/>
          </a:p>
        </p:txBody>
      </p:sp>
    </p:spTree>
    <p:extLst>
      <p:ext uri="{BB962C8B-B14F-4D97-AF65-F5344CB8AC3E}">
        <p14:creationId xmlns:p14="http://schemas.microsoft.com/office/powerpoint/2010/main" val="1996107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9A226D8-5C3E-4D03-A51D-84E186F87901}" type="datetimeFigureOut">
              <a:rPr lang="en-AU" smtClean="0"/>
              <a:t>8/08/2020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8D2D198-66CF-46B7-8F4A-5912E9B3E4D0}" type="slidenum">
              <a:rPr lang="en-AU" smtClean="0"/>
              <a:t>‹#›</a:t>
            </a:fld>
            <a:endParaRPr lang="en-AU"/>
          </a:p>
        </p:txBody>
      </p:sp>
    </p:spTree>
    <p:extLst>
      <p:ext uri="{BB962C8B-B14F-4D97-AF65-F5344CB8AC3E}">
        <p14:creationId xmlns:p14="http://schemas.microsoft.com/office/powerpoint/2010/main" val="806491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A226D8-5C3E-4D03-A51D-84E186F87901}" type="datetimeFigureOut">
              <a:rPr lang="en-AU" smtClean="0"/>
              <a:t>8/08/2020</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D2D198-66CF-46B7-8F4A-5912E9B3E4D0}" type="slidenum">
              <a:rPr lang="en-AU" smtClean="0"/>
              <a:t>‹#›</a:t>
            </a:fld>
            <a:endParaRPr lang="en-AU"/>
          </a:p>
        </p:txBody>
      </p:sp>
    </p:spTree>
    <p:extLst>
      <p:ext uri="{BB962C8B-B14F-4D97-AF65-F5344CB8AC3E}">
        <p14:creationId xmlns:p14="http://schemas.microsoft.com/office/powerpoint/2010/main" val="1536247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i="0" dirty="0" smtClean="0">
                <a:solidFill>
                  <a:srgbClr val="444444"/>
                </a:solidFill>
                <a:effectLst/>
                <a:latin typeface="Arial" panose="020B0604020202020204" pitchFamily="34" charset="0"/>
              </a:rPr>
              <a:t>Refraction of Light Through a Concave Lens</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3489330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5200" y="661938"/>
            <a:ext cx="10807700" cy="2677656"/>
          </a:xfrm>
          <a:prstGeom prst="rect">
            <a:avLst/>
          </a:prstGeom>
        </p:spPr>
        <p:txBody>
          <a:bodyPr wrap="square">
            <a:spAutoFit/>
          </a:bodyPr>
          <a:lstStyle/>
          <a:p>
            <a:r>
              <a:rPr lang="en-AU" sz="2400" b="0" i="0" dirty="0" smtClean="0">
                <a:solidFill>
                  <a:srgbClr val="444444"/>
                </a:solidFill>
                <a:effectLst/>
                <a:latin typeface="Arial" panose="020B0604020202020204" pitchFamily="34" charset="0"/>
              </a:rPr>
              <a:t>When you have completed this lesson you should be able to:</a:t>
            </a:r>
          </a:p>
          <a:p>
            <a:endParaRPr lang="en-AU" sz="2400" b="0" i="0" dirty="0" smtClean="0">
              <a:solidFill>
                <a:srgbClr val="444444"/>
              </a:solidFill>
              <a:effectLst/>
              <a:latin typeface="Arial" panose="020B0604020202020204" pitchFamily="34" charset="0"/>
            </a:endParaRPr>
          </a:p>
          <a:p>
            <a:pPr>
              <a:buFont typeface="Arial" panose="020B0604020202020204" pitchFamily="34" charset="0"/>
              <a:buChar char="•"/>
            </a:pPr>
            <a:r>
              <a:rPr lang="en-AU" sz="2400" b="1" i="0" dirty="0" smtClean="0">
                <a:solidFill>
                  <a:srgbClr val="48927C"/>
                </a:solidFill>
                <a:effectLst/>
                <a:latin typeface="Arial" panose="020B0604020202020204" pitchFamily="34" charset="0"/>
              </a:rPr>
              <a:t>Understand</a:t>
            </a:r>
            <a:r>
              <a:rPr lang="en-AU" sz="2400" b="0" i="0" dirty="0" smtClean="0">
                <a:solidFill>
                  <a:srgbClr val="444444"/>
                </a:solidFill>
                <a:effectLst/>
                <a:latin typeface="Arial" panose="020B0604020202020204" pitchFamily="34" charset="0"/>
              </a:rPr>
              <a:t> the behaviour of </a:t>
            </a:r>
            <a:r>
              <a:rPr lang="en-AU" sz="2400" b="1" i="0" dirty="0" smtClean="0">
                <a:solidFill>
                  <a:srgbClr val="642DBF"/>
                </a:solidFill>
                <a:effectLst/>
                <a:latin typeface="Arial" panose="020B0604020202020204" pitchFamily="34" charset="0"/>
              </a:rPr>
              <a:t>three principal rays</a:t>
            </a:r>
            <a:r>
              <a:rPr lang="en-AU" sz="2400" b="0" i="0" dirty="0" smtClean="0">
                <a:solidFill>
                  <a:srgbClr val="444444"/>
                </a:solidFill>
                <a:effectLst/>
                <a:latin typeface="Arial" panose="020B0604020202020204" pitchFamily="34" charset="0"/>
              </a:rPr>
              <a:t> drawn when creating a ray diagram.</a:t>
            </a:r>
          </a:p>
          <a:p>
            <a:pPr>
              <a:buFont typeface="Arial" panose="020B0604020202020204" pitchFamily="34" charset="0"/>
              <a:buChar char="•"/>
            </a:pPr>
            <a:r>
              <a:rPr lang="en-AU" sz="2400" b="1" i="0" dirty="0" smtClean="0">
                <a:solidFill>
                  <a:srgbClr val="3770C7"/>
                </a:solidFill>
                <a:effectLst/>
                <a:latin typeface="Arial" panose="020B0604020202020204" pitchFamily="34" charset="0"/>
              </a:rPr>
              <a:t>Draw ray diagrams</a:t>
            </a:r>
            <a:r>
              <a:rPr lang="en-AU" sz="2400" b="0" i="0" dirty="0" smtClean="0">
                <a:solidFill>
                  <a:srgbClr val="444444"/>
                </a:solidFill>
                <a:effectLst/>
                <a:latin typeface="Arial" panose="020B0604020202020204" pitchFamily="34" charset="0"/>
              </a:rPr>
              <a:t> for the refraction of an object through a concave lens.</a:t>
            </a:r>
          </a:p>
          <a:p>
            <a:pPr>
              <a:buFont typeface="Arial" panose="020B0604020202020204" pitchFamily="34" charset="0"/>
              <a:buChar char="•"/>
            </a:pPr>
            <a:r>
              <a:rPr lang="en-AU" sz="2400" b="1" i="0" dirty="0" smtClean="0">
                <a:solidFill>
                  <a:srgbClr val="48927C"/>
                </a:solidFill>
                <a:effectLst/>
                <a:latin typeface="Arial" panose="020B0604020202020204" pitchFamily="34" charset="0"/>
              </a:rPr>
              <a:t>Describe the nature</a:t>
            </a:r>
            <a:r>
              <a:rPr lang="en-AU" sz="2400" b="0" i="0" dirty="0" smtClean="0">
                <a:solidFill>
                  <a:srgbClr val="444444"/>
                </a:solidFill>
                <a:effectLst/>
                <a:latin typeface="Arial" panose="020B0604020202020204" pitchFamily="34" charset="0"/>
              </a:rPr>
              <a:t> of the image produced by a concave lens </a:t>
            </a:r>
            <a:r>
              <a:rPr lang="en-AU" sz="2400" b="1" i="0" dirty="0" smtClean="0">
                <a:solidFill>
                  <a:srgbClr val="3770C7"/>
                </a:solidFill>
                <a:effectLst/>
                <a:latin typeface="Arial" panose="020B0604020202020204" pitchFamily="34" charset="0"/>
              </a:rPr>
              <a:t>given the location of the object.</a:t>
            </a:r>
            <a:endParaRPr lang="en-AU" sz="2400" b="0" i="0" dirty="0">
              <a:solidFill>
                <a:srgbClr val="444444"/>
              </a:solidFill>
              <a:effectLst/>
              <a:latin typeface="Arial" panose="020B0604020202020204" pitchFamily="34" charset="0"/>
            </a:endParaRPr>
          </a:p>
        </p:txBody>
      </p:sp>
      <p:pic>
        <p:nvPicPr>
          <p:cNvPr id="1026" name="Picture 2" descr="https://www.educationperfect.com/media/content/German/1464133579.71281g/1464133620600-1711273688390768-optimis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4175" y="3597275"/>
            <a:ext cx="4762500" cy="3143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1805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3900" y="366236"/>
            <a:ext cx="11049000" cy="1569660"/>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There are many uses of </a:t>
            </a:r>
            <a:r>
              <a:rPr lang="en-AU" sz="2400" b="1" i="0" dirty="0" smtClean="0">
                <a:solidFill>
                  <a:srgbClr val="642DBF"/>
                </a:solidFill>
                <a:effectLst/>
                <a:latin typeface="Arial" panose="020B0604020202020204" pitchFamily="34" charset="0"/>
              </a:rPr>
              <a:t>concave lenses</a:t>
            </a:r>
            <a:r>
              <a:rPr lang="en-AU" sz="2400" b="1" i="0" dirty="0" smtClean="0">
                <a:solidFill>
                  <a:srgbClr val="444444"/>
                </a:solidFill>
                <a:effectLst/>
                <a:latin typeface="Arial" panose="020B0604020202020204" pitchFamily="34" charset="0"/>
              </a:rPr>
              <a:t> in everyday life.</a:t>
            </a: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The most common example of lenses that we see and use on a day to day basis are the </a:t>
            </a:r>
            <a:r>
              <a:rPr lang="en-AU" sz="2400" b="1" i="0" dirty="0" smtClean="0">
                <a:solidFill>
                  <a:srgbClr val="32B57C"/>
                </a:solidFill>
                <a:effectLst/>
                <a:latin typeface="Arial" panose="020B0604020202020204" pitchFamily="34" charset="0"/>
              </a:rPr>
              <a:t>lenses placed in glasses.</a:t>
            </a:r>
            <a:endParaRPr lang="en-AU" sz="2400" b="0" i="0" dirty="0">
              <a:solidFill>
                <a:srgbClr val="444444"/>
              </a:solidFill>
              <a:effectLst/>
              <a:latin typeface="Arial" panose="020B0604020202020204" pitchFamily="34" charset="0"/>
            </a:endParaRPr>
          </a:p>
        </p:txBody>
      </p:sp>
      <p:pic>
        <p:nvPicPr>
          <p:cNvPr id="2050" name="Picture 2" descr="https://www.educationperfect.com/media/content/Science/1585514682.775371g/1585514682701-412807976117594-8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6759" y="1816099"/>
            <a:ext cx="4574541" cy="495937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p:cNvGraphicFramePr>
            <a:graphicFrameLocks noGrp="1"/>
          </p:cNvGraphicFramePr>
          <p:nvPr>
            <p:extLst>
              <p:ext uri="{D42A27DB-BD31-4B8C-83A1-F6EECF244321}">
                <p14:modId xmlns:p14="http://schemas.microsoft.com/office/powerpoint/2010/main" val="1185670906"/>
              </p:ext>
            </p:extLst>
          </p:nvPr>
        </p:nvGraphicFramePr>
        <p:xfrm>
          <a:off x="365125" y="2318544"/>
          <a:ext cx="6835775" cy="3406140"/>
        </p:xfrm>
        <a:graphic>
          <a:graphicData uri="http://schemas.openxmlformats.org/drawingml/2006/table">
            <a:tbl>
              <a:tblPr/>
              <a:tblGrid>
                <a:gridCol w="6835775">
                  <a:extLst>
                    <a:ext uri="{9D8B030D-6E8A-4147-A177-3AD203B41FA5}">
                      <a16:colId xmlns:a16="http://schemas.microsoft.com/office/drawing/2014/main" val="1125843863"/>
                    </a:ext>
                  </a:extLst>
                </a:gridCol>
              </a:tblGrid>
              <a:tr h="0">
                <a:tc>
                  <a:txBody>
                    <a:bodyPr/>
                    <a:lstStyle/>
                    <a:p>
                      <a:pPr algn="l" fontAlgn="ctr"/>
                      <a:r>
                        <a:rPr lang="en-AU" sz="2400" dirty="0">
                          <a:effectLst/>
                        </a:rPr>
                        <a:t>If you suffer from </a:t>
                      </a:r>
                      <a:r>
                        <a:rPr lang="en-AU" sz="2400" b="1" dirty="0">
                          <a:solidFill>
                            <a:srgbClr val="642DBF"/>
                          </a:solidFill>
                          <a:effectLst/>
                        </a:rPr>
                        <a:t>short-sightedness or myopia</a:t>
                      </a:r>
                      <a:r>
                        <a:rPr lang="en-AU" sz="2400" dirty="0">
                          <a:effectLst/>
                        </a:rPr>
                        <a:t> (meaning you are unable to focus on far away objects), then light entering your eye will </a:t>
                      </a:r>
                      <a:r>
                        <a:rPr lang="en-AU" sz="2400" b="1" dirty="0">
                          <a:solidFill>
                            <a:srgbClr val="32B57C"/>
                          </a:solidFill>
                          <a:effectLst/>
                        </a:rPr>
                        <a:t>focus in front of your retina.</a:t>
                      </a:r>
                      <a:r>
                        <a:rPr lang="en-AU" sz="2400" dirty="0">
                          <a:effectLst/>
                        </a:rPr>
                        <a:t> This could be due to a long eyeball or an inability of the lens in your eye to focus correctly. Short-sightedness is corrected by using </a:t>
                      </a:r>
                      <a:r>
                        <a:rPr lang="en-AU" sz="2400" b="1" dirty="0">
                          <a:solidFill>
                            <a:srgbClr val="642DBF"/>
                          </a:solidFill>
                          <a:effectLst/>
                        </a:rPr>
                        <a:t>glasses that contain concave lenses,</a:t>
                      </a:r>
                      <a:r>
                        <a:rPr lang="en-AU" sz="2400" dirty="0">
                          <a:effectLst/>
                        </a:rPr>
                        <a:t> which </a:t>
                      </a:r>
                      <a:r>
                        <a:rPr lang="en-AU" sz="2400" b="1" dirty="0">
                          <a:solidFill>
                            <a:srgbClr val="32B57C"/>
                          </a:solidFill>
                          <a:effectLst/>
                        </a:rPr>
                        <a:t>focus the light on your retina,</a:t>
                      </a:r>
                      <a:r>
                        <a:rPr lang="en-AU" sz="2400" dirty="0">
                          <a:effectLst/>
                        </a:rPr>
                        <a:t> resulting in sharp images being formed.</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2454345785"/>
                  </a:ext>
                </a:extLst>
              </a:tr>
            </a:tbl>
          </a:graphicData>
        </a:graphic>
      </p:graphicFrame>
    </p:spTree>
    <p:extLst>
      <p:ext uri="{BB962C8B-B14F-4D97-AF65-F5344CB8AC3E}">
        <p14:creationId xmlns:p14="http://schemas.microsoft.com/office/powerpoint/2010/main" val="1422665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257939"/>
            <a:ext cx="11468100" cy="3046988"/>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What is a </a:t>
            </a:r>
            <a:r>
              <a:rPr lang="en-AU" sz="2400" b="1" i="0" dirty="0" smtClean="0">
                <a:solidFill>
                  <a:srgbClr val="3598DC"/>
                </a:solidFill>
                <a:effectLst/>
                <a:latin typeface="Arial" panose="020B0604020202020204" pitchFamily="34" charset="0"/>
              </a:rPr>
              <a:t>concave lens?</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A lens is made from </a:t>
            </a:r>
            <a:r>
              <a:rPr lang="en-AU" sz="2400" b="1" i="0" dirty="0" smtClean="0">
                <a:solidFill>
                  <a:srgbClr val="B1067D"/>
                </a:solidFill>
                <a:effectLst/>
                <a:latin typeface="Arial" panose="020B0604020202020204" pitchFamily="34" charset="0"/>
              </a:rPr>
              <a:t>transparent material,</a:t>
            </a:r>
            <a:r>
              <a:rPr lang="en-AU" sz="2400" b="0" i="0" dirty="0" smtClean="0">
                <a:solidFill>
                  <a:srgbClr val="444444"/>
                </a:solidFill>
                <a:effectLst/>
                <a:latin typeface="Arial" panose="020B0604020202020204" pitchFamily="34" charset="0"/>
              </a:rPr>
              <a:t> which light can pass through. A lens can be shaped so that the light passing through it will </a:t>
            </a:r>
            <a:r>
              <a:rPr lang="en-AU" sz="2400" b="1" i="0" dirty="0" smtClean="0">
                <a:solidFill>
                  <a:srgbClr val="3598DC"/>
                </a:solidFill>
                <a:effectLst/>
                <a:latin typeface="Arial" panose="020B0604020202020204" pitchFamily="34" charset="0"/>
              </a:rPr>
              <a:t>bend in a particular way.</a:t>
            </a:r>
            <a:endParaRPr lang="en-AU" sz="2400" b="0"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A concave lens is a piece of transparent material that is </a:t>
            </a:r>
            <a:r>
              <a:rPr lang="en-AU" sz="2400" b="1" i="0" dirty="0" smtClean="0">
                <a:solidFill>
                  <a:srgbClr val="B1067D"/>
                </a:solidFill>
                <a:effectLst/>
                <a:latin typeface="Arial" panose="020B0604020202020204" pitchFamily="34" charset="0"/>
              </a:rPr>
              <a:t>thicker at the edges</a:t>
            </a:r>
            <a:r>
              <a:rPr lang="en-AU" sz="2400" b="0" i="0" dirty="0" smtClean="0">
                <a:solidFill>
                  <a:srgbClr val="444444"/>
                </a:solidFill>
                <a:effectLst/>
                <a:latin typeface="Arial" panose="020B0604020202020204" pitchFamily="34" charset="0"/>
              </a:rPr>
              <a:t> than it is in the middle. It can be identified as a lens that </a:t>
            </a:r>
            <a:r>
              <a:rPr lang="en-AU" sz="2400" b="1" i="0" dirty="0" smtClean="0">
                <a:solidFill>
                  <a:srgbClr val="3598DC"/>
                </a:solidFill>
                <a:effectLst/>
                <a:latin typeface="Arial" panose="020B0604020202020204" pitchFamily="34" charset="0"/>
              </a:rPr>
              <a:t>curves inwards in the middle,</a:t>
            </a:r>
            <a:r>
              <a:rPr lang="en-AU" sz="2400" b="0" i="0" dirty="0" smtClean="0">
                <a:solidFill>
                  <a:srgbClr val="444444"/>
                </a:solidFill>
                <a:effectLst/>
                <a:latin typeface="Arial" panose="020B0604020202020204" pitchFamily="34" charset="0"/>
              </a:rPr>
              <a:t> much like an hourglass.</a:t>
            </a:r>
            <a:endParaRPr lang="en-AU" sz="2400" b="0" i="0" dirty="0">
              <a:solidFill>
                <a:srgbClr val="444444"/>
              </a:solidFill>
              <a:effectLst/>
              <a:latin typeface="Arial" panose="020B0604020202020204" pitchFamily="34" charset="0"/>
            </a:endParaRPr>
          </a:p>
        </p:txBody>
      </p:sp>
      <p:pic>
        <p:nvPicPr>
          <p:cNvPr id="3074" name="Picture 2" descr="https://www.educationperfect.com/media/content/Science/1584483541.380141g/1584483543130-922062741539059-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696" y="3670300"/>
            <a:ext cx="1406804" cy="28638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www.educationperfect.com/media/content/Geography/1533081284.417821g/1533081282286-2305726305268050-4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6300" y="3667125"/>
            <a:ext cx="3810000" cy="2867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4397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6700" y="202337"/>
            <a:ext cx="11722100" cy="1938992"/>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Why does </a:t>
            </a:r>
            <a:r>
              <a:rPr lang="en-AU" sz="2400" b="1" i="0" dirty="0" smtClean="0">
                <a:solidFill>
                  <a:srgbClr val="3598DC"/>
                </a:solidFill>
                <a:effectLst/>
                <a:latin typeface="Arial" panose="020B0604020202020204" pitchFamily="34" charset="0"/>
              </a:rPr>
              <a:t>light bend</a:t>
            </a:r>
            <a:r>
              <a:rPr lang="en-AU" sz="2400" b="1" i="0" dirty="0" smtClean="0">
                <a:solidFill>
                  <a:srgbClr val="444444"/>
                </a:solidFill>
                <a:effectLst/>
                <a:latin typeface="Arial" panose="020B0604020202020204" pitchFamily="34" charset="0"/>
              </a:rPr>
              <a:t> as it passes through a lens?</a:t>
            </a: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We know that light bends or refracts as it passes between two mediums that have different indices of refraction. Most lenses are made from plastic or glass which have </a:t>
            </a:r>
            <a:r>
              <a:rPr lang="en-AU" sz="2400" b="1" i="0" dirty="0" smtClean="0">
                <a:solidFill>
                  <a:srgbClr val="32B57C"/>
                </a:solidFill>
                <a:effectLst/>
                <a:latin typeface="Arial" panose="020B0604020202020204" pitchFamily="34" charset="0"/>
              </a:rPr>
              <a:t>higher indices of refraction than air.</a:t>
            </a:r>
            <a:endParaRPr lang="en-AU" sz="2400" b="0" i="0" dirty="0">
              <a:solidFill>
                <a:srgbClr val="444444"/>
              </a:solidFill>
              <a:effectLst/>
              <a:latin typeface="Arial" panose="020B0604020202020204" pitchFamily="34" charset="0"/>
            </a:endParaRPr>
          </a:p>
        </p:txBody>
      </p:sp>
      <p:sp>
        <p:nvSpPr>
          <p:cNvPr id="3" name="Rectangle 2"/>
          <p:cNvSpPr/>
          <p:nvPr/>
        </p:nvSpPr>
        <p:spPr>
          <a:xfrm>
            <a:off x="266700" y="2141329"/>
            <a:ext cx="11722100" cy="2308324"/>
          </a:xfrm>
          <a:prstGeom prst="rect">
            <a:avLst/>
          </a:prstGeom>
        </p:spPr>
        <p:txBody>
          <a:bodyPr wrap="square">
            <a:spAutoFit/>
          </a:bodyPr>
          <a:lstStyle/>
          <a:p>
            <a:r>
              <a:rPr lang="en-AU" sz="2400" b="0" i="0" dirty="0" smtClean="0">
                <a:solidFill>
                  <a:srgbClr val="444444"/>
                </a:solidFill>
                <a:effectLst/>
                <a:latin typeface="Arial" panose="020B0604020202020204" pitchFamily="34" charset="0"/>
              </a:rPr>
              <a:t>As light enters the lens it goes into a region with a </a:t>
            </a:r>
            <a:r>
              <a:rPr lang="en-AU" sz="2400" b="1" i="0" dirty="0" smtClean="0">
                <a:solidFill>
                  <a:srgbClr val="32B57C"/>
                </a:solidFill>
                <a:effectLst/>
                <a:latin typeface="Arial" panose="020B0604020202020204" pitchFamily="34" charset="0"/>
              </a:rPr>
              <a:t>higher refractive index</a:t>
            </a:r>
            <a:r>
              <a:rPr lang="en-AU" sz="2400" b="0" i="0" dirty="0" smtClean="0">
                <a:solidFill>
                  <a:srgbClr val="444444"/>
                </a:solidFill>
                <a:effectLst/>
                <a:latin typeface="Arial" panose="020B0604020202020204" pitchFamily="34" charset="0"/>
              </a:rPr>
              <a:t> and therefore bends towards the normal. Similarly, as light leaves the lens it goes into a region with a </a:t>
            </a:r>
            <a:r>
              <a:rPr lang="en-AU" sz="2400" b="1" i="0" dirty="0" smtClean="0">
                <a:solidFill>
                  <a:srgbClr val="642DBF"/>
                </a:solidFill>
                <a:effectLst/>
                <a:latin typeface="Arial" panose="020B0604020202020204" pitchFamily="34" charset="0"/>
              </a:rPr>
              <a:t>lower refractive index</a:t>
            </a:r>
            <a:r>
              <a:rPr lang="en-AU" sz="2400" b="0" i="0" dirty="0" smtClean="0">
                <a:solidFill>
                  <a:srgbClr val="444444"/>
                </a:solidFill>
                <a:effectLst/>
                <a:latin typeface="Arial" panose="020B0604020202020204" pitchFamily="34" charset="0"/>
              </a:rPr>
              <a:t> and bends </a:t>
            </a:r>
            <a:r>
              <a:rPr lang="en-AU" sz="2400" b="1" i="0" dirty="0" smtClean="0">
                <a:solidFill>
                  <a:srgbClr val="642DBF"/>
                </a:solidFill>
                <a:effectLst/>
                <a:latin typeface="Arial" panose="020B0604020202020204" pitchFamily="34" charset="0"/>
              </a:rPr>
              <a:t>away from the normal.</a:t>
            </a:r>
            <a:r>
              <a:rPr lang="en-AU" sz="2400" b="0" i="0" dirty="0" smtClean="0">
                <a:solidFill>
                  <a:srgbClr val="444444"/>
                </a:solidFill>
                <a:effectLst/>
                <a:latin typeface="Arial" panose="020B0604020202020204" pitchFamily="34" charset="0"/>
              </a:rPr>
              <a:t> If we consider the light ray before it entered the lens and the light ray after it exits the lens, we can see it is </a:t>
            </a:r>
            <a:r>
              <a:rPr lang="en-AU" sz="2400" b="1" i="0" dirty="0" smtClean="0">
                <a:solidFill>
                  <a:srgbClr val="3598DC"/>
                </a:solidFill>
                <a:effectLst/>
                <a:latin typeface="Arial" panose="020B0604020202020204" pitchFamily="34" charset="0"/>
              </a:rPr>
              <a:t>travelling in a different direction</a:t>
            </a:r>
            <a:r>
              <a:rPr lang="en-AU" sz="2400" b="0" i="0" dirty="0" smtClean="0">
                <a:solidFill>
                  <a:srgbClr val="444444"/>
                </a:solidFill>
                <a:effectLst/>
                <a:latin typeface="Arial" panose="020B0604020202020204" pitchFamily="34" charset="0"/>
              </a:rPr>
              <a:t> and has therefore </a:t>
            </a:r>
            <a:r>
              <a:rPr lang="en-AU" sz="2400" b="1" i="0" dirty="0" smtClean="0">
                <a:solidFill>
                  <a:srgbClr val="3598DC"/>
                </a:solidFill>
                <a:effectLst/>
                <a:latin typeface="Arial" panose="020B0604020202020204" pitchFamily="34" charset="0"/>
              </a:rPr>
              <a:t>undergone refraction</a:t>
            </a:r>
            <a:r>
              <a:rPr lang="en-AU" sz="2400" b="0" i="0" dirty="0" smtClean="0">
                <a:solidFill>
                  <a:srgbClr val="444444"/>
                </a:solidFill>
                <a:effectLst/>
                <a:latin typeface="Arial" panose="020B0604020202020204" pitchFamily="34" charset="0"/>
              </a:rPr>
              <a:t> from the lens.</a:t>
            </a:r>
            <a:endParaRPr lang="en-AU" sz="2400" dirty="0"/>
          </a:p>
        </p:txBody>
      </p:sp>
      <p:pic>
        <p:nvPicPr>
          <p:cNvPr id="4098" name="Picture 2" descr="https://www.educationperfect.com/media/content/Science/1585595179.948751g/1585595180105-1072015529437768-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5000" y="4270171"/>
            <a:ext cx="3241675" cy="2414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2014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500" y="0"/>
            <a:ext cx="11722100" cy="1938992"/>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A concave lens is a type of </a:t>
            </a:r>
            <a:r>
              <a:rPr lang="en-AU" sz="2400" b="1" i="0" dirty="0" smtClean="0">
                <a:solidFill>
                  <a:srgbClr val="8C4AB2"/>
                </a:solidFill>
                <a:effectLst/>
                <a:latin typeface="Arial" panose="020B0604020202020204" pitchFamily="34" charset="0"/>
              </a:rPr>
              <a:t>diverging lens.</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This means light rays coming from a </a:t>
            </a:r>
            <a:r>
              <a:rPr lang="en-AU" sz="2400" b="1" i="0" dirty="0" smtClean="0">
                <a:solidFill>
                  <a:srgbClr val="8C4AB2"/>
                </a:solidFill>
                <a:effectLst/>
                <a:latin typeface="Arial" panose="020B0604020202020204" pitchFamily="34" charset="0"/>
              </a:rPr>
              <a:t>distant source</a:t>
            </a:r>
            <a:r>
              <a:rPr lang="en-AU" sz="2400" b="0" i="0" dirty="0" smtClean="0">
                <a:solidFill>
                  <a:srgbClr val="444444"/>
                </a:solidFill>
                <a:effectLst/>
                <a:latin typeface="Arial" panose="020B0604020202020204" pitchFamily="34" charset="0"/>
              </a:rPr>
              <a:t> (which are considered to be parallel to each other) enter the lens and get </a:t>
            </a:r>
            <a:r>
              <a:rPr lang="en-AU" sz="2400" b="1" i="0" dirty="0" smtClean="0">
                <a:solidFill>
                  <a:srgbClr val="32B57C"/>
                </a:solidFill>
                <a:effectLst/>
                <a:latin typeface="Arial" panose="020B0604020202020204" pitchFamily="34" charset="0"/>
              </a:rPr>
              <a:t>refracted outwards.</a:t>
            </a:r>
            <a:r>
              <a:rPr lang="en-AU" sz="2400" b="0" i="0" dirty="0" smtClean="0">
                <a:solidFill>
                  <a:srgbClr val="444444"/>
                </a:solidFill>
                <a:effectLst/>
                <a:latin typeface="Arial" panose="020B0604020202020204" pitchFamily="34" charset="0"/>
              </a:rPr>
              <a:t> These refracted rays </a:t>
            </a:r>
            <a:r>
              <a:rPr lang="en-AU" sz="2400" b="1" i="0" dirty="0" smtClean="0">
                <a:solidFill>
                  <a:srgbClr val="32B57C"/>
                </a:solidFill>
                <a:effectLst/>
                <a:latin typeface="Arial" panose="020B0604020202020204" pitchFamily="34" charset="0"/>
              </a:rPr>
              <a:t>all spread away (diverge)</a:t>
            </a:r>
            <a:r>
              <a:rPr lang="en-AU" sz="2400" b="0" i="0" dirty="0" smtClean="0">
                <a:solidFill>
                  <a:srgbClr val="444444"/>
                </a:solidFill>
                <a:effectLst/>
                <a:latin typeface="Arial" panose="020B0604020202020204" pitchFamily="34" charset="0"/>
              </a:rPr>
              <a:t> from each other on the other side of the lens.</a:t>
            </a:r>
            <a:endParaRPr lang="en-AU" sz="2400" b="0" i="0" dirty="0">
              <a:solidFill>
                <a:srgbClr val="444444"/>
              </a:solidFill>
              <a:effectLst/>
              <a:latin typeface="Arial" panose="020B0604020202020204" pitchFamily="34" charset="0"/>
            </a:endParaRPr>
          </a:p>
        </p:txBody>
      </p:sp>
      <p:sp>
        <p:nvSpPr>
          <p:cNvPr id="3" name="Rectangle 2"/>
          <p:cNvSpPr/>
          <p:nvPr/>
        </p:nvSpPr>
        <p:spPr>
          <a:xfrm>
            <a:off x="190500" y="2143036"/>
            <a:ext cx="12001500" cy="830997"/>
          </a:xfrm>
          <a:prstGeom prst="rect">
            <a:avLst/>
          </a:prstGeom>
        </p:spPr>
        <p:txBody>
          <a:bodyPr wrap="square">
            <a:spAutoFit/>
          </a:bodyPr>
          <a:lstStyle/>
          <a:p>
            <a:r>
              <a:rPr lang="en-AU" sz="2400" b="0" i="0" dirty="0" smtClean="0">
                <a:solidFill>
                  <a:srgbClr val="444444"/>
                </a:solidFill>
                <a:effectLst/>
                <a:latin typeface="Arial" panose="020B0604020202020204" pitchFamily="34" charset="0"/>
              </a:rPr>
              <a:t>We can </a:t>
            </a:r>
            <a:r>
              <a:rPr lang="en-AU" sz="2400" b="1" i="0" dirty="0" smtClean="0">
                <a:solidFill>
                  <a:srgbClr val="3598DC"/>
                </a:solidFill>
                <a:effectLst/>
                <a:latin typeface="Arial" panose="020B0604020202020204" pitchFamily="34" charset="0"/>
              </a:rPr>
              <a:t>trace these refracted rays in front of the lens,</a:t>
            </a:r>
            <a:r>
              <a:rPr lang="en-AU" sz="2400" b="0" i="0" dirty="0" smtClean="0">
                <a:solidFill>
                  <a:srgbClr val="444444"/>
                </a:solidFill>
                <a:effectLst/>
                <a:latin typeface="Arial" panose="020B0604020202020204" pitchFamily="34" charset="0"/>
              </a:rPr>
              <a:t> to show them all converging on one spot. This shows where the refracted light rays </a:t>
            </a:r>
            <a:r>
              <a:rPr lang="en-AU" sz="2400" b="1" i="0" dirty="0" smtClean="0">
                <a:solidFill>
                  <a:srgbClr val="32B57C"/>
                </a:solidFill>
                <a:effectLst/>
                <a:latin typeface="Arial" panose="020B0604020202020204" pitchFamily="34" charset="0"/>
              </a:rPr>
              <a:t>appear to have come from.</a:t>
            </a:r>
            <a:endParaRPr lang="en-AU" sz="2400" dirty="0"/>
          </a:p>
        </p:txBody>
      </p:sp>
      <p:sp>
        <p:nvSpPr>
          <p:cNvPr id="4" name="Rectangle 3"/>
          <p:cNvSpPr/>
          <p:nvPr/>
        </p:nvSpPr>
        <p:spPr>
          <a:xfrm>
            <a:off x="190500" y="2974033"/>
            <a:ext cx="11620500" cy="1200329"/>
          </a:xfrm>
          <a:prstGeom prst="rect">
            <a:avLst/>
          </a:prstGeom>
        </p:spPr>
        <p:txBody>
          <a:bodyPr wrap="square">
            <a:spAutoFit/>
          </a:bodyPr>
          <a:lstStyle/>
          <a:p>
            <a:r>
              <a:rPr lang="en-AU" sz="2400" b="0" i="0" dirty="0" smtClean="0">
                <a:solidFill>
                  <a:srgbClr val="444444"/>
                </a:solidFill>
                <a:effectLst/>
                <a:latin typeface="Arial" panose="020B0604020202020204" pitchFamily="34" charset="0"/>
              </a:rPr>
              <a:t>When we trace light rays in front of a lens, we </a:t>
            </a:r>
            <a:r>
              <a:rPr lang="en-AU" sz="2400" b="1" i="0" dirty="0" smtClean="0">
                <a:solidFill>
                  <a:srgbClr val="3598DC"/>
                </a:solidFill>
                <a:effectLst/>
                <a:latin typeface="Arial" panose="020B0604020202020204" pitchFamily="34" charset="0"/>
              </a:rPr>
              <a:t>draw them as dotted lines.</a:t>
            </a:r>
            <a:r>
              <a:rPr lang="en-AU" sz="2400" b="0" i="0" dirty="0" smtClean="0">
                <a:solidFill>
                  <a:srgbClr val="444444"/>
                </a:solidFill>
                <a:effectLst/>
                <a:latin typeface="Arial" panose="020B0604020202020204" pitchFamily="34" charset="0"/>
              </a:rPr>
              <a:t> This helps us identify them as </a:t>
            </a:r>
            <a:r>
              <a:rPr lang="en-AU" sz="2400" b="1" i="0" dirty="0" smtClean="0">
                <a:solidFill>
                  <a:srgbClr val="8C4AB2"/>
                </a:solidFill>
                <a:effectLst/>
                <a:latin typeface="Arial" panose="020B0604020202020204" pitchFamily="34" charset="0"/>
              </a:rPr>
              <a:t>virtual light rays</a:t>
            </a:r>
            <a:r>
              <a:rPr lang="en-AU" sz="2400" b="0" i="0" dirty="0" smtClean="0">
                <a:solidFill>
                  <a:srgbClr val="444444"/>
                </a:solidFill>
                <a:effectLst/>
                <a:latin typeface="Arial" panose="020B0604020202020204" pitchFamily="34" charset="0"/>
              </a:rPr>
              <a:t> (as they cannot travel in front of the lens in reality).</a:t>
            </a:r>
            <a:endParaRPr lang="en-AU" sz="2400" dirty="0"/>
          </a:p>
        </p:txBody>
      </p:sp>
      <p:pic>
        <p:nvPicPr>
          <p:cNvPr id="5122" name="Picture 2" descr="https://www.educationperfect.com/media/content/Science/1585595091.420641g/1585595091530-1072015529437768-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805030"/>
            <a:ext cx="4616450" cy="2960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8140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0"/>
            <a:ext cx="11696700" cy="4154984"/>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 spot where all of the </a:t>
            </a:r>
            <a:r>
              <a:rPr lang="en-AU" sz="2400" b="1" i="0" dirty="0" smtClean="0">
                <a:solidFill>
                  <a:srgbClr val="3598DC"/>
                </a:solidFill>
                <a:effectLst/>
                <a:latin typeface="Arial" panose="020B0604020202020204" pitchFamily="34" charset="0"/>
              </a:rPr>
              <a:t>refracted light rays converge</a:t>
            </a:r>
            <a:r>
              <a:rPr lang="en-AU" sz="2400" b="1" i="0" dirty="0" smtClean="0">
                <a:solidFill>
                  <a:srgbClr val="444444"/>
                </a:solidFill>
                <a:effectLst/>
                <a:latin typeface="Arial" panose="020B0604020202020204" pitchFamily="34" charset="0"/>
              </a:rPr>
              <a:t> is called the </a:t>
            </a:r>
            <a:r>
              <a:rPr lang="en-AU" sz="2400" b="1" i="0" dirty="0" smtClean="0">
                <a:solidFill>
                  <a:srgbClr val="32B57C"/>
                </a:solidFill>
                <a:effectLst/>
                <a:latin typeface="Arial" panose="020B0604020202020204" pitchFamily="34" charset="0"/>
              </a:rPr>
              <a:t>focus</a:t>
            </a:r>
            <a:r>
              <a:rPr lang="en-AU" sz="2400" b="1" i="0" dirty="0" smtClean="0">
                <a:solidFill>
                  <a:srgbClr val="444444"/>
                </a:solidFill>
                <a:effectLst/>
                <a:latin typeface="Arial" panose="020B0604020202020204" pitchFamily="34" charset="0"/>
              </a:rPr>
              <a:t> of a lens.</a:t>
            </a: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The focus of a concave lens is </a:t>
            </a:r>
            <a:r>
              <a:rPr lang="en-AU" sz="2400" b="1" i="0" dirty="0" smtClean="0">
                <a:solidFill>
                  <a:srgbClr val="3598DC"/>
                </a:solidFill>
                <a:effectLst/>
                <a:latin typeface="Arial" panose="020B0604020202020204" pitchFamily="34" charset="0"/>
              </a:rPr>
              <a:t>located in front of the lens</a:t>
            </a:r>
            <a:r>
              <a:rPr lang="en-AU" sz="2400" b="0" i="0" dirty="0" smtClean="0">
                <a:solidFill>
                  <a:srgbClr val="444444"/>
                </a:solidFill>
                <a:effectLst/>
                <a:latin typeface="Arial" panose="020B0604020202020204" pitchFamily="34" charset="0"/>
              </a:rPr>
              <a:t> (on the same side as the incident light) and is found by using </a:t>
            </a:r>
            <a:r>
              <a:rPr lang="en-AU" sz="2400" b="1" i="0" dirty="0" smtClean="0">
                <a:solidFill>
                  <a:srgbClr val="32B57C"/>
                </a:solidFill>
                <a:effectLst/>
                <a:latin typeface="Arial" panose="020B0604020202020204" pitchFamily="34" charset="0"/>
              </a:rPr>
              <a:t>virtual light rays.</a:t>
            </a:r>
            <a:r>
              <a:rPr lang="en-AU" sz="2400" b="0" i="0" dirty="0" smtClean="0">
                <a:solidFill>
                  <a:srgbClr val="444444"/>
                </a:solidFill>
                <a:effectLst/>
                <a:latin typeface="Arial" panose="020B0604020202020204" pitchFamily="34" charset="0"/>
              </a:rPr>
              <a:t> For this reason, we often call the focus point on the same side of the lens as the incident light the </a:t>
            </a:r>
            <a:r>
              <a:rPr lang="en-AU" sz="2400" b="1" i="0" dirty="0" smtClean="0">
                <a:solidFill>
                  <a:srgbClr val="3598DC"/>
                </a:solidFill>
                <a:effectLst/>
                <a:latin typeface="Arial" panose="020B0604020202020204" pitchFamily="34" charset="0"/>
              </a:rPr>
              <a:t>virtual focus,</a:t>
            </a:r>
            <a:r>
              <a:rPr lang="en-AU" sz="2400" b="0" i="0" dirty="0" smtClean="0">
                <a:solidFill>
                  <a:srgbClr val="444444"/>
                </a:solidFill>
                <a:effectLst/>
                <a:latin typeface="Arial" panose="020B0604020202020204" pitchFamily="34" charset="0"/>
              </a:rPr>
              <a:t> which is denoted by F.</a:t>
            </a: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The distance between the focus and the edge of the lens is referred to as the </a:t>
            </a:r>
            <a:r>
              <a:rPr lang="en-AU" sz="2400" b="1" i="0" dirty="0" smtClean="0">
                <a:solidFill>
                  <a:srgbClr val="32B57C"/>
                </a:solidFill>
                <a:effectLst/>
                <a:latin typeface="Arial" panose="020B0604020202020204" pitchFamily="34" charset="0"/>
              </a:rPr>
              <a:t>focal length,</a:t>
            </a:r>
            <a:r>
              <a:rPr lang="en-AU" sz="2400" b="0" i="0" dirty="0" smtClean="0">
                <a:solidFill>
                  <a:srgbClr val="444444"/>
                </a:solidFill>
                <a:effectLst/>
                <a:latin typeface="Arial" panose="020B0604020202020204" pitchFamily="34" charset="0"/>
              </a:rPr>
              <a:t> </a:t>
            </a:r>
            <a:r>
              <a:rPr lang="en-AU" sz="2400" b="0" i="1" dirty="0" smtClean="0">
                <a:solidFill>
                  <a:srgbClr val="444444"/>
                </a:solidFill>
                <a:effectLst/>
                <a:latin typeface="KaTeX_Math"/>
              </a:rPr>
              <a:t>f</a:t>
            </a:r>
            <a:r>
              <a:rPr lang="en-AU" sz="2400" b="0" i="0" dirty="0" smtClean="0">
                <a:solidFill>
                  <a:srgbClr val="444444"/>
                </a:solidFill>
                <a:effectLst/>
                <a:latin typeface="KaTeX_Main"/>
              </a:rPr>
              <a:t>.</a:t>
            </a:r>
            <a:r>
              <a:rPr lang="en-AU" sz="2400" b="0" i="0" dirty="0" smtClean="0">
                <a:solidFill>
                  <a:srgbClr val="444444"/>
                </a:solidFill>
                <a:effectLst/>
                <a:latin typeface="Arial" panose="020B0604020202020204" pitchFamily="34" charset="0"/>
              </a:rPr>
              <a:t> </a:t>
            </a:r>
            <a:r>
              <a:rPr lang="en-AU" sz="2400" b="1" i="0" dirty="0" smtClean="0">
                <a:solidFill>
                  <a:srgbClr val="3598DC"/>
                </a:solidFill>
                <a:effectLst/>
                <a:latin typeface="Arial" panose="020B0604020202020204" pitchFamily="34" charset="0"/>
              </a:rPr>
              <a:t>Twice the focus</a:t>
            </a:r>
            <a:r>
              <a:rPr lang="en-AU" sz="2400" b="0" i="0" dirty="0" smtClean="0">
                <a:solidFill>
                  <a:srgbClr val="444444"/>
                </a:solidFill>
                <a:effectLst/>
                <a:latin typeface="Arial" panose="020B0604020202020204" pitchFamily="34" charset="0"/>
              </a:rPr>
              <a:t> of a lens, denoted by 2F, is also included in lens diagrams. This point is located </a:t>
            </a:r>
            <a:r>
              <a:rPr lang="en-AU" sz="2400" b="1" i="0" dirty="0" smtClean="0">
                <a:solidFill>
                  <a:srgbClr val="32B57C"/>
                </a:solidFill>
                <a:effectLst/>
                <a:latin typeface="Arial" panose="020B0604020202020204" pitchFamily="34" charset="0"/>
              </a:rPr>
              <a:t>two focal lengths</a:t>
            </a:r>
            <a:r>
              <a:rPr lang="en-AU" sz="2400" b="0" i="0" dirty="0" smtClean="0">
                <a:solidFill>
                  <a:srgbClr val="444444"/>
                </a:solidFill>
                <a:effectLst/>
                <a:latin typeface="Arial" panose="020B0604020202020204" pitchFamily="34" charset="0"/>
              </a:rPr>
              <a:t> away from the lens.</a:t>
            </a:r>
            <a:endParaRPr lang="en-AU" sz="2400" b="0" i="0" dirty="0">
              <a:solidFill>
                <a:srgbClr val="444444"/>
              </a:solidFill>
              <a:effectLst/>
              <a:latin typeface="Arial" panose="020B0604020202020204" pitchFamily="34" charset="0"/>
            </a:endParaRPr>
          </a:p>
        </p:txBody>
      </p:sp>
      <p:pic>
        <p:nvPicPr>
          <p:cNvPr id="6146" name="Picture 2" descr="https://www.educationperfect.com/media/content/Science/1585595133.967571g/1585595134145-1072015529437768-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8912" y="4152137"/>
            <a:ext cx="4003675" cy="2705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873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800" y="185341"/>
            <a:ext cx="11861800" cy="3785652"/>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Light can pass through </a:t>
            </a:r>
            <a:r>
              <a:rPr lang="en-AU" sz="2400" b="1" i="0" dirty="0" smtClean="0">
                <a:solidFill>
                  <a:srgbClr val="B1067D"/>
                </a:solidFill>
                <a:effectLst/>
                <a:latin typeface="Arial" panose="020B0604020202020204" pitchFamily="34" charset="0"/>
              </a:rPr>
              <a:t>either side of a lens.</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If light is </a:t>
            </a:r>
            <a:r>
              <a:rPr lang="en-AU" sz="2400" b="1" i="0" dirty="0" smtClean="0">
                <a:solidFill>
                  <a:srgbClr val="6773B2"/>
                </a:solidFill>
                <a:effectLst/>
                <a:latin typeface="Arial" panose="020B0604020202020204" pitchFamily="34" charset="0"/>
              </a:rPr>
              <a:t>incident on the lens from the left,</a:t>
            </a:r>
            <a:r>
              <a:rPr lang="en-AU" sz="2400" b="0" i="0" dirty="0" smtClean="0">
                <a:solidFill>
                  <a:srgbClr val="444444"/>
                </a:solidFill>
                <a:effectLst/>
                <a:latin typeface="Arial" panose="020B0604020202020204" pitchFamily="34" charset="0"/>
              </a:rPr>
              <a:t> then the virtual rays will converge at a virtual focus on the left. If light is </a:t>
            </a:r>
            <a:r>
              <a:rPr lang="en-AU" sz="2400" b="1" i="0" dirty="0" smtClean="0">
                <a:solidFill>
                  <a:srgbClr val="6773B2"/>
                </a:solidFill>
                <a:effectLst/>
                <a:latin typeface="Arial" panose="020B0604020202020204" pitchFamily="34" charset="0"/>
              </a:rPr>
              <a:t>incident from the right</a:t>
            </a:r>
            <a:r>
              <a:rPr lang="en-AU" sz="2400" b="0" i="0" dirty="0" smtClean="0">
                <a:solidFill>
                  <a:srgbClr val="444444"/>
                </a:solidFill>
                <a:effectLst/>
                <a:latin typeface="Arial" panose="020B0604020202020204" pitchFamily="34" charset="0"/>
              </a:rPr>
              <a:t> then the virtual rays will converge at a virtual focus on the right. This means every lens will have </a:t>
            </a:r>
            <a:r>
              <a:rPr lang="en-AU" sz="2400" b="1" i="0" dirty="0" smtClean="0">
                <a:solidFill>
                  <a:srgbClr val="B1067D"/>
                </a:solidFill>
                <a:effectLst/>
                <a:latin typeface="Arial" panose="020B0604020202020204" pitchFamily="34" charset="0"/>
              </a:rPr>
              <a:t>two focus points</a:t>
            </a:r>
            <a:r>
              <a:rPr lang="en-AU" sz="2400" b="0" i="0" dirty="0" smtClean="0">
                <a:solidFill>
                  <a:srgbClr val="444444"/>
                </a:solidFill>
                <a:effectLst/>
                <a:latin typeface="Arial" panose="020B0604020202020204" pitchFamily="34" charset="0"/>
              </a:rPr>
              <a:t> and we need to use each of these when creating ray diagrams.</a:t>
            </a: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To simplify this process we will label the focus which is on the </a:t>
            </a:r>
            <a:r>
              <a:rPr lang="en-AU" sz="2400" b="1" i="0" dirty="0" smtClean="0">
                <a:solidFill>
                  <a:srgbClr val="B1067D"/>
                </a:solidFill>
                <a:effectLst/>
                <a:latin typeface="Arial" panose="020B0604020202020204" pitchFamily="34" charset="0"/>
              </a:rPr>
              <a:t>same side as the incident light</a:t>
            </a:r>
            <a:r>
              <a:rPr lang="en-AU" sz="2400" b="0" i="0" dirty="0" smtClean="0">
                <a:solidFill>
                  <a:srgbClr val="444444"/>
                </a:solidFill>
                <a:effectLst/>
                <a:latin typeface="Arial" panose="020B0604020202020204" pitchFamily="34" charset="0"/>
              </a:rPr>
              <a:t> the </a:t>
            </a:r>
            <a:r>
              <a:rPr lang="en-AU" sz="2400" b="1" i="0" dirty="0" smtClean="0">
                <a:solidFill>
                  <a:srgbClr val="B1067D"/>
                </a:solidFill>
                <a:effectLst/>
                <a:latin typeface="Arial" panose="020B0604020202020204" pitchFamily="34" charset="0"/>
              </a:rPr>
              <a:t>virtual focus,</a:t>
            </a:r>
            <a:r>
              <a:rPr lang="en-AU" sz="2400" b="0" i="0" dirty="0" smtClean="0">
                <a:solidFill>
                  <a:srgbClr val="444444"/>
                </a:solidFill>
                <a:effectLst/>
                <a:latin typeface="Arial" panose="020B0604020202020204" pitchFamily="34" charset="0"/>
              </a:rPr>
              <a:t> and the focus which is on the </a:t>
            </a:r>
            <a:r>
              <a:rPr lang="en-AU" sz="2400" b="1" i="0" dirty="0" smtClean="0">
                <a:solidFill>
                  <a:srgbClr val="6773B2"/>
                </a:solidFill>
                <a:effectLst/>
                <a:latin typeface="Arial" panose="020B0604020202020204" pitchFamily="34" charset="0"/>
              </a:rPr>
              <a:t>same side as the refracted light</a:t>
            </a:r>
            <a:r>
              <a:rPr lang="en-AU" sz="2400" b="0" i="0" dirty="0" smtClean="0">
                <a:solidFill>
                  <a:srgbClr val="444444"/>
                </a:solidFill>
                <a:effectLst/>
                <a:latin typeface="Arial" panose="020B0604020202020204" pitchFamily="34" charset="0"/>
              </a:rPr>
              <a:t> the </a:t>
            </a:r>
            <a:r>
              <a:rPr lang="en-AU" sz="2400" b="1" i="0" dirty="0" smtClean="0">
                <a:solidFill>
                  <a:srgbClr val="6773B2"/>
                </a:solidFill>
                <a:effectLst/>
                <a:latin typeface="Arial" panose="020B0604020202020204" pitchFamily="34" charset="0"/>
              </a:rPr>
              <a:t>real focus.</a:t>
            </a:r>
            <a:endParaRPr lang="en-AU" sz="2400" b="0" i="0" dirty="0">
              <a:solidFill>
                <a:srgbClr val="444444"/>
              </a:solidFill>
              <a:effectLst/>
              <a:latin typeface="Arial" panose="020B0604020202020204" pitchFamily="34" charset="0"/>
            </a:endParaRPr>
          </a:p>
        </p:txBody>
      </p:sp>
      <p:pic>
        <p:nvPicPr>
          <p:cNvPr id="7170" name="Picture 2" descr="https://www.educationperfect.com/media/content/Science/1585595148.799261g/1585595148970-1072015529437768-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9000" y="3551985"/>
            <a:ext cx="4910137" cy="3164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8041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9400" y="0"/>
            <a:ext cx="11798300" cy="4493538"/>
          </a:xfrm>
          <a:prstGeom prst="rect">
            <a:avLst/>
          </a:prstGeom>
        </p:spPr>
        <p:txBody>
          <a:bodyPr wrap="square">
            <a:spAutoFit/>
          </a:bodyPr>
          <a:lstStyle/>
          <a:p>
            <a:pPr algn="ctr"/>
            <a:r>
              <a:rPr lang="en-AU" sz="2200" b="1" i="0" dirty="0" smtClean="0">
                <a:solidFill>
                  <a:srgbClr val="444444"/>
                </a:solidFill>
                <a:effectLst/>
                <a:latin typeface="Arial" panose="020B0604020202020204" pitchFamily="34" charset="0"/>
              </a:rPr>
              <a:t>A </a:t>
            </a:r>
            <a:r>
              <a:rPr lang="en-AU" sz="2200" b="1" i="0" dirty="0" smtClean="0">
                <a:solidFill>
                  <a:srgbClr val="32B57C"/>
                </a:solidFill>
                <a:effectLst/>
                <a:latin typeface="Arial" panose="020B0604020202020204" pitchFamily="34" charset="0"/>
              </a:rPr>
              <a:t>ray diagram</a:t>
            </a:r>
            <a:r>
              <a:rPr lang="en-AU" sz="2200" b="1" i="0" dirty="0" smtClean="0">
                <a:solidFill>
                  <a:srgbClr val="444444"/>
                </a:solidFill>
                <a:effectLst/>
                <a:latin typeface="Arial" panose="020B0604020202020204" pitchFamily="34" charset="0"/>
              </a:rPr>
              <a:t> is a drawing which can be used to describe the </a:t>
            </a:r>
            <a:r>
              <a:rPr lang="en-AU" sz="2200" b="1" i="0" dirty="0" smtClean="0">
                <a:solidFill>
                  <a:srgbClr val="8C4AB2"/>
                </a:solidFill>
                <a:effectLst/>
                <a:latin typeface="Arial" panose="020B0604020202020204" pitchFamily="34" charset="0"/>
              </a:rPr>
              <a:t>image formed by a concave lens.</a:t>
            </a:r>
            <a:endParaRPr lang="en-AU" sz="2200" b="1" i="0" dirty="0" smtClean="0">
              <a:solidFill>
                <a:srgbClr val="444444"/>
              </a:solidFill>
              <a:effectLst/>
              <a:latin typeface="Arial" panose="020B0604020202020204" pitchFamily="34" charset="0"/>
            </a:endParaRPr>
          </a:p>
          <a:p>
            <a:pPr algn="ctr"/>
            <a:r>
              <a:rPr lang="en-AU" sz="2200" b="0" i="0" dirty="0" smtClean="0">
                <a:solidFill>
                  <a:srgbClr val="444444"/>
                </a:solidFill>
                <a:effectLst/>
                <a:latin typeface="Arial" panose="020B0604020202020204" pitchFamily="34" charset="0"/>
              </a:rPr>
              <a:t> </a:t>
            </a:r>
          </a:p>
          <a:p>
            <a:r>
              <a:rPr lang="en-AU" sz="2200" b="0" i="0" dirty="0" smtClean="0">
                <a:solidFill>
                  <a:srgbClr val="444444"/>
                </a:solidFill>
                <a:effectLst/>
                <a:latin typeface="Arial" panose="020B0604020202020204" pitchFamily="34" charset="0"/>
              </a:rPr>
              <a:t>To draw a ray diagram we first need to draw some axes. The first of these is called the </a:t>
            </a:r>
            <a:r>
              <a:rPr lang="en-AU" sz="2200" b="1" i="0" dirty="0" smtClean="0">
                <a:solidFill>
                  <a:srgbClr val="32B57C"/>
                </a:solidFill>
                <a:effectLst/>
                <a:latin typeface="Arial" panose="020B0604020202020204" pitchFamily="34" charset="0"/>
              </a:rPr>
              <a:t>principal axis</a:t>
            </a:r>
            <a:r>
              <a:rPr lang="en-AU" sz="2200" b="0" i="0" dirty="0" smtClean="0">
                <a:solidFill>
                  <a:srgbClr val="444444"/>
                </a:solidFill>
                <a:effectLst/>
                <a:latin typeface="Arial" panose="020B0604020202020204" pitchFamily="34" charset="0"/>
              </a:rPr>
              <a:t> and consists of a </a:t>
            </a:r>
            <a:r>
              <a:rPr lang="en-AU" sz="2200" b="1" i="0" dirty="0" smtClean="0">
                <a:solidFill>
                  <a:srgbClr val="3598DC"/>
                </a:solidFill>
                <a:effectLst/>
                <a:latin typeface="Arial" panose="020B0604020202020204" pitchFamily="34" charset="0"/>
              </a:rPr>
              <a:t>horizontal line.</a:t>
            </a:r>
            <a:r>
              <a:rPr lang="en-AU" sz="2200" b="0" i="0" dirty="0" smtClean="0">
                <a:solidFill>
                  <a:srgbClr val="444444"/>
                </a:solidFill>
                <a:effectLst/>
                <a:latin typeface="Arial" panose="020B0604020202020204" pitchFamily="34" charset="0"/>
              </a:rPr>
              <a:t> The second axis is called the </a:t>
            </a:r>
            <a:r>
              <a:rPr lang="en-AU" sz="2200" b="1" i="0" dirty="0" smtClean="0">
                <a:solidFill>
                  <a:srgbClr val="32B57C"/>
                </a:solidFill>
                <a:effectLst/>
                <a:latin typeface="Arial" panose="020B0604020202020204" pitchFamily="34" charset="0"/>
              </a:rPr>
              <a:t>optical axis</a:t>
            </a:r>
            <a:r>
              <a:rPr lang="en-AU" sz="2200" b="0" i="0" dirty="0" smtClean="0">
                <a:solidFill>
                  <a:srgbClr val="444444"/>
                </a:solidFill>
                <a:effectLst/>
                <a:latin typeface="Arial" panose="020B0604020202020204" pitchFamily="34" charset="0"/>
              </a:rPr>
              <a:t> and it approximates the concave lens as a </a:t>
            </a:r>
            <a:r>
              <a:rPr lang="en-AU" sz="2200" b="1" i="0" dirty="0" smtClean="0">
                <a:solidFill>
                  <a:srgbClr val="3598DC"/>
                </a:solidFill>
                <a:effectLst/>
                <a:latin typeface="Arial" panose="020B0604020202020204" pitchFamily="34" charset="0"/>
              </a:rPr>
              <a:t>vertical straight line.</a:t>
            </a:r>
            <a:r>
              <a:rPr lang="en-AU" sz="2200" b="0" i="0" dirty="0" smtClean="0">
                <a:solidFill>
                  <a:srgbClr val="444444"/>
                </a:solidFill>
                <a:effectLst/>
                <a:latin typeface="Arial" panose="020B0604020202020204" pitchFamily="34" charset="0"/>
              </a:rPr>
              <a:t> The optical axis is placed in the middle of the principal axis and all </a:t>
            </a:r>
            <a:r>
              <a:rPr lang="en-AU" sz="2200" b="1" i="0" dirty="0" smtClean="0">
                <a:solidFill>
                  <a:srgbClr val="8C4AB2"/>
                </a:solidFill>
                <a:effectLst/>
                <a:latin typeface="Arial" panose="020B0604020202020204" pitchFamily="34" charset="0"/>
              </a:rPr>
              <a:t>refraction occurs along this line.</a:t>
            </a:r>
            <a:endParaRPr lang="en-AU" sz="2200" b="0" i="0" dirty="0" smtClean="0">
              <a:solidFill>
                <a:srgbClr val="444444"/>
              </a:solidFill>
              <a:effectLst/>
              <a:latin typeface="Arial" panose="020B0604020202020204" pitchFamily="34" charset="0"/>
            </a:endParaRPr>
          </a:p>
          <a:p>
            <a:pPr algn="ctr"/>
            <a:r>
              <a:rPr lang="en-AU" sz="2200" b="0" i="0" dirty="0" smtClean="0">
                <a:solidFill>
                  <a:srgbClr val="444444"/>
                </a:solidFill>
                <a:effectLst/>
                <a:latin typeface="Arial" panose="020B0604020202020204" pitchFamily="34" charset="0"/>
              </a:rPr>
              <a:t> </a:t>
            </a:r>
          </a:p>
          <a:p>
            <a:r>
              <a:rPr lang="en-AU" sz="2200" b="0" i="0" dirty="0" smtClean="0">
                <a:solidFill>
                  <a:srgbClr val="444444"/>
                </a:solidFill>
                <a:effectLst/>
                <a:latin typeface="Arial" panose="020B0604020202020204" pitchFamily="34" charset="0"/>
              </a:rPr>
              <a:t>The </a:t>
            </a:r>
            <a:r>
              <a:rPr lang="en-AU" sz="2200" b="1" i="0" dirty="0" smtClean="0">
                <a:solidFill>
                  <a:srgbClr val="8C4AB2"/>
                </a:solidFill>
                <a:effectLst/>
                <a:latin typeface="Arial" panose="020B0604020202020204" pitchFamily="34" charset="0"/>
              </a:rPr>
              <a:t>intersection between the principal and optical axes</a:t>
            </a:r>
            <a:r>
              <a:rPr lang="en-AU" sz="2200" b="0" i="0" dirty="0" smtClean="0">
                <a:solidFill>
                  <a:srgbClr val="444444"/>
                </a:solidFill>
                <a:effectLst/>
                <a:latin typeface="Arial" panose="020B0604020202020204" pitchFamily="34" charset="0"/>
              </a:rPr>
              <a:t> is referred to as the </a:t>
            </a:r>
            <a:r>
              <a:rPr lang="en-AU" sz="2200" b="1" i="0" dirty="0" smtClean="0">
                <a:solidFill>
                  <a:srgbClr val="3598DC"/>
                </a:solidFill>
                <a:effectLst/>
                <a:latin typeface="Arial" panose="020B0604020202020204" pitchFamily="34" charset="0"/>
              </a:rPr>
              <a:t>optical centre of the lens,</a:t>
            </a:r>
            <a:r>
              <a:rPr lang="en-AU" sz="2200" b="0" i="0" dirty="0" smtClean="0">
                <a:solidFill>
                  <a:srgbClr val="444444"/>
                </a:solidFill>
                <a:effectLst/>
                <a:latin typeface="Arial" panose="020B0604020202020204" pitchFamily="34" charset="0"/>
              </a:rPr>
              <a:t> denoted in the diagram by OC. Both of the focus points and twice the distance of the focus points are also included along the principal axis. The horizontal and vertical scales of ray diagrams </a:t>
            </a:r>
            <a:r>
              <a:rPr lang="en-AU" sz="2200" b="1" i="0" dirty="0" smtClean="0">
                <a:solidFill>
                  <a:srgbClr val="32B57C"/>
                </a:solidFill>
                <a:effectLst/>
                <a:latin typeface="Arial" panose="020B0604020202020204" pitchFamily="34" charset="0"/>
              </a:rPr>
              <a:t>do not have to be the same.</a:t>
            </a:r>
            <a:r>
              <a:rPr lang="en-AU" sz="2200" b="0" i="0" dirty="0" smtClean="0">
                <a:solidFill>
                  <a:srgbClr val="444444"/>
                </a:solidFill>
                <a:effectLst/>
                <a:latin typeface="Arial" panose="020B0604020202020204" pitchFamily="34" charset="0"/>
              </a:rPr>
              <a:t> In fact, the </a:t>
            </a:r>
            <a:r>
              <a:rPr lang="en-AU" sz="2200" b="1" i="0" dirty="0" smtClean="0">
                <a:solidFill>
                  <a:srgbClr val="3598DC"/>
                </a:solidFill>
                <a:effectLst/>
                <a:latin typeface="Arial" panose="020B0604020202020204" pitchFamily="34" charset="0"/>
              </a:rPr>
              <a:t>vertical scale is often much more magnified</a:t>
            </a:r>
            <a:r>
              <a:rPr lang="en-AU" sz="2200" b="0" i="0" dirty="0" smtClean="0">
                <a:solidFill>
                  <a:srgbClr val="444444"/>
                </a:solidFill>
                <a:effectLst/>
                <a:latin typeface="Arial" panose="020B0604020202020204" pitchFamily="34" charset="0"/>
              </a:rPr>
              <a:t> than the horizontal scale, so that the diagram is easier to draw.</a:t>
            </a:r>
            <a:endParaRPr lang="en-AU" sz="2200" b="0" i="0" dirty="0">
              <a:solidFill>
                <a:srgbClr val="444444"/>
              </a:solidFill>
              <a:effectLst/>
              <a:latin typeface="Arial" panose="020B0604020202020204" pitchFamily="34" charset="0"/>
            </a:endParaRPr>
          </a:p>
        </p:txBody>
      </p:sp>
      <p:pic>
        <p:nvPicPr>
          <p:cNvPr id="8194" name="Picture 2" descr="https://www.educationperfect.com/media/content/Science/1585597366.315321g/1585597366471-1072015529437768-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2700" y="4493538"/>
            <a:ext cx="4371975" cy="2205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8072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9700" y="173841"/>
            <a:ext cx="11849100" cy="4154984"/>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Once we have the axes of a ray diagram set up we can </a:t>
            </a:r>
            <a:r>
              <a:rPr lang="en-AU" sz="2400" b="1" i="0" dirty="0" smtClean="0">
                <a:solidFill>
                  <a:srgbClr val="B1067D"/>
                </a:solidFill>
                <a:effectLst/>
                <a:latin typeface="Arial" panose="020B0604020202020204" pitchFamily="34" charset="0"/>
              </a:rPr>
              <a:t>add the object</a:t>
            </a:r>
            <a:r>
              <a:rPr lang="en-AU" sz="2400" b="1" i="0" dirty="0" smtClean="0">
                <a:solidFill>
                  <a:srgbClr val="444444"/>
                </a:solidFill>
                <a:effectLst/>
                <a:latin typeface="Arial" panose="020B0604020202020204" pitchFamily="34" charset="0"/>
              </a:rPr>
              <a:t> and start to </a:t>
            </a:r>
            <a:r>
              <a:rPr lang="en-AU" sz="2400" b="1" i="0" dirty="0" smtClean="0">
                <a:solidFill>
                  <a:srgbClr val="6773B2"/>
                </a:solidFill>
                <a:effectLst/>
                <a:latin typeface="Arial" panose="020B0604020202020204" pitchFamily="34" charset="0"/>
              </a:rPr>
              <a:t>determine its refracted image.</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The object is generally </a:t>
            </a:r>
            <a:r>
              <a:rPr lang="en-AU" sz="2400" b="1" i="0" dirty="0" smtClean="0">
                <a:solidFill>
                  <a:srgbClr val="6773B2"/>
                </a:solidFill>
                <a:effectLst/>
                <a:latin typeface="Arial" panose="020B0604020202020204" pitchFamily="34" charset="0"/>
              </a:rPr>
              <a:t>placed to the left of the optical axis</a:t>
            </a:r>
            <a:r>
              <a:rPr lang="en-AU" sz="2400" b="0" i="0" dirty="0" smtClean="0">
                <a:solidFill>
                  <a:srgbClr val="444444"/>
                </a:solidFill>
                <a:effectLst/>
                <a:latin typeface="Arial" panose="020B0604020202020204" pitchFamily="34" charset="0"/>
              </a:rPr>
              <a:t> and is represented by a </a:t>
            </a:r>
            <a:r>
              <a:rPr lang="en-AU" sz="2400" b="1" i="0" dirty="0" smtClean="0">
                <a:solidFill>
                  <a:srgbClr val="B1067D"/>
                </a:solidFill>
                <a:effectLst/>
                <a:latin typeface="Arial" panose="020B0604020202020204" pitchFamily="34" charset="0"/>
              </a:rPr>
              <a:t>vertical arrow, pointing upwards.</a:t>
            </a:r>
            <a:r>
              <a:rPr lang="en-AU" sz="2400" b="0" i="0" dirty="0" smtClean="0">
                <a:solidFill>
                  <a:srgbClr val="444444"/>
                </a:solidFill>
                <a:effectLst/>
                <a:latin typeface="Arial" panose="020B0604020202020204" pitchFamily="34" charset="0"/>
              </a:rPr>
              <a:t> This will make it much easier to determine the nature of the image.</a:t>
            </a: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The object is usually </a:t>
            </a:r>
            <a:r>
              <a:rPr lang="en-AU" sz="2400" b="1" i="0" dirty="0" smtClean="0">
                <a:solidFill>
                  <a:srgbClr val="6773B2"/>
                </a:solidFill>
                <a:effectLst/>
                <a:latin typeface="Arial" panose="020B0604020202020204" pitchFamily="34" charset="0"/>
              </a:rPr>
              <a:t>placed in relation to the properties</a:t>
            </a:r>
            <a:r>
              <a:rPr lang="en-AU" sz="2400" b="0" i="0" dirty="0" smtClean="0">
                <a:solidFill>
                  <a:srgbClr val="444444"/>
                </a:solidFill>
                <a:effectLst/>
                <a:latin typeface="Arial" panose="020B0604020202020204" pitchFamily="34" charset="0"/>
              </a:rPr>
              <a:t> of the lens. For our first example, we will place the </a:t>
            </a:r>
            <a:r>
              <a:rPr lang="en-AU" sz="2400" b="1" i="0" dirty="0" smtClean="0">
                <a:solidFill>
                  <a:srgbClr val="B1067D"/>
                </a:solidFill>
                <a:effectLst/>
                <a:latin typeface="Arial" panose="020B0604020202020204" pitchFamily="34" charset="0"/>
              </a:rPr>
              <a:t>object outside (to the left of) twice the virtual focus</a:t>
            </a:r>
            <a:r>
              <a:rPr lang="en-AU" sz="2400" b="0" i="0" dirty="0" smtClean="0">
                <a:solidFill>
                  <a:srgbClr val="444444"/>
                </a:solidFill>
                <a:effectLst/>
                <a:latin typeface="Arial" panose="020B0604020202020204" pitchFamily="34" charset="0"/>
              </a:rPr>
              <a:t> of the concave lens. Note the virtual focus is located on the </a:t>
            </a:r>
            <a:r>
              <a:rPr lang="en-AU" sz="2400" b="1" i="0" dirty="0" smtClean="0">
                <a:solidFill>
                  <a:srgbClr val="6773B2"/>
                </a:solidFill>
                <a:effectLst/>
                <a:latin typeface="Arial" panose="020B0604020202020204" pitchFamily="34" charset="0"/>
              </a:rPr>
              <a:t>same side of the lens as the object.</a:t>
            </a:r>
            <a:endParaRPr lang="en-AU" sz="2400" b="0" i="0" dirty="0">
              <a:solidFill>
                <a:srgbClr val="444444"/>
              </a:solidFill>
              <a:effectLst/>
              <a:latin typeface="Arial" panose="020B0604020202020204" pitchFamily="34" charset="0"/>
            </a:endParaRPr>
          </a:p>
        </p:txBody>
      </p:sp>
      <p:pic>
        <p:nvPicPr>
          <p:cNvPr id="9218" name="Picture 2" descr="https://www.educationperfect.com/media/content/Science/1585597393.157581g/1585597393303-1072015529437768-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3919039"/>
            <a:ext cx="5870575" cy="2938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1971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6700" y="106740"/>
            <a:ext cx="11582400" cy="2800767"/>
          </a:xfrm>
          <a:prstGeom prst="rect">
            <a:avLst/>
          </a:prstGeom>
        </p:spPr>
        <p:txBody>
          <a:bodyPr wrap="square">
            <a:spAutoFit/>
          </a:bodyPr>
          <a:lstStyle/>
          <a:p>
            <a:pPr algn="ctr"/>
            <a:r>
              <a:rPr lang="en-AU" sz="2200" b="1" i="0" dirty="0" smtClean="0">
                <a:solidFill>
                  <a:srgbClr val="444444"/>
                </a:solidFill>
                <a:effectLst/>
                <a:latin typeface="Arial" panose="020B0604020202020204" pitchFamily="34" charset="0"/>
              </a:rPr>
              <a:t>Now that we have set up our ray diagram, we can use </a:t>
            </a:r>
            <a:r>
              <a:rPr lang="en-AU" sz="2200" b="1" i="0" dirty="0" smtClean="0">
                <a:solidFill>
                  <a:srgbClr val="3598DC"/>
                </a:solidFill>
                <a:effectLst/>
                <a:latin typeface="Arial" panose="020B0604020202020204" pitchFamily="34" charset="0"/>
              </a:rPr>
              <a:t>three principal rays</a:t>
            </a:r>
            <a:r>
              <a:rPr lang="en-AU" sz="2200" b="1" i="0" dirty="0" smtClean="0">
                <a:solidFill>
                  <a:srgbClr val="444444"/>
                </a:solidFill>
                <a:effectLst/>
                <a:latin typeface="Arial" panose="020B0604020202020204" pitchFamily="34" charset="0"/>
              </a:rPr>
              <a:t> to determine the </a:t>
            </a:r>
            <a:r>
              <a:rPr lang="en-AU" sz="2200" b="1" i="0" dirty="0" smtClean="0">
                <a:solidFill>
                  <a:srgbClr val="3598DC"/>
                </a:solidFill>
                <a:effectLst/>
                <a:latin typeface="Arial" panose="020B0604020202020204" pitchFamily="34" charset="0"/>
              </a:rPr>
              <a:t>position of the image</a:t>
            </a:r>
            <a:r>
              <a:rPr lang="en-AU" sz="2200" b="1" i="0" dirty="0" smtClean="0">
                <a:solidFill>
                  <a:srgbClr val="444444"/>
                </a:solidFill>
                <a:effectLst/>
                <a:latin typeface="Arial" panose="020B0604020202020204" pitchFamily="34" charset="0"/>
              </a:rPr>
              <a:t> produced by a concave lens.</a:t>
            </a:r>
          </a:p>
          <a:p>
            <a:pPr algn="ctr"/>
            <a:r>
              <a:rPr lang="en-AU" sz="2200" b="0" i="0" dirty="0" smtClean="0">
                <a:solidFill>
                  <a:srgbClr val="444444"/>
                </a:solidFill>
                <a:effectLst/>
                <a:latin typeface="Arial" panose="020B0604020202020204" pitchFamily="34" charset="0"/>
              </a:rPr>
              <a:t> </a:t>
            </a:r>
          </a:p>
          <a:p>
            <a:r>
              <a:rPr lang="en-AU" sz="2200" b="0" i="0" dirty="0" smtClean="0">
                <a:solidFill>
                  <a:srgbClr val="444444"/>
                </a:solidFill>
                <a:effectLst/>
                <a:latin typeface="Arial" panose="020B0604020202020204" pitchFamily="34" charset="0"/>
              </a:rPr>
              <a:t>The </a:t>
            </a:r>
            <a:r>
              <a:rPr lang="en-AU" sz="2200" b="1" i="0" dirty="0" smtClean="0">
                <a:solidFill>
                  <a:srgbClr val="FF7F50"/>
                </a:solidFill>
                <a:effectLst/>
                <a:latin typeface="Arial" panose="020B0604020202020204" pitchFamily="34" charset="0"/>
              </a:rPr>
              <a:t>first principal ray</a:t>
            </a:r>
            <a:r>
              <a:rPr lang="en-AU" sz="2200" b="0" i="0" dirty="0" smtClean="0">
                <a:solidFill>
                  <a:srgbClr val="444444"/>
                </a:solidFill>
                <a:effectLst/>
                <a:latin typeface="Arial" panose="020B0604020202020204" pitchFamily="34" charset="0"/>
              </a:rPr>
              <a:t> we consider will </a:t>
            </a:r>
            <a:r>
              <a:rPr lang="en-AU" sz="2200" b="1" i="0" dirty="0" smtClean="0">
                <a:solidFill>
                  <a:srgbClr val="3598DC"/>
                </a:solidFill>
                <a:effectLst/>
                <a:latin typeface="Arial" panose="020B0604020202020204" pitchFamily="34" charset="0"/>
              </a:rPr>
              <a:t>start at the top of the object.</a:t>
            </a:r>
            <a:r>
              <a:rPr lang="en-AU" sz="2200" b="0" i="0" dirty="0" smtClean="0">
                <a:solidFill>
                  <a:srgbClr val="444444"/>
                </a:solidFill>
                <a:effectLst/>
                <a:latin typeface="Arial" panose="020B0604020202020204" pitchFamily="34" charset="0"/>
              </a:rPr>
              <a:t> It will then travel </a:t>
            </a:r>
            <a:r>
              <a:rPr lang="en-AU" sz="2200" b="1" i="0" dirty="0" smtClean="0">
                <a:solidFill>
                  <a:srgbClr val="FF7F50"/>
                </a:solidFill>
                <a:effectLst/>
                <a:latin typeface="Arial" panose="020B0604020202020204" pitchFamily="34" charset="0"/>
              </a:rPr>
              <a:t>parallel to the principal axis</a:t>
            </a:r>
            <a:r>
              <a:rPr lang="en-AU" sz="2200" b="0" i="0" dirty="0" smtClean="0">
                <a:solidFill>
                  <a:srgbClr val="444444"/>
                </a:solidFill>
                <a:effectLst/>
                <a:latin typeface="Arial" panose="020B0604020202020204" pitchFamily="34" charset="0"/>
              </a:rPr>
              <a:t> until it reaches the optical axis (the lens). As it refracts from the lens it will appear as though it has travelled </a:t>
            </a:r>
            <a:r>
              <a:rPr lang="en-AU" sz="2200" b="1" i="0" dirty="0" smtClean="0">
                <a:solidFill>
                  <a:srgbClr val="FF7F50"/>
                </a:solidFill>
                <a:effectLst/>
                <a:latin typeface="Arial" panose="020B0604020202020204" pitchFamily="34" charset="0"/>
              </a:rPr>
              <a:t>from the virtual focus in front of the lens</a:t>
            </a:r>
            <a:r>
              <a:rPr lang="en-AU" sz="2200" b="0" i="0" dirty="0" smtClean="0">
                <a:solidFill>
                  <a:srgbClr val="444444"/>
                </a:solidFill>
                <a:effectLst/>
                <a:latin typeface="Arial" panose="020B0604020202020204" pitchFamily="34" charset="0"/>
              </a:rPr>
              <a:t> (where all the refracted rays of incident parallel rays will converge) and continue on beyond the ray diagram.</a:t>
            </a:r>
            <a:endParaRPr lang="en-AU" sz="2200" b="0" i="0" dirty="0">
              <a:solidFill>
                <a:srgbClr val="444444"/>
              </a:solidFill>
              <a:effectLst/>
              <a:latin typeface="Arial" panose="020B0604020202020204" pitchFamily="34" charset="0"/>
            </a:endParaRPr>
          </a:p>
        </p:txBody>
      </p:sp>
      <p:sp>
        <p:nvSpPr>
          <p:cNvPr id="3" name="Rectangle 2"/>
          <p:cNvSpPr/>
          <p:nvPr/>
        </p:nvSpPr>
        <p:spPr>
          <a:xfrm>
            <a:off x="266700" y="2907507"/>
            <a:ext cx="11582400" cy="1107996"/>
          </a:xfrm>
          <a:prstGeom prst="rect">
            <a:avLst/>
          </a:prstGeom>
        </p:spPr>
        <p:txBody>
          <a:bodyPr wrap="square">
            <a:spAutoFit/>
          </a:bodyPr>
          <a:lstStyle/>
          <a:p>
            <a:r>
              <a:rPr lang="en-AU" sz="2200" b="0" i="0" dirty="0" smtClean="0">
                <a:solidFill>
                  <a:srgbClr val="444444"/>
                </a:solidFill>
                <a:effectLst/>
                <a:latin typeface="Arial" panose="020B0604020202020204" pitchFamily="34" charset="0"/>
              </a:rPr>
              <a:t>When drawing this principal ray on a ray diagram we need to ensure that the section of the </a:t>
            </a:r>
            <a:r>
              <a:rPr lang="en-AU" sz="2200" b="1" i="0" dirty="0" smtClean="0">
                <a:solidFill>
                  <a:srgbClr val="3598DC"/>
                </a:solidFill>
                <a:effectLst/>
                <a:latin typeface="Arial" panose="020B0604020202020204" pitchFamily="34" charset="0"/>
              </a:rPr>
              <a:t>refracted ray that is in front of the lens</a:t>
            </a:r>
            <a:r>
              <a:rPr lang="en-AU" sz="2200" b="0" i="0" dirty="0" smtClean="0">
                <a:solidFill>
                  <a:srgbClr val="444444"/>
                </a:solidFill>
                <a:effectLst/>
                <a:latin typeface="Arial" panose="020B0604020202020204" pitchFamily="34" charset="0"/>
              </a:rPr>
              <a:t> (from the virtual focus to the edge of the lens) is </a:t>
            </a:r>
            <a:r>
              <a:rPr lang="en-AU" sz="2200" b="1" i="0" dirty="0" smtClean="0">
                <a:solidFill>
                  <a:srgbClr val="3598DC"/>
                </a:solidFill>
                <a:effectLst/>
                <a:latin typeface="Arial" panose="020B0604020202020204" pitchFamily="34" charset="0"/>
              </a:rPr>
              <a:t>drawn with a dotted line</a:t>
            </a:r>
            <a:r>
              <a:rPr lang="en-AU" sz="2200" b="0" i="0" dirty="0" smtClean="0">
                <a:solidFill>
                  <a:srgbClr val="444444"/>
                </a:solidFill>
                <a:effectLst/>
                <a:latin typeface="Arial" panose="020B0604020202020204" pitchFamily="34" charset="0"/>
              </a:rPr>
              <a:t> while all other rays are drawn as solid lines.</a:t>
            </a:r>
            <a:endParaRPr lang="en-AU" sz="2200" dirty="0"/>
          </a:p>
        </p:txBody>
      </p:sp>
      <p:pic>
        <p:nvPicPr>
          <p:cNvPr id="4" name="1586816204.5580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500437" y="4033751"/>
            <a:ext cx="5114925" cy="2782519"/>
          </a:xfrm>
          <a:prstGeom prst="rect">
            <a:avLst/>
          </a:prstGeom>
        </p:spPr>
      </p:pic>
    </p:spTree>
    <p:extLst>
      <p:ext uri="{BB962C8B-B14F-4D97-AF65-F5344CB8AC3E}">
        <p14:creationId xmlns:p14="http://schemas.microsoft.com/office/powerpoint/2010/main" val="2740533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44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1300" y="224641"/>
            <a:ext cx="11811000" cy="3477875"/>
          </a:xfrm>
          <a:prstGeom prst="rect">
            <a:avLst/>
          </a:prstGeom>
        </p:spPr>
        <p:txBody>
          <a:bodyPr wrap="square">
            <a:spAutoFit/>
          </a:bodyPr>
          <a:lstStyle/>
          <a:p>
            <a:pPr algn="ctr"/>
            <a:r>
              <a:rPr lang="en-AU" sz="2200" b="1" i="0" dirty="0" smtClean="0">
                <a:solidFill>
                  <a:srgbClr val="444444"/>
                </a:solidFill>
                <a:effectLst/>
                <a:latin typeface="Arial" panose="020B0604020202020204" pitchFamily="34" charset="0"/>
              </a:rPr>
              <a:t>The </a:t>
            </a:r>
            <a:r>
              <a:rPr lang="en-AU" sz="2200" b="1" i="0" dirty="0" smtClean="0">
                <a:solidFill>
                  <a:srgbClr val="3598DC"/>
                </a:solidFill>
                <a:effectLst/>
                <a:latin typeface="Arial" panose="020B0604020202020204" pitchFamily="34" charset="0"/>
              </a:rPr>
              <a:t>second principal ray</a:t>
            </a:r>
            <a:r>
              <a:rPr lang="en-AU" sz="2200" b="1" i="0" dirty="0" smtClean="0">
                <a:solidFill>
                  <a:srgbClr val="444444"/>
                </a:solidFill>
                <a:effectLst/>
                <a:latin typeface="Arial" panose="020B0604020202020204" pitchFamily="34" charset="0"/>
              </a:rPr>
              <a:t> we will consider is the </a:t>
            </a:r>
            <a:r>
              <a:rPr lang="en-AU" sz="2200" b="1" i="0" dirty="0" smtClean="0">
                <a:solidFill>
                  <a:srgbClr val="B1067D"/>
                </a:solidFill>
                <a:effectLst/>
                <a:latin typeface="Arial" panose="020B0604020202020204" pitchFamily="34" charset="0"/>
              </a:rPr>
              <a:t>reverse process</a:t>
            </a:r>
            <a:r>
              <a:rPr lang="en-AU" sz="2200" b="1" i="0" dirty="0" smtClean="0">
                <a:solidFill>
                  <a:srgbClr val="444444"/>
                </a:solidFill>
                <a:effectLst/>
                <a:latin typeface="Arial" panose="020B0604020202020204" pitchFamily="34" charset="0"/>
              </a:rPr>
              <a:t> of the first principal ray.</a:t>
            </a:r>
          </a:p>
          <a:p>
            <a:pPr algn="ctr"/>
            <a:r>
              <a:rPr lang="en-AU" sz="2200" b="0" i="0" dirty="0" smtClean="0">
                <a:solidFill>
                  <a:srgbClr val="444444"/>
                </a:solidFill>
                <a:effectLst/>
                <a:latin typeface="Arial" panose="020B0604020202020204" pitchFamily="34" charset="0"/>
              </a:rPr>
              <a:t> </a:t>
            </a:r>
          </a:p>
          <a:p>
            <a:r>
              <a:rPr lang="en-AU" sz="2200" b="0" i="0" dirty="0" smtClean="0">
                <a:solidFill>
                  <a:srgbClr val="444444"/>
                </a:solidFill>
                <a:effectLst/>
                <a:latin typeface="Arial" panose="020B0604020202020204" pitchFamily="34" charset="0"/>
              </a:rPr>
              <a:t>The </a:t>
            </a:r>
            <a:r>
              <a:rPr lang="en-AU" sz="2200" b="1" i="0" dirty="0" smtClean="0">
                <a:solidFill>
                  <a:srgbClr val="3598DC"/>
                </a:solidFill>
                <a:effectLst/>
                <a:latin typeface="Arial" panose="020B0604020202020204" pitchFamily="34" charset="0"/>
              </a:rPr>
              <a:t>second principal ray</a:t>
            </a:r>
            <a:r>
              <a:rPr lang="en-AU" sz="2200" b="0" i="0" dirty="0" smtClean="0">
                <a:solidFill>
                  <a:srgbClr val="444444"/>
                </a:solidFill>
                <a:effectLst/>
                <a:latin typeface="Arial" panose="020B0604020202020204" pitchFamily="34" charset="0"/>
              </a:rPr>
              <a:t> will also </a:t>
            </a:r>
            <a:r>
              <a:rPr lang="en-AU" sz="2200" b="1" i="0" dirty="0" smtClean="0">
                <a:solidFill>
                  <a:srgbClr val="B1067D"/>
                </a:solidFill>
                <a:effectLst/>
                <a:latin typeface="Arial" panose="020B0604020202020204" pitchFamily="34" charset="0"/>
              </a:rPr>
              <a:t>start at the top of the object.</a:t>
            </a:r>
            <a:r>
              <a:rPr lang="en-AU" sz="2200" b="0" i="0" dirty="0" smtClean="0">
                <a:solidFill>
                  <a:srgbClr val="444444"/>
                </a:solidFill>
                <a:effectLst/>
                <a:latin typeface="Arial" panose="020B0604020202020204" pitchFamily="34" charset="0"/>
              </a:rPr>
              <a:t> It will travel to the lens </a:t>
            </a:r>
            <a:r>
              <a:rPr lang="en-AU" sz="2200" b="1" i="0" dirty="0" smtClean="0">
                <a:solidFill>
                  <a:srgbClr val="3598DC"/>
                </a:solidFill>
                <a:effectLst/>
                <a:latin typeface="Arial" panose="020B0604020202020204" pitchFamily="34" charset="0"/>
              </a:rPr>
              <a:t>towards the real focus behind the lens.</a:t>
            </a:r>
            <a:r>
              <a:rPr lang="en-AU" sz="2200" b="0" i="0" dirty="0" smtClean="0">
                <a:solidFill>
                  <a:srgbClr val="444444"/>
                </a:solidFill>
                <a:effectLst/>
                <a:latin typeface="Arial" panose="020B0604020202020204" pitchFamily="34" charset="0"/>
              </a:rPr>
              <a:t> However, once it reaches the lens it will get refracted from the lens and travel </a:t>
            </a:r>
            <a:r>
              <a:rPr lang="en-AU" sz="2200" b="1" i="0" dirty="0" smtClean="0">
                <a:solidFill>
                  <a:srgbClr val="3598DC"/>
                </a:solidFill>
                <a:effectLst/>
                <a:latin typeface="Arial" panose="020B0604020202020204" pitchFamily="34" charset="0"/>
              </a:rPr>
              <a:t>parallel to the principal axis.</a:t>
            </a:r>
            <a:endParaRPr lang="en-AU" sz="2200" b="0" i="0" dirty="0" smtClean="0">
              <a:solidFill>
                <a:srgbClr val="444444"/>
              </a:solidFill>
              <a:effectLst/>
              <a:latin typeface="Arial" panose="020B0604020202020204" pitchFamily="34" charset="0"/>
            </a:endParaRPr>
          </a:p>
          <a:p>
            <a:r>
              <a:rPr lang="en-AU" sz="2200" b="0" i="0" dirty="0" smtClean="0">
                <a:solidFill>
                  <a:srgbClr val="444444"/>
                </a:solidFill>
                <a:effectLst/>
                <a:latin typeface="Arial" panose="020B0604020202020204" pitchFamily="34" charset="0"/>
              </a:rPr>
              <a:t> </a:t>
            </a:r>
          </a:p>
          <a:p>
            <a:r>
              <a:rPr lang="en-AU" sz="2200" b="0" i="0" dirty="0" smtClean="0">
                <a:solidFill>
                  <a:srgbClr val="444444"/>
                </a:solidFill>
                <a:effectLst/>
                <a:latin typeface="Arial" panose="020B0604020202020204" pitchFamily="34" charset="0"/>
              </a:rPr>
              <a:t>Drawing this principal ray, we place our ruler </a:t>
            </a:r>
            <a:r>
              <a:rPr lang="en-AU" sz="2200" b="1" i="0" dirty="0" smtClean="0">
                <a:solidFill>
                  <a:srgbClr val="B1067D"/>
                </a:solidFill>
                <a:effectLst/>
                <a:latin typeface="Arial" panose="020B0604020202020204" pitchFamily="34" charset="0"/>
              </a:rPr>
              <a:t>joining the top of the object to the real focus</a:t>
            </a:r>
            <a:r>
              <a:rPr lang="en-AU" sz="2200" b="0" i="0" dirty="0" smtClean="0">
                <a:solidFill>
                  <a:srgbClr val="444444"/>
                </a:solidFill>
                <a:effectLst/>
                <a:latin typeface="Arial" panose="020B0604020202020204" pitchFamily="34" charset="0"/>
              </a:rPr>
              <a:t> behind the lens. However, our incident ray is </a:t>
            </a:r>
            <a:r>
              <a:rPr lang="en-AU" sz="2200" b="1" i="0" dirty="0" smtClean="0">
                <a:solidFill>
                  <a:srgbClr val="B1067D"/>
                </a:solidFill>
                <a:effectLst/>
                <a:latin typeface="Arial" panose="020B0604020202020204" pitchFamily="34" charset="0"/>
              </a:rPr>
              <a:t>only drawn up to the lens.</a:t>
            </a:r>
            <a:r>
              <a:rPr lang="en-AU" sz="2200" b="0" i="0" dirty="0" smtClean="0">
                <a:solidFill>
                  <a:srgbClr val="444444"/>
                </a:solidFill>
                <a:effectLst/>
                <a:latin typeface="Arial" panose="020B0604020202020204" pitchFamily="34" charset="0"/>
              </a:rPr>
              <a:t> The refracted ray is then drawn parallel to the principal axis.</a:t>
            </a:r>
            <a:endParaRPr lang="en-AU" sz="2200" b="0" i="0" dirty="0">
              <a:solidFill>
                <a:srgbClr val="444444"/>
              </a:solidFill>
              <a:effectLst/>
              <a:latin typeface="Arial" panose="020B0604020202020204" pitchFamily="34" charset="0"/>
            </a:endParaRPr>
          </a:p>
        </p:txBody>
      </p:sp>
      <p:pic>
        <p:nvPicPr>
          <p:cNvPr id="3" name="1585598751.6251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594099" y="3626409"/>
            <a:ext cx="5940425" cy="3231591"/>
          </a:xfrm>
          <a:prstGeom prst="rect">
            <a:avLst/>
          </a:prstGeom>
        </p:spPr>
      </p:pic>
    </p:spTree>
    <p:extLst>
      <p:ext uri="{BB962C8B-B14F-4D97-AF65-F5344CB8AC3E}">
        <p14:creationId xmlns:p14="http://schemas.microsoft.com/office/powerpoint/2010/main" val="1240814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60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17438"/>
            <a:ext cx="11849100" cy="2308324"/>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 </a:t>
            </a:r>
            <a:r>
              <a:rPr lang="en-AU" sz="2400" b="1" i="0" dirty="0" smtClean="0">
                <a:solidFill>
                  <a:srgbClr val="8C4AB2"/>
                </a:solidFill>
                <a:effectLst/>
                <a:latin typeface="Arial" panose="020B0604020202020204" pitchFamily="34" charset="0"/>
              </a:rPr>
              <a:t>third principal ray</a:t>
            </a:r>
            <a:r>
              <a:rPr lang="en-AU" sz="2400" b="1" i="0" dirty="0" smtClean="0">
                <a:solidFill>
                  <a:srgbClr val="444444"/>
                </a:solidFill>
                <a:effectLst/>
                <a:latin typeface="Arial" panose="020B0604020202020204" pitchFamily="34" charset="0"/>
              </a:rPr>
              <a:t> we will consider is </a:t>
            </a:r>
            <a:r>
              <a:rPr lang="en-AU" sz="2400" b="1" i="0" dirty="0" smtClean="0">
                <a:solidFill>
                  <a:srgbClr val="3770C7"/>
                </a:solidFill>
                <a:effectLst/>
                <a:latin typeface="Arial" panose="020B0604020202020204" pitchFamily="34" charset="0"/>
              </a:rPr>
              <a:t>unaffected</a:t>
            </a:r>
            <a:r>
              <a:rPr lang="en-AU" sz="2400" b="1" i="0" dirty="0" smtClean="0">
                <a:solidFill>
                  <a:srgbClr val="444444"/>
                </a:solidFill>
                <a:effectLst/>
                <a:latin typeface="Arial" panose="020B0604020202020204" pitchFamily="34" charset="0"/>
              </a:rPr>
              <a:t> by the lens.</a:t>
            </a: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The third principal ray </a:t>
            </a:r>
            <a:r>
              <a:rPr lang="en-AU" sz="2400" b="1" i="0" dirty="0" smtClean="0">
                <a:solidFill>
                  <a:srgbClr val="3770C7"/>
                </a:solidFill>
                <a:effectLst/>
                <a:latin typeface="Arial" panose="020B0604020202020204" pitchFamily="34" charset="0"/>
              </a:rPr>
              <a:t>starts at the top of the object</a:t>
            </a:r>
            <a:r>
              <a:rPr lang="en-AU" sz="2400" b="0" i="0" dirty="0" smtClean="0">
                <a:solidFill>
                  <a:srgbClr val="444444"/>
                </a:solidFill>
                <a:effectLst/>
                <a:latin typeface="Arial" panose="020B0604020202020204" pitchFamily="34" charset="0"/>
              </a:rPr>
              <a:t> (the same as the two previous rays). It then travels from the </a:t>
            </a:r>
            <a:r>
              <a:rPr lang="en-AU" sz="2400" b="1" i="0" dirty="0" smtClean="0">
                <a:solidFill>
                  <a:srgbClr val="8C4AB2"/>
                </a:solidFill>
                <a:effectLst/>
                <a:latin typeface="Arial" panose="020B0604020202020204" pitchFamily="34" charset="0"/>
              </a:rPr>
              <a:t>top of the object to the optical centre</a:t>
            </a:r>
            <a:r>
              <a:rPr lang="en-AU" sz="2400" b="0" i="0" dirty="0" smtClean="0">
                <a:solidFill>
                  <a:srgbClr val="444444"/>
                </a:solidFill>
                <a:effectLst/>
                <a:latin typeface="Arial" panose="020B0604020202020204" pitchFamily="34" charset="0"/>
              </a:rPr>
              <a:t> of the lens. It will pass through the optical centre of the lens along the same path, </a:t>
            </a:r>
            <a:r>
              <a:rPr lang="en-AU" sz="2400" b="1" i="0" dirty="0" smtClean="0">
                <a:solidFill>
                  <a:srgbClr val="3770C7"/>
                </a:solidFill>
                <a:effectLst/>
                <a:latin typeface="Arial" panose="020B0604020202020204" pitchFamily="34" charset="0"/>
              </a:rPr>
              <a:t>without undergoing any refraction.</a:t>
            </a:r>
            <a:endParaRPr lang="en-AU" sz="2400" b="0" i="0" dirty="0">
              <a:solidFill>
                <a:srgbClr val="444444"/>
              </a:solidFill>
              <a:effectLst/>
              <a:latin typeface="Arial" panose="020B0604020202020204" pitchFamily="34" charset="0"/>
            </a:endParaRPr>
          </a:p>
        </p:txBody>
      </p:sp>
      <p:pic>
        <p:nvPicPr>
          <p:cNvPr id="3" name="1585598728.188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692399" y="2723184"/>
            <a:ext cx="7273925" cy="3957015"/>
          </a:xfrm>
          <a:prstGeom prst="rect">
            <a:avLst/>
          </a:prstGeom>
        </p:spPr>
      </p:pic>
    </p:spTree>
    <p:extLst>
      <p:ext uri="{BB962C8B-B14F-4D97-AF65-F5344CB8AC3E}">
        <p14:creationId xmlns:p14="http://schemas.microsoft.com/office/powerpoint/2010/main" val="2857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20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800" y="172641"/>
            <a:ext cx="11772900" cy="3477875"/>
          </a:xfrm>
          <a:prstGeom prst="rect">
            <a:avLst/>
          </a:prstGeom>
        </p:spPr>
        <p:txBody>
          <a:bodyPr wrap="square">
            <a:spAutoFit/>
          </a:bodyPr>
          <a:lstStyle/>
          <a:p>
            <a:pPr algn="ctr"/>
            <a:r>
              <a:rPr lang="en-AU" sz="2200" b="1" i="0" dirty="0" smtClean="0">
                <a:solidFill>
                  <a:srgbClr val="444444"/>
                </a:solidFill>
                <a:effectLst/>
                <a:latin typeface="Arial" panose="020B0604020202020204" pitchFamily="34" charset="0"/>
              </a:rPr>
              <a:t>To determine the </a:t>
            </a:r>
            <a:r>
              <a:rPr lang="en-AU" sz="2200" b="1" i="0" dirty="0" smtClean="0">
                <a:solidFill>
                  <a:srgbClr val="3598DC"/>
                </a:solidFill>
                <a:effectLst/>
                <a:latin typeface="Arial" panose="020B0604020202020204" pitchFamily="34" charset="0"/>
              </a:rPr>
              <a:t>location of the image</a:t>
            </a:r>
            <a:r>
              <a:rPr lang="en-AU" sz="2200" b="1" i="0" dirty="0" smtClean="0">
                <a:solidFill>
                  <a:srgbClr val="444444"/>
                </a:solidFill>
                <a:effectLst/>
                <a:latin typeface="Arial" panose="020B0604020202020204" pitchFamily="34" charset="0"/>
              </a:rPr>
              <a:t> we need to </a:t>
            </a:r>
            <a:r>
              <a:rPr lang="en-AU" sz="2200" b="1" i="0" dirty="0" smtClean="0">
                <a:solidFill>
                  <a:srgbClr val="8C4AB2"/>
                </a:solidFill>
                <a:effectLst/>
                <a:latin typeface="Arial" panose="020B0604020202020204" pitchFamily="34" charset="0"/>
              </a:rPr>
              <a:t>combine three principal rays</a:t>
            </a:r>
            <a:r>
              <a:rPr lang="en-AU" sz="2200" b="1" i="0" dirty="0" smtClean="0">
                <a:solidFill>
                  <a:srgbClr val="444444"/>
                </a:solidFill>
                <a:effectLst/>
                <a:latin typeface="Arial" panose="020B0604020202020204" pitchFamily="34" charset="0"/>
              </a:rPr>
              <a:t> onto one diagram.</a:t>
            </a:r>
          </a:p>
          <a:p>
            <a:pPr algn="ctr"/>
            <a:r>
              <a:rPr lang="en-AU" sz="2200" b="0" i="0" dirty="0" smtClean="0">
                <a:solidFill>
                  <a:srgbClr val="444444"/>
                </a:solidFill>
                <a:effectLst/>
                <a:latin typeface="Arial" panose="020B0604020202020204" pitchFamily="34" charset="0"/>
              </a:rPr>
              <a:t> </a:t>
            </a:r>
          </a:p>
          <a:p>
            <a:r>
              <a:rPr lang="en-AU" sz="2200" b="0" i="0" dirty="0" smtClean="0">
                <a:solidFill>
                  <a:srgbClr val="444444"/>
                </a:solidFill>
                <a:effectLst/>
                <a:latin typeface="Arial" panose="020B0604020202020204" pitchFamily="34" charset="0"/>
              </a:rPr>
              <a:t>As we draw on three principal rays (always starting from the top of the object) we notice that there is </a:t>
            </a:r>
            <a:r>
              <a:rPr lang="en-AU" sz="2200" b="1" i="0" dirty="0" smtClean="0">
                <a:solidFill>
                  <a:srgbClr val="3598DC"/>
                </a:solidFill>
                <a:effectLst/>
                <a:latin typeface="Arial" panose="020B0604020202020204" pitchFamily="34" charset="0"/>
              </a:rPr>
              <a:t>no point</a:t>
            </a:r>
            <a:r>
              <a:rPr lang="en-AU" sz="2200" b="0" i="0" dirty="0" smtClean="0">
                <a:solidFill>
                  <a:srgbClr val="444444"/>
                </a:solidFill>
                <a:effectLst/>
                <a:latin typeface="Arial" panose="020B0604020202020204" pitchFamily="34" charset="0"/>
              </a:rPr>
              <a:t> at which all three </a:t>
            </a:r>
            <a:r>
              <a:rPr lang="en-AU" sz="2200" b="1" i="0" dirty="0" smtClean="0">
                <a:solidFill>
                  <a:srgbClr val="FF7F50"/>
                </a:solidFill>
                <a:effectLst/>
                <a:latin typeface="Arial" panose="020B0604020202020204" pitchFamily="34" charset="0"/>
              </a:rPr>
              <a:t>refracted rays converge.</a:t>
            </a:r>
            <a:r>
              <a:rPr lang="en-AU" sz="2200" b="0" i="0" dirty="0" smtClean="0">
                <a:solidFill>
                  <a:srgbClr val="444444"/>
                </a:solidFill>
                <a:effectLst/>
                <a:latin typeface="Arial" panose="020B0604020202020204" pitchFamily="34" charset="0"/>
              </a:rPr>
              <a:t> This indicates that we </a:t>
            </a:r>
            <a:r>
              <a:rPr lang="en-AU" sz="2200" b="1" i="0" dirty="0" smtClean="0">
                <a:solidFill>
                  <a:srgbClr val="8C4AB2"/>
                </a:solidFill>
                <a:effectLst/>
                <a:latin typeface="Arial" panose="020B0604020202020204" pitchFamily="34" charset="0"/>
              </a:rPr>
              <a:t>cannot form a real image</a:t>
            </a:r>
            <a:r>
              <a:rPr lang="en-AU" sz="2200" b="0" i="0" dirty="0" smtClean="0">
                <a:solidFill>
                  <a:srgbClr val="444444"/>
                </a:solidFill>
                <a:effectLst/>
                <a:latin typeface="Arial" panose="020B0604020202020204" pitchFamily="34" charset="0"/>
              </a:rPr>
              <a:t> with a concave lens. However, we can </a:t>
            </a:r>
            <a:r>
              <a:rPr lang="en-AU" sz="2200" b="1" i="0" dirty="0" smtClean="0">
                <a:solidFill>
                  <a:srgbClr val="3598DC"/>
                </a:solidFill>
                <a:effectLst/>
                <a:latin typeface="Arial" panose="020B0604020202020204" pitchFamily="34" charset="0"/>
              </a:rPr>
              <a:t>create a virtual image.</a:t>
            </a:r>
            <a:endParaRPr lang="en-AU" sz="2200" b="0" i="0" dirty="0" smtClean="0">
              <a:solidFill>
                <a:srgbClr val="444444"/>
              </a:solidFill>
              <a:effectLst/>
              <a:latin typeface="Arial" panose="020B0604020202020204" pitchFamily="34" charset="0"/>
            </a:endParaRPr>
          </a:p>
          <a:p>
            <a:pPr algn="ctr"/>
            <a:r>
              <a:rPr lang="en-AU" sz="2200" b="0" i="0" dirty="0" smtClean="0">
                <a:solidFill>
                  <a:srgbClr val="444444"/>
                </a:solidFill>
                <a:effectLst/>
                <a:latin typeface="Arial" panose="020B0604020202020204" pitchFamily="34" charset="0"/>
              </a:rPr>
              <a:t> </a:t>
            </a:r>
          </a:p>
          <a:p>
            <a:r>
              <a:rPr lang="en-AU" sz="2200" b="0" i="0" dirty="0" smtClean="0">
                <a:solidFill>
                  <a:srgbClr val="444444"/>
                </a:solidFill>
                <a:effectLst/>
                <a:latin typeface="Arial" panose="020B0604020202020204" pitchFamily="34" charset="0"/>
              </a:rPr>
              <a:t>A virtual image is </a:t>
            </a:r>
            <a:r>
              <a:rPr lang="en-AU" sz="2200" b="1" i="0" dirty="0" smtClean="0">
                <a:solidFill>
                  <a:srgbClr val="8C4AB2"/>
                </a:solidFill>
                <a:effectLst/>
                <a:latin typeface="Arial" panose="020B0604020202020204" pitchFamily="34" charset="0"/>
              </a:rPr>
              <a:t>formed from virtual light rays</a:t>
            </a:r>
            <a:r>
              <a:rPr lang="en-AU" sz="2200" b="0" i="0" dirty="0" smtClean="0">
                <a:solidFill>
                  <a:srgbClr val="444444"/>
                </a:solidFill>
                <a:effectLst/>
                <a:latin typeface="Arial" panose="020B0604020202020204" pitchFamily="34" charset="0"/>
              </a:rPr>
              <a:t> and will not be able to be seen on a screen. We will only be able to </a:t>
            </a:r>
            <a:r>
              <a:rPr lang="en-AU" sz="2200" b="1" i="0" dirty="0" smtClean="0">
                <a:solidFill>
                  <a:srgbClr val="3598DC"/>
                </a:solidFill>
                <a:effectLst/>
                <a:latin typeface="Arial" panose="020B0604020202020204" pitchFamily="34" charset="0"/>
              </a:rPr>
              <a:t>observe a virtual image</a:t>
            </a:r>
            <a:r>
              <a:rPr lang="en-AU" sz="2200" b="0" i="0" dirty="0" smtClean="0">
                <a:solidFill>
                  <a:srgbClr val="444444"/>
                </a:solidFill>
                <a:effectLst/>
                <a:latin typeface="Arial" panose="020B0604020202020204" pitchFamily="34" charset="0"/>
              </a:rPr>
              <a:t> when we </a:t>
            </a:r>
            <a:r>
              <a:rPr lang="en-AU" sz="2200" b="1" i="0" dirty="0" smtClean="0">
                <a:solidFill>
                  <a:srgbClr val="FF7F50"/>
                </a:solidFill>
                <a:effectLst/>
                <a:latin typeface="Arial" panose="020B0604020202020204" pitchFamily="34" charset="0"/>
              </a:rPr>
              <a:t>look through the lens</a:t>
            </a:r>
            <a:r>
              <a:rPr lang="en-AU" sz="2200" b="0" i="0" dirty="0" smtClean="0">
                <a:solidFill>
                  <a:srgbClr val="444444"/>
                </a:solidFill>
                <a:effectLst/>
                <a:latin typeface="Arial" panose="020B0604020202020204" pitchFamily="34" charset="0"/>
              </a:rPr>
              <a:t> and it will appear to be placed in front of the lens.</a:t>
            </a:r>
            <a:endParaRPr lang="en-AU" sz="2200" b="0" i="0" dirty="0">
              <a:solidFill>
                <a:srgbClr val="444444"/>
              </a:solidFill>
              <a:effectLst/>
              <a:latin typeface="Arial" panose="020B0604020202020204" pitchFamily="34" charset="0"/>
            </a:endParaRPr>
          </a:p>
        </p:txBody>
      </p:sp>
      <p:pic>
        <p:nvPicPr>
          <p:cNvPr id="3" name="1586816293.1881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971799" y="3650516"/>
            <a:ext cx="5622925" cy="3058871"/>
          </a:xfrm>
          <a:prstGeom prst="rect">
            <a:avLst/>
          </a:prstGeom>
        </p:spPr>
      </p:pic>
    </p:spTree>
    <p:extLst>
      <p:ext uri="{BB962C8B-B14F-4D97-AF65-F5344CB8AC3E}">
        <p14:creationId xmlns:p14="http://schemas.microsoft.com/office/powerpoint/2010/main" val="2322453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54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0148"/>
            <a:ext cx="11671300" cy="5847755"/>
          </a:xfrm>
          <a:prstGeom prst="rect">
            <a:avLst/>
          </a:prstGeom>
        </p:spPr>
        <p:txBody>
          <a:bodyPr wrap="square">
            <a:spAutoFit/>
          </a:bodyPr>
          <a:lstStyle/>
          <a:p>
            <a:pPr algn="ctr"/>
            <a:r>
              <a:rPr lang="en-AU" sz="2200" b="1" i="0" dirty="0" smtClean="0">
                <a:solidFill>
                  <a:srgbClr val="444444"/>
                </a:solidFill>
                <a:effectLst/>
                <a:latin typeface="Arial" panose="020B0604020202020204" pitchFamily="34" charset="0"/>
              </a:rPr>
              <a:t>To locate a virtual image, we </a:t>
            </a:r>
            <a:r>
              <a:rPr lang="en-AU" sz="2200" b="1" i="0" dirty="0" err="1" smtClean="0">
                <a:solidFill>
                  <a:srgbClr val="444444"/>
                </a:solidFill>
                <a:effectLst/>
                <a:latin typeface="Arial" panose="020B0604020202020204" pitchFamily="34" charset="0"/>
              </a:rPr>
              <a:t>backtrace</a:t>
            </a:r>
            <a:r>
              <a:rPr lang="en-AU" sz="2200" b="1" i="0" dirty="0" smtClean="0">
                <a:solidFill>
                  <a:srgbClr val="444444"/>
                </a:solidFill>
                <a:effectLst/>
                <a:latin typeface="Arial" panose="020B0604020202020204" pitchFamily="34" charset="0"/>
              </a:rPr>
              <a:t> the </a:t>
            </a:r>
            <a:r>
              <a:rPr lang="en-AU" sz="2200" b="1" i="0" dirty="0" smtClean="0">
                <a:solidFill>
                  <a:srgbClr val="FF7F50"/>
                </a:solidFill>
                <a:effectLst/>
                <a:latin typeface="Arial" panose="020B0604020202020204" pitchFamily="34" charset="0"/>
              </a:rPr>
              <a:t>refracted principal rays.</a:t>
            </a:r>
            <a:endParaRPr lang="en-AU" sz="2200" b="1" i="0" dirty="0" smtClean="0">
              <a:solidFill>
                <a:srgbClr val="444444"/>
              </a:solidFill>
              <a:effectLst/>
              <a:latin typeface="Arial" panose="020B0604020202020204" pitchFamily="34" charset="0"/>
            </a:endParaRPr>
          </a:p>
          <a:p>
            <a:pPr algn="ctr"/>
            <a:r>
              <a:rPr lang="en-AU" sz="2200" b="0" i="0" dirty="0" smtClean="0">
                <a:solidFill>
                  <a:srgbClr val="444444"/>
                </a:solidFill>
                <a:effectLst/>
                <a:latin typeface="Arial" panose="020B0604020202020204" pitchFamily="34" charset="0"/>
              </a:rPr>
              <a:t> </a:t>
            </a:r>
          </a:p>
          <a:p>
            <a:r>
              <a:rPr lang="en-AU" sz="2200" b="0" i="0" dirty="0" smtClean="0">
                <a:solidFill>
                  <a:srgbClr val="444444"/>
                </a:solidFill>
                <a:effectLst/>
                <a:latin typeface="Arial" panose="020B0604020202020204" pitchFamily="34" charset="0"/>
              </a:rPr>
              <a:t>This means we find the location where the refracted principal rays meet the concave lens and </a:t>
            </a:r>
            <a:r>
              <a:rPr lang="en-AU" sz="2200" b="1" i="0" dirty="0" smtClean="0">
                <a:solidFill>
                  <a:srgbClr val="3598DC"/>
                </a:solidFill>
                <a:effectLst/>
                <a:latin typeface="Arial" panose="020B0604020202020204" pitchFamily="34" charset="0"/>
              </a:rPr>
              <a:t>trace them back in front of the lens,</a:t>
            </a:r>
            <a:r>
              <a:rPr lang="en-AU" sz="2200" b="0" i="0" dirty="0" smtClean="0">
                <a:solidFill>
                  <a:srgbClr val="444444"/>
                </a:solidFill>
                <a:effectLst/>
                <a:latin typeface="Arial" panose="020B0604020202020204" pitchFamily="34" charset="0"/>
              </a:rPr>
              <a:t> making sure to keep the </a:t>
            </a:r>
            <a:r>
              <a:rPr lang="en-AU" sz="2200" b="1" i="0" dirty="0" smtClean="0">
                <a:solidFill>
                  <a:srgbClr val="8C4AB2"/>
                </a:solidFill>
                <a:effectLst/>
                <a:latin typeface="Arial" panose="020B0604020202020204" pitchFamily="34" charset="0"/>
              </a:rPr>
              <a:t>same angles for our lines.</a:t>
            </a:r>
            <a:r>
              <a:rPr lang="en-AU" sz="2200" b="0" i="0" dirty="0" smtClean="0">
                <a:solidFill>
                  <a:srgbClr val="444444"/>
                </a:solidFill>
                <a:effectLst/>
                <a:latin typeface="Arial" panose="020B0604020202020204" pitchFamily="34" charset="0"/>
              </a:rPr>
              <a:t> When we trace rays in front of a lens, </a:t>
            </a:r>
            <a:r>
              <a:rPr lang="en-AU" sz="2200" b="1" i="0" dirty="0" smtClean="0">
                <a:solidFill>
                  <a:srgbClr val="FF7F50"/>
                </a:solidFill>
                <a:effectLst/>
                <a:latin typeface="Arial" panose="020B0604020202020204" pitchFamily="34" charset="0"/>
              </a:rPr>
              <a:t>creating virtual rays,</a:t>
            </a:r>
            <a:r>
              <a:rPr lang="en-AU" sz="2200" b="0" i="0" dirty="0" smtClean="0">
                <a:solidFill>
                  <a:srgbClr val="444444"/>
                </a:solidFill>
                <a:effectLst/>
                <a:latin typeface="Arial" panose="020B0604020202020204" pitchFamily="34" charset="0"/>
              </a:rPr>
              <a:t> it is referred to as </a:t>
            </a:r>
            <a:r>
              <a:rPr lang="en-AU" sz="2200" b="0" i="0" dirty="0" err="1" smtClean="0">
                <a:solidFill>
                  <a:srgbClr val="444444"/>
                </a:solidFill>
                <a:effectLst/>
                <a:latin typeface="Arial" panose="020B0604020202020204" pitchFamily="34" charset="0"/>
              </a:rPr>
              <a:t>backtracing</a:t>
            </a:r>
            <a:r>
              <a:rPr lang="en-AU" sz="2200" b="0" i="0" dirty="0" smtClean="0">
                <a:solidFill>
                  <a:srgbClr val="444444"/>
                </a:solidFill>
                <a:effectLst/>
                <a:latin typeface="Arial" panose="020B0604020202020204" pitchFamily="34" charset="0"/>
              </a:rPr>
              <a:t> and the rays are </a:t>
            </a:r>
            <a:r>
              <a:rPr lang="en-AU" sz="2200" b="1" i="0" dirty="0" smtClean="0">
                <a:solidFill>
                  <a:srgbClr val="3598DC"/>
                </a:solidFill>
                <a:effectLst/>
                <a:latin typeface="Arial" panose="020B0604020202020204" pitchFamily="34" charset="0"/>
              </a:rPr>
              <a:t>drawn using dotted lines.</a:t>
            </a:r>
            <a:r>
              <a:rPr lang="en-AU" sz="2200" b="0" i="0" dirty="0" smtClean="0">
                <a:solidFill>
                  <a:srgbClr val="444444"/>
                </a:solidFill>
                <a:effectLst/>
                <a:latin typeface="Arial" panose="020B0604020202020204" pitchFamily="34" charset="0"/>
              </a:rPr>
              <a:t> Only one of the principal rays need to be </a:t>
            </a:r>
            <a:r>
              <a:rPr lang="en-AU" sz="2200" b="0" i="0" dirty="0" err="1" smtClean="0">
                <a:solidFill>
                  <a:srgbClr val="444444"/>
                </a:solidFill>
                <a:effectLst/>
                <a:latin typeface="Arial" panose="020B0604020202020204" pitchFamily="34" charset="0"/>
              </a:rPr>
              <a:t>backtraced</a:t>
            </a:r>
            <a:r>
              <a:rPr lang="en-AU" sz="2200" b="0" i="0" dirty="0" smtClean="0">
                <a:solidFill>
                  <a:srgbClr val="444444"/>
                </a:solidFill>
                <a:effectLst/>
                <a:latin typeface="Arial" panose="020B0604020202020204" pitchFamily="34" charset="0"/>
              </a:rPr>
              <a:t> as the other two have already been </a:t>
            </a:r>
            <a:r>
              <a:rPr lang="en-AU" sz="2200" b="0" i="0" dirty="0" err="1" smtClean="0">
                <a:solidFill>
                  <a:srgbClr val="444444"/>
                </a:solidFill>
                <a:effectLst/>
                <a:latin typeface="Arial" panose="020B0604020202020204" pitchFamily="34" charset="0"/>
              </a:rPr>
              <a:t>backtraced</a:t>
            </a:r>
            <a:r>
              <a:rPr lang="en-AU" sz="2200" b="0" i="0" dirty="0" smtClean="0">
                <a:solidFill>
                  <a:srgbClr val="444444"/>
                </a:solidFill>
                <a:effectLst/>
                <a:latin typeface="Arial" panose="020B0604020202020204" pitchFamily="34" charset="0"/>
              </a:rPr>
              <a:t>.</a:t>
            </a:r>
          </a:p>
          <a:p>
            <a:r>
              <a:rPr lang="en-AU" sz="2200" b="0" i="0" dirty="0" smtClean="0">
                <a:solidFill>
                  <a:srgbClr val="444444"/>
                </a:solidFill>
                <a:effectLst/>
                <a:latin typeface="Arial" panose="020B0604020202020204" pitchFamily="34" charset="0"/>
              </a:rPr>
              <a:t> </a:t>
            </a:r>
          </a:p>
          <a:p>
            <a:r>
              <a:rPr lang="en-AU" sz="2200" b="1" i="0" dirty="0" smtClean="0">
                <a:solidFill>
                  <a:srgbClr val="999999"/>
                </a:solidFill>
                <a:effectLst/>
                <a:latin typeface="Arial" panose="020B0604020202020204" pitchFamily="34" charset="0"/>
              </a:rPr>
              <a:t>Although the principal ray going through the optical centre of the lens has not technically been </a:t>
            </a:r>
            <a:r>
              <a:rPr lang="en-AU" sz="2200" b="1" i="0" dirty="0" err="1" smtClean="0">
                <a:solidFill>
                  <a:srgbClr val="999999"/>
                </a:solidFill>
                <a:effectLst/>
                <a:latin typeface="Arial" panose="020B0604020202020204" pitchFamily="34" charset="0"/>
              </a:rPr>
              <a:t>backtraced</a:t>
            </a:r>
            <a:r>
              <a:rPr lang="en-AU" sz="2200" b="1" i="0" dirty="0" smtClean="0">
                <a:solidFill>
                  <a:srgbClr val="999999"/>
                </a:solidFill>
                <a:effectLst/>
                <a:latin typeface="Arial" panose="020B0604020202020204" pitchFamily="34" charset="0"/>
              </a:rPr>
              <a:t>, the ray is unaffected by refraction. This means the </a:t>
            </a:r>
            <a:r>
              <a:rPr lang="en-AU" sz="2200" b="1" i="0" dirty="0" err="1" smtClean="0">
                <a:solidFill>
                  <a:srgbClr val="999999"/>
                </a:solidFill>
                <a:effectLst/>
                <a:latin typeface="Arial" panose="020B0604020202020204" pitchFamily="34" charset="0"/>
              </a:rPr>
              <a:t>backtraced</a:t>
            </a:r>
            <a:r>
              <a:rPr lang="en-AU" sz="2200" b="1" i="0" dirty="0" smtClean="0">
                <a:solidFill>
                  <a:srgbClr val="999999"/>
                </a:solidFill>
                <a:effectLst/>
                <a:latin typeface="Arial" panose="020B0604020202020204" pitchFamily="34" charset="0"/>
              </a:rPr>
              <a:t> ray will be in the same location as the incident ray, making its inclusion in our ray diagram redundant.</a:t>
            </a:r>
          </a:p>
          <a:p>
            <a:pPr algn="ctr"/>
            <a:r>
              <a:rPr lang="en-AU" sz="2200" b="0" i="0" dirty="0" smtClean="0">
                <a:solidFill>
                  <a:srgbClr val="444444"/>
                </a:solidFill>
                <a:effectLst/>
                <a:latin typeface="Arial" panose="020B0604020202020204" pitchFamily="34" charset="0"/>
              </a:rPr>
              <a:t> </a:t>
            </a:r>
          </a:p>
          <a:p>
            <a:r>
              <a:rPr lang="en-AU" sz="2200" b="0" i="0" dirty="0" smtClean="0">
                <a:solidFill>
                  <a:srgbClr val="444444"/>
                </a:solidFill>
                <a:effectLst/>
                <a:latin typeface="Arial" panose="020B0604020202020204" pitchFamily="34" charset="0"/>
              </a:rPr>
              <a:t>There is a point in front of the lens where the three </a:t>
            </a:r>
            <a:r>
              <a:rPr lang="en-AU" sz="2200" b="1" i="0" dirty="0" err="1" smtClean="0">
                <a:solidFill>
                  <a:srgbClr val="8C4AB2"/>
                </a:solidFill>
                <a:effectLst/>
                <a:latin typeface="Arial" panose="020B0604020202020204" pitchFamily="34" charset="0"/>
              </a:rPr>
              <a:t>backtraced</a:t>
            </a:r>
            <a:r>
              <a:rPr lang="en-AU" sz="2200" b="1" i="0" dirty="0" smtClean="0">
                <a:solidFill>
                  <a:srgbClr val="8C4AB2"/>
                </a:solidFill>
                <a:effectLst/>
                <a:latin typeface="Arial" panose="020B0604020202020204" pitchFamily="34" charset="0"/>
              </a:rPr>
              <a:t> rays (virtual rays) converge.</a:t>
            </a:r>
            <a:r>
              <a:rPr lang="en-AU" sz="2200" b="0" i="0" dirty="0" smtClean="0">
                <a:solidFill>
                  <a:srgbClr val="444444"/>
                </a:solidFill>
                <a:effectLst/>
                <a:latin typeface="Arial" panose="020B0604020202020204" pitchFamily="34" charset="0"/>
              </a:rPr>
              <a:t> This point of intersection identifies the </a:t>
            </a:r>
            <a:r>
              <a:rPr lang="en-AU" sz="2200" b="1" i="0" dirty="0" smtClean="0">
                <a:solidFill>
                  <a:srgbClr val="FF7F50"/>
                </a:solidFill>
                <a:effectLst/>
                <a:latin typeface="Arial" panose="020B0604020202020204" pitchFamily="34" charset="0"/>
              </a:rPr>
              <a:t>top of the virtual image.</a:t>
            </a:r>
            <a:r>
              <a:rPr lang="en-AU" sz="2200" b="0" i="0" dirty="0" smtClean="0">
                <a:solidFill>
                  <a:srgbClr val="444444"/>
                </a:solidFill>
                <a:effectLst/>
                <a:latin typeface="Arial" panose="020B0604020202020204" pitchFamily="34" charset="0"/>
              </a:rPr>
              <a:t> We can draw a vertical line from this location back to the principal axis to show the formation of the virtual image. This image has </a:t>
            </a:r>
            <a:r>
              <a:rPr lang="en-AU" sz="2200" b="1" i="0" dirty="0" smtClean="0">
                <a:solidFill>
                  <a:srgbClr val="3598DC"/>
                </a:solidFill>
                <a:effectLst/>
                <a:latin typeface="Arial" panose="020B0604020202020204" pitchFamily="34" charset="0"/>
              </a:rPr>
              <a:t>formed between the edge of the lens and its virtual focus.</a:t>
            </a:r>
            <a:endParaRPr lang="en-AU" sz="2200"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2618323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0" y="291743"/>
            <a:ext cx="11950700" cy="3170099"/>
          </a:xfrm>
          <a:prstGeom prst="rect">
            <a:avLst/>
          </a:prstGeom>
        </p:spPr>
        <p:txBody>
          <a:bodyPr wrap="square">
            <a:spAutoFit/>
          </a:bodyPr>
          <a:lstStyle/>
          <a:p>
            <a:pPr algn="ctr"/>
            <a:r>
              <a:rPr lang="en-AU" sz="2000" b="1" i="0" dirty="0" smtClean="0">
                <a:solidFill>
                  <a:srgbClr val="444444"/>
                </a:solidFill>
                <a:effectLst/>
                <a:latin typeface="Arial" panose="020B0604020202020204" pitchFamily="34" charset="0"/>
              </a:rPr>
              <a:t>It is not enough just to show the location of the image on a ray diagram. Often we also need to </a:t>
            </a:r>
            <a:r>
              <a:rPr lang="en-AU" sz="2000" b="1" i="0" dirty="0" smtClean="0">
                <a:solidFill>
                  <a:srgbClr val="8C4AB2"/>
                </a:solidFill>
                <a:effectLst/>
                <a:latin typeface="Arial" panose="020B0604020202020204" pitchFamily="34" charset="0"/>
              </a:rPr>
              <a:t>describe the nature of the image,</a:t>
            </a:r>
            <a:r>
              <a:rPr lang="en-AU" sz="2000" b="1" i="0" dirty="0" smtClean="0">
                <a:solidFill>
                  <a:srgbClr val="444444"/>
                </a:solidFill>
                <a:effectLst/>
                <a:latin typeface="Arial" panose="020B0604020202020204" pitchFamily="34" charset="0"/>
              </a:rPr>
              <a:t> consisting of </a:t>
            </a:r>
            <a:r>
              <a:rPr lang="en-AU" sz="2000" b="1" i="0" dirty="0" smtClean="0">
                <a:solidFill>
                  <a:srgbClr val="3598DC"/>
                </a:solidFill>
                <a:effectLst/>
                <a:latin typeface="Arial" panose="020B0604020202020204" pitchFamily="34" charset="0"/>
              </a:rPr>
              <a:t>three different properties.</a:t>
            </a:r>
            <a:endParaRPr lang="en-AU" sz="2000" b="1" i="0" dirty="0" smtClean="0">
              <a:solidFill>
                <a:srgbClr val="444444"/>
              </a:solidFill>
              <a:effectLst/>
              <a:latin typeface="Arial" panose="020B0604020202020204" pitchFamily="34" charset="0"/>
            </a:endParaRPr>
          </a:p>
          <a:p>
            <a:pPr algn="ctr"/>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In the ray diagram below, we can see that the </a:t>
            </a:r>
            <a:r>
              <a:rPr lang="en-AU" sz="2000" b="1" i="0" dirty="0" smtClean="0">
                <a:solidFill>
                  <a:srgbClr val="3598DC"/>
                </a:solidFill>
                <a:effectLst/>
                <a:latin typeface="Arial" panose="020B0604020202020204" pitchFamily="34" charset="0"/>
              </a:rPr>
              <a:t>image has the same orientation</a:t>
            </a:r>
            <a:r>
              <a:rPr lang="en-AU" sz="2000" b="0" i="0" dirty="0" smtClean="0">
                <a:solidFill>
                  <a:srgbClr val="444444"/>
                </a:solidFill>
                <a:effectLst/>
                <a:latin typeface="Arial" panose="020B0604020202020204" pitchFamily="34" charset="0"/>
              </a:rPr>
              <a:t> as the object, as both arrows point upwards. We refer to this as an </a:t>
            </a:r>
            <a:r>
              <a:rPr lang="en-AU" sz="2000" b="1" i="0" dirty="0" smtClean="0">
                <a:solidFill>
                  <a:srgbClr val="FF7F50"/>
                </a:solidFill>
                <a:effectLst/>
                <a:latin typeface="Arial" panose="020B0604020202020204" pitchFamily="34" charset="0"/>
              </a:rPr>
              <a:t>upright image.</a:t>
            </a:r>
            <a:r>
              <a:rPr lang="en-AU" sz="2000" b="0" i="0" dirty="0" smtClean="0">
                <a:solidFill>
                  <a:srgbClr val="444444"/>
                </a:solidFill>
                <a:effectLst/>
                <a:latin typeface="Arial" panose="020B0604020202020204" pitchFamily="34" charset="0"/>
              </a:rPr>
              <a:t> The image has been formed by virtual light rays and is therefore referred to as </a:t>
            </a:r>
            <a:r>
              <a:rPr lang="en-AU" sz="2000" b="1" i="0" dirty="0" smtClean="0">
                <a:solidFill>
                  <a:srgbClr val="FF7F50"/>
                </a:solidFill>
                <a:effectLst/>
                <a:latin typeface="Arial" panose="020B0604020202020204" pitchFamily="34" charset="0"/>
              </a:rPr>
              <a:t>a virtual image.</a:t>
            </a:r>
            <a:r>
              <a:rPr lang="en-AU" sz="2000" b="0" i="0" dirty="0" smtClean="0">
                <a:solidFill>
                  <a:srgbClr val="444444"/>
                </a:solidFill>
                <a:effectLst/>
                <a:latin typeface="Arial" panose="020B0604020202020204" pitchFamily="34" charset="0"/>
              </a:rPr>
              <a:t> It turns out </a:t>
            </a:r>
            <a:r>
              <a:rPr lang="en-AU" sz="2000" b="1" i="0" dirty="0" smtClean="0">
                <a:solidFill>
                  <a:srgbClr val="8C4AB2"/>
                </a:solidFill>
                <a:effectLst/>
                <a:latin typeface="Arial" panose="020B0604020202020204" pitchFamily="34" charset="0"/>
              </a:rPr>
              <a:t>virtual images are always upright</a:t>
            </a:r>
            <a:r>
              <a:rPr lang="en-AU" sz="2000" b="0" i="0" dirty="0" smtClean="0">
                <a:solidFill>
                  <a:srgbClr val="444444"/>
                </a:solidFill>
                <a:effectLst/>
                <a:latin typeface="Arial" panose="020B0604020202020204" pitchFamily="34" charset="0"/>
              </a:rPr>
              <a:t> and upright images are always virtual.</a:t>
            </a:r>
          </a:p>
          <a:p>
            <a:r>
              <a:rPr lang="en-AU" sz="2000" b="0" i="0" dirty="0" smtClean="0">
                <a:solidFill>
                  <a:srgbClr val="444444"/>
                </a:solidFill>
                <a:effectLst/>
                <a:latin typeface="Arial" panose="020B0604020202020204" pitchFamily="34" charset="0"/>
              </a:rPr>
              <a:t> </a:t>
            </a:r>
          </a:p>
          <a:p>
            <a:r>
              <a:rPr lang="en-AU" sz="2000" b="0" i="0" dirty="0" smtClean="0">
                <a:solidFill>
                  <a:srgbClr val="444444"/>
                </a:solidFill>
                <a:effectLst/>
                <a:latin typeface="Arial" panose="020B0604020202020204" pitchFamily="34" charset="0"/>
              </a:rPr>
              <a:t>Lastly the image in the ray diagram below is </a:t>
            </a:r>
            <a:r>
              <a:rPr lang="en-AU" sz="2000" b="1" i="0" dirty="0" smtClean="0">
                <a:solidFill>
                  <a:srgbClr val="3598DC"/>
                </a:solidFill>
                <a:effectLst/>
                <a:latin typeface="Arial" panose="020B0604020202020204" pitchFamily="34" charset="0"/>
              </a:rPr>
              <a:t>smaller than the object.</a:t>
            </a:r>
            <a:r>
              <a:rPr lang="en-AU" sz="2000" b="0" i="0" dirty="0" smtClean="0">
                <a:solidFill>
                  <a:srgbClr val="444444"/>
                </a:solidFill>
                <a:effectLst/>
                <a:latin typeface="Arial" panose="020B0604020202020204" pitchFamily="34" charset="0"/>
              </a:rPr>
              <a:t> This is referred to as a </a:t>
            </a:r>
            <a:r>
              <a:rPr lang="en-AU" sz="2000" b="1" i="0" dirty="0" smtClean="0">
                <a:solidFill>
                  <a:srgbClr val="FF7F50"/>
                </a:solidFill>
                <a:effectLst/>
                <a:latin typeface="Arial" panose="020B0604020202020204" pitchFamily="34" charset="0"/>
              </a:rPr>
              <a:t>diminished image.</a:t>
            </a:r>
            <a:r>
              <a:rPr lang="en-AU" sz="2000" b="0" i="0" dirty="0" smtClean="0">
                <a:solidFill>
                  <a:srgbClr val="444444"/>
                </a:solidFill>
                <a:effectLst/>
                <a:latin typeface="Arial" panose="020B0604020202020204" pitchFamily="34" charset="0"/>
              </a:rPr>
              <a:t> Thus, the nature of this image is </a:t>
            </a:r>
            <a:r>
              <a:rPr lang="en-AU" sz="2000" b="1" i="0" dirty="0" smtClean="0">
                <a:solidFill>
                  <a:srgbClr val="8C4AB2"/>
                </a:solidFill>
                <a:effectLst/>
                <a:latin typeface="Arial" panose="020B0604020202020204" pitchFamily="34" charset="0"/>
              </a:rPr>
              <a:t>virtual, upright and diminished.</a:t>
            </a:r>
            <a:endParaRPr lang="en-AU" sz="2000" b="0" i="0" dirty="0">
              <a:solidFill>
                <a:srgbClr val="444444"/>
              </a:solidFill>
              <a:effectLst/>
              <a:latin typeface="Arial" panose="020B0604020202020204" pitchFamily="34" charset="0"/>
            </a:endParaRPr>
          </a:p>
        </p:txBody>
      </p:sp>
      <p:pic>
        <p:nvPicPr>
          <p:cNvPr id="10242" name="Picture 2" descr="https://www.educationperfect.com/media/content/Science/1585529919.041551g/1585529918846-2240242678739711-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4400" y="3639680"/>
            <a:ext cx="5018087" cy="28262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5720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900" y="262741"/>
            <a:ext cx="6096000" cy="6370975"/>
          </a:xfrm>
          <a:prstGeom prst="rect">
            <a:avLst/>
          </a:prstGeom>
        </p:spPr>
        <p:txBody>
          <a:bodyPr>
            <a:spAutoFit/>
          </a:bodyPr>
          <a:lstStyle/>
          <a:p>
            <a:pPr algn="ctr"/>
            <a:r>
              <a:rPr lang="en-AU" sz="2400" b="1" i="0" dirty="0" smtClean="0">
                <a:solidFill>
                  <a:srgbClr val="444444"/>
                </a:solidFill>
                <a:effectLst/>
                <a:latin typeface="Arial" panose="020B0604020202020204" pitchFamily="34" charset="0"/>
              </a:rPr>
              <a:t>A concave lens always creates a </a:t>
            </a:r>
            <a:r>
              <a:rPr lang="en-AU" sz="2400" b="1" i="0" dirty="0" smtClean="0">
                <a:solidFill>
                  <a:srgbClr val="3598DC"/>
                </a:solidFill>
                <a:effectLst/>
                <a:latin typeface="Arial" panose="020B0604020202020204" pitchFamily="34" charset="0"/>
              </a:rPr>
              <a:t>virtual, upright and diminished image.</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Regardless of the object location with respect to a concave lens a </a:t>
            </a:r>
            <a:r>
              <a:rPr lang="en-AU" sz="2400" b="1" i="0" dirty="0" smtClean="0">
                <a:solidFill>
                  <a:srgbClr val="3598DC"/>
                </a:solidFill>
                <a:effectLst/>
                <a:latin typeface="Arial" panose="020B0604020202020204" pitchFamily="34" charset="0"/>
              </a:rPr>
              <a:t>virtual, upright and diminished image</a:t>
            </a:r>
            <a:r>
              <a:rPr lang="en-AU" sz="2400" b="0" i="0" dirty="0" smtClean="0">
                <a:solidFill>
                  <a:srgbClr val="444444"/>
                </a:solidFill>
                <a:effectLst/>
                <a:latin typeface="Arial" panose="020B0604020202020204" pitchFamily="34" charset="0"/>
              </a:rPr>
              <a:t> is always </a:t>
            </a:r>
            <a:r>
              <a:rPr lang="en-AU" sz="2400" b="1" i="0" dirty="0" smtClean="0">
                <a:solidFill>
                  <a:srgbClr val="FF7F50"/>
                </a:solidFill>
                <a:effectLst/>
                <a:latin typeface="Arial" panose="020B0604020202020204" pitchFamily="34" charset="0"/>
              </a:rPr>
              <a:t>formed between the edge of the lens and its virtual focus.</a:t>
            </a:r>
            <a:endParaRPr lang="en-AU" sz="2400" b="0"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r>
              <a:rPr lang="en-AU" sz="2400" b="0" i="0" dirty="0" smtClean="0">
                <a:solidFill>
                  <a:srgbClr val="444444"/>
                </a:solidFill>
                <a:effectLst/>
                <a:latin typeface="Arial" panose="020B0604020202020204" pitchFamily="34" charset="0"/>
              </a:rPr>
              <a:t>Although the </a:t>
            </a:r>
            <a:r>
              <a:rPr lang="en-AU" sz="2400" b="1" i="0" dirty="0" smtClean="0">
                <a:solidFill>
                  <a:srgbClr val="8C4AB2"/>
                </a:solidFill>
                <a:effectLst/>
                <a:latin typeface="Arial" panose="020B0604020202020204" pitchFamily="34" charset="0"/>
              </a:rPr>
              <a:t>image remains diminished,</a:t>
            </a:r>
            <a:r>
              <a:rPr lang="en-AU" sz="2400" b="0" i="0" dirty="0" smtClean="0">
                <a:solidFill>
                  <a:srgbClr val="444444"/>
                </a:solidFill>
                <a:effectLst/>
                <a:latin typeface="Arial" panose="020B0604020202020204" pitchFamily="34" charset="0"/>
              </a:rPr>
              <a:t> as we move the </a:t>
            </a:r>
            <a:r>
              <a:rPr lang="en-AU" sz="2400" b="1" i="0" dirty="0" smtClean="0">
                <a:solidFill>
                  <a:srgbClr val="FF7F50"/>
                </a:solidFill>
                <a:effectLst/>
                <a:latin typeface="Arial" panose="020B0604020202020204" pitchFamily="34" charset="0"/>
              </a:rPr>
              <a:t>object closer</a:t>
            </a:r>
            <a:r>
              <a:rPr lang="en-AU" sz="2400" b="0" i="0" dirty="0" smtClean="0">
                <a:solidFill>
                  <a:srgbClr val="444444"/>
                </a:solidFill>
                <a:effectLst/>
                <a:latin typeface="Arial" panose="020B0604020202020204" pitchFamily="34" charset="0"/>
              </a:rPr>
              <a:t> to the lens the </a:t>
            </a:r>
            <a:r>
              <a:rPr lang="en-AU" sz="2400" b="1" i="0" dirty="0" smtClean="0">
                <a:solidFill>
                  <a:srgbClr val="3598DC"/>
                </a:solidFill>
                <a:effectLst/>
                <a:latin typeface="Arial" panose="020B0604020202020204" pitchFamily="34" charset="0"/>
              </a:rPr>
              <a:t>size of the image increases.</a:t>
            </a:r>
            <a:r>
              <a:rPr lang="en-AU" sz="2400" b="0" i="0" dirty="0" smtClean="0">
                <a:solidFill>
                  <a:srgbClr val="444444"/>
                </a:solidFill>
                <a:effectLst/>
                <a:latin typeface="Arial" panose="020B0604020202020204" pitchFamily="34" charset="0"/>
              </a:rPr>
              <a:t> In the ray diagram below, we have placed the object very close to the lens and the image (located in front of the object) is </a:t>
            </a:r>
            <a:r>
              <a:rPr lang="en-AU" sz="2400" b="1" i="0" dirty="0" smtClean="0">
                <a:solidFill>
                  <a:srgbClr val="8C4AB2"/>
                </a:solidFill>
                <a:effectLst/>
                <a:latin typeface="Arial" panose="020B0604020202020204" pitchFamily="34" charset="0"/>
              </a:rPr>
              <a:t>almost the same height as the object.</a:t>
            </a:r>
            <a:endParaRPr lang="en-AU" sz="2400" b="0" i="0" dirty="0">
              <a:solidFill>
                <a:srgbClr val="444444"/>
              </a:solidFill>
              <a:effectLst/>
              <a:latin typeface="Arial" panose="020B0604020202020204" pitchFamily="34" charset="0"/>
            </a:endParaRPr>
          </a:p>
        </p:txBody>
      </p:sp>
      <p:pic>
        <p:nvPicPr>
          <p:cNvPr id="11266" name="Picture 2" descr="https://www.educationperfect.com/media/content/Science/1585529924.644551g/1585529924485-2240242678739711-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4107" y="1616164"/>
            <a:ext cx="5303693" cy="3664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496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164</Words>
  <Application>Microsoft Office PowerPoint</Application>
  <PresentationFormat>Widescreen</PresentationFormat>
  <Paragraphs>78</Paragraphs>
  <Slides>17</Slides>
  <Notes>0</Notes>
  <HiddenSlides>0</HiddenSlides>
  <MMClips>4</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KaTeX_Main</vt:lpstr>
      <vt:lpstr>KaTeX_Math</vt:lpstr>
      <vt:lpstr>Office Theme</vt:lpstr>
      <vt:lpstr>Refraction of Light Through a Concave Lens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Refraction of Light Through a Concave Lens</dc:title>
  <dc:creator>Joseph D'cruz</dc:creator>
  <cp:lastModifiedBy>Joseph D'cruz</cp:lastModifiedBy>
  <cp:revision>2</cp:revision>
  <dcterms:created xsi:type="dcterms:W3CDTF">2020-08-08T13:40:11Z</dcterms:created>
  <dcterms:modified xsi:type="dcterms:W3CDTF">2020-08-08T13:42:14Z</dcterms:modified>
</cp:coreProperties>
</file>
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131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73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8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162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56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10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27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58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96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31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70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742F6-D3DF-48D4-83F3-6A93B49558FD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FEA7D-5D0F-432A-84BF-47123B1498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10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RAFPdDppz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Data Uncertainty and Quality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42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894885"/>
              </p:ext>
            </p:extLst>
          </p:nvPr>
        </p:nvGraphicFramePr>
        <p:xfrm>
          <a:off x="838200" y="1754664"/>
          <a:ext cx="10515600" cy="11658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73897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 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</a:rPr>
                        <a:t>Design</a:t>
                      </a:r>
                      <a:r>
                        <a:rPr lang="en-AU">
                          <a:effectLst/>
                        </a:rPr>
                        <a:t> an experiment to collect</a:t>
                      </a:r>
                      <a:r>
                        <a:rPr lang="en-AU">
                          <a:solidFill>
                            <a:srgbClr val="F30277"/>
                          </a:solidFill>
                          <a:effectLst/>
                        </a:rPr>
                        <a:t> </a:t>
                      </a:r>
                      <a:r>
                        <a:rPr lang="en-AU" b="1">
                          <a:solidFill>
                            <a:srgbClr val="F30277"/>
                          </a:solidFill>
                          <a:effectLst/>
                        </a:rPr>
                        <a:t>high quality</a:t>
                      </a:r>
                      <a:r>
                        <a:rPr lang="en-AU">
                          <a:effectLst/>
                        </a:rPr>
                        <a:t> data.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84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 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</a:rPr>
                        <a:t>Recall </a:t>
                      </a:r>
                      <a:r>
                        <a:rPr lang="en-AU">
                          <a:effectLst/>
                        </a:rPr>
                        <a:t>what is meant by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accuracy,</a:t>
                      </a:r>
                      <a:r>
                        <a:rPr lang="en-AU">
                          <a:effectLst/>
                        </a:rPr>
                        <a:t> </a:t>
                      </a:r>
                      <a:r>
                        <a:rPr lang="en-AU" b="1">
                          <a:solidFill>
                            <a:srgbClr val="CC0000"/>
                          </a:solidFill>
                          <a:effectLst/>
                        </a:rPr>
                        <a:t>precision</a:t>
                      </a:r>
                      <a:r>
                        <a:rPr lang="en-AU">
                          <a:effectLst/>
                        </a:rPr>
                        <a:t> and </a:t>
                      </a:r>
                      <a:r>
                        <a:rPr lang="en-AU" b="1">
                          <a:solidFill>
                            <a:srgbClr val="146307"/>
                          </a:solidFill>
                          <a:effectLst/>
                        </a:rPr>
                        <a:t>validity.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96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• </a:t>
                      </a:r>
                      <a:r>
                        <a:rPr lang="en-AU" b="1" dirty="0">
                          <a:solidFill>
                            <a:srgbClr val="228B22"/>
                          </a:solidFill>
                          <a:effectLst/>
                        </a:rPr>
                        <a:t>Explain</a:t>
                      </a:r>
                      <a:r>
                        <a:rPr lang="en-AU" dirty="0">
                          <a:effectLst/>
                        </a:rPr>
                        <a:t> the importance of </a:t>
                      </a:r>
                      <a:r>
                        <a:rPr lang="en-AU" b="1" dirty="0">
                          <a:solidFill>
                            <a:srgbClr val="571A98"/>
                          </a:solidFill>
                          <a:effectLst/>
                        </a:rPr>
                        <a:t>sample size</a:t>
                      </a:r>
                      <a:r>
                        <a:rPr lang="en-AU" dirty="0">
                          <a:effectLst/>
                        </a:rPr>
                        <a:t> and repeats of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trials.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17221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838200" y="9794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this smart lesson, you will learn to: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https://www.educationperfect.com/media/content/Science/1417571554.265861g/1417571509671-66147177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4098925"/>
            <a:ext cx="16573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41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7900" y="725438"/>
            <a:ext cx="10020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designing an experiment, it is very important to consider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data you will be collecting.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includes considering how much data you need to collect (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sample 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how many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trials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repeats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need to carry out, how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precise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measurements will be, and if the experimental method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valid.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97406538.030771g/1497406541429-15429826183779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050" y="2933700"/>
            <a:ext cx="3810000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43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66354"/>
              </p:ext>
            </p:extLst>
          </p:nvPr>
        </p:nvGraphicFramePr>
        <p:xfrm>
          <a:off x="127000" y="1010444"/>
          <a:ext cx="11633200" cy="1714500"/>
        </p:xfrm>
        <a:graphic>
          <a:graphicData uri="http://schemas.openxmlformats.org/drawingml/2006/table">
            <a:tbl>
              <a:tblPr/>
              <a:tblGrid>
                <a:gridCol w="11633200">
                  <a:extLst>
                    <a:ext uri="{9D8B030D-6E8A-4147-A177-3AD203B41FA5}">
                      <a16:colId xmlns:a16="http://schemas.microsoft.com/office/drawing/2014/main" val="2436240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b="0">
                          <a:effectLst/>
                          <a:latin typeface="Arial" panose="020B0604020202020204" pitchFamily="34" charset="0"/>
                        </a:rPr>
                        <a:t>In an experiment there are three types of variables: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21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b="1">
                          <a:solidFill>
                            <a:srgbClr val="00868B"/>
                          </a:solidFill>
                          <a:effectLst/>
                          <a:latin typeface="Arial" panose="020B0604020202020204" pitchFamily="34" charset="0"/>
                        </a:rPr>
                        <a:t>independent</a:t>
                      </a:r>
                      <a:r>
                        <a:rPr lang="en-AU" b="1">
                          <a:effectLst/>
                          <a:latin typeface="Arial" panose="020B0604020202020204" pitchFamily="34" charset="0"/>
                        </a:rPr>
                        <a:t> (manipulated),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  <a:latin typeface="Arial" panose="020B0604020202020204" pitchFamily="34" charset="0"/>
                        </a:rPr>
                        <a:t>dependent </a:t>
                      </a:r>
                      <a:r>
                        <a:rPr lang="en-AU" b="1">
                          <a:effectLst/>
                          <a:latin typeface="Arial" panose="020B0604020202020204" pitchFamily="34" charset="0"/>
                        </a:rPr>
                        <a:t>(measured) and </a:t>
                      </a:r>
                      <a:r>
                        <a:rPr lang="en-AU" b="1">
                          <a:solidFill>
                            <a:srgbClr val="F30277"/>
                          </a:solidFill>
                          <a:effectLst/>
                          <a:latin typeface="Arial" panose="020B0604020202020204" pitchFamily="34" charset="0"/>
                        </a:rPr>
                        <a:t>control</a:t>
                      </a:r>
                      <a:r>
                        <a:rPr lang="en-AU" b="1">
                          <a:solidFill>
                            <a:srgbClr val="228B22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AU" b="1">
                          <a:effectLst/>
                          <a:latin typeface="Arial" panose="020B0604020202020204" pitchFamily="34" charset="0"/>
                        </a:rPr>
                        <a:t>(kept constant).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9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dirty="0">
                          <a:effectLst/>
                        </a:rPr>
                        <a:t>In order for an experiment to be </a:t>
                      </a:r>
                      <a:r>
                        <a:rPr lang="en-AU" b="1" dirty="0">
                          <a:solidFill>
                            <a:srgbClr val="CC0000"/>
                          </a:solidFill>
                          <a:effectLst/>
                        </a:rPr>
                        <a:t>valid,</a:t>
                      </a:r>
                      <a:r>
                        <a:rPr lang="en-AU" dirty="0">
                          <a:effectLst/>
                        </a:rPr>
                        <a:t> only the independent variable is changed - everything else should be kept the same. A good experimental design should consider all the possible variables that can impact the results, and should control as many as possible.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659691"/>
                  </a:ext>
                </a:extLst>
              </a:tr>
            </a:tbl>
          </a:graphicData>
        </a:graphic>
      </p:graphicFrame>
      <p:pic>
        <p:nvPicPr>
          <p:cNvPr id="3074" name="Picture 2" descr="https://www.educationperfect.com/media/content/Science/1497485136.191811g/1497485135288-16072071050673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675" y="2724944"/>
            <a:ext cx="4619625" cy="424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66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77843"/>
            <a:ext cx="11353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are collecting data, every measurement has an intrinsic limit to the number of digits that can be recorded, called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limit of reading.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can't measure to less decimal places, so the measurement could potentially vary from the reading by the value of the limit of reading.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when using an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electronic balance,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commonly measures to the nearest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0.01g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show that a reading is accurate to within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0.01g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we use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symbol, for example a pencil could weigh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15.26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0.01g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range is from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15.26−0.01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to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15.26+0.01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pencil weighs between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15.25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15.27g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Indonesian/1414099917.099611g/1414099969241-134755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4689475"/>
            <a:ext cx="1895475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18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500440"/>
            <a:ext cx="11874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measuring cylinder below,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reading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taken at the bottom of the meniscus (curve of liquid), so is 150 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division on the measuring cylinder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we take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uncertainty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being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half of the division,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would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would write the reading with the uncertainty 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the actual reading is between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145mL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89022953.75391g/1489022955056-2743037510226702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2" y="4062413"/>
            <a:ext cx="10953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67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84937"/>
            <a:ext cx="11061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designing an experiment, you want your data to be both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accurate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precise.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close data is to the true value.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were shooting at a target and aiming for the bullseye, it is how close you get to the bullseye.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82866098.791581g/1482866107817-110917605842907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650" y="291465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108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671036"/>
            <a:ext cx="10680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how close the data measurements are to each other.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example of the target, it would mean all the results would be grouped closely together.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84269382.208561g/1484269399419-45290543406428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1797566"/>
            <a:ext cx="3114675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79996"/>
              </p:ext>
            </p:extLst>
          </p:nvPr>
        </p:nvGraphicFramePr>
        <p:xfrm>
          <a:off x="2768600" y="4909582"/>
          <a:ext cx="5715000" cy="93726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291473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dirty="0">
                          <a:effectLst/>
                        </a:rPr>
                        <a:t>In this image the data is very close together, so is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precise,</a:t>
                      </a:r>
                      <a:r>
                        <a:rPr lang="en-AU" dirty="0">
                          <a:effectLst/>
                        </a:rPr>
                        <a:t> but has not hit the bullseye, so is </a:t>
                      </a:r>
                      <a:r>
                        <a:rPr lang="en-AU" b="1" dirty="0">
                          <a:solidFill>
                            <a:srgbClr val="F30277"/>
                          </a:solidFill>
                          <a:effectLst/>
                        </a:rPr>
                        <a:t>not very accurate.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69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18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RAFPdDppz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0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912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Precision of data.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Data which has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high degree of uncertainty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imprecise,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20±5mL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Data which has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low degree of uncertainty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precise,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20.05±0.01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choosing equipment, you should be aware that some equipment is more precise than others, for example a measuring cylinder usually has a smaller uncertainty than a beaker, so is more precise. It you look at a measuring cylinder or beaker, you will see they often have the uncertainty written on them, such 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±0.5mL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54025038.748621g/1454025089701-3680258305420206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4038600"/>
            <a:ext cx="11144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educationperfect.com/media/content/Science/1496020765.692181g/1496020769329-3564928239384379-2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4013200"/>
            <a:ext cx="14097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040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713939"/>
            <a:ext cx="11430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writing a statement of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uncertainty,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uncertainty should be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rounded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same number of value places as the measurement, for example: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average mass of a cricket ball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148.345±10g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not correct.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error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±10g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then the mass should also be recorded to the nearest 10g. It should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150±10g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English%20&amp;%20Literature/1485485718.808721g/1485485728393-183928590573060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368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38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498039"/>
            <a:ext cx="115951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calculating averages,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uncertainty of the average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never be more specific than the uncertainty of the original measurements.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the time taken for a ball to drop is measured to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±0.1s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 were 5 repeats done, the average could not be recorded 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±0.01s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this is more specific than the original measurements.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21619876.170841g/1421619858583-66680655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2" y="2482850"/>
            <a:ext cx="3114675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6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5500" y="530136"/>
            <a:ext cx="10604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ways of quoting a measurement and its uncertainty.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03037"/>
              </p:ext>
            </p:extLst>
          </p:nvPr>
        </p:nvGraphicFramePr>
        <p:xfrm>
          <a:off x="825500" y="1115854"/>
          <a:ext cx="10515600" cy="13258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49410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dirty="0">
                          <a:effectLst/>
                        </a:rPr>
                        <a:t>• </a:t>
                      </a:r>
                      <a:r>
                        <a:rPr lang="en-AU" b="1" dirty="0">
                          <a:solidFill>
                            <a:srgbClr val="F30277"/>
                          </a:solidFill>
                          <a:effectLst/>
                        </a:rPr>
                        <a:t>Absolute uncertainty</a:t>
                      </a:r>
                      <a:r>
                        <a:rPr lang="en-AU" dirty="0">
                          <a:effectLst/>
                        </a:rPr>
                        <a:t> is where the uncertainty is in the same units as the measurement, for example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23.1±0.2  g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56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dirty="0">
                          <a:effectLst/>
                        </a:rPr>
                        <a:t>•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 Percentage uncertainty</a:t>
                      </a:r>
                      <a:r>
                        <a:rPr lang="en-AU" dirty="0">
                          <a:effectLst/>
                        </a:rPr>
                        <a:t> is where the uncertainty is divided by the measurement and multiplied by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100</a:t>
                      </a:r>
                      <a:r>
                        <a:rPr lang="en-AU" dirty="0">
                          <a:effectLst/>
                        </a:rPr>
                        <a:t>, for example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23.1±1%  g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097325"/>
                  </a:ext>
                </a:extLst>
              </a:tr>
            </a:tbl>
          </a:graphicData>
        </a:graphic>
      </p:graphicFrame>
      <p:pic>
        <p:nvPicPr>
          <p:cNvPr id="11267" name="Picture 3" descr="https://www.educationperfect.com/media/content/Science/1464648962.802571g/1464648968001-169343168267384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2568734"/>
            <a:ext cx="380047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70200" y="56533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reading uncertainty from digital devices, it is simply the smallest division, such as on this balance it would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±0.1  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999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576640"/>
            <a:ext cx="11836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out the </a:t>
            </a:r>
            <a:r>
              <a:rPr lang="en-AU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absolute values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percentage uncertainty, you must multiply the measurement by the percentage uncertainty.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what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absolute value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60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5%g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calculate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60g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3g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write this 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60g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±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3g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mass is between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57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63g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German/1470102962.539781g/1470102969846-39337553977026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32893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24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250041"/>
            <a:ext cx="11239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Sample size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refers to the 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number of observations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replicates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experiment.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important because if you have 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small sample,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the results you get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may not provide an accurate representation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what you are trying to measure.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Consider the example of tossing a coin. The probability of getting a head should be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50%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however, you could get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heads in a row by chance. If you just had a sample size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repeats, this would suggest the probability of getting a head was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If your sample size was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repeats, you would be much more likely to get a results close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50%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54722588.324141g/1454722596972-25972370972297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413000"/>
            <a:ext cx="2667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85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455136"/>
            <a:ext cx="1097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important to think about a suitable sample size when designing an experiment.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will depend on several factors, including: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32797"/>
              </p:ext>
            </p:extLst>
          </p:nvPr>
        </p:nvGraphicFramePr>
        <p:xfrm>
          <a:off x="749300" y="1771174"/>
          <a:ext cx="10515600" cy="2377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27567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 How you will process the data, as you may need a large enough sample to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analyse statistically.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2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 What </a:t>
                      </a:r>
                      <a:r>
                        <a:rPr lang="en-AU" b="1">
                          <a:solidFill>
                            <a:srgbClr val="F30277"/>
                          </a:solidFill>
                          <a:effectLst/>
                        </a:rPr>
                        <a:t>resources</a:t>
                      </a:r>
                      <a:r>
                        <a:rPr lang="en-AU">
                          <a:effectLst/>
                        </a:rPr>
                        <a:t> are available to you, for example if you were testing students, there may only be a limited number available to test.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135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 The</a:t>
                      </a:r>
                      <a:r>
                        <a:rPr lang="en-AU" b="1">
                          <a:solidFill>
                            <a:srgbClr val="00868B"/>
                          </a:solidFill>
                          <a:effectLst/>
                        </a:rPr>
                        <a:t> time</a:t>
                      </a:r>
                      <a:r>
                        <a:rPr lang="en-AU">
                          <a:effectLst/>
                        </a:rPr>
                        <a:t> you have for the experiment and how long each trial takes. This may limit how many trials and repeats you can carry out.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6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• The</a:t>
                      </a:r>
                      <a:r>
                        <a:rPr lang="en-AU" b="1" dirty="0">
                          <a:solidFill>
                            <a:srgbClr val="CC0000"/>
                          </a:solidFill>
                          <a:effectLst/>
                        </a:rPr>
                        <a:t> type of experiment.</a:t>
                      </a:r>
                      <a:r>
                        <a:rPr lang="en-AU" dirty="0">
                          <a:effectLst/>
                        </a:rPr>
                        <a:t> Some experiments require testing a percentage of an area, such as an ecological study, whilst some may be an experiment in the lab which is easy to do multiple trials.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30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25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85339"/>
            <a:ext cx="1168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general, you should try and carry out enough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trials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show any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relationships.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carry out enough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repeats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confident your data is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precise.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 you may like to test the effect of temperature on heart rate. You could use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participants in each trial at a range of temperatures.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90154150.29511g/1490154158440-388832739207671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2392363"/>
            <a:ext cx="736282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1943100" y="5366435"/>
            <a:ext cx="843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would give enough data to identify any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anomalous results.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692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511939"/>
            <a:ext cx="1176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deciding how many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repeats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do for an experiment, ideally you should do multiple repeats until you are getting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consistent results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(precise).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Again, a larger sample size reduces the risk of an anomalous result impacting your final data.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data is not consistent, check all your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control variables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carefully to make sure they are constant, and only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independent variable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being changed.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490152877.712371g/1490152878334-147883125171239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31750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93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</Words>
  <Application>Microsoft Office PowerPoint</Application>
  <PresentationFormat>Widescreen</PresentationFormat>
  <Paragraphs>87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KaTeX_Main</vt:lpstr>
      <vt:lpstr>KaTeX_Math</vt:lpstr>
      <vt:lpstr>Office Theme</vt:lpstr>
      <vt:lpstr>Data Uncertainty and Quality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Uncertainty and Quality</dc:title>
  <dc:creator>Joseph D'cruz</dc:creator>
  <cp:lastModifiedBy>Joseph D'cruz</cp:lastModifiedBy>
  <cp:revision>2</cp:revision>
  <dcterms:created xsi:type="dcterms:W3CDTF">2020-09-28T10:59:31Z</dcterms:created>
  <dcterms:modified xsi:type="dcterms:W3CDTF">2020-09-28T11:01:26Z</dcterms:modified>
</cp:coreProperties>
</file>
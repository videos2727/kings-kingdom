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6B92B2FA-C59E-4F3C-BADC-C68AE2DD41CB}" type="datetimeFigureOut">
              <a:rPr lang="en-AU" smtClean="0"/>
              <a:t>28/09/2020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7A47E12-C841-4DC1-81A3-7F3454DF8766}" type="slidenum">
              <a:rPr lang="en-AU" smtClean="0"/>
              <a:t>‹#›</a:t>
            </a:fld>
            <a:endParaRPr lang="en-AU"/>
          </a:p>
        </p:txBody>
      </p:sp>
    </p:spTree>
    <p:extLst>
      <p:ext uri="{BB962C8B-B14F-4D97-AF65-F5344CB8AC3E}">
        <p14:creationId xmlns:p14="http://schemas.microsoft.com/office/powerpoint/2010/main" val="1838166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B92B2FA-C59E-4F3C-BADC-C68AE2DD41CB}" type="datetimeFigureOut">
              <a:rPr lang="en-AU" smtClean="0"/>
              <a:t>28/09/2020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7A47E12-C841-4DC1-81A3-7F3454DF8766}" type="slidenum">
              <a:rPr lang="en-AU" smtClean="0"/>
              <a:t>‹#›</a:t>
            </a:fld>
            <a:endParaRPr lang="en-AU"/>
          </a:p>
        </p:txBody>
      </p:sp>
    </p:spTree>
    <p:extLst>
      <p:ext uri="{BB962C8B-B14F-4D97-AF65-F5344CB8AC3E}">
        <p14:creationId xmlns:p14="http://schemas.microsoft.com/office/powerpoint/2010/main" val="1160277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B92B2FA-C59E-4F3C-BADC-C68AE2DD41CB}" type="datetimeFigureOut">
              <a:rPr lang="en-AU" smtClean="0"/>
              <a:t>28/09/2020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7A47E12-C841-4DC1-81A3-7F3454DF8766}" type="slidenum">
              <a:rPr lang="en-AU" smtClean="0"/>
              <a:t>‹#›</a:t>
            </a:fld>
            <a:endParaRPr lang="en-AU"/>
          </a:p>
        </p:txBody>
      </p:sp>
    </p:spTree>
    <p:extLst>
      <p:ext uri="{BB962C8B-B14F-4D97-AF65-F5344CB8AC3E}">
        <p14:creationId xmlns:p14="http://schemas.microsoft.com/office/powerpoint/2010/main" val="3771313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6B92B2FA-C59E-4F3C-BADC-C68AE2DD41CB}" type="datetimeFigureOut">
              <a:rPr lang="en-AU" smtClean="0"/>
              <a:t>28/09/2020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7A47E12-C841-4DC1-81A3-7F3454DF8766}" type="slidenum">
              <a:rPr lang="en-AU" smtClean="0"/>
              <a:t>‹#›</a:t>
            </a:fld>
            <a:endParaRPr lang="en-AU"/>
          </a:p>
        </p:txBody>
      </p:sp>
    </p:spTree>
    <p:extLst>
      <p:ext uri="{BB962C8B-B14F-4D97-AF65-F5344CB8AC3E}">
        <p14:creationId xmlns:p14="http://schemas.microsoft.com/office/powerpoint/2010/main" val="158008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6B92B2FA-C59E-4F3C-BADC-C68AE2DD41CB}" type="datetimeFigureOut">
              <a:rPr lang="en-AU" smtClean="0"/>
              <a:t>28/09/2020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7A47E12-C841-4DC1-81A3-7F3454DF8766}" type="slidenum">
              <a:rPr lang="en-AU" smtClean="0"/>
              <a:t>‹#›</a:t>
            </a:fld>
            <a:endParaRPr lang="en-AU"/>
          </a:p>
        </p:txBody>
      </p:sp>
    </p:spTree>
    <p:extLst>
      <p:ext uri="{BB962C8B-B14F-4D97-AF65-F5344CB8AC3E}">
        <p14:creationId xmlns:p14="http://schemas.microsoft.com/office/powerpoint/2010/main" val="80886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6B92B2FA-C59E-4F3C-BADC-C68AE2DD41CB}" type="datetimeFigureOut">
              <a:rPr lang="en-AU" smtClean="0"/>
              <a:t>28/09/2020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7A47E12-C841-4DC1-81A3-7F3454DF8766}" type="slidenum">
              <a:rPr lang="en-AU" smtClean="0"/>
              <a:t>‹#›</a:t>
            </a:fld>
            <a:endParaRPr lang="en-AU"/>
          </a:p>
        </p:txBody>
      </p:sp>
    </p:spTree>
    <p:extLst>
      <p:ext uri="{BB962C8B-B14F-4D97-AF65-F5344CB8AC3E}">
        <p14:creationId xmlns:p14="http://schemas.microsoft.com/office/powerpoint/2010/main" val="2800666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92B2FA-C59E-4F3C-BADC-C68AE2DD41CB}" type="datetimeFigureOut">
              <a:rPr lang="en-AU" smtClean="0"/>
              <a:t>28/09/2020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7A47E12-C841-4DC1-81A3-7F3454DF8766}" type="slidenum">
              <a:rPr lang="en-AU" smtClean="0"/>
              <a:t>‹#›</a:t>
            </a:fld>
            <a:endParaRPr lang="en-AU"/>
          </a:p>
        </p:txBody>
      </p:sp>
    </p:spTree>
    <p:extLst>
      <p:ext uri="{BB962C8B-B14F-4D97-AF65-F5344CB8AC3E}">
        <p14:creationId xmlns:p14="http://schemas.microsoft.com/office/powerpoint/2010/main" val="468940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92B2FA-C59E-4F3C-BADC-C68AE2DD41CB}" type="datetimeFigureOut">
              <a:rPr lang="en-AU" smtClean="0"/>
              <a:t>28/09/2020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7A47E12-C841-4DC1-81A3-7F3454DF8766}" type="slidenum">
              <a:rPr lang="en-AU" smtClean="0"/>
              <a:t>‹#›</a:t>
            </a:fld>
            <a:endParaRPr lang="en-AU"/>
          </a:p>
        </p:txBody>
      </p:sp>
    </p:spTree>
    <p:extLst>
      <p:ext uri="{BB962C8B-B14F-4D97-AF65-F5344CB8AC3E}">
        <p14:creationId xmlns:p14="http://schemas.microsoft.com/office/powerpoint/2010/main" val="3446543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92B2FA-C59E-4F3C-BADC-C68AE2DD41CB}" type="datetimeFigureOut">
              <a:rPr lang="en-AU" smtClean="0"/>
              <a:t>28/09/2020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7A47E12-C841-4DC1-81A3-7F3454DF8766}" type="slidenum">
              <a:rPr lang="en-AU" smtClean="0"/>
              <a:t>‹#›</a:t>
            </a:fld>
            <a:endParaRPr lang="en-AU"/>
          </a:p>
        </p:txBody>
      </p:sp>
    </p:spTree>
    <p:extLst>
      <p:ext uri="{BB962C8B-B14F-4D97-AF65-F5344CB8AC3E}">
        <p14:creationId xmlns:p14="http://schemas.microsoft.com/office/powerpoint/2010/main" val="3784413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B92B2FA-C59E-4F3C-BADC-C68AE2DD41CB}" type="datetimeFigureOut">
              <a:rPr lang="en-AU" smtClean="0"/>
              <a:t>28/09/2020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7A47E12-C841-4DC1-81A3-7F3454DF8766}" type="slidenum">
              <a:rPr lang="en-AU" smtClean="0"/>
              <a:t>‹#›</a:t>
            </a:fld>
            <a:endParaRPr lang="en-AU"/>
          </a:p>
        </p:txBody>
      </p:sp>
    </p:spTree>
    <p:extLst>
      <p:ext uri="{BB962C8B-B14F-4D97-AF65-F5344CB8AC3E}">
        <p14:creationId xmlns:p14="http://schemas.microsoft.com/office/powerpoint/2010/main" val="394618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B92B2FA-C59E-4F3C-BADC-C68AE2DD41CB}" type="datetimeFigureOut">
              <a:rPr lang="en-AU" smtClean="0"/>
              <a:t>28/09/2020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7A47E12-C841-4DC1-81A3-7F3454DF8766}" type="slidenum">
              <a:rPr lang="en-AU" smtClean="0"/>
              <a:t>‹#›</a:t>
            </a:fld>
            <a:endParaRPr lang="en-AU"/>
          </a:p>
        </p:txBody>
      </p:sp>
    </p:spTree>
    <p:extLst>
      <p:ext uri="{BB962C8B-B14F-4D97-AF65-F5344CB8AC3E}">
        <p14:creationId xmlns:p14="http://schemas.microsoft.com/office/powerpoint/2010/main" val="1092609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92B2FA-C59E-4F3C-BADC-C68AE2DD41CB}" type="datetimeFigureOut">
              <a:rPr lang="en-AU" smtClean="0"/>
              <a:t>28/09/2020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A47E12-C841-4DC1-81A3-7F3454DF8766}" type="slidenum">
              <a:rPr lang="en-AU" smtClean="0"/>
              <a:t>‹#›</a:t>
            </a:fld>
            <a:endParaRPr lang="en-AU"/>
          </a:p>
        </p:txBody>
      </p:sp>
    </p:spTree>
    <p:extLst>
      <p:ext uri="{BB962C8B-B14F-4D97-AF65-F5344CB8AC3E}">
        <p14:creationId xmlns:p14="http://schemas.microsoft.com/office/powerpoint/2010/main" val="6636888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Scientific Notation</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1373010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630535"/>
            <a:ext cx="111379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There are lots of numbers in the world that are very large or very small. These numbers are so large or small that it is troublesome to write them out in full.</a:t>
            </a:r>
            <a:endParaRPr lang="en-AU" dirty="0"/>
          </a:p>
        </p:txBody>
      </p:sp>
      <p:graphicFrame>
        <p:nvGraphicFramePr>
          <p:cNvPr id="3" name="Table 2"/>
          <p:cNvGraphicFramePr>
            <a:graphicFrameLocks noGrp="1"/>
          </p:cNvGraphicFramePr>
          <p:nvPr>
            <p:extLst>
              <p:ext uri="{D42A27DB-BD31-4B8C-83A1-F6EECF244321}">
                <p14:modId xmlns:p14="http://schemas.microsoft.com/office/powerpoint/2010/main" val="1795885612"/>
              </p:ext>
            </p:extLst>
          </p:nvPr>
        </p:nvGraphicFramePr>
        <p:xfrm>
          <a:off x="1276350" y="1879124"/>
          <a:ext cx="5302250" cy="1760220"/>
        </p:xfrm>
        <a:graphic>
          <a:graphicData uri="http://schemas.openxmlformats.org/drawingml/2006/table">
            <a:tbl>
              <a:tblPr/>
              <a:tblGrid>
                <a:gridCol w="5302250">
                  <a:extLst>
                    <a:ext uri="{9D8B030D-6E8A-4147-A177-3AD203B41FA5}">
                      <a16:colId xmlns:a16="http://schemas.microsoft.com/office/drawing/2014/main" val="1083223695"/>
                    </a:ext>
                  </a:extLst>
                </a:gridCol>
              </a:tblGrid>
              <a:tr h="0">
                <a:tc>
                  <a:txBody>
                    <a:bodyPr/>
                    <a:lstStyle/>
                    <a:p>
                      <a:pPr algn="l" fontAlgn="ctr"/>
                      <a:r>
                        <a:rPr lang="en-AU" dirty="0">
                          <a:effectLst/>
                        </a:rPr>
                        <a:t>The mass of the Earth, for example, is about </a:t>
                      </a:r>
                      <a:r>
                        <a:rPr lang="en-AU" dirty="0">
                          <a:effectLst/>
                          <a:latin typeface="KaTeX_Main"/>
                        </a:rPr>
                        <a:t>6,000,000,000,000,000,000,000,000  kg</a:t>
                      </a:r>
                      <a:r>
                        <a:rPr lang="en-AU" dirty="0">
                          <a:effectLst/>
                        </a:rPr>
                        <a:t>. That’s a lot of zeros! Instead of counting how many zeros we’ve written, we can use </a:t>
                      </a:r>
                      <a:r>
                        <a:rPr lang="en-AU" b="1" dirty="0">
                          <a:solidFill>
                            <a:srgbClr val="E04E50"/>
                          </a:solidFill>
                          <a:effectLst/>
                        </a:rPr>
                        <a:t>powers of tens</a:t>
                      </a:r>
                      <a:r>
                        <a:rPr lang="en-AU" dirty="0">
                          <a:effectLst/>
                        </a:rPr>
                        <a:t> with </a:t>
                      </a:r>
                      <a:r>
                        <a:rPr lang="en-AU" b="1" dirty="0">
                          <a:solidFill>
                            <a:srgbClr val="0066CC"/>
                          </a:solidFill>
                          <a:effectLst/>
                        </a:rPr>
                        <a:t>positive</a:t>
                      </a:r>
                      <a:r>
                        <a:rPr lang="en-AU" dirty="0">
                          <a:effectLst/>
                        </a:rPr>
                        <a:t> or </a:t>
                      </a:r>
                      <a:r>
                        <a:rPr lang="en-AU" b="1" dirty="0">
                          <a:solidFill>
                            <a:srgbClr val="0066CC"/>
                          </a:solidFill>
                          <a:effectLst/>
                        </a:rPr>
                        <a:t>negative indices</a:t>
                      </a:r>
                      <a:r>
                        <a:rPr lang="en-AU" dirty="0">
                          <a:effectLst/>
                        </a:rPr>
                        <a:t> to efficiently write these numbers.</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4005742241"/>
                  </a:ext>
                </a:extLst>
              </a:tr>
            </a:tbl>
          </a:graphicData>
        </a:graphic>
      </p:graphicFrame>
      <p:pic>
        <p:nvPicPr>
          <p:cNvPr id="1026" name="Picture 2" descr="https://www.educationperfect.com/media/content/Science/1449706199.231091g/1449706253024-1122777387056781-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8525" y="1276866"/>
            <a:ext cx="3810000" cy="36957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152525" y="4506436"/>
            <a:ext cx="6096000" cy="1477328"/>
          </a:xfrm>
          <a:prstGeom prst="rect">
            <a:avLst/>
          </a:prstGeom>
        </p:spPr>
        <p:txBody>
          <a:bodyPr>
            <a:spAutoFit/>
          </a:bodyPr>
          <a:lstStyle/>
          <a:p>
            <a:pPr algn="ctr"/>
            <a:r>
              <a:rPr lang="en-AU" b="0" i="0" dirty="0" smtClean="0">
                <a:solidFill>
                  <a:srgbClr val="444444"/>
                </a:solidFill>
                <a:effectLst/>
                <a:latin typeface="Arial" panose="020B0604020202020204" pitchFamily="34" charset="0"/>
              </a:rPr>
              <a:t>This form of expression is called </a:t>
            </a:r>
            <a:r>
              <a:rPr lang="en-AU" b="1" i="0" dirty="0" smtClean="0">
                <a:solidFill>
                  <a:srgbClr val="228B22"/>
                </a:solidFill>
                <a:effectLst/>
                <a:latin typeface="Arial" panose="020B0604020202020204" pitchFamily="34" charset="0"/>
              </a:rPr>
              <a:t>scientific notation</a:t>
            </a:r>
            <a:r>
              <a:rPr lang="en-AU" b="0" i="0" dirty="0" smtClean="0">
                <a:solidFill>
                  <a:srgbClr val="444444"/>
                </a:solidFill>
                <a:effectLst/>
                <a:latin typeface="Arial" panose="020B0604020202020204" pitchFamily="34" charset="0"/>
              </a:rPr>
              <a:t> or </a:t>
            </a:r>
            <a:r>
              <a:rPr lang="en-AU" b="1" i="0" dirty="0" smtClean="0">
                <a:solidFill>
                  <a:srgbClr val="228B22"/>
                </a:solidFill>
                <a:effectLst/>
                <a:latin typeface="Arial" panose="020B0604020202020204" pitchFamily="34" charset="0"/>
              </a:rPr>
              <a:t>standard form.</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First, let's review multiplying and dividing by powers of ten.</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4186881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70190" y="285234"/>
            <a:ext cx="5156220" cy="369332"/>
          </a:xfrm>
          <a:prstGeom prst="rect">
            <a:avLst/>
          </a:prstGeom>
        </p:spPr>
        <p:txBody>
          <a:bodyPr wrap="none">
            <a:spAutoFit/>
          </a:bodyPr>
          <a:lstStyle/>
          <a:p>
            <a:r>
              <a:rPr lang="en-AU" b="0" i="0" dirty="0" smtClean="0">
                <a:solidFill>
                  <a:srgbClr val="444444"/>
                </a:solidFill>
                <a:effectLst/>
                <a:latin typeface="Arial" panose="020B0604020202020204" pitchFamily="34" charset="0"/>
              </a:rPr>
              <a:t>Let’s look at how we write in </a:t>
            </a:r>
            <a:r>
              <a:rPr lang="en-AU" b="1" i="0" dirty="0" smtClean="0">
                <a:solidFill>
                  <a:srgbClr val="0066CC"/>
                </a:solidFill>
                <a:effectLst/>
                <a:latin typeface="Arial" panose="020B0604020202020204" pitchFamily="34" charset="0"/>
              </a:rPr>
              <a:t>scientific notation.</a:t>
            </a:r>
            <a:endParaRPr lang="en-AU" dirty="0"/>
          </a:p>
        </p:txBody>
      </p:sp>
      <p:pic>
        <p:nvPicPr>
          <p:cNvPr id="7" name="Picture 6"/>
          <p:cNvPicPr>
            <a:picLocks noChangeAspect="1"/>
          </p:cNvPicPr>
          <p:nvPr/>
        </p:nvPicPr>
        <p:blipFill>
          <a:blip r:embed="rId2"/>
          <a:stretch>
            <a:fillRect/>
          </a:stretch>
        </p:blipFill>
        <p:spPr>
          <a:xfrm>
            <a:off x="1460500" y="842962"/>
            <a:ext cx="8166099" cy="5781675"/>
          </a:xfrm>
          <a:prstGeom prst="rect">
            <a:avLst/>
          </a:prstGeom>
        </p:spPr>
      </p:pic>
    </p:spTree>
    <p:extLst>
      <p:ext uri="{BB962C8B-B14F-4D97-AF65-F5344CB8AC3E}">
        <p14:creationId xmlns:p14="http://schemas.microsoft.com/office/powerpoint/2010/main" val="27920346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03500" y="97135"/>
            <a:ext cx="6096000" cy="923330"/>
          </a:xfrm>
          <a:prstGeom prst="rect">
            <a:avLst/>
          </a:prstGeom>
        </p:spPr>
        <p:txBody>
          <a:bodyPr>
            <a:spAutoFit/>
          </a:bodyPr>
          <a:lstStyle/>
          <a:p>
            <a:pPr algn="ctr"/>
            <a:r>
              <a:rPr lang="en-AU" b="0" i="0" dirty="0" smtClean="0">
                <a:solidFill>
                  <a:srgbClr val="444444"/>
                </a:solidFill>
                <a:effectLst/>
                <a:latin typeface="Arial" panose="020B0604020202020204" pitchFamily="34" charset="0"/>
              </a:rPr>
              <a:t>Let’s take a look at another example.</a:t>
            </a:r>
          </a:p>
          <a:p>
            <a:r>
              <a:rPr lang="en-AU" dirty="0" smtClean="0"/>
              <a:t/>
            </a:r>
            <a:br>
              <a:rPr lang="en-AU" dirty="0" smtClean="0"/>
            </a:br>
            <a:endParaRPr lang="en-AU" dirty="0"/>
          </a:p>
        </p:txBody>
      </p:sp>
      <p:pic>
        <p:nvPicPr>
          <p:cNvPr id="3" name="Picture 2"/>
          <p:cNvPicPr>
            <a:picLocks noChangeAspect="1"/>
          </p:cNvPicPr>
          <p:nvPr/>
        </p:nvPicPr>
        <p:blipFill>
          <a:blip r:embed="rId2"/>
          <a:stretch>
            <a:fillRect/>
          </a:stretch>
        </p:blipFill>
        <p:spPr>
          <a:xfrm>
            <a:off x="977105" y="558800"/>
            <a:ext cx="10018307" cy="6193135"/>
          </a:xfrm>
          <a:prstGeom prst="rect">
            <a:avLst/>
          </a:prstGeom>
        </p:spPr>
      </p:pic>
    </p:spTree>
    <p:extLst>
      <p:ext uri="{BB962C8B-B14F-4D97-AF65-F5344CB8AC3E}">
        <p14:creationId xmlns:p14="http://schemas.microsoft.com/office/powerpoint/2010/main" val="2282743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2500" y="340836"/>
            <a:ext cx="10236200" cy="1200329"/>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Aside from large numbers we also encounter very small numbers. For </a:t>
            </a:r>
            <a:r>
              <a:rPr lang="en-AU" b="1" i="0" dirty="0" smtClean="0">
                <a:solidFill>
                  <a:srgbClr val="228B22"/>
                </a:solidFill>
                <a:effectLst/>
                <a:latin typeface="Arial" panose="020B0604020202020204" pitchFamily="34" charset="0"/>
              </a:rPr>
              <a:t>small numbers</a:t>
            </a:r>
            <a:r>
              <a:rPr lang="en-AU" b="0" i="0" dirty="0" smtClean="0">
                <a:solidFill>
                  <a:srgbClr val="444444"/>
                </a:solidFill>
                <a:effectLst/>
                <a:latin typeface="Arial" panose="020B0604020202020204" pitchFamily="34" charset="0"/>
              </a:rPr>
              <a:t> we use </a:t>
            </a:r>
            <a:r>
              <a:rPr lang="en-AU" b="1" i="0" dirty="0" smtClean="0">
                <a:solidFill>
                  <a:srgbClr val="0066CC"/>
                </a:solidFill>
                <a:effectLst/>
                <a:latin typeface="Arial" panose="020B0604020202020204" pitchFamily="34" charset="0"/>
              </a:rPr>
              <a:t>negative powers of ten.</a:t>
            </a:r>
            <a:endParaRPr lang="en-AU" b="0" i="0" dirty="0" smtClean="0">
              <a:solidFill>
                <a:srgbClr val="444444"/>
              </a:solidFill>
              <a:effectLst/>
              <a:latin typeface="Arial" panose="020B0604020202020204" pitchFamily="34" charset="0"/>
            </a:endParaRPr>
          </a:p>
          <a:p>
            <a:r>
              <a:rPr lang="en-AU" dirty="0" smtClean="0"/>
              <a:t/>
            </a:r>
            <a:br>
              <a:rPr lang="en-AU" dirty="0" smtClean="0"/>
            </a:br>
            <a:endParaRPr lang="en-AU" dirty="0"/>
          </a:p>
        </p:txBody>
      </p:sp>
      <p:pic>
        <p:nvPicPr>
          <p:cNvPr id="3" name="Picture 2"/>
          <p:cNvPicPr>
            <a:picLocks noChangeAspect="1"/>
          </p:cNvPicPr>
          <p:nvPr/>
        </p:nvPicPr>
        <p:blipFill>
          <a:blip r:embed="rId2"/>
          <a:stretch>
            <a:fillRect/>
          </a:stretch>
        </p:blipFill>
        <p:spPr>
          <a:xfrm>
            <a:off x="563562" y="1658937"/>
            <a:ext cx="11425958" cy="4119563"/>
          </a:xfrm>
          <a:prstGeom prst="rect">
            <a:avLst/>
          </a:prstGeom>
        </p:spPr>
      </p:pic>
    </p:spTree>
    <p:extLst>
      <p:ext uri="{BB962C8B-B14F-4D97-AF65-F5344CB8AC3E}">
        <p14:creationId xmlns:p14="http://schemas.microsoft.com/office/powerpoint/2010/main" val="2463499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25440"/>
            <a:ext cx="107442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Let’s use our understanding of </a:t>
            </a:r>
            <a:r>
              <a:rPr lang="en-AU" b="1" i="0" dirty="0" smtClean="0">
                <a:solidFill>
                  <a:srgbClr val="E04E50"/>
                </a:solidFill>
                <a:effectLst/>
                <a:latin typeface="Arial" panose="020B0604020202020204" pitchFamily="34" charset="0"/>
              </a:rPr>
              <a:t>indices</a:t>
            </a:r>
            <a:r>
              <a:rPr lang="en-AU" b="0" i="0" dirty="0" smtClean="0">
                <a:solidFill>
                  <a:srgbClr val="444444"/>
                </a:solidFill>
                <a:effectLst/>
                <a:latin typeface="Arial" panose="020B0604020202020204" pitchFamily="34" charset="0"/>
              </a:rPr>
              <a:t> to write </a:t>
            </a:r>
            <a:r>
              <a:rPr lang="en-AU" b="0" i="0" dirty="0" smtClean="0">
                <a:solidFill>
                  <a:srgbClr val="444444"/>
                </a:solidFill>
                <a:effectLst/>
                <a:latin typeface="KaTeX_Main"/>
              </a:rPr>
              <a:t>0.000894</a:t>
            </a:r>
            <a:r>
              <a:rPr lang="en-AU" b="0" i="0" dirty="0" smtClean="0">
                <a:solidFill>
                  <a:srgbClr val="444444"/>
                </a:solidFill>
                <a:effectLst/>
                <a:latin typeface="Arial" panose="020B0604020202020204" pitchFamily="34" charset="0"/>
              </a:rPr>
              <a:t> in </a:t>
            </a:r>
            <a:r>
              <a:rPr lang="en-AU" b="1" i="0" dirty="0" smtClean="0">
                <a:solidFill>
                  <a:srgbClr val="0066CC"/>
                </a:solidFill>
                <a:effectLst/>
                <a:latin typeface="Arial" panose="020B0604020202020204" pitchFamily="34" charset="0"/>
              </a:rPr>
              <a:t>scientific notation.</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To write a decimal number in scientific notation, we place the </a:t>
            </a:r>
            <a:r>
              <a:rPr lang="en-AU" b="1" i="0" dirty="0" smtClean="0">
                <a:solidFill>
                  <a:srgbClr val="444444"/>
                </a:solidFill>
                <a:effectLst/>
                <a:latin typeface="Arial" panose="020B0604020202020204" pitchFamily="34" charset="0"/>
              </a:rPr>
              <a:t>decimal point to the right of the first non zero digit.</a:t>
            </a:r>
            <a:r>
              <a:rPr lang="en-AU" b="0" i="0" dirty="0" smtClean="0">
                <a:solidFill>
                  <a:srgbClr val="444444"/>
                </a:solidFill>
                <a:effectLst/>
                <a:latin typeface="Arial" panose="020B0604020202020204" pitchFamily="34" charset="0"/>
              </a:rPr>
              <a:t> The first non zero digit of </a:t>
            </a:r>
            <a:r>
              <a:rPr lang="en-AU" b="0" i="0" dirty="0" smtClean="0">
                <a:solidFill>
                  <a:srgbClr val="444444"/>
                </a:solidFill>
                <a:effectLst/>
                <a:latin typeface="KaTeX_Main"/>
              </a:rPr>
              <a:t>0.000894</a:t>
            </a:r>
            <a:r>
              <a:rPr lang="en-AU" b="0" i="0" dirty="0" smtClean="0">
                <a:solidFill>
                  <a:srgbClr val="444444"/>
                </a:solidFill>
                <a:effectLst/>
                <a:latin typeface="Arial" panose="020B0604020202020204" pitchFamily="34" charset="0"/>
              </a:rPr>
              <a:t> is </a:t>
            </a:r>
            <a:r>
              <a:rPr lang="en-AU" b="0" i="0" dirty="0" smtClean="0">
                <a:solidFill>
                  <a:srgbClr val="444444"/>
                </a:solidFill>
                <a:effectLst/>
                <a:latin typeface="KaTeX_Main"/>
              </a:rPr>
              <a:t>8</a:t>
            </a:r>
            <a:r>
              <a:rPr lang="en-AU" b="0" i="0" dirty="0" smtClean="0">
                <a:solidFill>
                  <a:srgbClr val="444444"/>
                </a:solidFill>
                <a:effectLst/>
                <a:latin typeface="Arial" panose="020B0604020202020204" pitchFamily="34" charset="0"/>
              </a:rPr>
              <a:t>, so we place the decimal point after </a:t>
            </a:r>
            <a:r>
              <a:rPr lang="en-AU" b="0" i="0" dirty="0" smtClean="0">
                <a:solidFill>
                  <a:srgbClr val="444444"/>
                </a:solidFill>
                <a:effectLst/>
                <a:latin typeface="KaTeX_Main"/>
              </a:rPr>
              <a:t>8</a:t>
            </a:r>
            <a:r>
              <a:rPr lang="en-AU" b="0" i="0" dirty="0" smtClean="0">
                <a:solidFill>
                  <a:srgbClr val="444444"/>
                </a:solidFill>
                <a:effectLst/>
                <a:latin typeface="Arial" panose="020B0604020202020204" pitchFamily="34" charset="0"/>
              </a:rPr>
              <a:t> which gives </a:t>
            </a:r>
            <a:r>
              <a:rPr lang="en-AU" b="0" i="0" dirty="0" smtClean="0">
                <a:solidFill>
                  <a:srgbClr val="444444"/>
                </a:solidFill>
                <a:effectLst/>
                <a:latin typeface="KaTeX_Main"/>
              </a:rPr>
              <a:t>8.94</a:t>
            </a:r>
            <a:r>
              <a:rPr lang="en-AU" b="0" i="0" dirty="0" smtClean="0">
                <a:solidFill>
                  <a:srgbClr val="444444"/>
                </a:solidFill>
                <a:effectLst/>
                <a:latin typeface="Arial" panose="020B0604020202020204" pitchFamily="34" charset="0"/>
              </a:rPr>
              <a:t>. This is the first part of our scientific notation. Now we have to find the </a:t>
            </a:r>
            <a:r>
              <a:rPr lang="en-AU" b="1" i="0" dirty="0" smtClean="0">
                <a:solidFill>
                  <a:srgbClr val="228B22"/>
                </a:solidFill>
                <a:effectLst/>
                <a:latin typeface="Arial" panose="020B0604020202020204" pitchFamily="34" charset="0"/>
              </a:rPr>
              <a:t>power of ten.</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That is, we need to find which number goes in place of the question mark in this equation:</a:t>
            </a:r>
            <a:endParaRPr lang="en-AU" b="0" i="0" dirty="0">
              <a:solidFill>
                <a:srgbClr val="444444"/>
              </a:solidFill>
              <a:effectLst/>
              <a:latin typeface="Arial" panose="020B0604020202020204" pitchFamily="34" charset="0"/>
            </a:endParaRPr>
          </a:p>
        </p:txBody>
      </p:sp>
      <p:sp>
        <p:nvSpPr>
          <p:cNvPr id="3" name="Rectangle 2"/>
          <p:cNvSpPr/>
          <p:nvPr/>
        </p:nvSpPr>
        <p:spPr>
          <a:xfrm>
            <a:off x="3835400" y="3448735"/>
            <a:ext cx="6096000" cy="954107"/>
          </a:xfrm>
          <a:prstGeom prst="rect">
            <a:avLst/>
          </a:prstGeom>
        </p:spPr>
        <p:txBody>
          <a:bodyPr>
            <a:spAutoFit/>
          </a:bodyPr>
          <a:lstStyle/>
          <a:p>
            <a:r>
              <a:rPr lang="en-AU" sz="2800" b="0" i="0" dirty="0" smtClean="0">
                <a:solidFill>
                  <a:srgbClr val="444444"/>
                </a:solidFill>
                <a:effectLst/>
                <a:latin typeface="KaTeX_Main"/>
              </a:rPr>
              <a:t/>
            </a:r>
            <a:br>
              <a:rPr lang="en-AU" sz="2800" b="0" i="0" dirty="0" smtClean="0">
                <a:solidFill>
                  <a:srgbClr val="444444"/>
                </a:solidFill>
                <a:effectLst/>
                <a:latin typeface="KaTeX_Main"/>
              </a:rPr>
            </a:br>
            <a:r>
              <a:rPr lang="en-AU" sz="2800" b="0" i="0" dirty="0" smtClean="0">
                <a:solidFill>
                  <a:srgbClr val="444444"/>
                </a:solidFill>
                <a:effectLst/>
                <a:latin typeface="KaTeX_Main"/>
              </a:rPr>
              <a:t>8.94×?=0.000894</a:t>
            </a:r>
            <a:r>
              <a:rPr lang="en-AU" sz="2800" b="0" i="0" dirty="0" smtClean="0">
                <a:solidFill>
                  <a:srgbClr val="444444"/>
                </a:solidFill>
                <a:effectLst/>
                <a:latin typeface="Arial" panose="020B0604020202020204" pitchFamily="34" charset="0"/>
              </a:rPr>
              <a:t> </a:t>
            </a:r>
            <a:endParaRPr lang="en-AU" sz="2800" dirty="0"/>
          </a:p>
        </p:txBody>
      </p:sp>
    </p:spTree>
    <p:extLst>
      <p:ext uri="{BB962C8B-B14F-4D97-AF65-F5344CB8AC3E}">
        <p14:creationId xmlns:p14="http://schemas.microsoft.com/office/powerpoint/2010/main" val="1253178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73112" y="593724"/>
            <a:ext cx="10781094" cy="5337175"/>
          </a:xfrm>
          <a:prstGeom prst="rect">
            <a:avLst/>
          </a:prstGeom>
        </p:spPr>
      </p:pic>
    </p:spTree>
    <p:extLst>
      <p:ext uri="{BB962C8B-B14F-4D97-AF65-F5344CB8AC3E}">
        <p14:creationId xmlns:p14="http://schemas.microsoft.com/office/powerpoint/2010/main" val="2385593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Words>
  <Application>Microsoft Office PowerPoint</Application>
  <PresentationFormat>Widescreen</PresentationFormat>
  <Paragraphs>17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KaTeX_Main</vt:lpstr>
      <vt:lpstr>Office Theme</vt:lpstr>
      <vt:lpstr>Scientific Notation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Notation</dc:title>
  <dc:creator>Joseph D'cruz</dc:creator>
  <cp:lastModifiedBy>Joseph D'cruz</cp:lastModifiedBy>
  <cp:revision>1</cp:revision>
  <dcterms:created xsi:type="dcterms:W3CDTF">2020-09-28T10:32:24Z</dcterms:created>
  <dcterms:modified xsi:type="dcterms:W3CDTF">2020-09-28T10:33:01Z</dcterms:modified>
</cp:coreProperties>
</file>
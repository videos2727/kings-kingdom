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7" r:id="rId12"/>
    <p:sldId id="268" r:id="rId13"/>
    <p:sldId id="265" r:id="rId14"/>
    <p:sldId id="26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16" autoAdjust="0"/>
    <p:restoredTop sz="94660"/>
  </p:normalViewPr>
  <p:slideViewPr>
    <p:cSldViewPr snapToGrid="0">
      <p:cViewPr varScale="1">
        <p:scale>
          <a:sx n="76" d="100"/>
          <a:sy n="76" d="100"/>
        </p:scale>
        <p:origin x="126" y="7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CF4073-C09A-4C98-BFB9-1AADF5B8C895}" type="datetimeFigureOut">
              <a:rPr lang="en-AU" smtClean="0"/>
              <a:t>14/07/2020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BCC7D0-DA4F-46B5-9C2F-957F2AC1F9B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137147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CF4073-C09A-4C98-BFB9-1AADF5B8C895}" type="datetimeFigureOut">
              <a:rPr lang="en-AU" smtClean="0"/>
              <a:t>14/07/2020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BCC7D0-DA4F-46B5-9C2F-957F2AC1F9B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046243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CF4073-C09A-4C98-BFB9-1AADF5B8C895}" type="datetimeFigureOut">
              <a:rPr lang="en-AU" smtClean="0"/>
              <a:t>14/07/2020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BCC7D0-DA4F-46B5-9C2F-957F2AC1F9B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670930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CF4073-C09A-4C98-BFB9-1AADF5B8C895}" type="datetimeFigureOut">
              <a:rPr lang="en-AU" smtClean="0"/>
              <a:t>14/07/2020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BCC7D0-DA4F-46B5-9C2F-957F2AC1F9B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231794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CF4073-C09A-4C98-BFB9-1AADF5B8C895}" type="datetimeFigureOut">
              <a:rPr lang="en-AU" smtClean="0"/>
              <a:t>14/07/2020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BCC7D0-DA4F-46B5-9C2F-957F2AC1F9B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668010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CF4073-C09A-4C98-BFB9-1AADF5B8C895}" type="datetimeFigureOut">
              <a:rPr lang="en-AU" smtClean="0"/>
              <a:t>14/07/2020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BCC7D0-DA4F-46B5-9C2F-957F2AC1F9B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778136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CF4073-C09A-4C98-BFB9-1AADF5B8C895}" type="datetimeFigureOut">
              <a:rPr lang="en-AU" smtClean="0"/>
              <a:t>14/07/2020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BCC7D0-DA4F-46B5-9C2F-957F2AC1F9B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623830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CF4073-C09A-4C98-BFB9-1AADF5B8C895}" type="datetimeFigureOut">
              <a:rPr lang="en-AU" smtClean="0"/>
              <a:t>14/07/2020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BCC7D0-DA4F-46B5-9C2F-957F2AC1F9B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211808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CF4073-C09A-4C98-BFB9-1AADF5B8C895}" type="datetimeFigureOut">
              <a:rPr lang="en-AU" smtClean="0"/>
              <a:t>14/07/2020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BCC7D0-DA4F-46B5-9C2F-957F2AC1F9B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456519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CF4073-C09A-4C98-BFB9-1AADF5B8C895}" type="datetimeFigureOut">
              <a:rPr lang="en-AU" smtClean="0"/>
              <a:t>14/07/2020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BCC7D0-DA4F-46B5-9C2F-957F2AC1F9B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351578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CF4073-C09A-4C98-BFB9-1AADF5B8C895}" type="datetimeFigureOut">
              <a:rPr lang="en-AU" smtClean="0"/>
              <a:t>14/07/2020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BCC7D0-DA4F-46B5-9C2F-957F2AC1F9B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077522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CF4073-C09A-4C98-BFB9-1AADF5B8C895}" type="datetimeFigureOut">
              <a:rPr lang="en-AU" smtClean="0"/>
              <a:t>14/07/2020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BCC7D0-DA4F-46B5-9C2F-957F2AC1F9B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386516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slideLayout" Target="../slideLayouts/slideLayout7.xml"/><Relationship Id="rId1" Type="http://schemas.openxmlformats.org/officeDocument/2006/relationships/video" Target="https://www.youtube.com/embed/PE_zpk-EznQ" TargetMode="Externa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 smtClean="0"/>
              <a:t>Thermal Equilibrium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490929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76300" y="449640"/>
            <a:ext cx="11087100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In this Smart Lesson you will learn to: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sz="2400" b="1" i="0" dirty="0" smtClean="0">
                <a:solidFill>
                  <a:srgbClr val="009900"/>
                </a:solidFill>
                <a:effectLst/>
                <a:latin typeface="Arial" panose="020B0604020202020204" pitchFamily="34" charset="0"/>
              </a:rPr>
              <a:t>Define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sz="2400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thermal equilibrium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in terms of the temperature and average kinetic energy of the particles in each of the systems.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sz="2400" b="1" i="0" dirty="0" smtClean="0">
                <a:solidFill>
                  <a:srgbClr val="009900"/>
                </a:solidFill>
                <a:effectLst/>
                <a:latin typeface="Arial" panose="020B0604020202020204" pitchFamily="34" charset="0"/>
              </a:rPr>
              <a:t>Explain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 process in which </a:t>
            </a:r>
            <a:r>
              <a:rPr lang="en-AU" sz="2400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thermal energy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transferred between two systems until </a:t>
            </a:r>
            <a:r>
              <a:rPr lang="en-AU" sz="2400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thermal equilibrium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achieved and recognise this as the </a:t>
            </a:r>
            <a:r>
              <a:rPr lang="en-AU" sz="24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zeroth law of thermodynamics.</a:t>
            </a:r>
            <a:endParaRPr lang="en-AU" sz="2400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AU" sz="2400" b="1" i="0" dirty="0" smtClean="0">
                <a:solidFill>
                  <a:srgbClr val="B81AE0"/>
                </a:solidFill>
                <a:effectLst/>
                <a:latin typeface="Arial" panose="020B0604020202020204" pitchFamily="34" charset="0"/>
              </a:rPr>
              <a:t>Solve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problems involving </a:t>
            </a:r>
            <a:r>
              <a:rPr lang="en-AU" sz="2400" b="1" i="0" dirty="0" smtClean="0">
                <a:solidFill>
                  <a:srgbClr val="571A98"/>
                </a:solidFill>
                <a:effectLst/>
                <a:latin typeface="Arial" panose="020B0604020202020204" pitchFamily="34" charset="0"/>
              </a:rPr>
              <a:t>specific heat capacity,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sz="2400" b="1" i="0" dirty="0" smtClean="0">
                <a:solidFill>
                  <a:srgbClr val="64B131"/>
                </a:solidFill>
                <a:effectLst/>
                <a:latin typeface="Arial" panose="020B0604020202020204" pitchFamily="34" charset="0"/>
              </a:rPr>
              <a:t>specific latent heat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and </a:t>
            </a:r>
            <a:r>
              <a:rPr lang="en-AU" sz="2400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thermal equilibrium.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26" name="Picture 2" descr="https://www.educationperfect.com/media/content/Science/1407363954134-1288731661-optimise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6175" y="4114799"/>
            <a:ext cx="3467100" cy="27432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354729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55600" y="321439"/>
            <a:ext cx="11633200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Thermal equilibrium.</a:t>
            </a:r>
            <a:endParaRPr lang="en-AU" sz="2400" b="1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sz="2400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Thermal equilibrium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defined as the condition of a system in which there is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no net exchange of thermal energy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between any of its components, i.e. the components have the same temperature and the average kinetic energy of their particles is equal; this relates to the </a:t>
            </a:r>
            <a:r>
              <a:rPr lang="en-AU" sz="24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zeroth law of thermodynamics.</a:t>
            </a:r>
            <a:endParaRPr lang="en-AU" sz="2400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r>
              <a:rPr lang="en-AU" sz="2400" dirty="0" smtClean="0"/>
              <a:t/>
            </a:r>
            <a:br>
              <a:rPr lang="en-AU" sz="2400" dirty="0" smtClean="0"/>
            </a:br>
            <a:endParaRPr lang="en-AU" sz="2400" dirty="0"/>
          </a:p>
        </p:txBody>
      </p:sp>
      <p:pic>
        <p:nvPicPr>
          <p:cNvPr id="2050" name="Picture 2" descr="https://www.educationperfect.com/media/content/Science/1536539587.514391g/1536539585290-1361436763654400-800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0075" y="3368427"/>
            <a:ext cx="7591425" cy="285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420338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95300" y="196840"/>
            <a:ext cx="11493500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 </a:t>
            </a:r>
            <a:r>
              <a:rPr lang="en-AU" sz="24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zeroth law of thermodynamics.</a:t>
            </a:r>
            <a:endParaRPr lang="en-AU" sz="2400" b="1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1" i="0" dirty="0" smtClean="0">
                <a:solidFill>
                  <a:srgbClr val="571A98"/>
                </a:solidFill>
                <a:effectLst/>
                <a:latin typeface="Arial" panose="020B0604020202020204" pitchFamily="34" charset="0"/>
              </a:rPr>
              <a:t>Thermodynamics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is a branch of physics that deals with relationships between heat and other forms of energy.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 </a:t>
            </a:r>
            <a:r>
              <a:rPr lang="en-AU" sz="24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zeroth law of thermodynamics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states that there will be the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transfer of energy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from a system with higher temperature to a system with lower temperature until </a:t>
            </a:r>
            <a:r>
              <a:rPr lang="en-AU" sz="2400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thermal equilibrium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reached.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In simple terms,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heat moves from a hotter object to a cooler one until they reach the same temperature!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074" name="Picture 2" descr="https://www.educationperfect.com/media/content/Science/1524183975.358791g/1524183973106-472126972818544-optimise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6175" y="4767262"/>
            <a:ext cx="3267075" cy="17621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308459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E_zpk-EznQ"/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2978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66700" y="81340"/>
            <a:ext cx="11772900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When two substances with </a:t>
            </a:r>
            <a:r>
              <a:rPr lang="en-AU" sz="24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different temperatures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are brought into contact, </a:t>
            </a:r>
            <a:r>
              <a:rPr lang="en-AU" sz="2400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heat transfer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will occur.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One substance will </a:t>
            </a:r>
            <a:r>
              <a:rPr lang="en-AU" sz="2400" b="0" i="0" u="sng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lose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heat and the other substance will </a:t>
            </a:r>
            <a:r>
              <a:rPr lang="en-AU" sz="2400" b="0" i="0" u="sng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gain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 same amount of heat until the two substances are the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same temperature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There are still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collisions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between particles of the two substances which have reached </a:t>
            </a:r>
            <a:r>
              <a:rPr lang="en-AU" sz="2400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thermal equilibrium.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However, there is </a:t>
            </a:r>
            <a:r>
              <a:rPr lang="en-AU" sz="2400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no net energy transfer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, so the temperatures of the substances </a:t>
            </a:r>
            <a:r>
              <a:rPr lang="en-AU" sz="2400" b="0" i="0" u="sng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do not change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098" name="Picture 2" descr="https://www.educationperfect.com/media/content/Science/1421624142.954281g/1421624130697-1161981012-optimise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66975" y="3741737"/>
            <a:ext cx="5978525" cy="28039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505089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90500" y="952838"/>
            <a:ext cx="11696700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Heat transfer.</a:t>
            </a:r>
            <a:endParaRPr lang="en-AU" sz="2400" b="1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Heat can be transferred from one place to another by </a:t>
            </a:r>
            <a:r>
              <a:rPr lang="en-AU" sz="2400" b="1" i="0" dirty="0" smtClean="0">
                <a:solidFill>
                  <a:srgbClr val="571A98"/>
                </a:solidFill>
                <a:effectLst/>
                <a:latin typeface="Arial" panose="020B0604020202020204" pitchFamily="34" charset="0"/>
              </a:rPr>
              <a:t>conduction,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sz="24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convection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or </a:t>
            </a:r>
            <a:r>
              <a:rPr lang="en-AU" sz="2400" b="1" i="0" dirty="0" smtClean="0">
                <a:solidFill>
                  <a:srgbClr val="64B131"/>
                </a:solidFill>
                <a:effectLst/>
                <a:latin typeface="Arial" panose="020B0604020202020204" pitchFamily="34" charset="0"/>
              </a:rPr>
              <a:t>radiation.</a:t>
            </a:r>
            <a:endParaRPr lang="en-AU" sz="2400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Net heat transfer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always occurs in the direction of the hotter system to the cooler system.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122" name="Picture 2" descr="https://www.educationperfect.com/media/content/Science/1526440953.713141g/1526440949485-2665112096022502-optimise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97275" y="3643194"/>
            <a:ext cx="5353050" cy="28003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956080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93700" y="0"/>
            <a:ext cx="115951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Temperature change does </a:t>
            </a:r>
            <a:r>
              <a:rPr lang="en-AU" sz="2400" b="1" i="0" dirty="0" smtClean="0">
                <a:solidFill>
                  <a:srgbClr val="CC0000"/>
                </a:solidFill>
                <a:effectLst/>
                <a:latin typeface="Arial" panose="020B0604020202020204" pitchFamily="34" charset="0"/>
              </a:rPr>
              <a:t>not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occur during a phase change.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This is because the </a:t>
            </a:r>
            <a:r>
              <a:rPr lang="en-AU" sz="2400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heat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being added to the substance increases the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potential energy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the substance, not the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kinetic energy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This graph shows the temperature of water as heat is added to it at a constant rate.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146" name="Picture 2" descr="https://www.educationperfect.com/media/content/Science/1438120375.121081g/1438120648803-1961612392-optimise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9475" y="2628900"/>
            <a:ext cx="5407025" cy="47967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/>
          <p:cNvSpPr/>
          <p:nvPr/>
        </p:nvSpPr>
        <p:spPr>
          <a:xfrm>
            <a:off x="6191250" y="3297535"/>
            <a:ext cx="6096000" cy="193899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As you can see, there is a </a:t>
            </a:r>
            <a:r>
              <a:rPr lang="en-AU" sz="2400" b="0" i="0" u="sng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constant increase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in temperature when there is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no phase change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but </a:t>
            </a:r>
            <a:r>
              <a:rPr lang="en-AU" sz="2400" b="0" i="0" u="sng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no change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in temperature when there is a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phase change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.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35128150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6100" y="193239"/>
            <a:ext cx="11480800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CC0000"/>
                </a:solidFill>
                <a:effectLst/>
                <a:latin typeface="Arial" panose="020B0604020202020204" pitchFamily="34" charset="0"/>
              </a:rPr>
              <a:t>Calorimetry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calculations.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You should already be familiar with calculations involving </a:t>
            </a:r>
            <a:r>
              <a:rPr lang="en-AU" sz="24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specific heat capacity.</a:t>
            </a:r>
            <a:endParaRPr lang="en-AU" sz="2400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Q=</a:t>
            </a:r>
            <a:r>
              <a:rPr lang="en-AU" sz="2400" b="0" i="0" dirty="0" err="1" smtClean="0">
                <a:solidFill>
                  <a:srgbClr val="444444"/>
                </a:solidFill>
                <a:effectLst/>
                <a:latin typeface="KaTeX_Main"/>
              </a:rPr>
              <a:t>mcΔT</a:t>
            </a:r>
            <a:endParaRPr lang="en-AU" sz="2400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 energy (Q) equals mass (kg)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×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specific heat capacity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×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change in temperature.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7170" name="Picture 2" descr="https://www.educationperfect.com/media/content/Science/1476394867.328181g/1476394872851-1967782197333466-40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2275" y="3057524"/>
            <a:ext cx="1990725" cy="38004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508014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900" y="0"/>
            <a:ext cx="10541000" cy="5388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74963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6000" y="-153988"/>
            <a:ext cx="10185400" cy="5170809"/>
          </a:xfrm>
          <a:prstGeom prst="rect">
            <a:avLst/>
          </a:prstGeom>
        </p:spPr>
      </p:pic>
      <p:pic>
        <p:nvPicPr>
          <p:cNvPr id="8194" name="Picture 2" descr="https://www.educationperfect.com/media/content/Science/1496197466.329641g/1496197486790-935994958234311-optimised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39175" y="3068637"/>
            <a:ext cx="3000375" cy="3000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091099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77800" y="215543"/>
            <a:ext cx="12014200" cy="60016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571A98"/>
                </a:solidFill>
                <a:effectLst/>
                <a:latin typeface="Arial" panose="020B0604020202020204" pitchFamily="34" charset="0"/>
              </a:rPr>
              <a:t>Specific Latent Heat.</a:t>
            </a:r>
            <a:endParaRPr lang="en-AU" sz="2400" b="1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 </a:t>
            </a:r>
            <a:r>
              <a:rPr lang="en-AU" sz="2400" b="1" i="0" dirty="0" smtClean="0">
                <a:solidFill>
                  <a:srgbClr val="571A98"/>
                </a:solidFill>
                <a:effectLst/>
                <a:latin typeface="Arial" panose="020B0604020202020204" pitchFamily="34" charset="0"/>
              </a:rPr>
              <a:t>specific latent heat of fusion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the energy required to convert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1kg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solid to liquid.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For example, the specific latent heat of fusion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(L</a:t>
            </a:r>
            <a:r>
              <a:rPr lang="en-AU" sz="2400" b="0" i="0" baseline="-25000" dirty="0" smtClean="0">
                <a:solidFill>
                  <a:srgbClr val="444444"/>
                </a:solidFill>
                <a:effectLst/>
                <a:latin typeface="KaTeX_Main"/>
              </a:rPr>
              <a:t>f​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)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ice is around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333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kJkg</a:t>
            </a:r>
            <a:r>
              <a:rPr lang="en-AU" sz="2400" b="0" i="0" baseline="30000" dirty="0" smtClean="0">
                <a:solidFill>
                  <a:srgbClr val="444444"/>
                </a:solidFill>
                <a:effectLst/>
                <a:latin typeface="KaTeX_Main"/>
              </a:rPr>
              <a:t>−1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How much energy would it take to melt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200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g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ice?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First change the mass to the correct units: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200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g=0.2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kg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Q=</a:t>
            </a:r>
            <a:r>
              <a:rPr lang="en-AU" sz="2400" b="0" i="0" dirty="0" err="1" smtClean="0">
                <a:solidFill>
                  <a:srgbClr val="444444"/>
                </a:solidFill>
                <a:effectLst/>
                <a:latin typeface="KaTeX_Main"/>
              </a:rPr>
              <a:t>m×L</a:t>
            </a:r>
            <a:r>
              <a:rPr lang="en-AU" sz="2400" b="0" i="0" baseline="-25000" dirty="0" err="1" smtClean="0">
                <a:solidFill>
                  <a:srgbClr val="444444"/>
                </a:solidFill>
                <a:effectLst/>
                <a:latin typeface="KaTeX_Main"/>
              </a:rPr>
              <a:t>f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​</a:t>
            </a:r>
            <a:endParaRPr lang="en-AU" sz="2400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Q=0.2×333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kJ</a:t>
            </a:r>
            <a:endParaRPr lang="en-AU" sz="2400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Q=66.6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kJ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38416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84200" y="104278"/>
            <a:ext cx="11379200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You will be expected to solve problems using </a:t>
            </a:r>
            <a:r>
              <a:rPr lang="en-AU" sz="2400" b="1" i="0" dirty="0" smtClean="0">
                <a:solidFill>
                  <a:srgbClr val="571A98"/>
                </a:solidFill>
                <a:effectLst/>
                <a:latin typeface="Arial" panose="020B0604020202020204" pitchFamily="34" charset="0"/>
              </a:rPr>
              <a:t>specific heat capacity, </a:t>
            </a:r>
            <a:r>
              <a:rPr lang="en-AU" sz="2400" b="1" i="0" dirty="0" smtClean="0">
                <a:solidFill>
                  <a:srgbClr val="64B131"/>
                </a:solidFill>
                <a:effectLst/>
                <a:latin typeface="Arial" panose="020B0604020202020204" pitchFamily="34" charset="0"/>
              </a:rPr>
              <a:t>specific latent heat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 </a:t>
            </a:r>
            <a:r>
              <a:rPr lang="en-AU" sz="2400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thermal equilibrium.</a:t>
            </a:r>
            <a:endParaRPr lang="en-AU" sz="2400" b="1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These problems will involve mixing a warmer substance with a colder substance.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Assuming the </a:t>
            </a:r>
            <a:r>
              <a:rPr lang="en-AU" sz="2400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law of conservation of energy,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energy lost by the warmer system must equal the energy gained by the cooler system,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assuming no losses to the environment.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You may do some experiments using calorimeters to try and minimise environmental losses and test these calculations.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9218" name="Picture 2" descr="https://www.educationperfect.com/media/content/Science/1434673477.79181g/1434673475998-670672534-40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60775" y="4259262"/>
            <a:ext cx="3810000" cy="28765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42463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17500" y="0"/>
            <a:ext cx="11671300" cy="68172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300" b="1" i="0" dirty="0" smtClean="0">
                <a:solidFill>
                  <a:srgbClr val="CC0000"/>
                </a:solidFill>
                <a:effectLst/>
                <a:latin typeface="Arial" panose="020B0604020202020204" pitchFamily="34" charset="0"/>
              </a:rPr>
              <a:t>Calorimetry</a:t>
            </a:r>
            <a:r>
              <a:rPr lang="en-AU" sz="23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calculation example:</a:t>
            </a:r>
          </a:p>
          <a:p>
            <a:pPr algn="ctr"/>
            <a:r>
              <a:rPr lang="en-AU" sz="23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sz="23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How much ice at </a:t>
            </a:r>
            <a:r>
              <a:rPr lang="en-AU" sz="2300" b="0" i="0" dirty="0" smtClean="0">
                <a:solidFill>
                  <a:srgbClr val="444444"/>
                </a:solidFill>
                <a:effectLst/>
                <a:latin typeface="KaTeX_Main"/>
              </a:rPr>
              <a:t>−10.0</a:t>
            </a:r>
            <a:r>
              <a:rPr lang="en-AU" sz="2300" b="0" i="0" baseline="30000" dirty="0" smtClean="0">
                <a:solidFill>
                  <a:srgbClr val="444444"/>
                </a:solidFill>
                <a:effectLst/>
                <a:latin typeface="KaTeX_Main"/>
              </a:rPr>
              <a:t>∘</a:t>
            </a:r>
            <a:r>
              <a:rPr lang="en-AU" sz="2300" b="0" i="0" dirty="0" smtClean="0">
                <a:solidFill>
                  <a:srgbClr val="444444"/>
                </a:solidFill>
                <a:effectLst/>
                <a:latin typeface="KaTeX_Main"/>
              </a:rPr>
              <a:t>C</a:t>
            </a:r>
            <a:r>
              <a:rPr lang="en-AU" sz="23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must be added to </a:t>
            </a:r>
            <a:r>
              <a:rPr lang="en-AU" sz="2300" b="0" i="0" dirty="0" smtClean="0">
                <a:solidFill>
                  <a:srgbClr val="444444"/>
                </a:solidFill>
                <a:effectLst/>
                <a:latin typeface="KaTeX_Main"/>
              </a:rPr>
              <a:t>4.00</a:t>
            </a:r>
            <a:r>
              <a:rPr lang="en-AU" sz="23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sz="2300" b="0" i="0" dirty="0" smtClean="0">
                <a:solidFill>
                  <a:srgbClr val="444444"/>
                </a:solidFill>
                <a:effectLst/>
                <a:latin typeface="KaTeX_Main"/>
              </a:rPr>
              <a:t>kg</a:t>
            </a:r>
            <a:r>
              <a:rPr lang="en-AU" sz="23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water at </a:t>
            </a:r>
            <a:r>
              <a:rPr lang="en-AU" sz="2300" b="0" i="0" dirty="0" smtClean="0">
                <a:solidFill>
                  <a:srgbClr val="444444"/>
                </a:solidFill>
                <a:effectLst/>
                <a:latin typeface="KaTeX_Main"/>
              </a:rPr>
              <a:t>20.0</a:t>
            </a:r>
            <a:r>
              <a:rPr lang="en-AU" sz="2300" b="0" i="0" baseline="30000" dirty="0" smtClean="0">
                <a:solidFill>
                  <a:srgbClr val="444444"/>
                </a:solidFill>
                <a:effectLst/>
                <a:latin typeface="KaTeX_Main"/>
              </a:rPr>
              <a:t>∘</a:t>
            </a:r>
            <a:r>
              <a:rPr lang="en-AU" sz="2300" b="0" i="0" dirty="0" smtClean="0">
                <a:solidFill>
                  <a:srgbClr val="444444"/>
                </a:solidFill>
                <a:effectLst/>
                <a:latin typeface="KaTeX_Main"/>
              </a:rPr>
              <a:t>C</a:t>
            </a:r>
            <a:r>
              <a:rPr lang="en-AU" sz="23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 cause the resulting mixture to reach thermal equilibrium at </a:t>
            </a:r>
            <a:r>
              <a:rPr lang="en-AU" sz="2300" b="0" i="0" dirty="0" smtClean="0">
                <a:solidFill>
                  <a:srgbClr val="444444"/>
                </a:solidFill>
                <a:effectLst/>
                <a:latin typeface="KaTeX_Main"/>
              </a:rPr>
              <a:t>5.0</a:t>
            </a:r>
            <a:r>
              <a:rPr lang="en-AU" sz="2300" b="0" i="0" baseline="30000" dirty="0" smtClean="0">
                <a:solidFill>
                  <a:srgbClr val="444444"/>
                </a:solidFill>
                <a:effectLst/>
                <a:latin typeface="KaTeX_Main"/>
              </a:rPr>
              <a:t>∘</a:t>
            </a:r>
            <a:r>
              <a:rPr lang="en-AU" sz="2300" b="0" i="0" dirty="0" smtClean="0">
                <a:solidFill>
                  <a:srgbClr val="444444"/>
                </a:solidFill>
                <a:effectLst/>
                <a:latin typeface="KaTeX_Main"/>
              </a:rPr>
              <a:t>C</a:t>
            </a:r>
            <a:r>
              <a:rPr lang="en-AU" sz="23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? Assume </a:t>
            </a:r>
            <a:r>
              <a:rPr lang="en-AU" sz="2300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no energy transfer</a:t>
            </a:r>
            <a:r>
              <a:rPr lang="en-AU" sz="23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 the surrounding environment, so that energy transfer occurs only between the water and ice.</a:t>
            </a:r>
          </a:p>
          <a:p>
            <a:pPr algn="ctr"/>
            <a:r>
              <a:rPr lang="en-AU" sz="23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3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Specific heat capacity</a:t>
            </a:r>
            <a:r>
              <a:rPr lang="en-AU" sz="23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water </a:t>
            </a:r>
            <a:r>
              <a:rPr lang="en-AU" sz="2300" b="0" i="0" dirty="0" smtClean="0">
                <a:solidFill>
                  <a:srgbClr val="444444"/>
                </a:solidFill>
                <a:effectLst/>
                <a:latin typeface="KaTeX_Main"/>
              </a:rPr>
              <a:t>(c)=4.19</a:t>
            </a:r>
            <a:r>
              <a:rPr lang="en-AU" sz="23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sz="2300" b="0" i="0" dirty="0" smtClean="0">
                <a:solidFill>
                  <a:srgbClr val="444444"/>
                </a:solidFill>
                <a:effectLst/>
                <a:latin typeface="KaTeX_Main"/>
              </a:rPr>
              <a:t>kJkg</a:t>
            </a:r>
            <a:r>
              <a:rPr lang="en-AU" sz="2300" b="0" i="0" baseline="30000" dirty="0" smtClean="0">
                <a:solidFill>
                  <a:srgbClr val="444444"/>
                </a:solidFill>
                <a:effectLst/>
                <a:latin typeface="KaTeX_Main"/>
              </a:rPr>
              <a:t>−1∘</a:t>
            </a:r>
            <a:r>
              <a:rPr lang="en-AU" sz="2300" b="0" i="0" dirty="0" smtClean="0">
                <a:solidFill>
                  <a:srgbClr val="444444"/>
                </a:solidFill>
                <a:effectLst/>
                <a:latin typeface="KaTeX_Main"/>
              </a:rPr>
              <a:t>C</a:t>
            </a:r>
            <a:r>
              <a:rPr lang="en-AU" sz="2300" b="0" i="0" baseline="30000" dirty="0" smtClean="0">
                <a:solidFill>
                  <a:srgbClr val="444444"/>
                </a:solidFill>
                <a:effectLst/>
                <a:latin typeface="KaTeX_Main"/>
              </a:rPr>
              <a:t>−1</a:t>
            </a:r>
            <a:endParaRPr lang="en-AU" sz="2300" b="0" i="0" baseline="3000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3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300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Law of conservation of energy</a:t>
            </a:r>
            <a:r>
              <a:rPr lang="en-AU" sz="23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leads to the energy gained by the ice must equal the energy lost by the water.</a:t>
            </a:r>
          </a:p>
          <a:p>
            <a:pPr algn="ctr"/>
            <a:r>
              <a:rPr lang="en-AU" sz="23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300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Energy lost </a:t>
            </a:r>
            <a:r>
              <a:rPr lang="en-AU" sz="23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by the water cooling</a:t>
            </a:r>
            <a:r>
              <a:rPr lang="en-AU" sz="2300" b="0" i="0" dirty="0" smtClean="0">
                <a:solidFill>
                  <a:srgbClr val="444444"/>
                </a:solidFill>
                <a:effectLst/>
                <a:latin typeface="KaTeX_Main"/>
              </a:rPr>
              <a:t>(</a:t>
            </a:r>
            <a:r>
              <a:rPr lang="en-AU" sz="2300" b="0" i="0" dirty="0" err="1" smtClean="0">
                <a:solidFill>
                  <a:srgbClr val="444444"/>
                </a:solidFill>
                <a:effectLst/>
                <a:latin typeface="KaTeX_Main"/>
              </a:rPr>
              <a:t>Q</a:t>
            </a:r>
            <a:r>
              <a:rPr lang="en-AU" sz="2300" b="0" i="0" baseline="-25000" dirty="0" err="1" smtClean="0">
                <a:solidFill>
                  <a:srgbClr val="444444"/>
                </a:solidFill>
                <a:effectLst/>
                <a:latin typeface="KaTeX_Main"/>
              </a:rPr>
              <a:t>water</a:t>
            </a:r>
            <a:r>
              <a:rPr lang="en-AU" sz="2300" b="0" i="0" dirty="0" smtClean="0">
                <a:solidFill>
                  <a:srgbClr val="444444"/>
                </a:solidFill>
                <a:effectLst/>
                <a:latin typeface="KaTeX_Main"/>
              </a:rPr>
              <a:t>​)</a:t>
            </a:r>
            <a:r>
              <a:rPr lang="en-AU" sz="23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sz="2300" b="0" i="0" dirty="0" smtClean="0">
                <a:solidFill>
                  <a:srgbClr val="444444"/>
                </a:solidFill>
                <a:effectLst/>
                <a:latin typeface="KaTeX_Main"/>
              </a:rPr>
              <a:t>=</a:t>
            </a:r>
            <a:r>
              <a:rPr lang="en-AU" sz="2300" b="0" i="0" dirty="0" err="1" smtClean="0">
                <a:solidFill>
                  <a:srgbClr val="444444"/>
                </a:solidFill>
                <a:effectLst/>
                <a:latin typeface="KaTeX_Main"/>
              </a:rPr>
              <a:t>mcΔT</a:t>
            </a:r>
            <a:endParaRPr lang="en-AU" sz="2300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3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300" b="0" i="0" dirty="0" smtClean="0">
                <a:solidFill>
                  <a:srgbClr val="444444"/>
                </a:solidFill>
                <a:effectLst/>
                <a:latin typeface="KaTeX_Main"/>
              </a:rPr>
              <a:t>ΔT=20−5</a:t>
            </a:r>
            <a:endParaRPr lang="en-AU" sz="2300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3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300" b="0" i="0" dirty="0" err="1" smtClean="0">
                <a:solidFill>
                  <a:srgbClr val="444444"/>
                </a:solidFill>
                <a:effectLst/>
                <a:latin typeface="KaTeX_Main"/>
              </a:rPr>
              <a:t>Q</a:t>
            </a:r>
            <a:r>
              <a:rPr lang="en-AU" sz="2300" b="0" i="0" baseline="-25000" dirty="0" err="1" smtClean="0">
                <a:solidFill>
                  <a:srgbClr val="444444"/>
                </a:solidFill>
                <a:effectLst/>
                <a:latin typeface="KaTeX_Main"/>
              </a:rPr>
              <a:t>water</a:t>
            </a:r>
            <a:r>
              <a:rPr lang="en-AU" sz="2300" b="0" i="0" dirty="0" smtClean="0">
                <a:solidFill>
                  <a:srgbClr val="444444"/>
                </a:solidFill>
                <a:effectLst/>
                <a:latin typeface="KaTeX_Main"/>
              </a:rPr>
              <a:t>​=4.00×4.19×15</a:t>
            </a:r>
            <a:endParaRPr lang="en-AU" sz="2300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3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300" b="0" i="0" dirty="0" err="1" smtClean="0">
                <a:solidFill>
                  <a:srgbClr val="444444"/>
                </a:solidFill>
                <a:effectLst/>
                <a:latin typeface="KaTeX_Main"/>
              </a:rPr>
              <a:t>Q</a:t>
            </a:r>
            <a:r>
              <a:rPr lang="en-AU" sz="2300" b="0" i="0" baseline="-25000" dirty="0" err="1" smtClean="0">
                <a:solidFill>
                  <a:srgbClr val="444444"/>
                </a:solidFill>
                <a:effectLst/>
                <a:latin typeface="KaTeX_Main"/>
              </a:rPr>
              <a:t>water</a:t>
            </a:r>
            <a:r>
              <a:rPr lang="en-AU" sz="2300" b="0" i="0" dirty="0" smtClean="0">
                <a:solidFill>
                  <a:srgbClr val="444444"/>
                </a:solidFill>
                <a:effectLst/>
                <a:latin typeface="KaTeX_Main"/>
              </a:rPr>
              <a:t>​=251.4</a:t>
            </a:r>
            <a:r>
              <a:rPr lang="en-AU" sz="23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sz="2300" b="0" i="0" dirty="0" smtClean="0">
                <a:solidFill>
                  <a:srgbClr val="444444"/>
                </a:solidFill>
                <a:effectLst/>
                <a:latin typeface="KaTeX_Main"/>
              </a:rPr>
              <a:t>kJ</a:t>
            </a:r>
            <a:endParaRPr lang="en-AU" sz="23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11838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47</Words>
  <Application>Microsoft Office PowerPoint</Application>
  <PresentationFormat>Widescreen</PresentationFormat>
  <Paragraphs>77</Paragraphs>
  <Slides>14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Calibri Light</vt:lpstr>
      <vt:lpstr>KaTeX_Main</vt:lpstr>
      <vt:lpstr>Office Theme</vt:lpstr>
      <vt:lpstr>Thermal Equilibrium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Thermal Equilibrium</dc:title>
  <dc:creator>Joseph D'cruz</dc:creator>
  <cp:lastModifiedBy>Joseph D'cruz</cp:lastModifiedBy>
  <cp:revision>1</cp:revision>
  <dcterms:created xsi:type="dcterms:W3CDTF">2020-07-14T06:49:09Z</dcterms:created>
  <dcterms:modified xsi:type="dcterms:W3CDTF">2020-07-14T06:49:25Z</dcterms:modified>
</cp:coreProperties>
</file>
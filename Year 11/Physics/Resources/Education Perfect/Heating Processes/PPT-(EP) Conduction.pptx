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9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625EB-E96E-4B31-A8FA-A1D1B750BF1C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7485-C51C-4695-8598-DF98C3B9BF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1029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625EB-E96E-4B31-A8FA-A1D1B750BF1C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7485-C51C-4695-8598-DF98C3B9BF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6854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625EB-E96E-4B31-A8FA-A1D1B750BF1C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7485-C51C-4695-8598-DF98C3B9BF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5166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625EB-E96E-4B31-A8FA-A1D1B750BF1C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7485-C51C-4695-8598-DF98C3B9BF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9978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625EB-E96E-4B31-A8FA-A1D1B750BF1C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7485-C51C-4695-8598-DF98C3B9BF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4647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625EB-E96E-4B31-A8FA-A1D1B750BF1C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7485-C51C-4695-8598-DF98C3B9BF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7204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625EB-E96E-4B31-A8FA-A1D1B750BF1C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7485-C51C-4695-8598-DF98C3B9BF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31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625EB-E96E-4B31-A8FA-A1D1B750BF1C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7485-C51C-4695-8598-DF98C3B9BF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2601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625EB-E96E-4B31-A8FA-A1D1B750BF1C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7485-C51C-4695-8598-DF98C3B9BF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560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625EB-E96E-4B31-A8FA-A1D1B750BF1C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7485-C51C-4695-8598-DF98C3B9BF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8251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625EB-E96E-4B31-A8FA-A1D1B750BF1C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7485-C51C-4695-8598-DF98C3B9BF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0273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625EB-E96E-4B31-A8FA-A1D1B750BF1C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7485-C51C-4695-8598-DF98C3B9BF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7107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Conduction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8222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41400" y="1153636"/>
            <a:ext cx="95631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what is required for </a:t>
            </a: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conduction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occur.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 </a:t>
            </a: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conduction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relates to the </a:t>
            </a:r>
            <a:r>
              <a:rPr lang="en-AU" sz="2400" b="1" i="0" dirty="0" smtClean="0">
                <a:solidFill>
                  <a:srgbClr val="7979A8"/>
                </a:solidFill>
                <a:effectLst/>
                <a:latin typeface="Arial" panose="020B0604020202020204" pitchFamily="34" charset="0"/>
              </a:rPr>
              <a:t>particles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 substance.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593642.01778 (1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78300" y="3092450"/>
            <a:ext cx="3575050" cy="357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046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7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0700" y="560338"/>
            <a:ext cx="10896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Have you ever held a glass of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ice cold water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noticed that it also makes your hand cold?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happens because </a:t>
            </a:r>
            <a:r>
              <a:rPr lang="en-AU" sz="2400" b="1" i="0" dirty="0" smtClean="0">
                <a:solidFill>
                  <a:srgbClr val="FF8B1F"/>
                </a:solidFill>
                <a:effectLst/>
                <a:latin typeface="Arial" panose="020B0604020202020204" pitchFamily="34" charset="0"/>
              </a:rPr>
              <a:t>heat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flows</a:t>
            </a:r>
            <a:r>
              <a:rPr lang="en-AU" sz="2400" b="1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from your hand to the cold glass.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makes your hand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cold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also makes the glass of water </a:t>
            </a:r>
            <a:r>
              <a:rPr lang="en-AU" sz="2400" b="1" i="0" dirty="0" smtClean="0">
                <a:solidFill>
                  <a:srgbClr val="FF8B1F"/>
                </a:solidFill>
                <a:effectLst/>
                <a:latin typeface="Arial" panose="020B0604020202020204" pitchFamily="34" charset="0"/>
              </a:rPr>
              <a:t>warm up.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50221179.543411g/1450221233916-384165225130230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375" y="3581400"/>
            <a:ext cx="3800475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8992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1200" y="683736"/>
            <a:ext cx="110617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process of heat transfer is called </a:t>
            </a: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conduction.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Conduction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only occurs between two objects which are 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direct contact.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means that they have to be </a:t>
            </a:r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touching.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49621449.071691g/1449621495630-1837371546885475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7175" y="3494784"/>
            <a:ext cx="1304925" cy="2853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3017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0700" y="556736"/>
            <a:ext cx="11176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 heat is </a:t>
            </a: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transferred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always goes from the hotter object to the colder object.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why your </a:t>
            </a:r>
            <a:r>
              <a:rPr lang="en-AU" sz="2400" b="1" i="0" dirty="0" smtClean="0">
                <a:solidFill>
                  <a:srgbClr val="FF8B1F"/>
                </a:solidFill>
                <a:effectLst/>
                <a:latin typeface="Arial" panose="020B0604020202020204" pitchFamily="34" charset="0"/>
              </a:rPr>
              <a:t>warm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hand got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cold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while the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cold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glass of water got </a:t>
            </a:r>
            <a:r>
              <a:rPr lang="en-AU" sz="2400" b="1" i="0" dirty="0" smtClean="0">
                <a:solidFill>
                  <a:srgbClr val="FF8B1F"/>
                </a:solidFill>
                <a:effectLst/>
                <a:latin typeface="Arial" panose="020B0604020202020204" pitchFamily="34" charset="0"/>
              </a:rPr>
              <a:t>warmer!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22917810.828841g/1422917794903-908215367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974" y="2243137"/>
            <a:ext cx="1774825" cy="4106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318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496838"/>
            <a:ext cx="112903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Heat transfer is </a:t>
            </a: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faster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there is a larger difference in the </a:t>
            </a:r>
            <a:r>
              <a:rPr lang="en-AU" sz="2400" b="1" i="0" dirty="0" smtClean="0">
                <a:solidFill>
                  <a:srgbClr val="900C3F"/>
                </a:solidFill>
                <a:effectLst/>
                <a:latin typeface="Arial" panose="020B0604020202020204" pitchFamily="34" charset="0"/>
              </a:rPr>
              <a:t>temperatures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two objects.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Imagine that you are holding one glass of water in each hand. The glass in your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right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hand has been in the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fridge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while the glass in your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left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hand has been sitting in the </a:t>
            </a:r>
            <a:r>
              <a:rPr lang="en-AU" sz="2400" b="1" i="0" dirty="0" smtClean="0">
                <a:solidFill>
                  <a:srgbClr val="F7BE3A"/>
                </a:solidFill>
                <a:effectLst/>
                <a:latin typeface="Arial" panose="020B0604020202020204" pitchFamily="34" charset="0"/>
              </a:rPr>
              <a:t>Sun.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German/1450125281.719521g/1450125287364-2119591974486196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5" y="3632200"/>
            <a:ext cx="3800475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0691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4200" y="773837"/>
            <a:ext cx="10718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would expect your right hand to get cold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faster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your left hand.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because there is a larger </a:t>
            </a:r>
            <a:r>
              <a:rPr lang="en-AU" sz="2400" b="1" i="0" dirty="0" smtClean="0">
                <a:solidFill>
                  <a:srgbClr val="900C3F"/>
                </a:solidFill>
                <a:effectLst/>
                <a:latin typeface="Arial" panose="020B0604020202020204" pitchFamily="34" charset="0"/>
              </a:rPr>
              <a:t>temperature difference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your right hand and the glass of water, so </a:t>
            </a: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heat transfer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faster.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5660.1671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013200" y="3384550"/>
            <a:ext cx="4038600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562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3600" y="187742"/>
            <a:ext cx="108331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 careful!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One of the most common misconceptions about heat transfer is that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cold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travels from one place to another, for example you might think that ice cream makes your mouth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cold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cold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transferring from the ice cream to your mouth, but THIS IS WRONG!!!!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Cold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simply less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thermal energy.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With the 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icecream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heat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being transferred from your mouth to the 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icecream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helping it melt. As your mouth is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losing heat,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feels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cold.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Make sure you really understand this before going on!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389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472639"/>
            <a:ext cx="113411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already know that everything is made up of </a:t>
            </a:r>
            <a:r>
              <a:rPr lang="en-AU" sz="2400" b="1" i="0" dirty="0" smtClean="0">
                <a:solidFill>
                  <a:srgbClr val="7979A8"/>
                </a:solidFill>
                <a:effectLst/>
                <a:latin typeface="Arial" panose="020B0604020202020204" pitchFamily="34" charset="0"/>
              </a:rPr>
              <a:t>particles.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But did you know that these particles are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constantly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moving?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particles 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objects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all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vibrating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 spot.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they vibrate at depends on the </a:t>
            </a:r>
            <a:r>
              <a:rPr lang="en-AU" sz="2400" b="1" i="0" dirty="0" smtClean="0">
                <a:solidFill>
                  <a:srgbClr val="900C3F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object.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450045895.135131g/1450045894778-231009749479476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2474" y="3240902"/>
            <a:ext cx="4962525" cy="3201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3523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" y="555536"/>
            <a:ext cx="108585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particles in </a:t>
            </a:r>
            <a:r>
              <a:rPr lang="en-AU" sz="2400" b="1" i="0" dirty="0" smtClean="0">
                <a:solidFill>
                  <a:srgbClr val="FF8B1F"/>
                </a:solidFill>
                <a:effectLst/>
                <a:latin typeface="Arial" panose="020B0604020202020204" pitchFamily="34" charset="0"/>
              </a:rPr>
              <a:t>hot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objects vibrate faster than the particles in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cold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objects.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this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vibration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causes </a:t>
            </a: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conduction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occur!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448232160.650841g/1448232170795-318773655615019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9075" y="2954337"/>
            <a:ext cx="3800475" cy="3162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791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27100" y="634137"/>
            <a:ext cx="106807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use the example of a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cool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metal spoon being used to stir a </a:t>
            </a:r>
            <a:r>
              <a:rPr lang="en-AU" sz="2400" b="1" i="0" dirty="0" smtClean="0">
                <a:solidFill>
                  <a:srgbClr val="FF8B1F"/>
                </a:solidFill>
                <a:effectLst/>
                <a:latin typeface="Arial" panose="020B0604020202020204" pitchFamily="34" charset="0"/>
              </a:rPr>
              <a:t>hot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cup of tea to explain how this works.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7979A8"/>
                </a:solidFill>
                <a:effectLst/>
                <a:latin typeface="Arial" panose="020B0604020202020204" pitchFamily="34" charset="0"/>
              </a:rPr>
              <a:t>particles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cup of </a:t>
            </a:r>
            <a:r>
              <a:rPr lang="en-AU" sz="2400" b="1" i="0" dirty="0" smtClean="0">
                <a:solidFill>
                  <a:srgbClr val="FF8B1F"/>
                </a:solidFill>
                <a:effectLst/>
                <a:latin typeface="Arial" panose="020B0604020202020204" pitchFamily="34" charset="0"/>
              </a:rPr>
              <a:t>tea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vibrating very </a:t>
            </a:r>
            <a:r>
              <a:rPr lang="en-AU" sz="2400" b="1" i="0" dirty="0" smtClean="0">
                <a:solidFill>
                  <a:srgbClr val="FF8B1F"/>
                </a:solidFill>
                <a:effectLst/>
                <a:latin typeface="Arial" panose="020B0604020202020204" pitchFamily="34" charset="0"/>
              </a:rPr>
              <a:t>fast!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they vibrate, they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nudge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slow-moving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particles in the spoon.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German/1449732664.332981g/1449732718778-2484070868478481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2575" y="3238500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7825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570637"/>
            <a:ext cx="11404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the particles in the spoon are nudged by the fast moving particles in the tea, they begin to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vibrate faster.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increases the </a:t>
            </a:r>
            <a:r>
              <a:rPr lang="en-AU" sz="2400" b="1" i="0" dirty="0" smtClean="0">
                <a:solidFill>
                  <a:srgbClr val="900C3F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spoon.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Voilà!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Heat transfer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occurred.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4966.3641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05199" y="3206750"/>
            <a:ext cx="5141951" cy="263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07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00" y="118239"/>
            <a:ext cx="11658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Conduction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occurs quickest in solids as the particles are closest together.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 </a:t>
            </a: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conduction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requires direct contact between particles, this occurs rapidly in solids. There is some </a:t>
            </a: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conduction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liquids, as the particles are still relatively close and very little in gases, as the particles are so far apart.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fluids (liquids and gases)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convection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generally accounts for more heat transfer than </a:t>
            </a:r>
            <a:r>
              <a:rPr lang="en-AU" sz="2400" b="1" i="0" dirty="0" smtClean="0">
                <a:solidFill>
                  <a:srgbClr val="F65942"/>
                </a:solidFill>
                <a:effectLst/>
                <a:latin typeface="Arial" panose="020B0604020202020204" pitchFamily="34" charset="0"/>
              </a:rPr>
              <a:t>conduction.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521776531.373381g/1521776529536-637752243262062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00" y="3475037"/>
            <a:ext cx="7620000" cy="308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3604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Office PowerPoint</Application>
  <PresentationFormat>Widescreen</PresentationFormat>
  <Paragraphs>50</Paragraphs>
  <Slides>13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Conduction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Conduction</dc:title>
  <dc:creator>Joseph D'cruz</dc:creator>
  <cp:lastModifiedBy>Joseph D'cruz</cp:lastModifiedBy>
  <cp:revision>1</cp:revision>
  <dcterms:created xsi:type="dcterms:W3CDTF">2020-07-14T03:55:29Z</dcterms:created>
  <dcterms:modified xsi:type="dcterms:W3CDTF">2020-07-14T03:55:57Z</dcterms:modified>
</cp:coreProperties>
</file>
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ED906-424B-40F1-BFEC-82390C8E50DD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19B0C-8289-46E8-8171-BD7DC3A465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8443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ED906-424B-40F1-BFEC-82390C8E50DD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19B0C-8289-46E8-8171-BD7DC3A465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2167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ED906-424B-40F1-BFEC-82390C8E50DD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19B0C-8289-46E8-8171-BD7DC3A465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8111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ED906-424B-40F1-BFEC-82390C8E50DD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19B0C-8289-46E8-8171-BD7DC3A465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3676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ED906-424B-40F1-BFEC-82390C8E50DD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19B0C-8289-46E8-8171-BD7DC3A465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9209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ED906-424B-40F1-BFEC-82390C8E50DD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19B0C-8289-46E8-8171-BD7DC3A465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2593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ED906-424B-40F1-BFEC-82390C8E50DD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19B0C-8289-46E8-8171-BD7DC3A465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0718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ED906-424B-40F1-BFEC-82390C8E50DD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19B0C-8289-46E8-8171-BD7DC3A465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5092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ED906-424B-40F1-BFEC-82390C8E50DD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19B0C-8289-46E8-8171-BD7DC3A465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6725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ED906-424B-40F1-BFEC-82390C8E50DD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19B0C-8289-46E8-8171-BD7DC3A465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8759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ED906-424B-40F1-BFEC-82390C8E50DD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19B0C-8289-46E8-8171-BD7DC3A465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6642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1ED906-424B-40F1-BFEC-82390C8E50DD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F19B0C-8289-46E8-8171-BD7DC3A465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774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microsoft.com/office/2007/relationships/media" Target="../media/media5.mp4"/><Relationship Id="rId7" Type="http://schemas.openxmlformats.org/officeDocument/2006/relationships/image" Target="../media/image10.png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image" Target="../media/image9.png"/><Relationship Id="rId5" Type="http://schemas.openxmlformats.org/officeDocument/2006/relationships/slideLayout" Target="../slideLayouts/slideLayout7.xml"/><Relationship Id="rId4" Type="http://schemas.openxmlformats.org/officeDocument/2006/relationships/video" Target="../media/media5.mp4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microsoft.com/office/2007/relationships/media" Target="../media/media4.mp4"/><Relationship Id="rId7" Type="http://schemas.openxmlformats.org/officeDocument/2006/relationships/image" Target="../media/image10.png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6" Type="http://schemas.openxmlformats.org/officeDocument/2006/relationships/image" Target="../media/image12.png"/><Relationship Id="rId5" Type="http://schemas.openxmlformats.org/officeDocument/2006/relationships/slideLayout" Target="../slideLayouts/slideLayout7.xml"/><Relationship Id="rId4" Type="http://schemas.openxmlformats.org/officeDocument/2006/relationships/video" Target="../media/media4.mp4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microsoft.com/office/2007/relationships/media" Target="../media/media4.mp4"/><Relationship Id="rId7" Type="http://schemas.openxmlformats.org/officeDocument/2006/relationships/image" Target="../media/image10.png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6" Type="http://schemas.openxmlformats.org/officeDocument/2006/relationships/image" Target="../media/image12.png"/><Relationship Id="rId5" Type="http://schemas.openxmlformats.org/officeDocument/2006/relationships/slideLayout" Target="../slideLayouts/slideLayout7.xml"/><Relationship Id="rId4" Type="http://schemas.openxmlformats.org/officeDocument/2006/relationships/video" Target="../media/media4.mp4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microsoft.com/office/2007/relationships/media" Target="../media/media5.mp4"/><Relationship Id="rId7" Type="http://schemas.openxmlformats.org/officeDocument/2006/relationships/image" Target="../media/image10.png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image" Target="../media/image9.png"/><Relationship Id="rId5" Type="http://schemas.openxmlformats.org/officeDocument/2006/relationships/slideLayout" Target="../slideLayouts/slideLayout7.xml"/><Relationship Id="rId4" Type="http://schemas.openxmlformats.org/officeDocument/2006/relationships/video" Target="../media/media5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Phase Changes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8154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01700" y="573038"/>
            <a:ext cx="109728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8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Recall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3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main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states of matter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 processes involved in changing state.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8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why the </a:t>
            </a:r>
            <a:r>
              <a:rPr lang="en-AU" sz="28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temperature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system remains the same during the process of state change.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8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Apply 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understanding of </a:t>
            </a:r>
            <a:r>
              <a:rPr lang="en-AU" sz="28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internal energy 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and the </a:t>
            </a:r>
            <a:r>
              <a:rPr lang="en-AU" sz="28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kinetic particle model of matter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describe changes of state.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5097.30479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937125" y="4279900"/>
            <a:ext cx="226695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677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8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03300" y="453936"/>
            <a:ext cx="101981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F56064"/>
                </a:solidFill>
                <a:effectLst/>
                <a:latin typeface="Arial" panose="020B0604020202020204" pitchFamily="34" charset="0"/>
              </a:rPr>
              <a:t>Solids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 a </a:t>
            </a:r>
            <a:r>
              <a:rPr lang="en-AU" sz="2400" b="1" i="0" dirty="0" smtClean="0">
                <a:solidFill>
                  <a:srgbClr val="D65089"/>
                </a:solidFill>
                <a:effectLst/>
                <a:latin typeface="Arial" panose="020B0604020202020204" pitchFamily="34" charset="0"/>
              </a:rPr>
              <a:t>definite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F99893"/>
                </a:solidFill>
                <a:effectLst/>
                <a:latin typeface="Arial" panose="020B0604020202020204" pitchFamily="34" charset="0"/>
              </a:rPr>
              <a:t>shape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and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9893F9"/>
                </a:solidFill>
                <a:effectLst/>
                <a:latin typeface="Arial" panose="020B0604020202020204" pitchFamily="34" charset="0"/>
              </a:rPr>
              <a:t>volume.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that, regardless of what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container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they are in, they: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378200" y="1746935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have the </a:t>
            </a:r>
            <a:r>
              <a:rPr lang="en-AU" sz="2800" b="1" i="0" dirty="0" smtClean="0">
                <a:solidFill>
                  <a:srgbClr val="D65089"/>
                </a:solidFill>
                <a:effectLst/>
                <a:latin typeface="Arial" panose="020B0604020202020204" pitchFamily="34" charset="0"/>
              </a:rPr>
              <a:t>same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800" b="1" i="0" dirty="0" smtClean="0">
                <a:solidFill>
                  <a:srgbClr val="F99893"/>
                </a:solidFill>
                <a:effectLst/>
                <a:latin typeface="Arial" panose="020B0604020202020204" pitchFamily="34" charset="0"/>
              </a:rPr>
              <a:t>shape,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occupy the </a:t>
            </a:r>
            <a:r>
              <a:rPr lang="en-AU" sz="2800" b="1" i="0" dirty="0" smtClean="0">
                <a:solidFill>
                  <a:srgbClr val="D65089"/>
                </a:solidFill>
                <a:effectLst/>
                <a:latin typeface="Arial" panose="020B0604020202020204" pitchFamily="34" charset="0"/>
              </a:rPr>
              <a:t>same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800" b="1" i="0" dirty="0" smtClean="0">
                <a:solidFill>
                  <a:srgbClr val="9893F9"/>
                </a:solidFill>
                <a:effectLst/>
                <a:latin typeface="Arial" panose="020B0604020202020204" pitchFamily="34" charset="0"/>
              </a:rPr>
              <a:t>area.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1520208935.2428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349750" y="3124200"/>
            <a:ext cx="35052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091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9100" y="799237"/>
            <a:ext cx="11455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50ABD6"/>
                </a:solidFill>
                <a:effectLst/>
                <a:latin typeface="Arial" panose="020B0604020202020204" pitchFamily="34" charset="0"/>
              </a:rPr>
              <a:t>Liquids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 a </a:t>
            </a:r>
            <a:r>
              <a:rPr lang="en-AU" sz="2400" b="1" i="0" dirty="0" smtClean="0">
                <a:solidFill>
                  <a:srgbClr val="8DD26B"/>
                </a:solidFill>
                <a:effectLst/>
                <a:latin typeface="Arial" panose="020B0604020202020204" pitchFamily="34" charset="0"/>
              </a:rPr>
              <a:t>variable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F99893"/>
                </a:solidFill>
                <a:effectLst/>
                <a:latin typeface="Arial" panose="020B0604020202020204" pitchFamily="34" charset="0"/>
              </a:rPr>
              <a:t>shape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 </a:t>
            </a:r>
            <a:r>
              <a:rPr lang="en-AU" sz="2400" b="1" i="0" dirty="0" smtClean="0">
                <a:solidFill>
                  <a:srgbClr val="D65089"/>
                </a:solidFill>
                <a:effectLst/>
                <a:latin typeface="Arial" panose="020B0604020202020204" pitchFamily="34" charset="0"/>
              </a:rPr>
              <a:t>definite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9893F9"/>
                </a:solidFill>
                <a:effectLst/>
                <a:latin typeface="Arial" panose="020B0604020202020204" pitchFamily="34" charset="0"/>
              </a:rPr>
              <a:t>volume.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they will </a:t>
            </a:r>
            <a:r>
              <a:rPr lang="en-AU" sz="2400" b="1" i="0" dirty="0" smtClean="0">
                <a:solidFill>
                  <a:srgbClr val="8DD26B"/>
                </a:solidFill>
                <a:effectLst/>
                <a:latin typeface="Arial" panose="020B0604020202020204" pitchFamily="34" charset="0"/>
              </a:rPr>
              <a:t>change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their </a:t>
            </a:r>
            <a:r>
              <a:rPr lang="en-AU" sz="2400" b="1" i="0" dirty="0" smtClean="0">
                <a:solidFill>
                  <a:srgbClr val="F99893"/>
                </a:solidFill>
                <a:effectLst/>
                <a:latin typeface="Arial" panose="020B0604020202020204" pitchFamily="34" charset="0"/>
              </a:rPr>
              <a:t>shape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fit different containers.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However, they will still occupy the </a:t>
            </a:r>
            <a:r>
              <a:rPr lang="en-AU" sz="2400" b="1" i="0" dirty="0" smtClean="0">
                <a:solidFill>
                  <a:srgbClr val="D65089"/>
                </a:solidFill>
                <a:effectLst/>
                <a:latin typeface="Arial" panose="020B0604020202020204" pitchFamily="34" charset="0"/>
              </a:rPr>
              <a:t>same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amount of </a:t>
            </a:r>
            <a:r>
              <a:rPr lang="en-AU" sz="2400" b="1" i="0" dirty="0" smtClean="0">
                <a:solidFill>
                  <a:srgbClr val="9893F9"/>
                </a:solidFill>
                <a:effectLst/>
                <a:latin typeface="Arial" panose="020B0604020202020204" pitchFamily="34" charset="0"/>
              </a:rPr>
              <a:t>space.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20194926.36929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98800" y="3086100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182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4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0700" y="551240"/>
            <a:ext cx="111887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8DD26B"/>
                </a:solidFill>
                <a:effectLst/>
                <a:latin typeface="Arial" panose="020B0604020202020204" pitchFamily="34" charset="0"/>
              </a:rPr>
              <a:t>Gases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 </a:t>
            </a:r>
            <a:r>
              <a:rPr lang="en-AU" sz="2400" b="1" i="0" dirty="0" smtClean="0">
                <a:solidFill>
                  <a:srgbClr val="8DD26B"/>
                </a:solidFill>
                <a:effectLst/>
                <a:latin typeface="Arial" panose="020B0604020202020204" pitchFamily="34" charset="0"/>
              </a:rPr>
              <a:t>variable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F99893"/>
                </a:solidFill>
                <a:effectLst/>
                <a:latin typeface="Arial" panose="020B0604020202020204" pitchFamily="34" charset="0"/>
              </a:rPr>
              <a:t>shape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and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9893F9"/>
                </a:solidFill>
                <a:effectLst/>
                <a:latin typeface="Arial" panose="020B0604020202020204" pitchFamily="34" charset="0"/>
              </a:rPr>
              <a:t>volume.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they will </a:t>
            </a:r>
            <a:r>
              <a:rPr lang="en-AU" sz="2400" b="1" i="0" dirty="0" smtClean="0">
                <a:solidFill>
                  <a:srgbClr val="8DD26B"/>
                </a:solidFill>
                <a:effectLst/>
                <a:latin typeface="Arial" panose="020B0604020202020204" pitchFamily="34" charset="0"/>
              </a:rPr>
              <a:t>change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their </a:t>
            </a:r>
            <a:r>
              <a:rPr lang="en-AU" sz="2400" b="1" i="0" dirty="0" smtClean="0">
                <a:solidFill>
                  <a:srgbClr val="F99893"/>
                </a:solidFill>
                <a:effectLst/>
                <a:latin typeface="Arial" panose="020B0604020202020204" pitchFamily="34" charset="0"/>
              </a:rPr>
              <a:t>shape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9893F9"/>
                </a:solidFill>
                <a:effectLst/>
                <a:latin typeface="Arial" panose="020B0604020202020204" pitchFamily="34" charset="0"/>
              </a:rPr>
              <a:t>space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they occupy to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fill a container.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8DD26B"/>
                </a:solidFill>
                <a:effectLst/>
                <a:latin typeface="Arial" panose="020B0604020202020204" pitchFamily="34" charset="0"/>
              </a:rPr>
              <a:t>Gases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will </a:t>
            </a:r>
            <a:r>
              <a:rPr lang="en-AU" sz="2400" b="1" i="0" dirty="0" smtClean="0">
                <a:solidFill>
                  <a:srgbClr val="214FE5"/>
                </a:solidFill>
                <a:effectLst/>
                <a:latin typeface="Arial" panose="020B0604020202020204" pitchFamily="34" charset="0"/>
              </a:rPr>
              <a:t>expand (grow)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moved to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larger container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BF4D7A"/>
                </a:solidFill>
                <a:effectLst/>
                <a:latin typeface="Arial" panose="020B0604020202020204" pitchFamily="34" charset="0"/>
              </a:rPr>
              <a:t>compress (shrink)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moved to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smaller container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They are thus </a:t>
            </a:r>
            <a:r>
              <a:rPr lang="en-AU" sz="2400" b="1" i="0" dirty="0" smtClean="0">
                <a:solidFill>
                  <a:srgbClr val="214FE5"/>
                </a:solidFill>
                <a:effectLst/>
                <a:latin typeface="Arial" panose="020B0604020202020204" pitchFamily="34" charset="0"/>
              </a:rPr>
              <a:t>expandable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BF4D7A"/>
                </a:solidFill>
                <a:effectLst/>
                <a:latin typeface="Arial" panose="020B0604020202020204" pitchFamily="34" charset="0"/>
              </a:rPr>
              <a:t>compressible.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456182962.141381g/1456182952352-4404795999290406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875" y="3971924"/>
            <a:ext cx="7600950" cy="2886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4218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8000" y="542141"/>
            <a:ext cx="7239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Energy in solids, liquids and gases.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Particles in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solids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 low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kinetic energy.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particles are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tightly bound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so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can't move much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giving them a smaller kinetic energy.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Particles in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liquids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 a moderate amount of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kinetic energy.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is because the particles can move more, giving them a greater kinetic energy.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Particles in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gases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 highest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kinetic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 particles are moving quickly. In an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ideal gas,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there are no intermolecular forces. However, in a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real gas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there are weak intermolecular forces.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431295183.609581g/1431295166828-1755529843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5626" y="1689100"/>
            <a:ext cx="4716374" cy="3246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9371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255538"/>
            <a:ext cx="115062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should be familiar with the state changes below.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Changes of state require energy to be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added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or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removed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a system.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Melting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vaporisation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both require an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energy input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Condensation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solidification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both require energy to be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removed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 system.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450301245.867521g/1450301245074-1460198482085439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9037" y="2933194"/>
            <a:ext cx="4810125" cy="4010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5359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5940"/>
            <a:ext cx="12192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substance changing stages is known as a </a:t>
            </a:r>
            <a:r>
              <a:rPr lang="en-AU" sz="2400" b="1" i="0" dirty="0" smtClean="0">
                <a:solidFill>
                  <a:srgbClr val="A660F5"/>
                </a:solidFill>
                <a:effectLst/>
                <a:latin typeface="Arial" panose="020B0604020202020204" pitchFamily="34" charset="0"/>
              </a:rPr>
              <a:t>phase change.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a substance, such as ice, is </a:t>
            </a:r>
            <a:r>
              <a:rPr lang="en-AU" sz="2400" b="1" i="0" dirty="0" smtClean="0">
                <a:solidFill>
                  <a:srgbClr val="F56964"/>
                </a:solidFill>
                <a:effectLst/>
                <a:latin typeface="Arial" panose="020B0604020202020204" pitchFamily="34" charset="0"/>
              </a:rPr>
              <a:t>heated,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its </a:t>
            </a:r>
            <a:r>
              <a:rPr lang="en-AU" sz="2400" b="1" i="0" dirty="0" smtClean="0">
                <a:solidFill>
                  <a:srgbClr val="F56964"/>
                </a:solidFill>
                <a:effectLst/>
                <a:latin typeface="Arial" panose="020B0604020202020204" pitchFamily="34" charset="0"/>
              </a:rPr>
              <a:t>temperature will increase.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However, once we add enough energy that the ice melts (in other words, it </a:t>
            </a:r>
            <a:r>
              <a:rPr lang="en-AU" sz="2400" b="1" i="0" dirty="0" smtClean="0">
                <a:solidFill>
                  <a:srgbClr val="A660F5"/>
                </a:solidFill>
                <a:effectLst/>
                <a:latin typeface="Arial" panose="020B0604020202020204" pitchFamily="34" charset="0"/>
              </a:rPr>
              <a:t>undergoes a phase change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), the </a:t>
            </a:r>
            <a:r>
              <a:rPr lang="en-AU" sz="2400" b="1" i="0" dirty="0" smtClean="0">
                <a:solidFill>
                  <a:srgbClr val="50ABD6"/>
                </a:solidFill>
                <a:effectLst/>
                <a:latin typeface="Arial" panose="020B0604020202020204" pitchFamily="34" charset="0"/>
              </a:rPr>
              <a:t>temperature of the substance stops increasing.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can see these temperature plateaus in </a:t>
            </a:r>
            <a:r>
              <a:rPr lang="en-AU" sz="2400" b="1" i="0" dirty="0" smtClean="0">
                <a:solidFill>
                  <a:srgbClr val="A660F5"/>
                </a:solidFill>
                <a:effectLst/>
                <a:latin typeface="Arial" panose="020B0604020202020204" pitchFamily="34" charset="0"/>
              </a:rPr>
              <a:t>phase change diagrams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like the one below: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523313575.200571g/1523313572066-2366497300280071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4933" y="2733596"/>
            <a:ext cx="6265017" cy="4124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1379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71438"/>
            <a:ext cx="113157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015E85"/>
                </a:solidFill>
                <a:effectLst/>
                <a:latin typeface="Arial" panose="020B0604020202020204" pitchFamily="34" charset="0"/>
              </a:rPr>
              <a:t>Latent heat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 </a:t>
            </a:r>
            <a:r>
              <a:rPr lang="en-AU" sz="2400" b="1" i="0" dirty="0" smtClean="0">
                <a:solidFill>
                  <a:srgbClr val="015E85"/>
                </a:solidFill>
                <a:effectLst/>
                <a:latin typeface="Arial" panose="020B0604020202020204" pitchFamily="34" charset="0"/>
              </a:rPr>
              <a:t>energy that is absorbed or released during a phase change.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is called latent heat because it is </a:t>
            </a:r>
            <a:r>
              <a:rPr lang="en-AU" sz="2400" b="1" i="0" dirty="0" smtClean="0">
                <a:solidFill>
                  <a:srgbClr val="015E85"/>
                </a:solidFill>
                <a:effectLst/>
                <a:latin typeface="Arial" panose="020B0604020202020204" pitchFamily="34" charset="0"/>
              </a:rPr>
              <a:t>concealed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(hidden).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A82056"/>
                </a:solidFill>
                <a:effectLst/>
                <a:latin typeface="Arial" panose="020B0604020202020204" pitchFamily="34" charset="0"/>
              </a:rPr>
              <a:t>temperature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system </a:t>
            </a:r>
            <a:r>
              <a:rPr lang="en-AU" sz="2400" b="1" i="0" dirty="0" smtClean="0">
                <a:solidFill>
                  <a:srgbClr val="A82056"/>
                </a:solidFill>
                <a:effectLst/>
                <a:latin typeface="Arial" panose="020B0604020202020204" pitchFamily="34" charset="0"/>
              </a:rPr>
              <a:t>remains the same during the process of state change.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energy being added to or removed from the system during a phase change is being used to </a:t>
            </a:r>
            <a:r>
              <a:rPr lang="en-AU" sz="2400" b="1" i="0" dirty="0" smtClean="0">
                <a:solidFill>
                  <a:srgbClr val="F1759A"/>
                </a:solidFill>
                <a:effectLst/>
                <a:latin typeface="Arial" panose="020B0604020202020204" pitchFamily="34" charset="0"/>
              </a:rPr>
              <a:t>break or form intermolecular bonds.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456457631.782851g/1456457616153-3306784728594676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2975" y="3175000"/>
            <a:ext cx="5553075" cy="3257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8641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7000" y="72241"/>
            <a:ext cx="120650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Melting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sz="2400" b="1" i="0" dirty="0" smtClean="0">
                <a:solidFill>
                  <a:srgbClr val="F56064"/>
                </a:solidFill>
                <a:effectLst/>
                <a:latin typeface="Arial" panose="020B0604020202020204" pitchFamily="34" charset="0"/>
              </a:rPr>
              <a:t>solid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made up of particles that are packed </a:t>
            </a:r>
            <a:r>
              <a:rPr lang="en-AU" sz="2400" b="1" i="0" dirty="0" smtClean="0">
                <a:solidFill>
                  <a:srgbClr val="F56064"/>
                </a:solidFill>
                <a:effectLst/>
                <a:latin typeface="Arial" panose="020B0604020202020204" pitchFamily="34" charset="0"/>
              </a:rPr>
              <a:t>close together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only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move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 </a:t>
            </a:r>
            <a:r>
              <a:rPr lang="en-AU" sz="2400" b="1" i="0" dirty="0" smtClean="0">
                <a:solidFill>
                  <a:srgbClr val="F56064"/>
                </a:solidFill>
                <a:effectLst/>
                <a:latin typeface="Arial" panose="020B0604020202020204" pitchFamily="34" charset="0"/>
              </a:rPr>
              <a:t>tiny amount.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majority of energy in solid substances is stored in the bonds that hold the molecules together tightly.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 </a:t>
            </a:r>
            <a:r>
              <a:rPr lang="en-AU" sz="2400" b="1" i="0" dirty="0" smtClean="0">
                <a:solidFill>
                  <a:srgbClr val="8DD26B"/>
                </a:solidFill>
                <a:effectLst/>
                <a:latin typeface="Arial" panose="020B0604020202020204" pitchFamily="34" charset="0"/>
              </a:rPr>
              <a:t>heat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added to a solid, the bonds holding the particles together begin to break. This means that the particles </a:t>
            </a:r>
            <a:r>
              <a:rPr lang="en-AU" sz="2400" b="1" i="0" dirty="0" smtClean="0">
                <a:solidFill>
                  <a:srgbClr val="8DD26B"/>
                </a:solidFill>
                <a:effectLst/>
                <a:latin typeface="Arial" panose="020B0604020202020204" pitchFamily="34" charset="0"/>
              </a:rPr>
              <a:t>spread out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take on the shape of the container they are in, rather than having a fixed shape.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that the </a:t>
            </a:r>
            <a:r>
              <a:rPr lang="en-AU" sz="2400" b="1" i="0" dirty="0" smtClean="0">
                <a:solidFill>
                  <a:srgbClr val="F56064"/>
                </a:solidFill>
                <a:effectLst/>
                <a:latin typeface="Arial" panose="020B0604020202020204" pitchFamily="34" charset="0"/>
              </a:rPr>
              <a:t>solid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becomes a </a:t>
            </a:r>
            <a:r>
              <a:rPr lang="en-AU" sz="2400" b="1" i="0" dirty="0" smtClean="0">
                <a:solidFill>
                  <a:srgbClr val="50ABD6"/>
                </a:solidFill>
                <a:effectLst/>
                <a:latin typeface="Arial" panose="020B0604020202020204" pitchFamily="34" charset="0"/>
              </a:rPr>
              <a:t>liquid.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state change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called </a:t>
            </a:r>
            <a:r>
              <a:rPr lang="en-AU" sz="2400" b="1" i="0" dirty="0" smtClean="0">
                <a:solidFill>
                  <a:srgbClr val="50ABD6"/>
                </a:solidFill>
                <a:effectLst/>
                <a:latin typeface="Arial" panose="020B0604020202020204" pitchFamily="34" charset="0"/>
              </a:rPr>
              <a:t>melting.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494449493.284391g/1494449511432-3210657207860793-optimised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4650" y="5172075"/>
            <a:ext cx="1409700" cy="20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1509324874.3041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864350" y="4351983"/>
            <a:ext cx="2336800" cy="1893241"/>
          </a:xfrm>
          <a:prstGeom prst="rect">
            <a:avLst/>
          </a:prstGeom>
        </p:spPr>
      </p:pic>
      <p:pic>
        <p:nvPicPr>
          <p:cNvPr id="4" name="1509317683.52371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052391" y="4298949"/>
            <a:ext cx="2402259" cy="194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171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0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302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6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90600" y="129739"/>
            <a:ext cx="105918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Vaporisation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much greater amount of energy is required to convert a liquid to a gas. When </a:t>
            </a:r>
            <a:r>
              <a:rPr lang="en-AU" sz="2400" b="1" i="0" dirty="0" smtClean="0">
                <a:solidFill>
                  <a:srgbClr val="F56064"/>
                </a:solidFill>
                <a:effectLst/>
                <a:latin typeface="Arial" panose="020B0604020202020204" pitchFamily="34" charset="0"/>
              </a:rPr>
              <a:t>heat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added to a </a:t>
            </a:r>
            <a:r>
              <a:rPr lang="en-AU" sz="2400" b="1" i="0" dirty="0" smtClean="0">
                <a:solidFill>
                  <a:srgbClr val="50ABD6"/>
                </a:solidFill>
                <a:effectLst/>
                <a:latin typeface="Arial" panose="020B0604020202020204" pitchFamily="34" charset="0"/>
              </a:rPr>
              <a:t>liquid,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intermolecular bonds in the substance are broken.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that the </a:t>
            </a:r>
            <a:r>
              <a:rPr lang="en-AU" sz="2400" b="1" i="0" dirty="0" smtClean="0">
                <a:solidFill>
                  <a:srgbClr val="50ABD6"/>
                </a:solidFill>
                <a:effectLst/>
                <a:latin typeface="Arial" panose="020B0604020202020204" pitchFamily="34" charset="0"/>
              </a:rPr>
              <a:t>liquid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becomes a </a:t>
            </a:r>
            <a:r>
              <a:rPr lang="en-AU" sz="2400" b="1" i="0" dirty="0" smtClean="0">
                <a:solidFill>
                  <a:srgbClr val="8DD26B"/>
                </a:solidFill>
                <a:effectLst/>
                <a:latin typeface="Arial" panose="020B0604020202020204" pitchFamily="34" charset="0"/>
              </a:rPr>
              <a:t>gas.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process occurs through </a:t>
            </a:r>
            <a:r>
              <a:rPr lang="en-AU" sz="2400" b="1" i="0" dirty="0" smtClean="0">
                <a:solidFill>
                  <a:srgbClr val="8DD26B"/>
                </a:solidFill>
                <a:effectLst/>
                <a:latin typeface="Arial" panose="020B0604020202020204" pitchFamily="34" charset="0"/>
              </a:rPr>
              <a:t>evaporation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0" dirty="0" smtClean="0">
                <a:solidFill>
                  <a:srgbClr val="8DD26B"/>
                </a:solidFill>
                <a:effectLst/>
                <a:latin typeface="Arial" panose="020B0604020202020204" pitchFamily="34" charset="0"/>
              </a:rPr>
              <a:t>boiling.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4888.8687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315200" y="3797300"/>
            <a:ext cx="2286000" cy="2286000"/>
          </a:xfrm>
          <a:prstGeom prst="rect">
            <a:avLst/>
          </a:prstGeom>
        </p:spPr>
      </p:pic>
      <p:pic>
        <p:nvPicPr>
          <p:cNvPr id="4" name="1509324874.30411 (1)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941030" y="3898900"/>
            <a:ext cx="2570770" cy="2082800"/>
          </a:xfrm>
          <a:prstGeom prst="rect">
            <a:avLst/>
          </a:prstGeom>
        </p:spPr>
      </p:pic>
      <p:pic>
        <p:nvPicPr>
          <p:cNvPr id="7170" name="Picture 2" descr="https://www.educationperfect.com/media/content/Science/1494449493.284391g/1494449511432-3210657207860793-optimised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8650" y="4840287"/>
            <a:ext cx="1409700" cy="20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989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0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302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13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6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242838"/>
            <a:ext cx="108966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Condensation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we </a:t>
            </a:r>
            <a:r>
              <a:rPr lang="en-AU" sz="2400" b="1" i="0" dirty="0" smtClean="0">
                <a:solidFill>
                  <a:srgbClr val="8DD26B"/>
                </a:solidFill>
                <a:effectLst/>
                <a:latin typeface="Arial" panose="020B0604020202020204" pitchFamily="34" charset="0"/>
              </a:rPr>
              <a:t>remove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heat energy from a </a:t>
            </a:r>
            <a:r>
              <a:rPr lang="en-AU" sz="2400" b="1" i="0" dirty="0" smtClean="0">
                <a:solidFill>
                  <a:srgbClr val="8DD26B"/>
                </a:solidFill>
                <a:effectLst/>
                <a:latin typeface="Arial" panose="020B0604020202020204" pitchFamily="34" charset="0"/>
              </a:rPr>
              <a:t>gas,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particles begin to form intermolecular bonds again, which holds the substance closer together and it stays in a </a:t>
            </a:r>
            <a:r>
              <a:rPr lang="en-AU" sz="2400" b="1" i="0" dirty="0" smtClean="0">
                <a:solidFill>
                  <a:srgbClr val="8DD26B"/>
                </a:solidFill>
                <a:effectLst/>
                <a:latin typeface="Arial" panose="020B0604020202020204" pitchFamily="34" charset="0"/>
              </a:rPr>
              <a:t>smaller area.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that the </a:t>
            </a:r>
            <a:r>
              <a:rPr lang="en-AU" sz="2400" b="1" i="0" dirty="0" smtClean="0">
                <a:solidFill>
                  <a:srgbClr val="8DD26B"/>
                </a:solidFill>
                <a:effectLst/>
                <a:latin typeface="Arial" panose="020B0604020202020204" pitchFamily="34" charset="0"/>
              </a:rPr>
              <a:t>gas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becomes a </a:t>
            </a:r>
            <a:r>
              <a:rPr lang="en-AU" sz="2400" b="1" i="0" dirty="0" smtClean="0">
                <a:solidFill>
                  <a:srgbClr val="50ABD6"/>
                </a:solidFill>
                <a:effectLst/>
                <a:latin typeface="Arial" panose="020B0604020202020204" pitchFamily="34" charset="0"/>
              </a:rPr>
              <a:t>liquid.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process is called </a:t>
            </a:r>
            <a:r>
              <a:rPr lang="en-AU" sz="2400" b="1" i="0" dirty="0" smtClean="0">
                <a:solidFill>
                  <a:srgbClr val="50ABD6"/>
                </a:solidFill>
                <a:effectLst/>
                <a:latin typeface="Arial" panose="020B0604020202020204" pitchFamily="34" charset="0"/>
              </a:rPr>
              <a:t>condensation.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4888.8687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833080" y="3697287"/>
            <a:ext cx="2286000" cy="2286000"/>
          </a:xfrm>
          <a:prstGeom prst="rect">
            <a:avLst/>
          </a:prstGeom>
        </p:spPr>
      </p:pic>
      <p:pic>
        <p:nvPicPr>
          <p:cNvPr id="4" name="1509324874.30411 (1)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386030" y="3898899"/>
            <a:ext cx="2570770" cy="2082800"/>
          </a:xfrm>
          <a:prstGeom prst="rect">
            <a:avLst/>
          </a:prstGeom>
        </p:spPr>
      </p:pic>
      <p:pic>
        <p:nvPicPr>
          <p:cNvPr id="5" name="Picture 2" descr="https://www.educationperfect.com/media/content/Science/1494449493.284391g/1494449511432-3210657207860793-optimised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8650" y="4840287"/>
            <a:ext cx="1409700" cy="20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4370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0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302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13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4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9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20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video>
              <p:cMediaNode vol="80000">
                <p:cTn id="21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6400" y="509538"/>
            <a:ext cx="114427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Solidification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heat energy is </a:t>
            </a:r>
            <a:r>
              <a:rPr lang="en-AU" sz="2400" b="1" i="0" dirty="0" smtClean="0">
                <a:solidFill>
                  <a:srgbClr val="50ABD6"/>
                </a:solidFill>
                <a:effectLst/>
                <a:latin typeface="Arial" panose="020B0604020202020204" pitchFamily="34" charset="0"/>
              </a:rPr>
              <a:t>removed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a </a:t>
            </a:r>
            <a:r>
              <a:rPr lang="en-AU" sz="2400" b="1" i="0" dirty="0" smtClean="0">
                <a:solidFill>
                  <a:srgbClr val="50ABD6"/>
                </a:solidFill>
                <a:effectLst/>
                <a:latin typeface="Arial" panose="020B0604020202020204" pitchFamily="34" charset="0"/>
              </a:rPr>
              <a:t>liquid,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particles form rigid intermolecular bonds. These bonds hold the particles tightly in place.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that the </a:t>
            </a:r>
            <a:r>
              <a:rPr lang="en-AU" sz="2400" b="1" i="0" dirty="0" smtClean="0">
                <a:solidFill>
                  <a:srgbClr val="50ABD6"/>
                </a:solidFill>
                <a:effectLst/>
                <a:latin typeface="Arial" panose="020B0604020202020204" pitchFamily="34" charset="0"/>
              </a:rPr>
              <a:t>liquid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becomes a </a:t>
            </a:r>
            <a:r>
              <a:rPr lang="en-AU" sz="2400" b="1" i="0" dirty="0" smtClean="0">
                <a:solidFill>
                  <a:srgbClr val="F56064"/>
                </a:solidFill>
                <a:effectLst/>
                <a:latin typeface="Arial" panose="020B0604020202020204" pitchFamily="34" charset="0"/>
              </a:rPr>
              <a:t>solid.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process is called </a:t>
            </a:r>
            <a:r>
              <a:rPr lang="en-AU" sz="2400" b="1" i="0" dirty="0" smtClean="0">
                <a:solidFill>
                  <a:srgbClr val="F56064"/>
                </a:solidFill>
                <a:effectLst/>
                <a:latin typeface="Arial" panose="020B0604020202020204" pitchFamily="34" charset="0"/>
              </a:rPr>
              <a:t>solidification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0" dirty="0" smtClean="0">
                <a:solidFill>
                  <a:srgbClr val="F56064"/>
                </a:solidFill>
                <a:effectLst/>
                <a:latin typeface="Arial" panose="020B0604020202020204" pitchFamily="34" charset="0"/>
              </a:rPr>
              <a:t>freezing.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https://www.educationperfect.com/media/content/Science/1494449493.284391g/1494449511432-3210657207860793-optimised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4650" y="5172075"/>
            <a:ext cx="1409700" cy="20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1509324874.3041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751509" y="4325466"/>
            <a:ext cx="2336800" cy="1893241"/>
          </a:xfrm>
          <a:prstGeom prst="rect">
            <a:avLst/>
          </a:prstGeom>
        </p:spPr>
      </p:pic>
      <p:pic>
        <p:nvPicPr>
          <p:cNvPr id="5" name="1509317683.52371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230691" y="4298948"/>
            <a:ext cx="2402259" cy="194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56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0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302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6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4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9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20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video>
              <p:cMediaNode vol="80000">
                <p:cTn id="21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48</Words>
  <Application>Microsoft Office PowerPoint</Application>
  <PresentationFormat>Widescreen</PresentationFormat>
  <Paragraphs>64</Paragraphs>
  <Slides>13</Slides>
  <Notes>0</Notes>
  <HiddenSlides>0</HiddenSlides>
  <MMClips>11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KaTeX_Main</vt:lpstr>
      <vt:lpstr>Office Theme</vt:lpstr>
      <vt:lpstr>Phase Changes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Changes</dc:title>
  <dc:creator>Joseph D'cruz</dc:creator>
  <cp:lastModifiedBy>Joseph D'cruz</cp:lastModifiedBy>
  <cp:revision>2</cp:revision>
  <dcterms:created xsi:type="dcterms:W3CDTF">2020-07-14T04:55:12Z</dcterms:created>
  <dcterms:modified xsi:type="dcterms:W3CDTF">2020-07-14T06:36:17Z</dcterms:modified>
</cp:coreProperties>
</file>
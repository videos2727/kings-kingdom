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255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38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66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17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87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036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380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06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76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691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29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FAE17-8B33-4C31-9C9C-86E64FA5519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56B01-0B81-4229-B9B1-66FF06B05B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69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e1XZ8D_fC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H47xAXEEe0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Heat Pumps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781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498039"/>
            <a:ext cx="11023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relationship between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 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pumps.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changes in state, temperature and pressure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refrigerants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experience during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pump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cycles.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2104910.498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27500" y="3873500"/>
            <a:ext cx="37084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8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4200" y="819835"/>
            <a:ext cx="10706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going into the workings of a </a:t>
            </a:r>
            <a:r>
              <a:rPr lang="en-AU" sz="2400" b="1" i="0" dirty="0" err="1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heatpump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learn two key principles.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79318"/>
              </p:ext>
            </p:extLst>
          </p:nvPr>
        </p:nvGraphicFramePr>
        <p:xfrm>
          <a:off x="3467100" y="2075974"/>
          <a:ext cx="10515600" cy="960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96834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>
                          <a:effectLst/>
                          <a:latin typeface="KaTeX_Main"/>
                        </a:rPr>
                        <a:t>.</a:t>
                      </a:r>
                      <a:r>
                        <a:rPr lang="en-AU" sz="2400">
                          <a:effectLst/>
                        </a:rPr>
                        <a:t> How </a:t>
                      </a:r>
                      <a:r>
                        <a:rPr lang="en-AU" sz="2400" b="1">
                          <a:solidFill>
                            <a:srgbClr val="F56064"/>
                          </a:solidFill>
                          <a:effectLst/>
                        </a:rPr>
                        <a:t>heat moves.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160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.</a:t>
                      </a:r>
                      <a:r>
                        <a:rPr lang="en-AU" sz="2400" dirty="0">
                          <a:effectLst/>
                        </a:rPr>
                        <a:t> How </a:t>
                      </a:r>
                      <a:r>
                        <a:rPr lang="en-AU" sz="2400" b="1" dirty="0">
                          <a:solidFill>
                            <a:srgbClr val="50ABD6"/>
                          </a:solidFill>
                          <a:effectLst/>
                        </a:rPr>
                        <a:t>pressure</a:t>
                      </a:r>
                      <a:r>
                        <a:rPr lang="en-AU" sz="2400" dirty="0">
                          <a:effectLst/>
                        </a:rPr>
                        <a:t> affects the </a:t>
                      </a:r>
                      <a:r>
                        <a:rPr lang="en-AU" sz="2400" b="1" dirty="0">
                          <a:solidFill>
                            <a:srgbClr val="50ABD6"/>
                          </a:solidFill>
                          <a:effectLst/>
                        </a:rPr>
                        <a:t>temperature</a:t>
                      </a:r>
                      <a:r>
                        <a:rPr lang="en-AU" sz="2400" dirty="0">
                          <a:effectLst/>
                        </a:rPr>
                        <a:t> of a </a:t>
                      </a:r>
                      <a:r>
                        <a:rPr lang="en-AU" sz="2400" b="1" dirty="0">
                          <a:solidFill>
                            <a:srgbClr val="50ABD6"/>
                          </a:solidFill>
                          <a:effectLst/>
                        </a:rPr>
                        <a:t>fluid.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2881"/>
                  </a:ext>
                </a:extLst>
              </a:tr>
            </a:tbl>
          </a:graphicData>
        </a:graphic>
      </p:graphicFrame>
      <p:pic>
        <p:nvPicPr>
          <p:cNvPr id="1027" name="Picture 3" descr="https://www.educationperfect.com/media/content/German/1467708490.991541g/1467708511369-122409025833714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267" y="3556000"/>
            <a:ext cx="3031407" cy="301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2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1023035"/>
            <a:ext cx="9994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always moves from a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hot substance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 </a:t>
            </a:r>
            <a:r>
              <a:rPr lang="en-AU" sz="2400" b="1" i="0" dirty="0" smtClean="0">
                <a:solidFill>
                  <a:srgbClr val="50ABD6"/>
                </a:solidFill>
                <a:effectLst/>
                <a:latin typeface="Arial" panose="020B0604020202020204" pitchFamily="34" charset="0"/>
              </a:rPr>
              <a:t>cold substance.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75" y="1484700"/>
            <a:ext cx="6254750" cy="513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3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24" y="269874"/>
            <a:ext cx="9934575" cy="3025895"/>
          </a:xfrm>
          <a:prstGeom prst="rect">
            <a:avLst/>
          </a:prstGeom>
        </p:spPr>
      </p:pic>
      <p:pic>
        <p:nvPicPr>
          <p:cNvPr id="3" name="1524110692.019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30610" y="3501340"/>
            <a:ext cx="4419601" cy="33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34938"/>
            <a:ext cx="11087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 in gases, changing the pressure of a liquid changes its temperature.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Increasing the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gas or liquid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increases the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substance.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Decreasing the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gas or liquid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decreases the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substance.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441.5376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3862" y="3772368"/>
            <a:ext cx="6454775" cy="285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486539"/>
            <a:ext cx="10934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 </a:t>
            </a:r>
            <a:r>
              <a:rPr lang="en-AU" sz="2400" b="1" i="0" dirty="0" smtClean="0">
                <a:solidFill>
                  <a:srgbClr val="FAB0B2"/>
                </a:solidFill>
                <a:effectLst/>
                <a:latin typeface="Arial" panose="020B0604020202020204" pitchFamily="34" charset="0"/>
              </a:rPr>
              <a:t>change the pressure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gas or liquid by changing how </a:t>
            </a:r>
            <a:r>
              <a:rPr lang="en-AU" sz="2400" b="1" i="0" dirty="0" smtClean="0">
                <a:solidFill>
                  <a:srgbClr val="FAB0B2"/>
                </a:solidFill>
                <a:effectLst/>
                <a:latin typeface="Arial" panose="020B0604020202020204" pitchFamily="34" charset="0"/>
              </a:rPr>
              <a:t>close together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particles are.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Compressing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substance so that its particles are closer together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increases the pressure.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compressed fluid or 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becomes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because,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as pressure rises, temperature rises.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4169857.671981g/1524169856152-323369374276905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3487737"/>
            <a:ext cx="7610475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08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612339"/>
            <a:ext cx="10858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observe how </a:t>
            </a:r>
            <a:r>
              <a:rPr lang="en-AU" sz="2400" b="1" i="0" dirty="0" smtClean="0">
                <a:solidFill>
                  <a:srgbClr val="F56064"/>
                </a:solidFill>
                <a:effectLst/>
                <a:latin typeface="Arial" panose="020B0604020202020204" pitchFamily="34" charset="0"/>
              </a:rPr>
              <a:t>compressing gas particles increases temperature and pressure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home.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pump up bike tyres,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compressing air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tyre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 tyre pressure.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causes the tyre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inflate.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Try pumping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much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your bike tyre as you can, and then touch it. It should feel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4171818.65171g/1524171817174-4154963899447192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064" y="3962400"/>
            <a:ext cx="413657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14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536139"/>
            <a:ext cx="11734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 </a:t>
            </a:r>
            <a:r>
              <a:rPr lang="en-AU" sz="2400" b="1" i="0" dirty="0" smtClean="0">
                <a:solidFill>
                  <a:srgbClr val="29C6DF"/>
                </a:solidFill>
                <a:effectLst/>
                <a:latin typeface="Arial" panose="020B0604020202020204" pitchFamily="34" charset="0"/>
              </a:rPr>
              <a:t>change the pressure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gas or liquid by changing how </a:t>
            </a:r>
            <a:r>
              <a:rPr lang="en-AU" sz="2400" b="1" i="0" dirty="0" smtClean="0">
                <a:solidFill>
                  <a:srgbClr val="29C6DF"/>
                </a:solidFill>
                <a:effectLst/>
                <a:latin typeface="Arial" panose="020B0604020202020204" pitchFamily="34" charset="0"/>
              </a:rPr>
              <a:t>close together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particles are.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Expanding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substance so that its particles are farther apart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decreases the pressure.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fluid or gas that has been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expanded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becomes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because,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as pressure drops, temperature drops.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4169882.468951g/1524169881010-3233693742769050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583127"/>
            <a:ext cx="76104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407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1XZ8D_fC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2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29739"/>
            <a:ext cx="1151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Summary: The relationship between </a:t>
            </a:r>
            <a:r>
              <a:rPr lang="en-AU" sz="2400" b="1" i="0" dirty="0" smtClean="0">
                <a:solidFill>
                  <a:srgbClr val="29C6DF"/>
                </a:solidFill>
                <a:effectLst/>
                <a:latin typeface="Arial" panose="020B0604020202020204" pitchFamily="34" charset="0"/>
              </a:rPr>
              <a:t>pressure and temperature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fluids and gases.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fluid or gas changes its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Increasing the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fluid or gas makes it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hotter.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Decreasing the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fluid or gas makes it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colder.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441.53769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20875" y="2860675"/>
            <a:ext cx="81343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8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5439"/>
            <a:ext cx="11277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exchange and pressure changes are used in </a:t>
            </a:r>
            <a:r>
              <a:rPr lang="en-AU" sz="2400" b="1" i="0" dirty="0" smtClean="0">
                <a:solidFill>
                  <a:srgbClr val="008790"/>
                </a:solidFill>
                <a:effectLst/>
                <a:latin typeface="Arial" panose="020B0604020202020204" pitchFamily="34" charset="0"/>
              </a:rPr>
              <a:t>heat pumps and refrigerators!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Fluid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exposing it to something hot so that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absorbs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Fluid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decreased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exposing it to something cold so that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releases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decreasing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4188333.524221g/1524188331595-345648995877075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805" y="4241800"/>
            <a:ext cx="3725895" cy="274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41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298440"/>
            <a:ext cx="11430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Heat pumps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(also known as heaters) are a clever invention that transfer heat from the outside air into your home, keeping you warm.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pumps work by moving a chemical called a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refrigerant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in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During this cycle, the refrigerant experiences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temperature, pressure and state.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learn what happens during the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heat pump cycle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how this allows a heat pump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outside to inside.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4439254.586921g/1524439252054-440335806066936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594" y="4152900"/>
            <a:ext cx="4425211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40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560338"/>
            <a:ext cx="11811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 begins the heat pump cycle as a very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cold liquid.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 runs through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piping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exposed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outside air.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 is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colder than the outside air,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absorbs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outside.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warms 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refrigerant, causing it to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evaporate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71214573.623021g/1471214574354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3465194"/>
            <a:ext cx="5273675" cy="316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86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94038"/>
            <a:ext cx="11391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 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warmer, but not yet hot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enough to heat your house.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heat the gas further, it is moved through a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compressor.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increases the pressure and temperature of the gas.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 refrigerant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very hot, high pressured gas!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71214618.212231g/1471214619416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5" y="3124200"/>
            <a:ext cx="56515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60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635338"/>
            <a:ext cx="11950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being compressed, the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hot gas is run through pipes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exposed to the air inside your house.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gas is hotter than the air in your house, so it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releases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room.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warms your home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cools the gas down.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 result, the refrigerant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condenses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into a liquid.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71214643.796551g/1471214644867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899" y="3533775"/>
            <a:ext cx="5540375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466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47239"/>
            <a:ext cx="1145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 the liquid refrigerant is run through an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expanding device.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Running the liquid through an expanding valve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decreases its pressure,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producing a very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cold, low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liquid refrigerant.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 refrigerant is ready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start the cycle over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again, as it is now cold enough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absorb heat from the outside air.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71214669.496581g/1471214670875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199" y="3322954"/>
            <a:ext cx="5172075" cy="310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33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73174" y="0"/>
            <a:ext cx="10363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review what happens to the refrigerant in a heat pump cycle.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729398"/>
              </p:ext>
            </p:extLst>
          </p:nvPr>
        </p:nvGraphicFramePr>
        <p:xfrm>
          <a:off x="1146174" y="461665"/>
          <a:ext cx="9915525" cy="3749040"/>
        </p:xfrm>
        <a:graphic>
          <a:graphicData uri="http://schemas.openxmlformats.org/drawingml/2006/table">
            <a:tbl>
              <a:tblPr/>
              <a:tblGrid>
                <a:gridCol w="762733">
                  <a:extLst>
                    <a:ext uri="{9D8B030D-6E8A-4147-A177-3AD203B41FA5}">
                      <a16:colId xmlns:a16="http://schemas.microsoft.com/office/drawing/2014/main" val="1927561536"/>
                    </a:ext>
                  </a:extLst>
                </a:gridCol>
                <a:gridCol w="9152792">
                  <a:extLst>
                    <a:ext uri="{9D8B030D-6E8A-4147-A177-3AD203B41FA5}">
                      <a16:colId xmlns:a16="http://schemas.microsoft.com/office/drawing/2014/main" val="229869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1.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It starts as a </a:t>
                      </a:r>
                      <a:r>
                        <a:rPr lang="en-AU" sz="2400" b="1" dirty="0">
                          <a:solidFill>
                            <a:srgbClr val="0050C8"/>
                          </a:solidFill>
                          <a:effectLst/>
                        </a:rPr>
                        <a:t>cold liquid,</a:t>
                      </a:r>
                      <a:r>
                        <a:rPr lang="en-AU" sz="2400" dirty="0">
                          <a:effectLst/>
                        </a:rPr>
                        <a:t> which </a:t>
                      </a:r>
                      <a:r>
                        <a:rPr lang="en-AU" sz="2400" b="1" dirty="0">
                          <a:solidFill>
                            <a:srgbClr val="F65942"/>
                          </a:solidFill>
                          <a:effectLst/>
                        </a:rPr>
                        <a:t>absorbs heat</a:t>
                      </a:r>
                      <a:r>
                        <a:rPr lang="en-AU" sz="2400" dirty="0">
                          <a:effectLst/>
                        </a:rPr>
                        <a:t> from the outside air and </a:t>
                      </a:r>
                      <a:r>
                        <a:rPr lang="en-AU" sz="2400" b="1" dirty="0">
                          <a:solidFill>
                            <a:srgbClr val="F65942"/>
                          </a:solidFill>
                          <a:effectLst/>
                        </a:rPr>
                        <a:t>evaporates</a:t>
                      </a:r>
                      <a:r>
                        <a:rPr lang="en-AU" sz="2400" dirty="0">
                          <a:effectLst/>
                        </a:rPr>
                        <a:t> into a </a:t>
                      </a:r>
                      <a:r>
                        <a:rPr lang="en-AU" sz="2400" b="1" dirty="0">
                          <a:effectLst/>
                        </a:rPr>
                        <a:t>gas.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84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2.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 gas runs through a </a:t>
                      </a:r>
                      <a:r>
                        <a:rPr lang="en-AU" sz="2400" b="1" dirty="0">
                          <a:solidFill>
                            <a:srgbClr val="F65942"/>
                          </a:solidFill>
                          <a:effectLst/>
                        </a:rPr>
                        <a:t>compressor,</a:t>
                      </a:r>
                      <a:r>
                        <a:rPr lang="en-AU" sz="2400" dirty="0">
                          <a:effectLst/>
                        </a:rPr>
                        <a:t> which </a:t>
                      </a:r>
                      <a:r>
                        <a:rPr lang="en-AU" sz="2400" b="1" dirty="0">
                          <a:solidFill>
                            <a:srgbClr val="F65942"/>
                          </a:solidFill>
                          <a:effectLst/>
                        </a:rPr>
                        <a:t>increases its pressure and temperature, </a:t>
                      </a:r>
                      <a:r>
                        <a:rPr lang="en-AU" sz="2400" dirty="0">
                          <a:effectLst/>
                        </a:rPr>
                        <a:t>producing a </a:t>
                      </a:r>
                      <a:r>
                        <a:rPr lang="en-AU" sz="2400" b="1" dirty="0">
                          <a:effectLst/>
                        </a:rPr>
                        <a:t>hot,</a:t>
                      </a:r>
                      <a:r>
                        <a:rPr lang="en-AU" sz="2400" dirty="0">
                          <a:effectLst/>
                        </a:rPr>
                        <a:t> high pressure gas.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7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3.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The hot gas </a:t>
                      </a:r>
                      <a:r>
                        <a:rPr lang="en-AU" sz="2400" b="1">
                          <a:solidFill>
                            <a:srgbClr val="0050C8"/>
                          </a:solidFill>
                          <a:effectLst/>
                        </a:rPr>
                        <a:t>releases the heat</a:t>
                      </a:r>
                      <a:r>
                        <a:rPr lang="en-AU" sz="2400">
                          <a:effectLst/>
                        </a:rPr>
                        <a:t> it absorbed into the house and </a:t>
                      </a:r>
                      <a:r>
                        <a:rPr lang="en-AU" sz="2400" b="1">
                          <a:solidFill>
                            <a:srgbClr val="0050C8"/>
                          </a:solidFill>
                          <a:effectLst/>
                        </a:rPr>
                        <a:t>condenses</a:t>
                      </a:r>
                      <a:r>
                        <a:rPr lang="en-AU" sz="2400">
                          <a:effectLst/>
                        </a:rPr>
                        <a:t> into a </a:t>
                      </a:r>
                      <a:r>
                        <a:rPr lang="en-AU" sz="2400" b="1">
                          <a:effectLst/>
                        </a:rPr>
                        <a:t>liquid.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40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4.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 liquid is then run through an </a:t>
                      </a:r>
                      <a:r>
                        <a:rPr lang="en-AU" sz="2400" b="1" dirty="0">
                          <a:solidFill>
                            <a:srgbClr val="0050C8"/>
                          </a:solidFill>
                          <a:effectLst/>
                        </a:rPr>
                        <a:t>expanding device</a:t>
                      </a:r>
                      <a:r>
                        <a:rPr lang="en-AU" sz="2400" dirty="0">
                          <a:effectLst/>
                        </a:rPr>
                        <a:t> to </a:t>
                      </a:r>
                      <a:r>
                        <a:rPr lang="en-AU" sz="2400" b="1" dirty="0">
                          <a:solidFill>
                            <a:srgbClr val="0050C8"/>
                          </a:solidFill>
                          <a:effectLst/>
                        </a:rPr>
                        <a:t>reduce its pressure and temperature, </a:t>
                      </a:r>
                      <a:r>
                        <a:rPr lang="en-AU" sz="2400" dirty="0">
                          <a:effectLst/>
                        </a:rPr>
                        <a:t>making it </a:t>
                      </a:r>
                      <a:r>
                        <a:rPr lang="en-AU" sz="2400" b="1" dirty="0">
                          <a:effectLst/>
                        </a:rPr>
                        <a:t>cold</a:t>
                      </a:r>
                      <a:r>
                        <a:rPr lang="en-AU" sz="2400" dirty="0">
                          <a:effectLst/>
                        </a:rPr>
                        <a:t> enough to absorb heat from the outside air.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332058"/>
                  </a:ext>
                </a:extLst>
              </a:tr>
            </a:tbl>
          </a:graphicData>
        </a:graphic>
      </p:graphicFrame>
      <p:pic>
        <p:nvPicPr>
          <p:cNvPr id="6" name="1509317453.0856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98900" y="4210704"/>
            <a:ext cx="5219700" cy="25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6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60740"/>
            <a:ext cx="11430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Changing the pressure of the refrigerant allows its temperature to be manipulated.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Expanding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 before it goes outside ensures it is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colder than the outside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will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absorb 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Compressing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 before it comes inside ensures that it 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hotter than the inside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will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emit 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other words, controlling the refrigerant's pressure ensures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is being moved in the right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70870100.562811g/1470870101698-337909347402894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1" y="4146392"/>
            <a:ext cx="6750050" cy="271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260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H47xAXEEe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83339"/>
            <a:ext cx="11442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pump summary: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heat pump pushes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refrigerant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a cycle where it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absorbs heat from outside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emits heat inside.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keeps you and your house warm!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refrigerant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absorbs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evaporates.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releases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 </a:t>
            </a:r>
            <a:r>
              <a:rPr lang="en-AU" sz="2400" b="1" i="0" dirty="0" smtClean="0">
                <a:solidFill>
                  <a:srgbClr val="0050C8"/>
                </a:solidFill>
                <a:effectLst/>
                <a:latin typeface="Arial" panose="020B0604020202020204" pitchFamily="34" charset="0"/>
              </a:rPr>
              <a:t>condenses.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the heat pump cycles, the refrigerant's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pressure is controlled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ensure it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 heat in the correct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70869233.174581g/1470869234449-337909347402894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2" y="3508375"/>
            <a:ext cx="7610475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9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Widescreen</PresentationFormat>
  <Paragraphs>83</Paragraphs>
  <Slides>21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KaTeX_Main</vt:lpstr>
      <vt:lpstr>Office Theme</vt:lpstr>
      <vt:lpstr>Heat Pumps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Pumps</dc:title>
  <dc:creator>Joseph D'cruz</dc:creator>
  <cp:lastModifiedBy>Joseph D'cruz</cp:lastModifiedBy>
  <cp:revision>2</cp:revision>
  <dcterms:created xsi:type="dcterms:W3CDTF">2020-07-14T07:20:32Z</dcterms:created>
  <dcterms:modified xsi:type="dcterms:W3CDTF">2020-07-14T07:21:52Z</dcterms:modified>
</cp:coreProperties>
</file>
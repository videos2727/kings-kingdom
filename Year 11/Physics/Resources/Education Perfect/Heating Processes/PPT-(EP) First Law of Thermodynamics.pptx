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7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29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00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48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91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87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567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1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76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57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17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B1C48-8D65-4C22-91BF-71C1687E4C7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2E5BE-4A8A-46CF-A09A-213D2A1923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229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4i1MUWJoI0U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First Law of Thermodynamics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005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1167537"/>
            <a:ext cx="10756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 first law of thermodynamics.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Recognise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basic types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processes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thermodynamic properties of a system can change according to the first law.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4009128.170781g/1524009128521-378316873756671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164012"/>
            <a:ext cx="5295900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43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148441"/>
            <a:ext cx="109347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first law of thermodynamics.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The law of conservation of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states that in a closed system,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can neither be created nor destroyed, but only transformed into different forms or transferred.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first law of thermodynamics </a:t>
            </a:r>
            <a:r>
              <a:rPr lang="en-AU" sz="2400" b="0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states that the change in internal energy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(ΔU)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system equals the heat transferred between the system and its surroundings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(Q)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plus the work done by or on the system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(W)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ΔU=Q+W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7709626.041741g/1447709635707-1511109538515014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2" y="4303425"/>
            <a:ext cx="35718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6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i1MUWJoI0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45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869940"/>
            <a:ext cx="7086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recall that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internal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 the total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 potential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of all the molecules in a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internal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changed by adding or removing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can also be changed by the system doing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surroundings, or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being done on the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really important to be aware of whether the energy is being increased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(+)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decreased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(−)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6031960.85231g/1536031958519-166809464591407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02250"/>
            <a:ext cx="3810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20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242838"/>
            <a:ext cx="1158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Thermodynamic processes.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basic types of processes where thermodynamic properties of a system, usually an ideal gas, can change according to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first law of thermodynamics.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systems are called: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785539"/>
              </p:ext>
            </p:extLst>
          </p:nvPr>
        </p:nvGraphicFramePr>
        <p:xfrm>
          <a:off x="4953000" y="2551162"/>
          <a:ext cx="3022600" cy="1920240"/>
        </p:xfrm>
        <a:graphic>
          <a:graphicData uri="http://schemas.openxmlformats.org/drawingml/2006/table">
            <a:tbl>
              <a:tblPr/>
              <a:tblGrid>
                <a:gridCol w="3022600">
                  <a:extLst>
                    <a:ext uri="{9D8B030D-6E8A-4147-A177-3AD203B41FA5}">
                      <a16:colId xmlns:a16="http://schemas.microsoft.com/office/drawing/2014/main" val="2049067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1</a:t>
                      </a:r>
                      <a:r>
                        <a:rPr lang="en-AU" sz="2400">
                          <a:effectLst/>
                        </a:rPr>
                        <a:t>. </a:t>
                      </a:r>
                      <a:r>
                        <a:rPr lang="en-AU" sz="2400" b="1">
                          <a:solidFill>
                            <a:srgbClr val="571A98"/>
                          </a:solidFill>
                          <a:effectLst/>
                        </a:rPr>
                        <a:t>Isovolumetric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989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400">
                          <a:effectLst/>
                        </a:rPr>
                        <a:t>. </a:t>
                      </a:r>
                      <a:r>
                        <a:rPr lang="en-AU" sz="2400" b="1">
                          <a:solidFill>
                            <a:srgbClr val="64B131"/>
                          </a:solidFill>
                          <a:effectLst/>
                        </a:rPr>
                        <a:t>Isobaric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613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  <a:latin typeface="KaTeX_Main"/>
                        </a:rPr>
                        <a:t>3</a:t>
                      </a:r>
                      <a:r>
                        <a:rPr lang="en-AU" sz="2400" dirty="0">
                          <a:effectLst/>
                        </a:rPr>
                        <a:t>. </a:t>
                      </a:r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Isothermal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36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  <a:latin typeface="KaTeX_Main"/>
                        </a:rPr>
                        <a:t>4</a:t>
                      </a:r>
                      <a:r>
                        <a:rPr lang="en-AU" sz="2400" dirty="0">
                          <a:effectLst/>
                        </a:rPr>
                        <a:t>. </a:t>
                      </a:r>
                      <a:r>
                        <a:rPr lang="en-AU" sz="2400" b="1" dirty="0">
                          <a:solidFill>
                            <a:srgbClr val="0066CC"/>
                          </a:solidFill>
                          <a:effectLst/>
                        </a:rPr>
                        <a:t>Adiabatic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72948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14400" y="4859486"/>
            <a:ext cx="11023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each system, one property (volume, pressure, temperature or heat) is held constant, whilst the others change.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89768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403642"/>
            <a:ext cx="11595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err="1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Isovolumetric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systems.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err="1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Isovolumetric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 (=isochoric)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refers to a system with a constant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volume,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usually a rigid container.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volume is constant, there is no work done on or by the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ΔU=Q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(as W=0)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add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an </a:t>
            </a:r>
            <a:r>
              <a:rPr lang="en-AU" sz="2400" b="1" i="0" dirty="0" err="1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isovolumetric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 system,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increase in internal energy leads to an increase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Think about what would happen to a can of baked beans accidentally left too close to a camp fire!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775" y="5211762"/>
            <a:ext cx="67627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9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496838"/>
            <a:ext cx="11214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Isobaric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systems.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isobaric system,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 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held constant.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means, if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added to the system, there is an increase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volume.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change in volume can be used to do work, such as by moving a piston.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628.5239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60750" y="3276600"/>
            <a:ext cx="45339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141"/>
            <a:ext cx="69596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Isothermal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systems.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isothermal system,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temperature is constant.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ΔU=0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using the first law means: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Q+W=0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usually occurs when the system is in contact with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 external reservoir.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change in the system will occur slowly enough to allow the system to continue to adjust to the temperature of the reservoir through </a:t>
            </a:r>
            <a:r>
              <a:rPr lang="en-AU" sz="2400" b="1" i="0" dirty="0" smtClean="0">
                <a:solidFill>
                  <a:srgbClr val="0B0080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exchange, allowing a constant temperature.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732.4067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43750" y="1574800"/>
            <a:ext cx="45339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3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402441"/>
            <a:ext cx="75311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Adiabatic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systems.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adiabatic system,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allowed to enter or leave.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Q=0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ΔU=W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compression of gas within the cylinder of a car engine is so rapid, it is sometimes considered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adiabatic approximation,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there is no time for heat to transfer out. This is useful in calculating the work done by the engine.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0588929.35191g/1530588929175-232842932570193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820862"/>
            <a:ext cx="3800475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165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Widescreen</PresentationFormat>
  <Paragraphs>61</Paragraphs>
  <Slides>10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KaTeX_Main</vt:lpstr>
      <vt:lpstr>Office Theme</vt:lpstr>
      <vt:lpstr>First Law of Thermodynamics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Law of Thermodynamics</dc:title>
  <dc:creator>Joseph D'cruz</dc:creator>
  <cp:lastModifiedBy>Joseph D'cruz</cp:lastModifiedBy>
  <cp:revision>1</cp:revision>
  <dcterms:created xsi:type="dcterms:W3CDTF">2020-07-14T07:02:40Z</dcterms:created>
  <dcterms:modified xsi:type="dcterms:W3CDTF">2020-07-14T07:02:55Z</dcterms:modified>
</cp:coreProperties>
</file>
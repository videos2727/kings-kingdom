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95235212-F5E6-47AD-B6B9-2C10AF615AF3}"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02213EE-5212-4C88-87BB-A3D9DC525567}" type="slidenum">
              <a:rPr lang="en-AU" smtClean="0"/>
              <a:t>‹#›</a:t>
            </a:fld>
            <a:endParaRPr lang="en-AU"/>
          </a:p>
        </p:txBody>
      </p:sp>
    </p:spTree>
    <p:extLst>
      <p:ext uri="{BB962C8B-B14F-4D97-AF65-F5344CB8AC3E}">
        <p14:creationId xmlns:p14="http://schemas.microsoft.com/office/powerpoint/2010/main" val="15369798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5235212-F5E6-47AD-B6B9-2C10AF615AF3}"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02213EE-5212-4C88-87BB-A3D9DC525567}" type="slidenum">
              <a:rPr lang="en-AU" smtClean="0"/>
              <a:t>‹#›</a:t>
            </a:fld>
            <a:endParaRPr lang="en-AU"/>
          </a:p>
        </p:txBody>
      </p:sp>
    </p:spTree>
    <p:extLst>
      <p:ext uri="{BB962C8B-B14F-4D97-AF65-F5344CB8AC3E}">
        <p14:creationId xmlns:p14="http://schemas.microsoft.com/office/powerpoint/2010/main" val="3796394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5235212-F5E6-47AD-B6B9-2C10AF615AF3}"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02213EE-5212-4C88-87BB-A3D9DC525567}" type="slidenum">
              <a:rPr lang="en-AU" smtClean="0"/>
              <a:t>‹#›</a:t>
            </a:fld>
            <a:endParaRPr lang="en-AU"/>
          </a:p>
        </p:txBody>
      </p:sp>
    </p:spTree>
    <p:extLst>
      <p:ext uri="{BB962C8B-B14F-4D97-AF65-F5344CB8AC3E}">
        <p14:creationId xmlns:p14="http://schemas.microsoft.com/office/powerpoint/2010/main" val="3171889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95235212-F5E6-47AD-B6B9-2C10AF615AF3}" type="datetimeFigureOut">
              <a:rPr lang="en-AU" smtClean="0"/>
              <a:t>14/07/2020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02213EE-5212-4C88-87BB-A3D9DC525567}" type="slidenum">
              <a:rPr lang="en-AU" smtClean="0"/>
              <a:t>‹#›</a:t>
            </a:fld>
            <a:endParaRPr lang="en-AU"/>
          </a:p>
        </p:txBody>
      </p:sp>
    </p:spTree>
    <p:extLst>
      <p:ext uri="{BB962C8B-B14F-4D97-AF65-F5344CB8AC3E}">
        <p14:creationId xmlns:p14="http://schemas.microsoft.com/office/powerpoint/2010/main" val="1842034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95235212-F5E6-47AD-B6B9-2C10AF615AF3}" type="datetimeFigureOut">
              <a:rPr lang="en-AU" smtClean="0"/>
              <a:t>14/07/2020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202213EE-5212-4C88-87BB-A3D9DC525567}" type="slidenum">
              <a:rPr lang="en-AU" smtClean="0"/>
              <a:t>‹#›</a:t>
            </a:fld>
            <a:endParaRPr lang="en-AU"/>
          </a:p>
        </p:txBody>
      </p:sp>
    </p:spTree>
    <p:extLst>
      <p:ext uri="{BB962C8B-B14F-4D97-AF65-F5344CB8AC3E}">
        <p14:creationId xmlns:p14="http://schemas.microsoft.com/office/powerpoint/2010/main" val="2970154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95235212-F5E6-47AD-B6B9-2C10AF615AF3}" type="datetimeFigureOut">
              <a:rPr lang="en-AU" smtClean="0"/>
              <a:t>14/07/2020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202213EE-5212-4C88-87BB-A3D9DC525567}" type="slidenum">
              <a:rPr lang="en-AU" smtClean="0"/>
              <a:t>‹#›</a:t>
            </a:fld>
            <a:endParaRPr lang="en-AU"/>
          </a:p>
        </p:txBody>
      </p:sp>
    </p:spTree>
    <p:extLst>
      <p:ext uri="{BB962C8B-B14F-4D97-AF65-F5344CB8AC3E}">
        <p14:creationId xmlns:p14="http://schemas.microsoft.com/office/powerpoint/2010/main" val="2927086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235212-F5E6-47AD-B6B9-2C10AF615AF3}" type="datetimeFigureOut">
              <a:rPr lang="en-AU" smtClean="0"/>
              <a:t>14/07/2020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202213EE-5212-4C88-87BB-A3D9DC525567}" type="slidenum">
              <a:rPr lang="en-AU" smtClean="0"/>
              <a:t>‹#›</a:t>
            </a:fld>
            <a:endParaRPr lang="en-AU"/>
          </a:p>
        </p:txBody>
      </p:sp>
    </p:spTree>
    <p:extLst>
      <p:ext uri="{BB962C8B-B14F-4D97-AF65-F5344CB8AC3E}">
        <p14:creationId xmlns:p14="http://schemas.microsoft.com/office/powerpoint/2010/main" val="12570461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235212-F5E6-47AD-B6B9-2C10AF615AF3}" type="datetimeFigureOut">
              <a:rPr lang="en-AU" smtClean="0"/>
              <a:t>14/07/2020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02213EE-5212-4C88-87BB-A3D9DC525567}" type="slidenum">
              <a:rPr lang="en-AU" smtClean="0"/>
              <a:t>‹#›</a:t>
            </a:fld>
            <a:endParaRPr lang="en-AU"/>
          </a:p>
        </p:txBody>
      </p:sp>
    </p:spTree>
    <p:extLst>
      <p:ext uri="{BB962C8B-B14F-4D97-AF65-F5344CB8AC3E}">
        <p14:creationId xmlns:p14="http://schemas.microsoft.com/office/powerpoint/2010/main" val="3880098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5235212-F5E6-47AD-B6B9-2C10AF615AF3}" type="datetimeFigureOut">
              <a:rPr lang="en-AU" smtClean="0"/>
              <a:t>14/07/2020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202213EE-5212-4C88-87BB-A3D9DC525567}" type="slidenum">
              <a:rPr lang="en-AU" smtClean="0"/>
              <a:t>‹#›</a:t>
            </a:fld>
            <a:endParaRPr lang="en-AU"/>
          </a:p>
        </p:txBody>
      </p:sp>
    </p:spTree>
    <p:extLst>
      <p:ext uri="{BB962C8B-B14F-4D97-AF65-F5344CB8AC3E}">
        <p14:creationId xmlns:p14="http://schemas.microsoft.com/office/powerpoint/2010/main" val="3413124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5235212-F5E6-47AD-B6B9-2C10AF615AF3}"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02213EE-5212-4C88-87BB-A3D9DC525567}" type="slidenum">
              <a:rPr lang="en-AU" smtClean="0"/>
              <a:t>‹#›</a:t>
            </a:fld>
            <a:endParaRPr lang="en-AU"/>
          </a:p>
        </p:txBody>
      </p:sp>
    </p:spTree>
    <p:extLst>
      <p:ext uri="{BB962C8B-B14F-4D97-AF65-F5344CB8AC3E}">
        <p14:creationId xmlns:p14="http://schemas.microsoft.com/office/powerpoint/2010/main" val="84713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95235212-F5E6-47AD-B6B9-2C10AF615AF3}" type="datetimeFigureOut">
              <a:rPr lang="en-AU" smtClean="0"/>
              <a:t>14/07/2020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202213EE-5212-4C88-87BB-A3D9DC525567}" type="slidenum">
              <a:rPr lang="en-AU" smtClean="0"/>
              <a:t>‹#›</a:t>
            </a:fld>
            <a:endParaRPr lang="en-AU"/>
          </a:p>
        </p:txBody>
      </p:sp>
    </p:spTree>
    <p:extLst>
      <p:ext uri="{BB962C8B-B14F-4D97-AF65-F5344CB8AC3E}">
        <p14:creationId xmlns:p14="http://schemas.microsoft.com/office/powerpoint/2010/main" val="3343241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235212-F5E6-47AD-B6B9-2C10AF615AF3}" type="datetimeFigureOut">
              <a:rPr lang="en-AU" smtClean="0"/>
              <a:t>14/07/2020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2213EE-5212-4C88-87BB-A3D9DC525567}" type="slidenum">
              <a:rPr lang="en-AU" smtClean="0"/>
              <a:t>‹#›</a:t>
            </a:fld>
            <a:endParaRPr lang="en-AU"/>
          </a:p>
        </p:txBody>
      </p:sp>
    </p:spTree>
    <p:extLst>
      <p:ext uri="{BB962C8B-B14F-4D97-AF65-F5344CB8AC3E}">
        <p14:creationId xmlns:p14="http://schemas.microsoft.com/office/powerpoint/2010/main" val="110607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Specific Latent Heat</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050191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76300" y="1025436"/>
            <a:ext cx="9880600" cy="1569660"/>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In the Smart Lesson you will learn to:</a:t>
            </a:r>
          </a:p>
          <a:p>
            <a:pPr algn="ctr"/>
            <a:r>
              <a:rPr lang="en-AU" sz="2400" b="0" i="0" dirty="0" smtClean="0">
                <a:solidFill>
                  <a:srgbClr val="444444"/>
                </a:solidFill>
                <a:effectLst/>
                <a:latin typeface="Arial" panose="020B0604020202020204" pitchFamily="34" charset="0"/>
              </a:rPr>
              <a:t> </a:t>
            </a: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Define</a:t>
            </a:r>
            <a:r>
              <a:rPr lang="en-AU" sz="2400" b="0" i="0" dirty="0" smtClean="0">
                <a:solidFill>
                  <a:srgbClr val="444444"/>
                </a:solidFill>
                <a:effectLst/>
                <a:latin typeface="Arial" panose="020B0604020202020204" pitchFamily="34" charset="0"/>
              </a:rPr>
              <a:t> </a:t>
            </a:r>
            <a:r>
              <a:rPr lang="en-AU" sz="2400" b="1" i="0" dirty="0" smtClean="0">
                <a:solidFill>
                  <a:srgbClr val="F30277"/>
                </a:solidFill>
                <a:effectLst/>
                <a:latin typeface="Arial" panose="020B0604020202020204" pitchFamily="34" charset="0"/>
              </a:rPr>
              <a:t>specific latent heat.</a:t>
            </a:r>
            <a:endParaRPr lang="en-AU" sz="24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400" b="1" i="0" dirty="0" smtClean="0">
                <a:solidFill>
                  <a:srgbClr val="B81AE0"/>
                </a:solidFill>
                <a:effectLst/>
                <a:latin typeface="Arial" panose="020B0604020202020204" pitchFamily="34" charset="0"/>
              </a:rPr>
              <a:t>Solve</a:t>
            </a:r>
            <a:r>
              <a:rPr lang="en-AU" sz="2400" b="0" i="0" dirty="0" smtClean="0">
                <a:solidFill>
                  <a:srgbClr val="444444"/>
                </a:solidFill>
                <a:effectLst/>
                <a:latin typeface="Arial" panose="020B0604020202020204" pitchFamily="34" charset="0"/>
              </a:rPr>
              <a:t> problems involving </a:t>
            </a:r>
            <a:r>
              <a:rPr lang="en-AU" sz="2400" b="1" i="0" dirty="0" smtClean="0">
                <a:solidFill>
                  <a:srgbClr val="F30277"/>
                </a:solidFill>
                <a:effectLst/>
                <a:latin typeface="Arial" panose="020B0604020202020204" pitchFamily="34" charset="0"/>
              </a:rPr>
              <a:t>specific latent heat.</a:t>
            </a:r>
            <a:endParaRPr lang="en-AU" sz="2400" b="0" i="0" dirty="0">
              <a:solidFill>
                <a:srgbClr val="444444"/>
              </a:solidFill>
              <a:effectLst/>
              <a:latin typeface="Arial" panose="020B0604020202020204" pitchFamily="34" charset="0"/>
            </a:endParaRPr>
          </a:p>
        </p:txBody>
      </p:sp>
      <p:pic>
        <p:nvPicPr>
          <p:cNvPr id="1026" name="Picture 2" descr="https://www.educationperfect.com/media/content/Science/1443575245.705971g/1443575275156-393106000394424-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8675" y="2717800"/>
            <a:ext cx="6667500" cy="3981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756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6100" y="1105238"/>
            <a:ext cx="11049000" cy="2308324"/>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State changes require energy to be </a:t>
            </a:r>
            <a:r>
              <a:rPr lang="en-AU" sz="2400" b="1" i="0" dirty="0" smtClean="0">
                <a:solidFill>
                  <a:srgbClr val="F30277"/>
                </a:solidFill>
                <a:effectLst/>
                <a:latin typeface="Arial" panose="020B0604020202020204" pitchFamily="34" charset="0"/>
              </a:rPr>
              <a:t>added</a:t>
            </a:r>
            <a:r>
              <a:rPr lang="en-AU" sz="2400" b="1" i="0" dirty="0" smtClean="0">
                <a:solidFill>
                  <a:srgbClr val="444444"/>
                </a:solidFill>
                <a:effectLst/>
                <a:latin typeface="Arial" panose="020B0604020202020204" pitchFamily="34" charset="0"/>
              </a:rPr>
              <a:t> to or </a:t>
            </a:r>
            <a:r>
              <a:rPr lang="en-AU" sz="2400" b="1" i="0" dirty="0" smtClean="0">
                <a:solidFill>
                  <a:srgbClr val="00B6EE"/>
                </a:solidFill>
                <a:effectLst/>
                <a:latin typeface="Arial" panose="020B0604020202020204" pitchFamily="34" charset="0"/>
              </a:rPr>
              <a:t>removed</a:t>
            </a:r>
            <a:r>
              <a:rPr lang="en-AU" sz="2400" b="1" i="0" dirty="0" smtClean="0">
                <a:solidFill>
                  <a:srgbClr val="444444"/>
                </a:solidFill>
                <a:effectLst/>
                <a:latin typeface="Arial" panose="020B0604020202020204" pitchFamily="34" charset="0"/>
              </a:rPr>
              <a:t> from a system.</a:t>
            </a: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571A98"/>
                </a:solidFill>
                <a:effectLst/>
                <a:latin typeface="Arial" panose="020B0604020202020204" pitchFamily="34" charset="0"/>
              </a:rPr>
              <a:t>Melting</a:t>
            </a:r>
            <a:r>
              <a:rPr lang="en-AU" sz="2400" b="0" i="0" dirty="0" smtClean="0">
                <a:solidFill>
                  <a:srgbClr val="444444"/>
                </a:solidFill>
                <a:effectLst/>
                <a:latin typeface="Arial" panose="020B0604020202020204" pitchFamily="34" charset="0"/>
              </a:rPr>
              <a:t> and </a:t>
            </a:r>
            <a:r>
              <a:rPr lang="en-AU" sz="2400" b="1" i="0" dirty="0" smtClean="0">
                <a:solidFill>
                  <a:srgbClr val="571A98"/>
                </a:solidFill>
                <a:effectLst/>
                <a:latin typeface="Arial" panose="020B0604020202020204" pitchFamily="34" charset="0"/>
              </a:rPr>
              <a:t>vaporisation</a:t>
            </a:r>
            <a:r>
              <a:rPr lang="en-AU" sz="2400" b="0" i="0" dirty="0" smtClean="0">
                <a:solidFill>
                  <a:srgbClr val="444444"/>
                </a:solidFill>
                <a:effectLst/>
                <a:latin typeface="Arial" panose="020B0604020202020204" pitchFamily="34" charset="0"/>
              </a:rPr>
              <a:t> both require an </a:t>
            </a:r>
            <a:r>
              <a:rPr lang="en-AU" sz="2400" b="0" i="0" u="sng" dirty="0" smtClean="0">
                <a:solidFill>
                  <a:srgbClr val="444444"/>
                </a:solidFill>
                <a:effectLst/>
                <a:latin typeface="Arial" panose="020B0604020202020204" pitchFamily="34" charset="0"/>
              </a:rPr>
              <a:t>energy input</a:t>
            </a:r>
            <a:r>
              <a:rPr lang="en-AU" sz="2400" b="0" i="0" dirty="0" smtClean="0">
                <a:solidFill>
                  <a:srgbClr val="444444"/>
                </a:solidFill>
                <a:effectLst/>
                <a:latin typeface="Arial" panose="020B0604020202020204" pitchFamily="34" charset="0"/>
              </a:rPr>
              <a:t>.</a:t>
            </a: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571A98"/>
                </a:solidFill>
                <a:effectLst/>
                <a:latin typeface="Arial" panose="020B0604020202020204" pitchFamily="34" charset="0"/>
              </a:rPr>
              <a:t>Condensation</a:t>
            </a:r>
            <a:r>
              <a:rPr lang="en-AU" sz="2400" b="0" i="0" dirty="0" smtClean="0">
                <a:solidFill>
                  <a:srgbClr val="444444"/>
                </a:solidFill>
                <a:effectLst/>
                <a:latin typeface="Arial" panose="020B0604020202020204" pitchFamily="34" charset="0"/>
              </a:rPr>
              <a:t> and </a:t>
            </a:r>
            <a:r>
              <a:rPr lang="en-AU" sz="2400" b="1" i="0" dirty="0" smtClean="0">
                <a:solidFill>
                  <a:srgbClr val="571A98"/>
                </a:solidFill>
                <a:effectLst/>
                <a:latin typeface="Arial" panose="020B0604020202020204" pitchFamily="34" charset="0"/>
              </a:rPr>
              <a:t>solidification</a:t>
            </a:r>
            <a:r>
              <a:rPr lang="en-AU" sz="2400" b="0" i="0" dirty="0" smtClean="0">
                <a:solidFill>
                  <a:srgbClr val="444444"/>
                </a:solidFill>
                <a:effectLst/>
                <a:latin typeface="Arial" panose="020B0604020202020204" pitchFamily="34" charset="0"/>
              </a:rPr>
              <a:t> both require energy to be </a:t>
            </a:r>
            <a:r>
              <a:rPr lang="en-AU" sz="2400" b="0" i="0" u="sng" dirty="0" smtClean="0">
                <a:solidFill>
                  <a:srgbClr val="444444"/>
                </a:solidFill>
                <a:effectLst/>
                <a:latin typeface="Arial" panose="020B0604020202020204" pitchFamily="34" charset="0"/>
              </a:rPr>
              <a:t>removed</a:t>
            </a:r>
            <a:r>
              <a:rPr lang="en-AU" sz="2400" b="0" i="0" dirty="0" smtClean="0">
                <a:solidFill>
                  <a:srgbClr val="444444"/>
                </a:solidFill>
                <a:effectLst/>
                <a:latin typeface="Arial" panose="020B0604020202020204" pitchFamily="34" charset="0"/>
              </a:rPr>
              <a:t> from the system.</a:t>
            </a:r>
            <a:endParaRPr lang="en-AU" sz="2400" b="0" i="0" dirty="0">
              <a:solidFill>
                <a:srgbClr val="444444"/>
              </a:solidFill>
              <a:effectLst/>
              <a:latin typeface="Arial" panose="020B0604020202020204" pitchFamily="34" charset="0"/>
            </a:endParaRPr>
          </a:p>
        </p:txBody>
      </p:sp>
      <p:pic>
        <p:nvPicPr>
          <p:cNvPr id="2050" name="Picture 2" descr="https://www.educationperfect.com/media/content/Science/1429497187.46161g/1429497188584-1535239556-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0375" y="3898900"/>
            <a:ext cx="3810000" cy="2543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837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9400" y="320239"/>
            <a:ext cx="11658600" cy="2677656"/>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Energy added during a state change is called the </a:t>
            </a:r>
            <a:r>
              <a:rPr lang="en-AU" sz="2400" b="1" i="0" dirty="0" smtClean="0">
                <a:solidFill>
                  <a:srgbClr val="F30277"/>
                </a:solidFill>
                <a:effectLst/>
                <a:latin typeface="Arial" panose="020B0604020202020204" pitchFamily="34" charset="0"/>
              </a:rPr>
              <a:t>latent heat.</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a:t>
            </a:r>
            <a:r>
              <a:rPr lang="en-AU" sz="2400" b="1" i="0" dirty="0" smtClean="0">
                <a:solidFill>
                  <a:srgbClr val="F30277"/>
                </a:solidFill>
                <a:effectLst/>
                <a:latin typeface="Arial" panose="020B0604020202020204" pitchFamily="34" charset="0"/>
              </a:rPr>
              <a:t>specific latent heat of fusion</a:t>
            </a:r>
            <a:r>
              <a:rPr lang="en-AU" sz="2400" b="0" i="0" dirty="0" smtClean="0">
                <a:solidFill>
                  <a:srgbClr val="444444"/>
                </a:solidFill>
                <a:effectLst/>
                <a:latin typeface="Arial" panose="020B0604020202020204" pitchFamily="34" charset="0"/>
              </a:rPr>
              <a:t> is the energy needed to change </a:t>
            </a:r>
            <a:r>
              <a:rPr lang="en-AU" sz="2400" b="1" i="0" dirty="0" smtClean="0">
                <a:solidFill>
                  <a:srgbClr val="444444"/>
                </a:solidFill>
                <a:effectLst/>
                <a:latin typeface="KaTeX_Main"/>
              </a:rPr>
              <a:t>1</a:t>
            </a:r>
            <a:r>
              <a:rPr lang="en-AU" sz="2400" b="0" i="0" dirty="0" smtClean="0">
                <a:solidFill>
                  <a:srgbClr val="444444"/>
                </a:solidFill>
                <a:effectLst/>
                <a:latin typeface="KaTeX_Main"/>
              </a:rPr>
              <a:t> </a:t>
            </a:r>
            <a:r>
              <a:rPr lang="en-AU" sz="2400" b="1" i="0" dirty="0" smtClean="0">
                <a:solidFill>
                  <a:srgbClr val="444444"/>
                </a:solidFill>
                <a:effectLst/>
                <a:latin typeface="KaTeX_Main"/>
              </a:rPr>
              <a:t> kg</a:t>
            </a:r>
            <a:r>
              <a:rPr lang="en-AU" sz="2400" b="0" i="0" dirty="0" smtClean="0">
                <a:solidFill>
                  <a:srgbClr val="444444"/>
                </a:solidFill>
                <a:effectLst/>
                <a:latin typeface="Arial" panose="020B0604020202020204" pitchFamily="34" charset="0"/>
              </a:rPr>
              <a:t> of a substance from </a:t>
            </a:r>
            <a:r>
              <a:rPr lang="en-AU" sz="2400" b="1" i="0" dirty="0" smtClean="0">
                <a:solidFill>
                  <a:srgbClr val="CC0000"/>
                </a:solidFill>
                <a:effectLst/>
                <a:latin typeface="Arial" panose="020B0604020202020204" pitchFamily="34" charset="0"/>
              </a:rPr>
              <a:t>solid</a:t>
            </a:r>
            <a:r>
              <a:rPr lang="en-AU" sz="2400" b="0" i="0" dirty="0" smtClean="0">
                <a:solidFill>
                  <a:srgbClr val="444444"/>
                </a:solidFill>
                <a:effectLst/>
                <a:latin typeface="Arial" panose="020B0604020202020204" pitchFamily="34" charset="0"/>
              </a:rPr>
              <a:t> to </a:t>
            </a:r>
            <a:r>
              <a:rPr lang="en-AU" sz="2400" b="1" i="0" dirty="0" smtClean="0">
                <a:solidFill>
                  <a:srgbClr val="0066CC"/>
                </a:solidFill>
                <a:effectLst/>
                <a:latin typeface="Arial" panose="020B0604020202020204" pitchFamily="34" charset="0"/>
              </a:rPr>
              <a:t>liquid.</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a:t>
            </a:r>
            <a:r>
              <a:rPr lang="en-AU" sz="2400" b="1" i="0" dirty="0" smtClean="0">
                <a:solidFill>
                  <a:srgbClr val="F30277"/>
                </a:solidFill>
                <a:effectLst/>
                <a:latin typeface="Arial" panose="020B0604020202020204" pitchFamily="34" charset="0"/>
              </a:rPr>
              <a:t>specific latent heat of vaporisation</a:t>
            </a:r>
            <a:r>
              <a:rPr lang="en-AU" sz="2400" b="0" i="0" dirty="0" smtClean="0">
                <a:solidFill>
                  <a:srgbClr val="444444"/>
                </a:solidFill>
                <a:effectLst/>
                <a:latin typeface="Arial" panose="020B0604020202020204" pitchFamily="34" charset="0"/>
              </a:rPr>
              <a:t> is the energy needed to change </a:t>
            </a:r>
            <a:r>
              <a:rPr lang="en-AU" sz="2400" b="1" i="0" dirty="0" smtClean="0">
                <a:solidFill>
                  <a:srgbClr val="444444"/>
                </a:solidFill>
                <a:effectLst/>
                <a:latin typeface="KaTeX_Main"/>
              </a:rPr>
              <a:t>1</a:t>
            </a:r>
            <a:r>
              <a:rPr lang="en-AU" sz="2400" b="0" i="0" dirty="0" smtClean="0">
                <a:solidFill>
                  <a:srgbClr val="444444"/>
                </a:solidFill>
                <a:effectLst/>
                <a:latin typeface="KaTeX_Main"/>
              </a:rPr>
              <a:t> </a:t>
            </a:r>
            <a:r>
              <a:rPr lang="en-AU" sz="2400" b="1" i="0" dirty="0" smtClean="0">
                <a:solidFill>
                  <a:srgbClr val="444444"/>
                </a:solidFill>
                <a:effectLst/>
                <a:latin typeface="KaTeX_Main"/>
              </a:rPr>
              <a:t> kg</a:t>
            </a:r>
            <a:r>
              <a:rPr lang="en-AU" sz="2400" b="0" i="0" dirty="0" smtClean="0">
                <a:solidFill>
                  <a:srgbClr val="444444"/>
                </a:solidFill>
                <a:effectLst/>
                <a:latin typeface="Arial" panose="020B0604020202020204" pitchFamily="34" charset="0"/>
              </a:rPr>
              <a:t> of a substance from </a:t>
            </a:r>
            <a:r>
              <a:rPr lang="en-AU" sz="2400" b="1" i="0" dirty="0" smtClean="0">
                <a:solidFill>
                  <a:srgbClr val="0066CC"/>
                </a:solidFill>
                <a:effectLst/>
                <a:latin typeface="Arial" panose="020B0604020202020204" pitchFamily="34" charset="0"/>
              </a:rPr>
              <a:t>liquid</a:t>
            </a:r>
            <a:r>
              <a:rPr lang="en-AU" sz="2400" b="0" i="0" dirty="0" smtClean="0">
                <a:solidFill>
                  <a:srgbClr val="444444"/>
                </a:solidFill>
                <a:effectLst/>
                <a:latin typeface="Arial" panose="020B0604020202020204" pitchFamily="34" charset="0"/>
              </a:rPr>
              <a:t> to </a:t>
            </a:r>
            <a:r>
              <a:rPr lang="en-AU" sz="2400" b="1" i="0" dirty="0" smtClean="0">
                <a:solidFill>
                  <a:srgbClr val="64B131"/>
                </a:solidFill>
                <a:effectLst/>
                <a:latin typeface="Arial" panose="020B0604020202020204" pitchFamily="34" charset="0"/>
              </a:rPr>
              <a:t>gas.</a:t>
            </a:r>
            <a:endParaRPr lang="en-AU" sz="2400" b="0" i="0" dirty="0">
              <a:solidFill>
                <a:srgbClr val="444444"/>
              </a:solidFill>
              <a:effectLst/>
              <a:latin typeface="Arial" panose="020B0604020202020204" pitchFamily="34" charset="0"/>
            </a:endParaRPr>
          </a:p>
        </p:txBody>
      </p:sp>
      <p:pic>
        <p:nvPicPr>
          <p:cNvPr id="3074" name="Picture 2" descr="https://www.educationperfect.com/media/content/Science/1523313575.200571g/1523313572066-2366497300280071-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1100" y="3476096"/>
            <a:ext cx="5137150" cy="3381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2139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100" y="343238"/>
            <a:ext cx="11455400" cy="2308324"/>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a:t>
            </a:r>
            <a:r>
              <a:rPr lang="en-AU" sz="2400" b="1" i="0" dirty="0" smtClean="0">
                <a:solidFill>
                  <a:srgbClr val="CC0000"/>
                </a:solidFill>
                <a:effectLst/>
                <a:latin typeface="Arial" panose="020B0604020202020204" pitchFamily="34" charset="0"/>
              </a:rPr>
              <a:t>temperature</a:t>
            </a:r>
            <a:r>
              <a:rPr lang="en-AU" sz="2400" b="1" i="0" dirty="0" smtClean="0">
                <a:solidFill>
                  <a:srgbClr val="444444"/>
                </a:solidFill>
                <a:effectLst/>
                <a:latin typeface="Arial" panose="020B0604020202020204" pitchFamily="34" charset="0"/>
              </a:rPr>
              <a:t> of a system remains the same during the process of state change.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The energy being added to or removed from the system (latent heat) is being used to break or form intermolecular bonds. The kinetic energy of the particles does not change, so the temperature does not change.</a:t>
            </a:r>
            <a:endParaRPr lang="en-AU" sz="2400" b="0" i="0" dirty="0">
              <a:solidFill>
                <a:srgbClr val="444444"/>
              </a:solidFill>
              <a:effectLst/>
              <a:latin typeface="Arial" panose="020B0604020202020204" pitchFamily="34" charset="0"/>
            </a:endParaRPr>
          </a:p>
        </p:txBody>
      </p:sp>
      <p:pic>
        <p:nvPicPr>
          <p:cNvPr id="4098" name="Picture 2" descr="https://www.educationperfect.com/media/content/Science/1524087864.365371g/1524087863688-2893126417016933-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9775" y="3055937"/>
            <a:ext cx="3476625" cy="3476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690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30200" y="575439"/>
            <a:ext cx="11709400" cy="3046988"/>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latent heat does not affect the </a:t>
            </a:r>
            <a:r>
              <a:rPr lang="en-AU" sz="2400" b="1" i="0" dirty="0" smtClean="0">
                <a:solidFill>
                  <a:srgbClr val="F30277"/>
                </a:solidFill>
                <a:effectLst/>
                <a:latin typeface="Arial" panose="020B0604020202020204" pitchFamily="34" charset="0"/>
              </a:rPr>
              <a:t>kinetic energy</a:t>
            </a:r>
            <a:r>
              <a:rPr lang="en-AU" sz="2400" b="1" i="0" dirty="0" smtClean="0">
                <a:solidFill>
                  <a:srgbClr val="444444"/>
                </a:solidFill>
                <a:effectLst/>
                <a:latin typeface="Arial" panose="020B0604020202020204" pitchFamily="34" charset="0"/>
              </a:rPr>
              <a:t> of the particles within the substance.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It only effects the </a:t>
            </a:r>
            <a:r>
              <a:rPr lang="en-AU" sz="2400" b="1" i="0" dirty="0" smtClean="0">
                <a:solidFill>
                  <a:srgbClr val="0066CC"/>
                </a:solidFill>
                <a:effectLst/>
                <a:latin typeface="Arial" panose="020B0604020202020204" pitchFamily="34" charset="0"/>
              </a:rPr>
              <a:t>potential energy</a:t>
            </a:r>
            <a:r>
              <a:rPr lang="en-AU" sz="2400" b="0" i="0" dirty="0" smtClean="0">
                <a:solidFill>
                  <a:srgbClr val="444444"/>
                </a:solidFill>
                <a:effectLst/>
                <a:latin typeface="Arial" panose="020B0604020202020204" pitchFamily="34" charset="0"/>
              </a:rPr>
              <a:t> of the particles in the substance. This is because the </a:t>
            </a:r>
            <a:r>
              <a:rPr lang="en-AU" sz="2400" b="1" i="0" dirty="0" smtClean="0">
                <a:solidFill>
                  <a:srgbClr val="444444"/>
                </a:solidFill>
                <a:effectLst/>
                <a:latin typeface="Arial" panose="020B0604020202020204" pitchFamily="34" charset="0"/>
              </a:rPr>
              <a:t>heat</a:t>
            </a:r>
            <a:r>
              <a:rPr lang="en-AU" sz="2400" b="0" i="0" dirty="0" smtClean="0">
                <a:solidFill>
                  <a:srgbClr val="444444"/>
                </a:solidFill>
                <a:effectLst/>
                <a:latin typeface="Arial" panose="020B0604020202020204" pitchFamily="34" charset="0"/>
              </a:rPr>
              <a:t> added to the substance </a:t>
            </a:r>
            <a:r>
              <a:rPr lang="en-AU" sz="2400" b="0" i="0" u="sng" dirty="0" smtClean="0">
                <a:solidFill>
                  <a:srgbClr val="444444"/>
                </a:solidFill>
                <a:effectLst/>
                <a:latin typeface="Arial" panose="020B0604020202020204" pitchFamily="34" charset="0"/>
              </a:rPr>
              <a:t>pulls</a:t>
            </a:r>
            <a:r>
              <a:rPr lang="en-AU" sz="2400" b="0" i="0" dirty="0" smtClean="0">
                <a:solidFill>
                  <a:srgbClr val="444444"/>
                </a:solidFill>
                <a:effectLst/>
                <a:latin typeface="Arial" panose="020B0604020202020204" pitchFamily="34" charset="0"/>
              </a:rPr>
              <a:t> the particles apart.</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This means that during a </a:t>
            </a:r>
            <a:r>
              <a:rPr lang="en-AU" sz="2400" b="1" i="0" dirty="0" smtClean="0">
                <a:solidFill>
                  <a:srgbClr val="444444"/>
                </a:solidFill>
                <a:effectLst/>
                <a:latin typeface="Arial" panose="020B0604020202020204" pitchFamily="34" charset="0"/>
              </a:rPr>
              <a:t>state change</a:t>
            </a:r>
            <a:r>
              <a:rPr lang="en-AU" sz="2400" b="0" i="0" dirty="0" smtClean="0">
                <a:solidFill>
                  <a:srgbClr val="444444"/>
                </a:solidFill>
                <a:effectLst/>
                <a:latin typeface="Arial" panose="020B0604020202020204" pitchFamily="34" charset="0"/>
              </a:rPr>
              <a:t> the </a:t>
            </a:r>
            <a:r>
              <a:rPr lang="en-AU" sz="2400" b="0" i="0" u="sng" dirty="0" smtClean="0">
                <a:solidFill>
                  <a:srgbClr val="444444"/>
                </a:solidFill>
                <a:effectLst/>
                <a:latin typeface="Arial" panose="020B0604020202020204" pitchFamily="34" charset="0"/>
              </a:rPr>
              <a:t>internal energy</a:t>
            </a:r>
            <a:r>
              <a:rPr lang="en-AU" sz="2400" b="0" i="0" dirty="0" smtClean="0">
                <a:solidFill>
                  <a:srgbClr val="444444"/>
                </a:solidFill>
                <a:effectLst/>
                <a:latin typeface="Arial" panose="020B0604020202020204" pitchFamily="34" charset="0"/>
              </a:rPr>
              <a:t> of the substance </a:t>
            </a:r>
            <a:r>
              <a:rPr lang="en-AU" sz="2400" b="1" i="0" dirty="0" smtClean="0">
                <a:solidFill>
                  <a:srgbClr val="64B131"/>
                </a:solidFill>
                <a:effectLst/>
                <a:latin typeface="Arial" panose="020B0604020202020204" pitchFamily="34" charset="0"/>
              </a:rPr>
              <a:t>increases</a:t>
            </a:r>
            <a:r>
              <a:rPr lang="en-AU" sz="2400" b="0" i="0" dirty="0" smtClean="0">
                <a:solidFill>
                  <a:srgbClr val="444444"/>
                </a:solidFill>
                <a:effectLst/>
                <a:latin typeface="Arial" panose="020B0604020202020204" pitchFamily="34" charset="0"/>
              </a:rPr>
              <a:t> but the </a:t>
            </a:r>
            <a:r>
              <a:rPr lang="en-AU" sz="2400" b="0" i="0" u="sng" dirty="0" smtClean="0">
                <a:solidFill>
                  <a:srgbClr val="444444"/>
                </a:solidFill>
                <a:effectLst/>
                <a:latin typeface="Arial" panose="020B0604020202020204" pitchFamily="34" charset="0"/>
              </a:rPr>
              <a:t>temperature</a:t>
            </a:r>
            <a:r>
              <a:rPr lang="en-AU" sz="2400" b="0" i="0" dirty="0" smtClean="0">
                <a:solidFill>
                  <a:srgbClr val="444444"/>
                </a:solidFill>
                <a:effectLst/>
                <a:latin typeface="Arial" panose="020B0604020202020204" pitchFamily="34" charset="0"/>
              </a:rPr>
              <a:t> remains </a:t>
            </a:r>
            <a:r>
              <a:rPr lang="en-AU" sz="2400" b="1" i="0" dirty="0" smtClean="0">
                <a:solidFill>
                  <a:srgbClr val="64B131"/>
                </a:solidFill>
                <a:effectLst/>
                <a:latin typeface="Arial" panose="020B0604020202020204" pitchFamily="34" charset="0"/>
              </a:rPr>
              <a:t>constant.</a:t>
            </a:r>
            <a:endParaRPr lang="en-AU" sz="2400" b="0" i="0" dirty="0">
              <a:solidFill>
                <a:srgbClr val="444444"/>
              </a:solidFill>
              <a:effectLst/>
              <a:latin typeface="Arial" panose="020B0604020202020204" pitchFamily="34" charset="0"/>
            </a:endParaRPr>
          </a:p>
        </p:txBody>
      </p:sp>
      <p:pic>
        <p:nvPicPr>
          <p:cNvPr id="5122" name="Picture 2" descr="https://www.educationperfect.com/media/content/Science/1521765886.275211g/1521765884079-333413977250289-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4004076"/>
            <a:ext cx="4286250" cy="28539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4391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68312" y="354012"/>
            <a:ext cx="10428288" cy="6251328"/>
          </a:xfrm>
          <a:prstGeom prst="rect">
            <a:avLst/>
          </a:prstGeom>
        </p:spPr>
      </p:pic>
    </p:spTree>
    <p:extLst>
      <p:ext uri="{BB962C8B-B14F-4D97-AF65-F5344CB8AC3E}">
        <p14:creationId xmlns:p14="http://schemas.microsoft.com/office/powerpoint/2010/main" val="40724612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23900" y="476935"/>
            <a:ext cx="10731500" cy="461665"/>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The latent heat of </a:t>
            </a:r>
            <a:r>
              <a:rPr lang="en-AU" sz="2400" b="1" i="0" u="sng" dirty="0" smtClean="0">
                <a:solidFill>
                  <a:srgbClr val="444444"/>
                </a:solidFill>
                <a:effectLst/>
                <a:latin typeface="Arial" panose="020B0604020202020204" pitchFamily="34" charset="0"/>
              </a:rPr>
              <a:t>vaporisation</a:t>
            </a:r>
            <a:r>
              <a:rPr lang="en-AU" sz="2400" b="1" i="0" dirty="0" smtClean="0">
                <a:solidFill>
                  <a:srgbClr val="444444"/>
                </a:solidFill>
                <a:effectLst/>
                <a:latin typeface="Arial" panose="020B0604020202020204" pitchFamily="34" charset="0"/>
              </a:rPr>
              <a:t> is </a:t>
            </a:r>
            <a:r>
              <a:rPr lang="en-AU" sz="2400" b="1" i="0" dirty="0" smtClean="0">
                <a:solidFill>
                  <a:srgbClr val="F30277"/>
                </a:solidFill>
                <a:effectLst/>
                <a:latin typeface="Arial" panose="020B0604020202020204" pitchFamily="34" charset="0"/>
              </a:rPr>
              <a:t>greater than</a:t>
            </a:r>
            <a:r>
              <a:rPr lang="en-AU" sz="2400" b="1" i="0" dirty="0" smtClean="0">
                <a:solidFill>
                  <a:srgbClr val="444444"/>
                </a:solidFill>
                <a:effectLst/>
                <a:latin typeface="Arial" panose="020B0604020202020204" pitchFamily="34" charset="0"/>
              </a:rPr>
              <a:t> the latent heat of </a:t>
            </a:r>
            <a:r>
              <a:rPr lang="en-AU" sz="2400" b="1" i="0" u="sng" dirty="0" smtClean="0">
                <a:solidFill>
                  <a:srgbClr val="444444"/>
                </a:solidFill>
                <a:effectLst/>
                <a:latin typeface="Arial" panose="020B0604020202020204" pitchFamily="34" charset="0"/>
              </a:rPr>
              <a:t>fusion</a:t>
            </a:r>
            <a:r>
              <a:rPr lang="en-AU" sz="2400" b="1" i="0" dirty="0" smtClean="0">
                <a:solidFill>
                  <a:srgbClr val="444444"/>
                </a:solidFill>
                <a:effectLst/>
                <a:latin typeface="Arial" panose="020B0604020202020204" pitchFamily="34" charset="0"/>
              </a:rPr>
              <a:t>.</a:t>
            </a:r>
            <a:endParaRPr lang="en-AU" sz="2400" b="1" i="0" dirty="0">
              <a:solidFill>
                <a:srgbClr val="444444"/>
              </a:solidFill>
              <a:effectLst/>
              <a:latin typeface="Arial" panose="020B0604020202020204" pitchFamily="34" charset="0"/>
            </a:endParaRPr>
          </a:p>
        </p:txBody>
      </p:sp>
      <p:pic>
        <p:nvPicPr>
          <p:cNvPr id="6146" name="Picture 2" descr="https://www.educationperfect.com/media/content/Chinese/1427427512.777531g/1427427517124-791336422-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7775" y="1697037"/>
            <a:ext cx="3810000" cy="36480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057774" y="2117636"/>
            <a:ext cx="7134225" cy="1938992"/>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This is because when a substance </a:t>
            </a:r>
            <a:r>
              <a:rPr lang="en-AU" sz="2400" b="1" i="0" dirty="0" smtClean="0">
                <a:solidFill>
                  <a:srgbClr val="444444"/>
                </a:solidFill>
                <a:effectLst/>
                <a:latin typeface="Arial" panose="020B0604020202020204" pitchFamily="34" charset="0"/>
              </a:rPr>
              <a:t>evaporates</a:t>
            </a:r>
            <a:r>
              <a:rPr lang="en-AU" sz="2400" b="0" i="0" dirty="0" smtClean="0">
                <a:solidFill>
                  <a:srgbClr val="444444"/>
                </a:solidFill>
                <a:effectLst/>
                <a:latin typeface="Arial" panose="020B0604020202020204" pitchFamily="34" charset="0"/>
              </a:rPr>
              <a:t> all the bonds within the substance must be </a:t>
            </a:r>
            <a:r>
              <a:rPr lang="en-AU" sz="2400" b="1" i="0" dirty="0" smtClean="0">
                <a:solidFill>
                  <a:srgbClr val="F30277"/>
                </a:solidFill>
                <a:effectLst/>
                <a:latin typeface="Arial" panose="020B0604020202020204" pitchFamily="34" charset="0"/>
              </a:rPr>
              <a:t>broken.</a:t>
            </a:r>
            <a:r>
              <a:rPr lang="en-AU" sz="2400" b="0" i="0" dirty="0" smtClean="0">
                <a:solidFill>
                  <a:srgbClr val="444444"/>
                </a:solidFill>
                <a:effectLst/>
                <a:latin typeface="Arial" panose="020B0604020202020204" pitchFamily="34" charset="0"/>
              </a:rPr>
              <a:t> However, when a substance </a:t>
            </a:r>
            <a:r>
              <a:rPr lang="en-AU" sz="2400" b="1" i="0" dirty="0" smtClean="0">
                <a:solidFill>
                  <a:srgbClr val="444444"/>
                </a:solidFill>
                <a:effectLst/>
                <a:latin typeface="Arial" panose="020B0604020202020204" pitchFamily="34" charset="0"/>
              </a:rPr>
              <a:t>melts</a:t>
            </a:r>
            <a:r>
              <a:rPr lang="en-AU" sz="2400" b="0" i="0" dirty="0" smtClean="0">
                <a:solidFill>
                  <a:srgbClr val="444444"/>
                </a:solidFill>
                <a:effectLst/>
                <a:latin typeface="Arial" panose="020B0604020202020204" pitchFamily="34" charset="0"/>
              </a:rPr>
              <a:t> the bonds are </a:t>
            </a:r>
            <a:r>
              <a:rPr lang="en-AU" sz="2400" b="1" i="0" dirty="0" smtClean="0">
                <a:solidFill>
                  <a:srgbClr val="F30277"/>
                </a:solidFill>
                <a:effectLst/>
                <a:latin typeface="Arial" panose="020B0604020202020204" pitchFamily="34" charset="0"/>
              </a:rPr>
              <a:t>"stretched",</a:t>
            </a:r>
            <a:r>
              <a:rPr lang="en-AU" sz="2400" b="0" i="0" dirty="0" smtClean="0">
                <a:solidFill>
                  <a:srgbClr val="444444"/>
                </a:solidFill>
                <a:effectLst/>
                <a:latin typeface="Arial" panose="020B0604020202020204" pitchFamily="34" charset="0"/>
              </a:rPr>
              <a:t> which requires less energy input.</a:t>
            </a:r>
            <a:endParaRPr lang="en-AU" sz="2400" dirty="0"/>
          </a:p>
        </p:txBody>
      </p:sp>
    </p:spTree>
    <p:extLst>
      <p:ext uri="{BB962C8B-B14F-4D97-AF65-F5344CB8AC3E}">
        <p14:creationId xmlns:p14="http://schemas.microsoft.com/office/powerpoint/2010/main" val="2379661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Words>
  <Application>Microsoft Office PowerPoint</Application>
  <PresentationFormat>Widescreen</PresentationFormat>
  <Paragraphs>25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KaTeX_Main</vt:lpstr>
      <vt:lpstr>Office Theme</vt:lpstr>
      <vt:lpstr>Specific Latent Heat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Specific Latent Heat</dc:title>
  <dc:creator>Joseph D'cruz</dc:creator>
  <cp:lastModifiedBy>Joseph D'cruz</cp:lastModifiedBy>
  <cp:revision>1</cp:revision>
  <dcterms:created xsi:type="dcterms:W3CDTF">2020-07-14T06:40:57Z</dcterms:created>
  <dcterms:modified xsi:type="dcterms:W3CDTF">2020-07-14T06:41:15Z</dcterms:modified>
</cp:coreProperties>
</file>
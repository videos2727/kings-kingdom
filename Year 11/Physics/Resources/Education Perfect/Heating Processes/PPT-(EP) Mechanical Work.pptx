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0" r:id="rId7"/>
    <p:sldId id="263" r:id="rId8"/>
    <p:sldId id="261"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9B3DCC43-85A1-4EF4-B8D0-72B472287BB6}" type="datetimeFigureOut">
              <a:rPr lang="en-AU" smtClean="0"/>
              <a:t>14/07/2020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C46421F-3882-42D6-A1C5-5DD9F030A440}" type="slidenum">
              <a:rPr lang="en-AU" smtClean="0"/>
              <a:t>‹#›</a:t>
            </a:fld>
            <a:endParaRPr lang="en-AU"/>
          </a:p>
        </p:txBody>
      </p:sp>
    </p:spTree>
    <p:extLst>
      <p:ext uri="{BB962C8B-B14F-4D97-AF65-F5344CB8AC3E}">
        <p14:creationId xmlns:p14="http://schemas.microsoft.com/office/powerpoint/2010/main" val="707986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B3DCC43-85A1-4EF4-B8D0-72B472287BB6}" type="datetimeFigureOut">
              <a:rPr lang="en-AU" smtClean="0"/>
              <a:t>14/07/2020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C46421F-3882-42D6-A1C5-5DD9F030A440}" type="slidenum">
              <a:rPr lang="en-AU" smtClean="0"/>
              <a:t>‹#›</a:t>
            </a:fld>
            <a:endParaRPr lang="en-AU"/>
          </a:p>
        </p:txBody>
      </p:sp>
    </p:spTree>
    <p:extLst>
      <p:ext uri="{BB962C8B-B14F-4D97-AF65-F5344CB8AC3E}">
        <p14:creationId xmlns:p14="http://schemas.microsoft.com/office/powerpoint/2010/main" val="42957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3DCC43-85A1-4EF4-B8D0-72B472287BB6}" type="datetimeFigureOut">
              <a:rPr lang="en-AU" smtClean="0"/>
              <a:t>14/07/2020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C46421F-3882-42D6-A1C5-5DD9F030A440}" type="slidenum">
              <a:rPr lang="en-AU" smtClean="0"/>
              <a:t>‹#›</a:t>
            </a:fld>
            <a:endParaRPr lang="en-AU"/>
          </a:p>
        </p:txBody>
      </p:sp>
    </p:spTree>
    <p:extLst>
      <p:ext uri="{BB962C8B-B14F-4D97-AF65-F5344CB8AC3E}">
        <p14:creationId xmlns:p14="http://schemas.microsoft.com/office/powerpoint/2010/main" val="927005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9B3DCC43-85A1-4EF4-B8D0-72B472287BB6}" type="datetimeFigureOut">
              <a:rPr lang="en-AU" smtClean="0"/>
              <a:t>14/07/2020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C46421F-3882-42D6-A1C5-5DD9F030A440}" type="slidenum">
              <a:rPr lang="en-AU" smtClean="0"/>
              <a:t>‹#›</a:t>
            </a:fld>
            <a:endParaRPr lang="en-AU"/>
          </a:p>
        </p:txBody>
      </p:sp>
    </p:spTree>
    <p:extLst>
      <p:ext uri="{BB962C8B-B14F-4D97-AF65-F5344CB8AC3E}">
        <p14:creationId xmlns:p14="http://schemas.microsoft.com/office/powerpoint/2010/main" val="2890950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9B3DCC43-85A1-4EF4-B8D0-72B472287BB6}" type="datetimeFigureOut">
              <a:rPr lang="en-AU" smtClean="0"/>
              <a:t>14/07/2020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1C46421F-3882-42D6-A1C5-5DD9F030A440}" type="slidenum">
              <a:rPr lang="en-AU" smtClean="0"/>
              <a:t>‹#›</a:t>
            </a:fld>
            <a:endParaRPr lang="en-AU"/>
          </a:p>
        </p:txBody>
      </p:sp>
    </p:spTree>
    <p:extLst>
      <p:ext uri="{BB962C8B-B14F-4D97-AF65-F5344CB8AC3E}">
        <p14:creationId xmlns:p14="http://schemas.microsoft.com/office/powerpoint/2010/main" val="4084853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9B3DCC43-85A1-4EF4-B8D0-72B472287BB6}" type="datetimeFigureOut">
              <a:rPr lang="en-AU" smtClean="0"/>
              <a:t>14/07/2020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1C46421F-3882-42D6-A1C5-5DD9F030A440}" type="slidenum">
              <a:rPr lang="en-AU" smtClean="0"/>
              <a:t>‹#›</a:t>
            </a:fld>
            <a:endParaRPr lang="en-AU"/>
          </a:p>
        </p:txBody>
      </p:sp>
    </p:spTree>
    <p:extLst>
      <p:ext uri="{BB962C8B-B14F-4D97-AF65-F5344CB8AC3E}">
        <p14:creationId xmlns:p14="http://schemas.microsoft.com/office/powerpoint/2010/main" val="3729362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3DCC43-85A1-4EF4-B8D0-72B472287BB6}" type="datetimeFigureOut">
              <a:rPr lang="en-AU" smtClean="0"/>
              <a:t>14/07/2020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1C46421F-3882-42D6-A1C5-5DD9F030A440}" type="slidenum">
              <a:rPr lang="en-AU" smtClean="0"/>
              <a:t>‹#›</a:t>
            </a:fld>
            <a:endParaRPr lang="en-AU"/>
          </a:p>
        </p:txBody>
      </p:sp>
    </p:spTree>
    <p:extLst>
      <p:ext uri="{BB962C8B-B14F-4D97-AF65-F5344CB8AC3E}">
        <p14:creationId xmlns:p14="http://schemas.microsoft.com/office/powerpoint/2010/main" val="4252699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3DCC43-85A1-4EF4-B8D0-72B472287BB6}" type="datetimeFigureOut">
              <a:rPr lang="en-AU" smtClean="0"/>
              <a:t>14/07/2020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C46421F-3882-42D6-A1C5-5DD9F030A440}" type="slidenum">
              <a:rPr lang="en-AU" smtClean="0"/>
              <a:t>‹#›</a:t>
            </a:fld>
            <a:endParaRPr lang="en-AU"/>
          </a:p>
        </p:txBody>
      </p:sp>
    </p:spTree>
    <p:extLst>
      <p:ext uri="{BB962C8B-B14F-4D97-AF65-F5344CB8AC3E}">
        <p14:creationId xmlns:p14="http://schemas.microsoft.com/office/powerpoint/2010/main" val="3118309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3DCC43-85A1-4EF4-B8D0-72B472287BB6}" type="datetimeFigureOut">
              <a:rPr lang="en-AU" smtClean="0"/>
              <a:t>14/07/2020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1C46421F-3882-42D6-A1C5-5DD9F030A440}" type="slidenum">
              <a:rPr lang="en-AU" smtClean="0"/>
              <a:t>‹#›</a:t>
            </a:fld>
            <a:endParaRPr lang="en-AU"/>
          </a:p>
        </p:txBody>
      </p:sp>
    </p:spTree>
    <p:extLst>
      <p:ext uri="{BB962C8B-B14F-4D97-AF65-F5344CB8AC3E}">
        <p14:creationId xmlns:p14="http://schemas.microsoft.com/office/powerpoint/2010/main" val="2641055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B3DCC43-85A1-4EF4-B8D0-72B472287BB6}" type="datetimeFigureOut">
              <a:rPr lang="en-AU" smtClean="0"/>
              <a:t>14/07/2020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C46421F-3882-42D6-A1C5-5DD9F030A440}" type="slidenum">
              <a:rPr lang="en-AU" smtClean="0"/>
              <a:t>‹#›</a:t>
            </a:fld>
            <a:endParaRPr lang="en-AU"/>
          </a:p>
        </p:txBody>
      </p:sp>
    </p:spTree>
    <p:extLst>
      <p:ext uri="{BB962C8B-B14F-4D97-AF65-F5344CB8AC3E}">
        <p14:creationId xmlns:p14="http://schemas.microsoft.com/office/powerpoint/2010/main" val="31546834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B3DCC43-85A1-4EF4-B8D0-72B472287BB6}" type="datetimeFigureOut">
              <a:rPr lang="en-AU" smtClean="0"/>
              <a:t>14/07/2020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1C46421F-3882-42D6-A1C5-5DD9F030A440}" type="slidenum">
              <a:rPr lang="en-AU" smtClean="0"/>
              <a:t>‹#›</a:t>
            </a:fld>
            <a:endParaRPr lang="en-AU"/>
          </a:p>
        </p:txBody>
      </p:sp>
    </p:spTree>
    <p:extLst>
      <p:ext uri="{BB962C8B-B14F-4D97-AF65-F5344CB8AC3E}">
        <p14:creationId xmlns:p14="http://schemas.microsoft.com/office/powerpoint/2010/main" val="2814765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3DCC43-85A1-4EF4-B8D0-72B472287BB6}" type="datetimeFigureOut">
              <a:rPr lang="en-AU" smtClean="0"/>
              <a:t>14/07/2020</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46421F-3882-42D6-A1C5-5DD9F030A440}" type="slidenum">
              <a:rPr lang="en-AU" smtClean="0"/>
              <a:t>‹#›</a:t>
            </a:fld>
            <a:endParaRPr lang="en-AU"/>
          </a:p>
        </p:txBody>
      </p:sp>
    </p:spTree>
    <p:extLst>
      <p:ext uri="{BB962C8B-B14F-4D97-AF65-F5344CB8AC3E}">
        <p14:creationId xmlns:p14="http://schemas.microsoft.com/office/powerpoint/2010/main" val="7070017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7.xml"/><Relationship Id="rId1" Type="http://schemas.openxmlformats.org/officeDocument/2006/relationships/video" Target="https://www.youtube.com/embed/1OFlW8OXN64"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Mechanical Work</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578514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2600" y="334139"/>
            <a:ext cx="11264900" cy="2677656"/>
          </a:xfrm>
          <a:prstGeom prst="rect">
            <a:avLst/>
          </a:prstGeom>
        </p:spPr>
        <p:txBody>
          <a:bodyPr wrap="square">
            <a:spAutoFit/>
          </a:bodyPr>
          <a:lstStyle/>
          <a:p>
            <a:pPr algn="ctr"/>
            <a:r>
              <a:rPr lang="en-AU" sz="2400" b="0" i="0" dirty="0" smtClean="0">
                <a:solidFill>
                  <a:srgbClr val="444444"/>
                </a:solidFill>
                <a:effectLst/>
                <a:latin typeface="Arial" panose="020B0604020202020204" pitchFamily="34" charset="0"/>
              </a:rPr>
              <a:t>In this Smart Lesson you will learn to:</a:t>
            </a:r>
          </a:p>
          <a:p>
            <a:pPr algn="ctr"/>
            <a:r>
              <a:rPr lang="en-AU" sz="2400" b="0" i="0" dirty="0" smtClean="0">
                <a:solidFill>
                  <a:srgbClr val="444444"/>
                </a:solidFill>
                <a:effectLst/>
                <a:latin typeface="Arial" panose="020B0604020202020204" pitchFamily="34" charset="0"/>
              </a:rPr>
              <a:t> </a:t>
            </a:r>
          </a:p>
          <a:p>
            <a:pPr>
              <a:buFont typeface="Arial" panose="020B0604020202020204" pitchFamily="34" charset="0"/>
              <a:buChar char="•"/>
            </a:pPr>
            <a:r>
              <a:rPr lang="en-AU" sz="2400" b="1" i="0" dirty="0" smtClean="0">
                <a:solidFill>
                  <a:srgbClr val="009900"/>
                </a:solidFill>
                <a:effectLst/>
                <a:latin typeface="Arial" panose="020B0604020202020204" pitchFamily="34" charset="0"/>
              </a:rPr>
              <a:t>Explain </a:t>
            </a:r>
            <a:r>
              <a:rPr lang="en-AU" sz="2400" b="0" i="0" dirty="0" smtClean="0">
                <a:solidFill>
                  <a:srgbClr val="444444"/>
                </a:solidFill>
                <a:effectLst/>
                <a:latin typeface="Arial" panose="020B0604020202020204" pitchFamily="34" charset="0"/>
              </a:rPr>
              <a:t>that a system with </a:t>
            </a:r>
            <a:r>
              <a:rPr lang="en-AU" sz="2400" b="1" i="0" dirty="0" smtClean="0">
                <a:solidFill>
                  <a:srgbClr val="F30277"/>
                </a:solidFill>
                <a:effectLst/>
                <a:latin typeface="Arial" panose="020B0604020202020204" pitchFamily="34" charset="0"/>
              </a:rPr>
              <a:t>thermal energy</a:t>
            </a:r>
            <a:r>
              <a:rPr lang="en-AU" sz="2400" b="0" i="0" dirty="0" smtClean="0">
                <a:solidFill>
                  <a:srgbClr val="444444"/>
                </a:solidFill>
                <a:effectLst/>
                <a:latin typeface="Arial" panose="020B0604020202020204" pitchFamily="34" charset="0"/>
              </a:rPr>
              <a:t> has the capacity to do </a:t>
            </a:r>
            <a:r>
              <a:rPr lang="en-AU" sz="2400" b="1" i="0" dirty="0" smtClean="0">
                <a:solidFill>
                  <a:srgbClr val="0066CC"/>
                </a:solidFill>
                <a:effectLst/>
                <a:latin typeface="Arial" panose="020B0604020202020204" pitchFamily="34" charset="0"/>
              </a:rPr>
              <a:t>work.</a:t>
            </a:r>
            <a:endParaRPr lang="en-AU" sz="2400" b="0" i="0" dirty="0" smtClean="0">
              <a:solidFill>
                <a:srgbClr val="444444"/>
              </a:solidFill>
              <a:effectLst/>
              <a:latin typeface="Arial" panose="020B0604020202020204" pitchFamily="34" charset="0"/>
            </a:endParaRPr>
          </a:p>
          <a:p>
            <a:pPr>
              <a:buFont typeface="Arial" panose="020B0604020202020204" pitchFamily="34" charset="0"/>
              <a:buChar char="•"/>
            </a:pPr>
            <a:r>
              <a:rPr lang="en-AU" sz="2400" b="1" i="0" dirty="0" smtClean="0">
                <a:solidFill>
                  <a:srgbClr val="009900"/>
                </a:solidFill>
                <a:effectLst/>
                <a:latin typeface="Arial" panose="020B0604020202020204" pitchFamily="34" charset="0"/>
              </a:rPr>
              <a:t>Recall </a:t>
            </a:r>
            <a:r>
              <a:rPr lang="en-AU" sz="2400" b="0" i="0" dirty="0" smtClean="0">
                <a:solidFill>
                  <a:srgbClr val="444444"/>
                </a:solidFill>
                <a:effectLst/>
                <a:latin typeface="Arial" panose="020B0604020202020204" pitchFamily="34" charset="0"/>
              </a:rPr>
              <a:t>that the change in the </a:t>
            </a:r>
            <a:r>
              <a:rPr lang="en-AU" sz="2400" b="1" i="0" dirty="0" smtClean="0">
                <a:solidFill>
                  <a:srgbClr val="00868B"/>
                </a:solidFill>
                <a:effectLst/>
                <a:latin typeface="Arial" panose="020B0604020202020204" pitchFamily="34" charset="0"/>
              </a:rPr>
              <a:t>internal energy</a:t>
            </a:r>
            <a:r>
              <a:rPr lang="en-AU" sz="2400" b="0" i="0" dirty="0" smtClean="0">
                <a:solidFill>
                  <a:srgbClr val="444444"/>
                </a:solidFill>
                <a:effectLst/>
                <a:latin typeface="Arial" panose="020B0604020202020204" pitchFamily="34" charset="0"/>
              </a:rPr>
              <a:t> of a system is equal to the energy added or removed by heating plus the work done on or by the system.</a:t>
            </a:r>
          </a:p>
          <a:p>
            <a:pPr>
              <a:buFont typeface="Arial" panose="020B0604020202020204" pitchFamily="34" charset="0"/>
              <a:buChar char="•"/>
            </a:pPr>
            <a:r>
              <a:rPr lang="en-AU" sz="2400" b="1" i="0" dirty="0" smtClean="0">
                <a:solidFill>
                  <a:srgbClr val="009900"/>
                </a:solidFill>
                <a:effectLst/>
                <a:latin typeface="Arial" panose="020B0604020202020204" pitchFamily="34" charset="0"/>
              </a:rPr>
              <a:t>Outline</a:t>
            </a:r>
            <a:r>
              <a:rPr lang="en-AU" sz="2400" b="0" i="0" dirty="0" smtClean="0">
                <a:solidFill>
                  <a:srgbClr val="444444"/>
                </a:solidFill>
                <a:effectLst/>
                <a:latin typeface="Arial" panose="020B0604020202020204" pitchFamily="34" charset="0"/>
              </a:rPr>
              <a:t> the</a:t>
            </a:r>
            <a:r>
              <a:rPr lang="en-AU" sz="2400" b="1" i="0" dirty="0" smtClean="0">
                <a:solidFill>
                  <a:srgbClr val="00B6EE"/>
                </a:solidFill>
                <a:effectLst/>
                <a:latin typeface="Arial" panose="020B0604020202020204" pitchFamily="34" charset="0"/>
              </a:rPr>
              <a:t> first law of thermodynamics</a:t>
            </a:r>
            <a:r>
              <a:rPr lang="en-AU" sz="2400" b="0" i="0" dirty="0" smtClean="0">
                <a:solidFill>
                  <a:srgbClr val="444444"/>
                </a:solidFill>
                <a:effectLst/>
                <a:latin typeface="Arial" panose="020B0604020202020204" pitchFamily="34" charset="0"/>
              </a:rPr>
              <a:t> and </a:t>
            </a:r>
            <a:r>
              <a:rPr lang="en-AU" sz="2400" b="1" i="0" dirty="0" smtClean="0">
                <a:solidFill>
                  <a:srgbClr val="009900"/>
                </a:solidFill>
                <a:effectLst/>
                <a:latin typeface="Arial" panose="020B0604020202020204" pitchFamily="34" charset="0"/>
              </a:rPr>
              <a:t>understand </a:t>
            </a:r>
            <a:r>
              <a:rPr lang="en-AU" sz="2400" b="0" i="0" dirty="0" smtClean="0">
                <a:solidFill>
                  <a:srgbClr val="444444"/>
                </a:solidFill>
                <a:effectLst/>
                <a:latin typeface="Arial" panose="020B0604020202020204" pitchFamily="34" charset="0"/>
              </a:rPr>
              <a:t>how it is derived from the </a:t>
            </a:r>
            <a:r>
              <a:rPr lang="en-AU" sz="2400" b="1" i="0" dirty="0" smtClean="0">
                <a:solidFill>
                  <a:srgbClr val="571A98"/>
                </a:solidFill>
                <a:effectLst/>
                <a:latin typeface="Arial" panose="020B0604020202020204" pitchFamily="34" charset="0"/>
              </a:rPr>
              <a:t>law of conservation of energy.</a:t>
            </a:r>
            <a:endParaRPr lang="en-AU" sz="2400" b="0" i="0" dirty="0">
              <a:solidFill>
                <a:srgbClr val="444444"/>
              </a:solidFill>
              <a:effectLst/>
              <a:latin typeface="Arial" panose="020B0604020202020204" pitchFamily="34" charset="0"/>
            </a:endParaRPr>
          </a:p>
        </p:txBody>
      </p:sp>
      <p:pic>
        <p:nvPicPr>
          <p:cNvPr id="3" name="1509317902.1809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671005" y="3740150"/>
            <a:ext cx="4888089" cy="2749550"/>
          </a:xfrm>
          <a:prstGeom prst="rect">
            <a:avLst/>
          </a:prstGeom>
        </p:spPr>
      </p:pic>
    </p:spTree>
    <p:extLst>
      <p:ext uri="{BB962C8B-B14F-4D97-AF65-F5344CB8AC3E}">
        <p14:creationId xmlns:p14="http://schemas.microsoft.com/office/powerpoint/2010/main" val="3495024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586939"/>
            <a:ext cx="11772900" cy="3046988"/>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A system with </a:t>
            </a:r>
            <a:r>
              <a:rPr lang="en-AU" sz="2400" b="1" i="0" dirty="0" smtClean="0">
                <a:solidFill>
                  <a:srgbClr val="F30277"/>
                </a:solidFill>
                <a:effectLst/>
                <a:latin typeface="Arial" panose="020B0604020202020204" pitchFamily="34" charset="0"/>
              </a:rPr>
              <a:t>thermal energy</a:t>
            </a:r>
            <a:r>
              <a:rPr lang="en-AU" sz="2400" b="1" i="0" dirty="0" smtClean="0">
                <a:solidFill>
                  <a:srgbClr val="444444"/>
                </a:solidFill>
                <a:effectLst/>
                <a:latin typeface="Arial" panose="020B0604020202020204" pitchFamily="34" charset="0"/>
              </a:rPr>
              <a:t> has the capacity to do </a:t>
            </a:r>
            <a:r>
              <a:rPr lang="en-AU" sz="2400" b="1" i="0" dirty="0" smtClean="0">
                <a:solidFill>
                  <a:srgbClr val="0066CC"/>
                </a:solidFill>
                <a:effectLst/>
                <a:latin typeface="Arial" panose="020B0604020202020204" pitchFamily="34" charset="0"/>
              </a:rPr>
              <a:t>mechanical work.</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So what is </a:t>
            </a:r>
            <a:r>
              <a:rPr lang="en-AU" sz="2400" b="1" i="0" dirty="0" smtClean="0">
                <a:solidFill>
                  <a:srgbClr val="0066CC"/>
                </a:solidFill>
                <a:effectLst/>
                <a:latin typeface="Arial" panose="020B0604020202020204" pitchFamily="34" charset="0"/>
              </a:rPr>
              <a:t>mechanical work?</a:t>
            </a:r>
            <a:endParaRPr lang="en-AU" sz="2400" b="0"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You may already have come across work defined as </a:t>
            </a:r>
            <a:r>
              <a:rPr lang="en-AU" sz="2400" b="1" i="0" dirty="0" smtClean="0">
                <a:solidFill>
                  <a:srgbClr val="444444"/>
                </a:solidFill>
                <a:effectLst/>
                <a:latin typeface="Arial" panose="020B0604020202020204" pitchFamily="34" charset="0"/>
              </a:rPr>
              <a:t>the energy transferred by a force:</a:t>
            </a:r>
            <a:endParaRPr lang="en-AU" sz="2400" b="0"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1" i="0" dirty="0" smtClean="0">
                <a:solidFill>
                  <a:srgbClr val="444444"/>
                </a:solidFill>
                <a:effectLst/>
                <a:latin typeface="KaTeX_Main"/>
              </a:rPr>
              <a:t>W</a:t>
            </a:r>
            <a:r>
              <a:rPr lang="en-AU" sz="2400" b="0" i="0" dirty="0" smtClean="0">
                <a:solidFill>
                  <a:srgbClr val="444444"/>
                </a:solidFill>
                <a:effectLst/>
                <a:latin typeface="KaTeX_Main"/>
              </a:rPr>
              <a:t>=</a:t>
            </a:r>
            <a:r>
              <a:rPr lang="en-AU" sz="2400" b="1" i="0" dirty="0" err="1" smtClean="0">
                <a:solidFill>
                  <a:srgbClr val="444444"/>
                </a:solidFill>
                <a:effectLst/>
                <a:latin typeface="KaTeX_Main"/>
              </a:rPr>
              <a:t>Fd</a:t>
            </a:r>
            <a:r>
              <a:rPr lang="en-AU" sz="2400" b="1" i="0" dirty="0" smtClean="0">
                <a:solidFill>
                  <a:srgbClr val="444444"/>
                </a:solidFill>
                <a:effectLst/>
                <a:latin typeface="Arial" panose="020B0604020202020204" pitchFamily="34" charset="0"/>
              </a:rPr>
              <a:t>,</a:t>
            </a:r>
            <a:r>
              <a:rPr lang="en-AU" sz="2400" b="0" i="0" dirty="0" smtClean="0">
                <a:solidFill>
                  <a:srgbClr val="444444"/>
                </a:solidFill>
                <a:effectLst/>
                <a:latin typeface="Arial" panose="020B0604020202020204" pitchFamily="34" charset="0"/>
              </a:rPr>
              <a:t> where </a:t>
            </a:r>
            <a:r>
              <a:rPr lang="en-AU" sz="2400" b="0" i="0" dirty="0" smtClean="0">
                <a:solidFill>
                  <a:srgbClr val="444444"/>
                </a:solidFill>
                <a:effectLst/>
                <a:latin typeface="KaTeX_Main"/>
              </a:rPr>
              <a:t>W=</a:t>
            </a:r>
            <a:r>
              <a:rPr lang="en-AU" sz="2400" b="0" i="0" dirty="0" smtClean="0">
                <a:solidFill>
                  <a:srgbClr val="444444"/>
                </a:solidFill>
                <a:effectLst/>
                <a:latin typeface="Arial" panose="020B0604020202020204" pitchFamily="34" charset="0"/>
              </a:rPr>
              <a:t>work, </a:t>
            </a:r>
            <a:r>
              <a:rPr lang="en-AU" sz="2400" b="0" i="0" dirty="0" smtClean="0">
                <a:solidFill>
                  <a:srgbClr val="444444"/>
                </a:solidFill>
                <a:effectLst/>
                <a:latin typeface="KaTeX_Main"/>
              </a:rPr>
              <a:t>F=</a:t>
            </a:r>
            <a:r>
              <a:rPr lang="en-AU" sz="2400" b="0" i="0" dirty="0" smtClean="0">
                <a:solidFill>
                  <a:srgbClr val="444444"/>
                </a:solidFill>
                <a:effectLst/>
                <a:latin typeface="Arial" panose="020B0604020202020204" pitchFamily="34" charset="0"/>
              </a:rPr>
              <a:t>force and </a:t>
            </a:r>
            <a:r>
              <a:rPr lang="en-AU" sz="2400" b="0" i="0" dirty="0" smtClean="0">
                <a:solidFill>
                  <a:srgbClr val="444444"/>
                </a:solidFill>
                <a:effectLst/>
                <a:latin typeface="KaTeX_Main"/>
              </a:rPr>
              <a:t>d=</a:t>
            </a:r>
            <a:r>
              <a:rPr lang="en-AU" sz="2400" b="0" i="0" dirty="0" smtClean="0">
                <a:solidFill>
                  <a:srgbClr val="444444"/>
                </a:solidFill>
                <a:effectLst/>
                <a:latin typeface="Arial" panose="020B0604020202020204" pitchFamily="34" charset="0"/>
              </a:rPr>
              <a:t>distance.</a:t>
            </a:r>
            <a:endParaRPr lang="en-AU" sz="2400" b="0" i="0" dirty="0">
              <a:solidFill>
                <a:srgbClr val="444444"/>
              </a:solidFill>
              <a:effectLst/>
              <a:latin typeface="Arial" panose="020B0604020202020204" pitchFamily="34" charset="0"/>
            </a:endParaRPr>
          </a:p>
        </p:txBody>
      </p:sp>
      <p:pic>
        <p:nvPicPr>
          <p:cNvPr id="3" name="1509326817.4700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178300" y="3789362"/>
            <a:ext cx="3549650" cy="2662238"/>
          </a:xfrm>
          <a:prstGeom prst="rect">
            <a:avLst/>
          </a:prstGeom>
        </p:spPr>
      </p:pic>
    </p:spTree>
    <p:extLst>
      <p:ext uri="{BB962C8B-B14F-4D97-AF65-F5344CB8AC3E}">
        <p14:creationId xmlns:p14="http://schemas.microsoft.com/office/powerpoint/2010/main" val="398828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500" y="338941"/>
            <a:ext cx="6096000" cy="5632311"/>
          </a:xfrm>
          <a:prstGeom prst="rect">
            <a:avLst/>
          </a:prstGeom>
        </p:spPr>
        <p:txBody>
          <a:bodyPr>
            <a:spAutoFit/>
          </a:bodyPr>
          <a:lstStyle/>
          <a:p>
            <a:pPr algn="ctr"/>
            <a:r>
              <a:rPr lang="en-AU" sz="2400" b="1" i="0" dirty="0" smtClean="0">
                <a:solidFill>
                  <a:srgbClr val="444444"/>
                </a:solidFill>
                <a:effectLst/>
                <a:latin typeface="Arial" panose="020B0604020202020204" pitchFamily="34" charset="0"/>
              </a:rPr>
              <a:t>But how can </a:t>
            </a:r>
            <a:r>
              <a:rPr lang="en-AU" sz="2400" b="1" i="0" dirty="0" smtClean="0">
                <a:solidFill>
                  <a:srgbClr val="F30277"/>
                </a:solidFill>
                <a:effectLst/>
                <a:latin typeface="Arial" panose="020B0604020202020204" pitchFamily="34" charset="0"/>
              </a:rPr>
              <a:t>heat energy</a:t>
            </a:r>
            <a:r>
              <a:rPr lang="en-AU" sz="2400" b="1" i="0" dirty="0" smtClean="0">
                <a:solidFill>
                  <a:srgbClr val="444444"/>
                </a:solidFill>
                <a:effectLst/>
                <a:latin typeface="Arial" panose="020B0604020202020204" pitchFamily="34" charset="0"/>
              </a:rPr>
              <a:t> have a </a:t>
            </a:r>
            <a:r>
              <a:rPr lang="en-AU" sz="2400" b="1" i="0" dirty="0" smtClean="0">
                <a:solidFill>
                  <a:srgbClr val="0066CC"/>
                </a:solidFill>
                <a:effectLst/>
                <a:latin typeface="Arial" panose="020B0604020202020204" pitchFamily="34" charset="0"/>
              </a:rPr>
              <a:t>mechanical</a:t>
            </a:r>
            <a:r>
              <a:rPr lang="en-AU" sz="2400" b="1" i="0" dirty="0" smtClean="0">
                <a:solidFill>
                  <a:srgbClr val="444444"/>
                </a:solidFill>
                <a:effectLst/>
                <a:latin typeface="Arial" panose="020B0604020202020204" pitchFamily="34" charset="0"/>
              </a:rPr>
              <a:t> equivalent?</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Back in </a:t>
            </a:r>
            <a:r>
              <a:rPr lang="en-AU" sz="2400" b="0" i="0" dirty="0" smtClean="0">
                <a:solidFill>
                  <a:srgbClr val="444444"/>
                </a:solidFill>
                <a:effectLst/>
                <a:latin typeface="KaTeX_Main"/>
              </a:rPr>
              <a:t>1845</a:t>
            </a:r>
            <a:r>
              <a:rPr lang="en-AU" sz="2400" b="0" i="0" dirty="0" smtClean="0">
                <a:solidFill>
                  <a:srgbClr val="444444"/>
                </a:solidFill>
                <a:effectLst/>
                <a:latin typeface="Arial" panose="020B0604020202020204" pitchFamily="34" charset="0"/>
              </a:rPr>
              <a:t>, the English scientist </a:t>
            </a:r>
            <a:r>
              <a:rPr lang="en-AU" sz="2400" b="1" i="0" dirty="0" smtClean="0">
                <a:solidFill>
                  <a:srgbClr val="444444"/>
                </a:solidFill>
                <a:effectLst/>
                <a:latin typeface="Arial" panose="020B0604020202020204" pitchFamily="34" charset="0"/>
              </a:rPr>
              <a:t>James Joule</a:t>
            </a:r>
            <a:r>
              <a:rPr lang="en-AU" sz="2400" b="0" i="0" dirty="0" smtClean="0">
                <a:solidFill>
                  <a:srgbClr val="444444"/>
                </a:solidFill>
                <a:effectLst/>
                <a:latin typeface="Arial" panose="020B0604020202020204" pitchFamily="34" charset="0"/>
              </a:rPr>
              <a:t> was working on this problem.</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He did a classic experiment where he set up a system where a falling weight was used to turn a paddle wheel inside an insulated barrel of water. As the paddle when turned, there was friction against the water, causing an increase in temperature.</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He used this to calculate the </a:t>
            </a:r>
            <a:r>
              <a:rPr lang="en-AU" sz="2400" b="1" i="0" dirty="0" smtClean="0">
                <a:solidFill>
                  <a:srgbClr val="444444"/>
                </a:solidFill>
                <a:effectLst/>
                <a:latin typeface="Arial" panose="020B0604020202020204" pitchFamily="34" charset="0"/>
              </a:rPr>
              <a:t>mechanical equivalent of heat.</a:t>
            </a:r>
            <a:endParaRPr lang="en-AU" sz="2400" b="0" i="0" dirty="0">
              <a:solidFill>
                <a:srgbClr val="444444"/>
              </a:solidFill>
              <a:effectLst/>
              <a:latin typeface="Arial" panose="020B0604020202020204" pitchFamily="34" charset="0"/>
            </a:endParaRPr>
          </a:p>
        </p:txBody>
      </p:sp>
      <p:pic>
        <p:nvPicPr>
          <p:cNvPr id="1026" name="Picture 2" descr="https://www.educationperfect.com/media/content/Science/1536709004.641941g/1536709002017-401267859427898-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7475" y="1839912"/>
            <a:ext cx="3810000" cy="3133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385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1200" y="2133938"/>
            <a:ext cx="10312400" cy="1938992"/>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In </a:t>
            </a:r>
            <a:r>
              <a:rPr lang="en-AU" sz="2400" b="1" i="0" dirty="0" smtClean="0">
                <a:solidFill>
                  <a:srgbClr val="00868B"/>
                </a:solidFill>
                <a:effectLst/>
                <a:latin typeface="Arial" panose="020B0604020202020204" pitchFamily="34" charset="0"/>
              </a:rPr>
              <a:t>thermodynamics, </a:t>
            </a:r>
            <a:r>
              <a:rPr lang="en-AU" sz="2400" b="1" i="0" dirty="0" smtClean="0">
                <a:solidFill>
                  <a:srgbClr val="444444"/>
                </a:solidFill>
                <a:effectLst/>
                <a:latin typeface="Arial" panose="020B0604020202020204" pitchFamily="34" charset="0"/>
              </a:rPr>
              <a:t>the </a:t>
            </a:r>
            <a:r>
              <a:rPr lang="en-AU" sz="2400" b="1" i="0" dirty="0" smtClean="0">
                <a:solidFill>
                  <a:srgbClr val="0066CC"/>
                </a:solidFill>
                <a:effectLst/>
                <a:latin typeface="Arial" panose="020B0604020202020204" pitchFamily="34" charset="0"/>
              </a:rPr>
              <a:t>work done by a system</a:t>
            </a:r>
            <a:r>
              <a:rPr lang="en-AU" sz="2400" b="1" i="0" dirty="0" smtClean="0">
                <a:solidFill>
                  <a:srgbClr val="444444"/>
                </a:solidFill>
                <a:effectLst/>
                <a:latin typeface="Arial" panose="020B0604020202020204" pitchFamily="34" charset="0"/>
              </a:rPr>
              <a:t> is described as the </a:t>
            </a:r>
            <a:r>
              <a:rPr lang="en-AU" sz="2400" b="1" i="0" dirty="0" smtClean="0">
                <a:solidFill>
                  <a:srgbClr val="F30277"/>
                </a:solidFill>
                <a:effectLst/>
                <a:latin typeface="Arial" panose="020B0604020202020204" pitchFamily="34" charset="0"/>
              </a:rPr>
              <a:t>energy transferred by the system to its surroundings.</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Even though there is no measurable force, a system with </a:t>
            </a:r>
            <a:r>
              <a:rPr lang="en-AU" sz="2400" b="1" i="0" dirty="0" smtClean="0">
                <a:solidFill>
                  <a:srgbClr val="F30277"/>
                </a:solidFill>
                <a:effectLst/>
                <a:latin typeface="Arial" panose="020B0604020202020204" pitchFamily="34" charset="0"/>
              </a:rPr>
              <a:t>thermal energy</a:t>
            </a:r>
            <a:r>
              <a:rPr lang="en-AU" sz="2400" b="0" i="0" dirty="0" smtClean="0">
                <a:solidFill>
                  <a:srgbClr val="444444"/>
                </a:solidFill>
                <a:effectLst/>
                <a:latin typeface="Arial" panose="020B0604020202020204" pitchFamily="34" charset="0"/>
              </a:rPr>
              <a:t> has the capacity to do </a:t>
            </a:r>
            <a:r>
              <a:rPr lang="en-AU" sz="2400" b="1" i="0" dirty="0" smtClean="0">
                <a:solidFill>
                  <a:srgbClr val="0066CC"/>
                </a:solidFill>
                <a:effectLst/>
                <a:latin typeface="Arial" panose="020B0604020202020204" pitchFamily="34" charset="0"/>
              </a:rPr>
              <a:t>mechanical work.</a:t>
            </a:r>
            <a:endParaRPr lang="en-AU" sz="2400"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4272901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1OFlW8OXN64"/>
          <p:cNvPicPr>
            <a:picLocks noRot="1" noChangeAspect="1"/>
          </p:cNvPicPr>
          <p:nvPr>
            <a:videoFile r:link="rId1"/>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464543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4000" y="250041"/>
            <a:ext cx="11709400" cy="4154984"/>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a:t>
            </a:r>
            <a:r>
              <a:rPr lang="en-AU" sz="2400" b="1" i="0" dirty="0" smtClean="0">
                <a:solidFill>
                  <a:srgbClr val="00B6EE"/>
                </a:solidFill>
                <a:effectLst/>
                <a:latin typeface="Arial" panose="020B0604020202020204" pitchFamily="34" charset="0"/>
              </a:rPr>
              <a:t>first law of thermodynamics.</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1" i="0" dirty="0" smtClean="0">
                <a:solidFill>
                  <a:srgbClr val="571A98"/>
                </a:solidFill>
                <a:effectLst/>
                <a:latin typeface="Arial" panose="020B0604020202020204" pitchFamily="34" charset="0"/>
              </a:rPr>
              <a:t>The law of conservation of energy</a:t>
            </a:r>
            <a:r>
              <a:rPr lang="en-AU" sz="2400" b="1" i="0" dirty="0" smtClean="0">
                <a:solidFill>
                  <a:srgbClr val="444444"/>
                </a:solidFill>
                <a:effectLst/>
                <a:latin typeface="Arial" panose="020B0604020202020204" pitchFamily="34" charset="0"/>
              </a:rPr>
              <a:t> </a:t>
            </a:r>
            <a:r>
              <a:rPr lang="en-AU" sz="2400" b="0" i="0" dirty="0" smtClean="0">
                <a:solidFill>
                  <a:srgbClr val="444444"/>
                </a:solidFill>
                <a:effectLst/>
                <a:latin typeface="Arial" panose="020B0604020202020204" pitchFamily="34" charset="0"/>
              </a:rPr>
              <a:t>states that in a closed system, </a:t>
            </a:r>
            <a:r>
              <a:rPr lang="en-AU" sz="2400" b="1" i="0" dirty="0" smtClean="0">
                <a:solidFill>
                  <a:srgbClr val="444444"/>
                </a:solidFill>
                <a:effectLst/>
                <a:latin typeface="Arial" panose="020B0604020202020204" pitchFamily="34" charset="0"/>
              </a:rPr>
              <a:t>energy can neither be created nor destroyed, but only transformed into different forms or transferred.</a:t>
            </a:r>
            <a:endParaRPr lang="en-AU" sz="2400" b="0"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 </a:t>
            </a:r>
            <a:r>
              <a:rPr lang="en-AU" sz="2400" b="1" i="0" dirty="0" smtClean="0">
                <a:solidFill>
                  <a:srgbClr val="00B6EE"/>
                </a:solidFill>
                <a:effectLst/>
                <a:latin typeface="Arial" panose="020B0604020202020204" pitchFamily="34" charset="0"/>
              </a:rPr>
              <a:t>first law of thermodynamics </a:t>
            </a:r>
            <a:r>
              <a:rPr lang="en-AU" sz="2400" b="0" i="0" dirty="0" smtClean="0">
                <a:solidFill>
                  <a:srgbClr val="010101"/>
                </a:solidFill>
                <a:effectLst/>
                <a:latin typeface="Arial" panose="020B0604020202020204" pitchFamily="34" charset="0"/>
              </a:rPr>
              <a:t>states that the change in internal energy </a:t>
            </a:r>
            <a:r>
              <a:rPr lang="en-AU" sz="2400" b="0" i="0" dirty="0" smtClean="0">
                <a:solidFill>
                  <a:srgbClr val="444444"/>
                </a:solidFill>
                <a:effectLst/>
                <a:latin typeface="KaTeX_Main"/>
              </a:rPr>
              <a:t>(ΔU)</a:t>
            </a:r>
            <a:r>
              <a:rPr lang="en-AU" sz="2400" b="0" i="0" dirty="0" smtClean="0">
                <a:solidFill>
                  <a:srgbClr val="444444"/>
                </a:solidFill>
                <a:effectLst/>
                <a:latin typeface="Arial" panose="020B0604020202020204" pitchFamily="34" charset="0"/>
              </a:rPr>
              <a:t> of a system equals the heat transferred between the system and its surroundings </a:t>
            </a:r>
            <a:r>
              <a:rPr lang="en-AU" sz="2400" b="0" i="0" dirty="0" smtClean="0">
                <a:solidFill>
                  <a:srgbClr val="444444"/>
                </a:solidFill>
                <a:effectLst/>
                <a:latin typeface="KaTeX_Main"/>
              </a:rPr>
              <a:t>(Q)</a:t>
            </a:r>
            <a:r>
              <a:rPr lang="en-AU" sz="2400" b="0" i="0" dirty="0" smtClean="0">
                <a:solidFill>
                  <a:srgbClr val="444444"/>
                </a:solidFill>
                <a:effectLst/>
                <a:latin typeface="Arial" panose="020B0604020202020204" pitchFamily="34" charset="0"/>
              </a:rPr>
              <a:t> plus the work done by or on the system </a:t>
            </a:r>
            <a:r>
              <a:rPr lang="en-AU" sz="2400" b="0" i="0" dirty="0" smtClean="0">
                <a:solidFill>
                  <a:srgbClr val="444444"/>
                </a:solidFill>
                <a:effectLst/>
                <a:latin typeface="KaTeX_Main"/>
              </a:rPr>
              <a:t>(W)</a:t>
            </a:r>
            <a:r>
              <a:rPr lang="en-AU" sz="2400" b="0" i="0" dirty="0" smtClean="0">
                <a:solidFill>
                  <a:srgbClr val="444444"/>
                </a:solidFill>
                <a:effectLst/>
                <a:latin typeface="Arial" panose="020B0604020202020204" pitchFamily="34" charset="0"/>
              </a:rPr>
              <a:t>.</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KaTeX_Main"/>
              </a:rPr>
              <a:t>ΔU=Q+W</a:t>
            </a:r>
            <a:endParaRPr lang="en-AU" sz="2400" b="0" i="0" dirty="0">
              <a:solidFill>
                <a:srgbClr val="444444"/>
              </a:solidFill>
              <a:effectLst/>
              <a:latin typeface="Arial" panose="020B0604020202020204" pitchFamily="34" charset="0"/>
            </a:endParaRPr>
          </a:p>
        </p:txBody>
      </p:sp>
      <p:pic>
        <p:nvPicPr>
          <p:cNvPr id="2050" name="Picture 2" descr="https://www.educationperfect.com/media/content/Science/1447709626.041741g/1447709635707-1511109538515014-optimis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2762" y="4343400"/>
            <a:ext cx="3571875" cy="251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77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1300" y="227043"/>
            <a:ext cx="11760200" cy="4893647"/>
          </a:xfrm>
          <a:prstGeom prst="rect">
            <a:avLst/>
          </a:prstGeom>
        </p:spPr>
        <p:txBody>
          <a:bodyPr wrap="square">
            <a:spAutoFit/>
          </a:bodyPr>
          <a:lstStyle/>
          <a:p>
            <a:pPr algn="ctr"/>
            <a:r>
              <a:rPr lang="en-AU" sz="2400" b="1" dirty="0" smtClean="0">
                <a:effectLst/>
                <a:latin typeface="Arial" panose="020B0604020202020204" pitchFamily="34" charset="0"/>
              </a:rPr>
              <a:t>So how does the </a:t>
            </a:r>
            <a:r>
              <a:rPr lang="en-AU" sz="2400" b="1" dirty="0" smtClean="0">
                <a:solidFill>
                  <a:srgbClr val="00868B"/>
                </a:solidFill>
                <a:effectLst/>
                <a:latin typeface="Arial" panose="020B0604020202020204" pitchFamily="34" charset="0"/>
              </a:rPr>
              <a:t>internal energy</a:t>
            </a:r>
            <a:r>
              <a:rPr lang="en-AU" sz="2400" b="1" dirty="0" smtClean="0">
                <a:effectLst/>
                <a:latin typeface="Arial" panose="020B0604020202020204" pitchFamily="34" charset="0"/>
              </a:rPr>
              <a:t> relate to the </a:t>
            </a:r>
            <a:r>
              <a:rPr lang="en-AU" sz="2400" b="1" dirty="0" smtClean="0">
                <a:solidFill>
                  <a:srgbClr val="571A98"/>
                </a:solidFill>
                <a:effectLst/>
                <a:latin typeface="Arial" panose="020B0604020202020204" pitchFamily="34" charset="0"/>
              </a:rPr>
              <a:t>law of conservation of energy?</a:t>
            </a:r>
            <a:endParaRPr lang="en-AU" sz="2400" b="1" dirty="0" smtClean="0">
              <a:effectLst/>
              <a:latin typeface="Arial" panose="020B0604020202020204" pitchFamily="34" charset="0"/>
            </a:endParaRPr>
          </a:p>
          <a:p>
            <a:pPr algn="ctr"/>
            <a:r>
              <a:rPr lang="en-AU" sz="2400" dirty="0" smtClean="0">
                <a:effectLst/>
              </a:rPr>
              <a:t> </a:t>
            </a:r>
          </a:p>
          <a:p>
            <a:pPr algn="ctr"/>
            <a:r>
              <a:rPr lang="en-AU" sz="2400" dirty="0" smtClean="0">
                <a:effectLst/>
              </a:rPr>
              <a:t>If a system is heated or work is done on a system, the </a:t>
            </a:r>
            <a:r>
              <a:rPr lang="en-AU" sz="2400" b="1" dirty="0" smtClean="0">
                <a:solidFill>
                  <a:srgbClr val="00868B"/>
                </a:solidFill>
                <a:effectLst/>
              </a:rPr>
              <a:t>internal energy</a:t>
            </a:r>
            <a:r>
              <a:rPr lang="en-AU" sz="2400" dirty="0" smtClean="0">
                <a:effectLst/>
              </a:rPr>
              <a:t> increases.</a:t>
            </a:r>
          </a:p>
          <a:p>
            <a:pPr algn="ctr"/>
            <a:r>
              <a:rPr lang="en-AU" sz="2400" dirty="0" smtClean="0">
                <a:effectLst/>
              </a:rPr>
              <a:t> </a:t>
            </a:r>
          </a:p>
          <a:p>
            <a:pPr algn="ctr"/>
            <a:r>
              <a:rPr lang="en-AU" sz="2400" dirty="0" smtClean="0">
                <a:effectLst/>
              </a:rPr>
              <a:t>Conversely, if a system loses heat or does work on the surroundings, the </a:t>
            </a:r>
            <a:r>
              <a:rPr lang="en-AU" sz="2400" b="1" dirty="0" smtClean="0">
                <a:solidFill>
                  <a:srgbClr val="00868B"/>
                </a:solidFill>
                <a:effectLst/>
              </a:rPr>
              <a:t>internal energy </a:t>
            </a:r>
            <a:r>
              <a:rPr lang="en-AU" sz="2400" dirty="0" smtClean="0">
                <a:effectLst/>
              </a:rPr>
              <a:t>decreases.</a:t>
            </a:r>
          </a:p>
          <a:p>
            <a:pPr algn="ctr"/>
            <a:r>
              <a:rPr lang="en-AU" sz="2400" dirty="0" smtClean="0">
                <a:effectLst/>
              </a:rPr>
              <a:t> </a:t>
            </a:r>
          </a:p>
          <a:p>
            <a:pPr algn="ctr"/>
            <a:r>
              <a:rPr lang="en-AU" sz="2400" dirty="0" smtClean="0">
                <a:effectLst/>
              </a:rPr>
              <a:t>In order for the</a:t>
            </a:r>
            <a:r>
              <a:rPr lang="en-AU" sz="2400" b="1" dirty="0" smtClean="0">
                <a:solidFill>
                  <a:srgbClr val="571A98"/>
                </a:solidFill>
                <a:effectLst/>
              </a:rPr>
              <a:t> law of conservation of energy</a:t>
            </a:r>
            <a:r>
              <a:rPr lang="en-AU" sz="2400" dirty="0" smtClean="0">
                <a:effectLst/>
              </a:rPr>
              <a:t> to be true, the </a:t>
            </a:r>
            <a:r>
              <a:rPr lang="en-AU" sz="2400" b="1" dirty="0" smtClean="0">
                <a:effectLst/>
              </a:rPr>
              <a:t>total energy change must sum to zero.</a:t>
            </a:r>
            <a:r>
              <a:rPr lang="en-AU" sz="2400" dirty="0" smtClean="0">
                <a:effectLst/>
              </a:rPr>
              <a:t> Therefore, if energy is lost by the system, it is gained by the surroundings. If energy is gained by the system, it is lost from the surroundings.</a:t>
            </a:r>
          </a:p>
          <a:p>
            <a:pPr algn="ctr"/>
            <a:r>
              <a:rPr lang="en-AU" sz="2400" dirty="0" smtClean="0">
                <a:effectLst/>
              </a:rPr>
              <a:t> </a:t>
            </a:r>
          </a:p>
          <a:p>
            <a:pPr algn="ctr"/>
            <a:r>
              <a:rPr lang="en-AU" sz="2400" dirty="0" err="1" smtClean="0">
                <a:effectLst/>
                <a:latin typeface="KaTeX_Main"/>
              </a:rPr>
              <a:t>ΔU</a:t>
            </a:r>
            <a:r>
              <a:rPr lang="en-AU" sz="2400" baseline="-25000" dirty="0" err="1" smtClean="0">
                <a:effectLst/>
                <a:latin typeface="KaTeX_Main"/>
              </a:rPr>
              <a:t>system</a:t>
            </a:r>
            <a:r>
              <a:rPr lang="en-AU" sz="2400" dirty="0" smtClean="0">
                <a:effectLst/>
                <a:latin typeface="KaTeX_Main"/>
              </a:rPr>
              <a:t>​=−</a:t>
            </a:r>
            <a:r>
              <a:rPr lang="en-AU" sz="2400" dirty="0" err="1" smtClean="0">
                <a:effectLst/>
                <a:latin typeface="KaTeX_Main"/>
              </a:rPr>
              <a:t>ΔU</a:t>
            </a:r>
            <a:r>
              <a:rPr lang="en-AU" sz="2400" b="0" i="0" baseline="-25000" dirty="0" err="1" smtClean="0">
                <a:solidFill>
                  <a:srgbClr val="444444"/>
                </a:solidFill>
                <a:effectLst/>
                <a:latin typeface="KaTeX_Main"/>
              </a:rPr>
              <a:t>surroundings</a:t>
            </a:r>
            <a:r>
              <a:rPr lang="en-AU" sz="2400" b="0" i="0" baseline="-25000" dirty="0" smtClean="0">
                <a:solidFill>
                  <a:srgbClr val="444444"/>
                </a:solidFill>
                <a:effectLst/>
                <a:latin typeface="KaTeX_Main"/>
              </a:rPr>
              <a:t>​</a:t>
            </a:r>
            <a:r>
              <a:rPr lang="en-AU" sz="2400" b="0" i="0" dirty="0" smtClean="0">
                <a:solidFill>
                  <a:srgbClr val="444444"/>
                </a:solidFill>
                <a:effectLst/>
                <a:latin typeface="KaTeX_Main"/>
              </a:rPr>
              <a:t/>
            </a:r>
            <a:br>
              <a:rPr lang="en-AU" sz="2400" b="0" i="0" dirty="0" smtClean="0">
                <a:solidFill>
                  <a:srgbClr val="444444"/>
                </a:solidFill>
                <a:effectLst/>
                <a:latin typeface="KaTeX_Main"/>
              </a:rPr>
            </a:br>
            <a:endParaRPr lang="en-AU" sz="2400" dirty="0"/>
          </a:p>
        </p:txBody>
      </p:sp>
    </p:spTree>
    <p:extLst>
      <p:ext uri="{BB962C8B-B14F-4D97-AF65-F5344CB8AC3E}">
        <p14:creationId xmlns:p14="http://schemas.microsoft.com/office/powerpoint/2010/main" val="4159682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6400" y="129739"/>
            <a:ext cx="11569700" cy="2677656"/>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A steam engine is an example of how </a:t>
            </a:r>
            <a:r>
              <a:rPr lang="en-AU" sz="2400" b="1" i="0" dirty="0" smtClean="0">
                <a:solidFill>
                  <a:srgbClr val="F30277"/>
                </a:solidFill>
                <a:effectLst/>
                <a:latin typeface="Arial" panose="020B0604020202020204" pitchFamily="34" charset="0"/>
              </a:rPr>
              <a:t>thermal energy</a:t>
            </a:r>
            <a:r>
              <a:rPr lang="en-AU" sz="2400" b="1" i="0" dirty="0" smtClean="0">
                <a:solidFill>
                  <a:srgbClr val="444444"/>
                </a:solidFill>
                <a:effectLst/>
                <a:latin typeface="Arial" panose="020B0604020202020204" pitchFamily="34" charset="0"/>
              </a:rPr>
              <a:t> can be used to do </a:t>
            </a:r>
            <a:r>
              <a:rPr lang="en-AU" sz="2400" b="1" i="0" dirty="0" smtClean="0">
                <a:solidFill>
                  <a:srgbClr val="0066CC"/>
                </a:solidFill>
                <a:effectLst/>
                <a:latin typeface="Arial" panose="020B0604020202020204" pitchFamily="34" charset="0"/>
              </a:rPr>
              <a:t>mechanical work.</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In a steam engine, water is heated and turns to steam. As it vaporises, it occupies a much larger volume than the liquid, which increases the pressure. This high pressure steam is used to move pistons back and forth and this movement can be used, for example to turn the wheels on a train.</a:t>
            </a:r>
            <a:endParaRPr lang="en-AU" sz="2400" b="0" i="0" dirty="0">
              <a:solidFill>
                <a:srgbClr val="444444"/>
              </a:solidFill>
              <a:effectLst/>
              <a:latin typeface="Arial" panose="020B0604020202020204" pitchFamily="34" charset="0"/>
            </a:endParaRPr>
          </a:p>
        </p:txBody>
      </p:sp>
      <p:pic>
        <p:nvPicPr>
          <p:cNvPr id="3" name="1509319667.7106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365500" y="3648074"/>
            <a:ext cx="5257800" cy="2661761"/>
          </a:xfrm>
          <a:prstGeom prst="rect">
            <a:avLst/>
          </a:prstGeom>
        </p:spPr>
      </p:pic>
    </p:spTree>
    <p:extLst>
      <p:ext uri="{BB962C8B-B14F-4D97-AF65-F5344CB8AC3E}">
        <p14:creationId xmlns:p14="http://schemas.microsoft.com/office/powerpoint/2010/main" val="2039921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3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Words>
  <Application>Microsoft Office PowerPoint</Application>
  <PresentationFormat>Widescreen</PresentationFormat>
  <Paragraphs>42</Paragraphs>
  <Slides>9</Slides>
  <Notes>0</Notes>
  <HiddenSlides>0</HiddenSlides>
  <MMClips>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KaTeX_Main</vt:lpstr>
      <vt:lpstr>Office Theme</vt:lpstr>
      <vt:lpstr>Mechanical 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Mechanical Work</dc:title>
  <dc:creator>Joseph D'cruz</dc:creator>
  <cp:lastModifiedBy>Joseph D'cruz</cp:lastModifiedBy>
  <cp:revision>1</cp:revision>
  <dcterms:created xsi:type="dcterms:W3CDTF">2020-07-14T06:54:43Z</dcterms:created>
  <dcterms:modified xsi:type="dcterms:W3CDTF">2020-07-14T06:54:58Z</dcterms:modified>
</cp:coreProperties>
</file>
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9" r:id="rId24"/>
    <p:sldId id="280" r:id="rId25"/>
    <p:sldId id="281" r:id="rId26"/>
    <p:sldId id="282" r:id="rId27"/>
    <p:sldId id="283" r:id="rId28"/>
    <p:sldId id="278" r:id="rId2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0016" autoAdjust="0"/>
    <p:restoredTop sz="94660"/>
  </p:normalViewPr>
  <p:slideViewPr>
    <p:cSldViewPr snapToGrid="0">
      <p:cViewPr varScale="1">
        <p:scale>
          <a:sx n="76" d="100"/>
          <a:sy n="76" d="100"/>
        </p:scale>
        <p:origin x="126" y="79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AU"/>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AU"/>
          </a:p>
        </p:txBody>
      </p:sp>
      <p:sp>
        <p:nvSpPr>
          <p:cNvPr id="4" name="Date Placeholder 3"/>
          <p:cNvSpPr>
            <a:spLocks noGrp="1"/>
          </p:cNvSpPr>
          <p:nvPr>
            <p:ph type="dt" sz="half" idx="10"/>
          </p:nvPr>
        </p:nvSpPr>
        <p:spPr/>
        <p:txBody>
          <a:bodyPr/>
          <a:lstStyle/>
          <a:p>
            <a:fld id="{B70A5AC5-0A35-4396-A251-00B5C1657DB5}" type="datetimeFigureOut">
              <a:rPr lang="en-AU" smtClean="0"/>
              <a:t>3/04/2021</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CEAEFA8F-2B18-4ECC-81E4-56F19676E4EC}" type="slidenum">
              <a:rPr lang="en-AU" smtClean="0"/>
              <a:t>‹#›</a:t>
            </a:fld>
            <a:endParaRPr lang="en-AU"/>
          </a:p>
        </p:txBody>
      </p:sp>
    </p:spTree>
    <p:extLst>
      <p:ext uri="{BB962C8B-B14F-4D97-AF65-F5344CB8AC3E}">
        <p14:creationId xmlns:p14="http://schemas.microsoft.com/office/powerpoint/2010/main" val="309526246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10"/>
          </p:nvPr>
        </p:nvSpPr>
        <p:spPr/>
        <p:txBody>
          <a:bodyPr/>
          <a:lstStyle/>
          <a:p>
            <a:fld id="{B70A5AC5-0A35-4396-A251-00B5C1657DB5}" type="datetimeFigureOut">
              <a:rPr lang="en-AU" smtClean="0"/>
              <a:t>3/04/2021</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CEAEFA8F-2B18-4ECC-81E4-56F19676E4EC}" type="slidenum">
              <a:rPr lang="en-AU" smtClean="0"/>
              <a:t>‹#›</a:t>
            </a:fld>
            <a:endParaRPr lang="en-AU"/>
          </a:p>
        </p:txBody>
      </p:sp>
    </p:spTree>
    <p:extLst>
      <p:ext uri="{BB962C8B-B14F-4D97-AF65-F5344CB8AC3E}">
        <p14:creationId xmlns:p14="http://schemas.microsoft.com/office/powerpoint/2010/main" val="194866466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AU"/>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B70A5AC5-0A35-4396-A251-00B5C1657DB5}" type="datetimeFigureOut">
              <a:rPr lang="en-AU" smtClean="0"/>
              <a:t>3/04/2021</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CEAEFA8F-2B18-4ECC-81E4-56F19676E4EC}" type="slidenum">
              <a:rPr lang="en-AU" smtClean="0"/>
              <a:t>‹#›</a:t>
            </a:fld>
            <a:endParaRPr lang="en-AU"/>
          </a:p>
        </p:txBody>
      </p:sp>
    </p:spTree>
    <p:extLst>
      <p:ext uri="{BB962C8B-B14F-4D97-AF65-F5344CB8AC3E}">
        <p14:creationId xmlns:p14="http://schemas.microsoft.com/office/powerpoint/2010/main" val="29157963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5" name="Date Placeholder 4"/>
          <p:cNvSpPr>
            <a:spLocks noGrp="1"/>
          </p:cNvSpPr>
          <p:nvPr>
            <p:ph type="dt" sz="half" idx="10"/>
          </p:nvPr>
        </p:nvSpPr>
        <p:spPr/>
        <p:txBody>
          <a:bodyPr/>
          <a:lstStyle/>
          <a:p>
            <a:fld id="{B70A5AC5-0A35-4396-A251-00B5C1657DB5}" type="datetimeFigureOut">
              <a:rPr lang="en-AU" smtClean="0"/>
              <a:t>3/04/2021</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CEAEFA8F-2B18-4ECC-81E4-56F19676E4EC}" type="slidenum">
              <a:rPr lang="en-AU" smtClean="0"/>
              <a:t>‹#›</a:t>
            </a:fld>
            <a:endParaRPr lang="en-AU"/>
          </a:p>
        </p:txBody>
      </p:sp>
    </p:spTree>
    <p:extLst>
      <p:ext uri="{BB962C8B-B14F-4D97-AF65-F5344CB8AC3E}">
        <p14:creationId xmlns:p14="http://schemas.microsoft.com/office/powerpoint/2010/main" val="73298173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AU"/>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7" name="Date Placeholder 6"/>
          <p:cNvSpPr>
            <a:spLocks noGrp="1"/>
          </p:cNvSpPr>
          <p:nvPr>
            <p:ph type="dt" sz="half" idx="10"/>
          </p:nvPr>
        </p:nvSpPr>
        <p:spPr/>
        <p:txBody>
          <a:bodyPr/>
          <a:lstStyle/>
          <a:p>
            <a:fld id="{B70A5AC5-0A35-4396-A251-00B5C1657DB5}" type="datetimeFigureOut">
              <a:rPr lang="en-AU" smtClean="0"/>
              <a:t>3/04/2021</a:t>
            </a:fld>
            <a:endParaRPr lang="en-AU"/>
          </a:p>
        </p:txBody>
      </p:sp>
      <p:sp>
        <p:nvSpPr>
          <p:cNvPr id="8" name="Footer Placeholder 7"/>
          <p:cNvSpPr>
            <a:spLocks noGrp="1"/>
          </p:cNvSpPr>
          <p:nvPr>
            <p:ph type="ftr" sz="quarter" idx="11"/>
          </p:nvPr>
        </p:nvSpPr>
        <p:spPr/>
        <p:txBody>
          <a:bodyPr/>
          <a:lstStyle/>
          <a:p>
            <a:endParaRPr lang="en-AU"/>
          </a:p>
        </p:txBody>
      </p:sp>
      <p:sp>
        <p:nvSpPr>
          <p:cNvPr id="9" name="Slide Number Placeholder 8"/>
          <p:cNvSpPr>
            <a:spLocks noGrp="1"/>
          </p:cNvSpPr>
          <p:nvPr>
            <p:ph type="sldNum" sz="quarter" idx="12"/>
          </p:nvPr>
        </p:nvSpPr>
        <p:spPr/>
        <p:txBody>
          <a:bodyPr/>
          <a:lstStyle/>
          <a:p>
            <a:fld id="{CEAEFA8F-2B18-4ECC-81E4-56F19676E4EC}" type="slidenum">
              <a:rPr lang="en-AU" smtClean="0"/>
              <a:t>‹#›</a:t>
            </a:fld>
            <a:endParaRPr lang="en-AU"/>
          </a:p>
        </p:txBody>
      </p:sp>
    </p:spTree>
    <p:extLst>
      <p:ext uri="{BB962C8B-B14F-4D97-AF65-F5344CB8AC3E}">
        <p14:creationId xmlns:p14="http://schemas.microsoft.com/office/powerpoint/2010/main" val="376661825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Date Placeholder 2"/>
          <p:cNvSpPr>
            <a:spLocks noGrp="1"/>
          </p:cNvSpPr>
          <p:nvPr>
            <p:ph type="dt" sz="half" idx="10"/>
          </p:nvPr>
        </p:nvSpPr>
        <p:spPr/>
        <p:txBody>
          <a:bodyPr/>
          <a:lstStyle/>
          <a:p>
            <a:fld id="{B70A5AC5-0A35-4396-A251-00B5C1657DB5}" type="datetimeFigureOut">
              <a:rPr lang="en-AU" smtClean="0"/>
              <a:t>3/04/2021</a:t>
            </a:fld>
            <a:endParaRPr lang="en-AU"/>
          </a:p>
        </p:txBody>
      </p:sp>
      <p:sp>
        <p:nvSpPr>
          <p:cNvPr id="4" name="Footer Placeholder 3"/>
          <p:cNvSpPr>
            <a:spLocks noGrp="1"/>
          </p:cNvSpPr>
          <p:nvPr>
            <p:ph type="ftr" sz="quarter" idx="11"/>
          </p:nvPr>
        </p:nvSpPr>
        <p:spPr/>
        <p:txBody>
          <a:bodyPr/>
          <a:lstStyle/>
          <a:p>
            <a:endParaRPr lang="en-AU"/>
          </a:p>
        </p:txBody>
      </p:sp>
      <p:sp>
        <p:nvSpPr>
          <p:cNvPr id="5" name="Slide Number Placeholder 4"/>
          <p:cNvSpPr>
            <a:spLocks noGrp="1"/>
          </p:cNvSpPr>
          <p:nvPr>
            <p:ph type="sldNum" sz="quarter" idx="12"/>
          </p:nvPr>
        </p:nvSpPr>
        <p:spPr/>
        <p:txBody>
          <a:bodyPr/>
          <a:lstStyle/>
          <a:p>
            <a:fld id="{CEAEFA8F-2B18-4ECC-81E4-56F19676E4EC}" type="slidenum">
              <a:rPr lang="en-AU" smtClean="0"/>
              <a:t>‹#›</a:t>
            </a:fld>
            <a:endParaRPr lang="en-AU"/>
          </a:p>
        </p:txBody>
      </p:sp>
    </p:spTree>
    <p:extLst>
      <p:ext uri="{BB962C8B-B14F-4D97-AF65-F5344CB8AC3E}">
        <p14:creationId xmlns:p14="http://schemas.microsoft.com/office/powerpoint/2010/main" val="81784914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70A5AC5-0A35-4396-A251-00B5C1657DB5}" type="datetimeFigureOut">
              <a:rPr lang="en-AU" smtClean="0"/>
              <a:t>3/04/2021</a:t>
            </a:fld>
            <a:endParaRPr lang="en-AU"/>
          </a:p>
        </p:txBody>
      </p:sp>
      <p:sp>
        <p:nvSpPr>
          <p:cNvPr id="3" name="Footer Placeholder 2"/>
          <p:cNvSpPr>
            <a:spLocks noGrp="1"/>
          </p:cNvSpPr>
          <p:nvPr>
            <p:ph type="ftr" sz="quarter" idx="11"/>
          </p:nvPr>
        </p:nvSpPr>
        <p:spPr/>
        <p:txBody>
          <a:bodyPr/>
          <a:lstStyle/>
          <a:p>
            <a:endParaRPr lang="en-AU"/>
          </a:p>
        </p:txBody>
      </p:sp>
      <p:sp>
        <p:nvSpPr>
          <p:cNvPr id="4" name="Slide Number Placeholder 3"/>
          <p:cNvSpPr>
            <a:spLocks noGrp="1"/>
          </p:cNvSpPr>
          <p:nvPr>
            <p:ph type="sldNum" sz="quarter" idx="12"/>
          </p:nvPr>
        </p:nvSpPr>
        <p:spPr/>
        <p:txBody>
          <a:bodyPr/>
          <a:lstStyle/>
          <a:p>
            <a:fld id="{CEAEFA8F-2B18-4ECC-81E4-56F19676E4EC}" type="slidenum">
              <a:rPr lang="en-AU" smtClean="0"/>
              <a:t>‹#›</a:t>
            </a:fld>
            <a:endParaRPr lang="en-AU"/>
          </a:p>
        </p:txBody>
      </p:sp>
    </p:spTree>
    <p:extLst>
      <p:ext uri="{BB962C8B-B14F-4D97-AF65-F5344CB8AC3E}">
        <p14:creationId xmlns:p14="http://schemas.microsoft.com/office/powerpoint/2010/main" val="381709791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AU"/>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B70A5AC5-0A35-4396-A251-00B5C1657DB5}" type="datetimeFigureOut">
              <a:rPr lang="en-AU" smtClean="0"/>
              <a:t>3/04/2021</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CEAEFA8F-2B18-4ECC-81E4-56F19676E4EC}" type="slidenum">
              <a:rPr lang="en-AU" smtClean="0"/>
              <a:t>‹#›</a:t>
            </a:fld>
            <a:endParaRPr lang="en-AU"/>
          </a:p>
        </p:txBody>
      </p:sp>
    </p:spTree>
    <p:extLst>
      <p:ext uri="{BB962C8B-B14F-4D97-AF65-F5344CB8AC3E}">
        <p14:creationId xmlns:p14="http://schemas.microsoft.com/office/powerpoint/2010/main" val="235593118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AU"/>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AU"/>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B70A5AC5-0A35-4396-A251-00B5C1657DB5}" type="datetimeFigureOut">
              <a:rPr lang="en-AU" smtClean="0"/>
              <a:t>3/04/2021</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CEAEFA8F-2B18-4ECC-81E4-56F19676E4EC}" type="slidenum">
              <a:rPr lang="en-AU" smtClean="0"/>
              <a:t>‹#›</a:t>
            </a:fld>
            <a:endParaRPr lang="en-AU"/>
          </a:p>
        </p:txBody>
      </p:sp>
    </p:spTree>
    <p:extLst>
      <p:ext uri="{BB962C8B-B14F-4D97-AF65-F5344CB8AC3E}">
        <p14:creationId xmlns:p14="http://schemas.microsoft.com/office/powerpoint/2010/main" val="136741337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10"/>
          </p:nvPr>
        </p:nvSpPr>
        <p:spPr/>
        <p:txBody>
          <a:bodyPr/>
          <a:lstStyle/>
          <a:p>
            <a:fld id="{B70A5AC5-0A35-4396-A251-00B5C1657DB5}" type="datetimeFigureOut">
              <a:rPr lang="en-AU" smtClean="0"/>
              <a:t>3/04/2021</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CEAEFA8F-2B18-4ECC-81E4-56F19676E4EC}" type="slidenum">
              <a:rPr lang="en-AU" smtClean="0"/>
              <a:t>‹#›</a:t>
            </a:fld>
            <a:endParaRPr lang="en-AU"/>
          </a:p>
        </p:txBody>
      </p:sp>
    </p:spTree>
    <p:extLst>
      <p:ext uri="{BB962C8B-B14F-4D97-AF65-F5344CB8AC3E}">
        <p14:creationId xmlns:p14="http://schemas.microsoft.com/office/powerpoint/2010/main" val="418619358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AU"/>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10"/>
          </p:nvPr>
        </p:nvSpPr>
        <p:spPr/>
        <p:txBody>
          <a:bodyPr/>
          <a:lstStyle/>
          <a:p>
            <a:fld id="{B70A5AC5-0A35-4396-A251-00B5C1657DB5}" type="datetimeFigureOut">
              <a:rPr lang="en-AU" smtClean="0"/>
              <a:t>3/04/2021</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CEAEFA8F-2B18-4ECC-81E4-56F19676E4EC}" type="slidenum">
              <a:rPr lang="en-AU" smtClean="0"/>
              <a:t>‹#›</a:t>
            </a:fld>
            <a:endParaRPr lang="en-AU"/>
          </a:p>
        </p:txBody>
      </p:sp>
    </p:spTree>
    <p:extLst>
      <p:ext uri="{BB962C8B-B14F-4D97-AF65-F5344CB8AC3E}">
        <p14:creationId xmlns:p14="http://schemas.microsoft.com/office/powerpoint/2010/main" val="143710319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AU"/>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70A5AC5-0A35-4396-A251-00B5C1657DB5}" type="datetimeFigureOut">
              <a:rPr lang="en-AU" smtClean="0"/>
              <a:t>3/04/2021</a:t>
            </a:fld>
            <a:endParaRPr lang="en-AU"/>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AU"/>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EAEFA8F-2B18-4ECC-81E4-56F19676E4EC}" type="slidenum">
              <a:rPr lang="en-AU" smtClean="0"/>
              <a:t>‹#›</a:t>
            </a:fld>
            <a:endParaRPr lang="en-AU"/>
          </a:p>
        </p:txBody>
      </p:sp>
    </p:spTree>
    <p:extLst>
      <p:ext uri="{BB962C8B-B14F-4D97-AF65-F5344CB8AC3E}">
        <p14:creationId xmlns:p14="http://schemas.microsoft.com/office/powerpoint/2010/main" val="379610506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6.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AU" dirty="0" smtClean="0"/>
              <a:t>Kirchhoff’s </a:t>
            </a:r>
            <a:r>
              <a:rPr lang="en-AU" dirty="0" smtClean="0"/>
              <a:t>Curren</a:t>
            </a:r>
            <a:r>
              <a:rPr lang="en-AU" dirty="0" smtClean="0"/>
              <a:t>t </a:t>
            </a:r>
            <a:r>
              <a:rPr lang="en-AU" dirty="0" smtClean="0"/>
              <a:t>Law</a:t>
            </a:r>
            <a:endParaRPr lang="en-AU" dirty="0"/>
          </a:p>
        </p:txBody>
      </p:sp>
      <p:sp>
        <p:nvSpPr>
          <p:cNvPr id="3" name="Subtitle 2"/>
          <p:cNvSpPr>
            <a:spLocks noGrp="1"/>
          </p:cNvSpPr>
          <p:nvPr>
            <p:ph type="subTitle" idx="1"/>
          </p:nvPr>
        </p:nvSpPr>
        <p:spPr/>
        <p:txBody>
          <a:bodyPr/>
          <a:lstStyle/>
          <a:p>
            <a:endParaRPr lang="en-AU"/>
          </a:p>
        </p:txBody>
      </p:sp>
    </p:spTree>
    <p:extLst>
      <p:ext uri="{BB962C8B-B14F-4D97-AF65-F5344CB8AC3E}">
        <p14:creationId xmlns:p14="http://schemas.microsoft.com/office/powerpoint/2010/main" val="386908555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054100" y="619036"/>
            <a:ext cx="9893300" cy="923330"/>
          </a:xfrm>
          <a:prstGeom prst="rect">
            <a:avLst/>
          </a:prstGeom>
        </p:spPr>
        <p:txBody>
          <a:bodyPr wrap="square">
            <a:spAutoFit/>
          </a:bodyPr>
          <a:lstStyle/>
          <a:p>
            <a:r>
              <a:rPr lang="en-AU" dirty="0">
                <a:solidFill>
                  <a:srgbClr val="444444"/>
                </a:solidFill>
                <a:latin typeface="Arial" panose="020B0604020202020204" pitchFamily="34" charset="0"/>
              </a:rPr>
              <a:t>By the end of this lesson, you will be able to:</a:t>
            </a:r>
          </a:p>
          <a:p>
            <a:pPr>
              <a:buFont typeface="Arial" panose="020B0604020202020204" pitchFamily="34" charset="0"/>
              <a:buChar char="•"/>
            </a:pPr>
            <a:r>
              <a:rPr lang="en-AU" b="1" dirty="0">
                <a:solidFill>
                  <a:srgbClr val="3BA486"/>
                </a:solidFill>
                <a:latin typeface="Arial" panose="020B0604020202020204" pitchFamily="34" charset="0"/>
              </a:rPr>
              <a:t>Describe </a:t>
            </a:r>
            <a:r>
              <a:rPr lang="en-AU" dirty="0">
                <a:solidFill>
                  <a:srgbClr val="444444"/>
                </a:solidFill>
                <a:latin typeface="Arial" panose="020B0604020202020204" pitchFamily="34" charset="0"/>
              </a:rPr>
              <a:t>Kirchhoff’s current law.</a:t>
            </a:r>
          </a:p>
          <a:p>
            <a:pPr>
              <a:buFont typeface="Arial" panose="020B0604020202020204" pitchFamily="34" charset="0"/>
              <a:buChar char="•"/>
            </a:pPr>
            <a:r>
              <a:rPr lang="en-AU" b="1" dirty="0">
                <a:solidFill>
                  <a:srgbClr val="0066CC"/>
                </a:solidFill>
                <a:latin typeface="Arial" panose="020B0604020202020204" pitchFamily="34" charset="0"/>
              </a:rPr>
              <a:t>Calculate</a:t>
            </a:r>
            <a:r>
              <a:rPr lang="en-AU" dirty="0">
                <a:solidFill>
                  <a:srgbClr val="444444"/>
                </a:solidFill>
                <a:latin typeface="Arial" panose="020B0604020202020204" pitchFamily="34" charset="0"/>
              </a:rPr>
              <a:t> the current in one branch of a circuit </a:t>
            </a:r>
            <a:r>
              <a:rPr lang="en-AU" b="1" dirty="0">
                <a:solidFill>
                  <a:srgbClr val="B1067D"/>
                </a:solidFill>
                <a:latin typeface="Arial" panose="020B0604020202020204" pitchFamily="34" charset="0"/>
              </a:rPr>
              <a:t>using Kirchhoff’s current law.</a:t>
            </a:r>
            <a:r>
              <a:rPr lang="en-AU" dirty="0">
                <a:solidFill>
                  <a:srgbClr val="444444"/>
                </a:solidFill>
                <a:latin typeface="Arial" panose="020B0604020202020204" pitchFamily="34" charset="0"/>
              </a:rPr>
              <a:t> </a:t>
            </a:r>
            <a:endParaRPr lang="en-AU" b="0" i="0" dirty="0">
              <a:solidFill>
                <a:srgbClr val="444444"/>
              </a:solidFill>
              <a:effectLst/>
              <a:latin typeface="Arial" panose="020B0604020202020204" pitchFamily="34" charset="0"/>
            </a:endParaRPr>
          </a:p>
        </p:txBody>
      </p:sp>
      <p:pic>
        <p:nvPicPr>
          <p:cNvPr id="1026" name="Picture 2" descr="https://www.educationperfect.com/media/content/Science/1605152011.10212161g/1605152029710-4388964832820972.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54362" y="2771994"/>
            <a:ext cx="5692775" cy="379708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4562293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577628" y="577334"/>
            <a:ext cx="4496744" cy="369332"/>
          </a:xfrm>
          <a:prstGeom prst="rect">
            <a:avLst/>
          </a:prstGeom>
        </p:spPr>
        <p:txBody>
          <a:bodyPr wrap="none">
            <a:spAutoFit/>
          </a:bodyPr>
          <a:lstStyle/>
          <a:p>
            <a:pPr algn="ctr"/>
            <a:r>
              <a:rPr lang="en-AU" b="1" dirty="0">
                <a:solidFill>
                  <a:srgbClr val="444444"/>
                </a:solidFill>
                <a:latin typeface="Arial" panose="020B0604020202020204" pitchFamily="34" charset="0"/>
              </a:rPr>
              <a:t>Introduction to </a:t>
            </a:r>
            <a:r>
              <a:rPr lang="en-AU" b="1" dirty="0">
                <a:solidFill>
                  <a:srgbClr val="B1067D"/>
                </a:solidFill>
                <a:latin typeface="Arial" panose="020B0604020202020204" pitchFamily="34" charset="0"/>
              </a:rPr>
              <a:t>Kirchhoff's Current Law</a:t>
            </a:r>
            <a:endParaRPr lang="en-AU" b="0" i="0" dirty="0">
              <a:solidFill>
                <a:srgbClr val="444444"/>
              </a:solidFill>
              <a:effectLst/>
              <a:latin typeface="Arial" panose="020B0604020202020204" pitchFamily="34" charset="0"/>
            </a:endParaRPr>
          </a:p>
        </p:txBody>
      </p:sp>
      <p:sp>
        <p:nvSpPr>
          <p:cNvPr id="3" name="Rectangle 2"/>
          <p:cNvSpPr/>
          <p:nvPr/>
        </p:nvSpPr>
        <p:spPr>
          <a:xfrm>
            <a:off x="419100" y="1243737"/>
            <a:ext cx="9563100" cy="1200329"/>
          </a:xfrm>
          <a:prstGeom prst="rect">
            <a:avLst/>
          </a:prstGeom>
        </p:spPr>
        <p:txBody>
          <a:bodyPr wrap="square">
            <a:spAutoFit/>
          </a:bodyPr>
          <a:lstStyle/>
          <a:p>
            <a:pPr algn="ctr"/>
            <a:r>
              <a:rPr lang="en-AU" dirty="0">
                <a:solidFill>
                  <a:srgbClr val="444444"/>
                </a:solidFill>
                <a:latin typeface="Arial" panose="020B0604020202020204" pitchFamily="34" charset="0"/>
              </a:rPr>
              <a:t> </a:t>
            </a:r>
          </a:p>
          <a:p>
            <a:r>
              <a:rPr lang="en-AU" dirty="0">
                <a:solidFill>
                  <a:srgbClr val="444444"/>
                </a:solidFill>
                <a:latin typeface="Arial" panose="020B0604020202020204" pitchFamily="34" charset="0"/>
              </a:rPr>
              <a:t>Gustav Kirchhoff was a </a:t>
            </a:r>
            <a:r>
              <a:rPr lang="en-AU" b="1" dirty="0">
                <a:solidFill>
                  <a:srgbClr val="0066CC"/>
                </a:solidFill>
                <a:latin typeface="Arial" panose="020B0604020202020204" pitchFamily="34" charset="0"/>
              </a:rPr>
              <a:t>German physicist</a:t>
            </a:r>
            <a:r>
              <a:rPr lang="en-AU" dirty="0">
                <a:solidFill>
                  <a:srgbClr val="444444"/>
                </a:solidFill>
                <a:latin typeface="Arial" panose="020B0604020202020204" pitchFamily="34" charset="0"/>
              </a:rPr>
              <a:t> who dedicated his life to research in spectroscopy, radiation, thermochemistry and </a:t>
            </a:r>
            <a:r>
              <a:rPr lang="en-AU" b="1" dirty="0">
                <a:solidFill>
                  <a:srgbClr val="3BA486"/>
                </a:solidFill>
                <a:latin typeface="Arial" panose="020B0604020202020204" pitchFamily="34" charset="0"/>
              </a:rPr>
              <a:t>electrical circuits.</a:t>
            </a:r>
            <a:r>
              <a:rPr lang="en-AU" dirty="0">
                <a:solidFill>
                  <a:srgbClr val="444444"/>
                </a:solidFill>
                <a:latin typeface="Arial" panose="020B0604020202020204" pitchFamily="34" charset="0"/>
              </a:rPr>
              <a:t> In 1845, he invented </a:t>
            </a:r>
            <a:r>
              <a:rPr lang="en-AU" b="1" dirty="0">
                <a:solidFill>
                  <a:srgbClr val="B1067D"/>
                </a:solidFill>
                <a:latin typeface="Arial" panose="020B0604020202020204" pitchFamily="34" charset="0"/>
              </a:rPr>
              <a:t>Kirchhoff’s current</a:t>
            </a:r>
            <a:r>
              <a:rPr lang="en-AU" dirty="0">
                <a:solidFill>
                  <a:srgbClr val="444444"/>
                </a:solidFill>
                <a:latin typeface="Arial" panose="020B0604020202020204" pitchFamily="34" charset="0"/>
              </a:rPr>
              <a:t> </a:t>
            </a:r>
            <a:r>
              <a:rPr lang="en-AU" b="1" dirty="0">
                <a:solidFill>
                  <a:srgbClr val="B1067D"/>
                </a:solidFill>
                <a:latin typeface="Arial" panose="020B0604020202020204" pitchFamily="34" charset="0"/>
              </a:rPr>
              <a:t>law</a:t>
            </a:r>
            <a:r>
              <a:rPr lang="en-AU" dirty="0">
                <a:solidFill>
                  <a:srgbClr val="444444"/>
                </a:solidFill>
                <a:latin typeface="Arial" panose="020B0604020202020204" pitchFamily="34" charset="0"/>
              </a:rPr>
              <a:t> to formally describe how current behaves at a junction.</a:t>
            </a:r>
            <a:endParaRPr lang="en-AU" b="0" i="0" dirty="0">
              <a:solidFill>
                <a:srgbClr val="444444"/>
              </a:solidFill>
              <a:effectLst/>
              <a:latin typeface="Arial" panose="020B0604020202020204" pitchFamily="34" charset="0"/>
            </a:endParaRPr>
          </a:p>
        </p:txBody>
      </p:sp>
      <p:sp>
        <p:nvSpPr>
          <p:cNvPr id="4" name="Rectangle 3"/>
          <p:cNvSpPr/>
          <p:nvPr/>
        </p:nvSpPr>
        <p:spPr>
          <a:xfrm>
            <a:off x="419100" y="2637135"/>
            <a:ext cx="9982200" cy="646331"/>
          </a:xfrm>
          <a:prstGeom prst="rect">
            <a:avLst/>
          </a:prstGeom>
        </p:spPr>
        <p:txBody>
          <a:bodyPr wrap="square">
            <a:spAutoFit/>
          </a:bodyPr>
          <a:lstStyle/>
          <a:p>
            <a:r>
              <a:rPr lang="en-AU" dirty="0">
                <a:solidFill>
                  <a:srgbClr val="444444"/>
                </a:solidFill>
                <a:latin typeface="Arial" panose="020B0604020202020204" pitchFamily="34" charset="0"/>
              </a:rPr>
              <a:t>Applying this law, we can understand the </a:t>
            </a:r>
            <a:r>
              <a:rPr lang="en-AU" b="1" dirty="0">
                <a:solidFill>
                  <a:srgbClr val="3BA486"/>
                </a:solidFill>
                <a:latin typeface="Arial" panose="020B0604020202020204" pitchFamily="34" charset="0"/>
              </a:rPr>
              <a:t>movement of current</a:t>
            </a:r>
            <a:r>
              <a:rPr lang="en-AU" dirty="0">
                <a:solidFill>
                  <a:srgbClr val="444444"/>
                </a:solidFill>
                <a:latin typeface="Arial" panose="020B0604020202020204" pitchFamily="34" charset="0"/>
              </a:rPr>
              <a:t> in more complex circuits, and can utilise this to </a:t>
            </a:r>
            <a:r>
              <a:rPr lang="en-AU" b="1" dirty="0">
                <a:solidFill>
                  <a:srgbClr val="0066CC"/>
                </a:solidFill>
                <a:latin typeface="Arial" panose="020B0604020202020204" pitchFamily="34" charset="0"/>
              </a:rPr>
              <a:t>calculate unknown currents.</a:t>
            </a:r>
            <a:endParaRPr lang="en-AU" dirty="0"/>
          </a:p>
        </p:txBody>
      </p:sp>
      <p:pic>
        <p:nvPicPr>
          <p:cNvPr id="2050" name="Picture 2" descr="https://www.educationperfect.com/media/content/Science/1605152020.23991351g/1605152038852-4388964832820972.jp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362700" y="3283466"/>
            <a:ext cx="3173412" cy="340129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6914646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58800" y="444838"/>
            <a:ext cx="10756900" cy="1200329"/>
          </a:xfrm>
          <a:prstGeom prst="rect">
            <a:avLst/>
          </a:prstGeom>
        </p:spPr>
        <p:txBody>
          <a:bodyPr wrap="square">
            <a:spAutoFit/>
          </a:bodyPr>
          <a:lstStyle/>
          <a:p>
            <a:pPr algn="ctr"/>
            <a:r>
              <a:rPr lang="en-AU" b="1" dirty="0">
                <a:solidFill>
                  <a:srgbClr val="444444"/>
                </a:solidFill>
                <a:latin typeface="Arial" panose="020B0604020202020204" pitchFamily="34" charset="0"/>
              </a:rPr>
              <a:t>At a junction, </a:t>
            </a:r>
            <a:r>
              <a:rPr lang="en-AU" b="1" dirty="0">
                <a:solidFill>
                  <a:srgbClr val="3BA486"/>
                </a:solidFill>
                <a:latin typeface="Arial" panose="020B0604020202020204" pitchFamily="34" charset="0"/>
              </a:rPr>
              <a:t>current is divided</a:t>
            </a:r>
            <a:r>
              <a:rPr lang="en-AU" b="1" dirty="0">
                <a:solidFill>
                  <a:srgbClr val="444444"/>
                </a:solidFill>
                <a:latin typeface="Arial" panose="020B0604020202020204" pitchFamily="34" charset="0"/>
              </a:rPr>
              <a:t> between </a:t>
            </a:r>
            <a:r>
              <a:rPr lang="en-AU" b="1" dirty="0">
                <a:solidFill>
                  <a:srgbClr val="FF7F50"/>
                </a:solidFill>
                <a:latin typeface="Arial" panose="020B0604020202020204" pitchFamily="34" charset="0"/>
              </a:rPr>
              <a:t>parallel branches.</a:t>
            </a:r>
            <a:endParaRPr lang="en-AU" dirty="0">
              <a:solidFill>
                <a:srgbClr val="444444"/>
              </a:solidFill>
              <a:latin typeface="Arial" panose="020B0604020202020204" pitchFamily="34" charset="0"/>
            </a:endParaRPr>
          </a:p>
          <a:p>
            <a:pPr algn="ctr"/>
            <a:r>
              <a:rPr lang="en-AU" dirty="0">
                <a:solidFill>
                  <a:srgbClr val="444444"/>
                </a:solidFill>
                <a:latin typeface="Arial" panose="020B0604020202020204" pitchFamily="34" charset="0"/>
              </a:rPr>
              <a:t> </a:t>
            </a:r>
          </a:p>
          <a:p>
            <a:r>
              <a:rPr lang="en-AU" dirty="0">
                <a:solidFill>
                  <a:srgbClr val="444444"/>
                </a:solidFill>
                <a:latin typeface="Arial" panose="020B0604020202020204" pitchFamily="34" charset="0"/>
              </a:rPr>
              <a:t>When current reaches a </a:t>
            </a:r>
            <a:r>
              <a:rPr lang="en-AU" b="1" dirty="0">
                <a:solidFill>
                  <a:srgbClr val="0066CC"/>
                </a:solidFill>
                <a:latin typeface="Arial" panose="020B0604020202020204" pitchFamily="34" charset="0"/>
              </a:rPr>
              <a:t>junction</a:t>
            </a:r>
            <a:r>
              <a:rPr lang="en-AU" dirty="0">
                <a:solidFill>
                  <a:srgbClr val="444444"/>
                </a:solidFill>
                <a:latin typeface="Arial" panose="020B0604020202020204" pitchFamily="34" charset="0"/>
              </a:rPr>
              <a:t> in a circuit, the </a:t>
            </a:r>
            <a:r>
              <a:rPr lang="en-AU" b="1" dirty="0">
                <a:solidFill>
                  <a:srgbClr val="FF7F50"/>
                </a:solidFill>
                <a:latin typeface="Arial" panose="020B0604020202020204" pitchFamily="34" charset="0"/>
              </a:rPr>
              <a:t>full amount</a:t>
            </a:r>
            <a:r>
              <a:rPr lang="en-AU" dirty="0">
                <a:solidFill>
                  <a:srgbClr val="444444"/>
                </a:solidFill>
                <a:latin typeface="Arial" panose="020B0604020202020204" pitchFamily="34" charset="0"/>
              </a:rPr>
              <a:t> cannot continue down each of the following branches. Instead, that </a:t>
            </a:r>
            <a:r>
              <a:rPr lang="en-AU" b="1" dirty="0">
                <a:solidFill>
                  <a:srgbClr val="3BA486"/>
                </a:solidFill>
                <a:latin typeface="Arial" panose="020B0604020202020204" pitchFamily="34" charset="0"/>
              </a:rPr>
              <a:t>current must get divided </a:t>
            </a:r>
            <a:r>
              <a:rPr lang="en-AU" dirty="0">
                <a:solidFill>
                  <a:srgbClr val="444444"/>
                </a:solidFill>
                <a:latin typeface="Arial" panose="020B0604020202020204" pitchFamily="34" charset="0"/>
              </a:rPr>
              <a:t>and </a:t>
            </a:r>
            <a:r>
              <a:rPr lang="en-AU" b="1" dirty="0">
                <a:solidFill>
                  <a:srgbClr val="0066CC"/>
                </a:solidFill>
                <a:latin typeface="Arial" panose="020B0604020202020204" pitchFamily="34" charset="0"/>
              </a:rPr>
              <a:t>shared</a:t>
            </a:r>
            <a:r>
              <a:rPr lang="en-AU" dirty="0">
                <a:solidFill>
                  <a:srgbClr val="444444"/>
                </a:solidFill>
                <a:latin typeface="Arial" panose="020B0604020202020204" pitchFamily="34" charset="0"/>
              </a:rPr>
              <a:t> between the branches. </a:t>
            </a:r>
            <a:endParaRPr lang="en-AU" b="0" i="0" dirty="0">
              <a:solidFill>
                <a:srgbClr val="444444"/>
              </a:solidFill>
              <a:effectLst/>
              <a:latin typeface="Arial" panose="020B0604020202020204" pitchFamily="34" charset="0"/>
            </a:endParaRPr>
          </a:p>
        </p:txBody>
      </p:sp>
      <p:pic>
        <p:nvPicPr>
          <p:cNvPr id="3074" name="Picture 2" descr="https://www.educationperfect.com/media/content/Science/1605152029.27882311g/1605152047891-4388964832820972.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80794" y="2667000"/>
            <a:ext cx="5247305" cy="3505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5639249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09600" y="355938"/>
            <a:ext cx="11036300" cy="1754326"/>
          </a:xfrm>
          <a:prstGeom prst="rect">
            <a:avLst/>
          </a:prstGeom>
        </p:spPr>
        <p:txBody>
          <a:bodyPr wrap="square">
            <a:spAutoFit/>
          </a:bodyPr>
          <a:lstStyle/>
          <a:p>
            <a:pPr algn="ctr"/>
            <a:r>
              <a:rPr lang="en-AU" b="1" dirty="0">
                <a:solidFill>
                  <a:srgbClr val="444444"/>
                </a:solidFill>
                <a:latin typeface="Arial" panose="020B0604020202020204" pitchFamily="34" charset="0"/>
              </a:rPr>
              <a:t>Kirchhoff’s Current Law states that </a:t>
            </a:r>
            <a:r>
              <a:rPr lang="en-AU" b="1" dirty="0">
                <a:solidFill>
                  <a:srgbClr val="0066CC"/>
                </a:solidFill>
                <a:latin typeface="Arial" panose="020B0604020202020204" pitchFamily="34" charset="0"/>
              </a:rPr>
              <a:t>current going into a junction</a:t>
            </a:r>
            <a:r>
              <a:rPr lang="en-AU" b="1" dirty="0">
                <a:solidFill>
                  <a:srgbClr val="444444"/>
                </a:solidFill>
                <a:latin typeface="Arial" panose="020B0604020202020204" pitchFamily="34" charset="0"/>
              </a:rPr>
              <a:t> must be the </a:t>
            </a:r>
            <a:r>
              <a:rPr lang="en-AU" b="1" dirty="0">
                <a:solidFill>
                  <a:srgbClr val="FF7F50"/>
                </a:solidFill>
                <a:latin typeface="Arial" panose="020B0604020202020204" pitchFamily="34" charset="0"/>
              </a:rPr>
              <a:t>same</a:t>
            </a:r>
            <a:r>
              <a:rPr lang="en-AU" b="1" dirty="0">
                <a:solidFill>
                  <a:srgbClr val="444444"/>
                </a:solidFill>
                <a:latin typeface="Arial" panose="020B0604020202020204" pitchFamily="34" charset="0"/>
              </a:rPr>
              <a:t> as the </a:t>
            </a:r>
            <a:r>
              <a:rPr lang="en-AU" b="1" dirty="0">
                <a:solidFill>
                  <a:srgbClr val="0066CC"/>
                </a:solidFill>
                <a:latin typeface="Arial" panose="020B0604020202020204" pitchFamily="34" charset="0"/>
              </a:rPr>
              <a:t>current going out. </a:t>
            </a:r>
            <a:endParaRPr lang="en-AU" dirty="0">
              <a:solidFill>
                <a:srgbClr val="444444"/>
              </a:solidFill>
              <a:latin typeface="Arial" panose="020B0604020202020204" pitchFamily="34" charset="0"/>
            </a:endParaRPr>
          </a:p>
          <a:p>
            <a:pPr algn="ctr"/>
            <a:r>
              <a:rPr lang="en-AU" dirty="0">
                <a:solidFill>
                  <a:srgbClr val="444444"/>
                </a:solidFill>
                <a:latin typeface="Arial" panose="020B0604020202020204" pitchFamily="34" charset="0"/>
              </a:rPr>
              <a:t> </a:t>
            </a:r>
          </a:p>
          <a:p>
            <a:r>
              <a:rPr lang="en-AU" dirty="0">
                <a:solidFill>
                  <a:srgbClr val="444444"/>
                </a:solidFill>
                <a:latin typeface="Arial" panose="020B0604020202020204" pitchFamily="34" charset="0"/>
              </a:rPr>
              <a:t>We know that </a:t>
            </a:r>
            <a:r>
              <a:rPr lang="en-AU" b="1" dirty="0">
                <a:solidFill>
                  <a:srgbClr val="3BA486"/>
                </a:solidFill>
                <a:latin typeface="Arial" panose="020B0604020202020204" pitchFamily="34" charset="0"/>
              </a:rPr>
              <a:t>current is not lost</a:t>
            </a:r>
            <a:r>
              <a:rPr lang="en-AU" dirty="0">
                <a:solidFill>
                  <a:srgbClr val="444444"/>
                </a:solidFill>
                <a:latin typeface="Arial" panose="020B0604020202020204" pitchFamily="34" charset="0"/>
              </a:rPr>
              <a:t> in a circuit; it cannot jump out of the wires and be lost to the air! Therefore, the amount of current </a:t>
            </a:r>
            <a:r>
              <a:rPr lang="en-AU" b="1" dirty="0">
                <a:solidFill>
                  <a:srgbClr val="FF7F50"/>
                </a:solidFill>
                <a:latin typeface="Arial" panose="020B0604020202020204" pitchFamily="34" charset="0"/>
              </a:rPr>
              <a:t>entering a junction</a:t>
            </a:r>
            <a:r>
              <a:rPr lang="en-AU" dirty="0">
                <a:solidFill>
                  <a:srgbClr val="444444"/>
                </a:solidFill>
                <a:latin typeface="Arial" panose="020B0604020202020204" pitchFamily="34" charset="0"/>
              </a:rPr>
              <a:t> must be </a:t>
            </a:r>
            <a:r>
              <a:rPr lang="en-AU" b="1" dirty="0">
                <a:solidFill>
                  <a:srgbClr val="3BA486"/>
                </a:solidFill>
                <a:latin typeface="Arial" panose="020B0604020202020204" pitchFamily="34" charset="0"/>
              </a:rPr>
              <a:t>the same</a:t>
            </a:r>
            <a:r>
              <a:rPr lang="en-AU" dirty="0">
                <a:solidFill>
                  <a:srgbClr val="444444"/>
                </a:solidFill>
                <a:latin typeface="Arial" panose="020B0604020202020204" pitchFamily="34" charset="0"/>
              </a:rPr>
              <a:t> as the sum of currents </a:t>
            </a:r>
            <a:r>
              <a:rPr lang="en-AU" b="1" dirty="0">
                <a:solidFill>
                  <a:srgbClr val="0066CC"/>
                </a:solidFill>
                <a:latin typeface="Arial" panose="020B0604020202020204" pitchFamily="34" charset="0"/>
              </a:rPr>
              <a:t>exiting the junction.</a:t>
            </a:r>
            <a:endParaRPr lang="en-AU" b="0" i="0" dirty="0">
              <a:solidFill>
                <a:srgbClr val="444444"/>
              </a:solidFill>
              <a:effectLst/>
              <a:latin typeface="Arial" panose="020B0604020202020204" pitchFamily="34" charset="0"/>
            </a:endParaRPr>
          </a:p>
        </p:txBody>
      </p:sp>
      <p:sp>
        <p:nvSpPr>
          <p:cNvPr id="3" name="Rectangle 2"/>
          <p:cNvSpPr/>
          <p:nvPr/>
        </p:nvSpPr>
        <p:spPr>
          <a:xfrm>
            <a:off x="762000" y="2521635"/>
            <a:ext cx="10883900" cy="646331"/>
          </a:xfrm>
          <a:prstGeom prst="rect">
            <a:avLst/>
          </a:prstGeom>
        </p:spPr>
        <p:txBody>
          <a:bodyPr wrap="square">
            <a:spAutoFit/>
          </a:bodyPr>
          <a:lstStyle/>
          <a:p>
            <a:r>
              <a:rPr lang="en-AU" dirty="0">
                <a:solidFill>
                  <a:srgbClr val="444444"/>
                </a:solidFill>
                <a:latin typeface="Arial" panose="020B0604020202020204" pitchFamily="34" charset="0"/>
              </a:rPr>
              <a:t>This is Kirchhoff’s Current Law: All current that goes into a junction </a:t>
            </a:r>
            <a:r>
              <a:rPr lang="en-AU" b="1" dirty="0">
                <a:solidFill>
                  <a:srgbClr val="FF7F50"/>
                </a:solidFill>
                <a:latin typeface="Arial" panose="020B0604020202020204" pitchFamily="34" charset="0"/>
              </a:rPr>
              <a:t>must be equal to</a:t>
            </a:r>
            <a:r>
              <a:rPr lang="en-AU" dirty="0">
                <a:solidFill>
                  <a:srgbClr val="444444"/>
                </a:solidFill>
                <a:latin typeface="Arial" panose="020B0604020202020204" pitchFamily="34" charset="0"/>
              </a:rPr>
              <a:t> the current coming back out.</a:t>
            </a:r>
            <a:endParaRPr lang="en-AU" dirty="0"/>
          </a:p>
        </p:txBody>
      </p:sp>
      <p:pic>
        <p:nvPicPr>
          <p:cNvPr id="4098" name="Picture 2" descr="https://www.educationperfect.com/media/content/Science/1605668268.53845021g/1605668270512-2814197577129189.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54275" y="3352800"/>
            <a:ext cx="6867525" cy="2314575"/>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4" name="Table 3"/>
          <p:cNvGraphicFramePr>
            <a:graphicFrameLocks noGrp="1"/>
          </p:cNvGraphicFramePr>
          <p:nvPr>
            <p:extLst>
              <p:ext uri="{D42A27DB-BD31-4B8C-83A1-F6EECF244321}">
                <p14:modId xmlns:p14="http://schemas.microsoft.com/office/powerpoint/2010/main" val="2458374148"/>
              </p:ext>
            </p:extLst>
          </p:nvPr>
        </p:nvGraphicFramePr>
        <p:xfrm>
          <a:off x="2838450" y="5678012"/>
          <a:ext cx="7048500" cy="937260"/>
        </p:xfrm>
        <a:graphic>
          <a:graphicData uri="http://schemas.openxmlformats.org/drawingml/2006/table">
            <a:tbl>
              <a:tblPr/>
              <a:tblGrid>
                <a:gridCol w="7048500">
                  <a:extLst>
                    <a:ext uri="{9D8B030D-6E8A-4147-A177-3AD203B41FA5}">
                      <a16:colId xmlns:a16="http://schemas.microsoft.com/office/drawing/2014/main" val="2711108816"/>
                    </a:ext>
                  </a:extLst>
                </a:gridCol>
              </a:tblGrid>
              <a:tr h="0">
                <a:tc>
                  <a:txBody>
                    <a:bodyPr/>
                    <a:lstStyle/>
                    <a:p>
                      <a:pPr algn="l" fontAlgn="ctr"/>
                      <a:r>
                        <a:rPr lang="en-AU" b="0" i="1" dirty="0">
                          <a:effectLst/>
                          <a:latin typeface="Arial" panose="020B0604020202020204" pitchFamily="34" charset="0"/>
                        </a:rPr>
                        <a:t>At a circuit junction, the electrons making up the current are divided between parallel branches. The amount of electrons coming into the junction is equal to the sum of electrons in the parallel branches.</a:t>
                      </a:r>
                      <a:endParaRPr lang="en-AU" b="0" dirty="0">
                        <a:effectLst/>
                        <a:latin typeface="Arial" panose="020B0604020202020204" pitchFamily="34" charset="0"/>
                      </a:endParaRPr>
                    </a:p>
                  </a:txBody>
                  <a:tcPr marL="57150" marR="57150" marT="57150" marB="57150" anchor="ctr">
                    <a:lnL>
                      <a:noFill/>
                    </a:lnL>
                    <a:lnR>
                      <a:noFill/>
                    </a:lnR>
                    <a:lnT>
                      <a:noFill/>
                    </a:lnT>
                    <a:lnB>
                      <a:noFill/>
                    </a:lnB>
                    <a:solidFill>
                      <a:srgbClr val="FFFFFF"/>
                    </a:solidFill>
                  </a:tcPr>
                </a:tc>
                <a:extLst>
                  <a:ext uri="{0D108BD9-81ED-4DB2-BD59-A6C34878D82A}">
                    <a16:rowId xmlns:a16="http://schemas.microsoft.com/office/drawing/2014/main" val="3632924653"/>
                  </a:ext>
                </a:extLst>
              </a:tr>
            </a:tbl>
          </a:graphicData>
        </a:graphic>
      </p:graphicFrame>
    </p:spTree>
    <p:extLst>
      <p:ext uri="{BB962C8B-B14F-4D97-AF65-F5344CB8AC3E}">
        <p14:creationId xmlns:p14="http://schemas.microsoft.com/office/powerpoint/2010/main" val="107777626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134742" y="717034"/>
            <a:ext cx="5121915" cy="369332"/>
          </a:xfrm>
          <a:prstGeom prst="rect">
            <a:avLst/>
          </a:prstGeom>
        </p:spPr>
        <p:txBody>
          <a:bodyPr wrap="none">
            <a:spAutoFit/>
          </a:bodyPr>
          <a:lstStyle/>
          <a:p>
            <a:pPr algn="ctr"/>
            <a:r>
              <a:rPr lang="en-AU" b="1" dirty="0">
                <a:solidFill>
                  <a:srgbClr val="444444"/>
                </a:solidFill>
                <a:latin typeface="Arial" panose="020B0604020202020204" pitchFamily="34" charset="0"/>
              </a:rPr>
              <a:t>So how can we express this </a:t>
            </a:r>
            <a:r>
              <a:rPr lang="en-AU" b="1" dirty="0">
                <a:solidFill>
                  <a:srgbClr val="B1067D"/>
                </a:solidFill>
                <a:latin typeface="Arial" panose="020B0604020202020204" pitchFamily="34" charset="0"/>
              </a:rPr>
              <a:t>mathematically?</a:t>
            </a:r>
            <a:endParaRPr lang="en-AU" b="0" i="0" dirty="0">
              <a:solidFill>
                <a:srgbClr val="444444"/>
              </a:solidFill>
              <a:effectLst/>
              <a:latin typeface="Arial" panose="020B0604020202020204" pitchFamily="34" charset="0"/>
            </a:endParaRPr>
          </a:p>
        </p:txBody>
      </p:sp>
      <p:pic>
        <p:nvPicPr>
          <p:cNvPr id="3" name="Picture 2"/>
          <p:cNvPicPr>
            <a:picLocks noChangeAspect="1"/>
          </p:cNvPicPr>
          <p:nvPr/>
        </p:nvPicPr>
        <p:blipFill>
          <a:blip r:embed="rId2"/>
          <a:stretch>
            <a:fillRect/>
          </a:stretch>
        </p:blipFill>
        <p:spPr>
          <a:xfrm>
            <a:off x="3467099" y="1086366"/>
            <a:ext cx="3796145" cy="869950"/>
          </a:xfrm>
          <a:prstGeom prst="rect">
            <a:avLst/>
          </a:prstGeom>
        </p:spPr>
      </p:pic>
      <p:sp>
        <p:nvSpPr>
          <p:cNvPr id="4" name="Rectangle 3"/>
          <p:cNvSpPr/>
          <p:nvPr/>
        </p:nvSpPr>
        <p:spPr>
          <a:xfrm>
            <a:off x="1134742" y="2325648"/>
            <a:ext cx="10257158" cy="1200329"/>
          </a:xfrm>
          <a:prstGeom prst="rect">
            <a:avLst/>
          </a:prstGeom>
        </p:spPr>
        <p:txBody>
          <a:bodyPr wrap="square">
            <a:spAutoFit/>
          </a:bodyPr>
          <a:lstStyle/>
          <a:p>
            <a:r>
              <a:rPr lang="en-AU" dirty="0">
                <a:solidFill>
                  <a:srgbClr val="444444"/>
                </a:solidFill>
                <a:latin typeface="Arial" panose="020B0604020202020204" pitchFamily="34" charset="0"/>
              </a:rPr>
              <a:t>Where </a:t>
            </a:r>
            <a:r>
              <a:rPr lang="en-AU" b="1" i="1" dirty="0">
                <a:solidFill>
                  <a:srgbClr val="FF7F50"/>
                </a:solidFill>
                <a:latin typeface="KaTeX_Main"/>
              </a:rPr>
              <a:t>I</a:t>
            </a:r>
            <a:r>
              <a:rPr lang="en-AU" dirty="0">
                <a:solidFill>
                  <a:srgbClr val="444444"/>
                </a:solidFill>
                <a:latin typeface="Arial" panose="020B0604020202020204" pitchFamily="34" charset="0"/>
              </a:rPr>
              <a:t> is the </a:t>
            </a:r>
            <a:r>
              <a:rPr lang="en-AU" b="1" dirty="0">
                <a:solidFill>
                  <a:srgbClr val="FF7F50"/>
                </a:solidFill>
                <a:latin typeface="Arial" panose="020B0604020202020204" pitchFamily="34" charset="0"/>
              </a:rPr>
              <a:t>current</a:t>
            </a:r>
            <a:r>
              <a:rPr lang="en-AU" dirty="0">
                <a:solidFill>
                  <a:srgbClr val="444444"/>
                </a:solidFill>
                <a:latin typeface="Arial" panose="020B0604020202020204" pitchFamily="34" charset="0"/>
              </a:rPr>
              <a:t> in different parts of a circuit, and </a:t>
            </a:r>
            <a:r>
              <a:rPr lang="en-AU" b="1" i="1" dirty="0">
                <a:solidFill>
                  <a:srgbClr val="0066CC"/>
                </a:solidFill>
                <a:latin typeface="KaTeX_Main"/>
              </a:rPr>
              <a:t>n</a:t>
            </a:r>
            <a:r>
              <a:rPr lang="en-AU" dirty="0">
                <a:solidFill>
                  <a:srgbClr val="444444"/>
                </a:solidFill>
                <a:latin typeface="Arial" panose="020B0604020202020204" pitchFamily="34" charset="0"/>
              </a:rPr>
              <a:t> is the </a:t>
            </a:r>
            <a:r>
              <a:rPr lang="en-AU" b="1" dirty="0">
                <a:solidFill>
                  <a:srgbClr val="0066CC"/>
                </a:solidFill>
                <a:latin typeface="Arial" panose="020B0604020202020204" pitchFamily="34" charset="0"/>
              </a:rPr>
              <a:t>number of branches</a:t>
            </a:r>
            <a:r>
              <a:rPr lang="en-AU" dirty="0">
                <a:solidFill>
                  <a:srgbClr val="444444"/>
                </a:solidFill>
                <a:latin typeface="Arial" panose="020B0604020202020204" pitchFamily="34" charset="0"/>
              </a:rPr>
              <a:t> at the junction. </a:t>
            </a:r>
          </a:p>
          <a:p>
            <a:r>
              <a:rPr lang="en-AU" dirty="0">
                <a:solidFill>
                  <a:srgbClr val="444444"/>
                </a:solidFill>
                <a:latin typeface="Arial" panose="020B0604020202020204" pitchFamily="34" charset="0"/>
              </a:rPr>
              <a:t>This is sometimes written as </a:t>
            </a:r>
            <a:r>
              <a:rPr lang="en-AU" dirty="0" err="1">
                <a:solidFill>
                  <a:srgbClr val="444444"/>
                </a:solidFill>
                <a:latin typeface="KaTeX_Main"/>
              </a:rPr>
              <a:t>Σ</a:t>
            </a:r>
            <a:r>
              <a:rPr lang="en-AU" i="1" dirty="0" err="1">
                <a:solidFill>
                  <a:srgbClr val="444444"/>
                </a:solidFill>
                <a:latin typeface="KaTeX_Math"/>
              </a:rPr>
              <a:t>I</a:t>
            </a:r>
            <a:r>
              <a:rPr lang="en-AU" i="1" baseline="-25000" dirty="0" err="1">
                <a:solidFill>
                  <a:srgbClr val="444444"/>
                </a:solidFill>
                <a:latin typeface="KaTeX_Math"/>
              </a:rPr>
              <a:t>in</a:t>
            </a:r>
            <a:r>
              <a:rPr lang="en-AU" dirty="0">
                <a:solidFill>
                  <a:srgbClr val="444444"/>
                </a:solidFill>
                <a:latin typeface="KaTeX_Main"/>
              </a:rPr>
              <a:t>​=</a:t>
            </a:r>
            <a:r>
              <a:rPr lang="en-AU" dirty="0" err="1">
                <a:solidFill>
                  <a:srgbClr val="444444"/>
                </a:solidFill>
                <a:latin typeface="KaTeX_Main"/>
              </a:rPr>
              <a:t>Σ</a:t>
            </a:r>
            <a:r>
              <a:rPr lang="en-AU" i="1" dirty="0" err="1">
                <a:solidFill>
                  <a:srgbClr val="444444"/>
                </a:solidFill>
                <a:latin typeface="KaTeX_Math"/>
              </a:rPr>
              <a:t>I</a:t>
            </a:r>
            <a:r>
              <a:rPr lang="en-AU" i="1" baseline="-25000" dirty="0" err="1">
                <a:solidFill>
                  <a:srgbClr val="444444"/>
                </a:solidFill>
                <a:latin typeface="KaTeX_Math"/>
              </a:rPr>
              <a:t>out</a:t>
            </a:r>
            <a:r>
              <a:rPr lang="en-AU" baseline="-25000" dirty="0">
                <a:solidFill>
                  <a:srgbClr val="444444"/>
                </a:solidFill>
                <a:latin typeface="KaTeX_Main"/>
              </a:rPr>
              <a:t>​</a:t>
            </a:r>
            <a:r>
              <a:rPr lang="en-AU" dirty="0">
                <a:solidFill>
                  <a:srgbClr val="444444"/>
                </a:solidFill>
                <a:latin typeface="KaTeX_Main"/>
              </a:rPr>
              <a:t>,</a:t>
            </a:r>
            <a:r>
              <a:rPr lang="en-AU" dirty="0">
                <a:solidFill>
                  <a:srgbClr val="444444"/>
                </a:solidFill>
                <a:latin typeface="Arial" panose="020B0604020202020204" pitchFamily="34" charset="0"/>
              </a:rPr>
              <a:t> which also means the </a:t>
            </a:r>
            <a:r>
              <a:rPr lang="en-AU" b="1" dirty="0">
                <a:solidFill>
                  <a:srgbClr val="B1067D"/>
                </a:solidFill>
                <a:latin typeface="Arial" panose="020B0604020202020204" pitchFamily="34" charset="0"/>
              </a:rPr>
              <a:t>sum</a:t>
            </a:r>
            <a:r>
              <a:rPr lang="en-AU" dirty="0">
                <a:solidFill>
                  <a:srgbClr val="444444"/>
                </a:solidFill>
                <a:latin typeface="Arial" panose="020B0604020202020204" pitchFamily="34" charset="0"/>
              </a:rPr>
              <a:t> of currents </a:t>
            </a:r>
            <a:r>
              <a:rPr lang="en-AU" b="1" dirty="0">
                <a:solidFill>
                  <a:srgbClr val="FF7F50"/>
                </a:solidFill>
                <a:latin typeface="Arial" panose="020B0604020202020204" pitchFamily="34" charset="0"/>
              </a:rPr>
              <a:t>coming into the junction</a:t>
            </a:r>
            <a:r>
              <a:rPr lang="en-AU" dirty="0">
                <a:solidFill>
                  <a:srgbClr val="444444"/>
                </a:solidFill>
                <a:latin typeface="Arial" panose="020B0604020202020204" pitchFamily="34" charset="0"/>
              </a:rPr>
              <a:t> is equal to the sum of currents </a:t>
            </a:r>
            <a:r>
              <a:rPr lang="en-AU" b="1" dirty="0">
                <a:solidFill>
                  <a:srgbClr val="0066CC"/>
                </a:solidFill>
                <a:latin typeface="Arial" panose="020B0604020202020204" pitchFamily="34" charset="0"/>
              </a:rPr>
              <a:t>coming out of the junction.</a:t>
            </a:r>
            <a:endParaRPr lang="en-AU" b="0" i="0" dirty="0">
              <a:solidFill>
                <a:srgbClr val="444444"/>
              </a:solidFill>
              <a:effectLst/>
              <a:latin typeface="Arial" panose="020B0604020202020204" pitchFamily="34" charset="0"/>
            </a:endParaRPr>
          </a:p>
        </p:txBody>
      </p:sp>
      <p:pic>
        <p:nvPicPr>
          <p:cNvPr id="5122" name="Picture 2" descr="https://www.educationperfect.com/media/content/Science/1569983858.789711g/1569983858101-162401097546348.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467099" y="3895309"/>
            <a:ext cx="4003675" cy="267045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329347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711200" y="311835"/>
            <a:ext cx="10515600" cy="369332"/>
          </a:xfrm>
          <a:prstGeom prst="rect">
            <a:avLst/>
          </a:prstGeom>
        </p:spPr>
        <p:txBody>
          <a:bodyPr wrap="square">
            <a:spAutoFit/>
          </a:bodyPr>
          <a:lstStyle/>
          <a:p>
            <a:pPr algn="ctr"/>
            <a:r>
              <a:rPr lang="en-AU" b="1" dirty="0">
                <a:solidFill>
                  <a:srgbClr val="444444"/>
                </a:solidFill>
                <a:latin typeface="Arial" panose="020B0604020202020204" pitchFamily="34" charset="0"/>
              </a:rPr>
              <a:t>Let’s look at </a:t>
            </a:r>
            <a:r>
              <a:rPr lang="en-AU" b="1" dirty="0">
                <a:solidFill>
                  <a:srgbClr val="FF7F50"/>
                </a:solidFill>
                <a:latin typeface="Arial" panose="020B0604020202020204" pitchFamily="34" charset="0"/>
              </a:rPr>
              <a:t>Kirchhoff’s current law equation</a:t>
            </a:r>
            <a:r>
              <a:rPr lang="en-AU" b="1" dirty="0">
                <a:solidFill>
                  <a:srgbClr val="444444"/>
                </a:solidFill>
                <a:latin typeface="Arial" panose="020B0604020202020204" pitchFamily="34" charset="0"/>
              </a:rPr>
              <a:t> in terms of this section of a circuit diagram.</a:t>
            </a:r>
            <a:r>
              <a:rPr lang="en-AU" dirty="0">
                <a:solidFill>
                  <a:srgbClr val="444444"/>
                </a:solidFill>
                <a:latin typeface="Arial" panose="020B0604020202020204" pitchFamily="34" charset="0"/>
              </a:rPr>
              <a:t> </a:t>
            </a:r>
            <a:endParaRPr lang="en-AU" b="0" i="0" dirty="0">
              <a:solidFill>
                <a:srgbClr val="444444"/>
              </a:solidFill>
              <a:effectLst/>
              <a:latin typeface="Arial" panose="020B0604020202020204" pitchFamily="34" charset="0"/>
            </a:endParaRPr>
          </a:p>
        </p:txBody>
      </p:sp>
      <p:pic>
        <p:nvPicPr>
          <p:cNvPr id="3" name="Picture 2"/>
          <p:cNvPicPr>
            <a:picLocks noChangeAspect="1"/>
          </p:cNvPicPr>
          <p:nvPr/>
        </p:nvPicPr>
        <p:blipFill>
          <a:blip r:embed="rId2"/>
          <a:stretch>
            <a:fillRect/>
          </a:stretch>
        </p:blipFill>
        <p:spPr>
          <a:xfrm>
            <a:off x="3814762" y="681167"/>
            <a:ext cx="3952875" cy="2152650"/>
          </a:xfrm>
          <a:prstGeom prst="rect">
            <a:avLst/>
          </a:prstGeom>
        </p:spPr>
      </p:pic>
      <p:sp>
        <p:nvSpPr>
          <p:cNvPr id="4" name="Rectangle 3"/>
          <p:cNvSpPr/>
          <p:nvPr/>
        </p:nvSpPr>
        <p:spPr>
          <a:xfrm>
            <a:off x="419100" y="2833817"/>
            <a:ext cx="11379200" cy="2031325"/>
          </a:xfrm>
          <a:prstGeom prst="rect">
            <a:avLst/>
          </a:prstGeom>
        </p:spPr>
        <p:txBody>
          <a:bodyPr wrap="square">
            <a:spAutoFit/>
          </a:bodyPr>
          <a:lstStyle/>
          <a:p>
            <a:r>
              <a:rPr lang="en-AU" dirty="0">
                <a:solidFill>
                  <a:srgbClr val="444444"/>
                </a:solidFill>
                <a:latin typeface="Arial" panose="020B0604020202020204" pitchFamily="34" charset="0"/>
              </a:rPr>
              <a:t>Starting with </a:t>
            </a:r>
            <a:r>
              <a:rPr lang="en-AU" b="1" dirty="0">
                <a:solidFill>
                  <a:srgbClr val="B1067D"/>
                </a:solidFill>
                <a:latin typeface="Arial" panose="020B0604020202020204" pitchFamily="34" charset="0"/>
              </a:rPr>
              <a:t>Junction A,</a:t>
            </a:r>
            <a:r>
              <a:rPr lang="en-AU" dirty="0">
                <a:solidFill>
                  <a:srgbClr val="444444"/>
                </a:solidFill>
                <a:latin typeface="Arial" panose="020B0604020202020204" pitchFamily="34" charset="0"/>
              </a:rPr>
              <a:t> </a:t>
            </a:r>
            <a:r>
              <a:rPr lang="en-AU" i="1" dirty="0">
                <a:solidFill>
                  <a:srgbClr val="444444"/>
                </a:solidFill>
                <a:latin typeface="KaTeX_Math"/>
              </a:rPr>
              <a:t>I</a:t>
            </a:r>
            <a:r>
              <a:rPr lang="en-AU" baseline="-25000" dirty="0">
                <a:solidFill>
                  <a:srgbClr val="444444"/>
                </a:solidFill>
                <a:latin typeface="KaTeX_Main"/>
              </a:rPr>
              <a:t>1</a:t>
            </a:r>
            <a:r>
              <a:rPr lang="en-AU" dirty="0">
                <a:solidFill>
                  <a:srgbClr val="444444"/>
                </a:solidFill>
                <a:latin typeface="KaTeX_Main"/>
              </a:rPr>
              <a:t>​</a:t>
            </a:r>
            <a:r>
              <a:rPr lang="en-AU" dirty="0">
                <a:solidFill>
                  <a:srgbClr val="444444"/>
                </a:solidFill>
                <a:latin typeface="Arial" panose="020B0604020202020204" pitchFamily="34" charset="0"/>
              </a:rPr>
              <a:t> is the current </a:t>
            </a:r>
            <a:r>
              <a:rPr lang="en-AU" b="1" dirty="0">
                <a:solidFill>
                  <a:srgbClr val="0066CC"/>
                </a:solidFill>
                <a:latin typeface="Arial" panose="020B0604020202020204" pitchFamily="34" charset="0"/>
              </a:rPr>
              <a:t>coming into the junction.</a:t>
            </a:r>
            <a:r>
              <a:rPr lang="en-AU" dirty="0">
                <a:solidFill>
                  <a:srgbClr val="444444"/>
                </a:solidFill>
                <a:latin typeface="Arial" panose="020B0604020202020204" pitchFamily="34" charset="0"/>
              </a:rPr>
              <a:t> </a:t>
            </a:r>
            <a:r>
              <a:rPr lang="en-AU" i="1" dirty="0">
                <a:solidFill>
                  <a:srgbClr val="444444"/>
                </a:solidFill>
                <a:latin typeface="KaTeX_Math"/>
              </a:rPr>
              <a:t>I</a:t>
            </a:r>
            <a:r>
              <a:rPr lang="en-AU" baseline="-25000" dirty="0">
                <a:solidFill>
                  <a:srgbClr val="444444"/>
                </a:solidFill>
                <a:latin typeface="KaTeX_Main"/>
              </a:rPr>
              <a:t>2​</a:t>
            </a:r>
            <a:r>
              <a:rPr lang="en-AU" dirty="0">
                <a:solidFill>
                  <a:srgbClr val="444444"/>
                </a:solidFill>
                <a:latin typeface="Arial" panose="020B0604020202020204" pitchFamily="34" charset="0"/>
              </a:rPr>
              <a:t> and </a:t>
            </a:r>
            <a:r>
              <a:rPr lang="en-AU" i="1" dirty="0" smtClean="0">
                <a:solidFill>
                  <a:srgbClr val="444444"/>
                </a:solidFill>
                <a:latin typeface="KaTeX_Math"/>
              </a:rPr>
              <a:t>I</a:t>
            </a:r>
            <a:r>
              <a:rPr lang="en-AU" baseline="-25000" dirty="0" smtClean="0">
                <a:solidFill>
                  <a:srgbClr val="444444"/>
                </a:solidFill>
                <a:latin typeface="KaTeX_Main"/>
              </a:rPr>
              <a:t>3</a:t>
            </a:r>
            <a:r>
              <a:rPr lang="en-AU" dirty="0">
                <a:solidFill>
                  <a:srgbClr val="444444"/>
                </a:solidFill>
                <a:latin typeface="Arial" panose="020B0604020202020204" pitchFamily="34" charset="0"/>
              </a:rPr>
              <a:t> </a:t>
            </a:r>
            <a:r>
              <a:rPr lang="en-AU" dirty="0" smtClean="0">
                <a:solidFill>
                  <a:srgbClr val="444444"/>
                </a:solidFill>
                <a:latin typeface="KaTeX_Main"/>
              </a:rPr>
              <a:t>​</a:t>
            </a:r>
            <a:r>
              <a:rPr lang="en-AU" dirty="0" smtClean="0">
                <a:solidFill>
                  <a:srgbClr val="444444"/>
                </a:solidFill>
                <a:latin typeface="Arial" panose="020B0604020202020204" pitchFamily="34" charset="0"/>
              </a:rPr>
              <a:t>are </a:t>
            </a:r>
            <a:r>
              <a:rPr lang="en-AU" dirty="0">
                <a:solidFill>
                  <a:srgbClr val="444444"/>
                </a:solidFill>
                <a:latin typeface="Arial" panose="020B0604020202020204" pitchFamily="34" charset="0"/>
              </a:rPr>
              <a:t>the currents of the two branches </a:t>
            </a:r>
            <a:r>
              <a:rPr lang="en-AU" b="1" dirty="0">
                <a:solidFill>
                  <a:srgbClr val="FF7F50"/>
                </a:solidFill>
                <a:latin typeface="Arial" panose="020B0604020202020204" pitchFamily="34" charset="0"/>
              </a:rPr>
              <a:t>coming out of the junction.</a:t>
            </a:r>
            <a:r>
              <a:rPr lang="en-AU" dirty="0">
                <a:solidFill>
                  <a:srgbClr val="444444"/>
                </a:solidFill>
                <a:latin typeface="Arial" panose="020B0604020202020204" pitchFamily="34" charset="0"/>
              </a:rPr>
              <a:t> Kirchhoff’s current law states that the current coming into a junction is equal to the sum of currents coming out. Therefore, for this junction we can write this mathematically as </a:t>
            </a:r>
            <a:r>
              <a:rPr lang="en-AU" b="1" i="1" dirty="0">
                <a:solidFill>
                  <a:srgbClr val="B1067D"/>
                </a:solidFill>
                <a:latin typeface="KaTeX_Math"/>
              </a:rPr>
              <a:t>I</a:t>
            </a:r>
            <a:r>
              <a:rPr lang="en-AU" b="1" baseline="-25000" dirty="0">
                <a:solidFill>
                  <a:srgbClr val="B1067D"/>
                </a:solidFill>
                <a:latin typeface="KaTeX_Main"/>
              </a:rPr>
              <a:t>1</a:t>
            </a:r>
            <a:r>
              <a:rPr lang="en-AU" dirty="0">
                <a:solidFill>
                  <a:srgbClr val="B1067D"/>
                </a:solidFill>
                <a:latin typeface="KaTeX_Main"/>
              </a:rPr>
              <a:t>​</a:t>
            </a:r>
            <a:r>
              <a:rPr lang="en-AU" b="1" dirty="0">
                <a:solidFill>
                  <a:srgbClr val="B1067D"/>
                </a:solidFill>
                <a:latin typeface="KaTeX_Main"/>
              </a:rPr>
              <a:t>=</a:t>
            </a:r>
            <a:r>
              <a:rPr lang="en-AU" b="1" i="1" dirty="0">
                <a:solidFill>
                  <a:srgbClr val="B1067D"/>
                </a:solidFill>
                <a:latin typeface="KaTeX_Math"/>
              </a:rPr>
              <a:t>I</a:t>
            </a:r>
            <a:r>
              <a:rPr lang="en-AU" b="1" baseline="-25000" dirty="0">
                <a:solidFill>
                  <a:srgbClr val="B1067D"/>
                </a:solidFill>
                <a:latin typeface="KaTeX_Main"/>
              </a:rPr>
              <a:t>2</a:t>
            </a:r>
            <a:r>
              <a:rPr lang="en-AU" dirty="0">
                <a:solidFill>
                  <a:srgbClr val="B1067D"/>
                </a:solidFill>
                <a:latin typeface="KaTeX_Main"/>
              </a:rPr>
              <a:t>​</a:t>
            </a:r>
            <a:r>
              <a:rPr lang="en-AU" b="1" dirty="0">
                <a:solidFill>
                  <a:srgbClr val="B1067D"/>
                </a:solidFill>
                <a:latin typeface="KaTeX_Main"/>
              </a:rPr>
              <a:t>+</a:t>
            </a:r>
            <a:r>
              <a:rPr lang="en-AU" b="1" i="1" dirty="0">
                <a:solidFill>
                  <a:srgbClr val="B1067D"/>
                </a:solidFill>
                <a:latin typeface="KaTeX_Math"/>
              </a:rPr>
              <a:t>I</a:t>
            </a:r>
            <a:r>
              <a:rPr lang="en-AU" b="1" baseline="-25000" dirty="0">
                <a:solidFill>
                  <a:srgbClr val="B1067D"/>
                </a:solidFill>
                <a:latin typeface="KaTeX_Main"/>
              </a:rPr>
              <a:t>3</a:t>
            </a:r>
            <a:r>
              <a:rPr lang="en-AU" dirty="0">
                <a:solidFill>
                  <a:srgbClr val="B1067D"/>
                </a:solidFill>
                <a:latin typeface="KaTeX_Main"/>
              </a:rPr>
              <a:t>​</a:t>
            </a:r>
            <a:r>
              <a:rPr lang="en-AU" b="1" dirty="0">
                <a:solidFill>
                  <a:srgbClr val="B1067D"/>
                </a:solidFill>
                <a:latin typeface="KaTeX_Main"/>
              </a:rPr>
              <a:t>.</a:t>
            </a:r>
            <a:endParaRPr lang="en-AU" dirty="0">
              <a:solidFill>
                <a:srgbClr val="444444"/>
              </a:solidFill>
              <a:latin typeface="Arial" panose="020B0604020202020204" pitchFamily="34" charset="0"/>
            </a:endParaRPr>
          </a:p>
          <a:p>
            <a:pPr algn="ctr"/>
            <a:r>
              <a:rPr lang="en-AU" dirty="0">
                <a:solidFill>
                  <a:srgbClr val="444444"/>
                </a:solidFill>
                <a:latin typeface="Arial" panose="020B0604020202020204" pitchFamily="34" charset="0"/>
              </a:rPr>
              <a:t> </a:t>
            </a:r>
          </a:p>
          <a:p>
            <a:r>
              <a:rPr lang="en-AU" dirty="0">
                <a:solidFill>
                  <a:srgbClr val="444444"/>
                </a:solidFill>
                <a:latin typeface="Arial" panose="020B0604020202020204" pitchFamily="34" charset="0"/>
              </a:rPr>
              <a:t>Looking at </a:t>
            </a:r>
            <a:r>
              <a:rPr lang="en-AU" b="1" dirty="0">
                <a:solidFill>
                  <a:srgbClr val="B1067D"/>
                </a:solidFill>
                <a:latin typeface="Arial" panose="020B0604020202020204" pitchFamily="34" charset="0"/>
              </a:rPr>
              <a:t>Junction B,</a:t>
            </a:r>
            <a:r>
              <a:rPr lang="en-AU" dirty="0">
                <a:solidFill>
                  <a:srgbClr val="444444"/>
                </a:solidFill>
                <a:latin typeface="Arial" panose="020B0604020202020204" pitchFamily="34" charset="0"/>
              </a:rPr>
              <a:t> this time </a:t>
            </a:r>
            <a:r>
              <a:rPr lang="en-AU" i="1" dirty="0">
                <a:solidFill>
                  <a:srgbClr val="444444"/>
                </a:solidFill>
                <a:latin typeface="KaTeX_Math"/>
              </a:rPr>
              <a:t>I</a:t>
            </a:r>
            <a:r>
              <a:rPr lang="en-AU" baseline="-25000" dirty="0">
                <a:solidFill>
                  <a:srgbClr val="444444"/>
                </a:solidFill>
                <a:latin typeface="KaTeX_Main"/>
              </a:rPr>
              <a:t>2</a:t>
            </a:r>
            <a:r>
              <a:rPr lang="en-AU" dirty="0">
                <a:solidFill>
                  <a:srgbClr val="444444"/>
                </a:solidFill>
                <a:latin typeface="KaTeX_Main"/>
              </a:rPr>
              <a:t>​</a:t>
            </a:r>
            <a:r>
              <a:rPr lang="en-AU" dirty="0">
                <a:solidFill>
                  <a:srgbClr val="444444"/>
                </a:solidFill>
                <a:latin typeface="Arial" panose="020B0604020202020204" pitchFamily="34" charset="0"/>
              </a:rPr>
              <a:t> and </a:t>
            </a:r>
            <a:r>
              <a:rPr lang="en-AU" i="1" dirty="0">
                <a:solidFill>
                  <a:srgbClr val="444444"/>
                </a:solidFill>
                <a:latin typeface="KaTeX_Math"/>
              </a:rPr>
              <a:t>I</a:t>
            </a:r>
            <a:r>
              <a:rPr lang="en-AU" baseline="-25000" dirty="0">
                <a:solidFill>
                  <a:srgbClr val="444444"/>
                </a:solidFill>
                <a:latin typeface="KaTeX_Main"/>
              </a:rPr>
              <a:t>3</a:t>
            </a:r>
            <a:r>
              <a:rPr lang="en-AU" dirty="0">
                <a:solidFill>
                  <a:srgbClr val="444444"/>
                </a:solidFill>
                <a:latin typeface="KaTeX_Main"/>
              </a:rPr>
              <a:t>​</a:t>
            </a:r>
            <a:r>
              <a:rPr lang="en-AU" dirty="0">
                <a:solidFill>
                  <a:srgbClr val="444444"/>
                </a:solidFill>
                <a:latin typeface="Arial" panose="020B0604020202020204" pitchFamily="34" charset="0"/>
              </a:rPr>
              <a:t> are the currents </a:t>
            </a:r>
            <a:r>
              <a:rPr lang="en-AU" b="1" dirty="0">
                <a:solidFill>
                  <a:srgbClr val="0066CC"/>
                </a:solidFill>
                <a:latin typeface="Arial" panose="020B0604020202020204" pitchFamily="34" charset="0"/>
              </a:rPr>
              <a:t>coming into the junction,</a:t>
            </a:r>
            <a:r>
              <a:rPr lang="en-AU" dirty="0">
                <a:solidFill>
                  <a:srgbClr val="444444"/>
                </a:solidFill>
                <a:latin typeface="Arial" panose="020B0604020202020204" pitchFamily="34" charset="0"/>
              </a:rPr>
              <a:t> and </a:t>
            </a:r>
            <a:r>
              <a:rPr lang="en-AU" i="1" dirty="0">
                <a:solidFill>
                  <a:srgbClr val="444444"/>
                </a:solidFill>
                <a:latin typeface="KaTeX_Math"/>
              </a:rPr>
              <a:t>I</a:t>
            </a:r>
            <a:r>
              <a:rPr lang="en-AU" baseline="-25000" dirty="0">
                <a:solidFill>
                  <a:srgbClr val="444444"/>
                </a:solidFill>
                <a:latin typeface="KaTeX_Main"/>
              </a:rPr>
              <a:t>1</a:t>
            </a:r>
            <a:r>
              <a:rPr lang="en-AU" dirty="0">
                <a:solidFill>
                  <a:srgbClr val="444444"/>
                </a:solidFill>
                <a:latin typeface="KaTeX_Main"/>
              </a:rPr>
              <a:t>​</a:t>
            </a:r>
            <a:r>
              <a:rPr lang="en-AU" dirty="0">
                <a:solidFill>
                  <a:srgbClr val="444444"/>
                </a:solidFill>
                <a:latin typeface="Arial" panose="020B0604020202020204" pitchFamily="34" charset="0"/>
              </a:rPr>
              <a:t> is the current </a:t>
            </a:r>
            <a:r>
              <a:rPr lang="en-AU" b="1" dirty="0">
                <a:solidFill>
                  <a:srgbClr val="FF7F50"/>
                </a:solidFill>
                <a:latin typeface="Arial" panose="020B0604020202020204" pitchFamily="34" charset="0"/>
              </a:rPr>
              <a:t>coming back out.</a:t>
            </a:r>
            <a:r>
              <a:rPr lang="en-AU" dirty="0">
                <a:solidFill>
                  <a:srgbClr val="444444"/>
                </a:solidFill>
                <a:latin typeface="Arial" panose="020B0604020202020204" pitchFamily="34" charset="0"/>
              </a:rPr>
              <a:t> Therefore, can write this mathematically as </a:t>
            </a:r>
            <a:r>
              <a:rPr lang="en-AU" b="1" i="1" dirty="0">
                <a:solidFill>
                  <a:srgbClr val="B1067D"/>
                </a:solidFill>
                <a:latin typeface="KaTeX_Math"/>
              </a:rPr>
              <a:t>I</a:t>
            </a:r>
            <a:r>
              <a:rPr lang="en-AU" b="1" baseline="-25000" dirty="0">
                <a:solidFill>
                  <a:srgbClr val="B1067D"/>
                </a:solidFill>
                <a:latin typeface="KaTeX_Main"/>
              </a:rPr>
              <a:t>2</a:t>
            </a:r>
            <a:r>
              <a:rPr lang="en-AU" dirty="0">
                <a:solidFill>
                  <a:srgbClr val="B1067D"/>
                </a:solidFill>
                <a:latin typeface="KaTeX_Main"/>
              </a:rPr>
              <a:t>​</a:t>
            </a:r>
            <a:r>
              <a:rPr lang="en-AU" b="1" dirty="0">
                <a:solidFill>
                  <a:srgbClr val="B1067D"/>
                </a:solidFill>
                <a:latin typeface="KaTeX_Main"/>
              </a:rPr>
              <a:t>+</a:t>
            </a:r>
            <a:r>
              <a:rPr lang="en-AU" b="1" i="1" dirty="0">
                <a:solidFill>
                  <a:srgbClr val="B1067D"/>
                </a:solidFill>
                <a:latin typeface="KaTeX_Math"/>
              </a:rPr>
              <a:t>I</a:t>
            </a:r>
            <a:r>
              <a:rPr lang="en-AU" b="1" baseline="-25000" dirty="0">
                <a:solidFill>
                  <a:srgbClr val="B1067D"/>
                </a:solidFill>
                <a:latin typeface="KaTeX_Main"/>
              </a:rPr>
              <a:t>3</a:t>
            </a:r>
            <a:r>
              <a:rPr lang="en-AU" dirty="0">
                <a:solidFill>
                  <a:srgbClr val="B1067D"/>
                </a:solidFill>
                <a:latin typeface="KaTeX_Main"/>
              </a:rPr>
              <a:t>​</a:t>
            </a:r>
            <a:r>
              <a:rPr lang="en-AU" b="1" dirty="0">
                <a:solidFill>
                  <a:srgbClr val="B1067D"/>
                </a:solidFill>
                <a:latin typeface="KaTeX_Main"/>
              </a:rPr>
              <a:t>=</a:t>
            </a:r>
            <a:r>
              <a:rPr lang="en-AU" b="1" i="1" dirty="0">
                <a:solidFill>
                  <a:srgbClr val="B1067D"/>
                </a:solidFill>
                <a:latin typeface="KaTeX_Math"/>
              </a:rPr>
              <a:t>I</a:t>
            </a:r>
            <a:r>
              <a:rPr lang="en-AU" b="1" baseline="-25000" dirty="0">
                <a:solidFill>
                  <a:srgbClr val="B1067D"/>
                </a:solidFill>
                <a:latin typeface="KaTeX_Main"/>
              </a:rPr>
              <a:t>1</a:t>
            </a:r>
            <a:r>
              <a:rPr lang="en-AU" dirty="0">
                <a:solidFill>
                  <a:srgbClr val="B1067D"/>
                </a:solidFill>
                <a:latin typeface="KaTeX_Main"/>
              </a:rPr>
              <a:t>​</a:t>
            </a:r>
            <a:r>
              <a:rPr lang="en-AU" b="1" dirty="0">
                <a:solidFill>
                  <a:srgbClr val="B1067D"/>
                </a:solidFill>
                <a:latin typeface="KaTeX_Main"/>
              </a:rPr>
              <a:t>.</a:t>
            </a:r>
            <a:endParaRPr lang="en-AU" b="0" i="0" dirty="0">
              <a:solidFill>
                <a:srgbClr val="444444"/>
              </a:solidFill>
              <a:effectLst/>
              <a:latin typeface="Arial" panose="020B0604020202020204" pitchFamily="34" charset="0"/>
            </a:endParaRPr>
          </a:p>
        </p:txBody>
      </p:sp>
      <p:sp>
        <p:nvSpPr>
          <p:cNvPr id="5" name="Rectangle 4"/>
          <p:cNvSpPr/>
          <p:nvPr/>
        </p:nvSpPr>
        <p:spPr>
          <a:xfrm>
            <a:off x="419100" y="5141436"/>
            <a:ext cx="11112500" cy="923330"/>
          </a:xfrm>
          <a:prstGeom prst="rect">
            <a:avLst/>
          </a:prstGeom>
        </p:spPr>
        <p:txBody>
          <a:bodyPr wrap="square">
            <a:spAutoFit/>
          </a:bodyPr>
          <a:lstStyle/>
          <a:p>
            <a:r>
              <a:rPr lang="en-AU" dirty="0">
                <a:solidFill>
                  <a:srgbClr val="444444"/>
                </a:solidFill>
                <a:latin typeface="Arial" panose="020B0604020202020204" pitchFamily="34" charset="0"/>
              </a:rPr>
              <a:t>From this, we can also see that the </a:t>
            </a:r>
            <a:r>
              <a:rPr lang="en-AU" b="1" dirty="0">
                <a:solidFill>
                  <a:srgbClr val="B1067D"/>
                </a:solidFill>
                <a:latin typeface="Arial" panose="020B0604020202020204" pitchFamily="34" charset="0"/>
              </a:rPr>
              <a:t>equations</a:t>
            </a:r>
            <a:r>
              <a:rPr lang="en-AU" dirty="0">
                <a:solidFill>
                  <a:srgbClr val="444444"/>
                </a:solidFill>
                <a:latin typeface="Arial" panose="020B0604020202020204" pitchFamily="34" charset="0"/>
              </a:rPr>
              <a:t> for both Junction A and Junction B are the same! Regardless of how the current is divided between these branches, when the </a:t>
            </a:r>
            <a:r>
              <a:rPr lang="en-AU" b="1" dirty="0">
                <a:solidFill>
                  <a:srgbClr val="FF7F50"/>
                </a:solidFill>
                <a:latin typeface="Arial" panose="020B0604020202020204" pitchFamily="34" charset="0"/>
              </a:rPr>
              <a:t>branches merge</a:t>
            </a:r>
            <a:r>
              <a:rPr lang="en-AU" dirty="0">
                <a:solidFill>
                  <a:srgbClr val="444444"/>
                </a:solidFill>
                <a:latin typeface="Arial" panose="020B0604020202020204" pitchFamily="34" charset="0"/>
              </a:rPr>
              <a:t> back together, the original current </a:t>
            </a:r>
            <a:r>
              <a:rPr lang="en-AU" dirty="0">
                <a:solidFill>
                  <a:srgbClr val="444444"/>
                </a:solidFill>
                <a:latin typeface="KaTeX_Main"/>
              </a:rPr>
              <a:t>(</a:t>
            </a:r>
            <a:r>
              <a:rPr lang="en-AU" i="1" dirty="0">
                <a:solidFill>
                  <a:srgbClr val="444444"/>
                </a:solidFill>
                <a:latin typeface="KaTeX_Math"/>
              </a:rPr>
              <a:t>I</a:t>
            </a:r>
            <a:r>
              <a:rPr lang="en-AU" dirty="0">
                <a:solidFill>
                  <a:srgbClr val="444444"/>
                </a:solidFill>
                <a:latin typeface="KaTeX_Main"/>
              </a:rPr>
              <a:t>1​)</a:t>
            </a:r>
            <a:r>
              <a:rPr lang="en-AU" dirty="0">
                <a:solidFill>
                  <a:srgbClr val="444444"/>
                </a:solidFill>
                <a:latin typeface="Arial" panose="020B0604020202020204" pitchFamily="34" charset="0"/>
              </a:rPr>
              <a:t> will be </a:t>
            </a:r>
            <a:r>
              <a:rPr lang="en-AU" b="1" dirty="0">
                <a:solidFill>
                  <a:srgbClr val="0066CC"/>
                </a:solidFill>
                <a:latin typeface="Arial" panose="020B0604020202020204" pitchFamily="34" charset="0"/>
              </a:rPr>
              <a:t>recreated!</a:t>
            </a:r>
            <a:endParaRPr lang="en-AU" dirty="0"/>
          </a:p>
        </p:txBody>
      </p:sp>
    </p:spTree>
    <p:extLst>
      <p:ext uri="{BB962C8B-B14F-4D97-AF65-F5344CB8AC3E}">
        <p14:creationId xmlns:p14="http://schemas.microsoft.com/office/powerpoint/2010/main" val="367654689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04800" y="508338"/>
            <a:ext cx="11442700" cy="1477328"/>
          </a:xfrm>
          <a:prstGeom prst="rect">
            <a:avLst/>
          </a:prstGeom>
        </p:spPr>
        <p:txBody>
          <a:bodyPr wrap="square">
            <a:spAutoFit/>
          </a:bodyPr>
          <a:lstStyle/>
          <a:p>
            <a:pPr algn="ctr"/>
            <a:r>
              <a:rPr lang="en-AU" b="1" dirty="0">
                <a:solidFill>
                  <a:srgbClr val="444444"/>
                </a:solidFill>
                <a:latin typeface="Arial" panose="020B0604020202020204" pitchFamily="34" charset="0"/>
              </a:rPr>
              <a:t>Sometimes there is </a:t>
            </a:r>
            <a:r>
              <a:rPr lang="en-AU" b="1" dirty="0">
                <a:solidFill>
                  <a:srgbClr val="3BA486"/>
                </a:solidFill>
                <a:latin typeface="Arial" panose="020B0604020202020204" pitchFamily="34" charset="0"/>
              </a:rPr>
              <a:t>more than one point</a:t>
            </a:r>
            <a:r>
              <a:rPr lang="en-AU" b="1" dirty="0">
                <a:solidFill>
                  <a:srgbClr val="444444"/>
                </a:solidFill>
                <a:latin typeface="Arial" panose="020B0604020202020204" pitchFamily="34" charset="0"/>
              </a:rPr>
              <a:t> in a circuit at which the current must branch and </a:t>
            </a:r>
            <a:r>
              <a:rPr lang="en-AU" b="1" dirty="0">
                <a:solidFill>
                  <a:srgbClr val="0066CC"/>
                </a:solidFill>
                <a:latin typeface="Arial" panose="020B0604020202020204" pitchFamily="34" charset="0"/>
              </a:rPr>
              <a:t>be divided.</a:t>
            </a:r>
            <a:r>
              <a:rPr lang="en-AU" dirty="0">
                <a:solidFill>
                  <a:srgbClr val="444444"/>
                </a:solidFill>
                <a:latin typeface="Arial" panose="020B0604020202020204" pitchFamily="34" charset="0"/>
              </a:rPr>
              <a:t> </a:t>
            </a:r>
          </a:p>
          <a:p>
            <a:pPr algn="ctr"/>
            <a:r>
              <a:rPr lang="en-AU" dirty="0">
                <a:solidFill>
                  <a:srgbClr val="444444"/>
                </a:solidFill>
                <a:latin typeface="Arial" panose="020B0604020202020204" pitchFamily="34" charset="0"/>
              </a:rPr>
              <a:t> </a:t>
            </a:r>
          </a:p>
          <a:p>
            <a:r>
              <a:rPr lang="en-AU" dirty="0">
                <a:solidFill>
                  <a:srgbClr val="444444"/>
                </a:solidFill>
                <a:latin typeface="Arial" panose="020B0604020202020204" pitchFamily="34" charset="0"/>
              </a:rPr>
              <a:t>These circuits can be </a:t>
            </a:r>
            <a:r>
              <a:rPr lang="en-AU" b="1" dirty="0">
                <a:solidFill>
                  <a:srgbClr val="FF7F50"/>
                </a:solidFill>
                <a:latin typeface="Arial" panose="020B0604020202020204" pitchFamily="34" charset="0"/>
              </a:rPr>
              <a:t>approached</a:t>
            </a:r>
            <a:r>
              <a:rPr lang="en-AU" dirty="0">
                <a:solidFill>
                  <a:srgbClr val="444444"/>
                </a:solidFill>
                <a:latin typeface="Arial" panose="020B0604020202020204" pitchFamily="34" charset="0"/>
              </a:rPr>
              <a:t> just as simply by applying Kirchhoff’s current law at each individual junction.</a:t>
            </a:r>
          </a:p>
          <a:p>
            <a:r>
              <a:rPr lang="en-AU" dirty="0">
                <a:solidFill>
                  <a:srgbClr val="444444"/>
                </a:solidFill>
                <a:latin typeface="Arial" panose="020B0604020202020204" pitchFamily="34" charset="0"/>
              </a:rPr>
              <a:t/>
            </a:r>
            <a:br>
              <a:rPr lang="en-AU" dirty="0">
                <a:solidFill>
                  <a:srgbClr val="444444"/>
                </a:solidFill>
                <a:latin typeface="Arial" panose="020B0604020202020204" pitchFamily="34" charset="0"/>
              </a:rPr>
            </a:br>
            <a:endParaRPr lang="en-AU" dirty="0"/>
          </a:p>
        </p:txBody>
      </p:sp>
      <p:pic>
        <p:nvPicPr>
          <p:cNvPr id="6146" name="Picture 2" descr="https://www.educationperfect.com/media/content/Science/1606184761.62905481g/1606184762125-2187635119109693.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800" y="1093341"/>
            <a:ext cx="4314825" cy="3181796"/>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p:cNvPicPr>
            <a:picLocks noChangeAspect="1"/>
          </p:cNvPicPr>
          <p:nvPr/>
        </p:nvPicPr>
        <p:blipFill>
          <a:blip r:embed="rId3"/>
          <a:stretch>
            <a:fillRect/>
          </a:stretch>
        </p:blipFill>
        <p:spPr>
          <a:xfrm>
            <a:off x="4605976" y="1985666"/>
            <a:ext cx="7586024" cy="3386434"/>
          </a:xfrm>
          <a:prstGeom prst="rect">
            <a:avLst/>
          </a:prstGeom>
        </p:spPr>
      </p:pic>
    </p:spTree>
    <p:extLst>
      <p:ext uri="{BB962C8B-B14F-4D97-AF65-F5344CB8AC3E}">
        <p14:creationId xmlns:p14="http://schemas.microsoft.com/office/powerpoint/2010/main" val="135547550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3163887" y="0"/>
            <a:ext cx="5383213" cy="6944230"/>
          </a:xfrm>
          <a:prstGeom prst="rect">
            <a:avLst/>
          </a:prstGeom>
        </p:spPr>
      </p:pic>
    </p:spTree>
    <p:extLst>
      <p:ext uri="{BB962C8B-B14F-4D97-AF65-F5344CB8AC3E}">
        <p14:creationId xmlns:p14="http://schemas.microsoft.com/office/powerpoint/2010/main" val="197652604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1938337" y="192087"/>
            <a:ext cx="7053263" cy="6550456"/>
          </a:xfrm>
          <a:prstGeom prst="rect">
            <a:avLst/>
          </a:prstGeom>
        </p:spPr>
      </p:pic>
    </p:spTree>
    <p:extLst>
      <p:ext uri="{BB962C8B-B14F-4D97-AF65-F5344CB8AC3E}">
        <p14:creationId xmlns:p14="http://schemas.microsoft.com/office/powerpoint/2010/main" val="245268803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2247900" y="55711"/>
            <a:ext cx="7340600" cy="6802289"/>
          </a:xfrm>
          <a:prstGeom prst="rect">
            <a:avLst/>
          </a:prstGeom>
        </p:spPr>
      </p:pic>
    </p:spTree>
    <p:extLst>
      <p:ext uri="{BB962C8B-B14F-4D97-AF65-F5344CB8AC3E}">
        <p14:creationId xmlns:p14="http://schemas.microsoft.com/office/powerpoint/2010/main" val="272230357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498474" y="631824"/>
            <a:ext cx="10859943" cy="4778375"/>
          </a:xfrm>
          <a:prstGeom prst="rect">
            <a:avLst/>
          </a:prstGeom>
        </p:spPr>
      </p:pic>
    </p:spTree>
    <p:extLst>
      <p:ext uri="{BB962C8B-B14F-4D97-AF65-F5344CB8AC3E}">
        <p14:creationId xmlns:p14="http://schemas.microsoft.com/office/powerpoint/2010/main" val="159266310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003300" y="800438"/>
            <a:ext cx="10083800" cy="1477328"/>
          </a:xfrm>
          <a:prstGeom prst="rect">
            <a:avLst/>
          </a:prstGeom>
        </p:spPr>
        <p:txBody>
          <a:bodyPr wrap="square">
            <a:spAutoFit/>
          </a:bodyPr>
          <a:lstStyle/>
          <a:p>
            <a:pPr algn="ctr"/>
            <a:r>
              <a:rPr lang="en-AU" b="1" dirty="0">
                <a:solidFill>
                  <a:srgbClr val="444444"/>
                </a:solidFill>
                <a:latin typeface="Arial" panose="020B0604020202020204" pitchFamily="34" charset="0"/>
              </a:rPr>
              <a:t>Sometimes circuits have </a:t>
            </a:r>
            <a:r>
              <a:rPr lang="en-AU" b="1" dirty="0">
                <a:solidFill>
                  <a:srgbClr val="B1067D"/>
                </a:solidFill>
                <a:latin typeface="Arial" panose="020B0604020202020204" pitchFamily="34" charset="0"/>
              </a:rPr>
              <a:t>multiple batteries.</a:t>
            </a:r>
            <a:endParaRPr lang="en-AU" dirty="0">
              <a:solidFill>
                <a:srgbClr val="444444"/>
              </a:solidFill>
              <a:latin typeface="Arial" panose="020B0604020202020204" pitchFamily="34" charset="0"/>
            </a:endParaRPr>
          </a:p>
          <a:p>
            <a:pPr algn="ctr"/>
            <a:r>
              <a:rPr lang="en-AU" dirty="0">
                <a:solidFill>
                  <a:srgbClr val="444444"/>
                </a:solidFill>
                <a:latin typeface="Arial" panose="020B0604020202020204" pitchFamily="34" charset="0"/>
              </a:rPr>
              <a:t> </a:t>
            </a:r>
          </a:p>
          <a:p>
            <a:r>
              <a:rPr lang="en-AU" b="1" dirty="0">
                <a:solidFill>
                  <a:srgbClr val="B1067D"/>
                </a:solidFill>
                <a:latin typeface="Arial" panose="020B0604020202020204" pitchFamily="34" charset="0"/>
              </a:rPr>
              <a:t>Each battery</a:t>
            </a:r>
            <a:r>
              <a:rPr lang="en-AU" dirty="0">
                <a:solidFill>
                  <a:srgbClr val="444444"/>
                </a:solidFill>
                <a:latin typeface="Arial" panose="020B0604020202020204" pitchFamily="34" charset="0"/>
              </a:rPr>
              <a:t> acts as a </a:t>
            </a:r>
            <a:r>
              <a:rPr lang="en-AU" b="1" dirty="0">
                <a:solidFill>
                  <a:srgbClr val="FF7F50"/>
                </a:solidFill>
                <a:latin typeface="Arial" panose="020B0604020202020204" pitchFamily="34" charset="0"/>
              </a:rPr>
              <a:t>different source</a:t>
            </a:r>
            <a:r>
              <a:rPr lang="en-AU" dirty="0">
                <a:solidFill>
                  <a:srgbClr val="444444"/>
                </a:solidFill>
                <a:latin typeface="Arial" panose="020B0604020202020204" pitchFamily="34" charset="0"/>
              </a:rPr>
              <a:t> for current to emerge from, and return to. This can result in alternative directions of current flow. At every </a:t>
            </a:r>
            <a:r>
              <a:rPr lang="en-AU" b="1" dirty="0">
                <a:solidFill>
                  <a:srgbClr val="3BA486"/>
                </a:solidFill>
                <a:latin typeface="Arial" panose="020B0604020202020204" pitchFamily="34" charset="0"/>
              </a:rPr>
              <a:t>individual junction,</a:t>
            </a:r>
            <a:r>
              <a:rPr lang="en-AU" dirty="0">
                <a:solidFill>
                  <a:srgbClr val="444444"/>
                </a:solidFill>
                <a:latin typeface="Arial" panose="020B0604020202020204" pitchFamily="34" charset="0"/>
              </a:rPr>
              <a:t> however, Kirchhoff’s current law </a:t>
            </a:r>
            <a:r>
              <a:rPr lang="en-AU" b="1" dirty="0">
                <a:solidFill>
                  <a:srgbClr val="3BA486"/>
                </a:solidFill>
                <a:latin typeface="Arial" panose="020B0604020202020204" pitchFamily="34" charset="0"/>
              </a:rPr>
              <a:t>still holds true.</a:t>
            </a:r>
            <a:endParaRPr lang="en-AU" b="0" i="0" dirty="0">
              <a:solidFill>
                <a:srgbClr val="444444"/>
              </a:solidFill>
              <a:effectLst/>
              <a:latin typeface="Arial" panose="020B0604020202020204" pitchFamily="34" charset="0"/>
            </a:endParaRPr>
          </a:p>
        </p:txBody>
      </p:sp>
      <p:sp>
        <p:nvSpPr>
          <p:cNvPr id="3" name="Rectangle 2"/>
          <p:cNvSpPr/>
          <p:nvPr/>
        </p:nvSpPr>
        <p:spPr>
          <a:xfrm>
            <a:off x="1003300" y="2741136"/>
            <a:ext cx="10553700" cy="923330"/>
          </a:xfrm>
          <a:prstGeom prst="rect">
            <a:avLst/>
          </a:prstGeom>
        </p:spPr>
        <p:txBody>
          <a:bodyPr wrap="square">
            <a:spAutoFit/>
          </a:bodyPr>
          <a:lstStyle/>
          <a:p>
            <a:r>
              <a:rPr lang="en-AU" dirty="0">
                <a:solidFill>
                  <a:srgbClr val="444444"/>
                </a:solidFill>
                <a:latin typeface="Arial" panose="020B0604020202020204" pitchFamily="34" charset="0"/>
              </a:rPr>
              <a:t>It is also important to note that the </a:t>
            </a:r>
            <a:r>
              <a:rPr lang="en-AU" b="1" dirty="0">
                <a:solidFill>
                  <a:srgbClr val="B1067D"/>
                </a:solidFill>
                <a:latin typeface="Arial" panose="020B0604020202020204" pitchFamily="34" charset="0"/>
              </a:rPr>
              <a:t>amount of current that leaves a battery</a:t>
            </a:r>
            <a:r>
              <a:rPr lang="en-AU" dirty="0">
                <a:solidFill>
                  <a:srgbClr val="444444"/>
                </a:solidFill>
                <a:latin typeface="Arial" panose="020B0604020202020204" pitchFamily="34" charset="0"/>
              </a:rPr>
              <a:t> is the </a:t>
            </a:r>
            <a:r>
              <a:rPr lang="en-AU" b="1" dirty="0">
                <a:solidFill>
                  <a:srgbClr val="FF7F50"/>
                </a:solidFill>
                <a:latin typeface="Arial" panose="020B0604020202020204" pitchFamily="34" charset="0"/>
              </a:rPr>
              <a:t>same amount</a:t>
            </a:r>
            <a:r>
              <a:rPr lang="en-AU" dirty="0">
                <a:solidFill>
                  <a:srgbClr val="444444"/>
                </a:solidFill>
                <a:latin typeface="Arial" panose="020B0604020202020204" pitchFamily="34" charset="0"/>
              </a:rPr>
              <a:t> that will </a:t>
            </a:r>
            <a:r>
              <a:rPr lang="en-AU" b="1" dirty="0">
                <a:solidFill>
                  <a:srgbClr val="3BA486"/>
                </a:solidFill>
                <a:latin typeface="Arial" panose="020B0604020202020204" pitchFamily="34" charset="0"/>
              </a:rPr>
              <a:t>return to that battery</a:t>
            </a:r>
            <a:r>
              <a:rPr lang="en-AU" dirty="0">
                <a:solidFill>
                  <a:srgbClr val="444444"/>
                </a:solidFill>
                <a:latin typeface="Arial" panose="020B0604020202020204" pitchFamily="34" charset="0"/>
              </a:rPr>
              <a:t> after travelling around the circuit. This will be covered in greater detail in an upcoming lesson on Kirchhoff’s Voltage Law.</a:t>
            </a:r>
            <a:endParaRPr lang="en-AU" dirty="0"/>
          </a:p>
        </p:txBody>
      </p:sp>
      <p:pic>
        <p:nvPicPr>
          <p:cNvPr id="7170" name="Picture 2" descr="https://www.educationperfect.com/media/content/Geography/1530161813.970421g/1530161813800-629223847529074.jp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119562" y="4127836"/>
            <a:ext cx="3851275" cy="25688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5471187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92100" y="551240"/>
            <a:ext cx="10490200" cy="2308324"/>
          </a:xfrm>
          <a:prstGeom prst="rect">
            <a:avLst/>
          </a:prstGeom>
        </p:spPr>
        <p:txBody>
          <a:bodyPr wrap="square">
            <a:spAutoFit/>
          </a:bodyPr>
          <a:lstStyle/>
          <a:p>
            <a:pPr algn="ctr"/>
            <a:r>
              <a:rPr lang="en-AU" b="1" dirty="0">
                <a:solidFill>
                  <a:srgbClr val="444444"/>
                </a:solidFill>
                <a:latin typeface="Arial" panose="020B0604020202020204" pitchFamily="34" charset="0"/>
              </a:rPr>
              <a:t>Let’s look at an example circuit with </a:t>
            </a:r>
            <a:r>
              <a:rPr lang="en-AU" b="1" dirty="0">
                <a:solidFill>
                  <a:srgbClr val="0066CC"/>
                </a:solidFill>
                <a:latin typeface="Arial" panose="020B0604020202020204" pitchFamily="34" charset="0"/>
              </a:rPr>
              <a:t>multiple batteries.</a:t>
            </a:r>
            <a:r>
              <a:rPr lang="en-AU" dirty="0">
                <a:solidFill>
                  <a:srgbClr val="444444"/>
                </a:solidFill>
                <a:latin typeface="Arial" panose="020B0604020202020204" pitchFamily="34" charset="0"/>
              </a:rPr>
              <a:t> </a:t>
            </a:r>
          </a:p>
          <a:p>
            <a:pPr algn="ctr"/>
            <a:r>
              <a:rPr lang="en-AU" dirty="0">
                <a:solidFill>
                  <a:srgbClr val="444444"/>
                </a:solidFill>
                <a:latin typeface="Arial" panose="020B0604020202020204" pitchFamily="34" charset="0"/>
              </a:rPr>
              <a:t> </a:t>
            </a:r>
          </a:p>
          <a:p>
            <a:r>
              <a:rPr lang="en-AU" dirty="0">
                <a:solidFill>
                  <a:srgbClr val="444444"/>
                </a:solidFill>
                <a:latin typeface="Arial" panose="020B0604020202020204" pitchFamily="34" charset="0"/>
              </a:rPr>
              <a:t>Things worth noting:</a:t>
            </a:r>
          </a:p>
          <a:p>
            <a:pPr>
              <a:buFont typeface="Arial" panose="020B0604020202020204" pitchFamily="34" charset="0"/>
              <a:buChar char="•"/>
            </a:pPr>
            <a:r>
              <a:rPr lang="en-AU" dirty="0">
                <a:solidFill>
                  <a:srgbClr val="444444"/>
                </a:solidFill>
                <a:latin typeface="Arial" panose="020B0604020202020204" pitchFamily="34" charset="0"/>
              </a:rPr>
              <a:t>Both batteries have current travelling </a:t>
            </a:r>
            <a:r>
              <a:rPr lang="en-AU" b="1" dirty="0">
                <a:solidFill>
                  <a:srgbClr val="FF7F50"/>
                </a:solidFill>
                <a:latin typeface="Arial" panose="020B0604020202020204" pitchFamily="34" charset="0"/>
              </a:rPr>
              <a:t>away from the positive terminal</a:t>
            </a:r>
            <a:r>
              <a:rPr lang="en-AU" dirty="0">
                <a:solidFill>
                  <a:srgbClr val="444444"/>
                </a:solidFill>
                <a:latin typeface="Arial" panose="020B0604020202020204" pitchFamily="34" charset="0"/>
              </a:rPr>
              <a:t> and returning to the negative terminal </a:t>
            </a:r>
          </a:p>
          <a:p>
            <a:pPr>
              <a:buFont typeface="Arial" panose="020B0604020202020204" pitchFamily="34" charset="0"/>
              <a:buChar char="•"/>
            </a:pPr>
            <a:r>
              <a:rPr lang="en-AU" dirty="0">
                <a:solidFill>
                  <a:srgbClr val="444444"/>
                </a:solidFill>
                <a:latin typeface="Arial" panose="020B0604020202020204" pitchFamily="34" charset="0"/>
              </a:rPr>
              <a:t>The amount of </a:t>
            </a:r>
            <a:r>
              <a:rPr lang="en-AU" b="1" dirty="0">
                <a:solidFill>
                  <a:srgbClr val="B1067D"/>
                </a:solidFill>
                <a:latin typeface="Arial" panose="020B0604020202020204" pitchFamily="34" charset="0"/>
              </a:rPr>
              <a:t>current leaving a battery</a:t>
            </a:r>
            <a:r>
              <a:rPr lang="en-AU" dirty="0">
                <a:solidFill>
                  <a:srgbClr val="444444"/>
                </a:solidFill>
                <a:latin typeface="Arial" panose="020B0604020202020204" pitchFamily="34" charset="0"/>
              </a:rPr>
              <a:t> is the </a:t>
            </a:r>
            <a:r>
              <a:rPr lang="en-AU" b="1" dirty="0">
                <a:solidFill>
                  <a:srgbClr val="0066CC"/>
                </a:solidFill>
                <a:latin typeface="Arial" panose="020B0604020202020204" pitchFamily="34" charset="0"/>
              </a:rPr>
              <a:t>same amount returning</a:t>
            </a:r>
            <a:r>
              <a:rPr lang="en-AU" dirty="0">
                <a:solidFill>
                  <a:srgbClr val="444444"/>
                </a:solidFill>
                <a:latin typeface="Arial" panose="020B0604020202020204" pitchFamily="34" charset="0"/>
              </a:rPr>
              <a:t> to that battery. For example, the uppermost battery has a current of </a:t>
            </a:r>
            <a:r>
              <a:rPr lang="en-AU" i="1" dirty="0">
                <a:solidFill>
                  <a:srgbClr val="444444"/>
                </a:solidFill>
                <a:latin typeface="KaTeX_Math"/>
              </a:rPr>
              <a:t>I</a:t>
            </a:r>
            <a:r>
              <a:rPr lang="en-AU" baseline="-25000" dirty="0">
                <a:solidFill>
                  <a:srgbClr val="444444"/>
                </a:solidFill>
                <a:latin typeface="KaTeX_Main"/>
              </a:rPr>
              <a:t>1</a:t>
            </a:r>
            <a:r>
              <a:rPr lang="en-AU" dirty="0">
                <a:solidFill>
                  <a:srgbClr val="444444"/>
                </a:solidFill>
                <a:latin typeface="KaTeX_Main"/>
              </a:rPr>
              <a:t>​</a:t>
            </a:r>
            <a:r>
              <a:rPr lang="en-AU" dirty="0">
                <a:solidFill>
                  <a:srgbClr val="444444"/>
                </a:solidFill>
                <a:latin typeface="Arial" panose="020B0604020202020204" pitchFamily="34" charset="0"/>
              </a:rPr>
              <a:t> leaving the </a:t>
            </a:r>
            <a:r>
              <a:rPr lang="en-AU" b="1" dirty="0">
                <a:solidFill>
                  <a:srgbClr val="B1067D"/>
                </a:solidFill>
                <a:latin typeface="Arial" panose="020B0604020202020204" pitchFamily="34" charset="0"/>
              </a:rPr>
              <a:t>positive terminal,</a:t>
            </a:r>
            <a:r>
              <a:rPr lang="en-AU" dirty="0">
                <a:solidFill>
                  <a:srgbClr val="444444"/>
                </a:solidFill>
                <a:latin typeface="Arial" panose="020B0604020202020204" pitchFamily="34" charset="0"/>
              </a:rPr>
              <a:t> and the amount of current returning to the </a:t>
            </a:r>
            <a:r>
              <a:rPr lang="en-AU" b="1" dirty="0">
                <a:solidFill>
                  <a:srgbClr val="FF7F50"/>
                </a:solidFill>
                <a:latin typeface="Arial" panose="020B0604020202020204" pitchFamily="34" charset="0"/>
              </a:rPr>
              <a:t>negative terminal</a:t>
            </a:r>
            <a:r>
              <a:rPr lang="en-AU" dirty="0">
                <a:solidFill>
                  <a:srgbClr val="444444"/>
                </a:solidFill>
                <a:latin typeface="Arial" panose="020B0604020202020204" pitchFamily="34" charset="0"/>
              </a:rPr>
              <a:t> is also </a:t>
            </a:r>
            <a:r>
              <a:rPr lang="en-AU" i="1" dirty="0">
                <a:solidFill>
                  <a:srgbClr val="444444"/>
                </a:solidFill>
                <a:latin typeface="KaTeX_Math"/>
              </a:rPr>
              <a:t>I</a:t>
            </a:r>
            <a:r>
              <a:rPr lang="en-AU" baseline="-25000" dirty="0">
                <a:solidFill>
                  <a:srgbClr val="444444"/>
                </a:solidFill>
                <a:latin typeface="KaTeX_Main"/>
              </a:rPr>
              <a:t>1</a:t>
            </a:r>
            <a:r>
              <a:rPr lang="en-AU" dirty="0">
                <a:solidFill>
                  <a:srgbClr val="444444"/>
                </a:solidFill>
                <a:latin typeface="KaTeX_Main"/>
              </a:rPr>
              <a:t>​.</a:t>
            </a:r>
            <a:endParaRPr lang="en-AU" b="0" i="0" dirty="0">
              <a:solidFill>
                <a:srgbClr val="444444"/>
              </a:solidFill>
              <a:effectLst/>
              <a:latin typeface="Arial" panose="020B0604020202020204" pitchFamily="34" charset="0"/>
            </a:endParaRPr>
          </a:p>
        </p:txBody>
      </p:sp>
      <p:sp>
        <p:nvSpPr>
          <p:cNvPr id="3" name="Rectangle 2"/>
          <p:cNvSpPr/>
          <p:nvPr/>
        </p:nvSpPr>
        <p:spPr>
          <a:xfrm>
            <a:off x="292100" y="3094335"/>
            <a:ext cx="11455400" cy="646331"/>
          </a:xfrm>
          <a:prstGeom prst="rect">
            <a:avLst/>
          </a:prstGeom>
        </p:spPr>
        <p:txBody>
          <a:bodyPr wrap="square">
            <a:spAutoFit/>
          </a:bodyPr>
          <a:lstStyle/>
          <a:p>
            <a:r>
              <a:rPr lang="en-AU" dirty="0">
                <a:solidFill>
                  <a:srgbClr val="444444"/>
                </a:solidFill>
                <a:latin typeface="Arial" panose="020B0604020202020204" pitchFamily="34" charset="0"/>
              </a:rPr>
              <a:t>Kirchhoff’s current law </a:t>
            </a:r>
            <a:r>
              <a:rPr lang="en-AU" b="1" dirty="0">
                <a:solidFill>
                  <a:srgbClr val="B1067D"/>
                </a:solidFill>
                <a:latin typeface="Arial" panose="020B0604020202020204" pitchFamily="34" charset="0"/>
              </a:rPr>
              <a:t>applies to both junctions</a:t>
            </a:r>
            <a:r>
              <a:rPr lang="en-AU" dirty="0">
                <a:solidFill>
                  <a:srgbClr val="444444"/>
                </a:solidFill>
                <a:latin typeface="Arial" panose="020B0604020202020204" pitchFamily="34" charset="0"/>
              </a:rPr>
              <a:t> in this circuit. Looking at the left-most junction, </a:t>
            </a:r>
            <a:r>
              <a:rPr lang="en-AU" i="1" dirty="0">
                <a:solidFill>
                  <a:srgbClr val="444444"/>
                </a:solidFill>
                <a:latin typeface="KaTeX_Math"/>
              </a:rPr>
              <a:t>I</a:t>
            </a:r>
            <a:r>
              <a:rPr lang="en-AU" baseline="-25000" dirty="0">
                <a:solidFill>
                  <a:srgbClr val="444444"/>
                </a:solidFill>
                <a:latin typeface="KaTeX_Main"/>
              </a:rPr>
              <a:t>1</a:t>
            </a:r>
            <a:r>
              <a:rPr lang="en-AU" dirty="0">
                <a:solidFill>
                  <a:srgbClr val="444444"/>
                </a:solidFill>
                <a:latin typeface="KaTeX_Main"/>
              </a:rPr>
              <a:t>​</a:t>
            </a:r>
            <a:r>
              <a:rPr lang="en-AU" dirty="0">
                <a:solidFill>
                  <a:srgbClr val="444444"/>
                </a:solidFill>
                <a:latin typeface="Arial" panose="020B0604020202020204" pitchFamily="34" charset="0"/>
              </a:rPr>
              <a:t> and </a:t>
            </a:r>
            <a:r>
              <a:rPr lang="en-AU" i="1" dirty="0">
                <a:solidFill>
                  <a:srgbClr val="444444"/>
                </a:solidFill>
                <a:latin typeface="KaTeX_Math"/>
              </a:rPr>
              <a:t>I</a:t>
            </a:r>
            <a:r>
              <a:rPr lang="en-AU" baseline="-25000" dirty="0">
                <a:solidFill>
                  <a:srgbClr val="444444"/>
                </a:solidFill>
                <a:latin typeface="KaTeX_Main"/>
              </a:rPr>
              <a:t>2​</a:t>
            </a:r>
            <a:r>
              <a:rPr lang="en-AU" dirty="0">
                <a:solidFill>
                  <a:srgbClr val="444444"/>
                </a:solidFill>
                <a:latin typeface="Arial" panose="020B0604020202020204" pitchFamily="34" charset="0"/>
              </a:rPr>
              <a:t> are coming in, and </a:t>
            </a:r>
            <a:r>
              <a:rPr lang="en-AU" i="1" dirty="0">
                <a:solidFill>
                  <a:srgbClr val="444444"/>
                </a:solidFill>
                <a:latin typeface="KaTeX_Math"/>
              </a:rPr>
              <a:t>I</a:t>
            </a:r>
            <a:r>
              <a:rPr lang="en-AU" baseline="-25000" dirty="0">
                <a:solidFill>
                  <a:srgbClr val="444444"/>
                </a:solidFill>
                <a:latin typeface="KaTeX_Main"/>
              </a:rPr>
              <a:t>3</a:t>
            </a:r>
            <a:r>
              <a:rPr lang="en-AU" dirty="0">
                <a:solidFill>
                  <a:srgbClr val="444444"/>
                </a:solidFill>
                <a:latin typeface="KaTeX_Main"/>
              </a:rPr>
              <a:t>​</a:t>
            </a:r>
            <a:r>
              <a:rPr lang="en-AU" dirty="0">
                <a:solidFill>
                  <a:srgbClr val="444444"/>
                </a:solidFill>
                <a:latin typeface="Arial" panose="020B0604020202020204" pitchFamily="34" charset="0"/>
              </a:rPr>
              <a:t> is coming out. Therefore, </a:t>
            </a:r>
            <a:r>
              <a:rPr lang="en-AU" b="1" i="1" dirty="0">
                <a:solidFill>
                  <a:srgbClr val="0066CC"/>
                </a:solidFill>
                <a:latin typeface="KaTeX_Math"/>
              </a:rPr>
              <a:t>I</a:t>
            </a:r>
            <a:r>
              <a:rPr lang="en-AU" b="1" baseline="-25000" dirty="0">
                <a:solidFill>
                  <a:srgbClr val="0066CC"/>
                </a:solidFill>
                <a:latin typeface="KaTeX_Main"/>
              </a:rPr>
              <a:t>1</a:t>
            </a:r>
            <a:r>
              <a:rPr lang="en-AU" dirty="0">
                <a:solidFill>
                  <a:srgbClr val="0066CC"/>
                </a:solidFill>
                <a:latin typeface="KaTeX_Main"/>
              </a:rPr>
              <a:t>​</a:t>
            </a:r>
            <a:r>
              <a:rPr lang="en-AU" b="1" dirty="0">
                <a:solidFill>
                  <a:srgbClr val="0066CC"/>
                </a:solidFill>
                <a:latin typeface="KaTeX_Main"/>
              </a:rPr>
              <a:t>+</a:t>
            </a:r>
            <a:r>
              <a:rPr lang="en-AU" b="1" i="1" dirty="0">
                <a:solidFill>
                  <a:srgbClr val="0066CC"/>
                </a:solidFill>
                <a:latin typeface="KaTeX_Math"/>
              </a:rPr>
              <a:t>I</a:t>
            </a:r>
            <a:r>
              <a:rPr lang="en-AU" b="1" baseline="-25000" dirty="0">
                <a:solidFill>
                  <a:srgbClr val="0066CC"/>
                </a:solidFill>
                <a:latin typeface="KaTeX_Main"/>
              </a:rPr>
              <a:t>2</a:t>
            </a:r>
            <a:r>
              <a:rPr lang="en-AU" baseline="-25000" dirty="0">
                <a:solidFill>
                  <a:srgbClr val="0066CC"/>
                </a:solidFill>
                <a:latin typeface="KaTeX_Main"/>
              </a:rPr>
              <a:t>​</a:t>
            </a:r>
            <a:r>
              <a:rPr lang="en-AU" b="1" dirty="0">
                <a:solidFill>
                  <a:srgbClr val="0066CC"/>
                </a:solidFill>
                <a:latin typeface="KaTeX_Main"/>
              </a:rPr>
              <a:t>=</a:t>
            </a:r>
            <a:r>
              <a:rPr lang="en-AU" b="1" i="1" dirty="0">
                <a:solidFill>
                  <a:srgbClr val="0066CC"/>
                </a:solidFill>
                <a:latin typeface="KaTeX_Math"/>
              </a:rPr>
              <a:t>I</a:t>
            </a:r>
            <a:r>
              <a:rPr lang="en-AU" b="1" baseline="-25000" dirty="0">
                <a:solidFill>
                  <a:srgbClr val="0066CC"/>
                </a:solidFill>
                <a:latin typeface="KaTeX_Main"/>
              </a:rPr>
              <a:t>3</a:t>
            </a:r>
            <a:r>
              <a:rPr lang="en-AU" dirty="0">
                <a:solidFill>
                  <a:srgbClr val="0066CC"/>
                </a:solidFill>
                <a:latin typeface="KaTeX_Main"/>
              </a:rPr>
              <a:t>​</a:t>
            </a:r>
            <a:r>
              <a:rPr lang="en-AU" b="1" dirty="0">
                <a:solidFill>
                  <a:srgbClr val="0066CC"/>
                </a:solidFill>
                <a:latin typeface="KaTeX_Main"/>
              </a:rPr>
              <a:t>.</a:t>
            </a:r>
            <a:endParaRPr lang="en-AU" dirty="0"/>
          </a:p>
        </p:txBody>
      </p:sp>
      <p:pic>
        <p:nvPicPr>
          <p:cNvPr id="8194" name="Picture 2" descr="https://www.educationperfect.com/media/content/Science/1606185459.49313451g/1606185460090-2187635119109693.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10402" y="3975437"/>
            <a:ext cx="3022348" cy="300845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2842407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19100" y="397639"/>
            <a:ext cx="11264900" cy="1754326"/>
          </a:xfrm>
          <a:prstGeom prst="rect">
            <a:avLst/>
          </a:prstGeom>
        </p:spPr>
        <p:txBody>
          <a:bodyPr wrap="square">
            <a:spAutoFit/>
          </a:bodyPr>
          <a:lstStyle/>
          <a:p>
            <a:pPr algn="ctr"/>
            <a:r>
              <a:rPr lang="en-AU" b="1" dirty="0">
                <a:solidFill>
                  <a:srgbClr val="444444"/>
                </a:solidFill>
                <a:latin typeface="Arial" panose="020B0604020202020204" pitchFamily="34" charset="0"/>
              </a:rPr>
              <a:t>Sometimes, the circuit diagrams provided </a:t>
            </a:r>
            <a:r>
              <a:rPr lang="en-AU" b="1" dirty="0">
                <a:solidFill>
                  <a:srgbClr val="B1067D"/>
                </a:solidFill>
                <a:latin typeface="Arial" panose="020B0604020202020204" pitchFamily="34" charset="0"/>
              </a:rPr>
              <a:t>won’t have arrows</a:t>
            </a:r>
            <a:r>
              <a:rPr lang="en-AU" b="1" dirty="0">
                <a:solidFill>
                  <a:srgbClr val="444444"/>
                </a:solidFill>
                <a:latin typeface="Arial" panose="020B0604020202020204" pitchFamily="34" charset="0"/>
              </a:rPr>
              <a:t> to show the </a:t>
            </a:r>
            <a:r>
              <a:rPr lang="en-AU" b="1" dirty="0">
                <a:solidFill>
                  <a:srgbClr val="FF7F50"/>
                </a:solidFill>
                <a:latin typeface="Arial" panose="020B0604020202020204" pitchFamily="34" charset="0"/>
              </a:rPr>
              <a:t>direction of current flow.</a:t>
            </a:r>
            <a:endParaRPr lang="en-AU" dirty="0">
              <a:solidFill>
                <a:srgbClr val="444444"/>
              </a:solidFill>
              <a:latin typeface="Arial" panose="020B0604020202020204" pitchFamily="34" charset="0"/>
            </a:endParaRPr>
          </a:p>
          <a:p>
            <a:pPr algn="ctr"/>
            <a:r>
              <a:rPr lang="en-AU" dirty="0">
                <a:solidFill>
                  <a:srgbClr val="444444"/>
                </a:solidFill>
                <a:latin typeface="Arial" panose="020B0604020202020204" pitchFamily="34" charset="0"/>
              </a:rPr>
              <a:t> </a:t>
            </a:r>
          </a:p>
          <a:p>
            <a:r>
              <a:rPr lang="en-AU" dirty="0">
                <a:solidFill>
                  <a:srgbClr val="444444"/>
                </a:solidFill>
                <a:latin typeface="Arial" panose="020B0604020202020204" pitchFamily="34" charset="0"/>
              </a:rPr>
              <a:t>When faced with this situation, it is a good idea to go around the circuit and </a:t>
            </a:r>
            <a:r>
              <a:rPr lang="en-AU" b="1" dirty="0">
                <a:solidFill>
                  <a:srgbClr val="3BA486"/>
                </a:solidFill>
                <a:latin typeface="Arial" panose="020B0604020202020204" pitchFamily="34" charset="0"/>
              </a:rPr>
              <a:t>draw in the arrows yourself!</a:t>
            </a:r>
            <a:r>
              <a:rPr lang="en-AU" dirty="0">
                <a:solidFill>
                  <a:srgbClr val="444444"/>
                </a:solidFill>
                <a:latin typeface="Arial" panose="020B0604020202020204" pitchFamily="34" charset="0"/>
              </a:rPr>
              <a:t> </a:t>
            </a:r>
          </a:p>
          <a:p>
            <a:pPr algn="ctr"/>
            <a:r>
              <a:rPr lang="en-AU" dirty="0">
                <a:solidFill>
                  <a:srgbClr val="444444"/>
                </a:solidFill>
                <a:latin typeface="Arial" panose="020B0604020202020204" pitchFamily="34" charset="0"/>
              </a:rPr>
              <a:t> </a:t>
            </a:r>
          </a:p>
          <a:p>
            <a:r>
              <a:rPr lang="en-AU" dirty="0">
                <a:solidFill>
                  <a:srgbClr val="444444"/>
                </a:solidFill>
                <a:latin typeface="Arial" panose="020B0604020202020204" pitchFamily="34" charset="0"/>
              </a:rPr>
              <a:t>When doing this, it is important to remember our rule about current flow from batteries: conventional current will </a:t>
            </a:r>
            <a:r>
              <a:rPr lang="en-AU" b="1" dirty="0">
                <a:solidFill>
                  <a:srgbClr val="FF7F50"/>
                </a:solidFill>
                <a:latin typeface="Arial" panose="020B0604020202020204" pitchFamily="34" charset="0"/>
              </a:rPr>
              <a:t>flow away from the positive terminal,</a:t>
            </a:r>
            <a:r>
              <a:rPr lang="en-AU" dirty="0">
                <a:solidFill>
                  <a:srgbClr val="444444"/>
                </a:solidFill>
                <a:latin typeface="Arial" panose="020B0604020202020204" pitchFamily="34" charset="0"/>
              </a:rPr>
              <a:t> and </a:t>
            </a:r>
            <a:r>
              <a:rPr lang="en-AU" b="1" dirty="0">
                <a:solidFill>
                  <a:srgbClr val="B1067D"/>
                </a:solidFill>
                <a:latin typeface="Arial" panose="020B0604020202020204" pitchFamily="34" charset="0"/>
              </a:rPr>
              <a:t>towards the negative terminal.</a:t>
            </a:r>
            <a:endParaRPr lang="en-AU" b="0" i="0" dirty="0">
              <a:solidFill>
                <a:srgbClr val="444444"/>
              </a:solidFill>
              <a:effectLst/>
              <a:latin typeface="Arial" panose="020B0604020202020204" pitchFamily="34" charset="0"/>
            </a:endParaRPr>
          </a:p>
        </p:txBody>
      </p:sp>
      <p:pic>
        <p:nvPicPr>
          <p:cNvPr id="9218" name="Picture 2" descr="https://www.educationperfect.com/Images/Content/Maths/1371786639181-7787937.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46550" y="3289300"/>
            <a:ext cx="3810000" cy="2857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3605113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2182812" y="153987"/>
            <a:ext cx="7710488" cy="6901291"/>
          </a:xfrm>
          <a:prstGeom prst="rect">
            <a:avLst/>
          </a:prstGeom>
        </p:spPr>
      </p:pic>
    </p:spTree>
    <p:extLst>
      <p:ext uri="{BB962C8B-B14F-4D97-AF65-F5344CB8AC3E}">
        <p14:creationId xmlns:p14="http://schemas.microsoft.com/office/powerpoint/2010/main" val="410891547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rotWithShape="1">
          <a:blip r:embed="rId2"/>
          <a:srcRect b="63694"/>
          <a:stretch/>
        </p:blipFill>
        <p:spPr>
          <a:xfrm>
            <a:off x="666750" y="279400"/>
            <a:ext cx="9988550" cy="2387600"/>
          </a:xfrm>
          <a:prstGeom prst="rect">
            <a:avLst/>
          </a:prstGeom>
        </p:spPr>
      </p:pic>
      <p:pic>
        <p:nvPicPr>
          <p:cNvPr id="3" name="Picture 2"/>
          <p:cNvPicPr>
            <a:picLocks noChangeAspect="1"/>
          </p:cNvPicPr>
          <p:nvPr/>
        </p:nvPicPr>
        <p:blipFill>
          <a:blip r:embed="rId3"/>
          <a:stretch>
            <a:fillRect/>
          </a:stretch>
        </p:blipFill>
        <p:spPr>
          <a:xfrm>
            <a:off x="3143250" y="2441746"/>
            <a:ext cx="6089650" cy="4416254"/>
          </a:xfrm>
          <a:prstGeom prst="rect">
            <a:avLst/>
          </a:prstGeom>
        </p:spPr>
      </p:pic>
    </p:spTree>
    <p:extLst>
      <p:ext uri="{BB962C8B-B14F-4D97-AF65-F5344CB8AC3E}">
        <p14:creationId xmlns:p14="http://schemas.microsoft.com/office/powerpoint/2010/main" val="378678058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374650" y="127000"/>
            <a:ext cx="10026650" cy="4642882"/>
          </a:xfrm>
          <a:prstGeom prst="rect">
            <a:avLst/>
          </a:prstGeom>
        </p:spPr>
      </p:pic>
      <p:pic>
        <p:nvPicPr>
          <p:cNvPr id="10242" name="Picture 2" descr="https://www.educationperfect.com/media/content/Science/1606191233.68583251g/1606191233525-2187635119109693.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97775" y="3246437"/>
            <a:ext cx="3152775" cy="347662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8210017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93700" y="346145"/>
            <a:ext cx="11366500" cy="3693319"/>
          </a:xfrm>
          <a:prstGeom prst="rect">
            <a:avLst/>
          </a:prstGeom>
        </p:spPr>
        <p:txBody>
          <a:bodyPr wrap="square">
            <a:spAutoFit/>
          </a:bodyPr>
          <a:lstStyle/>
          <a:p>
            <a:pPr algn="ctr"/>
            <a:r>
              <a:rPr lang="en-AU" b="1" dirty="0">
                <a:solidFill>
                  <a:srgbClr val="444444"/>
                </a:solidFill>
                <a:latin typeface="Arial" panose="020B0604020202020204" pitchFamily="34" charset="0"/>
              </a:rPr>
              <a:t>Let’s try a more </a:t>
            </a:r>
            <a:r>
              <a:rPr lang="en-AU" b="1" dirty="0">
                <a:solidFill>
                  <a:srgbClr val="B1067D"/>
                </a:solidFill>
                <a:latin typeface="Arial" panose="020B0604020202020204" pitchFamily="34" charset="0"/>
              </a:rPr>
              <a:t>complex example!</a:t>
            </a:r>
            <a:endParaRPr lang="en-AU" dirty="0">
              <a:solidFill>
                <a:srgbClr val="444444"/>
              </a:solidFill>
              <a:latin typeface="Arial" panose="020B0604020202020204" pitchFamily="34" charset="0"/>
            </a:endParaRPr>
          </a:p>
          <a:p>
            <a:pPr algn="ctr"/>
            <a:r>
              <a:rPr lang="en-AU" dirty="0">
                <a:solidFill>
                  <a:srgbClr val="444444"/>
                </a:solidFill>
                <a:latin typeface="Arial" panose="020B0604020202020204" pitchFamily="34" charset="0"/>
              </a:rPr>
              <a:t> </a:t>
            </a:r>
          </a:p>
          <a:p>
            <a:r>
              <a:rPr lang="en-AU" dirty="0">
                <a:solidFill>
                  <a:srgbClr val="444444"/>
                </a:solidFill>
                <a:latin typeface="Arial" panose="020B0604020202020204" pitchFamily="34" charset="0"/>
              </a:rPr>
              <a:t>When approaching similar questions with more complex circuits, we can follow </a:t>
            </a:r>
            <a:r>
              <a:rPr lang="en-AU" b="1" dirty="0">
                <a:solidFill>
                  <a:srgbClr val="0066CC"/>
                </a:solidFill>
                <a:latin typeface="Arial" panose="020B0604020202020204" pitchFamily="34" charset="0"/>
              </a:rPr>
              <a:t>similar steps</a:t>
            </a:r>
            <a:r>
              <a:rPr lang="en-AU" dirty="0">
                <a:solidFill>
                  <a:srgbClr val="444444"/>
                </a:solidFill>
                <a:latin typeface="Arial" panose="020B0604020202020204" pitchFamily="34" charset="0"/>
              </a:rPr>
              <a:t> as the previous slide to find an </a:t>
            </a:r>
            <a:r>
              <a:rPr lang="en-AU" b="1" dirty="0">
                <a:solidFill>
                  <a:srgbClr val="3BA486"/>
                </a:solidFill>
                <a:latin typeface="Arial" panose="020B0604020202020204" pitchFamily="34" charset="0"/>
              </a:rPr>
              <a:t>unknown current:</a:t>
            </a:r>
            <a:endParaRPr lang="en-AU" dirty="0">
              <a:solidFill>
                <a:srgbClr val="444444"/>
              </a:solidFill>
              <a:latin typeface="Arial" panose="020B0604020202020204" pitchFamily="34" charset="0"/>
            </a:endParaRPr>
          </a:p>
          <a:p>
            <a:pPr algn="ctr"/>
            <a:r>
              <a:rPr lang="en-AU" dirty="0">
                <a:solidFill>
                  <a:srgbClr val="444444"/>
                </a:solidFill>
                <a:latin typeface="Arial" panose="020B0604020202020204" pitchFamily="34" charset="0"/>
              </a:rPr>
              <a:t> </a:t>
            </a:r>
          </a:p>
          <a:p>
            <a:pPr>
              <a:buFont typeface="+mj-lt"/>
              <a:buAutoNum type="arabicPeriod"/>
            </a:pPr>
            <a:r>
              <a:rPr lang="en-AU" dirty="0">
                <a:solidFill>
                  <a:srgbClr val="444444"/>
                </a:solidFill>
                <a:latin typeface="Arial" panose="020B0604020202020204" pitchFamily="34" charset="0"/>
              </a:rPr>
              <a:t>Draw arrows representing the </a:t>
            </a:r>
            <a:r>
              <a:rPr lang="en-AU" b="1" dirty="0">
                <a:solidFill>
                  <a:srgbClr val="B1067D"/>
                </a:solidFill>
                <a:latin typeface="Arial" panose="020B0604020202020204" pitchFamily="34" charset="0"/>
              </a:rPr>
              <a:t>direction of current flow.</a:t>
            </a:r>
            <a:endParaRPr lang="en-AU" dirty="0">
              <a:solidFill>
                <a:srgbClr val="444444"/>
              </a:solidFill>
              <a:latin typeface="Arial" panose="020B0604020202020204" pitchFamily="34" charset="0"/>
            </a:endParaRPr>
          </a:p>
          <a:p>
            <a:pPr>
              <a:buFont typeface="+mj-lt"/>
              <a:buAutoNum type="arabicPeriod"/>
            </a:pPr>
            <a:r>
              <a:rPr lang="en-AU" b="1" dirty="0">
                <a:solidFill>
                  <a:srgbClr val="3BA486"/>
                </a:solidFill>
                <a:latin typeface="Arial" panose="020B0604020202020204" pitchFamily="34" charset="0"/>
              </a:rPr>
              <a:t>Choose a junction</a:t>
            </a:r>
            <a:r>
              <a:rPr lang="en-AU" dirty="0">
                <a:solidFill>
                  <a:srgbClr val="444444"/>
                </a:solidFill>
                <a:latin typeface="Arial" panose="020B0604020202020204" pitchFamily="34" charset="0"/>
              </a:rPr>
              <a:t> that involves the unknown current of interest. </a:t>
            </a:r>
          </a:p>
          <a:p>
            <a:pPr>
              <a:buFont typeface="+mj-lt"/>
              <a:buAutoNum type="arabicPeriod"/>
            </a:pPr>
            <a:r>
              <a:rPr lang="en-AU" dirty="0">
                <a:solidFill>
                  <a:srgbClr val="444444"/>
                </a:solidFill>
                <a:latin typeface="Arial" panose="020B0604020202020204" pitchFamily="34" charset="0"/>
              </a:rPr>
              <a:t>Write an expression of </a:t>
            </a:r>
            <a:r>
              <a:rPr lang="en-AU" b="1" dirty="0">
                <a:solidFill>
                  <a:srgbClr val="0066CC"/>
                </a:solidFill>
                <a:latin typeface="Arial" panose="020B0604020202020204" pitchFamily="34" charset="0"/>
              </a:rPr>
              <a:t>Kirchhoff’s current law</a:t>
            </a:r>
            <a:r>
              <a:rPr lang="en-AU" dirty="0">
                <a:solidFill>
                  <a:srgbClr val="444444"/>
                </a:solidFill>
                <a:latin typeface="Arial" panose="020B0604020202020204" pitchFamily="34" charset="0"/>
              </a:rPr>
              <a:t> for that junction.</a:t>
            </a:r>
          </a:p>
          <a:p>
            <a:pPr>
              <a:buFont typeface="+mj-lt"/>
              <a:buAutoNum type="arabicPeriod"/>
            </a:pPr>
            <a:r>
              <a:rPr lang="en-AU" dirty="0">
                <a:solidFill>
                  <a:srgbClr val="444444"/>
                </a:solidFill>
                <a:latin typeface="Arial" panose="020B0604020202020204" pitchFamily="34" charset="0"/>
              </a:rPr>
              <a:t>If another unknown current is involved in this junction, then repeat steps 2 and 3 at a different junction in order to have an equation for </a:t>
            </a:r>
            <a:r>
              <a:rPr lang="en-AU" b="1" dirty="0">
                <a:solidFill>
                  <a:srgbClr val="B1067D"/>
                </a:solidFill>
                <a:latin typeface="Arial" panose="020B0604020202020204" pitchFamily="34" charset="0"/>
              </a:rPr>
              <a:t>each unknown current.</a:t>
            </a:r>
            <a:r>
              <a:rPr lang="en-AU" dirty="0">
                <a:solidFill>
                  <a:srgbClr val="444444"/>
                </a:solidFill>
                <a:latin typeface="Arial" panose="020B0604020202020204" pitchFamily="34" charset="0"/>
              </a:rPr>
              <a:t> </a:t>
            </a:r>
          </a:p>
          <a:p>
            <a:pPr>
              <a:buFont typeface="+mj-lt"/>
              <a:buAutoNum type="arabicPeriod"/>
            </a:pPr>
            <a:r>
              <a:rPr lang="en-AU" dirty="0">
                <a:solidFill>
                  <a:srgbClr val="444444"/>
                </a:solidFill>
                <a:latin typeface="Arial" panose="020B0604020202020204" pitchFamily="34" charset="0"/>
              </a:rPr>
              <a:t>Rearrange the equations if necessary, and </a:t>
            </a:r>
            <a:r>
              <a:rPr lang="en-AU" b="1" dirty="0">
                <a:solidFill>
                  <a:srgbClr val="3BA486"/>
                </a:solidFill>
                <a:latin typeface="Arial" panose="020B0604020202020204" pitchFamily="34" charset="0"/>
              </a:rPr>
              <a:t>solve for the unknown currents.</a:t>
            </a:r>
            <a:endParaRPr lang="en-AU" dirty="0">
              <a:solidFill>
                <a:srgbClr val="444444"/>
              </a:solidFill>
              <a:latin typeface="Arial" panose="020B0604020202020204" pitchFamily="34" charset="0"/>
            </a:endParaRPr>
          </a:p>
          <a:p>
            <a:pPr algn="ctr"/>
            <a:r>
              <a:rPr lang="en-AU" dirty="0">
                <a:solidFill>
                  <a:srgbClr val="444444"/>
                </a:solidFill>
                <a:latin typeface="Arial" panose="020B0604020202020204" pitchFamily="34" charset="0"/>
              </a:rPr>
              <a:t> </a:t>
            </a:r>
          </a:p>
          <a:p>
            <a:r>
              <a:rPr lang="en-AU" dirty="0">
                <a:solidFill>
                  <a:srgbClr val="444444"/>
                </a:solidFill>
                <a:latin typeface="Arial" panose="020B0604020202020204" pitchFamily="34" charset="0"/>
              </a:rPr>
              <a:t>Let’s have a go! Given the circuit provided, what is the </a:t>
            </a:r>
            <a:r>
              <a:rPr lang="en-AU" b="1" dirty="0">
                <a:solidFill>
                  <a:srgbClr val="0066CC"/>
                </a:solidFill>
                <a:latin typeface="Arial" panose="020B0604020202020204" pitchFamily="34" charset="0"/>
              </a:rPr>
              <a:t>current</a:t>
            </a:r>
            <a:r>
              <a:rPr lang="en-AU" dirty="0">
                <a:solidFill>
                  <a:srgbClr val="444444"/>
                </a:solidFill>
                <a:latin typeface="Arial" panose="020B0604020202020204" pitchFamily="34" charset="0"/>
              </a:rPr>
              <a:t> travelling through the </a:t>
            </a:r>
            <a:r>
              <a:rPr lang="en-AU" b="1" dirty="0">
                <a:solidFill>
                  <a:srgbClr val="0066CC"/>
                </a:solidFill>
                <a:latin typeface="Arial" panose="020B0604020202020204" pitchFamily="34" charset="0"/>
              </a:rPr>
              <a:t>lamp?</a:t>
            </a:r>
            <a:endParaRPr lang="en-AU" b="0" i="0" dirty="0">
              <a:solidFill>
                <a:srgbClr val="444444"/>
              </a:solidFill>
              <a:effectLst/>
              <a:latin typeface="Arial" panose="020B0604020202020204" pitchFamily="34" charset="0"/>
            </a:endParaRPr>
          </a:p>
        </p:txBody>
      </p:sp>
      <p:pic>
        <p:nvPicPr>
          <p:cNvPr id="11266" name="Picture 2" descr="https://www.educationperfect.com/media/content/Science/1606190612.3117161g/1606190612140-2187635119109693.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590904" y="4039464"/>
            <a:ext cx="2778395" cy="291219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4277501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58800" y="443637"/>
            <a:ext cx="10883900" cy="1200329"/>
          </a:xfrm>
          <a:prstGeom prst="rect">
            <a:avLst/>
          </a:prstGeom>
        </p:spPr>
        <p:txBody>
          <a:bodyPr wrap="square">
            <a:spAutoFit/>
          </a:bodyPr>
          <a:lstStyle/>
          <a:p>
            <a:pPr algn="ctr"/>
            <a:r>
              <a:rPr lang="en-AU" b="1" dirty="0">
                <a:solidFill>
                  <a:srgbClr val="444444"/>
                </a:solidFill>
                <a:latin typeface="Arial" panose="020B0604020202020204" pitchFamily="34" charset="0"/>
              </a:rPr>
              <a:t>Step one is to </a:t>
            </a:r>
            <a:r>
              <a:rPr lang="en-AU" b="1" dirty="0">
                <a:solidFill>
                  <a:srgbClr val="0066CC"/>
                </a:solidFill>
                <a:latin typeface="Arial" panose="020B0604020202020204" pitchFamily="34" charset="0"/>
              </a:rPr>
              <a:t>draw arrows</a:t>
            </a:r>
            <a:r>
              <a:rPr lang="en-AU" b="1" dirty="0">
                <a:solidFill>
                  <a:srgbClr val="444444"/>
                </a:solidFill>
                <a:latin typeface="Arial" panose="020B0604020202020204" pitchFamily="34" charset="0"/>
              </a:rPr>
              <a:t> to represent the </a:t>
            </a:r>
            <a:r>
              <a:rPr lang="en-AU" b="1" dirty="0">
                <a:solidFill>
                  <a:srgbClr val="B1067D"/>
                </a:solidFill>
                <a:latin typeface="Arial" panose="020B0604020202020204" pitchFamily="34" charset="0"/>
              </a:rPr>
              <a:t>direction of current flow.</a:t>
            </a:r>
            <a:endParaRPr lang="en-AU" dirty="0">
              <a:solidFill>
                <a:srgbClr val="444444"/>
              </a:solidFill>
              <a:latin typeface="Arial" panose="020B0604020202020204" pitchFamily="34" charset="0"/>
            </a:endParaRPr>
          </a:p>
          <a:p>
            <a:pPr algn="ctr"/>
            <a:r>
              <a:rPr lang="en-AU" dirty="0">
                <a:solidFill>
                  <a:srgbClr val="444444"/>
                </a:solidFill>
                <a:latin typeface="Arial" panose="020B0604020202020204" pitchFamily="34" charset="0"/>
              </a:rPr>
              <a:t> </a:t>
            </a:r>
          </a:p>
          <a:p>
            <a:r>
              <a:rPr lang="en-AU" dirty="0">
                <a:solidFill>
                  <a:srgbClr val="444444"/>
                </a:solidFill>
                <a:latin typeface="Arial" panose="020B0604020202020204" pitchFamily="34" charset="0"/>
              </a:rPr>
              <a:t>Recall that conventional current will always travel </a:t>
            </a:r>
            <a:r>
              <a:rPr lang="en-AU" b="1" dirty="0">
                <a:solidFill>
                  <a:srgbClr val="0066CC"/>
                </a:solidFill>
                <a:latin typeface="Arial" panose="020B0604020202020204" pitchFamily="34" charset="0"/>
              </a:rPr>
              <a:t>from the positive terminal</a:t>
            </a:r>
            <a:r>
              <a:rPr lang="en-AU" dirty="0">
                <a:solidFill>
                  <a:srgbClr val="444444"/>
                </a:solidFill>
                <a:latin typeface="Arial" panose="020B0604020202020204" pitchFamily="34" charset="0"/>
              </a:rPr>
              <a:t> to the negative terminal of a battery. </a:t>
            </a:r>
            <a:endParaRPr lang="en-AU" b="0" i="0" dirty="0">
              <a:solidFill>
                <a:srgbClr val="444444"/>
              </a:solidFill>
              <a:effectLst/>
              <a:latin typeface="Arial" panose="020B0604020202020204" pitchFamily="34" charset="0"/>
            </a:endParaRPr>
          </a:p>
        </p:txBody>
      </p:sp>
      <p:pic>
        <p:nvPicPr>
          <p:cNvPr id="12290" name="Picture 2" descr="https://www.educationperfect.com/media/content/Science/1606190638.30822161g/1606190638143-2187635119109693.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76725" y="2525712"/>
            <a:ext cx="3448050" cy="352425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721939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66700" y="283339"/>
            <a:ext cx="11582400" cy="1754326"/>
          </a:xfrm>
          <a:prstGeom prst="rect">
            <a:avLst/>
          </a:prstGeom>
        </p:spPr>
        <p:txBody>
          <a:bodyPr wrap="square">
            <a:spAutoFit/>
          </a:bodyPr>
          <a:lstStyle/>
          <a:p>
            <a:pPr algn="ctr"/>
            <a:r>
              <a:rPr lang="en-AU" b="1" dirty="0">
                <a:solidFill>
                  <a:srgbClr val="444444"/>
                </a:solidFill>
                <a:latin typeface="Arial" panose="020B0604020202020204" pitchFamily="34" charset="0"/>
              </a:rPr>
              <a:t>Step two is to </a:t>
            </a:r>
            <a:r>
              <a:rPr lang="en-AU" b="1" dirty="0">
                <a:solidFill>
                  <a:srgbClr val="3BA486"/>
                </a:solidFill>
                <a:latin typeface="Arial" panose="020B0604020202020204" pitchFamily="34" charset="0"/>
              </a:rPr>
              <a:t>choose a junction</a:t>
            </a:r>
            <a:r>
              <a:rPr lang="en-AU" b="1" dirty="0">
                <a:solidFill>
                  <a:srgbClr val="444444"/>
                </a:solidFill>
                <a:latin typeface="Arial" panose="020B0604020202020204" pitchFamily="34" charset="0"/>
              </a:rPr>
              <a:t> involving the unknown current of interest.</a:t>
            </a:r>
            <a:r>
              <a:rPr lang="en-AU" dirty="0">
                <a:solidFill>
                  <a:srgbClr val="444444"/>
                </a:solidFill>
                <a:latin typeface="Arial" panose="020B0604020202020204" pitchFamily="34" charset="0"/>
              </a:rPr>
              <a:t> </a:t>
            </a:r>
          </a:p>
          <a:p>
            <a:pPr algn="ctr"/>
            <a:r>
              <a:rPr lang="en-AU" dirty="0">
                <a:solidFill>
                  <a:srgbClr val="444444"/>
                </a:solidFill>
                <a:latin typeface="Arial" panose="020B0604020202020204" pitchFamily="34" charset="0"/>
              </a:rPr>
              <a:t> </a:t>
            </a:r>
          </a:p>
          <a:p>
            <a:r>
              <a:rPr lang="en-AU" dirty="0">
                <a:solidFill>
                  <a:srgbClr val="444444"/>
                </a:solidFill>
                <a:latin typeface="Arial" panose="020B0604020202020204" pitchFamily="34" charset="0"/>
              </a:rPr>
              <a:t>It also pays to </a:t>
            </a:r>
            <a:r>
              <a:rPr lang="en-AU" b="1" dirty="0">
                <a:solidFill>
                  <a:srgbClr val="0066CC"/>
                </a:solidFill>
                <a:latin typeface="Arial" panose="020B0604020202020204" pitchFamily="34" charset="0"/>
              </a:rPr>
              <a:t>label all unknown currents</a:t>
            </a:r>
            <a:r>
              <a:rPr lang="en-AU" dirty="0">
                <a:solidFill>
                  <a:srgbClr val="444444"/>
                </a:solidFill>
                <a:latin typeface="Arial" panose="020B0604020202020204" pitchFamily="34" charset="0"/>
              </a:rPr>
              <a:t> in this step to help you </a:t>
            </a:r>
            <a:r>
              <a:rPr lang="en-AU" b="1" dirty="0">
                <a:solidFill>
                  <a:srgbClr val="B1067D"/>
                </a:solidFill>
                <a:latin typeface="Arial" panose="020B0604020202020204" pitchFamily="34" charset="0"/>
              </a:rPr>
              <a:t>keep track</a:t>
            </a:r>
            <a:r>
              <a:rPr lang="en-AU" dirty="0">
                <a:solidFill>
                  <a:srgbClr val="444444"/>
                </a:solidFill>
                <a:latin typeface="Arial" panose="020B0604020202020204" pitchFamily="34" charset="0"/>
              </a:rPr>
              <a:t> of what you’re trying to work out!</a:t>
            </a:r>
          </a:p>
          <a:p>
            <a:pPr algn="ctr"/>
            <a:r>
              <a:rPr lang="en-AU" dirty="0">
                <a:solidFill>
                  <a:srgbClr val="444444"/>
                </a:solidFill>
                <a:latin typeface="Arial" panose="020B0604020202020204" pitchFamily="34" charset="0"/>
              </a:rPr>
              <a:t> </a:t>
            </a:r>
          </a:p>
          <a:p>
            <a:r>
              <a:rPr lang="en-AU" dirty="0">
                <a:solidFill>
                  <a:srgbClr val="444444"/>
                </a:solidFill>
                <a:latin typeface="Arial" panose="020B0604020202020204" pitchFamily="34" charset="0"/>
              </a:rPr>
              <a:t>Note that in this example, we have </a:t>
            </a:r>
            <a:r>
              <a:rPr lang="en-AU" b="1" dirty="0">
                <a:solidFill>
                  <a:srgbClr val="B1067D"/>
                </a:solidFill>
                <a:latin typeface="Arial" panose="020B0604020202020204" pitchFamily="34" charset="0"/>
              </a:rPr>
              <a:t>chosen the junction to the left</a:t>
            </a:r>
            <a:r>
              <a:rPr lang="en-AU" dirty="0">
                <a:solidFill>
                  <a:srgbClr val="444444"/>
                </a:solidFill>
                <a:latin typeface="Arial" panose="020B0604020202020204" pitchFamily="34" charset="0"/>
              </a:rPr>
              <a:t> of the lamp. We could’ve also chosen the </a:t>
            </a:r>
            <a:r>
              <a:rPr lang="en-AU" b="1" dirty="0">
                <a:solidFill>
                  <a:srgbClr val="0066CC"/>
                </a:solidFill>
                <a:latin typeface="Arial" panose="020B0604020202020204" pitchFamily="34" charset="0"/>
              </a:rPr>
              <a:t>junction to the right</a:t>
            </a:r>
            <a:r>
              <a:rPr lang="en-AU" dirty="0">
                <a:solidFill>
                  <a:srgbClr val="444444"/>
                </a:solidFill>
                <a:latin typeface="Arial" panose="020B0604020202020204" pitchFamily="34" charset="0"/>
              </a:rPr>
              <a:t> of the lamp, and we would get the same end result.</a:t>
            </a:r>
            <a:endParaRPr lang="en-AU" b="0" i="0" dirty="0">
              <a:solidFill>
                <a:srgbClr val="444444"/>
              </a:solidFill>
              <a:effectLst/>
              <a:latin typeface="Arial" panose="020B0604020202020204" pitchFamily="34" charset="0"/>
            </a:endParaRPr>
          </a:p>
        </p:txBody>
      </p:sp>
      <p:pic>
        <p:nvPicPr>
          <p:cNvPr id="13314" name="Picture 2" descr="https://www.educationperfect.com/media/content/Science/1606190666.0347881g/1606190665864-2187635119109693.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333875" y="2843212"/>
            <a:ext cx="3448050" cy="352425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267719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93700" y="195640"/>
            <a:ext cx="11455400" cy="2031325"/>
          </a:xfrm>
          <a:prstGeom prst="rect">
            <a:avLst/>
          </a:prstGeom>
        </p:spPr>
        <p:txBody>
          <a:bodyPr wrap="square">
            <a:spAutoFit/>
          </a:bodyPr>
          <a:lstStyle/>
          <a:p>
            <a:pPr algn="ctr"/>
            <a:r>
              <a:rPr lang="en-AU" b="1" dirty="0">
                <a:solidFill>
                  <a:srgbClr val="444444"/>
                </a:solidFill>
                <a:latin typeface="Arial" panose="020B0604020202020204" pitchFamily="34" charset="0"/>
              </a:rPr>
              <a:t>Step three is to </a:t>
            </a:r>
            <a:r>
              <a:rPr lang="en-AU" b="1" dirty="0">
                <a:solidFill>
                  <a:srgbClr val="0066CC"/>
                </a:solidFill>
                <a:latin typeface="Arial" panose="020B0604020202020204" pitchFamily="34" charset="0"/>
              </a:rPr>
              <a:t>write an expression of Kirchhoff’s current law</a:t>
            </a:r>
            <a:r>
              <a:rPr lang="en-AU" b="1" dirty="0">
                <a:solidFill>
                  <a:srgbClr val="444444"/>
                </a:solidFill>
                <a:latin typeface="Arial" panose="020B0604020202020204" pitchFamily="34" charset="0"/>
              </a:rPr>
              <a:t> for your chosen junction.</a:t>
            </a:r>
            <a:r>
              <a:rPr lang="en-AU" dirty="0">
                <a:solidFill>
                  <a:srgbClr val="444444"/>
                </a:solidFill>
                <a:latin typeface="Arial" panose="020B0604020202020204" pitchFamily="34" charset="0"/>
              </a:rPr>
              <a:t> </a:t>
            </a:r>
          </a:p>
          <a:p>
            <a:pPr algn="ctr"/>
            <a:r>
              <a:rPr lang="en-AU" dirty="0">
                <a:solidFill>
                  <a:srgbClr val="444444"/>
                </a:solidFill>
                <a:latin typeface="Arial" panose="020B0604020202020204" pitchFamily="34" charset="0"/>
              </a:rPr>
              <a:t> </a:t>
            </a:r>
          </a:p>
          <a:p>
            <a:r>
              <a:rPr lang="en-AU" dirty="0">
                <a:solidFill>
                  <a:srgbClr val="444444"/>
                </a:solidFill>
                <a:latin typeface="Arial" panose="020B0604020202020204" pitchFamily="34" charset="0"/>
              </a:rPr>
              <a:t>Following Kirchhoff’s current law, the </a:t>
            </a:r>
            <a:r>
              <a:rPr lang="en-AU" b="1" dirty="0">
                <a:solidFill>
                  <a:srgbClr val="3BA486"/>
                </a:solidFill>
                <a:latin typeface="Arial" panose="020B0604020202020204" pitchFamily="34" charset="0"/>
              </a:rPr>
              <a:t>equation</a:t>
            </a:r>
            <a:r>
              <a:rPr lang="en-AU" dirty="0">
                <a:solidFill>
                  <a:srgbClr val="444444"/>
                </a:solidFill>
                <a:latin typeface="Arial" panose="020B0604020202020204" pitchFamily="34" charset="0"/>
              </a:rPr>
              <a:t> for this circled junction can be written as </a:t>
            </a:r>
            <a:r>
              <a:rPr lang="en-AU" b="1" i="1" dirty="0" err="1">
                <a:solidFill>
                  <a:srgbClr val="B1067D"/>
                </a:solidFill>
                <a:latin typeface="KaTeX_Math"/>
              </a:rPr>
              <a:t>I</a:t>
            </a:r>
            <a:r>
              <a:rPr lang="en-AU" b="1" i="1" baseline="-25000" dirty="0" err="1">
                <a:solidFill>
                  <a:srgbClr val="B1067D"/>
                </a:solidFill>
                <a:latin typeface="KaTeX_Math"/>
              </a:rPr>
              <a:t>a</a:t>
            </a:r>
            <a:r>
              <a:rPr lang="en-AU" dirty="0">
                <a:solidFill>
                  <a:srgbClr val="B1067D"/>
                </a:solidFill>
                <a:latin typeface="KaTeX_Main"/>
              </a:rPr>
              <a:t>​</a:t>
            </a:r>
            <a:r>
              <a:rPr lang="en-AU" b="1" dirty="0">
                <a:solidFill>
                  <a:srgbClr val="B1067D"/>
                </a:solidFill>
                <a:latin typeface="KaTeX_Main"/>
              </a:rPr>
              <a:t>=</a:t>
            </a:r>
            <a:r>
              <a:rPr lang="en-AU" b="1" i="1" dirty="0" err="1">
                <a:solidFill>
                  <a:srgbClr val="B1067D"/>
                </a:solidFill>
                <a:latin typeface="KaTeX_Math"/>
              </a:rPr>
              <a:t>I</a:t>
            </a:r>
            <a:r>
              <a:rPr lang="en-AU" b="1" i="1" baseline="-25000" dirty="0" err="1">
                <a:solidFill>
                  <a:srgbClr val="B1067D"/>
                </a:solidFill>
                <a:latin typeface="KaTeX_Math"/>
              </a:rPr>
              <a:t>lamp</a:t>
            </a:r>
            <a:r>
              <a:rPr lang="en-AU" baseline="-25000" dirty="0">
                <a:solidFill>
                  <a:srgbClr val="B1067D"/>
                </a:solidFill>
                <a:latin typeface="KaTeX_Main"/>
              </a:rPr>
              <a:t>​</a:t>
            </a:r>
            <a:r>
              <a:rPr lang="en-AU" b="1" dirty="0">
                <a:solidFill>
                  <a:srgbClr val="B1067D"/>
                </a:solidFill>
                <a:latin typeface="KaTeX_Main"/>
              </a:rPr>
              <a:t>+6A.</a:t>
            </a:r>
            <a:endParaRPr lang="en-AU" dirty="0">
              <a:solidFill>
                <a:srgbClr val="444444"/>
              </a:solidFill>
              <a:latin typeface="Arial" panose="020B0604020202020204" pitchFamily="34" charset="0"/>
            </a:endParaRPr>
          </a:p>
          <a:p>
            <a:pPr algn="ctr"/>
            <a:r>
              <a:rPr lang="en-AU" dirty="0">
                <a:solidFill>
                  <a:srgbClr val="444444"/>
                </a:solidFill>
                <a:latin typeface="Arial" panose="020B0604020202020204" pitchFamily="34" charset="0"/>
              </a:rPr>
              <a:t> </a:t>
            </a:r>
          </a:p>
          <a:p>
            <a:r>
              <a:rPr lang="en-AU" dirty="0">
                <a:solidFill>
                  <a:srgbClr val="444444"/>
                </a:solidFill>
                <a:latin typeface="Arial" panose="020B0604020202020204" pitchFamily="34" charset="0"/>
              </a:rPr>
              <a:t>Because this equation also contains </a:t>
            </a:r>
            <a:r>
              <a:rPr lang="en-AU" b="1" dirty="0">
                <a:solidFill>
                  <a:srgbClr val="3BA486"/>
                </a:solidFill>
                <a:latin typeface="Arial" panose="020B0604020202020204" pitchFamily="34" charset="0"/>
              </a:rPr>
              <a:t>another unknown current</a:t>
            </a:r>
            <a:r>
              <a:rPr lang="en-AU" dirty="0">
                <a:solidFill>
                  <a:srgbClr val="444444"/>
                </a:solidFill>
                <a:latin typeface="Arial" panose="020B0604020202020204" pitchFamily="34" charset="0"/>
              </a:rPr>
              <a:t>—</a:t>
            </a:r>
            <a:r>
              <a:rPr lang="en-AU" dirty="0">
                <a:solidFill>
                  <a:srgbClr val="444444"/>
                </a:solidFill>
                <a:latin typeface="KaTeX_Main"/>
              </a:rPr>
              <a:t> </a:t>
            </a:r>
            <a:r>
              <a:rPr lang="en-AU" i="1" dirty="0" err="1">
                <a:solidFill>
                  <a:srgbClr val="444444"/>
                </a:solidFill>
                <a:latin typeface="KaTeX_Math"/>
              </a:rPr>
              <a:t>I</a:t>
            </a:r>
            <a:r>
              <a:rPr lang="en-AU" i="1" baseline="-25000" dirty="0" err="1">
                <a:solidFill>
                  <a:srgbClr val="444444"/>
                </a:solidFill>
                <a:latin typeface="KaTeX_Math"/>
              </a:rPr>
              <a:t>a</a:t>
            </a:r>
            <a:r>
              <a:rPr lang="en-AU" dirty="0">
                <a:solidFill>
                  <a:srgbClr val="444444"/>
                </a:solidFill>
                <a:latin typeface="KaTeX_Main"/>
              </a:rPr>
              <a:t>​</a:t>
            </a:r>
            <a:r>
              <a:rPr lang="en-AU" dirty="0">
                <a:solidFill>
                  <a:srgbClr val="444444"/>
                </a:solidFill>
                <a:latin typeface="Arial" panose="020B0604020202020204" pitchFamily="34" charset="0"/>
              </a:rPr>
              <a:t>—we must write another equation using a </a:t>
            </a:r>
            <a:r>
              <a:rPr lang="en-AU" b="1" dirty="0">
                <a:solidFill>
                  <a:srgbClr val="0066CC"/>
                </a:solidFill>
                <a:latin typeface="Arial" panose="020B0604020202020204" pitchFamily="34" charset="0"/>
              </a:rPr>
              <a:t>different junction</a:t>
            </a:r>
            <a:r>
              <a:rPr lang="en-AU" dirty="0">
                <a:solidFill>
                  <a:srgbClr val="444444"/>
                </a:solidFill>
                <a:latin typeface="Arial" panose="020B0604020202020204" pitchFamily="34" charset="0"/>
              </a:rPr>
              <a:t> to allow us to calculate </a:t>
            </a:r>
            <a:r>
              <a:rPr lang="en-AU" i="1" dirty="0" err="1">
                <a:solidFill>
                  <a:srgbClr val="444444"/>
                </a:solidFill>
                <a:latin typeface="KaTeX_Math"/>
              </a:rPr>
              <a:t>I</a:t>
            </a:r>
            <a:r>
              <a:rPr lang="en-AU" i="1" baseline="-25000" dirty="0" err="1">
                <a:solidFill>
                  <a:srgbClr val="444444"/>
                </a:solidFill>
                <a:latin typeface="KaTeX_Math"/>
              </a:rPr>
              <a:t>a</a:t>
            </a:r>
            <a:r>
              <a:rPr lang="en-AU" dirty="0">
                <a:solidFill>
                  <a:srgbClr val="444444"/>
                </a:solidFill>
                <a:latin typeface="KaTeX_Main"/>
              </a:rPr>
              <a:t>​.</a:t>
            </a:r>
            <a:r>
              <a:rPr lang="en-AU" dirty="0">
                <a:solidFill>
                  <a:srgbClr val="444444"/>
                </a:solidFill>
                <a:latin typeface="Arial" panose="020B0604020202020204" pitchFamily="34" charset="0"/>
              </a:rPr>
              <a:t> This junction has been indicated with a star, and the equation for this junction can be written as </a:t>
            </a:r>
            <a:r>
              <a:rPr lang="en-AU" b="1" dirty="0">
                <a:solidFill>
                  <a:srgbClr val="B1067D"/>
                </a:solidFill>
                <a:latin typeface="KaTeX_Main"/>
              </a:rPr>
              <a:t>5A+3A=</a:t>
            </a:r>
            <a:r>
              <a:rPr lang="en-AU" b="1" i="1" dirty="0" err="1">
                <a:solidFill>
                  <a:srgbClr val="B1067D"/>
                </a:solidFill>
                <a:latin typeface="KaTeX_Math"/>
              </a:rPr>
              <a:t>I</a:t>
            </a:r>
            <a:r>
              <a:rPr lang="en-AU" b="1" i="1" baseline="-25000" dirty="0" err="1">
                <a:solidFill>
                  <a:srgbClr val="B1067D"/>
                </a:solidFill>
                <a:latin typeface="KaTeX_Math"/>
              </a:rPr>
              <a:t>a</a:t>
            </a:r>
            <a:r>
              <a:rPr lang="en-AU" dirty="0">
                <a:solidFill>
                  <a:srgbClr val="B1067D"/>
                </a:solidFill>
                <a:latin typeface="KaTeX_Main"/>
              </a:rPr>
              <a:t>​</a:t>
            </a:r>
            <a:r>
              <a:rPr lang="en-AU" b="1" dirty="0">
                <a:solidFill>
                  <a:srgbClr val="B1067D"/>
                </a:solidFill>
                <a:latin typeface="KaTeX_Main"/>
              </a:rPr>
              <a:t>.</a:t>
            </a:r>
            <a:endParaRPr lang="en-AU" b="0" i="0" dirty="0">
              <a:solidFill>
                <a:srgbClr val="444444"/>
              </a:solidFill>
              <a:effectLst/>
              <a:latin typeface="Arial" panose="020B0604020202020204" pitchFamily="34" charset="0"/>
            </a:endParaRPr>
          </a:p>
        </p:txBody>
      </p:sp>
      <p:pic>
        <p:nvPicPr>
          <p:cNvPr id="14338" name="Picture 2" descr="https://www.educationperfect.com/media/content/Science/1606190695.14386961g/1606190694951-2187635119109693.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63975" y="2436812"/>
            <a:ext cx="4492625" cy="44327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3205844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896937" y="196850"/>
            <a:ext cx="7705725" cy="4229100"/>
          </a:xfrm>
          <a:prstGeom prst="rect">
            <a:avLst/>
          </a:prstGeom>
        </p:spPr>
      </p:pic>
      <p:pic>
        <p:nvPicPr>
          <p:cNvPr id="15362" name="Picture 2" descr="https://www.educationperfect.com/media/content/Science/1606190695.14386961g/1606190694951-2187635119109693.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991475" y="2995612"/>
            <a:ext cx="3571875" cy="352425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5155469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1489074" y="0"/>
            <a:ext cx="8582025" cy="6947354"/>
          </a:xfrm>
          <a:prstGeom prst="rect">
            <a:avLst/>
          </a:prstGeom>
        </p:spPr>
      </p:pic>
    </p:spTree>
    <p:extLst>
      <p:ext uri="{BB962C8B-B14F-4D97-AF65-F5344CB8AC3E}">
        <p14:creationId xmlns:p14="http://schemas.microsoft.com/office/powerpoint/2010/main" val="176920623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1538287" y="171450"/>
            <a:ext cx="8520113" cy="6651102"/>
          </a:xfrm>
          <a:prstGeom prst="rect">
            <a:avLst/>
          </a:prstGeom>
        </p:spPr>
      </p:pic>
    </p:spTree>
    <p:extLst>
      <p:ext uri="{BB962C8B-B14F-4D97-AF65-F5344CB8AC3E}">
        <p14:creationId xmlns:p14="http://schemas.microsoft.com/office/powerpoint/2010/main" val="334510406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442912" y="166687"/>
            <a:ext cx="6429375" cy="4162425"/>
          </a:xfrm>
          <a:prstGeom prst="rect">
            <a:avLst/>
          </a:prstGeom>
        </p:spPr>
      </p:pic>
      <p:pic>
        <p:nvPicPr>
          <p:cNvPr id="3" name="Picture 2"/>
          <p:cNvPicPr>
            <a:picLocks noChangeAspect="1"/>
          </p:cNvPicPr>
          <p:nvPr/>
        </p:nvPicPr>
        <p:blipFill>
          <a:blip r:embed="rId3"/>
          <a:stretch>
            <a:fillRect/>
          </a:stretch>
        </p:blipFill>
        <p:spPr>
          <a:xfrm>
            <a:off x="5594350" y="1739900"/>
            <a:ext cx="6743700" cy="4876800"/>
          </a:xfrm>
          <a:prstGeom prst="rect">
            <a:avLst/>
          </a:prstGeom>
        </p:spPr>
      </p:pic>
    </p:spTree>
    <p:extLst>
      <p:ext uri="{BB962C8B-B14F-4D97-AF65-F5344CB8AC3E}">
        <p14:creationId xmlns:p14="http://schemas.microsoft.com/office/powerpoint/2010/main" val="400661049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2078037" y="220662"/>
            <a:ext cx="8208963" cy="6449038"/>
          </a:xfrm>
          <a:prstGeom prst="rect">
            <a:avLst/>
          </a:prstGeom>
        </p:spPr>
      </p:pic>
    </p:spTree>
    <p:extLst>
      <p:ext uri="{BB962C8B-B14F-4D97-AF65-F5344CB8AC3E}">
        <p14:creationId xmlns:p14="http://schemas.microsoft.com/office/powerpoint/2010/main" val="166777898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765175" y="388937"/>
            <a:ext cx="11070764" cy="5478463"/>
          </a:xfrm>
          <a:prstGeom prst="rect">
            <a:avLst/>
          </a:prstGeom>
        </p:spPr>
      </p:pic>
    </p:spTree>
    <p:extLst>
      <p:ext uri="{BB962C8B-B14F-4D97-AF65-F5344CB8AC3E}">
        <p14:creationId xmlns:p14="http://schemas.microsoft.com/office/powerpoint/2010/main" val="427873426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89</TotalTime>
  <Words>142</Words>
  <Application>Microsoft Office PowerPoint</Application>
  <PresentationFormat>Widescreen</PresentationFormat>
  <Paragraphs>67</Paragraphs>
  <Slides>28</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28</vt:i4>
      </vt:variant>
    </vt:vector>
  </HeadingPairs>
  <TitlesOfParts>
    <vt:vector size="34" baseType="lpstr">
      <vt:lpstr>Arial</vt:lpstr>
      <vt:lpstr>Calibri</vt:lpstr>
      <vt:lpstr>Calibri Light</vt:lpstr>
      <vt:lpstr>KaTeX_Main</vt:lpstr>
      <vt:lpstr>KaTeX_Math</vt:lpstr>
      <vt:lpstr>Office Theme</vt:lpstr>
      <vt:lpstr>Kirchhoff’s Current Law</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Kirchhoff’s Laws</dc:title>
  <dc:creator>Joseph D'cruz</dc:creator>
  <cp:lastModifiedBy>Joseph D'cruz</cp:lastModifiedBy>
  <cp:revision>5</cp:revision>
  <dcterms:created xsi:type="dcterms:W3CDTF">2020-07-15T05:50:35Z</dcterms:created>
  <dcterms:modified xsi:type="dcterms:W3CDTF">2021-04-03T03:37:56Z</dcterms:modified>
</cp:coreProperties>
</file>
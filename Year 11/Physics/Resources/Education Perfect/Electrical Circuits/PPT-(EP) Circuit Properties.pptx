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77" r:id="rId11"/>
    <p:sldId id="276" r:id="rId12"/>
    <p:sldId id="263" r:id="rId13"/>
    <p:sldId id="265" r:id="rId14"/>
    <p:sldId id="266" r:id="rId15"/>
    <p:sldId id="267" r:id="rId16"/>
    <p:sldId id="278" r:id="rId17"/>
    <p:sldId id="282" r:id="rId18"/>
    <p:sldId id="281" r:id="rId19"/>
    <p:sldId id="280" r:id="rId20"/>
    <p:sldId id="279" r:id="rId21"/>
    <p:sldId id="283" r:id="rId22"/>
    <p:sldId id="284" r:id="rId23"/>
    <p:sldId id="285" r:id="rId24"/>
    <p:sldId id="268" r:id="rId25"/>
    <p:sldId id="269" r:id="rId26"/>
    <p:sldId id="270" r:id="rId27"/>
    <p:sldId id="264" r:id="rId28"/>
    <p:sldId id="271" r:id="rId29"/>
    <p:sldId id="272" r:id="rId30"/>
    <p:sldId id="273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865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0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35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359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75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55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91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688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470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30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93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35A41-DE9C-4A28-A079-7C2D9E429106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D60A0-546C-4150-B984-6140E35DC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93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dOYB873AJGw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Circuit Properties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3178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621437"/>
            <a:ext cx="11658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revise some basic principles, including learning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Draw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circuit diagram.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Symbolise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components of circuits.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definitions of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current,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voltage.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Maths/1368070158931-6159525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5941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32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142439"/>
            <a:ext cx="1092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loop of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connects an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an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energy user.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usually a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battery.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it could also be a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generator.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energy user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object that needs the </a:t>
            </a:r>
            <a:r>
              <a:rPr lang="en-AU" sz="2400" b="1" i="0" dirty="0" smtClean="0">
                <a:solidFill>
                  <a:srgbClr val="12CBC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 common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energy users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light bulbs, heating elements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motors.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8868584.3363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02200" y="3558759"/>
            <a:ext cx="3009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6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419438"/>
            <a:ext cx="1168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torch is a great example of a simple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torch, 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battery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energy user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light bulb.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Remember: These two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joined by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135.1130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40125" y="3689349"/>
            <a:ext cx="4857750" cy="286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9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800438"/>
            <a:ext cx="11569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components of every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joined by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need to use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that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moving 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transfer </a:t>
            </a:r>
            <a:r>
              <a:rPr lang="en-AU" sz="2400" b="1" i="0" dirty="0" smtClean="0">
                <a:solidFill>
                  <a:srgbClr val="12CBC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energy user.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8690219.144681g/1528690194923-392542126943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107" y="3478094"/>
            <a:ext cx="6456480" cy="313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78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5538"/>
            <a:ext cx="11849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a tiny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battery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a huge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generator!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provides the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the </a:t>
            </a:r>
            <a:r>
              <a:rPr lang="en-AU" sz="2400" b="1" i="0" dirty="0" smtClean="0">
                <a:solidFill>
                  <a:srgbClr val="12CBC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need to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the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already 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just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pushes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them around the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814.6794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53746" y="3276600"/>
            <a:ext cx="3541607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217438"/>
            <a:ext cx="1153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transfer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12CBC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energy user.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energy user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 </a:t>
            </a:r>
            <a:r>
              <a:rPr lang="en-AU" sz="2400" b="1" i="0" dirty="0" smtClean="0">
                <a:solidFill>
                  <a:srgbClr val="5758BB"/>
                </a:solidFill>
                <a:effectLst/>
                <a:latin typeface="Arial" panose="020B0604020202020204" pitchFamily="34" charset="0"/>
              </a:rPr>
              <a:t>transforms the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useful form.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light bulb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would </a:t>
            </a:r>
            <a:r>
              <a:rPr lang="en-AU" sz="2400" b="1" i="0" dirty="0" smtClean="0">
                <a:solidFill>
                  <a:srgbClr val="5758BB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12CBC4"/>
                </a:solidFill>
                <a:effectLst/>
                <a:latin typeface="Arial" panose="020B0604020202020204" pitchFamily="34" charset="0"/>
              </a:rPr>
              <a:t>electrical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sz="2400" b="1" i="0" dirty="0" smtClean="0">
                <a:solidFill>
                  <a:srgbClr val="12CBC4"/>
                </a:solidFill>
                <a:effectLst/>
                <a:latin typeface="Arial" panose="020B0604020202020204" pitchFamily="34" charset="0"/>
              </a:rPr>
              <a:t>light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4531384.8975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25900" y="2908300"/>
            <a:ext cx="38354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1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323850"/>
            <a:ext cx="11274654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5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528637"/>
            <a:ext cx="11386070" cy="571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62" y="354012"/>
            <a:ext cx="9913938" cy="641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16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87" y="352424"/>
            <a:ext cx="10742613" cy="644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82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YB873AJG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1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48040"/>
            <a:ext cx="11861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current?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Electrical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flow of electrical charge.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unit of current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Amps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(A)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more correctly,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Amperes,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named after the French physicist André-Marie Ampère.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symbol for current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 is measured with 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ammeter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used in series with the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 is calculated using the formula: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I=q/t​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where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Coulombs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seconds.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03023291.51811g/1503023298382-2120023726035991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5" y="3764360"/>
            <a:ext cx="21145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35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21439"/>
            <a:ext cx="1163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ratio of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to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flows through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an inherent property of a material that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resists the flow of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 current.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measured 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Ohms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(Ω)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named after the German physicist, Georg Simon Ohm.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wire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wire, but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decreases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thickness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increases.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3752093.174931g/1453752099042-310608955448593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164" y="3737759"/>
            <a:ext cx="2069471" cy="297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94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90487"/>
            <a:ext cx="11737975" cy="522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0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862" y="188912"/>
            <a:ext cx="9075738" cy="651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3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325437"/>
            <a:ext cx="10763250" cy="555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85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252412"/>
            <a:ext cx="9874250" cy="674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42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5" y="511174"/>
            <a:ext cx="11277014" cy="474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2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409575"/>
            <a:ext cx="10310813" cy="635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6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7" y="93662"/>
            <a:ext cx="8545513" cy="687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76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101600"/>
            <a:ext cx="9105900" cy="646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30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237" y="0"/>
            <a:ext cx="7586663" cy="68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73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559138"/>
            <a:ext cx="11290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represent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their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components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sz="2400" b="1" i="0" dirty="0" smtClean="0">
                <a:solidFill>
                  <a:srgbClr val="1B1464"/>
                </a:solidFill>
                <a:effectLst/>
                <a:latin typeface="Arial" panose="020B0604020202020204" pitchFamily="34" charset="0"/>
              </a:rPr>
              <a:t>circuit diagrams.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a few important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you need to know the </a:t>
            </a:r>
            <a:r>
              <a:rPr lang="en-AU" sz="2400" b="1" i="0" dirty="0" smtClean="0">
                <a:solidFill>
                  <a:srgbClr val="1B1464"/>
                </a:solidFill>
                <a:effectLst/>
                <a:latin typeface="Arial" panose="020B0604020202020204" pitchFamily="34" charset="0"/>
              </a:rPr>
              <a:t>symbols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will allow you to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draw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1B1464"/>
                </a:solidFill>
                <a:effectLst/>
                <a:latin typeface="Arial" panose="020B0604020202020204" pitchFamily="34" charset="0"/>
              </a:rPr>
              <a:t>circuit diagrams.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28869042.27761g/1528869016021-242204117120341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75" y="3105149"/>
            <a:ext cx="3429000" cy="375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834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418237"/>
            <a:ext cx="1158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important circuit component is the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represented by a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straight line.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draw a </a:t>
            </a:r>
            <a:r>
              <a:rPr lang="en-AU" sz="2400" b="1" i="0" dirty="0" smtClean="0">
                <a:solidFill>
                  <a:srgbClr val="1B1464"/>
                </a:solidFill>
                <a:effectLst/>
                <a:latin typeface="Arial" panose="020B0604020202020204" pitchFamily="34" charset="0"/>
              </a:rPr>
              <a:t>circuit diagram,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must make sure that the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connected by a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60" y="3835400"/>
            <a:ext cx="905308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1410038"/>
            <a:ext cx="1135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Light bulbs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LED lights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very common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Light bulbs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represented by a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circle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middle. Notice how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straight lines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either side of the </a:t>
            </a:r>
            <a:r>
              <a:rPr lang="en-AU" sz="2400" b="1" i="0" dirty="0" smtClean="0">
                <a:solidFill>
                  <a:srgbClr val="F79F1F"/>
                </a:solidFill>
                <a:effectLst/>
                <a:latin typeface="Arial" panose="020B0604020202020204" pitchFamily="34" charset="0"/>
              </a:rPr>
              <a:t>light bulb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 the </a:t>
            </a:r>
            <a:r>
              <a:rPr lang="en-AU" sz="2400" b="1" i="0" dirty="0" smtClean="0">
                <a:solidFill>
                  <a:srgbClr val="EE5A24"/>
                </a:solidFill>
                <a:effectLst/>
                <a:latin typeface="Arial" panose="020B0604020202020204" pitchFamily="34" charset="0"/>
              </a:rPr>
              <a:t>wires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connecting it to the rest of the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Maths/1504576272.266411f/1504576270963-2836222493881151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275" y="3649662"/>
            <a:ext cx="1981200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ww.educationperfect.com/media/content/Science/1421287770.882781g/1421287752818-2027529041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675" y="4013200"/>
            <a:ext cx="380047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351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724238"/>
            <a:ext cx="11036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try to keep the symbols for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simple as possible to make drawings clear.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ED4C67"/>
                </a:solidFill>
                <a:effectLst/>
                <a:latin typeface="Arial" panose="020B0604020202020204" pitchFamily="34" charset="0"/>
              </a:rPr>
              <a:t>resistor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object which </a:t>
            </a:r>
            <a:r>
              <a:rPr lang="en-AU" sz="2400" b="1" i="0" dirty="0" smtClean="0">
                <a:solidFill>
                  <a:srgbClr val="ED4C67"/>
                </a:solidFill>
                <a:effectLst/>
                <a:latin typeface="Arial" panose="020B0604020202020204" pitchFamily="34" charset="0"/>
              </a:rPr>
              <a:t>resists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flow of electrons.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can be represented by either a </a:t>
            </a:r>
            <a:r>
              <a:rPr lang="en-AU" sz="2400" b="1" i="0" dirty="0" smtClean="0">
                <a:solidFill>
                  <a:srgbClr val="ED4C67"/>
                </a:solidFill>
                <a:effectLst/>
                <a:latin typeface="Arial" panose="020B0604020202020204" pitchFamily="34" charset="0"/>
              </a:rPr>
              <a:t>box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a </a:t>
            </a:r>
            <a:r>
              <a:rPr lang="en-AU" sz="2400" b="1" i="0" dirty="0" smtClean="0">
                <a:solidFill>
                  <a:srgbClr val="ED4C67"/>
                </a:solidFill>
                <a:effectLst/>
                <a:latin typeface="Arial" panose="020B0604020202020204" pitchFamily="34" charset="0"/>
              </a:rPr>
              <a:t>zigzag line.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21287714.22651g/1421287695959-202752904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175" y="4089400"/>
            <a:ext cx="3810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www.educationperfect.com/media/content/Science/1453672297.186711g/1453672335339-220291424727966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774" y="4286566"/>
            <a:ext cx="3057525" cy="917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707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354737"/>
            <a:ext cx="11353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cell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energy source.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represented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two lines,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of which is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longer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other. The longer side is the positive terminal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(+)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shorter side is the negative terminal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(−)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21287934.704021g/1421287928586-202752904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75" y="1490662"/>
            <a:ext cx="3800475" cy="248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7800" y="3580537"/>
            <a:ext cx="12014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battery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out of several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cells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joined together.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battery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may be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drawn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shown below, or it could be </a:t>
            </a:r>
            <a:r>
              <a:rPr lang="en-AU" sz="2400" b="1" i="0" dirty="0" smtClean="0">
                <a:solidFill>
                  <a:srgbClr val="B53471"/>
                </a:solidFill>
                <a:effectLst/>
                <a:latin typeface="Arial" panose="020B0604020202020204" pitchFamily="34" charset="0"/>
              </a:rPr>
              <a:t>represented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a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two cells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connected by a </a:t>
            </a:r>
            <a:r>
              <a:rPr lang="en-AU" sz="2400" b="1" i="0" dirty="0" smtClean="0">
                <a:solidFill>
                  <a:srgbClr val="009432"/>
                </a:solidFill>
                <a:effectLst/>
                <a:latin typeface="Arial" panose="020B0604020202020204" pitchFamily="34" charset="0"/>
              </a:rPr>
              <a:t>dotted line.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6" name="Picture 4" descr="https://www.educationperfect.com/media/content/Science/1421289005.813941g/1421288999654-2027529041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5532437"/>
            <a:ext cx="1885950" cy="78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148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493236"/>
            <a:ext cx="11214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household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switches.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 </a:t>
            </a:r>
            <a:r>
              <a:rPr lang="en-AU" sz="2400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A3CB38"/>
                </a:solidFill>
                <a:effectLst/>
                <a:latin typeface="Arial" panose="020B0604020202020204" pitchFamily="34" charset="0"/>
              </a:rPr>
              <a:t>closed,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allows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flow across it. </a:t>
            </a:r>
            <a:r>
              <a:rPr lang="en-AU" sz="2400" b="1" i="0" dirty="0" smtClean="0">
                <a:solidFill>
                  <a:srgbClr val="2E86DE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not able to flow across an </a:t>
            </a:r>
            <a:r>
              <a:rPr lang="en-AU" sz="2400" b="1" i="0" dirty="0" smtClean="0">
                <a:solidFill>
                  <a:srgbClr val="ED4C67"/>
                </a:solidFill>
                <a:effectLst/>
                <a:latin typeface="Arial" panose="020B0604020202020204" pitchFamily="34" charset="0"/>
              </a:rPr>
              <a:t>open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switch because the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ED4C67"/>
                </a:solidFill>
                <a:effectLst/>
                <a:latin typeface="Arial" panose="020B0604020202020204" pitchFamily="34" charset="0"/>
              </a:rPr>
              <a:t>broken.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4" y="3541712"/>
            <a:ext cx="7248601" cy="205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04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337741"/>
            <a:ext cx="111887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final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circuit component symbols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you need to know about are </a:t>
            </a:r>
            <a:r>
              <a:rPr lang="en-AU" sz="2400" b="1" i="0" dirty="0" smtClean="0">
                <a:solidFill>
                  <a:srgbClr val="833471"/>
                </a:solidFill>
                <a:effectLst/>
                <a:latin typeface="Arial" panose="020B0604020202020204" pitchFamily="34" charset="0"/>
              </a:rPr>
              <a:t>ammeters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voltmeters.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833471"/>
                </a:solidFill>
                <a:effectLst/>
                <a:latin typeface="Arial" panose="020B0604020202020204" pitchFamily="34" charset="0"/>
              </a:rPr>
              <a:t>Ammeters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measure the </a:t>
            </a:r>
            <a:r>
              <a:rPr lang="en-AU" sz="2400" b="1" i="0" dirty="0" smtClean="0">
                <a:solidFill>
                  <a:srgbClr val="83347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flowing through a circuit. </a:t>
            </a:r>
            <a:r>
              <a:rPr lang="en-AU" sz="2400" b="1" i="0" dirty="0" smtClean="0">
                <a:solidFill>
                  <a:srgbClr val="833471"/>
                </a:solidFill>
                <a:effectLst/>
                <a:latin typeface="Arial" panose="020B0604020202020204" pitchFamily="34" charset="0"/>
              </a:rPr>
              <a:t>Ammeters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represented by a </a:t>
            </a:r>
            <a:r>
              <a:rPr lang="en-AU" sz="2400" b="1" i="0" dirty="0" smtClean="0">
                <a:solidFill>
                  <a:srgbClr val="833471"/>
                </a:solidFill>
                <a:effectLst/>
                <a:latin typeface="Arial" panose="020B0604020202020204" pitchFamily="34" charset="0"/>
              </a:rPr>
              <a:t>circle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an </a:t>
            </a:r>
            <a:r>
              <a:rPr lang="en-AU" sz="2400" b="1" i="0" dirty="0" smtClean="0">
                <a:solidFill>
                  <a:srgbClr val="833471"/>
                </a:solidFill>
                <a:effectLst/>
                <a:latin typeface="Arial" panose="020B0604020202020204" pitchFamily="34" charset="0"/>
              </a:rPr>
              <a:t>"A"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middle.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Voltmeters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measure the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supplied to a circuit. Voltmeters are represented by a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circle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"V"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middle.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 learn more about </a:t>
            </a:r>
            <a:r>
              <a:rPr lang="en-AU" sz="2400" b="1" i="0" dirty="0" smtClean="0">
                <a:solidFill>
                  <a:srgbClr val="833471"/>
                </a:solidFill>
                <a:effectLst/>
                <a:latin typeface="Arial" panose="020B0604020202020204" pitchFamily="34" charset="0"/>
              </a:rPr>
              <a:t>ammeters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D980FA"/>
                </a:solidFill>
                <a:effectLst/>
                <a:latin typeface="Arial" panose="020B0604020202020204" pitchFamily="34" charset="0"/>
              </a:rPr>
              <a:t>voltmeters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upcoming lessons.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21287855.34461g/1421287849237-2027529041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4380056"/>
            <a:ext cx="2536824" cy="138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www.educationperfect.com/media/content/Science/1421287827.101561g/1421287809021-2027529041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74" y="4380056"/>
            <a:ext cx="2536825" cy="138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693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4" y="530224"/>
            <a:ext cx="9585325" cy="60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4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37" y="1116012"/>
            <a:ext cx="9763980" cy="48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77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431800"/>
            <a:ext cx="93535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81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852487"/>
            <a:ext cx="9466317" cy="521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69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768350"/>
            <a:ext cx="9535934" cy="560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22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406400"/>
            <a:ext cx="9348788" cy="592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07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050"/>
            <a:ext cx="10849015" cy="522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78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4" y="392112"/>
            <a:ext cx="10872359" cy="43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2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471487"/>
            <a:ext cx="10736158" cy="575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6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4" y="279400"/>
            <a:ext cx="10931525" cy="621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6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62</Words>
  <Application>Microsoft Office PowerPoint</Application>
  <PresentationFormat>Widescreen</PresentationFormat>
  <Paragraphs>78</Paragraphs>
  <Slides>40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KaTeX_Main</vt:lpstr>
      <vt:lpstr>Office Theme</vt:lpstr>
      <vt:lpstr>Circuit Properties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Properties</dc:title>
  <dc:creator>Joseph D'cruz</dc:creator>
  <cp:lastModifiedBy>Joseph D'cruz</cp:lastModifiedBy>
  <cp:revision>5</cp:revision>
  <dcterms:created xsi:type="dcterms:W3CDTF">2020-07-15T04:17:15Z</dcterms:created>
  <dcterms:modified xsi:type="dcterms:W3CDTF">2021-04-02T11:36:37Z</dcterms:modified>
</cp:coreProperties>
</file>
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4" r:id="rId7"/>
    <p:sldId id="265" r:id="rId8"/>
    <p:sldId id="266" r:id="rId9"/>
    <p:sldId id="267" r:id="rId10"/>
    <p:sldId id="268" r:id="rId11"/>
    <p:sldId id="269" r:id="rId12"/>
    <p:sldId id="270" r:id="rId13"/>
    <p:sldId id="261" r:id="rId14"/>
    <p:sldId id="262" r:id="rId15"/>
    <p:sldId id="263"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6" autoAdjust="0"/>
    <p:restoredTop sz="94660"/>
  </p:normalViewPr>
  <p:slideViewPr>
    <p:cSldViewPr snapToGrid="0">
      <p:cViewPr varScale="1">
        <p:scale>
          <a:sx n="76" d="100"/>
          <a:sy n="76" d="100"/>
        </p:scale>
        <p:origin x="126" y="7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A1F4674B-A133-4815-AFF0-AA0CA7B2F94E}" type="datetimeFigureOut">
              <a:rPr lang="en-AU" smtClean="0"/>
              <a:t>2/04/2021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92C9573-73C7-468D-8937-CCA4967828F8}" type="slidenum">
              <a:rPr lang="en-AU" smtClean="0"/>
              <a:t>‹#›</a:t>
            </a:fld>
            <a:endParaRPr lang="en-AU"/>
          </a:p>
        </p:txBody>
      </p:sp>
    </p:spTree>
    <p:extLst>
      <p:ext uri="{BB962C8B-B14F-4D97-AF65-F5344CB8AC3E}">
        <p14:creationId xmlns:p14="http://schemas.microsoft.com/office/powerpoint/2010/main" val="32523222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A1F4674B-A133-4815-AFF0-AA0CA7B2F94E}" type="datetimeFigureOut">
              <a:rPr lang="en-AU" smtClean="0"/>
              <a:t>2/04/2021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92C9573-73C7-468D-8937-CCA4967828F8}" type="slidenum">
              <a:rPr lang="en-AU" smtClean="0"/>
              <a:t>‹#›</a:t>
            </a:fld>
            <a:endParaRPr lang="en-AU"/>
          </a:p>
        </p:txBody>
      </p:sp>
    </p:spTree>
    <p:extLst>
      <p:ext uri="{BB962C8B-B14F-4D97-AF65-F5344CB8AC3E}">
        <p14:creationId xmlns:p14="http://schemas.microsoft.com/office/powerpoint/2010/main" val="38143830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1F4674B-A133-4815-AFF0-AA0CA7B2F94E}" type="datetimeFigureOut">
              <a:rPr lang="en-AU" smtClean="0"/>
              <a:t>2/04/2021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92C9573-73C7-468D-8937-CCA4967828F8}" type="slidenum">
              <a:rPr lang="en-AU" smtClean="0"/>
              <a:t>‹#›</a:t>
            </a:fld>
            <a:endParaRPr lang="en-AU"/>
          </a:p>
        </p:txBody>
      </p:sp>
    </p:spTree>
    <p:extLst>
      <p:ext uri="{BB962C8B-B14F-4D97-AF65-F5344CB8AC3E}">
        <p14:creationId xmlns:p14="http://schemas.microsoft.com/office/powerpoint/2010/main" val="3188985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A1F4674B-A133-4815-AFF0-AA0CA7B2F94E}" type="datetimeFigureOut">
              <a:rPr lang="en-AU" smtClean="0"/>
              <a:t>2/04/2021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692C9573-73C7-468D-8937-CCA4967828F8}" type="slidenum">
              <a:rPr lang="en-AU" smtClean="0"/>
              <a:t>‹#›</a:t>
            </a:fld>
            <a:endParaRPr lang="en-AU"/>
          </a:p>
        </p:txBody>
      </p:sp>
    </p:spTree>
    <p:extLst>
      <p:ext uri="{BB962C8B-B14F-4D97-AF65-F5344CB8AC3E}">
        <p14:creationId xmlns:p14="http://schemas.microsoft.com/office/powerpoint/2010/main" val="18008991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A1F4674B-A133-4815-AFF0-AA0CA7B2F94E}" type="datetimeFigureOut">
              <a:rPr lang="en-AU" smtClean="0"/>
              <a:t>2/04/2021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692C9573-73C7-468D-8937-CCA4967828F8}" type="slidenum">
              <a:rPr lang="en-AU" smtClean="0"/>
              <a:t>‹#›</a:t>
            </a:fld>
            <a:endParaRPr lang="en-AU"/>
          </a:p>
        </p:txBody>
      </p:sp>
    </p:spTree>
    <p:extLst>
      <p:ext uri="{BB962C8B-B14F-4D97-AF65-F5344CB8AC3E}">
        <p14:creationId xmlns:p14="http://schemas.microsoft.com/office/powerpoint/2010/main" val="3722016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A1F4674B-A133-4815-AFF0-AA0CA7B2F94E}" type="datetimeFigureOut">
              <a:rPr lang="en-AU" smtClean="0"/>
              <a:t>2/04/2021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692C9573-73C7-468D-8937-CCA4967828F8}" type="slidenum">
              <a:rPr lang="en-AU" smtClean="0"/>
              <a:t>‹#›</a:t>
            </a:fld>
            <a:endParaRPr lang="en-AU"/>
          </a:p>
        </p:txBody>
      </p:sp>
    </p:spTree>
    <p:extLst>
      <p:ext uri="{BB962C8B-B14F-4D97-AF65-F5344CB8AC3E}">
        <p14:creationId xmlns:p14="http://schemas.microsoft.com/office/powerpoint/2010/main" val="996307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F4674B-A133-4815-AFF0-AA0CA7B2F94E}" type="datetimeFigureOut">
              <a:rPr lang="en-AU" smtClean="0"/>
              <a:t>2/04/2021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692C9573-73C7-468D-8937-CCA4967828F8}" type="slidenum">
              <a:rPr lang="en-AU" smtClean="0"/>
              <a:t>‹#›</a:t>
            </a:fld>
            <a:endParaRPr lang="en-AU"/>
          </a:p>
        </p:txBody>
      </p:sp>
    </p:spTree>
    <p:extLst>
      <p:ext uri="{BB962C8B-B14F-4D97-AF65-F5344CB8AC3E}">
        <p14:creationId xmlns:p14="http://schemas.microsoft.com/office/powerpoint/2010/main" val="29645634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1F4674B-A133-4815-AFF0-AA0CA7B2F94E}" type="datetimeFigureOut">
              <a:rPr lang="en-AU" smtClean="0"/>
              <a:t>2/04/2021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692C9573-73C7-468D-8937-CCA4967828F8}" type="slidenum">
              <a:rPr lang="en-AU" smtClean="0"/>
              <a:t>‹#›</a:t>
            </a:fld>
            <a:endParaRPr lang="en-AU"/>
          </a:p>
        </p:txBody>
      </p:sp>
    </p:spTree>
    <p:extLst>
      <p:ext uri="{BB962C8B-B14F-4D97-AF65-F5344CB8AC3E}">
        <p14:creationId xmlns:p14="http://schemas.microsoft.com/office/powerpoint/2010/main" val="579631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1F4674B-A133-4815-AFF0-AA0CA7B2F94E}" type="datetimeFigureOut">
              <a:rPr lang="en-AU" smtClean="0"/>
              <a:t>2/04/2021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692C9573-73C7-468D-8937-CCA4967828F8}" type="slidenum">
              <a:rPr lang="en-AU" smtClean="0"/>
              <a:t>‹#›</a:t>
            </a:fld>
            <a:endParaRPr lang="en-AU"/>
          </a:p>
        </p:txBody>
      </p:sp>
    </p:spTree>
    <p:extLst>
      <p:ext uri="{BB962C8B-B14F-4D97-AF65-F5344CB8AC3E}">
        <p14:creationId xmlns:p14="http://schemas.microsoft.com/office/powerpoint/2010/main" val="32996686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A1F4674B-A133-4815-AFF0-AA0CA7B2F94E}" type="datetimeFigureOut">
              <a:rPr lang="en-AU" smtClean="0"/>
              <a:t>2/04/2021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92C9573-73C7-468D-8937-CCA4967828F8}" type="slidenum">
              <a:rPr lang="en-AU" smtClean="0"/>
              <a:t>‹#›</a:t>
            </a:fld>
            <a:endParaRPr lang="en-AU"/>
          </a:p>
        </p:txBody>
      </p:sp>
    </p:spTree>
    <p:extLst>
      <p:ext uri="{BB962C8B-B14F-4D97-AF65-F5344CB8AC3E}">
        <p14:creationId xmlns:p14="http://schemas.microsoft.com/office/powerpoint/2010/main" val="42047749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A1F4674B-A133-4815-AFF0-AA0CA7B2F94E}" type="datetimeFigureOut">
              <a:rPr lang="en-AU" smtClean="0"/>
              <a:t>2/04/2021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92C9573-73C7-468D-8937-CCA4967828F8}" type="slidenum">
              <a:rPr lang="en-AU" smtClean="0"/>
              <a:t>‹#›</a:t>
            </a:fld>
            <a:endParaRPr lang="en-AU"/>
          </a:p>
        </p:txBody>
      </p:sp>
    </p:spTree>
    <p:extLst>
      <p:ext uri="{BB962C8B-B14F-4D97-AF65-F5344CB8AC3E}">
        <p14:creationId xmlns:p14="http://schemas.microsoft.com/office/powerpoint/2010/main" val="23001732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F4674B-A133-4815-AFF0-AA0CA7B2F94E}" type="datetimeFigureOut">
              <a:rPr lang="en-AU" smtClean="0"/>
              <a:t>2/04/2021</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2C9573-73C7-468D-8937-CCA4967828F8}" type="slidenum">
              <a:rPr lang="en-AU" smtClean="0"/>
              <a:t>‹#›</a:t>
            </a:fld>
            <a:endParaRPr lang="en-AU"/>
          </a:p>
        </p:txBody>
      </p:sp>
    </p:spTree>
    <p:extLst>
      <p:ext uri="{BB962C8B-B14F-4D97-AF65-F5344CB8AC3E}">
        <p14:creationId xmlns:p14="http://schemas.microsoft.com/office/powerpoint/2010/main" val="35291469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Household Electricity</a:t>
            </a:r>
            <a:endParaRPr lang="en-AU" dirty="0"/>
          </a:p>
        </p:txBody>
      </p:sp>
      <p:sp>
        <p:nvSpPr>
          <p:cNvPr id="3" name="Subtitle 2"/>
          <p:cNvSpPr>
            <a:spLocks noGrp="1"/>
          </p:cNvSpPr>
          <p:nvPr>
            <p:ph type="subTitle" idx="1"/>
          </p:nvPr>
        </p:nvSpPr>
        <p:spPr/>
        <p:txBody>
          <a:bodyPr/>
          <a:lstStyle/>
          <a:p>
            <a:endParaRPr lang="en-AU"/>
          </a:p>
        </p:txBody>
      </p:sp>
    </p:spTree>
    <p:extLst>
      <p:ext uri="{BB962C8B-B14F-4D97-AF65-F5344CB8AC3E}">
        <p14:creationId xmlns:p14="http://schemas.microsoft.com/office/powerpoint/2010/main" val="811434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6900" y="90438"/>
            <a:ext cx="11264900" cy="2308324"/>
          </a:xfrm>
          <a:prstGeom prst="rect">
            <a:avLst/>
          </a:prstGeom>
        </p:spPr>
        <p:txBody>
          <a:bodyPr wrap="square">
            <a:spAutoFit/>
          </a:bodyPr>
          <a:lstStyle/>
          <a:p>
            <a:pPr algn="ctr"/>
            <a:r>
              <a:rPr lang="en-AU" sz="2400" b="0" i="0" dirty="0" smtClean="0">
                <a:solidFill>
                  <a:srgbClr val="444444"/>
                </a:solidFill>
                <a:effectLst/>
                <a:latin typeface="Arial" panose="020B0604020202020204" pitchFamily="34" charset="0"/>
              </a:rPr>
              <a:t>The electricity produced by batteries and solar cells is in the form of </a:t>
            </a:r>
            <a:r>
              <a:rPr lang="en-AU" sz="2400" b="1" i="0" dirty="0" smtClean="0">
                <a:solidFill>
                  <a:srgbClr val="0000FF"/>
                </a:solidFill>
                <a:effectLst/>
                <a:latin typeface="Arial" panose="020B0604020202020204" pitchFamily="34" charset="0"/>
              </a:rPr>
              <a:t>Direct Current</a:t>
            </a:r>
            <a:r>
              <a:rPr lang="en-AU" sz="2400" b="0" i="0" dirty="0" smtClean="0">
                <a:solidFill>
                  <a:srgbClr val="444444"/>
                </a:solidFill>
                <a:effectLst/>
                <a:latin typeface="Arial" panose="020B0604020202020204" pitchFamily="34" charset="0"/>
              </a:rPr>
              <a:t> (</a:t>
            </a:r>
            <a:r>
              <a:rPr lang="en-AU" sz="2400" b="1" i="0" dirty="0" smtClean="0">
                <a:solidFill>
                  <a:srgbClr val="444444"/>
                </a:solidFill>
                <a:effectLst/>
                <a:latin typeface="Arial" panose="020B0604020202020204" pitchFamily="34" charset="0"/>
              </a:rPr>
              <a:t>DC</a:t>
            </a:r>
            <a:r>
              <a:rPr lang="en-AU" sz="2400" b="0" i="0" dirty="0" smtClean="0">
                <a:solidFill>
                  <a:srgbClr val="444444"/>
                </a:solidFill>
                <a:effectLst/>
                <a:latin typeface="Arial" panose="020B0604020202020204" pitchFamily="34" charset="0"/>
              </a:rPr>
              <a:t>), which means it flows in the </a:t>
            </a:r>
            <a:r>
              <a:rPr lang="en-AU" sz="2400" b="1" i="0" dirty="0" smtClean="0">
                <a:solidFill>
                  <a:srgbClr val="444444"/>
                </a:solidFill>
                <a:effectLst/>
                <a:latin typeface="Arial" panose="020B0604020202020204" pitchFamily="34" charset="0"/>
              </a:rPr>
              <a:t>same direction</a:t>
            </a:r>
            <a:r>
              <a:rPr lang="en-AU" sz="2400" b="0" i="0" dirty="0" smtClean="0">
                <a:solidFill>
                  <a:srgbClr val="444444"/>
                </a:solidFill>
                <a:effectLst/>
                <a:latin typeface="Arial" panose="020B0604020202020204" pitchFamily="34" charset="0"/>
              </a:rPr>
              <a:t> all the time.</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However, the electricity delivered to your house through power lines is in a different form. It is called </a:t>
            </a:r>
            <a:r>
              <a:rPr lang="en-AU" sz="2400" b="1" i="0" dirty="0" smtClean="0">
                <a:solidFill>
                  <a:srgbClr val="FF0000"/>
                </a:solidFill>
                <a:effectLst/>
                <a:latin typeface="Arial" panose="020B0604020202020204" pitchFamily="34" charset="0"/>
              </a:rPr>
              <a:t>Alternating Current</a:t>
            </a:r>
            <a:r>
              <a:rPr lang="en-AU" sz="2400" b="0" i="0" dirty="0" smtClean="0">
                <a:solidFill>
                  <a:srgbClr val="444444"/>
                </a:solidFill>
                <a:effectLst/>
                <a:latin typeface="Arial" panose="020B0604020202020204" pitchFamily="34" charset="0"/>
              </a:rPr>
              <a:t> (</a:t>
            </a:r>
            <a:r>
              <a:rPr lang="en-AU" sz="2400" b="1" i="0" dirty="0" smtClean="0">
                <a:solidFill>
                  <a:srgbClr val="444444"/>
                </a:solidFill>
                <a:effectLst/>
                <a:latin typeface="Arial" panose="020B0604020202020204" pitchFamily="34" charset="0"/>
              </a:rPr>
              <a:t>AC</a:t>
            </a:r>
            <a:r>
              <a:rPr lang="en-AU" sz="2400" b="0" i="0" dirty="0" smtClean="0">
                <a:solidFill>
                  <a:srgbClr val="444444"/>
                </a:solidFill>
                <a:effectLst/>
                <a:latin typeface="Arial" panose="020B0604020202020204" pitchFamily="34" charset="0"/>
              </a:rPr>
              <a:t>), because the direction of current changes (alternates) at a certain rate.</a:t>
            </a:r>
            <a:endParaRPr lang="en-AU" sz="2400" b="0" i="0" dirty="0">
              <a:solidFill>
                <a:srgbClr val="444444"/>
              </a:solidFill>
              <a:effectLst/>
              <a:latin typeface="Arial" panose="020B0604020202020204" pitchFamily="34" charset="0"/>
            </a:endParaRPr>
          </a:p>
        </p:txBody>
      </p:sp>
      <p:sp>
        <p:nvSpPr>
          <p:cNvPr id="3" name="Rectangle 2"/>
          <p:cNvSpPr/>
          <p:nvPr/>
        </p:nvSpPr>
        <p:spPr>
          <a:xfrm>
            <a:off x="812800" y="2398762"/>
            <a:ext cx="6096000" cy="2677656"/>
          </a:xfrm>
          <a:prstGeom prst="rect">
            <a:avLst/>
          </a:prstGeom>
        </p:spPr>
        <p:txBody>
          <a:bodyPr>
            <a:spAutoFit/>
          </a:bodyPr>
          <a:lstStyle/>
          <a:p>
            <a:r>
              <a:rPr lang="en-AU" sz="2400" b="0" i="0" dirty="0" smtClean="0">
                <a:solidFill>
                  <a:srgbClr val="444444"/>
                </a:solidFill>
                <a:effectLst/>
                <a:latin typeface="Arial" panose="020B0604020202020204" pitchFamily="34" charset="0"/>
              </a:rPr>
              <a:t>In Australia, the current in power lines alternates </a:t>
            </a:r>
            <a:r>
              <a:rPr lang="en-AU" sz="2400" b="0" i="0" dirty="0" smtClean="0">
                <a:solidFill>
                  <a:srgbClr val="444444"/>
                </a:solidFill>
                <a:effectLst/>
                <a:latin typeface="KaTeX_Main"/>
              </a:rPr>
              <a:t>50</a:t>
            </a:r>
            <a:r>
              <a:rPr lang="en-AU" sz="2400" b="0" i="0" dirty="0" smtClean="0">
                <a:solidFill>
                  <a:srgbClr val="444444"/>
                </a:solidFill>
                <a:effectLst/>
                <a:latin typeface="Arial" panose="020B0604020202020204" pitchFamily="34" charset="0"/>
              </a:rPr>
              <a:t> </a:t>
            </a:r>
            <a:r>
              <a:rPr lang="en-AU" sz="2400" b="1" i="0" dirty="0" smtClean="0">
                <a:solidFill>
                  <a:srgbClr val="444444"/>
                </a:solidFill>
                <a:effectLst/>
                <a:latin typeface="Arial" panose="020B0604020202020204" pitchFamily="34" charset="0"/>
              </a:rPr>
              <a:t>times in each second</a:t>
            </a:r>
            <a:r>
              <a:rPr lang="en-AU" sz="2400" b="0" i="0" dirty="0" smtClean="0">
                <a:solidFill>
                  <a:srgbClr val="444444"/>
                </a:solidFill>
                <a:effectLst/>
                <a:latin typeface="Arial" panose="020B0604020202020204" pitchFamily="34" charset="0"/>
              </a:rPr>
              <a:t>. We say it has a frequency of </a:t>
            </a:r>
            <a:r>
              <a:rPr lang="en-AU" sz="2400" b="1" i="0" dirty="0" smtClean="0">
                <a:solidFill>
                  <a:srgbClr val="444444"/>
                </a:solidFill>
                <a:effectLst/>
                <a:latin typeface="KaTeX_Main"/>
              </a:rPr>
              <a:t>50</a:t>
            </a:r>
            <a:r>
              <a:rPr lang="en-AU" sz="2400" b="0" i="0" dirty="0" smtClean="0">
                <a:solidFill>
                  <a:srgbClr val="444444"/>
                </a:solidFill>
                <a:effectLst/>
                <a:latin typeface="Arial" panose="020B0604020202020204" pitchFamily="34" charset="0"/>
              </a:rPr>
              <a:t> </a:t>
            </a:r>
            <a:r>
              <a:rPr lang="en-AU" sz="2400" b="1" i="0" dirty="0" smtClean="0">
                <a:solidFill>
                  <a:srgbClr val="444444"/>
                </a:solidFill>
                <a:effectLst/>
                <a:latin typeface="Arial" panose="020B0604020202020204" pitchFamily="34" charset="0"/>
              </a:rPr>
              <a:t>Hertz</a:t>
            </a:r>
            <a:r>
              <a:rPr lang="en-AU" sz="2400" b="0" i="0" dirty="0" smtClean="0">
                <a:solidFill>
                  <a:srgbClr val="444444"/>
                </a:solidFill>
                <a:effectLst/>
                <a:latin typeface="Arial" panose="020B0604020202020204" pitchFamily="34" charset="0"/>
              </a:rPr>
              <a:t>, or </a:t>
            </a:r>
            <a:r>
              <a:rPr lang="en-AU" sz="2400" b="1" i="0" dirty="0" smtClean="0">
                <a:solidFill>
                  <a:srgbClr val="444444"/>
                </a:solidFill>
                <a:effectLst/>
                <a:latin typeface="KaTeX_Main"/>
              </a:rPr>
              <a:t>50</a:t>
            </a:r>
            <a:r>
              <a:rPr lang="en-AU" sz="2400" b="0" i="0" dirty="0" smtClean="0">
                <a:solidFill>
                  <a:srgbClr val="444444"/>
                </a:solidFill>
                <a:effectLst/>
                <a:latin typeface="KaTeX_Main"/>
              </a:rPr>
              <a:t> </a:t>
            </a:r>
            <a:r>
              <a:rPr lang="en-AU" sz="2400" b="1" i="0" dirty="0" smtClean="0">
                <a:solidFill>
                  <a:srgbClr val="444444"/>
                </a:solidFill>
                <a:effectLst/>
                <a:latin typeface="KaTeX_Main"/>
              </a:rPr>
              <a:t> Hz</a:t>
            </a:r>
            <a:r>
              <a:rPr lang="en-AU" sz="2400" b="0" i="0" dirty="0" smtClean="0">
                <a:solidFill>
                  <a:srgbClr val="444444"/>
                </a:solidFill>
                <a:effectLst/>
                <a:latin typeface="Arial" panose="020B0604020202020204" pitchFamily="34" charset="0"/>
              </a:rPr>
              <a:t>. There is also an associated </a:t>
            </a:r>
            <a:r>
              <a:rPr lang="en-AU" sz="2400" b="1" i="0" dirty="0" smtClean="0">
                <a:solidFill>
                  <a:srgbClr val="FF0000"/>
                </a:solidFill>
                <a:effectLst/>
                <a:latin typeface="Arial" panose="020B0604020202020204" pitchFamily="34" charset="0"/>
              </a:rPr>
              <a:t>voltage</a:t>
            </a:r>
            <a:r>
              <a:rPr lang="en-AU" sz="2400" b="0" i="0" dirty="0" smtClean="0">
                <a:solidFill>
                  <a:srgbClr val="444444"/>
                </a:solidFill>
                <a:effectLst/>
                <a:latin typeface="Arial" panose="020B0604020202020204" pitchFamily="34" charset="0"/>
              </a:rPr>
              <a:t>, which cycles at the same rate. The electricity supplied to your house has an "average" voltage of </a:t>
            </a:r>
            <a:r>
              <a:rPr lang="en-AU" sz="2400" b="1" i="0" dirty="0" smtClean="0">
                <a:solidFill>
                  <a:srgbClr val="444444"/>
                </a:solidFill>
                <a:effectLst/>
                <a:latin typeface="KaTeX_Main"/>
              </a:rPr>
              <a:t>240</a:t>
            </a:r>
            <a:r>
              <a:rPr lang="en-AU" sz="2400" b="0" i="0" dirty="0" smtClean="0">
                <a:solidFill>
                  <a:srgbClr val="444444"/>
                </a:solidFill>
                <a:effectLst/>
                <a:latin typeface="KaTeX_Main"/>
              </a:rPr>
              <a:t> </a:t>
            </a:r>
            <a:r>
              <a:rPr lang="en-AU" sz="2400" b="1" i="0" dirty="0" smtClean="0">
                <a:solidFill>
                  <a:srgbClr val="444444"/>
                </a:solidFill>
                <a:effectLst/>
                <a:latin typeface="KaTeX_Main"/>
              </a:rPr>
              <a:t> V</a:t>
            </a:r>
            <a:r>
              <a:rPr lang="en-AU" sz="2400" b="0" i="0" dirty="0" smtClean="0">
                <a:solidFill>
                  <a:srgbClr val="444444"/>
                </a:solidFill>
                <a:effectLst/>
                <a:latin typeface="Arial" panose="020B0604020202020204" pitchFamily="34" charset="0"/>
              </a:rPr>
              <a:t>.</a:t>
            </a:r>
            <a:endParaRPr lang="en-AU" sz="2400" dirty="0"/>
          </a:p>
        </p:txBody>
      </p:sp>
      <p:pic>
        <p:nvPicPr>
          <p:cNvPr id="1026" name="Picture 2" descr="https://www.educationperfect.com/media/content/Science/1436396027.131051g/1436396021217-457561656-4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3175" y="2542767"/>
            <a:ext cx="3800475" cy="25336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31811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7800" y="291237"/>
            <a:ext cx="6096000" cy="1938992"/>
          </a:xfrm>
          <a:prstGeom prst="rect">
            <a:avLst/>
          </a:prstGeom>
        </p:spPr>
        <p:txBody>
          <a:bodyPr>
            <a:spAutoFit/>
          </a:bodyPr>
          <a:lstStyle/>
          <a:p>
            <a:r>
              <a:rPr lang="en-AU" sz="2000" b="0" i="0" dirty="0" smtClean="0">
                <a:solidFill>
                  <a:srgbClr val="444444"/>
                </a:solidFill>
                <a:effectLst/>
                <a:latin typeface="Arial" panose="020B0604020202020204" pitchFamily="34" charset="0"/>
              </a:rPr>
              <a:t>A </a:t>
            </a:r>
            <a:r>
              <a:rPr lang="en-AU" sz="2000" b="1" i="0" dirty="0" smtClean="0">
                <a:solidFill>
                  <a:srgbClr val="444444"/>
                </a:solidFill>
                <a:effectLst/>
                <a:latin typeface="Arial" panose="020B0604020202020204" pitchFamily="34" charset="0"/>
              </a:rPr>
              <a:t>cable</a:t>
            </a:r>
            <a:r>
              <a:rPr lang="en-AU" sz="2000" b="0" i="0" dirty="0" smtClean="0">
                <a:solidFill>
                  <a:srgbClr val="444444"/>
                </a:solidFill>
                <a:effectLst/>
                <a:latin typeface="Arial" panose="020B0604020202020204" pitchFamily="34" charset="0"/>
              </a:rPr>
              <a:t> connects your home to the power lines. Inside this cable are two wires coated with insulating material. One of them is called the </a:t>
            </a:r>
            <a:r>
              <a:rPr lang="en-AU" sz="2000" b="1" i="0" dirty="0" smtClean="0">
                <a:solidFill>
                  <a:srgbClr val="FF0000"/>
                </a:solidFill>
                <a:effectLst/>
                <a:latin typeface="Arial" panose="020B0604020202020204" pitchFamily="34" charset="0"/>
              </a:rPr>
              <a:t>active</a:t>
            </a:r>
            <a:r>
              <a:rPr lang="en-AU" sz="2000" b="1" i="0" dirty="0" smtClean="0">
                <a:solidFill>
                  <a:srgbClr val="444444"/>
                </a:solidFill>
                <a:effectLst/>
                <a:latin typeface="Arial" panose="020B0604020202020204" pitchFamily="34" charset="0"/>
              </a:rPr>
              <a:t> wire</a:t>
            </a:r>
            <a:r>
              <a:rPr lang="en-AU" sz="2000" b="0" i="0" dirty="0" smtClean="0">
                <a:solidFill>
                  <a:srgbClr val="444444"/>
                </a:solidFill>
                <a:effectLst/>
                <a:latin typeface="Arial" panose="020B0604020202020204" pitchFamily="34" charset="0"/>
              </a:rPr>
              <a:t>, while the other is the </a:t>
            </a:r>
            <a:r>
              <a:rPr lang="en-AU" sz="2000" b="1" i="0" dirty="0" smtClean="0">
                <a:solidFill>
                  <a:srgbClr val="0000FF"/>
                </a:solidFill>
                <a:effectLst/>
                <a:latin typeface="Arial" panose="020B0604020202020204" pitchFamily="34" charset="0"/>
              </a:rPr>
              <a:t>neutral</a:t>
            </a:r>
            <a:r>
              <a:rPr lang="en-AU" sz="2000" b="1" i="0" dirty="0" smtClean="0">
                <a:solidFill>
                  <a:srgbClr val="444444"/>
                </a:solidFill>
                <a:effectLst/>
                <a:latin typeface="Arial" panose="020B0604020202020204" pitchFamily="34" charset="0"/>
              </a:rPr>
              <a:t> wire</a:t>
            </a:r>
            <a:r>
              <a:rPr lang="en-AU" sz="2000" b="0" i="0" dirty="0" smtClean="0">
                <a:solidFill>
                  <a:srgbClr val="444444"/>
                </a:solidFill>
                <a:effectLst/>
                <a:latin typeface="Arial" panose="020B0604020202020204" pitchFamily="34" charset="0"/>
              </a:rPr>
              <a:t>. Both wires are directed to a </a:t>
            </a:r>
            <a:r>
              <a:rPr lang="en-AU" sz="2000" b="1" i="0" dirty="0" smtClean="0">
                <a:solidFill>
                  <a:srgbClr val="444444"/>
                </a:solidFill>
                <a:effectLst/>
                <a:latin typeface="Arial" panose="020B0604020202020204" pitchFamily="34" charset="0"/>
              </a:rPr>
              <a:t>switchboard</a:t>
            </a:r>
            <a:r>
              <a:rPr lang="en-AU" sz="2000" b="0" i="0" dirty="0" smtClean="0">
                <a:solidFill>
                  <a:srgbClr val="444444"/>
                </a:solidFill>
                <a:effectLst/>
                <a:latin typeface="Arial" panose="020B0604020202020204" pitchFamily="34" charset="0"/>
              </a:rPr>
              <a:t>, also called a </a:t>
            </a:r>
            <a:r>
              <a:rPr lang="en-AU" sz="2000" b="1" i="0" dirty="0" smtClean="0">
                <a:solidFill>
                  <a:srgbClr val="444444"/>
                </a:solidFill>
                <a:effectLst/>
                <a:latin typeface="Arial" panose="020B0604020202020204" pitchFamily="34" charset="0"/>
              </a:rPr>
              <a:t>fuse box</a:t>
            </a:r>
            <a:r>
              <a:rPr lang="en-AU" sz="2000" b="0" i="0" dirty="0" smtClean="0">
                <a:solidFill>
                  <a:srgbClr val="444444"/>
                </a:solidFill>
                <a:effectLst/>
                <a:latin typeface="Arial" panose="020B0604020202020204" pitchFamily="34" charset="0"/>
              </a:rPr>
              <a:t>, which divides and distributes the incoming AC.</a:t>
            </a:r>
            <a:endParaRPr lang="en-AU" sz="2000" dirty="0"/>
          </a:p>
        </p:txBody>
      </p:sp>
      <p:pic>
        <p:nvPicPr>
          <p:cNvPr id="2050" name="Picture 2" descr="https://www.educationperfect.com/media/content/Science/1443139662.816391g/1443139679940-4072717864274330-4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40675" y="37237"/>
            <a:ext cx="3810000" cy="254317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s://www.educationperfect.com/media/content/Science/1443142700.046831g/1443142714279-2941208909055915-20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075" y="2618512"/>
            <a:ext cx="1457325" cy="189547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2197100" y="2728436"/>
            <a:ext cx="8509000" cy="1323439"/>
          </a:xfrm>
          <a:prstGeom prst="rect">
            <a:avLst/>
          </a:prstGeom>
        </p:spPr>
        <p:txBody>
          <a:bodyPr wrap="square">
            <a:spAutoFit/>
          </a:bodyPr>
          <a:lstStyle/>
          <a:p>
            <a:r>
              <a:rPr lang="en-AU" sz="2000" b="0" i="0" dirty="0" smtClean="0">
                <a:solidFill>
                  <a:srgbClr val="444444"/>
                </a:solidFill>
                <a:effectLst/>
                <a:latin typeface="Arial" panose="020B0604020202020204" pitchFamily="34" charset="0"/>
              </a:rPr>
              <a:t>The </a:t>
            </a:r>
            <a:r>
              <a:rPr lang="en-AU" sz="2000" b="1" i="0" dirty="0" smtClean="0">
                <a:solidFill>
                  <a:srgbClr val="FF0000"/>
                </a:solidFill>
                <a:effectLst/>
                <a:latin typeface="Arial" panose="020B0604020202020204" pitchFamily="34" charset="0"/>
              </a:rPr>
              <a:t>active</a:t>
            </a:r>
            <a:r>
              <a:rPr lang="en-AU" sz="2000" b="1" i="0" dirty="0" smtClean="0">
                <a:solidFill>
                  <a:srgbClr val="444444"/>
                </a:solidFill>
                <a:effectLst/>
                <a:latin typeface="Arial" panose="020B0604020202020204" pitchFamily="34" charset="0"/>
              </a:rPr>
              <a:t> wire</a:t>
            </a:r>
            <a:r>
              <a:rPr lang="en-AU" sz="2000" b="0" i="0" dirty="0" smtClean="0">
                <a:solidFill>
                  <a:srgbClr val="444444"/>
                </a:solidFill>
                <a:effectLst/>
                <a:latin typeface="Arial" panose="020B0604020202020204" pitchFamily="34" charset="0"/>
              </a:rPr>
              <a:t> is the one that actually delivers </a:t>
            </a:r>
            <a:r>
              <a:rPr lang="en-AU" sz="2000" b="1" i="0" dirty="0" smtClean="0">
                <a:solidFill>
                  <a:srgbClr val="444444"/>
                </a:solidFill>
                <a:effectLst/>
                <a:latin typeface="Arial" panose="020B0604020202020204" pitchFamily="34" charset="0"/>
              </a:rPr>
              <a:t>power</a:t>
            </a:r>
            <a:r>
              <a:rPr lang="en-AU" sz="2000" b="0" i="0" dirty="0" smtClean="0">
                <a:solidFill>
                  <a:srgbClr val="444444"/>
                </a:solidFill>
                <a:effectLst/>
                <a:latin typeface="Arial" panose="020B0604020202020204" pitchFamily="34" charset="0"/>
              </a:rPr>
              <a:t> to your house. From the switchboard, it passes through an energy meter, which is how a power company measures your energy usage. Then it goes on to energise the various circuits that operate your appliances and devices.</a:t>
            </a:r>
            <a:endParaRPr lang="en-AU" sz="2000" dirty="0"/>
          </a:p>
        </p:txBody>
      </p:sp>
      <p:sp>
        <p:nvSpPr>
          <p:cNvPr id="4" name="Rectangle 3"/>
          <p:cNvSpPr/>
          <p:nvPr/>
        </p:nvSpPr>
        <p:spPr>
          <a:xfrm>
            <a:off x="1028700" y="4658836"/>
            <a:ext cx="9677400" cy="1323439"/>
          </a:xfrm>
          <a:prstGeom prst="rect">
            <a:avLst/>
          </a:prstGeom>
        </p:spPr>
        <p:txBody>
          <a:bodyPr wrap="square">
            <a:spAutoFit/>
          </a:bodyPr>
          <a:lstStyle/>
          <a:p>
            <a:r>
              <a:rPr lang="en-AU" sz="2000" b="0" i="0" dirty="0" smtClean="0">
                <a:solidFill>
                  <a:srgbClr val="444444"/>
                </a:solidFill>
                <a:effectLst/>
                <a:latin typeface="Arial" panose="020B0604020202020204" pitchFamily="34" charset="0"/>
              </a:rPr>
              <a:t>The purpose of the </a:t>
            </a:r>
            <a:r>
              <a:rPr lang="en-AU" sz="2000" b="1" i="0" dirty="0" smtClean="0">
                <a:solidFill>
                  <a:srgbClr val="0000FF"/>
                </a:solidFill>
                <a:effectLst/>
                <a:latin typeface="Arial" panose="020B0604020202020204" pitchFamily="34" charset="0"/>
              </a:rPr>
              <a:t>neutral</a:t>
            </a:r>
            <a:r>
              <a:rPr lang="en-AU" sz="2000" b="1" i="0" dirty="0" smtClean="0">
                <a:solidFill>
                  <a:srgbClr val="444444"/>
                </a:solidFill>
                <a:effectLst/>
                <a:latin typeface="Arial" panose="020B0604020202020204" pitchFamily="34" charset="0"/>
              </a:rPr>
              <a:t> wire</a:t>
            </a:r>
            <a:r>
              <a:rPr lang="en-AU" sz="2000" b="0" i="0" dirty="0" smtClean="0">
                <a:solidFill>
                  <a:srgbClr val="444444"/>
                </a:solidFill>
                <a:effectLst/>
                <a:latin typeface="Arial" panose="020B0604020202020204" pitchFamily="34" charset="0"/>
              </a:rPr>
              <a:t> is to complete the circuit and let AC flow safely back out of your home. It is connected to the </a:t>
            </a:r>
            <a:r>
              <a:rPr lang="en-AU" sz="2000" b="1" i="0" dirty="0" smtClean="0">
                <a:solidFill>
                  <a:srgbClr val="444444"/>
                </a:solidFill>
                <a:effectLst/>
                <a:latin typeface="Arial" panose="020B0604020202020204" pitchFamily="34" charset="0"/>
              </a:rPr>
              <a:t>ground</a:t>
            </a:r>
            <a:r>
              <a:rPr lang="en-AU" sz="2000" b="0" i="0" dirty="0" smtClean="0">
                <a:solidFill>
                  <a:srgbClr val="444444"/>
                </a:solidFill>
                <a:effectLst/>
                <a:latin typeface="Arial" panose="020B0604020202020204" pitchFamily="34" charset="0"/>
              </a:rPr>
              <a:t> (</a:t>
            </a:r>
            <a:r>
              <a:rPr lang="en-AU" sz="2000" b="1" i="0" dirty="0" smtClean="0">
                <a:solidFill>
                  <a:srgbClr val="009900"/>
                </a:solidFill>
                <a:effectLst/>
                <a:latin typeface="Arial" panose="020B0604020202020204" pitchFamily="34" charset="0"/>
              </a:rPr>
              <a:t>earthed</a:t>
            </a:r>
            <a:r>
              <a:rPr lang="en-AU" sz="2000" b="0" i="0" dirty="0" smtClean="0">
                <a:solidFill>
                  <a:srgbClr val="444444"/>
                </a:solidFill>
                <a:effectLst/>
                <a:latin typeface="Arial" panose="020B0604020202020204" pitchFamily="34" charset="0"/>
              </a:rPr>
              <a:t>) and has almost the same </a:t>
            </a:r>
            <a:r>
              <a:rPr lang="en-AU" sz="2000" b="1" i="0" dirty="0" smtClean="0">
                <a:solidFill>
                  <a:srgbClr val="444444"/>
                </a:solidFill>
                <a:effectLst/>
                <a:latin typeface="Arial" panose="020B0604020202020204" pitchFamily="34" charset="0"/>
              </a:rPr>
              <a:t>electric potential</a:t>
            </a:r>
            <a:r>
              <a:rPr lang="en-AU" sz="2000" b="0" i="0" dirty="0" smtClean="0">
                <a:solidFill>
                  <a:srgbClr val="444444"/>
                </a:solidFill>
                <a:effectLst/>
                <a:latin typeface="Arial" panose="020B0604020202020204" pitchFamily="34" charset="0"/>
              </a:rPr>
              <a:t> as the ground. This is a safety precaution, designed to help prevent </a:t>
            </a:r>
            <a:r>
              <a:rPr lang="en-AU" sz="2000" b="1" i="0" dirty="0" smtClean="0">
                <a:solidFill>
                  <a:srgbClr val="444444"/>
                </a:solidFill>
                <a:effectLst/>
                <a:latin typeface="Arial" panose="020B0604020202020204" pitchFamily="34" charset="0"/>
              </a:rPr>
              <a:t>shocks</a:t>
            </a:r>
            <a:r>
              <a:rPr lang="en-AU" sz="2000" b="0" i="0" dirty="0" smtClean="0">
                <a:solidFill>
                  <a:srgbClr val="444444"/>
                </a:solidFill>
                <a:effectLst/>
                <a:latin typeface="Arial" panose="020B0604020202020204" pitchFamily="34" charset="0"/>
              </a:rPr>
              <a:t>.</a:t>
            </a:r>
            <a:endParaRPr lang="en-AU" sz="2000" dirty="0"/>
          </a:p>
        </p:txBody>
      </p:sp>
    </p:spTree>
    <p:extLst>
      <p:ext uri="{BB962C8B-B14F-4D97-AF65-F5344CB8AC3E}">
        <p14:creationId xmlns:p14="http://schemas.microsoft.com/office/powerpoint/2010/main" val="3367643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50900" y="578535"/>
            <a:ext cx="10998200" cy="400110"/>
          </a:xfrm>
          <a:prstGeom prst="rect">
            <a:avLst/>
          </a:prstGeom>
        </p:spPr>
        <p:txBody>
          <a:bodyPr wrap="square">
            <a:spAutoFit/>
          </a:bodyPr>
          <a:lstStyle/>
          <a:p>
            <a:r>
              <a:rPr lang="en-AU" sz="2000" b="0" i="0" dirty="0" smtClean="0">
                <a:solidFill>
                  <a:srgbClr val="444444"/>
                </a:solidFill>
                <a:effectLst/>
                <a:latin typeface="Arial" panose="020B0604020202020204" pitchFamily="34" charset="0"/>
              </a:rPr>
              <a:t>Now we get to the part you're more familiar with - places where power is actually used.</a:t>
            </a:r>
            <a:endParaRPr lang="en-AU" sz="2000" dirty="0"/>
          </a:p>
        </p:txBody>
      </p:sp>
      <p:pic>
        <p:nvPicPr>
          <p:cNvPr id="3074" name="Picture 2" descr="https://www.educationperfect.com/media/content/Science/1443139545.929521g/1443139563089-4072717864274330-4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5475" y="1295400"/>
            <a:ext cx="3800475" cy="23812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p:cNvGraphicFramePr>
            <a:graphicFrameLocks noGrp="1"/>
          </p:cNvGraphicFramePr>
          <p:nvPr>
            <p:extLst>
              <p:ext uri="{D42A27DB-BD31-4B8C-83A1-F6EECF244321}">
                <p14:modId xmlns:p14="http://schemas.microsoft.com/office/powerpoint/2010/main" val="2753203000"/>
              </p:ext>
            </p:extLst>
          </p:nvPr>
        </p:nvGraphicFramePr>
        <p:xfrm>
          <a:off x="4635500" y="1148715"/>
          <a:ext cx="6819900" cy="1943100"/>
        </p:xfrm>
        <a:graphic>
          <a:graphicData uri="http://schemas.openxmlformats.org/drawingml/2006/table">
            <a:tbl>
              <a:tblPr/>
              <a:tblGrid>
                <a:gridCol w="6819900">
                  <a:extLst>
                    <a:ext uri="{9D8B030D-6E8A-4147-A177-3AD203B41FA5}">
                      <a16:colId xmlns:a16="http://schemas.microsoft.com/office/drawing/2014/main" val="699764744"/>
                    </a:ext>
                  </a:extLst>
                </a:gridCol>
              </a:tblGrid>
              <a:tr h="0">
                <a:tc>
                  <a:txBody>
                    <a:bodyPr/>
                    <a:lstStyle/>
                    <a:p>
                      <a:pPr algn="l" fontAlgn="ctr"/>
                      <a:r>
                        <a:rPr lang="en-AU" sz="2400" b="1" dirty="0">
                          <a:solidFill>
                            <a:srgbClr val="FF0000"/>
                          </a:solidFill>
                          <a:effectLst/>
                        </a:rPr>
                        <a:t/>
                      </a:r>
                      <a:br>
                        <a:rPr lang="en-AU" sz="2400" b="1" dirty="0">
                          <a:solidFill>
                            <a:srgbClr val="FF0000"/>
                          </a:solidFill>
                          <a:effectLst/>
                        </a:rPr>
                      </a:br>
                      <a:r>
                        <a:rPr lang="en-AU" sz="2400" b="1" dirty="0">
                          <a:solidFill>
                            <a:srgbClr val="FF0000"/>
                          </a:solidFill>
                          <a:effectLst/>
                        </a:rPr>
                        <a:t>Power points</a:t>
                      </a:r>
                      <a:r>
                        <a:rPr lang="en-AU" sz="2400" dirty="0">
                          <a:effectLst/>
                        </a:rPr>
                        <a:t> like this one are all connected by a big circuit, which is energised by the </a:t>
                      </a:r>
                      <a:r>
                        <a:rPr lang="en-AU" sz="2400" b="1" dirty="0">
                          <a:effectLst/>
                        </a:rPr>
                        <a:t>active wire</a:t>
                      </a:r>
                      <a:r>
                        <a:rPr lang="en-AU" sz="2400" dirty="0">
                          <a:effectLst/>
                        </a:rPr>
                        <a:t>. You don't see any of the circuit itself, because it's mostly inside the ceiling.</a:t>
                      </a: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882864871"/>
                  </a:ext>
                </a:extLst>
              </a:tr>
            </a:tbl>
          </a:graphicData>
        </a:graphic>
      </p:graphicFrame>
      <p:sp>
        <p:nvSpPr>
          <p:cNvPr id="4" name="Rectangle 3"/>
          <p:cNvSpPr/>
          <p:nvPr/>
        </p:nvSpPr>
        <p:spPr>
          <a:xfrm>
            <a:off x="625475" y="3676650"/>
            <a:ext cx="10829925" cy="830997"/>
          </a:xfrm>
          <a:prstGeom prst="rect">
            <a:avLst/>
          </a:prstGeom>
        </p:spPr>
        <p:txBody>
          <a:bodyPr wrap="square">
            <a:spAutoFit/>
          </a:bodyPr>
          <a:lstStyle/>
          <a:p>
            <a:r>
              <a:rPr lang="en-AU" sz="2400" b="0" i="0" dirty="0" smtClean="0">
                <a:solidFill>
                  <a:srgbClr val="444444"/>
                </a:solidFill>
                <a:effectLst/>
                <a:latin typeface="Arial" panose="020B0604020202020204" pitchFamily="34" charset="0"/>
              </a:rPr>
              <a:t>There is a separate circuit that powers all the </a:t>
            </a:r>
            <a:r>
              <a:rPr lang="en-AU" sz="2400" b="1" i="0" dirty="0" smtClean="0">
                <a:solidFill>
                  <a:srgbClr val="444444"/>
                </a:solidFill>
                <a:effectLst/>
                <a:latin typeface="Arial" panose="020B0604020202020204" pitchFamily="34" charset="0"/>
              </a:rPr>
              <a:t>lights</a:t>
            </a:r>
            <a:r>
              <a:rPr lang="en-AU" sz="2400" b="0" i="0" dirty="0" smtClean="0">
                <a:solidFill>
                  <a:srgbClr val="444444"/>
                </a:solidFill>
                <a:effectLst/>
                <a:latin typeface="Arial" panose="020B0604020202020204" pitchFamily="34" charset="0"/>
              </a:rPr>
              <a:t>, and another one for </a:t>
            </a:r>
            <a:r>
              <a:rPr lang="en-AU" sz="2400" b="1" i="0" dirty="0" smtClean="0">
                <a:solidFill>
                  <a:srgbClr val="444444"/>
                </a:solidFill>
                <a:effectLst/>
                <a:latin typeface="Arial" panose="020B0604020202020204" pitchFamily="34" charset="0"/>
              </a:rPr>
              <a:t>large appliances</a:t>
            </a:r>
            <a:r>
              <a:rPr lang="en-AU" sz="2400" b="0" i="0" dirty="0" smtClean="0">
                <a:solidFill>
                  <a:srgbClr val="444444"/>
                </a:solidFill>
                <a:effectLst/>
                <a:latin typeface="Arial" panose="020B0604020202020204" pitchFamily="34" charset="0"/>
              </a:rPr>
              <a:t> like your fridge.</a:t>
            </a:r>
            <a:endParaRPr lang="en-AU" sz="2400" dirty="0"/>
          </a:p>
        </p:txBody>
      </p:sp>
      <p:pic>
        <p:nvPicPr>
          <p:cNvPr id="3076" name="Picture 4" descr="https://www.educationperfect.com/media/content/Chinese/1422999310.104941g/1422999354136-841863783-40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35500" y="4908768"/>
            <a:ext cx="2900220" cy="19358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94519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14236"/>
            <a:ext cx="12192000" cy="830997"/>
          </a:xfrm>
          <a:prstGeom prst="rect">
            <a:avLst/>
          </a:prstGeom>
        </p:spPr>
        <p:txBody>
          <a:bodyPr wrap="square">
            <a:spAutoFit/>
          </a:bodyPr>
          <a:lstStyle/>
          <a:p>
            <a:r>
              <a:rPr lang="en-AU" sz="2400" b="0" i="0" dirty="0" smtClean="0">
                <a:solidFill>
                  <a:srgbClr val="444444"/>
                </a:solidFill>
                <a:effectLst/>
                <a:latin typeface="Arial" panose="020B0604020202020204" pitchFamily="34" charset="0"/>
              </a:rPr>
              <a:t>Most appliances connect to power points with a </a:t>
            </a:r>
            <a:r>
              <a:rPr lang="en-AU" sz="2400" b="1" i="0" dirty="0" smtClean="0">
                <a:solidFill>
                  <a:srgbClr val="444444"/>
                </a:solidFill>
                <a:effectLst/>
                <a:latin typeface="Arial" panose="020B0604020202020204" pitchFamily="34" charset="0"/>
              </a:rPr>
              <a:t>three-pin plug</a:t>
            </a:r>
            <a:r>
              <a:rPr lang="en-AU" sz="2400" b="0" i="0" dirty="0" smtClean="0">
                <a:solidFill>
                  <a:srgbClr val="444444"/>
                </a:solidFill>
                <a:effectLst/>
                <a:latin typeface="Arial" panose="020B0604020202020204" pitchFamily="34" charset="0"/>
              </a:rPr>
              <a:t>. Inside the plug are three wires as shown in the diagram below. They are the </a:t>
            </a:r>
            <a:r>
              <a:rPr lang="en-AU" sz="2400" b="1" i="0" dirty="0" smtClean="0">
                <a:solidFill>
                  <a:srgbClr val="FF0000"/>
                </a:solidFill>
                <a:effectLst/>
                <a:latin typeface="Arial" panose="020B0604020202020204" pitchFamily="34" charset="0"/>
              </a:rPr>
              <a:t>active</a:t>
            </a:r>
            <a:r>
              <a:rPr lang="en-AU" sz="2400" b="0" i="0" dirty="0" smtClean="0">
                <a:solidFill>
                  <a:srgbClr val="444444"/>
                </a:solidFill>
                <a:effectLst/>
                <a:latin typeface="Arial" panose="020B0604020202020204" pitchFamily="34" charset="0"/>
              </a:rPr>
              <a:t>, </a:t>
            </a:r>
            <a:r>
              <a:rPr lang="en-AU" sz="2400" b="1" i="0" dirty="0" smtClean="0">
                <a:solidFill>
                  <a:srgbClr val="0000FF"/>
                </a:solidFill>
                <a:effectLst/>
                <a:latin typeface="Arial" panose="020B0604020202020204" pitchFamily="34" charset="0"/>
              </a:rPr>
              <a:t>neutral</a:t>
            </a:r>
            <a:r>
              <a:rPr lang="en-AU" sz="2400" b="0" i="0" dirty="0" smtClean="0">
                <a:solidFill>
                  <a:srgbClr val="444444"/>
                </a:solidFill>
                <a:effectLst/>
                <a:latin typeface="Arial" panose="020B0604020202020204" pitchFamily="34" charset="0"/>
              </a:rPr>
              <a:t> and </a:t>
            </a:r>
            <a:r>
              <a:rPr lang="en-AU" sz="2400" b="1" i="0" dirty="0" smtClean="0">
                <a:solidFill>
                  <a:srgbClr val="009900"/>
                </a:solidFill>
                <a:effectLst/>
                <a:latin typeface="Arial" panose="020B0604020202020204" pitchFamily="34" charset="0"/>
              </a:rPr>
              <a:t>earth</a:t>
            </a:r>
            <a:r>
              <a:rPr lang="en-AU" sz="2400" b="1" i="0" dirty="0" smtClean="0">
                <a:solidFill>
                  <a:srgbClr val="444444"/>
                </a:solidFill>
                <a:effectLst/>
                <a:latin typeface="Arial" panose="020B0604020202020204" pitchFamily="34" charset="0"/>
              </a:rPr>
              <a:t> wires</a:t>
            </a:r>
            <a:r>
              <a:rPr lang="en-AU" sz="2400" b="0" i="0" dirty="0" smtClean="0">
                <a:solidFill>
                  <a:srgbClr val="444444"/>
                </a:solidFill>
                <a:effectLst/>
                <a:latin typeface="Arial" panose="020B0604020202020204" pitchFamily="34" charset="0"/>
              </a:rPr>
              <a:t>.</a:t>
            </a:r>
            <a:endParaRPr lang="en-AU" sz="2400" dirty="0"/>
          </a:p>
        </p:txBody>
      </p:sp>
      <p:pic>
        <p:nvPicPr>
          <p:cNvPr id="4098" name="Picture 2" descr="https://www.educationperfect.com/media/content/Science/1443145661.918751g/1443145672864-2941208909055915-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4075" y="1246833"/>
            <a:ext cx="6080125" cy="201762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14300" y="3366053"/>
            <a:ext cx="12192000" cy="1200329"/>
          </a:xfrm>
          <a:prstGeom prst="rect">
            <a:avLst/>
          </a:prstGeom>
        </p:spPr>
        <p:txBody>
          <a:bodyPr wrap="square">
            <a:spAutoFit/>
          </a:bodyPr>
          <a:lstStyle/>
          <a:p>
            <a:r>
              <a:rPr lang="en-AU" sz="2400" b="0" i="0" dirty="0" smtClean="0">
                <a:solidFill>
                  <a:srgbClr val="444444"/>
                </a:solidFill>
                <a:effectLst/>
                <a:latin typeface="Arial" panose="020B0604020202020204" pitchFamily="34" charset="0"/>
              </a:rPr>
              <a:t>The </a:t>
            </a:r>
            <a:r>
              <a:rPr lang="en-AU" sz="2400" b="1" i="0" dirty="0" smtClean="0">
                <a:solidFill>
                  <a:srgbClr val="009900"/>
                </a:solidFill>
                <a:effectLst/>
                <a:latin typeface="Arial" panose="020B0604020202020204" pitchFamily="34" charset="0"/>
              </a:rPr>
              <a:t>earth</a:t>
            </a:r>
            <a:r>
              <a:rPr lang="en-AU" sz="2400" b="1" i="0" dirty="0" smtClean="0">
                <a:solidFill>
                  <a:srgbClr val="444444"/>
                </a:solidFill>
                <a:effectLst/>
                <a:latin typeface="Arial" panose="020B0604020202020204" pitchFamily="34" charset="0"/>
              </a:rPr>
              <a:t> wire</a:t>
            </a:r>
            <a:r>
              <a:rPr lang="en-AU" sz="2400" b="0" i="0" dirty="0" smtClean="0">
                <a:solidFill>
                  <a:srgbClr val="444444"/>
                </a:solidFill>
                <a:effectLst/>
                <a:latin typeface="Arial" panose="020B0604020202020204" pitchFamily="34" charset="0"/>
              </a:rPr>
              <a:t> is connected to the metallic </a:t>
            </a:r>
            <a:r>
              <a:rPr lang="en-AU" sz="2400" b="1" i="0" dirty="0" smtClean="0">
                <a:solidFill>
                  <a:srgbClr val="444444"/>
                </a:solidFill>
                <a:effectLst/>
                <a:latin typeface="Arial" panose="020B0604020202020204" pitchFamily="34" charset="0"/>
              </a:rPr>
              <a:t>frame</a:t>
            </a:r>
            <a:r>
              <a:rPr lang="en-AU" sz="2400" b="0" i="0" dirty="0" smtClean="0">
                <a:solidFill>
                  <a:srgbClr val="444444"/>
                </a:solidFill>
                <a:effectLst/>
                <a:latin typeface="Arial" panose="020B0604020202020204" pitchFamily="34" charset="0"/>
              </a:rPr>
              <a:t> of the appliance in question. If the appliance develops a </a:t>
            </a:r>
            <a:r>
              <a:rPr lang="en-AU" sz="2400" b="1" i="0" dirty="0" smtClean="0">
                <a:solidFill>
                  <a:srgbClr val="444444"/>
                </a:solidFill>
                <a:effectLst/>
                <a:latin typeface="Arial" panose="020B0604020202020204" pitchFamily="34" charset="0"/>
              </a:rPr>
              <a:t>fault</a:t>
            </a:r>
            <a:r>
              <a:rPr lang="en-AU" sz="2400" b="0" i="0" dirty="0" smtClean="0">
                <a:solidFill>
                  <a:srgbClr val="444444"/>
                </a:solidFill>
                <a:effectLst/>
                <a:latin typeface="Arial" panose="020B0604020202020204" pitchFamily="34" charset="0"/>
              </a:rPr>
              <a:t>, this wire acts as a safety mechanism and turns off the active circuit, preventing an electric shock.</a:t>
            </a:r>
            <a:endParaRPr lang="en-AU" sz="2400" dirty="0"/>
          </a:p>
        </p:txBody>
      </p:sp>
      <p:pic>
        <p:nvPicPr>
          <p:cNvPr id="4100" name="Picture 4" descr="https://www.educationperfect.com/media/content/Science/1443145731.719821g/1443145728711-2941208909055915-optimised.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34375" y="4407059"/>
            <a:ext cx="3295650" cy="218122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5"/>
          <p:cNvGraphicFramePr>
            <a:graphicFrameLocks noGrp="1"/>
          </p:cNvGraphicFramePr>
          <p:nvPr>
            <p:extLst>
              <p:ext uri="{D42A27DB-BD31-4B8C-83A1-F6EECF244321}">
                <p14:modId xmlns:p14="http://schemas.microsoft.com/office/powerpoint/2010/main" val="3154605040"/>
              </p:ext>
            </p:extLst>
          </p:nvPr>
        </p:nvGraphicFramePr>
        <p:xfrm>
          <a:off x="0" y="4667982"/>
          <a:ext cx="8077200" cy="1577340"/>
        </p:xfrm>
        <a:graphic>
          <a:graphicData uri="http://schemas.openxmlformats.org/drawingml/2006/table">
            <a:tbl>
              <a:tblPr/>
              <a:tblGrid>
                <a:gridCol w="8077200">
                  <a:extLst>
                    <a:ext uri="{9D8B030D-6E8A-4147-A177-3AD203B41FA5}">
                      <a16:colId xmlns:a16="http://schemas.microsoft.com/office/drawing/2014/main" val="1416230430"/>
                    </a:ext>
                  </a:extLst>
                </a:gridCol>
              </a:tblGrid>
              <a:tr h="0">
                <a:tc>
                  <a:txBody>
                    <a:bodyPr/>
                    <a:lstStyle/>
                    <a:p>
                      <a:pPr algn="l" fontAlgn="ctr"/>
                      <a:r>
                        <a:rPr lang="en-AU" sz="2400" dirty="0">
                          <a:effectLst/>
                        </a:rPr>
                        <a:t>The pins on the plug each have one of these wires attached to them. They are arranged so they match with the corresponding socket in a </a:t>
                      </a:r>
                      <a:r>
                        <a:rPr lang="en-AU" sz="2400" b="1" dirty="0">
                          <a:effectLst/>
                        </a:rPr>
                        <a:t>power point</a:t>
                      </a:r>
                      <a:r>
                        <a:rPr lang="en-AU" sz="2400" dirty="0">
                          <a:effectLst/>
                        </a:rPr>
                        <a:t>. This diagram shows the connections to the </a:t>
                      </a:r>
                      <a:r>
                        <a:rPr lang="en-AU" sz="2400" b="1" dirty="0">
                          <a:solidFill>
                            <a:srgbClr val="FF0000"/>
                          </a:solidFill>
                          <a:effectLst/>
                        </a:rPr>
                        <a:t>active</a:t>
                      </a:r>
                      <a:r>
                        <a:rPr lang="en-AU" sz="2400" b="1" dirty="0">
                          <a:effectLst/>
                        </a:rPr>
                        <a:t>/</a:t>
                      </a:r>
                      <a:r>
                        <a:rPr lang="en-AU" sz="2400" b="1" dirty="0">
                          <a:solidFill>
                            <a:srgbClr val="0000FF"/>
                          </a:solidFill>
                          <a:effectLst/>
                        </a:rPr>
                        <a:t>neutral</a:t>
                      </a:r>
                      <a:r>
                        <a:rPr lang="en-AU" sz="2400" b="1" dirty="0">
                          <a:effectLst/>
                        </a:rPr>
                        <a:t> wires</a:t>
                      </a:r>
                      <a:r>
                        <a:rPr lang="en-AU" sz="2400" dirty="0">
                          <a:effectLst/>
                        </a:rPr>
                        <a:t> and </a:t>
                      </a:r>
                      <a:r>
                        <a:rPr lang="en-AU" sz="2400" b="1" dirty="0">
                          <a:solidFill>
                            <a:srgbClr val="009900"/>
                          </a:solidFill>
                          <a:effectLst/>
                        </a:rPr>
                        <a:t>earth</a:t>
                      </a:r>
                      <a:r>
                        <a:rPr lang="en-AU" sz="2400" dirty="0">
                          <a:effectLst/>
                        </a:rPr>
                        <a:t>.</a:t>
                      </a: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820615228"/>
                  </a:ext>
                </a:extLst>
              </a:tr>
            </a:tbl>
          </a:graphicData>
        </a:graphic>
      </p:graphicFrame>
    </p:spTree>
    <p:extLst>
      <p:ext uri="{BB962C8B-B14F-4D97-AF65-F5344CB8AC3E}">
        <p14:creationId xmlns:p14="http://schemas.microsoft.com/office/powerpoint/2010/main" val="41956844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76300" y="118476"/>
            <a:ext cx="10185400" cy="6739524"/>
          </a:xfrm>
          <a:prstGeom prst="rect">
            <a:avLst/>
          </a:prstGeom>
        </p:spPr>
      </p:pic>
    </p:spTree>
    <p:extLst>
      <p:ext uri="{BB962C8B-B14F-4D97-AF65-F5344CB8AC3E}">
        <p14:creationId xmlns:p14="http://schemas.microsoft.com/office/powerpoint/2010/main" val="11957509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52437" y="339724"/>
            <a:ext cx="11225837" cy="5514975"/>
          </a:xfrm>
          <a:prstGeom prst="rect">
            <a:avLst/>
          </a:prstGeom>
        </p:spPr>
      </p:pic>
    </p:spTree>
    <p:extLst>
      <p:ext uri="{BB962C8B-B14F-4D97-AF65-F5344CB8AC3E}">
        <p14:creationId xmlns:p14="http://schemas.microsoft.com/office/powerpoint/2010/main" val="33069334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95287" y="862012"/>
            <a:ext cx="11270703" cy="5056188"/>
          </a:xfrm>
          <a:prstGeom prst="rect">
            <a:avLst/>
          </a:prstGeom>
        </p:spPr>
      </p:pic>
    </p:spTree>
    <p:extLst>
      <p:ext uri="{BB962C8B-B14F-4D97-AF65-F5344CB8AC3E}">
        <p14:creationId xmlns:p14="http://schemas.microsoft.com/office/powerpoint/2010/main" val="23690375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79512" y="249237"/>
            <a:ext cx="9767888" cy="6410676"/>
          </a:xfrm>
          <a:prstGeom prst="rect">
            <a:avLst/>
          </a:prstGeom>
        </p:spPr>
      </p:pic>
    </p:spTree>
    <p:extLst>
      <p:ext uri="{BB962C8B-B14F-4D97-AF65-F5344CB8AC3E}">
        <p14:creationId xmlns:p14="http://schemas.microsoft.com/office/powerpoint/2010/main" val="14334976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312987" y="369887"/>
            <a:ext cx="7758113" cy="6175401"/>
          </a:xfrm>
          <a:prstGeom prst="rect">
            <a:avLst/>
          </a:prstGeom>
        </p:spPr>
      </p:pic>
    </p:spTree>
    <p:extLst>
      <p:ext uri="{BB962C8B-B14F-4D97-AF65-F5344CB8AC3E}">
        <p14:creationId xmlns:p14="http://schemas.microsoft.com/office/powerpoint/2010/main" val="32674250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68312" y="539749"/>
            <a:ext cx="11050588" cy="5364033"/>
          </a:xfrm>
          <a:prstGeom prst="rect">
            <a:avLst/>
          </a:prstGeom>
        </p:spPr>
      </p:pic>
    </p:spTree>
    <p:extLst>
      <p:ext uri="{BB962C8B-B14F-4D97-AF65-F5344CB8AC3E}">
        <p14:creationId xmlns:p14="http://schemas.microsoft.com/office/powerpoint/2010/main" val="32103071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70050" y="317499"/>
            <a:ext cx="8515350" cy="6344771"/>
          </a:xfrm>
          <a:prstGeom prst="rect">
            <a:avLst/>
          </a:prstGeom>
        </p:spPr>
      </p:pic>
    </p:spTree>
    <p:extLst>
      <p:ext uri="{BB962C8B-B14F-4D97-AF65-F5344CB8AC3E}">
        <p14:creationId xmlns:p14="http://schemas.microsoft.com/office/powerpoint/2010/main" val="18798541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5900" y="308739"/>
            <a:ext cx="11976100" cy="2677656"/>
          </a:xfrm>
          <a:prstGeom prst="rect">
            <a:avLst/>
          </a:prstGeom>
        </p:spPr>
        <p:txBody>
          <a:bodyPr wrap="square">
            <a:spAutoFit/>
          </a:bodyPr>
          <a:lstStyle/>
          <a:p>
            <a:pPr algn="ctr"/>
            <a:r>
              <a:rPr lang="en-AU" sz="2400" b="0" i="0" dirty="0" smtClean="0">
                <a:solidFill>
                  <a:srgbClr val="444444"/>
                </a:solidFill>
                <a:effectLst/>
                <a:latin typeface="Arial" panose="020B0604020202020204" pitchFamily="34" charset="0"/>
              </a:rPr>
              <a:t>The system that distributes electrical power around your home is rather complicated. Sometimes things can go wrong, so it's important that we understand how to be </a:t>
            </a:r>
            <a:r>
              <a:rPr lang="en-AU" sz="2400" b="1" i="0" dirty="0" smtClean="0">
                <a:solidFill>
                  <a:srgbClr val="444444"/>
                </a:solidFill>
                <a:effectLst/>
                <a:latin typeface="Arial" panose="020B0604020202020204" pitchFamily="34" charset="0"/>
              </a:rPr>
              <a:t>safe</a:t>
            </a:r>
            <a:r>
              <a:rPr lang="en-AU" sz="2400" b="0" i="0" dirty="0" smtClean="0">
                <a:solidFill>
                  <a:srgbClr val="444444"/>
                </a:solidFill>
                <a:effectLst/>
                <a:latin typeface="Arial" panose="020B0604020202020204" pitchFamily="34" charset="0"/>
              </a:rPr>
              <a:t> around electricity.</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A </a:t>
            </a:r>
            <a:r>
              <a:rPr lang="en-AU" sz="2400" b="1" i="0" dirty="0" smtClean="0">
                <a:solidFill>
                  <a:srgbClr val="FF0000"/>
                </a:solidFill>
                <a:effectLst/>
                <a:latin typeface="Arial" panose="020B0604020202020204" pitchFamily="34" charset="0"/>
              </a:rPr>
              <a:t>short circuit</a:t>
            </a:r>
            <a:r>
              <a:rPr lang="en-AU" sz="2400" b="0" i="0" dirty="0" smtClean="0">
                <a:solidFill>
                  <a:srgbClr val="444444"/>
                </a:solidFill>
                <a:effectLst/>
                <a:latin typeface="Arial" panose="020B0604020202020204" pitchFamily="34" charset="0"/>
              </a:rPr>
              <a:t> can happen when there is a direct (and unwanted) connection between the </a:t>
            </a:r>
            <a:r>
              <a:rPr lang="en-AU" sz="2400" b="1" i="0" dirty="0" smtClean="0">
                <a:solidFill>
                  <a:srgbClr val="FF0000"/>
                </a:solidFill>
                <a:effectLst/>
                <a:latin typeface="Arial" panose="020B0604020202020204" pitchFamily="34" charset="0"/>
              </a:rPr>
              <a:t>active</a:t>
            </a:r>
            <a:r>
              <a:rPr lang="en-AU" sz="2400" b="0" i="0" dirty="0" smtClean="0">
                <a:solidFill>
                  <a:srgbClr val="444444"/>
                </a:solidFill>
                <a:effectLst/>
                <a:latin typeface="Arial" panose="020B0604020202020204" pitchFamily="34" charset="0"/>
              </a:rPr>
              <a:t> and </a:t>
            </a:r>
            <a:r>
              <a:rPr lang="en-AU" sz="2400" b="1" i="0" dirty="0" smtClean="0">
                <a:solidFill>
                  <a:srgbClr val="0000FF"/>
                </a:solidFill>
                <a:effectLst/>
                <a:latin typeface="Arial" panose="020B0604020202020204" pitchFamily="34" charset="0"/>
              </a:rPr>
              <a:t>neutral</a:t>
            </a:r>
            <a:r>
              <a:rPr lang="en-AU" sz="2400" b="1" i="0" dirty="0" smtClean="0">
                <a:solidFill>
                  <a:srgbClr val="444444"/>
                </a:solidFill>
                <a:effectLst/>
                <a:latin typeface="Arial" panose="020B0604020202020204" pitchFamily="34" charset="0"/>
              </a:rPr>
              <a:t> wires</a:t>
            </a:r>
            <a:r>
              <a:rPr lang="en-AU" sz="2400" b="0" i="0" dirty="0" smtClean="0">
                <a:solidFill>
                  <a:srgbClr val="444444"/>
                </a:solidFill>
                <a:effectLst/>
                <a:latin typeface="Arial" panose="020B0604020202020204" pitchFamily="34" charset="0"/>
              </a:rPr>
              <a:t> of an appliance. This creates a very </a:t>
            </a:r>
            <a:r>
              <a:rPr lang="en-AU" sz="2400" b="1" i="0" dirty="0" smtClean="0">
                <a:solidFill>
                  <a:srgbClr val="444444"/>
                </a:solidFill>
                <a:effectLst/>
                <a:latin typeface="Arial" panose="020B0604020202020204" pitchFamily="34" charset="0"/>
              </a:rPr>
              <a:t>low-resistance path</a:t>
            </a:r>
            <a:r>
              <a:rPr lang="en-AU" sz="2400" b="0" i="0" dirty="0" smtClean="0">
                <a:solidFill>
                  <a:srgbClr val="444444"/>
                </a:solidFill>
                <a:effectLst/>
                <a:latin typeface="Arial" panose="020B0604020202020204" pitchFamily="34" charset="0"/>
              </a:rPr>
              <a:t> for current, which will bypass the appliance in question.</a:t>
            </a:r>
            <a:endParaRPr lang="en-AU" sz="2400" b="0" i="0" dirty="0">
              <a:solidFill>
                <a:srgbClr val="444444"/>
              </a:solidFill>
              <a:effectLst/>
              <a:latin typeface="Arial" panose="020B0604020202020204" pitchFamily="34" charset="0"/>
            </a:endParaRPr>
          </a:p>
        </p:txBody>
      </p:sp>
      <p:sp>
        <p:nvSpPr>
          <p:cNvPr id="3" name="Rectangle 2"/>
          <p:cNvSpPr/>
          <p:nvPr/>
        </p:nvSpPr>
        <p:spPr>
          <a:xfrm>
            <a:off x="419100" y="3680936"/>
            <a:ext cx="6096000" cy="2308324"/>
          </a:xfrm>
          <a:prstGeom prst="rect">
            <a:avLst/>
          </a:prstGeom>
        </p:spPr>
        <p:txBody>
          <a:bodyPr>
            <a:spAutoFit/>
          </a:bodyPr>
          <a:lstStyle/>
          <a:p>
            <a:r>
              <a:rPr lang="en-AU" sz="2400" b="0" i="0" dirty="0" smtClean="0">
                <a:solidFill>
                  <a:srgbClr val="444444"/>
                </a:solidFill>
                <a:effectLst/>
                <a:latin typeface="Arial" panose="020B0604020202020204" pitchFamily="34" charset="0"/>
              </a:rPr>
              <a:t>Not only does the appliance lose power, but the wires can get very </a:t>
            </a:r>
            <a:r>
              <a:rPr lang="en-AU" sz="2400" b="1" i="0" dirty="0" smtClean="0">
                <a:solidFill>
                  <a:srgbClr val="444444"/>
                </a:solidFill>
                <a:effectLst/>
                <a:latin typeface="Arial" panose="020B0604020202020204" pitchFamily="34" charset="0"/>
              </a:rPr>
              <a:t>hot</a:t>
            </a:r>
            <a:r>
              <a:rPr lang="en-AU" sz="2400" b="0" i="0" dirty="0" smtClean="0">
                <a:solidFill>
                  <a:srgbClr val="444444"/>
                </a:solidFill>
                <a:effectLst/>
                <a:latin typeface="Arial" panose="020B0604020202020204" pitchFamily="34" charset="0"/>
              </a:rPr>
              <a:t> and break down. This is because, with </a:t>
            </a:r>
            <a:r>
              <a:rPr lang="en-AU" sz="2400" b="1" i="0" dirty="0" smtClean="0">
                <a:solidFill>
                  <a:srgbClr val="444444"/>
                </a:solidFill>
                <a:effectLst/>
                <a:latin typeface="Arial" panose="020B0604020202020204" pitchFamily="34" charset="0"/>
              </a:rPr>
              <a:t>low </a:t>
            </a:r>
            <a:r>
              <a:rPr lang="en-AU" sz="2400" b="1" i="0" dirty="0" smtClean="0">
                <a:solidFill>
                  <a:srgbClr val="0000FF"/>
                </a:solidFill>
                <a:effectLst/>
                <a:latin typeface="Arial" panose="020B0604020202020204" pitchFamily="34" charset="0"/>
              </a:rPr>
              <a:t>resistance</a:t>
            </a:r>
            <a:r>
              <a:rPr lang="en-AU" sz="2400" b="0" i="0" dirty="0" smtClean="0">
                <a:solidFill>
                  <a:srgbClr val="444444"/>
                </a:solidFill>
                <a:effectLst/>
                <a:latin typeface="Arial" panose="020B0604020202020204" pitchFamily="34" charset="0"/>
              </a:rPr>
              <a:t> along the path, the </a:t>
            </a:r>
            <a:r>
              <a:rPr lang="en-AU" sz="2400" b="1" i="0" dirty="0" smtClean="0">
                <a:solidFill>
                  <a:srgbClr val="FF0000"/>
                </a:solidFill>
                <a:effectLst/>
                <a:latin typeface="Arial" panose="020B0604020202020204" pitchFamily="34" charset="0"/>
              </a:rPr>
              <a:t>current</a:t>
            </a:r>
            <a:r>
              <a:rPr lang="en-AU" sz="2400" b="1" i="0" dirty="0" smtClean="0">
                <a:solidFill>
                  <a:srgbClr val="444444"/>
                </a:solidFill>
                <a:effectLst/>
                <a:latin typeface="Arial" panose="020B0604020202020204" pitchFamily="34" charset="0"/>
              </a:rPr>
              <a:t> becomes very high</a:t>
            </a:r>
            <a:r>
              <a:rPr lang="en-AU" sz="2400" b="0" i="0" dirty="0" smtClean="0">
                <a:solidFill>
                  <a:srgbClr val="444444"/>
                </a:solidFill>
                <a:effectLst/>
                <a:latin typeface="Arial" panose="020B0604020202020204" pitchFamily="34" charset="0"/>
              </a:rPr>
              <a:t>. This would </a:t>
            </a:r>
            <a:r>
              <a:rPr lang="en-AU" sz="2400" b="1" i="0" dirty="0" smtClean="0">
                <a:solidFill>
                  <a:srgbClr val="444444"/>
                </a:solidFill>
                <a:effectLst/>
                <a:latin typeface="Arial" panose="020B0604020202020204" pitchFamily="34" charset="0"/>
              </a:rPr>
              <a:t>damage</a:t>
            </a:r>
            <a:r>
              <a:rPr lang="en-AU" sz="2400" b="0" i="0" dirty="0" smtClean="0">
                <a:solidFill>
                  <a:srgbClr val="444444"/>
                </a:solidFill>
                <a:effectLst/>
                <a:latin typeface="Arial" panose="020B0604020202020204" pitchFamily="34" charset="0"/>
              </a:rPr>
              <a:t> the appliance, or make it unusable!</a:t>
            </a:r>
            <a:endParaRPr lang="en-AU" sz="2400" dirty="0"/>
          </a:p>
        </p:txBody>
      </p:sp>
      <p:pic>
        <p:nvPicPr>
          <p:cNvPr id="5122" name="Picture 2" descr="https://www.educationperfect.com/media/content/Science/1443139276.177741g/1443139276034-4072717864274330-4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8075" y="3568272"/>
            <a:ext cx="3800475" cy="25336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52913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375335"/>
            <a:ext cx="11696700" cy="830997"/>
          </a:xfrm>
          <a:prstGeom prst="rect">
            <a:avLst/>
          </a:prstGeom>
        </p:spPr>
        <p:txBody>
          <a:bodyPr wrap="square">
            <a:spAutoFit/>
          </a:bodyPr>
          <a:lstStyle/>
          <a:p>
            <a:r>
              <a:rPr lang="en-AU" sz="2400" b="0" i="0" dirty="0" smtClean="0">
                <a:solidFill>
                  <a:srgbClr val="444444"/>
                </a:solidFill>
                <a:effectLst/>
                <a:latin typeface="Arial" panose="020B0604020202020204" pitchFamily="34" charset="0"/>
              </a:rPr>
              <a:t>To stop a </a:t>
            </a:r>
            <a:r>
              <a:rPr lang="en-AU" sz="2400" b="1" i="0" dirty="0" smtClean="0">
                <a:solidFill>
                  <a:srgbClr val="444444"/>
                </a:solidFill>
                <a:effectLst/>
                <a:latin typeface="Arial" panose="020B0604020202020204" pitchFamily="34" charset="0"/>
              </a:rPr>
              <a:t>short circuit</a:t>
            </a:r>
            <a:r>
              <a:rPr lang="en-AU" sz="2400" b="0" i="0" dirty="0" smtClean="0">
                <a:solidFill>
                  <a:srgbClr val="444444"/>
                </a:solidFill>
                <a:effectLst/>
                <a:latin typeface="Arial" panose="020B0604020202020204" pitchFamily="34" charset="0"/>
              </a:rPr>
              <a:t> from doing too much damage, devices like </a:t>
            </a:r>
            <a:r>
              <a:rPr lang="en-AU" sz="2400" b="1" i="0" dirty="0" smtClean="0">
                <a:solidFill>
                  <a:srgbClr val="444444"/>
                </a:solidFill>
                <a:effectLst/>
                <a:latin typeface="Arial" panose="020B0604020202020204" pitchFamily="34" charset="0"/>
              </a:rPr>
              <a:t>fuses </a:t>
            </a:r>
            <a:r>
              <a:rPr lang="en-AU" sz="2400" b="0" i="0" dirty="0" smtClean="0">
                <a:solidFill>
                  <a:srgbClr val="444444"/>
                </a:solidFill>
                <a:effectLst/>
                <a:latin typeface="Arial" panose="020B0604020202020204" pitchFamily="34" charset="0"/>
              </a:rPr>
              <a:t>and </a:t>
            </a:r>
            <a:r>
              <a:rPr lang="en-AU" sz="2400" b="1" i="0" dirty="0" smtClean="0">
                <a:solidFill>
                  <a:srgbClr val="444444"/>
                </a:solidFill>
                <a:effectLst/>
                <a:latin typeface="Arial" panose="020B0604020202020204" pitchFamily="34" charset="0"/>
              </a:rPr>
              <a:t>circuit breakers</a:t>
            </a:r>
            <a:r>
              <a:rPr lang="en-AU" sz="2400" b="0" i="0" dirty="0" smtClean="0">
                <a:solidFill>
                  <a:srgbClr val="444444"/>
                </a:solidFill>
                <a:effectLst/>
                <a:latin typeface="Arial" panose="020B0604020202020204" pitchFamily="34" charset="0"/>
              </a:rPr>
              <a:t> are used.</a:t>
            </a:r>
            <a:endParaRPr lang="en-AU" sz="2400" dirty="0"/>
          </a:p>
        </p:txBody>
      </p:sp>
      <p:graphicFrame>
        <p:nvGraphicFramePr>
          <p:cNvPr id="3" name="Table 2"/>
          <p:cNvGraphicFramePr>
            <a:graphicFrameLocks noGrp="1"/>
          </p:cNvGraphicFramePr>
          <p:nvPr>
            <p:extLst>
              <p:ext uri="{D42A27DB-BD31-4B8C-83A1-F6EECF244321}">
                <p14:modId xmlns:p14="http://schemas.microsoft.com/office/powerpoint/2010/main" val="3489922091"/>
              </p:ext>
            </p:extLst>
          </p:nvPr>
        </p:nvGraphicFramePr>
        <p:xfrm>
          <a:off x="1009650" y="1434624"/>
          <a:ext cx="6737350" cy="1943100"/>
        </p:xfrm>
        <a:graphic>
          <a:graphicData uri="http://schemas.openxmlformats.org/drawingml/2006/table">
            <a:tbl>
              <a:tblPr/>
              <a:tblGrid>
                <a:gridCol w="6737350">
                  <a:extLst>
                    <a:ext uri="{9D8B030D-6E8A-4147-A177-3AD203B41FA5}">
                      <a16:colId xmlns:a16="http://schemas.microsoft.com/office/drawing/2014/main" val="3696925210"/>
                    </a:ext>
                  </a:extLst>
                </a:gridCol>
              </a:tblGrid>
              <a:tr h="0">
                <a:tc>
                  <a:txBody>
                    <a:bodyPr/>
                    <a:lstStyle/>
                    <a:p>
                      <a:pPr algn="l" fontAlgn="ctr"/>
                      <a:r>
                        <a:rPr lang="en-AU" sz="2400" dirty="0">
                          <a:effectLst/>
                        </a:rPr>
                        <a:t>Here is a model of a typical </a:t>
                      </a:r>
                      <a:r>
                        <a:rPr lang="en-AU" sz="2400" b="1" dirty="0">
                          <a:solidFill>
                            <a:srgbClr val="FF0000"/>
                          </a:solidFill>
                          <a:effectLst/>
                        </a:rPr>
                        <a:t>fuse</a:t>
                      </a:r>
                      <a:r>
                        <a:rPr lang="en-AU" sz="2400" dirty="0">
                          <a:effectLst/>
                        </a:rPr>
                        <a:t>. There is always a fuse connected to the </a:t>
                      </a:r>
                      <a:r>
                        <a:rPr lang="en-AU" sz="2400" b="1" dirty="0">
                          <a:solidFill>
                            <a:srgbClr val="FF0000"/>
                          </a:solidFill>
                          <a:effectLst/>
                        </a:rPr>
                        <a:t>active</a:t>
                      </a:r>
                      <a:r>
                        <a:rPr lang="en-AU" sz="2400" b="1" dirty="0">
                          <a:effectLst/>
                        </a:rPr>
                        <a:t> wire</a:t>
                      </a:r>
                      <a:r>
                        <a:rPr lang="en-AU" sz="2400" dirty="0">
                          <a:effectLst/>
                        </a:rPr>
                        <a:t>. It consists of a </a:t>
                      </a:r>
                      <a:r>
                        <a:rPr lang="en-AU" sz="2400" b="1" dirty="0">
                          <a:effectLst/>
                        </a:rPr>
                        <a:t>thin</a:t>
                      </a:r>
                      <a:r>
                        <a:rPr lang="en-AU" sz="2400" dirty="0">
                          <a:effectLst/>
                        </a:rPr>
                        <a:t> length of copper wire, held in a </a:t>
                      </a:r>
                      <a:r>
                        <a:rPr lang="en-AU" sz="2400" b="1" dirty="0">
                          <a:effectLst/>
                        </a:rPr>
                        <a:t>ceramic carrier</a:t>
                      </a:r>
                      <a:r>
                        <a:rPr lang="en-AU" sz="2400" dirty="0">
                          <a:effectLst/>
                        </a:rPr>
                        <a:t>. If the current through it becomes too </a:t>
                      </a:r>
                      <a:r>
                        <a:rPr lang="en-AU" sz="2400" b="1" dirty="0">
                          <a:effectLst/>
                        </a:rPr>
                        <a:t>high</a:t>
                      </a:r>
                      <a:r>
                        <a:rPr lang="en-AU" sz="2400" dirty="0">
                          <a:effectLst/>
                        </a:rPr>
                        <a:t>, the thin wire </a:t>
                      </a:r>
                      <a:r>
                        <a:rPr lang="en-AU" sz="2400" b="1" dirty="0">
                          <a:solidFill>
                            <a:srgbClr val="0000FF"/>
                          </a:solidFill>
                          <a:effectLst/>
                        </a:rPr>
                        <a:t>melts</a:t>
                      </a:r>
                      <a:r>
                        <a:rPr lang="en-AU" sz="2400" dirty="0">
                          <a:effectLst/>
                        </a:rPr>
                        <a:t> and breaks the circuit.</a:t>
                      </a: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4063365493"/>
                  </a:ext>
                </a:extLst>
              </a:tr>
            </a:tbl>
          </a:graphicData>
        </a:graphic>
      </p:graphicFrame>
      <p:pic>
        <p:nvPicPr>
          <p:cNvPr id="6146" name="Picture 2" descr="https://www.educationperfect.com/media/content/Science/1443150137.372081g/1443150148452-1158097142678244-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47000" y="1096486"/>
            <a:ext cx="3648075" cy="261937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15899" y="3606016"/>
            <a:ext cx="11179175" cy="3046988"/>
          </a:xfrm>
          <a:prstGeom prst="rect">
            <a:avLst/>
          </a:prstGeom>
        </p:spPr>
        <p:txBody>
          <a:bodyPr wrap="square">
            <a:spAutoFit/>
          </a:bodyPr>
          <a:lstStyle/>
          <a:p>
            <a:pPr algn="ctr"/>
            <a:r>
              <a:rPr lang="en-AU" sz="2400" b="0" i="0" dirty="0" smtClean="0">
                <a:solidFill>
                  <a:srgbClr val="444444"/>
                </a:solidFill>
                <a:effectLst/>
                <a:latin typeface="Arial" panose="020B0604020202020204" pitchFamily="34" charset="0"/>
              </a:rPr>
              <a:t>This </a:t>
            </a:r>
            <a:r>
              <a:rPr lang="en-AU" sz="2400" b="1" i="0" dirty="0" smtClean="0">
                <a:solidFill>
                  <a:srgbClr val="444444"/>
                </a:solidFill>
                <a:effectLst/>
                <a:latin typeface="Arial" panose="020B0604020202020204" pitchFamily="34" charset="0"/>
              </a:rPr>
              <a:t>prevents permanent damage</a:t>
            </a:r>
            <a:r>
              <a:rPr lang="en-AU" sz="2400" b="0" i="0" dirty="0" smtClean="0">
                <a:solidFill>
                  <a:srgbClr val="444444"/>
                </a:solidFill>
                <a:effectLst/>
                <a:latin typeface="Arial" panose="020B0604020202020204" pitchFamily="34" charset="0"/>
              </a:rPr>
              <a:t> to the appliance and </a:t>
            </a:r>
            <a:r>
              <a:rPr lang="en-AU" sz="2400" b="1" i="0" dirty="0" smtClean="0">
                <a:solidFill>
                  <a:srgbClr val="444444"/>
                </a:solidFill>
                <a:effectLst/>
                <a:latin typeface="Arial" panose="020B0604020202020204" pitchFamily="34" charset="0"/>
              </a:rPr>
              <a:t>saves money</a:t>
            </a:r>
            <a:r>
              <a:rPr lang="en-AU" sz="2400" b="0" i="0" dirty="0" smtClean="0">
                <a:solidFill>
                  <a:srgbClr val="444444"/>
                </a:solidFill>
                <a:effectLst/>
                <a:latin typeface="Arial" panose="020B0604020202020204" pitchFamily="34" charset="0"/>
              </a:rPr>
              <a:t>, since fuses are relatively </a:t>
            </a:r>
            <a:r>
              <a:rPr lang="en-AU" sz="2400" b="1" i="0" dirty="0" smtClean="0">
                <a:solidFill>
                  <a:srgbClr val="009900"/>
                </a:solidFill>
                <a:effectLst/>
                <a:latin typeface="Arial" panose="020B0604020202020204" pitchFamily="34" charset="0"/>
              </a:rPr>
              <a:t>cheap</a:t>
            </a:r>
            <a:r>
              <a:rPr lang="en-AU" sz="2400" b="0" i="0" dirty="0" smtClean="0">
                <a:solidFill>
                  <a:srgbClr val="444444"/>
                </a:solidFill>
                <a:effectLst/>
                <a:latin typeface="Arial" panose="020B0604020202020204" pitchFamily="34" charset="0"/>
              </a:rPr>
              <a:t> to replace. In general, fuses are rated at </a:t>
            </a:r>
            <a:r>
              <a:rPr lang="en-AU" sz="2400" b="1" i="0" dirty="0" smtClean="0">
                <a:solidFill>
                  <a:srgbClr val="444444"/>
                </a:solidFill>
                <a:effectLst/>
                <a:latin typeface="KaTeX_Main"/>
              </a:rPr>
              <a:t>15</a:t>
            </a:r>
            <a:r>
              <a:rPr lang="en-AU" sz="2400" b="0" i="0" dirty="0" smtClean="0">
                <a:solidFill>
                  <a:srgbClr val="444444"/>
                </a:solidFill>
                <a:effectLst/>
                <a:latin typeface="KaTeX_Main"/>
              </a:rPr>
              <a:t> </a:t>
            </a:r>
            <a:r>
              <a:rPr lang="en-AU" sz="2400" b="1" i="0" dirty="0" smtClean="0">
                <a:solidFill>
                  <a:srgbClr val="444444"/>
                </a:solidFill>
                <a:effectLst/>
                <a:latin typeface="KaTeX_Main"/>
              </a:rPr>
              <a:t> A</a:t>
            </a:r>
            <a:r>
              <a:rPr lang="en-AU" sz="2400" b="0" i="0" dirty="0" smtClean="0">
                <a:solidFill>
                  <a:srgbClr val="444444"/>
                </a:solidFill>
                <a:effectLst/>
                <a:latin typeface="Arial" panose="020B0604020202020204" pitchFamily="34" charset="0"/>
              </a:rPr>
              <a:t> in </a:t>
            </a:r>
            <a:r>
              <a:rPr lang="en-AU" sz="2400" b="1" i="0" dirty="0" smtClean="0">
                <a:solidFill>
                  <a:srgbClr val="444444"/>
                </a:solidFill>
                <a:effectLst/>
                <a:latin typeface="Arial" panose="020B0604020202020204" pitchFamily="34" charset="0"/>
              </a:rPr>
              <a:t>lighting circuits</a:t>
            </a:r>
            <a:r>
              <a:rPr lang="en-AU" sz="2400" b="0" i="0" dirty="0" smtClean="0">
                <a:solidFill>
                  <a:srgbClr val="444444"/>
                </a:solidFill>
                <a:effectLst/>
                <a:latin typeface="Arial" panose="020B0604020202020204" pitchFamily="34" charset="0"/>
              </a:rPr>
              <a:t>, and at around </a:t>
            </a:r>
            <a:r>
              <a:rPr lang="en-AU" sz="2400" b="1" i="0" dirty="0" smtClean="0">
                <a:solidFill>
                  <a:srgbClr val="444444"/>
                </a:solidFill>
                <a:effectLst/>
                <a:latin typeface="KaTeX_Main"/>
              </a:rPr>
              <a:t>30</a:t>
            </a:r>
            <a:r>
              <a:rPr lang="en-AU" sz="2400" b="0" i="0" dirty="0" smtClean="0">
                <a:solidFill>
                  <a:srgbClr val="444444"/>
                </a:solidFill>
                <a:effectLst/>
                <a:latin typeface="KaTeX_Main"/>
              </a:rPr>
              <a:t> </a:t>
            </a:r>
            <a:r>
              <a:rPr lang="en-AU" sz="2400" b="1" i="0" dirty="0" smtClean="0">
                <a:solidFill>
                  <a:srgbClr val="444444"/>
                </a:solidFill>
                <a:effectLst/>
                <a:latin typeface="KaTeX_Main"/>
              </a:rPr>
              <a:t> A</a:t>
            </a:r>
            <a:r>
              <a:rPr lang="en-AU" sz="2400" b="0" i="0" dirty="0" smtClean="0">
                <a:solidFill>
                  <a:srgbClr val="444444"/>
                </a:solidFill>
                <a:effectLst/>
                <a:latin typeface="Arial" panose="020B0604020202020204" pitchFamily="34" charset="0"/>
              </a:rPr>
              <a:t> for </a:t>
            </a:r>
            <a:r>
              <a:rPr lang="en-AU" sz="2400" b="1" i="0" dirty="0" smtClean="0">
                <a:solidFill>
                  <a:srgbClr val="444444"/>
                </a:solidFill>
                <a:effectLst/>
                <a:latin typeface="Arial" panose="020B0604020202020204" pitchFamily="34" charset="0"/>
              </a:rPr>
              <a:t>large appliances</a:t>
            </a:r>
            <a:r>
              <a:rPr lang="en-AU" sz="2400" b="0" i="0" dirty="0" smtClean="0">
                <a:solidFill>
                  <a:srgbClr val="444444"/>
                </a:solidFill>
                <a:effectLst/>
                <a:latin typeface="Arial" panose="020B0604020202020204" pitchFamily="34" charset="0"/>
              </a:rPr>
              <a:t>.</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A </a:t>
            </a:r>
            <a:r>
              <a:rPr lang="en-AU" sz="2400" b="1" i="0" dirty="0" smtClean="0">
                <a:solidFill>
                  <a:srgbClr val="FF0000"/>
                </a:solidFill>
                <a:effectLst/>
                <a:latin typeface="Arial" panose="020B0604020202020204" pitchFamily="34" charset="0"/>
              </a:rPr>
              <a:t>circuit breaker</a:t>
            </a:r>
            <a:r>
              <a:rPr lang="en-AU" sz="2400" b="0" i="0" dirty="0" smtClean="0">
                <a:solidFill>
                  <a:srgbClr val="444444"/>
                </a:solidFill>
                <a:effectLst/>
                <a:latin typeface="Arial" panose="020B0604020202020204" pitchFamily="34" charset="0"/>
              </a:rPr>
              <a:t> does the same job, but in a different way. It contains a small </a:t>
            </a:r>
            <a:r>
              <a:rPr lang="en-AU" sz="2400" b="1" i="0" dirty="0" smtClean="0">
                <a:solidFill>
                  <a:srgbClr val="0000FF"/>
                </a:solidFill>
                <a:effectLst/>
                <a:latin typeface="Arial" panose="020B0604020202020204" pitchFamily="34" charset="0"/>
              </a:rPr>
              <a:t>electromagnet</a:t>
            </a:r>
            <a:r>
              <a:rPr lang="en-AU" sz="2400" b="0" i="0" dirty="0" smtClean="0">
                <a:solidFill>
                  <a:srgbClr val="444444"/>
                </a:solidFill>
                <a:effectLst/>
                <a:latin typeface="Arial" panose="020B0604020202020204" pitchFamily="34" charset="0"/>
              </a:rPr>
              <a:t> that opens a </a:t>
            </a:r>
            <a:r>
              <a:rPr lang="en-AU" sz="2400" b="1" i="0" dirty="0" smtClean="0">
                <a:solidFill>
                  <a:srgbClr val="444444"/>
                </a:solidFill>
                <a:effectLst/>
                <a:latin typeface="Arial" panose="020B0604020202020204" pitchFamily="34" charset="0"/>
              </a:rPr>
              <a:t>switch</a:t>
            </a:r>
            <a:r>
              <a:rPr lang="en-AU" sz="2400" b="0" i="0" dirty="0" smtClean="0">
                <a:solidFill>
                  <a:srgbClr val="444444"/>
                </a:solidFill>
                <a:effectLst/>
                <a:latin typeface="Arial" panose="020B0604020202020204" pitchFamily="34" charset="0"/>
              </a:rPr>
              <a:t> when the current becomes too high. When the switch opens, the circuit breaks. It can open in a very </a:t>
            </a:r>
            <a:r>
              <a:rPr lang="en-AU" sz="2400" b="1" i="0" dirty="0" smtClean="0">
                <a:solidFill>
                  <a:srgbClr val="444444"/>
                </a:solidFill>
                <a:effectLst/>
                <a:latin typeface="Arial" panose="020B0604020202020204" pitchFamily="34" charset="0"/>
              </a:rPr>
              <a:t>short</a:t>
            </a:r>
            <a:r>
              <a:rPr lang="en-AU" sz="2400" b="0" i="0" dirty="0" smtClean="0">
                <a:solidFill>
                  <a:srgbClr val="444444"/>
                </a:solidFill>
                <a:effectLst/>
                <a:latin typeface="Arial" panose="020B0604020202020204" pitchFamily="34" charset="0"/>
              </a:rPr>
              <a:t> amount of time, which saves the circuit from </a:t>
            </a:r>
            <a:r>
              <a:rPr lang="en-AU" sz="2400" b="1" i="0" dirty="0" smtClean="0">
                <a:solidFill>
                  <a:srgbClr val="444444"/>
                </a:solidFill>
                <a:effectLst/>
                <a:latin typeface="Arial" panose="020B0604020202020204" pitchFamily="34" charset="0"/>
              </a:rPr>
              <a:t>overheating</a:t>
            </a:r>
            <a:r>
              <a:rPr lang="en-AU" sz="2400" b="0" i="0" dirty="0" smtClean="0">
                <a:solidFill>
                  <a:srgbClr val="444444"/>
                </a:solidFill>
                <a:effectLst/>
                <a:latin typeface="Arial" panose="020B0604020202020204" pitchFamily="34" charset="0"/>
              </a:rPr>
              <a:t> and melting.</a:t>
            </a:r>
            <a:endParaRPr lang="en-AU" sz="2400" b="0" i="0" dirty="0">
              <a:solidFill>
                <a:srgbClr val="444444"/>
              </a:solidFill>
              <a:effectLst/>
              <a:latin typeface="Arial" panose="020B0604020202020204" pitchFamily="34" charset="0"/>
            </a:endParaRPr>
          </a:p>
        </p:txBody>
      </p:sp>
    </p:spTree>
    <p:extLst>
      <p:ext uri="{BB962C8B-B14F-4D97-AF65-F5344CB8AC3E}">
        <p14:creationId xmlns:p14="http://schemas.microsoft.com/office/powerpoint/2010/main" val="37569761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898035758"/>
              </p:ext>
            </p:extLst>
          </p:nvPr>
        </p:nvGraphicFramePr>
        <p:xfrm>
          <a:off x="241300" y="362744"/>
          <a:ext cx="7962900" cy="1577340"/>
        </p:xfrm>
        <a:graphic>
          <a:graphicData uri="http://schemas.openxmlformats.org/drawingml/2006/table">
            <a:tbl>
              <a:tblPr/>
              <a:tblGrid>
                <a:gridCol w="7962900">
                  <a:extLst>
                    <a:ext uri="{9D8B030D-6E8A-4147-A177-3AD203B41FA5}">
                      <a16:colId xmlns:a16="http://schemas.microsoft.com/office/drawing/2014/main" val="16200850"/>
                    </a:ext>
                  </a:extLst>
                </a:gridCol>
              </a:tblGrid>
              <a:tr h="0">
                <a:tc>
                  <a:txBody>
                    <a:bodyPr/>
                    <a:lstStyle/>
                    <a:p>
                      <a:pPr algn="l" fontAlgn="ctr"/>
                      <a:r>
                        <a:rPr lang="en-AU" sz="2400" dirty="0">
                          <a:effectLst/>
                        </a:rPr>
                        <a:t>There are many other electronic devices designed to keep us safe, but the most important protection is common sense! Here are six straightforward rules to keep in mind when faced with an electrical issue.</a:t>
                      </a: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806834797"/>
                  </a:ext>
                </a:extLst>
              </a:tr>
            </a:tbl>
          </a:graphicData>
        </a:graphic>
      </p:graphicFrame>
      <p:pic>
        <p:nvPicPr>
          <p:cNvPr id="7170" name="Picture 2" descr="https://www.educationperfect.com/Images/Content/History/1399861931641-12992386-optimise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42375" y="362744"/>
            <a:ext cx="2857500" cy="20955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3"/>
          <p:cNvGraphicFramePr>
            <a:graphicFrameLocks noGrp="1"/>
          </p:cNvGraphicFramePr>
          <p:nvPr>
            <p:extLst>
              <p:ext uri="{D42A27DB-BD31-4B8C-83A1-F6EECF244321}">
                <p14:modId xmlns:p14="http://schemas.microsoft.com/office/powerpoint/2010/main" val="2829826425"/>
              </p:ext>
            </p:extLst>
          </p:nvPr>
        </p:nvGraphicFramePr>
        <p:xfrm>
          <a:off x="720725" y="2761774"/>
          <a:ext cx="9550400" cy="3246120"/>
        </p:xfrm>
        <a:graphic>
          <a:graphicData uri="http://schemas.openxmlformats.org/drawingml/2006/table">
            <a:tbl>
              <a:tblPr/>
              <a:tblGrid>
                <a:gridCol w="837754">
                  <a:extLst>
                    <a:ext uri="{9D8B030D-6E8A-4147-A177-3AD203B41FA5}">
                      <a16:colId xmlns:a16="http://schemas.microsoft.com/office/drawing/2014/main" val="2840499288"/>
                    </a:ext>
                  </a:extLst>
                </a:gridCol>
                <a:gridCol w="8712646">
                  <a:extLst>
                    <a:ext uri="{9D8B030D-6E8A-4147-A177-3AD203B41FA5}">
                      <a16:colId xmlns:a16="http://schemas.microsoft.com/office/drawing/2014/main" val="2024160849"/>
                    </a:ext>
                  </a:extLst>
                </a:gridCol>
              </a:tblGrid>
              <a:tr h="0">
                <a:tc>
                  <a:txBody>
                    <a:bodyPr/>
                    <a:lstStyle/>
                    <a:p>
                      <a:pPr algn="l" fontAlgn="ctr"/>
                      <a:r>
                        <a:rPr lang="en-AU" sz="2400" b="1">
                          <a:effectLst/>
                          <a:latin typeface="KaTeX_Main"/>
                        </a:rPr>
                        <a:t>1</a:t>
                      </a:r>
                      <a:r>
                        <a:rPr lang="en-AU" sz="2400">
                          <a:effectLst/>
                          <a:latin typeface="KaTeX_Main"/>
                        </a:rPr>
                        <a:t>.</a:t>
                      </a:r>
                      <a:endParaRPr lang="en-AU" sz="2400">
                        <a:effectLst/>
                      </a:endParaRPr>
                    </a:p>
                  </a:txBody>
                  <a:tcPr marL="57150" marR="57150" marT="57150" marB="57150" anchor="ctr">
                    <a:lnL>
                      <a:noFill/>
                    </a:lnL>
                    <a:lnR>
                      <a:noFill/>
                    </a:lnR>
                    <a:lnT>
                      <a:noFill/>
                    </a:lnT>
                    <a:lnB>
                      <a:noFill/>
                    </a:lnB>
                    <a:solidFill>
                      <a:srgbClr val="FFFFFF"/>
                    </a:solidFill>
                  </a:tcPr>
                </a:tc>
                <a:tc>
                  <a:txBody>
                    <a:bodyPr/>
                    <a:lstStyle/>
                    <a:p>
                      <a:pPr algn="l" fontAlgn="ctr"/>
                      <a:r>
                        <a:rPr lang="en-AU" sz="2400">
                          <a:effectLst/>
                        </a:rPr>
                        <a:t>Do not try to </a:t>
                      </a:r>
                      <a:r>
                        <a:rPr lang="en-AU" sz="2400" b="1">
                          <a:effectLst/>
                        </a:rPr>
                        <a:t>repair</a:t>
                      </a:r>
                      <a:r>
                        <a:rPr lang="en-AU" sz="2400">
                          <a:effectLst/>
                        </a:rPr>
                        <a:t> an electrical appliance yourself, unless you are </a:t>
                      </a:r>
                      <a:r>
                        <a:rPr lang="en-AU" sz="2400" b="1">
                          <a:effectLst/>
                        </a:rPr>
                        <a:t>qualified</a:t>
                      </a:r>
                      <a:r>
                        <a:rPr lang="en-AU" sz="2400">
                          <a:effectLst/>
                        </a:rPr>
                        <a:t>.</a:t>
                      </a: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1672513096"/>
                  </a:ext>
                </a:extLst>
              </a:tr>
              <a:tr h="0">
                <a:tc>
                  <a:txBody>
                    <a:bodyPr/>
                    <a:lstStyle/>
                    <a:p>
                      <a:pPr algn="l" fontAlgn="ctr"/>
                      <a:r>
                        <a:rPr lang="en-AU" sz="2400" b="1">
                          <a:effectLst/>
                          <a:latin typeface="KaTeX_Main"/>
                        </a:rPr>
                        <a:t>2</a:t>
                      </a:r>
                      <a:r>
                        <a:rPr lang="en-AU" sz="2400">
                          <a:effectLst/>
                          <a:latin typeface="KaTeX_Main"/>
                        </a:rPr>
                        <a:t>.</a:t>
                      </a:r>
                      <a:endParaRPr lang="en-AU" sz="2400">
                        <a:effectLst/>
                      </a:endParaRPr>
                    </a:p>
                  </a:txBody>
                  <a:tcPr marL="57150" marR="57150" marT="57150" marB="57150" anchor="ctr">
                    <a:lnL>
                      <a:noFill/>
                    </a:lnL>
                    <a:lnR>
                      <a:noFill/>
                    </a:lnR>
                    <a:lnT>
                      <a:noFill/>
                    </a:lnT>
                    <a:lnB>
                      <a:noFill/>
                    </a:lnB>
                    <a:solidFill>
                      <a:srgbClr val="FFFFFF"/>
                    </a:solidFill>
                  </a:tcPr>
                </a:tc>
                <a:tc>
                  <a:txBody>
                    <a:bodyPr/>
                    <a:lstStyle/>
                    <a:p>
                      <a:pPr algn="l" fontAlgn="ctr"/>
                      <a:r>
                        <a:rPr lang="en-AU" sz="2400">
                          <a:effectLst/>
                        </a:rPr>
                        <a:t>Never mix </a:t>
                      </a:r>
                      <a:r>
                        <a:rPr lang="en-AU" sz="2400" b="1">
                          <a:solidFill>
                            <a:srgbClr val="FF0000"/>
                          </a:solidFill>
                          <a:effectLst/>
                        </a:rPr>
                        <a:t>electricity</a:t>
                      </a:r>
                      <a:r>
                        <a:rPr lang="en-AU" sz="2400">
                          <a:effectLst/>
                        </a:rPr>
                        <a:t> and </a:t>
                      </a:r>
                      <a:r>
                        <a:rPr lang="en-AU" sz="2400" b="1">
                          <a:solidFill>
                            <a:srgbClr val="0000FF"/>
                          </a:solidFill>
                          <a:effectLst/>
                        </a:rPr>
                        <a:t>water</a:t>
                      </a:r>
                      <a:r>
                        <a:rPr lang="en-AU" sz="2400">
                          <a:effectLst/>
                        </a:rPr>
                        <a:t>.</a:t>
                      </a: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3067247991"/>
                  </a:ext>
                </a:extLst>
              </a:tr>
              <a:tr h="0">
                <a:tc>
                  <a:txBody>
                    <a:bodyPr/>
                    <a:lstStyle/>
                    <a:p>
                      <a:pPr algn="l" fontAlgn="ctr"/>
                      <a:r>
                        <a:rPr lang="en-AU" sz="2400" b="1">
                          <a:effectLst/>
                          <a:latin typeface="KaTeX_Main"/>
                        </a:rPr>
                        <a:t>3</a:t>
                      </a:r>
                      <a:r>
                        <a:rPr lang="en-AU" sz="2400">
                          <a:effectLst/>
                          <a:latin typeface="KaTeX_Main"/>
                        </a:rPr>
                        <a:t>.</a:t>
                      </a:r>
                      <a:endParaRPr lang="en-AU" sz="2400">
                        <a:effectLst/>
                      </a:endParaRPr>
                    </a:p>
                  </a:txBody>
                  <a:tcPr marL="57150" marR="57150" marT="57150" marB="57150" anchor="ctr">
                    <a:lnL>
                      <a:noFill/>
                    </a:lnL>
                    <a:lnR>
                      <a:noFill/>
                    </a:lnR>
                    <a:lnT>
                      <a:noFill/>
                    </a:lnT>
                    <a:lnB>
                      <a:noFill/>
                    </a:lnB>
                    <a:solidFill>
                      <a:srgbClr val="FFFFFF"/>
                    </a:solidFill>
                  </a:tcPr>
                </a:tc>
                <a:tc>
                  <a:txBody>
                    <a:bodyPr/>
                    <a:lstStyle/>
                    <a:p>
                      <a:pPr algn="l" fontAlgn="ctr"/>
                      <a:r>
                        <a:rPr lang="en-AU" sz="2400" dirty="0">
                          <a:effectLst/>
                        </a:rPr>
                        <a:t>Replace all </a:t>
                      </a:r>
                      <a:r>
                        <a:rPr lang="en-AU" sz="2400" b="1" dirty="0">
                          <a:effectLst/>
                        </a:rPr>
                        <a:t>defective</a:t>
                      </a:r>
                      <a:r>
                        <a:rPr lang="en-AU" sz="2400" dirty="0">
                          <a:effectLst/>
                        </a:rPr>
                        <a:t> or </a:t>
                      </a:r>
                      <a:r>
                        <a:rPr lang="en-AU" sz="2400" b="1" dirty="0">
                          <a:effectLst/>
                        </a:rPr>
                        <a:t>damaged</a:t>
                      </a:r>
                      <a:r>
                        <a:rPr lang="en-AU" sz="2400" dirty="0">
                          <a:effectLst/>
                        </a:rPr>
                        <a:t> appliances and cords.</a:t>
                      </a: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989223141"/>
                  </a:ext>
                </a:extLst>
              </a:tr>
              <a:tr h="0">
                <a:tc>
                  <a:txBody>
                    <a:bodyPr/>
                    <a:lstStyle/>
                    <a:p>
                      <a:pPr algn="l" fontAlgn="ctr"/>
                      <a:r>
                        <a:rPr lang="en-AU" sz="2400" b="1">
                          <a:effectLst/>
                          <a:latin typeface="KaTeX_Main"/>
                        </a:rPr>
                        <a:t>4</a:t>
                      </a:r>
                      <a:r>
                        <a:rPr lang="en-AU" sz="2400">
                          <a:effectLst/>
                          <a:latin typeface="KaTeX_Main"/>
                        </a:rPr>
                        <a:t>.</a:t>
                      </a:r>
                      <a:endParaRPr lang="en-AU" sz="2400">
                        <a:effectLst/>
                      </a:endParaRPr>
                    </a:p>
                  </a:txBody>
                  <a:tcPr marL="57150" marR="57150" marT="57150" marB="57150" anchor="ctr">
                    <a:lnL>
                      <a:noFill/>
                    </a:lnL>
                    <a:lnR>
                      <a:noFill/>
                    </a:lnR>
                    <a:lnT>
                      <a:noFill/>
                    </a:lnT>
                    <a:lnB>
                      <a:noFill/>
                    </a:lnB>
                    <a:solidFill>
                      <a:srgbClr val="FFFFFF"/>
                    </a:solidFill>
                  </a:tcPr>
                </a:tc>
                <a:tc>
                  <a:txBody>
                    <a:bodyPr/>
                    <a:lstStyle/>
                    <a:p>
                      <a:pPr algn="l" fontAlgn="ctr"/>
                      <a:r>
                        <a:rPr lang="en-AU" sz="2400">
                          <a:effectLst/>
                        </a:rPr>
                        <a:t>Do not perform experiments on appliances that are </a:t>
                      </a:r>
                      <a:r>
                        <a:rPr lang="en-AU" sz="2400" b="1">
                          <a:effectLst/>
                        </a:rPr>
                        <a:t>switched </a:t>
                      </a:r>
                      <a:r>
                        <a:rPr lang="en-AU" sz="2400" b="1">
                          <a:solidFill>
                            <a:srgbClr val="FF0000"/>
                          </a:solidFill>
                          <a:effectLst/>
                        </a:rPr>
                        <a:t>on</a:t>
                      </a:r>
                      <a:r>
                        <a:rPr lang="en-AU" sz="2400">
                          <a:effectLst/>
                        </a:rPr>
                        <a:t>.</a:t>
                      </a: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1356053936"/>
                  </a:ext>
                </a:extLst>
              </a:tr>
              <a:tr h="0">
                <a:tc>
                  <a:txBody>
                    <a:bodyPr/>
                    <a:lstStyle/>
                    <a:p>
                      <a:pPr algn="l" fontAlgn="ctr"/>
                      <a:r>
                        <a:rPr lang="en-AU" sz="2400" b="1">
                          <a:effectLst/>
                          <a:latin typeface="KaTeX_Main"/>
                        </a:rPr>
                        <a:t>5</a:t>
                      </a:r>
                      <a:r>
                        <a:rPr lang="en-AU" sz="2400">
                          <a:effectLst/>
                          <a:latin typeface="KaTeX_Main"/>
                        </a:rPr>
                        <a:t>.</a:t>
                      </a:r>
                      <a:endParaRPr lang="en-AU" sz="2400">
                        <a:effectLst/>
                      </a:endParaRPr>
                    </a:p>
                  </a:txBody>
                  <a:tcPr marL="57150" marR="57150" marT="57150" marB="57150" anchor="ctr">
                    <a:lnL>
                      <a:noFill/>
                    </a:lnL>
                    <a:lnR>
                      <a:noFill/>
                    </a:lnR>
                    <a:lnT>
                      <a:noFill/>
                    </a:lnT>
                    <a:lnB>
                      <a:noFill/>
                    </a:lnB>
                    <a:solidFill>
                      <a:srgbClr val="FFFFFF"/>
                    </a:solidFill>
                  </a:tcPr>
                </a:tc>
                <a:tc>
                  <a:txBody>
                    <a:bodyPr/>
                    <a:lstStyle/>
                    <a:p>
                      <a:pPr algn="l" fontAlgn="ctr"/>
                      <a:r>
                        <a:rPr lang="en-AU" sz="2400">
                          <a:effectLst/>
                        </a:rPr>
                        <a:t>Stay away from overhead </a:t>
                      </a:r>
                      <a:r>
                        <a:rPr lang="en-AU" sz="2400" b="1">
                          <a:effectLst/>
                        </a:rPr>
                        <a:t>power lines</a:t>
                      </a:r>
                      <a:r>
                        <a:rPr lang="en-AU" sz="2400">
                          <a:effectLst/>
                        </a:rPr>
                        <a:t>.</a:t>
                      </a: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1802311420"/>
                  </a:ext>
                </a:extLst>
              </a:tr>
              <a:tr h="0">
                <a:tc>
                  <a:txBody>
                    <a:bodyPr/>
                    <a:lstStyle/>
                    <a:p>
                      <a:pPr algn="l" fontAlgn="ctr"/>
                      <a:r>
                        <a:rPr lang="en-AU" sz="2400" b="1">
                          <a:effectLst/>
                          <a:latin typeface="KaTeX_Main"/>
                        </a:rPr>
                        <a:t>6</a:t>
                      </a:r>
                      <a:r>
                        <a:rPr lang="en-AU" sz="2400">
                          <a:effectLst/>
                          <a:latin typeface="KaTeX_Main"/>
                        </a:rPr>
                        <a:t>.</a:t>
                      </a:r>
                      <a:endParaRPr lang="en-AU" sz="2400">
                        <a:effectLst/>
                      </a:endParaRPr>
                    </a:p>
                  </a:txBody>
                  <a:tcPr marL="57150" marR="57150" marT="57150" marB="57150" anchor="ctr">
                    <a:lnL>
                      <a:noFill/>
                    </a:lnL>
                    <a:lnR>
                      <a:noFill/>
                    </a:lnR>
                    <a:lnT>
                      <a:noFill/>
                    </a:lnT>
                    <a:lnB>
                      <a:noFill/>
                    </a:lnB>
                    <a:solidFill>
                      <a:srgbClr val="FFFFFF"/>
                    </a:solidFill>
                  </a:tcPr>
                </a:tc>
                <a:tc>
                  <a:txBody>
                    <a:bodyPr/>
                    <a:lstStyle/>
                    <a:p>
                      <a:pPr algn="l" fontAlgn="ctr"/>
                      <a:r>
                        <a:rPr lang="en-AU" sz="2400" dirty="0">
                          <a:effectLst/>
                        </a:rPr>
                        <a:t>Make sure you're up to date on your </a:t>
                      </a:r>
                      <a:r>
                        <a:rPr lang="en-AU" sz="2400" b="1" dirty="0">
                          <a:effectLst/>
                        </a:rPr>
                        <a:t>first aid</a:t>
                      </a:r>
                      <a:r>
                        <a:rPr lang="en-AU" sz="2400" dirty="0">
                          <a:effectLst/>
                        </a:rPr>
                        <a:t> skills.</a:t>
                      </a: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565953458"/>
                  </a:ext>
                </a:extLst>
              </a:tr>
            </a:tbl>
          </a:graphicData>
        </a:graphic>
      </p:graphicFrame>
    </p:spTree>
    <p:extLst>
      <p:ext uri="{BB962C8B-B14F-4D97-AF65-F5344CB8AC3E}">
        <p14:creationId xmlns:p14="http://schemas.microsoft.com/office/powerpoint/2010/main" val="18712039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789112" y="368300"/>
            <a:ext cx="8878888" cy="6088380"/>
          </a:xfrm>
          <a:prstGeom prst="rect">
            <a:avLst/>
          </a:prstGeom>
        </p:spPr>
      </p:pic>
    </p:spTree>
    <p:extLst>
      <p:ext uri="{BB962C8B-B14F-4D97-AF65-F5344CB8AC3E}">
        <p14:creationId xmlns:p14="http://schemas.microsoft.com/office/powerpoint/2010/main" val="10543333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60512" y="376237"/>
            <a:ext cx="8535988" cy="6353406"/>
          </a:xfrm>
          <a:prstGeom prst="rect">
            <a:avLst/>
          </a:prstGeom>
        </p:spPr>
      </p:pic>
    </p:spTree>
    <p:extLst>
      <p:ext uri="{BB962C8B-B14F-4D97-AF65-F5344CB8AC3E}">
        <p14:creationId xmlns:p14="http://schemas.microsoft.com/office/powerpoint/2010/main" val="13391186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881187" y="204628"/>
            <a:ext cx="8189913" cy="6653372"/>
          </a:xfrm>
          <a:prstGeom prst="rect">
            <a:avLst/>
          </a:prstGeom>
        </p:spPr>
      </p:pic>
    </p:spTree>
    <p:extLst>
      <p:ext uri="{BB962C8B-B14F-4D97-AF65-F5344CB8AC3E}">
        <p14:creationId xmlns:p14="http://schemas.microsoft.com/office/powerpoint/2010/main" val="40713359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42949" y="1397000"/>
            <a:ext cx="10514013" cy="1879600"/>
          </a:xfrm>
          <a:prstGeom prst="rect">
            <a:avLst/>
          </a:prstGeom>
        </p:spPr>
      </p:pic>
    </p:spTree>
    <p:extLst>
      <p:ext uri="{BB962C8B-B14F-4D97-AF65-F5344CB8AC3E}">
        <p14:creationId xmlns:p14="http://schemas.microsoft.com/office/powerpoint/2010/main" val="1588178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81024" y="487362"/>
            <a:ext cx="11280497" cy="5126038"/>
          </a:xfrm>
          <a:prstGeom prst="rect">
            <a:avLst/>
          </a:prstGeom>
        </p:spPr>
      </p:pic>
    </p:spTree>
    <p:extLst>
      <p:ext uri="{BB962C8B-B14F-4D97-AF65-F5344CB8AC3E}">
        <p14:creationId xmlns:p14="http://schemas.microsoft.com/office/powerpoint/2010/main" val="1578208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58787" y="1133474"/>
            <a:ext cx="11010693" cy="2143125"/>
          </a:xfrm>
          <a:prstGeom prst="rect">
            <a:avLst/>
          </a:prstGeom>
        </p:spPr>
      </p:pic>
    </p:spTree>
    <p:extLst>
      <p:ext uri="{BB962C8B-B14F-4D97-AF65-F5344CB8AC3E}">
        <p14:creationId xmlns:p14="http://schemas.microsoft.com/office/powerpoint/2010/main" val="23991589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223</Words>
  <Application>Microsoft Office PowerPoint</Application>
  <PresentationFormat>Widescreen</PresentationFormat>
  <Paragraphs>36</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KaTeX_Main</vt:lpstr>
      <vt:lpstr>Office Theme</vt:lpstr>
      <vt:lpstr>Household Electricity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Household Electricity</dc:title>
  <dc:creator>Joseph D'cruz</dc:creator>
  <cp:lastModifiedBy>Joseph D'cruz</cp:lastModifiedBy>
  <cp:revision>3</cp:revision>
  <dcterms:created xsi:type="dcterms:W3CDTF">2020-07-15T07:01:17Z</dcterms:created>
  <dcterms:modified xsi:type="dcterms:W3CDTF">2021-04-02T12:59:51Z</dcterms:modified>
</cp:coreProperties>
</file>
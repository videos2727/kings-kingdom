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0" r:id="rId24"/>
    <p:sldId id="281" r:id="rId25"/>
    <p:sldId id="282" r:id="rId26"/>
    <p:sldId id="283" r:id="rId27"/>
    <p:sldId id="284" r:id="rId28"/>
    <p:sldId id="278" r:id="rId29"/>
    <p:sldId id="279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F24E2-6D9B-442F-BB72-75964A274E3A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17E7-F58F-42A6-94D7-500F3F831D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10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F24E2-6D9B-442F-BB72-75964A274E3A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17E7-F58F-42A6-94D7-500F3F831D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0257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F24E2-6D9B-442F-BB72-75964A274E3A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17E7-F58F-42A6-94D7-500F3F831D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0216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F24E2-6D9B-442F-BB72-75964A274E3A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17E7-F58F-42A6-94D7-500F3F831D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5283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F24E2-6D9B-442F-BB72-75964A274E3A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17E7-F58F-42A6-94D7-500F3F831D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5813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F24E2-6D9B-442F-BB72-75964A274E3A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17E7-F58F-42A6-94D7-500F3F831D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1820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F24E2-6D9B-442F-BB72-75964A274E3A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17E7-F58F-42A6-94D7-500F3F831D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3377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F24E2-6D9B-442F-BB72-75964A274E3A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17E7-F58F-42A6-94D7-500F3F831D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5173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F24E2-6D9B-442F-BB72-75964A274E3A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17E7-F58F-42A6-94D7-500F3F831D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4839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F24E2-6D9B-442F-BB72-75964A274E3A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17E7-F58F-42A6-94D7-500F3F831D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7355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F24E2-6D9B-442F-BB72-75964A274E3A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17E7-F58F-42A6-94D7-500F3F831D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0344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F24E2-6D9B-442F-BB72-75964A274E3A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F17E7-F58F-42A6-94D7-500F3F831D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1069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Resistance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998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963136"/>
            <a:ext cx="10363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By the end of this lesson, you will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Define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resistance.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Explain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how the resistance of an object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can be changed.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Describe 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the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function of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resistance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in a circuit.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604350359.59297251g/1604350357547-7517448055035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612" y="2539051"/>
            <a:ext cx="6022975" cy="4017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3308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784642"/>
            <a:ext cx="103505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We’ve seen so far that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current is a measure of the flow of charge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(electrons).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However, it would be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unrealistic to assume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that this flow is smooth and unhindered. Just as we experience friction when sliding across the floor, just as water experiences drag when flowing through the pipes,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current too experiences a hindering force.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This force is intuitively named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resistance.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All components in a circuit, including the wire,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carry resistance.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In some cases, we may want to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minimise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resistance; in others, we may want to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maximise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it.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Geography/1519073917.103481g/1519073916963-139883693391363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0850" y="4122737"/>
            <a:ext cx="3810000" cy="252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1290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3900" y="492542"/>
            <a:ext cx="10236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A more technical definition for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resistance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would be “a measure of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how difficult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it is for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current to flow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through a given component.”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The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higher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 component’s resistance, the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more difficult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it is for current to flow through it. Conversely, the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lower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 component’s resistance, the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easier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it is for current to flow through it.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If you know much about conductance, you may have quickly realised that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resistance and conductance are polar opposites.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Whereas resistance refers to obstacles to flow, conductance refers to ease of flow. Naturally, this means that they have an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inversely proportional relationship: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when one is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high,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the other is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low.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Ohms Law Carto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5675" y="3354864"/>
            <a:ext cx="3451225" cy="345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1075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300" y="366236"/>
            <a:ext cx="117729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>
                <a:solidFill>
                  <a:srgbClr val="444444"/>
                </a:solidFill>
                <a:latin typeface="Arial" panose="020B0604020202020204" pitchFamily="34" charset="0"/>
              </a:rPr>
              <a:t>So far, so good, but </a:t>
            </a:r>
            <a:r>
              <a:rPr lang="en-AU" b="1">
                <a:solidFill>
                  <a:srgbClr val="3BA486"/>
                </a:solidFill>
                <a:latin typeface="Arial" panose="020B0604020202020204" pitchFamily="34" charset="0"/>
              </a:rPr>
              <a:t>what causes resistance?</a:t>
            </a:r>
            <a:endParaRPr lang="en-AU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We know that an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electrical current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refers to the flow of delocalised electrons through a circuit. Aside from these electrons,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ions make up the circuit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and its components.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1300" y="2093436"/>
            <a:ext cx="11506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Every time an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electron encounters an ion,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it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loses energy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and slows down. This is also known as a voltage drop. Components with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high resistance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often have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more ions,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so there is a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higher probability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of an encounter, or even a collision.</a:t>
            </a:r>
            <a:endParaRPr lang="en-AU" dirty="0"/>
          </a:p>
        </p:txBody>
      </p:sp>
      <p:pic>
        <p:nvPicPr>
          <p:cNvPr id="4098" name="Picture 2" descr="Electrons bumping into 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6736" y="3543637"/>
            <a:ext cx="6258664" cy="3020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1380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" y="239712"/>
            <a:ext cx="11521141" cy="27701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12" y="2730499"/>
            <a:ext cx="7939088" cy="3935383"/>
          </a:xfrm>
          <a:prstGeom prst="rect">
            <a:avLst/>
          </a:prstGeom>
        </p:spPr>
      </p:pic>
      <p:pic>
        <p:nvPicPr>
          <p:cNvPr id="5122" name="Picture 2" descr="https://www.educationperfect.com/media/content/Science/1453752093.174931g/1453752099042-310608955448593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5078" y="2276475"/>
            <a:ext cx="3190875" cy="458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6490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527735"/>
            <a:ext cx="11264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We can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increase the resistance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of a circuit by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adding a resistor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component.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001728"/>
              </p:ext>
            </p:extLst>
          </p:nvPr>
        </p:nvGraphicFramePr>
        <p:xfrm>
          <a:off x="355600" y="1589564"/>
          <a:ext cx="7048500" cy="1333500"/>
        </p:xfrm>
        <a:graphic>
          <a:graphicData uri="http://schemas.openxmlformats.org/drawingml/2006/table">
            <a:tbl>
              <a:tblPr/>
              <a:tblGrid>
                <a:gridCol w="7048500">
                  <a:extLst>
                    <a:ext uri="{9D8B030D-6E8A-4147-A177-3AD203B41FA5}">
                      <a16:colId xmlns:a16="http://schemas.microsoft.com/office/drawing/2014/main" val="7741498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000" dirty="0">
                          <a:effectLst/>
                        </a:rPr>
                        <a:t>Resistors are typically made from </a:t>
                      </a:r>
                      <a:r>
                        <a:rPr lang="en-AU" sz="2000" b="1" dirty="0">
                          <a:solidFill>
                            <a:srgbClr val="8C4AB2"/>
                          </a:solidFill>
                          <a:effectLst/>
                        </a:rPr>
                        <a:t>semi- or non-conductive</a:t>
                      </a:r>
                      <a:r>
                        <a:rPr lang="en-AU" sz="2000" dirty="0">
                          <a:effectLst/>
                        </a:rPr>
                        <a:t> materials, such as carbon; others use </a:t>
                      </a:r>
                      <a:r>
                        <a:rPr lang="en-AU" sz="2000" b="1" dirty="0">
                          <a:solidFill>
                            <a:srgbClr val="3BA486"/>
                          </a:solidFill>
                          <a:effectLst/>
                        </a:rPr>
                        <a:t>coils of metal alloys</a:t>
                      </a:r>
                      <a:r>
                        <a:rPr lang="en-AU" sz="2000" dirty="0">
                          <a:effectLst/>
                        </a:rPr>
                        <a:t> such as nichrome, while others yet use a </a:t>
                      </a:r>
                      <a:r>
                        <a:rPr lang="en-AU" sz="2000" b="1" dirty="0">
                          <a:solidFill>
                            <a:srgbClr val="3C86B8"/>
                          </a:solidFill>
                          <a:effectLst/>
                        </a:rPr>
                        <a:t>glass tube with a thin inner metal coat.</a:t>
                      </a:r>
                      <a:endParaRPr lang="en-AU" sz="20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624950"/>
                  </a:ext>
                </a:extLst>
              </a:tr>
            </a:tbl>
          </a:graphicData>
        </a:graphic>
      </p:graphicFrame>
      <p:pic>
        <p:nvPicPr>
          <p:cNvPr id="6146" name="Picture 2" descr="https://www.educationperfect.com/media/content/Science/1604369961.02208351g/1604369960702-429853904605456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274" y="1589564"/>
            <a:ext cx="4138925" cy="2760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82600" y="3293616"/>
            <a:ext cx="67437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resistor’s symbol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in a circuit diagram is a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zagged line.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You may also see a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rectangular box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as an alternative.</a:t>
            </a:r>
            <a:endParaRPr lang="en-AU" dirty="0"/>
          </a:p>
        </p:txBody>
      </p:sp>
      <p:pic>
        <p:nvPicPr>
          <p:cNvPr id="6148" name="Picture 4" descr="Resistor symbols in a circui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8599" y="4127500"/>
            <a:ext cx="5019675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5933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300" y="475040"/>
            <a:ext cx="111125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Resistors come with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different resistances,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but how can we tell when they’re smaller than a pea?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Large resistors can simply have their resistance printed on, but others are </a:t>
            </a:r>
            <a:r>
              <a:rPr lang="en-AU" b="1" dirty="0">
                <a:solidFill>
                  <a:srgbClr val="FF7F50"/>
                </a:solidFill>
                <a:latin typeface="Arial" panose="020B0604020202020204" pitchFamily="34" charset="0"/>
              </a:rPr>
              <a:t>so small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that you couldn’t possibly read such small numbers even when squinting. Instead, many resistors are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colour coded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with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four different bands.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If we positioned our resistor so that the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band closest to the edge was on the left, 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we could then interpret the resistance: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76400" y="29062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first two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bands represent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digit values.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The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third 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band represents a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multiplier in the power of tens.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The </a:t>
            </a:r>
            <a:r>
              <a:rPr lang="en-AU" b="1" dirty="0">
                <a:solidFill>
                  <a:srgbClr val="FF7F50"/>
                </a:solidFill>
                <a:latin typeface="Arial" panose="020B0604020202020204" pitchFamily="34" charset="0"/>
              </a:rPr>
              <a:t>fourth 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band represents the </a:t>
            </a:r>
            <a:r>
              <a:rPr lang="en-AU" b="1" dirty="0">
                <a:solidFill>
                  <a:srgbClr val="FF7F50"/>
                </a:solidFill>
                <a:latin typeface="Arial" panose="020B0604020202020204" pitchFamily="34" charset="0"/>
              </a:rPr>
              <a:t>manufacturing tolerance.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Coloured bands on a resis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975" y="3751262"/>
            <a:ext cx="5257800" cy="2962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427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" y="339636"/>
            <a:ext cx="10718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The following table shows the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colour coding system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for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resistors: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/>
            </a:r>
            <a:b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</a:b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850" y="640666"/>
            <a:ext cx="4502150" cy="445285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600" y="5275718"/>
            <a:ext cx="10007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For example,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 resistor with a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resistance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of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35×10</a:t>
            </a:r>
            <a:r>
              <a:rPr lang="en-AU" baseline="30000" dirty="0">
                <a:solidFill>
                  <a:srgbClr val="444444"/>
                </a:solidFill>
                <a:latin typeface="KaTeX_Main"/>
              </a:rPr>
              <a:t>1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 Ω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and a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tolerance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of 10% would have four bands coloured as follows; </a:t>
            </a:r>
            <a:endParaRPr lang="en-AU" dirty="0"/>
          </a:p>
        </p:txBody>
      </p:sp>
      <p:sp>
        <p:nvSpPr>
          <p:cNvPr id="6" name="Rectangle 5"/>
          <p:cNvSpPr/>
          <p:nvPr/>
        </p:nvSpPr>
        <p:spPr>
          <a:xfrm>
            <a:off x="1485900" y="5678616"/>
            <a:ext cx="79819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First band; </a:t>
            </a:r>
            <a:r>
              <a:rPr lang="en-AU" b="1" dirty="0">
                <a:solidFill>
                  <a:srgbClr val="E69138"/>
                </a:solidFill>
                <a:latin typeface="Arial" panose="020B0604020202020204" pitchFamily="34" charset="0"/>
              </a:rPr>
              <a:t>Orange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 font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Second band;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Green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 font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Third band; </a:t>
            </a:r>
            <a:r>
              <a:rPr lang="en-AU" b="1" dirty="0">
                <a:solidFill>
                  <a:srgbClr val="783F04"/>
                </a:solidFill>
                <a:latin typeface="Arial" panose="020B0604020202020204" pitchFamily="34" charset="0"/>
              </a:rPr>
              <a:t>Brown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 font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Fourth band; </a:t>
            </a:r>
            <a:r>
              <a:rPr lang="en-AU" b="1" dirty="0">
                <a:solidFill>
                  <a:srgbClr val="8C8280"/>
                </a:solidFill>
                <a:latin typeface="Arial" panose="020B0604020202020204" pitchFamily="34" charset="0"/>
              </a:rPr>
              <a:t>Silver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80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12" y="32422"/>
            <a:ext cx="10263188" cy="682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982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57187"/>
            <a:ext cx="10198100" cy="612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01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4" y="263524"/>
            <a:ext cx="11474741" cy="564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630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900" y="465435"/>
            <a:ext cx="11607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There is a different equation that relates the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resistance of a component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to its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properties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, as shown below.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043" y="1212849"/>
            <a:ext cx="2195513" cy="165206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6900" y="3028460"/>
            <a:ext cx="1216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Where </a:t>
            </a:r>
            <a:r>
              <a:rPr lang="en-AU" i="1" dirty="0">
                <a:solidFill>
                  <a:srgbClr val="444444"/>
                </a:solidFill>
                <a:latin typeface="KaTeX_Math"/>
              </a:rPr>
              <a:t>R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is the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resistance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in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Ohms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(Ω),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r>
              <a:rPr lang="en-AU" i="1" dirty="0">
                <a:solidFill>
                  <a:srgbClr val="444444"/>
                </a:solidFill>
                <a:latin typeface="KaTeX_Math"/>
              </a:rPr>
              <a:t>ρ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(Greek letter rho) is the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resistivity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of a particular material in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Ohm-meters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(</a:t>
            </a:r>
            <a:r>
              <a:rPr lang="en-AU" dirty="0" err="1">
                <a:solidFill>
                  <a:srgbClr val="444444"/>
                </a:solidFill>
                <a:latin typeface="KaTeX_Main"/>
              </a:rPr>
              <a:t>Ωm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),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r>
              <a:rPr lang="en-AU" i="1" dirty="0">
                <a:solidFill>
                  <a:srgbClr val="444444"/>
                </a:solidFill>
                <a:latin typeface="KaTeX_Math"/>
              </a:rPr>
              <a:t>L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is the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length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in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metres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(m)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and </a:t>
            </a:r>
            <a:r>
              <a:rPr lang="en-AU" i="1" dirty="0">
                <a:solidFill>
                  <a:srgbClr val="444444"/>
                </a:solidFill>
                <a:latin typeface="KaTeX_Math"/>
              </a:rPr>
              <a:t>A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is the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cross-sectional area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in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square metres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(m</a:t>
            </a:r>
            <a:r>
              <a:rPr lang="en-AU" baseline="30000" dirty="0">
                <a:solidFill>
                  <a:srgbClr val="444444"/>
                </a:solidFill>
                <a:latin typeface="KaTeX_Main"/>
              </a:rPr>
              <a:t>2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).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We’ll cover each of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these parameters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over the next few slides.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604619364.51533481g/1604619378958-260725874876927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699" y="4392332"/>
            <a:ext cx="2987675" cy="1995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3347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295345"/>
            <a:ext cx="11430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Resistivity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is a measure of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how much a material opposes current flow.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This is a property inherent to each material, and is a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constant number.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Although resistivity and resistance sound interchangeable, they refer to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slightly different things.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Resistivity is a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property of the material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that makes up a component or wire, while resistance is a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property of the created component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or wire.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Most metals have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low </a:t>
            </a:r>
            <a:r>
              <a:rPr lang="en-AU" b="1" dirty="0" err="1">
                <a:solidFill>
                  <a:srgbClr val="3C86B8"/>
                </a:solidFill>
                <a:latin typeface="Arial" panose="020B0604020202020204" pitchFamily="34" charset="0"/>
              </a:rPr>
              <a:t>resistivities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because they contain free-moving, delocalised electrons; this is why they are used for circuit wiring, as low </a:t>
            </a:r>
            <a:r>
              <a:rPr lang="en-AU" dirty="0" err="1">
                <a:solidFill>
                  <a:srgbClr val="444444"/>
                </a:solidFill>
                <a:latin typeface="Arial" panose="020B0604020202020204" pitchFamily="34" charset="0"/>
              </a:rPr>
              <a:t>resistivities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 naturally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result in a low resistance.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Many non-metal objects, such as wood or clay,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do not have delocalised electrons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and have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high </a:t>
            </a:r>
            <a:r>
              <a:rPr lang="en-AU" b="1" dirty="0" err="1">
                <a:solidFill>
                  <a:srgbClr val="8C4AB2"/>
                </a:solidFill>
                <a:latin typeface="Arial" panose="020B0604020202020204" pitchFamily="34" charset="0"/>
              </a:rPr>
              <a:t>resistivities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When stating the resistivity of a material, we always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state the temperature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at which the resistivity was measured, because resistivity is temperature-dependent.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50" y="3711665"/>
            <a:ext cx="6711950" cy="328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604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284540"/>
            <a:ext cx="112395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The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length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of the material displays a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linearly proportional relationship with resistance.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i="1" dirty="0">
                <a:solidFill>
                  <a:srgbClr val="444444"/>
                </a:solidFill>
                <a:latin typeface="KaTeX_Math"/>
              </a:rPr>
              <a:t>R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∝</a:t>
            </a:r>
            <a:r>
              <a:rPr lang="en-AU" i="1" dirty="0">
                <a:solidFill>
                  <a:srgbClr val="444444"/>
                </a:solidFill>
                <a:latin typeface="KaTeX_Math"/>
              </a:rPr>
              <a:t>L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 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This means that when we use a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longer object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(say, a wire), its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resistance increases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at a fixed scale. On a graph, this would show a straight-line relationship.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What explains the maths behind this relationship? When the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object is longer,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the electrons making up the current have to travel further. They are far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more likely to encounter an ion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along the way.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604958384.80292961g/1604958385433-103745966489086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9675" y="2480965"/>
            <a:ext cx="3984625" cy="4269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1377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6900" y="179338"/>
            <a:ext cx="10617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In contrast, the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cross-sectional area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of the material displays an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inversely proportional relationship with resistance.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The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cross-sectional area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is a 2D area of a 3D object when it is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cut perpendicular to an axis.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In simpler terms, if you cut a carrot, its cross-sectional area would be the cut end.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50" y="1878012"/>
            <a:ext cx="7473950" cy="3316288"/>
          </a:xfrm>
          <a:prstGeom prst="rect">
            <a:avLst/>
          </a:prstGeom>
        </p:spPr>
      </p:pic>
      <p:pic>
        <p:nvPicPr>
          <p:cNvPr id="11266" name="Picture 2" descr="https://www.educationperfect.com/media/content/Science/1604958356.76923941g/1604958357397-103745966489086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3675" y="2393950"/>
            <a:ext cx="3838575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1909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087" y="142874"/>
            <a:ext cx="6094413" cy="686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81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62" y="184149"/>
            <a:ext cx="10206038" cy="653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8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711200"/>
            <a:ext cx="10850336" cy="56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587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612" y="192087"/>
            <a:ext cx="8307388" cy="648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861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75" y="209550"/>
            <a:ext cx="7715250" cy="664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4733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24" y="158749"/>
            <a:ext cx="9883775" cy="655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7183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12" y="136525"/>
            <a:ext cx="9678988" cy="665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090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0"/>
            <a:ext cx="9556750" cy="696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6572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0"/>
            <a:ext cx="9209088" cy="680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1594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87" y="333374"/>
            <a:ext cx="11185175" cy="597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0634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413941"/>
            <a:ext cx="11303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We’ve seen that for a circuit, we would want the wires to have a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low resistance.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In that case,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why do we need resistors at all?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Many circuit components can only operate on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low currents,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and even burn out when the current is too high. In fact,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high current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is what causes an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electrical overload,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which can heat wires to the point of melting.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Unfortunately, we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cannot directly change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the current. However, by exploiting the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relationship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between voltage, current and resistance, we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can indirectly control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the current.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media/content/Science/1604619375.227881g/1604619389685-260725874876927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075" y="3060701"/>
            <a:ext cx="5330825" cy="3555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2455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15899"/>
            <a:ext cx="11182350" cy="203315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85750" y="2249054"/>
            <a:ext cx="1138555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So if we want a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small current,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how could we manipulate the voltage or resistance? You now know what both relationships are, so you may already know what to do: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decrease the voltage,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or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increase the resistance.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We can do so by </a:t>
            </a:r>
            <a:r>
              <a:rPr lang="en-AU" b="1" dirty="0">
                <a:solidFill>
                  <a:srgbClr val="3C86B8"/>
                </a:solidFill>
                <a:latin typeface="Arial" panose="020B0604020202020204" pitchFamily="34" charset="0"/>
              </a:rPr>
              <a:t>changing the battery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and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changing the resistor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respectively.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In reality, there are only so many types of batteries that we can use, but we can use different resistors—even combinations of resistors—to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limit the current.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Science/1579207986.672371g/1579207983157-125156969132858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6093" y="4200096"/>
            <a:ext cx="3984864" cy="2657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15610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0"/>
            <a:ext cx="9436100" cy="693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5592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87" y="355600"/>
            <a:ext cx="11174413" cy="632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1116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7" y="546099"/>
            <a:ext cx="10564813" cy="644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0598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00" y="171450"/>
            <a:ext cx="7924800" cy="668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0140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787" y="88900"/>
            <a:ext cx="9307513" cy="677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7333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4" y="396874"/>
            <a:ext cx="11815891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774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93</Words>
  <Application>Microsoft Office PowerPoint</Application>
  <PresentationFormat>Widescreen</PresentationFormat>
  <Paragraphs>65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Calibri Light</vt:lpstr>
      <vt:lpstr>KaTeX_Main</vt:lpstr>
      <vt:lpstr>KaTeX_Math</vt:lpstr>
      <vt:lpstr>Office Theme</vt:lpstr>
      <vt:lpstr>Resistance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Resistance</dc:title>
  <dc:creator>Joseph D'cruz</dc:creator>
  <cp:lastModifiedBy>Joseph D'cruz</cp:lastModifiedBy>
  <cp:revision>5</cp:revision>
  <dcterms:created xsi:type="dcterms:W3CDTF">2020-07-15T05:56:26Z</dcterms:created>
  <dcterms:modified xsi:type="dcterms:W3CDTF">2021-04-03T07:20:08Z</dcterms:modified>
</cp:coreProperties>
</file>
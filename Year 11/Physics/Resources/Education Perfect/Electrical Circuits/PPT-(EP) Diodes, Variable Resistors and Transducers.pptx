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8" r:id="rId8"/>
    <p:sldId id="269" r:id="rId9"/>
    <p:sldId id="270" r:id="rId10"/>
    <p:sldId id="271" r:id="rId11"/>
    <p:sldId id="262" r:id="rId12"/>
    <p:sldId id="263" r:id="rId13"/>
    <p:sldId id="264" r:id="rId14"/>
    <p:sldId id="265" r:id="rId15"/>
    <p:sldId id="272" r:id="rId16"/>
    <p:sldId id="273" r:id="rId17"/>
    <p:sldId id="274" r:id="rId18"/>
    <p:sldId id="266" r:id="rId19"/>
    <p:sldId id="267"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126"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97632CE2-4A82-45EC-8855-919433AA2BBB}" type="datetimeFigureOut">
              <a:rPr lang="en-AU" smtClean="0"/>
              <a:t>2/04/2021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58059ED-BB87-427B-B17C-CEDAEBF60613}" type="slidenum">
              <a:rPr lang="en-AU" smtClean="0"/>
              <a:t>‹#›</a:t>
            </a:fld>
            <a:endParaRPr lang="en-AU"/>
          </a:p>
        </p:txBody>
      </p:sp>
    </p:spTree>
    <p:extLst>
      <p:ext uri="{BB962C8B-B14F-4D97-AF65-F5344CB8AC3E}">
        <p14:creationId xmlns:p14="http://schemas.microsoft.com/office/powerpoint/2010/main" val="4126402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7632CE2-4A82-45EC-8855-919433AA2BBB}" type="datetimeFigureOut">
              <a:rPr lang="en-AU" smtClean="0"/>
              <a:t>2/04/2021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58059ED-BB87-427B-B17C-CEDAEBF60613}" type="slidenum">
              <a:rPr lang="en-AU" smtClean="0"/>
              <a:t>‹#›</a:t>
            </a:fld>
            <a:endParaRPr lang="en-AU"/>
          </a:p>
        </p:txBody>
      </p:sp>
    </p:spTree>
    <p:extLst>
      <p:ext uri="{BB962C8B-B14F-4D97-AF65-F5344CB8AC3E}">
        <p14:creationId xmlns:p14="http://schemas.microsoft.com/office/powerpoint/2010/main" val="3999949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7632CE2-4A82-45EC-8855-919433AA2BBB}" type="datetimeFigureOut">
              <a:rPr lang="en-AU" smtClean="0"/>
              <a:t>2/04/2021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58059ED-BB87-427B-B17C-CEDAEBF60613}" type="slidenum">
              <a:rPr lang="en-AU" smtClean="0"/>
              <a:t>‹#›</a:t>
            </a:fld>
            <a:endParaRPr lang="en-AU"/>
          </a:p>
        </p:txBody>
      </p:sp>
    </p:spTree>
    <p:extLst>
      <p:ext uri="{BB962C8B-B14F-4D97-AF65-F5344CB8AC3E}">
        <p14:creationId xmlns:p14="http://schemas.microsoft.com/office/powerpoint/2010/main" val="2097276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97632CE2-4A82-45EC-8855-919433AA2BBB}" type="datetimeFigureOut">
              <a:rPr lang="en-AU" smtClean="0"/>
              <a:t>2/04/2021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58059ED-BB87-427B-B17C-CEDAEBF60613}" type="slidenum">
              <a:rPr lang="en-AU" smtClean="0"/>
              <a:t>‹#›</a:t>
            </a:fld>
            <a:endParaRPr lang="en-AU"/>
          </a:p>
        </p:txBody>
      </p:sp>
    </p:spTree>
    <p:extLst>
      <p:ext uri="{BB962C8B-B14F-4D97-AF65-F5344CB8AC3E}">
        <p14:creationId xmlns:p14="http://schemas.microsoft.com/office/powerpoint/2010/main" val="185227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97632CE2-4A82-45EC-8855-919433AA2BBB}" type="datetimeFigureOut">
              <a:rPr lang="en-AU" smtClean="0"/>
              <a:t>2/04/2021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258059ED-BB87-427B-B17C-CEDAEBF60613}" type="slidenum">
              <a:rPr lang="en-AU" smtClean="0"/>
              <a:t>‹#›</a:t>
            </a:fld>
            <a:endParaRPr lang="en-AU"/>
          </a:p>
        </p:txBody>
      </p:sp>
    </p:spTree>
    <p:extLst>
      <p:ext uri="{BB962C8B-B14F-4D97-AF65-F5344CB8AC3E}">
        <p14:creationId xmlns:p14="http://schemas.microsoft.com/office/powerpoint/2010/main" val="1592248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97632CE2-4A82-45EC-8855-919433AA2BBB}" type="datetimeFigureOut">
              <a:rPr lang="en-AU" smtClean="0"/>
              <a:t>2/04/2021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258059ED-BB87-427B-B17C-CEDAEBF60613}" type="slidenum">
              <a:rPr lang="en-AU" smtClean="0"/>
              <a:t>‹#›</a:t>
            </a:fld>
            <a:endParaRPr lang="en-AU"/>
          </a:p>
        </p:txBody>
      </p:sp>
    </p:spTree>
    <p:extLst>
      <p:ext uri="{BB962C8B-B14F-4D97-AF65-F5344CB8AC3E}">
        <p14:creationId xmlns:p14="http://schemas.microsoft.com/office/powerpoint/2010/main" val="497436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632CE2-4A82-45EC-8855-919433AA2BBB}" type="datetimeFigureOut">
              <a:rPr lang="en-AU" smtClean="0"/>
              <a:t>2/04/2021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258059ED-BB87-427B-B17C-CEDAEBF60613}" type="slidenum">
              <a:rPr lang="en-AU" smtClean="0"/>
              <a:t>‹#›</a:t>
            </a:fld>
            <a:endParaRPr lang="en-AU"/>
          </a:p>
        </p:txBody>
      </p:sp>
    </p:spTree>
    <p:extLst>
      <p:ext uri="{BB962C8B-B14F-4D97-AF65-F5344CB8AC3E}">
        <p14:creationId xmlns:p14="http://schemas.microsoft.com/office/powerpoint/2010/main" val="3047538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7632CE2-4A82-45EC-8855-919433AA2BBB}" type="datetimeFigureOut">
              <a:rPr lang="en-AU" smtClean="0"/>
              <a:t>2/04/2021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58059ED-BB87-427B-B17C-CEDAEBF60613}" type="slidenum">
              <a:rPr lang="en-AU" smtClean="0"/>
              <a:t>‹#›</a:t>
            </a:fld>
            <a:endParaRPr lang="en-AU"/>
          </a:p>
        </p:txBody>
      </p:sp>
    </p:spTree>
    <p:extLst>
      <p:ext uri="{BB962C8B-B14F-4D97-AF65-F5344CB8AC3E}">
        <p14:creationId xmlns:p14="http://schemas.microsoft.com/office/powerpoint/2010/main" val="1262349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7632CE2-4A82-45EC-8855-919433AA2BBB}" type="datetimeFigureOut">
              <a:rPr lang="en-AU" smtClean="0"/>
              <a:t>2/04/2021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58059ED-BB87-427B-B17C-CEDAEBF60613}" type="slidenum">
              <a:rPr lang="en-AU" smtClean="0"/>
              <a:t>‹#›</a:t>
            </a:fld>
            <a:endParaRPr lang="en-AU"/>
          </a:p>
        </p:txBody>
      </p:sp>
    </p:spTree>
    <p:extLst>
      <p:ext uri="{BB962C8B-B14F-4D97-AF65-F5344CB8AC3E}">
        <p14:creationId xmlns:p14="http://schemas.microsoft.com/office/powerpoint/2010/main" val="1733063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7632CE2-4A82-45EC-8855-919433AA2BBB}" type="datetimeFigureOut">
              <a:rPr lang="en-AU" smtClean="0"/>
              <a:t>2/04/2021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58059ED-BB87-427B-B17C-CEDAEBF60613}" type="slidenum">
              <a:rPr lang="en-AU" smtClean="0"/>
              <a:t>‹#›</a:t>
            </a:fld>
            <a:endParaRPr lang="en-AU"/>
          </a:p>
        </p:txBody>
      </p:sp>
    </p:spTree>
    <p:extLst>
      <p:ext uri="{BB962C8B-B14F-4D97-AF65-F5344CB8AC3E}">
        <p14:creationId xmlns:p14="http://schemas.microsoft.com/office/powerpoint/2010/main" val="1370307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7632CE2-4A82-45EC-8855-919433AA2BBB}" type="datetimeFigureOut">
              <a:rPr lang="en-AU" smtClean="0"/>
              <a:t>2/04/2021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58059ED-BB87-427B-B17C-CEDAEBF60613}" type="slidenum">
              <a:rPr lang="en-AU" smtClean="0"/>
              <a:t>‹#›</a:t>
            </a:fld>
            <a:endParaRPr lang="en-AU"/>
          </a:p>
        </p:txBody>
      </p:sp>
    </p:spTree>
    <p:extLst>
      <p:ext uri="{BB962C8B-B14F-4D97-AF65-F5344CB8AC3E}">
        <p14:creationId xmlns:p14="http://schemas.microsoft.com/office/powerpoint/2010/main" val="3668020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632CE2-4A82-45EC-8855-919433AA2BBB}" type="datetimeFigureOut">
              <a:rPr lang="en-AU" smtClean="0"/>
              <a:t>2/04/2021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8059ED-BB87-427B-B17C-CEDAEBF60613}" type="slidenum">
              <a:rPr lang="en-AU" smtClean="0"/>
              <a:t>‹#›</a:t>
            </a:fld>
            <a:endParaRPr lang="en-AU"/>
          </a:p>
        </p:txBody>
      </p:sp>
    </p:spTree>
    <p:extLst>
      <p:ext uri="{BB962C8B-B14F-4D97-AF65-F5344CB8AC3E}">
        <p14:creationId xmlns:p14="http://schemas.microsoft.com/office/powerpoint/2010/main" val="4269819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Diodes, </a:t>
            </a:r>
            <a:r>
              <a:rPr lang="en-AU" dirty="0"/>
              <a:t>V</a:t>
            </a:r>
            <a:r>
              <a:rPr lang="en-AU" dirty="0" smtClean="0"/>
              <a:t>ariable Resistors and Transducers</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3216911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5600" y="634137"/>
            <a:ext cx="11544300" cy="1569660"/>
          </a:xfrm>
          <a:prstGeom prst="rect">
            <a:avLst/>
          </a:prstGeom>
        </p:spPr>
        <p:txBody>
          <a:bodyPr wrap="square">
            <a:spAutoFit/>
          </a:bodyPr>
          <a:lstStyle/>
          <a:p>
            <a:pPr algn="ctr"/>
            <a:r>
              <a:rPr lang="en-AU" sz="2400" b="0" i="0" dirty="0" smtClean="0">
                <a:solidFill>
                  <a:srgbClr val="444444"/>
                </a:solidFill>
                <a:effectLst/>
                <a:latin typeface="Arial" panose="020B0604020202020204" pitchFamily="34" charset="0"/>
              </a:rPr>
              <a:t>In this extension Smart Lesson you will learn to:</a:t>
            </a:r>
          </a:p>
          <a:p>
            <a:pPr algn="ctr"/>
            <a:r>
              <a:rPr lang="en-AU" sz="2400" b="0" i="0" dirty="0" smtClean="0">
                <a:solidFill>
                  <a:srgbClr val="444444"/>
                </a:solidFill>
                <a:effectLst/>
                <a:latin typeface="Arial" panose="020B0604020202020204" pitchFamily="34" charset="0"/>
              </a:rPr>
              <a:t> </a:t>
            </a:r>
          </a:p>
          <a:p>
            <a:pPr>
              <a:buFont typeface="Arial" panose="020B0604020202020204" pitchFamily="34" charset="0"/>
              <a:buChar char="•"/>
            </a:pPr>
            <a:r>
              <a:rPr lang="en-AU" sz="2400" b="1" i="0" dirty="0" smtClean="0">
                <a:solidFill>
                  <a:srgbClr val="009900"/>
                </a:solidFill>
                <a:effectLst/>
                <a:latin typeface="Arial" panose="020B0604020202020204" pitchFamily="34" charset="0"/>
              </a:rPr>
              <a:t>Recall </a:t>
            </a:r>
            <a:r>
              <a:rPr lang="en-AU" sz="2400" b="0" i="0" dirty="0" smtClean="0">
                <a:solidFill>
                  <a:srgbClr val="444444"/>
                </a:solidFill>
                <a:effectLst/>
                <a:latin typeface="Arial" panose="020B0604020202020204" pitchFamily="34" charset="0"/>
              </a:rPr>
              <a:t>the use of </a:t>
            </a:r>
            <a:r>
              <a:rPr lang="en-AU" sz="2400" b="1" i="0" dirty="0" smtClean="0">
                <a:solidFill>
                  <a:srgbClr val="00868B"/>
                </a:solidFill>
                <a:effectLst/>
                <a:latin typeface="Arial" panose="020B0604020202020204" pitchFamily="34" charset="0"/>
              </a:rPr>
              <a:t>semiconductors</a:t>
            </a:r>
            <a:r>
              <a:rPr lang="en-AU" sz="2400" b="0" i="0" dirty="0" smtClean="0">
                <a:solidFill>
                  <a:srgbClr val="444444"/>
                </a:solidFill>
                <a:effectLst/>
                <a:latin typeface="Arial" panose="020B0604020202020204" pitchFamily="34" charset="0"/>
              </a:rPr>
              <a:t> in electronic components such as </a:t>
            </a:r>
            <a:r>
              <a:rPr lang="en-AU" sz="2400" b="1" i="0" dirty="0" smtClean="0">
                <a:solidFill>
                  <a:srgbClr val="64B131"/>
                </a:solidFill>
                <a:effectLst/>
                <a:latin typeface="Arial" panose="020B0604020202020204" pitchFamily="34" charset="0"/>
              </a:rPr>
              <a:t>diodes.</a:t>
            </a:r>
            <a:endParaRPr lang="en-AU" sz="2400" b="0" i="0" dirty="0" smtClean="0">
              <a:solidFill>
                <a:srgbClr val="444444"/>
              </a:solidFill>
              <a:effectLst/>
              <a:latin typeface="Arial" panose="020B0604020202020204" pitchFamily="34" charset="0"/>
            </a:endParaRPr>
          </a:p>
          <a:p>
            <a:pPr>
              <a:buFont typeface="Arial" panose="020B0604020202020204" pitchFamily="34" charset="0"/>
              <a:buChar char="•"/>
            </a:pPr>
            <a:r>
              <a:rPr lang="en-AU" sz="2400" b="1" i="0" dirty="0" smtClean="0">
                <a:solidFill>
                  <a:srgbClr val="009900"/>
                </a:solidFill>
                <a:effectLst/>
                <a:latin typeface="Arial" panose="020B0604020202020204" pitchFamily="34" charset="0"/>
              </a:rPr>
              <a:t>Explain</a:t>
            </a:r>
            <a:r>
              <a:rPr lang="en-AU" sz="2400" b="0" i="0" dirty="0" smtClean="0">
                <a:solidFill>
                  <a:srgbClr val="444444"/>
                </a:solidFill>
                <a:effectLst/>
                <a:latin typeface="Arial" panose="020B0604020202020204" pitchFamily="34" charset="0"/>
              </a:rPr>
              <a:t> the basic functions of </a:t>
            </a:r>
            <a:r>
              <a:rPr lang="en-AU" sz="2400" b="1" i="0" dirty="0" smtClean="0">
                <a:solidFill>
                  <a:srgbClr val="64B131"/>
                </a:solidFill>
                <a:effectLst/>
                <a:latin typeface="Arial" panose="020B0604020202020204" pitchFamily="34" charset="0"/>
              </a:rPr>
              <a:t>diodes,</a:t>
            </a:r>
            <a:r>
              <a:rPr lang="en-AU" sz="2400" b="1" i="0" dirty="0" smtClean="0">
                <a:solidFill>
                  <a:srgbClr val="444444"/>
                </a:solidFill>
                <a:effectLst/>
                <a:latin typeface="Arial" panose="020B0604020202020204" pitchFamily="34" charset="0"/>
              </a:rPr>
              <a:t> </a:t>
            </a:r>
            <a:r>
              <a:rPr lang="en-AU" sz="2400" b="1" i="0" dirty="0" smtClean="0">
                <a:solidFill>
                  <a:srgbClr val="F30277"/>
                </a:solidFill>
                <a:effectLst/>
                <a:latin typeface="Arial" panose="020B0604020202020204" pitchFamily="34" charset="0"/>
              </a:rPr>
              <a:t>variable resistors</a:t>
            </a:r>
            <a:r>
              <a:rPr lang="en-AU" sz="2400" b="0" i="0" dirty="0" smtClean="0">
                <a:solidFill>
                  <a:srgbClr val="444444"/>
                </a:solidFill>
                <a:effectLst/>
                <a:latin typeface="Arial" panose="020B0604020202020204" pitchFamily="34" charset="0"/>
              </a:rPr>
              <a:t> and </a:t>
            </a:r>
            <a:r>
              <a:rPr lang="en-AU" sz="2400" b="1" i="0" dirty="0" smtClean="0">
                <a:solidFill>
                  <a:srgbClr val="571A98"/>
                </a:solidFill>
                <a:effectLst/>
                <a:latin typeface="Arial" panose="020B0604020202020204" pitchFamily="34" charset="0"/>
              </a:rPr>
              <a:t>transducers.</a:t>
            </a:r>
            <a:endParaRPr lang="en-AU" sz="2400" b="0" i="0" dirty="0">
              <a:solidFill>
                <a:srgbClr val="444444"/>
              </a:solidFill>
              <a:effectLst/>
              <a:latin typeface="Arial" panose="020B0604020202020204" pitchFamily="34" charset="0"/>
            </a:endParaRPr>
          </a:p>
        </p:txBody>
      </p:sp>
      <p:pic>
        <p:nvPicPr>
          <p:cNvPr id="1026" name="Picture 2" descr="https://www.educationperfect.com/media/content/Science/1525648943.926121g/1525648927159-317918272552442-8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1500" y="2729761"/>
            <a:ext cx="5734050" cy="3810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3925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9100" y="596037"/>
            <a:ext cx="11366500" cy="1569660"/>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Now we're going to look at some new components, starting with </a:t>
            </a:r>
            <a:r>
              <a:rPr lang="en-AU" sz="2400" b="1" i="0" dirty="0" smtClean="0">
                <a:solidFill>
                  <a:srgbClr val="64B131"/>
                </a:solidFill>
                <a:effectLst/>
                <a:latin typeface="Arial" panose="020B0604020202020204" pitchFamily="34" charset="0"/>
              </a:rPr>
              <a:t>diodes</a:t>
            </a:r>
            <a:r>
              <a:rPr lang="en-AU" sz="2400" b="1" i="0" dirty="0" smtClean="0">
                <a:solidFill>
                  <a:srgbClr val="444444"/>
                </a:solidFill>
                <a:effectLst/>
                <a:latin typeface="Arial" panose="020B0604020202020204" pitchFamily="34" charset="0"/>
              </a:rPr>
              <a:t>.</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A </a:t>
            </a:r>
            <a:r>
              <a:rPr lang="en-AU" sz="2400" b="1" i="0" dirty="0" smtClean="0">
                <a:solidFill>
                  <a:srgbClr val="64B131"/>
                </a:solidFill>
                <a:effectLst/>
                <a:latin typeface="Arial" panose="020B0604020202020204" pitchFamily="34" charset="0"/>
              </a:rPr>
              <a:t>diode</a:t>
            </a:r>
            <a:r>
              <a:rPr lang="en-AU" sz="2400" b="0" i="0" dirty="0" smtClean="0">
                <a:solidFill>
                  <a:srgbClr val="444444"/>
                </a:solidFill>
                <a:effectLst/>
                <a:latin typeface="Arial" panose="020B0604020202020204" pitchFamily="34" charset="0"/>
              </a:rPr>
              <a:t> contains </a:t>
            </a:r>
            <a:r>
              <a:rPr lang="en-AU" sz="2400" b="1" i="0" dirty="0" smtClean="0">
                <a:solidFill>
                  <a:srgbClr val="444444"/>
                </a:solidFill>
                <a:effectLst/>
                <a:latin typeface="Arial" panose="020B0604020202020204" pitchFamily="34" charset="0"/>
              </a:rPr>
              <a:t>semiconducting</a:t>
            </a:r>
            <a:r>
              <a:rPr lang="en-AU" sz="2400" b="0" i="0" dirty="0" smtClean="0">
                <a:solidFill>
                  <a:srgbClr val="444444"/>
                </a:solidFill>
                <a:effectLst/>
                <a:latin typeface="Arial" panose="020B0604020202020204" pitchFamily="34" charset="0"/>
              </a:rPr>
              <a:t> material, like silicon or germanium, that changes its properties depending on which way current flows.</a:t>
            </a:r>
            <a:endParaRPr lang="en-AU" sz="2400" b="0" i="0" dirty="0">
              <a:solidFill>
                <a:srgbClr val="444444"/>
              </a:solidFill>
              <a:effectLst/>
              <a:latin typeface="Arial" panose="020B0604020202020204" pitchFamily="34" charset="0"/>
            </a:endParaRPr>
          </a:p>
        </p:txBody>
      </p:sp>
      <p:pic>
        <p:nvPicPr>
          <p:cNvPr id="2050" name="Picture 2" descr="https://www.educationperfect.com/media/content/Science/1441837928.95541g/1441837939375-1901673146059824-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275" y="2809875"/>
            <a:ext cx="3810000" cy="20383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486275" y="2809875"/>
            <a:ext cx="6096000" cy="2308324"/>
          </a:xfrm>
          <a:prstGeom prst="rect">
            <a:avLst/>
          </a:prstGeom>
        </p:spPr>
        <p:txBody>
          <a:bodyPr>
            <a:spAutoFit/>
          </a:bodyPr>
          <a:lstStyle/>
          <a:p>
            <a:r>
              <a:rPr lang="en-AU" sz="2400" b="0" i="0" dirty="0" smtClean="0">
                <a:solidFill>
                  <a:srgbClr val="444444"/>
                </a:solidFill>
                <a:effectLst/>
                <a:latin typeface="Arial" panose="020B0604020202020204" pitchFamily="34" charset="0"/>
              </a:rPr>
              <a:t>In particular, the </a:t>
            </a:r>
            <a:r>
              <a:rPr lang="en-AU" sz="2400" b="1" i="0" dirty="0" smtClean="0">
                <a:solidFill>
                  <a:srgbClr val="F30277"/>
                </a:solidFill>
                <a:effectLst/>
                <a:latin typeface="Arial" panose="020B0604020202020204" pitchFamily="34" charset="0"/>
              </a:rPr>
              <a:t>resistance</a:t>
            </a:r>
            <a:r>
              <a:rPr lang="en-AU" sz="2400" b="1" i="0" dirty="0" smtClean="0">
                <a:solidFill>
                  <a:srgbClr val="444444"/>
                </a:solidFill>
                <a:effectLst/>
                <a:latin typeface="Arial" panose="020B0604020202020204" pitchFamily="34" charset="0"/>
              </a:rPr>
              <a:t> </a:t>
            </a:r>
            <a:r>
              <a:rPr lang="en-AU" sz="2400" b="0" i="0" dirty="0" smtClean="0">
                <a:solidFill>
                  <a:srgbClr val="444444"/>
                </a:solidFill>
                <a:effectLst/>
                <a:latin typeface="Arial" panose="020B0604020202020204" pitchFamily="34" charset="0"/>
              </a:rPr>
              <a:t>of a diode can be next to </a:t>
            </a:r>
            <a:r>
              <a:rPr lang="en-AU" sz="2400" b="1" i="0" dirty="0" smtClean="0">
                <a:solidFill>
                  <a:srgbClr val="444444"/>
                </a:solidFill>
                <a:effectLst/>
                <a:latin typeface="Arial" panose="020B0604020202020204" pitchFamily="34" charset="0"/>
              </a:rPr>
              <a:t>zero</a:t>
            </a:r>
            <a:r>
              <a:rPr lang="en-AU" sz="2400" b="0" i="0" dirty="0" smtClean="0">
                <a:solidFill>
                  <a:srgbClr val="444444"/>
                </a:solidFill>
                <a:effectLst/>
                <a:latin typeface="Arial" panose="020B0604020202020204" pitchFamily="34" charset="0"/>
              </a:rPr>
              <a:t> when connected the proper way, or practically </a:t>
            </a:r>
            <a:r>
              <a:rPr lang="en-AU" sz="2400" b="1" i="0" dirty="0" smtClean="0">
                <a:solidFill>
                  <a:srgbClr val="444444"/>
                </a:solidFill>
                <a:effectLst/>
                <a:latin typeface="Arial" panose="020B0604020202020204" pitchFamily="34" charset="0"/>
              </a:rPr>
              <a:t>infinite</a:t>
            </a:r>
            <a:r>
              <a:rPr lang="en-AU" sz="2400" b="0" i="0" dirty="0" smtClean="0">
                <a:solidFill>
                  <a:srgbClr val="444444"/>
                </a:solidFill>
                <a:effectLst/>
                <a:latin typeface="Arial" panose="020B0604020202020204" pitchFamily="34" charset="0"/>
              </a:rPr>
              <a:t> when connected the opposite way. The effect of this is that </a:t>
            </a:r>
            <a:r>
              <a:rPr lang="en-AU" sz="2400" b="1" i="1" dirty="0" smtClean="0">
                <a:solidFill>
                  <a:srgbClr val="444444"/>
                </a:solidFill>
                <a:effectLst/>
                <a:latin typeface="Arial" panose="020B0604020202020204" pitchFamily="34" charset="0"/>
              </a:rPr>
              <a:t>current can only pass through a diode in </a:t>
            </a:r>
            <a:r>
              <a:rPr lang="en-AU" sz="2400" b="1" i="1" dirty="0" smtClean="0">
                <a:solidFill>
                  <a:srgbClr val="0066CC"/>
                </a:solidFill>
                <a:effectLst/>
                <a:latin typeface="Arial" panose="020B0604020202020204" pitchFamily="34" charset="0"/>
              </a:rPr>
              <a:t>one direction</a:t>
            </a:r>
            <a:r>
              <a:rPr lang="en-AU" sz="2400" b="0" i="0" dirty="0" smtClean="0">
                <a:solidFill>
                  <a:srgbClr val="444444"/>
                </a:solidFill>
                <a:effectLst/>
                <a:latin typeface="Arial" panose="020B0604020202020204" pitchFamily="34" charset="0"/>
              </a:rPr>
              <a:t>.</a:t>
            </a:r>
            <a:endParaRPr lang="en-AU" sz="2400" dirty="0"/>
          </a:p>
        </p:txBody>
      </p:sp>
    </p:spTree>
    <p:extLst>
      <p:ext uri="{BB962C8B-B14F-4D97-AF65-F5344CB8AC3E}">
        <p14:creationId xmlns:p14="http://schemas.microsoft.com/office/powerpoint/2010/main" val="1439635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97200" y="389235"/>
            <a:ext cx="6096000" cy="1200329"/>
          </a:xfrm>
          <a:prstGeom prst="rect">
            <a:avLst/>
          </a:prstGeom>
        </p:spPr>
        <p:txBody>
          <a:bodyPr>
            <a:spAutoFit/>
          </a:bodyPr>
          <a:lstStyle/>
          <a:p>
            <a:pPr algn="ctr"/>
            <a:r>
              <a:rPr lang="en-AU" sz="2400" b="1" i="0" dirty="0" smtClean="0">
                <a:solidFill>
                  <a:srgbClr val="444444"/>
                </a:solidFill>
                <a:effectLst/>
                <a:latin typeface="Arial" panose="020B0604020202020204" pitchFamily="34" charset="0"/>
              </a:rPr>
              <a:t>Circuit symbol.</a:t>
            </a:r>
          </a:p>
          <a:p>
            <a:r>
              <a:rPr lang="en-AU" sz="2400" dirty="0" smtClean="0"/>
              <a:t/>
            </a:r>
            <a:br>
              <a:rPr lang="en-AU" sz="2400" dirty="0" smtClean="0"/>
            </a:br>
            <a:endParaRPr lang="en-AU" sz="2400" dirty="0"/>
          </a:p>
        </p:txBody>
      </p:sp>
      <p:sp>
        <p:nvSpPr>
          <p:cNvPr id="3" name="Rectangle 2"/>
          <p:cNvSpPr/>
          <p:nvPr/>
        </p:nvSpPr>
        <p:spPr>
          <a:xfrm>
            <a:off x="736600" y="1722735"/>
            <a:ext cx="6883400" cy="1569660"/>
          </a:xfrm>
          <a:prstGeom prst="rect">
            <a:avLst/>
          </a:prstGeom>
        </p:spPr>
        <p:txBody>
          <a:bodyPr wrap="square">
            <a:spAutoFit/>
          </a:bodyPr>
          <a:lstStyle/>
          <a:p>
            <a:r>
              <a:rPr lang="en-AU" sz="2400" b="0" i="0" dirty="0" smtClean="0">
                <a:solidFill>
                  <a:srgbClr val="444444"/>
                </a:solidFill>
                <a:effectLst/>
                <a:latin typeface="Arial" panose="020B0604020202020204" pitchFamily="34" charset="0"/>
              </a:rPr>
              <a:t>This is the symbol we use to represent a regular diode on a circuit diagram. The </a:t>
            </a:r>
            <a:r>
              <a:rPr lang="en-AU" sz="2400" b="1" i="0" dirty="0" smtClean="0">
                <a:solidFill>
                  <a:srgbClr val="444444"/>
                </a:solidFill>
                <a:effectLst/>
                <a:latin typeface="Arial" panose="020B0604020202020204" pitchFamily="34" charset="0"/>
              </a:rPr>
              <a:t>arrowhead</a:t>
            </a:r>
            <a:r>
              <a:rPr lang="en-AU" sz="2400" b="0" i="0" dirty="0" smtClean="0">
                <a:solidFill>
                  <a:srgbClr val="444444"/>
                </a:solidFill>
                <a:effectLst/>
                <a:latin typeface="Arial" panose="020B0604020202020204" pitchFamily="34" charset="0"/>
              </a:rPr>
              <a:t> shows its preferred orientation in a circuit.</a:t>
            </a:r>
            <a:endParaRPr lang="en-AU" sz="2400" dirty="0"/>
          </a:p>
        </p:txBody>
      </p:sp>
      <p:pic>
        <p:nvPicPr>
          <p:cNvPr id="3074" name="Picture 2" descr="https://www.educationperfect.com/media/content/Science/1421289121.454621g/1421289115287-2027529041-2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7575" y="2271712"/>
            <a:ext cx="1895475" cy="75247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36600" y="3832136"/>
            <a:ext cx="10947400" cy="1200329"/>
          </a:xfrm>
          <a:prstGeom prst="rect">
            <a:avLst/>
          </a:prstGeom>
        </p:spPr>
        <p:txBody>
          <a:bodyPr wrap="square">
            <a:spAutoFit/>
          </a:bodyPr>
          <a:lstStyle/>
          <a:p>
            <a:r>
              <a:rPr lang="en-AU" sz="2400" b="0" i="0" dirty="0" smtClean="0">
                <a:solidFill>
                  <a:srgbClr val="444444"/>
                </a:solidFill>
                <a:effectLst/>
                <a:latin typeface="Arial" panose="020B0604020202020204" pitchFamily="34" charset="0"/>
              </a:rPr>
              <a:t>If the diode is connected so that current can flow in the direction of the arrowhead, we say it is </a:t>
            </a:r>
            <a:r>
              <a:rPr lang="en-AU" sz="2400" b="1" i="0" dirty="0" smtClean="0">
                <a:solidFill>
                  <a:srgbClr val="0066CC"/>
                </a:solidFill>
                <a:effectLst/>
                <a:latin typeface="Arial" panose="020B0604020202020204" pitchFamily="34" charset="0"/>
              </a:rPr>
              <a:t>forward</a:t>
            </a:r>
            <a:r>
              <a:rPr lang="en-AU" sz="2400" b="1" i="0" dirty="0" smtClean="0">
                <a:solidFill>
                  <a:srgbClr val="444444"/>
                </a:solidFill>
                <a:effectLst/>
                <a:latin typeface="Arial" panose="020B0604020202020204" pitchFamily="34" charset="0"/>
              </a:rPr>
              <a:t> biased</a:t>
            </a:r>
            <a:r>
              <a:rPr lang="en-AU" sz="2400" b="0" i="0" dirty="0" smtClean="0">
                <a:solidFill>
                  <a:srgbClr val="444444"/>
                </a:solidFill>
                <a:effectLst/>
                <a:latin typeface="Arial" panose="020B0604020202020204" pitchFamily="34" charset="0"/>
              </a:rPr>
              <a:t>. If it's connected the opposite way, it is </a:t>
            </a:r>
            <a:r>
              <a:rPr lang="en-AU" sz="2400" b="1" i="0" dirty="0" smtClean="0">
                <a:solidFill>
                  <a:srgbClr val="CC0000"/>
                </a:solidFill>
                <a:effectLst/>
                <a:latin typeface="Arial" panose="020B0604020202020204" pitchFamily="34" charset="0"/>
              </a:rPr>
              <a:t>reverse</a:t>
            </a:r>
            <a:r>
              <a:rPr lang="en-AU" sz="2400" b="1" i="0" dirty="0" smtClean="0">
                <a:solidFill>
                  <a:srgbClr val="444444"/>
                </a:solidFill>
                <a:effectLst/>
                <a:latin typeface="Arial" panose="020B0604020202020204" pitchFamily="34" charset="0"/>
              </a:rPr>
              <a:t> biased</a:t>
            </a:r>
            <a:r>
              <a:rPr lang="en-AU" sz="2400" b="0" i="0" dirty="0" smtClean="0">
                <a:solidFill>
                  <a:srgbClr val="444444"/>
                </a:solidFill>
                <a:effectLst/>
                <a:latin typeface="Arial" panose="020B0604020202020204" pitchFamily="34" charset="0"/>
              </a:rPr>
              <a:t> and current cannot pass through.</a:t>
            </a:r>
            <a:endParaRPr lang="en-AU" sz="2400" dirty="0"/>
          </a:p>
        </p:txBody>
      </p:sp>
    </p:spTree>
    <p:extLst>
      <p:ext uri="{BB962C8B-B14F-4D97-AF65-F5344CB8AC3E}">
        <p14:creationId xmlns:p14="http://schemas.microsoft.com/office/powerpoint/2010/main" val="222667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203538"/>
            <a:ext cx="11455400" cy="1938992"/>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A </a:t>
            </a:r>
            <a:r>
              <a:rPr lang="en-AU" sz="2400" b="1" i="0" dirty="0" smtClean="0">
                <a:solidFill>
                  <a:srgbClr val="64B131"/>
                </a:solidFill>
                <a:effectLst/>
                <a:latin typeface="Arial" panose="020B0604020202020204" pitchFamily="34" charset="0"/>
              </a:rPr>
              <a:t>light-emitting diode (LED)</a:t>
            </a:r>
            <a:r>
              <a:rPr lang="en-AU" sz="2400" b="1" i="0" dirty="0" smtClean="0">
                <a:solidFill>
                  <a:srgbClr val="444444"/>
                </a:solidFill>
                <a:effectLst/>
                <a:latin typeface="Arial" panose="020B0604020202020204" pitchFamily="34" charset="0"/>
              </a:rPr>
              <a:t> is a very common type of diode that </a:t>
            </a:r>
            <a:r>
              <a:rPr lang="en-AU" sz="2400" b="1" i="0" dirty="0" smtClean="0">
                <a:solidFill>
                  <a:srgbClr val="FEB900"/>
                </a:solidFill>
                <a:effectLst/>
                <a:latin typeface="Arial" panose="020B0604020202020204" pitchFamily="34" charset="0"/>
              </a:rPr>
              <a:t>lights up</a:t>
            </a:r>
            <a:r>
              <a:rPr lang="en-AU" sz="2400" b="1" i="0" dirty="0" smtClean="0">
                <a:solidFill>
                  <a:srgbClr val="444444"/>
                </a:solidFill>
                <a:effectLst/>
                <a:latin typeface="Arial" panose="020B0604020202020204" pitchFamily="34" charset="0"/>
              </a:rPr>
              <a:t> when current passes through it the right way.</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LEDs come in a few different varieties and have many uses.</a:t>
            </a:r>
          </a:p>
          <a:p>
            <a:pPr algn="ctr"/>
            <a:r>
              <a:rPr lang="en-AU" sz="2400" b="0" i="0" dirty="0" smtClean="0">
                <a:solidFill>
                  <a:srgbClr val="444444"/>
                </a:solidFill>
                <a:effectLst/>
                <a:latin typeface="Arial" panose="020B0604020202020204" pitchFamily="34" charset="0"/>
              </a:rPr>
              <a:t> </a:t>
            </a:r>
            <a:endParaRPr lang="en-AU" sz="2400" b="0" i="0" dirty="0">
              <a:solidFill>
                <a:srgbClr val="444444"/>
              </a:solidFill>
              <a:effectLst/>
              <a:latin typeface="Arial" panose="020B0604020202020204" pitchFamily="34" charset="0"/>
            </a:endParaRPr>
          </a:p>
        </p:txBody>
      </p:sp>
      <p:pic>
        <p:nvPicPr>
          <p:cNvPr id="4098" name="Picture 2" descr="https://www.educationperfect.com/media/content/Science/1442961196.744551g/1442961209025-3060055138909228-optimis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175" y="1908175"/>
            <a:ext cx="3082823" cy="28670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540022" y="1935371"/>
            <a:ext cx="8283677" cy="2308324"/>
          </a:xfrm>
          <a:prstGeom prst="rect">
            <a:avLst/>
          </a:prstGeom>
        </p:spPr>
        <p:txBody>
          <a:bodyPr wrap="square">
            <a:spAutoFit/>
          </a:bodyPr>
          <a:lstStyle/>
          <a:p>
            <a:r>
              <a:rPr lang="en-AU" sz="2400" b="0" i="0" dirty="0" smtClean="0">
                <a:solidFill>
                  <a:srgbClr val="444444"/>
                </a:solidFill>
                <a:effectLst/>
                <a:latin typeface="Arial" panose="020B0604020202020204" pitchFamily="34" charset="0"/>
              </a:rPr>
              <a:t>They are found in indicator and bicycle lights, in torches and traffic lights, and as efficient </a:t>
            </a:r>
            <a:r>
              <a:rPr lang="en-AU" sz="2400" b="1" i="0" dirty="0" smtClean="0">
                <a:solidFill>
                  <a:srgbClr val="444444"/>
                </a:solidFill>
                <a:effectLst/>
                <a:latin typeface="Arial" panose="020B0604020202020204" pitchFamily="34" charset="0"/>
              </a:rPr>
              <a:t>substitutes</a:t>
            </a:r>
            <a:r>
              <a:rPr lang="en-AU" sz="2400" b="0" i="0" dirty="0" smtClean="0">
                <a:solidFill>
                  <a:srgbClr val="444444"/>
                </a:solidFill>
                <a:effectLst/>
                <a:latin typeface="Arial" panose="020B0604020202020204" pitchFamily="34" charset="0"/>
              </a:rPr>
              <a:t> for normal lamps. As diodes, they only light up if they are forward biased in a circuit. If an LED is placed in a circuit where the current alternates - changes direction periodically - it will </a:t>
            </a:r>
            <a:r>
              <a:rPr lang="en-AU" sz="2400" b="1" i="0" dirty="0" smtClean="0">
                <a:solidFill>
                  <a:srgbClr val="0066CC"/>
                </a:solidFill>
                <a:effectLst/>
                <a:latin typeface="Arial" panose="020B0604020202020204" pitchFamily="34" charset="0"/>
              </a:rPr>
              <a:t>flash</a:t>
            </a:r>
            <a:r>
              <a:rPr lang="en-AU" sz="2400" b="1" i="0" dirty="0" smtClean="0">
                <a:solidFill>
                  <a:srgbClr val="444444"/>
                </a:solidFill>
                <a:effectLst/>
                <a:latin typeface="Arial" panose="020B0604020202020204" pitchFamily="34" charset="0"/>
              </a:rPr>
              <a:t> on and off</a:t>
            </a:r>
            <a:r>
              <a:rPr lang="en-AU" sz="2400" b="0" i="0" dirty="0" smtClean="0">
                <a:solidFill>
                  <a:srgbClr val="444444"/>
                </a:solidFill>
                <a:effectLst/>
                <a:latin typeface="Arial" panose="020B0604020202020204" pitchFamily="34" charset="0"/>
              </a:rPr>
              <a:t>.</a:t>
            </a:r>
            <a:endParaRPr lang="en-AU" sz="2400" dirty="0"/>
          </a:p>
        </p:txBody>
      </p:sp>
      <p:graphicFrame>
        <p:nvGraphicFramePr>
          <p:cNvPr id="4" name="Table 3"/>
          <p:cNvGraphicFramePr>
            <a:graphicFrameLocks noGrp="1"/>
          </p:cNvGraphicFramePr>
          <p:nvPr>
            <p:extLst>
              <p:ext uri="{D42A27DB-BD31-4B8C-83A1-F6EECF244321}">
                <p14:modId xmlns:p14="http://schemas.microsoft.com/office/powerpoint/2010/main" val="1685973954"/>
              </p:ext>
            </p:extLst>
          </p:nvPr>
        </p:nvGraphicFramePr>
        <p:xfrm>
          <a:off x="926998" y="4775200"/>
          <a:ext cx="8115402" cy="1211580"/>
        </p:xfrm>
        <a:graphic>
          <a:graphicData uri="http://schemas.openxmlformats.org/drawingml/2006/table">
            <a:tbl>
              <a:tblPr/>
              <a:tblGrid>
                <a:gridCol w="8115402">
                  <a:extLst>
                    <a:ext uri="{9D8B030D-6E8A-4147-A177-3AD203B41FA5}">
                      <a16:colId xmlns:a16="http://schemas.microsoft.com/office/drawing/2014/main" val="660491419"/>
                    </a:ext>
                  </a:extLst>
                </a:gridCol>
              </a:tblGrid>
              <a:tr h="0">
                <a:tc>
                  <a:txBody>
                    <a:bodyPr/>
                    <a:lstStyle/>
                    <a:p>
                      <a:pPr algn="l" fontAlgn="ctr"/>
                      <a:r>
                        <a:rPr lang="en-AU" sz="2400" dirty="0">
                          <a:effectLst/>
                        </a:rPr>
                        <a:t>This is the </a:t>
                      </a:r>
                      <a:r>
                        <a:rPr lang="en-AU" sz="2400" b="1" dirty="0">
                          <a:effectLst/>
                        </a:rPr>
                        <a:t>circuit symbol</a:t>
                      </a:r>
                      <a:r>
                        <a:rPr lang="en-AU" sz="2400" dirty="0">
                          <a:effectLst/>
                        </a:rPr>
                        <a:t> for an LED. It looks just like the one for a normal diode, but with an added </a:t>
                      </a:r>
                      <a:r>
                        <a:rPr lang="en-AU" sz="2400" b="1" dirty="0">
                          <a:effectLst/>
                        </a:rPr>
                        <a:t>circle</a:t>
                      </a:r>
                      <a:r>
                        <a:rPr lang="en-AU" sz="2400" dirty="0">
                          <a:effectLst/>
                        </a:rPr>
                        <a:t> and two </a:t>
                      </a:r>
                      <a:r>
                        <a:rPr lang="en-AU" sz="2400" b="1" dirty="0">
                          <a:effectLst/>
                        </a:rPr>
                        <a:t>arrows</a:t>
                      </a:r>
                      <a:r>
                        <a:rPr lang="en-AU" sz="2400" dirty="0">
                          <a:effectLst/>
                        </a:rPr>
                        <a:t> to show light being given off.</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1657055548"/>
                  </a:ext>
                </a:extLst>
              </a:tr>
            </a:tbl>
          </a:graphicData>
        </a:graphic>
      </p:graphicFrame>
      <p:pic>
        <p:nvPicPr>
          <p:cNvPr id="4100" name="Picture 4" descr="https://www.educationperfect.com/media/content/Science/1421290034.470721g/1421290028270-2027529041-4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2707" y="4953000"/>
            <a:ext cx="304038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5337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04591" y="170934"/>
            <a:ext cx="2081019" cy="461665"/>
          </a:xfrm>
          <a:prstGeom prst="rect">
            <a:avLst/>
          </a:prstGeom>
        </p:spPr>
        <p:txBody>
          <a:bodyPr wrap="none">
            <a:spAutoFit/>
          </a:bodyPr>
          <a:lstStyle/>
          <a:p>
            <a:pPr algn="ctr"/>
            <a:r>
              <a:rPr lang="en-AU" sz="2400" b="1" i="0" dirty="0" smtClean="0">
                <a:solidFill>
                  <a:srgbClr val="444444"/>
                </a:solidFill>
                <a:effectLst/>
                <a:latin typeface="Arial" panose="020B0604020202020204" pitchFamily="34" charset="0"/>
              </a:rPr>
              <a:t>LED colours.</a:t>
            </a:r>
            <a:endParaRPr lang="en-AU" sz="2400" b="1" i="0" dirty="0">
              <a:solidFill>
                <a:srgbClr val="444444"/>
              </a:solidFill>
              <a:effectLst/>
              <a:latin typeface="Arial" panose="020B0604020202020204" pitchFamily="34" charset="0"/>
            </a:endParaRPr>
          </a:p>
        </p:txBody>
      </p:sp>
      <p:sp>
        <p:nvSpPr>
          <p:cNvPr id="3" name="Rectangle 2"/>
          <p:cNvSpPr/>
          <p:nvPr/>
        </p:nvSpPr>
        <p:spPr>
          <a:xfrm>
            <a:off x="495300" y="632599"/>
            <a:ext cx="6096000" cy="2677656"/>
          </a:xfrm>
          <a:prstGeom prst="rect">
            <a:avLst/>
          </a:prstGeom>
        </p:spPr>
        <p:txBody>
          <a:bodyPr>
            <a:spAutoFit/>
          </a:bodyPr>
          <a:lstStyle/>
          <a:p>
            <a:r>
              <a:rPr lang="en-AU" sz="2400" b="0" i="0" dirty="0" smtClean="0">
                <a:solidFill>
                  <a:srgbClr val="444444"/>
                </a:solidFill>
                <a:effectLst/>
                <a:latin typeface="Arial" panose="020B0604020202020204" pitchFamily="34" charset="0"/>
              </a:rPr>
              <a:t>You have probably seen a red LED before, but they are made with many other colours as well. The reason red ones are so abundant is because they require only a small </a:t>
            </a:r>
            <a:r>
              <a:rPr lang="en-AU" sz="2400" b="1" i="0" dirty="0" smtClean="0">
                <a:solidFill>
                  <a:srgbClr val="CC0000"/>
                </a:solidFill>
                <a:effectLst/>
                <a:latin typeface="Arial" panose="020B0604020202020204" pitchFamily="34" charset="0"/>
              </a:rPr>
              <a:t>voltage</a:t>
            </a:r>
            <a:r>
              <a:rPr lang="en-AU" sz="2400" b="0" i="0" dirty="0" smtClean="0">
                <a:solidFill>
                  <a:srgbClr val="444444"/>
                </a:solidFill>
                <a:effectLst/>
                <a:latin typeface="Arial" panose="020B0604020202020204" pitchFamily="34" charset="0"/>
              </a:rPr>
              <a:t> to work. Red light has the </a:t>
            </a:r>
            <a:r>
              <a:rPr lang="en-AU" sz="2400" b="1" i="0" dirty="0" smtClean="0">
                <a:solidFill>
                  <a:srgbClr val="444444"/>
                </a:solidFill>
                <a:effectLst/>
                <a:latin typeface="Arial" panose="020B0604020202020204" pitchFamily="34" charset="0"/>
              </a:rPr>
              <a:t>longest </a:t>
            </a:r>
            <a:r>
              <a:rPr lang="en-AU" sz="2400" b="1" i="0" dirty="0" smtClean="0">
                <a:solidFill>
                  <a:srgbClr val="0066CC"/>
                </a:solidFill>
                <a:effectLst/>
                <a:latin typeface="Arial" panose="020B0604020202020204" pitchFamily="34" charset="0"/>
              </a:rPr>
              <a:t>wavelength</a:t>
            </a:r>
            <a:r>
              <a:rPr lang="en-AU" sz="2400" b="0" i="0" dirty="0" smtClean="0">
                <a:solidFill>
                  <a:srgbClr val="444444"/>
                </a:solidFill>
                <a:effectLst/>
                <a:latin typeface="Arial" panose="020B0604020202020204" pitchFamily="34" charset="0"/>
              </a:rPr>
              <a:t> of any colour in the visible spectrum.</a:t>
            </a:r>
            <a:endParaRPr lang="en-AU" sz="2400" dirty="0"/>
          </a:p>
        </p:txBody>
      </p:sp>
      <p:pic>
        <p:nvPicPr>
          <p:cNvPr id="5122" name="Picture 2" descr="https://www.educationperfect.com/media/content/Science/1442961142.618071g/1442961149174-3060055138909228-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5275" y="632599"/>
            <a:ext cx="3324225" cy="246609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95300" y="3188038"/>
            <a:ext cx="11557000" cy="1938992"/>
          </a:xfrm>
          <a:prstGeom prst="rect">
            <a:avLst/>
          </a:prstGeom>
        </p:spPr>
        <p:txBody>
          <a:bodyPr wrap="square">
            <a:spAutoFit/>
          </a:bodyPr>
          <a:lstStyle/>
          <a:p>
            <a:r>
              <a:rPr lang="en-AU" sz="2400" b="0" i="0" dirty="0" smtClean="0">
                <a:solidFill>
                  <a:srgbClr val="444444"/>
                </a:solidFill>
                <a:effectLst/>
                <a:latin typeface="Arial" panose="020B0604020202020204" pitchFamily="34" charset="0"/>
              </a:rPr>
              <a:t>It turns out that as the wavelength of light </a:t>
            </a:r>
            <a:r>
              <a:rPr lang="en-AU" sz="2400" b="1" i="0" dirty="0" smtClean="0">
                <a:solidFill>
                  <a:srgbClr val="444444"/>
                </a:solidFill>
                <a:effectLst/>
                <a:latin typeface="Arial" panose="020B0604020202020204" pitchFamily="34" charset="0"/>
              </a:rPr>
              <a:t>decreases</a:t>
            </a:r>
            <a:r>
              <a:rPr lang="en-AU" sz="2400" b="0" i="0" dirty="0" smtClean="0">
                <a:solidFill>
                  <a:srgbClr val="444444"/>
                </a:solidFill>
                <a:effectLst/>
                <a:latin typeface="Arial" panose="020B0604020202020204" pitchFamily="34" charset="0"/>
              </a:rPr>
              <a:t>, you need a </a:t>
            </a:r>
            <a:r>
              <a:rPr lang="en-AU" sz="2400" b="1" i="0" dirty="0" smtClean="0">
                <a:solidFill>
                  <a:srgbClr val="444444"/>
                </a:solidFill>
                <a:effectLst/>
                <a:latin typeface="Arial" panose="020B0604020202020204" pitchFamily="34" charset="0"/>
              </a:rPr>
              <a:t>higher </a:t>
            </a:r>
            <a:r>
              <a:rPr lang="en-AU" sz="2400" b="1" i="0" dirty="0" smtClean="0">
                <a:solidFill>
                  <a:srgbClr val="CC0000"/>
                </a:solidFill>
                <a:effectLst/>
                <a:latin typeface="Arial" panose="020B0604020202020204" pitchFamily="34" charset="0"/>
              </a:rPr>
              <a:t>voltage</a:t>
            </a:r>
            <a:r>
              <a:rPr lang="en-AU" sz="2400" b="0" i="0" dirty="0" smtClean="0">
                <a:solidFill>
                  <a:srgbClr val="444444"/>
                </a:solidFill>
                <a:effectLst/>
                <a:latin typeface="Arial" panose="020B0604020202020204" pitchFamily="34" charset="0"/>
              </a:rPr>
              <a:t> to be able to emit the corresponding colour. This is summarised in the graph below, which compares the required voltages for different types of LEDs at different current levels. Notice that all the lines are curved, because LEDs are </a:t>
            </a:r>
            <a:r>
              <a:rPr lang="en-AU" sz="2400" b="1" i="0" dirty="0" smtClean="0">
                <a:solidFill>
                  <a:srgbClr val="444444"/>
                </a:solidFill>
                <a:effectLst/>
                <a:latin typeface="Arial" panose="020B0604020202020204" pitchFamily="34" charset="0"/>
              </a:rPr>
              <a:t>non-</a:t>
            </a:r>
            <a:r>
              <a:rPr lang="en-AU" sz="2400" b="1" dirty="0" err="1">
                <a:solidFill>
                  <a:srgbClr val="444444"/>
                </a:solidFill>
                <a:latin typeface="Arial" panose="020B0604020202020204" pitchFamily="34" charset="0"/>
              </a:rPr>
              <a:t>o</a:t>
            </a:r>
            <a:r>
              <a:rPr lang="en-AU" sz="2400" b="1" i="0" dirty="0" err="1" smtClean="0">
                <a:solidFill>
                  <a:srgbClr val="444444"/>
                </a:solidFill>
                <a:effectLst/>
                <a:latin typeface="Arial" panose="020B0604020202020204" pitchFamily="34" charset="0"/>
              </a:rPr>
              <a:t>hmic</a:t>
            </a:r>
            <a:r>
              <a:rPr lang="en-AU" sz="2400" b="1" i="0" dirty="0" smtClean="0">
                <a:solidFill>
                  <a:srgbClr val="444444"/>
                </a:solidFill>
                <a:effectLst/>
                <a:latin typeface="Arial" panose="020B0604020202020204" pitchFamily="34" charset="0"/>
              </a:rPr>
              <a:t> conductors</a:t>
            </a:r>
            <a:r>
              <a:rPr lang="en-AU" sz="2400" b="0" i="0" dirty="0" smtClean="0">
                <a:solidFill>
                  <a:srgbClr val="444444"/>
                </a:solidFill>
                <a:effectLst/>
                <a:latin typeface="Arial" panose="020B0604020202020204" pitchFamily="34" charset="0"/>
              </a:rPr>
              <a:t>.</a:t>
            </a:r>
            <a:endParaRPr lang="en-AU" sz="2400" dirty="0"/>
          </a:p>
        </p:txBody>
      </p:sp>
      <p:pic>
        <p:nvPicPr>
          <p:cNvPr id="5124" name="Picture 4" descr="https://www.educationperfect.com/media/content/Science/1442967897.090911g/1442967904803-1174154121817259-8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0878" y="4736971"/>
            <a:ext cx="3956221" cy="21363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3095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9863" y="101600"/>
            <a:ext cx="12116421" cy="6324600"/>
          </a:xfrm>
          <a:prstGeom prst="rect">
            <a:avLst/>
          </a:prstGeom>
        </p:spPr>
      </p:pic>
    </p:spTree>
    <p:extLst>
      <p:ext uri="{BB962C8B-B14F-4D97-AF65-F5344CB8AC3E}">
        <p14:creationId xmlns:p14="http://schemas.microsoft.com/office/powerpoint/2010/main" val="2950991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11162" y="255587"/>
            <a:ext cx="11269838" cy="6056313"/>
          </a:xfrm>
          <a:prstGeom prst="rect">
            <a:avLst/>
          </a:prstGeom>
        </p:spPr>
      </p:pic>
    </p:spTree>
    <p:extLst>
      <p:ext uri="{BB962C8B-B14F-4D97-AF65-F5344CB8AC3E}">
        <p14:creationId xmlns:p14="http://schemas.microsoft.com/office/powerpoint/2010/main" val="3345376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65124" y="647700"/>
            <a:ext cx="12063747" cy="5473700"/>
          </a:xfrm>
          <a:prstGeom prst="rect">
            <a:avLst/>
          </a:prstGeom>
        </p:spPr>
      </p:pic>
    </p:spTree>
    <p:extLst>
      <p:ext uri="{BB962C8B-B14F-4D97-AF65-F5344CB8AC3E}">
        <p14:creationId xmlns:p14="http://schemas.microsoft.com/office/powerpoint/2010/main" val="1649595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01700" y="153987"/>
            <a:ext cx="9740900" cy="6451947"/>
          </a:xfrm>
          <a:prstGeom prst="rect">
            <a:avLst/>
          </a:prstGeom>
        </p:spPr>
      </p:pic>
    </p:spTree>
    <p:extLst>
      <p:ext uri="{BB962C8B-B14F-4D97-AF65-F5344CB8AC3E}">
        <p14:creationId xmlns:p14="http://schemas.microsoft.com/office/powerpoint/2010/main" val="362103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6400" y="0"/>
            <a:ext cx="11785600" cy="4154984"/>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There are also different types of </a:t>
            </a:r>
            <a:r>
              <a:rPr lang="en-AU" sz="2400" b="1" i="0" dirty="0" smtClean="0">
                <a:solidFill>
                  <a:srgbClr val="00868B"/>
                </a:solidFill>
                <a:effectLst/>
                <a:latin typeface="Arial" panose="020B0604020202020204" pitchFamily="34" charset="0"/>
              </a:rPr>
              <a:t>resistor</a:t>
            </a:r>
            <a:r>
              <a:rPr lang="en-AU" sz="2400" b="1" i="0" dirty="0" smtClean="0">
                <a:solidFill>
                  <a:srgbClr val="444444"/>
                </a:solidFill>
                <a:effectLst/>
                <a:latin typeface="Arial" panose="020B0604020202020204" pitchFamily="34" charset="0"/>
              </a:rPr>
              <a:t> that we can use in circuits.</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So far we've considered </a:t>
            </a:r>
            <a:r>
              <a:rPr lang="en-AU" sz="2400" b="1" i="0" dirty="0" smtClean="0">
                <a:solidFill>
                  <a:srgbClr val="444444"/>
                </a:solidFill>
                <a:effectLst/>
                <a:latin typeface="Arial" panose="020B0604020202020204" pitchFamily="34" charset="0"/>
              </a:rPr>
              <a:t>passive</a:t>
            </a:r>
            <a:r>
              <a:rPr lang="en-AU" sz="2400" b="0" i="0" dirty="0" smtClean="0">
                <a:solidFill>
                  <a:srgbClr val="444444"/>
                </a:solidFill>
                <a:effectLst/>
                <a:latin typeface="Arial" panose="020B0604020202020204" pitchFamily="34" charset="0"/>
              </a:rPr>
              <a:t> resistors that sit around with a </a:t>
            </a:r>
            <a:r>
              <a:rPr lang="en-AU" sz="2400" b="1" i="0" dirty="0" smtClean="0">
                <a:solidFill>
                  <a:srgbClr val="444444"/>
                </a:solidFill>
                <a:effectLst/>
                <a:latin typeface="Arial" panose="020B0604020202020204" pitchFamily="34" charset="0"/>
              </a:rPr>
              <a:t>fixed</a:t>
            </a:r>
            <a:r>
              <a:rPr lang="en-AU" sz="2400" b="0" i="0" dirty="0" smtClean="0">
                <a:solidFill>
                  <a:srgbClr val="444444"/>
                </a:solidFill>
                <a:effectLst/>
                <a:latin typeface="Arial" panose="020B0604020202020204" pitchFamily="34" charset="0"/>
              </a:rPr>
              <a:t> resistance.</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A </a:t>
            </a:r>
            <a:r>
              <a:rPr lang="en-AU" sz="2400" b="1" i="0" dirty="0" smtClean="0">
                <a:solidFill>
                  <a:srgbClr val="F30277"/>
                </a:solidFill>
                <a:effectLst/>
                <a:latin typeface="Arial" panose="020B0604020202020204" pitchFamily="34" charset="0"/>
              </a:rPr>
              <a:t>potentiometer</a:t>
            </a:r>
            <a:r>
              <a:rPr lang="en-AU" sz="2400" b="0" i="0" dirty="0" smtClean="0">
                <a:solidFill>
                  <a:srgbClr val="444444"/>
                </a:solidFill>
                <a:effectLst/>
                <a:latin typeface="Arial" panose="020B0604020202020204" pitchFamily="34" charset="0"/>
              </a:rPr>
              <a:t> is a common form of </a:t>
            </a:r>
            <a:r>
              <a:rPr lang="en-AU" sz="2400" b="1" i="0" dirty="0" smtClean="0">
                <a:solidFill>
                  <a:srgbClr val="F30277"/>
                </a:solidFill>
                <a:effectLst/>
                <a:latin typeface="Arial" panose="020B0604020202020204" pitchFamily="34" charset="0"/>
              </a:rPr>
              <a:t>variable resistor,</a:t>
            </a:r>
            <a:r>
              <a:rPr lang="en-AU" sz="2400" b="0" i="0" dirty="0" smtClean="0">
                <a:solidFill>
                  <a:srgbClr val="444444"/>
                </a:solidFill>
                <a:effectLst/>
                <a:latin typeface="Arial" panose="020B0604020202020204" pitchFamily="34" charset="0"/>
              </a:rPr>
              <a:t> which can </a:t>
            </a:r>
            <a:r>
              <a:rPr lang="en-AU" sz="2400" b="1" i="0" dirty="0" smtClean="0">
                <a:solidFill>
                  <a:srgbClr val="444444"/>
                </a:solidFill>
                <a:effectLst/>
                <a:latin typeface="Arial" panose="020B0604020202020204" pitchFamily="34" charset="0"/>
              </a:rPr>
              <a:t>change</a:t>
            </a:r>
            <a:r>
              <a:rPr lang="en-AU" sz="2400" b="0" i="0" dirty="0" smtClean="0">
                <a:solidFill>
                  <a:srgbClr val="444444"/>
                </a:solidFill>
                <a:effectLst/>
                <a:latin typeface="Arial" panose="020B0604020202020204" pitchFamily="34" charset="0"/>
              </a:rPr>
              <a:t> its resistance. It contains an </a:t>
            </a:r>
            <a:r>
              <a:rPr lang="en-AU" sz="2400" b="1" i="0" dirty="0" smtClean="0">
                <a:solidFill>
                  <a:srgbClr val="444444"/>
                </a:solidFill>
                <a:effectLst/>
                <a:latin typeface="Arial" panose="020B0604020202020204" pitchFamily="34" charset="0"/>
              </a:rPr>
              <a:t>adjustable contact</a:t>
            </a:r>
            <a:r>
              <a:rPr lang="en-AU" sz="2400" b="0" i="0" dirty="0" smtClean="0">
                <a:solidFill>
                  <a:srgbClr val="444444"/>
                </a:solidFill>
                <a:effectLst/>
                <a:latin typeface="Arial" panose="020B0604020202020204" pitchFamily="34" charset="0"/>
              </a:rPr>
              <a:t> that can be rotated with a cylindrical dial. The contact itself is a metal pin which is moved inside an arc-shaped track made of </a:t>
            </a:r>
            <a:r>
              <a:rPr lang="en-AU" sz="2400" b="1" i="0" dirty="0" smtClean="0">
                <a:solidFill>
                  <a:srgbClr val="444444"/>
                </a:solidFill>
                <a:effectLst/>
                <a:latin typeface="Arial" panose="020B0604020202020204" pitchFamily="34" charset="0"/>
              </a:rPr>
              <a:t>graphite</a:t>
            </a:r>
            <a:r>
              <a:rPr lang="en-AU" sz="2400" b="0" i="0" dirty="0" smtClean="0">
                <a:solidFill>
                  <a:srgbClr val="444444"/>
                </a:solidFill>
                <a:effectLst/>
                <a:latin typeface="Arial" panose="020B0604020202020204" pitchFamily="34" charset="0"/>
              </a:rPr>
              <a:t>. Really, it's just a </a:t>
            </a:r>
            <a:r>
              <a:rPr lang="en-AU" sz="2400" b="1" i="0" dirty="0" smtClean="0">
                <a:solidFill>
                  <a:srgbClr val="444444"/>
                </a:solidFill>
                <a:effectLst/>
                <a:latin typeface="Arial" panose="020B0604020202020204" pitchFamily="34" charset="0"/>
              </a:rPr>
              <a:t>voltage divider</a:t>
            </a:r>
            <a:r>
              <a:rPr lang="en-AU" sz="2400" b="0" i="0" dirty="0" smtClean="0">
                <a:solidFill>
                  <a:srgbClr val="444444"/>
                </a:solidFill>
                <a:effectLst/>
                <a:latin typeface="Arial" panose="020B0604020202020204" pitchFamily="34" charset="0"/>
              </a:rPr>
              <a:t> that you can tune.</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Potentiometers are used in </a:t>
            </a:r>
            <a:r>
              <a:rPr lang="en-AU" sz="2400" b="1" i="0" dirty="0" smtClean="0">
                <a:solidFill>
                  <a:srgbClr val="444444"/>
                </a:solidFill>
                <a:effectLst/>
                <a:latin typeface="Arial" panose="020B0604020202020204" pitchFamily="34" charset="0"/>
              </a:rPr>
              <a:t>audio equipment</a:t>
            </a:r>
            <a:r>
              <a:rPr lang="en-AU" sz="2400" b="0" i="0" dirty="0" smtClean="0">
                <a:solidFill>
                  <a:srgbClr val="444444"/>
                </a:solidFill>
                <a:effectLst/>
                <a:latin typeface="Arial" panose="020B0604020202020204" pitchFamily="34" charset="0"/>
              </a:rPr>
              <a:t> and other circuits where tuning is required.</a:t>
            </a:r>
            <a:endParaRPr lang="en-AU" sz="2400"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3059112" y="4154984"/>
            <a:ext cx="6021388" cy="2746372"/>
          </a:xfrm>
          <a:prstGeom prst="rect">
            <a:avLst/>
          </a:prstGeom>
        </p:spPr>
      </p:pic>
    </p:spTree>
    <p:extLst>
      <p:ext uri="{BB962C8B-B14F-4D97-AF65-F5344CB8AC3E}">
        <p14:creationId xmlns:p14="http://schemas.microsoft.com/office/powerpoint/2010/main" val="3902685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6600" y="108635"/>
            <a:ext cx="10414000" cy="830997"/>
          </a:xfrm>
          <a:prstGeom prst="rect">
            <a:avLst/>
          </a:prstGeom>
        </p:spPr>
        <p:txBody>
          <a:bodyPr wrap="square">
            <a:spAutoFit/>
          </a:bodyPr>
          <a:lstStyle/>
          <a:p>
            <a:pPr algn="ctr"/>
            <a:r>
              <a:rPr lang="en-AU" sz="2400" b="1" i="0" smtClean="0">
                <a:solidFill>
                  <a:srgbClr val="444444"/>
                </a:solidFill>
                <a:effectLst/>
                <a:latin typeface="Arial" panose="020B0604020202020204" pitchFamily="34" charset="0"/>
              </a:rPr>
              <a:t>You may have other types of </a:t>
            </a:r>
            <a:r>
              <a:rPr lang="en-AU" sz="2400" b="1" i="0" smtClean="0">
                <a:solidFill>
                  <a:srgbClr val="F30277"/>
                </a:solidFill>
                <a:effectLst/>
                <a:latin typeface="Arial" panose="020B0604020202020204" pitchFamily="34" charset="0"/>
              </a:rPr>
              <a:t>variable resistor</a:t>
            </a:r>
            <a:r>
              <a:rPr lang="en-AU" sz="2400" b="1" i="0" smtClean="0">
                <a:solidFill>
                  <a:srgbClr val="444444"/>
                </a:solidFill>
                <a:effectLst/>
                <a:latin typeface="Arial" panose="020B0604020202020204" pitchFamily="34" charset="0"/>
              </a:rPr>
              <a:t> in the lab, or may even build your own.</a:t>
            </a:r>
            <a:endParaRPr lang="en-AU" sz="2400" b="1" i="0">
              <a:solidFill>
                <a:srgbClr val="444444"/>
              </a:solidFill>
              <a:effectLst/>
              <a:latin typeface="Arial" panose="020B0604020202020204" pitchFamily="34" charset="0"/>
            </a:endParaRPr>
          </a:p>
        </p:txBody>
      </p:sp>
      <p:pic>
        <p:nvPicPr>
          <p:cNvPr id="6146" name="Picture 2" descr="https://www.educationperfect.com/media/content/Science/1541117693.608551g/1541117691987-422247705132789-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8775" y="1438275"/>
            <a:ext cx="3800475" cy="3076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1710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5300" y="247640"/>
            <a:ext cx="11379200" cy="3416320"/>
          </a:xfrm>
          <a:prstGeom prst="rect">
            <a:avLst/>
          </a:prstGeom>
        </p:spPr>
        <p:txBody>
          <a:bodyPr wrap="square">
            <a:spAutoFit/>
          </a:bodyPr>
          <a:lstStyle/>
          <a:p>
            <a:pPr algn="ctr"/>
            <a:r>
              <a:rPr lang="en-AU" sz="2400" b="1" i="0" dirty="0" smtClean="0">
                <a:solidFill>
                  <a:srgbClr val="F30277"/>
                </a:solidFill>
                <a:effectLst/>
                <a:latin typeface="Arial" panose="020B0604020202020204" pitchFamily="34" charset="0"/>
              </a:rPr>
              <a:t>Light-dependent resistor.</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A </a:t>
            </a:r>
            <a:r>
              <a:rPr lang="en-AU" sz="2400" b="1" i="0" dirty="0" smtClean="0">
                <a:solidFill>
                  <a:srgbClr val="F30277"/>
                </a:solidFill>
                <a:effectLst/>
                <a:latin typeface="Arial" panose="020B0604020202020204" pitchFamily="34" charset="0"/>
              </a:rPr>
              <a:t>light-dependent resistor (LDR)</a:t>
            </a:r>
            <a:r>
              <a:rPr lang="en-AU" sz="2400" b="0" i="0" dirty="0" smtClean="0">
                <a:solidFill>
                  <a:srgbClr val="444444"/>
                </a:solidFill>
                <a:effectLst/>
                <a:latin typeface="Arial" panose="020B0604020202020204" pitchFamily="34" charset="0"/>
              </a:rPr>
              <a:t> is not controlled by a sliding contact. Instead, it is sensitive to changes in </a:t>
            </a:r>
            <a:r>
              <a:rPr lang="en-AU" sz="2400" b="1" i="0" dirty="0" smtClean="0">
                <a:solidFill>
                  <a:srgbClr val="444444"/>
                </a:solidFill>
                <a:effectLst/>
                <a:latin typeface="Arial" panose="020B0604020202020204" pitchFamily="34" charset="0"/>
              </a:rPr>
              <a:t>light intensity</a:t>
            </a:r>
            <a:r>
              <a:rPr lang="en-AU" sz="2400" b="0" i="0" dirty="0" smtClean="0">
                <a:solidFill>
                  <a:srgbClr val="444444"/>
                </a:solidFill>
                <a:effectLst/>
                <a:latin typeface="Arial" panose="020B0604020202020204" pitchFamily="34" charset="0"/>
              </a:rPr>
              <a:t>.</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The LDR contains a combination of </a:t>
            </a:r>
            <a:r>
              <a:rPr lang="en-AU" sz="2400" b="1" i="0" dirty="0" smtClean="0">
                <a:solidFill>
                  <a:srgbClr val="444444"/>
                </a:solidFill>
                <a:effectLst/>
                <a:latin typeface="Arial" panose="020B0604020202020204" pitchFamily="34" charset="0"/>
              </a:rPr>
              <a:t>cadmium </a:t>
            </a:r>
            <a:r>
              <a:rPr lang="en-AU" sz="2400" b="1" i="0" dirty="0" err="1" smtClean="0">
                <a:solidFill>
                  <a:srgbClr val="444444"/>
                </a:solidFill>
                <a:effectLst/>
                <a:latin typeface="Arial" panose="020B0604020202020204" pitchFamily="34" charset="0"/>
              </a:rPr>
              <a:t>sulfide</a:t>
            </a:r>
            <a:r>
              <a:rPr lang="en-AU" sz="2400" b="0" i="0" dirty="0" smtClean="0">
                <a:solidFill>
                  <a:srgbClr val="444444"/>
                </a:solidFill>
                <a:effectLst/>
                <a:latin typeface="Arial" panose="020B0604020202020204" pitchFamily="34" charset="0"/>
              </a:rPr>
              <a:t> (</a:t>
            </a:r>
            <a:r>
              <a:rPr lang="en-AU" sz="2400" b="1" i="0" dirty="0" err="1" smtClean="0">
                <a:solidFill>
                  <a:srgbClr val="444444"/>
                </a:solidFill>
                <a:effectLst/>
                <a:latin typeface="KaTeX_Main"/>
              </a:rPr>
              <a:t>CdS</a:t>
            </a:r>
            <a:r>
              <a:rPr lang="en-AU" sz="2400" b="0" i="0" dirty="0" smtClean="0">
                <a:solidFill>
                  <a:srgbClr val="444444"/>
                </a:solidFill>
                <a:effectLst/>
                <a:latin typeface="Arial" panose="020B0604020202020204" pitchFamily="34" charset="0"/>
              </a:rPr>
              <a:t>) and </a:t>
            </a:r>
            <a:r>
              <a:rPr lang="en-AU" sz="2400" b="1" i="0" dirty="0" smtClean="0">
                <a:solidFill>
                  <a:srgbClr val="444444"/>
                </a:solidFill>
                <a:effectLst/>
                <a:latin typeface="Arial" panose="020B0604020202020204" pitchFamily="34" charset="0"/>
              </a:rPr>
              <a:t>cadmium selenide</a:t>
            </a:r>
            <a:r>
              <a:rPr lang="en-AU" sz="2400" b="0" i="0" dirty="0" smtClean="0">
                <a:solidFill>
                  <a:srgbClr val="444444"/>
                </a:solidFill>
                <a:effectLst/>
                <a:latin typeface="Arial" panose="020B0604020202020204" pitchFamily="34" charset="0"/>
              </a:rPr>
              <a:t> (</a:t>
            </a:r>
            <a:r>
              <a:rPr lang="en-AU" sz="2400" b="1" i="0" dirty="0" err="1" smtClean="0">
                <a:solidFill>
                  <a:srgbClr val="444444"/>
                </a:solidFill>
                <a:effectLst/>
                <a:latin typeface="KaTeX_Main"/>
              </a:rPr>
              <a:t>CdSe</a:t>
            </a:r>
            <a:r>
              <a:rPr lang="en-AU" sz="2400" b="0" i="0" dirty="0" smtClean="0">
                <a:solidFill>
                  <a:srgbClr val="444444"/>
                </a:solidFill>
                <a:effectLst/>
                <a:latin typeface="Arial" panose="020B0604020202020204" pitchFamily="34" charset="0"/>
              </a:rPr>
              <a:t>), which </a:t>
            </a:r>
            <a:r>
              <a:rPr lang="en-AU" sz="2400" b="1" i="0" dirty="0" smtClean="0">
                <a:solidFill>
                  <a:srgbClr val="444444"/>
                </a:solidFill>
                <a:effectLst/>
                <a:latin typeface="Arial" panose="020B0604020202020204" pitchFamily="34" charset="0"/>
              </a:rPr>
              <a:t>decrease</a:t>
            </a:r>
            <a:r>
              <a:rPr lang="en-AU" sz="2400" b="0" i="0" dirty="0" smtClean="0">
                <a:solidFill>
                  <a:srgbClr val="444444"/>
                </a:solidFill>
                <a:effectLst/>
                <a:latin typeface="Arial" panose="020B0604020202020204" pitchFamily="34" charset="0"/>
              </a:rPr>
              <a:t> the component's resistance when </a:t>
            </a:r>
            <a:r>
              <a:rPr lang="en-AU" sz="2400" b="1" i="0" dirty="0" smtClean="0">
                <a:solidFill>
                  <a:srgbClr val="444444"/>
                </a:solidFill>
                <a:effectLst/>
                <a:latin typeface="Arial" panose="020B0604020202020204" pitchFamily="34" charset="0"/>
              </a:rPr>
              <a:t>light intensity </a:t>
            </a:r>
            <a:r>
              <a:rPr lang="en-AU" sz="2400" b="1" i="0" dirty="0" smtClean="0">
                <a:solidFill>
                  <a:srgbClr val="0066CC"/>
                </a:solidFill>
                <a:effectLst/>
                <a:latin typeface="Arial" panose="020B0604020202020204" pitchFamily="34" charset="0"/>
              </a:rPr>
              <a:t>increases.</a:t>
            </a:r>
            <a:r>
              <a:rPr lang="en-AU" sz="2400" b="0" i="0" dirty="0" smtClean="0">
                <a:solidFill>
                  <a:srgbClr val="444444"/>
                </a:solidFill>
                <a:effectLst/>
                <a:latin typeface="Arial" panose="020B0604020202020204" pitchFamily="34" charset="0"/>
              </a:rPr>
              <a:t> In other words, exposing an LDR to bright light will dramatically improve its ability to conduct electricity.</a:t>
            </a:r>
            <a:endParaRPr lang="en-AU" sz="2400"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2506662" y="3663960"/>
            <a:ext cx="7081838" cy="2938062"/>
          </a:xfrm>
          <a:prstGeom prst="rect">
            <a:avLst/>
          </a:prstGeom>
        </p:spPr>
      </p:pic>
    </p:spTree>
    <p:extLst>
      <p:ext uri="{BB962C8B-B14F-4D97-AF65-F5344CB8AC3E}">
        <p14:creationId xmlns:p14="http://schemas.microsoft.com/office/powerpoint/2010/main" val="3415265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8300" y="418237"/>
            <a:ext cx="11430000" cy="1569660"/>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The last type of variable resistor we'll look at is called a </a:t>
            </a:r>
            <a:r>
              <a:rPr lang="en-AU" sz="2400" b="1" i="0" dirty="0" smtClean="0">
                <a:solidFill>
                  <a:srgbClr val="F30277"/>
                </a:solidFill>
                <a:effectLst/>
                <a:latin typeface="Arial" panose="020B0604020202020204" pitchFamily="34" charset="0"/>
              </a:rPr>
              <a:t>thermistor.</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Its </a:t>
            </a:r>
            <a:r>
              <a:rPr lang="en-AU" sz="2400" b="1" i="0" dirty="0" smtClean="0">
                <a:solidFill>
                  <a:srgbClr val="444444"/>
                </a:solidFill>
                <a:effectLst/>
                <a:latin typeface="Arial" panose="020B0604020202020204" pitchFamily="34" charset="0"/>
              </a:rPr>
              <a:t>resistance</a:t>
            </a:r>
            <a:r>
              <a:rPr lang="en-AU" sz="2400" b="0" i="0" dirty="0" smtClean="0">
                <a:solidFill>
                  <a:srgbClr val="444444"/>
                </a:solidFill>
                <a:effectLst/>
                <a:latin typeface="Arial" panose="020B0604020202020204" pitchFamily="34" charset="0"/>
              </a:rPr>
              <a:t> changes in response to a </a:t>
            </a:r>
            <a:r>
              <a:rPr lang="en-AU" sz="2400" b="1" i="0" dirty="0" smtClean="0">
                <a:solidFill>
                  <a:srgbClr val="444444"/>
                </a:solidFill>
                <a:effectLst/>
                <a:latin typeface="Arial" panose="020B0604020202020204" pitchFamily="34" charset="0"/>
              </a:rPr>
              <a:t>change in </a:t>
            </a:r>
            <a:r>
              <a:rPr lang="en-AU" sz="2400" b="1" i="0" u="sng" dirty="0" smtClean="0">
                <a:solidFill>
                  <a:srgbClr val="444444"/>
                </a:solidFill>
                <a:effectLst/>
                <a:latin typeface="Arial" panose="020B0604020202020204" pitchFamily="34" charset="0"/>
              </a:rPr>
              <a:t>temperature</a:t>
            </a:r>
            <a:r>
              <a:rPr lang="en-AU" sz="2400" b="0" i="0" dirty="0" smtClean="0">
                <a:solidFill>
                  <a:srgbClr val="444444"/>
                </a:solidFill>
                <a:effectLst/>
                <a:latin typeface="Arial" panose="020B0604020202020204" pitchFamily="34" charset="0"/>
              </a:rPr>
              <a:t> - depending on how it's made, the resistance will either increase or decrease.</a:t>
            </a:r>
            <a:endParaRPr lang="en-AU" sz="2400" b="0" i="0" dirty="0">
              <a:solidFill>
                <a:srgbClr val="444444"/>
              </a:solidFill>
              <a:effectLst/>
              <a:latin typeface="Arial" panose="020B0604020202020204" pitchFamily="34" charset="0"/>
            </a:endParaRPr>
          </a:p>
        </p:txBody>
      </p:sp>
      <p:pic>
        <p:nvPicPr>
          <p:cNvPr id="7170" name="Picture 2" descr="https://www.educationperfect.com/media/content/Science/1442960431.768531g/1442960439873-3060055138909228-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1075" y="2627312"/>
            <a:ext cx="3800475" cy="2095501"/>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s://www.educationperfect.com/media/content/Science/1442882625.614721g/1442882625032-1927357740627024-optimis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4975" y="5362228"/>
            <a:ext cx="2809875" cy="10858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p:cNvGraphicFramePr>
            <a:graphicFrameLocks noGrp="1"/>
          </p:cNvGraphicFramePr>
          <p:nvPr>
            <p:extLst>
              <p:ext uri="{D42A27DB-BD31-4B8C-83A1-F6EECF244321}">
                <p14:modId xmlns:p14="http://schemas.microsoft.com/office/powerpoint/2010/main" val="2121746796"/>
              </p:ext>
            </p:extLst>
          </p:nvPr>
        </p:nvGraphicFramePr>
        <p:xfrm>
          <a:off x="955675" y="2627312"/>
          <a:ext cx="6375400" cy="1943100"/>
        </p:xfrm>
        <a:graphic>
          <a:graphicData uri="http://schemas.openxmlformats.org/drawingml/2006/table">
            <a:tbl>
              <a:tblPr/>
              <a:tblGrid>
                <a:gridCol w="6375400">
                  <a:extLst>
                    <a:ext uri="{9D8B030D-6E8A-4147-A177-3AD203B41FA5}">
                      <a16:colId xmlns:a16="http://schemas.microsoft.com/office/drawing/2014/main" val="3957728069"/>
                    </a:ext>
                  </a:extLst>
                </a:gridCol>
              </a:tblGrid>
              <a:tr h="0">
                <a:tc>
                  <a:txBody>
                    <a:bodyPr/>
                    <a:lstStyle/>
                    <a:p>
                      <a:pPr algn="l" fontAlgn="ctr"/>
                      <a:r>
                        <a:rPr lang="en-AU" sz="2400" b="0" dirty="0">
                          <a:solidFill>
                            <a:srgbClr val="F30277"/>
                          </a:solidFill>
                          <a:effectLst/>
                        </a:rPr>
                        <a:t>Thermistors</a:t>
                      </a:r>
                      <a:r>
                        <a:rPr lang="en-AU" sz="2400" b="0" dirty="0">
                          <a:effectLst/>
                        </a:rPr>
                        <a:t> are used in many devices where temperature must be measured or regulated. The most obvious examples are in digital thermometers, and in control circuits of heaters and air conditioners.</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430890187"/>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740789042"/>
              </p:ext>
            </p:extLst>
          </p:nvPr>
        </p:nvGraphicFramePr>
        <p:xfrm>
          <a:off x="3111500" y="5602258"/>
          <a:ext cx="4572000" cy="845820"/>
        </p:xfrm>
        <a:graphic>
          <a:graphicData uri="http://schemas.openxmlformats.org/drawingml/2006/table">
            <a:tbl>
              <a:tblPr/>
              <a:tblGrid>
                <a:gridCol w="4572000">
                  <a:extLst>
                    <a:ext uri="{9D8B030D-6E8A-4147-A177-3AD203B41FA5}">
                      <a16:colId xmlns:a16="http://schemas.microsoft.com/office/drawing/2014/main" val="3465873806"/>
                    </a:ext>
                  </a:extLst>
                </a:gridCol>
              </a:tblGrid>
              <a:tr h="0">
                <a:tc>
                  <a:txBody>
                    <a:bodyPr/>
                    <a:lstStyle/>
                    <a:p>
                      <a:pPr algn="l" fontAlgn="ctr"/>
                      <a:r>
                        <a:rPr lang="en-AU" sz="2400" dirty="0">
                          <a:effectLst/>
                        </a:rPr>
                        <a:t>Here is the circuit symbol for a thermistor:</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4281250373"/>
                  </a:ext>
                </a:extLst>
              </a:tr>
            </a:tbl>
          </a:graphicData>
        </a:graphic>
      </p:graphicFrame>
    </p:spTree>
    <p:extLst>
      <p:ext uri="{BB962C8B-B14F-4D97-AF65-F5344CB8AC3E}">
        <p14:creationId xmlns:p14="http://schemas.microsoft.com/office/powerpoint/2010/main" val="2246578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60450" y="479424"/>
            <a:ext cx="9531350" cy="5949307"/>
          </a:xfrm>
          <a:prstGeom prst="rect">
            <a:avLst/>
          </a:prstGeom>
        </p:spPr>
      </p:pic>
    </p:spTree>
    <p:extLst>
      <p:ext uri="{BB962C8B-B14F-4D97-AF65-F5344CB8AC3E}">
        <p14:creationId xmlns:p14="http://schemas.microsoft.com/office/powerpoint/2010/main" val="3973870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97012" y="111125"/>
            <a:ext cx="9221788" cy="6202506"/>
          </a:xfrm>
          <a:prstGeom prst="rect">
            <a:avLst/>
          </a:prstGeom>
        </p:spPr>
      </p:pic>
    </p:spTree>
    <p:extLst>
      <p:ext uri="{BB962C8B-B14F-4D97-AF65-F5344CB8AC3E}">
        <p14:creationId xmlns:p14="http://schemas.microsoft.com/office/powerpoint/2010/main" val="2222982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07987" y="452437"/>
            <a:ext cx="11596090" cy="5707063"/>
          </a:xfrm>
          <a:prstGeom prst="rect">
            <a:avLst/>
          </a:prstGeom>
        </p:spPr>
      </p:pic>
    </p:spTree>
    <p:extLst>
      <p:ext uri="{BB962C8B-B14F-4D97-AF65-F5344CB8AC3E}">
        <p14:creationId xmlns:p14="http://schemas.microsoft.com/office/powerpoint/2010/main" val="466368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35741"/>
            <a:ext cx="11506200" cy="3785652"/>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As in all of Physics, one of the key ideas in circuits is the concept of </a:t>
            </a:r>
            <a:r>
              <a:rPr lang="en-AU" sz="2400" b="1" i="0" dirty="0" smtClean="0">
                <a:solidFill>
                  <a:srgbClr val="F30277"/>
                </a:solidFill>
                <a:effectLst/>
                <a:latin typeface="Arial" panose="020B0604020202020204" pitchFamily="34" charset="0"/>
              </a:rPr>
              <a:t>energy.</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We cannot see energy directly, but we can observe what happens when it's converted from one form to another. A battery contains chemical potential energy that is slowly converted to electrical energy, which then powers our circuits.</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An </a:t>
            </a:r>
            <a:r>
              <a:rPr lang="en-AU" sz="2400" b="1" i="0" dirty="0" smtClean="0">
                <a:solidFill>
                  <a:srgbClr val="444444"/>
                </a:solidFill>
                <a:effectLst/>
                <a:latin typeface="Arial" panose="020B0604020202020204" pitchFamily="34" charset="0"/>
              </a:rPr>
              <a:t>input </a:t>
            </a:r>
            <a:r>
              <a:rPr lang="en-AU" sz="2400" b="1" i="0" dirty="0" smtClean="0">
                <a:solidFill>
                  <a:srgbClr val="571A98"/>
                </a:solidFill>
                <a:effectLst/>
                <a:latin typeface="Arial" panose="020B0604020202020204" pitchFamily="34" charset="0"/>
              </a:rPr>
              <a:t>transducer</a:t>
            </a:r>
            <a:r>
              <a:rPr lang="en-AU" sz="2400" b="0" i="0" dirty="0" smtClean="0">
                <a:solidFill>
                  <a:srgbClr val="444444"/>
                </a:solidFill>
                <a:effectLst/>
                <a:latin typeface="Arial" panose="020B0604020202020204" pitchFamily="34" charset="0"/>
              </a:rPr>
              <a:t> is a device that produces electricity from some other form of energy. A </a:t>
            </a:r>
            <a:r>
              <a:rPr lang="en-AU" sz="2400" b="1" i="0" dirty="0" smtClean="0">
                <a:solidFill>
                  <a:srgbClr val="444444"/>
                </a:solidFill>
                <a:effectLst/>
                <a:latin typeface="Arial" panose="020B0604020202020204" pitchFamily="34" charset="0"/>
              </a:rPr>
              <a:t>microphone</a:t>
            </a:r>
            <a:r>
              <a:rPr lang="en-AU" sz="2400" b="0" i="0" dirty="0" smtClean="0">
                <a:solidFill>
                  <a:srgbClr val="444444"/>
                </a:solidFill>
                <a:effectLst/>
                <a:latin typeface="Arial" panose="020B0604020202020204" pitchFamily="34" charset="0"/>
              </a:rPr>
              <a:t> is a good example of this. When you speak into a microphone, it receives </a:t>
            </a:r>
            <a:r>
              <a:rPr lang="en-AU" sz="2400" b="1" i="0" dirty="0" smtClean="0">
                <a:solidFill>
                  <a:srgbClr val="444444"/>
                </a:solidFill>
                <a:effectLst/>
                <a:latin typeface="Arial" panose="020B0604020202020204" pitchFamily="34" charset="0"/>
              </a:rPr>
              <a:t>sound energy</a:t>
            </a:r>
            <a:r>
              <a:rPr lang="en-AU" sz="2400" b="0" i="0" dirty="0" smtClean="0">
                <a:solidFill>
                  <a:srgbClr val="444444"/>
                </a:solidFill>
                <a:effectLst/>
                <a:latin typeface="Arial" panose="020B0604020202020204" pitchFamily="34" charset="0"/>
              </a:rPr>
              <a:t> from you and transforms it into </a:t>
            </a:r>
            <a:r>
              <a:rPr lang="en-AU" sz="2400" b="1" i="0" dirty="0" smtClean="0">
                <a:solidFill>
                  <a:srgbClr val="444444"/>
                </a:solidFill>
                <a:effectLst/>
                <a:latin typeface="Arial" panose="020B0604020202020204" pitchFamily="34" charset="0"/>
              </a:rPr>
              <a:t>electrical signals</a:t>
            </a:r>
            <a:r>
              <a:rPr lang="en-AU" sz="2400" b="0" i="0" dirty="0" smtClean="0">
                <a:solidFill>
                  <a:srgbClr val="444444"/>
                </a:solidFill>
                <a:effectLst/>
                <a:latin typeface="Arial" panose="020B0604020202020204" pitchFamily="34" charset="0"/>
              </a:rPr>
              <a:t>.</a:t>
            </a:r>
            <a:endParaRPr lang="en-AU" sz="2400" b="0" i="0" dirty="0">
              <a:solidFill>
                <a:srgbClr val="444444"/>
              </a:solidFill>
              <a:effectLst/>
              <a:latin typeface="Arial" panose="020B0604020202020204" pitchFamily="34" charset="0"/>
            </a:endParaRPr>
          </a:p>
        </p:txBody>
      </p:sp>
      <p:pic>
        <p:nvPicPr>
          <p:cNvPr id="8194" name="Picture 2" descr="https://www.educationperfect.com/media/content/Science/1442959840.897831g/1442959847311-3060055138909228-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3862" y="4686300"/>
            <a:ext cx="3800475" cy="1724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6451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262235"/>
            <a:ext cx="11277600" cy="830997"/>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An </a:t>
            </a:r>
            <a:r>
              <a:rPr lang="en-AU" sz="2400" b="1" i="0" dirty="0" smtClean="0">
                <a:solidFill>
                  <a:srgbClr val="571A98"/>
                </a:solidFill>
                <a:effectLst/>
                <a:latin typeface="Arial" panose="020B0604020202020204" pitchFamily="34" charset="0"/>
              </a:rPr>
              <a:t>output transducer</a:t>
            </a:r>
            <a:r>
              <a:rPr lang="en-AU" sz="2400" b="1" i="0" dirty="0" smtClean="0">
                <a:solidFill>
                  <a:srgbClr val="444444"/>
                </a:solidFill>
                <a:effectLst/>
                <a:latin typeface="Arial" panose="020B0604020202020204" pitchFamily="34" charset="0"/>
              </a:rPr>
              <a:t> does the opposite - it takes electrical energy from a circuit and converts it into something else.</a:t>
            </a:r>
            <a:endParaRPr lang="en-AU" sz="2400" b="1" i="0" dirty="0">
              <a:solidFill>
                <a:srgbClr val="444444"/>
              </a:solidFill>
              <a:effectLst/>
              <a:latin typeface="Arial" panose="020B0604020202020204" pitchFamily="34" charset="0"/>
            </a:endParaRPr>
          </a:p>
        </p:txBody>
      </p:sp>
      <p:pic>
        <p:nvPicPr>
          <p:cNvPr id="9218" name="Picture 2" descr="https://www.educationperfect.com/Images/Content/Maths/1367884852141-6096819-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275" y="1093232"/>
            <a:ext cx="3810000" cy="28575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p:cNvGraphicFramePr>
            <a:graphicFrameLocks noGrp="1"/>
          </p:cNvGraphicFramePr>
          <p:nvPr>
            <p:extLst>
              <p:ext uri="{D42A27DB-BD31-4B8C-83A1-F6EECF244321}">
                <p14:modId xmlns:p14="http://schemas.microsoft.com/office/powerpoint/2010/main" val="4275792440"/>
              </p:ext>
            </p:extLst>
          </p:nvPr>
        </p:nvGraphicFramePr>
        <p:xfrm>
          <a:off x="4105274" y="1001792"/>
          <a:ext cx="7400925" cy="1943100"/>
        </p:xfrm>
        <a:graphic>
          <a:graphicData uri="http://schemas.openxmlformats.org/drawingml/2006/table">
            <a:tbl>
              <a:tblPr/>
              <a:tblGrid>
                <a:gridCol w="7400925">
                  <a:extLst>
                    <a:ext uri="{9D8B030D-6E8A-4147-A177-3AD203B41FA5}">
                      <a16:colId xmlns:a16="http://schemas.microsoft.com/office/drawing/2014/main" val="666467462"/>
                    </a:ext>
                  </a:extLst>
                </a:gridCol>
              </a:tblGrid>
              <a:tr h="0">
                <a:tc>
                  <a:txBody>
                    <a:bodyPr/>
                    <a:lstStyle/>
                    <a:p>
                      <a:pPr algn="l" fontAlgn="ctr"/>
                      <a:r>
                        <a:rPr lang="en-AU" sz="2400" dirty="0">
                          <a:effectLst/>
                        </a:rPr>
                        <a:t/>
                      </a:r>
                      <a:br>
                        <a:rPr lang="en-AU" sz="2400" dirty="0">
                          <a:effectLst/>
                        </a:rPr>
                      </a:br>
                      <a:r>
                        <a:rPr lang="en-AU" sz="2400" dirty="0">
                          <a:effectLst/>
                        </a:rPr>
                        <a:t>For instance, a </a:t>
                      </a:r>
                      <a:r>
                        <a:rPr lang="en-AU" sz="2400" b="1" dirty="0">
                          <a:effectLst/>
                        </a:rPr>
                        <a:t>loudspeaker</a:t>
                      </a:r>
                      <a:r>
                        <a:rPr lang="en-AU" sz="2400" dirty="0">
                          <a:effectLst/>
                        </a:rPr>
                        <a:t> can receive electrical signals and convert them to </a:t>
                      </a:r>
                      <a:r>
                        <a:rPr lang="en-AU" sz="2400" b="1" dirty="0">
                          <a:effectLst/>
                        </a:rPr>
                        <a:t>sound</a:t>
                      </a:r>
                      <a:r>
                        <a:rPr lang="en-AU" sz="2400" dirty="0">
                          <a:effectLst/>
                        </a:rPr>
                        <a:t>. We won't worry much about </a:t>
                      </a:r>
                      <a:r>
                        <a:rPr lang="en-AU" sz="2400" i="1" dirty="0">
                          <a:effectLst/>
                        </a:rPr>
                        <a:t>how</a:t>
                      </a:r>
                      <a:r>
                        <a:rPr lang="en-AU" sz="2400" dirty="0">
                          <a:effectLst/>
                        </a:rPr>
                        <a:t> it does this. What's important is the </a:t>
                      </a:r>
                      <a:r>
                        <a:rPr lang="en-AU" sz="2400" b="1" dirty="0">
                          <a:effectLst/>
                        </a:rPr>
                        <a:t>transformation of </a:t>
                      </a:r>
                      <a:r>
                        <a:rPr lang="en-AU" sz="2400" b="1" dirty="0">
                          <a:solidFill>
                            <a:srgbClr val="F30277"/>
                          </a:solidFill>
                          <a:effectLst/>
                        </a:rPr>
                        <a:t>energy</a:t>
                      </a:r>
                      <a:r>
                        <a:rPr lang="en-AU" sz="2400" dirty="0">
                          <a:effectLst/>
                        </a:rPr>
                        <a:t> that takes place!</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3287025001"/>
                  </a:ext>
                </a:extLst>
              </a:tr>
            </a:tbl>
          </a:graphicData>
        </a:graphic>
      </p:graphicFrame>
      <p:sp>
        <p:nvSpPr>
          <p:cNvPr id="5" name="Rectangle 4"/>
          <p:cNvSpPr/>
          <p:nvPr/>
        </p:nvSpPr>
        <p:spPr>
          <a:xfrm>
            <a:off x="609600" y="4042172"/>
            <a:ext cx="6096000" cy="2308324"/>
          </a:xfrm>
          <a:prstGeom prst="rect">
            <a:avLst/>
          </a:prstGeom>
        </p:spPr>
        <p:txBody>
          <a:bodyPr>
            <a:spAutoFit/>
          </a:bodyPr>
          <a:lstStyle/>
          <a:p>
            <a:r>
              <a:rPr lang="en-AU" sz="2400" b="0" i="0" dirty="0" smtClean="0">
                <a:solidFill>
                  <a:srgbClr val="444444"/>
                </a:solidFill>
                <a:effectLst/>
                <a:latin typeface="Arial" panose="020B0604020202020204" pitchFamily="34" charset="0"/>
              </a:rPr>
              <a:t>Another common example is the </a:t>
            </a:r>
            <a:r>
              <a:rPr lang="en-AU" sz="2400" b="1" i="0" dirty="0" smtClean="0">
                <a:solidFill>
                  <a:srgbClr val="444444"/>
                </a:solidFill>
                <a:effectLst/>
                <a:latin typeface="Arial" panose="020B0604020202020204" pitchFamily="34" charset="0"/>
              </a:rPr>
              <a:t>electric </a:t>
            </a:r>
            <a:r>
              <a:rPr lang="en-AU" sz="2400" b="1" i="0" dirty="0" smtClean="0">
                <a:solidFill>
                  <a:srgbClr val="0066CC"/>
                </a:solidFill>
                <a:effectLst/>
                <a:latin typeface="Arial" panose="020B0604020202020204" pitchFamily="34" charset="0"/>
              </a:rPr>
              <a:t>motor.</a:t>
            </a:r>
            <a:r>
              <a:rPr lang="en-AU" sz="2400" b="0" i="0" dirty="0" smtClean="0">
                <a:solidFill>
                  <a:srgbClr val="444444"/>
                </a:solidFill>
                <a:effectLst/>
                <a:latin typeface="Arial" panose="020B0604020202020204" pitchFamily="34" charset="0"/>
              </a:rPr>
              <a:t> This device converts electrical energy into </a:t>
            </a:r>
            <a:r>
              <a:rPr lang="en-AU" sz="2400" b="1" i="0" dirty="0" smtClean="0">
                <a:solidFill>
                  <a:srgbClr val="444444"/>
                </a:solidFill>
                <a:effectLst/>
                <a:latin typeface="Arial" panose="020B0604020202020204" pitchFamily="34" charset="0"/>
              </a:rPr>
              <a:t>mechanical energy</a:t>
            </a:r>
            <a:r>
              <a:rPr lang="en-AU" sz="2400" b="0" i="0" dirty="0" smtClean="0">
                <a:solidFill>
                  <a:srgbClr val="444444"/>
                </a:solidFill>
                <a:effectLst/>
                <a:latin typeface="Arial" panose="020B0604020202020204" pitchFamily="34" charset="0"/>
              </a:rPr>
              <a:t>, which is used to produce </a:t>
            </a:r>
            <a:r>
              <a:rPr lang="en-AU" sz="2400" b="1" i="0" dirty="0" smtClean="0">
                <a:solidFill>
                  <a:srgbClr val="444444"/>
                </a:solidFill>
                <a:effectLst/>
                <a:latin typeface="Arial" panose="020B0604020202020204" pitchFamily="34" charset="0"/>
              </a:rPr>
              <a:t>motion</a:t>
            </a:r>
            <a:r>
              <a:rPr lang="en-AU" sz="2400" b="0" i="0" dirty="0" smtClean="0">
                <a:solidFill>
                  <a:srgbClr val="444444"/>
                </a:solidFill>
                <a:effectLst/>
                <a:latin typeface="Arial" panose="020B0604020202020204" pitchFamily="34" charset="0"/>
              </a:rPr>
              <a:t>. Motors like this are found in all sorts of vehicles, power tools and other machinery.</a:t>
            </a:r>
            <a:endParaRPr lang="en-AU" sz="2400" dirty="0"/>
          </a:p>
        </p:txBody>
      </p:sp>
      <p:pic>
        <p:nvPicPr>
          <p:cNvPr id="9220" name="Picture 4" descr="https://www.educationperfect.com/media/content/Science/1432168076.762691g/1432168076182-1871702289-20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85100" y="3463925"/>
            <a:ext cx="2797175" cy="2797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3145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04900" y="361188"/>
            <a:ext cx="10312400" cy="6496812"/>
          </a:xfrm>
          <a:prstGeom prst="rect">
            <a:avLst/>
          </a:prstGeom>
        </p:spPr>
      </p:pic>
    </p:spTree>
    <p:extLst>
      <p:ext uri="{BB962C8B-B14F-4D97-AF65-F5344CB8AC3E}">
        <p14:creationId xmlns:p14="http://schemas.microsoft.com/office/powerpoint/2010/main" val="165376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76250" y="393700"/>
            <a:ext cx="11511492" cy="4635500"/>
          </a:xfrm>
          <a:prstGeom prst="rect">
            <a:avLst/>
          </a:prstGeom>
        </p:spPr>
      </p:pic>
    </p:spTree>
    <p:extLst>
      <p:ext uri="{BB962C8B-B14F-4D97-AF65-F5344CB8AC3E}">
        <p14:creationId xmlns:p14="http://schemas.microsoft.com/office/powerpoint/2010/main" val="23862970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71500" y="417512"/>
            <a:ext cx="11327408" cy="4713288"/>
          </a:xfrm>
          <a:prstGeom prst="rect">
            <a:avLst/>
          </a:prstGeom>
        </p:spPr>
      </p:pic>
    </p:spTree>
    <p:extLst>
      <p:ext uri="{BB962C8B-B14F-4D97-AF65-F5344CB8AC3E}">
        <p14:creationId xmlns:p14="http://schemas.microsoft.com/office/powerpoint/2010/main" val="24717932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66762" y="471487"/>
            <a:ext cx="11086537" cy="5002213"/>
          </a:xfrm>
          <a:prstGeom prst="rect">
            <a:avLst/>
          </a:prstGeom>
        </p:spPr>
      </p:pic>
    </p:spTree>
    <p:extLst>
      <p:ext uri="{BB962C8B-B14F-4D97-AF65-F5344CB8AC3E}">
        <p14:creationId xmlns:p14="http://schemas.microsoft.com/office/powerpoint/2010/main" val="2619712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0512" y="379412"/>
            <a:ext cx="11726166" cy="5678488"/>
          </a:xfrm>
          <a:prstGeom prst="rect">
            <a:avLst/>
          </a:prstGeom>
        </p:spPr>
      </p:pic>
    </p:spTree>
    <p:extLst>
      <p:ext uri="{BB962C8B-B14F-4D97-AF65-F5344CB8AC3E}">
        <p14:creationId xmlns:p14="http://schemas.microsoft.com/office/powerpoint/2010/main" val="5428794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52474" y="354012"/>
            <a:ext cx="10579747" cy="5729288"/>
          </a:xfrm>
          <a:prstGeom prst="rect">
            <a:avLst/>
          </a:prstGeom>
        </p:spPr>
      </p:pic>
    </p:spTree>
    <p:extLst>
      <p:ext uri="{BB962C8B-B14F-4D97-AF65-F5344CB8AC3E}">
        <p14:creationId xmlns:p14="http://schemas.microsoft.com/office/powerpoint/2010/main" val="1189955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201</Words>
  <Application>Microsoft Office PowerPoint</Application>
  <PresentationFormat>Widescreen</PresentationFormat>
  <Paragraphs>48</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KaTeX_Main</vt:lpstr>
      <vt:lpstr>Office Theme</vt:lpstr>
      <vt:lpstr>Diodes, Variable Resistors and Transducers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Diodes, Variable Resistors and Transducers</dc:title>
  <dc:creator>Joseph D'cruz</dc:creator>
  <cp:lastModifiedBy>Joseph D'cruz</cp:lastModifiedBy>
  <cp:revision>2</cp:revision>
  <dcterms:created xsi:type="dcterms:W3CDTF">2020-07-15T06:34:10Z</dcterms:created>
  <dcterms:modified xsi:type="dcterms:W3CDTF">2021-04-02T13:14:32Z</dcterms:modified>
</cp:coreProperties>
</file>
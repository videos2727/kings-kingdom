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6"/>
    <p:sldId id="269" r:id="rId7"/>
    <p:sldId id="270" r:id="rId8"/>
    <p:sldId id="260" r:id="rId9"/>
    <p:sldId id="261" r:id="rId10"/>
    <p:sldId id="262" r:id="rId11"/>
    <p:sldId id="271" r:id="rId12"/>
    <p:sldId id="272" r:id="rId13"/>
    <p:sldId id="273" r:id="rId14"/>
    <p:sldId id="274" r:id="rId15"/>
    <p:sldId id="263" r:id="rId16"/>
    <p:sldId id="26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65" r:id="rId27"/>
    <p:sldId id="266" r:id="rId28"/>
    <p:sldId id="267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3073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4034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40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0134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8888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881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5069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424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889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35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558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C1BA-9A5D-4325-A813-41BD77F04208}" type="datetimeFigureOut">
              <a:rPr lang="en-AU" smtClean="0"/>
              <a:t>2/04/2021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E7FE6-589D-4B23-A0F9-ED48927D15E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7673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VC_liiGFfA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%C3%A9on_Charles_Th%C3%A9venin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Combination Circuits and Voltage Dividers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827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4500" y="559138"/>
            <a:ext cx="10680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this Smart Lesson you will learn to: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Recall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combination circuit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Identify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err="1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Thévenin's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 Theorem.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009900"/>
                </a:solidFill>
                <a:effectLst/>
                <a:latin typeface="Arial" panose="020B0604020202020204" pitchFamily="34" charset="0"/>
              </a:rPr>
              <a:t>Explain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use of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voltage dividers.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B81AE0"/>
                </a:solidFill>
                <a:effectLst/>
                <a:latin typeface="Arial" panose="020B0604020202020204" pitchFamily="34" charset="0"/>
              </a:rPr>
              <a:t>Solve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resistance calculations in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parallel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circuits.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43048896.542711g/1443048904825-2368766658068778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687" y="3127375"/>
            <a:ext cx="3362325" cy="3228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82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C_liiGFfA4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5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9141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Types of circuit.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all components are connected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circuit is described as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 circuit.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all components are connected 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circuit is described as a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 circuit.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components connected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circuit is described as a </a:t>
            </a:r>
            <a:r>
              <a:rPr lang="en-AU" sz="2400" b="1" i="0" dirty="0" smtClean="0">
                <a:solidFill>
                  <a:srgbClr val="00868B"/>
                </a:solidFill>
                <a:effectLst/>
                <a:latin typeface="Arial" panose="020B0604020202020204" pitchFamily="34" charset="0"/>
              </a:rPr>
              <a:t>combination circuit.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more components you have, the more connections there are between them, and the more complex the circuit becomes.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912" y="4210050"/>
            <a:ext cx="703897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41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24" y="122237"/>
            <a:ext cx="9261475" cy="644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143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4" y="257174"/>
            <a:ext cx="8918575" cy="6385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049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587" y="508000"/>
            <a:ext cx="11589673" cy="549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41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313035"/>
            <a:ext cx="11607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Every circuit, no matter how simple or complicated, needs a source of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power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push electrons around it.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04900" y="1513364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battery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very common example of a power source. It provides a "push" called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electromotive force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err="1" smtClean="0">
                <a:solidFill>
                  <a:srgbClr val="444444"/>
                </a:solidFill>
                <a:effectLst/>
                <a:latin typeface="KaTeX_Main"/>
              </a:rPr>
              <a:t>emf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). This is not really a force - it's a measure of </a:t>
            </a:r>
            <a:r>
              <a:rPr lang="en-AU" sz="2400" b="1" i="0" dirty="0" smtClean="0">
                <a:solidFill>
                  <a:srgbClr val="CC0000"/>
                </a:solidFill>
                <a:effectLst/>
                <a:latin typeface="Arial" panose="020B0604020202020204" pitchFamily="34" charset="0"/>
              </a:rPr>
              <a:t>potential difference.</a:t>
            </a:r>
            <a:endParaRPr lang="en-AU" sz="2400" dirty="0"/>
          </a:p>
        </p:txBody>
      </p:sp>
      <p:pic>
        <p:nvPicPr>
          <p:cNvPr id="2050" name="Picture 2" descr="https://www.educationperfect.com/Images/Content/Science/1372202522967-7829074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8075" y="1623556"/>
            <a:ext cx="379095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16000" y="3719036"/>
            <a:ext cx="10985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(flow 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charge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in a circuit can be controlled by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or by other components like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resistors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We call such a component 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load.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wires that carry current have a small effect on the current as well, but they are designed to give minimum interference.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56443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66396" y="551934"/>
            <a:ext cx="32496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err="1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Thévenin's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 Theorem.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442788037.68871g/1442788056419-131558195638502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5" y="782766"/>
            <a:ext cx="2917825" cy="2712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4368004" y="1553814"/>
            <a:ext cx="768429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Real circuits, like you find in a TV remote or a hard drive, can look very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complicated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They contain many tiny components, connected by a bewildering web of wires. Luckily, any circuit can be reduced to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simpler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form according to </a:t>
            </a:r>
            <a:r>
              <a:rPr lang="en-AU" sz="2400" b="1" i="0" dirty="0" err="1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Thévenin's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 Theorem.</a:t>
            </a:r>
            <a:endParaRPr lang="en-AU" sz="2400" dirty="0"/>
          </a:p>
        </p:txBody>
      </p:sp>
      <p:sp>
        <p:nvSpPr>
          <p:cNvPr id="4" name="Rectangle 3"/>
          <p:cNvSpPr/>
          <p:nvPr/>
        </p:nvSpPr>
        <p:spPr>
          <a:xfrm>
            <a:off x="650875" y="3492806"/>
            <a:ext cx="1154112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0" i="0" u="none" strike="noStrike" dirty="0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3"/>
              </a:rPr>
              <a:t>Léon Charles </a:t>
            </a:r>
            <a:r>
              <a:rPr lang="en-AU" sz="2400" b="0" i="0" u="none" strike="noStrike" dirty="0" err="1" smtClean="0">
                <a:solidFill>
                  <a:srgbClr val="0780B0"/>
                </a:solidFill>
                <a:effectLst/>
                <a:latin typeface="Arial" panose="020B0604020202020204" pitchFamily="34" charset="0"/>
                <a:hlinkClick r:id="rId3"/>
              </a:rPr>
              <a:t>Thévenin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worked as a telegraph engineer in the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1880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s. His great brainwave was to take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Ohm's Law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extend it to more complex circuits, with any number of components.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1" i="0" dirty="0" err="1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Thévenin's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 Theorem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states that any DC 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 Current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circuit, no matter how many power sources or loads it contains, can be reduced to a simple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equivalent circuit.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equivalent circuit contains one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one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load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have the combined effects of all the sources and loads in the real circuit.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78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1116" y="183634"/>
            <a:ext cx="5461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Basically, the theory says that this...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435788968.999461g/1435788952054-248272321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808037"/>
            <a:ext cx="3800475" cy="260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www.educationperfect.com/media/content/Science/1442785911.611051g/1442785907377-3666454785941689-optimise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6587" y="3948112"/>
            <a:ext cx="5124450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435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25" y="200024"/>
            <a:ext cx="10998582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195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487362"/>
            <a:ext cx="9156700" cy="616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438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487" y="246062"/>
            <a:ext cx="8431213" cy="6341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61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12" y="406400"/>
            <a:ext cx="11481636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281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3700" y="240437"/>
            <a:ext cx="11506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we're going to learn how to simplify a circuit mathematically.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two key terms you need to get familiar with: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They are illustrated below using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resistors.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37" y="2057400"/>
            <a:ext cx="9517063" cy="441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7054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8500" y="38438"/>
            <a:ext cx="11201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Simplifying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Whether multiple resistors are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64B131"/>
                </a:solidFill>
                <a:effectLst/>
                <a:latin typeface="Arial" panose="020B0604020202020204" pitchFamily="34" charset="0"/>
              </a:rPr>
              <a:t>parallel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each other affects how we do calculations with them. The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total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combined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resistance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R</a:t>
            </a:r>
            <a:r>
              <a:rPr lang="en-AU" sz="2400" b="1" i="0" baseline="-25000" dirty="0" smtClean="0">
                <a:solidFill>
                  <a:srgbClr val="444444"/>
                </a:solidFill>
                <a:effectLst/>
                <a:latin typeface="KaTeX_Main"/>
              </a:rPr>
              <a:t>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​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of two or more individual resistors can be found by using the formulae in the table below.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249" y="2574924"/>
            <a:ext cx="9113627" cy="272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744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424" y="106362"/>
            <a:ext cx="8982075" cy="666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27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424" y="296862"/>
            <a:ext cx="8867775" cy="6355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35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37" y="352424"/>
            <a:ext cx="11775808" cy="584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46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24" y="222249"/>
            <a:ext cx="9667875" cy="616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582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012" y="325437"/>
            <a:ext cx="9310688" cy="640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65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574" y="-106178"/>
            <a:ext cx="6346825" cy="696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0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24" y="463549"/>
            <a:ext cx="10036175" cy="648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14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162" y="95249"/>
            <a:ext cx="8440738" cy="65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1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24" y="247650"/>
            <a:ext cx="10290175" cy="601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8940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9800" y="430937"/>
            <a:ext cx="107315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voltage divider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takes advantage of the properties of </a:t>
            </a:r>
            <a:r>
              <a:rPr lang="en-AU" sz="2400" b="1" i="0" dirty="0" smtClean="0">
                <a:solidFill>
                  <a:srgbClr val="F30277"/>
                </a:solidFill>
                <a:effectLst/>
                <a:latin typeface="Arial" panose="020B0604020202020204" pitchFamily="34" charset="0"/>
              </a:rPr>
              <a:t>resistors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placed in </a:t>
            </a:r>
            <a:r>
              <a:rPr lang="en-AU" sz="2400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series.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have two resistors in series, they experience the same current, but the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potential difference is divided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8000" y="2525236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Suppose we have a </a:t>
            </a:r>
            <a:r>
              <a:rPr lang="en-AU" sz="2400" b="1" i="0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3Ω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resistor and a </a:t>
            </a:r>
            <a:r>
              <a:rPr lang="en-AU" sz="2400" b="1" i="0" dirty="0" smtClean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red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2Ω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one, which you can see on this diagram. Current is delivered to them by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power cell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But if we measure the voltage across the red resistor, it is just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1.2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- it has been reduced.</a:t>
            </a:r>
            <a:endParaRPr lang="en-AU" sz="2400" dirty="0"/>
          </a:p>
        </p:txBody>
      </p:sp>
      <p:pic>
        <p:nvPicPr>
          <p:cNvPr id="5122" name="Picture 2" descr="https://www.educationperfect.com/media/content/Science/1442872315.868281g/1442872314958-24377680042698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075" y="2525237"/>
            <a:ext cx="3590925" cy="233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08000" y="4833560"/>
            <a:ext cx="10985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is an example of a simple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voltage divider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can be used to reduce the potential difference across part of a circuit. It is useful when your cell or battery provides more power than you actually need. In the example above, the difference comes from the 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energy consumed by the </a:t>
            </a:r>
            <a:r>
              <a:rPr lang="en-AU" sz="2400" b="1" i="1" dirty="0" smtClean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lang="en-AU" sz="2400" b="1" i="1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resistor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62886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2739"/>
            <a:ext cx="119253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 can you calculate the voltage across different components?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previous example, we had a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3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got a smaller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output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1.2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KaTeX_Main"/>
              </a:rPr>
              <a:t> V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Why that amount? It's to do with the proportions of the two resistances.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Using Ohm's Law and </a:t>
            </a:r>
            <a:r>
              <a:rPr lang="en-AU" sz="24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Thévenin's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Theorem it is possible to derive this equation: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000" y="2311063"/>
            <a:ext cx="8686800" cy="446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404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72318" y="120134"/>
            <a:ext cx="77107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Let's use this to check the numbers in the example.</a:t>
            </a:r>
            <a:endParaRPr lang="en-AU" sz="2400" b="1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129606"/>
              </p:ext>
            </p:extLst>
          </p:nvPr>
        </p:nvGraphicFramePr>
        <p:xfrm>
          <a:off x="885824" y="1066324"/>
          <a:ext cx="6111876" cy="1943100"/>
        </p:xfrm>
        <a:graphic>
          <a:graphicData uri="http://schemas.openxmlformats.org/drawingml/2006/table">
            <a:tbl>
              <a:tblPr/>
              <a:tblGrid>
                <a:gridCol w="6111876">
                  <a:extLst>
                    <a:ext uri="{9D8B030D-6E8A-4147-A177-3AD203B41FA5}">
                      <a16:colId xmlns:a16="http://schemas.microsoft.com/office/drawing/2014/main" val="39977109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ctr"/>
                      <a:r>
                        <a:rPr lang="en-AU" sz="2400" dirty="0">
                          <a:effectLst/>
                        </a:rPr>
                        <a:t>In our example,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R</a:t>
                      </a:r>
                      <a:r>
                        <a:rPr lang="en-AU" sz="2400" b="1" baseline="-25000" dirty="0">
                          <a:effectLst/>
                          <a:latin typeface="KaTeX_Main"/>
                        </a:rPr>
                        <a:t>1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​</a:t>
                      </a:r>
                      <a:r>
                        <a:rPr lang="en-AU" sz="2400" dirty="0">
                          <a:effectLst/>
                        </a:rPr>
                        <a:t> is the </a:t>
                      </a:r>
                      <a:r>
                        <a:rPr lang="en-AU" sz="2400" b="1" dirty="0">
                          <a:solidFill>
                            <a:srgbClr val="0000FF"/>
                          </a:solidFill>
                          <a:effectLst/>
                        </a:rPr>
                        <a:t>blue</a:t>
                      </a:r>
                      <a:r>
                        <a:rPr lang="en-AU" sz="2400" b="1" dirty="0">
                          <a:effectLst/>
                        </a:rPr>
                        <a:t> resistor</a:t>
                      </a:r>
                      <a:r>
                        <a:rPr lang="en-AU" sz="2400" dirty="0">
                          <a:effectLst/>
                        </a:rPr>
                        <a:t> and </a:t>
                      </a:r>
                      <a:r>
                        <a:rPr lang="en-AU" sz="2400" b="1" dirty="0">
                          <a:effectLst/>
                          <a:latin typeface="KaTeX_Main"/>
                        </a:rPr>
                        <a:t>R</a:t>
                      </a:r>
                      <a:r>
                        <a:rPr lang="en-AU" sz="2400" b="1" baseline="-25000" dirty="0">
                          <a:effectLst/>
                          <a:latin typeface="KaTeX_Main"/>
                        </a:rPr>
                        <a:t>2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​</a:t>
                      </a:r>
                      <a:r>
                        <a:rPr lang="en-AU" sz="2400" dirty="0">
                          <a:effectLst/>
                        </a:rPr>
                        <a:t> is the </a:t>
                      </a:r>
                      <a:r>
                        <a:rPr lang="en-AU" sz="2400" b="1" dirty="0">
                          <a:solidFill>
                            <a:srgbClr val="FF0000"/>
                          </a:solidFill>
                          <a:effectLst/>
                        </a:rPr>
                        <a:t>red</a:t>
                      </a:r>
                      <a:r>
                        <a:rPr lang="en-AU" sz="2400" b="1" dirty="0">
                          <a:effectLst/>
                        </a:rPr>
                        <a:t> resistor</a:t>
                      </a:r>
                      <a:r>
                        <a:rPr lang="en-AU" sz="2400" dirty="0">
                          <a:effectLst/>
                        </a:rPr>
                        <a:t>, across which we measure the </a:t>
                      </a:r>
                      <a:r>
                        <a:rPr lang="en-AU" sz="2400" b="1" dirty="0">
                          <a:effectLst/>
                        </a:rPr>
                        <a:t>reduced output voltage</a:t>
                      </a:r>
                      <a:r>
                        <a:rPr lang="en-AU" sz="2400" dirty="0">
                          <a:effectLst/>
                        </a:rPr>
                        <a:t> (</a:t>
                      </a:r>
                      <a:r>
                        <a:rPr lang="en-AU" sz="2400" b="1" dirty="0" err="1">
                          <a:effectLst/>
                          <a:latin typeface="KaTeX_Main"/>
                        </a:rPr>
                        <a:t>V</a:t>
                      </a:r>
                      <a:r>
                        <a:rPr lang="en-AU" sz="2400" b="1" baseline="-25000" dirty="0" err="1">
                          <a:effectLst/>
                          <a:latin typeface="KaTeX_Main"/>
                        </a:rPr>
                        <a:t>out</a:t>
                      </a:r>
                      <a:r>
                        <a:rPr lang="en-AU" sz="2400" baseline="-25000" dirty="0">
                          <a:effectLst/>
                          <a:latin typeface="KaTeX_Main"/>
                        </a:rPr>
                        <a:t>​</a:t>
                      </a:r>
                      <a:r>
                        <a:rPr lang="en-AU" sz="2400" dirty="0">
                          <a:effectLst/>
                        </a:rPr>
                        <a:t>). Below is an example calculation to show you how we got the output value of </a:t>
                      </a:r>
                      <a:r>
                        <a:rPr lang="en-AU" sz="2400" dirty="0">
                          <a:effectLst/>
                          <a:latin typeface="KaTeX_Main"/>
                        </a:rPr>
                        <a:t>1.2  V</a:t>
                      </a:r>
                      <a:r>
                        <a:rPr lang="en-AU" sz="2400" dirty="0">
                          <a:effectLst/>
                        </a:rPr>
                        <a:t>:</a:t>
                      </a:r>
                    </a:p>
                  </a:txBody>
                  <a:tcPr marL="57150" marR="57150" marT="57150" marB="571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983993"/>
                  </a:ext>
                </a:extLst>
              </a:tr>
            </a:tbl>
          </a:graphicData>
        </a:graphic>
      </p:graphicFrame>
      <p:pic>
        <p:nvPicPr>
          <p:cNvPr id="6146" name="Picture 2" descr="https://www.educationperfect.com/media/content/Science/1442872315.868281g/1442872314958-243776800426988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00" y="1039654"/>
            <a:ext cx="3800475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450" y="2884487"/>
            <a:ext cx="3270250" cy="374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401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87" y="136524"/>
            <a:ext cx="9028113" cy="662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88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323850"/>
            <a:ext cx="11261862" cy="55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0670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024" y="108721"/>
            <a:ext cx="8943975" cy="674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907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0012"/>
            <a:ext cx="9220200" cy="690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3141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0"/>
            <a:ext cx="8916988" cy="664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370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4" y="101599"/>
            <a:ext cx="9305925" cy="65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80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312" y="917574"/>
            <a:ext cx="11530508" cy="406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072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62" y="330200"/>
            <a:ext cx="10958777" cy="542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18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116</Words>
  <Application>Microsoft Office PowerPoint</Application>
  <PresentationFormat>Widescreen</PresentationFormat>
  <Paragraphs>42</Paragraphs>
  <Slides>36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KaTeX_Main</vt:lpstr>
      <vt:lpstr>Office Theme</vt:lpstr>
      <vt:lpstr>Combination Circuits and Voltage Dividers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Combination Circuits and Voltage Dividers</dc:title>
  <dc:creator>Joseph D'cruz</dc:creator>
  <cp:lastModifiedBy>Joseph D'cruz</cp:lastModifiedBy>
  <cp:revision>3</cp:revision>
  <dcterms:created xsi:type="dcterms:W3CDTF">2020-07-15T06:21:37Z</dcterms:created>
  <dcterms:modified xsi:type="dcterms:W3CDTF">2021-04-02T13:31:00Z</dcterms:modified>
</cp:coreProperties>
</file>
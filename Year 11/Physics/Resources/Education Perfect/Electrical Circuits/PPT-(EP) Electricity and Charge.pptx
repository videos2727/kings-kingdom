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62" r:id="rId10"/>
    <p:sldId id="263" r:id="rId11"/>
    <p:sldId id="264" r:id="rId12"/>
    <p:sldId id="265" r:id="rId13"/>
    <p:sldId id="278" r:id="rId14"/>
    <p:sldId id="279" r:id="rId15"/>
    <p:sldId id="280" r:id="rId16"/>
    <p:sldId id="281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865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548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073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354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0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205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2033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772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6131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996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0213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FBAC2-8CD1-45C9-B68E-59D80EFC4444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2B378-B826-42EF-9C31-C5A4ED18EF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908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c2-363MIQs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Electricity and Charge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646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7400" y="838538"/>
            <a:ext cx="10960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static electricity.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 electric 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negative.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that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 current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carried by discrete electric charge carriers.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law of conservation of electric charge.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05096309.317051g/1505096307702-302523433268987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175" y="3268662"/>
            <a:ext cx="5715000" cy="343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811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367437"/>
            <a:ext cx="11671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understand how </a:t>
            </a:r>
            <a:r>
              <a:rPr lang="en-AU" sz="2400" b="1" i="0" dirty="0" smtClean="0">
                <a:solidFill>
                  <a:srgbClr val="00D2D3"/>
                </a:solidFill>
                <a:effectLst/>
                <a:latin typeface="Arial" panose="020B0604020202020204" pitchFamily="34" charset="0"/>
              </a:rPr>
              <a:t>static electricity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works, we need to know about </a:t>
            </a:r>
            <a:r>
              <a:rPr lang="en-AU" sz="2400" b="1" i="0" dirty="0" smtClean="0">
                <a:solidFill>
                  <a:srgbClr val="10AC84"/>
                </a:solidFill>
                <a:effectLst/>
                <a:latin typeface="Arial" panose="020B0604020202020204" pitchFamily="34" charset="0"/>
              </a:rPr>
              <a:t>charged particles.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Everything around you is made of </a:t>
            </a:r>
            <a:r>
              <a:rPr lang="en-AU" sz="2400" b="1" i="0" dirty="0" smtClean="0">
                <a:solidFill>
                  <a:srgbClr val="5F27CD"/>
                </a:solidFill>
                <a:effectLst/>
                <a:latin typeface="Arial" panose="020B0604020202020204" pitchFamily="34" charset="0"/>
              </a:rPr>
              <a:t>atoms.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5F27CD"/>
                </a:solidFill>
                <a:effectLst/>
                <a:latin typeface="Arial" panose="020B0604020202020204" pitchFamily="34" charset="0"/>
              </a:rPr>
              <a:t>Atoms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made up of three types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particle: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protons,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341F97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F9F43"/>
                </a:solidFill>
                <a:effectLst/>
                <a:latin typeface="Arial" panose="020B0604020202020204" pitchFamily="34" charset="0"/>
              </a:rPr>
              <a:t>neutrons.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2801813.9613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84500" y="3051175"/>
            <a:ext cx="60960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0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482938"/>
            <a:ext cx="11518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centre of an atom is called the </a:t>
            </a:r>
            <a:r>
              <a:rPr lang="en-AU" sz="2400" b="1" i="0" dirty="0" smtClean="0">
                <a:solidFill>
                  <a:srgbClr val="F368E0"/>
                </a:solidFill>
                <a:effectLst/>
                <a:latin typeface="Arial" panose="020B0604020202020204" pitchFamily="34" charset="0"/>
              </a:rPr>
              <a:t>nucleus.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F9F43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hang out together in the </a:t>
            </a:r>
            <a:r>
              <a:rPr lang="en-AU" sz="2400" b="1" i="0" dirty="0" smtClean="0">
                <a:solidFill>
                  <a:srgbClr val="F368E0"/>
                </a:solidFill>
                <a:effectLst/>
                <a:latin typeface="Arial" panose="020B0604020202020204" pitchFamily="34" charset="0"/>
              </a:rPr>
              <a:t>centre (nucleus)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atom.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F9F43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don't have any charge, but each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proton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We represent it with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plus sign.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7128141.2039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33800" y="3495675"/>
            <a:ext cx="448310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2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585738"/>
            <a:ext cx="11023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41F97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move in orbits around the outside of the </a:t>
            </a:r>
            <a:r>
              <a:rPr lang="en-AU" sz="2400" b="1" i="0" dirty="0" smtClean="0">
                <a:solidFill>
                  <a:srgbClr val="5F27CD"/>
                </a:solidFill>
                <a:effectLst/>
                <a:latin typeface="Arial" panose="020B0604020202020204" pitchFamily="34" charset="0"/>
              </a:rPr>
              <a:t>atom.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341F97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1" i="0" dirty="0" smtClean="0">
                <a:solidFill>
                  <a:srgbClr val="341F97"/>
                </a:solidFill>
                <a:effectLst/>
                <a:latin typeface="Arial" panose="020B0604020202020204" pitchFamily="34" charset="0"/>
              </a:rPr>
              <a:t>negatively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charged. This means they have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 to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protons.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its normal state, an atom has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equal numbers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341F97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protons.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27220934.466641g/1527220922044-413092466828782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3414712"/>
            <a:ext cx="3286125" cy="32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877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93236"/>
            <a:ext cx="11658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D2D3"/>
                </a:solidFill>
                <a:effectLst/>
                <a:latin typeface="Arial" panose="020B0604020202020204" pitchFamily="34" charset="0"/>
              </a:rPr>
              <a:t>Static electricity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all about </a:t>
            </a:r>
            <a:r>
              <a:rPr lang="en-AU" sz="2400" b="1" i="0" dirty="0" smtClean="0">
                <a:solidFill>
                  <a:srgbClr val="10AC84"/>
                </a:solidFill>
                <a:effectLst/>
                <a:latin typeface="Arial" panose="020B0604020202020204" pitchFamily="34" charset="0"/>
              </a:rPr>
              <a:t>charged particles!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D2D3"/>
                </a:solidFill>
                <a:effectLst/>
                <a:latin typeface="Arial" panose="020B0604020202020204" pitchFamily="34" charset="0"/>
              </a:rPr>
              <a:t>Static electricity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created when </a:t>
            </a:r>
            <a:r>
              <a:rPr lang="en-AU" sz="2400" b="1" i="0" dirty="0" smtClean="0">
                <a:solidFill>
                  <a:srgbClr val="10AC84"/>
                </a:solidFill>
                <a:effectLst/>
                <a:latin typeface="Arial" panose="020B0604020202020204" pitchFamily="34" charset="0"/>
              </a:rPr>
              <a:t>charged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build up on an object and give it an overall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341F97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7131066.6569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67100" y="2752725"/>
            <a:ext cx="45720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8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2" y="0"/>
            <a:ext cx="7672388" cy="65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2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0"/>
            <a:ext cx="6605588" cy="682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8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1462038"/>
            <a:ext cx="11010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you ever touched the car door and felt a small shock?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caused by </a:t>
            </a:r>
            <a:r>
              <a:rPr lang="en-AU" sz="2400" b="1" i="0" dirty="0" smtClean="0">
                <a:solidFill>
                  <a:srgbClr val="00D2D3"/>
                </a:solidFill>
                <a:effectLst/>
                <a:latin typeface="Arial" panose="020B0604020202020204" pitchFamily="34" charset="0"/>
              </a:rPr>
              <a:t>static electricity!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D2D3"/>
                </a:solidFill>
                <a:effectLst/>
                <a:latin typeface="Arial" panose="020B0604020202020204" pitchFamily="34" charset="0"/>
              </a:rPr>
              <a:t>Electrostatic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force between two </a:t>
            </a:r>
            <a:r>
              <a:rPr lang="en-AU" sz="2400" b="1" i="0" dirty="0" smtClean="0">
                <a:solidFill>
                  <a:srgbClr val="10AC84"/>
                </a:solidFill>
                <a:effectLst/>
                <a:latin typeface="Arial" panose="020B0604020202020204" pitchFamily="34" charset="0"/>
              </a:rPr>
              <a:t>electrically charged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objects. It is behind the awesomeness of </a:t>
            </a:r>
            <a:r>
              <a:rPr lang="en-AU" sz="2400" b="1" i="0" dirty="0" smtClean="0">
                <a:solidFill>
                  <a:srgbClr val="00D2D3"/>
                </a:solidFill>
                <a:effectLst/>
                <a:latin typeface="Arial" panose="020B0604020202020204" pitchFamily="34" charset="0"/>
              </a:rPr>
              <a:t>static electricity!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25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c2-363MIQs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384939"/>
            <a:ext cx="11557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D2D3"/>
                </a:solidFill>
                <a:effectLst/>
                <a:latin typeface="Arial" panose="020B0604020202020204" pitchFamily="34" charset="0"/>
              </a:rPr>
              <a:t>Static electricity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builds up when objects become either </a:t>
            </a:r>
            <a:r>
              <a:rPr lang="en-AU" sz="2400" b="1" i="0" dirty="0" smtClean="0">
                <a:solidFill>
                  <a:srgbClr val="341F97"/>
                </a:solidFill>
                <a:effectLst/>
                <a:latin typeface="Arial" panose="020B0604020202020204" pitchFamily="34" charset="0"/>
              </a:rPr>
              <a:t>negatively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positively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1DD1A1"/>
                </a:solidFill>
                <a:effectLst/>
                <a:latin typeface="Arial" panose="020B0604020202020204" pitchFamily="34" charset="0"/>
              </a:rPr>
              <a:t>Opposite charges attract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 through the </a:t>
            </a:r>
            <a:r>
              <a:rPr lang="en-AU" sz="2400" b="1" i="0" dirty="0" smtClean="0">
                <a:solidFill>
                  <a:srgbClr val="00D2D3"/>
                </a:solidFill>
                <a:effectLst/>
                <a:latin typeface="Arial" panose="020B0604020202020204" pitchFamily="34" charset="0"/>
              </a:rPr>
              <a:t>electrostatic force!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instance, when you rub a balloon against your hair, it becomes </a:t>
            </a:r>
            <a:r>
              <a:rPr lang="en-AU" sz="2400" b="1" i="0" dirty="0" smtClean="0">
                <a:solidFill>
                  <a:srgbClr val="341F97"/>
                </a:solidFill>
                <a:effectLst/>
                <a:latin typeface="Arial" panose="020B0604020202020204" pitchFamily="34" charset="0"/>
              </a:rPr>
              <a:t>negatively charged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will stick to your hair, which is now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positively charged!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have moved from your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hair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sz="2400" b="1" i="0" dirty="0" smtClean="0">
                <a:solidFill>
                  <a:srgbClr val="341F97"/>
                </a:solidFill>
                <a:effectLst/>
                <a:latin typeface="Arial" panose="020B0604020202020204" pitchFamily="34" charset="0"/>
              </a:rPr>
              <a:t>balloon.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27133403.742151f/1527133391857-192441718776083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387" y="3581152"/>
            <a:ext cx="1849237" cy="327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618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623838"/>
            <a:ext cx="11391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 objects become charged by either </a:t>
            </a:r>
            <a:r>
              <a:rPr lang="en-AU" sz="2400" b="1" i="0" dirty="0" smtClean="0">
                <a:solidFill>
                  <a:srgbClr val="341F97"/>
                </a:solidFill>
                <a:effectLst/>
                <a:latin typeface="Arial" panose="020B0604020202020204" pitchFamily="34" charset="0"/>
              </a:rPr>
              <a:t>gaining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losing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 with the </a:t>
            </a:r>
            <a:r>
              <a:rPr lang="en-AU" sz="2400" b="1" i="0" dirty="0" smtClean="0">
                <a:solidFill>
                  <a:srgbClr val="01A3A4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1A3A4"/>
                </a:solidFill>
                <a:effectLst/>
                <a:latin typeface="Arial" panose="020B0604020202020204" pitchFamily="34" charset="0"/>
              </a:rPr>
              <a:t>repel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 through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electrostatic force.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 </a:t>
            </a:r>
            <a:r>
              <a:rPr lang="en-AU" sz="2400" b="1" i="0" dirty="0" smtClean="0">
                <a:solidFill>
                  <a:srgbClr val="EE5253"/>
                </a:solidFill>
                <a:effectLst/>
                <a:latin typeface="Arial" panose="020B0604020202020204" pitchFamily="34" charset="0"/>
              </a:rPr>
              <a:t>positively charged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 will </a:t>
            </a:r>
            <a:r>
              <a:rPr lang="en-AU" sz="2400" b="1" i="0" dirty="0" smtClean="0">
                <a:solidFill>
                  <a:srgbClr val="01A3A4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 apart.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04566402.362711f/1504566406554-1138738161868169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475" y="3287712"/>
            <a:ext cx="33528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643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474" y="204787"/>
            <a:ext cx="7769225" cy="641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89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462" y="181485"/>
            <a:ext cx="7843838" cy="667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93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37" y="109537"/>
            <a:ext cx="9821863" cy="663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1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49" y="763587"/>
            <a:ext cx="11715293" cy="453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9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355938"/>
            <a:ext cx="1069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Electric charge.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Electric 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a physical property of an object that causes it to experience a force when placed in an electromagnetic field.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Electric 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either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63000760.675161g/1463000765358-245152171717058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75" y="3602037"/>
            <a:ext cx="5981700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007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1739"/>
            <a:ext cx="11963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 are made up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charges, which at the particle level are respectively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neutral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 has a charge value of zero, as it has an equal number of positive and negative charges.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has more positive charges than negative charges, it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positive.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it has more negative charges than positive charges, it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43147451.694221g/1443147455053-36073083962468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387" y="3446462"/>
            <a:ext cx="3984625" cy="3090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98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629335"/>
            <a:ext cx="10566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Electrical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form of energy that is easy to create and transfer to make new forms of energy.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58648"/>
              </p:ext>
            </p:extLst>
          </p:nvPr>
        </p:nvGraphicFramePr>
        <p:xfrm>
          <a:off x="1416050" y="2222024"/>
          <a:ext cx="4591050" cy="845820"/>
        </p:xfrm>
        <a:graphic>
          <a:graphicData uri="http://schemas.openxmlformats.org/drawingml/2006/table">
            <a:tbl>
              <a:tblPr/>
              <a:tblGrid>
                <a:gridCol w="4591050">
                  <a:extLst>
                    <a:ext uri="{9D8B030D-6E8A-4147-A177-3AD203B41FA5}">
                      <a16:colId xmlns:a16="http://schemas.microsoft.com/office/drawing/2014/main" val="466918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It is the energy of electricity, which powers our world.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62439"/>
                  </a:ext>
                </a:extLst>
              </a:tr>
            </a:tbl>
          </a:graphicData>
        </a:graphic>
      </p:graphicFrame>
      <p:pic>
        <p:nvPicPr>
          <p:cNvPr id="7170" name="Picture 2" descr="https://www.educationperfect.com/media/content/Science/1422306046.140621g/1422306035323-181290313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1854359"/>
            <a:ext cx="22288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1800" y="3723839"/>
            <a:ext cx="113665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energy is created by movement of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charge.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 do not move easily since they are trapped in the nucleus, so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movement creates electricity.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electrons must be unbound from their atoms to move, so systems with many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delocalised 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tend to be good conductors of electricity.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an example of a good conductor, because their electrons are relatively free to move around.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032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0"/>
            <a:ext cx="10795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Electrical current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definition.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Electrical 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rate of movement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electric charge carriers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one part of a conductor to another.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most common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charge carriers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charge carriers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ionic solution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(electrolyte)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charge carriers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metal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are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delocalised electrons.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5753.0973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57712" y="4056407"/>
            <a:ext cx="3076575" cy="226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5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4100" y="375335"/>
            <a:ext cx="10121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Charged particles can interact by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attracting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repelling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 another.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04656399.936711g/1504656408791-206336265252075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25" y="1900238"/>
            <a:ext cx="5159375" cy="346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233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8300" y="747236"/>
            <a:ext cx="924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do charges attract and when do they repel each other?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charges will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attract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 another.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charges will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repel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 another.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637" y="2725737"/>
            <a:ext cx="6100763" cy="332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83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53536"/>
            <a:ext cx="1087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Neutral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 such as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 not interact with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charged particles.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will neither be repelled nor attracted by another charge.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987" y="3116262"/>
            <a:ext cx="8321149" cy="146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796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555536"/>
            <a:ext cx="10375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attraction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repulsion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charges is an extremely important concept.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make sure you remember: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Opposites attract!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0029606.2277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92488" y="3362325"/>
            <a:ext cx="5103812" cy="350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50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507137"/>
            <a:ext cx="11226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charge of an object can be </a:t>
            </a:r>
            <a:r>
              <a:rPr lang="en-AU" sz="2400" b="1" i="0" u="sng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changed</a:t>
            </a:r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sz="2400" b="1" i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moving electrons</a:t>
            </a:r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rubbing a balloon on your hair moves electrons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from the balloon to your hair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gives you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 and the balloon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43148179.839311g/1443148193151-36073083962468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784475"/>
            <a:ext cx="2714625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21200" y="3071336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positively charged balloon can then </a:t>
            </a:r>
            <a:r>
              <a:rPr lang="en-AU" sz="20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attract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neutral piece of paper by attracting the </a:t>
            </a:r>
            <a:r>
              <a:rPr lang="en-AU" sz="20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individual charges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the paper. This displaces electrons towards the balloon, leaving the negative charge on one side, and the positive charge on the other.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826172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042"/>
            <a:ext cx="1219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Law of conservation of electric charge.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law of conservation of electric 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states that the total electric charge of an isolated system remains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constant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regardless of changes within the system.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if you brought up a positively charged rod towards an uncharged balloon, the electrons in the balloon will be attracted towards the rod. However,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total electric 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balloon will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remain neutral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(same number of positives and negatives) as there has been no transfer of electrons between the balloon and the surroundings. There has simply been a redistribution of charge.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9773907.080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19499" y="4055821"/>
            <a:ext cx="5438775" cy="28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0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296862"/>
            <a:ext cx="8528050" cy="635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2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12" y="557212"/>
            <a:ext cx="8040688" cy="532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551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387" y="862012"/>
            <a:ext cx="7478713" cy="574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503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724" y="344487"/>
            <a:ext cx="8448675" cy="600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76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479424"/>
            <a:ext cx="9870118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24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188748"/>
            <a:ext cx="10482263" cy="666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65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7" y="481012"/>
            <a:ext cx="11397426" cy="452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09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116</Words>
  <Application>Microsoft Office PowerPoint</Application>
  <PresentationFormat>Widescreen</PresentationFormat>
  <Paragraphs>82</Paragraphs>
  <Slides>33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Electricity and Charge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and Charge</dc:title>
  <dc:creator>Joseph D'cruz</dc:creator>
  <cp:lastModifiedBy>Joseph D'cruz</cp:lastModifiedBy>
  <cp:revision>3</cp:revision>
  <dcterms:created xsi:type="dcterms:W3CDTF">2020-07-15T04:26:51Z</dcterms:created>
  <dcterms:modified xsi:type="dcterms:W3CDTF">2021-04-02T14:18:29Z</dcterms:modified>
</cp:coreProperties>
</file>
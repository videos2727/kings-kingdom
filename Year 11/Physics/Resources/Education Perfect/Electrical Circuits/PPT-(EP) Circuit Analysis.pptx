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7" r:id="rId9"/>
    <p:sldId id="268" r:id="rId10"/>
    <p:sldId id="270" r:id="rId11"/>
    <p:sldId id="271" r:id="rId12"/>
    <p:sldId id="272" r:id="rId13"/>
    <p:sldId id="273" r:id="rId14"/>
    <p:sldId id="269" r:id="rId15"/>
    <p:sldId id="274" r:id="rId16"/>
    <p:sldId id="275" r:id="rId17"/>
    <p:sldId id="262" r:id="rId18"/>
    <p:sldId id="263" r:id="rId19"/>
    <p:sldId id="264" r:id="rId20"/>
    <p:sldId id="265" r:id="rId21"/>
    <p:sldId id="276" r:id="rId22"/>
    <p:sldId id="277" r:id="rId23"/>
    <p:sldId id="278" r:id="rId24"/>
    <p:sldId id="279" r:id="rId25"/>
    <p:sldId id="280" r:id="rId26"/>
    <p:sldId id="282" r:id="rId27"/>
    <p:sldId id="281" r:id="rId28"/>
    <p:sldId id="283" r:id="rId29"/>
    <p:sldId id="284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D7E6C-EB39-4EE8-A4AF-575E042E6EDC}" type="datetimeFigureOut">
              <a:rPr lang="en-AU" smtClean="0"/>
              <a:t>2/04/2021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4D340-6071-4DDF-B5AA-9E238DE35A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379209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D7E6C-EB39-4EE8-A4AF-575E042E6EDC}" type="datetimeFigureOut">
              <a:rPr lang="en-AU" smtClean="0"/>
              <a:t>2/04/2021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4D340-6071-4DDF-B5AA-9E238DE35A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09224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D7E6C-EB39-4EE8-A4AF-575E042E6EDC}" type="datetimeFigureOut">
              <a:rPr lang="en-AU" smtClean="0"/>
              <a:t>2/04/2021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4D340-6071-4DDF-B5AA-9E238DE35A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67934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D7E6C-EB39-4EE8-A4AF-575E042E6EDC}" type="datetimeFigureOut">
              <a:rPr lang="en-AU" smtClean="0"/>
              <a:t>2/04/2021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4D340-6071-4DDF-B5AA-9E238DE35A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71971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D7E6C-EB39-4EE8-A4AF-575E042E6EDC}" type="datetimeFigureOut">
              <a:rPr lang="en-AU" smtClean="0"/>
              <a:t>2/04/2021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4D340-6071-4DDF-B5AA-9E238DE35A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13700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D7E6C-EB39-4EE8-A4AF-575E042E6EDC}" type="datetimeFigureOut">
              <a:rPr lang="en-AU" smtClean="0"/>
              <a:t>2/04/2021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4D340-6071-4DDF-B5AA-9E238DE35A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18283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D7E6C-EB39-4EE8-A4AF-575E042E6EDC}" type="datetimeFigureOut">
              <a:rPr lang="en-AU" smtClean="0"/>
              <a:t>2/04/2021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4D340-6071-4DDF-B5AA-9E238DE35A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3131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D7E6C-EB39-4EE8-A4AF-575E042E6EDC}" type="datetimeFigureOut">
              <a:rPr lang="en-AU" smtClean="0"/>
              <a:t>2/04/2021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4D340-6071-4DDF-B5AA-9E238DE35A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4251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D7E6C-EB39-4EE8-A4AF-575E042E6EDC}" type="datetimeFigureOut">
              <a:rPr lang="en-AU" smtClean="0"/>
              <a:t>2/04/2021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4D340-6071-4DDF-B5AA-9E238DE35A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26331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D7E6C-EB39-4EE8-A4AF-575E042E6EDC}" type="datetimeFigureOut">
              <a:rPr lang="en-AU" smtClean="0"/>
              <a:t>2/04/2021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4D340-6071-4DDF-B5AA-9E238DE35A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263721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D7E6C-EB39-4EE8-A4AF-575E042E6EDC}" type="datetimeFigureOut">
              <a:rPr lang="en-AU" smtClean="0"/>
              <a:t>2/04/2021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4D340-6071-4DDF-B5AA-9E238DE35A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79815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7D7E6C-EB39-4EE8-A4AF-575E042E6EDC}" type="datetimeFigureOut">
              <a:rPr lang="en-AU" smtClean="0"/>
              <a:t>2/04/2021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74D340-6071-4DDF-B5AA-9E238DE35A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94941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Circuit Analysis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352633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8300" y="349240"/>
            <a:ext cx="117348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this Smart Lesson you will learn to: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Define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power dissipation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over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resistors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a circuit.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B81AE0"/>
                </a:solidFill>
                <a:effectLst/>
                <a:latin typeface="Arial" panose="020B0604020202020204" pitchFamily="34" charset="0"/>
              </a:rPr>
              <a:t>Solve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problems involving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electrical potential difference, electric current, resistance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power.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Recall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resistor, voltmeter, ammeter, cell, battery, switch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bulb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circuit diagram symbols.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Recognise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series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parallel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connections of components in electrical circuits.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B81AE0"/>
                </a:solidFill>
                <a:effectLst/>
                <a:latin typeface="Arial" panose="020B0604020202020204" pitchFamily="34" charset="0"/>
              </a:rPr>
              <a:t>Solve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problems involving finding equivalent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resistance, electrical potential difference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electric currents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series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parallel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circuits.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57369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9699" y="67071"/>
            <a:ext cx="7007225" cy="6895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3175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69900" y="508338"/>
            <a:ext cx="112014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Power dissipation.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Power dissipation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defined as a measure of 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rate at which energy is lost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from an electrical system.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Power dissipation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a resistor can be calculated using the formula: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t="28073"/>
          <a:stretch/>
        </p:blipFill>
        <p:spPr>
          <a:xfrm>
            <a:off x="1679574" y="3019861"/>
            <a:ext cx="9356726" cy="3045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8565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2100" y="0"/>
            <a:ext cx="8724900" cy="6867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1321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187" y="176212"/>
            <a:ext cx="9270884" cy="5208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95427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3387" y="137756"/>
            <a:ext cx="8570913" cy="6720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4127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2450" y="104435"/>
            <a:ext cx="8121650" cy="6753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2176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150" y="427037"/>
            <a:ext cx="9899650" cy="6113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3087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137" y="373062"/>
            <a:ext cx="10317163" cy="5809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5429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3574" y="0"/>
            <a:ext cx="7769225" cy="6646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0456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0537" y="0"/>
            <a:ext cx="8005763" cy="6730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5183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8174" y="0"/>
            <a:ext cx="7604125" cy="6874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83974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912" y="166687"/>
            <a:ext cx="10487987" cy="6107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6881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012" y="0"/>
            <a:ext cx="10869282" cy="600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4267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825" y="0"/>
            <a:ext cx="10696640" cy="626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2263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19839"/>
            <a:ext cx="121031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D980FA"/>
                </a:solidFill>
                <a:effectLst/>
                <a:latin typeface="Arial" panose="020B0604020202020204" pitchFamily="34" charset="0"/>
              </a:rPr>
              <a:t>Voltage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1289A7"/>
                </a:solidFill>
                <a:effectLst/>
                <a:latin typeface="Arial" panose="020B0604020202020204" pitchFamily="34" charset="0"/>
              </a:rPr>
              <a:t>current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behave differently in </a:t>
            </a:r>
            <a:r>
              <a:rPr lang="en-AU" sz="2400" b="1" i="0" dirty="0" smtClean="0">
                <a:solidFill>
                  <a:srgbClr val="1DD1A1"/>
                </a:solidFill>
                <a:effectLst/>
                <a:latin typeface="Arial" panose="020B0604020202020204" pitchFamily="34" charset="0"/>
              </a:rPr>
              <a:t>series circuits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B53471"/>
                </a:solidFill>
                <a:effectLst/>
                <a:latin typeface="Arial" panose="020B0604020202020204" pitchFamily="34" charset="0"/>
              </a:rPr>
              <a:t>parallel circuits.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 </a:t>
            </a:r>
            <a:r>
              <a:rPr lang="en-AU" sz="2400" b="1" i="0" dirty="0" smtClean="0">
                <a:solidFill>
                  <a:srgbClr val="1DD1A1"/>
                </a:solidFill>
                <a:effectLst/>
                <a:latin typeface="Arial" panose="020B0604020202020204" pitchFamily="34" charset="0"/>
              </a:rPr>
              <a:t>series circuits,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each component has the </a:t>
            </a:r>
            <a:r>
              <a:rPr lang="en-AU" sz="2400" b="1" i="0" dirty="0" smtClean="0">
                <a:solidFill>
                  <a:srgbClr val="1289A7"/>
                </a:solidFill>
                <a:effectLst/>
                <a:latin typeface="Arial" panose="020B0604020202020204" pitchFamily="34" charset="0"/>
              </a:rPr>
              <a:t>same current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through them. This is because there is only </a:t>
            </a:r>
            <a:r>
              <a:rPr lang="en-AU" sz="2400" b="1" i="0" dirty="0" smtClean="0">
                <a:solidFill>
                  <a:srgbClr val="1DD1A1"/>
                </a:solidFill>
                <a:effectLst/>
                <a:latin typeface="Arial" panose="020B0604020202020204" pitchFamily="34" charset="0"/>
              </a:rPr>
              <a:t>one path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for the current to flow along.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However, </a:t>
            </a:r>
            <a:r>
              <a:rPr lang="en-AU" sz="2400" b="1" i="0" dirty="0" smtClean="0">
                <a:solidFill>
                  <a:srgbClr val="D980FA"/>
                </a:solidFill>
                <a:effectLst/>
                <a:latin typeface="Arial" panose="020B0604020202020204" pitchFamily="34" charset="0"/>
              </a:rPr>
              <a:t>voltage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 </a:t>
            </a:r>
            <a:r>
              <a:rPr lang="en-AU" sz="2400" b="1" i="0" dirty="0" smtClean="0">
                <a:solidFill>
                  <a:srgbClr val="D980FA"/>
                </a:solidFill>
                <a:effectLst/>
                <a:latin typeface="Arial" panose="020B0604020202020204" pitchFamily="34" charset="0"/>
              </a:rPr>
              <a:t>split up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 </a:t>
            </a:r>
            <a:r>
              <a:rPr lang="en-AU" sz="2400" b="1" i="0" dirty="0" smtClean="0">
                <a:solidFill>
                  <a:srgbClr val="1DD1A1"/>
                </a:solidFill>
                <a:effectLst/>
                <a:latin typeface="Arial" panose="020B0604020202020204" pitchFamily="34" charset="0"/>
              </a:rPr>
              <a:t>series circuits.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 </a:t>
            </a:r>
            <a:r>
              <a:rPr lang="en-AU" sz="2400" b="1" i="0" dirty="0" smtClean="0">
                <a:solidFill>
                  <a:srgbClr val="D980FA"/>
                </a:solidFill>
                <a:effectLst/>
                <a:latin typeface="Arial" panose="020B0604020202020204" pitchFamily="34" charset="0"/>
              </a:rPr>
              <a:t>voltage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across each component depends on the </a:t>
            </a:r>
            <a:r>
              <a:rPr lang="en-AU" sz="2400" b="1" i="0" dirty="0" smtClean="0">
                <a:solidFill>
                  <a:srgbClr val="ED4C67"/>
                </a:solidFill>
                <a:effectLst/>
                <a:latin typeface="Arial" panose="020B0604020202020204" pitchFamily="34" charset="0"/>
              </a:rPr>
              <a:t>resistance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component.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https://www.educationperfect.com/media/content/Science/1530504579.5771g/1530504577639-4328977195886983-8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0585" y="3138795"/>
            <a:ext cx="4225689" cy="3095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01391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30200" y="473839"/>
            <a:ext cx="115697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1289A7"/>
                </a:solidFill>
                <a:effectLst/>
                <a:latin typeface="Arial" panose="020B0604020202020204" pitchFamily="34" charset="0"/>
              </a:rPr>
              <a:t>Current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D980FA"/>
                </a:solidFill>
                <a:effectLst/>
                <a:latin typeface="Arial" panose="020B0604020202020204" pitchFamily="34" charset="0"/>
              </a:rPr>
              <a:t>voltage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behave differently in </a:t>
            </a:r>
            <a:r>
              <a:rPr lang="en-AU" sz="2400" b="1" i="0" dirty="0" smtClean="0">
                <a:solidFill>
                  <a:srgbClr val="B53471"/>
                </a:solidFill>
                <a:effectLst/>
                <a:latin typeface="Arial" panose="020B0604020202020204" pitchFamily="34" charset="0"/>
              </a:rPr>
              <a:t>parallel circuits.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Branches in </a:t>
            </a:r>
            <a:r>
              <a:rPr lang="en-AU" sz="2400" b="1" i="0" dirty="0" smtClean="0">
                <a:solidFill>
                  <a:srgbClr val="B53471"/>
                </a:solidFill>
                <a:effectLst/>
                <a:latin typeface="Arial" panose="020B0604020202020204" pitchFamily="34" charset="0"/>
              </a:rPr>
              <a:t>parallel circuits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have the </a:t>
            </a:r>
            <a:r>
              <a:rPr lang="en-AU" sz="2400" b="1" i="0" dirty="0" smtClean="0">
                <a:solidFill>
                  <a:srgbClr val="D980FA"/>
                </a:solidFill>
                <a:effectLst/>
                <a:latin typeface="Arial" panose="020B0604020202020204" pitchFamily="34" charset="0"/>
              </a:rPr>
              <a:t>same voltage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across them.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However, the </a:t>
            </a:r>
            <a:r>
              <a:rPr lang="en-AU" sz="2400" b="1" i="0" dirty="0" smtClean="0">
                <a:solidFill>
                  <a:srgbClr val="1289A7"/>
                </a:solidFill>
                <a:effectLst/>
                <a:latin typeface="Arial" panose="020B0604020202020204" pitchFamily="34" charset="0"/>
              </a:rPr>
              <a:t>current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 </a:t>
            </a:r>
            <a:r>
              <a:rPr lang="en-AU" sz="2400" b="1" i="0" dirty="0" smtClean="0">
                <a:solidFill>
                  <a:srgbClr val="1289A7"/>
                </a:solidFill>
                <a:effectLst/>
                <a:latin typeface="Arial" panose="020B0604020202020204" pitchFamily="34" charset="0"/>
              </a:rPr>
              <a:t>split up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these </a:t>
            </a:r>
            <a:r>
              <a:rPr lang="en-AU" sz="2400" b="1" i="0" dirty="0" smtClean="0">
                <a:solidFill>
                  <a:srgbClr val="B53471"/>
                </a:solidFill>
                <a:effectLst/>
                <a:latin typeface="Arial" panose="020B0604020202020204" pitchFamily="34" charset="0"/>
              </a:rPr>
              <a:t>circuits.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This is because there are </a:t>
            </a:r>
            <a:r>
              <a:rPr lang="en-AU" sz="2400" b="1" i="0" dirty="0" smtClean="0">
                <a:solidFill>
                  <a:srgbClr val="B53471"/>
                </a:solidFill>
                <a:effectLst/>
                <a:latin typeface="Arial" panose="020B0604020202020204" pitchFamily="34" charset="0"/>
              </a:rPr>
              <a:t>multiple paths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for the </a:t>
            </a:r>
            <a:r>
              <a:rPr lang="en-AU" sz="2400" b="1" i="0" dirty="0" smtClean="0">
                <a:solidFill>
                  <a:srgbClr val="1289A7"/>
                </a:solidFill>
                <a:effectLst/>
                <a:latin typeface="Arial" panose="020B0604020202020204" pitchFamily="34" charset="0"/>
              </a:rPr>
              <a:t>current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flow down, but each </a:t>
            </a:r>
            <a:r>
              <a:rPr lang="en-AU" sz="2400" b="1" i="0" dirty="0" smtClean="0">
                <a:solidFill>
                  <a:srgbClr val="2E86DE"/>
                </a:solidFill>
                <a:effectLst/>
                <a:latin typeface="Arial" panose="020B0604020202020204" pitchFamily="34" charset="0"/>
              </a:rPr>
              <a:t>electron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can only go down one branch at a time.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0" name="Picture 2" descr="https://www.educationperfect.com/media/content/Science/1530591741.98931g/1530591741965-3185310165505128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7175" y="3151495"/>
            <a:ext cx="3800475" cy="350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ttps://www.educationperfect.com/media/content/Science/1530591243.051371g/1530591242987-3185310165505128-400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6975" y="3151495"/>
            <a:ext cx="5160791" cy="350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01527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9100" y="381338"/>
            <a:ext cx="114935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Simplifying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resistance.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Whether multiple resistors are in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series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or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parallel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with each other affects how we do calculations with them. 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total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or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combined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resistance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R</a:t>
            </a:r>
            <a:r>
              <a:rPr lang="en-AU" sz="2400" b="1" i="0" baseline="-25000" dirty="0" smtClean="0">
                <a:solidFill>
                  <a:srgbClr val="444444"/>
                </a:solidFill>
                <a:effectLst/>
                <a:latin typeface="KaTeX_Main"/>
              </a:rPr>
              <a:t>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​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 of two or more individual resistors can be found by using the formulae in the table below.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696" y="2874962"/>
            <a:ext cx="9648308" cy="2789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6518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" y="0"/>
            <a:ext cx="1219200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Types of circuit.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all components are connected in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series,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circuit is described as a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series circuit.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all components are connected in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parallel,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circuit is described as a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parallel circuit.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you have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both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components connected in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series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and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parallel,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circuit is described as a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combination circuit.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more components you have, the more connections there are between them, and the more complex the circuit becomes.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5087" y="4292600"/>
            <a:ext cx="6981825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0830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12" y="292100"/>
            <a:ext cx="11102930" cy="466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1415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587" y="569912"/>
            <a:ext cx="9396413" cy="6010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4616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100" y="365125"/>
            <a:ext cx="9550400" cy="6247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6548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5424" y="95305"/>
            <a:ext cx="9121775" cy="6762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1422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1274" y="257174"/>
            <a:ext cx="8950325" cy="6306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5772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962" y="460374"/>
            <a:ext cx="9054648" cy="594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6923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050" y="126999"/>
            <a:ext cx="8693150" cy="6334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9496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237" y="209550"/>
            <a:ext cx="11264234" cy="6153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1250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950" y="612774"/>
            <a:ext cx="10534650" cy="526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0769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21</Words>
  <Application>Microsoft Office PowerPoint</Application>
  <PresentationFormat>Widescreen</PresentationFormat>
  <Paragraphs>33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Arial</vt:lpstr>
      <vt:lpstr>Calibri</vt:lpstr>
      <vt:lpstr>Calibri Light</vt:lpstr>
      <vt:lpstr>KaTeX_Main</vt:lpstr>
      <vt:lpstr>Office Theme</vt:lpstr>
      <vt:lpstr>Circuit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Circuit Analysis</dc:title>
  <dc:creator>Joseph D'cruz</dc:creator>
  <cp:lastModifiedBy>Joseph D'cruz</cp:lastModifiedBy>
  <cp:revision>3</cp:revision>
  <dcterms:created xsi:type="dcterms:W3CDTF">2020-07-15T06:52:38Z</dcterms:created>
  <dcterms:modified xsi:type="dcterms:W3CDTF">2021-04-02T11:53:23Z</dcterms:modified>
</cp:coreProperties>
</file>
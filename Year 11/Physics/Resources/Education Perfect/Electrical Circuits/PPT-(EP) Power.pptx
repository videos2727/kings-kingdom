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1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7613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45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29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0055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038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714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006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91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908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7344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01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1B32E-71D9-4937-8016-6D27532C7D47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B2B8F-B691-4AD6-951B-EE3C42922C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272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Power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812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673438"/>
            <a:ext cx="904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By the end of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48927C"/>
                </a:solidFill>
                <a:latin typeface="Arial" panose="020B0604020202020204" pitchFamily="34" charset="0"/>
              </a:rPr>
              <a:t>Define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power in a circuit and how power is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dissipated over circuit components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48927C"/>
                </a:solidFill>
                <a:latin typeface="Arial" panose="020B0604020202020204" pitchFamily="34" charset="0"/>
              </a:rPr>
              <a:t>Describe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relationship between power, voltage, current and resistance.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Solve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problems for one of power, voltage, current or resistance.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igh voltage power pyl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100" y="3022600"/>
            <a:ext cx="5295900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61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1030238"/>
            <a:ext cx="10909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We have come across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power in previous topics.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mechanics we discussed mechanical power, which was defined as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rate at which work is done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or the rate at which energy is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transferred or transformed.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equations we used to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calculate mechanical power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were as follows: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974" y="2784564"/>
            <a:ext cx="3474509" cy="11524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700" y="4377035"/>
            <a:ext cx="10325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It turns out that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electrical power is defined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a very similar way and a lot of what we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already know about power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can be applied here.</a:t>
            </a:r>
            <a:endParaRPr lang="en-AU" dirty="0"/>
          </a:p>
        </p:txBody>
      </p:sp>
      <p:pic>
        <p:nvPicPr>
          <p:cNvPr id="2050" name="Picture 2" descr="Diagram showing that mechanical energy can be converted to electrical energy by a moto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5023366"/>
            <a:ext cx="7683500" cy="188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20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900" y="400040"/>
            <a:ext cx="10490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Electric power is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amount of electrical energy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transformed by a circuit component every second.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But what does this actually mean? We know that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electrical circuits can transfer electrical energy.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However, each component in the circuit will only transfer some of the electrical energy passing through it.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remainder of the electrical energy passing through each circuit component will be transformed into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another form of energy like heat or light.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A circu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899" y="3386077"/>
            <a:ext cx="4943475" cy="3297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83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6300" y="642035"/>
            <a:ext cx="9588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Electrical energy is transformed into different forms of energy by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different circuit components.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270474"/>
              </p:ext>
            </p:extLst>
          </p:nvPr>
        </p:nvGraphicFramePr>
        <p:xfrm>
          <a:off x="787400" y="2158524"/>
          <a:ext cx="5715000" cy="662940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622001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Resistors will transform some </a:t>
                      </a:r>
                      <a:r>
                        <a:rPr lang="en-AU" b="1" dirty="0">
                          <a:solidFill>
                            <a:srgbClr val="FD9F45"/>
                          </a:solidFill>
                          <a:effectLst/>
                        </a:rPr>
                        <a:t>electrical energy to create heat.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34817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98500" y="336845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Bulbs will transform some electrical energy to</a:t>
            </a:r>
            <a:r>
              <a:rPr lang="en-AU" dirty="0"/>
              <a:t/>
            </a:r>
            <a:br>
              <a:rPr lang="en-AU" dirty="0"/>
            </a:b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create heat and light.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596900" y="4901554"/>
            <a:ext cx="1069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When discussing the amount of this electrical energy that is transformed by each component, we refer to the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electrical power that it uses or dissipates.</a:t>
            </a:r>
            <a:endParaRPr lang="en-AU" dirty="0"/>
          </a:p>
        </p:txBody>
      </p:sp>
      <p:pic>
        <p:nvPicPr>
          <p:cNvPr id="4098" name="Picture 2" descr="Resistors on a breadboar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146" y="1060792"/>
            <a:ext cx="2861803" cy="190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dison bulb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145" y="2961030"/>
            <a:ext cx="2861803" cy="191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94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95638"/>
            <a:ext cx="11188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smtClean="0">
                <a:solidFill>
                  <a:srgbClr val="444444"/>
                </a:solidFill>
                <a:latin typeface="Arial" panose="020B0604020202020204" pitchFamily="34" charset="0"/>
              </a:rPr>
              <a:t>The electrical power dissipated by a bulb determines the </a:t>
            </a:r>
            <a:r>
              <a:rPr lang="en-AU" b="1" smtClean="0">
                <a:solidFill>
                  <a:srgbClr val="FD9F45"/>
                </a:solidFill>
                <a:latin typeface="Arial" panose="020B0604020202020204" pitchFamily="34" charset="0"/>
              </a:rPr>
              <a:t>brightness of the bulb.</a:t>
            </a:r>
            <a:endParaRPr lang="en-AU" smtClean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smtClean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smtClean="0">
                <a:solidFill>
                  <a:srgbClr val="3BA486"/>
                </a:solidFill>
                <a:latin typeface="Arial" panose="020B0604020202020204" pitchFamily="34" charset="0"/>
              </a:rPr>
              <a:t>Light bulbs transform electrical energy</a:t>
            </a:r>
            <a:r>
              <a:rPr lang="en-AU" smtClean="0">
                <a:solidFill>
                  <a:srgbClr val="444444"/>
                </a:solidFill>
                <a:latin typeface="Arial" panose="020B0604020202020204" pitchFamily="34" charset="0"/>
              </a:rPr>
              <a:t> into heat and light. In order to produce more light and </a:t>
            </a:r>
            <a:r>
              <a:rPr lang="en-AU" b="1" smtClean="0">
                <a:solidFill>
                  <a:srgbClr val="8C4AB2"/>
                </a:solidFill>
                <a:latin typeface="Arial" panose="020B0604020202020204" pitchFamily="34" charset="0"/>
              </a:rPr>
              <a:t>increase the brightness of the bulb,</a:t>
            </a:r>
            <a:r>
              <a:rPr lang="en-AU" smtClean="0">
                <a:solidFill>
                  <a:srgbClr val="444444"/>
                </a:solidFill>
                <a:latin typeface="Arial" panose="020B0604020202020204" pitchFamily="34" charset="0"/>
              </a:rPr>
              <a:t> more electrical energy will need to be transformed.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0700" y="2487136"/>
            <a:ext cx="10718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amount of electrical energy that is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transformed each second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the same as the amount of power dissipated by the bulb. Thus if the bulb dissipates more power,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it gets brighter.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Similarly, if a bulb dissipates less power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it will get dimmer.</a:t>
            </a:r>
            <a:endParaRPr lang="en-AU" dirty="0"/>
          </a:p>
        </p:txBody>
      </p:sp>
      <p:pic>
        <p:nvPicPr>
          <p:cNvPr id="5122" name="Picture 2" descr="Edison bulb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975" y="4000500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67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476935"/>
            <a:ext cx="9728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How do we describe 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power dissipated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by circuit components?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39146"/>
              </p:ext>
            </p:extLst>
          </p:nvPr>
        </p:nvGraphicFramePr>
        <p:xfrm>
          <a:off x="4724400" y="1449864"/>
          <a:ext cx="6477000" cy="937260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1539606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To describe the power dissipated over a circuit component, </a:t>
                      </a:r>
                      <a:r>
                        <a:rPr lang="en-AU" b="1" dirty="0">
                          <a:solidFill>
                            <a:srgbClr val="FD9F45"/>
                          </a:solidFill>
                          <a:effectLst/>
                        </a:rPr>
                        <a:t>we use the symbol</a:t>
                      </a:r>
                      <a:r>
                        <a:rPr lang="en-AU" dirty="0">
                          <a:effectLst/>
                        </a:rPr>
                        <a:t> </a:t>
                      </a:r>
                      <a:r>
                        <a:rPr lang="en-AU" b="1" i="1" dirty="0">
                          <a:solidFill>
                            <a:srgbClr val="FD9F45"/>
                          </a:solidFill>
                          <a:effectLst/>
                          <a:latin typeface="KaTeX_Math"/>
                        </a:rPr>
                        <a:t>P</a:t>
                      </a:r>
                      <a:r>
                        <a:rPr lang="en-AU" dirty="0">
                          <a:effectLst/>
                        </a:rPr>
                        <a:t> and we use the unit Watts 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(W).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13072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724400" y="299072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This unit is named after the Scottish inventor James Watt, pictured left, to honour his conception of the idea of horsepower as a comparison tool for steam engines. You may also see the unit of power written as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Joules per second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b="1" dirty="0">
                <a:solidFill>
                  <a:srgbClr val="3BA486"/>
                </a:solidFill>
                <a:latin typeface="KaTeX_Main"/>
              </a:rPr>
              <a:t>(J s</a:t>
            </a:r>
            <a:r>
              <a:rPr lang="en-AU" baseline="30000" dirty="0">
                <a:solidFill>
                  <a:srgbClr val="3BA486"/>
                </a:solidFill>
                <a:latin typeface="KaTeX_Main"/>
              </a:rPr>
              <a:t>−</a:t>
            </a:r>
            <a:r>
              <a:rPr lang="en-AU" b="1" baseline="30000" dirty="0">
                <a:solidFill>
                  <a:srgbClr val="3BA486"/>
                </a:solidFill>
                <a:latin typeface="KaTeX_Main"/>
              </a:rPr>
              <a:t>1</a:t>
            </a:r>
            <a:r>
              <a:rPr lang="en-AU" b="1" dirty="0">
                <a:solidFill>
                  <a:srgbClr val="3BA486"/>
                </a:solidFill>
                <a:latin typeface="KaTeX_Main"/>
              </a:rPr>
              <a:t>).</a:t>
            </a:r>
            <a:endParaRPr lang="en-AU" dirty="0"/>
          </a:p>
        </p:txBody>
      </p:sp>
      <p:pic>
        <p:nvPicPr>
          <p:cNvPr id="6146" name="Picture 2" descr="Scottish inventor James Watts, for whom the Watt is name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612900"/>
            <a:ext cx="31813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28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561539"/>
            <a:ext cx="9563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Let’s see how this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relates to the brightness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of a bulb.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Most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household bulbs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have a power rating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60-100 W.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100 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bulb will dissipate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more energy in the same amount of time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than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60 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bulb. Thus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100 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bulb will be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brighter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than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60 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bulb.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higher the power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rating of the bulb, 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more power it will dissipate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the brighter it will be.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Lightbulb covered in cobweb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3479151"/>
            <a:ext cx="4375150" cy="289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8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724" y="117475"/>
            <a:ext cx="6099175" cy="652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6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187" y="0"/>
            <a:ext cx="5002213" cy="671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21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2" y="0"/>
            <a:ext cx="7437438" cy="66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50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75841"/>
            <a:ext cx="10807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>
                <a:solidFill>
                  <a:srgbClr val="444444"/>
                </a:solidFill>
                <a:latin typeface="Arial" panose="020B0604020202020204" pitchFamily="34" charset="0"/>
              </a:rPr>
              <a:t>Now that we know what </a:t>
            </a:r>
            <a:r>
              <a:rPr lang="en-AU" b="1">
                <a:solidFill>
                  <a:srgbClr val="8C4AB2"/>
                </a:solidFill>
                <a:latin typeface="Arial" panose="020B0604020202020204" pitchFamily="34" charset="0"/>
              </a:rPr>
              <a:t>electrical power</a:t>
            </a:r>
            <a:r>
              <a:rPr lang="en-AU" b="1">
                <a:solidFill>
                  <a:srgbClr val="444444"/>
                </a:solidFill>
                <a:latin typeface="Arial" panose="020B0604020202020204" pitchFamily="34" charset="0"/>
              </a:rPr>
              <a:t> is, let’s see how we can calculate it.</a:t>
            </a:r>
            <a:endParaRPr lang="en-AU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know power is defined as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amount of energy transformed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by a circuit component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every second.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equation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is used to describe this is: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P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=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IV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That is, the power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(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P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)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found by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multiplying the current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b="1" dirty="0">
                <a:solidFill>
                  <a:srgbClr val="FD9F45"/>
                </a:solidFill>
                <a:latin typeface="KaTeX_Main"/>
              </a:rPr>
              <a:t>(</a:t>
            </a:r>
            <a:r>
              <a:rPr lang="en-AU" b="1" i="1" dirty="0">
                <a:solidFill>
                  <a:srgbClr val="FD9F45"/>
                </a:solidFill>
                <a:latin typeface="KaTeX_Math"/>
              </a:rPr>
              <a:t>I</a:t>
            </a:r>
            <a:r>
              <a:rPr lang="en-AU" b="1" dirty="0">
                <a:solidFill>
                  <a:srgbClr val="FD9F45"/>
                </a:solidFill>
                <a:latin typeface="KaTeX_Main"/>
              </a:rPr>
              <a:t>)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flowing through that circuit component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with the 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r>
              <a:rPr lang="en-AU" b="1" dirty="0">
                <a:solidFill>
                  <a:srgbClr val="3BA486"/>
                </a:solidFill>
                <a:latin typeface="KaTeX_Main"/>
              </a:rPr>
              <a:t>(</a:t>
            </a:r>
            <a:r>
              <a:rPr lang="en-AU" b="1" i="1" dirty="0">
                <a:solidFill>
                  <a:srgbClr val="3BA486"/>
                </a:solidFill>
                <a:latin typeface="KaTeX_Math"/>
              </a:rPr>
              <a:t>V</a:t>
            </a:r>
            <a:r>
              <a:rPr lang="en-AU" b="1" dirty="0">
                <a:solidFill>
                  <a:srgbClr val="3BA486"/>
                </a:solidFill>
                <a:latin typeface="KaTeX_Main"/>
              </a:rPr>
              <a:t>)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over that circuit component.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Complicated circuit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992" y="3670300"/>
            <a:ext cx="456971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60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401935"/>
            <a:ext cx="11010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power dissipated over a circuit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component is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linearly proportional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to the current flowing through the component.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0111" y="1847334"/>
            <a:ext cx="8611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200" i="1" dirty="0">
                <a:solidFill>
                  <a:srgbClr val="444444"/>
                </a:solidFill>
                <a:latin typeface="KaTeX_Math"/>
              </a:rPr>
              <a:t>P</a:t>
            </a:r>
            <a:r>
              <a:rPr lang="en-AU" sz="3200" dirty="0">
                <a:solidFill>
                  <a:srgbClr val="444444"/>
                </a:solidFill>
                <a:latin typeface="KaTeX_Main"/>
              </a:rPr>
              <a:t>∝</a:t>
            </a:r>
            <a:r>
              <a:rPr lang="en-AU" sz="3200" i="1" dirty="0">
                <a:solidFill>
                  <a:srgbClr val="444444"/>
                </a:solidFill>
                <a:latin typeface="KaTeX_Math"/>
              </a:rPr>
              <a:t>I</a:t>
            </a:r>
            <a:endParaRPr lang="en-AU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554937"/>
              </p:ext>
            </p:extLst>
          </p:nvPr>
        </p:nvGraphicFramePr>
        <p:xfrm>
          <a:off x="2711450" y="1351051"/>
          <a:ext cx="8191500" cy="1577340"/>
        </p:xfrm>
        <a:graphic>
          <a:graphicData uri="http://schemas.openxmlformats.org/drawingml/2006/table">
            <a:tbl>
              <a:tblPr/>
              <a:tblGrid>
                <a:gridCol w="8191500">
                  <a:extLst>
                    <a:ext uri="{9D8B030D-6E8A-4147-A177-3AD203B41FA5}">
                      <a16:colId xmlns:a16="http://schemas.microsoft.com/office/drawing/2014/main" val="939000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/>
                      </a:r>
                      <a:br>
                        <a:rPr lang="en-AU" sz="2400" dirty="0">
                          <a:effectLst/>
                        </a:rPr>
                      </a:br>
                      <a:r>
                        <a:rPr lang="en-AU" sz="2400" dirty="0">
                          <a:effectLst/>
                        </a:rPr>
                        <a:t>This means that when we have </a:t>
                      </a:r>
                      <a:r>
                        <a:rPr lang="en-AU" sz="2400" b="1" dirty="0">
                          <a:solidFill>
                            <a:srgbClr val="FD9F45"/>
                          </a:solidFill>
                          <a:effectLst/>
                        </a:rPr>
                        <a:t>more current flowing</a:t>
                      </a:r>
                      <a:r>
                        <a:rPr lang="en-AU" sz="2400" dirty="0">
                          <a:effectLst/>
                        </a:rPr>
                        <a:t> through the component, the power dissipated over the component </a:t>
                      </a:r>
                      <a:r>
                        <a:rPr lang="en-AU" sz="2400" b="1" dirty="0">
                          <a:solidFill>
                            <a:srgbClr val="FD9F45"/>
                          </a:solidFill>
                          <a:effectLst/>
                        </a:rPr>
                        <a:t>increases at the same rate.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66918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33400" y="3127294"/>
            <a:ext cx="11214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What does this mean for a lightbulb? If a bulb has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more current flowing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through it, it will dissipate more power and it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will be brighter.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contrast, if we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reduce the current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flowing through a bulb,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bulb will get dimmer.</a:t>
            </a:r>
            <a:endParaRPr lang="en-AU" dirty="0"/>
          </a:p>
        </p:txBody>
      </p:sp>
      <p:pic>
        <p:nvPicPr>
          <p:cNvPr id="9219" name="Picture 3" descr="P-I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87" y="3623576"/>
            <a:ext cx="282892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56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338435"/>
            <a:ext cx="1079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power dissipated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over a circuit component is also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linearly proportional to the potential difference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over the component.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470551"/>
              </p:ext>
            </p:extLst>
          </p:nvPr>
        </p:nvGraphicFramePr>
        <p:xfrm>
          <a:off x="1085850" y="1927384"/>
          <a:ext cx="8191500" cy="541020"/>
        </p:xfrm>
        <a:graphic>
          <a:graphicData uri="http://schemas.openxmlformats.org/drawingml/2006/table">
            <a:tbl>
              <a:tblPr/>
              <a:tblGrid>
                <a:gridCol w="8191500">
                  <a:extLst>
                    <a:ext uri="{9D8B030D-6E8A-4147-A177-3AD203B41FA5}">
                      <a16:colId xmlns:a16="http://schemas.microsoft.com/office/drawing/2014/main" val="220363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i="1" dirty="0">
                          <a:effectLst/>
                          <a:latin typeface="KaTeX_Math"/>
                        </a:rPr>
                        <a:t>P</a:t>
                      </a:r>
                      <a:r>
                        <a:rPr lang="en-AU" sz="2800" dirty="0">
                          <a:effectLst/>
                          <a:latin typeface="KaTeX_Main"/>
                        </a:rPr>
                        <a:t>∝</a:t>
                      </a:r>
                      <a:r>
                        <a:rPr lang="en-AU" sz="2800" i="1" dirty="0">
                          <a:effectLst/>
                          <a:latin typeface="KaTeX_Math"/>
                        </a:rPr>
                        <a:t>V</a:t>
                      </a:r>
                      <a:endParaRPr lang="en-AU" sz="28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41942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365500" y="173622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This means that when we have a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higher 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over a component, the power dissipated over the component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increases at the same rate.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800100" y="3071336"/>
            <a:ext cx="10337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What does this mean for a lightbulb? If a bulb has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higher 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over it, it will dissipate more power and it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will be brighter.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contrast, if we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reduce the 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over a bulb, the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bulb will get dimmer.</a:t>
            </a:r>
            <a:endParaRPr lang="en-AU" dirty="0"/>
          </a:p>
        </p:txBody>
      </p:sp>
      <p:pic>
        <p:nvPicPr>
          <p:cNvPr id="10242" name="Picture 2" descr="P-V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075" y="3629025"/>
            <a:ext cx="2819400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260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465435"/>
            <a:ext cx="11010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current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flowing through a circuit component is inversely proportional to the potential difference across it,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if power is held constant.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4" y="1682750"/>
            <a:ext cx="1598839" cy="14922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46400" y="1682750"/>
            <a:ext cx="8343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This means that when we have a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higher 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over a component, and the power dissipated by the component is unchanged, then 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current flowing through the circuit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component must decrease at the same rate that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potential difference increases.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558800" y="3454063"/>
            <a:ext cx="10477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Conversely, if we increase 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current flowing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through a circuit component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by the same factor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as we decrease the potential difference, the power dissipated by the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circuit component would be unchanged.</a:t>
            </a:r>
            <a:endParaRPr lang="en-AU" dirty="0"/>
          </a:p>
        </p:txBody>
      </p:sp>
      <p:pic>
        <p:nvPicPr>
          <p:cNvPr id="11266" name="Picture 2" descr="I-V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6" y="3640435"/>
            <a:ext cx="2640640" cy="307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82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96838"/>
            <a:ext cx="10807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Now that we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understand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equations, let's see it in action.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circuit below contains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a battery and a resistor.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There is a </a:t>
            </a:r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current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flowing through the resistor and it has a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8V.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power dissipated by the resistor.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A simple circuit with a current of 5 Amps, a resistor, and a 8 volt battery all in seri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548" y="2781300"/>
            <a:ext cx="4509752" cy="391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830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482938"/>
            <a:ext cx="11049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circuit below contains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battery and a resistor.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There is a </a:t>
            </a:r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current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flowing through the resistor and it has a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8V.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power dissipated by the resistor.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927" y="2395537"/>
            <a:ext cx="6380545" cy="1820863"/>
          </a:xfrm>
          <a:prstGeom prst="rect">
            <a:avLst/>
          </a:prstGeom>
        </p:spPr>
      </p:pic>
      <p:pic>
        <p:nvPicPr>
          <p:cNvPr id="13314" name="Picture 2" descr="A simple circuit with a current of 5 Amps, a resistor, and a 8 volt battery all in seri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91" y="4216400"/>
            <a:ext cx="3054209" cy="264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940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331738"/>
            <a:ext cx="11188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>
                <a:solidFill>
                  <a:srgbClr val="444444"/>
                </a:solidFill>
                <a:latin typeface="Arial" panose="020B0604020202020204" pitchFamily="34" charset="0"/>
              </a:rPr>
              <a:t>We can also use the </a:t>
            </a:r>
            <a:r>
              <a:rPr lang="en-AU" b="1">
                <a:solidFill>
                  <a:srgbClr val="8C4AB2"/>
                </a:solidFill>
                <a:latin typeface="Arial" panose="020B0604020202020204" pitchFamily="34" charset="0"/>
              </a:rPr>
              <a:t>power equation</a:t>
            </a:r>
            <a:r>
              <a:rPr lang="en-AU" b="1">
                <a:solidFill>
                  <a:srgbClr val="444444"/>
                </a:solidFill>
                <a:latin typeface="Arial" panose="020B0604020202020204" pitchFamily="34" charset="0"/>
              </a:rPr>
              <a:t> to calculate the </a:t>
            </a:r>
            <a:r>
              <a:rPr lang="en-AU" b="1">
                <a:solidFill>
                  <a:srgbClr val="3BA486"/>
                </a:solidFill>
                <a:latin typeface="Arial" panose="020B0604020202020204" pitchFamily="34" charset="0"/>
              </a:rPr>
              <a:t>current</a:t>
            </a:r>
            <a:r>
              <a:rPr lang="en-AU" b="1">
                <a:solidFill>
                  <a:srgbClr val="444444"/>
                </a:solidFill>
                <a:latin typeface="Arial" panose="020B0604020202020204" pitchFamily="34" charset="0"/>
              </a:rPr>
              <a:t> or </a:t>
            </a:r>
            <a:r>
              <a:rPr lang="en-AU" b="1">
                <a:solidFill>
                  <a:srgbClr val="3770C7"/>
                </a:solidFill>
                <a:latin typeface="Arial" panose="020B0604020202020204" pitchFamily="34" charset="0"/>
              </a:rPr>
              <a:t>potential difference.</a:t>
            </a:r>
            <a:endParaRPr lang="en-AU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circuit below contains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 battery and a resistor. There is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3.6V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across the resistor and it dissipates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100W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 power.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current flowing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through the resistor.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Circuit diagram of a circuit with a 3.6 V battery and a resistor with a current flowin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949" y="2743200"/>
            <a:ext cx="4216126" cy="401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884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470238"/>
            <a:ext cx="10871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circuit below contains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 battery and a resistor. There is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potential difference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3.6V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across the resistor and it dissipates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100W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 power.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current flowing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through the resistor.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274" y="2387599"/>
            <a:ext cx="6346825" cy="22974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6400" y="4685092"/>
            <a:ext cx="1087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this case we have rounded the final answer to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two significant figures,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as that was the lowest number of significant figures given in the question.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5584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225" y="61912"/>
            <a:ext cx="706755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90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362" y="0"/>
            <a:ext cx="8440738" cy="690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30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01600"/>
            <a:ext cx="8120063" cy="653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3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37" y="30587"/>
            <a:ext cx="8551863" cy="682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587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87" y="225247"/>
            <a:ext cx="7745413" cy="663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44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24" y="54710"/>
            <a:ext cx="8791575" cy="680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15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0"/>
            <a:ext cx="7334250" cy="672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1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4" y="90487"/>
            <a:ext cx="8404225" cy="687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93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62" y="0"/>
            <a:ext cx="8796338" cy="679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10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213142"/>
            <a:ext cx="11252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 far we have considered situations where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we know both the current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and the potential difference.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But what happens when one of these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quantities isn’t given?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Instead we may have been given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the resistance of the component.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Remember Ohm’s law?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=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IR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could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use Ohm’s law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to solve for either the potential difference or the current, and then use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the power equation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to solve the problem.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This would require a few more steps than if we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combined the power equation with Ohm’s law!!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Resistors on a circuit board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699" y="3627720"/>
            <a:ext cx="3914775" cy="261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674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314" y="412234"/>
            <a:ext cx="51389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Let’s see how to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combine the two equations.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95791"/>
              </p:ext>
            </p:extLst>
          </p:nvPr>
        </p:nvGraphicFramePr>
        <p:xfrm>
          <a:off x="4794250" y="1269524"/>
          <a:ext cx="2857500" cy="60198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3886799143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867933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3200" i="1" dirty="0" smtClean="0">
                          <a:effectLst/>
                          <a:latin typeface="KaTeX_Math"/>
                        </a:rPr>
                        <a:t>P</a:t>
                      </a:r>
                      <a:r>
                        <a:rPr lang="en-AU" sz="3200" dirty="0" smtClean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3200" i="1" dirty="0" smtClean="0">
                          <a:effectLst/>
                          <a:latin typeface="KaTeX_Math"/>
                        </a:rPr>
                        <a:t>IV</a:t>
                      </a:r>
                      <a:endParaRPr lang="en-AU" sz="32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3200" i="1" dirty="0">
                          <a:effectLst/>
                          <a:latin typeface="KaTeX_Math"/>
                        </a:rPr>
                        <a:t>V</a:t>
                      </a:r>
                      <a:r>
                        <a:rPr lang="en-AU" sz="3200" dirty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3200" i="1" dirty="0">
                          <a:effectLst/>
                          <a:latin typeface="KaTeX_Math"/>
                        </a:rPr>
                        <a:t>IR</a:t>
                      </a:r>
                      <a:endParaRPr lang="en-AU" sz="32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5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555750" y="2153335"/>
            <a:ext cx="9239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If we are given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the current and the resistance,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can substitute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Ohm’s law 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into the power equation: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9" y="3243272"/>
            <a:ext cx="6769101" cy="1544627"/>
          </a:xfrm>
          <a:prstGeom prst="rect">
            <a:avLst/>
          </a:prstGeom>
        </p:spPr>
      </p:pic>
      <p:pic>
        <p:nvPicPr>
          <p:cNvPr id="16386" name="Picture 2" descr="https://www.educationperfect.com/media/content/Science/1504051655.912511g/1504051662096-247203211176253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4495800"/>
            <a:ext cx="2739624" cy="22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000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453936"/>
            <a:ext cx="9982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We could also combine the two equations by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rearranging Ohm’s law.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</a:b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03064"/>
              </p:ext>
            </p:extLst>
          </p:nvPr>
        </p:nvGraphicFramePr>
        <p:xfrm>
          <a:off x="3724275" y="1584484"/>
          <a:ext cx="4286250" cy="54102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164119524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4979978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530919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i="1">
                          <a:effectLst/>
                          <a:latin typeface="KaTeX_Math"/>
                        </a:rPr>
                        <a:t>P</a:t>
                      </a:r>
                      <a:r>
                        <a:rPr lang="en-AU" sz="280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800" i="1">
                          <a:effectLst/>
                          <a:latin typeface="KaTeX_Math"/>
                        </a:rPr>
                        <a:t>IV</a:t>
                      </a:r>
                      <a:endParaRPr lang="en-AU" sz="28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i="1" dirty="0">
                          <a:effectLst/>
                          <a:latin typeface="KaTeX_Math"/>
                        </a:rPr>
                        <a:t>V</a:t>
                      </a:r>
                      <a:r>
                        <a:rPr lang="en-AU" sz="2800" dirty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800" i="1" dirty="0">
                          <a:effectLst/>
                          <a:latin typeface="KaTeX_Math"/>
                        </a:rPr>
                        <a:t>IR</a:t>
                      </a:r>
                      <a:endParaRPr lang="en-AU" sz="28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i="1" dirty="0">
                          <a:effectLst/>
                          <a:latin typeface="KaTeX_Math"/>
                        </a:rPr>
                        <a:t>P</a:t>
                      </a:r>
                      <a:r>
                        <a:rPr lang="en-AU" sz="2800" dirty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800" i="1" dirty="0">
                          <a:effectLst/>
                          <a:latin typeface="KaTeX_Math"/>
                        </a:rPr>
                        <a:t>I</a:t>
                      </a:r>
                      <a:r>
                        <a:rPr lang="en-AU" sz="2800" baseline="30000" dirty="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800" i="1" dirty="0">
                          <a:effectLst/>
                          <a:latin typeface="KaTeX_Math"/>
                        </a:rPr>
                        <a:t>R</a:t>
                      </a:r>
                      <a:endParaRPr lang="en-AU" sz="28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0762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12800" y="2332722"/>
            <a:ext cx="1041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If we are given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potential difference and the resistance,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can substitute a rearrangement of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Ohm’s law into the power equation: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12" y="3186271"/>
            <a:ext cx="7316788" cy="332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80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69838"/>
            <a:ext cx="11061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Let’s work through an example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using our new equations.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the circuit below </a:t>
            </a:r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a battery is connected to a resistor.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current flowing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through the resistor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1.2A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the resistor has a resistance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50Ω.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power dissipated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by the resistor.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A circuit with a battery, a 50 Ohm resistor, and a 1.2 A current flowin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575" y="1738312"/>
            <a:ext cx="5838825" cy="471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118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360740"/>
            <a:ext cx="11823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Let’s work through an example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using our new equations.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the circuit below </a:t>
            </a:r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a battery is connected to a resistor.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current flowing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through the resistor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1.2A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the resistor has a resistance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50Ω.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power dissipated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by the resistor.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can use our combined power and Ohm’s law equations to solve this question: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2862262"/>
            <a:ext cx="7780687" cy="1582738"/>
          </a:xfrm>
          <a:prstGeom prst="rect">
            <a:avLst/>
          </a:prstGeom>
        </p:spPr>
      </p:pic>
      <p:pic>
        <p:nvPicPr>
          <p:cNvPr id="19458" name="Picture 2" descr="A circuit with a battery, a 50 Ohm resistor, and a 1.2 A current flowing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575" y="3581400"/>
            <a:ext cx="3870925" cy="312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729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7000" y="482938"/>
            <a:ext cx="11112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Peyton is hosting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Halloween party in their backyard.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They have found a lighting system that will help create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a spooky atmosphere.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To operate correctly, the </a:t>
            </a:r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lighting system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should be connected to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12V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power supply. The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lighting system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has a resistance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24Ω.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power dissipated by the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lighting system.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9871" y="2368034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following equations may be helpful: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985976"/>
              </p:ext>
            </p:extLst>
          </p:nvPr>
        </p:nvGraphicFramePr>
        <p:xfrm>
          <a:off x="4438650" y="3145134"/>
          <a:ext cx="2857500" cy="54102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13139965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005384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800" i="1" dirty="0">
                          <a:effectLst/>
                          <a:latin typeface="KaTeX_Math"/>
                        </a:rPr>
                        <a:t>P</a:t>
                      </a:r>
                      <a:r>
                        <a:rPr lang="en-AU" sz="2800" dirty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800" i="1" dirty="0">
                          <a:effectLst/>
                          <a:latin typeface="KaTeX_Math"/>
                        </a:rPr>
                        <a:t>IV</a:t>
                      </a:r>
                      <a:endParaRPr lang="en-AU" sz="28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800" i="1" dirty="0">
                          <a:effectLst/>
                          <a:latin typeface="KaTeX_Math"/>
                        </a:rPr>
                        <a:t>V</a:t>
                      </a:r>
                      <a:r>
                        <a:rPr lang="en-AU" sz="2800" dirty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800" i="1" dirty="0">
                          <a:effectLst/>
                          <a:latin typeface="KaTeX_Math"/>
                        </a:rPr>
                        <a:t>IR</a:t>
                      </a:r>
                      <a:endParaRPr lang="en-AU" sz="28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57073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3200" y="4642535"/>
            <a:ext cx="1140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i="1" dirty="0">
                <a:solidFill>
                  <a:srgbClr val="444444"/>
                </a:solidFill>
                <a:latin typeface="Arial" panose="020B0604020202020204" pitchFamily="34" charset="0"/>
              </a:rPr>
              <a:t>Round your answer to two significant figures and include the appropriate 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353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295345"/>
            <a:ext cx="111125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Peyton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hosting a Halloween party in their backyard. They have found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lighting system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will help create a spooky atmosphere.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To operate correctly,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lighting system should be connected to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12V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power supply. The lighting system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has a resistance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24Ω.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Peyton’s father has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connected the lighting system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to an extension cord that runs from a </a:t>
            </a:r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household socket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into the backyard. The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extension cord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has a resistance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5Ω.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Once the lighting system is turned on it is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dimmer than expected.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8C4AB2"/>
                </a:solidFill>
                <a:latin typeface="Arial" panose="020B0604020202020204" pitchFamily="34" charset="0"/>
              </a:rPr>
              <a:t>Propose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one possible reason for this and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support your answer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with calculations.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following equations may be helpful: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</a:b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057713"/>
              </p:ext>
            </p:extLst>
          </p:nvPr>
        </p:nvGraphicFramePr>
        <p:xfrm>
          <a:off x="4667250" y="3669824"/>
          <a:ext cx="2857500" cy="48006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4082127687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2042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i="1" dirty="0" smtClean="0">
                          <a:effectLst/>
                          <a:latin typeface="KaTeX_Math"/>
                        </a:rPr>
                        <a:t>P</a:t>
                      </a:r>
                      <a:r>
                        <a:rPr lang="en-AU" sz="2400" dirty="0" smtClean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400" i="1" dirty="0" smtClean="0">
                          <a:effectLst/>
                          <a:latin typeface="KaTeX_Math"/>
                        </a:rPr>
                        <a:t>IV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i="1" dirty="0">
                          <a:effectLst/>
                          <a:latin typeface="KaTeX_Math"/>
                        </a:rPr>
                        <a:t>V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400" i="1" dirty="0">
                          <a:effectLst/>
                          <a:latin typeface="KaTeX_Math"/>
                        </a:rPr>
                        <a:t>IR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001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505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455643"/>
            <a:ext cx="11353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Peyton is hosting a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Halloween party in their backyard. 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They have found a </a:t>
            </a:r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lighting system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will help create a spooky atmosphere.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To operate correctly,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lighting system should be connected to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12V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power supply. The lighting system has a resistance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24Ω.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Peyton’s father has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connected the lighting system to an </a:t>
            </a:r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extension cord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runs from a household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socket into the backyard.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extension cord has a resistance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5Ω.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BA486"/>
                </a:solidFill>
                <a:latin typeface="Arial" panose="020B0604020202020204" pitchFamily="34" charset="0"/>
              </a:rPr>
              <a:t>Explain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two changes that could be made to this </a:t>
            </a:r>
            <a:r>
              <a:rPr lang="en-AU" b="1" dirty="0">
                <a:solidFill>
                  <a:srgbClr val="FD9F45"/>
                </a:solidFill>
                <a:latin typeface="Arial" panose="020B0604020202020204" pitchFamily="34" charset="0"/>
              </a:rPr>
              <a:t>set-up to increase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brightness of </a:t>
            </a:r>
            <a:r>
              <a:rPr lang="en-AU" b="1" dirty="0">
                <a:solidFill>
                  <a:srgbClr val="3770C7"/>
                </a:solidFill>
                <a:latin typeface="Arial" panose="020B0604020202020204" pitchFamily="34" charset="0"/>
              </a:rPr>
              <a:t>the lighting system.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following equations may be helpful: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984336"/>
              </p:ext>
            </p:extLst>
          </p:nvPr>
        </p:nvGraphicFramePr>
        <p:xfrm>
          <a:off x="4667250" y="3669824"/>
          <a:ext cx="2857500" cy="48006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4082127687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2042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i="1" dirty="0" smtClean="0">
                          <a:effectLst/>
                          <a:latin typeface="KaTeX_Math"/>
                        </a:rPr>
                        <a:t>P</a:t>
                      </a:r>
                      <a:r>
                        <a:rPr lang="en-AU" sz="2400" dirty="0" smtClean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400" i="1" dirty="0" smtClean="0">
                          <a:effectLst/>
                          <a:latin typeface="KaTeX_Math"/>
                        </a:rPr>
                        <a:t>IV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i="1" dirty="0">
                          <a:effectLst/>
                          <a:latin typeface="KaTeX_Math"/>
                        </a:rPr>
                        <a:t>V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=</a:t>
                      </a:r>
                      <a:r>
                        <a:rPr lang="en-AU" sz="2400" i="1" dirty="0">
                          <a:effectLst/>
                          <a:latin typeface="KaTeX_Math"/>
                        </a:rPr>
                        <a:t>IR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001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145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4" y="244474"/>
            <a:ext cx="9640453" cy="643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6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289</Words>
  <Application>Microsoft Office PowerPoint</Application>
  <PresentationFormat>Widescreen</PresentationFormat>
  <Paragraphs>131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KaTeX_Main</vt:lpstr>
      <vt:lpstr>KaTeX_Math</vt:lpstr>
      <vt:lpstr>Office Theme</vt:lpstr>
      <vt:lpstr>Power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</dc:title>
  <dc:creator>Joseph D'cruz</dc:creator>
  <cp:lastModifiedBy>Joseph D'cruz</cp:lastModifiedBy>
  <cp:revision>7</cp:revision>
  <dcterms:created xsi:type="dcterms:W3CDTF">2020-07-15T05:49:25Z</dcterms:created>
  <dcterms:modified xsi:type="dcterms:W3CDTF">2021-04-03T02:09:10Z</dcterms:modified>
</cp:coreProperties>
</file>
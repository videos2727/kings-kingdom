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01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24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952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410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394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9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940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75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218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83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23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D716A-0248-4A07-98BE-9115E52AD1BF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66C01-BCC5-4AB1-AFFF-B45FE40F49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38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Significant Figures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736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6400" y="1789837"/>
            <a:ext cx="9017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already know how to round to a number of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decimal places.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alternative is to round to a number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significant figures.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instead of rounding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1.79803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decimal places, we might round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significant figures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instead.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585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580241"/>
            <a:ext cx="11112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Significant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important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having meaning,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significant figure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tells us something important about the value that it represents.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significant figures is a measure of how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accurate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number is.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number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figures. This is less accurate than the number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23.4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which numbers are considered significant, and which are not.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20775149.045891g/1420775086207-197637542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521" y="3327400"/>
            <a:ext cx="2918629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37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909935"/>
            <a:ext cx="962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non-zero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digits are significant. The number of significant figures is counted starting from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first non-zero digit.</a:t>
            </a:r>
            <a:endParaRPr lang="en-AU" dirty="0"/>
          </a:p>
        </p:txBody>
      </p:sp>
      <p:pic>
        <p:nvPicPr>
          <p:cNvPr id="2050" name="Picture 2" descr="https://www.educationperfect.com/media/content/Maths/1442273765.943721g/1442273787708-385056441623565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2540000"/>
            <a:ext cx="17526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educationperfect.com/media/content/Maths/1442277429.600961g/1442277447507-385056441623565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2540000"/>
            <a:ext cx="141922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295400" y="4834235"/>
            <a:ext cx="972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non-zero digit in a number is always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significant,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tells you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information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about the number.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1786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100" y="1039336"/>
            <a:ext cx="981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Zeroes found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two non-zero digits are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always significant.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Zeroes to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left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first non-zero digit are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never significant.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4636150.403491g/1454636149567-79848648646116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275" y="3114675"/>
            <a:ext cx="38100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57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02040"/>
            <a:ext cx="10871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 significant figures tell you about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number.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 there are,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accurate the number is.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Zeroes to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right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last non-zero number are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not significant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number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not a decimal.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number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is a decimal,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zeroes to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right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last non-zero number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are significant,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they indicate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accurate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number is. This zero shows you that there is a zero there, and not some other number.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4637715.147491g/1454637713998-79848648646116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3492500"/>
            <a:ext cx="285750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media/content/Science/1454637665.925221g/1454637665166-798486486461169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2910364"/>
            <a:ext cx="3810000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7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41914" y="805934"/>
            <a:ext cx="4831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see how this works with some examples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72475"/>
              </p:ext>
            </p:extLst>
          </p:nvPr>
        </p:nvGraphicFramePr>
        <p:xfrm>
          <a:off x="928642" y="1594644"/>
          <a:ext cx="8685258" cy="1511776"/>
        </p:xfrm>
        <a:graphic>
          <a:graphicData uri="http://schemas.openxmlformats.org/drawingml/2006/table">
            <a:tbl>
              <a:tblPr/>
              <a:tblGrid>
                <a:gridCol w="365285">
                  <a:extLst>
                    <a:ext uri="{9D8B030D-6E8A-4147-A177-3AD203B41FA5}">
                      <a16:colId xmlns:a16="http://schemas.microsoft.com/office/drawing/2014/main" val="1963238719"/>
                    </a:ext>
                  </a:extLst>
                </a:gridCol>
                <a:gridCol w="8319973">
                  <a:extLst>
                    <a:ext uri="{9D8B030D-6E8A-4147-A177-3AD203B41FA5}">
                      <a16:colId xmlns:a16="http://schemas.microsoft.com/office/drawing/2014/main" val="25850271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-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The number </a:t>
                      </a:r>
                      <a:r>
                        <a:rPr lang="en-AU">
                          <a:effectLst/>
                          <a:latin typeface="KaTeX_Main"/>
                        </a:rPr>
                        <a:t>385000</a:t>
                      </a:r>
                      <a:r>
                        <a:rPr lang="en-AU">
                          <a:effectLst/>
                        </a:rPr>
                        <a:t> has </a:t>
                      </a:r>
                      <a:r>
                        <a:rPr lang="en-AU">
                          <a:effectLst/>
                          <a:latin typeface="KaTeX_Main"/>
                        </a:rPr>
                        <a:t>3</a:t>
                      </a:r>
                      <a:r>
                        <a:rPr lang="en-AU">
                          <a:effectLst/>
                        </a:rPr>
                        <a:t> significant figures. The zeros on the right do not get counted because there is </a:t>
                      </a:r>
                      <a:r>
                        <a:rPr lang="en-AU" b="1">
                          <a:solidFill>
                            <a:srgbClr val="228B22"/>
                          </a:solidFill>
                          <a:effectLst/>
                        </a:rPr>
                        <a:t>no non-zero digit after them.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712910"/>
                  </a:ext>
                </a:extLst>
              </a:tr>
              <a:tr h="460216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-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The number </a:t>
                      </a:r>
                      <a:r>
                        <a:rPr lang="en-AU">
                          <a:effectLst/>
                          <a:latin typeface="KaTeX_Main"/>
                        </a:rPr>
                        <a:t>407300</a:t>
                      </a:r>
                      <a:r>
                        <a:rPr lang="en-AU">
                          <a:effectLst/>
                        </a:rPr>
                        <a:t> has </a:t>
                      </a:r>
                      <a:r>
                        <a:rPr lang="en-AU">
                          <a:effectLst/>
                          <a:latin typeface="KaTeX_Main"/>
                        </a:rPr>
                        <a:t>4</a:t>
                      </a:r>
                      <a:r>
                        <a:rPr lang="en-AU">
                          <a:effectLst/>
                        </a:rPr>
                        <a:t> significant figures.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81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-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The number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0.002</a:t>
                      </a:r>
                      <a:r>
                        <a:rPr lang="en-AU" dirty="0">
                          <a:effectLst/>
                        </a:rPr>
                        <a:t> has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1</a:t>
                      </a:r>
                      <a:r>
                        <a:rPr lang="en-AU" dirty="0">
                          <a:effectLst/>
                        </a:rPr>
                        <a:t> significant figure.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20756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473200" y="3982135"/>
            <a:ext cx="8648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let's practise working out how many significant figures some numbers have.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741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0041"/>
            <a:ext cx="11036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Sometimes it makes more sense to round to a number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significant figures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rather than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decimal places.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Using significant figures is a way to maintain the same level of accuracy.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if we have measured the diameter of a circle to be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3.5cm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it would be misleading to say that the circumference is: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π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×3.5cm=10.9955742875643  cm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a very accurate number - far more accurate than what we measured!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901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1463239"/>
            <a:ext cx="11557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giving an answer in science, it should be given to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same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significant figures as the number with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fewest significant figures in the question.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since we have measured the diameter of the circle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significant figures,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appropriate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also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round the calculated circumference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significant figures: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3.5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π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 cm=11  cm(2  sig. fig.)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74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20345"/>
            <a:ext cx="109347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let's have a go at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rounding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using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significant figures.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e.g. Round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5178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we notice that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5178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currently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want to look at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third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 to determine if we round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second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 up or down.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 this number is a seven: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51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7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we round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second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5178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rounded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 is: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5200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let's see how significant figures work with scientific notation.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41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0" y="181045"/>
            <a:ext cx="97409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significant figures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scientific notation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exactly the same. For example: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Round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1.054×10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−5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know that we only need to look at the number in front since powers of ten are not counted as significant figures. We know that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1.054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 and we want to round it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So, we look at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third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figure. Here, this is a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So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second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 gets rounded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up.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1.054×10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−5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rounded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 is: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1.1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×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5</a:t>
            </a:r>
            <a:endParaRPr lang="en-AU" b="0" i="0" baseline="3000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practise using significant figures with scientific notation now.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451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593636"/>
            <a:ext cx="10579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Lesson, you have learnt about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significant figures.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2921000" y="12147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Can you answer the following questions?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207884"/>
              </p:ext>
            </p:extLst>
          </p:nvPr>
        </p:nvGraphicFramePr>
        <p:xfrm>
          <a:off x="2717800" y="2138065"/>
          <a:ext cx="10515600" cy="1165860"/>
        </p:xfrm>
        <a:graphic>
          <a:graphicData uri="http://schemas.openxmlformats.org/drawingml/2006/table">
            <a:tbl>
              <a:tblPr/>
              <a:tblGrid>
                <a:gridCol w="927100">
                  <a:extLst>
                    <a:ext uri="{9D8B030D-6E8A-4147-A177-3AD203B41FA5}">
                      <a16:colId xmlns:a16="http://schemas.microsoft.com/office/drawing/2014/main" val="804844255"/>
                    </a:ext>
                  </a:extLst>
                </a:gridCol>
                <a:gridCol w="9588500">
                  <a:extLst>
                    <a:ext uri="{9D8B030D-6E8A-4147-A177-3AD203B41FA5}">
                      <a16:colId xmlns:a16="http://schemas.microsoft.com/office/drawing/2014/main" val="4259358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What is the number of </a:t>
                      </a:r>
                      <a:r>
                        <a:rPr lang="en-AU" b="1" dirty="0">
                          <a:solidFill>
                            <a:srgbClr val="E04E50"/>
                          </a:solidFill>
                          <a:effectLst/>
                        </a:rPr>
                        <a:t>significant figures</a:t>
                      </a:r>
                      <a:r>
                        <a:rPr lang="en-AU" dirty="0">
                          <a:effectLst/>
                        </a:rPr>
                        <a:t> a measure of?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21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</a:rPr>
                        <a:t>How</a:t>
                      </a:r>
                      <a:r>
                        <a:rPr lang="en-AU">
                          <a:solidFill>
                            <a:srgbClr val="0066CC"/>
                          </a:solidFill>
                          <a:effectLst/>
                        </a:rPr>
                        <a:t> are significant figures counted?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6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How do you </a:t>
                      </a:r>
                      <a:r>
                        <a:rPr lang="en-AU" b="1" dirty="0">
                          <a:solidFill>
                            <a:srgbClr val="228B22"/>
                          </a:solidFill>
                          <a:effectLst/>
                        </a:rPr>
                        <a:t>round</a:t>
                      </a:r>
                      <a:r>
                        <a:rPr lang="en-AU" dirty="0">
                          <a:effectLst/>
                        </a:rPr>
                        <a:t> with significant figures?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0493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540000" y="37916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Feel free to go back and revise this lesson if you don't know the answers to these questions.</a:t>
            </a:r>
            <a:endParaRPr lang="en-AU" dirty="0"/>
          </a:p>
        </p:txBody>
      </p:sp>
      <p:pic>
        <p:nvPicPr>
          <p:cNvPr id="6147" name="Picture 3" descr="https://www.educationperfect.com/media/content/German/1450124134.705311g/1450124187686-211959197448619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4206993"/>
            <a:ext cx="38100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34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0" y="1383437"/>
            <a:ext cx="1021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significant figures is a measure of how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accurate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number is.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number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figures. This is less accurate than the number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23.4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significant figures.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47124861.524321g/1447124877130-221495177601879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75" y="2890837"/>
            <a:ext cx="3810000" cy="364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891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0" y="896035"/>
            <a:ext cx="934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determine whether or not a digit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significant,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follow these rules: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525375"/>
              </p:ext>
            </p:extLst>
          </p:nvPr>
        </p:nvGraphicFramePr>
        <p:xfrm>
          <a:off x="889000" y="1672114"/>
          <a:ext cx="10515600" cy="18288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715848429"/>
                    </a:ext>
                  </a:extLst>
                </a:gridCol>
                <a:gridCol w="9169400">
                  <a:extLst>
                    <a:ext uri="{9D8B030D-6E8A-4147-A177-3AD203B41FA5}">
                      <a16:colId xmlns:a16="http://schemas.microsoft.com/office/drawing/2014/main" val="15478140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>
                          <a:solidFill>
                            <a:srgbClr val="E04E50"/>
                          </a:solidFill>
                          <a:effectLst/>
                        </a:rPr>
                        <a:t>Non-zero digits</a:t>
                      </a:r>
                      <a:r>
                        <a:rPr lang="en-AU">
                          <a:solidFill>
                            <a:srgbClr val="E04E50"/>
                          </a:solidFill>
                          <a:effectLst/>
                        </a:rPr>
                        <a:t> are </a:t>
                      </a:r>
                      <a:r>
                        <a:rPr lang="en-AU" b="1">
                          <a:solidFill>
                            <a:srgbClr val="E04E50"/>
                          </a:solidFill>
                          <a:effectLst/>
                        </a:rPr>
                        <a:t>always significant.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15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Zeroes </a:t>
                      </a:r>
                      <a:r>
                        <a:rPr lang="en-AU" b="1">
                          <a:solidFill>
                            <a:srgbClr val="228B22"/>
                          </a:solidFill>
                          <a:effectLst/>
                        </a:rPr>
                        <a:t>between</a:t>
                      </a:r>
                      <a:r>
                        <a:rPr lang="en-AU">
                          <a:effectLst/>
                        </a:rPr>
                        <a:t> two non-zero digits are </a:t>
                      </a:r>
                      <a:r>
                        <a:rPr lang="en-AU" b="1">
                          <a:effectLst/>
                        </a:rPr>
                        <a:t>always significant.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5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Zeroes to the </a:t>
                      </a:r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</a:rPr>
                        <a:t>left</a:t>
                      </a:r>
                      <a:r>
                        <a:rPr lang="en-AU">
                          <a:effectLst/>
                        </a:rPr>
                        <a:t> of the first non-zero digit are </a:t>
                      </a:r>
                      <a:r>
                        <a:rPr lang="en-AU" b="1">
                          <a:effectLst/>
                        </a:rPr>
                        <a:t>never significant.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869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Zeroes to the </a:t>
                      </a:r>
                      <a:r>
                        <a:rPr lang="en-AU" b="1" dirty="0">
                          <a:solidFill>
                            <a:srgbClr val="E04E50"/>
                          </a:solidFill>
                          <a:effectLst/>
                        </a:rPr>
                        <a:t>right</a:t>
                      </a:r>
                      <a:r>
                        <a:rPr lang="en-AU" dirty="0">
                          <a:effectLst/>
                        </a:rPr>
                        <a:t> of the last non-zero digit are </a:t>
                      </a:r>
                      <a:r>
                        <a:rPr lang="en-AU" b="1" dirty="0">
                          <a:effectLst/>
                        </a:rPr>
                        <a:t>significant</a:t>
                      </a:r>
                      <a:r>
                        <a:rPr lang="en-AU" dirty="0">
                          <a:effectLst/>
                        </a:rPr>
                        <a:t> if the number is a </a:t>
                      </a:r>
                      <a:r>
                        <a:rPr lang="en-AU" b="1" dirty="0">
                          <a:effectLst/>
                        </a:rPr>
                        <a:t>decimal,</a:t>
                      </a:r>
                      <a:r>
                        <a:rPr lang="en-AU" dirty="0">
                          <a:effectLst/>
                        </a:rPr>
                        <a:t> but </a:t>
                      </a:r>
                      <a:r>
                        <a:rPr lang="en-AU" b="1" dirty="0">
                          <a:effectLst/>
                        </a:rPr>
                        <a:t>not significant</a:t>
                      </a:r>
                      <a:r>
                        <a:rPr lang="en-AU" dirty="0">
                          <a:effectLst/>
                        </a:rPr>
                        <a:t> if the number is </a:t>
                      </a:r>
                      <a:r>
                        <a:rPr lang="en-AU" b="1" dirty="0">
                          <a:effectLst/>
                        </a:rPr>
                        <a:t>not a decimal.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529872"/>
                  </a:ext>
                </a:extLst>
              </a:tr>
            </a:tbl>
          </a:graphicData>
        </a:graphic>
      </p:graphicFrame>
      <p:pic>
        <p:nvPicPr>
          <p:cNvPr id="8194" name="Picture 2" descr="https://www.educationperfect.com/Images/Content/Maths/1371790097618-7787937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3309938"/>
            <a:ext cx="3670300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875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173</Words>
  <Application>Microsoft Office PowerPoint</Application>
  <PresentationFormat>Widescreen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KaTeX_Main</vt:lpstr>
      <vt:lpstr>KaTeX_Math</vt:lpstr>
      <vt:lpstr>Office Theme</vt:lpstr>
      <vt:lpstr>Significant Figures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Significant Figures</dc:title>
  <dc:creator>Joseph D'cruz</dc:creator>
  <cp:lastModifiedBy>Joseph D'cruz</cp:lastModifiedBy>
  <cp:revision>2</cp:revision>
  <dcterms:created xsi:type="dcterms:W3CDTF">2020-09-28T10:43:24Z</dcterms:created>
  <dcterms:modified xsi:type="dcterms:W3CDTF">2020-09-28T10:47:51Z</dcterms:modified>
</cp:coreProperties>
</file>
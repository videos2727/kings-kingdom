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321" r:id="rId2"/>
    <p:sldId id="256" r:id="rId3"/>
    <p:sldId id="431" r:id="rId4"/>
    <p:sldId id="404" r:id="rId5"/>
    <p:sldId id="432" r:id="rId6"/>
    <p:sldId id="433" r:id="rId7"/>
    <p:sldId id="434" r:id="rId8"/>
    <p:sldId id="435" r:id="rId9"/>
    <p:sldId id="436" r:id="rId10"/>
    <p:sldId id="437" r:id="rId11"/>
    <p:sldId id="438" r:id="rId12"/>
    <p:sldId id="439" r:id="rId13"/>
    <p:sldId id="44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3827"/>
    <p:restoredTop sz="95687"/>
  </p:normalViewPr>
  <p:slideViewPr>
    <p:cSldViewPr snapToGrid="0" snapToObjects="1">
      <p:cViewPr>
        <p:scale>
          <a:sx n="62" d="100"/>
          <a:sy n="62" d="100"/>
        </p:scale>
        <p:origin x="200" y="1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6:59.305"/>
    </inkml:context>
    <inkml:brush xml:id="br0">
      <inkml:brushProperty name="width" value="0.1" units="cm"/>
      <inkml:brushProperty name="height" value="0.6" units="cm"/>
      <inkml:brushProperty name="color" value="#849398"/>
      <inkml:brushProperty name="inkEffects" value="pencil"/>
    </inkml:brush>
  </inkml:definitions>
  <inkml:trace contextRef="#ctx0" brushRef="#br0">58 41 16383,'-30'-22'0,"11"4"0,10 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7:10.135"/>
    </inkml:context>
    <inkml:brush xml:id="br0">
      <inkml:brushProperty name="width" value="0.1" units="cm"/>
      <inkml:brushProperty name="height" value="0.6" units="cm"/>
      <inkml:brushProperty name="color" value="#849398"/>
      <inkml:brushProperty name="inkEffects" value="pencil"/>
    </inkml:brush>
  </inkml:definitions>
  <inkml:trace contextRef="#ctx0" brushRef="#br0">1 1 16383,'9'27'0,"-2"-5"0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7:39.41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9:16.597"/>
    </inkml:context>
    <inkml:brush xml:id="br0">
      <inkml:brushProperty name="width" value="0.1" units="cm"/>
      <inkml:brushProperty name="height" value="0.6" units="cm"/>
      <inkml:brushProperty name="color" value="#849398"/>
      <inkml:brushProperty name="inkEffects" value="pencil"/>
    </inkml:brush>
  </inkml:definitions>
  <inkml:trace contextRef="#ctx0" brushRef="#br0">0 0 16383,'6'6'0,"-2"-2"0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BAC08A-360A-D84F-88AD-1C9E3AF1B5E4}" type="datetimeFigureOut">
              <a:rPr lang="en-US" smtClean="0"/>
              <a:t>3/7/21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36B5D7-289F-5C49-A358-2F80CA8664E7}" type="slidenum">
              <a:rPr lang="en-US" smtClean="0"/>
              <a:t>‹#›</a:t>
            </a:fld>
            <a:endParaRPr lang="en-US"/>
          </a:p>
        </p:txBody>
      </p:sp>
    </p:spTree>
    <p:extLst>
      <p:ext uri="{BB962C8B-B14F-4D97-AF65-F5344CB8AC3E}">
        <p14:creationId xmlns:p14="http://schemas.microsoft.com/office/powerpoint/2010/main" val="816665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1575075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2984057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5</a:t>
            </a:fld>
            <a:endParaRPr lang="en-AU"/>
          </a:p>
        </p:txBody>
      </p:sp>
    </p:spTree>
    <p:extLst>
      <p:ext uri="{BB962C8B-B14F-4D97-AF65-F5344CB8AC3E}">
        <p14:creationId xmlns:p14="http://schemas.microsoft.com/office/powerpoint/2010/main" val="3206630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6</a:t>
            </a:fld>
            <a:endParaRPr lang="en-AU"/>
          </a:p>
        </p:txBody>
      </p:sp>
    </p:spTree>
    <p:extLst>
      <p:ext uri="{BB962C8B-B14F-4D97-AF65-F5344CB8AC3E}">
        <p14:creationId xmlns:p14="http://schemas.microsoft.com/office/powerpoint/2010/main" val="1488117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7</a:t>
            </a:fld>
            <a:endParaRPr lang="en-AU"/>
          </a:p>
        </p:txBody>
      </p:sp>
    </p:spTree>
    <p:extLst>
      <p:ext uri="{BB962C8B-B14F-4D97-AF65-F5344CB8AC3E}">
        <p14:creationId xmlns:p14="http://schemas.microsoft.com/office/powerpoint/2010/main" val="44982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8</a:t>
            </a:fld>
            <a:endParaRPr lang="en-AU"/>
          </a:p>
        </p:txBody>
      </p:sp>
    </p:spTree>
    <p:extLst>
      <p:ext uri="{BB962C8B-B14F-4D97-AF65-F5344CB8AC3E}">
        <p14:creationId xmlns:p14="http://schemas.microsoft.com/office/powerpoint/2010/main" val="350351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9</a:t>
            </a:fld>
            <a:endParaRPr lang="en-AU"/>
          </a:p>
        </p:txBody>
      </p:sp>
    </p:spTree>
    <p:extLst>
      <p:ext uri="{BB962C8B-B14F-4D97-AF65-F5344CB8AC3E}">
        <p14:creationId xmlns:p14="http://schemas.microsoft.com/office/powerpoint/2010/main" val="1915913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10</a:t>
            </a:fld>
            <a:endParaRPr lang="en-AU"/>
          </a:p>
        </p:txBody>
      </p:sp>
    </p:spTree>
    <p:extLst>
      <p:ext uri="{BB962C8B-B14F-4D97-AF65-F5344CB8AC3E}">
        <p14:creationId xmlns:p14="http://schemas.microsoft.com/office/powerpoint/2010/main" val="3133399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11</a:t>
            </a:fld>
            <a:endParaRPr lang="en-AU"/>
          </a:p>
        </p:txBody>
      </p:sp>
    </p:spTree>
    <p:extLst>
      <p:ext uri="{BB962C8B-B14F-4D97-AF65-F5344CB8AC3E}">
        <p14:creationId xmlns:p14="http://schemas.microsoft.com/office/powerpoint/2010/main" val="3764972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12</a:t>
            </a:fld>
            <a:endParaRPr lang="en-AU"/>
          </a:p>
        </p:txBody>
      </p:sp>
    </p:spTree>
    <p:extLst>
      <p:ext uri="{BB962C8B-B14F-4D97-AF65-F5344CB8AC3E}">
        <p14:creationId xmlns:p14="http://schemas.microsoft.com/office/powerpoint/2010/main" val="636651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13</a:t>
            </a:fld>
            <a:endParaRPr lang="en-AU"/>
          </a:p>
        </p:txBody>
      </p:sp>
    </p:spTree>
    <p:extLst>
      <p:ext uri="{BB962C8B-B14F-4D97-AF65-F5344CB8AC3E}">
        <p14:creationId xmlns:p14="http://schemas.microsoft.com/office/powerpoint/2010/main" val="1352498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25C9-1BBF-274B-9C26-DFA7359C57C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6A3171F-0457-D648-90C9-20DB56FEAD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746D199-B4A2-ED49-9CE4-D9D641586EEE}"/>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5" name="Footer Placeholder 4">
            <a:extLst>
              <a:ext uri="{FF2B5EF4-FFF2-40B4-BE49-F238E27FC236}">
                <a16:creationId xmlns:a16="http://schemas.microsoft.com/office/drawing/2014/main" id="{9490B856-73BD-BC44-BEFC-F3920E709D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709D9-C7DB-4142-BC5C-E9B3E70172FB}"/>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228213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6C06B-55BE-E44A-971B-6A68C1F50D7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C454EE5-27B8-884A-B248-7BF7ACBB37D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7B1970-83AD-5C48-87E0-5A0422B585F6}"/>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5" name="Footer Placeholder 4">
            <a:extLst>
              <a:ext uri="{FF2B5EF4-FFF2-40B4-BE49-F238E27FC236}">
                <a16:creationId xmlns:a16="http://schemas.microsoft.com/office/drawing/2014/main" id="{359620EC-75A1-DC49-BEA1-8CA2E08549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81029-8E5B-C549-8DC2-8883EC3E9613}"/>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3935537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3C21-762A-A745-9847-307ED28BFDA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44698EA-7BD4-4B4F-9928-2880ED1BE3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2E67615-4786-DF4B-99CA-539C6386CB33}"/>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5" name="Footer Placeholder 4">
            <a:extLst>
              <a:ext uri="{FF2B5EF4-FFF2-40B4-BE49-F238E27FC236}">
                <a16:creationId xmlns:a16="http://schemas.microsoft.com/office/drawing/2014/main" id="{92E77E29-BFB0-D84F-A679-5B3ACE80F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8B7D75-96E0-7B45-AFC7-BF105341C48A}"/>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2388525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C9B07-A70B-134A-A4BE-DD5467EEA8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89EDEAC-E3CE-D04A-8AAF-A3476321B22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85F5EBC-F1C2-7840-9F52-631DC054F8B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F1E612C-5702-4948-B4CB-E1A1312542BB}"/>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6" name="Footer Placeholder 5">
            <a:extLst>
              <a:ext uri="{FF2B5EF4-FFF2-40B4-BE49-F238E27FC236}">
                <a16:creationId xmlns:a16="http://schemas.microsoft.com/office/drawing/2014/main" id="{50362545-4733-D643-9CFB-288A792EDB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0C7349-8325-164C-8129-AC9C93BA356E}"/>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717513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44827-C8E2-5445-BA51-5A0C63CF215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B928EB8-373B-5040-A69F-E7DBB40654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B9BB85D-57B5-FF4B-AF48-C72294ED229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9268833-882A-5940-8FC4-35457BECCB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1815098-24F0-5247-8EDA-0C79978C9FF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ECCC794-7572-BD42-83D6-C643BCF88455}"/>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8" name="Footer Placeholder 7">
            <a:extLst>
              <a:ext uri="{FF2B5EF4-FFF2-40B4-BE49-F238E27FC236}">
                <a16:creationId xmlns:a16="http://schemas.microsoft.com/office/drawing/2014/main" id="{DEAAC3A3-5162-B349-A906-DCF0FD58644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14F497-6393-1A4F-A917-80C5335A979A}"/>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248049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391B-52A4-934B-AA5D-D207253463F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86EDB79-6A5A-6745-8FC8-3C8CD7DE0F8F}"/>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4" name="Footer Placeholder 3">
            <a:extLst>
              <a:ext uri="{FF2B5EF4-FFF2-40B4-BE49-F238E27FC236}">
                <a16:creationId xmlns:a16="http://schemas.microsoft.com/office/drawing/2014/main" id="{426D1527-EE94-3D4C-9DE5-5B59036A60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AD0183-7BC8-1244-AB86-EC9726035ADE}"/>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163282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094A58-17CA-3B4F-BB1A-3F1C17BE57BB}"/>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3" name="Footer Placeholder 2">
            <a:extLst>
              <a:ext uri="{FF2B5EF4-FFF2-40B4-BE49-F238E27FC236}">
                <a16:creationId xmlns:a16="http://schemas.microsoft.com/office/drawing/2014/main" id="{8AE322D3-518C-E848-9B5C-D249054349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B77A41-AD95-7E42-9AFC-1F0F2F13F068}"/>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3547028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7054B-1FD8-D04D-9C83-1BADAD36CD2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8E8F251-B13A-C84A-BF5E-9BA8650A60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1FED5A8-B7B0-F846-9932-C71D3369D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AB7D23-B642-884A-94EC-B4477E5C05EE}"/>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6" name="Footer Placeholder 5">
            <a:extLst>
              <a:ext uri="{FF2B5EF4-FFF2-40B4-BE49-F238E27FC236}">
                <a16:creationId xmlns:a16="http://schemas.microsoft.com/office/drawing/2014/main" id="{69D8A591-25D2-994E-909A-60B0178430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C8B873-54AE-8044-B7F9-DABB85D52AA4}"/>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3305204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7F93E-8393-0B45-B4B3-81ECD6C638F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9EE7921-2E74-EA46-9502-755916D778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F89E8485-A4A6-6B46-9603-692F8C8C05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AD1839C-EB99-6746-BC13-3F07E30852EC}"/>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6" name="Footer Placeholder 5">
            <a:extLst>
              <a:ext uri="{FF2B5EF4-FFF2-40B4-BE49-F238E27FC236}">
                <a16:creationId xmlns:a16="http://schemas.microsoft.com/office/drawing/2014/main" id="{59304867-1959-4446-B5E2-B25EAE784D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CAD6D3-9E3F-C740-A690-0BAC54F9FB3C}"/>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32141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1F12E-6541-724E-BEDA-5FACABD560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0B32181-2131-0245-8B9D-2333A49F221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7E135A-ABEC-0541-9DE6-1768D0498C24}"/>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5" name="Footer Placeholder 4">
            <a:extLst>
              <a:ext uri="{FF2B5EF4-FFF2-40B4-BE49-F238E27FC236}">
                <a16:creationId xmlns:a16="http://schemas.microsoft.com/office/drawing/2014/main" id="{8CE5EAB7-594B-004A-83A1-0561B57421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2296C2-7A76-D944-AD8C-9AB56986D0CF}"/>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4057267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CB23A4-1787-6D4C-83E3-59C729CC1F9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10585E2-D8BB-E34C-BFA2-F9EB7749076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9E3542-27CC-D944-AB5C-2587197C6FD3}"/>
              </a:ext>
            </a:extLst>
          </p:cNvPr>
          <p:cNvSpPr>
            <a:spLocks noGrp="1"/>
          </p:cNvSpPr>
          <p:nvPr>
            <p:ph type="dt" sz="half" idx="10"/>
          </p:nvPr>
        </p:nvSpPr>
        <p:spPr/>
        <p:txBody>
          <a:bodyPr/>
          <a:lstStyle/>
          <a:p>
            <a:fld id="{02506115-D2DA-9845-A499-82378B0C6B4A}" type="datetimeFigureOut">
              <a:rPr lang="en-US" smtClean="0"/>
              <a:t>3/7/21</a:t>
            </a:fld>
            <a:endParaRPr lang="en-US"/>
          </a:p>
        </p:txBody>
      </p:sp>
      <p:sp>
        <p:nvSpPr>
          <p:cNvPr id="5" name="Footer Placeholder 4">
            <a:extLst>
              <a:ext uri="{FF2B5EF4-FFF2-40B4-BE49-F238E27FC236}">
                <a16:creationId xmlns:a16="http://schemas.microsoft.com/office/drawing/2014/main" id="{A3937ABA-8F6B-8F4F-A1F1-365A09902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EBBB2-6DC6-F444-8EDB-4124E7E6B5CE}"/>
              </a:ext>
            </a:extLst>
          </p:cNvPr>
          <p:cNvSpPr>
            <a:spLocks noGrp="1"/>
          </p:cNvSpPr>
          <p:nvPr>
            <p:ph type="sldNum" sz="quarter" idx="12"/>
          </p:nvPr>
        </p:nvSpPr>
        <p:spPr/>
        <p:txBody>
          <a:bodyPr/>
          <a:lstStyle/>
          <a:p>
            <a:fld id="{88832A41-7603-314A-90FF-926DF6DC8779}" type="slidenum">
              <a:rPr lang="en-US" smtClean="0"/>
              <a:t>‹#›</a:t>
            </a:fld>
            <a:endParaRPr lang="en-US"/>
          </a:p>
        </p:txBody>
      </p:sp>
    </p:spTree>
    <p:extLst>
      <p:ext uri="{BB962C8B-B14F-4D97-AF65-F5344CB8AC3E}">
        <p14:creationId xmlns:p14="http://schemas.microsoft.com/office/powerpoint/2010/main" val="658067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887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R) Apply">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8" name="TextBox 7">
            <a:extLst>
              <a:ext uri="{FF2B5EF4-FFF2-40B4-BE49-F238E27FC236}">
                <a16:creationId xmlns:a16="http://schemas.microsoft.com/office/drawing/2014/main" id="{AC654E54-CAC9-4F2F-AA80-55A84549B89E}"/>
              </a:ext>
            </a:extLst>
          </p:cNvPr>
          <p:cNvSpPr txBox="1"/>
          <p:nvPr userDrawn="1"/>
        </p:nvSpPr>
        <p:spPr>
          <a:xfrm>
            <a:off x="280558" y="262082"/>
            <a:ext cx="982186"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Apply</a:t>
            </a:r>
          </a:p>
        </p:txBody>
      </p:sp>
      <p:sp>
        <p:nvSpPr>
          <p:cNvPr id="9" name="Text Placeholder 6">
            <a:extLst>
              <a:ext uri="{FF2B5EF4-FFF2-40B4-BE49-F238E27FC236}">
                <a16:creationId xmlns:a16="http://schemas.microsoft.com/office/drawing/2014/main" id="{B3E95AC1-7531-4639-975B-21368D744727}"/>
              </a:ext>
            </a:extLst>
          </p:cNvPr>
          <p:cNvSpPr>
            <a:spLocks noGrp="1"/>
          </p:cNvSpPr>
          <p:nvPr>
            <p:ph type="body" sz="quarter" idx="13" hasCustomPrompt="1"/>
          </p:nvPr>
        </p:nvSpPr>
        <p:spPr>
          <a:xfrm>
            <a:off x="280557" y="805337"/>
            <a:ext cx="11481952" cy="51084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E913797E-7ED2-48B9-87A3-251518F8AEF7}"/>
              </a:ext>
            </a:extLst>
          </p:cNvPr>
          <p:cNvSpPr>
            <a:spLocks noGrp="1"/>
          </p:cNvSpPr>
          <p:nvPr>
            <p:ph type="body" sz="quarter" idx="15" hasCustomPrompt="1"/>
          </p:nvPr>
        </p:nvSpPr>
        <p:spPr>
          <a:xfrm>
            <a:off x="280558" y="1490352"/>
            <a:ext cx="11506476" cy="5105565"/>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Ask students to apply this knowledge to a problem or specific context.</a:t>
            </a:r>
            <a:br>
              <a:rPr lang="en-US" dirty="0"/>
            </a:br>
            <a:br>
              <a:rPr lang="en-AU" dirty="0"/>
            </a:br>
            <a:r>
              <a:rPr lang="en-US" dirty="0"/>
              <a:t>Steps here must be explicit and listed simply enough such that students are able to apply their understanding to examples and non-examples.</a:t>
            </a:r>
            <a:br>
              <a:rPr lang="en-US" dirty="0"/>
            </a:br>
            <a:br>
              <a:rPr lang="en-US" dirty="0"/>
            </a:br>
            <a:r>
              <a:rPr lang="en-AU" dirty="0"/>
              <a:t>Click to add text. Delete textbox if unneeded. </a:t>
            </a:r>
            <a:endParaRPr lang="en-US" dirty="0"/>
          </a:p>
        </p:txBody>
      </p:sp>
    </p:spTree>
    <p:extLst>
      <p:ext uri="{BB962C8B-B14F-4D97-AF65-F5344CB8AC3E}">
        <p14:creationId xmlns:p14="http://schemas.microsoft.com/office/powerpoint/2010/main" val="3922129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3699287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6BD737-85A2-AA48-9C45-D8C438214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B0A98D5-1AC6-C545-AEDD-F0DCA69259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0549FC0-795F-D14E-8AF2-85EE99B5E1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06115-D2DA-9845-A499-82378B0C6B4A}" type="datetimeFigureOut">
              <a:rPr lang="en-US" smtClean="0"/>
              <a:t>3/7/21</a:t>
            </a:fld>
            <a:endParaRPr lang="en-US"/>
          </a:p>
        </p:txBody>
      </p:sp>
      <p:sp>
        <p:nvSpPr>
          <p:cNvPr id="5" name="Footer Placeholder 4">
            <a:extLst>
              <a:ext uri="{FF2B5EF4-FFF2-40B4-BE49-F238E27FC236}">
                <a16:creationId xmlns:a16="http://schemas.microsoft.com/office/drawing/2014/main" id="{54555BE7-79FE-004B-8745-FB59A21208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94C137-7437-9D4F-9925-3DBF576E87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832A41-7603-314A-90FF-926DF6DC8779}" type="slidenum">
              <a:rPr lang="en-US" smtClean="0"/>
              <a:t>‹#›</a:t>
            </a:fld>
            <a:endParaRPr lang="en-US"/>
          </a:p>
        </p:txBody>
      </p:sp>
    </p:spTree>
    <p:extLst>
      <p:ext uri="{BB962C8B-B14F-4D97-AF65-F5344CB8AC3E}">
        <p14:creationId xmlns:p14="http://schemas.microsoft.com/office/powerpoint/2010/main" val="1114473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JPG"/><Relationship Id="rId3" Type="http://schemas.openxmlformats.org/officeDocument/2006/relationships/customXml" Target="../ink/ink1.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hyperlink" Target="https://creativecommons.org/licenses/by-sa/3.0/" TargetMode="External"/><Relationship Id="rId10" Type="http://schemas.openxmlformats.org/officeDocument/2006/relationships/customXml" Target="../ink/ink4.xml"/><Relationship Id="rId9" Type="http://schemas.openxmlformats.org/officeDocument/2006/relationships/image" Target="NULL"/><Relationship Id="rId14" Type="http://schemas.openxmlformats.org/officeDocument/2006/relationships/hyperlink" Target="https://fa.wikibooks.org/wiki/%D9%88%DB%8C%DA%A9%DB%8C%E2%80%8C%D8%AC%D8%B2%D9%88%D9%87/%D8%AF%D8%A7%D9%86%D8%B4%DA%A9%D8%AF%D9%87:%D9%81%D9%86%DB%8C_%D9%88_%D9%85%D9%87%D9%86%D8%AF%D8%B3%DB%8C/%D8%A7%D9%86%D8%AA%D9%82%D8%A7%D9%84_%D8%AD%D8%B1%D8%A7%D8%B1%D8%AA/%D9%85%D9%82%D8%AF%D9%85%D9%87"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hyperlink" Target="https://creativecommons.org/licenses/by-nc/3.0/" TargetMode="External"/><Relationship Id="rId4" Type="http://schemas.openxmlformats.org/officeDocument/2006/relationships/hyperlink" Target="http://futurism.com/physics-thermos-heat-transfer/"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hyperlink" Target="https://creativecommons.org/licenses/by-sa/3.0/" TargetMode="External"/><Relationship Id="rId4" Type="http://schemas.openxmlformats.org/officeDocument/2006/relationships/hyperlink" Target="https://en.wikipedia.org/wiki/Boiling"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hyperlink" Target="https://creativecommons.org/licenses/by-nc-sa/3.0/" TargetMode="External"/><Relationship Id="rId4" Type="http://schemas.openxmlformats.org/officeDocument/2006/relationships/hyperlink" Target="https://phys.libretexts.org/TextMaps/General_Physics_Textmaps/Map:_University_Physics_(OpenStax)/Map:_University_Physics_Vol._2_(OpenStax)/4:_The_Second_Law_of_Thermodynamics/4.3:_Refrigerators_and_Heat_Pump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14.jpeg"/><Relationship Id="rId5" Type="http://schemas.openxmlformats.org/officeDocument/2006/relationships/hyperlink" Target="https://creativecommons.org/licenses/by-nc-sa/3.0/" TargetMode="External"/><Relationship Id="rId4" Type="http://schemas.openxmlformats.org/officeDocument/2006/relationships/hyperlink" Target="https://phys.libretexts.org/TextMaps/General_Physics_Textmaps/Map:_University_Physics_(OpenStax)/Map:_University_Physics_Vol._2_(OpenStax)/4:_The_Second_Law_of_Thermodynamics/4.3:_Refrigerators_and_Heat_Pum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2500" y="5045311"/>
            <a:ext cx="10650998" cy="1560320"/>
          </a:xfrm>
        </p:spPr>
        <p:txBody>
          <a:bodyPr>
            <a:normAutofit fontScale="90000"/>
          </a:bodyPr>
          <a:lstStyle/>
          <a:p>
            <a:r>
              <a:rPr lang="en-US" sz="4900" b="1" dirty="0">
                <a:solidFill>
                  <a:srgbClr val="002060"/>
                </a:solidFill>
                <a:latin typeface="Arial Rounded MT Bold" panose="020F0704030504030204" pitchFamily="34" charset="77"/>
              </a:rPr>
              <a:t>Conduction, Convection and Radiation</a:t>
            </a:r>
            <a:br>
              <a:rPr lang="en-US" sz="4900" b="1" dirty="0">
                <a:solidFill>
                  <a:srgbClr val="002060"/>
                </a:solidFill>
                <a:latin typeface="Arial Rounded MT Bold" panose="020F0704030504030204" pitchFamily="34" charset="77"/>
              </a:rPr>
            </a:br>
            <a:r>
              <a:rPr lang="en-US" sz="4900" dirty="0">
                <a:solidFill>
                  <a:srgbClr val="00C0B4"/>
                </a:solidFill>
                <a:latin typeface="Arial Rounded MT Bold" panose="020F0704030504030204" pitchFamily="34" charset="77"/>
              </a:rPr>
              <a:t>Year 11 Physics</a:t>
            </a:r>
          </a:p>
        </p:txBody>
      </p:sp>
      <p:sp>
        <p:nvSpPr>
          <p:cNvPr id="3" name="Subtitle 2"/>
          <p:cNvSpPr>
            <a:spLocks noGrp="1"/>
          </p:cNvSpPr>
          <p:nvPr>
            <p:ph type="subTitle" idx="1"/>
          </p:nvPr>
        </p:nvSpPr>
        <p:spPr>
          <a:xfrm>
            <a:off x="10011747" y="6299068"/>
            <a:ext cx="2180253" cy="440822"/>
          </a:xfrm>
        </p:spPr>
        <p:txBody>
          <a:bodyPr>
            <a:normAutofit/>
          </a:bodyPr>
          <a:lstStyle/>
          <a:p>
            <a:r>
              <a:rPr lang="en-US" sz="2000" dirty="0" err="1">
                <a:latin typeface="Arial Rounded MT Bold" panose="020F0704030504030204" pitchFamily="34" charset="77"/>
              </a:rPr>
              <a:t>Mrs</a:t>
            </a:r>
            <a:r>
              <a:rPr lang="en-US" sz="2000" dirty="0">
                <a:latin typeface="Arial Rounded MT Bold" panose="020F0704030504030204" pitchFamily="34" charset="77"/>
              </a:rPr>
              <a:t> Martin</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Ink 5">
                <a:extLst>
                  <a:ext uri="{FF2B5EF4-FFF2-40B4-BE49-F238E27FC236}">
                    <a16:creationId xmlns:a16="http://schemas.microsoft.com/office/drawing/2014/main" id="{A94B6F93-12D7-B34C-822F-4C0B22FE395E}"/>
                  </a:ext>
                </a:extLst>
              </p14:cNvPr>
              <p14:cNvContentPartPr/>
              <p14:nvPr/>
            </p14:nvContentPartPr>
            <p14:xfrm>
              <a:off x="10287880" y="3190440"/>
              <a:ext cx="21240" cy="14760"/>
            </p14:xfrm>
          </p:contentPart>
        </mc:Choice>
        <mc:Fallback xmlns="">
          <p:pic>
            <p:nvPicPr>
              <p:cNvPr id="6" name="Ink 5">
                <a:extLst>
                  <a:ext uri="{FF2B5EF4-FFF2-40B4-BE49-F238E27FC236}">
                    <a16:creationId xmlns:a16="http://schemas.microsoft.com/office/drawing/2014/main" id="{A94B6F93-12D7-B34C-822F-4C0B22FE395E}"/>
                  </a:ext>
                </a:extLst>
              </p:cNvPr>
              <p:cNvPicPr/>
              <p:nvPr/>
            </p:nvPicPr>
            <p:blipFill>
              <a:blip r:embed="rId5"/>
              <a:stretch>
                <a:fillRect/>
              </a:stretch>
            </p:blipFill>
            <p:spPr>
              <a:xfrm>
                <a:off x="10269880" y="3082800"/>
                <a:ext cx="56880" cy="230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7" name="Ink 6">
                <a:extLst>
                  <a:ext uri="{FF2B5EF4-FFF2-40B4-BE49-F238E27FC236}">
                    <a16:creationId xmlns:a16="http://schemas.microsoft.com/office/drawing/2014/main" id="{21A7679E-DFE2-354C-B529-37AEEE617D68}"/>
                  </a:ext>
                </a:extLst>
              </p14:cNvPr>
              <p14:cNvContentPartPr/>
              <p14:nvPr/>
            </p14:nvContentPartPr>
            <p14:xfrm>
              <a:off x="7844920" y="2370360"/>
              <a:ext cx="6120" cy="18000"/>
            </p14:xfrm>
          </p:contentPart>
        </mc:Choice>
        <mc:Fallback xmlns="">
          <p:pic>
            <p:nvPicPr>
              <p:cNvPr id="7" name="Ink 6">
                <a:extLst>
                  <a:ext uri="{FF2B5EF4-FFF2-40B4-BE49-F238E27FC236}">
                    <a16:creationId xmlns:a16="http://schemas.microsoft.com/office/drawing/2014/main" id="{21A7679E-DFE2-354C-B529-37AEEE617D68}"/>
                  </a:ext>
                </a:extLst>
              </p:cNvPr>
              <p:cNvPicPr/>
              <p:nvPr/>
            </p:nvPicPr>
            <p:blipFill>
              <a:blip r:embed="rId7"/>
              <a:stretch>
                <a:fillRect/>
              </a:stretch>
            </p:blipFill>
            <p:spPr>
              <a:xfrm>
                <a:off x="7827280" y="2262720"/>
                <a:ext cx="41760" cy="233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93686204-4622-D04C-8065-A5D212C57165}"/>
                  </a:ext>
                </a:extLst>
              </p14:cNvPr>
              <p14:cNvContentPartPr/>
              <p14:nvPr/>
            </p14:nvContentPartPr>
            <p14:xfrm>
              <a:off x="8556873" y="3689782"/>
              <a:ext cx="360" cy="360"/>
            </p14:xfrm>
          </p:contentPart>
        </mc:Choice>
        <mc:Fallback xmlns="">
          <p:pic>
            <p:nvPicPr>
              <p:cNvPr id="8" name="Ink 7">
                <a:extLst>
                  <a:ext uri="{FF2B5EF4-FFF2-40B4-BE49-F238E27FC236}">
                    <a16:creationId xmlns:a16="http://schemas.microsoft.com/office/drawing/2014/main" id="{93686204-4622-D04C-8065-A5D212C57165}"/>
                  </a:ext>
                </a:extLst>
              </p:cNvPr>
              <p:cNvPicPr/>
              <p:nvPr/>
            </p:nvPicPr>
            <p:blipFill>
              <a:blip r:embed="rId9"/>
              <a:stretch>
                <a:fillRect/>
              </a:stretch>
            </p:blipFill>
            <p:spPr>
              <a:xfrm>
                <a:off x="8539233" y="3581782"/>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9" name="Ink 18">
                <a:extLst>
                  <a:ext uri="{FF2B5EF4-FFF2-40B4-BE49-F238E27FC236}">
                    <a16:creationId xmlns:a16="http://schemas.microsoft.com/office/drawing/2014/main" id="{C4794CCE-5A08-664D-95B2-585CC29B3676}"/>
                  </a:ext>
                </a:extLst>
              </p14:cNvPr>
              <p14:cNvContentPartPr/>
              <p14:nvPr/>
            </p14:nvContentPartPr>
            <p14:xfrm>
              <a:off x="667113" y="756862"/>
              <a:ext cx="3960" cy="3960"/>
            </p14:xfrm>
          </p:contentPart>
        </mc:Choice>
        <mc:Fallback xmlns="">
          <p:pic>
            <p:nvPicPr>
              <p:cNvPr id="19" name="Ink 18">
                <a:extLst>
                  <a:ext uri="{FF2B5EF4-FFF2-40B4-BE49-F238E27FC236}">
                    <a16:creationId xmlns:a16="http://schemas.microsoft.com/office/drawing/2014/main" id="{C4794CCE-5A08-664D-95B2-585CC29B3676}"/>
                  </a:ext>
                </a:extLst>
              </p:cNvPr>
              <p:cNvPicPr/>
              <p:nvPr/>
            </p:nvPicPr>
            <p:blipFill>
              <a:blip r:embed="rId11"/>
              <a:stretch>
                <a:fillRect/>
              </a:stretch>
            </p:blipFill>
            <p:spPr>
              <a:xfrm>
                <a:off x="649113" y="648862"/>
                <a:ext cx="39600" cy="219600"/>
              </a:xfrm>
              <a:prstGeom prst="rect">
                <a:avLst/>
              </a:prstGeom>
            </p:spPr>
          </p:pic>
        </mc:Fallback>
      </mc:AlternateContent>
      <p:pic>
        <p:nvPicPr>
          <p:cNvPr id="13" name="Picture 12">
            <a:extLst>
              <a:ext uri="{FF2B5EF4-FFF2-40B4-BE49-F238E27FC236}">
                <a16:creationId xmlns:a16="http://schemas.microsoft.com/office/drawing/2014/main" id="{6E045938-6420-7748-B71E-4CB566FAC868}"/>
              </a:ext>
            </a:extLst>
          </p:cNvPr>
          <p:cNvPicPr/>
          <p:nvPr/>
        </p:nvPicPr>
        <p:blipFill>
          <a:blip r:embed="rId12">
            <a:extLst>
              <a:ext uri="{28A0092B-C50C-407E-A947-70E740481C1C}">
                <a14:useLocalDpi xmlns:a14="http://schemas.microsoft.com/office/drawing/2010/main" val="0"/>
              </a:ext>
            </a:extLst>
          </a:blip>
          <a:stretch>
            <a:fillRect/>
          </a:stretch>
        </p:blipFill>
        <p:spPr bwMode="auto">
          <a:xfrm>
            <a:off x="22120" y="0"/>
            <a:ext cx="784874" cy="854703"/>
          </a:xfrm>
          <a:prstGeom prst="rect">
            <a:avLst/>
          </a:prstGeom>
          <a:noFill/>
        </p:spPr>
      </p:pic>
      <p:pic>
        <p:nvPicPr>
          <p:cNvPr id="5" name="Picture 4" descr="Diagram&#10;&#10;Description automatically generated">
            <a:extLst>
              <a:ext uri="{FF2B5EF4-FFF2-40B4-BE49-F238E27FC236}">
                <a16:creationId xmlns:a16="http://schemas.microsoft.com/office/drawing/2014/main" id="{E639C31D-9A42-764A-A3D1-EAD82EE3974A}"/>
              </a:ext>
            </a:extLst>
          </p:cNvPr>
          <p:cNvPicPr>
            <a:picLocks noChangeAspect="1"/>
          </p:cNvPicPr>
          <p:nvPr/>
        </p:nvPicPr>
        <p:blipFill>
          <a:blip r:embed="rId13">
            <a:extLst>
              <a:ext uri="{837473B0-CC2E-450A-ABE3-18F120FF3D39}">
                <a1611:picAttrSrcUrl xmlns:a1611="http://schemas.microsoft.com/office/drawing/2016/11/main" r:id="rId14"/>
              </a:ext>
            </a:extLst>
          </a:blip>
          <a:stretch>
            <a:fillRect/>
          </a:stretch>
        </p:blipFill>
        <p:spPr>
          <a:xfrm>
            <a:off x="2906778" y="237610"/>
            <a:ext cx="6378444" cy="4807492"/>
          </a:xfrm>
          <a:prstGeom prst="rect">
            <a:avLst/>
          </a:prstGeom>
        </p:spPr>
      </p:pic>
      <p:sp>
        <p:nvSpPr>
          <p:cNvPr id="9" name="TextBox 8">
            <a:extLst>
              <a:ext uri="{FF2B5EF4-FFF2-40B4-BE49-F238E27FC236}">
                <a16:creationId xmlns:a16="http://schemas.microsoft.com/office/drawing/2014/main" id="{90434F37-DD96-9741-BEFF-68CC7E6DFA61}"/>
              </a:ext>
            </a:extLst>
          </p:cNvPr>
          <p:cNvSpPr txBox="1"/>
          <p:nvPr/>
        </p:nvSpPr>
        <p:spPr>
          <a:xfrm>
            <a:off x="3270250" y="7845384"/>
            <a:ext cx="4279900" cy="230832"/>
          </a:xfrm>
          <a:prstGeom prst="rect">
            <a:avLst/>
          </a:prstGeom>
          <a:noFill/>
        </p:spPr>
        <p:txBody>
          <a:bodyPr wrap="square" rtlCol="0">
            <a:spAutoFit/>
          </a:bodyPr>
          <a:lstStyle/>
          <a:p>
            <a:r>
              <a:rPr lang="en-US" sz="900" dirty="0">
                <a:hlinkClick r:id="rId14" tooltip="https://fa.wikibooks.org/wiki/%D9%88%DB%8C%DA%A9%DB%8C%E2%80%8C%D8%AC%D8%B2%D9%88%D9%87/%D8%AF%D8%A7%D9%86%D8%B4%DA%A9%D8%AF%D9%87:%D9%81%D9%86%DB%8C_%D9%88_%D9%85%D9%87%D9%86%D8%AF%D8%B3%DB%8C/%D8%A7%D9%86%D8%AA%D9%82%D8%A7%D9%84_%D8%AD%D8%B1%D8%A7%D8%B1%D8%AA/%D9%85%D9%82%D8%AF%D9%85%D9%87"/>
              </a:rPr>
              <a:t>This Photo</a:t>
            </a:r>
            <a:r>
              <a:rPr lang="en-US" sz="900" dirty="0"/>
              <a:t> by Unknown Author is licensed under </a:t>
            </a:r>
            <a:r>
              <a:rPr lang="en-US" sz="900" dirty="0">
                <a:hlinkClick r:id="rId15" tooltip="https://creativecommons.org/licenses/by-sa/3.0/"/>
              </a:rPr>
              <a:t>CC BY-SA</a:t>
            </a:r>
            <a:endParaRPr lang="en-US" sz="900" dirty="0"/>
          </a:p>
        </p:txBody>
      </p:sp>
    </p:spTree>
    <p:extLst>
      <p:ext uri="{BB962C8B-B14F-4D97-AF65-F5344CB8AC3E}">
        <p14:creationId xmlns:p14="http://schemas.microsoft.com/office/powerpoint/2010/main" val="36299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85B305C-721E-D540-958F-34E98D3603DF}"/>
              </a:ext>
            </a:extLst>
          </p:cNvPr>
          <p:cNvGrpSpPr/>
          <p:nvPr/>
        </p:nvGrpSpPr>
        <p:grpSpPr>
          <a:xfrm>
            <a:off x="593407" y="2346656"/>
            <a:ext cx="2211388" cy="605005"/>
            <a:chOff x="3657599" y="1716154"/>
            <a:chExt cx="2211388" cy="694270"/>
          </a:xfrm>
        </p:grpSpPr>
        <p:sp>
          <p:nvSpPr>
            <p:cNvPr id="9" name="TextBox 8">
              <a:extLst>
                <a:ext uri="{FF2B5EF4-FFF2-40B4-BE49-F238E27FC236}">
                  <a16:creationId xmlns:a16="http://schemas.microsoft.com/office/drawing/2014/main" id="{8F7B6625-5791-8643-8992-71BEC6CEB22B}"/>
                </a:ext>
              </a:extLst>
            </p:cNvPr>
            <p:cNvSpPr txBox="1"/>
            <p:nvPr/>
          </p:nvSpPr>
          <p:spPr>
            <a:xfrm>
              <a:off x="3657600" y="2074896"/>
              <a:ext cx="2203768" cy="335528"/>
            </a:xfrm>
            <a:prstGeom prst="rect">
              <a:avLst/>
            </a:prstGeom>
            <a:solidFill>
              <a:schemeClr val="bg1"/>
            </a:solidFill>
            <a:ln>
              <a:solidFill>
                <a:srgbClr val="47998B"/>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0" name="TextBox 9">
              <a:extLst>
                <a:ext uri="{FF2B5EF4-FFF2-40B4-BE49-F238E27FC236}">
                  <a16:creationId xmlns:a16="http://schemas.microsoft.com/office/drawing/2014/main" id="{518C4B6F-2ADF-714C-852E-3DD14E0A4876}"/>
                </a:ext>
              </a:extLst>
            </p:cNvPr>
            <p:cNvSpPr txBox="1">
              <a:spLocks noChangeAspect="1"/>
            </p:cNvSpPr>
            <p:nvPr/>
          </p:nvSpPr>
          <p:spPr>
            <a:xfrm>
              <a:off x="3657599" y="1716154"/>
              <a:ext cx="2211388" cy="358742"/>
            </a:xfrm>
            <a:prstGeom prst="rect">
              <a:avLst/>
            </a:prstGeom>
            <a:solidFill>
              <a:srgbClr val="47998B"/>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Make the Connection</a:t>
              </a:r>
            </a:p>
          </p:txBody>
        </p:sp>
      </p:grpSp>
      <p:sp>
        <p:nvSpPr>
          <p:cNvPr id="11" name="TextBox 10">
            <a:extLst>
              <a:ext uri="{FF2B5EF4-FFF2-40B4-BE49-F238E27FC236}">
                <a16:creationId xmlns:a16="http://schemas.microsoft.com/office/drawing/2014/main" id="{67837EBD-D92A-9640-8767-A02D08251712}"/>
              </a:ext>
            </a:extLst>
          </p:cNvPr>
          <p:cNvSpPr txBox="1"/>
          <p:nvPr/>
        </p:nvSpPr>
        <p:spPr>
          <a:xfrm>
            <a:off x="495300" y="406400"/>
            <a:ext cx="10947400" cy="1485900"/>
          </a:xfrm>
          <a:prstGeom prst="rect">
            <a:avLst/>
          </a:prstGeom>
          <a:noFill/>
          <a:ln>
            <a:noFill/>
          </a:ln>
        </p:spPr>
        <p:txBody>
          <a:bodyPr wrap="square" rtlCol="0" anchor="t" anchorCtr="0">
            <a:normAutofit fontScale="40000" lnSpcReduction="20000"/>
          </a:bodyPr>
          <a:lstStyle/>
          <a:p>
            <a:pPr algn="l"/>
            <a:r>
              <a:rPr lang="en-US" sz="5400" b="1" dirty="0">
                <a:latin typeface="Century Gothic" panose="020B0502020202020204" pitchFamily="34" charset="0"/>
                <a:cs typeface="Futura Medium" panose="020B0602020204020303" pitchFamily="34" charset="-79"/>
              </a:rPr>
              <a:t>Do not delete this slide. It is hidden from your show. You can use it to copy and paste the relevant prompt boxes into your presentation. Click once on the white space to select it for copying. Once it is in your presentation you can double click on the white space to add text. The box will automatically resize to fit your text. The next slide is also hidden and included as an example only. </a:t>
            </a:r>
          </a:p>
        </p:txBody>
      </p:sp>
      <p:grpSp>
        <p:nvGrpSpPr>
          <p:cNvPr id="12" name="Group 11">
            <a:extLst>
              <a:ext uri="{FF2B5EF4-FFF2-40B4-BE49-F238E27FC236}">
                <a16:creationId xmlns:a16="http://schemas.microsoft.com/office/drawing/2014/main" id="{5960F400-1297-8E49-9260-D87603A503E3}"/>
              </a:ext>
            </a:extLst>
          </p:cNvPr>
          <p:cNvGrpSpPr/>
          <p:nvPr/>
        </p:nvGrpSpPr>
        <p:grpSpPr>
          <a:xfrm>
            <a:off x="4797011" y="2349076"/>
            <a:ext cx="2211388" cy="605005"/>
            <a:chOff x="3657599" y="1716154"/>
            <a:chExt cx="2211388" cy="694270"/>
          </a:xfrm>
        </p:grpSpPr>
        <p:sp>
          <p:nvSpPr>
            <p:cNvPr id="13" name="TextBox 12">
              <a:extLst>
                <a:ext uri="{FF2B5EF4-FFF2-40B4-BE49-F238E27FC236}">
                  <a16:creationId xmlns:a16="http://schemas.microsoft.com/office/drawing/2014/main" id="{82CD9D59-27CE-8B4E-85F3-97F69473A375}"/>
                </a:ext>
              </a:extLst>
            </p:cNvPr>
            <p:cNvSpPr txBox="1"/>
            <p:nvPr/>
          </p:nvSpPr>
          <p:spPr>
            <a:xfrm>
              <a:off x="3657600" y="2074896"/>
              <a:ext cx="2203768" cy="335528"/>
            </a:xfrm>
            <a:prstGeom prst="rect">
              <a:avLst/>
            </a:prstGeom>
            <a:solidFill>
              <a:schemeClr val="bg1"/>
            </a:solidFill>
            <a:ln>
              <a:solidFill>
                <a:schemeClr val="accent2">
                  <a:lumMod val="75000"/>
                </a:schemeClr>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4" name="TextBox 13">
              <a:extLst>
                <a:ext uri="{FF2B5EF4-FFF2-40B4-BE49-F238E27FC236}">
                  <a16:creationId xmlns:a16="http://schemas.microsoft.com/office/drawing/2014/main" id="{8AE73B4E-F932-614B-B827-C797847927A0}"/>
                </a:ext>
              </a:extLst>
            </p:cNvPr>
            <p:cNvSpPr txBox="1">
              <a:spLocks noChangeAspect="1"/>
            </p:cNvSpPr>
            <p:nvPr/>
          </p:nvSpPr>
          <p:spPr>
            <a:xfrm>
              <a:off x="3657599" y="1716154"/>
              <a:ext cx="2211388" cy="358742"/>
            </a:xfrm>
            <a:prstGeom prst="rect">
              <a:avLst/>
            </a:prstGeom>
            <a:solidFill>
              <a:schemeClr val="accent2">
                <a:lumMod val="75000"/>
              </a:schemeClr>
            </a:solidFill>
            <a:ln>
              <a:noFill/>
            </a:ln>
          </p:spPr>
          <p:txBody>
            <a:bodyPr wrap="square" rtlCol="0" anchor="ctr" anchorCtr="0">
              <a:normAutofit fontScale="92500"/>
            </a:bodyPr>
            <a:lstStyle/>
            <a:p>
              <a:pPr algn="l"/>
              <a:r>
                <a:rPr lang="en-US" sz="1400" b="1" dirty="0">
                  <a:solidFill>
                    <a:schemeClr val="bg1">
                      <a:lumMod val="95000"/>
                    </a:schemeClr>
                  </a:solidFill>
                  <a:latin typeface="Century Gothic" panose="020B0502020202020204" pitchFamily="34" charset="0"/>
                  <a:cs typeface="Futura Medium" panose="020B0602020204020303" pitchFamily="34" charset="-79"/>
                </a:rPr>
                <a:t>Check for Understanding</a:t>
              </a:r>
            </a:p>
          </p:txBody>
        </p:sp>
      </p:grpSp>
      <p:grpSp>
        <p:nvGrpSpPr>
          <p:cNvPr id="15" name="Group 14">
            <a:extLst>
              <a:ext uri="{FF2B5EF4-FFF2-40B4-BE49-F238E27FC236}">
                <a16:creationId xmlns:a16="http://schemas.microsoft.com/office/drawing/2014/main" id="{86336AAC-74E7-784C-910D-0D020AD51C7A}"/>
              </a:ext>
            </a:extLst>
          </p:cNvPr>
          <p:cNvGrpSpPr/>
          <p:nvPr/>
        </p:nvGrpSpPr>
        <p:grpSpPr>
          <a:xfrm>
            <a:off x="9008234" y="2349076"/>
            <a:ext cx="2211388" cy="605005"/>
            <a:chOff x="3657599" y="1716154"/>
            <a:chExt cx="2211388" cy="694270"/>
          </a:xfrm>
        </p:grpSpPr>
        <p:sp>
          <p:nvSpPr>
            <p:cNvPr id="16" name="TextBox 15">
              <a:extLst>
                <a:ext uri="{FF2B5EF4-FFF2-40B4-BE49-F238E27FC236}">
                  <a16:creationId xmlns:a16="http://schemas.microsoft.com/office/drawing/2014/main" id="{70F7ABA7-C143-7C46-86CA-6296F7A16DF4}"/>
                </a:ext>
              </a:extLst>
            </p:cNvPr>
            <p:cNvSpPr txBox="1"/>
            <p:nvPr/>
          </p:nvSpPr>
          <p:spPr>
            <a:xfrm>
              <a:off x="3657600" y="2074896"/>
              <a:ext cx="2203768" cy="335528"/>
            </a:xfrm>
            <a:prstGeom prst="rect">
              <a:avLst/>
            </a:prstGeom>
            <a:solidFill>
              <a:schemeClr val="bg1"/>
            </a:solidFill>
            <a:ln>
              <a:solidFill>
                <a:srgbClr val="7030A0"/>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7" name="TextBox 16">
              <a:extLst>
                <a:ext uri="{FF2B5EF4-FFF2-40B4-BE49-F238E27FC236}">
                  <a16:creationId xmlns:a16="http://schemas.microsoft.com/office/drawing/2014/main" id="{46F0C466-8205-3740-90E8-EA5BEAF964E1}"/>
                </a:ext>
              </a:extLst>
            </p:cNvPr>
            <p:cNvSpPr txBox="1">
              <a:spLocks noChangeAspect="1"/>
            </p:cNvSpPr>
            <p:nvPr/>
          </p:nvSpPr>
          <p:spPr>
            <a:xfrm>
              <a:off x="3657599" y="1716154"/>
              <a:ext cx="2211388" cy="358742"/>
            </a:xfrm>
            <a:prstGeom prst="rect">
              <a:avLst/>
            </a:prstGeom>
            <a:solidFill>
              <a:srgbClr val="7030A0"/>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Teacher Cue</a:t>
              </a:r>
            </a:p>
          </p:txBody>
        </p:sp>
      </p:grpSp>
      <p:grpSp>
        <p:nvGrpSpPr>
          <p:cNvPr id="18" name="Group 17">
            <a:extLst>
              <a:ext uri="{FF2B5EF4-FFF2-40B4-BE49-F238E27FC236}">
                <a16:creationId xmlns:a16="http://schemas.microsoft.com/office/drawing/2014/main" id="{5D76B007-0E44-6A4D-9F32-5BCC1A853A63}"/>
              </a:ext>
            </a:extLst>
          </p:cNvPr>
          <p:cNvGrpSpPr/>
          <p:nvPr/>
        </p:nvGrpSpPr>
        <p:grpSpPr>
          <a:xfrm>
            <a:off x="585788" y="4330276"/>
            <a:ext cx="2211388" cy="605005"/>
            <a:chOff x="3657599" y="1716154"/>
            <a:chExt cx="2211388" cy="694270"/>
          </a:xfrm>
        </p:grpSpPr>
        <p:sp>
          <p:nvSpPr>
            <p:cNvPr id="19" name="TextBox 18">
              <a:extLst>
                <a:ext uri="{FF2B5EF4-FFF2-40B4-BE49-F238E27FC236}">
                  <a16:creationId xmlns:a16="http://schemas.microsoft.com/office/drawing/2014/main" id="{82864B2E-AA68-634B-9CDD-F8704C7476A6}"/>
                </a:ext>
              </a:extLst>
            </p:cNvPr>
            <p:cNvSpPr txBox="1"/>
            <p:nvPr/>
          </p:nvSpPr>
          <p:spPr>
            <a:xfrm>
              <a:off x="3657600" y="2074896"/>
              <a:ext cx="2203768" cy="335528"/>
            </a:xfrm>
            <a:prstGeom prst="rect">
              <a:avLst/>
            </a:prstGeom>
            <a:solidFill>
              <a:schemeClr val="bg1"/>
            </a:solidFill>
            <a:ln>
              <a:solidFill>
                <a:srgbClr val="A14986"/>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0" name="TextBox 19">
              <a:extLst>
                <a:ext uri="{FF2B5EF4-FFF2-40B4-BE49-F238E27FC236}">
                  <a16:creationId xmlns:a16="http://schemas.microsoft.com/office/drawing/2014/main" id="{5F8DCD99-8091-1141-9BDD-119B197F1ABD}"/>
                </a:ext>
              </a:extLst>
            </p:cNvPr>
            <p:cNvSpPr txBox="1">
              <a:spLocks noChangeAspect="1"/>
            </p:cNvSpPr>
            <p:nvPr/>
          </p:nvSpPr>
          <p:spPr>
            <a:xfrm>
              <a:off x="3657599" y="1716154"/>
              <a:ext cx="2211388" cy="358742"/>
            </a:xfrm>
            <a:prstGeom prst="rect">
              <a:avLst/>
            </a:prstGeom>
            <a:solidFill>
              <a:srgbClr val="A14986"/>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Vocabulary</a:t>
              </a:r>
            </a:p>
          </p:txBody>
        </p:sp>
      </p:grpSp>
      <p:grpSp>
        <p:nvGrpSpPr>
          <p:cNvPr id="21" name="Group 20">
            <a:extLst>
              <a:ext uri="{FF2B5EF4-FFF2-40B4-BE49-F238E27FC236}">
                <a16:creationId xmlns:a16="http://schemas.microsoft.com/office/drawing/2014/main" id="{B7EC573C-DF9B-4149-B93E-C84A68B91219}"/>
              </a:ext>
            </a:extLst>
          </p:cNvPr>
          <p:cNvGrpSpPr/>
          <p:nvPr/>
        </p:nvGrpSpPr>
        <p:grpSpPr>
          <a:xfrm>
            <a:off x="4789392" y="4330276"/>
            <a:ext cx="2211388" cy="605005"/>
            <a:chOff x="3657599" y="1716154"/>
            <a:chExt cx="2211388" cy="694270"/>
          </a:xfrm>
        </p:grpSpPr>
        <p:sp>
          <p:nvSpPr>
            <p:cNvPr id="22" name="TextBox 21">
              <a:extLst>
                <a:ext uri="{FF2B5EF4-FFF2-40B4-BE49-F238E27FC236}">
                  <a16:creationId xmlns:a16="http://schemas.microsoft.com/office/drawing/2014/main" id="{AAA8DC77-61C2-1646-844D-7C8801AE2FE1}"/>
                </a:ext>
              </a:extLst>
            </p:cNvPr>
            <p:cNvSpPr txBox="1"/>
            <p:nvPr/>
          </p:nvSpPr>
          <p:spPr>
            <a:xfrm>
              <a:off x="3657600" y="2074896"/>
              <a:ext cx="2203768" cy="335528"/>
            </a:xfrm>
            <a:prstGeom prst="rect">
              <a:avLst/>
            </a:prstGeom>
            <a:solidFill>
              <a:schemeClr val="bg1"/>
            </a:solidFill>
            <a:ln>
              <a:solidFill>
                <a:srgbClr val="002060"/>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3" name="TextBox 22">
              <a:extLst>
                <a:ext uri="{FF2B5EF4-FFF2-40B4-BE49-F238E27FC236}">
                  <a16:creationId xmlns:a16="http://schemas.microsoft.com/office/drawing/2014/main" id="{EF98E954-83A2-F349-B2E8-A0C0B298A610}"/>
                </a:ext>
              </a:extLst>
            </p:cNvPr>
            <p:cNvSpPr txBox="1">
              <a:spLocks noChangeAspect="1"/>
            </p:cNvSpPr>
            <p:nvPr/>
          </p:nvSpPr>
          <p:spPr>
            <a:xfrm>
              <a:off x="3657599" y="1716154"/>
              <a:ext cx="2211388" cy="358742"/>
            </a:xfrm>
            <a:prstGeom prst="rect">
              <a:avLst/>
            </a:prstGeom>
            <a:solidFill>
              <a:srgbClr val="002060"/>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Extension</a:t>
              </a:r>
            </a:p>
          </p:txBody>
        </p:sp>
      </p:grpSp>
      <p:grpSp>
        <p:nvGrpSpPr>
          <p:cNvPr id="24" name="Group 23">
            <a:extLst>
              <a:ext uri="{FF2B5EF4-FFF2-40B4-BE49-F238E27FC236}">
                <a16:creationId xmlns:a16="http://schemas.microsoft.com/office/drawing/2014/main" id="{EEEB6BC9-DA5D-AD4F-8B19-1DB2CA0B88F0}"/>
              </a:ext>
            </a:extLst>
          </p:cNvPr>
          <p:cNvGrpSpPr/>
          <p:nvPr/>
        </p:nvGrpSpPr>
        <p:grpSpPr>
          <a:xfrm>
            <a:off x="9008234" y="4330276"/>
            <a:ext cx="2211388" cy="605005"/>
            <a:chOff x="3657599" y="1716154"/>
            <a:chExt cx="2211388" cy="694270"/>
          </a:xfrm>
        </p:grpSpPr>
        <p:sp>
          <p:nvSpPr>
            <p:cNvPr id="25" name="TextBox 24">
              <a:extLst>
                <a:ext uri="{FF2B5EF4-FFF2-40B4-BE49-F238E27FC236}">
                  <a16:creationId xmlns:a16="http://schemas.microsoft.com/office/drawing/2014/main" id="{35D64311-E8B8-8147-BC7E-A096BAE76B31}"/>
                </a:ext>
              </a:extLst>
            </p:cNvPr>
            <p:cNvSpPr txBox="1"/>
            <p:nvPr/>
          </p:nvSpPr>
          <p:spPr>
            <a:xfrm>
              <a:off x="3657600" y="2074896"/>
              <a:ext cx="2203768" cy="335528"/>
            </a:xfrm>
            <a:prstGeom prst="rect">
              <a:avLst/>
            </a:prstGeom>
            <a:solidFill>
              <a:schemeClr val="bg1"/>
            </a:solidFill>
            <a:ln>
              <a:solidFill>
                <a:srgbClr val="82202A"/>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6" name="TextBox 25">
              <a:extLst>
                <a:ext uri="{FF2B5EF4-FFF2-40B4-BE49-F238E27FC236}">
                  <a16:creationId xmlns:a16="http://schemas.microsoft.com/office/drawing/2014/main" id="{59404963-6AA4-0D4E-B429-287F2358D66E}"/>
                </a:ext>
              </a:extLst>
            </p:cNvPr>
            <p:cNvSpPr txBox="1">
              <a:spLocks noChangeAspect="1"/>
            </p:cNvSpPr>
            <p:nvPr/>
          </p:nvSpPr>
          <p:spPr>
            <a:xfrm>
              <a:off x="3657599" y="1716154"/>
              <a:ext cx="2211388" cy="358742"/>
            </a:xfrm>
            <a:prstGeom prst="rect">
              <a:avLst/>
            </a:prstGeom>
            <a:solidFill>
              <a:srgbClr val="82202A"/>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Hints</a:t>
              </a:r>
            </a:p>
          </p:txBody>
        </p:sp>
      </p:grpSp>
      <p:pic>
        <p:nvPicPr>
          <p:cNvPr id="27" name="Picture 26">
            <a:extLst>
              <a:ext uri="{FF2B5EF4-FFF2-40B4-BE49-F238E27FC236}">
                <a16:creationId xmlns:a16="http://schemas.microsoft.com/office/drawing/2014/main" id="{6441AD50-A0E6-A849-812F-45DF6E919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407" y="5247898"/>
            <a:ext cx="1915320" cy="1467184"/>
          </a:xfrm>
          <a:prstGeom prst="rect">
            <a:avLst/>
          </a:prstGeom>
        </p:spPr>
      </p:pic>
      <p:pic>
        <p:nvPicPr>
          <p:cNvPr id="28" name="Picture 27">
            <a:extLst>
              <a:ext uri="{FF2B5EF4-FFF2-40B4-BE49-F238E27FC236}">
                <a16:creationId xmlns:a16="http://schemas.microsoft.com/office/drawing/2014/main" id="{4EB402F8-97D8-EA40-97D9-5FEC38AF5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0166" y="5392057"/>
            <a:ext cx="2082391" cy="1487422"/>
          </a:xfrm>
          <a:prstGeom prst="rect">
            <a:avLst/>
          </a:prstGeom>
        </p:spPr>
      </p:pic>
      <p:pic>
        <p:nvPicPr>
          <p:cNvPr id="29" name="Picture 28">
            <a:extLst>
              <a:ext uri="{FF2B5EF4-FFF2-40B4-BE49-F238E27FC236}">
                <a16:creationId xmlns:a16="http://schemas.microsoft.com/office/drawing/2014/main" id="{4E3BD12B-95B6-0949-A450-7946445582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5981490"/>
            <a:ext cx="2402928" cy="800976"/>
          </a:xfrm>
          <a:prstGeom prst="rect">
            <a:avLst/>
          </a:prstGeom>
        </p:spPr>
      </p:pic>
    </p:spTree>
    <p:extLst>
      <p:ext uri="{BB962C8B-B14F-4D97-AF65-F5344CB8AC3E}">
        <p14:creationId xmlns:p14="http://schemas.microsoft.com/office/powerpoint/2010/main" val="1760282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080201-3C96-D346-8695-6CB19D8763B1}"/>
              </a:ext>
            </a:extLst>
          </p:cNvPr>
          <p:cNvSpPr>
            <a:spLocks noGrp="1"/>
          </p:cNvSpPr>
          <p:nvPr>
            <p:ph type="body" sz="quarter" idx="15"/>
          </p:nvPr>
        </p:nvSpPr>
        <p:spPr/>
        <p:txBody>
          <a:bodyPr/>
          <a:lstStyle/>
          <a:p>
            <a:endParaRPr lang="en-US" dirty="0"/>
          </a:p>
        </p:txBody>
      </p:sp>
      <p:pic>
        <p:nvPicPr>
          <p:cNvPr id="4" name="Picture 3" descr="A screenshot of a cell phone&#10;&#10;Description automatically generated">
            <a:extLst>
              <a:ext uri="{FF2B5EF4-FFF2-40B4-BE49-F238E27FC236}">
                <a16:creationId xmlns:a16="http://schemas.microsoft.com/office/drawing/2014/main" id="{BA0F9D9E-3E27-474A-BE29-C966F70A8AFE}"/>
              </a:ext>
            </a:extLst>
          </p:cNvPr>
          <p:cNvPicPr>
            <a:picLocks noChangeAspect="1"/>
          </p:cNvPicPr>
          <p:nvPr/>
        </p:nvPicPr>
        <p:blipFill>
          <a:blip r:embed="rId2"/>
          <a:stretch>
            <a:fillRect/>
          </a:stretch>
        </p:blipFill>
        <p:spPr>
          <a:xfrm>
            <a:off x="0" y="0"/>
            <a:ext cx="5280660" cy="6858000"/>
          </a:xfrm>
          <a:prstGeom prst="rect">
            <a:avLst/>
          </a:prstGeom>
        </p:spPr>
      </p:pic>
      <p:pic>
        <p:nvPicPr>
          <p:cNvPr id="5" name="Picture 4" descr="A screenshot of a social media post&#10;&#10;Description automatically generated">
            <a:extLst>
              <a:ext uri="{FF2B5EF4-FFF2-40B4-BE49-F238E27FC236}">
                <a16:creationId xmlns:a16="http://schemas.microsoft.com/office/drawing/2014/main" id="{1941C7AF-B33F-AC4D-A8BD-FE95C5E51F18}"/>
              </a:ext>
            </a:extLst>
          </p:cNvPr>
          <p:cNvPicPr>
            <a:picLocks noChangeAspect="1"/>
          </p:cNvPicPr>
          <p:nvPr/>
        </p:nvPicPr>
        <p:blipFill>
          <a:blip r:embed="rId3"/>
          <a:stretch>
            <a:fillRect/>
          </a:stretch>
        </p:blipFill>
        <p:spPr>
          <a:xfrm>
            <a:off x="5280660" y="1356415"/>
            <a:ext cx="6741570" cy="4011233"/>
          </a:xfrm>
          <a:prstGeom prst="rect">
            <a:avLst/>
          </a:prstGeom>
        </p:spPr>
      </p:pic>
    </p:spTree>
    <p:extLst>
      <p:ext uri="{BB962C8B-B14F-4D97-AF65-F5344CB8AC3E}">
        <p14:creationId xmlns:p14="http://schemas.microsoft.com/office/powerpoint/2010/main" val="2810007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r>
              <a:rPr lang="en-AU" sz="4800" dirty="0"/>
              <a:t>Heat transfer</a:t>
            </a:r>
            <a:endParaRPr lang="en-AU" sz="3500" dirty="0"/>
          </a:p>
        </p:txBody>
      </p:sp>
      <p:sp>
        <p:nvSpPr>
          <p:cNvPr id="6" name="TextBox 5">
            <a:extLst>
              <a:ext uri="{FF2B5EF4-FFF2-40B4-BE49-F238E27FC236}">
                <a16:creationId xmlns:a16="http://schemas.microsoft.com/office/drawing/2014/main" id="{7B855EBE-1056-CC45-8662-36410C1FEB86}"/>
              </a:ext>
            </a:extLst>
          </p:cNvPr>
          <p:cNvSpPr txBox="1"/>
          <p:nvPr/>
        </p:nvSpPr>
        <p:spPr>
          <a:xfrm>
            <a:off x="540328" y="1336119"/>
            <a:ext cx="10183091" cy="2092881"/>
          </a:xfrm>
          <a:prstGeom prst="rect">
            <a:avLst/>
          </a:prstGeom>
          <a:noFill/>
        </p:spPr>
        <p:txBody>
          <a:bodyPr wrap="square" rtlCol="0">
            <a:spAutoFit/>
          </a:bodyPr>
          <a:lstStyle/>
          <a:p>
            <a:r>
              <a:rPr lang="en-US" sz="2600" dirty="0">
                <a:latin typeface="Arial Rounded MT Bold" panose="020F0704030504030204" pitchFamily="34" charset="77"/>
              </a:rPr>
              <a:t>Heat is transferred between objects through 3 different ways:</a:t>
            </a:r>
          </a:p>
          <a:p>
            <a:r>
              <a:rPr lang="en-US" sz="2600" dirty="0">
                <a:latin typeface="Arial Rounded MT Bold" panose="020F0704030504030204" pitchFamily="34" charset="77"/>
              </a:rPr>
              <a:t>Conduction – direct contact</a:t>
            </a:r>
          </a:p>
          <a:p>
            <a:r>
              <a:rPr lang="en-US" sz="2600" dirty="0">
                <a:latin typeface="Arial Rounded MT Bold" panose="020F0704030504030204" pitchFamily="34" charset="77"/>
              </a:rPr>
              <a:t>Convection – the flow of warm liquid/gas  and cool liquid and gas</a:t>
            </a:r>
          </a:p>
          <a:p>
            <a:r>
              <a:rPr lang="en-US" sz="2600" dirty="0">
                <a:latin typeface="Arial Rounded MT Bold" panose="020F0704030504030204" pitchFamily="34" charset="77"/>
              </a:rPr>
              <a:t>Radiation – transfer of heat from electromagnetic waves</a:t>
            </a:r>
          </a:p>
        </p:txBody>
      </p:sp>
      <p:pic>
        <p:nvPicPr>
          <p:cNvPr id="14" name="Picture 13" descr="A picture containing text, kitchenware&#10;&#10;Description automatically generated">
            <a:extLst>
              <a:ext uri="{FF2B5EF4-FFF2-40B4-BE49-F238E27FC236}">
                <a16:creationId xmlns:a16="http://schemas.microsoft.com/office/drawing/2014/main" id="{323CAAD2-A045-2B4B-A6ED-6E0104D6DC9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117772" y="3429000"/>
            <a:ext cx="4533900" cy="3333750"/>
          </a:xfrm>
          <a:prstGeom prst="rect">
            <a:avLst/>
          </a:prstGeom>
        </p:spPr>
      </p:pic>
      <p:sp>
        <p:nvSpPr>
          <p:cNvPr id="15" name="TextBox 14">
            <a:extLst>
              <a:ext uri="{FF2B5EF4-FFF2-40B4-BE49-F238E27FC236}">
                <a16:creationId xmlns:a16="http://schemas.microsoft.com/office/drawing/2014/main" id="{682DC36A-1542-F843-BE6A-C1925B9F6881}"/>
              </a:ext>
            </a:extLst>
          </p:cNvPr>
          <p:cNvSpPr txBox="1"/>
          <p:nvPr/>
        </p:nvSpPr>
        <p:spPr>
          <a:xfrm>
            <a:off x="1562100" y="6762750"/>
            <a:ext cx="9067800" cy="230832"/>
          </a:xfrm>
          <a:prstGeom prst="rect">
            <a:avLst/>
          </a:prstGeom>
          <a:noFill/>
        </p:spPr>
        <p:txBody>
          <a:bodyPr wrap="square" rtlCol="0">
            <a:spAutoFit/>
          </a:bodyPr>
          <a:lstStyle/>
          <a:p>
            <a:r>
              <a:rPr lang="en-US" sz="900">
                <a:hlinkClick r:id="rId4" tooltip="http://futurism.com/physics-thermos-heat-transfer/"/>
              </a:rPr>
              <a:t>This Photo</a:t>
            </a:r>
            <a:r>
              <a:rPr lang="en-US" sz="900"/>
              <a:t> by Unknown Author is licensed under </a:t>
            </a:r>
            <a:r>
              <a:rPr lang="en-US" sz="900">
                <a:hlinkClick r:id="rId5" tooltip="https://creativecommons.org/licenses/by-nc/3.0/"/>
              </a:rPr>
              <a:t>CC BY-NC</a:t>
            </a:r>
            <a:endParaRPr lang="en-US" sz="900"/>
          </a:p>
        </p:txBody>
      </p:sp>
    </p:spTree>
    <p:extLst>
      <p:ext uri="{BB962C8B-B14F-4D97-AF65-F5344CB8AC3E}">
        <p14:creationId xmlns:p14="http://schemas.microsoft.com/office/powerpoint/2010/main" val="2654498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Boiling Water</a:t>
            </a:r>
          </a:p>
        </p:txBody>
      </p:sp>
      <p:sp>
        <p:nvSpPr>
          <p:cNvPr id="6" name="TextBox 5">
            <a:extLst>
              <a:ext uri="{FF2B5EF4-FFF2-40B4-BE49-F238E27FC236}">
                <a16:creationId xmlns:a16="http://schemas.microsoft.com/office/drawing/2014/main" id="{7B855EBE-1056-CC45-8662-36410C1FEB86}"/>
              </a:ext>
            </a:extLst>
          </p:cNvPr>
          <p:cNvSpPr txBox="1"/>
          <p:nvPr/>
        </p:nvSpPr>
        <p:spPr>
          <a:xfrm>
            <a:off x="540328" y="1336119"/>
            <a:ext cx="10183091" cy="1692771"/>
          </a:xfrm>
          <a:prstGeom prst="rect">
            <a:avLst/>
          </a:prstGeom>
          <a:noFill/>
        </p:spPr>
        <p:txBody>
          <a:bodyPr wrap="square" rtlCol="0">
            <a:spAutoFit/>
          </a:bodyPr>
          <a:lstStyle/>
          <a:p>
            <a:r>
              <a:rPr lang="en-US" sz="2600" dirty="0">
                <a:latin typeface="Arial Rounded MT Bold" panose="020F0704030504030204" pitchFamily="34" charset="77"/>
              </a:rPr>
              <a:t>Question:</a:t>
            </a:r>
          </a:p>
          <a:p>
            <a:r>
              <a:rPr lang="en-US" sz="2600" dirty="0">
                <a:latin typeface="Arial Rounded MT Bold" panose="020F0704030504030204" pitchFamily="34" charset="77"/>
              </a:rPr>
              <a:t>You are cooking dinner and you need to boil water on an electric stove to cook pasta. Explain the physics behind how you boil the water.</a:t>
            </a:r>
          </a:p>
        </p:txBody>
      </p:sp>
      <p:pic>
        <p:nvPicPr>
          <p:cNvPr id="4" name="Picture 3" descr="A picture containing indoor, kitchenware, cup, counter&#10;&#10;Description automatically generated">
            <a:extLst>
              <a:ext uri="{FF2B5EF4-FFF2-40B4-BE49-F238E27FC236}">
                <a16:creationId xmlns:a16="http://schemas.microsoft.com/office/drawing/2014/main" id="{9E709ACE-4933-AF40-8494-C615FCCE49A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278582" y="2884054"/>
            <a:ext cx="5960918" cy="3973945"/>
          </a:xfrm>
          <a:prstGeom prst="rect">
            <a:avLst/>
          </a:prstGeom>
        </p:spPr>
      </p:pic>
      <p:sp>
        <p:nvSpPr>
          <p:cNvPr id="5" name="TextBox 4">
            <a:extLst>
              <a:ext uri="{FF2B5EF4-FFF2-40B4-BE49-F238E27FC236}">
                <a16:creationId xmlns:a16="http://schemas.microsoft.com/office/drawing/2014/main" id="{BFD2747F-F145-7B42-A033-E6ADFF3EFECA}"/>
              </a:ext>
            </a:extLst>
          </p:cNvPr>
          <p:cNvSpPr txBox="1"/>
          <p:nvPr/>
        </p:nvSpPr>
        <p:spPr>
          <a:xfrm>
            <a:off x="952500" y="6858000"/>
            <a:ext cx="10287000" cy="230832"/>
          </a:xfrm>
          <a:prstGeom prst="rect">
            <a:avLst/>
          </a:prstGeom>
          <a:noFill/>
        </p:spPr>
        <p:txBody>
          <a:bodyPr wrap="square" rtlCol="0">
            <a:spAutoFit/>
          </a:bodyPr>
          <a:lstStyle/>
          <a:p>
            <a:r>
              <a:rPr lang="en-US" sz="900">
                <a:hlinkClick r:id="rId4" tooltip="https://en.wikipedia.org/wiki/Boiling"/>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137688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r>
              <a:rPr lang="en-AU" sz="4800" dirty="0"/>
              <a:t>Boiling Water</a:t>
            </a:r>
            <a:endParaRPr lang="en-AU" sz="3500" dirty="0"/>
          </a:p>
        </p:txBody>
      </p:sp>
      <p:sp>
        <p:nvSpPr>
          <p:cNvPr id="6" name="TextBox 5">
            <a:extLst>
              <a:ext uri="{FF2B5EF4-FFF2-40B4-BE49-F238E27FC236}">
                <a16:creationId xmlns:a16="http://schemas.microsoft.com/office/drawing/2014/main" id="{7B855EBE-1056-CC45-8662-36410C1FEB86}"/>
              </a:ext>
            </a:extLst>
          </p:cNvPr>
          <p:cNvSpPr txBox="1"/>
          <p:nvPr/>
        </p:nvSpPr>
        <p:spPr>
          <a:xfrm>
            <a:off x="540328" y="1336119"/>
            <a:ext cx="10183091" cy="5293757"/>
          </a:xfrm>
          <a:prstGeom prst="rect">
            <a:avLst/>
          </a:prstGeom>
          <a:noFill/>
        </p:spPr>
        <p:txBody>
          <a:bodyPr wrap="square" rtlCol="0">
            <a:spAutoFit/>
          </a:bodyPr>
          <a:lstStyle/>
          <a:p>
            <a:pPr marL="514350" indent="-514350">
              <a:buAutoNum type="arabicPeriod"/>
            </a:pPr>
            <a:r>
              <a:rPr lang="en-US" sz="2600" dirty="0">
                <a:latin typeface="Arial Rounded MT Bold" panose="020F0704030504030204" pitchFamily="34" charset="77"/>
              </a:rPr>
              <a:t>Salt is added to the water</a:t>
            </a:r>
          </a:p>
          <a:p>
            <a:r>
              <a:rPr lang="en-US" sz="2600" dirty="0">
                <a:latin typeface="Arial Rounded MT Bold" panose="020F0704030504030204" pitchFamily="34" charset="77"/>
              </a:rPr>
              <a:t>	Salt is added to water when boiling because the specific 	heat capacity for salt water is lower than the specific 	heat capacity of water. This means that is salt is added 	in the beginning less heat energy will be required to 	bring all the water up to boiling point.</a:t>
            </a:r>
          </a:p>
          <a:p>
            <a:endParaRPr lang="en-US" sz="2600" dirty="0">
              <a:latin typeface="Arial Rounded MT Bold" panose="020F0704030504030204" pitchFamily="34" charset="77"/>
            </a:endParaRPr>
          </a:p>
          <a:p>
            <a:r>
              <a:rPr lang="en-US" sz="2600" dirty="0">
                <a:latin typeface="Arial Rounded MT Bold" panose="020F0704030504030204" pitchFamily="34" charset="77"/>
              </a:rPr>
              <a:t>2. Heating the pot</a:t>
            </a:r>
          </a:p>
          <a:p>
            <a:r>
              <a:rPr lang="en-US" sz="2600" dirty="0">
                <a:latin typeface="Arial Rounded MT Bold" panose="020F0704030504030204" pitchFamily="34" charset="77"/>
              </a:rPr>
              <a:t>	The pot is placed onto an electric stove. This allows heat 	to pass from the the stove top to the pot using 	conduction. The pot is made of metal which is a good 	conductor of heat. Allowing the heat to pass through to 	the water easily.</a:t>
            </a:r>
          </a:p>
        </p:txBody>
      </p:sp>
    </p:spTree>
    <p:extLst>
      <p:ext uri="{BB962C8B-B14F-4D97-AF65-F5344CB8AC3E}">
        <p14:creationId xmlns:p14="http://schemas.microsoft.com/office/powerpoint/2010/main" val="107006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r>
              <a:rPr lang="en-AU" sz="4800" dirty="0"/>
              <a:t>Boiling Water</a:t>
            </a:r>
            <a:endParaRPr lang="en-AU" sz="3500" dirty="0"/>
          </a:p>
        </p:txBody>
      </p:sp>
      <p:sp>
        <p:nvSpPr>
          <p:cNvPr id="6" name="TextBox 5">
            <a:extLst>
              <a:ext uri="{FF2B5EF4-FFF2-40B4-BE49-F238E27FC236}">
                <a16:creationId xmlns:a16="http://schemas.microsoft.com/office/drawing/2014/main" id="{7B855EBE-1056-CC45-8662-36410C1FEB86}"/>
              </a:ext>
            </a:extLst>
          </p:cNvPr>
          <p:cNvSpPr txBox="1"/>
          <p:nvPr/>
        </p:nvSpPr>
        <p:spPr>
          <a:xfrm>
            <a:off x="540328" y="1336119"/>
            <a:ext cx="10183091" cy="4093428"/>
          </a:xfrm>
          <a:prstGeom prst="rect">
            <a:avLst/>
          </a:prstGeom>
          <a:noFill/>
        </p:spPr>
        <p:txBody>
          <a:bodyPr wrap="square" rtlCol="0">
            <a:spAutoFit/>
          </a:bodyPr>
          <a:lstStyle/>
          <a:p>
            <a:r>
              <a:rPr lang="en-US" sz="2600" dirty="0">
                <a:latin typeface="Arial Rounded MT Bold" panose="020F0704030504030204" pitchFamily="34" charset="77"/>
              </a:rPr>
              <a:t>3. Heating the water</a:t>
            </a:r>
          </a:p>
          <a:p>
            <a:r>
              <a:rPr lang="en-US" sz="2600" dirty="0">
                <a:latin typeface="Arial Rounded MT Bold" panose="020F0704030504030204" pitchFamily="34" charset="77"/>
              </a:rPr>
              <a:t>	The water and the pot are not in thermal equilibrium. So 	the pot transfers heat to water at the bottom of the pot. 	This causes convection currents as the hot water rises 	and the cool water sinks to the bottom. The top layer of 	water in the pot will always loose air to the surroundings.</a:t>
            </a:r>
          </a:p>
          <a:p>
            <a:r>
              <a:rPr lang="en-US" sz="2600" dirty="0">
                <a:latin typeface="Arial Rounded MT Bold" panose="020F0704030504030204" pitchFamily="34" charset="77"/>
              </a:rPr>
              <a:t>4. Water boiling</a:t>
            </a:r>
          </a:p>
          <a:p>
            <a:r>
              <a:rPr lang="en-US" sz="2600" dirty="0">
                <a:latin typeface="Arial Rounded MT Bold" panose="020F0704030504030204" pitchFamily="34" charset="77"/>
              </a:rPr>
              <a:t>	Once the water reaches 100 degrees the water will start 	bubbling, indicating that it is starting to go through a 	phase change.</a:t>
            </a:r>
          </a:p>
        </p:txBody>
      </p:sp>
    </p:spTree>
    <p:extLst>
      <p:ext uri="{BB962C8B-B14F-4D97-AF65-F5344CB8AC3E}">
        <p14:creationId xmlns:p14="http://schemas.microsoft.com/office/powerpoint/2010/main" val="3279031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Example 2 Explaining how fridges work</a:t>
            </a:r>
          </a:p>
        </p:txBody>
      </p:sp>
      <p:pic>
        <p:nvPicPr>
          <p:cNvPr id="4" name="Picture 3" descr="Diagram&#10;&#10;Description automatically generated">
            <a:extLst>
              <a:ext uri="{FF2B5EF4-FFF2-40B4-BE49-F238E27FC236}">
                <a16:creationId xmlns:a16="http://schemas.microsoft.com/office/drawing/2014/main" id="{85CC0DC0-AFE7-BC46-9F97-37E9FF85A00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83495" y="1450763"/>
            <a:ext cx="4117368" cy="4932552"/>
          </a:xfrm>
          <a:prstGeom prst="rect">
            <a:avLst/>
          </a:prstGeom>
        </p:spPr>
      </p:pic>
      <p:sp>
        <p:nvSpPr>
          <p:cNvPr id="5" name="TextBox 4">
            <a:extLst>
              <a:ext uri="{FF2B5EF4-FFF2-40B4-BE49-F238E27FC236}">
                <a16:creationId xmlns:a16="http://schemas.microsoft.com/office/drawing/2014/main" id="{45CDD894-A6B8-5D43-9B64-2A7DBB0A7490}"/>
              </a:ext>
            </a:extLst>
          </p:cNvPr>
          <p:cNvSpPr txBox="1"/>
          <p:nvPr/>
        </p:nvSpPr>
        <p:spPr>
          <a:xfrm>
            <a:off x="816263" y="8002732"/>
            <a:ext cx="3784600" cy="230832"/>
          </a:xfrm>
          <a:prstGeom prst="rect">
            <a:avLst/>
          </a:prstGeom>
          <a:noFill/>
        </p:spPr>
        <p:txBody>
          <a:bodyPr wrap="square" rtlCol="0">
            <a:spAutoFit/>
          </a:bodyPr>
          <a:lstStyle/>
          <a:p>
            <a:r>
              <a:rPr lang="en-US" sz="900" dirty="0">
                <a:hlinkClick r:id="rId4" tooltip="https://phys.libretexts.org/TextMaps/General_Physics_Textmaps/Map:_University_Physics_(OpenStax)/Map:_University_Physics_Vol._2_(OpenStax)/4:_The_Second_Law_of_Thermodynamics/4.3:_Refrigerators_and_Heat_Pumps"/>
              </a:rPr>
              <a:t>This Photo</a:t>
            </a:r>
            <a:r>
              <a:rPr lang="en-US" sz="900" dirty="0"/>
              <a:t> by Unknown Author is licensed under </a:t>
            </a:r>
            <a:r>
              <a:rPr lang="en-US" sz="900" dirty="0">
                <a:hlinkClick r:id="rId5" tooltip="https://creativecommons.org/licenses/by-nc-sa/3.0/"/>
              </a:rPr>
              <a:t>CC BY-SA-NC</a:t>
            </a:r>
            <a:endParaRPr lang="en-US" sz="900" dirty="0"/>
          </a:p>
        </p:txBody>
      </p:sp>
      <p:sp>
        <p:nvSpPr>
          <p:cNvPr id="7" name="TextBox 6">
            <a:extLst>
              <a:ext uri="{FF2B5EF4-FFF2-40B4-BE49-F238E27FC236}">
                <a16:creationId xmlns:a16="http://schemas.microsoft.com/office/drawing/2014/main" id="{07D91D58-525E-8842-BBAC-0CEBE83ACB85}"/>
              </a:ext>
            </a:extLst>
          </p:cNvPr>
          <p:cNvSpPr txBox="1"/>
          <p:nvPr/>
        </p:nvSpPr>
        <p:spPr>
          <a:xfrm>
            <a:off x="5076539" y="1184564"/>
            <a:ext cx="5029200" cy="4524315"/>
          </a:xfrm>
          <a:prstGeom prst="rect">
            <a:avLst/>
          </a:prstGeom>
          <a:noFill/>
        </p:spPr>
        <p:txBody>
          <a:bodyPr wrap="square" rtlCol="0">
            <a:spAutoFit/>
          </a:bodyPr>
          <a:lstStyle/>
          <a:p>
            <a:r>
              <a:rPr lang="en-US" sz="2400" dirty="0">
                <a:latin typeface="Arial Rounded MT Bold" panose="020F0704030504030204" pitchFamily="34" charset="77"/>
              </a:rPr>
              <a:t>Explain how a refrigerator works.</a:t>
            </a:r>
          </a:p>
          <a:p>
            <a:endParaRPr lang="en-US" sz="2400" dirty="0">
              <a:latin typeface="Arial Rounded MT Bold" panose="020F0704030504030204" pitchFamily="34" charset="77"/>
            </a:endParaRPr>
          </a:p>
          <a:p>
            <a:r>
              <a:rPr lang="en-US" sz="2400" dirty="0">
                <a:latin typeface="Arial Rounded MT Bold" panose="020F0704030504030204" pitchFamily="34" charset="77"/>
              </a:rPr>
              <a:t>Refrigerators use convection currents to cool items inside. The excess heat is absorbed by a substance (refrigerant) till everything is in thermal equilibrium with each other.</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The refrigerant goes through the throttling device.</a:t>
            </a:r>
          </a:p>
        </p:txBody>
      </p:sp>
    </p:spTree>
    <p:extLst>
      <p:ext uri="{BB962C8B-B14F-4D97-AF65-F5344CB8AC3E}">
        <p14:creationId xmlns:p14="http://schemas.microsoft.com/office/powerpoint/2010/main" val="669998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Throttling Device (Expansion Valves)</a:t>
            </a:r>
          </a:p>
        </p:txBody>
      </p:sp>
      <p:sp>
        <p:nvSpPr>
          <p:cNvPr id="7" name="TextBox 6">
            <a:extLst>
              <a:ext uri="{FF2B5EF4-FFF2-40B4-BE49-F238E27FC236}">
                <a16:creationId xmlns:a16="http://schemas.microsoft.com/office/drawing/2014/main" id="{07D91D58-525E-8842-BBAC-0CEBE83ACB85}"/>
              </a:ext>
            </a:extLst>
          </p:cNvPr>
          <p:cNvSpPr txBox="1"/>
          <p:nvPr/>
        </p:nvSpPr>
        <p:spPr>
          <a:xfrm>
            <a:off x="5076539" y="1184564"/>
            <a:ext cx="5029200" cy="4154984"/>
          </a:xfrm>
          <a:prstGeom prst="rect">
            <a:avLst/>
          </a:prstGeom>
          <a:noFill/>
        </p:spPr>
        <p:txBody>
          <a:bodyPr wrap="square" rtlCol="0">
            <a:spAutoFit/>
          </a:bodyPr>
          <a:lstStyle/>
          <a:p>
            <a:r>
              <a:rPr lang="en-US" sz="2400" dirty="0">
                <a:latin typeface="Arial Rounded MT Bold" panose="020F0704030504030204" pitchFamily="34" charset="77"/>
              </a:rPr>
              <a:t>The throttling device reduces the pressure of the refrigerant before it goes into the fridge. The boiling point of the refrigerant is decreased.</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This then cools the refrigerant till vaporization occurs. Meaning the refrigerant is in a partial liquid and vapor state.</a:t>
            </a:r>
          </a:p>
          <a:p>
            <a:endParaRPr lang="en-US" sz="2400" dirty="0">
              <a:latin typeface="Arial Rounded MT Bold" panose="020F0704030504030204" pitchFamily="34" charset="77"/>
            </a:endParaRPr>
          </a:p>
        </p:txBody>
      </p:sp>
      <p:pic>
        <p:nvPicPr>
          <p:cNvPr id="1028" name="Picture 4" descr="What is Example of Throttling and Isenthalpic Process - Definition">
            <a:extLst>
              <a:ext uri="{FF2B5EF4-FFF2-40B4-BE49-F238E27FC236}">
                <a16:creationId xmlns:a16="http://schemas.microsoft.com/office/drawing/2014/main" id="{8A7835C0-D081-644A-9D68-AC69216F9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5200" y="1098246"/>
            <a:ext cx="2312410" cy="4661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187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Evaporators</a:t>
            </a:r>
          </a:p>
        </p:txBody>
      </p:sp>
      <p:sp>
        <p:nvSpPr>
          <p:cNvPr id="7" name="TextBox 6">
            <a:extLst>
              <a:ext uri="{FF2B5EF4-FFF2-40B4-BE49-F238E27FC236}">
                <a16:creationId xmlns:a16="http://schemas.microsoft.com/office/drawing/2014/main" id="{07D91D58-525E-8842-BBAC-0CEBE83ACB85}"/>
              </a:ext>
            </a:extLst>
          </p:cNvPr>
          <p:cNvSpPr txBox="1"/>
          <p:nvPr/>
        </p:nvSpPr>
        <p:spPr>
          <a:xfrm>
            <a:off x="5076539" y="1184564"/>
            <a:ext cx="6781508" cy="5632311"/>
          </a:xfrm>
          <a:prstGeom prst="rect">
            <a:avLst/>
          </a:prstGeom>
          <a:noFill/>
        </p:spPr>
        <p:txBody>
          <a:bodyPr wrap="square" rtlCol="0">
            <a:spAutoFit/>
          </a:bodyPr>
          <a:lstStyle/>
          <a:p>
            <a:r>
              <a:rPr lang="en-US" sz="2400" dirty="0">
                <a:latin typeface="Arial Rounded MT Bold" panose="020F0704030504030204" pitchFamily="34" charset="77"/>
              </a:rPr>
              <a:t>Evaporators are a series of tubing found in the back of the fridge. </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The refrigerant passes through the evaporators. A fan is used to push the cool air around the fridge. </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The refrigerant absorbs any heat, so that all the items in the fridge are in thermal equilibrium.</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The refrigerant does not increase in temperature, instead the refrigerant goes from a liquid to a gas.</a:t>
            </a:r>
          </a:p>
          <a:p>
            <a:endParaRPr lang="en-US" sz="2400" dirty="0">
              <a:latin typeface="Arial Rounded MT Bold" panose="020F0704030504030204" pitchFamily="34" charset="77"/>
            </a:endParaRPr>
          </a:p>
        </p:txBody>
      </p:sp>
      <p:pic>
        <p:nvPicPr>
          <p:cNvPr id="3076" name="Picture 4" descr="Condenser, Compressor or Evaporator – Which is Which? - Cold-Rite">
            <a:extLst>
              <a:ext uri="{FF2B5EF4-FFF2-40B4-BE49-F238E27FC236}">
                <a16:creationId xmlns:a16="http://schemas.microsoft.com/office/drawing/2014/main" id="{3F88DBF8-8BA2-7C4A-B6BF-638B58816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53" y="1714500"/>
            <a:ext cx="4564857"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228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Compressor</a:t>
            </a:r>
          </a:p>
        </p:txBody>
      </p:sp>
      <p:sp>
        <p:nvSpPr>
          <p:cNvPr id="7" name="TextBox 6">
            <a:extLst>
              <a:ext uri="{FF2B5EF4-FFF2-40B4-BE49-F238E27FC236}">
                <a16:creationId xmlns:a16="http://schemas.microsoft.com/office/drawing/2014/main" id="{07D91D58-525E-8842-BBAC-0CEBE83ACB85}"/>
              </a:ext>
            </a:extLst>
          </p:cNvPr>
          <p:cNvSpPr txBox="1"/>
          <p:nvPr/>
        </p:nvSpPr>
        <p:spPr>
          <a:xfrm>
            <a:off x="5076539" y="1184564"/>
            <a:ext cx="6781508" cy="3046988"/>
          </a:xfrm>
          <a:prstGeom prst="rect">
            <a:avLst/>
          </a:prstGeom>
          <a:noFill/>
        </p:spPr>
        <p:txBody>
          <a:bodyPr wrap="square" rtlCol="0">
            <a:spAutoFit/>
          </a:bodyPr>
          <a:lstStyle/>
          <a:p>
            <a:r>
              <a:rPr lang="en-US" sz="2400" dirty="0">
                <a:latin typeface="Arial Rounded MT Bold" panose="020F0704030504030204" pitchFamily="34" charset="77"/>
              </a:rPr>
              <a:t>After passing through the evaporator, the refrigerant goes through a compressor.</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The compressor increases the pressure and temperature of the refrigerant. Meaning that all of the refrigerant is in a vapor state.</a:t>
            </a:r>
          </a:p>
          <a:p>
            <a:endParaRPr lang="en-US" sz="2400" dirty="0">
              <a:latin typeface="Arial Rounded MT Bold" panose="020F0704030504030204" pitchFamily="34" charset="77"/>
            </a:endParaRPr>
          </a:p>
          <a:p>
            <a:endParaRPr lang="en-US" sz="2400" dirty="0">
              <a:latin typeface="Arial Rounded MT Bold" panose="020F0704030504030204" pitchFamily="34" charset="77"/>
            </a:endParaRPr>
          </a:p>
        </p:txBody>
      </p:sp>
      <p:pic>
        <p:nvPicPr>
          <p:cNvPr id="3074" name="Picture 2" descr="Cool rooms | Cooling and storage | Postharvest fundamentals | Postharvest  Management of Vegetables">
            <a:extLst>
              <a:ext uri="{FF2B5EF4-FFF2-40B4-BE49-F238E27FC236}">
                <a16:creationId xmlns:a16="http://schemas.microsoft.com/office/drawing/2014/main" id="{340B6812-E8F9-8348-8D57-ACF6600720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53" y="1714500"/>
            <a:ext cx="4244182"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9398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Condenser </a:t>
            </a:r>
          </a:p>
        </p:txBody>
      </p:sp>
      <p:sp>
        <p:nvSpPr>
          <p:cNvPr id="7" name="TextBox 6">
            <a:extLst>
              <a:ext uri="{FF2B5EF4-FFF2-40B4-BE49-F238E27FC236}">
                <a16:creationId xmlns:a16="http://schemas.microsoft.com/office/drawing/2014/main" id="{07D91D58-525E-8842-BBAC-0CEBE83ACB85}"/>
              </a:ext>
            </a:extLst>
          </p:cNvPr>
          <p:cNvSpPr txBox="1"/>
          <p:nvPr/>
        </p:nvSpPr>
        <p:spPr>
          <a:xfrm>
            <a:off x="5076539" y="1184564"/>
            <a:ext cx="6781508" cy="4154984"/>
          </a:xfrm>
          <a:prstGeom prst="rect">
            <a:avLst/>
          </a:prstGeom>
          <a:noFill/>
        </p:spPr>
        <p:txBody>
          <a:bodyPr wrap="square" rtlCol="0">
            <a:spAutoFit/>
          </a:bodyPr>
          <a:lstStyle/>
          <a:p>
            <a:r>
              <a:rPr lang="en-US" sz="2400" dirty="0">
                <a:latin typeface="Arial Rounded MT Bold" panose="020F0704030504030204" pitchFamily="34" charset="77"/>
              </a:rPr>
              <a:t>In order to cool the refrigerant back to a liquid state it must be cooled. For this to happen it passes through the condenser.</a:t>
            </a:r>
          </a:p>
          <a:p>
            <a:endParaRPr lang="en-US" sz="2400" dirty="0">
              <a:latin typeface="Arial Rounded MT Bold" panose="020F0704030504030204" pitchFamily="34" charset="77"/>
            </a:endParaRPr>
          </a:p>
          <a:p>
            <a:r>
              <a:rPr lang="en-US" sz="2400" dirty="0">
                <a:latin typeface="Arial Rounded MT Bold" panose="020F0704030504030204" pitchFamily="34" charset="77"/>
              </a:rPr>
              <a:t>The condenser is located on the outside of most fridges. It is very similar to the evaporator. Except instead of absorbing heat, the refrigerant gives heat to its surroundings. </a:t>
            </a:r>
          </a:p>
          <a:p>
            <a:endParaRPr lang="en-US" sz="2400" dirty="0">
              <a:latin typeface="Arial Rounded MT Bold" panose="020F0704030504030204" pitchFamily="34" charset="77"/>
            </a:endParaRPr>
          </a:p>
          <a:p>
            <a:endParaRPr lang="en-US" sz="2400" dirty="0">
              <a:latin typeface="Arial Rounded MT Bold" panose="020F0704030504030204" pitchFamily="34" charset="77"/>
            </a:endParaRPr>
          </a:p>
        </p:txBody>
      </p:sp>
      <p:pic>
        <p:nvPicPr>
          <p:cNvPr id="3074" name="Picture 2" descr="Cool rooms | Cooling and storage | Postharvest fundamentals | Postharvest  Management of Vegetables">
            <a:extLst>
              <a:ext uri="{FF2B5EF4-FFF2-40B4-BE49-F238E27FC236}">
                <a16:creationId xmlns:a16="http://schemas.microsoft.com/office/drawing/2014/main" id="{340B6812-E8F9-8348-8D57-ACF6600720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953" y="1714500"/>
            <a:ext cx="4244182"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843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965200" y="243853"/>
            <a:ext cx="11481952" cy="524699"/>
          </a:xfrm>
        </p:spPr>
        <p:txBody>
          <a:bodyPr>
            <a:noAutofit/>
          </a:bodyPr>
          <a:lstStyle/>
          <a:p>
            <a:pPr algn="ctr"/>
            <a:r>
              <a:rPr lang="en-AU" sz="3500" dirty="0"/>
              <a:t> </a:t>
            </a:r>
          </a:p>
        </p:txBody>
      </p:sp>
      <p:pic>
        <p:nvPicPr>
          <p:cNvPr id="5" name="Picture 4" descr="Diagram&#10;&#10;Description automatically generated">
            <a:extLst>
              <a:ext uri="{FF2B5EF4-FFF2-40B4-BE49-F238E27FC236}">
                <a16:creationId xmlns:a16="http://schemas.microsoft.com/office/drawing/2014/main" id="{A4DA110E-7140-E445-A332-83585D2FB97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028077" y="419845"/>
            <a:ext cx="5023687" cy="6018310"/>
          </a:xfrm>
          <a:prstGeom prst="rect">
            <a:avLst/>
          </a:prstGeom>
        </p:spPr>
      </p:pic>
      <p:sp>
        <p:nvSpPr>
          <p:cNvPr id="6" name="TextBox 5">
            <a:extLst>
              <a:ext uri="{FF2B5EF4-FFF2-40B4-BE49-F238E27FC236}">
                <a16:creationId xmlns:a16="http://schemas.microsoft.com/office/drawing/2014/main" id="{CD8F9D33-8F81-1743-914C-C898ECA7C8AF}"/>
              </a:ext>
            </a:extLst>
          </p:cNvPr>
          <p:cNvSpPr txBox="1"/>
          <p:nvPr/>
        </p:nvSpPr>
        <p:spPr>
          <a:xfrm>
            <a:off x="816263" y="8002732"/>
            <a:ext cx="3784600" cy="230832"/>
          </a:xfrm>
          <a:prstGeom prst="rect">
            <a:avLst/>
          </a:prstGeom>
          <a:noFill/>
        </p:spPr>
        <p:txBody>
          <a:bodyPr wrap="square" rtlCol="0">
            <a:spAutoFit/>
          </a:bodyPr>
          <a:lstStyle/>
          <a:p>
            <a:r>
              <a:rPr lang="en-US" sz="900" dirty="0">
                <a:hlinkClick r:id="rId4" tooltip="https://phys.libretexts.org/TextMaps/General_Physics_Textmaps/Map:_University_Physics_(OpenStax)/Map:_University_Physics_Vol._2_(OpenStax)/4:_The_Second_Law_of_Thermodynamics/4.3:_Refrigerators_and_Heat_Pumps"/>
              </a:rPr>
              <a:t>This Photo</a:t>
            </a:r>
            <a:r>
              <a:rPr lang="en-US" sz="900" dirty="0"/>
              <a:t> by Unknown Author is licensed under </a:t>
            </a:r>
            <a:r>
              <a:rPr lang="en-US" sz="900" dirty="0">
                <a:hlinkClick r:id="rId5" tooltip="https://creativecommons.org/licenses/by-nc-sa/3.0/"/>
              </a:rPr>
              <a:t>CC BY-SA-NC</a:t>
            </a:r>
            <a:endParaRPr lang="en-US" sz="900" dirty="0"/>
          </a:p>
        </p:txBody>
      </p:sp>
      <p:pic>
        <p:nvPicPr>
          <p:cNvPr id="7170" name="Picture 2">
            <a:extLst>
              <a:ext uri="{FF2B5EF4-FFF2-40B4-BE49-F238E27FC236}">
                <a16:creationId xmlns:a16="http://schemas.microsoft.com/office/drawing/2014/main" id="{B8B616A8-0A3A-9041-97DD-E0A5C62762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9695" y="0"/>
            <a:ext cx="58785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489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0" id="{AD692A73-123A-CB44-B0E5-2F0FF0A408B0}" vid="{7DF892D5-A8BF-3243-A28C-CECEB0530C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970</TotalTime>
  <Words>738</Words>
  <Application>Microsoft Macintosh PowerPoint</Application>
  <PresentationFormat>Widescreen</PresentationFormat>
  <Paragraphs>71</Paragraphs>
  <Slides>13</Slides>
  <Notes>11</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 Rounded MT Bold</vt:lpstr>
      <vt:lpstr>Calibri</vt:lpstr>
      <vt:lpstr>Calibri Light</vt:lpstr>
      <vt:lpstr>Century Gothic</vt:lpstr>
      <vt:lpstr>Futura Medium</vt:lpstr>
      <vt:lpstr>Verdana</vt:lpstr>
      <vt:lpstr>Office Theme</vt:lpstr>
      <vt:lpstr>Conduction, Convection and Radiation Year 11 Physics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Conduction, Convection and Radiation Year 11 Physics</dc:title>
  <dc:creator>Maria Harris</dc:creator>
  <cp:lastModifiedBy>Maria Harris</cp:lastModifiedBy>
  <cp:revision>6</cp:revision>
  <dcterms:created xsi:type="dcterms:W3CDTF">2021-03-07T09:26:45Z</dcterms:created>
  <dcterms:modified xsi:type="dcterms:W3CDTF">2021-03-08T01:36:54Z</dcterms:modified>
</cp:coreProperties>
</file>
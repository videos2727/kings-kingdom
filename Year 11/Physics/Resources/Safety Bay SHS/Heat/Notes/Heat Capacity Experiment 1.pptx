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64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6296"/>
  </p:normalViewPr>
  <p:slideViewPr>
    <p:cSldViewPr snapToGrid="0" snapToObjects="1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6:59.30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58 41 16383,'-30'-22'0,"11"4"0,10 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7:10.13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 16383,'9'27'0,"-2"-5"0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7:39.4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16383,'0'0'0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9:16.5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0 16383,'6'6'0,"-2"-2"0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3A064-C77F-2D40-BEB4-D2B5E7354A9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2BC4B-2495-6340-B087-F35859349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D6F03-C114-7440-A578-13B07E7D8E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73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Sound is a longitudinal wave of vibrating particles (back and forth)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Sound is a longitudinal wave of vibrating particles (back and forth)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058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Sound is a longitudinal wave of vibrating particles (back and forth)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5932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D6F03-C114-7440-A578-13B07E7D8E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10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312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197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906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77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0C54-CD1F-994F-989B-1639D0BE2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553D7-C17C-9F42-8134-106B5EF3A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EBA28-6720-9E4F-9430-D1048A29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857FA-78F1-C941-BFE7-245FB11D4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59AAB-60D5-054E-A368-472CA499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9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605F-69F8-6B4F-B3C1-A781B6D9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5475E-4402-C340-A267-FBFB65212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507AB-CF1F-DE4E-A5E3-70AD588A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29762-4DF8-4640-ADCA-CA466588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C72FC-4023-DA45-9B2A-7D195EAE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B6A2-33E2-DC49-A8FC-A828E8C1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05C70-FC6F-854A-841B-9DA875115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6AFA-15A3-B643-86BF-B679BD66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638DB-DAE0-4942-80AD-ED370483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CC13-A240-B541-94CF-C339F668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6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A7C5-9372-8843-8655-91BC42FE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B7DF0-B8DB-5745-8B7F-28B72FB9D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B7EA5-F85A-504F-B7C9-27148DFC9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22751-6A96-8448-A9FA-E20B5E11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9AC20-725B-9C4B-9E04-D98F3900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7A165-F901-4C4B-993A-ED8F64D8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2489-B765-A849-8DF8-104857B48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7E788-23C9-9640-97C0-ECA73513B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190D5-5E1F-DB41-8A22-92D9B120A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837DB-0668-B94B-A02C-3EED4C477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04CDD-475C-CC48-99C3-BFEB0A887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FC5E0-2503-4C49-ABC8-1D28B32B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F196A5-1B49-6944-9441-A65B3665A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60650C-1040-1D41-B20E-C9298FE4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3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BD71-4C23-E947-A596-6E4538F0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0AF10-55DF-D14D-8B3A-FA55D0A0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67BB5-2CEC-A045-B746-B7430E84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6D732-7552-C242-A17E-7234DF85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97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5E5ED-F17F-A24B-90F9-AD2B7C56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68FB3-82DC-2448-BFEF-17BEE4BA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6A2F0-713F-1C44-BFFD-5788648E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90F6-AD70-1C4D-82CD-ED7D21BF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4AE9-BFFD-5A4E-94E6-261C4F52F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53B36-A6A1-BB4B-9642-2A196DE38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6137-3D0F-C146-B927-BA7EAA3F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44552-5914-D349-A99A-4883A9B0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86348-A337-2C46-A737-BDDEB962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753E-6EC1-3D4F-872B-FEFFFC1D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64315-9AB3-2449-9599-54B1E8BA1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7048D-0FB0-B54D-B7EB-C51C4C50F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62929-B13A-F84F-BB58-8511123A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6AF91-056D-484D-900E-E57D8BF7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E2E4F-2E8E-1843-AA00-7BB6907B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5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606E-0116-A142-AF4C-43A90F01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E3568-6910-D847-9D71-317C81DF3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EAF5-3E02-E740-879D-6C6FC1B8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196B7-F796-8F45-B794-48B729AB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3F725-D368-3F4B-B1C7-047A8D14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5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F4ECE-223E-C94F-92C6-3A91232CE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5C82C-9CAB-7242-A7D3-7F38901D7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30B8B-4E43-5F45-80C4-4DBCC851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AFA7-6BBD-F64B-A28E-6BCC0053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CD6AC-F80F-1F45-9C99-F015EA81C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00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DR) Rec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35595EE4-C677-3149-AF01-E78433EE681A}"/>
              </a:ext>
            </a:extLst>
          </p:cNvPr>
          <p:cNvSpPr txBox="1"/>
          <p:nvPr userDrawn="1"/>
        </p:nvSpPr>
        <p:spPr>
          <a:xfrm>
            <a:off x="10195560" y="1010412"/>
            <a:ext cx="0" cy="0"/>
          </a:xfrm>
          <a:prstGeom prst="rect">
            <a:avLst/>
          </a:prstGeom>
          <a:solidFill>
            <a:srgbClr val="3B8CC1"/>
          </a:solidFill>
        </p:spPr>
        <p:txBody>
          <a:bodyPr wrap="none" rtlCol="0" anchor="ctr">
            <a:noAutofit/>
          </a:bodyPr>
          <a:lstStyle/>
          <a:p>
            <a:pPr algn="l"/>
            <a:endParaRPr lang="en-US" b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B367B-52EA-4644-B6D4-E73CA3E3B133}"/>
              </a:ext>
            </a:extLst>
          </p:cNvPr>
          <p:cNvSpPr txBox="1"/>
          <p:nvPr userDrawn="1"/>
        </p:nvSpPr>
        <p:spPr>
          <a:xfrm>
            <a:off x="757646" y="392930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rmAutofit fontScale="25000" lnSpcReduction="20000"/>
          </a:bodyPr>
          <a:lstStyle/>
          <a:p>
            <a:pPr algn="l"/>
            <a:endParaRPr lang="en-US" sz="40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0E9EF-C072-49CE-9514-CD457EE95DB9}"/>
              </a:ext>
            </a:extLst>
          </p:cNvPr>
          <p:cNvSpPr txBox="1"/>
          <p:nvPr userDrawn="1"/>
        </p:nvSpPr>
        <p:spPr>
          <a:xfrm>
            <a:off x="280558" y="262082"/>
            <a:ext cx="982186" cy="369085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rPr>
              <a:t>Retrieve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11CF63B-7632-447F-B321-9789C106CA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0557" y="805337"/>
            <a:ext cx="11481952" cy="49699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154983"/>
                </a:solidFill>
                <a:latin typeface="Arial Rounded MT Bold" panose="020F0704030504030204" pitchFamily="34" charset="0"/>
              </a:defRPr>
            </a:lvl1pPr>
          </a:lstStyle>
          <a:p>
            <a:pPr lvl="0"/>
            <a:r>
              <a:rPr lang="en-AU" dirty="0"/>
              <a:t>Click to add text.</a:t>
            </a:r>
            <a:br>
              <a:rPr lang="en-AU" dirty="0"/>
            </a:br>
            <a:endParaRPr lang="en-A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69BF684-094C-4086-BBA0-8EA483477F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0558" y="1476498"/>
            <a:ext cx="11506476" cy="51194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AU" dirty="0"/>
              <a:t>At this point the information should be removed and students, first as a group and then as individuals, should be able to recall it.</a:t>
            </a:r>
            <a:br>
              <a:rPr lang="en-AU" dirty="0"/>
            </a:br>
            <a:br>
              <a:rPr lang="en-AU" dirty="0"/>
            </a:br>
            <a:r>
              <a:rPr lang="en-US" dirty="0"/>
              <a:t>Click to add text. Delete textbox if unneeded. </a:t>
            </a:r>
          </a:p>
        </p:txBody>
      </p:sp>
    </p:spTree>
    <p:extLst>
      <p:ext uri="{BB962C8B-B14F-4D97-AF65-F5344CB8AC3E}">
        <p14:creationId xmlns:p14="http://schemas.microsoft.com/office/powerpoint/2010/main" val="2378385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DR) Rec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35595EE4-C677-3149-AF01-E78433EE681A}"/>
              </a:ext>
            </a:extLst>
          </p:cNvPr>
          <p:cNvSpPr txBox="1"/>
          <p:nvPr userDrawn="1"/>
        </p:nvSpPr>
        <p:spPr>
          <a:xfrm>
            <a:off x="10195560" y="1010412"/>
            <a:ext cx="0" cy="0"/>
          </a:xfrm>
          <a:prstGeom prst="rect">
            <a:avLst/>
          </a:prstGeom>
          <a:solidFill>
            <a:srgbClr val="3B8CC1"/>
          </a:solidFill>
        </p:spPr>
        <p:txBody>
          <a:bodyPr wrap="none" rtlCol="0" anchor="ctr">
            <a:noAutofit/>
          </a:bodyPr>
          <a:lstStyle/>
          <a:p>
            <a:pPr algn="l"/>
            <a:endParaRPr lang="en-US" b="1" dirty="0">
              <a:solidFill>
                <a:schemeClr val="bg1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B367B-52EA-4644-B6D4-E73CA3E3B133}"/>
              </a:ext>
            </a:extLst>
          </p:cNvPr>
          <p:cNvSpPr txBox="1"/>
          <p:nvPr userDrawn="1"/>
        </p:nvSpPr>
        <p:spPr>
          <a:xfrm>
            <a:off x="757646" y="392930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rmAutofit fontScale="25000" lnSpcReduction="20000"/>
          </a:bodyPr>
          <a:lstStyle/>
          <a:p>
            <a:pPr algn="l"/>
            <a:endParaRPr lang="en-US" sz="40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11CE44-95E4-4C6E-8D8B-41CCD6B35C2D}"/>
              </a:ext>
            </a:extLst>
          </p:cNvPr>
          <p:cNvSpPr txBox="1"/>
          <p:nvPr userDrawn="1"/>
        </p:nvSpPr>
        <p:spPr>
          <a:xfrm>
            <a:off x="280557" y="262082"/>
            <a:ext cx="1077187" cy="369085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rPr>
              <a:t>Re(teach)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3A36E411-28DA-4098-8A25-8C3C8AD90B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0557" y="805337"/>
            <a:ext cx="11481952" cy="49699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154983"/>
                </a:solidFill>
                <a:latin typeface="Arial Rounded MT Bold" panose="020F0704030504030204" pitchFamily="34" charset="0"/>
              </a:defRPr>
            </a:lvl1pPr>
          </a:lstStyle>
          <a:p>
            <a:pPr lvl="0"/>
            <a:r>
              <a:rPr lang="en-AU" dirty="0"/>
              <a:t>Click to add text.</a:t>
            </a:r>
            <a:br>
              <a:rPr lang="en-AU" dirty="0"/>
            </a:br>
            <a:endParaRPr lang="en-A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172405F-5716-468A-BB1E-99861FFCB4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0558" y="1476498"/>
            <a:ext cx="11506476" cy="51194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Go over the steps they already know from this unit, or from relevant prior knowledge.  </a:t>
            </a:r>
            <a:br>
              <a:rPr lang="en-US" dirty="0"/>
            </a:br>
            <a:br>
              <a:rPr lang="en-US" dirty="0"/>
            </a:br>
            <a:r>
              <a:rPr lang="en-AU" dirty="0"/>
              <a:t>All of the answers should be displayed clearly for students. </a:t>
            </a:r>
            <a:br>
              <a:rPr lang="en-AU" dirty="0"/>
            </a:br>
            <a:br>
              <a:rPr lang="en-AU" dirty="0"/>
            </a:br>
            <a:r>
              <a:rPr lang="en-AU" dirty="0"/>
              <a:t>Students at this step are at track with me/read with me steps.</a:t>
            </a:r>
            <a:br>
              <a:rPr lang="en-AU" dirty="0"/>
            </a:br>
            <a:br>
              <a:rPr lang="en-US" dirty="0"/>
            </a:br>
            <a:r>
              <a:rPr lang="en-US" dirty="0"/>
              <a:t>Click to add text. Delete textbox if unneeded. </a:t>
            </a:r>
          </a:p>
        </p:txBody>
      </p:sp>
    </p:spTree>
    <p:extLst>
      <p:ext uri="{BB962C8B-B14F-4D97-AF65-F5344CB8AC3E}">
        <p14:creationId xmlns:p14="http://schemas.microsoft.com/office/powerpoint/2010/main" val="1883920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DR) 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253E48-F01A-C040-9F45-1F9C5FDF10AA}"/>
              </a:ext>
            </a:extLst>
          </p:cNvPr>
          <p:cNvSpPr/>
          <p:nvPr userDrawn="1"/>
        </p:nvSpPr>
        <p:spPr>
          <a:xfrm>
            <a:off x="2297625" y="2268252"/>
            <a:ext cx="8660516" cy="2826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200" b="0" i="0" spc="300" baseline="0" dirty="0">
                <a:solidFill>
                  <a:srgbClr val="154983"/>
                </a:solidFill>
                <a:latin typeface="Arial Rounded MT Bold" panose="020F0704030504030204" pitchFamily="34" charset="0"/>
              </a:rPr>
              <a:t>What we are learning today</a:t>
            </a:r>
            <a:endParaRPr lang="en-US" sz="7200" b="0" i="0" dirty="0">
              <a:solidFill>
                <a:srgbClr val="154983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815F0-1745-0C4E-A5DC-70E741C78081}"/>
              </a:ext>
            </a:extLst>
          </p:cNvPr>
          <p:cNvSpPr txBox="1"/>
          <p:nvPr userDrawn="1"/>
        </p:nvSpPr>
        <p:spPr>
          <a:xfrm>
            <a:off x="2447768" y="1699225"/>
            <a:ext cx="2797472" cy="789710"/>
          </a:xfrm>
          <a:prstGeom prst="round2DiagRect">
            <a:avLst/>
          </a:prstGeom>
          <a:solidFill>
            <a:srgbClr val="1891AC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3600" b="0" i="0" dirty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rPr>
              <a:t>New Topic</a:t>
            </a:r>
          </a:p>
        </p:txBody>
      </p:sp>
    </p:spTree>
    <p:extLst>
      <p:ext uri="{BB962C8B-B14F-4D97-AF65-F5344CB8AC3E}">
        <p14:creationId xmlns:p14="http://schemas.microsoft.com/office/powerpoint/2010/main" val="2643913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EI) Content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4E1E29-E5E1-4CA6-AE28-873DC4095433}"/>
              </a:ext>
            </a:extLst>
          </p:cNvPr>
          <p:cNvSpPr txBox="1"/>
          <p:nvPr userDrawn="1"/>
        </p:nvSpPr>
        <p:spPr>
          <a:xfrm>
            <a:off x="280557" y="237294"/>
            <a:ext cx="2206171" cy="369085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dirty="0"/>
              <a:t>Concept Development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92D3A20-F902-4F74-96C6-B8576FA0A5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0557" y="805337"/>
            <a:ext cx="11481952" cy="52469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154983"/>
                </a:solidFill>
                <a:latin typeface="Arial Rounded MT Bold" panose="020F0704030504030204" pitchFamily="34" charset="0"/>
              </a:defRPr>
            </a:lvl1pPr>
          </a:lstStyle>
          <a:p>
            <a:pPr lvl="0"/>
            <a:r>
              <a:rPr lang="en-AU" dirty="0"/>
              <a:t>Click to add text.</a:t>
            </a:r>
            <a:br>
              <a:rPr lang="en-AU" dirty="0"/>
            </a:br>
            <a:endParaRPr lang="en-A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40C2C1-B592-48FA-B23E-0B742216BD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0558" y="1528994"/>
            <a:ext cx="11506476" cy="50669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AU" dirty="0"/>
              <a:t>The teacher explains the concepts and steps that lead to the learning objective.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Click to add text. Delete textbox if unneeded.</a:t>
            </a:r>
          </a:p>
        </p:txBody>
      </p:sp>
    </p:spTree>
    <p:extLst>
      <p:ext uri="{BB962C8B-B14F-4D97-AF65-F5344CB8AC3E}">
        <p14:creationId xmlns:p14="http://schemas.microsoft.com/office/powerpoint/2010/main" val="52767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3F4B0-6421-8C49-BEDE-F09CFD76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9E44F-13B5-4B4E-A5F2-950B49F03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3508D-9FBB-1E40-AD8B-9612BC2C2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74DCA-56C3-5149-A29F-285680DA4760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C8889-5AC4-CB4F-B670-BA76FB19D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DCAC2-55F3-C94F-B614-C039F7B90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FDBB8-DB97-EF41-B41C-189B99E3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hyperlink" Target="https://creativecommons.org/licenses/by-sa/3.0/" TargetMode="External"/><Relationship Id="rId5" Type="http://schemas.openxmlformats.org/officeDocument/2006/relationships/customXml" Target="../ink/ink2.xml"/><Relationship Id="rId10" Type="http://schemas.openxmlformats.org/officeDocument/2006/relationships/hyperlink" Target="http://en.wikibooks.org/wiki/High_School_Chemistry/The_Scientific_Method" TargetMode="External"/><Relationship Id="rId4" Type="http://schemas.openxmlformats.org/officeDocument/2006/relationships/image" Target="NUL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ourses.lumenlearning.com/suny-chemistry1labs/chapter/lab-2-pre-lab-assignment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5045311"/>
            <a:ext cx="9966960" cy="1560320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002060"/>
                </a:solidFill>
                <a:latin typeface="Arial Rounded MT Bold" panose="020F0704030504030204" pitchFamily="34" charset="77"/>
              </a:rPr>
              <a:t>Specific Heat Capacity Experiment</a:t>
            </a:r>
            <a:br>
              <a:rPr lang="en-US" sz="4900" b="1" dirty="0">
                <a:solidFill>
                  <a:srgbClr val="002060"/>
                </a:solidFill>
                <a:latin typeface="Arial Rounded MT Bold" panose="020F0704030504030204" pitchFamily="34" charset="77"/>
              </a:rPr>
            </a:br>
            <a:r>
              <a:rPr lang="en-US" sz="4900" dirty="0">
                <a:solidFill>
                  <a:srgbClr val="00C0B4"/>
                </a:solidFill>
                <a:latin typeface="Arial Rounded MT Bold" panose="020F0704030504030204" pitchFamily="34" charset="77"/>
              </a:rPr>
              <a:t>Year 11 ATAR Physis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11747" y="6299068"/>
            <a:ext cx="2180253" cy="440822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Arial Rounded MT Bold" panose="020F0704030504030204" pitchFamily="34" charset="77"/>
              </a:rPr>
              <a:t>Mrs</a:t>
            </a:r>
            <a:r>
              <a:rPr lang="en-US" sz="2000" dirty="0">
                <a:latin typeface="Arial Rounded MT Bold" panose="020F0704030504030204" pitchFamily="34" charset="77"/>
              </a:rPr>
              <a:t> Martin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94B6F93-12D7-B34C-822F-4C0B22FE395E}"/>
                  </a:ext>
                </a:extLst>
              </p14:cNvPr>
              <p14:cNvContentPartPr/>
              <p14:nvPr/>
            </p14:nvContentPartPr>
            <p14:xfrm>
              <a:off x="10287880" y="3190440"/>
              <a:ext cx="21240" cy="1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94B6F93-12D7-B34C-822F-4C0B22FE39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9880" y="3082800"/>
                <a:ext cx="568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A7679E-DFE2-354C-B529-37AEEE617D68}"/>
                  </a:ext>
                </a:extLst>
              </p14:cNvPr>
              <p14:cNvContentPartPr/>
              <p14:nvPr/>
            </p14:nvContentPartPr>
            <p14:xfrm>
              <a:off x="7844920" y="2370360"/>
              <a:ext cx="6120" cy="18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A7679E-DFE2-354C-B529-37AEEE617D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27280" y="2262720"/>
                <a:ext cx="417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686204-4622-D04C-8065-A5D212C57165}"/>
                  </a:ext>
                </a:extLst>
              </p14:cNvPr>
              <p14:cNvContentPartPr/>
              <p14:nvPr/>
            </p14:nvContentPartPr>
            <p14:xfrm>
              <a:off x="8556873" y="368978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686204-4622-D04C-8065-A5D212C571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39233" y="3581782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4794CCE-5A08-664D-95B2-585CC29B3676}"/>
                  </a:ext>
                </a:extLst>
              </p14:cNvPr>
              <p14:cNvContentPartPr/>
              <p14:nvPr/>
            </p14:nvContentPartPr>
            <p14:xfrm>
              <a:off x="667113" y="756862"/>
              <a:ext cx="3960" cy="3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4794CCE-5A08-664D-95B2-585CC29B36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9113" y="648862"/>
                <a:ext cx="39600" cy="2196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E045938-6420-7748-B71E-4CB566FAC868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20" y="0"/>
            <a:ext cx="784874" cy="854703"/>
          </a:xfrm>
          <a:prstGeom prst="rect">
            <a:avLst/>
          </a:prstGeom>
          <a:noFill/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1BC65AD-FED8-5D40-B287-B9BE9E11FA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364436" y="252369"/>
            <a:ext cx="5463128" cy="46353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355780-C482-C44A-BC00-BF86267A4B03}"/>
              </a:ext>
            </a:extLst>
          </p:cNvPr>
          <p:cNvSpPr txBox="1"/>
          <p:nvPr/>
        </p:nvSpPr>
        <p:spPr>
          <a:xfrm>
            <a:off x="4748213" y="-946469"/>
            <a:ext cx="3352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10" tooltip="http://en.wikibooks.org/wiki/High_School_Chemistry/The_Scientific_Method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11" tooltip="https://creativecommons.org/licenses/by-sa/3.0/"/>
              </a:rPr>
              <a:t>CC BY-SA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918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4F4BA-02BE-3643-80C1-07F8BAF498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0558" y="1476498"/>
            <a:ext cx="11481951" cy="5119420"/>
          </a:xfrm>
        </p:spPr>
        <p:txBody>
          <a:bodyPr/>
          <a:lstStyle/>
          <a:p>
            <a:r>
              <a:rPr lang="en-US" dirty="0"/>
              <a:t>What is the absolute temperature scale?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of the following converts to degrees?</a:t>
            </a:r>
          </a:p>
          <a:p>
            <a:endParaRPr lang="en-US" dirty="0"/>
          </a:p>
          <a:p>
            <a:r>
              <a:rPr lang="en-US" dirty="0"/>
              <a:t>_________ + 273.15 = _________</a:t>
            </a:r>
          </a:p>
          <a:p>
            <a:endParaRPr lang="en-US" dirty="0"/>
          </a:p>
          <a:p>
            <a:r>
              <a:rPr lang="en-US" dirty="0"/>
              <a:t>_________ - 273.15 = _________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4621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6F53F-6E66-4178-8160-8E5F7C272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AU" sz="3200" dirty="0"/>
              <a:t>Definitions from previous lesson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C9E68-70DD-41C3-9724-3B3A0F5C2C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033" y="1973712"/>
            <a:ext cx="11506476" cy="5119420"/>
          </a:xfrm>
        </p:spPr>
        <p:txBody>
          <a:bodyPr/>
          <a:lstStyle/>
          <a:p>
            <a:r>
              <a:rPr lang="en-AU" dirty="0"/>
              <a:t>Thermal energy – the total kinetic and potential energy in a substance</a:t>
            </a:r>
          </a:p>
          <a:p>
            <a:endParaRPr lang="en-AU" dirty="0"/>
          </a:p>
          <a:p>
            <a:r>
              <a:rPr lang="en-AU" dirty="0"/>
              <a:t>Temperature – measure of the average kinetic energy of the particles in a substance</a:t>
            </a:r>
          </a:p>
          <a:p>
            <a:endParaRPr lang="en-AU" dirty="0"/>
          </a:p>
          <a:p>
            <a:r>
              <a:rPr lang="en-AU" dirty="0"/>
              <a:t>Heat – transfer of thermal energy from one substance to another due to a difference in temperatures</a:t>
            </a:r>
          </a:p>
          <a:p>
            <a:endParaRPr lang="en-AU" dirty="0"/>
          </a:p>
          <a:p>
            <a:r>
              <a:rPr lang="en-AU" dirty="0"/>
              <a:t>Thermal equilibrium – when two objects have the same temperature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516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6F53F-6E66-4178-8160-8E5F7C272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AU" sz="3200" dirty="0"/>
              <a:t>Specific heat capacity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F9EC9E68-70DD-41C3-9724-3B3A0F5C2C5D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256033" y="1114425"/>
                <a:ext cx="11506476" cy="5978707"/>
              </a:xfrm>
            </p:spPr>
            <p:txBody>
              <a:bodyPr/>
              <a:lstStyle/>
              <a:p>
                <a:endParaRPr lang="en-AU" sz="2800" dirty="0"/>
              </a:p>
              <a:p>
                <a:r>
                  <a:rPr lang="en-AU" sz="2800" dirty="0"/>
                  <a:t>Relationship: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𝑚𝑐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sz="2800" dirty="0"/>
              </a:p>
              <a:p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sz="2800" dirty="0"/>
                  <a:t> – heat energy transferred in joules (J)</a:t>
                </a:r>
              </a:p>
              <a:p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2800" dirty="0"/>
                  <a:t> – mass in kilograms (kg)</a:t>
                </a:r>
              </a:p>
              <a:p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AU" sz="2800" dirty="0"/>
                  <a:t> – change in temperature (can be in degrees or Kelvin)</a:t>
                </a:r>
              </a:p>
              <a:p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2800" dirty="0"/>
                  <a:t> – specific heat capacity of the material (J/</a:t>
                </a:r>
                <a:r>
                  <a:rPr lang="en-AU" sz="2800" dirty="0" err="1"/>
                  <a:t>kgK</a:t>
                </a:r>
                <a:r>
                  <a:rPr lang="en-AU" sz="2800" dirty="0"/>
                  <a:t>)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F9EC9E68-70DD-41C3-9724-3B3A0F5C2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256033" y="1114425"/>
                <a:ext cx="11506476" cy="5978707"/>
              </a:xfrm>
              <a:blipFill>
                <a:blip r:embed="rId3"/>
                <a:stretch>
                  <a:fillRect l="-1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592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A6F53F-6E66-4178-8160-8E5F7C272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AU" sz="3200" dirty="0"/>
              <a:t>Specific heat capacity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C9E68-70DD-41C3-9724-3B3A0F5C2C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033" y="1114425"/>
            <a:ext cx="11506476" cy="5978707"/>
          </a:xfrm>
        </p:spPr>
        <p:txBody>
          <a:bodyPr/>
          <a:lstStyle/>
          <a:p>
            <a:endParaRPr lang="en-AU" sz="2800" dirty="0">
              <a:ea typeface="Cambria Math" panose="02040503050406030204" pitchFamily="18" charset="0"/>
            </a:endParaRPr>
          </a:p>
          <a:p>
            <a:r>
              <a:rPr lang="en-AU" sz="2800" dirty="0">
                <a:ea typeface="Cambria Math" panose="02040503050406030204" pitchFamily="18" charset="0"/>
              </a:rPr>
              <a:t>A pot is filled with 9kg of water at 10K. Calculate how much heat energy would be needed to raise the temperature to 60K.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4259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7A12DD-5827-464C-8E6F-1D81221E4EB2}"/>
              </a:ext>
            </a:extLst>
          </p:cNvPr>
          <p:cNvSpPr txBox="1"/>
          <p:nvPr/>
        </p:nvSpPr>
        <p:spPr>
          <a:xfrm>
            <a:off x="6974541" y="4793517"/>
            <a:ext cx="3872753" cy="4840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3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2BC2D-DCF3-4859-89E3-44B6F7D3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AU" sz="3400" dirty="0"/>
              <a:t>Outline of the experiment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F64F-12CB-4F59-8C70-91F1C9421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251" y="1416634"/>
            <a:ext cx="11457258" cy="5393007"/>
          </a:xfrm>
        </p:spPr>
        <p:txBody>
          <a:bodyPr>
            <a:normAutofit/>
          </a:bodyPr>
          <a:lstStyle/>
          <a:p>
            <a:r>
              <a:rPr lang="en-AU" sz="2400" dirty="0"/>
              <a:t>Two beakers of equal mass will be placed on the hot plate.</a:t>
            </a:r>
          </a:p>
          <a:p>
            <a:endParaRPr lang="en-AU" sz="2400" dirty="0"/>
          </a:p>
          <a:p>
            <a:r>
              <a:rPr lang="en-AU" sz="2400" dirty="0"/>
              <a:t>Beaker one will contain salt water, beaker 2 will contain water.</a:t>
            </a:r>
          </a:p>
          <a:p>
            <a:endParaRPr lang="en-AU" sz="2400" dirty="0"/>
          </a:p>
          <a:p>
            <a:r>
              <a:rPr lang="en-AU" sz="2400" dirty="0"/>
              <a:t>The temperatures of the two different substances are taken at the beginning of the experiment and measured every 2 minutes after that till one of the substances boils.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9053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2BC2D-DCF3-4859-89E3-44B6F7D3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557" y="805337"/>
            <a:ext cx="3262743" cy="2623663"/>
          </a:xfrm>
        </p:spPr>
        <p:txBody>
          <a:bodyPr>
            <a:noAutofit/>
          </a:bodyPr>
          <a:lstStyle/>
          <a:p>
            <a:r>
              <a:rPr lang="en-AU" sz="3400" dirty="0"/>
              <a:t>Aspects of scientific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F64F-12CB-4F59-8C70-91F1C9421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251" y="1416634"/>
            <a:ext cx="11457258" cy="5393007"/>
          </a:xfrm>
        </p:spPr>
        <p:txBody>
          <a:bodyPr>
            <a:norm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483FE-273A-5D44-8090-00A8AB389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577290"/>
              </p:ext>
            </p:extLst>
          </p:nvPr>
        </p:nvGraphicFramePr>
        <p:xfrm>
          <a:off x="3357563" y="157131"/>
          <a:ext cx="6886574" cy="63429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886574">
                  <a:extLst>
                    <a:ext uri="{9D8B030D-6E8A-4147-A177-3AD203B41FA5}">
                      <a16:colId xmlns:a16="http://schemas.microsoft.com/office/drawing/2014/main" val="497118664"/>
                    </a:ext>
                  </a:extLst>
                </a:gridCol>
              </a:tblGrid>
              <a:tr h="138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Planning and Conducting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8648"/>
                  </a:ext>
                </a:extLst>
              </a:tr>
              <a:tr h="800776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Develops a clear hypothesis which relates the independent and dependent variables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Lists all materials required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Identifies controlled variables 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2003017263"/>
                  </a:ext>
                </a:extLst>
              </a:tr>
              <a:tr h="898381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Clearly lists the procedure/method to be used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clearly describes equipment and how it is set up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describes how trials are to be conducted in a clear logical manner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description of method allows for investigation to be repeated by others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states which measurements are to be collected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plans for repeat trials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3487173090"/>
                  </a:ext>
                </a:extLst>
              </a:tr>
              <a:tr h="800776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Shows a labelled diagram 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Collects full and accurate results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Displays data in suitable table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1227210288"/>
                  </a:ext>
                </a:extLst>
              </a:tr>
              <a:tr h="138700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Processing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476359"/>
                  </a:ext>
                </a:extLst>
              </a:tr>
              <a:tr h="464927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>
                          <a:effectLst/>
                        </a:rPr>
                        <a:t>Calculates the change in temperature for both substances.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>
                          <a:effectLst/>
                        </a:rPr>
                        <a:t>Calculates the energy required for the liquids to heat up.</a:t>
                      </a:r>
                      <a:endParaRPr lang="en-A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58085951"/>
                  </a:ext>
                </a:extLst>
              </a:tr>
              <a:tr h="690819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Displays data in suitable graph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title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labelled axes with units</a:t>
                      </a:r>
                    </a:p>
                    <a:p>
                      <a:pPr marL="342900" marR="21590" lvl="0" indent="-342900">
                        <a:lnSpc>
                          <a:spcPct val="100000"/>
                        </a:lnSpc>
                        <a:buFont typeface="Symbol" pitchFamily="2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data correctly plotted</a:t>
                      </a:r>
                    </a:p>
                    <a:p>
                      <a:pPr marL="228600"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 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114978387"/>
                  </a:ext>
                </a:extLst>
              </a:tr>
              <a:tr h="937879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Calculates the energy absorbed by each of the substances.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Calculates percentage uncertainty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States a conclusion and relates it to the hypothesis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2183778623"/>
                  </a:ext>
                </a:extLst>
              </a:tr>
              <a:tr h="138700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Evaluation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299422"/>
                  </a:ext>
                </a:extLst>
              </a:tr>
              <a:tr h="464927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Discusses sources of error or uncertainty in the data </a:t>
                      </a:r>
                    </a:p>
                    <a:p>
                      <a:pPr marR="21590">
                        <a:lnSpc>
                          <a:spcPct val="100000"/>
                        </a:lnSpc>
                        <a:spcAft>
                          <a:spcPts val="1000"/>
                        </a:spcAft>
                        <a:tabLst>
                          <a:tab pos="457200" algn="l"/>
                        </a:tabLst>
                      </a:pPr>
                      <a:r>
                        <a:rPr lang="en-AU" sz="1200" dirty="0">
                          <a:effectLst/>
                        </a:rPr>
                        <a:t>Makes reasonable suggestions for improvements to procedure </a:t>
                      </a:r>
                      <a:endParaRPr lang="en-A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47" marR="36847" marT="0" marB="0"/>
                </a:tc>
                <a:extLst>
                  <a:ext uri="{0D108BD9-81ED-4DB2-BD59-A6C34878D82A}">
                    <a16:rowId xmlns:a16="http://schemas.microsoft.com/office/drawing/2014/main" val="334328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750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F64F-12CB-4F59-8C70-91F1C9421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251" y="1416634"/>
            <a:ext cx="11457258" cy="5393007"/>
          </a:xfrm>
        </p:spPr>
        <p:txBody>
          <a:bodyPr>
            <a:norm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pic>
        <p:nvPicPr>
          <p:cNvPr id="14" name="Picture 13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EB0B37CD-E715-9343-B6C2-ADE0376EBD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316" t="4721" r="3035" b="4406"/>
          <a:stretch/>
        </p:blipFill>
        <p:spPr>
          <a:xfrm>
            <a:off x="6057901" y="-737773"/>
            <a:ext cx="6115049" cy="378503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F973294-533C-B04F-A050-7C778A9B9BA5}"/>
              </a:ext>
            </a:extLst>
          </p:cNvPr>
          <p:cNvGrpSpPr/>
          <p:nvPr/>
        </p:nvGrpSpPr>
        <p:grpSpPr>
          <a:xfrm>
            <a:off x="-19049" y="-703701"/>
            <a:ext cx="12211049" cy="7561701"/>
            <a:chOff x="-19049" y="-752060"/>
            <a:chExt cx="12211049" cy="7561701"/>
          </a:xfrm>
        </p:grpSpPr>
        <p:pic>
          <p:nvPicPr>
            <p:cNvPr id="11" name="Picture 10" descr="Background pattern&#10;&#10;Description automatically generated with low confidence">
              <a:extLst>
                <a:ext uri="{FF2B5EF4-FFF2-40B4-BE49-F238E27FC236}">
                  <a16:creationId xmlns:a16="http://schemas.microsoft.com/office/drawing/2014/main" id="{4073B8D1-0D51-124D-8B96-129526BCD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2316" t="4721" r="3035" b="4406"/>
            <a:stretch/>
          </p:blipFill>
          <p:spPr>
            <a:xfrm>
              <a:off x="6076951" y="3024602"/>
              <a:ext cx="6115049" cy="3785039"/>
            </a:xfrm>
            <a:prstGeom prst="rect">
              <a:avLst/>
            </a:prstGeom>
          </p:spPr>
        </p:pic>
        <p:pic>
          <p:nvPicPr>
            <p:cNvPr id="12" name="Picture 11" descr="Background pattern&#10;&#10;Description automatically generated with low confidence">
              <a:extLst>
                <a:ext uri="{FF2B5EF4-FFF2-40B4-BE49-F238E27FC236}">
                  <a16:creationId xmlns:a16="http://schemas.microsoft.com/office/drawing/2014/main" id="{DF45FED2-C71A-F448-904E-6F210A616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2316" t="4721" r="3035" b="4406"/>
            <a:stretch/>
          </p:blipFill>
          <p:spPr>
            <a:xfrm>
              <a:off x="-19049" y="3024602"/>
              <a:ext cx="6115049" cy="3785039"/>
            </a:xfrm>
            <a:prstGeom prst="rect">
              <a:avLst/>
            </a:prstGeom>
          </p:spPr>
        </p:pic>
        <p:pic>
          <p:nvPicPr>
            <p:cNvPr id="13" name="Picture 12" descr="Background pattern&#10;&#10;Description automatically generated with low confidence">
              <a:extLst>
                <a:ext uri="{FF2B5EF4-FFF2-40B4-BE49-F238E27FC236}">
                  <a16:creationId xmlns:a16="http://schemas.microsoft.com/office/drawing/2014/main" id="{C9785AC1-A746-C84C-A003-A934F39B62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2316" t="4721" r="3035" b="4406"/>
            <a:stretch/>
          </p:blipFill>
          <p:spPr>
            <a:xfrm>
              <a:off x="-19049" y="-737773"/>
              <a:ext cx="6115049" cy="3785039"/>
            </a:xfrm>
            <a:prstGeom prst="rect">
              <a:avLst/>
            </a:prstGeom>
          </p:spPr>
        </p:pic>
        <p:pic>
          <p:nvPicPr>
            <p:cNvPr id="15" name="Picture 14" descr="Background pattern&#10;&#10;Description automatically generated with low confidence">
              <a:extLst>
                <a:ext uri="{FF2B5EF4-FFF2-40B4-BE49-F238E27FC236}">
                  <a16:creationId xmlns:a16="http://schemas.microsoft.com/office/drawing/2014/main" id="{68E3EACD-CE42-0141-9832-096871C4E0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2316" t="4721" r="3035" b="4406"/>
            <a:stretch/>
          </p:blipFill>
          <p:spPr>
            <a:xfrm>
              <a:off x="6072189" y="-752060"/>
              <a:ext cx="6115049" cy="37850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402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2BC2D-DCF3-4859-89E3-44B6F7D3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AU" sz="3400" dirty="0"/>
              <a:t>Uncertainty calculations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F64F-12CB-4F59-8C70-91F1C9421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251" y="1416634"/>
            <a:ext cx="11457258" cy="5393007"/>
          </a:xfrm>
        </p:spPr>
        <p:txBody>
          <a:bodyPr>
            <a:norm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8BDE5E5-58A8-9B40-9F3A-50C7A37C1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614257"/>
              </p:ext>
            </p:extLst>
          </p:nvPr>
        </p:nvGraphicFramePr>
        <p:xfrm>
          <a:off x="572367" y="1845259"/>
          <a:ext cx="7900122" cy="1740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3374">
                  <a:extLst>
                    <a:ext uri="{9D8B030D-6E8A-4147-A177-3AD203B41FA5}">
                      <a16:colId xmlns:a16="http://schemas.microsoft.com/office/drawing/2014/main" val="1554200259"/>
                    </a:ext>
                  </a:extLst>
                </a:gridCol>
                <a:gridCol w="2633374">
                  <a:extLst>
                    <a:ext uri="{9D8B030D-6E8A-4147-A177-3AD203B41FA5}">
                      <a16:colId xmlns:a16="http://schemas.microsoft.com/office/drawing/2014/main" val="2473241321"/>
                    </a:ext>
                  </a:extLst>
                </a:gridCol>
                <a:gridCol w="2633374">
                  <a:extLst>
                    <a:ext uri="{9D8B030D-6E8A-4147-A177-3AD203B41FA5}">
                      <a16:colId xmlns:a16="http://schemas.microsoft.com/office/drawing/2014/main" val="524585820"/>
                    </a:ext>
                  </a:extLst>
                </a:gridCol>
              </a:tblGrid>
              <a:tr h="5803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Absolute uncertainty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Relative uncertainty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745174"/>
                  </a:ext>
                </a:extLst>
              </a:tr>
              <a:tr h="580301">
                <a:tc>
                  <a:txBody>
                    <a:bodyPr/>
                    <a:lstStyle/>
                    <a:p>
                      <a:r>
                        <a:rPr lang="en-US" dirty="0"/>
                        <a:t>Mass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476158"/>
                  </a:ext>
                </a:extLst>
              </a:tr>
              <a:tr h="580301">
                <a:tc>
                  <a:txBody>
                    <a:bodyPr/>
                    <a:lstStyle/>
                    <a:p>
                      <a:r>
                        <a:rPr lang="en-US" dirty="0"/>
                        <a:t>Temperature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610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45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793</Words>
  <Application>Microsoft Macintosh PowerPoint</Application>
  <PresentationFormat>Widescreen</PresentationFormat>
  <Paragraphs>97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Rounded MT Bold</vt:lpstr>
      <vt:lpstr>Calibri</vt:lpstr>
      <vt:lpstr>Calibri Light</vt:lpstr>
      <vt:lpstr>Cambria Math</vt:lpstr>
      <vt:lpstr>Futura Medium</vt:lpstr>
      <vt:lpstr>Symbol</vt:lpstr>
      <vt:lpstr>Verdana</vt:lpstr>
      <vt:lpstr>Office Theme</vt:lpstr>
      <vt:lpstr>Specific Heat Capacity Experiment Year 11 ATAR Physis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Specific Heat Capacity Experiment Year 11 ATAR Physis</dc:title>
  <dc:creator>Maria Harris</dc:creator>
  <cp:lastModifiedBy>Maria Harris</cp:lastModifiedBy>
  <cp:revision>3</cp:revision>
  <dcterms:created xsi:type="dcterms:W3CDTF">2021-02-11T12:06:37Z</dcterms:created>
  <dcterms:modified xsi:type="dcterms:W3CDTF">2021-02-11T12:36:42Z</dcterms:modified>
</cp:coreProperties>
</file>
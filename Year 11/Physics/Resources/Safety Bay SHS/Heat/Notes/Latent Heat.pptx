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21" r:id="rId2"/>
    <p:sldId id="301" r:id="rId3"/>
    <p:sldId id="322" r:id="rId4"/>
    <p:sldId id="32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687"/>
  </p:normalViewPr>
  <p:slideViewPr>
    <p:cSldViewPr snapToGrid="0" snapToObjects="1">
      <p:cViewPr varScale="1">
        <p:scale>
          <a:sx n="90" d="100"/>
          <a:sy n="90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21:36:59.30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58 41 16383,'-30'-22'0,"11"4"0,10 18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21:37:10.13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 16383,'9'27'0,"-2"-5"0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21:37:39.41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16383,'0'0'0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0T21:39:16.59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0 16383,'6'6'0,"-2"-2"0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EC324-D022-134B-95F3-9A9D6AE6E7B9}" type="datetimeFigureOut">
              <a:rPr lang="en-US" smtClean="0"/>
              <a:t>2/21/21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C7A98-5EE4-D74E-A868-C8585078D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2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D6F03-C114-7440-A578-13B07E7D8E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18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Teacher Cue – refer to the vocabulary box as you read through and</a:t>
            </a:r>
            <a:r>
              <a:rPr lang="en-AU" baseline="0" dirty="0"/>
              <a:t> “unpack” the definition provided. Use hand gestures to emphasise the ”2 or more”, “mixed” and “separated” parts of the definition. </a:t>
            </a:r>
          </a:p>
          <a:p>
            <a:r>
              <a:rPr lang="en-AU" baseline="0" dirty="0"/>
              <a:t>Have students complete CFU 1 as a pair-share, then record these definitions &amp; examples as notes (with diagrams) if desired. </a:t>
            </a:r>
            <a:endParaRPr lang="en-AU" dirty="0"/>
          </a:p>
          <a:p>
            <a:r>
              <a:rPr lang="en-AU" dirty="0"/>
              <a:t>CFU 2 –</a:t>
            </a:r>
            <a:r>
              <a:rPr lang="en-AU" baseline="0" dirty="0"/>
              <a:t> pair-share, then whiteboards for answers – call on non-volunteers.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691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Teacher Cue – refer to the vocabulary box as you read through and</a:t>
            </a:r>
            <a:r>
              <a:rPr lang="en-AU" baseline="0" dirty="0"/>
              <a:t> “unpack” the definition provided. Use hand gestures to emphasise the ”2 or more”, “mixed” and “separated” parts of the definition. </a:t>
            </a:r>
          </a:p>
          <a:p>
            <a:r>
              <a:rPr lang="en-AU" baseline="0" dirty="0"/>
              <a:t>Have students complete CFU 1 as a pair-share, then record these definitions &amp; examples as notes (with diagrams) if desired. </a:t>
            </a:r>
            <a:endParaRPr lang="en-AU" dirty="0"/>
          </a:p>
          <a:p>
            <a:r>
              <a:rPr lang="en-AU" dirty="0"/>
              <a:t>CFU 2 –</a:t>
            </a:r>
            <a:r>
              <a:rPr lang="en-AU" baseline="0" dirty="0"/>
              <a:t> pair-share, then whiteboards for answers – call on non-volunteers.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9523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Teacher Cue – refer to the vocabulary box as you read through and</a:t>
            </a:r>
            <a:r>
              <a:rPr lang="en-AU" baseline="0" dirty="0"/>
              <a:t> “unpack” the definition provided. Use hand gestures to emphasise the ”2 or more”, “mixed” and “separated” parts of the definition. </a:t>
            </a:r>
          </a:p>
          <a:p>
            <a:r>
              <a:rPr lang="en-AU" baseline="0" dirty="0"/>
              <a:t>Have students complete CFU 1 as a pair-share, then record these definitions &amp; examples as notes (with diagrams) if desired. </a:t>
            </a:r>
            <a:endParaRPr lang="en-AU" dirty="0"/>
          </a:p>
          <a:p>
            <a:r>
              <a:rPr lang="en-AU" dirty="0"/>
              <a:t>CFU 2 –</a:t>
            </a:r>
            <a:r>
              <a:rPr lang="en-AU" baseline="0" dirty="0"/>
              <a:t> pair-share, then whiteboards for answers – call on non-volunteers.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10326-E2C5-4426-B985-B08CBFB52F5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988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2847-B439-6E41-A952-EB6DE6841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F8572-5E70-1547-B3A3-7E75DEB46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36FB3-50C3-C540-A7E5-9260ACA3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04C87-5CE9-4F4D-94C9-2C7E1FC00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03251-43FB-9144-80AE-932D6F90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7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7969-401D-184A-AEDF-9129D984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72DE0-ADF0-484F-B701-A09471D7E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1769C-6435-194D-BE4E-C9751ED0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3623-9DE0-9346-9E2C-8EBD53E4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8E69F-969C-FE47-8718-474DC54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0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6A23-1465-9147-BD1E-C79E896B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6B298-BEFF-5A4C-9C2A-F0F58BDCC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29D58-7731-0A40-8D6F-05FAEDB9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01C26-E01F-A443-9205-DE9B39EB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09A02-FB97-E343-8C0A-61B8B9F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4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BE25-3002-EB47-9761-3B9AFCED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05CF7-C900-BC4A-8F98-DCDFB8487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9AA6C-3F2B-264F-94F6-65A121733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1EE3B-6EAF-B241-9581-E55AADE8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463D1-FA84-7D41-A0D1-0B665813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74634-FD78-2E4C-8C1A-B2D117F2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18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50C2-A8C2-8742-9E85-6204FCF3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7E1D4-38E8-2B44-9D15-CD0B1BA09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2474B-4006-D841-91CD-D350402D8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84EA4-D4D7-564E-8EC2-ABF0AA1BD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9D682-BC26-EA4C-A12C-34933D8AA4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3D6F86-2184-2E46-BC17-069080B6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5BE93-F64F-FA4A-9D7B-5B032877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AC485F-557A-7E48-ADCE-BE564131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4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E91C-2B99-3A45-B8BA-35459EC4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2434C-D35D-D042-BEA5-CCAEA4E9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A8E3E-4BF4-C444-BFB0-643A80E7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28075-67BD-B845-8546-6AC4BA4D0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0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24FD4-D595-1444-B92A-7292434E7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F1AA2-E18B-984E-9D66-1A0769759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FB6FB-DD74-5949-B73A-6B5669C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77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9EDA-0A89-024C-9077-4801CD7E1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4A2A7-CDD0-954F-9F23-8D1ED188F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3AFA-B6C7-6044-9400-33CEE69C3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819F-0D33-C54C-879F-5AD31C57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336F2-A663-B74F-9A64-B625FC0C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FBCD5-7576-274E-AAF1-6AC4AF2C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3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A83B-0709-244B-8369-B707B669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2E4F2-0601-8840-9CFE-54AE16F02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2C764-B126-BC42-AC44-AA365F0AA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434DE-9D2F-454D-B92E-CE4A20124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6604E-FC31-2A46-848F-49440847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72CBC-24E6-4F40-BF29-32144B51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2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DFB4-4B55-D440-8F53-2030FE0A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BD2FB-4E18-7C4D-A5F6-AB43AF05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B1B32-2AC0-E04A-B392-C0BB66A0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29989-0BEB-8847-9C3E-F99E9CC0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F90E4-9195-1044-A9A2-E48538D9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9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FC8E6-EE60-BF4E-A7B4-09D30C09B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31B7A-A91C-C040-AE0D-E2D287E5F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06076-6CC0-9E4A-8FA7-FB405D9E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D6DBE-4662-FC45-8852-B47BE9A60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FF990-7CEF-1B4F-8BDC-E8AE9C7A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48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EI) Content Develop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4E1E29-E5E1-4CA6-AE28-873DC4095433}"/>
              </a:ext>
            </a:extLst>
          </p:cNvPr>
          <p:cNvSpPr txBox="1"/>
          <p:nvPr userDrawn="1"/>
        </p:nvSpPr>
        <p:spPr>
          <a:xfrm>
            <a:off x="280557" y="237294"/>
            <a:ext cx="2206171" cy="369085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dirty="0"/>
              <a:t>Concept Development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92D3A20-F902-4F74-96C6-B8576FA0A5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0557" y="805337"/>
            <a:ext cx="11481952" cy="52469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rgbClr val="154983"/>
                </a:solidFill>
                <a:latin typeface="Arial Rounded MT Bold" panose="020F0704030504030204" pitchFamily="34" charset="0"/>
              </a:defRPr>
            </a:lvl1pPr>
          </a:lstStyle>
          <a:p>
            <a:pPr lvl="0"/>
            <a:r>
              <a:rPr lang="en-AU" dirty="0"/>
              <a:t>Click to add text.</a:t>
            </a:r>
            <a:br>
              <a:rPr lang="en-AU" dirty="0"/>
            </a:br>
            <a:endParaRPr lang="en-A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40C2C1-B592-48FA-B23E-0B742216BD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0558" y="1528994"/>
            <a:ext cx="11506476" cy="50669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AU" dirty="0"/>
              <a:t>The teacher explains the concepts and steps that lead to the learning objective.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Click to add text. Delete textbox if unneeded.</a:t>
            </a:r>
          </a:p>
        </p:txBody>
      </p:sp>
    </p:spTree>
    <p:extLst>
      <p:ext uri="{BB962C8B-B14F-4D97-AF65-F5344CB8AC3E}">
        <p14:creationId xmlns:p14="http://schemas.microsoft.com/office/powerpoint/2010/main" val="217065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BCF5F-5455-F745-B888-C649EE315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7485-94C2-184F-9C3A-89ED6323F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C929-CF5E-5748-9332-379A965A1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5057B-8E84-D144-9EBD-95B5AF45F951}" type="datetimeFigureOut">
              <a:rPr lang="en-US" smtClean="0"/>
              <a:t>2/21/21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877B4-6E71-5043-A3AC-1468297A7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B4F9F-B36F-7B4F-BA01-D1CBE07A8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33816-3FA6-0A4B-9C1D-756BC324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7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NULL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customXml" Target="../ink/ink4.xml"/><Relationship Id="rId9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creativecommons.org/licenses/by-nc-sa/3.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www.alevelphysicsnotes.com/thermal_physics/latent_heat.html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chemistry.stackexchange.com/questions/44011/how-does-ice-mel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500" y="5045311"/>
            <a:ext cx="9966960" cy="1560320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rgbClr val="002060"/>
                </a:solidFill>
                <a:latin typeface="Arial Rounded MT Bold" panose="020F0704030504030204" pitchFamily="34" charset="77"/>
              </a:rPr>
              <a:t>Latent Heat</a:t>
            </a:r>
            <a:br>
              <a:rPr lang="en-US" sz="4900" b="1" dirty="0">
                <a:solidFill>
                  <a:srgbClr val="002060"/>
                </a:solidFill>
                <a:latin typeface="Arial Rounded MT Bold" panose="020F0704030504030204" pitchFamily="34" charset="77"/>
              </a:rPr>
            </a:br>
            <a:r>
              <a:rPr lang="en-US" sz="4900" dirty="0">
                <a:solidFill>
                  <a:srgbClr val="00C0B4"/>
                </a:solidFill>
                <a:latin typeface="Arial Rounded MT Bold" panose="020F0704030504030204" pitchFamily="34" charset="77"/>
              </a:rPr>
              <a:t>Year 11 ATAR Physis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11747" y="6299068"/>
            <a:ext cx="2180253" cy="440822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Arial Rounded MT Bold" panose="020F0704030504030204" pitchFamily="34" charset="77"/>
              </a:rPr>
              <a:t>Mrs</a:t>
            </a:r>
            <a:r>
              <a:rPr lang="en-US" sz="2000" dirty="0">
                <a:latin typeface="Arial Rounded MT Bold" panose="020F0704030504030204" pitchFamily="34" charset="77"/>
              </a:rPr>
              <a:t> Martin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94B6F93-12D7-B34C-822F-4C0B22FE395E}"/>
                  </a:ext>
                </a:extLst>
              </p14:cNvPr>
              <p14:cNvContentPartPr/>
              <p14:nvPr/>
            </p14:nvContentPartPr>
            <p14:xfrm>
              <a:off x="10287880" y="3190440"/>
              <a:ext cx="21240" cy="14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94B6F93-12D7-B34C-822F-4C0B22FE39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69880" y="3082800"/>
                <a:ext cx="568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A7679E-DFE2-354C-B529-37AEEE617D68}"/>
                  </a:ext>
                </a:extLst>
              </p14:cNvPr>
              <p14:cNvContentPartPr/>
              <p14:nvPr/>
            </p14:nvContentPartPr>
            <p14:xfrm>
              <a:off x="7844920" y="2370360"/>
              <a:ext cx="6120" cy="18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A7679E-DFE2-354C-B529-37AEEE617D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27280" y="2262720"/>
                <a:ext cx="417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686204-4622-D04C-8065-A5D212C57165}"/>
                  </a:ext>
                </a:extLst>
              </p14:cNvPr>
              <p14:cNvContentPartPr/>
              <p14:nvPr/>
            </p14:nvContentPartPr>
            <p14:xfrm>
              <a:off x="8556873" y="368978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686204-4622-D04C-8065-A5D212C571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39233" y="3581782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4794CCE-5A08-664D-95B2-585CC29B3676}"/>
                  </a:ext>
                </a:extLst>
              </p14:cNvPr>
              <p14:cNvContentPartPr/>
              <p14:nvPr/>
            </p14:nvContentPartPr>
            <p14:xfrm>
              <a:off x="667113" y="756862"/>
              <a:ext cx="3960" cy="3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4794CCE-5A08-664D-95B2-585CC29B36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9113" y="648862"/>
                <a:ext cx="39600" cy="2196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E045938-6420-7748-B71E-4CB566FAC868}"/>
              </a:ext>
            </a:extLst>
          </p:cNvPr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120" y="0"/>
            <a:ext cx="784874" cy="854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028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2BC2D-DCF3-4859-89E3-44B6F7D3B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AU" sz="3400" dirty="0"/>
              <a:t>Latent Heat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F64F-12CB-4F59-8C70-91F1C9421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5251" y="1416634"/>
            <a:ext cx="11457258" cy="5393007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Arial Rounded MT Bold" panose="020F0704030504030204" pitchFamily="34" charset="77"/>
              </a:rPr>
              <a:t>Latent heat – the energy released during a change of state.</a:t>
            </a:r>
          </a:p>
          <a:p>
            <a:endParaRPr lang="en-AU" sz="2400" dirty="0">
              <a:latin typeface="Arial Rounded MT Bold" panose="020F0704030504030204" pitchFamily="34" charset="77"/>
            </a:endParaRPr>
          </a:p>
          <a:p>
            <a:r>
              <a:rPr lang="en-AU" sz="2400" dirty="0">
                <a:latin typeface="Arial Rounded MT Bold" panose="020F0704030504030204" pitchFamily="34" charset="77"/>
              </a:rPr>
              <a:t>When we boil water it will reach 100</a:t>
            </a:r>
            <a:r>
              <a:rPr lang="en-AU" sz="2400" baseline="30000" dirty="0">
                <a:latin typeface="Arial Rounded MT Bold" panose="020F0704030504030204" pitchFamily="34" charset="77"/>
              </a:rPr>
              <a:t>O</a:t>
            </a:r>
            <a:r>
              <a:rPr lang="en-AU" sz="2400" dirty="0">
                <a:latin typeface="Arial Rounded MT Bold" panose="020F0704030504030204" pitchFamily="34" charset="77"/>
              </a:rPr>
              <a:t>C and will remain at this temperature whilst the water goes from a liquid to a gas.</a:t>
            </a:r>
          </a:p>
          <a:p>
            <a:endParaRPr lang="en-AU" sz="2400" dirty="0">
              <a:latin typeface="Arial Rounded MT Bold" panose="020F0704030504030204" pitchFamily="34" charset="77"/>
            </a:endParaRPr>
          </a:p>
          <a:p>
            <a:r>
              <a:rPr lang="en-AU" sz="2400" dirty="0">
                <a:latin typeface="Arial Rounded MT Bold" panose="020F0704030504030204" pitchFamily="34" charset="77"/>
              </a:rPr>
              <a:t>When there is a change of state there is a change in the potential energy of the particles.</a:t>
            </a:r>
          </a:p>
          <a:p>
            <a:endParaRPr lang="en-AU" sz="2400" dirty="0">
              <a:latin typeface="Arial Rounded MT Bold" panose="020F0704030504030204" pitchFamily="34" charset="77"/>
            </a:endParaRPr>
          </a:p>
          <a:p>
            <a:r>
              <a:rPr lang="en-AU" sz="2400" dirty="0">
                <a:latin typeface="Arial Rounded MT Bold" panose="020F0704030504030204" pitchFamily="34" charset="77"/>
              </a:rPr>
              <a:t>When there is a change in temperature there is a change in the kinetic energy of the particles.</a:t>
            </a:r>
          </a:p>
        </p:txBody>
      </p:sp>
    </p:spTree>
    <p:extLst>
      <p:ext uri="{BB962C8B-B14F-4D97-AF65-F5344CB8AC3E}">
        <p14:creationId xmlns:p14="http://schemas.microsoft.com/office/powerpoint/2010/main" val="146135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2BC2D-DCF3-4859-89E3-44B6F7D3B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AU" sz="3400" dirty="0"/>
              <a:t>Latent Heat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50F64F-12CB-4F59-8C70-91F1C942126A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305251" y="1372898"/>
                <a:ext cx="11457258" cy="5393007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𝑚𝐿</m:t>
                      </m:r>
                    </m:oMath>
                  </m:oMathPara>
                </a14:m>
                <a:endParaRPr lang="en-AU" sz="2400" b="0" dirty="0">
                  <a:latin typeface="Arial Rounded MT Bold" panose="020F0704030504030204" pitchFamily="34" charset="77"/>
                </a:endParaRPr>
              </a:p>
              <a:p>
                <a:r>
                  <a:rPr lang="en-AU" sz="2400" dirty="0">
                    <a:latin typeface="Arial Rounded MT Bold" panose="020F0704030504030204" pitchFamily="34" charset="77"/>
                  </a:rPr>
                  <a:t>Q – heat transferred in in joules (J)</a:t>
                </a:r>
              </a:p>
              <a:p>
                <a:r>
                  <a:rPr lang="en-AU" sz="2400" dirty="0">
                    <a:latin typeface="Arial Rounded MT Bold" panose="020F0704030504030204" pitchFamily="34" charset="77"/>
                  </a:rPr>
                  <a:t>m – mass in kilograms (kg)</a:t>
                </a:r>
              </a:p>
              <a:p>
                <a:r>
                  <a:rPr lang="en-AU" sz="2400" dirty="0">
                    <a:latin typeface="Arial Rounded MT Bold" panose="020F0704030504030204" pitchFamily="34" charset="77"/>
                  </a:rPr>
                  <a:t>L – Latent heat of substance (J/kg)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50F64F-12CB-4F59-8C70-91F1C9421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305251" y="1372898"/>
                <a:ext cx="11457258" cy="5393007"/>
              </a:xfrm>
              <a:blipFill>
                <a:blip r:embed="rId3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FF3C8C25-F2D3-FA45-AC29-01A521146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718175" y="2057400"/>
            <a:ext cx="6002360" cy="44776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18A0B2-B864-5641-91D8-6374C072AA49}"/>
              </a:ext>
            </a:extLst>
          </p:cNvPr>
          <p:cNvSpPr txBox="1"/>
          <p:nvPr/>
        </p:nvSpPr>
        <p:spPr>
          <a:xfrm>
            <a:off x="874712" y="7104159"/>
            <a:ext cx="8699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6" tooltip="http://www.alevelphysicsnotes.com/thermal_physics/latent_heat.html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7" tooltip="https://creativecommons.org/licenses/by-nc-sa/3.0/"/>
              </a:rPr>
              <a:t>CC BY-SA-NC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875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2BC2D-DCF3-4859-89E3-44B6F7D3B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AU" sz="3400" dirty="0"/>
              <a:t>Types of latent heat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F64F-12CB-4F59-8C70-91F1C94212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5251" y="1372898"/>
            <a:ext cx="11457258" cy="5393007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Arial Rounded MT Bold" panose="020F0704030504030204" pitchFamily="34" charset="77"/>
              </a:rPr>
              <a:t>Latent heat of fusion – latent heat when changing between solid and liquid (melting)</a:t>
            </a:r>
          </a:p>
          <a:p>
            <a:r>
              <a:rPr lang="en-AU" sz="2400" dirty="0">
                <a:latin typeface="Arial Rounded MT Bold" panose="020F0704030504030204" pitchFamily="34" charset="77"/>
              </a:rPr>
              <a:t>Denoted </a:t>
            </a:r>
            <a:r>
              <a:rPr lang="en-AU" sz="2400" dirty="0" err="1">
                <a:latin typeface="Arial Rounded MT Bold" panose="020F0704030504030204" pitchFamily="34" charset="77"/>
              </a:rPr>
              <a:t>L</a:t>
            </a:r>
            <a:r>
              <a:rPr lang="en-AU" sz="2400" baseline="-25000" dirty="0" err="1">
                <a:latin typeface="Arial Rounded MT Bold" panose="020F0704030504030204" pitchFamily="34" charset="77"/>
              </a:rPr>
              <a:t>fusion</a:t>
            </a:r>
            <a:endParaRPr lang="en-AU" sz="2400" dirty="0">
              <a:latin typeface="Arial Rounded MT Bold" panose="020F0704030504030204" pitchFamily="34" charset="77"/>
            </a:endParaRPr>
          </a:p>
          <a:p>
            <a:endParaRPr lang="en-AU" sz="2400" dirty="0">
              <a:latin typeface="Arial Rounded MT Bold" panose="020F0704030504030204" pitchFamily="34" charset="77"/>
            </a:endParaRPr>
          </a:p>
          <a:p>
            <a:r>
              <a:rPr lang="en-AU" sz="2400" dirty="0">
                <a:latin typeface="Arial Rounded MT Bold" panose="020F0704030504030204" pitchFamily="34" charset="77"/>
              </a:rPr>
              <a:t>Latent heat of vaporisation – latent heat when changing between liquid and gas</a:t>
            </a:r>
          </a:p>
          <a:p>
            <a:r>
              <a:rPr lang="en-AU" sz="2400" dirty="0">
                <a:latin typeface="Arial Rounded MT Bold" panose="020F0704030504030204" pitchFamily="34" charset="77"/>
              </a:rPr>
              <a:t>Denoted </a:t>
            </a:r>
            <a:r>
              <a:rPr lang="en-AU" sz="2400" dirty="0" err="1">
                <a:latin typeface="Arial Rounded MT Bold" panose="020F0704030504030204" pitchFamily="34" charset="77"/>
              </a:rPr>
              <a:t>L</a:t>
            </a:r>
            <a:r>
              <a:rPr lang="en-AU" sz="2400" baseline="-25000" dirty="0" err="1">
                <a:latin typeface="Arial Rounded MT Bold" panose="020F0704030504030204" pitchFamily="34" charset="77"/>
              </a:rPr>
              <a:t>vaporisation</a:t>
            </a:r>
            <a:endParaRPr lang="en-AU" sz="2400" dirty="0">
              <a:latin typeface="Arial Rounded MT Bold" panose="020F0704030504030204" pitchFamily="34" charset="77"/>
            </a:endParaRPr>
          </a:p>
          <a:p>
            <a:endParaRPr lang="en-AU" sz="2400" dirty="0">
              <a:latin typeface="Arial Rounded MT Bold" panose="020F0704030504030204" pitchFamily="34" charset="77"/>
            </a:endParaRPr>
          </a:p>
          <a:p>
            <a:r>
              <a:rPr lang="en-AU" sz="2400" dirty="0">
                <a:latin typeface="Arial Rounded MT Bold" panose="020F0704030504030204" pitchFamily="34" charset="77"/>
              </a:rPr>
              <a:t>The two values are different for any </a:t>
            </a:r>
          </a:p>
          <a:p>
            <a:r>
              <a:rPr lang="en-AU" sz="2400" dirty="0">
                <a:latin typeface="Arial Rounded MT Bold" panose="020F0704030504030204" pitchFamily="34" charset="77"/>
              </a:rPr>
              <a:t>one substance.</a:t>
            </a: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DA45811A-03FE-D543-9614-68773FEAD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21533" y="3429000"/>
            <a:ext cx="4576710" cy="31432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ED7EAE-44D7-A142-A117-1B39243F5ECC}"/>
              </a:ext>
            </a:extLst>
          </p:cNvPr>
          <p:cNvSpPr txBox="1"/>
          <p:nvPr/>
        </p:nvSpPr>
        <p:spPr>
          <a:xfrm>
            <a:off x="2730500" y="7283450"/>
            <a:ext cx="6731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://chemistry.stackexchange.com/questions/44011/how-does-ice-melt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40D3B9-9D5E-7043-A529-7409F1F516C6}"/>
              </a:ext>
            </a:extLst>
          </p:cNvPr>
          <p:cNvSpPr txBox="1"/>
          <p:nvPr/>
        </p:nvSpPr>
        <p:spPr>
          <a:xfrm>
            <a:off x="6719468" y="3506808"/>
            <a:ext cx="250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189AD9-E408-5046-B3C9-C535BFB043D2}"/>
              </a:ext>
            </a:extLst>
          </p:cNvPr>
          <p:cNvSpPr txBox="1"/>
          <p:nvPr/>
        </p:nvSpPr>
        <p:spPr>
          <a:xfrm>
            <a:off x="8492378" y="3521095"/>
            <a:ext cx="250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Vaporisation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98836F-E689-AB43-BB51-87E481ABB378}"/>
              </a:ext>
            </a:extLst>
          </p:cNvPr>
          <p:cNvSpPr/>
          <p:nvPr/>
        </p:nvSpPr>
        <p:spPr>
          <a:xfrm>
            <a:off x="6657975" y="3814763"/>
            <a:ext cx="1114425" cy="254317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7C43C9-A421-FA49-B307-33F797B5EFAF}"/>
              </a:ext>
            </a:extLst>
          </p:cNvPr>
          <p:cNvSpPr/>
          <p:nvPr/>
        </p:nvSpPr>
        <p:spPr>
          <a:xfrm>
            <a:off x="8628109" y="3814763"/>
            <a:ext cx="1114425" cy="254317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92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437</Words>
  <Application>Microsoft Macintosh PowerPoint</Application>
  <PresentationFormat>Widescreen</PresentationFormat>
  <Paragraphs>41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Rounded MT Bold</vt:lpstr>
      <vt:lpstr>Calibri</vt:lpstr>
      <vt:lpstr>Calibri Light</vt:lpstr>
      <vt:lpstr>Cambria Math</vt:lpstr>
      <vt:lpstr>Verdana</vt:lpstr>
      <vt:lpstr>Office Theme</vt:lpstr>
      <vt:lpstr>Latent Heat Year 11 ATAR Physis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Heat Year 11 ATAR Physis</dc:title>
  <dc:creator>Maria Harris</dc:creator>
  <cp:lastModifiedBy>Maria Harris</cp:lastModifiedBy>
  <cp:revision>3</cp:revision>
  <dcterms:created xsi:type="dcterms:W3CDTF">2021-02-21T08:14:15Z</dcterms:created>
  <dcterms:modified xsi:type="dcterms:W3CDTF">2021-02-21T09:39:46Z</dcterms:modified>
</cp:coreProperties>
</file>
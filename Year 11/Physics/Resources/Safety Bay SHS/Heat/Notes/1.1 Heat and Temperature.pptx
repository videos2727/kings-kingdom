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321" r:id="rId2"/>
    <p:sldId id="256" r:id="rId3"/>
    <p:sldId id="270" r:id="rId4"/>
    <p:sldId id="299" r:id="rId5"/>
    <p:sldId id="297" r:id="rId6"/>
    <p:sldId id="310" r:id="rId7"/>
    <p:sldId id="313" r:id="rId8"/>
    <p:sldId id="528" r:id="rId9"/>
    <p:sldId id="301" r:id="rId10"/>
    <p:sldId id="529" r:id="rId11"/>
    <p:sldId id="530" r:id="rId12"/>
    <p:sldId id="531" r:id="rId13"/>
    <p:sldId id="532" r:id="rId14"/>
    <p:sldId id="533" r:id="rId15"/>
    <p:sldId id="534" r:id="rId16"/>
    <p:sldId id="536" r:id="rId17"/>
    <p:sldId id="537" r:id="rId18"/>
    <p:sldId id="538" r:id="rId19"/>
    <p:sldId id="539" r:id="rId20"/>
    <p:sldId id="540" r:id="rId21"/>
    <p:sldId id="541" r:id="rId22"/>
    <p:sldId id="54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2558"/>
    <p:restoredTop sz="95755"/>
  </p:normalViewPr>
  <p:slideViewPr>
    <p:cSldViewPr snapToGrid="0" snapToObjects="1">
      <p:cViewPr varScale="1">
        <p:scale>
          <a:sx n="44" d="100"/>
          <a:sy n="44" d="100"/>
        </p:scale>
        <p:origin x="208" y="1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6:59.305"/>
    </inkml:context>
    <inkml:brush xml:id="br0">
      <inkml:brushProperty name="width" value="0.1" units="cm"/>
      <inkml:brushProperty name="height" value="0.6" units="cm"/>
      <inkml:brushProperty name="color" value="#849398"/>
      <inkml:brushProperty name="inkEffects" value="pencil"/>
    </inkml:brush>
  </inkml:definitions>
  <inkml:trace contextRef="#ctx0" brushRef="#br0">58 41 16383,'-30'-22'0,"11"4"0,10 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10.135"/>
    </inkml:context>
    <inkml:brush xml:id="br0">
      <inkml:brushProperty name="width" value="0.1" units="cm"/>
      <inkml:brushProperty name="height" value="0.6" units="cm"/>
      <inkml:brushProperty name="color" value="#849398"/>
      <inkml:brushProperty name="inkEffects" value="pencil"/>
    </inkml:brush>
  </inkml:definitions>
  <inkml:trace contextRef="#ctx0" brushRef="#br0">1 1 16383,'9'27'0,"-2"-5"0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7:39.412"/>
    </inkml:context>
    <inkml:brush xml:id="br0">
      <inkml:brushProperty name="width" value="0.1" units="cm"/>
      <inkml:brushProperty name="height" value="0.6" units="cm"/>
      <inkml:brushProperty name="color" value="#849398"/>
      <inkml:brushProperty name="inkEffects" value="pencil"/>
    </inkml:brush>
  </inkml:definitions>
  <inkml:trace contextRef="#ctx0" brushRef="#br0">1 0 16383,'0'0'0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10-10T21:39:16.597"/>
    </inkml:context>
    <inkml:brush xml:id="br0">
      <inkml:brushProperty name="width" value="0.1" units="cm"/>
      <inkml:brushProperty name="height" value="0.6" units="cm"/>
      <inkml:brushProperty name="color" value="#849398"/>
      <inkml:brushProperty name="inkEffects" value="pencil"/>
    </inkml:brush>
  </inkml:definitions>
  <inkml:trace contextRef="#ctx0" brushRef="#br0">0 0 16383,'6'6'0,"-2"-2"0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F0B5D6-01FC-6540-AE95-6325BC9924E4}" type="datetimeFigureOut">
              <a:rPr lang="en-US" smtClean="0"/>
              <a:t>2/3/21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12E29-01B6-6B4D-9C68-755EEF768A40}" type="slidenum">
              <a:rPr lang="en-US" smtClean="0"/>
              <a:t>‹#›</a:t>
            </a:fld>
            <a:endParaRPr lang="en-US"/>
          </a:p>
        </p:txBody>
      </p:sp>
    </p:spTree>
    <p:extLst>
      <p:ext uri="{BB962C8B-B14F-4D97-AF65-F5344CB8AC3E}">
        <p14:creationId xmlns:p14="http://schemas.microsoft.com/office/powerpoint/2010/main" val="792026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1</a:t>
            </a:fld>
            <a:endParaRPr lang="en-US"/>
          </a:p>
        </p:txBody>
      </p:sp>
    </p:spTree>
    <p:extLst>
      <p:ext uri="{BB962C8B-B14F-4D97-AF65-F5344CB8AC3E}">
        <p14:creationId xmlns:p14="http://schemas.microsoft.com/office/powerpoint/2010/main" val="223554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Sound is a longitudinal wave of vibrating particles (back and forth)</a:t>
            </a:r>
          </a:p>
        </p:txBody>
      </p:sp>
      <p:sp>
        <p:nvSpPr>
          <p:cNvPr id="4" name="Slide Number Placeholder 3"/>
          <p:cNvSpPr>
            <a:spLocks noGrp="1"/>
          </p:cNvSpPr>
          <p:nvPr>
            <p:ph type="sldNum" sz="quarter" idx="5"/>
          </p:nvPr>
        </p:nvSpPr>
        <p:spPr/>
        <p:txBody>
          <a:bodyPr/>
          <a:lstStyle/>
          <a:p>
            <a:fld id="{3BE10326-E2C5-4426-B985-B08CBFB52F5B}" type="slidenum">
              <a:rPr lang="en-AU" smtClean="0"/>
              <a:t>4</a:t>
            </a:fld>
            <a:endParaRPr lang="en-AU"/>
          </a:p>
        </p:txBody>
      </p:sp>
    </p:spTree>
    <p:extLst>
      <p:ext uri="{BB962C8B-B14F-4D97-AF65-F5344CB8AC3E}">
        <p14:creationId xmlns:p14="http://schemas.microsoft.com/office/powerpoint/2010/main" val="33232589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D6F03-C114-7440-A578-13B07E7D8E06}" type="slidenum">
              <a:rPr lang="en-US" smtClean="0"/>
              <a:t>7</a:t>
            </a:fld>
            <a:endParaRPr lang="en-US"/>
          </a:p>
        </p:txBody>
      </p:sp>
    </p:spTree>
    <p:extLst>
      <p:ext uri="{BB962C8B-B14F-4D97-AF65-F5344CB8AC3E}">
        <p14:creationId xmlns:p14="http://schemas.microsoft.com/office/powerpoint/2010/main" val="2844511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CFU </a:t>
            </a:r>
            <a:r>
              <a:rPr lang="en-AU" baseline="0" dirty="0"/>
              <a:t> - call on non-volunteers, then open the floor to volunteers</a:t>
            </a:r>
            <a:endParaRPr lang="en-AU" dirty="0"/>
          </a:p>
          <a:p>
            <a:r>
              <a:rPr lang="en-AU" dirty="0"/>
              <a:t>Make the Connection – we deal with </a:t>
            </a:r>
            <a:r>
              <a:rPr lang="en-AU" b="1" dirty="0"/>
              <a:t>mixtures</a:t>
            </a:r>
            <a:r>
              <a:rPr lang="en-AU" baseline="0" dirty="0"/>
              <a:t> in the form of everyday things around us all the time.</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8</a:t>
            </a:fld>
            <a:endParaRPr lang="en-AU"/>
          </a:p>
        </p:txBody>
      </p:sp>
    </p:spTree>
    <p:extLst>
      <p:ext uri="{BB962C8B-B14F-4D97-AF65-F5344CB8AC3E}">
        <p14:creationId xmlns:p14="http://schemas.microsoft.com/office/powerpoint/2010/main" val="534180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9</a:t>
            </a:fld>
            <a:endParaRPr lang="en-AU"/>
          </a:p>
        </p:txBody>
      </p:sp>
    </p:spTree>
    <p:extLst>
      <p:ext uri="{BB962C8B-B14F-4D97-AF65-F5344CB8AC3E}">
        <p14:creationId xmlns:p14="http://schemas.microsoft.com/office/powerpoint/2010/main" val="4002174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10</a:t>
            </a:fld>
            <a:endParaRPr lang="en-AU"/>
          </a:p>
        </p:txBody>
      </p:sp>
    </p:spTree>
    <p:extLst>
      <p:ext uri="{BB962C8B-B14F-4D97-AF65-F5344CB8AC3E}">
        <p14:creationId xmlns:p14="http://schemas.microsoft.com/office/powerpoint/2010/main" val="312806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11</a:t>
            </a:fld>
            <a:endParaRPr lang="en-AU"/>
          </a:p>
        </p:txBody>
      </p:sp>
    </p:spTree>
    <p:extLst>
      <p:ext uri="{BB962C8B-B14F-4D97-AF65-F5344CB8AC3E}">
        <p14:creationId xmlns:p14="http://schemas.microsoft.com/office/powerpoint/2010/main" val="3624103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12</a:t>
            </a:fld>
            <a:endParaRPr lang="en-AU"/>
          </a:p>
        </p:txBody>
      </p:sp>
    </p:spTree>
    <p:extLst>
      <p:ext uri="{BB962C8B-B14F-4D97-AF65-F5344CB8AC3E}">
        <p14:creationId xmlns:p14="http://schemas.microsoft.com/office/powerpoint/2010/main" val="18632800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13</a:t>
            </a:fld>
            <a:endParaRPr lang="en-AU"/>
          </a:p>
        </p:txBody>
      </p:sp>
    </p:spTree>
    <p:extLst>
      <p:ext uri="{BB962C8B-B14F-4D97-AF65-F5344CB8AC3E}">
        <p14:creationId xmlns:p14="http://schemas.microsoft.com/office/powerpoint/2010/main" val="3297344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14</a:t>
            </a:fld>
            <a:endParaRPr lang="en-AU"/>
          </a:p>
        </p:txBody>
      </p:sp>
    </p:spTree>
    <p:extLst>
      <p:ext uri="{BB962C8B-B14F-4D97-AF65-F5344CB8AC3E}">
        <p14:creationId xmlns:p14="http://schemas.microsoft.com/office/powerpoint/2010/main" val="1166582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15</a:t>
            </a:fld>
            <a:endParaRPr lang="en-AU"/>
          </a:p>
        </p:txBody>
      </p:sp>
    </p:spTree>
    <p:extLst>
      <p:ext uri="{BB962C8B-B14F-4D97-AF65-F5344CB8AC3E}">
        <p14:creationId xmlns:p14="http://schemas.microsoft.com/office/powerpoint/2010/main" val="3134189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16</a:t>
            </a:fld>
            <a:endParaRPr lang="en-AU"/>
          </a:p>
        </p:txBody>
      </p:sp>
    </p:spTree>
    <p:extLst>
      <p:ext uri="{BB962C8B-B14F-4D97-AF65-F5344CB8AC3E}">
        <p14:creationId xmlns:p14="http://schemas.microsoft.com/office/powerpoint/2010/main" val="32368154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17</a:t>
            </a:fld>
            <a:endParaRPr lang="en-AU"/>
          </a:p>
        </p:txBody>
      </p:sp>
    </p:spTree>
    <p:extLst>
      <p:ext uri="{BB962C8B-B14F-4D97-AF65-F5344CB8AC3E}">
        <p14:creationId xmlns:p14="http://schemas.microsoft.com/office/powerpoint/2010/main" val="20596577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18</a:t>
            </a:fld>
            <a:endParaRPr lang="en-AU"/>
          </a:p>
        </p:txBody>
      </p:sp>
    </p:spTree>
    <p:extLst>
      <p:ext uri="{BB962C8B-B14F-4D97-AF65-F5344CB8AC3E}">
        <p14:creationId xmlns:p14="http://schemas.microsoft.com/office/powerpoint/2010/main" val="1094064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19</a:t>
            </a:fld>
            <a:endParaRPr lang="en-AU"/>
          </a:p>
        </p:txBody>
      </p:sp>
    </p:spTree>
    <p:extLst>
      <p:ext uri="{BB962C8B-B14F-4D97-AF65-F5344CB8AC3E}">
        <p14:creationId xmlns:p14="http://schemas.microsoft.com/office/powerpoint/2010/main" val="22483110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20</a:t>
            </a:fld>
            <a:endParaRPr lang="en-AU"/>
          </a:p>
        </p:txBody>
      </p:sp>
    </p:spTree>
    <p:extLst>
      <p:ext uri="{BB962C8B-B14F-4D97-AF65-F5344CB8AC3E}">
        <p14:creationId xmlns:p14="http://schemas.microsoft.com/office/powerpoint/2010/main" val="3712491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21</a:t>
            </a:fld>
            <a:endParaRPr lang="en-AU"/>
          </a:p>
        </p:txBody>
      </p:sp>
    </p:spTree>
    <p:extLst>
      <p:ext uri="{BB962C8B-B14F-4D97-AF65-F5344CB8AC3E}">
        <p14:creationId xmlns:p14="http://schemas.microsoft.com/office/powerpoint/2010/main" val="8754281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Teacher Cue – refer to the vocabulary box as you read through and</a:t>
            </a:r>
            <a:r>
              <a:rPr lang="en-AU" baseline="0" dirty="0"/>
              <a:t> “unpack” the definition provided. Use hand gestures to emphasise the ”2 or more”, “mixed” and “separated” parts of the definition. </a:t>
            </a:r>
          </a:p>
          <a:p>
            <a:r>
              <a:rPr lang="en-AU" baseline="0" dirty="0"/>
              <a:t>Have students complete CFU 1 as a pair-share, then record these definitions &amp; examples as notes (with diagrams) if desired. </a:t>
            </a:r>
            <a:endParaRPr lang="en-AU" dirty="0"/>
          </a:p>
          <a:p>
            <a:r>
              <a:rPr lang="en-AU" dirty="0"/>
              <a:t>CFU 2 –</a:t>
            </a:r>
            <a:r>
              <a:rPr lang="en-AU" baseline="0" dirty="0"/>
              <a:t> pair-share, then whiteboards for answers – call on non-volunteers.</a:t>
            </a:r>
            <a:endParaRPr lang="en-AU" dirty="0"/>
          </a:p>
        </p:txBody>
      </p:sp>
      <p:sp>
        <p:nvSpPr>
          <p:cNvPr id="4" name="Slide Number Placeholder 3"/>
          <p:cNvSpPr>
            <a:spLocks noGrp="1"/>
          </p:cNvSpPr>
          <p:nvPr>
            <p:ph type="sldNum" sz="quarter" idx="5"/>
          </p:nvPr>
        </p:nvSpPr>
        <p:spPr/>
        <p:txBody>
          <a:bodyPr/>
          <a:lstStyle/>
          <a:p>
            <a:fld id="{3BE10326-E2C5-4426-B985-B08CBFB52F5B}" type="slidenum">
              <a:rPr lang="en-AU" smtClean="0"/>
              <a:t>22</a:t>
            </a:fld>
            <a:endParaRPr lang="en-AU"/>
          </a:p>
        </p:txBody>
      </p:sp>
    </p:spTree>
    <p:extLst>
      <p:ext uri="{BB962C8B-B14F-4D97-AF65-F5344CB8AC3E}">
        <p14:creationId xmlns:p14="http://schemas.microsoft.com/office/powerpoint/2010/main" val="801898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63A8B-B65D-0C42-BBCF-0847558FB6F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C730A08-AE51-944B-AA9D-BB3389EA9C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E575CAE-00B2-5444-B094-D1B0F1FE611B}"/>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5" name="Footer Placeholder 4">
            <a:extLst>
              <a:ext uri="{FF2B5EF4-FFF2-40B4-BE49-F238E27FC236}">
                <a16:creationId xmlns:a16="http://schemas.microsoft.com/office/drawing/2014/main" id="{046387EA-D076-2D47-8DDE-7343C0AF35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13DB10-E5A6-D649-864E-1F5F06B0666A}"/>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2049932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6464A-AC7C-DE40-BD13-E96D1BB99BB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DD63A09-C524-9540-8317-DC2F94C3874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1727D6F-3CCB-1F42-9962-6C05307ED77B}"/>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5" name="Footer Placeholder 4">
            <a:extLst>
              <a:ext uri="{FF2B5EF4-FFF2-40B4-BE49-F238E27FC236}">
                <a16:creationId xmlns:a16="http://schemas.microsoft.com/office/drawing/2014/main" id="{A1DFFF21-E229-0243-8A85-95850FC3D3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F2EAEB-A387-884A-8B0E-84081E18C30C}"/>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1889920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4E9B1-C3F9-EF4A-9956-D8B7FB65CED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378666F-A9D3-4E43-B04A-23E1536177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6E3C1A3-459F-E141-BC1D-A259B532F3BE}"/>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5" name="Footer Placeholder 4">
            <a:extLst>
              <a:ext uri="{FF2B5EF4-FFF2-40B4-BE49-F238E27FC236}">
                <a16:creationId xmlns:a16="http://schemas.microsoft.com/office/drawing/2014/main" id="{5BF9A266-1EC6-7341-A598-5289C1A452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C681C2-D340-EA4E-B513-B953CC100E78}"/>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738826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86F68B-1E6B-1542-8125-D5476BA6082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4C50357-B349-6841-9A16-6F8E13C914A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026C65D-696D-2147-8974-28FE8DA76564}"/>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610034E-2A43-8743-AB0C-D2170AB5E795}"/>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6" name="Footer Placeholder 5">
            <a:extLst>
              <a:ext uri="{FF2B5EF4-FFF2-40B4-BE49-F238E27FC236}">
                <a16:creationId xmlns:a16="http://schemas.microsoft.com/office/drawing/2014/main" id="{ED585271-20FF-1B43-BF60-B590729C4A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C3D075-97C9-B941-9095-B2BBD7D6F432}"/>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3804961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48D78-7E8C-C24E-809A-FC0E653BBDFF}"/>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8738BDB-CDAE-114A-936E-5782967DA3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8C5D1BF-E691-094A-9790-824F04C6ACB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88C2926-F621-6F48-ADE9-9A4CEED902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6A3512F-888C-F84D-986A-2D0747DF85E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4CBA7A72-669B-374F-832F-5BFB53A99541}"/>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8" name="Footer Placeholder 7">
            <a:extLst>
              <a:ext uri="{FF2B5EF4-FFF2-40B4-BE49-F238E27FC236}">
                <a16:creationId xmlns:a16="http://schemas.microsoft.com/office/drawing/2014/main" id="{C6557DED-C735-E44C-8C74-4A98BF5ED78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37878D-FDA6-6848-A97D-1A84F03C9B92}"/>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17845019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971DA-0998-B340-881C-E5512FD98CF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16C8A1E-3BC8-EC49-B23A-4B6AEC97F8D2}"/>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4" name="Footer Placeholder 3">
            <a:extLst>
              <a:ext uri="{FF2B5EF4-FFF2-40B4-BE49-F238E27FC236}">
                <a16:creationId xmlns:a16="http://schemas.microsoft.com/office/drawing/2014/main" id="{9A94A5A4-8337-D444-A2D9-BFE3EC15280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7A7249-9CD1-5443-BC19-4BDE6AEBDCBD}"/>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20912520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2149DF-6C55-C743-BE68-DB9BB29E65C0}"/>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3" name="Footer Placeholder 2">
            <a:extLst>
              <a:ext uri="{FF2B5EF4-FFF2-40B4-BE49-F238E27FC236}">
                <a16:creationId xmlns:a16="http://schemas.microsoft.com/office/drawing/2014/main" id="{FF368FC7-0B9E-8C4B-A906-988E303B29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3D1E8B-7608-3D46-854E-524A8037DE13}"/>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2838145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FDDBE-4D61-3046-8EB4-D46F95675E9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FA6C07E-E1B2-FA42-A89B-1D13DBCCE7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49BBF94-0AF8-3940-B18F-50D323D2DF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0B60C6F-5139-B14D-A7EA-B6D676AEB781}"/>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6" name="Footer Placeholder 5">
            <a:extLst>
              <a:ext uri="{FF2B5EF4-FFF2-40B4-BE49-F238E27FC236}">
                <a16:creationId xmlns:a16="http://schemas.microsoft.com/office/drawing/2014/main" id="{E8C65FAC-4CFB-2F45-95BF-9C4D02D958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A87791-D797-E04B-A2E3-EF42891D3F25}"/>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2984770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87C32-EB43-1D47-98D8-A33C065527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D13306C-ACE6-1E41-AB8F-9AA6AB4A36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8E60F2-7723-3846-B3A3-466C5FE705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3283067-DB0B-404A-8C89-202CC6C4133C}"/>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6" name="Footer Placeholder 5">
            <a:extLst>
              <a:ext uri="{FF2B5EF4-FFF2-40B4-BE49-F238E27FC236}">
                <a16:creationId xmlns:a16="http://schemas.microsoft.com/office/drawing/2014/main" id="{340BCE04-4533-E14C-ACE2-48D33DED4D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49B12D-E885-BB40-AE6D-676A01CE3F9F}"/>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3190661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177AA-58C6-F74C-A2EB-CDC29A9739B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5ED02180-BA85-8D4E-9D40-D2AEDE8FA2F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37EB06C-3FA5-B24E-8575-F32B6D6A5091}"/>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5" name="Footer Placeholder 4">
            <a:extLst>
              <a:ext uri="{FF2B5EF4-FFF2-40B4-BE49-F238E27FC236}">
                <a16:creationId xmlns:a16="http://schemas.microsoft.com/office/drawing/2014/main" id="{D191FA13-BA2A-DB40-8FF8-2666D63138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B891B5-FE92-FE41-B7BE-EBFCB33137F4}"/>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3185493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022CE07-A686-CE49-AF3A-949D431303E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E9A1AF-71F7-C34D-9BC7-CBFD1AF9DF2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1A51A8-8E0A-C848-BE1F-30D35942D7B1}"/>
              </a:ext>
            </a:extLst>
          </p:cNvPr>
          <p:cNvSpPr>
            <a:spLocks noGrp="1"/>
          </p:cNvSpPr>
          <p:nvPr>
            <p:ph type="dt" sz="half" idx="10"/>
          </p:nvPr>
        </p:nvSpPr>
        <p:spPr/>
        <p:txBody>
          <a:bodyPr/>
          <a:lstStyle/>
          <a:p>
            <a:fld id="{52A8662D-97FA-E848-975C-0322BD37D476}" type="datetimeFigureOut">
              <a:rPr lang="en-US" smtClean="0"/>
              <a:t>2/3/21</a:t>
            </a:fld>
            <a:endParaRPr lang="en-US"/>
          </a:p>
        </p:txBody>
      </p:sp>
      <p:sp>
        <p:nvSpPr>
          <p:cNvPr id="5" name="Footer Placeholder 4">
            <a:extLst>
              <a:ext uri="{FF2B5EF4-FFF2-40B4-BE49-F238E27FC236}">
                <a16:creationId xmlns:a16="http://schemas.microsoft.com/office/drawing/2014/main" id="{258DFAF1-5F05-FA42-8006-3B6643FD65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BA866B-C642-7D4E-872D-CFC171644914}"/>
              </a:ext>
            </a:extLst>
          </p:cNvPr>
          <p:cNvSpPr>
            <a:spLocks noGrp="1"/>
          </p:cNvSpPr>
          <p:nvPr>
            <p:ph type="sldNum" sz="quarter" idx="12"/>
          </p:nvPr>
        </p:nvSpPr>
        <p:spPr/>
        <p:txBody>
          <a:bodyPr/>
          <a:lstStyle/>
          <a:p>
            <a:fld id="{7D42DAA0-BD63-CD45-98E3-A6237AA457C0}" type="slidenum">
              <a:rPr lang="en-US" smtClean="0"/>
              <a:t>‹#›</a:t>
            </a:fld>
            <a:endParaRPr lang="en-US"/>
          </a:p>
        </p:txBody>
      </p:sp>
    </p:spTree>
    <p:extLst>
      <p:ext uri="{BB962C8B-B14F-4D97-AF65-F5344CB8AC3E}">
        <p14:creationId xmlns:p14="http://schemas.microsoft.com/office/powerpoint/2010/main" val="3130131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0958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DR) Daily Edit">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5C59CC9-2027-4926-95DF-D473C7C8B21B}"/>
              </a:ext>
            </a:extLst>
          </p:cNvPr>
          <p:cNvSpPr txBox="1"/>
          <p:nvPr userDrawn="1"/>
        </p:nvSpPr>
        <p:spPr>
          <a:xfrm>
            <a:off x="1451429" y="262082"/>
            <a:ext cx="3759200" cy="369085"/>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lvl="0" algn="ctr"/>
            <a:r>
              <a:rPr lang="en-AU" sz="1400" b="0" i="0" dirty="0">
                <a:solidFill>
                  <a:schemeClr val="bg1"/>
                </a:solidFill>
                <a:latin typeface="Arial Rounded MT Bold" panose="020F0704030504030204" pitchFamily="34" charset="0"/>
                <a:cs typeface="Futura Medium" panose="020B0602020204020303" pitchFamily="34" charset="-79"/>
              </a:rPr>
              <a:t>Sit down and begin this task immediately</a:t>
            </a:r>
          </a:p>
        </p:txBody>
      </p:sp>
      <p:sp>
        <p:nvSpPr>
          <p:cNvPr id="8" name="TextBox 7">
            <a:extLst>
              <a:ext uri="{FF2B5EF4-FFF2-40B4-BE49-F238E27FC236}">
                <a16:creationId xmlns:a16="http://schemas.microsoft.com/office/drawing/2014/main" id="{B089974F-B611-4EBA-AAAD-C992984C2655}"/>
              </a:ext>
            </a:extLst>
          </p:cNvPr>
          <p:cNvSpPr txBox="1"/>
          <p:nvPr userDrawn="1"/>
        </p:nvSpPr>
        <p:spPr>
          <a:xfrm>
            <a:off x="280558" y="262082"/>
            <a:ext cx="996700"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Do Now</a:t>
            </a:r>
          </a:p>
        </p:txBody>
      </p:sp>
      <p:sp>
        <p:nvSpPr>
          <p:cNvPr id="14" name="Text Placeholder 6">
            <a:extLst>
              <a:ext uri="{FF2B5EF4-FFF2-40B4-BE49-F238E27FC236}">
                <a16:creationId xmlns:a16="http://schemas.microsoft.com/office/drawing/2014/main" id="{62374AE5-740E-4EF6-BDA8-AD9F77D2E402}"/>
              </a:ext>
            </a:extLst>
          </p:cNvPr>
          <p:cNvSpPr>
            <a:spLocks noGrp="1"/>
          </p:cNvSpPr>
          <p:nvPr>
            <p:ph type="body" sz="quarter" idx="12" hasCustomPrompt="1"/>
          </p:nvPr>
        </p:nvSpPr>
        <p:spPr>
          <a:xfrm>
            <a:off x="280557" y="805337"/>
            <a:ext cx="11481952" cy="483136"/>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US" dirty="0"/>
              <a:t>Explain what students need to do. </a:t>
            </a:r>
            <a:br>
              <a:rPr lang="en-US" dirty="0"/>
            </a:br>
            <a:endParaRPr lang="en-US" dirty="0"/>
          </a:p>
        </p:txBody>
      </p:sp>
      <p:sp>
        <p:nvSpPr>
          <p:cNvPr id="15" name="Text Placeholder 2">
            <a:extLst>
              <a:ext uri="{FF2B5EF4-FFF2-40B4-BE49-F238E27FC236}">
                <a16:creationId xmlns:a16="http://schemas.microsoft.com/office/drawing/2014/main" id="{1844C978-19D7-46E2-B79E-B20155BA89E7}"/>
              </a:ext>
            </a:extLst>
          </p:cNvPr>
          <p:cNvSpPr>
            <a:spLocks noGrp="1"/>
          </p:cNvSpPr>
          <p:nvPr>
            <p:ph type="body" sz="quarter" idx="15" hasCustomPrompt="1"/>
          </p:nvPr>
        </p:nvSpPr>
        <p:spPr>
          <a:xfrm>
            <a:off x="280558" y="1462644"/>
            <a:ext cx="11506476" cy="513327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Enter in your task.</a:t>
            </a:r>
            <a:br>
              <a:rPr lang="en-US" dirty="0"/>
            </a:br>
            <a:br>
              <a:rPr lang="en-US" dirty="0"/>
            </a:br>
            <a:r>
              <a:rPr lang="en-US" dirty="0"/>
              <a:t>Click to add text. Delete textbox if unneeded. </a:t>
            </a:r>
          </a:p>
        </p:txBody>
      </p:sp>
    </p:spTree>
    <p:extLst>
      <p:ext uri="{BB962C8B-B14F-4D97-AF65-F5344CB8AC3E}">
        <p14:creationId xmlns:p14="http://schemas.microsoft.com/office/powerpoint/2010/main" val="1164802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R) Recite">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Box 6">
            <a:extLst>
              <a:ext uri="{FF2B5EF4-FFF2-40B4-BE49-F238E27FC236}">
                <a16:creationId xmlns:a16="http://schemas.microsoft.com/office/drawing/2014/main" id="{1011CE44-95E4-4C6E-8D8B-41CCD6B35C2D}"/>
              </a:ext>
            </a:extLst>
          </p:cNvPr>
          <p:cNvSpPr txBox="1"/>
          <p:nvPr userDrawn="1"/>
        </p:nvSpPr>
        <p:spPr>
          <a:xfrm>
            <a:off x="280557" y="262082"/>
            <a:ext cx="1077187"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Re(teach)</a:t>
            </a:r>
          </a:p>
        </p:txBody>
      </p:sp>
      <p:sp>
        <p:nvSpPr>
          <p:cNvPr id="10" name="Text Placeholder 6">
            <a:extLst>
              <a:ext uri="{FF2B5EF4-FFF2-40B4-BE49-F238E27FC236}">
                <a16:creationId xmlns:a16="http://schemas.microsoft.com/office/drawing/2014/main" id="{3A36E411-28DA-4098-8A25-8C3C8AD90B33}"/>
              </a:ext>
            </a:extLst>
          </p:cNvPr>
          <p:cNvSpPr>
            <a:spLocks noGrp="1"/>
          </p:cNvSpPr>
          <p:nvPr>
            <p:ph type="body" sz="quarter" idx="13" hasCustomPrompt="1"/>
          </p:nvPr>
        </p:nvSpPr>
        <p:spPr>
          <a:xfrm>
            <a:off x="280557" y="805337"/>
            <a:ext cx="11481952" cy="496990"/>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1" name="Text Placeholder 2">
            <a:extLst>
              <a:ext uri="{FF2B5EF4-FFF2-40B4-BE49-F238E27FC236}">
                <a16:creationId xmlns:a16="http://schemas.microsoft.com/office/drawing/2014/main" id="{3172405F-5716-468A-BB1E-99861FFCB465}"/>
              </a:ext>
            </a:extLst>
          </p:cNvPr>
          <p:cNvSpPr>
            <a:spLocks noGrp="1"/>
          </p:cNvSpPr>
          <p:nvPr>
            <p:ph type="body" sz="quarter" idx="15" hasCustomPrompt="1"/>
          </p:nvPr>
        </p:nvSpPr>
        <p:spPr>
          <a:xfrm>
            <a:off x="280558" y="1476498"/>
            <a:ext cx="11506476" cy="51194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Go over the steps they already know from this unit, or from relevant prior knowledge.  </a:t>
            </a:r>
            <a:br>
              <a:rPr lang="en-US" dirty="0"/>
            </a:br>
            <a:br>
              <a:rPr lang="en-US" dirty="0"/>
            </a:br>
            <a:r>
              <a:rPr lang="en-AU" dirty="0"/>
              <a:t>All of the answers should be displayed clearly for students. </a:t>
            </a:r>
            <a:br>
              <a:rPr lang="en-AU" dirty="0"/>
            </a:br>
            <a:br>
              <a:rPr lang="en-AU" dirty="0"/>
            </a:br>
            <a:r>
              <a:rPr lang="en-AU" dirty="0"/>
              <a:t>Students at this step are at track with me/read with me steps.</a:t>
            </a:r>
            <a:br>
              <a:rPr lang="en-AU" dirty="0"/>
            </a:br>
            <a:br>
              <a:rPr lang="en-US" dirty="0"/>
            </a:br>
            <a:r>
              <a:rPr lang="en-US" dirty="0"/>
              <a:t>Click to add text. Delete textbox if unneeded. </a:t>
            </a:r>
          </a:p>
        </p:txBody>
      </p:sp>
    </p:spTree>
    <p:extLst>
      <p:ext uri="{BB962C8B-B14F-4D97-AF65-F5344CB8AC3E}">
        <p14:creationId xmlns:p14="http://schemas.microsoft.com/office/powerpoint/2010/main" val="37759120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DR) Recall">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9" name="TextBox 8">
            <a:extLst>
              <a:ext uri="{FF2B5EF4-FFF2-40B4-BE49-F238E27FC236}">
                <a16:creationId xmlns:a16="http://schemas.microsoft.com/office/drawing/2014/main" id="{56B0E9EF-C072-49CE-9514-CD457EE95DB9}"/>
              </a:ext>
            </a:extLst>
          </p:cNvPr>
          <p:cNvSpPr txBox="1"/>
          <p:nvPr userDrawn="1"/>
        </p:nvSpPr>
        <p:spPr>
          <a:xfrm>
            <a:off x="280558" y="262082"/>
            <a:ext cx="982186"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Retrieve</a:t>
            </a:r>
          </a:p>
        </p:txBody>
      </p:sp>
      <p:sp>
        <p:nvSpPr>
          <p:cNvPr id="10" name="Text Placeholder 6">
            <a:extLst>
              <a:ext uri="{FF2B5EF4-FFF2-40B4-BE49-F238E27FC236}">
                <a16:creationId xmlns:a16="http://schemas.microsoft.com/office/drawing/2014/main" id="{D11CF63B-7632-447F-B321-9789C106CA52}"/>
              </a:ext>
            </a:extLst>
          </p:cNvPr>
          <p:cNvSpPr>
            <a:spLocks noGrp="1"/>
          </p:cNvSpPr>
          <p:nvPr>
            <p:ph type="body" sz="quarter" idx="13" hasCustomPrompt="1"/>
          </p:nvPr>
        </p:nvSpPr>
        <p:spPr>
          <a:xfrm>
            <a:off x="280557" y="805337"/>
            <a:ext cx="11481952" cy="496990"/>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C69BF684-094C-4086-BBA0-8EA483477F79}"/>
              </a:ext>
            </a:extLst>
          </p:cNvPr>
          <p:cNvSpPr>
            <a:spLocks noGrp="1"/>
          </p:cNvSpPr>
          <p:nvPr>
            <p:ph type="body" sz="quarter" idx="15" hasCustomPrompt="1"/>
          </p:nvPr>
        </p:nvSpPr>
        <p:spPr>
          <a:xfrm>
            <a:off x="280558" y="1476498"/>
            <a:ext cx="11506476" cy="5119420"/>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At this point the information should be removed and students, first as a group and then as individuals, should be able to recall it.</a:t>
            </a:r>
            <a:br>
              <a:rPr lang="en-AU" dirty="0"/>
            </a:br>
            <a:br>
              <a:rPr lang="en-AU" dirty="0"/>
            </a:br>
            <a:r>
              <a:rPr lang="en-US" dirty="0"/>
              <a:t>Click to add text. Delete textbox if unneeded. </a:t>
            </a:r>
          </a:p>
        </p:txBody>
      </p:sp>
    </p:spTree>
    <p:extLst>
      <p:ext uri="{BB962C8B-B14F-4D97-AF65-F5344CB8AC3E}">
        <p14:creationId xmlns:p14="http://schemas.microsoft.com/office/powerpoint/2010/main" val="8855346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DR) Apply">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8" name="TextBox 7">
            <a:extLst>
              <a:ext uri="{FF2B5EF4-FFF2-40B4-BE49-F238E27FC236}">
                <a16:creationId xmlns:a16="http://schemas.microsoft.com/office/drawing/2014/main" id="{AC654E54-CAC9-4F2F-AA80-55A84549B89E}"/>
              </a:ext>
            </a:extLst>
          </p:cNvPr>
          <p:cNvSpPr txBox="1"/>
          <p:nvPr userDrawn="1"/>
        </p:nvSpPr>
        <p:spPr>
          <a:xfrm>
            <a:off x="280558" y="262082"/>
            <a:ext cx="982186"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1400" b="0" i="0" dirty="0">
                <a:solidFill>
                  <a:schemeClr val="bg1"/>
                </a:solidFill>
                <a:latin typeface="Arial Rounded MT Bold" panose="020F0704030504030204" pitchFamily="34" charset="0"/>
                <a:cs typeface="Futura Medium" panose="020B0602020204020303" pitchFamily="34" charset="-79"/>
              </a:rPr>
              <a:t>Apply</a:t>
            </a:r>
          </a:p>
        </p:txBody>
      </p:sp>
      <p:sp>
        <p:nvSpPr>
          <p:cNvPr id="9" name="Text Placeholder 6">
            <a:extLst>
              <a:ext uri="{FF2B5EF4-FFF2-40B4-BE49-F238E27FC236}">
                <a16:creationId xmlns:a16="http://schemas.microsoft.com/office/drawing/2014/main" id="{B3E95AC1-7531-4639-975B-21368D744727}"/>
              </a:ext>
            </a:extLst>
          </p:cNvPr>
          <p:cNvSpPr>
            <a:spLocks noGrp="1"/>
          </p:cNvSpPr>
          <p:nvPr>
            <p:ph type="body" sz="quarter" idx="13" hasCustomPrompt="1"/>
          </p:nvPr>
        </p:nvSpPr>
        <p:spPr>
          <a:xfrm>
            <a:off x="280557" y="805337"/>
            <a:ext cx="11481952" cy="51084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E913797E-7ED2-48B9-87A3-251518F8AEF7}"/>
              </a:ext>
            </a:extLst>
          </p:cNvPr>
          <p:cNvSpPr>
            <a:spLocks noGrp="1"/>
          </p:cNvSpPr>
          <p:nvPr>
            <p:ph type="body" sz="quarter" idx="15" hasCustomPrompt="1"/>
          </p:nvPr>
        </p:nvSpPr>
        <p:spPr>
          <a:xfrm>
            <a:off x="280558" y="1490352"/>
            <a:ext cx="11506476" cy="5105565"/>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US" dirty="0"/>
              <a:t>Ask students to apply this knowledge to a problem or specific context.</a:t>
            </a:r>
            <a:br>
              <a:rPr lang="en-US" dirty="0"/>
            </a:br>
            <a:br>
              <a:rPr lang="en-AU" dirty="0"/>
            </a:br>
            <a:r>
              <a:rPr lang="en-US" dirty="0"/>
              <a:t>Steps here must be explicit and listed simply enough such that students are able to apply their understanding to examples and non-examples.</a:t>
            </a:r>
            <a:br>
              <a:rPr lang="en-US" dirty="0"/>
            </a:br>
            <a:br>
              <a:rPr lang="en-US" dirty="0"/>
            </a:br>
            <a:r>
              <a:rPr lang="en-AU" dirty="0"/>
              <a:t>Click to add text. Delete textbox if unneeded. </a:t>
            </a:r>
            <a:endParaRPr lang="en-US" dirty="0"/>
          </a:p>
        </p:txBody>
      </p:sp>
    </p:spTree>
    <p:extLst>
      <p:ext uri="{BB962C8B-B14F-4D97-AF65-F5344CB8AC3E}">
        <p14:creationId xmlns:p14="http://schemas.microsoft.com/office/powerpoint/2010/main" val="4072531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R) New Top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297625" y="2268252"/>
            <a:ext cx="8660516" cy="28268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US" sz="7200" b="0" i="0" spc="300" baseline="0" dirty="0">
                <a:solidFill>
                  <a:srgbClr val="154983"/>
                </a:solidFill>
                <a:latin typeface="Arial Rounded MT Bold" panose="020F0704030504030204" pitchFamily="34" charset="0"/>
              </a:rPr>
              <a:t>What we are learning today</a:t>
            </a:r>
            <a:endParaRPr lang="en-US" sz="7200" b="0" i="0" dirty="0">
              <a:solidFill>
                <a:srgbClr val="154983"/>
              </a:solidFill>
              <a:latin typeface="Arial Rounded MT Bold" panose="020F070403050403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447768" y="1699225"/>
            <a:ext cx="2797472" cy="789710"/>
          </a:xfrm>
          <a:prstGeom prst="round2DiagRect">
            <a:avLst/>
          </a:prstGeom>
          <a:solidFill>
            <a:srgbClr val="1891AC"/>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p>
            <a:pPr algn="ctr"/>
            <a:r>
              <a:rPr lang="en-US" sz="3600" b="0" i="0" dirty="0">
                <a:solidFill>
                  <a:schemeClr val="bg1"/>
                </a:solidFill>
                <a:latin typeface="Arial Rounded MT Bold" panose="020F0704030504030204" pitchFamily="34" charset="0"/>
                <a:cs typeface="Futura Medium" panose="020B0602020204020303" pitchFamily="34" charset="-79"/>
              </a:rPr>
              <a:t>New Topic</a:t>
            </a:r>
          </a:p>
        </p:txBody>
      </p:sp>
    </p:spTree>
    <p:extLst>
      <p:ext uri="{BB962C8B-B14F-4D97-AF65-F5344CB8AC3E}">
        <p14:creationId xmlns:p14="http://schemas.microsoft.com/office/powerpoint/2010/main" val="1934327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8" name="TextBox 7">
            <a:extLst>
              <a:ext uri="{FF2B5EF4-FFF2-40B4-BE49-F238E27FC236}">
                <a16:creationId xmlns:a16="http://schemas.microsoft.com/office/drawing/2014/main" id="{A682B46B-FF7E-4F09-84E5-D2FC08A7453D}"/>
              </a:ext>
            </a:extLst>
          </p:cNvPr>
          <p:cNvSpPr txBox="1"/>
          <p:nvPr userDrawn="1"/>
        </p:nvSpPr>
        <p:spPr>
          <a:xfrm>
            <a:off x="280557" y="235982"/>
            <a:ext cx="2462642"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Activate Prior Knowledge</a:t>
            </a:r>
          </a:p>
        </p:txBody>
      </p:sp>
      <p:sp>
        <p:nvSpPr>
          <p:cNvPr id="10" name="Text Placeholder 6">
            <a:extLst>
              <a:ext uri="{FF2B5EF4-FFF2-40B4-BE49-F238E27FC236}">
                <a16:creationId xmlns:a16="http://schemas.microsoft.com/office/drawing/2014/main" id="{C8716F3D-E89C-4FB6-8991-204A78425576}"/>
              </a:ext>
            </a:extLst>
          </p:cNvPr>
          <p:cNvSpPr>
            <a:spLocks noGrp="1"/>
          </p:cNvSpPr>
          <p:nvPr>
            <p:ph type="body" sz="quarter" idx="13" hasCustomPrompt="1"/>
          </p:nvPr>
        </p:nvSpPr>
        <p:spPr>
          <a:xfrm>
            <a:off x="280557" y="805337"/>
            <a:ext cx="11481952" cy="483136"/>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22DE5282-F00B-4C94-ABE1-D449B1DC7A55}"/>
              </a:ext>
            </a:extLst>
          </p:cNvPr>
          <p:cNvSpPr>
            <a:spLocks noGrp="1"/>
          </p:cNvSpPr>
          <p:nvPr>
            <p:ph type="body" sz="quarter" idx="15" hasCustomPrompt="1"/>
          </p:nvPr>
        </p:nvSpPr>
        <p:spPr>
          <a:xfrm>
            <a:off x="280558" y="1488744"/>
            <a:ext cx="11506476" cy="5107174"/>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Link previous learning, or a universal experience, to the topic being studied taught. For example, key concepts already learnt in this unit, or something we all do in our lives that will connect to the learning. </a:t>
            </a:r>
            <a:br>
              <a:rPr lang="en-AU" dirty="0"/>
            </a:br>
            <a:br>
              <a:rPr lang="en-AU" dirty="0"/>
            </a:br>
            <a:r>
              <a:rPr lang="en-AU" dirty="0"/>
              <a:t>Click to add text. Delete textbox if unneeded. </a:t>
            </a:r>
          </a:p>
        </p:txBody>
      </p:sp>
    </p:spTree>
    <p:extLst>
      <p:ext uri="{BB962C8B-B14F-4D97-AF65-F5344CB8AC3E}">
        <p14:creationId xmlns:p14="http://schemas.microsoft.com/office/powerpoint/2010/main" val="32602122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I) Content Development">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04E1E29-E5E1-4CA6-AE28-873DC4095433}"/>
              </a:ext>
            </a:extLst>
          </p:cNvPr>
          <p:cNvSpPr txBox="1"/>
          <p:nvPr userDrawn="1"/>
        </p:nvSpPr>
        <p:spPr>
          <a:xfrm>
            <a:off x="280557" y="237294"/>
            <a:ext cx="2206171" cy="369085"/>
          </a:xfrm>
          <a:prstGeom prst="round2DiagRect">
            <a:avLst/>
          </a:prstGeom>
          <a:solidFill>
            <a:srgbClr val="154983"/>
          </a:solidFill>
          <a:ln>
            <a:noFill/>
          </a:ln>
        </p:spPr>
        <p:style>
          <a:lnRef idx="2">
            <a:schemeClr val="accent6"/>
          </a:lnRef>
          <a:fillRef idx="1">
            <a:schemeClr val="lt1"/>
          </a:fillRef>
          <a:effectRef idx="0">
            <a:schemeClr val="accent6"/>
          </a:effectRef>
          <a:fontRef idx="minor">
            <a:schemeClr val="dk1"/>
          </a:fontRef>
        </p:style>
        <p:txBody>
          <a:bodyPr wrap="square" rtlCol="0" anchor="ctr">
            <a:noAutofit/>
          </a:bodyPr>
          <a:lstStyle>
            <a:defPPr>
              <a:defRPr lang="en-US"/>
            </a:defPPr>
            <a:lvl1pPr algn="ctr">
              <a:defRPr sz="1400" b="0" i="0">
                <a:solidFill>
                  <a:schemeClr val="bg1"/>
                </a:solidFill>
                <a:latin typeface="Arial Rounded MT Bold" panose="020F0704030504030204" pitchFamily="34" charset="0"/>
                <a:cs typeface="Futura Medium" panose="020B0602020204020303" pitchFamily="34" charset="-79"/>
              </a:defRPr>
            </a:lvl1pPr>
          </a:lstStyle>
          <a:p>
            <a:pPr lvl="0"/>
            <a:r>
              <a:rPr lang="en-US" dirty="0"/>
              <a:t>Concept Development</a:t>
            </a:r>
          </a:p>
        </p:txBody>
      </p:sp>
      <p:sp>
        <p:nvSpPr>
          <p:cNvPr id="11" name="Text Placeholder 6">
            <a:extLst>
              <a:ext uri="{FF2B5EF4-FFF2-40B4-BE49-F238E27FC236}">
                <a16:creationId xmlns:a16="http://schemas.microsoft.com/office/drawing/2014/main" id="{492D3A20-F902-4F74-96C6-B8576FA0A5F9}"/>
              </a:ext>
            </a:extLst>
          </p:cNvPr>
          <p:cNvSpPr>
            <a:spLocks noGrp="1"/>
          </p:cNvSpPr>
          <p:nvPr>
            <p:ph type="body" sz="quarter" idx="13" hasCustomPrompt="1"/>
          </p:nvPr>
        </p:nvSpPr>
        <p:spPr>
          <a:xfrm>
            <a:off x="280557" y="805337"/>
            <a:ext cx="11481952" cy="524699"/>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0" i="0">
                <a:solidFill>
                  <a:srgbClr val="154983"/>
                </a:solidFill>
                <a:latin typeface="Arial Rounded MT Bold" panose="020F0704030504030204" pitchFamily="34" charset="0"/>
              </a:defRPr>
            </a:lvl1pPr>
          </a:lstStyle>
          <a:p>
            <a:pPr lvl="0"/>
            <a:r>
              <a:rPr lang="en-AU" dirty="0"/>
              <a:t>Click to add text.</a:t>
            </a:r>
            <a:br>
              <a:rPr lang="en-AU" dirty="0"/>
            </a:br>
            <a:endParaRPr lang="en-AU" dirty="0"/>
          </a:p>
        </p:txBody>
      </p:sp>
      <p:sp>
        <p:nvSpPr>
          <p:cNvPr id="12" name="Text Placeholder 2">
            <a:extLst>
              <a:ext uri="{FF2B5EF4-FFF2-40B4-BE49-F238E27FC236}">
                <a16:creationId xmlns:a16="http://schemas.microsoft.com/office/drawing/2014/main" id="{F940C2C1-B592-48FA-B23E-0B742216BD9C}"/>
              </a:ext>
            </a:extLst>
          </p:cNvPr>
          <p:cNvSpPr>
            <a:spLocks noGrp="1"/>
          </p:cNvSpPr>
          <p:nvPr>
            <p:ph type="body" sz="quarter" idx="15" hasCustomPrompt="1"/>
          </p:nvPr>
        </p:nvSpPr>
        <p:spPr>
          <a:xfrm>
            <a:off x="280558" y="1528994"/>
            <a:ext cx="11506476" cy="506692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latin typeface="Verdana" panose="020B0604030504040204" pitchFamily="34" charset="0"/>
                <a:ea typeface="Verdana" panose="020B0604030504040204" pitchFamily="34" charset="0"/>
              </a:defRPr>
            </a:lvl1pPr>
          </a:lstStyle>
          <a:p>
            <a:pPr lvl="0"/>
            <a:r>
              <a:rPr lang="en-AU" dirty="0"/>
              <a:t>The teacher explains the concepts and steps that lead to the learning objective.</a:t>
            </a:r>
            <a:br>
              <a:rPr lang="en-AU" dirty="0"/>
            </a:br>
            <a:br>
              <a:rPr lang="en-AU" dirty="0"/>
            </a:br>
            <a:r>
              <a:rPr lang="en-AU" dirty="0"/>
              <a:t>Click to add text. Delete textbox if unneeded.</a:t>
            </a:r>
          </a:p>
        </p:txBody>
      </p:sp>
    </p:spTree>
    <p:extLst>
      <p:ext uri="{BB962C8B-B14F-4D97-AF65-F5344CB8AC3E}">
        <p14:creationId xmlns:p14="http://schemas.microsoft.com/office/powerpoint/2010/main" val="3574741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611A38-F0A3-7C42-9CFE-282E037DD2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E71BCFE-C765-BD44-8003-F71F48F7F0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968AECB-184A-9445-B144-2C77924A952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2A8662D-97FA-E848-975C-0322BD37D476}" type="datetimeFigureOut">
              <a:rPr lang="en-US" smtClean="0"/>
              <a:t>2/3/21</a:t>
            </a:fld>
            <a:endParaRPr lang="en-US"/>
          </a:p>
        </p:txBody>
      </p:sp>
      <p:sp>
        <p:nvSpPr>
          <p:cNvPr id="5" name="Footer Placeholder 4">
            <a:extLst>
              <a:ext uri="{FF2B5EF4-FFF2-40B4-BE49-F238E27FC236}">
                <a16:creationId xmlns:a16="http://schemas.microsoft.com/office/drawing/2014/main" id="{787135B2-A216-A142-91A9-C8ED110769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CE4711D-80F5-D04D-8AB5-EA03F4C927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42DAA0-BD63-CD45-98E3-A6237AA457C0}" type="slidenum">
              <a:rPr lang="en-US" smtClean="0"/>
              <a:t>‹#›</a:t>
            </a:fld>
            <a:endParaRPr lang="en-US"/>
          </a:p>
        </p:txBody>
      </p:sp>
    </p:spTree>
    <p:extLst>
      <p:ext uri="{BB962C8B-B14F-4D97-AF65-F5344CB8AC3E}">
        <p14:creationId xmlns:p14="http://schemas.microsoft.com/office/powerpoint/2010/main" val="3152050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6" r:id="rId17"/>
    <p:sldLayoutId id="2147483667" r:id="rId18"/>
    <p:sldLayoutId id="214748366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jpg"/><Relationship Id="rId3" Type="http://schemas.openxmlformats.org/officeDocument/2006/relationships/customXml" Target="../ink/ink1.xml"/><Relationship Id="rId7" Type="http://schemas.openxmlformats.org/officeDocument/2006/relationships/image" Target="NULL"/><Relationship Id="rId12"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NULL"/><Relationship Id="rId5" Type="http://schemas.openxmlformats.org/officeDocument/2006/relationships/image" Target="NULL"/><Relationship Id="rId15" Type="http://schemas.openxmlformats.org/officeDocument/2006/relationships/hyperlink" Target="https://creativecommons.org/licenses/by-nd/3.0/" TargetMode="External"/><Relationship Id="rId10" Type="http://schemas.openxmlformats.org/officeDocument/2006/relationships/customXml" Target="../ink/ink4.xml"/><Relationship Id="rId9" Type="http://schemas.openxmlformats.org/officeDocument/2006/relationships/image" Target="NULL"/><Relationship Id="rId14" Type="http://schemas.openxmlformats.org/officeDocument/2006/relationships/hyperlink" Target="https://journalistsresource.org/studies/society/public-health/heat-waves-elderly-health-effects/"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6.tif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9.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Lattice_model_(physics)"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hyperlink" Target="https://creativecommons.org/licenses/by-sa/3.0/" TargetMode="External"/><Relationship Id="rId2" Type="http://schemas.openxmlformats.org/officeDocument/2006/relationships/notesSlide" Target="../notesSlides/notesSlide7.xml"/><Relationship Id="rId1" Type="http://schemas.openxmlformats.org/officeDocument/2006/relationships/slideLayout" Target="../slideLayouts/slideLayout19.xml"/><Relationship Id="rId6" Type="http://schemas.openxmlformats.org/officeDocument/2006/relationships/hyperlink" Target="https://en.wikipedia.org/wiki/Structure_of_liquids_and_glasses" TargetMode="External"/><Relationship Id="rId5" Type="http://schemas.openxmlformats.org/officeDocument/2006/relationships/image" Target="../media/image9.png"/><Relationship Id="rId4" Type="http://schemas.openxmlformats.org/officeDocument/2006/relationships/hyperlink" Target="http://chem.libretexts.org/Textbook_Maps/General_Chemistry_Textbook_Maps/Map%3A_Chem1_(Lower)/07%3A_Solids_and_Liquids/7.01%3A_Matter_Under_the_Microscope"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9.xml"/><Relationship Id="rId4" Type="http://schemas.openxmlformats.org/officeDocument/2006/relationships/hyperlink" Target="https://chem.libretexts.org/Textbook_Maps/General_Chemistry_Textbook_Maps/Map%3A_Chemistry%3A_The_Central_Science_(Brown_et_al.)/11%3A_Liquids_and_Intermolecular_Forces/11.1%3A_A_Molecular_Comparison_of_Gases%2C_Liquids%2C_and_Solid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19.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Plasma_globe"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1.xml"/><Relationship Id="rId1" Type="http://schemas.openxmlformats.org/officeDocument/2006/relationships/slideLayout" Target="../slideLayouts/slideLayout19.xml"/><Relationship Id="rId4" Type="http://schemas.openxmlformats.org/officeDocument/2006/relationships/hyperlink" Target="http://learn.e-limu.org/topic/view/?c=236"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notesSlide" Target="../notesSlides/notesSlide12.xml"/><Relationship Id="rId1" Type="http://schemas.openxmlformats.org/officeDocument/2006/relationships/slideLayout" Target="../slideLayouts/slideLayout19.xml"/><Relationship Id="rId5" Type="http://schemas.openxmlformats.org/officeDocument/2006/relationships/hyperlink" Target="https://creativecommons.org/licenses/by-sa/3.0/" TargetMode="External"/><Relationship Id="rId4" Type="http://schemas.openxmlformats.org/officeDocument/2006/relationships/hyperlink" Target="http://tex.stackexchange.com/questions/124144/fill-of-a-thermometer"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hyperlink" Target="https://creativecommons.org/licenses/by-nc/3.0/" TargetMode="External"/><Relationship Id="rId2" Type="http://schemas.openxmlformats.org/officeDocument/2006/relationships/notesSlide" Target="../notesSlides/notesSlide13.xml"/><Relationship Id="rId1" Type="http://schemas.openxmlformats.org/officeDocument/2006/relationships/slideLayout" Target="../slideLayouts/slideLayout19.xml"/><Relationship Id="rId6" Type="http://schemas.openxmlformats.org/officeDocument/2006/relationships/hyperlink" Target="https://www.iphonemod.net/what-is-the-true-tone-display.html" TargetMode="External"/><Relationship Id="rId5" Type="http://schemas.openxmlformats.org/officeDocument/2006/relationships/image" Target="../media/image15.jpeg"/><Relationship Id="rId4" Type="http://schemas.openxmlformats.org/officeDocument/2006/relationships/hyperlink" Target="https://chem.libretexts.org/Courses/Oregon_Institute_of_Technology/OIT%3A_CHE_201_-_General_Chemistry_I_(Anthony_and_Clark)/Unit_7%3A_Ideal_Gas_Behavior/7.1%3A_Temperature_and_Pressure"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hyperlink" Target="https://creativecommons.org/licenses/by-nc/3.0/" TargetMode="External"/><Relationship Id="rId2" Type="http://schemas.openxmlformats.org/officeDocument/2006/relationships/notesSlide" Target="../notesSlides/notesSlide14.xml"/><Relationship Id="rId1" Type="http://schemas.openxmlformats.org/officeDocument/2006/relationships/slideLayout" Target="../slideLayouts/slideLayout19.xml"/><Relationship Id="rId6" Type="http://schemas.openxmlformats.org/officeDocument/2006/relationships/hyperlink" Target="https://www.iphonemod.net/what-is-the-true-tone-display.html" TargetMode="External"/><Relationship Id="rId5" Type="http://schemas.openxmlformats.org/officeDocument/2006/relationships/image" Target="../media/image15.jpeg"/><Relationship Id="rId4" Type="http://schemas.openxmlformats.org/officeDocument/2006/relationships/hyperlink" Target="https://chem.libretexts.org/Courses/Oregon_Institute_of_Technology/OIT%3A_CHE_201_-_General_Chemistry_I_(Anthony_and_Clark)/Unit_7%3A_Ideal_Gas_Behavior/7.1%3A_Temperature_and_Pressure"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9.xml"/><Relationship Id="rId5" Type="http://schemas.openxmlformats.org/officeDocument/2006/relationships/hyperlink" Target="https://creativecommons.org/licenses/by-sa/3.0/" TargetMode="External"/><Relationship Id="rId4" Type="http://schemas.openxmlformats.org/officeDocument/2006/relationships/hyperlink" Target="https://en.wikiversity.org/wiki/Transfer_of_hea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9.xml"/><Relationship Id="rId5" Type="http://schemas.openxmlformats.org/officeDocument/2006/relationships/hyperlink" Target="https://creativecommons.org/licenses/by-sa/3.0/" TargetMode="External"/><Relationship Id="rId4" Type="http://schemas.openxmlformats.org/officeDocument/2006/relationships/hyperlink" Target="https://en.wikipedia.org/wiki/Thermal_equilibrium"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2500" y="5045311"/>
            <a:ext cx="9966960" cy="1560320"/>
          </a:xfrm>
        </p:spPr>
        <p:txBody>
          <a:bodyPr>
            <a:normAutofit/>
          </a:bodyPr>
          <a:lstStyle/>
          <a:p>
            <a:r>
              <a:rPr lang="en-US" sz="4900" b="1" dirty="0">
                <a:solidFill>
                  <a:srgbClr val="002060"/>
                </a:solidFill>
                <a:latin typeface="Arial Rounded MT Bold" panose="020F0704030504030204" pitchFamily="34" charset="77"/>
              </a:rPr>
              <a:t>Heat and Temperature</a:t>
            </a:r>
            <a:br>
              <a:rPr lang="en-US" sz="4900" dirty="0">
                <a:solidFill>
                  <a:srgbClr val="002060"/>
                </a:solidFill>
                <a:latin typeface="Arial Rounded MT Bold" panose="020F0704030504030204" pitchFamily="34" charset="77"/>
              </a:rPr>
            </a:br>
            <a:r>
              <a:rPr lang="en-US" sz="4900" dirty="0">
                <a:solidFill>
                  <a:srgbClr val="00C0B4"/>
                </a:solidFill>
                <a:latin typeface="Arial Rounded MT Bold" panose="020F0704030504030204" pitchFamily="34" charset="77"/>
              </a:rPr>
              <a:t>Year 11 ATAR Physis</a:t>
            </a:r>
          </a:p>
        </p:txBody>
      </p:sp>
      <p:sp>
        <p:nvSpPr>
          <p:cNvPr id="3" name="Subtitle 2"/>
          <p:cNvSpPr>
            <a:spLocks noGrp="1"/>
          </p:cNvSpPr>
          <p:nvPr>
            <p:ph type="subTitle" idx="1"/>
          </p:nvPr>
        </p:nvSpPr>
        <p:spPr>
          <a:xfrm>
            <a:off x="10011747" y="6299068"/>
            <a:ext cx="2180253" cy="440822"/>
          </a:xfrm>
        </p:spPr>
        <p:txBody>
          <a:bodyPr>
            <a:normAutofit/>
          </a:bodyPr>
          <a:lstStyle/>
          <a:p>
            <a:r>
              <a:rPr lang="en-US" sz="2000" dirty="0" err="1">
                <a:latin typeface="Arial Rounded MT Bold" panose="020F0704030504030204" pitchFamily="34" charset="77"/>
              </a:rPr>
              <a:t>Mrs</a:t>
            </a:r>
            <a:r>
              <a:rPr lang="en-US" sz="2000" dirty="0">
                <a:latin typeface="Arial Rounded MT Bold" panose="020F0704030504030204" pitchFamily="34" charset="77"/>
              </a:rPr>
              <a:t> Martin</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6" name="Ink 5">
                <a:extLst>
                  <a:ext uri="{FF2B5EF4-FFF2-40B4-BE49-F238E27FC236}">
                    <a16:creationId xmlns:a16="http://schemas.microsoft.com/office/drawing/2014/main" id="{A94B6F93-12D7-B34C-822F-4C0B22FE395E}"/>
                  </a:ext>
                </a:extLst>
              </p14:cNvPr>
              <p14:cNvContentPartPr/>
              <p14:nvPr/>
            </p14:nvContentPartPr>
            <p14:xfrm>
              <a:off x="10287880" y="3190440"/>
              <a:ext cx="21240" cy="14760"/>
            </p14:xfrm>
          </p:contentPart>
        </mc:Choice>
        <mc:Fallback xmlns="">
          <p:pic>
            <p:nvPicPr>
              <p:cNvPr id="6" name="Ink 5">
                <a:extLst>
                  <a:ext uri="{FF2B5EF4-FFF2-40B4-BE49-F238E27FC236}">
                    <a16:creationId xmlns:a16="http://schemas.microsoft.com/office/drawing/2014/main" id="{A94B6F93-12D7-B34C-822F-4C0B22FE395E}"/>
                  </a:ext>
                </a:extLst>
              </p:cNvPr>
              <p:cNvPicPr/>
              <p:nvPr/>
            </p:nvPicPr>
            <p:blipFill>
              <a:blip r:embed="rId5"/>
              <a:stretch>
                <a:fillRect/>
              </a:stretch>
            </p:blipFill>
            <p:spPr>
              <a:xfrm>
                <a:off x="10269880" y="3082800"/>
                <a:ext cx="56880" cy="2304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6">
            <p14:nvContentPartPr>
              <p14:cNvPr id="7" name="Ink 6">
                <a:extLst>
                  <a:ext uri="{FF2B5EF4-FFF2-40B4-BE49-F238E27FC236}">
                    <a16:creationId xmlns:a16="http://schemas.microsoft.com/office/drawing/2014/main" id="{21A7679E-DFE2-354C-B529-37AEEE617D68}"/>
                  </a:ext>
                </a:extLst>
              </p14:cNvPr>
              <p14:cNvContentPartPr/>
              <p14:nvPr/>
            </p14:nvContentPartPr>
            <p14:xfrm>
              <a:off x="7844920" y="2370360"/>
              <a:ext cx="6120" cy="18000"/>
            </p14:xfrm>
          </p:contentPart>
        </mc:Choice>
        <mc:Fallback xmlns="">
          <p:pic>
            <p:nvPicPr>
              <p:cNvPr id="7" name="Ink 6">
                <a:extLst>
                  <a:ext uri="{FF2B5EF4-FFF2-40B4-BE49-F238E27FC236}">
                    <a16:creationId xmlns:a16="http://schemas.microsoft.com/office/drawing/2014/main" id="{21A7679E-DFE2-354C-B529-37AEEE617D68}"/>
                  </a:ext>
                </a:extLst>
              </p:cNvPr>
              <p:cNvPicPr/>
              <p:nvPr/>
            </p:nvPicPr>
            <p:blipFill>
              <a:blip r:embed="rId7"/>
              <a:stretch>
                <a:fillRect/>
              </a:stretch>
            </p:blipFill>
            <p:spPr>
              <a:xfrm>
                <a:off x="7827280" y="2262720"/>
                <a:ext cx="41760" cy="2336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93686204-4622-D04C-8065-A5D212C57165}"/>
                  </a:ext>
                </a:extLst>
              </p14:cNvPr>
              <p14:cNvContentPartPr/>
              <p14:nvPr/>
            </p14:nvContentPartPr>
            <p14:xfrm>
              <a:off x="8556873" y="3689782"/>
              <a:ext cx="360" cy="360"/>
            </p14:xfrm>
          </p:contentPart>
        </mc:Choice>
        <mc:Fallback xmlns="">
          <p:pic>
            <p:nvPicPr>
              <p:cNvPr id="8" name="Ink 7">
                <a:extLst>
                  <a:ext uri="{FF2B5EF4-FFF2-40B4-BE49-F238E27FC236}">
                    <a16:creationId xmlns:a16="http://schemas.microsoft.com/office/drawing/2014/main" id="{93686204-4622-D04C-8065-A5D212C57165}"/>
                  </a:ext>
                </a:extLst>
              </p:cNvPr>
              <p:cNvPicPr/>
              <p:nvPr/>
            </p:nvPicPr>
            <p:blipFill>
              <a:blip r:embed="rId9"/>
              <a:stretch>
                <a:fillRect/>
              </a:stretch>
            </p:blipFill>
            <p:spPr>
              <a:xfrm>
                <a:off x="8539233" y="3581782"/>
                <a:ext cx="36000" cy="21600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19" name="Ink 18">
                <a:extLst>
                  <a:ext uri="{FF2B5EF4-FFF2-40B4-BE49-F238E27FC236}">
                    <a16:creationId xmlns:a16="http://schemas.microsoft.com/office/drawing/2014/main" id="{C4794CCE-5A08-664D-95B2-585CC29B3676}"/>
                  </a:ext>
                </a:extLst>
              </p14:cNvPr>
              <p14:cNvContentPartPr/>
              <p14:nvPr/>
            </p14:nvContentPartPr>
            <p14:xfrm>
              <a:off x="667113" y="756862"/>
              <a:ext cx="3960" cy="3960"/>
            </p14:xfrm>
          </p:contentPart>
        </mc:Choice>
        <mc:Fallback xmlns="">
          <p:pic>
            <p:nvPicPr>
              <p:cNvPr id="19" name="Ink 18">
                <a:extLst>
                  <a:ext uri="{FF2B5EF4-FFF2-40B4-BE49-F238E27FC236}">
                    <a16:creationId xmlns:a16="http://schemas.microsoft.com/office/drawing/2014/main" id="{C4794CCE-5A08-664D-95B2-585CC29B3676}"/>
                  </a:ext>
                </a:extLst>
              </p:cNvPr>
              <p:cNvPicPr/>
              <p:nvPr/>
            </p:nvPicPr>
            <p:blipFill>
              <a:blip r:embed="rId11"/>
              <a:stretch>
                <a:fillRect/>
              </a:stretch>
            </p:blipFill>
            <p:spPr>
              <a:xfrm>
                <a:off x="649113" y="648862"/>
                <a:ext cx="39600" cy="219600"/>
              </a:xfrm>
              <a:prstGeom prst="rect">
                <a:avLst/>
              </a:prstGeom>
            </p:spPr>
          </p:pic>
        </mc:Fallback>
      </mc:AlternateContent>
      <p:pic>
        <p:nvPicPr>
          <p:cNvPr id="13" name="Picture 12">
            <a:extLst>
              <a:ext uri="{FF2B5EF4-FFF2-40B4-BE49-F238E27FC236}">
                <a16:creationId xmlns:a16="http://schemas.microsoft.com/office/drawing/2014/main" id="{6E045938-6420-7748-B71E-4CB566FAC868}"/>
              </a:ext>
            </a:extLst>
          </p:cNvPr>
          <p:cNvPicPr/>
          <p:nvPr/>
        </p:nvPicPr>
        <p:blipFill>
          <a:blip r:embed="rId12">
            <a:extLst>
              <a:ext uri="{28A0092B-C50C-407E-A947-70E740481C1C}">
                <a14:useLocalDpi xmlns:a14="http://schemas.microsoft.com/office/drawing/2010/main" val="0"/>
              </a:ext>
            </a:extLst>
          </a:blip>
          <a:stretch>
            <a:fillRect/>
          </a:stretch>
        </p:blipFill>
        <p:spPr bwMode="auto">
          <a:xfrm>
            <a:off x="22120" y="0"/>
            <a:ext cx="784874" cy="854703"/>
          </a:xfrm>
          <a:prstGeom prst="rect">
            <a:avLst/>
          </a:prstGeom>
          <a:noFill/>
        </p:spPr>
      </p:pic>
      <p:pic>
        <p:nvPicPr>
          <p:cNvPr id="9" name="Picture 8" descr="A picture containing nature, outdoor, clouds, cloud&#10;&#10;Description automatically generated">
            <a:extLst>
              <a:ext uri="{FF2B5EF4-FFF2-40B4-BE49-F238E27FC236}">
                <a16:creationId xmlns:a16="http://schemas.microsoft.com/office/drawing/2014/main" id="{96102A58-8D3F-C048-9F00-D3F031207279}"/>
              </a:ext>
            </a:extLst>
          </p:cNvPr>
          <p:cNvPicPr>
            <a:picLocks noChangeAspect="1"/>
          </p:cNvPicPr>
          <p:nvPr/>
        </p:nvPicPr>
        <p:blipFill>
          <a:blip r:embed="rId13">
            <a:extLst>
              <a:ext uri="{837473B0-CC2E-450A-ABE3-18F120FF3D39}">
                <a1611:picAttrSrcUrl xmlns:a1611="http://schemas.microsoft.com/office/drawing/2016/11/main" r:id="rId14"/>
              </a:ext>
            </a:extLst>
          </a:blip>
          <a:stretch>
            <a:fillRect/>
          </a:stretch>
        </p:blipFill>
        <p:spPr>
          <a:xfrm>
            <a:off x="2330073" y="78732"/>
            <a:ext cx="7211813" cy="4807875"/>
          </a:xfrm>
          <a:prstGeom prst="rect">
            <a:avLst/>
          </a:prstGeom>
        </p:spPr>
      </p:pic>
      <p:sp>
        <p:nvSpPr>
          <p:cNvPr id="10" name="TextBox 9">
            <a:extLst>
              <a:ext uri="{FF2B5EF4-FFF2-40B4-BE49-F238E27FC236}">
                <a16:creationId xmlns:a16="http://schemas.microsoft.com/office/drawing/2014/main" id="{272469C3-D2D1-1844-ABBF-04F7E7ED03A1}"/>
              </a:ext>
            </a:extLst>
          </p:cNvPr>
          <p:cNvSpPr txBox="1"/>
          <p:nvPr/>
        </p:nvSpPr>
        <p:spPr>
          <a:xfrm>
            <a:off x="952500" y="6858000"/>
            <a:ext cx="10287000" cy="230832"/>
          </a:xfrm>
          <a:prstGeom prst="rect">
            <a:avLst/>
          </a:prstGeom>
          <a:noFill/>
        </p:spPr>
        <p:txBody>
          <a:bodyPr wrap="square" rtlCol="0">
            <a:spAutoFit/>
          </a:bodyPr>
          <a:lstStyle/>
          <a:p>
            <a:r>
              <a:rPr lang="en-US" sz="900">
                <a:hlinkClick r:id="rId14" tooltip="https://journalistsresource.org/studies/society/public-health/heat-waves-elderly-health-effects/"/>
              </a:rPr>
              <a:t>This Photo</a:t>
            </a:r>
            <a:r>
              <a:rPr lang="en-US" sz="900"/>
              <a:t> by Unknown Author is licensed under </a:t>
            </a:r>
            <a:r>
              <a:rPr lang="en-US" sz="900">
                <a:hlinkClick r:id="rId15" tooltip="https://creativecommons.org/licenses/by-nd/3.0/"/>
              </a:rPr>
              <a:t>CC BY-ND</a:t>
            </a:r>
            <a:endParaRPr lang="en-US" sz="900"/>
          </a:p>
        </p:txBody>
      </p:sp>
    </p:spTree>
    <p:extLst>
      <p:ext uri="{BB962C8B-B14F-4D97-AF65-F5344CB8AC3E}">
        <p14:creationId xmlns:p14="http://schemas.microsoft.com/office/powerpoint/2010/main" val="1309322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85B305C-721E-D540-958F-34E98D3603DF}"/>
              </a:ext>
            </a:extLst>
          </p:cNvPr>
          <p:cNvGrpSpPr/>
          <p:nvPr/>
        </p:nvGrpSpPr>
        <p:grpSpPr>
          <a:xfrm>
            <a:off x="593407" y="2346656"/>
            <a:ext cx="2211388" cy="605005"/>
            <a:chOff x="3657599" y="1716154"/>
            <a:chExt cx="2211388" cy="694270"/>
          </a:xfrm>
        </p:grpSpPr>
        <p:sp>
          <p:nvSpPr>
            <p:cNvPr id="9" name="TextBox 8">
              <a:extLst>
                <a:ext uri="{FF2B5EF4-FFF2-40B4-BE49-F238E27FC236}">
                  <a16:creationId xmlns:a16="http://schemas.microsoft.com/office/drawing/2014/main" id="{8F7B6625-5791-8643-8992-71BEC6CEB22B}"/>
                </a:ext>
              </a:extLst>
            </p:cNvPr>
            <p:cNvSpPr txBox="1"/>
            <p:nvPr/>
          </p:nvSpPr>
          <p:spPr>
            <a:xfrm>
              <a:off x="3657600" y="2074896"/>
              <a:ext cx="2203768" cy="335528"/>
            </a:xfrm>
            <a:prstGeom prst="rect">
              <a:avLst/>
            </a:prstGeom>
            <a:solidFill>
              <a:schemeClr val="bg1"/>
            </a:solidFill>
            <a:ln>
              <a:solidFill>
                <a:srgbClr val="47998B"/>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0" name="TextBox 9">
              <a:extLst>
                <a:ext uri="{FF2B5EF4-FFF2-40B4-BE49-F238E27FC236}">
                  <a16:creationId xmlns:a16="http://schemas.microsoft.com/office/drawing/2014/main" id="{518C4B6F-2ADF-714C-852E-3DD14E0A4876}"/>
                </a:ext>
              </a:extLst>
            </p:cNvPr>
            <p:cNvSpPr txBox="1">
              <a:spLocks noChangeAspect="1"/>
            </p:cNvSpPr>
            <p:nvPr/>
          </p:nvSpPr>
          <p:spPr>
            <a:xfrm>
              <a:off x="3657599" y="1716154"/>
              <a:ext cx="2211388" cy="358742"/>
            </a:xfrm>
            <a:prstGeom prst="rect">
              <a:avLst/>
            </a:prstGeom>
            <a:solidFill>
              <a:srgbClr val="47998B"/>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Make the Connection</a:t>
              </a:r>
            </a:p>
          </p:txBody>
        </p:sp>
      </p:grpSp>
      <p:sp>
        <p:nvSpPr>
          <p:cNvPr id="11" name="TextBox 10">
            <a:extLst>
              <a:ext uri="{FF2B5EF4-FFF2-40B4-BE49-F238E27FC236}">
                <a16:creationId xmlns:a16="http://schemas.microsoft.com/office/drawing/2014/main" id="{67837EBD-D92A-9640-8767-A02D08251712}"/>
              </a:ext>
            </a:extLst>
          </p:cNvPr>
          <p:cNvSpPr txBox="1"/>
          <p:nvPr/>
        </p:nvSpPr>
        <p:spPr>
          <a:xfrm>
            <a:off x="495300" y="406400"/>
            <a:ext cx="10947400" cy="1485900"/>
          </a:xfrm>
          <a:prstGeom prst="rect">
            <a:avLst/>
          </a:prstGeom>
          <a:noFill/>
          <a:ln>
            <a:noFill/>
          </a:ln>
        </p:spPr>
        <p:txBody>
          <a:bodyPr wrap="square" rtlCol="0" anchor="t" anchorCtr="0">
            <a:normAutofit fontScale="40000" lnSpcReduction="20000"/>
          </a:bodyPr>
          <a:lstStyle/>
          <a:p>
            <a:pPr algn="l"/>
            <a:r>
              <a:rPr lang="en-US" sz="5400" b="1" dirty="0">
                <a:latin typeface="Century Gothic" panose="020B0502020202020204" pitchFamily="34" charset="0"/>
                <a:cs typeface="Futura Medium" panose="020B0602020204020303" pitchFamily="34" charset="-79"/>
              </a:rPr>
              <a:t>Do not delete this slide. It is hidden from your show. You can use it to copy and paste the relevant prompt boxes into your presentation. Click once on the white space to select it for copying. Once it is in your presentation you can double click on the white space to add text. The box will automatically resize to fit your text. The next slide is also hidden and included as an example only. </a:t>
            </a:r>
          </a:p>
        </p:txBody>
      </p:sp>
      <p:grpSp>
        <p:nvGrpSpPr>
          <p:cNvPr id="12" name="Group 11">
            <a:extLst>
              <a:ext uri="{FF2B5EF4-FFF2-40B4-BE49-F238E27FC236}">
                <a16:creationId xmlns:a16="http://schemas.microsoft.com/office/drawing/2014/main" id="{5960F400-1297-8E49-9260-D87603A503E3}"/>
              </a:ext>
            </a:extLst>
          </p:cNvPr>
          <p:cNvGrpSpPr/>
          <p:nvPr/>
        </p:nvGrpSpPr>
        <p:grpSpPr>
          <a:xfrm>
            <a:off x="4797011" y="2349076"/>
            <a:ext cx="2211388" cy="605005"/>
            <a:chOff x="3657599" y="1716154"/>
            <a:chExt cx="2211388" cy="694270"/>
          </a:xfrm>
        </p:grpSpPr>
        <p:sp>
          <p:nvSpPr>
            <p:cNvPr id="13" name="TextBox 12">
              <a:extLst>
                <a:ext uri="{FF2B5EF4-FFF2-40B4-BE49-F238E27FC236}">
                  <a16:creationId xmlns:a16="http://schemas.microsoft.com/office/drawing/2014/main" id="{82CD9D59-27CE-8B4E-85F3-97F69473A375}"/>
                </a:ext>
              </a:extLst>
            </p:cNvPr>
            <p:cNvSpPr txBox="1"/>
            <p:nvPr/>
          </p:nvSpPr>
          <p:spPr>
            <a:xfrm>
              <a:off x="3657600" y="2074896"/>
              <a:ext cx="2203768" cy="335528"/>
            </a:xfrm>
            <a:prstGeom prst="rect">
              <a:avLst/>
            </a:prstGeom>
            <a:solidFill>
              <a:schemeClr val="bg1"/>
            </a:solidFill>
            <a:ln>
              <a:solidFill>
                <a:schemeClr val="accent2">
                  <a:lumMod val="75000"/>
                </a:schemeClr>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4" name="TextBox 13">
              <a:extLst>
                <a:ext uri="{FF2B5EF4-FFF2-40B4-BE49-F238E27FC236}">
                  <a16:creationId xmlns:a16="http://schemas.microsoft.com/office/drawing/2014/main" id="{8AE73B4E-F932-614B-B827-C797847927A0}"/>
                </a:ext>
              </a:extLst>
            </p:cNvPr>
            <p:cNvSpPr txBox="1">
              <a:spLocks noChangeAspect="1"/>
            </p:cNvSpPr>
            <p:nvPr/>
          </p:nvSpPr>
          <p:spPr>
            <a:xfrm>
              <a:off x="3657599" y="1716154"/>
              <a:ext cx="2211388" cy="358742"/>
            </a:xfrm>
            <a:prstGeom prst="rect">
              <a:avLst/>
            </a:prstGeom>
            <a:solidFill>
              <a:schemeClr val="accent2">
                <a:lumMod val="75000"/>
              </a:schemeClr>
            </a:solidFill>
            <a:ln>
              <a:noFill/>
            </a:ln>
          </p:spPr>
          <p:txBody>
            <a:bodyPr wrap="square" rtlCol="0" anchor="ctr" anchorCtr="0">
              <a:normAutofit fontScale="92500"/>
            </a:bodyPr>
            <a:lstStyle/>
            <a:p>
              <a:pPr algn="l"/>
              <a:r>
                <a:rPr lang="en-US" sz="1400" b="1" dirty="0">
                  <a:solidFill>
                    <a:schemeClr val="bg1">
                      <a:lumMod val="95000"/>
                    </a:schemeClr>
                  </a:solidFill>
                  <a:latin typeface="Century Gothic" panose="020B0502020202020204" pitchFamily="34" charset="0"/>
                  <a:cs typeface="Futura Medium" panose="020B0602020204020303" pitchFamily="34" charset="-79"/>
                </a:rPr>
                <a:t>Check for Understanding</a:t>
              </a:r>
            </a:p>
          </p:txBody>
        </p:sp>
      </p:grpSp>
      <p:grpSp>
        <p:nvGrpSpPr>
          <p:cNvPr id="15" name="Group 14">
            <a:extLst>
              <a:ext uri="{FF2B5EF4-FFF2-40B4-BE49-F238E27FC236}">
                <a16:creationId xmlns:a16="http://schemas.microsoft.com/office/drawing/2014/main" id="{86336AAC-74E7-784C-910D-0D020AD51C7A}"/>
              </a:ext>
            </a:extLst>
          </p:cNvPr>
          <p:cNvGrpSpPr/>
          <p:nvPr/>
        </p:nvGrpSpPr>
        <p:grpSpPr>
          <a:xfrm>
            <a:off x="9008234" y="2349076"/>
            <a:ext cx="2211388" cy="605005"/>
            <a:chOff x="3657599" y="1716154"/>
            <a:chExt cx="2211388" cy="694270"/>
          </a:xfrm>
        </p:grpSpPr>
        <p:sp>
          <p:nvSpPr>
            <p:cNvPr id="16" name="TextBox 15">
              <a:extLst>
                <a:ext uri="{FF2B5EF4-FFF2-40B4-BE49-F238E27FC236}">
                  <a16:creationId xmlns:a16="http://schemas.microsoft.com/office/drawing/2014/main" id="{70F7ABA7-C143-7C46-86CA-6296F7A16DF4}"/>
                </a:ext>
              </a:extLst>
            </p:cNvPr>
            <p:cNvSpPr txBox="1"/>
            <p:nvPr/>
          </p:nvSpPr>
          <p:spPr>
            <a:xfrm>
              <a:off x="3657600" y="2074896"/>
              <a:ext cx="2203768" cy="335528"/>
            </a:xfrm>
            <a:prstGeom prst="rect">
              <a:avLst/>
            </a:prstGeom>
            <a:solidFill>
              <a:schemeClr val="bg1"/>
            </a:solidFill>
            <a:ln>
              <a:solidFill>
                <a:srgbClr val="7030A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17" name="TextBox 16">
              <a:extLst>
                <a:ext uri="{FF2B5EF4-FFF2-40B4-BE49-F238E27FC236}">
                  <a16:creationId xmlns:a16="http://schemas.microsoft.com/office/drawing/2014/main" id="{46F0C466-8205-3740-90E8-EA5BEAF964E1}"/>
                </a:ext>
              </a:extLst>
            </p:cNvPr>
            <p:cNvSpPr txBox="1">
              <a:spLocks noChangeAspect="1"/>
            </p:cNvSpPr>
            <p:nvPr/>
          </p:nvSpPr>
          <p:spPr>
            <a:xfrm>
              <a:off x="3657599" y="1716154"/>
              <a:ext cx="2211388" cy="358742"/>
            </a:xfrm>
            <a:prstGeom prst="rect">
              <a:avLst/>
            </a:prstGeom>
            <a:solidFill>
              <a:srgbClr val="7030A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Teacher Cue</a:t>
              </a:r>
            </a:p>
          </p:txBody>
        </p:sp>
      </p:grpSp>
      <p:grpSp>
        <p:nvGrpSpPr>
          <p:cNvPr id="18" name="Group 17">
            <a:extLst>
              <a:ext uri="{FF2B5EF4-FFF2-40B4-BE49-F238E27FC236}">
                <a16:creationId xmlns:a16="http://schemas.microsoft.com/office/drawing/2014/main" id="{5D76B007-0E44-6A4D-9F32-5BCC1A853A63}"/>
              </a:ext>
            </a:extLst>
          </p:cNvPr>
          <p:cNvGrpSpPr/>
          <p:nvPr/>
        </p:nvGrpSpPr>
        <p:grpSpPr>
          <a:xfrm>
            <a:off x="585788" y="4330276"/>
            <a:ext cx="2211388" cy="605005"/>
            <a:chOff x="3657599" y="1716154"/>
            <a:chExt cx="2211388" cy="694270"/>
          </a:xfrm>
        </p:grpSpPr>
        <p:sp>
          <p:nvSpPr>
            <p:cNvPr id="19" name="TextBox 18">
              <a:extLst>
                <a:ext uri="{FF2B5EF4-FFF2-40B4-BE49-F238E27FC236}">
                  <a16:creationId xmlns:a16="http://schemas.microsoft.com/office/drawing/2014/main" id="{82864B2E-AA68-634B-9CDD-F8704C7476A6}"/>
                </a:ext>
              </a:extLst>
            </p:cNvPr>
            <p:cNvSpPr txBox="1"/>
            <p:nvPr/>
          </p:nvSpPr>
          <p:spPr>
            <a:xfrm>
              <a:off x="3657600" y="2074896"/>
              <a:ext cx="2203768" cy="335528"/>
            </a:xfrm>
            <a:prstGeom prst="rect">
              <a:avLst/>
            </a:prstGeom>
            <a:solidFill>
              <a:schemeClr val="bg1"/>
            </a:solidFill>
            <a:ln>
              <a:solidFill>
                <a:srgbClr val="A14986"/>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0" name="TextBox 19">
              <a:extLst>
                <a:ext uri="{FF2B5EF4-FFF2-40B4-BE49-F238E27FC236}">
                  <a16:creationId xmlns:a16="http://schemas.microsoft.com/office/drawing/2014/main" id="{5F8DCD99-8091-1141-9BDD-119B197F1ABD}"/>
                </a:ext>
              </a:extLst>
            </p:cNvPr>
            <p:cNvSpPr txBox="1">
              <a:spLocks noChangeAspect="1"/>
            </p:cNvSpPr>
            <p:nvPr/>
          </p:nvSpPr>
          <p:spPr>
            <a:xfrm>
              <a:off x="3657599" y="1716154"/>
              <a:ext cx="2211388" cy="358742"/>
            </a:xfrm>
            <a:prstGeom prst="rect">
              <a:avLst/>
            </a:prstGeom>
            <a:solidFill>
              <a:srgbClr val="A14986"/>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Vocabulary</a:t>
              </a:r>
            </a:p>
          </p:txBody>
        </p:sp>
      </p:grpSp>
      <p:grpSp>
        <p:nvGrpSpPr>
          <p:cNvPr id="21" name="Group 20">
            <a:extLst>
              <a:ext uri="{FF2B5EF4-FFF2-40B4-BE49-F238E27FC236}">
                <a16:creationId xmlns:a16="http://schemas.microsoft.com/office/drawing/2014/main" id="{B7EC573C-DF9B-4149-B93E-C84A68B91219}"/>
              </a:ext>
            </a:extLst>
          </p:cNvPr>
          <p:cNvGrpSpPr/>
          <p:nvPr/>
        </p:nvGrpSpPr>
        <p:grpSpPr>
          <a:xfrm>
            <a:off x="4789392" y="4330276"/>
            <a:ext cx="2211388" cy="605005"/>
            <a:chOff x="3657599" y="1716154"/>
            <a:chExt cx="2211388" cy="694270"/>
          </a:xfrm>
        </p:grpSpPr>
        <p:sp>
          <p:nvSpPr>
            <p:cNvPr id="22" name="TextBox 21">
              <a:extLst>
                <a:ext uri="{FF2B5EF4-FFF2-40B4-BE49-F238E27FC236}">
                  <a16:creationId xmlns:a16="http://schemas.microsoft.com/office/drawing/2014/main" id="{AAA8DC77-61C2-1646-844D-7C8801AE2FE1}"/>
                </a:ext>
              </a:extLst>
            </p:cNvPr>
            <p:cNvSpPr txBox="1"/>
            <p:nvPr/>
          </p:nvSpPr>
          <p:spPr>
            <a:xfrm>
              <a:off x="3657600" y="2074896"/>
              <a:ext cx="2203768" cy="335528"/>
            </a:xfrm>
            <a:prstGeom prst="rect">
              <a:avLst/>
            </a:prstGeom>
            <a:solidFill>
              <a:schemeClr val="bg1"/>
            </a:solidFill>
            <a:ln>
              <a:solidFill>
                <a:srgbClr val="002060"/>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3" name="TextBox 22">
              <a:extLst>
                <a:ext uri="{FF2B5EF4-FFF2-40B4-BE49-F238E27FC236}">
                  <a16:creationId xmlns:a16="http://schemas.microsoft.com/office/drawing/2014/main" id="{EF98E954-83A2-F349-B2E8-A0C0B298A610}"/>
                </a:ext>
              </a:extLst>
            </p:cNvPr>
            <p:cNvSpPr txBox="1">
              <a:spLocks noChangeAspect="1"/>
            </p:cNvSpPr>
            <p:nvPr/>
          </p:nvSpPr>
          <p:spPr>
            <a:xfrm>
              <a:off x="3657599" y="1716154"/>
              <a:ext cx="2211388" cy="358742"/>
            </a:xfrm>
            <a:prstGeom prst="rect">
              <a:avLst/>
            </a:prstGeom>
            <a:solidFill>
              <a:srgbClr val="002060"/>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Extension</a:t>
              </a:r>
            </a:p>
          </p:txBody>
        </p:sp>
      </p:grpSp>
      <p:grpSp>
        <p:nvGrpSpPr>
          <p:cNvPr id="24" name="Group 23">
            <a:extLst>
              <a:ext uri="{FF2B5EF4-FFF2-40B4-BE49-F238E27FC236}">
                <a16:creationId xmlns:a16="http://schemas.microsoft.com/office/drawing/2014/main" id="{EEEB6BC9-DA5D-AD4F-8B19-1DB2CA0B88F0}"/>
              </a:ext>
            </a:extLst>
          </p:cNvPr>
          <p:cNvGrpSpPr/>
          <p:nvPr/>
        </p:nvGrpSpPr>
        <p:grpSpPr>
          <a:xfrm>
            <a:off x="9008234" y="4330276"/>
            <a:ext cx="2211388" cy="605005"/>
            <a:chOff x="3657599" y="1716154"/>
            <a:chExt cx="2211388" cy="694270"/>
          </a:xfrm>
        </p:grpSpPr>
        <p:sp>
          <p:nvSpPr>
            <p:cNvPr id="25" name="TextBox 24">
              <a:extLst>
                <a:ext uri="{FF2B5EF4-FFF2-40B4-BE49-F238E27FC236}">
                  <a16:creationId xmlns:a16="http://schemas.microsoft.com/office/drawing/2014/main" id="{35D64311-E8B8-8147-BC7E-A096BAE76B31}"/>
                </a:ext>
              </a:extLst>
            </p:cNvPr>
            <p:cNvSpPr txBox="1"/>
            <p:nvPr/>
          </p:nvSpPr>
          <p:spPr>
            <a:xfrm>
              <a:off x="3657600" y="2074896"/>
              <a:ext cx="2203768" cy="335528"/>
            </a:xfrm>
            <a:prstGeom prst="rect">
              <a:avLst/>
            </a:prstGeom>
            <a:solidFill>
              <a:schemeClr val="bg1"/>
            </a:solidFill>
            <a:ln>
              <a:solidFill>
                <a:srgbClr val="82202A"/>
              </a:solidFill>
            </a:ln>
          </p:spPr>
          <p:txBody>
            <a:bodyPr wrap="square" rtlCol="0" anchor="t" anchorCtr="0">
              <a:spAutoFit/>
            </a:bodyPr>
            <a:lstStyle/>
            <a:p>
              <a:pPr algn="l"/>
              <a:endParaRPr lang="en-US" sz="1300" b="1" dirty="0">
                <a:latin typeface="Century Gothic" panose="020B0502020202020204" pitchFamily="34" charset="0"/>
                <a:cs typeface="Futura Medium" panose="020B0602020204020303" pitchFamily="34" charset="-79"/>
              </a:endParaRPr>
            </a:p>
          </p:txBody>
        </p:sp>
        <p:sp>
          <p:nvSpPr>
            <p:cNvPr id="26" name="TextBox 25">
              <a:extLst>
                <a:ext uri="{FF2B5EF4-FFF2-40B4-BE49-F238E27FC236}">
                  <a16:creationId xmlns:a16="http://schemas.microsoft.com/office/drawing/2014/main" id="{59404963-6AA4-0D4E-B429-287F2358D66E}"/>
                </a:ext>
              </a:extLst>
            </p:cNvPr>
            <p:cNvSpPr txBox="1">
              <a:spLocks noChangeAspect="1"/>
            </p:cNvSpPr>
            <p:nvPr/>
          </p:nvSpPr>
          <p:spPr>
            <a:xfrm>
              <a:off x="3657599" y="1716154"/>
              <a:ext cx="2211388" cy="358742"/>
            </a:xfrm>
            <a:prstGeom prst="rect">
              <a:avLst/>
            </a:prstGeom>
            <a:solidFill>
              <a:srgbClr val="82202A"/>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Hints</a:t>
              </a:r>
            </a:p>
          </p:txBody>
        </p:sp>
      </p:grpSp>
      <p:pic>
        <p:nvPicPr>
          <p:cNvPr id="27" name="Picture 26">
            <a:extLst>
              <a:ext uri="{FF2B5EF4-FFF2-40B4-BE49-F238E27FC236}">
                <a16:creationId xmlns:a16="http://schemas.microsoft.com/office/drawing/2014/main" id="{6441AD50-A0E6-A849-812F-45DF6E9198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407" y="5247898"/>
            <a:ext cx="1915320" cy="1467184"/>
          </a:xfrm>
          <a:prstGeom prst="rect">
            <a:avLst/>
          </a:prstGeom>
        </p:spPr>
      </p:pic>
      <p:pic>
        <p:nvPicPr>
          <p:cNvPr id="28" name="Picture 27">
            <a:extLst>
              <a:ext uri="{FF2B5EF4-FFF2-40B4-BE49-F238E27FC236}">
                <a16:creationId xmlns:a16="http://schemas.microsoft.com/office/drawing/2014/main" id="{4EB402F8-97D8-EA40-97D9-5FEC38AF51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0166" y="5392057"/>
            <a:ext cx="2082391" cy="1487422"/>
          </a:xfrm>
          <a:prstGeom prst="rect">
            <a:avLst/>
          </a:prstGeom>
        </p:spPr>
      </p:pic>
      <p:pic>
        <p:nvPicPr>
          <p:cNvPr id="29" name="Picture 28">
            <a:extLst>
              <a:ext uri="{FF2B5EF4-FFF2-40B4-BE49-F238E27FC236}">
                <a16:creationId xmlns:a16="http://schemas.microsoft.com/office/drawing/2014/main" id="{4E3BD12B-95B6-0949-A450-7946445582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5981490"/>
            <a:ext cx="2402928" cy="800976"/>
          </a:xfrm>
          <a:prstGeom prst="rect">
            <a:avLst/>
          </a:prstGeom>
        </p:spPr>
      </p:pic>
    </p:spTree>
    <p:extLst>
      <p:ext uri="{BB962C8B-B14F-4D97-AF65-F5344CB8AC3E}">
        <p14:creationId xmlns:p14="http://schemas.microsoft.com/office/powerpoint/2010/main" val="2326553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DE87B8-8289-4137-BF3B-1446ED36D38E}"/>
              </a:ext>
            </a:extLst>
          </p:cNvPr>
          <p:cNvSpPr>
            <a:spLocks noGrp="1"/>
          </p:cNvSpPr>
          <p:nvPr>
            <p:ph type="body" sz="quarter" idx="12"/>
          </p:nvPr>
        </p:nvSpPr>
        <p:spPr/>
        <p:txBody>
          <a:bodyPr/>
          <a:lstStyle/>
          <a:p>
            <a:endParaRPr lang="en-AU"/>
          </a:p>
        </p:txBody>
      </p:sp>
      <p:sp>
        <p:nvSpPr>
          <p:cNvPr id="3" name="Text Placeholder 2">
            <a:extLst>
              <a:ext uri="{FF2B5EF4-FFF2-40B4-BE49-F238E27FC236}">
                <a16:creationId xmlns:a16="http://schemas.microsoft.com/office/drawing/2014/main" id="{4EE8A5C5-06B4-491C-B333-A44BE5D2BBBA}"/>
              </a:ext>
            </a:extLst>
          </p:cNvPr>
          <p:cNvSpPr>
            <a:spLocks noGrp="1"/>
          </p:cNvSpPr>
          <p:nvPr>
            <p:ph type="body" sz="quarter" idx="15"/>
          </p:nvPr>
        </p:nvSpPr>
        <p:spPr/>
        <p:txBody>
          <a:bodyPr/>
          <a:lstStyle/>
          <a:p>
            <a:endParaRPr lang="en-AU" dirty="0"/>
          </a:p>
        </p:txBody>
      </p:sp>
    </p:spTree>
    <p:extLst>
      <p:ext uri="{BB962C8B-B14F-4D97-AF65-F5344CB8AC3E}">
        <p14:creationId xmlns:p14="http://schemas.microsoft.com/office/powerpoint/2010/main" val="673878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1EA6F53F-6E66-4178-8160-8E5F7C27204F}"/>
              </a:ext>
            </a:extLst>
          </p:cNvPr>
          <p:cNvSpPr>
            <a:spLocks noGrp="1"/>
          </p:cNvSpPr>
          <p:nvPr>
            <p:ph type="body" sz="quarter" idx="13"/>
          </p:nvPr>
        </p:nvSpPr>
        <p:spPr/>
        <p:txBody>
          <a:bodyPr>
            <a:normAutofit lnSpcReduction="10000"/>
          </a:bodyPr>
          <a:lstStyle/>
          <a:p>
            <a:r>
              <a:rPr lang="en-AU" sz="3200" dirty="0"/>
              <a:t>What is sound?</a:t>
            </a:r>
          </a:p>
        </p:txBody>
      </p:sp>
      <p:sp>
        <p:nvSpPr>
          <p:cNvPr id="7" name="Text Placeholder 6">
            <a:extLst>
              <a:ext uri="{FF2B5EF4-FFF2-40B4-BE49-F238E27FC236}">
                <a16:creationId xmlns:a16="http://schemas.microsoft.com/office/drawing/2014/main" id="{F9EC9E68-70DD-41C3-9724-3B3A0F5C2C5D}"/>
              </a:ext>
            </a:extLst>
          </p:cNvPr>
          <p:cNvSpPr>
            <a:spLocks noGrp="1"/>
          </p:cNvSpPr>
          <p:nvPr>
            <p:ph type="body" sz="quarter" idx="15"/>
          </p:nvPr>
        </p:nvSpPr>
        <p:spPr>
          <a:xfrm>
            <a:off x="256033" y="1973712"/>
            <a:ext cx="11506476" cy="5119420"/>
          </a:xfrm>
        </p:spPr>
        <p:txBody>
          <a:bodyPr/>
          <a:lstStyle/>
          <a:p>
            <a:endParaRPr lang="en-AU" dirty="0"/>
          </a:p>
          <a:p>
            <a:endParaRPr lang="en-AU" dirty="0"/>
          </a:p>
        </p:txBody>
      </p:sp>
      <p:pic>
        <p:nvPicPr>
          <p:cNvPr id="5" name="Picture 4">
            <a:extLst>
              <a:ext uri="{FF2B5EF4-FFF2-40B4-BE49-F238E27FC236}">
                <a16:creationId xmlns:a16="http://schemas.microsoft.com/office/drawing/2014/main" id="{4D566270-F81B-F94A-88CB-1B95C1EF5BE3}"/>
              </a:ext>
            </a:extLst>
          </p:cNvPr>
          <p:cNvPicPr>
            <a:picLocks noChangeAspect="1"/>
          </p:cNvPicPr>
          <p:nvPr/>
        </p:nvPicPr>
        <p:blipFill>
          <a:blip r:embed="rId3"/>
          <a:stretch>
            <a:fillRect/>
          </a:stretch>
        </p:blipFill>
        <p:spPr>
          <a:xfrm>
            <a:off x="3778069" y="404917"/>
            <a:ext cx="1238069" cy="1238069"/>
          </a:xfrm>
          <a:prstGeom prst="rect">
            <a:avLst/>
          </a:prstGeom>
        </p:spPr>
      </p:pic>
    </p:spTree>
    <p:extLst>
      <p:ext uri="{BB962C8B-B14F-4D97-AF65-F5344CB8AC3E}">
        <p14:creationId xmlns:p14="http://schemas.microsoft.com/office/powerpoint/2010/main" val="13460443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3F1E6A3-0F23-4AEC-B3A7-70A090C01917}"/>
              </a:ext>
            </a:extLst>
          </p:cNvPr>
          <p:cNvSpPr>
            <a:spLocks noGrp="1"/>
          </p:cNvSpPr>
          <p:nvPr>
            <p:ph type="body" sz="quarter" idx="13"/>
          </p:nvPr>
        </p:nvSpPr>
        <p:spPr/>
        <p:txBody>
          <a:bodyPr/>
          <a:lstStyle/>
          <a:p>
            <a:r>
              <a:rPr lang="en-AU" dirty="0"/>
              <a:t>What is sound?</a:t>
            </a:r>
          </a:p>
        </p:txBody>
      </p:sp>
      <p:pic>
        <p:nvPicPr>
          <p:cNvPr id="6" name="Picture 5">
            <a:extLst>
              <a:ext uri="{FF2B5EF4-FFF2-40B4-BE49-F238E27FC236}">
                <a16:creationId xmlns:a16="http://schemas.microsoft.com/office/drawing/2014/main" id="{C9188615-6385-9149-9FF5-8438466921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8301" y="262082"/>
            <a:ext cx="1799642" cy="1285459"/>
          </a:xfrm>
          <a:prstGeom prst="rect">
            <a:avLst/>
          </a:prstGeom>
        </p:spPr>
      </p:pic>
      <p:sp>
        <p:nvSpPr>
          <p:cNvPr id="10" name="TextBox 9">
            <a:extLst>
              <a:ext uri="{FF2B5EF4-FFF2-40B4-BE49-F238E27FC236}">
                <a16:creationId xmlns:a16="http://schemas.microsoft.com/office/drawing/2014/main" id="{E3632DBD-067A-1F4E-ADD4-6E2C21311D02}"/>
              </a:ext>
            </a:extLst>
          </p:cNvPr>
          <p:cNvSpPr txBox="1"/>
          <p:nvPr/>
        </p:nvSpPr>
        <p:spPr>
          <a:xfrm>
            <a:off x="10126980" y="1241756"/>
            <a:ext cx="2010440" cy="307777"/>
          </a:xfrm>
          <a:prstGeom prst="rect">
            <a:avLst/>
          </a:prstGeom>
          <a:solidFill>
            <a:schemeClr val="bg1"/>
          </a:solidFill>
          <a:ln>
            <a:solidFill>
              <a:schemeClr val="accent2">
                <a:lumMod val="75000"/>
              </a:schemeClr>
            </a:solidFill>
          </a:ln>
        </p:spPr>
        <p:txBody>
          <a:bodyPr wrap="square" rtlCol="0" anchor="t" anchorCtr="0">
            <a:spAutoFit/>
          </a:bodyPr>
          <a:lstStyle/>
          <a:p>
            <a:endParaRPr lang="en-AU" sz="1400" dirty="0"/>
          </a:p>
        </p:txBody>
      </p:sp>
      <p:sp>
        <p:nvSpPr>
          <p:cNvPr id="11" name="TextBox 10">
            <a:extLst>
              <a:ext uri="{FF2B5EF4-FFF2-40B4-BE49-F238E27FC236}">
                <a16:creationId xmlns:a16="http://schemas.microsoft.com/office/drawing/2014/main" id="{14F06750-7959-0E40-94BA-823CC7D3EDEA}"/>
              </a:ext>
            </a:extLst>
          </p:cNvPr>
          <p:cNvSpPr txBox="1"/>
          <p:nvPr/>
        </p:nvSpPr>
        <p:spPr>
          <a:xfrm>
            <a:off x="10126980" y="896562"/>
            <a:ext cx="2010440" cy="340519"/>
          </a:xfrm>
          <a:prstGeom prst="roundRect">
            <a:avLst/>
          </a:prstGeom>
          <a:solidFill>
            <a:srgbClr val="1891AC"/>
          </a:solidFill>
          <a:ln w="38100">
            <a:solidFill>
              <a:srgbClr val="1891AC"/>
            </a:solidFill>
            <a:round/>
          </a:ln>
        </p:spPr>
        <p:txBody>
          <a:bodyPr wrap="square" rtlCol="0">
            <a:spAutoFit/>
          </a:bodyPr>
          <a:lstStyle/>
          <a:p>
            <a:pPr algn="ctr"/>
            <a:r>
              <a:rPr lang="en-AU" sz="1400" dirty="0">
                <a:solidFill>
                  <a:schemeClr val="bg1"/>
                </a:solidFill>
                <a:latin typeface="Arial Rounded MT Bold" panose="020F0704030504030204" pitchFamily="34" charset="0"/>
              </a:rPr>
              <a:t>CFU</a:t>
            </a:r>
            <a:endParaRPr lang="en-AU" sz="1400" dirty="0">
              <a:solidFill>
                <a:schemeClr val="bg1"/>
              </a:solidFill>
              <a:latin typeface="Verdana" panose="020B0604030504040204" pitchFamily="34" charset="0"/>
              <a:ea typeface="Verdana" panose="020B0604030504040204" pitchFamily="34" charset="0"/>
            </a:endParaRPr>
          </a:p>
        </p:txBody>
      </p:sp>
      <p:sp>
        <p:nvSpPr>
          <p:cNvPr id="7" name="Text Placeholder 6">
            <a:extLst>
              <a:ext uri="{FF2B5EF4-FFF2-40B4-BE49-F238E27FC236}">
                <a16:creationId xmlns:a16="http://schemas.microsoft.com/office/drawing/2014/main" id="{5D04F4BA-02BE-3643-80C1-07F8BAF49882}"/>
              </a:ext>
            </a:extLst>
          </p:cNvPr>
          <p:cNvSpPr>
            <a:spLocks noGrp="1"/>
          </p:cNvSpPr>
          <p:nvPr>
            <p:ph type="body" sz="quarter" idx="15"/>
          </p:nvPr>
        </p:nvSpPr>
        <p:spPr>
          <a:xfrm>
            <a:off x="280558" y="1476498"/>
            <a:ext cx="11481951" cy="5119420"/>
          </a:xfrm>
        </p:spPr>
        <p:txBody>
          <a:bodyPr/>
          <a:lstStyle/>
          <a:p>
            <a:endParaRPr lang="en-US" dirty="0"/>
          </a:p>
        </p:txBody>
      </p:sp>
    </p:spTree>
    <p:extLst>
      <p:ext uri="{BB962C8B-B14F-4D97-AF65-F5344CB8AC3E}">
        <p14:creationId xmlns:p14="http://schemas.microsoft.com/office/powerpoint/2010/main" val="852233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37C0235-F4C9-4DBA-A444-8423CCEDF56F}"/>
              </a:ext>
            </a:extLst>
          </p:cNvPr>
          <p:cNvSpPr>
            <a:spLocks noGrp="1"/>
          </p:cNvSpPr>
          <p:nvPr>
            <p:ph type="body" sz="quarter" idx="13"/>
          </p:nvPr>
        </p:nvSpPr>
        <p:spPr>
          <a:xfrm>
            <a:off x="228306" y="816073"/>
            <a:ext cx="9686403" cy="1164347"/>
          </a:xfrm>
        </p:spPr>
        <p:txBody>
          <a:bodyPr>
            <a:normAutofit/>
          </a:bodyPr>
          <a:lstStyle/>
          <a:p>
            <a:r>
              <a:rPr lang="en-AU" dirty="0"/>
              <a:t>Question</a:t>
            </a:r>
          </a:p>
        </p:txBody>
      </p:sp>
      <p:sp>
        <p:nvSpPr>
          <p:cNvPr id="17" name="TextBox 16">
            <a:extLst>
              <a:ext uri="{FF2B5EF4-FFF2-40B4-BE49-F238E27FC236}">
                <a16:creationId xmlns:a16="http://schemas.microsoft.com/office/drawing/2014/main" id="{2CB15D83-2350-D345-BA0F-72BDD8D291B8}"/>
              </a:ext>
            </a:extLst>
          </p:cNvPr>
          <p:cNvSpPr txBox="1"/>
          <p:nvPr/>
        </p:nvSpPr>
        <p:spPr>
          <a:xfrm>
            <a:off x="10126980" y="901237"/>
            <a:ext cx="2010440" cy="340519"/>
          </a:xfrm>
          <a:prstGeom prst="roundRect">
            <a:avLst/>
          </a:prstGeom>
          <a:solidFill>
            <a:srgbClr val="EE3C56"/>
          </a:solidFill>
          <a:ln w="38100">
            <a:solidFill>
              <a:srgbClr val="852F9B"/>
            </a:solidFill>
            <a:round/>
          </a:ln>
        </p:spPr>
        <p:txBody>
          <a:bodyPr wrap="square" rtlCol="0">
            <a:spAutoFit/>
          </a:bodyPr>
          <a:lstStyle/>
          <a:p>
            <a:pPr algn="ctr"/>
            <a:r>
              <a:rPr lang="en-AU" sz="1400" dirty="0">
                <a:solidFill>
                  <a:schemeClr val="bg1"/>
                </a:solidFill>
                <a:latin typeface="Arial Rounded MT Bold" panose="020F0704030504030204" pitchFamily="34" charset="0"/>
              </a:rPr>
              <a:t>Hint</a:t>
            </a:r>
            <a:endParaRPr lang="en-AU" sz="1400" dirty="0">
              <a:solidFill>
                <a:schemeClr val="bg1"/>
              </a:solidFill>
              <a:latin typeface="Verdana" panose="020B0604030504040204" pitchFamily="34" charset="0"/>
              <a:ea typeface="Verdana" panose="020B0604030504040204" pitchFamily="34" charset="0"/>
              <a:cs typeface="Futura Medium" panose="020B0602020204020303" pitchFamily="34" charset="-79"/>
            </a:endParaRPr>
          </a:p>
        </p:txBody>
      </p:sp>
      <p:sp>
        <p:nvSpPr>
          <p:cNvPr id="18" name="TextBox 17">
            <a:extLst>
              <a:ext uri="{FF2B5EF4-FFF2-40B4-BE49-F238E27FC236}">
                <a16:creationId xmlns:a16="http://schemas.microsoft.com/office/drawing/2014/main" id="{DE6F06FB-C41E-8D4C-AB67-0E4278151B13}"/>
              </a:ext>
            </a:extLst>
          </p:cNvPr>
          <p:cNvSpPr txBox="1"/>
          <p:nvPr/>
        </p:nvSpPr>
        <p:spPr>
          <a:xfrm>
            <a:off x="10126980" y="1241756"/>
            <a:ext cx="2010440" cy="307777"/>
          </a:xfrm>
          <a:prstGeom prst="rect">
            <a:avLst/>
          </a:prstGeom>
          <a:solidFill>
            <a:schemeClr val="bg1"/>
          </a:solidFill>
          <a:ln>
            <a:solidFill>
              <a:schemeClr val="accent2">
                <a:lumMod val="75000"/>
              </a:schemeClr>
            </a:solidFill>
          </a:ln>
        </p:spPr>
        <p:txBody>
          <a:bodyPr wrap="square" rtlCol="0" anchor="t" anchorCtr="0">
            <a:spAutoFit/>
          </a:bodyPr>
          <a:lstStyle/>
          <a:p>
            <a:endParaRPr lang="en-AU" sz="1400" b="1" dirty="0"/>
          </a:p>
        </p:txBody>
      </p:sp>
    </p:spTree>
    <p:extLst>
      <p:ext uri="{BB962C8B-B14F-4D97-AF65-F5344CB8AC3E}">
        <p14:creationId xmlns:p14="http://schemas.microsoft.com/office/powerpoint/2010/main" val="37708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7A12DD-5827-464C-8E6F-1D81221E4EB2}"/>
              </a:ext>
            </a:extLst>
          </p:cNvPr>
          <p:cNvSpPr txBox="1"/>
          <p:nvPr/>
        </p:nvSpPr>
        <p:spPr>
          <a:xfrm>
            <a:off x="6974541" y="4793517"/>
            <a:ext cx="3872753" cy="484094"/>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3768961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186E9AB-E3DB-4221-8500-C1B7DF00D5B2}"/>
              </a:ext>
            </a:extLst>
          </p:cNvPr>
          <p:cNvSpPr>
            <a:spLocks noGrp="1"/>
          </p:cNvSpPr>
          <p:nvPr>
            <p:ph type="body" sz="quarter" idx="13"/>
          </p:nvPr>
        </p:nvSpPr>
        <p:spPr>
          <a:xfrm>
            <a:off x="3058232" y="173362"/>
            <a:ext cx="11481952" cy="483136"/>
          </a:xfrm>
        </p:spPr>
        <p:txBody>
          <a:bodyPr>
            <a:noAutofit/>
          </a:bodyPr>
          <a:lstStyle/>
          <a:p>
            <a:r>
              <a:rPr lang="en-AU" sz="3500" dirty="0">
                <a:solidFill>
                  <a:srgbClr val="00B0F0"/>
                </a:solidFill>
              </a:rPr>
              <a:t>What do you already know?</a:t>
            </a:r>
          </a:p>
        </p:txBody>
      </p:sp>
      <p:sp>
        <p:nvSpPr>
          <p:cNvPr id="3" name="Text Placeholder 2">
            <a:extLst>
              <a:ext uri="{FF2B5EF4-FFF2-40B4-BE49-F238E27FC236}">
                <a16:creationId xmlns:a16="http://schemas.microsoft.com/office/drawing/2014/main" id="{ABB766D6-D8C2-48ED-8CF9-2D5A85B46BDB}"/>
              </a:ext>
            </a:extLst>
          </p:cNvPr>
          <p:cNvSpPr>
            <a:spLocks noGrp="1"/>
          </p:cNvSpPr>
          <p:nvPr>
            <p:ph type="body" sz="quarter" idx="15"/>
          </p:nvPr>
        </p:nvSpPr>
        <p:spPr>
          <a:xfrm>
            <a:off x="311962" y="1338815"/>
            <a:ext cx="9040760" cy="5107174"/>
          </a:xfrm>
        </p:spPr>
        <p:txBody>
          <a:bodyPr/>
          <a:lstStyle/>
          <a:p>
            <a:r>
              <a:rPr lang="en-AU" sz="2400" b="1" dirty="0">
                <a:solidFill>
                  <a:srgbClr val="002060"/>
                </a:solidFill>
                <a:latin typeface="Arial Rounded MT Bold" panose="020F0704030504030204" pitchFamily="34" charset="77"/>
              </a:rPr>
              <a:t>Kinetic Theory – Year 8</a:t>
            </a:r>
          </a:p>
          <a:p>
            <a:r>
              <a:rPr lang="en-AU" sz="2400" dirty="0">
                <a:latin typeface="Arial Rounded MT Bold" panose="020F0704030504030204" pitchFamily="34" charset="77"/>
                <a:cs typeface="Arial" panose="020B0604020202020204" pitchFamily="34" charset="0"/>
              </a:rPr>
              <a:t>What is kinetic theory?</a:t>
            </a:r>
          </a:p>
          <a:p>
            <a:endParaRPr lang="en-AU" sz="2400" dirty="0">
              <a:latin typeface="Arial Rounded MT Bold" panose="020F0704030504030204" pitchFamily="34" charset="77"/>
              <a:cs typeface="Arial" panose="020B0604020202020204" pitchFamily="34" charset="0"/>
            </a:endParaRPr>
          </a:p>
          <a:p>
            <a:r>
              <a:rPr lang="en-AU" sz="2400" dirty="0">
                <a:latin typeface="Arial Rounded MT Bold" panose="020F0704030504030204" pitchFamily="34" charset="77"/>
                <a:cs typeface="Arial" panose="020B0604020202020204" pitchFamily="34" charset="0"/>
              </a:rPr>
              <a:t>Complete the table below:</a:t>
            </a:r>
          </a:p>
          <a:p>
            <a:endParaRPr lang="en-AU" sz="2400" dirty="0">
              <a:latin typeface="Arial Rounded MT Bold" panose="020F0704030504030204" pitchFamily="34" charset="77"/>
              <a:cs typeface="Arial" panose="020B0604020202020204" pitchFamily="34" charset="0"/>
            </a:endParaRPr>
          </a:p>
        </p:txBody>
      </p:sp>
      <p:graphicFrame>
        <p:nvGraphicFramePr>
          <p:cNvPr id="6" name="Table 7">
            <a:extLst>
              <a:ext uri="{FF2B5EF4-FFF2-40B4-BE49-F238E27FC236}">
                <a16:creationId xmlns:a16="http://schemas.microsoft.com/office/drawing/2014/main" id="{8B107C9B-6774-B54B-B5AD-418DBC8EBC71}"/>
              </a:ext>
            </a:extLst>
          </p:cNvPr>
          <p:cNvGraphicFramePr>
            <a:graphicFrameLocks noGrp="1"/>
          </p:cNvGraphicFramePr>
          <p:nvPr>
            <p:extLst>
              <p:ext uri="{D42A27DB-BD31-4B8C-83A1-F6EECF244321}">
                <p14:modId xmlns:p14="http://schemas.microsoft.com/office/powerpoint/2010/main" val="3470038683"/>
              </p:ext>
            </p:extLst>
          </p:nvPr>
        </p:nvGraphicFramePr>
        <p:xfrm>
          <a:off x="550041" y="3184634"/>
          <a:ext cx="10643476" cy="2624959"/>
        </p:xfrm>
        <a:graphic>
          <a:graphicData uri="http://schemas.openxmlformats.org/drawingml/2006/table">
            <a:tbl>
              <a:tblPr firstRow="1" bandRow="1">
                <a:tableStyleId>{5940675A-B579-460E-94D1-54222C63F5DA}</a:tableStyleId>
              </a:tblPr>
              <a:tblGrid>
                <a:gridCol w="1867338">
                  <a:extLst>
                    <a:ext uri="{9D8B030D-6E8A-4147-A177-3AD203B41FA5}">
                      <a16:colId xmlns:a16="http://schemas.microsoft.com/office/drawing/2014/main" val="2701169133"/>
                    </a:ext>
                  </a:extLst>
                </a:gridCol>
                <a:gridCol w="3454400">
                  <a:extLst>
                    <a:ext uri="{9D8B030D-6E8A-4147-A177-3AD203B41FA5}">
                      <a16:colId xmlns:a16="http://schemas.microsoft.com/office/drawing/2014/main" val="977017617"/>
                    </a:ext>
                  </a:extLst>
                </a:gridCol>
                <a:gridCol w="2660869">
                  <a:extLst>
                    <a:ext uri="{9D8B030D-6E8A-4147-A177-3AD203B41FA5}">
                      <a16:colId xmlns:a16="http://schemas.microsoft.com/office/drawing/2014/main" val="1340646250"/>
                    </a:ext>
                  </a:extLst>
                </a:gridCol>
                <a:gridCol w="2660869">
                  <a:extLst>
                    <a:ext uri="{9D8B030D-6E8A-4147-A177-3AD203B41FA5}">
                      <a16:colId xmlns:a16="http://schemas.microsoft.com/office/drawing/2014/main" val="4073468386"/>
                    </a:ext>
                  </a:extLst>
                </a:gridCol>
              </a:tblGrid>
              <a:tr h="378373">
                <a:tc>
                  <a:txBody>
                    <a:bodyPr/>
                    <a:lstStyle/>
                    <a:p>
                      <a:r>
                        <a:rPr lang="en-US" dirty="0"/>
                        <a:t>State of matter?</a:t>
                      </a:r>
                    </a:p>
                  </a:txBody>
                  <a:tcPr/>
                </a:tc>
                <a:tc>
                  <a:txBody>
                    <a:bodyPr/>
                    <a:lstStyle/>
                    <a:p>
                      <a:r>
                        <a:rPr lang="en-US" dirty="0"/>
                        <a:t>Arrangement of atoms</a:t>
                      </a:r>
                    </a:p>
                  </a:txBody>
                  <a:tcPr/>
                </a:tc>
                <a:tc>
                  <a:txBody>
                    <a:bodyPr/>
                    <a:lstStyle/>
                    <a:p>
                      <a:r>
                        <a:rPr lang="en-US" dirty="0"/>
                        <a:t>Volume (fixed/variable)</a:t>
                      </a:r>
                    </a:p>
                  </a:txBody>
                  <a:tcPr/>
                </a:tc>
                <a:tc>
                  <a:txBody>
                    <a:bodyPr/>
                    <a:lstStyle/>
                    <a:p>
                      <a:r>
                        <a:rPr lang="en-US" dirty="0"/>
                        <a:t>Shape (fixed/variable)</a:t>
                      </a:r>
                    </a:p>
                  </a:txBody>
                  <a:tcPr/>
                </a:tc>
                <a:extLst>
                  <a:ext uri="{0D108BD9-81ED-4DB2-BD59-A6C34878D82A}">
                    <a16:rowId xmlns:a16="http://schemas.microsoft.com/office/drawing/2014/main" val="191311722"/>
                  </a:ext>
                </a:extLst>
              </a:tr>
              <a:tr h="748862">
                <a:tc>
                  <a:txBody>
                    <a:bodyPr/>
                    <a:lstStyle/>
                    <a:p>
                      <a:r>
                        <a:rPr lang="en-US" dirty="0"/>
                        <a:t>Solid</a:t>
                      </a:r>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767065472"/>
                  </a:ext>
                </a:extLst>
              </a:tr>
              <a:tr h="748862">
                <a:tc>
                  <a:txBody>
                    <a:bodyPr/>
                    <a:lstStyle/>
                    <a:p>
                      <a:r>
                        <a:rPr lang="en-US" dirty="0"/>
                        <a:t>Liquid</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473508285"/>
                  </a:ext>
                </a:extLst>
              </a:tr>
              <a:tr h="748862">
                <a:tc>
                  <a:txBody>
                    <a:bodyPr/>
                    <a:lstStyle/>
                    <a:p>
                      <a:r>
                        <a:rPr lang="en-US" dirty="0"/>
                        <a:t>Gas</a:t>
                      </a:r>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081251937"/>
                  </a:ext>
                </a:extLst>
              </a:tr>
            </a:tbl>
          </a:graphicData>
        </a:graphic>
      </p:graphicFrame>
    </p:spTree>
    <p:extLst>
      <p:ext uri="{BB962C8B-B14F-4D97-AF65-F5344CB8AC3E}">
        <p14:creationId xmlns:p14="http://schemas.microsoft.com/office/powerpoint/2010/main" val="1671502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Heat</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11457258" cy="5393007"/>
          </a:xfrm>
        </p:spPr>
        <p:txBody>
          <a:bodyPr>
            <a:normAutofit/>
          </a:bodyPr>
          <a:lstStyle/>
          <a:p>
            <a:r>
              <a:rPr lang="en-AU" sz="2400" dirty="0"/>
              <a:t>Sir Francis Bacon proposed the idea that heat is motion. He stated that heat is the rapid vibration of particles. </a:t>
            </a:r>
          </a:p>
          <a:p>
            <a:endParaRPr lang="en-AU" sz="2400" dirty="0"/>
          </a:p>
          <a:p>
            <a:r>
              <a:rPr lang="en-AU" sz="2400" dirty="0"/>
              <a:t>We currently accept the kinetic particle model. </a:t>
            </a:r>
          </a:p>
          <a:p>
            <a:pPr marL="342900" indent="-342900">
              <a:buFont typeface="Arial" panose="020B0604020202020204" pitchFamily="34" charset="0"/>
              <a:buChar char="•"/>
            </a:pPr>
            <a:r>
              <a:rPr lang="en-AU" sz="2400" dirty="0"/>
              <a:t>All matter is made up of particles.</a:t>
            </a:r>
          </a:p>
          <a:p>
            <a:pPr marL="342900" indent="-342900">
              <a:buFont typeface="Arial" panose="020B0604020202020204" pitchFamily="34" charset="0"/>
              <a:buChar char="•"/>
            </a:pPr>
            <a:r>
              <a:rPr lang="en-AU" sz="2400" dirty="0"/>
              <a:t>The particles are in constant motion.</a:t>
            </a:r>
          </a:p>
          <a:p>
            <a:pPr marL="342900" indent="-342900">
              <a:buFont typeface="Arial" panose="020B0604020202020204" pitchFamily="34" charset="0"/>
              <a:buChar char="•"/>
            </a:pPr>
            <a:r>
              <a:rPr lang="en-AU" sz="2400" dirty="0"/>
              <a:t>There is no kinetic energy lost or gained from the total during elastic collisions.</a:t>
            </a:r>
          </a:p>
          <a:p>
            <a:pPr marL="342900" indent="-342900">
              <a:buFont typeface="Arial" panose="020B0604020202020204" pitchFamily="34" charset="0"/>
              <a:buChar char="•"/>
            </a:pPr>
            <a:r>
              <a:rPr lang="en-AU" sz="2400" dirty="0"/>
              <a:t>There are forces of attractions and repulsion between the particles in a material.</a:t>
            </a:r>
          </a:p>
          <a:p>
            <a:pPr marL="342900" indent="-342900">
              <a:buFont typeface="Arial" panose="020B0604020202020204" pitchFamily="34" charset="0"/>
              <a:buChar char="•"/>
            </a:pPr>
            <a:r>
              <a:rPr lang="en-AU" sz="2400" dirty="0"/>
              <a:t>The distance between particles varies between states.</a:t>
            </a:r>
          </a:p>
        </p:txBody>
      </p:sp>
    </p:spTree>
    <p:extLst>
      <p:ext uri="{BB962C8B-B14F-4D97-AF65-F5344CB8AC3E}">
        <p14:creationId xmlns:p14="http://schemas.microsoft.com/office/powerpoint/2010/main" val="1500114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Solid</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pPr marL="342900" indent="-342900">
              <a:buFont typeface="Arial" panose="020B0604020202020204" pitchFamily="34" charset="0"/>
              <a:buChar char="•"/>
            </a:pPr>
            <a:r>
              <a:rPr lang="en-AU" sz="2400" dirty="0"/>
              <a:t>Attractive and repulsive forces on each other that hold together in the fixed shape.</a:t>
            </a:r>
          </a:p>
          <a:p>
            <a:pPr marL="342900" indent="-342900">
              <a:buFont typeface="Arial" panose="020B0604020202020204" pitchFamily="34" charset="0"/>
              <a:buChar char="•"/>
            </a:pPr>
            <a:r>
              <a:rPr lang="en-AU" sz="2400" dirty="0"/>
              <a:t>Forces are balanced.</a:t>
            </a:r>
          </a:p>
          <a:p>
            <a:pPr marL="342900" indent="-342900">
              <a:buFont typeface="Arial" panose="020B0604020202020204" pitchFamily="34" charset="0"/>
              <a:buChar char="•"/>
            </a:pPr>
            <a:r>
              <a:rPr lang="en-AU" sz="2400" dirty="0"/>
              <a:t>Fixed volume.</a:t>
            </a:r>
          </a:p>
          <a:p>
            <a:pPr marL="342900" indent="-342900">
              <a:buFont typeface="Arial" panose="020B0604020202020204" pitchFamily="34" charset="0"/>
              <a:buChar char="•"/>
            </a:pPr>
            <a:r>
              <a:rPr lang="en-AU" sz="2400" dirty="0"/>
              <a:t>Particles vibrate in fixed position.</a:t>
            </a:r>
          </a:p>
          <a:p>
            <a:pPr marL="342900" indent="-342900">
              <a:buFont typeface="Arial" panose="020B0604020202020204" pitchFamily="34" charset="0"/>
              <a:buChar char="•"/>
            </a:pPr>
            <a:r>
              <a:rPr lang="en-AU" sz="2400" dirty="0"/>
              <a:t>Particles have a low kinetic energy.</a:t>
            </a:r>
          </a:p>
          <a:p>
            <a:pPr marL="342900" indent="-342900">
              <a:buFont typeface="Arial" panose="020B0604020202020204" pitchFamily="34" charset="0"/>
              <a:buChar char="•"/>
            </a:pPr>
            <a:endParaRPr lang="en-AU" sz="2400" dirty="0"/>
          </a:p>
        </p:txBody>
      </p:sp>
      <p:grpSp>
        <p:nvGrpSpPr>
          <p:cNvPr id="9" name="Group 8">
            <a:extLst>
              <a:ext uri="{FF2B5EF4-FFF2-40B4-BE49-F238E27FC236}">
                <a16:creationId xmlns:a16="http://schemas.microsoft.com/office/drawing/2014/main" id="{7A744A9A-D8C5-A542-AD1A-C504DEFF5462}"/>
              </a:ext>
            </a:extLst>
          </p:cNvPr>
          <p:cNvGrpSpPr/>
          <p:nvPr/>
        </p:nvGrpSpPr>
        <p:grpSpPr>
          <a:xfrm>
            <a:off x="8555121" y="1204353"/>
            <a:ext cx="933448" cy="807508"/>
            <a:chOff x="4810127" y="284877"/>
            <a:chExt cx="1538286" cy="1565619"/>
          </a:xfrm>
        </p:grpSpPr>
        <p:sp>
          <p:nvSpPr>
            <p:cNvPr id="4" name="Oval 3">
              <a:extLst>
                <a:ext uri="{FF2B5EF4-FFF2-40B4-BE49-F238E27FC236}">
                  <a16:creationId xmlns:a16="http://schemas.microsoft.com/office/drawing/2014/main" id="{93374BC8-794F-7B4F-95FA-38D363613DC8}"/>
                </a:ext>
              </a:extLst>
            </p:cNvPr>
            <p:cNvSpPr/>
            <p:nvPr/>
          </p:nvSpPr>
          <p:spPr>
            <a:xfrm>
              <a:off x="5314951" y="805337"/>
              <a:ext cx="528638" cy="52469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 Arrow 4">
              <a:extLst>
                <a:ext uri="{FF2B5EF4-FFF2-40B4-BE49-F238E27FC236}">
                  <a16:creationId xmlns:a16="http://schemas.microsoft.com/office/drawing/2014/main" id="{570AEF84-4B96-4D44-9E39-AFC456728FF1}"/>
                </a:ext>
              </a:extLst>
            </p:cNvPr>
            <p:cNvSpPr/>
            <p:nvPr/>
          </p:nvSpPr>
          <p:spPr>
            <a:xfrm>
              <a:off x="5464970" y="28487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Up Arrow 5">
              <a:extLst>
                <a:ext uri="{FF2B5EF4-FFF2-40B4-BE49-F238E27FC236}">
                  <a16:creationId xmlns:a16="http://schemas.microsoft.com/office/drawing/2014/main" id="{9DAC34F5-6946-064E-B56E-D98BA8FA0221}"/>
                </a:ext>
              </a:extLst>
            </p:cNvPr>
            <p:cNvSpPr/>
            <p:nvPr/>
          </p:nvSpPr>
          <p:spPr>
            <a:xfrm rot="10800000">
              <a:off x="5457827" y="1416634"/>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p Arrow 6">
              <a:extLst>
                <a:ext uri="{FF2B5EF4-FFF2-40B4-BE49-F238E27FC236}">
                  <a16:creationId xmlns:a16="http://schemas.microsoft.com/office/drawing/2014/main" id="{22642576-CD74-3F47-A11D-286C67D0D436}"/>
                </a:ext>
              </a:extLst>
            </p:cNvPr>
            <p:cNvSpPr/>
            <p:nvPr/>
          </p:nvSpPr>
          <p:spPr>
            <a:xfrm rot="5400000">
              <a:off x="6017182" y="850755"/>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Up Arrow 7">
              <a:extLst>
                <a:ext uri="{FF2B5EF4-FFF2-40B4-BE49-F238E27FC236}">
                  <a16:creationId xmlns:a16="http://schemas.microsoft.com/office/drawing/2014/main" id="{352C0BF4-F62C-754F-A99F-19FE887548DA}"/>
                </a:ext>
              </a:extLst>
            </p:cNvPr>
            <p:cNvSpPr/>
            <p:nvPr/>
          </p:nvSpPr>
          <p:spPr>
            <a:xfrm rot="16200000">
              <a:off x="4912758" y="85081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190DCB0B-3ABF-5946-88C9-DD68ECBE564B}"/>
              </a:ext>
            </a:extLst>
          </p:cNvPr>
          <p:cNvGrpSpPr/>
          <p:nvPr/>
        </p:nvGrpSpPr>
        <p:grpSpPr>
          <a:xfrm>
            <a:off x="9510099" y="1178066"/>
            <a:ext cx="933448" cy="807508"/>
            <a:chOff x="4810127" y="284877"/>
            <a:chExt cx="1538286" cy="1565619"/>
          </a:xfrm>
        </p:grpSpPr>
        <p:sp>
          <p:nvSpPr>
            <p:cNvPr id="11" name="Oval 10">
              <a:extLst>
                <a:ext uri="{FF2B5EF4-FFF2-40B4-BE49-F238E27FC236}">
                  <a16:creationId xmlns:a16="http://schemas.microsoft.com/office/drawing/2014/main" id="{EE5036BB-FB14-0344-B4EC-61EF2AAEAF42}"/>
                </a:ext>
              </a:extLst>
            </p:cNvPr>
            <p:cNvSpPr/>
            <p:nvPr/>
          </p:nvSpPr>
          <p:spPr>
            <a:xfrm>
              <a:off x="5314951" y="805337"/>
              <a:ext cx="528638" cy="52469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Up Arrow 11">
              <a:extLst>
                <a:ext uri="{FF2B5EF4-FFF2-40B4-BE49-F238E27FC236}">
                  <a16:creationId xmlns:a16="http://schemas.microsoft.com/office/drawing/2014/main" id="{20957294-71B8-7D44-9632-B12CF0ACE77B}"/>
                </a:ext>
              </a:extLst>
            </p:cNvPr>
            <p:cNvSpPr/>
            <p:nvPr/>
          </p:nvSpPr>
          <p:spPr>
            <a:xfrm>
              <a:off x="5464970" y="28487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Up Arrow 12">
              <a:extLst>
                <a:ext uri="{FF2B5EF4-FFF2-40B4-BE49-F238E27FC236}">
                  <a16:creationId xmlns:a16="http://schemas.microsoft.com/office/drawing/2014/main" id="{616A05B4-FCCC-7347-AA6C-ED743B0246DD}"/>
                </a:ext>
              </a:extLst>
            </p:cNvPr>
            <p:cNvSpPr/>
            <p:nvPr/>
          </p:nvSpPr>
          <p:spPr>
            <a:xfrm rot="10800000">
              <a:off x="5457827" y="1416634"/>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Up Arrow 13">
              <a:extLst>
                <a:ext uri="{FF2B5EF4-FFF2-40B4-BE49-F238E27FC236}">
                  <a16:creationId xmlns:a16="http://schemas.microsoft.com/office/drawing/2014/main" id="{4B7AB466-6F04-954B-87CE-198F101E24B4}"/>
                </a:ext>
              </a:extLst>
            </p:cNvPr>
            <p:cNvSpPr/>
            <p:nvPr/>
          </p:nvSpPr>
          <p:spPr>
            <a:xfrm rot="5400000">
              <a:off x="6017182" y="850755"/>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4">
              <a:extLst>
                <a:ext uri="{FF2B5EF4-FFF2-40B4-BE49-F238E27FC236}">
                  <a16:creationId xmlns:a16="http://schemas.microsoft.com/office/drawing/2014/main" id="{71A7A17D-E90D-0841-97B2-5B6F5AA83F5C}"/>
                </a:ext>
              </a:extLst>
            </p:cNvPr>
            <p:cNvSpPr/>
            <p:nvPr/>
          </p:nvSpPr>
          <p:spPr>
            <a:xfrm rot="16200000">
              <a:off x="4912758" y="85081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F3B0FA9-9D21-6145-BA8E-B3C2A11A5C4F}"/>
              </a:ext>
            </a:extLst>
          </p:cNvPr>
          <p:cNvGrpSpPr/>
          <p:nvPr/>
        </p:nvGrpSpPr>
        <p:grpSpPr>
          <a:xfrm>
            <a:off x="9978725" y="665124"/>
            <a:ext cx="933448" cy="807508"/>
            <a:chOff x="4810127" y="284877"/>
            <a:chExt cx="1538286" cy="1565619"/>
          </a:xfrm>
        </p:grpSpPr>
        <p:sp>
          <p:nvSpPr>
            <p:cNvPr id="17" name="Oval 16">
              <a:extLst>
                <a:ext uri="{FF2B5EF4-FFF2-40B4-BE49-F238E27FC236}">
                  <a16:creationId xmlns:a16="http://schemas.microsoft.com/office/drawing/2014/main" id="{E67B0567-152F-2643-A55B-CD882D1759AD}"/>
                </a:ext>
              </a:extLst>
            </p:cNvPr>
            <p:cNvSpPr/>
            <p:nvPr/>
          </p:nvSpPr>
          <p:spPr>
            <a:xfrm>
              <a:off x="5314951" y="805337"/>
              <a:ext cx="528638" cy="52469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Up Arrow 17">
              <a:extLst>
                <a:ext uri="{FF2B5EF4-FFF2-40B4-BE49-F238E27FC236}">
                  <a16:creationId xmlns:a16="http://schemas.microsoft.com/office/drawing/2014/main" id="{2A671EED-9403-4345-8A9E-112EA8E9E224}"/>
                </a:ext>
              </a:extLst>
            </p:cNvPr>
            <p:cNvSpPr/>
            <p:nvPr/>
          </p:nvSpPr>
          <p:spPr>
            <a:xfrm>
              <a:off x="5464970" y="28487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Up Arrow 18">
              <a:extLst>
                <a:ext uri="{FF2B5EF4-FFF2-40B4-BE49-F238E27FC236}">
                  <a16:creationId xmlns:a16="http://schemas.microsoft.com/office/drawing/2014/main" id="{E2C1FF5C-86DF-5A4B-BE5E-49D20217B543}"/>
                </a:ext>
              </a:extLst>
            </p:cNvPr>
            <p:cNvSpPr/>
            <p:nvPr/>
          </p:nvSpPr>
          <p:spPr>
            <a:xfrm rot="10800000">
              <a:off x="5457827" y="1416634"/>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Up Arrow 19">
              <a:extLst>
                <a:ext uri="{FF2B5EF4-FFF2-40B4-BE49-F238E27FC236}">
                  <a16:creationId xmlns:a16="http://schemas.microsoft.com/office/drawing/2014/main" id="{9FA21703-C643-3349-B3DA-15412445BFA7}"/>
                </a:ext>
              </a:extLst>
            </p:cNvPr>
            <p:cNvSpPr/>
            <p:nvPr/>
          </p:nvSpPr>
          <p:spPr>
            <a:xfrm rot="5400000">
              <a:off x="6017182" y="850755"/>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02ADC1FF-760F-2A4D-B838-3F9D73F6BE85}"/>
                </a:ext>
              </a:extLst>
            </p:cNvPr>
            <p:cNvSpPr/>
            <p:nvPr/>
          </p:nvSpPr>
          <p:spPr>
            <a:xfrm rot="16200000">
              <a:off x="4912758" y="85081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775FDA36-E273-E04A-A179-42EEB01C0314}"/>
              </a:ext>
            </a:extLst>
          </p:cNvPr>
          <p:cNvGrpSpPr/>
          <p:nvPr/>
        </p:nvGrpSpPr>
        <p:grpSpPr>
          <a:xfrm>
            <a:off x="9007212" y="640580"/>
            <a:ext cx="933448" cy="807508"/>
            <a:chOff x="4810127" y="284877"/>
            <a:chExt cx="1538286" cy="1565619"/>
          </a:xfrm>
        </p:grpSpPr>
        <p:sp>
          <p:nvSpPr>
            <p:cNvPr id="23" name="Oval 22">
              <a:extLst>
                <a:ext uri="{FF2B5EF4-FFF2-40B4-BE49-F238E27FC236}">
                  <a16:creationId xmlns:a16="http://schemas.microsoft.com/office/drawing/2014/main" id="{4CDFAD30-0B31-5241-BD98-772DF2DE02F0}"/>
                </a:ext>
              </a:extLst>
            </p:cNvPr>
            <p:cNvSpPr/>
            <p:nvPr/>
          </p:nvSpPr>
          <p:spPr>
            <a:xfrm>
              <a:off x="5314951" y="805337"/>
              <a:ext cx="528638" cy="52469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E0C49F76-B551-1E4E-BD41-B84E0D7203A9}"/>
                </a:ext>
              </a:extLst>
            </p:cNvPr>
            <p:cNvSpPr/>
            <p:nvPr/>
          </p:nvSpPr>
          <p:spPr>
            <a:xfrm>
              <a:off x="5464970" y="28487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Up Arrow 24">
              <a:extLst>
                <a:ext uri="{FF2B5EF4-FFF2-40B4-BE49-F238E27FC236}">
                  <a16:creationId xmlns:a16="http://schemas.microsoft.com/office/drawing/2014/main" id="{0A7E3E50-B9E3-9141-A870-128D5639BB18}"/>
                </a:ext>
              </a:extLst>
            </p:cNvPr>
            <p:cNvSpPr/>
            <p:nvPr/>
          </p:nvSpPr>
          <p:spPr>
            <a:xfrm rot="10800000">
              <a:off x="5457827" y="1416634"/>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Up Arrow 25">
              <a:extLst>
                <a:ext uri="{FF2B5EF4-FFF2-40B4-BE49-F238E27FC236}">
                  <a16:creationId xmlns:a16="http://schemas.microsoft.com/office/drawing/2014/main" id="{16052423-02E2-FD40-80C6-18B4867887E7}"/>
                </a:ext>
              </a:extLst>
            </p:cNvPr>
            <p:cNvSpPr/>
            <p:nvPr/>
          </p:nvSpPr>
          <p:spPr>
            <a:xfrm rot="5400000">
              <a:off x="6017182" y="850755"/>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Up Arrow 26">
              <a:extLst>
                <a:ext uri="{FF2B5EF4-FFF2-40B4-BE49-F238E27FC236}">
                  <a16:creationId xmlns:a16="http://schemas.microsoft.com/office/drawing/2014/main" id="{B293C4A7-1E00-CB43-A779-E54EFB5B774A}"/>
                </a:ext>
              </a:extLst>
            </p:cNvPr>
            <p:cNvSpPr/>
            <p:nvPr/>
          </p:nvSpPr>
          <p:spPr>
            <a:xfrm rot="16200000">
              <a:off x="4912758" y="85081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9" name="Picture 28">
            <a:extLst>
              <a:ext uri="{FF2B5EF4-FFF2-40B4-BE49-F238E27FC236}">
                <a16:creationId xmlns:a16="http://schemas.microsoft.com/office/drawing/2014/main" id="{E36CF150-B6E3-7645-AC4A-03E35DE859E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935939" y="3550510"/>
            <a:ext cx="2826570" cy="2828925"/>
          </a:xfrm>
          <a:prstGeom prst="rect">
            <a:avLst/>
          </a:prstGeom>
        </p:spPr>
      </p:pic>
      <p:sp>
        <p:nvSpPr>
          <p:cNvPr id="30" name="TextBox 29">
            <a:extLst>
              <a:ext uri="{FF2B5EF4-FFF2-40B4-BE49-F238E27FC236}">
                <a16:creationId xmlns:a16="http://schemas.microsoft.com/office/drawing/2014/main" id="{5F69FB77-891A-CD4B-9809-BE013C7DE31B}"/>
              </a:ext>
            </a:extLst>
          </p:cNvPr>
          <p:cNvSpPr txBox="1"/>
          <p:nvPr/>
        </p:nvSpPr>
        <p:spPr>
          <a:xfrm>
            <a:off x="2669855" y="6858000"/>
            <a:ext cx="6852290" cy="230832"/>
          </a:xfrm>
          <a:prstGeom prst="rect">
            <a:avLst/>
          </a:prstGeom>
          <a:noFill/>
        </p:spPr>
        <p:txBody>
          <a:bodyPr wrap="square" rtlCol="0">
            <a:spAutoFit/>
          </a:bodyPr>
          <a:lstStyle/>
          <a:p>
            <a:r>
              <a:rPr lang="en-US" sz="900">
                <a:hlinkClick r:id="rId4" tooltip="https://en.wikipedia.org/wiki/Lattice_model_(physics)"/>
              </a:rPr>
              <a:t>This Photo</a:t>
            </a:r>
            <a:r>
              <a:rPr lang="en-US" sz="900"/>
              <a:t> by Unknown Author is licensed under </a:t>
            </a:r>
            <a:r>
              <a:rPr lang="en-US" sz="900">
                <a:hlinkClick r:id="rId5" tooltip="https://creativecommons.org/licenses/by-sa/3.0/"/>
              </a:rPr>
              <a:t>CC BY-SA</a:t>
            </a:r>
            <a:endParaRPr lang="en-US" sz="900"/>
          </a:p>
        </p:txBody>
      </p:sp>
      <p:grpSp>
        <p:nvGrpSpPr>
          <p:cNvPr id="31" name="Group 30">
            <a:extLst>
              <a:ext uri="{FF2B5EF4-FFF2-40B4-BE49-F238E27FC236}">
                <a16:creationId xmlns:a16="http://schemas.microsoft.com/office/drawing/2014/main" id="{8F7487FE-7159-E14C-A950-779C6CE5DE8E}"/>
              </a:ext>
            </a:extLst>
          </p:cNvPr>
          <p:cNvGrpSpPr/>
          <p:nvPr/>
        </p:nvGrpSpPr>
        <p:grpSpPr>
          <a:xfrm>
            <a:off x="10504023" y="1174364"/>
            <a:ext cx="933448" cy="807508"/>
            <a:chOff x="4810127" y="284877"/>
            <a:chExt cx="1538286" cy="1565619"/>
          </a:xfrm>
        </p:grpSpPr>
        <p:sp>
          <p:nvSpPr>
            <p:cNvPr id="32" name="Oval 31">
              <a:extLst>
                <a:ext uri="{FF2B5EF4-FFF2-40B4-BE49-F238E27FC236}">
                  <a16:creationId xmlns:a16="http://schemas.microsoft.com/office/drawing/2014/main" id="{5846FB36-607A-5443-831D-B7F15A639306}"/>
                </a:ext>
              </a:extLst>
            </p:cNvPr>
            <p:cNvSpPr/>
            <p:nvPr/>
          </p:nvSpPr>
          <p:spPr>
            <a:xfrm>
              <a:off x="5314951" y="805337"/>
              <a:ext cx="528638" cy="52469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Up Arrow 32">
              <a:extLst>
                <a:ext uri="{FF2B5EF4-FFF2-40B4-BE49-F238E27FC236}">
                  <a16:creationId xmlns:a16="http://schemas.microsoft.com/office/drawing/2014/main" id="{829DE6BE-7C9F-F342-83A9-72505FEF44EE}"/>
                </a:ext>
              </a:extLst>
            </p:cNvPr>
            <p:cNvSpPr/>
            <p:nvPr/>
          </p:nvSpPr>
          <p:spPr>
            <a:xfrm>
              <a:off x="5464970" y="28487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Up Arrow 33">
              <a:extLst>
                <a:ext uri="{FF2B5EF4-FFF2-40B4-BE49-F238E27FC236}">
                  <a16:creationId xmlns:a16="http://schemas.microsoft.com/office/drawing/2014/main" id="{A353DD8A-5127-2F40-BDD7-7AF426833450}"/>
                </a:ext>
              </a:extLst>
            </p:cNvPr>
            <p:cNvSpPr/>
            <p:nvPr/>
          </p:nvSpPr>
          <p:spPr>
            <a:xfrm rot="10800000">
              <a:off x="5457827" y="1416634"/>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Up Arrow 34">
              <a:extLst>
                <a:ext uri="{FF2B5EF4-FFF2-40B4-BE49-F238E27FC236}">
                  <a16:creationId xmlns:a16="http://schemas.microsoft.com/office/drawing/2014/main" id="{1CFDD89B-2751-FB40-B1BA-9512CB531D07}"/>
                </a:ext>
              </a:extLst>
            </p:cNvPr>
            <p:cNvSpPr/>
            <p:nvPr/>
          </p:nvSpPr>
          <p:spPr>
            <a:xfrm rot="5400000">
              <a:off x="6017182" y="850755"/>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Up Arrow 35">
              <a:extLst>
                <a:ext uri="{FF2B5EF4-FFF2-40B4-BE49-F238E27FC236}">
                  <a16:creationId xmlns:a16="http://schemas.microsoft.com/office/drawing/2014/main" id="{37241C9A-B0D7-AC46-A418-A7775FEE7A2D}"/>
                </a:ext>
              </a:extLst>
            </p:cNvPr>
            <p:cNvSpPr/>
            <p:nvPr/>
          </p:nvSpPr>
          <p:spPr>
            <a:xfrm rot="16200000">
              <a:off x="4912758" y="85081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8C81C5EE-3D4E-494C-B01A-15483F9B178D}"/>
              </a:ext>
            </a:extLst>
          </p:cNvPr>
          <p:cNvGrpSpPr/>
          <p:nvPr/>
        </p:nvGrpSpPr>
        <p:grpSpPr>
          <a:xfrm>
            <a:off x="9020558" y="1713432"/>
            <a:ext cx="933448" cy="807508"/>
            <a:chOff x="4810127" y="284877"/>
            <a:chExt cx="1538286" cy="1565619"/>
          </a:xfrm>
        </p:grpSpPr>
        <p:sp>
          <p:nvSpPr>
            <p:cNvPr id="38" name="Oval 37">
              <a:extLst>
                <a:ext uri="{FF2B5EF4-FFF2-40B4-BE49-F238E27FC236}">
                  <a16:creationId xmlns:a16="http://schemas.microsoft.com/office/drawing/2014/main" id="{C5DF4E82-92B4-774A-82A6-ABBF46AB5335}"/>
                </a:ext>
              </a:extLst>
            </p:cNvPr>
            <p:cNvSpPr/>
            <p:nvPr/>
          </p:nvSpPr>
          <p:spPr>
            <a:xfrm>
              <a:off x="5314951" y="805337"/>
              <a:ext cx="528638" cy="52469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Up Arrow 38">
              <a:extLst>
                <a:ext uri="{FF2B5EF4-FFF2-40B4-BE49-F238E27FC236}">
                  <a16:creationId xmlns:a16="http://schemas.microsoft.com/office/drawing/2014/main" id="{F9523B65-A52A-5343-BEBC-CA4F5339D4AF}"/>
                </a:ext>
              </a:extLst>
            </p:cNvPr>
            <p:cNvSpPr/>
            <p:nvPr/>
          </p:nvSpPr>
          <p:spPr>
            <a:xfrm>
              <a:off x="5464970" y="28487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Up Arrow 39">
              <a:extLst>
                <a:ext uri="{FF2B5EF4-FFF2-40B4-BE49-F238E27FC236}">
                  <a16:creationId xmlns:a16="http://schemas.microsoft.com/office/drawing/2014/main" id="{A9D86D87-6BE9-984C-B6BF-4BAF41D65A34}"/>
                </a:ext>
              </a:extLst>
            </p:cNvPr>
            <p:cNvSpPr/>
            <p:nvPr/>
          </p:nvSpPr>
          <p:spPr>
            <a:xfrm rot="10800000">
              <a:off x="5457827" y="1416634"/>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Up Arrow 40">
              <a:extLst>
                <a:ext uri="{FF2B5EF4-FFF2-40B4-BE49-F238E27FC236}">
                  <a16:creationId xmlns:a16="http://schemas.microsoft.com/office/drawing/2014/main" id="{B0ABC98C-DC11-894A-B97C-6E445D2215C1}"/>
                </a:ext>
              </a:extLst>
            </p:cNvPr>
            <p:cNvSpPr/>
            <p:nvPr/>
          </p:nvSpPr>
          <p:spPr>
            <a:xfrm rot="5400000">
              <a:off x="6017182" y="850755"/>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Up Arrow 41">
              <a:extLst>
                <a:ext uri="{FF2B5EF4-FFF2-40B4-BE49-F238E27FC236}">
                  <a16:creationId xmlns:a16="http://schemas.microsoft.com/office/drawing/2014/main" id="{91778AED-F62C-4B4F-B02A-56E2F1E4EA46}"/>
                </a:ext>
              </a:extLst>
            </p:cNvPr>
            <p:cNvSpPr/>
            <p:nvPr/>
          </p:nvSpPr>
          <p:spPr>
            <a:xfrm rot="16200000">
              <a:off x="4912758" y="85081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B4013490-A70E-3044-9D9D-34741A6965EA}"/>
              </a:ext>
            </a:extLst>
          </p:cNvPr>
          <p:cNvGrpSpPr/>
          <p:nvPr/>
        </p:nvGrpSpPr>
        <p:grpSpPr>
          <a:xfrm>
            <a:off x="10007061" y="1663114"/>
            <a:ext cx="933448" cy="807508"/>
            <a:chOff x="4810127" y="284877"/>
            <a:chExt cx="1538286" cy="1565619"/>
          </a:xfrm>
        </p:grpSpPr>
        <p:sp>
          <p:nvSpPr>
            <p:cNvPr id="44" name="Oval 43">
              <a:extLst>
                <a:ext uri="{FF2B5EF4-FFF2-40B4-BE49-F238E27FC236}">
                  <a16:creationId xmlns:a16="http://schemas.microsoft.com/office/drawing/2014/main" id="{1110F0E6-845F-2E45-8DE1-6A2850DF3842}"/>
                </a:ext>
              </a:extLst>
            </p:cNvPr>
            <p:cNvSpPr/>
            <p:nvPr/>
          </p:nvSpPr>
          <p:spPr>
            <a:xfrm>
              <a:off x="5314951" y="805337"/>
              <a:ext cx="528638" cy="524699"/>
            </a:xfrm>
            <a:prstGeom prst="ellipse">
              <a:avLst/>
            </a:prstGeom>
            <a:solidFill>
              <a:srgbClr val="7030A0"/>
            </a:solid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Up Arrow 44">
              <a:extLst>
                <a:ext uri="{FF2B5EF4-FFF2-40B4-BE49-F238E27FC236}">
                  <a16:creationId xmlns:a16="http://schemas.microsoft.com/office/drawing/2014/main" id="{15457368-0DF1-8742-A1BF-7454AB225520}"/>
                </a:ext>
              </a:extLst>
            </p:cNvPr>
            <p:cNvSpPr/>
            <p:nvPr/>
          </p:nvSpPr>
          <p:spPr>
            <a:xfrm>
              <a:off x="5464970" y="28487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Up Arrow 45">
              <a:extLst>
                <a:ext uri="{FF2B5EF4-FFF2-40B4-BE49-F238E27FC236}">
                  <a16:creationId xmlns:a16="http://schemas.microsoft.com/office/drawing/2014/main" id="{E2B4C77A-591B-524D-8B92-F8BDF3AC4120}"/>
                </a:ext>
              </a:extLst>
            </p:cNvPr>
            <p:cNvSpPr/>
            <p:nvPr/>
          </p:nvSpPr>
          <p:spPr>
            <a:xfrm rot="10800000">
              <a:off x="5457827" y="1416634"/>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Up Arrow 46">
              <a:extLst>
                <a:ext uri="{FF2B5EF4-FFF2-40B4-BE49-F238E27FC236}">
                  <a16:creationId xmlns:a16="http://schemas.microsoft.com/office/drawing/2014/main" id="{85EBF3A4-1689-CB4A-9195-CF2960FF63A4}"/>
                </a:ext>
              </a:extLst>
            </p:cNvPr>
            <p:cNvSpPr/>
            <p:nvPr/>
          </p:nvSpPr>
          <p:spPr>
            <a:xfrm rot="5400000">
              <a:off x="6017182" y="850755"/>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Up Arrow 47">
              <a:extLst>
                <a:ext uri="{FF2B5EF4-FFF2-40B4-BE49-F238E27FC236}">
                  <a16:creationId xmlns:a16="http://schemas.microsoft.com/office/drawing/2014/main" id="{1D18D332-D9BE-8645-B8D6-E040F61A6567}"/>
                </a:ext>
              </a:extLst>
            </p:cNvPr>
            <p:cNvSpPr/>
            <p:nvPr/>
          </p:nvSpPr>
          <p:spPr>
            <a:xfrm rot="16200000">
              <a:off x="4912758" y="850817"/>
              <a:ext cx="228600" cy="433862"/>
            </a:xfrm>
            <a:prstGeom prst="upArrow">
              <a:avLst/>
            </a:prstGeom>
            <a:solidFill>
              <a:schemeClr val="accent6">
                <a:lumMod val="60000"/>
                <a:lumOff val="4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928388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Liquid</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pPr marL="342900" indent="-342900">
              <a:buFont typeface="Arial" panose="020B0604020202020204" pitchFamily="34" charset="0"/>
              <a:buChar char="•"/>
            </a:pPr>
            <a:r>
              <a:rPr lang="en-AU" sz="2400" dirty="0"/>
              <a:t>Forces are balanced.</a:t>
            </a:r>
          </a:p>
          <a:p>
            <a:pPr marL="342900" indent="-342900">
              <a:buFont typeface="Arial" panose="020B0604020202020204" pitchFamily="34" charset="0"/>
              <a:buChar char="•"/>
            </a:pPr>
            <a:r>
              <a:rPr lang="en-AU" sz="2400" dirty="0"/>
              <a:t>Variable shape.</a:t>
            </a:r>
          </a:p>
          <a:p>
            <a:pPr marL="342900" indent="-342900">
              <a:buFont typeface="Arial" panose="020B0604020202020204" pitchFamily="34" charset="0"/>
              <a:buChar char="•"/>
            </a:pPr>
            <a:r>
              <a:rPr lang="en-AU" sz="2400" dirty="0"/>
              <a:t>Particles are able to collide and remain attracted to each other.</a:t>
            </a:r>
          </a:p>
          <a:p>
            <a:pPr marL="342900" indent="-342900">
              <a:buFont typeface="Arial" panose="020B0604020202020204" pitchFamily="34" charset="0"/>
              <a:buChar char="•"/>
            </a:pPr>
            <a:r>
              <a:rPr lang="en-AU" sz="2400" dirty="0"/>
              <a:t>Fixed volume.</a:t>
            </a:r>
          </a:p>
        </p:txBody>
      </p:sp>
      <p:pic>
        <p:nvPicPr>
          <p:cNvPr id="49" name="Picture 48" descr="A picture containing clipart&#10;&#10;Description automatically generated">
            <a:extLst>
              <a:ext uri="{FF2B5EF4-FFF2-40B4-BE49-F238E27FC236}">
                <a16:creationId xmlns:a16="http://schemas.microsoft.com/office/drawing/2014/main" id="{D6397850-9557-4D4C-AA39-6B15BFE91891}"/>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31390" r="33539" b="4161"/>
          <a:stretch/>
        </p:blipFill>
        <p:spPr>
          <a:xfrm>
            <a:off x="8899328" y="754854"/>
            <a:ext cx="2200275" cy="1655339"/>
          </a:xfrm>
          <a:prstGeom prst="rect">
            <a:avLst/>
          </a:prstGeom>
        </p:spPr>
      </p:pic>
      <p:pic>
        <p:nvPicPr>
          <p:cNvPr id="52" name="Picture 51" descr="A group of blue lights&#10;&#10;Description automatically generated with low confidence">
            <a:extLst>
              <a:ext uri="{FF2B5EF4-FFF2-40B4-BE49-F238E27FC236}">
                <a16:creationId xmlns:a16="http://schemas.microsoft.com/office/drawing/2014/main" id="{59D2F0EE-65FD-E54A-8BC2-F1DA4B5474C1}"/>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493808" y="3473873"/>
            <a:ext cx="3843975" cy="2514600"/>
          </a:xfrm>
          <a:prstGeom prst="rect">
            <a:avLst/>
          </a:prstGeom>
        </p:spPr>
      </p:pic>
      <p:sp>
        <p:nvSpPr>
          <p:cNvPr id="53" name="TextBox 52">
            <a:extLst>
              <a:ext uri="{FF2B5EF4-FFF2-40B4-BE49-F238E27FC236}">
                <a16:creationId xmlns:a16="http://schemas.microsoft.com/office/drawing/2014/main" id="{2FE23D16-3ACE-A04A-9192-6B40EEABC14D}"/>
              </a:ext>
            </a:extLst>
          </p:cNvPr>
          <p:cNvSpPr txBox="1"/>
          <p:nvPr/>
        </p:nvSpPr>
        <p:spPr>
          <a:xfrm>
            <a:off x="854216" y="6858000"/>
            <a:ext cx="10483567" cy="230832"/>
          </a:xfrm>
          <a:prstGeom prst="rect">
            <a:avLst/>
          </a:prstGeom>
          <a:noFill/>
        </p:spPr>
        <p:txBody>
          <a:bodyPr wrap="square" rtlCol="0">
            <a:spAutoFit/>
          </a:bodyPr>
          <a:lstStyle/>
          <a:p>
            <a:r>
              <a:rPr lang="en-US" sz="900">
                <a:hlinkClick r:id="rId6" tooltip="https://en.wikipedia.org/wiki/Structure_of_liquids_and_glasses"/>
              </a:rPr>
              <a:t>This Photo</a:t>
            </a:r>
            <a:r>
              <a:rPr lang="en-US" sz="900"/>
              <a:t> by Unknown Author is licensed under </a:t>
            </a:r>
            <a:r>
              <a:rPr lang="en-US" sz="900">
                <a:hlinkClick r:id="rId7" tooltip="https://creativecommons.org/licenses/by-sa/3.0/"/>
              </a:rPr>
              <a:t>CC BY-SA</a:t>
            </a:r>
            <a:endParaRPr lang="en-US" sz="900"/>
          </a:p>
        </p:txBody>
      </p:sp>
    </p:spTree>
    <p:extLst>
      <p:ext uri="{BB962C8B-B14F-4D97-AF65-F5344CB8AC3E}">
        <p14:creationId xmlns:p14="http://schemas.microsoft.com/office/powerpoint/2010/main" val="3529861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Gases</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pPr marL="342900" indent="-342900">
              <a:buFont typeface="Arial" panose="020B0604020202020204" pitchFamily="34" charset="0"/>
              <a:buChar char="•"/>
            </a:pPr>
            <a:r>
              <a:rPr lang="en-AU" sz="2400" dirty="0"/>
              <a:t>Particles are fast moving.</a:t>
            </a:r>
          </a:p>
          <a:p>
            <a:pPr marL="342900" indent="-342900">
              <a:buFont typeface="Arial" panose="020B0604020202020204" pitchFamily="34" charset="0"/>
              <a:buChar char="•"/>
            </a:pPr>
            <a:r>
              <a:rPr lang="en-AU" sz="2400" dirty="0"/>
              <a:t>Variable shape.</a:t>
            </a:r>
          </a:p>
          <a:p>
            <a:pPr marL="342900" indent="-342900">
              <a:buFont typeface="Arial" panose="020B0604020202020204" pitchFamily="34" charset="0"/>
              <a:buChar char="•"/>
            </a:pPr>
            <a:r>
              <a:rPr lang="en-AU" sz="2400" dirty="0"/>
              <a:t>Variable volume.</a:t>
            </a:r>
          </a:p>
          <a:p>
            <a:pPr marL="342900" indent="-342900">
              <a:buFont typeface="Arial" panose="020B0604020202020204" pitchFamily="34" charset="0"/>
              <a:buChar char="•"/>
            </a:pPr>
            <a:r>
              <a:rPr lang="en-AU" sz="2400" dirty="0"/>
              <a:t>Particles have a high kinetic energy.</a:t>
            </a:r>
          </a:p>
          <a:p>
            <a:pPr marL="342900" indent="-342900">
              <a:buFont typeface="Arial" panose="020B0604020202020204" pitchFamily="34" charset="0"/>
              <a:buChar char="•"/>
            </a:pPr>
            <a:r>
              <a:rPr lang="en-AU" sz="2400" dirty="0"/>
              <a:t>When particles collide the attractive forces are not strong enough to keep them together.</a:t>
            </a:r>
          </a:p>
          <a:p>
            <a:pPr marL="342900" indent="-342900">
              <a:buFont typeface="Arial" panose="020B0604020202020204" pitchFamily="34" charset="0"/>
              <a:buChar char="•"/>
            </a:pPr>
            <a:r>
              <a:rPr lang="en-AU" sz="2400" dirty="0"/>
              <a:t>The repulsive forces make the particles move off in different directions.</a:t>
            </a:r>
          </a:p>
          <a:p>
            <a:pPr marL="342900" indent="-342900">
              <a:buFont typeface="Arial" panose="020B0604020202020204" pitchFamily="34" charset="0"/>
              <a:buChar char="•"/>
            </a:pPr>
            <a:endParaRPr lang="en-AU" sz="2400" dirty="0"/>
          </a:p>
        </p:txBody>
      </p:sp>
      <p:pic>
        <p:nvPicPr>
          <p:cNvPr id="5" name="Picture 4" descr="A picture containing text, computer, cup, indoor&#10;&#10;Description automatically generated">
            <a:extLst>
              <a:ext uri="{FF2B5EF4-FFF2-40B4-BE49-F238E27FC236}">
                <a16:creationId xmlns:a16="http://schemas.microsoft.com/office/drawing/2014/main" id="{A3B1EA53-503B-4E41-8E9E-BAE99C6AE114}"/>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4562" t="4606" r="67151" b="23355"/>
          <a:stretch/>
        </p:blipFill>
        <p:spPr>
          <a:xfrm>
            <a:off x="8178800" y="457200"/>
            <a:ext cx="2636838" cy="3128962"/>
          </a:xfrm>
          <a:prstGeom prst="rect">
            <a:avLst/>
          </a:prstGeom>
        </p:spPr>
      </p:pic>
      <p:grpSp>
        <p:nvGrpSpPr>
          <p:cNvPr id="9" name="Group 8">
            <a:extLst>
              <a:ext uri="{FF2B5EF4-FFF2-40B4-BE49-F238E27FC236}">
                <a16:creationId xmlns:a16="http://schemas.microsoft.com/office/drawing/2014/main" id="{65C05306-64DB-524A-A1F0-61C2647860AC}"/>
              </a:ext>
            </a:extLst>
          </p:cNvPr>
          <p:cNvGrpSpPr/>
          <p:nvPr/>
        </p:nvGrpSpPr>
        <p:grpSpPr>
          <a:xfrm>
            <a:off x="8543925" y="3713981"/>
            <a:ext cx="428625" cy="872307"/>
            <a:chOff x="8543925" y="3713981"/>
            <a:chExt cx="428625" cy="872307"/>
          </a:xfrm>
        </p:grpSpPr>
        <p:sp>
          <p:nvSpPr>
            <p:cNvPr id="7" name="Oval 6">
              <a:extLst>
                <a:ext uri="{FF2B5EF4-FFF2-40B4-BE49-F238E27FC236}">
                  <a16:creationId xmlns:a16="http://schemas.microsoft.com/office/drawing/2014/main" id="{59D4834A-4AD8-484B-B4E5-120E396AA7A5}"/>
                </a:ext>
              </a:extLst>
            </p:cNvPr>
            <p:cNvSpPr/>
            <p:nvPr/>
          </p:nvSpPr>
          <p:spPr>
            <a:xfrm>
              <a:off x="8543925" y="4113137"/>
              <a:ext cx="428625" cy="47315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Up Arrow 7">
              <a:extLst>
                <a:ext uri="{FF2B5EF4-FFF2-40B4-BE49-F238E27FC236}">
                  <a16:creationId xmlns:a16="http://schemas.microsoft.com/office/drawing/2014/main" id="{A2BE6197-7710-DC48-9C5D-4CDCA42F62DB}"/>
                </a:ext>
              </a:extLst>
            </p:cNvPr>
            <p:cNvSpPr/>
            <p:nvPr/>
          </p:nvSpPr>
          <p:spPr>
            <a:xfrm>
              <a:off x="8586787" y="3713981"/>
              <a:ext cx="356045" cy="399156"/>
            </a:xfrm>
            <a:prstGeom prst="up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E64C16D1-85AA-7C4C-BEB2-DA2195840A75}"/>
              </a:ext>
            </a:extLst>
          </p:cNvPr>
          <p:cNvGrpSpPr/>
          <p:nvPr/>
        </p:nvGrpSpPr>
        <p:grpSpPr>
          <a:xfrm rot="16630956">
            <a:off x="10601325" y="4586288"/>
            <a:ext cx="428625" cy="872307"/>
            <a:chOff x="8543925" y="3713981"/>
            <a:chExt cx="428625" cy="872307"/>
          </a:xfrm>
        </p:grpSpPr>
        <p:sp>
          <p:nvSpPr>
            <p:cNvPr id="14" name="Oval 13">
              <a:extLst>
                <a:ext uri="{FF2B5EF4-FFF2-40B4-BE49-F238E27FC236}">
                  <a16:creationId xmlns:a16="http://schemas.microsoft.com/office/drawing/2014/main" id="{3DD3072B-7A3F-004A-B934-B7E16F21D5F7}"/>
                </a:ext>
              </a:extLst>
            </p:cNvPr>
            <p:cNvSpPr/>
            <p:nvPr/>
          </p:nvSpPr>
          <p:spPr>
            <a:xfrm>
              <a:off x="8543925" y="4113137"/>
              <a:ext cx="428625" cy="47315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Up Arrow 14">
              <a:extLst>
                <a:ext uri="{FF2B5EF4-FFF2-40B4-BE49-F238E27FC236}">
                  <a16:creationId xmlns:a16="http://schemas.microsoft.com/office/drawing/2014/main" id="{81FD5BD1-C8CA-CB48-A418-28A42B0AF615}"/>
                </a:ext>
              </a:extLst>
            </p:cNvPr>
            <p:cNvSpPr/>
            <p:nvPr/>
          </p:nvSpPr>
          <p:spPr>
            <a:xfrm>
              <a:off x="8586787" y="3713981"/>
              <a:ext cx="356045" cy="399156"/>
            </a:xfrm>
            <a:prstGeom prst="up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262FB4A0-B1FC-9F43-94A0-7F72F690CFAE}"/>
              </a:ext>
            </a:extLst>
          </p:cNvPr>
          <p:cNvGrpSpPr/>
          <p:nvPr/>
        </p:nvGrpSpPr>
        <p:grpSpPr>
          <a:xfrm rot="4476781">
            <a:off x="8942831" y="5075970"/>
            <a:ext cx="428625" cy="872307"/>
            <a:chOff x="8543925" y="3713981"/>
            <a:chExt cx="428625" cy="872307"/>
          </a:xfrm>
        </p:grpSpPr>
        <p:sp>
          <p:nvSpPr>
            <p:cNvPr id="17" name="Oval 16">
              <a:extLst>
                <a:ext uri="{FF2B5EF4-FFF2-40B4-BE49-F238E27FC236}">
                  <a16:creationId xmlns:a16="http://schemas.microsoft.com/office/drawing/2014/main" id="{371355DC-2D3B-6B41-9366-554600583E9C}"/>
                </a:ext>
              </a:extLst>
            </p:cNvPr>
            <p:cNvSpPr/>
            <p:nvPr/>
          </p:nvSpPr>
          <p:spPr>
            <a:xfrm>
              <a:off x="8543925" y="4113137"/>
              <a:ext cx="428625" cy="47315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Up Arrow 17">
              <a:extLst>
                <a:ext uri="{FF2B5EF4-FFF2-40B4-BE49-F238E27FC236}">
                  <a16:creationId xmlns:a16="http://schemas.microsoft.com/office/drawing/2014/main" id="{0E481E67-7CEB-F648-9BC3-873E0EC6A255}"/>
                </a:ext>
              </a:extLst>
            </p:cNvPr>
            <p:cNvSpPr/>
            <p:nvPr/>
          </p:nvSpPr>
          <p:spPr>
            <a:xfrm>
              <a:off x="8586787" y="3713981"/>
              <a:ext cx="356045" cy="399156"/>
            </a:xfrm>
            <a:prstGeom prst="up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555CD9EF-EDAE-9049-8B32-61632F550867}"/>
              </a:ext>
            </a:extLst>
          </p:cNvPr>
          <p:cNvGrpSpPr/>
          <p:nvPr/>
        </p:nvGrpSpPr>
        <p:grpSpPr>
          <a:xfrm rot="7004476">
            <a:off x="10271569" y="3676983"/>
            <a:ext cx="428625" cy="872307"/>
            <a:chOff x="8543925" y="3713981"/>
            <a:chExt cx="428625" cy="872307"/>
          </a:xfrm>
        </p:grpSpPr>
        <p:sp>
          <p:nvSpPr>
            <p:cNvPr id="20" name="Oval 19">
              <a:extLst>
                <a:ext uri="{FF2B5EF4-FFF2-40B4-BE49-F238E27FC236}">
                  <a16:creationId xmlns:a16="http://schemas.microsoft.com/office/drawing/2014/main" id="{AFF2A148-831B-F24C-9A7D-7043729401DE}"/>
                </a:ext>
              </a:extLst>
            </p:cNvPr>
            <p:cNvSpPr/>
            <p:nvPr/>
          </p:nvSpPr>
          <p:spPr>
            <a:xfrm>
              <a:off x="8543925" y="4113137"/>
              <a:ext cx="428625" cy="47315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Up Arrow 20">
              <a:extLst>
                <a:ext uri="{FF2B5EF4-FFF2-40B4-BE49-F238E27FC236}">
                  <a16:creationId xmlns:a16="http://schemas.microsoft.com/office/drawing/2014/main" id="{F9FEFDEA-CFFF-D645-AD55-2930FB872419}"/>
                </a:ext>
              </a:extLst>
            </p:cNvPr>
            <p:cNvSpPr/>
            <p:nvPr/>
          </p:nvSpPr>
          <p:spPr>
            <a:xfrm>
              <a:off x="8586787" y="3713981"/>
              <a:ext cx="356045" cy="399156"/>
            </a:xfrm>
            <a:prstGeom prst="up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a:extLst>
              <a:ext uri="{FF2B5EF4-FFF2-40B4-BE49-F238E27FC236}">
                <a16:creationId xmlns:a16="http://schemas.microsoft.com/office/drawing/2014/main" id="{98146659-DE17-1046-B617-F000353AB4EB}"/>
              </a:ext>
            </a:extLst>
          </p:cNvPr>
          <p:cNvGrpSpPr/>
          <p:nvPr/>
        </p:nvGrpSpPr>
        <p:grpSpPr>
          <a:xfrm rot="703368">
            <a:off x="10129075" y="5426024"/>
            <a:ext cx="428625" cy="872307"/>
            <a:chOff x="8543925" y="3713981"/>
            <a:chExt cx="428625" cy="872307"/>
          </a:xfrm>
        </p:grpSpPr>
        <p:sp>
          <p:nvSpPr>
            <p:cNvPr id="23" name="Oval 22">
              <a:extLst>
                <a:ext uri="{FF2B5EF4-FFF2-40B4-BE49-F238E27FC236}">
                  <a16:creationId xmlns:a16="http://schemas.microsoft.com/office/drawing/2014/main" id="{2F80D36C-0E98-9E43-9FC1-681706107113}"/>
                </a:ext>
              </a:extLst>
            </p:cNvPr>
            <p:cNvSpPr/>
            <p:nvPr/>
          </p:nvSpPr>
          <p:spPr>
            <a:xfrm>
              <a:off x="8543925" y="4113137"/>
              <a:ext cx="428625" cy="473151"/>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Up Arrow 23">
              <a:extLst>
                <a:ext uri="{FF2B5EF4-FFF2-40B4-BE49-F238E27FC236}">
                  <a16:creationId xmlns:a16="http://schemas.microsoft.com/office/drawing/2014/main" id="{CE4A5164-BEE2-D643-8E75-FFEE065DE9E8}"/>
                </a:ext>
              </a:extLst>
            </p:cNvPr>
            <p:cNvSpPr/>
            <p:nvPr/>
          </p:nvSpPr>
          <p:spPr>
            <a:xfrm>
              <a:off x="8586787" y="3713981"/>
              <a:ext cx="356045" cy="399156"/>
            </a:xfrm>
            <a:prstGeom prst="upArrow">
              <a:avLst/>
            </a:prstGeom>
            <a:solidFill>
              <a:schemeClr val="accent2">
                <a:lumMod val="75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25646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Plasma</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4</a:t>
            </a:r>
            <a:r>
              <a:rPr lang="en-AU" sz="2400" baseline="30000" dirty="0"/>
              <a:t>th</a:t>
            </a:r>
            <a:r>
              <a:rPr lang="en-AU" sz="2400" dirty="0"/>
              <a:t> state of matter.</a:t>
            </a:r>
          </a:p>
          <a:p>
            <a:endParaRPr lang="en-AU" sz="2400" dirty="0"/>
          </a:p>
          <a:p>
            <a:r>
              <a:rPr lang="en-AU" sz="2400" dirty="0"/>
              <a:t>Plasma exists when matter is heated to very high temperatures resulting in electrons being freed.</a:t>
            </a:r>
          </a:p>
          <a:p>
            <a:endParaRPr lang="en-AU" sz="2400" dirty="0"/>
          </a:p>
          <a:p>
            <a:r>
              <a:rPr lang="en-AU" sz="2400" dirty="0"/>
              <a:t>Ionisation – when gases loose electrons.</a:t>
            </a:r>
          </a:p>
          <a:p>
            <a:r>
              <a:rPr lang="en-AU" sz="2400" dirty="0"/>
              <a:t>Protons = Electrons</a:t>
            </a:r>
          </a:p>
        </p:txBody>
      </p:sp>
      <p:pic>
        <p:nvPicPr>
          <p:cNvPr id="6" name="Picture 5">
            <a:extLst>
              <a:ext uri="{FF2B5EF4-FFF2-40B4-BE49-F238E27FC236}">
                <a16:creationId xmlns:a16="http://schemas.microsoft.com/office/drawing/2014/main" id="{4C0F9ED3-3900-8449-A305-28F08D8F522F}"/>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860434" y="1548396"/>
            <a:ext cx="2794000" cy="2794000"/>
          </a:xfrm>
          <a:prstGeom prst="rect">
            <a:avLst/>
          </a:prstGeom>
        </p:spPr>
      </p:pic>
      <p:sp>
        <p:nvSpPr>
          <p:cNvPr id="10" name="TextBox 9">
            <a:extLst>
              <a:ext uri="{FF2B5EF4-FFF2-40B4-BE49-F238E27FC236}">
                <a16:creationId xmlns:a16="http://schemas.microsoft.com/office/drawing/2014/main" id="{774CB43C-BB4F-2D46-9976-C3C16ED5FABD}"/>
              </a:ext>
            </a:extLst>
          </p:cNvPr>
          <p:cNvSpPr txBox="1"/>
          <p:nvPr/>
        </p:nvSpPr>
        <p:spPr>
          <a:xfrm>
            <a:off x="4227512" y="8226425"/>
            <a:ext cx="2794000" cy="369332"/>
          </a:xfrm>
          <a:prstGeom prst="rect">
            <a:avLst/>
          </a:prstGeom>
          <a:noFill/>
        </p:spPr>
        <p:txBody>
          <a:bodyPr wrap="square" rtlCol="0">
            <a:spAutoFit/>
          </a:bodyPr>
          <a:lstStyle/>
          <a:p>
            <a:r>
              <a:rPr lang="en-US" sz="900" dirty="0">
                <a:hlinkClick r:id="rId4" tooltip="https://en.wikipedia.org/wiki/Plasma_globe"/>
              </a:rPr>
              <a:t>This Photo</a:t>
            </a:r>
            <a:r>
              <a:rPr lang="en-US" sz="900" dirty="0"/>
              <a:t> by Unknown Author is licensed under </a:t>
            </a:r>
            <a:r>
              <a:rPr lang="en-US" sz="900" dirty="0">
                <a:hlinkClick r:id="rId5" tooltip="https://creativecommons.org/licenses/by-sa/3.0/"/>
              </a:rPr>
              <a:t>CC BY-SA</a:t>
            </a:r>
            <a:endParaRPr lang="en-US" sz="900" dirty="0"/>
          </a:p>
        </p:txBody>
      </p:sp>
    </p:spTree>
    <p:extLst>
      <p:ext uri="{BB962C8B-B14F-4D97-AF65-F5344CB8AC3E}">
        <p14:creationId xmlns:p14="http://schemas.microsoft.com/office/powerpoint/2010/main" val="3106197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Bose-Einstein condensate </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5</a:t>
            </a:r>
            <a:r>
              <a:rPr lang="en-AU" sz="2400" baseline="30000" dirty="0"/>
              <a:t>th</a:t>
            </a:r>
            <a:r>
              <a:rPr lang="en-AU" sz="2400" dirty="0"/>
              <a:t> state of matter.</a:t>
            </a:r>
          </a:p>
          <a:p>
            <a:endParaRPr lang="en-AU" sz="2400" dirty="0"/>
          </a:p>
          <a:p>
            <a:r>
              <a:rPr lang="en-AU" sz="2400" dirty="0"/>
              <a:t>Exists very close to absolute zero.</a:t>
            </a:r>
          </a:p>
          <a:p>
            <a:endParaRPr lang="en-AU" sz="2400" dirty="0"/>
          </a:p>
          <a:p>
            <a:r>
              <a:rPr lang="en-AU" sz="2400" dirty="0"/>
              <a:t>The point at which the movement in the particles almost stops.</a:t>
            </a:r>
          </a:p>
          <a:p>
            <a:endParaRPr lang="en-AU" sz="2400" dirty="0"/>
          </a:p>
          <a:p>
            <a:r>
              <a:rPr lang="en-AU" sz="2400" dirty="0"/>
              <a:t>Atoms clump together and show properties of super fluid.</a:t>
            </a:r>
          </a:p>
        </p:txBody>
      </p:sp>
    </p:spTree>
    <p:extLst>
      <p:ext uri="{BB962C8B-B14F-4D97-AF65-F5344CB8AC3E}">
        <p14:creationId xmlns:p14="http://schemas.microsoft.com/office/powerpoint/2010/main" val="61667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Heat</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Heat - Transfer of thermal energy from a hotter body to colder body.</a:t>
            </a:r>
          </a:p>
          <a:p>
            <a:endParaRPr lang="en-AU" sz="2400" dirty="0"/>
          </a:p>
          <a:p>
            <a:r>
              <a:rPr lang="en-AU" sz="2400" dirty="0"/>
              <a:t>When an item is heated there will be a net gain in kinetic energy or potential energy. </a:t>
            </a:r>
          </a:p>
          <a:p>
            <a:r>
              <a:rPr lang="en-AU" sz="2400" dirty="0"/>
              <a:t>Gain in kinetic energy – gain in temperature.</a:t>
            </a:r>
          </a:p>
          <a:p>
            <a:r>
              <a:rPr lang="en-AU" sz="2400" dirty="0"/>
              <a:t>Gain in potential energy – change in state or expansion of object (no temp change).</a:t>
            </a:r>
          </a:p>
          <a:p>
            <a:endParaRPr lang="en-AU" sz="2400" dirty="0"/>
          </a:p>
        </p:txBody>
      </p:sp>
      <p:grpSp>
        <p:nvGrpSpPr>
          <p:cNvPr id="4" name="Group 3">
            <a:extLst>
              <a:ext uri="{FF2B5EF4-FFF2-40B4-BE49-F238E27FC236}">
                <a16:creationId xmlns:a16="http://schemas.microsoft.com/office/drawing/2014/main" id="{F95B6E1C-D7F1-7540-BEC5-4F46D24B6FAC}"/>
              </a:ext>
            </a:extLst>
          </p:cNvPr>
          <p:cNvGrpSpPr/>
          <p:nvPr/>
        </p:nvGrpSpPr>
        <p:grpSpPr>
          <a:xfrm>
            <a:off x="7786688" y="316223"/>
            <a:ext cx="4289571" cy="1605279"/>
            <a:chOff x="3657599" y="1716154"/>
            <a:chExt cx="2211388" cy="1842129"/>
          </a:xfrm>
        </p:grpSpPr>
        <p:sp>
          <p:nvSpPr>
            <p:cNvPr id="5" name="TextBox 4">
              <a:extLst>
                <a:ext uri="{FF2B5EF4-FFF2-40B4-BE49-F238E27FC236}">
                  <a16:creationId xmlns:a16="http://schemas.microsoft.com/office/drawing/2014/main" id="{337B2233-CE75-D64C-9C8D-18D77623A18C}"/>
                </a:ext>
              </a:extLst>
            </p:cNvPr>
            <p:cNvSpPr txBox="1"/>
            <p:nvPr/>
          </p:nvSpPr>
          <p:spPr>
            <a:xfrm>
              <a:off x="3657600" y="2074896"/>
              <a:ext cx="2203768" cy="1483387"/>
            </a:xfrm>
            <a:prstGeom prst="rect">
              <a:avLst/>
            </a:prstGeom>
            <a:solidFill>
              <a:schemeClr val="bg1"/>
            </a:solidFill>
            <a:ln>
              <a:solidFill>
                <a:srgbClr val="A14986"/>
              </a:solidFill>
            </a:ln>
          </p:spPr>
          <p:txBody>
            <a:bodyPr wrap="square" rtlCol="0" anchor="t" anchorCtr="0">
              <a:spAutoFit/>
            </a:bodyPr>
            <a:lstStyle/>
            <a:p>
              <a:pPr algn="l"/>
              <a:r>
                <a:rPr lang="en-US" sz="1300" b="1" dirty="0">
                  <a:latin typeface="Century Gothic" panose="020B0502020202020204" pitchFamily="34" charset="0"/>
                  <a:cs typeface="Futura Medium" panose="020B0602020204020303" pitchFamily="34" charset="-79"/>
                </a:rPr>
                <a:t>Thermal energy – </a:t>
              </a:r>
              <a:r>
                <a:rPr lang="en-US" sz="1300" dirty="0">
                  <a:latin typeface="Century Gothic" panose="020B0502020202020204" pitchFamily="34" charset="0"/>
                  <a:cs typeface="Futura Medium" panose="020B0602020204020303" pitchFamily="34" charset="-79"/>
                </a:rPr>
                <a:t>energy contained in a system that is responsible for its temperature </a:t>
              </a:r>
            </a:p>
            <a:p>
              <a:pPr algn="l"/>
              <a:r>
                <a:rPr lang="en-US" sz="1300" b="1" dirty="0">
                  <a:latin typeface="Century Gothic" panose="020B0502020202020204" pitchFamily="34" charset="0"/>
                  <a:cs typeface="Futura Medium" panose="020B0602020204020303" pitchFamily="34" charset="-79"/>
                </a:rPr>
                <a:t>Kinetic energy – </a:t>
              </a:r>
              <a:r>
                <a:rPr lang="en-US" sz="1300" dirty="0">
                  <a:latin typeface="Century Gothic" panose="020B0502020202020204" pitchFamily="34" charset="0"/>
                  <a:cs typeface="Futura Medium" panose="020B0602020204020303" pitchFamily="34" charset="-79"/>
                </a:rPr>
                <a:t>energy of motion</a:t>
              </a:r>
            </a:p>
            <a:p>
              <a:pPr algn="l"/>
              <a:r>
                <a:rPr lang="en-US" sz="1300" b="1" dirty="0">
                  <a:latin typeface="Century Gothic" panose="020B0502020202020204" pitchFamily="34" charset="0"/>
                  <a:cs typeface="Futura Medium" panose="020B0602020204020303" pitchFamily="34" charset="-79"/>
                </a:rPr>
                <a:t>Potential energy – </a:t>
              </a:r>
              <a:r>
                <a:rPr lang="en-US" sz="1300" dirty="0">
                  <a:latin typeface="Century Gothic" panose="020B0502020202020204" pitchFamily="34" charset="0"/>
                  <a:cs typeface="Futura Medium" panose="020B0602020204020303" pitchFamily="34" charset="-79"/>
                </a:rPr>
                <a:t>stored energy (in bonds)</a:t>
              </a:r>
            </a:p>
            <a:p>
              <a:pPr algn="l"/>
              <a:r>
                <a:rPr lang="en-US" sz="1300" b="1" dirty="0">
                  <a:latin typeface="Century Gothic" panose="020B0502020202020204" pitchFamily="34" charset="0"/>
                  <a:cs typeface="Futura Medium" panose="020B0602020204020303" pitchFamily="34" charset="-79"/>
                </a:rPr>
                <a:t>Internal energy – </a:t>
              </a:r>
              <a:r>
                <a:rPr lang="en-US" sz="1300" dirty="0">
                  <a:latin typeface="Century Gothic" panose="020B0502020202020204" pitchFamily="34" charset="0"/>
                  <a:cs typeface="Futura Medium" panose="020B0602020204020303" pitchFamily="34" charset="-79"/>
                </a:rPr>
                <a:t>total kinetic and potential energy within a substance.</a:t>
              </a:r>
              <a:endParaRPr lang="en-US" sz="1300" b="1" dirty="0">
                <a:latin typeface="Century Gothic" panose="020B0502020202020204" pitchFamily="34" charset="0"/>
                <a:cs typeface="Futura Medium" panose="020B0602020204020303" pitchFamily="34" charset="-79"/>
              </a:endParaRPr>
            </a:p>
          </p:txBody>
        </p:sp>
        <p:sp>
          <p:nvSpPr>
            <p:cNvPr id="6" name="TextBox 5">
              <a:extLst>
                <a:ext uri="{FF2B5EF4-FFF2-40B4-BE49-F238E27FC236}">
                  <a16:creationId xmlns:a16="http://schemas.microsoft.com/office/drawing/2014/main" id="{A9462D15-8F13-1943-9011-5D3A3ABBF85B}"/>
                </a:ext>
              </a:extLst>
            </p:cNvPr>
            <p:cNvSpPr txBox="1">
              <a:spLocks noChangeAspect="1"/>
            </p:cNvSpPr>
            <p:nvPr/>
          </p:nvSpPr>
          <p:spPr>
            <a:xfrm>
              <a:off x="3657599" y="1716154"/>
              <a:ext cx="2211388" cy="358742"/>
            </a:xfrm>
            <a:prstGeom prst="rect">
              <a:avLst/>
            </a:prstGeom>
            <a:solidFill>
              <a:srgbClr val="A14986"/>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Vocabulary</a:t>
              </a:r>
            </a:p>
          </p:txBody>
        </p:sp>
      </p:grpSp>
      <p:pic>
        <p:nvPicPr>
          <p:cNvPr id="11" name="Picture 10" descr="A picture containing candle&#10;&#10;Description automatically generated">
            <a:extLst>
              <a:ext uri="{FF2B5EF4-FFF2-40B4-BE49-F238E27FC236}">
                <a16:creationId xmlns:a16="http://schemas.microsoft.com/office/drawing/2014/main" id="{0E8EE82B-815D-AF4F-A6EB-C36BAD6B8396}"/>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8064500" y="2457450"/>
            <a:ext cx="3492500" cy="2743200"/>
          </a:xfrm>
          <a:prstGeom prst="rect">
            <a:avLst/>
          </a:prstGeom>
        </p:spPr>
      </p:pic>
    </p:spTree>
    <p:extLst>
      <p:ext uri="{BB962C8B-B14F-4D97-AF65-F5344CB8AC3E}">
        <p14:creationId xmlns:p14="http://schemas.microsoft.com/office/powerpoint/2010/main" val="1826834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Temperature</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Fahrenheit and Celsius are the two most common scales used to indicate the temperature.</a:t>
            </a:r>
          </a:p>
          <a:p>
            <a:endParaRPr lang="en-AU" sz="2400" dirty="0"/>
          </a:p>
          <a:p>
            <a:r>
              <a:rPr lang="en-AU" sz="2400" dirty="0"/>
              <a:t>Two of the most notable points on the Celsius scale are 0</a:t>
            </a:r>
            <a:r>
              <a:rPr lang="en-AU" sz="2400" baseline="30000" dirty="0"/>
              <a:t>O</a:t>
            </a:r>
            <a:r>
              <a:rPr lang="en-AU" sz="2400" dirty="0"/>
              <a:t>C and 100</a:t>
            </a:r>
            <a:r>
              <a:rPr lang="en-AU" sz="2400" baseline="30000" dirty="0"/>
              <a:t>O</a:t>
            </a:r>
            <a:r>
              <a:rPr lang="en-AU" sz="2400" dirty="0"/>
              <a:t>C.</a:t>
            </a:r>
          </a:p>
          <a:p>
            <a:r>
              <a:rPr lang="en-AU" sz="2400" dirty="0"/>
              <a:t>0</a:t>
            </a:r>
            <a:r>
              <a:rPr lang="en-AU" sz="2400" baseline="30000" dirty="0"/>
              <a:t>O</a:t>
            </a:r>
            <a:r>
              <a:rPr lang="en-AU" sz="2400" dirty="0"/>
              <a:t>C – is known as freezing point of water.</a:t>
            </a:r>
          </a:p>
          <a:p>
            <a:r>
              <a:rPr lang="en-AU" sz="2400" dirty="0"/>
              <a:t>This is the point where water will turn from a liquid into a solid. The particles are still vibrating in place.</a:t>
            </a:r>
          </a:p>
        </p:txBody>
      </p:sp>
      <p:pic>
        <p:nvPicPr>
          <p:cNvPr id="8" name="Picture 7" descr="Diagram, schematic&#10;&#10;Description automatically generated">
            <a:extLst>
              <a:ext uri="{FF2B5EF4-FFF2-40B4-BE49-F238E27FC236}">
                <a16:creationId xmlns:a16="http://schemas.microsoft.com/office/drawing/2014/main" id="{BB38165D-81A2-5D42-A654-377F9D1FC42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662347" y="48359"/>
            <a:ext cx="5353829" cy="6858000"/>
          </a:xfrm>
          <a:prstGeom prst="rect">
            <a:avLst/>
          </a:prstGeom>
        </p:spPr>
      </p:pic>
      <p:sp>
        <p:nvSpPr>
          <p:cNvPr id="9" name="TextBox 8">
            <a:extLst>
              <a:ext uri="{FF2B5EF4-FFF2-40B4-BE49-F238E27FC236}">
                <a16:creationId xmlns:a16="http://schemas.microsoft.com/office/drawing/2014/main" id="{A58CC186-3ECA-9E4A-BB77-DC166CFA9F6B}"/>
              </a:ext>
            </a:extLst>
          </p:cNvPr>
          <p:cNvSpPr txBox="1"/>
          <p:nvPr/>
        </p:nvSpPr>
        <p:spPr>
          <a:xfrm>
            <a:off x="3419085" y="6858000"/>
            <a:ext cx="5353829" cy="230832"/>
          </a:xfrm>
          <a:prstGeom prst="rect">
            <a:avLst/>
          </a:prstGeom>
          <a:noFill/>
        </p:spPr>
        <p:txBody>
          <a:bodyPr wrap="square" rtlCol="0">
            <a:spAutoFit/>
          </a:bodyPr>
          <a:lstStyle/>
          <a:p>
            <a:r>
              <a:rPr lang="en-US" sz="900">
                <a:hlinkClick r:id="rId4" tooltip="http://tex.stackexchange.com/questions/124144/fill-of-a-thermometer"/>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3334408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Kelvin Scale (K)</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The Kelvin scale is known as the absolute scale for temperature as it does not have negative values.</a:t>
            </a:r>
          </a:p>
          <a:p>
            <a:endParaRPr lang="en-AU" sz="2400" dirty="0"/>
          </a:p>
          <a:p>
            <a:r>
              <a:rPr lang="en-AU" sz="2400" dirty="0"/>
              <a:t>The lowest point on the Kelvin scale is known as ‘absolute zero’. </a:t>
            </a:r>
          </a:p>
          <a:p>
            <a:r>
              <a:rPr lang="en-AU" sz="2400" dirty="0">
                <a:solidFill>
                  <a:srgbClr val="C00000"/>
                </a:solidFill>
              </a:rPr>
              <a:t>Absolute Zero</a:t>
            </a:r>
          </a:p>
          <a:p>
            <a:r>
              <a:rPr lang="en-AU" sz="2400" dirty="0"/>
              <a:t>All molecular motion ceases at absolute zero. The coldest temperature possible.</a:t>
            </a:r>
          </a:p>
          <a:p>
            <a:endParaRPr lang="en-AU" sz="2400" dirty="0"/>
          </a:p>
          <a:p>
            <a:r>
              <a:rPr lang="en-AU" sz="2400" dirty="0"/>
              <a:t>0K = -237.15</a:t>
            </a:r>
            <a:r>
              <a:rPr lang="en-AU" sz="2400" baseline="30000" dirty="0"/>
              <a:t>O</a:t>
            </a:r>
            <a:r>
              <a:rPr lang="en-AU" sz="2400" dirty="0"/>
              <a:t>C</a:t>
            </a:r>
          </a:p>
          <a:p>
            <a:endParaRPr lang="en-AU" sz="2400" dirty="0"/>
          </a:p>
          <a:p>
            <a:r>
              <a:rPr lang="en-AU" sz="2400" dirty="0"/>
              <a:t>Unit sizes between </a:t>
            </a:r>
            <a:r>
              <a:rPr lang="en-AU" sz="2400" baseline="30000" dirty="0"/>
              <a:t>O</a:t>
            </a:r>
            <a:r>
              <a:rPr lang="en-AU" sz="2400" dirty="0"/>
              <a:t>C and K are equal.</a:t>
            </a:r>
          </a:p>
          <a:p>
            <a:endParaRPr lang="en-AU" sz="2400" dirty="0"/>
          </a:p>
        </p:txBody>
      </p:sp>
      <p:pic>
        <p:nvPicPr>
          <p:cNvPr id="13" name="Picture 12" descr="Diagram&#10;&#10;Description automatically generated">
            <a:extLst>
              <a:ext uri="{FF2B5EF4-FFF2-40B4-BE49-F238E27FC236}">
                <a16:creationId xmlns:a16="http://schemas.microsoft.com/office/drawing/2014/main" id="{22867D67-D7AB-4747-8F3C-F7C7C4DF2BE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867525" y="48359"/>
            <a:ext cx="5324475" cy="3720306"/>
          </a:xfrm>
          <a:prstGeom prst="rect">
            <a:avLst/>
          </a:prstGeom>
        </p:spPr>
      </p:pic>
      <p:pic>
        <p:nvPicPr>
          <p:cNvPr id="16" name="Picture 15" descr="Timeline&#10;&#10;Description automatically generated">
            <a:extLst>
              <a:ext uri="{FF2B5EF4-FFF2-40B4-BE49-F238E27FC236}">
                <a16:creationId xmlns:a16="http://schemas.microsoft.com/office/drawing/2014/main" id="{957BA5F6-8B8B-FD4E-AA2B-C4D6A83BF6E5}"/>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560468" y="3976290"/>
            <a:ext cx="3938587" cy="2625725"/>
          </a:xfrm>
          <a:prstGeom prst="rect">
            <a:avLst/>
          </a:prstGeom>
        </p:spPr>
      </p:pic>
      <p:sp>
        <p:nvSpPr>
          <p:cNvPr id="17" name="TextBox 16">
            <a:extLst>
              <a:ext uri="{FF2B5EF4-FFF2-40B4-BE49-F238E27FC236}">
                <a16:creationId xmlns:a16="http://schemas.microsoft.com/office/drawing/2014/main" id="{602E8F57-2D60-2C4A-8883-F480CDD0FB4A}"/>
              </a:ext>
            </a:extLst>
          </p:cNvPr>
          <p:cNvSpPr txBox="1"/>
          <p:nvPr/>
        </p:nvSpPr>
        <p:spPr>
          <a:xfrm>
            <a:off x="952500" y="6858000"/>
            <a:ext cx="10287000" cy="230832"/>
          </a:xfrm>
          <a:prstGeom prst="rect">
            <a:avLst/>
          </a:prstGeom>
          <a:noFill/>
        </p:spPr>
        <p:txBody>
          <a:bodyPr wrap="square" rtlCol="0">
            <a:spAutoFit/>
          </a:bodyPr>
          <a:lstStyle/>
          <a:p>
            <a:r>
              <a:rPr lang="en-US" sz="900">
                <a:hlinkClick r:id="rId6" tooltip="https://www.iphonemod.net/what-is-the-true-tone-display.html"/>
              </a:rPr>
              <a:t>This Photo</a:t>
            </a:r>
            <a:r>
              <a:rPr lang="en-US" sz="900"/>
              <a:t> by Unknown Author is licensed under </a:t>
            </a:r>
            <a:r>
              <a:rPr lang="en-US" sz="900">
                <a:hlinkClick r:id="rId7" tooltip="https://creativecommons.org/licenses/by-nc/3.0/"/>
              </a:rPr>
              <a:t>CC BY-NC</a:t>
            </a:r>
            <a:endParaRPr lang="en-US" sz="900"/>
          </a:p>
        </p:txBody>
      </p:sp>
    </p:spTree>
    <p:extLst>
      <p:ext uri="{BB962C8B-B14F-4D97-AF65-F5344CB8AC3E}">
        <p14:creationId xmlns:p14="http://schemas.microsoft.com/office/powerpoint/2010/main" val="4147357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Kelvin Scale (K)</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The Kelvin scale is known as the absolute scale for temperature as it does not have negative values.</a:t>
            </a:r>
          </a:p>
          <a:p>
            <a:endParaRPr lang="en-AU" sz="2400" dirty="0"/>
          </a:p>
          <a:p>
            <a:r>
              <a:rPr lang="en-AU" sz="2400" dirty="0"/>
              <a:t>The lowest point on the Kelvin scale is known as ‘absolute zero’. </a:t>
            </a:r>
          </a:p>
          <a:p>
            <a:r>
              <a:rPr lang="en-AU" sz="2400" dirty="0">
                <a:solidFill>
                  <a:srgbClr val="C00000"/>
                </a:solidFill>
              </a:rPr>
              <a:t>Absolute Zero</a:t>
            </a:r>
          </a:p>
          <a:p>
            <a:r>
              <a:rPr lang="en-AU" sz="2400" dirty="0"/>
              <a:t>All molecular motion ceases at absolute zero. The coldest temperature possible.</a:t>
            </a:r>
          </a:p>
          <a:p>
            <a:endParaRPr lang="en-AU" sz="2400" dirty="0"/>
          </a:p>
          <a:p>
            <a:r>
              <a:rPr lang="en-AU" sz="2400" dirty="0"/>
              <a:t>0K = -237.15</a:t>
            </a:r>
            <a:r>
              <a:rPr lang="en-AU" sz="2400" baseline="30000" dirty="0"/>
              <a:t>O</a:t>
            </a:r>
            <a:r>
              <a:rPr lang="en-AU" sz="2400" dirty="0"/>
              <a:t>C</a:t>
            </a:r>
          </a:p>
          <a:p>
            <a:endParaRPr lang="en-AU" sz="2400" dirty="0"/>
          </a:p>
          <a:p>
            <a:r>
              <a:rPr lang="en-AU" sz="2400" dirty="0"/>
              <a:t>Unit sizes between </a:t>
            </a:r>
            <a:r>
              <a:rPr lang="en-AU" sz="2400" baseline="30000" dirty="0"/>
              <a:t>O</a:t>
            </a:r>
            <a:r>
              <a:rPr lang="en-AU" sz="2400" dirty="0"/>
              <a:t>C and K are equal.</a:t>
            </a:r>
          </a:p>
          <a:p>
            <a:endParaRPr lang="en-AU" sz="2400" dirty="0"/>
          </a:p>
        </p:txBody>
      </p:sp>
      <p:pic>
        <p:nvPicPr>
          <p:cNvPr id="13" name="Picture 12" descr="Diagram&#10;&#10;Description automatically generated">
            <a:extLst>
              <a:ext uri="{FF2B5EF4-FFF2-40B4-BE49-F238E27FC236}">
                <a16:creationId xmlns:a16="http://schemas.microsoft.com/office/drawing/2014/main" id="{22867D67-D7AB-4747-8F3C-F7C7C4DF2BEE}"/>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867525" y="48359"/>
            <a:ext cx="5324475" cy="3720306"/>
          </a:xfrm>
          <a:prstGeom prst="rect">
            <a:avLst/>
          </a:prstGeom>
        </p:spPr>
      </p:pic>
      <p:pic>
        <p:nvPicPr>
          <p:cNvPr id="16" name="Picture 15" descr="Timeline&#10;&#10;Description automatically generated">
            <a:extLst>
              <a:ext uri="{FF2B5EF4-FFF2-40B4-BE49-F238E27FC236}">
                <a16:creationId xmlns:a16="http://schemas.microsoft.com/office/drawing/2014/main" id="{957BA5F6-8B8B-FD4E-AA2B-C4D6A83BF6E5}"/>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7560468" y="3976290"/>
            <a:ext cx="3938587" cy="2625725"/>
          </a:xfrm>
          <a:prstGeom prst="rect">
            <a:avLst/>
          </a:prstGeom>
        </p:spPr>
      </p:pic>
      <p:sp>
        <p:nvSpPr>
          <p:cNvPr id="17" name="TextBox 16">
            <a:extLst>
              <a:ext uri="{FF2B5EF4-FFF2-40B4-BE49-F238E27FC236}">
                <a16:creationId xmlns:a16="http://schemas.microsoft.com/office/drawing/2014/main" id="{602E8F57-2D60-2C4A-8883-F480CDD0FB4A}"/>
              </a:ext>
            </a:extLst>
          </p:cNvPr>
          <p:cNvSpPr txBox="1"/>
          <p:nvPr/>
        </p:nvSpPr>
        <p:spPr>
          <a:xfrm>
            <a:off x="952500" y="6858000"/>
            <a:ext cx="10287000" cy="230832"/>
          </a:xfrm>
          <a:prstGeom prst="rect">
            <a:avLst/>
          </a:prstGeom>
          <a:noFill/>
        </p:spPr>
        <p:txBody>
          <a:bodyPr wrap="square" rtlCol="0">
            <a:spAutoFit/>
          </a:bodyPr>
          <a:lstStyle/>
          <a:p>
            <a:r>
              <a:rPr lang="en-US" sz="900">
                <a:hlinkClick r:id="rId6" tooltip="https://www.iphonemod.net/what-is-the-true-tone-display.html"/>
              </a:rPr>
              <a:t>This Photo</a:t>
            </a:r>
            <a:r>
              <a:rPr lang="en-US" sz="900"/>
              <a:t> by Unknown Author is licensed under </a:t>
            </a:r>
            <a:r>
              <a:rPr lang="en-US" sz="900">
                <a:hlinkClick r:id="rId7" tooltip="https://creativecommons.org/licenses/by-nc/3.0/"/>
              </a:rPr>
              <a:t>CC BY-NC</a:t>
            </a:r>
            <a:endParaRPr lang="en-US" sz="900"/>
          </a:p>
        </p:txBody>
      </p:sp>
    </p:spTree>
    <p:extLst>
      <p:ext uri="{BB962C8B-B14F-4D97-AF65-F5344CB8AC3E}">
        <p14:creationId xmlns:p14="http://schemas.microsoft.com/office/powerpoint/2010/main" val="210860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Energy Transfer</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Two objects that are in contact within one another but have different temperatures, energy from the hotter object will transfer from the hotter object to cooler object.</a:t>
            </a:r>
          </a:p>
          <a:p>
            <a:endParaRPr lang="en-AU" sz="2400" dirty="0"/>
          </a:p>
          <a:p>
            <a:r>
              <a:rPr lang="en-AU" sz="2400" dirty="0"/>
              <a:t>One object will increase in temperature whilst the other decreases.</a:t>
            </a:r>
          </a:p>
          <a:p>
            <a:endParaRPr lang="en-AU" sz="2400" dirty="0"/>
          </a:p>
          <a:p>
            <a:r>
              <a:rPr lang="en-AU" sz="2400" dirty="0"/>
              <a:t>The transfer of energy will stop when the two objects are at the same temperature (thermal equilibrium).</a:t>
            </a:r>
          </a:p>
          <a:p>
            <a:endParaRPr lang="en-AU" sz="2400" dirty="0"/>
          </a:p>
        </p:txBody>
      </p:sp>
      <p:pic>
        <p:nvPicPr>
          <p:cNvPr id="5" name="Picture 4" descr="Diagram&#10;&#10;Description automatically generated">
            <a:extLst>
              <a:ext uri="{FF2B5EF4-FFF2-40B4-BE49-F238E27FC236}">
                <a16:creationId xmlns:a16="http://schemas.microsoft.com/office/drawing/2014/main" id="{D27FC7B2-ED1F-764D-9C19-5F52E703DE25}"/>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715177" y="805337"/>
            <a:ext cx="3611065" cy="2771775"/>
          </a:xfrm>
          <a:prstGeom prst="rect">
            <a:avLst/>
          </a:prstGeom>
        </p:spPr>
      </p:pic>
      <p:sp>
        <p:nvSpPr>
          <p:cNvPr id="6" name="TextBox 5">
            <a:extLst>
              <a:ext uri="{FF2B5EF4-FFF2-40B4-BE49-F238E27FC236}">
                <a16:creationId xmlns:a16="http://schemas.microsoft.com/office/drawing/2014/main" id="{4C389258-F222-5B42-8578-E5CA4E253253}"/>
              </a:ext>
            </a:extLst>
          </p:cNvPr>
          <p:cNvSpPr txBox="1"/>
          <p:nvPr/>
        </p:nvSpPr>
        <p:spPr>
          <a:xfrm>
            <a:off x="1628702" y="6858000"/>
            <a:ext cx="8934595" cy="230832"/>
          </a:xfrm>
          <a:prstGeom prst="rect">
            <a:avLst/>
          </a:prstGeom>
          <a:noFill/>
        </p:spPr>
        <p:txBody>
          <a:bodyPr wrap="square" rtlCol="0">
            <a:spAutoFit/>
          </a:bodyPr>
          <a:lstStyle/>
          <a:p>
            <a:r>
              <a:rPr lang="en-US" sz="900">
                <a:hlinkClick r:id="rId4" tooltip="https://en.wikiversity.org/wiki/Transfer_of_heat"/>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10912790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Thermal Equilibrium</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When two objects have the same temperature.</a:t>
            </a:r>
          </a:p>
          <a:p>
            <a:endParaRPr lang="en-AU" sz="2400" dirty="0"/>
          </a:p>
          <a:p>
            <a:r>
              <a:rPr lang="en-AU" sz="2400" dirty="0"/>
              <a:t>Zeroth Law of Thermodynamics </a:t>
            </a:r>
          </a:p>
          <a:p>
            <a:r>
              <a:rPr lang="en-AU" sz="2400" dirty="0"/>
              <a:t>When two objects in contact are at the same temperature.</a:t>
            </a:r>
          </a:p>
        </p:txBody>
      </p:sp>
      <p:pic>
        <p:nvPicPr>
          <p:cNvPr id="7" name="Picture 6" descr="Diagram&#10;&#10;Description automatically generated">
            <a:extLst>
              <a:ext uri="{FF2B5EF4-FFF2-40B4-BE49-F238E27FC236}">
                <a16:creationId xmlns:a16="http://schemas.microsoft.com/office/drawing/2014/main" id="{EFA8BE54-E55A-534F-AF22-3E13CBF127D4}"/>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6669582" y="1330036"/>
            <a:ext cx="5092927" cy="3101975"/>
          </a:xfrm>
          <a:prstGeom prst="rect">
            <a:avLst/>
          </a:prstGeom>
        </p:spPr>
      </p:pic>
      <p:sp>
        <p:nvSpPr>
          <p:cNvPr id="8" name="TextBox 7">
            <a:extLst>
              <a:ext uri="{FF2B5EF4-FFF2-40B4-BE49-F238E27FC236}">
                <a16:creationId xmlns:a16="http://schemas.microsoft.com/office/drawing/2014/main" id="{BC0DB854-F613-7643-8A71-86B375FBF2FB}"/>
              </a:ext>
            </a:extLst>
          </p:cNvPr>
          <p:cNvSpPr txBox="1"/>
          <p:nvPr/>
        </p:nvSpPr>
        <p:spPr>
          <a:xfrm>
            <a:off x="2382983" y="7216775"/>
            <a:ext cx="7277100" cy="230832"/>
          </a:xfrm>
          <a:prstGeom prst="rect">
            <a:avLst/>
          </a:prstGeom>
          <a:noFill/>
        </p:spPr>
        <p:txBody>
          <a:bodyPr wrap="square" rtlCol="0">
            <a:spAutoFit/>
          </a:bodyPr>
          <a:lstStyle/>
          <a:p>
            <a:r>
              <a:rPr lang="en-US" sz="900">
                <a:hlinkClick r:id="rId4" tooltip="https://en.wikipedia.org/wiki/Thermal_equilibrium"/>
              </a:rPr>
              <a:t>This Photo</a:t>
            </a:r>
            <a:r>
              <a:rPr lang="en-US" sz="900"/>
              <a:t> by Unknown Author is licensed under </a:t>
            </a:r>
            <a:r>
              <a:rPr lang="en-US" sz="900">
                <a:hlinkClick r:id="rId5" tooltip="https://creativecommons.org/licenses/by-sa/3.0/"/>
              </a:rPr>
              <a:t>CC BY-SA</a:t>
            </a:r>
            <a:endParaRPr lang="en-US" sz="900"/>
          </a:p>
        </p:txBody>
      </p:sp>
    </p:spTree>
    <p:extLst>
      <p:ext uri="{BB962C8B-B14F-4D97-AF65-F5344CB8AC3E}">
        <p14:creationId xmlns:p14="http://schemas.microsoft.com/office/powerpoint/2010/main" val="175173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First Law of Thermodynamics</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The law states that energy changes from one form to another and the total energy in an isolated system remains constant.</a:t>
            </a:r>
          </a:p>
          <a:p>
            <a:endParaRPr lang="en-AU" sz="2400" dirty="0"/>
          </a:p>
          <a:p>
            <a:r>
              <a:rPr lang="en-AU" sz="2400" dirty="0"/>
              <a:t>Internal energy (U) – total internal kinetic and potential energy in a system. Heat and mechanical work can be added or removed from a system resulting in a change in the internal energy.</a:t>
            </a:r>
          </a:p>
          <a:p>
            <a:endParaRPr lang="en-AU" sz="2400" dirty="0"/>
          </a:p>
          <a:p>
            <a:r>
              <a:rPr lang="en-AU" sz="2400" dirty="0"/>
              <a:t>Heat (Q)</a:t>
            </a:r>
          </a:p>
          <a:p>
            <a:endParaRPr lang="en-AU" sz="2400" dirty="0"/>
          </a:p>
          <a:p>
            <a:r>
              <a:rPr lang="en-AU" sz="2400" dirty="0"/>
              <a:t>Mechanical Work (W)</a:t>
            </a:r>
          </a:p>
        </p:txBody>
      </p:sp>
      <p:sp>
        <p:nvSpPr>
          <p:cNvPr id="4" name="TextBox 3">
            <a:extLst>
              <a:ext uri="{FF2B5EF4-FFF2-40B4-BE49-F238E27FC236}">
                <a16:creationId xmlns:a16="http://schemas.microsoft.com/office/drawing/2014/main" id="{97A522A6-7D01-1C41-86BE-6017718ACA1D}"/>
              </a:ext>
            </a:extLst>
          </p:cNvPr>
          <p:cNvSpPr txBox="1"/>
          <p:nvPr/>
        </p:nvSpPr>
        <p:spPr>
          <a:xfrm>
            <a:off x="7991475" y="2294948"/>
            <a:ext cx="4200525" cy="584775"/>
          </a:xfrm>
          <a:prstGeom prst="rect">
            <a:avLst/>
          </a:prstGeom>
          <a:noFill/>
        </p:spPr>
        <p:txBody>
          <a:bodyPr wrap="square" rtlCol="0">
            <a:spAutoFit/>
          </a:bodyPr>
          <a:lstStyle/>
          <a:p>
            <a:r>
              <a:rPr lang="en-US" sz="3200" dirty="0">
                <a:solidFill>
                  <a:schemeClr val="accent6">
                    <a:lumMod val="50000"/>
                  </a:schemeClr>
                </a:solidFill>
              </a:rPr>
              <a:t>∆U = Q + W</a:t>
            </a:r>
          </a:p>
        </p:txBody>
      </p:sp>
      <p:grpSp>
        <p:nvGrpSpPr>
          <p:cNvPr id="9" name="Group 8">
            <a:extLst>
              <a:ext uri="{FF2B5EF4-FFF2-40B4-BE49-F238E27FC236}">
                <a16:creationId xmlns:a16="http://schemas.microsoft.com/office/drawing/2014/main" id="{14A342DF-D36E-BA44-A7A9-63B9E08E431A}"/>
              </a:ext>
            </a:extLst>
          </p:cNvPr>
          <p:cNvGrpSpPr/>
          <p:nvPr/>
        </p:nvGrpSpPr>
        <p:grpSpPr>
          <a:xfrm>
            <a:off x="7786688" y="316223"/>
            <a:ext cx="4289571" cy="805060"/>
            <a:chOff x="3657599" y="1716154"/>
            <a:chExt cx="2211388" cy="923842"/>
          </a:xfrm>
        </p:grpSpPr>
        <p:sp>
          <p:nvSpPr>
            <p:cNvPr id="10" name="TextBox 9">
              <a:extLst>
                <a:ext uri="{FF2B5EF4-FFF2-40B4-BE49-F238E27FC236}">
                  <a16:creationId xmlns:a16="http://schemas.microsoft.com/office/drawing/2014/main" id="{C658D06A-8B70-E04D-8299-FA5DC3DEB6B0}"/>
                </a:ext>
              </a:extLst>
            </p:cNvPr>
            <p:cNvSpPr txBox="1"/>
            <p:nvPr/>
          </p:nvSpPr>
          <p:spPr>
            <a:xfrm>
              <a:off x="3657600" y="2074896"/>
              <a:ext cx="2203768" cy="565100"/>
            </a:xfrm>
            <a:prstGeom prst="rect">
              <a:avLst/>
            </a:prstGeom>
            <a:solidFill>
              <a:schemeClr val="bg1"/>
            </a:solidFill>
            <a:ln>
              <a:solidFill>
                <a:srgbClr val="A14986"/>
              </a:solidFill>
            </a:ln>
          </p:spPr>
          <p:txBody>
            <a:bodyPr wrap="square" rtlCol="0" anchor="t" anchorCtr="0">
              <a:spAutoFit/>
            </a:bodyPr>
            <a:lstStyle/>
            <a:p>
              <a:pPr algn="l"/>
              <a:r>
                <a:rPr lang="en-US" sz="1300" b="1" dirty="0">
                  <a:latin typeface="Century Gothic" panose="020B0502020202020204" pitchFamily="34" charset="0"/>
                  <a:cs typeface="Futura Medium" panose="020B0602020204020303" pitchFamily="34" charset="-79"/>
                </a:rPr>
                <a:t>Mechanical Work–  </a:t>
              </a:r>
              <a:r>
                <a:rPr lang="en-US" sz="1300" dirty="0">
                  <a:latin typeface="Century Gothic" panose="020B0502020202020204" pitchFamily="34" charset="0"/>
                  <a:cs typeface="Futura Medium" panose="020B0602020204020303" pitchFamily="34" charset="-79"/>
                </a:rPr>
                <a:t>a measure of the the energy transferred by a force</a:t>
              </a:r>
            </a:p>
          </p:txBody>
        </p:sp>
        <p:sp>
          <p:nvSpPr>
            <p:cNvPr id="11" name="TextBox 10">
              <a:extLst>
                <a:ext uri="{FF2B5EF4-FFF2-40B4-BE49-F238E27FC236}">
                  <a16:creationId xmlns:a16="http://schemas.microsoft.com/office/drawing/2014/main" id="{92A3D3F6-F42F-3D43-9A6E-737CC844335F}"/>
                </a:ext>
              </a:extLst>
            </p:cNvPr>
            <p:cNvSpPr txBox="1">
              <a:spLocks noChangeAspect="1"/>
            </p:cNvSpPr>
            <p:nvPr/>
          </p:nvSpPr>
          <p:spPr>
            <a:xfrm>
              <a:off x="3657599" y="1716154"/>
              <a:ext cx="2211388" cy="358742"/>
            </a:xfrm>
            <a:prstGeom prst="rect">
              <a:avLst/>
            </a:prstGeom>
            <a:solidFill>
              <a:srgbClr val="A14986"/>
            </a:solidFill>
            <a:ln>
              <a:noFill/>
            </a:ln>
          </p:spPr>
          <p:txBody>
            <a:bodyPr wrap="square" rtlCol="0" anchor="ctr" anchorCtr="0">
              <a:normAutofit/>
            </a:bodyPr>
            <a:lstStyle/>
            <a:p>
              <a:pPr algn="l"/>
              <a:r>
                <a:rPr lang="en-US" sz="1300" b="1" dirty="0">
                  <a:solidFill>
                    <a:schemeClr val="bg1">
                      <a:lumMod val="95000"/>
                    </a:schemeClr>
                  </a:solidFill>
                  <a:latin typeface="Century Gothic" panose="020B0502020202020204" pitchFamily="34" charset="0"/>
                  <a:cs typeface="Futura Medium" panose="020B0602020204020303" pitchFamily="34" charset="-79"/>
                </a:rPr>
                <a:t>Vocabulary</a:t>
              </a:r>
            </a:p>
          </p:txBody>
        </p:sp>
      </p:grpSp>
    </p:spTree>
    <p:extLst>
      <p:ext uri="{BB962C8B-B14F-4D97-AF65-F5344CB8AC3E}">
        <p14:creationId xmlns:p14="http://schemas.microsoft.com/office/powerpoint/2010/main" val="2591954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1D2BC2D-DCF3-4859-89E3-44B6F7D3B1D3}"/>
              </a:ext>
            </a:extLst>
          </p:cNvPr>
          <p:cNvSpPr>
            <a:spLocks noGrp="1"/>
          </p:cNvSpPr>
          <p:nvPr>
            <p:ph type="body" sz="quarter" idx="13"/>
          </p:nvPr>
        </p:nvSpPr>
        <p:spPr/>
        <p:txBody>
          <a:bodyPr>
            <a:noAutofit/>
          </a:bodyPr>
          <a:lstStyle/>
          <a:p>
            <a:r>
              <a:rPr lang="en-AU" sz="3400" dirty="0"/>
              <a:t>Practice.</a:t>
            </a:r>
          </a:p>
        </p:txBody>
      </p:sp>
      <p:sp>
        <p:nvSpPr>
          <p:cNvPr id="3" name="Text Placeholder 2">
            <a:extLst>
              <a:ext uri="{FF2B5EF4-FFF2-40B4-BE49-F238E27FC236}">
                <a16:creationId xmlns:a16="http://schemas.microsoft.com/office/drawing/2014/main" id="{7550F64F-12CB-4F59-8C70-91F1C942126A}"/>
              </a:ext>
            </a:extLst>
          </p:cNvPr>
          <p:cNvSpPr>
            <a:spLocks noGrp="1"/>
          </p:cNvSpPr>
          <p:nvPr>
            <p:ph type="body" sz="quarter" idx="15"/>
          </p:nvPr>
        </p:nvSpPr>
        <p:spPr>
          <a:xfrm>
            <a:off x="305251" y="1416634"/>
            <a:ext cx="6609899" cy="5393007"/>
          </a:xfrm>
        </p:spPr>
        <p:txBody>
          <a:bodyPr>
            <a:normAutofit/>
          </a:bodyPr>
          <a:lstStyle/>
          <a:p>
            <a:r>
              <a:rPr lang="en-AU" sz="2400" dirty="0"/>
              <a:t>Work through the problems:</a:t>
            </a:r>
          </a:p>
          <a:p>
            <a:r>
              <a:rPr lang="en-AU" sz="2400" dirty="0"/>
              <a:t>Pearson 11 - 1.1 </a:t>
            </a:r>
            <a:r>
              <a:rPr lang="en-AU" sz="2400" dirty="0" err="1"/>
              <a:t>pg</a:t>
            </a:r>
            <a:r>
              <a:rPr lang="en-AU" sz="2400" dirty="0"/>
              <a:t> 10</a:t>
            </a:r>
          </a:p>
          <a:p>
            <a:r>
              <a:rPr lang="en-AU" sz="2400" dirty="0"/>
              <a:t>STAWA 11 - Problem Set 1 </a:t>
            </a:r>
            <a:r>
              <a:rPr lang="en-AU" sz="2400" dirty="0" err="1"/>
              <a:t>pg</a:t>
            </a:r>
            <a:r>
              <a:rPr lang="en-AU" sz="2400" dirty="0"/>
              <a:t> 16</a:t>
            </a:r>
          </a:p>
        </p:txBody>
      </p:sp>
    </p:spTree>
    <p:extLst>
      <p:ext uri="{BB962C8B-B14F-4D97-AF65-F5344CB8AC3E}">
        <p14:creationId xmlns:p14="http://schemas.microsoft.com/office/powerpoint/2010/main" val="1891497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9936</TotalTime>
  <Words>2196</Words>
  <Application>Microsoft Macintosh PowerPoint</Application>
  <PresentationFormat>Widescreen</PresentationFormat>
  <Paragraphs>203</Paragraphs>
  <Slides>22</Slides>
  <Notes>18</Notes>
  <HiddenSlides>5</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Arial</vt:lpstr>
      <vt:lpstr>Arial Rounded MT Bold</vt:lpstr>
      <vt:lpstr>Calibri</vt:lpstr>
      <vt:lpstr>Calibri Light</vt:lpstr>
      <vt:lpstr>Century Gothic</vt:lpstr>
      <vt:lpstr>Futura Medium</vt:lpstr>
      <vt:lpstr>Verdana</vt:lpstr>
      <vt:lpstr>Office Theme</vt:lpstr>
      <vt:lpstr>Heat and Temperature Year 11 ATAR Physis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and Temperature Year 11 ATAR Physis</dc:title>
  <dc:creator>Maria Harris</dc:creator>
  <cp:lastModifiedBy>Maria Harris</cp:lastModifiedBy>
  <cp:revision>20</cp:revision>
  <dcterms:created xsi:type="dcterms:W3CDTF">2021-02-02T03:34:11Z</dcterms:created>
  <dcterms:modified xsi:type="dcterms:W3CDTF">2021-02-09T02:46:53Z</dcterms:modified>
</cp:coreProperties>
</file>
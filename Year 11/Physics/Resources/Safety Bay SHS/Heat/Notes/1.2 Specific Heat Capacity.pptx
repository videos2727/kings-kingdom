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ink/ink1.xml" ContentType="application/inkml+xml"/>
  <Override PartName="/ppt/ink/ink2.xml" ContentType="application/inkml+xml"/>
  <Override PartName="/ppt/ink/ink3.xml" ContentType="application/inkml+xml"/>
  <Override PartName="/ppt/ink/ink4.xml" ContentType="application/inkml+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6:59.305"/>
    </inkml:context>
    <inkml:brush xml:id="br0">
      <inkml:brushProperty name="width" value="0.1" units="cm"/>
      <inkml:brushProperty name="height" value="0.6" units="cm"/>
      <inkml:brushProperty name="color" value="#849398"/>
      <inkml:brushProperty name="inkEffects" value="pencil"/>
    </inkml:brush>
  </inkml:definitions>
  <inkml:trace contextRef="#ctx0" brushRef="#br0">58 41 16383,'-30'-22'0,"11"4"0,10 18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7:10.135"/>
    </inkml:context>
    <inkml:brush xml:id="br0">
      <inkml:brushProperty name="width" value="0.1" units="cm"/>
      <inkml:brushProperty name="height" value="0.6" units="cm"/>
      <inkml:brushProperty name="color" value="#849398"/>
      <inkml:brushProperty name="inkEffects" value="pencil"/>
    </inkml:brush>
  </inkml:definitions>
  <inkml:trace contextRef="#ctx0" brushRef="#br0">1 1 16383,'9'27'0,"-2"-5"0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7:39.412"/>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16383,'0'0'0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9:16.597"/>
    </inkml:context>
    <inkml:brush xml:id="br0">
      <inkml:brushProperty name="width" value="0.1" units="cm"/>
      <inkml:brushProperty name="height" value="0.6" units="cm"/>
      <inkml:brushProperty name="color" value="#849398"/>
      <inkml:brushProperty name="inkEffects" value="pencil"/>
    </inkml:brush>
  </inkml:definitions>
  <inkml:trace contextRef="#ctx0" brushRef="#br0">0 0 16383,'6'6'0,"-2"-2"0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F09290-3909-44B3-9BD2-A3C4827ABB67}" type="datetimeFigureOut">
              <a:rPr lang="en-AU" smtClean="0"/>
              <a:t>10/02/2021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025E2A-6C4B-4AB2-8352-4A0411470472}" type="slidenum">
              <a:rPr lang="en-AU" smtClean="0"/>
              <a:t>‹#›</a:t>
            </a:fld>
            <a:endParaRPr lang="en-AU"/>
          </a:p>
        </p:txBody>
      </p:sp>
    </p:spTree>
    <p:extLst>
      <p:ext uri="{BB962C8B-B14F-4D97-AF65-F5344CB8AC3E}">
        <p14:creationId xmlns:p14="http://schemas.microsoft.com/office/powerpoint/2010/main" val="2453947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1</a:t>
            </a:fld>
            <a:endParaRPr lang="en-US"/>
          </a:p>
        </p:txBody>
      </p:sp>
    </p:spTree>
    <p:extLst>
      <p:ext uri="{BB962C8B-B14F-4D97-AF65-F5344CB8AC3E}">
        <p14:creationId xmlns:p14="http://schemas.microsoft.com/office/powerpoint/2010/main" val="50013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Sound is a longitudinal wave of vibrating particles (back and forth)</a:t>
            </a:r>
          </a:p>
        </p:txBody>
      </p:sp>
      <p:sp>
        <p:nvSpPr>
          <p:cNvPr id="4" name="Slide Number Placeholder 3"/>
          <p:cNvSpPr>
            <a:spLocks noGrp="1"/>
          </p:cNvSpPr>
          <p:nvPr>
            <p:ph type="sldNum" sz="quarter" idx="5"/>
          </p:nvPr>
        </p:nvSpPr>
        <p:spPr/>
        <p:txBody>
          <a:bodyPr/>
          <a:lstStyle/>
          <a:p>
            <a:fld id="{3BE10326-E2C5-4426-B985-B08CBFB52F5B}" type="slidenum">
              <a:rPr lang="en-AU" smtClean="0"/>
              <a:t>4</a:t>
            </a:fld>
            <a:endParaRPr lang="en-AU"/>
          </a:p>
        </p:txBody>
      </p:sp>
    </p:spTree>
    <p:extLst>
      <p:ext uri="{BB962C8B-B14F-4D97-AF65-F5344CB8AC3E}">
        <p14:creationId xmlns:p14="http://schemas.microsoft.com/office/powerpoint/2010/main" val="845628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7</a:t>
            </a:fld>
            <a:endParaRPr lang="en-US"/>
          </a:p>
        </p:txBody>
      </p:sp>
    </p:spTree>
    <p:extLst>
      <p:ext uri="{BB962C8B-B14F-4D97-AF65-F5344CB8AC3E}">
        <p14:creationId xmlns:p14="http://schemas.microsoft.com/office/powerpoint/2010/main" val="3256114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Sound is a longitudinal wave of vibrating particles (back and forth)</a:t>
            </a:r>
          </a:p>
        </p:txBody>
      </p:sp>
      <p:sp>
        <p:nvSpPr>
          <p:cNvPr id="4" name="Slide Number Placeholder 3"/>
          <p:cNvSpPr>
            <a:spLocks noGrp="1"/>
          </p:cNvSpPr>
          <p:nvPr>
            <p:ph type="sldNum" sz="quarter" idx="5"/>
          </p:nvPr>
        </p:nvSpPr>
        <p:spPr/>
        <p:txBody>
          <a:bodyPr/>
          <a:lstStyle/>
          <a:p>
            <a:fld id="{3BE10326-E2C5-4426-B985-B08CBFB52F5B}" type="slidenum">
              <a:rPr lang="en-AU" smtClean="0"/>
              <a:t>9</a:t>
            </a:fld>
            <a:endParaRPr lang="en-AU"/>
          </a:p>
        </p:txBody>
      </p:sp>
    </p:spTree>
    <p:extLst>
      <p:ext uri="{BB962C8B-B14F-4D97-AF65-F5344CB8AC3E}">
        <p14:creationId xmlns:p14="http://schemas.microsoft.com/office/powerpoint/2010/main" val="3145285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10</a:t>
            </a:fld>
            <a:endParaRPr lang="en-US"/>
          </a:p>
        </p:txBody>
      </p:sp>
    </p:spTree>
    <p:extLst>
      <p:ext uri="{BB962C8B-B14F-4D97-AF65-F5344CB8AC3E}">
        <p14:creationId xmlns:p14="http://schemas.microsoft.com/office/powerpoint/2010/main" val="1892908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11</a:t>
            </a:fld>
            <a:endParaRPr lang="en-AU"/>
          </a:p>
        </p:txBody>
      </p:sp>
    </p:spTree>
    <p:extLst>
      <p:ext uri="{BB962C8B-B14F-4D97-AF65-F5344CB8AC3E}">
        <p14:creationId xmlns:p14="http://schemas.microsoft.com/office/powerpoint/2010/main" val="3566858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12</a:t>
            </a:fld>
            <a:endParaRPr lang="en-AU"/>
          </a:p>
        </p:txBody>
      </p:sp>
    </p:spTree>
    <p:extLst>
      <p:ext uri="{BB962C8B-B14F-4D97-AF65-F5344CB8AC3E}">
        <p14:creationId xmlns:p14="http://schemas.microsoft.com/office/powerpoint/2010/main" val="1423615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13</a:t>
            </a:fld>
            <a:endParaRPr lang="en-AU"/>
          </a:p>
        </p:txBody>
      </p:sp>
    </p:spTree>
    <p:extLst>
      <p:ext uri="{BB962C8B-B14F-4D97-AF65-F5344CB8AC3E}">
        <p14:creationId xmlns:p14="http://schemas.microsoft.com/office/powerpoint/2010/main" val="1196383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14</a:t>
            </a:fld>
            <a:endParaRPr lang="en-AU"/>
          </a:p>
        </p:txBody>
      </p:sp>
    </p:spTree>
    <p:extLst>
      <p:ext uri="{BB962C8B-B14F-4D97-AF65-F5344CB8AC3E}">
        <p14:creationId xmlns:p14="http://schemas.microsoft.com/office/powerpoint/2010/main" val="2031358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9E10622D-34BE-4B38-9B5B-5A9332B9C180}" type="datetimeFigureOut">
              <a:rPr lang="en-AU" smtClean="0"/>
              <a:t>10/02/2021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1818E8D-F016-40C3-8258-DF337156420F}" type="slidenum">
              <a:rPr lang="en-AU" smtClean="0"/>
              <a:t>‹#›</a:t>
            </a:fld>
            <a:endParaRPr lang="en-AU"/>
          </a:p>
        </p:txBody>
      </p:sp>
    </p:spTree>
    <p:extLst>
      <p:ext uri="{BB962C8B-B14F-4D97-AF65-F5344CB8AC3E}">
        <p14:creationId xmlns:p14="http://schemas.microsoft.com/office/powerpoint/2010/main" val="2846159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E10622D-34BE-4B38-9B5B-5A9332B9C180}" type="datetimeFigureOut">
              <a:rPr lang="en-AU" smtClean="0"/>
              <a:t>10/02/2021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1818E8D-F016-40C3-8258-DF337156420F}" type="slidenum">
              <a:rPr lang="en-AU" smtClean="0"/>
              <a:t>‹#›</a:t>
            </a:fld>
            <a:endParaRPr lang="en-AU"/>
          </a:p>
        </p:txBody>
      </p:sp>
    </p:spTree>
    <p:extLst>
      <p:ext uri="{BB962C8B-B14F-4D97-AF65-F5344CB8AC3E}">
        <p14:creationId xmlns:p14="http://schemas.microsoft.com/office/powerpoint/2010/main" val="151960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E10622D-34BE-4B38-9B5B-5A9332B9C180}" type="datetimeFigureOut">
              <a:rPr lang="en-AU" smtClean="0"/>
              <a:t>10/02/2021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1818E8D-F016-40C3-8258-DF337156420F}" type="slidenum">
              <a:rPr lang="en-AU" smtClean="0"/>
              <a:t>‹#›</a:t>
            </a:fld>
            <a:endParaRPr lang="en-AU"/>
          </a:p>
        </p:txBody>
      </p:sp>
    </p:spTree>
    <p:extLst>
      <p:ext uri="{BB962C8B-B14F-4D97-AF65-F5344CB8AC3E}">
        <p14:creationId xmlns:p14="http://schemas.microsoft.com/office/powerpoint/2010/main" val="2807460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9E10622D-34BE-4B38-9B5B-5A9332B9C180}" type="datetimeFigureOut">
              <a:rPr lang="en-AU" smtClean="0"/>
              <a:t>10/02/2021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1818E8D-F016-40C3-8258-DF337156420F}" type="slidenum">
              <a:rPr lang="en-AU" smtClean="0"/>
              <a:t>‹#›</a:t>
            </a:fld>
            <a:endParaRPr lang="en-AU"/>
          </a:p>
        </p:txBody>
      </p:sp>
    </p:spTree>
    <p:extLst>
      <p:ext uri="{BB962C8B-B14F-4D97-AF65-F5344CB8AC3E}">
        <p14:creationId xmlns:p14="http://schemas.microsoft.com/office/powerpoint/2010/main" val="1565837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9E10622D-34BE-4B38-9B5B-5A9332B9C180}" type="datetimeFigureOut">
              <a:rPr lang="en-AU" smtClean="0"/>
              <a:t>10/02/2021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1818E8D-F016-40C3-8258-DF337156420F}" type="slidenum">
              <a:rPr lang="en-AU" smtClean="0"/>
              <a:t>‹#›</a:t>
            </a:fld>
            <a:endParaRPr lang="en-AU"/>
          </a:p>
        </p:txBody>
      </p:sp>
    </p:spTree>
    <p:extLst>
      <p:ext uri="{BB962C8B-B14F-4D97-AF65-F5344CB8AC3E}">
        <p14:creationId xmlns:p14="http://schemas.microsoft.com/office/powerpoint/2010/main" val="3971725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9E10622D-34BE-4B38-9B5B-5A9332B9C180}" type="datetimeFigureOut">
              <a:rPr lang="en-AU" smtClean="0"/>
              <a:t>10/02/2021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1818E8D-F016-40C3-8258-DF337156420F}" type="slidenum">
              <a:rPr lang="en-AU" smtClean="0"/>
              <a:t>‹#›</a:t>
            </a:fld>
            <a:endParaRPr lang="en-AU"/>
          </a:p>
        </p:txBody>
      </p:sp>
    </p:spTree>
    <p:extLst>
      <p:ext uri="{BB962C8B-B14F-4D97-AF65-F5344CB8AC3E}">
        <p14:creationId xmlns:p14="http://schemas.microsoft.com/office/powerpoint/2010/main" val="2457080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10622D-34BE-4B38-9B5B-5A9332B9C180}" type="datetimeFigureOut">
              <a:rPr lang="en-AU" smtClean="0"/>
              <a:t>10/02/2021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1818E8D-F016-40C3-8258-DF337156420F}" type="slidenum">
              <a:rPr lang="en-AU" smtClean="0"/>
              <a:t>‹#›</a:t>
            </a:fld>
            <a:endParaRPr lang="en-AU"/>
          </a:p>
        </p:txBody>
      </p:sp>
    </p:spTree>
    <p:extLst>
      <p:ext uri="{BB962C8B-B14F-4D97-AF65-F5344CB8AC3E}">
        <p14:creationId xmlns:p14="http://schemas.microsoft.com/office/powerpoint/2010/main" val="2339809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E10622D-34BE-4B38-9B5B-5A9332B9C180}" type="datetimeFigureOut">
              <a:rPr lang="en-AU" smtClean="0"/>
              <a:t>10/02/2021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1818E8D-F016-40C3-8258-DF337156420F}" type="slidenum">
              <a:rPr lang="en-AU" smtClean="0"/>
              <a:t>‹#›</a:t>
            </a:fld>
            <a:endParaRPr lang="en-AU"/>
          </a:p>
        </p:txBody>
      </p:sp>
    </p:spTree>
    <p:extLst>
      <p:ext uri="{BB962C8B-B14F-4D97-AF65-F5344CB8AC3E}">
        <p14:creationId xmlns:p14="http://schemas.microsoft.com/office/powerpoint/2010/main" val="3368524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E10622D-34BE-4B38-9B5B-5A9332B9C180}" type="datetimeFigureOut">
              <a:rPr lang="en-AU" smtClean="0"/>
              <a:t>10/02/2021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1818E8D-F016-40C3-8258-DF337156420F}" type="slidenum">
              <a:rPr lang="en-AU" smtClean="0"/>
              <a:t>‹#›</a:t>
            </a:fld>
            <a:endParaRPr lang="en-AU"/>
          </a:p>
        </p:txBody>
      </p:sp>
    </p:spTree>
    <p:extLst>
      <p:ext uri="{BB962C8B-B14F-4D97-AF65-F5344CB8AC3E}">
        <p14:creationId xmlns:p14="http://schemas.microsoft.com/office/powerpoint/2010/main" val="2487307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E10622D-34BE-4B38-9B5B-5A9332B9C180}" type="datetimeFigureOut">
              <a:rPr lang="en-AU" smtClean="0"/>
              <a:t>10/02/2021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1818E8D-F016-40C3-8258-DF337156420F}" type="slidenum">
              <a:rPr lang="en-AU" smtClean="0"/>
              <a:t>‹#›</a:t>
            </a:fld>
            <a:endParaRPr lang="en-AU"/>
          </a:p>
        </p:txBody>
      </p:sp>
    </p:spTree>
    <p:extLst>
      <p:ext uri="{BB962C8B-B14F-4D97-AF65-F5344CB8AC3E}">
        <p14:creationId xmlns:p14="http://schemas.microsoft.com/office/powerpoint/2010/main" val="176426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E10622D-34BE-4B38-9B5B-5A9332B9C180}" type="datetimeFigureOut">
              <a:rPr lang="en-AU" smtClean="0"/>
              <a:t>10/02/2021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1818E8D-F016-40C3-8258-DF337156420F}" type="slidenum">
              <a:rPr lang="en-AU" smtClean="0"/>
              <a:t>‹#›</a:t>
            </a:fld>
            <a:endParaRPr lang="en-AU"/>
          </a:p>
        </p:txBody>
      </p:sp>
    </p:spTree>
    <p:extLst>
      <p:ext uri="{BB962C8B-B14F-4D97-AF65-F5344CB8AC3E}">
        <p14:creationId xmlns:p14="http://schemas.microsoft.com/office/powerpoint/2010/main" val="167249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14245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R) Daily Edi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5C59CC9-2027-4926-95DF-D473C7C8B21B}"/>
              </a:ext>
            </a:extLst>
          </p:cNvPr>
          <p:cNvSpPr txBox="1"/>
          <p:nvPr userDrawn="1"/>
        </p:nvSpPr>
        <p:spPr>
          <a:xfrm>
            <a:off x="1451429" y="262082"/>
            <a:ext cx="3759200" cy="369085"/>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AU" sz="1400" b="0" i="0" dirty="0">
                <a:solidFill>
                  <a:schemeClr val="bg1"/>
                </a:solidFill>
                <a:latin typeface="Arial Rounded MT Bold" panose="020F0704030504030204" pitchFamily="34" charset="0"/>
                <a:cs typeface="Futura Medium" panose="020B0602020204020303" pitchFamily="34" charset="-79"/>
              </a:rPr>
              <a:t>Sit down and begin this task immediately</a:t>
            </a:r>
          </a:p>
        </p:txBody>
      </p:sp>
      <p:sp>
        <p:nvSpPr>
          <p:cNvPr id="8" name="TextBox 7">
            <a:extLst>
              <a:ext uri="{FF2B5EF4-FFF2-40B4-BE49-F238E27FC236}">
                <a16:creationId xmlns:a16="http://schemas.microsoft.com/office/drawing/2014/main" id="{B089974F-B611-4EBA-AAAD-C992984C2655}"/>
              </a:ext>
            </a:extLst>
          </p:cNvPr>
          <p:cNvSpPr txBox="1"/>
          <p:nvPr userDrawn="1"/>
        </p:nvSpPr>
        <p:spPr>
          <a:xfrm>
            <a:off x="280558" y="262082"/>
            <a:ext cx="996700"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Do Now</a:t>
            </a:r>
          </a:p>
        </p:txBody>
      </p:sp>
      <p:sp>
        <p:nvSpPr>
          <p:cNvPr id="14" name="Text Placeholder 6">
            <a:extLst>
              <a:ext uri="{FF2B5EF4-FFF2-40B4-BE49-F238E27FC236}">
                <a16:creationId xmlns:a16="http://schemas.microsoft.com/office/drawing/2014/main" id="{62374AE5-740E-4EF6-BDA8-AD9F77D2E402}"/>
              </a:ext>
            </a:extLst>
          </p:cNvPr>
          <p:cNvSpPr>
            <a:spLocks noGrp="1"/>
          </p:cNvSpPr>
          <p:nvPr>
            <p:ph type="body" sz="quarter" idx="12" hasCustomPrompt="1"/>
          </p:nvPr>
        </p:nvSpPr>
        <p:spPr>
          <a:xfrm>
            <a:off x="280557" y="805337"/>
            <a:ext cx="11481952" cy="483136"/>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US" dirty="0"/>
              <a:t>Explain what students need to do. </a:t>
            </a:r>
            <a:br>
              <a:rPr lang="en-US" dirty="0"/>
            </a:br>
            <a:endParaRPr lang="en-US" dirty="0"/>
          </a:p>
        </p:txBody>
      </p:sp>
      <p:sp>
        <p:nvSpPr>
          <p:cNvPr id="15" name="Text Placeholder 2">
            <a:extLst>
              <a:ext uri="{FF2B5EF4-FFF2-40B4-BE49-F238E27FC236}">
                <a16:creationId xmlns:a16="http://schemas.microsoft.com/office/drawing/2014/main" id="{1844C978-19D7-46E2-B79E-B20155BA89E7}"/>
              </a:ext>
            </a:extLst>
          </p:cNvPr>
          <p:cNvSpPr>
            <a:spLocks noGrp="1"/>
          </p:cNvSpPr>
          <p:nvPr>
            <p:ph type="body" sz="quarter" idx="15" hasCustomPrompt="1"/>
          </p:nvPr>
        </p:nvSpPr>
        <p:spPr>
          <a:xfrm>
            <a:off x="280558" y="1462644"/>
            <a:ext cx="11506476" cy="513327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US" dirty="0"/>
              <a:t>Enter in your task.</a:t>
            </a:r>
            <a:br>
              <a:rPr lang="en-US" dirty="0"/>
            </a:br>
            <a:r>
              <a:rPr lang="en-US" dirty="0"/>
              <a:t/>
            </a:r>
            <a:br>
              <a:rPr lang="en-US" dirty="0"/>
            </a:br>
            <a:r>
              <a:rPr lang="en-US" dirty="0"/>
              <a:t>Click to add text. Delete textbox if unneeded. </a:t>
            </a:r>
          </a:p>
        </p:txBody>
      </p:sp>
    </p:spTree>
    <p:extLst>
      <p:ext uri="{BB962C8B-B14F-4D97-AF65-F5344CB8AC3E}">
        <p14:creationId xmlns:p14="http://schemas.microsoft.com/office/powerpoint/2010/main" val="17902460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R) Recite">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Box 6">
            <a:extLst>
              <a:ext uri="{FF2B5EF4-FFF2-40B4-BE49-F238E27FC236}">
                <a16:creationId xmlns:a16="http://schemas.microsoft.com/office/drawing/2014/main" id="{1011CE44-95E4-4C6E-8D8B-41CCD6B35C2D}"/>
              </a:ext>
            </a:extLst>
          </p:cNvPr>
          <p:cNvSpPr txBox="1"/>
          <p:nvPr userDrawn="1"/>
        </p:nvSpPr>
        <p:spPr>
          <a:xfrm>
            <a:off x="280557" y="262082"/>
            <a:ext cx="1077187"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Re(teach)</a:t>
            </a:r>
          </a:p>
        </p:txBody>
      </p:sp>
      <p:sp>
        <p:nvSpPr>
          <p:cNvPr id="10" name="Text Placeholder 6">
            <a:extLst>
              <a:ext uri="{FF2B5EF4-FFF2-40B4-BE49-F238E27FC236}">
                <a16:creationId xmlns:a16="http://schemas.microsoft.com/office/drawing/2014/main" id="{3A36E411-28DA-4098-8A25-8C3C8AD90B33}"/>
              </a:ext>
            </a:extLst>
          </p:cNvPr>
          <p:cNvSpPr>
            <a:spLocks noGrp="1"/>
          </p:cNvSpPr>
          <p:nvPr>
            <p:ph type="body" sz="quarter" idx="13" hasCustomPrompt="1"/>
          </p:nvPr>
        </p:nvSpPr>
        <p:spPr>
          <a:xfrm>
            <a:off x="280557" y="805337"/>
            <a:ext cx="11481952" cy="496990"/>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1" name="Text Placeholder 2">
            <a:extLst>
              <a:ext uri="{FF2B5EF4-FFF2-40B4-BE49-F238E27FC236}">
                <a16:creationId xmlns:a16="http://schemas.microsoft.com/office/drawing/2014/main" id="{3172405F-5716-468A-BB1E-99861FFCB465}"/>
              </a:ext>
            </a:extLst>
          </p:cNvPr>
          <p:cNvSpPr>
            <a:spLocks noGrp="1"/>
          </p:cNvSpPr>
          <p:nvPr>
            <p:ph type="body" sz="quarter" idx="15" hasCustomPrompt="1"/>
          </p:nvPr>
        </p:nvSpPr>
        <p:spPr>
          <a:xfrm>
            <a:off x="280558" y="1476498"/>
            <a:ext cx="11506476" cy="511942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US" dirty="0"/>
              <a:t>Go over the steps they already know from this unit, or from relevant prior knowledge.  </a:t>
            </a:r>
            <a:br>
              <a:rPr lang="en-US" dirty="0"/>
            </a:br>
            <a:r>
              <a:rPr lang="en-US" dirty="0"/>
              <a:t/>
            </a:r>
            <a:br>
              <a:rPr lang="en-US" dirty="0"/>
            </a:br>
            <a:r>
              <a:rPr lang="en-AU" dirty="0"/>
              <a:t>All of the answers should be displayed clearly for students. </a:t>
            </a:r>
            <a:br>
              <a:rPr lang="en-AU" dirty="0"/>
            </a:br>
            <a:r>
              <a:rPr lang="en-AU" dirty="0"/>
              <a:t/>
            </a:r>
            <a:br>
              <a:rPr lang="en-AU" dirty="0"/>
            </a:br>
            <a:r>
              <a:rPr lang="en-AU" dirty="0"/>
              <a:t>Students at this step are at track with me/read with me steps.</a:t>
            </a:r>
            <a:br>
              <a:rPr lang="en-AU" dirty="0"/>
            </a:br>
            <a:r>
              <a:rPr lang="en-US" dirty="0"/>
              <a:t/>
            </a:r>
            <a:br>
              <a:rPr lang="en-US" dirty="0"/>
            </a:br>
            <a:r>
              <a:rPr lang="en-US" dirty="0"/>
              <a:t>Click to add text. Delete textbox if unneeded. </a:t>
            </a:r>
          </a:p>
        </p:txBody>
      </p:sp>
    </p:spTree>
    <p:extLst>
      <p:ext uri="{BB962C8B-B14F-4D97-AF65-F5344CB8AC3E}">
        <p14:creationId xmlns:p14="http://schemas.microsoft.com/office/powerpoint/2010/main" val="1867421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R) Recall">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9" name="TextBox 8">
            <a:extLst>
              <a:ext uri="{FF2B5EF4-FFF2-40B4-BE49-F238E27FC236}">
                <a16:creationId xmlns:a16="http://schemas.microsoft.com/office/drawing/2014/main" id="{56B0E9EF-C072-49CE-9514-CD457EE95DB9}"/>
              </a:ext>
            </a:extLst>
          </p:cNvPr>
          <p:cNvSpPr txBox="1"/>
          <p:nvPr userDrawn="1"/>
        </p:nvSpPr>
        <p:spPr>
          <a:xfrm>
            <a:off x="280558" y="262082"/>
            <a:ext cx="982186"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Retrieve</a:t>
            </a:r>
          </a:p>
        </p:txBody>
      </p:sp>
      <p:sp>
        <p:nvSpPr>
          <p:cNvPr id="10" name="Text Placeholder 6">
            <a:extLst>
              <a:ext uri="{FF2B5EF4-FFF2-40B4-BE49-F238E27FC236}">
                <a16:creationId xmlns:a16="http://schemas.microsoft.com/office/drawing/2014/main" id="{D11CF63B-7632-447F-B321-9789C106CA52}"/>
              </a:ext>
            </a:extLst>
          </p:cNvPr>
          <p:cNvSpPr>
            <a:spLocks noGrp="1"/>
          </p:cNvSpPr>
          <p:nvPr>
            <p:ph type="body" sz="quarter" idx="13" hasCustomPrompt="1"/>
          </p:nvPr>
        </p:nvSpPr>
        <p:spPr>
          <a:xfrm>
            <a:off x="280557" y="805337"/>
            <a:ext cx="11481952" cy="496990"/>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C69BF684-094C-4086-BBA0-8EA483477F79}"/>
              </a:ext>
            </a:extLst>
          </p:cNvPr>
          <p:cNvSpPr>
            <a:spLocks noGrp="1"/>
          </p:cNvSpPr>
          <p:nvPr>
            <p:ph type="body" sz="quarter" idx="15" hasCustomPrompt="1"/>
          </p:nvPr>
        </p:nvSpPr>
        <p:spPr>
          <a:xfrm>
            <a:off x="280558" y="1476498"/>
            <a:ext cx="11506476" cy="511942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At this point the information should be removed and students, first as a group and then as individuals, should be able to recall it.</a:t>
            </a:r>
            <a:br>
              <a:rPr lang="en-AU" dirty="0"/>
            </a:br>
            <a:r>
              <a:rPr lang="en-AU" dirty="0"/>
              <a:t/>
            </a:r>
            <a:br>
              <a:rPr lang="en-AU" dirty="0"/>
            </a:br>
            <a:r>
              <a:rPr lang="en-US" dirty="0"/>
              <a:t>Click to add text. Delete textbox if unneeded. </a:t>
            </a:r>
          </a:p>
        </p:txBody>
      </p:sp>
    </p:spTree>
    <p:extLst>
      <p:ext uri="{BB962C8B-B14F-4D97-AF65-F5344CB8AC3E}">
        <p14:creationId xmlns:p14="http://schemas.microsoft.com/office/powerpoint/2010/main" val="6119864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DR) Apply">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8" name="TextBox 7">
            <a:extLst>
              <a:ext uri="{FF2B5EF4-FFF2-40B4-BE49-F238E27FC236}">
                <a16:creationId xmlns:a16="http://schemas.microsoft.com/office/drawing/2014/main" id="{AC654E54-CAC9-4F2F-AA80-55A84549B89E}"/>
              </a:ext>
            </a:extLst>
          </p:cNvPr>
          <p:cNvSpPr txBox="1"/>
          <p:nvPr userDrawn="1"/>
        </p:nvSpPr>
        <p:spPr>
          <a:xfrm>
            <a:off x="280558" y="262082"/>
            <a:ext cx="982186"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Apply</a:t>
            </a:r>
          </a:p>
        </p:txBody>
      </p:sp>
      <p:sp>
        <p:nvSpPr>
          <p:cNvPr id="9" name="Text Placeholder 6">
            <a:extLst>
              <a:ext uri="{FF2B5EF4-FFF2-40B4-BE49-F238E27FC236}">
                <a16:creationId xmlns:a16="http://schemas.microsoft.com/office/drawing/2014/main" id="{B3E95AC1-7531-4639-975B-21368D744727}"/>
              </a:ext>
            </a:extLst>
          </p:cNvPr>
          <p:cNvSpPr>
            <a:spLocks noGrp="1"/>
          </p:cNvSpPr>
          <p:nvPr>
            <p:ph type="body" sz="quarter" idx="13" hasCustomPrompt="1"/>
          </p:nvPr>
        </p:nvSpPr>
        <p:spPr>
          <a:xfrm>
            <a:off x="280557" y="805337"/>
            <a:ext cx="11481952" cy="51084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E913797E-7ED2-48B9-87A3-251518F8AEF7}"/>
              </a:ext>
            </a:extLst>
          </p:cNvPr>
          <p:cNvSpPr>
            <a:spLocks noGrp="1"/>
          </p:cNvSpPr>
          <p:nvPr>
            <p:ph type="body" sz="quarter" idx="15" hasCustomPrompt="1"/>
          </p:nvPr>
        </p:nvSpPr>
        <p:spPr>
          <a:xfrm>
            <a:off x="280558" y="1490352"/>
            <a:ext cx="11506476" cy="5105565"/>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US" dirty="0"/>
              <a:t>Ask students to apply this knowledge to a problem or specific context.</a:t>
            </a:r>
            <a:br>
              <a:rPr lang="en-US" dirty="0"/>
            </a:br>
            <a:r>
              <a:rPr lang="en-AU" dirty="0"/>
              <a:t/>
            </a:r>
            <a:br>
              <a:rPr lang="en-AU" dirty="0"/>
            </a:br>
            <a:r>
              <a:rPr lang="en-US" dirty="0"/>
              <a:t>Steps here must be explicit and listed simply enough such that students are able to apply their understanding to examples and non-examples.</a:t>
            </a:r>
            <a:br>
              <a:rPr lang="en-US" dirty="0"/>
            </a:br>
            <a:r>
              <a:rPr lang="en-US" dirty="0"/>
              <a:t/>
            </a:r>
            <a:br>
              <a:rPr lang="en-US" dirty="0"/>
            </a:br>
            <a:r>
              <a:rPr lang="en-AU" dirty="0"/>
              <a:t>Click to add text. Delete textbox if unneeded. </a:t>
            </a:r>
            <a:endParaRPr lang="en-US" dirty="0"/>
          </a:p>
        </p:txBody>
      </p:sp>
    </p:spTree>
    <p:extLst>
      <p:ext uri="{BB962C8B-B14F-4D97-AF65-F5344CB8AC3E}">
        <p14:creationId xmlns:p14="http://schemas.microsoft.com/office/powerpoint/2010/main" val="3366756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R) New Top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297625" y="2268252"/>
            <a:ext cx="8660516" cy="2826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0" i="0" spc="300" baseline="0" dirty="0">
                <a:solidFill>
                  <a:srgbClr val="154983"/>
                </a:solidFill>
                <a:latin typeface="Arial Rounded MT Bold" panose="020F0704030504030204" pitchFamily="34" charset="0"/>
              </a:rPr>
              <a:t>What we are learning today</a:t>
            </a:r>
            <a:endParaRPr lang="en-US" sz="7200" b="0" i="0" dirty="0">
              <a:solidFill>
                <a:srgbClr val="154983"/>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447768" y="1699225"/>
            <a:ext cx="2797472" cy="789710"/>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3600" b="0" i="0" dirty="0">
                <a:solidFill>
                  <a:schemeClr val="bg1"/>
                </a:solidFill>
                <a:latin typeface="Arial Rounded MT Bold" panose="020F0704030504030204" pitchFamily="34" charset="0"/>
                <a:cs typeface="Futura Medium" panose="020B0602020204020303" pitchFamily="34" charset="-79"/>
              </a:rPr>
              <a:t>New Topic</a:t>
            </a:r>
          </a:p>
        </p:txBody>
      </p:sp>
    </p:spTree>
    <p:extLst>
      <p:ext uri="{BB962C8B-B14F-4D97-AF65-F5344CB8AC3E}">
        <p14:creationId xmlns:p14="http://schemas.microsoft.com/office/powerpoint/2010/main" val="3040569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r>
              <a:rPr lang="en-AU" dirty="0"/>
              <a:t/>
            </a:r>
            <a:br>
              <a:rPr lang="en-AU" dirty="0"/>
            </a:br>
            <a:r>
              <a:rPr lang="en-AU" dirty="0"/>
              <a:t>Click to add text. Delete textbox if unneeded.</a:t>
            </a:r>
          </a:p>
        </p:txBody>
      </p:sp>
    </p:spTree>
    <p:extLst>
      <p:ext uri="{BB962C8B-B14F-4D97-AF65-F5344CB8AC3E}">
        <p14:creationId xmlns:p14="http://schemas.microsoft.com/office/powerpoint/2010/main" val="1492455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10622D-34BE-4B38-9B5B-5A9332B9C180}" type="datetimeFigureOut">
              <a:rPr lang="en-AU" smtClean="0"/>
              <a:t>10/02/2021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818E8D-F016-40C3-8258-DF337156420F}" type="slidenum">
              <a:rPr lang="en-AU" smtClean="0"/>
              <a:t>‹#›</a:t>
            </a:fld>
            <a:endParaRPr lang="en-AU"/>
          </a:p>
        </p:txBody>
      </p:sp>
    </p:spTree>
    <p:extLst>
      <p:ext uri="{BB962C8B-B14F-4D97-AF65-F5344CB8AC3E}">
        <p14:creationId xmlns:p14="http://schemas.microsoft.com/office/powerpoint/2010/main" val="2194603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customXml" Target="../ink/ink1.xml"/><Relationship Id="rId12"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1.png"/><Relationship Id="rId15" Type="http://schemas.openxmlformats.org/officeDocument/2006/relationships/hyperlink" Target="https://creativecommons.org/licenses/by-nd/3.0/" TargetMode="External"/><Relationship Id="rId10" Type="http://schemas.openxmlformats.org/officeDocument/2006/relationships/customXml" Target="../ink/ink4.xml"/><Relationship Id="rId4" Type="http://schemas.openxmlformats.org/officeDocument/2006/relationships/image" Target="NULL"/><Relationship Id="rId14" Type="http://schemas.openxmlformats.org/officeDocument/2006/relationships/hyperlink" Target="https://journalistsresource.org/studies/society/public-health/heat-waves-elderly-health-effects/"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2500" y="5045311"/>
            <a:ext cx="9966960" cy="1560320"/>
          </a:xfrm>
        </p:spPr>
        <p:txBody>
          <a:bodyPr>
            <a:normAutofit/>
          </a:bodyPr>
          <a:lstStyle/>
          <a:p>
            <a:r>
              <a:rPr lang="en-US" sz="4900" b="1" dirty="0" smtClean="0">
                <a:solidFill>
                  <a:srgbClr val="002060"/>
                </a:solidFill>
                <a:latin typeface="Arial Rounded MT Bold" panose="020F0704030504030204" pitchFamily="34" charset="77"/>
              </a:rPr>
              <a:t>Specific Heat Capacity</a:t>
            </a:r>
            <a:r>
              <a:rPr lang="en-US" sz="4900" dirty="0">
                <a:solidFill>
                  <a:srgbClr val="002060"/>
                </a:solidFill>
                <a:latin typeface="Arial Rounded MT Bold" panose="020F0704030504030204" pitchFamily="34" charset="77"/>
              </a:rPr>
              <a:t/>
            </a:r>
            <a:br>
              <a:rPr lang="en-US" sz="4900" dirty="0">
                <a:solidFill>
                  <a:srgbClr val="002060"/>
                </a:solidFill>
                <a:latin typeface="Arial Rounded MT Bold" panose="020F0704030504030204" pitchFamily="34" charset="77"/>
              </a:rPr>
            </a:br>
            <a:r>
              <a:rPr lang="en-US" sz="4900" dirty="0">
                <a:solidFill>
                  <a:srgbClr val="00C0B4"/>
                </a:solidFill>
                <a:latin typeface="Arial Rounded MT Bold" panose="020F0704030504030204" pitchFamily="34" charset="77"/>
              </a:rPr>
              <a:t>Year 11 ATAR Physis</a:t>
            </a:r>
          </a:p>
        </p:txBody>
      </p:sp>
      <p:sp>
        <p:nvSpPr>
          <p:cNvPr id="3" name="Subtitle 2"/>
          <p:cNvSpPr>
            <a:spLocks noGrp="1"/>
          </p:cNvSpPr>
          <p:nvPr>
            <p:ph type="subTitle" idx="1"/>
          </p:nvPr>
        </p:nvSpPr>
        <p:spPr>
          <a:xfrm>
            <a:off x="10011747" y="6299068"/>
            <a:ext cx="2180253" cy="440822"/>
          </a:xfrm>
        </p:spPr>
        <p:txBody>
          <a:bodyPr>
            <a:normAutofit/>
          </a:bodyPr>
          <a:lstStyle/>
          <a:p>
            <a:r>
              <a:rPr lang="en-US" sz="2000" dirty="0" err="1">
                <a:latin typeface="Arial Rounded MT Bold" panose="020F0704030504030204" pitchFamily="34" charset="77"/>
              </a:rPr>
              <a:t>Mrs</a:t>
            </a:r>
            <a:r>
              <a:rPr lang="en-US" sz="2000" dirty="0">
                <a:latin typeface="Arial Rounded MT Bold" panose="020F0704030504030204" pitchFamily="34" charset="77"/>
              </a:rPr>
              <a:t> Martin</a:t>
            </a:r>
          </a:p>
        </p:txBody>
      </p:sp>
      <mc:AlternateContent xmlns:mc="http://schemas.openxmlformats.org/markup-compatibility/2006">
        <mc:Choice xmlns:p14="http://schemas.microsoft.com/office/powerpoint/2010/main" xmlns:aink="http://schemas.microsoft.com/office/drawing/2016/ink" xmlns="" Requires="p14 aink">
          <p:contentPart p14:bwMode="auto" r:id="rId3">
            <p14:nvContentPartPr>
              <p14:cNvPr id="6" name="Ink 5">
                <a:extLst>
                  <a:ext uri="{FF2B5EF4-FFF2-40B4-BE49-F238E27FC236}">
                    <a16:creationId xmlns:a16="http://schemas.microsoft.com/office/drawing/2014/main" id="{A94B6F93-12D7-B34C-822F-4C0B22FE395E}"/>
                  </a:ext>
                </a:extLst>
              </p14:cNvPr>
              <p14:cNvContentPartPr/>
              <p14:nvPr/>
            </p14:nvContentPartPr>
            <p14:xfrm>
              <a:off x="10287880" y="3190440"/>
              <a:ext cx="21240" cy="14760"/>
            </p14:xfrm>
          </p:contentPart>
        </mc:Choice>
        <mc:Fallback>
          <p:pic>
            <p:nvPicPr>
              <p:cNvPr id="6" name="Ink 5">
                <a:extLst>
                  <a:ext uri="{FF2B5EF4-FFF2-40B4-BE49-F238E27FC236}">
                    <a16:creationId xmlns:a16="http://schemas.microsoft.com/office/drawing/2014/main" id="{A94B6F93-12D7-B34C-822F-4C0B22FE395E}"/>
                  </a:ext>
                </a:extLst>
              </p:cNvPr>
              <p:cNvPicPr/>
              <p:nvPr/>
            </p:nvPicPr>
            <p:blipFill>
              <a:blip r:embed="rId4"/>
              <a:stretch>
                <a:fillRect/>
              </a:stretch>
            </p:blipFill>
            <p:spPr>
              <a:xfrm>
                <a:off x="10269880" y="3082800"/>
                <a:ext cx="56880" cy="2304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xmlns="" Requires="p14 aink">
          <p:contentPart p14:bwMode="auto" r:id="rId6">
            <p14:nvContentPartPr>
              <p14:cNvPr id="7" name="Ink 6">
                <a:extLst>
                  <a:ext uri="{FF2B5EF4-FFF2-40B4-BE49-F238E27FC236}">
                    <a16:creationId xmlns:a16="http://schemas.microsoft.com/office/drawing/2014/main" id="{21A7679E-DFE2-354C-B529-37AEEE617D68}"/>
                  </a:ext>
                </a:extLst>
              </p14:cNvPr>
              <p14:cNvContentPartPr/>
              <p14:nvPr/>
            </p14:nvContentPartPr>
            <p14:xfrm>
              <a:off x="7844920" y="2370360"/>
              <a:ext cx="6120" cy="18000"/>
            </p14:xfrm>
          </p:contentPart>
        </mc:Choice>
        <mc:Fallback>
          <p:pic>
            <p:nvPicPr>
              <p:cNvPr id="7" name="Ink 6">
                <a:extLst>
                  <a:ext uri="{FF2B5EF4-FFF2-40B4-BE49-F238E27FC236}">
                    <a16:creationId xmlns:a16="http://schemas.microsoft.com/office/drawing/2014/main" id="{21A7679E-DFE2-354C-B529-37AEEE617D68}"/>
                  </a:ext>
                </a:extLst>
              </p:cNvPr>
              <p:cNvPicPr/>
              <p:nvPr/>
            </p:nvPicPr>
            <p:blipFill>
              <a:blip r:embed="rId4"/>
              <a:stretch>
                <a:fillRect/>
              </a:stretch>
            </p:blipFill>
            <p:spPr>
              <a:xfrm>
                <a:off x="7827280" y="2262720"/>
                <a:ext cx="41760" cy="2336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xmlns="" Requires="p14 aink">
          <p:contentPart p14:bwMode="auto" r:id="rId8">
            <p14:nvContentPartPr>
              <p14:cNvPr id="8" name="Ink 7">
                <a:extLst>
                  <a:ext uri="{FF2B5EF4-FFF2-40B4-BE49-F238E27FC236}">
                    <a16:creationId xmlns:a16="http://schemas.microsoft.com/office/drawing/2014/main" id="{93686204-4622-D04C-8065-A5D212C57165}"/>
                  </a:ext>
                </a:extLst>
              </p14:cNvPr>
              <p14:cNvContentPartPr/>
              <p14:nvPr/>
            </p14:nvContentPartPr>
            <p14:xfrm>
              <a:off x="8556873" y="3689782"/>
              <a:ext cx="360" cy="360"/>
            </p14:xfrm>
          </p:contentPart>
        </mc:Choice>
        <mc:Fallback>
          <p:pic>
            <p:nvPicPr>
              <p:cNvPr id="8" name="Ink 7">
                <a:extLst>
                  <a:ext uri="{FF2B5EF4-FFF2-40B4-BE49-F238E27FC236}">
                    <a16:creationId xmlns:a16="http://schemas.microsoft.com/office/drawing/2014/main" id="{93686204-4622-D04C-8065-A5D212C57165}"/>
                  </a:ext>
                </a:extLst>
              </p:cNvPr>
              <p:cNvPicPr/>
              <p:nvPr/>
            </p:nvPicPr>
            <p:blipFill>
              <a:blip r:embed="rId4"/>
              <a:stretch>
                <a:fillRect/>
              </a:stretch>
            </p:blipFill>
            <p:spPr>
              <a:xfrm>
                <a:off x="8539233" y="3581782"/>
                <a:ext cx="36000" cy="21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xmlns="" Requires="p14 aink">
          <p:contentPart p14:bwMode="auto" r:id="rId10">
            <p14:nvContentPartPr>
              <p14:cNvPr id="19" name="Ink 18">
                <a:extLst>
                  <a:ext uri="{FF2B5EF4-FFF2-40B4-BE49-F238E27FC236}">
                    <a16:creationId xmlns:a16="http://schemas.microsoft.com/office/drawing/2014/main" id="{C4794CCE-5A08-664D-95B2-585CC29B3676}"/>
                  </a:ext>
                </a:extLst>
              </p14:cNvPr>
              <p14:cNvContentPartPr/>
              <p14:nvPr/>
            </p14:nvContentPartPr>
            <p14:xfrm>
              <a:off x="667113" y="756862"/>
              <a:ext cx="3960" cy="3960"/>
            </p14:xfrm>
          </p:contentPart>
        </mc:Choice>
        <mc:Fallback>
          <p:pic>
            <p:nvPicPr>
              <p:cNvPr id="19" name="Ink 18">
                <a:extLst>
                  <a:ext uri="{FF2B5EF4-FFF2-40B4-BE49-F238E27FC236}">
                    <a16:creationId xmlns:a16="http://schemas.microsoft.com/office/drawing/2014/main" id="{C4794CCE-5A08-664D-95B2-585CC29B3676}"/>
                  </a:ext>
                </a:extLst>
              </p:cNvPr>
              <p:cNvPicPr/>
              <p:nvPr/>
            </p:nvPicPr>
            <p:blipFill>
              <a:blip r:embed="rId4"/>
              <a:stretch>
                <a:fillRect/>
              </a:stretch>
            </p:blipFill>
            <p:spPr>
              <a:xfrm>
                <a:off x="649113" y="648862"/>
                <a:ext cx="39600" cy="219600"/>
              </a:xfrm>
              <a:prstGeom prst="rect">
                <a:avLst/>
              </a:prstGeom>
            </p:spPr>
          </p:pic>
        </mc:Fallback>
      </mc:AlternateContent>
      <p:pic>
        <p:nvPicPr>
          <p:cNvPr id="13" name="Picture 12">
            <a:extLst>
              <a:ext uri="{FF2B5EF4-FFF2-40B4-BE49-F238E27FC236}">
                <a16:creationId xmlns:a16="http://schemas.microsoft.com/office/drawing/2014/main" id="{6E045938-6420-7748-B71E-4CB566FAC868}"/>
              </a:ext>
            </a:extLst>
          </p:cNvPr>
          <p:cNvPicPr/>
          <p:nvPr/>
        </p:nvPicPr>
        <p:blipFill>
          <a:blip r:embed="rId11">
            <a:extLst>
              <a:ext uri="{28A0092B-C50C-407E-A947-70E740481C1C}">
                <a14:useLocalDpi xmlns:a14="http://schemas.microsoft.com/office/drawing/2010/main" val="0"/>
              </a:ext>
            </a:extLst>
          </a:blip>
          <a:stretch>
            <a:fillRect/>
          </a:stretch>
        </p:blipFill>
        <p:spPr bwMode="auto">
          <a:xfrm>
            <a:off x="22120" y="0"/>
            <a:ext cx="784874" cy="854703"/>
          </a:xfrm>
          <a:prstGeom prst="rect">
            <a:avLst/>
          </a:prstGeom>
          <a:noFill/>
        </p:spPr>
      </p:pic>
      <p:pic>
        <p:nvPicPr>
          <p:cNvPr id="9" name="Picture 8" descr="A picture containing nature, outdoor, clouds, cloud&#10;&#10;Description automatically generated">
            <a:extLst>
              <a:ext uri="{FF2B5EF4-FFF2-40B4-BE49-F238E27FC236}">
                <a16:creationId xmlns:a16="http://schemas.microsoft.com/office/drawing/2014/main" id="{96102A58-8D3F-C048-9F00-D3F031207279}"/>
              </a:ext>
            </a:extLst>
          </p:cNvPr>
          <p:cNvPicPr>
            <a:picLocks noChangeAspect="1"/>
          </p:cNvPicPr>
          <p:nvPr/>
        </p:nvPicPr>
        <p:blipFill>
          <a:blip r:embed="rId12">
            <a:extLst>
              <a:ext uri="{837473B0-CC2E-450A-ABE3-18F120FF3D39}">
                <a1611:picAttrSrcUrl xmlns:a1611="http://schemas.microsoft.com/office/drawing/2016/11/main" xmlns="" r:id="rId14"/>
              </a:ext>
            </a:extLst>
          </a:blip>
          <a:stretch>
            <a:fillRect/>
          </a:stretch>
        </p:blipFill>
        <p:spPr>
          <a:xfrm>
            <a:off x="2330073" y="78732"/>
            <a:ext cx="7211813" cy="4807875"/>
          </a:xfrm>
          <a:prstGeom prst="rect">
            <a:avLst/>
          </a:prstGeom>
        </p:spPr>
      </p:pic>
      <p:sp>
        <p:nvSpPr>
          <p:cNvPr id="10" name="TextBox 9">
            <a:extLst>
              <a:ext uri="{FF2B5EF4-FFF2-40B4-BE49-F238E27FC236}">
                <a16:creationId xmlns:a16="http://schemas.microsoft.com/office/drawing/2014/main" id="{272469C3-D2D1-1844-ABBF-04F7E7ED03A1}"/>
              </a:ext>
            </a:extLst>
          </p:cNvPr>
          <p:cNvSpPr txBox="1"/>
          <p:nvPr/>
        </p:nvSpPr>
        <p:spPr>
          <a:xfrm>
            <a:off x="952500" y="6858000"/>
            <a:ext cx="10287000" cy="230832"/>
          </a:xfrm>
          <a:prstGeom prst="rect">
            <a:avLst/>
          </a:prstGeom>
          <a:noFill/>
        </p:spPr>
        <p:txBody>
          <a:bodyPr wrap="square" rtlCol="0">
            <a:spAutoFit/>
          </a:bodyPr>
          <a:lstStyle/>
          <a:p>
            <a:r>
              <a:rPr lang="en-US" sz="900">
                <a:hlinkClick r:id="rId14" tooltip="https://journalistsresource.org/studies/society/public-health/heat-waves-elderly-health-effects/"/>
              </a:rPr>
              <a:t>This Photo</a:t>
            </a:r>
            <a:r>
              <a:rPr lang="en-US" sz="900"/>
              <a:t> by Unknown Author is licensed under </a:t>
            </a:r>
            <a:r>
              <a:rPr lang="en-US" sz="900">
                <a:hlinkClick r:id="rId15" tooltip="https://creativecommons.org/licenses/by-nd/3.0/"/>
              </a:rPr>
              <a:t>CC BY-ND</a:t>
            </a:r>
            <a:endParaRPr lang="en-US" sz="900"/>
          </a:p>
        </p:txBody>
      </p:sp>
    </p:spTree>
    <p:extLst>
      <p:ext uri="{BB962C8B-B14F-4D97-AF65-F5344CB8AC3E}">
        <p14:creationId xmlns:p14="http://schemas.microsoft.com/office/powerpoint/2010/main" val="1429391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85B305C-721E-D540-958F-34E98D3603DF}"/>
              </a:ext>
            </a:extLst>
          </p:cNvPr>
          <p:cNvGrpSpPr/>
          <p:nvPr/>
        </p:nvGrpSpPr>
        <p:grpSpPr>
          <a:xfrm>
            <a:off x="593407" y="2346656"/>
            <a:ext cx="2211388" cy="605005"/>
            <a:chOff x="3657599" y="1716154"/>
            <a:chExt cx="2211388" cy="694270"/>
          </a:xfrm>
        </p:grpSpPr>
        <p:sp>
          <p:nvSpPr>
            <p:cNvPr id="9" name="TextBox 8">
              <a:extLst>
                <a:ext uri="{FF2B5EF4-FFF2-40B4-BE49-F238E27FC236}">
                  <a16:creationId xmlns:a16="http://schemas.microsoft.com/office/drawing/2014/main" id="{8F7B6625-5791-8643-8992-71BEC6CEB22B}"/>
                </a:ext>
              </a:extLst>
            </p:cNvPr>
            <p:cNvSpPr txBox="1"/>
            <p:nvPr/>
          </p:nvSpPr>
          <p:spPr>
            <a:xfrm>
              <a:off x="3657600" y="2074896"/>
              <a:ext cx="2203768" cy="335528"/>
            </a:xfrm>
            <a:prstGeom prst="rect">
              <a:avLst/>
            </a:prstGeom>
            <a:solidFill>
              <a:schemeClr val="bg1"/>
            </a:solidFill>
            <a:ln>
              <a:solidFill>
                <a:srgbClr val="47998B"/>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10" name="TextBox 9">
              <a:extLst>
                <a:ext uri="{FF2B5EF4-FFF2-40B4-BE49-F238E27FC236}">
                  <a16:creationId xmlns:a16="http://schemas.microsoft.com/office/drawing/2014/main" id="{518C4B6F-2ADF-714C-852E-3DD14E0A4876}"/>
                </a:ext>
              </a:extLst>
            </p:cNvPr>
            <p:cNvSpPr txBox="1">
              <a:spLocks noChangeAspect="1"/>
            </p:cNvSpPr>
            <p:nvPr/>
          </p:nvSpPr>
          <p:spPr>
            <a:xfrm>
              <a:off x="3657599" y="1716154"/>
              <a:ext cx="2211388" cy="358742"/>
            </a:xfrm>
            <a:prstGeom prst="rect">
              <a:avLst/>
            </a:prstGeom>
            <a:solidFill>
              <a:srgbClr val="47998B"/>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Make the Connection</a:t>
              </a:r>
            </a:p>
          </p:txBody>
        </p:sp>
      </p:grpSp>
      <p:sp>
        <p:nvSpPr>
          <p:cNvPr id="11" name="TextBox 10">
            <a:extLst>
              <a:ext uri="{FF2B5EF4-FFF2-40B4-BE49-F238E27FC236}">
                <a16:creationId xmlns:a16="http://schemas.microsoft.com/office/drawing/2014/main" id="{67837EBD-D92A-9640-8767-A02D08251712}"/>
              </a:ext>
            </a:extLst>
          </p:cNvPr>
          <p:cNvSpPr txBox="1"/>
          <p:nvPr/>
        </p:nvSpPr>
        <p:spPr>
          <a:xfrm>
            <a:off x="495300" y="406400"/>
            <a:ext cx="10947400" cy="1485900"/>
          </a:xfrm>
          <a:prstGeom prst="rect">
            <a:avLst/>
          </a:prstGeom>
          <a:noFill/>
          <a:ln>
            <a:noFill/>
          </a:ln>
        </p:spPr>
        <p:txBody>
          <a:bodyPr wrap="square" rtlCol="0" anchor="t" anchorCtr="0">
            <a:normAutofit fontScale="40000" lnSpcReduction="20000"/>
          </a:bodyPr>
          <a:lstStyle/>
          <a:p>
            <a:pPr algn="l"/>
            <a:r>
              <a:rPr lang="en-US" sz="5400" b="1" dirty="0">
                <a:latin typeface="Century Gothic" panose="020B0502020202020204" pitchFamily="34" charset="0"/>
                <a:cs typeface="Futura Medium" panose="020B0602020204020303" pitchFamily="34" charset="-79"/>
              </a:rPr>
              <a:t>Do not delete this slide. It is hidden from your show. You can use it to copy and paste the relevant prompt boxes into your presentation. Click once on the white space to select it for copying. Once it is in your presentation you can double click on the white space to add text. The box will automatically resize to fit your text. The next slide is also hidden and included as an example only. </a:t>
            </a:r>
          </a:p>
        </p:txBody>
      </p:sp>
      <p:grpSp>
        <p:nvGrpSpPr>
          <p:cNvPr id="12" name="Group 11">
            <a:extLst>
              <a:ext uri="{FF2B5EF4-FFF2-40B4-BE49-F238E27FC236}">
                <a16:creationId xmlns:a16="http://schemas.microsoft.com/office/drawing/2014/main" id="{5960F400-1297-8E49-9260-D87603A503E3}"/>
              </a:ext>
            </a:extLst>
          </p:cNvPr>
          <p:cNvGrpSpPr/>
          <p:nvPr/>
        </p:nvGrpSpPr>
        <p:grpSpPr>
          <a:xfrm>
            <a:off x="4797011" y="2349076"/>
            <a:ext cx="2211388" cy="605005"/>
            <a:chOff x="3657599" y="1716154"/>
            <a:chExt cx="2211388" cy="694270"/>
          </a:xfrm>
        </p:grpSpPr>
        <p:sp>
          <p:nvSpPr>
            <p:cNvPr id="13" name="TextBox 12">
              <a:extLst>
                <a:ext uri="{FF2B5EF4-FFF2-40B4-BE49-F238E27FC236}">
                  <a16:creationId xmlns:a16="http://schemas.microsoft.com/office/drawing/2014/main" id="{82CD9D59-27CE-8B4E-85F3-97F69473A375}"/>
                </a:ext>
              </a:extLst>
            </p:cNvPr>
            <p:cNvSpPr txBox="1"/>
            <p:nvPr/>
          </p:nvSpPr>
          <p:spPr>
            <a:xfrm>
              <a:off x="3657600" y="2074896"/>
              <a:ext cx="2203768" cy="335528"/>
            </a:xfrm>
            <a:prstGeom prst="rect">
              <a:avLst/>
            </a:prstGeom>
            <a:solidFill>
              <a:schemeClr val="bg1"/>
            </a:solidFill>
            <a:ln>
              <a:solidFill>
                <a:schemeClr val="accent2">
                  <a:lumMod val="75000"/>
                </a:schemeClr>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14" name="TextBox 13">
              <a:extLst>
                <a:ext uri="{FF2B5EF4-FFF2-40B4-BE49-F238E27FC236}">
                  <a16:creationId xmlns:a16="http://schemas.microsoft.com/office/drawing/2014/main" id="{8AE73B4E-F932-614B-B827-C797847927A0}"/>
                </a:ext>
              </a:extLst>
            </p:cNvPr>
            <p:cNvSpPr txBox="1">
              <a:spLocks noChangeAspect="1"/>
            </p:cNvSpPr>
            <p:nvPr/>
          </p:nvSpPr>
          <p:spPr>
            <a:xfrm>
              <a:off x="3657599" y="1716154"/>
              <a:ext cx="2211388" cy="358742"/>
            </a:xfrm>
            <a:prstGeom prst="rect">
              <a:avLst/>
            </a:prstGeom>
            <a:solidFill>
              <a:schemeClr val="accent2">
                <a:lumMod val="75000"/>
              </a:schemeClr>
            </a:solidFill>
            <a:ln>
              <a:noFill/>
            </a:ln>
          </p:spPr>
          <p:txBody>
            <a:bodyPr wrap="square" rtlCol="0" anchor="ctr" anchorCtr="0">
              <a:normAutofit fontScale="92500"/>
            </a:bodyPr>
            <a:lstStyle/>
            <a:p>
              <a:pPr algn="l"/>
              <a:r>
                <a:rPr lang="en-US" sz="1400" b="1" dirty="0">
                  <a:solidFill>
                    <a:schemeClr val="bg1">
                      <a:lumMod val="95000"/>
                    </a:schemeClr>
                  </a:solidFill>
                  <a:latin typeface="Century Gothic" panose="020B0502020202020204" pitchFamily="34" charset="0"/>
                  <a:cs typeface="Futura Medium" panose="020B0602020204020303" pitchFamily="34" charset="-79"/>
                </a:rPr>
                <a:t>Check for Understanding</a:t>
              </a:r>
            </a:p>
          </p:txBody>
        </p:sp>
      </p:grpSp>
      <p:grpSp>
        <p:nvGrpSpPr>
          <p:cNvPr id="15" name="Group 14">
            <a:extLst>
              <a:ext uri="{FF2B5EF4-FFF2-40B4-BE49-F238E27FC236}">
                <a16:creationId xmlns:a16="http://schemas.microsoft.com/office/drawing/2014/main" id="{86336AAC-74E7-784C-910D-0D020AD51C7A}"/>
              </a:ext>
            </a:extLst>
          </p:cNvPr>
          <p:cNvGrpSpPr/>
          <p:nvPr/>
        </p:nvGrpSpPr>
        <p:grpSpPr>
          <a:xfrm>
            <a:off x="9008234" y="2349076"/>
            <a:ext cx="2211388" cy="605005"/>
            <a:chOff x="3657599" y="1716154"/>
            <a:chExt cx="2211388" cy="694270"/>
          </a:xfrm>
        </p:grpSpPr>
        <p:sp>
          <p:nvSpPr>
            <p:cNvPr id="16" name="TextBox 15">
              <a:extLst>
                <a:ext uri="{FF2B5EF4-FFF2-40B4-BE49-F238E27FC236}">
                  <a16:creationId xmlns:a16="http://schemas.microsoft.com/office/drawing/2014/main" id="{70F7ABA7-C143-7C46-86CA-6296F7A16DF4}"/>
                </a:ext>
              </a:extLst>
            </p:cNvPr>
            <p:cNvSpPr txBox="1"/>
            <p:nvPr/>
          </p:nvSpPr>
          <p:spPr>
            <a:xfrm>
              <a:off x="3657600" y="2074896"/>
              <a:ext cx="2203768" cy="335528"/>
            </a:xfrm>
            <a:prstGeom prst="rect">
              <a:avLst/>
            </a:prstGeom>
            <a:solidFill>
              <a:schemeClr val="bg1"/>
            </a:solidFill>
            <a:ln>
              <a:solidFill>
                <a:srgbClr val="7030A0"/>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17" name="TextBox 16">
              <a:extLst>
                <a:ext uri="{FF2B5EF4-FFF2-40B4-BE49-F238E27FC236}">
                  <a16:creationId xmlns:a16="http://schemas.microsoft.com/office/drawing/2014/main" id="{46F0C466-8205-3740-90E8-EA5BEAF964E1}"/>
                </a:ext>
              </a:extLst>
            </p:cNvPr>
            <p:cNvSpPr txBox="1">
              <a:spLocks noChangeAspect="1"/>
            </p:cNvSpPr>
            <p:nvPr/>
          </p:nvSpPr>
          <p:spPr>
            <a:xfrm>
              <a:off x="3657599" y="1716154"/>
              <a:ext cx="2211388" cy="358742"/>
            </a:xfrm>
            <a:prstGeom prst="rect">
              <a:avLst/>
            </a:prstGeom>
            <a:solidFill>
              <a:srgbClr val="7030A0"/>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Teacher Cue</a:t>
              </a:r>
            </a:p>
          </p:txBody>
        </p:sp>
      </p:grpSp>
      <p:grpSp>
        <p:nvGrpSpPr>
          <p:cNvPr id="18" name="Group 17">
            <a:extLst>
              <a:ext uri="{FF2B5EF4-FFF2-40B4-BE49-F238E27FC236}">
                <a16:creationId xmlns:a16="http://schemas.microsoft.com/office/drawing/2014/main" id="{5D76B007-0E44-6A4D-9F32-5BCC1A853A63}"/>
              </a:ext>
            </a:extLst>
          </p:cNvPr>
          <p:cNvGrpSpPr/>
          <p:nvPr/>
        </p:nvGrpSpPr>
        <p:grpSpPr>
          <a:xfrm>
            <a:off x="585788" y="4330276"/>
            <a:ext cx="2211388" cy="605005"/>
            <a:chOff x="3657599" y="1716154"/>
            <a:chExt cx="2211388" cy="694270"/>
          </a:xfrm>
        </p:grpSpPr>
        <p:sp>
          <p:nvSpPr>
            <p:cNvPr id="19" name="TextBox 18">
              <a:extLst>
                <a:ext uri="{FF2B5EF4-FFF2-40B4-BE49-F238E27FC236}">
                  <a16:creationId xmlns:a16="http://schemas.microsoft.com/office/drawing/2014/main" id="{82864B2E-AA68-634B-9CDD-F8704C7476A6}"/>
                </a:ext>
              </a:extLst>
            </p:cNvPr>
            <p:cNvSpPr txBox="1"/>
            <p:nvPr/>
          </p:nvSpPr>
          <p:spPr>
            <a:xfrm>
              <a:off x="3657600" y="2074896"/>
              <a:ext cx="2203768" cy="335528"/>
            </a:xfrm>
            <a:prstGeom prst="rect">
              <a:avLst/>
            </a:prstGeom>
            <a:solidFill>
              <a:schemeClr val="bg1"/>
            </a:solidFill>
            <a:ln>
              <a:solidFill>
                <a:srgbClr val="A14986"/>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20" name="TextBox 19">
              <a:extLst>
                <a:ext uri="{FF2B5EF4-FFF2-40B4-BE49-F238E27FC236}">
                  <a16:creationId xmlns:a16="http://schemas.microsoft.com/office/drawing/2014/main" id="{5F8DCD99-8091-1141-9BDD-119B197F1ABD}"/>
                </a:ext>
              </a:extLst>
            </p:cNvPr>
            <p:cNvSpPr txBox="1">
              <a:spLocks noChangeAspect="1"/>
            </p:cNvSpPr>
            <p:nvPr/>
          </p:nvSpPr>
          <p:spPr>
            <a:xfrm>
              <a:off x="3657599" y="1716154"/>
              <a:ext cx="2211388" cy="358742"/>
            </a:xfrm>
            <a:prstGeom prst="rect">
              <a:avLst/>
            </a:prstGeom>
            <a:solidFill>
              <a:srgbClr val="A14986"/>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Vocabulary</a:t>
              </a:r>
            </a:p>
          </p:txBody>
        </p:sp>
      </p:grpSp>
      <p:grpSp>
        <p:nvGrpSpPr>
          <p:cNvPr id="21" name="Group 20">
            <a:extLst>
              <a:ext uri="{FF2B5EF4-FFF2-40B4-BE49-F238E27FC236}">
                <a16:creationId xmlns:a16="http://schemas.microsoft.com/office/drawing/2014/main" id="{B7EC573C-DF9B-4149-B93E-C84A68B91219}"/>
              </a:ext>
            </a:extLst>
          </p:cNvPr>
          <p:cNvGrpSpPr/>
          <p:nvPr/>
        </p:nvGrpSpPr>
        <p:grpSpPr>
          <a:xfrm>
            <a:off x="4789392" y="4330276"/>
            <a:ext cx="2211388" cy="605005"/>
            <a:chOff x="3657599" y="1716154"/>
            <a:chExt cx="2211388" cy="694270"/>
          </a:xfrm>
        </p:grpSpPr>
        <p:sp>
          <p:nvSpPr>
            <p:cNvPr id="22" name="TextBox 21">
              <a:extLst>
                <a:ext uri="{FF2B5EF4-FFF2-40B4-BE49-F238E27FC236}">
                  <a16:creationId xmlns:a16="http://schemas.microsoft.com/office/drawing/2014/main" id="{AAA8DC77-61C2-1646-844D-7C8801AE2FE1}"/>
                </a:ext>
              </a:extLst>
            </p:cNvPr>
            <p:cNvSpPr txBox="1"/>
            <p:nvPr/>
          </p:nvSpPr>
          <p:spPr>
            <a:xfrm>
              <a:off x="3657600" y="2074896"/>
              <a:ext cx="2203768" cy="335528"/>
            </a:xfrm>
            <a:prstGeom prst="rect">
              <a:avLst/>
            </a:prstGeom>
            <a:solidFill>
              <a:schemeClr val="bg1"/>
            </a:solidFill>
            <a:ln>
              <a:solidFill>
                <a:srgbClr val="002060"/>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23" name="TextBox 22">
              <a:extLst>
                <a:ext uri="{FF2B5EF4-FFF2-40B4-BE49-F238E27FC236}">
                  <a16:creationId xmlns:a16="http://schemas.microsoft.com/office/drawing/2014/main" id="{EF98E954-83A2-F349-B2E8-A0C0B298A610}"/>
                </a:ext>
              </a:extLst>
            </p:cNvPr>
            <p:cNvSpPr txBox="1">
              <a:spLocks noChangeAspect="1"/>
            </p:cNvSpPr>
            <p:nvPr/>
          </p:nvSpPr>
          <p:spPr>
            <a:xfrm>
              <a:off x="3657599" y="1716154"/>
              <a:ext cx="2211388" cy="358742"/>
            </a:xfrm>
            <a:prstGeom prst="rect">
              <a:avLst/>
            </a:prstGeom>
            <a:solidFill>
              <a:srgbClr val="002060"/>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Extension</a:t>
              </a:r>
            </a:p>
          </p:txBody>
        </p:sp>
      </p:grpSp>
      <p:grpSp>
        <p:nvGrpSpPr>
          <p:cNvPr id="24" name="Group 23">
            <a:extLst>
              <a:ext uri="{FF2B5EF4-FFF2-40B4-BE49-F238E27FC236}">
                <a16:creationId xmlns:a16="http://schemas.microsoft.com/office/drawing/2014/main" id="{EEEB6BC9-DA5D-AD4F-8B19-1DB2CA0B88F0}"/>
              </a:ext>
            </a:extLst>
          </p:cNvPr>
          <p:cNvGrpSpPr/>
          <p:nvPr/>
        </p:nvGrpSpPr>
        <p:grpSpPr>
          <a:xfrm>
            <a:off x="9008234" y="4330276"/>
            <a:ext cx="2211388" cy="605005"/>
            <a:chOff x="3657599" y="1716154"/>
            <a:chExt cx="2211388" cy="694270"/>
          </a:xfrm>
        </p:grpSpPr>
        <p:sp>
          <p:nvSpPr>
            <p:cNvPr id="25" name="TextBox 24">
              <a:extLst>
                <a:ext uri="{FF2B5EF4-FFF2-40B4-BE49-F238E27FC236}">
                  <a16:creationId xmlns:a16="http://schemas.microsoft.com/office/drawing/2014/main" id="{35D64311-E8B8-8147-BC7E-A096BAE76B31}"/>
                </a:ext>
              </a:extLst>
            </p:cNvPr>
            <p:cNvSpPr txBox="1"/>
            <p:nvPr/>
          </p:nvSpPr>
          <p:spPr>
            <a:xfrm>
              <a:off x="3657600" y="2074896"/>
              <a:ext cx="2203768" cy="335528"/>
            </a:xfrm>
            <a:prstGeom prst="rect">
              <a:avLst/>
            </a:prstGeom>
            <a:solidFill>
              <a:schemeClr val="bg1"/>
            </a:solidFill>
            <a:ln>
              <a:solidFill>
                <a:srgbClr val="82202A"/>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26" name="TextBox 25">
              <a:extLst>
                <a:ext uri="{FF2B5EF4-FFF2-40B4-BE49-F238E27FC236}">
                  <a16:creationId xmlns:a16="http://schemas.microsoft.com/office/drawing/2014/main" id="{59404963-6AA4-0D4E-B429-287F2358D66E}"/>
                </a:ext>
              </a:extLst>
            </p:cNvPr>
            <p:cNvSpPr txBox="1">
              <a:spLocks noChangeAspect="1"/>
            </p:cNvSpPr>
            <p:nvPr/>
          </p:nvSpPr>
          <p:spPr>
            <a:xfrm>
              <a:off x="3657599" y="1716154"/>
              <a:ext cx="2211388" cy="358742"/>
            </a:xfrm>
            <a:prstGeom prst="rect">
              <a:avLst/>
            </a:prstGeom>
            <a:solidFill>
              <a:srgbClr val="82202A"/>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Hints</a:t>
              </a:r>
            </a:p>
          </p:txBody>
        </p:sp>
      </p:grpSp>
      <p:pic>
        <p:nvPicPr>
          <p:cNvPr id="27" name="Picture 26">
            <a:extLst>
              <a:ext uri="{FF2B5EF4-FFF2-40B4-BE49-F238E27FC236}">
                <a16:creationId xmlns:a16="http://schemas.microsoft.com/office/drawing/2014/main" id="{6441AD50-A0E6-A849-812F-45DF6E9198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3407" y="5247898"/>
            <a:ext cx="1915320" cy="1467184"/>
          </a:xfrm>
          <a:prstGeom prst="rect">
            <a:avLst/>
          </a:prstGeom>
        </p:spPr>
      </p:pic>
      <p:pic>
        <p:nvPicPr>
          <p:cNvPr id="28" name="Picture 27">
            <a:extLst>
              <a:ext uri="{FF2B5EF4-FFF2-40B4-BE49-F238E27FC236}">
                <a16:creationId xmlns:a16="http://schemas.microsoft.com/office/drawing/2014/main" id="{4EB402F8-97D8-EA40-97D9-5FEC38AF51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0166" y="5392057"/>
            <a:ext cx="2082391" cy="1487422"/>
          </a:xfrm>
          <a:prstGeom prst="rect">
            <a:avLst/>
          </a:prstGeom>
        </p:spPr>
      </p:pic>
      <p:pic>
        <p:nvPicPr>
          <p:cNvPr id="29" name="Picture 28">
            <a:extLst>
              <a:ext uri="{FF2B5EF4-FFF2-40B4-BE49-F238E27FC236}">
                <a16:creationId xmlns:a16="http://schemas.microsoft.com/office/drawing/2014/main" id="{4E3BD12B-95B6-0949-A450-7946445582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5981490"/>
            <a:ext cx="2402928" cy="800976"/>
          </a:xfrm>
          <a:prstGeom prst="rect">
            <a:avLst/>
          </a:prstGeom>
        </p:spPr>
      </p:pic>
    </p:spTree>
    <p:extLst>
      <p:ext uri="{BB962C8B-B14F-4D97-AF65-F5344CB8AC3E}">
        <p14:creationId xmlns:p14="http://schemas.microsoft.com/office/powerpoint/2010/main" val="13678349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DE87B8-8289-4137-BF3B-1446ED36D38E}"/>
              </a:ext>
            </a:extLst>
          </p:cNvPr>
          <p:cNvSpPr>
            <a:spLocks noGrp="1"/>
          </p:cNvSpPr>
          <p:nvPr>
            <p:ph type="body" sz="quarter" idx="12"/>
          </p:nvPr>
        </p:nvSpPr>
        <p:spPr/>
        <p:txBody>
          <a:bodyPr/>
          <a:lstStyle/>
          <a:p>
            <a:endParaRPr lang="en-AU"/>
          </a:p>
        </p:txBody>
      </p:sp>
      <p:sp>
        <p:nvSpPr>
          <p:cNvPr id="3" name="Text Placeholder 2">
            <a:extLst>
              <a:ext uri="{FF2B5EF4-FFF2-40B4-BE49-F238E27FC236}">
                <a16:creationId xmlns:a16="http://schemas.microsoft.com/office/drawing/2014/main" id="{4EE8A5C5-06B4-491C-B333-A44BE5D2BBBA}"/>
              </a:ext>
            </a:extLst>
          </p:cNvPr>
          <p:cNvSpPr>
            <a:spLocks noGrp="1"/>
          </p:cNvSpPr>
          <p:nvPr>
            <p:ph type="body" sz="quarter" idx="15"/>
          </p:nvPr>
        </p:nvSpPr>
        <p:spPr/>
        <p:txBody>
          <a:bodyPr/>
          <a:lstStyle/>
          <a:p>
            <a:endParaRPr lang="en-AU" dirty="0"/>
          </a:p>
        </p:txBody>
      </p:sp>
    </p:spTree>
    <p:extLst>
      <p:ext uri="{BB962C8B-B14F-4D97-AF65-F5344CB8AC3E}">
        <p14:creationId xmlns:p14="http://schemas.microsoft.com/office/powerpoint/2010/main" val="15201709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EA6F53F-6E66-4178-8160-8E5F7C27204F}"/>
              </a:ext>
            </a:extLst>
          </p:cNvPr>
          <p:cNvSpPr>
            <a:spLocks noGrp="1"/>
          </p:cNvSpPr>
          <p:nvPr>
            <p:ph type="body" sz="quarter" idx="13"/>
          </p:nvPr>
        </p:nvSpPr>
        <p:spPr/>
        <p:txBody>
          <a:bodyPr>
            <a:normAutofit lnSpcReduction="10000"/>
          </a:bodyPr>
          <a:lstStyle/>
          <a:p>
            <a:r>
              <a:rPr lang="en-AU" sz="3200" dirty="0"/>
              <a:t>What is sound?</a:t>
            </a:r>
          </a:p>
        </p:txBody>
      </p:sp>
      <p:sp>
        <p:nvSpPr>
          <p:cNvPr id="7" name="Text Placeholder 6">
            <a:extLst>
              <a:ext uri="{FF2B5EF4-FFF2-40B4-BE49-F238E27FC236}">
                <a16:creationId xmlns:a16="http://schemas.microsoft.com/office/drawing/2014/main" id="{F9EC9E68-70DD-41C3-9724-3B3A0F5C2C5D}"/>
              </a:ext>
            </a:extLst>
          </p:cNvPr>
          <p:cNvSpPr>
            <a:spLocks noGrp="1"/>
          </p:cNvSpPr>
          <p:nvPr>
            <p:ph type="body" sz="quarter" idx="15"/>
          </p:nvPr>
        </p:nvSpPr>
        <p:spPr>
          <a:xfrm>
            <a:off x="256033" y="1973712"/>
            <a:ext cx="11506476" cy="5119420"/>
          </a:xfrm>
        </p:spPr>
        <p:txBody>
          <a:bodyPr/>
          <a:lstStyle/>
          <a:p>
            <a:endParaRPr lang="en-AU" dirty="0"/>
          </a:p>
          <a:p>
            <a:endParaRPr lang="en-AU" dirty="0"/>
          </a:p>
        </p:txBody>
      </p:sp>
      <p:pic>
        <p:nvPicPr>
          <p:cNvPr id="5" name="Picture 4">
            <a:extLst>
              <a:ext uri="{FF2B5EF4-FFF2-40B4-BE49-F238E27FC236}">
                <a16:creationId xmlns:a16="http://schemas.microsoft.com/office/drawing/2014/main" id="{4D566270-F81B-F94A-88CB-1B95C1EF5BE3}"/>
              </a:ext>
            </a:extLst>
          </p:cNvPr>
          <p:cNvPicPr>
            <a:picLocks noChangeAspect="1"/>
          </p:cNvPicPr>
          <p:nvPr/>
        </p:nvPicPr>
        <p:blipFill>
          <a:blip r:embed="rId3"/>
          <a:stretch>
            <a:fillRect/>
          </a:stretch>
        </p:blipFill>
        <p:spPr>
          <a:xfrm>
            <a:off x="3778069" y="404917"/>
            <a:ext cx="1238069" cy="1238069"/>
          </a:xfrm>
          <a:prstGeom prst="rect">
            <a:avLst/>
          </a:prstGeom>
        </p:spPr>
      </p:pic>
    </p:spTree>
    <p:extLst>
      <p:ext uri="{BB962C8B-B14F-4D97-AF65-F5344CB8AC3E}">
        <p14:creationId xmlns:p14="http://schemas.microsoft.com/office/powerpoint/2010/main" val="9776407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3F1E6A3-0F23-4AEC-B3A7-70A090C01917}"/>
              </a:ext>
            </a:extLst>
          </p:cNvPr>
          <p:cNvSpPr>
            <a:spLocks noGrp="1"/>
          </p:cNvSpPr>
          <p:nvPr>
            <p:ph type="body" sz="quarter" idx="13"/>
          </p:nvPr>
        </p:nvSpPr>
        <p:spPr/>
        <p:txBody>
          <a:bodyPr/>
          <a:lstStyle/>
          <a:p>
            <a:r>
              <a:rPr lang="en-AU" dirty="0"/>
              <a:t>What is sound?</a:t>
            </a:r>
          </a:p>
        </p:txBody>
      </p:sp>
      <p:pic>
        <p:nvPicPr>
          <p:cNvPr id="6" name="Picture 5">
            <a:extLst>
              <a:ext uri="{FF2B5EF4-FFF2-40B4-BE49-F238E27FC236}">
                <a16:creationId xmlns:a16="http://schemas.microsoft.com/office/drawing/2014/main" id="{C9188615-6385-9149-9FF5-843846692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8301" y="262082"/>
            <a:ext cx="1799642" cy="1285459"/>
          </a:xfrm>
          <a:prstGeom prst="rect">
            <a:avLst/>
          </a:prstGeom>
        </p:spPr>
      </p:pic>
      <p:sp>
        <p:nvSpPr>
          <p:cNvPr id="10" name="TextBox 9">
            <a:extLst>
              <a:ext uri="{FF2B5EF4-FFF2-40B4-BE49-F238E27FC236}">
                <a16:creationId xmlns:a16="http://schemas.microsoft.com/office/drawing/2014/main" id="{E3632DBD-067A-1F4E-ADD4-6E2C21311D02}"/>
              </a:ext>
            </a:extLst>
          </p:cNvPr>
          <p:cNvSpPr txBox="1"/>
          <p:nvPr/>
        </p:nvSpPr>
        <p:spPr>
          <a:xfrm>
            <a:off x="10126980" y="1241756"/>
            <a:ext cx="2010440" cy="307777"/>
          </a:xfrm>
          <a:prstGeom prst="rect">
            <a:avLst/>
          </a:prstGeom>
          <a:solidFill>
            <a:schemeClr val="bg1"/>
          </a:solidFill>
          <a:ln>
            <a:solidFill>
              <a:schemeClr val="accent2">
                <a:lumMod val="75000"/>
              </a:schemeClr>
            </a:solidFill>
          </a:ln>
        </p:spPr>
        <p:txBody>
          <a:bodyPr wrap="square" rtlCol="0" anchor="t" anchorCtr="0">
            <a:spAutoFit/>
          </a:bodyPr>
          <a:lstStyle/>
          <a:p>
            <a:endParaRPr lang="en-AU" sz="1400" dirty="0"/>
          </a:p>
        </p:txBody>
      </p:sp>
      <p:sp>
        <p:nvSpPr>
          <p:cNvPr id="11" name="TextBox 10">
            <a:extLst>
              <a:ext uri="{FF2B5EF4-FFF2-40B4-BE49-F238E27FC236}">
                <a16:creationId xmlns:a16="http://schemas.microsoft.com/office/drawing/2014/main" id="{14F06750-7959-0E40-94BA-823CC7D3EDEA}"/>
              </a:ext>
            </a:extLst>
          </p:cNvPr>
          <p:cNvSpPr txBox="1"/>
          <p:nvPr/>
        </p:nvSpPr>
        <p:spPr>
          <a:xfrm>
            <a:off x="10126980" y="896562"/>
            <a:ext cx="2010440" cy="340519"/>
          </a:xfrm>
          <a:prstGeom prst="roundRect">
            <a:avLst/>
          </a:prstGeom>
          <a:solidFill>
            <a:srgbClr val="1891AC"/>
          </a:solidFill>
          <a:ln w="38100">
            <a:solidFill>
              <a:srgbClr val="1891AC"/>
            </a:solidFill>
            <a:round/>
          </a:ln>
        </p:spPr>
        <p:txBody>
          <a:bodyPr wrap="square" rtlCol="0">
            <a:spAutoFit/>
          </a:bodyPr>
          <a:lstStyle/>
          <a:p>
            <a:pPr algn="ctr"/>
            <a:r>
              <a:rPr lang="en-AU" sz="1400" dirty="0">
                <a:solidFill>
                  <a:schemeClr val="bg1"/>
                </a:solidFill>
                <a:latin typeface="Arial Rounded MT Bold" panose="020F0704030504030204" pitchFamily="34" charset="0"/>
              </a:rPr>
              <a:t>CFU</a:t>
            </a:r>
            <a:endParaRPr lang="en-AU" sz="1400" dirty="0">
              <a:solidFill>
                <a:schemeClr val="bg1"/>
              </a:solidFill>
              <a:latin typeface="Verdana" panose="020B0604030504040204" pitchFamily="34" charset="0"/>
              <a:ea typeface="Verdana" panose="020B0604030504040204" pitchFamily="34" charset="0"/>
            </a:endParaRPr>
          </a:p>
        </p:txBody>
      </p:sp>
      <p:sp>
        <p:nvSpPr>
          <p:cNvPr id="7" name="Text Placeholder 6">
            <a:extLst>
              <a:ext uri="{FF2B5EF4-FFF2-40B4-BE49-F238E27FC236}">
                <a16:creationId xmlns:a16="http://schemas.microsoft.com/office/drawing/2014/main" id="{5D04F4BA-02BE-3643-80C1-07F8BAF49882}"/>
              </a:ext>
            </a:extLst>
          </p:cNvPr>
          <p:cNvSpPr>
            <a:spLocks noGrp="1"/>
          </p:cNvSpPr>
          <p:nvPr>
            <p:ph type="body" sz="quarter" idx="15"/>
          </p:nvPr>
        </p:nvSpPr>
        <p:spPr>
          <a:xfrm>
            <a:off x="280558" y="1476498"/>
            <a:ext cx="11481951" cy="5119420"/>
          </a:xfrm>
        </p:spPr>
        <p:txBody>
          <a:bodyPr/>
          <a:lstStyle/>
          <a:p>
            <a:endParaRPr lang="en-US" dirty="0"/>
          </a:p>
        </p:txBody>
      </p:sp>
    </p:spTree>
    <p:extLst>
      <p:ext uri="{BB962C8B-B14F-4D97-AF65-F5344CB8AC3E}">
        <p14:creationId xmlns:p14="http://schemas.microsoft.com/office/powerpoint/2010/main" val="40549524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37C0235-F4C9-4DBA-A444-8423CCEDF56F}"/>
              </a:ext>
            </a:extLst>
          </p:cNvPr>
          <p:cNvSpPr>
            <a:spLocks noGrp="1"/>
          </p:cNvSpPr>
          <p:nvPr>
            <p:ph type="body" sz="quarter" idx="13"/>
          </p:nvPr>
        </p:nvSpPr>
        <p:spPr>
          <a:xfrm>
            <a:off x="228306" y="816073"/>
            <a:ext cx="9686403" cy="1164347"/>
          </a:xfrm>
        </p:spPr>
        <p:txBody>
          <a:bodyPr>
            <a:normAutofit/>
          </a:bodyPr>
          <a:lstStyle/>
          <a:p>
            <a:r>
              <a:rPr lang="en-AU" dirty="0"/>
              <a:t>Question</a:t>
            </a:r>
          </a:p>
        </p:txBody>
      </p:sp>
      <p:sp>
        <p:nvSpPr>
          <p:cNvPr id="17" name="TextBox 16">
            <a:extLst>
              <a:ext uri="{FF2B5EF4-FFF2-40B4-BE49-F238E27FC236}">
                <a16:creationId xmlns:a16="http://schemas.microsoft.com/office/drawing/2014/main" id="{2CB15D83-2350-D345-BA0F-72BDD8D291B8}"/>
              </a:ext>
            </a:extLst>
          </p:cNvPr>
          <p:cNvSpPr txBox="1"/>
          <p:nvPr/>
        </p:nvSpPr>
        <p:spPr>
          <a:xfrm>
            <a:off x="10126980" y="901237"/>
            <a:ext cx="2010440" cy="340519"/>
          </a:xfrm>
          <a:prstGeom prst="roundRect">
            <a:avLst/>
          </a:prstGeom>
          <a:solidFill>
            <a:srgbClr val="EE3C56"/>
          </a:solidFill>
          <a:ln w="38100">
            <a:solidFill>
              <a:srgbClr val="852F9B"/>
            </a:solidFill>
            <a:round/>
          </a:ln>
        </p:spPr>
        <p:txBody>
          <a:bodyPr wrap="square" rtlCol="0">
            <a:spAutoFit/>
          </a:bodyPr>
          <a:lstStyle/>
          <a:p>
            <a:pPr algn="ctr"/>
            <a:r>
              <a:rPr lang="en-AU" sz="1400" dirty="0">
                <a:solidFill>
                  <a:schemeClr val="bg1"/>
                </a:solidFill>
                <a:latin typeface="Arial Rounded MT Bold" panose="020F0704030504030204" pitchFamily="34" charset="0"/>
              </a:rPr>
              <a:t>Hint</a:t>
            </a:r>
            <a:endParaRPr lang="en-AU" sz="1400" dirty="0">
              <a:solidFill>
                <a:schemeClr val="bg1"/>
              </a:solidFill>
              <a:latin typeface="Verdana" panose="020B0604030504040204" pitchFamily="34" charset="0"/>
              <a:ea typeface="Verdana" panose="020B0604030504040204" pitchFamily="34" charset="0"/>
              <a:cs typeface="Futura Medium" panose="020B0602020204020303" pitchFamily="34" charset="-79"/>
            </a:endParaRPr>
          </a:p>
        </p:txBody>
      </p:sp>
      <p:sp>
        <p:nvSpPr>
          <p:cNvPr id="18" name="TextBox 17">
            <a:extLst>
              <a:ext uri="{FF2B5EF4-FFF2-40B4-BE49-F238E27FC236}">
                <a16:creationId xmlns:a16="http://schemas.microsoft.com/office/drawing/2014/main" id="{DE6F06FB-C41E-8D4C-AB67-0E4278151B13}"/>
              </a:ext>
            </a:extLst>
          </p:cNvPr>
          <p:cNvSpPr txBox="1"/>
          <p:nvPr/>
        </p:nvSpPr>
        <p:spPr>
          <a:xfrm>
            <a:off x="10126980" y="1241756"/>
            <a:ext cx="2010440" cy="307777"/>
          </a:xfrm>
          <a:prstGeom prst="rect">
            <a:avLst/>
          </a:prstGeom>
          <a:solidFill>
            <a:schemeClr val="bg1"/>
          </a:solidFill>
          <a:ln>
            <a:solidFill>
              <a:schemeClr val="accent2">
                <a:lumMod val="75000"/>
              </a:schemeClr>
            </a:solidFill>
          </a:ln>
        </p:spPr>
        <p:txBody>
          <a:bodyPr wrap="square" rtlCol="0" anchor="t" anchorCtr="0">
            <a:spAutoFit/>
          </a:bodyPr>
          <a:lstStyle/>
          <a:p>
            <a:endParaRPr lang="en-AU" sz="1400" b="1" dirty="0"/>
          </a:p>
        </p:txBody>
      </p:sp>
    </p:spTree>
    <p:extLst>
      <p:ext uri="{BB962C8B-B14F-4D97-AF65-F5344CB8AC3E}">
        <p14:creationId xmlns:p14="http://schemas.microsoft.com/office/powerpoint/2010/main" val="17805375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515089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D04F4BA-02BE-3643-80C1-07F8BAF49882}"/>
              </a:ext>
            </a:extLst>
          </p:cNvPr>
          <p:cNvSpPr>
            <a:spLocks noGrp="1"/>
          </p:cNvSpPr>
          <p:nvPr>
            <p:ph type="body" sz="quarter" idx="15"/>
          </p:nvPr>
        </p:nvSpPr>
        <p:spPr>
          <a:xfrm>
            <a:off x="280558" y="1476498"/>
            <a:ext cx="11481951" cy="5119420"/>
          </a:xfrm>
        </p:spPr>
        <p:txBody>
          <a:bodyPr/>
          <a:lstStyle/>
          <a:p>
            <a:r>
              <a:rPr lang="en-US" dirty="0" smtClean="0"/>
              <a:t>What is the absolute temperature scale?</a:t>
            </a:r>
          </a:p>
          <a:p>
            <a:endParaRPr lang="en-US" dirty="0"/>
          </a:p>
          <a:p>
            <a:endParaRPr lang="en-US" dirty="0" smtClean="0"/>
          </a:p>
          <a:p>
            <a:r>
              <a:rPr lang="en-US" dirty="0" smtClean="0"/>
              <a:t>Which of the following converts to degrees?</a:t>
            </a:r>
            <a:endParaRPr lang="en-US" dirty="0" smtClean="0"/>
          </a:p>
          <a:p>
            <a:endParaRPr lang="en-US" dirty="0"/>
          </a:p>
          <a:p>
            <a:r>
              <a:rPr lang="en-US" dirty="0" smtClean="0"/>
              <a:t>_________ + 273.15 = _________</a:t>
            </a:r>
          </a:p>
          <a:p>
            <a:endParaRPr lang="en-US" dirty="0"/>
          </a:p>
          <a:p>
            <a:r>
              <a:rPr lang="en-US" dirty="0" smtClean="0"/>
              <a:t>_________ - 273.15 = _________</a:t>
            </a:r>
            <a:endParaRPr lang="en-US" dirty="0"/>
          </a:p>
        </p:txBody>
      </p:sp>
      <p:sp>
        <p:nvSpPr>
          <p:cNvPr id="3" name="Text Placeholder 2"/>
          <p:cNvSpPr>
            <a:spLocks noGrp="1"/>
          </p:cNvSpPr>
          <p:nvPr>
            <p:ph type="body" sz="quarter" idx="13"/>
          </p:nvPr>
        </p:nvSpPr>
        <p:spPr/>
        <p:txBody>
          <a:bodyPr/>
          <a:lstStyle/>
          <a:p>
            <a:endParaRPr lang="en-AU" dirty="0"/>
          </a:p>
        </p:txBody>
      </p:sp>
    </p:spTree>
    <p:extLst>
      <p:ext uri="{BB962C8B-B14F-4D97-AF65-F5344CB8AC3E}">
        <p14:creationId xmlns:p14="http://schemas.microsoft.com/office/powerpoint/2010/main" val="12946021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EA6F53F-6E66-4178-8160-8E5F7C27204F}"/>
              </a:ext>
            </a:extLst>
          </p:cNvPr>
          <p:cNvSpPr>
            <a:spLocks noGrp="1"/>
          </p:cNvSpPr>
          <p:nvPr>
            <p:ph type="body" sz="quarter" idx="13"/>
          </p:nvPr>
        </p:nvSpPr>
        <p:spPr/>
        <p:txBody>
          <a:bodyPr>
            <a:normAutofit lnSpcReduction="10000"/>
          </a:bodyPr>
          <a:lstStyle/>
          <a:p>
            <a:r>
              <a:rPr lang="en-AU" sz="3200" dirty="0" smtClean="0"/>
              <a:t>Definitions from previous lesson</a:t>
            </a:r>
            <a:endParaRPr lang="en-AU" sz="3200" dirty="0"/>
          </a:p>
        </p:txBody>
      </p:sp>
      <p:sp>
        <p:nvSpPr>
          <p:cNvPr id="7" name="Text Placeholder 6">
            <a:extLst>
              <a:ext uri="{FF2B5EF4-FFF2-40B4-BE49-F238E27FC236}">
                <a16:creationId xmlns:a16="http://schemas.microsoft.com/office/drawing/2014/main" id="{F9EC9E68-70DD-41C3-9724-3B3A0F5C2C5D}"/>
              </a:ext>
            </a:extLst>
          </p:cNvPr>
          <p:cNvSpPr>
            <a:spLocks noGrp="1"/>
          </p:cNvSpPr>
          <p:nvPr>
            <p:ph type="body" sz="quarter" idx="15"/>
          </p:nvPr>
        </p:nvSpPr>
        <p:spPr>
          <a:xfrm>
            <a:off x="256033" y="1973712"/>
            <a:ext cx="11506476" cy="5119420"/>
          </a:xfrm>
        </p:spPr>
        <p:txBody>
          <a:bodyPr/>
          <a:lstStyle/>
          <a:p>
            <a:r>
              <a:rPr lang="en-AU" dirty="0" smtClean="0"/>
              <a:t>Thermal energy – the total kinetic and potential energy in a substance</a:t>
            </a:r>
          </a:p>
          <a:p>
            <a:endParaRPr lang="en-AU" dirty="0"/>
          </a:p>
          <a:p>
            <a:r>
              <a:rPr lang="en-AU" dirty="0" smtClean="0"/>
              <a:t>Temperature – measure of the average kinetic energy of the particles in a substance</a:t>
            </a:r>
          </a:p>
          <a:p>
            <a:endParaRPr lang="en-AU" dirty="0"/>
          </a:p>
          <a:p>
            <a:r>
              <a:rPr lang="en-AU" dirty="0" smtClean="0"/>
              <a:t>Heat – transfer of thermal energy from one substance to another due to a difference in temperatures</a:t>
            </a:r>
          </a:p>
          <a:p>
            <a:endParaRPr lang="en-AU" dirty="0"/>
          </a:p>
          <a:p>
            <a:r>
              <a:rPr lang="en-AU" dirty="0" smtClean="0"/>
              <a:t>Thermal equilibrium – when two obje</a:t>
            </a:r>
            <a:r>
              <a:rPr lang="en-AU" dirty="0" smtClean="0"/>
              <a:t>cts have the same temperature</a:t>
            </a:r>
            <a:endParaRPr lang="en-AU" dirty="0" smtClean="0"/>
          </a:p>
          <a:p>
            <a:endParaRPr lang="en-AU" dirty="0"/>
          </a:p>
          <a:p>
            <a:endParaRPr lang="en-AU" dirty="0"/>
          </a:p>
        </p:txBody>
      </p:sp>
    </p:spTree>
    <p:extLst>
      <p:ext uri="{BB962C8B-B14F-4D97-AF65-F5344CB8AC3E}">
        <p14:creationId xmlns:p14="http://schemas.microsoft.com/office/powerpoint/2010/main" val="318545172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805620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smtClean="0"/>
              <a:t>Changing Temperature</a:t>
            </a:r>
            <a:endParaRPr lang="en-AU" sz="340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11457258" cy="5393007"/>
              </a:xfrm>
            </p:spPr>
            <p:txBody>
              <a:bodyPr>
                <a:normAutofit/>
              </a:bodyPr>
              <a:lstStyle/>
              <a:p>
                <a:r>
                  <a:rPr lang="en-AU" sz="2400" dirty="0" smtClean="0"/>
                  <a:t>In order to chang</a:t>
                </a:r>
                <a:r>
                  <a:rPr lang="en-AU" sz="2400" dirty="0" smtClean="0"/>
                  <a:t>e the temperature of a substance the particles must gain kinetic energy. </a:t>
                </a:r>
                <a:endParaRPr lang="en-AU" sz="2400" dirty="0"/>
              </a:p>
              <a:p>
                <a:r>
                  <a:rPr lang="en-AU" sz="2400" dirty="0" smtClean="0"/>
                  <a:t>To increase the kinetic energy there must be a transfer of heat.</a:t>
                </a:r>
                <a:endParaRPr lang="en-AU" sz="2400" dirty="0"/>
              </a:p>
              <a:p>
                <a:r>
                  <a:rPr lang="en-AU" sz="2400" dirty="0" smtClean="0"/>
                  <a:t>The more mass in a substance the more heat energy required to increase the kinetic energy of particles.</a:t>
                </a:r>
              </a:p>
              <a:p>
                <a:endParaRPr lang="en-AU" sz="2400" dirty="0" smtClean="0"/>
              </a:p>
              <a:p>
                <a:r>
                  <a:rPr lang="en-AU" sz="2400" dirty="0" smtClean="0"/>
                  <a:t>Hence, heat energy transferred (J) is proportional to mass(kg).</a:t>
                </a:r>
              </a:p>
              <a:p>
                <a:endParaRPr lang="en-AU" sz="2400" dirty="0"/>
              </a:p>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rPr>
                        <m:t>𝑄</m:t>
                      </m:r>
                      <m:r>
                        <a:rPr lang="en-AU" sz="2400" b="0" i="1" smtClean="0">
                          <a:latin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𝑚</m:t>
                      </m:r>
                    </m:oMath>
                  </m:oMathPara>
                </a14:m>
                <a:endParaRPr lang="en-AU" sz="2400" dirty="0" smtClean="0"/>
              </a:p>
              <a:p>
                <a:endParaRPr lang="en-AU" sz="2400" dirty="0"/>
              </a:p>
              <a:p>
                <a:r>
                  <a:rPr lang="en-AU" sz="2400" dirty="0" smtClean="0"/>
                  <a:t>As heat is added, the temperature increases. Therefore, heat energy transferred is proportional to change in temperature.</a:t>
                </a:r>
              </a:p>
              <a:p>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𝑄</m:t>
                      </m:r>
                      <m:r>
                        <a:rPr lang="en-AU" sz="2400" i="1">
                          <a:latin typeface="Cambria Math" panose="02040503050406030204" pitchFamily="18" charset="0"/>
                        </a:rPr>
                        <m:t> ∝ ∆</m:t>
                      </m:r>
                      <m:r>
                        <a:rPr lang="en-AU" sz="2400" b="0" i="1" smtClean="0">
                          <a:latin typeface="Cambria Math" panose="02040503050406030204" pitchFamily="18" charset="0"/>
                        </a:rPr>
                        <m:t>𝑇</m:t>
                      </m:r>
                    </m:oMath>
                  </m:oMathPara>
                </a14:m>
                <a:endParaRPr lang="en-AU" sz="2400" dirty="0"/>
              </a:p>
              <a:p>
                <a:endParaRPr lang="en-AU" sz="2400" dirty="0"/>
              </a:p>
            </p:txBody>
          </p:sp>
        </mc:Choice>
        <mc:Fallback>
          <p:sp>
            <p:nvSpPr>
              <p:cNvPr id="3" name="Text Placeholder 2">
                <a:extLst>
                  <a:ext uri="{FF2B5EF4-FFF2-40B4-BE49-F238E27FC236}">
                    <a16:creationId xmlns:a16="http://schemas.microsoft.com/office/drawing/2014/main" id="{7550F64F-12CB-4F59-8C70-91F1C942126A}"/>
                  </a:ext>
                </a:extLst>
              </p:cNvPr>
              <p:cNvSpPr>
                <a:spLocks noGrp="1" noRot="1" noChangeAspect="1" noMove="1" noResize="1" noEditPoints="1" noAdjustHandles="1" noChangeArrowheads="1" noChangeShapeType="1" noTextEdit="1"/>
              </p:cNvSpPr>
              <p:nvPr>
                <p:ph type="body" sz="quarter" idx="15"/>
              </p:nvPr>
            </p:nvSpPr>
            <p:spPr>
              <a:xfrm>
                <a:off x="305251" y="1416634"/>
                <a:ext cx="11457258" cy="5393007"/>
              </a:xfrm>
              <a:blipFill>
                <a:blip r:embed="rId3"/>
                <a:stretch>
                  <a:fillRect l="-798" t="-1582"/>
                </a:stretch>
              </a:blipFill>
            </p:spPr>
            <p:txBody>
              <a:bodyPr/>
              <a:lstStyle/>
              <a:p>
                <a:r>
                  <a:rPr lang="en-AU">
                    <a:noFill/>
                  </a:rPr>
                  <a:t> </a:t>
                </a:r>
              </a:p>
            </p:txBody>
          </p:sp>
        </mc:Fallback>
      </mc:AlternateContent>
    </p:spTree>
    <p:extLst>
      <p:ext uri="{BB962C8B-B14F-4D97-AF65-F5344CB8AC3E}">
        <p14:creationId xmlns:p14="http://schemas.microsoft.com/office/powerpoint/2010/main" val="3078702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smtClean="0"/>
              <a:t>Specific Heat Capacity</a:t>
            </a:r>
            <a:endParaRPr lang="en-AU" sz="340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11457258" cy="5393007"/>
              </a:xfrm>
            </p:spPr>
            <p:txBody>
              <a:bodyPr>
                <a:normAutofit/>
              </a:bodyPr>
              <a:lstStyle/>
              <a:p>
                <a:r>
                  <a:rPr lang="en-AU" sz="2400" dirty="0" smtClean="0"/>
                  <a:t>Using these relationships we can determine the relationship between heat energy transferred, mass and change in temperature.</a:t>
                </a:r>
                <a:endParaRPr lang="en-AU" sz="2400" dirty="0"/>
              </a:p>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rPr>
                        <m:t>𝑄</m:t>
                      </m:r>
                      <m:r>
                        <a:rPr lang="en-AU" sz="2400" b="0" i="1" smtClean="0">
                          <a:latin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𝑚</m:t>
                      </m:r>
                    </m:oMath>
                  </m:oMathPara>
                </a14:m>
                <a:endParaRPr lang="en-AU" sz="2400" dirty="0" smtClean="0"/>
              </a:p>
              <a:p>
                <a14:m>
                  <m:oMathPara xmlns:m="http://schemas.openxmlformats.org/officeDocument/2006/math">
                    <m:oMathParaPr>
                      <m:jc m:val="centerGroup"/>
                    </m:oMathParaPr>
                    <m:oMath xmlns:m="http://schemas.openxmlformats.org/officeDocument/2006/math">
                      <m:r>
                        <a:rPr lang="en-AU" sz="240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𝑄</m:t>
                      </m:r>
                      <m:r>
                        <a:rPr lang="en-AU" sz="2400" i="1">
                          <a:latin typeface="Cambria Math" panose="02040503050406030204" pitchFamily="18" charset="0"/>
                        </a:rPr>
                        <m:t> ∝ ∆</m:t>
                      </m:r>
                      <m:r>
                        <a:rPr lang="en-AU" sz="2400" b="0" i="1" smtClean="0">
                          <a:latin typeface="Cambria Math" panose="02040503050406030204" pitchFamily="18" charset="0"/>
                        </a:rPr>
                        <m:t>𝑇</m:t>
                      </m:r>
                    </m:oMath>
                  </m:oMathPara>
                </a14:m>
                <a:endParaRPr lang="en-AU" sz="2400" dirty="0" smtClean="0"/>
              </a:p>
              <a:p>
                <a:endParaRPr lang="en-AU" sz="2400" dirty="0"/>
              </a:p>
              <a:p>
                <a:r>
                  <a:rPr lang="en-AU" sz="2400" dirty="0" smtClean="0"/>
                  <a:t>Relationship:</a:t>
                </a:r>
              </a:p>
              <a:p>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𝑄</m:t>
                      </m:r>
                      <m:r>
                        <a:rPr lang="en-AU" sz="2400" b="0" i="1" smtClean="0">
                          <a:latin typeface="Cambria Math" panose="02040503050406030204" pitchFamily="18" charset="0"/>
                        </a:rPr>
                        <m:t>=</m:t>
                      </m:r>
                      <m:r>
                        <a:rPr lang="en-AU" sz="2400" b="0" i="1" smtClean="0">
                          <a:latin typeface="Cambria Math" panose="02040503050406030204" pitchFamily="18" charset="0"/>
                        </a:rPr>
                        <m:t>𝑚𝑐</m:t>
                      </m:r>
                      <m:r>
                        <a:rPr lang="en-AU" sz="2400" i="1">
                          <a:latin typeface="Cambria Math" panose="02040503050406030204" pitchFamily="18" charset="0"/>
                        </a:rPr>
                        <m:t>∆</m:t>
                      </m:r>
                      <m:r>
                        <a:rPr lang="en-AU" sz="2400" i="1">
                          <a:latin typeface="Cambria Math" panose="02040503050406030204" pitchFamily="18" charset="0"/>
                        </a:rPr>
                        <m:t>𝑇</m:t>
                      </m:r>
                    </m:oMath>
                  </m:oMathPara>
                </a14:m>
                <a:endParaRPr lang="en-AU" sz="2400" dirty="0" smtClean="0"/>
              </a:p>
              <a:p>
                <a14:m>
                  <m:oMath xmlns:m="http://schemas.openxmlformats.org/officeDocument/2006/math">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𝑄</m:t>
                    </m:r>
                  </m:oMath>
                </a14:m>
                <a:r>
                  <a:rPr lang="en-AU" sz="2400" dirty="0" smtClean="0"/>
                  <a:t> – heat energy transferred in joules (J)</a:t>
                </a:r>
              </a:p>
              <a:p>
                <a14:m>
                  <m:oMath xmlns:m="http://schemas.openxmlformats.org/officeDocument/2006/math">
                    <m:r>
                      <a:rPr lang="en-AU" sz="2400" i="1">
                        <a:latin typeface="Cambria Math" panose="02040503050406030204" pitchFamily="18" charset="0"/>
                      </a:rPr>
                      <m:t>𝑚</m:t>
                    </m:r>
                  </m:oMath>
                </a14:m>
                <a:r>
                  <a:rPr lang="en-AU" sz="2400" dirty="0" smtClean="0"/>
                  <a:t> – mass in kilograms (kg)</a:t>
                </a:r>
              </a:p>
              <a:p>
                <a14:m>
                  <m:oMath xmlns:m="http://schemas.openxmlformats.org/officeDocument/2006/math">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𝑇</m:t>
                    </m:r>
                  </m:oMath>
                </a14:m>
                <a:r>
                  <a:rPr lang="en-AU" sz="2400" dirty="0" smtClean="0"/>
                  <a:t> – change in temperature (can be in degrees or Kelvin)</a:t>
                </a:r>
              </a:p>
              <a:p>
                <a14:m>
                  <m:oMath xmlns:m="http://schemas.openxmlformats.org/officeDocument/2006/math">
                    <m:r>
                      <a:rPr lang="en-AU" sz="2400" i="1">
                        <a:latin typeface="Cambria Math" panose="02040503050406030204" pitchFamily="18" charset="0"/>
                      </a:rPr>
                      <m:t>𝑐</m:t>
                    </m:r>
                  </m:oMath>
                </a14:m>
                <a:r>
                  <a:rPr lang="en-AU" sz="2400" dirty="0" smtClean="0"/>
                  <a:t> – specific heat capacity of the material (J/</a:t>
                </a:r>
                <a:r>
                  <a:rPr lang="en-AU" sz="2400" dirty="0" err="1" smtClean="0"/>
                  <a:t>kgK</a:t>
                </a:r>
                <a:r>
                  <a:rPr lang="en-AU" sz="2400" dirty="0" smtClean="0"/>
                  <a:t>)</a:t>
                </a:r>
                <a:endParaRPr lang="en-AU" sz="2400" dirty="0"/>
              </a:p>
              <a:p>
                <a:endParaRPr lang="en-AU" sz="2400" dirty="0"/>
              </a:p>
              <a:p>
                <a:endParaRPr lang="en-AU" sz="2400" dirty="0"/>
              </a:p>
              <a:p>
                <a:endParaRPr lang="en-AU" sz="2400" dirty="0"/>
              </a:p>
            </p:txBody>
          </p:sp>
        </mc:Choice>
        <mc:Fallback>
          <p:sp>
            <p:nvSpPr>
              <p:cNvPr id="3" name="Text Placeholder 2">
                <a:extLst>
                  <a:ext uri="{FF2B5EF4-FFF2-40B4-BE49-F238E27FC236}">
                    <a16:creationId xmlns:a16="http://schemas.microsoft.com/office/drawing/2014/main" id="{7550F64F-12CB-4F59-8C70-91F1C942126A}"/>
                  </a:ext>
                </a:extLst>
              </p:cNvPr>
              <p:cNvSpPr>
                <a:spLocks noGrp="1" noRot="1" noChangeAspect="1" noMove="1" noResize="1" noEditPoints="1" noAdjustHandles="1" noChangeArrowheads="1" noChangeShapeType="1" noTextEdit="1"/>
              </p:cNvSpPr>
              <p:nvPr>
                <p:ph type="body" sz="quarter" idx="15"/>
              </p:nvPr>
            </p:nvSpPr>
            <p:spPr>
              <a:xfrm>
                <a:off x="305251" y="1416634"/>
                <a:ext cx="11457258" cy="5393007"/>
              </a:xfrm>
              <a:blipFill>
                <a:blip r:embed="rId3"/>
                <a:stretch>
                  <a:fillRect l="-798" t="-1582"/>
                </a:stretch>
              </a:blipFill>
            </p:spPr>
            <p:txBody>
              <a:bodyPr/>
              <a:lstStyle/>
              <a:p>
                <a:r>
                  <a:rPr lang="en-AU">
                    <a:noFill/>
                  </a:rPr>
                  <a:t> </a:t>
                </a:r>
              </a:p>
            </p:txBody>
          </p:sp>
        </mc:Fallback>
      </mc:AlternateContent>
    </p:spTree>
    <p:extLst>
      <p:ext uri="{BB962C8B-B14F-4D97-AF65-F5344CB8AC3E}">
        <p14:creationId xmlns:p14="http://schemas.microsoft.com/office/powerpoint/2010/main" val="1050454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smtClean="0"/>
              <a:t>Specific Heat Capacity</a:t>
            </a:r>
            <a:endParaRPr lang="en-AU" sz="340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11457258" cy="5393007"/>
              </a:xfrm>
            </p:spPr>
            <p:txBody>
              <a:bodyPr>
                <a:normAutofit fontScale="92500" lnSpcReduction="10000"/>
              </a:bodyPr>
              <a:lstStyle/>
              <a:p>
                <a14:m>
                  <m:oMath xmlns:m="http://schemas.openxmlformats.org/officeDocument/2006/math">
                    <m:r>
                      <a:rPr lang="en-AU" sz="2400" i="1" smtClean="0">
                        <a:latin typeface="Cambria Math" panose="02040503050406030204" pitchFamily="18" charset="0"/>
                      </a:rPr>
                      <m:t>𝑐</m:t>
                    </m:r>
                  </m:oMath>
                </a14:m>
                <a:r>
                  <a:rPr lang="en-AU" sz="2400" dirty="0" smtClean="0"/>
                  <a:t> – specific heat capacity of the material (J/</a:t>
                </a:r>
                <a:r>
                  <a:rPr lang="en-AU" sz="2400" dirty="0" err="1" smtClean="0"/>
                  <a:t>kgK</a:t>
                </a:r>
                <a:r>
                  <a:rPr lang="en-AU" sz="2400" dirty="0" smtClean="0"/>
                  <a:t>)</a:t>
                </a:r>
              </a:p>
              <a:p>
                <a:endParaRPr lang="en-AU" sz="2400" dirty="0"/>
              </a:p>
              <a:p>
                <a:r>
                  <a:rPr lang="en-AU" sz="2400" dirty="0" smtClean="0"/>
                  <a:t>The specific heat capacity is different for different materials.</a:t>
                </a:r>
              </a:p>
              <a:p>
                <a:endParaRPr lang="en-AU" sz="2400" dirty="0"/>
              </a:p>
              <a:p>
                <a:r>
                  <a:rPr lang="en-AU" sz="2400" dirty="0" smtClean="0"/>
                  <a:t>Rearranging the specific heat equation for c=:</a:t>
                </a:r>
              </a:p>
              <a:p>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𝑄</m:t>
                      </m:r>
                      <m:r>
                        <a:rPr lang="en-AU" sz="2400" i="1">
                          <a:latin typeface="Cambria Math" panose="02040503050406030204" pitchFamily="18" charset="0"/>
                        </a:rPr>
                        <m:t>=</m:t>
                      </m:r>
                      <m:r>
                        <a:rPr lang="en-AU" sz="2400" i="1">
                          <a:latin typeface="Cambria Math" panose="02040503050406030204" pitchFamily="18" charset="0"/>
                        </a:rPr>
                        <m:t>𝑚𝑐</m:t>
                      </m:r>
                      <m:r>
                        <a:rPr lang="en-AU" sz="2400" i="1">
                          <a:latin typeface="Cambria Math" panose="02040503050406030204" pitchFamily="18" charset="0"/>
                        </a:rPr>
                        <m:t>∆</m:t>
                      </m:r>
                      <m:r>
                        <a:rPr lang="en-AU" sz="2400" i="1">
                          <a:latin typeface="Cambria Math" panose="02040503050406030204" pitchFamily="18" charset="0"/>
                        </a:rPr>
                        <m:t>𝑇</m:t>
                      </m:r>
                    </m:oMath>
                  </m:oMathPara>
                </a14:m>
                <a:endParaRPr lang="en-AU" sz="2400" dirty="0" smtClean="0"/>
              </a:p>
              <a:p>
                <a:endParaRPr lang="en-AU" sz="2400" dirty="0"/>
              </a:p>
              <a:p>
                <a14:m>
                  <m:oMathPara xmlns:m="http://schemas.openxmlformats.org/officeDocument/2006/math">
                    <m:oMathParaPr>
                      <m:jc m:val="centerGroup"/>
                    </m:oMathParaPr>
                    <m:oMath xmlns:m="http://schemas.openxmlformats.org/officeDocument/2006/math">
                      <m:f>
                        <m:fPr>
                          <m:ctrlPr>
                            <a:rPr lang="en-AU" sz="2400" i="1" smtClean="0">
                              <a:latin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𝑄</m:t>
                          </m:r>
                        </m:num>
                        <m:den>
                          <m:r>
                            <a:rPr lang="en-AU" sz="2400" b="0" i="1" smtClean="0">
                              <a:latin typeface="Cambria Math" panose="02040503050406030204" pitchFamily="18" charset="0"/>
                            </a:rPr>
                            <m:t>𝑚</m:t>
                          </m:r>
                        </m:den>
                      </m:f>
                      <m:r>
                        <a:rPr lang="en-AU" sz="2400" i="1">
                          <a:latin typeface="Cambria Math" panose="02040503050406030204" pitchFamily="18" charset="0"/>
                        </a:rPr>
                        <m:t>=</m:t>
                      </m:r>
                      <m:r>
                        <a:rPr lang="en-AU" sz="2400" i="1">
                          <a:latin typeface="Cambria Math" panose="02040503050406030204" pitchFamily="18" charset="0"/>
                        </a:rPr>
                        <m:t>𝑐</m:t>
                      </m:r>
                      <m:r>
                        <a:rPr lang="en-AU" sz="2400" i="1">
                          <a:latin typeface="Cambria Math" panose="02040503050406030204" pitchFamily="18" charset="0"/>
                        </a:rPr>
                        <m:t>∆</m:t>
                      </m:r>
                      <m:r>
                        <a:rPr lang="en-AU" sz="2400" i="1">
                          <a:latin typeface="Cambria Math" panose="02040503050406030204" pitchFamily="18" charset="0"/>
                        </a:rPr>
                        <m:t>𝑇</m:t>
                      </m:r>
                    </m:oMath>
                  </m:oMathPara>
                </a14:m>
                <a:endParaRPr lang="en-AU" sz="2400" dirty="0"/>
              </a:p>
              <a:p>
                <a:endParaRPr lang="en-AU" sz="2400" dirty="0"/>
              </a:p>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𝑐</m:t>
                      </m:r>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𝑄</m:t>
                          </m:r>
                        </m:num>
                        <m:den>
                          <m:r>
                            <a:rPr lang="en-AU" sz="2400" i="1">
                              <a:latin typeface="Cambria Math" panose="02040503050406030204" pitchFamily="18" charset="0"/>
                            </a:rPr>
                            <m:t>𝑚</m:t>
                          </m:r>
                          <m:r>
                            <a:rPr lang="en-AU" sz="2400" i="1">
                              <a:latin typeface="Cambria Math" panose="02040503050406030204" pitchFamily="18" charset="0"/>
                            </a:rPr>
                            <m:t>∆</m:t>
                          </m:r>
                          <m:r>
                            <a:rPr lang="en-AU" sz="2400" i="1">
                              <a:latin typeface="Cambria Math" panose="02040503050406030204" pitchFamily="18" charset="0"/>
                            </a:rPr>
                            <m:t>𝑇</m:t>
                          </m:r>
                          <m:r>
                            <m:rPr>
                              <m:nor/>
                            </m:rPr>
                            <a:rPr lang="en-AU" sz="2400" dirty="0"/>
                            <m:t>  </m:t>
                          </m:r>
                        </m:den>
                      </m:f>
                    </m:oMath>
                  </m:oMathPara>
                </a14:m>
                <a:endParaRPr lang="en-AU" sz="2400" dirty="0" smtClean="0"/>
              </a:p>
              <a:p>
                <a:endParaRPr lang="en-AU" sz="2400" dirty="0" smtClean="0"/>
              </a:p>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𝑐</m:t>
                      </m:r>
                      <m:r>
                        <a:rPr lang="en-AU" sz="2400" b="0" i="1" smtClean="0">
                          <a:latin typeface="Cambria Math" panose="02040503050406030204" pitchFamily="18" charset="0"/>
                        </a:rPr>
                        <m:t>=</m:t>
                      </m:r>
                      <m:f>
                        <m:fPr>
                          <m:ctrlPr>
                            <a:rPr lang="en-AU" sz="2400" i="1">
                              <a:latin typeface="Cambria Math" panose="02040503050406030204" pitchFamily="18" charset="0"/>
                            </a:rPr>
                          </m:ctrlPr>
                        </m:fPr>
                        <m:num>
                          <m:r>
                            <a:rPr lang="en-AU" sz="2400" b="0" i="1" smtClean="0">
                              <a:latin typeface="Cambria Math" panose="02040503050406030204" pitchFamily="18" charset="0"/>
                            </a:rPr>
                            <m:t>𝐽</m:t>
                          </m:r>
                        </m:num>
                        <m:den>
                          <m:r>
                            <a:rPr lang="en-AU" sz="2400" b="0" i="1" smtClean="0">
                              <a:latin typeface="Cambria Math" panose="02040503050406030204" pitchFamily="18" charset="0"/>
                            </a:rPr>
                            <m:t>𝑘𝑔</m:t>
                          </m:r>
                          <m:r>
                            <a:rPr lang="en-AU" sz="2400" b="0" i="1" smtClean="0">
                              <a:latin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𝐾</m:t>
                          </m:r>
                          <m:r>
                            <m:rPr>
                              <m:nor/>
                            </m:rPr>
                            <a:rPr lang="en-AU" sz="2400" dirty="0"/>
                            <m:t>  </m:t>
                          </m:r>
                        </m:den>
                      </m:f>
                    </m:oMath>
                  </m:oMathPara>
                </a14:m>
                <a:endParaRPr lang="en-AU" sz="2400" dirty="0"/>
              </a:p>
              <a:p>
                <a:endParaRPr lang="en-AU" sz="2400" dirty="0"/>
              </a:p>
            </p:txBody>
          </p:sp>
        </mc:Choice>
        <mc:Fallback>
          <p:sp>
            <p:nvSpPr>
              <p:cNvPr id="3" name="Text Placeholder 2">
                <a:extLst>
                  <a:ext uri="{FF2B5EF4-FFF2-40B4-BE49-F238E27FC236}">
                    <a16:creationId xmlns:a16="http://schemas.microsoft.com/office/drawing/2014/main" id="{7550F64F-12CB-4F59-8C70-91F1C942126A}"/>
                  </a:ext>
                </a:extLst>
              </p:cNvPr>
              <p:cNvSpPr>
                <a:spLocks noGrp="1" noRot="1" noChangeAspect="1" noMove="1" noResize="1" noEditPoints="1" noAdjustHandles="1" noChangeArrowheads="1" noChangeShapeType="1" noTextEdit="1"/>
              </p:cNvSpPr>
              <p:nvPr>
                <p:ph type="body" sz="quarter" idx="15"/>
              </p:nvPr>
            </p:nvSpPr>
            <p:spPr>
              <a:xfrm>
                <a:off x="305251" y="1416634"/>
                <a:ext cx="11457258" cy="5393007"/>
              </a:xfrm>
              <a:blipFill>
                <a:blip r:embed="rId3"/>
                <a:stretch>
                  <a:fillRect l="-691" t="-1921"/>
                </a:stretch>
              </a:blipFill>
            </p:spPr>
            <p:txBody>
              <a:bodyPr/>
              <a:lstStyle/>
              <a:p>
                <a:r>
                  <a:rPr lang="en-AU">
                    <a:noFill/>
                  </a:rPr>
                  <a:t> </a:t>
                </a:r>
              </a:p>
            </p:txBody>
          </p:sp>
        </mc:Fallback>
      </mc:AlternateContent>
      <p:sp>
        <p:nvSpPr>
          <p:cNvPr id="5" name="TextBox 4"/>
          <p:cNvSpPr txBox="1"/>
          <p:nvPr/>
        </p:nvSpPr>
        <p:spPr>
          <a:xfrm>
            <a:off x="7622770" y="4771505"/>
            <a:ext cx="3915295" cy="1477328"/>
          </a:xfrm>
          <a:prstGeom prst="rect">
            <a:avLst/>
          </a:prstGeom>
          <a:solidFill>
            <a:schemeClr val="accent5">
              <a:lumMod val="20000"/>
              <a:lumOff val="80000"/>
            </a:schemeClr>
          </a:solidFill>
        </p:spPr>
        <p:txBody>
          <a:bodyPr wrap="square" rtlCol="0">
            <a:spAutoFit/>
          </a:bodyPr>
          <a:lstStyle/>
          <a:p>
            <a:r>
              <a:rPr lang="en-AU" dirty="0" smtClean="0"/>
              <a:t>Replace the symbols in the equations with the units. </a:t>
            </a:r>
          </a:p>
          <a:p>
            <a:endParaRPr lang="en-AU" dirty="0"/>
          </a:p>
          <a:p>
            <a:r>
              <a:rPr lang="en-AU" dirty="0" smtClean="0"/>
              <a:t>This will determine the units that specific heat capacity have.</a:t>
            </a:r>
            <a:endParaRPr lang="en-AU" dirty="0"/>
          </a:p>
        </p:txBody>
      </p:sp>
    </p:spTree>
    <p:extLst>
      <p:ext uri="{BB962C8B-B14F-4D97-AF65-F5344CB8AC3E}">
        <p14:creationId xmlns:p14="http://schemas.microsoft.com/office/powerpoint/2010/main" val="3140606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smtClean="0"/>
              <a:t>Example 1</a:t>
            </a:r>
            <a:endParaRPr lang="en-AU" sz="340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11457258" cy="5393007"/>
              </a:xfrm>
            </p:spPr>
            <p:txBody>
              <a:bodyPr>
                <a:normAutofit/>
              </a:bodyPr>
              <a:lstStyle/>
              <a:p>
                <a:r>
                  <a:rPr lang="en-AU" sz="2400" dirty="0" smtClean="0">
                    <a:ea typeface="Cambria Math" panose="02040503050406030204" pitchFamily="18" charset="0"/>
                  </a:rPr>
                  <a:t> A pot is filled with 9kg of water at 10K. Calculate how much heat energy would be needed to raise the temperature to 60K.</a:t>
                </a:r>
              </a:p>
              <a:p>
                <a:endParaRPr lang="en-AU" sz="2400" dirty="0" smtClean="0">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𝑄</m:t>
                      </m:r>
                      <m:r>
                        <a:rPr lang="en-AU" sz="2400" i="1">
                          <a:latin typeface="Cambria Math" panose="02040503050406030204" pitchFamily="18" charset="0"/>
                        </a:rPr>
                        <m:t>=</m:t>
                      </m:r>
                      <m:r>
                        <a:rPr lang="en-AU" sz="2400" i="1">
                          <a:latin typeface="Cambria Math" panose="02040503050406030204" pitchFamily="18" charset="0"/>
                        </a:rPr>
                        <m:t>𝑚𝑐</m:t>
                      </m:r>
                      <m:r>
                        <a:rPr lang="en-AU" sz="2400" i="1">
                          <a:latin typeface="Cambria Math" panose="02040503050406030204" pitchFamily="18" charset="0"/>
                        </a:rPr>
                        <m:t>∆</m:t>
                      </m:r>
                      <m:r>
                        <a:rPr lang="en-AU" sz="2400" i="1">
                          <a:latin typeface="Cambria Math" panose="02040503050406030204" pitchFamily="18" charset="0"/>
                        </a:rPr>
                        <m:t>𝑇</m:t>
                      </m:r>
                    </m:oMath>
                  </m:oMathPara>
                </a14:m>
                <a:endParaRPr lang="en-AU" sz="2400" dirty="0" smtClean="0"/>
              </a:p>
              <a:p>
                <a:endParaRPr lang="en-AU" sz="2400" dirty="0"/>
              </a:p>
              <a:p>
                <a:r>
                  <a:rPr lang="en-AU" sz="2400" dirty="0" smtClean="0"/>
                  <a:t>m= 9kg</a:t>
                </a:r>
              </a:p>
              <a:p>
                <a14:m>
                  <m:oMath xmlns:m="http://schemas.openxmlformats.org/officeDocument/2006/math">
                    <m:r>
                      <a:rPr lang="en-AU" sz="2400" i="1">
                        <a:latin typeface="Cambria Math" panose="02040503050406030204" pitchFamily="18" charset="0"/>
                      </a:rPr>
                      <m:t>∆</m:t>
                    </m:r>
                    <m:r>
                      <a:rPr lang="en-AU" sz="2400" b="0" i="1" smtClean="0">
                        <a:latin typeface="Cambria Math" panose="02040503050406030204" pitchFamily="18" charset="0"/>
                      </a:rPr>
                      <m:t>𝑇</m:t>
                    </m:r>
                  </m:oMath>
                </a14:m>
                <a:r>
                  <a:rPr lang="en-AU" sz="2400" dirty="0" smtClean="0"/>
                  <a:t> = 60 – 10 = 50K</a:t>
                </a:r>
              </a:p>
              <a:p>
                <a:r>
                  <a:rPr lang="en-AU" sz="2400" dirty="0" smtClean="0"/>
                  <a:t>c= 4200J/</a:t>
                </a:r>
                <a:r>
                  <a:rPr lang="en-AU" sz="2400" dirty="0" err="1" smtClean="0"/>
                  <a:t>kgK</a:t>
                </a:r>
                <a:endParaRPr lang="en-AU" sz="2400" dirty="0"/>
              </a:p>
              <a:p>
                <a:endParaRPr lang="en-AU" sz="2400" dirty="0"/>
              </a:p>
              <a:p>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𝑄</m:t>
                      </m:r>
                      <m:r>
                        <a:rPr lang="en-AU" sz="2400" i="1">
                          <a:latin typeface="Cambria Math" panose="02040503050406030204" pitchFamily="18" charset="0"/>
                        </a:rPr>
                        <m:t>=9×42</m:t>
                      </m:r>
                      <m:r>
                        <a:rPr lang="en-AU" sz="2400" b="0" i="1" smtClean="0">
                          <a:latin typeface="Cambria Math" panose="02040503050406030204" pitchFamily="18" charset="0"/>
                          <a:ea typeface="Cambria Math" panose="02040503050406030204" pitchFamily="18" charset="0"/>
                        </a:rPr>
                        <m:t>00 ×50</m:t>
                      </m:r>
                    </m:oMath>
                  </m:oMathPara>
                </a14:m>
                <a:endParaRPr lang="en-AU" sz="2400" dirty="0" smtClean="0"/>
              </a:p>
              <a:p>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𝑄</m:t>
                      </m:r>
                      <m:r>
                        <a:rPr lang="en-AU" sz="2400" i="1">
                          <a:latin typeface="Cambria Math" panose="02040503050406030204" pitchFamily="18" charset="0"/>
                        </a:rPr>
                        <m:t>=1,89</m:t>
                      </m:r>
                      <m:r>
                        <a:rPr lang="en-AU" sz="2400" b="0" i="1" smtClean="0">
                          <a:latin typeface="Cambria Math" panose="02040503050406030204" pitchFamily="18" charset="0"/>
                        </a:rPr>
                        <m:t>0,000</m:t>
                      </m:r>
                      <m:r>
                        <a:rPr lang="en-AU" sz="2400" b="0" i="1" smtClean="0">
                          <a:latin typeface="Cambria Math" panose="02040503050406030204" pitchFamily="18" charset="0"/>
                        </a:rPr>
                        <m:t>𝐽</m:t>
                      </m:r>
                      <m:r>
                        <a:rPr lang="en-AU" sz="2400" b="0" i="0" smtClean="0">
                          <a:latin typeface="Cambria Math" panose="02040503050406030204" pitchFamily="18" charset="0"/>
                        </a:rPr>
                        <m:t>=1.89</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6</m:t>
                          </m:r>
                        </m:sup>
                      </m:sSup>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𝐽</m:t>
                      </m:r>
                      <m:r>
                        <a:rPr lang="en-AU" sz="2400" b="0" i="1" smtClean="0">
                          <a:latin typeface="Cambria Math" panose="02040503050406030204" pitchFamily="18" charset="0"/>
                          <a:ea typeface="Cambria Math" panose="02040503050406030204" pitchFamily="18" charset="0"/>
                        </a:rPr>
                        <m:t>=1.89 </m:t>
                      </m:r>
                      <m:r>
                        <a:rPr lang="en-AU" sz="2400" b="0" i="1" smtClean="0">
                          <a:latin typeface="Cambria Math" panose="02040503050406030204" pitchFamily="18" charset="0"/>
                          <a:ea typeface="Cambria Math" panose="02040503050406030204" pitchFamily="18" charset="0"/>
                        </a:rPr>
                        <m:t>𝑀𝐽</m:t>
                      </m:r>
                    </m:oMath>
                  </m:oMathPara>
                </a14:m>
                <a:endParaRPr lang="en-AU" sz="2400" b="0" dirty="0" smtClean="0"/>
              </a:p>
              <a:p>
                <a:r>
                  <a:rPr lang="en-AU" sz="2400" dirty="0" smtClean="0"/>
                  <a:t>Therefore, 1.89 MJ of heat energy would be required to raise </a:t>
                </a:r>
                <a:r>
                  <a:rPr lang="en-AU" sz="2400" smtClean="0"/>
                  <a:t>the temperature of the water to 60K.</a:t>
                </a:r>
                <a:endParaRPr lang="en-AU" sz="2400" dirty="0" smtClean="0"/>
              </a:p>
              <a:p>
                <a:endParaRPr lang="en-AU" sz="2400" dirty="0"/>
              </a:p>
              <a:p>
                <a:endParaRPr lang="en-AU" sz="2400" dirty="0"/>
              </a:p>
            </p:txBody>
          </p:sp>
        </mc:Choice>
        <mc:Fallback>
          <p:sp>
            <p:nvSpPr>
              <p:cNvPr id="3" name="Text Placeholder 2">
                <a:extLst>
                  <a:ext uri="{FF2B5EF4-FFF2-40B4-BE49-F238E27FC236}">
                    <a16:creationId xmlns:a16="http://schemas.microsoft.com/office/drawing/2014/main" id="{7550F64F-12CB-4F59-8C70-91F1C942126A}"/>
                  </a:ext>
                </a:extLst>
              </p:cNvPr>
              <p:cNvSpPr>
                <a:spLocks noGrp="1" noRot="1" noChangeAspect="1" noMove="1" noResize="1" noEditPoints="1" noAdjustHandles="1" noChangeArrowheads="1" noChangeShapeType="1" noTextEdit="1"/>
              </p:cNvSpPr>
              <p:nvPr>
                <p:ph type="body" sz="quarter" idx="15"/>
              </p:nvPr>
            </p:nvSpPr>
            <p:spPr>
              <a:xfrm>
                <a:off x="305251" y="1416634"/>
                <a:ext cx="11457258" cy="5393007"/>
              </a:xfrm>
              <a:blipFill>
                <a:blip r:embed="rId3"/>
                <a:stretch>
                  <a:fillRect l="-798" t="-1582"/>
                </a:stretch>
              </a:blipFill>
            </p:spPr>
            <p:txBody>
              <a:bodyPr/>
              <a:lstStyle/>
              <a:p>
                <a:r>
                  <a:rPr lang="en-AU">
                    <a:noFill/>
                  </a:rPr>
                  <a:t> </a:t>
                </a:r>
              </a:p>
            </p:txBody>
          </p:sp>
        </mc:Fallback>
      </mc:AlternateContent>
    </p:spTree>
    <p:extLst>
      <p:ext uri="{BB962C8B-B14F-4D97-AF65-F5344CB8AC3E}">
        <p14:creationId xmlns:p14="http://schemas.microsoft.com/office/powerpoint/2010/main" val="541571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922</Words>
  <Application>Microsoft Office PowerPoint</Application>
  <PresentationFormat>Widescreen</PresentationFormat>
  <Paragraphs>105</Paragraphs>
  <Slides>14</Slides>
  <Notes>9</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Arial Rounded MT Bold</vt:lpstr>
      <vt:lpstr>Calibri</vt:lpstr>
      <vt:lpstr>Calibri Light</vt:lpstr>
      <vt:lpstr>Cambria Math</vt:lpstr>
      <vt:lpstr>Century Gothic</vt:lpstr>
      <vt:lpstr>Futura Medium</vt:lpstr>
      <vt:lpstr>Verdana</vt:lpstr>
      <vt:lpstr>Office Theme</vt:lpstr>
      <vt:lpstr>Specific Heat Capacity Year 11 ATAR Physis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Specific Heat Capacity Year 11 ATAR Physis</dc:title>
  <dc:creator>HARRIS Maria [Safety Bay Senior High School]</dc:creator>
  <cp:lastModifiedBy>HARRIS Maria [Safety Bay Senior High School]</cp:lastModifiedBy>
  <cp:revision>6</cp:revision>
  <dcterms:created xsi:type="dcterms:W3CDTF">2021-02-10T01:51:03Z</dcterms:created>
  <dcterms:modified xsi:type="dcterms:W3CDTF">2021-02-10T02:35:16Z</dcterms:modified>
</cp:coreProperties>
</file>
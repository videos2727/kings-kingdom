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321" r:id="rId2"/>
    <p:sldId id="256" r:id="rId3"/>
    <p:sldId id="431" r:id="rId4"/>
    <p:sldId id="404" r:id="rId5"/>
    <p:sldId id="432" r:id="rId6"/>
    <p:sldId id="433" r:id="rId7"/>
    <p:sldId id="434" r:id="rId8"/>
    <p:sldId id="43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43"/>
    <p:restoredTop sz="95707"/>
  </p:normalViewPr>
  <p:slideViewPr>
    <p:cSldViewPr snapToGrid="0" snapToObjects="1">
      <p:cViewPr varScale="1">
        <p:scale>
          <a:sx n="93" d="100"/>
          <a:sy n="93" d="100"/>
        </p:scale>
        <p:origin x="216"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HARRIS" userId="4d60df54-eb84-4a00-861c-a241c9cc59ff" providerId="ADAL" clId="{EE7B26D0-1511-994D-97A7-F585B094CA90}"/>
    <pc:docChg chg="modSld">
      <pc:chgData name="Maria HARRIS" userId="4d60df54-eb84-4a00-861c-a241c9cc59ff" providerId="ADAL" clId="{EE7B26D0-1511-994D-97A7-F585B094CA90}" dt="2021-03-09T01:50:06.822" v="84" actId="20577"/>
      <pc:docMkLst>
        <pc:docMk/>
      </pc:docMkLst>
      <pc:sldChg chg="modSp mod">
        <pc:chgData name="Maria HARRIS" userId="4d60df54-eb84-4a00-861c-a241c9cc59ff" providerId="ADAL" clId="{EE7B26D0-1511-994D-97A7-F585B094CA90}" dt="2021-03-09T01:50:06.822" v="84" actId="20577"/>
        <pc:sldMkLst>
          <pc:docMk/>
          <pc:sldMk cId="2560237603" sldId="434"/>
        </pc:sldMkLst>
        <pc:spChg chg="mod">
          <ac:chgData name="Maria HARRIS" userId="4d60df54-eb84-4a00-861c-a241c9cc59ff" providerId="ADAL" clId="{EE7B26D0-1511-994D-97A7-F585B094CA90}" dt="2021-03-09T01:50:06.822" v="84" actId="20577"/>
          <ac:spMkLst>
            <pc:docMk/>
            <pc:sldMk cId="2560237603" sldId="434"/>
            <ac:spMk id="4" creationId="{1A017BC5-F8AF-D549-A4EB-023C3969055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6:59.305"/>
    </inkml:context>
    <inkml:brush xml:id="br0">
      <inkml:brushProperty name="width" value="0.1" units="cm"/>
      <inkml:brushProperty name="height" value="0.6" units="cm"/>
      <inkml:brushProperty name="color" value="#849398"/>
      <inkml:brushProperty name="inkEffects" value="pencil"/>
    </inkml:brush>
  </inkml:definitions>
  <inkml:trace contextRef="#ctx0" brushRef="#br0">58 41 16383,'-30'-22'0,"11"4"0,10 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10.135"/>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 16383,'9'27'0,"-2"-5"0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39.4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9:16.597"/>
    </inkml:context>
    <inkml:brush xml:id="br0">
      <inkml:brushProperty name="width" value="0.1" units="cm"/>
      <inkml:brushProperty name="height" value="0.6" units="cm"/>
      <inkml:brushProperty name="color" value="#849398"/>
      <inkml:brushProperty name="inkEffects" value="pencil"/>
    </inkml:brush>
  </inkml:definitions>
  <inkml:trace contextRef="#ctx0" brushRef="#br0">0 0 16383,'6'6'0,"-2"-2"0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AC08A-360A-D84F-88AD-1C9E3AF1B5E4}" type="datetimeFigureOut">
              <a:rPr lang="en-US" smtClean="0"/>
              <a:t>3/9/21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36B5D7-289F-5C49-A358-2F80CA8664E7}" type="slidenum">
              <a:rPr lang="en-US" smtClean="0"/>
              <a:t>‹#›</a:t>
            </a:fld>
            <a:endParaRPr lang="en-US"/>
          </a:p>
        </p:txBody>
      </p:sp>
    </p:spTree>
    <p:extLst>
      <p:ext uri="{BB962C8B-B14F-4D97-AF65-F5344CB8AC3E}">
        <p14:creationId xmlns:p14="http://schemas.microsoft.com/office/powerpoint/2010/main" val="816665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1575075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2984057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5</a:t>
            </a:fld>
            <a:endParaRPr lang="en-AU"/>
          </a:p>
        </p:txBody>
      </p:sp>
    </p:spTree>
    <p:extLst>
      <p:ext uri="{BB962C8B-B14F-4D97-AF65-F5344CB8AC3E}">
        <p14:creationId xmlns:p14="http://schemas.microsoft.com/office/powerpoint/2010/main" val="2963453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6</a:t>
            </a:fld>
            <a:endParaRPr lang="en-AU"/>
          </a:p>
        </p:txBody>
      </p:sp>
    </p:spTree>
    <p:extLst>
      <p:ext uri="{BB962C8B-B14F-4D97-AF65-F5344CB8AC3E}">
        <p14:creationId xmlns:p14="http://schemas.microsoft.com/office/powerpoint/2010/main" val="2399318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7</a:t>
            </a:fld>
            <a:endParaRPr lang="en-AU"/>
          </a:p>
        </p:txBody>
      </p:sp>
    </p:spTree>
    <p:extLst>
      <p:ext uri="{BB962C8B-B14F-4D97-AF65-F5344CB8AC3E}">
        <p14:creationId xmlns:p14="http://schemas.microsoft.com/office/powerpoint/2010/main" val="2446040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8</a:t>
            </a:fld>
            <a:endParaRPr lang="en-AU"/>
          </a:p>
        </p:txBody>
      </p:sp>
    </p:spTree>
    <p:extLst>
      <p:ext uri="{BB962C8B-B14F-4D97-AF65-F5344CB8AC3E}">
        <p14:creationId xmlns:p14="http://schemas.microsoft.com/office/powerpoint/2010/main" val="3898538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25C9-1BBF-274B-9C26-DFA7359C57C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6A3171F-0457-D648-90C9-20DB56FEAD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746D199-B4A2-ED49-9CE4-D9D641586EEE}"/>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5" name="Footer Placeholder 4">
            <a:extLst>
              <a:ext uri="{FF2B5EF4-FFF2-40B4-BE49-F238E27FC236}">
                <a16:creationId xmlns:a16="http://schemas.microsoft.com/office/drawing/2014/main" id="{9490B856-73BD-BC44-BEFC-F3920E709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709D9-C7DB-4142-BC5C-E9B3E70172FB}"/>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228213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C06B-55BE-E44A-971B-6A68C1F50D7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454EE5-27B8-884A-B248-7BF7ACBB37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7B1970-83AD-5C48-87E0-5A0422B585F6}"/>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5" name="Footer Placeholder 4">
            <a:extLst>
              <a:ext uri="{FF2B5EF4-FFF2-40B4-BE49-F238E27FC236}">
                <a16:creationId xmlns:a16="http://schemas.microsoft.com/office/drawing/2014/main" id="{359620EC-75A1-DC49-BEA1-8CA2E0854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81029-8E5B-C549-8DC2-8883EC3E9613}"/>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935537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3C21-762A-A745-9847-307ED28BFDA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44698EA-7BD4-4B4F-9928-2880ED1BE3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2E67615-4786-DF4B-99CA-539C6386CB33}"/>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5" name="Footer Placeholder 4">
            <a:extLst>
              <a:ext uri="{FF2B5EF4-FFF2-40B4-BE49-F238E27FC236}">
                <a16:creationId xmlns:a16="http://schemas.microsoft.com/office/drawing/2014/main" id="{92E77E29-BFB0-D84F-A679-5B3ACE80F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8B7D75-96E0-7B45-AFC7-BF105341C48A}"/>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2388525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C9B07-A70B-134A-A4BE-DD5467EEA8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89EDEAC-E3CE-D04A-8AAF-A3476321B22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85F5EBC-F1C2-7840-9F52-631DC054F8B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F1E612C-5702-4948-B4CB-E1A1312542BB}"/>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6" name="Footer Placeholder 5">
            <a:extLst>
              <a:ext uri="{FF2B5EF4-FFF2-40B4-BE49-F238E27FC236}">
                <a16:creationId xmlns:a16="http://schemas.microsoft.com/office/drawing/2014/main" id="{50362545-4733-D643-9CFB-288A792EDB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0C7349-8325-164C-8129-AC9C93BA356E}"/>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717513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44827-C8E2-5445-BA51-5A0C63CF215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B928EB8-373B-5040-A69F-E7DBB40654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9BB85D-57B5-FF4B-AF48-C72294ED22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9268833-882A-5940-8FC4-35457BECCB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1815098-24F0-5247-8EDA-0C79978C9FF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ECCC794-7572-BD42-83D6-C643BCF88455}"/>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8" name="Footer Placeholder 7">
            <a:extLst>
              <a:ext uri="{FF2B5EF4-FFF2-40B4-BE49-F238E27FC236}">
                <a16:creationId xmlns:a16="http://schemas.microsoft.com/office/drawing/2014/main" id="{DEAAC3A3-5162-B349-A906-DCF0FD5864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14F497-6393-1A4F-A917-80C5335A979A}"/>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248049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391B-52A4-934B-AA5D-D207253463F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86EDB79-6A5A-6745-8FC8-3C8CD7DE0F8F}"/>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4" name="Footer Placeholder 3">
            <a:extLst>
              <a:ext uri="{FF2B5EF4-FFF2-40B4-BE49-F238E27FC236}">
                <a16:creationId xmlns:a16="http://schemas.microsoft.com/office/drawing/2014/main" id="{426D1527-EE94-3D4C-9DE5-5B59036A60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AD0183-7BC8-1244-AB86-EC9726035ADE}"/>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163282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094A58-17CA-3B4F-BB1A-3F1C17BE57BB}"/>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3" name="Footer Placeholder 2">
            <a:extLst>
              <a:ext uri="{FF2B5EF4-FFF2-40B4-BE49-F238E27FC236}">
                <a16:creationId xmlns:a16="http://schemas.microsoft.com/office/drawing/2014/main" id="{8AE322D3-518C-E848-9B5C-D249054349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B77A41-AD95-7E42-9AFC-1F0F2F13F068}"/>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547028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7054B-1FD8-D04D-9C83-1BADAD36CD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E8F251-B13A-C84A-BF5E-9BA8650A60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1FED5A8-B7B0-F846-9932-C71D3369D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AB7D23-B642-884A-94EC-B4477E5C05EE}"/>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6" name="Footer Placeholder 5">
            <a:extLst>
              <a:ext uri="{FF2B5EF4-FFF2-40B4-BE49-F238E27FC236}">
                <a16:creationId xmlns:a16="http://schemas.microsoft.com/office/drawing/2014/main" id="{69D8A591-25D2-994E-909A-60B0178430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8B873-54AE-8044-B7F9-DABB85D52AA4}"/>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305204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F93E-8393-0B45-B4B3-81ECD6C638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9EE7921-2E74-EA46-9502-755916D778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F89E8485-A4A6-6B46-9603-692F8C8C05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D1839C-EB99-6746-BC13-3F07E30852EC}"/>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6" name="Footer Placeholder 5">
            <a:extLst>
              <a:ext uri="{FF2B5EF4-FFF2-40B4-BE49-F238E27FC236}">
                <a16:creationId xmlns:a16="http://schemas.microsoft.com/office/drawing/2014/main" id="{59304867-1959-4446-B5E2-B25EAE784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CAD6D3-9E3F-C740-A690-0BAC54F9FB3C}"/>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2141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1F12E-6541-724E-BEDA-5FACABD560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0B32181-2131-0245-8B9D-2333A49F221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7E135A-ABEC-0541-9DE6-1768D0498C24}"/>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5" name="Footer Placeholder 4">
            <a:extLst>
              <a:ext uri="{FF2B5EF4-FFF2-40B4-BE49-F238E27FC236}">
                <a16:creationId xmlns:a16="http://schemas.microsoft.com/office/drawing/2014/main" id="{8CE5EAB7-594B-004A-83A1-0561B5742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2296C2-7A76-D944-AD8C-9AB56986D0CF}"/>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4057267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CB23A4-1787-6D4C-83E3-59C729CC1F9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10585E2-D8BB-E34C-BFA2-F9EB7749076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9E3542-27CC-D944-AB5C-2587197C6FD3}"/>
              </a:ext>
            </a:extLst>
          </p:cNvPr>
          <p:cNvSpPr>
            <a:spLocks noGrp="1"/>
          </p:cNvSpPr>
          <p:nvPr>
            <p:ph type="dt" sz="half" idx="10"/>
          </p:nvPr>
        </p:nvSpPr>
        <p:spPr/>
        <p:txBody>
          <a:bodyPr/>
          <a:lstStyle/>
          <a:p>
            <a:fld id="{02506115-D2DA-9845-A499-82378B0C6B4A}" type="datetimeFigureOut">
              <a:rPr lang="en-US" smtClean="0"/>
              <a:t>3/9/21</a:t>
            </a:fld>
            <a:endParaRPr lang="en-US"/>
          </a:p>
        </p:txBody>
      </p:sp>
      <p:sp>
        <p:nvSpPr>
          <p:cNvPr id="5" name="Footer Placeholder 4">
            <a:extLst>
              <a:ext uri="{FF2B5EF4-FFF2-40B4-BE49-F238E27FC236}">
                <a16:creationId xmlns:a16="http://schemas.microsoft.com/office/drawing/2014/main" id="{A3937ABA-8F6B-8F4F-A1F1-365A09902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EBBB2-6DC6-F444-8EDB-4124E7E6B5CE}"/>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658067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887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R) Apply">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8" name="TextBox 7">
            <a:extLst>
              <a:ext uri="{FF2B5EF4-FFF2-40B4-BE49-F238E27FC236}">
                <a16:creationId xmlns:a16="http://schemas.microsoft.com/office/drawing/2014/main" id="{AC654E54-CAC9-4F2F-AA80-55A84549B89E}"/>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Apply</a:t>
            </a:r>
          </a:p>
        </p:txBody>
      </p:sp>
      <p:sp>
        <p:nvSpPr>
          <p:cNvPr id="9" name="Text Placeholder 6">
            <a:extLst>
              <a:ext uri="{FF2B5EF4-FFF2-40B4-BE49-F238E27FC236}">
                <a16:creationId xmlns:a16="http://schemas.microsoft.com/office/drawing/2014/main" id="{B3E95AC1-7531-4639-975B-21368D744727}"/>
              </a:ext>
            </a:extLst>
          </p:cNvPr>
          <p:cNvSpPr>
            <a:spLocks noGrp="1"/>
          </p:cNvSpPr>
          <p:nvPr>
            <p:ph type="body" sz="quarter" idx="13" hasCustomPrompt="1"/>
          </p:nvPr>
        </p:nvSpPr>
        <p:spPr>
          <a:xfrm>
            <a:off x="280557" y="805337"/>
            <a:ext cx="11481952" cy="51084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E913797E-7ED2-48B9-87A3-251518F8AEF7}"/>
              </a:ext>
            </a:extLst>
          </p:cNvPr>
          <p:cNvSpPr>
            <a:spLocks noGrp="1"/>
          </p:cNvSpPr>
          <p:nvPr>
            <p:ph type="body" sz="quarter" idx="15" hasCustomPrompt="1"/>
          </p:nvPr>
        </p:nvSpPr>
        <p:spPr>
          <a:xfrm>
            <a:off x="280558" y="1490352"/>
            <a:ext cx="11506476" cy="5105565"/>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Ask students to apply this knowledge to a problem or specific context.</a:t>
            </a:r>
            <a:br>
              <a:rPr lang="en-US" dirty="0"/>
            </a:br>
            <a:br>
              <a:rPr lang="en-AU" dirty="0"/>
            </a:br>
            <a:r>
              <a:rPr lang="en-US" dirty="0"/>
              <a:t>Steps here must be explicit and listed simply enough such that students are able to apply their understanding to examples and non-examples.</a:t>
            </a:r>
            <a:br>
              <a:rPr lang="en-US" dirty="0"/>
            </a:br>
            <a:br>
              <a:rPr lang="en-US" dirty="0"/>
            </a:br>
            <a:r>
              <a:rPr lang="en-AU" dirty="0"/>
              <a:t>Click to add text. Delete textbox if unneeded. </a:t>
            </a:r>
            <a:endParaRPr lang="en-US" dirty="0"/>
          </a:p>
        </p:txBody>
      </p:sp>
    </p:spTree>
    <p:extLst>
      <p:ext uri="{BB962C8B-B14F-4D97-AF65-F5344CB8AC3E}">
        <p14:creationId xmlns:p14="http://schemas.microsoft.com/office/powerpoint/2010/main" val="3922129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3699287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6BD737-85A2-AA48-9C45-D8C438214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B0A98D5-1AC6-C545-AEDD-F0DCA69259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549FC0-795F-D14E-8AF2-85EE99B5E1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06115-D2DA-9845-A499-82378B0C6B4A}" type="datetimeFigureOut">
              <a:rPr lang="en-US" smtClean="0"/>
              <a:t>3/9/21</a:t>
            </a:fld>
            <a:endParaRPr lang="en-US"/>
          </a:p>
        </p:txBody>
      </p:sp>
      <p:sp>
        <p:nvSpPr>
          <p:cNvPr id="5" name="Footer Placeholder 4">
            <a:extLst>
              <a:ext uri="{FF2B5EF4-FFF2-40B4-BE49-F238E27FC236}">
                <a16:creationId xmlns:a16="http://schemas.microsoft.com/office/drawing/2014/main" id="{54555BE7-79FE-004B-8745-FB59A21208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94C137-7437-9D4F-9925-3DBF576E87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832A41-7603-314A-90FF-926DF6DC8779}" type="slidenum">
              <a:rPr lang="en-US" smtClean="0"/>
              <a:t>‹#›</a:t>
            </a:fld>
            <a:endParaRPr lang="en-US"/>
          </a:p>
        </p:txBody>
      </p:sp>
    </p:spTree>
    <p:extLst>
      <p:ext uri="{BB962C8B-B14F-4D97-AF65-F5344CB8AC3E}">
        <p14:creationId xmlns:p14="http://schemas.microsoft.com/office/powerpoint/2010/main" val="1114473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customXml" Target="../ink/ink1.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4.xml"/><Relationship Id="rId9" Type="http://schemas.openxmlformats.org/officeDocument/2006/relationships/image" Target="NUL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hyperlink" Target="https://creativecommons.org/licenses/by-sa/3.0/" TargetMode="External"/><Relationship Id="rId4" Type="http://schemas.openxmlformats.org/officeDocument/2006/relationships/hyperlink" Target="https://diy.stackexchange.com/questions/17096/whats-the-best-way-to-keep-my-garage-from-freezin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hyperlink" Target="https://en.wikipedia.org/wiki/Sorbus_torminalis" TargetMode="Externa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9.jpg"/><Relationship Id="rId5" Type="http://schemas.openxmlformats.org/officeDocument/2006/relationships/hyperlink" Target="https://creativecommons.org/licenses/by-sa/3.0/" TargetMode="External"/><Relationship Id="rId4" Type="http://schemas.openxmlformats.org/officeDocument/2006/relationships/hyperlink" Target="https://en.wikipedia.org/wiki/Soffi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hyperlink" Target="https://creativecommons.org/licenses/by-sa/3.0/" TargetMode="External"/><Relationship Id="rId4" Type="http://schemas.openxmlformats.org/officeDocument/2006/relationships/hyperlink" Target="http://www.casver.com.au/benefit-of-double-glazin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https://pixabay.com/en/venetian-blinds-sun-visor-stripes-14796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2500" y="5045311"/>
            <a:ext cx="10650998" cy="1560320"/>
          </a:xfrm>
        </p:spPr>
        <p:txBody>
          <a:bodyPr>
            <a:normAutofit fontScale="90000"/>
          </a:bodyPr>
          <a:lstStyle/>
          <a:p>
            <a:r>
              <a:rPr lang="en-US" sz="4900" b="1" dirty="0">
                <a:solidFill>
                  <a:srgbClr val="002060"/>
                </a:solidFill>
                <a:latin typeface="Arial Rounded MT Bold" panose="020F0704030504030204" pitchFamily="34" charset="77"/>
              </a:rPr>
              <a:t>Features in the house to help with heat transfer</a:t>
            </a:r>
            <a:br>
              <a:rPr lang="en-US" sz="4900" b="1" dirty="0">
                <a:solidFill>
                  <a:srgbClr val="002060"/>
                </a:solidFill>
                <a:latin typeface="Arial Rounded MT Bold" panose="020F0704030504030204" pitchFamily="34" charset="77"/>
              </a:rPr>
            </a:br>
            <a:r>
              <a:rPr lang="en-US" sz="4900" dirty="0">
                <a:solidFill>
                  <a:srgbClr val="00C0B4"/>
                </a:solidFill>
                <a:latin typeface="Arial Rounded MT Bold" panose="020F0704030504030204" pitchFamily="34" charset="77"/>
              </a:rPr>
              <a:t>Year 11 Physics</a:t>
            </a:r>
          </a:p>
        </p:txBody>
      </p:sp>
      <p:sp>
        <p:nvSpPr>
          <p:cNvPr id="3" name="Subtitle 2"/>
          <p:cNvSpPr>
            <a:spLocks noGrp="1"/>
          </p:cNvSpPr>
          <p:nvPr>
            <p:ph type="subTitle" idx="1"/>
          </p:nvPr>
        </p:nvSpPr>
        <p:spPr>
          <a:xfrm>
            <a:off x="10011747" y="6299068"/>
            <a:ext cx="2180253" cy="440822"/>
          </a:xfrm>
        </p:spPr>
        <p:txBody>
          <a:bodyPr>
            <a:normAutofit/>
          </a:bodyPr>
          <a:lstStyle/>
          <a:p>
            <a:r>
              <a:rPr lang="en-US" sz="2000" dirty="0" err="1">
                <a:latin typeface="Arial Rounded MT Bold" panose="020F0704030504030204" pitchFamily="34" charset="77"/>
              </a:rPr>
              <a:t>Mrs</a:t>
            </a:r>
            <a:r>
              <a:rPr lang="en-US" sz="2000" dirty="0">
                <a:latin typeface="Arial Rounded MT Bold" panose="020F0704030504030204" pitchFamily="34" charset="77"/>
              </a:rPr>
              <a:t> Martin</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A94B6F93-12D7-B34C-822F-4C0B22FE395E}"/>
                  </a:ext>
                </a:extLst>
              </p14:cNvPr>
              <p14:cNvContentPartPr/>
              <p14:nvPr/>
            </p14:nvContentPartPr>
            <p14:xfrm>
              <a:off x="10287880" y="3190440"/>
              <a:ext cx="21240" cy="14760"/>
            </p14:xfrm>
          </p:contentPart>
        </mc:Choice>
        <mc:Fallback xmlns="">
          <p:pic>
            <p:nvPicPr>
              <p:cNvPr id="6" name="Ink 5">
                <a:extLst>
                  <a:ext uri="{FF2B5EF4-FFF2-40B4-BE49-F238E27FC236}">
                    <a16:creationId xmlns:a16="http://schemas.microsoft.com/office/drawing/2014/main" id="{A94B6F93-12D7-B34C-822F-4C0B22FE395E}"/>
                  </a:ext>
                </a:extLst>
              </p:cNvPr>
              <p:cNvPicPr/>
              <p:nvPr/>
            </p:nvPicPr>
            <p:blipFill>
              <a:blip r:embed="rId5"/>
              <a:stretch>
                <a:fillRect/>
              </a:stretch>
            </p:blipFill>
            <p:spPr>
              <a:xfrm>
                <a:off x="10269880" y="3082800"/>
                <a:ext cx="56880" cy="2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7" name="Ink 6">
                <a:extLst>
                  <a:ext uri="{FF2B5EF4-FFF2-40B4-BE49-F238E27FC236}">
                    <a16:creationId xmlns:a16="http://schemas.microsoft.com/office/drawing/2014/main" id="{21A7679E-DFE2-354C-B529-37AEEE617D68}"/>
                  </a:ext>
                </a:extLst>
              </p14:cNvPr>
              <p14:cNvContentPartPr/>
              <p14:nvPr/>
            </p14:nvContentPartPr>
            <p14:xfrm>
              <a:off x="7844920" y="2370360"/>
              <a:ext cx="6120" cy="18000"/>
            </p14:xfrm>
          </p:contentPart>
        </mc:Choice>
        <mc:Fallback xmlns="">
          <p:pic>
            <p:nvPicPr>
              <p:cNvPr id="7" name="Ink 6">
                <a:extLst>
                  <a:ext uri="{FF2B5EF4-FFF2-40B4-BE49-F238E27FC236}">
                    <a16:creationId xmlns:a16="http://schemas.microsoft.com/office/drawing/2014/main" id="{21A7679E-DFE2-354C-B529-37AEEE617D68}"/>
                  </a:ext>
                </a:extLst>
              </p:cNvPr>
              <p:cNvPicPr/>
              <p:nvPr/>
            </p:nvPicPr>
            <p:blipFill>
              <a:blip r:embed="rId7"/>
              <a:stretch>
                <a:fillRect/>
              </a:stretch>
            </p:blipFill>
            <p:spPr>
              <a:xfrm>
                <a:off x="7827280" y="2262720"/>
                <a:ext cx="41760" cy="233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93686204-4622-D04C-8065-A5D212C57165}"/>
                  </a:ext>
                </a:extLst>
              </p14:cNvPr>
              <p14:cNvContentPartPr/>
              <p14:nvPr/>
            </p14:nvContentPartPr>
            <p14:xfrm>
              <a:off x="8556873" y="3689782"/>
              <a:ext cx="360" cy="360"/>
            </p14:xfrm>
          </p:contentPart>
        </mc:Choice>
        <mc:Fallback xmlns="">
          <p:pic>
            <p:nvPicPr>
              <p:cNvPr id="8" name="Ink 7">
                <a:extLst>
                  <a:ext uri="{FF2B5EF4-FFF2-40B4-BE49-F238E27FC236}">
                    <a16:creationId xmlns:a16="http://schemas.microsoft.com/office/drawing/2014/main" id="{93686204-4622-D04C-8065-A5D212C57165}"/>
                  </a:ext>
                </a:extLst>
              </p:cNvPr>
              <p:cNvPicPr/>
              <p:nvPr/>
            </p:nvPicPr>
            <p:blipFill>
              <a:blip r:embed="rId9"/>
              <a:stretch>
                <a:fillRect/>
              </a:stretch>
            </p:blipFill>
            <p:spPr>
              <a:xfrm>
                <a:off x="8539233" y="3581782"/>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9" name="Ink 18">
                <a:extLst>
                  <a:ext uri="{FF2B5EF4-FFF2-40B4-BE49-F238E27FC236}">
                    <a16:creationId xmlns:a16="http://schemas.microsoft.com/office/drawing/2014/main" id="{C4794CCE-5A08-664D-95B2-585CC29B3676}"/>
                  </a:ext>
                </a:extLst>
              </p14:cNvPr>
              <p14:cNvContentPartPr/>
              <p14:nvPr/>
            </p14:nvContentPartPr>
            <p14:xfrm>
              <a:off x="667113" y="756862"/>
              <a:ext cx="3960" cy="3960"/>
            </p14:xfrm>
          </p:contentPart>
        </mc:Choice>
        <mc:Fallback xmlns="">
          <p:pic>
            <p:nvPicPr>
              <p:cNvPr id="19" name="Ink 18">
                <a:extLst>
                  <a:ext uri="{FF2B5EF4-FFF2-40B4-BE49-F238E27FC236}">
                    <a16:creationId xmlns:a16="http://schemas.microsoft.com/office/drawing/2014/main" id="{C4794CCE-5A08-664D-95B2-585CC29B3676}"/>
                  </a:ext>
                </a:extLst>
              </p:cNvPr>
              <p:cNvPicPr/>
              <p:nvPr/>
            </p:nvPicPr>
            <p:blipFill>
              <a:blip r:embed="rId11"/>
              <a:stretch>
                <a:fillRect/>
              </a:stretch>
            </p:blipFill>
            <p:spPr>
              <a:xfrm>
                <a:off x="649113" y="648862"/>
                <a:ext cx="39600" cy="219600"/>
              </a:xfrm>
              <a:prstGeom prst="rect">
                <a:avLst/>
              </a:prstGeom>
            </p:spPr>
          </p:pic>
        </mc:Fallback>
      </mc:AlternateContent>
      <p:pic>
        <p:nvPicPr>
          <p:cNvPr id="13" name="Picture 12">
            <a:extLst>
              <a:ext uri="{FF2B5EF4-FFF2-40B4-BE49-F238E27FC236}">
                <a16:creationId xmlns:a16="http://schemas.microsoft.com/office/drawing/2014/main" id="{6E045938-6420-7748-B71E-4CB566FAC868}"/>
              </a:ext>
            </a:extLst>
          </p:cNvPr>
          <p:cNvPicPr/>
          <p:nvPr/>
        </p:nvPicPr>
        <p:blipFill>
          <a:blip r:embed="rId12">
            <a:extLst>
              <a:ext uri="{28A0092B-C50C-407E-A947-70E740481C1C}">
                <a14:useLocalDpi xmlns:a14="http://schemas.microsoft.com/office/drawing/2010/main" val="0"/>
              </a:ext>
            </a:extLst>
          </a:blip>
          <a:stretch>
            <a:fillRect/>
          </a:stretch>
        </p:blipFill>
        <p:spPr bwMode="auto">
          <a:xfrm>
            <a:off x="22120" y="0"/>
            <a:ext cx="784874" cy="854703"/>
          </a:xfrm>
          <a:prstGeom prst="rect">
            <a:avLst/>
          </a:prstGeom>
          <a:noFill/>
        </p:spPr>
      </p:pic>
    </p:spTree>
    <p:extLst>
      <p:ext uri="{BB962C8B-B14F-4D97-AF65-F5344CB8AC3E}">
        <p14:creationId xmlns:p14="http://schemas.microsoft.com/office/powerpoint/2010/main" val="36299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85B305C-721E-D540-958F-34E98D3603DF}"/>
              </a:ext>
            </a:extLst>
          </p:cNvPr>
          <p:cNvGrpSpPr/>
          <p:nvPr/>
        </p:nvGrpSpPr>
        <p:grpSpPr>
          <a:xfrm>
            <a:off x="593407" y="2346656"/>
            <a:ext cx="2211388" cy="605005"/>
            <a:chOff x="3657599" y="1716154"/>
            <a:chExt cx="2211388" cy="694270"/>
          </a:xfrm>
        </p:grpSpPr>
        <p:sp>
          <p:nvSpPr>
            <p:cNvPr id="9" name="TextBox 8">
              <a:extLst>
                <a:ext uri="{FF2B5EF4-FFF2-40B4-BE49-F238E27FC236}">
                  <a16:creationId xmlns:a16="http://schemas.microsoft.com/office/drawing/2014/main" id="{8F7B6625-5791-8643-8992-71BEC6CEB22B}"/>
                </a:ext>
              </a:extLst>
            </p:cNvPr>
            <p:cNvSpPr txBox="1"/>
            <p:nvPr/>
          </p:nvSpPr>
          <p:spPr>
            <a:xfrm>
              <a:off x="3657600" y="2074896"/>
              <a:ext cx="2203768" cy="335528"/>
            </a:xfrm>
            <a:prstGeom prst="rect">
              <a:avLst/>
            </a:prstGeom>
            <a:solidFill>
              <a:schemeClr val="bg1"/>
            </a:solidFill>
            <a:ln>
              <a:solidFill>
                <a:srgbClr val="47998B"/>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0" name="TextBox 9">
              <a:extLst>
                <a:ext uri="{FF2B5EF4-FFF2-40B4-BE49-F238E27FC236}">
                  <a16:creationId xmlns:a16="http://schemas.microsoft.com/office/drawing/2014/main" id="{518C4B6F-2ADF-714C-852E-3DD14E0A4876}"/>
                </a:ext>
              </a:extLst>
            </p:cNvPr>
            <p:cNvSpPr txBox="1">
              <a:spLocks noChangeAspect="1"/>
            </p:cNvSpPr>
            <p:nvPr/>
          </p:nvSpPr>
          <p:spPr>
            <a:xfrm>
              <a:off x="3657599" y="1716154"/>
              <a:ext cx="2211388" cy="358742"/>
            </a:xfrm>
            <a:prstGeom prst="rect">
              <a:avLst/>
            </a:prstGeom>
            <a:solidFill>
              <a:srgbClr val="47998B"/>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Make the Connection</a:t>
              </a:r>
            </a:p>
          </p:txBody>
        </p:sp>
      </p:grpSp>
      <p:sp>
        <p:nvSpPr>
          <p:cNvPr id="11" name="TextBox 10">
            <a:extLst>
              <a:ext uri="{FF2B5EF4-FFF2-40B4-BE49-F238E27FC236}">
                <a16:creationId xmlns:a16="http://schemas.microsoft.com/office/drawing/2014/main" id="{67837EBD-D92A-9640-8767-A02D08251712}"/>
              </a:ext>
            </a:extLst>
          </p:cNvPr>
          <p:cNvSpPr txBox="1"/>
          <p:nvPr/>
        </p:nvSpPr>
        <p:spPr>
          <a:xfrm>
            <a:off x="495300" y="406400"/>
            <a:ext cx="10947400" cy="1485900"/>
          </a:xfrm>
          <a:prstGeom prst="rect">
            <a:avLst/>
          </a:prstGeom>
          <a:noFill/>
          <a:ln>
            <a:noFill/>
          </a:ln>
        </p:spPr>
        <p:txBody>
          <a:bodyPr wrap="square" rtlCol="0" anchor="t" anchorCtr="0">
            <a:normAutofit fontScale="40000" lnSpcReduction="20000"/>
          </a:bodyPr>
          <a:lstStyle/>
          <a:p>
            <a:pPr algn="l"/>
            <a:r>
              <a:rPr lang="en-US" sz="5400" b="1" dirty="0">
                <a:latin typeface="Century Gothic" panose="020B0502020202020204" pitchFamily="34" charset="0"/>
                <a:cs typeface="Futura Medium" panose="020B0602020204020303" pitchFamily="34" charset="-79"/>
              </a:rPr>
              <a:t>Do not delete this slide. It is hidden from your show. You can use it to copy and paste the relevant prompt boxes into your presentation. Click once on the white space to select it for copying. Once it is in your presentation you can double click on the white space to add text. The box will automatically resize to fit your text. The next slide is also hidden and included as an example only. </a:t>
            </a:r>
          </a:p>
        </p:txBody>
      </p:sp>
      <p:grpSp>
        <p:nvGrpSpPr>
          <p:cNvPr id="12" name="Group 11">
            <a:extLst>
              <a:ext uri="{FF2B5EF4-FFF2-40B4-BE49-F238E27FC236}">
                <a16:creationId xmlns:a16="http://schemas.microsoft.com/office/drawing/2014/main" id="{5960F400-1297-8E49-9260-D87603A503E3}"/>
              </a:ext>
            </a:extLst>
          </p:cNvPr>
          <p:cNvGrpSpPr/>
          <p:nvPr/>
        </p:nvGrpSpPr>
        <p:grpSpPr>
          <a:xfrm>
            <a:off x="4797011" y="2349076"/>
            <a:ext cx="2211388" cy="605005"/>
            <a:chOff x="3657599" y="1716154"/>
            <a:chExt cx="2211388" cy="694270"/>
          </a:xfrm>
        </p:grpSpPr>
        <p:sp>
          <p:nvSpPr>
            <p:cNvPr id="13" name="TextBox 12">
              <a:extLst>
                <a:ext uri="{FF2B5EF4-FFF2-40B4-BE49-F238E27FC236}">
                  <a16:creationId xmlns:a16="http://schemas.microsoft.com/office/drawing/2014/main" id="{82CD9D59-27CE-8B4E-85F3-97F69473A375}"/>
                </a:ext>
              </a:extLst>
            </p:cNvPr>
            <p:cNvSpPr txBox="1"/>
            <p:nvPr/>
          </p:nvSpPr>
          <p:spPr>
            <a:xfrm>
              <a:off x="3657600" y="2074896"/>
              <a:ext cx="2203768" cy="335528"/>
            </a:xfrm>
            <a:prstGeom prst="rect">
              <a:avLst/>
            </a:prstGeom>
            <a:solidFill>
              <a:schemeClr val="bg1"/>
            </a:solidFill>
            <a:ln>
              <a:solidFill>
                <a:schemeClr val="accent2">
                  <a:lumMod val="75000"/>
                </a:schemeClr>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4" name="TextBox 13">
              <a:extLst>
                <a:ext uri="{FF2B5EF4-FFF2-40B4-BE49-F238E27FC236}">
                  <a16:creationId xmlns:a16="http://schemas.microsoft.com/office/drawing/2014/main" id="{8AE73B4E-F932-614B-B827-C797847927A0}"/>
                </a:ext>
              </a:extLst>
            </p:cNvPr>
            <p:cNvSpPr txBox="1">
              <a:spLocks noChangeAspect="1"/>
            </p:cNvSpPr>
            <p:nvPr/>
          </p:nvSpPr>
          <p:spPr>
            <a:xfrm>
              <a:off x="3657599" y="1716154"/>
              <a:ext cx="2211388" cy="358742"/>
            </a:xfrm>
            <a:prstGeom prst="rect">
              <a:avLst/>
            </a:prstGeom>
            <a:solidFill>
              <a:schemeClr val="accent2">
                <a:lumMod val="75000"/>
              </a:schemeClr>
            </a:solidFill>
            <a:ln>
              <a:noFill/>
            </a:ln>
          </p:spPr>
          <p:txBody>
            <a:bodyPr wrap="square" rtlCol="0" anchor="ctr" anchorCtr="0">
              <a:normAutofit fontScale="92500"/>
            </a:bodyPr>
            <a:lstStyle/>
            <a:p>
              <a:pPr algn="l"/>
              <a:r>
                <a:rPr lang="en-US" sz="1400" b="1" dirty="0">
                  <a:solidFill>
                    <a:schemeClr val="bg1">
                      <a:lumMod val="95000"/>
                    </a:schemeClr>
                  </a:solidFill>
                  <a:latin typeface="Century Gothic" panose="020B0502020202020204" pitchFamily="34" charset="0"/>
                  <a:cs typeface="Futura Medium" panose="020B0602020204020303" pitchFamily="34" charset="-79"/>
                </a:rPr>
                <a:t>Check for Understanding</a:t>
              </a:r>
            </a:p>
          </p:txBody>
        </p:sp>
      </p:grpSp>
      <p:grpSp>
        <p:nvGrpSpPr>
          <p:cNvPr id="15" name="Group 14">
            <a:extLst>
              <a:ext uri="{FF2B5EF4-FFF2-40B4-BE49-F238E27FC236}">
                <a16:creationId xmlns:a16="http://schemas.microsoft.com/office/drawing/2014/main" id="{86336AAC-74E7-784C-910D-0D020AD51C7A}"/>
              </a:ext>
            </a:extLst>
          </p:cNvPr>
          <p:cNvGrpSpPr/>
          <p:nvPr/>
        </p:nvGrpSpPr>
        <p:grpSpPr>
          <a:xfrm>
            <a:off x="9008234" y="2349076"/>
            <a:ext cx="2211388" cy="605005"/>
            <a:chOff x="3657599" y="1716154"/>
            <a:chExt cx="2211388" cy="694270"/>
          </a:xfrm>
        </p:grpSpPr>
        <p:sp>
          <p:nvSpPr>
            <p:cNvPr id="16" name="TextBox 15">
              <a:extLst>
                <a:ext uri="{FF2B5EF4-FFF2-40B4-BE49-F238E27FC236}">
                  <a16:creationId xmlns:a16="http://schemas.microsoft.com/office/drawing/2014/main" id="{70F7ABA7-C143-7C46-86CA-6296F7A16DF4}"/>
                </a:ext>
              </a:extLst>
            </p:cNvPr>
            <p:cNvSpPr txBox="1"/>
            <p:nvPr/>
          </p:nvSpPr>
          <p:spPr>
            <a:xfrm>
              <a:off x="3657600" y="2074896"/>
              <a:ext cx="2203768" cy="335528"/>
            </a:xfrm>
            <a:prstGeom prst="rect">
              <a:avLst/>
            </a:prstGeom>
            <a:solidFill>
              <a:schemeClr val="bg1"/>
            </a:solidFill>
            <a:ln>
              <a:solidFill>
                <a:srgbClr val="7030A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7" name="TextBox 16">
              <a:extLst>
                <a:ext uri="{FF2B5EF4-FFF2-40B4-BE49-F238E27FC236}">
                  <a16:creationId xmlns:a16="http://schemas.microsoft.com/office/drawing/2014/main" id="{46F0C466-8205-3740-90E8-EA5BEAF964E1}"/>
                </a:ext>
              </a:extLst>
            </p:cNvPr>
            <p:cNvSpPr txBox="1">
              <a:spLocks noChangeAspect="1"/>
            </p:cNvSpPr>
            <p:nvPr/>
          </p:nvSpPr>
          <p:spPr>
            <a:xfrm>
              <a:off x="3657599" y="1716154"/>
              <a:ext cx="2211388" cy="358742"/>
            </a:xfrm>
            <a:prstGeom prst="rect">
              <a:avLst/>
            </a:prstGeom>
            <a:solidFill>
              <a:srgbClr val="7030A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Teacher Cue</a:t>
              </a:r>
            </a:p>
          </p:txBody>
        </p:sp>
      </p:grpSp>
      <p:grpSp>
        <p:nvGrpSpPr>
          <p:cNvPr id="18" name="Group 17">
            <a:extLst>
              <a:ext uri="{FF2B5EF4-FFF2-40B4-BE49-F238E27FC236}">
                <a16:creationId xmlns:a16="http://schemas.microsoft.com/office/drawing/2014/main" id="{5D76B007-0E44-6A4D-9F32-5BCC1A853A63}"/>
              </a:ext>
            </a:extLst>
          </p:cNvPr>
          <p:cNvGrpSpPr/>
          <p:nvPr/>
        </p:nvGrpSpPr>
        <p:grpSpPr>
          <a:xfrm>
            <a:off x="585788" y="4330276"/>
            <a:ext cx="2211388" cy="605005"/>
            <a:chOff x="3657599" y="1716154"/>
            <a:chExt cx="2211388" cy="694270"/>
          </a:xfrm>
        </p:grpSpPr>
        <p:sp>
          <p:nvSpPr>
            <p:cNvPr id="19" name="TextBox 18">
              <a:extLst>
                <a:ext uri="{FF2B5EF4-FFF2-40B4-BE49-F238E27FC236}">
                  <a16:creationId xmlns:a16="http://schemas.microsoft.com/office/drawing/2014/main" id="{82864B2E-AA68-634B-9CDD-F8704C7476A6}"/>
                </a:ext>
              </a:extLst>
            </p:cNvPr>
            <p:cNvSpPr txBox="1"/>
            <p:nvPr/>
          </p:nvSpPr>
          <p:spPr>
            <a:xfrm>
              <a:off x="3657600" y="2074896"/>
              <a:ext cx="2203768" cy="335528"/>
            </a:xfrm>
            <a:prstGeom prst="rect">
              <a:avLst/>
            </a:prstGeom>
            <a:solidFill>
              <a:schemeClr val="bg1"/>
            </a:solidFill>
            <a:ln>
              <a:solidFill>
                <a:srgbClr val="A14986"/>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0" name="TextBox 19">
              <a:extLst>
                <a:ext uri="{FF2B5EF4-FFF2-40B4-BE49-F238E27FC236}">
                  <a16:creationId xmlns:a16="http://schemas.microsoft.com/office/drawing/2014/main" id="{5F8DCD99-8091-1141-9BDD-119B197F1ABD}"/>
                </a:ext>
              </a:extLst>
            </p:cNvPr>
            <p:cNvSpPr txBox="1">
              <a:spLocks noChangeAspect="1"/>
            </p:cNvSpPr>
            <p:nvPr/>
          </p:nvSpPr>
          <p:spPr>
            <a:xfrm>
              <a:off x="3657599" y="1716154"/>
              <a:ext cx="2211388" cy="358742"/>
            </a:xfrm>
            <a:prstGeom prst="rect">
              <a:avLst/>
            </a:prstGeom>
            <a:solidFill>
              <a:srgbClr val="A14986"/>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Vocabulary</a:t>
              </a:r>
            </a:p>
          </p:txBody>
        </p:sp>
      </p:grpSp>
      <p:grpSp>
        <p:nvGrpSpPr>
          <p:cNvPr id="21" name="Group 20">
            <a:extLst>
              <a:ext uri="{FF2B5EF4-FFF2-40B4-BE49-F238E27FC236}">
                <a16:creationId xmlns:a16="http://schemas.microsoft.com/office/drawing/2014/main" id="{B7EC573C-DF9B-4149-B93E-C84A68B91219}"/>
              </a:ext>
            </a:extLst>
          </p:cNvPr>
          <p:cNvGrpSpPr/>
          <p:nvPr/>
        </p:nvGrpSpPr>
        <p:grpSpPr>
          <a:xfrm>
            <a:off x="4789392" y="4330276"/>
            <a:ext cx="2211388" cy="605005"/>
            <a:chOff x="3657599" y="1716154"/>
            <a:chExt cx="2211388" cy="694270"/>
          </a:xfrm>
        </p:grpSpPr>
        <p:sp>
          <p:nvSpPr>
            <p:cNvPr id="22" name="TextBox 21">
              <a:extLst>
                <a:ext uri="{FF2B5EF4-FFF2-40B4-BE49-F238E27FC236}">
                  <a16:creationId xmlns:a16="http://schemas.microsoft.com/office/drawing/2014/main" id="{AAA8DC77-61C2-1646-844D-7C8801AE2FE1}"/>
                </a:ext>
              </a:extLst>
            </p:cNvPr>
            <p:cNvSpPr txBox="1"/>
            <p:nvPr/>
          </p:nvSpPr>
          <p:spPr>
            <a:xfrm>
              <a:off x="3657600" y="2074896"/>
              <a:ext cx="2203768" cy="335528"/>
            </a:xfrm>
            <a:prstGeom prst="rect">
              <a:avLst/>
            </a:prstGeom>
            <a:solidFill>
              <a:schemeClr val="bg1"/>
            </a:solidFill>
            <a:ln>
              <a:solidFill>
                <a:srgbClr val="00206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3" name="TextBox 22">
              <a:extLst>
                <a:ext uri="{FF2B5EF4-FFF2-40B4-BE49-F238E27FC236}">
                  <a16:creationId xmlns:a16="http://schemas.microsoft.com/office/drawing/2014/main" id="{EF98E954-83A2-F349-B2E8-A0C0B298A610}"/>
                </a:ext>
              </a:extLst>
            </p:cNvPr>
            <p:cNvSpPr txBox="1">
              <a:spLocks noChangeAspect="1"/>
            </p:cNvSpPr>
            <p:nvPr/>
          </p:nvSpPr>
          <p:spPr>
            <a:xfrm>
              <a:off x="3657599" y="1716154"/>
              <a:ext cx="2211388" cy="358742"/>
            </a:xfrm>
            <a:prstGeom prst="rect">
              <a:avLst/>
            </a:prstGeom>
            <a:solidFill>
              <a:srgbClr val="00206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Extension</a:t>
              </a:r>
            </a:p>
          </p:txBody>
        </p:sp>
      </p:grpSp>
      <p:grpSp>
        <p:nvGrpSpPr>
          <p:cNvPr id="24" name="Group 23">
            <a:extLst>
              <a:ext uri="{FF2B5EF4-FFF2-40B4-BE49-F238E27FC236}">
                <a16:creationId xmlns:a16="http://schemas.microsoft.com/office/drawing/2014/main" id="{EEEB6BC9-DA5D-AD4F-8B19-1DB2CA0B88F0}"/>
              </a:ext>
            </a:extLst>
          </p:cNvPr>
          <p:cNvGrpSpPr/>
          <p:nvPr/>
        </p:nvGrpSpPr>
        <p:grpSpPr>
          <a:xfrm>
            <a:off x="9008234" y="4330276"/>
            <a:ext cx="2211388" cy="605005"/>
            <a:chOff x="3657599" y="1716154"/>
            <a:chExt cx="2211388" cy="694270"/>
          </a:xfrm>
        </p:grpSpPr>
        <p:sp>
          <p:nvSpPr>
            <p:cNvPr id="25" name="TextBox 24">
              <a:extLst>
                <a:ext uri="{FF2B5EF4-FFF2-40B4-BE49-F238E27FC236}">
                  <a16:creationId xmlns:a16="http://schemas.microsoft.com/office/drawing/2014/main" id="{35D64311-E8B8-8147-BC7E-A096BAE76B31}"/>
                </a:ext>
              </a:extLst>
            </p:cNvPr>
            <p:cNvSpPr txBox="1"/>
            <p:nvPr/>
          </p:nvSpPr>
          <p:spPr>
            <a:xfrm>
              <a:off x="3657600" y="2074896"/>
              <a:ext cx="2203768" cy="335528"/>
            </a:xfrm>
            <a:prstGeom prst="rect">
              <a:avLst/>
            </a:prstGeom>
            <a:solidFill>
              <a:schemeClr val="bg1"/>
            </a:solidFill>
            <a:ln>
              <a:solidFill>
                <a:srgbClr val="82202A"/>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6" name="TextBox 25">
              <a:extLst>
                <a:ext uri="{FF2B5EF4-FFF2-40B4-BE49-F238E27FC236}">
                  <a16:creationId xmlns:a16="http://schemas.microsoft.com/office/drawing/2014/main" id="{59404963-6AA4-0D4E-B429-287F2358D66E}"/>
                </a:ext>
              </a:extLst>
            </p:cNvPr>
            <p:cNvSpPr txBox="1">
              <a:spLocks noChangeAspect="1"/>
            </p:cNvSpPr>
            <p:nvPr/>
          </p:nvSpPr>
          <p:spPr>
            <a:xfrm>
              <a:off x="3657599" y="1716154"/>
              <a:ext cx="2211388" cy="358742"/>
            </a:xfrm>
            <a:prstGeom prst="rect">
              <a:avLst/>
            </a:prstGeom>
            <a:solidFill>
              <a:srgbClr val="82202A"/>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Hints</a:t>
              </a:r>
            </a:p>
          </p:txBody>
        </p:sp>
      </p:grpSp>
      <p:pic>
        <p:nvPicPr>
          <p:cNvPr id="27" name="Picture 26">
            <a:extLst>
              <a:ext uri="{FF2B5EF4-FFF2-40B4-BE49-F238E27FC236}">
                <a16:creationId xmlns:a16="http://schemas.microsoft.com/office/drawing/2014/main" id="{6441AD50-A0E6-A849-812F-45DF6E919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407" y="5247898"/>
            <a:ext cx="1915320" cy="1467184"/>
          </a:xfrm>
          <a:prstGeom prst="rect">
            <a:avLst/>
          </a:prstGeom>
        </p:spPr>
      </p:pic>
      <p:pic>
        <p:nvPicPr>
          <p:cNvPr id="28" name="Picture 27">
            <a:extLst>
              <a:ext uri="{FF2B5EF4-FFF2-40B4-BE49-F238E27FC236}">
                <a16:creationId xmlns:a16="http://schemas.microsoft.com/office/drawing/2014/main" id="{4EB402F8-97D8-EA40-97D9-5FEC38AF5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0166" y="5392057"/>
            <a:ext cx="2082391" cy="1487422"/>
          </a:xfrm>
          <a:prstGeom prst="rect">
            <a:avLst/>
          </a:prstGeom>
        </p:spPr>
      </p:pic>
      <p:pic>
        <p:nvPicPr>
          <p:cNvPr id="29" name="Picture 28">
            <a:extLst>
              <a:ext uri="{FF2B5EF4-FFF2-40B4-BE49-F238E27FC236}">
                <a16:creationId xmlns:a16="http://schemas.microsoft.com/office/drawing/2014/main" id="{4E3BD12B-95B6-0949-A450-794644558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5981490"/>
            <a:ext cx="2402928" cy="800976"/>
          </a:xfrm>
          <a:prstGeom prst="rect">
            <a:avLst/>
          </a:prstGeom>
        </p:spPr>
      </p:pic>
    </p:spTree>
    <p:extLst>
      <p:ext uri="{BB962C8B-B14F-4D97-AF65-F5344CB8AC3E}">
        <p14:creationId xmlns:p14="http://schemas.microsoft.com/office/powerpoint/2010/main" val="176028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080201-3C96-D346-8695-6CB19D8763B1}"/>
              </a:ext>
            </a:extLst>
          </p:cNvPr>
          <p:cNvSpPr>
            <a:spLocks noGrp="1"/>
          </p:cNvSpPr>
          <p:nvPr>
            <p:ph type="body" sz="quarter" idx="15"/>
          </p:nvPr>
        </p:nvSpPr>
        <p:spPr/>
        <p:txBody>
          <a:bodyPr/>
          <a:lstStyle/>
          <a:p>
            <a:endParaRPr lang="en-US" dirty="0"/>
          </a:p>
        </p:txBody>
      </p:sp>
      <p:pic>
        <p:nvPicPr>
          <p:cNvPr id="4" name="Picture 3" descr="A screenshot of a cell phone&#10;&#10;Description automatically generated">
            <a:extLst>
              <a:ext uri="{FF2B5EF4-FFF2-40B4-BE49-F238E27FC236}">
                <a16:creationId xmlns:a16="http://schemas.microsoft.com/office/drawing/2014/main" id="{BA0F9D9E-3E27-474A-BE29-C966F70A8AFE}"/>
              </a:ext>
            </a:extLst>
          </p:cNvPr>
          <p:cNvPicPr>
            <a:picLocks noChangeAspect="1"/>
          </p:cNvPicPr>
          <p:nvPr/>
        </p:nvPicPr>
        <p:blipFill>
          <a:blip r:embed="rId2"/>
          <a:stretch>
            <a:fillRect/>
          </a:stretch>
        </p:blipFill>
        <p:spPr>
          <a:xfrm>
            <a:off x="0" y="0"/>
            <a:ext cx="5280660" cy="6858000"/>
          </a:xfrm>
          <a:prstGeom prst="rect">
            <a:avLst/>
          </a:prstGeom>
        </p:spPr>
      </p:pic>
      <p:pic>
        <p:nvPicPr>
          <p:cNvPr id="5" name="Picture 4" descr="A screenshot of a social media post&#10;&#10;Description automatically generated">
            <a:extLst>
              <a:ext uri="{FF2B5EF4-FFF2-40B4-BE49-F238E27FC236}">
                <a16:creationId xmlns:a16="http://schemas.microsoft.com/office/drawing/2014/main" id="{1941C7AF-B33F-AC4D-A8BD-FE95C5E51F18}"/>
              </a:ext>
            </a:extLst>
          </p:cNvPr>
          <p:cNvPicPr>
            <a:picLocks noChangeAspect="1"/>
          </p:cNvPicPr>
          <p:nvPr/>
        </p:nvPicPr>
        <p:blipFill>
          <a:blip r:embed="rId3"/>
          <a:stretch>
            <a:fillRect/>
          </a:stretch>
        </p:blipFill>
        <p:spPr>
          <a:xfrm>
            <a:off x="5280660" y="1356415"/>
            <a:ext cx="6741570" cy="4011233"/>
          </a:xfrm>
          <a:prstGeom prst="rect">
            <a:avLst/>
          </a:prstGeom>
        </p:spPr>
      </p:pic>
    </p:spTree>
    <p:extLst>
      <p:ext uri="{BB962C8B-B14F-4D97-AF65-F5344CB8AC3E}">
        <p14:creationId xmlns:p14="http://schemas.microsoft.com/office/powerpoint/2010/main" val="2810007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Heating in Cooling in Houses</a:t>
            </a:r>
            <a:endParaRPr lang="en-AU" sz="3500" dirty="0"/>
          </a:p>
        </p:txBody>
      </p:sp>
      <p:sp>
        <p:nvSpPr>
          <p:cNvPr id="4" name="TextBox 3">
            <a:extLst>
              <a:ext uri="{FF2B5EF4-FFF2-40B4-BE49-F238E27FC236}">
                <a16:creationId xmlns:a16="http://schemas.microsoft.com/office/drawing/2014/main" id="{1A017BC5-F8AF-D549-A4EB-023C39690555}"/>
              </a:ext>
            </a:extLst>
          </p:cNvPr>
          <p:cNvSpPr txBox="1"/>
          <p:nvPr/>
        </p:nvSpPr>
        <p:spPr>
          <a:xfrm>
            <a:off x="623455" y="1371599"/>
            <a:ext cx="10882745" cy="1938992"/>
          </a:xfrm>
          <a:prstGeom prst="rect">
            <a:avLst/>
          </a:prstGeom>
          <a:noFill/>
        </p:spPr>
        <p:txBody>
          <a:bodyPr wrap="square" rtlCol="0">
            <a:spAutoFit/>
          </a:bodyPr>
          <a:lstStyle/>
          <a:p>
            <a:r>
              <a:rPr lang="en-US" sz="2400" dirty="0">
                <a:latin typeface="Arial Rounded MT Bold" panose="020F0704030504030204" pitchFamily="34" charset="77"/>
              </a:rPr>
              <a:t>When building a house the main goal is to allow the house to remain cool in the summer and cool in the winter.</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This is achieved by placing items in the house that prevent heat from entering and leaving the house. </a:t>
            </a:r>
          </a:p>
        </p:txBody>
      </p:sp>
    </p:spTree>
    <p:extLst>
      <p:ext uri="{BB962C8B-B14F-4D97-AF65-F5344CB8AC3E}">
        <p14:creationId xmlns:p14="http://schemas.microsoft.com/office/powerpoint/2010/main" val="2654498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Insulation</a:t>
            </a:r>
            <a:endParaRPr lang="en-AU" sz="3500" dirty="0"/>
          </a:p>
        </p:txBody>
      </p:sp>
      <p:sp>
        <p:nvSpPr>
          <p:cNvPr id="4" name="TextBox 3">
            <a:extLst>
              <a:ext uri="{FF2B5EF4-FFF2-40B4-BE49-F238E27FC236}">
                <a16:creationId xmlns:a16="http://schemas.microsoft.com/office/drawing/2014/main" id="{1A017BC5-F8AF-D549-A4EB-023C39690555}"/>
              </a:ext>
            </a:extLst>
          </p:cNvPr>
          <p:cNvSpPr txBox="1"/>
          <p:nvPr/>
        </p:nvSpPr>
        <p:spPr>
          <a:xfrm>
            <a:off x="5384800" y="1371599"/>
            <a:ext cx="6121400" cy="3416320"/>
          </a:xfrm>
          <a:prstGeom prst="rect">
            <a:avLst/>
          </a:prstGeom>
          <a:noFill/>
        </p:spPr>
        <p:txBody>
          <a:bodyPr wrap="square" rtlCol="0">
            <a:spAutoFit/>
          </a:bodyPr>
          <a:lstStyle/>
          <a:p>
            <a:r>
              <a:rPr lang="en-US" sz="2400" dirty="0">
                <a:latin typeface="Arial Rounded MT Bold" panose="020F0704030504030204" pitchFamily="34" charset="77"/>
              </a:rPr>
              <a:t>Insulation is a poor conductor of heat and acts as a barrier for the heat. Insulation is found in walls and ceilings.</a:t>
            </a:r>
          </a:p>
          <a:p>
            <a:endParaRPr lang="en-US" sz="2400" dirty="0">
              <a:latin typeface="Arial Rounded MT Bold" panose="020F0704030504030204" pitchFamily="34" charset="77"/>
            </a:endParaRPr>
          </a:p>
          <a:p>
            <a:r>
              <a:rPr lang="en-US" sz="2400" dirty="0">
                <a:latin typeface="Arial Rounded MT Bold" panose="020F0704030504030204" pitchFamily="34" charset="77"/>
              </a:rPr>
              <a:t>In summer it prevents heat from entering the house in summer.</a:t>
            </a:r>
          </a:p>
          <a:p>
            <a:endParaRPr lang="en-US" sz="2400" dirty="0">
              <a:latin typeface="Arial Rounded MT Bold" panose="020F0704030504030204" pitchFamily="34" charset="77"/>
            </a:endParaRPr>
          </a:p>
          <a:p>
            <a:r>
              <a:rPr lang="en-US" sz="2400" dirty="0">
                <a:latin typeface="Arial Rounded MT Bold" panose="020F0704030504030204" pitchFamily="34" charset="77"/>
              </a:rPr>
              <a:t>Prevents heat from leaving the house in winter.</a:t>
            </a:r>
          </a:p>
        </p:txBody>
      </p:sp>
      <p:pic>
        <p:nvPicPr>
          <p:cNvPr id="5" name="Picture 4" descr="A picture containing person, clothes&#10;&#10;Description automatically generated">
            <a:extLst>
              <a:ext uri="{FF2B5EF4-FFF2-40B4-BE49-F238E27FC236}">
                <a16:creationId xmlns:a16="http://schemas.microsoft.com/office/drawing/2014/main" id="{C2E189BC-9F57-874C-8D30-F9E13F54776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2252" y="863600"/>
            <a:ext cx="5352548" cy="5130800"/>
          </a:xfrm>
          <a:prstGeom prst="rect">
            <a:avLst/>
          </a:prstGeom>
        </p:spPr>
      </p:pic>
      <p:sp>
        <p:nvSpPr>
          <p:cNvPr id="6" name="TextBox 5">
            <a:extLst>
              <a:ext uri="{FF2B5EF4-FFF2-40B4-BE49-F238E27FC236}">
                <a16:creationId xmlns:a16="http://schemas.microsoft.com/office/drawing/2014/main" id="{18512DE8-2DBC-1D4E-94C9-51C13B2B0FF5}"/>
              </a:ext>
            </a:extLst>
          </p:cNvPr>
          <p:cNvSpPr txBox="1"/>
          <p:nvPr/>
        </p:nvSpPr>
        <p:spPr>
          <a:xfrm>
            <a:off x="2518802" y="6858000"/>
            <a:ext cx="7154396" cy="230832"/>
          </a:xfrm>
          <a:prstGeom prst="rect">
            <a:avLst/>
          </a:prstGeom>
          <a:noFill/>
        </p:spPr>
        <p:txBody>
          <a:bodyPr wrap="square" rtlCol="0">
            <a:spAutoFit/>
          </a:bodyPr>
          <a:lstStyle/>
          <a:p>
            <a:r>
              <a:rPr lang="en-US" sz="900">
                <a:hlinkClick r:id="rId4" tooltip="https://diy.stackexchange.com/questions/17096/whats-the-best-way-to-keep-my-garage-from-freezing"/>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1075132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Eaves and Trees </a:t>
            </a:r>
            <a:endParaRPr lang="en-AU" sz="3500" dirty="0"/>
          </a:p>
        </p:txBody>
      </p:sp>
      <p:sp>
        <p:nvSpPr>
          <p:cNvPr id="4" name="TextBox 3">
            <a:extLst>
              <a:ext uri="{FF2B5EF4-FFF2-40B4-BE49-F238E27FC236}">
                <a16:creationId xmlns:a16="http://schemas.microsoft.com/office/drawing/2014/main" id="{1A017BC5-F8AF-D549-A4EB-023C39690555}"/>
              </a:ext>
            </a:extLst>
          </p:cNvPr>
          <p:cNvSpPr txBox="1"/>
          <p:nvPr/>
        </p:nvSpPr>
        <p:spPr>
          <a:xfrm>
            <a:off x="5384800" y="1371599"/>
            <a:ext cx="6121400" cy="4893647"/>
          </a:xfrm>
          <a:prstGeom prst="rect">
            <a:avLst/>
          </a:prstGeom>
          <a:noFill/>
        </p:spPr>
        <p:txBody>
          <a:bodyPr wrap="square" rtlCol="0">
            <a:spAutoFit/>
          </a:bodyPr>
          <a:lstStyle/>
          <a:p>
            <a:r>
              <a:rPr lang="en-US" sz="2400" dirty="0">
                <a:latin typeface="Arial Rounded MT Bold" panose="020F0704030504030204" pitchFamily="34" charset="77"/>
              </a:rPr>
              <a:t>Eaves are the an extension of the roof over the walls. </a:t>
            </a:r>
          </a:p>
          <a:p>
            <a:endParaRPr lang="en-US" sz="2400" dirty="0">
              <a:latin typeface="Arial Rounded MT Bold" panose="020F0704030504030204" pitchFamily="34" charset="77"/>
            </a:endParaRPr>
          </a:p>
          <a:p>
            <a:r>
              <a:rPr lang="en-US" sz="2400" dirty="0">
                <a:latin typeface="Arial Rounded MT Bold" panose="020F0704030504030204" pitchFamily="34" charset="77"/>
              </a:rPr>
              <a:t>In summer, the eaves and trees provide shade over the walls and windows which prevent the transfer of heat through radiation.</a:t>
            </a:r>
          </a:p>
          <a:p>
            <a:endParaRPr lang="en-US" sz="2400" dirty="0">
              <a:latin typeface="Arial Rounded MT Bold" panose="020F0704030504030204" pitchFamily="34" charset="77"/>
            </a:endParaRPr>
          </a:p>
          <a:p>
            <a:endParaRPr lang="en-US" sz="2400" dirty="0">
              <a:latin typeface="Arial Rounded MT Bold" panose="020F0704030504030204" pitchFamily="34" charset="77"/>
            </a:endParaRPr>
          </a:p>
          <a:p>
            <a:r>
              <a:rPr lang="en-US" sz="2400" dirty="0">
                <a:latin typeface="Arial Rounded MT Bold" panose="020F0704030504030204" pitchFamily="34" charset="77"/>
              </a:rPr>
              <a:t>Eaves can trap heat in the winter, which reduces heat loss.</a:t>
            </a:r>
          </a:p>
          <a:p>
            <a:endParaRPr lang="en-US" sz="2400" dirty="0">
              <a:latin typeface="Arial Rounded MT Bold" panose="020F0704030504030204" pitchFamily="34" charset="77"/>
            </a:endParaRPr>
          </a:p>
          <a:p>
            <a:endParaRPr lang="en-US" sz="2400" dirty="0">
              <a:latin typeface="Arial Rounded MT Bold" panose="020F0704030504030204" pitchFamily="34" charset="77"/>
            </a:endParaRPr>
          </a:p>
        </p:txBody>
      </p:sp>
      <p:pic>
        <p:nvPicPr>
          <p:cNvPr id="7" name="Picture 6" descr="A picture containing building&#10;&#10;Description automatically generated">
            <a:extLst>
              <a:ext uri="{FF2B5EF4-FFF2-40B4-BE49-F238E27FC236}">
                <a16:creationId xmlns:a16="http://schemas.microsoft.com/office/drawing/2014/main" id="{B0C7797A-1809-654E-81B1-14F6E041423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60350" y="768552"/>
            <a:ext cx="3397250" cy="2545673"/>
          </a:xfrm>
          <a:prstGeom prst="rect">
            <a:avLst/>
          </a:prstGeom>
        </p:spPr>
      </p:pic>
      <p:sp>
        <p:nvSpPr>
          <p:cNvPr id="8" name="TextBox 7">
            <a:extLst>
              <a:ext uri="{FF2B5EF4-FFF2-40B4-BE49-F238E27FC236}">
                <a16:creationId xmlns:a16="http://schemas.microsoft.com/office/drawing/2014/main" id="{7597CDD7-0F46-9748-826B-F168C70F7E10}"/>
              </a:ext>
            </a:extLst>
          </p:cNvPr>
          <p:cNvSpPr txBox="1"/>
          <p:nvPr/>
        </p:nvSpPr>
        <p:spPr>
          <a:xfrm>
            <a:off x="260350" y="7677150"/>
            <a:ext cx="4762500" cy="230832"/>
          </a:xfrm>
          <a:prstGeom prst="rect">
            <a:avLst/>
          </a:prstGeom>
          <a:noFill/>
        </p:spPr>
        <p:txBody>
          <a:bodyPr wrap="square" rtlCol="0">
            <a:spAutoFit/>
          </a:bodyPr>
          <a:lstStyle/>
          <a:p>
            <a:r>
              <a:rPr lang="en-US" sz="900">
                <a:hlinkClick r:id="rId4" tooltip="https://en.wikipedia.org/wiki/Soffit"/>
              </a:rPr>
              <a:t>This Photo</a:t>
            </a:r>
            <a:r>
              <a:rPr lang="en-US" sz="900"/>
              <a:t> by Unknown Author is licensed under </a:t>
            </a:r>
            <a:r>
              <a:rPr lang="en-US" sz="900">
                <a:hlinkClick r:id="rId5" tooltip="https://creativecommons.org/licenses/by-sa/3.0/"/>
              </a:rPr>
              <a:t>CC BY-SA</a:t>
            </a:r>
            <a:endParaRPr lang="en-US" sz="900"/>
          </a:p>
        </p:txBody>
      </p:sp>
      <p:pic>
        <p:nvPicPr>
          <p:cNvPr id="10" name="Picture 9" descr="A picture containing tree, outdoor, plant, park&#10;&#10;Description automatically generated">
            <a:extLst>
              <a:ext uri="{FF2B5EF4-FFF2-40B4-BE49-F238E27FC236}">
                <a16:creationId xmlns:a16="http://schemas.microsoft.com/office/drawing/2014/main" id="{9FEEE4F3-F8BC-BE4B-B689-CD964C7BFBD0}"/>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2641600" y="3429000"/>
            <a:ext cx="2177087" cy="2940728"/>
          </a:xfrm>
          <a:prstGeom prst="rect">
            <a:avLst/>
          </a:prstGeom>
        </p:spPr>
      </p:pic>
      <p:sp>
        <p:nvSpPr>
          <p:cNvPr id="11" name="TextBox 10">
            <a:extLst>
              <a:ext uri="{FF2B5EF4-FFF2-40B4-BE49-F238E27FC236}">
                <a16:creationId xmlns:a16="http://schemas.microsoft.com/office/drawing/2014/main" id="{9D768A39-6407-904E-8EA9-BB1C00C74BF8}"/>
              </a:ext>
            </a:extLst>
          </p:cNvPr>
          <p:cNvSpPr txBox="1"/>
          <p:nvPr/>
        </p:nvSpPr>
        <p:spPr>
          <a:xfrm>
            <a:off x="3557434" y="6858000"/>
            <a:ext cx="5077132" cy="230832"/>
          </a:xfrm>
          <a:prstGeom prst="rect">
            <a:avLst/>
          </a:prstGeom>
          <a:noFill/>
        </p:spPr>
        <p:txBody>
          <a:bodyPr wrap="square" rtlCol="0">
            <a:spAutoFit/>
          </a:bodyPr>
          <a:lstStyle/>
          <a:p>
            <a:r>
              <a:rPr lang="en-US" sz="900">
                <a:hlinkClick r:id="rId7" tooltip="https://en.wikipedia.org/wiki/Sorbus_torminalis"/>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299798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Double Glazed Windows </a:t>
            </a:r>
            <a:endParaRPr lang="en-AU" sz="3500" dirty="0"/>
          </a:p>
        </p:txBody>
      </p:sp>
      <p:sp>
        <p:nvSpPr>
          <p:cNvPr id="4" name="TextBox 3">
            <a:extLst>
              <a:ext uri="{FF2B5EF4-FFF2-40B4-BE49-F238E27FC236}">
                <a16:creationId xmlns:a16="http://schemas.microsoft.com/office/drawing/2014/main" id="{1A017BC5-F8AF-D549-A4EB-023C39690555}"/>
              </a:ext>
            </a:extLst>
          </p:cNvPr>
          <p:cNvSpPr txBox="1"/>
          <p:nvPr/>
        </p:nvSpPr>
        <p:spPr>
          <a:xfrm>
            <a:off x="5384800" y="1371599"/>
            <a:ext cx="6121400" cy="4893647"/>
          </a:xfrm>
          <a:prstGeom prst="rect">
            <a:avLst/>
          </a:prstGeom>
          <a:noFill/>
        </p:spPr>
        <p:txBody>
          <a:bodyPr wrap="square" rtlCol="0">
            <a:spAutoFit/>
          </a:bodyPr>
          <a:lstStyle/>
          <a:p>
            <a:r>
              <a:rPr lang="en-US" sz="2400" dirty="0">
                <a:latin typeface="Arial Rounded MT Bold" panose="020F0704030504030204" pitchFamily="34" charset="77"/>
              </a:rPr>
              <a:t>Double glazed windows are insulated windows made of two or more sheets of glass. There is a trapped layer of air between the glass which acts as </a:t>
            </a:r>
            <a:r>
              <a:rPr lang="en-US" sz="2400">
                <a:latin typeface="Arial Rounded MT Bold" panose="020F0704030504030204" pitchFamily="34" charset="77"/>
              </a:rPr>
              <a:t>an insulator.</a:t>
            </a:r>
          </a:p>
          <a:p>
            <a:endParaRPr lang="en-US" sz="2400" dirty="0">
              <a:latin typeface="Arial Rounded MT Bold" panose="020F0704030504030204" pitchFamily="34" charset="77"/>
            </a:endParaRPr>
          </a:p>
          <a:p>
            <a:r>
              <a:rPr lang="en-US" sz="2400" dirty="0">
                <a:latin typeface="Arial Rounded MT Bold" panose="020F0704030504030204" pitchFamily="34" charset="77"/>
              </a:rPr>
              <a:t>In summer this increases the reflection of heat from outside. </a:t>
            </a:r>
          </a:p>
          <a:p>
            <a:endParaRPr lang="en-US" sz="2400" dirty="0">
              <a:latin typeface="Arial Rounded MT Bold" panose="020F0704030504030204" pitchFamily="34" charset="77"/>
            </a:endParaRPr>
          </a:p>
          <a:p>
            <a:r>
              <a:rPr lang="en-US" sz="2400" dirty="0">
                <a:latin typeface="Arial Rounded MT Bold" panose="020F0704030504030204" pitchFamily="34" charset="77"/>
              </a:rPr>
              <a:t>In winter this prevents the heat from inside the house escaping.</a:t>
            </a:r>
          </a:p>
          <a:p>
            <a:endParaRPr lang="en-US" sz="2400" dirty="0">
              <a:latin typeface="Arial Rounded MT Bold" panose="020F0704030504030204" pitchFamily="34" charset="77"/>
            </a:endParaRPr>
          </a:p>
          <a:p>
            <a:endParaRPr lang="en-US" sz="2400" dirty="0">
              <a:latin typeface="Arial Rounded MT Bold" panose="020F0704030504030204" pitchFamily="34" charset="77"/>
            </a:endParaRPr>
          </a:p>
        </p:txBody>
      </p:sp>
      <p:pic>
        <p:nvPicPr>
          <p:cNvPr id="5" name="Picture 4" descr="A picture containing text, stationary&#10;&#10;Description automatically generated">
            <a:extLst>
              <a:ext uri="{FF2B5EF4-FFF2-40B4-BE49-F238E27FC236}">
                <a16:creationId xmlns:a16="http://schemas.microsoft.com/office/drawing/2014/main" id="{24941B05-5041-864B-BEDA-BEEF2A3F23C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75292" y="1684823"/>
            <a:ext cx="4460760" cy="3251200"/>
          </a:xfrm>
          <a:prstGeom prst="rect">
            <a:avLst/>
          </a:prstGeom>
        </p:spPr>
      </p:pic>
      <p:sp>
        <p:nvSpPr>
          <p:cNvPr id="6" name="TextBox 5">
            <a:extLst>
              <a:ext uri="{FF2B5EF4-FFF2-40B4-BE49-F238E27FC236}">
                <a16:creationId xmlns:a16="http://schemas.microsoft.com/office/drawing/2014/main" id="{FB31A1CD-81F3-A64B-8812-2200097142F2}"/>
              </a:ext>
            </a:extLst>
          </p:cNvPr>
          <p:cNvSpPr txBox="1"/>
          <p:nvPr/>
        </p:nvSpPr>
        <p:spPr>
          <a:xfrm>
            <a:off x="1391292" y="6858000"/>
            <a:ext cx="9409416" cy="230832"/>
          </a:xfrm>
          <a:prstGeom prst="rect">
            <a:avLst/>
          </a:prstGeom>
          <a:noFill/>
        </p:spPr>
        <p:txBody>
          <a:bodyPr wrap="square" rtlCol="0">
            <a:spAutoFit/>
          </a:bodyPr>
          <a:lstStyle/>
          <a:p>
            <a:r>
              <a:rPr lang="en-US" sz="900">
                <a:hlinkClick r:id="rId4" tooltip="http://www.casver.com.au/benefit-of-double-glazing/"/>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2560237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Blinds</a:t>
            </a:r>
            <a:endParaRPr lang="en-AU" sz="3500" dirty="0"/>
          </a:p>
        </p:txBody>
      </p:sp>
      <p:sp>
        <p:nvSpPr>
          <p:cNvPr id="4" name="TextBox 3">
            <a:extLst>
              <a:ext uri="{FF2B5EF4-FFF2-40B4-BE49-F238E27FC236}">
                <a16:creationId xmlns:a16="http://schemas.microsoft.com/office/drawing/2014/main" id="{1A017BC5-F8AF-D549-A4EB-023C39690555}"/>
              </a:ext>
            </a:extLst>
          </p:cNvPr>
          <p:cNvSpPr txBox="1"/>
          <p:nvPr/>
        </p:nvSpPr>
        <p:spPr>
          <a:xfrm>
            <a:off x="5384800" y="1371599"/>
            <a:ext cx="6121400" cy="5262979"/>
          </a:xfrm>
          <a:prstGeom prst="rect">
            <a:avLst/>
          </a:prstGeom>
          <a:noFill/>
        </p:spPr>
        <p:txBody>
          <a:bodyPr wrap="square" rtlCol="0">
            <a:spAutoFit/>
          </a:bodyPr>
          <a:lstStyle/>
          <a:p>
            <a:r>
              <a:rPr lang="en-US" sz="2400" dirty="0">
                <a:latin typeface="Arial Rounded MT Bold" panose="020F0704030504030204" pitchFamily="34" charset="77"/>
              </a:rPr>
              <a:t>Highly reflective blinds, in the right </a:t>
            </a:r>
            <a:r>
              <a:rPr lang="en-AU" sz="2400" dirty="0">
                <a:latin typeface="Arial Rounded MT Bold" panose="020F0704030504030204" pitchFamily="34" charset="77"/>
              </a:rPr>
              <a:t>colour</a:t>
            </a:r>
            <a:r>
              <a:rPr lang="en-US" sz="2400" dirty="0">
                <a:latin typeface="Arial Rounded MT Bold" panose="020F0704030504030204" pitchFamily="34" charset="77"/>
              </a:rPr>
              <a:t> can reduce heat transfer in the house by 77%.</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white </a:t>
            </a:r>
            <a:r>
              <a:rPr lang="en-AU" sz="2400" dirty="0">
                <a:latin typeface="Arial Rounded MT Bold" panose="020F0704030504030204" pitchFamily="34" charset="77"/>
              </a:rPr>
              <a:t>colouring</a:t>
            </a:r>
            <a:r>
              <a:rPr lang="en-US" sz="2400" dirty="0">
                <a:latin typeface="Arial Rounded MT Bold" panose="020F0704030504030204" pitchFamily="34" charset="77"/>
              </a:rPr>
              <a:t> allows for the reflection of heat. The reflectiveness on the blinds also helps to reflect the heat from entering.</a:t>
            </a:r>
          </a:p>
          <a:p>
            <a:endParaRPr lang="en-US" sz="2400" dirty="0">
              <a:latin typeface="Arial Rounded MT Bold" panose="020F0704030504030204" pitchFamily="34" charset="77"/>
            </a:endParaRPr>
          </a:p>
          <a:p>
            <a:r>
              <a:rPr lang="en-US" sz="2400" dirty="0">
                <a:latin typeface="Arial Rounded MT Bold" panose="020F0704030504030204" pitchFamily="34" charset="77"/>
              </a:rPr>
              <a:t>Blinds prevent heat from entering the house through summer and heat from leaving during winter.</a:t>
            </a:r>
          </a:p>
          <a:p>
            <a:endParaRPr lang="en-US" sz="2400" dirty="0">
              <a:latin typeface="Arial Rounded MT Bold" panose="020F0704030504030204" pitchFamily="34" charset="77"/>
            </a:endParaRPr>
          </a:p>
          <a:p>
            <a:endParaRPr lang="en-US" sz="2400" dirty="0">
              <a:latin typeface="Arial Rounded MT Bold" panose="020F0704030504030204" pitchFamily="34" charset="77"/>
            </a:endParaRPr>
          </a:p>
        </p:txBody>
      </p:sp>
      <p:pic>
        <p:nvPicPr>
          <p:cNvPr id="7" name="Picture 6" descr="A picture containing window blind, building&#10;&#10;Description automatically generated">
            <a:extLst>
              <a:ext uri="{FF2B5EF4-FFF2-40B4-BE49-F238E27FC236}">
                <a16:creationId xmlns:a16="http://schemas.microsoft.com/office/drawing/2014/main" id="{600AD453-2104-F14A-A4C5-0E0ECCF42E4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5800" y="1701800"/>
            <a:ext cx="4108626" cy="3088183"/>
          </a:xfrm>
          <a:prstGeom prst="rect">
            <a:avLst/>
          </a:prstGeom>
        </p:spPr>
      </p:pic>
    </p:spTree>
    <p:extLst>
      <p:ext uri="{BB962C8B-B14F-4D97-AF65-F5344CB8AC3E}">
        <p14:creationId xmlns:p14="http://schemas.microsoft.com/office/powerpoint/2010/main" val="1763061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0" id="{AD692A73-123A-CB44-B0E5-2F0FF0A408B0}" vid="{7DF892D5-A8BF-3243-A28C-CECEB0530C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TotalTime>
  <Words>420</Words>
  <Application>Microsoft Macintosh PowerPoint</Application>
  <PresentationFormat>Widescreen</PresentationFormat>
  <Paragraphs>48</Paragraphs>
  <Slides>8</Slides>
  <Notes>6</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Arial Rounded MT Bold</vt:lpstr>
      <vt:lpstr>Calibri</vt:lpstr>
      <vt:lpstr>Calibri Light</vt:lpstr>
      <vt:lpstr>Century Gothic</vt:lpstr>
      <vt:lpstr>Futura Medium</vt:lpstr>
      <vt:lpstr>Verdana</vt:lpstr>
      <vt:lpstr>Office Theme</vt:lpstr>
      <vt:lpstr>Features in the house to help with heat transfer Year 11 Physics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Features in the house to help with heat transfer Year 11 Physics</dc:title>
  <dc:creator>Maria Harris</dc:creator>
  <cp:lastModifiedBy>Maria Harris</cp:lastModifiedBy>
  <cp:revision>7</cp:revision>
  <dcterms:created xsi:type="dcterms:W3CDTF">2021-03-08T09:35:18Z</dcterms:created>
  <dcterms:modified xsi:type="dcterms:W3CDTF">2021-03-09T01:50:14Z</dcterms:modified>
</cp:coreProperties>
</file>
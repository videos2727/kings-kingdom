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7B68-E776-4E72-B0BA-50AEC3BABF96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CE9B-3883-4242-A893-91B4EAE8A4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0388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7B68-E776-4E72-B0BA-50AEC3BABF96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CE9B-3883-4242-A893-91B4EAE8A4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8692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7B68-E776-4E72-B0BA-50AEC3BABF96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CE9B-3883-4242-A893-91B4EAE8A4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626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7B68-E776-4E72-B0BA-50AEC3BABF96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CE9B-3883-4242-A893-91B4EAE8A4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1665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7B68-E776-4E72-B0BA-50AEC3BABF96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CE9B-3883-4242-A893-91B4EAE8A4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1334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7B68-E776-4E72-B0BA-50AEC3BABF96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CE9B-3883-4242-A893-91B4EAE8A4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1224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7B68-E776-4E72-B0BA-50AEC3BABF96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CE9B-3883-4242-A893-91B4EAE8A4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9092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7B68-E776-4E72-B0BA-50AEC3BABF96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CE9B-3883-4242-A893-91B4EAE8A4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2017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7B68-E776-4E72-B0BA-50AEC3BABF96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CE9B-3883-4242-A893-91B4EAE8A4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9620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7B68-E776-4E72-B0BA-50AEC3BABF96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CE9B-3883-4242-A893-91B4EAE8A4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6511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7B68-E776-4E72-B0BA-50AEC3BABF96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CE9B-3883-4242-A893-91B4EAE8A4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0578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B7B68-E776-4E72-B0BA-50AEC3BABF96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CE9B-3883-4242-A893-91B4EAE8A4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074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pisA4O7jw34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Periodic Trends- Ionisation Energy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5231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9600" y="438140"/>
            <a:ext cx="1092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In this Smart Lesson you will learn to:</a:t>
            </a:r>
          </a:p>
          <a:p>
            <a:endParaRPr lang="en-AU" sz="2400" dirty="0" smtClean="0"/>
          </a:p>
          <a:p>
            <a:r>
              <a:rPr lang="en-AU" sz="2400" dirty="0" smtClean="0"/>
              <a:t> • Describe the property of atoms known as ionisation energy.</a:t>
            </a:r>
          </a:p>
          <a:p>
            <a:endParaRPr lang="en-AU" sz="2400" dirty="0" smtClean="0"/>
          </a:p>
          <a:p>
            <a:r>
              <a:rPr lang="en-AU" sz="2400" dirty="0" smtClean="0"/>
              <a:t>• Explain how an atom's ionisation energy can be estimated based on its position in the periodic table.</a:t>
            </a:r>
            <a:endParaRPr lang="en-AU" sz="2400" dirty="0"/>
          </a:p>
        </p:txBody>
      </p:sp>
      <p:pic>
        <p:nvPicPr>
          <p:cNvPr id="1028" name="Picture 4" descr="https://www.educationperfect.com/media/content/Science/1441243972.902921g/1441243974601-354747145449453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3443288"/>
            <a:ext cx="6667500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58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425440"/>
            <a:ext cx="11099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Ionisation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another property of an atom that displays a periodic trend.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ionisation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element is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amount of energy required to remove one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valence electron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an atom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its gas form.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expected this follows the same trend as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electronegativity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the same reasons. The atoms with the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highest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ionisation energies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located at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top-right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periodic table,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including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noble gases.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33388349.615131g/1433388350730-30584990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9425" y="4205288"/>
            <a:ext cx="379095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734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98424"/>
            <a:ext cx="11936368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30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7004" y="704334"/>
            <a:ext cx="9823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Periodic trends 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ionisation energy.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9900" y="1846640"/>
            <a:ext cx="111125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Going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down a group,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number of electron shells increases, which means that the valence electrons are found farther from the nucleus and the electrostatic attraction is weaker. This means it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easier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remove the first electron and the first ionisation energy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decreases.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Going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across a period,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number of protons in the nucleus increases, but the distance between the nucleus and valence shell is the same. This means the electrostatic attraction is stronger, making it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harder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remove an electron 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increasing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ionisation energy.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945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sA4O7jw34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364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261035"/>
            <a:ext cx="11607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understand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ionisation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need to understand a bit about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orbitals.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187" y="722700"/>
            <a:ext cx="9040813" cy="260696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1000" y="3432939"/>
            <a:ext cx="11811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now need to know that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idea is slightly wrong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Electrons are found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regions of space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called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orbitals,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this does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mean that they "orbit" the nucleus.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atomic orbital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energy level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a certain shape and size, in which an electron is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highly likely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be found at any point in time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level diagrams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used to describe the energy of atomic orbitals and the location of the electrons.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724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99426" y="221734"/>
            <a:ext cx="42851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 shells and orbitals.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143" y="683399"/>
            <a:ext cx="9129713" cy="252419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2989465"/>
            <a:ext cx="11303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innermost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 shells have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lowest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 the energy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increases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shells get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further away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nucleus. Remember:</a:t>
            </a:r>
            <a:endParaRPr lang="en-AU" sz="2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663790"/>
              </p:ext>
            </p:extLst>
          </p:nvPr>
        </p:nvGraphicFramePr>
        <p:xfrm>
          <a:off x="979355" y="3820462"/>
          <a:ext cx="9117145" cy="1440180"/>
        </p:xfrm>
        <a:graphic>
          <a:graphicData uri="http://schemas.openxmlformats.org/drawingml/2006/table">
            <a:tbl>
              <a:tblPr/>
              <a:tblGrid>
                <a:gridCol w="329354">
                  <a:extLst>
                    <a:ext uri="{9D8B030D-6E8A-4147-A177-3AD203B41FA5}">
                      <a16:colId xmlns:a16="http://schemas.microsoft.com/office/drawing/2014/main" val="175022830"/>
                    </a:ext>
                  </a:extLst>
                </a:gridCol>
                <a:gridCol w="8787791">
                  <a:extLst>
                    <a:ext uri="{9D8B030D-6E8A-4147-A177-3AD203B41FA5}">
                      <a16:colId xmlns:a16="http://schemas.microsoft.com/office/drawing/2014/main" val="24703516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AU" sz="2400">
                          <a:effectLst/>
                        </a:rPr>
                        <a:t>-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The </a:t>
                      </a:r>
                      <a:r>
                        <a:rPr lang="en-AU" sz="2400" b="1" dirty="0">
                          <a:effectLst/>
                        </a:rPr>
                        <a:t>first electron shell</a:t>
                      </a:r>
                      <a:r>
                        <a:rPr lang="en-AU" sz="2400" dirty="0">
                          <a:effectLst/>
                        </a:rPr>
                        <a:t> can contain only </a:t>
                      </a:r>
                      <a:r>
                        <a:rPr lang="en-AU" sz="2400" b="1" dirty="0">
                          <a:effectLst/>
                        </a:rPr>
                        <a:t>two</a:t>
                      </a:r>
                      <a:r>
                        <a:rPr lang="en-AU" sz="2400" dirty="0">
                          <a:effectLst/>
                        </a:rPr>
                        <a:t> electrons.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340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AU" sz="2400">
                          <a:effectLst/>
                        </a:rPr>
                        <a:t>-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The </a:t>
                      </a:r>
                      <a:r>
                        <a:rPr lang="en-AU" sz="2400" b="1" dirty="0">
                          <a:effectLst/>
                        </a:rPr>
                        <a:t>second electron shell</a:t>
                      </a:r>
                      <a:r>
                        <a:rPr lang="en-AU" sz="2400" dirty="0">
                          <a:effectLst/>
                        </a:rPr>
                        <a:t> can contain up to </a:t>
                      </a:r>
                      <a:r>
                        <a:rPr lang="en-AU" sz="2400" b="1" dirty="0">
                          <a:effectLst/>
                          <a:latin typeface="KaTeX_Main"/>
                        </a:rPr>
                        <a:t>8</a:t>
                      </a:r>
                      <a:r>
                        <a:rPr lang="en-AU" sz="2400" dirty="0">
                          <a:effectLst/>
                        </a:rPr>
                        <a:t> electrons.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875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AU" sz="2400">
                          <a:effectLst/>
                        </a:rPr>
                        <a:t>-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The </a:t>
                      </a:r>
                      <a:r>
                        <a:rPr lang="en-AU" sz="2400" b="1" dirty="0">
                          <a:effectLst/>
                        </a:rPr>
                        <a:t>third electron shell</a:t>
                      </a:r>
                      <a:r>
                        <a:rPr lang="en-AU" sz="2400" dirty="0">
                          <a:effectLst/>
                        </a:rPr>
                        <a:t> can contain up to </a:t>
                      </a:r>
                      <a:r>
                        <a:rPr lang="en-AU" sz="2400" b="1" dirty="0">
                          <a:effectLst/>
                          <a:latin typeface="KaTeX_Main"/>
                        </a:rPr>
                        <a:t>18</a:t>
                      </a:r>
                      <a:r>
                        <a:rPr lang="en-AU" sz="2400" dirty="0">
                          <a:effectLst/>
                        </a:rPr>
                        <a:t> electrons.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05739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41300" y="5260642"/>
            <a:ext cx="116332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Within each electron shell, there are </a:t>
            </a:r>
            <a:r>
              <a:rPr lang="en-AU" sz="20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subshells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which are </a:t>
            </a:r>
            <a:r>
              <a:rPr lang="en-AU" sz="20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groups of atomic orbitals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There are four different types of subshell, known as the </a:t>
            </a:r>
            <a:r>
              <a:rPr lang="en-AU" sz="2000" b="1" i="0" dirty="0" err="1" smtClean="0">
                <a:solidFill>
                  <a:srgbClr val="444444"/>
                </a:solidFill>
                <a:effectLst/>
                <a:latin typeface="KaTeX_Main"/>
              </a:rPr>
              <a:t>s</a:t>
            </a:r>
            <a:r>
              <a:rPr lang="en-AU" sz="2000" b="0" i="0" dirty="0" err="1" smtClean="0">
                <a:solidFill>
                  <a:srgbClr val="444444"/>
                </a:solidFill>
                <a:effectLst/>
                <a:latin typeface="KaTeX_Main"/>
              </a:rPr>
              <a:t>,</a:t>
            </a:r>
            <a:r>
              <a:rPr lang="en-AU" sz="2000" b="1" i="0" dirty="0" err="1" smtClean="0">
                <a:solidFill>
                  <a:srgbClr val="444444"/>
                </a:solidFill>
                <a:effectLst/>
                <a:latin typeface="KaTeX_Main"/>
              </a:rPr>
              <a:t>p</a:t>
            </a:r>
            <a:r>
              <a:rPr lang="en-AU" sz="2000" b="0" i="0" dirty="0" err="1" smtClean="0">
                <a:solidFill>
                  <a:srgbClr val="444444"/>
                </a:solidFill>
                <a:effectLst/>
                <a:latin typeface="KaTeX_Main"/>
              </a:rPr>
              <a:t>,</a:t>
            </a:r>
            <a:r>
              <a:rPr lang="en-AU" sz="2000" b="1" i="0" dirty="0" err="1" smtClean="0">
                <a:solidFill>
                  <a:srgbClr val="444444"/>
                </a:solidFill>
                <a:effectLst/>
                <a:latin typeface="KaTeX_Main"/>
              </a:rPr>
              <a:t>d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KaTeX_Main"/>
              </a:rPr>
              <a:t>,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000" b="1" i="0" dirty="0" smtClean="0">
                <a:solidFill>
                  <a:srgbClr val="444444"/>
                </a:solidFill>
                <a:effectLst/>
                <a:latin typeface="KaTeX_Main"/>
              </a:rPr>
              <a:t>f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subshells. Each subshell has a different number of atomic orbitals that make it up, and the atomic orbitals in each subshell have </a:t>
            </a:r>
            <a:r>
              <a:rPr lang="en-AU" sz="20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characteristic shapes.</a:t>
            </a:r>
            <a:endParaRPr lang="en-AU" sz="20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4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00735"/>
            <a:ext cx="112141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D6AF33"/>
                </a:solidFill>
                <a:effectLst/>
                <a:latin typeface="Arial" panose="020B0604020202020204" pitchFamily="34" charset="0"/>
              </a:rPr>
              <a:t>s,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p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orbitals have the shapes shown in the diagram below.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40641611.800791g/1440641613214-4143564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563" y="862400"/>
            <a:ext cx="3810000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73100" y="3586550"/>
            <a:ext cx="108077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you </a:t>
            </a:r>
            <a:r>
              <a:rPr lang="en-AU" sz="20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do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need to know is that </a:t>
            </a:r>
            <a:r>
              <a:rPr lang="en-AU" sz="20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each atomic orbital can hold two electrons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There is always </a:t>
            </a:r>
            <a:r>
              <a:rPr lang="en-AU" sz="20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000" b="1" i="0" dirty="0" smtClean="0">
                <a:solidFill>
                  <a:srgbClr val="444444"/>
                </a:solidFill>
                <a:effectLst/>
                <a:latin typeface="KaTeX_Main"/>
              </a:rPr>
              <a:t>s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orbital, </a:t>
            </a:r>
            <a:r>
              <a:rPr lang="en-AU" sz="20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three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000" b="1" i="0" dirty="0" smtClean="0">
                <a:solidFill>
                  <a:srgbClr val="444444"/>
                </a:solidFill>
                <a:effectLst/>
                <a:latin typeface="KaTeX_Main"/>
              </a:rPr>
              <a:t>p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orbitals, </a:t>
            </a:r>
            <a:r>
              <a:rPr lang="en-AU" sz="20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five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000" b="1" i="0" dirty="0" smtClean="0">
                <a:solidFill>
                  <a:srgbClr val="444444"/>
                </a:solidFill>
                <a:effectLst/>
                <a:latin typeface="KaTeX_Main"/>
              </a:rPr>
              <a:t>d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orbitals, and </a:t>
            </a:r>
            <a:r>
              <a:rPr lang="en-AU" sz="20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seven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000" b="1" i="0" dirty="0" smtClean="0">
                <a:solidFill>
                  <a:srgbClr val="444444"/>
                </a:solidFill>
                <a:effectLst/>
                <a:latin typeface="KaTeX_Main"/>
              </a:rPr>
              <a:t>f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orbitals, but not every energy level (shell) contains every type of orbital, as shown in the diagram below.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0537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841331"/>
              </p:ext>
            </p:extLst>
          </p:nvPr>
        </p:nvGraphicFramePr>
        <p:xfrm>
          <a:off x="857250" y="700564"/>
          <a:ext cx="6089650" cy="3406140"/>
        </p:xfrm>
        <a:graphic>
          <a:graphicData uri="http://schemas.openxmlformats.org/drawingml/2006/table">
            <a:tbl>
              <a:tblPr/>
              <a:tblGrid>
                <a:gridCol w="6089650">
                  <a:extLst>
                    <a:ext uri="{9D8B030D-6E8A-4147-A177-3AD203B41FA5}">
                      <a16:colId xmlns:a16="http://schemas.microsoft.com/office/drawing/2014/main" val="2761457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The </a:t>
                      </a:r>
                      <a:r>
                        <a:rPr lang="en-AU" sz="2400" b="1" dirty="0">
                          <a:effectLst/>
                        </a:rPr>
                        <a:t>first</a:t>
                      </a:r>
                      <a:r>
                        <a:rPr lang="en-AU" sz="2400" dirty="0">
                          <a:effectLst/>
                        </a:rPr>
                        <a:t> energy level (shell) contains only one </a:t>
                      </a:r>
                      <a:r>
                        <a:rPr lang="en-AU" sz="2400" b="1" dirty="0">
                          <a:effectLst/>
                          <a:latin typeface="KaTeX_Main"/>
                        </a:rPr>
                        <a:t>s</a:t>
                      </a:r>
                      <a:r>
                        <a:rPr lang="en-AU" sz="2400" dirty="0">
                          <a:effectLst/>
                        </a:rPr>
                        <a:t> </a:t>
                      </a:r>
                      <a:r>
                        <a:rPr lang="en-AU" sz="2400" b="1" dirty="0">
                          <a:effectLst/>
                        </a:rPr>
                        <a:t>orbital</a:t>
                      </a:r>
                      <a:r>
                        <a:rPr lang="en-AU" sz="2400" dirty="0">
                          <a:effectLst/>
                        </a:rPr>
                        <a:t>, and therefore can contain only </a:t>
                      </a:r>
                      <a:r>
                        <a:rPr lang="en-AU" sz="2400" b="1" dirty="0">
                          <a:effectLst/>
                        </a:rPr>
                        <a:t>two</a:t>
                      </a:r>
                      <a:r>
                        <a:rPr lang="en-AU" sz="2400" dirty="0">
                          <a:effectLst/>
                        </a:rPr>
                        <a:t> electrons. The </a:t>
                      </a:r>
                      <a:r>
                        <a:rPr lang="en-AU" sz="2400" b="1" dirty="0">
                          <a:effectLst/>
                        </a:rPr>
                        <a:t>second</a:t>
                      </a:r>
                      <a:r>
                        <a:rPr lang="en-AU" sz="2400" dirty="0">
                          <a:effectLst/>
                        </a:rPr>
                        <a:t> energy level contains </a:t>
                      </a:r>
                      <a:r>
                        <a:rPr lang="en-AU" sz="2400" b="1" dirty="0">
                          <a:effectLst/>
                        </a:rPr>
                        <a:t>one</a:t>
                      </a:r>
                      <a:r>
                        <a:rPr lang="en-AU" sz="2400" dirty="0">
                          <a:effectLst/>
                        </a:rPr>
                        <a:t> </a:t>
                      </a:r>
                      <a:r>
                        <a:rPr lang="en-AU" sz="2400" b="1" dirty="0">
                          <a:effectLst/>
                          <a:latin typeface="KaTeX_Main"/>
                        </a:rPr>
                        <a:t>s</a:t>
                      </a:r>
                      <a:r>
                        <a:rPr lang="en-AU" sz="2400" dirty="0">
                          <a:effectLst/>
                        </a:rPr>
                        <a:t> </a:t>
                      </a:r>
                      <a:r>
                        <a:rPr lang="en-AU" sz="2400" b="1" dirty="0">
                          <a:effectLst/>
                        </a:rPr>
                        <a:t>orbital</a:t>
                      </a:r>
                      <a:r>
                        <a:rPr lang="en-AU" sz="2400" dirty="0">
                          <a:effectLst/>
                        </a:rPr>
                        <a:t> and</a:t>
                      </a:r>
                      <a:r>
                        <a:rPr lang="en-AU" sz="2400" b="1" dirty="0">
                          <a:effectLst/>
                        </a:rPr>
                        <a:t> three </a:t>
                      </a:r>
                      <a:r>
                        <a:rPr lang="en-AU" sz="2400" b="1" dirty="0">
                          <a:effectLst/>
                          <a:latin typeface="KaTeX_Main"/>
                        </a:rPr>
                        <a:t>p</a:t>
                      </a:r>
                      <a:r>
                        <a:rPr lang="en-AU" sz="2400" dirty="0">
                          <a:effectLst/>
                        </a:rPr>
                        <a:t> </a:t>
                      </a:r>
                      <a:r>
                        <a:rPr lang="en-AU" sz="2400" b="1" dirty="0">
                          <a:effectLst/>
                        </a:rPr>
                        <a:t>orbitals</a:t>
                      </a:r>
                      <a:r>
                        <a:rPr lang="en-AU" sz="2400" dirty="0">
                          <a:effectLst/>
                        </a:rPr>
                        <a:t>, and can therefore contain up to </a:t>
                      </a:r>
                      <a:r>
                        <a:rPr lang="en-AU" sz="2400" b="1" dirty="0">
                          <a:effectLst/>
                          <a:latin typeface="KaTeX_Main"/>
                        </a:rPr>
                        <a:t>8</a:t>
                      </a:r>
                      <a:r>
                        <a:rPr lang="en-AU" sz="2400" dirty="0">
                          <a:effectLst/>
                        </a:rPr>
                        <a:t> </a:t>
                      </a:r>
                      <a:r>
                        <a:rPr lang="en-AU" sz="2400" b="1" dirty="0">
                          <a:effectLst/>
                        </a:rPr>
                        <a:t>electrons</a:t>
                      </a:r>
                      <a:r>
                        <a:rPr lang="en-AU" sz="2400" dirty="0">
                          <a:effectLst/>
                        </a:rPr>
                        <a:t>. The </a:t>
                      </a:r>
                      <a:r>
                        <a:rPr lang="en-AU" sz="2400" b="1" dirty="0">
                          <a:effectLst/>
                        </a:rPr>
                        <a:t>third</a:t>
                      </a:r>
                      <a:r>
                        <a:rPr lang="en-AU" sz="2400" dirty="0">
                          <a:effectLst/>
                        </a:rPr>
                        <a:t> energy level contains </a:t>
                      </a:r>
                      <a:r>
                        <a:rPr lang="en-AU" sz="2400" b="1" dirty="0">
                          <a:effectLst/>
                        </a:rPr>
                        <a:t>one</a:t>
                      </a:r>
                      <a:r>
                        <a:rPr lang="en-AU" sz="2400" dirty="0">
                          <a:effectLst/>
                        </a:rPr>
                        <a:t> </a:t>
                      </a:r>
                      <a:r>
                        <a:rPr lang="en-AU" sz="2400" b="1" dirty="0">
                          <a:effectLst/>
                          <a:latin typeface="KaTeX_Main"/>
                        </a:rPr>
                        <a:t>s</a:t>
                      </a:r>
                      <a:r>
                        <a:rPr lang="en-AU" sz="2400" dirty="0">
                          <a:effectLst/>
                        </a:rPr>
                        <a:t> </a:t>
                      </a:r>
                      <a:r>
                        <a:rPr lang="en-AU" sz="2400" b="1" dirty="0">
                          <a:effectLst/>
                        </a:rPr>
                        <a:t>orbital</a:t>
                      </a:r>
                      <a:r>
                        <a:rPr lang="en-AU" sz="2400" dirty="0">
                          <a:effectLst/>
                        </a:rPr>
                        <a:t>, </a:t>
                      </a:r>
                      <a:r>
                        <a:rPr lang="en-AU" sz="2400" b="1" dirty="0">
                          <a:effectLst/>
                        </a:rPr>
                        <a:t>three</a:t>
                      </a:r>
                      <a:r>
                        <a:rPr lang="en-AU" sz="2400" dirty="0">
                          <a:effectLst/>
                        </a:rPr>
                        <a:t> </a:t>
                      </a:r>
                      <a:r>
                        <a:rPr lang="en-AU" sz="2400" b="1" dirty="0">
                          <a:effectLst/>
                          <a:latin typeface="KaTeX_Main"/>
                        </a:rPr>
                        <a:t>p</a:t>
                      </a:r>
                      <a:r>
                        <a:rPr lang="en-AU" sz="2400" dirty="0">
                          <a:effectLst/>
                        </a:rPr>
                        <a:t> </a:t>
                      </a:r>
                      <a:r>
                        <a:rPr lang="en-AU" sz="2400" b="1" dirty="0">
                          <a:effectLst/>
                        </a:rPr>
                        <a:t>orbitals</a:t>
                      </a:r>
                      <a:r>
                        <a:rPr lang="en-AU" sz="2400" dirty="0">
                          <a:effectLst/>
                        </a:rPr>
                        <a:t>, and </a:t>
                      </a:r>
                      <a:r>
                        <a:rPr lang="en-AU" sz="2400" b="1" dirty="0">
                          <a:effectLst/>
                        </a:rPr>
                        <a:t>five</a:t>
                      </a:r>
                      <a:r>
                        <a:rPr lang="en-AU" sz="2400" dirty="0">
                          <a:effectLst/>
                        </a:rPr>
                        <a:t> </a:t>
                      </a:r>
                      <a:r>
                        <a:rPr lang="en-AU" sz="2400" b="1" dirty="0">
                          <a:effectLst/>
                          <a:latin typeface="KaTeX_Main"/>
                        </a:rPr>
                        <a:t>d</a:t>
                      </a:r>
                      <a:r>
                        <a:rPr lang="en-AU" sz="2400" dirty="0">
                          <a:effectLst/>
                        </a:rPr>
                        <a:t> </a:t>
                      </a:r>
                      <a:r>
                        <a:rPr lang="en-AU" sz="2400" b="1" dirty="0">
                          <a:effectLst/>
                        </a:rPr>
                        <a:t>orbitals</a:t>
                      </a:r>
                      <a:r>
                        <a:rPr lang="en-AU" sz="2400" dirty="0">
                          <a:effectLst/>
                        </a:rPr>
                        <a:t>, and can therefore contain up to </a:t>
                      </a:r>
                      <a:r>
                        <a:rPr lang="en-AU" sz="2400" b="1" dirty="0">
                          <a:effectLst/>
                          <a:latin typeface="KaTeX_Main"/>
                        </a:rPr>
                        <a:t>18</a:t>
                      </a:r>
                      <a:r>
                        <a:rPr lang="en-AU" sz="2400" dirty="0">
                          <a:effectLst/>
                        </a:rPr>
                        <a:t> </a:t>
                      </a:r>
                      <a:r>
                        <a:rPr lang="en-AU" sz="2400" b="1" dirty="0">
                          <a:effectLst/>
                        </a:rPr>
                        <a:t>electrons</a:t>
                      </a:r>
                      <a:r>
                        <a:rPr lang="en-AU" sz="2400" dirty="0">
                          <a:effectLst/>
                        </a:rPr>
                        <a:t>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493603"/>
                  </a:ext>
                </a:extLst>
              </a:tr>
            </a:tbl>
          </a:graphicData>
        </a:graphic>
      </p:graphicFrame>
      <p:pic>
        <p:nvPicPr>
          <p:cNvPr id="5122" name="Picture 2" descr="https://www.educationperfect.com/media/content/Science/1440641513.925741g/1440641515712-414356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425" y="700564"/>
            <a:ext cx="4844806" cy="545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6261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394038"/>
            <a:ext cx="10680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energy level diagram,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the one shown below, energy increases up the y axis.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Atomic orbitals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depicted by small boxes, and each box can only contain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two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electrons.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depicted by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arrows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with one pointing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one pointing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down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each orbital (box).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40560181.898111g/1440560182107-206872534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" y="2808288"/>
            <a:ext cx="66675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197600" y="3241219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orbitals 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labelled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indicate both the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energy level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subshell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atomic orbital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level. For example,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orbital in the first energy level is called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orbital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orbitals in the second energy levels are called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orbitals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Electrons always fill orbitals starting from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lowest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orbital 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359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401935"/>
            <a:ext cx="11099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how do you represent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electrons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orbitals?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look at the example of a neon atom.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454995089.850831g/1454995093977-863118514223567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1914525"/>
            <a:ext cx="1866900" cy="18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81000" y="4014738"/>
            <a:ext cx="113823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has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electrons. Starting with the lowest energy levels, there will be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 in the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orbital,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 in the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orbital and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6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 in the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orbital.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written as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1s</a:t>
            </a:r>
            <a:r>
              <a:rPr lang="en-AU" sz="2400" b="1" i="0" baseline="30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2s</a:t>
            </a:r>
            <a:r>
              <a:rPr lang="en-AU" sz="2400" b="1" i="0" baseline="30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2p</a:t>
            </a:r>
            <a:r>
              <a:rPr lang="en-AU" sz="2400" b="1" i="0" baseline="30000" dirty="0" smtClean="0">
                <a:solidFill>
                  <a:srgbClr val="444444"/>
                </a:solidFill>
                <a:effectLst/>
                <a:latin typeface="KaTeX_Main"/>
              </a:rPr>
              <a:t>6</a:t>
            </a:r>
            <a:endParaRPr lang="en-AU" sz="2400" b="0" i="0" baseline="3000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superscript number is the number of electrons in the orbital.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003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612845"/>
            <a:ext cx="115062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Ionisation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also changes between the different kinds of orbital.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orbital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a lower ionisation energy than an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orbital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shape 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orbitals means they have a slightly higher energy and so an electron in a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orbital is located further from the nucleus than one in the corresponding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orbital. This makes the electrostatic attraction weaker and thus makes it easier to remove an electron from the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orbital.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can be seen in the graph below when comparing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boron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B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beryllium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Be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 Beryllium has an electron configuration 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[He]2s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meaning it has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 in the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orbital, while boron's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[He]2s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2p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meaning it has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 in the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orbital and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 in the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orbital. Boron has a lower ionisation energy even though it has more protons in its nucleus.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499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s://www.educationperfect.com/media/content/Science/1437452188.513071g/1437452180014-167825598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425" y="457200"/>
            <a:ext cx="95250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936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405537"/>
            <a:ext cx="115189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Second ionisation energy.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Just like the first ionisation energy is the energy required to remove the first electron from a neutral atom,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second ionisation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required to remove the second electron from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X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+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050" y="2344529"/>
            <a:ext cx="10191750" cy="463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827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456337"/>
            <a:ext cx="114681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Each time an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electron shell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removed, the next ionisation energy becomes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much greater.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electrostatic attraction is much stronger for electrons closer to the nucleus. For example, compare sodium and magnesium: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62" y="2552700"/>
            <a:ext cx="11437938" cy="435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265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102</Words>
  <Application>Microsoft Office PowerPoint</Application>
  <PresentationFormat>Widescreen</PresentationFormat>
  <Paragraphs>56</Paragraphs>
  <Slides>16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KaTeX_Main</vt:lpstr>
      <vt:lpstr>Office Theme</vt:lpstr>
      <vt:lpstr>Periodic Trends- Ionisation Energy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Periodic Trends- Ionisation Energy</dc:title>
  <dc:creator>Joseph D'cruz</dc:creator>
  <cp:lastModifiedBy>Joseph D'cruz</cp:lastModifiedBy>
  <cp:revision>2</cp:revision>
  <dcterms:created xsi:type="dcterms:W3CDTF">2020-08-09T03:25:34Z</dcterms:created>
  <dcterms:modified xsi:type="dcterms:W3CDTF">2020-08-09T03:32:25Z</dcterms:modified>
</cp:coreProperties>
</file>
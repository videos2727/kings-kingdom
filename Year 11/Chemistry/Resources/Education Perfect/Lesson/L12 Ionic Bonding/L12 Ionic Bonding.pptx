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0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3" r:id="rId46"/>
    <p:sldId id="301" r:id="rId47"/>
    <p:sldId id="302" r:id="rId48"/>
    <p:sldId id="304" r:id="rId49"/>
    <p:sldId id="305" r:id="rId50"/>
    <p:sldId id="306" r:id="rId51"/>
    <p:sldId id="307" r:id="rId52"/>
    <p:sldId id="308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2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06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285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27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71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847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53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441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90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72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A0A37-13B7-41F7-9EA3-9D60A07FA61E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2F806-8780-40F1-8CFF-3A95BBA9CF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528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lRhLicNo8Q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Ionic Bonding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50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are Ions?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78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70972" y="1034534"/>
            <a:ext cx="3595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be covering: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497591"/>
              </p:ext>
            </p:extLst>
          </p:nvPr>
        </p:nvGraphicFramePr>
        <p:xfrm>
          <a:off x="1993900" y="1749584"/>
          <a:ext cx="10515600" cy="1943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340689935"/>
                    </a:ext>
                  </a:extLst>
                </a:gridCol>
                <a:gridCol w="9829800">
                  <a:extLst>
                    <a:ext uri="{9D8B030D-6E8A-4147-A177-3AD203B41FA5}">
                      <a16:colId xmlns:a16="http://schemas.microsoft.com/office/drawing/2014/main" val="3924903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How many </a:t>
                      </a:r>
                      <a:r>
                        <a:rPr lang="en-AU" b="1">
                          <a:solidFill>
                            <a:srgbClr val="E04E50"/>
                          </a:solidFill>
                          <a:effectLst/>
                        </a:rPr>
                        <a:t>electrons</a:t>
                      </a:r>
                      <a:r>
                        <a:rPr lang="en-AU">
                          <a:effectLst/>
                        </a:rPr>
                        <a:t> can each of the electron shells in an atom hold?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59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What is an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ion?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08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How does a </a:t>
                      </a:r>
                      <a:r>
                        <a:rPr lang="en-AU" b="1" dirty="0">
                          <a:solidFill>
                            <a:srgbClr val="228B22"/>
                          </a:solidFill>
                          <a:effectLst/>
                        </a:rPr>
                        <a:t>cation</a:t>
                      </a:r>
                      <a:r>
                        <a:rPr lang="en-AU" dirty="0">
                          <a:effectLst/>
                        </a:rPr>
                        <a:t> form?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38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How does an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anion</a:t>
                      </a:r>
                      <a:r>
                        <a:rPr lang="en-AU">
                          <a:effectLst/>
                        </a:rPr>
                        <a:t> form?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7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How do you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name</a:t>
                      </a:r>
                      <a:r>
                        <a:rPr lang="en-AU" dirty="0">
                          <a:effectLst/>
                        </a:rPr>
                        <a:t> ions?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481721"/>
                  </a:ext>
                </a:extLst>
              </a:tr>
            </a:tbl>
          </a:graphicData>
        </a:graphic>
      </p:graphicFrame>
      <p:pic>
        <p:nvPicPr>
          <p:cNvPr id="2050" name="Picture 2" descr="https://www.educationperfect.com/media/content/Science/1433729930.313791g/1433729933206-164433758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575" y="3886200"/>
            <a:ext cx="3810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89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825838"/>
            <a:ext cx="11061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 that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 positively charged nucleus at the centre containing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 and neutrons.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found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orbitals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around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outside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nucleus. The different orbitals are represented as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circles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different distances from the nucleus because they have different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energies.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5741703.278531g/1455741704015-417490285267703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2668588"/>
            <a:ext cx="47625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97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95638"/>
            <a:ext cx="10617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electrically neutral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(have no overall charge) because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positive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cancelled out by the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negative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lithium atom below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neutrons, 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electrons, so it has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overall charge.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7632507.258281g/1447632503737-301673794331601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50" y="3009900"/>
            <a:ext cx="28575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932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638939"/>
            <a:ext cx="10909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Everything in the universe is always trying to get into the </a:t>
            </a:r>
            <a:r>
              <a:rPr lang="en-AU" b="1" i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lowest possible energy state,</a:t>
            </a: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including atoms.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atoms are in a low energy state they are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more stable.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an atom to become stable, its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outermost electron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full.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outermost shell is called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valence shell,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electrons in this outer shell are called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valence 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5743867.167151g/1455743867020-417490285267703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350" y="2941638"/>
            <a:ext cx="3810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61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552440"/>
            <a:ext cx="11442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different electron shells in an atom can hold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different numbers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electrons. When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lowest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shell is full, electrons start to fill the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next lowest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can hold up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can hold up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can hold up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electrons, but it can also be stable with just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20576585.881721g/1420576535201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350" y="276542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55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936536"/>
            <a:ext cx="1094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lithium has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first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two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go into the first,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lowest energy shell.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third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goes into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second electron shell,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the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valence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lithium.</a:t>
            </a:r>
            <a:endParaRPr lang="en-AU" dirty="0"/>
          </a:p>
        </p:txBody>
      </p:sp>
      <p:pic>
        <p:nvPicPr>
          <p:cNvPr id="7170" name="Picture 2" descr="https://www.educationperfect.com/media/content/Science/1420575692.924451g/1420575693607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575" y="257492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903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773837"/>
            <a:ext cx="9779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atom does not have a full valence shell, it will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gain or lose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fill the outer shell and become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stable.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atom gains or loses electrons, it becomes electrically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charged.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charged atom is called an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44946526.206911g/1444946534049-99828638058053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0" y="2870200"/>
            <a:ext cx="66675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30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26239"/>
            <a:ext cx="10807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atom has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very few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its outer shell, it will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empty the outer shell, leaving only full electron shells.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formed will have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equal to the number of electrons lost.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 sodium atom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in its valence shell, so it loses this electron to have a full valence shell. It now has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one less 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number of protons in its nucleus, so it has a charge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44946526.206911g/1444946534049-99828638058053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2959100"/>
            <a:ext cx="66675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036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511939"/>
            <a:ext cx="1061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atom has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many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its outer shell, it will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gain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fill the outer shell.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formed will have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equal to the number of electrons gained.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 fluorine atom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7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its valence shell, so it gains one electron to have a full valence shell. It now has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one more 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number of protons in its nucleus, so it has a charge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55749355.809191g/1455749354211-417490285267703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3205163"/>
            <a:ext cx="66675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57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13936"/>
            <a:ext cx="1041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positively charged 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easy way to remember this is that ca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 has a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 - which kind of looks like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sign, hence the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22589376.69791g/1422589367933-243516909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062" y="3619500"/>
            <a:ext cx="18954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64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1495336"/>
            <a:ext cx="1010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negatively charged 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 an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anion.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easy way to remember this is that a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 has an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 and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for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negative!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40216202.609551g/1440216199949-106794918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7" y="3738563"/>
            <a:ext cx="1876425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854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0" y="859135"/>
            <a:ext cx="10502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 that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form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equal to the number of electrons lost.</a:t>
            </a:r>
            <a:endParaRPr lang="en-AU" dirty="0"/>
          </a:p>
        </p:txBody>
      </p:sp>
      <p:pic>
        <p:nvPicPr>
          <p:cNvPr id="13314" name="Picture 2" descr="https://www.educationperfect.com/media/content/Science/1444946526.206911g/1444946534049-99828638058053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7" y="1505466"/>
            <a:ext cx="5140325" cy="230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08000" y="3811269"/>
            <a:ext cx="1115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Non-metal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gain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form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anions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equal to the number of electrons gained.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13316" name="Picture 4" descr="https://www.educationperfect.com/media/content/Science/1455749355.809191g/1455749354211-4174902852677038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49" y="4324350"/>
            <a:ext cx="66675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930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796836"/>
            <a:ext cx="1122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 we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different types of ions?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metal 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same name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their 'parent' atom. For example: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37" y="1895474"/>
            <a:ext cx="5658877" cy="2498725"/>
          </a:xfrm>
          <a:prstGeom prst="rect">
            <a:avLst/>
          </a:prstGeom>
        </p:spPr>
      </p:pic>
      <p:pic>
        <p:nvPicPr>
          <p:cNvPr id="14338" name="Picture 2" descr="https://www.educationperfect.com/media/content/Science/1448236843.799971g/1448236856475-85594504619622-optimis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87" y="4394199"/>
            <a:ext cx="3279775" cy="245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850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5435"/>
            <a:ext cx="10071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non-metal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ions have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different names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their parent atom. The end of their names is replaced with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-ide.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example: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212" y="1360487"/>
            <a:ext cx="5912521" cy="2817813"/>
          </a:xfrm>
          <a:prstGeom prst="rect">
            <a:avLst/>
          </a:prstGeom>
        </p:spPr>
      </p:pic>
      <p:pic>
        <p:nvPicPr>
          <p:cNvPr id="15362" name="Picture 2" descr="https://www.educationperfect.com/media/content/Science/1454634206.119431g/1454634208228-783433399219295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75" y="4799012"/>
            <a:ext cx="3790950" cy="138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69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9000" y="738138"/>
            <a:ext cx="10858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are referring to an ion, you should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always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say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the name to avoid confusion. Don't just say sodium - say sodium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will let people know that you are talking about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charged 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not the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neutral atom,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will become very important as you learn about chemical reactions.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444946526.206911g/1444946534049-99828638058053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987675"/>
            <a:ext cx="66675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582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650439"/>
            <a:ext cx="11417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important thing to know is how to write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an 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 symbols are written by writing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element symbol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followed by the overall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ion. For example, the symbol for a calcium ion is written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Ca</a:t>
            </a:r>
            <a:r>
              <a:rPr lang="en-AU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because calcium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loses two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become a positively charged 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420576619.190551g/1420576619832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26162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108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62" y="387350"/>
            <a:ext cx="10637838" cy="593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20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538162"/>
            <a:ext cx="9671050" cy="578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40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4" y="563562"/>
            <a:ext cx="11131725" cy="421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6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95300" y="545237"/>
            <a:ext cx="10909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are some examples of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common 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you will come across in your studies.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Note that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hydrogen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non-metal atom that forms a cation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H+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It is very important in acid-base chemistry!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75" y="1695450"/>
            <a:ext cx="497205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9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2200" y="453936"/>
            <a:ext cx="1036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are some examples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common anions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you will come across in your studies.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274" y="738187"/>
            <a:ext cx="7502525" cy="602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44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lRhLicNo8Q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12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Ionic Substances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264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689739"/>
            <a:ext cx="10883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about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substances.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and why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form, in terms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 configuration.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nature of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Discuss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crystal lattice 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solid ionic substances.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Determine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formulae and names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ionic compounds.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68929561.972871g/1568929562366-261960760136997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75" y="3348037"/>
            <a:ext cx="380047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430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829439"/>
            <a:ext cx="10820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substances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everywhere in nature.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common substances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ionic compounds, including some of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rocks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make up the ground beneath your feet, and a lot of the things you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use in everyday life.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ions are essential for our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bodies to function;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facilitate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transmission of signals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body and help maintain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functions of cells.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99" y="3249612"/>
            <a:ext cx="10931569" cy="301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22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553641"/>
            <a:ext cx="10502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 as a way for atoms to achieve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greater stability.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most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have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full valence electron shell,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they may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lose or gain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attain this stability. An atom which has lost or gained electrons is called an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atoms, the number of positive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negative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same, so their charges cancel out and the atom has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neutral charge overall.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ions, these numbers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 longer balanced,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ion has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overall electrical charge.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561510433.747841g/1561510433828-273272079714088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3068638"/>
            <a:ext cx="6956425" cy="319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823200" y="3818235"/>
            <a:ext cx="4279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beryllium atom loses two electrons to make an ion with four protons and two electrons, giving it an overall charge of +2.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3962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268744"/>
            <a:ext cx="11557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Filling Valence Shells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will generally lose or gain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minimum number of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necessary to attain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full valence shell.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 configuration of the ion will thus be the same as that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nearest noble gas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(which do not form ions because they already have full valence shells).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work out which ion an atom will form from its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atomic number;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denotes the number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therefore the number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neutral atom. From the atomic number you can work out the atom’s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 configuration,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thus the number of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Remember, the maximum number of electrons the first shell can hold is 2; the second shell can hold 8, and the third shell can hold 18 (though it is stable with 8).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570074824.249921g/1570074824283-255758922048277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75" y="3975100"/>
            <a:ext cx="23749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https://www.educationperfect.com/media/content/Science/1570074975.255771g/1570074975348-2557589220482777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999" y="3743325"/>
            <a:ext cx="2606675" cy="260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340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201643"/>
            <a:ext cx="11493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Cations and Anions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atoms where the valence shell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less than half full,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takes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less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those few electrons than to gain many. These atoms will lose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all of the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their valence shells, to form a positively charged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atoms where the valence shell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more than half full,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takes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less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a few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to lose many. These atoms will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enough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fill their valence shell, and form a negatively charged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 quick way to remember that cations are positive is that cats have paws and paws are </a:t>
            </a:r>
            <a:r>
              <a:rPr lang="en-AU" b="1" i="0" dirty="0" err="1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pawsitive</a:t>
            </a:r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570075506.878171g/1570075506965-255758922048277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75" y="3725862"/>
            <a:ext cx="7600950" cy="30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649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257939"/>
            <a:ext cx="10947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Polyatomic ions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charged particles made up of groups of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covalently bonded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together, so they act as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single unit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in an ionic compound. This means that their charge is associated with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whole group of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make up the polyatomic ion.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names and formulae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polyatomic ions you will need to know are listed below.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24" y="2202764"/>
            <a:ext cx="5006975" cy="42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12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212724"/>
            <a:ext cx="10979150" cy="650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7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" y="0"/>
            <a:ext cx="10506640" cy="3683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3527425"/>
            <a:ext cx="701040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83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802839"/>
            <a:ext cx="11315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do not lose or gain electrons out of nowhere.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atom that needs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meets an atom that needs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will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exchange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required electrons.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two atoms become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positively charged cation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negatively charged anion,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electrostatically 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530" name="Picture 2" descr="https://www.educationperfect.com/media/content/Science/1570075727.936351g/1570075728012-255758922048277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3624262"/>
            <a:ext cx="379095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631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120640"/>
            <a:ext cx="11531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strong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electrostatic forces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cation and anion form an ionic bond.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Electrostatic forces are the attractive forces between electrically charged objects.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Opposite charges attract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strongly, while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like charges repel;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why the oppositely charged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ions bond together.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commonly need to lose electrons 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commonly need to gain them, ionic bonds usually form between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 cation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 anion.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554" name="Picture 2" descr="https://www.educationperfect.com/media/content/Science/1513117413.434161g/1513117421468-116125914699241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575" y="3033712"/>
            <a:ext cx="3800475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458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2" y="342900"/>
            <a:ext cx="11336338" cy="4256242"/>
          </a:xfrm>
          <a:prstGeom prst="rect">
            <a:avLst/>
          </a:prstGeom>
        </p:spPr>
      </p:pic>
      <p:pic>
        <p:nvPicPr>
          <p:cNvPr id="24578" name="Picture 2" descr="https://www.educationperfect.com/media/content/Science/1563404912.925851g/1563404914554-4097942892134443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4267200"/>
            <a:ext cx="76200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978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736938"/>
            <a:ext cx="10960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 not form between two individual 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Instead, they form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lattices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cations and anions known as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compounds.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lattices involve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repeated three-dimensional arrangement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ions, which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neutral overall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 charges of the ions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cancel out.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602" name="Picture 2" descr="https://www.educationperfect.com/media/content/Science/1420672114.305631g/1420672063808-158496176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75" y="2792412"/>
            <a:ext cx="3810000" cy="36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417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410339"/>
            <a:ext cx="10896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Structure of Ionic Compounds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an ionic compound, each ion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surrounded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a group of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oppositely charged 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a stable lattice structure. Each cation is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strongly 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surrounding anions, and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vice versa.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ions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pack together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way that will form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most stable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possible arrangement, with oppositely charged ions as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close together as possible.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626" name="Picture 2" descr="https://www.educationperfect.com/media/content/Science/1456432188.24341g/1456432189907-230808209570741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775" y="3305175"/>
            <a:ext cx="38004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77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487740"/>
            <a:ext cx="11061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compounds are always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neutral overall.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charges of the cations and anions must cancel each other out.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charges on the ions have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magnitude, as in sodium chloride, the crystal lattice will form with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equal numbers of cations and anions.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charges on the ions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not the same,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will be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more of one 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other, so that the compound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remains neutral overall.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650" name="Picture 2" descr="https://www.educationperfect.com/media/content/German/1453412010.571891g/1453412024360-76442669228448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2" y="3470275"/>
            <a:ext cx="38004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089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4" y="449262"/>
            <a:ext cx="9178925" cy="2733675"/>
          </a:xfrm>
          <a:prstGeom prst="rect">
            <a:avLst/>
          </a:prstGeom>
        </p:spPr>
      </p:pic>
      <p:pic>
        <p:nvPicPr>
          <p:cNvPr id="28674" name="Picture 2" descr="https://www.educationperfect.com/media/content/Science/1570152119.668851g/1570152119330-1712967138442270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3182937"/>
            <a:ext cx="4420283" cy="366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416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2300" y="458044"/>
            <a:ext cx="11226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visualise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ions pack together within the ionic lattice by imagining them as spheres.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Imagine first a </a:t>
            </a:r>
            <a:r>
              <a:rPr lang="en-AU" b="1" i="0" dirty="0" smtClean="0">
                <a:solidFill>
                  <a:srgbClr val="FF7575"/>
                </a:solidFill>
                <a:effectLst/>
                <a:latin typeface="Arial" panose="020B0604020202020204" pitchFamily="34" charset="0"/>
              </a:rPr>
              <a:t>single layer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sodium chloride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crystal. Every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Na+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 is </a:t>
            </a:r>
            <a:r>
              <a:rPr lang="en-AU" b="1" i="0" dirty="0" smtClean="0">
                <a:solidFill>
                  <a:srgbClr val="71B6E6"/>
                </a:solidFill>
                <a:effectLst/>
                <a:latin typeface="Arial" panose="020B0604020202020204" pitchFamily="34" charset="0"/>
              </a:rPr>
              <a:t>surrounded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Cl−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ions, and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vice versa.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ion is surrounded by </a:t>
            </a:r>
            <a:r>
              <a:rPr lang="en-AU" b="1" i="0" dirty="0" smtClean="0">
                <a:solidFill>
                  <a:srgbClr val="FF7575"/>
                </a:solidFill>
                <a:effectLst/>
                <a:latin typeface="KaTeX_Main"/>
              </a:rPr>
              <a:t>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575"/>
                </a:solidFill>
                <a:effectLst/>
                <a:latin typeface="Arial" panose="020B0604020202020204" pitchFamily="34" charset="0"/>
              </a:rPr>
              <a:t>ions of the opposite charge.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Now, place an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identical layer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top and another on the bottom, such that </a:t>
            </a:r>
            <a:r>
              <a:rPr lang="en-AU" b="1" i="0" dirty="0" smtClean="0">
                <a:solidFill>
                  <a:srgbClr val="71B6E6"/>
                </a:solidFill>
                <a:effectLst/>
                <a:latin typeface="Arial" panose="020B0604020202020204" pitchFamily="34" charset="0"/>
              </a:rPr>
              <a:t>no identical ions touch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other. This means that each ion is surrounded by </a:t>
            </a:r>
            <a:r>
              <a:rPr lang="en-AU" b="1" i="0" dirty="0" smtClean="0">
                <a:solidFill>
                  <a:srgbClr val="FF7575"/>
                </a:solidFill>
                <a:effectLst/>
                <a:latin typeface="KaTeX_Main"/>
              </a:rPr>
              <a:t>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575"/>
                </a:solidFill>
                <a:effectLst/>
                <a:latin typeface="Arial" panose="020B0604020202020204" pitchFamily="34" charset="0"/>
              </a:rPr>
              <a:t>oppositely charged 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3-D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arrangement of sodium chloride, and it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repeats throughout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entire structure.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Other ionic compounds may have </a:t>
            </a:r>
            <a:r>
              <a:rPr lang="en-AU" b="1" i="0" dirty="0" smtClean="0">
                <a:solidFill>
                  <a:srgbClr val="71B6E6"/>
                </a:solidFill>
                <a:effectLst/>
                <a:latin typeface="Arial" panose="020B0604020202020204" pitchFamily="34" charset="0"/>
              </a:rPr>
              <a:t>different structures.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FF7575"/>
                </a:solidFill>
                <a:effectLst/>
                <a:latin typeface="Arial" panose="020B0604020202020204" pitchFamily="34" charset="0"/>
              </a:rPr>
              <a:t>proportions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each ion needed for a neutral compound influences how they pack together, as does the </a:t>
            </a:r>
            <a:r>
              <a:rPr lang="en-AU" b="1" i="0" dirty="0" smtClean="0">
                <a:solidFill>
                  <a:srgbClr val="71B6E6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ions involved.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112" y="3494087"/>
            <a:ext cx="55911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10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2262"/>
            <a:ext cx="11087100" cy="642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86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038224"/>
            <a:ext cx="6516688" cy="3825875"/>
          </a:xfrm>
          <a:prstGeom prst="rect">
            <a:avLst/>
          </a:prstGeom>
        </p:spPr>
      </p:pic>
      <p:pic>
        <p:nvPicPr>
          <p:cNvPr id="3" name="1509323839.1630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59556" y="595311"/>
            <a:ext cx="4554643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2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182562"/>
            <a:ext cx="11248347" cy="2357438"/>
          </a:xfrm>
          <a:prstGeom prst="rect">
            <a:avLst/>
          </a:prstGeom>
        </p:spPr>
      </p:pic>
      <p:pic>
        <p:nvPicPr>
          <p:cNvPr id="29698" name="Picture 2" descr="https://www.educationperfect.com/media/content/Science/1498708949.742011g/1498708954463-115329842632129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3249612"/>
            <a:ext cx="7620000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1967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Physical Properties of Ionic Substances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854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773837"/>
            <a:ext cx="10071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about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substances.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ionic substances.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uses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ionic compounds, and how these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relate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their properties.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22" name="Picture 2" descr="https://www.educationperfect.com/media/content/Science/1554847618.765061g/1554847436375-433350347732915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975" y="27813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4" name="Picture 4" descr="https://www.educationperfect.com/media/content/Science/1515550439.177851g/1515550444279-993644979102537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2922049"/>
            <a:ext cx="4064000" cy="230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36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827038"/>
            <a:ext cx="10642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ionic substances can be explained by the way that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compounds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crystalline solids,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distinct crystal structures, due to their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repeating pattern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ions in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three-dimensional lattice structure.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Strong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electrostatic forces of 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hold the ions together.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746" name="Picture 2" descr="https://www.educationperfect.com/media/content/Science/1443387441.64481g/1443387463493-147818496733341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3182937"/>
            <a:ext cx="3381375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00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515541"/>
            <a:ext cx="1076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substances have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high melting and boiling points.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 electrostatic forces of 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ions take a large input of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overcome.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Applying heat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causes the particles to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vibrate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(as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converted to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); a great enough input of heat energy will start to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overcome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particles. When some attractions are overcome,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melting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occurs, and when all attractions are overcome,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boiling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2770" name="Picture 2" descr="https://www.educationperfect.com/media/content/Science/1503569797.629281g/1503569802341-33466371212234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3076575"/>
            <a:ext cx="3810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3769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486539"/>
            <a:ext cx="10604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substances are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hard.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hard because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 electrostatic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hold the ions in a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rigid lattice,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closely packed.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as it takes a lot of heat energy to melt an ionic solid, it takes a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lot of 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scratch or break them. Every ion is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strongly bonded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of the oppositely charged ions surrounding it, so ionic solids can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resist large amounts of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multiple directions.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3794" name="Picture 2" descr="https://www.educationperfect.com/media/content/Science/1570042245.230961g/1570042246080-193971482542789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34877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4620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227043"/>
            <a:ext cx="11099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ionic substances are also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brittle.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try to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distort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crystal, the ions will move so that ions with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same charges are adjacent.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will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other, and the lattice will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fracture.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takes a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lot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do this, but when the breaking point is reached it will happen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suddenly.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Along the plane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crystal lattice (i.e. along the rows of ions), ionic substances have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good cleavage;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sharp blow in these directions will result in a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clean split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producing a smooth surface. A sharp blow along a different plane will cause the lattice to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shatter.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Cleavage is the tendency of a substance to break along flat planes in the crystal structure.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818" name="Picture 2" descr="https://www.educationperfect.com/media/content/Science/1569891012.104231g/1569891012998-186272872684490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100" y="3366364"/>
            <a:ext cx="67056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6885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244545"/>
            <a:ext cx="116713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substances are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soluble in polar solvents.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Liquids that are made up of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polar molecules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(where each molecule has a permanent uneven distribution of charge) are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polar solvents.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best known example is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KaTeX_Main"/>
              </a:rPr>
              <a:t>H2</a:t>
            </a:r>
            <a:r>
              <a:rPr lang="en-AU" b="0" i="0" dirty="0" smtClean="0">
                <a:solidFill>
                  <a:srgbClr val="264DD8"/>
                </a:solidFill>
                <a:effectLst/>
                <a:latin typeface="KaTeX_Main"/>
              </a:rPr>
              <a:t>​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KaTeX_Main"/>
              </a:rPr>
              <a:t>O),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the hydrogen atoms have a partial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positive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oxygen atoms have a partial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negative charge.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polar solvents have these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uneven charges,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will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attract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charged ions, and the solvent-solute attractive forces will be strong enough to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overcome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solute-solute attractive forces. Thus the solvent will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separate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ions from the ionic lattice, causing the ionic solid to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dissolve.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non-polar solvent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attract the ions, so the solute-solvent attractive forces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not strong enough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overcome the solute-solute attractive forces, and the ionic solid will not dissolve.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5842" name="Picture 2" descr="https://www.educationperfect.com/media/content/Science/1512609178.126671g/1512609187444-151748449338496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3660865"/>
            <a:ext cx="76009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2529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84939"/>
            <a:ext cx="11620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Electrical conductivity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requires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charged particles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able to move freely.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substances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not conductive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solid,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ions are bound in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fixed positions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ionic lattice.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when they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molten or dissolved,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ions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free to move.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ionic substances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conductive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state.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6866" name="Picture 2" descr="https://www.educationperfect.com/media/content/Science/1571194056.928781g/1571194058010-66094206838660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612" y="2591569"/>
            <a:ext cx="4918075" cy="426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847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4900" y="763538"/>
            <a:ext cx="10236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ionic compounds are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useful in everyday life.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have discussed, as well as various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chemical properties,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govern how they are used. These chemical properties are related to the fact that ionic compounds are </a:t>
            </a:r>
            <a:r>
              <a:rPr lang="en-AU" b="1" i="0" dirty="0" smtClean="0">
                <a:solidFill>
                  <a:srgbClr val="264DD8"/>
                </a:solidFill>
                <a:effectLst/>
                <a:latin typeface="Arial" panose="020B0604020202020204" pitchFamily="34" charset="0"/>
              </a:rPr>
              <a:t>soluble in water,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allowing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properties of the constituent 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used when they’re dissolved.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87" y="3629025"/>
            <a:ext cx="782002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845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265112"/>
            <a:ext cx="10407650" cy="3983022"/>
          </a:xfrm>
          <a:prstGeom prst="rect">
            <a:avLst/>
          </a:prstGeom>
        </p:spPr>
      </p:pic>
      <p:pic>
        <p:nvPicPr>
          <p:cNvPr id="37890" name="Picture 2" descr="https://www.educationperfect.com/Images/Content/Maths/1383534457220-9694832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475" y="4137024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413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74" y="412750"/>
            <a:ext cx="10067925" cy="394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025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342900"/>
            <a:ext cx="10007600" cy="3907730"/>
          </a:xfrm>
          <a:prstGeom prst="rect">
            <a:avLst/>
          </a:prstGeom>
        </p:spPr>
      </p:pic>
      <p:pic>
        <p:nvPicPr>
          <p:cNvPr id="38914" name="Picture 2" descr="https://www.educationperfect.com/media/content/German/1475800760.684061g/1475800772173-3819861805712749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775" y="41148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3929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24" y="393700"/>
            <a:ext cx="10798175" cy="3642758"/>
          </a:xfrm>
          <a:prstGeom prst="rect">
            <a:avLst/>
          </a:prstGeom>
        </p:spPr>
      </p:pic>
      <p:pic>
        <p:nvPicPr>
          <p:cNvPr id="39938" name="Picture 2" descr="https://www.educationperfect.com/media/content/Science/1526357714.638631g/1526357712581-2478994217792939-optimis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000500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3116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Naming Ionic Compounds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56659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33700" y="9480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346762"/>
              </p:ext>
            </p:extLst>
          </p:nvPr>
        </p:nvGraphicFramePr>
        <p:xfrm>
          <a:off x="3416300" y="1871365"/>
          <a:ext cx="10515600" cy="77724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960182699"/>
                    </a:ext>
                  </a:extLst>
                </a:gridCol>
                <a:gridCol w="9766300">
                  <a:extLst>
                    <a:ext uri="{9D8B030D-6E8A-4147-A177-3AD203B41FA5}">
                      <a16:colId xmlns:a16="http://schemas.microsoft.com/office/drawing/2014/main" val="4103454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 smtClean="0">
                          <a:effectLst/>
                          <a:latin typeface="KaTeX_Main"/>
                        </a:rPr>
                        <a:t>1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>
                          <a:solidFill>
                            <a:srgbClr val="127F06"/>
                          </a:solidFill>
                          <a:effectLst/>
                        </a:rPr>
                        <a:t>Write</a:t>
                      </a:r>
                      <a:r>
                        <a:rPr lang="en-AU" b="1">
                          <a:effectLst/>
                        </a:rPr>
                        <a:t> the </a:t>
                      </a:r>
                      <a:r>
                        <a:rPr lang="en-AU" b="1">
                          <a:solidFill>
                            <a:srgbClr val="800080"/>
                          </a:solidFill>
                          <a:effectLst/>
                        </a:rPr>
                        <a:t>chemical names</a:t>
                      </a:r>
                      <a:r>
                        <a:rPr lang="en-AU" b="1">
                          <a:effectLst/>
                        </a:rPr>
                        <a:t> of ionic compounds.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260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 smtClean="0">
                          <a:effectLst/>
                          <a:latin typeface="KaTeX_Main"/>
                        </a:rPr>
                        <a:t>2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 dirty="0">
                          <a:solidFill>
                            <a:srgbClr val="127F06"/>
                          </a:solidFill>
                          <a:effectLst/>
                        </a:rPr>
                        <a:t>Write</a:t>
                      </a:r>
                      <a:r>
                        <a:rPr lang="en-AU" b="1" dirty="0">
                          <a:effectLst/>
                        </a:rPr>
                        <a:t> the </a:t>
                      </a:r>
                      <a:r>
                        <a:rPr lang="en-AU" b="1" dirty="0">
                          <a:solidFill>
                            <a:srgbClr val="EB5D06"/>
                          </a:solidFill>
                          <a:effectLst/>
                        </a:rPr>
                        <a:t>chemical formulae</a:t>
                      </a:r>
                      <a:r>
                        <a:rPr lang="en-AU" b="1" dirty="0">
                          <a:effectLst/>
                        </a:rPr>
                        <a:t> of ionic compounds.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363635"/>
                  </a:ext>
                </a:extLst>
              </a:tr>
            </a:tbl>
          </a:graphicData>
        </a:graphic>
      </p:graphicFrame>
      <p:pic>
        <p:nvPicPr>
          <p:cNvPr id="40963" name="Picture 3" descr="https://www.educationperfect.com/media/content/German/1452730435.152061g/1452730443853-155493078226081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3388023"/>
            <a:ext cx="47625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56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5544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0709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6166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4211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1148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9517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0594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2593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6502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8504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5694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1475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3697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75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250</Words>
  <Application>Microsoft Office PowerPoint</Application>
  <PresentationFormat>Widescreen</PresentationFormat>
  <Paragraphs>172</Paragraphs>
  <Slides>73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Calibri Light</vt:lpstr>
      <vt:lpstr>KaTeX_Main</vt:lpstr>
      <vt:lpstr>Office Theme</vt:lpstr>
      <vt:lpstr>Ionic Bonding</vt:lpstr>
      <vt:lpstr>What are 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Ionic Substances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Properties of Ionic Substances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Naming Ionic Compounds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Ionic Bonding</dc:title>
  <dc:creator>Joseph D'cruz</dc:creator>
  <cp:lastModifiedBy>Joseph D'cruz</cp:lastModifiedBy>
  <cp:revision>11</cp:revision>
  <dcterms:created xsi:type="dcterms:W3CDTF">2021-12-19T10:45:37Z</dcterms:created>
  <dcterms:modified xsi:type="dcterms:W3CDTF">2021-12-19T14:58:42Z</dcterms:modified>
</cp:coreProperties>
</file>
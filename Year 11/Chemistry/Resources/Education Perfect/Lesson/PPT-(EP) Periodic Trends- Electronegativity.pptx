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4660"/>
  </p:normalViewPr>
  <p:slideViewPr>
    <p:cSldViewPr snapToGrid="0">
      <p:cViewPr varScale="1">
        <p:scale>
          <a:sx n="76" d="100"/>
          <a:sy n="76" d="100"/>
        </p:scale>
        <p:origin x="126" y="7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CAD6EDBA-62EC-43EE-909D-91A3029E0FCE}" type="datetimeFigureOut">
              <a:rPr lang="en-AU" smtClean="0"/>
              <a:t>9/08/2020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B2BBF6C-3500-46D4-87FB-372D49169A6F}" type="slidenum">
              <a:rPr lang="en-AU" smtClean="0"/>
              <a:t>‹#›</a:t>
            </a:fld>
            <a:endParaRPr lang="en-AU"/>
          </a:p>
        </p:txBody>
      </p:sp>
    </p:spTree>
    <p:extLst>
      <p:ext uri="{BB962C8B-B14F-4D97-AF65-F5344CB8AC3E}">
        <p14:creationId xmlns:p14="http://schemas.microsoft.com/office/powerpoint/2010/main" val="35261000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CAD6EDBA-62EC-43EE-909D-91A3029E0FCE}" type="datetimeFigureOut">
              <a:rPr lang="en-AU" smtClean="0"/>
              <a:t>9/08/2020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B2BBF6C-3500-46D4-87FB-372D49169A6F}" type="slidenum">
              <a:rPr lang="en-AU" smtClean="0"/>
              <a:t>‹#›</a:t>
            </a:fld>
            <a:endParaRPr lang="en-AU"/>
          </a:p>
        </p:txBody>
      </p:sp>
    </p:spTree>
    <p:extLst>
      <p:ext uri="{BB962C8B-B14F-4D97-AF65-F5344CB8AC3E}">
        <p14:creationId xmlns:p14="http://schemas.microsoft.com/office/powerpoint/2010/main" val="3080717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AD6EDBA-62EC-43EE-909D-91A3029E0FCE}" type="datetimeFigureOut">
              <a:rPr lang="en-AU" smtClean="0"/>
              <a:t>9/08/2020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B2BBF6C-3500-46D4-87FB-372D49169A6F}" type="slidenum">
              <a:rPr lang="en-AU" smtClean="0"/>
              <a:t>‹#›</a:t>
            </a:fld>
            <a:endParaRPr lang="en-AU"/>
          </a:p>
        </p:txBody>
      </p:sp>
    </p:spTree>
    <p:extLst>
      <p:ext uri="{BB962C8B-B14F-4D97-AF65-F5344CB8AC3E}">
        <p14:creationId xmlns:p14="http://schemas.microsoft.com/office/powerpoint/2010/main" val="24247667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CAD6EDBA-62EC-43EE-909D-91A3029E0FCE}" type="datetimeFigureOut">
              <a:rPr lang="en-AU" smtClean="0"/>
              <a:t>9/08/2020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B2BBF6C-3500-46D4-87FB-372D49169A6F}" type="slidenum">
              <a:rPr lang="en-AU" smtClean="0"/>
              <a:t>‹#›</a:t>
            </a:fld>
            <a:endParaRPr lang="en-AU"/>
          </a:p>
        </p:txBody>
      </p:sp>
    </p:spTree>
    <p:extLst>
      <p:ext uri="{BB962C8B-B14F-4D97-AF65-F5344CB8AC3E}">
        <p14:creationId xmlns:p14="http://schemas.microsoft.com/office/powerpoint/2010/main" val="2276052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CAD6EDBA-62EC-43EE-909D-91A3029E0FCE}" type="datetimeFigureOut">
              <a:rPr lang="en-AU" smtClean="0"/>
              <a:t>9/08/2020</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AB2BBF6C-3500-46D4-87FB-372D49169A6F}" type="slidenum">
              <a:rPr lang="en-AU" smtClean="0"/>
              <a:t>‹#›</a:t>
            </a:fld>
            <a:endParaRPr lang="en-AU"/>
          </a:p>
        </p:txBody>
      </p:sp>
    </p:spTree>
    <p:extLst>
      <p:ext uri="{BB962C8B-B14F-4D97-AF65-F5344CB8AC3E}">
        <p14:creationId xmlns:p14="http://schemas.microsoft.com/office/powerpoint/2010/main" val="14014735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CAD6EDBA-62EC-43EE-909D-91A3029E0FCE}" type="datetimeFigureOut">
              <a:rPr lang="en-AU" smtClean="0"/>
              <a:t>9/08/2020</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AB2BBF6C-3500-46D4-87FB-372D49169A6F}" type="slidenum">
              <a:rPr lang="en-AU" smtClean="0"/>
              <a:t>‹#›</a:t>
            </a:fld>
            <a:endParaRPr lang="en-AU"/>
          </a:p>
        </p:txBody>
      </p:sp>
    </p:spTree>
    <p:extLst>
      <p:ext uri="{BB962C8B-B14F-4D97-AF65-F5344CB8AC3E}">
        <p14:creationId xmlns:p14="http://schemas.microsoft.com/office/powerpoint/2010/main" val="4716436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D6EDBA-62EC-43EE-909D-91A3029E0FCE}" type="datetimeFigureOut">
              <a:rPr lang="en-AU" smtClean="0"/>
              <a:t>9/08/2020</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AB2BBF6C-3500-46D4-87FB-372D49169A6F}" type="slidenum">
              <a:rPr lang="en-AU" smtClean="0"/>
              <a:t>‹#›</a:t>
            </a:fld>
            <a:endParaRPr lang="en-AU"/>
          </a:p>
        </p:txBody>
      </p:sp>
    </p:spTree>
    <p:extLst>
      <p:ext uri="{BB962C8B-B14F-4D97-AF65-F5344CB8AC3E}">
        <p14:creationId xmlns:p14="http://schemas.microsoft.com/office/powerpoint/2010/main" val="33268176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AD6EDBA-62EC-43EE-909D-91A3029E0FCE}" type="datetimeFigureOut">
              <a:rPr lang="en-AU" smtClean="0"/>
              <a:t>9/08/2020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B2BBF6C-3500-46D4-87FB-372D49169A6F}" type="slidenum">
              <a:rPr lang="en-AU" smtClean="0"/>
              <a:t>‹#›</a:t>
            </a:fld>
            <a:endParaRPr lang="en-AU"/>
          </a:p>
        </p:txBody>
      </p:sp>
    </p:spTree>
    <p:extLst>
      <p:ext uri="{BB962C8B-B14F-4D97-AF65-F5344CB8AC3E}">
        <p14:creationId xmlns:p14="http://schemas.microsoft.com/office/powerpoint/2010/main" val="1801190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AD6EDBA-62EC-43EE-909D-91A3029E0FCE}" type="datetimeFigureOut">
              <a:rPr lang="en-AU" smtClean="0"/>
              <a:t>9/08/2020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B2BBF6C-3500-46D4-87FB-372D49169A6F}" type="slidenum">
              <a:rPr lang="en-AU" smtClean="0"/>
              <a:t>‹#›</a:t>
            </a:fld>
            <a:endParaRPr lang="en-AU"/>
          </a:p>
        </p:txBody>
      </p:sp>
    </p:spTree>
    <p:extLst>
      <p:ext uri="{BB962C8B-B14F-4D97-AF65-F5344CB8AC3E}">
        <p14:creationId xmlns:p14="http://schemas.microsoft.com/office/powerpoint/2010/main" val="1702557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CAD6EDBA-62EC-43EE-909D-91A3029E0FCE}" type="datetimeFigureOut">
              <a:rPr lang="en-AU" smtClean="0"/>
              <a:t>9/08/2020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B2BBF6C-3500-46D4-87FB-372D49169A6F}" type="slidenum">
              <a:rPr lang="en-AU" smtClean="0"/>
              <a:t>‹#›</a:t>
            </a:fld>
            <a:endParaRPr lang="en-AU"/>
          </a:p>
        </p:txBody>
      </p:sp>
    </p:spTree>
    <p:extLst>
      <p:ext uri="{BB962C8B-B14F-4D97-AF65-F5344CB8AC3E}">
        <p14:creationId xmlns:p14="http://schemas.microsoft.com/office/powerpoint/2010/main" val="665833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CAD6EDBA-62EC-43EE-909D-91A3029E0FCE}" type="datetimeFigureOut">
              <a:rPr lang="en-AU" smtClean="0"/>
              <a:t>9/08/2020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B2BBF6C-3500-46D4-87FB-372D49169A6F}" type="slidenum">
              <a:rPr lang="en-AU" smtClean="0"/>
              <a:t>‹#›</a:t>
            </a:fld>
            <a:endParaRPr lang="en-AU"/>
          </a:p>
        </p:txBody>
      </p:sp>
    </p:spTree>
    <p:extLst>
      <p:ext uri="{BB962C8B-B14F-4D97-AF65-F5344CB8AC3E}">
        <p14:creationId xmlns:p14="http://schemas.microsoft.com/office/powerpoint/2010/main" val="618872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D6EDBA-62EC-43EE-909D-91A3029E0FCE}" type="datetimeFigureOut">
              <a:rPr lang="en-AU" smtClean="0"/>
              <a:t>9/08/2020</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2BBF6C-3500-46D4-87FB-372D49169A6F}" type="slidenum">
              <a:rPr lang="en-AU" smtClean="0"/>
              <a:t>‹#›</a:t>
            </a:fld>
            <a:endParaRPr lang="en-AU"/>
          </a:p>
        </p:txBody>
      </p:sp>
    </p:spTree>
    <p:extLst>
      <p:ext uri="{BB962C8B-B14F-4D97-AF65-F5344CB8AC3E}">
        <p14:creationId xmlns:p14="http://schemas.microsoft.com/office/powerpoint/2010/main" val="33022646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7.xml"/><Relationship Id="rId1" Type="http://schemas.openxmlformats.org/officeDocument/2006/relationships/video" Target="https://www.youtube.com/embed/mEszSvBMd7Q"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Periodic Trends- Electronegativity</a:t>
            </a:r>
            <a:endParaRPr lang="en-AU" dirty="0"/>
          </a:p>
        </p:txBody>
      </p:sp>
      <p:sp>
        <p:nvSpPr>
          <p:cNvPr id="3" name="Subtitle 2"/>
          <p:cNvSpPr>
            <a:spLocks noGrp="1"/>
          </p:cNvSpPr>
          <p:nvPr>
            <p:ph type="subTitle" idx="1"/>
          </p:nvPr>
        </p:nvSpPr>
        <p:spPr/>
        <p:txBody>
          <a:bodyPr/>
          <a:lstStyle/>
          <a:p>
            <a:endParaRPr lang="en-AU"/>
          </a:p>
        </p:txBody>
      </p:sp>
    </p:spTree>
    <p:extLst>
      <p:ext uri="{BB962C8B-B14F-4D97-AF65-F5344CB8AC3E}">
        <p14:creationId xmlns:p14="http://schemas.microsoft.com/office/powerpoint/2010/main" val="37306310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8400" y="556736"/>
            <a:ext cx="10083800" cy="1569660"/>
          </a:xfrm>
          <a:prstGeom prst="rect">
            <a:avLst/>
          </a:prstGeom>
        </p:spPr>
        <p:txBody>
          <a:bodyPr wrap="square">
            <a:spAutoFit/>
          </a:bodyPr>
          <a:lstStyle/>
          <a:p>
            <a:pPr algn="ctr"/>
            <a:r>
              <a:rPr lang="en-AU" sz="2400" b="0" i="0" dirty="0" smtClean="0">
                <a:solidFill>
                  <a:srgbClr val="444444"/>
                </a:solidFill>
                <a:effectLst/>
                <a:latin typeface="Arial" panose="020B0604020202020204" pitchFamily="34" charset="0"/>
              </a:rPr>
              <a:t>In this Smart Lesson you will learn to:</a:t>
            </a:r>
          </a:p>
          <a:p>
            <a:pPr algn="ctr"/>
            <a:r>
              <a:rPr lang="en-AU" sz="2400" b="0" i="0" dirty="0" smtClean="0">
                <a:solidFill>
                  <a:srgbClr val="444444"/>
                </a:solidFill>
                <a:effectLst/>
                <a:latin typeface="Arial" panose="020B0604020202020204" pitchFamily="34" charset="0"/>
              </a:rPr>
              <a:t> </a:t>
            </a:r>
          </a:p>
          <a:p>
            <a:pPr>
              <a:buFont typeface="Arial" panose="020B0604020202020204" pitchFamily="34" charset="0"/>
              <a:buChar char="•"/>
            </a:pPr>
            <a:r>
              <a:rPr lang="en-AU" sz="2400" b="1" i="0" dirty="0" smtClean="0">
                <a:solidFill>
                  <a:srgbClr val="009900"/>
                </a:solidFill>
                <a:effectLst/>
                <a:latin typeface="Arial" panose="020B0604020202020204" pitchFamily="34" charset="0"/>
              </a:rPr>
              <a:t>Define</a:t>
            </a:r>
            <a:r>
              <a:rPr lang="en-AU" sz="2400" b="0" i="0" dirty="0" smtClean="0">
                <a:solidFill>
                  <a:srgbClr val="444444"/>
                </a:solidFill>
                <a:effectLst/>
                <a:latin typeface="Arial" panose="020B0604020202020204" pitchFamily="34" charset="0"/>
              </a:rPr>
              <a:t> </a:t>
            </a:r>
            <a:r>
              <a:rPr lang="en-AU" sz="2400" b="1" i="0" dirty="0" smtClean="0">
                <a:solidFill>
                  <a:srgbClr val="0066CC"/>
                </a:solidFill>
                <a:effectLst/>
                <a:latin typeface="Arial" panose="020B0604020202020204" pitchFamily="34" charset="0"/>
              </a:rPr>
              <a:t>electronegativity.</a:t>
            </a:r>
            <a:endParaRPr lang="en-AU" sz="2400" b="0" i="0" dirty="0" smtClean="0">
              <a:solidFill>
                <a:srgbClr val="444444"/>
              </a:solidFill>
              <a:effectLst/>
              <a:latin typeface="Arial" panose="020B0604020202020204" pitchFamily="34" charset="0"/>
            </a:endParaRPr>
          </a:p>
          <a:p>
            <a:pPr>
              <a:buFont typeface="Arial" panose="020B0604020202020204" pitchFamily="34" charset="0"/>
              <a:buChar char="•"/>
            </a:pPr>
            <a:r>
              <a:rPr lang="en-AU" sz="2400" b="1" i="0" dirty="0" smtClean="0">
                <a:solidFill>
                  <a:srgbClr val="009900"/>
                </a:solidFill>
                <a:effectLst/>
                <a:latin typeface="Arial" panose="020B0604020202020204" pitchFamily="34" charset="0"/>
              </a:rPr>
              <a:t>Describe</a:t>
            </a:r>
            <a:r>
              <a:rPr lang="en-AU" sz="2400" b="0" i="0" dirty="0" smtClean="0">
                <a:solidFill>
                  <a:srgbClr val="444444"/>
                </a:solidFill>
                <a:effectLst/>
                <a:latin typeface="Arial" panose="020B0604020202020204" pitchFamily="34" charset="0"/>
              </a:rPr>
              <a:t> and </a:t>
            </a:r>
            <a:r>
              <a:rPr lang="en-AU" sz="2400" b="1" i="0" dirty="0" smtClean="0">
                <a:solidFill>
                  <a:srgbClr val="009900"/>
                </a:solidFill>
                <a:effectLst/>
                <a:latin typeface="Arial" panose="020B0604020202020204" pitchFamily="34" charset="0"/>
              </a:rPr>
              <a:t>explain</a:t>
            </a:r>
            <a:r>
              <a:rPr lang="en-AU" sz="2400" b="0" i="0" dirty="0" smtClean="0">
                <a:solidFill>
                  <a:srgbClr val="444444"/>
                </a:solidFill>
                <a:effectLst/>
                <a:latin typeface="Arial" panose="020B0604020202020204" pitchFamily="34" charset="0"/>
              </a:rPr>
              <a:t> </a:t>
            </a:r>
            <a:r>
              <a:rPr lang="en-AU" sz="2400" b="1" i="0" dirty="0" smtClean="0">
                <a:solidFill>
                  <a:srgbClr val="F30277"/>
                </a:solidFill>
                <a:effectLst/>
                <a:latin typeface="Arial" panose="020B0604020202020204" pitchFamily="34" charset="0"/>
              </a:rPr>
              <a:t>trends in electronegativity</a:t>
            </a:r>
            <a:r>
              <a:rPr lang="en-AU" sz="2400" b="0" i="0" dirty="0" smtClean="0">
                <a:solidFill>
                  <a:srgbClr val="F30277"/>
                </a:solidFill>
                <a:effectLst/>
                <a:latin typeface="Arial" panose="020B0604020202020204" pitchFamily="34" charset="0"/>
              </a:rPr>
              <a:t> </a:t>
            </a:r>
            <a:r>
              <a:rPr lang="en-AU" sz="2400" b="0" i="0" dirty="0" smtClean="0">
                <a:solidFill>
                  <a:srgbClr val="444444"/>
                </a:solidFill>
                <a:effectLst/>
                <a:latin typeface="Arial" panose="020B0604020202020204" pitchFamily="34" charset="0"/>
              </a:rPr>
              <a:t>in the periodic table.</a:t>
            </a:r>
            <a:endParaRPr lang="en-AU" sz="2400" b="0" i="0" dirty="0">
              <a:solidFill>
                <a:srgbClr val="444444"/>
              </a:solidFill>
              <a:effectLst/>
              <a:latin typeface="Arial" panose="020B0604020202020204" pitchFamily="34" charset="0"/>
            </a:endParaRPr>
          </a:p>
        </p:txBody>
      </p:sp>
      <p:pic>
        <p:nvPicPr>
          <p:cNvPr id="1026" name="Picture 2" descr="https://www.educationperfect.com/media/content/Science/1455741213.855581g/1455741215751-4174902852677038-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2775" y="3001962"/>
            <a:ext cx="6667500" cy="2476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2104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7000" y="0"/>
            <a:ext cx="11734800" cy="5170646"/>
          </a:xfrm>
          <a:prstGeom prst="rect">
            <a:avLst/>
          </a:prstGeom>
        </p:spPr>
        <p:txBody>
          <a:bodyPr wrap="square">
            <a:spAutoFit/>
          </a:bodyPr>
          <a:lstStyle/>
          <a:p>
            <a:pPr algn="ctr"/>
            <a:r>
              <a:rPr lang="en-AU" sz="2200" b="1" i="0" dirty="0" smtClean="0">
                <a:solidFill>
                  <a:srgbClr val="0066CC"/>
                </a:solidFill>
                <a:effectLst/>
                <a:latin typeface="Arial" panose="020B0604020202020204" pitchFamily="34" charset="0"/>
              </a:rPr>
              <a:t>Electronegativity</a:t>
            </a:r>
            <a:r>
              <a:rPr lang="en-AU" sz="2200" b="1" i="0" dirty="0" smtClean="0">
                <a:solidFill>
                  <a:srgbClr val="444444"/>
                </a:solidFill>
                <a:effectLst/>
                <a:latin typeface="Arial" panose="020B0604020202020204" pitchFamily="34" charset="0"/>
              </a:rPr>
              <a:t> is a measure of an atom's tendency to attract a bonding pair of electrons.</a:t>
            </a:r>
          </a:p>
          <a:p>
            <a:pPr algn="ctr"/>
            <a:r>
              <a:rPr lang="en-AU" sz="2200" b="0" i="0" dirty="0" smtClean="0">
                <a:solidFill>
                  <a:srgbClr val="444444"/>
                </a:solidFill>
                <a:effectLst/>
                <a:latin typeface="Arial" panose="020B0604020202020204" pitchFamily="34" charset="0"/>
              </a:rPr>
              <a:t> </a:t>
            </a:r>
          </a:p>
          <a:p>
            <a:pPr algn="ctr"/>
            <a:r>
              <a:rPr lang="en-AU" sz="2200" b="0" i="0" dirty="0" smtClean="0">
                <a:solidFill>
                  <a:srgbClr val="444444"/>
                </a:solidFill>
                <a:effectLst/>
                <a:latin typeface="Arial" panose="020B0604020202020204" pitchFamily="34" charset="0"/>
              </a:rPr>
              <a:t>The attraction an atom has for electrons depends on the number of protons in the nucleus, the distance between the nucleus and the bonding electrons (i.e. atomic radius), and the shielding effects from electrons in inner shells.</a:t>
            </a:r>
          </a:p>
          <a:p>
            <a:pPr algn="ctr"/>
            <a:r>
              <a:rPr lang="en-AU" sz="2200" b="0" i="0" dirty="0" smtClean="0">
                <a:solidFill>
                  <a:srgbClr val="444444"/>
                </a:solidFill>
                <a:effectLst/>
                <a:latin typeface="Arial" panose="020B0604020202020204" pitchFamily="34" charset="0"/>
              </a:rPr>
              <a:t> </a:t>
            </a:r>
          </a:p>
          <a:p>
            <a:pPr algn="ctr"/>
            <a:r>
              <a:rPr lang="en-AU" sz="2200" b="0" i="0" dirty="0" smtClean="0">
                <a:solidFill>
                  <a:srgbClr val="444444"/>
                </a:solidFill>
                <a:effectLst/>
                <a:latin typeface="Arial" panose="020B0604020202020204" pitchFamily="34" charset="0"/>
              </a:rPr>
              <a:t>A </a:t>
            </a:r>
            <a:r>
              <a:rPr lang="en-AU" sz="2200" b="1" i="0" dirty="0" smtClean="0">
                <a:solidFill>
                  <a:srgbClr val="F30277"/>
                </a:solidFill>
                <a:effectLst/>
                <a:latin typeface="Arial" panose="020B0604020202020204" pitchFamily="34" charset="0"/>
              </a:rPr>
              <a:t>large</a:t>
            </a:r>
            <a:r>
              <a:rPr lang="en-AU" sz="2200" b="0" i="0" dirty="0" smtClean="0">
                <a:solidFill>
                  <a:srgbClr val="444444"/>
                </a:solidFill>
                <a:effectLst/>
                <a:latin typeface="Arial" panose="020B0604020202020204" pitchFamily="34" charset="0"/>
              </a:rPr>
              <a:t> electronegativity value means the attraction between the nucleus and the bonding electrons is </a:t>
            </a:r>
            <a:r>
              <a:rPr lang="en-AU" sz="2200" b="1" i="0" dirty="0" smtClean="0">
                <a:solidFill>
                  <a:srgbClr val="F30277"/>
                </a:solidFill>
                <a:effectLst/>
                <a:latin typeface="Arial" panose="020B0604020202020204" pitchFamily="34" charset="0"/>
              </a:rPr>
              <a:t>strong</a:t>
            </a:r>
            <a:r>
              <a:rPr lang="en-AU" sz="2200" b="0" i="0" dirty="0" smtClean="0">
                <a:solidFill>
                  <a:srgbClr val="444444"/>
                </a:solidFill>
                <a:effectLst/>
                <a:latin typeface="Arial" panose="020B0604020202020204" pitchFamily="34" charset="0"/>
              </a:rPr>
              <a:t>.</a:t>
            </a:r>
          </a:p>
          <a:p>
            <a:pPr algn="ctr"/>
            <a:r>
              <a:rPr lang="en-AU" sz="2200" b="0" i="0" dirty="0" smtClean="0">
                <a:solidFill>
                  <a:srgbClr val="444444"/>
                </a:solidFill>
                <a:effectLst/>
                <a:latin typeface="Arial" panose="020B0604020202020204" pitchFamily="34" charset="0"/>
              </a:rPr>
              <a:t> </a:t>
            </a:r>
          </a:p>
          <a:p>
            <a:pPr algn="ctr"/>
            <a:r>
              <a:rPr lang="en-AU" sz="2200" b="0" i="0" dirty="0" smtClean="0">
                <a:solidFill>
                  <a:srgbClr val="444444"/>
                </a:solidFill>
                <a:effectLst/>
                <a:latin typeface="Arial" panose="020B0604020202020204" pitchFamily="34" charset="0"/>
              </a:rPr>
              <a:t>When two elements are bound together that have </a:t>
            </a:r>
            <a:r>
              <a:rPr lang="en-AU" sz="2200" b="1" i="0" dirty="0" smtClean="0">
                <a:solidFill>
                  <a:srgbClr val="444444"/>
                </a:solidFill>
                <a:effectLst/>
                <a:latin typeface="Arial" panose="020B0604020202020204" pitchFamily="34" charset="0"/>
              </a:rPr>
              <a:t>different</a:t>
            </a:r>
            <a:r>
              <a:rPr lang="en-AU" sz="2200" b="0" i="0" dirty="0" smtClean="0">
                <a:solidFill>
                  <a:srgbClr val="444444"/>
                </a:solidFill>
                <a:effectLst/>
                <a:latin typeface="Arial" panose="020B0604020202020204" pitchFamily="34" charset="0"/>
              </a:rPr>
              <a:t> </a:t>
            </a:r>
            <a:r>
              <a:rPr lang="en-AU" sz="2200" b="0" i="0" dirty="0" err="1" smtClean="0">
                <a:solidFill>
                  <a:srgbClr val="444444"/>
                </a:solidFill>
                <a:effectLst/>
                <a:latin typeface="Arial" panose="020B0604020202020204" pitchFamily="34" charset="0"/>
              </a:rPr>
              <a:t>electronegativities</a:t>
            </a:r>
            <a:r>
              <a:rPr lang="en-AU" sz="2200" b="0" i="0" dirty="0" smtClean="0">
                <a:solidFill>
                  <a:srgbClr val="444444"/>
                </a:solidFill>
                <a:effectLst/>
                <a:latin typeface="Arial" panose="020B0604020202020204" pitchFamily="34" charset="0"/>
              </a:rPr>
              <a:t> a </a:t>
            </a:r>
            <a:r>
              <a:rPr lang="en-AU" sz="2200" b="1" i="0" dirty="0" smtClean="0">
                <a:solidFill>
                  <a:srgbClr val="444444"/>
                </a:solidFill>
                <a:effectLst/>
                <a:latin typeface="Arial" panose="020B0604020202020204" pitchFamily="34" charset="0"/>
              </a:rPr>
              <a:t>polar bond</a:t>
            </a:r>
            <a:r>
              <a:rPr lang="en-AU" sz="2200" b="0" i="0" dirty="0" smtClean="0">
                <a:solidFill>
                  <a:srgbClr val="444444"/>
                </a:solidFill>
                <a:effectLst/>
                <a:latin typeface="Arial" panose="020B0604020202020204" pitchFamily="34" charset="0"/>
              </a:rPr>
              <a:t> is formed. This is because the </a:t>
            </a:r>
            <a:r>
              <a:rPr lang="en-AU" sz="2200" b="0" i="0" u="sng" dirty="0" smtClean="0">
                <a:solidFill>
                  <a:srgbClr val="444444"/>
                </a:solidFill>
                <a:effectLst/>
                <a:latin typeface="Arial" panose="020B0604020202020204" pitchFamily="34" charset="0"/>
              </a:rPr>
              <a:t>electron density</a:t>
            </a:r>
            <a:r>
              <a:rPr lang="en-AU" sz="2200" b="0" i="0" dirty="0" smtClean="0">
                <a:solidFill>
                  <a:srgbClr val="444444"/>
                </a:solidFill>
                <a:effectLst/>
                <a:latin typeface="Arial" panose="020B0604020202020204" pitchFamily="34" charset="0"/>
              </a:rPr>
              <a:t> is higher around one atom than the other. For example, in </a:t>
            </a:r>
            <a:r>
              <a:rPr lang="en-AU" sz="2200" b="1" i="0" dirty="0" smtClean="0">
                <a:solidFill>
                  <a:srgbClr val="00B6EE"/>
                </a:solidFill>
                <a:effectLst/>
                <a:latin typeface="Arial" panose="020B0604020202020204" pitchFamily="34" charset="0"/>
              </a:rPr>
              <a:t>water,</a:t>
            </a:r>
            <a:r>
              <a:rPr lang="en-AU" sz="2200" b="0" i="0" dirty="0" smtClean="0">
                <a:solidFill>
                  <a:srgbClr val="444444"/>
                </a:solidFill>
                <a:effectLst/>
                <a:latin typeface="Arial" panose="020B0604020202020204" pitchFamily="34" charset="0"/>
              </a:rPr>
              <a:t> oxygen has a higher electronegativity than hydrogen so the electrons in the </a:t>
            </a:r>
            <a:r>
              <a:rPr lang="en-AU" sz="2200" b="0" i="0" dirty="0" smtClean="0">
                <a:solidFill>
                  <a:srgbClr val="444444"/>
                </a:solidFill>
                <a:effectLst/>
                <a:latin typeface="KaTeX_Main"/>
              </a:rPr>
              <a:t>O−H</a:t>
            </a:r>
            <a:r>
              <a:rPr lang="en-AU" sz="2200" b="0" i="0" dirty="0" smtClean="0">
                <a:solidFill>
                  <a:srgbClr val="444444"/>
                </a:solidFill>
                <a:effectLst/>
                <a:latin typeface="Arial" panose="020B0604020202020204" pitchFamily="34" charset="0"/>
              </a:rPr>
              <a:t> bond are found closer to the oxygen atom than the hydrogen atom. (The </a:t>
            </a:r>
            <a:r>
              <a:rPr lang="en-AU" sz="2200" b="0" i="1" dirty="0" smtClean="0">
                <a:solidFill>
                  <a:srgbClr val="444444"/>
                </a:solidFill>
                <a:effectLst/>
                <a:latin typeface="KaTeX_Math"/>
              </a:rPr>
              <a:t>δ</a:t>
            </a:r>
            <a:r>
              <a:rPr lang="en-AU" sz="2200" b="0" i="0" dirty="0" smtClean="0">
                <a:solidFill>
                  <a:srgbClr val="444444"/>
                </a:solidFill>
                <a:effectLst/>
                <a:latin typeface="Arial" panose="020B0604020202020204" pitchFamily="34" charset="0"/>
              </a:rPr>
              <a:t> symbol represents a small amount of charge).</a:t>
            </a:r>
            <a:endParaRPr lang="en-AU" sz="2200" b="0" i="0" dirty="0">
              <a:solidFill>
                <a:srgbClr val="444444"/>
              </a:solidFill>
              <a:effectLst/>
              <a:latin typeface="Arial" panose="020B0604020202020204" pitchFamily="34" charset="0"/>
            </a:endParaRPr>
          </a:p>
        </p:txBody>
      </p:sp>
      <p:pic>
        <p:nvPicPr>
          <p:cNvPr id="2050" name="Picture 2" descr="https://www.educationperfect.com/media/content/Science/1441329447.686941g/1441329445785-1847443450755466-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5775" y="5037137"/>
            <a:ext cx="3810000" cy="1981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1318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9400" y="118239"/>
            <a:ext cx="11760200" cy="3970318"/>
          </a:xfrm>
          <a:prstGeom prst="rect">
            <a:avLst/>
          </a:prstGeom>
        </p:spPr>
        <p:txBody>
          <a:bodyPr wrap="square">
            <a:spAutoFit/>
          </a:bodyPr>
          <a:lstStyle/>
          <a:p>
            <a:pPr algn="ctr"/>
            <a:r>
              <a:rPr lang="en-AU" sz="2800" b="1" i="0" dirty="0" smtClean="0">
                <a:solidFill>
                  <a:srgbClr val="444444"/>
                </a:solidFill>
                <a:effectLst/>
                <a:latin typeface="Arial" panose="020B0604020202020204" pitchFamily="34" charset="0"/>
              </a:rPr>
              <a:t>Electronegativity </a:t>
            </a:r>
            <a:r>
              <a:rPr lang="en-AU" sz="2800" b="1" i="0" dirty="0" smtClean="0">
                <a:solidFill>
                  <a:srgbClr val="F30277"/>
                </a:solidFill>
                <a:effectLst/>
                <a:latin typeface="Arial" panose="020B0604020202020204" pitchFamily="34" charset="0"/>
              </a:rPr>
              <a:t>increases across a period</a:t>
            </a:r>
            <a:r>
              <a:rPr lang="en-AU" sz="2800" b="1" i="0" dirty="0" smtClean="0">
                <a:solidFill>
                  <a:srgbClr val="444444"/>
                </a:solidFill>
                <a:effectLst/>
                <a:latin typeface="Arial" panose="020B0604020202020204" pitchFamily="34" charset="0"/>
              </a:rPr>
              <a:t> and </a:t>
            </a:r>
            <a:r>
              <a:rPr lang="en-AU" sz="2800" b="1" i="0" dirty="0" smtClean="0">
                <a:solidFill>
                  <a:srgbClr val="0066CC"/>
                </a:solidFill>
                <a:effectLst/>
                <a:latin typeface="Arial" panose="020B0604020202020204" pitchFamily="34" charset="0"/>
              </a:rPr>
              <a:t>decreases down a group</a:t>
            </a:r>
            <a:r>
              <a:rPr lang="en-AU" sz="2800" b="1" i="0" dirty="0" smtClean="0">
                <a:solidFill>
                  <a:srgbClr val="444444"/>
                </a:solidFill>
                <a:effectLst/>
                <a:latin typeface="Arial" panose="020B0604020202020204" pitchFamily="34" charset="0"/>
              </a:rPr>
              <a:t>.</a:t>
            </a:r>
          </a:p>
          <a:p>
            <a:pPr algn="ctr"/>
            <a:r>
              <a:rPr lang="en-AU" sz="2800" b="0" i="0" dirty="0" smtClean="0">
                <a:solidFill>
                  <a:srgbClr val="444444"/>
                </a:solidFill>
                <a:effectLst/>
                <a:latin typeface="Arial" panose="020B0604020202020204" pitchFamily="34" charset="0"/>
              </a:rPr>
              <a:t> </a:t>
            </a:r>
          </a:p>
          <a:p>
            <a:pPr algn="ctr"/>
            <a:r>
              <a:rPr lang="en-AU" sz="2800" b="0" i="0" dirty="0" smtClean="0">
                <a:solidFill>
                  <a:srgbClr val="444444"/>
                </a:solidFill>
                <a:effectLst/>
                <a:latin typeface="Arial" panose="020B0604020202020204" pitchFamily="34" charset="0"/>
              </a:rPr>
              <a:t>This means that the most electronegative atoms exist at the </a:t>
            </a:r>
            <a:r>
              <a:rPr lang="en-AU" sz="2800" b="1" i="0" dirty="0" smtClean="0">
                <a:solidFill>
                  <a:srgbClr val="444444"/>
                </a:solidFill>
                <a:effectLst/>
                <a:latin typeface="Arial" panose="020B0604020202020204" pitchFamily="34" charset="0"/>
              </a:rPr>
              <a:t>top-right</a:t>
            </a:r>
            <a:r>
              <a:rPr lang="en-AU" sz="2800" b="0" i="0" dirty="0" smtClean="0">
                <a:solidFill>
                  <a:srgbClr val="444444"/>
                </a:solidFill>
                <a:effectLst/>
                <a:latin typeface="Arial" panose="020B0604020202020204" pitchFamily="34" charset="0"/>
              </a:rPr>
              <a:t> corner of the periodic table with the </a:t>
            </a:r>
            <a:r>
              <a:rPr lang="en-AU" sz="2800" b="1" i="0" dirty="0" smtClean="0">
                <a:solidFill>
                  <a:srgbClr val="444444"/>
                </a:solidFill>
                <a:effectLst/>
                <a:latin typeface="Arial" panose="020B0604020202020204" pitchFamily="34" charset="0"/>
              </a:rPr>
              <a:t>exception</a:t>
            </a:r>
            <a:r>
              <a:rPr lang="en-AU" sz="2800" b="0" i="0" dirty="0" smtClean="0">
                <a:solidFill>
                  <a:srgbClr val="444444"/>
                </a:solidFill>
                <a:effectLst/>
                <a:latin typeface="Arial" panose="020B0604020202020204" pitchFamily="34" charset="0"/>
              </a:rPr>
              <a:t> of the group </a:t>
            </a:r>
            <a:r>
              <a:rPr lang="en-AU" sz="2800" b="0" i="0" dirty="0" smtClean="0">
                <a:solidFill>
                  <a:srgbClr val="444444"/>
                </a:solidFill>
                <a:effectLst/>
                <a:latin typeface="KaTeX_Main"/>
              </a:rPr>
              <a:t>18</a:t>
            </a:r>
            <a:r>
              <a:rPr lang="en-AU" sz="2800" b="0" i="0" dirty="0" smtClean="0">
                <a:solidFill>
                  <a:srgbClr val="444444"/>
                </a:solidFill>
                <a:effectLst/>
                <a:latin typeface="Arial" panose="020B0604020202020204" pitchFamily="34" charset="0"/>
              </a:rPr>
              <a:t> noble gases, which do not have electronegativity values. An easy way to remember this is that </a:t>
            </a:r>
            <a:r>
              <a:rPr lang="en-AU" sz="2800" b="1" i="0" dirty="0" smtClean="0">
                <a:solidFill>
                  <a:srgbClr val="00868B"/>
                </a:solidFill>
                <a:effectLst/>
                <a:latin typeface="Arial" panose="020B0604020202020204" pitchFamily="34" charset="0"/>
              </a:rPr>
              <a:t>fluorine</a:t>
            </a:r>
            <a:r>
              <a:rPr lang="en-AU" sz="2800" b="0" i="0" dirty="0" smtClean="0">
                <a:solidFill>
                  <a:srgbClr val="444444"/>
                </a:solidFill>
                <a:effectLst/>
                <a:latin typeface="Arial" panose="020B0604020202020204" pitchFamily="34" charset="0"/>
              </a:rPr>
              <a:t> is the most electronegative element, and the farther you go from fluorine, the less electronegative the element will be.</a:t>
            </a:r>
            <a:endParaRPr lang="en-AU" sz="2800" b="0" i="0" dirty="0">
              <a:solidFill>
                <a:srgbClr val="444444"/>
              </a:solidFill>
              <a:effectLst/>
              <a:latin typeface="Arial" panose="020B0604020202020204" pitchFamily="34" charset="0"/>
            </a:endParaRPr>
          </a:p>
        </p:txBody>
      </p:sp>
      <p:pic>
        <p:nvPicPr>
          <p:cNvPr id="3074" name="Picture 2" descr="https://www.educationperfect.com/media/content/Science/1441332203.082671g/1441332201268-1847443450755466-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7075" y="4088557"/>
            <a:ext cx="7620000" cy="2828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7796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64100" y="527040"/>
            <a:ext cx="6896100" cy="5632311"/>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What causes the changes in electronegativity?</a:t>
            </a:r>
          </a:p>
          <a:p>
            <a:pPr algn="ctr"/>
            <a:r>
              <a:rPr lang="en-AU" sz="2400" b="0" i="0" dirty="0" smtClean="0">
                <a:solidFill>
                  <a:srgbClr val="444444"/>
                </a:solidFill>
                <a:effectLst/>
                <a:latin typeface="Arial" panose="020B0604020202020204" pitchFamily="34" charset="0"/>
              </a:rPr>
              <a:t> </a:t>
            </a:r>
          </a:p>
          <a:p>
            <a:pPr algn="ctr"/>
            <a:r>
              <a:rPr lang="en-AU" sz="2400" b="1" i="0" dirty="0" smtClean="0">
                <a:solidFill>
                  <a:srgbClr val="F30277"/>
                </a:solidFill>
                <a:effectLst/>
                <a:latin typeface="Arial" panose="020B0604020202020204" pitchFamily="34" charset="0"/>
              </a:rPr>
              <a:t>Across a period</a:t>
            </a:r>
            <a:r>
              <a:rPr lang="en-AU" sz="2400" b="0" i="0" dirty="0" smtClean="0">
                <a:solidFill>
                  <a:srgbClr val="444444"/>
                </a:solidFill>
                <a:effectLst/>
                <a:latin typeface="Arial" panose="020B0604020202020204" pitchFamily="34" charset="0"/>
              </a:rPr>
              <a:t> the electronegativity increases because the number of protons in the nucleus increases while the valence electrons are in the same energy level. This means the electrostatic attraction between the nucleus and the electrons is stronger.</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When going </a:t>
            </a:r>
            <a:r>
              <a:rPr lang="en-AU" sz="2400" b="1" i="0" dirty="0" smtClean="0">
                <a:solidFill>
                  <a:srgbClr val="0066CC"/>
                </a:solidFill>
                <a:effectLst/>
                <a:latin typeface="Arial" panose="020B0604020202020204" pitchFamily="34" charset="0"/>
              </a:rPr>
              <a:t>down a group</a:t>
            </a:r>
            <a:r>
              <a:rPr lang="en-AU" sz="2400" b="0" i="0" dirty="0" smtClean="0">
                <a:solidFill>
                  <a:srgbClr val="444444"/>
                </a:solidFill>
                <a:effectLst/>
                <a:latin typeface="Arial" panose="020B0604020202020204" pitchFamily="34" charset="0"/>
              </a:rPr>
              <a:t> the increase in </a:t>
            </a:r>
            <a:r>
              <a:rPr lang="en-AU" sz="2400" b="1" i="0" dirty="0" smtClean="0">
                <a:solidFill>
                  <a:srgbClr val="444444"/>
                </a:solidFill>
                <a:effectLst/>
                <a:latin typeface="Arial" panose="020B0604020202020204" pitchFamily="34" charset="0"/>
              </a:rPr>
              <a:t>atomic radius</a:t>
            </a:r>
            <a:r>
              <a:rPr lang="en-AU" sz="2400" b="0" i="0" dirty="0" smtClean="0">
                <a:solidFill>
                  <a:srgbClr val="444444"/>
                </a:solidFill>
                <a:effectLst/>
                <a:latin typeface="Arial" panose="020B0604020202020204" pitchFamily="34" charset="0"/>
              </a:rPr>
              <a:t> means that electrons are situated farther away from the nucleus, so the electrostatic attraction and thus electronegativity decreases.</a:t>
            </a:r>
            <a:endParaRPr lang="en-AU" sz="2400" b="0" i="0" dirty="0">
              <a:solidFill>
                <a:srgbClr val="444444"/>
              </a:solidFill>
              <a:effectLst/>
              <a:latin typeface="Arial" panose="020B0604020202020204" pitchFamily="34" charset="0"/>
            </a:endParaRPr>
          </a:p>
        </p:txBody>
      </p:sp>
      <p:pic>
        <p:nvPicPr>
          <p:cNvPr id="4098" name="Picture 2" descr="https://www.educationperfect.com/media/content/Science/1441332203.082671g/1441332201268-1847443450755466-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100" y="2768711"/>
            <a:ext cx="4686300" cy="17397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9078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mEszSvBMd7Q"/>
          <p:cNvPicPr>
            <a:picLocks noRot="1" noChangeAspect="1"/>
          </p:cNvPicPr>
          <p:nvPr>
            <a:videoFile r:link="rId1"/>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14369719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2100" y="50800"/>
            <a:ext cx="11798300" cy="3416320"/>
          </a:xfrm>
          <a:prstGeom prst="rect">
            <a:avLst/>
          </a:prstGeom>
        </p:spPr>
        <p:txBody>
          <a:bodyPr wrap="square">
            <a:spAutoFit/>
          </a:bodyPr>
          <a:lstStyle/>
          <a:p>
            <a:pPr algn="ctr"/>
            <a:r>
              <a:rPr lang="en-AU" sz="2400" b="1" i="0" dirty="0" smtClean="0">
                <a:solidFill>
                  <a:srgbClr val="0066CC"/>
                </a:solidFill>
                <a:effectLst/>
                <a:latin typeface="Arial" panose="020B0604020202020204" pitchFamily="34" charset="0"/>
              </a:rPr>
              <a:t>Electronegativity</a:t>
            </a:r>
            <a:r>
              <a:rPr lang="en-AU" sz="2400" b="1" i="0" dirty="0" smtClean="0">
                <a:solidFill>
                  <a:srgbClr val="444444"/>
                </a:solidFill>
                <a:effectLst/>
                <a:latin typeface="Arial" panose="020B0604020202020204" pitchFamily="34" charset="0"/>
              </a:rPr>
              <a:t> is measured on a relative scale known as the </a:t>
            </a:r>
            <a:r>
              <a:rPr lang="en-AU" sz="2400" b="1" i="0" dirty="0" smtClean="0">
                <a:solidFill>
                  <a:srgbClr val="00868B"/>
                </a:solidFill>
                <a:effectLst/>
                <a:latin typeface="Arial" panose="020B0604020202020204" pitchFamily="34" charset="0"/>
              </a:rPr>
              <a:t>Pauling scale.</a:t>
            </a:r>
            <a:endParaRPr lang="en-AU" sz="2400" b="1"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The most electronegative element is </a:t>
            </a:r>
            <a:r>
              <a:rPr lang="en-AU" sz="2400" b="1" i="0" dirty="0" smtClean="0">
                <a:solidFill>
                  <a:srgbClr val="444444"/>
                </a:solidFill>
                <a:effectLst/>
                <a:latin typeface="Arial" panose="020B0604020202020204" pitchFamily="34" charset="0"/>
              </a:rPr>
              <a:t>fluorine,</a:t>
            </a:r>
            <a:r>
              <a:rPr lang="en-AU" sz="2400" b="0" i="0" dirty="0" smtClean="0">
                <a:solidFill>
                  <a:srgbClr val="444444"/>
                </a:solidFill>
                <a:effectLst/>
                <a:latin typeface="Arial" panose="020B0604020202020204" pitchFamily="34" charset="0"/>
              </a:rPr>
              <a:t> and it was arbitrarily given a value of </a:t>
            </a:r>
            <a:r>
              <a:rPr lang="en-AU" sz="2400" b="1" i="0" dirty="0" smtClean="0">
                <a:solidFill>
                  <a:srgbClr val="444444"/>
                </a:solidFill>
                <a:effectLst/>
                <a:latin typeface="KaTeX_Main"/>
              </a:rPr>
              <a:t>4.0</a:t>
            </a:r>
            <a:r>
              <a:rPr lang="en-AU" sz="2400" b="0" i="0" dirty="0" smtClean="0">
                <a:solidFill>
                  <a:srgbClr val="444444"/>
                </a:solidFill>
                <a:effectLst/>
                <a:latin typeface="Arial" panose="020B0604020202020204" pitchFamily="34" charset="0"/>
              </a:rPr>
              <a:t> on the Pauling scale and all other elements were measured relative to this.</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Pauling proposed the concept of electronegativity in </a:t>
            </a:r>
            <a:r>
              <a:rPr lang="en-AU" sz="2400" b="0" i="0" dirty="0" smtClean="0">
                <a:solidFill>
                  <a:srgbClr val="444444"/>
                </a:solidFill>
                <a:effectLst/>
                <a:latin typeface="KaTeX_Main"/>
              </a:rPr>
              <a:t>1932</a:t>
            </a:r>
            <a:r>
              <a:rPr lang="en-AU" sz="2400" b="0" i="0" dirty="0" smtClean="0">
                <a:solidFill>
                  <a:srgbClr val="444444"/>
                </a:solidFill>
                <a:effectLst/>
                <a:latin typeface="Arial" panose="020B0604020202020204" pitchFamily="34" charset="0"/>
              </a:rPr>
              <a:t> to explain the fact that some experimentally observed covalent bond strengths were </a:t>
            </a:r>
            <a:r>
              <a:rPr lang="en-AU" sz="2400" b="1" i="0" dirty="0" smtClean="0">
                <a:solidFill>
                  <a:srgbClr val="444444"/>
                </a:solidFill>
                <a:effectLst/>
                <a:latin typeface="Arial" panose="020B0604020202020204" pitchFamily="34" charset="0"/>
              </a:rPr>
              <a:t>stronger</a:t>
            </a:r>
            <a:r>
              <a:rPr lang="en-AU" sz="2400" b="0" i="0" dirty="0" smtClean="0">
                <a:solidFill>
                  <a:srgbClr val="444444"/>
                </a:solidFill>
                <a:effectLst/>
                <a:latin typeface="Arial" panose="020B0604020202020204" pitchFamily="34" charset="0"/>
              </a:rPr>
              <a:t> than the theoretical ones. Pauling reasoned that this difference in bond strengths was due to an additional </a:t>
            </a:r>
            <a:r>
              <a:rPr lang="en-AU" sz="2400" b="0" i="1" dirty="0" smtClean="0">
                <a:solidFill>
                  <a:srgbClr val="444444"/>
                </a:solidFill>
                <a:effectLst/>
                <a:latin typeface="Arial" panose="020B0604020202020204" pitchFamily="34" charset="0"/>
              </a:rPr>
              <a:t>ionic</a:t>
            </a:r>
            <a:r>
              <a:rPr lang="en-AU" sz="2400" b="0" i="0" dirty="0" smtClean="0">
                <a:solidFill>
                  <a:srgbClr val="444444"/>
                </a:solidFill>
                <a:effectLst/>
                <a:latin typeface="Arial" panose="020B0604020202020204" pitchFamily="34" charset="0"/>
              </a:rPr>
              <a:t> contribution to the bond due to uneven sharing of electrons.</a:t>
            </a:r>
            <a:endParaRPr lang="en-AU" sz="2400" b="0" i="0" dirty="0">
              <a:solidFill>
                <a:srgbClr val="444444"/>
              </a:solidFill>
              <a:effectLst/>
              <a:latin typeface="Arial" panose="020B0604020202020204" pitchFamily="34" charset="0"/>
            </a:endParaRPr>
          </a:p>
        </p:txBody>
      </p:sp>
      <p:pic>
        <p:nvPicPr>
          <p:cNvPr id="5122" name="Picture 2" descr="https://www.educationperfect.com/media/content/Science/1440714900.135191g/1440714900767-336272996-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8975" y="4359275"/>
            <a:ext cx="3790950" cy="1562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24266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Words>
  <Application>Microsoft Office PowerPoint</Application>
  <PresentationFormat>Widescreen</PresentationFormat>
  <Paragraphs>25</Paragraphs>
  <Slides>7</Slides>
  <Notes>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Calibri Light</vt:lpstr>
      <vt:lpstr>KaTeX_Main</vt:lpstr>
      <vt:lpstr>KaTeX_Math</vt:lpstr>
      <vt:lpstr>Office Theme</vt:lpstr>
      <vt:lpstr>Periodic Trends- Electronegativity</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Periodic Trends- Electronegativity</dc:title>
  <dc:creator>Joseph D'cruz</dc:creator>
  <cp:lastModifiedBy>Joseph D'cruz</cp:lastModifiedBy>
  <cp:revision>1</cp:revision>
  <dcterms:created xsi:type="dcterms:W3CDTF">2020-08-09T03:14:31Z</dcterms:created>
  <dcterms:modified xsi:type="dcterms:W3CDTF">2020-08-09T03:14:39Z</dcterms:modified>
</cp:coreProperties>
</file>
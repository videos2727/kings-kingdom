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4"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5" r:id="rId21"/>
    <p:sldId id="300" r:id="rId22"/>
    <p:sldId id="299"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301" r:id="rId38"/>
    <p:sldId id="290" r:id="rId39"/>
    <p:sldId id="291" r:id="rId40"/>
    <p:sldId id="292" r:id="rId41"/>
    <p:sldId id="293" r:id="rId42"/>
    <p:sldId id="294" r:id="rId43"/>
    <p:sldId id="295" r:id="rId44"/>
    <p:sldId id="296"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C8DC959-EF3A-4CEC-8C97-29DDEF3CB7E6}"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430712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8DC959-EF3A-4CEC-8C97-29DDEF3CB7E6}"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56118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C8DC959-EF3A-4CEC-8C97-29DDEF3CB7E6}"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15591300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C8DC959-EF3A-4CEC-8C97-29DDEF3CB7E6}"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2694751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C8DC959-EF3A-4CEC-8C97-29DDEF3CB7E6}" type="datetimeFigureOut">
              <a:rPr lang="en-AU" smtClean="0"/>
              <a:t>18/12/2021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1641081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C8DC959-EF3A-4CEC-8C97-29DDEF3CB7E6}" type="datetimeFigureOut">
              <a:rPr lang="en-AU" smtClean="0"/>
              <a:t>18/12/2021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3043937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8DC959-EF3A-4CEC-8C97-29DDEF3CB7E6}" type="datetimeFigureOut">
              <a:rPr lang="en-AU" smtClean="0"/>
              <a:t>18/12/2021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37958357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8DC959-EF3A-4CEC-8C97-29DDEF3CB7E6}"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1659389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C8DC959-EF3A-4CEC-8C97-29DDEF3CB7E6}" type="datetimeFigureOut">
              <a:rPr lang="en-AU" smtClean="0"/>
              <a:t>18/12/2021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41054713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8DC959-EF3A-4CEC-8C97-29DDEF3CB7E6}"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2882729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C8DC959-EF3A-4CEC-8C97-29DDEF3CB7E6}" type="datetimeFigureOut">
              <a:rPr lang="en-AU" smtClean="0"/>
              <a:t>18/12/2021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E4B372C-9784-4C9B-9DC5-688D1DB5684E}" type="slidenum">
              <a:rPr lang="en-AU" smtClean="0"/>
              <a:t>‹#›</a:t>
            </a:fld>
            <a:endParaRPr lang="en-AU"/>
          </a:p>
        </p:txBody>
      </p:sp>
    </p:spTree>
    <p:extLst>
      <p:ext uri="{BB962C8B-B14F-4D97-AF65-F5344CB8AC3E}">
        <p14:creationId xmlns:p14="http://schemas.microsoft.com/office/powerpoint/2010/main" val="28878750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8DC959-EF3A-4CEC-8C97-29DDEF3CB7E6}" type="datetimeFigureOut">
              <a:rPr lang="en-AU" smtClean="0"/>
              <a:t>18/12/2021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4B372C-9784-4C9B-9DC5-688D1DB5684E}" type="slidenum">
              <a:rPr lang="en-AU" smtClean="0"/>
              <a:t>‹#›</a:t>
            </a:fld>
            <a:endParaRPr lang="en-AU"/>
          </a:p>
        </p:txBody>
      </p:sp>
    </p:spTree>
    <p:extLst>
      <p:ext uri="{BB962C8B-B14F-4D97-AF65-F5344CB8AC3E}">
        <p14:creationId xmlns:p14="http://schemas.microsoft.com/office/powerpoint/2010/main" val="29087732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Electron Configuration</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228672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Electron Configuration Revision</a:t>
            </a:r>
            <a:endParaRPr lang="en-AU" dirty="0"/>
          </a:p>
        </p:txBody>
      </p:sp>
      <p:sp>
        <p:nvSpPr>
          <p:cNvPr id="3" name="Text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2572223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729040"/>
            <a:ext cx="11468100" cy="2031325"/>
          </a:xfrm>
          <a:prstGeom prst="rect">
            <a:avLst/>
          </a:prstGeom>
        </p:spPr>
        <p:txBody>
          <a:bodyPr wrap="square">
            <a:spAutoFit/>
          </a:bodyPr>
          <a:lstStyle/>
          <a:p>
            <a:r>
              <a:rPr lang="en-AU" b="0" i="0" dirty="0" smtClean="0">
                <a:solidFill>
                  <a:srgbClr val="444444"/>
                </a:solidFill>
                <a:effectLst/>
                <a:latin typeface="Arial" panose="020B0604020202020204" pitchFamily="34" charset="0"/>
              </a:rPr>
              <a:t>After you have completed this lesson, you should be able to:</a:t>
            </a:r>
          </a:p>
          <a:p>
            <a:pPr>
              <a:buFont typeface="Arial" panose="020B0604020202020204" pitchFamily="34" charset="0"/>
              <a:buChar char="•"/>
            </a:pPr>
            <a:r>
              <a:rPr lang="en-AU" b="0" i="0" dirty="0" smtClean="0">
                <a:solidFill>
                  <a:srgbClr val="444444"/>
                </a:solidFill>
                <a:effectLst/>
                <a:latin typeface="Arial" panose="020B0604020202020204" pitchFamily="34" charset="0"/>
              </a:rPr>
              <a:t>State the </a:t>
            </a:r>
            <a:r>
              <a:rPr lang="en-AU" b="1" i="0" dirty="0" smtClean="0">
                <a:solidFill>
                  <a:srgbClr val="3598DC"/>
                </a:solidFill>
                <a:effectLst/>
                <a:latin typeface="Arial" panose="020B0604020202020204" pitchFamily="34" charset="0"/>
              </a:rPr>
              <a:t>order</a:t>
            </a:r>
            <a:r>
              <a:rPr lang="en-AU" b="0" i="0" dirty="0" smtClean="0">
                <a:solidFill>
                  <a:srgbClr val="444444"/>
                </a:solidFill>
                <a:effectLst/>
                <a:latin typeface="Arial" panose="020B0604020202020204" pitchFamily="34" charset="0"/>
              </a:rPr>
              <a:t> in which electrons fill electron shells and the </a:t>
            </a:r>
            <a:r>
              <a:rPr lang="en-AU" b="1" i="0" dirty="0" smtClean="0">
                <a:solidFill>
                  <a:srgbClr val="3598DC"/>
                </a:solidFill>
                <a:effectLst/>
                <a:latin typeface="Arial" panose="020B0604020202020204" pitchFamily="34" charset="0"/>
              </a:rPr>
              <a:t>number of electrons</a:t>
            </a:r>
            <a:r>
              <a:rPr lang="en-AU" b="0" i="0" dirty="0" smtClean="0">
                <a:solidFill>
                  <a:srgbClr val="444444"/>
                </a:solidFill>
                <a:effectLst/>
                <a:latin typeface="Arial" panose="020B0604020202020204" pitchFamily="34" charset="0"/>
              </a:rPr>
              <a:t> that can be found in each shell.</a:t>
            </a:r>
          </a:p>
          <a:p>
            <a:pPr>
              <a:buFont typeface="Arial" panose="020B0604020202020204" pitchFamily="34" charset="0"/>
              <a:buChar char="•"/>
            </a:pPr>
            <a:r>
              <a:rPr lang="en-AU" b="1" i="0" dirty="0" smtClean="0">
                <a:solidFill>
                  <a:srgbClr val="00868B"/>
                </a:solidFill>
                <a:effectLst/>
                <a:latin typeface="Arial" panose="020B0604020202020204" pitchFamily="34" charset="0"/>
              </a:rPr>
              <a:t>Draw electron shell diagrams</a:t>
            </a:r>
            <a:r>
              <a:rPr lang="en-AU" b="0" i="0" dirty="0" smtClean="0">
                <a:solidFill>
                  <a:srgbClr val="444444"/>
                </a:solidFill>
                <a:effectLst/>
                <a:latin typeface="Arial" panose="020B0604020202020204" pitchFamily="34" charset="0"/>
              </a:rPr>
              <a:t> for neutral atoms of the first </a:t>
            </a:r>
            <a:r>
              <a:rPr lang="en-AU" b="0" i="0" dirty="0" smtClean="0">
                <a:solidFill>
                  <a:srgbClr val="444444"/>
                </a:solidFill>
                <a:effectLst/>
                <a:latin typeface="KaTeX_Main"/>
              </a:rPr>
              <a:t>20</a:t>
            </a:r>
            <a:r>
              <a:rPr lang="en-AU" b="0" i="0" dirty="0" smtClean="0">
                <a:solidFill>
                  <a:srgbClr val="444444"/>
                </a:solidFill>
                <a:effectLst/>
                <a:latin typeface="Arial" panose="020B0604020202020204" pitchFamily="34" charset="0"/>
              </a:rPr>
              <a:t> elements.</a:t>
            </a:r>
          </a:p>
          <a:p>
            <a:pPr>
              <a:buFont typeface="Arial" panose="020B0604020202020204" pitchFamily="34" charset="0"/>
              <a:buChar char="•"/>
            </a:pPr>
            <a:r>
              <a:rPr lang="en-AU" b="1" i="0" dirty="0" smtClean="0">
                <a:solidFill>
                  <a:srgbClr val="6773B2"/>
                </a:solidFill>
                <a:effectLst/>
                <a:latin typeface="Arial" panose="020B0604020202020204" pitchFamily="34" charset="0"/>
              </a:rPr>
              <a:t>Write electron configurations</a:t>
            </a:r>
            <a:r>
              <a:rPr lang="en-AU" b="0" i="0" dirty="0" smtClean="0">
                <a:solidFill>
                  <a:srgbClr val="444444"/>
                </a:solidFill>
                <a:effectLst/>
                <a:latin typeface="Arial" panose="020B0604020202020204" pitchFamily="34" charset="0"/>
              </a:rPr>
              <a:t> for neutral atoms of the first </a:t>
            </a:r>
            <a:r>
              <a:rPr lang="en-AU" b="0" i="0" dirty="0" smtClean="0">
                <a:solidFill>
                  <a:srgbClr val="444444"/>
                </a:solidFill>
                <a:effectLst/>
                <a:latin typeface="KaTeX_Main"/>
              </a:rPr>
              <a:t>20</a:t>
            </a:r>
            <a:r>
              <a:rPr lang="en-AU" b="0" i="0" dirty="0" smtClean="0">
                <a:solidFill>
                  <a:srgbClr val="444444"/>
                </a:solidFill>
                <a:effectLst/>
                <a:latin typeface="Arial" panose="020B0604020202020204" pitchFamily="34" charset="0"/>
              </a:rPr>
              <a:t> elements.</a:t>
            </a:r>
          </a:p>
          <a:p>
            <a:pPr>
              <a:buFont typeface="Arial" panose="020B0604020202020204" pitchFamily="34" charset="0"/>
              <a:buChar char="•"/>
            </a:pPr>
            <a:r>
              <a:rPr lang="en-AU" b="0" i="0" dirty="0" smtClean="0">
                <a:solidFill>
                  <a:srgbClr val="444444"/>
                </a:solidFill>
                <a:effectLst/>
                <a:latin typeface="Arial" panose="020B0604020202020204" pitchFamily="34" charset="0"/>
              </a:rPr>
              <a:t>Explain what </a:t>
            </a:r>
            <a:r>
              <a:rPr lang="en-AU" b="1" i="0" dirty="0" smtClean="0">
                <a:solidFill>
                  <a:srgbClr val="3598DC"/>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are.</a:t>
            </a:r>
          </a:p>
          <a:p>
            <a:pPr>
              <a:buFont typeface="Arial" panose="020B0604020202020204" pitchFamily="34" charset="0"/>
              <a:buChar char="•"/>
            </a:pPr>
            <a:r>
              <a:rPr lang="en-AU" b="0" i="0" dirty="0" smtClean="0">
                <a:solidFill>
                  <a:srgbClr val="444444"/>
                </a:solidFill>
                <a:effectLst/>
                <a:latin typeface="Arial" panose="020B0604020202020204" pitchFamily="34" charset="0"/>
              </a:rPr>
              <a:t>Identify the </a:t>
            </a:r>
            <a:r>
              <a:rPr lang="en-AU" b="1" i="0" dirty="0" smtClean="0">
                <a:solidFill>
                  <a:srgbClr val="00868B"/>
                </a:solidFill>
                <a:effectLst/>
                <a:latin typeface="Arial" panose="020B0604020202020204" pitchFamily="34" charset="0"/>
              </a:rPr>
              <a:t>number of valence electrons</a:t>
            </a:r>
            <a:r>
              <a:rPr lang="en-AU" b="0" i="0" dirty="0" smtClean="0">
                <a:solidFill>
                  <a:srgbClr val="444444"/>
                </a:solidFill>
                <a:effectLst/>
                <a:latin typeface="Arial" panose="020B0604020202020204" pitchFamily="34" charset="0"/>
              </a:rPr>
              <a:t> in an atom using various methods.</a:t>
            </a:r>
            <a:endParaRPr lang="en-AU" b="0" i="0" dirty="0">
              <a:solidFill>
                <a:srgbClr val="444444"/>
              </a:solidFill>
              <a:effectLst/>
              <a:latin typeface="Arial" panose="020B0604020202020204" pitchFamily="34" charset="0"/>
            </a:endParaRPr>
          </a:p>
        </p:txBody>
      </p:sp>
      <p:pic>
        <p:nvPicPr>
          <p:cNvPr id="1026" name="Picture 2" descr="Atom with valence electrons display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677" y="3060700"/>
            <a:ext cx="3461173" cy="345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78931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5500" y="609938"/>
            <a:ext cx="10883900" cy="147732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Some elements are </a:t>
            </a:r>
            <a:r>
              <a:rPr lang="en-AU" b="1" i="0" dirty="0" smtClean="0">
                <a:solidFill>
                  <a:srgbClr val="F30277"/>
                </a:solidFill>
                <a:effectLst/>
                <a:latin typeface="Arial" panose="020B0604020202020204" pitchFamily="34" charset="0"/>
              </a:rPr>
              <a:t>extremely reactive,</a:t>
            </a:r>
            <a:r>
              <a:rPr lang="en-AU" b="1" i="0" dirty="0" smtClean="0">
                <a:solidFill>
                  <a:srgbClr val="444444"/>
                </a:solidFill>
                <a:effectLst/>
                <a:latin typeface="Arial" panose="020B0604020202020204" pitchFamily="34" charset="0"/>
              </a:rPr>
              <a:t> like sodium and potassium. Others are </a:t>
            </a:r>
            <a:r>
              <a:rPr lang="en-AU" b="1" i="0" dirty="0" smtClean="0">
                <a:solidFill>
                  <a:srgbClr val="6773B2"/>
                </a:solidFill>
                <a:effectLst/>
                <a:latin typeface="Arial" panose="020B0604020202020204" pitchFamily="34" charset="0"/>
              </a:rPr>
              <a:t>extremely unreactive,</a:t>
            </a:r>
            <a:r>
              <a:rPr lang="en-AU" b="1" i="0" dirty="0" smtClean="0">
                <a:solidFill>
                  <a:srgbClr val="444444"/>
                </a:solidFill>
                <a:effectLst/>
                <a:latin typeface="Arial" panose="020B0604020202020204" pitchFamily="34" charset="0"/>
              </a:rPr>
              <a:t> like argon.</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What determines the </a:t>
            </a:r>
            <a:r>
              <a:rPr lang="en-AU" b="1" i="0" dirty="0" smtClean="0">
                <a:solidFill>
                  <a:srgbClr val="00868B"/>
                </a:solidFill>
                <a:effectLst/>
                <a:latin typeface="Arial" panose="020B0604020202020204" pitchFamily="34" charset="0"/>
              </a:rPr>
              <a:t>chemical reactivity</a:t>
            </a:r>
            <a:r>
              <a:rPr lang="en-AU" b="0" i="0" dirty="0" smtClean="0">
                <a:solidFill>
                  <a:srgbClr val="444444"/>
                </a:solidFill>
                <a:effectLst/>
                <a:latin typeface="Arial" panose="020B0604020202020204" pitchFamily="34" charset="0"/>
              </a:rPr>
              <a:t> of different elements? The answer lies in the arrangement of their </a:t>
            </a:r>
            <a:r>
              <a:rPr lang="en-AU" b="1" i="0" dirty="0" smtClean="0">
                <a:solidFill>
                  <a:srgbClr val="6773B2"/>
                </a:solidFill>
                <a:effectLst/>
                <a:latin typeface="Arial" panose="020B0604020202020204" pitchFamily="34" charset="0"/>
              </a:rPr>
              <a:t>electrons!</a:t>
            </a:r>
            <a:endParaRPr lang="en-AU" b="0" i="0" dirty="0">
              <a:solidFill>
                <a:srgbClr val="444444"/>
              </a:solidFill>
              <a:effectLst/>
              <a:latin typeface="Arial" panose="020B0604020202020204" pitchFamily="34" charset="0"/>
            </a:endParaRPr>
          </a:p>
        </p:txBody>
      </p:sp>
      <p:pic>
        <p:nvPicPr>
          <p:cNvPr id="2050" name="Picture 2" descr="water reacti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59200" y="3118345"/>
            <a:ext cx="5353050" cy="27585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47530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9000" y="753239"/>
            <a:ext cx="10744200" cy="2031325"/>
          </a:xfrm>
          <a:prstGeom prst="rect">
            <a:avLst/>
          </a:prstGeom>
        </p:spPr>
        <p:txBody>
          <a:bodyPr wrap="square">
            <a:spAutoFit/>
          </a:bodyPr>
          <a:lstStyle/>
          <a:p>
            <a:r>
              <a:rPr lang="en-AU" b="0" i="0" dirty="0" smtClean="0">
                <a:solidFill>
                  <a:srgbClr val="444444"/>
                </a:solidFill>
                <a:effectLst/>
                <a:latin typeface="Arial" panose="020B0604020202020204" pitchFamily="34" charset="0"/>
              </a:rPr>
              <a:t>In an atom, electrons are constantly moving around the outside of the nucleus in </a:t>
            </a:r>
            <a:r>
              <a:rPr lang="en-AU" b="1" i="0" dirty="0" smtClean="0">
                <a:solidFill>
                  <a:srgbClr val="00868B"/>
                </a:solidFill>
                <a:effectLst/>
                <a:latin typeface="Arial" panose="020B0604020202020204" pitchFamily="34" charset="0"/>
              </a:rPr>
              <a:t>electron shells</a:t>
            </a:r>
            <a:r>
              <a:rPr lang="en-AU" b="0" i="0" dirty="0" smtClean="0">
                <a:solidFill>
                  <a:srgbClr val="444444"/>
                </a:solidFill>
                <a:effectLst/>
                <a:latin typeface="Arial" panose="020B0604020202020204" pitchFamily="34" charset="0"/>
              </a:rPr>
              <a:t> or </a:t>
            </a:r>
            <a:r>
              <a:rPr lang="en-AU" b="1" i="0" dirty="0" smtClean="0">
                <a:solidFill>
                  <a:srgbClr val="00868B"/>
                </a:solidFill>
                <a:effectLst/>
                <a:latin typeface="Arial" panose="020B0604020202020204" pitchFamily="34" charset="0"/>
              </a:rPr>
              <a:t>orbitals.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These shells are usually represented by </a:t>
            </a:r>
            <a:r>
              <a:rPr lang="en-AU" b="1" i="0" dirty="0" smtClean="0">
                <a:solidFill>
                  <a:srgbClr val="EF798A"/>
                </a:solidFill>
                <a:effectLst/>
                <a:latin typeface="Arial" panose="020B0604020202020204" pitchFamily="34" charset="0"/>
              </a:rPr>
              <a:t>circles</a:t>
            </a:r>
            <a:r>
              <a:rPr lang="en-AU" b="0" i="0" dirty="0" smtClean="0">
                <a:solidFill>
                  <a:srgbClr val="444444"/>
                </a:solidFill>
                <a:effectLst/>
                <a:latin typeface="Arial" panose="020B0604020202020204" pitchFamily="34" charset="0"/>
              </a:rPr>
              <a:t> in diagrams of atoms. Each shell is found at a </a:t>
            </a:r>
            <a:r>
              <a:rPr lang="en-AU" b="1" i="0" dirty="0" smtClean="0">
                <a:solidFill>
                  <a:srgbClr val="8C4AB2"/>
                </a:solidFill>
                <a:effectLst/>
                <a:latin typeface="Arial" panose="020B0604020202020204" pitchFamily="34" charset="0"/>
              </a:rPr>
              <a:t>different distance</a:t>
            </a:r>
            <a:r>
              <a:rPr lang="en-AU" b="0" i="0" dirty="0" smtClean="0">
                <a:solidFill>
                  <a:srgbClr val="444444"/>
                </a:solidFill>
                <a:effectLst/>
                <a:latin typeface="Arial" panose="020B0604020202020204" pitchFamily="34" charset="0"/>
              </a:rPr>
              <a:t> from the nucleus. Electrons are represented by either </a:t>
            </a:r>
            <a:r>
              <a:rPr lang="en-AU" b="1" i="0" dirty="0" smtClean="0">
                <a:solidFill>
                  <a:srgbClr val="00868B"/>
                </a:solidFill>
                <a:effectLst/>
                <a:latin typeface="Arial" panose="020B0604020202020204" pitchFamily="34" charset="0"/>
              </a:rPr>
              <a:t>dots or crosses</a:t>
            </a:r>
            <a:r>
              <a:rPr lang="en-AU" b="0" i="0" dirty="0" smtClean="0">
                <a:solidFill>
                  <a:srgbClr val="444444"/>
                </a:solidFill>
                <a:effectLst/>
                <a:latin typeface="Arial" panose="020B0604020202020204" pitchFamily="34" charset="0"/>
              </a:rPr>
              <a:t> in these diagrams. The diagrams below show two different representations of a </a:t>
            </a:r>
            <a:r>
              <a:rPr lang="en-AU" b="1" i="0" dirty="0" smtClean="0">
                <a:solidFill>
                  <a:srgbClr val="EF798A"/>
                </a:solidFill>
                <a:effectLst/>
                <a:latin typeface="Arial" panose="020B0604020202020204" pitchFamily="34" charset="0"/>
              </a:rPr>
              <a:t>lithium atom</a:t>
            </a:r>
            <a:r>
              <a:rPr lang="en-AU" b="0" i="0" dirty="0" smtClean="0">
                <a:solidFill>
                  <a:srgbClr val="444444"/>
                </a:solidFill>
                <a:effectLst/>
                <a:latin typeface="Arial" panose="020B0604020202020204" pitchFamily="34" charset="0"/>
              </a:rPr>
              <a:t> which has two electrons in the first shell and one in the second shell.</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708275" y="3109912"/>
            <a:ext cx="6343650" cy="2847975"/>
          </a:xfrm>
          <a:prstGeom prst="rect">
            <a:avLst/>
          </a:prstGeom>
        </p:spPr>
      </p:pic>
    </p:spTree>
    <p:extLst>
      <p:ext uri="{BB962C8B-B14F-4D97-AF65-F5344CB8AC3E}">
        <p14:creationId xmlns:p14="http://schemas.microsoft.com/office/powerpoint/2010/main" val="1515374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875437"/>
            <a:ext cx="11010900" cy="1200329"/>
          </a:xfrm>
          <a:prstGeom prst="rect">
            <a:avLst/>
          </a:prstGeom>
        </p:spPr>
        <p:txBody>
          <a:bodyPr wrap="square">
            <a:spAutoFit/>
          </a:bodyPr>
          <a:lstStyle/>
          <a:p>
            <a:r>
              <a:rPr lang="en-AU" b="1" i="0" dirty="0" smtClean="0">
                <a:solidFill>
                  <a:srgbClr val="444444"/>
                </a:solidFill>
                <a:effectLst/>
                <a:latin typeface="Arial" panose="020B0604020202020204" pitchFamily="34" charset="0"/>
              </a:rPr>
              <a:t>The </a:t>
            </a:r>
            <a:r>
              <a:rPr lang="en-AU" b="1" i="0" dirty="0" smtClean="0">
                <a:solidFill>
                  <a:srgbClr val="8C4AB2"/>
                </a:solidFill>
                <a:effectLst/>
                <a:latin typeface="Arial" panose="020B0604020202020204" pitchFamily="34" charset="0"/>
              </a:rPr>
              <a:t>closer</a:t>
            </a:r>
            <a:r>
              <a:rPr lang="en-AU" b="1" i="0" dirty="0" smtClean="0">
                <a:solidFill>
                  <a:srgbClr val="444444"/>
                </a:solidFill>
                <a:effectLst/>
                <a:latin typeface="Arial" panose="020B0604020202020204" pitchFamily="34" charset="0"/>
              </a:rPr>
              <a:t> the electron shells are to the nucleus, the </a:t>
            </a:r>
            <a:r>
              <a:rPr lang="en-AU" b="1" i="0" dirty="0" smtClean="0">
                <a:solidFill>
                  <a:srgbClr val="8C4AB2"/>
                </a:solidFill>
                <a:effectLst/>
                <a:latin typeface="Arial" panose="020B0604020202020204" pitchFamily="34" charset="0"/>
              </a:rPr>
              <a:t>lower</a:t>
            </a:r>
            <a:r>
              <a:rPr lang="en-AU" b="1" i="0" dirty="0" smtClean="0">
                <a:solidFill>
                  <a:srgbClr val="444444"/>
                </a:solidFill>
                <a:effectLst/>
                <a:latin typeface="Arial" panose="020B0604020202020204" pitchFamily="34" charset="0"/>
              </a:rPr>
              <a:t> their energy.</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a:t>
            </a:r>
            <a:r>
              <a:rPr lang="en-AU" b="1" i="0" dirty="0" smtClean="0">
                <a:solidFill>
                  <a:srgbClr val="EF798A"/>
                </a:solidFill>
                <a:effectLst/>
                <a:latin typeface="Arial" panose="020B0604020202020204" pitchFamily="34" charset="0"/>
              </a:rPr>
              <a:t>first shell</a:t>
            </a:r>
            <a:r>
              <a:rPr lang="en-AU" b="0" i="0" dirty="0" smtClean="0">
                <a:solidFill>
                  <a:srgbClr val="444444"/>
                </a:solidFill>
                <a:effectLst/>
                <a:latin typeface="Arial" panose="020B0604020202020204" pitchFamily="34" charset="0"/>
              </a:rPr>
              <a:t> has the </a:t>
            </a:r>
            <a:r>
              <a:rPr lang="en-AU" b="1" i="0" dirty="0" smtClean="0">
                <a:solidFill>
                  <a:srgbClr val="EF798A"/>
                </a:solidFill>
                <a:effectLst/>
                <a:latin typeface="Arial" panose="020B0604020202020204" pitchFamily="34" charset="0"/>
              </a:rPr>
              <a:t>lowest energy,</a:t>
            </a:r>
            <a:r>
              <a:rPr lang="en-AU" b="0" i="0" dirty="0" smtClean="0">
                <a:solidFill>
                  <a:srgbClr val="444444"/>
                </a:solidFill>
                <a:effectLst/>
                <a:latin typeface="Arial" panose="020B0604020202020204" pitchFamily="34" charset="0"/>
              </a:rPr>
              <a:t> the </a:t>
            </a:r>
            <a:r>
              <a:rPr lang="en-AU" b="1" i="0" dirty="0" smtClean="0">
                <a:solidFill>
                  <a:srgbClr val="6773B2"/>
                </a:solidFill>
                <a:effectLst/>
                <a:latin typeface="Arial" panose="020B0604020202020204" pitchFamily="34" charset="0"/>
              </a:rPr>
              <a:t>second shell</a:t>
            </a:r>
            <a:r>
              <a:rPr lang="en-AU" b="0" i="0" dirty="0" smtClean="0">
                <a:solidFill>
                  <a:srgbClr val="444444"/>
                </a:solidFill>
                <a:effectLst/>
                <a:latin typeface="Arial" panose="020B0604020202020204" pitchFamily="34" charset="0"/>
              </a:rPr>
              <a:t> has the </a:t>
            </a:r>
            <a:r>
              <a:rPr lang="en-AU" b="1" i="0" dirty="0" smtClean="0">
                <a:solidFill>
                  <a:srgbClr val="6773B2"/>
                </a:solidFill>
                <a:effectLst/>
                <a:latin typeface="Arial" panose="020B0604020202020204" pitchFamily="34" charset="0"/>
              </a:rPr>
              <a:t>second lowest energy</a:t>
            </a:r>
            <a:r>
              <a:rPr lang="en-AU" b="0" i="0" dirty="0" smtClean="0">
                <a:solidFill>
                  <a:srgbClr val="444444"/>
                </a:solidFill>
                <a:effectLst/>
                <a:latin typeface="Arial" panose="020B0604020202020204" pitchFamily="34" charset="0"/>
              </a:rPr>
              <a:t> (higher energy than the first), and so on.</a:t>
            </a:r>
            <a:endParaRPr lang="en-AU" b="0" i="0" dirty="0">
              <a:solidFill>
                <a:srgbClr val="444444"/>
              </a:solidFill>
              <a:effectLst/>
              <a:latin typeface="Arial" panose="020B0604020202020204" pitchFamily="34" charset="0"/>
            </a:endParaRPr>
          </a:p>
        </p:txBody>
      </p:sp>
      <p:pic>
        <p:nvPicPr>
          <p:cNvPr id="3074" name="Picture 2" descr="https://www.educationperfect.com/media/content/Science/1491863131.284621g/1491863132251-15643443330363-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2475" y="2266949"/>
            <a:ext cx="6667500" cy="4591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3163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000" y="330538"/>
            <a:ext cx="10756900" cy="1477328"/>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Electrons </a:t>
            </a:r>
            <a:r>
              <a:rPr lang="en-AU" b="1" i="0" dirty="0" smtClean="0">
                <a:solidFill>
                  <a:srgbClr val="32B57C"/>
                </a:solidFill>
                <a:effectLst/>
                <a:latin typeface="Arial" panose="020B0604020202020204" pitchFamily="34" charset="0"/>
              </a:rPr>
              <a:t>fill</a:t>
            </a:r>
            <a:r>
              <a:rPr lang="en-AU" b="1" i="0" dirty="0" smtClean="0">
                <a:solidFill>
                  <a:srgbClr val="444444"/>
                </a:solidFill>
                <a:effectLst/>
                <a:latin typeface="Arial" panose="020B0604020202020204" pitchFamily="34" charset="0"/>
              </a:rPr>
              <a:t> the electron shells starting from the </a:t>
            </a:r>
            <a:r>
              <a:rPr lang="en-AU" b="1" i="0" dirty="0" smtClean="0">
                <a:solidFill>
                  <a:srgbClr val="00868B"/>
                </a:solidFill>
                <a:effectLst/>
                <a:latin typeface="Arial" panose="020B0604020202020204" pitchFamily="34" charset="0"/>
              </a:rPr>
              <a:t>shell closest to the nucleus</a:t>
            </a:r>
            <a:r>
              <a:rPr lang="en-AU" b="1" i="0" dirty="0" smtClean="0">
                <a:solidFill>
                  <a:srgbClr val="444444"/>
                </a:solidFill>
                <a:effectLst/>
                <a:latin typeface="Arial" panose="020B0604020202020204" pitchFamily="34" charset="0"/>
              </a:rPr>
              <a:t> (lowest energy level).</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Each shell can only hold a </a:t>
            </a:r>
            <a:r>
              <a:rPr lang="en-AU" b="1" i="0" dirty="0" smtClean="0">
                <a:solidFill>
                  <a:srgbClr val="EF798A"/>
                </a:solidFill>
                <a:effectLst/>
                <a:latin typeface="Arial" panose="020B0604020202020204" pitchFamily="34" charset="0"/>
              </a:rPr>
              <a:t>certain number of electrons. </a:t>
            </a:r>
            <a:r>
              <a:rPr lang="en-AU" b="0" i="0" dirty="0" smtClean="0">
                <a:solidFill>
                  <a:srgbClr val="444444"/>
                </a:solidFill>
                <a:effectLst/>
                <a:latin typeface="Arial" panose="020B0604020202020204" pitchFamily="34" charset="0"/>
              </a:rPr>
              <a:t>Like a full teacup, a full electron shell cannot accept any more electrons, and so the electrons are </a:t>
            </a:r>
            <a:r>
              <a:rPr lang="en-AU" b="1" i="0" dirty="0" smtClean="0">
                <a:solidFill>
                  <a:srgbClr val="32B57C"/>
                </a:solidFill>
                <a:effectLst/>
                <a:latin typeface="Arial" panose="020B0604020202020204" pitchFamily="34" charset="0"/>
              </a:rPr>
              <a:t>added to the next shell,</a:t>
            </a:r>
            <a:r>
              <a:rPr lang="en-AU" b="0" i="0" dirty="0" smtClean="0">
                <a:solidFill>
                  <a:srgbClr val="444444"/>
                </a:solidFill>
                <a:effectLst/>
                <a:latin typeface="Arial" panose="020B0604020202020204" pitchFamily="34" charset="0"/>
              </a:rPr>
              <a:t> and so on.</a:t>
            </a:r>
            <a:endParaRPr lang="en-AU" b="0" i="0" dirty="0">
              <a:solidFill>
                <a:srgbClr val="444444"/>
              </a:solidFill>
              <a:effectLst/>
              <a:latin typeface="Arial" panose="020B0604020202020204" pitchFamily="34" charset="0"/>
            </a:endParaRPr>
          </a:p>
        </p:txBody>
      </p:sp>
      <p:pic>
        <p:nvPicPr>
          <p:cNvPr id="4098" name="Picture 2" descr="Tea cup"/>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44900" y="2805447"/>
            <a:ext cx="5159374" cy="3417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32552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6600" y="336540"/>
            <a:ext cx="11087100" cy="2308324"/>
          </a:xfrm>
          <a:prstGeom prst="rect">
            <a:avLst/>
          </a:prstGeom>
        </p:spPr>
        <p:txBody>
          <a:bodyPr wrap="square">
            <a:spAutoFit/>
          </a:bodyPr>
          <a:lstStyle/>
          <a:p>
            <a:pPr algn="ctr"/>
            <a:r>
              <a:rPr lang="en-AU" b="1" i="0" dirty="0" smtClean="0">
                <a:solidFill>
                  <a:srgbClr val="444444"/>
                </a:solidFill>
                <a:effectLst/>
                <a:latin typeface="Arial" panose="020B0604020202020204" pitchFamily="34" charset="0"/>
              </a:rPr>
              <a:t>How many electrons can each shell hold?</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buFont typeface="Arial" panose="020B0604020202020204" pitchFamily="34" charset="0"/>
              <a:buChar char="•"/>
            </a:pPr>
            <a:r>
              <a:rPr lang="en-AU" b="0" i="0" dirty="0" smtClean="0">
                <a:solidFill>
                  <a:srgbClr val="444444"/>
                </a:solidFill>
                <a:effectLst/>
                <a:latin typeface="Arial" panose="020B0604020202020204" pitchFamily="34" charset="0"/>
              </a:rPr>
              <a:t>The </a:t>
            </a:r>
            <a:r>
              <a:rPr lang="en-AU" b="1" i="0" dirty="0" smtClean="0">
                <a:solidFill>
                  <a:srgbClr val="EF798A"/>
                </a:solidFill>
                <a:effectLst/>
                <a:latin typeface="Arial" panose="020B0604020202020204" pitchFamily="34" charset="0"/>
              </a:rPr>
              <a:t>first</a:t>
            </a:r>
            <a:r>
              <a:rPr lang="en-AU" b="0" i="0" dirty="0" smtClean="0">
                <a:solidFill>
                  <a:srgbClr val="444444"/>
                </a:solidFill>
                <a:effectLst/>
                <a:latin typeface="Arial" panose="020B0604020202020204" pitchFamily="34" charset="0"/>
              </a:rPr>
              <a:t> electron shell (the one closest to the nucleus) can hold up to </a:t>
            </a:r>
            <a:r>
              <a:rPr lang="en-AU" b="1" i="0" dirty="0" smtClean="0">
                <a:solidFill>
                  <a:srgbClr val="EF798A"/>
                </a:solidFill>
                <a:effectLst/>
                <a:latin typeface="KaTeX_Main"/>
              </a:rPr>
              <a:t>2</a:t>
            </a:r>
            <a:r>
              <a:rPr lang="en-AU" b="0" i="0" dirty="0" smtClean="0">
                <a:solidFill>
                  <a:srgbClr val="444444"/>
                </a:solidFill>
                <a:effectLst/>
                <a:latin typeface="Arial" panose="020B0604020202020204" pitchFamily="34" charset="0"/>
              </a:rPr>
              <a:t> </a:t>
            </a:r>
            <a:r>
              <a:rPr lang="en-AU" b="1" i="0" dirty="0" smtClean="0">
                <a:solidFill>
                  <a:srgbClr val="EF798A"/>
                </a:solidFill>
                <a:effectLst/>
                <a:latin typeface="Arial" panose="020B0604020202020204" pitchFamily="34" charset="0"/>
              </a:rPr>
              <a:t>electrons.</a:t>
            </a:r>
            <a:endParaRPr lang="en-AU" b="0" i="0" dirty="0" smtClean="0">
              <a:solidFill>
                <a:srgbClr val="444444"/>
              </a:solidFill>
              <a:effectLst/>
              <a:latin typeface="Arial" panose="020B0604020202020204" pitchFamily="34" charset="0"/>
            </a:endParaRPr>
          </a:p>
          <a:p>
            <a:pPr>
              <a:buFont typeface="Arial" panose="020B0604020202020204" pitchFamily="34" charset="0"/>
              <a:buChar char="•"/>
            </a:pPr>
            <a:r>
              <a:rPr lang="en-AU" b="0" i="0" dirty="0" smtClean="0">
                <a:solidFill>
                  <a:srgbClr val="444444"/>
                </a:solidFill>
                <a:effectLst/>
                <a:latin typeface="Arial" panose="020B0604020202020204" pitchFamily="34" charset="0"/>
              </a:rPr>
              <a:t>The </a:t>
            </a:r>
            <a:r>
              <a:rPr lang="en-AU" b="1" i="0" dirty="0" smtClean="0">
                <a:solidFill>
                  <a:srgbClr val="6773B2"/>
                </a:solidFill>
                <a:effectLst/>
                <a:latin typeface="Arial" panose="020B0604020202020204" pitchFamily="34" charset="0"/>
              </a:rPr>
              <a:t>second</a:t>
            </a:r>
            <a:r>
              <a:rPr lang="en-AU" b="0" i="0" dirty="0" smtClean="0">
                <a:solidFill>
                  <a:srgbClr val="444444"/>
                </a:solidFill>
                <a:effectLst/>
                <a:latin typeface="Arial" panose="020B0604020202020204" pitchFamily="34" charset="0"/>
              </a:rPr>
              <a:t> electron shell can hold up to </a:t>
            </a:r>
            <a:r>
              <a:rPr lang="en-AU" b="1" i="0" dirty="0" smtClean="0">
                <a:solidFill>
                  <a:srgbClr val="6773B2"/>
                </a:solidFill>
                <a:effectLst/>
                <a:latin typeface="KaTeX_Main"/>
              </a:rPr>
              <a:t>8</a:t>
            </a:r>
            <a:r>
              <a:rPr lang="en-AU" b="0" i="0" dirty="0" smtClean="0">
                <a:solidFill>
                  <a:srgbClr val="444444"/>
                </a:solidFill>
                <a:effectLst/>
                <a:latin typeface="Arial" panose="020B0604020202020204" pitchFamily="34" charset="0"/>
              </a:rPr>
              <a:t> </a:t>
            </a:r>
            <a:r>
              <a:rPr lang="en-AU" b="1" i="0" dirty="0" smtClean="0">
                <a:solidFill>
                  <a:srgbClr val="6773B2"/>
                </a:solidFill>
                <a:effectLst/>
                <a:latin typeface="Arial" panose="020B0604020202020204" pitchFamily="34" charset="0"/>
              </a:rPr>
              <a:t>electrons.</a:t>
            </a:r>
            <a:endParaRPr lang="en-AU" b="0" i="0" dirty="0" smtClean="0">
              <a:solidFill>
                <a:srgbClr val="444444"/>
              </a:solidFill>
              <a:effectLst/>
              <a:latin typeface="Arial" panose="020B0604020202020204" pitchFamily="34" charset="0"/>
            </a:endParaRPr>
          </a:p>
          <a:p>
            <a:pPr>
              <a:buFont typeface="Arial" panose="020B0604020202020204" pitchFamily="34" charset="0"/>
              <a:buChar char="•"/>
            </a:pPr>
            <a:r>
              <a:rPr lang="en-AU" b="0" i="0" dirty="0" smtClean="0">
                <a:solidFill>
                  <a:srgbClr val="444444"/>
                </a:solidFill>
                <a:effectLst/>
                <a:latin typeface="Arial" panose="020B0604020202020204" pitchFamily="34" charset="0"/>
              </a:rPr>
              <a:t>The </a:t>
            </a:r>
            <a:r>
              <a:rPr lang="en-AU" b="1" i="0" dirty="0" smtClean="0">
                <a:solidFill>
                  <a:srgbClr val="3598DC"/>
                </a:solidFill>
                <a:effectLst/>
                <a:latin typeface="Arial" panose="020B0604020202020204" pitchFamily="34" charset="0"/>
              </a:rPr>
              <a:t>third</a:t>
            </a:r>
            <a:r>
              <a:rPr lang="en-AU" b="0" i="0" dirty="0" smtClean="0">
                <a:solidFill>
                  <a:srgbClr val="444444"/>
                </a:solidFill>
                <a:effectLst/>
                <a:latin typeface="Arial" panose="020B0604020202020204" pitchFamily="34" charset="0"/>
              </a:rPr>
              <a:t> electron shell can hold up to </a:t>
            </a:r>
            <a:r>
              <a:rPr lang="en-AU" b="1" i="0" dirty="0" smtClean="0">
                <a:solidFill>
                  <a:srgbClr val="3598DC"/>
                </a:solidFill>
                <a:effectLst/>
                <a:latin typeface="KaTeX_Main"/>
              </a:rPr>
              <a:t>8</a:t>
            </a:r>
            <a:r>
              <a:rPr lang="en-AU" b="0" i="0" dirty="0" smtClean="0">
                <a:solidFill>
                  <a:srgbClr val="444444"/>
                </a:solidFill>
                <a:effectLst/>
                <a:latin typeface="Arial" panose="020B0604020202020204" pitchFamily="34" charset="0"/>
              </a:rPr>
              <a:t> </a:t>
            </a:r>
            <a:r>
              <a:rPr lang="en-AU" b="1" i="0" dirty="0" smtClean="0">
                <a:solidFill>
                  <a:srgbClr val="3598DC"/>
                </a:solidFill>
                <a:effectLst/>
                <a:latin typeface="Arial" panose="020B0604020202020204" pitchFamily="34" charset="0"/>
              </a:rPr>
              <a:t>electrons.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After all these shells are </a:t>
            </a:r>
            <a:r>
              <a:rPr lang="en-AU" b="1" i="0" dirty="0" smtClean="0">
                <a:solidFill>
                  <a:srgbClr val="EF798A"/>
                </a:solidFill>
                <a:effectLst/>
                <a:latin typeface="Arial" panose="020B0604020202020204" pitchFamily="34" charset="0"/>
              </a:rPr>
              <a:t>full,</a:t>
            </a:r>
            <a:r>
              <a:rPr lang="en-AU" b="0" i="0" dirty="0" smtClean="0">
                <a:solidFill>
                  <a:srgbClr val="444444"/>
                </a:solidFill>
                <a:effectLst/>
                <a:latin typeface="Arial" panose="020B0604020202020204" pitchFamily="34" charset="0"/>
              </a:rPr>
              <a:t> the electrons begin to fill the </a:t>
            </a:r>
            <a:r>
              <a:rPr lang="en-AU" b="1" i="0" dirty="0" smtClean="0">
                <a:solidFill>
                  <a:srgbClr val="6773B2"/>
                </a:solidFill>
                <a:effectLst/>
                <a:latin typeface="Arial" panose="020B0604020202020204" pitchFamily="34" charset="0"/>
              </a:rPr>
              <a:t>fourth electron shell.</a:t>
            </a:r>
            <a:r>
              <a:rPr lang="en-AU" b="0" i="0" dirty="0" smtClean="0">
                <a:solidFill>
                  <a:srgbClr val="444444"/>
                </a:solidFill>
                <a:effectLst/>
                <a:latin typeface="Arial" panose="020B0604020202020204" pitchFamily="34" charset="0"/>
              </a:rPr>
              <a:t> For example, the electrons in a calcium atom are arranged as shown below:</a:t>
            </a:r>
            <a:endParaRPr lang="en-AU" b="0" i="0" dirty="0">
              <a:solidFill>
                <a:srgbClr val="444444"/>
              </a:solidFill>
              <a:effectLst/>
              <a:latin typeface="Arial" panose="020B0604020202020204" pitchFamily="34" charset="0"/>
            </a:endParaRPr>
          </a:p>
        </p:txBody>
      </p:sp>
      <p:pic>
        <p:nvPicPr>
          <p:cNvPr id="3" name="1509323147.9863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308951" y="2946400"/>
            <a:ext cx="2990374" cy="3797300"/>
          </a:xfrm>
          <a:prstGeom prst="rect">
            <a:avLst/>
          </a:prstGeom>
        </p:spPr>
      </p:pic>
    </p:spTree>
    <p:extLst>
      <p:ext uri="{BB962C8B-B14F-4D97-AF65-F5344CB8AC3E}">
        <p14:creationId xmlns:p14="http://schemas.microsoft.com/office/powerpoint/2010/main" val="652255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006"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36600" y="748437"/>
            <a:ext cx="10960100" cy="1200329"/>
          </a:xfrm>
          <a:prstGeom prst="rect">
            <a:avLst/>
          </a:prstGeom>
        </p:spPr>
        <p:txBody>
          <a:bodyPr wrap="square">
            <a:spAutoFit/>
          </a:bodyPr>
          <a:lstStyle/>
          <a:p>
            <a:r>
              <a:rPr lang="en-AU" b="0" i="0" dirty="0" smtClean="0">
                <a:solidFill>
                  <a:srgbClr val="444444"/>
                </a:solidFill>
                <a:effectLst/>
                <a:latin typeface="Arial" panose="020B0604020202020204" pitchFamily="34" charset="0"/>
              </a:rPr>
              <a:t>By using the </a:t>
            </a:r>
            <a:r>
              <a:rPr lang="en-AU" b="1" i="0" dirty="0" smtClean="0">
                <a:solidFill>
                  <a:srgbClr val="00868B"/>
                </a:solidFill>
                <a:effectLst/>
                <a:latin typeface="Arial" panose="020B0604020202020204" pitchFamily="34" charset="0"/>
              </a:rPr>
              <a:t>periodic table,</a:t>
            </a:r>
            <a:r>
              <a:rPr lang="en-AU" b="0" i="0" dirty="0" smtClean="0">
                <a:solidFill>
                  <a:srgbClr val="444444"/>
                </a:solidFill>
                <a:effectLst/>
                <a:latin typeface="Arial" panose="020B0604020202020204" pitchFamily="34" charset="0"/>
              </a:rPr>
              <a:t> you can work out </a:t>
            </a:r>
            <a:r>
              <a:rPr lang="en-AU" b="1" i="0" dirty="0" smtClean="0">
                <a:solidFill>
                  <a:srgbClr val="6773B2"/>
                </a:solidFill>
                <a:effectLst/>
                <a:latin typeface="Arial" panose="020B0604020202020204" pitchFamily="34" charset="0"/>
              </a:rPr>
              <a:t>how many electrons</a:t>
            </a:r>
            <a:r>
              <a:rPr lang="en-AU" b="0" i="0" dirty="0" smtClean="0">
                <a:solidFill>
                  <a:srgbClr val="444444"/>
                </a:solidFill>
                <a:effectLst/>
                <a:latin typeface="Arial" panose="020B0604020202020204" pitchFamily="34" charset="0"/>
              </a:rPr>
              <a:t> are in an atom and therefore draw the arrangement of these electrons.</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example, could you draw the electron arrangement for a </a:t>
            </a:r>
            <a:r>
              <a:rPr lang="en-AU" b="1" i="0" dirty="0" smtClean="0">
                <a:solidFill>
                  <a:srgbClr val="8C4AB2"/>
                </a:solidFill>
                <a:effectLst/>
                <a:latin typeface="Arial" panose="020B0604020202020204" pitchFamily="34" charset="0"/>
              </a:rPr>
              <a:t>boron</a:t>
            </a:r>
            <a:r>
              <a:rPr lang="en-AU" b="0" i="0" dirty="0" smtClean="0">
                <a:solidFill>
                  <a:srgbClr val="444444"/>
                </a:solidFill>
                <a:effectLst/>
                <a:latin typeface="Arial" panose="020B0604020202020204" pitchFamily="34" charset="0"/>
              </a:rPr>
              <a:t> atom by using the information below?</a:t>
            </a:r>
            <a:endParaRPr lang="en-AU" b="0" i="0" dirty="0">
              <a:solidFill>
                <a:srgbClr val="444444"/>
              </a:solidFill>
              <a:effectLst/>
              <a:latin typeface="Arial" panose="020B0604020202020204" pitchFamily="34" charset="0"/>
            </a:endParaRPr>
          </a:p>
        </p:txBody>
      </p:sp>
      <p:pic>
        <p:nvPicPr>
          <p:cNvPr id="5122" name="Picture 2" descr="https://www.educationperfect.com/media/content/Science/1501560971.624441g/1501560965799-2448302704129477-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6175" y="2489200"/>
            <a:ext cx="7600950"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9167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000" y="663139"/>
            <a:ext cx="11163300" cy="1200329"/>
          </a:xfrm>
          <a:prstGeom prst="rect">
            <a:avLst/>
          </a:prstGeom>
        </p:spPr>
        <p:txBody>
          <a:bodyPr wrap="square">
            <a:spAutoFit/>
          </a:bodyPr>
          <a:lstStyle/>
          <a:p>
            <a:r>
              <a:rPr lang="en-AU" b="1" i="0" dirty="0" smtClean="0">
                <a:solidFill>
                  <a:srgbClr val="8C4AB2"/>
                </a:solidFill>
                <a:effectLst/>
                <a:latin typeface="Arial" panose="020B0604020202020204" pitchFamily="34" charset="0"/>
              </a:rPr>
              <a:t>Boron</a:t>
            </a:r>
            <a:r>
              <a:rPr lang="en-AU" b="0" i="0" dirty="0" smtClean="0">
                <a:solidFill>
                  <a:srgbClr val="444444"/>
                </a:solidFill>
                <a:effectLst/>
                <a:latin typeface="Arial" panose="020B0604020202020204" pitchFamily="34" charset="0"/>
              </a:rPr>
              <a:t> has an atomic number of </a:t>
            </a:r>
            <a:r>
              <a:rPr lang="en-AU" b="1" i="0" dirty="0" smtClean="0">
                <a:solidFill>
                  <a:srgbClr val="8C4AB2"/>
                </a:solidFill>
                <a:effectLst/>
                <a:latin typeface="KaTeX_Main"/>
              </a:rPr>
              <a:t>5.</a:t>
            </a:r>
            <a:r>
              <a:rPr lang="en-AU" b="0" i="0" dirty="0" smtClean="0">
                <a:solidFill>
                  <a:srgbClr val="444444"/>
                </a:solidFill>
                <a:effectLst/>
                <a:latin typeface="Arial" panose="020B0604020202020204" pitchFamily="34" charset="0"/>
              </a:rPr>
              <a:t> This means there are </a:t>
            </a:r>
            <a:r>
              <a:rPr lang="en-AU" b="1" i="0" dirty="0" smtClean="0">
                <a:solidFill>
                  <a:srgbClr val="3598DC"/>
                </a:solidFill>
                <a:effectLst/>
                <a:latin typeface="KaTeX_Main"/>
              </a:rPr>
              <a:t>5</a:t>
            </a:r>
            <a:r>
              <a:rPr lang="en-AU" b="0" i="0" dirty="0" smtClean="0">
                <a:solidFill>
                  <a:srgbClr val="444444"/>
                </a:solidFill>
                <a:effectLst/>
                <a:latin typeface="Arial" panose="020B0604020202020204" pitchFamily="34" charset="0"/>
              </a:rPr>
              <a:t> </a:t>
            </a:r>
            <a:r>
              <a:rPr lang="en-AU" b="1" i="0" dirty="0" smtClean="0">
                <a:solidFill>
                  <a:srgbClr val="3598DC"/>
                </a:solidFill>
                <a:effectLst/>
                <a:latin typeface="Arial" panose="020B0604020202020204" pitchFamily="34" charset="0"/>
              </a:rPr>
              <a:t>electrons</a:t>
            </a:r>
            <a:r>
              <a:rPr lang="en-AU" b="0" i="0" dirty="0" smtClean="0">
                <a:solidFill>
                  <a:srgbClr val="444444"/>
                </a:solidFill>
                <a:effectLst/>
                <a:latin typeface="Arial" panose="020B0604020202020204" pitchFamily="34" charset="0"/>
              </a:rPr>
              <a:t> in a neutral atom of boron.</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first electron shell can hold up to </a:t>
            </a:r>
            <a:r>
              <a:rPr lang="en-AU" b="0" i="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electrons, while the second can hold up to </a:t>
            </a:r>
            <a:r>
              <a:rPr lang="en-AU" b="0" i="0" dirty="0" smtClean="0">
                <a:solidFill>
                  <a:srgbClr val="444444"/>
                </a:solidFill>
                <a:effectLst/>
                <a:latin typeface="KaTeX_Main"/>
              </a:rPr>
              <a:t>8</a:t>
            </a:r>
            <a:r>
              <a:rPr lang="en-AU" b="0" i="0" dirty="0" smtClean="0">
                <a:solidFill>
                  <a:srgbClr val="444444"/>
                </a:solidFill>
                <a:effectLst/>
                <a:latin typeface="Arial" panose="020B0604020202020204" pitchFamily="34" charset="0"/>
              </a:rPr>
              <a:t> electrons. This means you would draw </a:t>
            </a:r>
            <a:r>
              <a:rPr lang="en-AU" b="1" i="0" dirty="0" smtClean="0">
                <a:solidFill>
                  <a:srgbClr val="EF798A"/>
                </a:solidFill>
                <a:effectLst/>
                <a:latin typeface="Arial" panose="020B0604020202020204" pitchFamily="34" charset="0"/>
              </a:rPr>
              <a:t>two electrons in the first shell,</a:t>
            </a:r>
            <a:r>
              <a:rPr lang="en-AU" b="0" i="0" dirty="0" smtClean="0">
                <a:solidFill>
                  <a:srgbClr val="444444"/>
                </a:solidFill>
                <a:effectLst/>
                <a:latin typeface="Arial" panose="020B0604020202020204" pitchFamily="34" charset="0"/>
              </a:rPr>
              <a:t> and the remaining </a:t>
            </a:r>
            <a:r>
              <a:rPr lang="en-AU" b="1" i="0" dirty="0" smtClean="0">
                <a:solidFill>
                  <a:srgbClr val="8C4AB2"/>
                </a:solidFill>
                <a:effectLst/>
                <a:latin typeface="Arial" panose="020B0604020202020204" pitchFamily="34" charset="0"/>
              </a:rPr>
              <a:t>three in the second shell.</a:t>
            </a:r>
            <a:endParaRPr lang="en-AU" b="0" i="0" dirty="0">
              <a:solidFill>
                <a:srgbClr val="444444"/>
              </a:solidFill>
              <a:effectLst/>
              <a:latin typeface="Arial" panose="020B0604020202020204" pitchFamily="34" charset="0"/>
            </a:endParaRPr>
          </a:p>
        </p:txBody>
      </p:sp>
      <p:pic>
        <p:nvPicPr>
          <p:cNvPr id="6146" name="Picture 2" descr="https://www.educationperfect.com/media/content/Science/1454993507.468791g/1454993510807-86311851422356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5" y="3059112"/>
            <a:ext cx="2381250" cy="273367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https://www.educationperfect.com/media/content/Science/1420575788.596371g/1420575789370-209986839-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3775" y="2349500"/>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013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800438"/>
            <a:ext cx="10452100" cy="1200329"/>
          </a:xfrm>
          <a:prstGeom prst="rect">
            <a:avLst/>
          </a:prstGeom>
        </p:spPr>
        <p:txBody>
          <a:bodyPr wrap="square">
            <a:spAutoFit/>
          </a:bodyPr>
          <a:lstStyle/>
          <a:p>
            <a:r>
              <a:rPr lang="en-AU" b="1" i="0" dirty="0" smtClean="0">
                <a:solidFill>
                  <a:srgbClr val="444444"/>
                </a:solidFill>
                <a:effectLst/>
                <a:latin typeface="Arial" panose="020B0604020202020204" pitchFamily="34" charset="0"/>
              </a:rPr>
              <a:t>The </a:t>
            </a:r>
            <a:r>
              <a:rPr lang="en-AU" b="1" i="0" dirty="0" smtClean="0">
                <a:solidFill>
                  <a:srgbClr val="8C4AB2"/>
                </a:solidFill>
                <a:effectLst/>
                <a:latin typeface="Arial" panose="020B0604020202020204" pitchFamily="34" charset="0"/>
              </a:rPr>
              <a:t>electron configuration</a:t>
            </a:r>
            <a:r>
              <a:rPr lang="en-AU" b="1" i="0" dirty="0" smtClean="0">
                <a:solidFill>
                  <a:srgbClr val="444444"/>
                </a:solidFill>
                <a:effectLst/>
                <a:latin typeface="Arial" panose="020B0604020202020204" pitchFamily="34" charset="0"/>
              </a:rPr>
              <a:t> of an atom refers to the </a:t>
            </a:r>
            <a:r>
              <a:rPr lang="en-AU" b="1" i="0" dirty="0" smtClean="0">
                <a:solidFill>
                  <a:srgbClr val="00868B"/>
                </a:solidFill>
                <a:effectLst/>
                <a:latin typeface="Arial" panose="020B0604020202020204" pitchFamily="34" charset="0"/>
              </a:rPr>
              <a:t>arrangement of electrons</a:t>
            </a:r>
            <a:r>
              <a:rPr lang="en-AU" b="1" i="0" dirty="0" smtClean="0">
                <a:solidFill>
                  <a:srgbClr val="444444"/>
                </a:solidFill>
                <a:effectLst/>
                <a:latin typeface="Arial" panose="020B0604020202020204" pitchFamily="34" charset="0"/>
              </a:rPr>
              <a:t> in its shells.</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Drawing out diagrams to show which shells the electrons are found in for each atom can be quite cumbersome. This is why scientists use a much </a:t>
            </a:r>
            <a:r>
              <a:rPr lang="en-AU" b="1" i="0" dirty="0" smtClean="0">
                <a:solidFill>
                  <a:srgbClr val="32B57C"/>
                </a:solidFill>
                <a:effectLst/>
                <a:latin typeface="Arial" panose="020B0604020202020204" pitchFamily="34" charset="0"/>
              </a:rPr>
              <a:t>simpler, shorthand method.</a:t>
            </a:r>
            <a:endParaRPr lang="en-AU" b="0" i="0" dirty="0">
              <a:solidFill>
                <a:srgbClr val="444444"/>
              </a:solidFill>
              <a:effectLst/>
              <a:latin typeface="Arial" panose="020B0604020202020204" pitchFamily="34" charset="0"/>
            </a:endParaRPr>
          </a:p>
        </p:txBody>
      </p:sp>
      <p:pic>
        <p:nvPicPr>
          <p:cNvPr id="7170" name="Picture 2" descr="https://www.educationperfect.com/media/content/German/1462837310.816171g/1462837324041-428330987199985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97312" y="2517775"/>
            <a:ext cx="3800475" cy="362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3958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74700" y="407938"/>
            <a:ext cx="10629900" cy="1754326"/>
          </a:xfrm>
          <a:prstGeom prst="rect">
            <a:avLst/>
          </a:prstGeom>
        </p:spPr>
        <p:txBody>
          <a:bodyPr wrap="square">
            <a:spAutoFit/>
          </a:bodyPr>
          <a:lstStyle/>
          <a:p>
            <a:r>
              <a:rPr lang="en-AU" b="0" i="0" dirty="0" smtClean="0">
                <a:solidFill>
                  <a:srgbClr val="444444"/>
                </a:solidFill>
                <a:effectLst/>
                <a:latin typeface="Arial" panose="020B0604020202020204" pitchFamily="34" charset="0"/>
              </a:rPr>
              <a:t>We can write the </a:t>
            </a:r>
            <a:r>
              <a:rPr lang="en-AU" b="1" i="0" dirty="0" smtClean="0">
                <a:solidFill>
                  <a:srgbClr val="6773B2"/>
                </a:solidFill>
                <a:effectLst/>
                <a:latin typeface="Arial" panose="020B0604020202020204" pitchFamily="34" charset="0"/>
              </a:rPr>
              <a:t>shorthand electron configuration</a:t>
            </a:r>
            <a:r>
              <a:rPr lang="en-AU" b="0" i="0" dirty="0" smtClean="0">
                <a:solidFill>
                  <a:srgbClr val="444444"/>
                </a:solidFill>
                <a:effectLst/>
                <a:latin typeface="Arial" panose="020B0604020202020204" pitchFamily="34" charset="0"/>
              </a:rPr>
              <a:t> by using </a:t>
            </a:r>
            <a:r>
              <a:rPr lang="en-AU" b="1" i="0" dirty="0" smtClean="0">
                <a:solidFill>
                  <a:srgbClr val="32B57C"/>
                </a:solidFill>
                <a:effectLst/>
                <a:latin typeface="Arial" panose="020B0604020202020204" pitchFamily="34" charset="0"/>
              </a:rPr>
              <a:t>numbers separated by commas.</a:t>
            </a:r>
            <a:r>
              <a:rPr lang="en-AU" b="0" i="0" dirty="0" smtClean="0">
                <a:solidFill>
                  <a:srgbClr val="444444"/>
                </a:solidFill>
                <a:effectLst/>
                <a:latin typeface="Arial" panose="020B0604020202020204" pitchFamily="34" charset="0"/>
              </a:rPr>
              <a:t> The numbers indicate the number of electrons in each shell. The commas indicate where the different shells start.</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example, a </a:t>
            </a:r>
            <a:r>
              <a:rPr lang="en-AU" b="1" i="0" dirty="0" smtClean="0">
                <a:solidFill>
                  <a:srgbClr val="CEA07E"/>
                </a:solidFill>
                <a:effectLst/>
                <a:latin typeface="Arial" panose="020B0604020202020204" pitchFamily="34" charset="0"/>
              </a:rPr>
              <a:t>boron</a:t>
            </a:r>
            <a:r>
              <a:rPr lang="en-AU" b="0" i="0" dirty="0" smtClean="0">
                <a:solidFill>
                  <a:srgbClr val="444444"/>
                </a:solidFill>
                <a:effectLst/>
                <a:latin typeface="Arial" panose="020B0604020202020204" pitchFamily="34" charset="0"/>
              </a:rPr>
              <a:t> atom has two electrons in the first shell and three in the second shell. We write the electron configuration as </a:t>
            </a:r>
            <a:r>
              <a:rPr lang="en-AU" b="1" i="0" dirty="0" smtClean="0">
                <a:solidFill>
                  <a:srgbClr val="444444"/>
                </a:solidFill>
                <a:effectLst/>
                <a:latin typeface="KaTeX_Main"/>
              </a:rPr>
              <a:t>2</a:t>
            </a:r>
            <a:r>
              <a:rPr lang="en-AU" b="0" i="0" dirty="0" smtClean="0">
                <a:solidFill>
                  <a:srgbClr val="444444"/>
                </a:solidFill>
                <a:effectLst/>
                <a:latin typeface="KaTeX_Main"/>
              </a:rPr>
              <a:t>,</a:t>
            </a:r>
            <a:r>
              <a:rPr lang="en-AU" b="1" i="0" dirty="0" smtClean="0">
                <a:solidFill>
                  <a:srgbClr val="444444"/>
                </a:solidFill>
                <a:effectLst/>
                <a:latin typeface="KaTeX_Main"/>
              </a:rPr>
              <a:t>3.</a:t>
            </a: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8194" name="Picture 2" descr="https://www.educationperfect.com/media/content/Science/1420575788.596371g/1420575789370-20998683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375" y="2489200"/>
            <a:ext cx="381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https://www.educationperfect.com/media/content/Science/1492487972.552681g/1492487979547-3624841017160034-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7475" y="3086100"/>
            <a:ext cx="3790950"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27988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608737"/>
            <a:ext cx="11303000" cy="1200329"/>
          </a:xfrm>
          <a:prstGeom prst="rect">
            <a:avLst/>
          </a:prstGeom>
        </p:spPr>
        <p:txBody>
          <a:bodyPr wrap="square">
            <a:spAutoFit/>
          </a:bodyPr>
          <a:lstStyle/>
          <a:p>
            <a:r>
              <a:rPr lang="en-AU" b="0" i="0" dirty="0" smtClean="0">
                <a:solidFill>
                  <a:srgbClr val="444444"/>
                </a:solidFill>
                <a:effectLst/>
                <a:latin typeface="Arial" panose="020B0604020202020204" pitchFamily="34" charset="0"/>
              </a:rPr>
              <a:t>As you can imagine, this </a:t>
            </a:r>
            <a:r>
              <a:rPr lang="en-AU" b="1" i="0" dirty="0" smtClean="0">
                <a:solidFill>
                  <a:srgbClr val="00868B"/>
                </a:solidFill>
                <a:effectLst/>
                <a:latin typeface="Arial" panose="020B0604020202020204" pitchFamily="34" charset="0"/>
              </a:rPr>
              <a:t>saves a lot of time</a:t>
            </a:r>
            <a:r>
              <a:rPr lang="en-AU" b="0" i="0" dirty="0" smtClean="0">
                <a:solidFill>
                  <a:srgbClr val="444444"/>
                </a:solidFill>
                <a:effectLst/>
                <a:latin typeface="Arial" panose="020B0604020202020204" pitchFamily="34" charset="0"/>
              </a:rPr>
              <a:t> when you want to indicate the number of electrons in an atom such as calcium!</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Calcium has </a:t>
            </a:r>
            <a:r>
              <a:rPr lang="en-AU" b="0" i="0" dirty="0" smtClean="0">
                <a:solidFill>
                  <a:srgbClr val="444444"/>
                </a:solidFill>
                <a:effectLst/>
                <a:latin typeface="KaTeX_Main"/>
              </a:rPr>
              <a:t>20</a:t>
            </a:r>
            <a:r>
              <a:rPr lang="en-AU" b="0" i="0" dirty="0" smtClean="0">
                <a:solidFill>
                  <a:srgbClr val="444444"/>
                </a:solidFill>
                <a:effectLst/>
                <a:latin typeface="Arial" panose="020B0604020202020204" pitchFamily="34" charset="0"/>
              </a:rPr>
              <a:t> electrons, so we can write its </a:t>
            </a:r>
            <a:r>
              <a:rPr lang="en-AU" b="1" i="0" dirty="0" smtClean="0">
                <a:solidFill>
                  <a:srgbClr val="8C4AB2"/>
                </a:solidFill>
                <a:effectLst/>
                <a:latin typeface="Arial" panose="020B0604020202020204" pitchFamily="34" charset="0"/>
              </a:rPr>
              <a:t>electron configuration</a:t>
            </a:r>
            <a:r>
              <a:rPr lang="en-AU" b="0" i="0" dirty="0" smtClean="0">
                <a:solidFill>
                  <a:srgbClr val="444444"/>
                </a:solidFill>
                <a:effectLst/>
                <a:latin typeface="Arial" panose="020B0604020202020204" pitchFamily="34" charset="0"/>
              </a:rPr>
              <a:t> as </a:t>
            </a:r>
            <a:r>
              <a:rPr lang="en-AU" b="1" i="0" dirty="0" smtClean="0">
                <a:solidFill>
                  <a:srgbClr val="444444"/>
                </a:solidFill>
                <a:effectLst/>
                <a:latin typeface="KaTeX_Main"/>
              </a:rPr>
              <a:t>2</a:t>
            </a:r>
            <a:r>
              <a:rPr lang="en-AU" b="0" i="0" dirty="0" smtClean="0">
                <a:solidFill>
                  <a:srgbClr val="444444"/>
                </a:solidFill>
                <a:effectLst/>
                <a:latin typeface="KaTeX_Main"/>
              </a:rPr>
              <a:t>,</a:t>
            </a:r>
            <a:r>
              <a:rPr lang="en-AU" b="1" i="0" dirty="0" smtClean="0">
                <a:solidFill>
                  <a:srgbClr val="444444"/>
                </a:solidFill>
                <a:effectLst/>
                <a:latin typeface="KaTeX_Main"/>
              </a:rPr>
              <a:t>8</a:t>
            </a:r>
            <a:r>
              <a:rPr lang="en-AU" b="0" i="0" dirty="0" smtClean="0">
                <a:solidFill>
                  <a:srgbClr val="444444"/>
                </a:solidFill>
                <a:effectLst/>
                <a:latin typeface="KaTeX_Main"/>
              </a:rPr>
              <a:t>,</a:t>
            </a:r>
            <a:r>
              <a:rPr lang="en-AU" b="1" i="0" dirty="0" smtClean="0">
                <a:solidFill>
                  <a:srgbClr val="444444"/>
                </a:solidFill>
                <a:effectLst/>
                <a:latin typeface="KaTeX_Main"/>
              </a:rPr>
              <a:t>8</a:t>
            </a:r>
            <a:r>
              <a:rPr lang="en-AU" b="0" i="0" dirty="0" smtClean="0">
                <a:solidFill>
                  <a:srgbClr val="444444"/>
                </a:solidFill>
                <a:effectLst/>
                <a:latin typeface="KaTeX_Main"/>
              </a:rPr>
              <a:t>,</a:t>
            </a:r>
            <a:r>
              <a:rPr lang="en-AU" b="1" i="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a:t>
            </a:r>
            <a:endParaRPr lang="en-AU" b="0" i="0" dirty="0">
              <a:solidFill>
                <a:srgbClr val="444444"/>
              </a:solidFill>
              <a:effectLst/>
              <a:latin typeface="Arial" panose="020B0604020202020204" pitchFamily="34" charset="0"/>
            </a:endParaRPr>
          </a:p>
        </p:txBody>
      </p:sp>
      <p:pic>
        <p:nvPicPr>
          <p:cNvPr id="9218" name="Picture 2" descr="https://www.educationperfect.com/media/content/Science/1420576619.190551g/1420576619832-20998683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5600" y="2476500"/>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220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628640"/>
            <a:ext cx="10807700" cy="1754326"/>
          </a:xfrm>
          <a:prstGeom prst="rect">
            <a:avLst/>
          </a:prstGeom>
        </p:spPr>
        <p:txBody>
          <a:bodyPr wrap="square">
            <a:spAutoFit/>
          </a:bodyPr>
          <a:lstStyle/>
          <a:p>
            <a:r>
              <a:rPr lang="en-AU" b="0" i="0" dirty="0" smtClean="0">
                <a:solidFill>
                  <a:srgbClr val="444444"/>
                </a:solidFill>
                <a:effectLst/>
                <a:latin typeface="Arial" panose="020B0604020202020204" pitchFamily="34" charset="0"/>
              </a:rPr>
              <a:t>You can also </a:t>
            </a:r>
            <a:r>
              <a:rPr lang="en-AU" b="1" i="0" dirty="0" smtClean="0">
                <a:solidFill>
                  <a:srgbClr val="8C4AB2"/>
                </a:solidFill>
                <a:effectLst/>
                <a:latin typeface="Arial" panose="020B0604020202020204" pitchFamily="34" charset="0"/>
              </a:rPr>
              <a:t>work backwards</a:t>
            </a:r>
            <a:r>
              <a:rPr lang="en-AU" b="0" i="0" dirty="0" smtClean="0">
                <a:solidFill>
                  <a:srgbClr val="444444"/>
                </a:solidFill>
                <a:effectLst/>
                <a:latin typeface="Arial" panose="020B0604020202020204" pitchFamily="34" charset="0"/>
              </a:rPr>
              <a:t> from a given electron configuration to determine what the </a:t>
            </a:r>
            <a:r>
              <a:rPr lang="en-AU" b="1" i="0" dirty="0" smtClean="0">
                <a:solidFill>
                  <a:srgbClr val="00868B"/>
                </a:solidFill>
                <a:effectLst/>
                <a:latin typeface="Arial" panose="020B0604020202020204" pitchFamily="34" charset="0"/>
              </a:rPr>
              <a:t>element</a:t>
            </a:r>
            <a:r>
              <a:rPr lang="en-AU" b="0" i="0" dirty="0" smtClean="0">
                <a:solidFill>
                  <a:srgbClr val="444444"/>
                </a:solidFill>
                <a:effectLst/>
                <a:latin typeface="Arial" panose="020B0604020202020204" pitchFamily="34" charset="0"/>
              </a:rPr>
              <a:t> is. For example, what is the element with the electron configuration of </a:t>
            </a:r>
            <a:r>
              <a:rPr lang="en-AU" b="1" i="0" dirty="0" smtClean="0">
                <a:solidFill>
                  <a:srgbClr val="3598DC"/>
                </a:solidFill>
                <a:effectLst/>
                <a:latin typeface="KaTeX_Main"/>
              </a:rPr>
              <a:t>2</a:t>
            </a:r>
            <a:r>
              <a:rPr lang="en-AU" b="0" i="0" dirty="0" smtClean="0">
                <a:solidFill>
                  <a:srgbClr val="3598DC"/>
                </a:solidFill>
                <a:effectLst/>
                <a:latin typeface="KaTeX_Main"/>
              </a:rPr>
              <a:t>,</a:t>
            </a:r>
            <a:r>
              <a:rPr lang="en-AU" b="1" i="0" dirty="0" smtClean="0">
                <a:solidFill>
                  <a:srgbClr val="3598DC"/>
                </a:solidFill>
                <a:effectLst/>
                <a:latin typeface="KaTeX_Main"/>
              </a:rPr>
              <a:t>8</a:t>
            </a:r>
            <a:r>
              <a:rPr lang="en-AU" b="0" i="0" dirty="0" smtClean="0">
                <a:solidFill>
                  <a:srgbClr val="3598DC"/>
                </a:solidFill>
                <a:effectLst/>
                <a:latin typeface="KaTeX_Main"/>
              </a:rPr>
              <a:t>,</a:t>
            </a:r>
            <a:r>
              <a:rPr lang="en-AU" b="1" i="0" dirty="0" smtClean="0">
                <a:solidFill>
                  <a:srgbClr val="3598DC"/>
                </a:solidFill>
                <a:effectLst/>
                <a:latin typeface="KaTeX_Main"/>
              </a:rPr>
              <a:t>3</a:t>
            </a:r>
            <a:r>
              <a:rPr lang="en-AU" b="0" i="0" dirty="0" smtClean="0">
                <a:solidFill>
                  <a:srgbClr val="444444"/>
                </a:solidFill>
                <a:effectLst/>
                <a:latin typeface="Arial" panose="020B0604020202020204" pitchFamily="34" charset="0"/>
              </a:rPr>
              <a:t> for its neutral atom?</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The </a:t>
            </a:r>
            <a:r>
              <a:rPr lang="en-AU" b="1" i="0" dirty="0" smtClean="0">
                <a:solidFill>
                  <a:srgbClr val="8C4AB2"/>
                </a:solidFill>
                <a:effectLst/>
                <a:latin typeface="Arial" panose="020B0604020202020204" pitchFamily="34" charset="0"/>
              </a:rPr>
              <a:t>total number of electrons</a:t>
            </a:r>
            <a:r>
              <a:rPr lang="en-AU" b="0" i="0" dirty="0" smtClean="0">
                <a:solidFill>
                  <a:srgbClr val="444444"/>
                </a:solidFill>
                <a:effectLst/>
                <a:latin typeface="Arial" panose="020B0604020202020204" pitchFamily="34" charset="0"/>
              </a:rPr>
              <a:t> in a neutral atom is equal to the </a:t>
            </a:r>
            <a:r>
              <a:rPr lang="en-AU" b="1" i="0" dirty="0" smtClean="0">
                <a:solidFill>
                  <a:srgbClr val="00868B"/>
                </a:solidFill>
                <a:effectLst/>
                <a:latin typeface="Arial" panose="020B0604020202020204" pitchFamily="34" charset="0"/>
              </a:rPr>
              <a:t>atomic number</a:t>
            </a:r>
            <a:r>
              <a:rPr lang="en-AU" b="0" i="0" dirty="0" smtClean="0">
                <a:solidFill>
                  <a:srgbClr val="444444"/>
                </a:solidFill>
                <a:effectLst/>
                <a:latin typeface="Arial" panose="020B0604020202020204" pitchFamily="34" charset="0"/>
              </a:rPr>
              <a:t> of that element, so you can simply add up the number of electrons and then find that element on the periodic table. In this case, there are </a:t>
            </a:r>
            <a:r>
              <a:rPr lang="en-AU" b="1" i="0" dirty="0" smtClean="0">
                <a:solidFill>
                  <a:srgbClr val="3598DC"/>
                </a:solidFill>
                <a:effectLst/>
                <a:latin typeface="KaTeX_Main"/>
              </a:rPr>
              <a:t>13</a:t>
            </a:r>
            <a:r>
              <a:rPr lang="en-AU" b="0" i="0" dirty="0" smtClean="0">
                <a:solidFill>
                  <a:srgbClr val="444444"/>
                </a:solidFill>
                <a:effectLst/>
                <a:latin typeface="Arial" panose="020B0604020202020204" pitchFamily="34" charset="0"/>
              </a:rPr>
              <a:t> </a:t>
            </a:r>
            <a:r>
              <a:rPr lang="en-AU" b="1" i="0" dirty="0" smtClean="0">
                <a:solidFill>
                  <a:srgbClr val="3598DC"/>
                </a:solidFill>
                <a:effectLst/>
                <a:latin typeface="Arial" panose="020B0604020202020204" pitchFamily="34" charset="0"/>
              </a:rPr>
              <a:t>electrons.</a:t>
            </a:r>
            <a:r>
              <a:rPr lang="en-AU" b="0" i="0" dirty="0" smtClean="0">
                <a:solidFill>
                  <a:srgbClr val="444444"/>
                </a:solidFill>
                <a:effectLst/>
                <a:latin typeface="Arial" panose="020B0604020202020204" pitchFamily="34" charset="0"/>
              </a:rPr>
              <a:t> The element with an atomic number of </a:t>
            </a:r>
            <a:r>
              <a:rPr lang="en-AU" b="0" i="0" dirty="0" smtClean="0">
                <a:solidFill>
                  <a:srgbClr val="444444"/>
                </a:solidFill>
                <a:effectLst/>
                <a:latin typeface="KaTeX_Main"/>
              </a:rPr>
              <a:t>13</a:t>
            </a:r>
            <a:r>
              <a:rPr lang="en-AU" b="0" i="0" dirty="0" smtClean="0">
                <a:solidFill>
                  <a:srgbClr val="444444"/>
                </a:solidFill>
                <a:effectLst/>
                <a:latin typeface="Arial" panose="020B0604020202020204" pitchFamily="34" charset="0"/>
              </a:rPr>
              <a:t> is </a:t>
            </a:r>
            <a:r>
              <a:rPr lang="en-AU" b="1" i="0" dirty="0" smtClean="0">
                <a:solidFill>
                  <a:srgbClr val="00868B"/>
                </a:solidFill>
                <a:effectLst/>
                <a:latin typeface="Arial" panose="020B0604020202020204" pitchFamily="34" charset="0"/>
              </a:rPr>
              <a:t>aluminium.</a:t>
            </a:r>
            <a:endParaRPr lang="en-AU" b="0" i="0" dirty="0">
              <a:solidFill>
                <a:srgbClr val="444444"/>
              </a:solidFill>
              <a:effectLst/>
              <a:latin typeface="Arial" panose="020B0604020202020204" pitchFamily="34" charset="0"/>
            </a:endParaRPr>
          </a:p>
        </p:txBody>
      </p:sp>
      <p:pic>
        <p:nvPicPr>
          <p:cNvPr id="10242" name="Picture 2" descr="https://www.educationperfect.com/media/content/Science/1491542676.350261g/1491542680502-1984833293347155-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2437" y="2814637"/>
            <a:ext cx="3248025" cy="3800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2587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8000" y="598438"/>
            <a:ext cx="11252200" cy="1477328"/>
          </a:xfrm>
          <a:prstGeom prst="rect">
            <a:avLst/>
          </a:prstGeom>
        </p:spPr>
        <p:txBody>
          <a:bodyPr wrap="square">
            <a:spAutoFit/>
          </a:bodyPr>
          <a:lstStyle/>
          <a:p>
            <a:r>
              <a:rPr lang="en-AU" b="0" i="0" dirty="0" smtClean="0">
                <a:solidFill>
                  <a:srgbClr val="444444"/>
                </a:solidFill>
                <a:effectLst/>
                <a:latin typeface="Arial" panose="020B0604020202020204" pitchFamily="34" charset="0"/>
              </a:rPr>
              <a:t>Remember how the </a:t>
            </a:r>
            <a:r>
              <a:rPr lang="en-AU" b="1" i="0" dirty="0" smtClean="0">
                <a:solidFill>
                  <a:srgbClr val="00868B"/>
                </a:solidFill>
                <a:effectLst/>
                <a:latin typeface="Arial" panose="020B0604020202020204" pitchFamily="34" charset="0"/>
              </a:rPr>
              <a:t>chemical reactivity</a:t>
            </a:r>
            <a:r>
              <a:rPr lang="en-AU" b="0" i="0" dirty="0" smtClean="0">
                <a:solidFill>
                  <a:srgbClr val="444444"/>
                </a:solidFill>
                <a:effectLst/>
                <a:latin typeface="Arial" panose="020B0604020202020204" pitchFamily="34" charset="0"/>
              </a:rPr>
              <a:t> of an element depends on the arrangement of its electrons? It actually depends only on the number of electrons in the </a:t>
            </a:r>
            <a:r>
              <a:rPr lang="en-AU" b="1" i="0" dirty="0" smtClean="0">
                <a:solidFill>
                  <a:srgbClr val="EF798A"/>
                </a:solidFill>
                <a:effectLst/>
                <a:latin typeface="Arial" panose="020B0604020202020204" pitchFamily="34" charset="0"/>
              </a:rPr>
              <a:t>outermost electron shell.</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1" i="0" dirty="0" smtClean="0">
                <a:solidFill>
                  <a:srgbClr val="444444"/>
                </a:solidFill>
                <a:effectLst/>
                <a:latin typeface="Arial" panose="020B0604020202020204" pitchFamily="34" charset="0"/>
              </a:rPr>
              <a:t>The electrons in the outermost shell are called </a:t>
            </a:r>
            <a:r>
              <a:rPr lang="en-AU" b="1" i="0" dirty="0" smtClean="0">
                <a:solidFill>
                  <a:srgbClr val="6773B2"/>
                </a:solidFill>
                <a:effectLst/>
                <a:latin typeface="Arial" panose="020B0604020202020204" pitchFamily="34" charset="0"/>
              </a:rPr>
              <a:t>valence electrons</a:t>
            </a:r>
            <a:r>
              <a:rPr lang="en-AU" b="1" i="0" dirty="0" smtClean="0">
                <a:solidFill>
                  <a:srgbClr val="444444"/>
                </a:solidFill>
                <a:effectLst/>
                <a:latin typeface="Arial" panose="020B0604020202020204" pitchFamily="34" charset="0"/>
              </a:rPr>
              <a:t> and this shell is called the </a:t>
            </a:r>
            <a:r>
              <a:rPr lang="en-AU" b="1" i="0" dirty="0" smtClean="0">
                <a:solidFill>
                  <a:srgbClr val="EF798A"/>
                </a:solidFill>
                <a:effectLst/>
                <a:latin typeface="Arial" panose="020B0604020202020204" pitchFamily="34" charset="0"/>
              </a:rPr>
              <a:t>valence shell.</a:t>
            </a:r>
            <a:endParaRPr lang="en-AU" b="0" i="0" dirty="0">
              <a:solidFill>
                <a:srgbClr val="444444"/>
              </a:solidFill>
              <a:effectLst/>
              <a:latin typeface="Arial" panose="020B0604020202020204" pitchFamily="34" charset="0"/>
            </a:endParaRPr>
          </a:p>
        </p:txBody>
      </p:sp>
      <p:pic>
        <p:nvPicPr>
          <p:cNvPr id="11266" name="Picture 2" descr="https://www.educationperfect.com/media/content/Science/1492561050.804791g/1492561059957-1213810449087791-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0939" y="2171700"/>
            <a:ext cx="5017186" cy="447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264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464741"/>
            <a:ext cx="10883900" cy="2585323"/>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a:t>
            </a:r>
            <a:r>
              <a:rPr lang="en-AU" b="1" i="0" dirty="0" smtClean="0">
                <a:solidFill>
                  <a:srgbClr val="6773B2"/>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are the electrons that are involved in </a:t>
            </a:r>
            <a:r>
              <a:rPr lang="en-AU" b="1" i="0" dirty="0" smtClean="0">
                <a:solidFill>
                  <a:srgbClr val="3598DC"/>
                </a:solidFill>
                <a:effectLst/>
                <a:latin typeface="Arial" panose="020B0604020202020204" pitchFamily="34" charset="0"/>
              </a:rPr>
              <a:t>bonding and chemical reactions</a:t>
            </a:r>
            <a:r>
              <a:rPr lang="en-AU" b="0" i="0" dirty="0" smtClean="0">
                <a:solidFill>
                  <a:srgbClr val="444444"/>
                </a:solidFill>
                <a:effectLst/>
                <a:latin typeface="Arial" panose="020B0604020202020204" pitchFamily="34" charset="0"/>
              </a:rPr>
              <a:t> of atoms.</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An atom is </a:t>
            </a:r>
            <a:r>
              <a:rPr lang="en-AU" b="1" i="0" dirty="0" smtClean="0">
                <a:solidFill>
                  <a:srgbClr val="32B57C"/>
                </a:solidFill>
                <a:effectLst/>
                <a:latin typeface="Arial" panose="020B0604020202020204" pitchFamily="34" charset="0"/>
              </a:rPr>
              <a:t>most stable</a:t>
            </a:r>
            <a:r>
              <a:rPr lang="en-AU" b="0" i="0" dirty="0" smtClean="0">
                <a:solidFill>
                  <a:srgbClr val="444444"/>
                </a:solidFill>
                <a:effectLst/>
                <a:latin typeface="Arial" panose="020B0604020202020204" pitchFamily="34" charset="0"/>
              </a:rPr>
              <a:t> when its </a:t>
            </a:r>
            <a:r>
              <a:rPr lang="en-AU" b="1" i="0" dirty="0" smtClean="0">
                <a:solidFill>
                  <a:srgbClr val="6773B2"/>
                </a:solidFill>
                <a:effectLst/>
                <a:latin typeface="Arial" panose="020B0604020202020204" pitchFamily="34" charset="0"/>
              </a:rPr>
              <a:t>valence shell is full</a:t>
            </a:r>
            <a:r>
              <a:rPr lang="en-AU" b="0" i="0" dirty="0" smtClean="0">
                <a:solidFill>
                  <a:srgbClr val="444444"/>
                </a:solidFill>
                <a:effectLst/>
                <a:latin typeface="Arial" panose="020B0604020202020204" pitchFamily="34" charset="0"/>
              </a:rPr>
              <a:t> of electrons, or empty of electrons. During chemical reactions, atoms will gain, lose or share electrons with other atoms in order to achieve a </a:t>
            </a:r>
            <a:r>
              <a:rPr lang="en-AU" b="1" i="0" dirty="0" smtClean="0">
                <a:solidFill>
                  <a:srgbClr val="3598DC"/>
                </a:solidFill>
                <a:effectLst/>
                <a:latin typeface="Arial" panose="020B0604020202020204" pitchFamily="34" charset="0"/>
              </a:rPr>
              <a:t>more stable</a:t>
            </a:r>
            <a:r>
              <a:rPr lang="en-AU" b="0" i="0" dirty="0" smtClean="0">
                <a:solidFill>
                  <a:srgbClr val="444444"/>
                </a:solidFill>
                <a:effectLst/>
                <a:latin typeface="Arial" panose="020B0604020202020204" pitchFamily="34" charset="0"/>
              </a:rPr>
              <a:t> state.</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Atoms with the same number of valence electrons tend to react in the </a:t>
            </a:r>
            <a:r>
              <a:rPr lang="en-AU" b="1" i="0" dirty="0" smtClean="0">
                <a:solidFill>
                  <a:srgbClr val="32B57C"/>
                </a:solidFill>
                <a:effectLst/>
                <a:latin typeface="Arial" panose="020B0604020202020204" pitchFamily="34" charset="0"/>
              </a:rPr>
              <a:t>same way.</a:t>
            </a:r>
            <a:r>
              <a:rPr lang="en-AU" b="0" i="0" dirty="0" smtClean="0">
                <a:solidFill>
                  <a:srgbClr val="444444"/>
                </a:solidFill>
                <a:effectLst/>
                <a:latin typeface="Arial" panose="020B0604020202020204" pitchFamily="34" charset="0"/>
              </a:rPr>
              <a:t> You'll learn more about this in the next Smart Lesson. For now, let's focus on </a:t>
            </a:r>
            <a:r>
              <a:rPr lang="en-AU" b="1" i="0" dirty="0" smtClean="0">
                <a:solidFill>
                  <a:srgbClr val="6773B2"/>
                </a:solidFill>
                <a:effectLst/>
                <a:latin typeface="Arial" panose="020B0604020202020204" pitchFamily="34" charset="0"/>
              </a:rPr>
              <a:t>identifying the number of valence electrons</a:t>
            </a:r>
            <a:r>
              <a:rPr lang="en-AU" b="0" i="0" dirty="0" smtClean="0">
                <a:solidFill>
                  <a:srgbClr val="444444"/>
                </a:solidFill>
                <a:effectLst/>
                <a:latin typeface="Arial" panose="020B0604020202020204" pitchFamily="34" charset="0"/>
              </a:rPr>
              <a:t> that are present in an atom.</a:t>
            </a:r>
            <a:endParaRPr lang="en-AU" b="0" i="0" dirty="0">
              <a:solidFill>
                <a:srgbClr val="444444"/>
              </a:solidFill>
              <a:effectLst/>
              <a:latin typeface="Arial" panose="020B0604020202020204" pitchFamily="34" charset="0"/>
            </a:endParaRPr>
          </a:p>
        </p:txBody>
      </p:sp>
      <p:pic>
        <p:nvPicPr>
          <p:cNvPr id="12290" name="Picture 2" descr="https://www.educationperfect.com/media/content/Science/1455586627.636541g/1455586628422-1388123762003776-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8912" y="3050064"/>
            <a:ext cx="3800475" cy="327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8159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04900" y="612339"/>
            <a:ext cx="9956800" cy="1754326"/>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number of </a:t>
            </a:r>
            <a:r>
              <a:rPr lang="en-AU" b="1" i="0" dirty="0" smtClean="0">
                <a:solidFill>
                  <a:srgbClr val="6773B2"/>
                </a:solidFill>
                <a:effectLst/>
                <a:latin typeface="Arial" panose="020B0604020202020204" pitchFamily="34" charset="0"/>
              </a:rPr>
              <a:t>valence electrons</a:t>
            </a:r>
            <a:r>
              <a:rPr lang="en-AU" b="0" i="0" dirty="0" smtClean="0">
                <a:solidFill>
                  <a:srgbClr val="444444"/>
                </a:solidFill>
                <a:effectLst/>
                <a:latin typeface="Arial" panose="020B0604020202020204" pitchFamily="34" charset="0"/>
              </a:rPr>
              <a:t> in an atom can be identified in several ways.</a:t>
            </a:r>
          </a:p>
          <a:p>
            <a:r>
              <a:rPr lang="en-AU" b="0" i="0" dirty="0" smtClean="0">
                <a:solidFill>
                  <a:srgbClr val="444444"/>
                </a:solidFill>
                <a:effectLst/>
                <a:latin typeface="Arial" panose="020B0604020202020204" pitchFamily="34" charset="0"/>
              </a:rPr>
              <a:t> </a:t>
            </a:r>
          </a:p>
          <a:p>
            <a:r>
              <a:rPr lang="en-AU" b="1" i="0" dirty="0" smtClean="0">
                <a:solidFill>
                  <a:srgbClr val="444444"/>
                </a:solidFill>
                <a:effectLst/>
                <a:latin typeface="Arial" panose="020B0604020202020204" pitchFamily="34" charset="0"/>
              </a:rPr>
              <a:t>1. Count the number of electrons in the </a:t>
            </a:r>
            <a:r>
              <a:rPr lang="en-AU" b="1" i="0" dirty="0" smtClean="0">
                <a:solidFill>
                  <a:srgbClr val="EF798A"/>
                </a:solidFill>
                <a:effectLst/>
                <a:latin typeface="Arial" panose="020B0604020202020204" pitchFamily="34" charset="0"/>
              </a:rPr>
              <a:t>outer shell of a diagram or picture.</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example, the outer shell of the atom in the diagram below has two electrons in it. This atom has </a:t>
            </a:r>
            <a:r>
              <a:rPr lang="en-AU" b="1" i="0" dirty="0" smtClean="0">
                <a:solidFill>
                  <a:srgbClr val="3598DC"/>
                </a:solidFill>
                <a:effectLst/>
                <a:latin typeface="KaTeX_Main"/>
              </a:rPr>
              <a:t>2</a:t>
            </a:r>
            <a:r>
              <a:rPr lang="en-AU" b="0" i="0" dirty="0" smtClean="0">
                <a:solidFill>
                  <a:srgbClr val="444444"/>
                </a:solidFill>
                <a:effectLst/>
                <a:latin typeface="Arial" panose="020B0604020202020204" pitchFamily="34" charset="0"/>
              </a:rPr>
              <a:t> </a:t>
            </a:r>
            <a:r>
              <a:rPr lang="en-AU" b="1" i="0" dirty="0" smtClean="0">
                <a:solidFill>
                  <a:srgbClr val="3598DC"/>
                </a:solidFill>
                <a:effectLst/>
                <a:latin typeface="Arial" panose="020B0604020202020204" pitchFamily="34" charset="0"/>
              </a:rPr>
              <a:t>valence electrons.</a:t>
            </a:r>
            <a:endParaRPr lang="en-AU" b="0" i="0" dirty="0">
              <a:solidFill>
                <a:srgbClr val="444444"/>
              </a:solidFill>
              <a:effectLst/>
              <a:latin typeface="Arial" panose="020B0604020202020204" pitchFamily="34" charset="0"/>
            </a:endParaRPr>
          </a:p>
        </p:txBody>
      </p:sp>
      <p:pic>
        <p:nvPicPr>
          <p:cNvPr id="13314" name="Picture 2" descr="https://www.educationperfect.com/media/content/Science/1420576089.565281g/1420576090339-20998683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8300" y="2603500"/>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4652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7400" y="824637"/>
            <a:ext cx="10909300" cy="1200329"/>
          </a:xfrm>
          <a:prstGeom prst="rect">
            <a:avLst/>
          </a:prstGeom>
        </p:spPr>
        <p:txBody>
          <a:bodyPr wrap="square">
            <a:spAutoFit/>
          </a:bodyPr>
          <a:lstStyle/>
          <a:p>
            <a:r>
              <a:rPr lang="en-AU" b="1" i="0" dirty="0" smtClean="0">
                <a:solidFill>
                  <a:srgbClr val="444444"/>
                </a:solidFill>
                <a:effectLst/>
                <a:latin typeface="Arial" panose="020B0604020202020204" pitchFamily="34" charset="0"/>
              </a:rPr>
              <a:t>2. Take only the </a:t>
            </a:r>
            <a:r>
              <a:rPr lang="en-AU" b="1" i="0" dirty="0" smtClean="0">
                <a:solidFill>
                  <a:srgbClr val="3598DC"/>
                </a:solidFill>
                <a:effectLst/>
                <a:latin typeface="Arial" panose="020B0604020202020204" pitchFamily="34" charset="0"/>
              </a:rPr>
              <a:t>last number of an electron configuration.</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example, the electron configuration of a carbon atom is: </a:t>
            </a:r>
            <a:r>
              <a:rPr lang="en-AU" b="1" i="0" dirty="0" smtClean="0">
                <a:solidFill>
                  <a:srgbClr val="00868B"/>
                </a:solidFill>
                <a:effectLst/>
                <a:latin typeface="KaTeX_Main"/>
              </a:rPr>
              <a:t>C</a:t>
            </a:r>
            <a:r>
              <a:rPr lang="en-AU" b="0" i="0" dirty="0" smtClean="0">
                <a:solidFill>
                  <a:srgbClr val="00868B"/>
                </a:solidFill>
                <a:effectLst/>
                <a:latin typeface="KaTeX_Main"/>
              </a:rPr>
              <a:t>=</a:t>
            </a:r>
            <a:r>
              <a:rPr lang="en-AU" b="1" i="0" dirty="0" smtClean="0">
                <a:solidFill>
                  <a:srgbClr val="00868B"/>
                </a:solidFill>
                <a:effectLst/>
                <a:latin typeface="KaTeX_Main"/>
              </a:rPr>
              <a:t>2,4.</a:t>
            </a:r>
            <a:r>
              <a:rPr lang="en-AU" b="0" i="0" dirty="0" smtClean="0">
                <a:solidFill>
                  <a:srgbClr val="444444"/>
                </a:solidFill>
                <a:effectLst/>
                <a:latin typeface="Arial" panose="020B0604020202020204" pitchFamily="34" charset="0"/>
              </a:rPr>
              <a:t> Carbon atoms have </a:t>
            </a:r>
            <a:r>
              <a:rPr lang="en-AU" b="1" i="0" dirty="0" smtClean="0">
                <a:solidFill>
                  <a:srgbClr val="6773B2"/>
                </a:solidFill>
                <a:effectLst/>
                <a:latin typeface="KaTeX_Main"/>
              </a:rPr>
              <a:t>4</a:t>
            </a:r>
            <a:r>
              <a:rPr lang="en-AU" b="0" i="0" dirty="0" smtClean="0">
                <a:solidFill>
                  <a:srgbClr val="444444"/>
                </a:solidFill>
                <a:effectLst/>
                <a:latin typeface="Arial" panose="020B0604020202020204" pitchFamily="34" charset="0"/>
              </a:rPr>
              <a:t> </a:t>
            </a:r>
            <a:r>
              <a:rPr lang="en-AU" b="1" i="0" dirty="0" smtClean="0">
                <a:solidFill>
                  <a:srgbClr val="6773B2"/>
                </a:solidFill>
                <a:effectLst/>
                <a:latin typeface="Arial" panose="020B0604020202020204" pitchFamily="34" charset="0"/>
              </a:rPr>
              <a:t>valence electrons.</a:t>
            </a:r>
            <a:endParaRPr lang="en-AU" b="0" i="0" dirty="0">
              <a:solidFill>
                <a:srgbClr val="444444"/>
              </a:solidFill>
              <a:effectLst/>
              <a:latin typeface="Arial" panose="020B0604020202020204" pitchFamily="34" charset="0"/>
            </a:endParaRPr>
          </a:p>
        </p:txBody>
      </p:sp>
      <p:pic>
        <p:nvPicPr>
          <p:cNvPr id="14338" name="Picture 2" descr="https://www.educationperfect.com/media/content/Science/1454978084.78731g/1454978088718-863118514223567-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1375" y="3128962"/>
            <a:ext cx="2381250" cy="2714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21956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800" y="342543"/>
            <a:ext cx="11150600" cy="2031325"/>
          </a:xfrm>
          <a:prstGeom prst="rect">
            <a:avLst/>
          </a:prstGeom>
        </p:spPr>
        <p:txBody>
          <a:bodyPr wrap="square">
            <a:spAutoFit/>
          </a:bodyPr>
          <a:lstStyle/>
          <a:p>
            <a:r>
              <a:rPr lang="en-AU" b="1" i="0" dirty="0" smtClean="0">
                <a:solidFill>
                  <a:srgbClr val="444444"/>
                </a:solidFill>
                <a:effectLst/>
                <a:latin typeface="Arial" panose="020B0604020202020204" pitchFamily="34" charset="0"/>
              </a:rPr>
              <a:t>3. Identify which </a:t>
            </a:r>
            <a:r>
              <a:rPr lang="en-AU" b="1" i="0" dirty="0" smtClean="0">
                <a:solidFill>
                  <a:srgbClr val="571A98"/>
                </a:solidFill>
                <a:effectLst/>
                <a:latin typeface="Arial" panose="020B0604020202020204" pitchFamily="34" charset="0"/>
              </a:rPr>
              <a:t>group of the periodic table</a:t>
            </a:r>
            <a:r>
              <a:rPr lang="en-AU" b="1" i="0" dirty="0" smtClean="0">
                <a:solidFill>
                  <a:srgbClr val="444444"/>
                </a:solidFill>
                <a:effectLst/>
                <a:latin typeface="Arial" panose="020B0604020202020204" pitchFamily="34" charset="0"/>
              </a:rPr>
              <a:t> the atom is in.</a:t>
            </a:r>
            <a:endParaRPr lang="en-AU" b="0" i="0" dirty="0" smtClean="0">
              <a:solidFill>
                <a:srgbClr val="444444"/>
              </a:solidFill>
              <a:effectLst/>
              <a:latin typeface="Arial" panose="020B0604020202020204" pitchFamily="34" charset="0"/>
            </a:endParaRP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elements in </a:t>
            </a:r>
            <a:r>
              <a:rPr lang="en-AU" b="1" i="0" dirty="0" smtClean="0">
                <a:solidFill>
                  <a:srgbClr val="00868B"/>
                </a:solidFill>
                <a:effectLst/>
                <a:latin typeface="Arial" panose="020B0604020202020204" pitchFamily="34" charset="0"/>
              </a:rPr>
              <a:t>groups</a:t>
            </a:r>
            <a:r>
              <a:rPr lang="en-AU" b="0" i="0" dirty="0" smtClean="0">
                <a:solidFill>
                  <a:srgbClr val="444444"/>
                </a:solidFill>
                <a:effectLst/>
                <a:latin typeface="Arial" panose="020B0604020202020204" pitchFamily="34" charset="0"/>
              </a:rPr>
              <a:t> </a:t>
            </a:r>
            <a:r>
              <a:rPr lang="en-AU" b="1" i="0" dirty="0" smtClean="0">
                <a:solidFill>
                  <a:srgbClr val="00868B"/>
                </a:solidFill>
                <a:effectLst/>
                <a:latin typeface="KaTeX_Main"/>
              </a:rPr>
              <a:t>1</a:t>
            </a:r>
            <a:r>
              <a:rPr lang="en-AU" b="0" i="0" dirty="0" smtClean="0">
                <a:solidFill>
                  <a:srgbClr val="444444"/>
                </a:solidFill>
                <a:effectLst/>
                <a:latin typeface="Arial" panose="020B0604020202020204" pitchFamily="34" charset="0"/>
              </a:rPr>
              <a:t> </a:t>
            </a:r>
            <a:r>
              <a:rPr lang="en-AU" b="1" i="0" dirty="0" smtClean="0">
                <a:solidFill>
                  <a:srgbClr val="00868B"/>
                </a:solidFill>
                <a:effectLst/>
                <a:latin typeface="Arial" panose="020B0604020202020204" pitchFamily="34" charset="0"/>
              </a:rPr>
              <a:t>and </a:t>
            </a:r>
            <a:r>
              <a:rPr lang="en-AU" b="1" i="0" dirty="0" smtClean="0">
                <a:solidFill>
                  <a:srgbClr val="00868B"/>
                </a:solidFill>
                <a:effectLst/>
                <a:latin typeface="KaTeX_Main"/>
              </a:rPr>
              <a:t>2,</a:t>
            </a:r>
            <a:r>
              <a:rPr lang="en-AU" b="0" i="0" dirty="0" smtClean="0">
                <a:solidFill>
                  <a:srgbClr val="444444"/>
                </a:solidFill>
                <a:effectLst/>
                <a:latin typeface="Arial" panose="020B0604020202020204" pitchFamily="34" charset="0"/>
              </a:rPr>
              <a:t> the number of valence electrons is </a:t>
            </a:r>
            <a:r>
              <a:rPr lang="en-AU" b="1" i="0" dirty="0" smtClean="0">
                <a:solidFill>
                  <a:srgbClr val="00868B"/>
                </a:solidFill>
                <a:effectLst/>
                <a:latin typeface="Arial" panose="020B0604020202020204" pitchFamily="34" charset="0"/>
              </a:rPr>
              <a:t>equal to the group number</a:t>
            </a:r>
            <a:r>
              <a:rPr lang="en-AU" b="0" i="0" dirty="0" smtClean="0">
                <a:solidFill>
                  <a:srgbClr val="444444"/>
                </a:solidFill>
                <a:effectLst/>
                <a:latin typeface="Arial" panose="020B0604020202020204" pitchFamily="34" charset="0"/>
              </a:rPr>
              <a:t> (i.e. </a:t>
            </a:r>
            <a:r>
              <a:rPr lang="en-AU" b="0" i="0" dirty="0" smtClean="0">
                <a:solidFill>
                  <a:srgbClr val="444444"/>
                </a:solidFill>
                <a:effectLst/>
                <a:latin typeface="KaTeX_Main"/>
              </a:rPr>
              <a:t>1</a:t>
            </a:r>
            <a:r>
              <a:rPr lang="en-AU" b="0" i="0" dirty="0" smtClean="0">
                <a:solidFill>
                  <a:srgbClr val="444444"/>
                </a:solidFill>
                <a:effectLst/>
                <a:latin typeface="Arial" panose="020B0604020202020204" pitchFamily="34" charset="0"/>
              </a:rPr>
              <a:t> or </a:t>
            </a:r>
            <a:r>
              <a:rPr lang="en-AU" b="0" i="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valence electrons respectively). For elements in </a:t>
            </a:r>
            <a:r>
              <a:rPr lang="en-AU" b="1" i="0" dirty="0" smtClean="0">
                <a:solidFill>
                  <a:srgbClr val="6773B2"/>
                </a:solidFill>
                <a:effectLst/>
                <a:latin typeface="Arial" panose="020B0604020202020204" pitchFamily="34" charset="0"/>
              </a:rPr>
              <a:t>groups</a:t>
            </a:r>
            <a:r>
              <a:rPr lang="en-AU" b="0" i="0" dirty="0" smtClean="0">
                <a:solidFill>
                  <a:srgbClr val="444444"/>
                </a:solidFill>
                <a:effectLst/>
                <a:latin typeface="Arial" panose="020B0604020202020204" pitchFamily="34" charset="0"/>
              </a:rPr>
              <a:t> </a:t>
            </a:r>
            <a:r>
              <a:rPr lang="en-AU" b="1" i="0" dirty="0" smtClean="0">
                <a:solidFill>
                  <a:srgbClr val="6773B2"/>
                </a:solidFill>
                <a:effectLst/>
                <a:latin typeface="KaTeX_Main"/>
              </a:rPr>
              <a:t>13−18,</a:t>
            </a:r>
            <a:r>
              <a:rPr lang="en-AU" b="0" i="0" dirty="0" smtClean="0">
                <a:solidFill>
                  <a:srgbClr val="444444"/>
                </a:solidFill>
                <a:effectLst/>
                <a:latin typeface="Arial" panose="020B0604020202020204" pitchFamily="34" charset="0"/>
              </a:rPr>
              <a:t> the number of valence electrons is </a:t>
            </a:r>
            <a:r>
              <a:rPr lang="en-AU" b="1" i="0" dirty="0" smtClean="0">
                <a:solidFill>
                  <a:srgbClr val="6773B2"/>
                </a:solidFill>
                <a:effectLst/>
                <a:latin typeface="Arial" panose="020B0604020202020204" pitchFamily="34" charset="0"/>
              </a:rPr>
              <a:t>equal to the group number minus</a:t>
            </a:r>
            <a:r>
              <a:rPr lang="en-AU" b="0" i="0" dirty="0" smtClean="0">
                <a:solidFill>
                  <a:srgbClr val="444444"/>
                </a:solidFill>
                <a:effectLst/>
                <a:latin typeface="Arial" panose="020B0604020202020204" pitchFamily="34" charset="0"/>
              </a:rPr>
              <a:t> </a:t>
            </a:r>
            <a:r>
              <a:rPr lang="en-AU" b="1" i="0" dirty="0" smtClean="0">
                <a:solidFill>
                  <a:srgbClr val="6773B2"/>
                </a:solidFill>
                <a:effectLst/>
                <a:latin typeface="KaTeX_Main"/>
              </a:rPr>
              <a:t>10</a:t>
            </a:r>
            <a:r>
              <a:rPr lang="en-AU" b="0" i="0" dirty="0" smtClean="0">
                <a:solidFill>
                  <a:srgbClr val="444444"/>
                </a:solidFill>
                <a:effectLst/>
                <a:latin typeface="Arial" panose="020B0604020202020204" pitchFamily="34" charset="0"/>
              </a:rPr>
              <a:t> (i.e. </a:t>
            </a:r>
            <a:r>
              <a:rPr lang="en-AU" b="0" i="0" dirty="0" smtClean="0">
                <a:solidFill>
                  <a:srgbClr val="444444"/>
                </a:solidFill>
                <a:effectLst/>
                <a:latin typeface="KaTeX_Main"/>
              </a:rPr>
              <a:t>3-8</a:t>
            </a:r>
            <a:r>
              <a:rPr lang="en-AU" b="0" i="0" dirty="0" smtClean="0">
                <a:solidFill>
                  <a:srgbClr val="444444"/>
                </a:solidFill>
                <a:effectLst/>
                <a:latin typeface="Arial" panose="020B0604020202020204" pitchFamily="34" charset="0"/>
              </a:rPr>
              <a:t> valence electrons respectively).</a:t>
            </a:r>
          </a:p>
          <a:p>
            <a:r>
              <a:rPr lang="en-AU" b="0" i="0" dirty="0" smtClean="0">
                <a:solidFill>
                  <a:srgbClr val="444444"/>
                </a:solidFill>
                <a:effectLst/>
                <a:latin typeface="Arial" panose="020B0604020202020204" pitchFamily="34" charset="0"/>
              </a:rPr>
              <a:t> </a:t>
            </a:r>
          </a:p>
          <a:p>
            <a:r>
              <a:rPr lang="en-AU" b="0" i="0" dirty="0" smtClean="0">
                <a:solidFill>
                  <a:srgbClr val="444444"/>
                </a:solidFill>
                <a:effectLst/>
                <a:latin typeface="Arial" panose="020B0604020202020204" pitchFamily="34" charset="0"/>
              </a:rPr>
              <a:t>For example, nitrogen is in </a:t>
            </a:r>
            <a:r>
              <a:rPr lang="en-AU" b="1" i="0" dirty="0" smtClean="0">
                <a:solidFill>
                  <a:srgbClr val="571A98"/>
                </a:solidFill>
                <a:effectLst/>
                <a:latin typeface="Arial" panose="020B0604020202020204" pitchFamily="34" charset="0"/>
              </a:rPr>
              <a:t>group </a:t>
            </a:r>
            <a:r>
              <a:rPr lang="en-AU" b="1" i="0" dirty="0" smtClean="0">
                <a:solidFill>
                  <a:srgbClr val="571A98"/>
                </a:solidFill>
                <a:effectLst/>
                <a:latin typeface="KaTeX_Main"/>
              </a:rPr>
              <a:t>15,</a:t>
            </a:r>
            <a:r>
              <a:rPr lang="en-AU" b="0" i="0" dirty="0" smtClean="0">
                <a:solidFill>
                  <a:srgbClr val="444444"/>
                </a:solidFill>
                <a:effectLst/>
                <a:latin typeface="Arial" panose="020B0604020202020204" pitchFamily="34" charset="0"/>
              </a:rPr>
              <a:t> therefore a neutral atom of nitrogen has </a:t>
            </a:r>
            <a:r>
              <a:rPr lang="en-AU" b="1" i="0" dirty="0" smtClean="0">
                <a:solidFill>
                  <a:srgbClr val="00868B"/>
                </a:solidFill>
                <a:effectLst/>
                <a:latin typeface="KaTeX_Main"/>
              </a:rPr>
              <a:t>5</a:t>
            </a:r>
            <a:r>
              <a:rPr lang="en-AU" b="0" i="0" dirty="0" smtClean="0">
                <a:solidFill>
                  <a:srgbClr val="444444"/>
                </a:solidFill>
                <a:effectLst/>
                <a:latin typeface="Arial" panose="020B0604020202020204" pitchFamily="34" charset="0"/>
              </a:rPr>
              <a:t> </a:t>
            </a:r>
            <a:r>
              <a:rPr lang="en-AU" b="1" i="0" dirty="0" smtClean="0">
                <a:solidFill>
                  <a:srgbClr val="00868B"/>
                </a:solidFill>
                <a:effectLst/>
                <a:latin typeface="Arial" panose="020B0604020202020204" pitchFamily="34" charset="0"/>
              </a:rPr>
              <a:t>valence electrons.</a:t>
            </a:r>
            <a:endParaRPr lang="en-AU" b="0" i="0" dirty="0">
              <a:solidFill>
                <a:srgbClr val="444444"/>
              </a:solidFill>
              <a:effectLst/>
              <a:latin typeface="Arial" panose="020B0604020202020204" pitchFamily="34" charset="0"/>
            </a:endParaRPr>
          </a:p>
        </p:txBody>
      </p:sp>
      <p:pic>
        <p:nvPicPr>
          <p:cNvPr id="15362" name="Picture 2" descr="https://www.educationperfect.com/media/content/Science/1492724033.083381g/1492724048280-3506018503761634-8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1375" y="2730500"/>
            <a:ext cx="7600950" cy="3895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280566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84200" y="534938"/>
            <a:ext cx="11201400" cy="1477328"/>
          </a:xfrm>
          <a:prstGeom prst="rect">
            <a:avLst/>
          </a:prstGeom>
        </p:spPr>
        <p:txBody>
          <a:bodyPr wrap="square">
            <a:spAutoFit/>
          </a:bodyPr>
          <a:lstStyle/>
          <a:p>
            <a:r>
              <a:rPr lang="en-AU" b="0" i="0" dirty="0" smtClean="0">
                <a:solidFill>
                  <a:srgbClr val="444444"/>
                </a:solidFill>
                <a:effectLst/>
                <a:latin typeface="Arial" panose="020B0604020202020204" pitchFamily="34" charset="0"/>
              </a:rPr>
              <a:t>Elements in </a:t>
            </a:r>
            <a:r>
              <a:rPr lang="en-AU" b="1" i="0" dirty="0" smtClean="0">
                <a:solidFill>
                  <a:srgbClr val="3598DC"/>
                </a:solidFill>
                <a:effectLst/>
                <a:latin typeface="Arial" panose="020B0604020202020204" pitchFamily="34" charset="0"/>
              </a:rPr>
              <a:t>group</a:t>
            </a:r>
            <a:r>
              <a:rPr lang="en-AU" b="0" i="0" dirty="0" smtClean="0">
                <a:solidFill>
                  <a:srgbClr val="444444"/>
                </a:solidFill>
                <a:effectLst/>
                <a:latin typeface="Arial" panose="020B0604020202020204" pitchFamily="34" charset="0"/>
              </a:rPr>
              <a:t> </a:t>
            </a:r>
            <a:r>
              <a:rPr lang="en-AU" b="1" i="0" dirty="0" smtClean="0">
                <a:solidFill>
                  <a:srgbClr val="3598DC"/>
                </a:solidFill>
                <a:effectLst/>
                <a:latin typeface="KaTeX_Main"/>
              </a:rPr>
              <a:t>18</a:t>
            </a:r>
            <a:r>
              <a:rPr lang="en-AU" b="0" i="0" dirty="0" smtClean="0">
                <a:solidFill>
                  <a:srgbClr val="444444"/>
                </a:solidFill>
                <a:effectLst/>
                <a:latin typeface="Arial" panose="020B0604020202020204" pitchFamily="34" charset="0"/>
              </a:rPr>
              <a:t> have </a:t>
            </a:r>
            <a:r>
              <a:rPr lang="en-AU" b="1" i="0" dirty="0" smtClean="0">
                <a:solidFill>
                  <a:srgbClr val="6773B2"/>
                </a:solidFill>
                <a:effectLst/>
                <a:latin typeface="Arial" panose="020B0604020202020204" pitchFamily="34" charset="0"/>
              </a:rPr>
              <a:t>full valence electron shells.</a:t>
            </a:r>
            <a:r>
              <a:rPr lang="en-AU" b="0" i="0" dirty="0" smtClean="0">
                <a:solidFill>
                  <a:srgbClr val="444444"/>
                </a:solidFill>
                <a:effectLst/>
                <a:latin typeface="Arial" panose="020B0604020202020204" pitchFamily="34" charset="0"/>
              </a:rPr>
              <a:t> This means they </a:t>
            </a:r>
            <a:r>
              <a:rPr lang="en-AU" b="1" i="0" dirty="0" smtClean="0">
                <a:solidFill>
                  <a:srgbClr val="32B57C"/>
                </a:solidFill>
                <a:effectLst/>
                <a:latin typeface="Arial" panose="020B0604020202020204" pitchFamily="34" charset="0"/>
              </a:rPr>
              <a:t>do not</a:t>
            </a:r>
            <a:r>
              <a:rPr lang="en-AU" b="0" i="0" dirty="0" smtClean="0">
                <a:solidFill>
                  <a:srgbClr val="444444"/>
                </a:solidFill>
                <a:effectLst/>
                <a:latin typeface="Arial" panose="020B0604020202020204" pitchFamily="34" charset="0"/>
              </a:rPr>
              <a:t> need to gain or lose any electrons to become </a:t>
            </a:r>
            <a:r>
              <a:rPr lang="en-AU" b="1" i="0" dirty="0" smtClean="0">
                <a:solidFill>
                  <a:srgbClr val="32B57C"/>
                </a:solidFill>
                <a:effectLst/>
                <a:latin typeface="Arial" panose="020B0604020202020204" pitchFamily="34" charset="0"/>
              </a:rPr>
              <a:t>stable,</a:t>
            </a:r>
            <a:r>
              <a:rPr lang="en-AU" b="0" i="0" dirty="0" smtClean="0">
                <a:solidFill>
                  <a:srgbClr val="444444"/>
                </a:solidFill>
                <a:effectLst/>
                <a:latin typeface="Arial" panose="020B0604020202020204" pitchFamily="34" charset="0"/>
              </a:rPr>
              <a:t> so they don't take part in any chemical reactions.</a:t>
            </a:r>
          </a:p>
          <a:p>
            <a:r>
              <a:rPr lang="en-AU" b="0" i="0" dirty="0" smtClean="0">
                <a:solidFill>
                  <a:srgbClr val="444444"/>
                </a:solidFill>
                <a:effectLst/>
                <a:latin typeface="Arial" panose="020B0604020202020204" pitchFamily="34" charset="0"/>
              </a:rPr>
              <a:t> </a:t>
            </a:r>
          </a:p>
          <a:p>
            <a:r>
              <a:rPr lang="en-AU" b="1" i="0" dirty="0" smtClean="0">
                <a:solidFill>
                  <a:srgbClr val="3598DC"/>
                </a:solidFill>
                <a:effectLst/>
                <a:latin typeface="Arial" panose="020B0604020202020204" pitchFamily="34" charset="0"/>
              </a:rPr>
              <a:t>Helium</a:t>
            </a:r>
            <a:r>
              <a:rPr lang="en-AU" b="0" i="0" dirty="0" smtClean="0">
                <a:solidFill>
                  <a:srgbClr val="444444"/>
                </a:solidFill>
                <a:effectLst/>
                <a:latin typeface="Arial" panose="020B0604020202020204" pitchFamily="34" charset="0"/>
              </a:rPr>
              <a:t> has </a:t>
            </a:r>
            <a:r>
              <a:rPr lang="en-AU" b="0" i="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valence electrons as its valence shell is the one closest to the nucleus. </a:t>
            </a:r>
            <a:r>
              <a:rPr lang="en-AU" b="1" i="0" dirty="0" smtClean="0">
                <a:solidFill>
                  <a:srgbClr val="6773B2"/>
                </a:solidFill>
                <a:effectLst/>
                <a:latin typeface="Arial" panose="020B0604020202020204" pitchFamily="34" charset="0"/>
              </a:rPr>
              <a:t>Neon and argon</a:t>
            </a:r>
            <a:r>
              <a:rPr lang="en-AU" b="0" i="0" dirty="0" smtClean="0">
                <a:solidFill>
                  <a:srgbClr val="444444"/>
                </a:solidFill>
                <a:effectLst/>
                <a:latin typeface="Arial" panose="020B0604020202020204" pitchFamily="34" charset="0"/>
              </a:rPr>
              <a:t> each have </a:t>
            </a:r>
            <a:r>
              <a:rPr lang="en-AU" b="0" i="0" dirty="0" smtClean="0">
                <a:solidFill>
                  <a:srgbClr val="444444"/>
                </a:solidFill>
                <a:effectLst/>
                <a:latin typeface="KaTeX_Main"/>
              </a:rPr>
              <a:t>8</a:t>
            </a:r>
            <a:r>
              <a:rPr lang="en-AU" b="0" i="0" dirty="0" smtClean="0">
                <a:solidFill>
                  <a:srgbClr val="444444"/>
                </a:solidFill>
                <a:effectLst/>
                <a:latin typeface="Arial" panose="020B0604020202020204" pitchFamily="34" charset="0"/>
              </a:rPr>
              <a:t> valence electrons.</a:t>
            </a:r>
            <a:endParaRPr lang="en-AU" b="0" i="0" dirty="0">
              <a:solidFill>
                <a:srgbClr val="444444"/>
              </a:solidFill>
              <a:effectLst/>
              <a:latin typeface="Arial" panose="020B0604020202020204" pitchFamily="34" charset="0"/>
            </a:endParaRPr>
          </a:p>
        </p:txBody>
      </p:sp>
      <p:pic>
        <p:nvPicPr>
          <p:cNvPr id="16386" name="Picture 2" descr="https://www.educationperfect.com/media/content/Science/1420576058.943951g/1420576008297-209986839-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6900" y="2705100"/>
            <a:ext cx="3810000" cy="3810000"/>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s://www.educationperfect.com/media/content/Science/1420575650.080681g/1420575650783-209986839-2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175" y="35687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https://www.educationperfect.com/media/content/Science/1420576585.881721g/1420576535201-209986839-4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16900" y="2616200"/>
            <a:ext cx="381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80437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Electron Configuration of atoms</a:t>
            </a:r>
            <a:endParaRPr lang="en-AU" dirty="0"/>
          </a:p>
        </p:txBody>
      </p:sp>
      <p:sp>
        <p:nvSpPr>
          <p:cNvPr id="3" name="Text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2271261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439341"/>
            <a:ext cx="11468100" cy="2308324"/>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You have already learned that </a:t>
            </a:r>
            <a:r>
              <a:rPr lang="en-AU" b="1" i="0" dirty="0" smtClean="0">
                <a:solidFill>
                  <a:srgbClr val="0066CC"/>
                </a:solidFill>
                <a:effectLst/>
                <a:latin typeface="Arial" panose="020B0604020202020204" pitchFamily="34" charset="0"/>
              </a:rPr>
              <a:t>atoms can be modelled as a nucleus surrounded by electrons in distinct energy levels,</a:t>
            </a:r>
            <a:r>
              <a:rPr lang="en-AU" b="0" i="0" dirty="0" smtClean="0">
                <a:solidFill>
                  <a:srgbClr val="444444"/>
                </a:solidFill>
                <a:effectLst/>
                <a:latin typeface="Arial" panose="020B0604020202020204" pitchFamily="34" charset="0"/>
              </a:rPr>
              <a:t> held together by </a:t>
            </a:r>
            <a:r>
              <a:rPr lang="en-AU" b="1" i="0" dirty="0" smtClean="0">
                <a:solidFill>
                  <a:srgbClr val="228B22"/>
                </a:solidFill>
                <a:effectLst/>
                <a:latin typeface="Arial" panose="020B0604020202020204" pitchFamily="34" charset="0"/>
              </a:rPr>
              <a:t>electrostatic forces of attraction</a:t>
            </a:r>
            <a:r>
              <a:rPr lang="en-AU" b="0" i="0" dirty="0" smtClean="0">
                <a:solidFill>
                  <a:srgbClr val="444444"/>
                </a:solidFill>
                <a:effectLst/>
                <a:latin typeface="Arial" panose="020B0604020202020204" pitchFamily="34" charset="0"/>
              </a:rPr>
              <a:t> between the nucleus and electrons. The locations of electrons within atoms can be represented using </a:t>
            </a:r>
            <a:r>
              <a:rPr lang="en-AU" b="1" i="0" dirty="0" smtClean="0">
                <a:solidFill>
                  <a:srgbClr val="E04E50"/>
                </a:solidFill>
                <a:effectLst/>
                <a:latin typeface="Arial" panose="020B0604020202020204" pitchFamily="34" charset="0"/>
              </a:rPr>
              <a:t>electron configurations.</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However, this is a simplified model to understand some atomic properties.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In this Smart Lesson you will look in more detail at electron configuration, and will be introduced to the</a:t>
            </a:r>
            <a:r>
              <a:rPr lang="en-AU" b="1" i="0" dirty="0" smtClean="0">
                <a:solidFill>
                  <a:srgbClr val="7C0BAE"/>
                </a:solidFill>
                <a:effectLst/>
                <a:latin typeface="Arial" panose="020B0604020202020204" pitchFamily="34" charset="0"/>
              </a:rPr>
              <a:t> s, p </a:t>
            </a:r>
            <a:r>
              <a:rPr lang="en-AU" b="0" i="0" dirty="0" smtClean="0">
                <a:solidFill>
                  <a:srgbClr val="444444"/>
                </a:solidFill>
                <a:effectLst/>
                <a:latin typeface="Arial" panose="020B0604020202020204" pitchFamily="34" charset="0"/>
              </a:rPr>
              <a:t>and</a:t>
            </a:r>
            <a:r>
              <a:rPr lang="en-AU" b="1" i="0" dirty="0" smtClean="0">
                <a:solidFill>
                  <a:srgbClr val="7C0BAE"/>
                </a:solidFill>
                <a:effectLst/>
                <a:latin typeface="Arial" panose="020B0604020202020204" pitchFamily="34" charset="0"/>
              </a:rPr>
              <a:t> d orbitals</a:t>
            </a:r>
            <a:r>
              <a:rPr lang="en-AU" b="0" i="0" dirty="0" smtClean="0">
                <a:solidFill>
                  <a:srgbClr val="444444"/>
                </a:solidFill>
                <a:effectLst/>
                <a:latin typeface="Arial" panose="020B0604020202020204" pitchFamily="34" charset="0"/>
              </a:rPr>
              <a:t> in energy levels.</a:t>
            </a:r>
            <a:endParaRPr lang="en-AU" b="0" i="0" dirty="0">
              <a:solidFill>
                <a:srgbClr val="444444"/>
              </a:solidFill>
              <a:effectLst/>
              <a:latin typeface="Arial" panose="020B0604020202020204" pitchFamily="34" charset="0"/>
            </a:endParaRPr>
          </a:p>
        </p:txBody>
      </p:sp>
      <p:pic>
        <p:nvPicPr>
          <p:cNvPr id="17410" name="Picture 2" descr="https://www.educationperfect.com/media/content/Science/1440641611.800791g/1440641613214-4143564-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3850" y="3627437"/>
            <a:ext cx="3810000" cy="25336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85529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300" y="874236"/>
            <a:ext cx="6096000" cy="1477328"/>
          </a:xfrm>
          <a:prstGeom prst="rect">
            <a:avLst/>
          </a:prstGeom>
        </p:spPr>
        <p:txBody>
          <a:bodyPr>
            <a:spAutoFit/>
          </a:bodyPr>
          <a:lstStyle/>
          <a:p>
            <a:r>
              <a:rPr lang="en-AU" b="0" i="0" dirty="0" smtClean="0">
                <a:solidFill>
                  <a:srgbClr val="444444"/>
                </a:solidFill>
                <a:effectLst/>
                <a:latin typeface="Arial" panose="020B0604020202020204" pitchFamily="34" charset="0"/>
              </a:rPr>
              <a:t>In previous years of learning chemistry, you have probably been taught that an </a:t>
            </a:r>
            <a:r>
              <a:rPr lang="en-AU" b="1" i="0" dirty="0" smtClean="0">
                <a:solidFill>
                  <a:srgbClr val="444444"/>
                </a:solidFill>
                <a:effectLst/>
                <a:latin typeface="Arial" panose="020B0604020202020204" pitchFamily="34" charset="0"/>
              </a:rPr>
              <a:t>atom</a:t>
            </a:r>
            <a:r>
              <a:rPr lang="en-AU" b="0" i="0" dirty="0" smtClean="0">
                <a:solidFill>
                  <a:srgbClr val="444444"/>
                </a:solidFill>
                <a:effectLst/>
                <a:latin typeface="Arial" panose="020B0604020202020204" pitchFamily="34" charset="0"/>
              </a:rPr>
              <a:t> consists of a </a:t>
            </a:r>
            <a:r>
              <a:rPr lang="en-AU" b="1" i="0" dirty="0" smtClean="0">
                <a:solidFill>
                  <a:srgbClr val="444444"/>
                </a:solidFill>
                <a:effectLst/>
                <a:latin typeface="Arial" panose="020B0604020202020204" pitchFamily="34" charset="0"/>
              </a:rPr>
              <a:t>nucleus</a:t>
            </a:r>
            <a:r>
              <a:rPr lang="en-AU" b="0" i="0" dirty="0" smtClean="0">
                <a:solidFill>
                  <a:srgbClr val="444444"/>
                </a:solidFill>
                <a:effectLst/>
                <a:latin typeface="Arial" panose="020B0604020202020204" pitchFamily="34" charset="0"/>
              </a:rPr>
              <a:t> containing protons and neutrons, with </a:t>
            </a:r>
            <a:r>
              <a:rPr lang="en-AU" b="1" i="0" dirty="0" smtClean="0">
                <a:solidFill>
                  <a:srgbClr val="444444"/>
                </a:solidFill>
                <a:effectLst/>
                <a:latin typeface="Arial" panose="020B0604020202020204" pitchFamily="34" charset="0"/>
              </a:rPr>
              <a:t>electrons orbiting the nucleus</a:t>
            </a:r>
            <a:r>
              <a:rPr lang="en-AU" b="0" i="0" dirty="0" smtClean="0">
                <a:solidFill>
                  <a:srgbClr val="444444"/>
                </a:solidFill>
                <a:effectLst/>
                <a:latin typeface="Arial" panose="020B0604020202020204" pitchFamily="34" charset="0"/>
              </a:rPr>
              <a:t>, perhaps similar to this diagram:</a:t>
            </a:r>
            <a:endParaRPr lang="en-AU" dirty="0"/>
          </a:p>
        </p:txBody>
      </p:sp>
      <p:pic>
        <p:nvPicPr>
          <p:cNvPr id="18434" name="Picture 2" descr="https://www.educationperfect.com/Images/Content/Science/1403398456206-1796588577-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3374" y="165099"/>
            <a:ext cx="3197225" cy="31972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49300" y="3362324"/>
            <a:ext cx="97536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You now need to know that </a:t>
            </a:r>
            <a:r>
              <a:rPr lang="en-AU" b="1" i="0" dirty="0" smtClean="0">
                <a:solidFill>
                  <a:srgbClr val="444444"/>
                </a:solidFill>
                <a:effectLst/>
                <a:latin typeface="Arial" panose="020B0604020202020204" pitchFamily="34" charset="0"/>
              </a:rPr>
              <a:t>this idea is slightly wrong</a:t>
            </a:r>
            <a:r>
              <a:rPr lang="en-AU" b="0" i="0" dirty="0" smtClean="0">
                <a:solidFill>
                  <a:srgbClr val="444444"/>
                </a:solidFill>
                <a:effectLst/>
                <a:latin typeface="Arial" panose="020B0604020202020204" pitchFamily="34" charset="0"/>
              </a:rPr>
              <a:t>. Electrons are found in </a:t>
            </a:r>
            <a:r>
              <a:rPr lang="en-AU" b="1" i="0" dirty="0" smtClean="0">
                <a:solidFill>
                  <a:srgbClr val="444444"/>
                </a:solidFill>
                <a:effectLst/>
                <a:latin typeface="Arial" panose="020B0604020202020204" pitchFamily="34" charset="0"/>
              </a:rPr>
              <a:t>regions of space</a:t>
            </a:r>
            <a:r>
              <a:rPr lang="en-AU" b="0" i="0" dirty="0" smtClean="0">
                <a:solidFill>
                  <a:srgbClr val="444444"/>
                </a:solidFill>
                <a:effectLst/>
                <a:latin typeface="Arial" panose="020B0604020202020204" pitchFamily="34" charset="0"/>
              </a:rPr>
              <a:t> called </a:t>
            </a:r>
            <a:r>
              <a:rPr lang="en-AU" b="1" i="0" dirty="0" smtClean="0">
                <a:solidFill>
                  <a:srgbClr val="E04E50"/>
                </a:solidFill>
                <a:effectLst/>
                <a:latin typeface="Arial" panose="020B0604020202020204" pitchFamily="34" charset="0"/>
              </a:rPr>
              <a:t>orbitals</a:t>
            </a:r>
            <a:r>
              <a:rPr lang="en-AU" b="0" i="0" dirty="0" smtClean="0">
                <a:solidFill>
                  <a:srgbClr val="444444"/>
                </a:solidFill>
                <a:effectLst/>
                <a:latin typeface="Arial" panose="020B0604020202020204" pitchFamily="34" charset="0"/>
              </a:rPr>
              <a:t>, but this does </a:t>
            </a:r>
            <a:r>
              <a:rPr lang="en-AU" b="1" i="0" dirty="0" smtClean="0">
                <a:solidFill>
                  <a:srgbClr val="444444"/>
                </a:solidFill>
                <a:effectLst/>
                <a:latin typeface="Arial" panose="020B0604020202020204" pitchFamily="34" charset="0"/>
              </a:rPr>
              <a:t>not</a:t>
            </a:r>
            <a:r>
              <a:rPr lang="en-AU" b="0" i="0" dirty="0" smtClean="0">
                <a:solidFill>
                  <a:srgbClr val="444444"/>
                </a:solidFill>
                <a:effectLst/>
                <a:latin typeface="Arial" panose="020B0604020202020204" pitchFamily="34" charset="0"/>
              </a:rPr>
              <a:t> mean that they "orbit" the nucleus.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An </a:t>
            </a:r>
            <a:r>
              <a:rPr lang="en-AU" b="1" i="0" dirty="0" smtClean="0">
                <a:solidFill>
                  <a:srgbClr val="E04E50"/>
                </a:solidFill>
                <a:effectLst/>
                <a:latin typeface="Arial" panose="020B0604020202020204" pitchFamily="34" charset="0"/>
              </a:rPr>
              <a:t>atomic orbital</a:t>
            </a:r>
            <a:r>
              <a:rPr lang="en-AU" b="0" i="0" dirty="0" smtClean="0">
                <a:solidFill>
                  <a:srgbClr val="444444"/>
                </a:solidFill>
                <a:effectLst/>
                <a:latin typeface="Arial" panose="020B0604020202020204" pitchFamily="34" charset="0"/>
              </a:rPr>
              <a:t> is an </a:t>
            </a:r>
            <a:r>
              <a:rPr lang="en-AU" b="1" i="0" dirty="0" smtClean="0">
                <a:solidFill>
                  <a:srgbClr val="0066CC"/>
                </a:solidFill>
                <a:effectLst/>
                <a:latin typeface="Arial" panose="020B0604020202020204" pitchFamily="34" charset="0"/>
              </a:rPr>
              <a:t>energy level</a:t>
            </a:r>
            <a:r>
              <a:rPr lang="en-AU" b="0" i="0" dirty="0" smtClean="0">
                <a:solidFill>
                  <a:srgbClr val="444444"/>
                </a:solidFill>
                <a:effectLst/>
                <a:latin typeface="Arial" panose="020B0604020202020204" pitchFamily="34" charset="0"/>
              </a:rPr>
              <a:t> with a certain shape and size, in which an electron is </a:t>
            </a:r>
            <a:r>
              <a:rPr lang="en-AU" b="1" i="1" dirty="0" smtClean="0">
                <a:solidFill>
                  <a:srgbClr val="444444"/>
                </a:solidFill>
                <a:effectLst/>
                <a:latin typeface="Arial" panose="020B0604020202020204" pitchFamily="34" charset="0"/>
              </a:rPr>
              <a:t>highly likely</a:t>
            </a:r>
            <a:r>
              <a:rPr lang="en-AU" b="1" i="0" dirty="0" smtClean="0">
                <a:solidFill>
                  <a:srgbClr val="444444"/>
                </a:solidFill>
                <a:effectLst/>
                <a:latin typeface="Arial" panose="020B0604020202020204" pitchFamily="34" charset="0"/>
              </a:rPr>
              <a:t> to be found at any point in time</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Energy level diagrams</a:t>
            </a:r>
            <a:r>
              <a:rPr lang="en-AU" b="0" i="0" dirty="0" smtClean="0">
                <a:solidFill>
                  <a:srgbClr val="444444"/>
                </a:solidFill>
                <a:effectLst/>
                <a:latin typeface="Arial" panose="020B0604020202020204" pitchFamily="34" charset="0"/>
              </a:rPr>
              <a:t> are used to describe the energy of atomic orbitals and the location of the electrons.</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25446993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6900" y="1139736"/>
            <a:ext cx="6096000" cy="1200329"/>
          </a:xfrm>
          <a:prstGeom prst="rect">
            <a:avLst/>
          </a:prstGeom>
        </p:spPr>
        <p:txBody>
          <a:bodyPr>
            <a:spAutoFit/>
          </a:bodyPr>
          <a:lstStyle/>
          <a:p>
            <a:r>
              <a:rPr lang="en-AU" b="0" i="0" dirty="0" smtClean="0">
                <a:solidFill>
                  <a:srgbClr val="444444"/>
                </a:solidFill>
                <a:effectLst/>
                <a:latin typeface="Arial" panose="020B0604020202020204" pitchFamily="34" charset="0"/>
              </a:rPr>
              <a:t>The </a:t>
            </a:r>
            <a:r>
              <a:rPr lang="en-AU" b="1" i="0" dirty="0" smtClean="0">
                <a:solidFill>
                  <a:srgbClr val="444444"/>
                </a:solidFill>
                <a:effectLst/>
                <a:latin typeface="Arial" panose="020B0604020202020204" pitchFamily="34" charset="0"/>
              </a:rPr>
              <a:t>electron shells</a:t>
            </a:r>
            <a:r>
              <a:rPr lang="en-AU" b="0" i="0" dirty="0" smtClean="0">
                <a:solidFill>
                  <a:srgbClr val="444444"/>
                </a:solidFill>
                <a:effectLst/>
                <a:latin typeface="Arial" panose="020B0604020202020204" pitchFamily="34" charset="0"/>
              </a:rPr>
              <a:t> that you may be used to talking about are depicted in this diagram of an oxygen atom. Oxygen has two electron shells, with the first containing two electrons and the second containing six electrons.</a:t>
            </a:r>
            <a:endParaRPr lang="en-AU" dirty="0"/>
          </a:p>
        </p:txBody>
      </p:sp>
      <p:pic>
        <p:nvPicPr>
          <p:cNvPr id="19458" name="Picture 2" descr="https://www.educationperfect.com/media/content/Science/1420575933.94021g/1420575934696-209986839-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01075" y="622300"/>
            <a:ext cx="1905000" cy="1905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11200" y="2751435"/>
            <a:ext cx="111252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a:t>
            </a:r>
            <a:r>
              <a:rPr lang="en-AU" b="1" i="0" dirty="0" smtClean="0">
                <a:solidFill>
                  <a:srgbClr val="0066CC"/>
                </a:solidFill>
                <a:effectLst/>
                <a:latin typeface="Arial" panose="020B0604020202020204" pitchFamily="34" charset="0"/>
              </a:rPr>
              <a:t>innermost</a:t>
            </a:r>
            <a:r>
              <a:rPr lang="en-AU" b="0" i="0" dirty="0" smtClean="0">
                <a:solidFill>
                  <a:srgbClr val="444444"/>
                </a:solidFill>
                <a:effectLst/>
                <a:latin typeface="Arial" panose="020B0604020202020204" pitchFamily="34" charset="0"/>
              </a:rPr>
              <a:t> electron shells have the </a:t>
            </a:r>
            <a:r>
              <a:rPr lang="en-AU" b="1" i="0" dirty="0" smtClean="0">
                <a:solidFill>
                  <a:srgbClr val="0066CC"/>
                </a:solidFill>
                <a:effectLst/>
                <a:latin typeface="Arial" panose="020B0604020202020204" pitchFamily="34" charset="0"/>
              </a:rPr>
              <a:t>lowest energy</a:t>
            </a:r>
            <a:r>
              <a:rPr lang="en-AU" b="0" i="0" dirty="0" smtClean="0">
                <a:solidFill>
                  <a:srgbClr val="444444"/>
                </a:solidFill>
                <a:effectLst/>
                <a:latin typeface="Arial" panose="020B0604020202020204" pitchFamily="34" charset="0"/>
              </a:rPr>
              <a:t>, and the energy </a:t>
            </a:r>
            <a:r>
              <a:rPr lang="en-AU" b="1" i="0" dirty="0" smtClean="0">
                <a:solidFill>
                  <a:srgbClr val="E04E50"/>
                </a:solidFill>
                <a:effectLst/>
                <a:latin typeface="Arial" panose="020B0604020202020204" pitchFamily="34" charset="0"/>
              </a:rPr>
              <a:t>increases</a:t>
            </a:r>
            <a:r>
              <a:rPr lang="en-AU" b="0" i="0" dirty="0" smtClean="0">
                <a:solidFill>
                  <a:srgbClr val="444444"/>
                </a:solidFill>
                <a:effectLst/>
                <a:latin typeface="Arial" panose="020B0604020202020204" pitchFamily="34" charset="0"/>
              </a:rPr>
              <a:t> as shells get </a:t>
            </a:r>
            <a:r>
              <a:rPr lang="en-AU" b="1" i="0" dirty="0" smtClean="0">
                <a:solidFill>
                  <a:srgbClr val="E04E50"/>
                </a:solidFill>
                <a:effectLst/>
                <a:latin typeface="Arial" panose="020B0604020202020204" pitchFamily="34" charset="0"/>
              </a:rPr>
              <a:t>further away</a:t>
            </a:r>
            <a:r>
              <a:rPr lang="en-AU" b="0" i="0" dirty="0" smtClean="0">
                <a:solidFill>
                  <a:srgbClr val="444444"/>
                </a:solidFill>
                <a:effectLst/>
                <a:latin typeface="Arial" panose="020B0604020202020204" pitchFamily="34" charset="0"/>
              </a:rPr>
              <a:t> from the nucleus. Remember:</a:t>
            </a:r>
            <a:endParaRPr lang="en-AU" dirty="0"/>
          </a:p>
        </p:txBody>
      </p:sp>
      <p:graphicFrame>
        <p:nvGraphicFramePr>
          <p:cNvPr id="5" name="Table 4"/>
          <p:cNvGraphicFramePr>
            <a:graphicFrameLocks noGrp="1"/>
          </p:cNvGraphicFramePr>
          <p:nvPr>
            <p:extLst>
              <p:ext uri="{D42A27DB-BD31-4B8C-83A1-F6EECF244321}">
                <p14:modId xmlns:p14="http://schemas.microsoft.com/office/powerpoint/2010/main" val="90339210"/>
              </p:ext>
            </p:extLst>
          </p:nvPr>
        </p:nvGraphicFramePr>
        <p:xfrm>
          <a:off x="1830255" y="3397766"/>
          <a:ext cx="6423289" cy="1165860"/>
        </p:xfrm>
        <a:graphic>
          <a:graphicData uri="http://schemas.openxmlformats.org/drawingml/2006/table">
            <a:tbl>
              <a:tblPr/>
              <a:tblGrid>
                <a:gridCol w="232039">
                  <a:extLst>
                    <a:ext uri="{9D8B030D-6E8A-4147-A177-3AD203B41FA5}">
                      <a16:colId xmlns:a16="http://schemas.microsoft.com/office/drawing/2014/main" val="2510427369"/>
                    </a:ext>
                  </a:extLst>
                </a:gridCol>
                <a:gridCol w="6191250">
                  <a:extLst>
                    <a:ext uri="{9D8B030D-6E8A-4147-A177-3AD203B41FA5}">
                      <a16:colId xmlns:a16="http://schemas.microsoft.com/office/drawing/2014/main" val="934395506"/>
                    </a:ext>
                  </a:extLst>
                </a:gridCol>
              </a:tblGrid>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a:effectLst/>
                        </a:rPr>
                        <a:t>The </a:t>
                      </a:r>
                      <a:r>
                        <a:rPr lang="en-AU" b="1">
                          <a:effectLst/>
                        </a:rPr>
                        <a:t>first electron shell</a:t>
                      </a:r>
                      <a:r>
                        <a:rPr lang="en-AU">
                          <a:effectLst/>
                        </a:rPr>
                        <a:t> can contain only </a:t>
                      </a:r>
                      <a:r>
                        <a:rPr lang="en-AU" b="1">
                          <a:effectLst/>
                        </a:rPr>
                        <a:t>two</a:t>
                      </a:r>
                      <a:r>
                        <a:rPr lang="en-AU">
                          <a:effectLst/>
                        </a:rPr>
                        <a:t> electrons.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4120095480"/>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dirty="0">
                          <a:effectLst/>
                        </a:rPr>
                        <a:t>The </a:t>
                      </a:r>
                      <a:r>
                        <a:rPr lang="en-AU" b="1" dirty="0">
                          <a:effectLst/>
                        </a:rPr>
                        <a:t>second electron shell</a:t>
                      </a:r>
                      <a:r>
                        <a:rPr lang="en-AU" dirty="0">
                          <a:effectLst/>
                        </a:rPr>
                        <a:t> can contain up to </a:t>
                      </a:r>
                      <a:r>
                        <a:rPr lang="en-AU" b="1" dirty="0" smtClean="0">
                          <a:effectLst/>
                          <a:latin typeface="KaTeX_Main"/>
                        </a:rPr>
                        <a:t>8</a:t>
                      </a:r>
                      <a:r>
                        <a:rPr lang="en-AU" dirty="0">
                          <a:effectLst/>
                        </a:rPr>
                        <a:t> electrons.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841510442"/>
                  </a:ext>
                </a:extLst>
              </a:tr>
              <a:tr h="0">
                <a:tc>
                  <a:txBody>
                    <a:bodyPr/>
                    <a:lstStyle/>
                    <a:p>
                      <a:pPr algn="l" fontAlgn="t"/>
                      <a:r>
                        <a:rPr lang="en-AU">
                          <a:effectLst/>
                        </a:rPr>
                        <a:t>-</a:t>
                      </a:r>
                    </a:p>
                  </a:txBody>
                  <a:tcPr marL="57150" marR="57150" marT="57150" marB="57150">
                    <a:lnL>
                      <a:noFill/>
                    </a:lnL>
                    <a:lnR>
                      <a:noFill/>
                    </a:lnR>
                    <a:lnT>
                      <a:noFill/>
                    </a:lnT>
                    <a:lnB>
                      <a:noFill/>
                    </a:lnB>
                    <a:solidFill>
                      <a:srgbClr val="FFFFFF"/>
                    </a:solidFill>
                  </a:tcPr>
                </a:tc>
                <a:tc>
                  <a:txBody>
                    <a:bodyPr/>
                    <a:lstStyle/>
                    <a:p>
                      <a:pPr algn="l" fontAlgn="ctr"/>
                      <a:r>
                        <a:rPr lang="en-AU" dirty="0">
                          <a:effectLst/>
                        </a:rPr>
                        <a:t>The </a:t>
                      </a:r>
                      <a:r>
                        <a:rPr lang="en-AU" b="1" dirty="0">
                          <a:effectLst/>
                        </a:rPr>
                        <a:t>third electron shell</a:t>
                      </a:r>
                      <a:r>
                        <a:rPr lang="en-AU" dirty="0">
                          <a:effectLst/>
                        </a:rPr>
                        <a:t> can contain up to </a:t>
                      </a:r>
                      <a:r>
                        <a:rPr lang="en-AU" b="1" dirty="0" smtClean="0">
                          <a:effectLst/>
                          <a:latin typeface="KaTeX_Main"/>
                        </a:rPr>
                        <a:t>18</a:t>
                      </a:r>
                      <a:r>
                        <a:rPr lang="en-AU" dirty="0">
                          <a:effectLst/>
                        </a:rPr>
                        <a:t> electrons.</a:t>
                      </a:r>
                    </a:p>
                  </a:txBody>
                  <a:tcPr marL="57150" marR="57150" marT="57150" marB="57150" anchor="ctr">
                    <a:lnL>
                      <a:noFill/>
                    </a:lnL>
                    <a:lnR>
                      <a:noFill/>
                    </a:lnR>
                    <a:lnT>
                      <a:noFill/>
                    </a:lnT>
                    <a:lnB>
                      <a:noFill/>
                    </a:lnB>
                    <a:solidFill>
                      <a:srgbClr val="FFFFFF"/>
                    </a:solidFill>
                  </a:tcPr>
                </a:tc>
                <a:extLst>
                  <a:ext uri="{0D108BD9-81ED-4DB2-BD59-A6C34878D82A}">
                    <a16:rowId xmlns:a16="http://schemas.microsoft.com/office/drawing/2014/main" val="3639429394"/>
                  </a:ext>
                </a:extLst>
              </a:tr>
            </a:tbl>
          </a:graphicData>
        </a:graphic>
      </p:graphicFrame>
      <p:sp>
        <p:nvSpPr>
          <p:cNvPr id="6" name="Rectangle 5"/>
          <p:cNvSpPr/>
          <p:nvPr/>
        </p:nvSpPr>
        <p:spPr>
          <a:xfrm>
            <a:off x="431800" y="4826675"/>
            <a:ext cx="114046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Within each electron shell, there are </a:t>
            </a:r>
            <a:r>
              <a:rPr lang="en-AU" b="1" i="0" dirty="0" smtClean="0">
                <a:solidFill>
                  <a:srgbClr val="0066CC"/>
                </a:solidFill>
                <a:effectLst/>
                <a:latin typeface="Arial" panose="020B0604020202020204" pitchFamily="34" charset="0"/>
              </a:rPr>
              <a:t>subshells</a:t>
            </a:r>
            <a:r>
              <a:rPr lang="en-AU" b="0" i="0" dirty="0" smtClean="0">
                <a:solidFill>
                  <a:srgbClr val="444444"/>
                </a:solidFill>
                <a:effectLst/>
                <a:latin typeface="Arial" panose="020B0604020202020204" pitchFamily="34" charset="0"/>
              </a:rPr>
              <a:t>, which are </a:t>
            </a:r>
            <a:r>
              <a:rPr lang="en-AU" b="1" i="0" dirty="0" smtClean="0">
                <a:solidFill>
                  <a:srgbClr val="0066CC"/>
                </a:solidFill>
                <a:effectLst/>
                <a:latin typeface="Arial" panose="020B0604020202020204" pitchFamily="34" charset="0"/>
              </a:rPr>
              <a:t>groups of atomic orbitals</a:t>
            </a:r>
            <a:r>
              <a:rPr lang="en-AU" b="0" i="0" dirty="0" smtClean="0">
                <a:solidFill>
                  <a:srgbClr val="444444"/>
                </a:solidFill>
                <a:effectLst/>
                <a:latin typeface="Arial" panose="020B0604020202020204" pitchFamily="34" charset="0"/>
              </a:rPr>
              <a:t>. There are four different types of subshell, known as the </a:t>
            </a:r>
            <a:r>
              <a:rPr lang="en-AU" b="1" i="0" dirty="0" err="1" smtClean="0">
                <a:solidFill>
                  <a:srgbClr val="444444"/>
                </a:solidFill>
                <a:effectLst/>
                <a:latin typeface="KaTeX_Main"/>
              </a:rPr>
              <a:t>s</a:t>
            </a:r>
            <a:r>
              <a:rPr lang="en-AU" b="0" i="0" dirty="0" err="1" smtClean="0">
                <a:solidFill>
                  <a:srgbClr val="444444"/>
                </a:solidFill>
                <a:effectLst/>
                <a:latin typeface="KaTeX_Main"/>
              </a:rPr>
              <a:t>,</a:t>
            </a:r>
            <a:r>
              <a:rPr lang="en-AU" b="1" i="0" dirty="0" err="1" smtClean="0">
                <a:solidFill>
                  <a:srgbClr val="444444"/>
                </a:solidFill>
                <a:effectLst/>
                <a:latin typeface="KaTeX_Main"/>
              </a:rPr>
              <a:t>p</a:t>
            </a:r>
            <a:r>
              <a:rPr lang="en-AU" b="0" i="0" dirty="0" err="1" smtClean="0">
                <a:solidFill>
                  <a:srgbClr val="444444"/>
                </a:solidFill>
                <a:effectLst/>
                <a:latin typeface="KaTeX_Main"/>
              </a:rPr>
              <a:t>,</a:t>
            </a:r>
            <a:r>
              <a:rPr lang="en-AU" b="1" i="0" dirty="0" err="1" smtClean="0">
                <a:solidFill>
                  <a:srgbClr val="444444"/>
                </a:solidFill>
                <a:effectLst/>
                <a:latin typeface="KaTeX_Main"/>
              </a:rPr>
              <a:t>d</a:t>
            </a:r>
            <a:r>
              <a:rPr lang="en-AU" b="0" i="0" dirty="0" smtClean="0">
                <a:solidFill>
                  <a:srgbClr val="444444"/>
                </a:solidFill>
                <a:effectLst/>
                <a:latin typeface="KaTeX_Main"/>
              </a:rPr>
              <a:t>,</a:t>
            </a:r>
            <a:r>
              <a:rPr lang="en-AU" b="0" i="0" dirty="0" smtClean="0">
                <a:solidFill>
                  <a:srgbClr val="444444"/>
                </a:solidFill>
                <a:effectLst/>
                <a:latin typeface="Arial" panose="020B0604020202020204" pitchFamily="34" charset="0"/>
              </a:rPr>
              <a:t> and </a:t>
            </a:r>
            <a:r>
              <a:rPr lang="en-AU" b="1" i="0" dirty="0" smtClean="0">
                <a:solidFill>
                  <a:srgbClr val="444444"/>
                </a:solidFill>
                <a:effectLst/>
                <a:latin typeface="KaTeX_Main"/>
              </a:rPr>
              <a:t>f</a:t>
            </a:r>
            <a:r>
              <a:rPr lang="en-AU" b="0" i="0" dirty="0" smtClean="0">
                <a:solidFill>
                  <a:srgbClr val="444444"/>
                </a:solidFill>
                <a:effectLst/>
                <a:latin typeface="Arial" panose="020B0604020202020204" pitchFamily="34" charset="0"/>
              </a:rPr>
              <a:t> subshells. Each subshell has a different number of atomic orbitals that make it up, and the atomic orbitals in each subshell have </a:t>
            </a:r>
            <a:r>
              <a:rPr lang="en-AU" b="1" i="0" dirty="0" smtClean="0">
                <a:solidFill>
                  <a:srgbClr val="444444"/>
                </a:solidFill>
                <a:effectLst/>
                <a:latin typeface="Arial" panose="020B0604020202020204" pitchFamily="34" charset="0"/>
              </a:rPr>
              <a:t>characteristic shapes</a:t>
            </a:r>
            <a:r>
              <a:rPr lang="en-AU" b="0" i="0" dirty="0" smtClean="0">
                <a:solidFill>
                  <a:srgbClr val="444444"/>
                </a:solidFill>
                <a:effectLst/>
                <a:latin typeface="Arial" panose="020B0604020202020204" pitchFamily="34" charset="0"/>
              </a:rPr>
              <a:t>.</a:t>
            </a:r>
            <a:endParaRPr lang="en-AU" dirty="0"/>
          </a:p>
        </p:txBody>
      </p:sp>
    </p:spTree>
    <p:extLst>
      <p:ext uri="{BB962C8B-B14F-4D97-AF65-F5344CB8AC3E}">
        <p14:creationId xmlns:p14="http://schemas.microsoft.com/office/powerpoint/2010/main" val="9893239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6500" y="476935"/>
            <a:ext cx="9906000" cy="369332"/>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a:t>
            </a:r>
            <a:r>
              <a:rPr lang="en-AU" b="1" i="0" dirty="0" err="1" smtClean="0">
                <a:solidFill>
                  <a:srgbClr val="444444"/>
                </a:solidFill>
                <a:effectLst/>
                <a:latin typeface="KaTeX_Main"/>
              </a:rPr>
              <a:t>s</a:t>
            </a:r>
            <a:r>
              <a:rPr lang="en-AU" b="0" i="0" dirty="0" err="1" smtClean="0">
                <a:solidFill>
                  <a:srgbClr val="444444"/>
                </a:solidFill>
                <a:effectLst/>
                <a:latin typeface="KaTeX_Main"/>
              </a:rPr>
              <a:t>,</a:t>
            </a:r>
            <a:r>
              <a:rPr lang="en-AU" b="1" i="0" dirty="0" err="1" smtClean="0">
                <a:solidFill>
                  <a:srgbClr val="444444"/>
                </a:solidFill>
                <a:effectLst/>
                <a:latin typeface="KaTeX_Main"/>
              </a:rPr>
              <a:t>p</a:t>
            </a:r>
            <a:r>
              <a:rPr lang="en-AU" b="0" i="0" dirty="0" smtClean="0">
                <a:solidFill>
                  <a:srgbClr val="444444"/>
                </a:solidFill>
                <a:effectLst/>
                <a:latin typeface="Arial" panose="020B0604020202020204" pitchFamily="34" charset="0"/>
              </a:rPr>
              <a:t> and </a:t>
            </a:r>
            <a:r>
              <a:rPr lang="en-AU" b="1" i="0" dirty="0" smtClean="0">
                <a:solidFill>
                  <a:srgbClr val="444444"/>
                </a:solidFill>
                <a:effectLst/>
                <a:latin typeface="KaTeX_Main"/>
              </a:rPr>
              <a:t>d</a:t>
            </a:r>
            <a:r>
              <a:rPr lang="en-AU" b="0" i="0" dirty="0" smtClean="0">
                <a:solidFill>
                  <a:srgbClr val="444444"/>
                </a:solidFill>
                <a:effectLst/>
                <a:latin typeface="Arial" panose="020B0604020202020204" pitchFamily="34" charset="0"/>
              </a:rPr>
              <a:t> orbitals have the shapes shown in the diagram below.</a:t>
            </a:r>
            <a:endParaRPr lang="en-AU" dirty="0"/>
          </a:p>
        </p:txBody>
      </p:sp>
      <p:pic>
        <p:nvPicPr>
          <p:cNvPr id="20482" name="Picture 2" descr="https://www.educationperfect.com/media/content/Science/1440641611.800791g/1440641613214-4143564-4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9063" y="846267"/>
            <a:ext cx="2865437" cy="190551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838200" y="3670638"/>
            <a:ext cx="108839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What you </a:t>
            </a:r>
            <a:r>
              <a:rPr lang="en-AU" b="1" i="0" dirty="0" smtClean="0">
                <a:solidFill>
                  <a:srgbClr val="444444"/>
                </a:solidFill>
                <a:effectLst/>
                <a:latin typeface="Arial" panose="020B0604020202020204" pitchFamily="34" charset="0"/>
              </a:rPr>
              <a:t>do</a:t>
            </a:r>
            <a:r>
              <a:rPr lang="en-AU" b="0" i="0" dirty="0" smtClean="0">
                <a:solidFill>
                  <a:srgbClr val="444444"/>
                </a:solidFill>
                <a:effectLst/>
                <a:latin typeface="Arial" panose="020B0604020202020204" pitchFamily="34" charset="0"/>
              </a:rPr>
              <a:t> need to know is that </a:t>
            </a:r>
            <a:r>
              <a:rPr lang="en-AU" b="1" i="0" dirty="0" smtClean="0">
                <a:solidFill>
                  <a:srgbClr val="0066CC"/>
                </a:solidFill>
                <a:effectLst/>
                <a:latin typeface="Arial" panose="020B0604020202020204" pitchFamily="34" charset="0"/>
              </a:rPr>
              <a:t>each atomic orbital can hold two electrons</a:t>
            </a:r>
            <a:r>
              <a:rPr lang="en-AU" b="0" i="0" dirty="0" smtClean="0">
                <a:solidFill>
                  <a:srgbClr val="444444"/>
                </a:solidFill>
                <a:effectLst/>
                <a:latin typeface="Arial" panose="020B0604020202020204" pitchFamily="34" charset="0"/>
              </a:rPr>
              <a:t>. There is always </a:t>
            </a:r>
            <a:r>
              <a:rPr lang="en-AU" b="1" i="0" dirty="0" smtClean="0">
                <a:solidFill>
                  <a:srgbClr val="444444"/>
                </a:solidFill>
                <a:effectLst/>
                <a:latin typeface="Arial" panose="020B0604020202020204" pitchFamily="34" charset="0"/>
              </a:rPr>
              <a:t>one</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KaTeX_Main"/>
              </a:rPr>
              <a:t>s</a:t>
            </a:r>
            <a:r>
              <a:rPr lang="en-AU" b="0" i="0" dirty="0" smtClean="0">
                <a:solidFill>
                  <a:srgbClr val="444444"/>
                </a:solidFill>
                <a:effectLst/>
                <a:latin typeface="Arial" panose="020B0604020202020204" pitchFamily="34" charset="0"/>
              </a:rPr>
              <a:t> orbital, </a:t>
            </a:r>
            <a:r>
              <a:rPr lang="en-AU" b="1" i="0" dirty="0" smtClean="0">
                <a:solidFill>
                  <a:srgbClr val="444444"/>
                </a:solidFill>
                <a:effectLst/>
                <a:latin typeface="Arial" panose="020B0604020202020204" pitchFamily="34" charset="0"/>
              </a:rPr>
              <a:t>three</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KaTeX_Main"/>
              </a:rPr>
              <a:t>p</a:t>
            </a:r>
            <a:r>
              <a:rPr lang="en-AU" b="0" i="0" dirty="0" smtClean="0">
                <a:solidFill>
                  <a:srgbClr val="444444"/>
                </a:solidFill>
                <a:effectLst/>
                <a:latin typeface="Arial" panose="020B0604020202020204" pitchFamily="34" charset="0"/>
              </a:rPr>
              <a:t> orbitals, </a:t>
            </a:r>
            <a:r>
              <a:rPr lang="en-AU" b="1" i="0" dirty="0" smtClean="0">
                <a:solidFill>
                  <a:srgbClr val="444444"/>
                </a:solidFill>
                <a:effectLst/>
                <a:latin typeface="Arial" panose="020B0604020202020204" pitchFamily="34" charset="0"/>
              </a:rPr>
              <a:t>five</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KaTeX_Main"/>
              </a:rPr>
              <a:t>d</a:t>
            </a:r>
            <a:r>
              <a:rPr lang="en-AU" b="0" i="0" dirty="0" smtClean="0">
                <a:solidFill>
                  <a:srgbClr val="444444"/>
                </a:solidFill>
                <a:effectLst/>
                <a:latin typeface="Arial" panose="020B0604020202020204" pitchFamily="34" charset="0"/>
              </a:rPr>
              <a:t> orbitals, and </a:t>
            </a:r>
            <a:r>
              <a:rPr lang="en-AU" b="1" i="0" dirty="0" smtClean="0">
                <a:solidFill>
                  <a:srgbClr val="444444"/>
                </a:solidFill>
                <a:effectLst/>
                <a:latin typeface="Arial" panose="020B0604020202020204" pitchFamily="34" charset="0"/>
              </a:rPr>
              <a:t>seven </a:t>
            </a:r>
            <a:r>
              <a:rPr lang="en-AU" b="1" i="0" dirty="0" smtClean="0">
                <a:solidFill>
                  <a:srgbClr val="444444"/>
                </a:solidFill>
                <a:effectLst/>
                <a:latin typeface="KaTeX_Main"/>
              </a:rPr>
              <a:t>f</a:t>
            </a:r>
            <a:r>
              <a:rPr lang="en-AU" b="0" i="0" dirty="0" smtClean="0">
                <a:solidFill>
                  <a:srgbClr val="444444"/>
                </a:solidFill>
                <a:effectLst/>
                <a:latin typeface="Arial" panose="020B0604020202020204" pitchFamily="34" charset="0"/>
              </a:rPr>
              <a:t> orbitals, but not every energy level (shell) contains every type of orbital, as shown in the diagram below.</a:t>
            </a:r>
            <a:endParaRPr lang="en-AU" dirty="0"/>
          </a:p>
        </p:txBody>
      </p:sp>
    </p:spTree>
    <p:extLst>
      <p:ext uri="{BB962C8B-B14F-4D97-AF65-F5344CB8AC3E}">
        <p14:creationId xmlns:p14="http://schemas.microsoft.com/office/powerpoint/2010/main" val="7135533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6400" y="1107639"/>
            <a:ext cx="6096000" cy="2308324"/>
          </a:xfrm>
          <a:prstGeom prst="rect">
            <a:avLst/>
          </a:prstGeom>
        </p:spPr>
        <p:txBody>
          <a:bodyPr>
            <a:spAutoFit/>
          </a:bodyPr>
          <a:lstStyle/>
          <a:p>
            <a:r>
              <a:rPr lang="en-AU" b="0" i="0" dirty="0" smtClean="0">
                <a:solidFill>
                  <a:srgbClr val="444444"/>
                </a:solidFill>
                <a:effectLst/>
                <a:latin typeface="Arial" panose="020B0604020202020204" pitchFamily="34" charset="0"/>
              </a:rPr>
              <a:t>The </a:t>
            </a:r>
            <a:r>
              <a:rPr lang="en-AU" b="1" i="0" dirty="0" smtClean="0">
                <a:solidFill>
                  <a:srgbClr val="444444"/>
                </a:solidFill>
                <a:effectLst/>
                <a:latin typeface="Arial" panose="020B0604020202020204" pitchFamily="34" charset="0"/>
              </a:rPr>
              <a:t>first</a:t>
            </a:r>
            <a:r>
              <a:rPr lang="en-AU" b="0" i="0" dirty="0" smtClean="0">
                <a:solidFill>
                  <a:srgbClr val="444444"/>
                </a:solidFill>
                <a:effectLst/>
                <a:latin typeface="Arial" panose="020B0604020202020204" pitchFamily="34" charset="0"/>
              </a:rPr>
              <a:t> energy level (shell) contains only one </a:t>
            </a:r>
            <a:r>
              <a:rPr lang="en-AU" b="1" i="0" dirty="0" smtClean="0">
                <a:solidFill>
                  <a:srgbClr val="444444"/>
                </a:solidFill>
                <a:effectLst/>
                <a:latin typeface="KaTeX_Main"/>
              </a:rPr>
              <a:t>s</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a:t>
            </a:r>
            <a:r>
              <a:rPr lang="en-AU" b="0" i="0" dirty="0" smtClean="0">
                <a:solidFill>
                  <a:srgbClr val="444444"/>
                </a:solidFill>
                <a:effectLst/>
                <a:latin typeface="Arial" panose="020B0604020202020204" pitchFamily="34" charset="0"/>
              </a:rPr>
              <a:t>, and therefore can contain only </a:t>
            </a:r>
            <a:r>
              <a:rPr lang="en-AU" b="1" i="0" dirty="0" smtClean="0">
                <a:solidFill>
                  <a:srgbClr val="444444"/>
                </a:solidFill>
                <a:effectLst/>
                <a:latin typeface="Arial" panose="020B0604020202020204" pitchFamily="34" charset="0"/>
              </a:rPr>
              <a:t>two</a:t>
            </a:r>
            <a:r>
              <a:rPr lang="en-AU" b="0" i="0" dirty="0" smtClean="0">
                <a:solidFill>
                  <a:srgbClr val="444444"/>
                </a:solidFill>
                <a:effectLst/>
                <a:latin typeface="Arial" panose="020B0604020202020204" pitchFamily="34" charset="0"/>
              </a:rPr>
              <a:t> electrons. The </a:t>
            </a:r>
            <a:r>
              <a:rPr lang="en-AU" b="1" i="0" dirty="0" smtClean="0">
                <a:solidFill>
                  <a:srgbClr val="444444"/>
                </a:solidFill>
                <a:effectLst/>
                <a:latin typeface="Arial" panose="020B0604020202020204" pitchFamily="34" charset="0"/>
              </a:rPr>
              <a:t>second</a:t>
            </a:r>
            <a:r>
              <a:rPr lang="en-AU" b="0" i="0" dirty="0" smtClean="0">
                <a:solidFill>
                  <a:srgbClr val="444444"/>
                </a:solidFill>
                <a:effectLst/>
                <a:latin typeface="Arial" panose="020B0604020202020204" pitchFamily="34" charset="0"/>
              </a:rPr>
              <a:t> energy level contains </a:t>
            </a:r>
            <a:r>
              <a:rPr lang="en-AU" b="1" i="0" dirty="0" smtClean="0">
                <a:solidFill>
                  <a:srgbClr val="444444"/>
                </a:solidFill>
                <a:effectLst/>
                <a:latin typeface="Arial" panose="020B0604020202020204" pitchFamily="34" charset="0"/>
              </a:rPr>
              <a:t>one</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KaTeX_Main"/>
              </a:rPr>
              <a:t>s</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a:t>
            </a:r>
            <a:r>
              <a:rPr lang="en-AU" b="0" i="0" dirty="0" smtClean="0">
                <a:solidFill>
                  <a:srgbClr val="444444"/>
                </a:solidFill>
                <a:effectLst/>
                <a:latin typeface="Arial" panose="020B0604020202020204" pitchFamily="34" charset="0"/>
              </a:rPr>
              <a:t> and</a:t>
            </a:r>
            <a:r>
              <a:rPr lang="en-AU" b="1" i="0" dirty="0" smtClean="0">
                <a:solidFill>
                  <a:srgbClr val="444444"/>
                </a:solidFill>
                <a:effectLst/>
                <a:latin typeface="Arial" panose="020B0604020202020204" pitchFamily="34" charset="0"/>
              </a:rPr>
              <a:t> three </a:t>
            </a:r>
            <a:r>
              <a:rPr lang="en-AU" b="1" i="0" dirty="0" smtClean="0">
                <a:solidFill>
                  <a:srgbClr val="444444"/>
                </a:solidFill>
                <a:effectLst/>
                <a:latin typeface="KaTeX_Main"/>
              </a:rPr>
              <a:t>p</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orbitals</a:t>
            </a:r>
            <a:r>
              <a:rPr lang="en-AU" b="0" i="0" dirty="0" smtClean="0">
                <a:solidFill>
                  <a:srgbClr val="444444"/>
                </a:solidFill>
                <a:effectLst/>
                <a:latin typeface="Arial" panose="020B0604020202020204" pitchFamily="34" charset="0"/>
              </a:rPr>
              <a:t>, and can therefore contain up to </a:t>
            </a:r>
            <a:r>
              <a:rPr lang="en-AU" b="1" i="0" dirty="0" smtClean="0">
                <a:solidFill>
                  <a:srgbClr val="444444"/>
                </a:solidFill>
                <a:effectLst/>
                <a:latin typeface="KaTeX_Main"/>
              </a:rPr>
              <a:t>8</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electrons</a:t>
            </a:r>
            <a:r>
              <a:rPr lang="en-AU" b="0" i="0" dirty="0" smtClean="0">
                <a:solidFill>
                  <a:srgbClr val="444444"/>
                </a:solidFill>
                <a:effectLst/>
                <a:latin typeface="Arial" panose="020B0604020202020204" pitchFamily="34" charset="0"/>
              </a:rPr>
              <a:t>. The </a:t>
            </a:r>
            <a:r>
              <a:rPr lang="en-AU" b="1" i="0" dirty="0" smtClean="0">
                <a:solidFill>
                  <a:srgbClr val="444444"/>
                </a:solidFill>
                <a:effectLst/>
                <a:latin typeface="Arial" panose="020B0604020202020204" pitchFamily="34" charset="0"/>
              </a:rPr>
              <a:t>third</a:t>
            </a:r>
            <a:r>
              <a:rPr lang="en-AU" b="0" i="0" dirty="0" smtClean="0">
                <a:solidFill>
                  <a:srgbClr val="444444"/>
                </a:solidFill>
                <a:effectLst/>
                <a:latin typeface="Arial" panose="020B0604020202020204" pitchFamily="34" charset="0"/>
              </a:rPr>
              <a:t> energy level contains </a:t>
            </a:r>
            <a:r>
              <a:rPr lang="en-AU" b="1" i="0" dirty="0" smtClean="0">
                <a:solidFill>
                  <a:srgbClr val="444444"/>
                </a:solidFill>
                <a:effectLst/>
                <a:latin typeface="Arial" panose="020B0604020202020204" pitchFamily="34" charset="0"/>
              </a:rPr>
              <a:t>one</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KaTeX_Main"/>
              </a:rPr>
              <a:t>s</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three</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KaTeX_Main"/>
              </a:rPr>
              <a:t>p</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orbitals</a:t>
            </a:r>
            <a:r>
              <a:rPr lang="en-AU" b="0" i="0" dirty="0" smtClean="0">
                <a:solidFill>
                  <a:srgbClr val="444444"/>
                </a:solidFill>
                <a:effectLst/>
                <a:latin typeface="Arial" panose="020B0604020202020204" pitchFamily="34" charset="0"/>
              </a:rPr>
              <a:t>, and </a:t>
            </a:r>
            <a:r>
              <a:rPr lang="en-AU" b="1" i="0" dirty="0" smtClean="0">
                <a:solidFill>
                  <a:srgbClr val="444444"/>
                </a:solidFill>
                <a:effectLst/>
                <a:latin typeface="Arial" panose="020B0604020202020204" pitchFamily="34" charset="0"/>
              </a:rPr>
              <a:t>five</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KaTeX_Main"/>
              </a:rPr>
              <a:t>d</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orbitals</a:t>
            </a:r>
            <a:r>
              <a:rPr lang="en-AU" b="0" i="0" dirty="0" smtClean="0">
                <a:solidFill>
                  <a:srgbClr val="444444"/>
                </a:solidFill>
                <a:effectLst/>
                <a:latin typeface="Arial" panose="020B0604020202020204" pitchFamily="34" charset="0"/>
              </a:rPr>
              <a:t>, and can therefore contain up to </a:t>
            </a:r>
            <a:r>
              <a:rPr lang="en-AU" b="1" i="0" dirty="0" smtClean="0">
                <a:solidFill>
                  <a:srgbClr val="444444"/>
                </a:solidFill>
                <a:effectLst/>
                <a:latin typeface="KaTeX_Main"/>
              </a:rPr>
              <a:t>18</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electrons</a:t>
            </a:r>
            <a:r>
              <a:rPr lang="en-AU" b="0" i="0" dirty="0" smtClean="0">
                <a:solidFill>
                  <a:srgbClr val="444444"/>
                </a:solidFill>
                <a:effectLst/>
                <a:latin typeface="Arial" panose="020B0604020202020204" pitchFamily="34" charset="0"/>
              </a:rPr>
              <a:t>.</a:t>
            </a:r>
            <a:endParaRPr lang="en-AU" dirty="0"/>
          </a:p>
        </p:txBody>
      </p:sp>
      <p:pic>
        <p:nvPicPr>
          <p:cNvPr id="21506" name="Picture 2" descr="https://www.educationperfect.com/media/content/Science/1440641513.925741g/1440641515712-4143564-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2400" y="213182"/>
            <a:ext cx="5684936" cy="6405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51992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3300" y="795635"/>
            <a:ext cx="108839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Below is a table that illustrates which orbitals will be found in each energy level and the </a:t>
            </a:r>
            <a:r>
              <a:rPr lang="en-AU" b="1" i="0" dirty="0" smtClean="0">
                <a:solidFill>
                  <a:srgbClr val="444444"/>
                </a:solidFill>
                <a:effectLst/>
                <a:latin typeface="Arial" panose="020B0604020202020204" pitchFamily="34" charset="0"/>
              </a:rPr>
              <a:t>maximum</a:t>
            </a:r>
            <a:r>
              <a:rPr lang="en-AU" b="0" i="0" dirty="0" smtClean="0">
                <a:solidFill>
                  <a:srgbClr val="444444"/>
                </a:solidFill>
                <a:effectLst/>
                <a:latin typeface="Arial" panose="020B0604020202020204" pitchFamily="34" charset="0"/>
              </a:rPr>
              <a:t> amount of electrons that can be placed in each energy level.</a:t>
            </a:r>
            <a:endParaRPr lang="en-AU" dirty="0"/>
          </a:p>
        </p:txBody>
      </p:sp>
      <p:pic>
        <p:nvPicPr>
          <p:cNvPr id="3" name="Picture 2"/>
          <p:cNvPicPr>
            <a:picLocks noChangeAspect="1"/>
          </p:cNvPicPr>
          <p:nvPr/>
        </p:nvPicPr>
        <p:blipFill>
          <a:blip r:embed="rId2"/>
          <a:stretch>
            <a:fillRect/>
          </a:stretch>
        </p:blipFill>
        <p:spPr>
          <a:xfrm>
            <a:off x="1830387" y="1947862"/>
            <a:ext cx="8866735" cy="3576638"/>
          </a:xfrm>
          <a:prstGeom prst="rect">
            <a:avLst/>
          </a:prstGeom>
        </p:spPr>
      </p:pic>
    </p:spTree>
    <p:extLst>
      <p:ext uri="{BB962C8B-B14F-4D97-AF65-F5344CB8AC3E}">
        <p14:creationId xmlns:p14="http://schemas.microsoft.com/office/powerpoint/2010/main" val="37659905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5500" y="354737"/>
            <a:ext cx="105918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In an </a:t>
            </a:r>
            <a:r>
              <a:rPr lang="en-AU" b="1" i="0" dirty="0" smtClean="0">
                <a:solidFill>
                  <a:srgbClr val="444444"/>
                </a:solidFill>
                <a:effectLst/>
                <a:latin typeface="Arial" panose="020B0604020202020204" pitchFamily="34" charset="0"/>
              </a:rPr>
              <a:t>energy level diagram</a:t>
            </a:r>
            <a:r>
              <a:rPr lang="en-AU" b="0" i="0" dirty="0" smtClean="0">
                <a:solidFill>
                  <a:srgbClr val="444444"/>
                </a:solidFill>
                <a:effectLst/>
                <a:latin typeface="Arial" panose="020B0604020202020204" pitchFamily="34" charset="0"/>
              </a:rPr>
              <a:t>, like the one shown below, energy increases up the y axis. </a:t>
            </a:r>
            <a:r>
              <a:rPr lang="en-AU" b="1" i="0" dirty="0" smtClean="0">
                <a:solidFill>
                  <a:srgbClr val="444444"/>
                </a:solidFill>
                <a:effectLst/>
                <a:latin typeface="Arial" panose="020B0604020202020204" pitchFamily="34" charset="0"/>
              </a:rPr>
              <a:t>Atomic orbitals</a:t>
            </a:r>
            <a:r>
              <a:rPr lang="en-AU" b="0" i="0" dirty="0" smtClean="0">
                <a:solidFill>
                  <a:srgbClr val="444444"/>
                </a:solidFill>
                <a:effectLst/>
                <a:latin typeface="Arial" panose="020B0604020202020204" pitchFamily="34" charset="0"/>
              </a:rPr>
              <a:t> are depicted by small boxes, and each box can only contain </a:t>
            </a:r>
            <a:r>
              <a:rPr lang="en-AU" b="1" i="0" dirty="0" smtClean="0">
                <a:solidFill>
                  <a:srgbClr val="444444"/>
                </a:solidFill>
                <a:effectLst/>
                <a:latin typeface="Arial" panose="020B0604020202020204" pitchFamily="34" charset="0"/>
              </a:rPr>
              <a:t>two</a:t>
            </a:r>
            <a:r>
              <a:rPr lang="en-AU" b="0" i="0" dirty="0" smtClean="0">
                <a:solidFill>
                  <a:srgbClr val="444444"/>
                </a:solidFill>
                <a:effectLst/>
                <a:latin typeface="Arial" panose="020B0604020202020204" pitchFamily="34" charset="0"/>
              </a:rPr>
              <a:t> electrons. </a:t>
            </a:r>
            <a:r>
              <a:rPr lang="en-AU" b="1" i="0" dirty="0" smtClean="0">
                <a:solidFill>
                  <a:srgbClr val="444444"/>
                </a:solidFill>
                <a:effectLst/>
                <a:latin typeface="Arial" panose="020B0604020202020204" pitchFamily="34" charset="0"/>
              </a:rPr>
              <a:t>Electrons</a:t>
            </a:r>
            <a:r>
              <a:rPr lang="en-AU" b="0" i="0" dirty="0" smtClean="0">
                <a:solidFill>
                  <a:srgbClr val="444444"/>
                </a:solidFill>
                <a:effectLst/>
                <a:latin typeface="Arial" panose="020B0604020202020204" pitchFamily="34" charset="0"/>
              </a:rPr>
              <a:t> are depicted by </a:t>
            </a:r>
            <a:r>
              <a:rPr lang="en-AU" b="1" i="0" dirty="0" smtClean="0">
                <a:solidFill>
                  <a:srgbClr val="444444"/>
                </a:solidFill>
                <a:effectLst/>
                <a:latin typeface="Arial" panose="020B0604020202020204" pitchFamily="34" charset="0"/>
              </a:rPr>
              <a:t>arrows</a:t>
            </a:r>
            <a:r>
              <a:rPr lang="en-AU" b="0" i="0" dirty="0" smtClean="0">
                <a:solidFill>
                  <a:srgbClr val="444444"/>
                </a:solidFill>
                <a:effectLst/>
                <a:latin typeface="Arial" panose="020B0604020202020204" pitchFamily="34" charset="0"/>
              </a:rPr>
              <a:t>, with one pointing </a:t>
            </a:r>
            <a:r>
              <a:rPr lang="en-AU" b="1" i="0" dirty="0" smtClean="0">
                <a:solidFill>
                  <a:srgbClr val="444444"/>
                </a:solidFill>
                <a:effectLst/>
                <a:latin typeface="Arial" panose="020B0604020202020204" pitchFamily="34" charset="0"/>
              </a:rPr>
              <a:t>up</a:t>
            </a:r>
            <a:r>
              <a:rPr lang="en-AU" b="0" i="0" dirty="0" smtClean="0">
                <a:solidFill>
                  <a:srgbClr val="444444"/>
                </a:solidFill>
                <a:effectLst/>
                <a:latin typeface="Arial" panose="020B0604020202020204" pitchFamily="34" charset="0"/>
              </a:rPr>
              <a:t> and one pointing </a:t>
            </a:r>
            <a:r>
              <a:rPr lang="en-AU" b="1" i="0" dirty="0" smtClean="0">
                <a:solidFill>
                  <a:srgbClr val="444444"/>
                </a:solidFill>
                <a:effectLst/>
                <a:latin typeface="Arial" panose="020B0604020202020204" pitchFamily="34" charset="0"/>
              </a:rPr>
              <a:t>down</a:t>
            </a:r>
            <a:r>
              <a:rPr lang="en-AU" b="0" i="0" dirty="0" smtClean="0">
                <a:solidFill>
                  <a:srgbClr val="444444"/>
                </a:solidFill>
                <a:effectLst/>
                <a:latin typeface="Arial" panose="020B0604020202020204" pitchFamily="34" charset="0"/>
              </a:rPr>
              <a:t> in each orbital (box).</a:t>
            </a:r>
            <a:endParaRPr lang="en-AU" dirty="0"/>
          </a:p>
        </p:txBody>
      </p:sp>
      <p:pic>
        <p:nvPicPr>
          <p:cNvPr id="22530" name="Picture 2" descr="https://www.educationperfect.com/media/content/Science/1440560181.898111g/1440560182107-2068725348-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3975" y="1278067"/>
            <a:ext cx="6667500" cy="374332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438150" y="4916438"/>
            <a:ext cx="1149985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orbitals are </a:t>
            </a:r>
            <a:r>
              <a:rPr lang="en-AU" b="1" i="0" dirty="0" smtClean="0">
                <a:solidFill>
                  <a:srgbClr val="444444"/>
                </a:solidFill>
                <a:effectLst/>
                <a:latin typeface="Arial" panose="020B0604020202020204" pitchFamily="34" charset="0"/>
              </a:rPr>
              <a:t>labelled</a:t>
            </a:r>
            <a:r>
              <a:rPr lang="en-AU" b="0" i="0" dirty="0" smtClean="0">
                <a:solidFill>
                  <a:srgbClr val="444444"/>
                </a:solidFill>
                <a:effectLst/>
                <a:latin typeface="Arial" panose="020B0604020202020204" pitchFamily="34" charset="0"/>
              </a:rPr>
              <a:t> to indicate both the </a:t>
            </a:r>
            <a:r>
              <a:rPr lang="en-AU" b="1" i="0" dirty="0" smtClean="0">
                <a:solidFill>
                  <a:srgbClr val="0066CC"/>
                </a:solidFill>
                <a:effectLst/>
                <a:latin typeface="Arial" panose="020B0604020202020204" pitchFamily="34" charset="0"/>
              </a:rPr>
              <a:t>energy level</a:t>
            </a:r>
            <a:r>
              <a:rPr lang="en-AU" b="0" i="0" dirty="0" smtClean="0">
                <a:solidFill>
                  <a:srgbClr val="444444"/>
                </a:solidFill>
                <a:effectLst/>
                <a:latin typeface="Arial" panose="020B0604020202020204" pitchFamily="34" charset="0"/>
              </a:rPr>
              <a:t> and the </a:t>
            </a:r>
            <a:r>
              <a:rPr lang="en-AU" b="1" i="0" dirty="0" smtClean="0">
                <a:solidFill>
                  <a:srgbClr val="444444"/>
                </a:solidFill>
                <a:effectLst/>
                <a:latin typeface="Arial" panose="020B0604020202020204" pitchFamily="34" charset="0"/>
              </a:rPr>
              <a:t>subshell</a:t>
            </a:r>
            <a:r>
              <a:rPr lang="en-AU" b="0" i="0" dirty="0" smtClean="0">
                <a:solidFill>
                  <a:srgbClr val="444444"/>
                </a:solidFill>
                <a:effectLst/>
                <a:latin typeface="Arial" panose="020B0604020202020204" pitchFamily="34" charset="0"/>
              </a:rPr>
              <a:t> or </a:t>
            </a:r>
            <a:r>
              <a:rPr lang="en-AU" b="1" i="0" dirty="0" smtClean="0">
                <a:solidFill>
                  <a:srgbClr val="E04E50"/>
                </a:solidFill>
                <a:effectLst/>
                <a:latin typeface="Arial" panose="020B0604020202020204" pitchFamily="34" charset="0"/>
              </a:rPr>
              <a:t>atomic orbital</a:t>
            </a:r>
            <a:r>
              <a:rPr lang="en-AU" b="0" i="0" dirty="0" smtClean="0">
                <a:solidFill>
                  <a:srgbClr val="444444"/>
                </a:solidFill>
                <a:effectLst/>
                <a:latin typeface="Arial" panose="020B0604020202020204" pitchFamily="34" charset="0"/>
              </a:rPr>
              <a:t> level. For example, the </a:t>
            </a:r>
            <a:r>
              <a:rPr lang="en-AU" b="1" i="0" dirty="0" smtClean="0">
                <a:solidFill>
                  <a:srgbClr val="444444"/>
                </a:solidFill>
                <a:effectLst/>
                <a:latin typeface="KaTeX_Main"/>
              </a:rPr>
              <a:t>s</a:t>
            </a:r>
            <a:r>
              <a:rPr lang="en-AU" b="0" i="0" dirty="0" smtClean="0">
                <a:solidFill>
                  <a:srgbClr val="444444"/>
                </a:solidFill>
                <a:effectLst/>
                <a:latin typeface="Arial" panose="020B0604020202020204" pitchFamily="34" charset="0"/>
              </a:rPr>
              <a:t> orbital in the first energy level is called the </a:t>
            </a:r>
            <a:r>
              <a:rPr lang="en-AU" b="1" i="0" dirty="0" smtClean="0">
                <a:solidFill>
                  <a:srgbClr val="444444"/>
                </a:solidFill>
                <a:effectLst/>
                <a:latin typeface="KaTeX_Main"/>
              </a:rPr>
              <a:t>1s</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a:t>
            </a:r>
            <a:r>
              <a:rPr lang="en-AU" b="0" i="0" dirty="0" smtClean="0">
                <a:solidFill>
                  <a:srgbClr val="444444"/>
                </a:solidFill>
                <a:effectLst/>
                <a:latin typeface="Arial" panose="020B0604020202020204" pitchFamily="34" charset="0"/>
              </a:rPr>
              <a:t>. The </a:t>
            </a:r>
            <a:r>
              <a:rPr lang="en-AU" b="1" i="0" dirty="0" smtClean="0">
                <a:solidFill>
                  <a:srgbClr val="444444"/>
                </a:solidFill>
                <a:effectLst/>
                <a:latin typeface="KaTeX_Main"/>
              </a:rPr>
              <a:t>p</a:t>
            </a:r>
            <a:r>
              <a:rPr lang="en-AU" b="0" i="0" dirty="0" smtClean="0">
                <a:solidFill>
                  <a:srgbClr val="444444"/>
                </a:solidFill>
                <a:effectLst/>
                <a:latin typeface="Arial" panose="020B0604020202020204" pitchFamily="34" charset="0"/>
              </a:rPr>
              <a:t> orbitals in the second energy levels are called the </a:t>
            </a:r>
            <a:r>
              <a:rPr lang="en-AU" b="1" i="0" dirty="0" smtClean="0">
                <a:solidFill>
                  <a:srgbClr val="444444"/>
                </a:solidFill>
                <a:effectLst/>
                <a:latin typeface="KaTeX_Main"/>
              </a:rPr>
              <a:t>2p</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orbitals</a:t>
            </a:r>
            <a:r>
              <a:rPr lang="en-AU" b="0" i="0" dirty="0" smtClean="0">
                <a:solidFill>
                  <a:srgbClr val="444444"/>
                </a:solidFill>
                <a:effectLst/>
                <a:latin typeface="Arial" panose="020B0604020202020204" pitchFamily="34" charset="0"/>
              </a:rPr>
              <a:t>. Electrons always fill orbitals starting from the </a:t>
            </a:r>
            <a:r>
              <a:rPr lang="en-AU" b="1" i="0" dirty="0" smtClean="0">
                <a:solidFill>
                  <a:srgbClr val="444444"/>
                </a:solidFill>
                <a:effectLst/>
                <a:latin typeface="Arial" panose="020B0604020202020204" pitchFamily="34" charset="0"/>
              </a:rPr>
              <a:t>lowest energy</a:t>
            </a:r>
            <a:r>
              <a:rPr lang="en-AU" b="0" i="0" dirty="0" smtClean="0">
                <a:solidFill>
                  <a:srgbClr val="444444"/>
                </a:solidFill>
                <a:effectLst/>
                <a:latin typeface="Arial" panose="020B0604020202020204" pitchFamily="34" charset="0"/>
              </a:rPr>
              <a:t> orbital (1s).</a:t>
            </a:r>
            <a:endParaRPr lang="en-AU" dirty="0"/>
          </a:p>
        </p:txBody>
      </p:sp>
    </p:spTree>
    <p:extLst>
      <p:ext uri="{BB962C8B-B14F-4D97-AF65-F5344CB8AC3E}">
        <p14:creationId xmlns:p14="http://schemas.microsoft.com/office/powerpoint/2010/main" val="29014190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47700" y="643235"/>
            <a:ext cx="111887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a:t>
            </a:r>
            <a:r>
              <a:rPr lang="en-AU" b="1" i="0" dirty="0" smtClean="0">
                <a:solidFill>
                  <a:srgbClr val="E04E50"/>
                </a:solidFill>
                <a:effectLst/>
                <a:latin typeface="Arial" panose="020B0604020202020204" pitchFamily="34" charset="0"/>
              </a:rPr>
              <a:t>Periodic table</a:t>
            </a:r>
            <a:r>
              <a:rPr lang="en-AU" b="0" i="0" dirty="0" smtClean="0">
                <a:solidFill>
                  <a:srgbClr val="444444"/>
                </a:solidFill>
                <a:effectLst/>
                <a:latin typeface="Arial" panose="020B0604020202020204" pitchFamily="34" charset="0"/>
              </a:rPr>
              <a:t> is based on the electronic configuration of atoms, and is arranged into </a:t>
            </a:r>
            <a:r>
              <a:rPr lang="en-AU" b="0" i="0" dirty="0" smtClean="0">
                <a:solidFill>
                  <a:srgbClr val="444444"/>
                </a:solidFill>
                <a:effectLst/>
                <a:latin typeface="KaTeX_Main"/>
              </a:rPr>
              <a:t>4</a:t>
            </a:r>
            <a:r>
              <a:rPr lang="en-AU" b="0" i="0" dirty="0" smtClean="0">
                <a:solidFill>
                  <a:srgbClr val="444444"/>
                </a:solidFill>
                <a:effectLst/>
                <a:latin typeface="Arial" panose="020B0604020202020204" pitchFamily="34" charset="0"/>
              </a:rPr>
              <a:t> blocks associated with the </a:t>
            </a:r>
            <a:r>
              <a:rPr lang="en-AU" b="0" i="0" dirty="0" smtClean="0">
                <a:solidFill>
                  <a:srgbClr val="444444"/>
                </a:solidFill>
                <a:effectLst/>
                <a:latin typeface="KaTeX_Main"/>
              </a:rPr>
              <a:t>4</a:t>
            </a:r>
            <a:r>
              <a:rPr lang="en-AU" b="0" i="0" dirty="0" smtClean="0">
                <a:solidFill>
                  <a:srgbClr val="444444"/>
                </a:solidFill>
                <a:effectLst/>
                <a:latin typeface="Arial" panose="020B0604020202020204" pitchFamily="34" charset="0"/>
              </a:rPr>
              <a:t> sub-levels: s, p, d and f.</a:t>
            </a:r>
            <a:endParaRPr lang="en-AU" dirty="0"/>
          </a:p>
        </p:txBody>
      </p:sp>
      <p:pic>
        <p:nvPicPr>
          <p:cNvPr id="23554" name="Picture 2" descr="https://www.educationperfect.com/Images/Content/Science/1368070157433-6159523-optimis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1874" y="1506537"/>
            <a:ext cx="7588249" cy="4932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67204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600" y="332939"/>
            <a:ext cx="11544300" cy="1477328"/>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You have just learnt about atomic orbitals and how many electrons each orbital and set of orbitals can hold. So how can we use this information to predict the </a:t>
            </a:r>
            <a:r>
              <a:rPr lang="en-AU" b="1" i="0" dirty="0" smtClean="0">
                <a:solidFill>
                  <a:srgbClr val="444444"/>
                </a:solidFill>
                <a:effectLst/>
                <a:latin typeface="Arial" panose="020B0604020202020204" pitchFamily="34" charset="0"/>
              </a:rPr>
              <a:t>electron configurations</a:t>
            </a:r>
            <a:r>
              <a:rPr lang="en-AU" b="0" i="0" dirty="0" smtClean="0">
                <a:solidFill>
                  <a:srgbClr val="444444"/>
                </a:solidFill>
                <a:effectLst/>
                <a:latin typeface="Arial" panose="020B0604020202020204" pitchFamily="34" charset="0"/>
              </a:rPr>
              <a:t> of atoms?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To predict electron configurations for atoms in their </a:t>
            </a:r>
            <a:r>
              <a:rPr lang="en-AU" b="1" i="0" dirty="0" smtClean="0">
                <a:solidFill>
                  <a:srgbClr val="444444"/>
                </a:solidFill>
                <a:effectLst/>
                <a:latin typeface="Arial" panose="020B0604020202020204" pitchFamily="34" charset="0"/>
              </a:rPr>
              <a:t>ground state</a:t>
            </a:r>
            <a:r>
              <a:rPr lang="en-AU" b="0" i="0" dirty="0" smtClean="0">
                <a:solidFill>
                  <a:srgbClr val="444444"/>
                </a:solidFill>
                <a:effectLst/>
                <a:latin typeface="Arial" panose="020B0604020202020204" pitchFamily="34" charset="0"/>
              </a:rPr>
              <a:t>, we use the </a:t>
            </a:r>
            <a:r>
              <a:rPr lang="en-AU" b="1" i="0" dirty="0" err="1" smtClean="0">
                <a:solidFill>
                  <a:srgbClr val="444444"/>
                </a:solidFill>
                <a:effectLst/>
                <a:latin typeface="Arial" panose="020B0604020202020204" pitchFamily="34" charset="0"/>
              </a:rPr>
              <a:t>Aufbau</a:t>
            </a:r>
            <a:r>
              <a:rPr lang="en-AU" b="1" i="0" dirty="0" smtClean="0">
                <a:solidFill>
                  <a:srgbClr val="444444"/>
                </a:solidFill>
                <a:effectLst/>
                <a:latin typeface="Arial" panose="020B0604020202020204" pitchFamily="34" charset="0"/>
              </a:rPr>
              <a:t> Principle</a:t>
            </a:r>
            <a:r>
              <a:rPr lang="en-AU" b="0" i="0" dirty="0" smtClean="0">
                <a:solidFill>
                  <a:srgbClr val="444444"/>
                </a:solidFill>
                <a:effectLst/>
                <a:latin typeface="Arial" panose="020B0604020202020204" pitchFamily="34" charset="0"/>
              </a:rPr>
              <a:t>. The </a:t>
            </a:r>
            <a:r>
              <a:rPr lang="en-AU" b="1" i="0" dirty="0" err="1" smtClean="0">
                <a:solidFill>
                  <a:srgbClr val="0066CC"/>
                </a:solidFill>
                <a:effectLst/>
                <a:latin typeface="Arial" panose="020B0604020202020204" pitchFamily="34" charset="0"/>
              </a:rPr>
              <a:t>Aufbau</a:t>
            </a:r>
            <a:r>
              <a:rPr lang="en-AU" b="1" i="0" dirty="0" smtClean="0">
                <a:solidFill>
                  <a:srgbClr val="0066CC"/>
                </a:solidFill>
                <a:effectLst/>
                <a:latin typeface="Arial" panose="020B0604020202020204" pitchFamily="34" charset="0"/>
              </a:rPr>
              <a:t> Principle</a:t>
            </a:r>
            <a:r>
              <a:rPr lang="en-AU" b="0" i="0" dirty="0" smtClean="0">
                <a:solidFill>
                  <a:srgbClr val="444444"/>
                </a:solidFill>
                <a:effectLst/>
                <a:latin typeface="Arial" panose="020B0604020202020204" pitchFamily="34" charset="0"/>
              </a:rPr>
              <a:t> states that </a:t>
            </a:r>
            <a:r>
              <a:rPr lang="en-AU" b="1" i="0" dirty="0" smtClean="0">
                <a:solidFill>
                  <a:srgbClr val="0066CC"/>
                </a:solidFill>
                <a:effectLst/>
                <a:latin typeface="Arial" panose="020B0604020202020204" pitchFamily="34" charset="0"/>
              </a:rPr>
              <a:t>lower energy orbitals will fill before higher energy orbitals</a:t>
            </a:r>
            <a:r>
              <a:rPr lang="en-AU" b="0" i="0" dirty="0" smtClean="0">
                <a:solidFill>
                  <a:srgbClr val="444444"/>
                </a:solidFill>
                <a:effectLst/>
                <a:latin typeface="Arial" panose="020B0604020202020204" pitchFamily="34" charset="0"/>
              </a:rPr>
              <a:t>.</a:t>
            </a:r>
            <a:endParaRPr lang="en-AU" b="0" i="0" dirty="0">
              <a:solidFill>
                <a:srgbClr val="444444"/>
              </a:solidFill>
              <a:effectLst/>
              <a:latin typeface="Arial" panose="020B0604020202020204" pitchFamily="34" charset="0"/>
            </a:endParaRPr>
          </a:p>
        </p:txBody>
      </p:sp>
      <p:pic>
        <p:nvPicPr>
          <p:cNvPr id="24578" name="Picture 2" descr="https://www.educationperfect.com/media/content/Science/1440641513.925741g/1440641515712-4143564-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0275" y="1495424"/>
            <a:ext cx="4762500" cy="5362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849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5600" y="644436"/>
            <a:ext cx="6172200" cy="1200329"/>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 </a:t>
            </a:r>
            <a:r>
              <a:rPr lang="en-AU" b="1" i="0" dirty="0" smtClean="0">
                <a:solidFill>
                  <a:srgbClr val="444444"/>
                </a:solidFill>
                <a:effectLst/>
                <a:latin typeface="Arial" panose="020B0604020202020204" pitchFamily="34" charset="0"/>
              </a:rPr>
              <a:t>Madelung Rule</a:t>
            </a:r>
            <a:r>
              <a:rPr lang="en-AU" b="0" i="0" dirty="0" smtClean="0">
                <a:solidFill>
                  <a:srgbClr val="444444"/>
                </a:solidFill>
                <a:effectLst/>
                <a:latin typeface="Arial" panose="020B0604020202020204" pitchFamily="34" charset="0"/>
              </a:rPr>
              <a:t> tells us the order in which orbitals will be filled, and it is summarised in this diagram: It is read by starting at the top with the </a:t>
            </a:r>
            <a:r>
              <a:rPr lang="en-AU" b="0" i="0" dirty="0" smtClean="0">
                <a:solidFill>
                  <a:srgbClr val="444444"/>
                </a:solidFill>
                <a:effectLst/>
                <a:latin typeface="KaTeX_Main"/>
              </a:rPr>
              <a:t>1s</a:t>
            </a:r>
            <a:r>
              <a:rPr lang="en-AU" b="0" i="0" dirty="0" smtClean="0">
                <a:solidFill>
                  <a:srgbClr val="444444"/>
                </a:solidFill>
                <a:effectLst/>
                <a:latin typeface="Arial" panose="020B0604020202020204" pitchFamily="34" charset="0"/>
              </a:rPr>
              <a:t> orbital, and then following the arrows down.</a:t>
            </a:r>
            <a:endParaRPr lang="en-AU" dirty="0"/>
          </a:p>
        </p:txBody>
      </p:sp>
      <p:pic>
        <p:nvPicPr>
          <p:cNvPr id="25602" name="Picture 2" descr="https://www.educationperfect.com/media/content/Science/1432612794.313751g/1432612792152-990298422-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4875" y="88900"/>
            <a:ext cx="27432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23900" y="3392438"/>
            <a:ext cx="6096000" cy="1754326"/>
          </a:xfrm>
          <a:prstGeom prst="rect">
            <a:avLst/>
          </a:prstGeom>
        </p:spPr>
        <p:txBody>
          <a:bodyPr>
            <a:spAutoFit/>
          </a:bodyPr>
          <a:lstStyle/>
          <a:p>
            <a:r>
              <a:rPr lang="en-AU" b="0" i="0" dirty="0" smtClean="0">
                <a:solidFill>
                  <a:srgbClr val="444444"/>
                </a:solidFill>
                <a:effectLst/>
                <a:latin typeface="Arial" panose="020B0604020202020204" pitchFamily="34" charset="0"/>
              </a:rPr>
              <a:t>You will only be asked to write electron configurations for atoms containing electrons in up to the </a:t>
            </a:r>
            <a:r>
              <a:rPr lang="en-AU" b="1" i="0" dirty="0" smtClean="0">
                <a:solidFill>
                  <a:srgbClr val="444444"/>
                </a:solidFill>
                <a:effectLst/>
                <a:latin typeface="KaTeX_Main"/>
              </a:rPr>
              <a:t>4p</a:t>
            </a:r>
            <a:r>
              <a:rPr lang="en-AU" b="0" i="0" dirty="0" smtClean="0">
                <a:solidFill>
                  <a:srgbClr val="444444"/>
                </a:solidFill>
                <a:effectLst/>
                <a:latin typeface="Arial" panose="020B0604020202020204" pitchFamily="34" charset="0"/>
              </a:rPr>
              <a:t> shell. An important thing to remember is that the </a:t>
            </a:r>
            <a:r>
              <a:rPr lang="en-AU" b="1" i="0" dirty="0" smtClean="0">
                <a:solidFill>
                  <a:srgbClr val="444444"/>
                </a:solidFill>
                <a:effectLst/>
                <a:latin typeface="KaTeX_Main"/>
              </a:rPr>
              <a:t>4s</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orbitals fill with electrons </a:t>
            </a:r>
            <a:r>
              <a:rPr lang="en-AU" b="1" i="0" dirty="0" smtClean="0">
                <a:solidFill>
                  <a:srgbClr val="E04E50"/>
                </a:solidFill>
                <a:effectLst/>
                <a:latin typeface="Arial" panose="020B0604020202020204" pitchFamily="34" charset="0"/>
              </a:rPr>
              <a:t>before</a:t>
            </a:r>
            <a:r>
              <a:rPr lang="en-AU" b="1" i="0" dirty="0" smtClean="0">
                <a:solidFill>
                  <a:srgbClr val="444444"/>
                </a:solidFill>
                <a:effectLst/>
                <a:latin typeface="Arial" panose="020B0604020202020204" pitchFamily="34" charset="0"/>
              </a:rPr>
              <a:t> the </a:t>
            </a:r>
            <a:r>
              <a:rPr lang="en-AU" b="1" i="0" dirty="0" smtClean="0">
                <a:solidFill>
                  <a:srgbClr val="444444"/>
                </a:solidFill>
                <a:effectLst/>
                <a:latin typeface="KaTeX_Main"/>
              </a:rPr>
              <a:t>3d</a:t>
            </a:r>
            <a:r>
              <a:rPr lang="en-AU" b="0" i="0" dirty="0" smtClean="0">
                <a:solidFill>
                  <a:srgbClr val="444444"/>
                </a:solidFill>
                <a:effectLst/>
                <a:latin typeface="Arial" panose="020B0604020202020204" pitchFamily="34" charset="0"/>
              </a:rPr>
              <a:t> </a:t>
            </a:r>
            <a:r>
              <a:rPr lang="en-AU" b="1" i="0" dirty="0" smtClean="0">
                <a:solidFill>
                  <a:srgbClr val="444444"/>
                </a:solidFill>
                <a:effectLst/>
                <a:latin typeface="Arial" panose="020B0604020202020204" pitchFamily="34" charset="0"/>
              </a:rPr>
              <a:t>orbitals</a:t>
            </a:r>
            <a:r>
              <a:rPr lang="en-AU" b="0" i="0" dirty="0" smtClean="0">
                <a:solidFill>
                  <a:srgbClr val="444444"/>
                </a:solidFill>
                <a:effectLst/>
                <a:latin typeface="Arial" panose="020B0604020202020204" pitchFamily="34" charset="0"/>
              </a:rPr>
              <a:t>. This is because </a:t>
            </a:r>
            <a:r>
              <a:rPr lang="en-AU" b="0" i="0" dirty="0" smtClean="0">
                <a:solidFill>
                  <a:srgbClr val="444444"/>
                </a:solidFill>
                <a:effectLst/>
                <a:latin typeface="KaTeX_Main"/>
              </a:rPr>
              <a:t>4s</a:t>
            </a:r>
            <a:r>
              <a:rPr lang="en-AU" b="0" i="0" dirty="0" smtClean="0">
                <a:solidFill>
                  <a:srgbClr val="444444"/>
                </a:solidFill>
                <a:effectLst/>
                <a:latin typeface="Arial" panose="020B0604020202020204" pitchFamily="34" charset="0"/>
              </a:rPr>
              <a:t> orbitals have a slightly </a:t>
            </a:r>
            <a:r>
              <a:rPr lang="en-AU" b="1" i="0" dirty="0" smtClean="0">
                <a:solidFill>
                  <a:srgbClr val="444444"/>
                </a:solidFill>
                <a:effectLst/>
                <a:latin typeface="Arial" panose="020B0604020202020204" pitchFamily="34" charset="0"/>
              </a:rPr>
              <a:t>lower energy</a:t>
            </a:r>
            <a:r>
              <a:rPr lang="en-AU" b="0" i="0" dirty="0" smtClean="0">
                <a:solidFill>
                  <a:srgbClr val="444444"/>
                </a:solidFill>
                <a:effectLst/>
                <a:latin typeface="Arial" panose="020B0604020202020204" pitchFamily="34" charset="0"/>
              </a:rPr>
              <a:t> due to their shape.</a:t>
            </a:r>
            <a:endParaRPr lang="en-AU" dirty="0"/>
          </a:p>
        </p:txBody>
      </p:sp>
    </p:spTree>
    <p:extLst>
      <p:ext uri="{BB962C8B-B14F-4D97-AF65-F5344CB8AC3E}">
        <p14:creationId xmlns:p14="http://schemas.microsoft.com/office/powerpoint/2010/main" val="35035632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9100" y="325041"/>
            <a:ext cx="111125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When writing out electron configurations, we write out all of the orbitals that contain electrons in a sequence, and indicate the </a:t>
            </a:r>
            <a:r>
              <a:rPr lang="en-AU" b="1" i="0" dirty="0" smtClean="0">
                <a:solidFill>
                  <a:srgbClr val="444444"/>
                </a:solidFill>
                <a:effectLst/>
                <a:latin typeface="Arial" panose="020B0604020202020204" pitchFamily="34" charset="0"/>
              </a:rPr>
              <a:t>number of electrons</a:t>
            </a:r>
            <a:r>
              <a:rPr lang="en-AU" b="0" i="0" dirty="0" smtClean="0">
                <a:solidFill>
                  <a:srgbClr val="444444"/>
                </a:solidFill>
                <a:effectLst/>
                <a:latin typeface="Arial" panose="020B0604020202020204" pitchFamily="34" charset="0"/>
              </a:rPr>
              <a:t> in each set of orbitals using a </a:t>
            </a:r>
            <a:r>
              <a:rPr lang="en-AU" b="1" i="0" dirty="0" smtClean="0">
                <a:solidFill>
                  <a:srgbClr val="444444"/>
                </a:solidFill>
                <a:effectLst/>
                <a:latin typeface="Arial" panose="020B0604020202020204" pitchFamily="34" charset="0"/>
              </a:rPr>
              <a:t>superscript</a:t>
            </a:r>
            <a:r>
              <a:rPr lang="en-AU" b="0" i="0" dirty="0" smtClean="0">
                <a:solidFill>
                  <a:srgbClr val="444444"/>
                </a:solidFill>
                <a:effectLst/>
                <a:latin typeface="Arial" panose="020B0604020202020204" pitchFamily="34" charset="0"/>
              </a:rPr>
              <a:t> number. Remember that different </a:t>
            </a:r>
            <a:r>
              <a:rPr lang="en-AU" b="1" i="0" dirty="0" smtClean="0">
                <a:solidFill>
                  <a:srgbClr val="444444"/>
                </a:solidFill>
                <a:effectLst/>
                <a:latin typeface="Arial" panose="020B0604020202020204" pitchFamily="34" charset="0"/>
              </a:rPr>
              <a:t>sets</a:t>
            </a:r>
            <a:r>
              <a:rPr lang="en-AU" b="0" i="0" dirty="0" smtClean="0">
                <a:solidFill>
                  <a:srgbClr val="444444"/>
                </a:solidFill>
                <a:effectLst/>
                <a:latin typeface="Arial" panose="020B0604020202020204" pitchFamily="34" charset="0"/>
              </a:rPr>
              <a:t> of orbitals can contain different numbers of electrons: </a:t>
            </a:r>
            <a:r>
              <a:rPr lang="en-AU" b="1" i="0" dirty="0" smtClean="0">
                <a:solidFill>
                  <a:srgbClr val="444444"/>
                </a:solidFill>
                <a:effectLst/>
                <a:latin typeface="KaTeX_Main"/>
              </a:rPr>
              <a:t>s</a:t>
            </a:r>
            <a:r>
              <a:rPr lang="en-AU" b="0" i="0" dirty="0" smtClean="0">
                <a:solidFill>
                  <a:srgbClr val="444444"/>
                </a:solidFill>
                <a:effectLst/>
                <a:latin typeface="Arial" panose="020B0604020202020204" pitchFamily="34" charset="0"/>
              </a:rPr>
              <a:t> orbitals can hold </a:t>
            </a:r>
            <a:r>
              <a:rPr lang="en-AU" b="1" i="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electrons, the </a:t>
            </a:r>
            <a:r>
              <a:rPr lang="en-AU" b="1" i="0" dirty="0" smtClean="0">
                <a:solidFill>
                  <a:srgbClr val="444444"/>
                </a:solidFill>
                <a:effectLst/>
                <a:latin typeface="KaTeX_Main"/>
              </a:rPr>
              <a:t>p</a:t>
            </a:r>
            <a:r>
              <a:rPr lang="en-AU" b="0" i="0" dirty="0" smtClean="0">
                <a:solidFill>
                  <a:srgbClr val="444444"/>
                </a:solidFill>
                <a:effectLst/>
                <a:latin typeface="Arial" panose="020B0604020202020204" pitchFamily="34" charset="0"/>
              </a:rPr>
              <a:t> orbitals can hold </a:t>
            </a:r>
            <a:r>
              <a:rPr lang="en-AU" b="1" i="0" dirty="0" smtClean="0">
                <a:solidFill>
                  <a:srgbClr val="444444"/>
                </a:solidFill>
                <a:effectLst/>
                <a:latin typeface="KaTeX_Main"/>
              </a:rPr>
              <a:t>6</a:t>
            </a:r>
            <a:r>
              <a:rPr lang="en-AU" b="0" i="0" dirty="0" smtClean="0">
                <a:solidFill>
                  <a:srgbClr val="444444"/>
                </a:solidFill>
                <a:effectLst/>
                <a:latin typeface="Arial" panose="020B0604020202020204" pitchFamily="34" charset="0"/>
              </a:rPr>
              <a:t> electrons and the </a:t>
            </a:r>
            <a:r>
              <a:rPr lang="en-AU" b="1" i="0" dirty="0" smtClean="0">
                <a:solidFill>
                  <a:srgbClr val="444444"/>
                </a:solidFill>
                <a:effectLst/>
                <a:latin typeface="KaTeX_Main"/>
              </a:rPr>
              <a:t>d</a:t>
            </a:r>
            <a:r>
              <a:rPr lang="en-AU" b="0" i="0" dirty="0" smtClean="0">
                <a:solidFill>
                  <a:srgbClr val="444444"/>
                </a:solidFill>
                <a:effectLst/>
                <a:latin typeface="Arial" panose="020B0604020202020204" pitchFamily="34" charset="0"/>
              </a:rPr>
              <a:t> orbitals can hold </a:t>
            </a:r>
            <a:r>
              <a:rPr lang="en-AU" b="1" i="0" dirty="0" smtClean="0">
                <a:solidFill>
                  <a:srgbClr val="444444"/>
                </a:solidFill>
                <a:effectLst/>
                <a:latin typeface="KaTeX_Main"/>
              </a:rPr>
              <a:t>10</a:t>
            </a:r>
            <a:r>
              <a:rPr lang="en-AU" b="0" i="0" dirty="0" smtClean="0">
                <a:solidFill>
                  <a:srgbClr val="444444"/>
                </a:solidFill>
                <a:effectLst/>
                <a:latin typeface="Arial" panose="020B0604020202020204" pitchFamily="34" charset="0"/>
              </a:rPr>
              <a:t> electrons.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For example, the electron configuration of carbon is written as:</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345796" y="2901950"/>
            <a:ext cx="7259108" cy="2292350"/>
          </a:xfrm>
          <a:prstGeom prst="rect">
            <a:avLst/>
          </a:prstGeom>
        </p:spPr>
      </p:pic>
    </p:spTree>
    <p:extLst>
      <p:ext uri="{BB962C8B-B14F-4D97-AF65-F5344CB8AC3E}">
        <p14:creationId xmlns:p14="http://schemas.microsoft.com/office/powerpoint/2010/main" val="37870232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336540"/>
            <a:ext cx="11468100" cy="1754326"/>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Valence electrons are the only electrons that are involved in chemical reactions, so the electrons in the inner shells are relatively unimportant. This means we can use a </a:t>
            </a:r>
            <a:r>
              <a:rPr lang="en-AU" b="1" i="0" dirty="0" smtClean="0">
                <a:solidFill>
                  <a:srgbClr val="444444"/>
                </a:solidFill>
                <a:effectLst/>
                <a:latin typeface="Arial" panose="020B0604020202020204" pitchFamily="34" charset="0"/>
              </a:rPr>
              <a:t>shorthand</a:t>
            </a:r>
            <a:r>
              <a:rPr lang="en-AU" b="0" i="0" dirty="0" smtClean="0">
                <a:solidFill>
                  <a:srgbClr val="444444"/>
                </a:solidFill>
                <a:effectLst/>
                <a:latin typeface="Arial" panose="020B0604020202020204" pitchFamily="34" charset="0"/>
              </a:rPr>
              <a:t> way of writing the electron configuration for larger atoms.</a:t>
            </a: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The </a:t>
            </a:r>
            <a:r>
              <a:rPr lang="en-AU" b="1" i="0" dirty="0" smtClean="0">
                <a:solidFill>
                  <a:srgbClr val="444444"/>
                </a:solidFill>
                <a:effectLst/>
                <a:latin typeface="Arial" panose="020B0604020202020204" pitchFamily="34" charset="0"/>
              </a:rPr>
              <a:t>noble gases</a:t>
            </a:r>
            <a:r>
              <a:rPr lang="en-AU" b="0" i="0" dirty="0" smtClean="0">
                <a:solidFill>
                  <a:srgbClr val="444444"/>
                </a:solidFill>
                <a:effectLst/>
                <a:latin typeface="Arial" panose="020B0604020202020204" pitchFamily="34" charset="0"/>
              </a:rPr>
              <a:t> (</a:t>
            </a:r>
            <a:r>
              <a:rPr lang="en-AU" b="0" i="0" dirty="0" smtClean="0">
                <a:solidFill>
                  <a:srgbClr val="444444"/>
                </a:solidFill>
                <a:effectLst/>
                <a:latin typeface="KaTeX_Main"/>
              </a:rPr>
              <a:t>He, Ne</a:t>
            </a:r>
            <a:r>
              <a:rPr lang="en-AU" b="0" i="0" dirty="0" smtClean="0">
                <a:solidFill>
                  <a:srgbClr val="444444"/>
                </a:solidFill>
                <a:effectLst/>
                <a:latin typeface="Arial" panose="020B0604020202020204" pitchFamily="34" charset="0"/>
              </a:rPr>
              <a:t>, </a:t>
            </a:r>
            <a:r>
              <a:rPr lang="en-AU" b="0" i="0" dirty="0" err="1" smtClean="0">
                <a:solidFill>
                  <a:srgbClr val="444444"/>
                </a:solidFill>
                <a:effectLst/>
                <a:latin typeface="Arial" panose="020B0604020202020204" pitchFamily="34" charset="0"/>
              </a:rPr>
              <a:t>Ar</a:t>
            </a:r>
            <a:r>
              <a:rPr lang="en-AU" b="0" i="0" dirty="0" smtClean="0">
                <a:solidFill>
                  <a:srgbClr val="444444"/>
                </a:solidFill>
                <a:effectLst/>
                <a:latin typeface="Arial" panose="020B0604020202020204" pitchFamily="34" charset="0"/>
              </a:rPr>
              <a:t>, </a:t>
            </a:r>
            <a:r>
              <a:rPr lang="en-AU" b="0" i="0" dirty="0" smtClean="0">
                <a:solidFill>
                  <a:srgbClr val="444444"/>
                </a:solidFill>
                <a:effectLst/>
                <a:latin typeface="KaTeX_Main"/>
              </a:rPr>
              <a:t>Kr</a:t>
            </a:r>
            <a:r>
              <a:rPr lang="en-AU" b="0" i="0" dirty="0" smtClean="0">
                <a:solidFill>
                  <a:srgbClr val="444444"/>
                </a:solidFill>
                <a:effectLst/>
                <a:latin typeface="Arial" panose="020B0604020202020204" pitchFamily="34" charset="0"/>
              </a:rPr>
              <a:t>) all have </a:t>
            </a:r>
            <a:r>
              <a:rPr lang="en-AU" b="1" i="0" dirty="0" smtClean="0">
                <a:solidFill>
                  <a:srgbClr val="444444"/>
                </a:solidFill>
                <a:effectLst/>
                <a:latin typeface="Arial" panose="020B0604020202020204" pitchFamily="34" charset="0"/>
              </a:rPr>
              <a:t>full</a:t>
            </a:r>
            <a:r>
              <a:rPr lang="en-AU" b="0" i="0" dirty="0" smtClean="0">
                <a:solidFill>
                  <a:srgbClr val="444444"/>
                </a:solidFill>
                <a:effectLst/>
                <a:latin typeface="Arial" panose="020B0604020202020204" pitchFamily="34" charset="0"/>
              </a:rPr>
              <a:t> valence shells, so we can use them as the "core" for larger atoms and then simply add the electrons in the outer shells to the end of the configuration. For example:</a:t>
            </a:r>
            <a:endParaRPr lang="en-AU" b="0" i="0" dirty="0">
              <a:solidFill>
                <a:srgbClr val="444444"/>
              </a:solidFill>
              <a:effectLst/>
              <a:latin typeface="Arial" panose="020B0604020202020204" pitchFamily="34" charset="0"/>
            </a:endParaRPr>
          </a:p>
        </p:txBody>
      </p:sp>
      <p:pic>
        <p:nvPicPr>
          <p:cNvPr id="3" name="Picture 2"/>
          <p:cNvPicPr>
            <a:picLocks noChangeAspect="1"/>
          </p:cNvPicPr>
          <p:nvPr/>
        </p:nvPicPr>
        <p:blipFill>
          <a:blip r:embed="rId2"/>
          <a:stretch>
            <a:fillRect/>
          </a:stretch>
        </p:blipFill>
        <p:spPr>
          <a:xfrm>
            <a:off x="2957512" y="3468687"/>
            <a:ext cx="7113691" cy="1700213"/>
          </a:xfrm>
          <a:prstGeom prst="rect">
            <a:avLst/>
          </a:prstGeom>
        </p:spPr>
      </p:pic>
    </p:spTree>
    <p:extLst>
      <p:ext uri="{BB962C8B-B14F-4D97-AF65-F5344CB8AC3E}">
        <p14:creationId xmlns:p14="http://schemas.microsoft.com/office/powerpoint/2010/main" val="27073240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28700" y="788938"/>
            <a:ext cx="10007600" cy="1477328"/>
          </a:xfrm>
          <a:prstGeom prst="rect">
            <a:avLst/>
          </a:prstGeom>
        </p:spPr>
        <p:txBody>
          <a:bodyPr wrap="square">
            <a:spAutoFit/>
          </a:bodyPr>
          <a:lstStyle/>
          <a:p>
            <a:r>
              <a:rPr lang="en-AU" b="1" i="0" dirty="0" smtClean="0">
                <a:solidFill>
                  <a:srgbClr val="444444"/>
                </a:solidFill>
                <a:effectLst/>
                <a:latin typeface="Arial" panose="020B0604020202020204" pitchFamily="34" charset="0"/>
              </a:rPr>
              <a:t>Energy level diagrams</a:t>
            </a:r>
            <a:r>
              <a:rPr lang="en-AU" b="0" i="0" dirty="0" smtClean="0">
                <a:solidFill>
                  <a:srgbClr val="444444"/>
                </a:solidFill>
                <a:effectLst/>
                <a:latin typeface="Arial" panose="020B0604020202020204" pitchFamily="34" charset="0"/>
              </a:rPr>
              <a:t> can be used to show the </a:t>
            </a:r>
            <a:r>
              <a:rPr lang="en-AU" b="1" i="0" dirty="0" smtClean="0">
                <a:solidFill>
                  <a:srgbClr val="E04E50"/>
                </a:solidFill>
                <a:effectLst/>
                <a:latin typeface="Arial" panose="020B0604020202020204" pitchFamily="34" charset="0"/>
              </a:rPr>
              <a:t>electron configuration</a:t>
            </a:r>
            <a:r>
              <a:rPr lang="en-AU" b="0" i="0" dirty="0" smtClean="0">
                <a:solidFill>
                  <a:srgbClr val="444444"/>
                </a:solidFill>
                <a:effectLst/>
                <a:latin typeface="Arial" panose="020B0604020202020204" pitchFamily="34" charset="0"/>
              </a:rPr>
              <a:t> of atoms. They are a good way to visualise how electrons fill from the </a:t>
            </a:r>
            <a:r>
              <a:rPr lang="en-AU" b="1" i="0" dirty="0" smtClean="0">
                <a:solidFill>
                  <a:srgbClr val="444444"/>
                </a:solidFill>
                <a:effectLst/>
                <a:latin typeface="Arial" panose="020B0604020202020204" pitchFamily="34" charset="0"/>
              </a:rPr>
              <a:t>lowest energy</a:t>
            </a:r>
            <a:r>
              <a:rPr lang="en-AU" b="0" i="0" dirty="0" smtClean="0">
                <a:solidFill>
                  <a:srgbClr val="444444"/>
                </a:solidFill>
                <a:effectLst/>
                <a:latin typeface="Arial" panose="020B0604020202020204" pitchFamily="34" charset="0"/>
              </a:rPr>
              <a:t> orbitals to the </a:t>
            </a:r>
            <a:r>
              <a:rPr lang="en-AU" b="1" i="0" dirty="0" smtClean="0">
                <a:solidFill>
                  <a:srgbClr val="444444"/>
                </a:solidFill>
                <a:effectLst/>
                <a:latin typeface="Arial" panose="020B0604020202020204" pitchFamily="34" charset="0"/>
              </a:rPr>
              <a:t>higher energy</a:t>
            </a:r>
            <a:r>
              <a:rPr lang="en-AU" b="0" i="0" dirty="0" smtClean="0">
                <a:solidFill>
                  <a:srgbClr val="444444"/>
                </a:solidFill>
                <a:effectLst/>
                <a:latin typeface="Arial" panose="020B0604020202020204" pitchFamily="34" charset="0"/>
              </a:rPr>
              <a:t> orbitals. </a:t>
            </a:r>
            <a:r>
              <a:rPr lang="en-AU" b="1" i="0" dirty="0" smtClean="0">
                <a:solidFill>
                  <a:srgbClr val="0066CC"/>
                </a:solidFill>
                <a:effectLst/>
                <a:latin typeface="Arial" panose="020B0604020202020204" pitchFamily="34" charset="0"/>
              </a:rPr>
              <a:t>Electrons are drawn as arrows</a:t>
            </a:r>
            <a:r>
              <a:rPr lang="en-AU" b="0" i="0" dirty="0" smtClean="0">
                <a:solidFill>
                  <a:srgbClr val="444444"/>
                </a:solidFill>
                <a:effectLst/>
                <a:latin typeface="Arial" panose="020B0604020202020204" pitchFamily="34" charset="0"/>
              </a:rPr>
              <a:t> pointing up or down. Each small box represents one atomic orbital, and therefore can contain </a:t>
            </a:r>
            <a:r>
              <a:rPr lang="en-AU" b="1" i="0" dirty="0" smtClean="0">
                <a:solidFill>
                  <a:srgbClr val="444444"/>
                </a:solidFill>
                <a:effectLst/>
                <a:latin typeface="Arial" panose="020B0604020202020204" pitchFamily="34" charset="0"/>
              </a:rPr>
              <a:t>two</a:t>
            </a:r>
            <a:r>
              <a:rPr lang="en-AU" b="0" i="0" dirty="0" smtClean="0">
                <a:solidFill>
                  <a:srgbClr val="444444"/>
                </a:solidFill>
                <a:effectLst/>
                <a:latin typeface="Arial" panose="020B0604020202020204" pitchFamily="34" charset="0"/>
              </a:rPr>
              <a:t> electrons. For example, here is the electron configuration diagram for neon:</a:t>
            </a:r>
            <a:endParaRPr lang="en-AU" dirty="0"/>
          </a:p>
        </p:txBody>
      </p:sp>
      <p:pic>
        <p:nvPicPr>
          <p:cNvPr id="26626" name="Picture 2" descr="https://www.educationperfect.com/media/content/Science/1440714891.480651g/1440714890408-477819555-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1775" y="2266266"/>
            <a:ext cx="3800475" cy="24098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47724" y="4676092"/>
            <a:ext cx="10721975" cy="1477328"/>
          </a:xfrm>
          <a:prstGeom prst="rect">
            <a:avLst/>
          </a:prstGeom>
        </p:spPr>
        <p:txBody>
          <a:bodyPr wrap="square">
            <a:spAutoFit/>
          </a:bodyPr>
          <a:lstStyle/>
          <a:p>
            <a:r>
              <a:rPr lang="en-AU" b="0" i="0" dirty="0" smtClean="0">
                <a:solidFill>
                  <a:srgbClr val="444444"/>
                </a:solidFill>
                <a:effectLst/>
                <a:latin typeface="Arial" panose="020B0604020202020204" pitchFamily="34" charset="0"/>
              </a:rPr>
              <a:t>Notice that each box contains one electron pointing up and one pointing down. This is because of some complicated quantum mechanics and a property of electrons called </a:t>
            </a:r>
            <a:r>
              <a:rPr lang="en-AU" b="1" i="0" dirty="0" smtClean="0">
                <a:solidFill>
                  <a:srgbClr val="444444"/>
                </a:solidFill>
                <a:effectLst/>
                <a:latin typeface="Arial" panose="020B0604020202020204" pitchFamily="34" charset="0"/>
              </a:rPr>
              <a:t>spin</a:t>
            </a:r>
            <a:r>
              <a:rPr lang="en-AU" b="0" i="0" dirty="0" smtClean="0">
                <a:solidFill>
                  <a:srgbClr val="444444"/>
                </a:solidFill>
                <a:effectLst/>
                <a:latin typeface="Arial" panose="020B0604020202020204" pitchFamily="34" charset="0"/>
              </a:rPr>
              <a:t>, which means that </a:t>
            </a:r>
            <a:r>
              <a:rPr lang="en-AU" b="1" i="0" dirty="0" smtClean="0">
                <a:solidFill>
                  <a:srgbClr val="444444"/>
                </a:solidFill>
                <a:effectLst/>
                <a:latin typeface="Arial" panose="020B0604020202020204" pitchFamily="34" charset="0"/>
              </a:rPr>
              <a:t>electrons in the same orbital must have opposite spins</a:t>
            </a:r>
            <a:r>
              <a:rPr lang="en-AU" b="0" i="0" dirty="0" smtClean="0">
                <a:solidFill>
                  <a:srgbClr val="444444"/>
                </a:solidFill>
                <a:effectLst/>
                <a:latin typeface="Arial" panose="020B0604020202020204" pitchFamily="34" charset="0"/>
              </a:rPr>
              <a:t>. This is known as the </a:t>
            </a:r>
            <a:r>
              <a:rPr lang="en-AU" b="1" i="0" dirty="0" smtClean="0">
                <a:solidFill>
                  <a:srgbClr val="7C0BAE"/>
                </a:solidFill>
                <a:effectLst/>
                <a:latin typeface="Arial" panose="020B0604020202020204" pitchFamily="34" charset="0"/>
              </a:rPr>
              <a:t>Pauli exclusion principle. </a:t>
            </a:r>
            <a:r>
              <a:rPr lang="en-AU" b="0" i="0" dirty="0" smtClean="0">
                <a:solidFill>
                  <a:srgbClr val="444444"/>
                </a:solidFill>
                <a:effectLst/>
                <a:latin typeface="Arial" panose="020B0604020202020204" pitchFamily="34" charset="0"/>
              </a:rPr>
              <a:t>All you need to remember is to always draw one electron pointing </a:t>
            </a:r>
            <a:r>
              <a:rPr lang="en-AU" b="1" i="0" dirty="0" smtClean="0">
                <a:solidFill>
                  <a:srgbClr val="E04E50"/>
                </a:solidFill>
                <a:effectLst/>
                <a:latin typeface="Arial" panose="020B0604020202020204" pitchFamily="34" charset="0"/>
              </a:rPr>
              <a:t>up</a:t>
            </a:r>
            <a:r>
              <a:rPr lang="en-AU" b="0" i="0" dirty="0" smtClean="0">
                <a:solidFill>
                  <a:srgbClr val="444444"/>
                </a:solidFill>
                <a:effectLst/>
                <a:latin typeface="Arial" panose="020B0604020202020204" pitchFamily="34" charset="0"/>
              </a:rPr>
              <a:t> and one pointing </a:t>
            </a:r>
            <a:r>
              <a:rPr lang="en-AU" b="1" i="0" dirty="0" smtClean="0">
                <a:solidFill>
                  <a:srgbClr val="0066CC"/>
                </a:solidFill>
                <a:effectLst/>
                <a:latin typeface="Arial" panose="020B0604020202020204" pitchFamily="34" charset="0"/>
              </a:rPr>
              <a:t>down</a:t>
            </a:r>
            <a:r>
              <a:rPr lang="en-AU" b="0" i="0" dirty="0" smtClean="0">
                <a:solidFill>
                  <a:srgbClr val="444444"/>
                </a:solidFill>
                <a:effectLst/>
                <a:latin typeface="Arial" panose="020B0604020202020204" pitchFamily="34" charset="0"/>
              </a:rPr>
              <a:t> when there are two electrons in the same orbital.</a:t>
            </a:r>
            <a:endParaRPr lang="en-AU" dirty="0"/>
          </a:p>
        </p:txBody>
      </p:sp>
    </p:spTree>
    <p:extLst>
      <p:ext uri="{BB962C8B-B14F-4D97-AF65-F5344CB8AC3E}">
        <p14:creationId xmlns:p14="http://schemas.microsoft.com/office/powerpoint/2010/main" val="492039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49300" y="997635"/>
            <a:ext cx="10680700" cy="369332"/>
          </a:xfrm>
          <a:prstGeom prst="rect">
            <a:avLst/>
          </a:prstGeom>
        </p:spPr>
        <p:txBody>
          <a:bodyPr wrap="square">
            <a:spAutoFit/>
          </a:bodyPr>
          <a:lstStyle/>
          <a:p>
            <a:r>
              <a:rPr lang="en-AU" b="0" i="0" dirty="0" smtClean="0">
                <a:solidFill>
                  <a:srgbClr val="444444"/>
                </a:solidFill>
                <a:effectLst/>
                <a:latin typeface="Arial" panose="020B0604020202020204" pitchFamily="34" charset="0"/>
              </a:rPr>
              <a:t>Nitrogen has </a:t>
            </a:r>
            <a:r>
              <a:rPr lang="en-AU" b="0" i="0" dirty="0" smtClean="0">
                <a:solidFill>
                  <a:srgbClr val="444444"/>
                </a:solidFill>
                <a:effectLst/>
                <a:latin typeface="KaTeX_Main"/>
              </a:rPr>
              <a:t>7</a:t>
            </a:r>
            <a:r>
              <a:rPr lang="en-AU" b="0" i="0" dirty="0" smtClean="0">
                <a:solidFill>
                  <a:srgbClr val="444444"/>
                </a:solidFill>
                <a:effectLst/>
                <a:latin typeface="Arial" panose="020B0604020202020204" pitchFamily="34" charset="0"/>
              </a:rPr>
              <a:t> electrons. Here is the electron configuration diagram for nitrogen:</a:t>
            </a:r>
            <a:endParaRPr lang="en-AU" dirty="0"/>
          </a:p>
        </p:txBody>
      </p:sp>
      <p:pic>
        <p:nvPicPr>
          <p:cNvPr id="27650" name="Picture 2" descr="https://www.educationperfect.com/media/content/Science/1440716278.723391g/1440716278454-477819555-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0475" y="1366967"/>
            <a:ext cx="3800475" cy="240982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49300" y="3916740"/>
            <a:ext cx="10871200" cy="1754326"/>
          </a:xfrm>
          <a:prstGeom prst="rect">
            <a:avLst/>
          </a:prstGeom>
        </p:spPr>
        <p:txBody>
          <a:bodyPr wrap="square">
            <a:spAutoFit/>
          </a:bodyPr>
          <a:lstStyle/>
          <a:p>
            <a:r>
              <a:rPr lang="en-AU" b="0" i="0" dirty="0" smtClean="0">
                <a:solidFill>
                  <a:srgbClr val="444444"/>
                </a:solidFill>
                <a:effectLst/>
                <a:latin typeface="Arial" panose="020B0604020202020204" pitchFamily="34" charset="0"/>
              </a:rPr>
              <a:t>Notice that in the </a:t>
            </a:r>
            <a:r>
              <a:rPr lang="en-AU" b="0" i="0" dirty="0" smtClean="0">
                <a:solidFill>
                  <a:srgbClr val="444444"/>
                </a:solidFill>
                <a:effectLst/>
                <a:latin typeface="KaTeX_Main"/>
              </a:rPr>
              <a:t>2p</a:t>
            </a:r>
            <a:r>
              <a:rPr lang="en-AU" b="0" i="0" dirty="0" smtClean="0">
                <a:solidFill>
                  <a:srgbClr val="444444"/>
                </a:solidFill>
                <a:effectLst/>
                <a:latin typeface="Arial" panose="020B0604020202020204" pitchFamily="34" charset="0"/>
              </a:rPr>
              <a:t> orbitals, </a:t>
            </a:r>
            <a:r>
              <a:rPr lang="en-AU" b="1" i="0" dirty="0" smtClean="0">
                <a:solidFill>
                  <a:srgbClr val="444444"/>
                </a:solidFill>
                <a:effectLst/>
                <a:latin typeface="Arial" panose="020B0604020202020204" pitchFamily="34" charset="0"/>
              </a:rPr>
              <a:t>each electron is in a separate atomic orbital</a:t>
            </a:r>
            <a:r>
              <a:rPr lang="en-AU" b="0" i="0" dirty="0" smtClean="0">
                <a:solidFill>
                  <a:srgbClr val="444444"/>
                </a:solidFill>
                <a:effectLst/>
                <a:latin typeface="Arial" panose="020B0604020202020204" pitchFamily="34" charset="0"/>
              </a:rPr>
              <a:t>. This is because of </a:t>
            </a:r>
            <a:r>
              <a:rPr lang="en-AU" b="1" i="0" dirty="0" smtClean="0">
                <a:solidFill>
                  <a:srgbClr val="0066CC"/>
                </a:solidFill>
                <a:effectLst/>
                <a:latin typeface="Arial" panose="020B0604020202020204" pitchFamily="34" charset="0"/>
              </a:rPr>
              <a:t>Hund's Rule</a:t>
            </a:r>
            <a:r>
              <a:rPr lang="en-AU" b="0" i="0" dirty="0" smtClean="0">
                <a:solidFill>
                  <a:srgbClr val="444444"/>
                </a:solidFill>
                <a:effectLst/>
                <a:latin typeface="Arial" panose="020B0604020202020204" pitchFamily="34" charset="0"/>
              </a:rPr>
              <a:t>, which states that </a:t>
            </a:r>
            <a:r>
              <a:rPr lang="en-AU" b="1" i="0" dirty="0" smtClean="0">
                <a:solidFill>
                  <a:srgbClr val="444444"/>
                </a:solidFill>
                <a:effectLst/>
                <a:latin typeface="Arial" panose="020B0604020202020204" pitchFamily="34" charset="0"/>
              </a:rPr>
              <a:t>each electron is placed into an empty orbital before pairing up</a:t>
            </a:r>
            <a:r>
              <a:rPr lang="en-AU" b="0" i="0" dirty="0" smtClean="0">
                <a:solidFill>
                  <a:srgbClr val="444444"/>
                </a:solidFill>
                <a:effectLst/>
                <a:latin typeface="Arial" panose="020B0604020202020204" pitchFamily="34" charset="0"/>
              </a:rPr>
              <a:t>. Note that this is only for atomic orbitals in the same sublevel, i.e. electrons will still pair up in the </a:t>
            </a:r>
            <a:r>
              <a:rPr lang="en-AU" b="0" i="0" dirty="0" smtClean="0">
                <a:solidFill>
                  <a:srgbClr val="444444"/>
                </a:solidFill>
                <a:effectLst/>
                <a:latin typeface="KaTeX_Main"/>
              </a:rPr>
              <a:t>2s</a:t>
            </a:r>
            <a:r>
              <a:rPr lang="en-AU" b="0" i="0" dirty="0" smtClean="0">
                <a:solidFill>
                  <a:srgbClr val="444444"/>
                </a:solidFill>
                <a:effectLst/>
                <a:latin typeface="Arial" panose="020B0604020202020204" pitchFamily="34" charset="0"/>
              </a:rPr>
              <a:t> orbitals before filling the </a:t>
            </a:r>
            <a:r>
              <a:rPr lang="en-AU" b="0" i="0" dirty="0" smtClean="0">
                <a:solidFill>
                  <a:srgbClr val="444444"/>
                </a:solidFill>
                <a:effectLst/>
                <a:latin typeface="KaTeX_Main"/>
              </a:rPr>
              <a:t>2p</a:t>
            </a:r>
            <a:r>
              <a:rPr lang="en-AU" b="0" i="0" dirty="0" smtClean="0">
                <a:solidFill>
                  <a:srgbClr val="444444"/>
                </a:solidFill>
                <a:effectLst/>
                <a:latin typeface="Arial" panose="020B0604020202020204" pitchFamily="34" charset="0"/>
              </a:rPr>
              <a:t> orbitals. Hund's Rule arises from the consideration of </a:t>
            </a:r>
            <a:r>
              <a:rPr lang="en-AU" b="1" i="0" dirty="0" smtClean="0">
                <a:solidFill>
                  <a:srgbClr val="444444"/>
                </a:solidFill>
                <a:effectLst/>
                <a:latin typeface="Arial" panose="020B0604020202020204" pitchFamily="34" charset="0"/>
              </a:rPr>
              <a:t>energy</a:t>
            </a:r>
            <a:r>
              <a:rPr lang="en-AU" b="0" i="0" dirty="0" smtClean="0">
                <a:solidFill>
                  <a:srgbClr val="444444"/>
                </a:solidFill>
                <a:effectLst/>
                <a:latin typeface="Arial" panose="020B0604020202020204" pitchFamily="34" charset="0"/>
              </a:rPr>
              <a:t>: it requires </a:t>
            </a:r>
            <a:r>
              <a:rPr lang="en-AU" b="1" i="0" dirty="0" smtClean="0">
                <a:solidFill>
                  <a:srgbClr val="444444"/>
                </a:solidFill>
                <a:effectLst/>
                <a:latin typeface="Arial" panose="020B0604020202020204" pitchFamily="34" charset="0"/>
              </a:rPr>
              <a:t>more energy for electrons to pair up</a:t>
            </a:r>
            <a:r>
              <a:rPr lang="en-AU" b="0" i="0" dirty="0" smtClean="0">
                <a:solidFill>
                  <a:srgbClr val="444444"/>
                </a:solidFill>
                <a:effectLst/>
                <a:latin typeface="Arial" panose="020B0604020202020204" pitchFamily="34" charset="0"/>
              </a:rPr>
              <a:t> in the same atomic orbital than to be in separate orbitals. This is because electrons are negatively charged, and </a:t>
            </a:r>
            <a:r>
              <a:rPr lang="en-AU" b="1" i="0" dirty="0" smtClean="0">
                <a:solidFill>
                  <a:srgbClr val="444444"/>
                </a:solidFill>
                <a:effectLst/>
                <a:latin typeface="Arial" panose="020B0604020202020204" pitchFamily="34" charset="0"/>
              </a:rPr>
              <a:t>like charges repel</a:t>
            </a:r>
            <a:r>
              <a:rPr lang="en-AU" b="0" i="0" dirty="0" smtClean="0">
                <a:solidFill>
                  <a:srgbClr val="444444"/>
                </a:solidFill>
                <a:effectLst/>
                <a:latin typeface="Arial" panose="020B0604020202020204" pitchFamily="34" charset="0"/>
              </a:rPr>
              <a:t>!</a:t>
            </a:r>
            <a:endParaRPr lang="en-AU" dirty="0"/>
          </a:p>
        </p:txBody>
      </p:sp>
    </p:spTree>
    <p:extLst>
      <p:ext uri="{BB962C8B-B14F-4D97-AF65-F5344CB8AC3E}">
        <p14:creationId xmlns:p14="http://schemas.microsoft.com/office/powerpoint/2010/main" val="1028118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7800" y="532537"/>
            <a:ext cx="113411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There are some atoms which are </a:t>
            </a:r>
            <a:r>
              <a:rPr lang="en-AU" b="1" i="0" dirty="0" smtClean="0">
                <a:solidFill>
                  <a:srgbClr val="444444"/>
                </a:solidFill>
                <a:effectLst/>
                <a:latin typeface="Arial" panose="020B0604020202020204" pitchFamily="34" charset="0"/>
              </a:rPr>
              <a:t>exceptions</a:t>
            </a:r>
            <a:r>
              <a:rPr lang="en-AU" b="0" i="0" dirty="0" smtClean="0">
                <a:solidFill>
                  <a:srgbClr val="444444"/>
                </a:solidFill>
                <a:effectLst/>
                <a:latin typeface="Arial" panose="020B0604020202020204" pitchFamily="34" charset="0"/>
              </a:rPr>
              <a:t> to the </a:t>
            </a:r>
            <a:r>
              <a:rPr lang="en-AU" b="1" i="0" dirty="0" err="1" smtClean="0">
                <a:solidFill>
                  <a:srgbClr val="0066CC"/>
                </a:solidFill>
                <a:effectLst/>
                <a:latin typeface="Arial" panose="020B0604020202020204" pitchFamily="34" charset="0"/>
              </a:rPr>
              <a:t>Aufbau</a:t>
            </a:r>
            <a:r>
              <a:rPr lang="en-AU" b="1" i="0" dirty="0" smtClean="0">
                <a:solidFill>
                  <a:srgbClr val="0066CC"/>
                </a:solidFill>
                <a:effectLst/>
                <a:latin typeface="Arial" panose="020B0604020202020204" pitchFamily="34" charset="0"/>
              </a:rPr>
              <a:t> Principle</a:t>
            </a:r>
            <a:r>
              <a:rPr lang="en-AU" b="0" i="0" dirty="0" smtClean="0">
                <a:solidFill>
                  <a:srgbClr val="444444"/>
                </a:solidFill>
                <a:effectLst/>
                <a:latin typeface="Arial" panose="020B0604020202020204" pitchFamily="34" charset="0"/>
              </a:rPr>
              <a:t>, in which a </a:t>
            </a:r>
            <a:r>
              <a:rPr lang="en-AU" b="0" i="1" dirty="0" smtClean="0">
                <a:solidFill>
                  <a:srgbClr val="444444"/>
                </a:solidFill>
                <a:effectLst/>
                <a:latin typeface="Arial" panose="020B0604020202020204" pitchFamily="34" charset="0"/>
              </a:rPr>
              <a:t>lower energy</a:t>
            </a:r>
            <a:r>
              <a:rPr lang="en-AU" b="0" i="0" dirty="0" smtClean="0">
                <a:solidFill>
                  <a:srgbClr val="444444"/>
                </a:solidFill>
                <a:effectLst/>
                <a:latin typeface="Arial" panose="020B0604020202020204" pitchFamily="34" charset="0"/>
              </a:rPr>
              <a:t> atomic orbital is </a:t>
            </a:r>
            <a:r>
              <a:rPr lang="en-AU" b="1" i="0" dirty="0" smtClean="0">
                <a:solidFill>
                  <a:srgbClr val="444444"/>
                </a:solidFill>
                <a:effectLst/>
                <a:latin typeface="Arial" panose="020B0604020202020204" pitchFamily="34" charset="0"/>
              </a:rPr>
              <a:t>not</a:t>
            </a:r>
            <a:r>
              <a:rPr lang="en-AU" b="0" i="0" dirty="0" smtClean="0">
                <a:solidFill>
                  <a:srgbClr val="444444"/>
                </a:solidFill>
                <a:effectLst/>
                <a:latin typeface="Arial" panose="020B0604020202020204" pitchFamily="34" charset="0"/>
              </a:rPr>
              <a:t> completely filled before a </a:t>
            </a:r>
            <a:r>
              <a:rPr lang="en-AU" b="0" i="1" dirty="0" smtClean="0">
                <a:solidFill>
                  <a:srgbClr val="444444"/>
                </a:solidFill>
                <a:effectLst/>
                <a:latin typeface="Arial" panose="020B0604020202020204" pitchFamily="34" charset="0"/>
              </a:rPr>
              <a:t>higher energy</a:t>
            </a:r>
            <a:r>
              <a:rPr lang="en-AU" b="0" i="0" dirty="0" smtClean="0">
                <a:solidFill>
                  <a:srgbClr val="444444"/>
                </a:solidFill>
                <a:effectLst/>
                <a:latin typeface="Arial" panose="020B0604020202020204" pitchFamily="34" charset="0"/>
              </a:rPr>
              <a:t> atomic orbital is filled. The two exceptions to the rule are </a:t>
            </a:r>
            <a:r>
              <a:rPr lang="en-AU" b="1" i="0" dirty="0" smtClean="0">
                <a:solidFill>
                  <a:srgbClr val="E04E50"/>
                </a:solidFill>
                <a:effectLst/>
                <a:latin typeface="Arial" panose="020B0604020202020204" pitchFamily="34" charset="0"/>
              </a:rPr>
              <a:t>chromium</a:t>
            </a:r>
            <a:r>
              <a:rPr lang="en-AU" b="0" i="0" dirty="0" smtClean="0">
                <a:solidFill>
                  <a:srgbClr val="444444"/>
                </a:solidFill>
                <a:effectLst/>
                <a:latin typeface="Arial" panose="020B0604020202020204" pitchFamily="34" charset="0"/>
              </a:rPr>
              <a:t> and </a:t>
            </a:r>
            <a:r>
              <a:rPr lang="en-AU" b="1" i="0" dirty="0" smtClean="0">
                <a:solidFill>
                  <a:srgbClr val="E04E50"/>
                </a:solidFill>
                <a:effectLst/>
                <a:latin typeface="Arial" panose="020B0604020202020204" pitchFamily="34" charset="0"/>
              </a:rPr>
              <a:t>copper</a:t>
            </a:r>
            <a:r>
              <a:rPr lang="en-AU" b="0" i="0" dirty="0" smtClean="0">
                <a:solidFill>
                  <a:srgbClr val="444444"/>
                </a:solidFill>
                <a:effectLst/>
                <a:latin typeface="Arial" panose="020B0604020202020204" pitchFamily="34" charset="0"/>
              </a:rPr>
              <a:t>. Experimentally, they have the electron configurations shown below:</a:t>
            </a:r>
            <a:endParaRPr lang="en-AU" dirty="0"/>
          </a:p>
        </p:txBody>
      </p:sp>
      <p:pic>
        <p:nvPicPr>
          <p:cNvPr id="3" name="Picture 2"/>
          <p:cNvPicPr>
            <a:picLocks noChangeAspect="1"/>
          </p:cNvPicPr>
          <p:nvPr/>
        </p:nvPicPr>
        <p:blipFill>
          <a:blip r:embed="rId2"/>
          <a:stretch>
            <a:fillRect/>
          </a:stretch>
        </p:blipFill>
        <p:spPr>
          <a:xfrm>
            <a:off x="4250530" y="1804987"/>
            <a:ext cx="3195639" cy="1484313"/>
          </a:xfrm>
          <a:prstGeom prst="rect">
            <a:avLst/>
          </a:prstGeom>
        </p:spPr>
      </p:pic>
      <p:sp>
        <p:nvSpPr>
          <p:cNvPr id="4" name="Rectangle 3"/>
          <p:cNvSpPr/>
          <p:nvPr/>
        </p:nvSpPr>
        <p:spPr>
          <a:xfrm>
            <a:off x="533400" y="3772238"/>
            <a:ext cx="11239500" cy="1200329"/>
          </a:xfrm>
          <a:prstGeom prst="rect">
            <a:avLst/>
          </a:prstGeom>
        </p:spPr>
        <p:txBody>
          <a:bodyPr wrap="square">
            <a:spAutoFit/>
          </a:bodyPr>
          <a:lstStyle/>
          <a:p>
            <a:r>
              <a:rPr lang="en-AU" b="0" i="0" dirty="0" smtClean="0">
                <a:solidFill>
                  <a:srgbClr val="444444"/>
                </a:solidFill>
                <a:effectLst/>
                <a:latin typeface="Arial" panose="020B0604020202020204" pitchFamily="34" charset="0"/>
              </a:rPr>
              <a:t>Both of these atoms have an electron placed in the </a:t>
            </a:r>
            <a:r>
              <a:rPr lang="en-AU" b="0" i="0" dirty="0" smtClean="0">
                <a:solidFill>
                  <a:srgbClr val="444444"/>
                </a:solidFill>
                <a:effectLst/>
                <a:latin typeface="KaTeX_Main"/>
              </a:rPr>
              <a:t>3d</a:t>
            </a:r>
            <a:r>
              <a:rPr lang="en-AU" b="0" i="0" dirty="0" smtClean="0">
                <a:solidFill>
                  <a:srgbClr val="444444"/>
                </a:solidFill>
                <a:effectLst/>
                <a:latin typeface="Arial" panose="020B0604020202020204" pitchFamily="34" charset="0"/>
              </a:rPr>
              <a:t> orbital (higher energy) </a:t>
            </a:r>
            <a:r>
              <a:rPr lang="en-AU" b="0" i="1" dirty="0" smtClean="0">
                <a:solidFill>
                  <a:srgbClr val="444444"/>
                </a:solidFill>
                <a:effectLst/>
                <a:latin typeface="Arial" panose="020B0604020202020204" pitchFamily="34" charset="0"/>
              </a:rPr>
              <a:t>before</a:t>
            </a:r>
            <a:r>
              <a:rPr lang="en-AU" b="0" i="0" dirty="0" smtClean="0">
                <a:solidFill>
                  <a:srgbClr val="444444"/>
                </a:solidFill>
                <a:effectLst/>
                <a:latin typeface="Arial" panose="020B0604020202020204" pitchFamily="34" charset="0"/>
              </a:rPr>
              <a:t> the 4</a:t>
            </a:r>
            <a:r>
              <a:rPr lang="en-AU" b="0" i="0" dirty="0" smtClean="0">
                <a:solidFill>
                  <a:srgbClr val="444444"/>
                </a:solidFill>
                <a:effectLst/>
                <a:latin typeface="KaTeX_Main"/>
              </a:rPr>
              <a:t>s</a:t>
            </a:r>
            <a:r>
              <a:rPr lang="en-AU" b="0" i="0" dirty="0" smtClean="0">
                <a:solidFill>
                  <a:srgbClr val="444444"/>
                </a:solidFill>
                <a:effectLst/>
                <a:latin typeface="Arial" panose="020B0604020202020204" pitchFamily="34" charset="0"/>
              </a:rPr>
              <a:t> orbital (lower energy). This is because </a:t>
            </a:r>
            <a:r>
              <a:rPr lang="en-AU" b="1" i="0" dirty="0" smtClean="0">
                <a:solidFill>
                  <a:srgbClr val="444444"/>
                </a:solidFill>
                <a:effectLst/>
                <a:latin typeface="Arial" panose="020B0604020202020204" pitchFamily="34" charset="0"/>
              </a:rPr>
              <a:t>both full and half-full sets of orbitals result in a lower overall energy of the atom</a:t>
            </a:r>
            <a:r>
              <a:rPr lang="en-AU" b="0" i="0" dirty="0" smtClean="0">
                <a:solidFill>
                  <a:srgbClr val="444444"/>
                </a:solidFill>
                <a:effectLst/>
                <a:latin typeface="Arial" panose="020B0604020202020204" pitchFamily="34" charset="0"/>
              </a:rPr>
              <a:t> (i.e. a more stable atom). Remember Hund's Rule: electrons have </a:t>
            </a:r>
            <a:r>
              <a:rPr lang="en-AU" b="1" i="0" dirty="0" smtClean="0">
                <a:solidFill>
                  <a:srgbClr val="444444"/>
                </a:solidFill>
                <a:effectLst/>
                <a:latin typeface="Arial" panose="020B0604020202020204" pitchFamily="34" charset="0"/>
              </a:rPr>
              <a:t>lower energy</a:t>
            </a:r>
            <a:r>
              <a:rPr lang="en-AU" b="0" i="0" dirty="0" smtClean="0">
                <a:solidFill>
                  <a:srgbClr val="444444"/>
                </a:solidFill>
                <a:effectLst/>
                <a:latin typeface="Arial" panose="020B0604020202020204" pitchFamily="34" charset="0"/>
              </a:rPr>
              <a:t> when they are </a:t>
            </a:r>
            <a:r>
              <a:rPr lang="en-AU" b="1" i="0" dirty="0" smtClean="0">
                <a:solidFill>
                  <a:srgbClr val="444444"/>
                </a:solidFill>
                <a:effectLst/>
                <a:latin typeface="Arial" panose="020B0604020202020204" pitchFamily="34" charset="0"/>
              </a:rPr>
              <a:t>unpaired</a:t>
            </a:r>
            <a:r>
              <a:rPr lang="en-AU" b="0" i="0" dirty="0" smtClean="0">
                <a:solidFill>
                  <a:srgbClr val="444444"/>
                </a:solidFill>
                <a:effectLst/>
                <a:latin typeface="Arial" panose="020B0604020202020204" pitchFamily="34" charset="0"/>
              </a:rPr>
              <a:t>.</a:t>
            </a:r>
            <a:endParaRPr lang="en-AU" dirty="0"/>
          </a:p>
        </p:txBody>
      </p:sp>
    </p:spTree>
    <p:extLst>
      <p:ext uri="{BB962C8B-B14F-4D97-AF65-F5344CB8AC3E}">
        <p14:creationId xmlns:p14="http://schemas.microsoft.com/office/powerpoint/2010/main" val="34623101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Electron Configuration of Ions</a:t>
            </a:r>
            <a:endParaRPr lang="en-AU" dirty="0"/>
          </a:p>
        </p:txBody>
      </p:sp>
      <p:sp>
        <p:nvSpPr>
          <p:cNvPr id="3" name="Text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5711491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35000" y="1188135"/>
            <a:ext cx="10845800" cy="369332"/>
          </a:xfrm>
          <a:prstGeom prst="rect">
            <a:avLst/>
          </a:prstGeom>
        </p:spPr>
        <p:txBody>
          <a:bodyPr wrap="square">
            <a:spAutoFit/>
          </a:bodyPr>
          <a:lstStyle/>
          <a:p>
            <a:r>
              <a:rPr lang="en-AU" b="0" i="0" dirty="0" smtClean="0">
                <a:solidFill>
                  <a:srgbClr val="444444"/>
                </a:solidFill>
                <a:effectLst/>
                <a:latin typeface="Arial" panose="020B0604020202020204" pitchFamily="34" charset="0"/>
              </a:rPr>
              <a:t>In this Smart Lesson you will learn how to determine the </a:t>
            </a:r>
            <a:r>
              <a:rPr lang="en-AU" b="1" i="0" dirty="0" smtClean="0">
                <a:solidFill>
                  <a:srgbClr val="0066CC"/>
                </a:solidFill>
                <a:effectLst/>
                <a:latin typeface="Arial" panose="020B0604020202020204" pitchFamily="34" charset="0"/>
              </a:rPr>
              <a:t>electronic configuration of ions.</a:t>
            </a:r>
            <a:endParaRPr lang="en-AU" dirty="0"/>
          </a:p>
        </p:txBody>
      </p:sp>
      <p:pic>
        <p:nvPicPr>
          <p:cNvPr id="28674" name="Picture 2" descr="https://www.educationperfect.com/media/content/Science/1503893935.528891g/1503893937372-4099902696298926-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074" y="2578099"/>
            <a:ext cx="3768725" cy="376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46153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87400" y="1228636"/>
            <a:ext cx="109093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You have already looked at how to determine the </a:t>
            </a:r>
            <a:r>
              <a:rPr lang="en-AU" b="1" i="0" dirty="0" smtClean="0">
                <a:solidFill>
                  <a:srgbClr val="0066CC"/>
                </a:solidFill>
                <a:effectLst/>
                <a:latin typeface="Arial" panose="020B0604020202020204" pitchFamily="34" charset="0"/>
              </a:rPr>
              <a:t>electron configuration of an atom,</a:t>
            </a:r>
            <a:r>
              <a:rPr lang="en-AU" b="0" i="0" dirty="0" smtClean="0">
                <a:solidFill>
                  <a:srgbClr val="0066CC"/>
                </a:solidFill>
                <a:effectLst/>
                <a:latin typeface="Arial" panose="020B0604020202020204" pitchFamily="34" charset="0"/>
              </a:rPr>
              <a:t> </a:t>
            </a:r>
            <a:r>
              <a:rPr lang="en-AU" b="0" i="0" dirty="0" smtClean="0">
                <a:solidFill>
                  <a:srgbClr val="444444"/>
                </a:solidFill>
                <a:effectLst/>
                <a:latin typeface="Arial" panose="020B0604020202020204" pitchFamily="34" charset="0"/>
              </a:rPr>
              <a:t>for example if you look at oxygen on the periodic table, you will see that it has an atomic number of </a:t>
            </a:r>
            <a:r>
              <a:rPr lang="en-AU" b="0" i="0" dirty="0" smtClean="0">
                <a:solidFill>
                  <a:srgbClr val="444444"/>
                </a:solidFill>
                <a:effectLst/>
                <a:latin typeface="KaTeX_Main"/>
              </a:rPr>
              <a:t>8</a:t>
            </a:r>
            <a:r>
              <a:rPr lang="en-AU" b="0" i="0" dirty="0" smtClean="0">
                <a:solidFill>
                  <a:srgbClr val="444444"/>
                </a:solidFill>
                <a:effectLst/>
                <a:latin typeface="Arial" panose="020B0604020202020204" pitchFamily="34" charset="0"/>
              </a:rPr>
              <a:t>.</a:t>
            </a:r>
            <a:endParaRPr lang="en-AU" dirty="0"/>
          </a:p>
        </p:txBody>
      </p:sp>
      <p:pic>
        <p:nvPicPr>
          <p:cNvPr id="29698" name="Picture 2" descr="https://www.educationperfect.com/media/content/Science/1454994948.866181g/1454994967234-863118514223567-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6675" y="1993900"/>
            <a:ext cx="1657350" cy="190500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876300" y="4152037"/>
            <a:ext cx="10820400" cy="1200329"/>
          </a:xfrm>
          <a:prstGeom prst="rect">
            <a:avLst/>
          </a:prstGeom>
        </p:spPr>
        <p:txBody>
          <a:bodyPr wrap="square">
            <a:spAutoFit/>
          </a:bodyPr>
          <a:lstStyle/>
          <a:p>
            <a:pPr algn="ctr"/>
            <a:r>
              <a:rPr lang="en-AU" b="0" i="0" dirty="0" smtClean="0">
                <a:solidFill>
                  <a:srgbClr val="444444"/>
                </a:solidFill>
                <a:effectLst/>
                <a:latin typeface="Arial" panose="020B0604020202020204" pitchFamily="34" charset="0"/>
              </a:rPr>
              <a:t>This means it has </a:t>
            </a:r>
            <a:r>
              <a:rPr lang="en-AU" b="0" i="0" dirty="0" smtClean="0">
                <a:solidFill>
                  <a:srgbClr val="444444"/>
                </a:solidFill>
                <a:effectLst/>
                <a:latin typeface="KaTeX_Main"/>
              </a:rPr>
              <a:t>{8}8</a:t>
            </a:r>
            <a:r>
              <a:rPr lang="en-AU" b="0" i="0" dirty="0" smtClean="0">
                <a:solidFill>
                  <a:srgbClr val="444444"/>
                </a:solidFill>
                <a:effectLst/>
                <a:latin typeface="Arial" panose="020B0604020202020204" pitchFamily="34" charset="0"/>
              </a:rPr>
              <a:t> protons, and in the uncharged atom, it will have </a:t>
            </a:r>
            <a:r>
              <a:rPr lang="en-AU" b="0" i="0" dirty="0" smtClean="0">
                <a:solidFill>
                  <a:srgbClr val="444444"/>
                </a:solidFill>
                <a:effectLst/>
                <a:latin typeface="KaTeX_Main"/>
              </a:rPr>
              <a:t>8</a:t>
            </a:r>
            <a:r>
              <a:rPr lang="en-AU" b="0" i="0" dirty="0" smtClean="0">
                <a:solidFill>
                  <a:srgbClr val="444444"/>
                </a:solidFill>
                <a:effectLst/>
                <a:latin typeface="Arial" panose="020B0604020202020204" pitchFamily="34" charset="0"/>
              </a:rPr>
              <a:t> electrons, in the electron configuration </a:t>
            </a:r>
            <a:r>
              <a:rPr lang="en-AU" b="0" i="0" dirty="0" smtClean="0">
                <a:solidFill>
                  <a:srgbClr val="444444"/>
                </a:solidFill>
                <a:effectLst/>
                <a:latin typeface="KaTeX_Main"/>
              </a:rPr>
              <a:t>2,6</a:t>
            </a:r>
            <a:endParaRPr lang="en-AU" b="0" i="0" dirty="0" smtClean="0">
              <a:solidFill>
                <a:srgbClr val="444444"/>
              </a:solidFill>
              <a:effectLst/>
              <a:latin typeface="Arial" panose="020B0604020202020204" pitchFamily="34" charset="0"/>
            </a:endParaRPr>
          </a:p>
          <a:p>
            <a:pPr algn="ctr"/>
            <a:r>
              <a:rPr lang="en-AU" b="0" i="0" dirty="0" smtClean="0">
                <a:solidFill>
                  <a:srgbClr val="444444"/>
                </a:solidFill>
                <a:effectLst/>
                <a:latin typeface="Arial" panose="020B0604020202020204" pitchFamily="34" charset="0"/>
              </a:rPr>
              <a:t> </a:t>
            </a:r>
          </a:p>
          <a:p>
            <a:pPr algn="ctr"/>
            <a:r>
              <a:rPr lang="en-AU" b="0" i="0" dirty="0" smtClean="0">
                <a:solidFill>
                  <a:srgbClr val="444444"/>
                </a:solidFill>
                <a:effectLst/>
                <a:latin typeface="Arial" panose="020B0604020202020204" pitchFamily="34" charset="0"/>
              </a:rPr>
              <a:t>This is because the first shell only holds </a:t>
            </a:r>
            <a:r>
              <a:rPr lang="en-AU" b="0" i="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electrons. The remaining electrons are in the second shell.</a:t>
            </a:r>
            <a:endParaRPr lang="en-AU"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9269980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71500" y="759936"/>
            <a:ext cx="108077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When an atom becomes an ion, it loses or gains electrons to attain a full outer shell. As oxygen is a non-metal, it will gain </a:t>
            </a:r>
            <a:r>
              <a:rPr lang="en-AU" b="0" i="0" dirty="0" smtClean="0">
                <a:solidFill>
                  <a:srgbClr val="444444"/>
                </a:solidFill>
                <a:effectLst/>
                <a:latin typeface="KaTeX_Main"/>
              </a:rPr>
              <a:t>2</a:t>
            </a:r>
            <a:r>
              <a:rPr lang="en-AU" b="0" i="0" dirty="0" smtClean="0">
                <a:solidFill>
                  <a:srgbClr val="444444"/>
                </a:solidFill>
                <a:effectLst/>
                <a:latin typeface="Arial" panose="020B0604020202020204" pitchFamily="34" charset="0"/>
              </a:rPr>
              <a:t> electrons to have a full outer shell. This means the </a:t>
            </a:r>
            <a:r>
              <a:rPr lang="en-AU" b="1" i="0" dirty="0" smtClean="0">
                <a:solidFill>
                  <a:srgbClr val="0066CC"/>
                </a:solidFill>
                <a:effectLst/>
                <a:latin typeface="Arial" panose="020B0604020202020204" pitchFamily="34" charset="0"/>
              </a:rPr>
              <a:t>electron configuration of the oxygen ion</a:t>
            </a:r>
            <a:r>
              <a:rPr lang="en-AU" b="0" i="0" dirty="0" smtClean="0">
                <a:solidFill>
                  <a:srgbClr val="444444"/>
                </a:solidFill>
                <a:effectLst/>
                <a:latin typeface="Arial" panose="020B0604020202020204" pitchFamily="34" charset="0"/>
              </a:rPr>
              <a:t> is </a:t>
            </a:r>
            <a:r>
              <a:rPr lang="en-AU" b="0" i="0" dirty="0" smtClean="0">
                <a:solidFill>
                  <a:srgbClr val="444444"/>
                </a:solidFill>
                <a:effectLst/>
                <a:latin typeface="KaTeX_Main"/>
              </a:rPr>
              <a:t>2,8</a:t>
            </a:r>
            <a:endParaRPr lang="en-AU" dirty="0"/>
          </a:p>
        </p:txBody>
      </p:sp>
      <p:pic>
        <p:nvPicPr>
          <p:cNvPr id="30722" name="Picture 2" descr="https://www.educationperfect.com/media/content/Science/1509319914.999651g/1509319915854-1760603141497295-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7825" y="3157537"/>
            <a:ext cx="6115050" cy="22098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808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90600" y="682536"/>
            <a:ext cx="10198100" cy="923330"/>
          </a:xfrm>
          <a:prstGeom prst="rect">
            <a:avLst/>
          </a:prstGeom>
        </p:spPr>
        <p:txBody>
          <a:bodyPr wrap="square">
            <a:spAutoFit/>
          </a:bodyPr>
          <a:lstStyle/>
          <a:p>
            <a:r>
              <a:rPr lang="en-AU" b="0" i="0" dirty="0" smtClean="0">
                <a:solidFill>
                  <a:srgbClr val="444444"/>
                </a:solidFill>
                <a:effectLst/>
                <a:latin typeface="Arial" panose="020B0604020202020204" pitchFamily="34" charset="0"/>
              </a:rPr>
              <a:t>Another example would be the</a:t>
            </a:r>
            <a:r>
              <a:rPr lang="en-AU" b="1" i="0" dirty="0" smtClean="0">
                <a:solidFill>
                  <a:srgbClr val="0066CC"/>
                </a:solidFill>
                <a:effectLst/>
                <a:latin typeface="Arial" panose="020B0604020202020204" pitchFamily="34" charset="0"/>
              </a:rPr>
              <a:t> formation of a sodium ion. </a:t>
            </a:r>
            <a:r>
              <a:rPr lang="en-AU" b="0" i="0" dirty="0" smtClean="0">
                <a:solidFill>
                  <a:srgbClr val="444444"/>
                </a:solidFill>
                <a:effectLst/>
                <a:latin typeface="Arial" panose="020B0604020202020204" pitchFamily="34" charset="0"/>
              </a:rPr>
              <a:t>If you look at the periodic table, you will see sodium has an atomic number of </a:t>
            </a:r>
            <a:r>
              <a:rPr lang="en-AU" b="0" i="0" dirty="0" smtClean="0">
                <a:solidFill>
                  <a:srgbClr val="444444"/>
                </a:solidFill>
                <a:effectLst/>
                <a:latin typeface="KaTeX_Main"/>
              </a:rPr>
              <a:t>11</a:t>
            </a:r>
            <a:r>
              <a:rPr lang="en-AU" b="0" i="0" dirty="0" smtClean="0">
                <a:solidFill>
                  <a:srgbClr val="444444"/>
                </a:solidFill>
                <a:effectLst/>
                <a:latin typeface="Arial" panose="020B0604020202020204" pitchFamily="34" charset="0"/>
              </a:rPr>
              <a:t>, which means the atom has </a:t>
            </a:r>
            <a:r>
              <a:rPr lang="en-AU" b="0" i="0" dirty="0" smtClean="0">
                <a:solidFill>
                  <a:srgbClr val="444444"/>
                </a:solidFill>
                <a:effectLst/>
                <a:latin typeface="KaTeX_Main"/>
              </a:rPr>
              <a:t>11</a:t>
            </a:r>
            <a:r>
              <a:rPr lang="en-AU" b="0" i="0" dirty="0" smtClean="0">
                <a:solidFill>
                  <a:srgbClr val="444444"/>
                </a:solidFill>
                <a:effectLst/>
                <a:latin typeface="Arial" panose="020B0604020202020204" pitchFamily="34" charset="0"/>
              </a:rPr>
              <a:t> electrons, arranged </a:t>
            </a:r>
            <a:r>
              <a:rPr lang="en-AU" b="0" i="0" dirty="0" smtClean="0">
                <a:solidFill>
                  <a:srgbClr val="444444"/>
                </a:solidFill>
                <a:effectLst/>
                <a:latin typeface="KaTeX_Main"/>
              </a:rPr>
              <a:t>2,8,1</a:t>
            </a:r>
            <a:r>
              <a:rPr lang="en-AU" b="0" i="0" dirty="0" smtClean="0">
                <a:solidFill>
                  <a:srgbClr val="444444"/>
                </a:solidFill>
                <a:effectLst/>
                <a:latin typeface="Arial" panose="020B0604020202020204" pitchFamily="34" charset="0"/>
              </a:rPr>
              <a:t>.</a:t>
            </a:r>
            <a:endParaRPr lang="en-AU" dirty="0"/>
          </a:p>
        </p:txBody>
      </p:sp>
      <p:pic>
        <p:nvPicPr>
          <p:cNvPr id="31746" name="Picture 2" descr="https://www.educationperfect.com/media/content/Science/1454993813.751161g/1454993817870-863118514223567-2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5375" y="1605866"/>
            <a:ext cx="1876425" cy="1895476"/>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90600" y="3824507"/>
            <a:ext cx="10604500" cy="646331"/>
          </a:xfrm>
          <a:prstGeom prst="rect">
            <a:avLst/>
          </a:prstGeom>
        </p:spPr>
        <p:txBody>
          <a:bodyPr wrap="square">
            <a:spAutoFit/>
          </a:bodyPr>
          <a:lstStyle/>
          <a:p>
            <a:r>
              <a:rPr lang="en-AU" b="0" i="0" dirty="0" smtClean="0">
                <a:solidFill>
                  <a:srgbClr val="444444"/>
                </a:solidFill>
                <a:effectLst/>
                <a:latin typeface="Arial" panose="020B0604020202020204" pitchFamily="34" charset="0"/>
              </a:rPr>
              <a:t>To become an ion, sodium is a metal, so loses its outer electron, forming an electron configuration of </a:t>
            </a:r>
            <a:r>
              <a:rPr lang="en-AU" b="0" i="0" dirty="0" smtClean="0">
                <a:solidFill>
                  <a:srgbClr val="444444"/>
                </a:solidFill>
                <a:effectLst/>
                <a:latin typeface="KaTeX_Main"/>
              </a:rPr>
              <a:t>2,8</a:t>
            </a:r>
            <a:r>
              <a:rPr lang="en-AU" b="0" i="0" dirty="0" smtClean="0">
                <a:solidFill>
                  <a:srgbClr val="444444"/>
                </a:solidFill>
                <a:effectLst/>
                <a:latin typeface="Arial" panose="020B0604020202020204" pitchFamily="34" charset="0"/>
              </a:rPr>
              <a:t>. Notice how the electrons in ions are noble gas configurations.</a:t>
            </a:r>
            <a:endParaRPr lang="en-AU" dirty="0"/>
          </a:p>
        </p:txBody>
      </p:sp>
      <p:pic>
        <p:nvPicPr>
          <p:cNvPr id="31748" name="Picture 4" descr="https://www.educationperfect.com/media/content/Science/1496188614.922491g/1496188635007-3842176516862800-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9100" y="4505545"/>
            <a:ext cx="6667500" cy="2428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1067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19112" y="306387"/>
            <a:ext cx="10646488" cy="2817813"/>
          </a:xfrm>
          <a:prstGeom prst="rect">
            <a:avLst/>
          </a:prstGeom>
        </p:spPr>
      </p:pic>
      <p:pic>
        <p:nvPicPr>
          <p:cNvPr id="32770" name="Picture 2" descr="https://www.educationperfect.com/media/content/Science/1440560181.898111g/1440560182107-2068725348-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7475" y="2895600"/>
            <a:ext cx="6667500"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9407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95312" y="357187"/>
            <a:ext cx="11228519" cy="5281613"/>
          </a:xfrm>
          <a:prstGeom prst="rect">
            <a:avLst/>
          </a:prstGeom>
        </p:spPr>
      </p:pic>
    </p:spTree>
    <p:extLst>
      <p:ext uri="{BB962C8B-B14F-4D97-AF65-F5344CB8AC3E}">
        <p14:creationId xmlns:p14="http://schemas.microsoft.com/office/powerpoint/2010/main" val="20440459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17537" y="96837"/>
            <a:ext cx="10571163" cy="6163308"/>
          </a:xfrm>
          <a:prstGeom prst="rect">
            <a:avLst/>
          </a:prstGeom>
        </p:spPr>
      </p:pic>
    </p:spTree>
    <p:extLst>
      <p:ext uri="{BB962C8B-B14F-4D97-AF65-F5344CB8AC3E}">
        <p14:creationId xmlns:p14="http://schemas.microsoft.com/office/powerpoint/2010/main" val="14490079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391</Words>
  <Application>Microsoft Office PowerPoint</Application>
  <PresentationFormat>Widescreen</PresentationFormat>
  <Paragraphs>121</Paragraphs>
  <Slides>44</Slides>
  <Notes>0</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Calibri Light</vt:lpstr>
      <vt:lpstr>KaTeX_Main</vt:lpstr>
      <vt:lpstr>Office Theme</vt:lpstr>
      <vt:lpstr>Electron Configuration</vt:lpstr>
      <vt:lpstr>Electron Configuration Revision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Electron Configuration of atoms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Electron Configuration of 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Electron Configuration</dc:title>
  <dc:creator>Joseph D'cruz</dc:creator>
  <cp:lastModifiedBy>Joseph D'cruz</cp:lastModifiedBy>
  <cp:revision>4</cp:revision>
  <dcterms:created xsi:type="dcterms:W3CDTF">2021-12-18T12:53:06Z</dcterms:created>
  <dcterms:modified xsi:type="dcterms:W3CDTF">2021-12-18T13:16:14Z</dcterms:modified>
</cp:coreProperties>
</file>
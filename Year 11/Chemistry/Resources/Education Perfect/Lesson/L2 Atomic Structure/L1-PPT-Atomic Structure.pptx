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67" r:id="rId15"/>
    <p:sldId id="268" r:id="rId16"/>
    <p:sldId id="271" r:id="rId17"/>
    <p:sldId id="272" r:id="rId18"/>
    <p:sldId id="273" r:id="rId19"/>
    <p:sldId id="274" r:id="rId20"/>
    <p:sldId id="275" r:id="rId21"/>
    <p:sldId id="283" r:id="rId22"/>
    <p:sldId id="282" r:id="rId23"/>
    <p:sldId id="277" r:id="rId24"/>
    <p:sldId id="278" r:id="rId25"/>
    <p:sldId id="279" r:id="rId26"/>
    <p:sldId id="280" r:id="rId27"/>
    <p:sldId id="281" r:id="rId28"/>
    <p:sldId id="288" r:id="rId29"/>
    <p:sldId id="276" r:id="rId30"/>
    <p:sldId id="284" r:id="rId31"/>
    <p:sldId id="285" r:id="rId32"/>
    <p:sldId id="286" r:id="rId33"/>
    <p:sldId id="28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57EC5-B306-4A02-9E12-2981B5CFF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1503D0-FBDA-4FE7-A5C1-8ECE995B7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C2D37-7B3C-4C17-9000-FF6A82073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430C-7111-4C8A-98F9-A62834FC1B4A}" type="datetimeFigureOut">
              <a:rPr lang="en-AU" smtClean="0"/>
              <a:t>14/12/2021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DC0CE-59A8-4394-8018-C87D1916B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43D64-F413-4B0E-9786-B559D0554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3F0DF-1447-4FAF-B6ED-A34D89D63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8748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4C59B-F37F-431C-8919-61DD5C091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B507E-2E3D-438E-AF64-744793BC2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145A3-DF7B-4ECD-83EF-F5D4D75AC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430C-7111-4C8A-98F9-A62834FC1B4A}" type="datetimeFigureOut">
              <a:rPr lang="en-AU" smtClean="0"/>
              <a:t>14/12/2021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4B8D9-D905-4732-ADD2-FA64868EB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B0D40-1CE3-4CD7-A772-AEEBEB0D1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3F0DF-1447-4FAF-B6ED-A34D89D63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416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9A5AB-46D6-431F-A975-5DE347881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A80A4-0A2F-4D8A-869B-AB21E3E44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E4757-66FC-4316-89EF-D9DD61EDA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430C-7111-4C8A-98F9-A62834FC1B4A}" type="datetimeFigureOut">
              <a:rPr lang="en-AU" smtClean="0"/>
              <a:t>14/12/2021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F8829-8BEC-4BE3-8FDE-12F83F4C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F761E-D8D0-4ACA-942B-8F76DCD9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3F0DF-1447-4FAF-B6ED-A34D89D63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40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AEE14-9A5A-4EC9-9D3B-2E3C571AA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DEE18-497E-421C-95ED-0A021CE3B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C9840-E652-4705-AA9D-44A499E60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B015D-3CF2-4269-987D-C92C45C37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430C-7111-4C8A-98F9-A62834FC1B4A}" type="datetimeFigureOut">
              <a:rPr lang="en-AU" smtClean="0"/>
              <a:t>14/12/2021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BF35A-DEF0-44F3-BB75-1FD888A1A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9914F-2EE8-49F7-A9AE-133D1D4FB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3F0DF-1447-4FAF-B6ED-A34D89D63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543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98416-C731-4ACA-9F5E-BDE5F4B01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4E0A8-911C-408A-A197-CD5C25DDC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E4D0C-5358-49CE-A850-0B28555CE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798527-24D8-4444-AD00-70C8F73AE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79CFE5-483E-4297-B71F-4B079E2E3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AE32ED-F804-441E-9B1E-20047CAE3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430C-7111-4C8A-98F9-A62834FC1B4A}" type="datetimeFigureOut">
              <a:rPr lang="en-AU" smtClean="0"/>
              <a:t>14/12/2021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50E25D-D78D-4AAA-9E5B-FB0F90AD9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F329D0-F695-4D72-B6BB-71618B8C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3F0DF-1447-4FAF-B6ED-A34D89D63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4440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E2D46-E438-4FBC-8A76-4CC0A7AB2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113FC-2D99-44D0-940E-A419CC163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430C-7111-4C8A-98F9-A62834FC1B4A}" type="datetimeFigureOut">
              <a:rPr lang="en-AU" smtClean="0"/>
              <a:t>14/12/2021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82046D-680D-426D-88AE-45647270C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B2735-C0A9-4E86-9792-B6DBB8BD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3F0DF-1447-4FAF-B6ED-A34D89D63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5076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4CF816-03A6-4E42-9810-B90BF9FF2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430C-7111-4C8A-98F9-A62834FC1B4A}" type="datetimeFigureOut">
              <a:rPr lang="en-AU" smtClean="0"/>
              <a:t>14/12/2021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40009F-A1C8-4020-A192-BD183469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CE364-2839-4B03-A092-B13662E6D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3F0DF-1447-4FAF-B6ED-A34D89D63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565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F1D7-4C56-4CA3-8505-CE423389D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18DC6-4A45-4674-AD6C-EA77FC68B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5D2BA-D85D-44B6-8CAA-41CD198E8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B0EC1-D33B-4F34-A22F-3F87B4E2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430C-7111-4C8A-98F9-A62834FC1B4A}" type="datetimeFigureOut">
              <a:rPr lang="en-AU" smtClean="0"/>
              <a:t>14/12/2021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AE09F-3005-4070-ABF4-4E02760B9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FAD91-F541-4A02-9E84-73305339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3F0DF-1447-4FAF-B6ED-A34D89D63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869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E5E3-49CB-4C94-B531-31BD70492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D21BF0-0EA0-4EC5-87E3-4ADDFC2306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ADA2F0-2124-4B37-BF90-B2243B7AF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586B2-CD6B-4495-83A3-27795688A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430C-7111-4C8A-98F9-A62834FC1B4A}" type="datetimeFigureOut">
              <a:rPr lang="en-AU" smtClean="0"/>
              <a:t>14/12/2021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9ABEC-5F60-407A-A869-6A98744A0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C4B8F-A4E0-47C1-B6FC-A37BFDFC8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3F0DF-1447-4FAF-B6ED-A34D89D63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6249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24983-2C32-45B6-84C4-89E1A4B4D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A6B45-9734-4C95-89D4-9E68F8065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29253-0365-44B8-BE89-EF9827E10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430C-7111-4C8A-98F9-A62834FC1B4A}" type="datetimeFigureOut">
              <a:rPr lang="en-AU" smtClean="0"/>
              <a:t>14/12/2021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33279-92CF-41DC-984A-E58896C7E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FBF5F-DBF2-44B0-95A9-E8404A10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3F0DF-1447-4FAF-B6ED-A34D89D63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51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1DDF93-0924-454A-8B1E-03B0807E4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F99888-D47F-4EB7-A0D7-8BB99E2B1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B318C-A835-47DF-BC92-C1F1D9F5D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430C-7111-4C8A-98F9-A62834FC1B4A}" type="datetimeFigureOut">
              <a:rPr lang="en-AU" smtClean="0"/>
              <a:t>14/12/2021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C0CBA-A7B3-4EF5-A77E-51375D051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CE354-F8F5-4AE8-B658-DF67CBC9D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3F0DF-1447-4FAF-B6ED-A34D89D63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185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D67162-7F3B-44BD-8D7D-FEE588AA3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5CFA7-00B3-4693-8E4A-D76D71533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8275-4AD0-430E-9FEF-1C66D50AFC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B430C-7111-4C8A-98F9-A62834FC1B4A}" type="datetimeFigureOut">
              <a:rPr lang="en-AU" smtClean="0"/>
              <a:t>14/12/2021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5B3D4-3E02-4528-A8C5-3603FB1A6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495E1-913E-460B-BD1E-2528607B3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3F0DF-1447-4FAF-B6ED-A34D89D63B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2945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hyperlink" Target="http://www.ncbi.nlm.nih.gov/pmc/articles/PMC3104923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45BED-F86B-4C34-8AB5-58B31EDECB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Atomic Structure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D48B6-1917-4DEB-AE5C-B6A38E565C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6700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D66BC-8F86-4FE6-934A-C95D2F7D8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Structure of the Atom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04C48-285D-44CF-8F44-D4BA8E5E0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1162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E7F2B4-F889-4A54-950A-F5DEBA6AE987}"/>
              </a:ext>
            </a:extLst>
          </p:cNvPr>
          <p:cNvSpPr txBox="1"/>
          <p:nvPr/>
        </p:nvSpPr>
        <p:spPr>
          <a:xfrm>
            <a:off x="737234" y="566678"/>
            <a:ext cx="918400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After you have completed this lesson, you should be able to: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structure of an atom in terms of the </a:t>
            </a:r>
            <a:r>
              <a:rPr lang="en-US" b="1" i="0" dirty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subatomic particles: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protons, neutrons and electrons.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US" b="1" i="0" dirty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draw the location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these subatomic particles within a model of an atom.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State the charges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each subatomic particle, and explain how these contribute to the </a:t>
            </a:r>
            <a:r>
              <a:rPr lang="en-US" b="1" i="0" dirty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overall charge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an atom.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D89C84-A040-44F4-9630-16DE67CF8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748147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5396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CEC247-C7F8-4D83-AFD1-6B715FDE5F2C}"/>
              </a:ext>
            </a:extLst>
          </p:cNvPr>
          <p:cNvSpPr txBox="1"/>
          <p:nvPr/>
        </p:nvSpPr>
        <p:spPr>
          <a:xfrm>
            <a:off x="292100" y="559138"/>
            <a:ext cx="111150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are the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smallest particles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substance that can exist while still possessing all the </a:t>
            </a:r>
            <a:r>
              <a:rPr lang="en-US" b="1" i="0" dirty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unique chemical properties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that substance.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can only be seen with an incredibly powerful microscope, and they look like </a:t>
            </a:r>
            <a:r>
              <a:rPr lang="en-US" b="1" i="0" dirty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tiny spheres,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you can see in the image below.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7DE9C80-0CEF-4D83-8ECC-7C73BB640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727" y="3495675"/>
            <a:ext cx="4352925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A6B780-013D-4A26-9420-6267484EF1B0}"/>
              </a:ext>
            </a:extLst>
          </p:cNvPr>
          <p:cNvSpPr txBox="1"/>
          <p:nvPr/>
        </p:nvSpPr>
        <p:spPr>
          <a:xfrm>
            <a:off x="292100" y="2036466"/>
            <a:ext cx="10955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are so tiny that they cannot be seen except with a </a:t>
            </a:r>
            <a:r>
              <a:rPr lang="en-US" b="1" i="0" dirty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powerful microscope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called a </a:t>
            </a:r>
            <a:r>
              <a:rPr lang="en-US" b="1" i="0" dirty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scanning tunnelling microscope (STM).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can be thought of as </a:t>
            </a:r>
            <a:r>
              <a:rPr lang="en-US" b="1" i="0" dirty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tiny spheres.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83305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905A82-70B9-46CC-8BF4-4FD4B6AE5D86}"/>
              </a:ext>
            </a:extLst>
          </p:cNvPr>
          <p:cNvSpPr txBox="1"/>
          <p:nvPr/>
        </p:nvSpPr>
        <p:spPr>
          <a:xfrm>
            <a:off x="577214" y="436662"/>
            <a:ext cx="1126426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US" b="1" i="0" dirty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atom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smallest part of a substance that can exist and still possess all the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unique chemical properties of that substance.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why they're called the </a:t>
            </a:r>
            <a:r>
              <a:rPr lang="en-US" b="0" i="1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building blocks of matter.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might already know that atoms are actually made up of </a:t>
            </a:r>
            <a:r>
              <a:rPr lang="en-US" b="1" i="0" dirty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even smaller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particles called </a:t>
            </a:r>
            <a:r>
              <a:rPr lang="en-US" b="1" i="0" dirty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protons, neutrons and electrons.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Different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types of atoms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 </a:t>
            </a:r>
            <a:r>
              <a:rPr lang="en-US" b="1" i="0" dirty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different numbers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protons, neutrons and electrons.</a:t>
            </a: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protons, neutrons and electrons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on their own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 </a:t>
            </a:r>
            <a:r>
              <a:rPr lang="en-US" b="1" i="0" dirty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not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possess the chemical properties of elements. It is only when they are in </a:t>
            </a:r>
            <a:r>
              <a:rPr lang="en-US" b="1" i="0" dirty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combination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substances with different properties are formed.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F58DD96-335C-4BC2-BC76-86A3213BE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494644" y="3559017"/>
            <a:ext cx="3202712" cy="3202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0496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B70824-90A1-42BF-86C4-2CF83E281573}"/>
              </a:ext>
            </a:extLst>
          </p:cNvPr>
          <p:cNvSpPr txBox="1"/>
          <p:nvPr/>
        </p:nvSpPr>
        <p:spPr>
          <a:xfrm>
            <a:off x="257174" y="372100"/>
            <a:ext cx="116986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Different types of atoms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 </a:t>
            </a:r>
            <a:r>
              <a:rPr lang="en-US" b="1" i="0" dirty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different numbers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protons, neutrons and electrons.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different types of atoms are called </a:t>
            </a:r>
            <a:r>
              <a:rPr lang="en-US" b="1" i="0" dirty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elements.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term element also describes a substance made up of just </a:t>
            </a:r>
            <a:r>
              <a:rPr lang="en-US" b="1" i="0" dirty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one type of atom.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currently </a:t>
            </a:r>
            <a:r>
              <a:rPr lang="en-US" b="1" i="0" dirty="0">
                <a:solidFill>
                  <a:srgbClr val="3598DC"/>
                </a:solidFill>
                <a:effectLst/>
                <a:latin typeface="KaTeX_Main"/>
              </a:rPr>
              <a:t>118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1" i="0" dirty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known elements.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can be </a:t>
            </a:r>
            <a:r>
              <a:rPr lang="en-US" b="0" i="0" dirty="0" err="1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organised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based on their properties into a chart called the </a:t>
            </a:r>
            <a:r>
              <a:rPr lang="en-US" b="1" i="0" dirty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periodic table.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periodic table gives you </a:t>
            </a:r>
            <a:r>
              <a:rPr lang="en-US" b="1" i="0" dirty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information about each element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atoms that make it up.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8ADE6B6-5218-44F7-BD7C-E152072BF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6740" y="2685425"/>
            <a:ext cx="3810000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855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C2F89B-2ADA-469D-855D-A3CC798CFEFF}"/>
              </a:ext>
            </a:extLst>
          </p:cNvPr>
          <p:cNvSpPr txBox="1"/>
          <p:nvPr/>
        </p:nvSpPr>
        <p:spPr>
          <a:xfrm>
            <a:off x="805814" y="355938"/>
            <a:ext cx="107156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are </a:t>
            </a:r>
            <a:r>
              <a:rPr lang="en-US" b="1" i="0" dirty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so small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they cannot be seen without an extremely powerful microscope.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atoms are actually made up of </a:t>
            </a:r>
            <a:r>
              <a:rPr lang="en-US" b="1" i="0" dirty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even smaller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particles called </a:t>
            </a:r>
            <a:r>
              <a:rPr lang="en-US" b="1" i="0" dirty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subatomic particles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("smaller than an atom" particles). These are the </a:t>
            </a:r>
            <a:r>
              <a:rPr lang="en-US" b="1" i="0" dirty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protons, neutrons, and electrons.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F8F835E-4892-458A-9528-1E6A07A06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5723" y="3140393"/>
            <a:ext cx="38004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880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0112B2-D6EB-47D9-9C90-0255D4D7DA05}"/>
              </a:ext>
            </a:extLst>
          </p:cNvPr>
          <p:cNvSpPr txBox="1"/>
          <p:nvPr/>
        </p:nvSpPr>
        <p:spPr>
          <a:xfrm>
            <a:off x="828674" y="837337"/>
            <a:ext cx="100755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US" b="1" i="0" dirty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make up the </a:t>
            </a:r>
            <a:r>
              <a:rPr lang="en-US" b="1" i="0" dirty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nucleus,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at the </a:t>
            </a:r>
            <a:r>
              <a:rPr lang="en-US" b="1" i="0" dirty="0" err="1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centre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atom (</a:t>
            </a:r>
            <a:r>
              <a:rPr lang="en-US" b="1" i="1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nucleus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means </a:t>
            </a:r>
            <a:r>
              <a:rPr lang="en-US" b="1" i="1" dirty="0" err="1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centre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US" b="1" i="1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core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US" b="1" i="0" dirty="0">
                <a:solidFill>
                  <a:srgbClr val="343330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found in </a:t>
            </a:r>
            <a:r>
              <a:rPr lang="en-US" b="1" i="0" dirty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orbitals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(or shells) around the </a:t>
            </a:r>
            <a:r>
              <a:rPr lang="en-US" b="1" i="0" dirty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outside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nucleus.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9FC7EDD-183C-402A-9C68-E0B2D1532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464" y="2263140"/>
            <a:ext cx="5239072" cy="459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4238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D7D10-6161-4CCF-AADF-5A6EDE49034A}"/>
              </a:ext>
            </a:extLst>
          </p:cNvPr>
          <p:cNvSpPr txBox="1"/>
          <p:nvPr/>
        </p:nvSpPr>
        <p:spPr>
          <a:xfrm>
            <a:off x="462914" y="417820"/>
            <a:ext cx="1103566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u="sng" dirty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</a:t>
            </a:r>
            <a:r>
              <a:rPr lang="en-US" b="1" i="0" dirty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rotons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US" b="1" i="0" u="sng" dirty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</a:t>
            </a:r>
            <a:r>
              <a:rPr lang="en-US" b="1" i="0" dirty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ositively charged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(+1); </a:t>
            </a:r>
            <a:r>
              <a:rPr lang="en-US" b="1" i="0" dirty="0">
                <a:solidFill>
                  <a:srgbClr val="343330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US" b="1" i="0" dirty="0">
                <a:solidFill>
                  <a:srgbClr val="343330"/>
                </a:solidFill>
                <a:effectLst/>
                <a:latin typeface="Arial" panose="020B0604020202020204" pitchFamily="34" charset="0"/>
              </a:rPr>
              <a:t>negatively charged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(-1); and </a:t>
            </a:r>
            <a:r>
              <a:rPr lang="en-US" b="1" i="0" u="sng" dirty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neutr</a:t>
            </a:r>
            <a:r>
              <a:rPr lang="en-US" b="1" i="0" dirty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ons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US" b="1" i="0" u="sng" dirty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neutr</a:t>
            </a:r>
            <a:r>
              <a:rPr lang="en-US" b="1" i="0" dirty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al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(have no charge; 0).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Protons and electrons have </a:t>
            </a:r>
            <a:r>
              <a:rPr lang="en-US" b="1" i="0" dirty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opposite charges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each other. Electrons are </a:t>
            </a:r>
            <a:r>
              <a:rPr lang="en-US" b="1" i="0" dirty="0">
                <a:solidFill>
                  <a:srgbClr val="343330"/>
                </a:solidFill>
                <a:effectLst/>
                <a:latin typeface="Arial" panose="020B0604020202020204" pitchFamily="34" charset="0"/>
              </a:rPr>
              <a:t>constantly moving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their shells outside the nucleus. The </a:t>
            </a:r>
            <a:r>
              <a:rPr lang="en-US" b="1" i="0" dirty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attraction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electrons and protons holds the electrons in their shells.</a:t>
            </a: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have </a:t>
            </a:r>
            <a:r>
              <a:rPr lang="en-US" b="1" i="0" dirty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equal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numbers of positively charged protons and negatively charged electrons, making them </a:t>
            </a:r>
            <a:r>
              <a:rPr lang="en-US" b="1" i="0" dirty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neutral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(uncharged) overall.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84254ED-ACCB-4289-8598-9A1D995E1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296" y="3049280"/>
            <a:ext cx="3390900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395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55C6E-AB16-4E88-8FA6-C5FA3D0B3891}"/>
              </a:ext>
            </a:extLst>
          </p:cNvPr>
          <p:cNvSpPr txBox="1"/>
          <p:nvPr/>
        </p:nvSpPr>
        <p:spPr>
          <a:xfrm>
            <a:off x="668654" y="483721"/>
            <a:ext cx="106013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also important to look at the </a:t>
            </a:r>
            <a:r>
              <a:rPr lang="en-US" b="1" i="0" dirty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size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subatomic particles.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l"/>
            <a:r>
              <a:rPr lang="en-US" b="1" i="0" dirty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Most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atom's mass (about </a:t>
            </a:r>
            <a:r>
              <a:rPr lang="en-US" b="0" i="0" dirty="0">
                <a:solidFill>
                  <a:srgbClr val="444444"/>
                </a:solidFill>
                <a:effectLst/>
                <a:latin typeface="KaTeX_Main"/>
              </a:rPr>
              <a:t>99.9%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is made up of the </a:t>
            </a:r>
            <a:r>
              <a:rPr lang="en-US" b="1" i="0" dirty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protons and neutrons.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Protons and neutrons each have a mass of </a:t>
            </a:r>
            <a:r>
              <a:rPr lang="en-US" b="1" i="0" dirty="0">
                <a:solidFill>
                  <a:srgbClr val="FF7F50"/>
                </a:solidFill>
                <a:effectLst/>
                <a:latin typeface="KaTeX_Main"/>
              </a:rPr>
              <a:t>1.67</a:t>
            </a:r>
            <a:r>
              <a:rPr lang="en-US" b="0" i="0" dirty="0">
                <a:solidFill>
                  <a:srgbClr val="FF7F50"/>
                </a:solidFill>
                <a:effectLst/>
                <a:latin typeface="KaTeX_Main"/>
              </a:rPr>
              <a:t>×</a:t>
            </a:r>
            <a:r>
              <a:rPr lang="en-US" b="1" i="0" dirty="0">
                <a:solidFill>
                  <a:srgbClr val="FF7F50"/>
                </a:solidFill>
                <a:effectLst/>
                <a:latin typeface="KaTeX_Main"/>
              </a:rPr>
              <a:t>10</a:t>
            </a:r>
            <a:r>
              <a:rPr lang="en-US" b="0" i="0" baseline="30000" dirty="0">
                <a:solidFill>
                  <a:srgbClr val="FF7F50"/>
                </a:solidFill>
                <a:effectLst/>
                <a:latin typeface="KaTeX_Main"/>
              </a:rPr>
              <a:t>−</a:t>
            </a:r>
            <a:r>
              <a:rPr lang="en-US" b="1" i="0" baseline="30000" dirty="0">
                <a:solidFill>
                  <a:srgbClr val="FF7F50"/>
                </a:solidFill>
                <a:effectLst/>
                <a:latin typeface="KaTeX_Main"/>
              </a:rPr>
              <a:t>24</a:t>
            </a:r>
            <a:r>
              <a:rPr lang="en-US" b="0" i="0" baseline="30000" dirty="0">
                <a:solidFill>
                  <a:srgbClr val="FF7F50"/>
                </a:solidFill>
                <a:effectLst/>
                <a:latin typeface="KaTeX_Main"/>
              </a:rPr>
              <a:t> </a:t>
            </a:r>
            <a:r>
              <a:rPr lang="en-US" b="1" i="0" dirty="0">
                <a:solidFill>
                  <a:srgbClr val="FF7F50"/>
                </a:solidFill>
                <a:effectLst/>
                <a:latin typeface="KaTeX_Main"/>
              </a:rPr>
              <a:t>g.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such a tiny number that a new unit of mass is used: the </a:t>
            </a:r>
            <a:r>
              <a:rPr lang="en-US" b="1" i="0" dirty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atomic mass unit </a:t>
            </a:r>
            <a:r>
              <a:rPr lang="en-US" b="1" i="0" dirty="0">
                <a:solidFill>
                  <a:srgbClr val="00868B"/>
                </a:solidFill>
                <a:effectLst/>
                <a:latin typeface="KaTeX_Main"/>
              </a:rPr>
              <a:t>amu).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Using these units, protons and neutrons both have a mass of </a:t>
            </a:r>
            <a:r>
              <a:rPr lang="en-US" b="1" i="0" dirty="0">
                <a:solidFill>
                  <a:srgbClr val="3598DC"/>
                </a:solidFill>
                <a:effectLst/>
                <a:latin typeface="KaTeX_Main"/>
              </a:rPr>
              <a:t>1</a:t>
            </a:r>
            <a:r>
              <a:rPr lang="en-US" b="0" i="0" dirty="0">
                <a:solidFill>
                  <a:srgbClr val="3598DC"/>
                </a:solidFill>
                <a:effectLst/>
                <a:latin typeface="KaTeX_Main"/>
              </a:rPr>
              <a:t> </a:t>
            </a:r>
            <a:r>
              <a:rPr lang="en-US" b="1" i="0" dirty="0">
                <a:solidFill>
                  <a:srgbClr val="3598DC"/>
                </a:solidFill>
                <a:effectLst/>
                <a:latin typeface="KaTeX_Main"/>
              </a:rPr>
              <a:t>amu.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12F63AE-951B-4307-889E-02D919650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262" y="363474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0C6F2988-9CB8-48A7-9FE1-C435503E3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240" y="363474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7944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00EF21-91A8-4D0B-BC97-487269F34849}"/>
              </a:ext>
            </a:extLst>
          </p:cNvPr>
          <p:cNvSpPr txBox="1"/>
          <p:nvPr/>
        </p:nvSpPr>
        <p:spPr>
          <a:xfrm>
            <a:off x="462914" y="1025575"/>
            <a:ext cx="11104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343330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US" b="1" i="0" dirty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1840 times smaller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protons and neutrons, with a mass of 0.00549 amu.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456365-4970-44BD-8FEF-08CCA0790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96" y="1394907"/>
            <a:ext cx="10195989" cy="912864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19BCF0DE-5280-400A-A31B-D77EC3EE4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650" y="2730955"/>
            <a:ext cx="476250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131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FCD3C0-C9D9-44A6-823D-21DC88958142}"/>
              </a:ext>
            </a:extLst>
          </p:cNvPr>
          <p:cNvSpPr txBox="1"/>
          <p:nvPr/>
        </p:nvSpPr>
        <p:spPr>
          <a:xfrm>
            <a:off x="0" y="751255"/>
            <a:ext cx="1165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table </a:t>
            </a:r>
            <a:r>
              <a:rPr lang="en-US" b="1" i="0" dirty="0" err="1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summarises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the information you need to know about the </a:t>
            </a:r>
            <a:r>
              <a:rPr lang="en-US" b="1" i="0" dirty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subatomic particles: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A3412-E79E-49B7-8B77-9D6067E51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516" y="1924526"/>
            <a:ext cx="9102968" cy="324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323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5A911-92A4-49CF-94F7-138FB9D76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Atomic Number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3FCCA-582B-4B4C-A5CD-2E6F47267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0842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E15475-C938-4605-874A-8B56B679ED2E}"/>
              </a:ext>
            </a:extLst>
          </p:cNvPr>
          <p:cNvSpPr txBox="1"/>
          <p:nvPr/>
        </p:nvSpPr>
        <p:spPr>
          <a:xfrm>
            <a:off x="965834" y="813138"/>
            <a:ext cx="986980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elements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represented by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symbols.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the </a:t>
            </a:r>
            <a:r>
              <a:rPr lang="en-US" b="1" i="0" dirty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based on the </a:t>
            </a:r>
            <a:r>
              <a:rPr lang="en-US" b="1" i="0" dirty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number of protons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an atom.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the </a:t>
            </a:r>
            <a:r>
              <a:rPr lang="en-US" b="1" i="0" dirty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periodic table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based on the atomic number and the properties of the elements.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2381082-C165-4D86-9155-079507F3C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793" y="2568848"/>
            <a:ext cx="4824413" cy="4174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2123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C6164421-ADA7-477D-B97B-89733AEDE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360" y="361950"/>
            <a:ext cx="38100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D98EE6-3CBD-46D1-912A-433FA2A32485}"/>
              </a:ext>
            </a:extLst>
          </p:cNvPr>
          <p:cNvSpPr txBox="1"/>
          <p:nvPr/>
        </p:nvSpPr>
        <p:spPr>
          <a:xfrm>
            <a:off x="832484" y="3718679"/>
            <a:ext cx="105060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symbol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representing the element can be chosen in several ways: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Many elements uses the 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first letter of their names.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example, oxygen is O, phosphorus is P and nitrogen is N.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 letter is already taken (chlorine can't be C because that's carbon) most elements will use 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two reasonable letters.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example, chlorine is Cl, calcium is Ca and zinc is Zn. The first letter is a capital letter, but any other letters are lower case.</a:t>
            </a:r>
          </a:p>
        </p:txBody>
      </p:sp>
    </p:spTree>
    <p:extLst>
      <p:ext uri="{BB962C8B-B14F-4D97-AF65-F5344CB8AC3E}">
        <p14:creationId xmlns:p14="http://schemas.microsoft.com/office/powerpoint/2010/main" val="1487257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5ED0A0F0-3DFC-4412-8EC1-7A88B08E4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383" y="513398"/>
            <a:ext cx="3800475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FA6CBD-76F9-4752-AFDF-3D4E47383B88}"/>
              </a:ext>
            </a:extLst>
          </p:cNvPr>
          <p:cNvSpPr txBox="1"/>
          <p:nvPr/>
        </p:nvSpPr>
        <p:spPr>
          <a:xfrm>
            <a:off x="955357" y="3919538"/>
            <a:ext cx="102812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 is how many </a:t>
            </a:r>
            <a:r>
              <a:rPr lang="en-US" b="1" i="0" dirty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nucleus has.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what defines an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1" i="0" dirty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element!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an atom has </a:t>
            </a:r>
            <a:r>
              <a:rPr lang="en-US" b="0" i="0" dirty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proton it is hydrogen, if it has </a:t>
            </a:r>
            <a:r>
              <a:rPr lang="en-US" b="0" i="0" dirty="0">
                <a:solidFill>
                  <a:srgbClr val="444444"/>
                </a:solidFill>
                <a:effectLst/>
                <a:latin typeface="KaTeX_Main"/>
              </a:rPr>
              <a:t>8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protons it is oxygen and if it has </a:t>
            </a:r>
            <a:r>
              <a:rPr lang="en-US" b="0" i="0" dirty="0">
                <a:solidFill>
                  <a:srgbClr val="444444"/>
                </a:solidFill>
                <a:effectLst/>
                <a:latin typeface="KaTeX_Main"/>
              </a:rPr>
              <a:t>94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protons it is plutonium.</a:t>
            </a:r>
          </a:p>
        </p:txBody>
      </p:sp>
    </p:spTree>
    <p:extLst>
      <p:ext uri="{BB962C8B-B14F-4D97-AF65-F5344CB8AC3E}">
        <p14:creationId xmlns:p14="http://schemas.microsoft.com/office/powerpoint/2010/main" val="1997582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9DDAE7-52CA-4F7A-AAA5-C10C6BE5AFDB}"/>
              </a:ext>
            </a:extLst>
          </p:cNvPr>
          <p:cNvSpPr txBox="1"/>
          <p:nvPr/>
        </p:nvSpPr>
        <p:spPr>
          <a:xfrm>
            <a:off x="622934" y="1570196"/>
            <a:ext cx="108756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are neutral.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have the same amount of electrons as protons, so the </a:t>
            </a:r>
            <a:r>
              <a:rPr lang="en-US" b="1" i="0" dirty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 is also how many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has.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0CD46BCB-93B6-4766-8F7B-CE4FE8844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34290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897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21F631-5BCB-4D0B-B025-B59C0CDEF751}"/>
              </a:ext>
            </a:extLst>
          </p:cNvPr>
          <p:cNvSpPr txBox="1"/>
          <p:nvPr/>
        </p:nvSpPr>
        <p:spPr>
          <a:xfrm>
            <a:off x="394334" y="843677"/>
            <a:ext cx="111271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US" b="1" i="0" dirty="0">
                <a:solidFill>
                  <a:srgbClr val="8B008B"/>
                </a:solidFill>
                <a:effectLst/>
                <a:latin typeface="Arial" panose="020B0604020202020204" pitchFamily="34" charset="0"/>
              </a:rPr>
              <a:t>mass number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mass of </a:t>
            </a:r>
            <a:r>
              <a:rPr lang="en-US" b="1" i="0" dirty="0">
                <a:solidFill>
                  <a:srgbClr val="8B008B"/>
                </a:solidFill>
                <a:effectLst/>
                <a:latin typeface="Arial" panose="020B0604020202020204" pitchFamily="34" charset="0"/>
              </a:rPr>
              <a:t>one atom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element.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the </a:t>
            </a:r>
            <a:r>
              <a:rPr lang="en-US" b="1" i="0" dirty="0">
                <a:solidFill>
                  <a:srgbClr val="6A5ACD"/>
                </a:solidFill>
                <a:effectLst/>
                <a:latin typeface="Arial" panose="020B0604020202020204" pitchFamily="34" charset="0"/>
              </a:rPr>
              <a:t>number of protons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plus the </a:t>
            </a:r>
            <a:r>
              <a:rPr lang="en-US" b="1" i="0" dirty="0">
                <a:solidFill>
                  <a:srgbClr val="9400D3"/>
                </a:solidFill>
                <a:effectLst/>
                <a:latin typeface="Arial" panose="020B0604020202020204" pitchFamily="34" charset="0"/>
              </a:rPr>
              <a:t>number of neutrons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nucleus of the atom.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 are not considered when calculating the mass number because their mass is 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small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compared to protons and neutrons.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DBBBCE4E-1957-472E-ACDC-68CD434B9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645" y="3429000"/>
            <a:ext cx="523875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5408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AED5AC-034D-4C80-B268-B3D9BAAE9B81}"/>
              </a:ext>
            </a:extLst>
          </p:cNvPr>
          <p:cNvSpPr txBox="1"/>
          <p:nvPr/>
        </p:nvSpPr>
        <p:spPr>
          <a:xfrm>
            <a:off x="371474" y="431215"/>
            <a:ext cx="10852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find the number of neutrons in an atom, subtract the </a:t>
            </a:r>
            <a:r>
              <a:rPr lang="en-US" b="1" i="0" dirty="0">
                <a:solidFill>
                  <a:srgbClr val="538D9F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 </a:t>
            </a:r>
            <a:r>
              <a:rPr lang="en-US" b="1" i="0" dirty="0">
                <a:solidFill>
                  <a:srgbClr val="8B539F"/>
                </a:solidFill>
                <a:effectLst/>
                <a:latin typeface="Arial" panose="020B0604020202020204" pitchFamily="34" charset="0"/>
              </a:rPr>
              <a:t>mass number: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985154-B51F-4BB5-B110-867713AE9E34}"/>
              </a:ext>
            </a:extLst>
          </p:cNvPr>
          <p:cNvSpPr txBox="1"/>
          <p:nvPr/>
        </p:nvSpPr>
        <p:spPr>
          <a:xfrm>
            <a:off x="3049905" y="1128445"/>
            <a:ext cx="6092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KaTeX_Main"/>
              </a:rPr>
              <a:t>mass number - atomic number = number of neutrons</a:t>
            </a:r>
            <a:br>
              <a:rPr lang="en-US" dirty="0"/>
            </a:b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5DF2A1-AF69-4EF9-B6F2-39233AE5094C}"/>
              </a:ext>
            </a:extLst>
          </p:cNvPr>
          <p:cNvSpPr txBox="1"/>
          <p:nvPr/>
        </p:nvSpPr>
        <p:spPr>
          <a:xfrm>
            <a:off x="371474" y="1774776"/>
            <a:ext cx="118205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the </a:t>
            </a:r>
            <a:r>
              <a:rPr lang="en-US" b="1" i="0" dirty="0">
                <a:solidFill>
                  <a:srgbClr val="8B539F"/>
                </a:solidFill>
                <a:effectLst/>
                <a:latin typeface="Arial" panose="020B0604020202020204" pitchFamily="34" charset="0"/>
              </a:rPr>
              <a:t>mass number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(number of protons + neutrons) of one form of hydrogen could be </a:t>
            </a:r>
            <a:r>
              <a:rPr lang="en-US" b="1" i="0" dirty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 the </a:t>
            </a:r>
            <a:r>
              <a:rPr lang="en-US" b="1" i="0" dirty="0">
                <a:solidFill>
                  <a:srgbClr val="538D9F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(number of protons) is </a:t>
            </a:r>
            <a:r>
              <a:rPr lang="en-US" b="1" i="0" dirty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Therefore the number of </a:t>
            </a:r>
            <a:r>
              <a:rPr lang="en-US" b="1" i="0" dirty="0">
                <a:solidFill>
                  <a:srgbClr val="3679A6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US" b="0" i="0" dirty="0">
                <a:solidFill>
                  <a:srgbClr val="3679A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hydrogen atom is </a:t>
            </a:r>
            <a:r>
              <a:rPr lang="en-US" b="0" i="0" dirty="0">
                <a:solidFill>
                  <a:srgbClr val="444444"/>
                </a:solidFill>
                <a:effectLst/>
                <a:latin typeface="KaTeX_Main"/>
              </a:rPr>
              <a:t>2−1=1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number of neutrons must always be a whole number (should not include any decimal places).</a:t>
            </a:r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5FDE189F-12E1-429F-81B9-675DB972F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2" y="3369766"/>
            <a:ext cx="7610475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5620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C41F95-BA70-4B90-9D5A-9214EAA7A1A3}"/>
              </a:ext>
            </a:extLst>
          </p:cNvPr>
          <p:cNvSpPr txBox="1"/>
          <p:nvPr/>
        </p:nvSpPr>
        <p:spPr>
          <a:xfrm>
            <a:off x="348614" y="256461"/>
            <a:ext cx="113328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Because </a:t>
            </a:r>
            <a:r>
              <a:rPr lang="en-US" b="1" i="0" dirty="0">
                <a:solidFill>
                  <a:srgbClr val="538D9F"/>
                </a:solidFill>
                <a:effectLst/>
                <a:latin typeface="Arial" panose="020B0604020202020204" pitchFamily="34" charset="0"/>
              </a:rPr>
              <a:t>elements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only defined by the number of </a:t>
            </a:r>
            <a:r>
              <a:rPr lang="en-US" b="1" i="0" dirty="0">
                <a:solidFill>
                  <a:srgbClr val="B78E5C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have, they can have different numbers of </a:t>
            </a:r>
            <a:r>
              <a:rPr lang="en-US" b="1" i="0" dirty="0">
                <a:solidFill>
                  <a:srgbClr val="8B539F"/>
                </a:solidFill>
                <a:effectLst/>
                <a:latin typeface="Arial" panose="020B0604020202020204" pitchFamily="34" charset="0"/>
              </a:rPr>
              <a:t>neutrons.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Both neutrons and protons contribute to the </a:t>
            </a:r>
            <a:r>
              <a:rPr lang="en-US" b="1" i="0" dirty="0">
                <a:solidFill>
                  <a:srgbClr val="538D9F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atom, so different atoms of the same element can have different </a:t>
            </a:r>
            <a:r>
              <a:rPr lang="en-US" b="1" i="0" dirty="0">
                <a:solidFill>
                  <a:srgbClr val="538D9F"/>
                </a:solidFill>
                <a:effectLst/>
                <a:latin typeface="Arial" panose="020B0604020202020204" pitchFamily="34" charset="0"/>
              </a:rPr>
              <a:t>mass numbers.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US" b="1" i="0" dirty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Atomic mass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average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mass number of an element. Being a calculated average, the atomic mass is 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usually not a whole number.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the value displayed on the periodic table alongside the atomic number.</a:t>
            </a:r>
          </a:p>
        </p:txBody>
      </p:sp>
      <p:pic>
        <p:nvPicPr>
          <p:cNvPr id="16386" name="Picture 2" descr="selected metals">
            <a:extLst>
              <a:ext uri="{FF2B5EF4-FFF2-40B4-BE49-F238E27FC236}">
                <a16:creationId xmlns:a16="http://schemas.microsoft.com/office/drawing/2014/main" id="{BF6201E8-94AB-4D77-8FD1-A543A2F6A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781" y="3177432"/>
            <a:ext cx="6548438" cy="342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383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A8D22-160B-4274-9351-32257AFA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Isotopes?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3756C-65F2-4650-8BA6-05AAFFA67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1782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513763-E951-41D7-B575-458A553B7526}"/>
              </a:ext>
            </a:extLst>
          </p:cNvPr>
          <p:cNvSpPr txBox="1"/>
          <p:nvPr/>
        </p:nvSpPr>
        <p:spPr>
          <a:xfrm>
            <a:off x="600074" y="700177"/>
            <a:ext cx="104184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all about </a:t>
            </a:r>
            <a:r>
              <a:rPr lang="en-US" b="1" i="0" dirty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isotopes.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Isotopes are very important because they are responsible for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radioactivity.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also what makes them useful for scientists trying to find out how </a:t>
            </a:r>
            <a:r>
              <a:rPr lang="en-US" b="1" i="0" dirty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old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things like dinosaur bones are, or </a:t>
            </a:r>
            <a:r>
              <a:rPr lang="en-US" b="1" i="0" dirty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where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are from.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980537ED-7377-4499-9710-FCDCD9327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251746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6363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52EB90-ED03-47E9-B334-E6E48F3D4435}"/>
              </a:ext>
            </a:extLst>
          </p:cNvPr>
          <p:cNvSpPr txBox="1"/>
          <p:nvPr/>
        </p:nvSpPr>
        <p:spPr>
          <a:xfrm>
            <a:off x="422910" y="357277"/>
            <a:ext cx="113271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Isotopes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atoms of the </a:t>
            </a:r>
            <a:r>
              <a:rPr lang="en-US" b="0" i="1" u="sng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element that have 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different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numbers of </a:t>
            </a:r>
            <a:r>
              <a:rPr lang="en-US" b="1" i="0" dirty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neutrons,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the 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number of protons and electrons.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 number </a:t>
            </a:r>
            <a:r>
              <a:rPr lang="en-US" b="1" i="0" u="sng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changes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the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1" i="0" u="sng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remains the same.</a:t>
            </a:r>
            <a:endParaRPr lang="en-US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434" name="Picture 2" descr="blank periodic table">
            <a:extLst>
              <a:ext uri="{FF2B5EF4-FFF2-40B4-BE49-F238E27FC236}">
                <a16:creationId xmlns:a16="http://schemas.microsoft.com/office/drawing/2014/main" id="{B43DDA0E-729C-4D02-9C8A-E5DB2FFDC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212" y="2758440"/>
            <a:ext cx="5743575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11221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7D6EB8-8C5F-49A8-9D0A-C2084D7ABA1B}"/>
              </a:ext>
            </a:extLst>
          </p:cNvPr>
          <p:cNvSpPr txBox="1"/>
          <p:nvPr/>
        </p:nvSpPr>
        <p:spPr>
          <a:xfrm>
            <a:off x="1017270" y="472916"/>
            <a:ext cx="96583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existence of </a:t>
            </a:r>
            <a:r>
              <a:rPr lang="en-US" b="1" i="0" dirty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isotopes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was first proposed by </a:t>
            </a:r>
            <a:r>
              <a:rPr lang="en-US" b="0" i="0" u="none" strike="noStrike" dirty="0">
                <a:solidFill>
                  <a:srgbClr val="0780B0"/>
                </a:solidFill>
                <a:effectLst/>
                <a:latin typeface="Arial" panose="020B0604020202020204" pitchFamily="34" charset="0"/>
                <a:hlinkClick r:id="rId2"/>
              </a:rPr>
              <a:t>Frederick Soddy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US" b="0" i="0" dirty="0">
                <a:solidFill>
                  <a:srgbClr val="444444"/>
                </a:solidFill>
                <a:effectLst/>
                <a:latin typeface="KaTeX_Main"/>
              </a:rPr>
              <a:t>{1913}1913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Soddy was a British chemist who worked with Ernest Rutherford to study </a:t>
            </a:r>
            <a:r>
              <a:rPr lang="en-US" b="1" i="0" dirty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radioactive elements.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He received a Nobel Prize in </a:t>
            </a:r>
            <a:r>
              <a:rPr lang="en-US" b="0" i="0" dirty="0">
                <a:solidFill>
                  <a:srgbClr val="444444"/>
                </a:solidFill>
                <a:effectLst/>
                <a:latin typeface="KaTeX_Main"/>
              </a:rPr>
              <a:t>{1921}1921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his theory of isotopes.</a:t>
            </a:r>
            <a:endParaRPr lang="en-AU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7A292863-5F63-4E28-BD93-60FDDCF28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960" y="2613184"/>
            <a:ext cx="266700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>
            <a:extLst>
              <a:ext uri="{FF2B5EF4-FFF2-40B4-BE49-F238E27FC236}">
                <a16:creationId xmlns:a16="http://schemas.microsoft.com/office/drawing/2014/main" id="{18E9D447-E342-428C-8C2E-F6790B59F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529" y="3070384"/>
            <a:ext cx="28670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0354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08192A-B58C-482D-92C0-1A3077D7ACC5}"/>
              </a:ext>
            </a:extLst>
          </p:cNvPr>
          <p:cNvSpPr txBox="1"/>
          <p:nvPr/>
        </p:nvSpPr>
        <p:spPr>
          <a:xfrm>
            <a:off x="674370" y="289679"/>
            <a:ext cx="105270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Soddy's experiments showed that atoms of the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same element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could have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different atomic masses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identical chemical properties.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 named this concept </a:t>
            </a:r>
            <a:r>
              <a:rPr lang="en-US" b="1" i="0" dirty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isotope,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means </a:t>
            </a:r>
            <a:r>
              <a:rPr lang="en-US" b="0" i="1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same place,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these atoms were found in the </a:t>
            </a:r>
            <a:r>
              <a:rPr lang="en-US" b="1" i="0" dirty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same place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periodic table.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 the time, scientists could not come up with a good explanation for how this occurred.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86D6CB7A-DE81-4442-8626-F2855894C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647123"/>
            <a:ext cx="3810000" cy="258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7905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E49B23-27E6-42B3-9E8E-D2839EDF5E8D}"/>
              </a:ext>
            </a:extLst>
          </p:cNvPr>
          <p:cNvSpPr txBox="1"/>
          <p:nvPr/>
        </p:nvSpPr>
        <p:spPr>
          <a:xfrm>
            <a:off x="468630" y="674638"/>
            <a:ext cx="111213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 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were discovered in </a:t>
            </a:r>
            <a:r>
              <a:rPr lang="en-US" b="0" i="0" dirty="0">
                <a:solidFill>
                  <a:srgbClr val="444444"/>
                </a:solidFill>
                <a:effectLst/>
                <a:latin typeface="KaTeX_Main"/>
              </a:rPr>
              <a:t>1932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the problem was solved!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with the </a:t>
            </a:r>
            <a:r>
              <a:rPr lang="en-US" b="1" i="0" dirty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same number of protons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had different masses because they had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different numbers of neutrons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These atoms have the </a:t>
            </a:r>
            <a:r>
              <a:rPr lang="en-US" b="1" i="0" dirty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same properties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neutrons do not affect the chemical properties of elements.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80799169-396D-4A47-8507-336B21560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244" y="3103245"/>
            <a:ext cx="6360795" cy="316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3356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B0A9FD-3388-44DD-B400-77D5C6F4543C}"/>
              </a:ext>
            </a:extLst>
          </p:cNvPr>
          <p:cNvSpPr txBox="1"/>
          <p:nvPr/>
        </p:nvSpPr>
        <p:spPr>
          <a:xfrm>
            <a:off x="857250" y="681335"/>
            <a:ext cx="10115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Isotopes are </a:t>
            </a:r>
            <a:r>
              <a:rPr lang="en-US" b="1" i="0" u="sng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named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based on their </a:t>
            </a:r>
            <a:r>
              <a:rPr lang="en-US" b="1" i="0" dirty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mass number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element's name is written first, followed by the mass number.</a:t>
            </a:r>
            <a:endParaRPr lang="en-AU" dirty="0"/>
          </a:p>
        </p:txBody>
      </p:sp>
      <p:pic>
        <p:nvPicPr>
          <p:cNvPr id="22532" name="Picture 4">
            <a:extLst>
              <a:ext uri="{FF2B5EF4-FFF2-40B4-BE49-F238E27FC236}">
                <a16:creationId xmlns:a16="http://schemas.microsoft.com/office/drawing/2014/main" id="{1CE51550-C6D3-40D9-933D-D6810E4FB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2380" y="1327666"/>
            <a:ext cx="3810000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554DC5-2B70-40EE-8EA3-862470C7CD0F}"/>
              </a:ext>
            </a:extLst>
          </p:cNvPr>
          <p:cNvSpPr txBox="1"/>
          <p:nvPr/>
        </p:nvSpPr>
        <p:spPr>
          <a:xfrm>
            <a:off x="1508760" y="4496276"/>
            <a:ext cx="10115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these are two carbon isotopes. The first one has a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 number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US" b="1" i="0" dirty="0">
                <a:solidFill>
                  <a:srgbClr val="444444"/>
                </a:solidFill>
                <a:effectLst/>
                <a:latin typeface="KaTeX_Main"/>
              </a:rPr>
              <a:t>12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so is called 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carbon-</a:t>
            </a:r>
            <a:r>
              <a:rPr lang="en-US" b="1" i="0" dirty="0">
                <a:solidFill>
                  <a:srgbClr val="444444"/>
                </a:solidFill>
                <a:effectLst/>
                <a:latin typeface="KaTeX_Main"/>
              </a:rPr>
              <a:t>12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second one has a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 number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US" b="1" i="0" dirty="0">
                <a:solidFill>
                  <a:srgbClr val="444444"/>
                </a:solidFill>
                <a:effectLst/>
                <a:latin typeface="KaTeX_Main"/>
              </a:rPr>
              <a:t>14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so is called 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carbon-</a:t>
            </a:r>
            <a:r>
              <a:rPr lang="en-US" b="1" i="0" dirty="0">
                <a:solidFill>
                  <a:srgbClr val="444444"/>
                </a:solidFill>
                <a:effectLst/>
                <a:latin typeface="KaTeX_Main"/>
              </a:rPr>
              <a:t>14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800020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EC2E1E-7EEC-494F-808E-B64E7D1B0888}"/>
              </a:ext>
            </a:extLst>
          </p:cNvPr>
          <p:cNvSpPr txBox="1"/>
          <p:nvPr/>
        </p:nvSpPr>
        <p:spPr>
          <a:xfrm>
            <a:off x="531494" y="427196"/>
            <a:ext cx="107842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Isotopes are often represented using </a:t>
            </a:r>
            <a:r>
              <a:rPr lang="en-US" b="1" i="0" dirty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atomic symbols.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atomic symbol shows the 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chemical symbol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element, with the </a:t>
            </a:r>
            <a:r>
              <a:rPr lang="en-US" b="1" i="0" dirty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mass number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written to the 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left.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example, carbon-</a:t>
            </a:r>
            <a:r>
              <a:rPr lang="en-US" b="0" i="0" dirty="0">
                <a:solidFill>
                  <a:srgbClr val="444444"/>
                </a:solidFill>
                <a:effectLst/>
                <a:latin typeface="KaTeX_Main"/>
              </a:rPr>
              <a:t>12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written like this:</a:t>
            </a:r>
            <a:endParaRPr lang="en-A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94BA36F8-0CBD-408B-94E5-8A3D92CE36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C8D4C8-031F-49D5-A438-14E085FA2A4F}"/>
              </a:ext>
            </a:extLst>
          </p:cNvPr>
          <p:cNvSpPr txBox="1"/>
          <p:nvPr/>
        </p:nvSpPr>
        <p:spPr>
          <a:xfrm>
            <a:off x="531494" y="4584144"/>
            <a:ext cx="10784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mass number is the </a:t>
            </a:r>
            <a:r>
              <a:rPr lang="en-US" b="1" i="0" dirty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larger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number (number of protons plus neutrons) and this is written at the </a:t>
            </a:r>
            <a:r>
              <a:rPr lang="en-US" b="1" i="0" dirty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top.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atomic number is the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smaller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number (number of protons) and this is written at the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bottom.</a:t>
            </a:r>
            <a:endParaRPr lang="en-AU" dirty="0"/>
          </a:p>
        </p:txBody>
      </p:sp>
      <p:pic>
        <p:nvPicPr>
          <p:cNvPr id="23556" name="Picture 4">
            <a:extLst>
              <a:ext uri="{FF2B5EF4-FFF2-40B4-BE49-F238E27FC236}">
                <a16:creationId xmlns:a16="http://schemas.microsoft.com/office/drawing/2014/main" id="{6A4C283D-E35C-4FFB-A40C-2AEC497CA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5" y="1828800"/>
            <a:ext cx="379095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8108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1D2AC5-72AF-4065-95EE-03F6118C1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766475"/>
              </p:ext>
            </p:extLst>
          </p:nvPr>
        </p:nvGraphicFramePr>
        <p:xfrm>
          <a:off x="850352" y="606584"/>
          <a:ext cx="10579647" cy="937260"/>
        </p:xfrm>
        <a:graphic>
          <a:graphicData uri="http://schemas.openxmlformats.org/drawingml/2006/table">
            <a:tbl>
              <a:tblPr/>
              <a:tblGrid>
                <a:gridCol w="9638711">
                  <a:extLst>
                    <a:ext uri="{9D8B030D-6E8A-4147-A177-3AD203B41FA5}">
                      <a16:colId xmlns:a16="http://schemas.microsoft.com/office/drawing/2014/main" val="2826133452"/>
                    </a:ext>
                  </a:extLst>
                </a:gridCol>
                <a:gridCol w="940936">
                  <a:extLst>
                    <a:ext uri="{9D8B030D-6E8A-4147-A177-3AD203B41FA5}">
                      <a16:colId xmlns:a16="http://schemas.microsoft.com/office/drawing/2014/main" val="1249751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dirty="0">
                          <a:effectLst/>
                        </a:rPr>
                        <a:t>Note: on the </a:t>
                      </a:r>
                      <a:r>
                        <a:rPr lang="en-US" b="1" dirty="0">
                          <a:solidFill>
                            <a:srgbClr val="0066CC"/>
                          </a:solidFill>
                          <a:effectLst/>
                        </a:rPr>
                        <a:t>periodic table,</a:t>
                      </a:r>
                      <a:r>
                        <a:rPr lang="en-US" dirty="0">
                          <a:effectLst/>
                        </a:rPr>
                        <a:t> the </a:t>
                      </a:r>
                      <a:r>
                        <a:rPr lang="en-US" b="1" dirty="0">
                          <a:effectLst/>
                        </a:rPr>
                        <a:t>box</a:t>
                      </a:r>
                      <a:r>
                        <a:rPr lang="en-US" dirty="0">
                          <a:effectLst/>
                        </a:rPr>
                        <a:t> that contains the chemical symbol of the element will usually have the </a:t>
                      </a:r>
                      <a:r>
                        <a:rPr lang="en-US" b="1" dirty="0">
                          <a:solidFill>
                            <a:srgbClr val="0066CC"/>
                          </a:solidFill>
                          <a:effectLst/>
                        </a:rPr>
                        <a:t>atomic number</a:t>
                      </a:r>
                      <a:r>
                        <a:rPr lang="en-US" dirty="0">
                          <a:effectLst/>
                        </a:rPr>
                        <a:t> at the top, because that is the number that </a:t>
                      </a:r>
                      <a:r>
                        <a:rPr lang="en-US" b="1" dirty="0">
                          <a:solidFill>
                            <a:srgbClr val="0066CC"/>
                          </a:solidFill>
                          <a:effectLst/>
                        </a:rPr>
                        <a:t>determines the identity</a:t>
                      </a:r>
                      <a:r>
                        <a:rPr lang="en-US" dirty="0">
                          <a:effectLst/>
                        </a:rPr>
                        <a:t> of the element and its place in the periodic table.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AU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83251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F52F30D-F349-413D-9DA5-B801AE6D5E06}"/>
              </a:ext>
            </a:extLst>
          </p:cNvPr>
          <p:cNvSpPr txBox="1"/>
          <p:nvPr/>
        </p:nvSpPr>
        <p:spPr>
          <a:xfrm>
            <a:off x="850352" y="2144375"/>
            <a:ext cx="98709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the 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convention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writing out </a:t>
            </a:r>
            <a:r>
              <a:rPr lang="en-US" b="1" i="0" dirty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atomic symbols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to write the </a:t>
            </a:r>
            <a:r>
              <a:rPr lang="en-US" b="1" i="0" dirty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mass number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the top, because the mass number </a:t>
            </a:r>
            <a:r>
              <a:rPr lang="en-US" b="1" i="0" dirty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determines the identity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isotope.</a:t>
            </a:r>
            <a:endParaRPr lang="en-AU" dirty="0"/>
          </a:p>
        </p:txBody>
      </p:sp>
      <p:pic>
        <p:nvPicPr>
          <p:cNvPr id="24582" name="Picture 6">
            <a:extLst>
              <a:ext uri="{FF2B5EF4-FFF2-40B4-BE49-F238E27FC236}">
                <a16:creationId xmlns:a16="http://schemas.microsoft.com/office/drawing/2014/main" id="{87B64EB1-31AD-47D9-A898-2ECBC626D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988" y="3428999"/>
            <a:ext cx="4892992" cy="226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1327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E17759-27A4-41DD-AECE-6918F19F4366}"/>
              </a:ext>
            </a:extLst>
          </p:cNvPr>
          <p:cNvSpPr txBox="1"/>
          <p:nvPr/>
        </p:nvSpPr>
        <p:spPr>
          <a:xfrm>
            <a:off x="348614" y="513278"/>
            <a:ext cx="114242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Different isotopes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elements are found in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different amounts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nature. This often depends on how </a:t>
            </a:r>
            <a:r>
              <a:rPr lang="en-US" b="1" i="0" dirty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stable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isotope is. You will learn more about the stability of different isotopes in the lessons on radioactivity.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carbon-</a:t>
            </a:r>
            <a:r>
              <a:rPr lang="en-US" b="0" i="0" dirty="0">
                <a:solidFill>
                  <a:srgbClr val="444444"/>
                </a:solidFill>
                <a:effectLst/>
                <a:latin typeface="KaTeX_Main"/>
              </a:rPr>
              <a:t>12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most stable isotope of carbon, while carbon-</a:t>
            </a:r>
            <a:r>
              <a:rPr lang="en-US" b="0" i="0" dirty="0">
                <a:solidFill>
                  <a:srgbClr val="444444"/>
                </a:solidFill>
                <a:effectLst/>
                <a:latin typeface="KaTeX_Main"/>
              </a:rPr>
              <a:t>14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unstable. This means that in nature, there is </a:t>
            </a:r>
            <a:r>
              <a:rPr lang="en-US" b="1" i="0" dirty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much more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carbon-</a:t>
            </a:r>
            <a:r>
              <a:rPr lang="en-US" b="0" i="0" dirty="0">
                <a:solidFill>
                  <a:srgbClr val="444444"/>
                </a:solidFill>
                <a:effectLst/>
                <a:latin typeface="KaTeX_Main"/>
              </a:rPr>
              <a:t>12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carbon-</a:t>
            </a:r>
            <a:r>
              <a:rPr lang="en-US" b="0" i="0" dirty="0">
                <a:solidFill>
                  <a:srgbClr val="444444"/>
                </a:solidFill>
                <a:effectLst/>
                <a:latin typeface="KaTeX_Main"/>
              </a:rPr>
              <a:t>14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E6B719E2-B4A9-4DDD-B24F-0A119C3E5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3066397"/>
            <a:ext cx="66675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8895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0E12F4-0C5C-42C4-AD90-DBF2C9B6CA98}"/>
              </a:ext>
            </a:extLst>
          </p:cNvPr>
          <p:cNvSpPr txBox="1"/>
          <p:nvPr/>
        </p:nvSpPr>
        <p:spPr>
          <a:xfrm>
            <a:off x="697230" y="907256"/>
            <a:ext cx="107784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Carbon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sixth most abundant element in the universe. This graph shows approximately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how much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each isotope of carbon makes up all the carbon found in nature. About </a:t>
            </a:r>
            <a:r>
              <a:rPr lang="en-US" b="1" i="0" dirty="0">
                <a:solidFill>
                  <a:srgbClr val="444444"/>
                </a:solidFill>
                <a:effectLst/>
                <a:latin typeface="KaTeX_Main"/>
              </a:rPr>
              <a:t>98.9%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all carbon is the carbon-</a:t>
            </a:r>
            <a:r>
              <a:rPr lang="en-US" b="0" i="0" dirty="0">
                <a:solidFill>
                  <a:srgbClr val="444444"/>
                </a:solidFill>
                <a:effectLst/>
                <a:latin typeface="KaTeX_Main"/>
              </a:rPr>
              <a:t>12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isotope.</a:t>
            </a:r>
            <a:endParaRPr lang="en-AU" dirty="0"/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114E7F3C-EEAD-40D5-B010-2C86561F2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2296954"/>
            <a:ext cx="5715000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9781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7E1BA3-A4F7-43A9-A7D6-14DE700CD845}"/>
              </a:ext>
            </a:extLst>
          </p:cNvPr>
          <p:cNvSpPr txBox="1"/>
          <p:nvPr/>
        </p:nvSpPr>
        <p:spPr>
          <a:xfrm>
            <a:off x="560070" y="577840"/>
            <a:ext cx="111899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may have noticed that on the periodic table the </a:t>
            </a:r>
            <a:r>
              <a:rPr lang="en-US" b="1" i="0" dirty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mass number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carbon is shown as </a:t>
            </a:r>
            <a:r>
              <a:rPr lang="en-US" b="1" i="0" dirty="0">
                <a:solidFill>
                  <a:srgbClr val="444444"/>
                </a:solidFill>
                <a:effectLst/>
                <a:latin typeface="KaTeX_Main"/>
              </a:rPr>
              <a:t>12.011.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mass number is the number of protons plus neutrons in the nucleus, but we cannot have </a:t>
            </a:r>
            <a:r>
              <a:rPr lang="en-US" b="0" i="0" dirty="0">
                <a:solidFill>
                  <a:srgbClr val="444444"/>
                </a:solidFill>
                <a:effectLst/>
                <a:latin typeface="KaTeX_Main"/>
              </a:rPr>
              <a:t>0.011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proton or neutron!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number shown on the periodic table is known as the </a:t>
            </a:r>
            <a:r>
              <a:rPr lang="en-US" b="1" i="0" dirty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relative atomic mass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is an</a:t>
            </a:r>
            <a:r>
              <a:rPr lang="en-US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1" i="0" dirty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average mass of all isotopes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carbon based on how abundant they are in nature. Since carbon-</a:t>
            </a:r>
            <a:r>
              <a:rPr lang="en-US" b="0" i="0" dirty="0">
                <a:solidFill>
                  <a:srgbClr val="444444"/>
                </a:solidFill>
                <a:effectLst/>
                <a:latin typeface="KaTeX_Main"/>
              </a:rPr>
              <a:t>12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makes up </a:t>
            </a:r>
            <a:r>
              <a:rPr lang="en-US" b="0" i="0" dirty="0">
                <a:solidFill>
                  <a:srgbClr val="444444"/>
                </a:solidFill>
                <a:effectLst/>
                <a:latin typeface="KaTeX_Main"/>
              </a:rPr>
              <a:t>98.9%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all carbon found in nature, the relative atomic mass of carbon is very close to </a:t>
            </a:r>
            <a:r>
              <a:rPr lang="en-US" b="0" i="0" dirty="0">
                <a:solidFill>
                  <a:srgbClr val="444444"/>
                </a:solidFill>
                <a:effectLst/>
                <a:latin typeface="KaTeX_Main"/>
              </a:rPr>
              <a:t>12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27650" name="Picture 2" descr="blank periodic table">
            <a:extLst>
              <a:ext uri="{FF2B5EF4-FFF2-40B4-BE49-F238E27FC236}">
                <a16:creationId xmlns:a16="http://schemas.microsoft.com/office/drawing/2014/main" id="{241B6DD6-13AF-4F65-9DFE-39A013001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3267" y="3384560"/>
            <a:ext cx="5743575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47154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D5972B-9B74-4321-8F65-70AACE8663B1}"/>
              </a:ext>
            </a:extLst>
          </p:cNvPr>
          <p:cNvSpPr txBox="1"/>
          <p:nvPr/>
        </p:nvSpPr>
        <p:spPr>
          <a:xfrm>
            <a:off x="302894" y="545515"/>
            <a:ext cx="10989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KaTeX_Main"/>
              </a:rPr>
              <a:t>Carbon-12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used as a standard for calculating the relative atomic mass of other elements.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95E67-E1E5-4E2C-8624-DA1CABCAE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4" y="1448752"/>
            <a:ext cx="10989945" cy="1136891"/>
          </a:xfrm>
          <a:prstGeom prst="rect">
            <a:avLst/>
          </a:prstGeom>
        </p:spPr>
      </p:pic>
      <p:pic>
        <p:nvPicPr>
          <p:cNvPr id="28674" name="Picture 2">
            <a:extLst>
              <a:ext uri="{FF2B5EF4-FFF2-40B4-BE49-F238E27FC236}">
                <a16:creationId xmlns:a16="http://schemas.microsoft.com/office/drawing/2014/main" id="{EA0001B9-2364-47BB-81DC-D83BE8976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4140785"/>
            <a:ext cx="1905000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1593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1798</Words>
  <Application>Microsoft Office PowerPoint</Application>
  <PresentationFormat>Widescreen</PresentationFormat>
  <Paragraphs>105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KaTeX_Main</vt:lpstr>
      <vt:lpstr>Office Theme</vt:lpstr>
      <vt:lpstr>Atomic Structure</vt:lpstr>
      <vt:lpstr>The Structure of the Atom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Atomic Number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are Isotopes?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Atomic Structure</dc:title>
  <dc:creator>Jean D'cruz</dc:creator>
  <cp:lastModifiedBy>Jean D'cruz</cp:lastModifiedBy>
  <cp:revision>1</cp:revision>
  <dcterms:created xsi:type="dcterms:W3CDTF">2021-12-14T12:00:01Z</dcterms:created>
  <dcterms:modified xsi:type="dcterms:W3CDTF">2021-12-14T14:52:17Z</dcterms:modified>
</cp:coreProperties>
</file>
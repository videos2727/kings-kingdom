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29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55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421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82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82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325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38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40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3477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304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87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4DF1E-3238-4BB7-90EE-4C9D89400C58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BB2F7-B00A-4D71-9EA8-AB6F3F4470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278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KZv9bsFD3w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Atomic Number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8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21038"/>
            <a:ext cx="11442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represented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symbols.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on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number of 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on the atomic number and the properties of the elements.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1737020.604571g/1501737017153-439281365505577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150" y="2829362"/>
            <a:ext cx="4064000" cy="351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22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educationperfect.com/media/content/Science/1501737703.467691g/1501737700418-439281365505577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641475"/>
            <a:ext cx="38100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35500" y="76714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symbol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representing the element can be chosen in several ways: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elements uses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letter of their names.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oxygen is O, phosphorus is P and nitrogen is 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letter is already taken (chlorine can't be C because that's carbon) most elements will 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reasonable letters.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chlorine is Cl, calcium is Ca and zinc is Zn. The first letter is a capital letter, but any other letters are lower case.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1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087" y="1974850"/>
            <a:ext cx="4683903" cy="29400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" y="155204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why is sodium written as Na?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elements have symbols that seem really strange. These are usually using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or two reasonable letters,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 another language!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gold is Au 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aurum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in Latin), tungsten is W (wolfram in German) and sodium is Na 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natrium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in Latin).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8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educationperfect.com/media/content/Science/1424900012.103741g/1424900014013-65306470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575" y="630237"/>
            <a:ext cx="380047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20700" y="3213438"/>
            <a:ext cx="10541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how many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nucleus has.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what defines an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element!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atom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 it is hydrogen, if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it is oxygen and if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it is plutonium.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861536"/>
            <a:ext cx="10807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neutral.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have the same amount of electrons as protons, so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also how many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18940920.320531g/1418940896085-49514480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4" y="2882899"/>
            <a:ext cx="381952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90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044139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B008B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mass of </a:t>
            </a:r>
            <a:r>
              <a:rPr lang="en-AU" sz="2400" b="1" i="0" dirty="0" smtClean="0">
                <a:solidFill>
                  <a:srgbClr val="8B008B"/>
                </a:solidFill>
                <a:effectLst/>
                <a:latin typeface="Arial" panose="020B0604020202020204" pitchFamily="34" charset="0"/>
              </a:rPr>
              <a:t>one atom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 </a:t>
            </a:r>
            <a:r>
              <a:rPr lang="en-AU" sz="2400" b="1" i="0" dirty="0" smtClean="0">
                <a:solidFill>
                  <a:srgbClr val="6A5ACD"/>
                </a:solidFill>
                <a:effectLst/>
                <a:latin typeface="Arial" panose="020B0604020202020204" pitchFamily="34" charset="0"/>
              </a:rPr>
              <a:t>number of 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plus the </a:t>
            </a: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number of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 of the atom.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 not considered when calculating the mass number because their mass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compared to protons and neutrons.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0130070.273911g/1440130066899-10267325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3906837"/>
            <a:ext cx="5238750" cy="245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13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77336"/>
            <a:ext cx="11049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dirty="0" smtClean="0">
                <a:effectLst/>
                <a:latin typeface="Arial" panose="020B0604020202020204" pitchFamily="34" charset="0"/>
              </a:rPr>
              <a:t>To find the number of neutrons in an atom, subtract the </a:t>
            </a:r>
            <a:r>
              <a:rPr lang="en-AU" sz="2400" b="1" dirty="0" smtClean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1" dirty="0" smtClean="0"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dirty="0" smtClean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mass number:</a:t>
            </a:r>
            <a:endParaRPr lang="en-AU" sz="2400" b="1" dirty="0" smtClean="0"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dirty="0" smtClean="0">
                <a:effectLst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0000"/>
                </a:solidFill>
                <a:effectLst/>
                <a:latin typeface="KaTeX_Main"/>
              </a:rPr>
              <a:t>mass number - atomic number = number of neutrons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KaTeX_Main"/>
              </a:rPr>
              <a:t>​</a:t>
            </a:r>
            <a:br>
              <a:rPr lang="en-AU" sz="2400" b="0" i="0" dirty="0" smtClean="0">
                <a:solidFill>
                  <a:srgbClr val="000000"/>
                </a:solidFill>
                <a:effectLst/>
                <a:latin typeface="KaTeX_Main"/>
              </a:rPr>
            </a:br>
            <a:endParaRPr lang="en-AU" sz="2400" b="0" i="0" dirty="0" smtClean="0">
              <a:solidFill>
                <a:srgbClr val="000000"/>
              </a:solidFill>
              <a:effectLst/>
              <a:latin typeface="KaTeX_Main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 </a:t>
            </a:r>
            <a:r>
              <a:rPr lang="en-AU" sz="2400" b="1" i="0" dirty="0" smtClean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 + neutrons) of one form of hydrogen could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 </a:t>
            </a:r>
            <a:r>
              <a:rPr lang="en-AU" sz="2400" b="1" i="0" dirty="0" smtClean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protons)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Therefore the number of </a:t>
            </a:r>
            <a:r>
              <a:rPr lang="en-AU" sz="2400" b="1" i="0" dirty="0" smtClean="0">
                <a:solidFill>
                  <a:srgbClr val="93E2EF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hydrogen atom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2−1=1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neutrons must always be a whole number (should not include any decimal places).</a:t>
            </a:r>
          </a:p>
          <a:p>
            <a:pPr algn="ctr"/>
            <a:r>
              <a:rPr lang="en-AU" sz="2400" dirty="0" smtClean="0">
                <a:solidFill>
                  <a:srgbClr val="000000"/>
                </a:solidFill>
                <a:effectLst/>
                <a:latin typeface="KaTeX_Main"/>
              </a:rPr>
              <a:t/>
            </a:r>
            <a:br>
              <a:rPr lang="en-AU" sz="2400" dirty="0" smtClean="0">
                <a:solidFill>
                  <a:srgbClr val="000000"/>
                </a:solidFill>
                <a:effectLst/>
                <a:latin typeface="KaTeX_Main"/>
              </a:rPr>
            </a:br>
            <a:endParaRPr lang="en-AU" sz="2400" dirty="0"/>
          </a:p>
        </p:txBody>
      </p:sp>
      <p:pic>
        <p:nvPicPr>
          <p:cNvPr id="7170" name="Picture 2" descr="https://www.educationperfect.com/media/content/Science/1525300564.451691g/1525300563547-411304081673847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0" y="4379435"/>
            <a:ext cx="7207250" cy="231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547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85341"/>
            <a:ext cx="11493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 </a:t>
            </a:r>
            <a:r>
              <a:rPr lang="en-AU" sz="2400" b="1" i="0" dirty="0" smtClean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only defined by the number of </a:t>
            </a:r>
            <a:r>
              <a:rPr lang="en-AU" sz="2400" b="1" i="0" dirty="0" smtClean="0">
                <a:solidFill>
                  <a:srgbClr val="B78E5C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have, they can have different numbers of </a:t>
            </a:r>
            <a:r>
              <a:rPr lang="en-AU" sz="2400" b="1" i="0" dirty="0" smtClean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neutrons and protons contribute to the </a:t>
            </a:r>
            <a:r>
              <a:rPr lang="en-AU" sz="2400" b="1" i="0" dirty="0" smtClean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atom, so different atoms of the same element can have different </a:t>
            </a:r>
            <a:r>
              <a:rPr lang="en-AU" sz="2400" b="1" i="0" dirty="0" smtClean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mass numbers.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 number of an element. Being a calculated average, the atomic mass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usually not a whole number.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value displayed on the periodic table alongside the atomic number.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398.309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33800" y="38100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6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KZv9bsFD3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3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6200" y="344438"/>
            <a:ext cx="1226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table that shows us all the elements.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ordered by increasing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atomic number.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shown, it consists of eighteen vertical columns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(groups)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seven horizontal rows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(periods),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two extra rows below.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91792032.573431g/1491792037454-159330112869577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62" y="2652762"/>
            <a:ext cx="7610475" cy="396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2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197535"/>
            <a:ext cx="11303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period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another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electron shell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filled.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4" y="2028825"/>
            <a:ext cx="10328275" cy="375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3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998835"/>
            <a:ext cx="11671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contains the elements with the </a:t>
            </a:r>
            <a:r>
              <a:rPr lang="en-AU" sz="2400" b="1" i="0" dirty="0" err="1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 same number of valence electrons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(electrons in their outer shell).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1960562"/>
            <a:ext cx="10423525" cy="43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7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509538"/>
            <a:ext cx="11722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are grouped by the number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these are the electrons that are involved with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bonding,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 dictate the properties of an element.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every element in group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noble gases) has a full outer shell, and none of them react except under extreme circumstances.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58" y="3173412"/>
            <a:ext cx="7972584" cy="273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40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65837"/>
            <a:ext cx="11569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valence electrons can be used to help predict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valencies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different groups.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Valency is the combining power of an element. Elements in the same group of the periodic table have the same valency.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08821401.030931g/1508821405822-337625775529834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2382837"/>
            <a:ext cx="721042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889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www.educationperfect.com/media/content/Science/1418786598.069641g/1418786517825-204883752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5" y="1604962"/>
            <a:ext cx="381000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118100" y="1604962"/>
            <a:ext cx="6845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Russian chemist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Dmitri Mendeleev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(1834-1907) created the original periodic table.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 arranged the known elements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according to their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(protons had not been discovered yet), 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according to their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properties.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87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" y="479336"/>
            <a:ext cx="11988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was impressive about Mendeleev's periodic table was that he left gaps for some elements that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weren't yet discovered,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two of which are shown here: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54372489.490331g/1454372493882-10042206630305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187" y="1460500"/>
            <a:ext cx="3197225" cy="186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9100" y="4188936"/>
            <a:ext cx="11506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question marks correspond to gallium (atomic mass of 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69.7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discovered in 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1875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germanium (atomic mass of 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72.6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discovered in 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KaTeX_Main"/>
              </a:rPr>
              <a:t>1886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He even somewhat accurately </a:t>
            </a:r>
            <a:r>
              <a:rPr lang="en-AU" sz="20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predicted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properties, such as melting point and density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30647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405537"/>
            <a:ext cx="11468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Mendeleev also placed some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heavier elements in front of lighter ones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their properties were more similar to those of other groups.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was later discovered to be because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defines an element, not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mass.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54375074.765241g/1454375079079-10042206630305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75" y="2433429"/>
            <a:ext cx="1901825" cy="199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92100" y="4986635"/>
            <a:ext cx="115697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most abundant isotope of </a:t>
            </a:r>
            <a:r>
              <a:rPr lang="en-AU" sz="2000" b="0" i="1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tellerium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AU" sz="2000" b="0" i="1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has more neutrons than iodine (I), however </a:t>
            </a:r>
            <a:r>
              <a:rPr lang="en-AU" sz="2000" b="0" i="1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tellerium</a:t>
            </a:r>
            <a:r>
              <a:rPr lang="en-AU" sz="20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has one less proton than iodine, and therefore goes first.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02102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07539"/>
            <a:ext cx="11582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you're ever deciding whether or not to put in some extra effort, just think about this: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 scientist called </a:t>
            </a:r>
            <a:r>
              <a:rPr lang="en-AU" sz="2400" b="1" i="1" dirty="0" err="1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Lothar</a:t>
            </a:r>
            <a:r>
              <a:rPr lang="en-AU" sz="2400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 Meyer published his version of the periodic table at the same time as Mendeleev, but didn't try to predict any new elements.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one is known as the father of the modern periodic table and has an element named after them?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18786598.069641g/1418786517825-204883752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3354527"/>
            <a:ext cx="381000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99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67</Paragraphs>
  <Slides>19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KaTeX_Main</vt:lpstr>
      <vt:lpstr>Office Theme</vt:lpstr>
      <vt:lpstr>Atomic 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Number</dc:title>
  <dc:creator>Joseph D'cruz</dc:creator>
  <cp:lastModifiedBy>Joseph D'cruz</cp:lastModifiedBy>
  <cp:revision>1</cp:revision>
  <dcterms:created xsi:type="dcterms:W3CDTF">2020-08-09T02:58:42Z</dcterms:created>
  <dcterms:modified xsi:type="dcterms:W3CDTF">2020-08-09T02:58:49Z</dcterms:modified>
</cp:coreProperties>
</file>
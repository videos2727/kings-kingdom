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9" r:id="rId20"/>
    <p:sldId id="274" r:id="rId21"/>
    <p:sldId id="275" r:id="rId22"/>
    <p:sldId id="276" r:id="rId23"/>
    <p:sldId id="277" r:id="rId24"/>
    <p:sldId id="278" r:id="rId25"/>
    <p:sldId id="280" r:id="rId26"/>
    <p:sldId id="281" r:id="rId27"/>
    <p:sldId id="282" r:id="rId28"/>
    <p:sldId id="283" r:id="rId29"/>
    <p:sldId id="284" r:id="rId30"/>
    <p:sldId id="285" r:id="rId31"/>
    <p:sldId id="286" r:id="rId32"/>
    <p:sldId id="287" r:id="rId33"/>
    <p:sldId id="288" r:id="rId34"/>
    <p:sldId id="289" r:id="rId35"/>
    <p:sldId id="29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DA1F39A2-8A58-4BF1-A639-98C814D03E2F}" type="datetimeFigureOut">
              <a:rPr lang="en-AU" smtClean="0"/>
              <a:t>6/03/2022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740D932-A41B-4E9E-A8CB-0A8F22BE8592}" type="slidenum">
              <a:rPr lang="en-AU" smtClean="0"/>
              <a:t>‹#›</a:t>
            </a:fld>
            <a:endParaRPr lang="en-AU"/>
          </a:p>
        </p:txBody>
      </p:sp>
    </p:spTree>
    <p:extLst>
      <p:ext uri="{BB962C8B-B14F-4D97-AF65-F5344CB8AC3E}">
        <p14:creationId xmlns:p14="http://schemas.microsoft.com/office/powerpoint/2010/main" val="1463031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DA1F39A2-8A58-4BF1-A639-98C814D03E2F}" type="datetimeFigureOut">
              <a:rPr lang="en-AU" smtClean="0"/>
              <a:t>6/03/2022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740D932-A41B-4E9E-A8CB-0A8F22BE8592}" type="slidenum">
              <a:rPr lang="en-AU" smtClean="0"/>
              <a:t>‹#›</a:t>
            </a:fld>
            <a:endParaRPr lang="en-AU"/>
          </a:p>
        </p:txBody>
      </p:sp>
    </p:spTree>
    <p:extLst>
      <p:ext uri="{BB962C8B-B14F-4D97-AF65-F5344CB8AC3E}">
        <p14:creationId xmlns:p14="http://schemas.microsoft.com/office/powerpoint/2010/main" val="1405762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A1F39A2-8A58-4BF1-A639-98C814D03E2F}" type="datetimeFigureOut">
              <a:rPr lang="en-AU" smtClean="0"/>
              <a:t>6/03/2022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740D932-A41B-4E9E-A8CB-0A8F22BE8592}" type="slidenum">
              <a:rPr lang="en-AU" smtClean="0"/>
              <a:t>‹#›</a:t>
            </a:fld>
            <a:endParaRPr lang="en-AU"/>
          </a:p>
        </p:txBody>
      </p:sp>
    </p:spTree>
    <p:extLst>
      <p:ext uri="{BB962C8B-B14F-4D97-AF65-F5344CB8AC3E}">
        <p14:creationId xmlns:p14="http://schemas.microsoft.com/office/powerpoint/2010/main" val="1836891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DA1F39A2-8A58-4BF1-A639-98C814D03E2F}" type="datetimeFigureOut">
              <a:rPr lang="en-AU" smtClean="0"/>
              <a:t>6/03/2022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740D932-A41B-4E9E-A8CB-0A8F22BE8592}" type="slidenum">
              <a:rPr lang="en-AU" smtClean="0"/>
              <a:t>‹#›</a:t>
            </a:fld>
            <a:endParaRPr lang="en-AU"/>
          </a:p>
        </p:txBody>
      </p:sp>
    </p:spTree>
    <p:extLst>
      <p:ext uri="{BB962C8B-B14F-4D97-AF65-F5344CB8AC3E}">
        <p14:creationId xmlns:p14="http://schemas.microsoft.com/office/powerpoint/2010/main" val="3289412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DA1F39A2-8A58-4BF1-A639-98C814D03E2F}" type="datetimeFigureOut">
              <a:rPr lang="en-AU" smtClean="0"/>
              <a:t>6/03/2022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740D932-A41B-4E9E-A8CB-0A8F22BE8592}" type="slidenum">
              <a:rPr lang="en-AU" smtClean="0"/>
              <a:t>‹#›</a:t>
            </a:fld>
            <a:endParaRPr lang="en-AU"/>
          </a:p>
        </p:txBody>
      </p:sp>
    </p:spTree>
    <p:extLst>
      <p:ext uri="{BB962C8B-B14F-4D97-AF65-F5344CB8AC3E}">
        <p14:creationId xmlns:p14="http://schemas.microsoft.com/office/powerpoint/2010/main" val="3744029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DA1F39A2-8A58-4BF1-A639-98C814D03E2F}" type="datetimeFigureOut">
              <a:rPr lang="en-AU" smtClean="0"/>
              <a:t>6/03/2022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740D932-A41B-4E9E-A8CB-0A8F22BE8592}" type="slidenum">
              <a:rPr lang="en-AU" smtClean="0"/>
              <a:t>‹#›</a:t>
            </a:fld>
            <a:endParaRPr lang="en-AU"/>
          </a:p>
        </p:txBody>
      </p:sp>
    </p:spTree>
    <p:extLst>
      <p:ext uri="{BB962C8B-B14F-4D97-AF65-F5344CB8AC3E}">
        <p14:creationId xmlns:p14="http://schemas.microsoft.com/office/powerpoint/2010/main" val="3779967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1F39A2-8A58-4BF1-A639-98C814D03E2F}" type="datetimeFigureOut">
              <a:rPr lang="en-AU" smtClean="0"/>
              <a:t>6/03/2022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740D932-A41B-4E9E-A8CB-0A8F22BE8592}" type="slidenum">
              <a:rPr lang="en-AU" smtClean="0"/>
              <a:t>‹#›</a:t>
            </a:fld>
            <a:endParaRPr lang="en-AU"/>
          </a:p>
        </p:txBody>
      </p:sp>
    </p:spTree>
    <p:extLst>
      <p:ext uri="{BB962C8B-B14F-4D97-AF65-F5344CB8AC3E}">
        <p14:creationId xmlns:p14="http://schemas.microsoft.com/office/powerpoint/2010/main" val="662354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A1F39A2-8A58-4BF1-A639-98C814D03E2F}" type="datetimeFigureOut">
              <a:rPr lang="en-AU" smtClean="0"/>
              <a:t>6/03/2022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740D932-A41B-4E9E-A8CB-0A8F22BE8592}" type="slidenum">
              <a:rPr lang="en-AU" smtClean="0"/>
              <a:t>‹#›</a:t>
            </a:fld>
            <a:endParaRPr lang="en-AU"/>
          </a:p>
        </p:txBody>
      </p:sp>
    </p:spTree>
    <p:extLst>
      <p:ext uri="{BB962C8B-B14F-4D97-AF65-F5344CB8AC3E}">
        <p14:creationId xmlns:p14="http://schemas.microsoft.com/office/powerpoint/2010/main" val="1401560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A1F39A2-8A58-4BF1-A639-98C814D03E2F}" type="datetimeFigureOut">
              <a:rPr lang="en-AU" smtClean="0"/>
              <a:t>6/03/2022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740D932-A41B-4E9E-A8CB-0A8F22BE8592}" type="slidenum">
              <a:rPr lang="en-AU" smtClean="0"/>
              <a:t>‹#›</a:t>
            </a:fld>
            <a:endParaRPr lang="en-AU"/>
          </a:p>
        </p:txBody>
      </p:sp>
    </p:spTree>
    <p:extLst>
      <p:ext uri="{BB962C8B-B14F-4D97-AF65-F5344CB8AC3E}">
        <p14:creationId xmlns:p14="http://schemas.microsoft.com/office/powerpoint/2010/main" val="3177899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DA1F39A2-8A58-4BF1-A639-98C814D03E2F}" type="datetimeFigureOut">
              <a:rPr lang="en-AU" smtClean="0"/>
              <a:t>6/03/2022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740D932-A41B-4E9E-A8CB-0A8F22BE8592}" type="slidenum">
              <a:rPr lang="en-AU" smtClean="0"/>
              <a:t>‹#›</a:t>
            </a:fld>
            <a:endParaRPr lang="en-AU"/>
          </a:p>
        </p:txBody>
      </p:sp>
    </p:spTree>
    <p:extLst>
      <p:ext uri="{BB962C8B-B14F-4D97-AF65-F5344CB8AC3E}">
        <p14:creationId xmlns:p14="http://schemas.microsoft.com/office/powerpoint/2010/main" val="2073024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DA1F39A2-8A58-4BF1-A639-98C814D03E2F}" type="datetimeFigureOut">
              <a:rPr lang="en-AU" smtClean="0"/>
              <a:t>6/03/2022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740D932-A41B-4E9E-A8CB-0A8F22BE8592}" type="slidenum">
              <a:rPr lang="en-AU" smtClean="0"/>
              <a:t>‹#›</a:t>
            </a:fld>
            <a:endParaRPr lang="en-AU"/>
          </a:p>
        </p:txBody>
      </p:sp>
    </p:spTree>
    <p:extLst>
      <p:ext uri="{BB962C8B-B14F-4D97-AF65-F5344CB8AC3E}">
        <p14:creationId xmlns:p14="http://schemas.microsoft.com/office/powerpoint/2010/main" val="2686890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1F39A2-8A58-4BF1-A639-98C814D03E2F}" type="datetimeFigureOut">
              <a:rPr lang="en-AU" smtClean="0"/>
              <a:t>6/03/2022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40D932-A41B-4E9E-A8CB-0A8F22BE8592}" type="slidenum">
              <a:rPr lang="en-AU" smtClean="0"/>
              <a:t>‹#›</a:t>
            </a:fld>
            <a:endParaRPr lang="en-AU"/>
          </a:p>
        </p:txBody>
      </p:sp>
    </p:spTree>
    <p:extLst>
      <p:ext uri="{BB962C8B-B14F-4D97-AF65-F5344CB8AC3E}">
        <p14:creationId xmlns:p14="http://schemas.microsoft.com/office/powerpoint/2010/main" val="28835908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Covalent Bonding</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3638865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Covalent Bonding</a:t>
            </a:r>
            <a:endParaRPr lang="en-AU" dirty="0"/>
          </a:p>
        </p:txBody>
      </p:sp>
      <p:sp>
        <p:nvSpPr>
          <p:cNvPr id="3" name="Text Placeholder 2"/>
          <p:cNvSpPr>
            <a:spLocks noGrp="1"/>
          </p:cNvSpPr>
          <p:nvPr>
            <p:ph type="body" idx="1"/>
          </p:nvPr>
        </p:nvSpPr>
        <p:spPr/>
        <p:txBody>
          <a:bodyPr/>
          <a:lstStyle/>
          <a:p>
            <a:endParaRPr lang="en-AU"/>
          </a:p>
        </p:txBody>
      </p:sp>
    </p:spTree>
    <p:extLst>
      <p:ext uri="{BB962C8B-B14F-4D97-AF65-F5344CB8AC3E}">
        <p14:creationId xmlns:p14="http://schemas.microsoft.com/office/powerpoint/2010/main" val="1114779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6700" y="384939"/>
            <a:ext cx="11430000" cy="2031325"/>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Atoms are most stable when they have </a:t>
            </a:r>
            <a:r>
              <a:rPr lang="en-AU" b="1" i="0" dirty="0" smtClean="0">
                <a:solidFill>
                  <a:srgbClr val="3598DC"/>
                </a:solidFill>
                <a:effectLst/>
                <a:latin typeface="Arial" panose="020B0604020202020204" pitchFamily="34" charset="0"/>
              </a:rPr>
              <a:t>full valence electron shells.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1" i="0" dirty="0" smtClean="0">
                <a:solidFill>
                  <a:srgbClr val="32B57C"/>
                </a:solidFill>
                <a:effectLst/>
                <a:latin typeface="Arial" panose="020B0604020202020204" pitchFamily="34" charset="0"/>
              </a:rPr>
              <a:t>Non-metal atoms</a:t>
            </a:r>
            <a:r>
              <a:rPr lang="en-AU" b="0" i="0" dirty="0" smtClean="0">
                <a:solidFill>
                  <a:srgbClr val="444444"/>
                </a:solidFill>
                <a:effectLst/>
                <a:latin typeface="Arial" panose="020B0604020202020204" pitchFamily="34" charset="0"/>
              </a:rPr>
              <a:t> have lots of electrons in their valence shells already, so they need to </a:t>
            </a:r>
            <a:r>
              <a:rPr lang="en-AU" b="1" i="0" dirty="0" smtClean="0">
                <a:solidFill>
                  <a:srgbClr val="004D99"/>
                </a:solidFill>
                <a:effectLst/>
                <a:latin typeface="Arial" panose="020B0604020202020204" pitchFamily="34" charset="0"/>
              </a:rPr>
              <a:t>gain electrons</a:t>
            </a:r>
            <a:r>
              <a:rPr lang="en-AU" b="0" i="0" dirty="0" smtClean="0">
                <a:solidFill>
                  <a:srgbClr val="444444"/>
                </a:solidFill>
                <a:effectLst/>
                <a:latin typeface="Arial" panose="020B0604020202020204" pitchFamily="34" charset="0"/>
              </a:rPr>
              <a:t> in order to fill their shells and become stable.</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One way they can do this is by </a:t>
            </a:r>
            <a:r>
              <a:rPr lang="en-AU" b="1" i="0" dirty="0" smtClean="0">
                <a:solidFill>
                  <a:srgbClr val="3598DC"/>
                </a:solidFill>
                <a:effectLst/>
                <a:latin typeface="Arial" panose="020B0604020202020204" pitchFamily="34" charset="0"/>
              </a:rPr>
              <a:t>sharing electrons</a:t>
            </a:r>
            <a:r>
              <a:rPr lang="en-AU" b="0" i="0" dirty="0" smtClean="0">
                <a:solidFill>
                  <a:srgbClr val="444444"/>
                </a:solidFill>
                <a:effectLst/>
                <a:latin typeface="Arial" panose="020B0604020202020204" pitchFamily="34" charset="0"/>
              </a:rPr>
              <a:t> with other non-metal atoms. When two non-metal atoms share valence electrons, a </a:t>
            </a:r>
            <a:r>
              <a:rPr lang="en-AU" b="1" i="0" dirty="0" smtClean="0">
                <a:solidFill>
                  <a:srgbClr val="004D99"/>
                </a:solidFill>
                <a:effectLst/>
                <a:latin typeface="Arial" panose="020B0604020202020204" pitchFamily="34" charset="0"/>
              </a:rPr>
              <a:t>covalent bond</a:t>
            </a:r>
            <a:r>
              <a:rPr lang="en-AU" b="0" i="0" dirty="0" smtClean="0">
                <a:solidFill>
                  <a:srgbClr val="444444"/>
                </a:solidFill>
                <a:effectLst/>
                <a:latin typeface="Arial" panose="020B0604020202020204" pitchFamily="34" charset="0"/>
              </a:rPr>
              <a:t> is formed.</a:t>
            </a:r>
            <a:endParaRPr lang="en-AU" b="0" i="0" dirty="0">
              <a:solidFill>
                <a:srgbClr val="444444"/>
              </a:solidFill>
              <a:effectLst/>
              <a:latin typeface="Arial" panose="020B0604020202020204" pitchFamily="34" charset="0"/>
            </a:endParaRPr>
          </a:p>
        </p:txBody>
      </p:sp>
      <p:pic>
        <p:nvPicPr>
          <p:cNvPr id="1026" name="Picture 2" descr="https://www.educationperfect.com/media/content/Science/1560982647.136931g/1560982648797-1318672855570808-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4575" y="2595562"/>
            <a:ext cx="7610475" cy="4152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4194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1800" y="476240"/>
            <a:ext cx="11303000" cy="2308324"/>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Covalent bonds are held together by </a:t>
            </a:r>
            <a:r>
              <a:rPr lang="en-AU" b="1" i="0" dirty="0" smtClean="0">
                <a:solidFill>
                  <a:srgbClr val="004D99"/>
                </a:solidFill>
                <a:effectLst/>
                <a:latin typeface="Arial" panose="020B0604020202020204" pitchFamily="34" charset="0"/>
              </a:rPr>
              <a:t>electrostatic attraction.</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Electrostatic attraction is the attractive force between two particles with </a:t>
            </a:r>
            <a:r>
              <a:rPr lang="en-AU" b="1" i="0" dirty="0" smtClean="0">
                <a:solidFill>
                  <a:srgbClr val="004D99"/>
                </a:solidFill>
                <a:effectLst/>
                <a:latin typeface="Arial" panose="020B0604020202020204" pitchFamily="34" charset="0"/>
              </a:rPr>
              <a:t>opposite electrical charges.</a:t>
            </a:r>
            <a:r>
              <a:rPr lang="en-AU" b="0" i="0" dirty="0" smtClean="0">
                <a:solidFill>
                  <a:srgbClr val="444444"/>
                </a:solidFill>
                <a:effectLst/>
                <a:latin typeface="Arial" panose="020B0604020202020204" pitchFamily="34" charset="0"/>
              </a:rPr>
              <a:t> When two atoms share electrons in a covalent bond, the </a:t>
            </a:r>
            <a:r>
              <a:rPr lang="en-AU" b="1" i="0" dirty="0" smtClean="0">
                <a:solidFill>
                  <a:srgbClr val="32B57C"/>
                </a:solidFill>
                <a:effectLst/>
                <a:latin typeface="Arial" panose="020B0604020202020204" pitchFamily="34" charset="0"/>
              </a:rPr>
              <a:t>positively charged nuclei</a:t>
            </a:r>
            <a:r>
              <a:rPr lang="en-AU" b="0" i="0" dirty="0" smtClean="0">
                <a:solidFill>
                  <a:srgbClr val="444444"/>
                </a:solidFill>
                <a:effectLst/>
                <a:latin typeface="Arial" panose="020B0604020202020204" pitchFamily="34" charset="0"/>
              </a:rPr>
              <a:t> of the atoms are attracted to the </a:t>
            </a:r>
            <a:r>
              <a:rPr lang="en-AU" b="1" i="0" dirty="0" smtClean="0">
                <a:solidFill>
                  <a:srgbClr val="3598DC"/>
                </a:solidFill>
                <a:effectLst/>
                <a:latin typeface="Arial" panose="020B0604020202020204" pitchFamily="34" charset="0"/>
              </a:rPr>
              <a:t>negatively charged electrons.</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The electrostatic attraction is quite strong. Since neither atom wants to lose its now full valence shell, </a:t>
            </a:r>
            <a:r>
              <a:rPr lang="en-AU" b="1" i="0" dirty="0" smtClean="0">
                <a:solidFill>
                  <a:srgbClr val="3598DC"/>
                </a:solidFill>
                <a:effectLst/>
                <a:latin typeface="Arial" panose="020B0604020202020204" pitchFamily="34" charset="0"/>
              </a:rPr>
              <a:t>covalent bonds are strong</a:t>
            </a:r>
            <a:r>
              <a:rPr lang="en-AU" b="0" i="0" dirty="0" smtClean="0">
                <a:solidFill>
                  <a:srgbClr val="444444"/>
                </a:solidFill>
                <a:effectLst/>
                <a:latin typeface="Arial" panose="020B0604020202020204" pitchFamily="34" charset="0"/>
              </a:rPr>
              <a:t> and require </a:t>
            </a:r>
            <a:r>
              <a:rPr lang="en-AU" b="1" i="0" dirty="0" smtClean="0">
                <a:solidFill>
                  <a:srgbClr val="32B57C"/>
                </a:solidFill>
                <a:effectLst/>
                <a:latin typeface="Arial" panose="020B0604020202020204" pitchFamily="34" charset="0"/>
              </a:rPr>
              <a:t>a lot of energy to break.</a:t>
            </a:r>
            <a:endParaRPr lang="en-AU" b="0" i="0" dirty="0">
              <a:solidFill>
                <a:srgbClr val="444444"/>
              </a:solidFill>
              <a:effectLst/>
              <a:latin typeface="Arial" panose="020B0604020202020204" pitchFamily="34" charset="0"/>
            </a:endParaRPr>
          </a:p>
        </p:txBody>
      </p:sp>
      <p:pic>
        <p:nvPicPr>
          <p:cNvPr id="2050" name="Picture 2" descr="https://www.educationperfect.com/media/content/Science/1560990272.613621g/1560990274585-1318672855570808-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8675" y="3965575"/>
            <a:ext cx="5133476" cy="1355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1189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800" y="192038"/>
            <a:ext cx="11595100" cy="1477328"/>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The number of covalent bonds an atom can form is known as the </a:t>
            </a:r>
            <a:r>
              <a:rPr lang="en-AU" b="1" i="0" dirty="0" smtClean="0">
                <a:solidFill>
                  <a:srgbClr val="FF7F50"/>
                </a:solidFill>
                <a:effectLst/>
                <a:latin typeface="Arial" panose="020B0604020202020204" pitchFamily="34" charset="0"/>
              </a:rPr>
              <a:t>valency</a:t>
            </a:r>
            <a:r>
              <a:rPr lang="en-AU" b="1" i="0" dirty="0" smtClean="0">
                <a:solidFill>
                  <a:srgbClr val="444444"/>
                </a:solidFill>
                <a:effectLst/>
                <a:latin typeface="Arial" panose="020B0604020202020204" pitchFamily="34" charset="0"/>
              </a:rPr>
              <a:t> of the atom.</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Valency is determined by the number of valence electrons </a:t>
            </a:r>
            <a:r>
              <a:rPr lang="en-AU" b="1" i="0" dirty="0" smtClean="0">
                <a:solidFill>
                  <a:srgbClr val="004D99"/>
                </a:solidFill>
                <a:effectLst/>
                <a:latin typeface="Arial" panose="020B0604020202020204" pitchFamily="34" charset="0"/>
              </a:rPr>
              <a:t>required to fill the valence shell.</a:t>
            </a:r>
            <a:r>
              <a:rPr lang="en-AU" b="0" i="0" dirty="0" smtClean="0">
                <a:solidFill>
                  <a:srgbClr val="444444"/>
                </a:solidFill>
                <a:effectLst/>
                <a:latin typeface="Arial" panose="020B0604020202020204" pitchFamily="34" charset="0"/>
              </a:rPr>
              <a:t> Non-metals usually form the </a:t>
            </a:r>
            <a:r>
              <a:rPr lang="en-AU" b="1" i="0" dirty="0" smtClean="0">
                <a:solidFill>
                  <a:srgbClr val="3598DC"/>
                </a:solidFill>
                <a:effectLst/>
                <a:latin typeface="Arial" panose="020B0604020202020204" pitchFamily="34" charset="0"/>
              </a:rPr>
              <a:t>same number of covalent bonds</a:t>
            </a:r>
            <a:r>
              <a:rPr lang="en-AU" b="0" i="0" dirty="0" smtClean="0">
                <a:solidFill>
                  <a:srgbClr val="444444"/>
                </a:solidFill>
                <a:effectLst/>
                <a:latin typeface="Arial" panose="020B0604020202020204" pitchFamily="34" charset="0"/>
              </a:rPr>
              <a:t> as the number of valence electrons </a:t>
            </a:r>
            <a:r>
              <a:rPr lang="en-AU" b="1" i="0" dirty="0" smtClean="0">
                <a:solidFill>
                  <a:srgbClr val="FF7F50"/>
                </a:solidFill>
                <a:effectLst/>
                <a:latin typeface="Arial" panose="020B0604020202020204" pitchFamily="34" charset="0"/>
              </a:rPr>
              <a:t>missing</a:t>
            </a:r>
            <a:r>
              <a:rPr lang="en-AU" b="0" i="0" dirty="0" smtClean="0">
                <a:solidFill>
                  <a:srgbClr val="444444"/>
                </a:solidFill>
                <a:effectLst/>
                <a:latin typeface="Arial" panose="020B0604020202020204" pitchFamily="34" charset="0"/>
              </a:rPr>
              <a:t> from their valence shells.</a:t>
            </a:r>
            <a:endParaRPr lang="en-AU" b="0" i="0" dirty="0">
              <a:solidFill>
                <a:srgbClr val="444444"/>
              </a:solidFill>
              <a:effectLst/>
              <a:latin typeface="Arial" panose="020B0604020202020204" pitchFamily="34" charset="0"/>
            </a:endParaRPr>
          </a:p>
        </p:txBody>
      </p:sp>
      <p:pic>
        <p:nvPicPr>
          <p:cNvPr id="3074" name="Picture 2" descr="https://www.educationperfect.com/media/content/Science/1569888211.833281g/1569888211714-3952784234657896-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5475" y="3405138"/>
            <a:ext cx="828675" cy="9239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www.educationperfect.com/media/content/Science/1569888248.938761g/1569888248821-3952784234657896-optimis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9475" y="2533600"/>
            <a:ext cx="21717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6263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487740"/>
            <a:ext cx="11315700" cy="2308324"/>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For example, </a:t>
            </a:r>
            <a:r>
              <a:rPr lang="en-AU" b="1" i="0" dirty="0" smtClean="0">
                <a:solidFill>
                  <a:srgbClr val="00868B"/>
                </a:solidFill>
                <a:effectLst/>
                <a:latin typeface="Arial" panose="020B0604020202020204" pitchFamily="34" charset="0"/>
              </a:rPr>
              <a:t>water</a:t>
            </a:r>
            <a:r>
              <a:rPr lang="en-AU" b="1" i="0" dirty="0" smtClean="0">
                <a:solidFill>
                  <a:srgbClr val="444444"/>
                </a:solidFill>
                <a:effectLst/>
                <a:latin typeface="Arial" panose="020B0604020202020204" pitchFamily="34" charset="0"/>
              </a:rPr>
              <a:t> is a molecule made up of one oxygen atom and two hydrogen atoms, covalently bonded together.</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Oxygen atoms have </a:t>
            </a:r>
            <a:r>
              <a:rPr lang="en-AU" b="1" i="0" dirty="0" smtClean="0">
                <a:solidFill>
                  <a:srgbClr val="00868B"/>
                </a:solidFill>
                <a:effectLst/>
                <a:latin typeface="Arial" panose="020B0604020202020204" pitchFamily="34" charset="0"/>
              </a:rPr>
              <a:t>six valence electrons,</a:t>
            </a:r>
            <a:r>
              <a:rPr lang="en-AU" b="0" i="0" dirty="0" smtClean="0">
                <a:solidFill>
                  <a:srgbClr val="444444"/>
                </a:solidFill>
                <a:effectLst/>
                <a:latin typeface="Arial" panose="020B0604020202020204" pitchFamily="34" charset="0"/>
              </a:rPr>
              <a:t> and need two more to fill their valence shell. The </a:t>
            </a:r>
            <a:r>
              <a:rPr lang="en-AU" b="1" i="0" dirty="0" smtClean="0">
                <a:solidFill>
                  <a:srgbClr val="FF7F50"/>
                </a:solidFill>
                <a:effectLst/>
                <a:latin typeface="Arial" panose="020B0604020202020204" pitchFamily="34" charset="0"/>
              </a:rPr>
              <a:t>valency</a:t>
            </a:r>
            <a:r>
              <a:rPr lang="en-AU" b="0" i="0" dirty="0" smtClean="0">
                <a:solidFill>
                  <a:srgbClr val="444444"/>
                </a:solidFill>
                <a:effectLst/>
                <a:latin typeface="Arial" panose="020B0604020202020204" pitchFamily="34" charset="0"/>
              </a:rPr>
              <a:t> of an oxygen atom is </a:t>
            </a:r>
            <a:r>
              <a:rPr lang="en-AU" b="1" i="0" dirty="0" smtClean="0">
                <a:solidFill>
                  <a:srgbClr val="FF7F50"/>
                </a:solidFill>
                <a:effectLst/>
                <a:latin typeface="Arial" panose="020B0604020202020204" pitchFamily="34" charset="0"/>
              </a:rPr>
              <a:t>two.</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Hydrogen atoms have </a:t>
            </a:r>
            <a:r>
              <a:rPr lang="en-AU" b="1" i="0" dirty="0" smtClean="0">
                <a:solidFill>
                  <a:srgbClr val="00868B"/>
                </a:solidFill>
                <a:effectLst/>
                <a:latin typeface="Arial" panose="020B0604020202020204" pitchFamily="34" charset="0"/>
              </a:rPr>
              <a:t>one valence electron,</a:t>
            </a:r>
            <a:r>
              <a:rPr lang="en-AU" b="0" i="0" dirty="0" smtClean="0">
                <a:solidFill>
                  <a:srgbClr val="444444"/>
                </a:solidFill>
                <a:effectLst/>
                <a:latin typeface="Arial" panose="020B0604020202020204" pitchFamily="34" charset="0"/>
              </a:rPr>
              <a:t> and need one more to fill their valence shell. The </a:t>
            </a:r>
            <a:r>
              <a:rPr lang="en-AU" b="1" i="0" dirty="0" smtClean="0">
                <a:solidFill>
                  <a:srgbClr val="3598DC"/>
                </a:solidFill>
                <a:effectLst/>
                <a:latin typeface="Arial" panose="020B0604020202020204" pitchFamily="34" charset="0"/>
              </a:rPr>
              <a:t>valency</a:t>
            </a:r>
            <a:r>
              <a:rPr lang="en-AU" b="0" i="0" dirty="0" smtClean="0">
                <a:solidFill>
                  <a:srgbClr val="444444"/>
                </a:solidFill>
                <a:effectLst/>
                <a:latin typeface="Arial" panose="020B0604020202020204" pitchFamily="34" charset="0"/>
              </a:rPr>
              <a:t> of a hydrogen atom is </a:t>
            </a:r>
            <a:r>
              <a:rPr lang="en-AU" b="1" i="0" dirty="0" smtClean="0">
                <a:solidFill>
                  <a:srgbClr val="3598DC"/>
                </a:solidFill>
                <a:effectLst/>
                <a:latin typeface="Arial" panose="020B0604020202020204" pitchFamily="34" charset="0"/>
              </a:rPr>
              <a:t>one.</a:t>
            </a:r>
            <a:endParaRPr lang="en-AU" b="0" i="0" dirty="0">
              <a:solidFill>
                <a:srgbClr val="444444"/>
              </a:solidFill>
              <a:effectLst/>
              <a:latin typeface="Arial" panose="020B0604020202020204" pitchFamily="34" charset="0"/>
            </a:endParaRPr>
          </a:p>
        </p:txBody>
      </p:sp>
      <p:pic>
        <p:nvPicPr>
          <p:cNvPr id="4098" name="Picture 2" descr="https://www.educationperfect.com/media/content/Science/1557366489.346691g/1557366489802-1902307906503507-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74" y="3094037"/>
            <a:ext cx="7923345" cy="136366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825500" y="4826675"/>
            <a:ext cx="10020300" cy="1200329"/>
          </a:xfrm>
          <a:prstGeom prst="rect">
            <a:avLst/>
          </a:prstGeom>
        </p:spPr>
        <p:txBody>
          <a:bodyPr wrap="square">
            <a:spAutoFit/>
          </a:bodyPr>
          <a:lstStyle/>
          <a:p>
            <a:r>
              <a:rPr lang="en-AU" b="0" i="1" dirty="0" smtClean="0">
                <a:solidFill>
                  <a:srgbClr val="444444"/>
                </a:solidFill>
                <a:effectLst/>
                <a:latin typeface="Arial" panose="020B0604020202020204" pitchFamily="34" charset="0"/>
              </a:rPr>
              <a:t>In water, an oxygen atom bonds to two hydrogen atoms, sharing one electron with each. This fills the valence shell of the oxygen atom and the hydrogen atoms. Since the valency of a hydrogen atom is one, they can only form one bond, so an oxygen atom must bond to two different hydrogen atoms in order to fill its valence shell and become stable.</a:t>
            </a:r>
            <a:endParaRPr lang="en-AU" dirty="0"/>
          </a:p>
        </p:txBody>
      </p:sp>
    </p:spTree>
    <p:extLst>
      <p:ext uri="{BB962C8B-B14F-4D97-AF65-F5344CB8AC3E}">
        <p14:creationId xmlns:p14="http://schemas.microsoft.com/office/powerpoint/2010/main" val="1288651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311140"/>
            <a:ext cx="11252200" cy="2585323"/>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Covalent bonds can be single, double, or triple bonds.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Atoms with a valency of greater than one can form </a:t>
            </a:r>
            <a:r>
              <a:rPr lang="en-AU" b="1" i="0" dirty="0" smtClean="0">
                <a:solidFill>
                  <a:srgbClr val="004D99"/>
                </a:solidFill>
                <a:effectLst/>
                <a:latin typeface="Arial" panose="020B0604020202020204" pitchFamily="34" charset="0"/>
              </a:rPr>
              <a:t>multiple covalent bonds.</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In a </a:t>
            </a:r>
            <a:r>
              <a:rPr lang="en-AU" b="1" i="0" dirty="0" smtClean="0">
                <a:solidFill>
                  <a:srgbClr val="00868B"/>
                </a:solidFill>
                <a:effectLst/>
                <a:latin typeface="Arial" panose="020B0604020202020204" pitchFamily="34" charset="0"/>
              </a:rPr>
              <a:t>single covalent bond,</a:t>
            </a:r>
            <a:r>
              <a:rPr lang="en-AU" b="0" i="0" dirty="0" smtClean="0">
                <a:solidFill>
                  <a:srgbClr val="444444"/>
                </a:solidFill>
                <a:effectLst/>
                <a:latin typeface="Arial" panose="020B0604020202020204" pitchFamily="34" charset="0"/>
              </a:rPr>
              <a:t> each atom contributes one electron to the bond. </a:t>
            </a:r>
            <a:r>
              <a:rPr lang="en-AU" b="1" i="0" dirty="0" smtClean="0">
                <a:solidFill>
                  <a:srgbClr val="3598DC"/>
                </a:solidFill>
                <a:effectLst/>
                <a:latin typeface="Arial" panose="020B0604020202020204" pitchFamily="34" charset="0"/>
              </a:rPr>
              <a:t>Two electrons are shared</a:t>
            </a:r>
            <a:r>
              <a:rPr lang="en-AU" b="0" i="0" dirty="0" smtClean="0">
                <a:solidFill>
                  <a:srgbClr val="444444"/>
                </a:solidFill>
                <a:effectLst/>
                <a:latin typeface="Arial" panose="020B0604020202020204" pitchFamily="34" charset="0"/>
              </a:rPr>
              <a:t> between atoms.</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For example, in a molecule of </a:t>
            </a:r>
            <a:r>
              <a:rPr lang="en-AU" b="0" i="0" dirty="0" smtClean="0">
                <a:solidFill>
                  <a:srgbClr val="444444"/>
                </a:solidFill>
                <a:effectLst/>
                <a:latin typeface="KaTeX_Main"/>
              </a:rPr>
              <a:t>H</a:t>
            </a:r>
            <a:r>
              <a:rPr lang="en-AU" b="0" i="0" baseline="-25000" dirty="0" smtClean="0">
                <a:solidFill>
                  <a:srgbClr val="444444"/>
                </a:solidFill>
                <a:effectLst/>
                <a:latin typeface="KaTeX_Main"/>
              </a:rPr>
              <a:t>2</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a:t>
            </a:r>
            <a:r>
              <a:rPr lang="en-AU" b="1" i="0" dirty="0" smtClean="0">
                <a:solidFill>
                  <a:srgbClr val="3598DC"/>
                </a:solidFill>
                <a:effectLst/>
                <a:latin typeface="Arial" panose="020B0604020202020204" pitchFamily="34" charset="0"/>
              </a:rPr>
              <a:t>two hydrogen atoms</a:t>
            </a:r>
            <a:r>
              <a:rPr lang="en-AU" b="0" i="0" dirty="0" smtClean="0">
                <a:solidFill>
                  <a:srgbClr val="444444"/>
                </a:solidFill>
                <a:effectLst/>
                <a:latin typeface="Arial" panose="020B0604020202020204" pitchFamily="34" charset="0"/>
              </a:rPr>
              <a:t> each share one electron with each other to form a </a:t>
            </a:r>
            <a:r>
              <a:rPr lang="en-AU" b="1" i="0" dirty="0" smtClean="0">
                <a:solidFill>
                  <a:srgbClr val="00868B"/>
                </a:solidFill>
                <a:effectLst/>
                <a:latin typeface="Arial" panose="020B0604020202020204" pitchFamily="34" charset="0"/>
              </a:rPr>
              <a:t>single covalent bond.</a:t>
            </a:r>
            <a:endParaRPr lang="en-AU" b="0" i="0" dirty="0">
              <a:solidFill>
                <a:srgbClr val="444444"/>
              </a:solidFill>
              <a:effectLst/>
              <a:latin typeface="Arial" panose="020B0604020202020204" pitchFamily="34" charset="0"/>
            </a:endParaRPr>
          </a:p>
        </p:txBody>
      </p:sp>
      <p:pic>
        <p:nvPicPr>
          <p:cNvPr id="5122" name="Picture 2" descr="https://www.educationperfect.com/media/content/Science/1422324344.665611g/1422324338954-87046367-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275" y="3886200"/>
            <a:ext cx="3810000"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9062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2600" y="420638"/>
            <a:ext cx="11150600" cy="1477328"/>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When four electrons are shared (i.e. two from each atom), a </a:t>
            </a:r>
            <a:r>
              <a:rPr lang="en-AU" b="1" i="0" dirty="0" smtClean="0">
                <a:solidFill>
                  <a:srgbClr val="0066CC"/>
                </a:solidFill>
                <a:effectLst/>
                <a:latin typeface="Arial" panose="020B0604020202020204" pitchFamily="34" charset="0"/>
              </a:rPr>
              <a:t>double covalent bond</a:t>
            </a:r>
            <a:r>
              <a:rPr lang="en-AU" b="1" i="0" dirty="0" smtClean="0">
                <a:solidFill>
                  <a:srgbClr val="444444"/>
                </a:solidFill>
                <a:effectLst/>
                <a:latin typeface="Arial" panose="020B0604020202020204" pitchFamily="34" charset="0"/>
              </a:rPr>
              <a:t> is formed.</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For example, an </a:t>
            </a:r>
            <a:r>
              <a:rPr lang="en-AU" b="1" i="0" dirty="0" smtClean="0">
                <a:solidFill>
                  <a:srgbClr val="FF7F50"/>
                </a:solidFill>
                <a:effectLst/>
                <a:latin typeface="Arial" panose="020B0604020202020204" pitchFamily="34" charset="0"/>
              </a:rPr>
              <a:t>oxygen</a:t>
            </a:r>
            <a:r>
              <a:rPr lang="en-AU" b="0" i="0" dirty="0" smtClean="0">
                <a:solidFill>
                  <a:srgbClr val="444444"/>
                </a:solidFill>
                <a:effectLst/>
                <a:latin typeface="Arial" panose="020B0604020202020204" pitchFamily="34" charset="0"/>
              </a:rPr>
              <a:t> atom has a valency of two. It can form </a:t>
            </a:r>
            <a:r>
              <a:rPr lang="en-AU" b="1" i="0" dirty="0" smtClean="0">
                <a:solidFill>
                  <a:srgbClr val="00868B"/>
                </a:solidFill>
                <a:effectLst/>
                <a:latin typeface="Arial" panose="020B0604020202020204" pitchFamily="34" charset="0"/>
              </a:rPr>
              <a:t>two single covalent bonds,</a:t>
            </a:r>
            <a:r>
              <a:rPr lang="en-AU" b="0" i="0" dirty="0" smtClean="0">
                <a:solidFill>
                  <a:srgbClr val="444444"/>
                </a:solidFill>
                <a:effectLst/>
                <a:latin typeface="Arial" panose="020B0604020202020204" pitchFamily="34" charset="0"/>
              </a:rPr>
              <a:t> such as with two hydrogen atoms to form water. It can also form </a:t>
            </a:r>
            <a:r>
              <a:rPr lang="en-AU" b="1" i="0" dirty="0" smtClean="0">
                <a:solidFill>
                  <a:srgbClr val="0066CC"/>
                </a:solidFill>
                <a:effectLst/>
                <a:latin typeface="Arial" panose="020B0604020202020204" pitchFamily="34" charset="0"/>
              </a:rPr>
              <a:t>one double covalent bond,</a:t>
            </a:r>
            <a:r>
              <a:rPr lang="en-AU" b="0" i="0" dirty="0" smtClean="0">
                <a:solidFill>
                  <a:srgbClr val="444444"/>
                </a:solidFill>
                <a:effectLst/>
                <a:latin typeface="Arial" panose="020B0604020202020204" pitchFamily="34" charset="0"/>
              </a:rPr>
              <a:t> such as with another oxygen atom to form an oxygen molecule.</a:t>
            </a:r>
            <a:endParaRPr lang="en-AU" b="0" i="0" dirty="0">
              <a:solidFill>
                <a:srgbClr val="444444"/>
              </a:solidFill>
              <a:effectLst/>
              <a:latin typeface="Arial" panose="020B0604020202020204" pitchFamily="34" charset="0"/>
            </a:endParaRPr>
          </a:p>
        </p:txBody>
      </p:sp>
      <p:pic>
        <p:nvPicPr>
          <p:cNvPr id="6146" name="Picture 2" descr="https://www.educationperfect.com/media/content/Science/1569887925.596471g/1569887925432-3952784234657896-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8275" y="3246437"/>
            <a:ext cx="2047875" cy="134302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s://www.educationperfect.com/media/content/Science/1569887983.243671g/1569887983134-3952784234657896-optimis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3975" y="3246437"/>
            <a:ext cx="1676400" cy="91440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254375" y="4770645"/>
            <a:ext cx="6096000" cy="1477328"/>
          </a:xfrm>
          <a:prstGeom prst="rect">
            <a:avLst/>
          </a:prstGeom>
        </p:spPr>
        <p:txBody>
          <a:bodyPr>
            <a:spAutoFit/>
          </a:bodyPr>
          <a:lstStyle/>
          <a:p>
            <a:r>
              <a:rPr lang="en-AU" b="0" i="1" dirty="0" smtClean="0">
                <a:solidFill>
                  <a:srgbClr val="444444"/>
                </a:solidFill>
                <a:effectLst/>
                <a:latin typeface="Arial" panose="020B0604020202020204" pitchFamily="34" charset="0"/>
              </a:rPr>
              <a:t>The dots show the arrangement of valence electrons around each atom. When the electrons are found between two atoms, this indicates they are involved in a covalent bond. Oxygen forms two single bonds in a water molecule (left), and one double bond in an oxygen molecule (right).</a:t>
            </a:r>
            <a:endParaRPr lang="en-AU" dirty="0"/>
          </a:p>
        </p:txBody>
      </p:sp>
    </p:spTree>
    <p:extLst>
      <p:ext uri="{BB962C8B-B14F-4D97-AF65-F5344CB8AC3E}">
        <p14:creationId xmlns:p14="http://schemas.microsoft.com/office/powerpoint/2010/main" val="3905649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6100" y="407938"/>
            <a:ext cx="11112500" cy="1477328"/>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When </a:t>
            </a:r>
            <a:r>
              <a:rPr lang="en-AU" b="1" i="0" dirty="0" smtClean="0">
                <a:solidFill>
                  <a:srgbClr val="32B57C"/>
                </a:solidFill>
                <a:effectLst/>
                <a:latin typeface="Arial" panose="020B0604020202020204" pitchFamily="34" charset="0"/>
              </a:rPr>
              <a:t>six electrons</a:t>
            </a:r>
            <a:r>
              <a:rPr lang="en-AU" b="1" i="0" dirty="0" smtClean="0">
                <a:solidFill>
                  <a:srgbClr val="444444"/>
                </a:solidFill>
                <a:effectLst/>
                <a:latin typeface="Arial" panose="020B0604020202020204" pitchFamily="34" charset="0"/>
              </a:rPr>
              <a:t> are shared (i.e. three from each atom), a </a:t>
            </a:r>
            <a:r>
              <a:rPr lang="en-AU" b="1" i="0" dirty="0" smtClean="0">
                <a:solidFill>
                  <a:srgbClr val="004D99"/>
                </a:solidFill>
                <a:effectLst/>
                <a:latin typeface="Arial" panose="020B0604020202020204" pitchFamily="34" charset="0"/>
              </a:rPr>
              <a:t>triple covalent bond</a:t>
            </a:r>
            <a:r>
              <a:rPr lang="en-AU" b="1" i="0" dirty="0" smtClean="0">
                <a:solidFill>
                  <a:srgbClr val="444444"/>
                </a:solidFill>
                <a:effectLst/>
                <a:latin typeface="Arial" panose="020B0604020202020204" pitchFamily="34" charset="0"/>
              </a:rPr>
              <a:t> is formed.</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For example, </a:t>
            </a:r>
            <a:r>
              <a:rPr lang="en-AU" b="1" i="0" dirty="0" smtClean="0">
                <a:solidFill>
                  <a:srgbClr val="32B57C"/>
                </a:solidFill>
                <a:effectLst/>
                <a:latin typeface="Arial" panose="020B0604020202020204" pitchFamily="34" charset="0"/>
              </a:rPr>
              <a:t>nitrogen</a:t>
            </a:r>
            <a:r>
              <a:rPr lang="en-AU" b="0" i="0" dirty="0" smtClean="0">
                <a:solidFill>
                  <a:srgbClr val="444444"/>
                </a:solidFill>
                <a:effectLst/>
                <a:latin typeface="Arial" panose="020B0604020202020204" pitchFamily="34" charset="0"/>
              </a:rPr>
              <a:t> has a valency of three. It can form </a:t>
            </a:r>
            <a:r>
              <a:rPr lang="en-AU" b="1" i="0" dirty="0" smtClean="0">
                <a:solidFill>
                  <a:srgbClr val="00868B"/>
                </a:solidFill>
                <a:effectLst/>
                <a:latin typeface="Arial" panose="020B0604020202020204" pitchFamily="34" charset="0"/>
              </a:rPr>
              <a:t>three single covalent bonds,</a:t>
            </a:r>
            <a:r>
              <a:rPr lang="en-AU" b="0" i="0" dirty="0" smtClean="0">
                <a:solidFill>
                  <a:srgbClr val="444444"/>
                </a:solidFill>
                <a:effectLst/>
                <a:latin typeface="Arial" panose="020B0604020202020204" pitchFamily="34" charset="0"/>
              </a:rPr>
              <a:t> such as with three hydrogen atoms to form ammonia. It can also form </a:t>
            </a:r>
            <a:r>
              <a:rPr lang="en-AU" b="1" i="0" dirty="0" smtClean="0">
                <a:solidFill>
                  <a:srgbClr val="004D99"/>
                </a:solidFill>
                <a:effectLst/>
                <a:latin typeface="Arial" panose="020B0604020202020204" pitchFamily="34" charset="0"/>
              </a:rPr>
              <a:t>one triple covalent bond</a:t>
            </a:r>
            <a:r>
              <a:rPr lang="en-AU" b="0" i="0" dirty="0" smtClean="0">
                <a:solidFill>
                  <a:srgbClr val="444444"/>
                </a:solidFill>
                <a:effectLst/>
                <a:latin typeface="Arial" panose="020B0604020202020204" pitchFamily="34" charset="0"/>
              </a:rPr>
              <a:t> when it bonds with another nitrogen atom to form a nitrogen molecule, </a:t>
            </a:r>
            <a:r>
              <a:rPr lang="en-AU" b="0" i="0" dirty="0" smtClean="0">
                <a:solidFill>
                  <a:srgbClr val="444444"/>
                </a:solidFill>
                <a:effectLst/>
                <a:latin typeface="KaTeX_Main"/>
              </a:rPr>
              <a:t>N</a:t>
            </a:r>
            <a:r>
              <a:rPr lang="en-AU" b="0" i="0" baseline="-25000" dirty="0" smtClean="0">
                <a:solidFill>
                  <a:srgbClr val="444444"/>
                </a:solidFill>
                <a:effectLst/>
                <a:latin typeface="KaTeX_Main"/>
              </a:rPr>
              <a:t>2</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a:t>
            </a:r>
            <a:endParaRPr lang="en-AU" b="0" i="0" dirty="0">
              <a:solidFill>
                <a:srgbClr val="444444"/>
              </a:solidFill>
              <a:effectLst/>
              <a:latin typeface="Arial" panose="020B0604020202020204" pitchFamily="34" charset="0"/>
            </a:endParaRPr>
          </a:p>
        </p:txBody>
      </p:sp>
      <p:pic>
        <p:nvPicPr>
          <p:cNvPr id="7170" name="Picture 2" descr="https://www.educationperfect.com/media/content/Science/1436833765.198921g/1436833753914-1122583986-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8275" y="2098675"/>
            <a:ext cx="3810000" cy="291465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s://www.educationperfect.com/media/content/Science/1464836640.65241g/1464836643075-3370669858467492-2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6175" y="3429000"/>
            <a:ext cx="2994025" cy="139921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692400" y="5013325"/>
            <a:ext cx="7099300" cy="1477328"/>
          </a:xfrm>
          <a:prstGeom prst="rect">
            <a:avLst/>
          </a:prstGeom>
        </p:spPr>
        <p:txBody>
          <a:bodyPr wrap="square">
            <a:spAutoFit/>
          </a:bodyPr>
          <a:lstStyle/>
          <a:p>
            <a:r>
              <a:rPr lang="en-AU" b="0" i="1" dirty="0" smtClean="0">
                <a:solidFill>
                  <a:srgbClr val="444444"/>
                </a:solidFill>
                <a:effectLst/>
                <a:latin typeface="Arial" panose="020B0604020202020204" pitchFamily="34" charset="0"/>
              </a:rPr>
              <a:t>The dots show the arrangement of valence electrons around each atom. When the electrons are found between two atoms, this indicates they are involved in a covalent bond. Nitrogen forms three single covalent bonds in a molecule of ammonia (left). It forms one triple covalent bond in a molecule of nitrogen (right).</a:t>
            </a:r>
            <a:endParaRPr lang="en-AU" dirty="0"/>
          </a:p>
        </p:txBody>
      </p:sp>
    </p:spTree>
    <p:extLst>
      <p:ext uri="{BB962C8B-B14F-4D97-AF65-F5344CB8AC3E}">
        <p14:creationId xmlns:p14="http://schemas.microsoft.com/office/powerpoint/2010/main" val="29192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7500" y="259140"/>
            <a:ext cx="11366500" cy="2308324"/>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Electronegativity</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In a covalent bond, the </a:t>
            </a:r>
            <a:r>
              <a:rPr lang="en-AU" b="1" i="0" dirty="0" smtClean="0">
                <a:solidFill>
                  <a:srgbClr val="32B57C"/>
                </a:solidFill>
                <a:effectLst/>
                <a:latin typeface="Arial" panose="020B0604020202020204" pitchFamily="34" charset="0"/>
              </a:rPr>
              <a:t>positively charged nuclei</a:t>
            </a:r>
            <a:r>
              <a:rPr lang="en-AU" b="0" i="0" dirty="0" smtClean="0">
                <a:solidFill>
                  <a:srgbClr val="444444"/>
                </a:solidFill>
                <a:effectLst/>
                <a:latin typeface="Arial" panose="020B0604020202020204" pitchFamily="34" charset="0"/>
              </a:rPr>
              <a:t> of the two atoms attract the </a:t>
            </a:r>
            <a:r>
              <a:rPr lang="en-AU" b="1" i="0" dirty="0" smtClean="0">
                <a:solidFill>
                  <a:srgbClr val="3598DC"/>
                </a:solidFill>
                <a:effectLst/>
                <a:latin typeface="Arial" panose="020B0604020202020204" pitchFamily="34" charset="0"/>
              </a:rPr>
              <a:t>negatively charged electrons</a:t>
            </a:r>
            <a:r>
              <a:rPr lang="en-AU" b="0" i="0" dirty="0" smtClean="0">
                <a:solidFill>
                  <a:srgbClr val="444444"/>
                </a:solidFill>
                <a:effectLst/>
                <a:latin typeface="Arial" panose="020B0604020202020204" pitchFamily="34" charset="0"/>
              </a:rPr>
              <a:t> that are shared between the atoms.</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Not every type of atom attracts electrons to the same extent.</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The tendency of a nucleus to </a:t>
            </a:r>
            <a:r>
              <a:rPr lang="en-AU" b="1" i="0" dirty="0" smtClean="0">
                <a:solidFill>
                  <a:srgbClr val="3598DC"/>
                </a:solidFill>
                <a:effectLst/>
                <a:latin typeface="Arial" panose="020B0604020202020204" pitchFamily="34" charset="0"/>
              </a:rPr>
              <a:t>attract bonding electrons</a:t>
            </a:r>
            <a:r>
              <a:rPr lang="en-AU" b="0" i="0" dirty="0" smtClean="0">
                <a:solidFill>
                  <a:srgbClr val="444444"/>
                </a:solidFill>
                <a:effectLst/>
                <a:latin typeface="Arial" panose="020B0604020202020204" pitchFamily="34" charset="0"/>
              </a:rPr>
              <a:t> is called </a:t>
            </a:r>
            <a:r>
              <a:rPr lang="en-AU" b="1" i="0" dirty="0" smtClean="0">
                <a:solidFill>
                  <a:srgbClr val="32B57C"/>
                </a:solidFill>
                <a:effectLst/>
                <a:latin typeface="Arial" panose="020B0604020202020204" pitchFamily="34" charset="0"/>
              </a:rPr>
              <a:t>electronegativity.</a:t>
            </a:r>
            <a:endParaRPr lang="en-AU" b="0" i="0" dirty="0">
              <a:solidFill>
                <a:srgbClr val="444444"/>
              </a:solidFill>
              <a:effectLst/>
              <a:latin typeface="Arial" panose="020B0604020202020204" pitchFamily="34" charset="0"/>
            </a:endParaRPr>
          </a:p>
        </p:txBody>
      </p:sp>
      <p:pic>
        <p:nvPicPr>
          <p:cNvPr id="8194" name="Picture 2" descr="https://www.educationperfect.com/media/content/Science/1560990272.613621g/1560990274585-1318672855570808-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3568" y="3952875"/>
            <a:ext cx="5614363" cy="148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4914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8000" y="349240"/>
            <a:ext cx="11303000" cy="2308324"/>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The </a:t>
            </a:r>
            <a:r>
              <a:rPr lang="en-AU" b="1" i="0" dirty="0" smtClean="0">
                <a:solidFill>
                  <a:srgbClr val="FF7F50"/>
                </a:solidFill>
                <a:effectLst/>
                <a:latin typeface="Arial" panose="020B0604020202020204" pitchFamily="34" charset="0"/>
              </a:rPr>
              <a:t>more electronegative</a:t>
            </a:r>
            <a:r>
              <a:rPr lang="en-AU" b="1" i="0" dirty="0" smtClean="0">
                <a:solidFill>
                  <a:srgbClr val="444444"/>
                </a:solidFill>
                <a:effectLst/>
                <a:latin typeface="Arial" panose="020B0604020202020204" pitchFamily="34" charset="0"/>
              </a:rPr>
              <a:t> an element is, the </a:t>
            </a:r>
            <a:r>
              <a:rPr lang="en-AU" b="1" i="0" dirty="0" smtClean="0">
                <a:solidFill>
                  <a:srgbClr val="004D99"/>
                </a:solidFill>
                <a:effectLst/>
                <a:latin typeface="Arial" panose="020B0604020202020204" pitchFamily="34" charset="0"/>
              </a:rPr>
              <a:t>more strongly it attracts electrons.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Electronegativity depends on several factors:</a:t>
            </a:r>
          </a:p>
          <a:p>
            <a:pPr>
              <a:buFont typeface="Arial" panose="020B0604020202020204" pitchFamily="34" charset="0"/>
              <a:buChar char="•"/>
            </a:pPr>
            <a:r>
              <a:rPr lang="en-AU" b="0" i="0" dirty="0" smtClean="0">
                <a:solidFill>
                  <a:srgbClr val="444444"/>
                </a:solidFill>
                <a:effectLst/>
                <a:latin typeface="Arial" panose="020B0604020202020204" pitchFamily="34" charset="0"/>
              </a:rPr>
              <a:t>The </a:t>
            </a:r>
            <a:r>
              <a:rPr lang="en-AU" b="1" i="0" dirty="0" smtClean="0">
                <a:solidFill>
                  <a:srgbClr val="00868B"/>
                </a:solidFill>
                <a:effectLst/>
                <a:latin typeface="Arial" panose="020B0604020202020204" pitchFamily="34" charset="0"/>
              </a:rPr>
              <a:t>number of protons</a:t>
            </a:r>
            <a:r>
              <a:rPr lang="en-AU" b="0" i="0" dirty="0" smtClean="0">
                <a:solidFill>
                  <a:srgbClr val="444444"/>
                </a:solidFill>
                <a:effectLst/>
                <a:latin typeface="Arial" panose="020B0604020202020204" pitchFamily="34" charset="0"/>
              </a:rPr>
              <a:t> in the nucleus.</a:t>
            </a:r>
          </a:p>
          <a:p>
            <a:pPr>
              <a:buFont typeface="Arial" panose="020B0604020202020204" pitchFamily="34" charset="0"/>
              <a:buChar char="•"/>
            </a:pPr>
            <a:r>
              <a:rPr lang="en-AU" b="0" i="0" dirty="0" smtClean="0">
                <a:solidFill>
                  <a:srgbClr val="444444"/>
                </a:solidFill>
                <a:effectLst/>
                <a:latin typeface="Arial" panose="020B0604020202020204" pitchFamily="34" charset="0"/>
              </a:rPr>
              <a:t>The </a:t>
            </a:r>
            <a:r>
              <a:rPr lang="en-AU" b="1" i="0" dirty="0" smtClean="0">
                <a:solidFill>
                  <a:srgbClr val="004D99"/>
                </a:solidFill>
                <a:effectLst/>
                <a:latin typeface="Arial" panose="020B0604020202020204" pitchFamily="34" charset="0"/>
              </a:rPr>
              <a:t>distance</a:t>
            </a:r>
            <a:r>
              <a:rPr lang="en-AU" b="0" i="0" dirty="0" smtClean="0">
                <a:solidFill>
                  <a:srgbClr val="444444"/>
                </a:solidFill>
                <a:effectLst/>
                <a:latin typeface="Arial" panose="020B0604020202020204" pitchFamily="34" charset="0"/>
              </a:rPr>
              <a:t> between the nucleus and the bonding electrons.</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The most electronegative element is </a:t>
            </a:r>
            <a:r>
              <a:rPr lang="en-AU" b="1" i="0" dirty="0" smtClean="0">
                <a:solidFill>
                  <a:srgbClr val="FF7F50"/>
                </a:solidFill>
                <a:effectLst/>
                <a:latin typeface="Arial" panose="020B0604020202020204" pitchFamily="34" charset="0"/>
              </a:rPr>
              <a:t>fluorine,</a:t>
            </a:r>
            <a:r>
              <a:rPr lang="en-AU" b="0" i="0" dirty="0" smtClean="0">
                <a:solidFill>
                  <a:srgbClr val="444444"/>
                </a:solidFill>
                <a:effectLst/>
                <a:latin typeface="Arial" panose="020B0604020202020204" pitchFamily="34" charset="0"/>
              </a:rPr>
              <a:t> which is found at the top right of the periodic table. The relative electronegativity of other elements </a:t>
            </a:r>
            <a:r>
              <a:rPr lang="en-AU" b="1" i="0" dirty="0" smtClean="0">
                <a:solidFill>
                  <a:srgbClr val="00868B"/>
                </a:solidFill>
                <a:effectLst/>
                <a:latin typeface="Arial" panose="020B0604020202020204" pitchFamily="34" charset="0"/>
              </a:rPr>
              <a:t>decreases as you get further away from fluorine</a:t>
            </a:r>
            <a:r>
              <a:rPr lang="en-AU" b="0" i="0" dirty="0" smtClean="0">
                <a:solidFill>
                  <a:srgbClr val="444444"/>
                </a:solidFill>
                <a:effectLst/>
                <a:latin typeface="Arial" panose="020B0604020202020204" pitchFamily="34" charset="0"/>
              </a:rPr>
              <a:t> on the periodic table.</a:t>
            </a:r>
            <a:endParaRPr lang="en-AU" b="0" i="0" dirty="0">
              <a:solidFill>
                <a:srgbClr val="444444"/>
              </a:solidFill>
              <a:effectLst/>
              <a:latin typeface="Arial" panose="020B0604020202020204" pitchFamily="34" charset="0"/>
            </a:endParaRPr>
          </a:p>
        </p:txBody>
      </p:sp>
      <p:pic>
        <p:nvPicPr>
          <p:cNvPr id="9218" name="Picture 2" descr="Periodic table showing electronegativity values of the element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0100" y="2908976"/>
            <a:ext cx="6254750" cy="3460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3827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1800" y="267544"/>
            <a:ext cx="11303000" cy="3693319"/>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Trends in Electronegativity</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In general, electronegativity shows the following trends:</a:t>
            </a:r>
          </a:p>
          <a:p>
            <a:pPr>
              <a:buFont typeface="Arial" panose="020B0604020202020204" pitchFamily="34" charset="0"/>
              <a:buChar char="•"/>
            </a:pPr>
            <a:r>
              <a:rPr lang="en-AU" b="0" i="0" dirty="0" smtClean="0">
                <a:solidFill>
                  <a:srgbClr val="444444"/>
                </a:solidFill>
                <a:effectLst/>
                <a:latin typeface="Arial" panose="020B0604020202020204" pitchFamily="34" charset="0"/>
              </a:rPr>
              <a:t>It </a:t>
            </a:r>
            <a:r>
              <a:rPr lang="en-AU" b="1" i="0" dirty="0" smtClean="0">
                <a:solidFill>
                  <a:srgbClr val="6773B2"/>
                </a:solidFill>
                <a:effectLst/>
                <a:latin typeface="Arial" panose="020B0604020202020204" pitchFamily="34" charset="0"/>
              </a:rPr>
              <a:t>increases</a:t>
            </a:r>
            <a:r>
              <a:rPr lang="en-AU" b="0" i="0" dirty="0" smtClean="0">
                <a:solidFill>
                  <a:srgbClr val="444444"/>
                </a:solidFill>
                <a:effectLst/>
                <a:latin typeface="Arial" panose="020B0604020202020204" pitchFamily="34" charset="0"/>
              </a:rPr>
              <a:t> across a period.</a:t>
            </a:r>
          </a:p>
          <a:p>
            <a:pPr>
              <a:buFont typeface="Arial" panose="020B0604020202020204" pitchFamily="34" charset="0"/>
              <a:buChar char="•"/>
            </a:pPr>
            <a:r>
              <a:rPr lang="en-AU" b="0" i="0" dirty="0" smtClean="0">
                <a:solidFill>
                  <a:srgbClr val="444444"/>
                </a:solidFill>
                <a:effectLst/>
                <a:latin typeface="Arial" panose="020B0604020202020204" pitchFamily="34" charset="0"/>
              </a:rPr>
              <a:t>It </a:t>
            </a:r>
            <a:r>
              <a:rPr lang="en-AU" b="1" i="0" dirty="0" smtClean="0">
                <a:solidFill>
                  <a:srgbClr val="00868B"/>
                </a:solidFill>
                <a:effectLst/>
                <a:latin typeface="Arial" panose="020B0604020202020204" pitchFamily="34" charset="0"/>
              </a:rPr>
              <a:t>decreases</a:t>
            </a:r>
            <a:r>
              <a:rPr lang="en-AU" b="0" i="0" dirty="0" smtClean="0">
                <a:solidFill>
                  <a:srgbClr val="444444"/>
                </a:solidFill>
                <a:effectLst/>
                <a:latin typeface="Arial" panose="020B0604020202020204" pitchFamily="34" charset="0"/>
              </a:rPr>
              <a:t> down a group.</a:t>
            </a:r>
          </a:p>
          <a:p>
            <a:r>
              <a:rPr lang="en-AU" b="0" i="0" dirty="0" smtClean="0">
                <a:solidFill>
                  <a:srgbClr val="444444"/>
                </a:solidFill>
                <a:effectLst/>
                <a:latin typeface="Arial" panose="020B0604020202020204" pitchFamily="34" charset="0"/>
              </a:rPr>
              <a:t>Elements in the same period have the </a:t>
            </a:r>
            <a:r>
              <a:rPr lang="en-AU" b="1" i="0" dirty="0" smtClean="0">
                <a:solidFill>
                  <a:srgbClr val="32B57C"/>
                </a:solidFill>
                <a:effectLst/>
                <a:latin typeface="Arial" panose="020B0604020202020204" pitchFamily="34" charset="0"/>
              </a:rPr>
              <a:t>same number of electron shells</a:t>
            </a:r>
            <a:r>
              <a:rPr lang="en-AU" b="0" i="0" dirty="0" smtClean="0">
                <a:solidFill>
                  <a:srgbClr val="444444"/>
                </a:solidFill>
                <a:effectLst/>
                <a:latin typeface="Arial" panose="020B0604020202020204" pitchFamily="34" charset="0"/>
              </a:rPr>
              <a:t> (energy levels), but the </a:t>
            </a:r>
            <a:r>
              <a:rPr lang="en-AU" b="1" i="0" dirty="0" smtClean="0">
                <a:solidFill>
                  <a:srgbClr val="00868B"/>
                </a:solidFill>
                <a:effectLst/>
                <a:latin typeface="Arial" panose="020B0604020202020204" pitchFamily="34" charset="0"/>
              </a:rPr>
              <a:t>number of protons in the nucleus increases</a:t>
            </a:r>
            <a:r>
              <a:rPr lang="en-AU" b="0" i="0" dirty="0" smtClean="0">
                <a:solidFill>
                  <a:srgbClr val="444444"/>
                </a:solidFill>
                <a:effectLst/>
                <a:latin typeface="Arial" panose="020B0604020202020204" pitchFamily="34" charset="0"/>
              </a:rPr>
              <a:t> across the period. This means that the </a:t>
            </a:r>
            <a:r>
              <a:rPr lang="en-AU" b="1" i="0" dirty="0" smtClean="0">
                <a:solidFill>
                  <a:srgbClr val="32B57C"/>
                </a:solidFill>
                <a:effectLst/>
                <a:latin typeface="Arial" panose="020B0604020202020204" pitchFamily="34" charset="0"/>
              </a:rPr>
              <a:t>electrostatic attraction</a:t>
            </a:r>
            <a:r>
              <a:rPr lang="en-AU" b="0" i="0" dirty="0" smtClean="0">
                <a:solidFill>
                  <a:srgbClr val="444444"/>
                </a:solidFill>
                <a:effectLst/>
                <a:latin typeface="Arial" panose="020B0604020202020204" pitchFamily="34" charset="0"/>
              </a:rPr>
              <a:t> between the protons and electrons becomes </a:t>
            </a:r>
            <a:r>
              <a:rPr lang="en-AU" b="1" i="0" dirty="0" smtClean="0">
                <a:solidFill>
                  <a:srgbClr val="6773B2"/>
                </a:solidFill>
                <a:effectLst/>
                <a:latin typeface="Arial" panose="020B0604020202020204" pitchFamily="34" charset="0"/>
              </a:rPr>
              <a:t>stronger</a:t>
            </a:r>
            <a:r>
              <a:rPr lang="en-AU" b="0" i="0" dirty="0" smtClean="0">
                <a:solidFill>
                  <a:srgbClr val="444444"/>
                </a:solidFill>
                <a:effectLst/>
                <a:latin typeface="Arial" panose="020B0604020202020204" pitchFamily="34" charset="0"/>
              </a:rPr>
              <a:t> as you move from left to right across a period.</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As you move down a group, the </a:t>
            </a:r>
            <a:r>
              <a:rPr lang="en-AU" b="1" i="0" dirty="0" smtClean="0">
                <a:solidFill>
                  <a:srgbClr val="00868B"/>
                </a:solidFill>
                <a:effectLst/>
                <a:latin typeface="Arial" panose="020B0604020202020204" pitchFamily="34" charset="0"/>
              </a:rPr>
              <a:t>number of electron shells increases,</a:t>
            </a:r>
            <a:r>
              <a:rPr lang="en-AU" b="0" i="0" dirty="0" smtClean="0">
                <a:solidFill>
                  <a:srgbClr val="444444"/>
                </a:solidFill>
                <a:effectLst/>
                <a:latin typeface="Arial" panose="020B0604020202020204" pitchFamily="34" charset="0"/>
              </a:rPr>
              <a:t> which increases the </a:t>
            </a:r>
            <a:r>
              <a:rPr lang="en-AU" b="1" i="0" dirty="0" smtClean="0">
                <a:solidFill>
                  <a:srgbClr val="32B57C"/>
                </a:solidFill>
                <a:effectLst/>
                <a:latin typeface="Arial" panose="020B0604020202020204" pitchFamily="34" charset="0"/>
              </a:rPr>
              <a:t>distance</a:t>
            </a:r>
            <a:r>
              <a:rPr lang="en-AU" b="0" i="0" dirty="0" smtClean="0">
                <a:solidFill>
                  <a:srgbClr val="444444"/>
                </a:solidFill>
                <a:effectLst/>
                <a:latin typeface="Arial" panose="020B0604020202020204" pitchFamily="34" charset="0"/>
              </a:rPr>
              <a:t> between the nucleus and the valence electrons. This distance is known as the atomic radius. As the </a:t>
            </a:r>
            <a:r>
              <a:rPr lang="en-AU" b="1" i="0" dirty="0" smtClean="0">
                <a:solidFill>
                  <a:srgbClr val="6773B2"/>
                </a:solidFill>
                <a:effectLst/>
                <a:latin typeface="Arial" panose="020B0604020202020204" pitchFamily="34" charset="0"/>
              </a:rPr>
              <a:t>atomic radius gets larger,</a:t>
            </a:r>
            <a:r>
              <a:rPr lang="en-AU" b="0" i="0" dirty="0" smtClean="0">
                <a:solidFill>
                  <a:srgbClr val="444444"/>
                </a:solidFill>
                <a:effectLst/>
                <a:latin typeface="Arial" panose="020B0604020202020204" pitchFamily="34" charset="0"/>
              </a:rPr>
              <a:t> the electrostatic attraction between the protons in the nucleus and the valence electrons becomes </a:t>
            </a:r>
            <a:r>
              <a:rPr lang="en-AU" b="1" i="0" dirty="0" smtClean="0">
                <a:solidFill>
                  <a:srgbClr val="00868B"/>
                </a:solidFill>
                <a:effectLst/>
                <a:latin typeface="Arial" panose="020B0604020202020204" pitchFamily="34" charset="0"/>
              </a:rPr>
              <a:t>weaker.</a:t>
            </a:r>
            <a:endParaRPr lang="en-AU" b="0" i="0" dirty="0">
              <a:solidFill>
                <a:srgbClr val="444444"/>
              </a:solidFill>
              <a:effectLst/>
              <a:latin typeface="Arial" panose="020B0604020202020204" pitchFamily="34" charset="0"/>
            </a:endParaRPr>
          </a:p>
        </p:txBody>
      </p:sp>
      <p:pic>
        <p:nvPicPr>
          <p:cNvPr id="10242" name="Picture 2" descr="https://www.educationperfect.com/media/content/Science/1560982996.345761g/1560982998075-1318672855570808-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5400" y="3960863"/>
            <a:ext cx="4097337" cy="2430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8847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2600" y="0"/>
            <a:ext cx="11391900" cy="4247317"/>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Non-polar Bonds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When the two non-metal atoms in a covalent bond have the </a:t>
            </a:r>
            <a:r>
              <a:rPr lang="en-AU" b="1" i="0" dirty="0" smtClean="0">
                <a:solidFill>
                  <a:srgbClr val="00868B"/>
                </a:solidFill>
                <a:effectLst/>
                <a:latin typeface="Arial" panose="020B0604020202020204" pitchFamily="34" charset="0"/>
              </a:rPr>
              <a:t>same electronegativity,</a:t>
            </a:r>
            <a:r>
              <a:rPr lang="en-AU" b="0" i="0" dirty="0" smtClean="0">
                <a:solidFill>
                  <a:srgbClr val="444444"/>
                </a:solidFill>
                <a:effectLst/>
                <a:latin typeface="Arial" panose="020B0604020202020204" pitchFamily="34" charset="0"/>
              </a:rPr>
              <a:t> they attract the electron density to the </a:t>
            </a:r>
            <a:r>
              <a:rPr lang="en-AU" b="1" i="0" dirty="0" smtClean="0">
                <a:solidFill>
                  <a:srgbClr val="5F9FB9"/>
                </a:solidFill>
                <a:effectLst/>
                <a:latin typeface="Arial" panose="020B0604020202020204" pitchFamily="34" charset="0"/>
              </a:rPr>
              <a:t>same extent.</a:t>
            </a:r>
            <a:r>
              <a:rPr lang="en-AU" b="0" i="0" dirty="0" smtClean="0">
                <a:solidFill>
                  <a:srgbClr val="444444"/>
                </a:solidFill>
                <a:effectLst/>
                <a:latin typeface="Arial" panose="020B0604020202020204" pitchFamily="34" charset="0"/>
              </a:rPr>
              <a:t> This means the negative charge of the bonding electrons will be </a:t>
            </a:r>
            <a:r>
              <a:rPr lang="en-AU" b="1" i="0" dirty="0" smtClean="0">
                <a:solidFill>
                  <a:srgbClr val="6773B2"/>
                </a:solidFill>
                <a:effectLst/>
                <a:latin typeface="Arial" panose="020B0604020202020204" pitchFamily="34" charset="0"/>
              </a:rPr>
              <a:t>equally distributed across both atoms.</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1" i="0" dirty="0" smtClean="0">
                <a:solidFill>
                  <a:srgbClr val="999999"/>
                </a:solidFill>
                <a:effectLst/>
                <a:latin typeface="Arial" panose="020B0604020202020204" pitchFamily="34" charset="0"/>
              </a:rPr>
              <a:t>The position of the shared electrons can be described as the electron density.</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The resulting covalent bond is called </a:t>
            </a:r>
            <a:r>
              <a:rPr lang="en-AU" b="1" i="0" dirty="0" smtClean="0">
                <a:solidFill>
                  <a:srgbClr val="00868B"/>
                </a:solidFill>
                <a:effectLst/>
                <a:latin typeface="Arial" panose="020B0604020202020204" pitchFamily="34" charset="0"/>
              </a:rPr>
              <a:t>non-polar,</a:t>
            </a:r>
            <a:r>
              <a:rPr lang="en-AU" b="0" i="0" dirty="0" smtClean="0">
                <a:solidFill>
                  <a:srgbClr val="444444"/>
                </a:solidFill>
                <a:effectLst/>
                <a:latin typeface="Arial" panose="020B0604020202020204" pitchFamily="34" charset="0"/>
              </a:rPr>
              <a:t> because there is </a:t>
            </a:r>
            <a:r>
              <a:rPr lang="en-AU" b="1" i="0" dirty="0" smtClean="0">
                <a:solidFill>
                  <a:srgbClr val="6773B2"/>
                </a:solidFill>
                <a:effectLst/>
                <a:latin typeface="Arial" panose="020B0604020202020204" pitchFamily="34" charset="0"/>
              </a:rPr>
              <a:t>no separation of charge density.</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Non-polar bonds form when two atoms of the </a:t>
            </a:r>
            <a:r>
              <a:rPr lang="en-AU" b="1" i="0" dirty="0" smtClean="0">
                <a:solidFill>
                  <a:srgbClr val="5F9FB9"/>
                </a:solidFill>
                <a:effectLst/>
                <a:latin typeface="Arial" panose="020B0604020202020204" pitchFamily="34" charset="0"/>
              </a:rPr>
              <a:t>same element</a:t>
            </a:r>
            <a:r>
              <a:rPr lang="en-AU" b="0" i="0" dirty="0" smtClean="0">
                <a:solidFill>
                  <a:srgbClr val="444444"/>
                </a:solidFill>
                <a:effectLst/>
                <a:latin typeface="Arial" panose="020B0604020202020204" pitchFamily="34" charset="0"/>
              </a:rPr>
              <a:t> bond together, such as two hydrogen atoms bonding to form </a:t>
            </a:r>
            <a:r>
              <a:rPr lang="en-AU" b="0" i="0" dirty="0" smtClean="0">
                <a:solidFill>
                  <a:srgbClr val="444444"/>
                </a:solidFill>
                <a:effectLst/>
                <a:latin typeface="KaTeX_Main"/>
              </a:rPr>
              <a:t>H</a:t>
            </a:r>
            <a:r>
              <a:rPr lang="en-AU" b="0" i="0" baseline="-25000" dirty="0" smtClean="0">
                <a:solidFill>
                  <a:srgbClr val="444444"/>
                </a:solidFill>
                <a:effectLst/>
                <a:latin typeface="KaTeX_Main"/>
              </a:rPr>
              <a:t>2</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They can also form when the difference in electronegativity between two atoms is </a:t>
            </a:r>
            <a:r>
              <a:rPr lang="en-AU" b="1" i="0" dirty="0" smtClean="0">
                <a:solidFill>
                  <a:srgbClr val="6773B2"/>
                </a:solidFill>
                <a:effectLst/>
                <a:latin typeface="Arial" panose="020B0604020202020204" pitchFamily="34" charset="0"/>
              </a:rPr>
              <a:t>small enough</a:t>
            </a:r>
            <a:r>
              <a:rPr lang="en-AU" b="0" i="0" dirty="0" smtClean="0">
                <a:solidFill>
                  <a:srgbClr val="444444"/>
                </a:solidFill>
                <a:effectLst/>
                <a:latin typeface="Arial" panose="020B0604020202020204" pitchFamily="34" charset="0"/>
              </a:rPr>
              <a:t> that the electron density is </a:t>
            </a:r>
            <a:r>
              <a:rPr lang="en-AU" b="1" i="0" dirty="0" smtClean="0">
                <a:solidFill>
                  <a:srgbClr val="00868B"/>
                </a:solidFill>
                <a:effectLst/>
                <a:latin typeface="Arial" panose="020B0604020202020204" pitchFamily="34" charset="0"/>
              </a:rPr>
              <a:t>not pulled significantly closer</a:t>
            </a:r>
            <a:r>
              <a:rPr lang="en-AU" b="0" i="0" dirty="0" smtClean="0">
                <a:solidFill>
                  <a:srgbClr val="444444"/>
                </a:solidFill>
                <a:effectLst/>
                <a:latin typeface="Arial" panose="020B0604020202020204" pitchFamily="34" charset="0"/>
              </a:rPr>
              <a:t> to one or the other atom. For example, a </a:t>
            </a:r>
            <a:r>
              <a:rPr lang="en-AU" b="0" i="0" dirty="0" smtClean="0">
                <a:solidFill>
                  <a:srgbClr val="444444"/>
                </a:solidFill>
                <a:effectLst/>
                <a:latin typeface="KaTeX_Main"/>
              </a:rPr>
              <a:t>C−H</a:t>
            </a:r>
            <a:r>
              <a:rPr lang="en-AU" b="0" i="0" dirty="0" smtClean="0">
                <a:solidFill>
                  <a:srgbClr val="444444"/>
                </a:solidFill>
                <a:effectLst/>
                <a:latin typeface="Arial" panose="020B0604020202020204" pitchFamily="34" charset="0"/>
              </a:rPr>
              <a:t> bond is considered non-polar because the electronegativity difference between carbon and hydrogen is very small (less than </a:t>
            </a:r>
            <a:r>
              <a:rPr lang="en-AU" b="0" i="0" dirty="0" smtClean="0">
                <a:solidFill>
                  <a:srgbClr val="444444"/>
                </a:solidFill>
                <a:effectLst/>
                <a:latin typeface="KaTeX_Main"/>
              </a:rPr>
              <a:t>0.40</a:t>
            </a:r>
            <a:r>
              <a:rPr lang="en-AU" b="0" i="0" dirty="0" smtClean="0">
                <a:solidFill>
                  <a:srgbClr val="444444"/>
                </a:solidFill>
                <a:effectLst/>
                <a:latin typeface="Arial" panose="020B0604020202020204" pitchFamily="34" charset="0"/>
              </a:rPr>
              <a:t> on the Pauling scale).</a:t>
            </a:r>
            <a:endParaRPr lang="en-AU"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3165796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6400" y="315943"/>
            <a:ext cx="11455400" cy="2585323"/>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Polar Bonds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When one of the atoms in a covalent bond is </a:t>
            </a:r>
            <a:r>
              <a:rPr lang="en-AU" b="1" i="0" dirty="0" smtClean="0">
                <a:solidFill>
                  <a:srgbClr val="6773B2"/>
                </a:solidFill>
                <a:effectLst/>
                <a:latin typeface="Arial" panose="020B0604020202020204" pitchFamily="34" charset="0"/>
              </a:rPr>
              <a:t>more electronegative than the other,</a:t>
            </a:r>
            <a:r>
              <a:rPr lang="en-AU" b="0" i="0" dirty="0" smtClean="0">
                <a:solidFill>
                  <a:srgbClr val="444444"/>
                </a:solidFill>
                <a:effectLst/>
                <a:latin typeface="Arial" panose="020B0604020202020204" pitchFamily="34" charset="0"/>
              </a:rPr>
              <a:t> this atom has a </a:t>
            </a:r>
            <a:r>
              <a:rPr lang="en-AU" b="1" i="0" dirty="0" smtClean="0">
                <a:solidFill>
                  <a:srgbClr val="004D99"/>
                </a:solidFill>
                <a:effectLst/>
                <a:latin typeface="Arial" panose="020B0604020202020204" pitchFamily="34" charset="0"/>
              </a:rPr>
              <a:t>stronger attraction for the electron density</a:t>
            </a:r>
            <a:r>
              <a:rPr lang="en-AU" b="0" i="0" dirty="0" smtClean="0">
                <a:solidFill>
                  <a:srgbClr val="444444"/>
                </a:solidFill>
                <a:effectLst/>
                <a:latin typeface="Arial" panose="020B0604020202020204" pitchFamily="34" charset="0"/>
              </a:rPr>
              <a:t> in the bond. This will cause the electron density to sit closer to the more electronegative atom, making it </a:t>
            </a:r>
            <a:r>
              <a:rPr lang="en-AU" b="1" i="0" dirty="0" smtClean="0">
                <a:solidFill>
                  <a:srgbClr val="E04E50"/>
                </a:solidFill>
                <a:effectLst/>
                <a:latin typeface="Arial" panose="020B0604020202020204" pitchFamily="34" charset="0"/>
              </a:rPr>
              <a:t>unevenly distributed</a:t>
            </a:r>
            <a:r>
              <a:rPr lang="en-AU" b="0" i="0" dirty="0" smtClean="0">
                <a:solidFill>
                  <a:srgbClr val="444444"/>
                </a:solidFill>
                <a:effectLst/>
                <a:latin typeface="Arial" panose="020B0604020202020204" pitchFamily="34" charset="0"/>
              </a:rPr>
              <a:t> within the bond. This is known as a </a:t>
            </a:r>
            <a:r>
              <a:rPr lang="en-AU" b="1" i="0" dirty="0" smtClean="0">
                <a:solidFill>
                  <a:srgbClr val="6773B2"/>
                </a:solidFill>
                <a:effectLst/>
                <a:latin typeface="Arial" panose="020B0604020202020204" pitchFamily="34" charset="0"/>
              </a:rPr>
              <a:t>polar bond.</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In a polar bond, the more electronegative atom will gain a </a:t>
            </a:r>
            <a:r>
              <a:rPr lang="en-AU" b="1" i="0" dirty="0" smtClean="0">
                <a:solidFill>
                  <a:srgbClr val="004D99"/>
                </a:solidFill>
                <a:effectLst/>
                <a:latin typeface="Arial" panose="020B0604020202020204" pitchFamily="34" charset="0"/>
              </a:rPr>
              <a:t>slightly negative charge (denoted by</a:t>
            </a:r>
            <a:r>
              <a:rPr lang="en-AU" b="0" i="0" dirty="0" smtClean="0">
                <a:solidFill>
                  <a:srgbClr val="444444"/>
                </a:solidFill>
                <a:effectLst/>
                <a:latin typeface="Arial" panose="020B0604020202020204" pitchFamily="34" charset="0"/>
              </a:rPr>
              <a:t> </a:t>
            </a:r>
            <a:r>
              <a:rPr lang="en-AU" b="1" i="1" dirty="0" smtClean="0">
                <a:solidFill>
                  <a:srgbClr val="004D99"/>
                </a:solidFill>
                <a:effectLst/>
                <a:latin typeface="KaTeX_Math"/>
              </a:rPr>
              <a:t>δ</a:t>
            </a:r>
            <a:r>
              <a:rPr lang="en-AU" b="1" i="0" dirty="0" smtClean="0">
                <a:solidFill>
                  <a:srgbClr val="004D99"/>
                </a:solidFill>
                <a:effectLst/>
                <a:latin typeface="KaTeX_Main"/>
              </a:rPr>
              <a:t>−</a:t>
            </a:r>
            <a:r>
              <a:rPr lang="en-AU" b="1" i="0" dirty="0" smtClean="0">
                <a:solidFill>
                  <a:srgbClr val="004D99"/>
                </a:solidFill>
                <a:effectLst/>
                <a:latin typeface="Arial" panose="020B0604020202020204" pitchFamily="34" charset="0"/>
              </a:rPr>
              <a:t>).</a:t>
            </a:r>
            <a:r>
              <a:rPr lang="en-AU" b="0" i="0" dirty="0" smtClean="0">
                <a:solidFill>
                  <a:srgbClr val="444444"/>
                </a:solidFill>
                <a:effectLst/>
                <a:latin typeface="Arial" panose="020B0604020202020204" pitchFamily="34" charset="0"/>
              </a:rPr>
              <a:t> The less electronegative atom will gain a </a:t>
            </a:r>
            <a:r>
              <a:rPr lang="en-AU" b="1" i="0" dirty="0" smtClean="0">
                <a:solidFill>
                  <a:srgbClr val="E04E50"/>
                </a:solidFill>
                <a:effectLst/>
                <a:latin typeface="Arial" panose="020B0604020202020204" pitchFamily="34" charset="0"/>
              </a:rPr>
              <a:t>slightly positive charge (denoted by</a:t>
            </a:r>
            <a:r>
              <a:rPr lang="en-AU" b="0" i="0" dirty="0" smtClean="0">
                <a:solidFill>
                  <a:srgbClr val="444444"/>
                </a:solidFill>
                <a:effectLst/>
                <a:latin typeface="Arial" panose="020B0604020202020204" pitchFamily="34" charset="0"/>
              </a:rPr>
              <a:t> </a:t>
            </a:r>
            <a:r>
              <a:rPr lang="en-AU" b="1" i="1" dirty="0" smtClean="0">
                <a:solidFill>
                  <a:srgbClr val="E04E50"/>
                </a:solidFill>
                <a:effectLst/>
                <a:latin typeface="KaTeX_Math"/>
              </a:rPr>
              <a:t>δ</a:t>
            </a:r>
            <a:r>
              <a:rPr lang="en-AU" b="1" i="0" dirty="0" smtClean="0">
                <a:solidFill>
                  <a:srgbClr val="E04E50"/>
                </a:solidFill>
                <a:effectLst/>
                <a:latin typeface="KaTeX_Main"/>
              </a:rPr>
              <a:t>+</a:t>
            </a:r>
            <a:r>
              <a:rPr lang="en-AU" b="1" i="0" dirty="0" smtClean="0">
                <a:solidFill>
                  <a:srgbClr val="E04E50"/>
                </a:solidFill>
                <a:effectLst/>
                <a:latin typeface="Arial" panose="020B0604020202020204" pitchFamily="34" charset="0"/>
              </a:rPr>
              <a:t>)</a:t>
            </a:r>
            <a:r>
              <a:rPr lang="en-AU" b="0" i="0" dirty="0" smtClean="0">
                <a:solidFill>
                  <a:srgbClr val="444444"/>
                </a:solidFill>
                <a:effectLst/>
                <a:latin typeface="Arial" panose="020B0604020202020204" pitchFamily="34" charset="0"/>
              </a:rPr>
              <a:t> as the negative charge is being pulled away from it.</a:t>
            </a:r>
            <a:endParaRPr lang="en-AU" b="0" i="0" dirty="0">
              <a:solidFill>
                <a:srgbClr val="444444"/>
              </a:solidFill>
              <a:effectLst/>
              <a:latin typeface="Arial" panose="020B0604020202020204" pitchFamily="34" charset="0"/>
            </a:endParaRPr>
          </a:p>
        </p:txBody>
      </p:sp>
      <p:pic>
        <p:nvPicPr>
          <p:cNvPr id="11266" name="Picture 2" descr="https://www.educationperfect.com/media/content/Science/1569982222.578971g/1569982222963-330316235942868-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3862" y="3055937"/>
            <a:ext cx="3800475" cy="245745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378200" y="5657671"/>
            <a:ext cx="6096000" cy="1200329"/>
          </a:xfrm>
          <a:prstGeom prst="rect">
            <a:avLst/>
          </a:prstGeom>
        </p:spPr>
        <p:txBody>
          <a:bodyPr>
            <a:spAutoFit/>
          </a:bodyPr>
          <a:lstStyle/>
          <a:p>
            <a:r>
              <a:rPr lang="en-AU" b="0" i="1" dirty="0" smtClean="0">
                <a:solidFill>
                  <a:srgbClr val="444444"/>
                </a:solidFill>
                <a:effectLst/>
                <a:latin typeface="Arial" panose="020B0604020202020204" pitchFamily="34" charset="0"/>
              </a:rPr>
              <a:t>In an H-Cl bond, the electron density sits much closer to the chlorine atom than the hydrogen atom. The area of high electron density is shown in blue and the area of low electron density is shown in red.</a:t>
            </a:r>
            <a:endParaRPr lang="en-AU" dirty="0"/>
          </a:p>
        </p:txBody>
      </p:sp>
    </p:spTree>
    <p:extLst>
      <p:ext uri="{BB962C8B-B14F-4D97-AF65-F5344CB8AC3E}">
        <p14:creationId xmlns:p14="http://schemas.microsoft.com/office/powerpoint/2010/main" val="2507949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5600" y="202843"/>
            <a:ext cx="11404600" cy="3139321"/>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The </a:t>
            </a:r>
            <a:r>
              <a:rPr lang="en-AU" b="1" i="0" dirty="0" smtClean="0">
                <a:solidFill>
                  <a:srgbClr val="5F9FB9"/>
                </a:solidFill>
                <a:effectLst/>
                <a:latin typeface="Arial" panose="020B0604020202020204" pitchFamily="34" charset="0"/>
              </a:rPr>
              <a:t>separation of charge</a:t>
            </a:r>
            <a:r>
              <a:rPr lang="en-AU" b="1" i="0" dirty="0" smtClean="0">
                <a:solidFill>
                  <a:srgbClr val="444444"/>
                </a:solidFill>
                <a:effectLst/>
                <a:latin typeface="Arial" panose="020B0604020202020204" pitchFamily="34" charset="0"/>
              </a:rPr>
              <a:t> in a polar bond creates an electric dipole, known as the </a:t>
            </a:r>
            <a:r>
              <a:rPr lang="en-AU" b="1" i="0" dirty="0" smtClean="0">
                <a:solidFill>
                  <a:srgbClr val="E04E50"/>
                </a:solidFill>
                <a:effectLst/>
                <a:latin typeface="Arial" panose="020B0604020202020204" pitchFamily="34" charset="0"/>
              </a:rPr>
              <a:t>bond dipole.</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Bond dipoles are vector quantities, so can be represented using </a:t>
            </a:r>
            <a:r>
              <a:rPr lang="en-AU" b="1" i="0" dirty="0" smtClean="0">
                <a:solidFill>
                  <a:srgbClr val="004D99"/>
                </a:solidFill>
                <a:effectLst/>
                <a:latin typeface="Arial" panose="020B0604020202020204" pitchFamily="34" charset="0"/>
              </a:rPr>
              <a:t>arrows.</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1" i="0" dirty="0" smtClean="0">
                <a:solidFill>
                  <a:srgbClr val="999999"/>
                </a:solidFill>
                <a:effectLst/>
                <a:latin typeface="Arial" panose="020B0604020202020204" pitchFamily="34" charset="0"/>
              </a:rPr>
              <a:t>A </a:t>
            </a:r>
            <a:r>
              <a:rPr lang="en-AU" b="1" i="0" dirty="0" smtClean="0">
                <a:solidFill>
                  <a:srgbClr val="004D99"/>
                </a:solidFill>
                <a:effectLst/>
                <a:latin typeface="Arial" panose="020B0604020202020204" pitchFamily="34" charset="0"/>
              </a:rPr>
              <a:t>vector quantity</a:t>
            </a:r>
            <a:r>
              <a:rPr lang="en-AU" b="1" i="0" dirty="0" smtClean="0">
                <a:solidFill>
                  <a:srgbClr val="999999"/>
                </a:solidFill>
                <a:effectLst/>
                <a:latin typeface="Arial" panose="020B0604020202020204" pitchFamily="34" charset="0"/>
              </a:rPr>
              <a:t> has both magnitude and direction.</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The bond dipole arrow always points </a:t>
            </a:r>
            <a:r>
              <a:rPr lang="en-AU" b="1" i="0" dirty="0" smtClean="0">
                <a:solidFill>
                  <a:srgbClr val="E04E50"/>
                </a:solidFill>
                <a:effectLst/>
                <a:latin typeface="Arial" panose="020B0604020202020204" pitchFamily="34" charset="0"/>
              </a:rPr>
              <a:t>from the positive end to the negative end.</a:t>
            </a:r>
            <a:r>
              <a:rPr lang="en-AU" b="0" i="0" dirty="0" smtClean="0">
                <a:solidFill>
                  <a:srgbClr val="444444"/>
                </a:solidFill>
                <a:effectLst/>
                <a:latin typeface="Arial" panose="020B0604020202020204" pitchFamily="34" charset="0"/>
              </a:rPr>
              <a:t> A positive symbol, </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is placed at the </a:t>
            </a:r>
            <a:r>
              <a:rPr lang="en-AU" b="1" i="0" dirty="0" smtClean="0">
                <a:solidFill>
                  <a:srgbClr val="004D99"/>
                </a:solidFill>
                <a:effectLst/>
                <a:latin typeface="Arial" panose="020B0604020202020204" pitchFamily="34" charset="0"/>
              </a:rPr>
              <a:t>tail</a:t>
            </a:r>
            <a:r>
              <a:rPr lang="en-AU" b="0" i="0" dirty="0" smtClean="0">
                <a:solidFill>
                  <a:srgbClr val="444444"/>
                </a:solidFill>
                <a:effectLst/>
                <a:latin typeface="Arial" panose="020B0604020202020204" pitchFamily="34" charset="0"/>
              </a:rPr>
              <a:t> of the arrow to show that this is the positive end.</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Different bonds will have </a:t>
            </a:r>
            <a:r>
              <a:rPr lang="en-AU" b="1" i="0" dirty="0" smtClean="0">
                <a:solidFill>
                  <a:srgbClr val="5F9FB9"/>
                </a:solidFill>
                <a:effectLst/>
                <a:latin typeface="Arial" panose="020B0604020202020204" pitchFamily="34" charset="0"/>
              </a:rPr>
              <a:t>differently sized bond dipoles.</a:t>
            </a:r>
            <a:r>
              <a:rPr lang="en-AU" b="0" i="0" dirty="0" smtClean="0">
                <a:solidFill>
                  <a:srgbClr val="444444"/>
                </a:solidFill>
                <a:effectLst/>
                <a:latin typeface="Arial" panose="020B0604020202020204" pitchFamily="34" charset="0"/>
              </a:rPr>
              <a:t> The larger the difference in electronegativity, the </a:t>
            </a:r>
            <a:r>
              <a:rPr lang="en-AU" b="1" i="0" dirty="0" smtClean="0">
                <a:solidFill>
                  <a:srgbClr val="004D99"/>
                </a:solidFill>
                <a:effectLst/>
                <a:latin typeface="Arial" panose="020B0604020202020204" pitchFamily="34" charset="0"/>
              </a:rPr>
              <a:t>larger</a:t>
            </a:r>
            <a:r>
              <a:rPr lang="en-AU" b="0" i="0" dirty="0" smtClean="0">
                <a:solidFill>
                  <a:srgbClr val="444444"/>
                </a:solidFill>
                <a:effectLst/>
                <a:latin typeface="Arial" panose="020B0604020202020204" pitchFamily="34" charset="0"/>
              </a:rPr>
              <a:t> the bond dipole, and the </a:t>
            </a:r>
            <a:r>
              <a:rPr lang="en-AU" b="1" i="0" dirty="0" smtClean="0">
                <a:solidFill>
                  <a:srgbClr val="004D99"/>
                </a:solidFill>
                <a:effectLst/>
                <a:latin typeface="Arial" panose="020B0604020202020204" pitchFamily="34" charset="0"/>
              </a:rPr>
              <a:t>longer the arrow</a:t>
            </a:r>
            <a:r>
              <a:rPr lang="en-AU" b="0" i="0" dirty="0" smtClean="0">
                <a:solidFill>
                  <a:srgbClr val="444444"/>
                </a:solidFill>
                <a:effectLst/>
                <a:latin typeface="Arial" panose="020B0604020202020204" pitchFamily="34" charset="0"/>
              </a:rPr>
              <a:t> used to represent it.</a:t>
            </a:r>
            <a:endParaRPr lang="en-AU" b="0" i="0" dirty="0">
              <a:solidFill>
                <a:srgbClr val="444444"/>
              </a:solidFill>
              <a:effectLst/>
              <a:latin typeface="Arial" panose="020B0604020202020204" pitchFamily="34" charset="0"/>
            </a:endParaRPr>
          </a:p>
        </p:txBody>
      </p:sp>
      <p:pic>
        <p:nvPicPr>
          <p:cNvPr id="12290" name="Picture 2" descr="https://www.educationperfect.com/media/content/Science/1570133455.498971g/1570133455679-3058189611779114-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5475" y="3432175"/>
            <a:ext cx="2543175" cy="2200275"/>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https://www.educationperfect.com/media/content/Science/1570133501.475531g/1570133502176-3058189611779114-optimis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4075" y="3342164"/>
            <a:ext cx="2286000" cy="21526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481137" y="5676900"/>
            <a:ext cx="9153525" cy="1200329"/>
          </a:xfrm>
          <a:prstGeom prst="rect">
            <a:avLst/>
          </a:prstGeom>
        </p:spPr>
        <p:txBody>
          <a:bodyPr wrap="square">
            <a:spAutoFit/>
          </a:bodyPr>
          <a:lstStyle/>
          <a:p>
            <a:r>
              <a:rPr lang="en-AU" b="0" i="1" dirty="0" smtClean="0">
                <a:solidFill>
                  <a:srgbClr val="444444"/>
                </a:solidFill>
                <a:effectLst/>
                <a:latin typeface="Arial" panose="020B0604020202020204" pitchFamily="34" charset="0"/>
              </a:rPr>
              <a:t>The difference in electronegativity between H and Cl is much greater than the difference in electronegativity between H and C. Therefore, the bond dipole arrow for the H-Cl bond is longer than the arrow for the C-H bond. A C-H bond is actually typically considered non-polar, because the electronegativity difference is less than 0.4 on the Pauling scale.</a:t>
            </a:r>
            <a:endParaRPr lang="en-AU" dirty="0"/>
          </a:p>
        </p:txBody>
      </p:sp>
    </p:spTree>
    <p:extLst>
      <p:ext uri="{BB962C8B-B14F-4D97-AF65-F5344CB8AC3E}">
        <p14:creationId xmlns:p14="http://schemas.microsoft.com/office/powerpoint/2010/main" val="2771401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0700" y="179844"/>
            <a:ext cx="11531600" cy="3139321"/>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When the electric dipole between two atoms is </a:t>
            </a:r>
            <a:r>
              <a:rPr lang="en-AU" b="1" i="0" dirty="0" smtClean="0">
                <a:solidFill>
                  <a:srgbClr val="5F9FB9"/>
                </a:solidFill>
                <a:effectLst/>
                <a:latin typeface="Arial" panose="020B0604020202020204" pitchFamily="34" charset="0"/>
              </a:rPr>
              <a:t>very large,</a:t>
            </a:r>
            <a:r>
              <a:rPr lang="en-AU" b="1" i="0" dirty="0" smtClean="0">
                <a:solidFill>
                  <a:srgbClr val="444444"/>
                </a:solidFill>
                <a:effectLst/>
                <a:latin typeface="Arial" panose="020B0604020202020204" pitchFamily="34" charset="0"/>
              </a:rPr>
              <a:t> the bond begins to gain </a:t>
            </a:r>
            <a:r>
              <a:rPr lang="en-AU" b="1" i="0" dirty="0" smtClean="0">
                <a:solidFill>
                  <a:srgbClr val="E04E50"/>
                </a:solidFill>
                <a:effectLst/>
                <a:latin typeface="Arial" panose="020B0604020202020204" pitchFamily="34" charset="0"/>
              </a:rPr>
              <a:t>ionic character.</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In an </a:t>
            </a:r>
            <a:r>
              <a:rPr lang="en-AU" b="1" i="0" dirty="0" smtClean="0">
                <a:solidFill>
                  <a:srgbClr val="E04E50"/>
                </a:solidFill>
                <a:effectLst/>
                <a:latin typeface="Arial" panose="020B0604020202020204" pitchFamily="34" charset="0"/>
              </a:rPr>
              <a:t>ionic bond,</a:t>
            </a:r>
            <a:r>
              <a:rPr lang="en-AU" b="0" i="0" dirty="0" smtClean="0">
                <a:solidFill>
                  <a:srgbClr val="444444"/>
                </a:solidFill>
                <a:effectLst/>
                <a:latin typeface="Arial" panose="020B0604020202020204" pitchFamily="34" charset="0"/>
              </a:rPr>
              <a:t> the electrons can be thought of as being </a:t>
            </a:r>
            <a:r>
              <a:rPr lang="en-AU" b="1" i="0" dirty="0" smtClean="0">
                <a:solidFill>
                  <a:srgbClr val="6773B2"/>
                </a:solidFill>
                <a:effectLst/>
                <a:latin typeface="Arial" panose="020B0604020202020204" pitchFamily="34" charset="0"/>
              </a:rPr>
              <a:t>completely donated</a:t>
            </a:r>
            <a:r>
              <a:rPr lang="en-AU" b="0" i="0" dirty="0" smtClean="0">
                <a:solidFill>
                  <a:srgbClr val="444444"/>
                </a:solidFill>
                <a:effectLst/>
                <a:latin typeface="Arial" panose="020B0604020202020204" pitchFamily="34" charset="0"/>
              </a:rPr>
              <a:t> from one atom to the other, forming a positively charged ion and a negatively charged ion.</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Typically, covalent bonds are formed between</a:t>
            </a:r>
            <a:r>
              <a:rPr lang="en-AU" b="0" i="0" dirty="0" smtClean="0">
                <a:solidFill>
                  <a:srgbClr val="5F9FB9"/>
                </a:solidFill>
                <a:effectLst/>
                <a:latin typeface="Arial" panose="020B0604020202020204" pitchFamily="34" charset="0"/>
              </a:rPr>
              <a:t> </a:t>
            </a:r>
            <a:r>
              <a:rPr lang="en-AU" b="1" i="0" dirty="0" smtClean="0">
                <a:solidFill>
                  <a:srgbClr val="5F9FB9"/>
                </a:solidFill>
                <a:effectLst/>
                <a:latin typeface="Arial" panose="020B0604020202020204" pitchFamily="34" charset="0"/>
              </a:rPr>
              <a:t>two non-metal atoms.</a:t>
            </a:r>
            <a:r>
              <a:rPr lang="en-AU" b="0" i="0" dirty="0" smtClean="0">
                <a:solidFill>
                  <a:srgbClr val="444444"/>
                </a:solidFill>
                <a:effectLst/>
                <a:latin typeface="Arial" panose="020B0604020202020204" pitchFamily="34" charset="0"/>
              </a:rPr>
              <a:t> Ionic bonds are formed between </a:t>
            </a:r>
            <a:r>
              <a:rPr lang="en-AU" b="1" i="0" dirty="0" smtClean="0">
                <a:solidFill>
                  <a:srgbClr val="E04E50"/>
                </a:solidFill>
                <a:effectLst/>
                <a:latin typeface="Arial" panose="020B0604020202020204" pitchFamily="34" charset="0"/>
              </a:rPr>
              <a:t>a metal atom and a non-metal atom,</a:t>
            </a:r>
            <a:r>
              <a:rPr lang="en-AU" b="0" i="0" dirty="0" smtClean="0">
                <a:solidFill>
                  <a:srgbClr val="444444"/>
                </a:solidFill>
                <a:effectLst/>
                <a:latin typeface="Arial" panose="020B0604020202020204" pitchFamily="34" charset="0"/>
              </a:rPr>
              <a:t> as the non-metal atom has much </a:t>
            </a:r>
            <a:r>
              <a:rPr lang="en-AU" b="1" i="0" dirty="0" smtClean="0">
                <a:solidFill>
                  <a:srgbClr val="6773B2"/>
                </a:solidFill>
                <a:effectLst/>
                <a:latin typeface="Arial" panose="020B0604020202020204" pitchFamily="34" charset="0"/>
              </a:rPr>
              <a:t>greater electronegativity</a:t>
            </a:r>
            <a:r>
              <a:rPr lang="en-AU" b="0" i="0" dirty="0" smtClean="0">
                <a:solidFill>
                  <a:srgbClr val="444444"/>
                </a:solidFill>
                <a:effectLst/>
                <a:latin typeface="Arial" panose="020B0604020202020204" pitchFamily="34" charset="0"/>
              </a:rPr>
              <a:t> than the metal atom.</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In reality, the distinction between ionic and polar covalent bonds is a </a:t>
            </a:r>
            <a:r>
              <a:rPr lang="en-AU" b="1" i="0" dirty="0" smtClean="0">
                <a:solidFill>
                  <a:srgbClr val="5F9FB9"/>
                </a:solidFill>
                <a:effectLst/>
                <a:latin typeface="Arial" panose="020B0604020202020204" pitchFamily="34" charset="0"/>
              </a:rPr>
              <a:t>continuum,</a:t>
            </a:r>
            <a:r>
              <a:rPr lang="en-AU" b="0" i="0" dirty="0" smtClean="0">
                <a:solidFill>
                  <a:srgbClr val="444444"/>
                </a:solidFill>
                <a:effectLst/>
                <a:latin typeface="Arial" panose="020B0604020202020204" pitchFamily="34" charset="0"/>
              </a:rPr>
              <a:t> and a bond is "ionic" if its </a:t>
            </a:r>
            <a:r>
              <a:rPr lang="en-AU" b="1" i="0" dirty="0" smtClean="0">
                <a:solidFill>
                  <a:srgbClr val="5F9FB9"/>
                </a:solidFill>
                <a:effectLst/>
                <a:latin typeface="Arial" panose="020B0604020202020204" pitchFamily="34" charset="0"/>
              </a:rPr>
              <a:t>ionic character is greater than its covalent character.</a:t>
            </a:r>
            <a:r>
              <a:rPr lang="en-AU" b="0" i="0" dirty="0" smtClean="0">
                <a:solidFill>
                  <a:srgbClr val="444444"/>
                </a:solidFill>
                <a:effectLst/>
                <a:latin typeface="Arial" panose="020B0604020202020204" pitchFamily="34" charset="0"/>
              </a:rPr>
              <a:t> Where a bond falls within this continuum depends on the </a:t>
            </a:r>
            <a:r>
              <a:rPr lang="en-AU" b="1" i="0" dirty="0" smtClean="0">
                <a:solidFill>
                  <a:srgbClr val="6773B2"/>
                </a:solidFill>
                <a:effectLst/>
                <a:latin typeface="Arial" panose="020B0604020202020204" pitchFamily="34" charset="0"/>
              </a:rPr>
              <a:t>difference in electronegativity</a:t>
            </a:r>
            <a:r>
              <a:rPr lang="en-AU" b="0" i="0" dirty="0" smtClean="0">
                <a:solidFill>
                  <a:srgbClr val="444444"/>
                </a:solidFill>
                <a:effectLst/>
                <a:latin typeface="Arial" panose="020B0604020202020204" pitchFamily="34" charset="0"/>
              </a:rPr>
              <a:t> between the two atoms.</a:t>
            </a:r>
            <a:endParaRPr lang="en-AU" b="0" i="0" dirty="0">
              <a:solidFill>
                <a:srgbClr val="444444"/>
              </a:solidFill>
              <a:effectLst/>
              <a:latin typeface="Arial" panose="020B0604020202020204" pitchFamily="34" charset="0"/>
            </a:endParaRPr>
          </a:p>
        </p:txBody>
      </p:sp>
      <p:pic>
        <p:nvPicPr>
          <p:cNvPr id="13314" name="Picture 2" descr="https://www.educationperfect.com/media/content/Science/1570133943.626321g/1570133944310-3058189611779114-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4575" y="3530600"/>
            <a:ext cx="7610475" cy="2076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6338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4000" y="190143"/>
            <a:ext cx="11671300" cy="2862322"/>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Predicting bond polarities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You will </a:t>
            </a:r>
            <a:r>
              <a:rPr lang="en-AU" b="1" i="0" dirty="0" smtClean="0">
                <a:solidFill>
                  <a:srgbClr val="E04E50"/>
                </a:solidFill>
                <a:effectLst/>
                <a:latin typeface="Arial" panose="020B0604020202020204" pitchFamily="34" charset="0"/>
              </a:rPr>
              <a:t>not</a:t>
            </a:r>
            <a:r>
              <a:rPr lang="en-AU" b="0" i="0" dirty="0" smtClean="0">
                <a:solidFill>
                  <a:srgbClr val="444444"/>
                </a:solidFill>
                <a:effectLst/>
                <a:latin typeface="Arial" panose="020B0604020202020204" pitchFamily="34" charset="0"/>
              </a:rPr>
              <a:t> usually be given electronegativity values. You’ll need to be able to look at the </a:t>
            </a:r>
            <a:r>
              <a:rPr lang="en-AU" b="1" i="0" dirty="0" smtClean="0">
                <a:solidFill>
                  <a:srgbClr val="6773B2"/>
                </a:solidFill>
                <a:effectLst/>
                <a:latin typeface="Arial" panose="020B0604020202020204" pitchFamily="34" charset="0"/>
              </a:rPr>
              <a:t>position of the two elements</a:t>
            </a:r>
            <a:r>
              <a:rPr lang="en-AU" b="0" i="0" dirty="0" smtClean="0">
                <a:solidFill>
                  <a:srgbClr val="444444"/>
                </a:solidFill>
                <a:effectLst/>
                <a:latin typeface="Arial" panose="020B0604020202020204" pitchFamily="34" charset="0"/>
              </a:rPr>
              <a:t> on a regular periodic table to determine their </a:t>
            </a:r>
            <a:r>
              <a:rPr lang="en-AU" b="1" i="0" dirty="0" smtClean="0">
                <a:solidFill>
                  <a:srgbClr val="00868B"/>
                </a:solidFill>
                <a:effectLst/>
                <a:latin typeface="Arial" panose="020B0604020202020204" pitchFamily="34" charset="0"/>
              </a:rPr>
              <a:t>relative </a:t>
            </a:r>
            <a:r>
              <a:rPr lang="en-AU" b="1" i="0" dirty="0" err="1" smtClean="0">
                <a:solidFill>
                  <a:srgbClr val="00868B"/>
                </a:solidFill>
                <a:effectLst/>
                <a:latin typeface="Arial" panose="020B0604020202020204" pitchFamily="34" charset="0"/>
              </a:rPr>
              <a:t>electronegativities</a:t>
            </a:r>
            <a:r>
              <a:rPr lang="en-AU" b="0" i="0" dirty="0" smtClean="0">
                <a:solidFill>
                  <a:srgbClr val="444444"/>
                </a:solidFill>
                <a:effectLst/>
                <a:latin typeface="Arial" panose="020B0604020202020204" pitchFamily="34" charset="0"/>
              </a:rPr>
              <a:t> and the polarity of the bond.</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The element that is closer to </a:t>
            </a:r>
            <a:r>
              <a:rPr lang="en-AU" b="1" i="0" dirty="0" smtClean="0">
                <a:solidFill>
                  <a:srgbClr val="E04E50"/>
                </a:solidFill>
                <a:effectLst/>
                <a:latin typeface="Arial" panose="020B0604020202020204" pitchFamily="34" charset="0"/>
              </a:rPr>
              <a:t>fluorine</a:t>
            </a:r>
            <a:r>
              <a:rPr lang="en-AU" b="0" i="0" dirty="0" smtClean="0">
                <a:solidFill>
                  <a:srgbClr val="444444"/>
                </a:solidFill>
                <a:effectLst/>
                <a:latin typeface="Arial" panose="020B0604020202020204" pitchFamily="34" charset="0"/>
              </a:rPr>
              <a:t> on the periodic table will have the greater electronegativity.</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However, you will also be given examples that avoid the grey areas and are clearly polar or non-polar. You can predict that if the bond involves </a:t>
            </a:r>
            <a:r>
              <a:rPr lang="en-AU" b="1" i="0" dirty="0" smtClean="0">
                <a:solidFill>
                  <a:srgbClr val="00868B"/>
                </a:solidFill>
                <a:effectLst/>
                <a:latin typeface="Arial" panose="020B0604020202020204" pitchFamily="34" charset="0"/>
              </a:rPr>
              <a:t>two identical non-metal atoms,</a:t>
            </a:r>
            <a:r>
              <a:rPr lang="en-AU" b="0" i="0" dirty="0" smtClean="0">
                <a:solidFill>
                  <a:srgbClr val="444444"/>
                </a:solidFill>
                <a:effectLst/>
                <a:latin typeface="Arial" panose="020B0604020202020204" pitchFamily="34" charset="0"/>
              </a:rPr>
              <a:t> it is </a:t>
            </a:r>
            <a:r>
              <a:rPr lang="en-AU" b="1" i="0" dirty="0" smtClean="0">
                <a:solidFill>
                  <a:srgbClr val="00868B"/>
                </a:solidFill>
                <a:effectLst/>
                <a:latin typeface="Arial" panose="020B0604020202020204" pitchFamily="34" charset="0"/>
              </a:rPr>
              <a:t>non-polar covalent;</a:t>
            </a:r>
            <a:r>
              <a:rPr lang="en-AU" b="0" i="0" dirty="0" smtClean="0">
                <a:solidFill>
                  <a:srgbClr val="444444"/>
                </a:solidFill>
                <a:effectLst/>
                <a:latin typeface="Arial" panose="020B0604020202020204" pitchFamily="34" charset="0"/>
              </a:rPr>
              <a:t> if it involves </a:t>
            </a:r>
            <a:r>
              <a:rPr lang="en-AU" b="1" i="0" dirty="0" smtClean="0">
                <a:solidFill>
                  <a:srgbClr val="6773B2"/>
                </a:solidFill>
                <a:effectLst/>
                <a:latin typeface="Arial" panose="020B0604020202020204" pitchFamily="34" charset="0"/>
              </a:rPr>
              <a:t>two different non-metal atoms,</a:t>
            </a:r>
            <a:r>
              <a:rPr lang="en-AU" b="0" i="0" dirty="0" smtClean="0">
                <a:solidFill>
                  <a:srgbClr val="444444"/>
                </a:solidFill>
                <a:effectLst/>
                <a:latin typeface="Arial" panose="020B0604020202020204" pitchFamily="34" charset="0"/>
              </a:rPr>
              <a:t> it is </a:t>
            </a:r>
            <a:r>
              <a:rPr lang="en-AU" b="1" i="0" dirty="0" smtClean="0">
                <a:solidFill>
                  <a:srgbClr val="6773B2"/>
                </a:solidFill>
                <a:effectLst/>
                <a:latin typeface="Arial" panose="020B0604020202020204" pitchFamily="34" charset="0"/>
              </a:rPr>
              <a:t>polar covalent;</a:t>
            </a:r>
            <a:r>
              <a:rPr lang="en-AU" b="0" i="0" dirty="0" smtClean="0">
                <a:solidFill>
                  <a:srgbClr val="444444"/>
                </a:solidFill>
                <a:effectLst/>
                <a:latin typeface="Arial" panose="020B0604020202020204" pitchFamily="34" charset="0"/>
              </a:rPr>
              <a:t> and if it involves </a:t>
            </a:r>
            <a:r>
              <a:rPr lang="en-AU" b="1" i="0" dirty="0" smtClean="0">
                <a:solidFill>
                  <a:srgbClr val="E04E50"/>
                </a:solidFill>
                <a:effectLst/>
                <a:latin typeface="Arial" panose="020B0604020202020204" pitchFamily="34" charset="0"/>
              </a:rPr>
              <a:t>a non-metal and a metal it is ionic.</a:t>
            </a:r>
            <a:endParaRPr lang="en-AU" b="0" i="0" dirty="0">
              <a:solidFill>
                <a:srgbClr val="444444"/>
              </a:solidFill>
              <a:effectLst/>
              <a:latin typeface="Arial" panose="020B0604020202020204" pitchFamily="34" charset="0"/>
            </a:endParaRPr>
          </a:p>
        </p:txBody>
      </p:sp>
      <p:pic>
        <p:nvPicPr>
          <p:cNvPr id="14338" name="Picture 2" descr="no colour periodic tab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6400" y="3429026"/>
            <a:ext cx="5594350" cy="3052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2974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78100" y="300335"/>
            <a:ext cx="6096000" cy="923330"/>
          </a:xfrm>
          <a:prstGeom prst="rect">
            <a:avLst/>
          </a:prstGeom>
        </p:spPr>
        <p:txBody>
          <a:bodyPr>
            <a:spAutoFit/>
          </a:bodyPr>
          <a:lstStyle/>
          <a:p>
            <a:pPr algn="ctr"/>
            <a:r>
              <a:rPr lang="en-AU" b="1" i="0" dirty="0" smtClean="0">
                <a:solidFill>
                  <a:srgbClr val="444444"/>
                </a:solidFill>
                <a:effectLst/>
                <a:latin typeface="Arial" panose="020B0604020202020204" pitchFamily="34" charset="0"/>
              </a:rPr>
              <a:t>Polar and Non-polar Covalent Bonds: A Summary</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r>
            <a:br>
              <a:rPr lang="en-AU" b="0" i="0" dirty="0" smtClean="0">
                <a:solidFill>
                  <a:srgbClr val="444444"/>
                </a:solidFill>
                <a:effectLst/>
                <a:latin typeface="Arial" panose="020B0604020202020204" pitchFamily="34" charset="0"/>
              </a:rPr>
            </a:br>
            <a:endParaRPr lang="en-AU" dirty="0"/>
          </a:p>
        </p:txBody>
      </p:sp>
      <p:sp>
        <p:nvSpPr>
          <p:cNvPr id="3" name="Rectangle 2"/>
          <p:cNvSpPr/>
          <p:nvPr/>
        </p:nvSpPr>
        <p:spPr>
          <a:xfrm>
            <a:off x="419100" y="1088936"/>
            <a:ext cx="6096000" cy="1200329"/>
          </a:xfrm>
          <a:prstGeom prst="rect">
            <a:avLst/>
          </a:prstGeom>
        </p:spPr>
        <p:txBody>
          <a:bodyPr>
            <a:spAutoFit/>
          </a:bodyPr>
          <a:lstStyle/>
          <a:p>
            <a:r>
              <a:rPr lang="en-AU" b="0" i="0" dirty="0" smtClean="0">
                <a:solidFill>
                  <a:srgbClr val="444444"/>
                </a:solidFill>
                <a:effectLst/>
                <a:latin typeface="Arial" panose="020B0604020202020204" pitchFamily="34" charset="0"/>
              </a:rPr>
              <a:t>Particles of </a:t>
            </a:r>
            <a:r>
              <a:rPr lang="en-AU" b="1" i="0" dirty="0" smtClean="0">
                <a:solidFill>
                  <a:srgbClr val="E04E50"/>
                </a:solidFill>
                <a:effectLst/>
                <a:latin typeface="Arial" panose="020B0604020202020204" pitchFamily="34" charset="0"/>
              </a:rPr>
              <a:t>opposite charge</a:t>
            </a:r>
            <a:r>
              <a:rPr lang="en-AU" b="0" i="0" dirty="0" smtClean="0">
                <a:solidFill>
                  <a:srgbClr val="444444"/>
                </a:solidFill>
                <a:effectLst/>
                <a:latin typeface="Arial" panose="020B0604020202020204" pitchFamily="34" charset="0"/>
              </a:rPr>
              <a:t> have an </a:t>
            </a:r>
            <a:r>
              <a:rPr lang="en-AU" b="1" i="0" dirty="0" smtClean="0">
                <a:solidFill>
                  <a:srgbClr val="E04E50"/>
                </a:solidFill>
                <a:effectLst/>
                <a:latin typeface="Arial" panose="020B0604020202020204" pitchFamily="34" charset="0"/>
              </a:rPr>
              <a:t>electrostatic attraction.</a:t>
            </a:r>
            <a:r>
              <a:rPr lang="en-AU" b="0" i="0" dirty="0" smtClean="0">
                <a:solidFill>
                  <a:srgbClr val="444444"/>
                </a:solidFill>
                <a:effectLst/>
                <a:latin typeface="Arial" panose="020B0604020202020204" pitchFamily="34" charset="0"/>
              </a:rPr>
              <a:t> A particle with a positive charge, e.g. Na, and a particle with a negative charge, e.g. Cl, will be attracted to each other and will form an </a:t>
            </a:r>
            <a:r>
              <a:rPr lang="en-AU" b="1" i="0" dirty="0" smtClean="0">
                <a:solidFill>
                  <a:srgbClr val="6773B2"/>
                </a:solidFill>
                <a:effectLst/>
                <a:latin typeface="Arial" panose="020B0604020202020204" pitchFamily="34" charset="0"/>
              </a:rPr>
              <a:t>ionic bond.</a:t>
            </a:r>
            <a:endParaRPr lang="en-AU" dirty="0"/>
          </a:p>
        </p:txBody>
      </p:sp>
      <p:pic>
        <p:nvPicPr>
          <p:cNvPr id="15362" name="Picture 2" descr="https://www.educationperfect.com/media/content/Science/1595367184.846061g/1595367185809-2211985228024914-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7875" y="525462"/>
            <a:ext cx="2117725" cy="186359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19100" y="2431346"/>
            <a:ext cx="10312400" cy="3693319"/>
          </a:xfrm>
          <a:prstGeom prst="rect">
            <a:avLst/>
          </a:prstGeom>
        </p:spPr>
        <p:txBody>
          <a:bodyPr wrap="square">
            <a:spAutoFit/>
          </a:bodyPr>
          <a:lstStyle/>
          <a:p>
            <a:r>
              <a:rPr lang="en-AU" b="0" i="0" dirty="0" smtClean="0">
                <a:solidFill>
                  <a:srgbClr val="444444"/>
                </a:solidFill>
                <a:effectLst/>
                <a:latin typeface="Arial" panose="020B0604020202020204" pitchFamily="34" charset="0"/>
              </a:rPr>
              <a:t>Electrons can be </a:t>
            </a:r>
            <a:r>
              <a:rPr lang="en-AU" b="1" i="0" dirty="0" smtClean="0">
                <a:solidFill>
                  <a:srgbClr val="5F9FB9"/>
                </a:solidFill>
                <a:effectLst/>
                <a:latin typeface="Arial" panose="020B0604020202020204" pitchFamily="34" charset="0"/>
              </a:rPr>
              <a:t>shared</a:t>
            </a:r>
            <a:r>
              <a:rPr lang="en-AU" b="0" i="0" dirty="0" smtClean="0">
                <a:solidFill>
                  <a:srgbClr val="444444"/>
                </a:solidFill>
                <a:effectLst/>
                <a:latin typeface="Arial" panose="020B0604020202020204" pitchFamily="34" charset="0"/>
              </a:rPr>
              <a:t> between two atoms. The </a:t>
            </a:r>
            <a:r>
              <a:rPr lang="en-AU" b="1" i="0" dirty="0" smtClean="0">
                <a:solidFill>
                  <a:srgbClr val="5F9FB9"/>
                </a:solidFill>
                <a:effectLst/>
                <a:latin typeface="Arial" panose="020B0604020202020204" pitchFamily="34" charset="0"/>
              </a:rPr>
              <a:t>electron</a:t>
            </a:r>
            <a:r>
              <a:rPr lang="en-AU" b="0" i="0" dirty="0" smtClean="0">
                <a:solidFill>
                  <a:srgbClr val="444444"/>
                </a:solidFill>
                <a:effectLst/>
                <a:latin typeface="Arial" panose="020B0604020202020204" pitchFamily="34" charset="0"/>
              </a:rPr>
              <a:t> from one atom will be </a:t>
            </a:r>
            <a:r>
              <a:rPr lang="en-AU" b="1" i="0" dirty="0" smtClean="0">
                <a:solidFill>
                  <a:srgbClr val="5F9FB9"/>
                </a:solidFill>
                <a:effectLst/>
                <a:latin typeface="Arial" panose="020B0604020202020204" pitchFamily="34" charset="0"/>
              </a:rPr>
              <a:t>attracted to the nucleus</a:t>
            </a:r>
            <a:r>
              <a:rPr lang="en-AU" b="0" i="0" dirty="0" smtClean="0">
                <a:solidFill>
                  <a:srgbClr val="444444"/>
                </a:solidFill>
                <a:effectLst/>
                <a:latin typeface="Arial" panose="020B0604020202020204" pitchFamily="34" charset="0"/>
              </a:rPr>
              <a:t> of the other atom. The sharing of electrons forms a </a:t>
            </a:r>
            <a:r>
              <a:rPr lang="en-AU" b="1" i="0" dirty="0" smtClean="0">
                <a:solidFill>
                  <a:srgbClr val="E04E50"/>
                </a:solidFill>
                <a:effectLst/>
                <a:latin typeface="Arial" panose="020B0604020202020204" pitchFamily="34" charset="0"/>
              </a:rPr>
              <a:t>covalent bond.</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Covalent bonds can be </a:t>
            </a:r>
            <a:r>
              <a:rPr lang="en-AU" b="1" i="0" dirty="0" smtClean="0">
                <a:solidFill>
                  <a:srgbClr val="5F9FB9"/>
                </a:solidFill>
                <a:effectLst/>
                <a:latin typeface="Arial" panose="020B0604020202020204" pitchFamily="34" charset="0"/>
              </a:rPr>
              <a:t>polar</a:t>
            </a:r>
            <a:r>
              <a:rPr lang="en-AU" b="0" i="0" dirty="0" smtClean="0">
                <a:solidFill>
                  <a:srgbClr val="444444"/>
                </a:solidFill>
                <a:effectLst/>
                <a:latin typeface="Arial" panose="020B0604020202020204" pitchFamily="34" charset="0"/>
              </a:rPr>
              <a:t> or </a:t>
            </a:r>
            <a:r>
              <a:rPr lang="en-AU" b="1" i="0" dirty="0" smtClean="0">
                <a:solidFill>
                  <a:srgbClr val="E04E50"/>
                </a:solidFill>
                <a:effectLst/>
                <a:latin typeface="Arial" panose="020B0604020202020204" pitchFamily="34" charset="0"/>
              </a:rPr>
              <a:t>non-polar,</a:t>
            </a:r>
            <a:r>
              <a:rPr lang="en-AU" b="0" i="0" dirty="0" smtClean="0">
                <a:solidFill>
                  <a:srgbClr val="444444"/>
                </a:solidFill>
                <a:effectLst/>
                <a:latin typeface="Arial" panose="020B0604020202020204" pitchFamily="34" charset="0"/>
              </a:rPr>
              <a:t> depending on </a:t>
            </a:r>
            <a:r>
              <a:rPr lang="en-AU" b="1" i="0" dirty="0" smtClean="0">
                <a:solidFill>
                  <a:srgbClr val="6773B2"/>
                </a:solidFill>
                <a:effectLst/>
                <a:latin typeface="Arial" panose="020B0604020202020204" pitchFamily="34" charset="0"/>
              </a:rPr>
              <a:t>how high the electronegativity is.</a:t>
            </a:r>
            <a:r>
              <a:rPr lang="en-AU" b="0" i="0" dirty="0" smtClean="0">
                <a:solidFill>
                  <a:srgbClr val="444444"/>
                </a:solidFill>
                <a:effectLst/>
                <a:latin typeface="Arial" panose="020B0604020202020204" pitchFamily="34" charset="0"/>
              </a:rPr>
              <a:t> If the electronegativity isn't high enough to cause ionisation, instead of an electron being stolen, it's </a:t>
            </a:r>
            <a:r>
              <a:rPr lang="en-AU" b="1" i="0" dirty="0" smtClean="0">
                <a:solidFill>
                  <a:srgbClr val="5F9FB9"/>
                </a:solidFill>
                <a:effectLst/>
                <a:latin typeface="Arial" panose="020B0604020202020204" pitchFamily="34" charset="0"/>
              </a:rPr>
              <a:t>shared unevenly</a:t>
            </a:r>
            <a:r>
              <a:rPr lang="en-AU" b="0" i="0" dirty="0" smtClean="0">
                <a:solidFill>
                  <a:srgbClr val="444444"/>
                </a:solidFill>
                <a:effectLst/>
                <a:latin typeface="Arial" panose="020B0604020202020204" pitchFamily="34" charset="0"/>
              </a:rPr>
              <a:t> in favour of the more electronegative atom in a </a:t>
            </a:r>
            <a:r>
              <a:rPr lang="en-AU" b="1" i="0" dirty="0" smtClean="0">
                <a:solidFill>
                  <a:srgbClr val="5F9FB9"/>
                </a:solidFill>
                <a:effectLst/>
                <a:latin typeface="Arial" panose="020B0604020202020204" pitchFamily="34" charset="0"/>
              </a:rPr>
              <a:t>polar covalent bond.</a:t>
            </a:r>
            <a:r>
              <a:rPr lang="en-AU" b="0" i="0" dirty="0" smtClean="0">
                <a:solidFill>
                  <a:srgbClr val="444444"/>
                </a:solidFill>
                <a:effectLst/>
                <a:latin typeface="Arial" panose="020B0604020202020204" pitchFamily="34" charset="0"/>
              </a:rPr>
              <a:t> The atom with the electron closest to it is </a:t>
            </a:r>
            <a:r>
              <a:rPr lang="en-AU" b="1" i="0" dirty="0" smtClean="0">
                <a:solidFill>
                  <a:srgbClr val="5F9FB9"/>
                </a:solidFill>
                <a:effectLst/>
                <a:latin typeface="Arial" panose="020B0604020202020204" pitchFamily="34" charset="0"/>
              </a:rPr>
              <a:t>partially negative</a:t>
            </a:r>
            <a:r>
              <a:rPr lang="en-AU" b="0" i="0" dirty="0" smtClean="0">
                <a:solidFill>
                  <a:srgbClr val="444444"/>
                </a:solidFill>
                <a:effectLst/>
                <a:latin typeface="Arial" panose="020B0604020202020204" pitchFamily="34" charset="0"/>
              </a:rPr>
              <a:t> </a:t>
            </a:r>
            <a:r>
              <a:rPr lang="en-AU" b="1" i="0" dirty="0" smtClean="0">
                <a:solidFill>
                  <a:srgbClr val="5F9FB9"/>
                </a:solidFill>
                <a:effectLst/>
                <a:latin typeface="Arial" panose="020B0604020202020204" pitchFamily="34" charset="0"/>
              </a:rPr>
              <a:t>(denoted by</a:t>
            </a:r>
            <a:r>
              <a:rPr lang="en-AU" b="0" i="0" dirty="0" smtClean="0">
                <a:solidFill>
                  <a:srgbClr val="444444"/>
                </a:solidFill>
                <a:effectLst/>
                <a:latin typeface="Arial" panose="020B0604020202020204" pitchFamily="34" charset="0"/>
              </a:rPr>
              <a:t> </a:t>
            </a:r>
            <a:r>
              <a:rPr lang="en-AU" b="1" i="1" dirty="0" smtClean="0">
                <a:solidFill>
                  <a:srgbClr val="5F9FB9"/>
                </a:solidFill>
                <a:effectLst/>
                <a:latin typeface="KaTeX_Math"/>
              </a:rPr>
              <a:t>δ</a:t>
            </a:r>
            <a:r>
              <a:rPr lang="en-AU" b="1" i="0" dirty="0" smtClean="0">
                <a:solidFill>
                  <a:srgbClr val="5F9FB9"/>
                </a:solidFill>
                <a:effectLst/>
                <a:latin typeface="KaTeX_Main"/>
              </a:rPr>
              <a:t>−</a:t>
            </a:r>
            <a:r>
              <a:rPr lang="en-AU" b="1" i="0" dirty="0" smtClean="0">
                <a:solidFill>
                  <a:srgbClr val="5F9FB9"/>
                </a:solidFill>
                <a:effectLst/>
                <a:latin typeface="Arial" panose="020B0604020202020204" pitchFamily="34" charset="0"/>
              </a:rPr>
              <a:t>).</a:t>
            </a:r>
            <a:r>
              <a:rPr lang="en-AU" b="0" i="0" dirty="0" smtClean="0">
                <a:solidFill>
                  <a:srgbClr val="444444"/>
                </a:solidFill>
                <a:effectLst/>
                <a:latin typeface="Arial" panose="020B0604020202020204" pitchFamily="34" charset="0"/>
              </a:rPr>
              <a:t> The atom with the electron being pulled away is </a:t>
            </a:r>
            <a:r>
              <a:rPr lang="en-AU" b="1" i="0" dirty="0" smtClean="0">
                <a:solidFill>
                  <a:srgbClr val="E04E50"/>
                </a:solidFill>
                <a:effectLst/>
                <a:latin typeface="Arial" panose="020B0604020202020204" pitchFamily="34" charset="0"/>
              </a:rPr>
              <a:t>partially positive (</a:t>
            </a:r>
            <a:r>
              <a:rPr lang="en-AU" b="1" i="1" dirty="0" smtClean="0">
                <a:solidFill>
                  <a:srgbClr val="E04E50"/>
                </a:solidFill>
                <a:effectLst/>
                <a:latin typeface="KaTeX_Math"/>
              </a:rPr>
              <a:t>δ</a:t>
            </a:r>
            <a:r>
              <a:rPr lang="en-AU" b="1" i="0" dirty="0" smtClean="0">
                <a:solidFill>
                  <a:srgbClr val="E04E50"/>
                </a:solidFill>
                <a:effectLst/>
                <a:latin typeface="KaTeX_Main"/>
              </a:rPr>
              <a:t>+</a:t>
            </a:r>
            <a:r>
              <a:rPr lang="en-AU" b="1" i="0" dirty="0" smtClean="0">
                <a:solidFill>
                  <a:srgbClr val="E04E50"/>
                </a:solidFill>
                <a:effectLst/>
                <a:latin typeface="Arial" panose="020B0604020202020204" pitchFamily="34" charset="0"/>
              </a:rPr>
              <a:t>).</a:t>
            </a:r>
            <a:r>
              <a:rPr lang="en-AU" b="0" i="0" dirty="0" smtClean="0">
                <a:solidFill>
                  <a:srgbClr val="444444"/>
                </a:solidFill>
                <a:effectLst/>
                <a:latin typeface="Arial" panose="020B0604020202020204" pitchFamily="34" charset="0"/>
              </a:rPr>
              <a:t> In </a:t>
            </a:r>
            <a:r>
              <a:rPr lang="en-AU" b="1" i="0" dirty="0" smtClean="0">
                <a:solidFill>
                  <a:srgbClr val="E04E50"/>
                </a:solidFill>
                <a:effectLst/>
                <a:latin typeface="Arial" panose="020B0604020202020204" pitchFamily="34" charset="0"/>
              </a:rPr>
              <a:t>non-polar covalent bonds</a:t>
            </a:r>
            <a:r>
              <a:rPr lang="en-AU" b="0" i="0" dirty="0" smtClean="0">
                <a:solidFill>
                  <a:srgbClr val="444444"/>
                </a:solidFill>
                <a:effectLst/>
                <a:latin typeface="Arial" panose="020B0604020202020204" pitchFamily="34" charset="0"/>
              </a:rPr>
              <a:t> electrons are </a:t>
            </a:r>
            <a:r>
              <a:rPr lang="en-AU" b="1" i="0" dirty="0" smtClean="0">
                <a:solidFill>
                  <a:srgbClr val="E04E50"/>
                </a:solidFill>
                <a:effectLst/>
                <a:latin typeface="Arial" panose="020B0604020202020204" pitchFamily="34" charset="0"/>
              </a:rPr>
              <a:t>shared evenly</a:t>
            </a:r>
            <a:r>
              <a:rPr lang="en-AU" b="0" i="0" dirty="0" smtClean="0">
                <a:solidFill>
                  <a:srgbClr val="444444"/>
                </a:solidFill>
                <a:effectLst/>
                <a:latin typeface="Arial" panose="020B0604020202020204" pitchFamily="34" charset="0"/>
              </a:rPr>
              <a:t> with both atoms having no partial charges.</a:t>
            </a: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We can predict the type of bond by </a:t>
            </a:r>
            <a:r>
              <a:rPr lang="en-AU" b="1" i="0" dirty="0" smtClean="0">
                <a:solidFill>
                  <a:srgbClr val="6773B2"/>
                </a:solidFill>
                <a:effectLst/>
                <a:latin typeface="Arial" panose="020B0604020202020204" pitchFamily="34" charset="0"/>
              </a:rPr>
              <a:t>comparing </a:t>
            </a:r>
            <a:r>
              <a:rPr lang="en-AU" b="1" i="0" dirty="0" err="1" smtClean="0">
                <a:solidFill>
                  <a:srgbClr val="6773B2"/>
                </a:solidFill>
                <a:effectLst/>
                <a:latin typeface="Arial" panose="020B0604020202020204" pitchFamily="34" charset="0"/>
              </a:rPr>
              <a:t>electronegativities</a:t>
            </a:r>
            <a:r>
              <a:rPr lang="en-AU" b="1" i="0" dirty="0" smtClean="0">
                <a:solidFill>
                  <a:srgbClr val="6773B2"/>
                </a:solidFill>
                <a:effectLst/>
                <a:latin typeface="Arial" panose="020B0604020202020204" pitchFamily="34" charset="0"/>
              </a:rPr>
              <a:t>.</a:t>
            </a:r>
            <a:r>
              <a:rPr lang="en-AU" b="0" i="0" dirty="0" smtClean="0">
                <a:solidFill>
                  <a:srgbClr val="444444"/>
                </a:solidFill>
                <a:effectLst/>
                <a:latin typeface="Arial" panose="020B0604020202020204" pitchFamily="34" charset="0"/>
              </a:rPr>
              <a:t> If the difference in electronegativity is </a:t>
            </a:r>
            <a:r>
              <a:rPr lang="en-AU" b="1" i="0" dirty="0" smtClean="0">
                <a:solidFill>
                  <a:srgbClr val="E04E50"/>
                </a:solidFill>
                <a:effectLst/>
                <a:latin typeface="Arial" panose="020B0604020202020204" pitchFamily="34" charset="0"/>
              </a:rPr>
              <a:t>very low</a:t>
            </a:r>
            <a:r>
              <a:rPr lang="en-AU" b="0" i="0" dirty="0" smtClean="0">
                <a:solidFill>
                  <a:srgbClr val="444444"/>
                </a:solidFill>
                <a:effectLst/>
                <a:latin typeface="Arial" panose="020B0604020202020204" pitchFamily="34" charset="0"/>
              </a:rPr>
              <a:t> it will be a </a:t>
            </a:r>
            <a:r>
              <a:rPr lang="en-AU" b="1" i="0" dirty="0" smtClean="0">
                <a:solidFill>
                  <a:srgbClr val="E04E50"/>
                </a:solidFill>
                <a:effectLst/>
                <a:latin typeface="Arial" panose="020B0604020202020204" pitchFamily="34" charset="0"/>
              </a:rPr>
              <a:t>non-polar covalent bond.</a:t>
            </a:r>
            <a:r>
              <a:rPr lang="en-AU" b="0" i="0" dirty="0" smtClean="0">
                <a:solidFill>
                  <a:srgbClr val="444444"/>
                </a:solidFill>
                <a:effectLst/>
                <a:latin typeface="Arial" panose="020B0604020202020204" pitchFamily="34" charset="0"/>
              </a:rPr>
              <a:t> If the difference is </a:t>
            </a:r>
            <a:r>
              <a:rPr lang="en-AU" b="1" i="0" dirty="0" smtClean="0">
                <a:solidFill>
                  <a:srgbClr val="6773B2"/>
                </a:solidFill>
                <a:effectLst/>
                <a:latin typeface="Arial" panose="020B0604020202020204" pitchFamily="34" charset="0"/>
              </a:rPr>
              <a:t>quite large,</a:t>
            </a:r>
            <a:r>
              <a:rPr lang="en-AU" b="0" i="0" dirty="0" smtClean="0">
                <a:solidFill>
                  <a:srgbClr val="444444"/>
                </a:solidFill>
                <a:effectLst/>
                <a:latin typeface="Arial" panose="020B0604020202020204" pitchFamily="34" charset="0"/>
              </a:rPr>
              <a:t> the bond will be an </a:t>
            </a:r>
            <a:r>
              <a:rPr lang="en-AU" b="1" i="0" dirty="0" smtClean="0">
                <a:solidFill>
                  <a:srgbClr val="6773B2"/>
                </a:solidFill>
                <a:effectLst/>
                <a:latin typeface="Arial" panose="020B0604020202020204" pitchFamily="34" charset="0"/>
              </a:rPr>
              <a:t>ionic bond.</a:t>
            </a:r>
            <a:endParaRPr lang="en-AU"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3636206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Physical Properties of Molecular Substances</a:t>
            </a:r>
            <a:endParaRPr lang="en-AU" dirty="0"/>
          </a:p>
        </p:txBody>
      </p:sp>
      <p:sp>
        <p:nvSpPr>
          <p:cNvPr id="3" name="Text Placeholder 2"/>
          <p:cNvSpPr>
            <a:spLocks noGrp="1"/>
          </p:cNvSpPr>
          <p:nvPr>
            <p:ph type="body" idx="1"/>
          </p:nvPr>
        </p:nvSpPr>
        <p:spPr/>
        <p:txBody>
          <a:bodyPr/>
          <a:lstStyle/>
          <a:p>
            <a:endParaRPr lang="en-AU"/>
          </a:p>
        </p:txBody>
      </p:sp>
    </p:spTree>
    <p:extLst>
      <p:ext uri="{BB962C8B-B14F-4D97-AF65-F5344CB8AC3E}">
        <p14:creationId xmlns:p14="http://schemas.microsoft.com/office/powerpoint/2010/main" val="771549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2300" y="342543"/>
            <a:ext cx="11315700" cy="3139321"/>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Molecular substances are made up of </a:t>
            </a:r>
            <a:r>
              <a:rPr lang="en-AU" b="1" i="0" dirty="0" smtClean="0">
                <a:solidFill>
                  <a:srgbClr val="3598DC"/>
                </a:solidFill>
                <a:effectLst/>
                <a:latin typeface="Arial" panose="020B0604020202020204" pitchFamily="34" charset="0"/>
              </a:rPr>
              <a:t>discrete molecules</a:t>
            </a:r>
            <a:r>
              <a:rPr lang="en-AU" b="1" i="0" dirty="0" smtClean="0">
                <a:solidFill>
                  <a:srgbClr val="444444"/>
                </a:solidFill>
                <a:effectLst/>
                <a:latin typeface="Arial" panose="020B0604020202020204" pitchFamily="34" charset="0"/>
              </a:rPr>
              <a:t> bound together by </a:t>
            </a:r>
            <a:r>
              <a:rPr lang="en-AU" b="1" i="0" dirty="0" smtClean="0">
                <a:solidFill>
                  <a:srgbClr val="E04E50"/>
                </a:solidFill>
                <a:effectLst/>
                <a:latin typeface="Arial" panose="020B0604020202020204" pitchFamily="34" charset="0"/>
              </a:rPr>
              <a:t>covalent bonds.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The </a:t>
            </a:r>
            <a:r>
              <a:rPr lang="en-AU" b="1" i="0" dirty="0" smtClean="0">
                <a:solidFill>
                  <a:srgbClr val="571A98"/>
                </a:solidFill>
                <a:effectLst/>
                <a:latin typeface="Arial" panose="020B0604020202020204" pitchFamily="34" charset="0"/>
              </a:rPr>
              <a:t>intermolecular forces</a:t>
            </a:r>
            <a:r>
              <a:rPr lang="en-AU" b="0" i="0" dirty="0" smtClean="0">
                <a:solidFill>
                  <a:srgbClr val="444444"/>
                </a:solidFill>
                <a:effectLst/>
                <a:latin typeface="Arial" panose="020B0604020202020204" pitchFamily="34" charset="0"/>
              </a:rPr>
              <a:t> holding these molecules together are </a:t>
            </a:r>
            <a:r>
              <a:rPr lang="en-AU" b="1" i="0" dirty="0" smtClean="0">
                <a:solidFill>
                  <a:srgbClr val="3598DC"/>
                </a:solidFill>
                <a:effectLst/>
                <a:latin typeface="Arial" panose="020B0604020202020204" pitchFamily="34" charset="0"/>
              </a:rPr>
              <a:t>weak</a:t>
            </a:r>
            <a:r>
              <a:rPr lang="en-AU" b="0" i="0" dirty="0" smtClean="0">
                <a:solidFill>
                  <a:srgbClr val="444444"/>
                </a:solidFill>
                <a:effectLst/>
                <a:latin typeface="Arial" panose="020B0604020202020204" pitchFamily="34" charset="0"/>
              </a:rPr>
              <a:t> compared to the </a:t>
            </a:r>
            <a:r>
              <a:rPr lang="en-AU" b="1" i="0" dirty="0" smtClean="0">
                <a:solidFill>
                  <a:srgbClr val="E04E50"/>
                </a:solidFill>
                <a:effectLst/>
                <a:latin typeface="Arial" panose="020B0604020202020204" pitchFamily="34" charset="0"/>
              </a:rPr>
              <a:t>intramolecular forces</a:t>
            </a:r>
            <a:r>
              <a:rPr lang="en-AU" b="0" i="0" dirty="0" smtClean="0">
                <a:solidFill>
                  <a:srgbClr val="444444"/>
                </a:solidFill>
                <a:effectLst/>
                <a:latin typeface="Arial" panose="020B0604020202020204" pitchFamily="34" charset="0"/>
              </a:rPr>
              <a:t> (covalent bonds) within each molecule.</a:t>
            </a:r>
          </a:p>
          <a:p>
            <a:r>
              <a:rPr lang="en-AU" b="0" i="0" dirty="0" smtClean="0">
                <a:solidFill>
                  <a:srgbClr val="444444"/>
                </a:solidFill>
                <a:effectLst/>
                <a:latin typeface="Arial" panose="020B0604020202020204" pitchFamily="34" charset="0"/>
              </a:rPr>
              <a:t> </a:t>
            </a:r>
          </a:p>
          <a:p>
            <a:r>
              <a:rPr lang="en-AU" b="1" i="0" dirty="0" smtClean="0">
                <a:solidFill>
                  <a:srgbClr val="999999"/>
                </a:solidFill>
                <a:effectLst/>
                <a:latin typeface="Arial" panose="020B0604020202020204" pitchFamily="34" charset="0"/>
              </a:rPr>
              <a:t>Intermolecular forces are the forces between individual molecules.</a:t>
            </a:r>
            <a:endParaRPr lang="en-AU" b="0" i="0" dirty="0" smtClean="0">
              <a:solidFill>
                <a:srgbClr val="444444"/>
              </a:solidFill>
              <a:effectLst/>
              <a:latin typeface="Arial" panose="020B0604020202020204" pitchFamily="34" charset="0"/>
            </a:endParaRPr>
          </a:p>
          <a:p>
            <a:r>
              <a:rPr lang="en-AU" b="1" i="0" dirty="0" smtClean="0">
                <a:solidFill>
                  <a:srgbClr val="999999"/>
                </a:solidFill>
                <a:effectLst/>
                <a:latin typeface="Arial" panose="020B0604020202020204" pitchFamily="34" charset="0"/>
              </a:rPr>
              <a:t>Intramolecular forces are the forces within a molecule; the covalent bonds between atoms.</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The strength of the intermolecular forces is dependent on whether the molecule has a </a:t>
            </a:r>
            <a:r>
              <a:rPr lang="en-AU" b="1" i="0" dirty="0" smtClean="0">
                <a:solidFill>
                  <a:srgbClr val="3598DC"/>
                </a:solidFill>
                <a:effectLst/>
                <a:latin typeface="Arial" panose="020B0604020202020204" pitchFamily="34" charset="0"/>
              </a:rPr>
              <a:t>permanent dipole</a:t>
            </a:r>
            <a:r>
              <a:rPr lang="en-AU" b="0" i="0" dirty="0" smtClean="0">
                <a:solidFill>
                  <a:srgbClr val="444444"/>
                </a:solidFill>
                <a:effectLst/>
                <a:latin typeface="Arial" panose="020B0604020202020204" pitchFamily="34" charset="0"/>
              </a:rPr>
              <a:t> or not (whether it is polar or non-polar), with polar molecules having </a:t>
            </a:r>
            <a:r>
              <a:rPr lang="en-AU" b="1" i="0" dirty="0" smtClean="0">
                <a:solidFill>
                  <a:srgbClr val="E04E50"/>
                </a:solidFill>
                <a:effectLst/>
                <a:latin typeface="Arial" panose="020B0604020202020204" pitchFamily="34" charset="0"/>
              </a:rPr>
              <a:t>stronger intermolecular forces</a:t>
            </a:r>
            <a:r>
              <a:rPr lang="en-AU" b="0" i="0" dirty="0" smtClean="0">
                <a:solidFill>
                  <a:srgbClr val="444444"/>
                </a:solidFill>
                <a:effectLst/>
                <a:latin typeface="Arial" panose="020B0604020202020204" pitchFamily="34" charset="0"/>
              </a:rPr>
              <a:t> than non-polar molecules in general.</a:t>
            </a:r>
            <a:endParaRPr lang="en-AU" b="0" i="0" dirty="0">
              <a:solidFill>
                <a:srgbClr val="444444"/>
              </a:solidFill>
              <a:effectLst/>
              <a:latin typeface="Arial" panose="020B0604020202020204" pitchFamily="34" charset="0"/>
            </a:endParaRPr>
          </a:p>
        </p:txBody>
      </p:sp>
      <p:pic>
        <p:nvPicPr>
          <p:cNvPr id="16386" name="Picture 2" descr="https://www.educationperfect.com/media/content/Science/1573004700.943071g/1573004699450-3550321201388595-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6031" y="3481864"/>
            <a:ext cx="4255319" cy="3136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0546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900" y="377547"/>
            <a:ext cx="11557000" cy="3970318"/>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Remember that there are </a:t>
            </a:r>
            <a:r>
              <a:rPr lang="en-AU" b="1" i="0" dirty="0" smtClean="0">
                <a:solidFill>
                  <a:srgbClr val="3BA486"/>
                </a:solidFill>
                <a:effectLst/>
                <a:latin typeface="Arial" panose="020B0604020202020204" pitchFamily="34" charset="0"/>
              </a:rPr>
              <a:t>three main types</a:t>
            </a:r>
            <a:r>
              <a:rPr lang="en-AU" b="1" i="0" dirty="0" smtClean="0">
                <a:solidFill>
                  <a:srgbClr val="444444"/>
                </a:solidFill>
                <a:effectLst/>
                <a:latin typeface="Arial" panose="020B0604020202020204" pitchFamily="34" charset="0"/>
              </a:rPr>
              <a:t> of intermolecular forces found within </a:t>
            </a:r>
            <a:r>
              <a:rPr lang="en-AU" b="1" i="0" dirty="0" smtClean="0">
                <a:solidFill>
                  <a:srgbClr val="571A98"/>
                </a:solidFill>
                <a:effectLst/>
                <a:latin typeface="Arial" panose="020B0604020202020204" pitchFamily="34" charset="0"/>
              </a:rPr>
              <a:t>molecular substances.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1" i="0" dirty="0" smtClean="0">
                <a:solidFill>
                  <a:srgbClr val="3598DC"/>
                </a:solidFill>
                <a:effectLst/>
                <a:latin typeface="Arial" panose="020B0604020202020204" pitchFamily="34" charset="0"/>
              </a:rPr>
              <a:t>Dispersion forces:</a:t>
            </a:r>
            <a:r>
              <a:rPr lang="en-AU" b="0" i="0" dirty="0" smtClean="0">
                <a:solidFill>
                  <a:srgbClr val="444444"/>
                </a:solidFill>
                <a:effectLst/>
                <a:latin typeface="Arial" panose="020B0604020202020204" pitchFamily="34" charset="0"/>
              </a:rPr>
              <a:t> These arise from the </a:t>
            </a:r>
            <a:r>
              <a:rPr lang="en-AU" b="1" i="0" dirty="0" smtClean="0">
                <a:solidFill>
                  <a:srgbClr val="3BA486"/>
                </a:solidFill>
                <a:effectLst/>
                <a:latin typeface="Arial" panose="020B0604020202020204" pitchFamily="34" charset="0"/>
              </a:rPr>
              <a:t>movement of electrons</a:t>
            </a:r>
            <a:r>
              <a:rPr lang="en-AU" b="0" i="0" dirty="0" smtClean="0">
                <a:solidFill>
                  <a:srgbClr val="444444"/>
                </a:solidFill>
                <a:effectLst/>
                <a:latin typeface="Arial" panose="020B0604020202020204" pitchFamily="34" charset="0"/>
              </a:rPr>
              <a:t> within a molecule creating a </a:t>
            </a:r>
            <a:r>
              <a:rPr lang="en-AU" b="1" i="0" dirty="0" smtClean="0">
                <a:solidFill>
                  <a:srgbClr val="571A98"/>
                </a:solidFill>
                <a:effectLst/>
                <a:latin typeface="Arial" panose="020B0604020202020204" pitchFamily="34" charset="0"/>
              </a:rPr>
              <a:t>temporary dipole.</a:t>
            </a:r>
            <a:r>
              <a:rPr lang="en-AU" b="0" i="0" dirty="0" smtClean="0">
                <a:solidFill>
                  <a:srgbClr val="444444"/>
                </a:solidFill>
                <a:effectLst/>
                <a:latin typeface="Arial" panose="020B0604020202020204" pitchFamily="34" charset="0"/>
              </a:rPr>
              <a:t> These instantaneous dipoles are </a:t>
            </a:r>
            <a:r>
              <a:rPr lang="en-AU" b="1" i="0" dirty="0" smtClean="0">
                <a:solidFill>
                  <a:srgbClr val="3598DC"/>
                </a:solidFill>
                <a:effectLst/>
                <a:latin typeface="Arial" panose="020B0604020202020204" pitchFamily="34" charset="0"/>
              </a:rPr>
              <a:t>electrostatically attracted</a:t>
            </a:r>
            <a:r>
              <a:rPr lang="en-AU" b="0" i="0" dirty="0" smtClean="0">
                <a:solidFill>
                  <a:srgbClr val="444444"/>
                </a:solidFill>
                <a:effectLst/>
                <a:latin typeface="Arial" panose="020B0604020202020204" pitchFamily="34" charset="0"/>
              </a:rPr>
              <a:t> to the oppositely charged dipoles of neighbouring molecules. These are the weakest type of intermolecular force.</a:t>
            </a:r>
          </a:p>
          <a:p>
            <a:r>
              <a:rPr lang="en-AU" b="0" i="0" dirty="0" smtClean="0">
                <a:solidFill>
                  <a:srgbClr val="444444"/>
                </a:solidFill>
                <a:effectLst/>
                <a:latin typeface="Arial" panose="020B0604020202020204" pitchFamily="34" charset="0"/>
              </a:rPr>
              <a:t> </a:t>
            </a:r>
          </a:p>
          <a:p>
            <a:r>
              <a:rPr lang="en-AU" b="1" i="0" dirty="0" smtClean="0">
                <a:solidFill>
                  <a:srgbClr val="571A98"/>
                </a:solidFill>
                <a:effectLst/>
                <a:latin typeface="Arial" panose="020B0604020202020204" pitchFamily="34" charset="0"/>
              </a:rPr>
              <a:t>Dipole-dipole forces:</a:t>
            </a:r>
            <a:r>
              <a:rPr lang="en-AU" b="0" i="0" dirty="0" smtClean="0">
                <a:solidFill>
                  <a:srgbClr val="444444"/>
                </a:solidFill>
                <a:effectLst/>
                <a:latin typeface="Arial" panose="020B0604020202020204" pitchFamily="34" charset="0"/>
              </a:rPr>
              <a:t> In polar molecules, the more </a:t>
            </a:r>
            <a:r>
              <a:rPr lang="en-AU" b="1" i="0" dirty="0" smtClean="0">
                <a:solidFill>
                  <a:srgbClr val="3598DC"/>
                </a:solidFill>
                <a:effectLst/>
                <a:latin typeface="Arial" panose="020B0604020202020204" pitchFamily="34" charset="0"/>
              </a:rPr>
              <a:t>electronegative atoms</a:t>
            </a:r>
            <a:r>
              <a:rPr lang="en-AU" b="0" i="0" dirty="0" smtClean="0">
                <a:solidFill>
                  <a:srgbClr val="444444"/>
                </a:solidFill>
                <a:effectLst/>
                <a:latin typeface="Arial" panose="020B0604020202020204" pitchFamily="34" charset="0"/>
              </a:rPr>
              <a:t> draw more electron density towards them, creating </a:t>
            </a:r>
            <a:r>
              <a:rPr lang="en-AU" b="1" i="0" dirty="0" smtClean="0">
                <a:solidFill>
                  <a:srgbClr val="3BA486"/>
                </a:solidFill>
                <a:effectLst/>
                <a:latin typeface="Arial" panose="020B0604020202020204" pitchFamily="34" charset="0"/>
              </a:rPr>
              <a:t>a permanent dipole</a:t>
            </a:r>
            <a:r>
              <a:rPr lang="en-AU" b="0" i="0" dirty="0" smtClean="0">
                <a:solidFill>
                  <a:srgbClr val="444444"/>
                </a:solidFill>
                <a:effectLst/>
                <a:latin typeface="Arial" panose="020B0604020202020204" pitchFamily="34" charset="0"/>
              </a:rPr>
              <a:t> within the molecule. These permanent dipoles are </a:t>
            </a:r>
            <a:r>
              <a:rPr lang="en-AU" b="1" i="0" dirty="0" smtClean="0">
                <a:solidFill>
                  <a:srgbClr val="571A98"/>
                </a:solidFill>
                <a:effectLst/>
                <a:latin typeface="Arial" panose="020B0604020202020204" pitchFamily="34" charset="0"/>
              </a:rPr>
              <a:t>electrostatically attracted</a:t>
            </a:r>
            <a:r>
              <a:rPr lang="en-AU" b="0" i="0" dirty="0" smtClean="0">
                <a:solidFill>
                  <a:srgbClr val="444444"/>
                </a:solidFill>
                <a:effectLst/>
                <a:latin typeface="Arial" panose="020B0604020202020204" pitchFamily="34" charset="0"/>
              </a:rPr>
              <a:t> to the opposite dipole on neighbouring molecules.</a:t>
            </a:r>
          </a:p>
          <a:p>
            <a:r>
              <a:rPr lang="en-AU" b="0" i="0" dirty="0" smtClean="0">
                <a:solidFill>
                  <a:srgbClr val="444444"/>
                </a:solidFill>
                <a:effectLst/>
                <a:latin typeface="Arial" panose="020B0604020202020204" pitchFamily="34" charset="0"/>
              </a:rPr>
              <a:t> </a:t>
            </a:r>
          </a:p>
          <a:p>
            <a:r>
              <a:rPr lang="en-AU" b="1" i="0" dirty="0" smtClean="0">
                <a:solidFill>
                  <a:srgbClr val="3BA486"/>
                </a:solidFill>
                <a:effectLst/>
                <a:latin typeface="Arial" panose="020B0604020202020204" pitchFamily="34" charset="0"/>
              </a:rPr>
              <a:t>Hydrogen bonding:</a:t>
            </a:r>
            <a:r>
              <a:rPr lang="en-AU" b="0" i="0" dirty="0" smtClean="0">
                <a:solidFill>
                  <a:srgbClr val="444444"/>
                </a:solidFill>
                <a:effectLst/>
                <a:latin typeface="Arial" panose="020B0604020202020204" pitchFamily="34" charset="0"/>
              </a:rPr>
              <a:t> This a special type of </a:t>
            </a:r>
            <a:r>
              <a:rPr lang="en-AU" b="1" i="0" dirty="0" smtClean="0">
                <a:solidFill>
                  <a:srgbClr val="571A98"/>
                </a:solidFill>
                <a:effectLst/>
                <a:latin typeface="Arial" panose="020B0604020202020204" pitchFamily="34" charset="0"/>
              </a:rPr>
              <a:t>dipole-dipole force</a:t>
            </a:r>
            <a:r>
              <a:rPr lang="en-AU" b="0" i="0" dirty="0" smtClean="0">
                <a:solidFill>
                  <a:srgbClr val="444444"/>
                </a:solidFill>
                <a:effectLst/>
                <a:latin typeface="Arial" panose="020B0604020202020204" pitchFamily="34" charset="0"/>
              </a:rPr>
              <a:t> that can occur in molecules with </a:t>
            </a:r>
            <a:r>
              <a:rPr lang="en-AU" b="1" i="0" dirty="0" smtClean="0">
                <a:solidFill>
                  <a:srgbClr val="3598DC"/>
                </a:solidFill>
                <a:effectLst/>
                <a:latin typeface="Arial" panose="020B0604020202020204" pitchFamily="34" charset="0"/>
              </a:rPr>
              <a:t>hydrogen atoms covalently bound to either fluorine, oxygen or nitrogen.</a:t>
            </a:r>
            <a:r>
              <a:rPr lang="en-AU" b="0" i="0" dirty="0" smtClean="0">
                <a:solidFill>
                  <a:srgbClr val="444444"/>
                </a:solidFill>
                <a:effectLst/>
                <a:latin typeface="Arial" panose="020B0604020202020204" pitchFamily="34" charset="0"/>
              </a:rPr>
              <a:t> This allows for </a:t>
            </a:r>
            <a:r>
              <a:rPr lang="en-AU" b="1" i="0" dirty="0" smtClean="0">
                <a:solidFill>
                  <a:srgbClr val="3BA486"/>
                </a:solidFill>
                <a:effectLst/>
                <a:latin typeface="Arial" panose="020B0604020202020204" pitchFamily="34" charset="0"/>
              </a:rPr>
              <a:t>strong</a:t>
            </a:r>
            <a:r>
              <a:rPr lang="en-AU" b="0" i="0" dirty="0" smtClean="0">
                <a:solidFill>
                  <a:srgbClr val="444444"/>
                </a:solidFill>
                <a:effectLst/>
                <a:latin typeface="Arial" panose="020B0604020202020204" pitchFamily="34" charset="0"/>
              </a:rPr>
              <a:t> electrostatic attractions to occur between the large partially positive charge on </a:t>
            </a:r>
            <a:r>
              <a:rPr lang="en-AU" b="1" i="0" dirty="0" smtClean="0">
                <a:solidFill>
                  <a:srgbClr val="3598DC"/>
                </a:solidFill>
                <a:effectLst/>
                <a:latin typeface="Arial" panose="020B0604020202020204" pitchFamily="34" charset="0"/>
              </a:rPr>
              <a:t>the hydrogen atom,</a:t>
            </a:r>
            <a:r>
              <a:rPr lang="en-AU" b="0" i="0" dirty="0" smtClean="0">
                <a:solidFill>
                  <a:srgbClr val="444444"/>
                </a:solidFill>
                <a:effectLst/>
                <a:latin typeface="Arial" panose="020B0604020202020204" pitchFamily="34" charset="0"/>
              </a:rPr>
              <a:t> to the partial negative charges of neighbouring molecules.</a:t>
            </a:r>
            <a:endParaRPr lang="en-AU" b="0" i="0" dirty="0">
              <a:solidFill>
                <a:srgbClr val="444444"/>
              </a:solidFill>
              <a:effectLst/>
              <a:latin typeface="Arial" panose="020B0604020202020204" pitchFamily="34" charset="0"/>
            </a:endParaRPr>
          </a:p>
        </p:txBody>
      </p:sp>
      <p:pic>
        <p:nvPicPr>
          <p:cNvPr id="17410" name="Picture 2" descr="https://www.educationperfect.com/media/content/Science/1572319884.203851g/1572319884425-766515102750451-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3575" y="4347865"/>
            <a:ext cx="3800475" cy="2533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47162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2300" y="238542"/>
            <a:ext cx="11328400" cy="2862322"/>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When a substance </a:t>
            </a:r>
            <a:r>
              <a:rPr lang="en-AU" b="1" i="0" dirty="0" smtClean="0">
                <a:solidFill>
                  <a:srgbClr val="3598DC"/>
                </a:solidFill>
                <a:effectLst/>
                <a:latin typeface="Arial" panose="020B0604020202020204" pitchFamily="34" charset="0"/>
              </a:rPr>
              <a:t>dissolves</a:t>
            </a:r>
            <a:r>
              <a:rPr lang="en-AU" b="1" i="0" dirty="0" smtClean="0">
                <a:solidFill>
                  <a:srgbClr val="444444"/>
                </a:solidFill>
                <a:effectLst/>
                <a:latin typeface="Arial" panose="020B0604020202020204" pitchFamily="34" charset="0"/>
              </a:rPr>
              <a:t> in another, it forms a </a:t>
            </a:r>
            <a:r>
              <a:rPr lang="en-AU" b="1" i="0" dirty="0" smtClean="0">
                <a:solidFill>
                  <a:srgbClr val="3BA486"/>
                </a:solidFill>
                <a:effectLst/>
                <a:latin typeface="Arial" panose="020B0604020202020204" pitchFamily="34" charset="0"/>
              </a:rPr>
              <a:t>solution.</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A solution consists of two things:</a:t>
            </a:r>
          </a:p>
          <a:p>
            <a:pPr>
              <a:buFont typeface="Arial" panose="020B0604020202020204" pitchFamily="34" charset="0"/>
              <a:buChar char="•"/>
            </a:pPr>
            <a:r>
              <a:rPr lang="en-AU" b="1" i="0" dirty="0" smtClean="0">
                <a:solidFill>
                  <a:srgbClr val="3598DC"/>
                </a:solidFill>
                <a:effectLst/>
                <a:latin typeface="Arial" panose="020B0604020202020204" pitchFamily="34" charset="0"/>
              </a:rPr>
              <a:t>A solvent:</a:t>
            </a:r>
            <a:r>
              <a:rPr lang="en-AU" b="0" i="0" dirty="0" smtClean="0">
                <a:solidFill>
                  <a:srgbClr val="444444"/>
                </a:solidFill>
                <a:effectLst/>
                <a:latin typeface="Arial" panose="020B0604020202020204" pitchFamily="34" charset="0"/>
              </a:rPr>
              <a:t> The substance (</a:t>
            </a:r>
            <a:r>
              <a:rPr lang="en-AU" b="1" i="0" dirty="0" smtClean="0">
                <a:solidFill>
                  <a:srgbClr val="571A98"/>
                </a:solidFill>
                <a:effectLst/>
                <a:latin typeface="Arial" panose="020B0604020202020204" pitchFamily="34" charset="0"/>
              </a:rPr>
              <a:t>usually a liquid</a:t>
            </a:r>
            <a:r>
              <a:rPr lang="en-AU" b="0" i="0" dirty="0" smtClean="0">
                <a:solidFill>
                  <a:srgbClr val="444444"/>
                </a:solidFill>
                <a:effectLst/>
                <a:latin typeface="Arial" panose="020B0604020202020204" pitchFamily="34" charset="0"/>
              </a:rPr>
              <a:t>) that </a:t>
            </a:r>
            <a:r>
              <a:rPr lang="en-AU" b="1" i="0" dirty="0" smtClean="0">
                <a:solidFill>
                  <a:srgbClr val="3598DC"/>
                </a:solidFill>
                <a:effectLst/>
                <a:latin typeface="Arial" panose="020B0604020202020204" pitchFamily="34" charset="0"/>
              </a:rPr>
              <a:t>dissolves the other substance.</a:t>
            </a:r>
            <a:r>
              <a:rPr lang="en-AU" b="0" i="0" dirty="0" smtClean="0">
                <a:solidFill>
                  <a:srgbClr val="444444"/>
                </a:solidFill>
                <a:effectLst/>
                <a:latin typeface="Arial" panose="020B0604020202020204" pitchFamily="34" charset="0"/>
              </a:rPr>
              <a:t> This is present in </a:t>
            </a:r>
            <a:r>
              <a:rPr lang="en-AU" b="1" i="0" dirty="0" smtClean="0">
                <a:solidFill>
                  <a:srgbClr val="3598DC"/>
                </a:solidFill>
                <a:effectLst/>
                <a:latin typeface="Arial" panose="020B0604020202020204" pitchFamily="34" charset="0"/>
              </a:rPr>
              <a:t>greater amounts,</a:t>
            </a:r>
            <a:r>
              <a:rPr lang="en-AU" b="0" i="0" dirty="0" smtClean="0">
                <a:solidFill>
                  <a:srgbClr val="444444"/>
                </a:solidFill>
                <a:effectLst/>
                <a:latin typeface="Arial" panose="020B0604020202020204" pitchFamily="34" charset="0"/>
              </a:rPr>
              <a:t> allowing the other substance’s particles to </a:t>
            </a:r>
            <a:r>
              <a:rPr lang="en-AU" b="1" i="0" dirty="0" smtClean="0">
                <a:solidFill>
                  <a:srgbClr val="571A98"/>
                </a:solidFill>
                <a:effectLst/>
                <a:latin typeface="Arial" panose="020B0604020202020204" pitchFamily="34" charset="0"/>
              </a:rPr>
              <a:t>fit between</a:t>
            </a:r>
            <a:r>
              <a:rPr lang="en-AU" b="0" i="0" dirty="0" smtClean="0">
                <a:solidFill>
                  <a:srgbClr val="444444"/>
                </a:solidFill>
                <a:effectLst/>
                <a:latin typeface="Arial" panose="020B0604020202020204" pitchFamily="34" charset="0"/>
              </a:rPr>
              <a:t> the solvent particles.</a:t>
            </a:r>
          </a:p>
          <a:p>
            <a:pPr>
              <a:buFont typeface="Arial" panose="020B0604020202020204" pitchFamily="34" charset="0"/>
              <a:buChar char="•"/>
            </a:pPr>
            <a:r>
              <a:rPr lang="en-AU" b="1" i="0" dirty="0" smtClean="0">
                <a:solidFill>
                  <a:srgbClr val="3BA486"/>
                </a:solidFill>
                <a:effectLst/>
                <a:latin typeface="Arial" panose="020B0604020202020204" pitchFamily="34" charset="0"/>
              </a:rPr>
              <a:t>A solute:</a:t>
            </a:r>
            <a:r>
              <a:rPr lang="en-AU" b="0" i="0" dirty="0" smtClean="0">
                <a:solidFill>
                  <a:srgbClr val="444444"/>
                </a:solidFill>
                <a:effectLst/>
                <a:latin typeface="Arial" panose="020B0604020202020204" pitchFamily="34" charset="0"/>
              </a:rPr>
              <a:t> The substance </a:t>
            </a:r>
            <a:r>
              <a:rPr lang="en-AU" b="1" i="0" dirty="0" smtClean="0">
                <a:solidFill>
                  <a:srgbClr val="3BA486"/>
                </a:solidFill>
                <a:effectLst/>
                <a:latin typeface="Arial" panose="020B0604020202020204" pitchFamily="34" charset="0"/>
              </a:rPr>
              <a:t>being dissolved.</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A solvent dissolves a solute in </a:t>
            </a:r>
            <a:r>
              <a:rPr lang="en-AU" b="1" i="0" dirty="0" smtClean="0">
                <a:solidFill>
                  <a:srgbClr val="571A98"/>
                </a:solidFill>
                <a:effectLst/>
                <a:latin typeface="Arial" panose="020B0604020202020204" pitchFamily="34" charset="0"/>
              </a:rPr>
              <a:t>two steps:</a:t>
            </a:r>
            <a:endParaRPr lang="en-AU" b="0" i="0" dirty="0" smtClean="0">
              <a:solidFill>
                <a:srgbClr val="444444"/>
              </a:solidFill>
              <a:effectLst/>
              <a:latin typeface="Arial" panose="020B0604020202020204" pitchFamily="34" charset="0"/>
            </a:endParaRPr>
          </a:p>
          <a:p>
            <a:pPr>
              <a:buFont typeface="Arial" panose="020B0604020202020204" pitchFamily="34" charset="0"/>
              <a:buChar char="•"/>
            </a:pPr>
            <a:r>
              <a:rPr lang="en-AU" b="0" i="0" dirty="0" smtClean="0">
                <a:solidFill>
                  <a:srgbClr val="444444"/>
                </a:solidFill>
                <a:effectLst/>
                <a:latin typeface="Arial" panose="020B0604020202020204" pitchFamily="34" charset="0"/>
              </a:rPr>
              <a:t>The </a:t>
            </a:r>
            <a:r>
              <a:rPr lang="en-AU" b="1" i="0" dirty="0" smtClean="0">
                <a:solidFill>
                  <a:srgbClr val="3598DC"/>
                </a:solidFill>
                <a:effectLst/>
                <a:latin typeface="Arial" panose="020B0604020202020204" pitchFamily="34" charset="0"/>
              </a:rPr>
              <a:t>intermolecular forces</a:t>
            </a:r>
            <a:r>
              <a:rPr lang="en-AU" b="0" i="0" dirty="0" smtClean="0">
                <a:solidFill>
                  <a:srgbClr val="444444"/>
                </a:solidFill>
                <a:effectLst/>
                <a:latin typeface="Arial" panose="020B0604020202020204" pitchFamily="34" charset="0"/>
              </a:rPr>
              <a:t> between the solvent molecules and between the solute particles are </a:t>
            </a:r>
            <a:r>
              <a:rPr lang="en-AU" b="1" i="0" dirty="0" smtClean="0">
                <a:solidFill>
                  <a:srgbClr val="3BA486"/>
                </a:solidFill>
                <a:effectLst/>
                <a:latin typeface="Arial" panose="020B0604020202020204" pitchFamily="34" charset="0"/>
              </a:rPr>
              <a:t>broken.</a:t>
            </a:r>
            <a:endParaRPr lang="en-AU" b="0" i="0" dirty="0" smtClean="0">
              <a:solidFill>
                <a:srgbClr val="444444"/>
              </a:solidFill>
              <a:effectLst/>
              <a:latin typeface="Arial" panose="020B0604020202020204" pitchFamily="34" charset="0"/>
            </a:endParaRPr>
          </a:p>
          <a:p>
            <a:pPr>
              <a:buFont typeface="Arial" panose="020B0604020202020204" pitchFamily="34" charset="0"/>
              <a:buChar char="•"/>
            </a:pPr>
            <a:r>
              <a:rPr lang="en-AU" b="1" i="0" dirty="0" smtClean="0">
                <a:solidFill>
                  <a:srgbClr val="571A98"/>
                </a:solidFill>
                <a:effectLst/>
                <a:latin typeface="Arial" panose="020B0604020202020204" pitchFamily="34" charset="0"/>
              </a:rPr>
              <a:t>New intermolecular attractions form</a:t>
            </a:r>
            <a:r>
              <a:rPr lang="en-AU" b="0" i="0" dirty="0" smtClean="0">
                <a:solidFill>
                  <a:srgbClr val="444444"/>
                </a:solidFill>
                <a:effectLst/>
                <a:latin typeface="Arial" panose="020B0604020202020204" pitchFamily="34" charset="0"/>
              </a:rPr>
              <a:t> between the </a:t>
            </a:r>
            <a:r>
              <a:rPr lang="en-AU" b="1" i="0" dirty="0" smtClean="0">
                <a:solidFill>
                  <a:srgbClr val="3598DC"/>
                </a:solidFill>
                <a:effectLst/>
                <a:latin typeface="Arial" panose="020B0604020202020204" pitchFamily="34" charset="0"/>
              </a:rPr>
              <a:t>solvent molecules</a:t>
            </a:r>
            <a:r>
              <a:rPr lang="en-AU" b="0" i="0" dirty="0" smtClean="0">
                <a:solidFill>
                  <a:srgbClr val="444444"/>
                </a:solidFill>
                <a:effectLst/>
                <a:latin typeface="Arial" panose="020B0604020202020204" pitchFamily="34" charset="0"/>
              </a:rPr>
              <a:t> and </a:t>
            </a:r>
            <a:r>
              <a:rPr lang="en-AU" b="1" i="0" dirty="0" smtClean="0">
                <a:solidFill>
                  <a:srgbClr val="3BA486"/>
                </a:solidFill>
                <a:effectLst/>
                <a:latin typeface="Arial" panose="020B0604020202020204" pitchFamily="34" charset="0"/>
              </a:rPr>
              <a:t>solute molecules.</a:t>
            </a:r>
            <a:endParaRPr lang="en-AU" b="0" i="0" dirty="0">
              <a:solidFill>
                <a:srgbClr val="444444"/>
              </a:solidFill>
              <a:effectLst/>
              <a:latin typeface="Arial" panose="020B0604020202020204" pitchFamily="34" charset="0"/>
            </a:endParaRPr>
          </a:p>
        </p:txBody>
      </p:sp>
      <p:pic>
        <p:nvPicPr>
          <p:cNvPr id="18434" name="Picture 2" descr="https://www.educationperfect.com/media/content/Arabic/1551755953.216881g/1551755953231-433839975137966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9062" y="3708463"/>
            <a:ext cx="4714875" cy="3149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7406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5600" y="0"/>
            <a:ext cx="11836400" cy="3693319"/>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Whether a substance will </a:t>
            </a:r>
            <a:r>
              <a:rPr lang="en-AU" b="1" i="0" dirty="0" smtClean="0">
                <a:solidFill>
                  <a:srgbClr val="3598DC"/>
                </a:solidFill>
                <a:effectLst/>
                <a:latin typeface="Arial" panose="020B0604020202020204" pitchFamily="34" charset="0"/>
              </a:rPr>
              <a:t>dissolve</a:t>
            </a:r>
            <a:r>
              <a:rPr lang="en-AU" b="1" i="0" dirty="0" smtClean="0">
                <a:solidFill>
                  <a:srgbClr val="444444"/>
                </a:solidFill>
                <a:effectLst/>
                <a:latin typeface="Arial" panose="020B0604020202020204" pitchFamily="34" charset="0"/>
              </a:rPr>
              <a:t> in another substance is dependent on the </a:t>
            </a:r>
            <a:r>
              <a:rPr lang="en-AU" b="1" i="0" dirty="0" smtClean="0">
                <a:solidFill>
                  <a:srgbClr val="571A98"/>
                </a:solidFill>
                <a:effectLst/>
                <a:latin typeface="Arial" panose="020B0604020202020204" pitchFamily="34" charset="0"/>
              </a:rPr>
              <a:t>type and strength</a:t>
            </a:r>
            <a:r>
              <a:rPr lang="en-AU" b="1" i="0" dirty="0" smtClean="0">
                <a:solidFill>
                  <a:srgbClr val="444444"/>
                </a:solidFill>
                <a:effectLst/>
                <a:latin typeface="Arial" panose="020B0604020202020204" pitchFamily="34" charset="0"/>
              </a:rPr>
              <a:t> of the </a:t>
            </a:r>
            <a:r>
              <a:rPr lang="en-AU" b="1" i="0" dirty="0" smtClean="0">
                <a:solidFill>
                  <a:srgbClr val="E04E50"/>
                </a:solidFill>
                <a:effectLst/>
                <a:latin typeface="Arial" panose="020B0604020202020204" pitchFamily="34" charset="0"/>
              </a:rPr>
              <a:t>intermolecular forces</a:t>
            </a:r>
            <a:r>
              <a:rPr lang="en-AU" b="1" i="0" dirty="0" smtClean="0">
                <a:solidFill>
                  <a:srgbClr val="444444"/>
                </a:solidFill>
                <a:effectLst/>
                <a:latin typeface="Arial" panose="020B0604020202020204" pitchFamily="34" charset="0"/>
              </a:rPr>
              <a:t> present within the two substances.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If the </a:t>
            </a:r>
            <a:r>
              <a:rPr lang="en-AU" b="1" i="0" dirty="0" smtClean="0">
                <a:solidFill>
                  <a:srgbClr val="571A98"/>
                </a:solidFill>
                <a:effectLst/>
                <a:latin typeface="Arial" panose="020B0604020202020204" pitchFamily="34" charset="0"/>
              </a:rPr>
              <a:t>solute-solute</a:t>
            </a:r>
            <a:r>
              <a:rPr lang="en-AU" b="0" i="0" dirty="0" smtClean="0">
                <a:solidFill>
                  <a:srgbClr val="444444"/>
                </a:solidFill>
                <a:effectLst/>
                <a:latin typeface="Arial" panose="020B0604020202020204" pitchFamily="34" charset="0"/>
              </a:rPr>
              <a:t> and </a:t>
            </a:r>
            <a:r>
              <a:rPr lang="en-AU" b="1" i="0" dirty="0" smtClean="0">
                <a:solidFill>
                  <a:srgbClr val="3598DC"/>
                </a:solidFill>
                <a:effectLst/>
                <a:latin typeface="Arial" panose="020B0604020202020204" pitchFamily="34" charset="0"/>
              </a:rPr>
              <a:t>solvent-solvent</a:t>
            </a:r>
            <a:r>
              <a:rPr lang="en-AU" b="0" i="0" dirty="0" smtClean="0">
                <a:solidFill>
                  <a:srgbClr val="444444"/>
                </a:solidFill>
                <a:effectLst/>
                <a:latin typeface="Arial" panose="020B0604020202020204" pitchFamily="34" charset="0"/>
              </a:rPr>
              <a:t> intermolecular forces are stronger than the potential </a:t>
            </a:r>
            <a:r>
              <a:rPr lang="en-AU" b="1" i="0" dirty="0" smtClean="0">
                <a:solidFill>
                  <a:srgbClr val="E04E50"/>
                </a:solidFill>
                <a:effectLst/>
                <a:latin typeface="Arial" panose="020B0604020202020204" pitchFamily="34" charset="0"/>
              </a:rPr>
              <a:t>solute-solvent</a:t>
            </a:r>
            <a:r>
              <a:rPr lang="en-AU" b="0" i="0" dirty="0" smtClean="0">
                <a:solidFill>
                  <a:srgbClr val="444444"/>
                </a:solidFill>
                <a:effectLst/>
                <a:latin typeface="Arial" panose="020B0604020202020204" pitchFamily="34" charset="0"/>
              </a:rPr>
              <a:t> intermolecular forces, then the solute will </a:t>
            </a:r>
            <a:r>
              <a:rPr lang="en-AU" b="1" i="0" dirty="0" smtClean="0">
                <a:solidFill>
                  <a:srgbClr val="3598DC"/>
                </a:solidFill>
                <a:effectLst/>
                <a:latin typeface="Arial" panose="020B0604020202020204" pitchFamily="34" charset="0"/>
              </a:rPr>
              <a:t>not dissolve.</a:t>
            </a:r>
            <a:r>
              <a:rPr lang="en-AU" b="0" i="0" dirty="0" smtClean="0">
                <a:solidFill>
                  <a:srgbClr val="444444"/>
                </a:solidFill>
                <a:effectLst/>
                <a:latin typeface="Arial" panose="020B0604020202020204" pitchFamily="34" charset="0"/>
              </a:rPr>
              <a:t> However, if the potential solute-solvent intermolecular forces are </a:t>
            </a:r>
            <a:r>
              <a:rPr lang="en-AU" b="1" i="0" dirty="0" smtClean="0">
                <a:solidFill>
                  <a:srgbClr val="571A98"/>
                </a:solidFill>
                <a:effectLst/>
                <a:latin typeface="Arial" panose="020B0604020202020204" pitchFamily="34" charset="0"/>
              </a:rPr>
              <a:t>similar or stronger,</a:t>
            </a:r>
            <a:r>
              <a:rPr lang="en-AU" b="0" i="0" dirty="0" smtClean="0">
                <a:solidFill>
                  <a:srgbClr val="444444"/>
                </a:solidFill>
                <a:effectLst/>
                <a:latin typeface="Arial" panose="020B0604020202020204" pitchFamily="34" charset="0"/>
              </a:rPr>
              <a:t> then the solute </a:t>
            </a:r>
            <a:r>
              <a:rPr lang="en-AU" b="1" i="0" dirty="0" smtClean="0">
                <a:solidFill>
                  <a:srgbClr val="E04E50"/>
                </a:solidFill>
                <a:effectLst/>
                <a:latin typeface="Arial" panose="020B0604020202020204" pitchFamily="34" charset="0"/>
              </a:rPr>
              <a:t>will dissolve.</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This is because it must be </a:t>
            </a:r>
            <a:r>
              <a:rPr lang="en-AU" b="1" i="0" dirty="0" smtClean="0">
                <a:solidFill>
                  <a:srgbClr val="3598DC"/>
                </a:solidFill>
                <a:effectLst/>
                <a:latin typeface="Arial" panose="020B0604020202020204" pitchFamily="34" charset="0"/>
              </a:rPr>
              <a:t>energetically favourable</a:t>
            </a:r>
            <a:r>
              <a:rPr lang="en-AU" b="0" i="0" dirty="0" smtClean="0">
                <a:solidFill>
                  <a:srgbClr val="444444"/>
                </a:solidFill>
                <a:effectLst/>
                <a:latin typeface="Arial" panose="020B0604020202020204" pitchFamily="34" charset="0"/>
              </a:rPr>
              <a:t> for both the solute and solvent to </a:t>
            </a:r>
            <a:r>
              <a:rPr lang="en-AU" b="1" i="0" dirty="0" smtClean="0">
                <a:solidFill>
                  <a:srgbClr val="E04E50"/>
                </a:solidFill>
                <a:effectLst/>
                <a:latin typeface="Arial" panose="020B0604020202020204" pitchFamily="34" charset="0"/>
              </a:rPr>
              <a:t>break their intermolecular forces,</a:t>
            </a:r>
            <a:r>
              <a:rPr lang="en-AU" b="0" i="0" dirty="0" smtClean="0">
                <a:solidFill>
                  <a:srgbClr val="444444"/>
                </a:solidFill>
                <a:effectLst/>
                <a:latin typeface="Arial" panose="020B0604020202020204" pitchFamily="34" charset="0"/>
              </a:rPr>
              <a:t> and form new intermolecular forces </a:t>
            </a:r>
            <a:r>
              <a:rPr lang="en-AU" b="1" i="0" dirty="0" smtClean="0">
                <a:solidFill>
                  <a:srgbClr val="571A98"/>
                </a:solidFill>
                <a:effectLst/>
                <a:latin typeface="Arial" panose="020B0604020202020204" pitchFamily="34" charset="0"/>
              </a:rPr>
              <a:t>between one another.</a:t>
            </a:r>
            <a:r>
              <a:rPr lang="en-AU" b="0" i="0" dirty="0" smtClean="0">
                <a:solidFill>
                  <a:srgbClr val="444444"/>
                </a:solidFill>
                <a:effectLst/>
                <a:latin typeface="Arial" panose="020B0604020202020204" pitchFamily="34" charset="0"/>
              </a:rPr>
              <a:t> If the new intermolecular forces formed </a:t>
            </a:r>
            <a:r>
              <a:rPr lang="en-AU" b="1" i="0" dirty="0" smtClean="0">
                <a:solidFill>
                  <a:srgbClr val="3598DC"/>
                </a:solidFill>
                <a:effectLst/>
                <a:latin typeface="Arial" panose="020B0604020202020204" pitchFamily="34" charset="0"/>
              </a:rPr>
              <a:t>are weaker,</a:t>
            </a:r>
            <a:r>
              <a:rPr lang="en-AU" b="0" i="0" dirty="0" smtClean="0">
                <a:solidFill>
                  <a:srgbClr val="444444"/>
                </a:solidFill>
                <a:effectLst/>
                <a:latin typeface="Arial" panose="020B0604020202020204" pitchFamily="34" charset="0"/>
              </a:rPr>
              <a:t> it will require less energy to overcome these forces and they will be </a:t>
            </a:r>
            <a:r>
              <a:rPr lang="en-AU" b="1" i="0" dirty="0" smtClean="0">
                <a:solidFill>
                  <a:srgbClr val="E04E50"/>
                </a:solidFill>
                <a:effectLst/>
                <a:latin typeface="Arial" panose="020B0604020202020204" pitchFamily="34" charset="0"/>
              </a:rPr>
              <a:t>energetically unfavourable.</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A handy rule of thumb is </a:t>
            </a:r>
            <a:r>
              <a:rPr lang="en-AU" b="1" i="0" dirty="0" smtClean="0">
                <a:solidFill>
                  <a:srgbClr val="571A98"/>
                </a:solidFill>
                <a:effectLst/>
                <a:latin typeface="Arial" panose="020B0604020202020204" pitchFamily="34" charset="0"/>
              </a:rPr>
              <a:t>“like dissolves like”.</a:t>
            </a:r>
            <a:r>
              <a:rPr lang="en-AU" b="0" i="0" dirty="0" smtClean="0">
                <a:solidFill>
                  <a:srgbClr val="444444"/>
                </a:solidFill>
                <a:effectLst/>
                <a:latin typeface="Arial" panose="020B0604020202020204" pitchFamily="34" charset="0"/>
              </a:rPr>
              <a:t> Polar substances will dissolve in polar solvents and non-polar substances will dissolve in non-polar solvents in general.</a:t>
            </a:r>
            <a:endParaRPr lang="en-AU" b="0" i="0" dirty="0">
              <a:solidFill>
                <a:srgbClr val="444444"/>
              </a:solidFill>
              <a:effectLst/>
              <a:latin typeface="Arial" panose="020B0604020202020204" pitchFamily="34" charset="0"/>
            </a:endParaRPr>
          </a:p>
        </p:txBody>
      </p:sp>
      <p:pic>
        <p:nvPicPr>
          <p:cNvPr id="19458" name="Picture 2" descr="https://www.educationperfect.com/media/content/Science/1573009441.093371g/1573009440785-3550321201388595-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4033" y="3797300"/>
            <a:ext cx="3737841" cy="2878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60779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6600" y="197346"/>
            <a:ext cx="10858500" cy="3970318"/>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If the </a:t>
            </a:r>
            <a:r>
              <a:rPr lang="en-AU" b="1" i="0" dirty="0" smtClean="0">
                <a:solidFill>
                  <a:srgbClr val="571A98"/>
                </a:solidFill>
                <a:effectLst/>
                <a:latin typeface="Arial" panose="020B0604020202020204" pitchFamily="34" charset="0"/>
              </a:rPr>
              <a:t>intermolecular forces</a:t>
            </a:r>
            <a:r>
              <a:rPr lang="en-AU" b="1" i="0" dirty="0" smtClean="0">
                <a:solidFill>
                  <a:srgbClr val="444444"/>
                </a:solidFill>
                <a:effectLst/>
                <a:latin typeface="Arial" panose="020B0604020202020204" pitchFamily="34" charset="0"/>
              </a:rPr>
              <a:t> are of very </a:t>
            </a:r>
            <a:r>
              <a:rPr lang="en-AU" b="1" i="0" dirty="0" smtClean="0">
                <a:solidFill>
                  <a:srgbClr val="3598DC"/>
                </a:solidFill>
                <a:effectLst/>
                <a:latin typeface="Arial" panose="020B0604020202020204" pitchFamily="34" charset="0"/>
              </a:rPr>
              <a:t>differing strengths,</a:t>
            </a:r>
            <a:r>
              <a:rPr lang="en-AU" b="1" i="0" dirty="0" smtClean="0">
                <a:solidFill>
                  <a:srgbClr val="444444"/>
                </a:solidFill>
                <a:effectLst/>
                <a:latin typeface="Arial" panose="020B0604020202020204" pitchFamily="34" charset="0"/>
              </a:rPr>
              <a:t> the substances will be </a:t>
            </a:r>
            <a:r>
              <a:rPr lang="en-AU" b="1" i="0" dirty="0" smtClean="0">
                <a:solidFill>
                  <a:srgbClr val="E04E50"/>
                </a:solidFill>
                <a:effectLst/>
                <a:latin typeface="Arial" panose="020B0604020202020204" pitchFamily="34" charset="0"/>
              </a:rPr>
              <a:t>insoluble.</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This means that polar substances, which contain </a:t>
            </a:r>
            <a:r>
              <a:rPr lang="en-AU" b="1" i="0" dirty="0" smtClean="0">
                <a:solidFill>
                  <a:srgbClr val="3598DC"/>
                </a:solidFill>
                <a:effectLst/>
                <a:latin typeface="Arial" panose="020B0604020202020204" pitchFamily="34" charset="0"/>
              </a:rPr>
              <a:t>stronger intermolecular forces,</a:t>
            </a:r>
            <a:r>
              <a:rPr lang="en-AU" b="0" i="0" dirty="0" smtClean="0">
                <a:solidFill>
                  <a:srgbClr val="444444"/>
                </a:solidFill>
                <a:effectLst/>
                <a:latin typeface="Arial" panose="020B0604020202020204" pitchFamily="34" charset="0"/>
              </a:rPr>
              <a:t> will </a:t>
            </a:r>
            <a:r>
              <a:rPr lang="en-AU" b="1" i="0" dirty="0" smtClean="0">
                <a:solidFill>
                  <a:srgbClr val="E04E50"/>
                </a:solidFill>
                <a:effectLst/>
                <a:latin typeface="Arial" panose="020B0604020202020204" pitchFamily="34" charset="0"/>
              </a:rPr>
              <a:t>not dissolve</a:t>
            </a:r>
            <a:r>
              <a:rPr lang="en-AU" b="0" i="0" dirty="0" smtClean="0">
                <a:solidFill>
                  <a:srgbClr val="444444"/>
                </a:solidFill>
                <a:effectLst/>
                <a:latin typeface="Arial" panose="020B0604020202020204" pitchFamily="34" charset="0"/>
              </a:rPr>
              <a:t> in non-polar substances and non-polar substances will </a:t>
            </a:r>
            <a:r>
              <a:rPr lang="en-AU" b="1" i="0" dirty="0" smtClean="0">
                <a:solidFill>
                  <a:srgbClr val="E04E50"/>
                </a:solidFill>
                <a:effectLst/>
                <a:latin typeface="Arial" panose="020B0604020202020204" pitchFamily="34" charset="0"/>
              </a:rPr>
              <a:t>not dissolve</a:t>
            </a:r>
            <a:r>
              <a:rPr lang="en-AU" b="0" i="0" dirty="0" smtClean="0">
                <a:solidFill>
                  <a:srgbClr val="444444"/>
                </a:solidFill>
                <a:effectLst/>
                <a:latin typeface="Arial" panose="020B0604020202020204" pitchFamily="34" charset="0"/>
              </a:rPr>
              <a:t> in polar substances.</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An example of this is trying to dissolve </a:t>
            </a:r>
            <a:r>
              <a:rPr lang="en-AU" b="1" i="0" dirty="0" smtClean="0">
                <a:solidFill>
                  <a:srgbClr val="571A98"/>
                </a:solidFill>
                <a:effectLst/>
                <a:latin typeface="Arial" panose="020B0604020202020204" pitchFamily="34" charset="0"/>
              </a:rPr>
              <a:t>iodine</a:t>
            </a:r>
            <a:r>
              <a:rPr lang="en-AU" b="0" i="0" dirty="0" smtClean="0">
                <a:solidFill>
                  <a:srgbClr val="444444"/>
                </a:solidFill>
                <a:effectLst/>
                <a:latin typeface="Arial" panose="020B0604020202020204" pitchFamily="34" charset="0"/>
              </a:rPr>
              <a:t> </a:t>
            </a:r>
            <a:r>
              <a:rPr lang="en-AU" b="0" i="0" dirty="0" smtClean="0">
                <a:solidFill>
                  <a:srgbClr val="444444"/>
                </a:solidFill>
                <a:effectLst/>
                <a:latin typeface="KaTeX_Main"/>
              </a:rPr>
              <a:t>(I</a:t>
            </a:r>
            <a:r>
              <a:rPr lang="en-AU" b="0" i="0" baseline="-25000" dirty="0" smtClean="0">
                <a:solidFill>
                  <a:srgbClr val="444444"/>
                </a:solidFill>
                <a:effectLst/>
                <a:latin typeface="KaTeX_Main"/>
              </a:rPr>
              <a:t>2</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in water. The iodine will </a:t>
            </a:r>
            <a:r>
              <a:rPr lang="en-AU" b="1" i="0" dirty="0" smtClean="0">
                <a:solidFill>
                  <a:srgbClr val="E04E50"/>
                </a:solidFill>
                <a:effectLst/>
                <a:latin typeface="Arial" panose="020B0604020202020204" pitchFamily="34" charset="0"/>
              </a:rPr>
              <a:t>not dissolve</a:t>
            </a:r>
            <a:r>
              <a:rPr lang="en-AU" b="0" i="0" dirty="0" smtClean="0">
                <a:solidFill>
                  <a:srgbClr val="444444"/>
                </a:solidFill>
                <a:effectLst/>
                <a:latin typeface="Arial" panose="020B0604020202020204" pitchFamily="34" charset="0"/>
              </a:rPr>
              <a:t> in the water and remain as a </a:t>
            </a:r>
            <a:r>
              <a:rPr lang="en-AU" b="1" i="0" dirty="0" smtClean="0">
                <a:solidFill>
                  <a:srgbClr val="3598DC"/>
                </a:solidFill>
                <a:effectLst/>
                <a:latin typeface="Arial" panose="020B0604020202020204" pitchFamily="34" charset="0"/>
              </a:rPr>
              <a:t>separate solid.</a:t>
            </a:r>
            <a:r>
              <a:rPr lang="en-AU" b="0" i="0" dirty="0" smtClean="0">
                <a:solidFill>
                  <a:srgbClr val="444444"/>
                </a:solidFill>
                <a:effectLst/>
                <a:latin typeface="Arial" panose="020B0604020202020204" pitchFamily="34" charset="0"/>
              </a:rPr>
              <a:t> The intermolecular forces within the non-polar iodine are just </a:t>
            </a:r>
            <a:r>
              <a:rPr lang="en-AU" b="1" i="0" dirty="0" smtClean="0">
                <a:solidFill>
                  <a:srgbClr val="571A98"/>
                </a:solidFill>
                <a:effectLst/>
                <a:latin typeface="Arial" panose="020B0604020202020204" pitchFamily="34" charset="0"/>
              </a:rPr>
              <a:t>dispersion forces,</a:t>
            </a:r>
            <a:r>
              <a:rPr lang="en-AU" b="0" i="0" dirty="0" smtClean="0">
                <a:solidFill>
                  <a:srgbClr val="444444"/>
                </a:solidFill>
                <a:effectLst/>
                <a:latin typeface="Arial" panose="020B0604020202020204" pitchFamily="34" charset="0"/>
              </a:rPr>
              <a:t> while the water contains much stronger </a:t>
            </a:r>
            <a:r>
              <a:rPr lang="en-AU" b="1" i="0" dirty="0" smtClean="0">
                <a:solidFill>
                  <a:srgbClr val="E04E50"/>
                </a:solidFill>
                <a:effectLst/>
                <a:latin typeface="Arial" panose="020B0604020202020204" pitchFamily="34" charset="0"/>
              </a:rPr>
              <a:t>hydrogen bonds.</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It is not </a:t>
            </a:r>
            <a:r>
              <a:rPr lang="en-AU" b="1" i="0" dirty="0" smtClean="0">
                <a:solidFill>
                  <a:srgbClr val="E04E50"/>
                </a:solidFill>
                <a:effectLst/>
                <a:latin typeface="Arial" panose="020B0604020202020204" pitchFamily="34" charset="0"/>
              </a:rPr>
              <a:t>energetically favourable</a:t>
            </a:r>
            <a:r>
              <a:rPr lang="en-AU" b="0" i="0" dirty="0" smtClean="0">
                <a:solidFill>
                  <a:srgbClr val="444444"/>
                </a:solidFill>
                <a:effectLst/>
                <a:latin typeface="Arial" panose="020B0604020202020204" pitchFamily="34" charset="0"/>
              </a:rPr>
              <a:t> for the water to dissolve the iodine. For the iodine and water to mix, </a:t>
            </a:r>
            <a:r>
              <a:rPr lang="en-AU" b="1" i="0" dirty="0" smtClean="0">
                <a:solidFill>
                  <a:srgbClr val="571A98"/>
                </a:solidFill>
                <a:effectLst/>
                <a:latin typeface="Arial" panose="020B0604020202020204" pitchFamily="34" charset="0"/>
              </a:rPr>
              <a:t>the strong hydrogen bonds</a:t>
            </a:r>
            <a:r>
              <a:rPr lang="en-AU" b="0" i="0" dirty="0" smtClean="0">
                <a:solidFill>
                  <a:srgbClr val="444444"/>
                </a:solidFill>
                <a:effectLst/>
                <a:latin typeface="Arial" panose="020B0604020202020204" pitchFamily="34" charset="0"/>
              </a:rPr>
              <a:t> between the water molecules would need to be </a:t>
            </a:r>
            <a:r>
              <a:rPr lang="en-AU" b="1" i="0" dirty="0" smtClean="0">
                <a:solidFill>
                  <a:srgbClr val="E04E50"/>
                </a:solidFill>
                <a:effectLst/>
                <a:latin typeface="Arial" panose="020B0604020202020204" pitchFamily="34" charset="0"/>
              </a:rPr>
              <a:t>broken</a:t>
            </a:r>
            <a:r>
              <a:rPr lang="en-AU" b="0" i="0" dirty="0" smtClean="0">
                <a:solidFill>
                  <a:srgbClr val="444444"/>
                </a:solidFill>
                <a:effectLst/>
                <a:latin typeface="Arial" panose="020B0604020202020204" pitchFamily="34" charset="0"/>
              </a:rPr>
              <a:t> and </a:t>
            </a:r>
            <a:r>
              <a:rPr lang="en-AU" b="1" i="0" dirty="0" smtClean="0">
                <a:solidFill>
                  <a:srgbClr val="3598DC"/>
                </a:solidFill>
                <a:effectLst/>
                <a:latin typeface="Arial" panose="020B0604020202020204" pitchFamily="34" charset="0"/>
              </a:rPr>
              <a:t>weaker dispersion forces</a:t>
            </a:r>
            <a:r>
              <a:rPr lang="en-AU" b="0" i="0" dirty="0" smtClean="0">
                <a:solidFill>
                  <a:srgbClr val="444444"/>
                </a:solidFill>
                <a:effectLst/>
                <a:latin typeface="Arial" panose="020B0604020202020204" pitchFamily="34" charset="0"/>
              </a:rPr>
              <a:t> would form between the water and iodine molecules. The water will be </a:t>
            </a:r>
            <a:r>
              <a:rPr lang="en-AU" b="1" i="0" dirty="0" smtClean="0">
                <a:solidFill>
                  <a:srgbClr val="E04E50"/>
                </a:solidFill>
                <a:effectLst/>
                <a:latin typeface="Arial" panose="020B0604020202020204" pitchFamily="34" charset="0"/>
              </a:rPr>
              <a:t>less stable</a:t>
            </a:r>
            <a:r>
              <a:rPr lang="en-AU" b="0" i="0" dirty="0" smtClean="0">
                <a:solidFill>
                  <a:srgbClr val="444444"/>
                </a:solidFill>
                <a:effectLst/>
                <a:latin typeface="Arial" panose="020B0604020202020204" pitchFamily="34" charset="0"/>
              </a:rPr>
              <a:t> if it forms these </a:t>
            </a:r>
            <a:r>
              <a:rPr lang="en-AU" b="1" i="0" dirty="0" smtClean="0">
                <a:solidFill>
                  <a:srgbClr val="571A98"/>
                </a:solidFill>
                <a:effectLst/>
                <a:latin typeface="Arial" panose="020B0604020202020204" pitchFamily="34" charset="0"/>
              </a:rPr>
              <a:t>weaker water-iodine forces,</a:t>
            </a:r>
            <a:r>
              <a:rPr lang="en-AU" b="0" i="0" dirty="0" smtClean="0">
                <a:solidFill>
                  <a:srgbClr val="444444"/>
                </a:solidFill>
                <a:effectLst/>
                <a:latin typeface="Arial" panose="020B0604020202020204" pitchFamily="34" charset="0"/>
              </a:rPr>
              <a:t> as it will require </a:t>
            </a:r>
            <a:r>
              <a:rPr lang="en-AU" b="1" i="0" dirty="0" smtClean="0">
                <a:solidFill>
                  <a:srgbClr val="3598DC"/>
                </a:solidFill>
                <a:effectLst/>
                <a:latin typeface="Arial" panose="020B0604020202020204" pitchFamily="34" charset="0"/>
              </a:rPr>
              <a:t>less energy input</a:t>
            </a:r>
            <a:r>
              <a:rPr lang="en-AU" b="0" i="0" dirty="0" smtClean="0">
                <a:solidFill>
                  <a:srgbClr val="444444"/>
                </a:solidFill>
                <a:effectLst/>
                <a:latin typeface="Arial" panose="020B0604020202020204" pitchFamily="34" charset="0"/>
              </a:rPr>
              <a:t> to break these compared to the water-water hydrogen bonds.</a:t>
            </a:r>
            <a:endParaRPr lang="en-AU" b="0" i="0" dirty="0">
              <a:solidFill>
                <a:srgbClr val="444444"/>
              </a:solidFill>
              <a:effectLst/>
              <a:latin typeface="Arial" panose="020B0604020202020204" pitchFamily="34" charset="0"/>
            </a:endParaRPr>
          </a:p>
        </p:txBody>
      </p:sp>
      <p:pic>
        <p:nvPicPr>
          <p:cNvPr id="20482" name="Picture 2" descr="https://www.educationperfect.com/media/content/Science/1573077127.721761g/1573077126482-3507322179027437-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799" y="4057507"/>
            <a:ext cx="3660775" cy="28004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79142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1800" y="163543"/>
            <a:ext cx="11188700" cy="2862322"/>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If a solvent and a liquid solute </a:t>
            </a:r>
            <a:r>
              <a:rPr lang="en-AU" b="1" i="0" dirty="0" smtClean="0">
                <a:solidFill>
                  <a:srgbClr val="3598DC"/>
                </a:solidFill>
                <a:effectLst/>
                <a:latin typeface="Arial" panose="020B0604020202020204" pitchFamily="34" charset="0"/>
              </a:rPr>
              <a:t>cannot form new intermolecular attractions</a:t>
            </a:r>
            <a:r>
              <a:rPr lang="en-AU" b="1" i="0" dirty="0" smtClean="0">
                <a:solidFill>
                  <a:srgbClr val="444444"/>
                </a:solidFill>
                <a:effectLst/>
                <a:latin typeface="Arial" panose="020B0604020202020204" pitchFamily="34" charset="0"/>
              </a:rPr>
              <a:t> between one another, they will be </a:t>
            </a:r>
            <a:r>
              <a:rPr lang="en-AU" b="1" i="0" dirty="0" smtClean="0">
                <a:solidFill>
                  <a:srgbClr val="571A98"/>
                </a:solidFill>
                <a:effectLst/>
                <a:latin typeface="Arial" panose="020B0604020202020204" pitchFamily="34" charset="0"/>
              </a:rPr>
              <a:t>insoluble</a:t>
            </a:r>
            <a:r>
              <a:rPr lang="en-AU" b="1" i="0" dirty="0" smtClean="0">
                <a:solidFill>
                  <a:srgbClr val="444444"/>
                </a:solidFill>
                <a:effectLst/>
                <a:latin typeface="Arial" panose="020B0604020202020204" pitchFamily="34" charset="0"/>
              </a:rPr>
              <a:t> and will remain in </a:t>
            </a:r>
            <a:r>
              <a:rPr lang="en-AU" b="1" i="0" dirty="0" smtClean="0">
                <a:solidFill>
                  <a:srgbClr val="3BA486"/>
                </a:solidFill>
                <a:effectLst/>
                <a:latin typeface="Arial" panose="020B0604020202020204" pitchFamily="34" charset="0"/>
              </a:rPr>
              <a:t>separate layers.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A common example of this can be seen when </a:t>
            </a:r>
            <a:r>
              <a:rPr lang="en-AU" b="1" i="0" dirty="0" smtClean="0">
                <a:solidFill>
                  <a:srgbClr val="571A98"/>
                </a:solidFill>
                <a:effectLst/>
                <a:latin typeface="Arial" panose="020B0604020202020204" pitchFamily="34" charset="0"/>
              </a:rPr>
              <a:t>cooking oil and water are mixed.</a:t>
            </a:r>
            <a:r>
              <a:rPr lang="en-AU" b="0" i="0" dirty="0" smtClean="0">
                <a:solidFill>
                  <a:srgbClr val="444444"/>
                </a:solidFill>
                <a:effectLst/>
                <a:latin typeface="Arial" panose="020B0604020202020204" pitchFamily="34" charset="0"/>
              </a:rPr>
              <a:t> The </a:t>
            </a:r>
            <a:r>
              <a:rPr lang="en-AU" b="1" i="0" dirty="0" smtClean="0">
                <a:solidFill>
                  <a:srgbClr val="3BA486"/>
                </a:solidFill>
                <a:effectLst/>
                <a:latin typeface="Arial" panose="020B0604020202020204" pitchFamily="34" charset="0"/>
              </a:rPr>
              <a:t>non-polar oil molecules</a:t>
            </a:r>
            <a:r>
              <a:rPr lang="en-AU" b="0" i="0" dirty="0" smtClean="0">
                <a:solidFill>
                  <a:srgbClr val="444444"/>
                </a:solidFill>
                <a:effectLst/>
                <a:latin typeface="Arial" panose="020B0604020202020204" pitchFamily="34" charset="0"/>
              </a:rPr>
              <a:t> and the </a:t>
            </a:r>
            <a:r>
              <a:rPr lang="en-AU" b="1" i="0" dirty="0" smtClean="0">
                <a:solidFill>
                  <a:srgbClr val="3598DC"/>
                </a:solidFill>
                <a:effectLst/>
                <a:latin typeface="Arial" panose="020B0604020202020204" pitchFamily="34" charset="0"/>
              </a:rPr>
              <a:t>polar water molecules</a:t>
            </a:r>
            <a:r>
              <a:rPr lang="en-AU" b="0" i="0" dirty="0" smtClean="0">
                <a:solidFill>
                  <a:srgbClr val="444444"/>
                </a:solidFill>
                <a:effectLst/>
                <a:latin typeface="Arial" panose="020B0604020202020204" pitchFamily="34" charset="0"/>
              </a:rPr>
              <a:t> are unable to </a:t>
            </a:r>
            <a:r>
              <a:rPr lang="en-AU" b="1" i="0" dirty="0" smtClean="0">
                <a:solidFill>
                  <a:srgbClr val="571A98"/>
                </a:solidFill>
                <a:effectLst/>
                <a:latin typeface="Arial" panose="020B0604020202020204" pitchFamily="34" charset="0"/>
              </a:rPr>
              <a:t>form new intermolecular attractions</a:t>
            </a:r>
            <a:r>
              <a:rPr lang="en-AU" b="0" i="0" dirty="0" smtClean="0">
                <a:solidFill>
                  <a:srgbClr val="444444"/>
                </a:solidFill>
                <a:effectLst/>
                <a:latin typeface="Arial" panose="020B0604020202020204" pitchFamily="34" charset="0"/>
              </a:rPr>
              <a:t> with one another due to the differences in their </a:t>
            </a:r>
            <a:r>
              <a:rPr lang="en-AU" b="1" i="0" dirty="0" smtClean="0">
                <a:solidFill>
                  <a:srgbClr val="3BA486"/>
                </a:solidFill>
                <a:effectLst/>
                <a:latin typeface="Arial" panose="020B0604020202020204" pitchFamily="34" charset="0"/>
              </a:rPr>
              <a:t>intermolecular forces.</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The cooking oil molecules are held together by </a:t>
            </a:r>
            <a:r>
              <a:rPr lang="en-AU" b="1" i="0" dirty="0" smtClean="0">
                <a:solidFill>
                  <a:srgbClr val="3BA486"/>
                </a:solidFill>
                <a:effectLst/>
                <a:latin typeface="Arial" panose="020B0604020202020204" pitchFamily="34" charset="0"/>
              </a:rPr>
              <a:t>dispersion forces,</a:t>
            </a:r>
            <a:r>
              <a:rPr lang="en-AU" b="0" i="0" dirty="0" smtClean="0">
                <a:solidFill>
                  <a:srgbClr val="444444"/>
                </a:solidFill>
                <a:effectLst/>
                <a:latin typeface="Arial" panose="020B0604020202020204" pitchFamily="34" charset="0"/>
              </a:rPr>
              <a:t> while the water molecules are held together by </a:t>
            </a:r>
            <a:r>
              <a:rPr lang="en-AU" b="1" i="0" dirty="0" smtClean="0">
                <a:solidFill>
                  <a:srgbClr val="3598DC"/>
                </a:solidFill>
                <a:effectLst/>
                <a:latin typeface="Arial" panose="020B0604020202020204" pitchFamily="34" charset="0"/>
              </a:rPr>
              <a:t>hydrogen bonding.</a:t>
            </a:r>
            <a:r>
              <a:rPr lang="en-AU" b="0" i="0" dirty="0" smtClean="0">
                <a:solidFill>
                  <a:srgbClr val="444444"/>
                </a:solidFill>
                <a:effectLst/>
                <a:latin typeface="Arial" panose="020B0604020202020204" pitchFamily="34" charset="0"/>
              </a:rPr>
              <a:t> It is </a:t>
            </a:r>
            <a:r>
              <a:rPr lang="en-AU" b="1" i="0" dirty="0" smtClean="0">
                <a:solidFill>
                  <a:srgbClr val="571A98"/>
                </a:solidFill>
                <a:effectLst/>
                <a:latin typeface="Arial" panose="020B0604020202020204" pitchFamily="34" charset="0"/>
              </a:rPr>
              <a:t>energetically unfavourable</a:t>
            </a:r>
            <a:r>
              <a:rPr lang="en-AU" b="0" i="0" dirty="0" smtClean="0">
                <a:solidFill>
                  <a:srgbClr val="444444"/>
                </a:solidFill>
                <a:effectLst/>
                <a:latin typeface="Arial" panose="020B0604020202020204" pitchFamily="34" charset="0"/>
              </a:rPr>
              <a:t> for water-oil intermolecular attractions to form, causing the oil and water to remain in separate layers.</a:t>
            </a:r>
            <a:endParaRPr lang="en-AU" b="0" i="0" dirty="0">
              <a:solidFill>
                <a:srgbClr val="444444"/>
              </a:solidFill>
              <a:effectLst/>
              <a:latin typeface="Arial" panose="020B0604020202020204" pitchFamily="34" charset="0"/>
            </a:endParaRPr>
          </a:p>
        </p:txBody>
      </p:sp>
      <p:pic>
        <p:nvPicPr>
          <p:cNvPr id="21506" name="Picture 2" descr="Oil In Wate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4735061" y="3187700"/>
            <a:ext cx="2582177" cy="3498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96903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747"/>
            <a:ext cx="11938000" cy="3693319"/>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Molecules can contain both </a:t>
            </a:r>
            <a:r>
              <a:rPr lang="en-AU" b="1" i="0" dirty="0" smtClean="0">
                <a:solidFill>
                  <a:srgbClr val="3BA486"/>
                </a:solidFill>
                <a:effectLst/>
                <a:latin typeface="Arial" panose="020B0604020202020204" pitchFamily="34" charset="0"/>
              </a:rPr>
              <a:t>non-polar</a:t>
            </a:r>
            <a:r>
              <a:rPr lang="en-AU" b="1" i="0" dirty="0" smtClean="0">
                <a:solidFill>
                  <a:srgbClr val="444444"/>
                </a:solidFill>
                <a:effectLst/>
                <a:latin typeface="Arial" panose="020B0604020202020204" pitchFamily="34" charset="0"/>
              </a:rPr>
              <a:t> and </a:t>
            </a:r>
            <a:r>
              <a:rPr lang="en-AU" b="1" i="0" dirty="0" smtClean="0">
                <a:solidFill>
                  <a:srgbClr val="3598DC"/>
                </a:solidFill>
                <a:effectLst/>
                <a:latin typeface="Arial" panose="020B0604020202020204" pitchFamily="34" charset="0"/>
              </a:rPr>
              <a:t>polar</a:t>
            </a:r>
            <a:r>
              <a:rPr lang="en-AU" b="1" i="0" dirty="0" smtClean="0">
                <a:solidFill>
                  <a:srgbClr val="444444"/>
                </a:solidFill>
                <a:effectLst/>
                <a:latin typeface="Arial" panose="020B0604020202020204" pitchFamily="34" charset="0"/>
              </a:rPr>
              <a:t> constituents, and this affects their </a:t>
            </a:r>
            <a:r>
              <a:rPr lang="en-AU" b="1" i="0" dirty="0" smtClean="0">
                <a:solidFill>
                  <a:srgbClr val="571A98"/>
                </a:solidFill>
                <a:effectLst/>
                <a:latin typeface="Arial" panose="020B0604020202020204" pitchFamily="34" charset="0"/>
              </a:rPr>
              <a:t>solubility.</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An example of this is </a:t>
            </a:r>
            <a:r>
              <a:rPr lang="en-AU" b="1" i="0" dirty="0" smtClean="0">
                <a:solidFill>
                  <a:srgbClr val="3598DC"/>
                </a:solidFill>
                <a:effectLst/>
                <a:latin typeface="Arial" panose="020B0604020202020204" pitchFamily="34" charset="0"/>
              </a:rPr>
              <a:t>alcohol molecules,</a:t>
            </a:r>
            <a:r>
              <a:rPr lang="en-AU" b="0" i="0" dirty="0" smtClean="0">
                <a:solidFill>
                  <a:srgbClr val="444444"/>
                </a:solidFill>
                <a:effectLst/>
                <a:latin typeface="Arial" panose="020B0604020202020204" pitchFamily="34" charset="0"/>
              </a:rPr>
              <a:t> such as ethanol and </a:t>
            </a:r>
            <a:r>
              <a:rPr lang="en-AU" b="0" i="0" dirty="0" err="1" smtClean="0">
                <a:solidFill>
                  <a:srgbClr val="444444"/>
                </a:solidFill>
                <a:effectLst/>
                <a:latin typeface="Arial" panose="020B0604020202020204" pitchFamily="34" charset="0"/>
              </a:rPr>
              <a:t>hexanol</a:t>
            </a:r>
            <a:r>
              <a:rPr lang="en-AU" b="0" i="0" dirty="0" smtClean="0">
                <a:solidFill>
                  <a:srgbClr val="444444"/>
                </a:solidFill>
                <a:effectLst/>
                <a:latin typeface="Arial" panose="020B0604020202020204" pitchFamily="34" charset="0"/>
              </a:rPr>
              <a:t>. Their </a:t>
            </a:r>
            <a:r>
              <a:rPr lang="en-AU" b="1" i="0" dirty="0" smtClean="0">
                <a:solidFill>
                  <a:srgbClr val="571A98"/>
                </a:solidFill>
                <a:effectLst/>
                <a:latin typeface="Arial" panose="020B0604020202020204" pitchFamily="34" charset="0"/>
              </a:rPr>
              <a:t>solubility in water</a:t>
            </a:r>
            <a:r>
              <a:rPr lang="en-AU" b="0" i="0" dirty="0" smtClean="0">
                <a:solidFill>
                  <a:srgbClr val="444444"/>
                </a:solidFill>
                <a:effectLst/>
                <a:latin typeface="Arial" panose="020B0604020202020204" pitchFamily="34" charset="0"/>
              </a:rPr>
              <a:t> is shown in the </a:t>
            </a:r>
            <a:r>
              <a:rPr lang="en-AU" b="1" i="0" dirty="0" smtClean="0">
                <a:solidFill>
                  <a:srgbClr val="3BA486"/>
                </a:solidFill>
                <a:effectLst/>
                <a:latin typeface="Arial" panose="020B0604020202020204" pitchFamily="34" charset="0"/>
              </a:rPr>
              <a:t>table below.</a:t>
            </a:r>
            <a:r>
              <a:rPr lang="en-AU" b="0" i="0" dirty="0" smtClean="0">
                <a:solidFill>
                  <a:srgbClr val="3BA486"/>
                </a:solidFill>
                <a:effectLst/>
                <a:latin typeface="Arial" panose="020B0604020202020204" pitchFamily="34" charset="0"/>
              </a:rPr>
              <a:t> </a:t>
            </a:r>
            <a:r>
              <a:rPr lang="en-AU" b="0" i="0" dirty="0" smtClean="0">
                <a:solidFill>
                  <a:srgbClr val="444444"/>
                </a:solidFill>
                <a:effectLst/>
                <a:latin typeface="Arial" panose="020B0604020202020204" pitchFamily="34" charset="0"/>
              </a:rPr>
              <a:t>As the length of the carbon chain increases, the solubility of the alcohol is reduced.</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Ethanol is </a:t>
            </a:r>
            <a:r>
              <a:rPr lang="en-AU" b="1" i="0" dirty="0" smtClean="0">
                <a:solidFill>
                  <a:srgbClr val="571A98"/>
                </a:solidFill>
                <a:effectLst/>
                <a:latin typeface="Arial" panose="020B0604020202020204" pitchFamily="34" charset="0"/>
              </a:rPr>
              <a:t>soluble in both</a:t>
            </a:r>
            <a:r>
              <a:rPr lang="en-AU" b="0" i="0" dirty="0" smtClean="0">
                <a:solidFill>
                  <a:srgbClr val="444444"/>
                </a:solidFill>
                <a:effectLst/>
                <a:latin typeface="Arial" panose="020B0604020202020204" pitchFamily="34" charset="0"/>
              </a:rPr>
              <a:t> polar and non-polar solvents, as it has a </a:t>
            </a:r>
            <a:r>
              <a:rPr lang="en-AU" b="1" i="0" dirty="0" smtClean="0">
                <a:solidFill>
                  <a:srgbClr val="3BA486"/>
                </a:solidFill>
                <a:effectLst/>
                <a:latin typeface="Arial" panose="020B0604020202020204" pitchFamily="34" charset="0"/>
              </a:rPr>
              <a:t>small non-polar chain,</a:t>
            </a:r>
            <a:r>
              <a:rPr lang="en-AU" b="0" i="0" dirty="0" smtClean="0">
                <a:solidFill>
                  <a:srgbClr val="444444"/>
                </a:solidFill>
                <a:effectLst/>
                <a:latin typeface="Arial" panose="020B0604020202020204" pitchFamily="34" charset="0"/>
              </a:rPr>
              <a:t> and also an </a:t>
            </a:r>
            <a:r>
              <a:rPr lang="en-AU" b="0" i="0" dirty="0" smtClean="0">
                <a:solidFill>
                  <a:srgbClr val="444444"/>
                </a:solidFill>
                <a:effectLst/>
                <a:latin typeface="KaTeX_Main"/>
              </a:rPr>
              <a:t>-−OH</a:t>
            </a:r>
            <a:r>
              <a:rPr lang="en-AU" b="0" i="0" dirty="0" smtClean="0">
                <a:solidFill>
                  <a:srgbClr val="444444"/>
                </a:solidFill>
                <a:effectLst/>
                <a:latin typeface="Arial" panose="020B0604020202020204" pitchFamily="34" charset="0"/>
              </a:rPr>
              <a:t> group. This </a:t>
            </a:r>
            <a:r>
              <a:rPr lang="en-AU" b="0" i="0" dirty="0" smtClean="0">
                <a:solidFill>
                  <a:srgbClr val="444444"/>
                </a:solidFill>
                <a:effectLst/>
                <a:latin typeface="KaTeX_Main"/>
              </a:rPr>
              <a:t>-\text{OH}−OH</a:t>
            </a:r>
            <a:r>
              <a:rPr lang="en-AU" b="0" i="0" dirty="0" smtClean="0">
                <a:solidFill>
                  <a:srgbClr val="444444"/>
                </a:solidFill>
                <a:effectLst/>
                <a:latin typeface="Arial" panose="020B0604020202020204" pitchFamily="34" charset="0"/>
              </a:rPr>
              <a:t> group allows it to easily </a:t>
            </a:r>
            <a:r>
              <a:rPr lang="en-AU" b="1" i="0" dirty="0" smtClean="0">
                <a:solidFill>
                  <a:srgbClr val="571A98"/>
                </a:solidFill>
                <a:effectLst/>
                <a:latin typeface="Arial" panose="020B0604020202020204" pitchFamily="34" charset="0"/>
              </a:rPr>
              <a:t>form hydrogen bonds</a:t>
            </a:r>
            <a:r>
              <a:rPr lang="en-AU" b="0" i="0" dirty="0" smtClean="0">
                <a:solidFill>
                  <a:srgbClr val="444444"/>
                </a:solidFill>
                <a:effectLst/>
                <a:latin typeface="Arial" panose="020B0604020202020204" pitchFamily="34" charset="0"/>
              </a:rPr>
              <a:t> with the polar solvent molecules it is dissolving into, while its </a:t>
            </a:r>
            <a:r>
              <a:rPr lang="en-AU" b="0" i="0" dirty="0" smtClean="0">
                <a:solidFill>
                  <a:srgbClr val="444444"/>
                </a:solidFill>
                <a:effectLst/>
                <a:latin typeface="KaTeX_Main"/>
              </a:rPr>
              <a:t>C</a:t>
            </a:r>
            <a:r>
              <a:rPr lang="en-AU" b="0" i="0" baseline="-25000" dirty="0" smtClean="0">
                <a:solidFill>
                  <a:srgbClr val="444444"/>
                </a:solidFill>
                <a:effectLst/>
                <a:latin typeface="KaTeX_Main"/>
              </a:rPr>
              <a:t>2</a:t>
            </a:r>
            <a:r>
              <a:rPr lang="en-AU" b="0" i="0" dirty="0" smtClean="0">
                <a:solidFill>
                  <a:srgbClr val="444444"/>
                </a:solidFill>
                <a:effectLst/>
                <a:latin typeface="KaTeX_Main"/>
              </a:rPr>
              <a:t>​H</a:t>
            </a:r>
            <a:r>
              <a:rPr lang="en-AU" b="0" i="0" baseline="-25000" dirty="0" smtClean="0">
                <a:solidFill>
                  <a:srgbClr val="444444"/>
                </a:solidFill>
                <a:effectLst/>
                <a:latin typeface="KaTeX_Main"/>
              </a:rPr>
              <a:t>5</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group allows it to </a:t>
            </a:r>
            <a:r>
              <a:rPr lang="en-AU" b="1" i="0" dirty="0" smtClean="0">
                <a:solidFill>
                  <a:srgbClr val="3598DC"/>
                </a:solidFill>
                <a:effectLst/>
                <a:latin typeface="Arial" panose="020B0604020202020204" pitchFamily="34" charset="0"/>
              </a:rPr>
              <a:t>form dispersion attractive forces</a:t>
            </a:r>
            <a:r>
              <a:rPr lang="en-AU" b="0" i="0" dirty="0" smtClean="0">
                <a:solidFill>
                  <a:srgbClr val="444444"/>
                </a:solidFill>
                <a:effectLst/>
                <a:latin typeface="Arial" panose="020B0604020202020204" pitchFamily="34" charset="0"/>
              </a:rPr>
              <a:t> with non-polar solvents.</a:t>
            </a:r>
          </a:p>
          <a:p>
            <a:r>
              <a:rPr lang="en-AU" b="0" i="0" dirty="0" smtClean="0">
                <a:solidFill>
                  <a:srgbClr val="444444"/>
                </a:solidFill>
                <a:effectLst/>
                <a:latin typeface="Arial" panose="020B0604020202020204" pitchFamily="34" charset="0"/>
              </a:rPr>
              <a:t> </a:t>
            </a:r>
          </a:p>
          <a:p>
            <a:r>
              <a:rPr lang="en-AU" b="0" i="0" dirty="0" err="1" smtClean="0">
                <a:solidFill>
                  <a:srgbClr val="444444"/>
                </a:solidFill>
                <a:effectLst/>
                <a:latin typeface="Arial" panose="020B0604020202020204" pitchFamily="34" charset="0"/>
              </a:rPr>
              <a:t>Hexanol</a:t>
            </a:r>
            <a:r>
              <a:rPr lang="en-AU" b="0" i="0" dirty="0" smtClean="0">
                <a:solidFill>
                  <a:srgbClr val="444444"/>
                </a:solidFill>
                <a:effectLst/>
                <a:latin typeface="Arial" panose="020B0604020202020204" pitchFamily="34" charset="0"/>
              </a:rPr>
              <a:t> has a comparatively </a:t>
            </a:r>
            <a:r>
              <a:rPr lang="en-AU" b="1" i="0" dirty="0" smtClean="0">
                <a:solidFill>
                  <a:srgbClr val="3BA486"/>
                </a:solidFill>
                <a:effectLst/>
                <a:latin typeface="Arial" panose="020B0604020202020204" pitchFamily="34" charset="0"/>
              </a:rPr>
              <a:t>larger non-polar chain,</a:t>
            </a:r>
            <a:r>
              <a:rPr lang="en-AU" b="0" i="0" dirty="0" smtClean="0">
                <a:solidFill>
                  <a:srgbClr val="444444"/>
                </a:solidFill>
                <a:effectLst/>
                <a:latin typeface="Arial" panose="020B0604020202020204" pitchFamily="34" charset="0"/>
              </a:rPr>
              <a:t> and the dispersion forces are </a:t>
            </a:r>
            <a:r>
              <a:rPr lang="en-AU" b="1" i="0" dirty="0" smtClean="0">
                <a:solidFill>
                  <a:srgbClr val="3598DC"/>
                </a:solidFill>
                <a:effectLst/>
                <a:latin typeface="Arial" panose="020B0604020202020204" pitchFamily="34" charset="0"/>
              </a:rPr>
              <a:t>much larger.</a:t>
            </a:r>
            <a:r>
              <a:rPr lang="en-AU" b="0" i="0" dirty="0" smtClean="0">
                <a:solidFill>
                  <a:srgbClr val="444444"/>
                </a:solidFill>
                <a:effectLst/>
                <a:latin typeface="Arial" panose="020B0604020202020204" pitchFamily="34" charset="0"/>
              </a:rPr>
              <a:t> It is </a:t>
            </a:r>
            <a:r>
              <a:rPr lang="en-AU" b="1" i="0" dirty="0" smtClean="0">
                <a:solidFill>
                  <a:srgbClr val="571A98"/>
                </a:solidFill>
                <a:effectLst/>
                <a:latin typeface="Arial" panose="020B0604020202020204" pitchFamily="34" charset="0"/>
              </a:rPr>
              <a:t>energetically unfavourable</a:t>
            </a:r>
            <a:r>
              <a:rPr lang="en-AU" b="0" i="0" dirty="0" smtClean="0">
                <a:solidFill>
                  <a:srgbClr val="444444"/>
                </a:solidFill>
                <a:effectLst/>
                <a:latin typeface="Arial" panose="020B0604020202020204" pitchFamily="34" charset="0"/>
              </a:rPr>
              <a:t> for polar solvents to break their </a:t>
            </a:r>
            <a:r>
              <a:rPr lang="en-AU" b="1" i="0" dirty="0" smtClean="0">
                <a:solidFill>
                  <a:srgbClr val="3BA486"/>
                </a:solidFill>
                <a:effectLst/>
                <a:latin typeface="Arial" panose="020B0604020202020204" pitchFamily="34" charset="0"/>
              </a:rPr>
              <a:t>polar intermolecular forces</a:t>
            </a:r>
            <a:r>
              <a:rPr lang="en-AU" b="0" i="0" dirty="0" smtClean="0">
                <a:solidFill>
                  <a:srgbClr val="444444"/>
                </a:solidFill>
                <a:effectLst/>
                <a:latin typeface="Arial" panose="020B0604020202020204" pitchFamily="34" charset="0"/>
              </a:rPr>
              <a:t> to associate with molecules of </a:t>
            </a:r>
            <a:r>
              <a:rPr lang="en-AU" b="0" i="0" dirty="0" err="1" smtClean="0">
                <a:solidFill>
                  <a:srgbClr val="444444"/>
                </a:solidFill>
                <a:effectLst/>
                <a:latin typeface="Arial" panose="020B0604020202020204" pitchFamily="34" charset="0"/>
              </a:rPr>
              <a:t>hexanol</a:t>
            </a:r>
            <a:r>
              <a:rPr lang="en-AU" b="0" i="0" dirty="0" smtClean="0">
                <a:solidFill>
                  <a:srgbClr val="444444"/>
                </a:solidFill>
                <a:effectLst/>
                <a:latin typeface="Arial" panose="020B0604020202020204" pitchFamily="34" charset="0"/>
              </a:rPr>
              <a:t>. This means that </a:t>
            </a:r>
            <a:r>
              <a:rPr lang="en-AU" b="0" i="0" dirty="0" err="1" smtClean="0">
                <a:solidFill>
                  <a:srgbClr val="444444"/>
                </a:solidFill>
                <a:effectLst/>
                <a:latin typeface="Arial" panose="020B0604020202020204" pitchFamily="34" charset="0"/>
              </a:rPr>
              <a:t>hexanol</a:t>
            </a:r>
            <a:r>
              <a:rPr lang="en-AU" b="0" i="0" dirty="0" smtClean="0">
                <a:solidFill>
                  <a:srgbClr val="444444"/>
                </a:solidFill>
                <a:effectLst/>
                <a:latin typeface="Arial" panose="020B0604020202020204" pitchFamily="34" charset="0"/>
              </a:rPr>
              <a:t> will </a:t>
            </a:r>
            <a:r>
              <a:rPr lang="en-AU" b="1" i="0" dirty="0" smtClean="0">
                <a:solidFill>
                  <a:srgbClr val="3598DC"/>
                </a:solidFill>
                <a:effectLst/>
                <a:latin typeface="Arial" panose="020B0604020202020204" pitchFamily="34" charset="0"/>
              </a:rPr>
              <a:t>not dissolve in polar solvents,</a:t>
            </a:r>
            <a:r>
              <a:rPr lang="en-AU" b="0" i="0" dirty="0" smtClean="0">
                <a:solidFill>
                  <a:srgbClr val="444444"/>
                </a:solidFill>
                <a:effectLst/>
                <a:latin typeface="Arial" panose="020B0604020202020204" pitchFamily="34" charset="0"/>
              </a:rPr>
              <a:t> despite having the same </a:t>
            </a:r>
            <a:r>
              <a:rPr lang="en-AU" b="0" i="0" dirty="0" smtClean="0">
                <a:solidFill>
                  <a:srgbClr val="444444"/>
                </a:solidFill>
                <a:effectLst/>
                <a:latin typeface="KaTeX_Main"/>
              </a:rPr>
              <a:t>-−OH</a:t>
            </a:r>
            <a:r>
              <a:rPr lang="en-AU" b="0" i="0" dirty="0" smtClean="0">
                <a:solidFill>
                  <a:srgbClr val="444444"/>
                </a:solidFill>
                <a:effectLst/>
                <a:latin typeface="Arial" panose="020B0604020202020204" pitchFamily="34" charset="0"/>
              </a:rPr>
              <a:t> group as ethanol.</a:t>
            </a:r>
            <a:endParaRPr lang="en-AU"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4154487" y="3709987"/>
            <a:ext cx="3933825" cy="3019425"/>
          </a:xfrm>
          <a:prstGeom prst="rect">
            <a:avLst/>
          </a:prstGeom>
        </p:spPr>
      </p:pic>
    </p:spTree>
    <p:extLst>
      <p:ext uri="{BB962C8B-B14F-4D97-AF65-F5344CB8AC3E}">
        <p14:creationId xmlns:p14="http://schemas.microsoft.com/office/powerpoint/2010/main" val="13494959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0"/>
            <a:ext cx="11633200" cy="2862322"/>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These </a:t>
            </a:r>
            <a:r>
              <a:rPr lang="en-AU" b="1" i="0" dirty="0" smtClean="0">
                <a:solidFill>
                  <a:srgbClr val="3598DC"/>
                </a:solidFill>
                <a:effectLst/>
                <a:latin typeface="Arial" panose="020B0604020202020204" pitchFamily="34" charset="0"/>
              </a:rPr>
              <a:t>polar</a:t>
            </a:r>
            <a:r>
              <a:rPr lang="en-AU" b="1" i="0" dirty="0" smtClean="0">
                <a:solidFill>
                  <a:srgbClr val="444444"/>
                </a:solidFill>
                <a:effectLst/>
                <a:latin typeface="Arial" panose="020B0604020202020204" pitchFamily="34" charset="0"/>
              </a:rPr>
              <a:t> and </a:t>
            </a:r>
            <a:r>
              <a:rPr lang="en-AU" b="1" i="0" dirty="0" smtClean="0">
                <a:solidFill>
                  <a:srgbClr val="3BA486"/>
                </a:solidFill>
                <a:effectLst/>
                <a:latin typeface="Arial" panose="020B0604020202020204" pitchFamily="34" charset="0"/>
              </a:rPr>
              <a:t>non-polar</a:t>
            </a:r>
            <a:r>
              <a:rPr lang="en-AU" b="1" i="0" dirty="0" smtClean="0">
                <a:solidFill>
                  <a:srgbClr val="444444"/>
                </a:solidFill>
                <a:effectLst/>
                <a:latin typeface="Arial" panose="020B0604020202020204" pitchFamily="34" charset="0"/>
              </a:rPr>
              <a:t> constituents not only affect a molecule’s solubility but also its ability to </a:t>
            </a:r>
            <a:r>
              <a:rPr lang="en-AU" b="1" i="0" dirty="0" smtClean="0">
                <a:solidFill>
                  <a:srgbClr val="571A98"/>
                </a:solidFill>
                <a:effectLst/>
                <a:latin typeface="Arial" panose="020B0604020202020204" pitchFamily="34" charset="0"/>
              </a:rPr>
              <a:t>act as a solvent.</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Ethanol can act as a </a:t>
            </a:r>
            <a:r>
              <a:rPr lang="en-AU" b="1" i="0" dirty="0" smtClean="0">
                <a:solidFill>
                  <a:srgbClr val="3598DC"/>
                </a:solidFill>
                <a:effectLst/>
                <a:latin typeface="Arial" panose="020B0604020202020204" pitchFamily="34" charset="0"/>
              </a:rPr>
              <a:t>polar solvent</a:t>
            </a:r>
            <a:r>
              <a:rPr lang="en-AU" b="0" i="0" dirty="0" smtClean="0">
                <a:solidFill>
                  <a:srgbClr val="444444"/>
                </a:solidFill>
                <a:effectLst/>
                <a:latin typeface="Arial" panose="020B0604020202020204" pitchFamily="34" charset="0"/>
              </a:rPr>
              <a:t> due to the presence of the </a:t>
            </a:r>
            <a:r>
              <a:rPr lang="en-AU" b="0" i="0" dirty="0" smtClean="0">
                <a:solidFill>
                  <a:srgbClr val="444444"/>
                </a:solidFill>
                <a:effectLst/>
                <a:latin typeface="KaTeX_Main"/>
              </a:rPr>
              <a:t>−OH</a:t>
            </a:r>
            <a:r>
              <a:rPr lang="en-AU" b="0" i="0" dirty="0" smtClean="0">
                <a:solidFill>
                  <a:srgbClr val="444444"/>
                </a:solidFill>
                <a:effectLst/>
                <a:latin typeface="Arial" panose="020B0604020202020204" pitchFamily="34" charset="0"/>
              </a:rPr>
              <a:t> group, allowing it to </a:t>
            </a:r>
            <a:r>
              <a:rPr lang="en-AU" b="1" i="0" dirty="0" smtClean="0">
                <a:solidFill>
                  <a:srgbClr val="571A98"/>
                </a:solidFill>
                <a:effectLst/>
                <a:latin typeface="Arial" panose="020B0604020202020204" pitchFamily="34" charset="0"/>
              </a:rPr>
              <a:t>hydrogen bond</a:t>
            </a:r>
            <a:r>
              <a:rPr lang="en-AU" b="0" i="0" dirty="0" smtClean="0">
                <a:solidFill>
                  <a:srgbClr val="444444"/>
                </a:solidFill>
                <a:effectLst/>
                <a:latin typeface="Arial" panose="020B0604020202020204" pitchFamily="34" charset="0"/>
              </a:rPr>
              <a:t> to other polar molecules. This allows polar substances such as glucose </a:t>
            </a:r>
            <a:r>
              <a:rPr lang="en-AU" b="0" i="0" dirty="0" smtClean="0">
                <a:solidFill>
                  <a:srgbClr val="444444"/>
                </a:solidFill>
                <a:effectLst/>
                <a:latin typeface="KaTeX_Main"/>
              </a:rPr>
              <a:t>(C</a:t>
            </a:r>
            <a:r>
              <a:rPr lang="en-AU" b="0" i="0" baseline="-25000" dirty="0" smtClean="0">
                <a:solidFill>
                  <a:srgbClr val="444444"/>
                </a:solidFill>
                <a:effectLst/>
                <a:latin typeface="KaTeX_Main"/>
              </a:rPr>
              <a:t>6</a:t>
            </a:r>
            <a:r>
              <a:rPr lang="en-AU" b="0" i="0" dirty="0" smtClean="0">
                <a:solidFill>
                  <a:srgbClr val="444444"/>
                </a:solidFill>
                <a:effectLst/>
                <a:latin typeface="KaTeX_Main"/>
              </a:rPr>
              <a:t>​H</a:t>
            </a:r>
            <a:r>
              <a:rPr lang="en-AU" b="0" i="0" baseline="-25000" dirty="0" smtClean="0">
                <a:solidFill>
                  <a:srgbClr val="444444"/>
                </a:solidFill>
                <a:effectLst/>
                <a:latin typeface="KaTeX_Main"/>
              </a:rPr>
              <a:t>12</a:t>
            </a:r>
            <a:r>
              <a:rPr lang="en-AU" b="0" i="0" dirty="0" smtClean="0">
                <a:solidFill>
                  <a:srgbClr val="444444"/>
                </a:solidFill>
                <a:effectLst/>
                <a:latin typeface="KaTeX_Main"/>
              </a:rPr>
              <a:t>​O</a:t>
            </a:r>
            <a:r>
              <a:rPr lang="en-AU" b="0" i="0" baseline="-25000" dirty="0" smtClean="0">
                <a:solidFill>
                  <a:srgbClr val="444444"/>
                </a:solidFill>
                <a:effectLst/>
                <a:latin typeface="KaTeX_Main"/>
              </a:rPr>
              <a:t>6</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to </a:t>
            </a:r>
            <a:r>
              <a:rPr lang="en-AU" b="1" i="0" dirty="0" smtClean="0">
                <a:solidFill>
                  <a:srgbClr val="3BA486"/>
                </a:solidFill>
                <a:effectLst/>
                <a:latin typeface="Arial" panose="020B0604020202020204" pitchFamily="34" charset="0"/>
              </a:rPr>
              <a:t>dissolve in ethanol.</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However, ethanol can also act as a </a:t>
            </a:r>
            <a:r>
              <a:rPr lang="en-AU" b="1" i="0" dirty="0" smtClean="0">
                <a:solidFill>
                  <a:srgbClr val="3BA486"/>
                </a:solidFill>
                <a:effectLst/>
                <a:latin typeface="Arial" panose="020B0604020202020204" pitchFamily="34" charset="0"/>
              </a:rPr>
              <a:t>non-polar solvent</a:t>
            </a:r>
            <a:r>
              <a:rPr lang="en-AU" b="0" i="0" dirty="0" smtClean="0">
                <a:solidFill>
                  <a:srgbClr val="444444"/>
                </a:solidFill>
                <a:effectLst/>
                <a:latin typeface="Arial" panose="020B0604020202020204" pitchFamily="34" charset="0"/>
              </a:rPr>
              <a:t> due to the non-polar </a:t>
            </a:r>
            <a:r>
              <a:rPr lang="en-AU" b="0" i="0" dirty="0" smtClean="0">
                <a:solidFill>
                  <a:srgbClr val="444444"/>
                </a:solidFill>
                <a:effectLst/>
                <a:latin typeface="KaTeX_Main"/>
              </a:rPr>
              <a:t>−C</a:t>
            </a:r>
            <a:r>
              <a:rPr lang="en-AU" b="0" i="0" baseline="-25000" dirty="0" smtClean="0">
                <a:solidFill>
                  <a:srgbClr val="444444"/>
                </a:solidFill>
                <a:effectLst/>
                <a:latin typeface="KaTeX_Main"/>
              </a:rPr>
              <a:t>2</a:t>
            </a:r>
            <a:r>
              <a:rPr lang="en-AU" b="0" i="0" dirty="0" smtClean="0">
                <a:solidFill>
                  <a:srgbClr val="444444"/>
                </a:solidFill>
                <a:effectLst/>
                <a:latin typeface="KaTeX_Main"/>
              </a:rPr>
              <a:t>​H</a:t>
            </a:r>
            <a:r>
              <a:rPr lang="en-AU" b="0" i="0" baseline="-25000" dirty="0" smtClean="0">
                <a:solidFill>
                  <a:srgbClr val="444444"/>
                </a:solidFill>
                <a:effectLst/>
                <a:latin typeface="KaTeX_Main"/>
              </a:rPr>
              <a:t>5</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group, which allows it to form </a:t>
            </a:r>
            <a:r>
              <a:rPr lang="en-AU" b="1" i="0" dirty="0" smtClean="0">
                <a:solidFill>
                  <a:srgbClr val="571A98"/>
                </a:solidFill>
                <a:effectLst/>
                <a:latin typeface="Arial" panose="020B0604020202020204" pitchFamily="34" charset="0"/>
              </a:rPr>
              <a:t>dispersion force attractions</a:t>
            </a:r>
            <a:r>
              <a:rPr lang="en-AU" b="0" i="0" dirty="0" smtClean="0">
                <a:solidFill>
                  <a:srgbClr val="444444"/>
                </a:solidFill>
                <a:effectLst/>
                <a:latin typeface="Arial" panose="020B0604020202020204" pitchFamily="34" charset="0"/>
              </a:rPr>
              <a:t> with non-polar molecules.</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This causes </a:t>
            </a:r>
            <a:r>
              <a:rPr lang="en-AU" b="1" i="0" dirty="0" smtClean="0">
                <a:solidFill>
                  <a:srgbClr val="571A98"/>
                </a:solidFill>
                <a:effectLst/>
                <a:latin typeface="Arial" panose="020B0604020202020204" pitchFamily="34" charset="0"/>
              </a:rPr>
              <a:t>non-polar substances</a:t>
            </a:r>
            <a:r>
              <a:rPr lang="en-AU" b="0" i="0" dirty="0" smtClean="0">
                <a:solidFill>
                  <a:srgbClr val="444444"/>
                </a:solidFill>
                <a:effectLst/>
                <a:latin typeface="Arial" panose="020B0604020202020204" pitchFamily="34" charset="0"/>
              </a:rPr>
              <a:t> such as iodine </a:t>
            </a:r>
            <a:r>
              <a:rPr lang="en-AU" b="0" i="0" dirty="0" smtClean="0">
                <a:solidFill>
                  <a:srgbClr val="444444"/>
                </a:solidFill>
                <a:effectLst/>
                <a:latin typeface="KaTeX_Main"/>
              </a:rPr>
              <a:t>(I</a:t>
            </a:r>
            <a:r>
              <a:rPr lang="en-AU" b="0" i="0" baseline="-25000" dirty="0" smtClean="0">
                <a:solidFill>
                  <a:srgbClr val="444444"/>
                </a:solidFill>
                <a:effectLst/>
                <a:latin typeface="KaTeX_Main"/>
              </a:rPr>
              <a:t>2​</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to be much more </a:t>
            </a:r>
            <a:r>
              <a:rPr lang="en-AU" b="1" i="0" dirty="0" smtClean="0">
                <a:solidFill>
                  <a:srgbClr val="3598DC"/>
                </a:solidFill>
                <a:effectLst/>
                <a:latin typeface="Arial" panose="020B0604020202020204" pitchFamily="34" charset="0"/>
              </a:rPr>
              <a:t>soluble</a:t>
            </a:r>
            <a:r>
              <a:rPr lang="en-AU" b="0" i="0" dirty="0" smtClean="0">
                <a:solidFill>
                  <a:srgbClr val="444444"/>
                </a:solidFill>
                <a:effectLst/>
                <a:latin typeface="Arial" panose="020B0604020202020204" pitchFamily="34" charset="0"/>
              </a:rPr>
              <a:t> in ethanol than in water.</a:t>
            </a:r>
            <a:endParaRPr lang="en-AU" b="0" i="0" dirty="0">
              <a:solidFill>
                <a:srgbClr val="444444"/>
              </a:solidFill>
              <a:effectLst/>
              <a:latin typeface="Arial" panose="020B0604020202020204" pitchFamily="34" charset="0"/>
            </a:endParaRPr>
          </a:p>
        </p:txBody>
      </p:sp>
      <p:pic>
        <p:nvPicPr>
          <p:cNvPr id="22530" name="Picture 2" descr="https://www.educationperfect.com/media/content/Science/1573511384.424381g/1573511382535-3609921743068119-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8275" y="3487737"/>
            <a:ext cx="3800475" cy="2533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2416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200" y="386140"/>
            <a:ext cx="11353800" cy="2031325"/>
          </a:xfrm>
          <a:prstGeom prst="rect">
            <a:avLst/>
          </a:prstGeom>
        </p:spPr>
        <p:txBody>
          <a:bodyPr wrap="square">
            <a:spAutoFit/>
          </a:bodyPr>
          <a:lstStyle/>
          <a:p>
            <a:pPr algn="ctr"/>
            <a:r>
              <a:rPr lang="en-AU" b="1" i="0" dirty="0" smtClean="0">
                <a:solidFill>
                  <a:srgbClr val="3598DC"/>
                </a:solidFill>
                <a:effectLst/>
                <a:latin typeface="Arial" panose="020B0604020202020204" pitchFamily="34" charset="0"/>
              </a:rPr>
              <a:t>Evaporation,</a:t>
            </a:r>
            <a:r>
              <a:rPr lang="en-AU" b="1" i="0" dirty="0" smtClean="0">
                <a:solidFill>
                  <a:srgbClr val="444444"/>
                </a:solidFill>
                <a:effectLst/>
                <a:latin typeface="Arial" panose="020B0604020202020204" pitchFamily="34" charset="0"/>
              </a:rPr>
              <a:t> which is the process of a liquid becoming a gas, occurs at the </a:t>
            </a:r>
            <a:r>
              <a:rPr lang="en-AU" b="1" i="0" dirty="0" smtClean="0">
                <a:solidFill>
                  <a:srgbClr val="571A98"/>
                </a:solidFill>
                <a:effectLst/>
                <a:latin typeface="Arial" panose="020B0604020202020204" pitchFamily="34" charset="0"/>
              </a:rPr>
              <a:t>surface of the liquid.</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When the </a:t>
            </a:r>
            <a:r>
              <a:rPr lang="en-AU" b="1" i="0" dirty="0" smtClean="0">
                <a:solidFill>
                  <a:srgbClr val="3BA486"/>
                </a:solidFill>
                <a:effectLst/>
                <a:latin typeface="Arial" panose="020B0604020202020204" pitchFamily="34" charset="0"/>
              </a:rPr>
              <a:t>particles</a:t>
            </a:r>
            <a:r>
              <a:rPr lang="en-AU" b="0" i="0" dirty="0" smtClean="0">
                <a:solidFill>
                  <a:srgbClr val="444444"/>
                </a:solidFill>
                <a:effectLst/>
                <a:latin typeface="Arial" panose="020B0604020202020204" pitchFamily="34" charset="0"/>
              </a:rPr>
              <a:t> at the surface of the liquid have </a:t>
            </a:r>
            <a:r>
              <a:rPr lang="en-AU" b="1" i="0" dirty="0" smtClean="0">
                <a:solidFill>
                  <a:srgbClr val="571A98"/>
                </a:solidFill>
                <a:effectLst/>
                <a:latin typeface="Arial" panose="020B0604020202020204" pitchFamily="34" charset="0"/>
              </a:rPr>
              <a:t>enough kinetic energy</a:t>
            </a:r>
            <a:r>
              <a:rPr lang="en-AU" b="0" i="0" dirty="0" smtClean="0">
                <a:solidFill>
                  <a:srgbClr val="444444"/>
                </a:solidFill>
                <a:effectLst/>
                <a:latin typeface="Arial" panose="020B0604020202020204" pitchFamily="34" charset="0"/>
              </a:rPr>
              <a:t> to overcome the </a:t>
            </a:r>
            <a:r>
              <a:rPr lang="en-AU" b="1" i="0" dirty="0" smtClean="0">
                <a:solidFill>
                  <a:srgbClr val="3598DC"/>
                </a:solidFill>
                <a:effectLst/>
                <a:latin typeface="Arial" panose="020B0604020202020204" pitchFamily="34" charset="0"/>
              </a:rPr>
              <a:t>intermolecular forces</a:t>
            </a:r>
            <a:r>
              <a:rPr lang="en-AU" b="0" i="0" dirty="0" smtClean="0">
                <a:solidFill>
                  <a:srgbClr val="444444"/>
                </a:solidFill>
                <a:effectLst/>
                <a:latin typeface="Arial" panose="020B0604020202020204" pitchFamily="34" charset="0"/>
              </a:rPr>
              <a:t> between them, they can ‘escape’ the bulk liquid and </a:t>
            </a:r>
            <a:r>
              <a:rPr lang="en-AU" b="1" i="0" dirty="0" smtClean="0">
                <a:solidFill>
                  <a:srgbClr val="3BA486"/>
                </a:solidFill>
                <a:effectLst/>
                <a:latin typeface="Arial" panose="020B0604020202020204" pitchFamily="34" charset="0"/>
              </a:rPr>
              <a:t>become gaseous.</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The </a:t>
            </a:r>
            <a:r>
              <a:rPr lang="en-AU" b="1" i="0" dirty="0" smtClean="0">
                <a:solidFill>
                  <a:srgbClr val="571A98"/>
                </a:solidFill>
                <a:effectLst/>
                <a:latin typeface="Arial" panose="020B0604020202020204" pitchFamily="34" charset="0"/>
              </a:rPr>
              <a:t>stronger</a:t>
            </a:r>
            <a:r>
              <a:rPr lang="en-AU" b="0" i="0" dirty="0" smtClean="0">
                <a:solidFill>
                  <a:srgbClr val="444444"/>
                </a:solidFill>
                <a:effectLst/>
                <a:latin typeface="Arial" panose="020B0604020202020204" pitchFamily="34" charset="0"/>
              </a:rPr>
              <a:t> the intermolecular forces, the </a:t>
            </a:r>
            <a:r>
              <a:rPr lang="en-AU" b="1" i="0" dirty="0" smtClean="0">
                <a:solidFill>
                  <a:srgbClr val="3598DC"/>
                </a:solidFill>
                <a:effectLst/>
                <a:latin typeface="Arial" panose="020B0604020202020204" pitchFamily="34" charset="0"/>
              </a:rPr>
              <a:t>more kinetic energy</a:t>
            </a:r>
            <a:r>
              <a:rPr lang="en-AU" b="0" i="0" dirty="0" smtClean="0">
                <a:solidFill>
                  <a:srgbClr val="444444"/>
                </a:solidFill>
                <a:effectLst/>
                <a:latin typeface="Arial" panose="020B0604020202020204" pitchFamily="34" charset="0"/>
              </a:rPr>
              <a:t> a molecule must possess in order to </a:t>
            </a:r>
            <a:r>
              <a:rPr lang="en-AU" b="1" i="0" dirty="0" smtClean="0">
                <a:solidFill>
                  <a:srgbClr val="3BA486"/>
                </a:solidFill>
                <a:effectLst/>
                <a:latin typeface="Arial" panose="020B0604020202020204" pitchFamily="34" charset="0"/>
              </a:rPr>
              <a:t>break away as a gas.</a:t>
            </a:r>
            <a:endParaRPr lang="en-AU" b="0" i="0" dirty="0">
              <a:solidFill>
                <a:srgbClr val="444444"/>
              </a:solidFill>
              <a:effectLst/>
              <a:latin typeface="Arial" panose="020B0604020202020204" pitchFamily="34" charset="0"/>
            </a:endParaRPr>
          </a:p>
        </p:txBody>
      </p:sp>
      <p:pic>
        <p:nvPicPr>
          <p:cNvPr id="23554" name="Picture 2" descr="https://www.educationperfect.com/media/content/Science/1573600436.410021g/1573600436547-327697661392425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8199" y="2780490"/>
            <a:ext cx="5603875" cy="37377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58253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9100" y="393343"/>
            <a:ext cx="11455400" cy="3139321"/>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When a </a:t>
            </a:r>
            <a:r>
              <a:rPr lang="en-AU" b="1" i="0" dirty="0" smtClean="0">
                <a:solidFill>
                  <a:srgbClr val="3598DC"/>
                </a:solidFill>
                <a:effectLst/>
                <a:latin typeface="Arial" panose="020B0604020202020204" pitchFamily="34" charset="0"/>
              </a:rPr>
              <a:t>liquid</a:t>
            </a:r>
            <a:r>
              <a:rPr lang="en-AU" b="1" i="0" dirty="0" smtClean="0">
                <a:solidFill>
                  <a:srgbClr val="444444"/>
                </a:solidFill>
                <a:effectLst/>
                <a:latin typeface="Arial" panose="020B0604020202020204" pitchFamily="34" charset="0"/>
              </a:rPr>
              <a:t> is in a </a:t>
            </a:r>
            <a:r>
              <a:rPr lang="en-AU" b="1" i="0" dirty="0" smtClean="0">
                <a:solidFill>
                  <a:srgbClr val="E04E50"/>
                </a:solidFill>
                <a:effectLst/>
                <a:latin typeface="Arial" panose="020B0604020202020204" pitchFamily="34" charset="0"/>
              </a:rPr>
              <a:t>closed container,</a:t>
            </a:r>
            <a:r>
              <a:rPr lang="en-AU" b="1" i="0" dirty="0" smtClean="0">
                <a:solidFill>
                  <a:srgbClr val="444444"/>
                </a:solidFill>
                <a:effectLst/>
                <a:latin typeface="Arial" panose="020B0604020202020204" pitchFamily="34" charset="0"/>
              </a:rPr>
              <a:t> the particles that escape the liquid are moving around in the </a:t>
            </a:r>
            <a:r>
              <a:rPr lang="en-AU" b="1" i="0" dirty="0" smtClean="0">
                <a:solidFill>
                  <a:srgbClr val="571A98"/>
                </a:solidFill>
                <a:effectLst/>
                <a:latin typeface="Arial" panose="020B0604020202020204" pitchFamily="34" charset="0"/>
              </a:rPr>
              <a:t>space above</a:t>
            </a:r>
            <a:r>
              <a:rPr lang="en-AU" b="1" i="0" dirty="0" smtClean="0">
                <a:solidFill>
                  <a:srgbClr val="444444"/>
                </a:solidFill>
                <a:effectLst/>
                <a:latin typeface="Arial" panose="020B0604020202020204" pitchFamily="34" charset="0"/>
              </a:rPr>
              <a:t> the liquid.</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These particles </a:t>
            </a:r>
            <a:r>
              <a:rPr lang="en-AU" b="1" i="0" dirty="0" smtClean="0">
                <a:solidFill>
                  <a:srgbClr val="E04E50"/>
                </a:solidFill>
                <a:effectLst/>
                <a:latin typeface="Arial" panose="020B0604020202020204" pitchFamily="34" charset="0"/>
              </a:rPr>
              <a:t>will collide</a:t>
            </a:r>
            <a:r>
              <a:rPr lang="en-AU" b="0" i="0" dirty="0" smtClean="0">
                <a:solidFill>
                  <a:srgbClr val="444444"/>
                </a:solidFill>
                <a:effectLst/>
                <a:latin typeface="Arial" panose="020B0604020202020204" pitchFamily="34" charset="0"/>
              </a:rPr>
              <a:t> with the </a:t>
            </a:r>
            <a:r>
              <a:rPr lang="en-AU" b="1" i="0" dirty="0" smtClean="0">
                <a:solidFill>
                  <a:srgbClr val="571A98"/>
                </a:solidFill>
                <a:effectLst/>
                <a:latin typeface="Arial" panose="020B0604020202020204" pitchFamily="34" charset="0"/>
              </a:rPr>
              <a:t>container walls</a:t>
            </a:r>
            <a:r>
              <a:rPr lang="en-AU" b="0" i="0" dirty="0" smtClean="0">
                <a:solidFill>
                  <a:srgbClr val="444444"/>
                </a:solidFill>
                <a:effectLst/>
                <a:latin typeface="Arial" panose="020B0604020202020204" pitchFamily="34" charset="0"/>
              </a:rPr>
              <a:t> and with </a:t>
            </a:r>
            <a:r>
              <a:rPr lang="en-AU" b="1" i="0" dirty="0" smtClean="0">
                <a:solidFill>
                  <a:srgbClr val="3598DC"/>
                </a:solidFill>
                <a:effectLst/>
                <a:latin typeface="Arial" panose="020B0604020202020204" pitchFamily="34" charset="0"/>
              </a:rPr>
              <a:t>the surface of the liquid.</a:t>
            </a:r>
            <a:r>
              <a:rPr lang="en-AU" b="0" i="0" dirty="0" smtClean="0">
                <a:solidFill>
                  <a:srgbClr val="444444"/>
                </a:solidFill>
                <a:effectLst/>
                <a:latin typeface="Arial" panose="020B0604020202020204" pitchFamily="34" charset="0"/>
              </a:rPr>
              <a:t> Some of the particles that collide with the surface of the liquid will </a:t>
            </a:r>
            <a:r>
              <a:rPr lang="en-AU" b="1" i="0" dirty="0" smtClean="0">
                <a:solidFill>
                  <a:srgbClr val="571A98"/>
                </a:solidFill>
                <a:effectLst/>
                <a:latin typeface="Arial" panose="020B0604020202020204" pitchFamily="34" charset="0"/>
              </a:rPr>
              <a:t>re-form bonds</a:t>
            </a:r>
            <a:r>
              <a:rPr lang="en-AU" b="0" i="0" dirty="0" smtClean="0">
                <a:solidFill>
                  <a:srgbClr val="444444"/>
                </a:solidFill>
                <a:effectLst/>
                <a:latin typeface="Arial" panose="020B0604020202020204" pitchFamily="34" charset="0"/>
              </a:rPr>
              <a:t> with the particles in the liquid and </a:t>
            </a:r>
            <a:r>
              <a:rPr lang="en-AU" b="1" i="0" dirty="0" smtClean="0">
                <a:solidFill>
                  <a:srgbClr val="E04E50"/>
                </a:solidFill>
                <a:effectLst/>
                <a:latin typeface="Arial" panose="020B0604020202020204" pitchFamily="34" charset="0"/>
              </a:rPr>
              <a:t>condense.</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Over time, an </a:t>
            </a:r>
            <a:r>
              <a:rPr lang="en-AU" b="1" i="0" dirty="0" smtClean="0">
                <a:solidFill>
                  <a:srgbClr val="3598DC"/>
                </a:solidFill>
                <a:effectLst/>
                <a:latin typeface="Arial" panose="020B0604020202020204" pitchFamily="34" charset="0"/>
              </a:rPr>
              <a:t>equilibrium</a:t>
            </a:r>
            <a:r>
              <a:rPr lang="en-AU" b="0" i="0" dirty="0" smtClean="0">
                <a:solidFill>
                  <a:srgbClr val="444444"/>
                </a:solidFill>
                <a:effectLst/>
                <a:latin typeface="Arial" panose="020B0604020202020204" pitchFamily="34" charset="0"/>
              </a:rPr>
              <a:t> is reached where the </a:t>
            </a:r>
            <a:r>
              <a:rPr lang="en-AU" b="1" i="0" dirty="0" smtClean="0">
                <a:solidFill>
                  <a:srgbClr val="E04E50"/>
                </a:solidFill>
                <a:effectLst/>
                <a:latin typeface="Arial" panose="020B0604020202020204" pitchFamily="34" charset="0"/>
              </a:rPr>
              <a:t>rate of evaporation</a:t>
            </a:r>
            <a:r>
              <a:rPr lang="en-AU" b="0" i="0" dirty="0" smtClean="0">
                <a:solidFill>
                  <a:srgbClr val="444444"/>
                </a:solidFill>
                <a:effectLst/>
                <a:latin typeface="Arial" panose="020B0604020202020204" pitchFamily="34" charset="0"/>
              </a:rPr>
              <a:t> is equal to the </a:t>
            </a:r>
            <a:r>
              <a:rPr lang="en-AU" b="1" i="0" dirty="0" smtClean="0">
                <a:solidFill>
                  <a:srgbClr val="571A98"/>
                </a:solidFill>
                <a:effectLst/>
                <a:latin typeface="Arial" panose="020B0604020202020204" pitchFamily="34" charset="0"/>
              </a:rPr>
              <a:t>rate of condensation.</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Once equilibrium is reached, there is </a:t>
            </a:r>
            <a:r>
              <a:rPr lang="en-AU" b="1" i="0" dirty="0" smtClean="0">
                <a:solidFill>
                  <a:srgbClr val="E04E50"/>
                </a:solidFill>
                <a:effectLst/>
                <a:latin typeface="Arial" panose="020B0604020202020204" pitchFamily="34" charset="0"/>
              </a:rPr>
              <a:t>no change</a:t>
            </a:r>
            <a:r>
              <a:rPr lang="en-AU" b="0" i="0" dirty="0" smtClean="0">
                <a:solidFill>
                  <a:srgbClr val="444444"/>
                </a:solidFill>
                <a:effectLst/>
                <a:latin typeface="Arial" panose="020B0604020202020204" pitchFamily="34" charset="0"/>
              </a:rPr>
              <a:t> in the amount of gas particles within the container. This creates a </a:t>
            </a:r>
            <a:r>
              <a:rPr lang="en-AU" b="1" i="0" dirty="0" smtClean="0">
                <a:solidFill>
                  <a:srgbClr val="3598DC"/>
                </a:solidFill>
                <a:effectLst/>
                <a:latin typeface="Arial" panose="020B0604020202020204" pitchFamily="34" charset="0"/>
              </a:rPr>
              <a:t>constant pressure</a:t>
            </a:r>
            <a:r>
              <a:rPr lang="en-AU" b="0" i="0" dirty="0" smtClean="0">
                <a:solidFill>
                  <a:srgbClr val="444444"/>
                </a:solidFill>
                <a:effectLst/>
                <a:latin typeface="Arial" panose="020B0604020202020204" pitchFamily="34" charset="0"/>
              </a:rPr>
              <a:t> that is exerted on the container walls by the </a:t>
            </a:r>
            <a:r>
              <a:rPr lang="en-AU" b="1" i="0" dirty="0" smtClean="0">
                <a:solidFill>
                  <a:srgbClr val="571A98"/>
                </a:solidFill>
                <a:effectLst/>
                <a:latin typeface="Arial" panose="020B0604020202020204" pitchFamily="34" charset="0"/>
              </a:rPr>
              <a:t>gaseous particles,</a:t>
            </a:r>
            <a:r>
              <a:rPr lang="en-AU" b="0" i="0" dirty="0" smtClean="0">
                <a:solidFill>
                  <a:srgbClr val="444444"/>
                </a:solidFill>
                <a:effectLst/>
                <a:latin typeface="Arial" panose="020B0604020202020204" pitchFamily="34" charset="0"/>
              </a:rPr>
              <a:t> which is known as </a:t>
            </a:r>
            <a:r>
              <a:rPr lang="en-AU" b="1" i="0" dirty="0" smtClean="0">
                <a:solidFill>
                  <a:srgbClr val="E04E50"/>
                </a:solidFill>
                <a:effectLst/>
                <a:latin typeface="Arial" panose="020B0604020202020204" pitchFamily="34" charset="0"/>
              </a:rPr>
              <a:t>the vapour pressure.</a:t>
            </a:r>
            <a:endParaRPr lang="en-AU" b="0" i="0" dirty="0">
              <a:solidFill>
                <a:srgbClr val="444444"/>
              </a:solidFill>
              <a:effectLst/>
              <a:latin typeface="Arial" panose="020B0604020202020204" pitchFamily="34" charset="0"/>
            </a:endParaRPr>
          </a:p>
        </p:txBody>
      </p:sp>
      <p:pic>
        <p:nvPicPr>
          <p:cNvPr id="24578" name="Picture 2" descr="https://www.educationperfect.com/media/content/Science/1573676836.231941g/1573676833434-571442835352068-800.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63686" y="3697764"/>
            <a:ext cx="2366227" cy="3160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90437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5000" y="295345"/>
            <a:ext cx="11125200" cy="3693319"/>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The </a:t>
            </a:r>
            <a:r>
              <a:rPr lang="en-AU" b="1" i="0" dirty="0" smtClean="0">
                <a:solidFill>
                  <a:srgbClr val="E04E50"/>
                </a:solidFill>
                <a:effectLst/>
                <a:latin typeface="Arial" panose="020B0604020202020204" pitchFamily="34" charset="0"/>
              </a:rPr>
              <a:t>vapour pressure</a:t>
            </a:r>
            <a:r>
              <a:rPr lang="en-AU" b="1" i="0" dirty="0" smtClean="0">
                <a:solidFill>
                  <a:srgbClr val="444444"/>
                </a:solidFill>
                <a:effectLst/>
                <a:latin typeface="Arial" panose="020B0604020202020204" pitchFamily="34" charset="0"/>
              </a:rPr>
              <a:t> of a liquid depends on the strength of the </a:t>
            </a:r>
            <a:r>
              <a:rPr lang="en-AU" b="1" i="0" dirty="0" smtClean="0">
                <a:solidFill>
                  <a:srgbClr val="571A98"/>
                </a:solidFill>
                <a:effectLst/>
                <a:latin typeface="Arial" panose="020B0604020202020204" pitchFamily="34" charset="0"/>
              </a:rPr>
              <a:t>intermolecular forces</a:t>
            </a:r>
            <a:r>
              <a:rPr lang="en-AU" b="1" i="0" dirty="0" smtClean="0">
                <a:solidFill>
                  <a:srgbClr val="444444"/>
                </a:solidFill>
                <a:effectLst/>
                <a:latin typeface="Arial" panose="020B0604020202020204" pitchFamily="34" charset="0"/>
              </a:rPr>
              <a:t> within the </a:t>
            </a:r>
            <a:r>
              <a:rPr lang="en-AU" b="1" i="0" dirty="0" smtClean="0">
                <a:solidFill>
                  <a:srgbClr val="3598DC"/>
                </a:solidFill>
                <a:effectLst/>
                <a:latin typeface="Arial" panose="020B0604020202020204" pitchFamily="34" charset="0"/>
              </a:rPr>
              <a:t>liquid.</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Liquids with </a:t>
            </a:r>
            <a:r>
              <a:rPr lang="en-AU" b="1" i="0" dirty="0" smtClean="0">
                <a:solidFill>
                  <a:srgbClr val="E04E50"/>
                </a:solidFill>
                <a:effectLst/>
                <a:latin typeface="Arial" panose="020B0604020202020204" pitchFamily="34" charset="0"/>
              </a:rPr>
              <a:t>strong intermolecular forces</a:t>
            </a:r>
            <a:r>
              <a:rPr lang="en-AU" b="0" i="0" dirty="0" smtClean="0">
                <a:solidFill>
                  <a:srgbClr val="444444"/>
                </a:solidFill>
                <a:effectLst/>
                <a:latin typeface="Arial" panose="020B0604020202020204" pitchFamily="34" charset="0"/>
              </a:rPr>
              <a:t> will have </a:t>
            </a:r>
            <a:r>
              <a:rPr lang="en-AU" b="1" i="0" dirty="0" smtClean="0">
                <a:solidFill>
                  <a:srgbClr val="3598DC"/>
                </a:solidFill>
                <a:effectLst/>
                <a:latin typeface="Arial" panose="020B0604020202020204" pitchFamily="34" charset="0"/>
              </a:rPr>
              <a:t>lower vapour pressures,</a:t>
            </a:r>
            <a:r>
              <a:rPr lang="en-AU" b="0" i="0" dirty="0" smtClean="0">
                <a:solidFill>
                  <a:srgbClr val="444444"/>
                </a:solidFill>
                <a:effectLst/>
                <a:latin typeface="Arial" panose="020B0604020202020204" pitchFamily="34" charset="0"/>
              </a:rPr>
              <a:t> as fewer particles have </a:t>
            </a:r>
            <a:r>
              <a:rPr lang="en-AU" b="1" i="0" dirty="0" smtClean="0">
                <a:solidFill>
                  <a:srgbClr val="571A98"/>
                </a:solidFill>
                <a:effectLst/>
                <a:latin typeface="Arial" panose="020B0604020202020204" pitchFamily="34" charset="0"/>
              </a:rPr>
              <a:t>enough kinetic energy</a:t>
            </a:r>
            <a:r>
              <a:rPr lang="en-AU" b="0" i="0" dirty="0" smtClean="0">
                <a:solidFill>
                  <a:srgbClr val="444444"/>
                </a:solidFill>
                <a:effectLst/>
                <a:latin typeface="Arial" panose="020B0604020202020204" pitchFamily="34" charset="0"/>
              </a:rPr>
              <a:t> to overcome those forces and enter the gas phase.</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Conversely, liquids with </a:t>
            </a:r>
            <a:r>
              <a:rPr lang="en-AU" b="1" i="0" dirty="0" smtClean="0">
                <a:solidFill>
                  <a:srgbClr val="3598DC"/>
                </a:solidFill>
                <a:effectLst/>
                <a:latin typeface="Arial" panose="020B0604020202020204" pitchFamily="34" charset="0"/>
              </a:rPr>
              <a:t>weak intermolecular forces</a:t>
            </a:r>
            <a:r>
              <a:rPr lang="en-AU" b="0" i="0" dirty="0" smtClean="0">
                <a:solidFill>
                  <a:srgbClr val="444444"/>
                </a:solidFill>
                <a:effectLst/>
                <a:latin typeface="Arial" panose="020B0604020202020204" pitchFamily="34" charset="0"/>
              </a:rPr>
              <a:t> will have </a:t>
            </a:r>
            <a:r>
              <a:rPr lang="en-AU" b="1" i="0" dirty="0" smtClean="0">
                <a:solidFill>
                  <a:srgbClr val="571A98"/>
                </a:solidFill>
                <a:effectLst/>
                <a:latin typeface="Arial" panose="020B0604020202020204" pitchFamily="34" charset="0"/>
              </a:rPr>
              <a:t>high vapour pressures,</a:t>
            </a:r>
            <a:r>
              <a:rPr lang="en-AU" b="0" i="0" dirty="0" smtClean="0">
                <a:solidFill>
                  <a:srgbClr val="444444"/>
                </a:solidFill>
                <a:effectLst/>
                <a:latin typeface="Arial" panose="020B0604020202020204" pitchFamily="34" charset="0"/>
              </a:rPr>
              <a:t> as it is easy for particles to gain </a:t>
            </a:r>
            <a:r>
              <a:rPr lang="en-AU" b="1" i="0" dirty="0" smtClean="0">
                <a:solidFill>
                  <a:srgbClr val="E04E50"/>
                </a:solidFill>
                <a:effectLst/>
                <a:latin typeface="Arial" panose="020B0604020202020204" pitchFamily="34" charset="0"/>
              </a:rPr>
              <a:t>enough kinetic energy</a:t>
            </a:r>
            <a:r>
              <a:rPr lang="en-AU" b="0" i="0" dirty="0" smtClean="0">
                <a:solidFill>
                  <a:srgbClr val="444444"/>
                </a:solidFill>
                <a:effectLst/>
                <a:latin typeface="Arial" panose="020B0604020202020204" pitchFamily="34" charset="0"/>
              </a:rPr>
              <a:t> to overcome the intermolecular forces and enter the gas phase.</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In the example below, a </a:t>
            </a:r>
            <a:r>
              <a:rPr lang="en-AU" b="1" i="0" dirty="0" smtClean="0">
                <a:solidFill>
                  <a:srgbClr val="571A98"/>
                </a:solidFill>
                <a:effectLst/>
                <a:latin typeface="Arial" panose="020B0604020202020204" pitchFamily="34" charset="0"/>
              </a:rPr>
              <a:t>non-polar liquid</a:t>
            </a:r>
            <a:r>
              <a:rPr lang="en-AU" b="0" i="0" dirty="0" smtClean="0">
                <a:solidFill>
                  <a:srgbClr val="444444"/>
                </a:solidFill>
                <a:effectLst/>
                <a:latin typeface="Arial" panose="020B0604020202020204" pitchFamily="34" charset="0"/>
              </a:rPr>
              <a:t> (iodine) and </a:t>
            </a:r>
            <a:r>
              <a:rPr lang="en-AU" b="1" i="0" dirty="0" smtClean="0">
                <a:solidFill>
                  <a:srgbClr val="E04E50"/>
                </a:solidFill>
                <a:effectLst/>
                <a:latin typeface="Arial" panose="020B0604020202020204" pitchFamily="34" charset="0"/>
              </a:rPr>
              <a:t>polar liquid</a:t>
            </a:r>
            <a:r>
              <a:rPr lang="en-AU" b="0" i="0" dirty="0" smtClean="0">
                <a:solidFill>
                  <a:srgbClr val="444444"/>
                </a:solidFill>
                <a:effectLst/>
                <a:latin typeface="Arial" panose="020B0604020202020204" pitchFamily="34" charset="0"/>
              </a:rPr>
              <a:t> (water) are shown. Because iodine has </a:t>
            </a:r>
            <a:r>
              <a:rPr lang="en-AU" b="1" i="0" dirty="0" smtClean="0">
                <a:solidFill>
                  <a:srgbClr val="3598DC"/>
                </a:solidFill>
                <a:effectLst/>
                <a:latin typeface="Arial" panose="020B0604020202020204" pitchFamily="34" charset="0"/>
              </a:rPr>
              <a:t>weaker intermolecular forces,</a:t>
            </a:r>
            <a:r>
              <a:rPr lang="en-AU" b="0" i="0" dirty="0" smtClean="0">
                <a:solidFill>
                  <a:srgbClr val="444444"/>
                </a:solidFill>
                <a:effectLst/>
                <a:latin typeface="Arial" panose="020B0604020202020204" pitchFamily="34" charset="0"/>
              </a:rPr>
              <a:t> it will have </a:t>
            </a:r>
            <a:r>
              <a:rPr lang="en-AU" b="1" i="0" dirty="0" smtClean="0">
                <a:solidFill>
                  <a:srgbClr val="571A98"/>
                </a:solidFill>
                <a:effectLst/>
                <a:latin typeface="Arial" panose="020B0604020202020204" pitchFamily="34" charset="0"/>
              </a:rPr>
              <a:t>more molecules in the gas phase</a:t>
            </a:r>
            <a:r>
              <a:rPr lang="en-AU" b="0" i="0" dirty="0" smtClean="0">
                <a:solidFill>
                  <a:srgbClr val="444444"/>
                </a:solidFill>
                <a:effectLst/>
                <a:latin typeface="Arial" panose="020B0604020202020204" pitchFamily="34" charset="0"/>
              </a:rPr>
              <a:t> compared to water. This means that iodine would have a </a:t>
            </a:r>
            <a:r>
              <a:rPr lang="en-AU" b="1" i="0" dirty="0" smtClean="0">
                <a:solidFill>
                  <a:srgbClr val="E04E50"/>
                </a:solidFill>
                <a:effectLst/>
                <a:latin typeface="Arial" panose="020B0604020202020204" pitchFamily="34" charset="0"/>
              </a:rPr>
              <a:t>higher vapour pressure</a:t>
            </a:r>
            <a:r>
              <a:rPr lang="en-AU" b="0" i="0" dirty="0" smtClean="0">
                <a:solidFill>
                  <a:srgbClr val="444444"/>
                </a:solidFill>
                <a:effectLst/>
                <a:latin typeface="Arial" panose="020B0604020202020204" pitchFamily="34" charset="0"/>
              </a:rPr>
              <a:t> than water, as there are more gaseous molecules exerting pressure on the container.</a:t>
            </a:r>
            <a:endParaRPr lang="en-AU" b="0" i="0" dirty="0">
              <a:solidFill>
                <a:srgbClr val="444444"/>
              </a:solidFill>
              <a:effectLst/>
              <a:latin typeface="Arial" panose="020B0604020202020204" pitchFamily="34" charset="0"/>
            </a:endParaRPr>
          </a:p>
        </p:txBody>
      </p:sp>
      <p:pic>
        <p:nvPicPr>
          <p:cNvPr id="25602" name="Picture 2" descr="Comparing Vapour Pressur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7800" y="4079014"/>
            <a:ext cx="4740274" cy="2778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6493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3700" y="416342"/>
            <a:ext cx="11544300" cy="3139321"/>
          </a:xfrm>
          <a:prstGeom prst="rect">
            <a:avLst/>
          </a:prstGeom>
        </p:spPr>
        <p:txBody>
          <a:bodyPr wrap="square">
            <a:spAutoFit/>
          </a:bodyPr>
          <a:lstStyle/>
          <a:p>
            <a:pPr algn="ctr"/>
            <a:r>
              <a:rPr lang="en-AU" b="1" i="0" dirty="0" smtClean="0">
                <a:solidFill>
                  <a:srgbClr val="571A98"/>
                </a:solidFill>
                <a:effectLst/>
                <a:latin typeface="Arial" panose="020B0604020202020204" pitchFamily="34" charset="0"/>
              </a:rPr>
              <a:t>Vapour pressure</a:t>
            </a:r>
            <a:r>
              <a:rPr lang="en-AU" b="1" i="0" dirty="0" smtClean="0">
                <a:solidFill>
                  <a:srgbClr val="444444"/>
                </a:solidFill>
                <a:effectLst/>
                <a:latin typeface="Arial" panose="020B0604020202020204" pitchFamily="34" charset="0"/>
              </a:rPr>
              <a:t> increases with </a:t>
            </a:r>
            <a:r>
              <a:rPr lang="en-AU" b="1" i="0" dirty="0" smtClean="0">
                <a:solidFill>
                  <a:srgbClr val="3598DC"/>
                </a:solidFill>
                <a:effectLst/>
                <a:latin typeface="Arial" panose="020B0604020202020204" pitchFamily="34" charset="0"/>
              </a:rPr>
              <a:t>temperature,</a:t>
            </a:r>
            <a:r>
              <a:rPr lang="en-AU" b="1" i="0" dirty="0" smtClean="0">
                <a:solidFill>
                  <a:srgbClr val="444444"/>
                </a:solidFill>
                <a:effectLst/>
                <a:latin typeface="Arial" panose="020B0604020202020204" pitchFamily="34" charset="0"/>
              </a:rPr>
              <a:t> as more and more particles gain enough </a:t>
            </a:r>
            <a:r>
              <a:rPr lang="en-AU" b="1" i="0" dirty="0" smtClean="0">
                <a:solidFill>
                  <a:srgbClr val="3BA486"/>
                </a:solidFill>
                <a:effectLst/>
                <a:latin typeface="Arial" panose="020B0604020202020204" pitchFamily="34" charset="0"/>
              </a:rPr>
              <a:t>kinetic energy</a:t>
            </a:r>
            <a:r>
              <a:rPr lang="en-AU" b="1" i="0" dirty="0" smtClean="0">
                <a:solidFill>
                  <a:srgbClr val="444444"/>
                </a:solidFill>
                <a:effectLst/>
                <a:latin typeface="Arial" panose="020B0604020202020204" pitchFamily="34" charset="0"/>
              </a:rPr>
              <a:t> to overcome the intermolecular forces within the liquid.</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When the </a:t>
            </a:r>
            <a:r>
              <a:rPr lang="en-AU" b="1" i="0" dirty="0" smtClean="0">
                <a:solidFill>
                  <a:srgbClr val="3BA486"/>
                </a:solidFill>
                <a:effectLst/>
                <a:latin typeface="Arial" panose="020B0604020202020204" pitchFamily="34" charset="0"/>
              </a:rPr>
              <a:t>vapour pressure of a liquid</a:t>
            </a:r>
            <a:r>
              <a:rPr lang="en-AU" b="0" i="0" dirty="0" smtClean="0">
                <a:solidFill>
                  <a:srgbClr val="444444"/>
                </a:solidFill>
                <a:effectLst/>
                <a:latin typeface="Arial" panose="020B0604020202020204" pitchFamily="34" charset="0"/>
              </a:rPr>
              <a:t> becomes equal to the </a:t>
            </a:r>
            <a:r>
              <a:rPr lang="en-AU" b="1" i="0" dirty="0" smtClean="0">
                <a:solidFill>
                  <a:srgbClr val="3598DC"/>
                </a:solidFill>
                <a:effectLst/>
                <a:latin typeface="Arial" panose="020B0604020202020204" pitchFamily="34" charset="0"/>
              </a:rPr>
              <a:t>atmospheric pressure of its surroundings,</a:t>
            </a:r>
            <a:r>
              <a:rPr lang="en-AU" b="0" i="0" dirty="0" smtClean="0">
                <a:solidFill>
                  <a:srgbClr val="444444"/>
                </a:solidFill>
                <a:effectLst/>
                <a:latin typeface="Arial" panose="020B0604020202020204" pitchFamily="34" charset="0"/>
              </a:rPr>
              <a:t> it begins to boil. The temperature at which vapour pressure becomes </a:t>
            </a:r>
            <a:r>
              <a:rPr lang="en-AU" b="1" i="0" dirty="0" smtClean="0">
                <a:solidFill>
                  <a:srgbClr val="571A98"/>
                </a:solidFill>
                <a:effectLst/>
                <a:latin typeface="Arial" panose="020B0604020202020204" pitchFamily="34" charset="0"/>
              </a:rPr>
              <a:t>equal</a:t>
            </a:r>
            <a:r>
              <a:rPr lang="en-AU" b="0" i="0" dirty="0" smtClean="0">
                <a:solidFill>
                  <a:srgbClr val="444444"/>
                </a:solidFill>
                <a:effectLst/>
                <a:latin typeface="Arial" panose="020B0604020202020204" pitchFamily="34" charset="0"/>
              </a:rPr>
              <a:t> to the atmospheric pressure is known as the </a:t>
            </a:r>
            <a:r>
              <a:rPr lang="en-AU" b="1" i="0" dirty="0" smtClean="0">
                <a:solidFill>
                  <a:srgbClr val="3598DC"/>
                </a:solidFill>
                <a:effectLst/>
                <a:latin typeface="Arial" panose="020B0604020202020204" pitchFamily="34" charset="0"/>
              </a:rPr>
              <a:t>boiling point.</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This allows molecules to enter the </a:t>
            </a:r>
            <a:r>
              <a:rPr lang="en-AU" b="1" i="0" dirty="0" smtClean="0">
                <a:solidFill>
                  <a:srgbClr val="571A98"/>
                </a:solidFill>
                <a:effectLst/>
                <a:latin typeface="Arial" panose="020B0604020202020204" pitchFamily="34" charset="0"/>
              </a:rPr>
              <a:t>gaseous state</a:t>
            </a:r>
            <a:r>
              <a:rPr lang="en-AU" b="0" i="0" dirty="0" smtClean="0">
                <a:solidFill>
                  <a:srgbClr val="444444"/>
                </a:solidFill>
                <a:effectLst/>
                <a:latin typeface="Arial" panose="020B0604020202020204" pitchFamily="34" charset="0"/>
              </a:rPr>
              <a:t> from anywhere in the </a:t>
            </a:r>
            <a:r>
              <a:rPr lang="en-AU" b="1" i="0" dirty="0" smtClean="0">
                <a:solidFill>
                  <a:srgbClr val="3598DC"/>
                </a:solidFill>
                <a:effectLst/>
                <a:latin typeface="Arial" panose="020B0604020202020204" pitchFamily="34" charset="0"/>
              </a:rPr>
              <a:t>bulk liquid,</a:t>
            </a:r>
            <a:r>
              <a:rPr lang="en-AU" b="0" i="0" dirty="0" smtClean="0">
                <a:solidFill>
                  <a:srgbClr val="444444"/>
                </a:solidFill>
                <a:effectLst/>
                <a:latin typeface="Arial" panose="020B0604020202020204" pitchFamily="34" charset="0"/>
              </a:rPr>
              <a:t> not just the surface, which is why </a:t>
            </a:r>
            <a:r>
              <a:rPr lang="en-AU" b="1" i="0" dirty="0" smtClean="0">
                <a:solidFill>
                  <a:srgbClr val="3BA486"/>
                </a:solidFill>
                <a:effectLst/>
                <a:latin typeface="Arial" panose="020B0604020202020204" pitchFamily="34" charset="0"/>
              </a:rPr>
              <a:t>bubbles form</a:t>
            </a:r>
            <a:r>
              <a:rPr lang="en-AU" b="0" i="0" dirty="0" smtClean="0">
                <a:solidFill>
                  <a:srgbClr val="444444"/>
                </a:solidFill>
                <a:effectLst/>
                <a:latin typeface="Arial" panose="020B0604020202020204" pitchFamily="34" charset="0"/>
              </a:rPr>
              <a:t> in a boiling liquid.</a:t>
            </a:r>
          </a:p>
          <a:p>
            <a:r>
              <a:rPr lang="en-AU" b="0" i="0" dirty="0" smtClean="0">
                <a:solidFill>
                  <a:srgbClr val="444444"/>
                </a:solidFill>
                <a:effectLst/>
                <a:latin typeface="Arial" panose="020B0604020202020204" pitchFamily="34" charset="0"/>
              </a:rPr>
              <a:t/>
            </a:r>
            <a:br>
              <a:rPr lang="en-AU" b="0" i="0" dirty="0" smtClean="0">
                <a:solidFill>
                  <a:srgbClr val="444444"/>
                </a:solidFill>
                <a:effectLst/>
                <a:latin typeface="Arial" panose="020B0604020202020204" pitchFamily="34" charset="0"/>
              </a:rPr>
            </a:br>
            <a:endParaRPr lang="en-AU" dirty="0"/>
          </a:p>
        </p:txBody>
      </p:sp>
      <p:pic>
        <p:nvPicPr>
          <p:cNvPr id="26626" name="Picture 2" descr="https://www.educationperfect.com/media/content/English%20&amp;%20Literature/1592187438.468381g/1592187438662-312005052694076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0718" y="3251200"/>
            <a:ext cx="3370263" cy="3370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6755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337741"/>
            <a:ext cx="11010900" cy="2585323"/>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The </a:t>
            </a:r>
            <a:r>
              <a:rPr lang="en-AU" b="1" i="0" dirty="0" smtClean="0">
                <a:solidFill>
                  <a:srgbClr val="E04E50"/>
                </a:solidFill>
                <a:effectLst/>
                <a:latin typeface="Arial" panose="020B0604020202020204" pitchFamily="34" charset="0"/>
              </a:rPr>
              <a:t>intermolecular forces</a:t>
            </a:r>
            <a:r>
              <a:rPr lang="en-AU" b="1" i="0" dirty="0" smtClean="0">
                <a:solidFill>
                  <a:srgbClr val="444444"/>
                </a:solidFill>
                <a:effectLst/>
                <a:latin typeface="Arial" panose="020B0604020202020204" pitchFamily="34" charset="0"/>
              </a:rPr>
              <a:t> in molecular substances are </a:t>
            </a:r>
            <a:r>
              <a:rPr lang="en-AU" b="1" i="0" dirty="0" smtClean="0">
                <a:solidFill>
                  <a:srgbClr val="3598DC"/>
                </a:solidFill>
                <a:effectLst/>
                <a:latin typeface="Arial" panose="020B0604020202020204" pitchFamily="34" charset="0"/>
              </a:rPr>
              <a:t>weak</a:t>
            </a:r>
            <a:r>
              <a:rPr lang="en-AU" b="1" i="0" dirty="0" smtClean="0">
                <a:solidFill>
                  <a:srgbClr val="444444"/>
                </a:solidFill>
                <a:effectLst/>
                <a:latin typeface="Arial" panose="020B0604020202020204" pitchFamily="34" charset="0"/>
              </a:rPr>
              <a:t> compared to </a:t>
            </a:r>
            <a:r>
              <a:rPr lang="en-AU" b="1" i="0" dirty="0" smtClean="0">
                <a:solidFill>
                  <a:srgbClr val="571A98"/>
                </a:solidFill>
                <a:effectLst/>
                <a:latin typeface="Arial" panose="020B0604020202020204" pitchFamily="34" charset="0"/>
              </a:rPr>
              <a:t>other substances</a:t>
            </a:r>
            <a:r>
              <a:rPr lang="en-AU" b="1" i="0" dirty="0" smtClean="0">
                <a:solidFill>
                  <a:srgbClr val="444444"/>
                </a:solidFill>
                <a:effectLst/>
                <a:latin typeface="Arial" panose="020B0604020202020204" pitchFamily="34" charset="0"/>
              </a:rPr>
              <a:t> such as ionic or metallic substances.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These </a:t>
            </a:r>
            <a:r>
              <a:rPr lang="en-AU" b="1" i="0" dirty="0" smtClean="0">
                <a:solidFill>
                  <a:srgbClr val="E04E50"/>
                </a:solidFill>
                <a:effectLst/>
                <a:latin typeface="Arial" panose="020B0604020202020204" pitchFamily="34" charset="0"/>
              </a:rPr>
              <a:t>intermolecular forces</a:t>
            </a:r>
            <a:r>
              <a:rPr lang="en-AU" b="0" i="0" dirty="0" smtClean="0">
                <a:solidFill>
                  <a:srgbClr val="444444"/>
                </a:solidFill>
                <a:effectLst/>
                <a:latin typeface="Arial" panose="020B0604020202020204" pitchFamily="34" charset="0"/>
              </a:rPr>
              <a:t> require </a:t>
            </a:r>
            <a:r>
              <a:rPr lang="en-AU" b="1" i="0" dirty="0" smtClean="0">
                <a:solidFill>
                  <a:srgbClr val="571A98"/>
                </a:solidFill>
                <a:effectLst/>
                <a:latin typeface="Arial" panose="020B0604020202020204" pitchFamily="34" charset="0"/>
              </a:rPr>
              <a:t>lower energy</a:t>
            </a:r>
            <a:r>
              <a:rPr lang="en-AU" b="0" i="0" dirty="0" smtClean="0">
                <a:solidFill>
                  <a:srgbClr val="444444"/>
                </a:solidFill>
                <a:effectLst/>
                <a:latin typeface="Arial" panose="020B0604020202020204" pitchFamily="34" charset="0"/>
              </a:rPr>
              <a:t> input to break, and due to this, molecular substances tend to have </a:t>
            </a:r>
            <a:r>
              <a:rPr lang="en-AU" b="1" i="0" dirty="0" smtClean="0">
                <a:solidFill>
                  <a:srgbClr val="3598DC"/>
                </a:solidFill>
                <a:effectLst/>
                <a:latin typeface="Arial" panose="020B0604020202020204" pitchFamily="34" charset="0"/>
              </a:rPr>
              <a:t>lower melting and boiling points.</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At the </a:t>
            </a:r>
            <a:r>
              <a:rPr lang="en-AU" b="1" i="0" dirty="0" smtClean="0">
                <a:solidFill>
                  <a:srgbClr val="3598DC"/>
                </a:solidFill>
                <a:effectLst/>
                <a:latin typeface="Arial" panose="020B0604020202020204" pitchFamily="34" charset="0"/>
              </a:rPr>
              <a:t>melting point,</a:t>
            </a:r>
            <a:r>
              <a:rPr lang="en-AU" b="0" i="0" dirty="0" smtClean="0">
                <a:solidFill>
                  <a:srgbClr val="444444"/>
                </a:solidFill>
                <a:effectLst/>
                <a:latin typeface="Arial" panose="020B0604020202020204" pitchFamily="34" charset="0"/>
              </a:rPr>
              <a:t> enough intermolecular forces are </a:t>
            </a:r>
            <a:r>
              <a:rPr lang="en-AU" b="1" i="0" dirty="0" smtClean="0">
                <a:solidFill>
                  <a:srgbClr val="E04E50"/>
                </a:solidFill>
                <a:effectLst/>
                <a:latin typeface="Arial" panose="020B0604020202020204" pitchFamily="34" charset="0"/>
              </a:rPr>
              <a:t>broken</a:t>
            </a:r>
            <a:r>
              <a:rPr lang="en-AU" b="0" i="0" dirty="0" smtClean="0">
                <a:solidFill>
                  <a:srgbClr val="444444"/>
                </a:solidFill>
                <a:effectLst/>
                <a:latin typeface="Arial" panose="020B0604020202020204" pitchFamily="34" charset="0"/>
              </a:rPr>
              <a:t> between molecules to allow them to become a liquid. At the </a:t>
            </a:r>
            <a:r>
              <a:rPr lang="en-AU" b="1" i="0" dirty="0" smtClean="0">
                <a:solidFill>
                  <a:srgbClr val="571A98"/>
                </a:solidFill>
                <a:effectLst/>
                <a:latin typeface="Arial" panose="020B0604020202020204" pitchFamily="34" charset="0"/>
              </a:rPr>
              <a:t>boiling point,</a:t>
            </a:r>
            <a:r>
              <a:rPr lang="en-AU" b="0" i="0" dirty="0" smtClean="0">
                <a:solidFill>
                  <a:srgbClr val="444444"/>
                </a:solidFill>
                <a:effectLst/>
                <a:latin typeface="Arial" panose="020B0604020202020204" pitchFamily="34" charset="0"/>
              </a:rPr>
              <a:t> all intermolecular forces are </a:t>
            </a:r>
            <a:r>
              <a:rPr lang="en-AU" b="1" i="0" dirty="0" smtClean="0">
                <a:solidFill>
                  <a:srgbClr val="E04E50"/>
                </a:solidFill>
                <a:effectLst/>
                <a:latin typeface="Arial" panose="020B0604020202020204" pitchFamily="34" charset="0"/>
              </a:rPr>
              <a:t>broken between molecules,</a:t>
            </a:r>
            <a:r>
              <a:rPr lang="en-AU" b="0" i="0" dirty="0" smtClean="0">
                <a:solidFill>
                  <a:srgbClr val="444444"/>
                </a:solidFill>
                <a:effectLst/>
                <a:latin typeface="Arial" panose="020B0604020202020204" pitchFamily="34" charset="0"/>
              </a:rPr>
              <a:t> allowing them to become gaseous.</a:t>
            </a:r>
            <a:endParaRPr lang="en-AU" b="0" i="0" dirty="0">
              <a:solidFill>
                <a:srgbClr val="444444"/>
              </a:solidFill>
              <a:effectLst/>
              <a:latin typeface="Arial" panose="020B0604020202020204" pitchFamily="34" charset="0"/>
            </a:endParaRPr>
          </a:p>
        </p:txBody>
      </p:sp>
      <p:pic>
        <p:nvPicPr>
          <p:cNvPr id="27650" name="Picture 2" descr="https://www.educationperfect.com/media/content/Science/1572390693.527351g/1572390692506-2296885603674831-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8113" y="2354262"/>
            <a:ext cx="6237288" cy="300545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117600" y="5436228"/>
            <a:ext cx="9918700" cy="1200329"/>
          </a:xfrm>
          <a:prstGeom prst="rect">
            <a:avLst/>
          </a:prstGeom>
        </p:spPr>
        <p:txBody>
          <a:bodyPr wrap="square">
            <a:spAutoFit/>
          </a:bodyPr>
          <a:lstStyle/>
          <a:p>
            <a:r>
              <a:rPr lang="en-AU" b="0" i="1" dirty="0" smtClean="0">
                <a:solidFill>
                  <a:srgbClr val="444444"/>
                </a:solidFill>
                <a:effectLst/>
                <a:latin typeface="Arial" panose="020B0604020202020204" pitchFamily="34" charset="0"/>
              </a:rPr>
              <a:t>When water is solid, there are many intermolecular forces between the molecules (shown by the dotted lines), holding them in place. When it melts, some of the intermolecular forces break, allowing the water molecules to move around more. Once water becomes a gas, all intermolecular forces are broken and the molecules are completely free to move.</a:t>
            </a:r>
            <a:endParaRPr lang="en-AU" dirty="0"/>
          </a:p>
        </p:txBody>
      </p:sp>
    </p:spTree>
    <p:extLst>
      <p:ext uri="{BB962C8B-B14F-4D97-AF65-F5344CB8AC3E}">
        <p14:creationId xmlns:p14="http://schemas.microsoft.com/office/powerpoint/2010/main" val="40657374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271145"/>
            <a:ext cx="11531600" cy="3693319"/>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Molecular substances that are </a:t>
            </a:r>
            <a:r>
              <a:rPr lang="en-AU" b="1" i="0" dirty="0" smtClean="0">
                <a:solidFill>
                  <a:srgbClr val="3598DC"/>
                </a:solidFill>
                <a:effectLst/>
                <a:latin typeface="Arial" panose="020B0604020202020204" pitchFamily="34" charset="0"/>
              </a:rPr>
              <a:t>non-polar</a:t>
            </a:r>
            <a:r>
              <a:rPr lang="en-AU" b="1" i="0" dirty="0" smtClean="0">
                <a:solidFill>
                  <a:srgbClr val="444444"/>
                </a:solidFill>
                <a:effectLst/>
                <a:latin typeface="Arial" panose="020B0604020202020204" pitchFamily="34" charset="0"/>
              </a:rPr>
              <a:t> will only have </a:t>
            </a:r>
            <a:r>
              <a:rPr lang="en-AU" b="1" i="0" dirty="0" smtClean="0">
                <a:solidFill>
                  <a:srgbClr val="FF7F50"/>
                </a:solidFill>
                <a:effectLst/>
                <a:latin typeface="Arial" panose="020B0604020202020204" pitchFamily="34" charset="0"/>
              </a:rPr>
              <a:t>dispersion forces.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These are the </a:t>
            </a:r>
            <a:r>
              <a:rPr lang="en-AU" b="1" i="0" dirty="0" smtClean="0">
                <a:solidFill>
                  <a:srgbClr val="571A98"/>
                </a:solidFill>
                <a:effectLst/>
                <a:latin typeface="Arial" panose="020B0604020202020204" pitchFamily="34" charset="0"/>
              </a:rPr>
              <a:t>weakest kind of intermolecular force,</a:t>
            </a:r>
            <a:r>
              <a:rPr lang="en-AU" b="0" i="0" dirty="0" smtClean="0">
                <a:solidFill>
                  <a:srgbClr val="444444"/>
                </a:solidFill>
                <a:effectLst/>
                <a:latin typeface="Arial" panose="020B0604020202020204" pitchFamily="34" charset="0"/>
              </a:rPr>
              <a:t> and will result in molecules with the </a:t>
            </a:r>
            <a:r>
              <a:rPr lang="en-AU" b="1" i="0" dirty="0" smtClean="0">
                <a:solidFill>
                  <a:srgbClr val="3598DC"/>
                </a:solidFill>
                <a:effectLst/>
                <a:latin typeface="Arial" panose="020B0604020202020204" pitchFamily="34" charset="0"/>
              </a:rPr>
              <a:t>lowest melting and boiling points.</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Dispersion forces </a:t>
            </a:r>
            <a:r>
              <a:rPr lang="en-AU" b="1" i="0" dirty="0" smtClean="0">
                <a:solidFill>
                  <a:srgbClr val="571A98"/>
                </a:solidFill>
                <a:effectLst/>
                <a:latin typeface="Arial" panose="020B0604020202020204" pitchFamily="34" charset="0"/>
              </a:rPr>
              <a:t>increase with molar mass,</a:t>
            </a:r>
            <a:r>
              <a:rPr lang="en-AU" b="0" i="0" dirty="0" smtClean="0">
                <a:solidFill>
                  <a:srgbClr val="444444"/>
                </a:solidFill>
                <a:effectLst/>
                <a:latin typeface="Arial" panose="020B0604020202020204" pitchFamily="34" charset="0"/>
              </a:rPr>
              <a:t> as the molecule has </a:t>
            </a:r>
            <a:r>
              <a:rPr lang="en-AU" b="1" i="0" dirty="0" smtClean="0">
                <a:solidFill>
                  <a:srgbClr val="3598DC"/>
                </a:solidFill>
                <a:effectLst/>
                <a:latin typeface="Arial" panose="020B0604020202020204" pitchFamily="34" charset="0"/>
              </a:rPr>
              <a:t>larger electron clouds</a:t>
            </a:r>
            <a:r>
              <a:rPr lang="en-AU" b="0" i="0" dirty="0" smtClean="0">
                <a:solidFill>
                  <a:srgbClr val="444444"/>
                </a:solidFill>
                <a:effectLst/>
                <a:latin typeface="Arial" panose="020B0604020202020204" pitchFamily="34" charset="0"/>
              </a:rPr>
              <a:t> and thus greater temporary dipoles. Molecules with similar molar masses can have </a:t>
            </a:r>
            <a:r>
              <a:rPr lang="en-AU" b="1" i="0" dirty="0" smtClean="0">
                <a:solidFill>
                  <a:srgbClr val="FF7F50"/>
                </a:solidFill>
                <a:effectLst/>
                <a:latin typeface="Arial" panose="020B0604020202020204" pitchFamily="34" charset="0"/>
              </a:rPr>
              <a:t>different numbers of electrons.</a:t>
            </a:r>
            <a:r>
              <a:rPr lang="en-AU" b="0" i="0" dirty="0" smtClean="0">
                <a:solidFill>
                  <a:srgbClr val="444444"/>
                </a:solidFill>
                <a:effectLst/>
                <a:latin typeface="Arial" panose="020B0604020202020204" pitchFamily="34" charset="0"/>
              </a:rPr>
              <a:t> The molecule with more electrons will be </a:t>
            </a:r>
            <a:r>
              <a:rPr lang="en-AU" b="1" i="0" dirty="0" smtClean="0">
                <a:solidFill>
                  <a:srgbClr val="571A98"/>
                </a:solidFill>
                <a:effectLst/>
                <a:latin typeface="Arial" panose="020B0604020202020204" pitchFamily="34" charset="0"/>
              </a:rPr>
              <a:t>more polarisable</a:t>
            </a:r>
            <a:r>
              <a:rPr lang="en-AU" b="0" i="0" dirty="0" smtClean="0">
                <a:solidFill>
                  <a:srgbClr val="444444"/>
                </a:solidFill>
                <a:effectLst/>
                <a:latin typeface="Arial" panose="020B0604020202020204" pitchFamily="34" charset="0"/>
              </a:rPr>
              <a:t> and thus have </a:t>
            </a:r>
            <a:r>
              <a:rPr lang="en-AU" b="1" i="0" dirty="0" smtClean="0">
                <a:solidFill>
                  <a:srgbClr val="3598DC"/>
                </a:solidFill>
                <a:effectLst/>
                <a:latin typeface="Arial" panose="020B0604020202020204" pitchFamily="34" charset="0"/>
              </a:rPr>
              <a:t>greater dispersion forces.</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1" i="0" dirty="0" err="1" smtClean="0">
                <a:solidFill>
                  <a:srgbClr val="999999"/>
                </a:solidFill>
                <a:effectLst/>
                <a:latin typeface="Arial" panose="020B0604020202020204" pitchFamily="34" charset="0"/>
              </a:rPr>
              <a:t>Polarisablility</a:t>
            </a:r>
            <a:r>
              <a:rPr lang="en-AU" b="1" i="0" dirty="0" smtClean="0">
                <a:solidFill>
                  <a:srgbClr val="999999"/>
                </a:solidFill>
                <a:effectLst/>
                <a:latin typeface="Arial" panose="020B0604020202020204" pitchFamily="34" charset="0"/>
              </a:rPr>
              <a:t> is the measure of how easily a temporary dipole can be induced within a molecule.</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This means that </a:t>
            </a:r>
            <a:r>
              <a:rPr lang="en-AU" b="1" i="0" dirty="0" smtClean="0">
                <a:solidFill>
                  <a:srgbClr val="571A98"/>
                </a:solidFill>
                <a:effectLst/>
                <a:latin typeface="Arial" panose="020B0604020202020204" pitchFamily="34" charset="0"/>
              </a:rPr>
              <a:t>non-polar substances</a:t>
            </a:r>
            <a:r>
              <a:rPr lang="en-AU" b="0" i="0" dirty="0" smtClean="0">
                <a:solidFill>
                  <a:srgbClr val="444444"/>
                </a:solidFill>
                <a:effectLst/>
                <a:latin typeface="Arial" panose="020B0604020202020204" pitchFamily="34" charset="0"/>
              </a:rPr>
              <a:t> will have </a:t>
            </a:r>
            <a:r>
              <a:rPr lang="en-AU" b="1" i="0" dirty="0" smtClean="0">
                <a:solidFill>
                  <a:srgbClr val="FF7F50"/>
                </a:solidFill>
                <a:effectLst/>
                <a:latin typeface="Arial" panose="020B0604020202020204" pitchFamily="34" charset="0"/>
              </a:rPr>
              <a:t>increasing melting and boiling points</a:t>
            </a:r>
            <a:r>
              <a:rPr lang="en-AU" b="0" i="0" dirty="0" smtClean="0">
                <a:solidFill>
                  <a:srgbClr val="444444"/>
                </a:solidFill>
                <a:effectLst/>
                <a:latin typeface="Arial" panose="020B0604020202020204" pitchFamily="34" charset="0"/>
              </a:rPr>
              <a:t> as their </a:t>
            </a:r>
            <a:r>
              <a:rPr lang="en-AU" b="1" i="0" dirty="0" smtClean="0">
                <a:solidFill>
                  <a:srgbClr val="3598DC"/>
                </a:solidFill>
                <a:effectLst/>
                <a:latin typeface="Arial" panose="020B0604020202020204" pitchFamily="34" charset="0"/>
              </a:rPr>
              <a:t>mass increases,</a:t>
            </a:r>
            <a:r>
              <a:rPr lang="en-AU" b="0" i="0" dirty="0" smtClean="0">
                <a:solidFill>
                  <a:srgbClr val="444444"/>
                </a:solidFill>
                <a:effectLst/>
                <a:latin typeface="Arial" panose="020B0604020202020204" pitchFamily="34" charset="0"/>
              </a:rPr>
              <a:t> as seen with the Group 17 elemental substances.</a:t>
            </a:r>
            <a:endParaRPr lang="en-AU" b="0" i="0" dirty="0">
              <a:solidFill>
                <a:srgbClr val="444444"/>
              </a:solidFill>
              <a:effectLst/>
              <a:latin typeface="Arial" panose="020B0604020202020204" pitchFamily="34" charset="0"/>
            </a:endParaRPr>
          </a:p>
        </p:txBody>
      </p:sp>
      <p:pic>
        <p:nvPicPr>
          <p:cNvPr id="4" name="Picture 3"/>
          <p:cNvPicPr>
            <a:picLocks noChangeAspect="1"/>
          </p:cNvPicPr>
          <p:nvPr/>
        </p:nvPicPr>
        <p:blipFill>
          <a:blip r:embed="rId2"/>
          <a:stretch>
            <a:fillRect/>
          </a:stretch>
        </p:blipFill>
        <p:spPr>
          <a:xfrm>
            <a:off x="3108325" y="4313237"/>
            <a:ext cx="6229350" cy="2295525"/>
          </a:xfrm>
          <a:prstGeom prst="rect">
            <a:avLst/>
          </a:prstGeom>
        </p:spPr>
      </p:pic>
    </p:spTree>
    <p:extLst>
      <p:ext uri="{BB962C8B-B14F-4D97-AF65-F5344CB8AC3E}">
        <p14:creationId xmlns:p14="http://schemas.microsoft.com/office/powerpoint/2010/main" val="27331128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9400" y="182245"/>
            <a:ext cx="11912600" cy="3139321"/>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The molecular substances with the </a:t>
            </a:r>
            <a:r>
              <a:rPr lang="en-AU" b="1" i="0" dirty="0" smtClean="0">
                <a:solidFill>
                  <a:srgbClr val="E04E50"/>
                </a:solidFill>
                <a:effectLst/>
                <a:latin typeface="Arial" panose="020B0604020202020204" pitchFamily="34" charset="0"/>
              </a:rPr>
              <a:t>highest melting and boiling points</a:t>
            </a:r>
            <a:r>
              <a:rPr lang="en-AU" b="1" i="0" dirty="0" smtClean="0">
                <a:solidFill>
                  <a:srgbClr val="444444"/>
                </a:solidFill>
                <a:effectLst/>
                <a:latin typeface="Arial" panose="020B0604020202020204" pitchFamily="34" charset="0"/>
              </a:rPr>
              <a:t> are those capable of </a:t>
            </a:r>
            <a:r>
              <a:rPr lang="en-AU" b="1" i="0" dirty="0" smtClean="0">
                <a:solidFill>
                  <a:srgbClr val="3598DC"/>
                </a:solidFill>
                <a:effectLst/>
                <a:latin typeface="Arial" panose="020B0604020202020204" pitchFamily="34" charset="0"/>
              </a:rPr>
              <a:t>hydrogen bonding.</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1" i="0" dirty="0" smtClean="0">
                <a:solidFill>
                  <a:srgbClr val="571A98"/>
                </a:solidFill>
                <a:effectLst/>
                <a:latin typeface="Arial" panose="020B0604020202020204" pitchFamily="34" charset="0"/>
              </a:rPr>
              <a:t>Hydrogen bonding</a:t>
            </a:r>
            <a:r>
              <a:rPr lang="en-AU" b="0" i="0" dirty="0" smtClean="0">
                <a:solidFill>
                  <a:srgbClr val="444444"/>
                </a:solidFill>
                <a:effectLst/>
                <a:latin typeface="Arial" panose="020B0604020202020204" pitchFamily="34" charset="0"/>
              </a:rPr>
              <a:t> is the </a:t>
            </a:r>
            <a:r>
              <a:rPr lang="en-AU" b="1" i="0" dirty="0" smtClean="0">
                <a:solidFill>
                  <a:srgbClr val="3598DC"/>
                </a:solidFill>
                <a:effectLst/>
                <a:latin typeface="Arial" panose="020B0604020202020204" pitchFamily="34" charset="0"/>
              </a:rPr>
              <a:t>strongest type of intermolecular force,</a:t>
            </a:r>
            <a:r>
              <a:rPr lang="en-AU" b="0" i="0" dirty="0" smtClean="0">
                <a:solidFill>
                  <a:srgbClr val="444444"/>
                </a:solidFill>
                <a:effectLst/>
                <a:latin typeface="Arial" panose="020B0604020202020204" pitchFamily="34" charset="0"/>
              </a:rPr>
              <a:t> and only occurs in molecules which have a hydrogen atom bound to a fluorine, oxygen or nitrogen atom. This strength is due to the </a:t>
            </a:r>
            <a:r>
              <a:rPr lang="en-AU" b="1" i="0" dirty="0" smtClean="0">
                <a:solidFill>
                  <a:srgbClr val="E04E50"/>
                </a:solidFill>
                <a:effectLst/>
                <a:latin typeface="Arial" panose="020B0604020202020204" pitchFamily="34" charset="0"/>
              </a:rPr>
              <a:t>high electrostatic attractions</a:t>
            </a:r>
            <a:r>
              <a:rPr lang="en-AU" b="0" i="0" dirty="0" smtClean="0">
                <a:solidFill>
                  <a:srgbClr val="444444"/>
                </a:solidFill>
                <a:effectLst/>
                <a:latin typeface="Arial" panose="020B0604020202020204" pitchFamily="34" charset="0"/>
              </a:rPr>
              <a:t> between the large slightly positive charge </a:t>
            </a:r>
            <a:r>
              <a:rPr lang="en-AU" b="0" i="0" dirty="0" smtClean="0">
                <a:solidFill>
                  <a:srgbClr val="444444"/>
                </a:solidFill>
                <a:effectLst/>
                <a:latin typeface="KaTeX_Main"/>
              </a:rPr>
              <a:t>(</a:t>
            </a:r>
            <a:r>
              <a:rPr lang="en-AU" b="0" i="1" dirty="0" smtClean="0">
                <a:solidFill>
                  <a:srgbClr val="444444"/>
                </a:solidFill>
                <a:effectLst/>
                <a:latin typeface="KaTeX_Math"/>
              </a:rPr>
              <a:t>δ</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on the hydrogen atom and the </a:t>
            </a:r>
            <a:r>
              <a:rPr lang="en-AU" b="1" i="0" dirty="0" smtClean="0">
                <a:solidFill>
                  <a:srgbClr val="571A98"/>
                </a:solidFill>
                <a:effectLst/>
                <a:latin typeface="Arial" panose="020B0604020202020204" pitchFamily="34" charset="0"/>
              </a:rPr>
              <a:t>lone pair of electrons</a:t>
            </a:r>
            <a:r>
              <a:rPr lang="en-AU" b="0" i="0" dirty="0" smtClean="0">
                <a:solidFill>
                  <a:srgbClr val="444444"/>
                </a:solidFill>
                <a:effectLst/>
                <a:latin typeface="Arial" panose="020B0604020202020204" pitchFamily="34" charset="0"/>
              </a:rPr>
              <a:t> present on the fluorine, oxygen or nitrogen of neighbouring molecules.</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This can be seen by </a:t>
            </a:r>
            <a:r>
              <a:rPr lang="en-AU" b="1" i="0" dirty="0" smtClean="0">
                <a:solidFill>
                  <a:srgbClr val="E04E50"/>
                </a:solidFill>
                <a:effectLst/>
                <a:latin typeface="Arial" panose="020B0604020202020204" pitchFamily="34" charset="0"/>
              </a:rPr>
              <a:t>comparing the boiling points</a:t>
            </a:r>
            <a:r>
              <a:rPr lang="en-AU" b="0" i="0" dirty="0" smtClean="0">
                <a:solidFill>
                  <a:srgbClr val="444444"/>
                </a:solidFill>
                <a:effectLst/>
                <a:latin typeface="Arial" panose="020B0604020202020204" pitchFamily="34" charset="0"/>
              </a:rPr>
              <a:t> of different organic substances of comparable molar mass. The </a:t>
            </a:r>
            <a:r>
              <a:rPr lang="en-AU" b="1" i="0" dirty="0" smtClean="0">
                <a:solidFill>
                  <a:srgbClr val="3598DC"/>
                </a:solidFill>
                <a:effectLst/>
                <a:latin typeface="Arial" panose="020B0604020202020204" pitchFamily="34" charset="0"/>
              </a:rPr>
              <a:t>non-polar molecule,</a:t>
            </a:r>
            <a:r>
              <a:rPr lang="en-AU" b="0" i="0" dirty="0" smtClean="0">
                <a:solidFill>
                  <a:srgbClr val="444444"/>
                </a:solidFill>
                <a:effectLst/>
                <a:latin typeface="Arial" panose="020B0604020202020204" pitchFamily="34" charset="0"/>
              </a:rPr>
              <a:t> </a:t>
            </a:r>
            <a:r>
              <a:rPr lang="en-AU" b="0" i="0" dirty="0" smtClean="0">
                <a:solidFill>
                  <a:srgbClr val="444444"/>
                </a:solidFill>
                <a:effectLst/>
                <a:latin typeface="KaTeX_Main"/>
              </a:rPr>
              <a:t>C</a:t>
            </a:r>
            <a:r>
              <a:rPr lang="en-AU" b="0" i="0" baseline="-25000" dirty="0" smtClean="0">
                <a:solidFill>
                  <a:srgbClr val="444444"/>
                </a:solidFill>
                <a:effectLst/>
                <a:latin typeface="KaTeX_Main"/>
              </a:rPr>
              <a:t>3</a:t>
            </a:r>
            <a:r>
              <a:rPr lang="en-AU" b="0" i="0" dirty="0" smtClean="0">
                <a:solidFill>
                  <a:srgbClr val="444444"/>
                </a:solidFill>
                <a:effectLst/>
                <a:latin typeface="KaTeX_Main"/>
              </a:rPr>
              <a:t>​H</a:t>
            </a:r>
            <a:r>
              <a:rPr lang="en-AU" b="0" i="0" baseline="-25000" dirty="0" smtClean="0">
                <a:solidFill>
                  <a:srgbClr val="444444"/>
                </a:solidFill>
                <a:effectLst/>
                <a:latin typeface="KaTeX_Main"/>
              </a:rPr>
              <a:t>8</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has the lowest boiling point, whilst the </a:t>
            </a:r>
            <a:r>
              <a:rPr lang="en-AU" b="1" i="0" dirty="0" smtClean="0">
                <a:solidFill>
                  <a:srgbClr val="571A98"/>
                </a:solidFill>
                <a:effectLst/>
                <a:latin typeface="Arial" panose="020B0604020202020204" pitchFamily="34" charset="0"/>
              </a:rPr>
              <a:t>polar molecule,</a:t>
            </a:r>
            <a:r>
              <a:rPr lang="en-AU" b="0" i="0" dirty="0" smtClean="0">
                <a:solidFill>
                  <a:srgbClr val="444444"/>
                </a:solidFill>
                <a:effectLst/>
                <a:latin typeface="Arial" panose="020B0604020202020204" pitchFamily="34" charset="0"/>
              </a:rPr>
              <a:t> </a:t>
            </a:r>
            <a:r>
              <a:rPr lang="en-AU" b="0" i="0" dirty="0" smtClean="0">
                <a:solidFill>
                  <a:srgbClr val="444444"/>
                </a:solidFill>
                <a:effectLst/>
                <a:latin typeface="KaTeX_Main"/>
              </a:rPr>
              <a:t>CH</a:t>
            </a:r>
            <a:r>
              <a:rPr lang="en-AU" b="0" i="0" baseline="-25000" dirty="0" smtClean="0">
                <a:solidFill>
                  <a:srgbClr val="444444"/>
                </a:solidFill>
                <a:effectLst/>
                <a:latin typeface="KaTeX_Main"/>
              </a:rPr>
              <a:t>3</a:t>
            </a:r>
            <a:r>
              <a:rPr lang="en-AU" b="0" i="0" dirty="0" smtClean="0">
                <a:solidFill>
                  <a:srgbClr val="444444"/>
                </a:solidFill>
                <a:effectLst/>
                <a:latin typeface="KaTeX_Main"/>
              </a:rPr>
              <a:t>​Cl</a:t>
            </a:r>
            <a:r>
              <a:rPr lang="en-AU" b="0" i="0" dirty="0" smtClean="0">
                <a:solidFill>
                  <a:srgbClr val="444444"/>
                </a:solidFill>
                <a:effectLst/>
                <a:latin typeface="Arial" panose="020B0604020202020204" pitchFamily="34" charset="0"/>
              </a:rPr>
              <a:t>, has a much higher one. </a:t>
            </a:r>
            <a:r>
              <a:rPr lang="en-AU" b="0" i="0" dirty="0" smtClean="0">
                <a:solidFill>
                  <a:srgbClr val="444444"/>
                </a:solidFill>
                <a:effectLst/>
                <a:latin typeface="KaTeX_Main"/>
              </a:rPr>
              <a:t>C</a:t>
            </a:r>
            <a:r>
              <a:rPr lang="en-AU" b="0" i="0" baseline="-25000" dirty="0" smtClean="0">
                <a:solidFill>
                  <a:srgbClr val="444444"/>
                </a:solidFill>
                <a:effectLst/>
                <a:latin typeface="KaTeX_Main"/>
              </a:rPr>
              <a:t>2</a:t>
            </a:r>
            <a:r>
              <a:rPr lang="en-AU" b="0" i="0" dirty="0" smtClean="0">
                <a:solidFill>
                  <a:srgbClr val="444444"/>
                </a:solidFill>
                <a:effectLst/>
                <a:latin typeface="KaTeX_Main"/>
              </a:rPr>
              <a:t>​H</a:t>
            </a:r>
            <a:r>
              <a:rPr lang="en-AU" b="0" i="0" baseline="-25000" dirty="0" smtClean="0">
                <a:solidFill>
                  <a:srgbClr val="444444"/>
                </a:solidFill>
                <a:effectLst/>
                <a:latin typeface="KaTeX_Main"/>
              </a:rPr>
              <a:t>5</a:t>
            </a:r>
            <a:r>
              <a:rPr lang="en-AU" b="0" i="0" dirty="0" smtClean="0">
                <a:solidFill>
                  <a:srgbClr val="444444"/>
                </a:solidFill>
                <a:effectLst/>
                <a:latin typeface="KaTeX_Main"/>
              </a:rPr>
              <a:t>​OH</a:t>
            </a:r>
            <a:r>
              <a:rPr lang="en-AU" b="0" i="0" dirty="0" smtClean="0">
                <a:solidFill>
                  <a:srgbClr val="444444"/>
                </a:solidFill>
                <a:effectLst/>
                <a:latin typeface="Arial" panose="020B0604020202020204" pitchFamily="34" charset="0"/>
              </a:rPr>
              <a:t> has the largest boiling point by a significant margin, due to its </a:t>
            </a:r>
            <a:r>
              <a:rPr lang="en-AU" b="1" i="0" dirty="0" smtClean="0">
                <a:solidFill>
                  <a:srgbClr val="E04E50"/>
                </a:solidFill>
                <a:effectLst/>
                <a:latin typeface="Arial" panose="020B0604020202020204" pitchFamily="34" charset="0"/>
              </a:rPr>
              <a:t>ability to hydrogen bond.</a:t>
            </a:r>
            <a:endParaRPr lang="en-AU"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2806700" y="3897312"/>
            <a:ext cx="6553200" cy="1933575"/>
          </a:xfrm>
          <a:prstGeom prst="rect">
            <a:avLst/>
          </a:prstGeom>
        </p:spPr>
      </p:pic>
    </p:spTree>
    <p:extLst>
      <p:ext uri="{BB962C8B-B14F-4D97-AF65-F5344CB8AC3E}">
        <p14:creationId xmlns:p14="http://schemas.microsoft.com/office/powerpoint/2010/main" val="10738672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4500" y="354043"/>
            <a:ext cx="11264900" cy="3139321"/>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If a molecular substance can </a:t>
            </a:r>
            <a:r>
              <a:rPr lang="en-AU" b="1" i="0" dirty="0" smtClean="0">
                <a:solidFill>
                  <a:srgbClr val="3598DC"/>
                </a:solidFill>
                <a:effectLst/>
                <a:latin typeface="Arial" panose="020B0604020202020204" pitchFamily="34" charset="0"/>
              </a:rPr>
              <a:t>exist as a solid,</a:t>
            </a:r>
            <a:r>
              <a:rPr lang="en-AU" b="1" i="0" dirty="0" smtClean="0">
                <a:solidFill>
                  <a:srgbClr val="444444"/>
                </a:solidFill>
                <a:effectLst/>
                <a:latin typeface="Arial" panose="020B0604020202020204" pitchFamily="34" charset="0"/>
              </a:rPr>
              <a:t> it will be </a:t>
            </a:r>
            <a:r>
              <a:rPr lang="en-AU" b="1" i="0" dirty="0" smtClean="0">
                <a:solidFill>
                  <a:srgbClr val="571A98"/>
                </a:solidFill>
                <a:effectLst/>
                <a:latin typeface="Arial" panose="020B0604020202020204" pitchFamily="34" charset="0"/>
              </a:rPr>
              <a:t>soft</a:t>
            </a:r>
            <a:r>
              <a:rPr lang="en-AU" b="1" i="0" dirty="0" smtClean="0">
                <a:solidFill>
                  <a:srgbClr val="444444"/>
                </a:solidFill>
                <a:effectLst/>
                <a:latin typeface="Arial" panose="020B0604020202020204" pitchFamily="34" charset="0"/>
              </a:rPr>
              <a:t> and can easily be </a:t>
            </a:r>
            <a:r>
              <a:rPr lang="en-AU" b="1" i="0" dirty="0" smtClean="0">
                <a:solidFill>
                  <a:srgbClr val="FF7F50"/>
                </a:solidFill>
                <a:effectLst/>
                <a:latin typeface="Arial" panose="020B0604020202020204" pitchFamily="34" charset="0"/>
              </a:rPr>
              <a:t>scratched or broken apart.</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The </a:t>
            </a:r>
            <a:r>
              <a:rPr lang="en-AU" b="1" i="0" dirty="0" smtClean="0">
                <a:solidFill>
                  <a:srgbClr val="571A98"/>
                </a:solidFill>
                <a:effectLst/>
                <a:latin typeface="Arial" panose="020B0604020202020204" pitchFamily="34" charset="0"/>
              </a:rPr>
              <a:t>characteristic softness</a:t>
            </a:r>
            <a:r>
              <a:rPr lang="en-AU" b="0" i="0" dirty="0" smtClean="0">
                <a:solidFill>
                  <a:srgbClr val="444444"/>
                </a:solidFill>
                <a:effectLst/>
                <a:latin typeface="Arial" panose="020B0604020202020204" pitchFamily="34" charset="0"/>
              </a:rPr>
              <a:t> of molecular substances is due to the </a:t>
            </a:r>
            <a:r>
              <a:rPr lang="en-AU" b="1" i="0" dirty="0" smtClean="0">
                <a:solidFill>
                  <a:srgbClr val="571A98"/>
                </a:solidFill>
                <a:effectLst/>
                <a:latin typeface="Arial" panose="020B0604020202020204" pitchFamily="34" charset="0"/>
              </a:rPr>
              <a:t>weak intermolecular forces</a:t>
            </a:r>
            <a:r>
              <a:rPr lang="en-AU" b="0" i="0" dirty="0" smtClean="0">
                <a:solidFill>
                  <a:srgbClr val="444444"/>
                </a:solidFill>
                <a:effectLst/>
                <a:latin typeface="Arial" panose="020B0604020202020204" pitchFamily="34" charset="0"/>
              </a:rPr>
              <a:t> between the molecules. Remember that these forces are much weaker than the </a:t>
            </a:r>
            <a:r>
              <a:rPr lang="en-AU" b="1" i="0" dirty="0" smtClean="0">
                <a:solidFill>
                  <a:srgbClr val="3598DC"/>
                </a:solidFill>
                <a:effectLst/>
                <a:latin typeface="Arial" panose="020B0604020202020204" pitchFamily="34" charset="0"/>
              </a:rPr>
              <a:t>intramolecular forces</a:t>
            </a:r>
            <a:r>
              <a:rPr lang="en-AU" b="0" i="0" dirty="0" smtClean="0">
                <a:solidFill>
                  <a:srgbClr val="444444"/>
                </a:solidFill>
                <a:effectLst/>
                <a:latin typeface="Arial" panose="020B0604020202020204" pitchFamily="34" charset="0"/>
              </a:rPr>
              <a:t> holding the molecules themselves together.</a:t>
            </a:r>
          </a:p>
          <a:p>
            <a:r>
              <a:rPr lang="en-AU" b="0" i="0" dirty="0" smtClean="0">
                <a:solidFill>
                  <a:srgbClr val="444444"/>
                </a:solidFill>
                <a:effectLst/>
                <a:latin typeface="Arial" panose="020B0604020202020204" pitchFamily="34" charset="0"/>
              </a:rPr>
              <a:t> </a:t>
            </a:r>
          </a:p>
          <a:p>
            <a:r>
              <a:rPr lang="en-AU" b="1" i="0" dirty="0" smtClean="0">
                <a:solidFill>
                  <a:srgbClr val="999999"/>
                </a:solidFill>
                <a:effectLst/>
                <a:latin typeface="Arial" panose="020B0604020202020204" pitchFamily="34" charset="0"/>
              </a:rPr>
              <a:t>Softness is the measure of how easily a solid substance can be scratched/marked.</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When </a:t>
            </a:r>
            <a:r>
              <a:rPr lang="en-AU" b="1" i="0" dirty="0" smtClean="0">
                <a:solidFill>
                  <a:srgbClr val="FF7F50"/>
                </a:solidFill>
                <a:effectLst/>
                <a:latin typeface="Arial" panose="020B0604020202020204" pitchFamily="34" charset="0"/>
              </a:rPr>
              <a:t>force is applied</a:t>
            </a:r>
            <a:r>
              <a:rPr lang="en-AU" b="0" i="0" dirty="0" smtClean="0">
                <a:solidFill>
                  <a:srgbClr val="444444"/>
                </a:solidFill>
                <a:effectLst/>
                <a:latin typeface="Arial" panose="020B0604020202020204" pitchFamily="34" charset="0"/>
              </a:rPr>
              <a:t> to the solid substance, these forces are </a:t>
            </a:r>
            <a:r>
              <a:rPr lang="en-AU" b="1" i="0" dirty="0" smtClean="0">
                <a:solidFill>
                  <a:srgbClr val="571A98"/>
                </a:solidFill>
                <a:effectLst/>
                <a:latin typeface="Arial" panose="020B0604020202020204" pitchFamily="34" charset="0"/>
              </a:rPr>
              <a:t>easily overcome,</a:t>
            </a:r>
            <a:r>
              <a:rPr lang="en-AU" b="0" i="0" dirty="0" smtClean="0">
                <a:solidFill>
                  <a:srgbClr val="444444"/>
                </a:solidFill>
                <a:effectLst/>
                <a:latin typeface="Arial" panose="020B0604020202020204" pitchFamily="34" charset="0"/>
              </a:rPr>
              <a:t> allowing the surface to be </a:t>
            </a:r>
            <a:r>
              <a:rPr lang="en-AU" b="1" i="0" dirty="0" smtClean="0">
                <a:solidFill>
                  <a:srgbClr val="3598DC"/>
                </a:solidFill>
                <a:effectLst/>
                <a:latin typeface="Arial" panose="020B0604020202020204" pitchFamily="34" charset="0"/>
              </a:rPr>
              <a:t>easily scratched or deformed</a:t>
            </a:r>
            <a:r>
              <a:rPr lang="en-AU" b="0" i="0" dirty="0" smtClean="0">
                <a:solidFill>
                  <a:srgbClr val="444444"/>
                </a:solidFill>
                <a:effectLst/>
                <a:latin typeface="Arial" panose="020B0604020202020204" pitchFamily="34" charset="0"/>
              </a:rPr>
              <a:t> as the molecules can be moved out of their position within the solid lattice.</a:t>
            </a:r>
            <a:endParaRPr lang="en-AU" b="0" i="0" dirty="0">
              <a:solidFill>
                <a:srgbClr val="444444"/>
              </a:solidFill>
              <a:effectLst/>
              <a:latin typeface="Arial" panose="020B0604020202020204" pitchFamily="34" charset="0"/>
            </a:endParaRPr>
          </a:p>
        </p:txBody>
      </p:sp>
      <p:pic>
        <p:nvPicPr>
          <p:cNvPr id="28674" name="Picture 2" descr="https://www.educationperfect.com/media/content/Science/1573592147.773071g/1573592147262-1036189456682688-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6712" y="3957637"/>
            <a:ext cx="3800475" cy="2533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73905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506</Words>
  <Application>Microsoft Office PowerPoint</Application>
  <PresentationFormat>Widescreen</PresentationFormat>
  <Paragraphs>215</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KaTeX_Main</vt:lpstr>
      <vt:lpstr>KaTeX_Math</vt:lpstr>
      <vt:lpstr>Office Theme</vt:lpstr>
      <vt:lpstr>Covalent Bonding</vt:lpstr>
      <vt:lpstr>Covalent Bonding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Physical Properties of Molecular Substances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Covalent Bonding</dc:title>
  <dc:creator>Joseph D'cruz</dc:creator>
  <cp:lastModifiedBy>Joseph D'cruz</cp:lastModifiedBy>
  <cp:revision>5</cp:revision>
  <dcterms:created xsi:type="dcterms:W3CDTF">2022-03-06T09:59:37Z</dcterms:created>
  <dcterms:modified xsi:type="dcterms:W3CDTF">2022-03-06T10:27:53Z</dcterms:modified>
</cp:coreProperties>
</file>
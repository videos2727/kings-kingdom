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224868E7-42B7-47BB-A7CF-DB7DD00F7E0B}"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37797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24868E7-42B7-47BB-A7CF-DB7DD00F7E0B}"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227077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24868E7-42B7-47BB-A7CF-DB7DD00F7E0B}"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540768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224868E7-42B7-47BB-A7CF-DB7DD00F7E0B}"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796103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224868E7-42B7-47BB-A7CF-DB7DD00F7E0B}" type="datetimeFigureOut">
              <a:rPr lang="en-AU" smtClean="0"/>
              <a:t>6/09/2020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026432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224868E7-42B7-47BB-A7CF-DB7DD00F7E0B}" type="datetimeFigureOut">
              <a:rPr lang="en-AU" smtClean="0"/>
              <a:t>6/09/2020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4040428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4868E7-42B7-47BB-A7CF-DB7DD00F7E0B}" type="datetimeFigureOut">
              <a:rPr lang="en-AU" smtClean="0"/>
              <a:t>6/09/2020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269769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4868E7-42B7-47BB-A7CF-DB7DD00F7E0B}"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52609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24868E7-42B7-47BB-A7CF-DB7DD00F7E0B}" type="datetimeFigureOut">
              <a:rPr lang="en-AU" smtClean="0"/>
              <a:t>6/09/2020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1652103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24868E7-42B7-47BB-A7CF-DB7DD00F7E0B}"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317931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224868E7-42B7-47BB-A7CF-DB7DD00F7E0B}" type="datetimeFigureOut">
              <a:rPr lang="en-AU" smtClean="0"/>
              <a:t>6/09/2020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D3EFAA-6886-4E90-9709-574308ED9741}" type="slidenum">
              <a:rPr lang="en-AU" smtClean="0"/>
              <a:t>‹#›</a:t>
            </a:fld>
            <a:endParaRPr lang="en-AU"/>
          </a:p>
        </p:txBody>
      </p:sp>
    </p:spTree>
    <p:extLst>
      <p:ext uri="{BB962C8B-B14F-4D97-AF65-F5344CB8AC3E}">
        <p14:creationId xmlns:p14="http://schemas.microsoft.com/office/powerpoint/2010/main" val="42444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4868E7-42B7-47BB-A7CF-DB7DD00F7E0B}" type="datetimeFigureOut">
              <a:rPr lang="en-AU" smtClean="0"/>
              <a:t>6/09/2020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D3EFAA-6886-4E90-9709-574308ED9741}" type="slidenum">
              <a:rPr lang="en-AU" smtClean="0"/>
              <a:t>‹#›</a:t>
            </a:fld>
            <a:endParaRPr lang="en-AU"/>
          </a:p>
        </p:txBody>
      </p:sp>
    </p:spTree>
    <p:extLst>
      <p:ext uri="{BB962C8B-B14F-4D97-AF65-F5344CB8AC3E}">
        <p14:creationId xmlns:p14="http://schemas.microsoft.com/office/powerpoint/2010/main" val="1359422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7.xml"/><Relationship Id="rId1" Type="http://schemas.openxmlformats.org/officeDocument/2006/relationships/video" Target="https://www.youtube.com/embed/uixxJtJPVXk"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7.xml"/><Relationship Id="rId1" Type="http://schemas.openxmlformats.org/officeDocument/2006/relationships/video" Target="https://www.youtube.com/embed/u2ogMUDBaf4"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Periodic Trends: Metallic Character</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683654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16139" y="755134"/>
            <a:ext cx="4057521" cy="369332"/>
          </a:xfrm>
          <a:prstGeom prst="rect">
            <a:avLst/>
          </a:prstGeom>
        </p:spPr>
        <p:txBody>
          <a:bodyPr wrap="none">
            <a:spAutoFit/>
          </a:bodyPr>
          <a:lstStyle/>
          <a:p>
            <a:r>
              <a:rPr lang="en-AU" b="1" i="0" dirty="0" smtClean="0">
                <a:solidFill>
                  <a:srgbClr val="444444"/>
                </a:solidFill>
                <a:effectLst/>
                <a:latin typeface="Arial" panose="020B0604020202020204" pitchFamily="34" charset="0"/>
              </a:rPr>
              <a:t>In this Smart Lesson you will learn:</a:t>
            </a:r>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3646046346"/>
              </p:ext>
            </p:extLst>
          </p:nvPr>
        </p:nvGraphicFramePr>
        <p:xfrm>
          <a:off x="901700" y="1571784"/>
          <a:ext cx="10515600" cy="1440180"/>
        </p:xfrm>
        <a:graphic>
          <a:graphicData uri="http://schemas.openxmlformats.org/drawingml/2006/table">
            <a:tbl>
              <a:tblPr/>
              <a:tblGrid>
                <a:gridCol w="1104900">
                  <a:extLst>
                    <a:ext uri="{9D8B030D-6E8A-4147-A177-3AD203B41FA5}">
                      <a16:colId xmlns:a16="http://schemas.microsoft.com/office/drawing/2014/main" val="3468557935"/>
                    </a:ext>
                  </a:extLst>
                </a:gridCol>
                <a:gridCol w="9410700">
                  <a:extLst>
                    <a:ext uri="{9D8B030D-6E8A-4147-A177-3AD203B41FA5}">
                      <a16:colId xmlns:a16="http://schemas.microsoft.com/office/drawing/2014/main" val="3313174443"/>
                    </a:ext>
                  </a:extLst>
                </a:gridCol>
              </a:tblGrid>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What causes elements to be </a:t>
                      </a:r>
                      <a:r>
                        <a:rPr lang="en-AU" b="1">
                          <a:effectLst/>
                        </a:rPr>
                        <a:t>metallic</a:t>
                      </a:r>
                      <a:r>
                        <a:rPr lang="en-AU">
                          <a:effectLst/>
                        </a:rPr>
                        <a:t> or </a:t>
                      </a:r>
                      <a:r>
                        <a:rPr lang="en-AU" b="1">
                          <a:effectLst/>
                        </a:rPr>
                        <a:t>non-metallic.</a:t>
                      </a:r>
                      <a:endParaRPr lang="en-AU">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575866338"/>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How this </a:t>
                      </a:r>
                      <a:r>
                        <a:rPr lang="en-AU" b="1">
                          <a:effectLst/>
                        </a:rPr>
                        <a:t>character</a:t>
                      </a:r>
                      <a:r>
                        <a:rPr lang="en-AU">
                          <a:effectLst/>
                        </a:rPr>
                        <a:t> can be explained by the </a:t>
                      </a:r>
                      <a:r>
                        <a:rPr lang="en-AU" b="1">
                          <a:solidFill>
                            <a:srgbClr val="009900"/>
                          </a:solidFill>
                          <a:effectLst/>
                        </a:rPr>
                        <a:t>electron configuration</a:t>
                      </a:r>
                      <a:r>
                        <a:rPr lang="en-AU">
                          <a:effectLst/>
                        </a:rPr>
                        <a:t> of an element.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1251400932"/>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dirty="0">
                          <a:effectLst/>
                        </a:rPr>
                        <a:t>That the </a:t>
                      </a:r>
                      <a:r>
                        <a:rPr lang="en-AU" b="1" dirty="0">
                          <a:effectLst/>
                        </a:rPr>
                        <a:t>metallic or non-metallic character</a:t>
                      </a:r>
                      <a:r>
                        <a:rPr lang="en-AU" dirty="0">
                          <a:effectLst/>
                        </a:rPr>
                        <a:t> of an element can be determined based on its position in the </a:t>
                      </a:r>
                      <a:r>
                        <a:rPr lang="en-AU" b="1" dirty="0">
                          <a:solidFill>
                            <a:srgbClr val="FF0000"/>
                          </a:solidFill>
                          <a:effectLst/>
                        </a:rPr>
                        <a:t>periodic table</a:t>
                      </a:r>
                      <a:r>
                        <a:rPr lang="en-AU" dirty="0">
                          <a:effectLst/>
                        </a:rPr>
                        <a:t>.</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911757020"/>
                  </a:ext>
                </a:extLst>
              </a:tr>
            </a:tbl>
          </a:graphicData>
        </a:graphic>
      </p:graphicFrame>
      <p:pic>
        <p:nvPicPr>
          <p:cNvPr id="1027" name="Picture 3" descr="https://www.educationperfect.com/media/content/Science/1491790237.535471g/1491790242670-159330112869577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7099" y="3168984"/>
            <a:ext cx="5915025" cy="3320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189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9800" y="388541"/>
            <a:ext cx="10134600" cy="2585323"/>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Another trend in the periodic table is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This refers to how </a:t>
            </a:r>
            <a:r>
              <a:rPr lang="en-AU" b="1" i="1" dirty="0" smtClean="0">
                <a:solidFill>
                  <a:srgbClr val="444444"/>
                </a:solidFill>
                <a:effectLst/>
                <a:latin typeface="Arial" panose="020B0604020202020204" pitchFamily="34" charset="0"/>
              </a:rPr>
              <a:t>metallic</a:t>
            </a:r>
            <a:r>
              <a:rPr lang="en-AU" b="0" i="0" dirty="0" smtClean="0">
                <a:solidFill>
                  <a:srgbClr val="444444"/>
                </a:solidFill>
                <a:effectLst/>
                <a:latin typeface="Arial" panose="020B0604020202020204" pitchFamily="34" charset="0"/>
              </a:rPr>
              <a:t> an element is, based on other properties such as </a:t>
            </a:r>
            <a:r>
              <a:rPr lang="en-AU" b="1" i="0" dirty="0" smtClean="0">
                <a:solidFill>
                  <a:srgbClr val="009900"/>
                </a:solidFill>
                <a:effectLst/>
                <a:latin typeface="Arial" panose="020B0604020202020204" pitchFamily="34" charset="0"/>
              </a:rPr>
              <a:t>electrical</a:t>
            </a:r>
            <a:r>
              <a:rPr lang="en-AU" b="1" i="0" dirty="0" smtClean="0">
                <a:solidFill>
                  <a:srgbClr val="444444"/>
                </a:solidFill>
                <a:effectLst/>
                <a:latin typeface="Arial" panose="020B0604020202020204" pitchFamily="34" charset="0"/>
              </a:rPr>
              <a:t> and </a:t>
            </a:r>
            <a:r>
              <a:rPr lang="en-AU" b="1" i="0" dirty="0" smtClean="0">
                <a:solidFill>
                  <a:srgbClr val="FF0000"/>
                </a:solidFill>
                <a:effectLst/>
                <a:latin typeface="Arial" panose="020B0604020202020204" pitchFamily="34" charset="0"/>
              </a:rPr>
              <a:t>thermal conductivity</a:t>
            </a:r>
            <a:r>
              <a:rPr lang="en-AU" b="0" i="0" dirty="0" smtClean="0">
                <a:solidFill>
                  <a:srgbClr val="444444"/>
                </a:solidFill>
                <a:effectLst/>
                <a:latin typeface="Arial" panose="020B0604020202020204" pitchFamily="34" charset="0"/>
              </a:rPr>
              <a:t>, and how easily it can be </a:t>
            </a:r>
            <a:r>
              <a:rPr lang="en-AU" b="1" i="0" dirty="0" smtClean="0">
                <a:solidFill>
                  <a:srgbClr val="0000FF"/>
                </a:solidFill>
                <a:effectLst/>
                <a:latin typeface="Arial" panose="020B0604020202020204" pitchFamily="34" charset="0"/>
              </a:rPr>
              <a:t>bent</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Most of the </a:t>
            </a:r>
            <a:r>
              <a:rPr lang="en-AU" b="1" i="0" dirty="0" smtClean="0">
                <a:solidFill>
                  <a:srgbClr val="444444"/>
                </a:solidFill>
                <a:effectLst/>
                <a:latin typeface="Arial" panose="020B0604020202020204" pitchFamily="34" charset="0"/>
              </a:rPr>
              <a:t>properties</a:t>
            </a:r>
            <a:r>
              <a:rPr lang="en-AU" b="0" i="0" dirty="0" smtClean="0">
                <a:solidFill>
                  <a:srgbClr val="444444"/>
                </a:solidFill>
                <a:effectLst/>
                <a:latin typeface="Arial" panose="020B0604020202020204" pitchFamily="34" charset="0"/>
              </a:rPr>
              <a:t> of a metal can be explained by how strong the </a:t>
            </a:r>
            <a:r>
              <a:rPr lang="en-AU" b="1" i="0" dirty="0" smtClean="0">
                <a:solidFill>
                  <a:srgbClr val="444444"/>
                </a:solidFill>
                <a:effectLst/>
                <a:latin typeface="Arial" panose="020B0604020202020204" pitchFamily="34" charset="0"/>
              </a:rPr>
              <a:t>attraction</a:t>
            </a:r>
            <a:r>
              <a:rPr lang="en-AU" b="0" i="0" dirty="0" smtClean="0">
                <a:solidFill>
                  <a:srgbClr val="444444"/>
                </a:solidFill>
                <a:effectLst/>
                <a:latin typeface="Arial" panose="020B0604020202020204" pitchFamily="34" charset="0"/>
              </a:rPr>
              <a:t> between the nucleus and electrons is.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a:t>
            </a:r>
            <a:r>
              <a:rPr lang="en-AU" b="1" i="0" dirty="0" smtClean="0">
                <a:solidFill>
                  <a:srgbClr val="009900"/>
                </a:solidFill>
                <a:effectLst/>
                <a:latin typeface="Arial" panose="020B0604020202020204" pitchFamily="34" charset="0"/>
              </a:rPr>
              <a:t>electrical conductivity</a:t>
            </a:r>
            <a:r>
              <a:rPr lang="en-AU" b="0" i="0" dirty="0" smtClean="0">
                <a:solidFill>
                  <a:srgbClr val="444444"/>
                </a:solidFill>
                <a:effectLst/>
                <a:latin typeface="Arial" panose="020B0604020202020204" pitchFamily="34" charset="0"/>
              </a:rPr>
              <a:t> can be explained as electrons being able to move through metal. The less attraction between the electrons and nucleus the more conductive a metal is.</a:t>
            </a:r>
            <a:endParaRPr lang="en-AU" b="0" i="0" dirty="0">
              <a:solidFill>
                <a:srgbClr val="444444"/>
              </a:solidFill>
              <a:effectLst/>
              <a:latin typeface="Arial" panose="020B0604020202020204" pitchFamily="34" charset="0"/>
            </a:endParaRPr>
          </a:p>
        </p:txBody>
      </p:sp>
      <p:pic>
        <p:nvPicPr>
          <p:cNvPr id="2050" name="Picture 2" descr="https://www.educationperfect.com/media/content/German/1450043360.195561g/1450043383313-404334228218230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8275" y="3670300"/>
            <a:ext cx="40576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317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4047" y="805934"/>
            <a:ext cx="4262705" cy="369332"/>
          </a:xfrm>
          <a:prstGeom prst="rect">
            <a:avLst/>
          </a:prstGeom>
        </p:spPr>
        <p:txBody>
          <a:bodyPr wrap="none">
            <a:spAutoFit/>
          </a:bodyPr>
          <a:lstStyle/>
          <a:p>
            <a:r>
              <a:rPr lang="en-AU" b="1" i="0" dirty="0" smtClean="0">
                <a:solidFill>
                  <a:srgbClr val="0000FF"/>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all have the following properties:</a:t>
            </a:r>
            <a:endParaRPr lang="en-AU" dirty="0"/>
          </a:p>
        </p:txBody>
      </p:sp>
      <p:pic>
        <p:nvPicPr>
          <p:cNvPr id="3" name="Picture 2"/>
          <p:cNvPicPr>
            <a:picLocks noChangeAspect="1"/>
          </p:cNvPicPr>
          <p:nvPr/>
        </p:nvPicPr>
        <p:blipFill>
          <a:blip r:embed="rId2"/>
          <a:stretch>
            <a:fillRect/>
          </a:stretch>
        </p:blipFill>
        <p:spPr>
          <a:xfrm>
            <a:off x="1649412" y="1595437"/>
            <a:ext cx="9120188" cy="4754681"/>
          </a:xfrm>
          <a:prstGeom prst="rect">
            <a:avLst/>
          </a:prstGeom>
        </p:spPr>
      </p:pic>
    </p:spTree>
    <p:extLst>
      <p:ext uri="{BB962C8B-B14F-4D97-AF65-F5344CB8AC3E}">
        <p14:creationId xmlns:p14="http://schemas.microsoft.com/office/powerpoint/2010/main" val="789674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496838"/>
            <a:ext cx="109474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metallic character decreases across a period and increases going down a group. The "most metallic" elements are located at the </a:t>
            </a:r>
            <a:r>
              <a:rPr lang="en-AU" b="1" i="0" dirty="0" smtClean="0">
                <a:solidFill>
                  <a:srgbClr val="444444"/>
                </a:solidFill>
                <a:effectLst/>
                <a:latin typeface="Arial" panose="020B0604020202020204" pitchFamily="34" charset="0"/>
              </a:rPr>
              <a:t>bottom-left</a:t>
            </a:r>
            <a:r>
              <a:rPr lang="en-AU" b="0" i="0" dirty="0" smtClean="0">
                <a:solidFill>
                  <a:srgbClr val="444444"/>
                </a:solidFill>
                <a:effectLst/>
                <a:latin typeface="Arial" panose="020B0604020202020204" pitchFamily="34" charset="0"/>
              </a:rPr>
              <a:t> of the periodic table.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periodic table can also be divided into </a:t>
            </a:r>
            <a:r>
              <a:rPr lang="en-AU" b="1" i="0" dirty="0" smtClean="0">
                <a:solidFill>
                  <a:srgbClr val="444444"/>
                </a:solidFill>
                <a:effectLst/>
                <a:latin typeface="Arial" panose="020B0604020202020204" pitchFamily="34" charset="0"/>
              </a:rPr>
              <a:t>metals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non-metals</a:t>
            </a:r>
            <a:r>
              <a:rPr lang="en-AU" b="0" i="0" dirty="0" smtClean="0">
                <a:solidFill>
                  <a:srgbClr val="444444"/>
                </a:solidFill>
                <a:effectLst/>
                <a:latin typeface="Arial" panose="020B0604020202020204" pitchFamily="34" charset="0"/>
              </a:rPr>
              <a:t> and </a:t>
            </a:r>
            <a:r>
              <a:rPr lang="en-AU" b="1" i="1" dirty="0" smtClean="0">
                <a:solidFill>
                  <a:srgbClr val="444444"/>
                </a:solidFill>
                <a:effectLst/>
                <a:latin typeface="Arial" panose="020B0604020202020204" pitchFamily="34" charset="0"/>
              </a:rPr>
              <a:t>metalloids</a:t>
            </a:r>
            <a:r>
              <a:rPr lang="en-AU" b="0" i="0" dirty="0" smtClean="0">
                <a:solidFill>
                  <a:srgbClr val="444444"/>
                </a:solidFill>
                <a:effectLst/>
                <a:latin typeface="Arial" panose="020B0604020202020204" pitchFamily="34" charset="0"/>
              </a:rPr>
              <a:t> which have both metal and non-metal characteristics.</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433388903.66461g/1433388902332-30584990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75" y="2697162"/>
            <a:ext cx="7375525" cy="3290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858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www.educationperfect.com/media/content/Science/1433388903.66461g/1433388902332-30584990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8575" y="195262"/>
            <a:ext cx="5813425" cy="259345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49300" y="3130540"/>
            <a:ext cx="103505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When going across a </a:t>
            </a:r>
            <a:r>
              <a:rPr lang="en-AU" b="1" i="0" dirty="0" smtClean="0">
                <a:solidFill>
                  <a:srgbClr val="0000FF"/>
                </a:solidFill>
                <a:effectLst/>
                <a:latin typeface="Arial" panose="020B0604020202020204" pitchFamily="34" charset="0"/>
              </a:rPr>
              <a:t>period</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of elements </a:t>
            </a:r>
            <a:r>
              <a:rPr lang="en-AU" b="0" i="1" dirty="0" smtClean="0">
                <a:solidFill>
                  <a:srgbClr val="444444"/>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 This is because the </a:t>
            </a:r>
            <a:r>
              <a:rPr lang="en-AU" b="1" i="0" dirty="0" smtClean="0">
                <a:solidFill>
                  <a:srgbClr val="009900"/>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stay in the same </a:t>
            </a:r>
            <a:r>
              <a:rPr lang="en-AU" b="1" i="0" dirty="0" smtClean="0">
                <a:solidFill>
                  <a:srgbClr val="444444"/>
                </a:solidFill>
                <a:effectLst/>
                <a:latin typeface="Arial" panose="020B0604020202020204" pitchFamily="34" charset="0"/>
              </a:rPr>
              <a:t>electron shell</a:t>
            </a:r>
            <a:r>
              <a:rPr lang="en-AU" b="0" i="0" dirty="0" smtClean="0">
                <a:solidFill>
                  <a:srgbClr val="444444"/>
                </a:solidFill>
                <a:effectLst/>
                <a:latin typeface="Arial" panose="020B0604020202020204" pitchFamily="34" charset="0"/>
              </a:rPr>
              <a:t>, but more protons are added to the nucleus. This in turn causes electrons to be </a:t>
            </a:r>
            <a:r>
              <a:rPr lang="en-AU" b="1" i="1" dirty="0" smtClean="0">
                <a:solidFill>
                  <a:srgbClr val="444444"/>
                </a:solidFill>
                <a:effectLst/>
                <a:latin typeface="Arial" panose="020B0604020202020204" pitchFamily="34" charset="0"/>
              </a:rPr>
              <a:t>more attracted</a:t>
            </a:r>
            <a:r>
              <a:rPr lang="en-AU" b="0" i="0" dirty="0" smtClean="0">
                <a:solidFill>
                  <a:srgbClr val="444444"/>
                </a:solidFill>
                <a:effectLst/>
                <a:latin typeface="Arial" panose="020B0604020202020204" pitchFamily="34" charset="0"/>
              </a:rPr>
              <a:t> to the nucleus.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When going down a </a:t>
            </a:r>
            <a:r>
              <a:rPr lang="en-AU" b="1" i="0" dirty="0" smtClean="0">
                <a:solidFill>
                  <a:srgbClr val="FF0000"/>
                </a:solidFill>
                <a:effectLst/>
                <a:latin typeface="Arial" panose="020B0604020202020204" pitchFamily="34" charset="0"/>
              </a:rPr>
              <a:t>group</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Arial" panose="020B0604020202020204" pitchFamily="34" charset="0"/>
              </a:rPr>
              <a:t>metallic character</a:t>
            </a:r>
            <a:r>
              <a:rPr lang="en-AU" b="0" i="0" dirty="0" smtClean="0">
                <a:solidFill>
                  <a:srgbClr val="444444"/>
                </a:solidFill>
                <a:effectLst/>
                <a:latin typeface="Arial" panose="020B0604020202020204" pitchFamily="34" charset="0"/>
              </a:rPr>
              <a:t> of elements </a:t>
            </a:r>
            <a:r>
              <a:rPr lang="en-AU" b="0" i="1" dirty="0" smtClean="0">
                <a:solidFill>
                  <a:srgbClr val="444444"/>
                </a:solidFill>
                <a:effectLst/>
                <a:latin typeface="Arial" panose="020B0604020202020204" pitchFamily="34" charset="0"/>
              </a:rPr>
              <a:t>increases</a:t>
            </a:r>
            <a:r>
              <a:rPr lang="en-AU" b="0" i="0" dirty="0" smtClean="0">
                <a:solidFill>
                  <a:srgbClr val="444444"/>
                </a:solidFill>
                <a:effectLst/>
                <a:latin typeface="Arial" panose="020B0604020202020204" pitchFamily="34" charset="0"/>
              </a:rPr>
              <a:t>. This is because of the additional </a:t>
            </a:r>
            <a:r>
              <a:rPr lang="en-AU" b="1" i="0" dirty="0" smtClean="0">
                <a:solidFill>
                  <a:srgbClr val="0000FF"/>
                </a:solidFill>
                <a:effectLst/>
                <a:latin typeface="Arial" panose="020B0604020202020204" pitchFamily="34" charset="0"/>
              </a:rPr>
              <a:t>electron shells</a:t>
            </a:r>
            <a:r>
              <a:rPr lang="en-AU" b="0" i="0" dirty="0" smtClean="0">
                <a:solidFill>
                  <a:srgbClr val="444444"/>
                </a:solidFill>
                <a:effectLst/>
                <a:latin typeface="Arial" panose="020B0604020202020204" pitchFamily="34" charset="0"/>
              </a:rPr>
              <a:t> which place the </a:t>
            </a:r>
            <a:r>
              <a:rPr lang="en-AU" b="1" i="0" dirty="0" smtClean="0">
                <a:solidFill>
                  <a:srgbClr val="009900"/>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farther from the nucleus. Subsequently this </a:t>
            </a:r>
            <a:r>
              <a:rPr lang="en-AU" b="1" i="1" dirty="0" smtClean="0">
                <a:solidFill>
                  <a:srgbClr val="444444"/>
                </a:solidFill>
                <a:effectLst/>
                <a:latin typeface="Arial" panose="020B0604020202020204" pitchFamily="34" charset="0"/>
              </a:rPr>
              <a:t>reduces</a:t>
            </a:r>
            <a:r>
              <a:rPr lang="en-AU" b="0" i="0" dirty="0" smtClean="0">
                <a:solidFill>
                  <a:srgbClr val="444444"/>
                </a:solidFill>
                <a:effectLst/>
                <a:latin typeface="Arial" panose="020B0604020202020204" pitchFamily="34" charset="0"/>
              </a:rPr>
              <a:t> the attraction between the electrons and the nucleus.</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4222506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735737"/>
            <a:ext cx="116840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first Group of the periodic table is the </a:t>
            </a:r>
            <a:r>
              <a:rPr lang="en-AU" b="1" i="0" dirty="0" smtClean="0">
                <a:solidFill>
                  <a:srgbClr val="FF0000"/>
                </a:solidFill>
                <a:effectLst/>
                <a:latin typeface="Arial" panose="020B0604020202020204" pitchFamily="34" charset="0"/>
              </a:rPr>
              <a:t>alkali metals.</a:t>
            </a:r>
            <a:r>
              <a:rPr lang="en-AU" b="0" i="0" dirty="0" smtClean="0">
                <a:solidFill>
                  <a:srgbClr val="444444"/>
                </a:solidFill>
                <a:effectLst/>
                <a:latin typeface="Arial" panose="020B0604020202020204" pitchFamily="34" charset="0"/>
              </a:rPr>
              <a:t> These are on the far left of the table (Group I) and show mostly typical metallic properties. Hydrogen is often drawn at the top of this group, as it has one valence electron, but it is NOT an alkali metal and has very different properties.</a:t>
            </a:r>
            <a:endParaRPr lang="en-AU" dirty="0"/>
          </a:p>
        </p:txBody>
      </p:sp>
      <p:pic>
        <p:nvPicPr>
          <p:cNvPr id="5122" name="Picture 2" descr="https://www.educationperfect.com/media/content/Science/1492746709.498931g/1492746717998-3775497507614283-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675" y="2598737"/>
            <a:ext cx="7620000" cy="3162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81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0" y="504736"/>
            <a:ext cx="10972800" cy="923330"/>
          </a:xfrm>
          <a:prstGeom prst="rect">
            <a:avLst/>
          </a:prstGeom>
        </p:spPr>
        <p:txBody>
          <a:bodyPr wrap="square">
            <a:spAutoFit/>
          </a:bodyPr>
          <a:lstStyle/>
          <a:p>
            <a:pPr algn="ctr"/>
            <a:r>
              <a:rPr lang="en-AU" b="0" i="0" smtClean="0">
                <a:solidFill>
                  <a:srgbClr val="444444"/>
                </a:solidFill>
                <a:effectLst/>
                <a:latin typeface="Arial" panose="020B0604020202020204" pitchFamily="34" charset="0"/>
              </a:rPr>
              <a:t>Group </a:t>
            </a:r>
            <a:r>
              <a:rPr lang="en-AU" b="0" i="0" smtClean="0">
                <a:solidFill>
                  <a:srgbClr val="444444"/>
                </a:solidFill>
                <a:effectLst/>
                <a:latin typeface="KaTeX_Main"/>
              </a:rPr>
              <a:t>1</a:t>
            </a:r>
            <a:r>
              <a:rPr lang="en-AU" b="0" i="0" smtClean="0">
                <a:solidFill>
                  <a:srgbClr val="444444"/>
                </a:solidFill>
                <a:effectLst/>
                <a:latin typeface="Arial" panose="020B0604020202020204" pitchFamily="34" charset="0"/>
              </a:rPr>
              <a:t> elements are known as the </a:t>
            </a:r>
            <a:r>
              <a:rPr lang="en-AU" b="1" i="0" smtClean="0">
                <a:solidFill>
                  <a:srgbClr val="FF0000"/>
                </a:solidFill>
                <a:effectLst/>
                <a:latin typeface="Arial" panose="020B0604020202020204" pitchFamily="34" charset="0"/>
              </a:rPr>
              <a:t>alkali metals.</a:t>
            </a:r>
            <a:endParaRPr lang="en-AU" b="0" i="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All </a:t>
            </a:r>
            <a:r>
              <a:rPr lang="en-AU" b="1" i="0" dirty="0" smtClean="0">
                <a:solidFill>
                  <a:srgbClr val="FF0000"/>
                </a:solidFill>
                <a:effectLst/>
                <a:latin typeface="Arial" panose="020B0604020202020204" pitchFamily="34" charset="0"/>
              </a:rPr>
              <a:t>alkali metals</a:t>
            </a:r>
            <a:r>
              <a:rPr lang="en-AU" b="0" i="0" dirty="0" smtClean="0">
                <a:solidFill>
                  <a:srgbClr val="444444"/>
                </a:solidFill>
                <a:effectLst/>
                <a:latin typeface="Arial" panose="020B0604020202020204" pitchFamily="34" charset="0"/>
              </a:rPr>
              <a:t> are highly reactive and, due to having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valence electron, form ions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456265913.191191g/1456265918661-421009578465999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043112"/>
            <a:ext cx="600075" cy="377190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www.educationperfect.com/media/content/Science/1455872416.579041g/1455872418636-3772497920295001-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75" y="2767012"/>
            <a:ext cx="400050" cy="1628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1186430520"/>
              </p:ext>
            </p:extLst>
          </p:nvPr>
        </p:nvGraphicFramePr>
        <p:xfrm>
          <a:off x="3263900" y="2585244"/>
          <a:ext cx="3810000" cy="1485900"/>
        </p:xfrm>
        <a:graphic>
          <a:graphicData uri="http://schemas.openxmlformats.org/drawingml/2006/table">
            <a:tbl>
              <a:tblPr/>
              <a:tblGrid>
                <a:gridCol w="3810000">
                  <a:extLst>
                    <a:ext uri="{9D8B030D-6E8A-4147-A177-3AD203B41FA5}">
                      <a16:colId xmlns:a16="http://schemas.microsoft.com/office/drawing/2014/main" val="2178779609"/>
                    </a:ext>
                  </a:extLst>
                </a:gridCol>
              </a:tblGrid>
              <a:tr h="0">
                <a:tc>
                  <a:txBody>
                    <a:bodyPr/>
                    <a:lstStyle/>
                    <a:p>
                      <a:pPr algn="l" fontAlgn="ctr"/>
                      <a:r>
                        <a:rPr lang="en-AU" b="1" i="1" dirty="0">
                          <a:effectLst/>
                        </a:rPr>
                        <a:t/>
                      </a:r>
                      <a:br>
                        <a:rPr lang="en-AU" b="1" i="1" dirty="0">
                          <a:effectLst/>
                        </a:rPr>
                      </a:br>
                      <a:r>
                        <a:rPr lang="en-AU" b="1" i="1" dirty="0">
                          <a:effectLst/>
                        </a:rPr>
                        <a:t>Reactivity increases</a:t>
                      </a:r>
                      <a:r>
                        <a:rPr lang="en-AU" i="1" dirty="0">
                          <a:effectLst/>
                        </a:rPr>
                        <a:t> as you </a:t>
                      </a:r>
                      <a:r>
                        <a:rPr lang="en-AU" b="1" i="1" dirty="0">
                          <a:effectLst/>
                        </a:rPr>
                        <a:t>move down the group</a:t>
                      </a:r>
                      <a:r>
                        <a:rPr lang="en-AU" i="1" dirty="0">
                          <a:effectLst/>
                        </a:rPr>
                        <a:t>. This is because the valence electrons are getting further from the nucleus, and are easier to remove.</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062734003"/>
                  </a:ext>
                </a:extLst>
              </a:tr>
            </a:tbl>
          </a:graphicData>
        </a:graphic>
      </p:graphicFrame>
      <p:sp>
        <p:nvSpPr>
          <p:cNvPr id="4" name="Rectangle 3"/>
          <p:cNvSpPr/>
          <p:nvPr/>
        </p:nvSpPr>
        <p:spPr>
          <a:xfrm>
            <a:off x="2946400" y="5456535"/>
            <a:ext cx="82931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alkali metals are lithium (</a:t>
            </a:r>
            <a:r>
              <a:rPr lang="en-AU" b="0" i="0" dirty="0" smtClean="0">
                <a:solidFill>
                  <a:srgbClr val="444444"/>
                </a:solidFill>
                <a:effectLst/>
                <a:latin typeface="KaTeX_Main"/>
              </a:rPr>
              <a:t>Li</a:t>
            </a:r>
            <a:r>
              <a:rPr lang="en-AU" b="0" i="0" dirty="0" smtClean="0">
                <a:solidFill>
                  <a:srgbClr val="444444"/>
                </a:solidFill>
                <a:effectLst/>
                <a:latin typeface="Arial" panose="020B0604020202020204" pitchFamily="34" charset="0"/>
              </a:rPr>
              <a:t>), sodium (</a:t>
            </a:r>
            <a:r>
              <a:rPr lang="en-AU" b="0" i="0" dirty="0" smtClean="0">
                <a:solidFill>
                  <a:srgbClr val="444444"/>
                </a:solidFill>
                <a:effectLst/>
                <a:latin typeface="KaTeX_Main"/>
              </a:rPr>
              <a:t>Na</a:t>
            </a:r>
            <a:r>
              <a:rPr lang="en-AU" b="0" i="0" dirty="0" smtClean="0">
                <a:solidFill>
                  <a:srgbClr val="444444"/>
                </a:solidFill>
                <a:effectLst/>
                <a:latin typeface="Arial" panose="020B0604020202020204" pitchFamily="34" charset="0"/>
              </a:rPr>
              <a:t>), potassium (</a:t>
            </a:r>
            <a:r>
              <a:rPr lang="en-AU" b="0" i="0" dirty="0" smtClean="0">
                <a:solidFill>
                  <a:srgbClr val="444444"/>
                </a:solidFill>
                <a:effectLst/>
                <a:latin typeface="KaTeX_Main"/>
              </a:rPr>
              <a:t>K</a:t>
            </a:r>
            <a:r>
              <a:rPr lang="en-AU" b="0" i="0" dirty="0" smtClean="0">
                <a:solidFill>
                  <a:srgbClr val="444444"/>
                </a:solidFill>
                <a:effectLst/>
                <a:latin typeface="Arial" panose="020B0604020202020204" pitchFamily="34" charset="0"/>
              </a:rPr>
              <a:t>), rubidium (</a:t>
            </a:r>
            <a:r>
              <a:rPr lang="en-AU" b="0" i="0" dirty="0" err="1" smtClean="0">
                <a:solidFill>
                  <a:srgbClr val="444444"/>
                </a:solidFill>
                <a:effectLst/>
                <a:latin typeface="KaTeX_Main"/>
              </a:rPr>
              <a:t>Rb</a:t>
            </a:r>
            <a:r>
              <a:rPr lang="en-AU" b="0" i="0" dirty="0" smtClean="0">
                <a:solidFill>
                  <a:srgbClr val="444444"/>
                </a:solidFill>
                <a:effectLst/>
                <a:latin typeface="Arial" panose="020B0604020202020204" pitchFamily="34" charset="0"/>
              </a:rPr>
              <a:t>), </a:t>
            </a:r>
            <a:r>
              <a:rPr lang="en-AU" b="0" i="0" dirty="0" err="1" smtClean="0">
                <a:solidFill>
                  <a:srgbClr val="444444"/>
                </a:solidFill>
                <a:effectLst/>
                <a:latin typeface="Arial" panose="020B0604020202020204" pitchFamily="34" charset="0"/>
              </a:rPr>
              <a:t>cesium</a:t>
            </a:r>
            <a:r>
              <a:rPr lang="en-AU" b="0" i="0" dirty="0" smtClean="0">
                <a:solidFill>
                  <a:srgbClr val="444444"/>
                </a:solidFill>
                <a:effectLst/>
                <a:latin typeface="Arial" panose="020B0604020202020204" pitchFamily="34" charset="0"/>
              </a:rPr>
              <a:t> or caesium (</a:t>
            </a:r>
            <a:r>
              <a:rPr lang="en-AU" b="0" i="0" dirty="0" smtClean="0">
                <a:solidFill>
                  <a:srgbClr val="444444"/>
                </a:solidFill>
                <a:effectLst/>
                <a:latin typeface="KaTeX_Main"/>
              </a:rPr>
              <a:t>Cs</a:t>
            </a:r>
            <a:r>
              <a:rPr lang="en-AU" b="0" i="0" dirty="0" smtClean="0">
                <a:solidFill>
                  <a:srgbClr val="444444"/>
                </a:solidFill>
                <a:effectLst/>
                <a:latin typeface="Arial" panose="020B0604020202020204" pitchFamily="34" charset="0"/>
              </a:rPr>
              <a:t>) and francium (</a:t>
            </a:r>
            <a:r>
              <a:rPr lang="en-AU" b="0" i="0" dirty="0" smtClean="0">
                <a:solidFill>
                  <a:srgbClr val="444444"/>
                </a:solidFill>
                <a:effectLst/>
                <a:latin typeface="KaTeX_Main"/>
              </a:rPr>
              <a:t>Fr</a:t>
            </a:r>
            <a:r>
              <a:rPr lang="en-AU" b="0" i="0" dirty="0" smtClean="0">
                <a:solidFill>
                  <a:srgbClr val="444444"/>
                </a:solidFill>
                <a:effectLst/>
                <a:latin typeface="Arial" panose="020B0604020202020204" pitchFamily="34" charset="0"/>
              </a:rPr>
              <a:t>, not covered in this lesson).</a:t>
            </a:r>
            <a:endParaRPr lang="en-AU" dirty="0"/>
          </a:p>
        </p:txBody>
      </p:sp>
    </p:spTree>
    <p:extLst>
      <p:ext uri="{BB962C8B-B14F-4D97-AF65-F5344CB8AC3E}">
        <p14:creationId xmlns:p14="http://schemas.microsoft.com/office/powerpoint/2010/main" val="2830979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648038"/>
            <a:ext cx="107823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Alkali metals are </a:t>
            </a:r>
            <a:r>
              <a:rPr lang="en-AU" b="1" i="0" dirty="0" smtClean="0">
                <a:solidFill>
                  <a:srgbClr val="0000FF"/>
                </a:solidFill>
                <a:effectLst/>
                <a:latin typeface="Arial" panose="020B0604020202020204" pitchFamily="34" charset="0"/>
              </a:rPr>
              <a:t>very soft</a:t>
            </a:r>
            <a:r>
              <a:rPr lang="en-AU" b="0" i="0" dirty="0" smtClean="0">
                <a:solidFill>
                  <a:srgbClr val="444444"/>
                </a:solidFill>
                <a:effectLst/>
                <a:latin typeface="Arial" panose="020B0604020202020204" pitchFamily="34" charset="0"/>
              </a:rPr>
              <a:t> and you can cut most of them with a knife.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Alkali metals </a:t>
            </a:r>
            <a:r>
              <a:rPr lang="en-AU" b="1" i="0" dirty="0" smtClean="0">
                <a:solidFill>
                  <a:srgbClr val="FF0000"/>
                </a:solidFill>
                <a:effectLst/>
                <a:latin typeface="Arial" panose="020B0604020202020204" pitchFamily="34" charset="0"/>
              </a:rPr>
              <a:t>react violently with water.</a:t>
            </a:r>
            <a:r>
              <a:rPr lang="en-AU" b="0" i="0" dirty="0" smtClean="0">
                <a:solidFill>
                  <a:srgbClr val="444444"/>
                </a:solidFill>
                <a:effectLst/>
                <a:latin typeface="Arial" panose="020B0604020202020204" pitchFamily="34" charset="0"/>
              </a:rPr>
              <a:t> Any alkali metals stored in your school will probably be </a:t>
            </a:r>
            <a:r>
              <a:rPr lang="en-AU" b="1" i="0" dirty="0" smtClean="0">
                <a:solidFill>
                  <a:srgbClr val="444444"/>
                </a:solidFill>
                <a:effectLst/>
                <a:latin typeface="Arial" panose="020B0604020202020204" pitchFamily="34" charset="0"/>
              </a:rPr>
              <a:t>completely submerged in oil</a:t>
            </a:r>
            <a:r>
              <a:rPr lang="en-AU" b="0" i="0" dirty="0" smtClean="0">
                <a:solidFill>
                  <a:srgbClr val="444444"/>
                </a:solidFill>
                <a:effectLst/>
                <a:latin typeface="Arial" panose="020B0604020202020204" pitchFamily="34" charset="0"/>
              </a:rPr>
              <a:t> to avoid unwanted reactions.</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421717304.20511g/1421717284065-1768650074-2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6275" y="3648075"/>
            <a:ext cx="1257300"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171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3100" y="790139"/>
            <a:ext cx="10109200" cy="2585323"/>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Alkali metals will react to produce </a:t>
            </a:r>
            <a:r>
              <a:rPr lang="en-AU" b="1" i="0" dirty="0" smtClean="0">
                <a:solidFill>
                  <a:srgbClr val="FF0000"/>
                </a:solidFill>
                <a:effectLst/>
                <a:latin typeface="Arial" panose="020B0604020202020204" pitchFamily="34" charset="0"/>
              </a:rPr>
              <a:t>similar compounds.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For example: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They will all react with </a:t>
            </a:r>
            <a:r>
              <a:rPr lang="en-AU" b="1" i="0" dirty="0" smtClean="0">
                <a:solidFill>
                  <a:srgbClr val="0000FF"/>
                </a:solidFill>
                <a:effectLst/>
                <a:latin typeface="Arial" panose="020B0604020202020204" pitchFamily="34" charset="0"/>
              </a:rPr>
              <a:t>chlorine</a:t>
            </a:r>
            <a:r>
              <a:rPr lang="en-AU" b="0" i="0" dirty="0" smtClean="0">
                <a:solidFill>
                  <a:srgbClr val="444444"/>
                </a:solidFill>
                <a:effectLst/>
                <a:latin typeface="Arial" panose="020B0604020202020204" pitchFamily="34" charset="0"/>
              </a:rPr>
              <a:t> to form ionic compounds with the formula </a:t>
            </a:r>
            <a:r>
              <a:rPr lang="en-AU" b="1" i="0" dirty="0" err="1" smtClean="0">
                <a:solidFill>
                  <a:srgbClr val="444444"/>
                </a:solidFill>
                <a:effectLst/>
                <a:latin typeface="KaTeX_Main"/>
              </a:rPr>
              <a:t>X</a:t>
            </a:r>
            <a:r>
              <a:rPr lang="en-AU" b="0" i="0" dirty="0" err="1" smtClean="0">
                <a:solidFill>
                  <a:srgbClr val="444444"/>
                </a:solidFill>
                <a:effectLst/>
                <a:latin typeface="KaTeX_Main"/>
              </a:rPr>
              <a:t>Cl</a:t>
            </a:r>
            <a:r>
              <a:rPr lang="en-AU" b="0" i="0" dirty="0" smtClean="0">
                <a:solidFill>
                  <a:srgbClr val="444444"/>
                </a:solidFill>
                <a:effectLst/>
                <a:latin typeface="Arial" panose="020B0604020202020204" pitchFamily="34" charset="0"/>
              </a:rPr>
              <a:t>, where </a:t>
            </a:r>
            <a:r>
              <a:rPr lang="en-AU" b="1"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 alkali metal.</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They will all react with </a:t>
            </a:r>
            <a:r>
              <a:rPr lang="en-AU" b="1" i="0" dirty="0" smtClean="0">
                <a:solidFill>
                  <a:srgbClr val="0000FF"/>
                </a:solidFill>
                <a:effectLst/>
                <a:latin typeface="Arial" panose="020B0604020202020204" pitchFamily="34" charset="0"/>
              </a:rPr>
              <a:t>oxygen</a:t>
            </a:r>
            <a:r>
              <a:rPr lang="en-AU" b="0" i="0" dirty="0" smtClean="0">
                <a:solidFill>
                  <a:srgbClr val="444444"/>
                </a:solidFill>
                <a:effectLst/>
                <a:latin typeface="Arial" panose="020B0604020202020204" pitchFamily="34" charset="0"/>
              </a:rPr>
              <a:t> to form ionic compounds with the formula </a:t>
            </a:r>
            <a:r>
              <a:rPr lang="en-AU" b="1" i="0" dirty="0" smtClean="0">
                <a:solidFill>
                  <a:srgbClr val="444444"/>
                </a:solidFill>
                <a:effectLst/>
                <a:latin typeface="KaTeX_Main"/>
              </a:rPr>
              <a:t>X</a:t>
            </a:r>
            <a:r>
              <a:rPr lang="en-AU" b="1" i="0" baseline="-25000" dirty="0" smtClean="0">
                <a:solidFill>
                  <a:srgbClr val="444444"/>
                </a:solidFill>
                <a:effectLst/>
                <a:latin typeface="KaTeX_Main"/>
              </a:rPr>
              <a:t>2</a:t>
            </a:r>
            <a:r>
              <a:rPr lang="en-AU" b="0" i="0" dirty="0" smtClean="0">
                <a:solidFill>
                  <a:srgbClr val="444444"/>
                </a:solidFill>
                <a:effectLst/>
                <a:latin typeface="KaTeX_Main"/>
              </a:rPr>
              <a:t>​O</a:t>
            </a:r>
            <a:r>
              <a:rPr lang="en-AU" b="0" i="0" dirty="0" smtClean="0">
                <a:solidFill>
                  <a:srgbClr val="444444"/>
                </a:solidFill>
                <a:effectLst/>
                <a:latin typeface="Arial" panose="020B0604020202020204" pitchFamily="34" charset="0"/>
              </a:rPr>
              <a:t>, where </a:t>
            </a:r>
            <a:r>
              <a:rPr lang="en-AU" b="1"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 alkali metal.</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894012" y="3724274"/>
            <a:ext cx="5900738" cy="1685925"/>
          </a:xfrm>
          <a:prstGeom prst="rect">
            <a:avLst/>
          </a:prstGeom>
        </p:spPr>
      </p:pic>
    </p:spTree>
    <p:extLst>
      <p:ext uri="{BB962C8B-B14F-4D97-AF65-F5344CB8AC3E}">
        <p14:creationId xmlns:p14="http://schemas.microsoft.com/office/powerpoint/2010/main" val="3270876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uixxJtJPVXk"/>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859162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369838"/>
            <a:ext cx="116459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Group </a:t>
            </a:r>
            <a:r>
              <a:rPr lang="en-AU" b="0" i="0" dirty="0" smtClean="0">
                <a:solidFill>
                  <a:srgbClr val="444444"/>
                </a:solidFill>
                <a:effectLst/>
                <a:latin typeface="KaTeX_Main"/>
              </a:rPr>
              <a:t>17</a:t>
            </a:r>
            <a:r>
              <a:rPr lang="en-AU" b="0" i="0" dirty="0" smtClean="0">
                <a:solidFill>
                  <a:srgbClr val="444444"/>
                </a:solidFill>
                <a:effectLst/>
                <a:latin typeface="Arial" panose="020B0604020202020204" pitchFamily="34" charset="0"/>
              </a:rPr>
              <a:t> elements are known as </a:t>
            </a:r>
            <a:r>
              <a:rPr lang="en-AU" b="1" i="0" dirty="0" smtClean="0">
                <a:solidFill>
                  <a:srgbClr val="FF0000"/>
                </a:solidFill>
                <a:effectLst/>
                <a:latin typeface="Arial" panose="020B0604020202020204" pitchFamily="34" charset="0"/>
              </a:rPr>
              <a:t>halogens.</a:t>
            </a:r>
            <a:r>
              <a:rPr lang="en-AU" b="0" i="0" dirty="0" smtClean="0">
                <a:solidFill>
                  <a:srgbClr val="444444"/>
                </a:solidFill>
                <a:effectLst/>
                <a:latin typeface="Arial" panose="020B0604020202020204" pitchFamily="34" charset="0"/>
              </a:rPr>
              <a:t> As they are found on the right side of the periodic table, they are non-metals, so do not show metallic properties.</a:t>
            </a: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FF0000"/>
                </a:solidFill>
                <a:effectLst/>
                <a:latin typeface="Arial" panose="020B0604020202020204" pitchFamily="34" charset="0"/>
              </a:rPr>
              <a:t>Halogens</a:t>
            </a:r>
            <a:r>
              <a:rPr lang="en-AU" b="0" i="0" dirty="0" smtClean="0">
                <a:solidFill>
                  <a:srgbClr val="444444"/>
                </a:solidFill>
                <a:effectLst/>
                <a:latin typeface="Arial" panose="020B0604020202020204" pitchFamily="34" charset="0"/>
              </a:rPr>
              <a:t> are quite reactive. Halogens have </a:t>
            </a:r>
            <a:r>
              <a:rPr lang="en-AU" b="0" i="0" dirty="0" smtClean="0">
                <a:solidFill>
                  <a:srgbClr val="444444"/>
                </a:solidFill>
                <a:effectLst/>
                <a:latin typeface="KaTeX_Main"/>
              </a:rPr>
              <a:t>7</a:t>
            </a:r>
            <a:r>
              <a:rPr lang="en-AU" b="0" i="0" dirty="0" smtClean="0">
                <a:solidFill>
                  <a:srgbClr val="444444"/>
                </a:solidFill>
                <a:effectLst/>
                <a:latin typeface="Arial" panose="020B0604020202020204" pitchFamily="34" charset="0"/>
              </a:rPr>
              <a:t> valence electrons, and can form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covalent bond (share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or ions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(take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456267081.474111g/1456267086803-4210095784659990-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2449512"/>
            <a:ext cx="619125" cy="329565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www.educationperfect.com/media/content/Science/1455872416.579041g/1455872418636-3772497920295001-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675" y="3135312"/>
            <a:ext cx="400050" cy="1628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nvGraphicFramePr>
        <p:xfrm>
          <a:off x="4429125" y="3258344"/>
          <a:ext cx="3333750" cy="1485900"/>
        </p:xfrm>
        <a:graphic>
          <a:graphicData uri="http://schemas.openxmlformats.org/drawingml/2006/table">
            <a:tbl>
              <a:tblPr/>
              <a:tblGrid>
                <a:gridCol w="3333750">
                  <a:extLst>
                    <a:ext uri="{9D8B030D-6E8A-4147-A177-3AD203B41FA5}">
                      <a16:colId xmlns:a16="http://schemas.microsoft.com/office/drawing/2014/main" val="1388832858"/>
                    </a:ext>
                  </a:extLst>
                </a:gridCol>
              </a:tblGrid>
              <a:tr h="0">
                <a:tc>
                  <a:txBody>
                    <a:bodyPr/>
                    <a:lstStyle/>
                    <a:p>
                      <a:pPr algn="l" fontAlgn="ctr"/>
                      <a:r>
                        <a:rPr lang="en-AU" b="1" i="1" dirty="0">
                          <a:effectLst/>
                        </a:rPr>
                        <a:t/>
                      </a:r>
                      <a:br>
                        <a:rPr lang="en-AU" b="1" i="1" dirty="0">
                          <a:effectLst/>
                        </a:rPr>
                      </a:br>
                      <a:r>
                        <a:rPr lang="en-AU" b="1" i="1" dirty="0">
                          <a:effectLst/>
                        </a:rPr>
                        <a:t>Reactivity decreases</a:t>
                      </a:r>
                      <a:r>
                        <a:rPr lang="en-AU" i="1" dirty="0">
                          <a:effectLst/>
                        </a:rPr>
                        <a:t> as you </a:t>
                      </a:r>
                      <a:r>
                        <a:rPr lang="en-AU" b="1" i="1" dirty="0">
                          <a:effectLst/>
                        </a:rPr>
                        <a:t>move down the group.</a:t>
                      </a:r>
                      <a:r>
                        <a:rPr lang="en-AU" i="1" dirty="0">
                          <a:effectLst/>
                        </a:rPr>
                        <a:t> This is because the electronegativity decreases as the outer shell gets further away.</a:t>
                      </a:r>
                      <a:endParaRPr lang="en-AU" dirty="0">
                        <a:effectLst/>
                      </a:endParaRP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512158483"/>
                  </a:ext>
                </a:extLst>
              </a:tr>
            </a:tbl>
          </a:graphicData>
        </a:graphic>
      </p:graphicFrame>
      <p:sp>
        <p:nvSpPr>
          <p:cNvPr id="4" name="Rectangle 3"/>
          <p:cNvSpPr/>
          <p:nvPr/>
        </p:nvSpPr>
        <p:spPr>
          <a:xfrm>
            <a:off x="4013200" y="5366435"/>
            <a:ext cx="6096000" cy="646331"/>
          </a:xfrm>
          <a:prstGeom prst="rect">
            <a:avLst/>
          </a:prstGeom>
        </p:spPr>
        <p:txBody>
          <a:bodyPr>
            <a:spAutoFit/>
          </a:bodyPr>
          <a:lstStyle/>
          <a:p>
            <a:r>
              <a:rPr lang="en-AU" b="0" i="0" dirty="0" smtClean="0">
                <a:solidFill>
                  <a:srgbClr val="444444"/>
                </a:solidFill>
                <a:effectLst/>
                <a:latin typeface="Arial" panose="020B0604020202020204" pitchFamily="34" charset="0"/>
              </a:rPr>
              <a:t>The halogens are fluorine (</a:t>
            </a:r>
            <a:r>
              <a:rPr lang="en-AU" b="0" i="0" dirty="0" smtClean="0">
                <a:solidFill>
                  <a:srgbClr val="444444"/>
                </a:solidFill>
                <a:effectLst/>
                <a:latin typeface="KaTeX_Main"/>
              </a:rPr>
              <a:t>F</a:t>
            </a:r>
            <a:r>
              <a:rPr lang="en-AU" b="0" i="0" dirty="0" smtClean="0">
                <a:solidFill>
                  <a:srgbClr val="444444"/>
                </a:solidFill>
                <a:effectLst/>
                <a:latin typeface="Arial" panose="020B0604020202020204" pitchFamily="34" charset="0"/>
              </a:rPr>
              <a:t>), chlorine (</a:t>
            </a:r>
            <a:r>
              <a:rPr lang="en-AU" b="0" i="0" dirty="0" smtClean="0">
                <a:solidFill>
                  <a:srgbClr val="444444"/>
                </a:solidFill>
                <a:effectLst/>
                <a:latin typeface="KaTeX_Main"/>
              </a:rPr>
              <a:t>Cl</a:t>
            </a:r>
            <a:r>
              <a:rPr lang="en-AU" b="0" i="0" dirty="0" smtClean="0">
                <a:solidFill>
                  <a:srgbClr val="444444"/>
                </a:solidFill>
                <a:effectLst/>
                <a:latin typeface="Arial" panose="020B0604020202020204" pitchFamily="34" charset="0"/>
              </a:rPr>
              <a:t>), bromine (</a:t>
            </a:r>
            <a:r>
              <a:rPr lang="en-AU" b="0" i="0" dirty="0" smtClean="0">
                <a:solidFill>
                  <a:srgbClr val="444444"/>
                </a:solidFill>
                <a:effectLst/>
                <a:latin typeface="KaTeX_Main"/>
              </a:rPr>
              <a:t>Br</a:t>
            </a:r>
            <a:r>
              <a:rPr lang="en-AU" b="0" i="0" dirty="0" smtClean="0">
                <a:solidFill>
                  <a:srgbClr val="444444"/>
                </a:solidFill>
                <a:effectLst/>
                <a:latin typeface="Arial" panose="020B0604020202020204" pitchFamily="34" charset="0"/>
              </a:rPr>
              <a:t>), iodine (</a:t>
            </a:r>
            <a:r>
              <a:rPr lang="en-AU" b="0" i="0" dirty="0" smtClean="0">
                <a:solidFill>
                  <a:srgbClr val="444444"/>
                </a:solidFill>
                <a:effectLst/>
                <a:latin typeface="KaTeX_Main"/>
              </a:rPr>
              <a:t>I</a:t>
            </a:r>
            <a:r>
              <a:rPr lang="en-AU" b="0" i="0" dirty="0" smtClean="0">
                <a:solidFill>
                  <a:srgbClr val="444444"/>
                </a:solidFill>
                <a:effectLst/>
                <a:latin typeface="Arial" panose="020B0604020202020204" pitchFamily="34" charset="0"/>
              </a:rPr>
              <a:t>) and astatine (</a:t>
            </a:r>
            <a:r>
              <a:rPr lang="en-AU" b="0" i="0" dirty="0" smtClean="0">
                <a:solidFill>
                  <a:srgbClr val="444444"/>
                </a:solidFill>
                <a:effectLst/>
                <a:latin typeface="KaTeX_Main"/>
              </a:rPr>
              <a:t>At</a:t>
            </a:r>
            <a:r>
              <a:rPr lang="en-AU" b="0" i="0" dirty="0" smtClean="0">
                <a:solidFill>
                  <a:srgbClr val="444444"/>
                </a:solidFill>
                <a:effectLst/>
                <a:latin typeface="Arial" panose="020B0604020202020204" pitchFamily="34" charset="0"/>
              </a:rPr>
              <a:t>, not covered in this lesson).</a:t>
            </a:r>
            <a:endParaRPr lang="en-AU" dirty="0"/>
          </a:p>
        </p:txBody>
      </p:sp>
    </p:spTree>
    <p:extLst>
      <p:ext uri="{BB962C8B-B14F-4D97-AF65-F5344CB8AC3E}">
        <p14:creationId xmlns:p14="http://schemas.microsoft.com/office/powerpoint/2010/main" val="2717070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900" y="795635"/>
            <a:ext cx="108458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all bond covalently to form </a:t>
            </a:r>
            <a:r>
              <a:rPr lang="en-AU" b="1" i="0" dirty="0" smtClean="0">
                <a:solidFill>
                  <a:srgbClr val="FF0000"/>
                </a:solidFill>
                <a:effectLst/>
                <a:latin typeface="Arial" panose="020B0604020202020204" pitchFamily="34" charset="0"/>
              </a:rPr>
              <a:t>diatomic molecules</a:t>
            </a:r>
            <a:r>
              <a:rPr lang="en-AU" b="0" i="0" dirty="0" smtClean="0">
                <a:solidFill>
                  <a:srgbClr val="444444"/>
                </a:solidFill>
                <a:effectLst/>
                <a:latin typeface="Arial" panose="020B0604020202020204" pitchFamily="34" charset="0"/>
              </a:rPr>
              <a:t> (molecules with two atoms). Halogens are typically coloured, and toxic.</a:t>
            </a:r>
            <a:endParaRPr lang="en-AU" dirty="0"/>
          </a:p>
        </p:txBody>
      </p:sp>
      <p:pic>
        <p:nvPicPr>
          <p:cNvPr id="3" name="Picture 2"/>
          <p:cNvPicPr>
            <a:picLocks noChangeAspect="1"/>
          </p:cNvPicPr>
          <p:nvPr/>
        </p:nvPicPr>
        <p:blipFill>
          <a:blip r:embed="rId2"/>
          <a:stretch>
            <a:fillRect/>
          </a:stretch>
        </p:blipFill>
        <p:spPr>
          <a:xfrm>
            <a:off x="2520950" y="1722437"/>
            <a:ext cx="5821028" cy="2024063"/>
          </a:xfrm>
          <a:prstGeom prst="rect">
            <a:avLst/>
          </a:prstGeom>
        </p:spPr>
      </p:pic>
      <p:pic>
        <p:nvPicPr>
          <p:cNvPr id="9218" name="Picture 2" descr="https://www.educationperfect.com/media/content/Science/1455763731.302891g/1455763765317-1988880387833144-optimis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3946306"/>
            <a:ext cx="435292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976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847636"/>
            <a:ext cx="10883900" cy="923330"/>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Halogens can bond </a:t>
            </a:r>
            <a:r>
              <a:rPr lang="en-AU" b="1" i="0" dirty="0" smtClean="0">
                <a:solidFill>
                  <a:srgbClr val="FF0000"/>
                </a:solidFill>
                <a:effectLst/>
                <a:latin typeface="Arial" panose="020B0604020202020204" pitchFamily="34" charset="0"/>
              </a:rPr>
              <a:t>covalently</a:t>
            </a:r>
            <a:r>
              <a:rPr lang="en-AU" b="1" i="0" dirty="0" smtClean="0">
                <a:solidFill>
                  <a:srgbClr val="444444"/>
                </a:solidFill>
                <a:effectLst/>
                <a:latin typeface="Arial" panose="020B0604020202020204" pitchFamily="34" charset="0"/>
              </a:rPr>
              <a:t> </a:t>
            </a:r>
            <a:r>
              <a:rPr lang="en-AU" b="0" i="0" dirty="0" smtClean="0">
                <a:solidFill>
                  <a:srgbClr val="444444"/>
                </a:solidFill>
                <a:effectLst/>
                <a:latin typeface="Arial" panose="020B0604020202020204" pitchFamily="34" charset="0"/>
              </a:rPr>
              <a:t>or</a:t>
            </a:r>
            <a:r>
              <a:rPr lang="en-AU" b="1" i="0" dirty="0" smtClean="0">
                <a:solidFill>
                  <a:srgbClr val="444444"/>
                </a:solidFill>
                <a:effectLst/>
                <a:latin typeface="Arial" panose="020B0604020202020204" pitchFamily="34" charset="0"/>
              </a:rPr>
              <a:t> </a:t>
            </a:r>
            <a:r>
              <a:rPr lang="en-AU" b="1" i="0" dirty="0" err="1" smtClean="0">
                <a:solidFill>
                  <a:srgbClr val="0000FF"/>
                </a:solidFill>
                <a:effectLst/>
                <a:latin typeface="Arial" panose="020B0604020202020204" pitchFamily="34" charset="0"/>
              </a:rPr>
              <a:t>ionically</a:t>
            </a:r>
            <a:r>
              <a:rPr lang="en-AU" b="1" i="0" dirty="0" smtClean="0">
                <a:solidFill>
                  <a:srgbClr val="0000FF"/>
                </a:solidFill>
                <a:effectLst/>
                <a:latin typeface="Arial" panose="020B0604020202020204" pitchFamily="34" charset="0"/>
              </a:rPr>
              <a:t>;</a:t>
            </a:r>
            <a:r>
              <a:rPr lang="en-AU" b="0" i="0" dirty="0" smtClean="0">
                <a:solidFill>
                  <a:srgbClr val="444444"/>
                </a:solidFill>
                <a:effectLst/>
                <a:latin typeface="Arial" panose="020B0604020202020204" pitchFamily="34" charset="0"/>
              </a:rPr>
              <a:t> they can form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covalent bond (by sharing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or an ion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(by taking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10242" name="Picture 2" descr="https://www.educationperfect.com/media/content/Science/1455749355.809191g/1455749354211-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7300" y="2192337"/>
            <a:ext cx="6667500"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455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u2ogMUDBaf4"/>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481893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554335"/>
            <a:ext cx="118618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are </a:t>
            </a:r>
            <a:r>
              <a:rPr lang="en-AU" b="1" i="0" dirty="0" smtClean="0">
                <a:solidFill>
                  <a:srgbClr val="444444"/>
                </a:solidFill>
                <a:effectLst/>
                <a:latin typeface="Arial" panose="020B0604020202020204" pitchFamily="34" charset="0"/>
              </a:rPr>
              <a:t>reactive</a:t>
            </a:r>
            <a:r>
              <a:rPr lang="en-AU" b="0" i="0" dirty="0" smtClean="0">
                <a:solidFill>
                  <a:srgbClr val="444444"/>
                </a:solidFill>
                <a:effectLst/>
                <a:latin typeface="Arial" panose="020B0604020202020204" pitchFamily="34" charset="0"/>
              </a:rPr>
              <a:t> because they are only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electron from fulfilling the octet rule, and have the electronegativity to easily gain this electron.</a:t>
            </a:r>
            <a:endParaRPr lang="en-AU" dirty="0"/>
          </a:p>
        </p:txBody>
      </p:sp>
      <p:pic>
        <p:nvPicPr>
          <p:cNvPr id="11266" name="Picture 2" descr="https://www.educationperfect.com/media/content/Science/1442441001.023841g/1442441031930-3014960610621007-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875" y="1200666"/>
            <a:ext cx="2003425" cy="335026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89000" y="4735599"/>
            <a:ext cx="105664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Halogens are </a:t>
            </a:r>
            <a:r>
              <a:rPr lang="en-AU" b="1" i="0" dirty="0" smtClean="0">
                <a:solidFill>
                  <a:srgbClr val="FF0000"/>
                </a:solidFill>
                <a:effectLst/>
                <a:latin typeface="Arial" panose="020B0604020202020204" pitchFamily="34" charset="0"/>
              </a:rPr>
              <a:t>toxic</a:t>
            </a:r>
            <a:r>
              <a:rPr lang="en-AU" b="0" i="0" dirty="0" smtClean="0">
                <a:solidFill>
                  <a:srgbClr val="444444"/>
                </a:solidFill>
                <a:effectLst/>
                <a:latin typeface="Arial" panose="020B0604020202020204" pitchFamily="34" charset="0"/>
              </a:rPr>
              <a:t> because they can </a:t>
            </a:r>
            <a:r>
              <a:rPr lang="en-AU" b="1" i="0" dirty="0" smtClean="0">
                <a:solidFill>
                  <a:srgbClr val="0000FF"/>
                </a:solidFill>
                <a:effectLst/>
                <a:latin typeface="Arial" panose="020B0604020202020204" pitchFamily="34" charset="0"/>
              </a:rPr>
              <a:t>react</a:t>
            </a:r>
            <a:r>
              <a:rPr lang="en-AU" b="0" i="0" dirty="0" smtClean="0">
                <a:solidFill>
                  <a:srgbClr val="444444"/>
                </a:solidFill>
                <a:effectLst/>
                <a:latin typeface="Arial" panose="020B0604020202020204" pitchFamily="34" charset="0"/>
              </a:rPr>
              <a:t> with most of the chemical compounds in your body! This is why the most reactive halogens are the most toxic.</a:t>
            </a:r>
            <a:endParaRPr lang="en-AU" dirty="0"/>
          </a:p>
        </p:txBody>
      </p:sp>
    </p:spTree>
    <p:extLst>
      <p:ext uri="{BB962C8B-B14F-4D97-AF65-F5344CB8AC3E}">
        <p14:creationId xmlns:p14="http://schemas.microsoft.com/office/powerpoint/2010/main" val="2094402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856040"/>
            <a:ext cx="116586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Halogens all form </a:t>
            </a:r>
            <a:r>
              <a:rPr lang="en-AU" b="1" i="0" dirty="0" smtClean="0">
                <a:solidFill>
                  <a:srgbClr val="009900"/>
                </a:solidFill>
                <a:effectLst/>
                <a:latin typeface="Arial" panose="020B0604020202020204" pitchFamily="34" charset="0"/>
              </a:rPr>
              <a:t>similar compounds.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Arial" panose="020B0604020202020204" pitchFamily="34" charset="0"/>
              </a:rPr>
              <a:t>For example: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Halogens will react with sodium to form an </a:t>
            </a:r>
            <a:r>
              <a:rPr lang="en-AU" b="1" i="0" dirty="0" smtClean="0">
                <a:solidFill>
                  <a:srgbClr val="0000FF"/>
                </a:solidFill>
                <a:effectLst/>
                <a:latin typeface="Arial" panose="020B0604020202020204" pitchFamily="34" charset="0"/>
              </a:rPr>
              <a:t>ionic</a:t>
            </a:r>
            <a:r>
              <a:rPr lang="en-AU" b="0" i="0" dirty="0" smtClean="0">
                <a:solidFill>
                  <a:srgbClr val="444444"/>
                </a:solidFill>
                <a:effectLst/>
                <a:latin typeface="Arial" panose="020B0604020202020204" pitchFamily="34" charset="0"/>
              </a:rPr>
              <a:t> compound with the formula </a:t>
            </a:r>
            <a:r>
              <a:rPr lang="en-AU" b="0" i="0" dirty="0" err="1" smtClean="0">
                <a:solidFill>
                  <a:srgbClr val="444444"/>
                </a:solidFill>
                <a:effectLst/>
                <a:latin typeface="KaTeX_Main"/>
              </a:rPr>
              <a:t>NaX</a:t>
            </a:r>
            <a:r>
              <a:rPr lang="en-AU" b="0" i="0" dirty="0" smtClean="0">
                <a:solidFill>
                  <a:srgbClr val="444444"/>
                </a:solidFill>
                <a:effectLst/>
                <a:latin typeface="Arial" panose="020B0604020202020204" pitchFamily="34" charset="0"/>
              </a:rPr>
              <a:t>, where </a:t>
            </a:r>
            <a:r>
              <a:rPr lang="en-AU" b="0"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any halogen.</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Halogens will react with carbon to form a </a:t>
            </a:r>
            <a:r>
              <a:rPr lang="en-AU" b="1" i="0" dirty="0" smtClean="0">
                <a:solidFill>
                  <a:srgbClr val="FF0000"/>
                </a:solidFill>
                <a:effectLst/>
                <a:latin typeface="Arial" panose="020B0604020202020204" pitchFamily="34" charset="0"/>
              </a:rPr>
              <a:t>covalent</a:t>
            </a:r>
            <a:r>
              <a:rPr lang="en-AU" b="0" i="0" dirty="0" smtClean="0">
                <a:solidFill>
                  <a:srgbClr val="444444"/>
                </a:solidFill>
                <a:effectLst/>
                <a:latin typeface="Arial" panose="020B0604020202020204" pitchFamily="34" charset="0"/>
              </a:rPr>
              <a:t> compound with the formula </a:t>
            </a:r>
            <a:r>
              <a:rPr lang="en-AU" b="0" i="0" dirty="0" smtClean="0">
                <a:solidFill>
                  <a:srgbClr val="444444"/>
                </a:solidFill>
                <a:effectLst/>
                <a:latin typeface="KaTeX_Main"/>
              </a:rPr>
              <a:t>CX</a:t>
            </a:r>
            <a:r>
              <a:rPr lang="en-AU" b="0" i="0" baseline="-25000" dirty="0" smtClean="0">
                <a:solidFill>
                  <a:srgbClr val="444444"/>
                </a:solidFill>
                <a:effectLst/>
                <a:latin typeface="KaTeX_Main"/>
              </a:rPr>
              <a:t>4</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where </a:t>
            </a:r>
            <a:r>
              <a:rPr lang="en-AU" b="0" i="0" dirty="0" smtClean="0">
                <a:solidFill>
                  <a:srgbClr val="444444"/>
                </a:solidFill>
                <a:effectLst/>
                <a:latin typeface="KaTeX_Main"/>
              </a:rPr>
              <a:t>X</a:t>
            </a:r>
            <a:r>
              <a:rPr lang="en-AU" b="0" i="0" dirty="0" smtClean="0">
                <a:solidFill>
                  <a:srgbClr val="444444"/>
                </a:solidFill>
                <a:effectLst/>
                <a:latin typeface="Arial" panose="020B0604020202020204" pitchFamily="34" charset="0"/>
              </a:rPr>
              <a:t> is any halogen.</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484633" y="3614737"/>
            <a:ext cx="7756134" cy="1897063"/>
          </a:xfrm>
          <a:prstGeom prst="rect">
            <a:avLst/>
          </a:prstGeom>
        </p:spPr>
      </p:pic>
    </p:spTree>
    <p:extLst>
      <p:ext uri="{BB962C8B-B14F-4D97-AF65-F5344CB8AC3E}">
        <p14:creationId xmlns:p14="http://schemas.microsoft.com/office/powerpoint/2010/main" val="125819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Words>
  <Application>Microsoft Office PowerPoint</Application>
  <PresentationFormat>Widescreen</PresentationFormat>
  <Paragraphs>54</Paragraphs>
  <Slides>17</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KaTeX_Main</vt:lpstr>
      <vt:lpstr>Office Theme</vt:lpstr>
      <vt:lpstr>Periodic Trends: Metallic Character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Periodic Trends: Metallic Character</dc:title>
  <dc:creator>Joseph D'cruz</dc:creator>
  <cp:lastModifiedBy>Joseph D'cruz</cp:lastModifiedBy>
  <cp:revision>1</cp:revision>
  <dcterms:created xsi:type="dcterms:W3CDTF">2020-09-06T02:22:51Z</dcterms:created>
  <dcterms:modified xsi:type="dcterms:W3CDTF">2020-09-06T02:23:26Z</dcterms:modified>
</cp:coreProperties>
</file>
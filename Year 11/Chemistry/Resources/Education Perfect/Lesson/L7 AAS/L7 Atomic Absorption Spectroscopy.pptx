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347E-CF67-434F-AAA3-3947F643D9A3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7099-DBF6-47EF-8D40-125D5FEA2D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9181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347E-CF67-434F-AAA3-3947F643D9A3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7099-DBF6-47EF-8D40-125D5FEA2D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6346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347E-CF67-434F-AAA3-3947F643D9A3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7099-DBF6-47EF-8D40-125D5FEA2D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7414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347E-CF67-434F-AAA3-3947F643D9A3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7099-DBF6-47EF-8D40-125D5FEA2D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7060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347E-CF67-434F-AAA3-3947F643D9A3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7099-DBF6-47EF-8D40-125D5FEA2D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957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347E-CF67-434F-AAA3-3947F643D9A3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7099-DBF6-47EF-8D40-125D5FEA2D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2807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347E-CF67-434F-AAA3-3947F643D9A3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7099-DBF6-47EF-8D40-125D5FEA2D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7408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347E-CF67-434F-AAA3-3947F643D9A3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7099-DBF6-47EF-8D40-125D5FEA2D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579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347E-CF67-434F-AAA3-3947F643D9A3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7099-DBF6-47EF-8D40-125D5FEA2D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4904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347E-CF67-434F-AAA3-3947F643D9A3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7099-DBF6-47EF-8D40-125D5FEA2D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7839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A347E-CF67-434F-AAA3-3947F643D9A3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7099-DBF6-47EF-8D40-125D5FEA2D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3171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A347E-CF67-434F-AAA3-3947F643D9A3}" type="datetimeFigureOut">
              <a:rPr lang="en-AU" smtClean="0"/>
              <a:t>19/12/2021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A7099-DBF6-47EF-8D40-125D5FEA2D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6101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_KZjb9G3hB8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Atomic Absorption Spectroscopy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0819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556736"/>
            <a:ext cx="10769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about an analytical technique called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atomic absorption spectroscopy (AAS).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will learn how the process works, what it is used for, and will look at some examples of how the technique is used.</a:t>
            </a:r>
            <a:endParaRPr lang="en-AU" dirty="0"/>
          </a:p>
        </p:txBody>
      </p:sp>
      <p:pic>
        <p:nvPicPr>
          <p:cNvPr id="1026" name="Picture 2" descr="https://www.educationperfect.com/media/content/Science/1503009968.080141g/1503009970553-264619404033530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775" y="3821112"/>
            <a:ext cx="5438775" cy="904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929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419944"/>
            <a:ext cx="110744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technique of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atomic absorption spectroscopy (AAS)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was first used in the late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19th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century by Robert Bunsen and Gustav Kirchhoff in Germany. These scientists were studying the effects of heating substances. Robert Bunsen developed a new, improved method of heating, which we now call the 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bunsen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burner. They noticed that when substances were heated, low density gases gave off an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emission spectrum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characteristic of the elements present. They also discovered that vaporised substances also absorbed specific wavelengths of light, dependent on the elements present, known as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absorption spectrum.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technique was refined in the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1950s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Sir Alan Walsh's team at the CSIRO in Melbourne. They improved the vaporisation process, using an 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electrothermal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method involving graphite tubes which is still used today.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937" y="3875087"/>
            <a:ext cx="5419725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543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0700" y="757535"/>
            <a:ext cx="1061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Atomic absorption spectroscopy (AAS)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used to detect cations, so can be used to measure the concentration of metals in:</a:t>
            </a: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292484"/>
              </p:ext>
            </p:extLst>
          </p:nvPr>
        </p:nvGraphicFramePr>
        <p:xfrm>
          <a:off x="1995442" y="1757204"/>
          <a:ext cx="7313658" cy="4122894"/>
        </p:xfrm>
        <a:graphic>
          <a:graphicData uri="http://schemas.openxmlformats.org/drawingml/2006/table">
            <a:tbl>
              <a:tblPr/>
              <a:tblGrid>
                <a:gridCol w="684258">
                  <a:extLst>
                    <a:ext uri="{9D8B030D-6E8A-4147-A177-3AD203B41FA5}">
                      <a16:colId xmlns:a16="http://schemas.microsoft.com/office/drawing/2014/main" val="3583958898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2439535599"/>
                    </a:ext>
                  </a:extLst>
                </a:gridCol>
              </a:tblGrid>
              <a:tr h="490134">
                <a:tc>
                  <a:txBody>
                    <a:bodyPr/>
                    <a:lstStyle/>
                    <a:p>
                      <a:pPr algn="l" fontAlgn="t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biological tissues, such as blood and urine.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743696"/>
                  </a:ext>
                </a:extLst>
              </a:tr>
              <a:tr h="490134">
                <a:tc>
                  <a:txBody>
                    <a:bodyPr/>
                    <a:lstStyle/>
                    <a:p>
                      <a:pPr algn="l" fontAlgn="t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water, testing for contamination such as industrial waste.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766199"/>
                  </a:ext>
                </a:extLst>
              </a:tr>
              <a:tr h="490134">
                <a:tc>
                  <a:txBody>
                    <a:bodyPr/>
                    <a:lstStyle/>
                    <a:p>
                      <a:pPr algn="l" fontAlgn="t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air, such as testing for lead pollution.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164592"/>
                  </a:ext>
                </a:extLst>
              </a:tr>
              <a:tr h="490134">
                <a:tc>
                  <a:txBody>
                    <a:bodyPr/>
                    <a:lstStyle/>
                    <a:p>
                      <a:pPr algn="l" fontAlgn="t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soil, testing for contaminants.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739206"/>
                  </a:ext>
                </a:extLst>
              </a:tr>
              <a:tr h="836112">
                <a:tc>
                  <a:txBody>
                    <a:bodyPr/>
                    <a:lstStyle/>
                    <a:p>
                      <a:pPr algn="l" fontAlgn="t"/>
                      <a:endParaRPr lang="en-AU" dirty="0" smtClean="0">
                        <a:effectLst/>
                      </a:endParaRPr>
                    </a:p>
                    <a:p>
                      <a:pPr algn="l" fontAlgn="t"/>
                      <a:r>
                        <a:rPr lang="en-AU" dirty="0" smtClean="0">
                          <a:effectLst/>
                        </a:rPr>
                        <a:t>•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food, checking for contamination due to pesticides and herbicides.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202503"/>
                  </a:ext>
                </a:extLst>
              </a:tr>
              <a:tr h="836112">
                <a:tc>
                  <a:txBody>
                    <a:bodyPr/>
                    <a:lstStyle/>
                    <a:p>
                      <a:pPr algn="l" fontAlgn="t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pharmaceuticals, testing for purity of drugs, which may contain the remains of catalysts in the products.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414130"/>
                  </a:ext>
                </a:extLst>
              </a:tr>
              <a:tr h="490134">
                <a:tc>
                  <a:txBody>
                    <a:bodyPr/>
                    <a:lstStyle/>
                    <a:p>
                      <a:pPr algn="l" fontAlgn="t"/>
                      <a:r>
                        <a:rPr lang="en-AU">
                          <a:effectLst/>
                        </a:rPr>
                        <a:t>•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alloys, testing the purity.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094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2593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_KZjb9G3hB8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819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31900" y="1470442"/>
            <a:ext cx="9931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key points to understanding AAS are that light with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specific frequencies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are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absorbed by different metals when they are vaporised.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energy absorbed excites electrons, moving them from their ground state to a higher energy level. The light is produced by hollow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cathode lamps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emit light with specific frequencies, which are absorbed by the vaporised sample.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The amount of light absorbed is proportional to the concentration of the metal ion in the sample.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amount of light absorbed is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compared to a calibration curve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drawn from known concentrations of the metal cation. This analysis can be done manually, but is generally done by the analysis software.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221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951637"/>
            <a:ext cx="11099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Below is shown a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continuous spectrum,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emission spectrum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Helium and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absorption spectrum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Helium.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looking at elements, note the emission and absorption spectrums are the inverse of each other: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09581878.130271g/1509581875923-311822219020586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5" y="2538412"/>
            <a:ext cx="6000750" cy="352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2689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85044"/>
            <a:ext cx="108331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technique of AAS involves injecting a small sample into the machine. This sample is then vaporised in an atomiser, either using a flame or graphite tube to produce a low density gas of the sample. The cathode tubes are a radiation source, producing light of specific wavelengths. This passes through the sample and then is focused onto a wavelength selector and then detector, where the remaining wavelengths are identified. This signal is amplified and processed to provide an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absorption spectrum.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analyser compares the spectrum with known spectrums to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identify the metals present,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absorbance levels are compared to calibrated values to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determine the concentrations.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Below is an absorption spectrum of hydrogen, which forms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H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+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cations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02944078.914851g/1502944090250-2741644531544656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259" y="4584700"/>
            <a:ext cx="8462391" cy="106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5352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23123" y="1123434"/>
            <a:ext cx="4608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Here is a simplified diagram of the process:</a:t>
            </a:r>
            <a:endParaRPr lang="en-AU" dirty="0"/>
          </a:p>
        </p:txBody>
      </p:sp>
      <p:pic>
        <p:nvPicPr>
          <p:cNvPr id="5122" name="Picture 2" descr="https://www.educationperfect.com/media/content/Science/1509587340.416551g/1509587341048-1537189121824121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475" y="2479675"/>
            <a:ext cx="7600950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4183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63700" y="1251635"/>
            <a:ext cx="95377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determine the concentration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element in solution, the steps are:</a:t>
            </a:r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313093"/>
              </p:ext>
            </p:extLst>
          </p:nvPr>
        </p:nvGraphicFramePr>
        <p:xfrm>
          <a:off x="901700" y="2095024"/>
          <a:ext cx="10515600" cy="171450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604236284"/>
                    </a:ext>
                  </a:extLst>
                </a:gridCol>
                <a:gridCol w="9702800">
                  <a:extLst>
                    <a:ext uri="{9D8B030D-6E8A-4147-A177-3AD203B41FA5}">
                      <a16:colId xmlns:a16="http://schemas.microsoft.com/office/drawing/2014/main" val="38527454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AU" b="1">
                          <a:effectLst/>
                          <a:latin typeface="KaTeX_Main"/>
                        </a:rPr>
                        <a:t>1</a:t>
                      </a:r>
                      <a:r>
                        <a:rPr lang="en-AU">
                          <a:effectLst/>
                          <a:latin typeface="KaTeX_Main"/>
                        </a:rPr>
                        <a:t>.</a:t>
                      </a:r>
                      <a:endParaRPr lang="en-AU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Draw a calibration curve using the concentration and absorbance data for a set of standards.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909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AU" b="1" dirty="0" smtClean="0">
                          <a:effectLst/>
                          <a:latin typeface="KaTeX_Main"/>
                        </a:rPr>
                        <a:t>2</a:t>
                      </a:r>
                      <a:r>
                        <a:rPr lang="en-AU" dirty="0">
                          <a:effectLst/>
                          <a:latin typeface="KaTeX_Main"/>
                        </a:rPr>
                        <a:t>.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>
                          <a:effectLst/>
                        </a:rPr>
                        <a:t>Use the calibration curve and the absorbance of the sample to calculate the concentration of the element in the sample.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011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AU" b="1" dirty="0" smtClean="0">
                          <a:effectLst/>
                          <a:latin typeface="KaTeX_Main"/>
                        </a:rPr>
                        <a:t>3</a:t>
                      </a:r>
                      <a:r>
                        <a:rPr lang="en-AU" dirty="0">
                          <a:effectLst/>
                          <a:latin typeface="KaTeX_Main"/>
                        </a:rPr>
                        <a:t>.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dirty="0">
                          <a:effectLst/>
                        </a:rPr>
                        <a:t>If the original sample was diluted before analysis, use the dilution to calculate the original concentration.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492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777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8500" y="758736"/>
            <a:ext cx="10528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a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soil sample was tested for the presence of lead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comparing to absorbance of known concentrations of lead in parts per million (ppm). The data results were: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225" y="1405067"/>
            <a:ext cx="4768850" cy="44544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8500" y="5859487"/>
            <a:ext cx="10528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soil sample clearly has a concentration between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3.00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 4.00ppm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29529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6900" y="492036"/>
            <a:ext cx="110109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value can be calculated by drawing a calibration curve, including a line of best fit, then reading off the concentration of lead in the soil sample based on its absorbance:</a:t>
            </a:r>
            <a:endParaRPr lang="en-AU" dirty="0"/>
          </a:p>
        </p:txBody>
      </p:sp>
      <p:pic>
        <p:nvPicPr>
          <p:cNvPr id="7170" name="Picture 2" descr="https://www.educationperfect.com/media/content/Science/1509586170.327621g/1509586170735-15371891218241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975" y="1133734"/>
            <a:ext cx="6048375" cy="3686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96900" y="5202535"/>
            <a:ext cx="10680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From the graph it can be seen that a sample with absorbance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0.58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a lead concentration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3.50ppm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10336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330</Words>
  <Application>Microsoft Office PowerPoint</Application>
  <PresentationFormat>Widescreen</PresentationFormat>
  <Paragraphs>44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KaTeX_Main</vt:lpstr>
      <vt:lpstr>Office Theme</vt:lpstr>
      <vt:lpstr>Atomic Absorption Spectroscopy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Atomic Absorption Spectroscopy</dc:title>
  <dc:creator>Joseph D'cruz</dc:creator>
  <cp:lastModifiedBy>Joseph D'cruz</cp:lastModifiedBy>
  <cp:revision>2</cp:revision>
  <dcterms:created xsi:type="dcterms:W3CDTF">2021-12-19T06:08:52Z</dcterms:created>
  <dcterms:modified xsi:type="dcterms:W3CDTF">2021-12-19T06:10:14Z</dcterms:modified>
</cp:coreProperties>
</file>
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779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969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49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92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97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56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457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00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041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86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32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22259-D0A9-45FA-B69F-126C043923A0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62958-D58B-4FCE-B003-5900ED5F73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776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Classification of Matter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87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3839" y="869434"/>
            <a:ext cx="4057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learn:</a:t>
            </a:r>
            <a:endParaRPr lang="en-AU" dirty="0"/>
          </a:p>
        </p:txBody>
      </p:sp>
      <p:pic>
        <p:nvPicPr>
          <p:cNvPr id="1026" name="Picture 2" descr="https://www.educationperfect.com/media/content/Science/1446504679.181g/1446504677305-623830558269000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1422400"/>
            <a:ext cx="15811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864624"/>
              </p:ext>
            </p:extLst>
          </p:nvPr>
        </p:nvGraphicFramePr>
        <p:xfrm>
          <a:off x="977900" y="3856514"/>
          <a:ext cx="10515600" cy="1554480"/>
        </p:xfrm>
        <a:graphic>
          <a:graphicData uri="http://schemas.openxmlformats.org/drawingml/2006/table">
            <a:tbl>
              <a:tblPr/>
              <a:tblGrid>
                <a:gridCol w="1155700">
                  <a:extLst>
                    <a:ext uri="{9D8B030D-6E8A-4147-A177-3AD203B41FA5}">
                      <a16:colId xmlns:a16="http://schemas.microsoft.com/office/drawing/2014/main" val="4189738557"/>
                    </a:ext>
                  </a:extLst>
                </a:gridCol>
                <a:gridCol w="9359900">
                  <a:extLst>
                    <a:ext uri="{9D8B030D-6E8A-4147-A177-3AD203B41FA5}">
                      <a16:colId xmlns:a16="http://schemas.microsoft.com/office/drawing/2014/main" val="3970067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That </a:t>
                      </a:r>
                      <a:r>
                        <a:rPr lang="en-AU" b="1">
                          <a:effectLst/>
                        </a:rPr>
                        <a:t>matter</a:t>
                      </a:r>
                      <a:r>
                        <a:rPr lang="en-AU">
                          <a:effectLst/>
                        </a:rPr>
                        <a:t> can be </a:t>
                      </a:r>
                      <a:r>
                        <a:rPr lang="en-AU" i="1">
                          <a:effectLst/>
                        </a:rPr>
                        <a:t>classified</a:t>
                      </a:r>
                      <a:r>
                        <a:rPr lang="en-AU">
                          <a:effectLst/>
                        </a:rPr>
                        <a:t> according to several </a:t>
                      </a:r>
                      <a:r>
                        <a:rPr lang="en-AU" b="1">
                          <a:solidFill>
                            <a:srgbClr val="E04E50"/>
                          </a:solidFill>
                          <a:effectLst/>
                        </a:rPr>
                        <a:t>properties</a:t>
                      </a:r>
                      <a:r>
                        <a:rPr lang="en-AU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595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That one way of </a:t>
                      </a:r>
                      <a:r>
                        <a:rPr lang="en-AU" b="1">
                          <a:effectLst/>
                        </a:rPr>
                        <a:t>classifying matter</a:t>
                      </a:r>
                      <a:r>
                        <a:rPr lang="en-AU">
                          <a:effectLst/>
                        </a:rPr>
                        <a:t> is based off how chemicals are </a:t>
                      </a:r>
                      <a:r>
                        <a:rPr lang="en-AU" b="1">
                          <a:solidFill>
                            <a:srgbClr val="228B22"/>
                          </a:solidFill>
                          <a:effectLst/>
                        </a:rPr>
                        <a:t>distributed</a:t>
                      </a:r>
                      <a:r>
                        <a:rPr lang="en-AU">
                          <a:effectLst/>
                        </a:rPr>
                        <a:t> within a substance.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89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>
                          <a:effectLst/>
                        </a:rPr>
                        <a:t>Properties</a:t>
                      </a:r>
                      <a:r>
                        <a:rPr lang="en-AU">
                          <a:effectLst/>
                        </a:rPr>
                        <a:t> of materials can be classified as </a:t>
                      </a:r>
                      <a:r>
                        <a:rPr lang="en-AU" b="1">
                          <a:solidFill>
                            <a:srgbClr val="E04E50"/>
                          </a:solidFill>
                          <a:effectLst/>
                        </a:rPr>
                        <a:t>chemical</a:t>
                      </a:r>
                      <a:r>
                        <a:rPr lang="en-AU">
                          <a:effectLst/>
                        </a:rPr>
                        <a:t> or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physical</a:t>
                      </a:r>
                      <a:r>
                        <a:rPr lang="en-AU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176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That </a:t>
                      </a:r>
                      <a:r>
                        <a:rPr lang="en-AU" b="1" dirty="0">
                          <a:effectLst/>
                        </a:rPr>
                        <a:t>reactions and changes</a:t>
                      </a:r>
                      <a:r>
                        <a:rPr lang="en-AU" dirty="0">
                          <a:effectLst/>
                        </a:rPr>
                        <a:t> in substances can also be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chemical</a:t>
                      </a:r>
                      <a:r>
                        <a:rPr lang="en-AU" dirty="0">
                          <a:effectLst/>
                        </a:rPr>
                        <a:t> or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physical</a:t>
                      </a:r>
                      <a:r>
                        <a:rPr lang="en-AU" dirty="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43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200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603935"/>
            <a:ext cx="1125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will have seen previously that matter can be broadly divided into three states: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solid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liquid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  <p:pic>
        <p:nvPicPr>
          <p:cNvPr id="2050" name="Picture 2" descr="https://www.educationperfect.com/media/content/Science/1449544412.169061g/1449544456962-328261451702295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1149351"/>
            <a:ext cx="3796803" cy="328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23900" y="5024735"/>
            <a:ext cx="1087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 this cannot classify all matter, particularly when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substance is a mixture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various chemicals or particles such as sand or mud.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845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430937"/>
            <a:ext cx="10477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Materials are either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pure substances (elements or compounds),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have distinct measurable properties, such as melting point, boiling point, reactivity, strength and density, or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mixtures,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properties dependent on the identity and relative amounts of the substances that make up the mixture.</a:t>
            </a:r>
            <a:endParaRPr lang="en-AU" dirty="0"/>
          </a:p>
        </p:txBody>
      </p:sp>
      <p:pic>
        <p:nvPicPr>
          <p:cNvPr id="3074" name="Picture 2" descr="https://www.educationperfect.com/media/content/Science/1509947049.068651g/1509947045600-136988180355220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1981200"/>
            <a:ext cx="4759325" cy="399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480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765939"/>
            <a:ext cx="10807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of what we see around us is made from multiple elements and compounds physically combined, rather than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pure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substances.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mixtures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divided into two categories based on the way substances are distributed within them. If chemicals are distributed uniformly and evenly then the substance is called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homogeneous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however if chemicals are unevenly distributed then the substance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heterogeneous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09947259.127091g/1509947259017-136988180355220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5" y="2672665"/>
            <a:ext cx="760095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67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903238"/>
            <a:ext cx="10655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Examples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homogeneous mixtures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salty water, 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colloids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milk or fog. In these mixtures the components are distributed evenly.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Examples of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heterogeneous mixtures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an oil and water mixture, clouds in the air, or beach sand. In these mixtures the components are NOT distributed evenly.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09948725.26411g/1509948723132-136988180355220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2657475"/>
            <a:ext cx="325755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04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0400" y="986135"/>
            <a:ext cx="1112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characteristics of a material can be divided into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chemical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524000" y="256556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1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physical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 property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characteristic of a substance that can be determined without needing to undergo a chemical reaction, for example boiling and melting points, density, conductivity, colour etc...</a:t>
            </a:r>
            <a:endParaRPr lang="en-AU" dirty="0"/>
          </a:p>
        </p:txBody>
      </p:sp>
      <p:pic>
        <p:nvPicPr>
          <p:cNvPr id="6148" name="Picture 4" descr="https://www.educationperfect.com/media/content/Science/1419750571.974431g/1419750530134-631973225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75" y="1632467"/>
            <a:ext cx="876152" cy="306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60400" y="4808835"/>
            <a:ext cx="1112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dependent upon the composition of the material, for example the higher the salt content of salt water the denser it becomes.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628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1177836"/>
            <a:ext cx="1066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1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 property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related to how a substance will undergo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new compounds, for example if it is flammable, sensitive to light or reactive with regard to another substance (water, acids, metals etc...).</a:t>
            </a:r>
            <a:endParaRPr lang="en-AU" dirty="0"/>
          </a:p>
        </p:txBody>
      </p:sp>
      <p:pic>
        <p:nvPicPr>
          <p:cNvPr id="7170" name="Picture 2" descr="https://www.educationperfect.com/media/content/Science/1424050858.018341g/1424050832431-137741182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2101166"/>
            <a:ext cx="3810000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397000" y="5067908"/>
            <a:ext cx="8216900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E04E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chemical property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can only be identified through experimentation. If we wanted to know if a chemical is flammable the easiest way is to try set it on fire!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-1917700" y="53009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 11 of 25 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444444"/>
                </a:solidFill>
                <a:effectLst/>
                <a:latin typeface="var(--HSDSGlobalFontFamily)"/>
              </a:rPr>
              <a:t/>
            </a:r>
            <a:b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444444"/>
                </a:solidFill>
                <a:effectLst/>
                <a:latin typeface="var(--HSDSGlobalFontFamily)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6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788938"/>
            <a:ext cx="10858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Materials can also undergo changes that can be classified as </a:t>
            </a:r>
            <a:r>
              <a:rPr lang="en-AU" b="1" i="1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physical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1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physical change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 not involve a change in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composition of a material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only its </a:t>
            </a:r>
            <a:r>
              <a:rPr lang="en-AU" b="0" i="1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physical state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changes. An example of a common physical change is a change in state or phase such as melting or boiling, or even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sublimation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(solid to gas).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Images/Content/Science/1369871702210-7397055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0" y="3500437"/>
            <a:ext cx="38100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339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701239"/>
            <a:ext cx="10375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chemical change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involves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alteration of the chemical composition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material by reacting it with other chemicals.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frying an egg causes the egg to become more solid when heated. This is because it alters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rather than the energy between particles, as is usually the case when a substance is heated.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Images/Content/Maths/1389573783547-1031564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34671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919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96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var(--HSDSGlobalFontFamily)</vt:lpstr>
      <vt:lpstr>Office Theme</vt:lpstr>
      <vt:lpstr>Classification of Matter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Matter</dc:title>
  <dc:creator>Joseph D'cruz</dc:creator>
  <cp:lastModifiedBy>Joseph D'cruz</cp:lastModifiedBy>
  <cp:revision>2</cp:revision>
  <dcterms:created xsi:type="dcterms:W3CDTF">2021-12-19T06:39:15Z</dcterms:created>
  <dcterms:modified xsi:type="dcterms:W3CDTF">2021-12-19T06:45:25Z</dcterms:modified>
</cp:coreProperties>
</file>
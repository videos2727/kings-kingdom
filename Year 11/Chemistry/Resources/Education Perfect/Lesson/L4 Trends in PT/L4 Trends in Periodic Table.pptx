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5" r:id="rId16"/>
    <p:sldId id="270" r:id="rId17"/>
    <p:sldId id="276" r:id="rId18"/>
    <p:sldId id="277" r:id="rId19"/>
    <p:sldId id="278" r:id="rId20"/>
    <p:sldId id="283" r:id="rId21"/>
    <p:sldId id="279" r:id="rId22"/>
    <p:sldId id="280" r:id="rId23"/>
    <p:sldId id="281" r:id="rId24"/>
    <p:sldId id="282" r:id="rId25"/>
    <p:sldId id="271" r:id="rId26"/>
    <p:sldId id="272" r:id="rId27"/>
    <p:sldId id="273" r:id="rId28"/>
    <p:sldId id="284" r:id="rId29"/>
    <p:sldId id="27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0016" autoAdjust="0"/>
    <p:restoredTop sz="94660"/>
  </p:normalViewPr>
  <p:slideViewPr>
    <p:cSldViewPr snapToGrid="0">
      <p:cViewPr>
        <p:scale>
          <a:sx n="75" d="100"/>
          <a:sy n="75" d="100"/>
        </p:scale>
        <p:origin x="150" y="79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AU"/>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AU"/>
          </a:p>
        </p:txBody>
      </p:sp>
      <p:sp>
        <p:nvSpPr>
          <p:cNvPr id="4" name="Date Placeholder 3"/>
          <p:cNvSpPr>
            <a:spLocks noGrp="1"/>
          </p:cNvSpPr>
          <p:nvPr>
            <p:ph type="dt" sz="half" idx="10"/>
          </p:nvPr>
        </p:nvSpPr>
        <p:spPr/>
        <p:txBody>
          <a:bodyPr/>
          <a:lstStyle/>
          <a:p>
            <a:fld id="{4C0AE584-5738-4F26-8002-C6B29BE3D887}" type="datetimeFigureOut">
              <a:rPr lang="en-AU" smtClean="0"/>
              <a:t>18/12/2021</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95F881E8-7004-4C3D-A58F-5CD1ACF4FE29}" type="slidenum">
              <a:rPr lang="en-AU" smtClean="0"/>
              <a:t>‹#›</a:t>
            </a:fld>
            <a:endParaRPr lang="en-AU"/>
          </a:p>
        </p:txBody>
      </p:sp>
    </p:spTree>
    <p:extLst>
      <p:ext uri="{BB962C8B-B14F-4D97-AF65-F5344CB8AC3E}">
        <p14:creationId xmlns:p14="http://schemas.microsoft.com/office/powerpoint/2010/main" val="254457875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10"/>
          </p:nvPr>
        </p:nvSpPr>
        <p:spPr/>
        <p:txBody>
          <a:bodyPr/>
          <a:lstStyle/>
          <a:p>
            <a:fld id="{4C0AE584-5738-4F26-8002-C6B29BE3D887}" type="datetimeFigureOut">
              <a:rPr lang="en-AU" smtClean="0"/>
              <a:t>18/12/2021</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95F881E8-7004-4C3D-A58F-5CD1ACF4FE29}" type="slidenum">
              <a:rPr lang="en-AU" smtClean="0"/>
              <a:t>‹#›</a:t>
            </a:fld>
            <a:endParaRPr lang="en-AU"/>
          </a:p>
        </p:txBody>
      </p:sp>
    </p:spTree>
    <p:extLst>
      <p:ext uri="{BB962C8B-B14F-4D97-AF65-F5344CB8AC3E}">
        <p14:creationId xmlns:p14="http://schemas.microsoft.com/office/powerpoint/2010/main" val="376792349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AU"/>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4C0AE584-5738-4F26-8002-C6B29BE3D887}" type="datetimeFigureOut">
              <a:rPr lang="en-AU" smtClean="0"/>
              <a:t>18/12/2021</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95F881E8-7004-4C3D-A58F-5CD1ACF4FE29}" type="slidenum">
              <a:rPr lang="en-AU" smtClean="0"/>
              <a:t>‹#›</a:t>
            </a:fld>
            <a:endParaRPr lang="en-AU"/>
          </a:p>
        </p:txBody>
      </p:sp>
    </p:spTree>
    <p:extLst>
      <p:ext uri="{BB962C8B-B14F-4D97-AF65-F5344CB8AC3E}">
        <p14:creationId xmlns:p14="http://schemas.microsoft.com/office/powerpoint/2010/main" val="370352311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5" name="Date Placeholder 4"/>
          <p:cNvSpPr>
            <a:spLocks noGrp="1"/>
          </p:cNvSpPr>
          <p:nvPr>
            <p:ph type="dt" sz="half" idx="10"/>
          </p:nvPr>
        </p:nvSpPr>
        <p:spPr/>
        <p:txBody>
          <a:bodyPr/>
          <a:lstStyle/>
          <a:p>
            <a:fld id="{4C0AE584-5738-4F26-8002-C6B29BE3D887}" type="datetimeFigureOut">
              <a:rPr lang="en-AU" smtClean="0"/>
              <a:t>18/12/2021</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95F881E8-7004-4C3D-A58F-5CD1ACF4FE29}" type="slidenum">
              <a:rPr lang="en-AU" smtClean="0"/>
              <a:t>‹#›</a:t>
            </a:fld>
            <a:endParaRPr lang="en-AU"/>
          </a:p>
        </p:txBody>
      </p:sp>
    </p:spTree>
    <p:extLst>
      <p:ext uri="{BB962C8B-B14F-4D97-AF65-F5344CB8AC3E}">
        <p14:creationId xmlns:p14="http://schemas.microsoft.com/office/powerpoint/2010/main" val="351851497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AU"/>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7" name="Date Placeholder 6"/>
          <p:cNvSpPr>
            <a:spLocks noGrp="1"/>
          </p:cNvSpPr>
          <p:nvPr>
            <p:ph type="dt" sz="half" idx="10"/>
          </p:nvPr>
        </p:nvSpPr>
        <p:spPr/>
        <p:txBody>
          <a:bodyPr/>
          <a:lstStyle/>
          <a:p>
            <a:fld id="{4C0AE584-5738-4F26-8002-C6B29BE3D887}" type="datetimeFigureOut">
              <a:rPr lang="en-AU" smtClean="0"/>
              <a:t>18/12/2021</a:t>
            </a:fld>
            <a:endParaRPr lang="en-AU"/>
          </a:p>
        </p:txBody>
      </p:sp>
      <p:sp>
        <p:nvSpPr>
          <p:cNvPr id="8" name="Footer Placeholder 7"/>
          <p:cNvSpPr>
            <a:spLocks noGrp="1"/>
          </p:cNvSpPr>
          <p:nvPr>
            <p:ph type="ftr" sz="quarter" idx="11"/>
          </p:nvPr>
        </p:nvSpPr>
        <p:spPr/>
        <p:txBody>
          <a:bodyPr/>
          <a:lstStyle/>
          <a:p>
            <a:endParaRPr lang="en-AU"/>
          </a:p>
        </p:txBody>
      </p:sp>
      <p:sp>
        <p:nvSpPr>
          <p:cNvPr id="9" name="Slide Number Placeholder 8"/>
          <p:cNvSpPr>
            <a:spLocks noGrp="1"/>
          </p:cNvSpPr>
          <p:nvPr>
            <p:ph type="sldNum" sz="quarter" idx="12"/>
          </p:nvPr>
        </p:nvSpPr>
        <p:spPr/>
        <p:txBody>
          <a:bodyPr/>
          <a:lstStyle/>
          <a:p>
            <a:fld id="{95F881E8-7004-4C3D-A58F-5CD1ACF4FE29}" type="slidenum">
              <a:rPr lang="en-AU" smtClean="0"/>
              <a:t>‹#›</a:t>
            </a:fld>
            <a:endParaRPr lang="en-AU"/>
          </a:p>
        </p:txBody>
      </p:sp>
    </p:spTree>
    <p:extLst>
      <p:ext uri="{BB962C8B-B14F-4D97-AF65-F5344CB8AC3E}">
        <p14:creationId xmlns:p14="http://schemas.microsoft.com/office/powerpoint/2010/main" val="322786390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Date Placeholder 2"/>
          <p:cNvSpPr>
            <a:spLocks noGrp="1"/>
          </p:cNvSpPr>
          <p:nvPr>
            <p:ph type="dt" sz="half" idx="10"/>
          </p:nvPr>
        </p:nvSpPr>
        <p:spPr/>
        <p:txBody>
          <a:bodyPr/>
          <a:lstStyle/>
          <a:p>
            <a:fld id="{4C0AE584-5738-4F26-8002-C6B29BE3D887}" type="datetimeFigureOut">
              <a:rPr lang="en-AU" smtClean="0"/>
              <a:t>18/12/2021</a:t>
            </a:fld>
            <a:endParaRPr lang="en-AU"/>
          </a:p>
        </p:txBody>
      </p:sp>
      <p:sp>
        <p:nvSpPr>
          <p:cNvPr id="4" name="Footer Placeholder 3"/>
          <p:cNvSpPr>
            <a:spLocks noGrp="1"/>
          </p:cNvSpPr>
          <p:nvPr>
            <p:ph type="ftr" sz="quarter" idx="11"/>
          </p:nvPr>
        </p:nvSpPr>
        <p:spPr/>
        <p:txBody>
          <a:bodyPr/>
          <a:lstStyle/>
          <a:p>
            <a:endParaRPr lang="en-AU"/>
          </a:p>
        </p:txBody>
      </p:sp>
      <p:sp>
        <p:nvSpPr>
          <p:cNvPr id="5" name="Slide Number Placeholder 4"/>
          <p:cNvSpPr>
            <a:spLocks noGrp="1"/>
          </p:cNvSpPr>
          <p:nvPr>
            <p:ph type="sldNum" sz="quarter" idx="12"/>
          </p:nvPr>
        </p:nvSpPr>
        <p:spPr/>
        <p:txBody>
          <a:bodyPr/>
          <a:lstStyle/>
          <a:p>
            <a:fld id="{95F881E8-7004-4C3D-A58F-5CD1ACF4FE29}" type="slidenum">
              <a:rPr lang="en-AU" smtClean="0"/>
              <a:t>‹#›</a:t>
            </a:fld>
            <a:endParaRPr lang="en-AU"/>
          </a:p>
        </p:txBody>
      </p:sp>
    </p:spTree>
    <p:extLst>
      <p:ext uri="{BB962C8B-B14F-4D97-AF65-F5344CB8AC3E}">
        <p14:creationId xmlns:p14="http://schemas.microsoft.com/office/powerpoint/2010/main" val="139148085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C0AE584-5738-4F26-8002-C6B29BE3D887}" type="datetimeFigureOut">
              <a:rPr lang="en-AU" smtClean="0"/>
              <a:t>18/12/2021</a:t>
            </a:fld>
            <a:endParaRPr lang="en-AU"/>
          </a:p>
        </p:txBody>
      </p:sp>
      <p:sp>
        <p:nvSpPr>
          <p:cNvPr id="3" name="Footer Placeholder 2"/>
          <p:cNvSpPr>
            <a:spLocks noGrp="1"/>
          </p:cNvSpPr>
          <p:nvPr>
            <p:ph type="ftr" sz="quarter" idx="11"/>
          </p:nvPr>
        </p:nvSpPr>
        <p:spPr/>
        <p:txBody>
          <a:bodyPr/>
          <a:lstStyle/>
          <a:p>
            <a:endParaRPr lang="en-AU"/>
          </a:p>
        </p:txBody>
      </p:sp>
      <p:sp>
        <p:nvSpPr>
          <p:cNvPr id="4" name="Slide Number Placeholder 3"/>
          <p:cNvSpPr>
            <a:spLocks noGrp="1"/>
          </p:cNvSpPr>
          <p:nvPr>
            <p:ph type="sldNum" sz="quarter" idx="12"/>
          </p:nvPr>
        </p:nvSpPr>
        <p:spPr/>
        <p:txBody>
          <a:bodyPr/>
          <a:lstStyle/>
          <a:p>
            <a:fld id="{95F881E8-7004-4C3D-A58F-5CD1ACF4FE29}" type="slidenum">
              <a:rPr lang="en-AU" smtClean="0"/>
              <a:t>‹#›</a:t>
            </a:fld>
            <a:endParaRPr lang="en-AU"/>
          </a:p>
        </p:txBody>
      </p:sp>
    </p:spTree>
    <p:extLst>
      <p:ext uri="{BB962C8B-B14F-4D97-AF65-F5344CB8AC3E}">
        <p14:creationId xmlns:p14="http://schemas.microsoft.com/office/powerpoint/2010/main" val="30222245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AU"/>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4C0AE584-5738-4F26-8002-C6B29BE3D887}" type="datetimeFigureOut">
              <a:rPr lang="en-AU" smtClean="0"/>
              <a:t>18/12/2021</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95F881E8-7004-4C3D-A58F-5CD1ACF4FE29}" type="slidenum">
              <a:rPr lang="en-AU" smtClean="0"/>
              <a:t>‹#›</a:t>
            </a:fld>
            <a:endParaRPr lang="en-AU"/>
          </a:p>
        </p:txBody>
      </p:sp>
    </p:spTree>
    <p:extLst>
      <p:ext uri="{BB962C8B-B14F-4D97-AF65-F5344CB8AC3E}">
        <p14:creationId xmlns:p14="http://schemas.microsoft.com/office/powerpoint/2010/main" val="354159759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AU"/>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AU"/>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4C0AE584-5738-4F26-8002-C6B29BE3D887}" type="datetimeFigureOut">
              <a:rPr lang="en-AU" smtClean="0"/>
              <a:t>18/12/2021</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95F881E8-7004-4C3D-A58F-5CD1ACF4FE29}" type="slidenum">
              <a:rPr lang="en-AU" smtClean="0"/>
              <a:t>‹#›</a:t>
            </a:fld>
            <a:endParaRPr lang="en-AU"/>
          </a:p>
        </p:txBody>
      </p:sp>
    </p:spTree>
    <p:extLst>
      <p:ext uri="{BB962C8B-B14F-4D97-AF65-F5344CB8AC3E}">
        <p14:creationId xmlns:p14="http://schemas.microsoft.com/office/powerpoint/2010/main" val="301832003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10"/>
          </p:nvPr>
        </p:nvSpPr>
        <p:spPr/>
        <p:txBody>
          <a:bodyPr/>
          <a:lstStyle/>
          <a:p>
            <a:fld id="{4C0AE584-5738-4F26-8002-C6B29BE3D887}" type="datetimeFigureOut">
              <a:rPr lang="en-AU" smtClean="0"/>
              <a:t>18/12/2021</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95F881E8-7004-4C3D-A58F-5CD1ACF4FE29}" type="slidenum">
              <a:rPr lang="en-AU" smtClean="0"/>
              <a:t>‹#›</a:t>
            </a:fld>
            <a:endParaRPr lang="en-AU"/>
          </a:p>
        </p:txBody>
      </p:sp>
    </p:spTree>
    <p:extLst>
      <p:ext uri="{BB962C8B-B14F-4D97-AF65-F5344CB8AC3E}">
        <p14:creationId xmlns:p14="http://schemas.microsoft.com/office/powerpoint/2010/main" val="123550186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AU"/>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10"/>
          </p:nvPr>
        </p:nvSpPr>
        <p:spPr/>
        <p:txBody>
          <a:bodyPr/>
          <a:lstStyle/>
          <a:p>
            <a:fld id="{4C0AE584-5738-4F26-8002-C6B29BE3D887}" type="datetimeFigureOut">
              <a:rPr lang="en-AU" smtClean="0"/>
              <a:t>18/12/2021</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95F881E8-7004-4C3D-A58F-5CD1ACF4FE29}" type="slidenum">
              <a:rPr lang="en-AU" smtClean="0"/>
              <a:t>‹#›</a:t>
            </a:fld>
            <a:endParaRPr lang="en-AU"/>
          </a:p>
        </p:txBody>
      </p:sp>
    </p:spTree>
    <p:extLst>
      <p:ext uri="{BB962C8B-B14F-4D97-AF65-F5344CB8AC3E}">
        <p14:creationId xmlns:p14="http://schemas.microsoft.com/office/powerpoint/2010/main" val="256858260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AU"/>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C0AE584-5738-4F26-8002-C6B29BE3D887}" type="datetimeFigureOut">
              <a:rPr lang="en-AU" smtClean="0"/>
              <a:t>18/12/2021</a:t>
            </a:fld>
            <a:endParaRPr lang="en-AU"/>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AU"/>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5F881E8-7004-4C3D-A58F-5CD1ACF4FE29}" type="slidenum">
              <a:rPr lang="en-AU" smtClean="0"/>
              <a:t>‹#›</a:t>
            </a:fld>
            <a:endParaRPr lang="en-AU"/>
          </a:p>
        </p:txBody>
      </p:sp>
    </p:spTree>
    <p:extLst>
      <p:ext uri="{BB962C8B-B14F-4D97-AF65-F5344CB8AC3E}">
        <p14:creationId xmlns:p14="http://schemas.microsoft.com/office/powerpoint/2010/main" val="381285703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8.jpe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image" Target="../media/image11.jpe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image" Target="../media/image31.jpeg"/><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33.png"/><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3" Type="http://schemas.openxmlformats.org/officeDocument/2006/relationships/image" Target="../media/image35.jpeg"/><Relationship Id="rId2" Type="http://schemas.openxmlformats.org/officeDocument/2006/relationships/image" Target="../media/image34.png"/><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AU" dirty="0" smtClean="0"/>
              <a:t>Trends in Periodic Table</a:t>
            </a:r>
            <a:endParaRPr lang="en-AU" dirty="0"/>
          </a:p>
        </p:txBody>
      </p:sp>
      <p:sp>
        <p:nvSpPr>
          <p:cNvPr id="3" name="Subtitle 2"/>
          <p:cNvSpPr>
            <a:spLocks noGrp="1"/>
          </p:cNvSpPr>
          <p:nvPr>
            <p:ph type="subTitle" idx="1"/>
          </p:nvPr>
        </p:nvSpPr>
        <p:spPr/>
        <p:txBody>
          <a:bodyPr/>
          <a:lstStyle/>
          <a:p>
            <a:endParaRPr lang="en-AU"/>
          </a:p>
        </p:txBody>
      </p:sp>
    </p:spTree>
    <p:extLst>
      <p:ext uri="{BB962C8B-B14F-4D97-AF65-F5344CB8AC3E}">
        <p14:creationId xmlns:p14="http://schemas.microsoft.com/office/powerpoint/2010/main" val="81245525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Trends in the Periodic Table</a:t>
            </a:r>
            <a:endParaRPr lang="en-AU" dirty="0"/>
          </a:p>
        </p:txBody>
      </p:sp>
      <p:sp>
        <p:nvSpPr>
          <p:cNvPr id="3" name="Text Placeholder 2"/>
          <p:cNvSpPr>
            <a:spLocks noGrp="1"/>
          </p:cNvSpPr>
          <p:nvPr>
            <p:ph type="body" idx="1"/>
          </p:nvPr>
        </p:nvSpPr>
        <p:spPr/>
        <p:txBody>
          <a:bodyPr/>
          <a:lstStyle/>
          <a:p>
            <a:endParaRPr lang="en-AU"/>
          </a:p>
        </p:txBody>
      </p:sp>
    </p:spTree>
    <p:extLst>
      <p:ext uri="{BB962C8B-B14F-4D97-AF65-F5344CB8AC3E}">
        <p14:creationId xmlns:p14="http://schemas.microsoft.com/office/powerpoint/2010/main" val="214465538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82600" y="1076236"/>
            <a:ext cx="11341100" cy="646331"/>
          </a:xfrm>
          <a:prstGeom prst="rect">
            <a:avLst/>
          </a:prstGeom>
        </p:spPr>
        <p:txBody>
          <a:bodyPr wrap="square">
            <a:spAutoFit/>
          </a:bodyPr>
          <a:lstStyle/>
          <a:p>
            <a:r>
              <a:rPr lang="en-AU" b="0" i="0" dirty="0" smtClean="0">
                <a:solidFill>
                  <a:srgbClr val="444444"/>
                </a:solidFill>
                <a:effectLst/>
                <a:latin typeface="Arial" panose="020B0604020202020204" pitchFamily="34" charset="0"/>
              </a:rPr>
              <a:t>You will look at key properties including location of </a:t>
            </a:r>
            <a:r>
              <a:rPr lang="en-AU" b="1" i="0" dirty="0" smtClean="0">
                <a:solidFill>
                  <a:srgbClr val="E04E50"/>
                </a:solidFill>
                <a:effectLst/>
                <a:latin typeface="Arial" panose="020B0604020202020204" pitchFamily="34" charset="0"/>
              </a:rPr>
              <a:t>metals, non-metals</a:t>
            </a:r>
            <a:r>
              <a:rPr lang="en-AU" b="0" i="0" dirty="0" smtClean="0">
                <a:solidFill>
                  <a:srgbClr val="444444"/>
                </a:solidFill>
                <a:effectLst/>
                <a:latin typeface="Arial" panose="020B0604020202020204" pitchFamily="34" charset="0"/>
              </a:rPr>
              <a:t> and </a:t>
            </a:r>
            <a:r>
              <a:rPr lang="en-AU" b="1" i="0" dirty="0" smtClean="0">
                <a:solidFill>
                  <a:srgbClr val="E04E50"/>
                </a:solidFill>
                <a:effectLst/>
                <a:latin typeface="Arial" panose="020B0604020202020204" pitchFamily="34" charset="0"/>
              </a:rPr>
              <a:t>metalloids</a:t>
            </a:r>
            <a:r>
              <a:rPr lang="en-AU" b="0" i="0" dirty="0" smtClean="0">
                <a:solidFill>
                  <a:srgbClr val="444444"/>
                </a:solidFill>
                <a:effectLst/>
                <a:latin typeface="Arial" panose="020B0604020202020204" pitchFamily="34" charset="0"/>
              </a:rPr>
              <a:t> on the periodic table, and will learn about some trends seen as you move across and down the periodic table.</a:t>
            </a:r>
            <a:endParaRPr lang="en-AU" dirty="0"/>
          </a:p>
        </p:txBody>
      </p:sp>
      <p:pic>
        <p:nvPicPr>
          <p:cNvPr id="1026" name="Picture 2" descr="https://www.educationperfect.com/media/content/Science/1491790237.535471g/1491790242670-1593301128695777-800.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52675" y="1722567"/>
            <a:ext cx="7600950" cy="42672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4513376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422400" y="357138"/>
            <a:ext cx="11061700" cy="2031325"/>
          </a:xfrm>
          <a:prstGeom prst="rect">
            <a:avLst/>
          </a:prstGeom>
        </p:spPr>
        <p:txBody>
          <a:bodyPr wrap="square">
            <a:spAutoFit/>
          </a:bodyPr>
          <a:lstStyle/>
          <a:p>
            <a:pPr algn="ctr"/>
            <a:r>
              <a:rPr lang="en-AU" b="0" i="0" dirty="0" smtClean="0">
                <a:solidFill>
                  <a:srgbClr val="444444"/>
                </a:solidFill>
                <a:effectLst/>
                <a:latin typeface="Arial" panose="020B0604020202020204" pitchFamily="34" charset="0"/>
              </a:rPr>
              <a:t>The </a:t>
            </a:r>
            <a:r>
              <a:rPr lang="en-AU" b="1" i="0" dirty="0" smtClean="0">
                <a:solidFill>
                  <a:srgbClr val="444444"/>
                </a:solidFill>
                <a:effectLst/>
                <a:latin typeface="Arial" panose="020B0604020202020204" pitchFamily="34" charset="0"/>
              </a:rPr>
              <a:t>periodic table</a:t>
            </a:r>
            <a:r>
              <a:rPr lang="en-AU" b="0" i="0" dirty="0" smtClean="0">
                <a:solidFill>
                  <a:srgbClr val="444444"/>
                </a:solidFill>
                <a:effectLst/>
                <a:latin typeface="Arial" panose="020B0604020202020204" pitchFamily="34" charset="0"/>
              </a:rPr>
              <a:t> is divided into three categories:</a:t>
            </a:r>
          </a:p>
          <a:p>
            <a:pPr algn="ctr"/>
            <a:r>
              <a:rPr lang="en-AU" b="0" i="0" dirty="0" smtClean="0">
                <a:solidFill>
                  <a:srgbClr val="444444"/>
                </a:solidFill>
                <a:effectLst/>
                <a:latin typeface="Arial" panose="020B0604020202020204" pitchFamily="34" charset="0"/>
              </a:rPr>
              <a:t> </a:t>
            </a:r>
          </a:p>
          <a:p>
            <a:pPr algn="ctr"/>
            <a:r>
              <a:rPr lang="en-AU" b="0" i="0" dirty="0" smtClean="0">
                <a:solidFill>
                  <a:srgbClr val="444444"/>
                </a:solidFill>
                <a:effectLst/>
                <a:latin typeface="Arial" panose="020B0604020202020204" pitchFamily="34" charset="0"/>
              </a:rPr>
              <a:t>The </a:t>
            </a:r>
            <a:r>
              <a:rPr lang="en-AU" b="1" i="0" dirty="0" smtClean="0">
                <a:solidFill>
                  <a:srgbClr val="E04E50"/>
                </a:solidFill>
                <a:effectLst/>
                <a:latin typeface="Arial" panose="020B0604020202020204" pitchFamily="34" charset="0"/>
              </a:rPr>
              <a:t>metals</a:t>
            </a:r>
            <a:r>
              <a:rPr lang="en-AU" b="0" i="0" dirty="0" smtClean="0">
                <a:solidFill>
                  <a:srgbClr val="444444"/>
                </a:solidFill>
                <a:effectLst/>
                <a:latin typeface="Arial" panose="020B0604020202020204" pitchFamily="34" charset="0"/>
              </a:rPr>
              <a:t> on the left.</a:t>
            </a:r>
          </a:p>
          <a:p>
            <a:pPr algn="ctr"/>
            <a:r>
              <a:rPr lang="en-AU" b="0" i="0" dirty="0" smtClean="0">
                <a:solidFill>
                  <a:srgbClr val="444444"/>
                </a:solidFill>
                <a:effectLst/>
                <a:latin typeface="Arial" panose="020B0604020202020204" pitchFamily="34" charset="0"/>
              </a:rPr>
              <a:t> </a:t>
            </a:r>
          </a:p>
          <a:p>
            <a:pPr algn="ctr"/>
            <a:r>
              <a:rPr lang="en-AU" b="0" i="0" dirty="0" smtClean="0">
                <a:solidFill>
                  <a:srgbClr val="444444"/>
                </a:solidFill>
                <a:effectLst/>
                <a:latin typeface="Arial" panose="020B0604020202020204" pitchFamily="34" charset="0"/>
              </a:rPr>
              <a:t>The </a:t>
            </a:r>
            <a:r>
              <a:rPr lang="en-AU" b="1" i="0" dirty="0" smtClean="0">
                <a:solidFill>
                  <a:srgbClr val="0066CC"/>
                </a:solidFill>
                <a:effectLst/>
                <a:latin typeface="Arial" panose="020B0604020202020204" pitchFamily="34" charset="0"/>
              </a:rPr>
              <a:t>non-metals</a:t>
            </a:r>
            <a:r>
              <a:rPr lang="en-AU" b="0" i="0" dirty="0" smtClean="0">
                <a:solidFill>
                  <a:srgbClr val="444444"/>
                </a:solidFill>
                <a:effectLst/>
                <a:latin typeface="Arial" panose="020B0604020202020204" pitchFamily="34" charset="0"/>
              </a:rPr>
              <a:t> on the right (plus hydrogen).</a:t>
            </a:r>
          </a:p>
          <a:p>
            <a:pPr algn="ctr"/>
            <a:r>
              <a:rPr lang="en-AU" b="0" i="0" dirty="0" smtClean="0">
                <a:solidFill>
                  <a:srgbClr val="444444"/>
                </a:solidFill>
                <a:effectLst/>
                <a:latin typeface="Arial" panose="020B0604020202020204" pitchFamily="34" charset="0"/>
              </a:rPr>
              <a:t> </a:t>
            </a:r>
          </a:p>
          <a:p>
            <a:pPr algn="ctr"/>
            <a:r>
              <a:rPr lang="en-AU" b="0" i="0" dirty="0" smtClean="0">
                <a:solidFill>
                  <a:srgbClr val="444444"/>
                </a:solidFill>
                <a:effectLst/>
                <a:latin typeface="Arial" panose="020B0604020202020204" pitchFamily="34" charset="0"/>
              </a:rPr>
              <a:t>The </a:t>
            </a:r>
            <a:r>
              <a:rPr lang="en-AU" b="1" i="0" dirty="0" smtClean="0">
                <a:solidFill>
                  <a:srgbClr val="228B22"/>
                </a:solidFill>
                <a:effectLst/>
                <a:latin typeface="Arial" panose="020B0604020202020204" pitchFamily="34" charset="0"/>
              </a:rPr>
              <a:t>metalloids</a:t>
            </a:r>
            <a:r>
              <a:rPr lang="en-AU" b="0" i="0" dirty="0" smtClean="0">
                <a:solidFill>
                  <a:srgbClr val="444444"/>
                </a:solidFill>
                <a:effectLst/>
                <a:latin typeface="Arial" panose="020B0604020202020204" pitchFamily="34" charset="0"/>
              </a:rPr>
              <a:t> on the border between metals and non-metals.</a:t>
            </a:r>
            <a:endParaRPr lang="en-AU" b="0" i="0" dirty="0">
              <a:solidFill>
                <a:srgbClr val="444444"/>
              </a:solidFill>
              <a:effectLst/>
              <a:latin typeface="Arial" panose="020B0604020202020204" pitchFamily="34" charset="0"/>
            </a:endParaRPr>
          </a:p>
        </p:txBody>
      </p:sp>
      <p:pic>
        <p:nvPicPr>
          <p:cNvPr id="2050" name="Picture 2" descr="https://www.educationperfect.com/media/content/Science/1469756686.675941g/1469756704116-3790303259025296-800.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38475" y="1525200"/>
            <a:ext cx="7620000" cy="507682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9888301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96900" y="695236"/>
            <a:ext cx="10960100" cy="923330"/>
          </a:xfrm>
          <a:prstGeom prst="rect">
            <a:avLst/>
          </a:prstGeom>
        </p:spPr>
        <p:txBody>
          <a:bodyPr wrap="square">
            <a:spAutoFit/>
          </a:bodyPr>
          <a:lstStyle/>
          <a:p>
            <a:pPr algn="ctr"/>
            <a:r>
              <a:rPr lang="en-AU" b="1" i="0" dirty="0" smtClean="0">
                <a:solidFill>
                  <a:srgbClr val="E04E50"/>
                </a:solidFill>
                <a:effectLst/>
                <a:latin typeface="Arial" panose="020B0604020202020204" pitchFamily="34" charset="0"/>
              </a:rPr>
              <a:t>Metals</a:t>
            </a:r>
            <a:r>
              <a:rPr lang="en-AU" b="0" i="0" dirty="0" smtClean="0">
                <a:solidFill>
                  <a:srgbClr val="444444"/>
                </a:solidFill>
                <a:effectLst/>
                <a:latin typeface="Arial" panose="020B0604020202020204" pitchFamily="34" charset="0"/>
              </a:rPr>
              <a:t> make up most of the periodic table, </a:t>
            </a:r>
            <a:r>
              <a:rPr lang="en-AU" b="0" i="0" dirty="0" smtClean="0">
                <a:solidFill>
                  <a:srgbClr val="444444"/>
                </a:solidFill>
                <a:effectLst/>
                <a:latin typeface="KaTeX_Main"/>
              </a:rPr>
              <a:t>91</a:t>
            </a:r>
            <a:r>
              <a:rPr lang="en-AU" b="0" i="0" dirty="0" smtClean="0">
                <a:solidFill>
                  <a:srgbClr val="444444"/>
                </a:solidFill>
                <a:effectLst/>
                <a:latin typeface="Arial" panose="020B0604020202020204" pitchFamily="34" charset="0"/>
              </a:rPr>
              <a:t> of the current </a:t>
            </a:r>
            <a:r>
              <a:rPr lang="en-AU" b="0" i="0" dirty="0" smtClean="0">
                <a:solidFill>
                  <a:srgbClr val="444444"/>
                </a:solidFill>
                <a:effectLst/>
                <a:latin typeface="KaTeX_Main"/>
              </a:rPr>
              <a:t>118</a:t>
            </a:r>
            <a:r>
              <a:rPr lang="en-AU" b="0" i="0" dirty="0" smtClean="0">
                <a:solidFill>
                  <a:srgbClr val="444444"/>
                </a:solidFill>
                <a:effectLst/>
                <a:latin typeface="Arial" panose="020B0604020202020204" pitchFamily="34" charset="0"/>
              </a:rPr>
              <a:t> known elements are metals!</a:t>
            </a:r>
          </a:p>
          <a:p>
            <a:pPr algn="ctr"/>
            <a:r>
              <a:rPr lang="en-AU" b="0" i="0" dirty="0" smtClean="0">
                <a:solidFill>
                  <a:srgbClr val="444444"/>
                </a:solidFill>
                <a:effectLst/>
                <a:latin typeface="Arial" panose="020B0604020202020204" pitchFamily="34" charset="0"/>
              </a:rPr>
              <a:t> </a:t>
            </a:r>
          </a:p>
          <a:p>
            <a:pPr algn="ctr"/>
            <a:r>
              <a:rPr lang="en-AU" b="0" i="0" dirty="0" smtClean="0">
                <a:solidFill>
                  <a:srgbClr val="444444"/>
                </a:solidFill>
                <a:effectLst/>
                <a:latin typeface="Arial" panose="020B0604020202020204" pitchFamily="34" charset="0"/>
              </a:rPr>
              <a:t>Metals all have the following properties:</a:t>
            </a:r>
            <a:endParaRPr lang="en-AU" b="0" i="0" dirty="0">
              <a:solidFill>
                <a:srgbClr val="444444"/>
              </a:solidFill>
              <a:effectLst/>
              <a:latin typeface="Arial" panose="020B0604020202020204" pitchFamily="34" charset="0"/>
            </a:endParaRPr>
          </a:p>
        </p:txBody>
      </p:sp>
      <p:pic>
        <p:nvPicPr>
          <p:cNvPr id="3" name="Picture 2"/>
          <p:cNvPicPr>
            <a:picLocks noChangeAspect="1"/>
          </p:cNvPicPr>
          <p:nvPr/>
        </p:nvPicPr>
        <p:blipFill>
          <a:blip r:embed="rId2"/>
          <a:stretch>
            <a:fillRect/>
          </a:stretch>
        </p:blipFill>
        <p:spPr>
          <a:xfrm>
            <a:off x="1570037" y="1768475"/>
            <a:ext cx="8805863" cy="4938134"/>
          </a:xfrm>
          <a:prstGeom prst="rect">
            <a:avLst/>
          </a:prstGeom>
        </p:spPr>
      </p:pic>
    </p:spTree>
    <p:extLst>
      <p:ext uri="{BB962C8B-B14F-4D97-AF65-F5344CB8AC3E}">
        <p14:creationId xmlns:p14="http://schemas.microsoft.com/office/powerpoint/2010/main" val="67527746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58800" y="481737"/>
            <a:ext cx="11518900" cy="1200329"/>
          </a:xfrm>
          <a:prstGeom prst="rect">
            <a:avLst/>
          </a:prstGeom>
        </p:spPr>
        <p:txBody>
          <a:bodyPr wrap="square">
            <a:spAutoFit/>
          </a:bodyPr>
          <a:lstStyle/>
          <a:p>
            <a:pPr algn="ctr"/>
            <a:r>
              <a:rPr lang="en-AU" b="0" i="0" dirty="0" smtClean="0">
                <a:solidFill>
                  <a:srgbClr val="444444"/>
                </a:solidFill>
                <a:effectLst/>
                <a:latin typeface="Arial" panose="020B0604020202020204" pitchFamily="34" charset="0"/>
              </a:rPr>
              <a:t>Though there are considerably fewer </a:t>
            </a:r>
            <a:r>
              <a:rPr lang="en-AU" b="1" i="0" dirty="0" smtClean="0">
                <a:solidFill>
                  <a:srgbClr val="0066CC"/>
                </a:solidFill>
                <a:effectLst/>
                <a:latin typeface="Arial" panose="020B0604020202020204" pitchFamily="34" charset="0"/>
              </a:rPr>
              <a:t>non-metals</a:t>
            </a:r>
            <a:r>
              <a:rPr lang="en-AU" b="0" i="0" dirty="0" smtClean="0">
                <a:solidFill>
                  <a:srgbClr val="444444"/>
                </a:solidFill>
                <a:effectLst/>
                <a:latin typeface="Arial" panose="020B0604020202020204" pitchFamily="34" charset="0"/>
              </a:rPr>
              <a:t> than metals, they have considerably more </a:t>
            </a:r>
            <a:r>
              <a:rPr lang="en-AU" b="1" i="0" dirty="0" smtClean="0">
                <a:solidFill>
                  <a:srgbClr val="E04E50"/>
                </a:solidFill>
                <a:effectLst/>
                <a:latin typeface="Arial" panose="020B0604020202020204" pitchFamily="34" charset="0"/>
              </a:rPr>
              <a:t>variation.</a:t>
            </a:r>
            <a:endParaRPr lang="en-AU" b="0" i="0" dirty="0" smtClean="0">
              <a:solidFill>
                <a:srgbClr val="444444"/>
              </a:solidFill>
              <a:effectLst/>
              <a:latin typeface="Arial" panose="020B0604020202020204" pitchFamily="34" charset="0"/>
            </a:endParaRPr>
          </a:p>
          <a:p>
            <a:pPr algn="ctr"/>
            <a:r>
              <a:rPr lang="en-AU" b="0" i="0" dirty="0" smtClean="0">
                <a:solidFill>
                  <a:srgbClr val="444444"/>
                </a:solidFill>
                <a:effectLst/>
                <a:latin typeface="Arial" panose="020B0604020202020204" pitchFamily="34" charset="0"/>
              </a:rPr>
              <a:t> </a:t>
            </a:r>
          </a:p>
          <a:p>
            <a:pPr algn="ctr"/>
            <a:r>
              <a:rPr lang="en-AU" b="0" i="0" dirty="0" smtClean="0">
                <a:solidFill>
                  <a:srgbClr val="444444"/>
                </a:solidFill>
                <a:effectLst/>
                <a:latin typeface="Arial" panose="020B0604020202020204" pitchFamily="34" charset="0"/>
              </a:rPr>
              <a:t>For example, there is only </a:t>
            </a:r>
            <a:r>
              <a:rPr lang="en-AU" b="0" i="0" dirty="0" smtClean="0">
                <a:solidFill>
                  <a:srgbClr val="444444"/>
                </a:solidFill>
                <a:effectLst/>
                <a:latin typeface="KaTeX_Main"/>
              </a:rPr>
              <a:t>1</a:t>
            </a:r>
            <a:r>
              <a:rPr lang="en-AU" b="0" i="0" dirty="0" smtClean="0">
                <a:solidFill>
                  <a:srgbClr val="444444"/>
                </a:solidFill>
                <a:effectLst/>
                <a:latin typeface="Arial" panose="020B0604020202020204" pitchFamily="34" charset="0"/>
              </a:rPr>
              <a:t> </a:t>
            </a:r>
            <a:r>
              <a:rPr lang="en-AU" b="1" i="0" dirty="0" smtClean="0">
                <a:solidFill>
                  <a:srgbClr val="444444"/>
                </a:solidFill>
                <a:effectLst/>
                <a:latin typeface="Arial" panose="020B0604020202020204" pitchFamily="34" charset="0"/>
              </a:rPr>
              <a:t>metal</a:t>
            </a:r>
            <a:r>
              <a:rPr lang="en-AU" b="0" i="0" dirty="0" smtClean="0">
                <a:solidFill>
                  <a:srgbClr val="444444"/>
                </a:solidFill>
                <a:effectLst/>
                <a:latin typeface="Arial" panose="020B0604020202020204" pitchFamily="34" charset="0"/>
              </a:rPr>
              <a:t> which is not a solid (mercury, which is a liquid). In the </a:t>
            </a:r>
            <a:r>
              <a:rPr lang="en-AU" b="1" i="0" dirty="0" smtClean="0">
                <a:solidFill>
                  <a:srgbClr val="0066CC"/>
                </a:solidFill>
                <a:effectLst/>
                <a:latin typeface="Arial" panose="020B0604020202020204" pitchFamily="34" charset="0"/>
              </a:rPr>
              <a:t>non-metals </a:t>
            </a:r>
            <a:r>
              <a:rPr lang="en-AU" b="0" i="0" dirty="0" smtClean="0">
                <a:solidFill>
                  <a:srgbClr val="444444"/>
                </a:solidFill>
                <a:effectLst/>
                <a:latin typeface="Arial" panose="020B0604020202020204" pitchFamily="34" charset="0"/>
              </a:rPr>
              <a:t>there are </a:t>
            </a:r>
            <a:r>
              <a:rPr lang="en-AU" b="0" i="0" dirty="0" smtClean="0">
                <a:solidFill>
                  <a:srgbClr val="444444"/>
                </a:solidFill>
                <a:effectLst/>
                <a:latin typeface="KaTeX_Main"/>
              </a:rPr>
              <a:t>11</a:t>
            </a:r>
            <a:r>
              <a:rPr lang="en-AU" b="0" i="0" dirty="0" smtClean="0">
                <a:solidFill>
                  <a:srgbClr val="444444"/>
                </a:solidFill>
                <a:effectLst/>
                <a:latin typeface="Arial" panose="020B0604020202020204" pitchFamily="34" charset="0"/>
              </a:rPr>
              <a:t> gases, </a:t>
            </a:r>
            <a:r>
              <a:rPr lang="en-AU" b="0" i="0" dirty="0" smtClean="0">
                <a:solidFill>
                  <a:srgbClr val="444444"/>
                </a:solidFill>
                <a:effectLst/>
                <a:latin typeface="KaTeX_Main"/>
              </a:rPr>
              <a:t>5</a:t>
            </a:r>
            <a:r>
              <a:rPr lang="en-AU" b="0" i="0" dirty="0" smtClean="0">
                <a:solidFill>
                  <a:srgbClr val="444444"/>
                </a:solidFill>
                <a:effectLst/>
                <a:latin typeface="Arial" panose="020B0604020202020204" pitchFamily="34" charset="0"/>
              </a:rPr>
              <a:t> solids and </a:t>
            </a:r>
            <a:r>
              <a:rPr lang="en-AU" b="0" i="0" dirty="0" smtClean="0">
                <a:solidFill>
                  <a:srgbClr val="444444"/>
                </a:solidFill>
                <a:effectLst/>
                <a:latin typeface="KaTeX_Main"/>
              </a:rPr>
              <a:t>1</a:t>
            </a:r>
            <a:r>
              <a:rPr lang="en-AU" b="0" i="0" dirty="0" smtClean="0">
                <a:solidFill>
                  <a:srgbClr val="444444"/>
                </a:solidFill>
                <a:effectLst/>
                <a:latin typeface="Arial" panose="020B0604020202020204" pitchFamily="34" charset="0"/>
              </a:rPr>
              <a:t> liquid.</a:t>
            </a:r>
            <a:endParaRPr lang="en-AU" b="0" i="0" dirty="0">
              <a:solidFill>
                <a:srgbClr val="444444"/>
              </a:solidFill>
              <a:effectLst/>
              <a:latin typeface="Arial" panose="020B0604020202020204" pitchFamily="34" charset="0"/>
            </a:endParaRPr>
          </a:p>
        </p:txBody>
      </p:sp>
      <p:pic>
        <p:nvPicPr>
          <p:cNvPr id="3074" name="Picture 2" descr="https://www.educationperfect.com/media/content/Science/1442440613.958161g/1442440644862-3014960610621007-400.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27475" y="2992437"/>
            <a:ext cx="3800475" cy="253365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2740708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117600" y="756335"/>
            <a:ext cx="8470900" cy="369332"/>
          </a:xfrm>
          <a:prstGeom prst="rect">
            <a:avLst/>
          </a:prstGeom>
        </p:spPr>
        <p:txBody>
          <a:bodyPr wrap="square">
            <a:spAutoFit/>
          </a:bodyPr>
          <a:lstStyle/>
          <a:p>
            <a:r>
              <a:rPr lang="en-AU" b="0" i="0" dirty="0" smtClean="0">
                <a:solidFill>
                  <a:srgbClr val="444444"/>
                </a:solidFill>
                <a:effectLst/>
                <a:latin typeface="Arial" panose="020B0604020202020204" pitchFamily="34" charset="0"/>
              </a:rPr>
              <a:t>In contrast to </a:t>
            </a:r>
            <a:r>
              <a:rPr lang="en-AU" b="1" i="0" dirty="0" smtClean="0">
                <a:solidFill>
                  <a:srgbClr val="444444"/>
                </a:solidFill>
                <a:effectLst/>
                <a:latin typeface="Arial" panose="020B0604020202020204" pitchFamily="34" charset="0"/>
              </a:rPr>
              <a:t>metals,</a:t>
            </a:r>
            <a:r>
              <a:rPr lang="en-AU" b="0" i="0" dirty="0" smtClean="0">
                <a:solidFill>
                  <a:srgbClr val="444444"/>
                </a:solidFill>
                <a:effectLst/>
                <a:latin typeface="Arial" panose="020B0604020202020204" pitchFamily="34" charset="0"/>
              </a:rPr>
              <a:t> </a:t>
            </a:r>
            <a:r>
              <a:rPr lang="en-AU" b="1" i="0" dirty="0" smtClean="0">
                <a:solidFill>
                  <a:srgbClr val="0066CC"/>
                </a:solidFill>
                <a:effectLst/>
                <a:latin typeface="Arial" panose="020B0604020202020204" pitchFamily="34" charset="0"/>
              </a:rPr>
              <a:t>non-metals</a:t>
            </a:r>
            <a:r>
              <a:rPr lang="en-AU" b="0" i="0" dirty="0" smtClean="0">
                <a:solidFill>
                  <a:srgbClr val="444444"/>
                </a:solidFill>
                <a:effectLst/>
                <a:latin typeface="Arial" panose="020B0604020202020204" pitchFamily="34" charset="0"/>
              </a:rPr>
              <a:t> have the following properties:</a:t>
            </a:r>
            <a:endParaRPr lang="en-AU" dirty="0"/>
          </a:p>
        </p:txBody>
      </p:sp>
      <p:pic>
        <p:nvPicPr>
          <p:cNvPr id="3" name="Picture 2"/>
          <p:cNvPicPr>
            <a:picLocks noChangeAspect="1"/>
          </p:cNvPicPr>
          <p:nvPr/>
        </p:nvPicPr>
        <p:blipFill>
          <a:blip r:embed="rId2"/>
          <a:stretch>
            <a:fillRect/>
          </a:stretch>
        </p:blipFill>
        <p:spPr>
          <a:xfrm>
            <a:off x="1576387" y="1371599"/>
            <a:ext cx="9675813" cy="5303545"/>
          </a:xfrm>
          <a:prstGeom prst="rect">
            <a:avLst/>
          </a:prstGeom>
        </p:spPr>
      </p:pic>
    </p:spTree>
    <p:extLst>
      <p:ext uri="{BB962C8B-B14F-4D97-AF65-F5344CB8AC3E}">
        <p14:creationId xmlns:p14="http://schemas.microsoft.com/office/powerpoint/2010/main" val="121676245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17500" y="307539"/>
            <a:ext cx="11290300" cy="1754326"/>
          </a:xfrm>
          <a:prstGeom prst="rect">
            <a:avLst/>
          </a:prstGeom>
        </p:spPr>
        <p:txBody>
          <a:bodyPr wrap="square">
            <a:spAutoFit/>
          </a:bodyPr>
          <a:lstStyle/>
          <a:p>
            <a:pPr algn="ctr"/>
            <a:r>
              <a:rPr lang="en-AU" b="1" i="0" dirty="0" smtClean="0">
                <a:solidFill>
                  <a:srgbClr val="228B22"/>
                </a:solidFill>
                <a:effectLst/>
                <a:latin typeface="Arial" panose="020B0604020202020204" pitchFamily="34" charset="0"/>
              </a:rPr>
              <a:t>Metalloids</a:t>
            </a:r>
            <a:r>
              <a:rPr lang="en-AU" b="0" i="0" dirty="0" smtClean="0">
                <a:solidFill>
                  <a:srgbClr val="444444"/>
                </a:solidFill>
                <a:effectLst/>
                <a:latin typeface="Arial" panose="020B0604020202020204" pitchFamily="34" charset="0"/>
              </a:rPr>
              <a:t> (sometimes called semi-metals) have similar properties to both </a:t>
            </a:r>
            <a:r>
              <a:rPr lang="en-AU" b="1" i="0" dirty="0" smtClean="0">
                <a:solidFill>
                  <a:srgbClr val="E04E50"/>
                </a:solidFill>
                <a:effectLst/>
                <a:latin typeface="Arial" panose="020B0604020202020204" pitchFamily="34" charset="0"/>
              </a:rPr>
              <a:t>metals</a:t>
            </a:r>
            <a:r>
              <a:rPr lang="en-AU" b="0" i="0" dirty="0" smtClean="0">
                <a:solidFill>
                  <a:srgbClr val="444444"/>
                </a:solidFill>
                <a:effectLst/>
                <a:latin typeface="Arial" panose="020B0604020202020204" pitchFamily="34" charset="0"/>
              </a:rPr>
              <a:t> and </a:t>
            </a:r>
            <a:r>
              <a:rPr lang="en-AU" b="1" i="0" dirty="0" smtClean="0">
                <a:solidFill>
                  <a:srgbClr val="0066CC"/>
                </a:solidFill>
                <a:effectLst/>
                <a:latin typeface="Arial" panose="020B0604020202020204" pitchFamily="34" charset="0"/>
              </a:rPr>
              <a:t>non-metals.</a:t>
            </a:r>
            <a:endParaRPr lang="en-AU" b="0" i="0" dirty="0" smtClean="0">
              <a:solidFill>
                <a:srgbClr val="444444"/>
              </a:solidFill>
              <a:effectLst/>
              <a:latin typeface="Arial" panose="020B0604020202020204" pitchFamily="34" charset="0"/>
            </a:endParaRPr>
          </a:p>
          <a:p>
            <a:pPr algn="ctr"/>
            <a:r>
              <a:rPr lang="en-AU" b="0" i="0" dirty="0" smtClean="0">
                <a:solidFill>
                  <a:srgbClr val="444444"/>
                </a:solidFill>
                <a:effectLst/>
                <a:latin typeface="Arial" panose="020B0604020202020204" pitchFamily="34" charset="0"/>
              </a:rPr>
              <a:t> </a:t>
            </a:r>
          </a:p>
          <a:p>
            <a:pPr algn="ctr"/>
            <a:r>
              <a:rPr lang="en-AU" b="0" i="0" dirty="0" smtClean="0">
                <a:solidFill>
                  <a:srgbClr val="444444"/>
                </a:solidFill>
                <a:effectLst/>
                <a:latin typeface="Arial" panose="020B0604020202020204" pitchFamily="34" charset="0"/>
              </a:rPr>
              <a:t>They tend to </a:t>
            </a:r>
            <a:r>
              <a:rPr lang="en-AU" b="1" i="0" dirty="0" smtClean="0">
                <a:solidFill>
                  <a:srgbClr val="444444"/>
                </a:solidFill>
                <a:effectLst/>
                <a:latin typeface="Arial" panose="020B0604020202020204" pitchFamily="34" charset="0"/>
              </a:rPr>
              <a:t>look</a:t>
            </a:r>
            <a:r>
              <a:rPr lang="en-AU" b="0" i="0" dirty="0" smtClean="0">
                <a:solidFill>
                  <a:srgbClr val="444444"/>
                </a:solidFill>
                <a:effectLst/>
                <a:latin typeface="Arial" panose="020B0604020202020204" pitchFamily="34" charset="0"/>
              </a:rPr>
              <a:t> more like metals, but </a:t>
            </a:r>
            <a:r>
              <a:rPr lang="en-AU" b="1" i="0" dirty="0" smtClean="0">
                <a:solidFill>
                  <a:srgbClr val="444444"/>
                </a:solidFill>
                <a:effectLst/>
                <a:latin typeface="Arial" panose="020B0604020202020204" pitchFamily="34" charset="0"/>
              </a:rPr>
              <a:t>act</a:t>
            </a:r>
            <a:r>
              <a:rPr lang="en-AU" b="0" i="0" dirty="0" smtClean="0">
                <a:solidFill>
                  <a:srgbClr val="444444"/>
                </a:solidFill>
                <a:effectLst/>
                <a:latin typeface="Arial" panose="020B0604020202020204" pitchFamily="34" charset="0"/>
              </a:rPr>
              <a:t> more like non-metals.</a:t>
            </a:r>
          </a:p>
          <a:p>
            <a:pPr algn="ctr"/>
            <a:r>
              <a:rPr lang="en-AU" b="0" i="0" dirty="0" smtClean="0">
                <a:solidFill>
                  <a:srgbClr val="444444"/>
                </a:solidFill>
                <a:effectLst/>
                <a:latin typeface="Arial" panose="020B0604020202020204" pitchFamily="34" charset="0"/>
              </a:rPr>
              <a:t> </a:t>
            </a:r>
          </a:p>
          <a:p>
            <a:pPr algn="ctr"/>
            <a:r>
              <a:rPr lang="en-AU" b="0" i="0" dirty="0" smtClean="0">
                <a:solidFill>
                  <a:srgbClr val="444444"/>
                </a:solidFill>
                <a:effectLst/>
                <a:latin typeface="Arial" panose="020B0604020202020204" pitchFamily="34" charset="0"/>
              </a:rPr>
              <a:t>For example, silicon is </a:t>
            </a:r>
            <a:r>
              <a:rPr lang="en-AU" b="1" i="0" dirty="0" smtClean="0">
                <a:solidFill>
                  <a:srgbClr val="444444"/>
                </a:solidFill>
                <a:effectLst/>
                <a:latin typeface="Arial" panose="020B0604020202020204" pitchFamily="34" charset="0"/>
              </a:rPr>
              <a:t>shiny,</a:t>
            </a:r>
            <a:r>
              <a:rPr lang="en-AU" b="0" i="0" dirty="0" smtClean="0">
                <a:solidFill>
                  <a:srgbClr val="444444"/>
                </a:solidFill>
                <a:effectLst/>
                <a:latin typeface="Arial" panose="020B0604020202020204" pitchFamily="34" charset="0"/>
              </a:rPr>
              <a:t> but also </a:t>
            </a:r>
            <a:r>
              <a:rPr lang="en-AU" b="1" i="0" dirty="0" smtClean="0">
                <a:solidFill>
                  <a:srgbClr val="444444"/>
                </a:solidFill>
                <a:effectLst/>
                <a:latin typeface="Arial" panose="020B0604020202020204" pitchFamily="34" charset="0"/>
              </a:rPr>
              <a:t>brittle</a:t>
            </a:r>
            <a:r>
              <a:rPr lang="en-AU" b="0" i="0" dirty="0" smtClean="0">
                <a:solidFill>
                  <a:srgbClr val="444444"/>
                </a:solidFill>
                <a:effectLst/>
                <a:latin typeface="Arial" panose="020B0604020202020204" pitchFamily="34" charset="0"/>
              </a:rPr>
              <a:t> and only a </a:t>
            </a:r>
            <a:r>
              <a:rPr lang="en-AU" b="1" i="0" dirty="0" smtClean="0">
                <a:solidFill>
                  <a:srgbClr val="444444"/>
                </a:solidFill>
                <a:effectLst/>
                <a:latin typeface="Arial" panose="020B0604020202020204" pitchFamily="34" charset="0"/>
              </a:rPr>
              <a:t>semiconductor</a:t>
            </a:r>
            <a:r>
              <a:rPr lang="en-AU" b="0" i="0" dirty="0" smtClean="0">
                <a:solidFill>
                  <a:srgbClr val="444444"/>
                </a:solidFill>
                <a:effectLst/>
                <a:latin typeface="Arial" panose="020B0604020202020204" pitchFamily="34" charset="0"/>
              </a:rPr>
              <a:t> (will conduct electricity under certain circumstances).</a:t>
            </a:r>
            <a:endParaRPr lang="en-AU" b="0" i="0" dirty="0">
              <a:solidFill>
                <a:srgbClr val="444444"/>
              </a:solidFill>
              <a:effectLst/>
              <a:latin typeface="Arial" panose="020B0604020202020204" pitchFamily="34" charset="0"/>
            </a:endParaRPr>
          </a:p>
        </p:txBody>
      </p:sp>
      <p:pic>
        <p:nvPicPr>
          <p:cNvPr id="4098" name="Picture 2" descr="https://www.educationperfect.com/media/content/Science/1454631142.312371g/1454631146965-2540303274161793-400.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057650" y="2489200"/>
            <a:ext cx="3810000" cy="2857500"/>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5"/>
          <p:cNvSpPr>
            <a:spLocks noChangeArrowheads="1"/>
          </p:cNvSpPr>
          <p:nvPr/>
        </p:nvSpPr>
        <p:spPr bwMode="auto">
          <a:xfrm>
            <a:off x="1549400" y="5774035"/>
            <a:ext cx="12192000" cy="45720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500" b="0" i="1" u="none" strike="noStrike" cap="none" normalizeH="0" baseline="0" smtClean="0">
                <a:ln>
                  <a:noFill/>
                </a:ln>
                <a:solidFill>
                  <a:schemeClr val="tx1"/>
                </a:solidFill>
                <a:effectLst/>
                <a:latin typeface="Arial" panose="020B0604020202020204" pitchFamily="34" charset="0"/>
                <a:cs typeface="Arial" panose="020B0604020202020204" pitchFamily="34" charset="0"/>
              </a:rPr>
              <a:t>Most periodic tables will represent the metalloids with a zig-zag line</a:t>
            </a:r>
            <a:endParaRPr kumimoji="0" lang="en-US" altLang="en-US" sz="1200" b="0" i="0" u="none" strike="noStrike" cap="none" normalizeH="0" baseline="0" smtClean="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smtClean="0">
              <a:ln>
                <a:noFill/>
              </a:ln>
              <a:solidFill>
                <a:schemeClr val="tx1"/>
              </a:solidFill>
              <a:effectLst/>
              <a:latin typeface="Arial" panose="020B0604020202020204" pitchFamily="34" charset="0"/>
            </a:endParaRPr>
          </a:p>
        </p:txBody>
      </p:sp>
      <p:sp>
        <p:nvSpPr>
          <p:cNvPr id="6" name="Rectangle 6"/>
          <p:cNvSpPr>
            <a:spLocks noChangeArrowheads="1"/>
          </p:cNvSpPr>
          <p:nvPr/>
        </p:nvSpPr>
        <p:spPr bwMode="auto">
          <a:xfrm>
            <a:off x="1549400" y="577403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smtClean="0">
                <a:ln>
                  <a:noFill/>
                </a:ln>
                <a:solidFill>
                  <a:srgbClr val="FFFFFF"/>
                </a:solidFill>
                <a:effectLst/>
                <a:latin typeface="Arial" panose="020B0604020202020204" pitchFamily="34" charset="0"/>
              </a:rPr>
              <a:t> 6 of 42 </a:t>
            </a:r>
            <a:endParaRPr kumimoji="0" lang="en-US" altLang="en-US" sz="1800" b="0" i="0" u="none" strike="noStrike" cap="none" normalizeH="0" baseline="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300" b="0" i="0" u="none" strike="noStrike" cap="none" normalizeH="0" baseline="0" smtClean="0">
                <a:ln>
                  <a:noFill/>
                </a:ln>
                <a:solidFill>
                  <a:srgbClr val="444444"/>
                </a:solidFill>
                <a:effectLst/>
                <a:latin typeface="var(--HSDSGlobalFontFamily)"/>
              </a:rPr>
              <a:t/>
            </a:r>
            <a:br>
              <a:rPr kumimoji="0" lang="en-US" altLang="en-US" sz="1300" b="0" i="0" u="none" strike="noStrike" cap="none" normalizeH="0" baseline="0" smtClean="0">
                <a:ln>
                  <a:noFill/>
                </a:ln>
                <a:solidFill>
                  <a:srgbClr val="444444"/>
                </a:solidFill>
                <a:effectLst/>
                <a:latin typeface="var(--HSDSGlobalFontFamily)"/>
              </a:rPr>
            </a:br>
            <a:endParaRPr kumimoji="0" lang="en-US" altLang="en-US" sz="1800" b="0" i="0" u="none" strike="noStrike" cap="none" normalizeH="0" baseline="0" smtClean="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372967037"/>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46100" y="1115536"/>
            <a:ext cx="10947400" cy="923330"/>
          </a:xfrm>
          <a:prstGeom prst="rect">
            <a:avLst/>
          </a:prstGeom>
        </p:spPr>
        <p:txBody>
          <a:bodyPr wrap="square">
            <a:spAutoFit/>
          </a:bodyPr>
          <a:lstStyle/>
          <a:p>
            <a:pPr algn="ctr"/>
            <a:r>
              <a:rPr lang="en-AU" b="1" i="0" dirty="0" smtClean="0">
                <a:solidFill>
                  <a:srgbClr val="E04E50"/>
                </a:solidFill>
                <a:effectLst/>
                <a:latin typeface="Arial" panose="020B0604020202020204" pitchFamily="34" charset="0"/>
              </a:rPr>
              <a:t>Electronegativity</a:t>
            </a:r>
            <a:r>
              <a:rPr lang="en-AU" b="0" i="0" dirty="0" smtClean="0">
                <a:solidFill>
                  <a:srgbClr val="444444"/>
                </a:solidFill>
                <a:effectLst/>
                <a:latin typeface="Arial" panose="020B0604020202020204" pitchFamily="34" charset="0"/>
              </a:rPr>
              <a:t> is a measure of </a:t>
            </a:r>
            <a:r>
              <a:rPr lang="en-AU" b="1" i="0" dirty="0" smtClean="0">
                <a:solidFill>
                  <a:srgbClr val="0066CC"/>
                </a:solidFill>
                <a:effectLst/>
                <a:latin typeface="Arial" panose="020B0604020202020204" pitchFamily="34" charset="0"/>
              </a:rPr>
              <a:t>how strongly an atom attracts electrons.</a:t>
            </a:r>
            <a:endParaRPr lang="en-AU" b="0" i="0" dirty="0" smtClean="0">
              <a:solidFill>
                <a:srgbClr val="444444"/>
              </a:solidFill>
              <a:effectLst/>
              <a:latin typeface="Arial" panose="020B0604020202020204" pitchFamily="34" charset="0"/>
            </a:endParaRPr>
          </a:p>
          <a:p>
            <a:pPr algn="ctr"/>
            <a:r>
              <a:rPr lang="en-AU" b="0" i="0" dirty="0" smtClean="0">
                <a:solidFill>
                  <a:srgbClr val="444444"/>
                </a:solidFill>
                <a:effectLst/>
                <a:latin typeface="Arial" panose="020B0604020202020204" pitchFamily="34" charset="0"/>
              </a:rPr>
              <a:t> </a:t>
            </a:r>
          </a:p>
          <a:p>
            <a:pPr algn="ctr"/>
            <a:r>
              <a:rPr lang="en-AU" b="1" i="0" dirty="0" smtClean="0">
                <a:solidFill>
                  <a:srgbClr val="444444"/>
                </a:solidFill>
                <a:effectLst/>
                <a:latin typeface="Arial" panose="020B0604020202020204" pitchFamily="34" charset="0"/>
              </a:rPr>
              <a:t>Electronegativity</a:t>
            </a:r>
            <a:r>
              <a:rPr lang="en-AU" b="0" i="0" dirty="0" smtClean="0">
                <a:solidFill>
                  <a:srgbClr val="444444"/>
                </a:solidFill>
                <a:effectLst/>
                <a:latin typeface="Arial" panose="020B0604020202020204" pitchFamily="34" charset="0"/>
              </a:rPr>
              <a:t> increases as you go to the right of the table, and as you go up the table.</a:t>
            </a:r>
            <a:endParaRPr lang="en-AU" b="0" i="0" dirty="0">
              <a:solidFill>
                <a:srgbClr val="444444"/>
              </a:solidFill>
              <a:effectLst/>
              <a:latin typeface="Arial" panose="020B0604020202020204" pitchFamily="34" charset="0"/>
            </a:endParaRPr>
          </a:p>
        </p:txBody>
      </p:sp>
      <p:pic>
        <p:nvPicPr>
          <p:cNvPr id="5122" name="Picture 2" descr="https://www.educationperfect.com/media/content/Science/1455741213.855581g/1455741215751-4174902852677038-optimised.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775075" y="3014662"/>
            <a:ext cx="6667500" cy="24765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1807577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41300" y="496838"/>
            <a:ext cx="11328400" cy="1754326"/>
          </a:xfrm>
          <a:prstGeom prst="rect">
            <a:avLst/>
          </a:prstGeom>
        </p:spPr>
        <p:txBody>
          <a:bodyPr wrap="square">
            <a:spAutoFit/>
          </a:bodyPr>
          <a:lstStyle/>
          <a:p>
            <a:pPr algn="ctr"/>
            <a:r>
              <a:rPr lang="en-AU" b="0" i="0" dirty="0" smtClean="0">
                <a:solidFill>
                  <a:srgbClr val="444444"/>
                </a:solidFill>
                <a:effectLst/>
                <a:latin typeface="Arial" panose="020B0604020202020204" pitchFamily="34" charset="0"/>
              </a:rPr>
              <a:t>The </a:t>
            </a:r>
            <a:r>
              <a:rPr lang="en-AU" b="1" i="0" dirty="0" smtClean="0">
                <a:solidFill>
                  <a:srgbClr val="444444"/>
                </a:solidFill>
                <a:effectLst/>
                <a:latin typeface="Arial" panose="020B0604020202020204" pitchFamily="34" charset="0"/>
              </a:rPr>
              <a:t>electronegativity</a:t>
            </a:r>
            <a:r>
              <a:rPr lang="en-AU" b="0" i="0" dirty="0" smtClean="0">
                <a:solidFill>
                  <a:srgbClr val="444444"/>
                </a:solidFill>
                <a:effectLst/>
                <a:latin typeface="Arial" panose="020B0604020202020204" pitchFamily="34" charset="0"/>
              </a:rPr>
              <a:t> affects how an element will </a:t>
            </a:r>
            <a:r>
              <a:rPr lang="en-AU" b="1" i="0" dirty="0" smtClean="0">
                <a:solidFill>
                  <a:srgbClr val="E04E50"/>
                </a:solidFill>
                <a:effectLst/>
                <a:latin typeface="Arial" panose="020B0604020202020204" pitchFamily="34" charset="0"/>
              </a:rPr>
              <a:t>react.</a:t>
            </a:r>
            <a:endParaRPr lang="en-AU" b="0" i="0" dirty="0" smtClean="0">
              <a:solidFill>
                <a:srgbClr val="444444"/>
              </a:solidFill>
              <a:effectLst/>
              <a:latin typeface="Arial" panose="020B0604020202020204" pitchFamily="34" charset="0"/>
            </a:endParaRPr>
          </a:p>
          <a:p>
            <a:pPr algn="ctr"/>
            <a:r>
              <a:rPr lang="en-AU" b="0" i="0" dirty="0" smtClean="0">
                <a:solidFill>
                  <a:srgbClr val="444444"/>
                </a:solidFill>
                <a:effectLst/>
                <a:latin typeface="Arial" panose="020B0604020202020204" pitchFamily="34" charset="0"/>
              </a:rPr>
              <a:t> </a:t>
            </a:r>
          </a:p>
          <a:p>
            <a:pPr algn="ctr"/>
            <a:r>
              <a:rPr lang="en-AU" b="0" i="0" dirty="0" smtClean="0">
                <a:solidFill>
                  <a:srgbClr val="444444"/>
                </a:solidFill>
                <a:effectLst/>
                <a:latin typeface="Arial" panose="020B0604020202020204" pitchFamily="34" charset="0"/>
              </a:rPr>
              <a:t>An element with a </a:t>
            </a:r>
            <a:r>
              <a:rPr lang="en-AU" b="1" i="0" dirty="0" smtClean="0">
                <a:solidFill>
                  <a:srgbClr val="444444"/>
                </a:solidFill>
                <a:effectLst/>
                <a:latin typeface="Arial" panose="020B0604020202020204" pitchFamily="34" charset="0"/>
              </a:rPr>
              <a:t>high</a:t>
            </a:r>
            <a:r>
              <a:rPr lang="en-AU" b="0" i="0" dirty="0" smtClean="0">
                <a:solidFill>
                  <a:srgbClr val="444444"/>
                </a:solidFill>
                <a:effectLst/>
                <a:latin typeface="Arial" panose="020B0604020202020204" pitchFamily="34" charset="0"/>
              </a:rPr>
              <a:t> electronegativity, such as oxygen, is going to be very good at </a:t>
            </a:r>
            <a:r>
              <a:rPr lang="en-AU" b="1" i="0" dirty="0" smtClean="0">
                <a:solidFill>
                  <a:srgbClr val="0066CC"/>
                </a:solidFill>
                <a:effectLst/>
                <a:latin typeface="Arial" panose="020B0604020202020204" pitchFamily="34" charset="0"/>
              </a:rPr>
              <a:t>taking electrons.</a:t>
            </a:r>
            <a:endParaRPr lang="en-AU" b="0" i="0" dirty="0" smtClean="0">
              <a:solidFill>
                <a:srgbClr val="444444"/>
              </a:solidFill>
              <a:effectLst/>
              <a:latin typeface="Arial" panose="020B0604020202020204" pitchFamily="34" charset="0"/>
            </a:endParaRPr>
          </a:p>
          <a:p>
            <a:pPr algn="ctr"/>
            <a:r>
              <a:rPr lang="en-AU" b="0" i="0" dirty="0" smtClean="0">
                <a:solidFill>
                  <a:srgbClr val="444444"/>
                </a:solidFill>
                <a:effectLst/>
                <a:latin typeface="Arial" panose="020B0604020202020204" pitchFamily="34" charset="0"/>
              </a:rPr>
              <a:t> </a:t>
            </a:r>
          </a:p>
          <a:p>
            <a:pPr algn="ctr"/>
            <a:r>
              <a:rPr lang="en-AU" b="0" i="0" dirty="0" smtClean="0">
                <a:solidFill>
                  <a:srgbClr val="444444"/>
                </a:solidFill>
                <a:effectLst/>
                <a:latin typeface="Arial" panose="020B0604020202020204" pitchFamily="34" charset="0"/>
              </a:rPr>
              <a:t>An element with a </a:t>
            </a:r>
            <a:r>
              <a:rPr lang="en-AU" b="1" i="0" dirty="0" smtClean="0">
                <a:solidFill>
                  <a:srgbClr val="444444"/>
                </a:solidFill>
                <a:effectLst/>
                <a:latin typeface="Arial" panose="020B0604020202020204" pitchFamily="34" charset="0"/>
              </a:rPr>
              <a:t>low</a:t>
            </a:r>
            <a:r>
              <a:rPr lang="en-AU" b="0" i="0" dirty="0" smtClean="0">
                <a:solidFill>
                  <a:srgbClr val="444444"/>
                </a:solidFill>
                <a:effectLst/>
                <a:latin typeface="Arial" panose="020B0604020202020204" pitchFamily="34" charset="0"/>
              </a:rPr>
              <a:t> electronegativity, such as caesium, is going to be very good at </a:t>
            </a:r>
            <a:r>
              <a:rPr lang="en-AU" b="1" i="0" dirty="0" smtClean="0">
                <a:solidFill>
                  <a:srgbClr val="0066CC"/>
                </a:solidFill>
                <a:effectLst/>
                <a:latin typeface="Arial" panose="020B0604020202020204" pitchFamily="34" charset="0"/>
              </a:rPr>
              <a:t>losing electrons.</a:t>
            </a:r>
            <a:endParaRPr lang="en-AU" b="0" i="0" dirty="0" smtClean="0">
              <a:solidFill>
                <a:srgbClr val="444444"/>
              </a:solidFill>
              <a:effectLst/>
              <a:latin typeface="Arial" panose="020B0604020202020204" pitchFamily="34" charset="0"/>
            </a:endParaRPr>
          </a:p>
          <a:p>
            <a:pPr algn="ctr"/>
            <a:r>
              <a:rPr lang="en-AU" b="0" i="0" dirty="0" smtClean="0">
                <a:solidFill>
                  <a:srgbClr val="444444"/>
                </a:solidFill>
                <a:effectLst/>
                <a:latin typeface="Arial" panose="020B0604020202020204" pitchFamily="34" charset="0"/>
              </a:rPr>
              <a:t> </a:t>
            </a:r>
            <a:endParaRPr lang="en-AU" b="0" i="0" dirty="0">
              <a:solidFill>
                <a:srgbClr val="444444"/>
              </a:solidFill>
              <a:effectLst/>
              <a:latin typeface="Arial" panose="020B0604020202020204" pitchFamily="34" charset="0"/>
            </a:endParaRPr>
          </a:p>
        </p:txBody>
      </p:sp>
      <p:pic>
        <p:nvPicPr>
          <p:cNvPr id="6146" name="Picture 2" descr="https://www.educationperfect.com/media/content/Science/1455741213.855581g/1455741215751-4174902852677038-optimised.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609975" y="3128962"/>
            <a:ext cx="6667500" cy="24765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2844781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727200" y="986135"/>
            <a:ext cx="6096000" cy="923330"/>
          </a:xfrm>
          <a:prstGeom prst="rect">
            <a:avLst/>
          </a:prstGeom>
        </p:spPr>
        <p:txBody>
          <a:bodyPr>
            <a:spAutoFit/>
          </a:bodyPr>
          <a:lstStyle/>
          <a:p>
            <a:pPr algn="ctr"/>
            <a:r>
              <a:rPr lang="en-AU" b="0" i="0" dirty="0" smtClean="0">
                <a:solidFill>
                  <a:srgbClr val="444444"/>
                </a:solidFill>
                <a:effectLst/>
                <a:latin typeface="Arial" panose="020B0604020202020204" pitchFamily="34" charset="0"/>
              </a:rPr>
              <a:t>Fluorine is the </a:t>
            </a:r>
            <a:r>
              <a:rPr lang="en-AU" b="1" i="0" dirty="0" smtClean="0">
                <a:solidFill>
                  <a:srgbClr val="E04E50"/>
                </a:solidFill>
                <a:effectLst/>
                <a:latin typeface="Arial" panose="020B0604020202020204" pitchFamily="34" charset="0"/>
              </a:rPr>
              <a:t>most electronegative</a:t>
            </a:r>
            <a:r>
              <a:rPr lang="en-AU" b="0" i="0" dirty="0" smtClean="0">
                <a:solidFill>
                  <a:srgbClr val="444444"/>
                </a:solidFill>
                <a:effectLst/>
                <a:latin typeface="Arial" panose="020B0604020202020204" pitchFamily="34" charset="0"/>
              </a:rPr>
              <a:t> element.</a:t>
            </a:r>
          </a:p>
          <a:p>
            <a:pPr algn="ctr"/>
            <a:r>
              <a:rPr lang="en-AU" b="0" i="0" dirty="0" smtClean="0">
                <a:solidFill>
                  <a:srgbClr val="444444"/>
                </a:solidFill>
                <a:effectLst/>
                <a:latin typeface="Arial" panose="020B0604020202020204" pitchFamily="34" charset="0"/>
              </a:rPr>
              <a:t> </a:t>
            </a:r>
          </a:p>
          <a:p>
            <a:pPr algn="ctr"/>
            <a:r>
              <a:rPr lang="en-AU" b="0" i="0" dirty="0" smtClean="0">
                <a:solidFill>
                  <a:srgbClr val="444444"/>
                </a:solidFill>
                <a:effectLst/>
                <a:latin typeface="Arial" panose="020B0604020202020204" pitchFamily="34" charset="0"/>
              </a:rPr>
              <a:t>Francium is the </a:t>
            </a:r>
            <a:r>
              <a:rPr lang="en-AU" b="1" i="0" dirty="0" smtClean="0">
                <a:solidFill>
                  <a:srgbClr val="0066CC"/>
                </a:solidFill>
                <a:effectLst/>
                <a:latin typeface="Arial" panose="020B0604020202020204" pitchFamily="34" charset="0"/>
              </a:rPr>
              <a:t>least electronegative</a:t>
            </a:r>
            <a:r>
              <a:rPr lang="en-AU" b="0" i="0" dirty="0" smtClean="0">
                <a:solidFill>
                  <a:srgbClr val="444444"/>
                </a:solidFill>
                <a:effectLst/>
                <a:latin typeface="Arial" panose="020B0604020202020204" pitchFamily="34" charset="0"/>
              </a:rPr>
              <a:t> element.</a:t>
            </a:r>
            <a:endParaRPr lang="en-AU" b="0" i="0" dirty="0">
              <a:solidFill>
                <a:srgbClr val="444444"/>
              </a:solidFill>
              <a:effectLst/>
              <a:latin typeface="Arial" panose="020B0604020202020204" pitchFamily="34" charset="0"/>
            </a:endParaRPr>
          </a:p>
        </p:txBody>
      </p:sp>
      <p:pic>
        <p:nvPicPr>
          <p:cNvPr id="7169" name="Picture 1" descr="https://www.educationperfect.com/media/content/Science/1454992230.224021g/1454992236775-535537011310018-400.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629400" y="2286000"/>
            <a:ext cx="3800475" cy="3762375"/>
          </a:xfrm>
          <a:prstGeom prst="rect">
            <a:avLst/>
          </a:prstGeom>
          <a:noFill/>
          <a:extLst>
            <a:ext uri="{909E8E84-426E-40DD-AFC4-6F175D3DCCD1}">
              <a14:hiddenFill xmlns:a14="http://schemas.microsoft.com/office/drawing/2010/main">
                <a:solidFill>
                  <a:srgbClr val="FFFFFF"/>
                </a:solidFill>
              </a14:hiddenFill>
            </a:ext>
          </a:extLst>
        </p:spPr>
      </p:pic>
      <p:pic>
        <p:nvPicPr>
          <p:cNvPr id="7171" name="Picture 3" descr="https://www.educationperfect.com/media/content/Science/1454992215.074541g/1454992219460-535537011310018-400.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29400" y="2286000"/>
            <a:ext cx="3800475" cy="3781425"/>
          </a:xfrm>
          <a:prstGeom prst="rect">
            <a:avLst/>
          </a:prstGeom>
          <a:noFill/>
          <a:extLst>
            <a:ext uri="{909E8E84-426E-40DD-AFC4-6F175D3DCCD1}">
              <a14:hiddenFill xmlns:a14="http://schemas.microsoft.com/office/drawing/2010/main">
                <a:solidFill>
                  <a:srgbClr val="FFFFFF"/>
                </a:solidFill>
              </a14:hiddenFill>
            </a:ext>
          </a:extLst>
        </p:spPr>
      </p:pic>
      <p:pic>
        <p:nvPicPr>
          <p:cNvPr id="7173" name="Picture 5" descr="https://www.educationperfect.com/media/content/Science/1454992230.224021g/1454992236775-535537011310018-400.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52675" y="2305049"/>
            <a:ext cx="3800475" cy="376237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0703755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30200" y="937736"/>
            <a:ext cx="11696700" cy="923330"/>
          </a:xfrm>
          <a:prstGeom prst="rect">
            <a:avLst/>
          </a:prstGeom>
        </p:spPr>
        <p:txBody>
          <a:bodyPr wrap="square">
            <a:spAutoFit/>
          </a:bodyPr>
          <a:lstStyle/>
          <a:p>
            <a:pPr algn="ctr"/>
            <a:r>
              <a:rPr lang="en-AU" b="0" i="0" dirty="0" smtClean="0">
                <a:solidFill>
                  <a:srgbClr val="444444"/>
                </a:solidFill>
                <a:effectLst/>
                <a:latin typeface="Arial" panose="020B0604020202020204" pitchFamily="34" charset="0"/>
              </a:rPr>
              <a:t>The </a:t>
            </a:r>
            <a:r>
              <a:rPr lang="en-AU" b="1" i="0" dirty="0" smtClean="0">
                <a:solidFill>
                  <a:srgbClr val="E04E50"/>
                </a:solidFill>
                <a:effectLst/>
                <a:latin typeface="Arial" panose="020B0604020202020204" pitchFamily="34" charset="0"/>
              </a:rPr>
              <a:t>atomic radius</a:t>
            </a:r>
            <a:r>
              <a:rPr lang="en-AU" b="0" i="0" dirty="0" smtClean="0">
                <a:solidFill>
                  <a:srgbClr val="444444"/>
                </a:solidFill>
                <a:effectLst/>
                <a:latin typeface="Arial" panose="020B0604020202020204" pitchFamily="34" charset="0"/>
              </a:rPr>
              <a:t> is the </a:t>
            </a:r>
            <a:r>
              <a:rPr lang="en-AU" b="1" i="0" dirty="0" smtClean="0">
                <a:solidFill>
                  <a:srgbClr val="0066CC"/>
                </a:solidFill>
                <a:effectLst/>
                <a:latin typeface="Arial" panose="020B0604020202020204" pitchFamily="34" charset="0"/>
              </a:rPr>
              <a:t>distance from the nucleus to the outer electrons.</a:t>
            </a:r>
            <a:endParaRPr lang="en-AU" b="0" i="0" dirty="0" smtClean="0">
              <a:solidFill>
                <a:srgbClr val="444444"/>
              </a:solidFill>
              <a:effectLst/>
              <a:latin typeface="Arial" panose="020B0604020202020204" pitchFamily="34" charset="0"/>
            </a:endParaRPr>
          </a:p>
          <a:p>
            <a:pPr algn="ctr"/>
            <a:r>
              <a:rPr lang="en-AU" b="0" i="0" dirty="0" smtClean="0">
                <a:solidFill>
                  <a:srgbClr val="444444"/>
                </a:solidFill>
                <a:effectLst/>
                <a:latin typeface="Arial" panose="020B0604020202020204" pitchFamily="34" charset="0"/>
              </a:rPr>
              <a:t> </a:t>
            </a:r>
          </a:p>
          <a:p>
            <a:pPr algn="ctr"/>
            <a:r>
              <a:rPr lang="en-AU" b="1" i="0" dirty="0" smtClean="0">
                <a:solidFill>
                  <a:srgbClr val="444444"/>
                </a:solidFill>
                <a:effectLst/>
                <a:latin typeface="Arial" panose="020B0604020202020204" pitchFamily="34" charset="0"/>
              </a:rPr>
              <a:t>Atomic radius</a:t>
            </a:r>
            <a:r>
              <a:rPr lang="en-AU" b="0" i="0" dirty="0" smtClean="0">
                <a:solidFill>
                  <a:srgbClr val="444444"/>
                </a:solidFill>
                <a:effectLst/>
                <a:latin typeface="Arial" panose="020B0604020202020204" pitchFamily="34" charset="0"/>
              </a:rPr>
              <a:t> increases as you move to the left of the table, and as you go down the table.</a:t>
            </a:r>
            <a:endParaRPr lang="en-AU" b="0" i="0" dirty="0">
              <a:solidFill>
                <a:srgbClr val="444444"/>
              </a:solidFill>
              <a:effectLst/>
              <a:latin typeface="Arial" panose="020B0604020202020204" pitchFamily="34" charset="0"/>
            </a:endParaRPr>
          </a:p>
        </p:txBody>
      </p:sp>
      <p:pic>
        <p:nvPicPr>
          <p:cNvPr id="8194" name="Picture 2" descr="https://www.educationperfect.com/media/content/Science/1455741259.57521g/1455741259414-4174902852677038-optimised.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28875" y="2560637"/>
            <a:ext cx="6667500" cy="300037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3737830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71500" y="770235"/>
            <a:ext cx="10414000" cy="923330"/>
          </a:xfrm>
          <a:prstGeom prst="rect">
            <a:avLst/>
          </a:prstGeom>
        </p:spPr>
        <p:txBody>
          <a:bodyPr wrap="square">
            <a:spAutoFit/>
          </a:bodyPr>
          <a:lstStyle/>
          <a:p>
            <a:pPr algn="ctr"/>
            <a:r>
              <a:rPr lang="en-AU" b="1" i="0" dirty="0" smtClean="0">
                <a:solidFill>
                  <a:srgbClr val="E04E50"/>
                </a:solidFill>
                <a:effectLst/>
                <a:latin typeface="Arial" panose="020B0604020202020204" pitchFamily="34" charset="0"/>
              </a:rPr>
              <a:t>Helium has the lowest atomic radius.</a:t>
            </a:r>
            <a:endParaRPr lang="en-AU" b="0" i="0" dirty="0" smtClean="0">
              <a:solidFill>
                <a:srgbClr val="444444"/>
              </a:solidFill>
              <a:effectLst/>
              <a:latin typeface="Arial" panose="020B0604020202020204" pitchFamily="34" charset="0"/>
            </a:endParaRPr>
          </a:p>
          <a:p>
            <a:pPr algn="ctr"/>
            <a:r>
              <a:rPr lang="en-AU" b="0" i="0" dirty="0" smtClean="0">
                <a:solidFill>
                  <a:srgbClr val="444444"/>
                </a:solidFill>
                <a:effectLst/>
                <a:latin typeface="Arial" panose="020B0604020202020204" pitchFamily="34" charset="0"/>
              </a:rPr>
              <a:t> </a:t>
            </a:r>
          </a:p>
          <a:p>
            <a:pPr algn="ctr"/>
            <a:r>
              <a:rPr lang="en-AU" b="1" i="0" dirty="0" smtClean="0">
                <a:solidFill>
                  <a:srgbClr val="0066CC"/>
                </a:solidFill>
                <a:effectLst/>
                <a:latin typeface="Arial" panose="020B0604020202020204" pitchFamily="34" charset="0"/>
              </a:rPr>
              <a:t>Caesium has the highest known atomic radius.</a:t>
            </a:r>
            <a:endParaRPr lang="en-AU" b="0" i="0" dirty="0">
              <a:solidFill>
                <a:srgbClr val="444444"/>
              </a:solidFill>
              <a:effectLst/>
              <a:latin typeface="Arial" panose="020B0604020202020204" pitchFamily="34" charset="0"/>
            </a:endParaRPr>
          </a:p>
        </p:txBody>
      </p:sp>
      <p:pic>
        <p:nvPicPr>
          <p:cNvPr id="9218" name="Picture 2" descr="https://www.educationperfect.com/media/content/German/1453933349.859171g/1453933391791-3951118349438109-400.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70075" y="2170112"/>
            <a:ext cx="3810000" cy="3771901"/>
          </a:xfrm>
          <a:prstGeom prst="rect">
            <a:avLst/>
          </a:prstGeom>
          <a:noFill/>
          <a:extLst>
            <a:ext uri="{909E8E84-426E-40DD-AFC4-6F175D3DCCD1}">
              <a14:hiddenFill xmlns:a14="http://schemas.microsoft.com/office/drawing/2010/main">
                <a:solidFill>
                  <a:srgbClr val="FFFFFF"/>
                </a:solidFill>
              </a14:hiddenFill>
            </a:ext>
          </a:extLst>
        </p:spPr>
      </p:pic>
      <p:pic>
        <p:nvPicPr>
          <p:cNvPr id="9220" name="Picture 4" descr="https://www.educationperfect.com/media/content/Science/1454992260.20731g/1454992265381-535537011310018-400.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48475" y="2160588"/>
            <a:ext cx="3810000" cy="37814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7344299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647700" y="477441"/>
            <a:ext cx="10782300" cy="2585323"/>
          </a:xfrm>
          <a:prstGeom prst="rect">
            <a:avLst/>
          </a:prstGeom>
        </p:spPr>
        <p:txBody>
          <a:bodyPr wrap="square">
            <a:spAutoFit/>
          </a:bodyPr>
          <a:lstStyle/>
          <a:p>
            <a:pPr algn="ctr"/>
            <a:r>
              <a:rPr lang="en-AU" b="0" i="0" dirty="0" smtClean="0">
                <a:solidFill>
                  <a:srgbClr val="444444"/>
                </a:solidFill>
                <a:effectLst/>
                <a:latin typeface="Arial" panose="020B0604020202020204" pitchFamily="34" charset="0"/>
              </a:rPr>
              <a:t>Due to the patterns in atomic structure and properties, there are also some </a:t>
            </a:r>
            <a:r>
              <a:rPr lang="en-AU" b="1" i="0" dirty="0" smtClean="0">
                <a:solidFill>
                  <a:srgbClr val="228B22"/>
                </a:solidFill>
                <a:effectLst/>
                <a:latin typeface="Arial" panose="020B0604020202020204" pitchFamily="34" charset="0"/>
              </a:rPr>
              <a:t>trends seen in the compounds</a:t>
            </a:r>
            <a:r>
              <a:rPr lang="en-AU" b="0" i="0" dirty="0" smtClean="0">
                <a:solidFill>
                  <a:srgbClr val="444444"/>
                </a:solidFill>
                <a:effectLst/>
                <a:latin typeface="Arial" panose="020B0604020202020204" pitchFamily="34" charset="0"/>
              </a:rPr>
              <a:t> formed.</a:t>
            </a:r>
          </a:p>
          <a:p>
            <a:pPr algn="ctr"/>
            <a:r>
              <a:rPr lang="en-AU" b="0" i="0" dirty="0" smtClean="0">
                <a:solidFill>
                  <a:srgbClr val="444444"/>
                </a:solidFill>
                <a:effectLst/>
                <a:latin typeface="Arial" panose="020B0604020202020204" pitchFamily="34" charset="0"/>
              </a:rPr>
              <a:t> </a:t>
            </a:r>
          </a:p>
          <a:p>
            <a:pPr algn="ctr"/>
            <a:r>
              <a:rPr lang="en-AU" b="0" i="0" dirty="0" smtClean="0">
                <a:solidFill>
                  <a:srgbClr val="444444"/>
                </a:solidFill>
                <a:effectLst/>
                <a:latin typeface="Arial" panose="020B0604020202020204" pitchFamily="34" charset="0"/>
              </a:rPr>
              <a:t>An example is the </a:t>
            </a:r>
            <a:r>
              <a:rPr lang="en-AU" b="1" i="0" dirty="0" smtClean="0">
                <a:solidFill>
                  <a:srgbClr val="0066CC"/>
                </a:solidFill>
                <a:effectLst/>
                <a:latin typeface="Arial" panose="020B0604020202020204" pitchFamily="34" charset="0"/>
              </a:rPr>
              <a:t>oxides</a:t>
            </a:r>
            <a:r>
              <a:rPr lang="en-AU" b="0" i="0" dirty="0" smtClean="0">
                <a:solidFill>
                  <a:srgbClr val="444444"/>
                </a:solidFill>
                <a:effectLst/>
                <a:latin typeface="Arial" panose="020B0604020202020204" pitchFamily="34" charset="0"/>
              </a:rPr>
              <a:t> of the elements, which change from basic through amphoteric to acidic across a period.</a:t>
            </a:r>
          </a:p>
          <a:p>
            <a:pPr algn="ctr"/>
            <a:r>
              <a:rPr lang="en-AU" b="0" i="0" dirty="0" smtClean="0">
                <a:solidFill>
                  <a:srgbClr val="444444"/>
                </a:solidFill>
                <a:effectLst/>
                <a:latin typeface="Arial" panose="020B0604020202020204" pitchFamily="34" charset="0"/>
              </a:rPr>
              <a:t> </a:t>
            </a:r>
          </a:p>
          <a:p>
            <a:pPr algn="ctr"/>
            <a:r>
              <a:rPr lang="en-AU" b="0" i="0" dirty="0" smtClean="0">
                <a:solidFill>
                  <a:srgbClr val="444444"/>
                </a:solidFill>
                <a:effectLst/>
                <a:latin typeface="Arial" panose="020B0604020202020204" pitchFamily="34" charset="0"/>
              </a:rPr>
              <a:t>The alkali metals (group </a:t>
            </a:r>
            <a:r>
              <a:rPr lang="en-AU" b="0" i="0" dirty="0" smtClean="0">
                <a:solidFill>
                  <a:srgbClr val="444444"/>
                </a:solidFill>
                <a:effectLst/>
                <a:latin typeface="KaTeX_Main"/>
              </a:rPr>
              <a:t>1</a:t>
            </a:r>
            <a:r>
              <a:rPr lang="en-AU" b="0" i="0" dirty="0" smtClean="0">
                <a:solidFill>
                  <a:srgbClr val="444444"/>
                </a:solidFill>
                <a:effectLst/>
                <a:latin typeface="Arial" panose="020B0604020202020204" pitchFamily="34" charset="0"/>
              </a:rPr>
              <a:t>), as their name suggests, form strongly basic oxides. As you move across the periodic table to the non-metals, such as carbon, nitrogen, sulphur and fluorine, the oxides become acidic. (Again hydrogen is an exception, being placed above group </a:t>
            </a:r>
            <a:r>
              <a:rPr lang="en-AU" b="0" i="0" dirty="0" smtClean="0">
                <a:solidFill>
                  <a:srgbClr val="444444"/>
                </a:solidFill>
                <a:effectLst/>
                <a:latin typeface="KaTeX_Main"/>
              </a:rPr>
              <a:t>1</a:t>
            </a:r>
            <a:r>
              <a:rPr lang="en-AU" b="0" i="0" dirty="0" smtClean="0">
                <a:solidFill>
                  <a:srgbClr val="444444"/>
                </a:solidFill>
                <a:effectLst/>
                <a:latin typeface="Arial" panose="020B0604020202020204" pitchFamily="34" charset="0"/>
              </a:rPr>
              <a:t>, but forming a neutral oxide, </a:t>
            </a:r>
            <a:r>
              <a:rPr lang="en-AU" b="0" i="0" dirty="0" smtClean="0">
                <a:solidFill>
                  <a:srgbClr val="444444"/>
                </a:solidFill>
                <a:effectLst/>
                <a:latin typeface="KaTeX_Main"/>
              </a:rPr>
              <a:t>H</a:t>
            </a:r>
            <a:r>
              <a:rPr lang="en-AU" b="0" i="0" baseline="-25000" dirty="0" smtClean="0">
                <a:solidFill>
                  <a:srgbClr val="444444"/>
                </a:solidFill>
                <a:effectLst/>
                <a:latin typeface="KaTeX_Main"/>
              </a:rPr>
              <a:t>2​</a:t>
            </a:r>
            <a:r>
              <a:rPr lang="en-AU" b="0" i="0" dirty="0" smtClean="0">
                <a:solidFill>
                  <a:srgbClr val="444444"/>
                </a:solidFill>
                <a:effectLst/>
                <a:latin typeface="KaTeX_Main"/>
              </a:rPr>
              <a:t>O</a:t>
            </a:r>
            <a:r>
              <a:rPr lang="en-AU" b="0" i="0" dirty="0" smtClean="0">
                <a:solidFill>
                  <a:srgbClr val="444444"/>
                </a:solidFill>
                <a:effectLst/>
                <a:latin typeface="Arial" panose="020B0604020202020204" pitchFamily="34" charset="0"/>
              </a:rPr>
              <a:t>.)</a:t>
            </a:r>
            <a:endParaRPr lang="en-AU" b="0" i="0" dirty="0">
              <a:solidFill>
                <a:srgbClr val="444444"/>
              </a:solidFill>
              <a:effectLst/>
              <a:latin typeface="Arial" panose="020B0604020202020204" pitchFamily="34" charset="0"/>
            </a:endParaRPr>
          </a:p>
        </p:txBody>
      </p:sp>
      <p:pic>
        <p:nvPicPr>
          <p:cNvPr id="10242" name="Picture 2" descr="https://www.educationperfect.com/media/content/Science/1508117059.129841g/1508117062275-2435185819895678-optimised.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28850" y="3821112"/>
            <a:ext cx="7620000" cy="17907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4362912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Periodic Trends: Electronegativity</a:t>
            </a:r>
            <a:endParaRPr lang="en-AU" dirty="0"/>
          </a:p>
        </p:txBody>
      </p:sp>
      <p:sp>
        <p:nvSpPr>
          <p:cNvPr id="3" name="Text Placeholder 2"/>
          <p:cNvSpPr>
            <a:spLocks noGrp="1"/>
          </p:cNvSpPr>
          <p:nvPr>
            <p:ph type="body" idx="1"/>
          </p:nvPr>
        </p:nvSpPr>
        <p:spPr/>
        <p:txBody>
          <a:bodyPr/>
          <a:lstStyle/>
          <a:p>
            <a:endParaRPr lang="en-AU"/>
          </a:p>
        </p:txBody>
      </p:sp>
    </p:spTree>
    <p:extLst>
      <p:ext uri="{BB962C8B-B14F-4D97-AF65-F5344CB8AC3E}">
        <p14:creationId xmlns:p14="http://schemas.microsoft.com/office/powerpoint/2010/main" val="215272359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92100" y="435045"/>
            <a:ext cx="11633200" cy="3139321"/>
          </a:xfrm>
          <a:prstGeom prst="rect">
            <a:avLst/>
          </a:prstGeom>
        </p:spPr>
        <p:txBody>
          <a:bodyPr wrap="square">
            <a:spAutoFit/>
          </a:bodyPr>
          <a:lstStyle/>
          <a:p>
            <a:pPr algn="ctr"/>
            <a:r>
              <a:rPr lang="en-AU" b="1" i="0" dirty="0" smtClean="0">
                <a:solidFill>
                  <a:srgbClr val="0066CC"/>
                </a:solidFill>
                <a:effectLst/>
                <a:latin typeface="Arial" panose="020B0604020202020204" pitchFamily="34" charset="0"/>
              </a:rPr>
              <a:t>Electronegativity</a:t>
            </a:r>
            <a:r>
              <a:rPr lang="en-AU" b="1" i="0" dirty="0" smtClean="0">
                <a:solidFill>
                  <a:srgbClr val="444444"/>
                </a:solidFill>
                <a:effectLst/>
                <a:latin typeface="Arial" panose="020B0604020202020204" pitchFamily="34" charset="0"/>
              </a:rPr>
              <a:t> is a measure of an atom's tendency to attract a bonding pair of electrons.</a:t>
            </a:r>
            <a:endParaRPr lang="en-AU" b="0" i="0" dirty="0" smtClean="0">
              <a:solidFill>
                <a:srgbClr val="444444"/>
              </a:solidFill>
              <a:effectLst/>
              <a:latin typeface="Arial" panose="020B0604020202020204" pitchFamily="34" charset="0"/>
            </a:endParaRPr>
          </a:p>
          <a:p>
            <a:pPr algn="ctr"/>
            <a:r>
              <a:rPr lang="en-AU" b="0" i="0" dirty="0" smtClean="0">
                <a:solidFill>
                  <a:srgbClr val="444444"/>
                </a:solidFill>
                <a:effectLst/>
                <a:latin typeface="Arial" panose="020B0604020202020204" pitchFamily="34" charset="0"/>
              </a:rPr>
              <a:t> </a:t>
            </a:r>
          </a:p>
          <a:p>
            <a:pPr algn="ctr"/>
            <a:r>
              <a:rPr lang="en-AU" b="0" i="0" dirty="0" smtClean="0">
                <a:solidFill>
                  <a:srgbClr val="444444"/>
                </a:solidFill>
                <a:effectLst/>
                <a:latin typeface="Arial" panose="020B0604020202020204" pitchFamily="34" charset="0"/>
              </a:rPr>
              <a:t>The attraction an atom has for electrons depends on the number of protons in the nucleus, the distance between the nucleus and the bonding electrons (i.e. atomic radius), and the shielding effects from electrons in inner shells.</a:t>
            </a:r>
          </a:p>
          <a:p>
            <a:pPr algn="ctr"/>
            <a:r>
              <a:rPr lang="en-AU" b="0" i="0" dirty="0" smtClean="0">
                <a:solidFill>
                  <a:srgbClr val="444444"/>
                </a:solidFill>
                <a:effectLst/>
                <a:latin typeface="Arial" panose="020B0604020202020204" pitchFamily="34" charset="0"/>
              </a:rPr>
              <a:t> </a:t>
            </a:r>
          </a:p>
          <a:p>
            <a:pPr algn="ctr"/>
            <a:r>
              <a:rPr lang="en-AU" b="0" i="0" dirty="0" smtClean="0">
                <a:solidFill>
                  <a:srgbClr val="444444"/>
                </a:solidFill>
                <a:effectLst/>
                <a:latin typeface="Arial" panose="020B0604020202020204" pitchFamily="34" charset="0"/>
              </a:rPr>
              <a:t>A </a:t>
            </a:r>
            <a:r>
              <a:rPr lang="en-AU" b="1" i="0" dirty="0" smtClean="0">
                <a:solidFill>
                  <a:srgbClr val="F30277"/>
                </a:solidFill>
                <a:effectLst/>
                <a:latin typeface="Arial" panose="020B0604020202020204" pitchFamily="34" charset="0"/>
              </a:rPr>
              <a:t>large</a:t>
            </a:r>
            <a:r>
              <a:rPr lang="en-AU" b="0" i="0" dirty="0" smtClean="0">
                <a:solidFill>
                  <a:srgbClr val="444444"/>
                </a:solidFill>
                <a:effectLst/>
                <a:latin typeface="Arial" panose="020B0604020202020204" pitchFamily="34" charset="0"/>
              </a:rPr>
              <a:t> electronegativity value means the attraction between the nucleus and the bonding electrons is </a:t>
            </a:r>
            <a:r>
              <a:rPr lang="en-AU" b="1" i="0" dirty="0" smtClean="0">
                <a:solidFill>
                  <a:srgbClr val="F30277"/>
                </a:solidFill>
                <a:effectLst/>
                <a:latin typeface="Arial" panose="020B0604020202020204" pitchFamily="34" charset="0"/>
              </a:rPr>
              <a:t>strong</a:t>
            </a:r>
            <a:r>
              <a:rPr lang="en-AU" b="0" i="0" dirty="0" smtClean="0">
                <a:solidFill>
                  <a:srgbClr val="444444"/>
                </a:solidFill>
                <a:effectLst/>
                <a:latin typeface="Arial" panose="020B0604020202020204" pitchFamily="34" charset="0"/>
              </a:rPr>
              <a:t>.</a:t>
            </a:r>
          </a:p>
          <a:p>
            <a:pPr algn="ctr"/>
            <a:r>
              <a:rPr lang="en-AU" b="0" i="0" dirty="0" smtClean="0">
                <a:solidFill>
                  <a:srgbClr val="444444"/>
                </a:solidFill>
                <a:effectLst/>
                <a:latin typeface="Arial" panose="020B0604020202020204" pitchFamily="34" charset="0"/>
              </a:rPr>
              <a:t> </a:t>
            </a:r>
          </a:p>
          <a:p>
            <a:pPr algn="ctr"/>
            <a:r>
              <a:rPr lang="en-AU" b="0" i="0" dirty="0" smtClean="0">
                <a:solidFill>
                  <a:srgbClr val="444444"/>
                </a:solidFill>
                <a:effectLst/>
                <a:latin typeface="Arial" panose="020B0604020202020204" pitchFamily="34" charset="0"/>
              </a:rPr>
              <a:t>When two elements are bound together that have </a:t>
            </a:r>
            <a:r>
              <a:rPr lang="en-AU" b="1" i="0" dirty="0" smtClean="0">
                <a:solidFill>
                  <a:srgbClr val="444444"/>
                </a:solidFill>
                <a:effectLst/>
                <a:latin typeface="Arial" panose="020B0604020202020204" pitchFamily="34" charset="0"/>
              </a:rPr>
              <a:t>different</a:t>
            </a:r>
            <a:r>
              <a:rPr lang="en-AU" b="0" i="0" dirty="0" smtClean="0">
                <a:solidFill>
                  <a:srgbClr val="444444"/>
                </a:solidFill>
                <a:effectLst/>
                <a:latin typeface="Arial" panose="020B0604020202020204" pitchFamily="34" charset="0"/>
              </a:rPr>
              <a:t> </a:t>
            </a:r>
            <a:r>
              <a:rPr lang="en-AU" b="0" i="0" dirty="0" err="1" smtClean="0">
                <a:solidFill>
                  <a:srgbClr val="444444"/>
                </a:solidFill>
                <a:effectLst/>
                <a:latin typeface="Arial" panose="020B0604020202020204" pitchFamily="34" charset="0"/>
              </a:rPr>
              <a:t>electronegativities</a:t>
            </a:r>
            <a:r>
              <a:rPr lang="en-AU" b="0" i="0" dirty="0" smtClean="0">
                <a:solidFill>
                  <a:srgbClr val="444444"/>
                </a:solidFill>
                <a:effectLst/>
                <a:latin typeface="Arial" panose="020B0604020202020204" pitchFamily="34" charset="0"/>
              </a:rPr>
              <a:t> a </a:t>
            </a:r>
            <a:r>
              <a:rPr lang="en-AU" b="1" i="0" dirty="0" smtClean="0">
                <a:solidFill>
                  <a:srgbClr val="444444"/>
                </a:solidFill>
                <a:effectLst/>
                <a:latin typeface="Arial" panose="020B0604020202020204" pitchFamily="34" charset="0"/>
              </a:rPr>
              <a:t>polar bond</a:t>
            </a:r>
            <a:r>
              <a:rPr lang="en-AU" b="0" i="0" dirty="0" smtClean="0">
                <a:solidFill>
                  <a:srgbClr val="444444"/>
                </a:solidFill>
                <a:effectLst/>
                <a:latin typeface="Arial" panose="020B0604020202020204" pitchFamily="34" charset="0"/>
              </a:rPr>
              <a:t> is formed. This is because the </a:t>
            </a:r>
            <a:r>
              <a:rPr lang="en-AU" b="0" i="0" u="sng" dirty="0" smtClean="0">
                <a:solidFill>
                  <a:srgbClr val="444444"/>
                </a:solidFill>
                <a:effectLst/>
                <a:latin typeface="Arial" panose="020B0604020202020204" pitchFamily="34" charset="0"/>
              </a:rPr>
              <a:t>electron density</a:t>
            </a:r>
            <a:r>
              <a:rPr lang="en-AU" b="0" i="0" dirty="0" smtClean="0">
                <a:solidFill>
                  <a:srgbClr val="444444"/>
                </a:solidFill>
                <a:effectLst/>
                <a:latin typeface="Arial" panose="020B0604020202020204" pitchFamily="34" charset="0"/>
              </a:rPr>
              <a:t> is higher around one atom than the other. For example, in </a:t>
            </a:r>
            <a:r>
              <a:rPr lang="en-AU" b="1" i="0" dirty="0" smtClean="0">
                <a:solidFill>
                  <a:srgbClr val="00A6D5"/>
                </a:solidFill>
                <a:effectLst/>
                <a:latin typeface="Arial" panose="020B0604020202020204" pitchFamily="34" charset="0"/>
              </a:rPr>
              <a:t>water,</a:t>
            </a:r>
            <a:r>
              <a:rPr lang="en-AU" b="0" i="0" dirty="0" smtClean="0">
                <a:solidFill>
                  <a:srgbClr val="444444"/>
                </a:solidFill>
                <a:effectLst/>
                <a:latin typeface="Arial" panose="020B0604020202020204" pitchFamily="34" charset="0"/>
              </a:rPr>
              <a:t> oxygen has a higher electronegativity than hydrogen so the electrons in the </a:t>
            </a:r>
            <a:r>
              <a:rPr lang="en-AU" b="0" i="0" dirty="0" smtClean="0">
                <a:solidFill>
                  <a:srgbClr val="444444"/>
                </a:solidFill>
                <a:effectLst/>
                <a:latin typeface="KaTeX_Main"/>
              </a:rPr>
              <a:t>O−H</a:t>
            </a:r>
            <a:r>
              <a:rPr lang="en-AU" b="0" i="0" dirty="0" smtClean="0">
                <a:solidFill>
                  <a:srgbClr val="444444"/>
                </a:solidFill>
                <a:effectLst/>
                <a:latin typeface="Arial" panose="020B0604020202020204" pitchFamily="34" charset="0"/>
              </a:rPr>
              <a:t> bond are found closer to the oxygen atom than the hydrogen atom. (The </a:t>
            </a:r>
            <a:r>
              <a:rPr lang="en-AU" b="0" i="0" dirty="0" err="1" smtClean="0">
                <a:solidFill>
                  <a:srgbClr val="444444"/>
                </a:solidFill>
                <a:effectLst/>
                <a:latin typeface="KaTeX_Main"/>
              </a:rPr>
              <a:t>a</a:t>
            </a:r>
            <a:r>
              <a:rPr lang="en-AU" b="0" i="1" dirty="0" err="1" smtClean="0">
                <a:solidFill>
                  <a:srgbClr val="444444"/>
                </a:solidFill>
                <a:effectLst/>
                <a:latin typeface="KaTeX_Math"/>
              </a:rPr>
              <a:t>δ</a:t>
            </a:r>
            <a:r>
              <a:rPr lang="en-AU" b="0" i="0" dirty="0" smtClean="0">
                <a:solidFill>
                  <a:srgbClr val="444444"/>
                </a:solidFill>
                <a:effectLst/>
                <a:latin typeface="Arial" panose="020B0604020202020204" pitchFamily="34" charset="0"/>
              </a:rPr>
              <a:t> symbol represents a small amount of charge).</a:t>
            </a:r>
            <a:endParaRPr lang="en-AU" b="0" i="0" dirty="0">
              <a:solidFill>
                <a:srgbClr val="444444"/>
              </a:solidFill>
              <a:effectLst/>
              <a:latin typeface="Arial" panose="020B0604020202020204" pitchFamily="34" charset="0"/>
            </a:endParaRPr>
          </a:p>
        </p:txBody>
      </p:sp>
      <p:pic>
        <p:nvPicPr>
          <p:cNvPr id="11266" name="Picture 2" descr="https://www.educationperfect.com/media/content/Science/1441329447.686941g/1441329445785-1847443450755466-400.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029075" y="4262437"/>
            <a:ext cx="3810000" cy="19812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2069086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03200" y="537339"/>
            <a:ext cx="11671300" cy="1754326"/>
          </a:xfrm>
          <a:prstGeom prst="rect">
            <a:avLst/>
          </a:prstGeom>
        </p:spPr>
        <p:txBody>
          <a:bodyPr wrap="square">
            <a:spAutoFit/>
          </a:bodyPr>
          <a:lstStyle/>
          <a:p>
            <a:pPr algn="ctr"/>
            <a:r>
              <a:rPr lang="en-AU" b="1" i="0" dirty="0" smtClean="0">
                <a:solidFill>
                  <a:srgbClr val="444444"/>
                </a:solidFill>
                <a:effectLst/>
                <a:latin typeface="Arial" panose="020B0604020202020204" pitchFamily="34" charset="0"/>
              </a:rPr>
              <a:t>Electronegativity </a:t>
            </a:r>
            <a:r>
              <a:rPr lang="en-AU" b="1" i="0" dirty="0" smtClean="0">
                <a:solidFill>
                  <a:srgbClr val="F30277"/>
                </a:solidFill>
                <a:effectLst/>
                <a:latin typeface="Arial" panose="020B0604020202020204" pitchFamily="34" charset="0"/>
              </a:rPr>
              <a:t>increases across a period</a:t>
            </a:r>
            <a:r>
              <a:rPr lang="en-AU" b="1" i="0" dirty="0" smtClean="0">
                <a:solidFill>
                  <a:srgbClr val="444444"/>
                </a:solidFill>
                <a:effectLst/>
                <a:latin typeface="Arial" panose="020B0604020202020204" pitchFamily="34" charset="0"/>
              </a:rPr>
              <a:t> and </a:t>
            </a:r>
            <a:r>
              <a:rPr lang="en-AU" b="1" i="0" dirty="0" smtClean="0">
                <a:solidFill>
                  <a:srgbClr val="0066CC"/>
                </a:solidFill>
                <a:effectLst/>
                <a:latin typeface="Arial" panose="020B0604020202020204" pitchFamily="34" charset="0"/>
              </a:rPr>
              <a:t>decreases down a group</a:t>
            </a:r>
            <a:r>
              <a:rPr lang="en-AU" b="1" i="0" dirty="0" smtClean="0">
                <a:solidFill>
                  <a:srgbClr val="444444"/>
                </a:solidFill>
                <a:effectLst/>
                <a:latin typeface="Arial" panose="020B0604020202020204" pitchFamily="34" charset="0"/>
              </a:rPr>
              <a:t>.</a:t>
            </a:r>
            <a:endParaRPr lang="en-AU" b="0" i="0" dirty="0" smtClean="0">
              <a:solidFill>
                <a:srgbClr val="444444"/>
              </a:solidFill>
              <a:effectLst/>
              <a:latin typeface="Arial" panose="020B0604020202020204" pitchFamily="34" charset="0"/>
            </a:endParaRPr>
          </a:p>
          <a:p>
            <a:pPr algn="ctr"/>
            <a:r>
              <a:rPr lang="en-AU" b="0" i="0" dirty="0" smtClean="0">
                <a:solidFill>
                  <a:srgbClr val="444444"/>
                </a:solidFill>
                <a:effectLst/>
                <a:latin typeface="Arial" panose="020B0604020202020204" pitchFamily="34" charset="0"/>
              </a:rPr>
              <a:t> </a:t>
            </a:r>
          </a:p>
          <a:p>
            <a:pPr algn="ctr"/>
            <a:r>
              <a:rPr lang="en-AU" b="0" i="0" dirty="0" smtClean="0">
                <a:solidFill>
                  <a:srgbClr val="444444"/>
                </a:solidFill>
                <a:effectLst/>
                <a:latin typeface="Arial" panose="020B0604020202020204" pitchFamily="34" charset="0"/>
              </a:rPr>
              <a:t>This means that the most electronegative atoms exist at the </a:t>
            </a:r>
            <a:r>
              <a:rPr lang="en-AU" b="1" i="0" dirty="0" smtClean="0">
                <a:solidFill>
                  <a:srgbClr val="444444"/>
                </a:solidFill>
                <a:effectLst/>
                <a:latin typeface="Arial" panose="020B0604020202020204" pitchFamily="34" charset="0"/>
              </a:rPr>
              <a:t>top-right</a:t>
            </a:r>
            <a:r>
              <a:rPr lang="en-AU" b="0" i="0" dirty="0" smtClean="0">
                <a:solidFill>
                  <a:srgbClr val="444444"/>
                </a:solidFill>
                <a:effectLst/>
                <a:latin typeface="Arial" panose="020B0604020202020204" pitchFamily="34" charset="0"/>
              </a:rPr>
              <a:t> corner of the periodic table with the </a:t>
            </a:r>
            <a:r>
              <a:rPr lang="en-AU" b="1" i="0" dirty="0" smtClean="0">
                <a:solidFill>
                  <a:srgbClr val="444444"/>
                </a:solidFill>
                <a:effectLst/>
                <a:latin typeface="Arial" panose="020B0604020202020204" pitchFamily="34" charset="0"/>
              </a:rPr>
              <a:t>exception</a:t>
            </a:r>
            <a:r>
              <a:rPr lang="en-AU" b="0" i="0" dirty="0" smtClean="0">
                <a:solidFill>
                  <a:srgbClr val="444444"/>
                </a:solidFill>
                <a:effectLst/>
                <a:latin typeface="Arial" panose="020B0604020202020204" pitchFamily="34" charset="0"/>
              </a:rPr>
              <a:t> of the group </a:t>
            </a:r>
            <a:r>
              <a:rPr lang="en-AU" b="0" i="0" dirty="0" smtClean="0">
                <a:solidFill>
                  <a:srgbClr val="444444"/>
                </a:solidFill>
                <a:effectLst/>
                <a:latin typeface="KaTeX_Main"/>
              </a:rPr>
              <a:t>18</a:t>
            </a:r>
            <a:r>
              <a:rPr lang="en-AU" b="0" i="0" dirty="0" smtClean="0">
                <a:solidFill>
                  <a:srgbClr val="444444"/>
                </a:solidFill>
                <a:effectLst/>
                <a:latin typeface="Arial" panose="020B0604020202020204" pitchFamily="34" charset="0"/>
              </a:rPr>
              <a:t> noble gases, which do not have electronegativity values. An easy way to remember this is that </a:t>
            </a:r>
            <a:r>
              <a:rPr lang="en-AU" b="1" i="0" dirty="0" smtClean="0">
                <a:solidFill>
                  <a:srgbClr val="00868B"/>
                </a:solidFill>
                <a:effectLst/>
                <a:latin typeface="Arial" panose="020B0604020202020204" pitchFamily="34" charset="0"/>
              </a:rPr>
              <a:t>fluorine</a:t>
            </a:r>
            <a:r>
              <a:rPr lang="en-AU" b="0" i="0" dirty="0" smtClean="0">
                <a:solidFill>
                  <a:srgbClr val="444444"/>
                </a:solidFill>
                <a:effectLst/>
                <a:latin typeface="Arial" panose="020B0604020202020204" pitchFamily="34" charset="0"/>
              </a:rPr>
              <a:t> is the most electronegative element, and the farther you go from fluorine, the less electronegative the element will be.</a:t>
            </a:r>
            <a:endParaRPr lang="en-AU" b="0" i="0" dirty="0">
              <a:solidFill>
                <a:srgbClr val="444444"/>
              </a:solidFill>
              <a:effectLst/>
              <a:latin typeface="Arial" panose="020B0604020202020204" pitchFamily="34" charset="0"/>
            </a:endParaRPr>
          </a:p>
        </p:txBody>
      </p:sp>
      <p:pic>
        <p:nvPicPr>
          <p:cNvPr id="12290" name="Picture 2" descr="https://www.educationperfect.com/media/content/Science/1441332203.082671g/1441332201268-1847443450755466-optimised.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51175" y="3203575"/>
            <a:ext cx="7620000" cy="28289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4705141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17500" y="400040"/>
            <a:ext cx="11480800" cy="2308324"/>
          </a:xfrm>
          <a:prstGeom prst="rect">
            <a:avLst/>
          </a:prstGeom>
        </p:spPr>
        <p:txBody>
          <a:bodyPr wrap="square">
            <a:spAutoFit/>
          </a:bodyPr>
          <a:lstStyle/>
          <a:p>
            <a:pPr algn="ctr"/>
            <a:r>
              <a:rPr lang="en-AU" b="1" i="0" dirty="0" smtClean="0">
                <a:solidFill>
                  <a:srgbClr val="444444"/>
                </a:solidFill>
                <a:effectLst/>
                <a:latin typeface="Arial" panose="020B0604020202020204" pitchFamily="34" charset="0"/>
              </a:rPr>
              <a:t>What causes the changes in electronegativity?</a:t>
            </a:r>
            <a:endParaRPr lang="en-AU" b="0" i="0" dirty="0" smtClean="0">
              <a:solidFill>
                <a:srgbClr val="444444"/>
              </a:solidFill>
              <a:effectLst/>
              <a:latin typeface="Arial" panose="020B0604020202020204" pitchFamily="34" charset="0"/>
            </a:endParaRPr>
          </a:p>
          <a:p>
            <a:pPr algn="ctr"/>
            <a:r>
              <a:rPr lang="en-AU" b="0" i="0" dirty="0" smtClean="0">
                <a:solidFill>
                  <a:srgbClr val="444444"/>
                </a:solidFill>
                <a:effectLst/>
                <a:latin typeface="Arial" panose="020B0604020202020204" pitchFamily="34" charset="0"/>
              </a:rPr>
              <a:t> </a:t>
            </a:r>
          </a:p>
          <a:p>
            <a:pPr algn="ctr"/>
            <a:r>
              <a:rPr lang="en-AU" b="1" i="0" dirty="0" smtClean="0">
                <a:solidFill>
                  <a:srgbClr val="F30277"/>
                </a:solidFill>
                <a:effectLst/>
                <a:latin typeface="Arial" panose="020B0604020202020204" pitchFamily="34" charset="0"/>
              </a:rPr>
              <a:t>Across a period</a:t>
            </a:r>
            <a:r>
              <a:rPr lang="en-AU" b="0" i="0" dirty="0" smtClean="0">
                <a:solidFill>
                  <a:srgbClr val="444444"/>
                </a:solidFill>
                <a:effectLst/>
                <a:latin typeface="Arial" panose="020B0604020202020204" pitchFamily="34" charset="0"/>
              </a:rPr>
              <a:t> the electronegativity increases because the number of protons in the nucleus increases while the valence electrons are in the same energy level. This means the electrostatic attraction between the nucleus and the electrons is stronger.</a:t>
            </a:r>
          </a:p>
          <a:p>
            <a:pPr algn="ctr"/>
            <a:r>
              <a:rPr lang="en-AU" b="0" i="0" dirty="0" smtClean="0">
                <a:solidFill>
                  <a:srgbClr val="444444"/>
                </a:solidFill>
                <a:effectLst/>
                <a:latin typeface="Arial" panose="020B0604020202020204" pitchFamily="34" charset="0"/>
              </a:rPr>
              <a:t> </a:t>
            </a:r>
          </a:p>
          <a:p>
            <a:pPr algn="ctr"/>
            <a:r>
              <a:rPr lang="en-AU" b="0" i="0" dirty="0" smtClean="0">
                <a:solidFill>
                  <a:srgbClr val="444444"/>
                </a:solidFill>
                <a:effectLst/>
                <a:latin typeface="Arial" panose="020B0604020202020204" pitchFamily="34" charset="0"/>
              </a:rPr>
              <a:t>When going </a:t>
            </a:r>
            <a:r>
              <a:rPr lang="en-AU" b="1" i="0" dirty="0" smtClean="0">
                <a:solidFill>
                  <a:srgbClr val="0066CC"/>
                </a:solidFill>
                <a:effectLst/>
                <a:latin typeface="Arial" panose="020B0604020202020204" pitchFamily="34" charset="0"/>
              </a:rPr>
              <a:t>down a group</a:t>
            </a:r>
            <a:r>
              <a:rPr lang="en-AU" b="0" i="0" dirty="0" smtClean="0">
                <a:solidFill>
                  <a:srgbClr val="444444"/>
                </a:solidFill>
                <a:effectLst/>
                <a:latin typeface="Arial" panose="020B0604020202020204" pitchFamily="34" charset="0"/>
              </a:rPr>
              <a:t> the increase in </a:t>
            </a:r>
            <a:r>
              <a:rPr lang="en-AU" b="1" i="0" dirty="0" smtClean="0">
                <a:solidFill>
                  <a:srgbClr val="444444"/>
                </a:solidFill>
                <a:effectLst/>
                <a:latin typeface="Arial" panose="020B0604020202020204" pitchFamily="34" charset="0"/>
              </a:rPr>
              <a:t>atomic radius</a:t>
            </a:r>
            <a:r>
              <a:rPr lang="en-AU" b="0" i="0" dirty="0" smtClean="0">
                <a:solidFill>
                  <a:srgbClr val="444444"/>
                </a:solidFill>
                <a:effectLst/>
                <a:latin typeface="Arial" panose="020B0604020202020204" pitchFamily="34" charset="0"/>
              </a:rPr>
              <a:t> means that electrons are situated farther away from the nucleus, so the electrostatic attraction and thus electronegativity decreases.</a:t>
            </a:r>
            <a:endParaRPr lang="en-AU" b="0" i="0" dirty="0">
              <a:solidFill>
                <a:srgbClr val="444444"/>
              </a:solidFill>
              <a:effectLst/>
              <a:latin typeface="Arial" panose="020B0604020202020204" pitchFamily="34" charset="0"/>
            </a:endParaRPr>
          </a:p>
        </p:txBody>
      </p:sp>
      <p:pic>
        <p:nvPicPr>
          <p:cNvPr id="13314" name="Picture 2" descr="https://www.educationperfect.com/media/content/Science/1441332203.082671g/1441332201268-1847443450755466-optimised.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16275" y="3292475"/>
            <a:ext cx="7620000" cy="28289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2390894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54000" y="377041"/>
            <a:ext cx="11518900" cy="2308324"/>
          </a:xfrm>
          <a:prstGeom prst="rect">
            <a:avLst/>
          </a:prstGeom>
        </p:spPr>
        <p:txBody>
          <a:bodyPr wrap="square">
            <a:spAutoFit/>
          </a:bodyPr>
          <a:lstStyle/>
          <a:p>
            <a:pPr algn="ctr"/>
            <a:r>
              <a:rPr lang="en-AU" b="1" i="0" dirty="0" smtClean="0">
                <a:solidFill>
                  <a:srgbClr val="0066CC"/>
                </a:solidFill>
                <a:effectLst/>
                <a:latin typeface="Arial" panose="020B0604020202020204" pitchFamily="34" charset="0"/>
              </a:rPr>
              <a:t>Electronegativity</a:t>
            </a:r>
            <a:r>
              <a:rPr lang="en-AU" b="1" i="0" dirty="0" smtClean="0">
                <a:solidFill>
                  <a:srgbClr val="444444"/>
                </a:solidFill>
                <a:effectLst/>
                <a:latin typeface="Arial" panose="020B0604020202020204" pitchFamily="34" charset="0"/>
              </a:rPr>
              <a:t> is measured on a relative scale known as the </a:t>
            </a:r>
            <a:r>
              <a:rPr lang="en-AU" b="1" i="0" dirty="0" smtClean="0">
                <a:solidFill>
                  <a:srgbClr val="00868B"/>
                </a:solidFill>
                <a:effectLst/>
                <a:latin typeface="Arial" panose="020B0604020202020204" pitchFamily="34" charset="0"/>
              </a:rPr>
              <a:t>Pauling scale.</a:t>
            </a:r>
            <a:endParaRPr lang="en-AU" b="0" i="0" dirty="0" smtClean="0">
              <a:solidFill>
                <a:srgbClr val="444444"/>
              </a:solidFill>
              <a:effectLst/>
              <a:latin typeface="Arial" panose="020B0604020202020204" pitchFamily="34" charset="0"/>
            </a:endParaRPr>
          </a:p>
          <a:p>
            <a:pPr algn="ctr"/>
            <a:r>
              <a:rPr lang="en-AU" b="0" i="0" dirty="0" smtClean="0">
                <a:solidFill>
                  <a:srgbClr val="444444"/>
                </a:solidFill>
                <a:effectLst/>
                <a:latin typeface="Arial" panose="020B0604020202020204" pitchFamily="34" charset="0"/>
              </a:rPr>
              <a:t> </a:t>
            </a:r>
          </a:p>
          <a:p>
            <a:pPr algn="ctr"/>
            <a:r>
              <a:rPr lang="en-AU" b="0" i="0" dirty="0" smtClean="0">
                <a:solidFill>
                  <a:srgbClr val="444444"/>
                </a:solidFill>
                <a:effectLst/>
                <a:latin typeface="Arial" panose="020B0604020202020204" pitchFamily="34" charset="0"/>
              </a:rPr>
              <a:t>The most electronegative element is </a:t>
            </a:r>
            <a:r>
              <a:rPr lang="en-AU" b="1" i="0" dirty="0" smtClean="0">
                <a:solidFill>
                  <a:srgbClr val="444444"/>
                </a:solidFill>
                <a:effectLst/>
                <a:latin typeface="Arial" panose="020B0604020202020204" pitchFamily="34" charset="0"/>
              </a:rPr>
              <a:t>fluorine,</a:t>
            </a:r>
            <a:r>
              <a:rPr lang="en-AU" b="0" i="0" dirty="0" smtClean="0">
                <a:solidFill>
                  <a:srgbClr val="444444"/>
                </a:solidFill>
                <a:effectLst/>
                <a:latin typeface="Arial" panose="020B0604020202020204" pitchFamily="34" charset="0"/>
              </a:rPr>
              <a:t> and it was arbitrarily given a value of </a:t>
            </a:r>
            <a:r>
              <a:rPr lang="en-AU" b="1" i="0" dirty="0" smtClean="0">
                <a:solidFill>
                  <a:srgbClr val="444444"/>
                </a:solidFill>
                <a:effectLst/>
                <a:latin typeface="KaTeX_Main"/>
              </a:rPr>
              <a:t>4.0</a:t>
            </a:r>
            <a:r>
              <a:rPr lang="en-AU" b="0" i="0" dirty="0" smtClean="0">
                <a:solidFill>
                  <a:srgbClr val="444444"/>
                </a:solidFill>
                <a:effectLst/>
                <a:latin typeface="Arial" panose="020B0604020202020204" pitchFamily="34" charset="0"/>
              </a:rPr>
              <a:t> on the Pauling scale and all other elements were measured relative to this.</a:t>
            </a:r>
          </a:p>
          <a:p>
            <a:pPr algn="ctr"/>
            <a:r>
              <a:rPr lang="en-AU" b="0" i="0" dirty="0" smtClean="0">
                <a:solidFill>
                  <a:srgbClr val="444444"/>
                </a:solidFill>
                <a:effectLst/>
                <a:latin typeface="Arial" panose="020B0604020202020204" pitchFamily="34" charset="0"/>
              </a:rPr>
              <a:t> </a:t>
            </a:r>
          </a:p>
          <a:p>
            <a:pPr algn="ctr"/>
            <a:r>
              <a:rPr lang="en-AU" b="0" i="0" dirty="0" smtClean="0">
                <a:solidFill>
                  <a:srgbClr val="444444"/>
                </a:solidFill>
                <a:effectLst/>
                <a:latin typeface="Arial" panose="020B0604020202020204" pitchFamily="34" charset="0"/>
              </a:rPr>
              <a:t>Pauling proposed the concept of electronegativity in </a:t>
            </a:r>
            <a:r>
              <a:rPr lang="en-AU" b="0" i="0" dirty="0" smtClean="0">
                <a:solidFill>
                  <a:srgbClr val="444444"/>
                </a:solidFill>
                <a:effectLst/>
                <a:latin typeface="KaTeX_Main"/>
              </a:rPr>
              <a:t>1932</a:t>
            </a:r>
            <a:r>
              <a:rPr lang="en-AU" b="0" i="0" dirty="0" smtClean="0">
                <a:solidFill>
                  <a:srgbClr val="444444"/>
                </a:solidFill>
                <a:effectLst/>
                <a:latin typeface="Arial" panose="020B0604020202020204" pitchFamily="34" charset="0"/>
              </a:rPr>
              <a:t> to explain the fact that some experimentally observed covalent bond strengths were </a:t>
            </a:r>
            <a:r>
              <a:rPr lang="en-AU" b="1" i="0" dirty="0" smtClean="0">
                <a:solidFill>
                  <a:srgbClr val="444444"/>
                </a:solidFill>
                <a:effectLst/>
                <a:latin typeface="Arial" panose="020B0604020202020204" pitchFamily="34" charset="0"/>
              </a:rPr>
              <a:t>stronger</a:t>
            </a:r>
            <a:r>
              <a:rPr lang="en-AU" b="0" i="0" dirty="0" smtClean="0">
                <a:solidFill>
                  <a:srgbClr val="444444"/>
                </a:solidFill>
                <a:effectLst/>
                <a:latin typeface="Arial" panose="020B0604020202020204" pitchFamily="34" charset="0"/>
              </a:rPr>
              <a:t> than the theoretical ones. Pauling reasoned that this difference in bond strengths was due to an additional </a:t>
            </a:r>
            <a:r>
              <a:rPr lang="en-AU" b="0" i="1" dirty="0" smtClean="0">
                <a:solidFill>
                  <a:srgbClr val="444444"/>
                </a:solidFill>
                <a:effectLst/>
                <a:latin typeface="Arial" panose="020B0604020202020204" pitchFamily="34" charset="0"/>
              </a:rPr>
              <a:t>ionic</a:t>
            </a:r>
            <a:r>
              <a:rPr lang="en-AU" b="0" i="0" dirty="0" smtClean="0">
                <a:solidFill>
                  <a:srgbClr val="444444"/>
                </a:solidFill>
                <a:effectLst/>
                <a:latin typeface="Arial" panose="020B0604020202020204" pitchFamily="34" charset="0"/>
              </a:rPr>
              <a:t> contribution to the bond due to uneven sharing of electrons.</a:t>
            </a:r>
            <a:endParaRPr lang="en-AU" b="0" i="0" dirty="0">
              <a:solidFill>
                <a:srgbClr val="444444"/>
              </a:solidFill>
              <a:effectLst/>
              <a:latin typeface="Arial" panose="020B0604020202020204" pitchFamily="34" charset="0"/>
            </a:endParaRPr>
          </a:p>
        </p:txBody>
      </p:sp>
      <p:pic>
        <p:nvPicPr>
          <p:cNvPr id="14338" name="Picture 2" descr="https://www.educationperfect.com/media/content/Science/1440714900.135191g/1440714900767-336272996-400.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117975" y="3889375"/>
            <a:ext cx="3790950" cy="15621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4216598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Periodic Trends: Ionisation Energy</a:t>
            </a:r>
            <a:endParaRPr lang="en-AU" dirty="0"/>
          </a:p>
        </p:txBody>
      </p:sp>
      <p:sp>
        <p:nvSpPr>
          <p:cNvPr id="3" name="Text Placeholder 2"/>
          <p:cNvSpPr>
            <a:spLocks noGrp="1"/>
          </p:cNvSpPr>
          <p:nvPr>
            <p:ph type="body" idx="1"/>
          </p:nvPr>
        </p:nvSpPr>
        <p:spPr/>
        <p:txBody>
          <a:bodyPr/>
          <a:lstStyle/>
          <a:p>
            <a:endParaRPr lang="en-AU"/>
          </a:p>
        </p:txBody>
      </p:sp>
    </p:spTree>
    <p:extLst>
      <p:ext uri="{BB962C8B-B14F-4D97-AF65-F5344CB8AC3E}">
        <p14:creationId xmlns:p14="http://schemas.microsoft.com/office/powerpoint/2010/main" val="178158554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3227675" y="1186934"/>
            <a:ext cx="4339650" cy="369332"/>
          </a:xfrm>
          <a:prstGeom prst="rect">
            <a:avLst/>
          </a:prstGeom>
        </p:spPr>
        <p:txBody>
          <a:bodyPr wrap="none">
            <a:spAutoFit/>
          </a:bodyPr>
          <a:lstStyle/>
          <a:p>
            <a:r>
              <a:rPr lang="en-AU" b="1" i="0" dirty="0" smtClean="0">
                <a:solidFill>
                  <a:srgbClr val="444444"/>
                </a:solidFill>
                <a:effectLst/>
                <a:latin typeface="Arial" panose="020B0604020202020204" pitchFamily="34" charset="0"/>
              </a:rPr>
              <a:t>In this Smart Lesson you will learn to:</a:t>
            </a:r>
            <a:endParaRPr lang="en-AU" dirty="0"/>
          </a:p>
        </p:txBody>
      </p:sp>
      <p:graphicFrame>
        <p:nvGraphicFramePr>
          <p:cNvPr id="4" name="Table 3"/>
          <p:cNvGraphicFramePr>
            <a:graphicFrameLocks noGrp="1"/>
          </p:cNvGraphicFramePr>
          <p:nvPr>
            <p:extLst>
              <p:ext uri="{D42A27DB-BD31-4B8C-83A1-F6EECF244321}">
                <p14:modId xmlns:p14="http://schemas.microsoft.com/office/powerpoint/2010/main" val="4004796092"/>
              </p:ext>
            </p:extLst>
          </p:nvPr>
        </p:nvGraphicFramePr>
        <p:xfrm>
          <a:off x="1765300" y="1712754"/>
          <a:ext cx="10515600" cy="777240"/>
        </p:xfrm>
        <a:graphic>
          <a:graphicData uri="http://schemas.openxmlformats.org/drawingml/2006/table">
            <a:tbl>
              <a:tblPr/>
              <a:tblGrid>
                <a:gridCol w="673100">
                  <a:extLst>
                    <a:ext uri="{9D8B030D-6E8A-4147-A177-3AD203B41FA5}">
                      <a16:colId xmlns:a16="http://schemas.microsoft.com/office/drawing/2014/main" val="2259768670"/>
                    </a:ext>
                  </a:extLst>
                </a:gridCol>
                <a:gridCol w="9842500">
                  <a:extLst>
                    <a:ext uri="{9D8B030D-6E8A-4147-A177-3AD203B41FA5}">
                      <a16:colId xmlns:a16="http://schemas.microsoft.com/office/drawing/2014/main" val="2466706102"/>
                    </a:ext>
                  </a:extLst>
                </a:gridCol>
              </a:tblGrid>
              <a:tr h="0">
                <a:tc>
                  <a:txBody>
                    <a:bodyPr/>
                    <a:lstStyle/>
                    <a:p>
                      <a:pPr algn="l" fontAlgn="t"/>
                      <a:r>
                        <a:rPr lang="en-AU">
                          <a:effectLst/>
                        </a:rPr>
                        <a:t>•</a:t>
                      </a:r>
                    </a:p>
                  </a:txBody>
                  <a:tcPr marL="57150" marR="57150" marT="57150" marB="57150">
                    <a:lnL>
                      <a:noFill/>
                    </a:lnL>
                    <a:lnR>
                      <a:noFill/>
                    </a:lnR>
                    <a:lnT>
                      <a:noFill/>
                    </a:lnT>
                    <a:lnB>
                      <a:noFill/>
                    </a:lnB>
                    <a:solidFill>
                      <a:srgbClr val="FFFFFF"/>
                    </a:solidFill>
                  </a:tcPr>
                </a:tc>
                <a:tc>
                  <a:txBody>
                    <a:bodyPr/>
                    <a:lstStyle/>
                    <a:p>
                      <a:pPr algn="l" fontAlgn="ctr"/>
                      <a:r>
                        <a:rPr lang="en-AU" b="1">
                          <a:solidFill>
                            <a:srgbClr val="228B22"/>
                          </a:solidFill>
                          <a:effectLst/>
                        </a:rPr>
                        <a:t>Describe </a:t>
                      </a:r>
                      <a:r>
                        <a:rPr lang="en-AU" b="1">
                          <a:effectLst/>
                        </a:rPr>
                        <a:t>the property of atoms known as </a:t>
                      </a:r>
                      <a:r>
                        <a:rPr lang="en-AU" b="1">
                          <a:solidFill>
                            <a:srgbClr val="0066CC"/>
                          </a:solidFill>
                          <a:effectLst/>
                        </a:rPr>
                        <a:t>ionisation energy</a:t>
                      </a:r>
                      <a:r>
                        <a:rPr lang="en-AU" b="1">
                          <a:effectLst/>
                        </a:rPr>
                        <a:t>.</a:t>
                      </a:r>
                      <a:endParaRPr lang="en-AU">
                        <a:effectLst/>
                      </a:endParaRPr>
                    </a:p>
                  </a:txBody>
                  <a:tcPr marL="57150" marR="57150" marT="57150" marB="57150" anchor="ctr">
                    <a:lnL>
                      <a:noFill/>
                    </a:lnL>
                    <a:lnR>
                      <a:noFill/>
                    </a:lnR>
                    <a:lnT>
                      <a:noFill/>
                    </a:lnT>
                    <a:lnB>
                      <a:noFill/>
                    </a:lnB>
                    <a:solidFill>
                      <a:srgbClr val="FFFFFF"/>
                    </a:solidFill>
                  </a:tcPr>
                </a:tc>
                <a:extLst>
                  <a:ext uri="{0D108BD9-81ED-4DB2-BD59-A6C34878D82A}">
                    <a16:rowId xmlns:a16="http://schemas.microsoft.com/office/drawing/2014/main" val="577290157"/>
                  </a:ext>
                </a:extLst>
              </a:tr>
              <a:tr h="0">
                <a:tc>
                  <a:txBody>
                    <a:bodyPr/>
                    <a:lstStyle/>
                    <a:p>
                      <a:pPr algn="l" fontAlgn="t"/>
                      <a:r>
                        <a:rPr lang="en-AU">
                          <a:effectLst/>
                        </a:rPr>
                        <a:t>•</a:t>
                      </a:r>
                    </a:p>
                  </a:txBody>
                  <a:tcPr marL="57150" marR="57150" marT="57150" marB="57150">
                    <a:lnL>
                      <a:noFill/>
                    </a:lnL>
                    <a:lnR>
                      <a:noFill/>
                    </a:lnR>
                    <a:lnT>
                      <a:noFill/>
                    </a:lnT>
                    <a:lnB>
                      <a:noFill/>
                    </a:lnB>
                    <a:solidFill>
                      <a:srgbClr val="FFFFFF"/>
                    </a:solidFill>
                  </a:tcPr>
                </a:tc>
                <a:tc>
                  <a:txBody>
                    <a:bodyPr/>
                    <a:lstStyle/>
                    <a:p>
                      <a:pPr algn="l" fontAlgn="ctr"/>
                      <a:r>
                        <a:rPr lang="en-AU" b="1" dirty="0">
                          <a:solidFill>
                            <a:srgbClr val="228B22"/>
                          </a:solidFill>
                          <a:effectLst/>
                        </a:rPr>
                        <a:t>Explain</a:t>
                      </a:r>
                      <a:r>
                        <a:rPr lang="en-AU" b="1" dirty="0">
                          <a:effectLst/>
                        </a:rPr>
                        <a:t> how an atom's </a:t>
                      </a:r>
                      <a:r>
                        <a:rPr lang="en-AU" b="1" dirty="0">
                          <a:solidFill>
                            <a:srgbClr val="0066CC"/>
                          </a:solidFill>
                          <a:effectLst/>
                        </a:rPr>
                        <a:t>ionisation energy</a:t>
                      </a:r>
                      <a:r>
                        <a:rPr lang="en-AU" b="1" dirty="0">
                          <a:effectLst/>
                        </a:rPr>
                        <a:t> can be estimated based on its position in the </a:t>
                      </a:r>
                      <a:r>
                        <a:rPr lang="en-AU" b="1" dirty="0">
                          <a:solidFill>
                            <a:srgbClr val="571A98"/>
                          </a:solidFill>
                          <a:effectLst/>
                        </a:rPr>
                        <a:t>periodic table.</a:t>
                      </a:r>
                      <a:endParaRPr lang="en-AU" dirty="0">
                        <a:effectLst/>
                      </a:endParaRPr>
                    </a:p>
                  </a:txBody>
                  <a:tcPr marL="57150" marR="57150" marT="57150" marB="57150" anchor="ctr">
                    <a:lnL>
                      <a:noFill/>
                    </a:lnL>
                    <a:lnR>
                      <a:noFill/>
                    </a:lnR>
                    <a:lnT>
                      <a:noFill/>
                    </a:lnT>
                    <a:lnB>
                      <a:noFill/>
                    </a:lnB>
                    <a:solidFill>
                      <a:srgbClr val="FFFFFF"/>
                    </a:solidFill>
                  </a:tcPr>
                </a:tc>
                <a:extLst>
                  <a:ext uri="{0D108BD9-81ED-4DB2-BD59-A6C34878D82A}">
                    <a16:rowId xmlns:a16="http://schemas.microsoft.com/office/drawing/2014/main" val="3999056917"/>
                  </a:ext>
                </a:extLst>
              </a:tr>
            </a:tbl>
          </a:graphicData>
        </a:graphic>
      </p:graphicFrame>
      <p:pic>
        <p:nvPicPr>
          <p:cNvPr id="15363" name="Picture 3" descr="https://www.educationperfect.com/media/content/Science/1441243972.902921g/1441243974601-3547471454494536-optimised.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01875" y="3468688"/>
            <a:ext cx="6667500" cy="29146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4302286"/>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47700" y="666740"/>
            <a:ext cx="11049000" cy="2308324"/>
          </a:xfrm>
          <a:prstGeom prst="rect">
            <a:avLst/>
          </a:prstGeom>
        </p:spPr>
        <p:txBody>
          <a:bodyPr wrap="square">
            <a:spAutoFit/>
          </a:bodyPr>
          <a:lstStyle/>
          <a:p>
            <a:pPr algn="ctr"/>
            <a:r>
              <a:rPr lang="en-AU" b="1" i="0" dirty="0" smtClean="0">
                <a:solidFill>
                  <a:srgbClr val="0066CC"/>
                </a:solidFill>
                <a:effectLst/>
                <a:latin typeface="Arial" panose="020B0604020202020204" pitchFamily="34" charset="0"/>
              </a:rPr>
              <a:t>Ionisation energy</a:t>
            </a:r>
            <a:r>
              <a:rPr lang="en-AU" b="1" i="0" dirty="0" smtClean="0">
                <a:solidFill>
                  <a:srgbClr val="444444"/>
                </a:solidFill>
                <a:effectLst/>
                <a:latin typeface="Arial" panose="020B0604020202020204" pitchFamily="34" charset="0"/>
              </a:rPr>
              <a:t> is another property of an atom that displays a periodic trend.</a:t>
            </a:r>
            <a:endParaRPr lang="en-AU" b="0" i="0" dirty="0" smtClean="0">
              <a:solidFill>
                <a:srgbClr val="444444"/>
              </a:solidFill>
              <a:effectLst/>
              <a:latin typeface="Arial" panose="020B0604020202020204" pitchFamily="34" charset="0"/>
            </a:endParaRPr>
          </a:p>
          <a:p>
            <a:pPr algn="ctr"/>
            <a:r>
              <a:rPr lang="en-AU" b="0" i="0" dirty="0" smtClean="0">
                <a:solidFill>
                  <a:srgbClr val="444444"/>
                </a:solidFill>
                <a:effectLst/>
                <a:latin typeface="Arial" panose="020B0604020202020204" pitchFamily="34" charset="0"/>
              </a:rPr>
              <a:t> </a:t>
            </a:r>
          </a:p>
          <a:p>
            <a:pPr algn="ctr"/>
            <a:r>
              <a:rPr lang="en-AU" b="0" i="0" dirty="0" smtClean="0">
                <a:solidFill>
                  <a:srgbClr val="444444"/>
                </a:solidFill>
                <a:effectLst/>
                <a:latin typeface="Arial" panose="020B0604020202020204" pitchFamily="34" charset="0"/>
              </a:rPr>
              <a:t>The </a:t>
            </a:r>
            <a:r>
              <a:rPr lang="en-AU" b="1" i="0" dirty="0" smtClean="0">
                <a:solidFill>
                  <a:srgbClr val="0066CC"/>
                </a:solidFill>
                <a:effectLst/>
                <a:latin typeface="Arial" panose="020B0604020202020204" pitchFamily="34" charset="0"/>
              </a:rPr>
              <a:t>ionisation energy</a:t>
            </a:r>
            <a:r>
              <a:rPr lang="en-AU" b="0" i="0" dirty="0" smtClean="0">
                <a:solidFill>
                  <a:srgbClr val="444444"/>
                </a:solidFill>
                <a:effectLst/>
                <a:latin typeface="Arial" panose="020B0604020202020204" pitchFamily="34" charset="0"/>
              </a:rPr>
              <a:t> of an element is the </a:t>
            </a:r>
            <a:r>
              <a:rPr lang="en-AU" b="1" i="0" dirty="0" smtClean="0">
                <a:solidFill>
                  <a:srgbClr val="444444"/>
                </a:solidFill>
                <a:effectLst/>
                <a:latin typeface="Arial" panose="020B0604020202020204" pitchFamily="34" charset="0"/>
              </a:rPr>
              <a:t>amount of energy required to remove one </a:t>
            </a:r>
            <a:r>
              <a:rPr lang="en-AU" b="1" i="0" u="sng" dirty="0" smtClean="0">
                <a:solidFill>
                  <a:srgbClr val="444444"/>
                </a:solidFill>
                <a:effectLst/>
                <a:latin typeface="Arial" panose="020B0604020202020204" pitchFamily="34" charset="0"/>
              </a:rPr>
              <a:t>valence electron</a:t>
            </a:r>
            <a:r>
              <a:rPr lang="en-AU" b="1" i="0" dirty="0" smtClean="0">
                <a:solidFill>
                  <a:srgbClr val="444444"/>
                </a:solidFill>
                <a:effectLst/>
                <a:latin typeface="Arial" panose="020B0604020202020204" pitchFamily="34" charset="0"/>
              </a:rPr>
              <a:t> from an atom</a:t>
            </a:r>
            <a:r>
              <a:rPr lang="en-AU" b="0" i="0" dirty="0" smtClean="0">
                <a:solidFill>
                  <a:srgbClr val="444444"/>
                </a:solidFill>
                <a:effectLst/>
                <a:latin typeface="Arial" panose="020B0604020202020204" pitchFamily="34" charset="0"/>
              </a:rPr>
              <a:t> in its gas form.</a:t>
            </a:r>
          </a:p>
          <a:p>
            <a:pPr algn="ctr"/>
            <a:r>
              <a:rPr lang="en-AU" b="0" i="0" dirty="0" smtClean="0">
                <a:solidFill>
                  <a:srgbClr val="444444"/>
                </a:solidFill>
                <a:effectLst/>
                <a:latin typeface="Arial" panose="020B0604020202020204" pitchFamily="34" charset="0"/>
              </a:rPr>
              <a:t> </a:t>
            </a:r>
          </a:p>
          <a:p>
            <a:pPr algn="ctr"/>
            <a:r>
              <a:rPr lang="en-AU" b="0" i="0" dirty="0" smtClean="0">
                <a:solidFill>
                  <a:srgbClr val="444444"/>
                </a:solidFill>
                <a:effectLst/>
                <a:latin typeface="Arial" panose="020B0604020202020204" pitchFamily="34" charset="0"/>
              </a:rPr>
              <a:t>As expected this follows the same trend as </a:t>
            </a:r>
            <a:r>
              <a:rPr lang="en-AU" b="1" i="0" dirty="0" smtClean="0">
                <a:solidFill>
                  <a:srgbClr val="00868B"/>
                </a:solidFill>
                <a:effectLst/>
                <a:latin typeface="Arial" panose="020B0604020202020204" pitchFamily="34" charset="0"/>
              </a:rPr>
              <a:t>electronegativity</a:t>
            </a:r>
            <a:r>
              <a:rPr lang="en-AU" b="0" i="0" dirty="0" smtClean="0">
                <a:solidFill>
                  <a:srgbClr val="444444"/>
                </a:solidFill>
                <a:effectLst/>
                <a:latin typeface="Arial" panose="020B0604020202020204" pitchFamily="34" charset="0"/>
              </a:rPr>
              <a:t> for the same reasons. The atoms with the </a:t>
            </a:r>
            <a:r>
              <a:rPr lang="en-AU" b="0" i="1" dirty="0" smtClean="0">
                <a:solidFill>
                  <a:srgbClr val="444444"/>
                </a:solidFill>
                <a:effectLst/>
                <a:latin typeface="Arial" panose="020B0604020202020204" pitchFamily="34" charset="0"/>
              </a:rPr>
              <a:t>highest</a:t>
            </a:r>
            <a:r>
              <a:rPr lang="en-AU" b="0" i="0" dirty="0" smtClean="0">
                <a:solidFill>
                  <a:srgbClr val="444444"/>
                </a:solidFill>
                <a:effectLst/>
                <a:latin typeface="Arial" panose="020B0604020202020204" pitchFamily="34" charset="0"/>
              </a:rPr>
              <a:t> </a:t>
            </a:r>
            <a:r>
              <a:rPr lang="en-AU" b="1" i="0" dirty="0" smtClean="0">
                <a:solidFill>
                  <a:srgbClr val="0066CC"/>
                </a:solidFill>
                <a:effectLst/>
                <a:latin typeface="Arial" panose="020B0604020202020204" pitchFamily="34" charset="0"/>
              </a:rPr>
              <a:t>ionisation energies</a:t>
            </a:r>
            <a:r>
              <a:rPr lang="en-AU" b="0" i="0" dirty="0" smtClean="0">
                <a:solidFill>
                  <a:srgbClr val="444444"/>
                </a:solidFill>
                <a:effectLst/>
                <a:latin typeface="Arial" panose="020B0604020202020204" pitchFamily="34" charset="0"/>
              </a:rPr>
              <a:t> are located at the </a:t>
            </a:r>
            <a:r>
              <a:rPr lang="en-AU" b="1" i="0" dirty="0" smtClean="0">
                <a:solidFill>
                  <a:srgbClr val="444444"/>
                </a:solidFill>
                <a:effectLst/>
                <a:latin typeface="Arial" panose="020B0604020202020204" pitchFamily="34" charset="0"/>
              </a:rPr>
              <a:t>top-right</a:t>
            </a:r>
            <a:r>
              <a:rPr lang="en-AU" b="0" i="0" dirty="0" smtClean="0">
                <a:solidFill>
                  <a:srgbClr val="444444"/>
                </a:solidFill>
                <a:effectLst/>
                <a:latin typeface="Arial" panose="020B0604020202020204" pitchFamily="34" charset="0"/>
              </a:rPr>
              <a:t> of the periodic table, </a:t>
            </a:r>
            <a:r>
              <a:rPr lang="en-AU" b="1" i="0" dirty="0" smtClean="0">
                <a:solidFill>
                  <a:srgbClr val="444444"/>
                </a:solidFill>
                <a:effectLst/>
                <a:latin typeface="Arial" panose="020B0604020202020204" pitchFamily="34" charset="0"/>
              </a:rPr>
              <a:t>including</a:t>
            </a:r>
            <a:r>
              <a:rPr lang="en-AU" b="0" i="0" dirty="0" smtClean="0">
                <a:solidFill>
                  <a:srgbClr val="444444"/>
                </a:solidFill>
                <a:effectLst/>
                <a:latin typeface="Arial" panose="020B0604020202020204" pitchFamily="34" charset="0"/>
              </a:rPr>
              <a:t> the noble gases.</a:t>
            </a:r>
            <a:endParaRPr lang="en-AU" b="0" i="0" dirty="0">
              <a:solidFill>
                <a:srgbClr val="444444"/>
              </a:solidFill>
              <a:effectLst/>
              <a:latin typeface="Arial" panose="020B0604020202020204" pitchFamily="34" charset="0"/>
            </a:endParaRPr>
          </a:p>
        </p:txBody>
      </p:sp>
      <p:pic>
        <p:nvPicPr>
          <p:cNvPr id="16386" name="Picture 2" descr="https://www.educationperfect.com/media/content/Science/1433388349.615131g/1433388350730-305849906-optimised.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76725" y="3773488"/>
            <a:ext cx="3790950" cy="19526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4853272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96900" y="668635"/>
            <a:ext cx="10706100" cy="646331"/>
          </a:xfrm>
          <a:prstGeom prst="rect">
            <a:avLst/>
          </a:prstGeom>
        </p:spPr>
        <p:txBody>
          <a:bodyPr wrap="square">
            <a:spAutoFit/>
          </a:bodyPr>
          <a:lstStyle/>
          <a:p>
            <a:pPr algn="ctr"/>
            <a:r>
              <a:rPr lang="en-AU" b="1" i="0" dirty="0" smtClean="0">
                <a:solidFill>
                  <a:srgbClr val="444444"/>
                </a:solidFill>
                <a:effectLst/>
                <a:latin typeface="Arial" panose="020B0604020202020204" pitchFamily="34" charset="0"/>
              </a:rPr>
              <a:t>The </a:t>
            </a:r>
            <a:r>
              <a:rPr lang="en-AU" b="1" i="0" dirty="0" smtClean="0">
                <a:solidFill>
                  <a:srgbClr val="0066CC"/>
                </a:solidFill>
                <a:effectLst/>
                <a:latin typeface="Arial" panose="020B0604020202020204" pitchFamily="34" charset="0"/>
              </a:rPr>
              <a:t>first ionisation energy</a:t>
            </a:r>
            <a:r>
              <a:rPr lang="en-AU" b="1" i="0" dirty="0" smtClean="0">
                <a:solidFill>
                  <a:srgbClr val="444444"/>
                </a:solidFill>
                <a:effectLst/>
                <a:latin typeface="Arial" panose="020B0604020202020204" pitchFamily="34" charset="0"/>
              </a:rPr>
              <a:t> is the </a:t>
            </a:r>
            <a:r>
              <a:rPr lang="en-AU" b="1" i="0" dirty="0" smtClean="0">
                <a:solidFill>
                  <a:srgbClr val="F30277"/>
                </a:solidFill>
                <a:effectLst/>
                <a:latin typeface="Arial" panose="020B0604020202020204" pitchFamily="34" charset="0"/>
              </a:rPr>
              <a:t>minimum energy required to remove an electron</a:t>
            </a:r>
            <a:r>
              <a:rPr lang="en-AU" b="1" i="0" dirty="0" smtClean="0">
                <a:solidFill>
                  <a:srgbClr val="444444"/>
                </a:solidFill>
                <a:effectLst/>
                <a:latin typeface="Arial" panose="020B0604020202020204" pitchFamily="34" charset="0"/>
              </a:rPr>
              <a:t> from each atom in one mole of gaseous atoms.</a:t>
            </a:r>
            <a:endParaRPr lang="en-AU" b="0" i="0" dirty="0">
              <a:solidFill>
                <a:srgbClr val="444444"/>
              </a:solidFill>
              <a:effectLst/>
              <a:latin typeface="Arial" panose="020B0604020202020204" pitchFamily="34" charset="0"/>
            </a:endParaRPr>
          </a:p>
        </p:txBody>
      </p:sp>
      <p:pic>
        <p:nvPicPr>
          <p:cNvPr id="3" name="Picture 2"/>
          <p:cNvPicPr>
            <a:picLocks noChangeAspect="1"/>
          </p:cNvPicPr>
          <p:nvPr/>
        </p:nvPicPr>
        <p:blipFill>
          <a:blip r:embed="rId2"/>
          <a:stretch>
            <a:fillRect/>
          </a:stretch>
        </p:blipFill>
        <p:spPr>
          <a:xfrm>
            <a:off x="4516437" y="1425574"/>
            <a:ext cx="3149545" cy="987425"/>
          </a:xfrm>
          <a:prstGeom prst="rect">
            <a:avLst/>
          </a:prstGeom>
        </p:spPr>
      </p:pic>
      <p:sp>
        <p:nvSpPr>
          <p:cNvPr id="4" name="Rectangle 3"/>
          <p:cNvSpPr/>
          <p:nvPr/>
        </p:nvSpPr>
        <p:spPr>
          <a:xfrm>
            <a:off x="444500" y="3002340"/>
            <a:ext cx="11366500" cy="2031325"/>
          </a:xfrm>
          <a:prstGeom prst="rect">
            <a:avLst/>
          </a:prstGeom>
        </p:spPr>
        <p:txBody>
          <a:bodyPr wrap="square">
            <a:spAutoFit/>
          </a:bodyPr>
          <a:lstStyle/>
          <a:p>
            <a:pPr algn="ctr"/>
            <a:r>
              <a:rPr lang="en-AU" b="0" i="0" dirty="0" smtClean="0">
                <a:solidFill>
                  <a:srgbClr val="444444"/>
                </a:solidFill>
                <a:effectLst/>
                <a:latin typeface="Arial" panose="020B0604020202020204" pitchFamily="34" charset="0"/>
              </a:rPr>
              <a:t>Several factors influence ionisation energy, mostly by altering the </a:t>
            </a:r>
            <a:r>
              <a:rPr lang="en-AU" b="1" i="0" dirty="0" smtClean="0">
                <a:solidFill>
                  <a:srgbClr val="444444"/>
                </a:solidFill>
                <a:effectLst/>
                <a:latin typeface="Arial" panose="020B0604020202020204" pitchFamily="34" charset="0"/>
              </a:rPr>
              <a:t>electrostatic attraction</a:t>
            </a:r>
            <a:r>
              <a:rPr lang="en-AU" b="0" i="0" dirty="0" smtClean="0">
                <a:solidFill>
                  <a:srgbClr val="444444"/>
                </a:solidFill>
                <a:effectLst/>
                <a:latin typeface="Arial" panose="020B0604020202020204" pitchFamily="34" charset="0"/>
              </a:rPr>
              <a:t> between the nucleus and the electrons.</a:t>
            </a:r>
          </a:p>
          <a:p>
            <a:pPr algn="ctr"/>
            <a:r>
              <a:rPr lang="en-AU" b="0" i="0" dirty="0" smtClean="0">
                <a:solidFill>
                  <a:srgbClr val="444444"/>
                </a:solidFill>
                <a:effectLst/>
                <a:latin typeface="Arial" panose="020B0604020202020204" pitchFamily="34" charset="0"/>
              </a:rPr>
              <a:t> </a:t>
            </a:r>
          </a:p>
          <a:p>
            <a:pPr algn="ctr"/>
            <a:r>
              <a:rPr lang="en-AU" b="0" i="0" dirty="0" smtClean="0">
                <a:solidFill>
                  <a:srgbClr val="444444"/>
                </a:solidFill>
                <a:effectLst/>
                <a:latin typeface="Arial" panose="020B0604020202020204" pitchFamily="34" charset="0"/>
              </a:rPr>
              <a:t>The electrostatic attraction </a:t>
            </a:r>
            <a:r>
              <a:rPr lang="en-AU" b="1" i="0" dirty="0" smtClean="0">
                <a:solidFill>
                  <a:srgbClr val="444444"/>
                </a:solidFill>
                <a:effectLst/>
                <a:latin typeface="Arial" panose="020B0604020202020204" pitchFamily="34" charset="0"/>
              </a:rPr>
              <a:t>decreases</a:t>
            </a:r>
            <a:r>
              <a:rPr lang="en-AU" b="0" i="0" dirty="0" smtClean="0">
                <a:solidFill>
                  <a:srgbClr val="444444"/>
                </a:solidFill>
                <a:effectLst/>
                <a:latin typeface="Arial" panose="020B0604020202020204" pitchFamily="34" charset="0"/>
              </a:rPr>
              <a:t> with distance from the nucleus, which means larger atoms tend to have </a:t>
            </a:r>
            <a:r>
              <a:rPr lang="en-AU" b="1" i="0" dirty="0" smtClean="0">
                <a:solidFill>
                  <a:srgbClr val="444444"/>
                </a:solidFill>
                <a:effectLst/>
                <a:latin typeface="Arial" panose="020B0604020202020204" pitchFamily="34" charset="0"/>
              </a:rPr>
              <a:t>lower</a:t>
            </a:r>
            <a:r>
              <a:rPr lang="en-AU" b="0" i="0" dirty="0" smtClean="0">
                <a:solidFill>
                  <a:srgbClr val="444444"/>
                </a:solidFill>
                <a:effectLst/>
                <a:latin typeface="Arial" panose="020B0604020202020204" pitchFamily="34" charset="0"/>
              </a:rPr>
              <a:t> ionisation energies and it is </a:t>
            </a:r>
            <a:r>
              <a:rPr lang="en-AU" b="1" i="0" dirty="0" smtClean="0">
                <a:solidFill>
                  <a:srgbClr val="444444"/>
                </a:solidFill>
                <a:effectLst/>
                <a:latin typeface="Arial" panose="020B0604020202020204" pitchFamily="34" charset="0"/>
              </a:rPr>
              <a:t>easier</a:t>
            </a:r>
            <a:r>
              <a:rPr lang="en-AU" b="0" i="0" dirty="0" smtClean="0">
                <a:solidFill>
                  <a:srgbClr val="444444"/>
                </a:solidFill>
                <a:effectLst/>
                <a:latin typeface="Arial" panose="020B0604020202020204" pitchFamily="34" charset="0"/>
              </a:rPr>
              <a:t> to remove electrons from them. This is also because of </a:t>
            </a:r>
            <a:r>
              <a:rPr lang="en-AU" b="1" i="0" dirty="0" smtClean="0">
                <a:solidFill>
                  <a:srgbClr val="64B131"/>
                </a:solidFill>
                <a:effectLst/>
                <a:latin typeface="Arial" panose="020B0604020202020204" pitchFamily="34" charset="0"/>
              </a:rPr>
              <a:t>electron shielding</a:t>
            </a:r>
            <a:r>
              <a:rPr lang="en-AU" b="0" i="0" dirty="0" smtClean="0">
                <a:solidFill>
                  <a:srgbClr val="444444"/>
                </a:solidFill>
                <a:effectLst/>
                <a:latin typeface="Arial" panose="020B0604020202020204" pitchFamily="34" charset="0"/>
              </a:rPr>
              <a:t> (or screening) by electrons within inner electron shells decreasing the attraction between </a:t>
            </a:r>
            <a:r>
              <a:rPr lang="en-AU" b="1" i="0" dirty="0" smtClean="0">
                <a:solidFill>
                  <a:srgbClr val="444444"/>
                </a:solidFill>
                <a:effectLst/>
                <a:latin typeface="Arial" panose="020B0604020202020204" pitchFamily="34" charset="0"/>
              </a:rPr>
              <a:t>valence electrons</a:t>
            </a:r>
            <a:r>
              <a:rPr lang="en-AU" b="0" i="0" dirty="0" smtClean="0">
                <a:solidFill>
                  <a:srgbClr val="444444"/>
                </a:solidFill>
                <a:effectLst/>
                <a:latin typeface="Arial" panose="020B0604020202020204" pitchFamily="34" charset="0"/>
              </a:rPr>
              <a:t> and the nucleus.</a:t>
            </a:r>
            <a:endParaRPr lang="en-AU" b="0" i="0" dirty="0">
              <a:solidFill>
                <a:srgbClr val="444444"/>
              </a:solidFill>
              <a:effectLst/>
              <a:latin typeface="Arial" panose="020B0604020202020204" pitchFamily="34" charset="0"/>
            </a:endParaRPr>
          </a:p>
        </p:txBody>
      </p:sp>
    </p:spTree>
    <p:extLst>
      <p:ext uri="{BB962C8B-B14F-4D97-AF65-F5344CB8AC3E}">
        <p14:creationId xmlns:p14="http://schemas.microsoft.com/office/powerpoint/2010/main" val="320216269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056191" y="501134"/>
            <a:ext cx="4155817" cy="369332"/>
          </a:xfrm>
          <a:prstGeom prst="rect">
            <a:avLst/>
          </a:prstGeom>
        </p:spPr>
        <p:txBody>
          <a:bodyPr wrap="none">
            <a:spAutoFit/>
          </a:bodyPr>
          <a:lstStyle/>
          <a:p>
            <a:pPr algn="ctr"/>
            <a:r>
              <a:rPr lang="en-AU" b="1" i="0" dirty="0" smtClean="0">
                <a:solidFill>
                  <a:srgbClr val="444444"/>
                </a:solidFill>
                <a:effectLst/>
                <a:latin typeface="Arial" panose="020B0604020202020204" pitchFamily="34" charset="0"/>
              </a:rPr>
              <a:t>Periodic trends in </a:t>
            </a:r>
            <a:r>
              <a:rPr lang="en-AU" b="1" i="0" dirty="0" smtClean="0">
                <a:solidFill>
                  <a:srgbClr val="0066CC"/>
                </a:solidFill>
                <a:effectLst/>
                <a:latin typeface="Arial" panose="020B0604020202020204" pitchFamily="34" charset="0"/>
              </a:rPr>
              <a:t>ionisation energy.</a:t>
            </a:r>
            <a:endParaRPr lang="en-AU" b="0" i="0" dirty="0">
              <a:solidFill>
                <a:srgbClr val="444444"/>
              </a:solidFill>
              <a:effectLst/>
              <a:latin typeface="Arial" panose="020B0604020202020204" pitchFamily="34" charset="0"/>
            </a:endParaRPr>
          </a:p>
        </p:txBody>
      </p:sp>
      <p:pic>
        <p:nvPicPr>
          <p:cNvPr id="17410" name="Picture 2" descr="https://www.educationperfect.com/media/content/Science/1441243972.902921g/1441243974601-3547471454494536-optimised.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36775" y="870466"/>
            <a:ext cx="6667500" cy="2914650"/>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p:cNvSpPr/>
          <p:nvPr/>
        </p:nvSpPr>
        <p:spPr>
          <a:xfrm>
            <a:off x="406400" y="3967540"/>
            <a:ext cx="11112500" cy="2031325"/>
          </a:xfrm>
          <a:prstGeom prst="rect">
            <a:avLst/>
          </a:prstGeom>
        </p:spPr>
        <p:txBody>
          <a:bodyPr wrap="square">
            <a:spAutoFit/>
          </a:bodyPr>
          <a:lstStyle/>
          <a:p>
            <a:pPr algn="ctr"/>
            <a:r>
              <a:rPr lang="en-AU" b="0" i="0" dirty="0" smtClean="0">
                <a:solidFill>
                  <a:srgbClr val="444444"/>
                </a:solidFill>
                <a:effectLst/>
                <a:latin typeface="Arial" panose="020B0604020202020204" pitchFamily="34" charset="0"/>
              </a:rPr>
              <a:t>Going </a:t>
            </a:r>
            <a:r>
              <a:rPr lang="en-AU" b="1" i="0" dirty="0" smtClean="0">
                <a:solidFill>
                  <a:srgbClr val="571A98"/>
                </a:solidFill>
                <a:effectLst/>
                <a:latin typeface="Arial" panose="020B0604020202020204" pitchFamily="34" charset="0"/>
              </a:rPr>
              <a:t>down a group,</a:t>
            </a:r>
            <a:r>
              <a:rPr lang="en-AU" b="0" i="0" dirty="0" smtClean="0">
                <a:solidFill>
                  <a:srgbClr val="444444"/>
                </a:solidFill>
                <a:effectLst/>
                <a:latin typeface="Arial" panose="020B0604020202020204" pitchFamily="34" charset="0"/>
              </a:rPr>
              <a:t> the number of electron shells increases, which means that the valence electrons are found farther from the nucleus and the electrostatic attraction is weaker. This means it is </a:t>
            </a:r>
            <a:r>
              <a:rPr lang="en-AU" b="1" i="0" dirty="0" smtClean="0">
                <a:solidFill>
                  <a:srgbClr val="444444"/>
                </a:solidFill>
                <a:effectLst/>
                <a:latin typeface="Arial" panose="020B0604020202020204" pitchFamily="34" charset="0"/>
              </a:rPr>
              <a:t>easier</a:t>
            </a:r>
            <a:r>
              <a:rPr lang="en-AU" b="0" i="0" dirty="0" smtClean="0">
                <a:solidFill>
                  <a:srgbClr val="444444"/>
                </a:solidFill>
                <a:effectLst/>
                <a:latin typeface="Arial" panose="020B0604020202020204" pitchFamily="34" charset="0"/>
              </a:rPr>
              <a:t> to remove the first electron and the first ionisation energy </a:t>
            </a:r>
            <a:r>
              <a:rPr lang="en-AU" b="1" i="0" dirty="0" smtClean="0">
                <a:solidFill>
                  <a:srgbClr val="444444"/>
                </a:solidFill>
                <a:effectLst/>
                <a:latin typeface="Arial" panose="020B0604020202020204" pitchFamily="34" charset="0"/>
              </a:rPr>
              <a:t>decreases.</a:t>
            </a:r>
            <a:endParaRPr lang="en-AU" b="0" i="0" dirty="0" smtClean="0">
              <a:solidFill>
                <a:srgbClr val="444444"/>
              </a:solidFill>
              <a:effectLst/>
              <a:latin typeface="Arial" panose="020B0604020202020204" pitchFamily="34" charset="0"/>
            </a:endParaRPr>
          </a:p>
          <a:p>
            <a:pPr algn="ctr"/>
            <a:r>
              <a:rPr lang="en-AU" b="0" i="0" dirty="0" smtClean="0">
                <a:solidFill>
                  <a:srgbClr val="444444"/>
                </a:solidFill>
                <a:effectLst/>
                <a:latin typeface="Arial" panose="020B0604020202020204" pitchFamily="34" charset="0"/>
              </a:rPr>
              <a:t> </a:t>
            </a:r>
          </a:p>
          <a:p>
            <a:pPr algn="ctr"/>
            <a:r>
              <a:rPr lang="en-AU" b="0" i="0" dirty="0" smtClean="0">
                <a:solidFill>
                  <a:srgbClr val="444444"/>
                </a:solidFill>
                <a:effectLst/>
                <a:latin typeface="Arial" panose="020B0604020202020204" pitchFamily="34" charset="0"/>
              </a:rPr>
              <a:t>Going </a:t>
            </a:r>
            <a:r>
              <a:rPr lang="en-AU" b="1" i="0" dirty="0" smtClean="0">
                <a:solidFill>
                  <a:srgbClr val="F30277"/>
                </a:solidFill>
                <a:effectLst/>
                <a:latin typeface="Arial" panose="020B0604020202020204" pitchFamily="34" charset="0"/>
              </a:rPr>
              <a:t>across a period,</a:t>
            </a:r>
            <a:r>
              <a:rPr lang="en-AU" b="0" i="0" dirty="0" smtClean="0">
                <a:solidFill>
                  <a:srgbClr val="444444"/>
                </a:solidFill>
                <a:effectLst/>
                <a:latin typeface="Arial" panose="020B0604020202020204" pitchFamily="34" charset="0"/>
              </a:rPr>
              <a:t> the number of protons in the nucleus increases, but the distance between the nucleus and valence shell is the same. This means the electrostatic attraction is stronger, making it </a:t>
            </a:r>
            <a:r>
              <a:rPr lang="en-AU" b="1" i="0" dirty="0" smtClean="0">
                <a:solidFill>
                  <a:srgbClr val="444444"/>
                </a:solidFill>
                <a:effectLst/>
                <a:latin typeface="Arial" panose="020B0604020202020204" pitchFamily="34" charset="0"/>
              </a:rPr>
              <a:t>harder</a:t>
            </a:r>
            <a:r>
              <a:rPr lang="en-AU" b="0" i="0" dirty="0" smtClean="0">
                <a:solidFill>
                  <a:srgbClr val="444444"/>
                </a:solidFill>
                <a:effectLst/>
                <a:latin typeface="Arial" panose="020B0604020202020204" pitchFamily="34" charset="0"/>
              </a:rPr>
              <a:t> to remove an electron and </a:t>
            </a:r>
            <a:r>
              <a:rPr lang="en-AU" b="1" i="0" dirty="0" smtClean="0">
                <a:solidFill>
                  <a:srgbClr val="444444"/>
                </a:solidFill>
                <a:effectLst/>
                <a:latin typeface="Arial" panose="020B0604020202020204" pitchFamily="34" charset="0"/>
              </a:rPr>
              <a:t>increasing</a:t>
            </a:r>
            <a:r>
              <a:rPr lang="en-AU" b="0" i="0" dirty="0" smtClean="0">
                <a:solidFill>
                  <a:srgbClr val="444444"/>
                </a:solidFill>
                <a:effectLst/>
                <a:latin typeface="Arial" panose="020B0604020202020204" pitchFamily="34" charset="0"/>
              </a:rPr>
              <a:t> the ionisation energy.</a:t>
            </a:r>
            <a:endParaRPr lang="en-AU" b="0" i="0" dirty="0">
              <a:solidFill>
                <a:srgbClr val="444444"/>
              </a:solidFill>
              <a:effectLst/>
              <a:latin typeface="Arial" panose="020B0604020202020204" pitchFamily="34" charset="0"/>
            </a:endParaRPr>
          </a:p>
        </p:txBody>
      </p:sp>
    </p:spTree>
    <p:extLst>
      <p:ext uri="{BB962C8B-B14F-4D97-AF65-F5344CB8AC3E}">
        <p14:creationId xmlns:p14="http://schemas.microsoft.com/office/powerpoint/2010/main" val="176548178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152400" y="368300"/>
            <a:ext cx="7775575" cy="4718223"/>
          </a:xfrm>
          <a:prstGeom prst="rect">
            <a:avLst/>
          </a:prstGeom>
        </p:spPr>
      </p:pic>
      <p:pic>
        <p:nvPicPr>
          <p:cNvPr id="18434" name="Picture 2" descr="https://www.educationperfect.com/media/content/Science/1437452188.513071g/1437452180014-1678255987-optimised.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927975" y="2343322"/>
            <a:ext cx="4762500" cy="27432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1112047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14300" y="508338"/>
            <a:ext cx="11518900" cy="1200329"/>
          </a:xfrm>
          <a:prstGeom prst="rect">
            <a:avLst/>
          </a:prstGeom>
        </p:spPr>
        <p:txBody>
          <a:bodyPr wrap="square">
            <a:spAutoFit/>
          </a:bodyPr>
          <a:lstStyle/>
          <a:p>
            <a:pPr algn="ctr"/>
            <a:r>
              <a:rPr lang="en-AU" b="1" i="0" dirty="0" smtClean="0">
                <a:solidFill>
                  <a:srgbClr val="0066CC"/>
                </a:solidFill>
                <a:effectLst/>
                <a:latin typeface="Arial" panose="020B0604020202020204" pitchFamily="34" charset="0"/>
              </a:rPr>
              <a:t>Second ionisation energy.</a:t>
            </a:r>
            <a:endParaRPr lang="en-AU" b="0" i="0" dirty="0" smtClean="0">
              <a:solidFill>
                <a:srgbClr val="444444"/>
              </a:solidFill>
              <a:effectLst/>
              <a:latin typeface="Arial" panose="020B0604020202020204" pitchFamily="34" charset="0"/>
            </a:endParaRPr>
          </a:p>
          <a:p>
            <a:pPr algn="ctr"/>
            <a:r>
              <a:rPr lang="en-AU" b="0" i="0" dirty="0" smtClean="0">
                <a:solidFill>
                  <a:srgbClr val="444444"/>
                </a:solidFill>
                <a:effectLst/>
                <a:latin typeface="Arial" panose="020B0604020202020204" pitchFamily="34" charset="0"/>
              </a:rPr>
              <a:t> </a:t>
            </a:r>
          </a:p>
          <a:p>
            <a:pPr algn="ctr"/>
            <a:r>
              <a:rPr lang="en-AU" b="0" i="0" dirty="0" smtClean="0">
                <a:solidFill>
                  <a:srgbClr val="444444"/>
                </a:solidFill>
                <a:effectLst/>
                <a:latin typeface="Arial" panose="020B0604020202020204" pitchFamily="34" charset="0"/>
              </a:rPr>
              <a:t>Just like the first ionisation energy is the energy required to remove the first electron from a neutral atom, the </a:t>
            </a:r>
            <a:r>
              <a:rPr lang="en-AU" b="1" i="0" dirty="0" smtClean="0">
                <a:solidFill>
                  <a:srgbClr val="0066CC"/>
                </a:solidFill>
                <a:effectLst/>
                <a:latin typeface="Arial" panose="020B0604020202020204" pitchFamily="34" charset="0"/>
              </a:rPr>
              <a:t>second ionisation energy</a:t>
            </a:r>
            <a:r>
              <a:rPr lang="en-AU" b="0" i="0" dirty="0" smtClean="0">
                <a:solidFill>
                  <a:srgbClr val="444444"/>
                </a:solidFill>
                <a:effectLst/>
                <a:latin typeface="Arial" panose="020B0604020202020204" pitchFamily="34" charset="0"/>
              </a:rPr>
              <a:t> is the </a:t>
            </a:r>
            <a:r>
              <a:rPr lang="en-AU" b="1" i="0" dirty="0" smtClean="0">
                <a:solidFill>
                  <a:srgbClr val="444444"/>
                </a:solidFill>
                <a:effectLst/>
                <a:latin typeface="Arial" panose="020B0604020202020204" pitchFamily="34" charset="0"/>
              </a:rPr>
              <a:t>energy required to remove the second electron from the </a:t>
            </a:r>
            <a:r>
              <a:rPr lang="en-AU" b="1" i="0" dirty="0" smtClean="0">
                <a:solidFill>
                  <a:srgbClr val="444444"/>
                </a:solidFill>
                <a:effectLst/>
                <a:latin typeface="KaTeX_Main"/>
              </a:rPr>
              <a:t>X</a:t>
            </a:r>
            <a:r>
              <a:rPr lang="en-AU" b="0" i="0" baseline="30000" dirty="0" smtClean="0">
                <a:solidFill>
                  <a:srgbClr val="444444"/>
                </a:solidFill>
                <a:effectLst/>
                <a:latin typeface="KaTeX_Main"/>
              </a:rPr>
              <a:t>+</a:t>
            </a:r>
            <a:r>
              <a:rPr lang="en-AU" b="1" i="0" dirty="0" smtClean="0">
                <a:solidFill>
                  <a:srgbClr val="444444"/>
                </a:solidFill>
                <a:effectLst/>
                <a:latin typeface="Arial" panose="020B0604020202020204" pitchFamily="34" charset="0"/>
              </a:rPr>
              <a:t> ion</a:t>
            </a:r>
            <a:r>
              <a:rPr lang="en-AU" b="0" i="0" dirty="0" smtClean="0">
                <a:solidFill>
                  <a:srgbClr val="444444"/>
                </a:solidFill>
                <a:effectLst/>
                <a:latin typeface="Arial" panose="020B0604020202020204" pitchFamily="34" charset="0"/>
              </a:rPr>
              <a:t>.</a:t>
            </a:r>
            <a:endParaRPr lang="en-AU" b="0" i="0" dirty="0">
              <a:solidFill>
                <a:srgbClr val="444444"/>
              </a:solidFill>
              <a:effectLst/>
              <a:latin typeface="Arial" panose="020B0604020202020204" pitchFamily="34" charset="0"/>
            </a:endParaRPr>
          </a:p>
        </p:txBody>
      </p:sp>
      <p:pic>
        <p:nvPicPr>
          <p:cNvPr id="3" name="Picture 2"/>
          <p:cNvPicPr>
            <a:picLocks noChangeAspect="1"/>
          </p:cNvPicPr>
          <p:nvPr/>
        </p:nvPicPr>
        <p:blipFill>
          <a:blip r:embed="rId2"/>
          <a:stretch>
            <a:fillRect/>
          </a:stretch>
        </p:blipFill>
        <p:spPr>
          <a:xfrm>
            <a:off x="4489450" y="2020887"/>
            <a:ext cx="3229516" cy="950913"/>
          </a:xfrm>
          <a:prstGeom prst="rect">
            <a:avLst/>
          </a:prstGeom>
        </p:spPr>
      </p:pic>
      <p:sp>
        <p:nvSpPr>
          <p:cNvPr id="4" name="Rectangle 3"/>
          <p:cNvSpPr/>
          <p:nvPr/>
        </p:nvSpPr>
        <p:spPr>
          <a:xfrm>
            <a:off x="609600" y="3186837"/>
            <a:ext cx="11023600" cy="923330"/>
          </a:xfrm>
          <a:prstGeom prst="rect">
            <a:avLst/>
          </a:prstGeom>
        </p:spPr>
        <p:txBody>
          <a:bodyPr wrap="square">
            <a:spAutoFit/>
          </a:bodyPr>
          <a:lstStyle/>
          <a:p>
            <a:r>
              <a:rPr lang="en-AU" b="0" i="0" dirty="0" smtClean="0">
                <a:solidFill>
                  <a:srgbClr val="444444"/>
                </a:solidFill>
                <a:effectLst/>
                <a:latin typeface="Arial" panose="020B0604020202020204" pitchFamily="34" charset="0"/>
              </a:rPr>
              <a:t>The first ionisation energy is always smaller than the second, which is smaller than the third, etc. This is because the remaining electrons are more strongly attracted to the nucleus each time one is removed (because the number of protons in the nucleus does not change).</a:t>
            </a:r>
            <a:endParaRPr lang="en-AU" dirty="0"/>
          </a:p>
        </p:txBody>
      </p:sp>
      <p:pic>
        <p:nvPicPr>
          <p:cNvPr id="19458" name="Picture 2" descr="https://www.educationperfect.com/media/content/Science/1539738593.61141g/1539738592143-3660255952785185-1200.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11162" y="4254837"/>
            <a:ext cx="11420475" cy="2667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6766740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93700" y="432138"/>
            <a:ext cx="11125200" cy="1477328"/>
          </a:xfrm>
          <a:prstGeom prst="rect">
            <a:avLst/>
          </a:prstGeom>
        </p:spPr>
        <p:txBody>
          <a:bodyPr wrap="square">
            <a:spAutoFit/>
          </a:bodyPr>
          <a:lstStyle/>
          <a:p>
            <a:pPr algn="ctr"/>
            <a:r>
              <a:rPr lang="en-AU" b="1" i="0" dirty="0" smtClean="0">
                <a:solidFill>
                  <a:srgbClr val="444444"/>
                </a:solidFill>
                <a:effectLst/>
                <a:latin typeface="Arial" panose="020B0604020202020204" pitchFamily="34" charset="0"/>
              </a:rPr>
              <a:t>Each time an </a:t>
            </a:r>
            <a:r>
              <a:rPr lang="en-AU" b="1" i="0" dirty="0" smtClean="0">
                <a:solidFill>
                  <a:srgbClr val="00868B"/>
                </a:solidFill>
                <a:effectLst/>
                <a:latin typeface="Arial" panose="020B0604020202020204" pitchFamily="34" charset="0"/>
              </a:rPr>
              <a:t>electron shell</a:t>
            </a:r>
            <a:r>
              <a:rPr lang="en-AU" b="1" i="0" dirty="0" smtClean="0">
                <a:solidFill>
                  <a:srgbClr val="444444"/>
                </a:solidFill>
                <a:effectLst/>
                <a:latin typeface="Arial" panose="020B0604020202020204" pitchFamily="34" charset="0"/>
              </a:rPr>
              <a:t> is removed, the next ionisation energy becomes </a:t>
            </a:r>
            <a:r>
              <a:rPr lang="en-AU" b="1" i="0" dirty="0" smtClean="0">
                <a:solidFill>
                  <a:srgbClr val="CC0000"/>
                </a:solidFill>
                <a:effectLst/>
                <a:latin typeface="Arial" panose="020B0604020202020204" pitchFamily="34" charset="0"/>
              </a:rPr>
              <a:t>much greater.</a:t>
            </a:r>
            <a:endParaRPr lang="en-AU" b="0" i="0" dirty="0" smtClean="0">
              <a:solidFill>
                <a:srgbClr val="444444"/>
              </a:solidFill>
              <a:effectLst/>
              <a:latin typeface="Arial" panose="020B0604020202020204" pitchFamily="34" charset="0"/>
            </a:endParaRPr>
          </a:p>
          <a:p>
            <a:pPr algn="ctr"/>
            <a:r>
              <a:rPr lang="en-AU" b="0" i="0" dirty="0" smtClean="0">
                <a:solidFill>
                  <a:srgbClr val="444444"/>
                </a:solidFill>
                <a:effectLst/>
                <a:latin typeface="Arial" panose="020B0604020202020204" pitchFamily="34" charset="0"/>
              </a:rPr>
              <a:t> </a:t>
            </a:r>
          </a:p>
          <a:p>
            <a:pPr algn="ctr"/>
            <a:r>
              <a:rPr lang="en-AU" b="0" i="0" dirty="0" smtClean="0">
                <a:solidFill>
                  <a:srgbClr val="444444"/>
                </a:solidFill>
                <a:effectLst/>
                <a:latin typeface="Arial" panose="020B0604020202020204" pitchFamily="34" charset="0"/>
              </a:rPr>
              <a:t>The electrostatic attraction is much stronger for electrons closer to the nucleus. For example, compare sodium and magnesium:</a:t>
            </a:r>
          </a:p>
          <a:p>
            <a:pPr algn="ctr"/>
            <a:r>
              <a:rPr lang="en-AU" b="0" i="0" dirty="0" smtClean="0">
                <a:solidFill>
                  <a:srgbClr val="444444"/>
                </a:solidFill>
                <a:effectLst/>
                <a:latin typeface="Arial" panose="020B0604020202020204" pitchFamily="34" charset="0"/>
              </a:rPr>
              <a:t> </a:t>
            </a:r>
            <a:endParaRPr lang="en-AU" b="0" i="0" dirty="0">
              <a:solidFill>
                <a:srgbClr val="444444"/>
              </a:solidFill>
              <a:effectLst/>
              <a:latin typeface="Arial" panose="020B0604020202020204" pitchFamily="34" charset="0"/>
            </a:endParaRPr>
          </a:p>
        </p:txBody>
      </p:sp>
      <p:pic>
        <p:nvPicPr>
          <p:cNvPr id="3" name="Picture 2"/>
          <p:cNvPicPr>
            <a:picLocks noChangeAspect="1"/>
          </p:cNvPicPr>
          <p:nvPr/>
        </p:nvPicPr>
        <p:blipFill>
          <a:blip r:embed="rId2"/>
          <a:stretch>
            <a:fillRect/>
          </a:stretch>
        </p:blipFill>
        <p:spPr>
          <a:xfrm>
            <a:off x="293687" y="1909466"/>
            <a:ext cx="11581030" cy="4275434"/>
          </a:xfrm>
          <a:prstGeom prst="rect">
            <a:avLst/>
          </a:prstGeom>
        </p:spPr>
      </p:pic>
    </p:spTree>
    <p:extLst>
      <p:ext uri="{BB962C8B-B14F-4D97-AF65-F5344CB8AC3E}">
        <p14:creationId xmlns:p14="http://schemas.microsoft.com/office/powerpoint/2010/main" val="120339735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Periodic Trends: Metallic Character</a:t>
            </a:r>
            <a:endParaRPr lang="en-AU" dirty="0"/>
          </a:p>
        </p:txBody>
      </p:sp>
      <p:sp>
        <p:nvSpPr>
          <p:cNvPr id="3" name="Text Placeholder 2"/>
          <p:cNvSpPr>
            <a:spLocks noGrp="1"/>
          </p:cNvSpPr>
          <p:nvPr>
            <p:ph type="body" idx="1"/>
          </p:nvPr>
        </p:nvSpPr>
        <p:spPr/>
        <p:txBody>
          <a:bodyPr/>
          <a:lstStyle/>
          <a:p>
            <a:endParaRPr lang="en-AU"/>
          </a:p>
        </p:txBody>
      </p:sp>
    </p:spTree>
    <p:extLst>
      <p:ext uri="{BB962C8B-B14F-4D97-AF65-F5344CB8AC3E}">
        <p14:creationId xmlns:p14="http://schemas.microsoft.com/office/powerpoint/2010/main" val="268109521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3317939" y="526534"/>
            <a:ext cx="4057521" cy="369332"/>
          </a:xfrm>
          <a:prstGeom prst="rect">
            <a:avLst/>
          </a:prstGeom>
        </p:spPr>
        <p:txBody>
          <a:bodyPr wrap="none">
            <a:spAutoFit/>
          </a:bodyPr>
          <a:lstStyle/>
          <a:p>
            <a:r>
              <a:rPr lang="en-AU" b="1" i="0" dirty="0" smtClean="0">
                <a:solidFill>
                  <a:srgbClr val="444444"/>
                </a:solidFill>
                <a:effectLst/>
                <a:latin typeface="Arial" panose="020B0604020202020204" pitchFamily="34" charset="0"/>
              </a:rPr>
              <a:t>In this Smart Lesson you will learn:</a:t>
            </a:r>
            <a:endParaRPr lang="en-AU" dirty="0"/>
          </a:p>
        </p:txBody>
      </p:sp>
      <p:graphicFrame>
        <p:nvGraphicFramePr>
          <p:cNvPr id="4" name="Table 3"/>
          <p:cNvGraphicFramePr>
            <a:graphicFrameLocks noGrp="1"/>
          </p:cNvGraphicFramePr>
          <p:nvPr>
            <p:extLst>
              <p:ext uri="{D42A27DB-BD31-4B8C-83A1-F6EECF244321}">
                <p14:modId xmlns:p14="http://schemas.microsoft.com/office/powerpoint/2010/main" val="2121831624"/>
              </p:ext>
            </p:extLst>
          </p:nvPr>
        </p:nvGraphicFramePr>
        <p:xfrm>
          <a:off x="1422400" y="1203484"/>
          <a:ext cx="10515600" cy="1440180"/>
        </p:xfrm>
        <a:graphic>
          <a:graphicData uri="http://schemas.openxmlformats.org/drawingml/2006/table">
            <a:tbl>
              <a:tblPr/>
              <a:tblGrid>
                <a:gridCol w="647700">
                  <a:extLst>
                    <a:ext uri="{9D8B030D-6E8A-4147-A177-3AD203B41FA5}">
                      <a16:colId xmlns:a16="http://schemas.microsoft.com/office/drawing/2014/main" val="3865027798"/>
                    </a:ext>
                  </a:extLst>
                </a:gridCol>
                <a:gridCol w="9867900">
                  <a:extLst>
                    <a:ext uri="{9D8B030D-6E8A-4147-A177-3AD203B41FA5}">
                      <a16:colId xmlns:a16="http://schemas.microsoft.com/office/drawing/2014/main" val="3842725742"/>
                    </a:ext>
                  </a:extLst>
                </a:gridCol>
              </a:tblGrid>
              <a:tr h="0">
                <a:tc>
                  <a:txBody>
                    <a:bodyPr/>
                    <a:lstStyle/>
                    <a:p>
                      <a:pPr algn="l" fontAlgn="t"/>
                      <a:r>
                        <a:rPr lang="en-AU">
                          <a:effectLst/>
                        </a:rPr>
                        <a:t>•</a:t>
                      </a:r>
                    </a:p>
                  </a:txBody>
                  <a:tcPr marL="57150" marR="57150" marT="57150" marB="57150">
                    <a:lnL>
                      <a:noFill/>
                    </a:lnL>
                    <a:lnR>
                      <a:noFill/>
                    </a:lnR>
                    <a:lnT>
                      <a:noFill/>
                    </a:lnT>
                    <a:lnB>
                      <a:noFill/>
                    </a:lnB>
                    <a:solidFill>
                      <a:srgbClr val="FFFFFF"/>
                    </a:solidFill>
                  </a:tcPr>
                </a:tc>
                <a:tc>
                  <a:txBody>
                    <a:bodyPr/>
                    <a:lstStyle/>
                    <a:p>
                      <a:pPr algn="l" fontAlgn="ctr"/>
                      <a:r>
                        <a:rPr lang="en-AU">
                          <a:effectLst/>
                        </a:rPr>
                        <a:t>What causes elements to be </a:t>
                      </a:r>
                      <a:r>
                        <a:rPr lang="en-AU" b="1">
                          <a:effectLst/>
                        </a:rPr>
                        <a:t>metallic</a:t>
                      </a:r>
                      <a:r>
                        <a:rPr lang="en-AU">
                          <a:effectLst/>
                        </a:rPr>
                        <a:t> or </a:t>
                      </a:r>
                      <a:r>
                        <a:rPr lang="en-AU" b="1">
                          <a:effectLst/>
                        </a:rPr>
                        <a:t>non-metallic.</a:t>
                      </a:r>
                      <a:endParaRPr lang="en-AU">
                        <a:effectLst/>
                      </a:endParaRPr>
                    </a:p>
                  </a:txBody>
                  <a:tcPr marL="57150" marR="57150" marT="57150" marB="57150" anchor="ctr">
                    <a:lnL>
                      <a:noFill/>
                    </a:lnL>
                    <a:lnR>
                      <a:noFill/>
                    </a:lnR>
                    <a:lnT>
                      <a:noFill/>
                    </a:lnT>
                    <a:lnB>
                      <a:noFill/>
                    </a:lnB>
                    <a:solidFill>
                      <a:srgbClr val="FFFFFF"/>
                    </a:solidFill>
                  </a:tcPr>
                </a:tc>
                <a:extLst>
                  <a:ext uri="{0D108BD9-81ED-4DB2-BD59-A6C34878D82A}">
                    <a16:rowId xmlns:a16="http://schemas.microsoft.com/office/drawing/2014/main" val="964690681"/>
                  </a:ext>
                </a:extLst>
              </a:tr>
              <a:tr h="0">
                <a:tc>
                  <a:txBody>
                    <a:bodyPr/>
                    <a:lstStyle/>
                    <a:p>
                      <a:pPr algn="l" fontAlgn="t"/>
                      <a:r>
                        <a:rPr lang="en-AU">
                          <a:effectLst/>
                        </a:rPr>
                        <a:t>•</a:t>
                      </a:r>
                    </a:p>
                  </a:txBody>
                  <a:tcPr marL="57150" marR="57150" marT="57150" marB="57150">
                    <a:lnL>
                      <a:noFill/>
                    </a:lnL>
                    <a:lnR>
                      <a:noFill/>
                    </a:lnR>
                    <a:lnT>
                      <a:noFill/>
                    </a:lnT>
                    <a:lnB>
                      <a:noFill/>
                    </a:lnB>
                    <a:solidFill>
                      <a:srgbClr val="FFFFFF"/>
                    </a:solidFill>
                  </a:tcPr>
                </a:tc>
                <a:tc>
                  <a:txBody>
                    <a:bodyPr/>
                    <a:lstStyle/>
                    <a:p>
                      <a:pPr algn="l" fontAlgn="ctr"/>
                      <a:r>
                        <a:rPr lang="en-AU">
                          <a:effectLst/>
                        </a:rPr>
                        <a:t>How this </a:t>
                      </a:r>
                      <a:r>
                        <a:rPr lang="en-AU" b="1">
                          <a:effectLst/>
                        </a:rPr>
                        <a:t>character</a:t>
                      </a:r>
                      <a:r>
                        <a:rPr lang="en-AU">
                          <a:effectLst/>
                        </a:rPr>
                        <a:t> can be explained by the </a:t>
                      </a:r>
                      <a:r>
                        <a:rPr lang="en-AU" b="1">
                          <a:solidFill>
                            <a:srgbClr val="228B22"/>
                          </a:solidFill>
                          <a:effectLst/>
                        </a:rPr>
                        <a:t>electron configuration</a:t>
                      </a:r>
                      <a:r>
                        <a:rPr lang="en-AU">
                          <a:effectLst/>
                        </a:rPr>
                        <a:t> of an element.</a:t>
                      </a:r>
                    </a:p>
                  </a:txBody>
                  <a:tcPr marL="57150" marR="57150" marT="57150" marB="57150" anchor="ctr">
                    <a:lnL>
                      <a:noFill/>
                    </a:lnL>
                    <a:lnR>
                      <a:noFill/>
                    </a:lnR>
                    <a:lnT>
                      <a:noFill/>
                    </a:lnT>
                    <a:lnB>
                      <a:noFill/>
                    </a:lnB>
                    <a:solidFill>
                      <a:srgbClr val="FFFFFF"/>
                    </a:solidFill>
                  </a:tcPr>
                </a:tc>
                <a:extLst>
                  <a:ext uri="{0D108BD9-81ED-4DB2-BD59-A6C34878D82A}">
                    <a16:rowId xmlns:a16="http://schemas.microsoft.com/office/drawing/2014/main" val="3502138593"/>
                  </a:ext>
                </a:extLst>
              </a:tr>
              <a:tr h="0">
                <a:tc>
                  <a:txBody>
                    <a:bodyPr/>
                    <a:lstStyle/>
                    <a:p>
                      <a:pPr algn="l" fontAlgn="t"/>
                      <a:r>
                        <a:rPr lang="en-AU">
                          <a:effectLst/>
                        </a:rPr>
                        <a:t>•</a:t>
                      </a:r>
                    </a:p>
                  </a:txBody>
                  <a:tcPr marL="57150" marR="57150" marT="57150" marB="57150">
                    <a:lnL>
                      <a:noFill/>
                    </a:lnL>
                    <a:lnR>
                      <a:noFill/>
                    </a:lnR>
                    <a:lnT>
                      <a:noFill/>
                    </a:lnT>
                    <a:lnB>
                      <a:noFill/>
                    </a:lnB>
                    <a:solidFill>
                      <a:srgbClr val="FFFFFF"/>
                    </a:solidFill>
                  </a:tcPr>
                </a:tc>
                <a:tc>
                  <a:txBody>
                    <a:bodyPr/>
                    <a:lstStyle/>
                    <a:p>
                      <a:pPr algn="l" fontAlgn="ctr"/>
                      <a:r>
                        <a:rPr lang="en-AU" dirty="0">
                          <a:effectLst/>
                        </a:rPr>
                        <a:t>That the </a:t>
                      </a:r>
                      <a:r>
                        <a:rPr lang="en-AU" b="1" dirty="0">
                          <a:effectLst/>
                        </a:rPr>
                        <a:t>metallic or non-metallic character</a:t>
                      </a:r>
                      <a:r>
                        <a:rPr lang="en-AU" dirty="0">
                          <a:effectLst/>
                        </a:rPr>
                        <a:t> of an element can be determined based on its position in the </a:t>
                      </a:r>
                      <a:r>
                        <a:rPr lang="en-AU" b="1" dirty="0">
                          <a:solidFill>
                            <a:srgbClr val="E04E50"/>
                          </a:solidFill>
                          <a:effectLst/>
                        </a:rPr>
                        <a:t>periodic table</a:t>
                      </a:r>
                      <a:r>
                        <a:rPr lang="en-AU" dirty="0">
                          <a:effectLst/>
                        </a:rPr>
                        <a:t>.</a:t>
                      </a:r>
                    </a:p>
                  </a:txBody>
                  <a:tcPr marL="57150" marR="57150" marT="57150" marB="57150" anchor="ctr">
                    <a:lnL>
                      <a:noFill/>
                    </a:lnL>
                    <a:lnR>
                      <a:noFill/>
                    </a:lnR>
                    <a:lnT>
                      <a:noFill/>
                    </a:lnT>
                    <a:lnB>
                      <a:noFill/>
                    </a:lnB>
                    <a:solidFill>
                      <a:srgbClr val="FFFFFF"/>
                    </a:solidFill>
                  </a:tcPr>
                </a:tc>
                <a:extLst>
                  <a:ext uri="{0D108BD9-81ED-4DB2-BD59-A6C34878D82A}">
                    <a16:rowId xmlns:a16="http://schemas.microsoft.com/office/drawing/2014/main" val="900756204"/>
                  </a:ext>
                </a:extLst>
              </a:tr>
            </a:tbl>
          </a:graphicData>
        </a:graphic>
      </p:graphicFrame>
      <p:pic>
        <p:nvPicPr>
          <p:cNvPr id="20483" name="Picture 3" descr="https://www.educationperfect.com/media/content/Science/1491790237.535471g/1491790242670-1593301128695777-800.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24101" y="2643664"/>
            <a:ext cx="6732623" cy="377971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56617905"/>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33400" y="591741"/>
            <a:ext cx="11074400" cy="2308324"/>
          </a:xfrm>
          <a:prstGeom prst="rect">
            <a:avLst/>
          </a:prstGeom>
        </p:spPr>
        <p:txBody>
          <a:bodyPr wrap="square">
            <a:spAutoFit/>
          </a:bodyPr>
          <a:lstStyle/>
          <a:p>
            <a:pPr algn="ctr"/>
            <a:r>
              <a:rPr lang="en-AU" b="0" i="0" dirty="0" smtClean="0">
                <a:solidFill>
                  <a:srgbClr val="444444"/>
                </a:solidFill>
                <a:effectLst/>
                <a:latin typeface="Arial" panose="020B0604020202020204" pitchFamily="34" charset="0"/>
              </a:rPr>
              <a:t>Another trend in the periodic table is </a:t>
            </a:r>
            <a:r>
              <a:rPr lang="en-AU" b="1" i="0" dirty="0" smtClean="0">
                <a:solidFill>
                  <a:srgbClr val="444444"/>
                </a:solidFill>
                <a:effectLst/>
                <a:latin typeface="Arial" panose="020B0604020202020204" pitchFamily="34" charset="0"/>
              </a:rPr>
              <a:t>metallic character</a:t>
            </a:r>
            <a:r>
              <a:rPr lang="en-AU" b="0" i="0" dirty="0" smtClean="0">
                <a:solidFill>
                  <a:srgbClr val="444444"/>
                </a:solidFill>
                <a:effectLst/>
                <a:latin typeface="Arial" panose="020B0604020202020204" pitchFamily="34" charset="0"/>
              </a:rPr>
              <a:t>. This refers to how </a:t>
            </a:r>
            <a:r>
              <a:rPr lang="en-AU" b="1" i="1" dirty="0" smtClean="0">
                <a:solidFill>
                  <a:srgbClr val="444444"/>
                </a:solidFill>
                <a:effectLst/>
                <a:latin typeface="Arial" panose="020B0604020202020204" pitchFamily="34" charset="0"/>
              </a:rPr>
              <a:t>metallic</a:t>
            </a:r>
            <a:r>
              <a:rPr lang="en-AU" b="0" i="0" dirty="0" smtClean="0">
                <a:solidFill>
                  <a:srgbClr val="444444"/>
                </a:solidFill>
                <a:effectLst/>
                <a:latin typeface="Arial" panose="020B0604020202020204" pitchFamily="34" charset="0"/>
              </a:rPr>
              <a:t> an element is, based on other properties such as </a:t>
            </a:r>
            <a:r>
              <a:rPr lang="en-AU" b="1" i="0" dirty="0" smtClean="0">
                <a:solidFill>
                  <a:srgbClr val="228B22"/>
                </a:solidFill>
                <a:effectLst/>
                <a:latin typeface="Arial" panose="020B0604020202020204" pitchFamily="34" charset="0"/>
              </a:rPr>
              <a:t>electrical</a:t>
            </a:r>
            <a:r>
              <a:rPr lang="en-AU" b="1" i="0" dirty="0" smtClean="0">
                <a:solidFill>
                  <a:srgbClr val="444444"/>
                </a:solidFill>
                <a:effectLst/>
                <a:latin typeface="Arial" panose="020B0604020202020204" pitchFamily="34" charset="0"/>
              </a:rPr>
              <a:t> and </a:t>
            </a:r>
            <a:r>
              <a:rPr lang="en-AU" b="1" i="0" dirty="0" smtClean="0">
                <a:solidFill>
                  <a:srgbClr val="E04E50"/>
                </a:solidFill>
                <a:effectLst/>
                <a:latin typeface="Arial" panose="020B0604020202020204" pitchFamily="34" charset="0"/>
              </a:rPr>
              <a:t>thermal conductivity</a:t>
            </a:r>
            <a:r>
              <a:rPr lang="en-AU" b="0" i="0" dirty="0" smtClean="0">
                <a:solidFill>
                  <a:srgbClr val="444444"/>
                </a:solidFill>
                <a:effectLst/>
                <a:latin typeface="Arial" panose="020B0604020202020204" pitchFamily="34" charset="0"/>
              </a:rPr>
              <a:t>, and how easily it can be </a:t>
            </a:r>
            <a:r>
              <a:rPr lang="en-AU" b="1" i="0" dirty="0" smtClean="0">
                <a:solidFill>
                  <a:srgbClr val="0066CC"/>
                </a:solidFill>
                <a:effectLst/>
                <a:latin typeface="Arial" panose="020B0604020202020204" pitchFamily="34" charset="0"/>
              </a:rPr>
              <a:t>bent</a:t>
            </a:r>
            <a:r>
              <a:rPr lang="en-AU" b="0" i="0" dirty="0" smtClean="0">
                <a:solidFill>
                  <a:srgbClr val="444444"/>
                </a:solidFill>
                <a:effectLst/>
                <a:latin typeface="Arial" panose="020B0604020202020204" pitchFamily="34" charset="0"/>
              </a:rPr>
              <a:t>.</a:t>
            </a:r>
          </a:p>
          <a:p>
            <a:pPr algn="ctr"/>
            <a:r>
              <a:rPr lang="en-AU" b="0" i="0" dirty="0" smtClean="0">
                <a:solidFill>
                  <a:srgbClr val="444444"/>
                </a:solidFill>
                <a:effectLst/>
                <a:latin typeface="Arial" panose="020B0604020202020204" pitchFamily="34" charset="0"/>
              </a:rPr>
              <a:t> </a:t>
            </a:r>
          </a:p>
          <a:p>
            <a:pPr algn="ctr"/>
            <a:r>
              <a:rPr lang="en-AU" b="0" i="0" dirty="0" smtClean="0">
                <a:solidFill>
                  <a:srgbClr val="444444"/>
                </a:solidFill>
                <a:effectLst/>
                <a:latin typeface="Arial" panose="020B0604020202020204" pitchFamily="34" charset="0"/>
              </a:rPr>
              <a:t>Most of the </a:t>
            </a:r>
            <a:r>
              <a:rPr lang="en-AU" b="1" i="0" dirty="0" smtClean="0">
                <a:solidFill>
                  <a:srgbClr val="444444"/>
                </a:solidFill>
                <a:effectLst/>
                <a:latin typeface="Arial" panose="020B0604020202020204" pitchFamily="34" charset="0"/>
              </a:rPr>
              <a:t>properties</a:t>
            </a:r>
            <a:r>
              <a:rPr lang="en-AU" b="0" i="0" dirty="0" smtClean="0">
                <a:solidFill>
                  <a:srgbClr val="444444"/>
                </a:solidFill>
                <a:effectLst/>
                <a:latin typeface="Arial" panose="020B0604020202020204" pitchFamily="34" charset="0"/>
              </a:rPr>
              <a:t> of a metal can be explained by how strong the </a:t>
            </a:r>
            <a:r>
              <a:rPr lang="en-AU" b="1" i="0" dirty="0" smtClean="0">
                <a:solidFill>
                  <a:srgbClr val="444444"/>
                </a:solidFill>
                <a:effectLst/>
                <a:latin typeface="Arial" panose="020B0604020202020204" pitchFamily="34" charset="0"/>
              </a:rPr>
              <a:t>attraction</a:t>
            </a:r>
            <a:r>
              <a:rPr lang="en-AU" b="0" i="0" dirty="0" smtClean="0">
                <a:solidFill>
                  <a:srgbClr val="444444"/>
                </a:solidFill>
                <a:effectLst/>
                <a:latin typeface="Arial" panose="020B0604020202020204" pitchFamily="34" charset="0"/>
              </a:rPr>
              <a:t> between the nucleus and electrons is.</a:t>
            </a:r>
          </a:p>
          <a:p>
            <a:pPr algn="ctr"/>
            <a:r>
              <a:rPr lang="en-AU" b="0" i="0" dirty="0" smtClean="0">
                <a:solidFill>
                  <a:srgbClr val="444444"/>
                </a:solidFill>
                <a:effectLst/>
                <a:latin typeface="Arial" panose="020B0604020202020204" pitchFamily="34" charset="0"/>
              </a:rPr>
              <a:t> </a:t>
            </a:r>
          </a:p>
          <a:p>
            <a:pPr algn="ctr"/>
            <a:r>
              <a:rPr lang="en-AU" b="0" i="0" dirty="0" smtClean="0">
                <a:solidFill>
                  <a:srgbClr val="444444"/>
                </a:solidFill>
                <a:effectLst/>
                <a:latin typeface="Arial" panose="020B0604020202020204" pitchFamily="34" charset="0"/>
              </a:rPr>
              <a:t>For example </a:t>
            </a:r>
            <a:r>
              <a:rPr lang="en-AU" b="1" i="0" dirty="0" smtClean="0">
                <a:solidFill>
                  <a:srgbClr val="228B22"/>
                </a:solidFill>
                <a:effectLst/>
                <a:latin typeface="Arial" panose="020B0604020202020204" pitchFamily="34" charset="0"/>
              </a:rPr>
              <a:t>electrical conductivity</a:t>
            </a:r>
            <a:r>
              <a:rPr lang="en-AU" b="0" i="0" dirty="0" smtClean="0">
                <a:solidFill>
                  <a:srgbClr val="444444"/>
                </a:solidFill>
                <a:effectLst/>
                <a:latin typeface="Arial" panose="020B0604020202020204" pitchFamily="34" charset="0"/>
              </a:rPr>
              <a:t> can be explained as electrons being able to move through metal. The less attraction between the electrons and nucleus the more conductive a metal is.</a:t>
            </a:r>
            <a:endParaRPr lang="en-AU" b="0" i="0" dirty="0">
              <a:solidFill>
                <a:srgbClr val="444444"/>
              </a:solidFill>
              <a:effectLst/>
              <a:latin typeface="Arial" panose="020B0604020202020204" pitchFamily="34" charset="0"/>
            </a:endParaRPr>
          </a:p>
        </p:txBody>
      </p:sp>
      <p:pic>
        <p:nvPicPr>
          <p:cNvPr id="21506" name="Picture 2" descr="https://www.educationperfect.com/media/content/German/1450043360.195561g/1450043383313-4043342282182306-optimised.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44975" y="3594100"/>
            <a:ext cx="4057650" cy="2667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6242689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707347" y="691634"/>
            <a:ext cx="4262705" cy="369332"/>
          </a:xfrm>
          <a:prstGeom prst="rect">
            <a:avLst/>
          </a:prstGeom>
        </p:spPr>
        <p:txBody>
          <a:bodyPr wrap="none">
            <a:spAutoFit/>
          </a:bodyPr>
          <a:lstStyle/>
          <a:p>
            <a:r>
              <a:rPr lang="en-AU" b="1" i="0" dirty="0" smtClean="0">
                <a:solidFill>
                  <a:srgbClr val="0066CC"/>
                </a:solidFill>
                <a:effectLst/>
                <a:latin typeface="Arial" panose="020B0604020202020204" pitchFamily="34" charset="0"/>
              </a:rPr>
              <a:t>Metals</a:t>
            </a:r>
            <a:r>
              <a:rPr lang="en-AU" b="0" i="0" dirty="0" smtClean="0">
                <a:solidFill>
                  <a:srgbClr val="444444"/>
                </a:solidFill>
                <a:effectLst/>
                <a:latin typeface="Arial" panose="020B0604020202020204" pitchFamily="34" charset="0"/>
              </a:rPr>
              <a:t> all have the following properties:</a:t>
            </a:r>
            <a:endParaRPr lang="en-AU" dirty="0"/>
          </a:p>
        </p:txBody>
      </p:sp>
      <p:pic>
        <p:nvPicPr>
          <p:cNvPr id="3" name="Picture 2"/>
          <p:cNvPicPr>
            <a:picLocks noChangeAspect="1"/>
          </p:cNvPicPr>
          <p:nvPr/>
        </p:nvPicPr>
        <p:blipFill>
          <a:blip r:embed="rId2"/>
          <a:stretch>
            <a:fillRect/>
          </a:stretch>
        </p:blipFill>
        <p:spPr>
          <a:xfrm>
            <a:off x="1792287" y="1411287"/>
            <a:ext cx="8837613" cy="4864339"/>
          </a:xfrm>
          <a:prstGeom prst="rect">
            <a:avLst/>
          </a:prstGeom>
        </p:spPr>
      </p:pic>
    </p:spTree>
    <p:extLst>
      <p:ext uri="{BB962C8B-B14F-4D97-AF65-F5344CB8AC3E}">
        <p14:creationId xmlns:p14="http://schemas.microsoft.com/office/powerpoint/2010/main" val="41357852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15900" y="839738"/>
            <a:ext cx="11557000" cy="1477328"/>
          </a:xfrm>
          <a:prstGeom prst="rect">
            <a:avLst/>
          </a:prstGeom>
        </p:spPr>
        <p:txBody>
          <a:bodyPr wrap="square">
            <a:spAutoFit/>
          </a:bodyPr>
          <a:lstStyle/>
          <a:p>
            <a:pPr algn="ctr"/>
            <a:r>
              <a:rPr lang="en-AU" b="0" i="0" dirty="0" smtClean="0">
                <a:solidFill>
                  <a:srgbClr val="444444"/>
                </a:solidFill>
                <a:effectLst/>
                <a:latin typeface="Arial" panose="020B0604020202020204" pitchFamily="34" charset="0"/>
              </a:rPr>
              <a:t>The metallic character decreases across a period and increases going down a group. The "most metallic" elements are located at the </a:t>
            </a:r>
            <a:r>
              <a:rPr lang="en-AU" b="1" i="0" dirty="0" smtClean="0">
                <a:solidFill>
                  <a:srgbClr val="444444"/>
                </a:solidFill>
                <a:effectLst/>
                <a:latin typeface="Arial" panose="020B0604020202020204" pitchFamily="34" charset="0"/>
              </a:rPr>
              <a:t>bottom-left</a:t>
            </a:r>
            <a:r>
              <a:rPr lang="en-AU" b="0" i="0" dirty="0" smtClean="0">
                <a:solidFill>
                  <a:srgbClr val="444444"/>
                </a:solidFill>
                <a:effectLst/>
                <a:latin typeface="Arial" panose="020B0604020202020204" pitchFamily="34" charset="0"/>
              </a:rPr>
              <a:t> of the periodic table.</a:t>
            </a:r>
          </a:p>
          <a:p>
            <a:pPr algn="ctr"/>
            <a:r>
              <a:rPr lang="en-AU" b="0" i="0" dirty="0" smtClean="0">
                <a:solidFill>
                  <a:srgbClr val="444444"/>
                </a:solidFill>
                <a:effectLst/>
                <a:latin typeface="Arial" panose="020B0604020202020204" pitchFamily="34" charset="0"/>
              </a:rPr>
              <a:t> </a:t>
            </a:r>
          </a:p>
          <a:p>
            <a:pPr algn="ctr"/>
            <a:r>
              <a:rPr lang="en-AU" b="0" i="0" dirty="0" smtClean="0">
                <a:solidFill>
                  <a:srgbClr val="444444"/>
                </a:solidFill>
                <a:effectLst/>
                <a:latin typeface="Arial" panose="020B0604020202020204" pitchFamily="34" charset="0"/>
              </a:rPr>
              <a:t>The periodic table can also be divided into </a:t>
            </a:r>
            <a:r>
              <a:rPr lang="en-AU" b="1" i="0" dirty="0" smtClean="0">
                <a:solidFill>
                  <a:srgbClr val="444444"/>
                </a:solidFill>
                <a:effectLst/>
                <a:latin typeface="Arial" panose="020B0604020202020204" pitchFamily="34" charset="0"/>
              </a:rPr>
              <a:t>metals</a:t>
            </a:r>
            <a:r>
              <a:rPr lang="en-AU" b="0" i="0" dirty="0" smtClean="0">
                <a:solidFill>
                  <a:srgbClr val="444444"/>
                </a:solidFill>
                <a:effectLst/>
                <a:latin typeface="Arial" panose="020B0604020202020204" pitchFamily="34" charset="0"/>
              </a:rPr>
              <a:t>, </a:t>
            </a:r>
            <a:r>
              <a:rPr lang="en-AU" b="1" i="0" dirty="0" smtClean="0">
                <a:solidFill>
                  <a:srgbClr val="444444"/>
                </a:solidFill>
                <a:effectLst/>
                <a:latin typeface="Arial" panose="020B0604020202020204" pitchFamily="34" charset="0"/>
              </a:rPr>
              <a:t>non-metals</a:t>
            </a:r>
            <a:r>
              <a:rPr lang="en-AU" b="0" i="0" dirty="0" smtClean="0">
                <a:solidFill>
                  <a:srgbClr val="444444"/>
                </a:solidFill>
                <a:effectLst/>
                <a:latin typeface="Arial" panose="020B0604020202020204" pitchFamily="34" charset="0"/>
              </a:rPr>
              <a:t> and </a:t>
            </a:r>
            <a:r>
              <a:rPr lang="en-AU" b="1" i="1" dirty="0" smtClean="0">
                <a:solidFill>
                  <a:srgbClr val="444444"/>
                </a:solidFill>
                <a:effectLst/>
                <a:latin typeface="Arial" panose="020B0604020202020204" pitchFamily="34" charset="0"/>
              </a:rPr>
              <a:t>metalloids</a:t>
            </a:r>
            <a:r>
              <a:rPr lang="en-AU" b="0" i="0" dirty="0" smtClean="0">
                <a:solidFill>
                  <a:srgbClr val="444444"/>
                </a:solidFill>
                <a:effectLst/>
                <a:latin typeface="Arial" panose="020B0604020202020204" pitchFamily="34" charset="0"/>
              </a:rPr>
              <a:t> which have both metal and non-metal characteristics.</a:t>
            </a:r>
            <a:endParaRPr lang="en-AU" b="0" i="0" dirty="0">
              <a:solidFill>
                <a:srgbClr val="444444"/>
              </a:solidFill>
              <a:effectLst/>
              <a:latin typeface="Arial" panose="020B0604020202020204" pitchFamily="34" charset="0"/>
            </a:endParaRPr>
          </a:p>
        </p:txBody>
      </p:sp>
      <p:pic>
        <p:nvPicPr>
          <p:cNvPr id="22530" name="Picture 2" descr="https://www.educationperfect.com/media/content/Science/1433388903.66461g/1433388902332-305849906-400.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98800" y="3134150"/>
            <a:ext cx="6607175" cy="294756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0952664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554" name="Picture 2" descr="https://www.educationperfect.com/media/content/Science/1433388903.66461g/1433388902332-305849906-400.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36875" y="296862"/>
            <a:ext cx="5597514" cy="2497138"/>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p:cNvSpPr/>
          <p:nvPr/>
        </p:nvSpPr>
        <p:spPr>
          <a:xfrm>
            <a:off x="1079500" y="3536940"/>
            <a:ext cx="9550400" cy="2031325"/>
          </a:xfrm>
          <a:prstGeom prst="rect">
            <a:avLst/>
          </a:prstGeom>
        </p:spPr>
        <p:txBody>
          <a:bodyPr wrap="square">
            <a:spAutoFit/>
          </a:bodyPr>
          <a:lstStyle/>
          <a:p>
            <a:pPr algn="ctr"/>
            <a:r>
              <a:rPr lang="en-AU" b="0" i="0" dirty="0" smtClean="0">
                <a:solidFill>
                  <a:srgbClr val="444444"/>
                </a:solidFill>
                <a:effectLst/>
                <a:latin typeface="Arial" panose="020B0604020202020204" pitchFamily="34" charset="0"/>
              </a:rPr>
              <a:t>When going across a </a:t>
            </a:r>
            <a:r>
              <a:rPr lang="en-AU" b="1" i="0" dirty="0" smtClean="0">
                <a:solidFill>
                  <a:srgbClr val="0066CC"/>
                </a:solidFill>
                <a:effectLst/>
                <a:latin typeface="Arial" panose="020B0604020202020204" pitchFamily="34" charset="0"/>
              </a:rPr>
              <a:t>period</a:t>
            </a:r>
            <a:r>
              <a:rPr lang="en-AU" b="0" i="0" dirty="0" smtClean="0">
                <a:solidFill>
                  <a:srgbClr val="444444"/>
                </a:solidFill>
                <a:effectLst/>
                <a:latin typeface="Arial" panose="020B0604020202020204" pitchFamily="34" charset="0"/>
              </a:rPr>
              <a:t> the </a:t>
            </a:r>
            <a:r>
              <a:rPr lang="en-AU" b="1" i="0" dirty="0" smtClean="0">
                <a:solidFill>
                  <a:srgbClr val="444444"/>
                </a:solidFill>
                <a:effectLst/>
                <a:latin typeface="Arial" panose="020B0604020202020204" pitchFamily="34" charset="0"/>
              </a:rPr>
              <a:t>metallic character</a:t>
            </a:r>
            <a:r>
              <a:rPr lang="en-AU" b="0" i="0" dirty="0" smtClean="0">
                <a:solidFill>
                  <a:srgbClr val="444444"/>
                </a:solidFill>
                <a:effectLst/>
                <a:latin typeface="Arial" panose="020B0604020202020204" pitchFamily="34" charset="0"/>
              </a:rPr>
              <a:t> of elements </a:t>
            </a:r>
            <a:r>
              <a:rPr lang="en-AU" b="0" i="1" dirty="0" smtClean="0">
                <a:solidFill>
                  <a:srgbClr val="444444"/>
                </a:solidFill>
                <a:effectLst/>
                <a:latin typeface="Arial" panose="020B0604020202020204" pitchFamily="34" charset="0"/>
              </a:rPr>
              <a:t>decreases</a:t>
            </a:r>
            <a:r>
              <a:rPr lang="en-AU" b="0" i="0" dirty="0" smtClean="0">
                <a:solidFill>
                  <a:srgbClr val="444444"/>
                </a:solidFill>
                <a:effectLst/>
                <a:latin typeface="Arial" panose="020B0604020202020204" pitchFamily="34" charset="0"/>
              </a:rPr>
              <a:t>. This is because the </a:t>
            </a:r>
            <a:r>
              <a:rPr lang="en-AU" b="1" i="0" dirty="0" smtClean="0">
                <a:solidFill>
                  <a:srgbClr val="228B22"/>
                </a:solidFill>
                <a:effectLst/>
                <a:latin typeface="Arial" panose="020B0604020202020204" pitchFamily="34" charset="0"/>
              </a:rPr>
              <a:t>valence electrons</a:t>
            </a:r>
            <a:r>
              <a:rPr lang="en-AU" b="0" i="0" dirty="0" smtClean="0">
                <a:solidFill>
                  <a:srgbClr val="444444"/>
                </a:solidFill>
                <a:effectLst/>
                <a:latin typeface="Arial" panose="020B0604020202020204" pitchFamily="34" charset="0"/>
              </a:rPr>
              <a:t> stay in the same </a:t>
            </a:r>
            <a:r>
              <a:rPr lang="en-AU" b="1" i="0" dirty="0" smtClean="0">
                <a:solidFill>
                  <a:srgbClr val="444444"/>
                </a:solidFill>
                <a:effectLst/>
                <a:latin typeface="Arial" panose="020B0604020202020204" pitchFamily="34" charset="0"/>
              </a:rPr>
              <a:t>electron shell</a:t>
            </a:r>
            <a:r>
              <a:rPr lang="en-AU" b="0" i="0" dirty="0" smtClean="0">
                <a:solidFill>
                  <a:srgbClr val="444444"/>
                </a:solidFill>
                <a:effectLst/>
                <a:latin typeface="Arial" panose="020B0604020202020204" pitchFamily="34" charset="0"/>
              </a:rPr>
              <a:t>, but more protons are added to the nucleus. This in turn causes electrons to be </a:t>
            </a:r>
            <a:r>
              <a:rPr lang="en-AU" b="1" i="1" dirty="0" smtClean="0">
                <a:solidFill>
                  <a:srgbClr val="444444"/>
                </a:solidFill>
                <a:effectLst/>
                <a:latin typeface="Arial" panose="020B0604020202020204" pitchFamily="34" charset="0"/>
              </a:rPr>
              <a:t>more attracted</a:t>
            </a:r>
            <a:r>
              <a:rPr lang="en-AU" b="0" i="0" dirty="0" smtClean="0">
                <a:solidFill>
                  <a:srgbClr val="444444"/>
                </a:solidFill>
                <a:effectLst/>
                <a:latin typeface="Arial" panose="020B0604020202020204" pitchFamily="34" charset="0"/>
              </a:rPr>
              <a:t> to the nucleus.</a:t>
            </a:r>
          </a:p>
          <a:p>
            <a:pPr algn="ctr"/>
            <a:r>
              <a:rPr lang="en-AU" b="0" i="0" dirty="0" smtClean="0">
                <a:solidFill>
                  <a:srgbClr val="444444"/>
                </a:solidFill>
                <a:effectLst/>
                <a:latin typeface="Arial" panose="020B0604020202020204" pitchFamily="34" charset="0"/>
              </a:rPr>
              <a:t> </a:t>
            </a:r>
          </a:p>
          <a:p>
            <a:pPr algn="ctr"/>
            <a:r>
              <a:rPr lang="en-AU" b="0" i="0" dirty="0" smtClean="0">
                <a:solidFill>
                  <a:srgbClr val="444444"/>
                </a:solidFill>
                <a:effectLst/>
                <a:latin typeface="Arial" panose="020B0604020202020204" pitchFamily="34" charset="0"/>
              </a:rPr>
              <a:t>When going down a </a:t>
            </a:r>
            <a:r>
              <a:rPr lang="en-AU" b="1" i="0" dirty="0" smtClean="0">
                <a:solidFill>
                  <a:srgbClr val="E04E50"/>
                </a:solidFill>
                <a:effectLst/>
                <a:latin typeface="Arial" panose="020B0604020202020204" pitchFamily="34" charset="0"/>
              </a:rPr>
              <a:t>group</a:t>
            </a:r>
            <a:r>
              <a:rPr lang="en-AU" b="0" i="0" dirty="0" smtClean="0">
                <a:solidFill>
                  <a:srgbClr val="444444"/>
                </a:solidFill>
                <a:effectLst/>
                <a:latin typeface="Arial" panose="020B0604020202020204" pitchFamily="34" charset="0"/>
              </a:rPr>
              <a:t> the </a:t>
            </a:r>
            <a:r>
              <a:rPr lang="en-AU" b="1" i="0" dirty="0" smtClean="0">
                <a:solidFill>
                  <a:srgbClr val="444444"/>
                </a:solidFill>
                <a:effectLst/>
                <a:latin typeface="Arial" panose="020B0604020202020204" pitchFamily="34" charset="0"/>
              </a:rPr>
              <a:t>metallic character</a:t>
            </a:r>
            <a:r>
              <a:rPr lang="en-AU" b="0" i="0" dirty="0" smtClean="0">
                <a:solidFill>
                  <a:srgbClr val="444444"/>
                </a:solidFill>
                <a:effectLst/>
                <a:latin typeface="Arial" panose="020B0604020202020204" pitchFamily="34" charset="0"/>
              </a:rPr>
              <a:t> of elements </a:t>
            </a:r>
            <a:r>
              <a:rPr lang="en-AU" b="0" i="1" dirty="0" smtClean="0">
                <a:solidFill>
                  <a:srgbClr val="444444"/>
                </a:solidFill>
                <a:effectLst/>
                <a:latin typeface="Arial" panose="020B0604020202020204" pitchFamily="34" charset="0"/>
              </a:rPr>
              <a:t>increases</a:t>
            </a:r>
            <a:r>
              <a:rPr lang="en-AU" b="0" i="0" dirty="0" smtClean="0">
                <a:solidFill>
                  <a:srgbClr val="444444"/>
                </a:solidFill>
                <a:effectLst/>
                <a:latin typeface="Arial" panose="020B0604020202020204" pitchFamily="34" charset="0"/>
              </a:rPr>
              <a:t>. This is because of the additional </a:t>
            </a:r>
            <a:r>
              <a:rPr lang="en-AU" b="1" i="0" dirty="0" smtClean="0">
                <a:solidFill>
                  <a:srgbClr val="0066CC"/>
                </a:solidFill>
                <a:effectLst/>
                <a:latin typeface="Arial" panose="020B0604020202020204" pitchFamily="34" charset="0"/>
              </a:rPr>
              <a:t>electron shells</a:t>
            </a:r>
            <a:r>
              <a:rPr lang="en-AU" b="0" i="0" dirty="0" smtClean="0">
                <a:solidFill>
                  <a:srgbClr val="444444"/>
                </a:solidFill>
                <a:effectLst/>
                <a:latin typeface="Arial" panose="020B0604020202020204" pitchFamily="34" charset="0"/>
              </a:rPr>
              <a:t> which place the </a:t>
            </a:r>
            <a:r>
              <a:rPr lang="en-AU" b="1" i="0" dirty="0" smtClean="0">
                <a:solidFill>
                  <a:srgbClr val="228B22"/>
                </a:solidFill>
                <a:effectLst/>
                <a:latin typeface="Arial" panose="020B0604020202020204" pitchFamily="34" charset="0"/>
              </a:rPr>
              <a:t>valence electrons</a:t>
            </a:r>
            <a:r>
              <a:rPr lang="en-AU" b="0" i="0" dirty="0" smtClean="0">
                <a:solidFill>
                  <a:srgbClr val="444444"/>
                </a:solidFill>
                <a:effectLst/>
                <a:latin typeface="Arial" panose="020B0604020202020204" pitchFamily="34" charset="0"/>
              </a:rPr>
              <a:t> farther from the nucleus. Subsequently this </a:t>
            </a:r>
            <a:r>
              <a:rPr lang="en-AU" b="1" i="1" dirty="0" smtClean="0">
                <a:solidFill>
                  <a:srgbClr val="444444"/>
                </a:solidFill>
                <a:effectLst/>
                <a:latin typeface="Arial" panose="020B0604020202020204" pitchFamily="34" charset="0"/>
              </a:rPr>
              <a:t>reduces</a:t>
            </a:r>
            <a:r>
              <a:rPr lang="en-AU" b="0" i="0" dirty="0" smtClean="0">
                <a:solidFill>
                  <a:srgbClr val="444444"/>
                </a:solidFill>
                <a:effectLst/>
                <a:latin typeface="Arial" panose="020B0604020202020204" pitchFamily="34" charset="0"/>
              </a:rPr>
              <a:t> the attraction between the electrons and the nucleus.</a:t>
            </a:r>
            <a:endParaRPr lang="en-AU" b="0" i="0" dirty="0">
              <a:solidFill>
                <a:srgbClr val="444444"/>
              </a:solidFill>
              <a:effectLst/>
              <a:latin typeface="Arial" panose="020B0604020202020204" pitchFamily="34" charset="0"/>
            </a:endParaRPr>
          </a:p>
        </p:txBody>
      </p:sp>
    </p:spTree>
    <p:extLst>
      <p:ext uri="{BB962C8B-B14F-4D97-AF65-F5344CB8AC3E}">
        <p14:creationId xmlns:p14="http://schemas.microsoft.com/office/powerpoint/2010/main" val="363172882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30200" y="862737"/>
            <a:ext cx="11125200" cy="923330"/>
          </a:xfrm>
          <a:prstGeom prst="rect">
            <a:avLst/>
          </a:prstGeom>
        </p:spPr>
        <p:txBody>
          <a:bodyPr wrap="square">
            <a:spAutoFit/>
          </a:bodyPr>
          <a:lstStyle/>
          <a:p>
            <a:r>
              <a:rPr lang="en-AU" b="0" i="0" dirty="0" smtClean="0">
                <a:solidFill>
                  <a:srgbClr val="444444"/>
                </a:solidFill>
                <a:effectLst/>
                <a:latin typeface="Arial" panose="020B0604020202020204" pitchFamily="34" charset="0"/>
              </a:rPr>
              <a:t>The first Group of the periodic table is the </a:t>
            </a:r>
            <a:r>
              <a:rPr lang="en-AU" b="1" i="0" dirty="0" smtClean="0">
                <a:solidFill>
                  <a:srgbClr val="E04E50"/>
                </a:solidFill>
                <a:effectLst/>
                <a:latin typeface="Arial" panose="020B0604020202020204" pitchFamily="34" charset="0"/>
              </a:rPr>
              <a:t>alkali metals.</a:t>
            </a:r>
            <a:r>
              <a:rPr lang="en-AU" b="0" i="0" dirty="0" smtClean="0">
                <a:solidFill>
                  <a:srgbClr val="444444"/>
                </a:solidFill>
                <a:effectLst/>
                <a:latin typeface="Arial" panose="020B0604020202020204" pitchFamily="34" charset="0"/>
              </a:rPr>
              <a:t> These are on the far left of the table (Group I) and show mostly typical metallic properties. Hydrogen is often drawn at the top of this group, as it has one valence electron, but it is NOT an alkali metal and has very different properties.</a:t>
            </a:r>
            <a:endParaRPr lang="en-AU" dirty="0"/>
          </a:p>
        </p:txBody>
      </p:sp>
      <p:pic>
        <p:nvPicPr>
          <p:cNvPr id="24578" name="Picture 2" descr="https://www.educationperfect.com/media/content/Science/1492746709.498931g/1492746717998-3775497507614283-800.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82800" y="2509837"/>
            <a:ext cx="7620000" cy="31623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5689358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96900" y="391636"/>
            <a:ext cx="10744200" cy="1200329"/>
          </a:xfrm>
          <a:prstGeom prst="rect">
            <a:avLst/>
          </a:prstGeom>
        </p:spPr>
        <p:txBody>
          <a:bodyPr wrap="square">
            <a:spAutoFit/>
          </a:bodyPr>
          <a:lstStyle/>
          <a:p>
            <a:pPr algn="ctr"/>
            <a:r>
              <a:rPr lang="en-AU" b="0" i="0" dirty="0" smtClean="0">
                <a:solidFill>
                  <a:srgbClr val="444444"/>
                </a:solidFill>
                <a:effectLst/>
                <a:latin typeface="Arial" panose="020B0604020202020204" pitchFamily="34" charset="0"/>
              </a:rPr>
              <a:t>Group </a:t>
            </a:r>
            <a:r>
              <a:rPr lang="en-AU" b="0" i="0" dirty="0" smtClean="0">
                <a:solidFill>
                  <a:srgbClr val="444444"/>
                </a:solidFill>
                <a:effectLst/>
                <a:latin typeface="KaTeX_Main"/>
              </a:rPr>
              <a:t>1</a:t>
            </a:r>
            <a:r>
              <a:rPr lang="en-AU" b="0" i="0" dirty="0" smtClean="0">
                <a:solidFill>
                  <a:srgbClr val="444444"/>
                </a:solidFill>
                <a:effectLst/>
                <a:latin typeface="Arial" panose="020B0604020202020204" pitchFamily="34" charset="0"/>
              </a:rPr>
              <a:t> elements are known as the </a:t>
            </a:r>
            <a:r>
              <a:rPr lang="en-AU" b="1" i="0" dirty="0" smtClean="0">
                <a:solidFill>
                  <a:srgbClr val="E04E50"/>
                </a:solidFill>
                <a:effectLst/>
                <a:latin typeface="Arial" panose="020B0604020202020204" pitchFamily="34" charset="0"/>
              </a:rPr>
              <a:t>alkali metals.</a:t>
            </a:r>
            <a:endParaRPr lang="en-AU" b="0" i="0" dirty="0" smtClean="0">
              <a:solidFill>
                <a:srgbClr val="444444"/>
              </a:solidFill>
              <a:effectLst/>
              <a:latin typeface="Arial" panose="020B0604020202020204" pitchFamily="34" charset="0"/>
            </a:endParaRPr>
          </a:p>
          <a:p>
            <a:pPr algn="ctr"/>
            <a:r>
              <a:rPr lang="en-AU" b="0" i="0" dirty="0" smtClean="0">
                <a:solidFill>
                  <a:srgbClr val="444444"/>
                </a:solidFill>
                <a:effectLst/>
                <a:latin typeface="Arial" panose="020B0604020202020204" pitchFamily="34" charset="0"/>
              </a:rPr>
              <a:t> </a:t>
            </a:r>
          </a:p>
          <a:p>
            <a:pPr algn="ctr"/>
            <a:r>
              <a:rPr lang="en-AU" b="0" i="0" dirty="0" smtClean="0">
                <a:solidFill>
                  <a:srgbClr val="444444"/>
                </a:solidFill>
                <a:effectLst/>
                <a:latin typeface="Arial" panose="020B0604020202020204" pitchFamily="34" charset="0"/>
              </a:rPr>
              <a:t>All </a:t>
            </a:r>
            <a:r>
              <a:rPr lang="en-AU" b="1" i="0" dirty="0" smtClean="0">
                <a:solidFill>
                  <a:srgbClr val="E04E50"/>
                </a:solidFill>
                <a:effectLst/>
                <a:latin typeface="Arial" panose="020B0604020202020204" pitchFamily="34" charset="0"/>
              </a:rPr>
              <a:t>alkali metals</a:t>
            </a:r>
            <a:r>
              <a:rPr lang="en-AU" b="0" i="0" dirty="0" smtClean="0">
                <a:solidFill>
                  <a:srgbClr val="444444"/>
                </a:solidFill>
                <a:effectLst/>
                <a:latin typeface="Arial" panose="020B0604020202020204" pitchFamily="34" charset="0"/>
              </a:rPr>
              <a:t> are highly reactive and, due to having </a:t>
            </a:r>
            <a:r>
              <a:rPr lang="en-AU" b="0" i="0" dirty="0" smtClean="0">
                <a:solidFill>
                  <a:srgbClr val="444444"/>
                </a:solidFill>
                <a:effectLst/>
                <a:latin typeface="KaTeX_Main"/>
              </a:rPr>
              <a:t>1</a:t>
            </a:r>
            <a:r>
              <a:rPr lang="en-AU" b="0" i="0" dirty="0" smtClean="0">
                <a:solidFill>
                  <a:srgbClr val="444444"/>
                </a:solidFill>
                <a:effectLst/>
                <a:latin typeface="Arial" panose="020B0604020202020204" pitchFamily="34" charset="0"/>
              </a:rPr>
              <a:t> valence electron, form ions with a charge of </a:t>
            </a:r>
            <a:r>
              <a:rPr lang="en-AU" b="0" i="0" dirty="0" smtClean="0">
                <a:solidFill>
                  <a:srgbClr val="444444"/>
                </a:solidFill>
                <a:effectLst/>
                <a:latin typeface="KaTeX_Main"/>
              </a:rPr>
              <a:t>+1</a:t>
            </a:r>
            <a:r>
              <a:rPr lang="en-AU" b="0" i="0" dirty="0" smtClean="0">
                <a:solidFill>
                  <a:srgbClr val="444444"/>
                </a:solidFill>
                <a:effectLst/>
                <a:latin typeface="Arial" panose="020B0604020202020204" pitchFamily="34" charset="0"/>
              </a:rPr>
              <a:t>.</a:t>
            </a:r>
            <a:endParaRPr lang="en-AU" b="0" i="0" dirty="0">
              <a:solidFill>
                <a:srgbClr val="444444"/>
              </a:solidFill>
              <a:effectLst/>
              <a:latin typeface="Arial" panose="020B0604020202020204" pitchFamily="34" charset="0"/>
            </a:endParaRPr>
          </a:p>
        </p:txBody>
      </p:sp>
      <p:pic>
        <p:nvPicPr>
          <p:cNvPr id="25602" name="Picture 2" descr="https://www.educationperfect.com/media/content/Science/1456265913.191191g/1456265918661-4210095784659990-400.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33450" y="2043112"/>
            <a:ext cx="600075" cy="3771901"/>
          </a:xfrm>
          <a:prstGeom prst="rect">
            <a:avLst/>
          </a:prstGeom>
          <a:noFill/>
          <a:extLst>
            <a:ext uri="{909E8E84-426E-40DD-AFC4-6F175D3DCCD1}">
              <a14:hiddenFill xmlns:a14="http://schemas.microsoft.com/office/drawing/2010/main">
                <a:solidFill>
                  <a:srgbClr val="FFFFFF"/>
                </a:solidFill>
              </a14:hiddenFill>
            </a:ext>
          </a:extLst>
        </p:spPr>
      </p:pic>
      <p:pic>
        <p:nvPicPr>
          <p:cNvPr id="25604" name="Picture 4" descr="https://www.educationperfect.com/media/content/Science/1455872416.579041g/1455872418636-3772497920295001-optimised.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08150" y="2703512"/>
            <a:ext cx="400050" cy="1628776"/>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p:cNvSpPr/>
          <p:nvPr/>
        </p:nvSpPr>
        <p:spPr>
          <a:xfrm>
            <a:off x="3263900" y="2891135"/>
            <a:ext cx="6096000" cy="923330"/>
          </a:xfrm>
          <a:prstGeom prst="rect">
            <a:avLst/>
          </a:prstGeom>
        </p:spPr>
        <p:txBody>
          <a:bodyPr>
            <a:spAutoFit/>
          </a:bodyPr>
          <a:lstStyle/>
          <a:p>
            <a:r>
              <a:rPr lang="en-AU" b="1" i="1" dirty="0" smtClean="0">
                <a:solidFill>
                  <a:srgbClr val="444444"/>
                </a:solidFill>
                <a:effectLst/>
                <a:latin typeface="Arial" panose="020B0604020202020204" pitchFamily="34" charset="0"/>
              </a:rPr>
              <a:t>Reactivity increases</a:t>
            </a:r>
            <a:r>
              <a:rPr lang="en-AU" b="0" i="1" dirty="0" smtClean="0">
                <a:solidFill>
                  <a:srgbClr val="444444"/>
                </a:solidFill>
                <a:effectLst/>
                <a:latin typeface="Arial" panose="020B0604020202020204" pitchFamily="34" charset="0"/>
              </a:rPr>
              <a:t> as you </a:t>
            </a:r>
            <a:r>
              <a:rPr lang="en-AU" b="1" i="1" dirty="0" smtClean="0">
                <a:solidFill>
                  <a:srgbClr val="444444"/>
                </a:solidFill>
                <a:effectLst/>
                <a:latin typeface="Arial" panose="020B0604020202020204" pitchFamily="34" charset="0"/>
              </a:rPr>
              <a:t>move down the group</a:t>
            </a:r>
            <a:r>
              <a:rPr lang="en-AU" b="0" i="1" dirty="0" smtClean="0">
                <a:solidFill>
                  <a:srgbClr val="444444"/>
                </a:solidFill>
                <a:effectLst/>
                <a:latin typeface="Arial" panose="020B0604020202020204" pitchFamily="34" charset="0"/>
              </a:rPr>
              <a:t>. This is because the valence electrons are getting further from the nucleus, and are easier to remove.</a:t>
            </a:r>
            <a:endParaRPr lang="en-AU" dirty="0"/>
          </a:p>
        </p:txBody>
      </p:sp>
    </p:spTree>
    <p:extLst>
      <p:ext uri="{BB962C8B-B14F-4D97-AF65-F5344CB8AC3E}">
        <p14:creationId xmlns:p14="http://schemas.microsoft.com/office/powerpoint/2010/main" val="30217497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98500" y="723037"/>
            <a:ext cx="10807700" cy="1200329"/>
          </a:xfrm>
          <a:prstGeom prst="rect">
            <a:avLst/>
          </a:prstGeom>
        </p:spPr>
        <p:txBody>
          <a:bodyPr wrap="square">
            <a:spAutoFit/>
          </a:bodyPr>
          <a:lstStyle/>
          <a:p>
            <a:pPr algn="ctr"/>
            <a:r>
              <a:rPr lang="en-AU" b="0" i="0" dirty="0" smtClean="0">
                <a:solidFill>
                  <a:srgbClr val="444444"/>
                </a:solidFill>
                <a:effectLst/>
                <a:latin typeface="Arial" panose="020B0604020202020204" pitchFamily="34" charset="0"/>
              </a:rPr>
              <a:t>Alkali metals are </a:t>
            </a:r>
            <a:r>
              <a:rPr lang="en-AU" b="1" i="0" dirty="0" smtClean="0">
                <a:solidFill>
                  <a:srgbClr val="0066CC"/>
                </a:solidFill>
                <a:effectLst/>
                <a:latin typeface="Arial" panose="020B0604020202020204" pitchFamily="34" charset="0"/>
              </a:rPr>
              <a:t>very soft</a:t>
            </a:r>
            <a:r>
              <a:rPr lang="en-AU" b="0" i="0" dirty="0" smtClean="0">
                <a:solidFill>
                  <a:srgbClr val="444444"/>
                </a:solidFill>
                <a:effectLst/>
                <a:latin typeface="Arial" panose="020B0604020202020204" pitchFamily="34" charset="0"/>
              </a:rPr>
              <a:t> and you can cut most of them with a knife.</a:t>
            </a:r>
          </a:p>
          <a:p>
            <a:pPr algn="ctr"/>
            <a:r>
              <a:rPr lang="en-AU" b="0" i="0" dirty="0" smtClean="0">
                <a:solidFill>
                  <a:srgbClr val="444444"/>
                </a:solidFill>
                <a:effectLst/>
                <a:latin typeface="Arial" panose="020B0604020202020204" pitchFamily="34" charset="0"/>
              </a:rPr>
              <a:t> </a:t>
            </a:r>
          </a:p>
          <a:p>
            <a:pPr algn="ctr"/>
            <a:r>
              <a:rPr lang="en-AU" b="0" i="0" dirty="0" smtClean="0">
                <a:solidFill>
                  <a:srgbClr val="444444"/>
                </a:solidFill>
                <a:effectLst/>
                <a:latin typeface="Arial" panose="020B0604020202020204" pitchFamily="34" charset="0"/>
              </a:rPr>
              <a:t>Alkali metals </a:t>
            </a:r>
            <a:r>
              <a:rPr lang="en-AU" b="1" i="0" dirty="0" smtClean="0">
                <a:solidFill>
                  <a:srgbClr val="E04E50"/>
                </a:solidFill>
                <a:effectLst/>
                <a:latin typeface="Arial" panose="020B0604020202020204" pitchFamily="34" charset="0"/>
              </a:rPr>
              <a:t>react violently with water.</a:t>
            </a:r>
            <a:r>
              <a:rPr lang="en-AU" b="0" i="0" dirty="0" smtClean="0">
                <a:solidFill>
                  <a:srgbClr val="444444"/>
                </a:solidFill>
                <a:effectLst/>
                <a:latin typeface="Arial" panose="020B0604020202020204" pitchFamily="34" charset="0"/>
              </a:rPr>
              <a:t> Any alkali metals stored in your school will probably be </a:t>
            </a:r>
            <a:r>
              <a:rPr lang="en-AU" b="1" i="0" dirty="0" smtClean="0">
                <a:solidFill>
                  <a:srgbClr val="444444"/>
                </a:solidFill>
                <a:effectLst/>
                <a:latin typeface="Arial" panose="020B0604020202020204" pitchFamily="34" charset="0"/>
              </a:rPr>
              <a:t>completely submerged in oil</a:t>
            </a:r>
            <a:r>
              <a:rPr lang="en-AU" b="0" i="0" dirty="0" smtClean="0">
                <a:solidFill>
                  <a:srgbClr val="444444"/>
                </a:solidFill>
                <a:effectLst/>
                <a:latin typeface="Arial" panose="020B0604020202020204" pitchFamily="34" charset="0"/>
              </a:rPr>
              <a:t> to avoid unwanted reactions.</a:t>
            </a:r>
            <a:endParaRPr lang="en-AU" b="0" i="0" dirty="0">
              <a:solidFill>
                <a:srgbClr val="444444"/>
              </a:solidFill>
              <a:effectLst/>
              <a:latin typeface="Arial" panose="020B0604020202020204" pitchFamily="34" charset="0"/>
            </a:endParaRPr>
          </a:p>
        </p:txBody>
      </p:sp>
      <p:pic>
        <p:nvPicPr>
          <p:cNvPr id="26626" name="Picture 2" descr="https://www.educationperfect.com/media/content/Science/1421717304.20511g/1421717284065-1768650074-200.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837112" y="2533528"/>
            <a:ext cx="2530475" cy="381488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7560492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06400" y="450840"/>
            <a:ext cx="11404600" cy="2031325"/>
          </a:xfrm>
          <a:prstGeom prst="rect">
            <a:avLst/>
          </a:prstGeom>
        </p:spPr>
        <p:txBody>
          <a:bodyPr wrap="square">
            <a:spAutoFit/>
          </a:bodyPr>
          <a:lstStyle/>
          <a:p>
            <a:pPr algn="ctr"/>
            <a:r>
              <a:rPr lang="en-AU" b="0" i="0" dirty="0" smtClean="0">
                <a:solidFill>
                  <a:srgbClr val="444444"/>
                </a:solidFill>
                <a:effectLst/>
                <a:latin typeface="Arial" panose="020B0604020202020204" pitchFamily="34" charset="0"/>
              </a:rPr>
              <a:t>Alkali metals will react to produce </a:t>
            </a:r>
            <a:r>
              <a:rPr lang="en-AU" b="1" i="0" dirty="0" smtClean="0">
                <a:solidFill>
                  <a:srgbClr val="E04E50"/>
                </a:solidFill>
                <a:effectLst/>
                <a:latin typeface="Arial" panose="020B0604020202020204" pitchFamily="34" charset="0"/>
              </a:rPr>
              <a:t>similar compounds.</a:t>
            </a:r>
            <a:endParaRPr lang="en-AU" b="0" i="0" dirty="0" smtClean="0">
              <a:solidFill>
                <a:srgbClr val="444444"/>
              </a:solidFill>
              <a:effectLst/>
              <a:latin typeface="Arial" panose="020B0604020202020204" pitchFamily="34" charset="0"/>
            </a:endParaRPr>
          </a:p>
          <a:p>
            <a:pPr algn="ctr"/>
            <a:r>
              <a:rPr lang="en-AU" b="0" i="0" dirty="0" smtClean="0">
                <a:solidFill>
                  <a:srgbClr val="444444"/>
                </a:solidFill>
                <a:effectLst/>
                <a:latin typeface="Arial" panose="020B0604020202020204" pitchFamily="34" charset="0"/>
              </a:rPr>
              <a:t> </a:t>
            </a:r>
          </a:p>
          <a:p>
            <a:pPr algn="ctr"/>
            <a:r>
              <a:rPr lang="en-AU" b="1" i="0" dirty="0" smtClean="0">
                <a:solidFill>
                  <a:srgbClr val="444444"/>
                </a:solidFill>
                <a:effectLst/>
                <a:latin typeface="Arial" panose="020B0604020202020204" pitchFamily="34" charset="0"/>
              </a:rPr>
              <a:t>For example:</a:t>
            </a:r>
            <a:endParaRPr lang="en-AU" b="0" i="0" dirty="0" smtClean="0">
              <a:solidFill>
                <a:srgbClr val="444444"/>
              </a:solidFill>
              <a:effectLst/>
              <a:latin typeface="Arial" panose="020B0604020202020204" pitchFamily="34" charset="0"/>
            </a:endParaRPr>
          </a:p>
          <a:p>
            <a:pPr algn="ctr"/>
            <a:r>
              <a:rPr lang="en-AU" b="0" i="0" dirty="0" smtClean="0">
                <a:solidFill>
                  <a:srgbClr val="444444"/>
                </a:solidFill>
                <a:effectLst/>
                <a:latin typeface="Arial" panose="020B0604020202020204" pitchFamily="34" charset="0"/>
              </a:rPr>
              <a:t> </a:t>
            </a:r>
          </a:p>
          <a:p>
            <a:pPr algn="ctr"/>
            <a:r>
              <a:rPr lang="en-AU" b="0" i="0" dirty="0" smtClean="0">
                <a:solidFill>
                  <a:srgbClr val="444444"/>
                </a:solidFill>
                <a:effectLst/>
                <a:latin typeface="Arial" panose="020B0604020202020204" pitchFamily="34" charset="0"/>
              </a:rPr>
              <a:t>They will all react with </a:t>
            </a:r>
            <a:r>
              <a:rPr lang="en-AU" b="1" i="0" dirty="0" smtClean="0">
                <a:solidFill>
                  <a:srgbClr val="0066CC"/>
                </a:solidFill>
                <a:effectLst/>
                <a:latin typeface="Arial" panose="020B0604020202020204" pitchFamily="34" charset="0"/>
              </a:rPr>
              <a:t>chlorine</a:t>
            </a:r>
            <a:r>
              <a:rPr lang="en-AU" b="0" i="0" dirty="0" smtClean="0">
                <a:solidFill>
                  <a:srgbClr val="444444"/>
                </a:solidFill>
                <a:effectLst/>
                <a:latin typeface="Arial" panose="020B0604020202020204" pitchFamily="34" charset="0"/>
              </a:rPr>
              <a:t> to form ionic compounds with the formula </a:t>
            </a:r>
            <a:r>
              <a:rPr lang="en-AU" b="1" i="0" dirty="0" err="1" smtClean="0">
                <a:solidFill>
                  <a:srgbClr val="444444"/>
                </a:solidFill>
                <a:effectLst/>
                <a:latin typeface="KaTeX_Main"/>
              </a:rPr>
              <a:t>X</a:t>
            </a:r>
            <a:r>
              <a:rPr lang="en-AU" b="0" i="0" dirty="0" err="1" smtClean="0">
                <a:solidFill>
                  <a:srgbClr val="444444"/>
                </a:solidFill>
                <a:effectLst/>
                <a:latin typeface="KaTeX_Main"/>
              </a:rPr>
              <a:t>Cl</a:t>
            </a:r>
            <a:r>
              <a:rPr lang="en-AU" b="0" i="0" dirty="0" smtClean="0">
                <a:solidFill>
                  <a:srgbClr val="444444"/>
                </a:solidFill>
                <a:effectLst/>
                <a:latin typeface="Arial" panose="020B0604020202020204" pitchFamily="34" charset="0"/>
              </a:rPr>
              <a:t>, where </a:t>
            </a:r>
            <a:r>
              <a:rPr lang="en-AU" b="1" i="0" dirty="0" smtClean="0">
                <a:solidFill>
                  <a:srgbClr val="444444"/>
                </a:solidFill>
                <a:effectLst/>
                <a:latin typeface="KaTeX_Main"/>
              </a:rPr>
              <a:t>X</a:t>
            </a:r>
            <a:r>
              <a:rPr lang="en-AU" b="0" i="0" dirty="0" smtClean="0">
                <a:solidFill>
                  <a:srgbClr val="444444"/>
                </a:solidFill>
                <a:effectLst/>
                <a:latin typeface="Arial" panose="020B0604020202020204" pitchFamily="34" charset="0"/>
              </a:rPr>
              <a:t> is an alkali metal.</a:t>
            </a:r>
          </a:p>
          <a:p>
            <a:pPr algn="ctr"/>
            <a:r>
              <a:rPr lang="en-AU" b="0" i="0" dirty="0" smtClean="0">
                <a:solidFill>
                  <a:srgbClr val="444444"/>
                </a:solidFill>
                <a:effectLst/>
                <a:latin typeface="Arial" panose="020B0604020202020204" pitchFamily="34" charset="0"/>
              </a:rPr>
              <a:t> </a:t>
            </a:r>
          </a:p>
          <a:p>
            <a:pPr algn="ctr"/>
            <a:r>
              <a:rPr lang="en-AU" b="0" i="0" dirty="0" smtClean="0">
                <a:solidFill>
                  <a:srgbClr val="444444"/>
                </a:solidFill>
                <a:effectLst/>
                <a:latin typeface="Arial" panose="020B0604020202020204" pitchFamily="34" charset="0"/>
              </a:rPr>
              <a:t>They will all react with </a:t>
            </a:r>
            <a:r>
              <a:rPr lang="en-AU" b="1" i="0" dirty="0" smtClean="0">
                <a:solidFill>
                  <a:srgbClr val="0066CC"/>
                </a:solidFill>
                <a:effectLst/>
                <a:latin typeface="Arial" panose="020B0604020202020204" pitchFamily="34" charset="0"/>
              </a:rPr>
              <a:t>oxygen</a:t>
            </a:r>
            <a:r>
              <a:rPr lang="en-AU" b="0" i="0" dirty="0" smtClean="0">
                <a:solidFill>
                  <a:srgbClr val="444444"/>
                </a:solidFill>
                <a:effectLst/>
                <a:latin typeface="Arial" panose="020B0604020202020204" pitchFamily="34" charset="0"/>
              </a:rPr>
              <a:t> to form ionic compounds with the formula </a:t>
            </a:r>
            <a:r>
              <a:rPr lang="en-AU" b="1" i="0" dirty="0" smtClean="0">
                <a:solidFill>
                  <a:srgbClr val="444444"/>
                </a:solidFill>
                <a:effectLst/>
                <a:latin typeface="KaTeX_Main"/>
              </a:rPr>
              <a:t>X</a:t>
            </a:r>
            <a:r>
              <a:rPr lang="en-AU" b="1" i="0" baseline="-25000" dirty="0" smtClean="0">
                <a:solidFill>
                  <a:srgbClr val="444444"/>
                </a:solidFill>
                <a:effectLst/>
                <a:latin typeface="KaTeX_Main"/>
              </a:rPr>
              <a:t>2</a:t>
            </a:r>
            <a:r>
              <a:rPr lang="en-AU" b="0" i="0" baseline="-25000" dirty="0" smtClean="0">
                <a:solidFill>
                  <a:srgbClr val="444444"/>
                </a:solidFill>
                <a:effectLst/>
                <a:latin typeface="KaTeX_Main"/>
              </a:rPr>
              <a:t>​</a:t>
            </a:r>
            <a:r>
              <a:rPr lang="en-AU" b="0" i="0" dirty="0" smtClean="0">
                <a:solidFill>
                  <a:srgbClr val="444444"/>
                </a:solidFill>
                <a:effectLst/>
                <a:latin typeface="KaTeX_Main"/>
              </a:rPr>
              <a:t>O</a:t>
            </a:r>
            <a:r>
              <a:rPr lang="en-AU" b="0" i="0" dirty="0" smtClean="0">
                <a:solidFill>
                  <a:srgbClr val="444444"/>
                </a:solidFill>
                <a:effectLst/>
                <a:latin typeface="Arial" panose="020B0604020202020204" pitchFamily="34" charset="0"/>
              </a:rPr>
              <a:t>, where </a:t>
            </a:r>
            <a:r>
              <a:rPr lang="en-AU" b="1" i="0" dirty="0" smtClean="0">
                <a:solidFill>
                  <a:srgbClr val="444444"/>
                </a:solidFill>
                <a:effectLst/>
                <a:latin typeface="KaTeX_Main"/>
              </a:rPr>
              <a:t>X</a:t>
            </a:r>
            <a:r>
              <a:rPr lang="en-AU" b="0" i="0" dirty="0" smtClean="0">
                <a:solidFill>
                  <a:srgbClr val="444444"/>
                </a:solidFill>
                <a:effectLst/>
                <a:latin typeface="Arial" panose="020B0604020202020204" pitchFamily="34" charset="0"/>
              </a:rPr>
              <a:t> is an alkali metal.</a:t>
            </a:r>
            <a:endParaRPr lang="en-AU" b="0" i="0" dirty="0">
              <a:solidFill>
                <a:srgbClr val="444444"/>
              </a:solidFill>
              <a:effectLst/>
              <a:latin typeface="Arial" panose="020B0604020202020204" pitchFamily="34" charset="0"/>
            </a:endParaRPr>
          </a:p>
        </p:txBody>
      </p:sp>
      <p:pic>
        <p:nvPicPr>
          <p:cNvPr id="3" name="Picture 2"/>
          <p:cNvPicPr>
            <a:picLocks noChangeAspect="1"/>
          </p:cNvPicPr>
          <p:nvPr/>
        </p:nvPicPr>
        <p:blipFill>
          <a:blip r:embed="rId2"/>
          <a:stretch>
            <a:fillRect/>
          </a:stretch>
        </p:blipFill>
        <p:spPr>
          <a:xfrm>
            <a:off x="2554287" y="3349624"/>
            <a:ext cx="7357526" cy="2390775"/>
          </a:xfrm>
          <a:prstGeom prst="rect">
            <a:avLst/>
          </a:prstGeom>
        </p:spPr>
      </p:pic>
    </p:spTree>
    <p:extLst>
      <p:ext uri="{BB962C8B-B14F-4D97-AF65-F5344CB8AC3E}">
        <p14:creationId xmlns:p14="http://schemas.microsoft.com/office/powerpoint/2010/main" val="388817805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33400" y="331738"/>
            <a:ext cx="11214100" cy="1477328"/>
          </a:xfrm>
          <a:prstGeom prst="rect">
            <a:avLst/>
          </a:prstGeom>
        </p:spPr>
        <p:txBody>
          <a:bodyPr wrap="square">
            <a:spAutoFit/>
          </a:bodyPr>
          <a:lstStyle/>
          <a:p>
            <a:pPr algn="ctr"/>
            <a:r>
              <a:rPr lang="en-AU" b="0" i="0" dirty="0" smtClean="0">
                <a:solidFill>
                  <a:srgbClr val="444444"/>
                </a:solidFill>
                <a:effectLst/>
                <a:latin typeface="Arial" panose="020B0604020202020204" pitchFamily="34" charset="0"/>
              </a:rPr>
              <a:t>Group </a:t>
            </a:r>
            <a:r>
              <a:rPr lang="en-AU" b="0" i="0" dirty="0" smtClean="0">
                <a:solidFill>
                  <a:srgbClr val="444444"/>
                </a:solidFill>
                <a:effectLst/>
                <a:latin typeface="KaTeX_Main"/>
              </a:rPr>
              <a:t>17</a:t>
            </a:r>
            <a:r>
              <a:rPr lang="en-AU" b="0" i="0" dirty="0" smtClean="0">
                <a:solidFill>
                  <a:srgbClr val="444444"/>
                </a:solidFill>
                <a:effectLst/>
                <a:latin typeface="Arial" panose="020B0604020202020204" pitchFamily="34" charset="0"/>
              </a:rPr>
              <a:t> elements are known as </a:t>
            </a:r>
            <a:r>
              <a:rPr lang="en-AU" b="1" i="0" dirty="0" smtClean="0">
                <a:solidFill>
                  <a:srgbClr val="E04E50"/>
                </a:solidFill>
                <a:effectLst/>
                <a:latin typeface="Arial" panose="020B0604020202020204" pitchFamily="34" charset="0"/>
              </a:rPr>
              <a:t>halogens.</a:t>
            </a:r>
            <a:r>
              <a:rPr lang="en-AU" b="0" i="0" dirty="0" smtClean="0">
                <a:solidFill>
                  <a:srgbClr val="444444"/>
                </a:solidFill>
                <a:effectLst/>
                <a:latin typeface="Arial" panose="020B0604020202020204" pitchFamily="34" charset="0"/>
              </a:rPr>
              <a:t> As they are found on the right side of the periodic table, they are non-metals, so do not show metallic properties.</a:t>
            </a:r>
          </a:p>
          <a:p>
            <a:pPr algn="ctr"/>
            <a:r>
              <a:rPr lang="en-AU" b="0" i="0" dirty="0" smtClean="0">
                <a:solidFill>
                  <a:srgbClr val="444444"/>
                </a:solidFill>
                <a:effectLst/>
                <a:latin typeface="Arial" panose="020B0604020202020204" pitchFamily="34" charset="0"/>
              </a:rPr>
              <a:t> </a:t>
            </a:r>
          </a:p>
          <a:p>
            <a:pPr algn="ctr"/>
            <a:r>
              <a:rPr lang="en-AU" b="1" i="0" dirty="0" smtClean="0">
                <a:solidFill>
                  <a:srgbClr val="E04E50"/>
                </a:solidFill>
                <a:effectLst/>
                <a:latin typeface="Arial" panose="020B0604020202020204" pitchFamily="34" charset="0"/>
              </a:rPr>
              <a:t>Halogens</a:t>
            </a:r>
            <a:r>
              <a:rPr lang="en-AU" b="0" i="0" dirty="0" smtClean="0">
                <a:solidFill>
                  <a:srgbClr val="444444"/>
                </a:solidFill>
                <a:effectLst/>
                <a:latin typeface="Arial" panose="020B0604020202020204" pitchFamily="34" charset="0"/>
              </a:rPr>
              <a:t> are quite reactive. Halogens have </a:t>
            </a:r>
            <a:r>
              <a:rPr lang="en-AU" b="0" i="0" dirty="0" smtClean="0">
                <a:solidFill>
                  <a:srgbClr val="444444"/>
                </a:solidFill>
                <a:effectLst/>
                <a:latin typeface="KaTeX_Main"/>
              </a:rPr>
              <a:t>7</a:t>
            </a:r>
            <a:r>
              <a:rPr lang="en-AU" b="0" i="0" dirty="0" smtClean="0">
                <a:solidFill>
                  <a:srgbClr val="444444"/>
                </a:solidFill>
                <a:effectLst/>
                <a:latin typeface="Arial" panose="020B0604020202020204" pitchFamily="34" charset="0"/>
              </a:rPr>
              <a:t> valence electrons, and can form </a:t>
            </a:r>
            <a:r>
              <a:rPr lang="en-AU" b="0" i="0" dirty="0" smtClean="0">
                <a:solidFill>
                  <a:srgbClr val="444444"/>
                </a:solidFill>
                <a:effectLst/>
                <a:latin typeface="KaTeX_Main"/>
              </a:rPr>
              <a:t>1</a:t>
            </a:r>
            <a:r>
              <a:rPr lang="en-AU" b="0" i="0" dirty="0" smtClean="0">
                <a:solidFill>
                  <a:srgbClr val="444444"/>
                </a:solidFill>
                <a:effectLst/>
                <a:latin typeface="Arial" panose="020B0604020202020204" pitchFamily="34" charset="0"/>
              </a:rPr>
              <a:t> covalent bond (share </a:t>
            </a:r>
            <a:r>
              <a:rPr lang="en-AU" b="0" i="0" dirty="0" smtClean="0">
                <a:solidFill>
                  <a:srgbClr val="444444"/>
                </a:solidFill>
                <a:effectLst/>
                <a:latin typeface="KaTeX_Main"/>
              </a:rPr>
              <a:t>1</a:t>
            </a:r>
            <a:r>
              <a:rPr lang="en-AU" b="0" i="0" dirty="0" smtClean="0">
                <a:solidFill>
                  <a:srgbClr val="444444"/>
                </a:solidFill>
                <a:effectLst/>
                <a:latin typeface="Arial" panose="020B0604020202020204" pitchFamily="34" charset="0"/>
              </a:rPr>
              <a:t> electron), or ions with a charge of </a:t>
            </a:r>
            <a:r>
              <a:rPr lang="en-AU" b="0" i="0" dirty="0" smtClean="0">
                <a:solidFill>
                  <a:srgbClr val="444444"/>
                </a:solidFill>
                <a:effectLst/>
                <a:latin typeface="KaTeX_Main"/>
              </a:rPr>
              <a:t>−1</a:t>
            </a:r>
            <a:r>
              <a:rPr lang="en-AU" b="0" i="0" dirty="0" smtClean="0">
                <a:solidFill>
                  <a:srgbClr val="444444"/>
                </a:solidFill>
                <a:effectLst/>
                <a:latin typeface="Arial" panose="020B0604020202020204" pitchFamily="34" charset="0"/>
              </a:rPr>
              <a:t> (take </a:t>
            </a:r>
            <a:r>
              <a:rPr lang="en-AU" b="0" i="0" dirty="0" smtClean="0">
                <a:solidFill>
                  <a:srgbClr val="444444"/>
                </a:solidFill>
                <a:effectLst/>
                <a:latin typeface="KaTeX_Main"/>
              </a:rPr>
              <a:t>1</a:t>
            </a:r>
            <a:r>
              <a:rPr lang="en-AU" b="0" i="0" dirty="0" smtClean="0">
                <a:solidFill>
                  <a:srgbClr val="444444"/>
                </a:solidFill>
                <a:effectLst/>
                <a:latin typeface="Arial" panose="020B0604020202020204" pitchFamily="34" charset="0"/>
              </a:rPr>
              <a:t> electron).</a:t>
            </a:r>
            <a:endParaRPr lang="en-AU" b="0" i="0" dirty="0">
              <a:solidFill>
                <a:srgbClr val="444444"/>
              </a:solidFill>
              <a:effectLst/>
              <a:latin typeface="Arial" panose="020B0604020202020204" pitchFamily="34" charset="0"/>
            </a:endParaRPr>
          </a:p>
        </p:txBody>
      </p:sp>
      <p:pic>
        <p:nvPicPr>
          <p:cNvPr id="27650" name="Picture 2" descr="https://www.educationperfect.com/media/content/Science/1456267081.474111g/1456267086803-4210095784659990-optimised.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04875" y="2195512"/>
            <a:ext cx="619125" cy="3295651"/>
          </a:xfrm>
          <a:prstGeom prst="rect">
            <a:avLst/>
          </a:prstGeom>
          <a:noFill/>
          <a:extLst>
            <a:ext uri="{909E8E84-426E-40DD-AFC4-6F175D3DCCD1}">
              <a14:hiddenFill xmlns:a14="http://schemas.microsoft.com/office/drawing/2010/main">
                <a:solidFill>
                  <a:srgbClr val="FFFFFF"/>
                </a:solidFill>
              </a14:hiddenFill>
            </a:ext>
          </a:extLst>
        </p:spPr>
      </p:pic>
      <p:pic>
        <p:nvPicPr>
          <p:cNvPr id="27652" name="Picture 4" descr="https://www.educationperfect.com/media/content/Science/1455872416.579041g/1455872418636-3772497920295001-optimised.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82775" y="2767012"/>
            <a:ext cx="400050" cy="1628776"/>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p:cNvSpPr/>
          <p:nvPr/>
        </p:nvSpPr>
        <p:spPr>
          <a:xfrm>
            <a:off x="3048000" y="2967335"/>
            <a:ext cx="6096000" cy="923330"/>
          </a:xfrm>
          <a:prstGeom prst="rect">
            <a:avLst/>
          </a:prstGeom>
        </p:spPr>
        <p:txBody>
          <a:bodyPr>
            <a:spAutoFit/>
          </a:bodyPr>
          <a:lstStyle/>
          <a:p>
            <a:r>
              <a:rPr lang="en-AU" b="1" i="1" dirty="0" smtClean="0">
                <a:solidFill>
                  <a:srgbClr val="444444"/>
                </a:solidFill>
                <a:effectLst/>
                <a:latin typeface="Arial" panose="020B0604020202020204" pitchFamily="34" charset="0"/>
              </a:rPr>
              <a:t>Reactivity decreases</a:t>
            </a:r>
            <a:r>
              <a:rPr lang="en-AU" b="0" i="1" dirty="0" smtClean="0">
                <a:solidFill>
                  <a:srgbClr val="444444"/>
                </a:solidFill>
                <a:effectLst/>
                <a:latin typeface="Arial" panose="020B0604020202020204" pitchFamily="34" charset="0"/>
              </a:rPr>
              <a:t> as you </a:t>
            </a:r>
            <a:r>
              <a:rPr lang="en-AU" b="1" i="1" dirty="0" smtClean="0">
                <a:solidFill>
                  <a:srgbClr val="444444"/>
                </a:solidFill>
                <a:effectLst/>
                <a:latin typeface="Arial" panose="020B0604020202020204" pitchFamily="34" charset="0"/>
              </a:rPr>
              <a:t>move down the group.</a:t>
            </a:r>
            <a:r>
              <a:rPr lang="en-AU" b="0" i="1" dirty="0" smtClean="0">
                <a:solidFill>
                  <a:srgbClr val="444444"/>
                </a:solidFill>
                <a:effectLst/>
                <a:latin typeface="Arial" panose="020B0604020202020204" pitchFamily="34" charset="0"/>
              </a:rPr>
              <a:t> This is because the electronegativity decreases as the outer shell gets further away.</a:t>
            </a:r>
            <a:endParaRPr lang="en-AU" dirty="0"/>
          </a:p>
        </p:txBody>
      </p:sp>
    </p:spTree>
    <p:extLst>
      <p:ext uri="{BB962C8B-B14F-4D97-AF65-F5344CB8AC3E}">
        <p14:creationId xmlns:p14="http://schemas.microsoft.com/office/powerpoint/2010/main" val="160675792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1079500" y="211435"/>
            <a:ext cx="10312400" cy="646331"/>
          </a:xfrm>
          <a:prstGeom prst="rect">
            <a:avLst/>
          </a:prstGeom>
        </p:spPr>
        <p:txBody>
          <a:bodyPr wrap="square">
            <a:spAutoFit/>
          </a:bodyPr>
          <a:lstStyle/>
          <a:p>
            <a:r>
              <a:rPr lang="en-AU" b="0" i="0" dirty="0" smtClean="0">
                <a:solidFill>
                  <a:srgbClr val="444444"/>
                </a:solidFill>
                <a:effectLst/>
                <a:latin typeface="Arial" panose="020B0604020202020204" pitchFamily="34" charset="0"/>
              </a:rPr>
              <a:t>Halogens all bond covalently to form </a:t>
            </a:r>
            <a:r>
              <a:rPr lang="en-AU" b="1" i="0" dirty="0" smtClean="0">
                <a:solidFill>
                  <a:srgbClr val="E04E50"/>
                </a:solidFill>
                <a:effectLst/>
                <a:latin typeface="Arial" panose="020B0604020202020204" pitchFamily="34" charset="0"/>
              </a:rPr>
              <a:t>diatomic molecules</a:t>
            </a:r>
            <a:r>
              <a:rPr lang="en-AU" b="0" i="0" dirty="0" smtClean="0">
                <a:solidFill>
                  <a:srgbClr val="444444"/>
                </a:solidFill>
                <a:effectLst/>
                <a:latin typeface="Arial" panose="020B0604020202020204" pitchFamily="34" charset="0"/>
              </a:rPr>
              <a:t> (molecules with two atoms). Halogens are typically coloured, and toxic.</a:t>
            </a:r>
            <a:endParaRPr lang="en-AU" dirty="0"/>
          </a:p>
        </p:txBody>
      </p:sp>
      <p:pic>
        <p:nvPicPr>
          <p:cNvPr id="4" name="Picture 3"/>
          <p:cNvPicPr>
            <a:picLocks noChangeAspect="1"/>
          </p:cNvPicPr>
          <p:nvPr/>
        </p:nvPicPr>
        <p:blipFill>
          <a:blip r:embed="rId2"/>
          <a:stretch>
            <a:fillRect/>
          </a:stretch>
        </p:blipFill>
        <p:spPr>
          <a:xfrm>
            <a:off x="3111499" y="1558924"/>
            <a:ext cx="5417273" cy="1844675"/>
          </a:xfrm>
          <a:prstGeom prst="rect">
            <a:avLst/>
          </a:prstGeom>
        </p:spPr>
      </p:pic>
      <p:pic>
        <p:nvPicPr>
          <p:cNvPr id="28675" name="Picture 3" descr="https://www.educationperfect.com/media/content/Science/1455763731.302891g/1455763765317-1988880387833144-optimised.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11499" y="4000499"/>
            <a:ext cx="5600701" cy="245107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94314179"/>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47700" y="706735"/>
            <a:ext cx="10299700" cy="646331"/>
          </a:xfrm>
          <a:prstGeom prst="rect">
            <a:avLst/>
          </a:prstGeom>
        </p:spPr>
        <p:txBody>
          <a:bodyPr wrap="square">
            <a:spAutoFit/>
          </a:bodyPr>
          <a:lstStyle/>
          <a:p>
            <a:r>
              <a:rPr lang="en-AU" b="0" i="0" dirty="0" smtClean="0">
                <a:solidFill>
                  <a:srgbClr val="444444"/>
                </a:solidFill>
                <a:effectLst/>
                <a:latin typeface="Arial" panose="020B0604020202020204" pitchFamily="34" charset="0"/>
              </a:rPr>
              <a:t>Halogens can bond </a:t>
            </a:r>
            <a:r>
              <a:rPr lang="en-AU" b="1" i="0" dirty="0" smtClean="0">
                <a:solidFill>
                  <a:srgbClr val="E04E50"/>
                </a:solidFill>
                <a:effectLst/>
                <a:latin typeface="Arial" panose="020B0604020202020204" pitchFamily="34" charset="0"/>
              </a:rPr>
              <a:t>covalently</a:t>
            </a:r>
            <a:r>
              <a:rPr lang="en-AU" b="1" i="0" dirty="0" smtClean="0">
                <a:solidFill>
                  <a:srgbClr val="444444"/>
                </a:solidFill>
                <a:effectLst/>
                <a:latin typeface="Arial" panose="020B0604020202020204" pitchFamily="34" charset="0"/>
              </a:rPr>
              <a:t> </a:t>
            </a:r>
            <a:r>
              <a:rPr lang="en-AU" b="0" i="0" dirty="0" smtClean="0">
                <a:solidFill>
                  <a:srgbClr val="444444"/>
                </a:solidFill>
                <a:effectLst/>
                <a:latin typeface="Arial" panose="020B0604020202020204" pitchFamily="34" charset="0"/>
              </a:rPr>
              <a:t>or</a:t>
            </a:r>
            <a:r>
              <a:rPr lang="en-AU" b="1" i="0" dirty="0" smtClean="0">
                <a:solidFill>
                  <a:srgbClr val="444444"/>
                </a:solidFill>
                <a:effectLst/>
                <a:latin typeface="Arial" panose="020B0604020202020204" pitchFamily="34" charset="0"/>
              </a:rPr>
              <a:t> </a:t>
            </a:r>
            <a:r>
              <a:rPr lang="en-AU" b="1" i="0" dirty="0" err="1" smtClean="0">
                <a:solidFill>
                  <a:srgbClr val="0066CC"/>
                </a:solidFill>
                <a:effectLst/>
                <a:latin typeface="Arial" panose="020B0604020202020204" pitchFamily="34" charset="0"/>
              </a:rPr>
              <a:t>ionically</a:t>
            </a:r>
            <a:r>
              <a:rPr lang="en-AU" b="1" i="0" dirty="0" smtClean="0">
                <a:solidFill>
                  <a:srgbClr val="0066CC"/>
                </a:solidFill>
                <a:effectLst/>
                <a:latin typeface="Arial" panose="020B0604020202020204" pitchFamily="34" charset="0"/>
              </a:rPr>
              <a:t>;</a:t>
            </a:r>
            <a:r>
              <a:rPr lang="en-AU" b="0" i="0" dirty="0" smtClean="0">
                <a:solidFill>
                  <a:srgbClr val="444444"/>
                </a:solidFill>
                <a:effectLst/>
                <a:latin typeface="Arial" panose="020B0604020202020204" pitchFamily="34" charset="0"/>
              </a:rPr>
              <a:t> they can form </a:t>
            </a:r>
            <a:r>
              <a:rPr lang="en-AU" b="0" i="0" dirty="0" smtClean="0">
                <a:solidFill>
                  <a:srgbClr val="444444"/>
                </a:solidFill>
                <a:effectLst/>
                <a:latin typeface="KaTeX_Main"/>
              </a:rPr>
              <a:t>1</a:t>
            </a:r>
            <a:r>
              <a:rPr lang="en-AU" b="0" i="0" dirty="0" smtClean="0">
                <a:solidFill>
                  <a:srgbClr val="444444"/>
                </a:solidFill>
                <a:effectLst/>
                <a:latin typeface="Arial" panose="020B0604020202020204" pitchFamily="34" charset="0"/>
              </a:rPr>
              <a:t> covalent bond (by sharing </a:t>
            </a:r>
            <a:r>
              <a:rPr lang="en-AU" b="0" i="0" dirty="0" smtClean="0">
                <a:solidFill>
                  <a:srgbClr val="444444"/>
                </a:solidFill>
                <a:effectLst/>
                <a:latin typeface="KaTeX_Main"/>
              </a:rPr>
              <a:t>1</a:t>
            </a:r>
            <a:r>
              <a:rPr lang="en-AU" b="0" i="0" dirty="0" smtClean="0">
                <a:solidFill>
                  <a:srgbClr val="444444"/>
                </a:solidFill>
                <a:effectLst/>
                <a:latin typeface="Arial" panose="020B0604020202020204" pitchFamily="34" charset="0"/>
              </a:rPr>
              <a:t> electron), or an ion with a charge of </a:t>
            </a:r>
            <a:r>
              <a:rPr lang="en-AU" b="0" i="0" dirty="0" smtClean="0">
                <a:solidFill>
                  <a:srgbClr val="444444"/>
                </a:solidFill>
                <a:effectLst/>
                <a:latin typeface="KaTeX_Main"/>
              </a:rPr>
              <a:t>−1</a:t>
            </a:r>
            <a:r>
              <a:rPr lang="en-AU" b="0" i="0" dirty="0" smtClean="0">
                <a:solidFill>
                  <a:srgbClr val="444444"/>
                </a:solidFill>
                <a:effectLst/>
                <a:latin typeface="Arial" panose="020B0604020202020204" pitchFamily="34" charset="0"/>
              </a:rPr>
              <a:t> (by taking </a:t>
            </a:r>
            <a:r>
              <a:rPr lang="en-AU" b="0" i="0" dirty="0" smtClean="0">
                <a:solidFill>
                  <a:srgbClr val="444444"/>
                </a:solidFill>
                <a:effectLst/>
                <a:latin typeface="KaTeX_Main"/>
              </a:rPr>
              <a:t>1</a:t>
            </a:r>
            <a:r>
              <a:rPr lang="en-AU" b="0" i="0" dirty="0" smtClean="0">
                <a:solidFill>
                  <a:srgbClr val="444444"/>
                </a:solidFill>
                <a:effectLst/>
                <a:latin typeface="Arial" panose="020B0604020202020204" pitchFamily="34" charset="0"/>
              </a:rPr>
              <a:t> electron).</a:t>
            </a:r>
            <a:endParaRPr lang="en-AU" dirty="0"/>
          </a:p>
        </p:txBody>
      </p:sp>
      <p:pic>
        <p:nvPicPr>
          <p:cNvPr id="29698" name="Picture 2" descr="https://www.educationperfect.com/media/content/Science/1455749355.809191g/1455749354211-4174902852677038-optimised.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52675" y="2382837"/>
            <a:ext cx="6667500" cy="2533651"/>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p:cNvSpPr/>
          <p:nvPr/>
        </p:nvSpPr>
        <p:spPr>
          <a:xfrm>
            <a:off x="2749550" y="5299928"/>
            <a:ext cx="6096000" cy="646331"/>
          </a:xfrm>
          <a:prstGeom prst="rect">
            <a:avLst/>
          </a:prstGeom>
        </p:spPr>
        <p:txBody>
          <a:bodyPr>
            <a:spAutoFit/>
          </a:bodyPr>
          <a:lstStyle/>
          <a:p>
            <a:r>
              <a:rPr lang="en-AU" b="0" i="1" dirty="0" smtClean="0">
                <a:solidFill>
                  <a:srgbClr val="444444"/>
                </a:solidFill>
                <a:effectLst/>
                <a:latin typeface="Arial" panose="020B0604020202020204" pitchFamily="34" charset="0"/>
              </a:rPr>
              <a:t>This picture shows fluorine gaining an electron, becoming a </a:t>
            </a:r>
            <a:r>
              <a:rPr lang="en-AU" b="1" i="1" dirty="0" smtClean="0">
                <a:solidFill>
                  <a:srgbClr val="444444"/>
                </a:solidFill>
                <a:effectLst/>
                <a:latin typeface="Arial" panose="020B0604020202020204" pitchFamily="34" charset="0"/>
              </a:rPr>
              <a:t>fluoride ion.</a:t>
            </a:r>
            <a:endParaRPr lang="en-AU" dirty="0"/>
          </a:p>
        </p:txBody>
      </p:sp>
    </p:spTree>
    <p:extLst>
      <p:ext uri="{BB962C8B-B14F-4D97-AF65-F5344CB8AC3E}">
        <p14:creationId xmlns:p14="http://schemas.microsoft.com/office/powerpoint/2010/main" val="199381542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749300" y="503535"/>
            <a:ext cx="11112500" cy="646331"/>
          </a:xfrm>
          <a:prstGeom prst="rect">
            <a:avLst/>
          </a:prstGeom>
        </p:spPr>
        <p:txBody>
          <a:bodyPr wrap="square">
            <a:spAutoFit/>
          </a:bodyPr>
          <a:lstStyle/>
          <a:p>
            <a:r>
              <a:rPr lang="en-AU" b="0" i="0" dirty="0" smtClean="0">
                <a:solidFill>
                  <a:srgbClr val="444444"/>
                </a:solidFill>
                <a:effectLst/>
                <a:latin typeface="Arial" panose="020B0604020202020204" pitchFamily="34" charset="0"/>
              </a:rPr>
              <a:t>Halogens are </a:t>
            </a:r>
            <a:r>
              <a:rPr lang="en-AU" b="1" i="0" dirty="0" smtClean="0">
                <a:solidFill>
                  <a:srgbClr val="444444"/>
                </a:solidFill>
                <a:effectLst/>
                <a:latin typeface="Arial" panose="020B0604020202020204" pitchFamily="34" charset="0"/>
              </a:rPr>
              <a:t>reactive</a:t>
            </a:r>
            <a:r>
              <a:rPr lang="en-AU" b="0" i="0" dirty="0" smtClean="0">
                <a:solidFill>
                  <a:srgbClr val="444444"/>
                </a:solidFill>
                <a:effectLst/>
                <a:latin typeface="Arial" panose="020B0604020202020204" pitchFamily="34" charset="0"/>
              </a:rPr>
              <a:t> because they are only </a:t>
            </a:r>
            <a:r>
              <a:rPr lang="en-AU" b="0" i="0" dirty="0" smtClean="0">
                <a:solidFill>
                  <a:srgbClr val="444444"/>
                </a:solidFill>
                <a:effectLst/>
                <a:latin typeface="KaTeX_Main"/>
              </a:rPr>
              <a:t>1</a:t>
            </a:r>
            <a:r>
              <a:rPr lang="en-AU" b="0" i="0" dirty="0" smtClean="0">
                <a:solidFill>
                  <a:srgbClr val="444444"/>
                </a:solidFill>
                <a:effectLst/>
                <a:latin typeface="Arial" panose="020B0604020202020204" pitchFamily="34" charset="0"/>
              </a:rPr>
              <a:t> electron from fulfilling the octet rule, and have the electronegativity to easily gain this electron.</a:t>
            </a:r>
            <a:endParaRPr lang="en-AU" dirty="0"/>
          </a:p>
        </p:txBody>
      </p:sp>
      <p:pic>
        <p:nvPicPr>
          <p:cNvPr id="30722" name="Picture 2" descr="https://www.educationperfect.com/media/content/Science/1442441001.023841g/1442441031930-3014960610621007-200.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172075" y="1570037"/>
            <a:ext cx="1133475" cy="1895476"/>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p:cNvSpPr/>
          <p:nvPr/>
        </p:nvSpPr>
        <p:spPr>
          <a:xfrm>
            <a:off x="469900" y="4250035"/>
            <a:ext cx="11074400" cy="646331"/>
          </a:xfrm>
          <a:prstGeom prst="rect">
            <a:avLst/>
          </a:prstGeom>
        </p:spPr>
        <p:txBody>
          <a:bodyPr wrap="square">
            <a:spAutoFit/>
          </a:bodyPr>
          <a:lstStyle/>
          <a:p>
            <a:r>
              <a:rPr lang="en-AU" b="0" i="0" dirty="0" smtClean="0">
                <a:solidFill>
                  <a:srgbClr val="444444"/>
                </a:solidFill>
                <a:effectLst/>
                <a:latin typeface="Arial" panose="020B0604020202020204" pitchFamily="34" charset="0"/>
              </a:rPr>
              <a:t>Halogens are </a:t>
            </a:r>
            <a:r>
              <a:rPr lang="en-AU" b="1" i="0" dirty="0" smtClean="0">
                <a:solidFill>
                  <a:srgbClr val="E04E50"/>
                </a:solidFill>
                <a:effectLst/>
                <a:latin typeface="Arial" panose="020B0604020202020204" pitchFamily="34" charset="0"/>
              </a:rPr>
              <a:t>toxic</a:t>
            </a:r>
            <a:r>
              <a:rPr lang="en-AU" b="0" i="0" dirty="0" smtClean="0">
                <a:solidFill>
                  <a:srgbClr val="444444"/>
                </a:solidFill>
                <a:effectLst/>
                <a:latin typeface="Arial" panose="020B0604020202020204" pitchFamily="34" charset="0"/>
              </a:rPr>
              <a:t> because they can </a:t>
            </a:r>
            <a:r>
              <a:rPr lang="en-AU" b="1" i="0" dirty="0" smtClean="0">
                <a:solidFill>
                  <a:srgbClr val="0066CC"/>
                </a:solidFill>
                <a:effectLst/>
                <a:latin typeface="Arial" panose="020B0604020202020204" pitchFamily="34" charset="0"/>
              </a:rPr>
              <a:t>react</a:t>
            </a:r>
            <a:r>
              <a:rPr lang="en-AU" b="0" i="0" dirty="0" smtClean="0">
                <a:solidFill>
                  <a:srgbClr val="444444"/>
                </a:solidFill>
                <a:effectLst/>
                <a:latin typeface="Arial" panose="020B0604020202020204" pitchFamily="34" charset="0"/>
              </a:rPr>
              <a:t> with most of the chemical compounds in your body! This is why the most reactive halogens are the most toxic.</a:t>
            </a:r>
            <a:endParaRPr lang="en-AU" dirty="0"/>
          </a:p>
        </p:txBody>
      </p:sp>
    </p:spTree>
    <p:extLst>
      <p:ext uri="{BB962C8B-B14F-4D97-AF65-F5344CB8AC3E}">
        <p14:creationId xmlns:p14="http://schemas.microsoft.com/office/powerpoint/2010/main" val="107433389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03200" y="565140"/>
            <a:ext cx="12166600" cy="2031325"/>
          </a:xfrm>
          <a:prstGeom prst="rect">
            <a:avLst/>
          </a:prstGeom>
        </p:spPr>
        <p:txBody>
          <a:bodyPr wrap="square">
            <a:spAutoFit/>
          </a:bodyPr>
          <a:lstStyle/>
          <a:p>
            <a:pPr algn="ctr"/>
            <a:r>
              <a:rPr lang="en-AU" b="0" i="0" dirty="0" smtClean="0">
                <a:solidFill>
                  <a:srgbClr val="444444"/>
                </a:solidFill>
                <a:effectLst/>
                <a:latin typeface="Arial" panose="020B0604020202020204" pitchFamily="34" charset="0"/>
              </a:rPr>
              <a:t>Halogens all form </a:t>
            </a:r>
            <a:r>
              <a:rPr lang="en-AU" b="1" i="0" dirty="0" smtClean="0">
                <a:solidFill>
                  <a:srgbClr val="228B22"/>
                </a:solidFill>
                <a:effectLst/>
                <a:latin typeface="Arial" panose="020B0604020202020204" pitchFamily="34" charset="0"/>
              </a:rPr>
              <a:t>similar compounds.</a:t>
            </a:r>
            <a:endParaRPr lang="en-AU" b="0" i="0" dirty="0" smtClean="0">
              <a:solidFill>
                <a:srgbClr val="444444"/>
              </a:solidFill>
              <a:effectLst/>
              <a:latin typeface="Arial" panose="020B0604020202020204" pitchFamily="34" charset="0"/>
            </a:endParaRPr>
          </a:p>
          <a:p>
            <a:pPr algn="ctr"/>
            <a:r>
              <a:rPr lang="en-AU" b="0" i="0" dirty="0" smtClean="0">
                <a:solidFill>
                  <a:srgbClr val="444444"/>
                </a:solidFill>
                <a:effectLst/>
                <a:latin typeface="Arial" panose="020B0604020202020204" pitchFamily="34" charset="0"/>
              </a:rPr>
              <a:t> </a:t>
            </a:r>
          </a:p>
          <a:p>
            <a:pPr algn="ctr"/>
            <a:r>
              <a:rPr lang="en-AU" b="1" i="0" dirty="0" smtClean="0">
                <a:solidFill>
                  <a:srgbClr val="444444"/>
                </a:solidFill>
                <a:effectLst/>
                <a:latin typeface="Arial" panose="020B0604020202020204" pitchFamily="34" charset="0"/>
              </a:rPr>
              <a:t>For example:</a:t>
            </a:r>
            <a:endParaRPr lang="en-AU" b="0" i="0" dirty="0" smtClean="0">
              <a:solidFill>
                <a:srgbClr val="444444"/>
              </a:solidFill>
              <a:effectLst/>
              <a:latin typeface="Arial" panose="020B0604020202020204" pitchFamily="34" charset="0"/>
            </a:endParaRPr>
          </a:p>
          <a:p>
            <a:pPr algn="ctr"/>
            <a:r>
              <a:rPr lang="en-AU" b="0" i="0" dirty="0" smtClean="0">
                <a:solidFill>
                  <a:srgbClr val="444444"/>
                </a:solidFill>
                <a:effectLst/>
                <a:latin typeface="Arial" panose="020B0604020202020204" pitchFamily="34" charset="0"/>
              </a:rPr>
              <a:t> </a:t>
            </a:r>
          </a:p>
          <a:p>
            <a:pPr algn="ctr"/>
            <a:r>
              <a:rPr lang="en-AU" b="0" i="0" dirty="0" smtClean="0">
                <a:solidFill>
                  <a:srgbClr val="444444"/>
                </a:solidFill>
                <a:effectLst/>
                <a:latin typeface="Arial" panose="020B0604020202020204" pitchFamily="34" charset="0"/>
              </a:rPr>
              <a:t>Halogens will react with sodium to form an </a:t>
            </a:r>
            <a:r>
              <a:rPr lang="en-AU" b="1" i="0" dirty="0" smtClean="0">
                <a:solidFill>
                  <a:srgbClr val="0066CC"/>
                </a:solidFill>
                <a:effectLst/>
                <a:latin typeface="Arial" panose="020B0604020202020204" pitchFamily="34" charset="0"/>
              </a:rPr>
              <a:t>ionic</a:t>
            </a:r>
            <a:r>
              <a:rPr lang="en-AU" b="0" i="0" dirty="0" smtClean="0">
                <a:solidFill>
                  <a:srgbClr val="444444"/>
                </a:solidFill>
                <a:effectLst/>
                <a:latin typeface="Arial" panose="020B0604020202020204" pitchFamily="34" charset="0"/>
              </a:rPr>
              <a:t> compound with the formula </a:t>
            </a:r>
            <a:r>
              <a:rPr lang="en-AU" b="0" i="0" dirty="0" err="1" smtClean="0">
                <a:solidFill>
                  <a:srgbClr val="444444"/>
                </a:solidFill>
                <a:effectLst/>
                <a:latin typeface="KaTeX_Main"/>
              </a:rPr>
              <a:t>NaX</a:t>
            </a:r>
            <a:r>
              <a:rPr lang="en-AU" b="0" i="0" dirty="0" smtClean="0">
                <a:solidFill>
                  <a:srgbClr val="444444"/>
                </a:solidFill>
                <a:effectLst/>
                <a:latin typeface="Arial" panose="020B0604020202020204" pitchFamily="34" charset="0"/>
              </a:rPr>
              <a:t>, where </a:t>
            </a:r>
            <a:r>
              <a:rPr lang="en-AU" b="0" i="0" dirty="0" smtClean="0">
                <a:solidFill>
                  <a:srgbClr val="444444"/>
                </a:solidFill>
                <a:effectLst/>
                <a:latin typeface="KaTeX_Main"/>
              </a:rPr>
              <a:t>X</a:t>
            </a:r>
            <a:r>
              <a:rPr lang="en-AU" b="0" i="0" dirty="0" smtClean="0">
                <a:solidFill>
                  <a:srgbClr val="444444"/>
                </a:solidFill>
                <a:effectLst/>
                <a:latin typeface="Arial" panose="020B0604020202020204" pitchFamily="34" charset="0"/>
              </a:rPr>
              <a:t> is any halogen.</a:t>
            </a:r>
          </a:p>
          <a:p>
            <a:pPr algn="ctr"/>
            <a:r>
              <a:rPr lang="en-AU" b="0" i="0" dirty="0" smtClean="0">
                <a:solidFill>
                  <a:srgbClr val="444444"/>
                </a:solidFill>
                <a:effectLst/>
                <a:latin typeface="Arial" panose="020B0604020202020204" pitchFamily="34" charset="0"/>
              </a:rPr>
              <a:t> </a:t>
            </a:r>
          </a:p>
          <a:p>
            <a:pPr algn="ctr"/>
            <a:r>
              <a:rPr lang="en-AU" b="0" i="0" dirty="0" smtClean="0">
                <a:solidFill>
                  <a:srgbClr val="444444"/>
                </a:solidFill>
                <a:effectLst/>
                <a:latin typeface="Arial" panose="020B0604020202020204" pitchFamily="34" charset="0"/>
              </a:rPr>
              <a:t>Halogens will react with carbon to form a </a:t>
            </a:r>
            <a:r>
              <a:rPr lang="en-AU" b="1" i="0" dirty="0" smtClean="0">
                <a:solidFill>
                  <a:srgbClr val="E04E50"/>
                </a:solidFill>
                <a:effectLst/>
                <a:latin typeface="Arial" panose="020B0604020202020204" pitchFamily="34" charset="0"/>
              </a:rPr>
              <a:t>covalent</a:t>
            </a:r>
            <a:r>
              <a:rPr lang="en-AU" b="0" i="0" dirty="0" smtClean="0">
                <a:solidFill>
                  <a:srgbClr val="444444"/>
                </a:solidFill>
                <a:effectLst/>
                <a:latin typeface="Arial" panose="020B0604020202020204" pitchFamily="34" charset="0"/>
              </a:rPr>
              <a:t> compound with the formula </a:t>
            </a:r>
            <a:r>
              <a:rPr lang="en-AU" b="0" i="0" dirty="0" smtClean="0">
                <a:solidFill>
                  <a:srgbClr val="444444"/>
                </a:solidFill>
                <a:effectLst/>
                <a:latin typeface="KaTeX_Main"/>
              </a:rPr>
              <a:t>CX</a:t>
            </a:r>
            <a:r>
              <a:rPr lang="en-AU" b="0" i="0" baseline="-25000" dirty="0" smtClean="0">
                <a:solidFill>
                  <a:srgbClr val="444444"/>
                </a:solidFill>
                <a:effectLst/>
                <a:latin typeface="KaTeX_Main"/>
              </a:rPr>
              <a:t>4​</a:t>
            </a:r>
            <a:r>
              <a:rPr lang="en-AU" b="0" i="0" dirty="0" smtClean="0">
                <a:solidFill>
                  <a:srgbClr val="444444"/>
                </a:solidFill>
                <a:effectLst/>
                <a:latin typeface="Arial" panose="020B0604020202020204" pitchFamily="34" charset="0"/>
              </a:rPr>
              <a:t>, where </a:t>
            </a:r>
            <a:r>
              <a:rPr lang="en-AU" b="0" i="0" dirty="0" smtClean="0">
                <a:solidFill>
                  <a:srgbClr val="444444"/>
                </a:solidFill>
                <a:effectLst/>
                <a:latin typeface="KaTeX_Main"/>
              </a:rPr>
              <a:t>X</a:t>
            </a:r>
            <a:r>
              <a:rPr lang="en-AU" b="0" i="0" dirty="0" smtClean="0">
                <a:solidFill>
                  <a:srgbClr val="444444"/>
                </a:solidFill>
                <a:effectLst/>
                <a:latin typeface="Arial" panose="020B0604020202020204" pitchFamily="34" charset="0"/>
              </a:rPr>
              <a:t> is any halogen.</a:t>
            </a:r>
            <a:endParaRPr lang="en-AU" b="0" i="0" dirty="0">
              <a:solidFill>
                <a:srgbClr val="444444"/>
              </a:solidFill>
              <a:effectLst/>
              <a:latin typeface="Arial" panose="020B0604020202020204" pitchFamily="34" charset="0"/>
            </a:endParaRPr>
          </a:p>
        </p:txBody>
      </p:sp>
      <p:pic>
        <p:nvPicPr>
          <p:cNvPr id="3" name="Picture 2"/>
          <p:cNvPicPr>
            <a:picLocks noChangeAspect="1"/>
          </p:cNvPicPr>
          <p:nvPr/>
        </p:nvPicPr>
        <p:blipFill>
          <a:blip r:embed="rId2"/>
          <a:stretch>
            <a:fillRect/>
          </a:stretch>
        </p:blipFill>
        <p:spPr>
          <a:xfrm>
            <a:off x="2195512" y="3659187"/>
            <a:ext cx="8172553" cy="2170113"/>
          </a:xfrm>
          <a:prstGeom prst="rect">
            <a:avLst/>
          </a:prstGeom>
        </p:spPr>
      </p:pic>
    </p:spTree>
    <p:extLst>
      <p:ext uri="{BB962C8B-B14F-4D97-AF65-F5344CB8AC3E}">
        <p14:creationId xmlns:p14="http://schemas.microsoft.com/office/powerpoint/2010/main" val="290424195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18</TotalTime>
  <Words>285</Words>
  <Application>Microsoft Office PowerPoint</Application>
  <PresentationFormat>Widescreen</PresentationFormat>
  <Paragraphs>147</Paragraphs>
  <Slides>42</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42</vt:i4>
      </vt:variant>
    </vt:vector>
  </HeadingPairs>
  <TitlesOfParts>
    <vt:vector size="49" baseType="lpstr">
      <vt:lpstr>Arial</vt:lpstr>
      <vt:lpstr>Calibri</vt:lpstr>
      <vt:lpstr>Calibri Light</vt:lpstr>
      <vt:lpstr>KaTeX_Main</vt:lpstr>
      <vt:lpstr>KaTeX_Math</vt:lpstr>
      <vt:lpstr>var(--HSDSGlobalFontFamily)</vt:lpstr>
      <vt:lpstr>Office Theme</vt:lpstr>
      <vt:lpstr>Trends in Periodic Table</vt:lpstr>
      <vt:lpstr>Trends in the Periodic Table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Periodic Trends: Electronegativity</vt:lpstr>
      <vt:lpstr>PowerPoint Presentation</vt:lpstr>
      <vt:lpstr>PowerPoint Presentation</vt:lpstr>
      <vt:lpstr>PowerPoint Presentation</vt:lpstr>
      <vt:lpstr>PowerPoint Presentation</vt:lpstr>
      <vt:lpstr>Periodic Trends: Ionisation Energy</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Periodic Trends: Metallic Character</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Trends in Periodic Table</dc:title>
  <dc:creator>Joseph D'cruz</dc:creator>
  <cp:lastModifiedBy>Joseph D'cruz</cp:lastModifiedBy>
  <cp:revision>3</cp:revision>
  <dcterms:created xsi:type="dcterms:W3CDTF">2021-12-18T13:25:26Z</dcterms:created>
  <dcterms:modified xsi:type="dcterms:W3CDTF">2021-12-18T13:43:52Z</dcterms:modified>
</cp:coreProperties>
</file>
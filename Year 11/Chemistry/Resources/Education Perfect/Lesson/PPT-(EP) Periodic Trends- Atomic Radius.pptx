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6A136544-CDA1-493E-A159-03E512B12CC7}"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3773809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A136544-CDA1-493E-A159-03E512B12CC7}"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708568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136544-CDA1-493E-A159-03E512B12CC7}"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1633890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6A136544-CDA1-493E-A159-03E512B12CC7}" type="datetimeFigureOut">
              <a:rPr lang="en-AU" smtClean="0"/>
              <a:t>6/09/2020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2826573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6A136544-CDA1-493E-A159-03E512B12CC7}" type="datetimeFigureOut">
              <a:rPr lang="en-AU" smtClean="0"/>
              <a:t>6/09/2020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2427935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6A136544-CDA1-493E-A159-03E512B12CC7}" type="datetimeFigureOut">
              <a:rPr lang="en-AU" smtClean="0"/>
              <a:t>6/09/2020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2525057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136544-CDA1-493E-A159-03E512B12CC7}" type="datetimeFigureOut">
              <a:rPr lang="en-AU" smtClean="0"/>
              <a:t>6/09/2020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1055581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A136544-CDA1-493E-A159-03E512B12CC7}" type="datetimeFigureOut">
              <a:rPr lang="en-AU" smtClean="0"/>
              <a:t>6/09/2020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3109561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A136544-CDA1-493E-A159-03E512B12CC7}" type="datetimeFigureOut">
              <a:rPr lang="en-AU" smtClean="0"/>
              <a:t>6/09/2020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577806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A136544-CDA1-493E-A159-03E512B12CC7}"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75874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A136544-CDA1-493E-A159-03E512B12CC7}"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6264DFC-0DF7-48A2-9E16-E7D6B6FA6B5B}" type="slidenum">
              <a:rPr lang="en-AU" smtClean="0"/>
              <a:t>‹#›</a:t>
            </a:fld>
            <a:endParaRPr lang="en-AU"/>
          </a:p>
        </p:txBody>
      </p:sp>
    </p:spTree>
    <p:extLst>
      <p:ext uri="{BB962C8B-B14F-4D97-AF65-F5344CB8AC3E}">
        <p14:creationId xmlns:p14="http://schemas.microsoft.com/office/powerpoint/2010/main" val="2500664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136544-CDA1-493E-A159-03E512B12CC7}" type="datetimeFigureOut">
              <a:rPr lang="en-AU" smtClean="0"/>
              <a:t>6/09/2020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264DFC-0DF7-48A2-9E16-E7D6B6FA6B5B}" type="slidenum">
              <a:rPr lang="en-AU" smtClean="0"/>
              <a:t>‹#›</a:t>
            </a:fld>
            <a:endParaRPr lang="en-AU"/>
          </a:p>
        </p:txBody>
      </p:sp>
    </p:spTree>
    <p:extLst>
      <p:ext uri="{BB962C8B-B14F-4D97-AF65-F5344CB8AC3E}">
        <p14:creationId xmlns:p14="http://schemas.microsoft.com/office/powerpoint/2010/main" val="299069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Periodic Trends- Atomic Radius</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740753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79839" y="971034"/>
            <a:ext cx="4057521" cy="369332"/>
          </a:xfrm>
          <a:prstGeom prst="rect">
            <a:avLst/>
          </a:prstGeom>
        </p:spPr>
        <p:txBody>
          <a:bodyPr wrap="none">
            <a:spAutoFit/>
          </a:bodyPr>
          <a:lstStyle/>
          <a:p>
            <a:r>
              <a:rPr lang="en-AU" b="1" i="0" dirty="0" smtClean="0">
                <a:solidFill>
                  <a:srgbClr val="444444"/>
                </a:solidFill>
                <a:effectLst/>
                <a:latin typeface="Arial" panose="020B0604020202020204" pitchFamily="34" charset="0"/>
              </a:rPr>
              <a:t>In this Smart Lesson you will learn:</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2624890271"/>
              </p:ext>
            </p:extLst>
          </p:nvPr>
        </p:nvGraphicFramePr>
        <p:xfrm>
          <a:off x="723900" y="1663224"/>
          <a:ext cx="10515600" cy="1714500"/>
        </p:xfrm>
        <a:graphic>
          <a:graphicData uri="http://schemas.openxmlformats.org/drawingml/2006/table">
            <a:tbl>
              <a:tblPr/>
              <a:tblGrid>
                <a:gridCol w="1130300">
                  <a:extLst>
                    <a:ext uri="{9D8B030D-6E8A-4147-A177-3AD203B41FA5}">
                      <a16:colId xmlns:a16="http://schemas.microsoft.com/office/drawing/2014/main" val="249233583"/>
                    </a:ext>
                  </a:extLst>
                </a:gridCol>
                <a:gridCol w="9385300">
                  <a:extLst>
                    <a:ext uri="{9D8B030D-6E8A-4147-A177-3AD203B41FA5}">
                      <a16:colId xmlns:a16="http://schemas.microsoft.com/office/drawing/2014/main" val="4241558866"/>
                    </a:ext>
                  </a:extLst>
                </a:gridCol>
              </a:tblGrid>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a:effectLst/>
                        </a:rPr>
                        <a:t>What we can determine about the </a:t>
                      </a:r>
                      <a:r>
                        <a:rPr lang="en-AU" b="1">
                          <a:solidFill>
                            <a:srgbClr val="009900"/>
                          </a:solidFill>
                          <a:effectLst/>
                        </a:rPr>
                        <a:t>electron configuration</a:t>
                      </a:r>
                      <a:r>
                        <a:rPr lang="en-AU">
                          <a:effectLst/>
                        </a:rPr>
                        <a:t> of an element based on its location in the </a:t>
                      </a:r>
                      <a:r>
                        <a:rPr lang="en-AU" b="1">
                          <a:solidFill>
                            <a:srgbClr val="0000FF"/>
                          </a:solidFill>
                          <a:effectLst/>
                        </a:rPr>
                        <a:t>periodic table</a:t>
                      </a:r>
                      <a:r>
                        <a:rPr lang="en-AU">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415632464"/>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a:effectLst/>
                        </a:rPr>
                        <a:t>About a property of an atom called the </a:t>
                      </a:r>
                      <a:r>
                        <a:rPr lang="en-AU" b="1">
                          <a:solidFill>
                            <a:srgbClr val="FF0000"/>
                          </a:solidFill>
                          <a:effectLst/>
                        </a:rPr>
                        <a:t>atomic radius</a:t>
                      </a:r>
                      <a:r>
                        <a:rPr lang="en-AU">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818264396"/>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dirty="0">
                          <a:effectLst/>
                        </a:rPr>
                        <a:t>How the </a:t>
                      </a:r>
                      <a:r>
                        <a:rPr lang="en-AU" b="1" dirty="0">
                          <a:solidFill>
                            <a:srgbClr val="FF0000"/>
                          </a:solidFill>
                          <a:effectLst/>
                        </a:rPr>
                        <a:t>atomic radius</a:t>
                      </a:r>
                      <a:r>
                        <a:rPr lang="en-AU" dirty="0">
                          <a:effectLst/>
                        </a:rPr>
                        <a:t> differs between elements and the </a:t>
                      </a:r>
                      <a:r>
                        <a:rPr lang="en-AU" b="1" dirty="0">
                          <a:effectLst/>
                        </a:rPr>
                        <a:t>trend</a:t>
                      </a:r>
                      <a:r>
                        <a:rPr lang="en-AU" dirty="0">
                          <a:effectLst/>
                        </a:rPr>
                        <a:t> it follows across and down the </a:t>
                      </a:r>
                      <a:r>
                        <a:rPr lang="en-AU" b="1" dirty="0">
                          <a:solidFill>
                            <a:srgbClr val="0000FF"/>
                          </a:solidFill>
                          <a:effectLst/>
                        </a:rPr>
                        <a:t>periodic table</a:t>
                      </a:r>
                      <a:r>
                        <a:rPr lang="en-AU" dirty="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649587984"/>
                  </a:ext>
                </a:extLst>
              </a:tr>
            </a:tbl>
          </a:graphicData>
        </a:graphic>
      </p:graphicFrame>
      <p:pic>
        <p:nvPicPr>
          <p:cNvPr id="1027" name="Picture 3" descr="https://www.educationperfect.com/media/content/Science/1491436624.314061g/1491436626114-49227684277254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5075" y="3686175"/>
            <a:ext cx="381000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68396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821035"/>
            <a:ext cx="85471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While the </a:t>
            </a:r>
            <a:r>
              <a:rPr lang="en-AU" b="1" i="0" dirty="0" smtClean="0">
                <a:solidFill>
                  <a:srgbClr val="444444"/>
                </a:solidFill>
                <a:effectLst/>
                <a:latin typeface="Arial" panose="020B0604020202020204" pitchFamily="34" charset="0"/>
              </a:rPr>
              <a:t>periodic table</a:t>
            </a:r>
            <a:r>
              <a:rPr lang="en-AU" b="0" i="0" dirty="0" smtClean="0">
                <a:solidFill>
                  <a:srgbClr val="444444"/>
                </a:solidFill>
                <a:effectLst/>
                <a:latin typeface="Arial" panose="020B0604020202020204" pitchFamily="34" charset="0"/>
              </a:rPr>
              <a:t> is organised in order of increasing </a:t>
            </a:r>
            <a:r>
              <a:rPr lang="en-AU" b="1" i="0" dirty="0" smtClean="0">
                <a:solidFill>
                  <a:srgbClr val="444444"/>
                </a:solidFill>
                <a:effectLst/>
                <a:latin typeface="Arial" panose="020B0604020202020204" pitchFamily="34" charset="0"/>
              </a:rPr>
              <a:t>atomic number</a:t>
            </a:r>
            <a:r>
              <a:rPr lang="en-AU" b="0" i="0" dirty="0" smtClean="0">
                <a:solidFill>
                  <a:srgbClr val="444444"/>
                </a:solidFill>
                <a:effectLst/>
                <a:latin typeface="Arial" panose="020B0604020202020204" pitchFamily="34" charset="0"/>
              </a:rPr>
              <a:t> several trends and groupings are the result of </a:t>
            </a:r>
            <a:r>
              <a:rPr lang="en-AU" b="1" i="0" dirty="0" smtClean="0">
                <a:solidFill>
                  <a:srgbClr val="009900"/>
                </a:solidFill>
                <a:effectLst/>
                <a:latin typeface="Arial" panose="020B0604020202020204" pitchFamily="34" charset="0"/>
              </a:rPr>
              <a:t>electronic configuration</a:t>
            </a:r>
            <a:r>
              <a:rPr lang="en-AU" b="0" i="0" dirty="0" smtClean="0">
                <a:solidFill>
                  <a:srgbClr val="444444"/>
                </a:solidFill>
                <a:effectLst/>
                <a:latin typeface="Arial" panose="020B0604020202020204" pitchFamily="34" charset="0"/>
              </a:rPr>
              <a:t>.</a:t>
            </a:r>
            <a:endParaRPr lang="en-AU" dirty="0"/>
          </a:p>
        </p:txBody>
      </p:sp>
      <p:pic>
        <p:nvPicPr>
          <p:cNvPr id="2050" name="Picture 2" descr="https://www.educationperfect.com/media/content/Science/1491790237.535471g/1491790242670-1593301128695777-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675" y="1933575"/>
            <a:ext cx="76009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681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 y="735737"/>
            <a:ext cx="112268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Each element in a </a:t>
            </a:r>
            <a:r>
              <a:rPr lang="en-AU" b="1" i="0" dirty="0" smtClean="0">
                <a:solidFill>
                  <a:srgbClr val="0000FF"/>
                </a:solidFill>
                <a:effectLst/>
                <a:latin typeface="Arial" panose="020B0604020202020204" pitchFamily="34" charset="0"/>
              </a:rPr>
              <a:t>period</a:t>
            </a:r>
            <a:r>
              <a:rPr lang="en-AU" b="0" i="0" dirty="0" smtClean="0">
                <a:solidFill>
                  <a:srgbClr val="444444"/>
                </a:solidFill>
                <a:effectLst/>
                <a:latin typeface="Arial" panose="020B0604020202020204" pitchFamily="34" charset="0"/>
              </a:rPr>
              <a:t> (horizontal row) of the periodic table has its </a:t>
            </a:r>
            <a:r>
              <a:rPr lang="en-AU" b="1" i="0" dirty="0" smtClean="0">
                <a:solidFill>
                  <a:srgbClr val="009900"/>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in the </a:t>
            </a:r>
            <a:r>
              <a:rPr lang="en-AU" b="0" i="1" dirty="0" smtClean="0">
                <a:solidFill>
                  <a:srgbClr val="444444"/>
                </a:solidFill>
                <a:effectLst/>
                <a:latin typeface="Arial" panose="020B0604020202020204" pitchFamily="34" charset="0"/>
              </a:rPr>
              <a:t>same energy level</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consider the </a:t>
            </a:r>
            <a:r>
              <a:rPr lang="en-AU" b="1" i="0" dirty="0" smtClean="0">
                <a:solidFill>
                  <a:srgbClr val="FF0000"/>
                </a:solidFill>
                <a:effectLst/>
                <a:latin typeface="Arial" panose="020B0604020202020204" pitchFamily="34" charset="0"/>
              </a:rPr>
              <a:t>second period</a:t>
            </a:r>
            <a:r>
              <a:rPr lang="en-AU" b="0" i="0" dirty="0" smtClean="0">
                <a:solidFill>
                  <a:srgbClr val="444444"/>
                </a:solidFill>
                <a:effectLst/>
                <a:latin typeface="Arial" panose="020B0604020202020204" pitchFamily="34" charset="0"/>
              </a:rPr>
              <a:t> elements </a:t>
            </a:r>
            <a:r>
              <a:rPr lang="en-AU" b="1" i="0" dirty="0" smtClean="0">
                <a:solidFill>
                  <a:srgbClr val="444444"/>
                </a:solidFill>
                <a:effectLst/>
                <a:latin typeface="Arial" panose="020B0604020202020204" pitchFamily="34" charset="0"/>
              </a:rPr>
              <a:t>lithium</a:t>
            </a:r>
            <a:r>
              <a:rPr lang="en-AU" b="0" i="0" dirty="0" smtClean="0">
                <a:solidFill>
                  <a:srgbClr val="444444"/>
                </a:solidFill>
                <a:effectLst/>
                <a:latin typeface="Arial" panose="020B0604020202020204" pitchFamily="34" charset="0"/>
              </a:rPr>
              <a:t> and </a:t>
            </a:r>
            <a:r>
              <a:rPr lang="en-AU" b="1" i="0" dirty="0" smtClean="0">
                <a:solidFill>
                  <a:srgbClr val="444444"/>
                </a:solidFill>
                <a:effectLst/>
                <a:latin typeface="Arial" panose="020B0604020202020204" pitchFamily="34" charset="0"/>
              </a:rPr>
              <a:t>fluorine</a:t>
            </a:r>
            <a:r>
              <a:rPr lang="en-AU" b="0" i="0" dirty="0" smtClean="0">
                <a:solidFill>
                  <a:srgbClr val="444444"/>
                </a:solidFill>
                <a:effectLst/>
                <a:latin typeface="Arial" panose="020B0604020202020204" pitchFamily="34" charset="0"/>
              </a:rPr>
              <a:t>, which both have </a:t>
            </a:r>
            <a:r>
              <a:rPr lang="en-AU" b="1" i="0" dirty="0" smtClean="0">
                <a:solidFill>
                  <a:srgbClr val="444444"/>
                </a:solidFill>
                <a:effectLst/>
                <a:latin typeface="Arial" panose="020B0604020202020204" pitchFamily="34" charset="0"/>
              </a:rPr>
              <a:t>two electron shells</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420575968.127711g/1420575968820-209986839-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1975" y="35052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ww.educationperfect.com/media/content/Science/1420575692.924451g/1420575693607-209986839-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1300" y="35052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234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338"/>
            <a:ext cx="11341100"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Each element in a </a:t>
            </a:r>
            <a:r>
              <a:rPr lang="en-AU" b="1" i="0" dirty="0" smtClean="0">
                <a:solidFill>
                  <a:srgbClr val="FF0000"/>
                </a:solidFill>
                <a:effectLst/>
                <a:latin typeface="Arial" panose="020B0604020202020204" pitchFamily="34" charset="0"/>
              </a:rPr>
              <a:t>group</a:t>
            </a:r>
            <a:r>
              <a:rPr lang="en-AU" b="0" i="0" dirty="0" smtClean="0">
                <a:solidFill>
                  <a:srgbClr val="444444"/>
                </a:solidFill>
                <a:effectLst/>
                <a:latin typeface="Arial" panose="020B0604020202020204" pitchFamily="34" charset="0"/>
              </a:rPr>
              <a:t> (vertical column) of the periodic table has the </a:t>
            </a:r>
            <a:r>
              <a:rPr lang="en-AU" b="0" i="1" dirty="0" smtClean="0">
                <a:solidFill>
                  <a:srgbClr val="444444"/>
                </a:solidFill>
                <a:effectLst/>
                <a:latin typeface="Arial" panose="020B0604020202020204" pitchFamily="34" charset="0"/>
              </a:rPr>
              <a:t>same number</a:t>
            </a:r>
            <a:r>
              <a:rPr lang="en-AU" b="0" i="0" dirty="0" smtClean="0">
                <a:solidFill>
                  <a:srgbClr val="444444"/>
                </a:solidFill>
                <a:effectLst/>
                <a:latin typeface="Arial" panose="020B0604020202020204" pitchFamily="34" charset="0"/>
              </a:rPr>
              <a:t> of </a:t>
            </a:r>
            <a:r>
              <a:rPr lang="en-AU" b="1" i="0" dirty="0" smtClean="0">
                <a:solidFill>
                  <a:srgbClr val="009900"/>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(number of electrons in the outer shell).</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consider the </a:t>
            </a:r>
            <a:r>
              <a:rPr lang="en-AU" b="1" i="0" dirty="0" smtClean="0">
                <a:solidFill>
                  <a:srgbClr val="444444"/>
                </a:solidFill>
                <a:effectLst/>
                <a:latin typeface="Arial" panose="020B0604020202020204" pitchFamily="34" charset="0"/>
              </a:rPr>
              <a:t>group</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16</a:t>
            </a:r>
            <a:r>
              <a:rPr lang="en-AU" b="0" i="0" dirty="0" smtClean="0">
                <a:solidFill>
                  <a:srgbClr val="444444"/>
                </a:solidFill>
                <a:effectLst/>
                <a:latin typeface="Arial" panose="020B0604020202020204" pitchFamily="34" charset="0"/>
              </a:rPr>
              <a:t> elements </a:t>
            </a:r>
            <a:r>
              <a:rPr lang="en-AU" b="1" i="0" dirty="0" smtClean="0">
                <a:solidFill>
                  <a:srgbClr val="444444"/>
                </a:solidFill>
                <a:effectLst/>
                <a:latin typeface="Arial" panose="020B0604020202020204" pitchFamily="34" charset="0"/>
              </a:rPr>
              <a:t>oxygen</a:t>
            </a:r>
            <a:r>
              <a:rPr lang="en-AU" b="0" i="0" dirty="0" smtClean="0">
                <a:solidFill>
                  <a:srgbClr val="444444"/>
                </a:solidFill>
                <a:effectLst/>
                <a:latin typeface="Arial" panose="020B0604020202020204" pitchFamily="34" charset="0"/>
              </a:rPr>
              <a:t> and </a:t>
            </a:r>
            <a:r>
              <a:rPr lang="en-AU" b="1" i="0" dirty="0" err="1" smtClean="0">
                <a:solidFill>
                  <a:srgbClr val="444444"/>
                </a:solidFill>
                <a:effectLst/>
                <a:latin typeface="Arial" panose="020B0604020202020204" pitchFamily="34" charset="0"/>
              </a:rPr>
              <a:t>sulfur</a:t>
            </a:r>
            <a:r>
              <a:rPr lang="en-AU" b="0" i="0" dirty="0" smtClean="0">
                <a:solidFill>
                  <a:srgbClr val="444444"/>
                </a:solidFill>
                <a:effectLst/>
                <a:latin typeface="Arial" panose="020B0604020202020204" pitchFamily="34" charset="0"/>
              </a:rPr>
              <a:t> which both have </a:t>
            </a:r>
            <a:r>
              <a:rPr lang="en-AU" b="1" i="0" dirty="0" smtClean="0">
                <a:solidFill>
                  <a:srgbClr val="444444"/>
                </a:solidFill>
                <a:effectLst/>
                <a:latin typeface="KaTeX_Main"/>
              </a:rPr>
              <a:t>6</a:t>
            </a:r>
            <a:r>
              <a:rPr lang="en-AU" b="0" i="0" dirty="0" smtClean="0">
                <a:solidFill>
                  <a:srgbClr val="444444"/>
                </a:solidFill>
                <a:effectLst/>
                <a:latin typeface="Arial" panose="020B0604020202020204" pitchFamily="34" charset="0"/>
              </a:rPr>
              <a:t> </a:t>
            </a:r>
            <a:r>
              <a:rPr lang="en-AU" b="1" i="0" dirty="0" smtClean="0">
                <a:solidFill>
                  <a:srgbClr val="009900"/>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4098" name="Picture 2" descr="https://www.educationperfect.com/media/content/Science/1420576439.78421g/1420576440520-2099868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75" y="2692400"/>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www.educationperfect.com/media/content/Science/1420575933.94021g/1420575934696-209986839-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175" y="36449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819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4700" y="667435"/>
            <a:ext cx="9944100"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t>
            </a:r>
            <a:r>
              <a:rPr lang="en-AU" b="1" i="0" dirty="0" smtClean="0">
                <a:solidFill>
                  <a:srgbClr val="FF0000"/>
                </a:solidFill>
                <a:effectLst/>
                <a:latin typeface="Arial" panose="020B0604020202020204" pitchFamily="34" charset="0"/>
              </a:rPr>
              <a:t>atomic radius</a:t>
            </a:r>
            <a:r>
              <a:rPr lang="en-AU" b="0" i="0" dirty="0" smtClean="0">
                <a:solidFill>
                  <a:srgbClr val="444444"/>
                </a:solidFill>
                <a:effectLst/>
                <a:latin typeface="Arial" panose="020B0604020202020204" pitchFamily="34" charset="0"/>
              </a:rPr>
              <a:t> is a measure of the </a:t>
            </a:r>
            <a:r>
              <a:rPr lang="en-AU" b="1" i="0" dirty="0" smtClean="0">
                <a:solidFill>
                  <a:srgbClr val="444444"/>
                </a:solidFill>
                <a:effectLst/>
                <a:latin typeface="Arial" panose="020B0604020202020204" pitchFamily="34" charset="0"/>
              </a:rPr>
              <a:t>radius of a single atom</a:t>
            </a:r>
            <a:r>
              <a:rPr lang="en-AU" b="0" i="0" dirty="0" smtClean="0">
                <a:solidFill>
                  <a:srgbClr val="444444"/>
                </a:solidFill>
                <a:effectLst/>
                <a:latin typeface="Arial" panose="020B0604020202020204" pitchFamily="34" charset="0"/>
              </a:rPr>
              <a:t> and varies between elements.</a:t>
            </a:r>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3443812549"/>
              </p:ext>
            </p:extLst>
          </p:nvPr>
        </p:nvGraphicFramePr>
        <p:xfrm>
          <a:off x="774700" y="2079784"/>
          <a:ext cx="5340350" cy="1211580"/>
        </p:xfrm>
        <a:graphic>
          <a:graphicData uri="http://schemas.openxmlformats.org/drawingml/2006/table">
            <a:tbl>
              <a:tblPr/>
              <a:tblGrid>
                <a:gridCol w="5340350">
                  <a:extLst>
                    <a:ext uri="{9D8B030D-6E8A-4147-A177-3AD203B41FA5}">
                      <a16:colId xmlns:a16="http://schemas.microsoft.com/office/drawing/2014/main" val="1769626387"/>
                    </a:ext>
                  </a:extLst>
                </a:gridCol>
              </a:tblGrid>
              <a:tr h="0">
                <a:tc>
                  <a:txBody>
                    <a:bodyPr/>
                    <a:lstStyle/>
                    <a:p>
                      <a:pPr algn="l" fontAlgn="ctr"/>
                      <a:r>
                        <a:rPr lang="en-AU" dirty="0">
                          <a:effectLst/>
                        </a:rPr>
                        <a:t>It is often measured as </a:t>
                      </a:r>
                      <a:r>
                        <a:rPr lang="en-AU" b="1" i="1" dirty="0">
                          <a:effectLst/>
                        </a:rPr>
                        <a:t>half</a:t>
                      </a:r>
                      <a:r>
                        <a:rPr lang="en-AU" b="1" dirty="0">
                          <a:effectLst/>
                        </a:rPr>
                        <a:t> the shortest distance between two atoms</a:t>
                      </a:r>
                      <a:r>
                        <a:rPr lang="en-AU" dirty="0">
                          <a:effectLst/>
                        </a:rPr>
                        <a:t> in a </a:t>
                      </a:r>
                      <a:r>
                        <a:rPr lang="en-AU" dirty="0" err="1">
                          <a:effectLst/>
                        </a:rPr>
                        <a:t>homonuclear</a:t>
                      </a:r>
                      <a:r>
                        <a:rPr lang="en-AU" dirty="0">
                          <a:effectLst/>
                        </a:rPr>
                        <a:t> diatomic molecule (a molecule made up of only two atoms of the same element). In the diagram this would be </a:t>
                      </a:r>
                      <a:r>
                        <a:rPr lang="en-AU" b="1" dirty="0">
                          <a:effectLst/>
                          <a:latin typeface="KaTeX_Main"/>
                        </a:rPr>
                        <a:t>½ d</a:t>
                      </a:r>
                      <a:r>
                        <a:rPr lang="en-AU" dirty="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660281775"/>
                  </a:ext>
                </a:extLst>
              </a:tr>
            </a:tbl>
          </a:graphicData>
        </a:graphic>
      </p:graphicFrame>
      <p:pic>
        <p:nvPicPr>
          <p:cNvPr id="5122" name="Picture 2" descr="https://www.educationperfect.com/media/content/Science/1441070976.878071g/1441070980110-3058790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6925" y="1808163"/>
            <a:ext cx="3800475" cy="3162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219200" y="4970463"/>
            <a:ext cx="93599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For example, if we wished to measure the atomic radius of an oxygen atom we would examine the diatomic compound </a:t>
            </a:r>
            <a:r>
              <a:rPr lang="en-AU" b="0" i="0" dirty="0" smtClean="0">
                <a:solidFill>
                  <a:srgbClr val="444444"/>
                </a:solidFill>
                <a:effectLst/>
                <a:latin typeface="KaTeX_Main"/>
              </a:rPr>
              <a:t>O</a:t>
            </a:r>
            <a:r>
              <a:rPr lang="en-AU" b="0" i="0" baseline="-25000" dirty="0" smtClean="0">
                <a:solidFill>
                  <a:srgbClr val="444444"/>
                </a:solidFill>
                <a:effectLst/>
                <a:latin typeface="KaTeX_Main"/>
              </a:rPr>
              <a:t>2</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The atomic radius in this case would be </a:t>
            </a:r>
            <a:r>
              <a:rPr lang="en-AU" b="1" i="0" dirty="0" smtClean="0">
                <a:solidFill>
                  <a:srgbClr val="444444"/>
                </a:solidFill>
                <a:effectLst/>
                <a:latin typeface="Arial" panose="020B0604020202020204" pitchFamily="34" charset="0"/>
              </a:rPr>
              <a:t>half the bond length</a:t>
            </a:r>
            <a:r>
              <a:rPr lang="en-AU" b="0" i="0" dirty="0" smtClean="0">
                <a:solidFill>
                  <a:srgbClr val="444444"/>
                </a:solidFill>
                <a:effectLst/>
                <a:latin typeface="Arial" panose="020B0604020202020204" pitchFamily="34" charset="0"/>
              </a:rPr>
              <a:t> between the oxygen atoms.</a:t>
            </a:r>
            <a:endParaRPr lang="en-AU" dirty="0"/>
          </a:p>
        </p:txBody>
      </p:sp>
    </p:spTree>
    <p:extLst>
      <p:ext uri="{BB962C8B-B14F-4D97-AF65-F5344CB8AC3E}">
        <p14:creationId xmlns:p14="http://schemas.microsoft.com/office/powerpoint/2010/main" val="982667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5500" y="487740"/>
            <a:ext cx="107315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width of atoms, measured as the </a:t>
            </a:r>
            <a:r>
              <a:rPr lang="en-AU" b="1" i="0" dirty="0" smtClean="0">
                <a:solidFill>
                  <a:srgbClr val="FF0000"/>
                </a:solidFill>
                <a:effectLst/>
                <a:latin typeface="Arial" panose="020B0604020202020204" pitchFamily="34" charset="0"/>
              </a:rPr>
              <a:t>atomic radius</a:t>
            </a:r>
            <a:r>
              <a:rPr lang="en-AU" b="0" i="0" dirty="0" smtClean="0">
                <a:solidFill>
                  <a:srgbClr val="444444"/>
                </a:solidFill>
                <a:effectLst/>
                <a:latin typeface="Arial" panose="020B0604020202020204" pitchFamily="34" charset="0"/>
              </a:rPr>
              <a:t>, tends to </a:t>
            </a:r>
            <a:r>
              <a:rPr lang="en-AU" b="0" i="1" dirty="0" smtClean="0">
                <a:solidFill>
                  <a:srgbClr val="444444"/>
                </a:solidFill>
                <a:effectLst/>
                <a:latin typeface="Arial" panose="020B0604020202020204" pitchFamily="34" charset="0"/>
              </a:rPr>
              <a:t>increase</a:t>
            </a:r>
            <a:r>
              <a:rPr lang="en-AU" b="0" i="0" dirty="0" smtClean="0">
                <a:solidFill>
                  <a:srgbClr val="444444"/>
                </a:solidFill>
                <a:effectLst/>
                <a:latin typeface="Arial" panose="020B0604020202020204" pitchFamily="34" charset="0"/>
              </a:rPr>
              <a:t> going down the periodic table but </a:t>
            </a:r>
            <a:r>
              <a:rPr lang="en-AU" b="0" i="1" dirty="0" smtClean="0">
                <a:solidFill>
                  <a:srgbClr val="444444"/>
                </a:solidFill>
                <a:effectLst/>
                <a:latin typeface="Arial" panose="020B0604020202020204" pitchFamily="34" charset="0"/>
              </a:rPr>
              <a:t>decrease</a:t>
            </a:r>
            <a:r>
              <a:rPr lang="en-AU" b="0" i="0" dirty="0" smtClean="0">
                <a:solidFill>
                  <a:srgbClr val="444444"/>
                </a:solidFill>
                <a:effectLst/>
                <a:latin typeface="Arial" panose="020B0604020202020204" pitchFamily="34" charset="0"/>
              </a:rPr>
              <a:t> with increasing group number. The atoms with the </a:t>
            </a:r>
            <a:r>
              <a:rPr lang="en-AU" b="0" i="1" dirty="0" smtClean="0">
                <a:solidFill>
                  <a:srgbClr val="444444"/>
                </a:solidFill>
                <a:effectLst/>
                <a:latin typeface="Arial" panose="020B0604020202020204" pitchFamily="34" charset="0"/>
              </a:rPr>
              <a:t>largest</a:t>
            </a:r>
            <a:r>
              <a:rPr lang="en-AU" b="0" i="0" dirty="0" smtClean="0">
                <a:solidFill>
                  <a:srgbClr val="444444"/>
                </a:solidFill>
                <a:effectLst/>
                <a:latin typeface="Arial" panose="020B0604020202020204" pitchFamily="34" charset="0"/>
              </a:rPr>
              <a:t> atomic radii are located at the </a:t>
            </a:r>
            <a:r>
              <a:rPr lang="en-AU" b="1" i="0" dirty="0" smtClean="0">
                <a:solidFill>
                  <a:srgbClr val="444444"/>
                </a:solidFill>
                <a:effectLst/>
                <a:latin typeface="Arial" panose="020B0604020202020204" pitchFamily="34" charset="0"/>
              </a:rPr>
              <a:t>bottom-left</a:t>
            </a:r>
            <a:r>
              <a:rPr lang="en-AU" b="0" i="0" dirty="0" smtClean="0">
                <a:solidFill>
                  <a:srgbClr val="444444"/>
                </a:solidFill>
                <a:effectLst/>
                <a:latin typeface="Arial" panose="020B0604020202020204" pitchFamily="34" charset="0"/>
              </a:rPr>
              <a:t> of the periodic table.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is because as the period number increases the number of </a:t>
            </a:r>
            <a:r>
              <a:rPr lang="en-AU" b="1" i="0" dirty="0" smtClean="0">
                <a:solidFill>
                  <a:srgbClr val="009900"/>
                </a:solidFill>
                <a:effectLst/>
                <a:latin typeface="Arial" panose="020B0604020202020204" pitchFamily="34" charset="0"/>
              </a:rPr>
              <a:t>electron shells</a:t>
            </a:r>
            <a:r>
              <a:rPr lang="en-AU" b="0" i="0" dirty="0" smtClean="0">
                <a:solidFill>
                  <a:srgbClr val="444444"/>
                </a:solidFill>
                <a:effectLst/>
                <a:latin typeface="Arial" panose="020B0604020202020204" pitchFamily="34" charset="0"/>
              </a:rPr>
              <a:t> an element has also increases. As the group number increases elements have </a:t>
            </a:r>
            <a:r>
              <a:rPr lang="en-AU" b="1" i="0" dirty="0" smtClean="0">
                <a:solidFill>
                  <a:srgbClr val="444444"/>
                </a:solidFill>
                <a:effectLst/>
                <a:latin typeface="Arial" panose="020B0604020202020204" pitchFamily="34" charset="0"/>
              </a:rPr>
              <a:t>more protons</a:t>
            </a:r>
            <a:r>
              <a:rPr lang="en-AU" b="0" i="0" dirty="0" smtClean="0">
                <a:solidFill>
                  <a:srgbClr val="444444"/>
                </a:solidFill>
                <a:effectLst/>
                <a:latin typeface="Arial" panose="020B0604020202020204" pitchFamily="34" charset="0"/>
              </a:rPr>
              <a:t>, as such the attraction between the electrons and the nucleus increases so the electrons move closer.</a:t>
            </a:r>
            <a:endParaRPr lang="en-AU" b="0" i="0" dirty="0">
              <a:solidFill>
                <a:srgbClr val="444444"/>
              </a:solidFill>
              <a:effectLst/>
              <a:latin typeface="Arial" panose="020B0604020202020204" pitchFamily="34" charset="0"/>
            </a:endParaRPr>
          </a:p>
        </p:txBody>
      </p:sp>
      <p:pic>
        <p:nvPicPr>
          <p:cNvPr id="6146" name="Picture 2" descr="https://www.educationperfect.com/media/content/Science/1433388240.258021g/1433388238844-30584990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6637" y="3211511"/>
            <a:ext cx="5229225" cy="3008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091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6100" y="580936"/>
            <a:ext cx="109347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t>
            </a:r>
            <a:r>
              <a:rPr lang="en-AU" b="1" i="1" dirty="0" smtClean="0">
                <a:solidFill>
                  <a:srgbClr val="444444"/>
                </a:solidFill>
                <a:effectLst/>
                <a:latin typeface="Arial" panose="020B0604020202020204" pitchFamily="34" charset="0"/>
              </a:rPr>
              <a:t>atomic radius</a:t>
            </a:r>
            <a:r>
              <a:rPr lang="en-AU" b="0" i="0" dirty="0" smtClean="0">
                <a:solidFill>
                  <a:srgbClr val="444444"/>
                </a:solidFill>
                <a:effectLst/>
                <a:latin typeface="Arial" panose="020B0604020202020204" pitchFamily="34" charset="0"/>
              </a:rPr>
              <a:t> tends to </a:t>
            </a:r>
            <a:r>
              <a:rPr lang="en-AU" b="1" i="0" dirty="0" smtClean="0">
                <a:solidFill>
                  <a:srgbClr val="0000FF"/>
                </a:solidFill>
                <a:effectLst/>
                <a:latin typeface="Arial" panose="020B0604020202020204" pitchFamily="34" charset="0"/>
              </a:rPr>
              <a:t>increase going down a group</a:t>
            </a:r>
            <a:r>
              <a:rPr lang="en-AU" b="0" i="0" dirty="0" smtClean="0">
                <a:solidFill>
                  <a:srgbClr val="444444"/>
                </a:solidFill>
                <a:effectLst/>
                <a:latin typeface="Arial" panose="020B0604020202020204" pitchFamily="34" charset="0"/>
              </a:rPr>
              <a:t> and </a:t>
            </a:r>
            <a:r>
              <a:rPr lang="en-AU" b="1" i="0" dirty="0" smtClean="0">
                <a:solidFill>
                  <a:srgbClr val="FF0000"/>
                </a:solidFill>
                <a:effectLst/>
                <a:latin typeface="Arial" panose="020B0604020202020204" pitchFamily="34" charset="0"/>
              </a:rPr>
              <a:t>decrease across a period</a:t>
            </a:r>
            <a:r>
              <a:rPr lang="en-AU" b="0" i="0" dirty="0" smtClean="0">
                <a:solidFill>
                  <a:srgbClr val="444444"/>
                </a:solidFill>
                <a:effectLst/>
                <a:latin typeface="Arial" panose="020B0604020202020204" pitchFamily="34" charset="0"/>
              </a:rPr>
              <a:t>. The atoms with the </a:t>
            </a:r>
            <a:r>
              <a:rPr lang="en-AU" b="0" i="1" dirty="0" smtClean="0">
                <a:solidFill>
                  <a:srgbClr val="444444"/>
                </a:solidFill>
                <a:effectLst/>
                <a:latin typeface="Arial" panose="020B0604020202020204" pitchFamily="34" charset="0"/>
              </a:rPr>
              <a:t>largest</a:t>
            </a:r>
            <a:r>
              <a:rPr lang="en-AU" b="0" i="0" dirty="0" smtClean="0">
                <a:solidFill>
                  <a:srgbClr val="444444"/>
                </a:solidFill>
                <a:effectLst/>
                <a:latin typeface="Arial" panose="020B0604020202020204" pitchFamily="34" charset="0"/>
              </a:rPr>
              <a:t> atomic radii are located at the </a:t>
            </a:r>
            <a:r>
              <a:rPr lang="en-AU" b="1" i="0" dirty="0" smtClean="0">
                <a:solidFill>
                  <a:srgbClr val="444444"/>
                </a:solidFill>
                <a:effectLst/>
                <a:latin typeface="Arial" panose="020B0604020202020204" pitchFamily="34" charset="0"/>
              </a:rPr>
              <a:t>bottom-left</a:t>
            </a:r>
            <a:r>
              <a:rPr lang="en-AU" b="0" i="0" dirty="0" smtClean="0">
                <a:solidFill>
                  <a:srgbClr val="444444"/>
                </a:solidFill>
                <a:effectLst/>
                <a:latin typeface="Arial" panose="020B0604020202020204" pitchFamily="34" charset="0"/>
              </a:rPr>
              <a:t> of the periodic table (i.e. </a:t>
            </a:r>
            <a:r>
              <a:rPr lang="en-AU" b="0" i="0" dirty="0" smtClean="0">
                <a:solidFill>
                  <a:srgbClr val="444444"/>
                </a:solidFill>
                <a:effectLst/>
                <a:latin typeface="KaTeX_Main"/>
              </a:rPr>
              <a:t>Fr</a:t>
            </a:r>
            <a:r>
              <a:rPr lang="en-AU" b="0" i="0" dirty="0" smtClean="0">
                <a:solidFill>
                  <a:srgbClr val="444444"/>
                </a:solidFill>
                <a:effectLst/>
                <a:latin typeface="Arial" panose="020B0604020202020204" pitchFamily="34" charset="0"/>
              </a:rPr>
              <a:t>).</a:t>
            </a:r>
            <a:endParaRPr lang="en-AU" dirty="0"/>
          </a:p>
        </p:txBody>
      </p:sp>
      <p:pic>
        <p:nvPicPr>
          <p:cNvPr id="7172" name="Picture 4" descr="https://www.educationperfect.com/media/content/Science/1441075816.092581g/1441075809948-30587903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9700" y="1227267"/>
            <a:ext cx="6667500" cy="29432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23900" y="4272677"/>
            <a:ext cx="110109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When we go </a:t>
            </a:r>
            <a:r>
              <a:rPr lang="en-AU" b="1" i="0" dirty="0" smtClean="0">
                <a:solidFill>
                  <a:srgbClr val="0000FF"/>
                </a:solidFill>
                <a:effectLst/>
                <a:latin typeface="Arial" panose="020B0604020202020204" pitchFamily="34" charset="0"/>
              </a:rPr>
              <a:t>down a group</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the number of electron shells increases</a:t>
            </a:r>
            <a:r>
              <a:rPr lang="en-AU" b="0" i="0" dirty="0" smtClean="0">
                <a:solidFill>
                  <a:srgbClr val="444444"/>
                </a:solidFill>
                <a:effectLst/>
                <a:latin typeface="Arial" panose="020B0604020202020204" pitchFamily="34" charset="0"/>
              </a:rPr>
              <a:t>, which of course dramatically </a:t>
            </a:r>
            <a:r>
              <a:rPr lang="en-AU" b="0" i="1" dirty="0" smtClean="0">
                <a:solidFill>
                  <a:srgbClr val="444444"/>
                </a:solidFill>
                <a:effectLst/>
                <a:latin typeface="Arial" panose="020B0604020202020204" pitchFamily="34" charset="0"/>
              </a:rPr>
              <a:t>increases</a:t>
            </a:r>
            <a:r>
              <a:rPr lang="en-AU" b="0" i="0" dirty="0" smtClean="0">
                <a:solidFill>
                  <a:srgbClr val="444444"/>
                </a:solidFill>
                <a:effectLst/>
                <a:latin typeface="Arial" panose="020B0604020202020204" pitchFamily="34" charset="0"/>
              </a:rPr>
              <a:t> the atomic radius.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When we go </a:t>
            </a:r>
            <a:r>
              <a:rPr lang="en-AU" b="1" i="0" dirty="0" smtClean="0">
                <a:solidFill>
                  <a:srgbClr val="FF0000"/>
                </a:solidFill>
                <a:effectLst/>
                <a:latin typeface="Arial" panose="020B0604020202020204" pitchFamily="34" charset="0"/>
              </a:rPr>
              <a:t>across a period</a:t>
            </a:r>
            <a:r>
              <a:rPr lang="en-AU" b="0" i="0" dirty="0" smtClean="0">
                <a:solidFill>
                  <a:srgbClr val="444444"/>
                </a:solidFill>
                <a:effectLst/>
                <a:latin typeface="Arial" panose="020B0604020202020204" pitchFamily="34" charset="0"/>
              </a:rPr>
              <a:t> elements gain </a:t>
            </a:r>
            <a:r>
              <a:rPr lang="en-AU" b="1" i="0" dirty="0" smtClean="0">
                <a:solidFill>
                  <a:srgbClr val="444444"/>
                </a:solidFill>
                <a:effectLst/>
                <a:latin typeface="Arial" panose="020B0604020202020204" pitchFamily="34" charset="0"/>
              </a:rPr>
              <a:t>more protons</a:t>
            </a:r>
            <a:r>
              <a:rPr lang="en-AU" b="0" i="0" dirty="0" smtClean="0">
                <a:solidFill>
                  <a:srgbClr val="444444"/>
                </a:solidFill>
                <a:effectLst/>
                <a:latin typeface="Arial" panose="020B0604020202020204" pitchFamily="34" charset="0"/>
              </a:rPr>
              <a:t>, which increases the attraction between the negatively charged electrons and the positively charged nucleus. This means the electrons are pulled </a:t>
            </a:r>
            <a:r>
              <a:rPr lang="en-AU" b="1" i="0" dirty="0" smtClean="0">
                <a:solidFill>
                  <a:srgbClr val="444444"/>
                </a:solidFill>
                <a:effectLst/>
                <a:latin typeface="Arial" panose="020B0604020202020204" pitchFamily="34" charset="0"/>
              </a:rPr>
              <a:t>closer</a:t>
            </a:r>
            <a:r>
              <a:rPr lang="en-AU" b="0" i="0" dirty="0" smtClean="0">
                <a:solidFill>
                  <a:srgbClr val="444444"/>
                </a:solidFill>
                <a:effectLst/>
                <a:latin typeface="Arial" panose="020B0604020202020204" pitchFamily="34" charset="0"/>
              </a:rPr>
              <a:t> to the nucleus and therefore atomic radius </a:t>
            </a:r>
            <a:r>
              <a:rPr lang="en-AU" b="0" i="1" dirty="0" smtClean="0">
                <a:solidFill>
                  <a:srgbClr val="444444"/>
                </a:solidFill>
                <a:effectLst/>
                <a:latin typeface="Arial" panose="020B0604020202020204" pitchFamily="34" charset="0"/>
              </a:rPr>
              <a:t>decreases</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9232651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0" y="725438"/>
            <a:ext cx="118364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When comparing elements in </a:t>
            </a:r>
            <a:r>
              <a:rPr lang="en-AU" b="1" i="0" dirty="0" smtClean="0">
                <a:solidFill>
                  <a:srgbClr val="444444"/>
                </a:solidFill>
                <a:effectLst/>
                <a:latin typeface="Arial" panose="020B0604020202020204" pitchFamily="34" charset="0"/>
              </a:rPr>
              <a:t>different periods</a:t>
            </a:r>
            <a:r>
              <a:rPr lang="en-AU" b="0" i="0" dirty="0" smtClean="0">
                <a:solidFill>
                  <a:srgbClr val="444444"/>
                </a:solidFill>
                <a:effectLst/>
                <a:latin typeface="Arial" panose="020B0604020202020204" pitchFamily="34" charset="0"/>
              </a:rPr>
              <a:t>, it is important to consider </a:t>
            </a:r>
            <a:r>
              <a:rPr lang="en-AU" b="1" i="0" dirty="0" smtClean="0">
                <a:solidFill>
                  <a:srgbClr val="FF0000"/>
                </a:solidFill>
                <a:effectLst/>
                <a:latin typeface="Arial" panose="020B0604020202020204" pitchFamily="34" charset="0"/>
              </a:rPr>
              <a:t>electron shielding</a:t>
            </a:r>
            <a:r>
              <a:rPr lang="en-AU" b="0" i="0" dirty="0" smtClean="0">
                <a:solidFill>
                  <a:srgbClr val="444444"/>
                </a:solidFill>
                <a:effectLst/>
                <a:latin typeface="Arial" panose="020B0604020202020204" pitchFamily="34" charset="0"/>
              </a:rPr>
              <a:t> (or </a:t>
            </a:r>
            <a:r>
              <a:rPr lang="en-AU" b="1" i="0" dirty="0" smtClean="0">
                <a:solidFill>
                  <a:srgbClr val="444444"/>
                </a:solidFill>
                <a:effectLst/>
                <a:latin typeface="Arial" panose="020B0604020202020204" pitchFamily="34" charset="0"/>
              </a:rPr>
              <a:t>screening</a:t>
            </a:r>
            <a:r>
              <a:rPr lang="en-AU" b="0" i="0" dirty="0" smtClean="0">
                <a:solidFill>
                  <a:srgbClr val="444444"/>
                </a:solidFill>
                <a:effectLst/>
                <a:latin typeface="Arial" panose="020B0604020202020204" pitchFamily="34" charset="0"/>
              </a:rPr>
              <a:t>) which influences the atomic radius and many other atomic characteristics.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Electron shielding occurs in any atom with more than one electron shell. It is where </a:t>
            </a:r>
            <a:r>
              <a:rPr lang="en-AU" b="1" i="0" dirty="0" smtClean="0">
                <a:solidFill>
                  <a:srgbClr val="009900"/>
                </a:solidFill>
                <a:effectLst/>
                <a:latin typeface="Arial" panose="020B0604020202020204" pitchFamily="34" charset="0"/>
              </a:rPr>
              <a:t>electrons in inner orbitals shield valence electrons from the nucleus</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8194" name="Picture 2" descr="https://www.educationperfect.com/media/content/Science/1441081092.919381g/1441081091360-3058790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6675" y="2298700"/>
            <a:ext cx="2397125" cy="220535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4549676"/>
            <a:ext cx="12192000" cy="2308324"/>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electrons in the outer shells are </a:t>
            </a:r>
            <a:r>
              <a:rPr lang="en-AU" b="1" i="0" dirty="0" smtClean="0">
                <a:solidFill>
                  <a:srgbClr val="0000FF"/>
                </a:solidFill>
                <a:effectLst/>
                <a:latin typeface="Arial" panose="020B0604020202020204" pitchFamily="34" charset="0"/>
              </a:rPr>
              <a:t>attracted</a:t>
            </a:r>
            <a:r>
              <a:rPr lang="en-AU" b="0" i="0" dirty="0" smtClean="0">
                <a:solidFill>
                  <a:srgbClr val="444444"/>
                </a:solidFill>
                <a:effectLst/>
                <a:latin typeface="Arial" panose="020B0604020202020204" pitchFamily="34" charset="0"/>
              </a:rPr>
              <a:t> to the positively charged nucleus, but they are also </a:t>
            </a:r>
            <a:r>
              <a:rPr lang="en-AU" b="1" i="0" dirty="0" smtClean="0">
                <a:solidFill>
                  <a:srgbClr val="FF0000"/>
                </a:solidFill>
                <a:effectLst/>
                <a:latin typeface="Arial" panose="020B0604020202020204" pitchFamily="34" charset="0"/>
              </a:rPr>
              <a:t>repelled</a:t>
            </a:r>
            <a:r>
              <a:rPr lang="en-AU" b="0" i="0" dirty="0" smtClean="0">
                <a:solidFill>
                  <a:srgbClr val="444444"/>
                </a:solidFill>
                <a:effectLst/>
                <a:latin typeface="Arial" panose="020B0604020202020204" pitchFamily="34" charset="0"/>
              </a:rPr>
              <a:t> by the negatively charged electrons in the inner shells. This repulsion </a:t>
            </a:r>
            <a:r>
              <a:rPr lang="en-AU" b="1" i="0" dirty="0" smtClean="0">
                <a:solidFill>
                  <a:srgbClr val="444444"/>
                </a:solidFill>
                <a:effectLst/>
                <a:latin typeface="Arial" panose="020B0604020202020204" pitchFamily="34" charset="0"/>
              </a:rPr>
              <a:t>reduces the electrostatic attraction</a:t>
            </a:r>
            <a:r>
              <a:rPr lang="en-AU" b="0" i="0" dirty="0" smtClean="0">
                <a:solidFill>
                  <a:srgbClr val="444444"/>
                </a:solidFill>
                <a:effectLst/>
                <a:latin typeface="Arial" panose="020B0604020202020204" pitchFamily="34" charset="0"/>
              </a:rPr>
              <a:t> between the nucleus and the valence electrons. The valence electrons are therefore less tightly held to the nucleus, making the atomic radius </a:t>
            </a:r>
            <a:r>
              <a:rPr lang="en-AU" b="1" i="0" dirty="0" smtClean="0">
                <a:solidFill>
                  <a:srgbClr val="444444"/>
                </a:solidFill>
                <a:effectLst/>
                <a:latin typeface="Arial" panose="020B0604020202020204" pitchFamily="34" charset="0"/>
              </a:rPr>
              <a:t>larger</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Note: Electron shielding does not affect atomic radii </a:t>
            </a:r>
            <a:r>
              <a:rPr lang="en-AU" b="0" i="1" dirty="0" smtClean="0">
                <a:solidFill>
                  <a:srgbClr val="444444"/>
                </a:solidFill>
                <a:effectLst/>
                <a:latin typeface="Arial" panose="020B0604020202020204" pitchFamily="34" charset="0"/>
              </a:rPr>
              <a:t>across a period</a:t>
            </a:r>
            <a:r>
              <a:rPr lang="en-AU" b="0" i="0" dirty="0" smtClean="0">
                <a:solidFill>
                  <a:srgbClr val="444444"/>
                </a:solidFill>
                <a:effectLst/>
                <a:latin typeface="Arial" panose="020B0604020202020204" pitchFamily="34" charset="0"/>
              </a:rPr>
              <a:t>. This is because electrons are added to the </a:t>
            </a:r>
            <a:r>
              <a:rPr lang="en-AU" b="0" i="1" dirty="0" smtClean="0">
                <a:solidFill>
                  <a:srgbClr val="444444"/>
                </a:solidFill>
                <a:effectLst/>
                <a:latin typeface="Arial" panose="020B0604020202020204" pitchFamily="34" charset="0"/>
              </a:rPr>
              <a:t>same electron shell</a:t>
            </a:r>
            <a:r>
              <a:rPr lang="en-AU" b="0" i="0" dirty="0" smtClean="0">
                <a:solidFill>
                  <a:srgbClr val="444444"/>
                </a:solidFill>
                <a:effectLst/>
                <a:latin typeface="Arial" panose="020B0604020202020204" pitchFamily="34" charset="0"/>
              </a:rPr>
              <a:t> going across a period, so there are the same number of electrons in the inner shells for each element in a period.</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2673616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404336"/>
            <a:ext cx="115443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Similar to the </a:t>
            </a:r>
            <a:r>
              <a:rPr lang="en-AU" b="1" i="0" dirty="0" smtClean="0">
                <a:solidFill>
                  <a:srgbClr val="444444"/>
                </a:solidFill>
                <a:effectLst/>
                <a:latin typeface="Arial" panose="020B0604020202020204" pitchFamily="34" charset="0"/>
              </a:rPr>
              <a:t>atomic radius</a:t>
            </a:r>
            <a:r>
              <a:rPr lang="en-AU" b="0" i="0" dirty="0" smtClean="0">
                <a:solidFill>
                  <a:srgbClr val="444444"/>
                </a:solidFill>
                <a:effectLst/>
                <a:latin typeface="Arial" panose="020B0604020202020204" pitchFamily="34" charset="0"/>
              </a:rPr>
              <a:t>, the </a:t>
            </a:r>
            <a:r>
              <a:rPr lang="en-AU" b="1" i="0" dirty="0" smtClean="0">
                <a:solidFill>
                  <a:srgbClr val="FF0000"/>
                </a:solidFill>
                <a:effectLst/>
                <a:latin typeface="Arial" panose="020B0604020202020204" pitchFamily="34" charset="0"/>
              </a:rPr>
              <a:t>ionic radius</a:t>
            </a:r>
            <a:r>
              <a:rPr lang="en-AU" b="0" i="0" dirty="0" smtClean="0">
                <a:solidFill>
                  <a:srgbClr val="444444"/>
                </a:solidFill>
                <a:effectLst/>
                <a:latin typeface="Arial" panose="020B0604020202020204" pitchFamily="34" charset="0"/>
              </a:rPr>
              <a:t> is a measure of the </a:t>
            </a:r>
            <a:r>
              <a:rPr lang="en-AU" b="1" i="0" dirty="0" smtClean="0">
                <a:solidFill>
                  <a:srgbClr val="444444"/>
                </a:solidFill>
                <a:effectLst/>
                <a:latin typeface="Arial" panose="020B0604020202020204" pitchFamily="34" charset="0"/>
              </a:rPr>
              <a:t>radius of a single ion</a:t>
            </a:r>
            <a:r>
              <a:rPr lang="en-AU" b="0" i="0" dirty="0" smtClean="0">
                <a:solidFill>
                  <a:srgbClr val="444444"/>
                </a:solidFill>
                <a:effectLst/>
                <a:latin typeface="Arial" panose="020B0604020202020204" pitchFamily="34" charset="0"/>
              </a:rPr>
              <a:t>. The ionic radius is calculated using measurements from </a:t>
            </a:r>
            <a:r>
              <a:rPr lang="en-AU" b="1" i="0" dirty="0" smtClean="0">
                <a:solidFill>
                  <a:srgbClr val="444444"/>
                </a:solidFill>
                <a:effectLst/>
                <a:latin typeface="Arial" panose="020B0604020202020204" pitchFamily="34" charset="0"/>
              </a:rPr>
              <a:t>ionic crystals</a:t>
            </a:r>
            <a:r>
              <a:rPr lang="en-AU" b="0" i="0" dirty="0" smtClean="0">
                <a:solidFill>
                  <a:srgbClr val="444444"/>
                </a:solidFill>
                <a:effectLst/>
                <a:latin typeface="Arial" panose="020B0604020202020204" pitchFamily="34" charset="0"/>
              </a:rPr>
              <a:t>, which are crystals containing a lattice of ions such as sodium chloride.</a:t>
            </a:r>
            <a:endParaRPr lang="en-AU" dirty="0"/>
          </a:p>
        </p:txBody>
      </p:sp>
      <p:pic>
        <p:nvPicPr>
          <p:cNvPr id="9218" name="Picture 2" descr="https://www.educationperfect.com/Images/Content/Science/1370901441749-764741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4175" y="1143000"/>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03200" y="4295339"/>
            <a:ext cx="11988800" cy="1477328"/>
          </a:xfrm>
          <a:prstGeom prst="rect">
            <a:avLst/>
          </a:prstGeom>
        </p:spPr>
        <p:txBody>
          <a:bodyPr wrap="square">
            <a:spAutoFit/>
          </a:bodyPr>
          <a:lstStyle/>
          <a:p>
            <a:r>
              <a:rPr lang="en-AU" b="0" i="0" dirty="0" smtClean="0">
                <a:solidFill>
                  <a:srgbClr val="444444"/>
                </a:solidFill>
                <a:effectLst/>
                <a:latin typeface="Arial" panose="020B0604020202020204" pitchFamily="34" charset="0"/>
              </a:rPr>
              <a:t>X-ray crystallography can be used to measure the distance between the ions in a crystal lattice; for example, in sodium chloride the distance between </a:t>
            </a:r>
            <a:r>
              <a:rPr lang="en-AU" b="0" i="0" dirty="0" smtClean="0">
                <a:solidFill>
                  <a:srgbClr val="444444"/>
                </a:solidFill>
                <a:effectLst/>
                <a:latin typeface="KaTeX_Main"/>
              </a:rPr>
              <a:t>Na+</a:t>
            </a:r>
            <a:r>
              <a:rPr lang="en-AU" b="0" i="0" dirty="0" smtClean="0">
                <a:solidFill>
                  <a:srgbClr val="444444"/>
                </a:solidFill>
                <a:effectLst/>
                <a:latin typeface="Arial" panose="020B0604020202020204" pitchFamily="34" charset="0"/>
              </a:rPr>
              <a:t> and </a:t>
            </a:r>
            <a:r>
              <a:rPr lang="en-AU" b="0" i="0" dirty="0" smtClean="0">
                <a:solidFill>
                  <a:srgbClr val="444444"/>
                </a:solidFill>
                <a:effectLst/>
                <a:latin typeface="KaTeX_Main"/>
              </a:rPr>
              <a:t>Cl−</a:t>
            </a:r>
            <a:r>
              <a:rPr lang="en-AU" b="0" i="0" dirty="0" smtClean="0">
                <a:solidFill>
                  <a:srgbClr val="444444"/>
                </a:solidFill>
                <a:effectLst/>
                <a:latin typeface="Arial" panose="020B0604020202020204" pitchFamily="34" charset="0"/>
              </a:rPr>
              <a:t> ions is </a:t>
            </a:r>
            <a:r>
              <a:rPr lang="en-AU" b="0" i="0" dirty="0" smtClean="0">
                <a:solidFill>
                  <a:srgbClr val="444444"/>
                </a:solidFill>
                <a:effectLst/>
                <a:latin typeface="KaTeX_Main"/>
              </a:rPr>
              <a:t>282</a:t>
            </a:r>
            <a:r>
              <a:rPr lang="en-AU" b="0" i="0" dirty="0" smtClean="0">
                <a:solidFill>
                  <a:srgbClr val="444444"/>
                </a:solidFill>
                <a:effectLst/>
                <a:latin typeface="Arial" panose="020B0604020202020204" pitchFamily="34" charset="0"/>
              </a:rPr>
              <a:t> </a:t>
            </a:r>
            <a:r>
              <a:rPr lang="en-AU" b="0" i="0" dirty="0" err="1" smtClean="0">
                <a:solidFill>
                  <a:srgbClr val="444444"/>
                </a:solidFill>
                <a:effectLst/>
                <a:latin typeface="Arial" panose="020B0604020202020204" pitchFamily="34" charset="0"/>
              </a:rPr>
              <a:t>picometres</a:t>
            </a:r>
            <a:r>
              <a:rPr lang="en-AU" b="0" i="0" dirty="0" smtClean="0">
                <a:solidFill>
                  <a:srgbClr val="444444"/>
                </a:solidFill>
                <a:effectLst/>
                <a:latin typeface="Arial" panose="020B0604020202020204" pitchFamily="34" charset="0"/>
              </a:rPr>
              <a:t>. However, it does not indicate </a:t>
            </a:r>
            <a:r>
              <a:rPr lang="en-AU" b="0" i="1" dirty="0" smtClean="0">
                <a:solidFill>
                  <a:srgbClr val="444444"/>
                </a:solidFill>
                <a:effectLst/>
                <a:latin typeface="Arial" panose="020B0604020202020204" pitchFamily="34" charset="0"/>
              </a:rPr>
              <a:t>where</a:t>
            </a:r>
            <a:r>
              <a:rPr lang="en-AU" b="0" i="0" dirty="0" smtClean="0">
                <a:solidFill>
                  <a:srgbClr val="444444"/>
                </a:solidFill>
                <a:effectLst/>
                <a:latin typeface="Arial" panose="020B0604020202020204" pitchFamily="34" charset="0"/>
              </a:rPr>
              <a:t> the boundary is between the two ions, so it doesn't give ionic radii directly. Various methods were devised to determine the actual ionic radii by scientists including </a:t>
            </a:r>
            <a:r>
              <a:rPr lang="en-AU" b="0" i="0" dirty="0" err="1" smtClean="0">
                <a:solidFill>
                  <a:srgbClr val="444444"/>
                </a:solidFill>
                <a:effectLst/>
                <a:latin typeface="Arial" panose="020B0604020202020204" pitchFamily="34" charset="0"/>
              </a:rPr>
              <a:t>Landé</a:t>
            </a:r>
            <a:r>
              <a:rPr lang="en-AU" b="0" i="0" dirty="0" smtClean="0">
                <a:solidFill>
                  <a:srgbClr val="444444"/>
                </a:solidFill>
                <a:effectLst/>
                <a:latin typeface="Arial" panose="020B0604020202020204" pitchFamily="34" charset="0"/>
              </a:rPr>
              <a:t>, Pauling and Shannon. You do not need to know the exact methods for determining ionic radii.</a:t>
            </a:r>
            <a:endParaRPr lang="en-AU" dirty="0"/>
          </a:p>
        </p:txBody>
      </p:sp>
    </p:spTree>
    <p:extLst>
      <p:ext uri="{BB962C8B-B14F-4D97-AF65-F5344CB8AC3E}">
        <p14:creationId xmlns:p14="http://schemas.microsoft.com/office/powerpoint/2010/main" val="3807851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351135"/>
            <a:ext cx="115951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What you do need to know is that </a:t>
            </a:r>
            <a:r>
              <a:rPr lang="en-AU" b="1" i="0" dirty="0" smtClean="0">
                <a:solidFill>
                  <a:srgbClr val="FF0000"/>
                </a:solidFill>
                <a:effectLst/>
                <a:latin typeface="Arial" panose="020B0604020202020204" pitchFamily="34" charset="0"/>
              </a:rPr>
              <a:t>cations</a:t>
            </a:r>
            <a:r>
              <a:rPr lang="en-AU" b="0" i="0" dirty="0" smtClean="0">
                <a:solidFill>
                  <a:srgbClr val="444444"/>
                </a:solidFill>
                <a:effectLst/>
                <a:latin typeface="Arial" panose="020B0604020202020204" pitchFamily="34" charset="0"/>
              </a:rPr>
              <a:t> (positive ions formed by losing electrons) generally have a </a:t>
            </a:r>
            <a:r>
              <a:rPr lang="en-AU" b="1" i="0" dirty="0" smtClean="0">
                <a:solidFill>
                  <a:srgbClr val="FF0000"/>
                </a:solidFill>
                <a:effectLst/>
                <a:latin typeface="Arial" panose="020B0604020202020204" pitchFamily="34" charset="0"/>
              </a:rPr>
              <a:t>smaller ionic radius</a:t>
            </a:r>
            <a:r>
              <a:rPr lang="en-AU" b="0" i="0" dirty="0" smtClean="0">
                <a:solidFill>
                  <a:srgbClr val="444444"/>
                </a:solidFill>
                <a:effectLst/>
                <a:latin typeface="Arial" panose="020B0604020202020204" pitchFamily="34" charset="0"/>
              </a:rPr>
              <a:t> than the atomic radius of the neutral atom.</a:t>
            </a:r>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626934869"/>
              </p:ext>
            </p:extLst>
          </p:nvPr>
        </p:nvGraphicFramePr>
        <p:xfrm>
          <a:off x="1670050" y="1592104"/>
          <a:ext cx="4044950" cy="2034540"/>
        </p:xfrm>
        <a:graphic>
          <a:graphicData uri="http://schemas.openxmlformats.org/drawingml/2006/table">
            <a:tbl>
              <a:tblPr/>
              <a:tblGrid>
                <a:gridCol w="4044950">
                  <a:extLst>
                    <a:ext uri="{9D8B030D-6E8A-4147-A177-3AD203B41FA5}">
                      <a16:colId xmlns:a16="http://schemas.microsoft.com/office/drawing/2014/main" val="2597488620"/>
                    </a:ext>
                  </a:extLst>
                </a:gridCol>
              </a:tblGrid>
              <a:tr h="0">
                <a:tc>
                  <a:txBody>
                    <a:bodyPr/>
                    <a:lstStyle/>
                    <a:p>
                      <a:pPr algn="l" fontAlgn="ctr"/>
                      <a:r>
                        <a:rPr lang="en-AU" dirty="0">
                          <a:effectLst/>
                        </a:rPr>
                        <a:t>Elements in groups </a:t>
                      </a:r>
                      <a:r>
                        <a:rPr lang="en-AU" dirty="0">
                          <a:effectLst/>
                          <a:latin typeface="KaTeX_Main"/>
                        </a:rPr>
                        <a:t>1</a:t>
                      </a:r>
                      <a:r>
                        <a:rPr lang="en-AU" dirty="0">
                          <a:effectLst/>
                        </a:rPr>
                        <a:t>, </a:t>
                      </a:r>
                      <a:r>
                        <a:rPr lang="en-AU" dirty="0">
                          <a:effectLst/>
                          <a:latin typeface="KaTeX_Main"/>
                        </a:rPr>
                        <a:t>2</a:t>
                      </a:r>
                      <a:r>
                        <a:rPr lang="en-AU" dirty="0">
                          <a:effectLst/>
                        </a:rPr>
                        <a:t> and </a:t>
                      </a:r>
                      <a:r>
                        <a:rPr lang="en-AU" dirty="0">
                          <a:effectLst/>
                          <a:latin typeface="KaTeX_Main"/>
                        </a:rPr>
                        <a:t>3</a:t>
                      </a:r>
                      <a:r>
                        <a:rPr lang="en-AU" dirty="0">
                          <a:effectLst/>
                        </a:rPr>
                        <a:t> lose their entire </a:t>
                      </a:r>
                      <a:r>
                        <a:rPr lang="en-AU" b="1" dirty="0">
                          <a:effectLst/>
                        </a:rPr>
                        <a:t>valence electron shell</a:t>
                      </a:r>
                      <a:r>
                        <a:rPr lang="en-AU" dirty="0">
                          <a:effectLst/>
                        </a:rPr>
                        <a:t> when they form cations, and thus the ionic radius of the cation is </a:t>
                      </a:r>
                      <a:r>
                        <a:rPr lang="en-AU" b="1" dirty="0">
                          <a:effectLst/>
                        </a:rPr>
                        <a:t>much smaller</a:t>
                      </a:r>
                      <a:r>
                        <a:rPr lang="en-AU" dirty="0">
                          <a:effectLst/>
                        </a:rPr>
                        <a:t> than the atomic radius. (Right: Dark green indicates atomic radius and light green indicates ionic radius.)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2015682541"/>
                  </a:ext>
                </a:extLst>
              </a:tr>
            </a:tbl>
          </a:graphicData>
        </a:graphic>
      </p:graphicFrame>
      <p:pic>
        <p:nvPicPr>
          <p:cNvPr id="10242" name="Picture 2" descr="https://www.educationperfect.com/media/content/Science/1441230434.185811g/1441230434137-54048800467249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3626" y="1592104"/>
            <a:ext cx="2509158" cy="26622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19100" y="4602877"/>
            <a:ext cx="11382375" cy="1477328"/>
          </a:xfrm>
          <a:prstGeom prst="rect">
            <a:avLst/>
          </a:prstGeom>
        </p:spPr>
        <p:txBody>
          <a:bodyPr wrap="square">
            <a:spAutoFit/>
          </a:bodyPr>
          <a:lstStyle/>
          <a:p>
            <a:r>
              <a:rPr lang="en-AU" b="0" i="0" dirty="0" smtClean="0">
                <a:solidFill>
                  <a:srgbClr val="444444"/>
                </a:solidFill>
                <a:effectLst/>
                <a:latin typeface="Arial" panose="020B0604020202020204" pitchFamily="34" charset="0"/>
              </a:rPr>
              <a:t>Elements in groups </a:t>
            </a:r>
            <a:r>
              <a:rPr lang="en-AU" b="0" i="0" dirty="0" smtClean="0">
                <a:solidFill>
                  <a:srgbClr val="444444"/>
                </a:solidFill>
                <a:effectLst/>
                <a:latin typeface="KaTeX_Main"/>
              </a:rPr>
              <a:t>4−15</a:t>
            </a:r>
            <a:r>
              <a:rPr lang="en-AU" b="0" i="0" dirty="0" smtClean="0">
                <a:solidFill>
                  <a:srgbClr val="444444"/>
                </a:solidFill>
                <a:effectLst/>
                <a:latin typeface="Arial" panose="020B0604020202020204" pitchFamily="34" charset="0"/>
              </a:rPr>
              <a:t> form cations </a:t>
            </a:r>
            <a:r>
              <a:rPr lang="en-AU" b="1" i="0" dirty="0" smtClean="0">
                <a:solidFill>
                  <a:srgbClr val="444444"/>
                </a:solidFill>
                <a:effectLst/>
                <a:latin typeface="Arial" panose="020B0604020202020204" pitchFamily="34" charset="0"/>
              </a:rPr>
              <a:t>without</a:t>
            </a:r>
            <a:r>
              <a:rPr lang="en-AU" b="0" i="0" dirty="0" smtClean="0">
                <a:solidFill>
                  <a:srgbClr val="444444"/>
                </a:solidFill>
                <a:effectLst/>
                <a:latin typeface="Arial" panose="020B0604020202020204" pitchFamily="34" charset="0"/>
              </a:rPr>
              <a:t> losing their valence electron shell. However, they still have an ionic radius that is </a:t>
            </a:r>
            <a:r>
              <a:rPr lang="en-AU" b="1" i="0" dirty="0" smtClean="0">
                <a:solidFill>
                  <a:srgbClr val="444444"/>
                </a:solidFill>
                <a:effectLst/>
                <a:latin typeface="Arial" panose="020B0604020202020204" pitchFamily="34" charset="0"/>
              </a:rPr>
              <a:t>smaller</a:t>
            </a:r>
            <a:r>
              <a:rPr lang="en-AU" b="0" i="0" dirty="0" smtClean="0">
                <a:solidFill>
                  <a:srgbClr val="444444"/>
                </a:solidFill>
                <a:effectLst/>
                <a:latin typeface="Arial" panose="020B0604020202020204" pitchFamily="34" charset="0"/>
              </a:rPr>
              <a:t> than the atomic radius because the </a:t>
            </a:r>
            <a:r>
              <a:rPr lang="en-AU" b="1" i="0" dirty="0" smtClean="0">
                <a:solidFill>
                  <a:srgbClr val="444444"/>
                </a:solidFill>
                <a:effectLst/>
                <a:latin typeface="Arial" panose="020B0604020202020204" pitchFamily="34" charset="0"/>
              </a:rPr>
              <a:t>electrostatic attraction between the nucleus and the electrons increases</a:t>
            </a:r>
            <a:r>
              <a:rPr lang="en-AU" b="0" i="0" dirty="0" smtClean="0">
                <a:solidFill>
                  <a:srgbClr val="444444"/>
                </a:solidFill>
                <a:effectLst/>
                <a:latin typeface="Arial" panose="020B0604020202020204" pitchFamily="34" charset="0"/>
              </a:rPr>
              <a:t>. There are now fewer valence electrons than in the neutral atom which means there is less repulsion between these electrons, and the remaining electrons are being pulled in by the same number of protons as were in the neutral atom.</a:t>
            </a:r>
            <a:endParaRPr lang="en-AU" dirty="0"/>
          </a:p>
        </p:txBody>
      </p:sp>
    </p:spTree>
    <p:extLst>
      <p:ext uri="{BB962C8B-B14F-4D97-AF65-F5344CB8AC3E}">
        <p14:creationId xmlns:p14="http://schemas.microsoft.com/office/powerpoint/2010/main" val="45596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900" y="550039"/>
            <a:ext cx="114681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In general, </a:t>
            </a:r>
            <a:r>
              <a:rPr lang="en-AU" b="1" i="0" dirty="0" smtClean="0">
                <a:solidFill>
                  <a:srgbClr val="0000FF"/>
                </a:solidFill>
                <a:effectLst/>
                <a:latin typeface="Arial" panose="020B0604020202020204" pitchFamily="34" charset="0"/>
              </a:rPr>
              <a:t>anions</a:t>
            </a:r>
            <a:r>
              <a:rPr lang="en-AU" b="0" i="0" dirty="0" smtClean="0">
                <a:solidFill>
                  <a:srgbClr val="444444"/>
                </a:solidFill>
                <a:effectLst/>
                <a:latin typeface="Arial" panose="020B0604020202020204" pitchFamily="34" charset="0"/>
              </a:rPr>
              <a:t> (negative ions formed by gaining electrons) have a </a:t>
            </a:r>
            <a:r>
              <a:rPr lang="en-AU" b="1" i="0" dirty="0" smtClean="0">
                <a:solidFill>
                  <a:srgbClr val="0000FF"/>
                </a:solidFill>
                <a:effectLst/>
                <a:latin typeface="Arial" panose="020B0604020202020204" pitchFamily="34" charset="0"/>
              </a:rPr>
              <a:t>larger ionic radius</a:t>
            </a:r>
            <a:r>
              <a:rPr lang="en-AU" b="0" i="0" dirty="0" smtClean="0">
                <a:solidFill>
                  <a:srgbClr val="444444"/>
                </a:solidFill>
                <a:effectLst/>
                <a:latin typeface="Arial" panose="020B0604020202020204" pitchFamily="34" charset="0"/>
              </a:rPr>
              <a:t> than the atomic radius of the neutral atom.</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Gaining extra electrons means there is </a:t>
            </a:r>
            <a:r>
              <a:rPr lang="en-AU" b="1" i="0" dirty="0" smtClean="0">
                <a:solidFill>
                  <a:srgbClr val="444444"/>
                </a:solidFill>
                <a:effectLst/>
                <a:latin typeface="Arial" panose="020B0604020202020204" pitchFamily="34" charset="0"/>
              </a:rPr>
              <a:t>greater repulsion</a:t>
            </a:r>
            <a:r>
              <a:rPr lang="en-AU" b="0" i="0" dirty="0" smtClean="0">
                <a:solidFill>
                  <a:srgbClr val="444444"/>
                </a:solidFill>
                <a:effectLst/>
                <a:latin typeface="Arial" panose="020B0604020202020204" pitchFamily="34" charset="0"/>
              </a:rPr>
              <a:t> between the electrons in the valence shell, which increases the ionic radius. Also, the electrostatic attraction slightly </a:t>
            </a:r>
            <a:r>
              <a:rPr lang="en-AU" b="1" i="0" dirty="0" smtClean="0">
                <a:solidFill>
                  <a:srgbClr val="444444"/>
                </a:solidFill>
                <a:effectLst/>
                <a:latin typeface="Arial" panose="020B0604020202020204" pitchFamily="34" charset="0"/>
              </a:rPr>
              <a:t>decreases</a:t>
            </a:r>
            <a:r>
              <a:rPr lang="en-AU" b="0" i="0" dirty="0" smtClean="0">
                <a:solidFill>
                  <a:srgbClr val="444444"/>
                </a:solidFill>
                <a:effectLst/>
                <a:latin typeface="Arial" panose="020B0604020202020204" pitchFamily="34" charset="0"/>
              </a:rPr>
              <a:t>, because now there are more electrons than protons, so the nucleus cannot pull the negatively charged electrons in as effectively.</a:t>
            </a:r>
            <a:endParaRPr lang="en-AU" b="0" i="0" dirty="0">
              <a:solidFill>
                <a:srgbClr val="444444"/>
              </a:solidFill>
              <a:effectLst/>
              <a:latin typeface="Arial" panose="020B0604020202020204" pitchFamily="34" charset="0"/>
            </a:endParaRPr>
          </a:p>
        </p:txBody>
      </p:sp>
      <p:pic>
        <p:nvPicPr>
          <p:cNvPr id="11266" name="Picture 2" descr="https://www.educationperfect.com/media/content/Science/1441231560.598791g/1441231560411-54048800467249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925" y="2443163"/>
            <a:ext cx="3800475" cy="31813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39800" y="5988735"/>
            <a:ext cx="11010900"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Dark blue indicates the atomic radius and light blue indicates the ionic radius of the anion.</a:t>
            </a:r>
            <a:endParaRPr lang="en-AU" dirty="0"/>
          </a:p>
        </p:txBody>
      </p:sp>
    </p:spTree>
    <p:extLst>
      <p:ext uri="{BB962C8B-B14F-4D97-AF65-F5344CB8AC3E}">
        <p14:creationId xmlns:p14="http://schemas.microsoft.com/office/powerpoint/2010/main" val="3765236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Words>
  <Application>Microsoft Office PowerPoint</Application>
  <PresentationFormat>Widescreen</PresentationFormat>
  <Paragraphs>40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KaTeX_Main</vt:lpstr>
      <vt:lpstr>Office Theme</vt:lpstr>
      <vt:lpstr>Periodic Trends- Atomic Radius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Periodic Trends- Atomic Radius</dc:title>
  <dc:creator>Joseph D'cruz</dc:creator>
  <cp:lastModifiedBy>Joseph D'cruz</cp:lastModifiedBy>
  <cp:revision>1</cp:revision>
  <dcterms:created xsi:type="dcterms:W3CDTF">2020-09-06T02:30:33Z</dcterms:created>
  <dcterms:modified xsi:type="dcterms:W3CDTF">2020-09-06T02:30:49Z</dcterms:modified>
</cp:coreProperties>
</file>
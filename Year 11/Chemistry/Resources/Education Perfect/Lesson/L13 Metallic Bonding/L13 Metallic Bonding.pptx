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3" r:id="rId10"/>
    <p:sldId id="264" r:id="rId11"/>
    <p:sldId id="265" r:id="rId12"/>
    <p:sldId id="266" r:id="rId13"/>
    <p:sldId id="267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84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ADFD0-3723-4F1C-AB65-31784D06D1F0}" type="datetimeFigureOut">
              <a:rPr lang="en-AU" smtClean="0"/>
              <a:t>6/03/2022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297CC-2FE6-4D0C-ABF5-1ECEA3317D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1896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ADFD0-3723-4F1C-AB65-31784D06D1F0}" type="datetimeFigureOut">
              <a:rPr lang="en-AU" smtClean="0"/>
              <a:t>6/03/2022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297CC-2FE6-4D0C-ABF5-1ECEA3317D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75331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ADFD0-3723-4F1C-AB65-31784D06D1F0}" type="datetimeFigureOut">
              <a:rPr lang="en-AU" smtClean="0"/>
              <a:t>6/03/2022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297CC-2FE6-4D0C-ABF5-1ECEA3317D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77803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ADFD0-3723-4F1C-AB65-31784D06D1F0}" type="datetimeFigureOut">
              <a:rPr lang="en-AU" smtClean="0"/>
              <a:t>6/03/2022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297CC-2FE6-4D0C-ABF5-1ECEA3317D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7180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ADFD0-3723-4F1C-AB65-31784D06D1F0}" type="datetimeFigureOut">
              <a:rPr lang="en-AU" smtClean="0"/>
              <a:t>6/03/2022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297CC-2FE6-4D0C-ABF5-1ECEA3317D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3866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ADFD0-3723-4F1C-AB65-31784D06D1F0}" type="datetimeFigureOut">
              <a:rPr lang="en-AU" smtClean="0"/>
              <a:t>6/03/2022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297CC-2FE6-4D0C-ABF5-1ECEA3317D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3066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ADFD0-3723-4F1C-AB65-31784D06D1F0}" type="datetimeFigureOut">
              <a:rPr lang="en-AU" smtClean="0"/>
              <a:t>6/03/2022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297CC-2FE6-4D0C-ABF5-1ECEA3317D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127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ADFD0-3723-4F1C-AB65-31784D06D1F0}" type="datetimeFigureOut">
              <a:rPr lang="en-AU" smtClean="0"/>
              <a:t>6/03/2022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297CC-2FE6-4D0C-ABF5-1ECEA3317D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5214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ADFD0-3723-4F1C-AB65-31784D06D1F0}" type="datetimeFigureOut">
              <a:rPr lang="en-AU" smtClean="0"/>
              <a:t>6/03/2022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297CC-2FE6-4D0C-ABF5-1ECEA3317D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5652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ADFD0-3723-4F1C-AB65-31784D06D1F0}" type="datetimeFigureOut">
              <a:rPr lang="en-AU" smtClean="0"/>
              <a:t>6/03/2022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297CC-2FE6-4D0C-ABF5-1ECEA3317D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1952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ADFD0-3723-4F1C-AB65-31784D06D1F0}" type="datetimeFigureOut">
              <a:rPr lang="en-AU" smtClean="0"/>
              <a:t>6/03/2022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297CC-2FE6-4D0C-ABF5-1ECEA3317D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8372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5ADFD0-3723-4F1C-AB65-31784D06D1F0}" type="datetimeFigureOut">
              <a:rPr lang="en-AU" smtClean="0"/>
              <a:t>6/03/2022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2297CC-2FE6-4D0C-ABF5-1ECEA3317D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6054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Metallic Bonding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2729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Metals in the Periodic Table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1167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5300" y="169039"/>
            <a:ext cx="103505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Group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{1}1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elements are known as the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alkali metals.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All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alkali metals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highly reactive and, due to having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valence electron, form ions with a charge of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+1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alkali metals are lithium (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Li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), sodium (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Na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), potassium (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K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), rubidium (</a:t>
            </a:r>
            <a:r>
              <a:rPr lang="en-AU" b="0" i="0" dirty="0" err="1" smtClean="0">
                <a:solidFill>
                  <a:srgbClr val="444444"/>
                </a:solidFill>
                <a:effectLst/>
                <a:latin typeface="KaTeX_Main"/>
              </a:rPr>
              <a:t>Rb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), </a:t>
            </a:r>
            <a:r>
              <a:rPr lang="en-AU" b="0" i="0" dirty="0" err="1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cesium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/caesium (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Cs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and francium (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Fr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,).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456265913.191191g/1456265918661-4210095784659990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4175" y="2640012"/>
            <a:ext cx="600075" cy="3771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www.educationperfect.com/media/content/Science/1455872416.579041g/1455872418636-3772497920295001-optimise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1275" y="3351212"/>
            <a:ext cx="400050" cy="1628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91000" y="3258344"/>
          <a:ext cx="3810000" cy="1485900"/>
        </p:xfrm>
        <a:graphic>
          <a:graphicData uri="http://schemas.openxmlformats.org/drawingml/2006/table">
            <a:tbl>
              <a:tblPr/>
              <a:tblGrid>
                <a:gridCol w="3810000">
                  <a:extLst>
                    <a:ext uri="{9D8B030D-6E8A-4147-A177-3AD203B41FA5}">
                      <a16:colId xmlns:a16="http://schemas.microsoft.com/office/drawing/2014/main" val="35671767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b="1" i="1" dirty="0">
                          <a:effectLst/>
                        </a:rPr>
                        <a:t/>
                      </a:r>
                      <a:br>
                        <a:rPr lang="en-AU" b="1" i="1" dirty="0">
                          <a:effectLst/>
                        </a:rPr>
                      </a:br>
                      <a:r>
                        <a:rPr lang="en-AU" b="1" i="1" dirty="0">
                          <a:effectLst/>
                        </a:rPr>
                        <a:t>Reactivity increases</a:t>
                      </a:r>
                      <a:r>
                        <a:rPr lang="en-AU" i="1" dirty="0">
                          <a:effectLst/>
                        </a:rPr>
                        <a:t> as you </a:t>
                      </a:r>
                      <a:r>
                        <a:rPr lang="en-AU" b="1" i="1" dirty="0">
                          <a:effectLst/>
                        </a:rPr>
                        <a:t>move down the group</a:t>
                      </a:r>
                      <a:r>
                        <a:rPr lang="en-AU" i="1" dirty="0">
                          <a:effectLst/>
                        </a:rPr>
                        <a:t>. This is because the valence electrons are getting further from the nucleus, and are easier to remove.</a:t>
                      </a:r>
                      <a:endParaRPr lang="en-AU" dirty="0">
                        <a:effectLst/>
                      </a:endParaRP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1631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9310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03240"/>
            <a:ext cx="105410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Alkali metals will react to produce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similar compounds.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example: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They will all react with </a:t>
            </a:r>
            <a:r>
              <a:rPr lang="en-AU" b="1" i="0" dirty="0" smtClean="0">
                <a:solidFill>
                  <a:srgbClr val="228B22"/>
                </a:solidFill>
                <a:effectLst/>
                <a:latin typeface="Arial" panose="020B0604020202020204" pitchFamily="34" charset="0"/>
              </a:rPr>
              <a:t>chlorine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form ionic compounds with the formula </a:t>
            </a:r>
            <a:r>
              <a:rPr lang="en-AU" b="1" i="0" dirty="0" err="1" smtClean="0">
                <a:solidFill>
                  <a:srgbClr val="444444"/>
                </a:solidFill>
                <a:effectLst/>
                <a:latin typeface="KaTeX_Main"/>
              </a:rPr>
              <a:t>X</a:t>
            </a:r>
            <a:r>
              <a:rPr lang="en-AU" b="0" i="0" dirty="0" err="1" smtClean="0">
                <a:solidFill>
                  <a:srgbClr val="444444"/>
                </a:solidFill>
                <a:effectLst/>
                <a:latin typeface="KaTeX_Main"/>
              </a:rPr>
              <a:t>Cl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where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KaTeX_Main"/>
              </a:rPr>
              <a:t>X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an alkali metal.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They will all react with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oxygen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form ionic compounds with the formula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KaTeX_Main"/>
              </a:rPr>
              <a:t>X</a:t>
            </a:r>
            <a:r>
              <a:rPr lang="en-AU" b="1" i="0" baseline="-2500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​O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where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KaTeX_Main"/>
              </a:rPr>
              <a:t>X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an alkali metal.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8725" y="4111624"/>
            <a:ext cx="7005826" cy="195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728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9500" y="889338"/>
            <a:ext cx="103378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Alkali metals are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very soft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you can cut most of them with a knife.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Alkali metals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react violently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 water. Any alkali metals stored in your school will probably be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completely submerged in oil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avoid unwanted reactions.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421717304.20511g/1421717284065-1768650074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6337" y="2573337"/>
            <a:ext cx="2524125" cy="3800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7460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5500" y="405537"/>
            <a:ext cx="105283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Group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elements are known as the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alkaline earth metals.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All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alkaline earth metals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reactive (though not as reactive as alkali metals), and, due to having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valence electrons, form ions with a charge of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+2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456266270.406461g/1456266271185-4210095784659990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1875" y="2551112"/>
            <a:ext cx="619125" cy="3771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s://www.educationperfect.com/media/content/Science/1455872416.579041g/1455872418636-3772497920295001-optimise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875" y="3478212"/>
            <a:ext cx="400050" cy="1628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4038600" y="3513732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b="1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Reactivity increases </a:t>
            </a:r>
            <a:r>
              <a:rPr lang="en-AU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as you </a:t>
            </a:r>
            <a:r>
              <a:rPr lang="en-AU" b="1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move down the group.</a:t>
            </a:r>
            <a:r>
              <a:rPr lang="en-AU" b="0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is because the valence electrons are getting further from the nucleus, and are easier to remove.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6009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82700" y="440541"/>
            <a:ext cx="94615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Alkaline earth metals react to produce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similar compounds.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example: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They will all react with </a:t>
            </a:r>
            <a:r>
              <a:rPr lang="en-AU" b="1" i="0" dirty="0" smtClean="0">
                <a:solidFill>
                  <a:srgbClr val="228B22"/>
                </a:solidFill>
                <a:effectLst/>
                <a:latin typeface="Arial" panose="020B0604020202020204" pitchFamily="34" charset="0"/>
              </a:rPr>
              <a:t>chlorine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form ionic compounds with the formula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KaTeX_Main"/>
              </a:rPr>
              <a:t>X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Cl</a:t>
            </a:r>
            <a:r>
              <a:rPr lang="en-AU" b="0" i="0" baseline="-2500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​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where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KaTeX_Main"/>
              </a:rPr>
              <a:t>X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an alkaline earth metal.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They will all react with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oxygen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form ionic compounds with the formula, 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KaTeX_Main"/>
              </a:rPr>
              <a:t>X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O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where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KaTeX_Main"/>
              </a:rPr>
              <a:t>X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an alkaline earth metal.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3937" y="3775074"/>
            <a:ext cx="7202270" cy="238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25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Metallic Substances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50989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9400" y="229444"/>
            <a:ext cx="119126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Metals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make up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majority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known elements.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Metals are found on the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lower left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side of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periodic table.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such, they generally have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low numbers of valence electrons.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would be expected from such a broad group,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properties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metals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vary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quite widely.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1" i="0" dirty="0" smtClean="0">
                <a:solidFill>
                  <a:srgbClr val="999999"/>
                </a:solidFill>
                <a:effectLst/>
                <a:latin typeface="Arial" panose="020B0604020202020204" pitchFamily="34" charset="0"/>
              </a:rPr>
              <a:t>Valence electrons are the electrons in the outermost electron shell of an atom.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Metals follow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trends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within the periodic table. Elements within the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same group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(column on the periodic table) have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similar properties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because they have the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same number of valence electrons.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Atoms of elements in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same period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(row on the table) are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similar in size,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because they have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same number of electron shells.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Thus,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size of atoms increases down each group.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Science/1568085658.182071g/1568085659098-1157096240373319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3612" y="3609335"/>
            <a:ext cx="5464175" cy="3012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1622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191344"/>
            <a:ext cx="118237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As metals have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low numbers of valence electrons,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they will tend to lose those electrons to attain a stable full valence shell. Thus, they will form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cations.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Atoms with the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same number of electrons in their valence shell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(in the same group) will tend to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react in the same way.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 metals, the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fewer valence electrons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they have, the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easier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is to achieve a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full valence shell,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more reactive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they will be.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Electrons are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attracted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positive nucleus of an atom, so the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closer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they are to the nucleus, the more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strongly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they are held by it. This means that the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reactivity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metals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increases down the group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periodic table. The larger metal atoms hold their valence electrons more weakly, so it is easier for them to lose them in reactions.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6100" y="3399135"/>
            <a:ext cx="11074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Electrostatic attraction</a:t>
            </a:r>
            <a:r>
              <a:rPr lang="en-AU" b="1" i="0" dirty="0" smtClean="0">
                <a:solidFill>
                  <a:srgbClr val="999999"/>
                </a:solidFill>
                <a:effectLst/>
                <a:latin typeface="Arial" panose="020B0604020202020204" pitchFamily="34" charset="0"/>
              </a:rPr>
              <a:t> is the attractive force between electrically charged objects. Like charges repel, while opposite charges attract.</a:t>
            </a:r>
            <a:endParaRPr lang="en-AU" dirty="0"/>
          </a:p>
        </p:txBody>
      </p:sp>
      <p:pic>
        <p:nvPicPr>
          <p:cNvPr id="5122" name="Picture 2" descr="https://www.educationperfect.com/media/content/Science/1570075506.878171g/1570075506965-2557589220482777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6899" y="4173640"/>
            <a:ext cx="6746875" cy="2697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4071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4000" y="338941"/>
            <a:ext cx="116459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metals found in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group 1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periodic table are known as the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alkali metals.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alkali metals all have only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one valence electron.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makes them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extremely reactive,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they grow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more reactive down the group.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These metals must be stored in oil, because they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react violently with water.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All of the alkali metals occur in nature, but always in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compounds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 other elements due to their reactivity. Although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hydrogen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found in this group, it is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not considered a metal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because it is a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gas at room temperature.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However, at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very high pressures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displays the same properties.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 descr="https://www.educationperfect.com/media/content/Science/1556672708.329311g/1556672708828-3294388373857031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1950" y="4130675"/>
            <a:ext cx="3810000" cy="211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79566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4000" y="206445"/>
            <a:ext cx="106934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metals found in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group 2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periodic table are known as the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alkaline earth metals.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These metals all have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two valence electrons.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They are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not as reactive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the group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metals, but they are still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very reactive,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grow more reactive down the group. The metals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further down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group (calcium, strontium, and barium) will react vigorously with water.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All of the alkaline earth metals occur in nature, always in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compounds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 other elements due to their reactivity. All of the group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metals have at least one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naturally occurring radioisotope,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meaning they can all be found in radioactive forms.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1" i="0" dirty="0" smtClean="0">
                <a:solidFill>
                  <a:srgbClr val="999999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radioisotope</a:t>
            </a:r>
            <a:r>
              <a:rPr lang="en-AU" b="1" i="0" dirty="0" smtClean="0">
                <a:solidFill>
                  <a:srgbClr val="999999"/>
                </a:solidFill>
                <a:effectLst/>
                <a:latin typeface="Arial" panose="020B0604020202020204" pitchFamily="34" charset="0"/>
              </a:rPr>
              <a:t> is an isotope (a form of an element with a different number of neutrons) that is unstable and undergoes radioactive decay.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dirty="0" smtClean="0"/>
              <a:t/>
            </a:r>
            <a:br>
              <a:rPr lang="en-AU" dirty="0" smtClean="0"/>
            </a:br>
            <a:endParaRPr lang="en-AU" dirty="0"/>
          </a:p>
        </p:txBody>
      </p:sp>
      <p:pic>
        <p:nvPicPr>
          <p:cNvPr id="7170" name="Picture 2" descr="https://www.educationperfect.com/media/content/Science/1456360756.068331g/1456360765239-2920739907842297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5700" y="4176763"/>
            <a:ext cx="3810000" cy="2495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24381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5600" y="430243"/>
            <a:ext cx="111887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metals found in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groups 3-12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periodic table are known as the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transition metals.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properties of transition metals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vary greatly.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Many of them occur in nature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as metals,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but they also commonly form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brightly coloured compounds.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Some transition metals are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magnetic.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Due to the unique properties of their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energy levels,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transition metals can form a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range of cations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different charges,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by losing different numbers of valence electrons. In writing, these different ions are denoted by their </a:t>
            </a:r>
            <a:r>
              <a:rPr lang="en-AU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charge in Roman numerals;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 example, 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Cu</a:t>
            </a:r>
            <a:r>
              <a:rPr lang="en-AU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+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ion is called the copper(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I)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ion, and the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Cu</a:t>
            </a:r>
            <a:r>
              <a:rPr lang="en-AU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2+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ion is the copper (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II)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ion.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4" name="Picture 2" descr="https://www.educationperfect.com/media/content/German/1449023350.308951g/1449023377640-1938215532793457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775" y="4059237"/>
            <a:ext cx="3800475" cy="2524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https://www.educationperfect.com/media/content/Science/1444682802.17651g/1444682806841-4200481132024066-optimise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9548" y="3957637"/>
            <a:ext cx="3847752" cy="2524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29458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5900" y="727839"/>
            <a:ext cx="113919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Atoms of metals can bond with each other by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sharing electrons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many atoms.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valence electrons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metal atoms become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delocalised,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disconnecting from their nuclei. Each of the atoms becomes a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cation.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structure is held together by the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strong electrostatic forces of attraction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the positively charged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cations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 negatively charged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electrons.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18" name="Picture 2" descr="https://www.educationperfect.com/media/content/Science/1571024797.663441g/1571024797371-773308772408639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3336" y="3175000"/>
            <a:ext cx="4977027" cy="368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67664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425440"/>
            <a:ext cx="114427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FF474D"/>
                </a:solidFill>
                <a:effectLst/>
                <a:latin typeface="Arial" panose="020B0604020202020204" pitchFamily="34" charset="0"/>
              </a:rPr>
              <a:t>strength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metallic bonds varies according to the metal’s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chemical properties.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Metals with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more valence electrons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have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more delocalised electrons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more strongly charged cations.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means that the metallic bonds within them will be </a:t>
            </a:r>
            <a:r>
              <a:rPr lang="en-AU" b="1" i="0" dirty="0" smtClean="0">
                <a:solidFill>
                  <a:srgbClr val="FF474D"/>
                </a:solidFill>
                <a:effectLst/>
                <a:latin typeface="Arial" panose="020B0604020202020204" pitchFamily="34" charset="0"/>
              </a:rPr>
              <a:t>stronger.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Metallic bonds also grow </a:t>
            </a:r>
            <a:r>
              <a:rPr lang="en-AU" b="1" i="0" dirty="0" smtClean="0">
                <a:solidFill>
                  <a:srgbClr val="FF474D"/>
                </a:solidFill>
                <a:effectLst/>
                <a:latin typeface="Arial" panose="020B0604020202020204" pitchFamily="34" charset="0"/>
              </a:rPr>
              <a:t>stronger towards the top of the periodic table,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atoms are smaller.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Thus, the delocalised electrons are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closer to the nucleus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attracted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it more strongly.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42" name="Picture 2" descr="https://www.educationperfect.com/media/content/Geography/1533168979.988651g/1533168976902-809647027596901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1775" y="3449637"/>
            <a:ext cx="3800475" cy="2533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66399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4000" y="419944"/>
            <a:ext cx="114046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As an example, we’ll compare the bonding in </a:t>
            </a:r>
            <a:r>
              <a:rPr lang="en-AU" b="1" i="0" dirty="0" smtClean="0">
                <a:solidFill>
                  <a:srgbClr val="FF474D"/>
                </a:solidFill>
                <a:effectLst/>
                <a:latin typeface="Arial" panose="020B0604020202020204" pitchFamily="34" charset="0"/>
              </a:rPr>
              <a:t>sodium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magnesium.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1" i="0" dirty="0" smtClean="0">
                <a:solidFill>
                  <a:srgbClr val="FF474D"/>
                </a:solidFill>
                <a:effectLst/>
                <a:latin typeface="Arial" panose="020B0604020202020204" pitchFamily="34" charset="0"/>
              </a:rPr>
              <a:t>Sodium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has </a:t>
            </a:r>
            <a:r>
              <a:rPr lang="en-AU" b="1" i="0" dirty="0" smtClean="0">
                <a:solidFill>
                  <a:srgbClr val="FF474D"/>
                </a:solidFill>
                <a:effectLst/>
                <a:latin typeface="Arial" panose="020B0604020202020204" pitchFamily="34" charset="0"/>
              </a:rPr>
              <a:t>atomic number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FF474D"/>
                </a:solidFill>
                <a:effectLst/>
                <a:latin typeface="KaTeX_Main"/>
              </a:rPr>
              <a:t>11</a:t>
            </a:r>
            <a:r>
              <a:rPr lang="en-AU" b="0" i="0" dirty="0" smtClean="0">
                <a:solidFill>
                  <a:srgbClr val="FF474D"/>
                </a:solidFill>
                <a:effectLst/>
                <a:latin typeface="KaTeX_Main"/>
              </a:rPr>
              <a:t>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 it has an electron configuration of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2, 8, 1,2,8,1,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11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electron in the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valence shell.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sodium forms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metallic bonds,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single valence electron is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delocalised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shared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the lattice of sodium cations.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Magnesium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has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atomic number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KaTeX_Main"/>
              </a:rPr>
              <a:t>12</a:t>
            </a:r>
            <a:r>
              <a:rPr lang="en-AU" b="0" i="0" dirty="0" smtClean="0">
                <a:solidFill>
                  <a:srgbClr val="6247AA"/>
                </a:solidFill>
                <a:effectLst/>
                <a:latin typeface="KaTeX_Main"/>
              </a:rPr>
              <a:t>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 it has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22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electrons in its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valence shell.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magnesium forms metallic bonds,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both electrons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delocalised from each atom (forming cations), so the </a:t>
            </a:r>
            <a:r>
              <a:rPr lang="en-AU" b="1" i="0" dirty="0" smtClean="0">
                <a:solidFill>
                  <a:srgbClr val="FF474D"/>
                </a:solidFill>
                <a:effectLst/>
                <a:latin typeface="Arial" panose="020B0604020202020204" pitchFamily="34" charset="0"/>
              </a:rPr>
              <a:t>cations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have a charge of </a:t>
            </a:r>
            <a:r>
              <a:rPr lang="en-AU" b="0" i="0" dirty="0" smtClean="0">
                <a:solidFill>
                  <a:srgbClr val="FF474D"/>
                </a:solidFill>
                <a:effectLst/>
                <a:latin typeface="KaTeX_Main"/>
              </a:rPr>
              <a:t>+</a:t>
            </a:r>
            <a:r>
              <a:rPr lang="en-AU" b="1" i="0" dirty="0" smtClean="0">
                <a:solidFill>
                  <a:srgbClr val="FF474D"/>
                </a:solidFill>
                <a:effectLst/>
                <a:latin typeface="KaTeX_Main"/>
              </a:rPr>
              <a:t>2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will be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more strongly attracted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delocalised electrons. Thus, the metallic bonding in magnesium is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stronger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than in sodium.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266" name="Picture 2" descr="https://www.educationperfect.com/media/content/Science/1455073828.120311g/1455073834967-1169087682485306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1300" y="3775075"/>
            <a:ext cx="3810000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19061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9400" y="415141"/>
            <a:ext cx="11150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cations form a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lattice structure,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 electrons moving between them.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electrons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attracted equally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all of the cations, so they are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free to move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them. The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cations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repelled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each other, but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held together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by their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attractions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electrons.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results in a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three-dimensional network,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 cations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equally spaced in fixed positions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a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sea of delocalised electrons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them. Metallic bonds are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non-directional,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the electrons are equally attracted to all of the cations, and move between them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randomly.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63747439.0315 (1)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708400" y="2851798"/>
            <a:ext cx="4641850" cy="3599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973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39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22300" y="674638"/>
            <a:ext cx="103886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metallic lattice is </a:t>
            </a:r>
            <a:r>
              <a:rPr lang="en-AU" b="1" i="0" dirty="0" smtClean="0">
                <a:solidFill>
                  <a:srgbClr val="395DDB"/>
                </a:solidFill>
                <a:effectLst/>
                <a:latin typeface="Arial" panose="020B0604020202020204" pitchFamily="34" charset="0"/>
              </a:rPr>
              <a:t>neutral overall.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valence electrons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each cation are still </a:t>
            </a:r>
            <a:r>
              <a:rPr lang="en-AU" b="1" i="0" dirty="0" smtClean="0">
                <a:solidFill>
                  <a:srgbClr val="395DDB"/>
                </a:solidFill>
                <a:effectLst/>
                <a:latin typeface="Arial" panose="020B0604020202020204" pitchFamily="34" charset="0"/>
              </a:rPr>
              <a:t>present within the structure.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Thus, despite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each nucleus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lattice being a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cation,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metals are still considered to be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made up of atoms.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discussing a </a:t>
            </a:r>
            <a:r>
              <a:rPr lang="en-AU" b="1" i="0" dirty="0" smtClean="0">
                <a:solidFill>
                  <a:srgbClr val="395DDB"/>
                </a:solidFill>
                <a:effectLst/>
                <a:latin typeface="Arial" panose="020B0604020202020204" pitchFamily="34" charset="0"/>
              </a:rPr>
              <a:t>pure metal,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use its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atomic symbol;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sodium metal, for example, is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Na+.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290" name="Picture 2" descr="https://www.educationperfect.com/media/content/Science/1498686987.682551g/1498686992002-4408148125638022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1600" y="27686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7496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4200" y="371545"/>
            <a:ext cx="109474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Most metals are </a:t>
            </a:r>
            <a:r>
              <a:rPr lang="en-AU" b="1" i="0" dirty="0" smtClean="0">
                <a:solidFill>
                  <a:srgbClr val="FF474D"/>
                </a:solidFill>
                <a:effectLst/>
                <a:latin typeface="Arial" panose="020B0604020202020204" pitchFamily="34" charset="0"/>
              </a:rPr>
              <a:t>close packed;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they fit as many atoms as possible into the available volume.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a </a:t>
            </a:r>
            <a:r>
              <a:rPr lang="en-AU" b="1" i="0" dirty="0" smtClean="0">
                <a:solidFill>
                  <a:srgbClr val="FF474D"/>
                </a:solidFill>
                <a:effectLst/>
                <a:latin typeface="Arial" panose="020B0604020202020204" pitchFamily="34" charset="0"/>
              </a:rPr>
              <a:t>close packed lattice structure,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every cation is </a:t>
            </a:r>
            <a:r>
              <a:rPr lang="en-AU" b="1" i="0" dirty="0" smtClean="0">
                <a:solidFill>
                  <a:srgbClr val="7E68B9"/>
                </a:solidFill>
                <a:effectLst/>
                <a:latin typeface="Arial" panose="020B0604020202020204" pitchFamily="34" charset="0"/>
              </a:rPr>
              <a:t>surrounded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by </a:t>
            </a:r>
            <a:r>
              <a:rPr lang="en-AU" b="1" i="0" dirty="0" smtClean="0">
                <a:solidFill>
                  <a:srgbClr val="395DDB"/>
                </a:solidFill>
                <a:effectLst/>
                <a:latin typeface="KaTeX_Main"/>
              </a:rPr>
              <a:t>12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other cations. Some metallic lattices have </a:t>
            </a:r>
            <a:r>
              <a:rPr lang="en-AU" b="1" i="0" dirty="0" smtClean="0">
                <a:solidFill>
                  <a:srgbClr val="7E68B9"/>
                </a:solidFill>
                <a:effectLst/>
                <a:latin typeface="Arial" panose="020B0604020202020204" pitchFamily="34" charset="0"/>
              </a:rPr>
              <a:t>other structures,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but this is the most common. We can </a:t>
            </a:r>
            <a:r>
              <a:rPr lang="en-AU" b="1" i="0" dirty="0" smtClean="0">
                <a:solidFill>
                  <a:srgbClr val="395DDB"/>
                </a:solidFill>
                <a:effectLst/>
                <a:latin typeface="Arial" panose="020B0604020202020204" pitchFamily="34" charset="0"/>
              </a:rPr>
              <a:t>visualise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how ions pack together within the metallic lattice by imagining them as spheres.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Imagine first a </a:t>
            </a:r>
            <a:r>
              <a:rPr lang="en-AU" b="1" i="0" dirty="0" smtClean="0">
                <a:solidFill>
                  <a:srgbClr val="FF474D"/>
                </a:solidFill>
                <a:effectLst/>
                <a:latin typeface="Arial" panose="020B0604020202020204" pitchFamily="34" charset="0"/>
              </a:rPr>
              <a:t>single layer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 magnesium metallic lattice. Each cation within the layer is </a:t>
            </a:r>
            <a:r>
              <a:rPr lang="en-AU" b="1" i="0" dirty="0" smtClean="0">
                <a:solidFill>
                  <a:srgbClr val="7E68B9"/>
                </a:solidFill>
                <a:effectLst/>
                <a:latin typeface="Arial" panose="020B0604020202020204" pitchFamily="34" charset="0"/>
              </a:rPr>
              <a:t>surrounded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by </a:t>
            </a:r>
            <a:r>
              <a:rPr lang="en-AU" b="1" i="0" dirty="0" smtClean="0">
                <a:solidFill>
                  <a:srgbClr val="FF474D"/>
                </a:solidFill>
                <a:effectLst/>
                <a:latin typeface="KaTeX_Main"/>
              </a:rPr>
              <a:t>6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FF474D"/>
                </a:solidFill>
                <a:effectLst/>
                <a:latin typeface="Arial" panose="020B0604020202020204" pitchFamily="34" charset="0"/>
              </a:rPr>
              <a:t>other cations.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Now, place an </a:t>
            </a:r>
            <a:r>
              <a:rPr lang="en-AU" b="1" i="0" dirty="0" smtClean="0">
                <a:solidFill>
                  <a:srgbClr val="395DDB"/>
                </a:solidFill>
                <a:effectLst/>
                <a:latin typeface="Arial" panose="020B0604020202020204" pitchFamily="34" charset="0"/>
              </a:rPr>
              <a:t>identical layer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 top and another on the bottom, such that cations are packed as </a:t>
            </a:r>
            <a:r>
              <a:rPr lang="en-AU" b="1" i="0" dirty="0" smtClean="0">
                <a:solidFill>
                  <a:srgbClr val="7E68B9"/>
                </a:solidFill>
                <a:effectLst/>
                <a:latin typeface="Arial" panose="020B0604020202020204" pitchFamily="34" charset="0"/>
              </a:rPr>
              <a:t>efficiently as possible.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means that the cations in the middle layer will </a:t>
            </a:r>
            <a:r>
              <a:rPr lang="en-AU" b="1" i="0" dirty="0" smtClean="0">
                <a:solidFill>
                  <a:srgbClr val="FF474D"/>
                </a:solidFill>
                <a:effectLst/>
                <a:latin typeface="Arial" panose="020B0604020202020204" pitchFamily="34" charset="0"/>
              </a:rPr>
              <a:t>fit into the gaps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cations in the other layers, so each is touching </a:t>
            </a:r>
            <a:r>
              <a:rPr lang="en-AU" b="1" i="0" dirty="0" smtClean="0">
                <a:solidFill>
                  <a:srgbClr val="395DDB"/>
                </a:solidFill>
                <a:effectLst/>
                <a:latin typeface="KaTeX_Main"/>
              </a:rPr>
              <a:t>3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395DDB"/>
                </a:solidFill>
                <a:effectLst/>
                <a:latin typeface="Arial" panose="020B0604020202020204" pitchFamily="34" charset="0"/>
              </a:rPr>
              <a:t>cations above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395DDB"/>
                </a:solidFill>
                <a:effectLst/>
                <a:latin typeface="KaTeX_Main"/>
              </a:rPr>
              <a:t>3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395DDB"/>
                </a:solidFill>
                <a:effectLst/>
                <a:latin typeface="Arial" panose="020B0604020202020204" pitchFamily="34" charset="0"/>
              </a:rPr>
              <a:t>cations below.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314" name="Picture 2" descr="https://www.educationperfect.com/media/content/Science/1570411211.945191g/1570411211185-3914167481190712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8597" y="3510866"/>
            <a:ext cx="2271803" cy="322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https://www.educationperfect.com/media/content/Science/1570063557.635421g/1570063557923-2557589220482777-4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9631" y="3510866"/>
            <a:ext cx="2911719" cy="31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29648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8300" y="348546"/>
            <a:ext cx="113792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While metallic bonds commonly occur between atoms of the same element, they can also occur between different metals, or even with non-metals; this is called an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alloy.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structure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metallic lattice is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different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alloys, as they may include cations with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different sizes and charges.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Often the alloys used by humans have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very small proportions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other metals, so they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cannot fit in a regular place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lattice structure.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substitutional alloy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one where the cations of the two metals are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similar in size,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can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substitute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 each other in the lattice structure. As they will not be exactly the same size, this causes some disruption to the lattice. An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interstitial alloy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one where one metal has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much smaller cations,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they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fit in the spaces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the other metal’s lattice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(interstices).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Some alloys have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non-metals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such as carbon mixed in; these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disrupt the bonding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further, as they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cannot form metallic bonds.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dirty="0" smtClean="0"/>
              <a:t/>
            </a:r>
            <a:br>
              <a:rPr lang="en-AU" dirty="0" smtClean="0"/>
            </a:br>
            <a:endParaRPr lang="en-AU" dirty="0"/>
          </a:p>
        </p:txBody>
      </p:sp>
      <p:pic>
        <p:nvPicPr>
          <p:cNvPr id="14338" name="Picture 2" descr="https://www.educationperfect.com/media/content/Science/1570588735.598951g/1570588735805-3957318434408284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0975" y="3852862"/>
            <a:ext cx="3810000" cy="2647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0" name="Picture 4" descr="https://www.educationperfect.com/media/content/Science/1570588841.464941g/1570588841724-3957318434408284-4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7400" y="4086783"/>
            <a:ext cx="2733675" cy="2180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08753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Physical Properties of Metallic Substances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41606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6400" y="396439"/>
            <a:ext cx="11430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FF474D"/>
                </a:solidFill>
                <a:effectLst/>
                <a:latin typeface="Arial" panose="020B0604020202020204" pitchFamily="34" charset="0"/>
              </a:rPr>
              <a:t>properties of metals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vary widely, but most metals share particular properties.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These properties can be explained by the way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metallic bonding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occurs. Metals are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crystalline solids,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where metallic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cations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held in a </a:t>
            </a:r>
            <a:r>
              <a:rPr lang="en-AU" b="1" i="0" dirty="0" smtClean="0">
                <a:solidFill>
                  <a:srgbClr val="FF474D"/>
                </a:solidFill>
                <a:effectLst/>
                <a:latin typeface="Arial" panose="020B0604020202020204" pitchFamily="34" charset="0"/>
              </a:rPr>
              <a:t>rigid lattice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by their electrostatic attractions to a sea of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delocalised electrons.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is this structure that gives rise to their distinct properties.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362" name="Picture 2" descr="https://www.educationperfect.com/media/content/Science/1523486234.777981g/1523486235105-3031432563237315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1162" y="2679700"/>
            <a:ext cx="3800475" cy="349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69684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325041"/>
            <a:ext cx="110617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Metals have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high melting and boiling points.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because the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strong electrostatic forces of attraction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the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cations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lattice and the sea of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electrons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take a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large input of energy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overcome.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melting and boiling points of metals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vary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according to the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strength of their bonds,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are determined by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number of valence electrons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size of the cations.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Metals with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more valence electrons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(and thus more delocalised electrons and stronger attractions) and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smaller cations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(and thus more exposed positive nuclei and stronger attractions) have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stronger bonds.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6386" name="Picture 2" descr="https://www.educationperfect.com/media/content/German/1475800760.684061g/1475800772173-3819861805712749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1650" y="3517900"/>
            <a:ext cx="381000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77882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6600" y="579041"/>
            <a:ext cx="11049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Most metals are relatively </a:t>
            </a:r>
            <a:r>
              <a:rPr lang="en-AU" b="1" i="0" dirty="0" smtClean="0">
                <a:solidFill>
                  <a:srgbClr val="FF474D"/>
                </a:solidFill>
                <a:effectLst/>
                <a:latin typeface="Arial" panose="020B0604020202020204" pitchFamily="34" charset="0"/>
              </a:rPr>
              <a:t>hard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dense.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FF474D"/>
                </a:solidFill>
                <a:effectLst/>
                <a:latin typeface="Arial" panose="020B0604020202020204" pitchFamily="34" charset="0"/>
              </a:rPr>
              <a:t>hardness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 substance is also related to the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strength of its bonding.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strong electrostatic forces between cations and electrons take a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lot of kinetic energy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break.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addition, the cations are held in a rigid lattice which is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closely packed.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Metals are able to form in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most efficient structures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possible, because their cations while </a:t>
            </a:r>
            <a:r>
              <a:rPr lang="en-AU" b="1" i="0" dirty="0" smtClean="0">
                <a:solidFill>
                  <a:srgbClr val="FF474D"/>
                </a:solidFill>
                <a:effectLst/>
                <a:latin typeface="Arial" panose="020B0604020202020204" pitchFamily="34" charset="0"/>
              </a:rPr>
              <a:t>repelled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each other, are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strongly attracted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electrons all around them. This means that metals are usually very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dense.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7410" name="Picture 2" descr="https://www.educationperfect.com/media/content/Science/1571024797.663441g/1571024797371-773308772408639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9951" y="3327400"/>
            <a:ext cx="4582297" cy="339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61892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412740"/>
            <a:ext cx="115189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Metals are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malleable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ductile.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Something which is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malleable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able to be worked into a different shape without breaking. Something which is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ductile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able to be drawn out or stretched without breaking.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attractive forces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metallic bonding are </a:t>
            </a:r>
            <a:r>
              <a:rPr lang="en-AU" b="1" i="0" dirty="0" smtClean="0">
                <a:solidFill>
                  <a:srgbClr val="FF474D"/>
                </a:solidFill>
                <a:effectLst/>
                <a:latin typeface="Arial" panose="020B0604020202020204" pitchFamily="34" charset="0"/>
              </a:rPr>
              <a:t>strong,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but they are also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non-directional.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cations can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move past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each other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without disrupting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forces between the cations and the sea of electrons. This means that the lattice is </a:t>
            </a:r>
            <a:r>
              <a:rPr lang="en-AU" b="1" i="0" dirty="0" smtClean="0">
                <a:solidFill>
                  <a:srgbClr val="FF474D"/>
                </a:solidFill>
                <a:effectLst/>
                <a:latin typeface="Arial" panose="020B0604020202020204" pitchFamily="34" charset="0"/>
              </a:rPr>
              <a:t>hard to separate,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but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easy to deform.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8434" name="Picture 2" descr="https://www.educationperfect.com/media/content/Science/1573428944.820631g/1573428944190-2264071474331845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5212" y="2809875"/>
            <a:ext cx="7610475" cy="4048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6305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0100" y="299641"/>
            <a:ext cx="108966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Metals are good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conductors of electricity.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Electrical conductivity requires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charged particles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are able to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move freely.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metallic lattice hosts a sea of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delocalised electrons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are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free to move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throughout the structure.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a </a:t>
            </a:r>
            <a:r>
              <a:rPr lang="en-AU" b="1" i="0" dirty="0" smtClean="0">
                <a:solidFill>
                  <a:srgbClr val="6247AA"/>
                </a:solidFill>
                <a:effectLst/>
                <a:latin typeface="Arial" panose="020B0604020202020204" pitchFamily="34" charset="0"/>
              </a:rPr>
              <a:t>current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applied to a metal (in either solid or liquid form), the delocalised electrons will be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attracted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positive electrode and be able to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move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through the metal towards it, thus allowing current to flow.</a:t>
            </a:r>
          </a:p>
          <a:p>
            <a:r>
              <a:rPr lang="en-AU" dirty="0" smtClean="0"/>
              <a:t/>
            </a:r>
            <a:br>
              <a:rPr lang="en-AU" dirty="0" smtClean="0"/>
            </a:br>
            <a:endParaRPr lang="en-AU" dirty="0"/>
          </a:p>
        </p:txBody>
      </p:sp>
      <p:pic>
        <p:nvPicPr>
          <p:cNvPr id="19458" name="Picture 2" descr="https://www.educationperfect.com/media/content/Science/1563148947.832181g/1563148948049-3639645633331790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8162" y="3632200"/>
            <a:ext cx="3800475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91860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537339"/>
            <a:ext cx="110744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Metals are good </a:t>
            </a:r>
            <a:r>
              <a:rPr lang="en-AU" b="1" i="0" dirty="0" smtClean="0">
                <a:solidFill>
                  <a:srgbClr val="FF474D"/>
                </a:solidFill>
                <a:effectLst/>
                <a:latin typeface="Arial" panose="020B0604020202020204" pitchFamily="34" charset="0"/>
              </a:rPr>
              <a:t>conductors of heat.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a metal is heated, the cations in the metallic lattice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vibrate faster,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as they are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closely packed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they can </a:t>
            </a:r>
            <a:r>
              <a:rPr lang="en-AU" b="1" i="0" dirty="0" smtClean="0">
                <a:solidFill>
                  <a:srgbClr val="FF474D"/>
                </a:solidFill>
                <a:effectLst/>
                <a:latin typeface="Arial" panose="020B0604020202020204" pitchFamily="34" charset="0"/>
              </a:rPr>
              <a:t>transfer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heat energy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quickly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through the structure.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delocalised electrons can </a:t>
            </a:r>
            <a:r>
              <a:rPr lang="en-AU" b="1" i="0" dirty="0" smtClean="0">
                <a:solidFill>
                  <a:srgbClr val="FF474D"/>
                </a:solidFill>
                <a:effectLst/>
                <a:latin typeface="Arial" panose="020B0604020202020204" pitchFamily="34" charset="0"/>
              </a:rPr>
              <a:t>gain kinetic energy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the heat, and as they are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free to move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through the lattice they will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transfer it physically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other parts of the lattice.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482" name="Picture 2" descr="https://www.educationperfect.com/media/content/Science/1500934212.824021g/1500934214523-2147108868199167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962" y="3525837"/>
            <a:ext cx="3800475" cy="2533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0763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82600" y="556042"/>
            <a:ext cx="113284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Metals are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not soluble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any solvent.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electrostatic forces of attraction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cations and delocalised electrons are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stronger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than the forces of attraction between these particles and the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solvent particles.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Metals may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react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 water and other liquids; this is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not the same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being soluble in them. When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chemical reactions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occur,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new chemical bonds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formed as the atoms involved exchange or share their valence electrons.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Dissolution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involves the electrostatic attractions between the solvent and solute (substance being dissolved)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overcoming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those within the solute, without new bonds forming or electrons being exchanged.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1506" name="Picture 2" descr="https://www.educationperfect.com/media/content/Science/1446158649.028321g/1446158651909-3839634734316177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1800" y="3708400"/>
            <a:ext cx="381000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33164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4200" y="233045"/>
            <a:ext cx="110490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Metals are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lustrous.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Lustre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 property of being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shiny,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reflecting the light.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mobile electrons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metals may move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across the surface.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They can move freely, so any light that falls on them is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reflected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back.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fluid nature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delocalised electrons means metals have a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smooth surface,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 light rays are reflected at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consistent angles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make the metal appear shiny.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Many metals will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tarnish;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their outer layer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reacts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 air and water to produce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metal oxides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are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duller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than the pure metal. Sometimes these oxides are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different colours,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such as the red of iron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rust,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Fe</a:t>
            </a:r>
            <a:r>
              <a:rPr lang="en-AU" b="0" i="0" baseline="-2500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​O</a:t>
            </a:r>
            <a:r>
              <a:rPr lang="en-AU" b="0" i="0" baseline="-25000" dirty="0" smtClean="0">
                <a:solidFill>
                  <a:srgbClr val="444444"/>
                </a:solidFill>
                <a:effectLst/>
                <a:latin typeface="KaTeX_Main"/>
              </a:rPr>
              <a:t>3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​,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 the green of copper </a:t>
            </a:r>
            <a:r>
              <a:rPr lang="en-AU" b="1" i="0" dirty="0" err="1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verdigris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Cu</a:t>
            </a:r>
            <a:r>
              <a:rPr lang="en-AU" b="0" i="0" baseline="-2500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​CO</a:t>
            </a:r>
            <a:r>
              <a:rPr lang="en-AU" b="0" i="0" baseline="-25000" dirty="0" smtClean="0">
                <a:solidFill>
                  <a:srgbClr val="444444"/>
                </a:solidFill>
                <a:effectLst/>
                <a:latin typeface="KaTeX_Main"/>
              </a:rPr>
              <a:t>3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​(OH)</a:t>
            </a:r>
            <a:r>
              <a:rPr lang="en-AU" b="0" i="0" baseline="-25000" dirty="0" smtClean="0">
                <a:solidFill>
                  <a:srgbClr val="444444"/>
                </a:solidFill>
                <a:effectLst/>
                <a:latin typeface="KaTeX_Main"/>
              </a:rPr>
              <a:t>2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​.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tarnish can usually be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removed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by polishing or chemical treatment.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Less reactive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metals such as gold and platinum will remain shiny for long periods of time.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2530" name="Picture 2" descr="https://www.educationperfect.com/media/content/Science/1571190811.771791g/1571190813420-660942068386606-8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065" y="3926364"/>
            <a:ext cx="5145659" cy="2501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32" name="Picture 4" descr="https://www.educationperfect.com/Images/Content/Maths/1386024551697-10212408-40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9875" y="3621564"/>
            <a:ext cx="3111500" cy="311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90914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323840"/>
            <a:ext cx="111125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People </a:t>
            </a:r>
            <a:r>
              <a:rPr lang="en-AU" b="1" i="0" dirty="0" smtClean="0">
                <a:solidFill>
                  <a:srgbClr val="FF474D"/>
                </a:solidFill>
                <a:effectLst/>
                <a:latin typeface="Arial" panose="020B0604020202020204" pitchFamily="34" charset="0"/>
              </a:rPr>
              <a:t>use metals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 a wide variety of purposes.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Some metals, namely those which are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not very reactive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thus are found </a:t>
            </a:r>
            <a:r>
              <a:rPr lang="en-AU" b="1" i="0" dirty="0" smtClean="0">
                <a:solidFill>
                  <a:srgbClr val="FDBE45"/>
                </a:solidFill>
                <a:effectLst/>
                <a:latin typeface="Arial" panose="020B0604020202020204" pitchFamily="34" charset="0"/>
              </a:rPr>
              <a:t>naturally in pure form,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have been </a:t>
            </a:r>
            <a:r>
              <a:rPr lang="en-AU" b="1" i="0" dirty="0" smtClean="0">
                <a:solidFill>
                  <a:srgbClr val="FF474D"/>
                </a:solidFill>
                <a:effectLst/>
                <a:latin typeface="Arial" panose="020B0604020202020204" pitchFamily="34" charset="0"/>
              </a:rPr>
              <a:t>used since ancient times.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Other, more reactive metals must be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extracted from their ores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order to be used.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1" i="0" dirty="0" smtClean="0">
                <a:solidFill>
                  <a:srgbClr val="FF474D"/>
                </a:solidFill>
                <a:effectLst/>
                <a:latin typeface="Arial" panose="020B0604020202020204" pitchFamily="34" charset="0"/>
              </a:rPr>
              <a:t>Ores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rocks that comprise mixtures of different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compounds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which it’s </a:t>
            </a:r>
            <a:r>
              <a:rPr lang="en-AU" b="1" i="0" dirty="0" smtClean="0">
                <a:solidFill>
                  <a:srgbClr val="FDBE45"/>
                </a:solidFill>
                <a:effectLst/>
                <a:latin typeface="Arial" panose="020B0604020202020204" pitchFamily="34" charset="0"/>
              </a:rPr>
              <a:t>economically viable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extract a metal. </a:t>
            </a:r>
            <a:r>
              <a:rPr lang="en-AU" b="1" i="0" dirty="0" smtClean="0">
                <a:solidFill>
                  <a:srgbClr val="FDBE45"/>
                </a:solidFill>
                <a:effectLst/>
                <a:latin typeface="Arial" panose="020B0604020202020204" pitchFamily="34" charset="0"/>
              </a:rPr>
              <a:t>How difficult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is to extract a metal from its ore depends on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reactivity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metal.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3554" name="Picture 2" descr="https://www.educationperfect.com/media/content/Science/1572995915.958181g/1572995915070-1238504692412591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9412" y="3462337"/>
            <a:ext cx="3800475" cy="2533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30778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4000" y="266343"/>
            <a:ext cx="115316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Alkali metals,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found in group 1 of the periodic table, are very reactive, and soft enough to be cut with a knife.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They also have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lower densities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FDBE45"/>
                </a:solidFill>
                <a:effectLst/>
                <a:latin typeface="Arial" panose="020B0604020202020204" pitchFamily="34" charset="0"/>
              </a:rPr>
              <a:t>melting points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than most other metals, though these are still high relative to many other substances. The alkali metals have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larger atoms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than the other metals in the same period. This means that their </a:t>
            </a:r>
            <a:r>
              <a:rPr lang="en-AU" b="1" i="0" dirty="0" smtClean="0">
                <a:solidFill>
                  <a:srgbClr val="FDBE45"/>
                </a:solidFill>
                <a:effectLst/>
                <a:latin typeface="Arial" panose="020B0604020202020204" pitchFamily="34" charset="0"/>
              </a:rPr>
              <a:t>lattice structures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not as efficiently packed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together, so they are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less dense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than most metals.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1" i="0" dirty="0" smtClean="0">
                <a:solidFill>
                  <a:srgbClr val="FDBE45"/>
                </a:solidFill>
                <a:effectLst/>
                <a:latin typeface="Arial" panose="020B0604020202020204" pitchFamily="34" charset="0"/>
              </a:rPr>
              <a:t>Sodium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used in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street lamps,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where vaporising the sodium gives a distinctive </a:t>
            </a:r>
            <a:r>
              <a:rPr lang="en-AU" b="1" i="0" dirty="0" smtClean="0">
                <a:solidFill>
                  <a:srgbClr val="FDBE45"/>
                </a:solidFill>
                <a:effectLst/>
                <a:latin typeface="Arial" panose="020B0604020202020204" pitchFamily="34" charset="0"/>
              </a:rPr>
              <a:t>yellow glow.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Lithium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used in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rechargeable batteries,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because it is relatively </a:t>
            </a:r>
            <a:r>
              <a:rPr lang="en-AU" b="1" i="0" dirty="0" smtClean="0">
                <a:solidFill>
                  <a:srgbClr val="FDBE45"/>
                </a:solidFill>
                <a:effectLst/>
                <a:latin typeface="Arial" panose="020B0604020202020204" pitchFamily="34" charset="0"/>
              </a:rPr>
              <a:t>light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highly reactive,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making it a convenient, efficient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conductor.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4578" name="Picture 2" descr="https://www.educationperfect.com/media/content/Science/1491356213.352911g/1491356215380-2509106886752243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1391" y="3556000"/>
            <a:ext cx="4366960" cy="2900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88532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6100" y="504041"/>
            <a:ext cx="113284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alkaline earth metals,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group 2, are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less reactive,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FF474D"/>
                </a:solidFill>
                <a:effectLst/>
                <a:latin typeface="Arial" panose="020B0604020202020204" pitchFamily="34" charset="0"/>
              </a:rPr>
              <a:t>harder,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have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higher melting points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than the alkali metals, but they are still distinct from other metals in these respects.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1" i="0" dirty="0" smtClean="0">
                <a:solidFill>
                  <a:srgbClr val="FF474D"/>
                </a:solidFill>
                <a:effectLst/>
                <a:latin typeface="Arial" panose="020B0604020202020204" pitchFamily="34" charset="0"/>
              </a:rPr>
              <a:t>Magnesium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used as a major component in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alloys,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because it is both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strong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light.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salts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alkaline earth metals </a:t>
            </a:r>
            <a:r>
              <a:rPr lang="en-AU" b="1" i="0" dirty="0" smtClean="0">
                <a:solidFill>
                  <a:srgbClr val="FF474D"/>
                </a:solidFill>
                <a:effectLst/>
                <a:latin typeface="Arial" panose="020B0604020202020204" pitchFamily="34" charset="0"/>
              </a:rPr>
              <a:t>burn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 a variety of bright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colours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AU" b="1" i="0" dirty="0" smtClean="0">
                <a:solidFill>
                  <a:srgbClr val="FF474D"/>
                </a:solidFill>
                <a:effectLst/>
                <a:latin typeface="Arial" panose="020B0604020202020204" pitchFamily="34" charset="0"/>
              </a:rPr>
              <a:t>strontium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burns red, </a:t>
            </a:r>
            <a:r>
              <a:rPr lang="en-AU" b="1" i="0" dirty="0" smtClean="0">
                <a:solidFill>
                  <a:srgbClr val="FF474D"/>
                </a:solidFill>
                <a:effectLst/>
                <a:latin typeface="Arial" panose="020B0604020202020204" pitchFamily="34" charset="0"/>
              </a:rPr>
              <a:t>calcium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orange,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barium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green), so they are commonly used in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fireworks.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Beryllium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transparent to </a:t>
            </a:r>
            <a:r>
              <a:rPr lang="en-AU" b="1" i="0" dirty="0" smtClean="0">
                <a:solidFill>
                  <a:srgbClr val="FF474D"/>
                </a:solidFill>
                <a:effectLst/>
                <a:latin typeface="Arial" panose="020B0604020202020204" pitchFamily="34" charset="0"/>
              </a:rPr>
              <a:t>X-rays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due to its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low density,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 it is used in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X-ray windows.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5602" name="Picture 2" descr="https://www.educationperfect.com/media/content/German/1462229321.29221g/1462229341312-479910776407451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5300" y="3548062"/>
            <a:ext cx="3810000" cy="2476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09506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467142"/>
            <a:ext cx="109855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FF474D"/>
                </a:solidFill>
                <a:effectLst/>
                <a:latin typeface="Arial" panose="020B0604020202020204" pitchFamily="34" charset="0"/>
              </a:rPr>
              <a:t>transition metals,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groups 3-12, are generally harder, denser, and have higher melting points than the other metals.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They form </a:t>
            </a:r>
            <a:r>
              <a:rPr lang="en-AU" b="1" i="0" dirty="0" smtClean="0">
                <a:solidFill>
                  <a:srgbClr val="FF474D"/>
                </a:solidFill>
                <a:effectLst/>
                <a:latin typeface="Arial" panose="020B0604020202020204" pitchFamily="34" charset="0"/>
              </a:rPr>
              <a:t>coloured compounds,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some are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magnetic.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transition metals are the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most widely used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group, as they are not highly reactive like the alkali and alkaline earth metals, and they have a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wide range of properties.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coloured compounds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transition metals are used extensively as </a:t>
            </a:r>
            <a:r>
              <a:rPr lang="en-AU" b="1" i="0" dirty="0" smtClean="0">
                <a:solidFill>
                  <a:srgbClr val="FF474D"/>
                </a:solidFill>
                <a:effectLst/>
                <a:latin typeface="Arial" panose="020B0604020202020204" pitchFamily="34" charset="0"/>
              </a:rPr>
              <a:t>pigments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paints, and to colour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glass, ceramics and enamel.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colours of many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gemstones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also due to the presence of transition metals.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6626" name="Picture 2" descr="https://www.educationperfect.com/media/content/Spanish/1521078804.992391g/1521078805067-3620926454843862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2112" y="3906837"/>
            <a:ext cx="3800475" cy="2524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79341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7500" y="380643"/>
            <a:ext cx="114935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Transition metals have a wide variety of practical as well as aesthetic uses.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Copper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commonly used in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electrical wiring,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it is highly ductile and a good conductor. </a:t>
            </a:r>
            <a:r>
              <a:rPr lang="en-AU" b="1" i="0" dirty="0" smtClean="0">
                <a:solidFill>
                  <a:srgbClr val="FDBE45"/>
                </a:solidFill>
                <a:effectLst/>
                <a:latin typeface="Arial" panose="020B0604020202020204" pitchFamily="34" charset="0"/>
              </a:rPr>
              <a:t>Gold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FDBE45"/>
                </a:solidFill>
                <a:effectLst/>
                <a:latin typeface="Arial" panose="020B0604020202020204" pitchFamily="34" charset="0"/>
              </a:rPr>
              <a:t>silver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used in </a:t>
            </a:r>
            <a:r>
              <a:rPr lang="en-AU" b="1" i="0" dirty="0" smtClean="0">
                <a:solidFill>
                  <a:srgbClr val="FDBE45"/>
                </a:solidFill>
                <a:effectLst/>
                <a:latin typeface="Arial" panose="020B0604020202020204" pitchFamily="34" charset="0"/>
              </a:rPr>
              <a:t>jewellery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due to their malleability and attractive lustre. Gold is also used in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sensitive electrical contacts,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it is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more conductive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than copper but also more expensive.</a:t>
            </a:r>
          </a:p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Titanium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relatively light and very strong, so it’s used a lot in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construction.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Iron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also used frequently due to its strength, usually in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alloys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it is prone to rusting. </a:t>
            </a:r>
            <a:r>
              <a:rPr lang="en-AU" b="1" i="0" dirty="0" smtClean="0">
                <a:solidFill>
                  <a:srgbClr val="FDBE45"/>
                </a:solidFill>
                <a:effectLst/>
                <a:latin typeface="Arial" panose="020B0604020202020204" pitchFamily="34" charset="0"/>
              </a:rPr>
              <a:t>Iron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FDBE45"/>
                </a:solidFill>
                <a:effectLst/>
                <a:latin typeface="Arial" panose="020B0604020202020204" pitchFamily="34" charset="0"/>
              </a:rPr>
              <a:t>nickel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the metals usually used in </a:t>
            </a:r>
            <a:r>
              <a:rPr lang="en-AU" b="1" i="0" dirty="0" smtClean="0">
                <a:solidFill>
                  <a:srgbClr val="FDBE45"/>
                </a:solidFill>
                <a:effectLst/>
                <a:latin typeface="Arial" panose="020B0604020202020204" pitchFamily="34" charset="0"/>
              </a:rPr>
              <a:t>magnets.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addition, iron and nickel comprise the </a:t>
            </a:r>
            <a:r>
              <a:rPr lang="en-AU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core of the Earth,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 movement of the molten outer core generates Earth's </a:t>
            </a:r>
            <a:r>
              <a:rPr lang="en-AU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magnetic field.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7650" name="Picture 2" descr="https://www.educationperfect.com/media/content/Science/1442357960.862851g/1442357987961-4163891841313367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675" y="3721100"/>
            <a:ext cx="381000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2" name="Picture 4" descr="https://www.educationperfect.com/media/content/Science/1558326850.494361g/1558326850468-298296163819565-40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6862" y="3730624"/>
            <a:ext cx="3800475" cy="2533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4" name="Picture 6" descr="https://www.educationperfect.com/media/content/Geography/1543177816.75521g/1543177814914-4161179952540325-400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0525" y="3721099"/>
            <a:ext cx="3800475" cy="2533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61237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149</Words>
  <Application>Microsoft Office PowerPoint</Application>
  <PresentationFormat>Widescreen</PresentationFormat>
  <Paragraphs>161</Paragraphs>
  <Slides>34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Calibri</vt:lpstr>
      <vt:lpstr>Calibri Light</vt:lpstr>
      <vt:lpstr>KaTeX_Main</vt:lpstr>
      <vt:lpstr>Office Theme</vt:lpstr>
      <vt:lpstr>Metallic Bonding</vt:lpstr>
      <vt:lpstr>Metals in the Periodic Table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Metallic Substances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Physical Properties of Metallic Substances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Metallic Bonding</dc:title>
  <dc:creator>Joseph D'cruz</dc:creator>
  <cp:lastModifiedBy>Joseph D'cruz</cp:lastModifiedBy>
  <cp:revision>5</cp:revision>
  <dcterms:created xsi:type="dcterms:W3CDTF">2022-03-06T08:28:39Z</dcterms:created>
  <dcterms:modified xsi:type="dcterms:W3CDTF">2022-03-06T09:41:15Z</dcterms:modified>
</cp:coreProperties>
</file>
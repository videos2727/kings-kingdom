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2" r:id="rId14"/>
    <p:sldId id="273" r:id="rId15"/>
    <p:sldId id="274" r:id="rId16"/>
    <p:sldId id="275" r:id="rId17"/>
    <p:sldId id="276" r:id="rId18"/>
    <p:sldId id="267" r:id="rId19"/>
    <p:sldId id="268" r:id="rId20"/>
    <p:sldId id="277" r:id="rId21"/>
    <p:sldId id="278" r:id="rId22"/>
    <p:sldId id="279" r:id="rId23"/>
    <p:sldId id="280" r:id="rId24"/>
    <p:sldId id="269" r:id="rId25"/>
    <p:sldId id="27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B4F8-05D0-4181-8FBA-E69583F79121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2F3-CD85-4D83-A0F3-572E3E439E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3707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B4F8-05D0-4181-8FBA-E69583F79121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2F3-CD85-4D83-A0F3-572E3E439E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541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B4F8-05D0-4181-8FBA-E69583F79121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2F3-CD85-4D83-A0F3-572E3E439E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258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B4F8-05D0-4181-8FBA-E69583F79121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2F3-CD85-4D83-A0F3-572E3E439E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3393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B4F8-05D0-4181-8FBA-E69583F79121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2F3-CD85-4D83-A0F3-572E3E439E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2840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B4F8-05D0-4181-8FBA-E69583F79121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2F3-CD85-4D83-A0F3-572E3E439E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657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B4F8-05D0-4181-8FBA-E69583F79121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2F3-CD85-4D83-A0F3-572E3E439E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19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B4F8-05D0-4181-8FBA-E69583F79121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2F3-CD85-4D83-A0F3-572E3E439E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18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B4F8-05D0-4181-8FBA-E69583F79121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2F3-CD85-4D83-A0F3-572E3E439E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1260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B4F8-05D0-4181-8FBA-E69583F79121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2F3-CD85-4D83-A0F3-572E3E439E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3618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FB4F8-05D0-4181-8FBA-E69583F79121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82F3-CD85-4D83-A0F3-572E3E439E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172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FB4F8-05D0-4181-8FBA-E69583F79121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182F3-CD85-4D83-A0F3-572E3E439E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211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ooWfzpUIoNM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Introduction to Bonding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1135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701239"/>
            <a:ext cx="11049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Welcome to this Smart Lesson about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atomic structure and bonding.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 you have completed this lesson,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structure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atom, including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electron shells.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the filling of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valence shells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influences an atom’s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stability.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atoms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bond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attain full valence shells and achieve stability.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74502290.854321g/1474502291178-397058112478448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2992438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351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429042"/>
            <a:ext cx="11125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Atomic Structure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 made up of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subatomic particles: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positively charged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(+1),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negatively charged </a:t>
            </a:r>
            <a:r>
              <a:rPr lang="en-AU" b="1" i="0" dirty="0" smtClean="0">
                <a:solidFill>
                  <a:srgbClr val="95948D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(−1),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neutral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(0).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Atoms have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same numbers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protons and electrons, so overall they carry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 charge.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Protons and neutrons pack together closely in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nucleus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atom. Electrons are found in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shells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orbitals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around the nucleus.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opposite charges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protons and electrons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attract,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is this attraction that holds the electrons orbiting around the nucleus.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57880139.089251g/1557880139847-289572873622176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2" y="3440113"/>
            <a:ext cx="380047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672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3300" y="280244"/>
            <a:ext cx="99441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are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so small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can only be seen with extremely powerful microscopes.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sizes of atoms are often measured in </a:t>
            </a:r>
            <a:r>
              <a:rPr lang="en-AU" b="1" i="0" dirty="0" err="1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ångströms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1A˚=1×10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 m.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neutrons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have a mass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1.67×10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−24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 g.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this is such a small number, we often define it as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atomic mass unit (AMU).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95948D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much smaller,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0.000549 AMU,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1/1840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mass of a proton or neutron.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Because of the tiny size of subatomic particles,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most of the volume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atom (over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99.99999%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is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empty space.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an atom was the size of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sports stadium,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nucleus would be the size of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pea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centre!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Maths/1517970935.840521g/1517970935732-2624074980392647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0" y="3555368"/>
            <a:ext cx="4705350" cy="3115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694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406043"/>
            <a:ext cx="113538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with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same numbers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protons, neutrons and electrons as each other are atoms of the same </a:t>
            </a:r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element.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Different elements have different numbers of subatomic particles from each other, and this gives them </a:t>
            </a:r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different chemical properties.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subatomic particles on their own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do not possess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chemical properties of elements; these only emerge when they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combined in atoms.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number of protons in an atom is called its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atomic number.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number of protons is equal to the number of electrons in a neutral atom.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periodic table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arranged in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order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atomic number, and patterns in the periodic table can tell you about the </a:t>
            </a:r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chemical and physical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elements.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74" y="3674428"/>
            <a:ext cx="9573981" cy="270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23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48040"/>
            <a:ext cx="11328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 </a:t>
            </a:r>
            <a:r>
              <a:rPr lang="en-AU" b="1" i="0" dirty="0" smtClean="0">
                <a:solidFill>
                  <a:srgbClr val="FF6666"/>
                </a:solidFill>
                <a:effectLst/>
                <a:latin typeface="Arial" panose="020B0604020202020204" pitchFamily="34" charset="0"/>
              </a:rPr>
              <a:t>orbit the nucleus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series of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electron shells or orbitals.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electron shell has a different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level of energy,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sits at a different </a:t>
            </a:r>
            <a:r>
              <a:rPr lang="en-AU" b="1" i="0" dirty="0" smtClean="0">
                <a:solidFill>
                  <a:srgbClr val="FF6666"/>
                </a:solidFill>
                <a:effectLst/>
                <a:latin typeface="Arial" panose="020B0604020202020204" pitchFamily="34" charset="0"/>
              </a:rPr>
              <a:t>distance from the nucleus.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lowest energy shell is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closest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nucleus, and the energy of the shells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increases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further out from the nucleus they get.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diagrams, the shells are usually represented as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circles,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electrons as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dots or crosses.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93954977.153251g/1493954987634-146813632476711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275" y="2878137"/>
            <a:ext cx="3810000" cy="347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www.educationperfect.com/media/content/Science/1493954991.271571g/1493955012401-1468136324767118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575" y="2619375"/>
            <a:ext cx="3800475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35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484644"/>
            <a:ext cx="11277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electron shell can only hold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certain number of 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9B89C8"/>
                </a:solidFill>
                <a:effectLst/>
                <a:latin typeface="Arial" panose="020B0604020202020204" pitchFamily="34" charset="0"/>
              </a:rPr>
              <a:t>first electron shell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(the one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closest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nucleus, with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lowest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energy) can hold up to </a:t>
            </a:r>
            <a:r>
              <a:rPr lang="en-AU" b="1" i="0" dirty="0" smtClean="0">
                <a:solidFill>
                  <a:srgbClr val="9B89C8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9B89C8"/>
                </a:solidFill>
                <a:effectLst/>
                <a:latin typeface="Arial" panose="020B0604020202020204" pitchFamily="34" charset="0"/>
              </a:rPr>
              <a:t>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7E68B9"/>
                </a:solidFill>
                <a:effectLst/>
                <a:latin typeface="Arial" panose="020B0604020202020204" pitchFamily="34" charset="0"/>
              </a:rPr>
              <a:t>second shell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hold up to </a:t>
            </a:r>
            <a:r>
              <a:rPr lang="en-AU" b="1" i="0" dirty="0" smtClean="0">
                <a:solidFill>
                  <a:srgbClr val="7E68B9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7E68B9"/>
                </a:solidFill>
                <a:effectLst/>
                <a:latin typeface="Arial" panose="020B0604020202020204" pitchFamily="34" charset="0"/>
              </a:rPr>
              <a:t>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third shell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hold up to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KaTeX_Main"/>
              </a:rPr>
              <a:t>18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electrons,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it is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KaTeX_Main"/>
              </a:rPr>
              <a:t>8.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At this stage, you will not need to deal with more than 8 valence electrons. You may assume that the third shell is always stable with 8 electrons, and treat this as its limit.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atom of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argon,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 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electrons, has all of the first three electron shells stable.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420576585.881721g/1420576535201-209986839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5" y="31877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602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312341"/>
            <a:ext cx="11544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 fill the shells starting from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first, lowest energy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shell.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9B89C8"/>
                </a:solidFill>
                <a:effectLst/>
                <a:latin typeface="Arial" panose="020B0604020202020204" pitchFamily="34" charset="0"/>
              </a:rPr>
              <a:t>hydrogen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atom, with only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electron, </a:t>
            </a:r>
            <a:r>
              <a:rPr lang="en-AU" b="1" i="0" dirty="0" smtClean="0">
                <a:solidFill>
                  <a:srgbClr val="9B89C8"/>
                </a:solidFill>
                <a:effectLst/>
                <a:latin typeface="Arial" panose="020B0604020202020204" pitchFamily="34" charset="0"/>
              </a:rPr>
              <a:t>cannot fill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even the first shell. A </a:t>
            </a:r>
            <a:r>
              <a:rPr lang="en-AU" b="1" i="0" dirty="0" smtClean="0">
                <a:solidFill>
                  <a:srgbClr val="7E68B9"/>
                </a:solidFill>
                <a:effectLst/>
                <a:latin typeface="Arial" panose="020B0604020202020204" pitchFamily="34" charset="0"/>
              </a:rPr>
              <a:t>helium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atom, with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electrons, </a:t>
            </a:r>
            <a:r>
              <a:rPr lang="en-AU" b="1" i="0" dirty="0" smtClean="0">
                <a:solidFill>
                  <a:srgbClr val="7E68B9"/>
                </a:solidFill>
                <a:effectLst/>
                <a:latin typeface="Arial" panose="020B0604020202020204" pitchFamily="34" charset="0"/>
              </a:rPr>
              <a:t>can fill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first shell.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lithium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atom, with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electrons, starts to fill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second shell;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its electron configuration is denoted 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2,1.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electron arrangement in a </a:t>
            </a:r>
            <a:r>
              <a:rPr lang="en-AU" b="1" i="0" dirty="0" smtClean="0">
                <a:solidFill>
                  <a:srgbClr val="D2A664"/>
                </a:solidFill>
                <a:effectLst/>
                <a:latin typeface="Arial" panose="020B0604020202020204" pitchFamily="34" charset="0"/>
              </a:rPr>
              <a:t>calcium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 with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as it fills its electron shells is shown below. Its electron configuration is </a:t>
            </a:r>
            <a:r>
              <a:rPr lang="en-AU" b="1" i="0" dirty="0" smtClean="0">
                <a:solidFill>
                  <a:srgbClr val="D2A66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D2A664"/>
                </a:solidFill>
                <a:effectLst/>
                <a:latin typeface="KaTeX_Main"/>
              </a:rPr>
              <a:t>,</a:t>
            </a:r>
            <a:r>
              <a:rPr lang="en-AU" b="1" i="0" dirty="0" smtClean="0">
                <a:solidFill>
                  <a:srgbClr val="D2A664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D2A664"/>
                </a:solidFill>
                <a:effectLst/>
                <a:latin typeface="KaTeX_Main"/>
              </a:rPr>
              <a:t>,</a:t>
            </a:r>
            <a:r>
              <a:rPr lang="en-AU" b="1" i="0" dirty="0" smtClean="0">
                <a:solidFill>
                  <a:srgbClr val="D2A664"/>
                </a:solidFill>
                <a:effectLst/>
                <a:latin typeface="KaTeX_Main"/>
              </a:rPr>
              <a:t>8</a:t>
            </a:r>
            <a:r>
              <a:rPr lang="en-AU" b="0" i="0" dirty="0" smtClean="0">
                <a:solidFill>
                  <a:srgbClr val="D2A664"/>
                </a:solidFill>
                <a:effectLst/>
                <a:latin typeface="KaTeX_Main"/>
              </a:rPr>
              <a:t>,</a:t>
            </a:r>
            <a:r>
              <a:rPr lang="en-AU" b="1" i="0" dirty="0" smtClean="0">
                <a:solidFill>
                  <a:srgbClr val="D2A664"/>
                </a:solidFill>
                <a:effectLst/>
                <a:latin typeface="KaTeX_Main"/>
              </a:rPr>
              <a:t>2.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94370664.35951f/1494370680298-2138658596108822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287" y="2620665"/>
            <a:ext cx="3184525" cy="403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241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0" y="153244"/>
            <a:ext cx="11811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 Shells and the Periodic Table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element’s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tell you </a:t>
            </a:r>
            <a:r>
              <a:rPr lang="en-AU" b="1" i="0" dirty="0" smtClean="0">
                <a:solidFill>
                  <a:srgbClr val="009DA2"/>
                </a:solidFill>
                <a:effectLst/>
                <a:latin typeface="Arial" panose="020B0604020202020204" pitchFamily="34" charset="0"/>
              </a:rPr>
              <a:t>how many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has, and therefore how its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 shells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arranged. If you do this with a number of different elements, you’ll start to notice </a:t>
            </a:r>
            <a:r>
              <a:rPr lang="en-AU" b="1" i="0" dirty="0" smtClean="0">
                <a:solidFill>
                  <a:srgbClr val="009DA2"/>
                </a:solidFill>
                <a:effectLst/>
                <a:latin typeface="Arial" panose="020B0604020202020204" pitchFamily="34" charset="0"/>
              </a:rPr>
              <a:t>patterns.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FF7F50"/>
                </a:solidFill>
                <a:effectLst/>
                <a:latin typeface="KaTeX_Main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the far left, all have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single electron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their outermost electron shell. The rightmost group in the periodic table (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18</a:t>
            </a:r>
            <a:r>
              <a:rPr lang="en-AU" b="0" i="0" dirty="0" smtClean="0">
                <a:solidFill>
                  <a:srgbClr val="3598DC"/>
                </a:solidFill>
                <a:effectLst/>
                <a:latin typeface="KaTeX_Main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known as the noble or inert gases) have their outermost electron shell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filled.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other groups range between these in predictable patterns.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patterns will help you determine atoms’ electron configurations, but they also have a </a:t>
            </a:r>
            <a:r>
              <a:rPr lang="en-AU" b="1" i="0" dirty="0" smtClean="0">
                <a:solidFill>
                  <a:srgbClr val="009DA2"/>
                </a:solidFill>
                <a:effectLst/>
                <a:latin typeface="Arial" panose="020B0604020202020204" pitchFamily="34" charset="0"/>
              </a:rPr>
              <a:t>deeper significance,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we will learn about later in this lesson.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68085658.182071g/1568085659098-1157096240373319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499" y="3472413"/>
            <a:ext cx="5781675" cy="3187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542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279043"/>
            <a:ext cx="112395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Scientific Models and Atomic Structure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scientific model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representation or way of thinking about something that is useful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predict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it works. Some models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very complex,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some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quite simple.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Some models reflect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scientific knowledge that we have available, while others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deliberately simplified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make them easier to use. We don’t know everything about how atoms work, because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things that are so small are very difficult to study.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 do not orbit the nucleus tidily, like planets around a star. They move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complex patterns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we can only really describe with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probability.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use depicting electrons in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spherical shells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around the nucleus is a useful scientific model.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68928650.098221g/1568928650447-261960760136997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325" y="3582962"/>
            <a:ext cx="4184650" cy="311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252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oWfzpUIoNM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0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250041"/>
            <a:ext cx="115443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outermost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 shell that is occupied by electrons is called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valence shell.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the shell that’s </a:t>
            </a:r>
            <a:r>
              <a:rPr lang="en-AU" b="1" i="0" dirty="0" smtClean="0">
                <a:solidFill>
                  <a:srgbClr val="2E2E97"/>
                </a:solidFill>
                <a:effectLst/>
                <a:latin typeface="Arial" panose="020B0604020202020204" pitchFamily="34" charset="0"/>
              </a:rPr>
              <a:t>furthest from the nucleus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atom, and has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highest energy.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Depending on the atom’s total number of electrons,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valence shell is often not full.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Unlike the inner electron shells (the core shells), the electrons of the valence shell are able to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interact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directly with things outside the atom. This means that it is the valence electrons that are involved in </a:t>
            </a:r>
            <a:r>
              <a:rPr lang="en-AU" b="1" i="0" dirty="0" smtClean="0">
                <a:solidFill>
                  <a:srgbClr val="2E2E97"/>
                </a:solidFill>
                <a:effectLst/>
                <a:latin typeface="Arial" panose="020B0604020202020204" pitchFamily="34" charset="0"/>
              </a:rPr>
              <a:t>chemical reactions.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19948670.106881g/1519948668900-48248106838312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366" y="3267074"/>
            <a:ext cx="5961768" cy="254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38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3600" y="754440"/>
            <a:ext cx="106807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atom is most stable when it has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full valence shell.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noble gases,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found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 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KaTeX_Main"/>
              </a:rPr>
              <a:t>18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periodic table,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chemically unreactive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their valence shells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already full.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without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full valence shells will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gain, lose, or share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their valence electrons to become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stable.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the basis of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chemical bonding.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German/1470781075.650411g/1470781095511-3167842507884243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712" y="3665537"/>
            <a:ext cx="3800475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993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700" y="229444"/>
            <a:ext cx="10820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atom will gain or lose electrons depending on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how many electrons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are in the valence shell.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valence shell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close to full,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takes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less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small number of electrons than to lose the larger number already there.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an atom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gains electrons,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obtains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extra negative charge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not balanced by the protons in the nucleus. It becomes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negative 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called 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anion.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valence shell has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few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it, it takes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less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small number of electrons than to gain a large number.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an atom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loses electrons,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loses some of its negative charge,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 positive charge of the protons in the nucleus are no longer balanced by its electrons. It becomes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positive 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called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25732465.081281g/1525732450271-2691914517562377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275" y="3856037"/>
            <a:ext cx="5876925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185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262" y="265112"/>
            <a:ext cx="8935252" cy="3506788"/>
          </a:xfrm>
          <a:prstGeom prst="rect">
            <a:avLst/>
          </a:prstGeom>
        </p:spPr>
      </p:pic>
      <p:pic>
        <p:nvPicPr>
          <p:cNvPr id="12290" name="Picture 2" descr="https://www.educationperfect.com/media/content/Science/1561588548.69921g/1561588549081-171074941988336-8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929063"/>
            <a:ext cx="5727700" cy="2104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https://www.educationperfect.com/media/content/Science/1561585433.624711g/1561585433962-171074941988336-80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956" y="3771900"/>
            <a:ext cx="5948044" cy="2347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0981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0" y="134937"/>
            <a:ext cx="10382250" cy="3259830"/>
          </a:xfrm>
          <a:prstGeom prst="rect">
            <a:avLst/>
          </a:prstGeom>
        </p:spPr>
      </p:pic>
      <p:pic>
        <p:nvPicPr>
          <p:cNvPr id="13314" name="Picture 2" descr="https://www.educationperfect.com/media/content/Science/1508821401.030931g/1508821405822-3376257755298347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825" y="3514660"/>
            <a:ext cx="5981700" cy="315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8413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0"/>
            <a:ext cx="116459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Chemical Properties and the Periodic Table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Elements with the </a:t>
            </a:r>
            <a:r>
              <a:rPr lang="en-AU" b="1" i="0" dirty="0" smtClean="0">
                <a:solidFill>
                  <a:srgbClr val="009DA2"/>
                </a:solidFill>
                <a:effectLst/>
                <a:latin typeface="Arial" panose="020B0604020202020204" pitchFamily="34" charset="0"/>
              </a:rPr>
              <a:t>same number of 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tend to have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similar chemical properties,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they must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react in similar ways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obtain a full valence shell.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Generally,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 atoms,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left and bottom of the periodic table, have </a:t>
            </a:r>
            <a:r>
              <a:rPr lang="en-AU" b="1" i="0" dirty="0" smtClean="0">
                <a:solidFill>
                  <a:srgbClr val="009DA2"/>
                </a:solidFill>
                <a:effectLst/>
                <a:latin typeface="Arial" panose="020B0604020202020204" pitchFamily="34" charset="0"/>
              </a:rPr>
              <a:t>low numbers of valence electrons,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they tend to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lose electrons to form cations.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Non-metal atoms,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 of the periodic table, have </a:t>
            </a:r>
            <a:r>
              <a:rPr lang="en-AU" b="1" i="0" dirty="0" smtClean="0">
                <a:solidFill>
                  <a:srgbClr val="009DA2"/>
                </a:solidFill>
                <a:effectLst/>
                <a:latin typeface="Arial" panose="020B0604020202020204" pitchFamily="34" charset="0"/>
              </a:rPr>
              <a:t>high numbers of valence electrons,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they tend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gain electrons to form anions.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9DA2"/>
                </a:solidFill>
                <a:effectLst/>
                <a:latin typeface="Arial" panose="020B0604020202020204" pitchFamily="34" charset="0"/>
              </a:rPr>
              <a:t>number of valence electrons is the group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periodic table, or the group number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−10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higher numbered groups.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media/content/Science/1568342575.544711g/1568342576505-2342621840747326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265348"/>
            <a:ext cx="5416550" cy="3362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890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265143"/>
            <a:ext cx="11734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seldom find free atoms in nature, because in order to lose, gain, or share electrons and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achieve stability,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will </a:t>
            </a:r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bond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other atoms.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Spontaneous changes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 in nature to reach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greater stability,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bonding is one such process. When compatible atoms </a:t>
            </a:r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collide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one another, they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form chemical bonds.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Energy is released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bonds form, which puts the newly bonded atoms into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lower energy, more stable state.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Chemical bonds may form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molecules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few atoms or larger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compounds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few million atoms. Only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noble gases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commonly exist as free atoms. For the rest, </a:t>
            </a:r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how they bond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B54BAF"/>
                </a:solidFill>
                <a:effectLst/>
                <a:latin typeface="Arial" panose="020B0604020202020204" pitchFamily="34" charset="0"/>
              </a:rPr>
              <a:t>what they bond with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determines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everything you see around you.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513110855.930461g/1513110862116-11612591469924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440112"/>
            <a:ext cx="2952750" cy="313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198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11540"/>
            <a:ext cx="11264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bonds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 when an atom which needs to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lose electrons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donates its valence electrons to an atom which needs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gain 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creates a pair of ions (a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anion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which are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attracted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each other. This attraction results in an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bond.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Ionic bonds usually form between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 cation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non-metal anion.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Ionic bonds may form between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many 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create a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lattice.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https://www.educationperfect.com/media/content/Science/1563404912.925851g/1563404914554-4097942892134443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241675"/>
            <a:ext cx="76200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480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00" y="387340"/>
            <a:ext cx="11709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of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bond with each other by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sharing electrons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many atoms.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metallic bonding,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metal atoms become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delocalised,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disconnecting from their nuclei. This results in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lattice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cations with a sea of delocalised electrons moving between them.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electrons are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attracted equally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all the metal cations, so they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free to move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them. The cations’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attractions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electrons holds the cations in a lattice.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63747439.031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93620" y="2552699"/>
            <a:ext cx="4969329" cy="385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89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3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326241"/>
            <a:ext cx="115189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bonds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 when electrons are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shared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nuclei.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situation, neither atom loses or gains an electron; instead,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shared electrons belong to both of them simultaneously.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outer electron shells of the atoms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overlap,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shared electrons’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attraction to both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holds the molecule together.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atom’s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number of 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determines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how many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bonds it can form; in other words, covalent bonding is related to valency. Covalent bonds usually form between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non-metal atoms.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Covalent bonds may form between many atoms to create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network.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0" name="Picture 2" descr="https://www.educationperfect.com/media/content/Science/1560982647.136931g/1560982648797-1318672855570808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725" y="3236051"/>
            <a:ext cx="5683250" cy="310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871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261541"/>
            <a:ext cx="11620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Different types of atoms do not attract electrons equally.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8F8ABD"/>
                </a:solidFill>
                <a:effectLst/>
                <a:latin typeface="Arial" panose="020B0604020202020204" pitchFamily="34" charset="0"/>
              </a:rPr>
              <a:t>strength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which an atom attracts electrons is called </a:t>
            </a:r>
            <a:r>
              <a:rPr lang="en-AU" b="1" i="0" dirty="0" smtClean="0">
                <a:solidFill>
                  <a:srgbClr val="8F8ABD"/>
                </a:solidFill>
                <a:effectLst/>
                <a:latin typeface="Arial" panose="020B0604020202020204" pitchFamily="34" charset="0"/>
              </a:rPr>
              <a:t>electronegativity.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electronegativity of an atom depends on a number of factors.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Elements with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greater number of protons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nucleus will attract electrons more strongly due to their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stronger positive charge.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Elements which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smaller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attract electrons more strongly because there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fewer shells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nucleus and its valence electrons and the outside world.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" descr="https://www.educationperfect.com/media/content/Science/1560982996.345761g/1560982998075-1318672855570808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75" y="2569865"/>
            <a:ext cx="6664325" cy="395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6863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475040"/>
            <a:ext cx="11620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Electronegativity and the Periodic Table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factors combine to mean that electronegativity generally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increases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left to right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bottom to top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periodic table.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Metallic elements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low </a:t>
            </a:r>
            <a:r>
              <a:rPr lang="en-AU" b="1" i="0" dirty="0" err="1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electronegativities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non-metallic elements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high </a:t>
            </a:r>
            <a:r>
              <a:rPr lang="en-AU" b="1" i="0" dirty="0" err="1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electronegativities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- which is another way of saying that metal atoms tend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lose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non-metallic atoms tend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gain them.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458" name="Picture 2" descr="https://www.educationperfect.com/media/content/Science/1570138504.529481g/1570138505212-3058189611779114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87" y="2886075"/>
            <a:ext cx="6156325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278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42543"/>
            <a:ext cx="115443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8E8EF0"/>
                </a:solidFill>
                <a:effectLst/>
                <a:latin typeface="Arial" panose="020B0604020202020204" pitchFamily="34" charset="0"/>
              </a:rPr>
              <a:t>Varying electronegativity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means that in most bonds, electrons will be more strongly attracted to one atom than the other.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the reason that some atoms form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some form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covalent bonds: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ionic bonds have a much </a:t>
            </a:r>
            <a:r>
              <a:rPr lang="en-AU" b="1" i="0" dirty="0" smtClean="0">
                <a:solidFill>
                  <a:srgbClr val="8E8EF0"/>
                </a:solidFill>
                <a:effectLst/>
                <a:latin typeface="Arial" panose="020B0604020202020204" pitchFamily="34" charset="0"/>
              </a:rPr>
              <a:t>greater electronegativity difference.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it also means that many covalent bonds are </a:t>
            </a:r>
            <a:r>
              <a:rPr lang="en-AU" b="1" i="0" dirty="0" smtClean="0">
                <a:solidFill>
                  <a:srgbClr val="34A6AD"/>
                </a:solidFill>
                <a:effectLst/>
                <a:latin typeface="Arial" panose="020B0604020202020204" pitchFamily="34" charset="0"/>
              </a:rPr>
              <a:t>polar;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shared electrons are </a:t>
            </a:r>
            <a:r>
              <a:rPr lang="en-AU" b="1" i="0" dirty="0" smtClean="0">
                <a:solidFill>
                  <a:srgbClr val="8E8EF0"/>
                </a:solidFill>
                <a:effectLst/>
                <a:latin typeface="Arial" panose="020B0604020202020204" pitchFamily="34" charset="0"/>
              </a:rPr>
              <a:t>more strongly attracted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one atom than the other, so they spend more of their time close to the more electronegative atom.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can thus be considered a </a:t>
            </a:r>
            <a:r>
              <a:rPr lang="en-AU" b="1" i="0" dirty="0" smtClean="0">
                <a:solidFill>
                  <a:srgbClr val="34A6AD"/>
                </a:solidFill>
                <a:effectLst/>
                <a:latin typeface="Arial" panose="020B0604020202020204" pitchFamily="34" charset="0"/>
              </a:rPr>
              <a:t>continuum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non-polar covalent bonds,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electrons are equally shared, through </a:t>
            </a:r>
            <a:r>
              <a:rPr lang="en-AU" b="1" i="0" dirty="0" smtClean="0">
                <a:solidFill>
                  <a:srgbClr val="34A6AD"/>
                </a:solidFill>
                <a:effectLst/>
                <a:latin typeface="Arial" panose="020B0604020202020204" pitchFamily="34" charset="0"/>
              </a:rPr>
              <a:t>polar covalent bonds,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electrons are unequally shared, to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ionic bonds,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electrons are not shared.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2" name="Picture 2" descr="https://www.educationperfect.com/media/content/Science/1522272541.781511g/1522272546531-104309690782977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950" y="3481864"/>
            <a:ext cx="3810000" cy="305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796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340142"/>
            <a:ext cx="116713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physical properties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molecules and compounds are determined by the types of particles involved and the types of attractions between them.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attractions involved in chemical bonds are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electrostatic forces: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attractive forces between electrically charged objects.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Opposite charges attract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 strongly, while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like charges repel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other. This is why chemical bonds are determined by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interactions between protons and electrons.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Ionic, metallic, and covalent compounds have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different physical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depending on how their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electrons are arranged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how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attractive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their atoms, ions, protons and electrons operate.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506" name="Picture 2" descr="https://www.educationperfect.com/media/content/Science/1568929561.972871g/1568929562366-2619607601369976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599" y="3497449"/>
            <a:ext cx="4117975" cy="2311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https://www.educationperfect.com/media/content/English%20&amp;%20Literature/1553056024.905871g/1553056025006-2186826949603790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975" y="3390993"/>
            <a:ext cx="3800475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391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111</Words>
  <Application>Microsoft Office PowerPoint</Application>
  <PresentationFormat>Widescreen</PresentationFormat>
  <Paragraphs>118</Paragraphs>
  <Slides>25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KaTeX_Main</vt:lpstr>
      <vt:lpstr>Office Theme</vt:lpstr>
      <vt:lpstr>Introduction to Bonding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Bonding</dc:title>
  <dc:creator>Joseph D'cruz</dc:creator>
  <cp:lastModifiedBy>Joseph D'cruz</cp:lastModifiedBy>
  <cp:revision>5</cp:revision>
  <dcterms:created xsi:type="dcterms:W3CDTF">2021-12-19T10:03:00Z</dcterms:created>
  <dcterms:modified xsi:type="dcterms:W3CDTF">2021-12-19T10:31:56Z</dcterms:modified>
</cp:coreProperties>
</file>
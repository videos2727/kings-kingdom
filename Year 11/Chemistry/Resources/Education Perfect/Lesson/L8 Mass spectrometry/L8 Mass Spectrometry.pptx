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FB7AC9D-B7F4-4314-B9C1-95F9165D02F9}" type="datetimeFigureOut">
              <a:rPr lang="en-AU" smtClean="0"/>
              <a:t>19/12/2021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393983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FB7AC9D-B7F4-4314-B9C1-95F9165D02F9}" type="datetimeFigureOut">
              <a:rPr lang="en-AU" smtClean="0"/>
              <a:t>19/12/2021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274810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B7AC9D-B7F4-4314-B9C1-95F9165D02F9}" type="datetimeFigureOut">
              <a:rPr lang="en-AU" smtClean="0"/>
              <a:t>19/12/2021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400574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FB7AC9D-B7F4-4314-B9C1-95F9165D02F9}" type="datetimeFigureOut">
              <a:rPr lang="en-AU" smtClean="0"/>
              <a:t>19/12/2021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2988110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FB7AC9D-B7F4-4314-B9C1-95F9165D02F9}" type="datetimeFigureOut">
              <a:rPr lang="en-AU" smtClean="0"/>
              <a:t>19/12/2021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2095051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FB7AC9D-B7F4-4314-B9C1-95F9165D02F9}" type="datetimeFigureOut">
              <a:rPr lang="en-AU" smtClean="0"/>
              <a:t>19/12/2021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311017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B7AC9D-B7F4-4314-B9C1-95F9165D02F9}" type="datetimeFigureOut">
              <a:rPr lang="en-AU" smtClean="0"/>
              <a:t>19/12/2021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345757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B7AC9D-B7F4-4314-B9C1-95F9165D02F9}" type="datetimeFigureOut">
              <a:rPr lang="en-AU" smtClean="0"/>
              <a:t>19/12/2021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66750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B7AC9D-B7F4-4314-B9C1-95F9165D02F9}" type="datetimeFigureOut">
              <a:rPr lang="en-AU" smtClean="0"/>
              <a:t>19/12/2021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966885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FB7AC9D-B7F4-4314-B9C1-95F9165D02F9}" type="datetimeFigureOut">
              <a:rPr lang="en-AU" smtClean="0"/>
              <a:t>19/12/2021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281587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FB7AC9D-B7F4-4314-B9C1-95F9165D02F9}" type="datetimeFigureOut">
              <a:rPr lang="en-AU" smtClean="0"/>
              <a:t>19/12/2021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7C55B3A-9C17-4FA7-A2DF-4495AECC7682}" type="slidenum">
              <a:rPr lang="en-AU" smtClean="0"/>
              <a:t>‹#›</a:t>
            </a:fld>
            <a:endParaRPr lang="en-AU"/>
          </a:p>
        </p:txBody>
      </p:sp>
    </p:spTree>
    <p:extLst>
      <p:ext uri="{BB962C8B-B14F-4D97-AF65-F5344CB8AC3E}">
        <p14:creationId xmlns:p14="http://schemas.microsoft.com/office/powerpoint/2010/main" val="2831095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B7AC9D-B7F4-4314-B9C1-95F9165D02F9}" type="datetimeFigureOut">
              <a:rPr lang="en-AU" smtClean="0"/>
              <a:t>19/12/2021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55B3A-9C17-4FA7-A2DF-4495AECC7682}" type="slidenum">
              <a:rPr lang="en-AU" smtClean="0"/>
              <a:t>‹#›</a:t>
            </a:fld>
            <a:endParaRPr lang="en-AU"/>
          </a:p>
        </p:txBody>
      </p:sp>
    </p:spTree>
    <p:extLst>
      <p:ext uri="{BB962C8B-B14F-4D97-AF65-F5344CB8AC3E}">
        <p14:creationId xmlns:p14="http://schemas.microsoft.com/office/powerpoint/2010/main" val="2361059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Mass Spectrometry</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767298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900" y="342543"/>
            <a:ext cx="11315700" cy="2862322"/>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Have you watched shows like NCIS and CSI, where routinely samples are taken back to the lab for analysis to catch the criminals?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In this Smart Lesson you will learn about the analytical technique used to do this, called </a:t>
            </a:r>
            <a:r>
              <a:rPr lang="en-AU" b="1" i="0" dirty="0" smtClean="0">
                <a:solidFill>
                  <a:srgbClr val="0066CC"/>
                </a:solidFill>
                <a:effectLst/>
                <a:latin typeface="Arial" panose="020B0604020202020204" pitchFamily="34" charset="0"/>
              </a:rPr>
              <a:t>mass spectrometry.</a:t>
            </a:r>
            <a:r>
              <a:rPr lang="en-AU" b="0" i="0" dirty="0" smtClean="0">
                <a:solidFill>
                  <a:srgbClr val="444444"/>
                </a:solidFill>
                <a:effectLst/>
                <a:latin typeface="Arial" panose="020B0604020202020204" pitchFamily="34" charset="0"/>
              </a:rPr>
              <a:t> You will learn that this technique involves the </a:t>
            </a:r>
            <a:r>
              <a:rPr lang="en-AU" b="1" i="0" dirty="0" smtClean="0">
                <a:solidFill>
                  <a:srgbClr val="228B22"/>
                </a:solidFill>
                <a:effectLst/>
                <a:latin typeface="Arial" panose="020B0604020202020204" pitchFamily="34" charset="0"/>
              </a:rPr>
              <a:t>ionisation of substances</a:t>
            </a:r>
            <a:r>
              <a:rPr lang="en-AU" b="0" i="0" dirty="0" smtClean="0">
                <a:solidFill>
                  <a:srgbClr val="444444"/>
                </a:solidFill>
                <a:effectLst/>
                <a:latin typeface="Arial" panose="020B0604020202020204" pitchFamily="34" charset="0"/>
              </a:rPr>
              <a:t> and the</a:t>
            </a:r>
            <a:r>
              <a:rPr lang="en-AU" b="0" i="0" dirty="0" smtClean="0">
                <a:solidFill>
                  <a:srgbClr val="228B22"/>
                </a:solidFill>
                <a:effectLst/>
                <a:latin typeface="Arial" panose="020B0604020202020204" pitchFamily="34" charset="0"/>
              </a:rPr>
              <a:t> </a:t>
            </a:r>
            <a:r>
              <a:rPr lang="en-AU" b="1" i="0" dirty="0" smtClean="0">
                <a:solidFill>
                  <a:srgbClr val="228B22"/>
                </a:solidFill>
                <a:effectLst/>
                <a:latin typeface="Arial" panose="020B0604020202020204" pitchFamily="34" charset="0"/>
              </a:rPr>
              <a:t>separation and detection of the resulting ions.</a:t>
            </a:r>
            <a:r>
              <a:rPr lang="en-AU" b="0" i="0" dirty="0" smtClean="0">
                <a:solidFill>
                  <a:srgbClr val="444444"/>
                </a:solidFill>
                <a:effectLst/>
                <a:latin typeface="Arial" panose="020B0604020202020204" pitchFamily="34" charset="0"/>
              </a:rPr>
              <a:t> The spectra generated can be analysed to </a:t>
            </a:r>
            <a:r>
              <a:rPr lang="en-AU" b="1" i="0" dirty="0" smtClean="0">
                <a:solidFill>
                  <a:srgbClr val="E04E50"/>
                </a:solidFill>
                <a:effectLst/>
                <a:latin typeface="Arial" panose="020B0604020202020204" pitchFamily="34" charset="0"/>
              </a:rPr>
              <a:t>determine the isotopic composition of elements,</a:t>
            </a:r>
            <a:r>
              <a:rPr lang="en-AU" b="0" i="0" dirty="0" smtClean="0">
                <a:solidFill>
                  <a:srgbClr val="444444"/>
                </a:solidFill>
                <a:effectLst/>
                <a:latin typeface="Arial" panose="020B0604020202020204" pitchFamily="34" charset="0"/>
              </a:rPr>
              <a:t> and interpreted to </a:t>
            </a:r>
            <a:r>
              <a:rPr lang="en-AU" b="1" i="0" dirty="0" smtClean="0">
                <a:solidFill>
                  <a:srgbClr val="E04E50"/>
                </a:solidFill>
                <a:effectLst/>
                <a:latin typeface="Arial" panose="020B0604020202020204" pitchFamily="34" charset="0"/>
              </a:rPr>
              <a:t>determine relative atomic mass.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technique can also be used to </a:t>
            </a:r>
            <a:r>
              <a:rPr lang="en-AU" b="1" i="0" dirty="0" smtClean="0">
                <a:solidFill>
                  <a:srgbClr val="E04E50"/>
                </a:solidFill>
                <a:effectLst/>
                <a:latin typeface="Arial" panose="020B0604020202020204" pitchFamily="34" charset="0"/>
              </a:rPr>
              <a:t>identify unknown compounds, determine structure of a compound</a:t>
            </a:r>
            <a:r>
              <a:rPr lang="en-AU" b="0" i="0" dirty="0" smtClean="0">
                <a:solidFill>
                  <a:srgbClr val="444444"/>
                </a:solidFill>
                <a:effectLst/>
                <a:latin typeface="Arial" panose="020B0604020202020204" pitchFamily="34" charset="0"/>
              </a:rPr>
              <a:t> or </a:t>
            </a:r>
            <a:r>
              <a:rPr lang="en-AU" b="1" i="0" dirty="0" smtClean="0">
                <a:solidFill>
                  <a:srgbClr val="E04E50"/>
                </a:solidFill>
                <a:effectLst/>
                <a:latin typeface="Arial" panose="020B0604020202020204" pitchFamily="34" charset="0"/>
              </a:rPr>
              <a:t>quantify the amounts of substances present</a:t>
            </a:r>
            <a:r>
              <a:rPr lang="en-AU" b="0" i="0" dirty="0" smtClean="0">
                <a:solidFill>
                  <a:srgbClr val="444444"/>
                </a:solidFill>
                <a:effectLst/>
                <a:latin typeface="Arial" panose="020B0604020202020204" pitchFamily="34" charset="0"/>
              </a:rPr>
              <a:t> in a sample.</a:t>
            </a:r>
            <a:endParaRPr lang="en-AU" b="0" i="0" dirty="0">
              <a:solidFill>
                <a:srgbClr val="444444"/>
              </a:solidFill>
              <a:effectLst/>
              <a:latin typeface="Arial" panose="020B0604020202020204" pitchFamily="34" charset="0"/>
            </a:endParaRPr>
          </a:p>
        </p:txBody>
      </p:sp>
      <p:pic>
        <p:nvPicPr>
          <p:cNvPr id="1026" name="Picture 2" descr="https://www.educationperfect.com/media/content/Maths/1487129816.593911g/1487129819720-4212989325804230-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2750" y="3759200"/>
            <a:ext cx="381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858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191344"/>
            <a:ext cx="11430000" cy="2862322"/>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There is a large range of situations in chemistry where knowing and communicating the </a:t>
            </a:r>
            <a:r>
              <a:rPr lang="en-AU" b="1" i="0" dirty="0" smtClean="0">
                <a:solidFill>
                  <a:srgbClr val="228B22"/>
                </a:solidFill>
                <a:effectLst/>
                <a:latin typeface="Arial" panose="020B0604020202020204" pitchFamily="34" charset="0"/>
              </a:rPr>
              <a:t>level of purity of substances</a:t>
            </a:r>
            <a:r>
              <a:rPr lang="en-AU" b="0" i="0" dirty="0" smtClean="0">
                <a:solidFill>
                  <a:srgbClr val="444444"/>
                </a:solidFill>
                <a:effectLst/>
                <a:latin typeface="Arial" panose="020B0604020202020204" pitchFamily="34" charset="0"/>
              </a:rPr>
              <a:t> is extremely important. Impurities can affect the physical and chemical properties of substances, resulting in inefficient or unwanted chemical reactions.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Scientists use methods such as </a:t>
            </a:r>
            <a:r>
              <a:rPr lang="en-AU" b="1" i="0" dirty="0" smtClean="0">
                <a:solidFill>
                  <a:srgbClr val="0066CC"/>
                </a:solidFill>
                <a:effectLst/>
                <a:latin typeface="Arial" panose="020B0604020202020204" pitchFamily="34" charset="0"/>
              </a:rPr>
              <a:t>mass spectrometry </a:t>
            </a:r>
            <a:r>
              <a:rPr lang="en-AU" b="0" i="0" dirty="0" smtClean="0">
                <a:solidFill>
                  <a:srgbClr val="444444"/>
                </a:solidFill>
                <a:effectLst/>
                <a:latin typeface="Arial" panose="020B0604020202020204" pitchFamily="34" charset="0"/>
              </a:rPr>
              <a:t>to identify impurities and the level of contamination. Separation methods which improve the purity of substances are used for food, fuels, cosmetics, medical products and metals used in microelectronic devices. Scientific conventions and international standards are used to represent the purity of materials to ensure consistent applications of standards.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Analytical tools can also help</a:t>
            </a:r>
            <a:r>
              <a:rPr lang="en-AU" b="0" i="0" dirty="0" smtClean="0">
                <a:solidFill>
                  <a:srgbClr val="E04E50"/>
                </a:solidFill>
                <a:effectLst/>
                <a:latin typeface="Arial" panose="020B0604020202020204" pitchFamily="34" charset="0"/>
              </a:rPr>
              <a:t> </a:t>
            </a:r>
            <a:r>
              <a:rPr lang="en-AU" b="1" i="0" dirty="0" smtClean="0">
                <a:solidFill>
                  <a:srgbClr val="E04E50"/>
                </a:solidFill>
                <a:effectLst/>
                <a:latin typeface="Arial" panose="020B0604020202020204" pitchFamily="34" charset="0"/>
              </a:rPr>
              <a:t>identify unknown materials</a:t>
            </a:r>
            <a:r>
              <a:rPr lang="en-AU" b="0" i="0" dirty="0" smtClean="0">
                <a:solidFill>
                  <a:srgbClr val="E04E50"/>
                </a:solidFill>
                <a:effectLst/>
                <a:latin typeface="Arial" panose="020B0604020202020204" pitchFamily="34" charset="0"/>
              </a:rPr>
              <a:t> </a:t>
            </a:r>
            <a:r>
              <a:rPr lang="en-AU" b="0" i="0" dirty="0" smtClean="0">
                <a:solidFill>
                  <a:srgbClr val="444444"/>
                </a:solidFill>
                <a:effectLst/>
                <a:latin typeface="Arial" panose="020B0604020202020204" pitchFamily="34" charset="0"/>
              </a:rPr>
              <a:t>and even identify the gases that make up the stars!</a:t>
            </a:r>
            <a:endParaRPr lang="en-AU" b="0" i="0" dirty="0">
              <a:solidFill>
                <a:srgbClr val="444444"/>
              </a:solidFill>
              <a:effectLst/>
              <a:latin typeface="Arial" panose="020B0604020202020204" pitchFamily="34" charset="0"/>
            </a:endParaRPr>
          </a:p>
        </p:txBody>
      </p:sp>
      <p:pic>
        <p:nvPicPr>
          <p:cNvPr id="2050" name="Picture 2" descr="Panorama view universe space shot of milky way galaxy with stars on a night sky backgrou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0300" y="3521075"/>
            <a:ext cx="95250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840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81335"/>
            <a:ext cx="102743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One analytical technique that can be used to determine the molecular mass and therefore the molecular formula of the unknown compound is </a:t>
            </a:r>
            <a:r>
              <a:rPr lang="en-AU" b="1" i="0" dirty="0" smtClean="0">
                <a:solidFill>
                  <a:srgbClr val="E04E50"/>
                </a:solidFill>
                <a:effectLst/>
                <a:latin typeface="Arial" panose="020B0604020202020204" pitchFamily="34" charset="0"/>
              </a:rPr>
              <a:t>mass spectrometry.</a:t>
            </a:r>
            <a:endParaRPr lang="en-AU" dirty="0"/>
          </a:p>
        </p:txBody>
      </p:sp>
      <p:pic>
        <p:nvPicPr>
          <p:cNvPr id="3074" name="Picture 2" descr="https://www.educationperfect.com/media/content/Science/1453839831.995461g/1453839864346-2669470237293897-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7375" y="1450975"/>
            <a:ext cx="5715000" cy="37814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774700" y="613410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1" u="none" strike="noStrike" cap="none" normalizeH="0" baseline="0" smtClean="0">
                <a:ln>
                  <a:noFill/>
                </a:ln>
                <a:solidFill>
                  <a:schemeClr val="tx1"/>
                </a:solidFill>
                <a:effectLst/>
                <a:latin typeface="Arial" panose="020B0604020202020204" pitchFamily="34" charset="0"/>
                <a:cs typeface="Arial" panose="020B0604020202020204" pitchFamily="34" charset="0"/>
              </a:rPr>
              <a:t>Accelerator mass spectrometer at Lawrence Livermore National Laboratory in California, USA.</a:t>
            </a:r>
            <a:endParaRPr kumimoji="0" lang="en-US" altLang="en-US" sz="12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 name="Rectangle 4"/>
          <p:cNvSpPr>
            <a:spLocks noChangeArrowheads="1"/>
          </p:cNvSpPr>
          <p:nvPr/>
        </p:nvSpPr>
        <p:spPr bwMode="auto">
          <a:xfrm>
            <a:off x="774700" y="6134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FFFFFF"/>
                </a:solidFill>
                <a:effectLst/>
                <a:latin typeface="Arial" panose="020B0604020202020204" pitchFamily="34" charset="0"/>
              </a:rPr>
              <a:t> 3 of 37 </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444444"/>
                </a:solidFill>
                <a:effectLst/>
                <a:latin typeface="var(--HSDSGlobalFontFamily)"/>
              </a:rPr>
              <a:t/>
            </a:r>
            <a:br>
              <a:rPr kumimoji="0" lang="en-US" altLang="en-US" sz="1300" b="0" i="0" u="none" strike="noStrike" cap="none" normalizeH="0" baseline="0" smtClean="0">
                <a:ln>
                  <a:noFill/>
                </a:ln>
                <a:solidFill>
                  <a:srgbClr val="444444"/>
                </a:solidFill>
                <a:effectLst/>
                <a:latin typeface="var(--HSDSGlobalFontFamily)"/>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1142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523439"/>
            <a:ext cx="109093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In the simplest terms, mass spectrometry involves </a:t>
            </a:r>
            <a:r>
              <a:rPr lang="en-AU" b="1" i="0" dirty="0" smtClean="0">
                <a:solidFill>
                  <a:srgbClr val="FB6611"/>
                </a:solidFill>
                <a:effectLst/>
                <a:latin typeface="Arial" panose="020B0604020202020204" pitchFamily="34" charset="0"/>
              </a:rPr>
              <a:t>ionising and fragmenting</a:t>
            </a:r>
            <a:r>
              <a:rPr lang="en-AU" b="0" i="0" dirty="0" smtClean="0">
                <a:solidFill>
                  <a:srgbClr val="444444"/>
                </a:solidFill>
                <a:effectLst/>
                <a:latin typeface="Arial" panose="020B0604020202020204" pitchFamily="34" charset="0"/>
              </a:rPr>
              <a:t> a compound and sorting the ions based on their </a:t>
            </a:r>
            <a:r>
              <a:rPr lang="en-AU" b="1" i="0" dirty="0" smtClean="0">
                <a:solidFill>
                  <a:srgbClr val="0066CC"/>
                </a:solidFill>
                <a:effectLst/>
                <a:latin typeface="Arial" panose="020B0604020202020204" pitchFamily="34" charset="0"/>
              </a:rPr>
              <a:t>mass to charge ratio.</a:t>
            </a:r>
            <a:r>
              <a:rPr lang="en-AU" b="0" i="0" dirty="0" smtClean="0">
                <a:solidFill>
                  <a:srgbClr val="444444"/>
                </a:solidFill>
                <a:effectLst/>
                <a:latin typeface="Arial" panose="020B0604020202020204" pitchFamily="34" charset="0"/>
              </a:rPr>
              <a:t> This provides a measure of the mass of the molecule and different fragments that make it up.</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You don't need to know exactly how a mass spectrum is produced, but knowing the basic principle may help you to understand what you are looking at.</a:t>
            </a:r>
            <a:endParaRPr lang="en-AU" b="0" i="0" dirty="0">
              <a:solidFill>
                <a:srgbClr val="444444"/>
              </a:solidFill>
              <a:effectLst/>
              <a:latin typeface="Arial" panose="020B0604020202020204" pitchFamily="34" charset="0"/>
            </a:endParaRPr>
          </a:p>
        </p:txBody>
      </p:sp>
      <p:pic>
        <p:nvPicPr>
          <p:cNvPr id="4098" name="Picture 2" descr="https://www.educationperfect.com/media/content/Science/1455657834.068111g/1455657835218-267723583396322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2747962"/>
            <a:ext cx="5715000" cy="3590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513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700" y="256739"/>
            <a:ext cx="102108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A mass spectrum is a plot of the </a:t>
            </a:r>
            <a:r>
              <a:rPr lang="en-AU" b="1" i="0" dirty="0" smtClean="0">
                <a:solidFill>
                  <a:srgbClr val="FB6611"/>
                </a:solidFill>
                <a:effectLst/>
                <a:latin typeface="Arial" panose="020B0604020202020204" pitchFamily="34" charset="0"/>
              </a:rPr>
              <a:t>relative abundance</a:t>
            </a:r>
            <a:r>
              <a:rPr lang="en-AU" b="0" i="0" dirty="0" smtClean="0">
                <a:solidFill>
                  <a:srgbClr val="444444"/>
                </a:solidFill>
                <a:effectLst/>
                <a:latin typeface="Arial" panose="020B0604020202020204" pitchFamily="34" charset="0"/>
              </a:rPr>
              <a:t> of the ions against their </a:t>
            </a:r>
            <a:r>
              <a:rPr lang="en-AU" b="1" i="0" dirty="0" smtClean="0">
                <a:solidFill>
                  <a:srgbClr val="FB6611"/>
                </a:solidFill>
                <a:effectLst/>
                <a:latin typeface="Arial" panose="020B0604020202020204" pitchFamily="34" charset="0"/>
              </a:rPr>
              <a:t>mass/charge ratio</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m/z or m/e</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tallest peak is called the </a:t>
            </a:r>
            <a:r>
              <a:rPr lang="en-AU" b="1" i="0" dirty="0" smtClean="0">
                <a:solidFill>
                  <a:srgbClr val="0066CC"/>
                </a:solidFill>
                <a:effectLst/>
                <a:latin typeface="Arial" panose="020B0604020202020204" pitchFamily="34" charset="0"/>
              </a:rPr>
              <a:t>base peak</a:t>
            </a:r>
            <a:r>
              <a:rPr lang="en-AU" b="0" i="0" dirty="0" smtClean="0">
                <a:solidFill>
                  <a:srgbClr val="444444"/>
                </a:solidFill>
                <a:effectLst/>
                <a:latin typeface="Arial" panose="020B0604020202020204" pitchFamily="34" charset="0"/>
              </a:rPr>
              <a:t> and is given an abundance of </a:t>
            </a:r>
            <a:r>
              <a:rPr lang="en-AU" b="0" i="0" dirty="0" smtClean="0">
                <a:solidFill>
                  <a:srgbClr val="444444"/>
                </a:solidFill>
                <a:effectLst/>
                <a:latin typeface="KaTeX_Main"/>
              </a:rPr>
              <a:t>100%</a:t>
            </a:r>
            <a:r>
              <a:rPr lang="en-AU" b="0" i="0" dirty="0" smtClean="0">
                <a:solidFill>
                  <a:srgbClr val="444444"/>
                </a:solidFill>
                <a:effectLst/>
                <a:latin typeface="Arial" panose="020B0604020202020204" pitchFamily="34" charset="0"/>
              </a:rPr>
              <a:t>. Everything else is measured relative to this. For example, in the mass spectrum of ethanoic acid below, the base peak is found at </a:t>
            </a:r>
            <a:r>
              <a:rPr lang="en-AU" b="0" i="0" dirty="0" smtClean="0">
                <a:solidFill>
                  <a:srgbClr val="444444"/>
                </a:solidFill>
                <a:effectLst/>
                <a:latin typeface="KaTeX_Main"/>
              </a:rPr>
              <a:t>m/z=43</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551911847.312771g/1551911846787-2989448933852426-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2188865"/>
            <a:ext cx="6981825" cy="4538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190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500" y="260340"/>
            <a:ext cx="112522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The </a:t>
            </a:r>
            <a:r>
              <a:rPr lang="en-AU" b="1" i="0" dirty="0" smtClean="0">
                <a:solidFill>
                  <a:srgbClr val="FB6611"/>
                </a:solidFill>
                <a:effectLst/>
                <a:latin typeface="Arial" panose="020B0604020202020204" pitchFamily="34" charset="0"/>
              </a:rPr>
              <a:t>molecular parent ion</a:t>
            </a:r>
            <a:r>
              <a:rPr lang="en-AU" b="0" i="0" dirty="0" smtClean="0">
                <a:solidFill>
                  <a:srgbClr val="444444"/>
                </a:solidFill>
                <a:effectLst/>
                <a:latin typeface="Arial" panose="020B0604020202020204" pitchFamily="34" charset="0"/>
              </a:rPr>
              <a:t> is almost always the peak with the </a:t>
            </a:r>
            <a:r>
              <a:rPr lang="en-AU" b="1" i="0" dirty="0" smtClean="0">
                <a:solidFill>
                  <a:srgbClr val="FB6611"/>
                </a:solidFill>
                <a:effectLst/>
                <a:latin typeface="Arial" panose="020B0604020202020204" pitchFamily="34" charset="0"/>
              </a:rPr>
              <a:t>highest mass/charge ratio.</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molecular ion (</a:t>
            </a:r>
            <a:r>
              <a:rPr lang="en-AU" b="0" i="0" dirty="0" smtClean="0">
                <a:solidFill>
                  <a:srgbClr val="444444"/>
                </a:solidFill>
                <a:effectLst/>
                <a:latin typeface="KaTeX_Main"/>
              </a:rPr>
              <a:t>M</a:t>
            </a:r>
            <a:r>
              <a:rPr lang="en-AU" b="0" i="0" baseline="30000" dirty="0" smtClean="0">
                <a:solidFill>
                  <a:srgbClr val="444444"/>
                </a:solidFill>
                <a:effectLst/>
                <a:latin typeface="KaTeX_Main"/>
              </a:rPr>
              <a:t>+</a:t>
            </a:r>
            <a:r>
              <a:rPr lang="en-AU" b="0" i="0" dirty="0" smtClean="0">
                <a:solidFill>
                  <a:srgbClr val="444444"/>
                </a:solidFill>
                <a:effectLst/>
                <a:latin typeface="KaTeX_Size1"/>
              </a:rPr>
              <a:t>)</a:t>
            </a:r>
            <a:r>
              <a:rPr lang="en-AU" b="0" i="0" dirty="0" smtClean="0">
                <a:solidFill>
                  <a:srgbClr val="444444"/>
                </a:solidFill>
                <a:effectLst/>
                <a:latin typeface="Arial" panose="020B0604020202020204" pitchFamily="34" charset="0"/>
              </a:rPr>
              <a:t> is the </a:t>
            </a:r>
            <a:r>
              <a:rPr lang="en-AU" b="1" i="0" dirty="0" smtClean="0">
                <a:solidFill>
                  <a:srgbClr val="00A6D5"/>
                </a:solidFill>
                <a:effectLst/>
                <a:latin typeface="Arial" panose="020B0604020202020204" pitchFamily="34" charset="0"/>
              </a:rPr>
              <a:t>most important peak</a:t>
            </a:r>
            <a:r>
              <a:rPr lang="en-AU" b="0" i="0" dirty="0" smtClean="0">
                <a:solidFill>
                  <a:srgbClr val="444444"/>
                </a:solidFill>
                <a:effectLst/>
                <a:latin typeface="Arial" panose="020B0604020202020204" pitchFamily="34" charset="0"/>
              </a:rPr>
              <a:t> on the mass spectrum. This is the ion that has been formed by removing </a:t>
            </a:r>
            <a:r>
              <a:rPr lang="en-AU" b="1" i="0" dirty="0" smtClean="0">
                <a:solidFill>
                  <a:srgbClr val="00A6D5"/>
                </a:solidFill>
                <a:effectLst/>
                <a:latin typeface="Arial" panose="020B0604020202020204" pitchFamily="34" charset="0"/>
              </a:rPr>
              <a:t>one electron</a:t>
            </a:r>
            <a:r>
              <a:rPr lang="en-AU" b="0" i="0" dirty="0" smtClean="0">
                <a:solidFill>
                  <a:srgbClr val="444444"/>
                </a:solidFill>
                <a:effectLst/>
                <a:latin typeface="Arial" panose="020B0604020202020204" pitchFamily="34" charset="0"/>
              </a:rPr>
              <a:t> from the target molecule.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Since electrons have a </a:t>
            </a:r>
            <a:r>
              <a:rPr lang="en-AU" b="1" i="0" dirty="0" smtClean="0">
                <a:solidFill>
                  <a:srgbClr val="228B22"/>
                </a:solidFill>
                <a:effectLst/>
                <a:latin typeface="Arial" panose="020B0604020202020204" pitchFamily="34" charset="0"/>
              </a:rPr>
              <a:t>negligible mass</a:t>
            </a:r>
            <a:r>
              <a:rPr lang="en-AU" b="0" i="0" dirty="0" smtClean="0">
                <a:solidFill>
                  <a:srgbClr val="444444"/>
                </a:solidFill>
                <a:effectLst/>
                <a:latin typeface="Arial" panose="020B0604020202020204" pitchFamily="34" charset="0"/>
              </a:rPr>
              <a:t> compared to the mass of atoms or molecules, the mass of the molecular ion is practically the </a:t>
            </a:r>
            <a:r>
              <a:rPr lang="en-AU" b="1" i="0" dirty="0" smtClean="0">
                <a:solidFill>
                  <a:srgbClr val="0066CC"/>
                </a:solidFill>
                <a:effectLst/>
                <a:latin typeface="Arial" panose="020B0604020202020204" pitchFamily="34" charset="0"/>
              </a:rPr>
              <a:t>same</a:t>
            </a:r>
            <a:r>
              <a:rPr lang="en-AU" b="0" i="0" dirty="0" smtClean="0">
                <a:solidFill>
                  <a:srgbClr val="444444"/>
                </a:solidFill>
                <a:effectLst/>
                <a:latin typeface="Arial" panose="020B0604020202020204" pitchFamily="34" charset="0"/>
              </a:rPr>
              <a:t> as the mass of the molecule itself.</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551911847.312771g/1551911846787-2989448933852426-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275" y="2576513"/>
            <a:ext cx="6215673" cy="4040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802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630740"/>
            <a:ext cx="114808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Molecular ions are </a:t>
            </a:r>
            <a:r>
              <a:rPr lang="en-AU" b="1" i="0" dirty="0" smtClean="0">
                <a:solidFill>
                  <a:srgbClr val="228B22"/>
                </a:solidFill>
                <a:effectLst/>
                <a:latin typeface="Arial" panose="020B0604020202020204" pitchFamily="34" charset="0"/>
              </a:rPr>
              <a:t>unstable,</a:t>
            </a:r>
            <a:r>
              <a:rPr lang="en-AU" b="0" i="0" dirty="0" smtClean="0">
                <a:solidFill>
                  <a:srgbClr val="444444"/>
                </a:solidFill>
                <a:effectLst/>
                <a:latin typeface="Arial" panose="020B0604020202020204" pitchFamily="34" charset="0"/>
              </a:rPr>
              <a:t> so some of them will also break up into </a:t>
            </a:r>
            <a:r>
              <a:rPr lang="en-AU" b="1" i="0" dirty="0" smtClean="0">
                <a:solidFill>
                  <a:srgbClr val="228B22"/>
                </a:solidFill>
                <a:effectLst/>
                <a:latin typeface="Arial" panose="020B0604020202020204" pitchFamily="34" charset="0"/>
              </a:rPr>
              <a:t>smaller fragments.</a:t>
            </a:r>
            <a:r>
              <a:rPr lang="en-AU" b="0" i="0" dirty="0" smtClean="0">
                <a:solidFill>
                  <a:srgbClr val="444444"/>
                </a:solidFill>
                <a:effectLst/>
                <a:latin typeface="Arial" panose="020B0604020202020204" pitchFamily="34" charset="0"/>
              </a:rPr>
              <a:t> The spectrum will therefore have peaks corresponding to various different fragments of the original molecule.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Using the </a:t>
            </a:r>
            <a:r>
              <a:rPr lang="en-AU" b="1" i="0" dirty="0" smtClean="0">
                <a:solidFill>
                  <a:srgbClr val="0066CC"/>
                </a:solidFill>
                <a:effectLst/>
                <a:latin typeface="Arial" panose="020B0604020202020204" pitchFamily="34" charset="0"/>
              </a:rPr>
              <a:t>mass difference</a:t>
            </a:r>
            <a:r>
              <a:rPr lang="en-AU" b="0" i="0" dirty="0" smtClean="0">
                <a:solidFill>
                  <a:srgbClr val="444444"/>
                </a:solidFill>
                <a:effectLst/>
                <a:latin typeface="Arial" panose="020B0604020202020204" pitchFamily="34" charset="0"/>
              </a:rPr>
              <a:t> between the peaks, we can </a:t>
            </a:r>
            <a:r>
              <a:rPr lang="en-AU" b="1" i="0" dirty="0" smtClean="0">
                <a:solidFill>
                  <a:srgbClr val="0066CC"/>
                </a:solidFill>
                <a:effectLst/>
                <a:latin typeface="Arial" panose="020B0604020202020204" pitchFamily="34" charset="0"/>
              </a:rPr>
              <a:t>identify the pieces</a:t>
            </a:r>
            <a:r>
              <a:rPr lang="en-AU" b="0" i="0" dirty="0" smtClean="0">
                <a:solidFill>
                  <a:srgbClr val="444444"/>
                </a:solidFill>
                <a:effectLst/>
                <a:latin typeface="Arial" panose="020B0604020202020204" pitchFamily="34" charset="0"/>
              </a:rPr>
              <a:t> that have fallen off the molecule.</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likelihood of a specific ion forming depends on the </a:t>
            </a:r>
            <a:r>
              <a:rPr lang="en-AU" b="1" i="0" dirty="0" smtClean="0">
                <a:solidFill>
                  <a:srgbClr val="7C0BAE"/>
                </a:solidFill>
                <a:effectLst/>
                <a:latin typeface="Arial" panose="020B0604020202020204" pitchFamily="34" charset="0"/>
              </a:rPr>
              <a:t>energy of the bond</a:t>
            </a:r>
            <a:r>
              <a:rPr lang="en-AU" b="0" i="0" dirty="0" smtClean="0">
                <a:solidFill>
                  <a:srgbClr val="444444"/>
                </a:solidFill>
                <a:effectLst/>
                <a:latin typeface="Arial" panose="020B0604020202020204" pitchFamily="34" charset="0"/>
              </a:rPr>
              <a:t> that must be broken as well as the </a:t>
            </a:r>
            <a:r>
              <a:rPr lang="en-AU" b="1" i="0" dirty="0" smtClean="0">
                <a:solidFill>
                  <a:srgbClr val="7C0BAE"/>
                </a:solidFill>
                <a:effectLst/>
                <a:latin typeface="Arial" panose="020B0604020202020204" pitchFamily="34" charset="0"/>
              </a:rPr>
              <a:t>stability of the fragment</a:t>
            </a:r>
            <a:r>
              <a:rPr lang="en-AU" b="0" i="0" dirty="0" smtClean="0">
                <a:solidFill>
                  <a:srgbClr val="444444"/>
                </a:solidFill>
                <a:effectLst/>
                <a:latin typeface="Arial" panose="020B0604020202020204" pitchFamily="34" charset="0"/>
              </a:rPr>
              <a:t> that forms.</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320970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612339"/>
            <a:ext cx="108204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need to be able to </a:t>
            </a:r>
            <a:r>
              <a:rPr lang="en-AU" b="1" i="0" dirty="0" smtClean="0">
                <a:solidFill>
                  <a:srgbClr val="7C0BAE"/>
                </a:solidFill>
                <a:effectLst/>
                <a:latin typeface="Arial" panose="020B0604020202020204" pitchFamily="34" charset="0"/>
              </a:rPr>
              <a:t>recognise the mass fragments shown below.</a:t>
            </a:r>
            <a:r>
              <a:rPr lang="en-AU" b="0" i="0" dirty="0" smtClean="0">
                <a:solidFill>
                  <a:srgbClr val="444444"/>
                </a:solidFill>
                <a:effectLst/>
                <a:latin typeface="Arial" panose="020B0604020202020204" pitchFamily="34" charset="0"/>
              </a:rPr>
              <a:t> You don't need to memorise the details, as they will be given to you, but you should be able to quickly recognise, for example, that a fragment of mass </a:t>
            </a:r>
            <a:r>
              <a:rPr lang="en-AU" b="0" i="0" dirty="0" smtClean="0">
                <a:solidFill>
                  <a:srgbClr val="444444"/>
                </a:solidFill>
                <a:effectLst/>
                <a:latin typeface="KaTeX_Main"/>
              </a:rPr>
              <a:t>15</a:t>
            </a:r>
            <a:r>
              <a:rPr lang="en-AU" b="0" i="0" dirty="0" smtClean="0">
                <a:solidFill>
                  <a:srgbClr val="444444"/>
                </a:solidFill>
                <a:effectLst/>
                <a:latin typeface="Arial" panose="020B0604020202020204" pitchFamily="34" charset="0"/>
              </a:rPr>
              <a:t> corresponds to </a:t>
            </a:r>
            <a:r>
              <a:rPr lang="en-AU" b="0" i="0" dirty="0" smtClean="0">
                <a:solidFill>
                  <a:srgbClr val="444444"/>
                </a:solidFill>
                <a:effectLst/>
                <a:latin typeface="KaTeX_Main"/>
              </a:rPr>
              <a:t>CH</a:t>
            </a:r>
            <a:r>
              <a:rPr lang="en-AU" b="0" i="0" baseline="-25000" dirty="0" smtClean="0">
                <a:solidFill>
                  <a:srgbClr val="444444"/>
                </a:solidFill>
                <a:effectLst/>
                <a:latin typeface="KaTeX_Main"/>
              </a:rPr>
              <a:t>3</a:t>
            </a:r>
            <a:r>
              <a:rPr lang="en-AU" b="0" i="0" baseline="30000" dirty="0" smtClean="0">
                <a:solidFill>
                  <a:srgbClr val="444444"/>
                </a:solidFill>
                <a:effectLst/>
                <a:latin typeface="KaTeX_Main"/>
              </a:rPr>
              <a:t>+</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is simply the sum of the relative atomic masses, for example </a:t>
            </a:r>
            <a:r>
              <a:rPr lang="en-AU" b="0" i="0" dirty="0" smtClean="0">
                <a:solidFill>
                  <a:srgbClr val="444444"/>
                </a:solidFill>
                <a:effectLst/>
                <a:latin typeface="KaTeX_Main"/>
              </a:rPr>
              <a:t>CH</a:t>
            </a:r>
            <a:r>
              <a:rPr lang="en-AU" b="0" i="0" baseline="-25000" dirty="0" smtClean="0">
                <a:solidFill>
                  <a:srgbClr val="444444"/>
                </a:solidFill>
                <a:effectLst/>
                <a:latin typeface="KaTeX_Main"/>
              </a:rPr>
              <a:t>3</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 </a:t>
            </a:r>
            <a:r>
              <a:rPr lang="en-AU" b="0" i="0" dirty="0" smtClean="0">
                <a:solidFill>
                  <a:srgbClr val="444444"/>
                </a:solidFill>
                <a:effectLst/>
                <a:latin typeface="KaTeX_Main"/>
              </a:rPr>
              <a:t>12+(1×3)</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725862" y="2202153"/>
            <a:ext cx="4491038" cy="4655847"/>
          </a:xfrm>
          <a:prstGeom prst="rect">
            <a:avLst/>
          </a:prstGeom>
        </p:spPr>
      </p:pic>
    </p:spTree>
    <p:extLst>
      <p:ext uri="{BB962C8B-B14F-4D97-AF65-F5344CB8AC3E}">
        <p14:creationId xmlns:p14="http://schemas.microsoft.com/office/powerpoint/2010/main" val="290574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400" y="407244"/>
            <a:ext cx="115951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can work out what the fragments are by looking at the </a:t>
            </a:r>
            <a:r>
              <a:rPr lang="en-AU" b="1" i="0" dirty="0" smtClean="0">
                <a:solidFill>
                  <a:srgbClr val="FB6611"/>
                </a:solidFill>
                <a:effectLst/>
                <a:latin typeface="Arial" panose="020B0604020202020204" pitchFamily="34" charset="0"/>
              </a:rPr>
              <a:t>mass of the elements that make them up.</a:t>
            </a:r>
            <a:r>
              <a:rPr lang="en-AU" b="0" i="0" dirty="0" smtClean="0">
                <a:solidFill>
                  <a:srgbClr val="444444"/>
                </a:solidFill>
                <a:effectLst/>
                <a:latin typeface="Arial" panose="020B0604020202020204" pitchFamily="34" charset="0"/>
              </a:rPr>
              <a:t> You will only see fragments with a charge of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and therefore the </a:t>
            </a:r>
            <a:r>
              <a:rPr lang="en-AU" b="0" i="0" dirty="0" smtClean="0">
                <a:solidFill>
                  <a:srgbClr val="444444"/>
                </a:solidFill>
                <a:effectLst/>
                <a:latin typeface="KaTeX_Main"/>
              </a:rPr>
              <a:t>m/z</a:t>
            </a:r>
            <a:r>
              <a:rPr lang="en-AU" b="0" i="0" dirty="0" smtClean="0">
                <a:solidFill>
                  <a:srgbClr val="444444"/>
                </a:solidFill>
                <a:effectLst/>
                <a:latin typeface="Arial" panose="020B0604020202020204" pitchFamily="34" charset="0"/>
              </a:rPr>
              <a:t> ratio corresponds to the mass of the fragment.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a:t>
            </a:r>
            <a:r>
              <a:rPr lang="en-AU" b="0" i="0" dirty="0" smtClean="0">
                <a:solidFill>
                  <a:srgbClr val="444444"/>
                </a:solidFill>
                <a:effectLst/>
                <a:latin typeface="KaTeX_Main"/>
              </a:rPr>
              <a:t>CH</a:t>
            </a:r>
            <a:r>
              <a:rPr lang="en-AU" b="0" i="0" baseline="-25000" dirty="0" smtClean="0">
                <a:solidFill>
                  <a:srgbClr val="444444"/>
                </a:solidFill>
                <a:effectLst/>
                <a:latin typeface="KaTeX_Main"/>
              </a:rPr>
              <a:t>3​</a:t>
            </a:r>
            <a:r>
              <a:rPr lang="en-AU" b="0" i="0" dirty="0" smtClean="0">
                <a:solidFill>
                  <a:srgbClr val="444444"/>
                </a:solidFill>
                <a:effectLst/>
                <a:latin typeface="Arial" panose="020B0604020202020204" pitchFamily="34" charset="0"/>
              </a:rPr>
              <a:t> is made up of </a:t>
            </a:r>
            <a:r>
              <a:rPr lang="en-AU" b="1" i="0" dirty="0" smtClean="0">
                <a:solidFill>
                  <a:srgbClr val="0066CC"/>
                </a:solidFill>
                <a:effectLst/>
                <a:latin typeface="Arial" panose="020B0604020202020204" pitchFamily="34" charset="0"/>
              </a:rPr>
              <a:t>one carbon atom</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(M=12.01)</a:t>
            </a:r>
            <a:r>
              <a:rPr lang="en-AU" b="0" i="0" dirty="0" smtClean="0">
                <a:solidFill>
                  <a:srgbClr val="444444"/>
                </a:solidFill>
                <a:effectLst/>
                <a:latin typeface="Arial" panose="020B0604020202020204" pitchFamily="34" charset="0"/>
              </a:rPr>
              <a:t> and </a:t>
            </a:r>
            <a:r>
              <a:rPr lang="en-AU" b="1" i="0" dirty="0" smtClean="0">
                <a:solidFill>
                  <a:srgbClr val="228B22"/>
                </a:solidFill>
                <a:effectLst/>
                <a:latin typeface="Arial" panose="020B0604020202020204" pitchFamily="34" charset="0"/>
              </a:rPr>
              <a:t>three hydrogen atoms</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(M=3×1.01)</a:t>
            </a:r>
            <a:r>
              <a:rPr lang="en-AU" b="0" i="0" dirty="0" smtClean="0">
                <a:solidFill>
                  <a:srgbClr val="444444"/>
                </a:solidFill>
                <a:effectLst/>
                <a:latin typeface="Arial" panose="020B0604020202020204" pitchFamily="34" charset="0"/>
              </a:rPr>
              <a:t>. This gives a mass of </a:t>
            </a:r>
            <a:r>
              <a:rPr lang="en-AU" b="0" i="0" dirty="0" smtClean="0">
                <a:solidFill>
                  <a:srgbClr val="444444"/>
                </a:solidFill>
                <a:effectLst/>
                <a:latin typeface="KaTeX_Main"/>
              </a:rPr>
              <a:t>15.04</a:t>
            </a:r>
            <a:r>
              <a:rPr lang="en-AU" b="0" i="0" dirty="0" smtClean="0">
                <a:solidFill>
                  <a:srgbClr val="444444"/>
                </a:solidFill>
                <a:effectLst/>
                <a:latin typeface="Arial" panose="020B0604020202020204" pitchFamily="34" charset="0"/>
              </a:rPr>
              <a:t>, which corresponds to the </a:t>
            </a:r>
            <a:r>
              <a:rPr lang="en-AU" b="0" i="0" dirty="0" smtClean="0">
                <a:solidFill>
                  <a:srgbClr val="444444"/>
                </a:solidFill>
                <a:effectLst/>
                <a:latin typeface="KaTeX_Main"/>
              </a:rPr>
              <a:t>m/z=15</a:t>
            </a:r>
            <a:r>
              <a:rPr lang="en-AU" b="0" i="0" dirty="0" smtClean="0">
                <a:solidFill>
                  <a:srgbClr val="444444"/>
                </a:solidFill>
                <a:effectLst/>
                <a:latin typeface="Arial" panose="020B0604020202020204" pitchFamily="34" charset="0"/>
              </a:rPr>
              <a:t> fragment.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If you see a fragment with a mass that does not appear in the given table, simply look at the </a:t>
            </a:r>
            <a:r>
              <a:rPr lang="en-AU" b="1" i="0" dirty="0" smtClean="0">
                <a:solidFill>
                  <a:srgbClr val="7C0BAE"/>
                </a:solidFill>
                <a:effectLst/>
                <a:latin typeface="Arial" panose="020B0604020202020204" pitchFamily="34" charset="0"/>
              </a:rPr>
              <a:t>periodic table</a:t>
            </a:r>
            <a:r>
              <a:rPr lang="en-AU" b="0" i="0" dirty="0" smtClean="0">
                <a:solidFill>
                  <a:srgbClr val="444444"/>
                </a:solidFill>
                <a:effectLst/>
                <a:latin typeface="Arial" panose="020B0604020202020204" pitchFamily="34" charset="0"/>
              </a:rPr>
              <a:t> to try and work out how many of which atoms could be present in that fragment.</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455586722.181251g/1455586723082-1388123762003776-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3675" y="2860675"/>
            <a:ext cx="38100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497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435739"/>
            <a:ext cx="11366500" cy="2031325"/>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may also be asked to </a:t>
            </a:r>
            <a:r>
              <a:rPr lang="en-AU" b="1" i="0" dirty="0" smtClean="0">
                <a:solidFill>
                  <a:srgbClr val="FB6611"/>
                </a:solidFill>
                <a:effectLst/>
                <a:latin typeface="Arial" panose="020B0604020202020204" pitchFamily="34" charset="0"/>
              </a:rPr>
              <a:t>work out the molecular formula</a:t>
            </a:r>
            <a:r>
              <a:rPr lang="en-AU" b="0" i="0" dirty="0" smtClean="0">
                <a:solidFill>
                  <a:srgbClr val="444444"/>
                </a:solidFill>
                <a:effectLst/>
                <a:latin typeface="Arial" panose="020B0604020202020204" pitchFamily="34" charset="0"/>
              </a:rPr>
              <a:t> of a compound from its </a:t>
            </a:r>
            <a:r>
              <a:rPr lang="en-AU" b="1" i="0" dirty="0" smtClean="0">
                <a:solidFill>
                  <a:srgbClr val="FB6611"/>
                </a:solidFill>
                <a:effectLst/>
                <a:latin typeface="Arial" panose="020B0604020202020204" pitchFamily="34" charset="0"/>
              </a:rPr>
              <a:t>empirical formula</a:t>
            </a:r>
            <a:r>
              <a:rPr lang="en-AU" b="0" i="0" dirty="0" smtClean="0">
                <a:solidFill>
                  <a:srgbClr val="444444"/>
                </a:solidFill>
                <a:effectLst/>
                <a:latin typeface="Arial" panose="020B0604020202020204" pitchFamily="34" charset="0"/>
              </a:rPr>
              <a:t> and </a:t>
            </a:r>
            <a:r>
              <a:rPr lang="en-AU" b="1" i="0" dirty="0" smtClean="0">
                <a:solidFill>
                  <a:srgbClr val="FB6611"/>
                </a:solidFill>
                <a:effectLst/>
                <a:latin typeface="Arial" panose="020B0604020202020204" pitchFamily="34" charset="0"/>
              </a:rPr>
              <a:t>mass spectrum.</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the empirical formula of a compound is </a:t>
            </a:r>
            <a:r>
              <a:rPr lang="en-AU" b="1" i="0" dirty="0" smtClean="0">
                <a:solidFill>
                  <a:srgbClr val="444444"/>
                </a:solidFill>
                <a:effectLst/>
                <a:latin typeface="KaTeX_Main"/>
              </a:rPr>
              <a:t>C</a:t>
            </a:r>
            <a:r>
              <a:rPr lang="en-AU" b="1" i="0" baseline="-25000" dirty="0" smtClean="0">
                <a:solidFill>
                  <a:srgbClr val="444444"/>
                </a:solidFill>
                <a:effectLst/>
                <a:latin typeface="KaTeX_Main"/>
              </a:rPr>
              <a:t>2</a:t>
            </a:r>
            <a:r>
              <a:rPr lang="en-AU" b="0" i="0" dirty="0" smtClean="0">
                <a:solidFill>
                  <a:srgbClr val="444444"/>
                </a:solidFill>
                <a:effectLst/>
                <a:latin typeface="KaTeX_Main"/>
              </a:rPr>
              <a:t>​</a:t>
            </a:r>
            <a:r>
              <a:rPr lang="en-AU" b="1" i="0" dirty="0" smtClean="0">
                <a:solidFill>
                  <a:srgbClr val="444444"/>
                </a:solidFill>
                <a:effectLst/>
                <a:latin typeface="KaTeX_Main"/>
              </a:rPr>
              <a:t>H</a:t>
            </a:r>
            <a:r>
              <a:rPr lang="en-AU" b="1" i="0" baseline="-25000" dirty="0" smtClean="0">
                <a:solidFill>
                  <a:srgbClr val="444444"/>
                </a:solidFill>
                <a:effectLst/>
                <a:latin typeface="KaTeX_Main"/>
              </a:rPr>
              <a:t>4</a:t>
            </a:r>
            <a:r>
              <a:rPr lang="en-AU" b="0" i="0" dirty="0" smtClean="0">
                <a:solidFill>
                  <a:srgbClr val="444444"/>
                </a:solidFill>
                <a:effectLst/>
                <a:latin typeface="KaTeX_Main"/>
              </a:rPr>
              <a:t>​</a:t>
            </a:r>
            <a:r>
              <a:rPr lang="en-AU" b="1" i="0" dirty="0" smtClean="0">
                <a:solidFill>
                  <a:srgbClr val="444444"/>
                </a:solidFill>
                <a:effectLst/>
                <a:latin typeface="KaTeX_Main"/>
              </a:rPr>
              <a:t>O</a:t>
            </a:r>
            <a:r>
              <a:rPr lang="en-AU" b="0" i="0" dirty="0" smtClean="0">
                <a:solidFill>
                  <a:srgbClr val="444444"/>
                </a:solidFill>
                <a:effectLst/>
                <a:latin typeface="Arial" panose="020B0604020202020204" pitchFamily="34" charset="0"/>
              </a:rPr>
              <a:t>. The molecular ion peak in the mass spectrum appears at </a:t>
            </a:r>
            <a:r>
              <a:rPr lang="en-AU" b="1" i="0" dirty="0" smtClean="0">
                <a:solidFill>
                  <a:srgbClr val="444444"/>
                </a:solidFill>
                <a:effectLst/>
                <a:latin typeface="KaTeX_Main"/>
              </a:rPr>
              <a:t>m/e</a:t>
            </a:r>
            <a:r>
              <a:rPr lang="en-AU" b="0" i="0" dirty="0" smtClean="0">
                <a:solidFill>
                  <a:srgbClr val="444444"/>
                </a:solidFill>
                <a:effectLst/>
                <a:latin typeface="KaTeX_Main"/>
              </a:rPr>
              <a:t>=</a:t>
            </a:r>
            <a:r>
              <a:rPr lang="en-AU" b="1" i="0" dirty="0" smtClean="0">
                <a:solidFill>
                  <a:srgbClr val="444444"/>
                </a:solidFill>
                <a:effectLst/>
                <a:latin typeface="KaTeX_Main"/>
              </a:rPr>
              <a:t>88</a:t>
            </a:r>
            <a:r>
              <a:rPr lang="en-AU" b="0" i="0" dirty="0" smtClean="0">
                <a:solidFill>
                  <a:srgbClr val="444444"/>
                </a:solidFill>
                <a:effectLst/>
                <a:latin typeface="Arial" panose="020B0604020202020204" pitchFamily="34" charset="0"/>
              </a:rPr>
              <a:t>.</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What is the molecular formula of the compound?</a:t>
            </a:r>
            <a:endParaRPr lang="en-AU" b="0" i="0" dirty="0">
              <a:solidFill>
                <a:srgbClr val="444444"/>
              </a:solidFill>
              <a:effectLst/>
              <a:latin typeface="Arial" panose="020B0604020202020204" pitchFamily="34" charset="0"/>
            </a:endParaRPr>
          </a:p>
        </p:txBody>
      </p:sp>
      <p:pic>
        <p:nvPicPr>
          <p:cNvPr id="8194" name="Picture 2" descr="https://www.educationperfect.com/media/content/Indonesian/1455269822.261851g/1455269820363-195055898506542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300" y="2217340"/>
            <a:ext cx="2320330" cy="4640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08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8062" y="122237"/>
            <a:ext cx="8796338" cy="6313936"/>
          </a:xfrm>
          <a:prstGeom prst="rect">
            <a:avLst/>
          </a:prstGeom>
        </p:spPr>
      </p:pic>
    </p:spTree>
    <p:extLst>
      <p:ext uri="{BB962C8B-B14F-4D97-AF65-F5344CB8AC3E}">
        <p14:creationId xmlns:p14="http://schemas.microsoft.com/office/powerpoint/2010/main" val="120625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765939"/>
            <a:ext cx="11722100" cy="2031325"/>
          </a:xfrm>
          <a:prstGeom prst="rect">
            <a:avLst/>
          </a:prstGeom>
        </p:spPr>
        <p:txBody>
          <a:bodyPr wrap="square">
            <a:spAutoFit/>
          </a:bodyPr>
          <a:lstStyle/>
          <a:p>
            <a:pPr algn="ctr"/>
            <a:r>
              <a:rPr lang="en-AU" b="1" i="0" dirty="0" smtClean="0">
                <a:solidFill>
                  <a:srgbClr val="228B22"/>
                </a:solidFill>
                <a:effectLst/>
                <a:latin typeface="Arial" panose="020B0604020202020204" pitchFamily="34" charset="0"/>
              </a:rPr>
              <a:t>Electrically charged particles</a:t>
            </a:r>
            <a:r>
              <a:rPr lang="en-AU" b="0" i="0" dirty="0" smtClean="0">
                <a:solidFill>
                  <a:srgbClr val="444444"/>
                </a:solidFill>
                <a:effectLst/>
                <a:latin typeface="Arial" panose="020B0604020202020204" pitchFamily="34" charset="0"/>
              </a:rPr>
              <a:t> can be </a:t>
            </a:r>
            <a:r>
              <a:rPr lang="en-AU" b="1" i="0" dirty="0" smtClean="0">
                <a:solidFill>
                  <a:srgbClr val="228B22"/>
                </a:solidFill>
                <a:effectLst/>
                <a:latin typeface="Arial" panose="020B0604020202020204" pitchFamily="34" charset="0"/>
              </a:rPr>
              <a:t>deflected by a magnetic field,</a:t>
            </a:r>
            <a:r>
              <a:rPr lang="en-AU" b="0" i="0" dirty="0" smtClean="0">
                <a:solidFill>
                  <a:srgbClr val="444444"/>
                </a:solidFill>
                <a:effectLst/>
                <a:latin typeface="Arial" panose="020B0604020202020204" pitchFamily="34" charset="0"/>
              </a:rPr>
              <a:t> but not neutral ones. Mass spectrometry utilises this principle. The steps are:</a:t>
            </a: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KaTeX_Main"/>
              </a:rPr>
              <a:t>1</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Ionisation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atom or molecule is </a:t>
            </a:r>
            <a:r>
              <a:rPr lang="en-AU" b="1" i="0" dirty="0" smtClean="0">
                <a:solidFill>
                  <a:srgbClr val="7C0BAE"/>
                </a:solidFill>
                <a:effectLst/>
                <a:latin typeface="Arial" panose="020B0604020202020204" pitchFamily="34" charset="0"/>
              </a:rPr>
              <a:t>ionised</a:t>
            </a:r>
            <a:r>
              <a:rPr lang="en-AU" b="0" i="0" dirty="0" smtClean="0">
                <a:solidFill>
                  <a:srgbClr val="444444"/>
                </a:solidFill>
                <a:effectLst/>
                <a:latin typeface="Arial" panose="020B0604020202020204" pitchFamily="34" charset="0"/>
              </a:rPr>
              <a:t> by knocking one or more electrons off, forming a </a:t>
            </a:r>
            <a:r>
              <a:rPr lang="en-AU" b="1" i="0" dirty="0" smtClean="0">
                <a:solidFill>
                  <a:srgbClr val="FB6611"/>
                </a:solidFill>
                <a:effectLst/>
                <a:latin typeface="Arial" panose="020B0604020202020204" pitchFamily="34" charset="0"/>
              </a:rPr>
              <a:t>positive ion.</a:t>
            </a:r>
            <a:r>
              <a:rPr lang="en-AU" b="0" i="0" dirty="0" smtClean="0">
                <a:solidFill>
                  <a:srgbClr val="444444"/>
                </a:solidFill>
                <a:effectLst/>
                <a:latin typeface="Arial" panose="020B0604020202020204" pitchFamily="34" charset="0"/>
              </a:rPr>
              <a:t> Even things that would normally form negative ions or not form ions at all give positive ions in a mass spectrometer.</a:t>
            </a:r>
            <a:endParaRPr lang="en-AU" b="0" i="0" dirty="0">
              <a:solidFill>
                <a:srgbClr val="444444"/>
              </a:solidFill>
              <a:effectLst/>
              <a:latin typeface="Arial" panose="020B0604020202020204" pitchFamily="34" charset="0"/>
            </a:endParaRPr>
          </a:p>
        </p:txBody>
      </p:sp>
      <p:pic>
        <p:nvPicPr>
          <p:cNvPr id="9218" name="Picture 2" descr="https://www.educationperfect.com/media/content/Science/1422589376.69791g/1422589367933-243516909-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575" y="4079875"/>
            <a:ext cx="1895475"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60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8500" y="1178342"/>
            <a:ext cx="10972800" cy="2862322"/>
          </a:xfrm>
          <a:prstGeom prst="rect">
            <a:avLst/>
          </a:prstGeom>
        </p:spPr>
        <p:txBody>
          <a:bodyPr wrap="square">
            <a:spAutoFit/>
          </a:bodyPr>
          <a:lstStyle/>
          <a:p>
            <a:pPr algn="ctr"/>
            <a:r>
              <a:rPr lang="en-AU" b="1" i="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Acceleration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ionised particles are </a:t>
            </a:r>
            <a:r>
              <a:rPr lang="en-AU" b="1" i="0" dirty="0" smtClean="0">
                <a:solidFill>
                  <a:srgbClr val="FB6611"/>
                </a:solidFill>
                <a:effectLst/>
                <a:latin typeface="Arial" panose="020B0604020202020204" pitchFamily="34" charset="0"/>
              </a:rPr>
              <a:t>accelerated</a:t>
            </a:r>
            <a:r>
              <a:rPr lang="en-AU" b="0" i="0" dirty="0" smtClean="0">
                <a:solidFill>
                  <a:srgbClr val="444444"/>
                </a:solidFill>
                <a:effectLst/>
                <a:latin typeface="Arial" panose="020B0604020202020204" pitchFamily="34" charset="0"/>
              </a:rPr>
              <a:t> into the deflector that contains the magnetic field.</a:t>
            </a:r>
          </a:p>
          <a:p>
            <a:pPr algn="ctr"/>
            <a:r>
              <a:rPr lang="en-AU" b="0" i="0" dirty="0" smtClean="0">
                <a:solidFill>
                  <a:srgbClr val="444444"/>
                </a:solidFill>
                <a:effectLst/>
                <a:latin typeface="Arial" panose="020B0604020202020204" pitchFamily="34" charset="0"/>
              </a:rPr>
              <a:t> </a:t>
            </a:r>
          </a:p>
          <a:p>
            <a:pPr algn="ctr"/>
            <a:r>
              <a:rPr lang="en-AU" b="1" i="0" dirty="0" smtClean="0">
                <a:solidFill>
                  <a:srgbClr val="444444"/>
                </a:solidFill>
                <a:effectLst/>
                <a:latin typeface="KaTeX_Main"/>
              </a:rPr>
              <a:t>3</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Deflection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magnetic field causes the ionised particles to be </a:t>
            </a:r>
            <a:r>
              <a:rPr lang="en-AU" b="1" i="0" dirty="0" smtClean="0">
                <a:solidFill>
                  <a:srgbClr val="228B22"/>
                </a:solidFill>
                <a:effectLst/>
                <a:latin typeface="Arial" panose="020B0604020202020204" pitchFamily="34" charset="0"/>
              </a:rPr>
              <a:t>deflected</a:t>
            </a:r>
            <a:r>
              <a:rPr lang="en-AU" b="0" i="0" dirty="0" smtClean="0">
                <a:solidFill>
                  <a:srgbClr val="444444"/>
                </a:solidFill>
                <a:effectLst/>
                <a:latin typeface="Arial" panose="020B0604020202020204" pitchFamily="34" charset="0"/>
              </a:rPr>
              <a:t> towards the detector according to their mass and their charge. </a:t>
            </a:r>
            <a:r>
              <a:rPr lang="en-AU" b="1" i="0" dirty="0" smtClean="0">
                <a:solidFill>
                  <a:srgbClr val="00A6D5"/>
                </a:solidFill>
                <a:effectLst/>
                <a:latin typeface="Arial" panose="020B0604020202020204" pitchFamily="34" charset="0"/>
              </a:rPr>
              <a:t>Lighter particles</a:t>
            </a:r>
            <a:r>
              <a:rPr lang="en-AU" b="0" i="0" dirty="0" smtClean="0">
                <a:solidFill>
                  <a:srgbClr val="444444"/>
                </a:solidFill>
                <a:effectLst/>
                <a:latin typeface="Arial" panose="020B0604020202020204" pitchFamily="34" charset="0"/>
              </a:rPr>
              <a:t> are deflected </a:t>
            </a:r>
            <a:r>
              <a:rPr lang="en-AU" b="1" i="0" dirty="0" smtClean="0">
                <a:solidFill>
                  <a:srgbClr val="00A6D5"/>
                </a:solidFill>
                <a:effectLst/>
                <a:latin typeface="Arial" panose="020B0604020202020204" pitchFamily="34" charset="0"/>
              </a:rPr>
              <a:t>more</a:t>
            </a:r>
            <a:r>
              <a:rPr lang="en-AU" b="0" i="0" dirty="0" smtClean="0">
                <a:solidFill>
                  <a:srgbClr val="444444"/>
                </a:solidFill>
                <a:effectLst/>
                <a:latin typeface="Arial" panose="020B0604020202020204" pitchFamily="34" charset="0"/>
              </a:rPr>
              <a:t> than heavier particles. Ions with two or more positive charges are deflected more than ions with one positive charge. You will likely only encounter ions with a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charge, but be aware that there can be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ions formed also.</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1821557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7100" y="1539439"/>
            <a:ext cx="10604500" cy="2031325"/>
          </a:xfrm>
          <a:prstGeom prst="rect">
            <a:avLst/>
          </a:prstGeom>
        </p:spPr>
        <p:txBody>
          <a:bodyPr wrap="square">
            <a:spAutoFit/>
          </a:bodyPr>
          <a:lstStyle/>
          <a:p>
            <a:pPr algn="ctr"/>
            <a:r>
              <a:rPr lang="en-AU" b="1" i="0" dirty="0" smtClean="0">
                <a:solidFill>
                  <a:srgbClr val="444444"/>
                </a:solidFill>
                <a:effectLst/>
                <a:latin typeface="KaTeX_Main"/>
              </a:rPr>
              <a:t>4</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Detection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As each ion hits the detector, an </a:t>
            </a:r>
            <a:r>
              <a:rPr lang="en-AU" b="1" i="0" dirty="0" smtClean="0">
                <a:solidFill>
                  <a:srgbClr val="0066CC"/>
                </a:solidFill>
                <a:effectLst/>
                <a:latin typeface="Arial" panose="020B0604020202020204" pitchFamily="34" charset="0"/>
              </a:rPr>
              <a:t>electrical current</a:t>
            </a:r>
            <a:r>
              <a:rPr lang="en-AU" b="0" i="0" dirty="0" smtClean="0">
                <a:solidFill>
                  <a:srgbClr val="444444"/>
                </a:solidFill>
                <a:effectLst/>
                <a:latin typeface="Arial" panose="020B0604020202020204" pitchFamily="34" charset="0"/>
              </a:rPr>
              <a:t> is produced. This information is sent to the processor which produces a </a:t>
            </a:r>
            <a:r>
              <a:rPr lang="en-AU" b="1" i="0" dirty="0" smtClean="0">
                <a:solidFill>
                  <a:srgbClr val="228B22"/>
                </a:solidFill>
                <a:effectLst/>
                <a:latin typeface="Arial" panose="020B0604020202020204" pitchFamily="34" charset="0"/>
              </a:rPr>
              <a:t>mass spectrum trace</a:t>
            </a:r>
            <a:r>
              <a:rPr lang="en-AU" b="0" i="0" dirty="0" smtClean="0">
                <a:solidFill>
                  <a:srgbClr val="444444"/>
                </a:solidFill>
                <a:effectLst/>
                <a:latin typeface="Arial" panose="020B0604020202020204" pitchFamily="34" charset="0"/>
              </a:rPr>
              <a:t> from the data.</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mass and charge on the ion are combined to form a </a:t>
            </a:r>
            <a:r>
              <a:rPr lang="en-AU" b="1" i="0" dirty="0" smtClean="0">
                <a:solidFill>
                  <a:srgbClr val="FB6611"/>
                </a:solidFill>
                <a:effectLst/>
                <a:latin typeface="Arial" panose="020B0604020202020204" pitchFamily="34" charset="0"/>
              </a:rPr>
              <a:t>mass/charge ratio</a:t>
            </a:r>
            <a:r>
              <a:rPr lang="en-AU" b="0" i="0" dirty="0" smtClean="0">
                <a:solidFill>
                  <a:srgbClr val="444444"/>
                </a:solidFill>
                <a:effectLst/>
                <a:latin typeface="Arial" panose="020B0604020202020204" pitchFamily="34" charset="0"/>
              </a:rPr>
              <a:t> (m/z or m/e). Ions that are the </a:t>
            </a:r>
            <a:r>
              <a:rPr lang="en-AU" b="1" i="0" dirty="0" smtClean="0">
                <a:solidFill>
                  <a:srgbClr val="7C0BAE"/>
                </a:solidFill>
                <a:effectLst/>
                <a:latin typeface="Arial" panose="020B0604020202020204" pitchFamily="34" charset="0"/>
              </a:rPr>
              <a:t>most deflected</a:t>
            </a:r>
            <a:r>
              <a:rPr lang="en-AU" b="0" i="0" dirty="0" smtClean="0">
                <a:solidFill>
                  <a:srgbClr val="444444"/>
                </a:solidFill>
                <a:effectLst/>
                <a:latin typeface="Arial" panose="020B0604020202020204" pitchFamily="34" charset="0"/>
              </a:rPr>
              <a:t> have the </a:t>
            </a:r>
            <a:r>
              <a:rPr lang="en-AU" b="1" i="0" dirty="0" smtClean="0">
                <a:solidFill>
                  <a:srgbClr val="7C0BAE"/>
                </a:solidFill>
                <a:effectLst/>
                <a:latin typeface="Arial" panose="020B0604020202020204" pitchFamily="34" charset="0"/>
              </a:rPr>
              <a:t>smallest mass/charge ratio.</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207673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0900" y="1407636"/>
            <a:ext cx="106426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Can you work out the structure of the compound whose mass spectrum is shown below? The empirical formula of the compound is </a:t>
            </a:r>
            <a:r>
              <a:rPr lang="en-AU" b="1" i="0" dirty="0" smtClean="0">
                <a:solidFill>
                  <a:srgbClr val="444444"/>
                </a:solidFill>
                <a:effectLst/>
                <a:latin typeface="KaTeX_Main"/>
              </a:rPr>
              <a:t>C</a:t>
            </a:r>
            <a:r>
              <a:rPr lang="en-AU" b="1" i="0" baseline="-25000" dirty="0" smtClean="0">
                <a:solidFill>
                  <a:srgbClr val="444444"/>
                </a:solidFill>
                <a:effectLst/>
                <a:latin typeface="KaTeX_Main"/>
              </a:rPr>
              <a:t>3</a:t>
            </a:r>
            <a:r>
              <a:rPr lang="en-AU" b="0" i="0" dirty="0" smtClean="0">
                <a:solidFill>
                  <a:srgbClr val="444444"/>
                </a:solidFill>
                <a:effectLst/>
                <a:latin typeface="KaTeX_Main"/>
              </a:rPr>
              <a:t>​</a:t>
            </a:r>
            <a:r>
              <a:rPr lang="en-AU" b="1" i="0" dirty="0" smtClean="0">
                <a:solidFill>
                  <a:srgbClr val="444444"/>
                </a:solidFill>
                <a:effectLst/>
                <a:latin typeface="KaTeX_Main"/>
              </a:rPr>
              <a:t>H</a:t>
            </a:r>
            <a:r>
              <a:rPr lang="en-AU" b="1" i="0" baseline="-25000" dirty="0" smtClean="0">
                <a:solidFill>
                  <a:srgbClr val="444444"/>
                </a:solidFill>
                <a:effectLst/>
                <a:latin typeface="KaTeX_Main"/>
              </a:rPr>
              <a:t>6</a:t>
            </a:r>
            <a:r>
              <a:rPr lang="en-AU" b="0" i="0" dirty="0" smtClean="0">
                <a:solidFill>
                  <a:srgbClr val="444444"/>
                </a:solidFill>
                <a:effectLst/>
                <a:latin typeface="KaTeX_Main"/>
              </a:rPr>
              <a:t>​</a:t>
            </a:r>
            <a:r>
              <a:rPr lang="en-AU" b="1" i="0" dirty="0" smtClean="0">
                <a:solidFill>
                  <a:srgbClr val="444444"/>
                </a:solidFill>
                <a:effectLst/>
                <a:latin typeface="KaTeX_Main"/>
              </a:rPr>
              <a:t>O</a:t>
            </a:r>
            <a:r>
              <a:rPr lang="en-AU" b="1" i="0" baseline="-25000" dirty="0" smtClean="0">
                <a:solidFill>
                  <a:srgbClr val="444444"/>
                </a:solidFill>
                <a:effectLst/>
                <a:latin typeface="KaTeX_Main"/>
              </a:rPr>
              <a:t>2</a:t>
            </a:r>
            <a:r>
              <a:rPr lang="en-AU" b="0" i="0" baseline="-2500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a:t>
            </a:r>
            <a:endParaRPr lang="en-AU" dirty="0"/>
          </a:p>
        </p:txBody>
      </p:sp>
      <p:pic>
        <p:nvPicPr>
          <p:cNvPr id="10242" name="Picture 2" descr="https://www.educationperfect.com/media/content/Science/1477623921.245721g/1477623927284-189344646039430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8450" y="2405062"/>
            <a:ext cx="6667500" cy="4229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101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1264841"/>
            <a:ext cx="11798300" cy="2308324"/>
          </a:xfrm>
          <a:prstGeom prst="rect">
            <a:avLst/>
          </a:prstGeom>
        </p:spPr>
        <p:txBody>
          <a:bodyPr wrap="square">
            <a:spAutoFit/>
          </a:bodyPr>
          <a:lstStyle/>
          <a:p>
            <a:pPr algn="ctr"/>
            <a:r>
              <a:rPr lang="en-AU" b="1" i="0" dirty="0" smtClean="0">
                <a:solidFill>
                  <a:srgbClr val="444444"/>
                </a:solidFill>
                <a:effectLst/>
                <a:latin typeface="KaTeX_Main"/>
              </a:rPr>
              <a:t>C</a:t>
            </a:r>
            <a:r>
              <a:rPr lang="en-AU" b="1" i="0" baseline="-25000" dirty="0" smtClean="0">
                <a:solidFill>
                  <a:srgbClr val="444444"/>
                </a:solidFill>
                <a:effectLst/>
                <a:latin typeface="KaTeX_Main"/>
              </a:rPr>
              <a:t>3</a:t>
            </a:r>
            <a:r>
              <a:rPr lang="en-AU" b="0" i="0" dirty="0" smtClean="0">
                <a:solidFill>
                  <a:srgbClr val="444444"/>
                </a:solidFill>
                <a:effectLst/>
                <a:latin typeface="KaTeX_Main"/>
              </a:rPr>
              <a:t>​</a:t>
            </a:r>
            <a:r>
              <a:rPr lang="en-AU" b="1" i="0" dirty="0" smtClean="0">
                <a:solidFill>
                  <a:srgbClr val="444444"/>
                </a:solidFill>
                <a:effectLst/>
                <a:latin typeface="KaTeX_Main"/>
              </a:rPr>
              <a:t>H</a:t>
            </a:r>
            <a:r>
              <a:rPr lang="en-AU" b="1" i="0" baseline="-25000" dirty="0" smtClean="0">
                <a:solidFill>
                  <a:srgbClr val="444444"/>
                </a:solidFill>
                <a:effectLst/>
                <a:latin typeface="KaTeX_Main"/>
              </a:rPr>
              <a:t>6</a:t>
            </a:r>
            <a:r>
              <a:rPr lang="en-AU" b="0" i="0" dirty="0" smtClean="0">
                <a:solidFill>
                  <a:srgbClr val="444444"/>
                </a:solidFill>
                <a:effectLst/>
                <a:latin typeface="KaTeX_Main"/>
              </a:rPr>
              <a:t>​</a:t>
            </a:r>
            <a:r>
              <a:rPr lang="en-AU" b="1" i="0" dirty="0" smtClean="0">
                <a:solidFill>
                  <a:srgbClr val="444444"/>
                </a:solidFill>
                <a:effectLst/>
                <a:latin typeface="KaTeX_Main"/>
              </a:rPr>
              <a:t>O</a:t>
            </a:r>
            <a:r>
              <a:rPr lang="en-AU" b="1" i="0" baseline="-25000" dirty="0" smtClean="0">
                <a:solidFill>
                  <a:srgbClr val="444444"/>
                </a:solidFill>
                <a:effectLst/>
                <a:latin typeface="KaTeX_Main"/>
              </a:rPr>
              <a:t>2</a:t>
            </a:r>
            <a:r>
              <a:rPr lang="en-AU" b="0" i="0" baseline="-25000" dirty="0" smtClean="0">
                <a:solidFill>
                  <a:srgbClr val="444444"/>
                </a:solidFill>
                <a:effectLst/>
                <a:latin typeface="KaTeX_Main"/>
              </a:rPr>
              <a:t>​</a:t>
            </a:r>
            <a:endParaRPr lang="en-AU" b="0" i="0" baseline="-2500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first step is to determine the molecular formula by comparing the empirical formula to the mass/charge of the molecular ion.</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molecular ion has </a:t>
            </a:r>
            <a:r>
              <a:rPr lang="en-AU" b="0" i="0" dirty="0" smtClean="0">
                <a:solidFill>
                  <a:srgbClr val="444444"/>
                </a:solidFill>
                <a:effectLst/>
                <a:latin typeface="KaTeX_Main"/>
              </a:rPr>
              <a:t>m/z=74</a:t>
            </a:r>
            <a:r>
              <a:rPr lang="en-AU" b="0" i="0" dirty="0" smtClean="0">
                <a:solidFill>
                  <a:srgbClr val="444444"/>
                </a:solidFill>
                <a:effectLst/>
                <a:latin typeface="Arial" panose="020B0604020202020204" pitchFamily="34" charset="0"/>
              </a:rPr>
              <a:t>. The molar mass of </a:t>
            </a:r>
            <a:r>
              <a:rPr lang="en-AU" b="0" i="0" dirty="0" smtClean="0">
                <a:solidFill>
                  <a:srgbClr val="444444"/>
                </a:solidFill>
                <a:effectLst/>
                <a:latin typeface="KaTeX_Main"/>
              </a:rPr>
              <a:t>C</a:t>
            </a:r>
            <a:r>
              <a:rPr lang="en-AU" b="0" i="0" baseline="-25000" dirty="0" smtClean="0">
                <a:solidFill>
                  <a:srgbClr val="444444"/>
                </a:solidFill>
                <a:effectLst/>
                <a:latin typeface="KaTeX_Main"/>
              </a:rPr>
              <a:t>3</a:t>
            </a:r>
            <a:r>
              <a:rPr lang="en-AU" b="0" i="0" dirty="0" smtClean="0">
                <a:solidFill>
                  <a:srgbClr val="444444"/>
                </a:solidFill>
                <a:effectLst/>
                <a:latin typeface="KaTeX_Main"/>
              </a:rPr>
              <a:t>​H</a:t>
            </a:r>
            <a:r>
              <a:rPr lang="en-AU" b="0" i="0" baseline="-25000" dirty="0" smtClean="0">
                <a:solidFill>
                  <a:srgbClr val="444444"/>
                </a:solidFill>
                <a:effectLst/>
                <a:latin typeface="KaTeX_Main"/>
              </a:rPr>
              <a:t>6​</a:t>
            </a:r>
            <a:r>
              <a:rPr lang="en-AU" b="0" i="0" dirty="0" smtClean="0">
                <a:solidFill>
                  <a:srgbClr val="444444"/>
                </a:solidFill>
                <a:effectLst/>
                <a:latin typeface="KaTeX_Main"/>
              </a:rPr>
              <a:t>O</a:t>
            </a:r>
            <a:r>
              <a:rPr lang="en-AU" b="0" i="0" baseline="-2500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is </a:t>
            </a:r>
            <a:r>
              <a:rPr lang="en-AU" b="0" i="0" dirty="0" smtClean="0">
                <a:solidFill>
                  <a:srgbClr val="444444"/>
                </a:solidFill>
                <a:effectLst/>
                <a:latin typeface="KaTeX_Main"/>
              </a:rPr>
              <a:t>74</a:t>
            </a:r>
            <a:r>
              <a:rPr lang="en-AU" b="0" i="0" dirty="0" smtClean="0">
                <a:solidFill>
                  <a:srgbClr val="444444"/>
                </a:solidFill>
                <a:effectLst/>
                <a:latin typeface="Arial" panose="020B0604020202020204" pitchFamily="34" charset="0"/>
              </a:rPr>
              <a:t>. Therefore the molecular formula is the same as the empirical formula.</a:t>
            </a:r>
          </a:p>
          <a:p>
            <a:pPr algn="ct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454754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3600" y="405537"/>
            <a:ext cx="10198100" cy="1200329"/>
          </a:xfrm>
          <a:prstGeom prst="rect">
            <a:avLst/>
          </a:prstGeom>
        </p:spPr>
        <p:txBody>
          <a:bodyPr wrap="square">
            <a:spAutoFit/>
          </a:bodyPr>
          <a:lstStyle/>
          <a:p>
            <a:pPr algn="ctr"/>
            <a:r>
              <a:rPr lang="en-AU" b="1" i="0" dirty="0" smtClean="0">
                <a:solidFill>
                  <a:srgbClr val="444444"/>
                </a:solidFill>
                <a:effectLst/>
                <a:latin typeface="KaTeX_Main"/>
              </a:rPr>
              <a:t>C</a:t>
            </a:r>
            <a:r>
              <a:rPr lang="en-AU" b="1" i="0" baseline="-25000" dirty="0" smtClean="0">
                <a:solidFill>
                  <a:srgbClr val="444444"/>
                </a:solidFill>
                <a:effectLst/>
                <a:latin typeface="KaTeX_Main"/>
              </a:rPr>
              <a:t>3</a:t>
            </a:r>
            <a:r>
              <a:rPr lang="en-AU" b="0" i="0" baseline="-25000" dirty="0" smtClean="0">
                <a:solidFill>
                  <a:srgbClr val="444444"/>
                </a:solidFill>
                <a:effectLst/>
                <a:latin typeface="KaTeX_Main"/>
              </a:rPr>
              <a:t>​</a:t>
            </a:r>
            <a:r>
              <a:rPr lang="en-AU" b="1" i="0" dirty="0" smtClean="0">
                <a:solidFill>
                  <a:srgbClr val="444444"/>
                </a:solidFill>
                <a:effectLst/>
                <a:latin typeface="KaTeX_Main"/>
              </a:rPr>
              <a:t>H</a:t>
            </a:r>
            <a:r>
              <a:rPr lang="en-AU" b="1" i="0" baseline="-25000" dirty="0" smtClean="0">
                <a:solidFill>
                  <a:srgbClr val="444444"/>
                </a:solidFill>
                <a:effectLst/>
                <a:latin typeface="KaTeX_Main"/>
              </a:rPr>
              <a:t>6</a:t>
            </a:r>
            <a:r>
              <a:rPr lang="en-AU" b="0" i="0" dirty="0" smtClean="0">
                <a:solidFill>
                  <a:srgbClr val="444444"/>
                </a:solidFill>
                <a:effectLst/>
                <a:latin typeface="KaTeX_Main"/>
              </a:rPr>
              <a:t>​</a:t>
            </a:r>
            <a:r>
              <a:rPr lang="en-AU" b="1" i="0" dirty="0" smtClean="0">
                <a:solidFill>
                  <a:srgbClr val="444444"/>
                </a:solidFill>
                <a:effectLst/>
                <a:latin typeface="KaTeX_Main"/>
              </a:rPr>
              <a:t>O</a:t>
            </a:r>
            <a:r>
              <a:rPr lang="en-AU" b="1" i="0" baseline="-25000" dirty="0" smtClean="0">
                <a:solidFill>
                  <a:srgbClr val="444444"/>
                </a:solidFill>
                <a:effectLst/>
                <a:latin typeface="KaTeX_Main"/>
              </a:rPr>
              <a:t>2</a:t>
            </a:r>
            <a:r>
              <a:rPr lang="en-AU" b="0" i="0" baseline="-25000" dirty="0" smtClean="0">
                <a:solidFill>
                  <a:srgbClr val="444444"/>
                </a:solidFill>
                <a:effectLst/>
                <a:latin typeface="KaTeX_Main"/>
              </a:rPr>
              <a:t>​</a:t>
            </a:r>
            <a:endParaRPr lang="en-AU" b="0" i="0" baseline="-2500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Next, write down the mass of all the peaks you can see on the graph. Then, calculate the mass lost from each fragment compared to the mass of the parent ion.</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975099" y="2444750"/>
            <a:ext cx="3793197" cy="3625850"/>
          </a:xfrm>
          <a:prstGeom prst="rect">
            <a:avLst/>
          </a:prstGeom>
        </p:spPr>
      </p:pic>
    </p:spTree>
    <p:extLst>
      <p:ext uri="{BB962C8B-B14F-4D97-AF65-F5344CB8AC3E}">
        <p14:creationId xmlns:p14="http://schemas.microsoft.com/office/powerpoint/2010/main" val="3994238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8400" y="972235"/>
            <a:ext cx="101346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structure that is consistent with this fragmentation pattern is </a:t>
            </a:r>
            <a:r>
              <a:rPr lang="en-AU" b="0" i="0" dirty="0" err="1" smtClean="0">
                <a:solidFill>
                  <a:srgbClr val="444444"/>
                </a:solidFill>
                <a:effectLst/>
                <a:latin typeface="Arial" panose="020B0604020202020204" pitchFamily="34" charset="0"/>
              </a:rPr>
              <a:t>propanoic</a:t>
            </a:r>
            <a:r>
              <a:rPr lang="en-AU" b="0" i="0" dirty="0" smtClean="0">
                <a:solidFill>
                  <a:srgbClr val="444444"/>
                </a:solidFill>
                <a:effectLst/>
                <a:latin typeface="Arial" panose="020B0604020202020204" pitchFamily="34" charset="0"/>
              </a:rPr>
              <a:t> acid:</a:t>
            </a:r>
            <a:endParaRPr lang="en-AU" dirty="0"/>
          </a:p>
        </p:txBody>
      </p:sp>
      <p:pic>
        <p:nvPicPr>
          <p:cNvPr id="11266" name="Picture 2" descr="https://www.educationperfect.com/media/content/Science/1436328244.322451g/1436328209865-247839079-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5" y="2438400"/>
            <a:ext cx="2781300"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3995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175</Words>
  <Application>Microsoft Office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KaTeX_Main</vt:lpstr>
      <vt:lpstr>KaTeX_Size1</vt:lpstr>
      <vt:lpstr>var(--HSDSGlobalFontFamily)</vt:lpstr>
      <vt:lpstr>Office Theme</vt:lpstr>
      <vt:lpstr>Mass Spectrometry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 Spectrometry</dc:title>
  <dc:creator>Joseph D'cruz</dc:creator>
  <cp:lastModifiedBy>Joseph D'cruz</cp:lastModifiedBy>
  <cp:revision>2</cp:revision>
  <dcterms:created xsi:type="dcterms:W3CDTF">2021-12-19T06:20:46Z</dcterms:created>
  <dcterms:modified xsi:type="dcterms:W3CDTF">2021-12-19T06:28:39Z</dcterms:modified>
</cp:coreProperties>
</file>
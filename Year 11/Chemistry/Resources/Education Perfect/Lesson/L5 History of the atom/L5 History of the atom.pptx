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7" r:id="rId4"/>
    <p:sldId id="258" r:id="rId5"/>
    <p:sldId id="259" r:id="rId6"/>
    <p:sldId id="260" r:id="rId7"/>
    <p:sldId id="261" r:id="rId8"/>
    <p:sldId id="263" r:id="rId9"/>
    <p:sldId id="274" r:id="rId10"/>
    <p:sldId id="275" r:id="rId11"/>
    <p:sldId id="262" r:id="rId12"/>
    <p:sldId id="276" r:id="rId13"/>
    <p:sldId id="277" r:id="rId14"/>
    <p:sldId id="278" r:id="rId15"/>
    <p:sldId id="279" r:id="rId16"/>
    <p:sldId id="280" r:id="rId17"/>
    <p:sldId id="264" r:id="rId18"/>
    <p:sldId id="265" r:id="rId19"/>
    <p:sldId id="266" r:id="rId20"/>
    <p:sldId id="267" r:id="rId21"/>
    <p:sldId id="268" r:id="rId22"/>
    <p:sldId id="269"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B55396E-671A-485D-B06B-387FB88A0040}"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318658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B55396E-671A-485D-B06B-387FB88A0040}"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1190229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B55396E-671A-485D-B06B-387FB88A0040}"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4901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B55396E-671A-485D-B06B-387FB88A0040}"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36181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B55396E-671A-485D-B06B-387FB88A0040}" type="datetimeFigureOut">
              <a:rPr lang="en-AU" smtClean="0"/>
              <a:t>18/12/2021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3583650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B55396E-671A-485D-B06B-387FB88A0040}" type="datetimeFigureOut">
              <a:rPr lang="en-AU" smtClean="0"/>
              <a:t>18/12/2021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344605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55396E-671A-485D-B06B-387FB88A0040}" type="datetimeFigureOut">
              <a:rPr lang="en-AU" smtClean="0"/>
              <a:t>18/12/2021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654645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B55396E-671A-485D-B06B-387FB88A0040}"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2137188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B55396E-671A-485D-B06B-387FB88A0040}"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1931606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B55396E-671A-485D-B06B-387FB88A0040}"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1261123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B55396E-671A-485D-B06B-387FB88A0040}"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A659A23-3956-4588-A637-3DB366C6E687}" type="slidenum">
              <a:rPr lang="en-AU" smtClean="0"/>
              <a:t>‹#›</a:t>
            </a:fld>
            <a:endParaRPr lang="en-AU"/>
          </a:p>
        </p:txBody>
      </p:sp>
    </p:spTree>
    <p:extLst>
      <p:ext uri="{BB962C8B-B14F-4D97-AF65-F5344CB8AC3E}">
        <p14:creationId xmlns:p14="http://schemas.microsoft.com/office/powerpoint/2010/main" val="3882668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55396E-671A-485D-B06B-387FB88A0040}" type="datetimeFigureOut">
              <a:rPr lang="en-AU" smtClean="0"/>
              <a:t>18/12/2021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59A23-3956-4588-A637-3DB366C6E687}" type="slidenum">
              <a:rPr lang="en-AU" smtClean="0"/>
              <a:t>‹#›</a:t>
            </a:fld>
            <a:endParaRPr lang="en-AU"/>
          </a:p>
        </p:txBody>
      </p:sp>
    </p:spTree>
    <p:extLst>
      <p:ext uri="{BB962C8B-B14F-4D97-AF65-F5344CB8AC3E}">
        <p14:creationId xmlns:p14="http://schemas.microsoft.com/office/powerpoint/2010/main" val="1822776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J._J._Thomson" TargetMode="External"/><Relationship Id="rId2" Type="http://schemas.openxmlformats.org/officeDocument/2006/relationships/hyperlink" Target="https://en.wikipedia.org/wiki/John_Dalton" TargetMode="Externa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hyperlink" Target="https://en.wikipedia.org/wiki/Niels_Bohr" TargetMode="External"/><Relationship Id="rId4" Type="http://schemas.openxmlformats.org/officeDocument/2006/relationships/hyperlink" Target="https://en.wikipedia.org/wiki/Ernest_Rutherford"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video" Target="https://www.youtube.com/embed/NSAgLvKOPLQ"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7.xml"/><Relationship Id="rId1" Type="http://schemas.openxmlformats.org/officeDocument/2006/relationships/video" Target="https://www.youtube.com/embed/IdTxGJjA4Jw"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History of the atom</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870871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076236"/>
            <a:ext cx="114554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We now know that everything around us is made up of tiny particles called </a:t>
            </a:r>
            <a:r>
              <a:rPr lang="en-AU" b="1" i="0" dirty="0" smtClean="0">
                <a:solidFill>
                  <a:srgbClr val="E04E50"/>
                </a:solidFill>
                <a:effectLst/>
                <a:latin typeface="Arial" panose="020B0604020202020204" pitchFamily="34" charset="0"/>
              </a:rPr>
              <a:t>atoms.</a:t>
            </a:r>
            <a:r>
              <a:rPr lang="en-AU" b="0" i="0" dirty="0" smtClean="0">
                <a:solidFill>
                  <a:srgbClr val="444444"/>
                </a:solidFill>
                <a:effectLst/>
                <a:latin typeface="Arial" panose="020B0604020202020204" pitchFamily="34" charset="0"/>
              </a:rPr>
              <a:t> But if atoms are so small that we cannot see them, </a:t>
            </a:r>
            <a:r>
              <a:rPr lang="en-AU" b="1" i="0" dirty="0" smtClean="0">
                <a:solidFill>
                  <a:srgbClr val="0066CC"/>
                </a:solidFill>
                <a:effectLst/>
                <a:latin typeface="Arial" panose="020B0604020202020204" pitchFamily="34" charset="0"/>
              </a:rPr>
              <a:t>how do we know</a:t>
            </a:r>
            <a:r>
              <a:rPr lang="en-AU" b="0" i="0" dirty="0" smtClean="0">
                <a:solidFill>
                  <a:srgbClr val="444444"/>
                </a:solidFill>
                <a:effectLst/>
                <a:latin typeface="Arial" panose="020B0604020202020204" pitchFamily="34" charset="0"/>
              </a:rPr>
              <a:t> so much about them?</a:t>
            </a:r>
            <a:endParaRPr lang="en-AU" dirty="0"/>
          </a:p>
        </p:txBody>
      </p:sp>
      <p:pic>
        <p:nvPicPr>
          <p:cNvPr id="1026" name="Picture 2" descr="https://www.educationperfect.com/Images/Content/Science/1372651468777-7866392-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75" y="2082800"/>
            <a:ext cx="2543175"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58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6500" y="1044139"/>
            <a:ext cx="102489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Before we understood very much at all about atoms, </a:t>
            </a:r>
            <a:r>
              <a:rPr lang="en-AU" b="0" i="0" u="none" strike="noStrike" dirty="0" smtClean="0">
                <a:solidFill>
                  <a:srgbClr val="0780B0"/>
                </a:solidFill>
                <a:effectLst/>
                <a:latin typeface="Arial" panose="020B0604020202020204" pitchFamily="34" charset="0"/>
                <a:hlinkClick r:id="rId2"/>
              </a:rPr>
              <a:t>some</a:t>
            </a:r>
            <a:r>
              <a:rPr lang="en-AU" b="0" i="0" dirty="0" smtClean="0">
                <a:solidFill>
                  <a:srgbClr val="444444"/>
                </a:solidFill>
                <a:effectLst/>
                <a:latin typeface="Arial" panose="020B0604020202020204" pitchFamily="34" charset="0"/>
              </a:rPr>
              <a:t> </a:t>
            </a:r>
            <a:r>
              <a:rPr lang="en-AU" b="0" i="0" u="none" strike="noStrike" dirty="0" smtClean="0">
                <a:solidFill>
                  <a:srgbClr val="0780B0"/>
                </a:solidFill>
                <a:effectLst/>
                <a:latin typeface="Arial" panose="020B0604020202020204" pitchFamily="34" charset="0"/>
                <a:hlinkClick r:id="rId3"/>
              </a:rPr>
              <a:t>very</a:t>
            </a:r>
            <a:r>
              <a:rPr lang="en-AU" b="0" i="0" dirty="0" smtClean="0">
                <a:solidFill>
                  <a:srgbClr val="444444"/>
                </a:solidFill>
                <a:effectLst/>
                <a:latin typeface="Arial" panose="020B0604020202020204" pitchFamily="34" charset="0"/>
              </a:rPr>
              <a:t> </a:t>
            </a:r>
            <a:r>
              <a:rPr lang="en-AU" b="0" i="0" u="none" strike="noStrike" dirty="0" smtClean="0">
                <a:solidFill>
                  <a:srgbClr val="0780B0"/>
                </a:solidFill>
                <a:effectLst/>
                <a:latin typeface="Arial" panose="020B0604020202020204" pitchFamily="34" charset="0"/>
                <a:hlinkClick r:id="rId4"/>
              </a:rPr>
              <a:t>clever</a:t>
            </a:r>
            <a:r>
              <a:rPr lang="en-AU" b="0" i="0" dirty="0" smtClean="0">
                <a:solidFill>
                  <a:srgbClr val="444444"/>
                </a:solidFill>
                <a:effectLst/>
                <a:latin typeface="Arial" panose="020B0604020202020204" pitchFamily="34" charset="0"/>
              </a:rPr>
              <a:t> </a:t>
            </a:r>
            <a:r>
              <a:rPr lang="en-AU" b="0" i="0" u="none" strike="noStrike" dirty="0" smtClean="0">
                <a:solidFill>
                  <a:srgbClr val="0780B0"/>
                </a:solidFill>
                <a:effectLst/>
                <a:latin typeface="Arial" panose="020B0604020202020204" pitchFamily="34" charset="0"/>
                <a:hlinkClick r:id="rId5"/>
              </a:rPr>
              <a:t>scientists</a:t>
            </a:r>
            <a:r>
              <a:rPr lang="en-AU" b="0" i="0" dirty="0" smtClean="0">
                <a:solidFill>
                  <a:srgbClr val="444444"/>
                </a:solidFill>
                <a:effectLst/>
                <a:latin typeface="Arial" panose="020B0604020202020204" pitchFamily="34" charset="0"/>
              </a:rPr>
              <a:t> came up with different </a:t>
            </a:r>
            <a:r>
              <a:rPr lang="en-AU" b="1" i="0" dirty="0" smtClean="0">
                <a:solidFill>
                  <a:srgbClr val="E04E50"/>
                </a:solidFill>
                <a:effectLst/>
                <a:latin typeface="Arial" panose="020B0604020202020204" pitchFamily="34" charset="0"/>
              </a:rPr>
              <a:t>models</a:t>
            </a:r>
            <a:r>
              <a:rPr lang="en-AU" b="0" i="0" dirty="0" smtClean="0">
                <a:solidFill>
                  <a:srgbClr val="444444"/>
                </a:solidFill>
                <a:effectLst/>
                <a:latin typeface="Arial" panose="020B0604020202020204" pitchFamily="34" charset="0"/>
              </a:rPr>
              <a:t> to describe their structure and behaviour.</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 model is a </a:t>
            </a:r>
            <a:r>
              <a:rPr lang="en-AU" b="1" i="0" dirty="0" smtClean="0">
                <a:solidFill>
                  <a:srgbClr val="228B22"/>
                </a:solidFill>
                <a:effectLst/>
                <a:latin typeface="Arial" panose="020B0604020202020204" pitchFamily="34" charset="0"/>
              </a:rPr>
              <a:t>representation</a:t>
            </a:r>
            <a:r>
              <a:rPr lang="en-AU" b="0" i="0" dirty="0" smtClean="0">
                <a:solidFill>
                  <a:srgbClr val="444444"/>
                </a:solidFill>
                <a:effectLst/>
                <a:latin typeface="Arial" panose="020B0604020202020204" pitchFamily="34" charset="0"/>
              </a:rPr>
              <a:t> of a system that can help us to understand it. In this Smart Lesson, you will learn all about the different models, and the experiments conducted, that led to our current understanding of atomic structure.</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6"/>
          <a:stretch>
            <a:fillRect/>
          </a:stretch>
        </p:blipFill>
        <p:spPr>
          <a:xfrm>
            <a:off x="1479104" y="3573165"/>
            <a:ext cx="9976296" cy="2383135"/>
          </a:xfrm>
          <a:prstGeom prst="rect">
            <a:avLst/>
          </a:prstGeom>
        </p:spPr>
      </p:pic>
    </p:spTree>
    <p:extLst>
      <p:ext uri="{BB962C8B-B14F-4D97-AF65-F5344CB8AC3E}">
        <p14:creationId xmlns:p14="http://schemas.microsoft.com/office/powerpoint/2010/main" val="1100179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701239"/>
            <a:ext cx="107188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Most of these scientists </a:t>
            </a:r>
            <a:r>
              <a:rPr lang="en-AU" b="1" i="0" dirty="0" smtClean="0">
                <a:solidFill>
                  <a:srgbClr val="E04E50"/>
                </a:solidFill>
                <a:effectLst/>
                <a:latin typeface="Arial" panose="020B0604020202020204" pitchFamily="34" charset="0"/>
              </a:rPr>
              <a:t>built on each others' ideas</a:t>
            </a:r>
            <a:r>
              <a:rPr lang="en-AU" b="0" i="0" dirty="0" smtClean="0">
                <a:solidFill>
                  <a:srgbClr val="444444"/>
                </a:solidFill>
                <a:effectLst/>
                <a:latin typeface="Arial" panose="020B0604020202020204" pitchFamily="34" charset="0"/>
              </a:rPr>
              <a:t> to develop their models. In science, ideas are </a:t>
            </a:r>
            <a:r>
              <a:rPr lang="en-AU" b="1" i="0" dirty="0" smtClean="0">
                <a:solidFill>
                  <a:srgbClr val="0066CC"/>
                </a:solidFill>
                <a:effectLst/>
                <a:latin typeface="Arial" panose="020B0604020202020204" pitchFamily="34" charset="0"/>
              </a:rPr>
              <a:t>continually developing.</a:t>
            </a:r>
            <a:r>
              <a:rPr lang="en-AU" b="0" i="0" dirty="0" smtClean="0">
                <a:solidFill>
                  <a:srgbClr val="444444"/>
                </a:solidFill>
                <a:effectLst/>
                <a:latin typeface="Arial" panose="020B0604020202020204" pitchFamily="34" charset="0"/>
              </a:rPr>
              <a:t> We can never claim to know everything about the world we live in, which is why there are still so many scientists around today.</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Our current model of the atom will likely prove to be incorrect when new scientific discoveries are made - </a:t>
            </a:r>
            <a:r>
              <a:rPr lang="en-AU" b="1" i="0" dirty="0" smtClean="0">
                <a:solidFill>
                  <a:srgbClr val="228B22"/>
                </a:solidFill>
                <a:effectLst/>
                <a:latin typeface="Arial" panose="020B0604020202020204" pitchFamily="34" charset="0"/>
              </a:rPr>
              <a:t>maybe they will be made by you!</a:t>
            </a:r>
            <a:endParaRPr lang="en-AU" b="0" i="0" dirty="0">
              <a:solidFill>
                <a:srgbClr val="444444"/>
              </a:solidFill>
              <a:effectLst/>
              <a:latin typeface="Arial" panose="020B0604020202020204" pitchFamily="34" charset="0"/>
            </a:endParaRPr>
          </a:p>
        </p:txBody>
      </p:sp>
      <p:pic>
        <p:nvPicPr>
          <p:cNvPr id="2050" name="Picture 2" descr="https://www.educationperfect.com/media/content/Science/1436918965.843651g/1436918921674-1611366723-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695700"/>
            <a:ext cx="38100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168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1010841"/>
            <a:ext cx="110490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idea of </a:t>
            </a:r>
            <a:r>
              <a:rPr lang="en-AU" b="1" i="0" dirty="0" smtClean="0">
                <a:solidFill>
                  <a:srgbClr val="444444"/>
                </a:solidFill>
                <a:effectLst/>
                <a:latin typeface="Arial" panose="020B0604020202020204" pitchFamily="34" charset="0"/>
              </a:rPr>
              <a:t>atoms</a:t>
            </a:r>
            <a:r>
              <a:rPr lang="en-AU" b="0" i="0" dirty="0" smtClean="0">
                <a:solidFill>
                  <a:srgbClr val="444444"/>
                </a:solidFill>
                <a:effectLst/>
                <a:latin typeface="Arial" panose="020B0604020202020204" pitchFamily="34" charset="0"/>
              </a:rPr>
              <a:t> was first proposed by </a:t>
            </a:r>
            <a:r>
              <a:rPr lang="en-AU" b="1" i="0" dirty="0" smtClean="0">
                <a:solidFill>
                  <a:srgbClr val="228B22"/>
                </a:solidFill>
                <a:effectLst/>
                <a:latin typeface="Arial" panose="020B0604020202020204" pitchFamily="34" charset="0"/>
              </a:rPr>
              <a:t>Democritus,</a:t>
            </a:r>
            <a:r>
              <a:rPr lang="en-AU" b="0" i="0" dirty="0" smtClean="0">
                <a:solidFill>
                  <a:srgbClr val="444444"/>
                </a:solidFill>
                <a:effectLst/>
                <a:latin typeface="Arial" panose="020B0604020202020204" pitchFamily="34" charset="0"/>
              </a:rPr>
              <a:t> a Greek philosopher, in </a:t>
            </a:r>
            <a:r>
              <a:rPr lang="en-AU" b="1" i="0" dirty="0" smtClean="0">
                <a:solidFill>
                  <a:srgbClr val="444444"/>
                </a:solidFill>
                <a:effectLst/>
                <a:latin typeface="KaTeX_Main"/>
              </a:rPr>
              <a:t>460BC</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Democritus thought that atoms were </a:t>
            </a:r>
            <a:r>
              <a:rPr lang="en-AU" b="1" i="0" dirty="0" smtClean="0">
                <a:solidFill>
                  <a:srgbClr val="0066CC"/>
                </a:solidFill>
                <a:effectLst/>
                <a:latin typeface="Arial" panose="020B0604020202020204" pitchFamily="34" charset="0"/>
              </a:rPr>
              <a:t>tiny, solid spheres</a:t>
            </a:r>
            <a:r>
              <a:rPr lang="en-AU" b="0" i="0" dirty="0" smtClean="0">
                <a:solidFill>
                  <a:srgbClr val="444444"/>
                </a:solidFill>
                <a:effectLst/>
                <a:latin typeface="Arial" panose="020B0604020202020204" pitchFamily="34" charset="0"/>
              </a:rPr>
              <a:t> with </a:t>
            </a:r>
            <a:r>
              <a:rPr lang="en-AU" b="1" i="0" dirty="0" smtClean="0">
                <a:solidFill>
                  <a:srgbClr val="444444"/>
                </a:solidFill>
                <a:effectLst/>
                <a:latin typeface="Arial" panose="020B0604020202020204" pitchFamily="34" charset="0"/>
              </a:rPr>
              <a:t>no smaller particles within them.</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He </a:t>
            </a:r>
            <a:r>
              <a:rPr lang="en-AU" b="1" i="0" dirty="0" smtClean="0">
                <a:solidFill>
                  <a:srgbClr val="444444"/>
                </a:solidFill>
                <a:effectLst/>
                <a:latin typeface="Arial" panose="020B0604020202020204" pitchFamily="34" charset="0"/>
              </a:rPr>
              <a:t>correctly predicted</a:t>
            </a:r>
            <a:r>
              <a:rPr lang="en-AU" b="0" i="0" dirty="0" smtClean="0">
                <a:solidFill>
                  <a:srgbClr val="444444"/>
                </a:solidFill>
                <a:effectLst/>
                <a:latin typeface="Arial" panose="020B0604020202020204" pitchFamily="34" charset="0"/>
              </a:rPr>
              <a:t> that atoms </a:t>
            </a:r>
            <a:r>
              <a:rPr lang="en-AU" b="1" i="0" dirty="0" smtClean="0">
                <a:solidFill>
                  <a:srgbClr val="E04E50"/>
                </a:solidFill>
                <a:effectLst/>
                <a:latin typeface="Arial" panose="020B0604020202020204" pitchFamily="34" charset="0"/>
              </a:rPr>
              <a:t>could not be destroyed</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Because atoms are far too small to be seen, his ideas were dismissed and ignored for more than </a:t>
            </a:r>
            <a:r>
              <a:rPr lang="en-AU" b="0" i="0" dirty="0" smtClean="0">
                <a:solidFill>
                  <a:srgbClr val="444444"/>
                </a:solidFill>
                <a:effectLst/>
                <a:latin typeface="KaTeX_Main"/>
              </a:rPr>
              <a:t>2000</a:t>
            </a:r>
            <a:r>
              <a:rPr lang="en-AU" b="0" i="0" dirty="0" smtClean="0">
                <a:solidFill>
                  <a:srgbClr val="444444"/>
                </a:solidFill>
                <a:effectLst/>
                <a:latin typeface="Arial" panose="020B0604020202020204" pitchFamily="34" charset="0"/>
              </a:rPr>
              <a:t> years.</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440635546.934811g/1440635545589-55045894-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0" y="4148137"/>
            <a:ext cx="1905000" cy="1895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214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50436"/>
            <a:ext cx="11150600" cy="923330"/>
          </a:xfrm>
          <a:prstGeom prst="rect">
            <a:avLst/>
          </a:prstGeom>
        </p:spPr>
        <p:txBody>
          <a:bodyPr wrap="square">
            <a:spAutoFit/>
          </a:bodyPr>
          <a:lstStyle/>
          <a:p>
            <a:r>
              <a:rPr lang="en-AU" b="1" i="0" dirty="0" smtClean="0">
                <a:solidFill>
                  <a:srgbClr val="0066CC"/>
                </a:solidFill>
                <a:effectLst/>
                <a:latin typeface="Arial" panose="020B0604020202020204" pitchFamily="34" charset="0"/>
              </a:rPr>
              <a:t>John Dalton</a:t>
            </a:r>
            <a:r>
              <a:rPr lang="en-AU" b="0" i="0" dirty="0" smtClean="0">
                <a:solidFill>
                  <a:srgbClr val="444444"/>
                </a:solidFill>
                <a:effectLst/>
                <a:latin typeface="Arial" panose="020B0604020202020204" pitchFamily="34" charset="0"/>
              </a:rPr>
              <a:t> came up with the </a:t>
            </a:r>
            <a:r>
              <a:rPr lang="en-AU" b="1" i="0" dirty="0" smtClean="0">
                <a:solidFill>
                  <a:srgbClr val="E04E50"/>
                </a:solidFill>
                <a:effectLst/>
                <a:latin typeface="Arial" panose="020B0604020202020204" pitchFamily="34" charset="0"/>
              </a:rPr>
              <a:t>atomic theory</a:t>
            </a:r>
            <a:r>
              <a:rPr lang="en-AU" b="0" i="0" dirty="0" smtClean="0">
                <a:solidFill>
                  <a:srgbClr val="444444"/>
                </a:solidFill>
                <a:effectLst/>
                <a:latin typeface="Arial" panose="020B0604020202020204" pitchFamily="34" charset="0"/>
              </a:rPr>
              <a:t> in </a:t>
            </a:r>
            <a:r>
              <a:rPr lang="en-AU" b="0" i="0" dirty="0" smtClean="0">
                <a:solidFill>
                  <a:srgbClr val="444444"/>
                </a:solidFill>
                <a:effectLst/>
                <a:latin typeface="KaTeX_Main"/>
              </a:rPr>
              <a:t>1808</a:t>
            </a:r>
            <a:r>
              <a:rPr lang="en-AU" b="0" i="0" dirty="0" smtClean="0">
                <a:solidFill>
                  <a:srgbClr val="444444"/>
                </a:solidFill>
                <a:effectLst/>
                <a:latin typeface="Arial" panose="020B0604020202020204" pitchFamily="34" charset="0"/>
              </a:rPr>
              <a:t>, after examining the work of other chemists and doing his own experiments. He concluded that Democritus was correct in that matter was made up of </a:t>
            </a:r>
            <a:r>
              <a:rPr lang="en-AU" b="1" i="0" dirty="0" smtClean="0">
                <a:solidFill>
                  <a:srgbClr val="228B22"/>
                </a:solidFill>
                <a:effectLst/>
                <a:latin typeface="Arial" panose="020B0604020202020204" pitchFamily="34" charset="0"/>
              </a:rPr>
              <a:t>tiny separate particles.</a:t>
            </a:r>
            <a:endParaRPr lang="en-AU" dirty="0"/>
          </a:p>
        </p:txBody>
      </p:sp>
      <p:pic>
        <p:nvPicPr>
          <p:cNvPr id="4098" name="Picture 2" descr="https://www.educationperfect.com/media/content/Science/1447118285.899141g/1447118292181-4245445708875897-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950" y="3365500"/>
            <a:ext cx="28575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881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62266" y="945634"/>
            <a:ext cx="4241867" cy="369332"/>
          </a:xfrm>
          <a:prstGeom prst="rect">
            <a:avLst/>
          </a:prstGeom>
        </p:spPr>
        <p:txBody>
          <a:bodyPr wrap="none">
            <a:spAutoFit/>
          </a:bodyPr>
          <a:lstStyle/>
          <a:p>
            <a:r>
              <a:rPr lang="en-AU" b="0" i="0" dirty="0" smtClean="0">
                <a:solidFill>
                  <a:srgbClr val="444444"/>
                </a:solidFill>
                <a:effectLst/>
                <a:latin typeface="Arial" panose="020B0604020202020204" pitchFamily="34" charset="0"/>
              </a:rPr>
              <a:t>The main ideas of Dalton's theory were:</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1545406176"/>
              </p:ext>
            </p:extLst>
          </p:nvPr>
        </p:nvGraphicFramePr>
        <p:xfrm>
          <a:off x="1066800" y="1649254"/>
          <a:ext cx="10515600" cy="1554480"/>
        </p:xfrm>
        <a:graphic>
          <a:graphicData uri="http://schemas.openxmlformats.org/drawingml/2006/table">
            <a:tbl>
              <a:tblPr/>
              <a:tblGrid>
                <a:gridCol w="10515600">
                  <a:extLst>
                    <a:ext uri="{9D8B030D-6E8A-4147-A177-3AD203B41FA5}">
                      <a16:colId xmlns:a16="http://schemas.microsoft.com/office/drawing/2014/main" val="617373530"/>
                    </a:ext>
                  </a:extLst>
                </a:gridCol>
              </a:tblGrid>
              <a:tr h="0">
                <a:tc>
                  <a:txBody>
                    <a:bodyPr/>
                    <a:lstStyle/>
                    <a:p>
                      <a:pPr algn="l" fontAlgn="ctr"/>
                      <a:r>
                        <a:rPr lang="en-AU" b="1" dirty="0" smtClean="0">
                          <a:effectLst/>
                          <a:latin typeface="KaTeX_Main"/>
                        </a:rPr>
                        <a:t>1</a:t>
                      </a:r>
                      <a:r>
                        <a:rPr lang="en-AU" dirty="0">
                          <a:effectLst/>
                        </a:rPr>
                        <a:t>. All matter is composed of </a:t>
                      </a:r>
                      <a:r>
                        <a:rPr lang="en-AU" b="1" dirty="0">
                          <a:solidFill>
                            <a:srgbClr val="0066CC"/>
                          </a:solidFill>
                          <a:effectLst/>
                        </a:rPr>
                        <a:t>indivisible atoms.</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741811098"/>
                  </a:ext>
                </a:extLst>
              </a:tr>
              <a:tr h="0">
                <a:tc>
                  <a:txBody>
                    <a:bodyPr/>
                    <a:lstStyle/>
                    <a:p>
                      <a:pPr algn="l" fontAlgn="ctr"/>
                      <a:r>
                        <a:rPr lang="en-AU" b="1" dirty="0" smtClean="0">
                          <a:effectLst/>
                          <a:latin typeface="KaTeX_Main"/>
                        </a:rPr>
                        <a:t>2</a:t>
                      </a:r>
                      <a:r>
                        <a:rPr lang="en-AU" dirty="0">
                          <a:effectLst/>
                        </a:rPr>
                        <a:t>. All the atoms of a given element are </a:t>
                      </a:r>
                      <a:r>
                        <a:rPr lang="en-AU" b="1" dirty="0">
                          <a:solidFill>
                            <a:srgbClr val="E04E50"/>
                          </a:solidFill>
                          <a:effectLst/>
                        </a:rPr>
                        <a:t>identical.</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232298499"/>
                  </a:ext>
                </a:extLst>
              </a:tr>
              <a:tr h="0">
                <a:tc>
                  <a:txBody>
                    <a:bodyPr/>
                    <a:lstStyle/>
                    <a:p>
                      <a:pPr algn="l" fontAlgn="ctr"/>
                      <a:r>
                        <a:rPr lang="en-AU" b="1" dirty="0" smtClean="0">
                          <a:effectLst/>
                          <a:latin typeface="KaTeX_Main"/>
                        </a:rPr>
                        <a:t>3</a:t>
                      </a:r>
                      <a:r>
                        <a:rPr lang="en-AU" dirty="0">
                          <a:effectLst/>
                        </a:rPr>
                        <a:t>. The atoms of </a:t>
                      </a:r>
                      <a:r>
                        <a:rPr lang="en-AU" b="1" dirty="0">
                          <a:solidFill>
                            <a:srgbClr val="228B22"/>
                          </a:solidFill>
                          <a:effectLst/>
                        </a:rPr>
                        <a:t>different elements</a:t>
                      </a:r>
                      <a:r>
                        <a:rPr lang="en-AU" dirty="0">
                          <a:effectLst/>
                        </a:rPr>
                        <a:t> have </a:t>
                      </a:r>
                      <a:r>
                        <a:rPr lang="en-AU" b="1" dirty="0">
                          <a:solidFill>
                            <a:srgbClr val="228B22"/>
                          </a:solidFill>
                          <a:effectLst/>
                        </a:rPr>
                        <a:t>different masses.</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722479122"/>
                  </a:ext>
                </a:extLst>
              </a:tr>
              <a:tr h="0">
                <a:tc>
                  <a:txBody>
                    <a:bodyPr/>
                    <a:lstStyle/>
                    <a:p>
                      <a:pPr algn="l" fontAlgn="ctr"/>
                      <a:r>
                        <a:rPr lang="en-AU" b="1" dirty="0" smtClean="0">
                          <a:effectLst/>
                          <a:latin typeface="KaTeX_Main"/>
                        </a:rPr>
                        <a:t>4</a:t>
                      </a:r>
                      <a:r>
                        <a:rPr lang="en-AU" dirty="0">
                          <a:effectLst/>
                        </a:rPr>
                        <a:t>. Atoms always </a:t>
                      </a:r>
                      <a:r>
                        <a:rPr lang="en-AU" b="1" dirty="0">
                          <a:effectLst/>
                        </a:rPr>
                        <a:t>preserve their identity</a:t>
                      </a:r>
                      <a:r>
                        <a:rPr lang="en-AU" dirty="0">
                          <a:effectLst/>
                        </a:rPr>
                        <a:t> in chemical reactions.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734325017"/>
                  </a:ext>
                </a:extLst>
              </a:tr>
            </a:tbl>
          </a:graphicData>
        </a:graphic>
      </p:graphicFrame>
      <p:pic>
        <p:nvPicPr>
          <p:cNvPr id="5123" name="Picture 3" descr="https://www.educationperfect.com/media/content/Science/1444857552.521721g/1444857556674-2471546653845114-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5175" y="4027488"/>
            <a:ext cx="76009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4669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SAgLvKOPLQ"/>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108128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761137"/>
            <a:ext cx="10922000" cy="923330"/>
          </a:xfrm>
          <a:prstGeom prst="rect">
            <a:avLst/>
          </a:prstGeom>
        </p:spPr>
        <p:txBody>
          <a:bodyPr wrap="square">
            <a:spAutoFit/>
          </a:bodyPr>
          <a:lstStyle/>
          <a:p>
            <a:r>
              <a:rPr lang="en-AU" b="1" i="0" dirty="0" smtClean="0">
                <a:solidFill>
                  <a:srgbClr val="0066CC"/>
                </a:solidFill>
                <a:effectLst/>
                <a:latin typeface="Arial" panose="020B0604020202020204" pitchFamily="34" charset="0"/>
              </a:rPr>
              <a:t>Eugen Goldstein</a:t>
            </a:r>
            <a:r>
              <a:rPr lang="en-AU" b="0" i="0" dirty="0" smtClean="0">
                <a:solidFill>
                  <a:srgbClr val="444444"/>
                </a:solidFill>
                <a:effectLst/>
                <a:latin typeface="Arial" panose="020B0604020202020204" pitchFamily="34" charset="0"/>
              </a:rPr>
              <a:t> was a German physicist who studied electrical discharges in vacuums. Through this work, in </a:t>
            </a:r>
            <a:r>
              <a:rPr lang="en-AU" b="0" i="0" dirty="0" smtClean="0">
                <a:solidFill>
                  <a:srgbClr val="444444"/>
                </a:solidFill>
                <a:effectLst/>
                <a:latin typeface="KaTeX_Main"/>
              </a:rPr>
              <a:t>1886</a:t>
            </a:r>
            <a:r>
              <a:rPr lang="en-AU" b="0" i="0" dirty="0" smtClean="0">
                <a:solidFill>
                  <a:srgbClr val="444444"/>
                </a:solidFill>
                <a:effectLst/>
                <a:latin typeface="Arial" panose="020B0604020202020204" pitchFamily="34" charset="0"/>
              </a:rPr>
              <a:t> he discovered positive ions, which he realised had the opposite charge to electrons. His work suggested the presence of protons, which were later formally discovered by Ernest Rutherford.</a:t>
            </a:r>
            <a:endParaRPr lang="en-AU" dirty="0"/>
          </a:p>
        </p:txBody>
      </p:sp>
      <p:pic>
        <p:nvPicPr>
          <p:cNvPr id="6146" name="Picture 2" descr="https://www.educationperfect.com/media/content/Science/1509674033.947071g/1509674033146-3591871725823342-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8275" y="2865437"/>
            <a:ext cx="3505200" cy="3562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897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2300" y="501640"/>
            <a:ext cx="112014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Electrons were discovered in </a:t>
            </a:r>
            <a:r>
              <a:rPr lang="en-AU" b="1" i="0" dirty="0" smtClean="0">
                <a:solidFill>
                  <a:srgbClr val="444444"/>
                </a:solidFill>
                <a:effectLst/>
                <a:latin typeface="KaTeX_Main"/>
              </a:rPr>
              <a:t>1897</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by J. J. Thomson,</a:t>
            </a:r>
            <a:r>
              <a:rPr lang="en-AU" b="0" i="0" dirty="0" smtClean="0">
                <a:solidFill>
                  <a:srgbClr val="444444"/>
                </a:solidFill>
                <a:effectLst/>
                <a:latin typeface="Arial" panose="020B0604020202020204" pitchFamily="34" charset="0"/>
              </a:rPr>
              <a:t> who carried out a </a:t>
            </a:r>
            <a:r>
              <a:rPr lang="en-AU" b="1" i="0" dirty="0" smtClean="0">
                <a:solidFill>
                  <a:srgbClr val="E04E50"/>
                </a:solidFill>
                <a:effectLst/>
                <a:latin typeface="Arial" panose="020B0604020202020204" pitchFamily="34" charset="0"/>
              </a:rPr>
              <a:t>cathode ray experiment.</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It was already known that when an electrical current was passed through a vacuum, a </a:t>
            </a:r>
            <a:r>
              <a:rPr lang="en-AU" b="1" i="0" dirty="0" smtClean="0">
                <a:solidFill>
                  <a:srgbClr val="444444"/>
                </a:solidFill>
                <a:effectLst/>
                <a:latin typeface="Arial" panose="020B0604020202020204" pitchFamily="34" charset="0"/>
              </a:rPr>
              <a:t>stream of glowing materials</a:t>
            </a:r>
            <a:r>
              <a:rPr lang="en-AU" b="0" i="0" dirty="0" smtClean="0">
                <a:solidFill>
                  <a:srgbClr val="444444"/>
                </a:solidFill>
                <a:effectLst/>
                <a:latin typeface="Arial" panose="020B0604020202020204" pitchFamily="34" charset="0"/>
              </a:rPr>
              <a:t> could be seen. This stream is called a cathode ray. Thomson discovered that the cathode ray could be </a:t>
            </a:r>
            <a:r>
              <a:rPr lang="en-AU" b="1" i="0" dirty="0" smtClean="0">
                <a:solidFill>
                  <a:srgbClr val="0066CC"/>
                </a:solidFill>
                <a:effectLst/>
                <a:latin typeface="Arial" panose="020B0604020202020204" pitchFamily="34" charset="0"/>
              </a:rPr>
              <a:t>bent by electrical and magnetic fields.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led Thomson to conclude that the stream was made of </a:t>
            </a:r>
            <a:r>
              <a:rPr lang="en-AU" b="1" i="0" dirty="0" smtClean="0">
                <a:solidFill>
                  <a:srgbClr val="444444"/>
                </a:solidFill>
                <a:effectLst/>
                <a:latin typeface="Arial" panose="020B0604020202020204" pitchFamily="34" charset="0"/>
              </a:rPr>
              <a:t>negatively charged particles</a:t>
            </a:r>
            <a:r>
              <a:rPr lang="en-AU" b="0" i="0" dirty="0" smtClean="0">
                <a:solidFill>
                  <a:srgbClr val="444444"/>
                </a:solidFill>
                <a:effectLst/>
                <a:latin typeface="Arial" panose="020B0604020202020204" pitchFamily="34" charset="0"/>
              </a:rPr>
              <a:t> which were later called </a:t>
            </a:r>
            <a:r>
              <a:rPr lang="en-AU" b="1" i="0" dirty="0" smtClean="0">
                <a:solidFill>
                  <a:srgbClr val="228B22"/>
                </a:solidFill>
                <a:effectLst/>
                <a:latin typeface="Arial" panose="020B0604020202020204" pitchFamily="34" charset="0"/>
              </a:rPr>
              <a:t>electrons.</a:t>
            </a:r>
            <a:endParaRPr lang="en-AU" b="0" i="0" dirty="0">
              <a:solidFill>
                <a:srgbClr val="444444"/>
              </a:solidFill>
              <a:effectLst/>
              <a:latin typeface="Arial" panose="020B0604020202020204" pitchFamily="34" charset="0"/>
            </a:endParaRPr>
          </a:p>
        </p:txBody>
      </p:sp>
      <p:pic>
        <p:nvPicPr>
          <p:cNvPr id="7170" name="Picture 2" descr="https://www.educationperfect.com/media/content/Science/1453068861.688291g/1453068870904-897770390296890-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6175" y="3681412"/>
            <a:ext cx="6667500" cy="234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487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dTxGJjA4Jw"/>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10741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425440"/>
            <a:ext cx="112903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After Thomson discovered electrons, he proposed a model of the atom that is now called the </a:t>
            </a:r>
            <a:r>
              <a:rPr lang="en-AU" b="1" i="0" dirty="0" smtClean="0">
                <a:solidFill>
                  <a:srgbClr val="E04E50"/>
                </a:solidFill>
                <a:effectLst/>
                <a:latin typeface="Arial" panose="020B0604020202020204" pitchFamily="34" charset="0"/>
              </a:rPr>
              <a:t>plum pudding model.</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model has </a:t>
            </a:r>
            <a:r>
              <a:rPr lang="en-AU" b="1" i="0" dirty="0" smtClean="0">
                <a:solidFill>
                  <a:srgbClr val="0066CC"/>
                </a:solidFill>
                <a:effectLst/>
                <a:latin typeface="Arial" panose="020B0604020202020204" pitchFamily="34" charset="0"/>
              </a:rPr>
              <a:t>negatively charged electrons</a:t>
            </a:r>
            <a:r>
              <a:rPr lang="en-AU" b="0" i="0" dirty="0" smtClean="0">
                <a:solidFill>
                  <a:srgbClr val="444444"/>
                </a:solidFill>
                <a:effectLst/>
                <a:latin typeface="Arial" panose="020B0604020202020204" pitchFamily="34" charset="0"/>
              </a:rPr>
              <a:t> scattered evenly throughout a </a:t>
            </a:r>
            <a:r>
              <a:rPr lang="en-AU" b="1" i="0" dirty="0" smtClean="0">
                <a:solidFill>
                  <a:srgbClr val="0066CC"/>
                </a:solidFill>
                <a:effectLst/>
                <a:latin typeface="Arial" panose="020B0604020202020204" pitchFamily="34" charset="0"/>
              </a:rPr>
              <a:t>positive sphere.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Thomson knew that atoms were </a:t>
            </a:r>
            <a:r>
              <a:rPr lang="en-AU" b="1" i="0" dirty="0" smtClean="0">
                <a:solidFill>
                  <a:srgbClr val="228B22"/>
                </a:solidFill>
                <a:effectLst/>
                <a:latin typeface="Arial" panose="020B0604020202020204" pitchFamily="34" charset="0"/>
              </a:rPr>
              <a:t>electrically neutral</a:t>
            </a:r>
            <a:r>
              <a:rPr lang="en-AU" b="0" i="0" dirty="0" smtClean="0">
                <a:solidFill>
                  <a:srgbClr val="444444"/>
                </a:solidFill>
                <a:effectLst/>
                <a:latin typeface="Arial" panose="020B0604020202020204" pitchFamily="34" charset="0"/>
              </a:rPr>
              <a:t> so he thought atoms must have the positive sphere to cancel out the negative electrons. This was the </a:t>
            </a:r>
            <a:r>
              <a:rPr lang="en-AU" b="1" i="0" dirty="0" smtClean="0">
                <a:solidFill>
                  <a:srgbClr val="444444"/>
                </a:solidFill>
                <a:effectLst/>
                <a:latin typeface="Arial" panose="020B0604020202020204" pitchFamily="34" charset="0"/>
              </a:rPr>
              <a:t>first evidence</a:t>
            </a:r>
            <a:r>
              <a:rPr lang="en-AU" b="0" i="0" dirty="0" smtClean="0">
                <a:solidFill>
                  <a:srgbClr val="444444"/>
                </a:solidFill>
                <a:effectLst/>
                <a:latin typeface="Arial" panose="020B0604020202020204" pitchFamily="34" charset="0"/>
              </a:rPr>
              <a:t> that atoms were made up of </a:t>
            </a:r>
            <a:r>
              <a:rPr lang="en-AU" b="1" i="0" dirty="0" smtClean="0">
                <a:solidFill>
                  <a:srgbClr val="444444"/>
                </a:solidFill>
                <a:effectLst/>
                <a:latin typeface="Arial" panose="020B0604020202020204" pitchFamily="34" charset="0"/>
              </a:rPr>
              <a:t>even smaller particles.</a:t>
            </a:r>
            <a:endParaRPr lang="en-AU" b="0" i="0" dirty="0">
              <a:solidFill>
                <a:srgbClr val="444444"/>
              </a:solidFill>
              <a:effectLst/>
              <a:latin typeface="Arial" panose="020B0604020202020204" pitchFamily="34" charset="0"/>
            </a:endParaRPr>
          </a:p>
        </p:txBody>
      </p:sp>
      <p:pic>
        <p:nvPicPr>
          <p:cNvPr id="8194" name="Picture 2" descr="https://www.educationperfect.com/Images/Content/Science/1403397174410-174086313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875" y="37084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817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8100" y="592435"/>
            <a:ext cx="10033000" cy="369332"/>
          </a:xfrm>
          <a:prstGeom prst="rect">
            <a:avLst/>
          </a:prstGeom>
        </p:spPr>
        <p:txBody>
          <a:bodyPr wrap="square">
            <a:spAutoFit/>
          </a:bodyPr>
          <a:lstStyle/>
          <a:p>
            <a:r>
              <a:rPr lang="en-AU" b="1" i="0" dirty="0" smtClean="0">
                <a:solidFill>
                  <a:srgbClr val="0066CC"/>
                </a:solidFill>
                <a:effectLst/>
                <a:latin typeface="Arial" panose="020B0604020202020204" pitchFamily="34" charset="0"/>
              </a:rPr>
              <a:t>Protons</a:t>
            </a:r>
            <a:r>
              <a:rPr lang="en-AU" b="0" i="0" dirty="0" smtClean="0">
                <a:solidFill>
                  <a:srgbClr val="444444"/>
                </a:solidFill>
                <a:effectLst/>
                <a:latin typeface="Arial" panose="020B0604020202020204" pitchFamily="34" charset="0"/>
              </a:rPr>
              <a:t> were discovered by Ernest Rutherford. He carried out a </a:t>
            </a:r>
            <a:r>
              <a:rPr lang="en-AU" b="1" i="0" dirty="0" smtClean="0">
                <a:solidFill>
                  <a:srgbClr val="444444"/>
                </a:solidFill>
                <a:effectLst/>
                <a:latin typeface="Arial" panose="020B0604020202020204" pitchFamily="34" charset="0"/>
              </a:rPr>
              <a:t>gold foil experiment in </a:t>
            </a:r>
            <a:r>
              <a:rPr lang="en-AU" b="1" i="0" dirty="0" smtClean="0">
                <a:solidFill>
                  <a:srgbClr val="444444"/>
                </a:solidFill>
                <a:effectLst/>
                <a:latin typeface="KaTeX_Main"/>
              </a:rPr>
              <a:t>1911</a:t>
            </a:r>
            <a:r>
              <a:rPr lang="en-AU" b="0" i="0" dirty="0" smtClean="0">
                <a:solidFill>
                  <a:srgbClr val="444444"/>
                </a:solidFill>
                <a:effectLst/>
                <a:latin typeface="Arial" panose="020B0604020202020204" pitchFamily="34" charset="0"/>
              </a:rPr>
              <a:t>.</a:t>
            </a:r>
            <a:endParaRPr lang="en-AU" dirty="0"/>
          </a:p>
        </p:txBody>
      </p:sp>
      <p:sp>
        <p:nvSpPr>
          <p:cNvPr id="3" name="Rectangle 2"/>
          <p:cNvSpPr/>
          <p:nvPr/>
        </p:nvSpPr>
        <p:spPr>
          <a:xfrm>
            <a:off x="1308100" y="2512536"/>
            <a:ext cx="6096000" cy="1477328"/>
          </a:xfrm>
          <a:prstGeom prst="rect">
            <a:avLst/>
          </a:prstGeom>
        </p:spPr>
        <p:txBody>
          <a:bodyPr>
            <a:spAutoFit/>
          </a:bodyPr>
          <a:lstStyle/>
          <a:p>
            <a:r>
              <a:rPr lang="en-AU" b="0" i="0" dirty="0" smtClean="0">
                <a:solidFill>
                  <a:srgbClr val="444444"/>
                </a:solidFill>
                <a:effectLst/>
                <a:latin typeface="Arial" panose="020B0604020202020204" pitchFamily="34" charset="0"/>
              </a:rPr>
              <a:t>In this experiment, Rutherford fired </a:t>
            </a:r>
            <a:r>
              <a:rPr lang="en-AU" b="1" i="0" dirty="0" smtClean="0">
                <a:solidFill>
                  <a:srgbClr val="E04E50"/>
                </a:solidFill>
                <a:effectLst/>
                <a:latin typeface="Arial" panose="020B0604020202020204" pitchFamily="34" charset="0"/>
              </a:rPr>
              <a:t>positive alpha particles</a:t>
            </a:r>
            <a:r>
              <a:rPr lang="en-AU" b="0" i="0" dirty="0" smtClean="0">
                <a:solidFill>
                  <a:srgbClr val="444444"/>
                </a:solidFill>
                <a:effectLst/>
                <a:latin typeface="Arial" panose="020B0604020202020204" pitchFamily="34" charset="0"/>
              </a:rPr>
              <a:t> at a very thin sheet of </a:t>
            </a:r>
            <a:r>
              <a:rPr lang="en-AU" b="1" i="0" dirty="0" smtClean="0">
                <a:solidFill>
                  <a:srgbClr val="E04E50"/>
                </a:solidFill>
                <a:effectLst/>
                <a:latin typeface="Arial" panose="020B0604020202020204" pitchFamily="34" charset="0"/>
              </a:rPr>
              <a:t>gold foil.</a:t>
            </a:r>
            <a:r>
              <a:rPr lang="en-AU" b="0" i="0" dirty="0" smtClean="0">
                <a:solidFill>
                  <a:srgbClr val="444444"/>
                </a:solidFill>
                <a:effectLst/>
                <a:latin typeface="Arial" panose="020B0604020202020204" pitchFamily="34" charset="0"/>
              </a:rPr>
              <a:t> Alpha particles are a type of radiation made up of two protons and two neutrons. You will learn more about them in a later Smart Lesson.</a:t>
            </a:r>
            <a:endParaRPr lang="en-AU" dirty="0"/>
          </a:p>
        </p:txBody>
      </p:sp>
      <p:pic>
        <p:nvPicPr>
          <p:cNvPr id="9218" name="Picture 2" descr="https://www.educationperfect.com/media/content/Science/1408071398.251051g/1408071407290-173970130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7700" y="1759630"/>
            <a:ext cx="2174875" cy="3075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746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1130638"/>
            <a:ext cx="11176000" cy="1200329"/>
          </a:xfrm>
          <a:prstGeom prst="rect">
            <a:avLst/>
          </a:prstGeom>
        </p:spPr>
        <p:txBody>
          <a:bodyPr wrap="square">
            <a:spAutoFit/>
          </a:bodyPr>
          <a:lstStyle/>
          <a:p>
            <a:r>
              <a:rPr lang="en-AU" b="0" i="0" dirty="0" smtClean="0">
                <a:solidFill>
                  <a:srgbClr val="444444"/>
                </a:solidFill>
                <a:effectLst/>
                <a:latin typeface="Arial" panose="020B0604020202020204" pitchFamily="34" charset="0"/>
              </a:rPr>
              <a:t>If Thomson's model of the atom was correct, the alpha particles should have gone </a:t>
            </a:r>
            <a:r>
              <a:rPr lang="en-AU" b="1" i="0" dirty="0" smtClean="0">
                <a:solidFill>
                  <a:srgbClr val="E04E50"/>
                </a:solidFill>
                <a:effectLst/>
                <a:latin typeface="Arial" panose="020B0604020202020204" pitchFamily="34" charset="0"/>
              </a:rPr>
              <a:t>straight through</a:t>
            </a:r>
            <a:r>
              <a:rPr lang="en-AU" b="0" i="0" dirty="0" smtClean="0">
                <a:solidFill>
                  <a:srgbClr val="444444"/>
                </a:solidFill>
                <a:effectLst/>
                <a:latin typeface="Arial" panose="020B0604020202020204" pitchFamily="34" charset="0"/>
              </a:rPr>
              <a:t> the foil without being deflected at all. </a:t>
            </a:r>
            <a:r>
              <a:rPr lang="en-AU" b="1" i="0" dirty="0" smtClean="0">
                <a:solidFill>
                  <a:srgbClr val="0066CC"/>
                </a:solidFill>
                <a:effectLst/>
                <a:latin typeface="Arial" panose="020B0604020202020204" pitchFamily="34" charset="0"/>
              </a:rPr>
              <a:t>Most</a:t>
            </a:r>
            <a:r>
              <a:rPr lang="en-AU" b="0" i="0" dirty="0" smtClean="0">
                <a:solidFill>
                  <a:srgbClr val="444444"/>
                </a:solidFill>
                <a:effectLst/>
                <a:latin typeface="Arial" panose="020B0604020202020204" pitchFamily="34" charset="0"/>
              </a:rPr>
              <a:t> of the particles did pass through the gold foil </a:t>
            </a:r>
            <a:r>
              <a:rPr lang="en-AU" b="1" i="0" dirty="0" smtClean="0">
                <a:solidFill>
                  <a:srgbClr val="0066CC"/>
                </a:solidFill>
                <a:effectLst/>
                <a:latin typeface="Arial" panose="020B0604020202020204" pitchFamily="34" charset="0"/>
              </a:rPr>
              <a:t>without changing direction.</a:t>
            </a:r>
            <a:r>
              <a:rPr lang="en-AU" b="0" i="0" dirty="0" smtClean="0">
                <a:solidFill>
                  <a:srgbClr val="444444"/>
                </a:solidFill>
                <a:effectLst/>
                <a:latin typeface="Arial" panose="020B0604020202020204" pitchFamily="34" charset="0"/>
              </a:rPr>
              <a:t> However, some of the particles were </a:t>
            </a:r>
            <a:r>
              <a:rPr lang="en-AU" b="1" i="0" dirty="0" smtClean="0">
                <a:solidFill>
                  <a:srgbClr val="228B22"/>
                </a:solidFill>
                <a:effectLst/>
                <a:latin typeface="Arial" panose="020B0604020202020204" pitchFamily="34" charset="0"/>
              </a:rPr>
              <a:t>slightly deflected,</a:t>
            </a:r>
            <a:r>
              <a:rPr lang="en-AU" b="0" i="0" dirty="0" smtClean="0">
                <a:solidFill>
                  <a:srgbClr val="444444"/>
                </a:solidFill>
                <a:effectLst/>
                <a:latin typeface="Arial" panose="020B0604020202020204" pitchFamily="34" charset="0"/>
              </a:rPr>
              <a:t> and a few of particles were deflected </a:t>
            </a:r>
            <a:r>
              <a:rPr lang="en-AU" b="1" i="0" u="sng" dirty="0" smtClean="0">
                <a:solidFill>
                  <a:srgbClr val="E04E50"/>
                </a:solidFill>
                <a:effectLst/>
                <a:latin typeface="Arial" panose="020B0604020202020204" pitchFamily="34" charset="0"/>
              </a:rPr>
              <a:t>straight back!</a:t>
            </a:r>
            <a:endParaRPr lang="en-AU" dirty="0"/>
          </a:p>
        </p:txBody>
      </p:sp>
      <p:pic>
        <p:nvPicPr>
          <p:cNvPr id="10242" name="Picture 2" descr="https://www.educationperfect.com/media/content/Science/1447300287.491491g/1447300294757-49048379440308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0" y="3556000"/>
            <a:ext cx="38100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65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942539"/>
            <a:ext cx="114808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Rutherford's experiment led him to conclude that a </a:t>
            </a:r>
            <a:r>
              <a:rPr lang="en-AU" b="1" i="0" dirty="0" smtClean="0">
                <a:solidFill>
                  <a:srgbClr val="E04E50"/>
                </a:solidFill>
                <a:effectLst/>
                <a:latin typeface="Arial" panose="020B0604020202020204" pitchFamily="34" charset="0"/>
              </a:rPr>
              <a:t>small, dense mass</a:t>
            </a:r>
            <a:r>
              <a:rPr lang="en-AU" b="0" i="0" dirty="0" smtClean="0">
                <a:solidFill>
                  <a:srgbClr val="444444"/>
                </a:solidFill>
                <a:effectLst/>
                <a:latin typeface="Arial" panose="020B0604020202020204" pitchFamily="34" charset="0"/>
              </a:rPr>
              <a:t> exists at the centre of every atom. He called this the </a:t>
            </a:r>
            <a:r>
              <a:rPr lang="en-AU" b="1" i="0" dirty="0" smtClean="0">
                <a:solidFill>
                  <a:srgbClr val="E04E50"/>
                </a:solidFill>
                <a:effectLst/>
                <a:latin typeface="Arial" panose="020B0604020202020204" pitchFamily="34" charset="0"/>
              </a:rPr>
              <a:t>nucleus.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Since some of the alpha particles were deflected </a:t>
            </a:r>
            <a:r>
              <a:rPr lang="en-AU" b="1" i="0" dirty="0" smtClean="0">
                <a:solidFill>
                  <a:srgbClr val="0066CC"/>
                </a:solidFill>
                <a:effectLst/>
                <a:latin typeface="Arial" panose="020B0604020202020204" pitchFamily="34" charset="0"/>
              </a:rPr>
              <a:t>directly back,</a:t>
            </a:r>
            <a:r>
              <a:rPr lang="en-AU" b="0" i="0" dirty="0" smtClean="0">
                <a:solidFill>
                  <a:srgbClr val="444444"/>
                </a:solidFill>
                <a:effectLst/>
                <a:latin typeface="Arial" panose="020B0604020202020204" pitchFamily="34" charset="0"/>
              </a:rPr>
              <a:t> the nucleus must be </a:t>
            </a:r>
            <a:r>
              <a:rPr lang="en-AU" b="1" i="0" dirty="0" smtClean="0">
                <a:solidFill>
                  <a:srgbClr val="0066CC"/>
                </a:solidFill>
                <a:effectLst/>
                <a:latin typeface="Arial" panose="020B0604020202020204" pitchFamily="34" charset="0"/>
              </a:rPr>
              <a:t>very dense.</a:t>
            </a:r>
            <a:r>
              <a:rPr lang="en-AU" b="0" i="0" dirty="0" smtClean="0">
                <a:solidFill>
                  <a:srgbClr val="444444"/>
                </a:solidFill>
                <a:effectLst/>
                <a:latin typeface="Arial" panose="020B0604020202020204" pitchFamily="34" charset="0"/>
              </a:rPr>
              <a:t> It also must be </a:t>
            </a:r>
            <a:r>
              <a:rPr lang="en-AU" b="1" i="0" dirty="0" smtClean="0">
                <a:solidFill>
                  <a:srgbClr val="228B22"/>
                </a:solidFill>
                <a:effectLst/>
                <a:latin typeface="Arial" panose="020B0604020202020204" pitchFamily="34" charset="0"/>
              </a:rPr>
              <a:t>positively charged</a:t>
            </a:r>
            <a:r>
              <a:rPr lang="en-AU" b="0" i="0" dirty="0" smtClean="0">
                <a:solidFill>
                  <a:srgbClr val="444444"/>
                </a:solidFill>
                <a:effectLst/>
                <a:latin typeface="Arial" panose="020B0604020202020204" pitchFamily="34" charset="0"/>
              </a:rPr>
              <a:t> in order to repel the </a:t>
            </a:r>
            <a:r>
              <a:rPr lang="en-AU" b="1" i="0" dirty="0" smtClean="0">
                <a:solidFill>
                  <a:srgbClr val="228B22"/>
                </a:solidFill>
                <a:effectLst/>
                <a:latin typeface="Arial" panose="020B0604020202020204" pitchFamily="34" charset="0"/>
              </a:rPr>
              <a:t>positively charged alpha particles.</a:t>
            </a:r>
            <a:r>
              <a:rPr lang="en-AU" b="0" i="0" dirty="0" smtClean="0">
                <a:solidFill>
                  <a:srgbClr val="444444"/>
                </a:solidFill>
                <a:effectLst/>
                <a:latin typeface="Arial" panose="020B0604020202020204" pitchFamily="34" charset="0"/>
              </a:rPr>
              <a:t> Rutherford called the positively charged particles in the nucleus </a:t>
            </a:r>
            <a:r>
              <a:rPr lang="en-AU" b="1" i="0" u="sng" dirty="0" smtClean="0">
                <a:solidFill>
                  <a:srgbClr val="444444"/>
                </a:solidFill>
                <a:effectLst/>
                <a:latin typeface="Arial" panose="020B0604020202020204" pitchFamily="34" charset="0"/>
              </a:rPr>
              <a:t>protons.</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447127152.83631g/1447127149527-3578476633067403-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575" y="3033712"/>
            <a:ext cx="3810000" cy="3686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13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987336"/>
            <a:ext cx="106553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Since most of the alpha particles were </a:t>
            </a:r>
            <a:r>
              <a:rPr lang="en-AU" b="1" i="0" dirty="0" smtClean="0">
                <a:solidFill>
                  <a:srgbClr val="E04E50"/>
                </a:solidFill>
                <a:effectLst/>
                <a:latin typeface="Arial" panose="020B0604020202020204" pitchFamily="34" charset="0"/>
              </a:rPr>
              <a:t>not deflected at all</a:t>
            </a:r>
            <a:r>
              <a:rPr lang="en-AU" b="0" i="0" dirty="0" smtClean="0">
                <a:solidFill>
                  <a:srgbClr val="444444"/>
                </a:solidFill>
                <a:effectLst/>
                <a:latin typeface="Arial" panose="020B0604020202020204" pitchFamily="34" charset="0"/>
              </a:rPr>
              <a:t> by the nucleus, Rutherford concluded that the nucleus was </a:t>
            </a:r>
            <a:r>
              <a:rPr lang="en-AU" b="1" i="0" dirty="0" smtClean="0">
                <a:solidFill>
                  <a:srgbClr val="0066CC"/>
                </a:solidFill>
                <a:effectLst/>
                <a:latin typeface="Arial" panose="020B0604020202020204" pitchFamily="34" charset="0"/>
              </a:rPr>
              <a:t>very small.</a:t>
            </a:r>
            <a:r>
              <a:rPr lang="en-AU" b="0" i="0" dirty="0" smtClean="0">
                <a:solidFill>
                  <a:srgbClr val="444444"/>
                </a:solidFill>
                <a:effectLst/>
                <a:latin typeface="Arial" panose="020B0604020202020204" pitchFamily="34" charset="0"/>
              </a:rPr>
              <a:t> This means that most of an atom is </a:t>
            </a:r>
            <a:r>
              <a:rPr lang="en-AU" b="1" i="0" dirty="0" smtClean="0">
                <a:solidFill>
                  <a:srgbClr val="228B22"/>
                </a:solidFill>
                <a:effectLst/>
                <a:latin typeface="Arial" panose="020B0604020202020204" pitchFamily="34" charset="0"/>
              </a:rPr>
              <a:t>empty space.</a:t>
            </a:r>
            <a:endParaRPr lang="en-AU" dirty="0"/>
          </a:p>
        </p:txBody>
      </p:sp>
      <p:pic>
        <p:nvPicPr>
          <p:cNvPr id="12290" name="Picture 2" descr="https://www.educationperfect.com/media/content/Science/1446762972.839911g/1446762973403-4391005400701117-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5775" y="2746375"/>
            <a:ext cx="3800475"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628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1180237"/>
            <a:ext cx="105664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After discovering the nucleus, Rutherford proposed the </a:t>
            </a:r>
            <a:r>
              <a:rPr lang="en-AU" b="1" i="0" dirty="0" smtClean="0">
                <a:solidFill>
                  <a:srgbClr val="E04E50"/>
                </a:solidFill>
                <a:effectLst/>
                <a:latin typeface="Arial" panose="020B0604020202020204" pitchFamily="34" charset="0"/>
              </a:rPr>
              <a:t>solar system</a:t>
            </a:r>
            <a:r>
              <a:rPr lang="en-AU" b="0" i="0" dirty="0" smtClean="0">
                <a:solidFill>
                  <a:srgbClr val="444444"/>
                </a:solidFill>
                <a:effectLst/>
                <a:latin typeface="Arial" panose="020B0604020202020204" pitchFamily="34" charset="0"/>
              </a:rPr>
              <a:t> model of the atom.</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In this model, the negatively charged </a:t>
            </a:r>
            <a:r>
              <a:rPr lang="en-AU" b="1" i="0" dirty="0" smtClean="0">
                <a:solidFill>
                  <a:srgbClr val="0066CC"/>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 </a:t>
            </a:r>
            <a:r>
              <a:rPr lang="en-AU" b="1" i="0" u="sng" dirty="0" smtClean="0">
                <a:solidFill>
                  <a:srgbClr val="444444"/>
                </a:solidFill>
                <a:effectLst/>
                <a:latin typeface="Arial" panose="020B0604020202020204" pitchFamily="34" charset="0"/>
              </a:rPr>
              <a:t>orbit</a:t>
            </a:r>
            <a:r>
              <a:rPr lang="en-AU" b="0" i="0" dirty="0" smtClean="0">
                <a:solidFill>
                  <a:srgbClr val="444444"/>
                </a:solidFill>
                <a:effectLst/>
                <a:latin typeface="Arial" panose="020B0604020202020204" pitchFamily="34" charset="0"/>
              </a:rPr>
              <a:t> around the nucleus which contains positively charged </a:t>
            </a:r>
            <a:r>
              <a:rPr lang="en-AU" b="1" i="0" dirty="0" smtClean="0">
                <a:solidFill>
                  <a:srgbClr val="0066CC"/>
                </a:solidFill>
                <a:effectLst/>
                <a:latin typeface="Arial" panose="020B0604020202020204" pitchFamily="34" charset="0"/>
              </a:rPr>
              <a:t>protons</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13314" name="Picture 2" descr="https://www.educationperfect.com/media/content/Science/1447300351.881711g/1447300358898-49048379440308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5900" y="2760662"/>
            <a:ext cx="3810000" cy="32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179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915938"/>
            <a:ext cx="110109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Rutherford believed that the </a:t>
            </a:r>
            <a:r>
              <a:rPr lang="en-AU" b="1" i="0" dirty="0" smtClean="0">
                <a:solidFill>
                  <a:srgbClr val="444444"/>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 orbited this newly discovered </a:t>
            </a:r>
            <a:r>
              <a:rPr lang="en-AU" b="1" i="0" dirty="0" smtClean="0">
                <a:solidFill>
                  <a:srgbClr val="0066CC"/>
                </a:solidFill>
                <a:effectLst/>
                <a:latin typeface="Arial" panose="020B0604020202020204" pitchFamily="34" charset="0"/>
              </a:rPr>
              <a:t>nucleus,</a:t>
            </a:r>
            <a:r>
              <a:rPr lang="en-AU" b="0" i="0" dirty="0" smtClean="0">
                <a:solidFill>
                  <a:srgbClr val="444444"/>
                </a:solidFill>
                <a:effectLst/>
                <a:latin typeface="Arial" panose="020B0604020202020204" pitchFamily="34" charset="0"/>
              </a:rPr>
              <a:t> like planets around a sun.</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We're getting closer to the modern model, however Rutherford's model couldn't explain how these orbits </a:t>
            </a:r>
            <a:r>
              <a:rPr lang="en-AU" b="1" i="0" dirty="0" smtClean="0">
                <a:solidFill>
                  <a:srgbClr val="00A6D5"/>
                </a:solidFill>
                <a:effectLst/>
                <a:latin typeface="Arial" panose="020B0604020202020204" pitchFamily="34" charset="0"/>
              </a:rPr>
              <a:t>remained stable</a:t>
            </a:r>
            <a:r>
              <a:rPr lang="en-AU" b="0" i="0" dirty="0" smtClean="0">
                <a:solidFill>
                  <a:srgbClr val="444444"/>
                </a:solidFill>
                <a:effectLst/>
                <a:latin typeface="Arial" panose="020B0604020202020204" pitchFamily="34" charset="0"/>
              </a:rPr>
              <a:t> for so long. Electrons travel at the speed of light, so their orbit would </a:t>
            </a:r>
            <a:r>
              <a:rPr lang="en-AU" b="1" i="0" dirty="0" smtClean="0">
                <a:solidFill>
                  <a:srgbClr val="FB6611"/>
                </a:solidFill>
                <a:effectLst/>
                <a:latin typeface="Arial" panose="020B0604020202020204" pitchFamily="34" charset="0"/>
              </a:rPr>
              <a:t>spiral into the nucleus</a:t>
            </a:r>
            <a:r>
              <a:rPr lang="en-AU" b="0" i="0" dirty="0" smtClean="0">
                <a:solidFill>
                  <a:srgbClr val="444444"/>
                </a:solidFill>
                <a:effectLst/>
                <a:latin typeface="Arial" panose="020B0604020202020204" pitchFamily="34" charset="0"/>
              </a:rPr>
              <a:t> within seconds.</a:t>
            </a:r>
            <a:endParaRPr lang="en-AU" b="0" i="0" dirty="0">
              <a:solidFill>
                <a:srgbClr val="444444"/>
              </a:solidFill>
              <a:effectLst/>
              <a:latin typeface="Arial" panose="020B0604020202020204" pitchFamily="34" charset="0"/>
            </a:endParaRPr>
          </a:p>
        </p:txBody>
      </p:sp>
      <p:pic>
        <p:nvPicPr>
          <p:cNvPr id="14338" name="Picture 2" descr="https://www.educationperfect.com/media/content/Science/1447300351.881711g/1447300358898-49048379440308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3052762"/>
            <a:ext cx="3810000" cy="32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142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491341"/>
            <a:ext cx="10858500" cy="2308324"/>
          </a:xfrm>
          <a:prstGeom prst="rect">
            <a:avLst/>
          </a:prstGeom>
        </p:spPr>
        <p:txBody>
          <a:bodyPr wrap="square">
            <a:spAutoFit/>
          </a:bodyPr>
          <a:lstStyle/>
          <a:p>
            <a:pPr algn="ctr"/>
            <a:r>
              <a:rPr lang="en-AU" b="1" i="0" dirty="0" smtClean="0">
                <a:solidFill>
                  <a:srgbClr val="0066CC"/>
                </a:solidFill>
                <a:effectLst/>
                <a:latin typeface="Arial" panose="020B0604020202020204" pitchFamily="34" charset="0"/>
              </a:rPr>
              <a:t>Robert Millikan</a:t>
            </a:r>
            <a:r>
              <a:rPr lang="en-AU" b="0" i="0" dirty="0" smtClean="0">
                <a:solidFill>
                  <a:srgbClr val="444444"/>
                </a:solidFill>
                <a:effectLst/>
                <a:latin typeface="Arial" panose="020B0604020202020204" pitchFamily="34" charset="0"/>
              </a:rPr>
              <a:t> was an American Physicist, who received a Nobel Prize in </a:t>
            </a:r>
            <a:r>
              <a:rPr lang="en-AU" b="0" i="0" dirty="0" smtClean="0">
                <a:solidFill>
                  <a:srgbClr val="444444"/>
                </a:solidFill>
                <a:effectLst/>
                <a:latin typeface="KaTeX_Main"/>
              </a:rPr>
              <a:t>{1923}1923</a:t>
            </a:r>
            <a:r>
              <a:rPr lang="en-AU" b="0" i="0" dirty="0" smtClean="0">
                <a:solidFill>
                  <a:srgbClr val="444444"/>
                </a:solidFill>
                <a:effectLst/>
                <a:latin typeface="Arial" panose="020B0604020202020204" pitchFamily="34" charset="0"/>
              </a:rPr>
              <a:t> for his work determining the charge of a single electron, and his research into the photoelectric effect.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He used the </a:t>
            </a:r>
            <a:r>
              <a:rPr lang="en-AU" b="1" i="0" dirty="0" smtClean="0">
                <a:solidFill>
                  <a:srgbClr val="E04E50"/>
                </a:solidFill>
                <a:effectLst/>
                <a:latin typeface="Arial" panose="020B0604020202020204" pitchFamily="34" charset="0"/>
              </a:rPr>
              <a:t>oil drop experiment</a:t>
            </a:r>
            <a:r>
              <a:rPr lang="en-AU" b="0" i="0" dirty="0" smtClean="0">
                <a:solidFill>
                  <a:srgbClr val="444444"/>
                </a:solidFill>
                <a:effectLst/>
                <a:latin typeface="Arial" panose="020B0604020202020204" pitchFamily="34" charset="0"/>
              </a:rPr>
              <a:t> in </a:t>
            </a:r>
            <a:r>
              <a:rPr lang="en-AU" b="0" i="0" dirty="0" smtClean="0">
                <a:solidFill>
                  <a:srgbClr val="444444"/>
                </a:solidFill>
                <a:effectLst/>
                <a:latin typeface="KaTeX_Main"/>
              </a:rPr>
              <a:t>1909</a:t>
            </a:r>
            <a:r>
              <a:rPr lang="en-AU" b="0" i="0" dirty="0" smtClean="0">
                <a:solidFill>
                  <a:srgbClr val="444444"/>
                </a:solidFill>
                <a:effectLst/>
                <a:latin typeface="Arial" panose="020B0604020202020204" pitchFamily="34" charset="0"/>
              </a:rPr>
              <a:t> to work out the charge on a single electron. Basically oil was dropped between two metal plates and an increasing charge applied, until the force of gravity balanced the force of electrical repulsion, and the drop remained suspended between the plates. This experiment was repeated many times for different sized drops. Each charge was a multiple of the charge on a single electron, which was then calculated.</a:t>
            </a:r>
            <a:endParaRPr lang="en-AU" b="0" i="0" dirty="0">
              <a:solidFill>
                <a:srgbClr val="444444"/>
              </a:solidFill>
              <a:effectLst/>
              <a:latin typeface="Arial" panose="020B0604020202020204" pitchFamily="34" charset="0"/>
            </a:endParaRPr>
          </a:p>
        </p:txBody>
      </p:sp>
      <p:pic>
        <p:nvPicPr>
          <p:cNvPr id="15362" name="Picture 2" descr="https://www.educationperfect.com/media/content/Science/1509674654.765151g/1509674653062-3591871725823342-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9075" y="3581400"/>
            <a:ext cx="19431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709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506443"/>
            <a:ext cx="11214100" cy="3139321"/>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Niels Bohr proposed a new atomic model which </a:t>
            </a:r>
            <a:r>
              <a:rPr lang="en-AU" b="1" i="0" dirty="0" smtClean="0">
                <a:solidFill>
                  <a:srgbClr val="444444"/>
                </a:solidFill>
                <a:effectLst/>
                <a:latin typeface="Arial" panose="020B0604020202020204" pitchFamily="34" charset="0"/>
              </a:rPr>
              <a:t>improved on</a:t>
            </a:r>
            <a:r>
              <a:rPr lang="en-AU" b="0" i="0" dirty="0" smtClean="0">
                <a:solidFill>
                  <a:srgbClr val="444444"/>
                </a:solidFill>
                <a:effectLst/>
                <a:latin typeface="Arial" panose="020B0604020202020204" pitchFamily="34" charset="0"/>
              </a:rPr>
              <a:t> Rutherford's model. We call this the </a:t>
            </a:r>
            <a:r>
              <a:rPr lang="en-AU" b="1" i="0" dirty="0" smtClean="0">
                <a:solidFill>
                  <a:srgbClr val="0066CC"/>
                </a:solidFill>
                <a:effectLst/>
                <a:latin typeface="Arial" panose="020B0604020202020204" pitchFamily="34" charset="0"/>
              </a:rPr>
              <a:t>Rutherford-Bohr Model</a:t>
            </a:r>
            <a:r>
              <a:rPr lang="en-AU" b="0" i="0" dirty="0" smtClean="0">
                <a:solidFill>
                  <a:srgbClr val="0066CC"/>
                </a:solidFill>
                <a:effectLst/>
                <a:latin typeface="Arial" panose="020B0604020202020204" pitchFamily="34" charset="0"/>
              </a:rPr>
              <a:t>.</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Bohr proposed that electrons existed in </a:t>
            </a:r>
            <a:r>
              <a:rPr lang="en-AU" b="1" i="0" dirty="0" smtClean="0">
                <a:solidFill>
                  <a:srgbClr val="8C4AB2"/>
                </a:solidFill>
                <a:effectLst/>
                <a:latin typeface="Arial" panose="020B0604020202020204" pitchFamily="34" charset="0"/>
              </a:rPr>
              <a:t>energy states</a:t>
            </a:r>
            <a:r>
              <a:rPr lang="en-AU" b="0" i="0" dirty="0" smtClean="0">
                <a:solidFill>
                  <a:srgbClr val="444444"/>
                </a:solidFill>
                <a:effectLst/>
                <a:latin typeface="Arial" panose="020B0604020202020204" pitchFamily="34" charset="0"/>
              </a:rPr>
              <a:t>. This means that they can only have </a:t>
            </a:r>
            <a:r>
              <a:rPr lang="en-AU" b="1" i="0" dirty="0" smtClean="0">
                <a:solidFill>
                  <a:srgbClr val="E04E50"/>
                </a:solidFill>
                <a:effectLst/>
                <a:latin typeface="Arial" panose="020B0604020202020204" pitchFamily="34" charset="0"/>
              </a:rPr>
              <a:t>certain amounts of energy</a:t>
            </a:r>
            <a:r>
              <a:rPr lang="en-AU" b="0" i="0" dirty="0" smtClean="0">
                <a:solidFill>
                  <a:srgbClr val="444444"/>
                </a:solidFill>
                <a:effectLst/>
                <a:latin typeface="Arial" panose="020B0604020202020204" pitchFamily="34" charset="0"/>
              </a:rPr>
              <a:t>. When electrons are in their energy states, called their </a:t>
            </a:r>
            <a:r>
              <a:rPr lang="en-AU" b="1" i="0" dirty="0" smtClean="0">
                <a:solidFill>
                  <a:srgbClr val="444444"/>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they would </a:t>
            </a:r>
            <a:r>
              <a:rPr lang="en-AU" b="1" i="0" dirty="0" smtClean="0">
                <a:solidFill>
                  <a:srgbClr val="444444"/>
                </a:solidFill>
                <a:effectLst/>
                <a:latin typeface="Arial" panose="020B0604020202020204" pitchFamily="34" charset="0"/>
              </a:rPr>
              <a:t>not</a:t>
            </a:r>
            <a:r>
              <a:rPr lang="en-AU" b="0" i="0" dirty="0" smtClean="0">
                <a:solidFill>
                  <a:srgbClr val="444444"/>
                </a:solidFill>
                <a:effectLst/>
                <a:latin typeface="Arial" panose="020B0604020202020204" pitchFamily="34" charset="0"/>
              </a:rPr>
              <a:t> lose energy.</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orbital (also known as the electron shell) </a:t>
            </a:r>
            <a:r>
              <a:rPr lang="en-AU" b="1" i="0" dirty="0" smtClean="0">
                <a:solidFill>
                  <a:srgbClr val="0066CC"/>
                </a:solidFill>
                <a:effectLst/>
                <a:latin typeface="Arial" panose="020B0604020202020204" pitchFamily="34" charset="0"/>
              </a:rPr>
              <a:t>closest to the nucleus</a:t>
            </a:r>
            <a:r>
              <a:rPr lang="en-AU" b="0" i="0" dirty="0" smtClean="0">
                <a:solidFill>
                  <a:srgbClr val="444444"/>
                </a:solidFill>
                <a:effectLst/>
                <a:latin typeface="Arial" panose="020B0604020202020204" pitchFamily="34" charset="0"/>
              </a:rPr>
              <a:t> has the </a:t>
            </a:r>
            <a:r>
              <a:rPr lang="en-AU" b="1" i="0" dirty="0" smtClean="0">
                <a:solidFill>
                  <a:srgbClr val="0066CC"/>
                </a:solidFill>
                <a:effectLst/>
                <a:latin typeface="Arial" panose="020B0604020202020204" pitchFamily="34" charset="0"/>
              </a:rPr>
              <a:t>lowest energy.</a:t>
            </a:r>
            <a:r>
              <a:rPr lang="en-AU" b="0" i="0" dirty="0" smtClean="0">
                <a:solidFill>
                  <a:srgbClr val="444444"/>
                </a:solidFill>
                <a:effectLst/>
                <a:latin typeface="Arial" panose="020B0604020202020204" pitchFamily="34" charset="0"/>
              </a:rPr>
              <a:t> Orbitals </a:t>
            </a:r>
            <a:r>
              <a:rPr lang="en-AU" b="1" i="0" dirty="0" smtClean="0">
                <a:solidFill>
                  <a:srgbClr val="E04E50"/>
                </a:solidFill>
                <a:effectLst/>
                <a:latin typeface="Arial" panose="020B0604020202020204" pitchFamily="34" charset="0"/>
              </a:rPr>
              <a:t>further</a:t>
            </a:r>
            <a:r>
              <a:rPr lang="en-AU" b="0" i="0" dirty="0" smtClean="0">
                <a:solidFill>
                  <a:srgbClr val="444444"/>
                </a:solidFill>
                <a:effectLst/>
                <a:latin typeface="Arial" panose="020B0604020202020204" pitchFamily="34" charset="0"/>
              </a:rPr>
              <a:t> from the nucleus have </a:t>
            </a:r>
            <a:r>
              <a:rPr lang="en-AU" b="1" i="0" dirty="0" smtClean="0">
                <a:solidFill>
                  <a:srgbClr val="E04E50"/>
                </a:solidFill>
                <a:effectLst/>
                <a:latin typeface="Arial" panose="020B0604020202020204" pitchFamily="34" charset="0"/>
              </a:rPr>
              <a:t>higher energy.</a:t>
            </a:r>
            <a:r>
              <a:rPr lang="en-AU" b="0" i="0" dirty="0" smtClean="0">
                <a:solidFill>
                  <a:srgbClr val="444444"/>
                </a:solidFill>
                <a:effectLst/>
                <a:latin typeface="Arial" panose="020B0604020202020204" pitchFamily="34" charset="0"/>
              </a:rPr>
              <a:t> The further an electron is from the nucleus, the </a:t>
            </a:r>
            <a:r>
              <a:rPr lang="en-AU" b="1" i="0" dirty="0" smtClean="0">
                <a:solidFill>
                  <a:srgbClr val="444444"/>
                </a:solidFill>
                <a:effectLst/>
                <a:latin typeface="Arial" panose="020B0604020202020204" pitchFamily="34" charset="0"/>
              </a:rPr>
              <a:t>less attraction</a:t>
            </a:r>
            <a:r>
              <a:rPr lang="en-AU" b="0" i="0" dirty="0" smtClean="0">
                <a:solidFill>
                  <a:srgbClr val="444444"/>
                </a:solidFill>
                <a:effectLst/>
                <a:latin typeface="Arial" panose="020B0604020202020204" pitchFamily="34" charset="0"/>
              </a:rPr>
              <a:t> to the nucleus it experiences. This means that the electrons in the furthest orbital, known as </a:t>
            </a:r>
            <a:r>
              <a:rPr lang="en-AU" b="1" i="0" dirty="0" smtClean="0">
                <a:solidFill>
                  <a:srgbClr val="8C4AB2"/>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are those that react with other atoms.</a:t>
            </a:r>
            <a:endParaRPr lang="en-AU" b="0" i="0" dirty="0">
              <a:solidFill>
                <a:srgbClr val="444444"/>
              </a:solidFill>
              <a:effectLst/>
              <a:latin typeface="Arial" panose="020B0604020202020204" pitchFamily="34" charset="0"/>
            </a:endParaRPr>
          </a:p>
        </p:txBody>
      </p:sp>
      <p:pic>
        <p:nvPicPr>
          <p:cNvPr id="16386" name="Picture 2" descr="https://www.educationperfect.com/media/content/Science/1455741453.387111g/1455741456299-417490285267703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1133" y="3784600"/>
            <a:ext cx="3926741"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195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74800" y="376535"/>
            <a:ext cx="6096000" cy="923330"/>
          </a:xfrm>
          <a:prstGeom prst="rect">
            <a:avLst/>
          </a:prstGeom>
        </p:spPr>
        <p:txBody>
          <a:bodyPr>
            <a:spAutoFit/>
          </a:bodyPr>
          <a:lstStyle/>
          <a:p>
            <a:pPr algn="ctr"/>
            <a:r>
              <a:rPr lang="en-AU" b="0" i="0" dirty="0" smtClean="0">
                <a:solidFill>
                  <a:srgbClr val="444444"/>
                </a:solidFill>
                <a:effectLst/>
                <a:latin typeface="Arial" panose="020B0604020202020204" pitchFamily="34" charset="0"/>
              </a:rPr>
              <a:t>To summarise the Rutherford-Bohr model:</a:t>
            </a:r>
          </a:p>
          <a:p>
            <a:r>
              <a:rPr lang="en-AU" dirty="0" smtClean="0"/>
              <a:t/>
            </a:r>
            <a:br>
              <a:rPr lang="en-AU" dirty="0" smtClean="0"/>
            </a:b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1877910382"/>
              </p:ext>
            </p:extLst>
          </p:nvPr>
        </p:nvGraphicFramePr>
        <p:xfrm>
          <a:off x="3027084" y="1043464"/>
          <a:ext cx="5342216" cy="1440180"/>
        </p:xfrm>
        <a:graphic>
          <a:graphicData uri="http://schemas.openxmlformats.org/drawingml/2006/table">
            <a:tbl>
              <a:tblPr/>
              <a:tblGrid>
                <a:gridCol w="889208">
                  <a:extLst>
                    <a:ext uri="{9D8B030D-6E8A-4147-A177-3AD203B41FA5}">
                      <a16:colId xmlns:a16="http://schemas.microsoft.com/office/drawing/2014/main" val="939584900"/>
                    </a:ext>
                  </a:extLst>
                </a:gridCol>
                <a:gridCol w="4453008">
                  <a:extLst>
                    <a:ext uri="{9D8B030D-6E8A-4147-A177-3AD203B41FA5}">
                      <a16:colId xmlns:a16="http://schemas.microsoft.com/office/drawing/2014/main" val="3405540290"/>
                    </a:ext>
                  </a:extLst>
                </a:gridCol>
              </a:tblGrid>
              <a:tr h="0">
                <a:tc>
                  <a:txBody>
                    <a:bodyPr/>
                    <a:lstStyle/>
                    <a:p>
                      <a:pPr algn="l" fontAlgn="ctr"/>
                      <a:r>
                        <a:rPr lang="en-AU">
                          <a:effectLst/>
                        </a:rPr>
                        <a:t>•</a:t>
                      </a:r>
                    </a:p>
                  </a:txBody>
                  <a:tcPr marL="57150" marR="57150" marT="57150" marB="57150" anchor="ctr">
                    <a:lnL>
                      <a:noFill/>
                    </a:lnL>
                    <a:lnR>
                      <a:noFill/>
                    </a:lnR>
                    <a:lnT>
                      <a:noFill/>
                    </a:lnT>
                    <a:lnB>
                      <a:noFill/>
                    </a:lnB>
                    <a:solidFill>
                      <a:srgbClr val="FFFFFF"/>
                    </a:solidFill>
                  </a:tcPr>
                </a:tc>
                <a:tc>
                  <a:txBody>
                    <a:bodyPr/>
                    <a:lstStyle/>
                    <a:p>
                      <a:pPr algn="l" fontAlgn="ctr"/>
                      <a:r>
                        <a:rPr lang="en-AU">
                          <a:effectLst/>
                        </a:rPr>
                        <a:t>electrons are in </a:t>
                      </a:r>
                      <a:r>
                        <a:rPr lang="en-AU" b="1">
                          <a:effectLst/>
                        </a:rPr>
                        <a:t>orbitals</a:t>
                      </a:r>
                      <a:r>
                        <a:rPr lang="en-AU">
                          <a:effectLst/>
                        </a:rPr>
                        <a:t> which correspond to </a:t>
                      </a:r>
                      <a:r>
                        <a:rPr lang="en-AU" b="1">
                          <a:solidFill>
                            <a:srgbClr val="E04E50"/>
                          </a:solidFill>
                          <a:effectLst/>
                        </a:rPr>
                        <a:t>energy states</a:t>
                      </a:r>
                      <a:r>
                        <a:rPr lang="en-AU">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555698297"/>
                  </a:ext>
                </a:extLst>
              </a:tr>
              <a:tr h="0">
                <a:tc>
                  <a:txBody>
                    <a:bodyPr/>
                    <a:lstStyle/>
                    <a:p>
                      <a:pPr algn="l" fontAlgn="ctr"/>
                      <a:r>
                        <a:rPr lang="en-AU">
                          <a:effectLst/>
                        </a:rPr>
                        <a:t>•</a:t>
                      </a:r>
                    </a:p>
                  </a:txBody>
                  <a:tcPr marL="57150" marR="57150" marT="57150" marB="57150" anchor="ctr">
                    <a:lnL>
                      <a:noFill/>
                    </a:lnL>
                    <a:lnR>
                      <a:noFill/>
                    </a:lnR>
                    <a:lnT>
                      <a:noFill/>
                    </a:lnT>
                    <a:lnB>
                      <a:noFill/>
                    </a:lnB>
                    <a:solidFill>
                      <a:srgbClr val="FFFFFF"/>
                    </a:solidFill>
                  </a:tcPr>
                </a:tc>
                <a:tc>
                  <a:txBody>
                    <a:bodyPr/>
                    <a:lstStyle/>
                    <a:p>
                      <a:pPr algn="l" fontAlgn="ctr"/>
                      <a:r>
                        <a:rPr lang="en-AU">
                          <a:effectLst/>
                        </a:rPr>
                        <a:t>there is a </a:t>
                      </a:r>
                      <a:r>
                        <a:rPr lang="en-AU" b="1">
                          <a:effectLst/>
                        </a:rPr>
                        <a:t>dense, positive </a:t>
                      </a:r>
                      <a:r>
                        <a:rPr lang="en-AU" b="1">
                          <a:solidFill>
                            <a:srgbClr val="E04E50"/>
                          </a:solidFill>
                          <a:effectLst/>
                        </a:rPr>
                        <a:t>nucleus</a:t>
                      </a:r>
                      <a:r>
                        <a:rPr lang="en-AU">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94836581"/>
                  </a:ext>
                </a:extLst>
              </a:tr>
              <a:tr h="0">
                <a:tc>
                  <a:txBody>
                    <a:bodyPr/>
                    <a:lstStyle/>
                    <a:p>
                      <a:pPr algn="l" fontAlgn="ctr"/>
                      <a:r>
                        <a:rPr lang="en-AU">
                          <a:effectLst/>
                        </a:rPr>
                        <a:t>•</a:t>
                      </a:r>
                    </a:p>
                  </a:txBody>
                  <a:tcPr marL="57150" marR="57150" marT="57150" marB="57150" anchor="ctr">
                    <a:lnL>
                      <a:noFill/>
                    </a:lnL>
                    <a:lnR>
                      <a:noFill/>
                    </a:lnR>
                    <a:lnT>
                      <a:noFill/>
                    </a:lnT>
                    <a:lnB>
                      <a:noFill/>
                    </a:lnB>
                    <a:solidFill>
                      <a:srgbClr val="FFFFFF"/>
                    </a:solidFill>
                  </a:tcPr>
                </a:tc>
                <a:tc>
                  <a:txBody>
                    <a:bodyPr/>
                    <a:lstStyle/>
                    <a:p>
                      <a:pPr algn="l" fontAlgn="ctr"/>
                      <a:r>
                        <a:rPr lang="en-AU" dirty="0">
                          <a:effectLst/>
                        </a:rPr>
                        <a:t>most of the atom is </a:t>
                      </a:r>
                      <a:r>
                        <a:rPr lang="en-AU" b="1" dirty="0">
                          <a:effectLst/>
                        </a:rPr>
                        <a:t>empty</a:t>
                      </a:r>
                      <a:r>
                        <a:rPr lang="en-AU" dirty="0">
                          <a:effectLst/>
                        </a:rPr>
                        <a:t> space.</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873868283"/>
                  </a:ext>
                </a:extLst>
              </a:tr>
            </a:tbl>
          </a:graphicData>
        </a:graphic>
      </p:graphicFrame>
      <p:pic>
        <p:nvPicPr>
          <p:cNvPr id="17411" name="Picture 3" descr="https://www.educationperfect.com/media/content/Science/1420661911.781091g/1420661912063-394165143-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6546" y="3150573"/>
            <a:ext cx="3350092" cy="318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9691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s://www.educationperfect.com/media/content/Science/1447128765.326051g/1447128763646-3578476633067403-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411163"/>
            <a:ext cx="2857500" cy="36290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597400" y="1238935"/>
            <a:ext cx="6096000" cy="646331"/>
          </a:xfrm>
          <a:prstGeom prst="rect">
            <a:avLst/>
          </a:prstGeom>
        </p:spPr>
        <p:txBody>
          <a:bodyPr>
            <a:spAutoFit/>
          </a:bodyPr>
          <a:lstStyle/>
          <a:p>
            <a:r>
              <a:rPr lang="en-AU" b="1" i="0" dirty="0" smtClean="0">
                <a:solidFill>
                  <a:srgbClr val="E04E50"/>
                </a:solidFill>
                <a:effectLst/>
                <a:latin typeface="Arial" panose="020B0604020202020204" pitchFamily="34" charset="0"/>
              </a:rPr>
              <a:t>Neutrons</a:t>
            </a:r>
            <a:r>
              <a:rPr lang="en-AU" b="0" i="0" dirty="0" smtClean="0">
                <a:solidFill>
                  <a:srgbClr val="444444"/>
                </a:solidFill>
                <a:effectLst/>
                <a:latin typeface="Arial" panose="020B0604020202020204" pitchFamily="34" charset="0"/>
              </a:rPr>
              <a:t> were discovered by one of Rutherford's students, </a:t>
            </a:r>
            <a:r>
              <a:rPr lang="en-AU" b="1" i="0" dirty="0" smtClean="0">
                <a:solidFill>
                  <a:srgbClr val="444444"/>
                </a:solidFill>
                <a:effectLst/>
                <a:latin typeface="Arial" panose="020B0604020202020204" pitchFamily="34" charset="0"/>
              </a:rPr>
              <a:t>James Chadwick,</a:t>
            </a:r>
            <a:r>
              <a:rPr lang="en-AU" b="0" i="0" dirty="0" smtClean="0">
                <a:solidFill>
                  <a:srgbClr val="444444"/>
                </a:solidFill>
                <a:effectLst/>
                <a:latin typeface="Arial" panose="020B0604020202020204" pitchFamily="34" charset="0"/>
              </a:rPr>
              <a:t> in </a:t>
            </a:r>
            <a:r>
              <a:rPr lang="en-AU" b="1" i="0" dirty="0" smtClean="0">
                <a:solidFill>
                  <a:srgbClr val="444444"/>
                </a:solidFill>
                <a:effectLst/>
                <a:latin typeface="KaTeX_Main"/>
              </a:rPr>
              <a:t>1932</a:t>
            </a:r>
            <a:r>
              <a:rPr lang="en-AU" b="0" i="0" dirty="0" smtClean="0">
                <a:solidFill>
                  <a:srgbClr val="444444"/>
                </a:solidFill>
                <a:effectLst/>
                <a:latin typeface="Arial" panose="020B0604020202020204" pitchFamily="34" charset="0"/>
              </a:rPr>
              <a:t>.</a:t>
            </a:r>
            <a:endParaRPr lang="en-AU" dirty="0"/>
          </a:p>
        </p:txBody>
      </p:sp>
      <p:sp>
        <p:nvSpPr>
          <p:cNvPr id="4" name="Rectangle 3"/>
          <p:cNvSpPr/>
          <p:nvPr/>
        </p:nvSpPr>
        <p:spPr>
          <a:xfrm>
            <a:off x="977900" y="4836636"/>
            <a:ext cx="6096000" cy="1477328"/>
          </a:xfrm>
          <a:prstGeom prst="rect">
            <a:avLst/>
          </a:prstGeom>
        </p:spPr>
        <p:txBody>
          <a:bodyPr>
            <a:spAutoFit/>
          </a:bodyPr>
          <a:lstStyle/>
          <a:p>
            <a:r>
              <a:rPr lang="en-AU" b="0" i="0" dirty="0" smtClean="0">
                <a:solidFill>
                  <a:srgbClr val="444444"/>
                </a:solidFill>
                <a:effectLst/>
                <a:latin typeface="Arial" panose="020B0604020202020204" pitchFamily="34" charset="0"/>
              </a:rPr>
              <a:t>Chadwick reasoned that a </a:t>
            </a:r>
            <a:r>
              <a:rPr lang="en-AU" b="1" i="0" dirty="0" smtClean="0">
                <a:solidFill>
                  <a:srgbClr val="0066CC"/>
                </a:solidFill>
                <a:effectLst/>
                <a:latin typeface="Arial" panose="020B0604020202020204" pitchFamily="34" charset="0"/>
              </a:rPr>
              <a:t>neutral subatomic particle</a:t>
            </a:r>
            <a:r>
              <a:rPr lang="en-AU" b="0" i="0" dirty="0" smtClean="0">
                <a:solidFill>
                  <a:srgbClr val="444444"/>
                </a:solidFill>
                <a:effectLst/>
                <a:latin typeface="Arial" panose="020B0604020202020204" pitchFamily="34" charset="0"/>
              </a:rPr>
              <a:t> must exist in the nucleus of the atom. This was because if there was nothing else in the nucleus the positive protons would </a:t>
            </a:r>
            <a:r>
              <a:rPr lang="en-AU" b="1" i="0" dirty="0" smtClean="0">
                <a:solidFill>
                  <a:srgbClr val="228B22"/>
                </a:solidFill>
                <a:effectLst/>
                <a:latin typeface="Arial" panose="020B0604020202020204" pitchFamily="34" charset="0"/>
              </a:rPr>
              <a:t>repel each other,</a:t>
            </a:r>
            <a:r>
              <a:rPr lang="en-AU" b="0" i="0" dirty="0" smtClean="0">
                <a:solidFill>
                  <a:srgbClr val="444444"/>
                </a:solidFill>
                <a:effectLst/>
                <a:latin typeface="Arial" panose="020B0604020202020204" pitchFamily="34" charset="0"/>
              </a:rPr>
              <a:t> ripping the nucleus apart.</a:t>
            </a:r>
            <a:endParaRPr lang="en-AU" dirty="0"/>
          </a:p>
        </p:txBody>
      </p:sp>
      <p:pic>
        <p:nvPicPr>
          <p:cNvPr id="18436" name="Picture 4" descr="https://www.educationperfect.com/media/content/German/1449023091.639591g/1449023114252-1938215532793457-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5" y="2601912"/>
            <a:ext cx="3800475" cy="320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708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8900" y="472639"/>
            <a:ext cx="103505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Chadwick's discovery of neutrons led to the development of the </a:t>
            </a:r>
            <a:r>
              <a:rPr lang="en-AU" b="1" i="0" dirty="0" smtClean="0">
                <a:solidFill>
                  <a:srgbClr val="E04E50"/>
                </a:solidFill>
                <a:effectLst/>
                <a:latin typeface="Arial" panose="020B0604020202020204" pitchFamily="34" charset="0"/>
              </a:rPr>
              <a:t>Chadwick-Bohr model</a:t>
            </a:r>
            <a:r>
              <a:rPr lang="en-AU" b="0" i="0" dirty="0" smtClean="0">
                <a:solidFill>
                  <a:srgbClr val="444444"/>
                </a:solidFill>
                <a:effectLst/>
                <a:latin typeface="Arial" panose="020B0604020202020204" pitchFamily="34" charset="0"/>
              </a:rPr>
              <a:t> of the atom, which is the model commonly used today.</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model has </a:t>
            </a:r>
            <a:r>
              <a:rPr lang="en-AU" b="1" i="0" dirty="0" smtClean="0">
                <a:solidFill>
                  <a:srgbClr val="0066CC"/>
                </a:solidFill>
                <a:effectLst/>
                <a:latin typeface="Arial" panose="020B0604020202020204" pitchFamily="34" charset="0"/>
              </a:rPr>
              <a:t>protons and neutrons</a:t>
            </a:r>
            <a:r>
              <a:rPr lang="en-AU" b="0" i="0" dirty="0" smtClean="0">
                <a:solidFill>
                  <a:srgbClr val="444444"/>
                </a:solidFill>
                <a:effectLst/>
                <a:latin typeface="Arial" panose="020B0604020202020204" pitchFamily="34" charset="0"/>
              </a:rPr>
              <a:t> making up a positively charged </a:t>
            </a:r>
            <a:r>
              <a:rPr lang="en-AU" b="1" i="0" dirty="0" smtClean="0">
                <a:solidFill>
                  <a:srgbClr val="0066CC"/>
                </a:solidFill>
                <a:effectLst/>
                <a:latin typeface="Arial" panose="020B0604020202020204" pitchFamily="34" charset="0"/>
              </a:rPr>
              <a:t>nucleus,</a:t>
            </a:r>
            <a:r>
              <a:rPr lang="en-AU" b="0" i="0" dirty="0" smtClean="0">
                <a:solidFill>
                  <a:srgbClr val="444444"/>
                </a:solidFill>
                <a:effectLst/>
                <a:latin typeface="Arial" panose="020B0604020202020204" pitchFamily="34" charset="0"/>
              </a:rPr>
              <a:t> and </a:t>
            </a:r>
            <a:r>
              <a:rPr lang="en-AU" b="1" i="0" dirty="0" smtClean="0">
                <a:solidFill>
                  <a:srgbClr val="228B22"/>
                </a:solidFill>
                <a:effectLst/>
                <a:latin typeface="Arial" panose="020B0604020202020204" pitchFamily="34" charset="0"/>
              </a:rPr>
              <a:t>electrons orbiting</a:t>
            </a:r>
            <a:r>
              <a:rPr lang="en-AU" b="0" i="0" dirty="0" smtClean="0">
                <a:solidFill>
                  <a:srgbClr val="444444"/>
                </a:solidFill>
                <a:effectLst/>
                <a:latin typeface="Arial" panose="020B0604020202020204" pitchFamily="34" charset="0"/>
              </a:rPr>
              <a:t> around the nucleus in </a:t>
            </a:r>
            <a:r>
              <a:rPr lang="en-AU" b="1" i="0" dirty="0" smtClean="0">
                <a:solidFill>
                  <a:srgbClr val="444444"/>
                </a:solidFill>
                <a:effectLst/>
                <a:latin typeface="Arial" panose="020B0604020202020204" pitchFamily="34" charset="0"/>
              </a:rPr>
              <a:t>specific energy levels</a:t>
            </a:r>
            <a:r>
              <a:rPr lang="en-AU" b="0" i="0" dirty="0" smtClean="0">
                <a:solidFill>
                  <a:srgbClr val="444444"/>
                </a:solidFill>
                <a:effectLst/>
                <a:latin typeface="Arial" panose="020B0604020202020204" pitchFamily="34" charset="0"/>
              </a:rPr>
              <a:t> called </a:t>
            </a:r>
            <a:r>
              <a:rPr lang="en-AU" b="1" i="0" dirty="0" smtClean="0">
                <a:solidFill>
                  <a:srgbClr val="228B22"/>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Each orbital holds a certain number of electrons.</a:t>
            </a:r>
            <a:endParaRPr lang="en-AU" b="0" i="0" dirty="0">
              <a:solidFill>
                <a:srgbClr val="444444"/>
              </a:solidFill>
              <a:effectLst/>
              <a:latin typeface="Arial" panose="020B0604020202020204" pitchFamily="34" charset="0"/>
            </a:endParaRPr>
          </a:p>
        </p:txBody>
      </p:sp>
      <p:pic>
        <p:nvPicPr>
          <p:cNvPr id="19458" name="Picture 2" descr="https://www.educationperfect.com/media/content/Science/1447236097.807181g/1447236095861-308774733258816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7175" y="3611562"/>
            <a:ext cx="2857500" cy="2638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724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188</Words>
  <Application>Microsoft Office PowerPoint</Application>
  <PresentationFormat>Widescreen</PresentationFormat>
  <Paragraphs>66</Paragraphs>
  <Slides>23</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KaTeX_Main</vt:lpstr>
      <vt:lpstr>Office Theme</vt:lpstr>
      <vt:lpstr>History of the atom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of the atom</dc:title>
  <dc:creator>Joseph D'cruz</dc:creator>
  <cp:lastModifiedBy>Joseph D'cruz</cp:lastModifiedBy>
  <cp:revision>3</cp:revision>
  <dcterms:created xsi:type="dcterms:W3CDTF">2021-12-18T14:06:55Z</dcterms:created>
  <dcterms:modified xsi:type="dcterms:W3CDTF">2021-12-18T14:31:13Z</dcterms:modified>
</cp:coreProperties>
</file>
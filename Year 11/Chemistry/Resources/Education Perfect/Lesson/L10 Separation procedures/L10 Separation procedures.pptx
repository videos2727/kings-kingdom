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1" r:id="rId18"/>
    <p:sldId id="272" r:id="rId19"/>
    <p:sldId id="273" r:id="rId20"/>
    <p:sldId id="274" r:id="rId21"/>
    <p:sldId id="279" r:id="rId22"/>
    <p:sldId id="278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6472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816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7773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345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370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86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510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44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191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56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166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FD74-592A-46CE-B917-15824F4438BD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E3982-100A-41B1-AB43-7E1BA66470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9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Separation procedures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495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Introduction to Separation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00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08300" y="9607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23947"/>
              </p:ext>
            </p:extLst>
          </p:nvPr>
        </p:nvGraphicFramePr>
        <p:xfrm>
          <a:off x="1346200" y="1594644"/>
          <a:ext cx="10515600" cy="116586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1377233584"/>
                    </a:ext>
                  </a:extLst>
                </a:gridCol>
                <a:gridCol w="9334500">
                  <a:extLst>
                    <a:ext uri="{9D8B030D-6E8A-4147-A177-3AD203B41FA5}">
                      <a16:colId xmlns:a16="http://schemas.microsoft.com/office/drawing/2014/main" val="37320655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b="1" dirty="0" smtClean="0">
                          <a:effectLst/>
                          <a:latin typeface="KaTeX_Main"/>
                        </a:rPr>
                        <a:t>1</a:t>
                      </a:r>
                      <a:r>
                        <a:rPr lang="en-AU" b="1" dirty="0">
                          <a:effectLst/>
                          <a:latin typeface="KaTeX_Main"/>
                        </a:rPr>
                        <a:t>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>
                          <a:solidFill>
                            <a:srgbClr val="64B131"/>
                          </a:solidFill>
                          <a:effectLst/>
                        </a:rPr>
                        <a:t>List</a:t>
                      </a:r>
                      <a:r>
                        <a:rPr lang="en-AU" b="1">
                          <a:effectLst/>
                        </a:rPr>
                        <a:t> examples of </a:t>
                      </a:r>
                      <a:r>
                        <a:rPr lang="en-AU" b="1">
                          <a:solidFill>
                            <a:srgbClr val="21A0B1"/>
                          </a:solidFill>
                          <a:effectLst/>
                        </a:rPr>
                        <a:t>mixtures</a:t>
                      </a:r>
                      <a:r>
                        <a:rPr lang="en-AU" b="1">
                          <a:effectLst/>
                        </a:rPr>
                        <a:t> and </a:t>
                      </a:r>
                      <a:r>
                        <a:rPr lang="en-AU" b="1">
                          <a:solidFill>
                            <a:srgbClr val="21A0B1"/>
                          </a:solidFill>
                          <a:effectLst/>
                        </a:rPr>
                        <a:t>separation techniques</a:t>
                      </a:r>
                      <a:r>
                        <a:rPr lang="en-AU" b="1">
                          <a:effectLst/>
                        </a:rPr>
                        <a:t> that are used in everyday life.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542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b="1" dirty="0" smtClean="0">
                          <a:effectLst/>
                          <a:latin typeface="KaTeX_Main"/>
                        </a:rPr>
                        <a:t>2</a:t>
                      </a:r>
                      <a:r>
                        <a:rPr lang="en-AU" b="1" dirty="0">
                          <a:effectLst/>
                          <a:latin typeface="KaTeX_Main"/>
                        </a:rPr>
                        <a:t>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>
                          <a:solidFill>
                            <a:srgbClr val="64B131"/>
                          </a:solidFill>
                          <a:effectLst/>
                        </a:rPr>
                        <a:t>Describe</a:t>
                      </a:r>
                      <a:r>
                        <a:rPr lang="en-AU" b="1">
                          <a:effectLst/>
                        </a:rPr>
                        <a:t> the methods used to </a:t>
                      </a:r>
                      <a:r>
                        <a:rPr lang="en-AU" b="1">
                          <a:solidFill>
                            <a:srgbClr val="E3316F"/>
                          </a:solidFill>
                          <a:effectLst/>
                        </a:rPr>
                        <a:t>decant</a:t>
                      </a:r>
                      <a:r>
                        <a:rPr lang="en-AU" b="1">
                          <a:effectLst/>
                        </a:rPr>
                        <a:t> and </a:t>
                      </a:r>
                      <a:r>
                        <a:rPr lang="en-AU" b="1">
                          <a:solidFill>
                            <a:srgbClr val="0066CC"/>
                          </a:solidFill>
                          <a:effectLst/>
                        </a:rPr>
                        <a:t>strain</a:t>
                      </a:r>
                      <a:r>
                        <a:rPr lang="en-AU" b="1">
                          <a:effectLst/>
                        </a:rPr>
                        <a:t> substances.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6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b="1" dirty="0" smtClean="0">
                          <a:effectLst/>
                          <a:latin typeface="KaTeX_Main"/>
                        </a:rPr>
                        <a:t>3</a:t>
                      </a:r>
                      <a:r>
                        <a:rPr lang="en-AU" b="1" dirty="0">
                          <a:effectLst/>
                          <a:latin typeface="KaTeX_Main"/>
                        </a:rPr>
                        <a:t>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b="1" dirty="0">
                          <a:solidFill>
                            <a:srgbClr val="0077CC"/>
                          </a:solidFill>
                          <a:effectLst/>
                        </a:rPr>
                        <a:t>Compare</a:t>
                      </a:r>
                      <a:r>
                        <a:rPr lang="en-AU" b="1" dirty="0">
                          <a:effectLst/>
                        </a:rPr>
                        <a:t> </a:t>
                      </a:r>
                      <a:r>
                        <a:rPr lang="en-AU" b="1" dirty="0">
                          <a:solidFill>
                            <a:srgbClr val="E3316F"/>
                          </a:solidFill>
                          <a:effectLst/>
                        </a:rPr>
                        <a:t>decanting</a:t>
                      </a:r>
                      <a:r>
                        <a:rPr lang="en-AU" b="1" dirty="0">
                          <a:effectLst/>
                        </a:rPr>
                        <a:t> and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straining.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740877"/>
                  </a:ext>
                </a:extLst>
              </a:tr>
            </a:tbl>
          </a:graphicData>
        </a:graphic>
      </p:graphicFrame>
      <p:pic>
        <p:nvPicPr>
          <p:cNvPr id="1027" name="Picture 3" descr="https://www.educationperfect.com/media/content/Science/1525753964.900591g/1525753962048-147214290046074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2517974"/>
            <a:ext cx="46577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70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900" y="925036"/>
            <a:ext cx="108839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following lessons look at different ways to separate </a:t>
            </a:r>
            <a:r>
              <a:rPr lang="en-AU" b="1" i="0" dirty="0" smtClean="0">
                <a:solidFill>
                  <a:srgbClr val="AE009B"/>
                </a:solidFill>
                <a:effectLst/>
                <a:latin typeface="Arial" panose="020B0604020202020204" pitchFamily="34" charset="0"/>
              </a:rPr>
              <a:t>mixtures.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important that you know what the </a:t>
            </a:r>
            <a:r>
              <a:rPr lang="en-AU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different types of mixtures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ography/1526608964.458491g/1526608965251-397161787660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75" y="2974820"/>
            <a:ext cx="5229225" cy="3487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99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663139"/>
            <a:ext cx="10909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AE009B"/>
                </a:solidFill>
                <a:effectLst/>
                <a:latin typeface="Arial" panose="020B0604020202020204" pitchFamily="34" charset="0"/>
              </a:rPr>
              <a:t>Mixtures,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both natural and man-made, surround us in our daily lives.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Our food, drinks, bodies and more are all made up of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lots of different types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small particles.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situations call for removing specific types of particle from a mixture. Removing these particles is called </a:t>
            </a:r>
            <a:r>
              <a:rPr lang="en-AU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"separation".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02747723.221751g/1502747724101-214134972611626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5" y="3868738"/>
            <a:ext cx="27241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742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4100" y="966738"/>
            <a:ext cx="105029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pasta cooking in boiling water is a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suspension.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get the cooked pasta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need to </a:t>
            </a:r>
            <a:r>
              <a:rPr lang="en-AU" b="1" i="0" dirty="0" smtClean="0">
                <a:solidFill>
                  <a:srgbClr val="E38E31"/>
                </a:solidFill>
                <a:effectLst/>
                <a:latin typeface="Arial" panose="020B0604020202020204" pitchFamily="34" charset="0"/>
              </a:rPr>
              <a:t>separate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suspension into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pasta and water.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do this you use a </a:t>
            </a:r>
            <a:r>
              <a:rPr lang="en-AU" b="1" i="0" dirty="0" smtClean="0">
                <a:solidFill>
                  <a:srgbClr val="BDABD8"/>
                </a:solidFill>
                <a:effectLst/>
                <a:latin typeface="Arial" panose="020B0604020202020204" pitchFamily="34" charset="0"/>
              </a:rPr>
              <a:t>sieve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drain the water off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the lid.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Geography/1517968657.180591g/1517968658129-417618530472334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2444066"/>
            <a:ext cx="447675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0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900" y="886936"/>
            <a:ext cx="10782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 of these processes (using a sieve or draining the water) are examples of two different ways to </a:t>
            </a:r>
            <a:r>
              <a:rPr lang="en-AU" b="1" i="0" dirty="0" smtClean="0">
                <a:solidFill>
                  <a:srgbClr val="E38E31"/>
                </a:solidFill>
                <a:effectLst/>
                <a:latin typeface="Arial" panose="020B0604020202020204" pitchFamily="34" charset="0"/>
              </a:rPr>
              <a:t>separate mixtures.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are called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sieving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decanting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respectively.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German/1478832499.018211g/1478832510795-138129807149745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0" y="3008313"/>
            <a:ext cx="38100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060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761137"/>
            <a:ext cx="1066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industries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focus on separating mixtures into their parts.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E38E31"/>
                </a:solidFill>
                <a:effectLst/>
                <a:latin typeface="Arial" panose="020B0604020202020204" pitchFamily="34" charset="0"/>
              </a:rPr>
              <a:t>Crude oil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mixture of many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different chemicals.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oil industry has to use many different techniques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extract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useful chemicals.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ocial%20Studies/1432519819.113381g/1432519818537-69055940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950" y="3271838"/>
            <a:ext cx="32385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470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1417935"/>
            <a:ext cx="1122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188274"/>
                </a:solidFill>
                <a:effectLst/>
                <a:latin typeface="Arial" panose="020B0604020202020204" pitchFamily="34" charset="0"/>
              </a:rPr>
              <a:t>Mining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extracts </a:t>
            </a:r>
            <a:r>
              <a:rPr lang="en-AU" b="1" i="0" dirty="0" smtClean="0">
                <a:solidFill>
                  <a:srgbClr val="FF8B1F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ground - but most metals are trapped in ores (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iron in iron ore) and must be separated to be useful.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German/1460609677.10051g/1460609696226-352316863593326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3094038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650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90538"/>
            <a:ext cx="10680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Also, </a:t>
            </a:r>
            <a:r>
              <a:rPr lang="en-AU" b="1" i="0" dirty="0" smtClean="0">
                <a:solidFill>
                  <a:srgbClr val="3883F5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found in lakes, rivers and oceans is often unable to be consumed and used safely.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separation techniques to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clean water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make it useful.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 separation is a very important process to learn about because it has </a:t>
            </a:r>
            <a:r>
              <a:rPr lang="en-AU" b="1" i="1" dirty="0" smtClean="0">
                <a:solidFill>
                  <a:srgbClr val="AE009B"/>
                </a:solidFill>
                <a:effectLst/>
                <a:latin typeface="Arial" panose="020B0604020202020204" pitchFamily="34" charset="0"/>
              </a:rPr>
              <a:t>many applications in our lives.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German/1476154590.474561g/1476154597066-34911767293445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2992438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45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752039"/>
            <a:ext cx="11518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of the simplest ways to separate a suspension is to let it </a:t>
            </a:r>
            <a:r>
              <a:rPr lang="en-AU" b="1" i="0" dirty="0" smtClean="0">
                <a:solidFill>
                  <a:srgbClr val="E37FA7"/>
                </a:solidFill>
                <a:effectLst/>
                <a:latin typeface="Arial" panose="020B0604020202020204" pitchFamily="34" charset="0"/>
              </a:rPr>
              <a:t>settle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 time.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called </a:t>
            </a:r>
            <a:r>
              <a:rPr lang="en-AU" b="1" i="1" dirty="0" smtClean="0">
                <a:solidFill>
                  <a:srgbClr val="E3897F"/>
                </a:solidFill>
                <a:effectLst/>
                <a:latin typeface="Arial" panose="020B0604020202020204" pitchFamily="34" charset="0"/>
              </a:rPr>
              <a:t>gravity separation.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Heavier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parts of a suspension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sink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bottom, and lighter parts float to the top. This creates </a:t>
            </a:r>
            <a:r>
              <a:rPr lang="en-AU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layers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separated material. It is now simple to take one part away to be used elsewhere.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446504679.181g/1446504677305-62383055826900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862" y="2954338"/>
            <a:ext cx="277177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767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100" y="53539"/>
            <a:ext cx="10871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suspension contains a solid part that settles to the bottom, we call this </a:t>
            </a:r>
            <a:r>
              <a:rPr lang="en-AU" b="1" i="1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sedimentation.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solid particles that settle are called </a:t>
            </a:r>
            <a:r>
              <a:rPr lang="en-AU" b="1" i="1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sediment.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what happens in the ocean - suspended dirt, sand, and dead animals settle to the bottom of the sea over time.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63528669.766041g/1463528670165-259033976284460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0" y="3297238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98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5200" y="194439"/>
            <a:ext cx="9550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Straining, or sieving,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separation method that </a:t>
            </a:r>
            <a:r>
              <a:rPr lang="en-AU" b="1" i="0" dirty="0" smtClean="0">
                <a:solidFill>
                  <a:srgbClr val="3883F5"/>
                </a:solidFill>
                <a:effectLst/>
                <a:latin typeface="Arial" panose="020B0604020202020204" pitchFamily="34" charset="0"/>
              </a:rPr>
              <a:t>removes liquid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 bottom of the container, leaving the solid behind.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used when the solid part of the suspension has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large particles.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Containers are designed specifically for this purpose;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colanders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used to remove water from food and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storm drains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used to remove rubbish from water.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Images/Content/Science/1373429905699-791612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75" y="277653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35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673438"/>
            <a:ext cx="106045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 </a:t>
            </a:r>
            <a:r>
              <a:rPr lang="en-AU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decant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remove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 part of the suspension.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easiest parts to remove are the </a:t>
            </a: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liquids.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can be done by </a:t>
            </a:r>
            <a:r>
              <a:rPr lang="en-AU" b="1" i="0" dirty="0" smtClean="0">
                <a:solidFill>
                  <a:srgbClr val="AE009B"/>
                </a:solidFill>
                <a:effectLst/>
                <a:latin typeface="Arial" panose="020B0604020202020204" pitchFamily="34" charset="0"/>
              </a:rPr>
              <a:t>carefully pouring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top layer off. This leaves the rest of the mixture in the container.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this method is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 very precise.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Images/Content/Science/1403134579109-560142122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75" y="3005138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533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100" y="740539"/>
            <a:ext cx="10680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Chemists use 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separatory funnel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decant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suspensions.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you can see in the image below, a separatory funnel is a piece of glassware with a </a:t>
            </a:r>
            <a:r>
              <a:rPr lang="en-AU" b="1" i="0" dirty="0" smtClean="0">
                <a:solidFill>
                  <a:srgbClr val="3883F5"/>
                </a:solidFill>
                <a:effectLst/>
                <a:latin typeface="Arial" panose="020B0604020202020204" pitchFamily="34" charset="0"/>
              </a:rPr>
              <a:t>tap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bottom.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Liquids are placed in the funnel and allowed to form </a:t>
            </a: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layers.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bottom layer can then be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removed by opening the tap,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closing it again so that all of the bottom layer is removed.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24001708.080581g/1524001708107-244061029418387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294163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162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Filtration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0877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400" y="1050836"/>
            <a:ext cx="9918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terms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filter, filtrate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residue.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filtration works.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26252084.63491g/1526252078940-114428334146537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25" y="3182938"/>
            <a:ext cx="4286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914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660738"/>
            <a:ext cx="10553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Straining is useful when a suspension contains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large solids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you need to separate.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what if you want to separate out </a:t>
            </a:r>
            <a:r>
              <a:rPr lang="en-AU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smaller solids?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a method called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filtration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remove small solids from mixtures.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446410217.648741g/1446410217730-313080541491623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322638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201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599639"/>
            <a:ext cx="10426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AE009B"/>
                </a:solidFill>
                <a:effectLst/>
                <a:latin typeface="Arial" panose="020B0604020202020204" pitchFamily="34" charset="0"/>
              </a:rPr>
              <a:t>Filtration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involves passing a suspension through a </a:t>
            </a:r>
            <a:r>
              <a:rPr lang="en-AU" b="1" i="0" dirty="0" smtClean="0">
                <a:solidFill>
                  <a:srgbClr val="AE009B"/>
                </a:solidFill>
                <a:effectLst/>
                <a:latin typeface="Arial" panose="020B0604020202020204" pitchFamily="34" charset="0"/>
              </a:rPr>
              <a:t>filter,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a material that has lots of very small holes.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tiny holes allow only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some substances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pass through and </a:t>
            </a: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not others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For example, a </a:t>
            </a:r>
            <a:r>
              <a:rPr lang="en-AU" b="1" i="0" dirty="0" smtClean="0">
                <a:solidFill>
                  <a:srgbClr val="8B4513"/>
                </a:solidFill>
                <a:effectLst/>
                <a:latin typeface="Arial" panose="020B0604020202020204" pitchFamily="34" charset="0"/>
              </a:rPr>
              <a:t>coffee filter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lets water pass through, but keeps the coffee grounds separate.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Coffee being prepared using filter pape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2981756"/>
            <a:ext cx="5054600" cy="337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129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8400" y="822236"/>
            <a:ext cx="10325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lab, we filter using </a:t>
            </a:r>
            <a:r>
              <a:rPr lang="en-AU" b="1" i="0" dirty="0" smtClean="0">
                <a:solidFill>
                  <a:srgbClr val="AE009B"/>
                </a:solidFill>
                <a:effectLst/>
                <a:latin typeface="Arial" panose="020B0604020202020204" pitchFamily="34" charset="0"/>
              </a:rPr>
              <a:t>filter paper.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has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tiny holes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let most </a:t>
            </a:r>
            <a:r>
              <a:rPr lang="en-AU" b="1" i="0" dirty="0" smtClean="0">
                <a:solidFill>
                  <a:srgbClr val="3883F5"/>
                </a:solidFill>
                <a:effectLst/>
                <a:latin typeface="Arial" panose="020B0604020202020204" pitchFamily="34" charset="0"/>
              </a:rPr>
              <a:t>liquids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through, but not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solids.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Images/Content/Maths/1390168675385-1032888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2881313"/>
            <a:ext cx="4762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10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Centrifuging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2301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10889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 centrifuge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works.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 substances can be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centrifuged.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26265763.488521g/1526265760322-21095790129141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775" y="3297238"/>
            <a:ext cx="4286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18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3200" y="396439"/>
            <a:ext cx="9639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 this to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separate mixtures.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Heavier, denser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things get pushed to the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bottom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container as it spins.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called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centrifuging.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machine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spins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suspensions very quickly, sending the solids and heavy liquids to the bottom, creating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layers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different parts of the mixture.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https://www.educationperfect.com/Images/Content/Science/1370817580058-76375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075" y="3551238"/>
            <a:ext cx="38100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600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575439"/>
            <a:ext cx="977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Centrifuging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spins a suspension very quickly.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general,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solids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be pushed to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centrifuged mixture.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no solids are present, the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heavier or more dense liquid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be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bottom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layer.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blood is centrifuged, the red blood cells are pushed to the bottom leaving the liquid plasma to float on top.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Science/1446503794.556551g/1446503795730-1339703240092130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0" y="3297238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172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753239"/>
            <a:ext cx="11074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might be thinking that the same thing can be done by </a:t>
            </a:r>
            <a:r>
              <a:rPr lang="en-AU" b="1" i="0" dirty="0" smtClean="0">
                <a:solidFill>
                  <a:srgbClr val="E38E31"/>
                </a:solidFill>
                <a:effectLst/>
                <a:latin typeface="Arial" panose="020B0604020202020204" pitchFamily="34" charset="0"/>
              </a:rPr>
              <a:t>gravity separation,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in most cases this is true.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there are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some suspensions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do not separate over time - like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colloids.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E818B6"/>
                </a:solidFill>
                <a:effectLst/>
                <a:latin typeface="Arial" panose="020B0604020202020204" pitchFamily="34" charset="0"/>
              </a:rPr>
              <a:t>spinning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created by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centrifuging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able to push the floating particles out of a colloid! This is one of the few ways to separate a colloid.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6" name="Picture 2" descr="https://www.educationperfect.com/media/content/Science/1526266322.899751g/1526266319741-21095790129141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3436938"/>
            <a:ext cx="4286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151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168</Words>
  <Application>Microsoft Office PowerPoint</Application>
  <PresentationFormat>Widescreen</PresentationFormat>
  <Paragraphs>100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KaTeX_Main</vt:lpstr>
      <vt:lpstr>Office Theme</vt:lpstr>
      <vt:lpstr>Separation procedures</vt:lpstr>
      <vt:lpstr>Introduction to Separation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Filtration</vt:lpstr>
      <vt:lpstr>PowerPoint Presentation</vt:lpstr>
      <vt:lpstr>PowerPoint Presentation</vt:lpstr>
      <vt:lpstr>PowerPoint Presentation</vt:lpstr>
      <vt:lpstr>PowerPoint Presentation</vt:lpstr>
      <vt:lpstr>Centrifuging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Separation procedures</dc:title>
  <dc:creator>Joseph D'cruz</dc:creator>
  <cp:lastModifiedBy>Joseph D'cruz</cp:lastModifiedBy>
  <cp:revision>4</cp:revision>
  <dcterms:created xsi:type="dcterms:W3CDTF">2021-12-19T09:10:11Z</dcterms:created>
  <dcterms:modified xsi:type="dcterms:W3CDTF">2021-12-19T09:47:35Z</dcterms:modified>
</cp:coreProperties>
</file>
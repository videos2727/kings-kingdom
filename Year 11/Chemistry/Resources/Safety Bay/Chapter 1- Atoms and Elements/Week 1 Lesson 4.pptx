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4214" r:id="rId1"/>
  </p:sldMasterIdLst>
  <p:sldIdLst>
    <p:sldId id="256" r:id="rId2"/>
    <p:sldId id="257" r:id="rId3"/>
    <p:sldId id="258" r:id="rId4"/>
    <p:sldId id="260" r:id="rId5"/>
    <p:sldId id="261" r:id="rId6"/>
    <p:sldId id="262" r:id="rId7"/>
    <p:sldId id="263" r:id="rId8"/>
    <p:sldId id="264"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822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21" autoAdjust="0"/>
    <p:restoredTop sz="94660"/>
  </p:normalViewPr>
  <p:slideViewPr>
    <p:cSldViewPr snapToGrid="0">
      <p:cViewPr>
        <p:scale>
          <a:sx n="68" d="100"/>
          <a:sy n="68" d="100"/>
        </p:scale>
        <p:origin x="1032" y="4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smtClean="0"/>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DDA51639-B2D6-4652-B8C3-1B4C224A7BAF}" type="datetimeFigureOut">
              <a:rPr lang="en-US" smtClean="0"/>
              <a:t>1/25/2019</a:t>
            </a:fld>
            <a:endParaRPr lang="en-US" dirty="0"/>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dirty="0"/>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23515364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2FF5DD9-2C52-442D-92E2-8072C0C3D7CD}" type="datetimeFigureOut">
              <a:rPr lang="en-US" smtClean="0"/>
              <a:t>1/25/2019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2556349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smtClean="0"/>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C44961B7-6B89-48AB-966F-622E2788EECC}" type="datetimeFigureOut">
              <a:rPr lang="en-US" smtClean="0"/>
              <a:t>1/25/2019</a:t>
            </a:fld>
            <a:endParaRPr lang="en-US" dirty="0"/>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dirty="0"/>
          </a:p>
        </p:txBody>
      </p:sp>
      <p:sp>
        <p:nvSpPr>
          <p:cNvPr id="6" name="Slide Number Placeholder 5"/>
          <p:cNvSpPr>
            <a:spLocks noGrp="1"/>
          </p:cNvSpPr>
          <p:nvPr>
            <p:ph type="sldNum" sz="quarter" idx="12"/>
          </p:nvPr>
        </p:nvSpPr>
        <p:spPr>
          <a:xfrm>
            <a:off x="8604504" y="5211060"/>
            <a:ext cx="2112264" cy="228600"/>
          </a:xfrm>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583338790"/>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BD3D6FB-79CC-4683-A046-BBE785BA1BED}" type="datetimeFigureOut">
              <a:rPr lang="en-US" smtClean="0"/>
              <a:t>1/25/2019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8994301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BC48EC7-AF6A-48D3-8284-14BACBEBDD84}" type="datetimeFigureOut">
              <a:rPr lang="en-US" smtClean="0"/>
              <a:t>1/25/2019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54067502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0B90D90-AA62-404D-A741-635B4370F9CB}" type="datetimeFigureOut">
              <a:rPr lang="en-US" smtClean="0"/>
              <a:t>1/25/2019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593550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7002E4-6836-46D1-9DBB-3C27C0DD3A89}" type="datetimeFigureOut">
              <a:rPr lang="en-US" smtClean="0"/>
              <a:t>1/25/2019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036905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smtClean="0"/>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8" name="Date Placeholder 7"/>
          <p:cNvSpPr>
            <a:spLocks noGrp="1"/>
          </p:cNvSpPr>
          <p:nvPr>
            <p:ph type="dt" sz="half" idx="10"/>
          </p:nvPr>
        </p:nvSpPr>
        <p:spPr/>
        <p:txBody>
          <a:bodyPr/>
          <a:lstStyle/>
          <a:p>
            <a:fld id="{1CF131DD-A141-4471-BCF9-C6073EDD7E20}" type="datetimeFigureOut">
              <a:rPr lang="en-US" smtClean="0"/>
              <a:t>1/25/2019</a:t>
            </a:fld>
            <a:endParaRPr lang="en-US" dirty="0"/>
          </a:p>
        </p:txBody>
      </p:sp>
      <p:sp>
        <p:nvSpPr>
          <p:cNvPr id="9" name="Footer Placeholder 8"/>
          <p:cNvSpPr>
            <a:spLocks noGrp="1"/>
          </p:cNvSpPr>
          <p:nvPr>
            <p:ph type="ftr" sz="quarter" idx="11"/>
          </p:nvPr>
        </p:nvSpPr>
        <p:spPr/>
        <p:txBody>
          <a:bodyPr/>
          <a:lstStyle>
            <a:lvl1pPr algn="r">
              <a:defRPr/>
            </a:lvl1pPr>
          </a:lstStyle>
          <a:p>
            <a:endParaRPr lang="en-US" dirty="0"/>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4FAB73BC-B049-4115-A692-8D63A059BFB8}" type="slidenum">
              <a:rPr lang="en-US" smtClean="0"/>
              <a:pPr/>
              <a:t>‹#›</a:t>
            </a:fld>
            <a:endParaRPr lang="en-US" dirty="0"/>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913762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CBC48EC7-AF6A-48D3-8284-14BACBEBDD84}" type="datetimeFigureOut">
              <a:rPr lang="en-US" smtClean="0"/>
              <a:t>1/25/2019</a:t>
            </a:fld>
            <a:endParaRPr lang="en-US" dirty="0"/>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4FAB73BC-B049-4115-A692-8D63A059BFB8}" type="slidenum">
              <a:rPr lang="en-US" smtClean="0"/>
              <a:pPr/>
              <a:t>‹#›</a:t>
            </a:fld>
            <a:endParaRPr lang="en-US" dirty="0"/>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99414231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11A6AA8-A04B-4104-9AE2-BD48D340E27F}" type="datetimeFigureOut">
              <a:rPr lang="en-US" smtClean="0"/>
              <a:t>1/25/2019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745057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4E0BF79-FAC6-4A96-8DE1-F7B82E2E1652}" type="datetimeFigureOut">
              <a:rPr lang="en-US" smtClean="0"/>
              <a:t>1/25/2019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691307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CBC48EC7-AF6A-48D3-8284-14BACBEBDD84}" type="datetimeFigureOut">
              <a:rPr lang="en-US" smtClean="0"/>
              <a:t>1/25/2019</a:t>
            </a:fld>
            <a:endParaRPr lang="en-US" dirty="0"/>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922795746"/>
      </p:ext>
    </p:extLst>
  </p:cSld>
  <p:clrMap bg1="lt1" tx1="dk1" bg2="lt2" tx2="dk2" accent1="accent1" accent2="accent2" accent3="accent3" accent4="accent4" accent5="accent5" accent6="accent6" hlink="hlink" folHlink="folHlink"/>
  <p:sldLayoutIdLst>
    <p:sldLayoutId id="2147484215" r:id="rId1"/>
    <p:sldLayoutId id="2147484216" r:id="rId2"/>
    <p:sldLayoutId id="2147484217" r:id="rId3"/>
    <p:sldLayoutId id="2147484218" r:id="rId4"/>
    <p:sldLayoutId id="2147484219" r:id="rId5"/>
    <p:sldLayoutId id="2147484220" r:id="rId6"/>
    <p:sldLayoutId id="2147484221" r:id="rId7"/>
    <p:sldLayoutId id="2147484222" r:id="rId8"/>
    <p:sldLayoutId id="2147484223" r:id="rId9"/>
    <p:sldLayoutId id="2147484224" r:id="rId10"/>
    <p:sldLayoutId id="2147484225" r:id="rId11"/>
  </p:sldLayoutIdLst>
  <p:hf sldNum="0" hdr="0" ft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Week 1 Lesson 4</a:t>
            </a:r>
            <a:endParaRPr lang="en-AU" dirty="0"/>
          </a:p>
        </p:txBody>
      </p:sp>
      <p:sp>
        <p:nvSpPr>
          <p:cNvPr id="3" name="Subtitle 2"/>
          <p:cNvSpPr>
            <a:spLocks noGrp="1"/>
          </p:cNvSpPr>
          <p:nvPr>
            <p:ph type="subTitle" idx="1"/>
          </p:nvPr>
        </p:nvSpPr>
        <p:spPr/>
        <p:txBody>
          <a:bodyPr/>
          <a:lstStyle/>
          <a:p>
            <a:r>
              <a:rPr lang="en-AU" dirty="0" smtClean="0"/>
              <a:t>History of  the atom</a:t>
            </a:r>
            <a:endParaRPr lang="en-AU" dirty="0"/>
          </a:p>
        </p:txBody>
      </p:sp>
    </p:spTree>
    <p:extLst>
      <p:ext uri="{BB962C8B-B14F-4D97-AF65-F5344CB8AC3E}">
        <p14:creationId xmlns:p14="http://schemas.microsoft.com/office/powerpoint/2010/main" val="155426620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b="1" i="1" dirty="0"/>
              <a:t>F</a:t>
            </a:r>
            <a:r>
              <a:rPr lang="en-AU" b="1" i="1" dirty="0" smtClean="0"/>
              <a:t>indings </a:t>
            </a:r>
            <a:r>
              <a:rPr lang="en-AU" b="1" i="1" dirty="0"/>
              <a:t>from a range of scientific experiments contributed to the understanding of the atom, enabling scientists, including Dalton, Thomson, Rutherford, Bohr and Chadwick to develop models of atomic structure and make reliable predictions about the mass, charge and location of the sub-atomic particles.</a:t>
            </a:r>
          </a:p>
          <a:p>
            <a:r>
              <a:rPr lang="en-AU" dirty="0" smtClean="0">
                <a:solidFill>
                  <a:srgbClr val="FF0000"/>
                </a:solidFill>
              </a:rPr>
              <a:t>Refer page: 13-18 of Essential Chemistry Unit 1&amp;2 </a:t>
            </a:r>
          </a:p>
          <a:p>
            <a:endParaRPr lang="en-AU" dirty="0">
              <a:solidFill>
                <a:srgbClr val="FF0000"/>
              </a:solidFill>
            </a:endParaRPr>
          </a:p>
        </p:txBody>
      </p:sp>
    </p:spTree>
    <p:extLst>
      <p:ext uri="{BB962C8B-B14F-4D97-AF65-F5344CB8AC3E}">
        <p14:creationId xmlns:p14="http://schemas.microsoft.com/office/powerpoint/2010/main" val="18630273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John Dalton: Proposing the atomic theory</a:t>
            </a:r>
            <a:endParaRPr lang="en-AU" dirty="0"/>
          </a:p>
        </p:txBody>
      </p:sp>
      <p:sp>
        <p:nvSpPr>
          <p:cNvPr id="3" name="Content Placeholder 2"/>
          <p:cNvSpPr>
            <a:spLocks noGrp="1"/>
          </p:cNvSpPr>
          <p:nvPr>
            <p:ph idx="1"/>
          </p:nvPr>
        </p:nvSpPr>
        <p:spPr/>
        <p:txBody>
          <a:bodyPr>
            <a:normAutofit/>
          </a:bodyPr>
          <a:lstStyle/>
          <a:p>
            <a:r>
              <a:rPr lang="en-AU" sz="1600" dirty="0" smtClean="0"/>
              <a:t>Over the period 1803-1808 Dalton presented and published a precise definition of the indivisible building blocks of matter ( atoms).</a:t>
            </a:r>
          </a:p>
          <a:p>
            <a:r>
              <a:rPr lang="en-AU" sz="1600" dirty="0" smtClean="0"/>
              <a:t>His atomic theory can be summarised as follows:</a:t>
            </a:r>
          </a:p>
          <a:p>
            <a:r>
              <a:rPr lang="en-AU" sz="1600" dirty="0" smtClean="0"/>
              <a:t>Elements are composed of extremely small particles called atoms.</a:t>
            </a:r>
          </a:p>
          <a:p>
            <a:r>
              <a:rPr lang="en-AU" sz="1600" dirty="0" smtClean="0"/>
              <a:t>Atoms of different elements have a different size, mass and chemical properties.</a:t>
            </a:r>
          </a:p>
          <a:p>
            <a:r>
              <a:rPr lang="en-AU" sz="1600" dirty="0" smtClean="0"/>
              <a:t>Atoms are not created nor destroyed or changed into different types during a chemical reaction.</a:t>
            </a:r>
          </a:p>
          <a:p>
            <a:r>
              <a:rPr lang="en-AU" sz="1600" dirty="0" smtClean="0"/>
              <a:t>A chemical reaction involves only separation, combination or rearrangement of atoms.</a:t>
            </a:r>
          </a:p>
          <a:p>
            <a:r>
              <a:rPr lang="en-AU" sz="1600" dirty="0" smtClean="0"/>
              <a:t>Compounds are  formed when atoms of more than one element combine in a specific ratio.</a:t>
            </a:r>
          </a:p>
          <a:p>
            <a:r>
              <a:rPr lang="en-AU" dirty="0" smtClean="0">
                <a:solidFill>
                  <a:srgbClr val="382296"/>
                </a:solidFill>
              </a:rPr>
              <a:t>Although Dalton had made great progress with his atomic theory by identifying elements as consisting of indestructible particles called atoms, he was unable to draw any conclusions as to their  structure.</a:t>
            </a:r>
            <a:endParaRPr lang="en-AU" dirty="0">
              <a:solidFill>
                <a:srgbClr val="382296"/>
              </a:solidFill>
            </a:endParaRPr>
          </a:p>
        </p:txBody>
      </p:sp>
    </p:spTree>
    <p:extLst>
      <p:ext uri="{BB962C8B-B14F-4D97-AF65-F5344CB8AC3E}">
        <p14:creationId xmlns:p14="http://schemas.microsoft.com/office/powerpoint/2010/main" val="33426983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dirty="0" err="1" smtClean="0"/>
              <a:t>J.J.Thomson’s</a:t>
            </a:r>
            <a:r>
              <a:rPr lang="en-AU" dirty="0" smtClean="0"/>
              <a:t> model of the atom</a:t>
            </a:r>
            <a:endParaRPr lang="en-AU" dirty="0"/>
          </a:p>
        </p:txBody>
      </p:sp>
      <p:sp>
        <p:nvSpPr>
          <p:cNvPr id="3" name="Content Placeholder 2"/>
          <p:cNvSpPr>
            <a:spLocks noGrp="1"/>
          </p:cNvSpPr>
          <p:nvPr>
            <p:ph idx="1"/>
          </p:nvPr>
        </p:nvSpPr>
        <p:spPr/>
        <p:txBody>
          <a:bodyPr>
            <a:normAutofit/>
          </a:bodyPr>
          <a:lstStyle/>
          <a:p>
            <a:r>
              <a:rPr lang="en-AU" sz="1600" dirty="0" smtClean="0"/>
              <a:t>The first quantitative measurements of cathode ray particles( electrons) were produced in 1897 by Thomson using a modified cathode ray tube (CRT). Cathode rays passed as a narrow beam between a pair of charged metal plates and a magnetic field. As the rays passed through the magnetic field they experienced a sideways force causing the rays to move in a curved path. By adjusting the charge applied to the metal plates inside the tube it was possible to use the deflecting force of the charged plates to cancel the deflecting force of the magnetic field so that the cathode rays once again moved in a straight path. </a:t>
            </a:r>
          </a:p>
          <a:p>
            <a:r>
              <a:rPr lang="en-AU" sz="1600" dirty="0" smtClean="0"/>
              <a:t>Thomson showed that the negative particles which made up cathode rays ( now known as electrons), had an estimated mass of around 1/ 1000</a:t>
            </a:r>
            <a:r>
              <a:rPr lang="en-AU" sz="1600" baseline="30000" dirty="0" smtClean="0"/>
              <a:t>th</a:t>
            </a:r>
            <a:r>
              <a:rPr lang="en-AU" sz="1600" dirty="0" smtClean="0"/>
              <a:t> that of the smallest known atom. </a:t>
            </a:r>
          </a:p>
          <a:p>
            <a:r>
              <a:rPr lang="en-AU" sz="1600" dirty="0" smtClean="0"/>
              <a:t>Thomson’s atomic model consisted of numerous very small negatively charged electrons imbedded within a much larger uniform positively charged sphere. The large spherical part of the atom accounted for almost all of its mass. His model, known as the ‘plum-pudding’ model of the atom, however, would prove to be short lived due to experimental work by Ernest Rutherford.</a:t>
            </a:r>
            <a:endParaRPr lang="en-AU" sz="1600" dirty="0"/>
          </a:p>
        </p:txBody>
      </p:sp>
      <p:pic>
        <p:nvPicPr>
          <p:cNvPr id="4" name="Picture 3" descr="See the source image"/>
          <p:cNvPicPr/>
          <p:nvPr/>
        </p:nvPicPr>
        <p:blipFill>
          <a:blip r:embed="rId2">
            <a:extLst>
              <a:ext uri="{28A0092B-C50C-407E-A947-70E740481C1C}">
                <a14:useLocalDpi xmlns:a14="http://schemas.microsoft.com/office/drawing/2010/main" val="0"/>
              </a:ext>
            </a:extLst>
          </a:blip>
          <a:srcRect/>
          <a:stretch>
            <a:fillRect/>
          </a:stretch>
        </p:blipFill>
        <p:spPr bwMode="auto">
          <a:xfrm>
            <a:off x="10148711" y="5547580"/>
            <a:ext cx="1754080" cy="1152771"/>
          </a:xfrm>
          <a:prstGeom prst="rect">
            <a:avLst/>
          </a:prstGeom>
          <a:noFill/>
          <a:ln>
            <a:noFill/>
          </a:ln>
        </p:spPr>
      </p:pic>
    </p:spTree>
    <p:extLst>
      <p:ext uri="{BB962C8B-B14F-4D97-AF65-F5344CB8AC3E}">
        <p14:creationId xmlns:p14="http://schemas.microsoft.com/office/powerpoint/2010/main" val="75088451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Rutherford’s model of the atom</a:t>
            </a:r>
            <a:endParaRPr lang="en-AU" dirty="0"/>
          </a:p>
        </p:txBody>
      </p:sp>
      <p:sp>
        <p:nvSpPr>
          <p:cNvPr id="3" name="Content Placeholder 2"/>
          <p:cNvSpPr>
            <a:spLocks noGrp="1"/>
          </p:cNvSpPr>
          <p:nvPr>
            <p:ph idx="1"/>
          </p:nvPr>
        </p:nvSpPr>
        <p:spPr/>
        <p:txBody>
          <a:bodyPr/>
          <a:lstStyle/>
          <a:p>
            <a:r>
              <a:rPr lang="en-AU" dirty="0" smtClean="0"/>
              <a:t>Rutherford’s gold foil experiment involved directing a beam of alpha particles towards a thin sheet of gold foil. The scattered alpha particles are observed through a microscope as they cause a flash of light when they strike the </a:t>
            </a:r>
            <a:r>
              <a:rPr lang="en-AU" dirty="0" err="1" smtClean="0"/>
              <a:t>ZnS</a:t>
            </a:r>
            <a:r>
              <a:rPr lang="en-AU" dirty="0" smtClean="0"/>
              <a:t> coated screen. Most alpha particles in the beam pass straight through the gold foil. Some show a slight deflection, while a very small percentage of alpha particles are deflected backwards. </a:t>
            </a:r>
            <a:endParaRPr lang="en-AU" dirty="0"/>
          </a:p>
        </p:txBody>
      </p:sp>
      <p:pic>
        <p:nvPicPr>
          <p:cNvPr id="4" name="Picture 3" descr="See the source image"/>
          <p:cNvPicPr/>
          <p:nvPr/>
        </p:nvPicPr>
        <p:blipFill>
          <a:blip r:embed="rId2">
            <a:extLst>
              <a:ext uri="{28A0092B-C50C-407E-A947-70E740481C1C}">
                <a14:useLocalDpi xmlns:a14="http://schemas.microsoft.com/office/drawing/2010/main" val="0"/>
              </a:ext>
            </a:extLst>
          </a:blip>
          <a:srcRect/>
          <a:stretch>
            <a:fillRect/>
          </a:stretch>
        </p:blipFill>
        <p:spPr bwMode="auto">
          <a:xfrm>
            <a:off x="4564605" y="3683726"/>
            <a:ext cx="4753565" cy="2440240"/>
          </a:xfrm>
          <a:prstGeom prst="rect">
            <a:avLst/>
          </a:prstGeom>
          <a:noFill/>
          <a:ln>
            <a:noFill/>
          </a:ln>
        </p:spPr>
      </p:pic>
    </p:spTree>
    <p:extLst>
      <p:ext uri="{BB962C8B-B14F-4D97-AF65-F5344CB8AC3E}">
        <p14:creationId xmlns:p14="http://schemas.microsoft.com/office/powerpoint/2010/main" val="12051045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a:bodyPr>
          <a:lstStyle/>
          <a:p>
            <a:r>
              <a:rPr lang="en-AU" dirty="0" smtClean="0"/>
              <a:t>If Thomson’s ‘plum-pudding’ model of the atom was correct then all of the alpha particles would pass through the gold foil with little or no deflection. This he concluded as the positive charge and mass of Thomson’s atomic model was thinly and uniformly spread throughout the atom</a:t>
            </a:r>
            <a:r>
              <a:rPr lang="en-AU" dirty="0" smtClean="0"/>
              <a:t>.</a:t>
            </a:r>
          </a:p>
          <a:p>
            <a:endParaRPr lang="en-AU" dirty="0"/>
          </a:p>
          <a:p>
            <a:r>
              <a:rPr lang="en-AU" dirty="0" smtClean="0"/>
              <a:t>In Rutherford’s model almost all of the atom’s mass and all of its positive charge are located in the nucleus with the positive charge. This model explained why most of he alpha particles in Rutherford's gold foil experiment  passed through the gold foil </a:t>
            </a:r>
            <a:r>
              <a:rPr lang="en-AU" dirty="0" err="1" smtClean="0"/>
              <a:t>undeflected</a:t>
            </a:r>
            <a:r>
              <a:rPr lang="en-AU" dirty="0" smtClean="0"/>
              <a:t>. The </a:t>
            </a:r>
            <a:r>
              <a:rPr lang="en-AU" dirty="0" err="1" smtClean="0"/>
              <a:t>undeflected</a:t>
            </a:r>
            <a:r>
              <a:rPr lang="en-AU" dirty="0" smtClean="0"/>
              <a:t> alpha particles had simply passed through the relatively empty region of the atom, the region occupied only by the very low mass particles called electrons. The very few alpha particles that passed close to or directly towards the tiny but dense and positively charged gold nuclei would show significant deflection or even be deflected backwards. </a:t>
            </a:r>
            <a:endParaRPr lang="en-AU" dirty="0"/>
          </a:p>
        </p:txBody>
      </p:sp>
    </p:spTree>
    <p:extLst>
      <p:ext uri="{BB962C8B-B14F-4D97-AF65-F5344CB8AC3E}">
        <p14:creationId xmlns:p14="http://schemas.microsoft.com/office/powerpoint/2010/main" val="4266753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Chadwick’s discovery of the neutron</a:t>
            </a:r>
            <a:endParaRPr lang="en-AU" dirty="0"/>
          </a:p>
        </p:txBody>
      </p:sp>
      <p:sp>
        <p:nvSpPr>
          <p:cNvPr id="3" name="Content Placeholder 2"/>
          <p:cNvSpPr>
            <a:spLocks noGrp="1"/>
          </p:cNvSpPr>
          <p:nvPr>
            <p:ph idx="1"/>
          </p:nvPr>
        </p:nvSpPr>
        <p:spPr/>
        <p:txBody>
          <a:bodyPr>
            <a:normAutofit/>
          </a:bodyPr>
          <a:lstStyle/>
          <a:p>
            <a:r>
              <a:rPr lang="en-AU" dirty="0" smtClean="0"/>
              <a:t>Rutherford’s model could not account for all of the atom’s mass. Experimental data by Hans Geiger and Ernest Marsden on the extent and frequency of alpha particle deflection showed the number of protons in the nucleus equalled half the atom’s relative mass. This means the protons could only account for half of the atom’s overall mass. Some other neutral particle must be present in the nucleus. </a:t>
            </a:r>
          </a:p>
          <a:p>
            <a:r>
              <a:rPr lang="en-AU" dirty="0" smtClean="0"/>
              <a:t>In 1932 Sir James Chadwick, a previous student and collaborator of Rutherford, identified the </a:t>
            </a:r>
            <a:r>
              <a:rPr lang="en-AU" dirty="0" err="1" smtClean="0"/>
              <a:t>chargeless</a:t>
            </a:r>
            <a:r>
              <a:rPr lang="en-AU" dirty="0" smtClean="0"/>
              <a:t> particle named neutrons as a product of the alpha particle bombardment of the metal Beryllium. For this he was awarded the Hughes Medal of the Royal Society in 1932 and later the Nobel Prize for Physics in 1935. </a:t>
            </a:r>
            <a:endParaRPr lang="en-AU" dirty="0"/>
          </a:p>
        </p:txBody>
      </p:sp>
      <p:pic>
        <p:nvPicPr>
          <p:cNvPr id="4" name="Picture 3" descr="See the source image"/>
          <p:cNvPicPr/>
          <p:nvPr/>
        </p:nvPicPr>
        <p:blipFill>
          <a:blip r:embed="rId2">
            <a:extLst>
              <a:ext uri="{28A0092B-C50C-407E-A947-70E740481C1C}">
                <a14:useLocalDpi xmlns:a14="http://schemas.microsoft.com/office/drawing/2010/main" val="0"/>
              </a:ext>
            </a:extLst>
          </a:blip>
          <a:srcRect/>
          <a:stretch>
            <a:fillRect/>
          </a:stretch>
        </p:blipFill>
        <p:spPr bwMode="auto">
          <a:xfrm>
            <a:off x="7789332" y="4817771"/>
            <a:ext cx="4018845" cy="1306195"/>
          </a:xfrm>
          <a:prstGeom prst="rect">
            <a:avLst/>
          </a:prstGeom>
          <a:noFill/>
          <a:ln>
            <a:noFill/>
          </a:ln>
        </p:spPr>
      </p:pic>
    </p:spTree>
    <p:extLst>
      <p:ext uri="{BB962C8B-B14F-4D97-AF65-F5344CB8AC3E}">
        <p14:creationId xmlns:p14="http://schemas.microsoft.com/office/powerpoint/2010/main" val="12258464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Bohr’s model of the atom</a:t>
            </a:r>
            <a:endParaRPr lang="en-AU" dirty="0"/>
          </a:p>
        </p:txBody>
      </p:sp>
      <p:sp>
        <p:nvSpPr>
          <p:cNvPr id="3" name="Content Placeholder 2"/>
          <p:cNvSpPr>
            <a:spLocks noGrp="1"/>
          </p:cNvSpPr>
          <p:nvPr>
            <p:ph idx="1"/>
          </p:nvPr>
        </p:nvSpPr>
        <p:spPr/>
        <p:txBody>
          <a:bodyPr>
            <a:normAutofit/>
          </a:bodyPr>
          <a:lstStyle/>
          <a:p>
            <a:r>
              <a:rPr lang="en-AU" sz="1600" dirty="0" smtClean="0"/>
              <a:t>In 1913 the Danish physicist Niels Bohr applied concepts from the newly developing field of quantum theory to propose a modified version of Rutherford’s nuclear atom. His model proposed that electrons moved about the central nucleus in circular orbits, as was first proposed by Rutherford, but that only certain orbit radii are allowed. Bohr also postulated that the electron in each orbit had a specific amount of energy with the lowest orbital radii corresponding to the lowest possible energy. </a:t>
            </a:r>
          </a:p>
          <a:p>
            <a:r>
              <a:rPr lang="en-AU" sz="1600" dirty="0" smtClean="0"/>
              <a:t>Bohr hypothesised a single light photon would be emitted from an excited atom when one of its electrons fell from a higher energy orbit to a lower energy one. The energy of the emitted photon would equal the difference in energy of the two orbits. </a:t>
            </a:r>
          </a:p>
          <a:p>
            <a:endParaRPr lang="en-AU" sz="1600" dirty="0"/>
          </a:p>
        </p:txBody>
      </p:sp>
      <p:pic>
        <p:nvPicPr>
          <p:cNvPr id="4" name="Picture 3" descr="See the source image"/>
          <p:cNvPicPr/>
          <p:nvPr/>
        </p:nvPicPr>
        <p:blipFill>
          <a:blip r:embed="rId2">
            <a:extLst>
              <a:ext uri="{28A0092B-C50C-407E-A947-70E740481C1C}">
                <a14:useLocalDpi xmlns:a14="http://schemas.microsoft.com/office/drawing/2010/main" val="0"/>
              </a:ext>
            </a:extLst>
          </a:blip>
          <a:srcRect/>
          <a:stretch>
            <a:fillRect/>
          </a:stretch>
        </p:blipFill>
        <p:spPr bwMode="auto">
          <a:xfrm>
            <a:off x="8365066" y="4357511"/>
            <a:ext cx="2658533" cy="1931741"/>
          </a:xfrm>
          <a:prstGeom prst="rect">
            <a:avLst/>
          </a:prstGeom>
          <a:noFill/>
          <a:ln>
            <a:noFill/>
          </a:ln>
        </p:spPr>
      </p:pic>
    </p:spTree>
    <p:extLst>
      <p:ext uri="{BB962C8B-B14F-4D97-AF65-F5344CB8AC3E}">
        <p14:creationId xmlns:p14="http://schemas.microsoft.com/office/powerpoint/2010/main" val="81006930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Savon</Template>
  <TotalTime>593</TotalTime>
  <Words>928</Words>
  <Application>Microsoft Office PowerPoint</Application>
  <PresentationFormat>Widescreen</PresentationFormat>
  <Paragraphs>28</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Century Gothic</vt:lpstr>
      <vt:lpstr>Garamond</vt:lpstr>
      <vt:lpstr>Savon</vt:lpstr>
      <vt:lpstr>Week 1 Lesson 4</vt:lpstr>
      <vt:lpstr>PowerPoint Presentation</vt:lpstr>
      <vt:lpstr>John Dalton: Proposing the atomic theory</vt:lpstr>
      <vt:lpstr>J.J.Thomson’s model of the atom</vt:lpstr>
      <vt:lpstr>Rutherford’s model of the atom</vt:lpstr>
      <vt:lpstr>PowerPoint Presentation</vt:lpstr>
      <vt:lpstr>Chadwick’s discovery of the neutron</vt:lpstr>
      <vt:lpstr>Bohr’s model of the atom</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 Lesson 4</dc:title>
  <dc:creator>D'CRUZ Jijy [Safety Bay Senior High School]</dc:creator>
  <cp:lastModifiedBy>D'CRUZ Jijy [Safety Bay Senior High School]</cp:lastModifiedBy>
  <cp:revision>37</cp:revision>
  <dcterms:created xsi:type="dcterms:W3CDTF">2019-01-24T13:44:29Z</dcterms:created>
  <dcterms:modified xsi:type="dcterms:W3CDTF">2019-01-25T15:39:04Z</dcterms:modified>
</cp:coreProperties>
</file>
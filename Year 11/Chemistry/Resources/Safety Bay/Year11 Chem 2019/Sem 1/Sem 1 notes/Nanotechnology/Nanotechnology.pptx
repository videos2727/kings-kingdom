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8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630937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60045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2286000"/>
            <a:ext cx="360045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p:extLst mod="1"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381001"/>
            <a:ext cx="7629525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2199634"/>
            <a:ext cx="360045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909102"/>
            <a:ext cx="360045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0045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0045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p:extLst mod="1"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6375679"/>
            <a:ext cx="925830" cy="345796"/>
          </a:xfrm>
        </p:spPr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382386"/>
            <a:ext cx="1119099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82386"/>
            <a:ext cx="6294439" cy="560040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9E9B367-02C3-43EC-ABC8-1E7FC526E5C8}" type="datetimeFigureOut">
              <a:rPr lang="en-AU" smtClean="0"/>
              <a:t>27/02/2017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2019290-FCCC-4B50-B0C2-59D5B92D4439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6600" dirty="0" smtClean="0"/>
              <a:t>Nanotechnology</a:t>
            </a:r>
            <a:endParaRPr lang="en-AU" sz="66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5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nanotechnology cartoon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632" y="620688"/>
            <a:ext cx="6840250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78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From the Syllabus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 err="1"/>
              <a:t>Nanomaterials</a:t>
            </a:r>
            <a:r>
              <a:rPr lang="en-AU" dirty="0"/>
              <a:t> are substances that contain particles in the size range </a:t>
            </a:r>
            <a:r>
              <a:rPr lang="en-AU" b="1" dirty="0"/>
              <a:t>1–100 nm. </a:t>
            </a:r>
            <a:r>
              <a:rPr lang="en-AU" dirty="0"/>
              <a:t>Matter at the </a:t>
            </a:r>
            <a:r>
              <a:rPr lang="en-AU" dirty="0" err="1"/>
              <a:t>nanoscale</a:t>
            </a:r>
            <a:r>
              <a:rPr lang="en-AU" dirty="0"/>
              <a:t> can be manipulated to </a:t>
            </a:r>
            <a:r>
              <a:rPr lang="en-AU" b="1" dirty="0"/>
              <a:t>create new materials, composites and devices</a:t>
            </a:r>
            <a:r>
              <a:rPr lang="en-AU" dirty="0"/>
              <a:t>; the different characteristics of </a:t>
            </a:r>
            <a:r>
              <a:rPr lang="en-AU" dirty="0" err="1"/>
              <a:t>nanomaterials</a:t>
            </a:r>
            <a:r>
              <a:rPr lang="en-AU" dirty="0"/>
              <a:t> can be used to provide commercially available products. As products are designed on the basis of </a:t>
            </a:r>
            <a:r>
              <a:rPr lang="en-AU" b="1" dirty="0"/>
              <a:t>properties </a:t>
            </a:r>
            <a:r>
              <a:rPr lang="en-AU" dirty="0"/>
              <a:t>which are </a:t>
            </a:r>
            <a:r>
              <a:rPr lang="en-AU" b="1" dirty="0"/>
              <a:t>different from the bulk material</a:t>
            </a:r>
            <a:r>
              <a:rPr lang="en-AU" dirty="0"/>
              <a:t>, their use can be associated with </a:t>
            </a:r>
            <a:r>
              <a:rPr lang="en-AU" b="1" dirty="0"/>
              <a:t>potential risks to health, safety and the environment</a:t>
            </a:r>
            <a:r>
              <a:rPr lang="en-AU" dirty="0"/>
              <a:t> and this has led to regulations being developed to address new and existing </a:t>
            </a:r>
            <a:r>
              <a:rPr lang="en-AU" dirty="0" err="1"/>
              <a:t>nanoform</a:t>
            </a:r>
            <a:r>
              <a:rPr lang="en-AU" dirty="0"/>
              <a:t> materials.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9025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Nanoscale</a:t>
            </a:r>
            <a:endParaRPr lang="en-AU" dirty="0"/>
          </a:p>
        </p:txBody>
      </p:sp>
      <p:pic>
        <p:nvPicPr>
          <p:cNvPr id="5" name="Picture 2" descr="Image result for nanometer defini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12776"/>
            <a:ext cx="7605456" cy="35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0564" y="4797152"/>
            <a:ext cx="5040560" cy="565785"/>
          </a:xfrm>
          <a:prstGeom prst="upArrowCallout">
            <a:avLst>
              <a:gd name="adj1" fmla="val 31276"/>
              <a:gd name="adj2" fmla="val 31277"/>
              <a:gd name="adj3" fmla="val 25000"/>
              <a:gd name="adj4" fmla="val 6497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smtClean="0"/>
              <a:t>Nanoparticles are between 1 and 100 nm in size.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1868736" y="2492896"/>
            <a:ext cx="1944216" cy="20882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86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Conversions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1nm = 10</a:t>
            </a:r>
            <a:r>
              <a:rPr lang="en-AU" sz="2800" baseline="30000" dirty="0" smtClean="0"/>
              <a:t>-9</a:t>
            </a:r>
            <a:r>
              <a:rPr lang="en-AU" sz="2800" dirty="0" smtClean="0"/>
              <a:t> m</a:t>
            </a:r>
          </a:p>
          <a:p>
            <a:r>
              <a:rPr lang="en-AU" sz="2800" dirty="0" smtClean="0"/>
              <a:t>How many </a:t>
            </a:r>
            <a:r>
              <a:rPr lang="en-AU" sz="2800" dirty="0" err="1" smtClean="0"/>
              <a:t>nanometers</a:t>
            </a:r>
            <a:r>
              <a:rPr lang="en-AU" sz="2800" dirty="0" smtClean="0"/>
              <a:t> are there in each of the following?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AU" sz="2600" dirty="0" smtClean="0"/>
              <a:t>1.0m 		= ......	10</a:t>
            </a:r>
            <a:r>
              <a:rPr lang="en-AU" sz="2600" baseline="30000" dirty="0" smtClean="0"/>
              <a:t>9</a:t>
            </a:r>
            <a:r>
              <a:rPr lang="en-AU" sz="2600" dirty="0" smtClean="0"/>
              <a:t> nm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AU" sz="2600" dirty="0" smtClean="0"/>
              <a:t>1.0 mm 	= ....	10</a:t>
            </a:r>
            <a:r>
              <a:rPr lang="en-AU" sz="2600" baseline="30000" dirty="0" smtClean="0"/>
              <a:t>6</a:t>
            </a:r>
            <a:r>
              <a:rPr lang="en-AU" sz="2600" dirty="0" smtClean="0"/>
              <a:t> nm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AU" sz="2600" dirty="0" smtClean="0"/>
              <a:t>1.0 µm 	= ....	1000 nm</a:t>
            </a:r>
          </a:p>
          <a:p>
            <a:endParaRPr lang="en-AU" sz="2800" dirty="0"/>
          </a:p>
        </p:txBody>
      </p:sp>
      <p:sp>
        <p:nvSpPr>
          <p:cNvPr id="4" name="Rectangle 3"/>
          <p:cNvSpPr/>
          <p:nvPr/>
        </p:nvSpPr>
        <p:spPr>
          <a:xfrm>
            <a:off x="4572000" y="3933801"/>
            <a:ext cx="1296144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989" y="4502967"/>
            <a:ext cx="1296144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4572000" y="5013176"/>
            <a:ext cx="1296144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are nanoparticles different?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Nanoparticles have different properties to their bulk material because of their large surface area to volume ratio.</a:t>
            </a:r>
          </a:p>
          <a:p>
            <a:r>
              <a:rPr lang="en-AU" dirty="0" smtClean="0"/>
              <a:t>In </a:t>
            </a:r>
            <a:r>
              <a:rPr lang="en-AU" dirty="0"/>
              <a:t>the bulk form, each gold </a:t>
            </a:r>
            <a:r>
              <a:rPr lang="en-AU" dirty="0" smtClean="0"/>
              <a:t>atom </a:t>
            </a:r>
            <a:r>
              <a:rPr lang="en-AU" dirty="0"/>
              <a:t>is surrounded by twelve other gold </a:t>
            </a:r>
            <a:r>
              <a:rPr lang="en-AU" dirty="0" smtClean="0"/>
              <a:t>atoms (except those at the surface); </a:t>
            </a:r>
            <a:r>
              <a:rPr lang="en-AU" dirty="0"/>
              <a:t>even the gold atoms at the surface have six adjacent gold atoms. </a:t>
            </a:r>
            <a:endParaRPr lang="en-AU" dirty="0" smtClean="0"/>
          </a:p>
          <a:p>
            <a:r>
              <a:rPr lang="en-AU" dirty="0" smtClean="0"/>
              <a:t>In </a:t>
            </a:r>
            <a:r>
              <a:rPr lang="en-AU" dirty="0"/>
              <a:t>a gold nanoparticle a much larger percentage of gold atoms sit at the surface.</a:t>
            </a:r>
            <a:endParaRPr lang="en-AU" dirty="0"/>
          </a:p>
        </p:txBody>
      </p:sp>
      <p:pic>
        <p:nvPicPr>
          <p:cNvPr id="1026" name="Picture 2" descr="A gold nanopartic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842" y="4581128"/>
            <a:ext cx="3511699" cy="180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39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3600" dirty="0" smtClean="0"/>
              <a:t>Nanoparticle properties differ from the properties of bulk materials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132856"/>
            <a:ext cx="7633742" cy="3746737"/>
          </a:xfrm>
        </p:spPr>
        <p:txBody>
          <a:bodyPr/>
          <a:lstStyle/>
          <a:p>
            <a:r>
              <a:rPr lang="en-AU" sz="2400" dirty="0" smtClean="0"/>
              <a:t>Gold </a:t>
            </a:r>
            <a:r>
              <a:rPr lang="en-AU" sz="2400" dirty="0" smtClean="0"/>
              <a:t>normally melts at 1064°C but...</a:t>
            </a:r>
          </a:p>
          <a:p>
            <a:endParaRPr lang="en-AU" dirty="0"/>
          </a:p>
        </p:txBody>
      </p:sp>
      <p:pic>
        <p:nvPicPr>
          <p:cNvPr id="3074" name="Picture 2" descr="Impact of particle size on the melting point of go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778" y="2852936"/>
            <a:ext cx="7468912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18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3600" dirty="0"/>
              <a:t>Nanoparticle properties differ from the properties of bulk materials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In bulk form, gold reflects light. </a:t>
            </a:r>
            <a:r>
              <a:rPr lang="en-AU" sz="2400" dirty="0" smtClean="0"/>
              <a:t> </a:t>
            </a:r>
          </a:p>
          <a:p>
            <a:r>
              <a:rPr lang="en-AU" sz="2400" dirty="0" smtClean="0"/>
              <a:t>At </a:t>
            </a:r>
            <a:r>
              <a:rPr lang="en-AU" sz="2400" dirty="0"/>
              <a:t>the </a:t>
            </a:r>
            <a:r>
              <a:rPr lang="en-AU" sz="2400" dirty="0" err="1"/>
              <a:t>nanoscale</a:t>
            </a:r>
            <a:r>
              <a:rPr lang="en-AU" sz="2400" dirty="0"/>
              <a:t>, </a:t>
            </a:r>
            <a:r>
              <a:rPr lang="en-AU" sz="2400" dirty="0" smtClean="0"/>
              <a:t>some wavelengths of light are absorbed.</a:t>
            </a:r>
          </a:p>
          <a:p>
            <a:r>
              <a:rPr lang="en-AU" sz="2400" dirty="0" smtClean="0"/>
              <a:t>A </a:t>
            </a:r>
            <a:r>
              <a:rPr lang="en-AU" sz="2400" dirty="0"/>
              <a:t>nanoparticle of about 90 nm in size will absorb </a:t>
            </a:r>
            <a:r>
              <a:rPr lang="en-AU" sz="2400" dirty="0" err="1"/>
              <a:t>colors</a:t>
            </a:r>
            <a:r>
              <a:rPr lang="en-AU" sz="2400" dirty="0"/>
              <a:t> on the red and yellow end of the </a:t>
            </a:r>
            <a:r>
              <a:rPr lang="en-AU" sz="2400" dirty="0" err="1"/>
              <a:t>color</a:t>
            </a:r>
            <a:r>
              <a:rPr lang="en-AU" sz="2400" dirty="0"/>
              <a:t> spectrum, making the nanoparticle appear blue-green. </a:t>
            </a:r>
            <a:r>
              <a:rPr lang="en-AU" sz="2400" dirty="0" smtClean="0"/>
              <a:t> A particle about </a:t>
            </a:r>
            <a:r>
              <a:rPr lang="en-AU" sz="2400" dirty="0"/>
              <a:t>30 nm in size, absorbs blues and greens, resulting in a red appearance.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7546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Nano Applications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Sunscreens</a:t>
            </a:r>
          </a:p>
          <a:p>
            <a:r>
              <a:rPr lang="en-AU" dirty="0" smtClean="0"/>
              <a:t>Surface coatings</a:t>
            </a:r>
          </a:p>
          <a:p>
            <a:r>
              <a:rPr lang="en-AU" dirty="0" smtClean="0"/>
              <a:t>Drug delivery</a:t>
            </a:r>
          </a:p>
          <a:p>
            <a:r>
              <a:rPr lang="en-AU" dirty="0" smtClean="0"/>
              <a:t>Composite materials (lighter </a:t>
            </a:r>
            <a:r>
              <a:rPr lang="en-AU" smtClean="0"/>
              <a:t>&amp; stronger)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44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Safety Issues?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err="1" smtClean="0"/>
              <a:t>Nanoscale</a:t>
            </a:r>
            <a:r>
              <a:rPr lang="en-AU" sz="2800" dirty="0" smtClean="0"/>
              <a:t> ingredients are regulated but the risks of using </a:t>
            </a:r>
            <a:r>
              <a:rPr lang="en-AU" sz="2800" dirty="0" err="1" smtClean="0"/>
              <a:t>nanoscale</a:t>
            </a:r>
            <a:r>
              <a:rPr lang="en-AU" sz="2800" dirty="0" smtClean="0"/>
              <a:t> materials is not fully understood.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743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321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Badge</vt:lpstr>
      <vt:lpstr>Nanotechnology</vt:lpstr>
      <vt:lpstr>PowerPoint Presentation</vt:lpstr>
      <vt:lpstr>From the Syllabus</vt:lpstr>
      <vt:lpstr>Nanoscale</vt:lpstr>
      <vt:lpstr>Conversions</vt:lpstr>
      <vt:lpstr>Why are nanoparticles different?</vt:lpstr>
      <vt:lpstr>Nanoparticle properties differ from the properties of bulk materials</vt:lpstr>
      <vt:lpstr>Nanoparticle properties differ from the properties of bulk materials</vt:lpstr>
      <vt:lpstr>Nano Applications</vt:lpstr>
      <vt:lpstr>Safety Issues?</vt:lpstr>
    </vt:vector>
  </TitlesOfParts>
  <Company>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Nanotechnology</dc:title>
  <dc:creator>JijyD'cruz</dc:creator>
  <cp:lastModifiedBy>SIMMONDS Catherine</cp:lastModifiedBy>
  <cp:revision>14</cp:revision>
  <dcterms:created xsi:type="dcterms:W3CDTF">2017-02-27T01:27:07Z</dcterms:created>
  <dcterms:modified xsi:type="dcterms:W3CDTF">2017-02-27T02:28:23Z</dcterms:modified>
</cp:coreProperties>
</file>
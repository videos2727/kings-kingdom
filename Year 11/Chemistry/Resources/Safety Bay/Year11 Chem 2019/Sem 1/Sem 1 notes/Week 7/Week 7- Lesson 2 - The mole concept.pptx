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6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64" autoAdjust="0"/>
    <p:restoredTop sz="94660"/>
  </p:normalViewPr>
  <p:slideViewPr>
    <p:cSldViewPr snapToGrid="0">
      <p:cViewPr varScale="1">
        <p:scale>
          <a:sx n="88" d="100"/>
          <a:sy n="88" d="100"/>
        </p:scale>
        <p:origin x="26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DDA51639-B2D6-4652-B8C3-1B4C224A7BAF}" type="datetimeFigureOut">
              <a:rPr lang="en-US" dirty="0"/>
              <a:t>3/19/2019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F5DD9-2C52-442D-92E2-8072C0C3D7CD}" type="datetimeFigureOut">
              <a:rPr lang="en-US" dirty="0"/>
              <a:t>3/19/2019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C44961B7-6B89-48AB-966F-622E2788EECC}" type="datetimeFigureOut">
              <a:rPr lang="en-US" dirty="0"/>
              <a:t>3/19/2019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D3D6FB-79CC-4683-A046-BBE785BA1BED}" type="datetimeFigureOut">
              <a:rPr lang="en-US" dirty="0"/>
              <a:t>3/19/2019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12B3E8-48F1-4B23-8498-D8A04A81EC9C}" type="datetimeFigureOut">
              <a:rPr lang="en-US" dirty="0"/>
              <a:t>3/19/2019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B90D90-AA62-404D-A741-635B4370F9CB}" type="datetimeFigureOut">
              <a:rPr lang="en-US" dirty="0"/>
              <a:t>3/19/2019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7002E4-6836-46D1-9DBB-3C27C0DD3A89}" type="datetimeFigureOut">
              <a:rPr lang="en-US" dirty="0"/>
              <a:t>3/19/2019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F131DD-A141-4471-BCF9-C6073EDD7E20}" type="datetimeFigureOut">
              <a:rPr lang="en-US" dirty="0"/>
              <a:t>3/19/2019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AB334A90-EB03-42F3-8859-2C2B2724C058}" type="datetimeFigureOut">
              <a:rPr lang="en-US" dirty="0"/>
              <a:t>3/19/2019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A6AA8-A04B-4104-9AE2-BD48D340E27F}" type="datetimeFigureOut">
              <a:rPr lang="en-US" dirty="0"/>
              <a:t>3/19/2019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BF79-FAC6-4A96-8DE1-F7B82E2E1652}" type="datetimeFigureOut">
              <a:rPr lang="en-US" dirty="0"/>
              <a:t>3/19/2019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CBC48EC7-AF6A-48D3-8284-14BACBEBDD84}" type="datetimeFigureOut">
              <a:rPr lang="en-US" dirty="0"/>
              <a:t>3/19/2019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Week 7: Lesson 2</a:t>
            </a:r>
            <a:br>
              <a:rPr lang="en-AU" dirty="0" smtClean="0"/>
            </a:br>
            <a:r>
              <a:rPr lang="en-AU" dirty="0" smtClean="0"/>
              <a:t>MOLES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53578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The mole concept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The mole is the standard chemical unit for describing the amount of a substance in numbers of particles.</a:t>
            </a:r>
          </a:p>
          <a:p>
            <a:r>
              <a:rPr lang="en-AU" dirty="0" smtClean="0"/>
              <a:t>The mole is a number equal to 6.02X 10</a:t>
            </a:r>
            <a:r>
              <a:rPr lang="en-AU" baseline="30000" dirty="0" smtClean="0"/>
              <a:t>23</a:t>
            </a:r>
            <a:r>
              <a:rPr lang="en-AU" dirty="0" smtClean="0"/>
              <a:t>, known as Avogadro’s number.</a:t>
            </a:r>
          </a:p>
          <a:p>
            <a:endParaRPr lang="en-AU" dirty="0">
              <a:solidFill>
                <a:srgbClr val="0070C0"/>
              </a:solidFill>
            </a:endParaRPr>
          </a:p>
          <a:p>
            <a:r>
              <a:rPr lang="en-AU" b="1" dirty="0" smtClean="0">
                <a:solidFill>
                  <a:srgbClr val="002060"/>
                </a:solidFill>
              </a:rPr>
              <a:t>A mole is the amount of substance containing </a:t>
            </a:r>
            <a:r>
              <a:rPr lang="en-AU" b="1" dirty="0">
                <a:solidFill>
                  <a:srgbClr val="002060"/>
                </a:solidFill>
              </a:rPr>
              <a:t>6.02X </a:t>
            </a:r>
            <a:r>
              <a:rPr lang="en-AU" b="1" dirty="0" smtClean="0">
                <a:solidFill>
                  <a:srgbClr val="002060"/>
                </a:solidFill>
              </a:rPr>
              <a:t>10</a:t>
            </a:r>
            <a:r>
              <a:rPr lang="en-AU" b="1" baseline="30000" dirty="0" smtClean="0">
                <a:solidFill>
                  <a:srgbClr val="002060"/>
                </a:solidFill>
              </a:rPr>
              <a:t>23</a:t>
            </a:r>
            <a:r>
              <a:rPr lang="en-AU" b="1" dirty="0">
                <a:solidFill>
                  <a:srgbClr val="002060"/>
                </a:solidFill>
              </a:rPr>
              <a:t> </a:t>
            </a:r>
            <a:r>
              <a:rPr lang="en-AU" b="1" dirty="0" smtClean="0">
                <a:solidFill>
                  <a:srgbClr val="002060"/>
                </a:solidFill>
              </a:rPr>
              <a:t>particles of that substance.</a:t>
            </a:r>
          </a:p>
          <a:p>
            <a:endParaRPr lang="en-AU" dirty="0">
              <a:solidFill>
                <a:srgbClr val="00206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2353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Relative atomic mass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b="1" dirty="0" smtClean="0">
                <a:solidFill>
                  <a:srgbClr val="7030A0"/>
                </a:solidFill>
              </a:rPr>
              <a:t>Relative atomic mass  </a:t>
            </a:r>
            <a:r>
              <a:rPr lang="en-AU" dirty="0" smtClean="0"/>
              <a:t>compares the mass of an element’s atoms to one twelfth the mass of a carbon-12 atom.</a:t>
            </a:r>
          </a:p>
          <a:p>
            <a:r>
              <a:rPr lang="en-AU" dirty="0" smtClean="0"/>
              <a:t>Thus sulphur has a relative atomic mass of 32.07 as its atoms are on average ( allowing for its various isotopes and their abundance) 32.07 times the mass of one twelfth of a carbon-12 atom.</a:t>
            </a:r>
          </a:p>
          <a:p>
            <a:endParaRPr lang="en-AU" dirty="0"/>
          </a:p>
          <a:p>
            <a:r>
              <a:rPr lang="en-AU" b="1" dirty="0" smtClean="0">
                <a:solidFill>
                  <a:srgbClr val="0070C0"/>
                </a:solidFill>
              </a:rPr>
              <a:t>The molar mass(M) </a:t>
            </a:r>
            <a:r>
              <a:rPr lang="en-AU" dirty="0" smtClean="0"/>
              <a:t>of an element is defined as the </a:t>
            </a:r>
            <a:r>
              <a:rPr lang="en-AU" b="1" dirty="0" smtClean="0">
                <a:solidFill>
                  <a:srgbClr val="0070C0"/>
                </a:solidFill>
              </a:rPr>
              <a:t>‘mass of one mole of its atoms’. </a:t>
            </a:r>
            <a:r>
              <a:rPr lang="en-AU" dirty="0" smtClean="0"/>
              <a:t>For all other elements the molar mass is equal to the element’s relative atomic mass expressed in grams.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199926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Molar mass from chemical formula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Determine molar mass of CH3COOH.</a:t>
            </a:r>
          </a:p>
          <a:p>
            <a:r>
              <a:rPr lang="en-AU" dirty="0" smtClean="0"/>
              <a:t>M(CH3COOH)= 2xM ( C )+4 x M (H)+ 2x M (O) </a:t>
            </a:r>
          </a:p>
          <a:p>
            <a:r>
              <a:rPr lang="en-AU" dirty="0" smtClean="0"/>
              <a:t>2x 12.01+ 4x 1.008 + 2x 16.00</a:t>
            </a:r>
          </a:p>
          <a:p>
            <a:r>
              <a:rPr lang="en-AU" dirty="0" smtClean="0"/>
              <a:t>60.05 </a:t>
            </a:r>
            <a:r>
              <a:rPr lang="en-AU" dirty="0"/>
              <a:t>g mol</a:t>
            </a:r>
            <a:r>
              <a:rPr lang="en-AU" baseline="30000" dirty="0"/>
              <a:t>-1</a:t>
            </a:r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843476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4549" y="302960"/>
            <a:ext cx="10058400" cy="1371600"/>
          </a:xfrm>
        </p:spPr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26739" t="22594" r="28503" b="12790"/>
          <a:stretch/>
        </p:blipFill>
        <p:spPr bwMode="auto">
          <a:xfrm>
            <a:off x="1645920" y="2103438"/>
            <a:ext cx="8464731" cy="414060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7627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25834" t="25336" r="27436" b="32806"/>
          <a:stretch/>
        </p:blipFill>
        <p:spPr bwMode="auto">
          <a:xfrm>
            <a:off x="2193845" y="2103438"/>
            <a:ext cx="7804309" cy="393223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716278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 rotWithShape="1">
          <a:blip r:embed="rId2"/>
          <a:srcRect l="26021" t="27022" r="27824" b="33481"/>
          <a:stretch/>
        </p:blipFill>
        <p:spPr bwMode="auto">
          <a:xfrm>
            <a:off x="1706880" y="1332412"/>
            <a:ext cx="8917577" cy="4703264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11953622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Savon</Template>
  <TotalTime>47</TotalTime>
  <Words>195</Words>
  <Application>Microsoft Office PowerPoint</Application>
  <PresentationFormat>Widescreen</PresentationFormat>
  <Paragraphs>16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Century Gothic</vt:lpstr>
      <vt:lpstr>Garamond</vt:lpstr>
      <vt:lpstr>Savon</vt:lpstr>
      <vt:lpstr>Week 7: Lesson 2 MOLES</vt:lpstr>
      <vt:lpstr>The mole concept</vt:lpstr>
      <vt:lpstr>Relative atomic mass</vt:lpstr>
      <vt:lpstr>Molar mass from chemical formula</vt:lpstr>
      <vt:lpstr>PowerPoint Presentation</vt:lpstr>
      <vt:lpstr>PowerPoint Presentation</vt:lpstr>
      <vt:lpstr>PowerPoint Presentation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 7: Lesson 2 MOLES</dc:title>
  <dc:creator>D'CRUZ Jijy [Safety Bay Senior High School]</dc:creator>
  <cp:lastModifiedBy>D'CRUZ Jijy [Safety Bay Senior High School]</cp:lastModifiedBy>
  <cp:revision>6</cp:revision>
  <dcterms:created xsi:type="dcterms:W3CDTF">2019-03-19T12:52:32Z</dcterms:created>
  <dcterms:modified xsi:type="dcterms:W3CDTF">2019-03-19T13:40:06Z</dcterms:modified>
</cp:coreProperties>
</file>
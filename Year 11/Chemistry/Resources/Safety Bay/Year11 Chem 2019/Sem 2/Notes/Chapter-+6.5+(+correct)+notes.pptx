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B650C71-E9F4-4851-8AEC-AD97471EFCC5}" type="datetimeFigureOut">
              <a:rPr lang="en-AU" smtClean="0"/>
              <a:t>31/07/2015</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ABFCF3B4-2B74-4DDC-9858-1F14AC38919E}"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31/07/2015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B650C71-E9F4-4851-8AEC-AD97471EFCC5}" type="datetimeFigureOut">
              <a:rPr lang="en-AU" smtClean="0"/>
              <a:t>31/07/2015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B650C71-E9F4-4851-8AEC-AD97471EFCC5}" type="datetimeFigureOut">
              <a:rPr lang="en-AU" smtClean="0"/>
              <a:t>31/07/2015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B650C71-E9F4-4851-8AEC-AD97471EFCC5}" type="datetimeFigureOut">
              <a:rPr lang="en-AU" smtClean="0"/>
              <a:t>31/07/2015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B650C71-E9F4-4851-8AEC-AD97471EFCC5}" type="datetimeFigureOut">
              <a:rPr lang="en-AU" smtClean="0"/>
              <a:t>31/07/2015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650C71-E9F4-4851-8AEC-AD97471EFCC5}" type="datetimeFigureOut">
              <a:rPr lang="en-AU" smtClean="0"/>
              <a:t>31/07/2015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B650C71-E9F4-4851-8AEC-AD97471EFCC5}" type="datetimeFigureOut">
              <a:rPr lang="en-AU" smtClean="0"/>
              <a:t>31/07/2015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B650C71-E9F4-4851-8AEC-AD97471EFCC5}" type="datetimeFigureOut">
              <a:rPr lang="en-AU" smtClean="0"/>
              <a:t>31/07/2015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ABFCF3B4-2B74-4DDC-9858-1F14AC38919E}"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31/07/2015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31/07/2015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B650C71-E9F4-4851-8AEC-AD97471EFCC5}" type="datetimeFigureOut">
              <a:rPr lang="en-AU" smtClean="0"/>
              <a:t>31/07/2015</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BFCF3B4-2B74-4DDC-9858-1F14AC38919E}"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urface_area" TargetMode="External"/><Relationship Id="rId2" Type="http://schemas.openxmlformats.org/officeDocument/2006/relationships/hyperlink" Target="https://en.wikipedia.org/wiki/Liqui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6.5</a:t>
            </a:r>
            <a:endParaRPr lang="en-AU" dirty="0"/>
          </a:p>
        </p:txBody>
      </p:sp>
      <p:sp>
        <p:nvSpPr>
          <p:cNvPr id="3" name="Subtitle 2"/>
          <p:cNvSpPr>
            <a:spLocks noGrp="1"/>
          </p:cNvSpPr>
          <p:nvPr>
            <p:ph type="subTitle" idx="1"/>
          </p:nvPr>
        </p:nvSpPr>
        <p:spPr/>
        <p:txBody>
          <a:bodyPr/>
          <a:lstStyle/>
          <a:p>
            <a:r>
              <a:rPr lang="en-AU" dirty="0" smtClean="0"/>
              <a:t>The importance of bonding</a:t>
            </a:r>
            <a:endParaRPr lang="en-AU" dirty="0"/>
          </a:p>
        </p:txBody>
      </p:sp>
    </p:spTree>
    <p:extLst>
      <p:ext uri="{BB962C8B-B14F-4D97-AF65-F5344CB8AC3E}">
        <p14:creationId xmlns:p14="http://schemas.microsoft.com/office/powerpoint/2010/main" val="4017758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Bonding is responsible for many of the properties of materials and biomolecules. The nucleic acids in the DNA double helix are held together by hydrogen bonds. </a:t>
            </a:r>
          </a:p>
          <a:p>
            <a:r>
              <a:rPr lang="en-AU" dirty="0" smtClean="0"/>
              <a:t>Hydrogen bonding helps maintain the structures of proteins, enzymes, ribosomes and cell membranes. </a:t>
            </a:r>
          </a:p>
          <a:p>
            <a:r>
              <a:rPr lang="en-AU" dirty="0" smtClean="0"/>
              <a:t>Analytical techniques such as chromatography work because of surface interactions and the intermolecular bonds of different substances to different surfaces or solvents. This knowledge allows chemists to determine the organic substances in mixtures. </a:t>
            </a:r>
            <a:endParaRPr lang="en-AU" dirty="0"/>
          </a:p>
        </p:txBody>
      </p:sp>
    </p:spTree>
    <p:extLst>
      <p:ext uri="{BB962C8B-B14F-4D97-AF65-F5344CB8AC3E}">
        <p14:creationId xmlns:p14="http://schemas.microsoft.com/office/powerpoint/2010/main" val="8171819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and hydrogen bonding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AU" dirty="0" smtClean="0"/>
                  <a:t>There are three types of bonding in water . Strong covalent bonding exists between the H and O within the molecule. Hydrogen bonding and dispersion forces occur between the water molecules. </a:t>
                </a:r>
              </a:p>
              <a:p>
                <a:r>
                  <a:rPr lang="en-AU" dirty="0" smtClean="0"/>
                  <a:t>Hydrogen bonding is responsible for unique properties of water. </a:t>
                </a:r>
              </a:p>
              <a:p>
                <a:r>
                  <a:rPr lang="en-AU" dirty="0" smtClean="0"/>
                  <a:t>The unique properties of water include unusual melting and boiling points, density in solid and liquid phases, surface tension and an ability to act as a very good solvent. You need a relatively large amount of energy to break the bonds in water, which is why water has relatively high boiling point, </a:t>
                </a:r>
                <a14:m>
                  <m:oMath xmlns:m="http://schemas.openxmlformats.org/officeDocument/2006/math">
                    <m:sSup>
                      <m:sSupPr>
                        <m:ctrlPr>
                          <a:rPr lang="en-AU" b="0" i="1" smtClean="0">
                            <a:latin typeface="Cambria Math"/>
                          </a:rPr>
                        </m:ctrlPr>
                      </m:sSupPr>
                      <m:e>
                        <m:r>
                          <a:rPr lang="en-AU" b="0" i="1" smtClean="0">
                            <a:latin typeface="Cambria Math"/>
                          </a:rPr>
                          <m:t>100</m:t>
                        </m:r>
                      </m:e>
                      <m:sup>
                        <m:r>
                          <a:rPr lang="en-AU" b="0" i="1" smtClean="0">
                            <a:latin typeface="Cambria Math"/>
                          </a:rPr>
                          <m:t>0</m:t>
                        </m:r>
                      </m:sup>
                    </m:sSup>
                    <m:r>
                      <a:rPr lang="en-AU" b="0" i="1" smtClean="0">
                        <a:latin typeface="Cambria Math"/>
                      </a:rPr>
                      <m:t>𝐶</m:t>
                    </m:r>
                    <m:r>
                      <a:rPr lang="en-AU" b="0" i="0"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667"/>
                </a:stretch>
              </a:blipFill>
            </p:spPr>
            <p:txBody>
              <a:bodyPr/>
              <a:lstStyle/>
              <a:p>
                <a:r>
                  <a:rPr lang="en-AU">
                    <a:noFill/>
                  </a:rPr>
                  <a:t> </a:t>
                </a:r>
              </a:p>
            </p:txBody>
          </p:sp>
        </mc:Fallback>
      </mc:AlternateContent>
    </p:spTree>
    <p:extLst>
      <p:ext uri="{BB962C8B-B14F-4D97-AF65-F5344CB8AC3E}">
        <p14:creationId xmlns:p14="http://schemas.microsoft.com/office/powerpoint/2010/main" val="3635865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For a certain amount of energy, fewer molecules escape into the air. The fewer vaporised water molecules  means lower  </a:t>
            </a:r>
            <a:r>
              <a:rPr lang="en-AU" dirty="0" smtClean="0">
                <a:solidFill>
                  <a:srgbClr val="FF0000"/>
                </a:solidFill>
              </a:rPr>
              <a:t>vapour pressure, </a:t>
            </a:r>
            <a:r>
              <a:rPr lang="en-AU" dirty="0" smtClean="0"/>
              <a:t>the downwards pressure exerted by the gas molecules on the surface of the liquid. </a:t>
            </a:r>
          </a:p>
          <a:p>
            <a:endParaRPr lang="en-AU" dirty="0">
              <a:solidFill>
                <a:srgbClr val="FF0000"/>
              </a:solidFill>
            </a:endParaRPr>
          </a:p>
          <a:p>
            <a:r>
              <a:rPr lang="en-AU" dirty="0" smtClean="0"/>
              <a:t>To change state from liquid to gas or to increase the average temperature of the water,  energy must be absorbed. The change is endothermic.</a:t>
            </a:r>
            <a:endParaRPr lang="en-AU" dirty="0"/>
          </a:p>
        </p:txBody>
      </p:sp>
    </p:spTree>
    <p:extLst>
      <p:ext uri="{BB962C8B-B14F-4D97-AF65-F5344CB8AC3E}">
        <p14:creationId xmlns:p14="http://schemas.microsoft.com/office/powerpoint/2010/main" val="42337445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b="1" dirty="0"/>
              <a:t>Surface tension</a:t>
            </a:r>
            <a:r>
              <a:rPr lang="en-AU" dirty="0"/>
              <a:t> is the elastic tendency of </a:t>
            </a:r>
            <a:r>
              <a:rPr lang="en-AU" dirty="0" smtClean="0">
                <a:hlinkClick r:id="rId2" tooltip="Liquids"/>
              </a:rPr>
              <a:t>liquids</a:t>
            </a:r>
            <a:r>
              <a:rPr lang="en-AU" dirty="0" smtClean="0"/>
              <a:t> which </a:t>
            </a:r>
            <a:r>
              <a:rPr lang="en-AU" dirty="0"/>
              <a:t>makes them acquire the least </a:t>
            </a:r>
            <a:r>
              <a:rPr lang="en-AU" dirty="0">
                <a:hlinkClick r:id="rId3" tooltip="Surface area"/>
              </a:rPr>
              <a:t>surface area</a:t>
            </a:r>
            <a:r>
              <a:rPr lang="en-AU" dirty="0"/>
              <a:t> possible</a:t>
            </a:r>
            <a:r>
              <a:rPr lang="en-AU" dirty="0" smtClean="0"/>
              <a:t>.</a:t>
            </a:r>
          </a:p>
          <a:p>
            <a:endParaRPr lang="en-AU" dirty="0"/>
          </a:p>
          <a:p>
            <a:r>
              <a:rPr lang="en-AU" dirty="0" smtClean="0"/>
              <a:t>Surface tension of water is high due to the strong hydrogen bonding acting in all directions. This holds the molecules together.</a:t>
            </a:r>
          </a:p>
          <a:p>
            <a:r>
              <a:rPr lang="en-AU" dirty="0">
                <a:solidFill>
                  <a:srgbClr val="FF0000"/>
                </a:solidFill>
              </a:rPr>
              <a:t>Cohesion- </a:t>
            </a:r>
            <a:r>
              <a:rPr lang="en-AU" dirty="0" smtClean="0">
                <a:solidFill>
                  <a:srgbClr val="FF0000"/>
                </a:solidFill>
              </a:rPr>
              <a:t>The intermolecular </a:t>
            </a:r>
            <a:r>
              <a:rPr lang="en-AU" dirty="0">
                <a:solidFill>
                  <a:srgbClr val="FF0000"/>
                </a:solidFill>
              </a:rPr>
              <a:t>attraction that holds molecules and masses </a:t>
            </a:r>
            <a:r>
              <a:rPr lang="en-AU" dirty="0" smtClean="0">
                <a:solidFill>
                  <a:srgbClr val="FF0000"/>
                </a:solidFill>
              </a:rPr>
              <a:t>together.</a:t>
            </a:r>
          </a:p>
          <a:p>
            <a:r>
              <a:rPr lang="en-AU" dirty="0" smtClean="0"/>
              <a:t>Cohesive nature of water helps plants to absorb nutrients from the soil.</a:t>
            </a:r>
            <a:endParaRPr lang="en-AU" dirty="0"/>
          </a:p>
        </p:txBody>
      </p:sp>
    </p:spTree>
    <p:extLst>
      <p:ext uri="{BB962C8B-B14F-4D97-AF65-F5344CB8AC3E}">
        <p14:creationId xmlns:p14="http://schemas.microsoft.com/office/powerpoint/2010/main" val="1658839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dirty="0">
                <a:solidFill>
                  <a:srgbClr val="FF0000"/>
                </a:solidFill>
              </a:rPr>
              <a:t>Adhesion</a:t>
            </a:r>
            <a:r>
              <a:rPr lang="en-AU" dirty="0">
                <a:solidFill>
                  <a:srgbClr val="FF0000"/>
                </a:solidFill>
              </a:rPr>
              <a:t> is the tendency of dissimilar particles or surfaces to cling to one another </a:t>
            </a:r>
            <a:r>
              <a:rPr lang="en-AU" dirty="0" smtClean="0">
                <a:solidFill>
                  <a:srgbClr val="FF0000"/>
                </a:solidFill>
              </a:rPr>
              <a:t>.</a:t>
            </a:r>
          </a:p>
          <a:p>
            <a:endParaRPr lang="en-AU" dirty="0"/>
          </a:p>
          <a:p>
            <a:r>
              <a:rPr lang="en-AU" dirty="0" smtClean="0"/>
              <a:t>The water move up the xylem of the plant to the leaf surface by capillary action. Capillary action depends on the adhesion of water molecules to the sides of the xylem vessel and the cohesive properties of water. Through cohesion of water molecules dissolved nutrients are pulled all the way  up all the trees, against gravity.</a:t>
            </a:r>
            <a:endParaRPr lang="en-AU" dirty="0"/>
          </a:p>
        </p:txBody>
      </p:sp>
    </p:spTree>
    <p:extLst>
      <p:ext uri="{BB962C8B-B14F-4D97-AF65-F5344CB8AC3E}">
        <p14:creationId xmlns:p14="http://schemas.microsoft.com/office/powerpoint/2010/main" val="12265878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Capillary action</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This is due to three main forces.</a:t>
            </a:r>
          </a:p>
          <a:p>
            <a:r>
              <a:rPr lang="en-AU" dirty="0" smtClean="0">
                <a:solidFill>
                  <a:srgbClr val="FF0000"/>
                </a:solidFill>
              </a:rPr>
              <a:t>Cohesive force- </a:t>
            </a:r>
            <a:r>
              <a:rPr lang="en-AU" dirty="0" smtClean="0"/>
              <a:t>The intermolecular force between molecules in a substance which can maintain a certain shape of the liquid.</a:t>
            </a:r>
          </a:p>
          <a:p>
            <a:r>
              <a:rPr lang="en-AU" dirty="0" smtClean="0">
                <a:solidFill>
                  <a:srgbClr val="FF0000"/>
                </a:solidFill>
              </a:rPr>
              <a:t>Surface tension- </a:t>
            </a:r>
            <a:r>
              <a:rPr lang="en-AU" dirty="0" smtClean="0"/>
              <a:t>Due to cohesive forces at the surface and results in surface of the fluid being under tension.</a:t>
            </a:r>
          </a:p>
          <a:p>
            <a:r>
              <a:rPr lang="en-AU" dirty="0" smtClean="0">
                <a:solidFill>
                  <a:srgbClr val="FF0000"/>
                </a:solidFill>
              </a:rPr>
              <a:t>Adhesive force- </a:t>
            </a:r>
            <a:r>
              <a:rPr lang="en-AU" dirty="0" smtClean="0"/>
              <a:t>Forces of attraction between unlike molecules. </a:t>
            </a:r>
          </a:p>
          <a:p>
            <a:r>
              <a:rPr lang="en-AU" dirty="0" smtClean="0"/>
              <a:t>Example of capillary action: Narrow glass vessels – The surface of water to curve to form a meniscus due to adhesive forces between water molecules and the surface of the glass and the cohesive forces in water. </a:t>
            </a:r>
          </a:p>
          <a:p>
            <a:endParaRPr lang="en-AU" dirty="0"/>
          </a:p>
        </p:txBody>
      </p:sp>
    </p:spTree>
    <p:extLst>
      <p:ext uri="{BB962C8B-B14F-4D97-AF65-F5344CB8AC3E}">
        <p14:creationId xmlns:p14="http://schemas.microsoft.com/office/powerpoint/2010/main" val="377150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AU" dirty="0" smtClean="0"/>
                  <a:t>Cooler water has higher density than warm water because when water cools, particles slow down ad pack closer together, there by density increases. </a:t>
                </a:r>
              </a:p>
              <a:p>
                <a:endParaRPr lang="en-AU" dirty="0"/>
              </a:p>
              <a:p>
                <a:r>
                  <a:rPr lang="en-AU" dirty="0" smtClean="0"/>
                  <a:t>When </a:t>
                </a:r>
                <a:r>
                  <a:rPr lang="en-AU" dirty="0"/>
                  <a:t>temperature is less than </a:t>
                </a:r>
                <a14:m>
                  <m:oMath xmlns:m="http://schemas.openxmlformats.org/officeDocument/2006/math">
                    <m:sSup>
                      <m:sSupPr>
                        <m:ctrlPr>
                          <a:rPr lang="en-AU" b="0" i="1" smtClean="0">
                            <a:latin typeface="Cambria Math"/>
                          </a:rPr>
                        </m:ctrlPr>
                      </m:sSupPr>
                      <m:e>
                        <m:r>
                          <a:rPr lang="en-AU" b="0" i="1" smtClean="0">
                            <a:latin typeface="Cambria Math"/>
                          </a:rPr>
                          <m:t>4</m:t>
                        </m:r>
                      </m:e>
                      <m:sup>
                        <m:r>
                          <a:rPr lang="en-AU" b="0" i="1" smtClean="0">
                            <a:latin typeface="Cambria Math"/>
                          </a:rPr>
                          <m:t>0</m:t>
                        </m:r>
                      </m:sup>
                    </m:sSup>
                    <m:r>
                      <a:rPr lang="en-AU" b="0" i="1" smtClean="0">
                        <a:latin typeface="Cambria Math"/>
                      </a:rPr>
                      <m:t>𝐶</m:t>
                    </m:r>
                    <m:r>
                      <a:rPr lang="en-AU" b="0" i="1" smtClean="0">
                        <a:latin typeface="Cambria Math"/>
                      </a:rPr>
                      <m:t>, </m:t>
                    </m:r>
                    <m:r>
                      <m:rPr>
                        <m:sty m:val="p"/>
                      </m:rPr>
                      <a:rPr lang="en-AU" b="0" i="0" smtClean="0">
                        <a:latin typeface="Cambria Math"/>
                      </a:rPr>
                      <m:t>molecules</m:t>
                    </m:r>
                    <m:r>
                      <a:rPr lang="en-AU" b="0" i="0" smtClean="0">
                        <a:latin typeface="Cambria Math"/>
                      </a:rPr>
                      <m:t> </m:t>
                    </m:r>
                    <m:r>
                      <m:rPr>
                        <m:sty m:val="p"/>
                      </m:rPr>
                      <a:rPr lang="en-AU" b="0" i="0" smtClean="0">
                        <a:latin typeface="Cambria Math"/>
                      </a:rPr>
                      <m:t>do</m:t>
                    </m:r>
                    <m:r>
                      <a:rPr lang="en-AU" b="0" i="0" smtClean="0">
                        <a:latin typeface="Cambria Math"/>
                      </a:rPr>
                      <m:t> </m:t>
                    </m:r>
                    <m:r>
                      <m:rPr>
                        <m:sty m:val="p"/>
                      </m:rPr>
                      <a:rPr lang="en-AU" b="0" i="0" smtClean="0">
                        <a:latin typeface="Cambria Math"/>
                      </a:rPr>
                      <m:t>not</m:t>
                    </m:r>
                    <m:r>
                      <a:rPr lang="en-AU" b="0" i="0" smtClean="0">
                        <a:latin typeface="Cambria Math"/>
                      </a:rPr>
                      <m:t> </m:t>
                    </m:r>
                    <m:r>
                      <m:rPr>
                        <m:sty m:val="p"/>
                      </m:rPr>
                      <a:rPr lang="en-AU" b="0" i="0" smtClean="0">
                        <a:latin typeface="Cambria Math"/>
                      </a:rPr>
                      <m:t>have</m:t>
                    </m:r>
                    <m:r>
                      <a:rPr lang="en-AU" b="0" i="0" smtClean="0">
                        <a:latin typeface="Cambria Math"/>
                      </a:rPr>
                      <m:t> </m:t>
                    </m:r>
                    <m:r>
                      <m:rPr>
                        <m:sty m:val="p"/>
                      </m:rPr>
                      <a:rPr lang="en-AU" b="0" i="0" smtClean="0">
                        <a:latin typeface="Cambria Math"/>
                      </a:rPr>
                      <m:t>much</m:t>
                    </m:r>
                    <m:r>
                      <a:rPr lang="en-AU" b="0" i="0" smtClean="0">
                        <a:latin typeface="Cambria Math"/>
                      </a:rPr>
                      <m:t> </m:t>
                    </m:r>
                    <m:r>
                      <m:rPr>
                        <m:sty m:val="p"/>
                      </m:rPr>
                      <a:rPr lang="en-AU" b="0" i="0" smtClean="0">
                        <a:latin typeface="Cambria Math"/>
                      </a:rPr>
                      <m:t>kinetic</m:t>
                    </m:r>
                    <m:r>
                      <a:rPr lang="en-AU" b="0" i="0" smtClean="0">
                        <a:latin typeface="Cambria Math"/>
                      </a:rPr>
                      <m:t> </m:t>
                    </m:r>
                    <m:r>
                      <m:rPr>
                        <m:sty m:val="p"/>
                      </m:rPr>
                      <a:rPr lang="en-AU" b="0" i="0" smtClean="0">
                        <a:latin typeface="Cambria Math"/>
                      </a:rPr>
                      <m:t>energy</m:t>
                    </m:r>
                    <m:r>
                      <a:rPr lang="en-AU" b="0" i="0" smtClean="0">
                        <a:latin typeface="Cambria Math"/>
                      </a:rPr>
                      <m:t>, </m:t>
                    </m:r>
                    <m:r>
                      <m:rPr>
                        <m:sty m:val="p"/>
                      </m:rPr>
                      <a:rPr lang="en-AU" b="0" i="0" smtClean="0">
                        <a:latin typeface="Cambria Math"/>
                      </a:rPr>
                      <m:t>no</m:t>
                    </m:r>
                    <m:r>
                      <a:rPr lang="en-AU" b="0" i="0" smtClean="0">
                        <a:latin typeface="Cambria Math"/>
                      </a:rPr>
                      <m:t> </m:t>
                    </m:r>
                  </m:oMath>
                </a14:m>
                <a:endParaRPr lang="en-AU" b="0" i="0" dirty="0" smtClean="0">
                  <a:latin typeface="Cambria Math"/>
                </a:endParaRPr>
              </a:p>
              <a:p>
                <a14:m>
                  <m:oMath xmlns:m="http://schemas.openxmlformats.org/officeDocument/2006/math">
                    <m:r>
                      <m:rPr>
                        <m:sty m:val="p"/>
                      </m:rPr>
                      <a:rPr lang="en-AU" b="0" i="0" smtClean="0">
                        <a:latin typeface="Cambria Math"/>
                      </a:rPr>
                      <m:t>longer</m:t>
                    </m:r>
                  </m:oMath>
                </a14:m>
                <a:r>
                  <a:rPr lang="en-AU" dirty="0" smtClean="0"/>
                  <a:t> move between the spaces, but form more hydrogen bonds. Water has the unique property of expanding as it freezes. Density decreases when cools from </a:t>
                </a:r>
                <a14:m>
                  <m:oMath xmlns:m="http://schemas.openxmlformats.org/officeDocument/2006/math">
                    <m:sSup>
                      <m:sSupPr>
                        <m:ctrlPr>
                          <a:rPr lang="en-AU" i="1">
                            <a:latin typeface="Cambria Math"/>
                          </a:rPr>
                        </m:ctrlPr>
                      </m:sSupPr>
                      <m:e>
                        <m:r>
                          <a:rPr lang="en-AU" b="0" i="1" smtClean="0">
                            <a:latin typeface="Cambria Math"/>
                          </a:rPr>
                          <m:t>3</m:t>
                        </m:r>
                      </m:e>
                      <m:sup>
                        <m:r>
                          <a:rPr lang="en-AU" i="1">
                            <a:latin typeface="Cambria Math"/>
                          </a:rPr>
                          <m:t>0</m:t>
                        </m:r>
                      </m:sup>
                    </m:sSup>
                    <m:r>
                      <a:rPr lang="en-AU" i="1">
                        <a:latin typeface="Cambria Math"/>
                      </a:rPr>
                      <m:t>𝐶</m:t>
                    </m:r>
                  </m:oMath>
                </a14:m>
                <a:r>
                  <a:rPr lang="en-AU" dirty="0" smtClean="0"/>
                  <a:t> to </a:t>
                </a:r>
                <a14:m>
                  <m:oMath xmlns:m="http://schemas.openxmlformats.org/officeDocument/2006/math">
                    <m:sSup>
                      <m:sSupPr>
                        <m:ctrlPr>
                          <a:rPr lang="en-AU" i="1">
                            <a:latin typeface="Cambria Math"/>
                          </a:rPr>
                        </m:ctrlPr>
                      </m:sSupPr>
                      <m:e>
                        <m:r>
                          <a:rPr lang="en-AU" b="0" i="1" smtClean="0">
                            <a:latin typeface="Cambria Math"/>
                          </a:rPr>
                          <m:t>0</m:t>
                        </m:r>
                      </m:e>
                      <m:sup>
                        <m:r>
                          <a:rPr lang="en-AU" i="1">
                            <a:latin typeface="Cambria Math"/>
                          </a:rPr>
                          <m:t>0</m:t>
                        </m:r>
                      </m:sup>
                    </m:sSup>
                    <m:r>
                      <a:rPr lang="en-AU" i="1">
                        <a:latin typeface="Cambria Math"/>
                      </a:rPr>
                      <m:t>𝐶</m:t>
                    </m:r>
                  </m:oMath>
                </a14:m>
                <a:r>
                  <a:rPr lang="en-AU" dirty="0" smtClean="0"/>
                  <a:t>. Ice is about 8% less dense than water.</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852" b="-1250"/>
                </a:stretch>
              </a:blipFill>
            </p:spPr>
            <p:txBody>
              <a:bodyPr/>
              <a:lstStyle/>
              <a:p>
                <a:r>
                  <a:rPr lang="en-AU">
                    <a:noFill/>
                  </a:rPr>
                  <a:t> </a:t>
                </a:r>
              </a:p>
            </p:txBody>
          </p:sp>
        </mc:Fallback>
      </mc:AlternateContent>
    </p:spTree>
    <p:extLst>
      <p:ext uri="{BB962C8B-B14F-4D97-AF65-F5344CB8AC3E}">
        <p14:creationId xmlns:p14="http://schemas.microsoft.com/office/powerpoint/2010/main" val="28821058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A different property of water is its ability to act as a solvent. Pure water act as a solvent over the temperature range </a:t>
                </a:r>
                <a14:m>
                  <m:oMath xmlns:m="http://schemas.openxmlformats.org/officeDocument/2006/math">
                    <m:sSup>
                      <m:sSupPr>
                        <m:ctrlPr>
                          <a:rPr lang="en-AU" i="1">
                            <a:latin typeface="Cambria Math"/>
                          </a:rPr>
                        </m:ctrlPr>
                      </m:sSupPr>
                      <m:e>
                        <m:r>
                          <a:rPr lang="en-AU" b="0" i="1" smtClean="0">
                            <a:latin typeface="Cambria Math"/>
                          </a:rPr>
                          <m:t>0</m:t>
                        </m:r>
                      </m:e>
                      <m:sup>
                        <m:r>
                          <a:rPr lang="en-AU" i="1">
                            <a:latin typeface="Cambria Math"/>
                          </a:rPr>
                          <m:t>0</m:t>
                        </m:r>
                      </m:sup>
                    </m:sSup>
                    <m:r>
                      <a:rPr lang="en-AU" i="1">
                        <a:latin typeface="Cambria Math"/>
                      </a:rPr>
                      <m:t>𝐶</m:t>
                    </m:r>
                  </m:oMath>
                </a14:m>
                <a:r>
                  <a:rPr lang="en-AU" dirty="0" smtClean="0"/>
                  <a:t>- </a:t>
                </a:r>
                <a14:m>
                  <m:oMath xmlns:m="http://schemas.openxmlformats.org/officeDocument/2006/math">
                    <m:sSup>
                      <m:sSupPr>
                        <m:ctrlPr>
                          <a:rPr lang="en-AU" i="1">
                            <a:latin typeface="Cambria Math"/>
                          </a:rPr>
                        </m:ctrlPr>
                      </m:sSupPr>
                      <m:e>
                        <m:r>
                          <a:rPr lang="en-AU" b="0" i="1" smtClean="0">
                            <a:latin typeface="Cambria Math"/>
                          </a:rPr>
                          <m:t>10</m:t>
                        </m:r>
                        <m:r>
                          <a:rPr lang="en-AU" i="1">
                            <a:latin typeface="Cambria Math"/>
                          </a:rPr>
                          <m:t>0</m:t>
                        </m:r>
                      </m:e>
                      <m:sup>
                        <m:r>
                          <a:rPr lang="en-AU" i="1">
                            <a:latin typeface="Cambria Math"/>
                          </a:rPr>
                          <m:t>0</m:t>
                        </m:r>
                      </m:sup>
                    </m:sSup>
                    <m:r>
                      <a:rPr lang="en-AU" i="1">
                        <a:latin typeface="Cambria Math"/>
                      </a:rPr>
                      <m:t>𝐶</m:t>
                    </m:r>
                    <m:r>
                      <a:rPr lang="en-AU" b="0" i="0" smtClean="0">
                        <a:latin typeface="Cambria Math"/>
                      </a:rPr>
                      <m:t>. </m:t>
                    </m:r>
                  </m:oMath>
                </a14:m>
                <a:endParaRPr lang="en-AU" dirty="0" smtClean="0"/>
              </a:p>
              <a:p>
                <a:endParaRPr lang="en-AU" dirty="0"/>
              </a:p>
              <a:p>
                <a:r>
                  <a:rPr lang="en-AU" dirty="0" smtClean="0"/>
                  <a:t>Water dissolves and transports a range of material across the whole planet and also through each cell of a living organism. Water does this by forming hydrogen bonds or ion-dipole bonds with a wide range of substances from salts to organic molecules such </a:t>
                </a:r>
                <a:r>
                  <a:rPr lang="en-AU" smtClean="0"/>
                  <a:t>as proteins.</a:t>
                </a:r>
                <a:endParaRPr lang="en-AU" dirty="0" smtClean="0"/>
              </a:p>
              <a:p>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889"/>
                </a:stretch>
              </a:blipFill>
            </p:spPr>
            <p:txBody>
              <a:bodyPr/>
              <a:lstStyle/>
              <a:p>
                <a:r>
                  <a:rPr lang="en-AU">
                    <a:noFill/>
                  </a:rPr>
                  <a:t> </a:t>
                </a:r>
              </a:p>
            </p:txBody>
          </p:sp>
        </mc:Fallback>
      </mc:AlternateContent>
    </p:spTree>
    <p:extLst>
      <p:ext uri="{BB962C8B-B14F-4D97-AF65-F5344CB8AC3E}">
        <p14:creationId xmlns:p14="http://schemas.microsoft.com/office/powerpoint/2010/main" val="13436721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Water of crystallisation </a:t>
            </a:r>
            <a:endParaRPr lang="en-AU" dirty="0"/>
          </a:p>
        </p:txBody>
      </p:sp>
      <p:sp>
        <p:nvSpPr>
          <p:cNvPr id="3" name="Content Placeholder 2"/>
          <p:cNvSpPr>
            <a:spLocks noGrp="1"/>
          </p:cNvSpPr>
          <p:nvPr>
            <p:ph idx="1"/>
          </p:nvPr>
        </p:nvSpPr>
        <p:spPr/>
        <p:txBody>
          <a:bodyPr>
            <a:normAutofit fontScale="92500"/>
          </a:bodyPr>
          <a:lstStyle/>
          <a:p>
            <a:r>
              <a:rPr lang="en-AU" dirty="0" smtClean="0"/>
              <a:t>Water of crystallisation occurs when water molecules are attracted to the ions of a salt. Many ionic compound that crystallise out of an aqueous solution include water  molecules in a regular array through the crystal lattice. </a:t>
            </a:r>
          </a:p>
          <a:p>
            <a:endParaRPr lang="en-AU" dirty="0"/>
          </a:p>
          <a:p>
            <a:r>
              <a:rPr lang="en-AU" dirty="0" smtClean="0"/>
              <a:t>These compounds are known as hydrated. </a:t>
            </a:r>
          </a:p>
          <a:p>
            <a:r>
              <a:rPr lang="en-AU" dirty="0" smtClean="0"/>
              <a:t>E.g. CuSO</a:t>
            </a:r>
            <a:r>
              <a:rPr lang="en-AU" sz="1800" dirty="0" smtClean="0"/>
              <a:t>4</a:t>
            </a:r>
            <a:r>
              <a:rPr lang="en-AU" sz="2800" dirty="0" smtClean="0"/>
              <a:t>. </a:t>
            </a:r>
            <a:r>
              <a:rPr lang="en-AU" sz="3600" dirty="0" smtClean="0"/>
              <a:t>5</a:t>
            </a:r>
            <a:r>
              <a:rPr lang="en-AU" sz="2800" dirty="0" smtClean="0"/>
              <a:t>H2O – has 5 water molecules of crystallisation per unit of copper(II) </a:t>
            </a:r>
            <a:r>
              <a:rPr lang="en-AU" sz="2800" dirty="0" err="1" smtClean="0"/>
              <a:t>sulfate</a:t>
            </a:r>
            <a:r>
              <a:rPr lang="en-AU" sz="2800" dirty="0" smtClean="0"/>
              <a:t>. The bonds between the ions and water are called ion-dipole bonds. In water molecules it form a weak bond.</a:t>
            </a:r>
            <a:endParaRPr lang="en-AU" sz="2800" dirty="0"/>
          </a:p>
        </p:txBody>
      </p:sp>
    </p:spTree>
    <p:extLst>
      <p:ext uri="{BB962C8B-B14F-4D97-AF65-F5344CB8AC3E}">
        <p14:creationId xmlns:p14="http://schemas.microsoft.com/office/powerpoint/2010/main" val="3993277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Water or other molecules form dipole bonds to a metal atom are referred to as </a:t>
            </a:r>
            <a:r>
              <a:rPr lang="en-AU" dirty="0" smtClean="0">
                <a:solidFill>
                  <a:srgbClr val="FF0000"/>
                </a:solidFill>
              </a:rPr>
              <a:t>ligands.</a:t>
            </a:r>
          </a:p>
          <a:p>
            <a:r>
              <a:rPr lang="en-AU" dirty="0" smtClean="0"/>
              <a:t>The water of crystallisation in a hydrated compound can be evaporated by heating. The compound is said to be anhydrous when all molecules have </a:t>
            </a:r>
            <a:r>
              <a:rPr lang="en-AU" smtClean="0"/>
              <a:t>been removed.</a:t>
            </a:r>
            <a:endParaRPr lang="en-AU" dirty="0"/>
          </a:p>
        </p:txBody>
      </p:sp>
    </p:spTree>
    <p:extLst>
      <p:ext uri="{BB962C8B-B14F-4D97-AF65-F5344CB8AC3E}">
        <p14:creationId xmlns:p14="http://schemas.microsoft.com/office/powerpoint/2010/main" val="40497274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245</TotalTime>
  <Words>818</Words>
  <Application>Microsoft Office PowerPoint</Application>
  <PresentationFormat>On-screen Show (4:3)</PresentationFormat>
  <Paragraphs>40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Flow</vt:lpstr>
      <vt:lpstr>Chapter: 6.5</vt:lpstr>
      <vt:lpstr>PowerPoint Presentation</vt:lpstr>
      <vt:lpstr>Water and hydrogen bonding</vt:lpstr>
      <vt:lpstr>PowerPoint Presentation</vt:lpstr>
      <vt:lpstr>PowerPoint Presentation</vt:lpstr>
      <vt:lpstr>PowerPoint Presentation</vt:lpstr>
      <vt:lpstr>Capillary action</vt:lpstr>
      <vt:lpstr>PowerPoint Presentation</vt:lpstr>
      <vt:lpstr>PowerPoint Presentation</vt:lpstr>
      <vt:lpstr>Water of crystallisation </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6.5</dc:title>
  <dc:creator>Jijy</dc:creator>
  <cp:lastModifiedBy>Jijy</cp:lastModifiedBy>
  <cp:revision>28</cp:revision>
  <dcterms:created xsi:type="dcterms:W3CDTF">2015-07-26T13:24:28Z</dcterms:created>
  <dcterms:modified xsi:type="dcterms:W3CDTF">2015-07-31T15:47:31Z</dcterms:modified>
</cp:coreProperties>
</file>
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20" name="Footer Placeholder 19"/>
          <p:cNvSpPr>
            <a:spLocks noGrp="1"/>
          </p:cNvSpPr>
          <p:nvPr>
            <p:ph type="ftr" sz="quarter" idx="11"/>
          </p:nvPr>
        </p:nvSpPr>
        <p:spPr/>
        <p:txBody>
          <a:bodyPr/>
          <a:lstStyle>
            <a:extLst/>
          </a:lstStyle>
          <a:p>
            <a:endParaRPr lang="en-AU"/>
          </a:p>
        </p:txBody>
      </p:sp>
      <p:sp>
        <p:nvSpPr>
          <p:cNvPr id="10" name="Slide Number Placeholder 9"/>
          <p:cNvSpPr>
            <a:spLocks noGrp="1"/>
          </p:cNvSpPr>
          <p:nvPr>
            <p:ph type="sldNum" sz="quarter" idx="12"/>
          </p:nvPr>
        </p:nvSpPr>
        <p:spPr/>
        <p:txBody>
          <a:bodyPr/>
          <a:lstStyle>
            <a:extLst/>
          </a:lstStyle>
          <a:p>
            <a:fld id="{0143D27A-9F09-43AB-88C5-2710E15BB188}" type="slidenum">
              <a:rPr lang="en-AU" smtClean="0"/>
              <a:t>‹#›</a:t>
            </a:fld>
            <a:endParaRPr lang="en-AU"/>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0143D27A-9F09-43AB-88C5-2710E15BB188}" type="slidenum">
              <a:rPr lang="en-AU" smtClean="0"/>
              <a:t>‹#›</a:t>
            </a:fld>
            <a:endParaRPr lang="en-AU"/>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8" name="Footer Placeholder 7"/>
          <p:cNvSpPr>
            <a:spLocks noGrp="1"/>
          </p:cNvSpPr>
          <p:nvPr>
            <p:ph type="ftr" sz="quarter" idx="11"/>
          </p:nvPr>
        </p:nvSpPr>
        <p:spPr/>
        <p:txBody>
          <a:bodyPr/>
          <a:lstStyle>
            <a:extLst/>
          </a:lstStyle>
          <a:p>
            <a:endParaRPr lang="en-AU"/>
          </a:p>
        </p:txBody>
      </p:sp>
      <p:sp>
        <p:nvSpPr>
          <p:cNvPr id="9" name="Slide Number Placeholder 8"/>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4" name="Footer Placeholder 3"/>
          <p:cNvSpPr>
            <a:spLocks noGrp="1"/>
          </p:cNvSpPr>
          <p:nvPr>
            <p:ph type="ftr" sz="quarter" idx="11"/>
          </p:nvPr>
        </p:nvSpPr>
        <p:spPr/>
        <p:txBody>
          <a:bodyPr/>
          <a:lstStyle>
            <a:extLst/>
          </a:lstStyle>
          <a:p>
            <a:endParaRPr lang="en-AU"/>
          </a:p>
        </p:txBody>
      </p:sp>
      <p:sp>
        <p:nvSpPr>
          <p:cNvPr id="5" name="Slide Number Placeholder 4"/>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3" name="Footer Placeholder 2"/>
          <p:cNvSpPr>
            <a:spLocks noGrp="1"/>
          </p:cNvSpPr>
          <p:nvPr>
            <p:ph type="ftr" sz="quarter" idx="11"/>
          </p:nvPr>
        </p:nvSpPr>
        <p:spPr/>
        <p:txBody>
          <a:bodyPr/>
          <a:lstStyle>
            <a:extLst/>
          </a:lstStyle>
          <a:p>
            <a:endParaRPr lang="en-AU"/>
          </a:p>
        </p:txBody>
      </p:sp>
      <p:sp>
        <p:nvSpPr>
          <p:cNvPr id="4" name="Slide Number Placeholder 3"/>
          <p:cNvSpPr>
            <a:spLocks noGrp="1"/>
          </p:cNvSpPr>
          <p:nvPr>
            <p:ph type="sldNum" sz="quarter" idx="12"/>
          </p:nvPr>
        </p:nvSpPr>
        <p:spPr/>
        <p:txBody>
          <a:bodyPr/>
          <a:lstStyle>
            <a:extLst/>
          </a:lstStyle>
          <a:p>
            <a:fld id="{0143D27A-9F09-43AB-88C5-2710E15BB188}" type="slidenum">
              <a:rPr lang="en-AU" smtClean="0"/>
              <a:t>‹#›</a:t>
            </a:fld>
            <a:endParaRPr lang="en-AU"/>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0143D27A-9F09-43AB-88C5-2710E15BB188}" type="slidenum">
              <a:rPr lang="en-AU" smtClean="0"/>
              <a:t>‹#›</a:t>
            </a:fld>
            <a:endParaRPr lang="en-AU"/>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FD2DFD-3336-45C7-8467-EFBEA0D84F1C}" type="datetimeFigureOut">
              <a:rPr lang="en-AU" smtClean="0"/>
              <a:t>3/08/2015</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0143D27A-9F09-43AB-88C5-2710E15BB188}"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B6FD2DFD-3336-45C7-8467-EFBEA0D84F1C}" type="datetimeFigureOut">
              <a:rPr lang="en-AU" smtClean="0"/>
              <a:t>3/08/2015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AU"/>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143D27A-9F09-43AB-88C5-2710E15BB188}" type="slidenum">
              <a:rPr lang="en-AU" smtClean="0"/>
              <a:t>‹#›</a:t>
            </a:fld>
            <a:endParaRPr lang="en-AU"/>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188640"/>
            <a:ext cx="7406640" cy="1472184"/>
          </a:xfrm>
        </p:spPr>
        <p:txBody>
          <a:bodyPr/>
          <a:lstStyle/>
          <a:p>
            <a:r>
              <a:rPr lang="en-AU" dirty="0"/>
              <a:t>Chapter: 6.8</a:t>
            </a:r>
            <a:br>
              <a:rPr lang="en-AU" dirty="0"/>
            </a:br>
            <a:endParaRPr lang="en-AU" dirty="0"/>
          </a:p>
        </p:txBody>
      </p:sp>
      <p:sp>
        <p:nvSpPr>
          <p:cNvPr id="3" name="Subtitle 2"/>
          <p:cNvSpPr>
            <a:spLocks noGrp="1"/>
          </p:cNvSpPr>
          <p:nvPr>
            <p:ph type="subTitle" idx="1"/>
          </p:nvPr>
        </p:nvSpPr>
        <p:spPr/>
        <p:txBody>
          <a:bodyPr/>
          <a:lstStyle/>
          <a:p>
            <a:r>
              <a:rPr lang="en-AU" dirty="0" smtClean="0"/>
              <a:t>Practical applications</a:t>
            </a:r>
            <a:endParaRPr lang="en-AU" dirty="0"/>
          </a:p>
        </p:txBody>
      </p:sp>
    </p:spTree>
    <p:extLst>
      <p:ext uri="{BB962C8B-B14F-4D97-AF65-F5344CB8AC3E}">
        <p14:creationId xmlns:p14="http://schemas.microsoft.com/office/powerpoint/2010/main" val="23820409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20000"/>
          </a:bodyPr>
          <a:lstStyle/>
          <a:p>
            <a:r>
              <a:rPr lang="en-AU" dirty="0" smtClean="0"/>
              <a:t>The practical applications of water is depend on its high surface tension and ability to act as a solvent. </a:t>
            </a:r>
          </a:p>
          <a:p>
            <a:r>
              <a:rPr lang="en-AU" u="sng" dirty="0" smtClean="0">
                <a:solidFill>
                  <a:srgbClr val="00B0F0"/>
                </a:solidFill>
              </a:rPr>
              <a:t>Surfactants: polar &amp; non-polar</a:t>
            </a:r>
          </a:p>
          <a:p>
            <a:r>
              <a:rPr lang="en-AU" dirty="0" smtClean="0"/>
              <a:t>Non-polar liquids do not mix with polar solvents. These substances are known as immiscible substances. The tension between water and oil can be reduced by adding a surfactant. They appear to dissolve in each other and there will be the formation of an </a:t>
            </a:r>
            <a:r>
              <a:rPr lang="en-AU" dirty="0" smtClean="0">
                <a:solidFill>
                  <a:schemeClr val="accent3"/>
                </a:solidFill>
              </a:rPr>
              <a:t>emulsion.  </a:t>
            </a:r>
            <a:r>
              <a:rPr lang="en-AU" dirty="0" smtClean="0"/>
              <a:t>This is a mixture of two immiscible substances. </a:t>
            </a:r>
          </a:p>
          <a:p>
            <a:endParaRPr lang="en-AU" dirty="0"/>
          </a:p>
        </p:txBody>
      </p:sp>
    </p:spTree>
    <p:extLst>
      <p:ext uri="{BB962C8B-B14F-4D97-AF65-F5344CB8AC3E}">
        <p14:creationId xmlns:p14="http://schemas.microsoft.com/office/powerpoint/2010/main" val="26687328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20000"/>
          </a:bodyPr>
          <a:lstStyle/>
          <a:p>
            <a:r>
              <a:rPr lang="en-AU" dirty="0" smtClean="0"/>
              <a:t>The compound that helps form the emulsion is called an emulsifier. </a:t>
            </a:r>
          </a:p>
          <a:p>
            <a:r>
              <a:rPr lang="en-AU" dirty="0" smtClean="0"/>
              <a:t>E.g. Eggs are a good emulsifier for oil &amp; vinegar.</a:t>
            </a:r>
          </a:p>
          <a:p>
            <a:r>
              <a:rPr lang="en-AU" dirty="0" smtClean="0"/>
              <a:t>The resultant emulsion is called as mayonnaise. </a:t>
            </a:r>
          </a:p>
          <a:p>
            <a:endParaRPr lang="en-AU" dirty="0"/>
          </a:p>
          <a:p>
            <a:r>
              <a:rPr lang="en-AU" dirty="0" smtClean="0"/>
              <a:t>Milk is considered to be an ‘oil in water’ emulsion.   When whipped sufficiently, turns into a ‘water in oil’ emulsion, called butter. Excess water will be separated in the process. </a:t>
            </a:r>
            <a:endParaRPr lang="en-AU" dirty="0"/>
          </a:p>
        </p:txBody>
      </p:sp>
    </p:spTree>
    <p:extLst>
      <p:ext uri="{BB962C8B-B14F-4D97-AF65-F5344CB8AC3E}">
        <p14:creationId xmlns:p14="http://schemas.microsoft.com/office/powerpoint/2010/main" val="20333411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Detergents: surfactants that clean</a:t>
            </a:r>
            <a:endParaRPr lang="en-AU" dirty="0"/>
          </a:p>
        </p:txBody>
      </p:sp>
      <p:sp>
        <p:nvSpPr>
          <p:cNvPr id="3" name="Content Placeholder 2"/>
          <p:cNvSpPr>
            <a:spLocks noGrp="1"/>
          </p:cNvSpPr>
          <p:nvPr>
            <p:ph idx="1"/>
          </p:nvPr>
        </p:nvSpPr>
        <p:spPr/>
        <p:txBody>
          <a:bodyPr>
            <a:normAutofit lnSpcReduction="10000"/>
          </a:bodyPr>
          <a:lstStyle/>
          <a:p>
            <a:r>
              <a:rPr lang="en-AU" dirty="0" smtClean="0">
                <a:solidFill>
                  <a:srgbClr val="00B0F0"/>
                </a:solidFill>
              </a:rPr>
              <a:t>Examples of surfactants- Soaps &amp; detergents. One end of surfactant is hydrophilic </a:t>
            </a:r>
            <a:r>
              <a:rPr lang="en-AU" dirty="0">
                <a:solidFill>
                  <a:srgbClr val="00B0F0"/>
                </a:solidFill>
              </a:rPr>
              <a:t>and the other end is </a:t>
            </a:r>
            <a:r>
              <a:rPr lang="en-AU" dirty="0" smtClean="0">
                <a:solidFill>
                  <a:srgbClr val="00B0F0"/>
                </a:solidFill>
              </a:rPr>
              <a:t>hydrophobic. </a:t>
            </a:r>
          </a:p>
          <a:p>
            <a:r>
              <a:rPr lang="en-AU" dirty="0" smtClean="0"/>
              <a:t>Soap forms micelles, sub-microscopic clusters in water, which have polar ends on the  outside and hydrophobic tails in the middle where they can avoid water. </a:t>
            </a:r>
          </a:p>
          <a:p>
            <a:r>
              <a:rPr lang="en-AU" dirty="0" smtClean="0"/>
              <a:t>The long tail of soap dissolves into grease because of dispersion forces.  </a:t>
            </a:r>
            <a:endParaRPr lang="en-AU" dirty="0"/>
          </a:p>
          <a:p>
            <a:endParaRPr lang="en-AU" dirty="0"/>
          </a:p>
        </p:txBody>
      </p:sp>
    </p:spTree>
    <p:extLst>
      <p:ext uri="{BB962C8B-B14F-4D97-AF65-F5344CB8AC3E}">
        <p14:creationId xmlns:p14="http://schemas.microsoft.com/office/powerpoint/2010/main" val="314675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There is an ion-dipole interaction between the polar head and the water molecules. More and more hydrophobic tails of the soap molecules will tunnel into the grease droplet, eventually incorporating into the water. </a:t>
            </a:r>
            <a:endParaRPr lang="en-AU" dirty="0"/>
          </a:p>
        </p:txBody>
      </p:sp>
    </p:spTree>
    <p:extLst>
      <p:ext uri="{BB962C8B-B14F-4D97-AF65-F5344CB8AC3E}">
        <p14:creationId xmlns:p14="http://schemas.microsoft.com/office/powerpoint/2010/main" val="1885965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s://anjungsainssmkss.files.wordpress.com/2011/06/cleaner-clothes-with-diamond-dust-7.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5412" y="2062162"/>
            <a:ext cx="5038725" cy="3571875"/>
          </a:xfrm>
          <a:prstGeom prst="rect">
            <a:avLst/>
          </a:prstGeom>
          <a:noFill/>
          <a:ln>
            <a:noFill/>
          </a:ln>
        </p:spPr>
      </p:pic>
    </p:spTree>
    <p:extLst>
      <p:ext uri="{BB962C8B-B14F-4D97-AF65-F5344CB8AC3E}">
        <p14:creationId xmlns:p14="http://schemas.microsoft.com/office/powerpoint/2010/main" val="41130450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www.planet-science.com/media/43403/soap_293x267.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47864" y="2348880"/>
            <a:ext cx="3160315" cy="3274863"/>
          </a:xfrm>
          <a:prstGeom prst="rect">
            <a:avLst/>
          </a:prstGeom>
          <a:noFill/>
          <a:ln>
            <a:noFill/>
          </a:ln>
        </p:spPr>
      </p:pic>
    </p:spTree>
    <p:extLst>
      <p:ext uri="{BB962C8B-B14F-4D97-AF65-F5344CB8AC3E}">
        <p14:creationId xmlns:p14="http://schemas.microsoft.com/office/powerpoint/2010/main" val="20999225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Surface tension of water can be reduced by dissolving surfactants such as soap or detergent. The surfactant breaks the hydrogen bonding between the molecules and the water spreads out onto the surface rather than remaining in a droplet.</a:t>
            </a:r>
          </a:p>
          <a:p>
            <a:endParaRPr lang="en-AU" dirty="0"/>
          </a:p>
          <a:p>
            <a:r>
              <a:rPr lang="en-AU" dirty="0" smtClean="0"/>
              <a:t>See diagram C6.29 page: 287 NC </a:t>
            </a:r>
            <a:endParaRPr lang="en-AU" dirty="0"/>
          </a:p>
        </p:txBody>
      </p:sp>
    </p:spTree>
    <p:extLst>
      <p:ext uri="{BB962C8B-B14F-4D97-AF65-F5344CB8AC3E}">
        <p14:creationId xmlns:p14="http://schemas.microsoft.com/office/powerpoint/2010/main" val="19868383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AU" dirty="0" smtClean="0"/>
                  <a:t>Soap is made from fatty acids in animal &amp; vegetable oils. The sodium or potassium salts of these fatty acids have the general formula RCOO</a:t>
                </a:r>
                <a14:m>
                  <m:oMath xmlns:m="http://schemas.openxmlformats.org/officeDocument/2006/math">
                    <m:r>
                      <a:rPr lang="en-AU" b="0" i="1" smtClean="0">
                        <a:latin typeface="Cambria Math"/>
                      </a:rPr>
                      <m:t>− </m:t>
                    </m:r>
                  </m:oMath>
                </a14:m>
                <a:r>
                  <a:rPr lang="en-AU" dirty="0" smtClean="0"/>
                  <a:t>Na+, where R represents a long carbon chain. </a:t>
                </a:r>
              </a:p>
              <a:p>
                <a:endParaRPr lang="en-AU" dirty="0" smtClean="0"/>
              </a:p>
              <a:p>
                <a:r>
                  <a:rPr lang="en-AU" dirty="0" smtClean="0"/>
                  <a:t>Sodium stearate is a soap made from the fat of cattle or sheep reacting with strong base like </a:t>
                </a:r>
                <a:r>
                  <a:rPr lang="en-AU" dirty="0" err="1" smtClean="0"/>
                  <a:t>NaOH</a:t>
                </a:r>
                <a:r>
                  <a:rPr lang="en-AU" dirty="0" smtClean="0"/>
                  <a:t>. </a:t>
                </a:r>
                <a:endParaRPr lang="en-AU"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652" r="-1870" b="-635"/>
                </a:stretch>
              </a:blipFill>
            </p:spPr>
            <p:txBody>
              <a:bodyPr/>
              <a:lstStyle/>
              <a:p>
                <a:r>
                  <a:rPr lang="en-AU">
                    <a:noFill/>
                  </a:rPr>
                  <a:t> </a:t>
                </a:r>
              </a:p>
            </p:txBody>
          </p:sp>
        </mc:Fallback>
      </mc:AlternateContent>
    </p:spTree>
    <p:extLst>
      <p:ext uri="{BB962C8B-B14F-4D97-AF65-F5344CB8AC3E}">
        <p14:creationId xmlns:p14="http://schemas.microsoft.com/office/powerpoint/2010/main" val="5294101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b="1" u="sng" dirty="0" smtClean="0"/>
              <a:t>Saponification reaction</a:t>
            </a:r>
          </a:p>
          <a:p>
            <a:r>
              <a:rPr lang="en-AU" dirty="0" smtClean="0"/>
              <a:t>C</a:t>
            </a:r>
            <a:r>
              <a:rPr lang="en-AU" sz="1800" dirty="0" smtClean="0"/>
              <a:t>1</a:t>
            </a:r>
            <a:r>
              <a:rPr lang="en-AU" sz="2000" dirty="0" smtClean="0"/>
              <a:t>7 </a:t>
            </a:r>
            <a:r>
              <a:rPr lang="en-AU" dirty="0" smtClean="0"/>
              <a:t>H</a:t>
            </a:r>
            <a:r>
              <a:rPr lang="en-AU" sz="2400" dirty="0" smtClean="0"/>
              <a:t>33</a:t>
            </a:r>
            <a:r>
              <a:rPr lang="en-AU" dirty="0" smtClean="0"/>
              <a:t>COOH</a:t>
            </a:r>
            <a:r>
              <a:rPr lang="en-AU" sz="2400" dirty="0" smtClean="0"/>
              <a:t> </a:t>
            </a:r>
            <a:r>
              <a:rPr lang="en-AU" sz="2800" dirty="0" smtClean="0"/>
              <a:t>+ </a:t>
            </a:r>
            <a:r>
              <a:rPr lang="en-AU" sz="2800" dirty="0" err="1" smtClean="0"/>
              <a:t>NaOH</a:t>
            </a:r>
            <a:r>
              <a:rPr lang="en-AU" sz="2400" dirty="0" smtClean="0"/>
              <a:t> </a:t>
            </a:r>
            <a:r>
              <a:rPr lang="en-AU" sz="2400" dirty="0" smtClean="0">
                <a:sym typeface="Wingdings 3"/>
              </a:rPr>
              <a:t> </a:t>
            </a:r>
            <a:r>
              <a:rPr lang="en-AU" dirty="0" smtClean="0">
                <a:sym typeface="Wingdings 3"/>
              </a:rPr>
              <a:t>R-</a:t>
            </a:r>
            <a:r>
              <a:rPr lang="en-AU" dirty="0" err="1" smtClean="0">
                <a:sym typeface="Wingdings 3"/>
              </a:rPr>
              <a:t>COONa</a:t>
            </a:r>
            <a:r>
              <a:rPr lang="en-AU" sz="2800" dirty="0" smtClean="0">
                <a:sym typeface="Wingdings 3"/>
              </a:rPr>
              <a:t>+  </a:t>
            </a:r>
          </a:p>
          <a:p>
            <a:r>
              <a:rPr lang="en-AU" sz="2800" dirty="0" smtClean="0">
                <a:sym typeface="Wingdings 3"/>
              </a:rPr>
              <a:t>Fatty acid (oleic acid)			Base soap</a:t>
            </a:r>
            <a:endParaRPr lang="en-AU" sz="2800" dirty="0">
              <a:sym typeface="Wingdings 3"/>
            </a:endParaRPr>
          </a:p>
          <a:p>
            <a:r>
              <a:rPr lang="en-AU" sz="4000" dirty="0" smtClean="0">
                <a:sym typeface="Wingdings 3"/>
              </a:rPr>
              <a:t>+</a:t>
            </a:r>
            <a:r>
              <a:rPr lang="en-AU" dirty="0" smtClean="0">
                <a:sym typeface="Wingdings 3"/>
              </a:rPr>
              <a:t>R’ OH</a:t>
            </a:r>
          </a:p>
          <a:p>
            <a:r>
              <a:rPr lang="en-AU" sz="2800" dirty="0" smtClean="0"/>
              <a:t>Alcohol</a:t>
            </a:r>
          </a:p>
          <a:p>
            <a:endParaRPr lang="en-AU" sz="2800" dirty="0"/>
          </a:p>
          <a:p>
            <a:r>
              <a:rPr lang="en-AU" sz="2800" dirty="0" smtClean="0"/>
              <a:t>The soap formed has a polar head (</a:t>
            </a:r>
            <a:r>
              <a:rPr lang="en-AU" sz="2800" dirty="0" err="1" smtClean="0">
                <a:sym typeface="Wingdings 3"/>
              </a:rPr>
              <a:t>COONa</a:t>
            </a:r>
            <a:r>
              <a:rPr lang="en-AU" sz="2000" dirty="0" smtClean="0">
                <a:sym typeface="Wingdings 3"/>
              </a:rPr>
              <a:t>+</a:t>
            </a:r>
            <a:r>
              <a:rPr lang="en-AU" sz="2800" dirty="0" smtClean="0">
                <a:sym typeface="Wingdings 3"/>
              </a:rPr>
              <a:t>)</a:t>
            </a:r>
          </a:p>
          <a:p>
            <a:r>
              <a:rPr lang="en-AU" sz="2800" dirty="0" smtClean="0">
                <a:sym typeface="Wingdings 3"/>
              </a:rPr>
              <a:t>And  a non-polar hydrocarbon tail(R). The polar head is strongly attracted to water molecules and long tail is hydrophobic.</a:t>
            </a:r>
            <a:endParaRPr lang="en-AU" sz="2800" dirty="0"/>
          </a:p>
        </p:txBody>
      </p:sp>
    </p:spTree>
    <p:extLst>
      <p:ext uri="{BB962C8B-B14F-4D97-AF65-F5344CB8AC3E}">
        <p14:creationId xmlns:p14="http://schemas.microsoft.com/office/powerpoint/2010/main" val="25385622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tail will dissolve into grease or oil. </a:t>
            </a:r>
          </a:p>
          <a:p>
            <a:endParaRPr lang="en-AU" dirty="0"/>
          </a:p>
          <a:p>
            <a:r>
              <a:rPr lang="en-AU" dirty="0" smtClean="0"/>
              <a:t>Detergents are used in hard water rather than soap, which does not form a lather. </a:t>
            </a:r>
          </a:p>
          <a:p>
            <a:r>
              <a:rPr lang="en-AU" dirty="0" smtClean="0"/>
              <a:t>Detergents have an ionic head based upon </a:t>
            </a:r>
            <a:r>
              <a:rPr lang="en-AU" dirty="0" err="1" smtClean="0"/>
              <a:t>sulfate</a:t>
            </a:r>
            <a:r>
              <a:rPr lang="en-AU" dirty="0" smtClean="0"/>
              <a:t> ions. These </a:t>
            </a:r>
            <a:r>
              <a:rPr lang="en-AU" dirty="0" err="1" smtClean="0"/>
              <a:t>sulfate</a:t>
            </a:r>
            <a:r>
              <a:rPr lang="en-AU" dirty="0" smtClean="0"/>
              <a:t> ions do not precipitate the calcium or magnesium ions in hard water as soap does. </a:t>
            </a:r>
            <a:endParaRPr lang="en-AU" dirty="0"/>
          </a:p>
        </p:txBody>
      </p:sp>
    </p:spTree>
    <p:extLst>
      <p:ext uri="{BB962C8B-B14F-4D97-AF65-F5344CB8AC3E}">
        <p14:creationId xmlns:p14="http://schemas.microsoft.com/office/powerpoint/2010/main" val="23011228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10000"/>
          </a:bodyPr>
          <a:lstStyle/>
          <a:p>
            <a:r>
              <a:rPr lang="en-AU" u="sng" dirty="0" smtClean="0"/>
              <a:t>Classification of detergents</a:t>
            </a:r>
          </a:p>
          <a:p>
            <a:r>
              <a:rPr lang="en-AU" dirty="0" smtClean="0"/>
              <a:t>Based on the charge on their polar head they can be classified.</a:t>
            </a:r>
          </a:p>
          <a:p>
            <a:endParaRPr lang="en-AU" dirty="0"/>
          </a:p>
          <a:p>
            <a:r>
              <a:rPr lang="en-AU" dirty="0" smtClean="0"/>
              <a:t>Anionic detergents---- have a negatively charged </a:t>
            </a:r>
            <a:r>
              <a:rPr lang="en-AU" dirty="0" err="1" smtClean="0"/>
              <a:t>sulfate</a:t>
            </a:r>
            <a:r>
              <a:rPr lang="en-AU" dirty="0" smtClean="0"/>
              <a:t> ion</a:t>
            </a:r>
          </a:p>
          <a:p>
            <a:r>
              <a:rPr lang="en-AU" dirty="0" smtClean="0"/>
              <a:t>Cationic detergents----- have a positively charged end</a:t>
            </a:r>
          </a:p>
          <a:p>
            <a:r>
              <a:rPr lang="en-AU" dirty="0" smtClean="0"/>
              <a:t>Non-ionic detergents----- do not have any ionic groups.</a:t>
            </a:r>
            <a:endParaRPr lang="en-AU" dirty="0"/>
          </a:p>
        </p:txBody>
      </p:sp>
    </p:spTree>
    <p:extLst>
      <p:ext uri="{BB962C8B-B14F-4D97-AF65-F5344CB8AC3E}">
        <p14:creationId xmlns:p14="http://schemas.microsoft.com/office/powerpoint/2010/main" val="3007127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chemistry.elmhurst.edu/vchembook/images/558nonionic.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65525" y="2147887"/>
            <a:ext cx="3238500" cy="3400425"/>
          </a:xfrm>
          <a:prstGeom prst="rect">
            <a:avLst/>
          </a:prstGeom>
          <a:noFill/>
          <a:ln>
            <a:noFill/>
          </a:ln>
        </p:spPr>
      </p:pic>
    </p:spTree>
    <p:extLst>
      <p:ext uri="{BB962C8B-B14F-4D97-AF65-F5344CB8AC3E}">
        <p14:creationId xmlns:p14="http://schemas.microsoft.com/office/powerpoint/2010/main" val="18687885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chemistry.elmhurst.edu/vchembook/images/558anionic.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65525" y="2147887"/>
            <a:ext cx="3238500" cy="3400425"/>
          </a:xfrm>
          <a:prstGeom prst="rect">
            <a:avLst/>
          </a:prstGeom>
          <a:noFill/>
          <a:ln>
            <a:noFill/>
          </a:ln>
        </p:spPr>
      </p:pic>
    </p:spTree>
    <p:extLst>
      <p:ext uri="{BB962C8B-B14F-4D97-AF65-F5344CB8AC3E}">
        <p14:creationId xmlns:p14="http://schemas.microsoft.com/office/powerpoint/2010/main" val="17724389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chemistry.elmhurst.edu/vchembook/images/558cationic.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65525" y="2147887"/>
            <a:ext cx="3238500" cy="3400425"/>
          </a:xfrm>
          <a:prstGeom prst="rect">
            <a:avLst/>
          </a:prstGeom>
          <a:noFill/>
          <a:ln>
            <a:noFill/>
          </a:ln>
        </p:spPr>
      </p:pic>
    </p:spTree>
    <p:extLst>
      <p:ext uri="{BB962C8B-B14F-4D97-AF65-F5344CB8AC3E}">
        <p14:creationId xmlns:p14="http://schemas.microsoft.com/office/powerpoint/2010/main" val="19960187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Surfactants like detergents interrupt the surface tension of water. Surfactants have both polar &amp; </a:t>
            </a:r>
            <a:r>
              <a:rPr lang="en-AU" smtClean="0"/>
              <a:t>non-polar regions.</a:t>
            </a:r>
            <a:endParaRPr lang="en-AU"/>
          </a:p>
        </p:txBody>
      </p:sp>
    </p:spTree>
    <p:extLst>
      <p:ext uri="{BB962C8B-B14F-4D97-AF65-F5344CB8AC3E}">
        <p14:creationId xmlns:p14="http://schemas.microsoft.com/office/powerpoint/2010/main" val="383094864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96</TotalTime>
  <Words>494</Words>
  <Application>Microsoft Office PowerPoint</Application>
  <PresentationFormat>On-screen Show (4:3)</PresentationFormat>
  <Paragraphs>40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Solstice</vt:lpstr>
      <vt:lpstr>Chapter: 6.8 </vt:lpstr>
      <vt:lpstr>PowerPoint Presentation</vt:lpstr>
      <vt:lpstr>PowerPoint Presentation</vt:lpstr>
      <vt:lpstr>Detergents: surfactants that clean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6.8</dc:title>
  <dc:creator>D'CRUZ Jijy</dc:creator>
  <cp:lastModifiedBy>D'CRUZ Jijy</cp:lastModifiedBy>
  <cp:revision>15</cp:revision>
  <dcterms:created xsi:type="dcterms:W3CDTF">2015-08-03T13:34:22Z</dcterms:created>
  <dcterms:modified xsi:type="dcterms:W3CDTF">2015-08-03T15:11:06Z</dcterms:modified>
</cp:coreProperties>
</file>
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3" d="100"/>
          <a:sy n="83" d="100"/>
        </p:scale>
        <p:origin x="1450" y="67"/>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B09D7A65-49C6-4FC9-B96D-67C4561D56A5}" type="datetimeFigureOut">
              <a:rPr lang="en-AU" smtClean="0"/>
              <a:t>19/06/2019</a:t>
            </a:fld>
            <a:endParaRPr lang="en-AU"/>
          </a:p>
        </p:txBody>
      </p:sp>
      <p:sp>
        <p:nvSpPr>
          <p:cNvPr id="19" name="Footer Placeholder 18"/>
          <p:cNvSpPr>
            <a:spLocks noGrp="1"/>
          </p:cNvSpPr>
          <p:nvPr>
            <p:ph type="ftr" sz="quarter" idx="11"/>
          </p:nvPr>
        </p:nvSpPr>
        <p:spPr/>
        <p:txBody>
          <a:bodyPr/>
          <a:lstStyle/>
          <a:p>
            <a:endParaRPr lang="en-AU"/>
          </a:p>
        </p:txBody>
      </p:sp>
      <p:sp>
        <p:nvSpPr>
          <p:cNvPr id="27" name="Slide Number Placeholder 26"/>
          <p:cNvSpPr>
            <a:spLocks noGrp="1"/>
          </p:cNvSpPr>
          <p:nvPr>
            <p:ph type="sldNum" sz="quarter" idx="12"/>
          </p:nvPr>
        </p:nvSpPr>
        <p:spPr/>
        <p:txBody>
          <a:bodyPr/>
          <a:lstStyle/>
          <a:p>
            <a:fld id="{EE2ED5E7-D4E5-4DF9-8FCF-FAE4C3469215}"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09D7A65-49C6-4FC9-B96D-67C4561D56A5}" type="datetimeFigureOut">
              <a:rPr lang="en-AU" smtClean="0"/>
              <a:t>19/06/2019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2ED5E7-D4E5-4DF9-8FCF-FAE4C3469215}" type="slidenum">
              <a:rPr lang="en-AU" smtClean="0"/>
              <a:t>‹#›</a:t>
            </a:fld>
            <a:endParaRPr lang="en-A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B09D7A65-49C6-4FC9-B96D-67C4561D56A5}" type="datetimeFigureOut">
              <a:rPr lang="en-AU" smtClean="0"/>
              <a:t>19/06/2019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2ED5E7-D4E5-4DF9-8FCF-FAE4C3469215}" type="slidenum">
              <a:rPr lang="en-AU" smtClean="0"/>
              <a:t>‹#›</a:t>
            </a:fld>
            <a:endParaRPr lang="en-AU"/>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09D7A65-49C6-4FC9-B96D-67C4561D56A5}" type="datetimeFigureOut">
              <a:rPr lang="en-AU" smtClean="0"/>
              <a:t>19/06/2019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E2ED5E7-D4E5-4DF9-8FCF-FAE4C3469215}" type="slidenum">
              <a:rPr lang="en-AU" smtClean="0"/>
              <a:t>‹#›</a:t>
            </a:fld>
            <a:endParaRPr lang="en-A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B09D7A65-49C6-4FC9-B96D-67C4561D56A5}" type="datetimeFigureOut">
              <a:rPr lang="en-AU" smtClean="0"/>
              <a:t>19/06/2019</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EE2ED5E7-D4E5-4DF9-8FCF-FAE4C3469215}" type="slidenum">
              <a:rPr lang="en-AU" smtClean="0"/>
              <a:t>‹#›</a:t>
            </a:fld>
            <a:endParaRPr lang="en-A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B09D7A65-49C6-4FC9-B96D-67C4561D56A5}" type="datetimeFigureOut">
              <a:rPr lang="en-AU" smtClean="0"/>
              <a:t>19/06/2019</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EE2ED5E7-D4E5-4DF9-8FCF-FAE4C3469215}" type="slidenum">
              <a:rPr lang="en-AU" smtClean="0"/>
              <a:t>‹#›</a:t>
            </a:fld>
            <a:endParaRPr lang="en-A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09D7A65-49C6-4FC9-B96D-67C4561D56A5}" type="datetimeFigureOut">
              <a:rPr lang="en-AU" smtClean="0"/>
              <a:t>19/06/2019</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EE2ED5E7-D4E5-4DF9-8FCF-FAE4C3469215}" type="slidenum">
              <a:rPr lang="en-AU" smtClean="0"/>
              <a:t>‹#›</a:t>
            </a:fld>
            <a:endParaRPr lang="en-A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B09D7A65-49C6-4FC9-B96D-67C4561D56A5}" type="datetimeFigureOut">
              <a:rPr lang="en-AU" smtClean="0"/>
              <a:t>19/06/2019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EE2ED5E7-D4E5-4DF9-8FCF-FAE4C3469215}" type="slidenum">
              <a:rPr lang="en-AU" smtClean="0"/>
              <a:t>‹#›</a:t>
            </a:fld>
            <a:endParaRPr lang="en-A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B09D7A65-49C6-4FC9-B96D-67C4561D56A5}" type="datetimeFigureOut">
              <a:rPr lang="en-AU" smtClean="0"/>
              <a:t>19/06/2019</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a:xfrm>
            <a:off x="8077200" y="6356350"/>
            <a:ext cx="609600" cy="365125"/>
          </a:xfrm>
        </p:spPr>
        <p:txBody>
          <a:bodyPr/>
          <a:lstStyle/>
          <a:p>
            <a:fld id="{EE2ED5E7-D4E5-4DF9-8FCF-FAE4C3469215}" type="slidenum">
              <a:rPr lang="en-AU" smtClean="0"/>
              <a:t>‹#›</a:t>
            </a:fld>
            <a:endParaRPr lang="en-AU"/>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09D7A65-49C6-4FC9-B96D-67C4561D56A5}" type="datetimeFigureOut">
              <a:rPr lang="en-AU" smtClean="0"/>
              <a:t>19/06/2019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2ED5E7-D4E5-4DF9-8FCF-FAE4C3469215}" type="slidenum">
              <a:rPr lang="en-AU" smtClean="0"/>
              <a:t>‹#›</a:t>
            </a:fld>
            <a:endParaRPr lang="en-A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B09D7A65-49C6-4FC9-B96D-67C4561D56A5}" type="datetimeFigureOut">
              <a:rPr lang="en-AU" smtClean="0"/>
              <a:t>19/06/2019</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EE2ED5E7-D4E5-4DF9-8FCF-FAE4C3469215}" type="slidenum">
              <a:rPr lang="en-AU" smtClean="0"/>
              <a:t>‹#›</a:t>
            </a:fld>
            <a:endParaRPr lang="en-A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B09D7A65-49C6-4FC9-B96D-67C4561D56A5}" type="datetimeFigureOut">
              <a:rPr lang="en-AU" smtClean="0"/>
              <a:t>19/06/2019</a:t>
            </a:fld>
            <a:endParaRPr lang="en-AU"/>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AU"/>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EE2ED5E7-D4E5-4DF9-8FCF-FAE4C3469215}" type="slidenum">
              <a:rPr lang="en-AU" smtClean="0"/>
              <a:t>‹#›</a:t>
            </a:fld>
            <a:endParaRPr lang="en-AU"/>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www.youtube.com/watch?v=ZWqC1uDNlJ0" TargetMode="External"/><Relationship Id="rId2" Type="http://schemas.openxmlformats.org/officeDocument/2006/relationships/hyperlink" Target="https://www.youtube.com/watch?v=aH2IbYs_XjY"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s://www.youtube.com/watch?v=ikKiQIYnqXA"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AU" dirty="0" smtClean="0"/>
              <a:t>Chapter: 6.4</a:t>
            </a:r>
            <a:endParaRPr lang="en-AU" dirty="0"/>
          </a:p>
        </p:txBody>
      </p:sp>
      <p:sp>
        <p:nvSpPr>
          <p:cNvPr id="3" name="Subtitle 2"/>
          <p:cNvSpPr>
            <a:spLocks noGrp="1"/>
          </p:cNvSpPr>
          <p:nvPr>
            <p:ph type="subTitle" idx="1"/>
          </p:nvPr>
        </p:nvSpPr>
        <p:spPr/>
        <p:txBody>
          <a:bodyPr/>
          <a:lstStyle/>
          <a:p>
            <a:r>
              <a:rPr lang="en-AU" dirty="0" smtClean="0"/>
              <a:t>Three types of intermolecular forces</a:t>
            </a:r>
            <a:endParaRPr lang="en-AU" dirty="0"/>
          </a:p>
        </p:txBody>
      </p:sp>
    </p:spTree>
    <p:extLst>
      <p:ext uri="{BB962C8B-B14F-4D97-AF65-F5344CB8AC3E}">
        <p14:creationId xmlns:p14="http://schemas.microsoft.com/office/powerpoint/2010/main" val="42765336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lnSpcReduction="10000"/>
          </a:bodyPr>
          <a:lstStyle/>
          <a:p>
            <a:r>
              <a:rPr lang="en-AU" dirty="0" smtClean="0"/>
              <a:t>There are three types of intermolecular  forces. </a:t>
            </a:r>
          </a:p>
          <a:p>
            <a:r>
              <a:rPr lang="en-AU" dirty="0" smtClean="0">
                <a:solidFill>
                  <a:srgbClr val="FF0000"/>
                </a:solidFill>
              </a:rPr>
              <a:t>Dispersion forces, dipole-dipole forces and hydrogen bonds.</a:t>
            </a:r>
          </a:p>
          <a:p>
            <a:r>
              <a:rPr lang="en-AU" dirty="0" smtClean="0">
                <a:solidFill>
                  <a:srgbClr val="00B050"/>
                </a:solidFill>
              </a:rPr>
              <a:t>Intermolecular  forces occur between molecules of the same substance and between molecules of different substances.</a:t>
            </a:r>
          </a:p>
          <a:p>
            <a:endParaRPr lang="en-AU" dirty="0">
              <a:solidFill>
                <a:srgbClr val="00B050"/>
              </a:solidFill>
            </a:endParaRPr>
          </a:p>
          <a:p>
            <a:r>
              <a:rPr lang="en-AU" dirty="0" smtClean="0"/>
              <a:t>Intermolecular forces are much weaker than the </a:t>
            </a:r>
            <a:r>
              <a:rPr lang="en-AU" dirty="0" err="1" smtClean="0"/>
              <a:t>intramolecular</a:t>
            </a:r>
            <a:r>
              <a:rPr lang="en-AU" dirty="0" smtClean="0"/>
              <a:t> forces that exist within molecules. </a:t>
            </a:r>
            <a:r>
              <a:rPr lang="en-AU" dirty="0" err="1" smtClean="0"/>
              <a:t>Intramolecular</a:t>
            </a:r>
            <a:r>
              <a:rPr lang="en-AU" dirty="0" smtClean="0"/>
              <a:t> forces are generally considered to be covalent. Covalent, ionic and metallic bonding are much stronger than the intermolecular forces. </a:t>
            </a:r>
            <a:endParaRPr lang="en-AU" dirty="0"/>
          </a:p>
        </p:txBody>
      </p:sp>
    </p:spTree>
    <p:extLst>
      <p:ext uri="{BB962C8B-B14F-4D97-AF65-F5344CB8AC3E}">
        <p14:creationId xmlns:p14="http://schemas.microsoft.com/office/powerpoint/2010/main" val="25977126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The strength of intermolecular forces increases with increasing polarisation of molecules. The weakest is the dispersion force, then the dipole-dipole force and then a special case of the dipole-dipole force, the hydrogen bond. </a:t>
            </a:r>
            <a:endParaRPr lang="en-AU" dirty="0"/>
          </a:p>
        </p:txBody>
      </p:sp>
    </p:spTree>
    <p:extLst>
      <p:ext uri="{BB962C8B-B14F-4D97-AF65-F5344CB8AC3E}">
        <p14:creationId xmlns:p14="http://schemas.microsoft.com/office/powerpoint/2010/main" val="144531120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Dipole-dipole forces</a:t>
            </a:r>
            <a:endParaRPr lang="en-AU" dirty="0"/>
          </a:p>
        </p:txBody>
      </p:sp>
      <p:sp>
        <p:nvSpPr>
          <p:cNvPr id="3" name="Content Placeholder 2"/>
          <p:cNvSpPr>
            <a:spLocks noGrp="1"/>
          </p:cNvSpPr>
          <p:nvPr>
            <p:ph idx="1"/>
          </p:nvPr>
        </p:nvSpPr>
        <p:spPr/>
        <p:txBody>
          <a:bodyPr/>
          <a:lstStyle/>
          <a:p>
            <a:r>
              <a:rPr lang="en-AU" dirty="0" smtClean="0"/>
              <a:t>In polar molecules, there is a net dipole. One end of molecule is slightly negative while the other end is slightly positive. Hydrochloric acid (</a:t>
            </a:r>
            <a:r>
              <a:rPr lang="en-AU" dirty="0" err="1" smtClean="0"/>
              <a:t>HCl</a:t>
            </a:r>
            <a:r>
              <a:rPr lang="en-AU" dirty="0" smtClean="0"/>
              <a:t>) is a polar molecule. The presence of dipoles creates an attraction between neighbouring molecules, a dipole-dipole force, which is an attraction between two dipoles in two individual molecules .</a:t>
            </a:r>
          </a:p>
          <a:p>
            <a:endParaRPr lang="en-AU" dirty="0"/>
          </a:p>
          <a:p>
            <a:endParaRPr lang="en-AU" dirty="0" smtClean="0"/>
          </a:p>
          <a:p>
            <a:endParaRPr lang="en-AU" dirty="0"/>
          </a:p>
        </p:txBody>
      </p:sp>
      <p:pic>
        <p:nvPicPr>
          <p:cNvPr id="4" name="Picture 3" descr="http://web1.strathfieg-h.schools.nsw.edu.au/staffnet/faculties/science/preliminary/chemistry/index_files/image6901.jpg"/>
          <p:cNvPicPr/>
          <p:nvPr/>
        </p:nvPicPr>
        <p:blipFill>
          <a:blip r:embed="rId2">
            <a:extLst>
              <a:ext uri="{28A0092B-C50C-407E-A947-70E740481C1C}">
                <a14:useLocalDpi xmlns:a14="http://schemas.microsoft.com/office/drawing/2010/main" val="0"/>
              </a:ext>
            </a:extLst>
          </a:blip>
          <a:srcRect/>
          <a:stretch>
            <a:fillRect/>
          </a:stretch>
        </p:blipFill>
        <p:spPr bwMode="auto">
          <a:xfrm>
            <a:off x="5436096" y="4858395"/>
            <a:ext cx="2520280" cy="1999605"/>
          </a:xfrm>
          <a:prstGeom prst="rect">
            <a:avLst/>
          </a:prstGeom>
          <a:noFill/>
          <a:ln>
            <a:noFill/>
          </a:ln>
        </p:spPr>
      </p:pic>
    </p:spTree>
    <p:extLst>
      <p:ext uri="{BB962C8B-B14F-4D97-AF65-F5344CB8AC3E}">
        <p14:creationId xmlns:p14="http://schemas.microsoft.com/office/powerpoint/2010/main" val="4102415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Molecules line up so that the slightly positive ( </a:t>
            </a:r>
            <a:r>
              <a:rPr lang="el-GR" dirty="0" smtClean="0"/>
              <a:t>δ</a:t>
            </a:r>
            <a:r>
              <a:rPr lang="en-AU" dirty="0" smtClean="0"/>
              <a:t>+) end of one molecule attracts the slightly negative end (</a:t>
            </a:r>
            <a:r>
              <a:rPr lang="el-GR" dirty="0" smtClean="0"/>
              <a:t>δ</a:t>
            </a:r>
            <a:r>
              <a:rPr lang="en-AU" dirty="0" smtClean="0"/>
              <a:t>-) of another molecule. The dipole-dipole attraction/ force is relatively strong because the dipole is permanent.</a:t>
            </a:r>
            <a:endParaRPr lang="en-AU" dirty="0"/>
          </a:p>
        </p:txBody>
      </p:sp>
    </p:spTree>
    <p:extLst>
      <p:ext uri="{BB962C8B-B14F-4D97-AF65-F5344CB8AC3E}">
        <p14:creationId xmlns:p14="http://schemas.microsoft.com/office/powerpoint/2010/main" val="300857549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smtClean="0"/>
              <a:t>Hydrogen bonds</a:t>
            </a:r>
            <a:endParaRPr lang="en-AU" dirty="0"/>
          </a:p>
        </p:txBody>
      </p:sp>
      <p:sp>
        <p:nvSpPr>
          <p:cNvPr id="3" name="Content Placeholder 2"/>
          <p:cNvSpPr>
            <a:spLocks noGrp="1"/>
          </p:cNvSpPr>
          <p:nvPr>
            <p:ph idx="1"/>
          </p:nvPr>
        </p:nvSpPr>
        <p:spPr/>
        <p:txBody>
          <a:bodyPr>
            <a:normAutofit fontScale="85000" lnSpcReduction="20000"/>
          </a:bodyPr>
          <a:lstStyle/>
          <a:p>
            <a:r>
              <a:rPr lang="en-AU" dirty="0" smtClean="0"/>
              <a:t>The dipole-dipole force occurs when there is a permanent dipole present. The hydrogen bond is a special case of the dipole-dipole force. </a:t>
            </a:r>
          </a:p>
          <a:p>
            <a:endParaRPr lang="en-AU" sz="2400" dirty="0" smtClean="0"/>
          </a:p>
          <a:p>
            <a:r>
              <a:rPr lang="en-AU" sz="2400" dirty="0">
                <a:hlinkClick r:id="rId2"/>
              </a:rPr>
              <a:t>https://</a:t>
            </a:r>
            <a:r>
              <a:rPr lang="en-AU" sz="2400" dirty="0" smtClean="0">
                <a:hlinkClick r:id="rId2"/>
              </a:rPr>
              <a:t>www.youtube.com/watch?v=aH2IbYs_XjY</a:t>
            </a:r>
            <a:endParaRPr lang="en-AU" sz="2400" dirty="0" smtClean="0"/>
          </a:p>
          <a:p>
            <a:endParaRPr lang="en-AU" sz="2400" dirty="0" smtClean="0">
              <a:hlinkClick r:id="rId3"/>
            </a:endParaRPr>
          </a:p>
          <a:p>
            <a:r>
              <a:rPr lang="en-AU" sz="2400" dirty="0" smtClean="0">
                <a:hlinkClick r:id="rId3"/>
              </a:rPr>
              <a:t>https</a:t>
            </a:r>
            <a:r>
              <a:rPr lang="en-AU" sz="2400" dirty="0">
                <a:hlinkClick r:id="rId3"/>
              </a:rPr>
              <a:t>://</a:t>
            </a:r>
            <a:r>
              <a:rPr lang="en-AU" sz="2400" dirty="0" smtClean="0">
                <a:hlinkClick r:id="rId3"/>
              </a:rPr>
              <a:t>www.youtube.com/watch?v=ZWqC1uDNlJ0</a:t>
            </a:r>
            <a:endParaRPr lang="en-AU" sz="2400" dirty="0" smtClean="0"/>
          </a:p>
          <a:p>
            <a:endParaRPr lang="en-AU" sz="2400" dirty="0"/>
          </a:p>
          <a:p>
            <a:r>
              <a:rPr lang="en-AU" sz="2400" dirty="0" smtClean="0"/>
              <a:t>A </a:t>
            </a:r>
            <a:r>
              <a:rPr lang="en-AU" sz="2400" dirty="0" smtClean="0">
                <a:solidFill>
                  <a:srgbClr val="C00000"/>
                </a:solidFill>
              </a:rPr>
              <a:t>hydrogen bond </a:t>
            </a:r>
            <a:r>
              <a:rPr lang="en-AU" sz="2400" dirty="0" smtClean="0"/>
              <a:t>occurs when a H atom that is bonded to an O, N, F atom in one molecule becomes attracted to the lone pair of electrons of N, O or F of an adjacent molecule. </a:t>
            </a:r>
          </a:p>
          <a:p>
            <a:pPr marL="0" indent="0">
              <a:buNone/>
            </a:pPr>
            <a:endParaRPr lang="en-AU" sz="2400" dirty="0"/>
          </a:p>
          <a:p>
            <a:r>
              <a:rPr lang="en-AU" sz="2400" dirty="0" smtClean="0"/>
              <a:t> </a:t>
            </a:r>
            <a:r>
              <a:rPr lang="en-AU" sz="2400" dirty="0" smtClean="0">
                <a:solidFill>
                  <a:srgbClr val="FF0000"/>
                </a:solidFill>
              </a:rPr>
              <a:t>The following diagram in the next slide shows a general increase in boiling points as you go down the periodic table groups, excluding period-2 hydrides.</a:t>
            </a:r>
          </a:p>
          <a:p>
            <a:endParaRPr lang="en-AU" dirty="0">
              <a:solidFill>
                <a:srgbClr val="FF0000"/>
              </a:solidFill>
            </a:endParaRPr>
          </a:p>
          <a:p>
            <a:endParaRPr lang="en-AU" dirty="0"/>
          </a:p>
        </p:txBody>
      </p:sp>
    </p:spTree>
    <p:extLst>
      <p:ext uri="{BB962C8B-B14F-4D97-AF65-F5344CB8AC3E}">
        <p14:creationId xmlns:p14="http://schemas.microsoft.com/office/powerpoint/2010/main" val="257265477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AU" dirty="0" smtClean="0"/>
              <a:t>Boiling point of hydrides of groups 					14-17</a:t>
            </a:r>
            <a:endParaRPr lang="en-AU" dirty="0"/>
          </a:p>
        </p:txBody>
      </p:sp>
      <p:pic>
        <p:nvPicPr>
          <p:cNvPr id="4" name="Content Placeholder 3" descr="http://chemwiki.ucdavis.edu/@api/deki/files/19603/cc544bd9881e8821e38e4a2e0df1f735.jpg?revision=1"/>
          <p:cNvPicPr>
            <a:picLocks noGrp="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899592" y="1935163"/>
            <a:ext cx="7128791" cy="4389437"/>
          </a:xfrm>
          <a:prstGeom prst="rect">
            <a:avLst/>
          </a:prstGeom>
          <a:noFill/>
          <a:ln>
            <a:noFill/>
          </a:ln>
        </p:spPr>
      </p:pic>
    </p:spTree>
    <p:extLst>
      <p:ext uri="{BB962C8B-B14F-4D97-AF65-F5344CB8AC3E}">
        <p14:creationId xmlns:p14="http://schemas.microsoft.com/office/powerpoint/2010/main" val="116801730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dirty="0"/>
          </a:p>
        </p:txBody>
      </p:sp>
      <p:sp>
        <p:nvSpPr>
          <p:cNvPr id="3" name="Content Placeholder 2"/>
          <p:cNvSpPr>
            <a:spLocks noGrp="1"/>
          </p:cNvSpPr>
          <p:nvPr>
            <p:ph idx="1"/>
          </p:nvPr>
        </p:nvSpPr>
        <p:spPr/>
        <p:txBody>
          <a:bodyPr>
            <a:normAutofit fontScale="92500"/>
          </a:bodyPr>
          <a:lstStyle/>
          <a:p>
            <a:r>
              <a:rPr lang="en-AU" dirty="0" smtClean="0"/>
              <a:t>Boiling and melting points give an estimation of the strength of intermolecular  forces between molecules. </a:t>
            </a:r>
          </a:p>
          <a:p>
            <a:endParaRPr lang="en-AU" dirty="0"/>
          </a:p>
          <a:p>
            <a:r>
              <a:rPr lang="en-AU" dirty="0" smtClean="0"/>
              <a:t>When nitrogen, oxygen or fluorine is attached to a hydrogen atom, the resulting molecule has an unusually high boiling point. A special dipole-dipole force occurs called a </a:t>
            </a:r>
            <a:r>
              <a:rPr lang="en-AU" dirty="0" smtClean="0">
                <a:solidFill>
                  <a:srgbClr val="7030A0"/>
                </a:solidFill>
              </a:rPr>
              <a:t>hydrogen bond </a:t>
            </a:r>
            <a:r>
              <a:rPr lang="en-AU" dirty="0" smtClean="0"/>
              <a:t>formed when these very electronegative elements bond to hydrogen. This is the strongest of the weak intermolecular forces about one-tenth the strength of a covalent bond. In diagrams, it is shown as a dotted line between the molecules.</a:t>
            </a:r>
            <a:endParaRPr lang="en-AU" dirty="0"/>
          </a:p>
        </p:txBody>
      </p:sp>
    </p:spTree>
    <p:extLst>
      <p:ext uri="{BB962C8B-B14F-4D97-AF65-F5344CB8AC3E}">
        <p14:creationId xmlns:p14="http://schemas.microsoft.com/office/powerpoint/2010/main" val="207766619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a:bodyPr>
          <a:lstStyle/>
          <a:p>
            <a:r>
              <a:rPr lang="en-AU" dirty="0" smtClean="0"/>
              <a:t>Hydrogen bonds are due to the hydrogen nucleus being extremely small. When hydrogen is bonded to the most electronegative elements ( fluorine, oxygen and nitrogen), the charge over the polar covalent bond is at a maximum. </a:t>
            </a:r>
          </a:p>
          <a:p>
            <a:r>
              <a:rPr lang="en-AU" dirty="0" smtClean="0">
                <a:solidFill>
                  <a:srgbClr val="0070C0"/>
                </a:solidFill>
              </a:rPr>
              <a:t>Water displays hydrogen bonding. Oxygen’s strong electronegativity means electrons in the O-H covalent bond are more attracted to oxygen. Oxygen becomes slightly negatively charged and hydrogen becomes slightly positively charged. Hydrogen atom is so small means that two molecules can get very close to each other.</a:t>
            </a:r>
            <a:endParaRPr lang="en-AU" dirty="0">
              <a:solidFill>
                <a:srgbClr val="0070C0"/>
              </a:solidFill>
            </a:endParaRPr>
          </a:p>
        </p:txBody>
      </p:sp>
    </p:spTree>
    <p:extLst>
      <p:ext uri="{BB962C8B-B14F-4D97-AF65-F5344CB8AC3E}">
        <p14:creationId xmlns:p14="http://schemas.microsoft.com/office/powerpoint/2010/main" val="241199333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In ammonia, nitrogen attracts the electrons of the covalent bonds, leaving hydrogen atoms more positive. These can attract adjacent nitrogens. </a:t>
            </a:r>
            <a:endParaRPr lang="en-AU" dirty="0"/>
          </a:p>
        </p:txBody>
      </p:sp>
    </p:spTree>
    <p:extLst>
      <p:ext uri="{BB962C8B-B14F-4D97-AF65-F5344CB8AC3E}">
        <p14:creationId xmlns:p14="http://schemas.microsoft.com/office/powerpoint/2010/main" val="305205848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AU" dirty="0" smtClean="0"/>
              <a:t>Dispersion forces</a:t>
            </a:r>
            <a:endParaRPr lang="en-AU" dirty="0"/>
          </a:p>
        </p:txBody>
      </p:sp>
      <p:sp>
        <p:nvSpPr>
          <p:cNvPr id="3" name="Content Placeholder 2"/>
          <p:cNvSpPr>
            <a:spLocks noGrp="1"/>
          </p:cNvSpPr>
          <p:nvPr>
            <p:ph idx="1"/>
          </p:nvPr>
        </p:nvSpPr>
        <p:spPr/>
        <p:txBody>
          <a:bodyPr>
            <a:normAutofit fontScale="92500" lnSpcReduction="10000"/>
          </a:bodyPr>
          <a:lstStyle/>
          <a:p>
            <a:r>
              <a:rPr lang="en-AU" dirty="0">
                <a:hlinkClick r:id="rId2"/>
              </a:rPr>
              <a:t>https://</a:t>
            </a:r>
            <a:r>
              <a:rPr lang="en-AU" dirty="0" smtClean="0">
                <a:hlinkClick r:id="rId2"/>
              </a:rPr>
              <a:t>www.youtube.com/watch?v=ikKiQIYnqXA</a:t>
            </a:r>
            <a:endParaRPr lang="en-AU" dirty="0" smtClean="0"/>
          </a:p>
          <a:p>
            <a:r>
              <a:rPr lang="en-AU" dirty="0" smtClean="0"/>
              <a:t>Polar molecules can form dipole-dipole or hydrogen bonds between the molecules. Non-polar molecules cannot there must be some other force enables non-polar molecules like dry ice, liquid nitrogen, oils or fats to form solids and liquids.  This force is called as dispersion force.</a:t>
            </a:r>
          </a:p>
          <a:p>
            <a:r>
              <a:rPr lang="en-AU" dirty="0" smtClean="0"/>
              <a:t>Example: Hydrogen molecule  is the simplest molecule. The force is extremely weak, because hydrogen has an extremely low melting point. </a:t>
            </a:r>
          </a:p>
          <a:p>
            <a:r>
              <a:rPr lang="en-AU" dirty="0" smtClean="0"/>
              <a:t>The hydrogen molecules have a cloud of electron density surrounding them. When the electrons are on one side of the molecule  there is, a temporary dipole. </a:t>
            </a:r>
            <a:endParaRPr lang="en-AU" dirty="0"/>
          </a:p>
        </p:txBody>
      </p:sp>
    </p:spTree>
    <p:extLst>
      <p:ext uri="{BB962C8B-B14F-4D97-AF65-F5344CB8AC3E}">
        <p14:creationId xmlns:p14="http://schemas.microsoft.com/office/powerpoint/2010/main" val="27395596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One end of the molecule will be very slightly more positive, and the other end will be very slightly more negative. The temporary positive end attracts a neighbouring molecules electrons, inducing them to come towards  the positive area. This forms the weak electrostatic attractions that are dispersion forces. The fluctuating changes in charges result in a very weak force between molecules . </a:t>
            </a:r>
            <a:endParaRPr lang="en-AU" dirty="0"/>
          </a:p>
        </p:txBody>
      </p:sp>
    </p:spTree>
    <p:extLst>
      <p:ext uri="{BB962C8B-B14F-4D97-AF65-F5344CB8AC3E}">
        <p14:creationId xmlns:p14="http://schemas.microsoft.com/office/powerpoint/2010/main" val="95237046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normAutofit fontScale="92500"/>
          </a:bodyPr>
          <a:lstStyle/>
          <a:p>
            <a:r>
              <a:rPr lang="en-AU" dirty="0" smtClean="0">
                <a:solidFill>
                  <a:srgbClr val="0070C0"/>
                </a:solidFill>
              </a:rPr>
              <a:t>Dispersion forces  must exist in every molecule, as every molecule has the rapidly fluctuating electrons orbiting the molecule. </a:t>
            </a:r>
          </a:p>
          <a:p>
            <a:r>
              <a:rPr lang="en-AU" dirty="0"/>
              <a:t>Dispersion </a:t>
            </a:r>
            <a:r>
              <a:rPr lang="en-AU" dirty="0" smtClean="0"/>
              <a:t>forces are much weaker than other intermolecular forces. When dipole-dipole or hydrogen bonding is present, the effect of dispersion forces is discounted. </a:t>
            </a:r>
          </a:p>
          <a:p>
            <a:r>
              <a:rPr lang="en-AU" i="1" dirty="0" smtClean="0">
                <a:solidFill>
                  <a:srgbClr val="C00000"/>
                </a:solidFill>
              </a:rPr>
              <a:t>Dispersion forces are also present in the noble gases. Electrons in two adjacent atoms occupy positions so that atoms form temporary dipoles. With more electrons, there are more chances for dispersion forces to occur. </a:t>
            </a:r>
          </a:p>
          <a:p>
            <a:endParaRPr lang="en-AU" dirty="0" smtClean="0"/>
          </a:p>
          <a:p>
            <a:endParaRPr lang="en-AU" dirty="0"/>
          </a:p>
        </p:txBody>
      </p:sp>
    </p:spTree>
    <p:extLst>
      <p:ext uri="{BB962C8B-B14F-4D97-AF65-F5344CB8AC3E}">
        <p14:creationId xmlns:p14="http://schemas.microsoft.com/office/powerpoint/2010/main" val="77706333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AU" i="1" dirty="0" smtClean="0"/>
                  <a:t>As molecules are electrically neutral, so if there are more electrons, there will be more protons. So, increased molecular weight means increased chance of dispersion forces and a higher melting point.  The electrons in larger atoms are further from the nucleus and more readily form temporary dipoles. This is why the larger noble gas argon has a boiling point of </a:t>
                </a:r>
                <a14:m>
                  <m:oMath xmlns:m="http://schemas.openxmlformats.org/officeDocument/2006/math">
                    <m:r>
                      <a:rPr lang="en-AU" b="0" i="1" smtClean="0">
                        <a:latin typeface="Cambria Math"/>
                      </a:rPr>
                      <m:t>−</m:t>
                    </m:r>
                    <m:sSup>
                      <m:sSupPr>
                        <m:ctrlPr>
                          <a:rPr lang="en-AU" b="0" i="1" smtClean="0">
                            <a:latin typeface="Cambria Math" panose="02040503050406030204" pitchFamily="18" charset="0"/>
                          </a:rPr>
                        </m:ctrlPr>
                      </m:sSupPr>
                      <m:e>
                        <m:r>
                          <a:rPr lang="en-AU" b="0" i="1" smtClean="0">
                            <a:latin typeface="Cambria Math"/>
                          </a:rPr>
                          <m:t>186</m:t>
                        </m:r>
                      </m:e>
                      <m:sup>
                        <m:r>
                          <a:rPr lang="en-AU" b="0" i="1" smtClean="0">
                            <a:latin typeface="Cambria Math"/>
                          </a:rPr>
                          <m:t>0</m:t>
                        </m:r>
                      </m:sup>
                    </m:sSup>
                    <m:r>
                      <a:rPr lang="en-AU" b="0" i="1" smtClean="0">
                        <a:latin typeface="Cambria Math"/>
                      </a:rPr>
                      <m:t>𝐶</m:t>
                    </m:r>
                  </m:oMath>
                </a14:m>
                <a:r>
                  <a:rPr lang="en-AU" i="1" dirty="0" smtClean="0"/>
                  <a:t> </a:t>
                </a:r>
                <a:r>
                  <a:rPr lang="en-AU" i="1" dirty="0"/>
                  <a:t>much higher than that of helium </a:t>
                </a:r>
                <a14:m>
                  <m:oMath xmlns:m="http://schemas.openxmlformats.org/officeDocument/2006/math">
                    <m:r>
                      <a:rPr lang="en-AU" b="0" i="1" smtClean="0">
                        <a:latin typeface="Cambria Math"/>
                      </a:rPr>
                      <m:t>−</m:t>
                    </m:r>
                    <m:sSup>
                      <m:sSupPr>
                        <m:ctrlPr>
                          <a:rPr lang="en-AU" b="0" i="1" smtClean="0">
                            <a:latin typeface="Cambria Math" panose="02040503050406030204" pitchFamily="18" charset="0"/>
                          </a:rPr>
                        </m:ctrlPr>
                      </m:sSupPr>
                      <m:e>
                        <m:r>
                          <a:rPr lang="en-AU" b="0" i="1" smtClean="0">
                            <a:latin typeface="Cambria Math"/>
                          </a:rPr>
                          <m:t>272</m:t>
                        </m:r>
                      </m:e>
                      <m:sup>
                        <m:r>
                          <a:rPr lang="en-AU" b="0" i="1" smtClean="0">
                            <a:latin typeface="Cambria Math"/>
                          </a:rPr>
                          <m:t>0</m:t>
                        </m:r>
                      </m:sup>
                    </m:sSup>
                  </m:oMath>
                </a14:m>
                <a:r>
                  <a:rPr lang="en-AU" i="1" dirty="0" smtClean="0"/>
                  <a:t>C</a:t>
                </a:r>
                <a:r>
                  <a:rPr lang="en-AU" i="1" dirty="0"/>
                  <a:t>. </a:t>
                </a:r>
                <a:endParaRPr lang="en-AU" i="1" dirty="0" smtClean="0"/>
              </a:p>
              <a:p>
                <a:endParaRPr lang="en-AU" dirty="0"/>
              </a:p>
              <a:p>
                <a:endParaRPr lang="en-AU" i="1" dirty="0" smtClean="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89" t="-1111" r="-444"/>
                </a:stretch>
              </a:blipFill>
            </p:spPr>
            <p:txBody>
              <a:bodyPr/>
              <a:lstStyle/>
              <a:p>
                <a:r>
                  <a:rPr lang="en-AU">
                    <a:noFill/>
                  </a:rPr>
                  <a:t> </a:t>
                </a:r>
              </a:p>
            </p:txBody>
          </p:sp>
        </mc:Fallback>
      </mc:AlternateContent>
      <p:pic>
        <p:nvPicPr>
          <p:cNvPr id="4" name="Picture 3" descr="http://wps.prenhall.com/wps/media/objects/3311/3391416/imag1102/AAAUAZA0.JPG"/>
          <p:cNvPicPr/>
          <p:nvPr/>
        </p:nvPicPr>
        <p:blipFill>
          <a:blip r:embed="rId3">
            <a:extLst>
              <a:ext uri="{28A0092B-C50C-407E-A947-70E740481C1C}">
                <a14:useLocalDpi xmlns:a14="http://schemas.microsoft.com/office/drawing/2010/main" val="0"/>
              </a:ext>
            </a:extLst>
          </a:blip>
          <a:srcRect/>
          <a:stretch>
            <a:fillRect/>
          </a:stretch>
        </p:blipFill>
        <p:spPr bwMode="auto">
          <a:xfrm>
            <a:off x="5004048" y="5229200"/>
            <a:ext cx="3384376" cy="1288157"/>
          </a:xfrm>
          <a:prstGeom prst="rect">
            <a:avLst/>
          </a:prstGeom>
          <a:noFill/>
          <a:ln>
            <a:noFill/>
          </a:ln>
        </p:spPr>
      </p:pic>
    </p:spTree>
    <p:extLst>
      <p:ext uri="{BB962C8B-B14F-4D97-AF65-F5344CB8AC3E}">
        <p14:creationId xmlns:p14="http://schemas.microsoft.com/office/powerpoint/2010/main" val="387888782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AU"/>
          </a:p>
        </p:txBody>
      </p:sp>
      <p:sp>
        <p:nvSpPr>
          <p:cNvPr id="3" name="Content Placeholder 2"/>
          <p:cNvSpPr>
            <a:spLocks noGrp="1"/>
          </p:cNvSpPr>
          <p:nvPr>
            <p:ph idx="1"/>
          </p:nvPr>
        </p:nvSpPr>
        <p:spPr/>
        <p:txBody>
          <a:bodyPr/>
          <a:lstStyle/>
          <a:p>
            <a:r>
              <a:rPr lang="en-AU" dirty="0" smtClean="0"/>
              <a:t>Dispersion forces are due to instantaneous temporary dipoles that occur with the movement of electrons. The more electrons present ( the larger the molecular weight), the bigger the dispersion force will be between the molecules. </a:t>
            </a:r>
            <a:endParaRPr lang="en-AU" dirty="0"/>
          </a:p>
        </p:txBody>
      </p:sp>
    </p:spTree>
    <p:extLst>
      <p:ext uri="{BB962C8B-B14F-4D97-AF65-F5344CB8AC3E}">
        <p14:creationId xmlns:p14="http://schemas.microsoft.com/office/powerpoint/2010/main" val="3503934963"/>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1152</TotalTime>
  <Words>894</Words>
  <Application>Microsoft Office PowerPoint</Application>
  <PresentationFormat>On-screen Show (4:3)</PresentationFormat>
  <Paragraphs>40</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Calibri</vt:lpstr>
      <vt:lpstr>Cambria Math</vt:lpstr>
      <vt:lpstr>Constantia</vt:lpstr>
      <vt:lpstr>Wingdings 2</vt:lpstr>
      <vt:lpstr>Flow</vt:lpstr>
      <vt:lpstr>Chapter: 6.4</vt:lpstr>
      <vt:lpstr>PowerPoint Presentation</vt:lpstr>
      <vt:lpstr>PowerPoint Presentation</vt:lpstr>
      <vt:lpstr>Dipole-dipole forces</vt:lpstr>
      <vt:lpstr>PowerPoint Presentation</vt:lpstr>
      <vt:lpstr>Hydrogen bonds</vt:lpstr>
      <vt:lpstr>Boiling point of hydrides of groups      14-17</vt:lpstr>
      <vt:lpstr>PowerPoint Presentation</vt:lpstr>
      <vt:lpstr>PowerPoint Presentation</vt:lpstr>
      <vt:lpstr>PowerPoint Presentation</vt:lpstr>
      <vt:lpstr>Dispersion forces</vt:lpstr>
      <vt:lpstr>PowerPoint Presentation</vt:lpstr>
      <vt:lpstr>PowerPoint Presentation</vt:lpstr>
      <vt:lpstr>PowerPoint Presentation</vt:lpstr>
      <vt:lpstr>PowerPoint Presentation</vt:lpstr>
    </vt:vector>
  </TitlesOfParts>
  <Company>The Department of Education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6.4</dc:title>
  <dc:creator>Jijy</dc:creator>
  <cp:lastModifiedBy>D'CRUZ Jijy [Safety Bay Senior High School]</cp:lastModifiedBy>
  <cp:revision>50</cp:revision>
  <dcterms:created xsi:type="dcterms:W3CDTF">2015-07-17T12:30:40Z</dcterms:created>
  <dcterms:modified xsi:type="dcterms:W3CDTF">2019-06-19T13:46:19Z</dcterms:modified>
</cp:coreProperties>
</file>
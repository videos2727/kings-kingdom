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57" r:id="rId3"/>
    <p:sldId id="258" r:id="rId4"/>
    <p:sldId id="266" r:id="rId5"/>
    <p:sldId id="259" r:id="rId6"/>
    <p:sldId id="260" r:id="rId7"/>
    <p:sldId id="261" r:id="rId8"/>
    <p:sldId id="265" r:id="rId9"/>
    <p:sldId id="262" r:id="rId10"/>
    <p:sldId id="263" r:id="rId11"/>
    <p:sldId id="264"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2" autoAdjust="0"/>
    <p:restoredTop sz="94624" autoAdjust="0"/>
  </p:normalViewPr>
  <p:slideViewPr>
    <p:cSldViewPr>
      <p:cViewPr varScale="1">
        <p:scale>
          <a:sx n="83" d="100"/>
          <a:sy n="83" d="100"/>
        </p:scale>
        <p:origin x="1440" y="6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C048E839-FF70-4EF8-B992-45ED3B544336}" type="datetimeFigureOut">
              <a:rPr lang="en-AU" smtClean="0"/>
              <a:t>24/06/2019</a:t>
            </a:fld>
            <a:endParaRPr lang="en-AU"/>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AU"/>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D4BA124-7EA3-400A-A9CE-1158CE849AD2}"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48E839-FF70-4EF8-B992-45ED3B544336}"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4BA124-7EA3-400A-A9CE-1158CE849AD2}" type="slidenum">
              <a:rPr lang="en-AU" smtClean="0"/>
              <a:t>‹#›</a:t>
            </a:fld>
            <a:endParaRPr lang="en-AU"/>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048E839-FF70-4EF8-B992-45ED3B544336}"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4BA124-7EA3-400A-A9CE-1158CE849AD2}" type="slidenum">
              <a:rPr lang="en-AU" smtClean="0"/>
              <a:t>‹#›</a:t>
            </a:fld>
            <a:endParaRPr lang="en-AU"/>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048E839-FF70-4EF8-B992-45ED3B544336}"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D4BA124-7EA3-400A-A9CE-1158CE849AD2}" type="slidenum">
              <a:rPr lang="en-AU" smtClean="0"/>
              <a:t>‹#›</a:t>
            </a:fld>
            <a:endParaRPr lang="en-AU"/>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048E839-FF70-4EF8-B992-45ED3B544336}" type="datetimeFigureOut">
              <a:rPr lang="en-AU" smtClean="0"/>
              <a:t>24/06/2019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D4BA124-7EA3-400A-A9CE-1158CE849AD2}"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048E839-FF70-4EF8-B992-45ED3B544336}" type="datetimeFigureOut">
              <a:rPr lang="en-AU" smtClean="0"/>
              <a:t>24/06/2019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D4BA124-7EA3-400A-A9CE-1158CE849AD2}" type="slidenum">
              <a:rPr lang="en-AU" smtClean="0"/>
              <a:t>‹#›</a:t>
            </a:fld>
            <a:endParaRPr lang="en-AU"/>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48E839-FF70-4EF8-B992-45ED3B544336}" type="datetimeFigureOut">
              <a:rPr lang="en-AU" smtClean="0"/>
              <a:t>24/06/2019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D4BA124-7EA3-400A-A9CE-1158CE849AD2}"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C048E839-FF70-4EF8-B992-45ED3B544336}" type="datetimeFigureOut">
              <a:rPr lang="en-AU" smtClean="0"/>
              <a:t>24/06/2019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D4BA124-7EA3-400A-A9CE-1158CE849AD2}"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048E839-FF70-4EF8-B992-45ED3B544336}" type="datetimeFigureOut">
              <a:rPr lang="en-AU" smtClean="0"/>
              <a:t>24/06/2019</a:t>
            </a:fld>
            <a:endParaRPr lang="en-AU"/>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AU"/>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D4BA124-7EA3-400A-A9CE-1158CE849AD2}" type="slidenum">
              <a:rPr lang="en-AU" smtClean="0"/>
              <a:t>‹#›</a:t>
            </a:fld>
            <a:endParaRPr lang="en-AU"/>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48E839-FF70-4EF8-B992-45ED3B544336}"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4BA124-7EA3-400A-A9CE-1158CE849AD2}"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48E839-FF70-4EF8-B992-45ED3B544336}" type="datetimeFigureOut">
              <a:rPr lang="en-AU" smtClean="0"/>
              <a:t>24/06/2019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4BA124-7EA3-400A-A9CE-1158CE849AD2}"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048E839-FF70-4EF8-B992-45ED3B544336}" type="datetimeFigureOut">
              <a:rPr lang="en-AU" smtClean="0"/>
              <a:t>24/06/2019</a:t>
            </a:fld>
            <a:endParaRPr lang="en-AU"/>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AU"/>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D4BA124-7EA3-400A-A9CE-1158CE849AD2}"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Week 9 Term  2 </a:t>
            </a:r>
            <a:endParaRPr lang="en-AU" dirty="0"/>
          </a:p>
        </p:txBody>
      </p:sp>
      <p:sp>
        <p:nvSpPr>
          <p:cNvPr id="3" name="Subtitle 2"/>
          <p:cNvSpPr>
            <a:spLocks noGrp="1"/>
          </p:cNvSpPr>
          <p:nvPr>
            <p:ph type="subTitle" idx="1"/>
          </p:nvPr>
        </p:nvSpPr>
        <p:spPr/>
        <p:txBody>
          <a:bodyPr/>
          <a:lstStyle/>
          <a:p>
            <a:r>
              <a:rPr lang="en-AU" dirty="0" smtClean="0"/>
              <a:t>Uneven </a:t>
            </a:r>
            <a:r>
              <a:rPr lang="en-AU" smtClean="0"/>
              <a:t>electron sharing</a:t>
            </a:r>
            <a:endParaRPr lang="en-AU"/>
          </a:p>
        </p:txBody>
      </p:sp>
    </p:spTree>
    <p:extLst>
      <p:ext uri="{BB962C8B-B14F-4D97-AF65-F5344CB8AC3E}">
        <p14:creationId xmlns:p14="http://schemas.microsoft.com/office/powerpoint/2010/main" val="7807141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dirty="0" smtClean="0"/>
                  <a:t>In </a:t>
                </a:r>
                <a14:m>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a:rPr>
                          <m:t>𝑁</m:t>
                        </m:r>
                      </m:e>
                      <m:sub>
                        <m:r>
                          <a:rPr lang="en-AU" b="0" i="1" smtClean="0">
                            <a:latin typeface="Cambria Math"/>
                          </a:rPr>
                          <m:t>2</m:t>
                        </m:r>
                      </m:sub>
                    </m:sSub>
                  </m:oMath>
                </a14:m>
                <a:r>
                  <a:rPr lang="en-AU" dirty="0" smtClean="0"/>
                  <a:t> or </a:t>
                </a:r>
                <a14:m>
                  <m:oMath xmlns:m="http://schemas.openxmlformats.org/officeDocument/2006/math">
                    <m:r>
                      <a:rPr lang="en-AU" b="0" i="1" smtClean="0">
                        <a:latin typeface="Cambria Math"/>
                      </a:rPr>
                      <m:t>𝐶</m:t>
                    </m:r>
                    <m:sSub>
                      <m:sSubPr>
                        <m:ctrlPr>
                          <a:rPr lang="en-AU" b="0" i="1" smtClean="0">
                            <a:latin typeface="Cambria Math" panose="02040503050406030204" pitchFamily="18" charset="0"/>
                          </a:rPr>
                        </m:ctrlPr>
                      </m:sSubPr>
                      <m:e>
                        <m:r>
                          <a:rPr lang="en-AU" b="0" i="1" smtClean="0">
                            <a:latin typeface="Cambria Math"/>
                          </a:rPr>
                          <m:t>𝑙</m:t>
                        </m:r>
                      </m:e>
                      <m:sub>
                        <m:r>
                          <a:rPr lang="en-AU" b="0" i="1" smtClean="0">
                            <a:latin typeface="Cambria Math"/>
                          </a:rPr>
                          <m:t>2</m:t>
                        </m:r>
                      </m:sub>
                    </m:sSub>
                    <m:r>
                      <m:rPr>
                        <m:sty m:val="p"/>
                      </m:rPr>
                      <a:rPr lang="en-AU" b="0" i="1" smtClean="0">
                        <a:latin typeface="Cambria Math"/>
                      </a:rPr>
                      <m:t>m</m:t>
                    </m:r>
                  </m:oMath>
                </a14:m>
                <a:r>
                  <a:rPr lang="en-AU" dirty="0" smtClean="0"/>
                  <a:t>olecules, the electrons in the covalent bonds are evenly shared between the two atoms. But with </a:t>
                </a:r>
                <a:r>
                  <a:rPr lang="en-AU" dirty="0" err="1" smtClean="0"/>
                  <a:t>heteroatomic</a:t>
                </a:r>
                <a:r>
                  <a:rPr lang="en-AU" dirty="0" smtClean="0"/>
                  <a:t> molecules such as </a:t>
                </a:r>
                <a:r>
                  <a:rPr lang="en-AU" dirty="0" err="1" smtClean="0"/>
                  <a:t>HCl</a:t>
                </a:r>
                <a:r>
                  <a:rPr lang="en-AU" dirty="0" smtClean="0"/>
                  <a:t>, </a:t>
                </a:r>
                <a14:m>
                  <m:oMath xmlns:m="http://schemas.openxmlformats.org/officeDocument/2006/math">
                    <m:r>
                      <a:rPr lang="en-AU" i="1" dirty="0" smtClean="0">
                        <a:latin typeface="Cambria Math"/>
                      </a:rPr>
                      <m:t>𝑁</m:t>
                    </m:r>
                    <m:sSub>
                      <m:sSubPr>
                        <m:ctrlPr>
                          <a:rPr lang="en-AU" b="0" i="1" smtClean="0">
                            <a:latin typeface="Cambria Math" panose="02040503050406030204" pitchFamily="18" charset="0"/>
                          </a:rPr>
                        </m:ctrlPr>
                      </m:sSubPr>
                      <m:e>
                        <m:r>
                          <a:rPr lang="en-AU" b="0" i="1" smtClean="0">
                            <a:latin typeface="Cambria Math"/>
                          </a:rPr>
                          <m:t>𝐻</m:t>
                        </m:r>
                      </m:e>
                      <m:sub>
                        <m:r>
                          <a:rPr lang="en-AU" b="0" i="1" smtClean="0">
                            <a:latin typeface="Cambria Math"/>
                          </a:rPr>
                          <m:t>3</m:t>
                        </m:r>
                      </m:sub>
                    </m:sSub>
                  </m:oMath>
                </a14:m>
                <a:r>
                  <a:rPr lang="en-AU" dirty="0" smtClean="0"/>
                  <a:t> and </a:t>
                </a:r>
                <a14:m>
                  <m:oMath xmlns:m="http://schemas.openxmlformats.org/officeDocument/2006/math">
                    <m:sSub>
                      <m:sSubPr>
                        <m:ctrlPr>
                          <a:rPr lang="en-AU" i="1" dirty="0">
                            <a:latin typeface="Cambria Math" panose="02040503050406030204" pitchFamily="18" charset="0"/>
                          </a:rPr>
                        </m:ctrlPr>
                      </m:sSubPr>
                      <m:e>
                        <m:r>
                          <a:rPr lang="en-AU" i="1" dirty="0">
                            <a:latin typeface="Cambria Math"/>
                          </a:rPr>
                          <m:t>𝐻</m:t>
                        </m:r>
                      </m:e>
                      <m:sub>
                        <m:r>
                          <a:rPr lang="en-AU" dirty="0">
                            <a:latin typeface="Cambria Math"/>
                          </a:rPr>
                          <m:t>2</m:t>
                        </m:r>
                      </m:sub>
                    </m:sSub>
                    <m:r>
                      <m:rPr>
                        <m:sty m:val="p"/>
                      </m:rPr>
                      <a:rPr lang="en-AU" dirty="0">
                        <a:latin typeface="Cambria Math"/>
                      </a:rPr>
                      <m:t>O</m:t>
                    </m:r>
                    <m:r>
                      <a:rPr lang="en-AU" dirty="0">
                        <a:latin typeface="Cambria Math"/>
                      </a:rPr>
                      <m:t>,</m:t>
                    </m:r>
                  </m:oMath>
                </a14:m>
                <a:r>
                  <a:rPr lang="en-AU" dirty="0" smtClean="0"/>
                  <a:t> the </a:t>
                </a:r>
                <a14:m>
                  <m:oMath xmlns:m="http://schemas.openxmlformats.org/officeDocument/2006/math">
                    <m:r>
                      <m:rPr>
                        <m:sty m:val="p"/>
                      </m:rPr>
                      <a:rPr lang="en-AU" b="0" i="0" dirty="0" smtClean="0">
                        <a:latin typeface="Cambria Math"/>
                      </a:rPr>
                      <m:t>electrons</m:t>
                    </m:r>
                    <m:r>
                      <a:rPr lang="en-AU" b="0" i="0" dirty="0" smtClean="0">
                        <a:latin typeface="Cambria Math"/>
                      </a:rPr>
                      <m:t> </m:t>
                    </m:r>
                    <m:r>
                      <m:rPr>
                        <m:sty m:val="p"/>
                      </m:rPr>
                      <a:rPr lang="en-AU" b="0" i="0" dirty="0" smtClean="0">
                        <a:latin typeface="Cambria Math"/>
                      </a:rPr>
                      <m:t>are</m:t>
                    </m:r>
                    <m:r>
                      <a:rPr lang="en-AU" b="0" i="0" dirty="0" smtClean="0">
                        <a:latin typeface="Cambria Math"/>
                      </a:rPr>
                      <m:t> </m:t>
                    </m:r>
                    <m:r>
                      <m:rPr>
                        <m:sty m:val="p"/>
                      </m:rPr>
                      <a:rPr lang="en-AU" b="0" i="0" dirty="0" smtClean="0">
                        <a:latin typeface="Cambria Math"/>
                      </a:rPr>
                      <m:t>not</m:t>
                    </m:r>
                  </m:oMath>
                </a14:m>
                <a:r>
                  <a:rPr lang="en-AU" dirty="0" smtClean="0"/>
                  <a:t> </a:t>
                </a:r>
              </a:p>
              <a:p>
                <a:r>
                  <a:rPr lang="en-AU" dirty="0" smtClean="0"/>
                  <a:t>Evenly shared. This is because the three elements </a:t>
                </a:r>
                <a:r>
                  <a:rPr lang="en-AU" dirty="0" err="1" smtClean="0"/>
                  <a:t>Cl</a:t>
                </a:r>
                <a:r>
                  <a:rPr lang="en-AU" dirty="0" smtClean="0"/>
                  <a:t>, N and O tend to attract the electrons more, due to their electronegativity.</a:t>
                </a:r>
              </a:p>
              <a:p>
                <a:endParaRPr lang="en-AU"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943" r="-2667"/>
                </a:stretch>
              </a:blipFill>
            </p:spPr>
            <p:txBody>
              <a:bodyPr/>
              <a:lstStyle/>
              <a:p>
                <a:r>
                  <a:rPr lang="en-AU">
                    <a:noFill/>
                  </a:rPr>
                  <a:t> </a:t>
                </a:r>
              </a:p>
            </p:txBody>
          </p:sp>
        </mc:Fallback>
      </mc:AlternateContent>
      <p:sp>
        <p:nvSpPr>
          <p:cNvPr id="2" name="Title 1"/>
          <p:cNvSpPr>
            <a:spLocks noGrp="1"/>
          </p:cNvSpPr>
          <p:nvPr>
            <p:ph type="title"/>
          </p:nvPr>
        </p:nvSpPr>
        <p:spPr/>
        <p:txBody>
          <a:bodyPr/>
          <a:lstStyle/>
          <a:p>
            <a:endParaRPr lang="en-AU" dirty="0"/>
          </a:p>
        </p:txBody>
      </p:sp>
    </p:spTree>
    <p:extLst>
      <p:ext uri="{BB962C8B-B14F-4D97-AF65-F5344CB8AC3E}">
        <p14:creationId xmlns:p14="http://schemas.microsoft.com/office/powerpoint/2010/main" val="194275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sz="1800" dirty="0" smtClean="0"/>
              <a:t>Bonding electrons in </a:t>
            </a:r>
            <a:r>
              <a:rPr lang="en-AU" sz="1800" dirty="0" err="1" smtClean="0"/>
              <a:t>HCl</a:t>
            </a:r>
            <a:r>
              <a:rPr lang="en-AU" sz="1800" dirty="0" smtClean="0"/>
              <a:t> molecules are strongly attracted to the chlorine nucleus because chlorine is more electronegative than hydrogen. This means the electrons will spend more time at the chlorine end of the molecule and this end of the molecule will be slightly more negative. </a:t>
            </a:r>
            <a:endParaRPr lang="en-AU" sz="1800" dirty="0" smtClean="0"/>
          </a:p>
          <a:p>
            <a:r>
              <a:rPr lang="en-AU" sz="1800" dirty="0"/>
              <a:t>Polar molecules are those with slight positive and slight negative charged ends to the molecule. </a:t>
            </a:r>
            <a:r>
              <a:rPr lang="en-AU" sz="1800" dirty="0" smtClean="0"/>
              <a:t>Molecules like this are said to have a </a:t>
            </a:r>
            <a:r>
              <a:rPr lang="en-AU" sz="1800" dirty="0" smtClean="0">
                <a:solidFill>
                  <a:srgbClr val="FF0000"/>
                </a:solidFill>
              </a:rPr>
              <a:t>net dipole</a:t>
            </a:r>
            <a:r>
              <a:rPr lang="en-AU" sz="1800" dirty="0" smtClean="0"/>
              <a:t>. This occurs in all molecules with a single bond dipole.</a:t>
            </a:r>
            <a:endParaRPr lang="en-AU" sz="1800" dirty="0"/>
          </a:p>
          <a:p>
            <a:endParaRPr lang="en-AU" sz="1800" dirty="0" smtClean="0"/>
          </a:p>
          <a:p>
            <a:endParaRPr lang="en-AU" dirty="0"/>
          </a:p>
          <a:p>
            <a:r>
              <a:rPr lang="en-AU" dirty="0" smtClean="0"/>
              <a:t>Polarity of </a:t>
            </a:r>
            <a:r>
              <a:rPr lang="en-AU" dirty="0" err="1" smtClean="0"/>
              <a:t>HCl</a:t>
            </a:r>
            <a:r>
              <a:rPr lang="en-AU" dirty="0" smtClean="0"/>
              <a:t> </a:t>
            </a:r>
          </a:p>
          <a:p>
            <a:r>
              <a:rPr lang="en-AU" dirty="0" smtClean="0"/>
              <a:t>molecule</a:t>
            </a:r>
            <a:endParaRPr lang="en-AU" dirty="0"/>
          </a:p>
        </p:txBody>
      </p:sp>
      <p:sp>
        <p:nvSpPr>
          <p:cNvPr id="3" name="Title 2"/>
          <p:cNvSpPr>
            <a:spLocks noGrp="1"/>
          </p:cNvSpPr>
          <p:nvPr>
            <p:ph type="title"/>
          </p:nvPr>
        </p:nvSpPr>
        <p:spPr/>
        <p:txBody>
          <a:bodyPr/>
          <a:lstStyle/>
          <a:p>
            <a:endParaRPr lang="en-AU"/>
          </a:p>
        </p:txBody>
      </p:sp>
      <p:pic>
        <p:nvPicPr>
          <p:cNvPr id="4" name="Picture 3" descr="Image result for polarity of the HCl  molecule"/>
          <p:cNvPicPr/>
          <p:nvPr/>
        </p:nvPicPr>
        <p:blipFill>
          <a:blip r:embed="rId2">
            <a:extLst>
              <a:ext uri="{28A0092B-C50C-407E-A947-70E740481C1C}">
                <a14:useLocalDpi xmlns:a14="http://schemas.microsoft.com/office/drawing/2010/main" val="0"/>
              </a:ext>
            </a:extLst>
          </a:blip>
          <a:srcRect/>
          <a:stretch>
            <a:fillRect/>
          </a:stretch>
        </p:blipFill>
        <p:spPr bwMode="auto">
          <a:xfrm>
            <a:off x="4352859" y="4551226"/>
            <a:ext cx="1656184" cy="1083429"/>
          </a:xfrm>
          <a:prstGeom prst="rect">
            <a:avLst/>
          </a:prstGeom>
          <a:noFill/>
          <a:ln>
            <a:noFill/>
          </a:ln>
        </p:spPr>
      </p:pic>
    </p:spTree>
    <p:extLst>
      <p:ext uri="{BB962C8B-B14F-4D97-AF65-F5344CB8AC3E}">
        <p14:creationId xmlns:p14="http://schemas.microsoft.com/office/powerpoint/2010/main" val="35525822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sz="1800" dirty="0" smtClean="0"/>
              <a:t>The polarity of a molecule is found by drawing its shape and identifying all of its bond dipoles. </a:t>
            </a:r>
          </a:p>
          <a:p>
            <a:endParaRPr lang="en-AU" sz="1800" dirty="0"/>
          </a:p>
          <a:p>
            <a:r>
              <a:rPr lang="en-AU" sz="1800" dirty="0" smtClean="0"/>
              <a:t>If the bond dipoles are of equal size and act in </a:t>
            </a:r>
            <a:r>
              <a:rPr lang="en-AU" sz="1800" dirty="0" smtClean="0">
                <a:solidFill>
                  <a:srgbClr val="0070C0"/>
                </a:solidFill>
              </a:rPr>
              <a:t>symmetrically </a:t>
            </a:r>
            <a:r>
              <a:rPr lang="en-AU" sz="1800" dirty="0" smtClean="0"/>
              <a:t>opposing directions, then they cancel each other’s effect and the molecule has a </a:t>
            </a:r>
            <a:r>
              <a:rPr lang="en-AU" sz="1800" dirty="0" smtClean="0">
                <a:solidFill>
                  <a:srgbClr val="0070C0"/>
                </a:solidFill>
              </a:rPr>
              <a:t>zero net dipole </a:t>
            </a:r>
            <a:r>
              <a:rPr lang="en-AU" sz="1800" dirty="0" smtClean="0"/>
              <a:t>and is </a:t>
            </a:r>
            <a:r>
              <a:rPr lang="en-AU" sz="1800" dirty="0" smtClean="0">
                <a:solidFill>
                  <a:srgbClr val="0070C0"/>
                </a:solidFill>
              </a:rPr>
              <a:t>non-polar</a:t>
            </a:r>
            <a:r>
              <a:rPr lang="en-AU" sz="1800" dirty="0" smtClean="0"/>
              <a:t>. </a:t>
            </a:r>
          </a:p>
          <a:p>
            <a:endParaRPr lang="en-AU" sz="1800" dirty="0"/>
          </a:p>
          <a:p>
            <a:r>
              <a:rPr lang="en-AU" sz="1800" dirty="0" smtClean="0">
                <a:solidFill>
                  <a:srgbClr val="FF0000"/>
                </a:solidFill>
              </a:rPr>
              <a:t>If the bond dipoles are </a:t>
            </a:r>
            <a:r>
              <a:rPr lang="en-AU" sz="1800" dirty="0" smtClean="0">
                <a:solidFill>
                  <a:srgbClr val="002060"/>
                </a:solidFill>
              </a:rPr>
              <a:t>non-symmetrically arranged </a:t>
            </a:r>
            <a:r>
              <a:rPr lang="en-AU" sz="1800" dirty="0" smtClean="0">
                <a:solidFill>
                  <a:srgbClr val="FF0000"/>
                </a:solidFill>
              </a:rPr>
              <a:t>then they add to produce a </a:t>
            </a:r>
            <a:r>
              <a:rPr lang="en-AU" sz="1800" dirty="0" smtClean="0">
                <a:solidFill>
                  <a:srgbClr val="002060"/>
                </a:solidFill>
              </a:rPr>
              <a:t>net dipole </a:t>
            </a:r>
            <a:r>
              <a:rPr lang="en-AU" sz="1800" dirty="0" smtClean="0">
                <a:solidFill>
                  <a:srgbClr val="FF0000"/>
                </a:solidFill>
              </a:rPr>
              <a:t>and the molecule is </a:t>
            </a:r>
            <a:r>
              <a:rPr lang="en-AU" sz="1800" dirty="0" smtClean="0">
                <a:solidFill>
                  <a:srgbClr val="002060"/>
                </a:solidFill>
              </a:rPr>
              <a:t>polar</a:t>
            </a:r>
            <a:r>
              <a:rPr lang="en-AU" sz="1800" dirty="0" smtClean="0">
                <a:solidFill>
                  <a:srgbClr val="FF0000"/>
                </a:solidFill>
              </a:rPr>
              <a:t>.</a:t>
            </a:r>
            <a:endParaRPr lang="en-AU" sz="1800" dirty="0">
              <a:solidFill>
                <a:srgbClr val="FF0000"/>
              </a:solidFill>
            </a:endParaRPr>
          </a:p>
        </p:txBody>
      </p:sp>
      <p:sp>
        <p:nvSpPr>
          <p:cNvPr id="3" name="Title 2"/>
          <p:cNvSpPr>
            <a:spLocks noGrp="1"/>
          </p:cNvSpPr>
          <p:nvPr>
            <p:ph type="title"/>
          </p:nvPr>
        </p:nvSpPr>
        <p:spPr/>
        <p:txBody>
          <a:bodyPr/>
          <a:lstStyle/>
          <a:p>
            <a:endParaRPr lang="en-AU"/>
          </a:p>
        </p:txBody>
      </p:sp>
    </p:spTree>
    <p:extLst>
      <p:ext uri="{BB962C8B-B14F-4D97-AF65-F5344CB8AC3E}">
        <p14:creationId xmlns:p14="http://schemas.microsoft.com/office/powerpoint/2010/main" val="1656254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The hydrogen-chlorine bond is a </a:t>
            </a:r>
            <a:r>
              <a:rPr lang="en-AU" b="1" dirty="0" smtClean="0">
                <a:solidFill>
                  <a:srgbClr val="FF0000"/>
                </a:solidFill>
              </a:rPr>
              <a:t>polar covalent bond.</a:t>
            </a:r>
            <a:r>
              <a:rPr lang="en-AU" dirty="0" smtClean="0"/>
              <a:t> The molecule is considered to be a </a:t>
            </a:r>
            <a:r>
              <a:rPr lang="en-AU" dirty="0" smtClean="0">
                <a:solidFill>
                  <a:srgbClr val="FF0000"/>
                </a:solidFill>
              </a:rPr>
              <a:t>dipole</a:t>
            </a:r>
            <a:r>
              <a:rPr lang="en-AU" dirty="0" smtClean="0"/>
              <a:t>: It has two poles of opposite charges at either end, rather like a magnet with a north and a south pole. Diatomic molecules with a net dipole are considered to be </a:t>
            </a:r>
            <a:r>
              <a:rPr lang="en-AU" dirty="0" smtClean="0">
                <a:solidFill>
                  <a:srgbClr val="FF0000"/>
                </a:solidFill>
              </a:rPr>
              <a:t>polar</a:t>
            </a:r>
            <a:r>
              <a:rPr lang="en-AU" dirty="0" smtClean="0"/>
              <a:t>. Non-polar molecules such as hydrogen have a uniform charge over the whole molecule. </a:t>
            </a:r>
            <a:endParaRPr lang="en-AU" dirty="0"/>
          </a:p>
        </p:txBody>
      </p:sp>
      <p:sp>
        <p:nvSpPr>
          <p:cNvPr id="3" name="Title 2"/>
          <p:cNvSpPr>
            <a:spLocks noGrp="1"/>
          </p:cNvSpPr>
          <p:nvPr>
            <p:ph type="title"/>
          </p:nvPr>
        </p:nvSpPr>
        <p:spPr/>
        <p:txBody>
          <a:bodyPr/>
          <a:lstStyle/>
          <a:p>
            <a:endParaRPr lang="en-AU"/>
          </a:p>
        </p:txBody>
      </p:sp>
    </p:spTree>
    <p:extLst>
      <p:ext uri="{BB962C8B-B14F-4D97-AF65-F5344CB8AC3E}">
        <p14:creationId xmlns:p14="http://schemas.microsoft.com/office/powerpoint/2010/main" val="37406760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dirty="0" smtClean="0"/>
              <a:t>Common polar bonds are those between </a:t>
            </a:r>
          </a:p>
          <a:p>
            <a:r>
              <a:rPr lang="en-AU" dirty="0" smtClean="0"/>
              <a:t>O-H, N-H, C-O and C-Cl. </a:t>
            </a:r>
          </a:p>
          <a:p>
            <a:endParaRPr lang="en-AU" dirty="0"/>
          </a:p>
          <a:p>
            <a:r>
              <a:rPr lang="en-AU" dirty="0" smtClean="0"/>
              <a:t>F &gt;O</a:t>
            </a:r>
            <a:r>
              <a:rPr lang="en-AU" dirty="0"/>
              <a:t> </a:t>
            </a:r>
            <a:r>
              <a:rPr lang="en-AU" dirty="0" smtClean="0"/>
              <a:t>&gt;N=</a:t>
            </a:r>
            <a:r>
              <a:rPr lang="en-AU" dirty="0" err="1" smtClean="0"/>
              <a:t>Cl</a:t>
            </a:r>
            <a:r>
              <a:rPr lang="en-AU" dirty="0" smtClean="0"/>
              <a:t> &gt;Br</a:t>
            </a:r>
            <a:r>
              <a:rPr lang="en-AU" dirty="0"/>
              <a:t> </a:t>
            </a:r>
            <a:r>
              <a:rPr lang="en-AU" dirty="0" smtClean="0"/>
              <a:t>&gt;C=S=I &gt;P= H</a:t>
            </a:r>
            <a:r>
              <a:rPr lang="en-AU" dirty="0"/>
              <a:t> </a:t>
            </a:r>
            <a:r>
              <a:rPr lang="en-AU" dirty="0" smtClean="0"/>
              <a:t>&gt;Si</a:t>
            </a:r>
          </a:p>
          <a:p>
            <a:endParaRPr lang="en-AU" dirty="0"/>
          </a:p>
          <a:p>
            <a:r>
              <a:rPr lang="en-AU" dirty="0" smtClean="0"/>
              <a:t>Uneven sharing of bonding electrons can occur when H or C forms covalent bonds with strong electronegative elements such as O, N, </a:t>
            </a:r>
            <a:r>
              <a:rPr lang="en-AU" dirty="0" err="1" smtClean="0"/>
              <a:t>Cl</a:t>
            </a:r>
            <a:r>
              <a:rPr lang="en-AU" dirty="0" smtClean="0"/>
              <a:t> and F. When this happens, the covalent bond is a polar covalent bond.</a:t>
            </a:r>
            <a:endParaRPr lang="en-AU" dirty="0"/>
          </a:p>
        </p:txBody>
      </p:sp>
      <p:sp>
        <p:nvSpPr>
          <p:cNvPr id="3" name="Title 2"/>
          <p:cNvSpPr>
            <a:spLocks noGrp="1"/>
          </p:cNvSpPr>
          <p:nvPr>
            <p:ph type="title"/>
          </p:nvPr>
        </p:nvSpPr>
        <p:spPr/>
        <p:txBody>
          <a:bodyPr/>
          <a:lstStyle/>
          <a:p>
            <a:endParaRPr lang="en-AU"/>
          </a:p>
        </p:txBody>
      </p:sp>
    </p:spTree>
    <p:extLst>
      <p:ext uri="{BB962C8B-B14F-4D97-AF65-F5344CB8AC3E}">
        <p14:creationId xmlns:p14="http://schemas.microsoft.com/office/powerpoint/2010/main" val="14693461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p:txBody>
              <a:bodyPr>
                <a:normAutofit fontScale="92500" lnSpcReduction="20000"/>
              </a:bodyPr>
              <a:lstStyle/>
              <a:p>
                <a:r>
                  <a:rPr lang="en-AU" dirty="0" smtClean="0"/>
                  <a:t>Molecules can be non-polar despite the </a:t>
                </a:r>
                <a:r>
                  <a:rPr lang="en-AU" sz="2400" dirty="0" smtClean="0"/>
                  <a:t>presence</a:t>
                </a:r>
                <a:r>
                  <a:rPr lang="en-AU" dirty="0" smtClean="0"/>
                  <a:t> of polar bonds. For the molecule to be polar, there must be a polar bond present and there must be asymmetry in the molecular shape. </a:t>
                </a:r>
              </a:p>
              <a:p>
                <a:endParaRPr lang="en-AU" dirty="0" smtClean="0"/>
              </a:p>
              <a:p>
                <a:r>
                  <a:rPr lang="en-AU" sz="3000" dirty="0" smtClean="0">
                    <a:solidFill>
                      <a:srgbClr val="002060"/>
                    </a:solidFill>
                  </a:rPr>
                  <a:t>CO</a:t>
                </a:r>
                <a14:m>
                  <m:oMath xmlns:m="http://schemas.openxmlformats.org/officeDocument/2006/math">
                    <m:r>
                      <a:rPr lang="en-AU" sz="1900" dirty="0">
                        <a:solidFill>
                          <a:srgbClr val="002060"/>
                        </a:solidFill>
                        <a:latin typeface="Cambria Math"/>
                      </a:rPr>
                      <m:t>2</m:t>
                    </m:r>
                  </m:oMath>
                </a14:m>
                <a:r>
                  <a:rPr lang="en-AU" sz="3000" dirty="0" smtClean="0">
                    <a:solidFill>
                      <a:srgbClr val="002060"/>
                    </a:solidFill>
                  </a:rPr>
                  <a:t> is a linear molecule with a central carbon atom and oxygen on each side. The molecule is symmetrical. The C-O bond is polar, with the dipole pointing towards the oxygen because it is more electronegative, however, no separation of charge in the overall molecule.  </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blipFill rotWithShape="1">
                <a:blip r:embed="rId2"/>
                <a:stretch>
                  <a:fillRect t="-2291" r="-222"/>
                </a:stretch>
              </a:blipFill>
            </p:spPr>
            <p:txBody>
              <a:bodyPr/>
              <a:lstStyle/>
              <a:p>
                <a:r>
                  <a:rPr lang="en-AU">
                    <a:noFill/>
                  </a:rPr>
                  <a:t> </a:t>
                </a:r>
              </a:p>
            </p:txBody>
          </p:sp>
        </mc:Fallback>
      </mc:AlternateContent>
      <p:sp>
        <p:nvSpPr>
          <p:cNvPr id="3" name="Title 2"/>
          <p:cNvSpPr>
            <a:spLocks noGrp="1"/>
          </p:cNvSpPr>
          <p:nvPr>
            <p:ph type="title"/>
          </p:nvPr>
        </p:nvSpPr>
        <p:spPr/>
        <p:txBody>
          <a:bodyPr>
            <a:normAutofit fontScale="90000"/>
          </a:bodyPr>
          <a:lstStyle/>
          <a:p>
            <a:r>
              <a:rPr lang="en-AU" dirty="0" smtClean="0"/>
              <a:t>Polar and non-polar polyatomic molecules</a:t>
            </a:r>
            <a:endParaRPr lang="en-AU" dirty="0"/>
          </a:p>
        </p:txBody>
      </p:sp>
      <p:pic>
        <p:nvPicPr>
          <p:cNvPr id="4" name="Picture 3" descr="http://www.tutor-homework.com/Chemistry_Help/Molecular_Geometry/CO2-1.jpg"/>
          <p:cNvPicPr/>
          <p:nvPr/>
        </p:nvPicPr>
        <p:blipFill>
          <a:blip r:embed="rId3">
            <a:extLst>
              <a:ext uri="{28A0092B-C50C-407E-A947-70E740481C1C}">
                <a14:useLocalDpi xmlns:a14="http://schemas.microsoft.com/office/drawing/2010/main" val="0"/>
              </a:ext>
            </a:extLst>
          </a:blip>
          <a:srcRect/>
          <a:stretch>
            <a:fillRect/>
          </a:stretch>
        </p:blipFill>
        <p:spPr bwMode="auto">
          <a:xfrm>
            <a:off x="4932040" y="5301208"/>
            <a:ext cx="1551940" cy="839470"/>
          </a:xfrm>
          <a:prstGeom prst="rect">
            <a:avLst/>
          </a:prstGeom>
          <a:noFill/>
          <a:ln>
            <a:noFill/>
          </a:ln>
        </p:spPr>
      </p:pic>
    </p:spTree>
    <p:extLst>
      <p:ext uri="{BB962C8B-B14F-4D97-AF65-F5344CB8AC3E}">
        <p14:creationId xmlns:p14="http://schemas.microsoft.com/office/powerpoint/2010/main" val="21406037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t>Polar molecules are those with slight positive and slight negative charged ends to the molecule. </a:t>
            </a:r>
            <a:endParaRPr lang="en-AU" dirty="0"/>
          </a:p>
        </p:txBody>
      </p:sp>
      <p:sp>
        <p:nvSpPr>
          <p:cNvPr id="3" name="Title 2"/>
          <p:cNvSpPr>
            <a:spLocks noGrp="1"/>
          </p:cNvSpPr>
          <p:nvPr>
            <p:ph type="title"/>
          </p:nvPr>
        </p:nvSpPr>
        <p:spPr/>
        <p:txBody>
          <a:bodyPr/>
          <a:lstStyle/>
          <a:p>
            <a:endParaRPr lang="en-AU"/>
          </a:p>
        </p:txBody>
      </p:sp>
    </p:spTree>
    <p:extLst>
      <p:ext uri="{BB962C8B-B14F-4D97-AF65-F5344CB8AC3E}">
        <p14:creationId xmlns:p14="http://schemas.microsoft.com/office/powerpoint/2010/main" val="2107980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AU" dirty="0" smtClean="0">
                <a:solidFill>
                  <a:srgbClr val="002060"/>
                </a:solidFill>
              </a:rPr>
              <a:t>Each oxygen will attract electrons, but as they are on either end of the molecule, the charge is distributed over the whole molecule. Although the molecule has polar covalent bonds, there is no separation of charges so no net dipole. This molecule is non-polar.</a:t>
            </a:r>
            <a:endParaRPr lang="en-AU" dirty="0">
              <a:solidFill>
                <a:srgbClr val="002060"/>
              </a:solidFill>
            </a:endParaRPr>
          </a:p>
        </p:txBody>
      </p:sp>
      <p:sp>
        <p:nvSpPr>
          <p:cNvPr id="3" name="Title 2"/>
          <p:cNvSpPr>
            <a:spLocks noGrp="1"/>
          </p:cNvSpPr>
          <p:nvPr>
            <p:ph type="title"/>
          </p:nvPr>
        </p:nvSpPr>
        <p:spPr/>
        <p:txBody>
          <a:bodyPr/>
          <a:lstStyle/>
          <a:p>
            <a:endParaRPr lang="en-AU" dirty="0"/>
          </a:p>
        </p:txBody>
      </p:sp>
    </p:spTree>
    <p:extLst>
      <p:ext uri="{BB962C8B-B14F-4D97-AF65-F5344CB8AC3E}">
        <p14:creationId xmlns:p14="http://schemas.microsoft.com/office/powerpoint/2010/main" val="28639110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AU" dirty="0" smtClean="0"/>
              <a:t>In water, O-H bond is polar. Oxygen at the centre and hydrogen at the bottom of the </a:t>
            </a:r>
          </a:p>
          <a:p>
            <a:r>
              <a:rPr lang="en-AU" dirty="0" smtClean="0"/>
              <a:t>A-shape. So, bottom end of the molecule is slightly positive. Water is asymmetrical, there is a net dipole present so water is polar. </a:t>
            </a:r>
          </a:p>
          <a:p>
            <a:r>
              <a:rPr lang="en-AU" dirty="0" smtClean="0"/>
              <a:t>The presence of polar covalent OH bonds  and a V-shape means that the water molecule is polar.      </a:t>
            </a:r>
            <a:endParaRPr lang="en-AU" dirty="0"/>
          </a:p>
        </p:txBody>
      </p:sp>
      <p:sp>
        <p:nvSpPr>
          <p:cNvPr id="3" name="Title 2"/>
          <p:cNvSpPr>
            <a:spLocks noGrp="1"/>
          </p:cNvSpPr>
          <p:nvPr>
            <p:ph type="title"/>
          </p:nvPr>
        </p:nvSpPr>
        <p:spPr/>
        <p:txBody>
          <a:bodyPr/>
          <a:lstStyle/>
          <a:p>
            <a:endParaRPr lang="en-AU"/>
          </a:p>
        </p:txBody>
      </p:sp>
      <p:pic>
        <p:nvPicPr>
          <p:cNvPr id="4" name="Picture 3" descr="http://2012books.lardbucket.org/books/principles-of-general-chemistry-v1.0/section_13/0f5e4f73ab2819893db179e51c675386.jpg"/>
          <p:cNvPicPr/>
          <p:nvPr/>
        </p:nvPicPr>
        <p:blipFill>
          <a:blip r:embed="rId2">
            <a:extLst>
              <a:ext uri="{28A0092B-C50C-407E-A947-70E740481C1C}">
                <a14:useLocalDpi xmlns:a14="http://schemas.microsoft.com/office/drawing/2010/main" val="0"/>
              </a:ext>
            </a:extLst>
          </a:blip>
          <a:srcRect/>
          <a:stretch>
            <a:fillRect/>
          </a:stretch>
        </p:blipFill>
        <p:spPr bwMode="auto">
          <a:xfrm>
            <a:off x="899592" y="4869160"/>
            <a:ext cx="6739622" cy="1368152"/>
          </a:xfrm>
          <a:prstGeom prst="rect">
            <a:avLst/>
          </a:prstGeom>
          <a:noFill/>
          <a:ln>
            <a:noFill/>
          </a:ln>
        </p:spPr>
      </p:pic>
    </p:spTree>
    <p:extLst>
      <p:ext uri="{BB962C8B-B14F-4D97-AF65-F5344CB8AC3E}">
        <p14:creationId xmlns:p14="http://schemas.microsoft.com/office/powerpoint/2010/main" val="12301269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AU" dirty="0" smtClean="0">
                <a:solidFill>
                  <a:srgbClr val="0070C0"/>
                </a:solidFill>
              </a:rPr>
              <a:t>The ammonia (NH</a:t>
            </a:r>
            <a:r>
              <a:rPr lang="en-AU" sz="1800" dirty="0" smtClean="0">
                <a:solidFill>
                  <a:srgbClr val="0070C0"/>
                </a:solidFill>
              </a:rPr>
              <a:t>3</a:t>
            </a:r>
            <a:r>
              <a:rPr lang="en-AU" sz="2800" dirty="0" smtClean="0">
                <a:solidFill>
                  <a:srgbClr val="0070C0"/>
                </a:solidFill>
              </a:rPr>
              <a:t>)</a:t>
            </a:r>
            <a:r>
              <a:rPr lang="en-AU" sz="1800" dirty="0" smtClean="0">
                <a:solidFill>
                  <a:srgbClr val="0070C0"/>
                </a:solidFill>
              </a:rPr>
              <a:t> </a:t>
            </a:r>
            <a:r>
              <a:rPr lang="en-AU" sz="2800" dirty="0" smtClean="0">
                <a:solidFill>
                  <a:srgbClr val="0070C0"/>
                </a:solidFill>
              </a:rPr>
              <a:t>and </a:t>
            </a:r>
            <a:r>
              <a:rPr lang="en-AU" sz="2800" dirty="0" err="1" smtClean="0">
                <a:solidFill>
                  <a:srgbClr val="0070C0"/>
                </a:solidFill>
              </a:rPr>
              <a:t>tetrachloromethane</a:t>
            </a:r>
            <a:r>
              <a:rPr lang="en-AU" sz="2800" dirty="0" smtClean="0">
                <a:solidFill>
                  <a:srgbClr val="0070C0"/>
                </a:solidFill>
              </a:rPr>
              <a:t> (CCl</a:t>
            </a:r>
            <a:r>
              <a:rPr lang="en-AU" sz="2000" dirty="0" smtClean="0">
                <a:solidFill>
                  <a:srgbClr val="0070C0"/>
                </a:solidFill>
              </a:rPr>
              <a:t>4</a:t>
            </a:r>
            <a:r>
              <a:rPr lang="en-AU" sz="2800" dirty="0" smtClean="0">
                <a:solidFill>
                  <a:srgbClr val="0070C0"/>
                </a:solidFill>
              </a:rPr>
              <a:t>) molecules have different shapes and polar bonds.</a:t>
            </a:r>
            <a:r>
              <a:rPr lang="en-AU" sz="2800" dirty="0">
                <a:solidFill>
                  <a:srgbClr val="0070C0"/>
                </a:solidFill>
              </a:rPr>
              <a:t> </a:t>
            </a:r>
            <a:r>
              <a:rPr lang="en-AU" sz="2800" dirty="0" smtClean="0">
                <a:solidFill>
                  <a:srgbClr val="0070C0"/>
                </a:solidFill>
              </a:rPr>
              <a:t>NH</a:t>
            </a:r>
            <a:r>
              <a:rPr lang="en-AU" sz="2000" dirty="0" smtClean="0">
                <a:solidFill>
                  <a:srgbClr val="0070C0"/>
                </a:solidFill>
              </a:rPr>
              <a:t>3 </a:t>
            </a:r>
            <a:r>
              <a:rPr lang="en-AU" sz="2800" dirty="0" smtClean="0">
                <a:solidFill>
                  <a:srgbClr val="0070C0"/>
                </a:solidFill>
              </a:rPr>
              <a:t>has pyramidal-shape</a:t>
            </a:r>
            <a:r>
              <a:rPr lang="en-AU" sz="2800" dirty="0">
                <a:solidFill>
                  <a:srgbClr val="0070C0"/>
                </a:solidFill>
              </a:rPr>
              <a:t> </a:t>
            </a:r>
            <a:r>
              <a:rPr lang="en-AU" sz="2800" dirty="0" smtClean="0">
                <a:solidFill>
                  <a:srgbClr val="0070C0"/>
                </a:solidFill>
              </a:rPr>
              <a:t>and is polar. “N” atom at the top of pyramid is slightly negative due to its greater electronegativity. The “H” atom at the end of molecule is slightly positive. Due to asymmetry, it is a polar molecule. </a:t>
            </a:r>
          </a:p>
          <a:p>
            <a:endParaRPr lang="en-AU" sz="2800" dirty="0" smtClean="0">
              <a:solidFill>
                <a:srgbClr val="0070C0"/>
              </a:solidFill>
            </a:endParaRPr>
          </a:p>
          <a:p>
            <a:r>
              <a:rPr lang="en-AU" sz="2800" dirty="0" smtClean="0"/>
              <a:t>CCl</a:t>
            </a:r>
            <a:r>
              <a:rPr lang="en-AU" sz="2000" dirty="0" smtClean="0"/>
              <a:t>4 </a:t>
            </a:r>
            <a:r>
              <a:rPr lang="en-AU" sz="2800" dirty="0" smtClean="0"/>
              <a:t>has polar bonds due to differences in electro</a:t>
            </a:r>
          </a:p>
          <a:p>
            <a:r>
              <a:rPr lang="en-AU" sz="2800" dirty="0" smtClean="0"/>
              <a:t>negativity between C and Cl. It is tetrahedral in shape with a central carbon atom. The dipole in each of the C-</a:t>
            </a:r>
            <a:r>
              <a:rPr lang="en-AU" sz="2800" dirty="0" err="1" smtClean="0"/>
              <a:t>Cl</a:t>
            </a:r>
            <a:r>
              <a:rPr lang="en-AU" sz="2800" dirty="0" smtClean="0"/>
              <a:t> bonds points to the </a:t>
            </a:r>
            <a:r>
              <a:rPr lang="en-AU" sz="2800" dirty="0" err="1" smtClean="0"/>
              <a:t>Cl</a:t>
            </a:r>
            <a:r>
              <a:rPr lang="en-AU" sz="2800" dirty="0" smtClean="0"/>
              <a:t> atom. The negative regions on chlorine in CCl</a:t>
            </a:r>
            <a:r>
              <a:rPr lang="en-AU" sz="1900" dirty="0" smtClean="0"/>
              <a:t>4</a:t>
            </a:r>
            <a:r>
              <a:rPr lang="en-AU" sz="3300" dirty="0" smtClean="0"/>
              <a:t> </a:t>
            </a:r>
            <a:r>
              <a:rPr lang="en-AU" sz="2800" dirty="0" smtClean="0"/>
              <a:t>cancel themselves out due to symmetry of molecule. CCl</a:t>
            </a:r>
            <a:r>
              <a:rPr lang="en-AU" sz="1900" dirty="0" smtClean="0"/>
              <a:t>4 </a:t>
            </a:r>
            <a:r>
              <a:rPr lang="en-AU" sz="2800" dirty="0" smtClean="0"/>
              <a:t>molecules</a:t>
            </a:r>
            <a:r>
              <a:rPr lang="en-AU" sz="3300" dirty="0" smtClean="0"/>
              <a:t> </a:t>
            </a:r>
            <a:r>
              <a:rPr lang="en-AU" sz="2800" dirty="0" smtClean="0"/>
              <a:t>are non-polar.</a:t>
            </a:r>
            <a:endParaRPr lang="en-AU" sz="1400" dirty="0"/>
          </a:p>
        </p:txBody>
      </p:sp>
      <p:sp>
        <p:nvSpPr>
          <p:cNvPr id="3" name="Title 2"/>
          <p:cNvSpPr>
            <a:spLocks noGrp="1"/>
          </p:cNvSpPr>
          <p:nvPr>
            <p:ph type="title"/>
          </p:nvPr>
        </p:nvSpPr>
        <p:spPr/>
        <p:txBody>
          <a:bodyPr/>
          <a:lstStyle/>
          <a:p>
            <a:endParaRPr lang="en-AU" dirty="0"/>
          </a:p>
        </p:txBody>
      </p:sp>
      <p:pic>
        <p:nvPicPr>
          <p:cNvPr id="4" name="Picture 3" descr="http://itech.dickinson.edu/chemistry/wp-content/uploads/2008/04/molecular-structure-of-ammonia.png"/>
          <p:cNvPicPr/>
          <p:nvPr/>
        </p:nvPicPr>
        <p:blipFill>
          <a:blip r:embed="rId2">
            <a:extLst>
              <a:ext uri="{28A0092B-C50C-407E-A947-70E740481C1C}">
                <a14:useLocalDpi xmlns:a14="http://schemas.microsoft.com/office/drawing/2010/main" val="0"/>
              </a:ext>
            </a:extLst>
          </a:blip>
          <a:srcRect/>
          <a:stretch>
            <a:fillRect/>
          </a:stretch>
        </p:blipFill>
        <p:spPr bwMode="auto">
          <a:xfrm>
            <a:off x="7452320" y="5373216"/>
            <a:ext cx="1122928" cy="1084511"/>
          </a:xfrm>
          <a:prstGeom prst="rect">
            <a:avLst/>
          </a:prstGeom>
          <a:noFill/>
          <a:ln>
            <a:noFill/>
          </a:ln>
        </p:spPr>
      </p:pic>
      <p:pic>
        <p:nvPicPr>
          <p:cNvPr id="5" name="Picture 4" descr="http://2.bp.blogspot.com/-1wp0M63YBLI/UBgoqN6EozI/AAAAAAAAABM/IIYQi-Vgjq4/s400/Ammonia.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7" y="5589240"/>
            <a:ext cx="1080121" cy="868487"/>
          </a:xfrm>
          <a:prstGeom prst="rect">
            <a:avLst/>
          </a:prstGeom>
          <a:noFill/>
          <a:ln>
            <a:noFill/>
          </a:ln>
        </p:spPr>
      </p:pic>
      <p:pic>
        <p:nvPicPr>
          <p:cNvPr id="6" name="Picture 5" descr="https://upload.wikimedia.org/wikipedia/commons/thumb/9/97/Tetrachlormethan.svg/100px-Tetrachlormethan.svg.png"/>
          <p:cNvPicPr/>
          <p:nvPr/>
        </p:nvPicPr>
        <p:blipFill>
          <a:blip r:embed="rId4">
            <a:extLst>
              <a:ext uri="{28A0092B-C50C-407E-A947-70E740481C1C}">
                <a14:useLocalDpi xmlns:a14="http://schemas.microsoft.com/office/drawing/2010/main" val="0"/>
              </a:ext>
            </a:extLst>
          </a:blip>
          <a:srcRect/>
          <a:stretch>
            <a:fillRect/>
          </a:stretch>
        </p:blipFill>
        <p:spPr bwMode="auto">
          <a:xfrm>
            <a:off x="3559818" y="5445224"/>
            <a:ext cx="868165" cy="773142"/>
          </a:xfrm>
          <a:prstGeom prst="rect">
            <a:avLst/>
          </a:prstGeom>
          <a:noFill/>
          <a:ln>
            <a:noFill/>
          </a:ln>
        </p:spPr>
      </p:pic>
    </p:spTree>
    <p:extLst>
      <p:ext uri="{BB962C8B-B14F-4D97-AF65-F5344CB8AC3E}">
        <p14:creationId xmlns:p14="http://schemas.microsoft.com/office/powerpoint/2010/main" val="240774671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348</TotalTime>
  <Words>657</Words>
  <Application>Microsoft Office PowerPoint</Application>
  <PresentationFormat>On-screen Show (4:3)</PresentationFormat>
  <Paragraphs>35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Cambria Math</vt:lpstr>
      <vt:lpstr>Lucida Sans Unicode</vt:lpstr>
      <vt:lpstr>Verdana</vt:lpstr>
      <vt:lpstr>Wingdings 2</vt:lpstr>
      <vt:lpstr>Wingdings 3</vt:lpstr>
      <vt:lpstr>Concourse</vt:lpstr>
      <vt:lpstr>Week 9 Term  2 </vt:lpstr>
      <vt:lpstr>PowerPoint Presentation</vt:lpstr>
      <vt:lpstr>PowerPoint Presentation</vt:lpstr>
      <vt:lpstr>PowerPoint Presentation</vt:lpstr>
      <vt:lpstr>PowerPoint Presentation</vt:lpstr>
      <vt:lpstr>PowerPoint Presentation</vt:lpstr>
      <vt:lpstr>Polar and non-polar polyatomic molecules</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6.3</dc:title>
  <dc:creator>Jijy</dc:creator>
  <cp:lastModifiedBy>D'CRUZ Jijy [Safety Bay Senior High School]</cp:lastModifiedBy>
  <cp:revision>34</cp:revision>
  <dcterms:created xsi:type="dcterms:W3CDTF">2015-06-29T11:49:02Z</dcterms:created>
  <dcterms:modified xsi:type="dcterms:W3CDTF">2019-06-24T15:31:32Z</dcterms:modified>
</cp:coreProperties>
</file>
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42340AEA-955C-4EEF-BF2A-37519E90A7BA}" type="datetimeFigureOut">
              <a:rPr lang="en-AU" smtClean="0"/>
              <a:t>3/07/2019</a:t>
            </a:fld>
            <a:endParaRPr lang="en-AU"/>
          </a:p>
        </p:txBody>
      </p:sp>
      <p:sp>
        <p:nvSpPr>
          <p:cNvPr id="20" name="Footer Placeholder 19"/>
          <p:cNvSpPr>
            <a:spLocks noGrp="1"/>
          </p:cNvSpPr>
          <p:nvPr>
            <p:ph type="ftr" sz="quarter" idx="11"/>
          </p:nvPr>
        </p:nvSpPr>
        <p:spPr/>
        <p:txBody>
          <a:bodyPr/>
          <a:lstStyle/>
          <a:p>
            <a:endParaRPr lang="en-AU"/>
          </a:p>
        </p:txBody>
      </p:sp>
      <p:sp>
        <p:nvSpPr>
          <p:cNvPr id="10" name="Slide Number Placeholder 9"/>
          <p:cNvSpPr>
            <a:spLocks noGrp="1"/>
          </p:cNvSpPr>
          <p:nvPr>
            <p:ph type="sldNum" sz="quarter" idx="12"/>
          </p:nvPr>
        </p:nvSpPr>
        <p:spPr/>
        <p:txBody>
          <a:bodyPr/>
          <a:lstStyle/>
          <a:p>
            <a:fld id="{FB6AA35C-40D0-4165-A940-2E79AD89049B}" type="slidenum">
              <a:rPr lang="en-AU" smtClean="0"/>
              <a:t>‹#›</a:t>
            </a:fld>
            <a:endParaRPr lang="en-AU"/>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2340AEA-955C-4EEF-BF2A-37519E90A7BA}" type="datetimeFigureOut">
              <a:rPr lang="en-AU" smtClean="0"/>
              <a:t>3/07/2019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3/07/2019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2340AEA-955C-4EEF-BF2A-37519E90A7BA}" type="datetimeFigureOut">
              <a:rPr lang="en-AU" smtClean="0"/>
              <a:t>3/07/2019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2340AEA-955C-4EEF-BF2A-37519E90A7BA}" type="datetimeFigureOut">
              <a:rPr lang="en-AU" smtClean="0"/>
              <a:t>3/07/2019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2340AEA-955C-4EEF-BF2A-37519E90A7BA}" type="datetimeFigureOut">
              <a:rPr lang="en-AU" smtClean="0"/>
              <a:t>3/07/2019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42340AEA-955C-4EEF-BF2A-37519E90A7BA}" type="datetimeFigureOut">
              <a:rPr lang="en-AU" smtClean="0"/>
              <a:t>3/07/2019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B6AA35C-40D0-4165-A940-2E79AD89049B}" type="slidenum">
              <a:rPr lang="en-AU" smtClean="0"/>
              <a:t>‹#›</a:t>
            </a:fld>
            <a:endParaRPr lang="en-AU"/>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2340AEA-955C-4EEF-BF2A-37519E90A7BA}" type="datetimeFigureOut">
              <a:rPr lang="en-AU" smtClean="0"/>
              <a:t>3/07/2019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42340AEA-955C-4EEF-BF2A-37519E90A7BA}" type="datetimeFigureOut">
              <a:rPr lang="en-AU" smtClean="0"/>
              <a:t>3/07/2019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B6AA35C-40D0-4165-A940-2E79AD89049B}" type="slidenum">
              <a:rPr lang="en-AU" smtClean="0"/>
              <a:t>‹#›</a:t>
            </a:fld>
            <a:endParaRPr lang="en-AU"/>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2340AEA-955C-4EEF-BF2A-37519E90A7BA}" type="datetimeFigureOut">
              <a:rPr lang="en-AU" smtClean="0"/>
              <a:t>3/07/2019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2340AEA-955C-4EEF-BF2A-37519E90A7BA}" type="datetimeFigureOut">
              <a:rPr lang="en-AU" smtClean="0"/>
              <a:t>3/07/2019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2340AEA-955C-4EEF-BF2A-37519E90A7BA}" type="datetimeFigureOut">
              <a:rPr lang="en-AU" smtClean="0"/>
              <a:t>3/07/2019</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AU"/>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FB6AA35C-40D0-4165-A940-2E79AD89049B}" type="slidenum">
              <a:rPr lang="en-AU" smtClean="0"/>
              <a:t>‹#›</a:t>
            </a:fld>
            <a:endParaRPr lang="en-AU"/>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Measuring solubility</a:t>
            </a:r>
            <a:br>
              <a:rPr lang="en-AU" dirty="0"/>
            </a:br>
            <a:endParaRPr lang="en-AU" dirty="0"/>
          </a:p>
        </p:txBody>
      </p:sp>
      <p:sp>
        <p:nvSpPr>
          <p:cNvPr id="3" name="Subtitle 2"/>
          <p:cNvSpPr>
            <a:spLocks noGrp="1"/>
          </p:cNvSpPr>
          <p:nvPr>
            <p:ph type="subTitle" idx="1"/>
          </p:nvPr>
        </p:nvSpPr>
        <p:spPr/>
        <p:txBody>
          <a:bodyPr/>
          <a:lstStyle/>
          <a:p>
            <a:endParaRPr lang="en-AU" dirty="0"/>
          </a:p>
        </p:txBody>
      </p:sp>
    </p:spTree>
    <p:extLst>
      <p:ext uri="{BB962C8B-B14F-4D97-AF65-F5344CB8AC3E}">
        <p14:creationId xmlns:p14="http://schemas.microsoft.com/office/powerpoint/2010/main" val="30604628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10000"/>
          </a:bodyPr>
          <a:lstStyle/>
          <a:p>
            <a:r>
              <a:rPr lang="en-AU" dirty="0" smtClean="0"/>
              <a:t>The temperature affects the amount of a substance that dissolves in a solvent. </a:t>
            </a:r>
          </a:p>
          <a:p>
            <a:r>
              <a:rPr lang="en-AU" dirty="0" smtClean="0"/>
              <a:t>The </a:t>
            </a:r>
            <a:r>
              <a:rPr lang="en-AU" b="1" dirty="0" smtClean="0">
                <a:solidFill>
                  <a:srgbClr val="FF0000"/>
                </a:solidFill>
              </a:rPr>
              <a:t>solubility </a:t>
            </a:r>
            <a:r>
              <a:rPr lang="en-AU" dirty="0" smtClean="0"/>
              <a:t>of a solute is the maximum amount in grams that can dissolve in 100g of the solvent at a given temperature. </a:t>
            </a:r>
          </a:p>
          <a:p>
            <a:r>
              <a:rPr lang="en-AU" dirty="0" smtClean="0"/>
              <a:t>The solution in which no more solute can be dissolved in a solvent at a particular temperature is known as a </a:t>
            </a:r>
            <a:r>
              <a:rPr lang="en-AU" b="1" dirty="0" smtClean="0">
                <a:solidFill>
                  <a:srgbClr val="FF0000"/>
                </a:solidFill>
              </a:rPr>
              <a:t>saturated solution. </a:t>
            </a:r>
            <a:r>
              <a:rPr lang="en-AU" dirty="0" smtClean="0"/>
              <a:t>Before this point it is known as an </a:t>
            </a:r>
            <a:r>
              <a:rPr lang="en-AU" b="1" dirty="0" smtClean="0">
                <a:solidFill>
                  <a:srgbClr val="FF0000"/>
                </a:solidFill>
              </a:rPr>
              <a:t>unsaturated solution.</a:t>
            </a:r>
            <a:r>
              <a:rPr lang="en-AU" dirty="0" smtClean="0">
                <a:solidFill>
                  <a:srgbClr val="FF0000"/>
                </a:solidFill>
              </a:rPr>
              <a:t> </a:t>
            </a:r>
            <a:endParaRPr lang="en-AU" dirty="0">
              <a:solidFill>
                <a:srgbClr val="FF0000"/>
              </a:solidFill>
            </a:endParaRPr>
          </a:p>
        </p:txBody>
      </p:sp>
    </p:spTree>
    <p:extLst>
      <p:ext uri="{BB962C8B-B14F-4D97-AF65-F5344CB8AC3E}">
        <p14:creationId xmlns:p14="http://schemas.microsoft.com/office/powerpoint/2010/main" val="10659032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10000"/>
          </a:bodyPr>
          <a:lstStyle/>
          <a:p>
            <a:r>
              <a:rPr lang="en-AU" dirty="0" smtClean="0"/>
              <a:t>If the solvent water is heated, then more solute can be dissolved. If the heated solution is allowed to cool, crystals will start to precipitate again. The temperature at which this happens is the temperature at which the solution is saturated. </a:t>
            </a:r>
          </a:p>
          <a:p>
            <a:r>
              <a:rPr lang="en-AU" b="1" dirty="0" smtClean="0">
                <a:solidFill>
                  <a:srgbClr val="FF0000"/>
                </a:solidFill>
              </a:rPr>
              <a:t>Supersaturated solution</a:t>
            </a:r>
          </a:p>
          <a:p>
            <a:r>
              <a:rPr lang="en-AU" dirty="0" smtClean="0"/>
              <a:t>A solution can become supersaturated when there is more solute dissolved than in a saturated solution at the same temperature. </a:t>
            </a:r>
            <a:endParaRPr lang="en-AU" dirty="0"/>
          </a:p>
        </p:txBody>
      </p:sp>
    </p:spTree>
    <p:extLst>
      <p:ext uri="{BB962C8B-B14F-4D97-AF65-F5344CB8AC3E}">
        <p14:creationId xmlns:p14="http://schemas.microsoft.com/office/powerpoint/2010/main" val="1279713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Toffee is a supersaturated solution of sugar. To stop the toffee crystallising, a mixture of sugars or the addition of some fats can be used to stabilise the solution. </a:t>
            </a:r>
            <a:endParaRPr lang="en-AU" dirty="0"/>
          </a:p>
        </p:txBody>
      </p:sp>
    </p:spTree>
    <p:extLst>
      <p:ext uri="{BB962C8B-B14F-4D97-AF65-F5344CB8AC3E}">
        <p14:creationId xmlns:p14="http://schemas.microsoft.com/office/powerpoint/2010/main" val="29316403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Solubility curves</a:t>
            </a:r>
            <a:endParaRPr lang="en-AU" dirty="0"/>
          </a:p>
        </p:txBody>
      </p:sp>
      <p:sp>
        <p:nvSpPr>
          <p:cNvPr id="3" name="Content Placeholder 2"/>
          <p:cNvSpPr>
            <a:spLocks noGrp="1"/>
          </p:cNvSpPr>
          <p:nvPr>
            <p:ph idx="1"/>
          </p:nvPr>
        </p:nvSpPr>
        <p:spPr/>
        <p:txBody>
          <a:bodyPr/>
          <a:lstStyle/>
          <a:p>
            <a:r>
              <a:rPr lang="en-AU" dirty="0" smtClean="0"/>
              <a:t>A graph showing how much of a solute such as a salt can be dissolved at a particular temperature provides useful information on the solubility of a substance. As temperature increases more salt will dissolve. This graph is called as solubility curve. </a:t>
            </a:r>
          </a:p>
          <a:p>
            <a:r>
              <a:rPr lang="en-AU" dirty="0" smtClean="0"/>
              <a:t>The amount of solute is measured in grams of solute in 100 grams of water. </a:t>
            </a:r>
            <a:endParaRPr lang="en-AU" dirty="0"/>
          </a:p>
        </p:txBody>
      </p:sp>
    </p:spTree>
    <p:extLst>
      <p:ext uri="{BB962C8B-B14F-4D97-AF65-F5344CB8AC3E}">
        <p14:creationId xmlns:p14="http://schemas.microsoft.com/office/powerpoint/2010/main" val="29155545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 selection of solubility curves for various salts</a:t>
            </a:r>
            <a:endParaRPr lang="en-AU" dirty="0"/>
          </a:p>
        </p:txBody>
      </p:sp>
      <p:pic>
        <p:nvPicPr>
          <p:cNvPr id="4" name="Content Placeholder 3" descr="http://www.sciencegeek.net/Chemistry/taters/graphics/solubility.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8" y="1916832"/>
            <a:ext cx="6218187" cy="4941168"/>
          </a:xfrm>
          <a:prstGeom prst="rect">
            <a:avLst/>
          </a:prstGeom>
          <a:noFill/>
          <a:ln>
            <a:noFill/>
          </a:ln>
        </p:spPr>
      </p:pic>
    </p:spTree>
    <p:extLst>
      <p:ext uri="{BB962C8B-B14F-4D97-AF65-F5344CB8AC3E}">
        <p14:creationId xmlns:p14="http://schemas.microsoft.com/office/powerpoint/2010/main" val="26219901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Gas solubility curves</a:t>
            </a:r>
            <a:endParaRPr lang="en-AU" dirty="0"/>
          </a:p>
        </p:txBody>
      </p:sp>
      <p:sp>
        <p:nvSpPr>
          <p:cNvPr id="3" name="Content Placeholder 2"/>
          <p:cNvSpPr>
            <a:spLocks noGrp="1"/>
          </p:cNvSpPr>
          <p:nvPr>
            <p:ph idx="1"/>
          </p:nvPr>
        </p:nvSpPr>
        <p:spPr/>
        <p:txBody>
          <a:bodyPr/>
          <a:lstStyle/>
          <a:p>
            <a:r>
              <a:rPr lang="en-AU" dirty="0" smtClean="0"/>
              <a:t>Solubility of gases can be shown with the help of solubility curves.  As temperature increases, solubility of non-polar gases generally decreases. Solubilities are much lower than that for solids and values are shown in parts per million(ppm).</a:t>
            </a:r>
          </a:p>
          <a:p>
            <a:endParaRPr lang="en-AU" dirty="0"/>
          </a:p>
        </p:txBody>
      </p:sp>
    </p:spTree>
    <p:extLst>
      <p:ext uri="{BB962C8B-B14F-4D97-AF65-F5344CB8AC3E}">
        <p14:creationId xmlns:p14="http://schemas.microsoft.com/office/powerpoint/2010/main" val="7624759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www.middleschoolchemistry.com/img/content/multimedia/chapter_5/lesson_8/solubility_curve_carbon_dioxide_big.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7381" y="1447800"/>
            <a:ext cx="7414788" cy="4800600"/>
          </a:xfrm>
          <a:prstGeom prst="rect">
            <a:avLst/>
          </a:prstGeom>
          <a:noFill/>
          <a:ln>
            <a:noFill/>
          </a:ln>
        </p:spPr>
      </p:pic>
    </p:spTree>
    <p:extLst>
      <p:ext uri="{BB962C8B-B14F-4D97-AF65-F5344CB8AC3E}">
        <p14:creationId xmlns:p14="http://schemas.microsoft.com/office/powerpoint/2010/main" val="6560289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Concentration units</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Solubility curves use the unit grams of solute per 100g of water. </a:t>
            </a:r>
          </a:p>
          <a:p>
            <a:r>
              <a:rPr lang="en-AU" dirty="0" smtClean="0">
                <a:solidFill>
                  <a:srgbClr val="FF0000"/>
                </a:solidFill>
              </a:rPr>
              <a:t>Concentration is a measure of the amount of solute present. </a:t>
            </a:r>
          </a:p>
          <a:p>
            <a:r>
              <a:rPr lang="en-AU" dirty="0" smtClean="0"/>
              <a:t>There are a variety of units in general use; g/100g,</a:t>
            </a:r>
          </a:p>
          <a:p>
            <a:r>
              <a:rPr lang="en-AU" dirty="0" smtClean="0"/>
              <a:t>%v/v ( </a:t>
            </a:r>
            <a:r>
              <a:rPr lang="en-AU" dirty="0" smtClean="0"/>
              <a:t>percent </a:t>
            </a:r>
            <a:r>
              <a:rPr lang="en-AU" dirty="0" smtClean="0"/>
              <a:t>by volume), </a:t>
            </a:r>
          </a:p>
          <a:p>
            <a:r>
              <a:rPr lang="en-AU" dirty="0" smtClean="0"/>
              <a:t>% w/w (</a:t>
            </a:r>
            <a:r>
              <a:rPr lang="en-AU" dirty="0" smtClean="0"/>
              <a:t>percent </a:t>
            </a:r>
            <a:r>
              <a:rPr lang="en-AU" dirty="0" smtClean="0"/>
              <a:t>by weight),</a:t>
            </a:r>
          </a:p>
          <a:p>
            <a:r>
              <a:rPr lang="en-AU" dirty="0" smtClean="0"/>
              <a:t>%v/w, ppm (parts per million, grams of solute in one million grams of solution)</a:t>
            </a:r>
            <a:endParaRPr lang="en-AU" dirty="0"/>
          </a:p>
        </p:txBody>
      </p:sp>
    </p:spTree>
    <p:extLst>
      <p:ext uri="{BB962C8B-B14F-4D97-AF65-F5344CB8AC3E}">
        <p14:creationId xmlns:p14="http://schemas.microsoft.com/office/powerpoint/2010/main" val="26082293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spTree>
    <p:extLst>
      <p:ext uri="{BB962C8B-B14F-4D97-AF65-F5344CB8AC3E}">
        <p14:creationId xmlns:p14="http://schemas.microsoft.com/office/powerpoint/2010/main" val="392146393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258</TotalTime>
  <Words>362</Words>
  <Application>Microsoft Office PowerPoint</Application>
  <PresentationFormat>On-screen Show (4:3)</PresentationFormat>
  <Paragraphs>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Gill Sans MT</vt:lpstr>
      <vt:lpstr>Verdana</vt:lpstr>
      <vt:lpstr>Wingdings 2</vt:lpstr>
      <vt:lpstr>Solstice</vt:lpstr>
      <vt:lpstr>Measuring solubility </vt:lpstr>
      <vt:lpstr>PowerPoint Presentation</vt:lpstr>
      <vt:lpstr>PowerPoint Presentation</vt:lpstr>
      <vt:lpstr>PowerPoint Presentation</vt:lpstr>
      <vt:lpstr>Solubility curves</vt:lpstr>
      <vt:lpstr>A selection of solubility curves for various salts</vt:lpstr>
      <vt:lpstr>Gas solubility curves</vt:lpstr>
      <vt:lpstr>PowerPoint Presentation</vt:lpstr>
      <vt:lpstr>Concentration units</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Chapter:6.7</dc:title>
  <dc:creator>D'CRUZ Jijy</dc:creator>
  <cp:lastModifiedBy>D'CRUZ Jijy [Safety Bay Senior High School]</cp:lastModifiedBy>
  <cp:revision>20</cp:revision>
  <dcterms:created xsi:type="dcterms:W3CDTF">2015-07-31T02:21:33Z</dcterms:created>
  <dcterms:modified xsi:type="dcterms:W3CDTF">2019-07-03T11:03:55Z</dcterms:modified>
</cp:coreProperties>
</file>
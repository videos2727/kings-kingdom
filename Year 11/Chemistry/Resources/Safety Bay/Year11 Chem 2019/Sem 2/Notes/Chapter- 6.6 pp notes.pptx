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57" r:id="rId5"/>
    <p:sldId id="258" r:id="rId6"/>
    <p:sldId id="259" r:id="rId7"/>
    <p:sldId id="26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9004668D-307E-4095-8F0F-5F9C6008AEFC}" type="datetimeFigureOut">
              <a:rPr lang="en-AU" smtClean="0"/>
              <a:t>27/06/2019</a:t>
            </a:fld>
            <a:endParaRPr lang="en-AU"/>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AU"/>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844645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04668D-307E-4095-8F0F-5F9C6008AEFC}" type="datetimeFigureOut">
              <a:rPr lang="en-AU" smtClean="0"/>
              <a:t>27/06/2019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723752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004668D-307E-4095-8F0F-5F9C6008AEFC}" type="datetimeFigureOut">
              <a:rPr lang="en-AU" smtClean="0"/>
              <a:t>27/06/2019</a:t>
            </a:fld>
            <a:endParaRPr lang="en-AU"/>
          </a:p>
        </p:txBody>
      </p:sp>
      <p:sp>
        <p:nvSpPr>
          <p:cNvPr id="5" name="Footer Placeholder 4"/>
          <p:cNvSpPr>
            <a:spLocks noGrp="1"/>
          </p:cNvSpPr>
          <p:nvPr>
            <p:ph type="ftr" sz="quarter" idx="11"/>
          </p:nvPr>
        </p:nvSpPr>
        <p:spPr/>
        <p:txBody>
          <a:bodyPr/>
          <a:lstStyle/>
          <a:p>
            <a:endParaRPr lang="en-AU"/>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323371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004668D-307E-4095-8F0F-5F9C6008AEFC}" type="datetimeFigureOut">
              <a:rPr lang="en-AU" smtClean="0"/>
              <a:t>27/06/2019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013910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004668D-307E-4095-8F0F-5F9C6008AEFC}" type="datetimeFigureOut">
              <a:rPr lang="en-AU" smtClean="0"/>
              <a:t>27/06/2019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279270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004668D-307E-4095-8F0F-5F9C6008AEFC}" type="datetimeFigureOut">
              <a:rPr lang="en-AU" smtClean="0"/>
              <a:t>27/06/2019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370950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9004668D-307E-4095-8F0F-5F9C6008AEFC}" type="datetimeFigureOut">
              <a:rPr lang="en-AU" smtClean="0"/>
              <a:t>27/06/2019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2116927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004668D-307E-4095-8F0F-5F9C6008AEFC}" type="datetimeFigureOut">
              <a:rPr lang="en-AU" smtClean="0"/>
              <a:t>27/06/2019</a:t>
            </a:fld>
            <a:endParaRPr lang="en-AU"/>
          </a:p>
        </p:txBody>
      </p:sp>
      <p:sp>
        <p:nvSpPr>
          <p:cNvPr id="6" name="Footer Placeholder 5"/>
          <p:cNvSpPr>
            <a:spLocks noGrp="1"/>
          </p:cNvSpPr>
          <p:nvPr>
            <p:ph type="ftr" sz="quarter" idx="11"/>
          </p:nvPr>
        </p:nvSpPr>
        <p:spPr/>
        <p:txBody>
          <a:bodyPr/>
          <a:lstStyle/>
          <a:p>
            <a:endParaRPr lang="en-AU"/>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125356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004668D-307E-4095-8F0F-5F9C6008AEFC}" type="datetimeFigureOut">
              <a:rPr lang="en-AU" smtClean="0"/>
              <a:t>27/06/2019</a:t>
            </a:fld>
            <a:endParaRPr lang="en-AU"/>
          </a:p>
        </p:txBody>
      </p:sp>
      <p:sp>
        <p:nvSpPr>
          <p:cNvPr id="6" name="Footer Placeholder 5"/>
          <p:cNvSpPr>
            <a:spLocks noGrp="1"/>
          </p:cNvSpPr>
          <p:nvPr>
            <p:ph type="ftr" sz="quarter" idx="11"/>
          </p:nvPr>
        </p:nvSpPr>
        <p:spPr/>
        <p:txBody>
          <a:bodyPr/>
          <a:lstStyle/>
          <a:p>
            <a:endParaRPr lang="en-AU"/>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607290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004668D-307E-4095-8F0F-5F9C6008AEFC}" type="datetimeFigureOut">
              <a:rPr lang="en-AU" smtClean="0"/>
              <a:t>27/06/2019</a:t>
            </a:fld>
            <a:endParaRPr lang="en-AU"/>
          </a:p>
        </p:txBody>
      </p:sp>
      <p:sp>
        <p:nvSpPr>
          <p:cNvPr id="6" name="Footer Placeholder 5"/>
          <p:cNvSpPr>
            <a:spLocks noGrp="1"/>
          </p:cNvSpPr>
          <p:nvPr>
            <p:ph type="ftr" sz="quarter" idx="11"/>
          </p:nvPr>
        </p:nvSpPr>
        <p:spPr/>
        <p:txBody>
          <a:bodyPr/>
          <a:lstStyle/>
          <a:p>
            <a:endParaRPr lang="en-AU"/>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2805213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smtClean="0"/>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004668D-307E-4095-8F0F-5F9C6008AEFC}" type="datetimeFigureOut">
              <a:rPr lang="en-AU" smtClean="0"/>
              <a:t>27/06/2019</a:t>
            </a:fld>
            <a:endParaRPr lang="en-AU"/>
          </a:p>
        </p:txBody>
      </p:sp>
      <p:sp>
        <p:nvSpPr>
          <p:cNvPr id="5" name="Footer Placeholder 4"/>
          <p:cNvSpPr>
            <a:spLocks noGrp="1"/>
          </p:cNvSpPr>
          <p:nvPr>
            <p:ph type="ftr" sz="quarter" idx="11"/>
          </p:nvPr>
        </p:nvSpPr>
        <p:spPr/>
        <p:txBody>
          <a:bodyPr/>
          <a:lstStyle/>
          <a:p>
            <a:endParaRPr lang="en-AU"/>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750299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004668D-307E-4095-8F0F-5F9C6008AEFC}" type="datetimeFigureOut">
              <a:rPr lang="en-AU" smtClean="0"/>
              <a:t>27/06/2019</a:t>
            </a:fld>
            <a:endParaRPr lang="en-AU"/>
          </a:p>
        </p:txBody>
      </p:sp>
      <p:sp>
        <p:nvSpPr>
          <p:cNvPr id="5" name="Footer Placeholder 4"/>
          <p:cNvSpPr>
            <a:spLocks noGrp="1"/>
          </p:cNvSpPr>
          <p:nvPr>
            <p:ph type="ftr" sz="quarter" idx="11"/>
          </p:nvPr>
        </p:nvSpPr>
        <p:spPr/>
        <p:txBody>
          <a:bodyPr/>
          <a:lstStyle/>
          <a:p>
            <a:endParaRPr lang="en-AU"/>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907750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004668D-307E-4095-8F0F-5F9C6008AEFC}" type="datetimeFigureOut">
              <a:rPr lang="en-AU" smtClean="0"/>
              <a:t>27/06/2019</a:t>
            </a:fld>
            <a:endParaRPr lang="en-AU"/>
          </a:p>
        </p:txBody>
      </p:sp>
      <p:sp>
        <p:nvSpPr>
          <p:cNvPr id="5" name="Footer Placeholder 4"/>
          <p:cNvSpPr>
            <a:spLocks noGrp="1"/>
          </p:cNvSpPr>
          <p:nvPr>
            <p:ph type="ftr" sz="quarter" idx="11"/>
          </p:nvPr>
        </p:nvSpPr>
        <p:spPr/>
        <p:txBody>
          <a:bodyPr/>
          <a:lstStyle/>
          <a:p>
            <a:endParaRPr lang="en-AU"/>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249138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004668D-307E-4095-8F0F-5F9C6008AEFC}" type="datetimeFigureOut">
              <a:rPr lang="en-AU" smtClean="0"/>
              <a:t>27/06/2019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4945861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004668D-307E-4095-8F0F-5F9C6008AEFC}" type="datetimeFigureOut">
              <a:rPr lang="en-AU" smtClean="0"/>
              <a:t>27/06/2019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903202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9004668D-307E-4095-8F0F-5F9C6008AEFC}" type="datetimeFigureOut">
              <a:rPr lang="en-AU" smtClean="0"/>
              <a:t>27/06/2019</a:t>
            </a:fld>
            <a:endParaRPr lang="en-AU"/>
          </a:p>
        </p:txBody>
      </p:sp>
      <p:sp>
        <p:nvSpPr>
          <p:cNvPr id="5" name="Footer Placeholder 4"/>
          <p:cNvSpPr>
            <a:spLocks noGrp="1"/>
          </p:cNvSpPr>
          <p:nvPr>
            <p:ph type="ftr" sz="quarter" idx="11"/>
          </p:nvPr>
        </p:nvSpPr>
        <p:spPr>
          <a:xfrm>
            <a:off x="516133" y="6387910"/>
            <a:ext cx="3859795" cy="228660"/>
          </a:xfrm>
        </p:spPr>
        <p:txBody>
          <a:bodyPr/>
          <a:lstStyle/>
          <a:p>
            <a:endParaRPr lang="en-AU"/>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4190044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04668D-307E-4095-8F0F-5F9C6008AEFC}" type="datetimeFigureOut">
              <a:rPr lang="en-AU" smtClean="0"/>
              <a:t>27/06/2019</a:t>
            </a:fld>
            <a:endParaRPr lang="en-AU"/>
          </a:p>
        </p:txBody>
      </p:sp>
      <p:sp>
        <p:nvSpPr>
          <p:cNvPr id="5" name="Footer Placeholder 4"/>
          <p:cNvSpPr>
            <a:spLocks noGrp="1"/>
          </p:cNvSpPr>
          <p:nvPr>
            <p:ph type="ftr" sz="quarter" idx="11"/>
          </p:nvPr>
        </p:nvSpPr>
        <p:spPr>
          <a:xfrm>
            <a:off x="538546" y="6365498"/>
            <a:ext cx="3859795" cy="228660"/>
          </a:xfrm>
        </p:spPr>
        <p:txBody>
          <a:bodyPr/>
          <a:lstStyle/>
          <a:p>
            <a:endParaRPr lang="en-AU"/>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949054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9004668D-307E-4095-8F0F-5F9C6008AEFC}" type="datetimeFigureOut">
              <a:rPr lang="en-AU" smtClean="0"/>
              <a:t>27/06/2019</a:t>
            </a:fld>
            <a:endParaRPr lang="en-AU"/>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AU"/>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3961786C-FC41-48B7-BE70-B675D5CD8094}" type="slidenum">
              <a:rPr lang="en-AU" smtClean="0"/>
              <a:t>‹#›</a:t>
            </a:fld>
            <a:endParaRPr lang="en-AU"/>
          </a:p>
        </p:txBody>
      </p:sp>
    </p:spTree>
    <p:extLst>
      <p:ext uri="{BB962C8B-B14F-4D97-AF65-F5344CB8AC3E}">
        <p14:creationId xmlns:p14="http://schemas.microsoft.com/office/powerpoint/2010/main" val="357880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Chapter: 6.6</a:t>
            </a:r>
            <a:endParaRPr lang="en-AU" dirty="0"/>
          </a:p>
        </p:txBody>
      </p:sp>
      <p:sp>
        <p:nvSpPr>
          <p:cNvPr id="3" name="Subtitle 2"/>
          <p:cNvSpPr>
            <a:spLocks noGrp="1"/>
          </p:cNvSpPr>
          <p:nvPr>
            <p:ph type="subTitle" idx="1"/>
          </p:nvPr>
        </p:nvSpPr>
        <p:spPr/>
        <p:txBody>
          <a:bodyPr/>
          <a:lstStyle/>
          <a:p>
            <a:r>
              <a:rPr lang="en-AU" dirty="0" smtClean="0"/>
              <a:t>Solutes</a:t>
            </a:r>
            <a:endParaRPr lang="en-AU" dirty="0"/>
          </a:p>
        </p:txBody>
      </p:sp>
    </p:spTree>
    <p:extLst>
      <p:ext uri="{BB962C8B-B14F-4D97-AF65-F5344CB8AC3E}">
        <p14:creationId xmlns:p14="http://schemas.microsoft.com/office/powerpoint/2010/main" val="13747607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85000" lnSpcReduction="10000"/>
          </a:bodyPr>
          <a:lstStyle/>
          <a:p>
            <a:r>
              <a:rPr lang="en-AU" dirty="0" smtClean="0"/>
              <a:t>Substances readily dissolve are called a hydrophilic ( water loving). E.g. ionic compounds and polar substances like polar organic substances</a:t>
            </a:r>
          </a:p>
          <a:p>
            <a:endParaRPr lang="en-AU" dirty="0"/>
          </a:p>
          <a:p>
            <a:r>
              <a:rPr lang="en-AU" dirty="0" smtClean="0"/>
              <a:t>Substances that don’t dissolve in water are hydrophobic ( water hating).e.g. gases or non-polar substances.</a:t>
            </a:r>
          </a:p>
          <a:p>
            <a:r>
              <a:rPr lang="en-AU" dirty="0" smtClean="0"/>
              <a:t>Substances may dissolve in water, if they are polar or charged. The solute may form an ion-dipole, dipole-dipole or hydrogen bond with water.</a:t>
            </a:r>
          </a:p>
          <a:p>
            <a:r>
              <a:rPr lang="en-AU" dirty="0" smtClean="0"/>
              <a:t>Water is polar and can dissolve polar substances by forming ion-dipole, dipole-</a:t>
            </a:r>
            <a:r>
              <a:rPr lang="en-AU" dirty="0"/>
              <a:t> dipole-dipole or hydrogen </a:t>
            </a:r>
            <a:r>
              <a:rPr lang="en-AU" dirty="0" smtClean="0"/>
              <a:t>bonds with the substance.</a:t>
            </a:r>
          </a:p>
          <a:p>
            <a:r>
              <a:rPr lang="en-AU" dirty="0" smtClean="0"/>
              <a:t>E.g. Solution process for a sodium chloride crystal in water</a:t>
            </a:r>
            <a:endParaRPr lang="en-AU" dirty="0"/>
          </a:p>
        </p:txBody>
      </p:sp>
    </p:spTree>
    <p:extLst>
      <p:ext uri="{BB962C8B-B14F-4D97-AF65-F5344CB8AC3E}">
        <p14:creationId xmlns:p14="http://schemas.microsoft.com/office/powerpoint/2010/main" val="1946219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Non-polar substances dissolve in non-polar solvents but do not dissolve in polar solvents. Polar substances dissolve in polar substances but do not dissolve in non-polar solvents.</a:t>
            </a:r>
          </a:p>
          <a:p>
            <a:r>
              <a:rPr lang="en-AU" dirty="0" smtClean="0"/>
              <a:t>E.g. ethanol and glucose molecules are polar due to the presence of polar regions</a:t>
            </a:r>
            <a:endParaRPr lang="en-AU" dirty="0"/>
          </a:p>
        </p:txBody>
      </p:sp>
    </p:spTree>
    <p:extLst>
      <p:ext uri="{BB962C8B-B14F-4D97-AF65-F5344CB8AC3E}">
        <p14:creationId xmlns:p14="http://schemas.microsoft.com/office/powerpoint/2010/main" val="2613036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Solutions equations (ionic  and molecular)</a:t>
            </a:r>
            <a:endParaRPr lang="en-AU" dirty="0"/>
          </a:p>
        </p:txBody>
      </p:sp>
      <p:sp>
        <p:nvSpPr>
          <p:cNvPr id="3" name="Content Placeholder 2"/>
          <p:cNvSpPr>
            <a:spLocks noGrp="1"/>
          </p:cNvSpPr>
          <p:nvPr>
            <p:ph idx="1"/>
          </p:nvPr>
        </p:nvSpPr>
        <p:spPr/>
        <p:txBody>
          <a:bodyPr/>
          <a:lstStyle/>
          <a:p>
            <a:r>
              <a:rPr lang="en-AU" dirty="0" smtClean="0"/>
              <a:t>When salts dissolve, chemists don’t write ions separately. E.g. dissolved sodium chloride is written as </a:t>
            </a:r>
            <a:r>
              <a:rPr lang="en-AU" dirty="0" err="1" smtClean="0"/>
              <a:t>NaCl</a:t>
            </a:r>
            <a:r>
              <a:rPr lang="en-AU" dirty="0" smtClean="0"/>
              <a:t>(</a:t>
            </a:r>
            <a:r>
              <a:rPr lang="en-AU" dirty="0" err="1" smtClean="0"/>
              <a:t>aq</a:t>
            </a:r>
            <a:r>
              <a:rPr lang="en-AU" dirty="0" smtClean="0"/>
              <a:t>) shows ions have dissociated. The Na</a:t>
            </a:r>
            <a:r>
              <a:rPr lang="en-AU" baseline="30000" dirty="0" smtClean="0"/>
              <a:t>+    </a:t>
            </a:r>
            <a:r>
              <a:rPr lang="en-AU" dirty="0" smtClean="0"/>
              <a:t>and </a:t>
            </a:r>
            <a:r>
              <a:rPr lang="en-AU" dirty="0" err="1" smtClean="0"/>
              <a:t>Cl</a:t>
            </a:r>
            <a:r>
              <a:rPr lang="en-AU" baseline="30000" dirty="0" smtClean="0"/>
              <a:t>- </a:t>
            </a:r>
            <a:r>
              <a:rPr lang="en-AU" dirty="0" smtClean="0"/>
              <a:t>ions are separated, and surrounded by water molecules. As they are charged particles, the solution can conduct electricity. This is called as an electrolytic solution.</a:t>
            </a:r>
            <a:endParaRPr lang="en-AU" dirty="0"/>
          </a:p>
        </p:txBody>
      </p:sp>
    </p:spTree>
    <p:extLst>
      <p:ext uri="{BB962C8B-B14F-4D97-AF65-F5344CB8AC3E}">
        <p14:creationId xmlns:p14="http://schemas.microsoft.com/office/powerpoint/2010/main" val="20390453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                H</a:t>
            </a:r>
            <a:r>
              <a:rPr lang="en-AU" sz="1000" dirty="0" smtClean="0"/>
              <a:t>2</a:t>
            </a:r>
            <a:r>
              <a:rPr lang="en-AU" dirty="0" smtClean="0"/>
              <a:t>O</a:t>
            </a:r>
          </a:p>
          <a:p>
            <a:r>
              <a:rPr lang="en-AU" dirty="0" err="1" smtClean="0"/>
              <a:t>NaCl</a:t>
            </a:r>
            <a:r>
              <a:rPr lang="en-AU" dirty="0" smtClean="0"/>
              <a:t> </a:t>
            </a:r>
            <a:r>
              <a:rPr lang="en-AU" dirty="0" smtClean="0"/>
              <a:t>(s) </a:t>
            </a:r>
            <a:r>
              <a:rPr lang="en-AU" dirty="0" smtClean="0">
                <a:sym typeface="Wingdings 3"/>
              </a:rPr>
              <a:t> </a:t>
            </a:r>
            <a:r>
              <a:rPr lang="en-AU" dirty="0" smtClean="0"/>
              <a:t>Na</a:t>
            </a:r>
            <a:r>
              <a:rPr lang="en-AU" baseline="30000" dirty="0" smtClean="0"/>
              <a:t>+ </a:t>
            </a:r>
            <a:r>
              <a:rPr lang="en-AU" dirty="0" smtClean="0"/>
              <a:t>(</a:t>
            </a:r>
            <a:r>
              <a:rPr lang="en-AU" dirty="0" err="1" smtClean="0"/>
              <a:t>aq</a:t>
            </a:r>
            <a:r>
              <a:rPr lang="en-AU" dirty="0" smtClean="0"/>
              <a:t>) + Cl (</a:t>
            </a:r>
            <a:r>
              <a:rPr lang="en-AU" dirty="0" err="1" smtClean="0"/>
              <a:t>aq</a:t>
            </a:r>
            <a:r>
              <a:rPr lang="en-AU" dirty="0" smtClean="0"/>
              <a:t>)</a:t>
            </a:r>
          </a:p>
          <a:p>
            <a:endParaRPr lang="en-AU" dirty="0"/>
          </a:p>
          <a:p>
            <a:r>
              <a:rPr lang="en-AU" dirty="0" smtClean="0"/>
              <a:t>When molecular substances like CO2, </a:t>
            </a:r>
            <a:r>
              <a:rPr lang="en-AU" dirty="0" err="1" smtClean="0"/>
              <a:t>HCl</a:t>
            </a:r>
            <a:r>
              <a:rPr lang="en-AU" dirty="0" smtClean="0"/>
              <a:t> or glucose dissolve the state is aqueous. </a:t>
            </a:r>
          </a:p>
          <a:p>
            <a:r>
              <a:rPr lang="en-AU" dirty="0" smtClean="0"/>
              <a:t>CO2 has to dissolve in water before it can react with water. Oxygen has to dissolve for fish and other aquatic organisms to be able to use it. </a:t>
            </a:r>
            <a:endParaRPr lang="en-AU" dirty="0"/>
          </a:p>
        </p:txBody>
      </p:sp>
    </p:spTree>
    <p:extLst>
      <p:ext uri="{BB962C8B-B14F-4D97-AF65-F5344CB8AC3E}">
        <p14:creationId xmlns:p14="http://schemas.microsoft.com/office/powerpoint/2010/main" val="16384552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851188" y="2492896"/>
            <a:ext cx="6345260" cy="3530600"/>
          </a:xfrm>
        </p:spPr>
        <p:txBody>
          <a:bodyPr>
            <a:normAutofit/>
          </a:bodyPr>
          <a:lstStyle/>
          <a:p>
            <a:r>
              <a:rPr lang="en-AU" dirty="0" smtClean="0">
                <a:solidFill>
                  <a:srgbClr val="7030A0"/>
                </a:solidFill>
              </a:rPr>
              <a:t>A solute dissolves when the energy of the bonds it forms with water is lower than the energy of the bonds between water molecules or between water molecules and ions of the substance being dissolved. The energy difference explains why some polar salts dissolve in water and some don’t.</a:t>
            </a:r>
          </a:p>
          <a:p>
            <a:endParaRPr lang="en-AU" dirty="0" smtClean="0">
              <a:solidFill>
                <a:srgbClr val="C00000"/>
              </a:solidFill>
            </a:endParaRPr>
          </a:p>
        </p:txBody>
      </p:sp>
    </p:spTree>
    <p:extLst>
      <p:ext uri="{BB962C8B-B14F-4D97-AF65-F5344CB8AC3E}">
        <p14:creationId xmlns:p14="http://schemas.microsoft.com/office/powerpoint/2010/main" val="3186351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66761065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100</TotalTime>
  <Words>327</Words>
  <Application>Microsoft Office PowerPoint</Application>
  <PresentationFormat>On-screen Show (4:3)</PresentationFormat>
  <Paragraphs>18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Ion Boardroom</vt:lpstr>
      <vt:lpstr>Chapter: 6.6</vt:lpstr>
      <vt:lpstr>PowerPoint Presentation</vt:lpstr>
      <vt:lpstr>PowerPoint Presentation</vt:lpstr>
      <vt:lpstr>Solutions equations (ionic  and molecular)</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6.6</dc:title>
  <dc:creator>Jijy</dc:creator>
  <cp:lastModifiedBy>D'CRUZ Jijy [Safety Bay Senior High School]</cp:lastModifiedBy>
  <cp:revision>14</cp:revision>
  <dcterms:created xsi:type="dcterms:W3CDTF">2015-07-30T14:30:34Z</dcterms:created>
  <dcterms:modified xsi:type="dcterms:W3CDTF">2019-06-26T22:23:55Z</dcterms:modified>
</cp:coreProperties>
</file>
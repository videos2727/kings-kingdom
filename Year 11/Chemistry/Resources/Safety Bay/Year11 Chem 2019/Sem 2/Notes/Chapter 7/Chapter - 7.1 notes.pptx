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80" y="8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26/07/2017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26/07/2017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26/07/2017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26/07/2017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26/07/2017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26/07/2017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26/07/2017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26/07/2017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26/07/2017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26/07/2017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26/07/2017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083D8A4-F295-4A2E-A836-1438B8DA097D}" type="datetimeFigureOut">
              <a:rPr lang="en-AU" smtClean="0"/>
              <a:t>26/07/2017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Chapter: 7.1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Aqueous solutions of ionic compounds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636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 smtClean="0"/>
                  <a:t>Solutions of substances dissolved in water are called aqueous solutions. The term ‘aqueous’ comes from the Latin </a:t>
                </a:r>
                <a:r>
                  <a:rPr lang="en-AU" i="1" dirty="0" smtClean="0"/>
                  <a:t>aqua</a:t>
                </a:r>
                <a:r>
                  <a:rPr lang="en-AU" dirty="0" smtClean="0"/>
                  <a:t>, meaning water. </a:t>
                </a:r>
              </a:p>
              <a:p>
                <a:endParaRPr lang="en-AU" dirty="0"/>
              </a:p>
              <a:p>
                <a:r>
                  <a:rPr lang="en-AU" dirty="0" smtClean="0"/>
                  <a:t>When ionic substances dissolve in water, they dissociate. They separate into their ions, which are able to move freely and independently of each other through the solution. </a:t>
                </a:r>
              </a:p>
              <a:p>
                <a:r>
                  <a:rPr lang="en-AU" dirty="0" smtClean="0"/>
                  <a:t>               </a:t>
                </a:r>
                <a:r>
                  <a:rPr lang="en-AU" sz="1800" dirty="0" err="1" smtClean="0"/>
                  <a:t>aq</a:t>
                </a:r>
                <a:endParaRPr lang="en-AU" sz="1800" dirty="0"/>
              </a:p>
              <a:p>
                <a:r>
                  <a:rPr lang="en-AU" dirty="0" err="1" smtClean="0"/>
                  <a:t>NaCl</a:t>
                </a:r>
                <a:r>
                  <a:rPr lang="en-AU" dirty="0" smtClean="0"/>
                  <a:t>(s) </a:t>
                </a:r>
                <a:r>
                  <a:rPr lang="en-AU" dirty="0" smtClean="0">
                    <a:sym typeface="Wingdings 3"/>
                  </a:rPr>
                  <a:t>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sym typeface="Wingdings 3"/>
                      </a:rPr>
                      <m:t>𝑁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sym typeface="Wingdings 3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sym typeface="Wingdings 3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sym typeface="Wingdings 3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AU" b="0" i="1" smtClean="0">
                            <a:latin typeface="Cambria Math"/>
                            <a:sym typeface="Wingdings 3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  <a:sym typeface="Wingdings 3"/>
                          </a:rPr>
                          <m:t>𝑎𝑞</m:t>
                        </m:r>
                      </m:e>
                    </m:d>
                    <m:r>
                      <a:rPr lang="en-AU" b="0" i="1" smtClean="0">
                        <a:latin typeface="Cambria Math"/>
                        <a:sym typeface="Wingdings 3"/>
                      </a:rPr>
                      <m:t>+</m:t>
                    </m:r>
                    <m:r>
                      <a:rPr lang="en-AU" b="0" i="1" smtClean="0">
                        <a:latin typeface="Cambria Math"/>
                        <a:sym typeface="Wingdings 3"/>
                      </a:rPr>
                      <m:t>𝐶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sym typeface="Wingdings 3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sym typeface="Wingdings 3"/>
                          </a:rPr>
                          <m:t>𝑙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sym typeface="Wingdings 3"/>
                          </a:rPr>
                          <m:t>−</m:t>
                        </m:r>
                      </m:sup>
                    </m:sSup>
                    <m:r>
                      <a:rPr lang="en-AU" b="0" i="1" smtClean="0">
                        <a:latin typeface="Cambria Math"/>
                        <a:sym typeface="Wingdings 3"/>
                      </a:rPr>
                      <m:t>(</m:t>
                    </m:r>
                    <m:r>
                      <a:rPr lang="en-AU" b="0" i="1" smtClean="0">
                        <a:latin typeface="Cambria Math"/>
                        <a:sym typeface="Wingdings 3"/>
                      </a:rPr>
                      <m:t>𝑎𝑞</m:t>
                    </m:r>
                    <m:r>
                      <a:rPr lang="en-AU" b="0" i="1" smtClean="0">
                        <a:latin typeface="Cambria Math"/>
                        <a:sym typeface="Wingdings 3"/>
                      </a:rPr>
                      <m:t>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1111" r="-1333" b="-30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3796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AU" dirty="0" smtClean="0"/>
                  <a:t>Not all ionic compounds dissolve in water to the same extent.</a:t>
                </a:r>
              </a:p>
              <a:p>
                <a:endParaRPr lang="en-AU" dirty="0"/>
              </a:p>
              <a:p>
                <a:r>
                  <a:rPr lang="en-AU" dirty="0" smtClean="0"/>
                  <a:t>The solubility of a substance is the degree to which it dissolves and is temperature dependent. </a:t>
                </a:r>
              </a:p>
              <a:p>
                <a:r>
                  <a:rPr lang="en-AU" dirty="0" smtClean="0"/>
                  <a:t>The solubility of a solute is the maximum in grams that can dissolve in 100g of the solvent at given temperature. </a:t>
                </a:r>
              </a:p>
              <a:p>
                <a:endParaRPr lang="en-AU" dirty="0"/>
              </a:p>
              <a:p>
                <a:r>
                  <a:rPr lang="en-AU" dirty="0" smtClean="0"/>
                  <a:t>Standard temperature for measuring solubility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25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0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𝐶</m:t>
                    </m:r>
                    <m:r>
                      <a:rPr lang="en-AU" b="0" i="1" smtClean="0">
                        <a:latin typeface="Cambria Math"/>
                      </a:rPr>
                      <m:t>.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0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21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AU" sz="2800" dirty="0" smtClean="0"/>
                  <a:t>Chemists use terms like ‘soluble, insoluble and sparingly soluble’  to categorise the solubility of different compounds. ‘soluble’ means a compound dissolves to more than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/>
                      </a:rPr>
                      <m:t>10</m:t>
                    </m:r>
                    <m:r>
                      <a:rPr lang="en-AU" sz="2800" b="0" i="1" smtClean="0">
                        <a:latin typeface="Cambria Math"/>
                      </a:rPr>
                      <m:t>𝑔</m:t>
                    </m:r>
                    <m:sSup>
                      <m:sSupPr>
                        <m:ctrlPr>
                          <a:rPr lang="en-AU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n-AU" sz="2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sz="2800" b="0" i="1" smtClean="0">
                            <a:latin typeface="Cambria Math"/>
                          </a:rPr>
                          <m:t> </m:t>
                        </m:r>
                        <m:r>
                          <a:rPr lang="en-AU" sz="2800" b="0" i="1" smtClean="0">
                            <a:latin typeface="Cambria Math"/>
                          </a:rPr>
                          <m:t>𝑜𝑟</m:t>
                        </m:r>
                        <m:f>
                          <m:fPr>
                            <m:ctrlPr>
                              <a:rPr lang="en-AU" sz="2800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AU" sz="2800" b="0" i="1" smtClean="0">
                                <a:latin typeface="Cambria Math"/>
                              </a:rPr>
                              <m:t>1</m:t>
                            </m:r>
                            <m:r>
                              <a:rPr lang="en-AU" sz="2800" b="0" i="1" smtClean="0">
                                <a:latin typeface="Cambria Math"/>
                              </a:rPr>
                              <m:t>𝑔</m:t>
                            </m:r>
                          </m:num>
                          <m:den>
                            <m:r>
                              <a:rPr lang="en-AU" sz="2800" b="0" i="1" smtClean="0">
                                <a:latin typeface="Cambria Math"/>
                              </a:rPr>
                              <m:t>100</m:t>
                            </m:r>
                            <m:r>
                              <a:rPr lang="en-AU" sz="2800" b="0" i="1" smtClean="0">
                                <a:latin typeface="Cambria Math"/>
                              </a:rPr>
                              <m:t>𝑚𝐿</m:t>
                            </m:r>
                          </m:den>
                        </m:f>
                      </m:e>
                    </m:d>
                    <m:r>
                      <a:rPr lang="en-AU" sz="2800" b="0" i="1" smtClean="0">
                        <a:latin typeface="Cambria Math"/>
                      </a:rPr>
                      <m:t>,</m:t>
                    </m:r>
                    <m:sPre>
                      <m:sPrePr>
                        <m:ctrlPr>
                          <a:rPr lang="en-AU" sz="2800" b="0" i="1" smtClean="0">
                            <a:latin typeface="Cambria Math"/>
                          </a:rPr>
                        </m:ctrlPr>
                      </m:sPrePr>
                      <m:sub/>
                      <m:sup>
                        <m:r>
                          <a:rPr lang="en-AU" sz="2800" b="0" i="1" smtClean="0">
                            <a:latin typeface="Cambria Math"/>
                          </a:rPr>
                          <m:t>′</m:t>
                        </m:r>
                      </m:sup>
                      <m:e>
                        <m:r>
                          <a:rPr lang="en-AU" sz="2800" b="0" i="1" smtClean="0">
                            <a:latin typeface="Cambria Math"/>
                          </a:rPr>
                          <m:t>𝑖</m:t>
                        </m:r>
                      </m:e>
                    </m:sPre>
                    <m:r>
                      <a:rPr lang="en-AU" sz="2800" b="0" i="1" smtClean="0">
                        <a:latin typeface="Cambria Math"/>
                      </a:rPr>
                      <m:t>𝑛𝑠𝑜𝑙𝑢𝑏𝑙</m:t>
                    </m:r>
                    <m:sSup>
                      <m:sSupPr>
                        <m:ctrlPr>
                          <a:rPr lang="en-AU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𝑚𝑒𝑎𝑛𝑠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𝑡h𝑎𝑡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𝑖𝑡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</m:oMath>
                </a14:m>
                <a:endParaRPr lang="en-AU" sz="2800" b="0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/>
                      </a:rPr>
                      <m:t>𝑑𝑖𝑠𝑠𝑜𝑙𝑣𝑒𝑠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𝑡𝑜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𝑙𝑒𝑠𝑠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𝑡h𝑎𝑛</m:t>
                    </m:r>
                    <m:r>
                      <a:rPr lang="en-AU" sz="2800" b="0" i="1" smtClean="0">
                        <a:latin typeface="Cambria Math"/>
                      </a:rPr>
                      <m:t> 1</m:t>
                    </m:r>
                    <m:r>
                      <a:rPr lang="en-AU" sz="2800" b="0" i="1" smtClean="0">
                        <a:latin typeface="Cambria Math"/>
                      </a:rPr>
                      <m:t>𝑔</m:t>
                    </m:r>
                    <m:sSup>
                      <m:sSupPr>
                        <m:ctrlPr>
                          <a:rPr lang="en-AU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𝑎𝑛𝑑</m:t>
                    </m:r>
                    <m:sPre>
                      <m:sPrePr>
                        <m:ctrlPr>
                          <a:rPr lang="en-AU" sz="2800" b="0" i="1" smtClean="0">
                            <a:latin typeface="Cambria Math"/>
                          </a:rPr>
                        </m:ctrlPr>
                      </m:sPrePr>
                      <m:sub/>
                      <m:sup>
                        <m:r>
                          <a:rPr lang="en-AU" sz="2800" b="0" i="1" smtClean="0">
                            <a:latin typeface="Cambria Math"/>
                          </a:rPr>
                          <m:t>′</m:t>
                        </m:r>
                      </m:sup>
                      <m:e>
                        <m:r>
                          <a:rPr lang="en-AU" sz="2800" b="0" i="1" smtClean="0">
                            <a:latin typeface="Cambria Math"/>
                          </a:rPr>
                          <m:t>𝑠</m:t>
                        </m:r>
                      </m:e>
                    </m:sPre>
                    <m:r>
                      <a:rPr lang="en-AU" sz="2800" b="0" i="1" smtClean="0">
                        <a:latin typeface="Cambria Math"/>
                      </a:rPr>
                      <m:t>𝑝𝑎𝑟𝑖𝑛𝑔𝑙𝑦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</m:oMath>
                </a14:m>
                <a:endParaRPr lang="en-AU" sz="2800" b="0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/>
                      </a:rPr>
                      <m:t>𝑠𝑜𝑙𝑢𝑏𝑙</m:t>
                    </m:r>
                    <m:sSup>
                      <m:sSupPr>
                        <m:ctrlPr>
                          <a:rPr lang="en-AU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AU" sz="2800" dirty="0" smtClean="0"/>
                  <a:t>means that it dissolves between the range </a:t>
                </a:r>
              </a:p>
              <a:p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/>
                      </a:rPr>
                      <m:t>1</m:t>
                    </m:r>
                    <m:r>
                      <a:rPr lang="en-AU" sz="2800" b="0" i="1" smtClean="0">
                        <a:latin typeface="Cambria Math"/>
                      </a:rPr>
                      <m:t>𝑔</m:t>
                    </m:r>
                    <m:sSup>
                      <m:sSupPr>
                        <m:ctrlPr>
                          <a:rPr lang="en-AU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−1 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𝑡𝑜</m:t>
                    </m:r>
                    <m:r>
                      <a:rPr lang="en-AU" sz="2800" b="0" i="1" smtClean="0">
                        <a:latin typeface="Cambria Math"/>
                      </a:rPr>
                      <m:t> 10</m:t>
                    </m:r>
                    <m:r>
                      <a:rPr lang="en-AU" sz="2800" b="0" i="1" smtClean="0">
                        <a:latin typeface="Cambria Math"/>
                      </a:rPr>
                      <m:t>𝑔</m:t>
                    </m:r>
                    <m:r>
                      <a:rPr lang="en-AU" sz="2800" b="0" i="1" smtClean="0">
                        <a:latin typeface="Cambria Math"/>
                      </a:rPr>
                      <m:t>/</m:t>
                    </m:r>
                    <m:r>
                      <a:rPr lang="en-AU" sz="2800" b="0" i="1" smtClean="0">
                        <a:latin typeface="Cambria Math"/>
                      </a:rPr>
                      <m:t>𝐿</m:t>
                    </m:r>
                    <m:r>
                      <a:rPr lang="en-AU" sz="2800" b="0" i="1" smtClean="0">
                        <a:latin typeface="Cambria Math"/>
                      </a:rPr>
                      <m:t>.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37" t="-1250" r="-14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5429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Precipitation reactions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AU" dirty="0" smtClean="0"/>
                  <a:t>When solutions of ionic compounds are mixed together, they sometimes react to produce a solid precipitate. This type of reaction is called as precipitation reaction. </a:t>
                </a:r>
              </a:p>
              <a:p>
                <a:endParaRPr lang="en-AU" dirty="0"/>
              </a:p>
              <a:p>
                <a:r>
                  <a:rPr lang="en-AU" dirty="0" err="1" smtClean="0"/>
                  <a:t>E.g.When</a:t>
                </a:r>
                <a:r>
                  <a:rPr lang="en-AU" dirty="0" smtClean="0"/>
                  <a:t> </a:t>
                </a:r>
                <a:r>
                  <a:rPr lang="en-AU" dirty="0" err="1" smtClean="0"/>
                  <a:t>NaCl</a:t>
                </a:r>
                <a:r>
                  <a:rPr lang="en-AU" dirty="0" smtClean="0"/>
                  <a:t> solution 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𝐴𝑔𝑁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𝑠𝑜𝑙𝑢𝑡𝑖𝑜𝑛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𝑎𝑟𝑒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𝑚𝑖𝑥𝑒𝑑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𝑡𝑜𝑔𝑒𝑡h𝑒𝑟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 white solid of silver chloride will be formed. The solution of sodium ions and chloride ions is mixed with solution of silver ions and nitrate ions the result is a solution containing all the ions moving randomly throughout. Each of the ions is surrounded by water molecules. 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1111" r="-741" b="-1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7261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 silver and chloride ions are more strongly attracted to each other than they are to the water , they can cluster together in groups to form a solid. This will be precipitated out. 		</a:t>
            </a:r>
            <a:endParaRPr lang="en-AU" dirty="0"/>
          </a:p>
        </p:txBody>
      </p:sp>
      <p:pic>
        <p:nvPicPr>
          <p:cNvPr id="4" name="Picture 3" descr="http://chem.wisc.edu/deptfiles/genchem/sstutorial/Text11/Tx116/AgCl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3717032"/>
            <a:ext cx="1608192" cy="2088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http://chem.wisc.edu/deptfiles/genchem/sstutorial/Text11/Tx116/tx116p1a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168" y="4077072"/>
            <a:ext cx="3428245" cy="2112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9699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Look at the ionic equation in page: 305 NC </a:t>
            </a:r>
          </a:p>
          <a:p>
            <a:endParaRPr lang="en-AU" dirty="0"/>
          </a:p>
          <a:p>
            <a:r>
              <a:rPr lang="en-AU" b="1" u="sng" dirty="0" smtClean="0"/>
              <a:t>Predicting precipitation</a:t>
            </a:r>
          </a:p>
          <a:p>
            <a:r>
              <a:rPr lang="en-AU" dirty="0" smtClean="0"/>
              <a:t>When mixing solution which contains known </a:t>
            </a:r>
            <a:r>
              <a:rPr lang="en-AU" dirty="0" err="1" smtClean="0"/>
              <a:t>cations</a:t>
            </a:r>
            <a:r>
              <a:rPr lang="en-AU" dirty="0" smtClean="0"/>
              <a:t> and anions chemists have experimentally which compounds are soluble and which form a precipitate. Sometimes when precipitate forms it does not settle to the bottom but forms suspension and the mixture look </a:t>
            </a:r>
          </a:p>
          <a:p>
            <a:r>
              <a:rPr lang="en-AU" dirty="0" smtClean="0"/>
              <a:t>cloudy.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571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Applying solubility data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Precipitation reactions are useful for finding out a particular </a:t>
            </a:r>
            <a:r>
              <a:rPr lang="en-AU" dirty="0" err="1" smtClean="0"/>
              <a:t>cation</a:t>
            </a:r>
            <a:r>
              <a:rPr lang="en-AU" dirty="0" smtClean="0"/>
              <a:t> or anion is present. E.g. Chemists use precipitation reactions to test lead or cadmium in water supplies.  Precipitation reaction can also be used to remove unwanted substances from water. </a:t>
            </a:r>
          </a:p>
          <a:p>
            <a:endParaRPr lang="en-AU" dirty="0"/>
          </a:p>
          <a:p>
            <a:r>
              <a:rPr lang="en-AU" dirty="0" smtClean="0"/>
              <a:t>See worked example: 7.1 in page: 309 (NC)</a:t>
            </a:r>
          </a:p>
          <a:p>
            <a:r>
              <a:rPr lang="en-AU" dirty="0" smtClean="0"/>
              <a:t>Do Q: set – 7.1 in page: 311 Q’s: 1,2, 3 (</a:t>
            </a:r>
            <a:r>
              <a:rPr lang="en-AU" dirty="0" err="1" smtClean="0"/>
              <a:t>a,b,c</a:t>
            </a:r>
            <a:r>
              <a:rPr lang="en-AU" dirty="0" smtClean="0"/>
              <a:t>), 4 (a), </a:t>
            </a:r>
          </a:p>
          <a:p>
            <a:r>
              <a:rPr lang="en-AU" dirty="0" smtClean="0"/>
              <a:t>5 (</a:t>
            </a:r>
            <a:r>
              <a:rPr lang="en-AU" dirty="0" err="1" smtClean="0"/>
              <a:t>b,c</a:t>
            </a:r>
            <a:r>
              <a:rPr lang="en-AU" smtClean="0"/>
              <a:t>) and 6(a)</a:t>
            </a:r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6500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191</TotalTime>
  <Words>523</Words>
  <Application>Microsoft Office PowerPoint</Application>
  <PresentationFormat>On-screen Show (4:3)</PresentationFormat>
  <Paragraphs>33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Flow</vt:lpstr>
      <vt:lpstr>Chapter: 7.1</vt:lpstr>
      <vt:lpstr>PowerPoint Presentation</vt:lpstr>
      <vt:lpstr>PowerPoint Presentation</vt:lpstr>
      <vt:lpstr>PowerPoint Presentation</vt:lpstr>
      <vt:lpstr>Precipitation reactions</vt:lpstr>
      <vt:lpstr>PowerPoint Presentation</vt:lpstr>
      <vt:lpstr>PowerPoint Presentation</vt:lpstr>
      <vt:lpstr>Applying solubility data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Chapter: 7.1</dc:title>
  <dc:creator>Jijy</dc:creator>
  <cp:lastModifiedBy>Jijy</cp:lastModifiedBy>
  <cp:revision>17</cp:revision>
  <dcterms:created xsi:type="dcterms:W3CDTF">2015-08-17T13:58:58Z</dcterms:created>
  <dcterms:modified xsi:type="dcterms:W3CDTF">2017-07-26T13:01:01Z</dcterms:modified>
</cp:coreProperties>
</file>
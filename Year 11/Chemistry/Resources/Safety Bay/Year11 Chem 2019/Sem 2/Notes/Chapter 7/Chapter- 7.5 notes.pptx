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536" y="-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4684148-56AA-4B64-9BC7-2A9A3F8E2A76}" type="datetimeFigureOut">
              <a:rPr lang="en-AU" smtClean="0"/>
              <a:t>6/09/2015</a:t>
            </a:fld>
            <a:endParaRPr lang="en-AU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AU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2BBA5BD-5660-42B1-BA56-CBA16224882B}" type="slidenum">
              <a:rPr lang="en-AU" smtClean="0"/>
              <a:t>‹#›</a:t>
            </a:fld>
            <a:endParaRPr lang="en-AU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4684148-56AA-4B64-9BC7-2A9A3F8E2A76}" type="datetimeFigureOut">
              <a:rPr lang="en-AU" smtClean="0"/>
              <a:t>6/09/2015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2BBA5BD-5660-42B1-BA56-CBA16224882B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4684148-56AA-4B64-9BC7-2A9A3F8E2A76}" type="datetimeFigureOut">
              <a:rPr lang="en-AU" smtClean="0"/>
              <a:t>6/09/2015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2BBA5BD-5660-42B1-BA56-CBA16224882B}" type="slidenum">
              <a:rPr lang="en-AU" smtClean="0"/>
              <a:t>‹#›</a:t>
            </a:fld>
            <a:endParaRPr lang="en-AU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4684148-56AA-4B64-9BC7-2A9A3F8E2A76}" type="datetimeFigureOut">
              <a:rPr lang="en-AU" smtClean="0"/>
              <a:t>6/09/2015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2BBA5BD-5660-42B1-BA56-CBA16224882B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4684148-56AA-4B64-9BC7-2A9A3F8E2A76}" type="datetimeFigureOut">
              <a:rPr lang="en-AU" smtClean="0"/>
              <a:t>6/09/2015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2BBA5BD-5660-42B1-BA56-CBA16224882B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4684148-56AA-4B64-9BC7-2A9A3F8E2A76}" type="datetimeFigureOut">
              <a:rPr lang="en-AU" smtClean="0"/>
              <a:t>6/09/2015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2BBA5BD-5660-42B1-BA56-CBA16224882B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4684148-56AA-4B64-9BC7-2A9A3F8E2A76}" type="datetimeFigureOut">
              <a:rPr lang="en-AU" smtClean="0"/>
              <a:t>6/09/2015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2BBA5BD-5660-42B1-BA56-CBA16224882B}" type="slidenum">
              <a:rPr lang="en-AU" smtClean="0"/>
              <a:t>‹#›</a:t>
            </a:fld>
            <a:endParaRPr lang="en-AU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4684148-56AA-4B64-9BC7-2A9A3F8E2A76}" type="datetimeFigureOut">
              <a:rPr lang="en-AU" smtClean="0"/>
              <a:t>6/09/2015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2BBA5BD-5660-42B1-BA56-CBA16224882B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4684148-56AA-4B64-9BC7-2A9A3F8E2A76}" type="datetimeFigureOut">
              <a:rPr lang="en-AU" smtClean="0"/>
              <a:t>6/09/2015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2BBA5BD-5660-42B1-BA56-CBA16224882B}" type="slidenum">
              <a:rPr lang="en-AU" smtClean="0"/>
              <a:t>‹#›</a:t>
            </a:fld>
            <a:endParaRPr lang="en-AU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4684148-56AA-4B64-9BC7-2A9A3F8E2A76}" type="datetimeFigureOut">
              <a:rPr lang="en-AU" smtClean="0"/>
              <a:t>6/09/2015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2BBA5BD-5660-42B1-BA56-CBA16224882B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4684148-56AA-4B64-9BC7-2A9A3F8E2A76}" type="datetimeFigureOut">
              <a:rPr lang="en-AU" smtClean="0"/>
              <a:t>6/09/2015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2BBA5BD-5660-42B1-BA56-CBA16224882B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74684148-56AA-4B64-9BC7-2A9A3F8E2A76}" type="datetimeFigureOut">
              <a:rPr lang="en-AU" smtClean="0"/>
              <a:t>6/09/2015</a:t>
            </a:fld>
            <a:endParaRPr lang="en-AU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AU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52BBA5BD-5660-42B1-BA56-CBA16224882B}" type="slidenum">
              <a:rPr lang="en-AU" smtClean="0"/>
              <a:t>‹#›</a:t>
            </a:fld>
            <a:endParaRPr lang="en-AU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Chapter : 7.5</a:t>
            </a:r>
            <a:br>
              <a:rPr lang="en-AU" dirty="0"/>
            </a:b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 smtClean="0"/>
              <a:t>Indicators and pH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14852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AU" dirty="0" smtClean="0"/>
              <a:t>Litmus is a mixture of water-soluble dyes extracted from lichens. Litmus is called an acid-base indicator. Litmus turns red in acidic solutions, and blue in basic solutions. </a:t>
            </a:r>
          </a:p>
          <a:p>
            <a:r>
              <a:rPr lang="en-AU" dirty="0" smtClean="0">
                <a:solidFill>
                  <a:srgbClr val="7030A0"/>
                </a:solidFill>
              </a:rPr>
              <a:t>An indicator is used to provide information on the degree of acidity or alkalinity of a solution. Chemists have developed a scale to measure the concentration of acid in a solution known as pH scale.</a:t>
            </a:r>
            <a:endParaRPr lang="en-AU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0402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The pH scale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The term pH stands for ‘hydrogen power’.</a:t>
            </a:r>
          </a:p>
          <a:p>
            <a:r>
              <a:rPr lang="en-AU" dirty="0" smtClean="0"/>
              <a:t>Danish biochemist </a:t>
            </a:r>
            <a:r>
              <a:rPr lang="en-AU" dirty="0" err="1" smtClean="0"/>
              <a:t>Soren</a:t>
            </a:r>
            <a:r>
              <a:rPr lang="en-AU" dirty="0" smtClean="0"/>
              <a:t> Sorensen devised the scale to make writing the hydrogen ion concentration in solution more manageable. </a:t>
            </a:r>
          </a:p>
          <a:p>
            <a:r>
              <a:rPr lang="en-AU" dirty="0" smtClean="0">
                <a:solidFill>
                  <a:srgbClr val="C00000"/>
                </a:solidFill>
              </a:rPr>
              <a:t>The pH scale is based on the concentration of hydrogen ions in solution. It provides a measure of the acidity or alkalinity in aqueous solutions.</a:t>
            </a:r>
            <a:endParaRPr lang="en-AU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2012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The pH scale generally ranges from 0 to 14. the lower the pH, the more acidic a solution is; the higher the pH , the more basic the solution is. </a:t>
            </a:r>
          </a:p>
          <a:p>
            <a:r>
              <a:rPr lang="en-AU" dirty="0" smtClean="0">
                <a:solidFill>
                  <a:srgbClr val="C00000"/>
                </a:solidFill>
              </a:rPr>
              <a:t>Acids have a pH of less than 7, bases have a pH greater than 7, and a substance that has a pH equal to 7 is neutral.</a:t>
            </a:r>
          </a:p>
          <a:p>
            <a:r>
              <a:rPr lang="en-AU" dirty="0" smtClean="0">
                <a:solidFill>
                  <a:srgbClr val="7030A0"/>
                </a:solidFill>
              </a:rPr>
              <a:t>See table C 7.2 in page: 325</a:t>
            </a:r>
            <a:endParaRPr lang="en-AU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0571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There is a relationship between the pH value and the superscript number in the hydrogen ion concentration. They are the same number because pH is based on the hydrogen ion concentration of a solution.</a:t>
            </a:r>
          </a:p>
          <a:p>
            <a:endParaRPr lang="en-AU" dirty="0"/>
          </a:p>
          <a:p>
            <a:r>
              <a:rPr lang="en-AU" dirty="0" smtClean="0"/>
              <a:t>A change in I unit on the pH scale is equivalent to a 10 times change in the hydrogen ion </a:t>
            </a:r>
            <a:r>
              <a:rPr lang="en-AU" dirty="0" err="1" smtClean="0"/>
              <a:t>concntration</a:t>
            </a:r>
            <a:r>
              <a:rPr lang="en-AU" dirty="0" smtClean="0"/>
              <a:t>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99189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AU" dirty="0" smtClean="0"/>
                  <a:t>PH scale can also be used to determine the alkalinity or hydroxide ion concentration. pH of 7 means neutral solution, and neutralisation occurs when an acid and a base react to produce salt and water. </a:t>
                </a:r>
              </a:p>
              <a:p>
                <a:r>
                  <a:rPr lang="en-AU" dirty="0" smtClean="0"/>
                  <a:t>If equal concentrations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𝐻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+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 </m:t>
                    </m:r>
                    <m:r>
                      <a:rPr lang="en-AU" b="0" i="1" smtClean="0">
                        <a:latin typeface="Cambria Math"/>
                      </a:rPr>
                      <m:t>𝑎𝑛𝑑</m:t>
                    </m:r>
                    <m:r>
                      <a:rPr lang="en-AU" b="0" i="1" smtClean="0">
                        <a:latin typeface="Cambria Math"/>
                      </a:rPr>
                      <m:t> </m:t>
                    </m:r>
                    <m:r>
                      <a:rPr lang="en-AU" b="0" i="1" smtClean="0">
                        <a:latin typeface="Cambria Math"/>
                      </a:rPr>
                      <m:t>𝑂</m:t>
                    </m:r>
                    <m:sSup>
                      <m:sSupPr>
                        <m:ctrlPr>
                          <a:rPr lang="en-AU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𝐻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−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 </m:t>
                    </m:r>
                    <m:r>
                      <a:rPr lang="en-AU" b="0" i="1" smtClean="0">
                        <a:latin typeface="Cambria Math"/>
                      </a:rPr>
                      <m:t>𝑖𝑜𝑛𝑠</m:t>
                    </m:r>
                    <m:r>
                      <a:rPr lang="en-AU" b="0" i="1" smtClean="0">
                        <a:latin typeface="Cambria Math"/>
                      </a:rPr>
                      <m:t> </m:t>
                    </m:r>
                    <m:r>
                      <a:rPr lang="en-AU" b="0" i="1" smtClean="0">
                        <a:latin typeface="Cambria Math"/>
                      </a:rPr>
                      <m:t>𝑟𝑒𝑎𝑐𝑡</m:t>
                    </m:r>
                    <m:r>
                      <a:rPr lang="en-AU" b="0" i="1" smtClean="0">
                        <a:latin typeface="Cambria Math"/>
                      </a:rPr>
                      <m:t> , </m:t>
                    </m:r>
                    <m:r>
                      <a:rPr lang="en-AU" b="0" i="1" smtClean="0">
                        <a:latin typeface="Cambria Math"/>
                      </a:rPr>
                      <m:t>𝑟𝑒𝑠𝑢𝑙𝑡𝑎𝑛𝑡</m:t>
                    </m:r>
                    <m:r>
                      <a:rPr lang="en-AU" b="0" i="1" smtClean="0">
                        <a:latin typeface="Cambria Math"/>
                      </a:rPr>
                      <m:t> </m:t>
                    </m:r>
                  </m:oMath>
                </a14:m>
                <a:endParaRPr lang="en-AU" b="0" i="1" dirty="0" smtClean="0">
                  <a:latin typeface="Cambria Math"/>
                </a:endParaRPr>
              </a:p>
              <a:p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𝑠𝑜𝑙𝑢𝑡𝑖𝑜𝑛</m:t>
                    </m:r>
                    <m:r>
                      <a:rPr lang="en-AU" b="0" i="1" smtClean="0">
                        <a:latin typeface="Cambria Math"/>
                      </a:rPr>
                      <m:t> </m:t>
                    </m:r>
                    <m:r>
                      <a:rPr lang="en-AU" b="0" i="1" smtClean="0">
                        <a:latin typeface="Cambria Math"/>
                      </a:rPr>
                      <m:t>𝑠h𝑜𝑢𝑙𝑑</m:t>
                    </m:r>
                    <m:r>
                      <a:rPr lang="en-AU" b="0" i="1" smtClean="0">
                        <a:latin typeface="Cambria Math"/>
                      </a:rPr>
                      <m:t> </m:t>
                    </m:r>
                    <m:r>
                      <a:rPr lang="en-AU" b="0" i="1" smtClean="0">
                        <a:latin typeface="Cambria Math"/>
                      </a:rPr>
                      <m:t>𝑏𝑒</m:t>
                    </m:r>
                    <m:r>
                      <a:rPr lang="en-AU" b="0" i="1" smtClean="0">
                        <a:latin typeface="Cambria Math"/>
                      </a:rPr>
                      <m:t> </m:t>
                    </m:r>
                    <m:r>
                      <a:rPr lang="en-AU" b="0" i="1" smtClean="0">
                        <a:latin typeface="Cambria Math"/>
                      </a:rPr>
                      <m:t>𝑛𝑒𝑢𝑡𝑟𝑎𝑙</m:t>
                    </m:r>
                    <m:r>
                      <a:rPr lang="en-AU" b="0" i="1" smtClean="0">
                        <a:latin typeface="Cambria Math"/>
                      </a:rPr>
                      <m:t>. </m:t>
                    </m:r>
                  </m:oMath>
                </a14:m>
                <a:endParaRPr lang="en-AU" b="0" dirty="0" smtClean="0"/>
              </a:p>
              <a:p>
                <a:endParaRPr lang="en-AU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t="-165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43231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AU" dirty="0" smtClean="0"/>
                  <a:t>At pH 7 , concentration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𝐻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AU" dirty="0" smtClean="0"/>
                  <a:t>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10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−7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 </m:t>
                    </m:r>
                    <m:r>
                      <a:rPr lang="en-AU" b="0" i="1" smtClean="0">
                        <a:latin typeface="Cambria Math"/>
                      </a:rPr>
                      <m:t>𝑚𝑜𝑙</m:t>
                    </m:r>
                    <m:sSup>
                      <m:sSupPr>
                        <m:ctrlPr>
                          <a:rPr lang="en-AU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𝐿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−1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, </m:t>
                    </m:r>
                    <m:r>
                      <a:rPr lang="en-AU" b="0" i="1" smtClean="0">
                        <a:latin typeface="Cambria Math"/>
                      </a:rPr>
                      <m:t>𝑠𝑜</m:t>
                    </m:r>
                    <m:r>
                      <a:rPr lang="en-AU" b="0" i="1" smtClean="0">
                        <a:latin typeface="Cambria Math"/>
                      </a:rPr>
                      <m:t> </m:t>
                    </m:r>
                    <m:r>
                      <a:rPr lang="en-AU" b="0" i="1" smtClean="0">
                        <a:latin typeface="Cambria Math"/>
                      </a:rPr>
                      <m:t>𝑡h𝑒</m:t>
                    </m:r>
                    <m:r>
                      <a:rPr lang="en-AU" b="0" i="1" smtClean="0">
                        <a:latin typeface="Cambria Math"/>
                      </a:rPr>
                      <m:t> </m:t>
                    </m:r>
                    <m:r>
                      <a:rPr lang="en-AU" b="0" i="1" smtClean="0">
                        <a:latin typeface="Cambria Math"/>
                      </a:rPr>
                      <m:t>𝑐𝑜𝑛𝑐𝑒𝑛𝑡𝑎𝑟𝑡𝑖𝑜𝑛</m:t>
                    </m:r>
                    <m:r>
                      <a:rPr lang="en-AU" b="0" i="1" smtClean="0">
                        <a:latin typeface="Cambria Math"/>
                      </a:rPr>
                      <m:t> </m:t>
                    </m:r>
                    <m:r>
                      <a:rPr lang="en-AU" b="0" i="1" smtClean="0">
                        <a:latin typeface="Cambria Math"/>
                      </a:rPr>
                      <m:t>𝑜𝑓</m:t>
                    </m:r>
                    <m:r>
                      <a:rPr lang="en-AU" b="0" i="1" smtClean="0">
                        <a:latin typeface="Cambria Math"/>
                      </a:rPr>
                      <m:t> </m:t>
                    </m:r>
                  </m:oMath>
                </a14:m>
                <a:endParaRPr lang="en-AU" b="0" i="1" dirty="0" smtClean="0">
                  <a:latin typeface="Cambria Math"/>
                </a:endParaRPr>
              </a:p>
              <a:p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𝑂</m:t>
                    </m:r>
                    <m:sSup>
                      <m:sSupPr>
                        <m:ctrlPr>
                          <a:rPr lang="en-AU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𝐻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−1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 </m:t>
                    </m:r>
                  </m:oMath>
                </a14:m>
                <a:r>
                  <a:rPr lang="en-AU" dirty="0" smtClean="0"/>
                  <a:t>must also be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10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−7</m:t>
                        </m:r>
                      </m:sup>
                    </m:sSup>
                    <m:r>
                      <a:rPr lang="en-AU" i="1">
                        <a:latin typeface="Cambria Math"/>
                      </a:rPr>
                      <m:t> </m:t>
                    </m:r>
                    <m:r>
                      <a:rPr lang="en-AU" i="1">
                        <a:latin typeface="Cambria Math"/>
                      </a:rPr>
                      <m:t>𝑚𝑜𝑙</m:t>
                    </m:r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𝐿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−1</m:t>
                        </m:r>
                      </m:sup>
                    </m:sSup>
                    <m:r>
                      <a:rPr lang="en-AU" b="0" i="0" smtClean="0">
                        <a:latin typeface="Cambria Math"/>
                      </a:rPr>
                      <m:t>.</m:t>
                    </m:r>
                  </m:oMath>
                </a14:m>
                <a:endParaRPr lang="en-AU" b="0" dirty="0" smtClean="0"/>
              </a:p>
              <a:p>
                <a:endParaRPr lang="en-AU" dirty="0" smtClean="0"/>
              </a:p>
              <a:p>
                <a:r>
                  <a:rPr lang="en-AU" dirty="0" smtClean="0"/>
                  <a:t>See table C 7.3 in page 325</a:t>
                </a:r>
              </a:p>
              <a:p>
                <a:r>
                  <a:rPr lang="en-AU" dirty="0" smtClean="0">
                    <a:solidFill>
                      <a:srgbClr val="7030A0"/>
                    </a:solidFill>
                  </a:rPr>
                  <a:t>As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solidFill>
                              <a:srgbClr val="7030A0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solidFill>
                              <a:srgbClr val="7030A0"/>
                            </a:solidFill>
                            <a:latin typeface="Cambria Math"/>
                          </a:rPr>
                          <m:t>𝐻</m:t>
                        </m:r>
                      </m:e>
                      <m:sup>
                        <m:r>
                          <a:rPr lang="en-AU" i="1">
                            <a:solidFill>
                              <a:srgbClr val="7030A0"/>
                            </a:solidFill>
                            <a:latin typeface="Cambria Math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AU" dirty="0">
                    <a:solidFill>
                      <a:srgbClr val="7030A0"/>
                    </a:solidFill>
                  </a:rPr>
                  <a:t> </a:t>
                </a:r>
                <a:r>
                  <a:rPr lang="en-AU" dirty="0" smtClean="0">
                    <a:solidFill>
                      <a:srgbClr val="7030A0"/>
                    </a:solidFill>
                  </a:rPr>
                  <a:t> ion concentration decreases, the </a:t>
                </a:r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7030A0"/>
                        </a:solidFill>
                        <a:latin typeface="Cambria Math"/>
                      </a:rPr>
                      <m:t>𝑂</m:t>
                    </m:r>
                    <m:sSup>
                      <m:sSupPr>
                        <m:ctrlPr>
                          <a:rPr lang="en-AU" i="1">
                            <a:solidFill>
                              <a:srgbClr val="7030A0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solidFill>
                              <a:srgbClr val="7030A0"/>
                            </a:solidFill>
                            <a:latin typeface="Cambria Math"/>
                          </a:rPr>
                          <m:t>𝐻</m:t>
                        </m:r>
                      </m:e>
                      <m:sup>
                        <m:r>
                          <a:rPr lang="en-AU" i="1">
                            <a:solidFill>
                              <a:srgbClr val="7030A0"/>
                            </a:solidFill>
                            <a:latin typeface="Cambria Math"/>
                          </a:rPr>
                          <m:t>−</m:t>
                        </m:r>
                      </m:sup>
                    </m:sSup>
                  </m:oMath>
                </a14:m>
                <a:r>
                  <a:rPr lang="en-AU" dirty="0" smtClean="0">
                    <a:solidFill>
                      <a:srgbClr val="7030A0"/>
                    </a:solidFill>
                  </a:rPr>
                  <a:t>concentration increases. The concentration superscripts always add to 14. </a:t>
                </a:r>
                <a:endParaRPr lang="en-AU" dirty="0">
                  <a:solidFill>
                    <a:srgbClr val="7030A0"/>
                  </a:solidFill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t="-1652" r="-650" b="-381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2389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Measuring pH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Some synthetic indicators are methyl violet, methyl orange, litmus, </a:t>
            </a:r>
            <a:r>
              <a:rPr lang="en-AU" dirty="0" err="1" smtClean="0"/>
              <a:t>bromothymol</a:t>
            </a:r>
            <a:r>
              <a:rPr lang="en-AU" dirty="0" smtClean="0"/>
              <a:t> blue and phenolphthalein. </a:t>
            </a:r>
          </a:p>
          <a:p>
            <a:endParaRPr lang="en-AU" dirty="0"/>
          </a:p>
          <a:p>
            <a:r>
              <a:rPr lang="en-AU" dirty="0" smtClean="0"/>
              <a:t>Chemists have developed a universal indicator that produces several colour changes depending on the pH of the solution. It is a mixture of several indicators.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13337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4" name="Content Placeholder 3" descr="http://www.precisionnutrition.com/wordpress/wp-content/uploads/2008/12/ph-indicator-chart.jpg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1268760"/>
            <a:ext cx="5904656" cy="453650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03264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6" name="Picture 5" descr="http://secure.starssuite.com/files/MSPS/MSPS_14L_pH2.jp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2624" y="2257424"/>
            <a:ext cx="6651823" cy="347583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94049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Austin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82</TotalTime>
  <Words>457</Words>
  <Application>Microsoft Office PowerPoint</Application>
  <PresentationFormat>On-screen Show (4:3)</PresentationFormat>
  <Paragraphs>26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Solstice</vt:lpstr>
      <vt:lpstr>Chapter : 7.5 </vt:lpstr>
      <vt:lpstr>PowerPoint Presentation</vt:lpstr>
      <vt:lpstr>The pH scale</vt:lpstr>
      <vt:lpstr>PowerPoint Presentation</vt:lpstr>
      <vt:lpstr>PowerPoint Presentation</vt:lpstr>
      <vt:lpstr>PowerPoint Presentation</vt:lpstr>
      <vt:lpstr>PowerPoint Presentation</vt:lpstr>
      <vt:lpstr>Measuring pH</vt:lpstr>
      <vt:lpstr>PowerPoint Presentation</vt:lpstr>
      <vt:lpstr>PowerPoint Presentation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: 7.5</dc:title>
  <dc:creator>Jijy</dc:creator>
  <cp:lastModifiedBy>Jijy</cp:lastModifiedBy>
  <cp:revision>11</cp:revision>
  <dcterms:created xsi:type="dcterms:W3CDTF">2015-09-06T10:30:00Z</dcterms:created>
  <dcterms:modified xsi:type="dcterms:W3CDTF">2015-09-06T11:52:19Z</dcterms:modified>
</cp:coreProperties>
</file>
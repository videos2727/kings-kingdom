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72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7400998-4423-4703-94CA-4BAE9E475502}" type="datetimeFigureOut">
              <a:rPr lang="en-AU" smtClean="0"/>
              <a:t>30/08/2017</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3C5BCE51-CBE3-4DDB-A38A-6F46BD23340B}"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30/08/2017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7400998-4423-4703-94CA-4BAE9E475502}" type="datetimeFigureOut">
              <a:rPr lang="en-AU" smtClean="0"/>
              <a:t>30/08/2017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400998-4423-4703-94CA-4BAE9E475502}" type="datetimeFigureOut">
              <a:rPr lang="en-AU" smtClean="0"/>
              <a:t>30/08/2017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7400998-4423-4703-94CA-4BAE9E475502}" type="datetimeFigureOut">
              <a:rPr lang="en-AU" smtClean="0"/>
              <a:t>30/08/2017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7400998-4423-4703-94CA-4BAE9E475502}" type="datetimeFigureOut">
              <a:rPr lang="en-AU" smtClean="0"/>
              <a:t>30/08/2017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400998-4423-4703-94CA-4BAE9E475502}" type="datetimeFigureOut">
              <a:rPr lang="en-AU" smtClean="0"/>
              <a:t>30/08/2017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400998-4423-4703-94CA-4BAE9E475502}" type="datetimeFigureOut">
              <a:rPr lang="en-AU" smtClean="0"/>
              <a:t>30/08/2017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7400998-4423-4703-94CA-4BAE9E475502}" type="datetimeFigureOut">
              <a:rPr lang="en-AU" smtClean="0"/>
              <a:t>30/08/2017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3C5BCE51-CBE3-4DDB-A38A-6F46BD23340B}"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30/08/2017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30/08/2017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7400998-4423-4703-94CA-4BAE9E475502}" type="datetimeFigureOut">
              <a:rPr lang="en-AU" smtClean="0"/>
              <a:t>30/08/2017</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C5BCE51-CBE3-4DDB-A38A-6F46BD23340B}"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8.4</a:t>
            </a:r>
            <a:endParaRPr lang="en-AU" dirty="0"/>
          </a:p>
        </p:txBody>
      </p:sp>
      <p:sp>
        <p:nvSpPr>
          <p:cNvPr id="3" name="Subtitle 2"/>
          <p:cNvSpPr>
            <a:spLocks noGrp="1"/>
          </p:cNvSpPr>
          <p:nvPr>
            <p:ph type="subTitle" idx="1"/>
          </p:nvPr>
        </p:nvSpPr>
        <p:spPr/>
        <p:txBody>
          <a:bodyPr/>
          <a:lstStyle/>
          <a:p>
            <a:r>
              <a:rPr lang="en-AU" dirty="0" smtClean="0"/>
              <a:t>Avogadro’s hypothesis and molar volumes</a:t>
            </a:r>
            <a:endParaRPr lang="en-AU" dirty="0"/>
          </a:p>
        </p:txBody>
      </p:sp>
    </p:spTree>
    <p:extLst>
      <p:ext uri="{BB962C8B-B14F-4D97-AF65-F5344CB8AC3E}">
        <p14:creationId xmlns:p14="http://schemas.microsoft.com/office/powerpoint/2010/main" val="2489357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In 1811, </a:t>
            </a:r>
            <a:r>
              <a:rPr lang="en-AU" dirty="0" err="1" smtClean="0"/>
              <a:t>Amadeo</a:t>
            </a:r>
            <a:r>
              <a:rPr lang="en-AU" dirty="0" smtClean="0"/>
              <a:t> Avogadro attempted to show how the volume of a gas was related to the amount of gas present. </a:t>
            </a:r>
          </a:p>
          <a:p>
            <a:endParaRPr lang="en-AU" dirty="0"/>
          </a:p>
          <a:p>
            <a:r>
              <a:rPr lang="en-AU" dirty="0" smtClean="0">
                <a:solidFill>
                  <a:srgbClr val="0070C0"/>
                </a:solidFill>
              </a:rPr>
              <a:t>Avogadro’s hypothesis states that equal volumes of any gas, measured at the same temperature and pressure, contain the same number of particles. </a:t>
            </a:r>
            <a:endParaRPr lang="en-AU" dirty="0">
              <a:solidFill>
                <a:srgbClr val="0070C0"/>
              </a:solidFill>
            </a:endParaRPr>
          </a:p>
        </p:txBody>
      </p:sp>
    </p:spTree>
    <p:extLst>
      <p:ext uri="{BB962C8B-B14F-4D97-AF65-F5344CB8AC3E}">
        <p14:creationId xmlns:p14="http://schemas.microsoft.com/office/powerpoint/2010/main" val="34753976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No matter what the gas is, the total number of particles would be the same under the same conditions. So, provided the temperature and pressure are the same, 1L of hydrogen has the same number of particles as 1L of helium. </a:t>
            </a:r>
          </a:p>
          <a:p>
            <a:endParaRPr lang="en-AU" dirty="0"/>
          </a:p>
          <a:p>
            <a:r>
              <a:rPr lang="en-AU" dirty="0" smtClean="0"/>
              <a:t>If the number of particles were doubled, then the volume would double. </a:t>
            </a:r>
            <a:endParaRPr lang="en-AU" dirty="0"/>
          </a:p>
        </p:txBody>
      </p:sp>
    </p:spTree>
    <p:extLst>
      <p:ext uri="{BB962C8B-B14F-4D97-AF65-F5344CB8AC3E}">
        <p14:creationId xmlns:p14="http://schemas.microsoft.com/office/powerpoint/2010/main" val="1811367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Molar volume</a:t>
            </a:r>
            <a:endParaRPr lang="en-AU" dirty="0"/>
          </a:p>
        </p:txBody>
      </p:sp>
      <p:sp>
        <p:nvSpPr>
          <p:cNvPr id="3" name="Content Placeholder 2"/>
          <p:cNvSpPr>
            <a:spLocks noGrp="1"/>
          </p:cNvSpPr>
          <p:nvPr>
            <p:ph idx="1"/>
          </p:nvPr>
        </p:nvSpPr>
        <p:spPr/>
        <p:txBody>
          <a:bodyPr/>
          <a:lstStyle/>
          <a:p>
            <a:r>
              <a:rPr lang="en-AU" dirty="0" smtClean="0"/>
              <a:t>A mole is defined as a fixed number of particles </a:t>
            </a:r>
          </a:p>
          <a:p>
            <a:r>
              <a:rPr lang="en-AU" dirty="0" smtClean="0"/>
              <a:t>( Avogadro’s constant, 6.02X 10</a:t>
            </a:r>
            <a:r>
              <a:rPr lang="en-AU" baseline="30000" dirty="0" smtClean="0"/>
              <a:t>23</a:t>
            </a:r>
            <a:r>
              <a:rPr lang="en-AU" dirty="0"/>
              <a:t> </a:t>
            </a:r>
            <a:r>
              <a:rPr lang="en-AU" dirty="0" smtClean="0"/>
              <a:t>, so it follows that equal volumes of different gases, measured at the same temperature and pressure contain the same number of moles. This is called </a:t>
            </a:r>
            <a:r>
              <a:rPr lang="en-AU" dirty="0" smtClean="0">
                <a:solidFill>
                  <a:srgbClr val="0070C0"/>
                </a:solidFill>
              </a:rPr>
              <a:t>molar volume of a gas. </a:t>
            </a:r>
          </a:p>
          <a:p>
            <a:endParaRPr lang="en-AU" dirty="0">
              <a:solidFill>
                <a:srgbClr val="0070C0"/>
              </a:solidFill>
            </a:endParaRPr>
          </a:p>
          <a:p>
            <a:r>
              <a:rPr lang="en-AU" dirty="0" smtClean="0">
                <a:solidFill>
                  <a:srgbClr val="C00000"/>
                </a:solidFill>
              </a:rPr>
              <a:t>At standard temperature and pressure (0</a:t>
            </a:r>
            <a:r>
              <a:rPr lang="en-AU" baseline="30000" dirty="0" smtClean="0">
                <a:solidFill>
                  <a:srgbClr val="C00000"/>
                </a:solidFill>
              </a:rPr>
              <a:t>0</a:t>
            </a:r>
            <a:r>
              <a:rPr lang="en-AU" dirty="0" smtClean="0">
                <a:solidFill>
                  <a:srgbClr val="C00000"/>
                </a:solidFill>
              </a:rPr>
              <a:t>C and 100 </a:t>
            </a:r>
            <a:r>
              <a:rPr lang="en-AU" dirty="0" err="1" smtClean="0">
                <a:solidFill>
                  <a:srgbClr val="C00000"/>
                </a:solidFill>
              </a:rPr>
              <a:t>kPa</a:t>
            </a:r>
            <a:r>
              <a:rPr lang="en-AU" dirty="0" smtClean="0">
                <a:solidFill>
                  <a:srgbClr val="C00000"/>
                </a:solidFill>
              </a:rPr>
              <a:t>) the molar volume of a gas is 22.71 L.</a:t>
            </a:r>
            <a:endParaRPr lang="en-AU" dirty="0">
              <a:solidFill>
                <a:srgbClr val="C00000"/>
              </a:solidFill>
            </a:endParaRPr>
          </a:p>
          <a:p>
            <a:endParaRPr lang="en-AU" dirty="0" smtClean="0">
              <a:solidFill>
                <a:srgbClr val="C00000"/>
              </a:solidFill>
            </a:endParaRPr>
          </a:p>
          <a:p>
            <a:endParaRPr lang="en-AU" dirty="0">
              <a:solidFill>
                <a:srgbClr val="0070C0"/>
              </a:solidFill>
            </a:endParaRPr>
          </a:p>
          <a:p>
            <a:endParaRPr lang="en-AU" dirty="0">
              <a:solidFill>
                <a:srgbClr val="0070C0"/>
              </a:solidFill>
            </a:endParaRPr>
          </a:p>
        </p:txBody>
      </p:sp>
    </p:spTree>
    <p:extLst>
      <p:ext uri="{BB962C8B-B14F-4D97-AF65-F5344CB8AC3E}">
        <p14:creationId xmlns:p14="http://schemas.microsoft.com/office/powerpoint/2010/main" val="1925951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At standard laboratory conditions ( 25</a:t>
            </a:r>
            <a:r>
              <a:rPr lang="en-AU" baseline="30000" dirty="0" smtClean="0"/>
              <a:t>0</a:t>
            </a:r>
            <a:r>
              <a:rPr lang="en-AU" dirty="0" smtClean="0"/>
              <a:t>C and 100kPa) the molar volume of a gas is 24.79L.</a:t>
            </a:r>
          </a:p>
          <a:p>
            <a:r>
              <a:rPr lang="en-AU" dirty="0" smtClean="0"/>
              <a:t>The relationship between number of moles and volume of a gas can be expressed as: </a:t>
            </a:r>
          </a:p>
          <a:p>
            <a:endParaRPr lang="en-AU" dirty="0" smtClean="0"/>
          </a:p>
          <a:p>
            <a:r>
              <a:rPr lang="en-AU" dirty="0" smtClean="0"/>
              <a:t>Number of moles of gas= </a:t>
            </a:r>
            <a:r>
              <a:rPr lang="en-AU" sz="2400" u="sng" dirty="0" smtClean="0"/>
              <a:t>volume of gas at STP</a:t>
            </a:r>
            <a:endParaRPr lang="en-AU" sz="2400" dirty="0"/>
          </a:p>
          <a:p>
            <a:r>
              <a:rPr lang="en-AU" dirty="0" smtClean="0"/>
              <a:t>                                         </a:t>
            </a:r>
            <a:r>
              <a:rPr lang="en-AU" sz="2000" dirty="0" smtClean="0"/>
              <a:t>volume of one mole of gas at STP</a:t>
            </a:r>
          </a:p>
          <a:p>
            <a:r>
              <a:rPr lang="en-AU" sz="2000" i="1" dirty="0" smtClean="0">
                <a:solidFill>
                  <a:srgbClr val="C00000"/>
                </a:solidFill>
              </a:rPr>
              <a:t>n</a:t>
            </a:r>
            <a:r>
              <a:rPr lang="en-AU" sz="2000" dirty="0" smtClean="0">
                <a:solidFill>
                  <a:srgbClr val="C00000"/>
                </a:solidFill>
              </a:rPr>
              <a:t>= </a:t>
            </a:r>
            <a:r>
              <a:rPr lang="en-AU" sz="2000" i="1" dirty="0" smtClean="0">
                <a:solidFill>
                  <a:srgbClr val="C00000"/>
                </a:solidFill>
              </a:rPr>
              <a:t>V</a:t>
            </a:r>
            <a:r>
              <a:rPr lang="en-AU" sz="2000" dirty="0" smtClean="0">
                <a:solidFill>
                  <a:srgbClr val="C00000"/>
                </a:solidFill>
              </a:rPr>
              <a:t>/ 22.71</a:t>
            </a:r>
          </a:p>
          <a:p>
            <a:r>
              <a:rPr lang="en-AU" sz="2000" dirty="0" smtClean="0">
                <a:solidFill>
                  <a:srgbClr val="C00000"/>
                </a:solidFill>
              </a:rPr>
              <a:t>Where “n” is the number of moles and “</a:t>
            </a:r>
            <a:r>
              <a:rPr lang="en-AU" sz="2000" i="1" dirty="0" smtClean="0">
                <a:solidFill>
                  <a:srgbClr val="C00000"/>
                </a:solidFill>
              </a:rPr>
              <a:t>V” </a:t>
            </a:r>
            <a:r>
              <a:rPr lang="en-AU" sz="2000" dirty="0" smtClean="0">
                <a:solidFill>
                  <a:srgbClr val="C00000"/>
                </a:solidFill>
              </a:rPr>
              <a:t>is the volume of gas (L) at STP. </a:t>
            </a:r>
            <a:endParaRPr lang="en-AU" sz="2000" dirty="0">
              <a:solidFill>
                <a:srgbClr val="C00000"/>
              </a:solidFill>
            </a:endParaRPr>
          </a:p>
          <a:p>
            <a:endParaRPr lang="en-AU" sz="2000" dirty="0"/>
          </a:p>
        </p:txBody>
      </p:sp>
    </p:spTree>
    <p:extLst>
      <p:ext uri="{BB962C8B-B14F-4D97-AF65-F5344CB8AC3E}">
        <p14:creationId xmlns:p14="http://schemas.microsoft.com/office/powerpoint/2010/main" val="16857690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Check worked example in page: 356 NC</a:t>
            </a:r>
          </a:p>
          <a:p>
            <a:endParaRPr lang="en-AU" dirty="0"/>
          </a:p>
          <a:p>
            <a:endParaRPr lang="en-AU" dirty="0"/>
          </a:p>
        </p:txBody>
      </p:sp>
    </p:spTree>
    <p:extLst>
      <p:ext uri="{BB962C8B-B14F-4D97-AF65-F5344CB8AC3E}">
        <p14:creationId xmlns:p14="http://schemas.microsoft.com/office/powerpoint/2010/main" val="34005902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general gas equation</a:t>
            </a:r>
            <a:endParaRPr lang="en-AU" dirty="0"/>
          </a:p>
        </p:txBody>
      </p:sp>
      <p:sp>
        <p:nvSpPr>
          <p:cNvPr id="3" name="Content Placeholder 2"/>
          <p:cNvSpPr>
            <a:spLocks noGrp="1"/>
          </p:cNvSpPr>
          <p:nvPr>
            <p:ph idx="1"/>
          </p:nvPr>
        </p:nvSpPr>
        <p:spPr/>
        <p:txBody>
          <a:bodyPr>
            <a:normAutofit fontScale="92500"/>
          </a:bodyPr>
          <a:lstStyle/>
          <a:p>
            <a:r>
              <a:rPr lang="en-AU" dirty="0" smtClean="0"/>
              <a:t>If Boyle’s and Charles’ laws are combined with Avogadro’s hypothesis, the resulting relationship, called the general gas equation, includes all conditions as variables. </a:t>
            </a:r>
          </a:p>
          <a:p>
            <a:r>
              <a:rPr lang="en-AU" dirty="0" smtClean="0"/>
              <a:t>The general gas equation can be called as the ideal gas equation and the universal gas equation. It provides a relationship between pressure, volume, temperature and the amount of gas:</a:t>
            </a:r>
          </a:p>
          <a:p>
            <a:r>
              <a:rPr lang="en-AU" i="1" dirty="0" smtClean="0"/>
              <a:t>PV= </a:t>
            </a:r>
            <a:r>
              <a:rPr lang="en-AU" i="1" dirty="0" err="1" smtClean="0"/>
              <a:t>nRT</a:t>
            </a:r>
            <a:r>
              <a:rPr lang="en-AU" i="1" dirty="0" smtClean="0"/>
              <a:t> </a:t>
            </a:r>
            <a:r>
              <a:rPr lang="en-AU" dirty="0" smtClean="0"/>
              <a:t>where</a:t>
            </a:r>
            <a:r>
              <a:rPr lang="en-AU" i="1" dirty="0" smtClean="0"/>
              <a:t> </a:t>
            </a:r>
            <a:r>
              <a:rPr lang="en-AU" i="1" dirty="0" smtClean="0">
                <a:solidFill>
                  <a:srgbClr val="C00000"/>
                </a:solidFill>
              </a:rPr>
              <a:t>P</a:t>
            </a:r>
            <a:r>
              <a:rPr lang="en-AU" i="1" dirty="0" smtClean="0"/>
              <a:t> </a:t>
            </a:r>
            <a:r>
              <a:rPr lang="en-AU" dirty="0" smtClean="0"/>
              <a:t>is pressure in </a:t>
            </a:r>
            <a:r>
              <a:rPr lang="en-AU" dirty="0" err="1" smtClean="0">
                <a:solidFill>
                  <a:srgbClr val="C00000"/>
                </a:solidFill>
              </a:rPr>
              <a:t>kPa</a:t>
            </a:r>
            <a:r>
              <a:rPr lang="en-AU" i="1" dirty="0" smtClean="0"/>
              <a:t>, </a:t>
            </a:r>
            <a:r>
              <a:rPr lang="en-AU" i="1" dirty="0" smtClean="0">
                <a:solidFill>
                  <a:srgbClr val="C00000"/>
                </a:solidFill>
              </a:rPr>
              <a:t>V </a:t>
            </a:r>
            <a:r>
              <a:rPr lang="en-AU" dirty="0" smtClean="0"/>
              <a:t>is volume in </a:t>
            </a:r>
            <a:r>
              <a:rPr lang="en-AU" dirty="0" smtClean="0">
                <a:solidFill>
                  <a:srgbClr val="C00000"/>
                </a:solidFill>
              </a:rPr>
              <a:t>L</a:t>
            </a:r>
          </a:p>
          <a:p>
            <a:r>
              <a:rPr lang="en-AU" dirty="0" smtClean="0">
                <a:solidFill>
                  <a:srgbClr val="C00000"/>
                </a:solidFill>
              </a:rPr>
              <a:t>n </a:t>
            </a:r>
            <a:r>
              <a:rPr lang="en-AU" dirty="0" smtClean="0"/>
              <a:t>is the total number of moles of gas present, </a:t>
            </a:r>
            <a:r>
              <a:rPr lang="en-AU" i="1" dirty="0" smtClean="0">
                <a:solidFill>
                  <a:srgbClr val="C00000"/>
                </a:solidFill>
              </a:rPr>
              <a:t>R</a:t>
            </a:r>
            <a:r>
              <a:rPr lang="en-AU" dirty="0" smtClean="0"/>
              <a:t> is the </a:t>
            </a:r>
            <a:r>
              <a:rPr lang="en-AU" dirty="0" smtClean="0">
                <a:solidFill>
                  <a:srgbClr val="C00000"/>
                </a:solidFill>
              </a:rPr>
              <a:t>universal gas constant</a:t>
            </a:r>
            <a:r>
              <a:rPr lang="en-AU" dirty="0" smtClean="0"/>
              <a:t>= 8.31 JK</a:t>
            </a:r>
            <a:r>
              <a:rPr lang="en-AU" baseline="30000" dirty="0" smtClean="0"/>
              <a:t>-1</a:t>
            </a:r>
            <a:r>
              <a:rPr lang="en-AU" dirty="0" smtClean="0"/>
              <a:t>mol</a:t>
            </a:r>
            <a:r>
              <a:rPr lang="en-AU" baseline="30000" dirty="0" smtClean="0"/>
              <a:t>-1   </a:t>
            </a:r>
            <a:r>
              <a:rPr lang="en-AU" i="1" dirty="0" smtClean="0">
                <a:solidFill>
                  <a:srgbClr val="C00000"/>
                </a:solidFill>
              </a:rPr>
              <a:t>T</a:t>
            </a:r>
            <a:r>
              <a:rPr lang="en-AU" i="1" dirty="0" smtClean="0"/>
              <a:t> </a:t>
            </a:r>
            <a:r>
              <a:rPr lang="en-AU" dirty="0" smtClean="0"/>
              <a:t>is temperature in </a:t>
            </a:r>
            <a:r>
              <a:rPr lang="en-AU" dirty="0" smtClean="0">
                <a:solidFill>
                  <a:srgbClr val="C00000"/>
                </a:solidFill>
              </a:rPr>
              <a:t>K</a:t>
            </a:r>
            <a:r>
              <a:rPr lang="en-AU" dirty="0" smtClean="0"/>
              <a:t>.</a:t>
            </a:r>
            <a:endParaRPr lang="en-AU" dirty="0"/>
          </a:p>
          <a:p>
            <a:endParaRPr lang="en-AU" i="1" dirty="0"/>
          </a:p>
        </p:txBody>
      </p:sp>
    </p:spTree>
    <p:extLst>
      <p:ext uri="{BB962C8B-B14F-4D97-AF65-F5344CB8AC3E}">
        <p14:creationId xmlns:p14="http://schemas.microsoft.com/office/powerpoint/2010/main" val="21332362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885" t="55264" r="38230" b="38376"/>
          <a:stretch/>
        </p:blipFill>
        <p:spPr bwMode="auto">
          <a:xfrm>
            <a:off x="251520" y="2186082"/>
            <a:ext cx="8640960" cy="1391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45482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Regardless of the chemical formula and properties of different gases, the general gas equation describes the physical properties of all gases. The equation is called the </a:t>
            </a:r>
            <a:r>
              <a:rPr lang="en-AU" i="1" dirty="0" smtClean="0"/>
              <a:t>ideal</a:t>
            </a:r>
            <a:r>
              <a:rPr lang="en-AU" dirty="0" smtClean="0"/>
              <a:t> gas equation because real gases deviate slightly from it, particularly at high pressures and low temperatures, because the intermolecular forces between real gases come into play as the particles slow down and move closer together. </a:t>
            </a:r>
          </a:p>
          <a:p>
            <a:endParaRPr lang="en-AU" dirty="0"/>
          </a:p>
          <a:p>
            <a:r>
              <a:rPr lang="en-AU" dirty="0" smtClean="0"/>
              <a:t>The value of </a:t>
            </a:r>
            <a:r>
              <a:rPr lang="en-AU" dirty="0" smtClean="0">
                <a:solidFill>
                  <a:srgbClr val="C00000"/>
                </a:solidFill>
              </a:rPr>
              <a:t>R</a:t>
            </a:r>
            <a:r>
              <a:rPr lang="en-AU" dirty="0" smtClean="0"/>
              <a:t> is dependent on units. The value given in previous slide is based on an ST unit for pressure. </a:t>
            </a:r>
            <a:endParaRPr lang="en-AU" dirty="0"/>
          </a:p>
        </p:txBody>
      </p:sp>
    </p:spTree>
    <p:extLst>
      <p:ext uri="{BB962C8B-B14F-4D97-AF65-F5344CB8AC3E}">
        <p14:creationId xmlns:p14="http://schemas.microsoft.com/office/powerpoint/2010/main" val="1462957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193" t="68220" r="37613" b="15890"/>
          <a:stretch/>
        </p:blipFill>
        <p:spPr bwMode="auto">
          <a:xfrm>
            <a:off x="1" y="1988840"/>
            <a:ext cx="8964488"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7382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Check the worked example: 8.5 in NC: page: 358</a:t>
            </a:r>
          </a:p>
          <a:p>
            <a:endParaRPr lang="en-AU" dirty="0"/>
          </a:p>
          <a:p>
            <a:r>
              <a:rPr lang="en-AU" dirty="0" smtClean="0">
                <a:solidFill>
                  <a:srgbClr val="7030A0"/>
                </a:solidFill>
              </a:rPr>
              <a:t>Do Question set: 8.4 Page: 360 Q’s: 1,2, 4,6 and 9</a:t>
            </a:r>
            <a:endParaRPr lang="en-AU" dirty="0">
              <a:solidFill>
                <a:srgbClr val="7030A0"/>
              </a:solidFill>
            </a:endParaRPr>
          </a:p>
        </p:txBody>
      </p:sp>
    </p:spTree>
    <p:extLst>
      <p:ext uri="{BB962C8B-B14F-4D97-AF65-F5344CB8AC3E}">
        <p14:creationId xmlns:p14="http://schemas.microsoft.com/office/powerpoint/2010/main" val="375728522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101</TotalTime>
  <Words>505</Words>
  <Application>Microsoft Office PowerPoint</Application>
  <PresentationFormat>On-screen Show (4:3)</PresentationFormat>
  <Paragraphs>33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Flow</vt:lpstr>
      <vt:lpstr>Chapter: 8.4</vt:lpstr>
      <vt:lpstr>PowerPoint Presentation</vt:lpstr>
      <vt:lpstr>PowerPoint Presentation</vt:lpstr>
      <vt:lpstr>Molar volume</vt:lpstr>
      <vt:lpstr>PowerPoint Presentation</vt:lpstr>
      <vt:lpstr>PowerPoint Presentation</vt:lpstr>
      <vt:lpstr>The general gas equation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8.4</dc:title>
  <dc:creator>Jijy D'cruz</dc:creator>
  <cp:lastModifiedBy>Jijy</cp:lastModifiedBy>
  <cp:revision>13</cp:revision>
  <dcterms:created xsi:type="dcterms:W3CDTF">2017-08-28T12:17:40Z</dcterms:created>
  <dcterms:modified xsi:type="dcterms:W3CDTF">2017-08-30T12:43:05Z</dcterms:modified>
</cp:coreProperties>
</file>
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6" r:id="rId1"/>
  </p:sldMasterIdLst>
  <p:notesMasterIdLst>
    <p:notesMasterId r:id="rId23"/>
  </p:notesMasterIdLst>
  <p:sldIdLst>
    <p:sldId id="256" r:id="rId2"/>
    <p:sldId id="278" r:id="rId3"/>
    <p:sldId id="257" r:id="rId4"/>
    <p:sldId id="275" r:id="rId5"/>
    <p:sldId id="259" r:id="rId6"/>
    <p:sldId id="260" r:id="rId7"/>
    <p:sldId id="261" r:id="rId8"/>
    <p:sldId id="276" r:id="rId9"/>
    <p:sldId id="262" r:id="rId10"/>
    <p:sldId id="263" r:id="rId11"/>
    <p:sldId id="264" r:id="rId12"/>
    <p:sldId id="266" r:id="rId13"/>
    <p:sldId id="267" r:id="rId14"/>
    <p:sldId id="265" r:id="rId15"/>
    <p:sldId id="268" r:id="rId16"/>
    <p:sldId id="269" r:id="rId17"/>
    <p:sldId id="271" r:id="rId18"/>
    <p:sldId id="272" r:id="rId19"/>
    <p:sldId id="273" r:id="rId20"/>
    <p:sldId id="274" r:id="rId21"/>
    <p:sldId id="277"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A289C-643C-459C-8DE9-B8E67820D2C5}" type="datetimeFigureOut">
              <a:rPr lang="en-AU" smtClean="0"/>
              <a:t>21/07/2019</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B80BC2-F5DC-45D8-9FEE-8B62A4AFC605}" type="slidenum">
              <a:rPr lang="en-AU" smtClean="0"/>
              <a:t>‹#›</a:t>
            </a:fld>
            <a:endParaRPr lang="en-AU"/>
          </a:p>
        </p:txBody>
      </p:sp>
    </p:spTree>
    <p:extLst>
      <p:ext uri="{BB962C8B-B14F-4D97-AF65-F5344CB8AC3E}">
        <p14:creationId xmlns:p14="http://schemas.microsoft.com/office/powerpoint/2010/main" val="2645249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ADB80BC2-F5DC-45D8-9FEE-8B62A4AFC605}" type="slidenum">
              <a:rPr lang="en-AU" smtClean="0"/>
              <a:t>4</a:t>
            </a:fld>
            <a:endParaRPr lang="en-AU"/>
          </a:p>
        </p:txBody>
      </p:sp>
    </p:spTree>
    <p:extLst>
      <p:ext uri="{BB962C8B-B14F-4D97-AF65-F5344CB8AC3E}">
        <p14:creationId xmlns:p14="http://schemas.microsoft.com/office/powerpoint/2010/main" val="2001095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2063115" y="630937"/>
            <a:ext cx="5230368"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808892" y="1098388"/>
            <a:ext cx="7738814" cy="4394988"/>
          </a:xfrm>
        </p:spPr>
        <p:txBody>
          <a:bodyPr anchor="ctr">
            <a:noAutofit/>
          </a:bodyPr>
          <a:lstStyle>
            <a:lvl1pPr algn="ctr">
              <a:defRPr sz="7500" spc="600" baseline="0"/>
            </a:lvl1pPr>
          </a:lstStyle>
          <a:p>
            <a:r>
              <a:rPr lang="en-US" smtClean="0"/>
              <a:t>Click to edit Master title style</a:t>
            </a:r>
            <a:endParaRPr lang="en-US" dirty="0"/>
          </a:p>
        </p:txBody>
      </p:sp>
      <p:sp>
        <p:nvSpPr>
          <p:cNvPr id="3" name="Subtitle 2"/>
          <p:cNvSpPr>
            <a:spLocks noGrp="1"/>
          </p:cNvSpPr>
          <p:nvPr>
            <p:ph type="subTitle" idx="1"/>
          </p:nvPr>
        </p:nvSpPr>
        <p:spPr>
          <a:xfrm>
            <a:off x="1661284" y="5979197"/>
            <a:ext cx="6034030" cy="742279"/>
          </a:xfrm>
        </p:spPr>
        <p:txBody>
          <a:bodyPr anchor="t">
            <a:normAutofit/>
          </a:bodyPr>
          <a:lstStyle>
            <a:lvl1pPr marL="0" indent="0" algn="ctr">
              <a:lnSpc>
                <a:spcPct val="100000"/>
              </a:lnSpc>
              <a:buNone/>
              <a:defRPr sz="1500" b="1" i="0" cap="all" spc="300" baseline="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808892" y="6375679"/>
            <a:ext cx="1747292" cy="348462"/>
          </a:xfrm>
        </p:spPr>
        <p:txBody>
          <a:bodyPr/>
          <a:lstStyle>
            <a:lvl1pPr>
              <a:defRPr baseline="0">
                <a:solidFill>
                  <a:schemeClr val="accent1">
                    <a:lumMod val="50000"/>
                  </a:schemeClr>
                </a:solidFill>
              </a:defRPr>
            </a:lvl1pPr>
          </a:lstStyle>
          <a:p>
            <a:fld id="{953DF329-BAB9-4EA5-AD83-52B756239714}" type="datetimeFigureOut">
              <a:rPr lang="en-AU" smtClean="0"/>
              <a:t>21/07/2019</a:t>
            </a:fld>
            <a:endParaRPr lang="en-AU"/>
          </a:p>
        </p:txBody>
      </p:sp>
      <p:sp>
        <p:nvSpPr>
          <p:cNvPr id="5" name="Footer Placeholder 4"/>
          <p:cNvSpPr>
            <a:spLocks noGrp="1"/>
          </p:cNvSpPr>
          <p:nvPr>
            <p:ph type="ftr" sz="quarter" idx="11"/>
          </p:nvPr>
        </p:nvSpPr>
        <p:spPr>
          <a:xfrm>
            <a:off x="3135249" y="6375679"/>
            <a:ext cx="3086100" cy="345796"/>
          </a:xfrm>
        </p:spPr>
        <p:txBody>
          <a:bodyPr/>
          <a:lstStyle>
            <a:lvl1pPr>
              <a:defRPr baseline="0">
                <a:solidFill>
                  <a:schemeClr val="accent1">
                    <a:lumMod val="50000"/>
                  </a:schemeClr>
                </a:solidFill>
              </a:defRPr>
            </a:lvl1pPr>
          </a:lstStyle>
          <a:p>
            <a:endParaRPr lang="en-AU"/>
          </a:p>
        </p:txBody>
      </p:sp>
      <p:sp>
        <p:nvSpPr>
          <p:cNvPr id="6" name="Slide Number Placeholder 5"/>
          <p:cNvSpPr>
            <a:spLocks noGrp="1"/>
          </p:cNvSpPr>
          <p:nvPr>
            <p:ph type="sldNum" sz="quarter" idx="12"/>
          </p:nvPr>
        </p:nvSpPr>
        <p:spPr>
          <a:xfrm>
            <a:off x="6800414" y="6375679"/>
            <a:ext cx="1747292" cy="345796"/>
          </a:xfrm>
        </p:spPr>
        <p:txBody>
          <a:bodyPr/>
          <a:lstStyle>
            <a:lvl1pPr>
              <a:defRPr baseline="0">
                <a:solidFill>
                  <a:schemeClr val="accent1">
                    <a:lumMod val="50000"/>
                  </a:schemeClr>
                </a:solidFill>
              </a:defRPr>
            </a:lvl1pPr>
          </a:lstStyle>
          <a:p>
            <a:fld id="{FA321ECB-DF4F-447D-A045-96C577A87748}" type="slidenum">
              <a:rPr lang="en-AU" smtClean="0"/>
              <a:t>‹#›</a:t>
            </a:fld>
            <a:endParaRPr lang="en-AU"/>
          </a:p>
        </p:txBody>
      </p:sp>
      <p:sp>
        <p:nvSpPr>
          <p:cNvPr id="13" name="Rectangle 12"/>
          <p:cNvSpPr/>
          <p:nvPr/>
        </p:nvSpPr>
        <p:spPr>
          <a:xfrm>
            <a:off x="0" y="0"/>
            <a:ext cx="21259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title="left edge border"/>
          <p:cNvSpPr/>
          <p:nvPr/>
        </p:nvSpPr>
        <p:spPr>
          <a:xfrm>
            <a:off x="0" y="0"/>
            <a:ext cx="21259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4244004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53DF329-BAB9-4EA5-AD83-52B756239714}" type="datetimeFigureOut">
              <a:rPr lang="en-AU" smtClean="0"/>
              <a:t>21/07/2019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321ECB-DF4F-447D-A045-96C577A87748}" type="slidenum">
              <a:rPr lang="en-AU" smtClean="0"/>
              <a:t>‹#›</a:t>
            </a:fld>
            <a:endParaRPr lang="en-AU"/>
          </a:p>
        </p:txBody>
      </p:sp>
    </p:spTree>
    <p:extLst>
      <p:ext uri="{BB962C8B-B14F-4D97-AF65-F5344CB8AC3E}">
        <p14:creationId xmlns:p14="http://schemas.microsoft.com/office/powerpoint/2010/main" val="3455412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1" name="Freeform 6"/>
          <p:cNvSpPr/>
          <p:nvPr/>
        </p:nvSpPr>
        <p:spPr bwMode="auto">
          <a:xfrm>
            <a:off x="0" y="0"/>
            <a:ext cx="2110979"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bg2"/>
          </a:solidFill>
          <a:ln w="0">
            <a:noFill/>
            <a:prstDash val="solid"/>
            <a:round/>
            <a:headEnd/>
            <a:tailEnd/>
          </a:ln>
        </p:spPr>
      </p:sp>
      <p:sp>
        <p:nvSpPr>
          <p:cNvPr id="2" name="Title 1"/>
          <p:cNvSpPr>
            <a:spLocks noGrp="1"/>
          </p:cNvSpPr>
          <p:nvPr>
            <p:ph type="title"/>
          </p:nvPr>
        </p:nvSpPr>
        <p:spPr>
          <a:xfrm>
            <a:off x="2432197" y="1073889"/>
            <a:ext cx="6140303" cy="4064627"/>
          </a:xfrm>
        </p:spPr>
        <p:txBody>
          <a:bodyPr anchor="b">
            <a:normAutofit/>
          </a:bodyPr>
          <a:lstStyle>
            <a:lvl1pPr>
              <a:defRPr sz="6300" spc="6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432198" y="5159782"/>
            <a:ext cx="5263116" cy="951135"/>
          </a:xfrm>
        </p:spPr>
        <p:txBody>
          <a:bodyPr>
            <a:normAutofit/>
          </a:bodyPr>
          <a:lstStyle>
            <a:lvl1pPr marL="0" indent="0">
              <a:lnSpc>
                <a:spcPct val="100000"/>
              </a:lnSpc>
              <a:buNone/>
              <a:defRPr sz="1500" b="1" i="0" cap="all" spc="300" baseline="0">
                <a:solidFill>
                  <a:schemeClr val="accent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2427410" y="6375679"/>
            <a:ext cx="1120460" cy="348462"/>
          </a:xfrm>
        </p:spPr>
        <p:txBody>
          <a:bodyPr/>
          <a:lstStyle>
            <a:lvl1pPr>
              <a:defRPr baseline="0">
                <a:solidFill>
                  <a:schemeClr val="tx2"/>
                </a:solidFill>
              </a:defRPr>
            </a:lvl1pPr>
          </a:lstStyle>
          <a:p>
            <a:fld id="{953DF329-BAB9-4EA5-AD83-52B756239714}" type="datetimeFigureOut">
              <a:rPr lang="en-AU" smtClean="0"/>
              <a:t>21/07/2019</a:t>
            </a:fld>
            <a:endParaRPr lang="en-AU"/>
          </a:p>
        </p:txBody>
      </p:sp>
      <p:sp>
        <p:nvSpPr>
          <p:cNvPr id="5" name="Footer Placeholder 4"/>
          <p:cNvSpPr>
            <a:spLocks noGrp="1"/>
          </p:cNvSpPr>
          <p:nvPr>
            <p:ph type="ftr" sz="quarter" idx="11"/>
          </p:nvPr>
        </p:nvSpPr>
        <p:spPr>
          <a:xfrm>
            <a:off x="3959298" y="6375679"/>
            <a:ext cx="3086100" cy="345796"/>
          </a:xfrm>
        </p:spPr>
        <p:txBody>
          <a:bodyPr/>
          <a:lstStyle>
            <a:lvl1pPr>
              <a:defRPr baseline="0">
                <a:solidFill>
                  <a:schemeClr val="tx2"/>
                </a:solidFill>
              </a:defRPr>
            </a:lvl1pPr>
          </a:lstStyle>
          <a:p>
            <a:endParaRPr lang="en-AU"/>
          </a:p>
        </p:txBody>
      </p:sp>
      <p:sp>
        <p:nvSpPr>
          <p:cNvPr id="6" name="Slide Number Placeholder 5"/>
          <p:cNvSpPr>
            <a:spLocks noGrp="1"/>
          </p:cNvSpPr>
          <p:nvPr>
            <p:ph type="sldNum" sz="quarter" idx="12"/>
          </p:nvPr>
        </p:nvSpPr>
        <p:spPr>
          <a:xfrm>
            <a:off x="7456825" y="6375679"/>
            <a:ext cx="1115675" cy="345796"/>
          </a:xfrm>
        </p:spPr>
        <p:txBody>
          <a:bodyPr/>
          <a:lstStyle>
            <a:lvl1pPr>
              <a:defRPr baseline="0">
                <a:solidFill>
                  <a:schemeClr val="tx2"/>
                </a:solidFill>
              </a:defRPr>
            </a:lvl1pPr>
          </a:lstStyle>
          <a:p>
            <a:fld id="{FA321ECB-DF4F-447D-A045-96C577A87748}" type="slidenum">
              <a:rPr lang="en-AU" smtClean="0"/>
              <a:t>‹#›</a:t>
            </a:fld>
            <a:endParaRPr lang="en-AU"/>
          </a:p>
        </p:txBody>
      </p:sp>
      <p:sp>
        <p:nvSpPr>
          <p:cNvPr id="16" name="Freeform 11"/>
          <p:cNvSpPr/>
          <p:nvPr/>
        </p:nvSpPr>
        <p:spPr bwMode="auto">
          <a:xfrm>
            <a:off x="655786" y="0"/>
            <a:ext cx="1234679"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nvGrpSpPr>
          <p:cNvPr id="7" name="Group 6" title="left scallop shape"/>
          <p:cNvGrpSpPr/>
          <p:nvPr/>
        </p:nvGrpSpPr>
        <p:grpSpPr>
          <a:xfrm>
            <a:off x="0" y="0"/>
            <a:ext cx="2110979" cy="6858000"/>
            <a:chOff x="0" y="0"/>
            <a:chExt cx="2110979" cy="6858000"/>
          </a:xfrm>
        </p:grpSpPr>
        <p:sp>
          <p:nvSpPr>
            <p:cNvPr id="9" name="Freeform 8" title="left scallop shape"/>
            <p:cNvSpPr/>
            <p:nvPr/>
          </p:nvSpPr>
          <p:spPr bwMode="auto">
            <a:xfrm>
              <a:off x="0" y="0"/>
              <a:ext cx="2110979"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0" name="Freeform 11" title="left scallop inline"/>
            <p:cNvSpPr/>
            <p:nvPr/>
          </p:nvSpPr>
          <p:spPr bwMode="auto">
            <a:xfrm>
              <a:off x="655786" y="0"/>
              <a:ext cx="1234679"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09088131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42975" y="2286000"/>
            <a:ext cx="3593592" cy="36195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85846" y="2286000"/>
            <a:ext cx="3593592" cy="36195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53DF329-BAB9-4EA5-AD83-52B756239714}" type="datetimeFigureOut">
              <a:rPr lang="en-AU" smtClean="0"/>
              <a:t>21/07/2019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A321ECB-DF4F-447D-A045-96C577A87748}" type="slidenum">
              <a:rPr lang="en-AU" smtClean="0"/>
              <a:t>‹#›</a:t>
            </a:fld>
            <a:endParaRPr lang="en-AU"/>
          </a:p>
        </p:txBody>
      </p:sp>
    </p:spTree>
    <p:extLst>
      <p:ext uri="{BB962C8B-B14F-4D97-AF65-F5344CB8AC3E}">
        <p14:creationId xmlns:p14="http://schemas.microsoft.com/office/powerpoint/2010/main" val="3972990183"/>
      </p:ext>
    </p:extLst>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42975" y="381001"/>
            <a:ext cx="7629525"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41832" y="2199634"/>
            <a:ext cx="3611880" cy="632529"/>
          </a:xfrm>
        </p:spPr>
        <p:txBody>
          <a:bodyPr anchor="b">
            <a:noAutofit/>
          </a:bodyPr>
          <a:lstStyle>
            <a:lvl1pPr marL="0" indent="0">
              <a:lnSpc>
                <a:spcPct val="100000"/>
              </a:lnSpc>
              <a:buNone/>
              <a:defRPr sz="1800" b="1" cap="all" spc="15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941832" y="2909102"/>
            <a:ext cx="3611880" cy="29963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975398" y="2199634"/>
            <a:ext cx="3611880" cy="632529"/>
          </a:xfrm>
        </p:spPr>
        <p:txBody>
          <a:bodyPr anchor="b">
            <a:noAutofit/>
          </a:bodyPr>
          <a:lstStyle>
            <a:lvl1pPr marL="0" indent="0">
              <a:lnSpc>
                <a:spcPct val="100000"/>
              </a:lnSpc>
              <a:buNone/>
              <a:defRPr sz="1800" b="1" cap="all" spc="15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975398" y="2909102"/>
            <a:ext cx="3611880" cy="29963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53DF329-BAB9-4EA5-AD83-52B756239714}" type="datetimeFigureOut">
              <a:rPr lang="en-AU" smtClean="0"/>
              <a:t>21/07/2019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A321ECB-DF4F-447D-A045-96C577A87748}" type="slidenum">
              <a:rPr lang="en-AU" smtClean="0"/>
              <a:t>‹#›</a:t>
            </a:fld>
            <a:endParaRPr lang="en-AU"/>
          </a:p>
        </p:txBody>
      </p:sp>
    </p:spTree>
    <p:extLst>
      <p:ext uri="{BB962C8B-B14F-4D97-AF65-F5344CB8AC3E}">
        <p14:creationId xmlns:p14="http://schemas.microsoft.com/office/powerpoint/2010/main" val="2680476670"/>
      </p:ext>
    </p:extLst>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53DF329-BAB9-4EA5-AD83-52B756239714}" type="datetimeFigureOut">
              <a:rPr lang="en-AU" smtClean="0"/>
              <a:t>21/07/2019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A321ECB-DF4F-447D-A045-96C577A87748}" type="slidenum">
              <a:rPr lang="en-AU" smtClean="0"/>
              <a:t>‹#›</a:t>
            </a:fld>
            <a:endParaRPr lang="en-AU"/>
          </a:p>
        </p:txBody>
      </p:sp>
    </p:spTree>
    <p:extLst>
      <p:ext uri="{BB962C8B-B14F-4D97-AF65-F5344CB8AC3E}">
        <p14:creationId xmlns:p14="http://schemas.microsoft.com/office/powerpoint/2010/main" val="2159306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3DF329-BAB9-4EA5-AD83-52B756239714}" type="datetimeFigureOut">
              <a:rPr lang="en-AU" smtClean="0"/>
              <a:t>21/07/2019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A321ECB-DF4F-447D-A045-96C577A87748}" type="slidenum">
              <a:rPr lang="en-AU" smtClean="0"/>
              <a:t>‹#›</a:t>
            </a:fld>
            <a:endParaRPr lang="en-AU"/>
          </a:p>
        </p:txBody>
      </p:sp>
    </p:spTree>
    <p:extLst>
      <p:ext uri="{BB962C8B-B14F-4D97-AF65-F5344CB8AC3E}">
        <p14:creationId xmlns:p14="http://schemas.microsoft.com/office/powerpoint/2010/main" val="291448854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5542359" y="0"/>
            <a:ext cx="3601641"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6253414" y="457200"/>
            <a:ext cx="2319086" cy="1196671"/>
          </a:xfrm>
        </p:spPr>
        <p:txBody>
          <a:bodyPr anchor="b">
            <a:normAutofit/>
          </a:bodyPr>
          <a:lstStyle>
            <a:lvl1pPr>
              <a:lnSpc>
                <a:spcPct val="100000"/>
              </a:lnSpc>
              <a:defRPr sz="1800" b="1" i="0" cap="all" spc="225"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573788" y="920377"/>
            <a:ext cx="4618814" cy="498512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53414" y="1741336"/>
            <a:ext cx="2319086" cy="4164164"/>
          </a:xfrm>
        </p:spPr>
        <p:txBody>
          <a:bodyPr>
            <a:normAutofit/>
          </a:bodyPr>
          <a:lstStyle>
            <a:lvl1pPr marL="0" indent="0">
              <a:lnSpc>
                <a:spcPct val="110000"/>
              </a:lnSpc>
              <a:spcBef>
                <a:spcPts val="1200"/>
              </a:spcBef>
              <a:buNone/>
              <a:defRPr sz="1400" baseline="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a:xfrm>
            <a:off x="573789" y="6375679"/>
            <a:ext cx="925016" cy="348462"/>
          </a:xfrm>
        </p:spPr>
        <p:txBody>
          <a:bodyPr/>
          <a:lstStyle/>
          <a:p>
            <a:fld id="{953DF329-BAB9-4EA5-AD83-52B756239714}" type="datetimeFigureOut">
              <a:rPr lang="en-AU" smtClean="0"/>
              <a:t>21/07/2019</a:t>
            </a:fld>
            <a:endParaRPr lang="en-AU"/>
          </a:p>
        </p:txBody>
      </p:sp>
      <p:sp>
        <p:nvSpPr>
          <p:cNvPr id="6" name="Footer Placeholder 5"/>
          <p:cNvSpPr>
            <a:spLocks noGrp="1"/>
          </p:cNvSpPr>
          <p:nvPr>
            <p:ph type="ftr" sz="quarter" idx="11"/>
          </p:nvPr>
        </p:nvSpPr>
        <p:spPr>
          <a:xfrm>
            <a:off x="1577716" y="6375679"/>
            <a:ext cx="2611634" cy="345796"/>
          </a:xfrm>
        </p:spPr>
        <p:txBody>
          <a:bodyPr/>
          <a:lstStyle/>
          <a:p>
            <a:endParaRPr lang="en-AU"/>
          </a:p>
        </p:txBody>
      </p:sp>
      <p:sp>
        <p:nvSpPr>
          <p:cNvPr id="7" name="Slide Number Placeholder 6"/>
          <p:cNvSpPr>
            <a:spLocks noGrp="1"/>
          </p:cNvSpPr>
          <p:nvPr>
            <p:ph type="sldNum" sz="quarter" idx="12"/>
          </p:nvPr>
        </p:nvSpPr>
        <p:spPr>
          <a:xfrm>
            <a:off x="4268261" y="6375679"/>
            <a:ext cx="924342" cy="345796"/>
          </a:xfrm>
        </p:spPr>
        <p:txBody>
          <a:bodyPr/>
          <a:lstStyle/>
          <a:p>
            <a:fld id="{FA321ECB-DF4F-447D-A045-96C577A87748}" type="slidenum">
              <a:rPr lang="en-AU" smtClean="0"/>
              <a:t>‹#›</a:t>
            </a:fld>
            <a:endParaRPr lang="en-AU"/>
          </a:p>
        </p:txBody>
      </p:sp>
      <p:sp>
        <p:nvSpPr>
          <p:cNvPr id="8" name="Rectangle 7"/>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left edge border"/>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92592391"/>
      </p:ext>
    </p:extLst>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12598" y="1"/>
            <a:ext cx="5516689" cy="685799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11" name="Freeform 11" title="right scallop background shape"/>
          <p:cNvSpPr/>
          <p:nvPr/>
        </p:nvSpPr>
        <p:spPr bwMode="auto">
          <a:xfrm>
            <a:off x="5542359" y="0"/>
            <a:ext cx="3601641"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253413" y="457200"/>
            <a:ext cx="2319088" cy="1196670"/>
          </a:xfrm>
        </p:spPr>
        <p:txBody>
          <a:bodyPr anchor="b">
            <a:normAutofit/>
          </a:bodyPr>
          <a:lstStyle>
            <a:lvl1pPr>
              <a:lnSpc>
                <a:spcPct val="100000"/>
              </a:lnSpc>
              <a:defRPr sz="1800" b="1" i="0" spc="225"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6253413" y="1741336"/>
            <a:ext cx="2319088" cy="4164164"/>
          </a:xfrm>
        </p:spPr>
        <p:txBody>
          <a:bodyPr>
            <a:normAutofit/>
          </a:bodyPr>
          <a:lstStyle>
            <a:lvl1pPr marL="0" indent="0">
              <a:lnSpc>
                <a:spcPct val="110000"/>
              </a:lnSpc>
              <a:spcBef>
                <a:spcPts val="1200"/>
              </a:spcBef>
              <a:buNone/>
              <a:defRPr sz="1400" baseline="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a:xfrm>
            <a:off x="574463" y="6375679"/>
            <a:ext cx="924342" cy="348462"/>
          </a:xfrm>
        </p:spPr>
        <p:txBody>
          <a:bodyPr/>
          <a:lstStyle/>
          <a:p>
            <a:fld id="{953DF329-BAB9-4EA5-AD83-52B756239714}" type="datetimeFigureOut">
              <a:rPr lang="en-AU" smtClean="0"/>
              <a:t>21/07/2019</a:t>
            </a:fld>
            <a:endParaRPr lang="en-AU"/>
          </a:p>
        </p:txBody>
      </p:sp>
      <p:sp>
        <p:nvSpPr>
          <p:cNvPr id="6" name="Footer Placeholder 5"/>
          <p:cNvSpPr>
            <a:spLocks noGrp="1"/>
          </p:cNvSpPr>
          <p:nvPr>
            <p:ph type="ftr" sz="quarter" idx="11"/>
          </p:nvPr>
        </p:nvSpPr>
        <p:spPr>
          <a:xfrm>
            <a:off x="1577716" y="6375679"/>
            <a:ext cx="2611634" cy="345796"/>
          </a:xfrm>
        </p:spPr>
        <p:txBody>
          <a:bodyPr/>
          <a:lstStyle/>
          <a:p>
            <a:endParaRPr lang="en-AU"/>
          </a:p>
        </p:txBody>
      </p:sp>
      <p:sp>
        <p:nvSpPr>
          <p:cNvPr id="7" name="Slide Number Placeholder 6"/>
          <p:cNvSpPr>
            <a:spLocks noGrp="1"/>
          </p:cNvSpPr>
          <p:nvPr>
            <p:ph type="sldNum" sz="quarter" idx="12"/>
          </p:nvPr>
        </p:nvSpPr>
        <p:spPr>
          <a:xfrm>
            <a:off x="4256153" y="6375679"/>
            <a:ext cx="947460" cy="345796"/>
          </a:xfrm>
        </p:spPr>
        <p:txBody>
          <a:bodyPr/>
          <a:lstStyle/>
          <a:p>
            <a:fld id="{FA321ECB-DF4F-447D-A045-96C577A87748}" type="slidenum">
              <a:rPr lang="en-AU" smtClean="0"/>
              <a:t>‹#›</a:t>
            </a:fld>
            <a:endParaRPr lang="en-AU"/>
          </a:p>
        </p:txBody>
      </p:sp>
      <p:sp>
        <p:nvSpPr>
          <p:cNvPr id="13" name="Rectangle 12" title="left edge border"/>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4348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53DF329-BAB9-4EA5-AD83-52B756239714}" type="datetimeFigureOut">
              <a:rPr lang="en-AU" smtClean="0"/>
              <a:t>21/07/2019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321ECB-DF4F-447D-A045-96C577A87748}" type="slidenum">
              <a:rPr lang="en-AU" smtClean="0"/>
              <a:t>‹#›</a:t>
            </a:fld>
            <a:endParaRPr lang="en-AU"/>
          </a:p>
        </p:txBody>
      </p:sp>
    </p:spTree>
    <p:extLst>
      <p:ext uri="{BB962C8B-B14F-4D97-AF65-F5344CB8AC3E}">
        <p14:creationId xmlns:p14="http://schemas.microsoft.com/office/powerpoint/2010/main" val="2553199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6911" y="382386"/>
            <a:ext cx="1771930"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42974" y="382386"/>
            <a:ext cx="5809517" cy="560040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53DF329-BAB9-4EA5-AD83-52B756239714}" type="datetimeFigureOut">
              <a:rPr lang="en-AU" smtClean="0"/>
              <a:t>21/07/2019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321ECB-DF4F-447D-A045-96C577A87748}" type="slidenum">
              <a:rPr lang="en-AU" smtClean="0"/>
              <a:t>‹#›</a:t>
            </a:fld>
            <a:endParaRPr lang="en-AU"/>
          </a:p>
        </p:txBody>
      </p:sp>
    </p:spTree>
    <p:extLst>
      <p:ext uri="{BB962C8B-B14F-4D97-AF65-F5344CB8AC3E}">
        <p14:creationId xmlns:p14="http://schemas.microsoft.com/office/powerpoint/2010/main" val="394312266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38758" y="382385"/>
            <a:ext cx="763374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38758" y="2286002"/>
            <a:ext cx="7633742" cy="359359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38758" y="6375679"/>
            <a:ext cx="1747292" cy="348462"/>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fld id="{953DF329-BAB9-4EA5-AD83-52B756239714}" type="datetimeFigureOut">
              <a:rPr lang="en-AU" smtClean="0"/>
              <a:t>21/07/2019</a:t>
            </a:fld>
            <a:endParaRPr lang="en-AU"/>
          </a:p>
        </p:txBody>
      </p:sp>
      <p:sp>
        <p:nvSpPr>
          <p:cNvPr id="5" name="Footer Placeholder 4"/>
          <p:cNvSpPr>
            <a:spLocks noGrp="1"/>
          </p:cNvSpPr>
          <p:nvPr>
            <p:ph type="ftr" sz="quarter" idx="3"/>
          </p:nvPr>
        </p:nvSpPr>
        <p:spPr>
          <a:xfrm>
            <a:off x="3028950" y="6375679"/>
            <a:ext cx="3086100" cy="345796"/>
          </a:xfrm>
          <a:prstGeom prst="rect">
            <a:avLst/>
          </a:prstGeom>
        </p:spPr>
        <p:txBody>
          <a:bodyPr vert="horz" lIns="91440" tIns="45720" rIns="91440" bIns="45720" rtlCol="0" anchor="ctr"/>
          <a:lstStyle>
            <a:lvl1pPr algn="ctr">
              <a:defRPr sz="1000">
                <a:solidFill>
                  <a:schemeClr val="tx1">
                    <a:lumMod val="65000"/>
                    <a:lumOff val="35000"/>
                  </a:schemeClr>
                </a:solidFill>
              </a:defRPr>
            </a:lvl1pPr>
          </a:lstStyle>
          <a:p>
            <a:endParaRPr lang="en-AU"/>
          </a:p>
        </p:txBody>
      </p:sp>
      <p:sp>
        <p:nvSpPr>
          <p:cNvPr id="6" name="Slide Number Placeholder 5"/>
          <p:cNvSpPr>
            <a:spLocks noGrp="1"/>
          </p:cNvSpPr>
          <p:nvPr>
            <p:ph type="sldNum" sz="quarter" idx="4"/>
          </p:nvPr>
        </p:nvSpPr>
        <p:spPr>
          <a:xfrm>
            <a:off x="6457951" y="6375679"/>
            <a:ext cx="2114549" cy="345796"/>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FA321ECB-DF4F-447D-A045-96C577A87748}" type="slidenum">
              <a:rPr lang="en-AU" smtClean="0"/>
              <a:t>‹#›</a:t>
            </a:fld>
            <a:endParaRPr lang="en-AU"/>
          </a:p>
        </p:txBody>
      </p:sp>
      <p:sp>
        <p:nvSpPr>
          <p:cNvPr id="12" name="Rectangle 11"/>
          <p:cNvSpPr/>
          <p:nvPr/>
        </p:nvSpPr>
        <p:spPr>
          <a:xfrm>
            <a:off x="8931402"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title="right edge border"/>
          <p:cNvSpPr/>
          <p:nvPr/>
        </p:nvSpPr>
        <p:spPr>
          <a:xfrm>
            <a:off x="8931402"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Freeform 5"/>
          <p:cNvSpPr/>
          <p:nvPr/>
        </p:nvSpPr>
        <p:spPr bwMode="auto">
          <a:xfrm>
            <a:off x="1" y="0"/>
            <a:ext cx="679090" cy="6858000"/>
          </a:xfrm>
          <a:custGeom>
            <a:avLst/>
            <a:gdLst/>
            <a:ahLst/>
            <a:cxnLst/>
            <a:rect l="0" t="0" r="r" b="b"/>
            <a:pathLst>
              <a:path w="211" h="2160">
                <a:moveTo>
                  <a:pt x="155" y="1728"/>
                </a:moveTo>
                <a:cubicBezTo>
                  <a:pt x="155" y="1620"/>
                  <a:pt x="211" y="1620"/>
                  <a:pt x="211" y="1512"/>
                </a:cubicBezTo>
                <a:cubicBezTo>
                  <a:pt x="211" y="1404"/>
                  <a:pt x="155" y="1404"/>
                  <a:pt x="155" y="1296"/>
                </a:cubicBezTo>
                <a:cubicBezTo>
                  <a:pt x="155" y="1188"/>
                  <a:pt x="211" y="1188"/>
                  <a:pt x="211" y="1080"/>
                </a:cubicBezTo>
                <a:cubicBezTo>
                  <a:pt x="211" y="972"/>
                  <a:pt x="155" y="972"/>
                  <a:pt x="155" y="864"/>
                </a:cubicBezTo>
                <a:cubicBezTo>
                  <a:pt x="155" y="756"/>
                  <a:pt x="211" y="756"/>
                  <a:pt x="211" y="648"/>
                </a:cubicBezTo>
                <a:cubicBezTo>
                  <a:pt x="211" y="540"/>
                  <a:pt x="155" y="540"/>
                  <a:pt x="155" y="432"/>
                </a:cubicBezTo>
                <a:cubicBezTo>
                  <a:pt x="155" y="324"/>
                  <a:pt x="211" y="324"/>
                  <a:pt x="211" y="216"/>
                </a:cubicBezTo>
                <a:cubicBezTo>
                  <a:pt x="211" y="108"/>
                  <a:pt x="155" y="108"/>
                  <a:pt x="155" y="0"/>
                </a:cubicBezTo>
                <a:cubicBezTo>
                  <a:pt x="0" y="0"/>
                  <a:pt x="0" y="0"/>
                  <a:pt x="0" y="0"/>
                </a:cubicBezTo>
                <a:cubicBezTo>
                  <a:pt x="0" y="2160"/>
                  <a:pt x="0" y="2160"/>
                  <a:pt x="0" y="2160"/>
                </a:cubicBezTo>
                <a:cubicBezTo>
                  <a:pt x="155" y="2160"/>
                  <a:pt x="155" y="2160"/>
                  <a:pt x="155" y="2160"/>
                </a:cubicBezTo>
                <a:cubicBezTo>
                  <a:pt x="155" y="2052"/>
                  <a:pt x="211" y="2052"/>
                  <a:pt x="211" y="1944"/>
                </a:cubicBezTo>
                <a:cubicBezTo>
                  <a:pt x="211" y="1836"/>
                  <a:pt x="155" y="1836"/>
                  <a:pt x="155" y="1728"/>
                </a:cubicBezTo>
                <a:close/>
              </a:path>
            </a:pathLst>
          </a:custGeom>
          <a:solidFill>
            <a:schemeClr val="tx2"/>
          </a:solidFill>
          <a:ln>
            <a:noFill/>
          </a:ln>
        </p:spPr>
      </p:sp>
    </p:spTree>
    <p:extLst>
      <p:ext uri="{BB962C8B-B14F-4D97-AF65-F5344CB8AC3E}">
        <p14:creationId xmlns:p14="http://schemas.microsoft.com/office/powerpoint/2010/main" val="2497616518"/>
      </p:ext>
    </p:extLst>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xStyles>
    <p:titleStyle>
      <a:lvl1pPr algn="l" defTabSz="685800" rtl="0" eaLnBrk="1" latinLnBrk="0" hangingPunct="1">
        <a:lnSpc>
          <a:spcPct val="90000"/>
        </a:lnSpc>
        <a:spcBef>
          <a:spcPct val="0"/>
        </a:spcBef>
        <a:buNone/>
        <a:defRPr sz="5100" kern="1200" cap="all" spc="150" baseline="0">
          <a:solidFill>
            <a:schemeClr val="tx2"/>
          </a:solidFill>
          <a:latin typeface="+mj-lt"/>
          <a:ea typeface="+mj-ea"/>
          <a:cs typeface="+mj-cs"/>
        </a:defRPr>
      </a:lvl1pPr>
    </p:titleStyle>
    <p:bodyStyle>
      <a:lvl1pPr marL="228600" indent="-228600" algn="l" defTabSz="6858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6858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6858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0" pos="594">
          <p15:clr>
            <a:srgbClr val="F26B43"/>
          </p15:clr>
        </p15:guide>
        <p15:guide id="3" pos="5400">
          <p15:clr>
            <a:srgbClr val="F26B43"/>
          </p15:clr>
        </p15:guide>
        <p15:guide id="4" orient="horz" pos="4008">
          <p15:clr>
            <a:srgbClr val="F26B43"/>
          </p15:clr>
        </p15:guide>
        <p15:guide id="5" orient="horz" pos="1440">
          <p15:clr>
            <a:srgbClr val="F26B43"/>
          </p15:clr>
        </p15:guide>
        <p15:guide id="6" orient="horz" pos="3720">
          <p15:clr>
            <a:srgbClr val="F26B43"/>
          </p15:clr>
        </p15:guide>
        <p15:guide id="7"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1Zosz9T_EPA"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youtube.com/watch?v=U2BKeT8toLQ"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4Xaa9WdXVT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youtube.com/watch?v=fDD_rD032Lc"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AU" dirty="0" smtClean="0"/>
              <a:t>Chapter: 6.9</a:t>
            </a:r>
            <a:endParaRPr lang="en-AU" dirty="0"/>
          </a:p>
        </p:txBody>
      </p:sp>
      <p:sp>
        <p:nvSpPr>
          <p:cNvPr id="3" name="Subtitle 2"/>
          <p:cNvSpPr>
            <a:spLocks noGrp="1"/>
          </p:cNvSpPr>
          <p:nvPr>
            <p:ph type="subTitle" idx="1"/>
          </p:nvPr>
        </p:nvSpPr>
        <p:spPr/>
        <p:txBody>
          <a:bodyPr/>
          <a:lstStyle/>
          <a:p>
            <a:r>
              <a:rPr lang="en-AU" dirty="0" smtClean="0"/>
              <a:t>Chromatography</a:t>
            </a:r>
            <a:endParaRPr lang="en-AU" dirty="0"/>
          </a:p>
        </p:txBody>
      </p:sp>
    </p:spTree>
    <p:extLst>
      <p:ext uri="{BB962C8B-B14F-4D97-AF65-F5344CB8AC3E}">
        <p14:creationId xmlns:p14="http://schemas.microsoft.com/office/powerpoint/2010/main" val="7745744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77500" lnSpcReduction="20000"/>
          </a:bodyPr>
          <a:lstStyle/>
          <a:p>
            <a:r>
              <a:rPr lang="en-US" b="1" i="1" dirty="0">
                <a:solidFill>
                  <a:srgbClr val="FF0000"/>
                </a:solidFill>
              </a:rPr>
              <a:t>Data from chromatography techniques, including thin layer chromatography (TLC), gas chromatography (GC), and high-performance liquid chromatography (HPLC), can be used to determine the composition and purity of substances; the separation of the components is caused by the variation in strength of the interactions between atoms, molecules or ions in the mobile and stationary phases. </a:t>
            </a:r>
            <a:r>
              <a:rPr lang="en-US" b="1" i="1" dirty="0">
                <a:solidFill>
                  <a:srgbClr val="00B050"/>
                </a:solidFill>
              </a:rPr>
              <a:t>( Syllabus)  </a:t>
            </a:r>
            <a:endParaRPr lang="en-AU" b="1" i="1" dirty="0">
              <a:solidFill>
                <a:srgbClr val="00B050"/>
              </a:solidFill>
            </a:endParaRPr>
          </a:p>
          <a:p>
            <a:r>
              <a:rPr lang="en-AU" b="1" i="1" dirty="0">
                <a:solidFill>
                  <a:srgbClr val="0070C0"/>
                </a:solidFill>
              </a:rPr>
              <a:t>Chromatographic techniques, including thin layer chromatography (TLC), gas chromatography (GC), and high performance liquid chromatography (HPLC), are used to determine the components of a wide range of mixtures in various settings. The decision to use a particular chromatographic technique depends on a number of factors, including the properties of the substances being separated, the amount of substance available for analysis and the sensitivity of the equipment. Chromatographic techniques have a wide range of analytical and forensic applications, including monitoring air and water pollutants, drug testing of urine and blood samples, and testing for food additives and quality. </a:t>
            </a:r>
            <a:r>
              <a:rPr lang="en-AU" b="1" i="1" dirty="0" smtClean="0">
                <a:solidFill>
                  <a:srgbClr val="00B050"/>
                </a:solidFill>
              </a:rPr>
              <a:t>(Syllabus)</a:t>
            </a:r>
            <a:endParaRPr lang="en-AU" b="1" i="1" dirty="0">
              <a:solidFill>
                <a:srgbClr val="00B050"/>
              </a:solidFill>
            </a:endParaRPr>
          </a:p>
          <a:p>
            <a:endParaRPr lang="en-AU" dirty="0"/>
          </a:p>
        </p:txBody>
      </p:sp>
    </p:spTree>
    <p:extLst>
      <p:ext uri="{BB962C8B-B14F-4D97-AF65-F5344CB8AC3E}">
        <p14:creationId xmlns:p14="http://schemas.microsoft.com/office/powerpoint/2010/main" val="2799266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Chromatography</a:t>
            </a:r>
            <a:endParaRPr lang="en-AU" dirty="0"/>
          </a:p>
        </p:txBody>
      </p:sp>
      <p:sp>
        <p:nvSpPr>
          <p:cNvPr id="3" name="Content Placeholder 2"/>
          <p:cNvSpPr>
            <a:spLocks noGrp="1"/>
          </p:cNvSpPr>
          <p:nvPr>
            <p:ph idx="1"/>
          </p:nvPr>
        </p:nvSpPr>
        <p:spPr/>
        <p:txBody>
          <a:bodyPr>
            <a:normAutofit/>
          </a:bodyPr>
          <a:lstStyle/>
          <a:p>
            <a:r>
              <a:rPr lang="en-AU" dirty="0" smtClean="0"/>
              <a:t> </a:t>
            </a:r>
            <a:r>
              <a:rPr lang="en-AU" dirty="0" smtClean="0">
                <a:solidFill>
                  <a:srgbClr val="FF0000"/>
                </a:solidFill>
              </a:rPr>
              <a:t>It is one of the most widely used laboratory techniques for the separation and identification of the substances in a mixture.</a:t>
            </a:r>
          </a:p>
          <a:p>
            <a:r>
              <a:rPr lang="en-AU" dirty="0" smtClean="0">
                <a:solidFill>
                  <a:srgbClr val="00B050"/>
                </a:solidFill>
              </a:rPr>
              <a:t>Chromatography is a very useful technique for finding the </a:t>
            </a:r>
            <a:r>
              <a:rPr lang="en-AU" dirty="0" smtClean="0">
                <a:solidFill>
                  <a:srgbClr val="002060"/>
                </a:solidFill>
              </a:rPr>
              <a:t>concentration</a:t>
            </a:r>
            <a:r>
              <a:rPr lang="en-AU" dirty="0" smtClean="0">
                <a:solidFill>
                  <a:srgbClr val="00B050"/>
                </a:solidFill>
              </a:rPr>
              <a:t> of each substance in a mixture.</a:t>
            </a:r>
          </a:p>
          <a:p>
            <a:endParaRPr lang="en-AU" dirty="0" smtClean="0">
              <a:solidFill>
                <a:srgbClr val="FF0000"/>
              </a:solidFill>
            </a:endParaRPr>
          </a:p>
          <a:p>
            <a:r>
              <a:rPr lang="en-AU" dirty="0" smtClean="0">
                <a:solidFill>
                  <a:srgbClr val="C00000"/>
                </a:solidFill>
              </a:rPr>
              <a:t>Three simple forms of techniques include paper chromatography, thin-layer chromatography and column chromatography.</a:t>
            </a:r>
          </a:p>
          <a:p>
            <a:endParaRPr lang="en-AU" dirty="0" smtClean="0">
              <a:solidFill>
                <a:srgbClr val="C00000"/>
              </a:solidFill>
            </a:endParaRPr>
          </a:p>
        </p:txBody>
      </p:sp>
    </p:spTree>
    <p:extLst>
      <p:ext uri="{BB962C8B-B14F-4D97-AF65-F5344CB8AC3E}">
        <p14:creationId xmlns:p14="http://schemas.microsoft.com/office/powerpoint/2010/main" val="26139118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How chromatography works</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solidFill>
                  <a:srgbClr val="00B050"/>
                </a:solidFill>
              </a:rPr>
              <a:t>All methods of chromatography have a:</a:t>
            </a:r>
          </a:p>
          <a:p>
            <a:r>
              <a:rPr lang="en-AU" dirty="0" smtClean="0">
                <a:solidFill>
                  <a:srgbClr val="00B050"/>
                </a:solidFill>
              </a:rPr>
              <a:t>Stationary phase</a:t>
            </a:r>
          </a:p>
          <a:p>
            <a:r>
              <a:rPr lang="en-AU" dirty="0" smtClean="0">
                <a:solidFill>
                  <a:srgbClr val="00B050"/>
                </a:solidFill>
              </a:rPr>
              <a:t>Mobile  (moving) phase</a:t>
            </a:r>
          </a:p>
          <a:p>
            <a:r>
              <a:rPr lang="en-AU" dirty="0" smtClean="0"/>
              <a:t>A simple chromatography experiment: Dip the end of a chalk into water-soluble black ink and then standing the chalk in a beaker containing a small amount of water.  As the water carries the ink up the chalk, the ink separates into bands of different colours. Each band contains one of the substances or components, present in the ink mixture. The pattern of bands or spots is called a chromatogram.</a:t>
            </a:r>
          </a:p>
          <a:p>
            <a:r>
              <a:rPr lang="en-AU" dirty="0" smtClean="0">
                <a:solidFill>
                  <a:schemeClr val="accent4">
                    <a:lumMod val="75000"/>
                  </a:schemeClr>
                </a:solidFill>
              </a:rPr>
              <a:t>Here, stationary phase is the chalk and mobile phase is the water.</a:t>
            </a:r>
          </a:p>
          <a:p>
            <a:r>
              <a:rPr lang="en-AU" dirty="0" smtClean="0">
                <a:hlinkClick r:id="rId3"/>
              </a:rPr>
              <a:t>https</a:t>
            </a:r>
            <a:r>
              <a:rPr lang="en-AU" dirty="0">
                <a:hlinkClick r:id="rId3"/>
              </a:rPr>
              <a:t>://</a:t>
            </a:r>
            <a:r>
              <a:rPr lang="en-AU" dirty="0" smtClean="0">
                <a:hlinkClick r:id="rId3"/>
              </a:rPr>
              <a:t>www.youtube.com/watch?v=1Zosz9T_EPA</a:t>
            </a:r>
            <a:endParaRPr lang="en-AU" dirty="0" smtClean="0"/>
          </a:p>
          <a:p>
            <a:endParaRPr lang="en-AU" dirty="0"/>
          </a:p>
        </p:txBody>
      </p:sp>
      <p:pic>
        <p:nvPicPr>
          <p:cNvPr id="4" name="Picture 3"/>
          <p:cNvPicPr/>
          <p:nvPr/>
        </p:nvPicPr>
        <p:blipFill rotWithShape="1">
          <a:blip r:embed="rId4"/>
          <a:srcRect l="23665" t="39708" r="59051" b="30038"/>
          <a:stretch/>
        </p:blipFill>
        <p:spPr bwMode="auto">
          <a:xfrm>
            <a:off x="6588224" y="1556792"/>
            <a:ext cx="1872208" cy="165618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889243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As the components in the ink are swept upwards over the stationary phase by the solvent, adsorption onto the solid stationary phase, followed by desorption and dissolving into the mobile phase </a:t>
            </a:r>
            <a:r>
              <a:rPr lang="en-AU" dirty="0"/>
              <a:t>will happen.</a:t>
            </a:r>
            <a:endParaRPr lang="en-AU" dirty="0">
              <a:solidFill>
                <a:srgbClr val="7030A0"/>
              </a:solidFill>
            </a:endParaRPr>
          </a:p>
          <a:p>
            <a:r>
              <a:rPr lang="en-AU" dirty="0" smtClean="0"/>
              <a:t>The ability of components stick to the stationary phase will depend upon the polarity of the stationary phase and the component molecules. The attraction of the components to the solvent molecules is determined by their polarity.</a:t>
            </a:r>
            <a:endParaRPr lang="en-AU" dirty="0"/>
          </a:p>
        </p:txBody>
      </p:sp>
    </p:spTree>
    <p:extLst>
      <p:ext uri="{BB962C8B-B14F-4D97-AF65-F5344CB8AC3E}">
        <p14:creationId xmlns:p14="http://schemas.microsoft.com/office/powerpoint/2010/main" val="41318640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By altering the solvent( mobile phase) and the surface ( stationary phase), chemists can separate a mixture of solutes.</a:t>
            </a:r>
          </a:p>
          <a:p>
            <a:endParaRPr lang="en-AU" dirty="0"/>
          </a:p>
          <a:p>
            <a:r>
              <a:rPr lang="en-AU" dirty="0" smtClean="0">
                <a:solidFill>
                  <a:srgbClr val="FF0000"/>
                </a:solidFill>
              </a:rPr>
              <a:t>Chromatography is the name of the group of techniques that separate substances  based upon differential distribution between a stationary phase and a mobile phase.</a:t>
            </a:r>
            <a:endParaRPr lang="en-AU" dirty="0">
              <a:solidFill>
                <a:srgbClr val="FF0000"/>
              </a:solidFill>
            </a:endParaRPr>
          </a:p>
        </p:txBody>
      </p:sp>
    </p:spTree>
    <p:extLst>
      <p:ext uri="{BB962C8B-B14F-4D97-AF65-F5344CB8AC3E}">
        <p14:creationId xmlns:p14="http://schemas.microsoft.com/office/powerpoint/2010/main" val="39476337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Thin layer chromatography</a:t>
            </a:r>
            <a:endParaRPr lang="en-AU" dirty="0"/>
          </a:p>
        </p:txBody>
      </p:sp>
      <p:sp>
        <p:nvSpPr>
          <p:cNvPr id="3" name="Content Placeholder 2"/>
          <p:cNvSpPr>
            <a:spLocks noGrp="1"/>
          </p:cNvSpPr>
          <p:nvPr>
            <p:ph idx="1"/>
          </p:nvPr>
        </p:nvSpPr>
        <p:spPr/>
        <p:txBody>
          <a:bodyPr>
            <a:normAutofit/>
          </a:bodyPr>
          <a:lstStyle/>
          <a:p>
            <a:r>
              <a:rPr lang="en-AU" dirty="0" smtClean="0"/>
              <a:t>TLC is used to separate and analyse a wide variety of molecular mixtures. This is more faster and provides more separation than paper chromatography. TLC used to analyse drugs and amino acids. </a:t>
            </a:r>
          </a:p>
          <a:p>
            <a:r>
              <a:rPr lang="en-AU" sz="1800" dirty="0" smtClean="0">
                <a:solidFill>
                  <a:srgbClr val="FF0000"/>
                </a:solidFill>
              </a:rPr>
              <a:t>The TLC plate consists of a 0.1 mm – thick of absorbent material bonded to a glass or plastic support. The </a:t>
            </a:r>
            <a:r>
              <a:rPr lang="en-AU" sz="1800" dirty="0">
                <a:solidFill>
                  <a:srgbClr val="FF0000"/>
                </a:solidFill>
              </a:rPr>
              <a:t>absorbent material </a:t>
            </a:r>
            <a:r>
              <a:rPr lang="en-AU" sz="1800" dirty="0" smtClean="0">
                <a:solidFill>
                  <a:srgbClr val="FF0000"/>
                </a:solidFill>
              </a:rPr>
              <a:t> consists of microscopic plates. These surfaces provide large surface area for chromatographic separation. This is the stationary phase. The origin line is drawn in pencil about 1cm from the base, samples are placed in this area. </a:t>
            </a:r>
            <a:endParaRPr lang="en-AU" sz="1800" dirty="0">
              <a:solidFill>
                <a:srgbClr val="FF0000"/>
              </a:solidFill>
            </a:endParaRPr>
          </a:p>
          <a:p>
            <a:r>
              <a:rPr lang="en-AU" dirty="0">
                <a:hlinkClick r:id="rId2"/>
              </a:rPr>
              <a:t>https://</a:t>
            </a:r>
            <a:r>
              <a:rPr lang="en-AU" dirty="0" smtClean="0">
                <a:hlinkClick r:id="rId2"/>
              </a:rPr>
              <a:t>www.youtube.com/watch?v=U2BKeT8toLQ</a:t>
            </a:r>
            <a:endParaRPr lang="en-AU" dirty="0" smtClean="0"/>
          </a:p>
          <a:p>
            <a:endParaRPr lang="en-AU" dirty="0"/>
          </a:p>
        </p:txBody>
      </p:sp>
      <p:pic>
        <p:nvPicPr>
          <p:cNvPr id="4" name="Picture 3"/>
          <p:cNvPicPr/>
          <p:nvPr/>
        </p:nvPicPr>
        <p:blipFill rotWithShape="1">
          <a:blip r:embed="rId3"/>
          <a:srcRect l="26590" t="33091" r="28207" b="14910"/>
          <a:stretch/>
        </p:blipFill>
        <p:spPr bwMode="auto">
          <a:xfrm>
            <a:off x="6535363" y="4869160"/>
            <a:ext cx="2590800" cy="16764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42796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332656"/>
            <a:ext cx="7633742" cy="1492132"/>
          </a:xfrm>
        </p:spPr>
        <p:txBody>
          <a:bodyPr/>
          <a:lstStyle/>
          <a:p>
            <a:endParaRPr lang="en-AU"/>
          </a:p>
        </p:txBody>
      </p:sp>
      <p:pic>
        <p:nvPicPr>
          <p:cNvPr id="4" name="Content Placeholder 3"/>
          <p:cNvPicPr>
            <a:picLocks noGrp="1"/>
          </p:cNvPicPr>
          <p:nvPr>
            <p:ph idx="1"/>
          </p:nvPr>
        </p:nvPicPr>
        <p:blipFill rotWithShape="1">
          <a:blip r:embed="rId2"/>
          <a:srcRect l="26590" t="33091" r="28207" b="14910"/>
          <a:stretch/>
        </p:blipFill>
        <p:spPr bwMode="auto">
          <a:xfrm>
            <a:off x="1475656" y="1628800"/>
            <a:ext cx="7200799" cy="46805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33542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a:bodyPr>
          <a:lstStyle/>
          <a:p>
            <a:r>
              <a:rPr lang="en-AU" dirty="0" smtClean="0"/>
              <a:t>Separation is done by the solvent (mobile phase) moving up the stationary phase. This movement is due to capillary action. </a:t>
            </a:r>
          </a:p>
          <a:p>
            <a:r>
              <a:rPr lang="en-AU" dirty="0" smtClean="0"/>
              <a:t>The solvent moves through the samples towards the top of the plate. The faint wavy line is called the solvent front. The samples get desorb into solvent and then travel up the plate with the solvent. </a:t>
            </a:r>
          </a:p>
          <a:p>
            <a:r>
              <a:rPr lang="en-AU" dirty="0" smtClean="0"/>
              <a:t>If all components spent the same amount of time in the solvent , then they would travel at the same rate. As components have differences in chemical structure adsorption and desorption rates will vary for the components. </a:t>
            </a:r>
            <a:endParaRPr lang="en-AU" dirty="0"/>
          </a:p>
        </p:txBody>
      </p:sp>
    </p:spTree>
    <p:extLst>
      <p:ext uri="{BB962C8B-B14F-4D97-AF65-F5344CB8AC3E}">
        <p14:creationId xmlns:p14="http://schemas.microsoft.com/office/powerpoint/2010/main" val="14481027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AU" dirty="0" smtClean="0"/>
                  <a:t>The particles which are most attracted to the stationary phase move the slowest and the particles that are most </a:t>
                </a:r>
                <a:r>
                  <a:rPr lang="en-AU" dirty="0"/>
                  <a:t>s</a:t>
                </a:r>
                <a:r>
                  <a:rPr lang="en-AU" dirty="0" smtClean="0"/>
                  <a:t>trongly attracted to the solvent move the fastest.</a:t>
                </a:r>
              </a:p>
              <a:p>
                <a:endParaRPr lang="en-AU" dirty="0"/>
              </a:p>
              <a:p>
                <a:r>
                  <a:rPr lang="en-AU" dirty="0" smtClean="0"/>
                  <a:t>In TLC you measure the distance the spot has moved from the origin compared to the distance the solvent has moved from the origin. This ratio is known as retardation factor or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a:rPr>
                          <m:t>𝑅</m:t>
                        </m:r>
                      </m:e>
                      <m:sub>
                        <m:r>
                          <a:rPr lang="en-AU" b="0" i="1" smtClean="0">
                            <a:latin typeface="Cambria Math"/>
                          </a:rPr>
                          <m:t>𝑓</m:t>
                        </m:r>
                      </m:sub>
                    </m:sSub>
                    <m:r>
                      <a:rPr lang="en-AU" b="0" i="1" smtClean="0">
                        <a:latin typeface="Cambria Math"/>
                      </a:rPr>
                      <m:t>. </m:t>
                    </m:r>
                  </m:oMath>
                </a14:m>
                <a:endParaRPr lang="en-AU"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9" t="-678" r="-479"/>
                </a:stretch>
              </a:blipFill>
            </p:spPr>
            <p:txBody>
              <a:bodyPr/>
              <a:lstStyle/>
              <a:p>
                <a:r>
                  <a:rPr lang="en-AU">
                    <a:noFill/>
                  </a:rPr>
                  <a:t> </a:t>
                </a:r>
              </a:p>
            </p:txBody>
          </p:sp>
        </mc:Fallback>
      </mc:AlternateContent>
    </p:spTree>
    <p:extLst>
      <p:ext uri="{BB962C8B-B14F-4D97-AF65-F5344CB8AC3E}">
        <p14:creationId xmlns:p14="http://schemas.microsoft.com/office/powerpoint/2010/main" val="9848487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AU" dirty="0"/>
                  <a:t>The </a:t>
                </a:r>
                <a14:m>
                  <m:oMath xmlns:m="http://schemas.openxmlformats.org/officeDocument/2006/math">
                    <m:sSub>
                      <m:sSubPr>
                        <m:ctrlPr>
                          <a:rPr lang="en-AU" i="1">
                            <a:latin typeface="Cambria Math" panose="02040503050406030204" pitchFamily="18" charset="0"/>
                          </a:rPr>
                        </m:ctrlPr>
                      </m:sSubPr>
                      <m:e>
                        <m:r>
                          <a:rPr lang="en-AU" i="1">
                            <a:latin typeface="Cambria Math"/>
                          </a:rPr>
                          <m:t>𝑅</m:t>
                        </m:r>
                      </m:e>
                      <m:sub>
                        <m:r>
                          <a:rPr lang="en-AU" i="1">
                            <a:latin typeface="Cambria Math"/>
                          </a:rPr>
                          <m:t>𝑓</m:t>
                        </m:r>
                      </m:sub>
                    </m:sSub>
                  </m:oMath>
                </a14:m>
                <a:r>
                  <a:rPr lang="en-AU" dirty="0"/>
                  <a:t> value must be between 0 and 1 and is defined as the distance travelled by the sample from its </a:t>
                </a:r>
                <a:r>
                  <a:rPr lang="en-AU" dirty="0" smtClean="0"/>
                  <a:t>origin divided by the distance of the solvent front from the sample origin. </a:t>
                </a:r>
              </a:p>
              <a:p>
                <a:r>
                  <a:rPr lang="en-AU" dirty="0" smtClean="0"/>
                  <a:t>A substance that does not migrate from the sample origin has an </a:t>
                </a:r>
                <a14:m>
                  <m:oMath xmlns:m="http://schemas.openxmlformats.org/officeDocument/2006/math">
                    <m:sSub>
                      <m:sSubPr>
                        <m:ctrlPr>
                          <a:rPr lang="en-AU" i="1">
                            <a:latin typeface="Cambria Math" panose="02040503050406030204" pitchFamily="18" charset="0"/>
                          </a:rPr>
                        </m:ctrlPr>
                      </m:sSubPr>
                      <m:e>
                        <m:r>
                          <a:rPr lang="en-AU" i="1">
                            <a:latin typeface="Cambria Math"/>
                          </a:rPr>
                          <m:t>𝑅</m:t>
                        </m:r>
                      </m:e>
                      <m:sub>
                        <m:r>
                          <a:rPr lang="en-AU" i="1">
                            <a:latin typeface="Cambria Math"/>
                          </a:rPr>
                          <m:t>𝑓</m:t>
                        </m:r>
                      </m:sub>
                    </m:sSub>
                  </m:oMath>
                </a14:m>
                <a:r>
                  <a:rPr lang="en-AU" dirty="0"/>
                  <a:t> </a:t>
                </a:r>
                <a:r>
                  <a:rPr lang="en-AU" dirty="0" smtClean="0"/>
                  <a:t>= 0, while the one that is not adsorbed at all has a </a:t>
                </a:r>
                <a14:m>
                  <m:oMath xmlns:m="http://schemas.openxmlformats.org/officeDocument/2006/math">
                    <m:sSub>
                      <m:sSubPr>
                        <m:ctrlPr>
                          <a:rPr lang="en-AU" i="1">
                            <a:latin typeface="Cambria Math" panose="02040503050406030204" pitchFamily="18" charset="0"/>
                          </a:rPr>
                        </m:ctrlPr>
                      </m:sSubPr>
                      <m:e>
                        <m:r>
                          <a:rPr lang="en-AU" i="1">
                            <a:latin typeface="Cambria Math"/>
                          </a:rPr>
                          <m:t>𝑅</m:t>
                        </m:r>
                      </m:e>
                      <m:sub>
                        <m:r>
                          <a:rPr lang="en-AU" i="1">
                            <a:latin typeface="Cambria Math"/>
                          </a:rPr>
                          <m:t>𝑓</m:t>
                        </m:r>
                      </m:sub>
                    </m:sSub>
                  </m:oMath>
                </a14:m>
                <a:r>
                  <a:rPr lang="en-AU" dirty="0" smtClean="0"/>
                  <a:t> =1. The </a:t>
                </a:r>
                <a14:m>
                  <m:oMath xmlns:m="http://schemas.openxmlformats.org/officeDocument/2006/math">
                    <m:sSub>
                      <m:sSubPr>
                        <m:ctrlPr>
                          <a:rPr lang="en-AU" i="1">
                            <a:latin typeface="Cambria Math" panose="02040503050406030204" pitchFamily="18" charset="0"/>
                          </a:rPr>
                        </m:ctrlPr>
                      </m:sSubPr>
                      <m:e>
                        <m:r>
                          <a:rPr lang="en-AU" i="1">
                            <a:latin typeface="Cambria Math"/>
                          </a:rPr>
                          <m:t>𝑅</m:t>
                        </m:r>
                      </m:e>
                      <m:sub>
                        <m:r>
                          <a:rPr lang="en-AU" i="1">
                            <a:latin typeface="Cambria Math"/>
                          </a:rPr>
                          <m:t>𝑓</m:t>
                        </m:r>
                      </m:sub>
                    </m:sSub>
                  </m:oMath>
                </a14:m>
                <a:r>
                  <a:rPr lang="en-AU" dirty="0" smtClean="0"/>
                  <a:t> value is characteristic for the particular substance and it cannot be greater than 1. </a:t>
                </a:r>
                <a:endParaRPr lang="en-AU" dirty="0"/>
              </a:p>
              <a:p>
                <a:r>
                  <a:rPr lang="en-AU" dirty="0" smtClean="0"/>
                  <a:t> </a:t>
                </a:r>
              </a:p>
              <a:p>
                <a:r>
                  <a:rPr lang="en-AU" dirty="0" smtClean="0"/>
                  <a:t> </a:t>
                </a:r>
                <a:endParaRPr lang="en-AU"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9" t="-169" r="-1677"/>
                </a:stretch>
              </a:blipFill>
            </p:spPr>
            <p:txBody>
              <a:bodyPr/>
              <a:lstStyle/>
              <a:p>
                <a:r>
                  <a:rPr lang="en-AU">
                    <a:noFill/>
                  </a:rPr>
                  <a:t> </a:t>
                </a:r>
              </a:p>
            </p:txBody>
          </p:sp>
        </mc:Fallback>
      </mc:AlternateContent>
    </p:spTree>
    <p:extLst>
      <p:ext uri="{BB962C8B-B14F-4D97-AF65-F5344CB8AC3E}">
        <p14:creationId xmlns:p14="http://schemas.microsoft.com/office/powerpoint/2010/main" val="15078437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AU" dirty="0" smtClean="0"/>
                  <a:t>The components that is being separated depends upon the length of time the plate is in contact with the solvent. If it is too short then there is only a small separation. If this is too long, then all spots would eventually make it to the top. </a:t>
                </a:r>
              </a:p>
              <a:p>
                <a:endParaRPr lang="en-AU" dirty="0"/>
              </a:p>
              <a:p>
                <a:r>
                  <a:rPr lang="en-AU" dirty="0" smtClean="0"/>
                  <a:t>A longer plate and reasonable time will provide  the best separation. It is not possible to identify all components of a sample with one TLC plate. Some samples may have similar </a:t>
                </a:r>
                <a14:m>
                  <m:oMath xmlns:m="http://schemas.openxmlformats.org/officeDocument/2006/math">
                    <m:sSub>
                      <m:sSubPr>
                        <m:ctrlPr>
                          <a:rPr lang="en-AU" i="1">
                            <a:latin typeface="Cambria Math" panose="02040503050406030204" pitchFamily="18" charset="0"/>
                          </a:rPr>
                        </m:ctrlPr>
                      </m:sSubPr>
                      <m:e>
                        <m:r>
                          <a:rPr lang="en-AU" i="1">
                            <a:latin typeface="Cambria Math"/>
                          </a:rPr>
                          <m:t>𝑅</m:t>
                        </m:r>
                      </m:e>
                      <m:sub>
                        <m:r>
                          <a:rPr lang="en-AU" i="1">
                            <a:latin typeface="Cambria Math"/>
                          </a:rPr>
                          <m:t>𝑓</m:t>
                        </m:r>
                      </m:sub>
                    </m:sSub>
                    <m:r>
                      <a:rPr lang="en-AU" b="0" i="1" smtClean="0">
                        <a:latin typeface="Cambria Math"/>
                      </a:rPr>
                      <m:t> </m:t>
                    </m:r>
                    <m:r>
                      <a:rPr lang="en-AU" b="0" i="1" smtClean="0">
                        <a:latin typeface="Cambria Math"/>
                      </a:rPr>
                      <m:t>𝑣𝑎𝑙𝑢𝑒𝑠</m:t>
                    </m:r>
                    <m:r>
                      <a:rPr lang="en-AU" b="0" i="1" smtClean="0">
                        <a:latin typeface="Cambria Math"/>
                      </a:rPr>
                      <m:t>. </m:t>
                    </m:r>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9" t="-678" r="-958"/>
                </a:stretch>
              </a:blipFill>
            </p:spPr>
            <p:txBody>
              <a:bodyPr/>
              <a:lstStyle/>
              <a:p>
                <a:r>
                  <a:rPr lang="en-AU">
                    <a:noFill/>
                  </a:rPr>
                  <a:t> </a:t>
                </a:r>
              </a:p>
            </p:txBody>
          </p:sp>
        </mc:Fallback>
      </mc:AlternateContent>
    </p:spTree>
    <p:extLst>
      <p:ext uri="{BB962C8B-B14F-4D97-AF65-F5344CB8AC3E}">
        <p14:creationId xmlns:p14="http://schemas.microsoft.com/office/powerpoint/2010/main" val="36150279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AU" dirty="0" smtClean="0"/>
                  <a:t>Various solvent mixtures and stationary phases can be used to achieve better separation. </a:t>
                </a:r>
              </a:p>
              <a:p>
                <a:endParaRPr lang="en-AU" dirty="0"/>
              </a:p>
              <a:p>
                <a14:m>
                  <m:oMath xmlns:m="http://schemas.openxmlformats.org/officeDocument/2006/math">
                    <m:r>
                      <m:rPr>
                        <m:nor/>
                      </m:rPr>
                      <a:rPr lang="en-AU" sz="2400" dirty="0"/>
                      <m:t>A</m:t>
                    </m:r>
                    <m:r>
                      <m:rPr>
                        <m:nor/>
                      </m:rPr>
                      <a:rPr lang="en-AU" sz="2400" dirty="0"/>
                      <m:t> </m:t>
                    </m:r>
                    <m:r>
                      <m:rPr>
                        <m:nor/>
                      </m:rPr>
                      <a:rPr lang="en-AU" sz="2400" dirty="0"/>
                      <m:t>material</m:t>
                    </m:r>
                    <m:r>
                      <m:rPr>
                        <m:nor/>
                      </m:rPr>
                      <a:rPr lang="en-AU" sz="2400" dirty="0"/>
                      <m:t> </m:t>
                    </m:r>
                    <m:r>
                      <m:rPr>
                        <m:nor/>
                      </m:rPr>
                      <a:rPr lang="en-AU" sz="2400" dirty="0"/>
                      <m:t>with</m:t>
                    </m:r>
                    <m:r>
                      <m:rPr>
                        <m:nor/>
                      </m:rPr>
                      <a:rPr lang="en-AU" sz="2400" dirty="0"/>
                      <m:t> </m:t>
                    </m:r>
                    <m:r>
                      <m:rPr>
                        <m:nor/>
                      </m:rPr>
                      <a:rPr lang="en-AU" sz="2400" dirty="0" smtClean="0"/>
                      <m:t>a</m:t>
                    </m:r>
                    <m:r>
                      <m:rPr>
                        <m:nor/>
                      </m:rPr>
                      <a:rPr lang="en-AU" sz="2400" dirty="0"/>
                      <m:t>n</m:t>
                    </m:r>
                    <m:r>
                      <a:rPr lang="en-AU" sz="2400" b="0" i="1" dirty="0" smtClean="0">
                        <a:latin typeface="Cambria Math"/>
                      </a:rPr>
                      <m:t>  </m:t>
                    </m:r>
                    <m:sSub>
                      <m:sSubPr>
                        <m:ctrlPr>
                          <a:rPr lang="en-AU" sz="2400" i="1">
                            <a:latin typeface="Cambria Math" panose="02040503050406030204" pitchFamily="18" charset="0"/>
                          </a:rPr>
                        </m:ctrlPr>
                      </m:sSubPr>
                      <m:e>
                        <m:r>
                          <a:rPr lang="en-AU" sz="2400" i="1">
                            <a:latin typeface="Cambria Math"/>
                          </a:rPr>
                          <m:t>𝑅</m:t>
                        </m:r>
                      </m:e>
                      <m:sub>
                        <m:r>
                          <a:rPr lang="en-AU" sz="2400" i="1">
                            <a:latin typeface="Cambria Math"/>
                          </a:rPr>
                          <m:t>𝑓</m:t>
                        </m:r>
                      </m:sub>
                    </m:sSub>
                    <m:r>
                      <a:rPr lang="en-AU" sz="2400" i="1">
                        <a:latin typeface="Cambria Math"/>
                      </a:rPr>
                      <m:t> </m:t>
                    </m:r>
                    <m:r>
                      <a:rPr lang="en-AU" sz="2400" i="1">
                        <a:latin typeface="Cambria Math"/>
                      </a:rPr>
                      <m:t>𝑜𝑓</m:t>
                    </m:r>
                    <m:r>
                      <a:rPr lang="en-AU" sz="2400" i="1">
                        <a:latin typeface="Cambria Math"/>
                      </a:rPr>
                      <m:t> 0.5 </m:t>
                    </m:r>
                    <m:r>
                      <a:rPr lang="en-AU" sz="2400" i="1">
                        <a:latin typeface="Cambria Math"/>
                      </a:rPr>
                      <m:t>𝑤𝑖𝑙𝑙</m:t>
                    </m:r>
                    <m:r>
                      <a:rPr lang="en-AU" sz="2400" i="1">
                        <a:latin typeface="Cambria Math"/>
                      </a:rPr>
                      <m:t> </m:t>
                    </m:r>
                    <m:r>
                      <a:rPr lang="en-AU" sz="2400" i="1">
                        <a:latin typeface="Cambria Math"/>
                      </a:rPr>
                      <m:t>𝑚𝑜𝑣𝑒</m:t>
                    </m:r>
                    <m:r>
                      <a:rPr lang="en-AU" sz="2400" i="1">
                        <a:latin typeface="Cambria Math"/>
                      </a:rPr>
                      <m:t> 2.5</m:t>
                    </m:r>
                    <m:r>
                      <a:rPr lang="en-AU" sz="2400" i="1">
                        <a:latin typeface="Cambria Math"/>
                      </a:rPr>
                      <m:t>𝑐𝑚</m:t>
                    </m:r>
                    <m:r>
                      <a:rPr lang="en-AU" sz="2400" i="1">
                        <a:latin typeface="Cambria Math"/>
                      </a:rPr>
                      <m:t> </m:t>
                    </m:r>
                    <m:r>
                      <a:rPr lang="en-AU" sz="2400" i="1">
                        <a:latin typeface="Cambria Math"/>
                      </a:rPr>
                      <m:t>𝑤h𝑒𝑛</m:t>
                    </m:r>
                    <m:r>
                      <a:rPr lang="en-AU" sz="2400" i="1">
                        <a:latin typeface="Cambria Math"/>
                      </a:rPr>
                      <m:t> </m:t>
                    </m:r>
                    <m:r>
                      <a:rPr lang="en-AU" sz="2400" i="1">
                        <a:latin typeface="Cambria Math"/>
                      </a:rPr>
                      <m:t>𝑡h𝑒</m:t>
                    </m:r>
                    <m:r>
                      <a:rPr lang="en-AU" sz="2400" i="1">
                        <a:latin typeface="Cambria Math"/>
                      </a:rPr>
                      <m:t> </m:t>
                    </m:r>
                    <m:r>
                      <a:rPr lang="en-AU" sz="2400" i="1">
                        <a:latin typeface="Cambria Math"/>
                      </a:rPr>
                      <m:t>𝑠𝑜𝑙𝑣𝑒𝑛𝑡</m:t>
                    </m:r>
                    <m:r>
                      <a:rPr lang="en-AU" sz="2400" i="1">
                        <a:latin typeface="Cambria Math"/>
                      </a:rPr>
                      <m:t>  </m:t>
                    </m:r>
                  </m:oMath>
                </a14:m>
                <a:r>
                  <a:rPr lang="en-AU" sz="2400" dirty="0" smtClean="0"/>
                  <a:t>front has moved 5cm. If a second plate was allowed to run for longer, then the same sample will move 5cm when the solvent has moved 10 cm. </a:t>
                </a:r>
              </a:p>
              <a:p>
                <a:endParaRPr lang="en-AU" sz="2400" dirty="0"/>
              </a:p>
              <a:p>
                <a:r>
                  <a:rPr lang="en-AU" dirty="0" smtClean="0"/>
                  <a:t>The identity of an unknown compound can be confirmed by running a pure sample of the compound( a standard) under the same conditions. If the substances are the same, then the </a:t>
                </a:r>
                <a14:m>
                  <m:oMath xmlns:m="http://schemas.openxmlformats.org/officeDocument/2006/math">
                    <m:sSub>
                      <m:sSubPr>
                        <m:ctrlPr>
                          <a:rPr lang="en-AU" i="1">
                            <a:latin typeface="Cambria Math" panose="02040503050406030204" pitchFamily="18" charset="0"/>
                          </a:rPr>
                        </m:ctrlPr>
                      </m:sSubPr>
                      <m:e>
                        <m:r>
                          <a:rPr lang="en-AU" i="1">
                            <a:latin typeface="Cambria Math"/>
                          </a:rPr>
                          <m:t>𝑅</m:t>
                        </m:r>
                      </m:e>
                      <m:sub>
                        <m:r>
                          <a:rPr lang="en-AU" i="1">
                            <a:latin typeface="Cambria Math"/>
                          </a:rPr>
                          <m:t>𝑓</m:t>
                        </m:r>
                      </m:sub>
                    </m:sSub>
                  </m:oMath>
                </a14:m>
                <a:r>
                  <a:rPr lang="en-AU" dirty="0" smtClean="0"/>
                  <a:t> vales would be the same. </a:t>
                </a:r>
                <a:endParaRPr lang="en-AU" dirty="0"/>
              </a:p>
              <a:p>
                <a:endParaRPr lang="en-AU" sz="2400"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9" t="-508" r="-958" b="-678"/>
                </a:stretch>
              </a:blipFill>
            </p:spPr>
            <p:txBody>
              <a:bodyPr/>
              <a:lstStyle/>
              <a:p>
                <a:r>
                  <a:rPr lang="en-AU">
                    <a:noFill/>
                  </a:rPr>
                  <a:t> </a:t>
                </a:r>
              </a:p>
            </p:txBody>
          </p:sp>
        </mc:Fallback>
      </mc:AlternateContent>
    </p:spTree>
    <p:extLst>
      <p:ext uri="{BB962C8B-B14F-4D97-AF65-F5344CB8AC3E}">
        <p14:creationId xmlns:p14="http://schemas.microsoft.com/office/powerpoint/2010/main" val="14653801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wwwchem.uwimona.edu.jm/lab_manuals/c1901exp12_4.gif"/>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1824639" y="2286000"/>
            <a:ext cx="5861435" cy="3594100"/>
          </a:xfrm>
          <a:prstGeom prst="rect">
            <a:avLst/>
          </a:prstGeom>
          <a:noFill/>
          <a:ln>
            <a:noFill/>
          </a:ln>
        </p:spPr>
      </p:pic>
    </p:spTree>
    <p:extLst>
      <p:ext uri="{BB962C8B-B14F-4D97-AF65-F5344CB8AC3E}">
        <p14:creationId xmlns:p14="http://schemas.microsoft.com/office/powerpoint/2010/main" val="7028719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Gas chromatography</a:t>
            </a:r>
            <a:endParaRPr lang="en-AU" dirty="0"/>
          </a:p>
        </p:txBody>
      </p:sp>
      <p:sp>
        <p:nvSpPr>
          <p:cNvPr id="3" name="Content Placeholder 2"/>
          <p:cNvSpPr>
            <a:spLocks noGrp="1"/>
          </p:cNvSpPr>
          <p:nvPr>
            <p:ph idx="1"/>
          </p:nvPr>
        </p:nvSpPr>
        <p:spPr/>
        <p:txBody>
          <a:bodyPr>
            <a:normAutofit fontScale="92500" lnSpcReduction="20000"/>
          </a:bodyPr>
          <a:lstStyle/>
          <a:p>
            <a:r>
              <a:rPr lang="en-AU" dirty="0">
                <a:hlinkClick r:id="rId2"/>
              </a:rPr>
              <a:t>https://</a:t>
            </a:r>
            <a:r>
              <a:rPr lang="en-AU" dirty="0" smtClean="0">
                <a:hlinkClick r:id="rId2"/>
              </a:rPr>
              <a:t>www.youtube.com/watch?v=4Xaa9WdXVTM</a:t>
            </a:r>
            <a:endParaRPr lang="en-AU" dirty="0" smtClean="0"/>
          </a:p>
          <a:p>
            <a:endParaRPr lang="en-AU" dirty="0"/>
          </a:p>
          <a:p>
            <a:r>
              <a:rPr lang="en-AU" dirty="0" smtClean="0"/>
              <a:t>Gas chromatography (GC) is a separation technique for small organic molecules which can withstand relatively high temperatures. </a:t>
            </a:r>
          </a:p>
          <a:p>
            <a:r>
              <a:rPr lang="en-AU" u="sng" dirty="0" smtClean="0">
                <a:solidFill>
                  <a:srgbClr val="FF0000"/>
                </a:solidFill>
              </a:rPr>
              <a:t>Application of gas chromatography</a:t>
            </a:r>
          </a:p>
          <a:p>
            <a:pPr marL="0" indent="0">
              <a:buNone/>
            </a:pPr>
            <a:r>
              <a:rPr lang="en-AU" dirty="0" smtClean="0"/>
              <a:t>For measurement of blood alcohol levels.</a:t>
            </a:r>
          </a:p>
          <a:p>
            <a:pPr marL="0" indent="0">
              <a:buNone/>
            </a:pPr>
            <a:r>
              <a:rPr lang="en-AU" dirty="0" smtClean="0"/>
              <a:t>Gas chromatograph consists of a gas bottle, an oven, a column, a detector and a recorder. The sample is injected into the oven where the gas pushes the sample into a long thin column.  In the column, smaller particles or those that adsorb onto the stationary phase the least leave the column first. Larger particles or those that more readily take longer to leave the column. </a:t>
            </a:r>
            <a:endParaRPr lang="en-AU" u="sng" dirty="0">
              <a:solidFill>
                <a:srgbClr val="FF0000"/>
              </a:solidFill>
            </a:endParaRPr>
          </a:p>
        </p:txBody>
      </p:sp>
    </p:spTree>
    <p:extLst>
      <p:ext uri="{BB962C8B-B14F-4D97-AF65-F5344CB8AC3E}">
        <p14:creationId xmlns:p14="http://schemas.microsoft.com/office/powerpoint/2010/main" val="28363039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The time the sample  takes to elute ( leave the column) is characteristic for the substance. This time is called as retention time denoted by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a:rPr>
                          <m:t>𝑅</m:t>
                        </m:r>
                      </m:e>
                      <m:sub>
                        <m:r>
                          <a:rPr lang="en-AU" b="0" i="1" smtClean="0">
                            <a:latin typeface="Cambria Math"/>
                          </a:rPr>
                          <m:t>𝑡</m:t>
                        </m:r>
                      </m:sub>
                    </m:sSub>
                    <m:r>
                      <a:rPr lang="en-AU" b="0" i="1" smtClean="0">
                        <a:latin typeface="Cambria Math"/>
                      </a:rPr>
                      <m:t> . </m:t>
                    </m:r>
                  </m:oMath>
                </a14:m>
                <a:endParaRPr lang="en-AU" b="0" i="1" dirty="0" smtClean="0">
                  <a:latin typeface="Cambria Math"/>
                </a:endParaRPr>
              </a:p>
              <a:p>
                <a14:m>
                  <m:oMath xmlns:m="http://schemas.openxmlformats.org/officeDocument/2006/math">
                    <m:r>
                      <a:rPr lang="en-AU" b="0" i="1" smtClean="0">
                        <a:latin typeface="Cambria Math"/>
                      </a:rPr>
                      <m:t>𝑇h𝑖𝑠</m:t>
                    </m:r>
                    <m:r>
                      <a:rPr lang="en-AU" b="0" i="1" smtClean="0">
                        <a:latin typeface="Cambria Math"/>
                      </a:rPr>
                      <m:t> </m:t>
                    </m:r>
                    <m:r>
                      <a:rPr lang="en-AU" b="0" i="1" smtClean="0">
                        <a:latin typeface="Cambria Math"/>
                      </a:rPr>
                      <m:t>𝑣𝑎𝑙𝑢𝑒</m:t>
                    </m:r>
                    <m:r>
                      <a:rPr lang="en-AU" b="0" i="1" smtClean="0">
                        <a:latin typeface="Cambria Math"/>
                      </a:rPr>
                      <m:t> </m:t>
                    </m:r>
                    <m:r>
                      <a:rPr lang="en-AU" b="0" i="1" smtClean="0">
                        <a:latin typeface="Cambria Math"/>
                      </a:rPr>
                      <m:t>𝑐𝑎</m:t>
                    </m:r>
                    <m:r>
                      <a:rPr lang="en-AU" b="0" i="1" smtClean="0">
                        <a:latin typeface="Cambria Math"/>
                      </a:rPr>
                      <m:t> </m:t>
                    </m:r>
                    <m:r>
                      <a:rPr lang="en-AU" b="0" i="1" smtClean="0">
                        <a:latin typeface="Cambria Math"/>
                      </a:rPr>
                      <m:t>𝑎𝑠𝑛</m:t>
                    </m:r>
                    <m:r>
                      <a:rPr lang="en-AU" b="0" i="1" smtClean="0">
                        <a:latin typeface="Cambria Math"/>
                      </a:rPr>
                      <m:t> </m:t>
                    </m:r>
                    <m:r>
                      <a:rPr lang="en-AU" b="0" i="1" smtClean="0">
                        <a:latin typeface="Cambria Math"/>
                      </a:rPr>
                      <m:t>𝑏𝑒</m:t>
                    </m:r>
                    <m:r>
                      <a:rPr lang="en-AU" b="0" i="1" smtClean="0">
                        <a:latin typeface="Cambria Math"/>
                      </a:rPr>
                      <m:t> </m:t>
                    </m:r>
                    <m:r>
                      <a:rPr lang="en-AU" b="0" i="1" smtClean="0">
                        <a:latin typeface="Cambria Math"/>
                      </a:rPr>
                      <m:t>𝑢𝑠𝑒𝑑</m:t>
                    </m:r>
                    <m:r>
                      <a:rPr lang="en-AU" b="0" i="1" smtClean="0">
                        <a:latin typeface="Cambria Math"/>
                      </a:rPr>
                      <m:t> </m:t>
                    </m:r>
                    <m:r>
                      <a:rPr lang="en-AU" b="0" i="1" smtClean="0">
                        <a:latin typeface="Cambria Math"/>
                      </a:rPr>
                      <m:t>𝑡𝑜</m:t>
                    </m:r>
                    <m:r>
                      <a:rPr lang="en-AU" b="0" i="1" smtClean="0">
                        <a:latin typeface="Cambria Math"/>
                      </a:rPr>
                      <m:t> </m:t>
                    </m:r>
                  </m:oMath>
                </a14:m>
                <a:r>
                  <a:rPr lang="en-AU" dirty="0" smtClean="0"/>
                  <a:t>identify the component as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a:rPr>
                          <m:t>𝑅</m:t>
                        </m:r>
                      </m:e>
                      <m:sub>
                        <m:r>
                          <a:rPr lang="en-AU" b="0" i="1" smtClean="0">
                            <a:latin typeface="Cambria Math"/>
                          </a:rPr>
                          <m:t>𝑓</m:t>
                        </m:r>
                      </m:sub>
                    </m:sSub>
                    <m:r>
                      <a:rPr lang="en-AU" b="0" i="1" smtClean="0">
                        <a:latin typeface="Cambria Math"/>
                      </a:rPr>
                      <m:t> </m:t>
                    </m:r>
                    <m:r>
                      <a:rPr lang="en-AU" b="0" i="1" smtClean="0">
                        <a:latin typeface="Cambria Math"/>
                      </a:rPr>
                      <m:t>𝑖𝑠</m:t>
                    </m:r>
                    <m:r>
                      <a:rPr lang="en-AU" b="0" i="1" smtClean="0">
                        <a:latin typeface="Cambria Math"/>
                      </a:rPr>
                      <m:t> </m:t>
                    </m:r>
                    <m:r>
                      <a:rPr lang="en-AU" b="0" i="1" smtClean="0">
                        <a:latin typeface="Cambria Math"/>
                      </a:rPr>
                      <m:t>𝑖𝑛</m:t>
                    </m:r>
                    <m:r>
                      <a:rPr lang="en-AU" b="0" i="1" smtClean="0">
                        <a:latin typeface="Cambria Math"/>
                      </a:rPr>
                      <m:t> </m:t>
                    </m:r>
                    <m:r>
                      <a:rPr lang="en-AU" b="0" i="1" smtClean="0">
                        <a:latin typeface="Cambria Math"/>
                      </a:rPr>
                      <m:t>𝑇𝐿𝐶</m:t>
                    </m:r>
                    <m:r>
                      <a:rPr lang="en-AU" b="0" i="1" smtClean="0">
                        <a:latin typeface="Cambria Math"/>
                      </a:rPr>
                      <m:t> </m:t>
                    </m:r>
                    <m:r>
                      <a:rPr lang="en-AU" b="0" i="1" smtClean="0">
                        <a:latin typeface="Cambria Math"/>
                      </a:rPr>
                      <m:t>𝑎𝑛𝑑</m:t>
                    </m:r>
                    <m:r>
                      <a:rPr lang="en-AU" b="0" i="1" smtClean="0">
                        <a:latin typeface="Cambria Math"/>
                      </a:rPr>
                      <m:t> </m:t>
                    </m:r>
                    <m:r>
                      <a:rPr lang="en-AU" b="0" i="1" smtClean="0">
                        <a:latin typeface="Cambria Math"/>
                      </a:rPr>
                      <m:t>𝑝𝑎𝑝𝑒𝑟</m:t>
                    </m:r>
                    <m:r>
                      <a:rPr lang="en-AU" b="0" i="1" smtClean="0">
                        <a:latin typeface="Cambria Math"/>
                      </a:rPr>
                      <m:t> </m:t>
                    </m:r>
                    <m:r>
                      <a:rPr lang="en-AU" b="0" i="1" smtClean="0">
                        <a:latin typeface="Cambria Math"/>
                      </a:rPr>
                      <m:t>𝑐h𝑟𝑜𝑚𝑎𝑡𝑜𝑔𝑟𝑎𝑝h𝑦</m:t>
                    </m:r>
                    <m:r>
                      <a:rPr lang="en-AU" b="0" i="1" smtClean="0">
                        <a:latin typeface="Cambria Math"/>
                      </a:rPr>
                      <m:t>.</m:t>
                    </m:r>
                  </m:oMath>
                </a14:m>
                <a:endParaRPr lang="en-AU" b="0" dirty="0" smtClean="0"/>
              </a:p>
              <a:p>
                <a:endParaRPr lang="en-AU" dirty="0" smtClean="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704"/>
                </a:stretch>
              </a:blipFill>
            </p:spPr>
            <p:txBody>
              <a:bodyPr/>
              <a:lstStyle/>
              <a:p>
                <a:r>
                  <a:rPr lang="en-AU">
                    <a:noFill/>
                  </a:rPr>
                  <a:t> </a:t>
                </a:r>
              </a:p>
            </p:txBody>
          </p:sp>
        </mc:Fallback>
      </mc:AlternateContent>
      <p:pic>
        <p:nvPicPr>
          <p:cNvPr id="4" name="Picture 3" descr="http://media.noria.com/sites/archive_images/backup_200207_GasChroma-Fig2.jpg"/>
          <p:cNvPicPr/>
          <p:nvPr/>
        </p:nvPicPr>
        <p:blipFill>
          <a:blip r:embed="rId3">
            <a:extLst>
              <a:ext uri="{28A0092B-C50C-407E-A947-70E740481C1C}">
                <a14:useLocalDpi xmlns:a14="http://schemas.microsoft.com/office/drawing/2010/main" val="0"/>
              </a:ext>
            </a:extLst>
          </a:blip>
          <a:srcRect/>
          <a:stretch>
            <a:fillRect/>
          </a:stretch>
        </p:blipFill>
        <p:spPr bwMode="auto">
          <a:xfrm>
            <a:off x="1763688" y="4149080"/>
            <a:ext cx="4824536" cy="2118370"/>
          </a:xfrm>
          <a:prstGeom prst="rect">
            <a:avLst/>
          </a:prstGeom>
          <a:noFill/>
          <a:ln>
            <a:noFill/>
          </a:ln>
        </p:spPr>
      </p:pic>
    </p:spTree>
    <p:extLst>
      <p:ext uri="{BB962C8B-B14F-4D97-AF65-F5344CB8AC3E}">
        <p14:creationId xmlns:p14="http://schemas.microsoft.com/office/powerpoint/2010/main" val="11755448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AU" dirty="0" smtClean="0"/>
                  <a:t>To measure the amount of </a:t>
                </a:r>
                <a:r>
                  <a:rPr lang="en-AU" dirty="0" err="1" smtClean="0"/>
                  <a:t>analyte</a:t>
                </a:r>
                <a:r>
                  <a:rPr lang="en-AU" dirty="0" smtClean="0"/>
                  <a:t> this technique can be used. If a wine contain 12% alcohol, then standards ranging from 5% to 20% is run through the gas chromatograph and the peak area measured. </a:t>
                </a:r>
              </a:p>
              <a:p>
                <a:endParaRPr lang="en-AU" dirty="0"/>
              </a:p>
              <a:p>
                <a:r>
                  <a:rPr lang="en-AU" dirty="0" smtClean="0"/>
                  <a:t>A calibration curve is drawn and the unknown value is read off. It is important that the  unknown value lies within the range of the standard values. </a:t>
                </a:r>
              </a:p>
              <a:p>
                <a:endParaRPr lang="en-AU" dirty="0"/>
              </a:p>
              <a:p>
                <a:r>
                  <a:rPr lang="en-AU" dirty="0" smtClean="0"/>
                  <a:t>The </a:t>
                </a:r>
                <a14:m>
                  <m:oMath xmlns:m="http://schemas.openxmlformats.org/officeDocument/2006/math">
                    <m:sSub>
                      <m:sSubPr>
                        <m:ctrlPr>
                          <a:rPr lang="en-AU" i="1">
                            <a:latin typeface="Cambria Math" panose="02040503050406030204" pitchFamily="18" charset="0"/>
                          </a:rPr>
                        </m:ctrlPr>
                      </m:sSubPr>
                      <m:e>
                        <m:r>
                          <a:rPr lang="en-AU" i="1">
                            <a:latin typeface="Cambria Math"/>
                          </a:rPr>
                          <m:t>𝑅</m:t>
                        </m:r>
                      </m:e>
                      <m:sub>
                        <m:r>
                          <a:rPr lang="en-AU" b="0" i="1" smtClean="0">
                            <a:latin typeface="Cambria Math"/>
                          </a:rPr>
                          <m:t>𝑡</m:t>
                        </m:r>
                      </m:sub>
                    </m:sSub>
                  </m:oMath>
                </a14:m>
                <a:r>
                  <a:rPr lang="en-AU" dirty="0" smtClean="0"/>
                  <a:t> value  will be the same for each standard.  The peak area will alter in proportion to the amount of substance  present. </a:t>
                </a:r>
              </a:p>
              <a:p>
                <a:r>
                  <a:rPr lang="en-AU" dirty="0" smtClean="0"/>
                  <a:t>A calibration curve is plotted and the unknown wine’s peak area is used to determine the amount of alcohol present.</a:t>
                </a:r>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399" t="-508" r="-1198"/>
                </a:stretch>
              </a:blipFill>
            </p:spPr>
            <p:txBody>
              <a:bodyPr/>
              <a:lstStyle/>
              <a:p>
                <a:r>
                  <a:rPr lang="en-AU">
                    <a:noFill/>
                  </a:rPr>
                  <a:t> </a:t>
                </a:r>
              </a:p>
            </p:txBody>
          </p:sp>
        </mc:Fallback>
      </mc:AlternateContent>
    </p:spTree>
    <p:extLst>
      <p:ext uri="{BB962C8B-B14F-4D97-AF65-F5344CB8AC3E}">
        <p14:creationId xmlns:p14="http://schemas.microsoft.com/office/powerpoint/2010/main" val="24070492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smtClean="0"/>
              <a:t>High performance liquid chromatography</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AU" dirty="0">
                    <a:hlinkClick r:id="rId2"/>
                  </a:rPr>
                  <a:t>https://</a:t>
                </a:r>
                <a:r>
                  <a:rPr lang="en-AU" dirty="0" smtClean="0">
                    <a:hlinkClick r:id="rId2"/>
                  </a:rPr>
                  <a:t>www.youtube.com/watch?v=fDD_rD032Lc</a:t>
                </a:r>
                <a:endParaRPr lang="en-AU" dirty="0" smtClean="0"/>
              </a:p>
              <a:p>
                <a:endParaRPr lang="en-AU" dirty="0"/>
              </a:p>
              <a:p>
                <a:r>
                  <a:rPr lang="en-AU" dirty="0" smtClean="0"/>
                  <a:t>HPLC is used for larger organic molecules. This technique is used for substances that are unstable to heat as there is no oven in this case. Stationary column is shorter than in the gas chromatograph. Mobile phase is a liquid not a gas. A pump is used to move the liquid through the column. </a:t>
                </a:r>
              </a:p>
              <a:p>
                <a:endParaRPr lang="en-AU" dirty="0"/>
              </a:p>
              <a:p>
                <a:r>
                  <a:rPr lang="en-AU" dirty="0" smtClean="0"/>
                  <a:t>As in GC the </a:t>
                </a:r>
                <a14:m>
                  <m:oMath xmlns:m="http://schemas.openxmlformats.org/officeDocument/2006/math">
                    <m:sSub>
                      <m:sSubPr>
                        <m:ctrlPr>
                          <a:rPr lang="en-AU" i="1">
                            <a:latin typeface="Cambria Math" panose="02040503050406030204" pitchFamily="18" charset="0"/>
                          </a:rPr>
                        </m:ctrlPr>
                      </m:sSubPr>
                      <m:e>
                        <m:r>
                          <a:rPr lang="en-AU" i="1">
                            <a:latin typeface="Cambria Math"/>
                          </a:rPr>
                          <m:t>𝑅</m:t>
                        </m:r>
                      </m:e>
                      <m:sub>
                        <m:r>
                          <a:rPr lang="en-AU" i="1">
                            <a:latin typeface="Cambria Math"/>
                          </a:rPr>
                          <m:t>𝑡</m:t>
                        </m:r>
                      </m:sub>
                    </m:sSub>
                  </m:oMath>
                </a14:m>
                <a:r>
                  <a:rPr lang="en-AU" dirty="0"/>
                  <a:t> </a:t>
                </a:r>
                <a:r>
                  <a:rPr lang="en-AU" dirty="0" smtClean="0"/>
                  <a:t>values are used to identify the compounds standards can be used to confirm the identity ( same </a:t>
                </a:r>
                <a14:m>
                  <m:oMath xmlns:m="http://schemas.openxmlformats.org/officeDocument/2006/math">
                    <m:sSub>
                      <m:sSubPr>
                        <m:ctrlPr>
                          <a:rPr lang="en-AU" i="1">
                            <a:latin typeface="Cambria Math" panose="02040503050406030204" pitchFamily="18" charset="0"/>
                          </a:rPr>
                        </m:ctrlPr>
                      </m:sSubPr>
                      <m:e>
                        <m:r>
                          <a:rPr lang="en-AU" i="1">
                            <a:latin typeface="Cambria Math"/>
                          </a:rPr>
                          <m:t>𝑅</m:t>
                        </m:r>
                      </m:e>
                      <m:sub>
                        <m:r>
                          <a:rPr lang="en-AU" i="1">
                            <a:latin typeface="Cambria Math"/>
                          </a:rPr>
                          <m:t>𝑡</m:t>
                        </m:r>
                      </m:sub>
                    </m:sSub>
                  </m:oMath>
                </a14:m>
                <a:r>
                  <a:rPr lang="en-AU" dirty="0"/>
                  <a:t> </a:t>
                </a:r>
                <a:r>
                  <a:rPr lang="en-AU" dirty="0" smtClean="0"/>
                  <a:t>) and a calibration curve can be used to find out the amount of substance  present.</a:t>
                </a:r>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39" t="-1864" r="-1597"/>
                </a:stretch>
              </a:blipFill>
            </p:spPr>
            <p:txBody>
              <a:bodyPr/>
              <a:lstStyle/>
              <a:p>
                <a:r>
                  <a:rPr lang="en-AU">
                    <a:noFill/>
                  </a:rPr>
                  <a:t> </a:t>
                </a:r>
              </a:p>
            </p:txBody>
          </p:sp>
        </mc:Fallback>
      </mc:AlternateContent>
    </p:spTree>
    <p:extLst>
      <p:ext uri="{BB962C8B-B14F-4D97-AF65-F5344CB8AC3E}">
        <p14:creationId xmlns:p14="http://schemas.microsoft.com/office/powerpoint/2010/main" val="31609185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5" name="Content Placeholder 4"/>
          <p:cNvPicPr>
            <a:picLocks noGrp="1"/>
          </p:cNvPicPr>
          <p:nvPr>
            <p:ph idx="1"/>
          </p:nvPr>
        </p:nvPicPr>
        <p:blipFill rotWithShape="1">
          <a:blip r:embed="rId2"/>
          <a:srcRect l="25527" t="48218" r="29536" b="21055"/>
          <a:stretch/>
        </p:blipFill>
        <p:spPr bwMode="auto">
          <a:xfrm>
            <a:off x="938213" y="1628800"/>
            <a:ext cx="7634287" cy="460851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312846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AU" dirty="0" smtClean="0"/>
              <a:t>Summary of chromatography techniques</a:t>
            </a:r>
            <a:endParaRPr lang="en-AU" dirty="0"/>
          </a:p>
        </p:txBody>
      </p:sp>
      <p:pic>
        <p:nvPicPr>
          <p:cNvPr id="4" name="Content Placeholder 3"/>
          <p:cNvPicPr>
            <a:picLocks noGrp="1"/>
          </p:cNvPicPr>
          <p:nvPr>
            <p:ph idx="1"/>
          </p:nvPr>
        </p:nvPicPr>
        <p:blipFill rotWithShape="1">
          <a:blip r:embed="rId2"/>
          <a:srcRect l="30977" t="19383" r="30202" b="7819"/>
          <a:stretch/>
        </p:blipFill>
        <p:spPr bwMode="auto">
          <a:xfrm>
            <a:off x="1979712" y="2286000"/>
            <a:ext cx="5760639" cy="431135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30492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Questions</a:t>
            </a:r>
            <a:endParaRPr lang="en-AU" dirty="0"/>
          </a:p>
        </p:txBody>
      </p:sp>
      <p:sp>
        <p:nvSpPr>
          <p:cNvPr id="3" name="Content Placeholder 2"/>
          <p:cNvSpPr>
            <a:spLocks noGrp="1"/>
          </p:cNvSpPr>
          <p:nvPr>
            <p:ph idx="1"/>
          </p:nvPr>
        </p:nvSpPr>
        <p:spPr/>
        <p:txBody>
          <a:bodyPr/>
          <a:lstStyle/>
          <a:p>
            <a:r>
              <a:rPr lang="en-AU" dirty="0" smtClean="0"/>
              <a:t>Essential Chemistry Unit 1&amp;2</a:t>
            </a:r>
          </a:p>
          <a:p>
            <a:r>
              <a:rPr lang="en-AU" smtClean="0"/>
              <a:t>Page: 167- 169: set: 33 Q: 1,4,5, 8 and 9</a:t>
            </a:r>
            <a:endParaRPr lang="en-AU" dirty="0"/>
          </a:p>
        </p:txBody>
      </p:sp>
    </p:spTree>
    <p:extLst>
      <p:ext uri="{BB962C8B-B14F-4D97-AF65-F5344CB8AC3E}">
        <p14:creationId xmlns:p14="http://schemas.microsoft.com/office/powerpoint/2010/main" val="1139780913"/>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Badge</Template>
  <TotalTime>756</TotalTime>
  <Words>1149</Words>
  <Application>Microsoft Office PowerPoint</Application>
  <PresentationFormat>On-screen Show (4:3)</PresentationFormat>
  <Paragraphs>69</Paragraphs>
  <Slides>21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Cambria Math</vt:lpstr>
      <vt:lpstr>Gill Sans MT</vt:lpstr>
      <vt:lpstr>Impact</vt:lpstr>
      <vt:lpstr>Badge</vt:lpstr>
      <vt:lpstr>Chapter: 6.9</vt:lpstr>
      <vt:lpstr>PowerPoint Presentation</vt:lpstr>
      <vt:lpstr>Chromatography</vt:lpstr>
      <vt:lpstr>How chromatography works</vt:lpstr>
      <vt:lpstr>PowerPoint Presentation</vt:lpstr>
      <vt:lpstr>PowerPoint Presentation</vt:lpstr>
      <vt:lpstr>Thin layer chromatography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Gas chromatography</vt:lpstr>
      <vt:lpstr>PowerPoint Presentation</vt:lpstr>
      <vt:lpstr>PowerPoint Presentation</vt:lpstr>
      <vt:lpstr>High performance liquid chromatography</vt:lpstr>
      <vt:lpstr>PowerPoint Presentation</vt:lpstr>
      <vt:lpstr>Summary of chromatography techniques</vt:lpstr>
      <vt:lpstr>Questions</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6.9</dc:title>
  <dc:creator>Jijy D'cruz</dc:creator>
  <cp:lastModifiedBy>D'CRUZ Jijy [Safety Bay Senior High School]</cp:lastModifiedBy>
  <cp:revision>66</cp:revision>
  <dcterms:created xsi:type="dcterms:W3CDTF">2015-08-06T12:11:37Z</dcterms:created>
  <dcterms:modified xsi:type="dcterms:W3CDTF">2019-07-21T09:39:57Z</dcterms:modified>
</cp:coreProperties>
</file>
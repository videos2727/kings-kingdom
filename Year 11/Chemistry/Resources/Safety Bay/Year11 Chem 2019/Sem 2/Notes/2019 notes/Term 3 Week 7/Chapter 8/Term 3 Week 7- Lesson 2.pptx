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5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C0A9E814-23A0-45F0-86BE-EEB7618549E6}" type="datetimeFigureOut">
              <a:rPr lang="en-AU" smtClean="0"/>
              <a:t>9/09/2019</a:t>
            </a:fld>
            <a:endParaRPr lang="en-AU"/>
          </a:p>
        </p:txBody>
      </p:sp>
      <p:sp>
        <p:nvSpPr>
          <p:cNvPr id="20" name="Footer Placeholder 19"/>
          <p:cNvSpPr>
            <a:spLocks noGrp="1"/>
          </p:cNvSpPr>
          <p:nvPr>
            <p:ph type="ftr" sz="quarter" idx="11"/>
          </p:nvPr>
        </p:nvSpPr>
        <p:spPr/>
        <p:txBody>
          <a:bodyPr/>
          <a:lstStyle/>
          <a:p>
            <a:endParaRPr lang="en-AU"/>
          </a:p>
        </p:txBody>
      </p:sp>
      <p:sp>
        <p:nvSpPr>
          <p:cNvPr id="10" name="Slide Number Placeholder 9"/>
          <p:cNvSpPr>
            <a:spLocks noGrp="1"/>
          </p:cNvSpPr>
          <p:nvPr>
            <p:ph type="sldNum" sz="quarter" idx="12"/>
          </p:nvPr>
        </p:nvSpPr>
        <p:spPr/>
        <p:txBody>
          <a:bodyPr/>
          <a:lstStyle/>
          <a:p>
            <a:fld id="{A247E492-D547-49FD-B324-EF0D978FF713}" type="slidenum">
              <a:rPr lang="en-AU" smtClean="0"/>
              <a:t>‹#›</a:t>
            </a:fld>
            <a:endParaRPr lang="en-AU"/>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0A9E814-23A0-45F0-86BE-EEB7618549E6}" type="datetimeFigureOut">
              <a:rPr lang="en-AU" smtClean="0"/>
              <a:t>9/09/2019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247E492-D547-49FD-B324-EF0D978FF713}"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0A9E814-23A0-45F0-86BE-EEB7618549E6}" type="datetimeFigureOut">
              <a:rPr lang="en-AU" smtClean="0"/>
              <a:t>9/09/2019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247E492-D547-49FD-B324-EF0D978FF713}" type="slidenum">
              <a:rPr lang="en-AU" smtClean="0"/>
              <a:t>‹#›</a:t>
            </a:fld>
            <a:endParaRPr lang="en-AU"/>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0A9E814-23A0-45F0-86BE-EEB7618549E6}" type="datetimeFigureOut">
              <a:rPr lang="en-AU" smtClean="0"/>
              <a:t>9/09/2019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247E492-D547-49FD-B324-EF0D978FF713}"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0A9E814-23A0-45F0-86BE-EEB7618549E6}" type="datetimeFigureOut">
              <a:rPr lang="en-AU" smtClean="0"/>
              <a:t>9/09/2019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247E492-D547-49FD-B324-EF0D978FF713}"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0A9E814-23A0-45F0-86BE-EEB7618549E6}" type="datetimeFigureOut">
              <a:rPr lang="en-AU" smtClean="0"/>
              <a:t>9/09/2019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247E492-D547-49FD-B324-EF0D978FF713}"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C0A9E814-23A0-45F0-86BE-EEB7618549E6}" type="datetimeFigureOut">
              <a:rPr lang="en-AU" smtClean="0"/>
              <a:t>9/09/2019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247E492-D547-49FD-B324-EF0D978FF713}" type="slidenum">
              <a:rPr lang="en-AU" smtClean="0"/>
              <a:t>‹#›</a:t>
            </a:fld>
            <a:endParaRPr lang="en-AU"/>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0A9E814-23A0-45F0-86BE-EEB7618549E6}" type="datetimeFigureOut">
              <a:rPr lang="en-AU" smtClean="0"/>
              <a:t>9/09/2019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247E492-D547-49FD-B324-EF0D978FF713}"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0A9E814-23A0-45F0-86BE-EEB7618549E6}" type="datetimeFigureOut">
              <a:rPr lang="en-AU" smtClean="0"/>
              <a:t>9/09/2019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247E492-D547-49FD-B324-EF0D978FF713}" type="slidenum">
              <a:rPr lang="en-AU" smtClean="0"/>
              <a:t>‹#›</a:t>
            </a:fld>
            <a:endParaRPr lang="en-AU"/>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0A9E814-23A0-45F0-86BE-EEB7618549E6}" type="datetimeFigureOut">
              <a:rPr lang="en-AU" smtClean="0"/>
              <a:t>9/09/2019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247E492-D547-49FD-B324-EF0D978FF713}"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0A9E814-23A0-45F0-86BE-EEB7618549E6}" type="datetimeFigureOut">
              <a:rPr lang="en-AU" smtClean="0"/>
              <a:t>9/09/2019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247E492-D547-49FD-B324-EF0D978FF713}"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C0A9E814-23A0-45F0-86BE-EEB7618549E6}" type="datetimeFigureOut">
              <a:rPr lang="en-AU" smtClean="0"/>
              <a:t>9/09/2019</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AU"/>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A247E492-D547-49FD-B324-EF0D978FF713}" type="slidenum">
              <a:rPr lang="en-AU" smtClean="0"/>
              <a:t>‹#›</a:t>
            </a:fld>
            <a:endParaRPr lang="en-AU"/>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Term 3 Week 7 Lesson 2</a:t>
            </a:r>
            <a:endParaRPr lang="en-AU" dirty="0"/>
          </a:p>
        </p:txBody>
      </p:sp>
      <p:sp>
        <p:nvSpPr>
          <p:cNvPr id="3" name="Subtitle 2"/>
          <p:cNvSpPr>
            <a:spLocks noGrp="1"/>
          </p:cNvSpPr>
          <p:nvPr>
            <p:ph type="subTitle" idx="1"/>
          </p:nvPr>
        </p:nvSpPr>
        <p:spPr/>
        <p:txBody>
          <a:bodyPr>
            <a:normAutofit/>
          </a:bodyPr>
          <a:lstStyle/>
          <a:p>
            <a:endParaRPr lang="en-AU" dirty="0"/>
          </a:p>
          <a:p>
            <a:r>
              <a:rPr lang="en-AU" dirty="0"/>
              <a:t>Kinetic theory of gases</a:t>
            </a:r>
          </a:p>
          <a:p>
            <a:endParaRPr lang="en-AU" dirty="0"/>
          </a:p>
        </p:txBody>
      </p:sp>
    </p:spTree>
    <p:extLst>
      <p:ext uri="{BB962C8B-B14F-4D97-AF65-F5344CB8AC3E}">
        <p14:creationId xmlns:p14="http://schemas.microsoft.com/office/powerpoint/2010/main" val="19326980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normAutofit fontScale="85000" lnSpcReduction="20000"/>
          </a:bodyPr>
          <a:lstStyle/>
          <a:p>
            <a:r>
              <a:rPr lang="en-AU" dirty="0" smtClean="0">
                <a:solidFill>
                  <a:srgbClr val="7030A0"/>
                </a:solidFill>
              </a:rPr>
              <a:t>Ideal gas: A gas that perfectly obeys all the proposals of the kinetic theory of gases and the gas laws.</a:t>
            </a:r>
          </a:p>
          <a:p>
            <a:endParaRPr lang="en-AU" dirty="0"/>
          </a:p>
          <a:p>
            <a:r>
              <a:rPr lang="en-AU" dirty="0" smtClean="0"/>
              <a:t>The </a:t>
            </a:r>
            <a:r>
              <a:rPr lang="en-AU" dirty="0" smtClean="0">
                <a:solidFill>
                  <a:srgbClr val="C00000"/>
                </a:solidFill>
              </a:rPr>
              <a:t>kinetic theory of gases </a:t>
            </a:r>
            <a:r>
              <a:rPr lang="en-AU" dirty="0" smtClean="0"/>
              <a:t>explains much of the physical behaviour of gases. The term ‘ kinetic’ comes from the Greek </a:t>
            </a:r>
            <a:r>
              <a:rPr lang="en-AU" i="1" dirty="0" err="1" smtClean="0">
                <a:solidFill>
                  <a:srgbClr val="FF0000"/>
                </a:solidFill>
              </a:rPr>
              <a:t>kinetikos</a:t>
            </a:r>
            <a:r>
              <a:rPr lang="en-AU" i="1" dirty="0" smtClean="0">
                <a:solidFill>
                  <a:srgbClr val="FF0000"/>
                </a:solidFill>
              </a:rPr>
              <a:t>, </a:t>
            </a:r>
            <a:r>
              <a:rPr lang="en-AU" i="1" dirty="0" smtClean="0"/>
              <a:t>which means ‘moving’ , </a:t>
            </a:r>
            <a:r>
              <a:rPr lang="en-AU" dirty="0" smtClean="0"/>
              <a:t>so many of the properties of gases are related to their motion. </a:t>
            </a:r>
          </a:p>
          <a:p>
            <a:r>
              <a:rPr lang="en-AU" dirty="0" smtClean="0">
                <a:solidFill>
                  <a:srgbClr val="C00000"/>
                </a:solidFill>
              </a:rPr>
              <a:t>The kinetic theory of gases proposes that: </a:t>
            </a:r>
          </a:p>
          <a:p>
            <a:r>
              <a:rPr lang="en-AU" dirty="0" smtClean="0">
                <a:solidFill>
                  <a:srgbClr val="7030A0"/>
                </a:solidFill>
              </a:rPr>
              <a:t>1.</a:t>
            </a:r>
            <a:r>
              <a:rPr lang="en-AU" dirty="0" smtClean="0"/>
              <a:t>Gases</a:t>
            </a:r>
            <a:r>
              <a:rPr lang="en-AU" dirty="0" smtClean="0">
                <a:solidFill>
                  <a:srgbClr val="C00000"/>
                </a:solidFill>
              </a:rPr>
              <a:t> </a:t>
            </a:r>
            <a:r>
              <a:rPr lang="en-AU" dirty="0" smtClean="0"/>
              <a:t>consist of molecules ( except noble gases which consist of atoms) that move in continual random straight –line motion.</a:t>
            </a:r>
          </a:p>
        </p:txBody>
      </p:sp>
    </p:spTree>
    <p:extLst>
      <p:ext uri="{BB962C8B-B14F-4D97-AF65-F5344CB8AC3E}">
        <p14:creationId xmlns:p14="http://schemas.microsoft.com/office/powerpoint/2010/main" val="17931867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solidFill>
                  <a:srgbClr val="7030A0"/>
                </a:solidFill>
              </a:rPr>
              <a:t>2. </a:t>
            </a:r>
            <a:r>
              <a:rPr lang="en-AU" dirty="0" smtClean="0"/>
              <a:t>The average  distance between gas molecules is very large compared to the size of the molecule.</a:t>
            </a:r>
          </a:p>
          <a:p>
            <a:r>
              <a:rPr lang="en-AU" dirty="0" smtClean="0">
                <a:solidFill>
                  <a:srgbClr val="7030A0"/>
                </a:solidFill>
              </a:rPr>
              <a:t>3.</a:t>
            </a:r>
            <a:r>
              <a:rPr lang="en-AU" dirty="0" smtClean="0"/>
              <a:t> Intermolecular forces between molecules are negligible. </a:t>
            </a:r>
            <a:endParaRPr lang="en-AU" dirty="0"/>
          </a:p>
          <a:p>
            <a:pPr lvl="1"/>
            <a:r>
              <a:rPr lang="en-AU" sz="3200" dirty="0" smtClean="0">
                <a:solidFill>
                  <a:srgbClr val="7030A0"/>
                </a:solidFill>
              </a:rPr>
              <a:t>4. </a:t>
            </a:r>
            <a:r>
              <a:rPr lang="en-AU" sz="3200" dirty="0" smtClean="0"/>
              <a:t>All collisions of gas molecules are perfectly </a:t>
            </a:r>
            <a:r>
              <a:rPr lang="en-AU" sz="3200" dirty="0" smtClean="0">
                <a:solidFill>
                  <a:srgbClr val="7030A0"/>
                </a:solidFill>
              </a:rPr>
              <a:t>elastic collisions, </a:t>
            </a:r>
            <a:r>
              <a:rPr lang="en-AU" sz="3200" dirty="0" smtClean="0"/>
              <a:t>which means there is no net energy loss during these collisions.</a:t>
            </a:r>
          </a:p>
        </p:txBody>
      </p:sp>
    </p:spTree>
    <p:extLst>
      <p:ext uri="{BB962C8B-B14F-4D97-AF65-F5344CB8AC3E}">
        <p14:creationId xmlns:p14="http://schemas.microsoft.com/office/powerpoint/2010/main" val="16770458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solidFill>
                  <a:srgbClr val="7030A0"/>
                </a:solidFill>
              </a:rPr>
              <a:t>5. </a:t>
            </a:r>
            <a:r>
              <a:rPr lang="en-AU" dirty="0" smtClean="0"/>
              <a:t>Pressure is due to collisions of molecules with the walls of the container.</a:t>
            </a:r>
          </a:p>
          <a:p>
            <a:r>
              <a:rPr lang="en-AU" dirty="0" smtClean="0">
                <a:solidFill>
                  <a:srgbClr val="7030A0"/>
                </a:solidFill>
              </a:rPr>
              <a:t>6. </a:t>
            </a:r>
            <a:r>
              <a:rPr lang="en-AU" dirty="0" smtClean="0"/>
              <a:t>Temperature is a measure of the average kinetic energy of the molecules.</a:t>
            </a:r>
          </a:p>
          <a:p>
            <a:endParaRPr lang="en-AU" dirty="0"/>
          </a:p>
          <a:p>
            <a:r>
              <a:rPr lang="en-AU" dirty="0" smtClean="0">
                <a:solidFill>
                  <a:srgbClr val="7030A0"/>
                </a:solidFill>
              </a:rPr>
              <a:t>The kinetic theory of gases is used to explain the physical behaviour of gases.</a:t>
            </a:r>
          </a:p>
          <a:p>
            <a:r>
              <a:rPr lang="en-AU" dirty="0" smtClean="0"/>
              <a:t>This theory uses the model of an ideal gas. </a:t>
            </a:r>
            <a:endParaRPr lang="en-AU" dirty="0"/>
          </a:p>
        </p:txBody>
      </p:sp>
    </p:spTree>
    <p:extLst>
      <p:ext uri="{BB962C8B-B14F-4D97-AF65-F5344CB8AC3E}">
        <p14:creationId xmlns:p14="http://schemas.microsoft.com/office/powerpoint/2010/main" val="14347549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Considering temperature</a:t>
            </a:r>
            <a:endParaRPr lang="en-AU" dirty="0"/>
          </a:p>
        </p:txBody>
      </p:sp>
      <p:sp>
        <p:nvSpPr>
          <p:cNvPr id="3" name="Content Placeholder 2"/>
          <p:cNvSpPr>
            <a:spLocks noGrp="1"/>
          </p:cNvSpPr>
          <p:nvPr>
            <p:ph idx="1"/>
          </p:nvPr>
        </p:nvSpPr>
        <p:spPr/>
        <p:txBody>
          <a:bodyPr>
            <a:normAutofit/>
          </a:bodyPr>
          <a:lstStyle/>
          <a:p>
            <a:r>
              <a:rPr lang="en-AU" dirty="0" smtClean="0">
                <a:solidFill>
                  <a:srgbClr val="7030A0"/>
                </a:solidFill>
              </a:rPr>
              <a:t>The kinetic theory states that temperature is a measure of average kinetic energy. </a:t>
            </a:r>
          </a:p>
          <a:p>
            <a:r>
              <a:rPr lang="en-AU" dirty="0" smtClean="0"/>
              <a:t>The molecules of a sample of gas have the same average kinetic energy, the individual molecules move at various speeds. Some move faster and some move slower than the average. Collisions between particles change individual speeds. </a:t>
            </a:r>
            <a:endParaRPr lang="en-AU" dirty="0"/>
          </a:p>
        </p:txBody>
      </p:sp>
    </p:spTree>
    <p:extLst>
      <p:ext uri="{BB962C8B-B14F-4D97-AF65-F5344CB8AC3E}">
        <p14:creationId xmlns:p14="http://schemas.microsoft.com/office/powerpoint/2010/main" val="19191562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smtClean="0"/>
                  <a:t>At a given temperature, molecules of all gases, no matter what size, shape or mass, have the same average kinetic energy. </a:t>
                </a:r>
              </a:p>
              <a:p>
                <a:r>
                  <a:rPr lang="en-AU" dirty="0" smtClean="0"/>
                  <a:t>Kinetic energy is given by the formula:</a:t>
                </a:r>
              </a:p>
              <a:p>
                <a:endParaRPr lang="en-AU" dirty="0"/>
              </a:p>
              <a:p>
                <a:r>
                  <a:rPr lang="en-AU" dirty="0" smtClean="0">
                    <a:solidFill>
                      <a:srgbClr val="7030A0"/>
                    </a:solidFill>
                  </a:rPr>
                  <a:t>Kinetic energy = ½</a:t>
                </a:r>
                <a14:m>
                  <m:oMath xmlns:m="http://schemas.openxmlformats.org/officeDocument/2006/math">
                    <m:r>
                      <a:rPr lang="en-AU" b="0" i="1" smtClean="0">
                        <a:solidFill>
                          <a:srgbClr val="7030A0"/>
                        </a:solidFill>
                        <a:latin typeface="Cambria Math"/>
                      </a:rPr>
                      <m:t>𝑚</m:t>
                    </m:r>
                    <m:sSup>
                      <m:sSupPr>
                        <m:ctrlPr>
                          <a:rPr lang="en-AU" b="0" i="1" smtClean="0">
                            <a:solidFill>
                              <a:srgbClr val="7030A0"/>
                            </a:solidFill>
                            <a:latin typeface="Cambria Math" panose="02040503050406030204" pitchFamily="18" charset="0"/>
                          </a:rPr>
                        </m:ctrlPr>
                      </m:sSupPr>
                      <m:e>
                        <m:r>
                          <a:rPr lang="en-AU" b="0" i="1" smtClean="0">
                            <a:solidFill>
                              <a:srgbClr val="7030A0"/>
                            </a:solidFill>
                            <a:latin typeface="Cambria Math"/>
                          </a:rPr>
                          <m:t>𝑣</m:t>
                        </m:r>
                      </m:e>
                      <m:sup>
                        <m:r>
                          <a:rPr lang="en-AU" b="0" i="1" smtClean="0">
                            <a:solidFill>
                              <a:srgbClr val="7030A0"/>
                            </a:solidFill>
                            <a:latin typeface="Cambria Math"/>
                          </a:rPr>
                          <m:t>2</m:t>
                        </m:r>
                      </m:sup>
                    </m:sSup>
                  </m:oMath>
                </a14:m>
                <a:r>
                  <a:rPr lang="en-AU" dirty="0" smtClean="0">
                    <a:solidFill>
                      <a:srgbClr val="7030A0"/>
                    </a:solidFill>
                  </a:rPr>
                  <a:t>  </a:t>
                </a:r>
                <a:r>
                  <a:rPr lang="en-AU" dirty="0" smtClean="0"/>
                  <a:t>where ‘m’ is the mass and ‘v’ is the speed. </a:t>
                </a:r>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652" r="-2358"/>
                </a:stretch>
              </a:blipFill>
            </p:spPr>
            <p:txBody>
              <a:bodyPr/>
              <a:lstStyle/>
              <a:p>
                <a:r>
                  <a:rPr lang="en-AU">
                    <a:noFill/>
                  </a:rPr>
                  <a:t> </a:t>
                </a:r>
              </a:p>
            </p:txBody>
          </p:sp>
        </mc:Fallback>
      </mc:AlternateContent>
      <p:sp>
        <p:nvSpPr>
          <p:cNvPr id="4" name="TextBox 3"/>
          <p:cNvSpPr txBox="1"/>
          <p:nvPr/>
        </p:nvSpPr>
        <p:spPr>
          <a:xfrm>
            <a:off x="4114800" y="2971800"/>
            <a:ext cx="184731" cy="369332"/>
          </a:xfrm>
          <a:prstGeom prst="rect">
            <a:avLst/>
          </a:prstGeom>
          <a:noFill/>
        </p:spPr>
        <p:txBody>
          <a:bodyPr wrap="none" rtlCol="0">
            <a:spAutoFit/>
          </a:bodyPr>
          <a:lstStyle/>
          <a:p>
            <a:endParaRPr lang="en-AU" dirty="0"/>
          </a:p>
        </p:txBody>
      </p:sp>
    </p:spTree>
    <p:extLst>
      <p:ext uri="{BB962C8B-B14F-4D97-AF65-F5344CB8AC3E}">
        <p14:creationId xmlns:p14="http://schemas.microsoft.com/office/powerpoint/2010/main" val="13193093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Kinetic energy is determined by both mass and speed, heavier gases will have lower speeds than lighter gases at the same temperature. </a:t>
            </a:r>
          </a:p>
          <a:p>
            <a:endParaRPr lang="en-AU" dirty="0"/>
          </a:p>
          <a:p>
            <a:endParaRPr lang="en-AU"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387" t="56875" r="49049" b="16042"/>
          <a:stretch/>
        </p:blipFill>
        <p:spPr bwMode="auto">
          <a:xfrm>
            <a:off x="1547664" y="3429000"/>
            <a:ext cx="6552728" cy="316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38263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solidFill>
                  <a:srgbClr val="7030A0"/>
                </a:solidFill>
              </a:rPr>
              <a:t>As the temperature increases, the KE of the particles increases and vice versa. </a:t>
            </a:r>
          </a:p>
          <a:p>
            <a:r>
              <a:rPr lang="en-AU" dirty="0" smtClean="0"/>
              <a:t>Although the gas particles have a range of speeds at any given temperature, the average speed of the particles of a gas increases as temperature increases.</a:t>
            </a:r>
          </a:p>
          <a:p>
            <a:endParaRPr lang="en-AU" dirty="0"/>
          </a:p>
        </p:txBody>
      </p:sp>
    </p:spTree>
    <p:extLst>
      <p:ext uri="{BB962C8B-B14F-4D97-AF65-F5344CB8AC3E}">
        <p14:creationId xmlns:p14="http://schemas.microsoft.com/office/powerpoint/2010/main" val="25604682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4582" t="8542" r="3252" b="48125"/>
          <a:stretch/>
        </p:blipFill>
        <p:spPr bwMode="auto">
          <a:xfrm>
            <a:off x="1043608" y="1700808"/>
            <a:ext cx="7612712" cy="432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96456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smtClean="0"/>
                  <a:t>So, decreasing temperature will result in the particles slowing down. Theoretically, at low enough temperatures, the particles will eventually stop moving. </a:t>
                </a:r>
              </a:p>
              <a:p>
                <a:endParaRPr lang="en-AU" dirty="0"/>
              </a:p>
              <a:p>
                <a:r>
                  <a:rPr lang="en-AU" dirty="0" smtClean="0"/>
                  <a:t>The theoretical lowest temperature possible is known as absolute zero (0 K), which is equivalent to – 273.1</a:t>
                </a:r>
                <a14:m>
                  <m:oMath xmlns:m="http://schemas.openxmlformats.org/officeDocument/2006/math">
                    <m:sSup>
                      <m:sSupPr>
                        <m:ctrlPr>
                          <a:rPr lang="en-AU" b="0" i="1" smtClean="0">
                            <a:latin typeface="Cambria Math" panose="02040503050406030204" pitchFamily="18" charset="0"/>
                          </a:rPr>
                        </m:ctrlPr>
                      </m:sSupPr>
                      <m:e>
                        <m:r>
                          <a:rPr lang="en-AU" b="0" i="0" smtClean="0">
                            <a:latin typeface="Cambria Math"/>
                          </a:rPr>
                          <m:t>5</m:t>
                        </m:r>
                      </m:e>
                      <m:sup>
                        <m:r>
                          <a:rPr lang="en-AU" b="0" i="1" smtClean="0">
                            <a:latin typeface="Cambria Math"/>
                          </a:rPr>
                          <m:t>0</m:t>
                        </m:r>
                      </m:sup>
                    </m:sSup>
                    <m:r>
                      <a:rPr lang="en-AU" b="0" i="1" smtClean="0">
                        <a:latin typeface="Cambria Math"/>
                      </a:rPr>
                      <m:t>𝐶</m:t>
                    </m:r>
                    <m:r>
                      <a:rPr lang="en-AU" b="0" i="1" smtClean="0">
                        <a:latin typeface="Cambria Math"/>
                      </a:rPr>
                      <m:t>. </m:t>
                    </m:r>
                  </m:oMath>
                </a14:m>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652" r="-2358"/>
                </a:stretch>
              </a:blipFill>
            </p:spPr>
            <p:txBody>
              <a:bodyPr/>
              <a:lstStyle/>
              <a:p>
                <a:r>
                  <a:rPr lang="en-AU">
                    <a:noFill/>
                  </a:rPr>
                  <a:t> </a:t>
                </a:r>
              </a:p>
            </p:txBody>
          </p:sp>
        </mc:Fallback>
      </mc:AlternateContent>
    </p:spTree>
    <p:extLst>
      <p:ext uri="{BB962C8B-B14F-4D97-AF65-F5344CB8AC3E}">
        <p14:creationId xmlns:p14="http://schemas.microsoft.com/office/powerpoint/2010/main" val="5047135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Absolute ( Kelvin) temperature scale</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AU" dirty="0" smtClean="0"/>
                  <a:t>The absolute temperature is a measure of the average kinetic energy of its molecules. It was developed by British scientist William Thompson, who was known as Lord Kelvin. He used experimental data and concluded from relationship between volume &amp; temperature that there had to be a lower limit to temperature and that is equal to </a:t>
                </a:r>
              </a:p>
              <a:p>
                <a:r>
                  <a:rPr lang="en-AU" dirty="0" smtClean="0"/>
                  <a:t>-</a:t>
                </a:r>
                <a14:m>
                  <m:oMath xmlns:m="http://schemas.openxmlformats.org/officeDocument/2006/math">
                    <m:sSup>
                      <m:sSupPr>
                        <m:ctrlPr>
                          <a:rPr lang="en-AU" b="0" i="1" smtClean="0">
                            <a:latin typeface="Cambria Math" panose="02040503050406030204" pitchFamily="18" charset="0"/>
                          </a:rPr>
                        </m:ctrlPr>
                      </m:sSupPr>
                      <m:e>
                        <m:r>
                          <a:rPr lang="en-AU" b="0" i="1" smtClean="0">
                            <a:latin typeface="Cambria Math"/>
                          </a:rPr>
                          <m:t>273</m:t>
                        </m:r>
                      </m:e>
                      <m:sup>
                        <m:r>
                          <a:rPr lang="en-AU" b="0" i="1" smtClean="0">
                            <a:latin typeface="Cambria Math"/>
                          </a:rPr>
                          <m:t>0</m:t>
                        </m:r>
                      </m:sup>
                    </m:sSup>
                    <m:r>
                      <a:rPr lang="en-AU" b="0" i="1" smtClean="0">
                        <a:latin typeface="Cambria Math"/>
                      </a:rPr>
                      <m:t>𝐶</m:t>
                    </m:r>
                    <m:r>
                      <a:rPr lang="en-AU" b="0" i="1" smtClean="0">
                        <a:latin typeface="Cambria Math"/>
                      </a:rPr>
                      <m:t>.</m:t>
                    </m:r>
                  </m:oMath>
                </a14:m>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2668" r="-2764"/>
                </a:stretch>
              </a:blipFill>
            </p:spPr>
            <p:txBody>
              <a:bodyPr/>
              <a:lstStyle/>
              <a:p>
                <a:r>
                  <a:rPr lang="en-AU">
                    <a:noFill/>
                  </a:rPr>
                  <a:t> </a:t>
                </a:r>
              </a:p>
            </p:txBody>
          </p:sp>
        </mc:Fallback>
      </mc:AlternateContent>
    </p:spTree>
    <p:extLst>
      <p:ext uri="{BB962C8B-B14F-4D97-AF65-F5344CB8AC3E}">
        <p14:creationId xmlns:p14="http://schemas.microsoft.com/office/powerpoint/2010/main" val="37535892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solidFill>
                  <a:srgbClr val="7030A0"/>
                </a:solidFill>
              </a:rPr>
              <a:t>Lord Kelvin </a:t>
            </a:r>
            <a:r>
              <a:rPr lang="en-AU" dirty="0" smtClean="0"/>
              <a:t>set up a new temperature scale and made lowest number on the scale 0, called as absolute zero.  As the first person to recognise the importance of absolute zero,  the unit on the scale is called as kelvin (K).</a:t>
            </a:r>
          </a:p>
          <a:p>
            <a:endParaRPr lang="en-AU" dirty="0"/>
          </a:p>
        </p:txBody>
      </p:sp>
    </p:spTree>
    <p:extLst>
      <p:ext uri="{BB962C8B-B14F-4D97-AF65-F5344CB8AC3E}">
        <p14:creationId xmlns:p14="http://schemas.microsoft.com/office/powerpoint/2010/main" val="40107444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a:xfrm>
            <a:off x="1403648" y="1412776"/>
            <a:ext cx="7498080" cy="4608512"/>
          </a:xfrm>
        </p:spPr>
        <p:txBody>
          <a:bodyPr/>
          <a:lstStyle/>
          <a:p>
            <a:endParaRPr lang="en-AU" dirty="0"/>
          </a:p>
        </p:txBody>
      </p:sp>
      <p:pic>
        <p:nvPicPr>
          <p:cNvPr id="409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70516" t="59576" r="4773" b="22682"/>
          <a:stretch/>
        </p:blipFill>
        <p:spPr bwMode="auto">
          <a:xfrm>
            <a:off x="1115616" y="1268760"/>
            <a:ext cx="6948264" cy="3374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76300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Applying the kinetic theory</a:t>
            </a:r>
            <a:endParaRPr lang="en-AU" dirty="0"/>
          </a:p>
        </p:txBody>
      </p:sp>
      <p:sp>
        <p:nvSpPr>
          <p:cNvPr id="3" name="Content Placeholder 2"/>
          <p:cNvSpPr>
            <a:spLocks noGrp="1"/>
          </p:cNvSpPr>
          <p:nvPr>
            <p:ph idx="1"/>
          </p:nvPr>
        </p:nvSpPr>
        <p:spPr/>
        <p:txBody>
          <a:bodyPr>
            <a:normAutofit lnSpcReduction="10000"/>
          </a:bodyPr>
          <a:lstStyle/>
          <a:p>
            <a:r>
              <a:rPr lang="en-AU" dirty="0" smtClean="0"/>
              <a:t>The kinetic molecular theory was developed using the findings of many different scientists.</a:t>
            </a:r>
          </a:p>
          <a:p>
            <a:r>
              <a:rPr lang="en-AU" dirty="0" smtClean="0">
                <a:solidFill>
                  <a:srgbClr val="002060"/>
                </a:solidFill>
              </a:rPr>
              <a:t>Gases diffuse, or spread, because gas particles have rapid, random motion and a lot of empty space between them so they quickly spread and mix.</a:t>
            </a:r>
          </a:p>
          <a:p>
            <a:r>
              <a:rPr lang="en-AU" dirty="0" smtClean="0">
                <a:solidFill>
                  <a:srgbClr val="FF0000"/>
                </a:solidFill>
              </a:rPr>
              <a:t>Gases can be easily compressed because there is a lot of empty space between particles.</a:t>
            </a:r>
          </a:p>
          <a:p>
            <a:endParaRPr lang="en-AU" dirty="0">
              <a:solidFill>
                <a:srgbClr val="002060"/>
              </a:solidFill>
            </a:endParaRPr>
          </a:p>
        </p:txBody>
      </p:sp>
    </p:spTree>
    <p:extLst>
      <p:ext uri="{BB962C8B-B14F-4D97-AF65-F5344CB8AC3E}">
        <p14:creationId xmlns:p14="http://schemas.microsoft.com/office/powerpoint/2010/main" val="428094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solidFill>
                  <a:srgbClr val="002060"/>
                </a:solidFill>
              </a:rPr>
              <a:t>Gases spread to fill a container because there are negligible forces between particles.</a:t>
            </a:r>
          </a:p>
          <a:p>
            <a:endParaRPr lang="en-AU" dirty="0">
              <a:solidFill>
                <a:srgbClr val="002060"/>
              </a:solidFill>
            </a:endParaRPr>
          </a:p>
          <a:p>
            <a:r>
              <a:rPr lang="en-AU" dirty="0" smtClean="0">
                <a:solidFill>
                  <a:srgbClr val="FF0000"/>
                </a:solidFill>
              </a:rPr>
              <a:t>The particles move rapidly and collide with the surface of any container or object.</a:t>
            </a:r>
          </a:p>
          <a:p>
            <a:r>
              <a:rPr lang="en-AU" dirty="0" smtClean="0">
                <a:solidFill>
                  <a:srgbClr val="002060"/>
                </a:solidFill>
              </a:rPr>
              <a:t>Gases have low density because there is a lot of empty space between them. </a:t>
            </a:r>
            <a:endParaRPr lang="en-AU" dirty="0">
              <a:solidFill>
                <a:srgbClr val="002060"/>
              </a:solidFill>
            </a:endParaRPr>
          </a:p>
        </p:txBody>
      </p:sp>
    </p:spTree>
    <p:extLst>
      <p:ext uri="{BB962C8B-B14F-4D97-AF65-F5344CB8AC3E}">
        <p14:creationId xmlns:p14="http://schemas.microsoft.com/office/powerpoint/2010/main" val="7719487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5124"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1571" t="-23473" r="44477" b="53093"/>
          <a:stretch/>
        </p:blipFill>
        <p:spPr bwMode="auto">
          <a:xfrm>
            <a:off x="411950" y="-459432"/>
            <a:ext cx="8083122" cy="6552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854458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280</TotalTime>
  <Words>643</Words>
  <Application>Microsoft Office PowerPoint</Application>
  <PresentationFormat>On-screen Show (4:3)</PresentationFormat>
  <Paragraphs>41</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Cambria Math</vt:lpstr>
      <vt:lpstr>Gill Sans MT</vt:lpstr>
      <vt:lpstr>Verdana</vt:lpstr>
      <vt:lpstr>Wingdings 2</vt:lpstr>
      <vt:lpstr>Solstice</vt:lpstr>
      <vt:lpstr>Term 3 Week 7 Lesson 2</vt:lpstr>
      <vt:lpstr>PowerPoint Presentation</vt:lpstr>
      <vt:lpstr>PowerPoint Presentation</vt:lpstr>
      <vt:lpstr>PowerPoint Presentation</vt:lpstr>
      <vt:lpstr>Considering temperature</vt:lpstr>
      <vt:lpstr>PowerPoint Presentation</vt:lpstr>
      <vt:lpstr>PowerPoint Presentation</vt:lpstr>
      <vt:lpstr>PowerPoint Presentation</vt:lpstr>
      <vt:lpstr>PowerPoint Presentation</vt:lpstr>
      <vt:lpstr>PowerPoint Presentation</vt:lpstr>
      <vt:lpstr>Absolute ( Kelvin) temperature scale</vt:lpstr>
      <vt:lpstr>PowerPoint Presentation</vt:lpstr>
      <vt:lpstr>PowerPoint Presentation</vt:lpstr>
      <vt:lpstr>Applying the kinetic theory</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Jijy D'cruz</dc:creator>
  <cp:lastModifiedBy>D'CRUZ Jijy [Safety Bay Senior High School]</cp:lastModifiedBy>
  <cp:revision>29</cp:revision>
  <dcterms:created xsi:type="dcterms:W3CDTF">2015-09-20T03:36:22Z</dcterms:created>
  <dcterms:modified xsi:type="dcterms:W3CDTF">2019-09-09T14:43:22Z</dcterms:modified>
</cp:coreProperties>
</file>
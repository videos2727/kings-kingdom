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sldIdLst>
    <p:sldId id="256" r:id="rId2"/>
    <p:sldId id="269" r:id="rId3"/>
    <p:sldId id="270" r:id="rId4"/>
    <p:sldId id="271" r:id="rId5"/>
    <p:sldId id="272" r:id="rId6"/>
    <p:sldId id="257" r:id="rId7"/>
    <p:sldId id="258" r:id="rId8"/>
    <p:sldId id="259" r:id="rId9"/>
    <p:sldId id="260" r:id="rId10"/>
    <p:sldId id="274"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97" autoAdjust="0"/>
  </p:normalViewPr>
  <p:slideViewPr>
    <p:cSldViewPr>
      <p:cViewPr varScale="1">
        <p:scale>
          <a:sx n="80" d="100"/>
          <a:sy n="80" d="100"/>
        </p:scale>
        <p:origin x="1522"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a:xfrm>
            <a:off x="1921934" y="5054602"/>
            <a:ext cx="4064860" cy="279400"/>
          </a:xfrm>
        </p:spPr>
        <p:txBody>
          <a:bodyPr/>
          <a:lstStyle/>
          <a:p>
            <a:endParaRPr lang="en-AU"/>
          </a:p>
        </p:txBody>
      </p:sp>
      <p:sp>
        <p:nvSpPr>
          <p:cNvPr id="6" name="Slide Number Placeholder 5"/>
          <p:cNvSpPr>
            <a:spLocks noGrp="1"/>
          </p:cNvSpPr>
          <p:nvPr>
            <p:ph type="sldNum" sz="quarter" idx="12"/>
          </p:nvPr>
        </p:nvSpPr>
        <p:spPr>
          <a:xfrm>
            <a:off x="6817317" y="5054602"/>
            <a:ext cx="413483" cy="279400"/>
          </a:xfrm>
        </p:spPr>
        <p:txBody>
          <a:bodyPr/>
          <a:lstStyle/>
          <a:p>
            <a:fld id="{7455A445-E434-4703-A24E-25DAFAE49649}" type="slidenum">
              <a:rPr lang="en-AU" smtClean="0"/>
              <a:t>‹#›</a:t>
            </a:fld>
            <a:endParaRPr lang="en-AU"/>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7024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spTree>
    <p:extLst>
      <p:ext uri="{BB962C8B-B14F-4D97-AF65-F5344CB8AC3E}">
        <p14:creationId xmlns:p14="http://schemas.microsoft.com/office/powerpoint/2010/main" val="819156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0483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A6555E5-62E2-460D-868D-80FF4912E26F}" type="datetimeFigureOut">
              <a:rPr lang="en-AU" smtClean="0"/>
              <a:t>24/06/2019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455A445-E434-4703-A24E-25DAFAE49649}" type="slidenum">
              <a:rPr lang="en-AU" smtClean="0"/>
              <a:t>‹#›</a:t>
            </a:fld>
            <a:endParaRPr lang="en-AU"/>
          </a:p>
        </p:txBody>
      </p:sp>
    </p:spTree>
    <p:extLst>
      <p:ext uri="{BB962C8B-B14F-4D97-AF65-F5344CB8AC3E}">
        <p14:creationId xmlns:p14="http://schemas.microsoft.com/office/powerpoint/2010/main" val="2819936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A6555E5-62E2-460D-868D-80FF4912E26F}" type="datetimeFigureOut">
              <a:rPr lang="en-AU" smtClean="0"/>
              <a:t>24/06/2019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455A445-E434-4703-A24E-25DAFAE49649}" type="slidenum">
              <a:rPr lang="en-AU" smtClean="0"/>
              <a:t>‹#›</a:t>
            </a:fld>
            <a:endParaRPr lang="en-AU"/>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8573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A6555E5-62E2-460D-868D-80FF4912E26F}" type="datetimeFigureOut">
              <a:rPr lang="en-AU" smtClean="0"/>
              <a:t>24/06/2019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455A445-E434-4703-A24E-25DAFAE49649}" type="slidenum">
              <a:rPr lang="en-AU" smtClean="0"/>
              <a:t>‹#›</a:t>
            </a:fld>
            <a:endParaRPr lang="en-AU"/>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2821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555E5-62E2-460D-868D-80FF4912E26F}" type="datetimeFigureOut">
              <a:rPr lang="en-AU" smtClean="0"/>
              <a:t>24/06/2019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455A445-E434-4703-A24E-25DAFAE49649}" type="slidenum">
              <a:rPr lang="en-AU" smtClean="0"/>
              <a:t>‹#›</a:t>
            </a:fld>
            <a:endParaRPr lang="en-AU"/>
          </a:p>
        </p:txBody>
      </p:sp>
    </p:spTree>
    <p:extLst>
      <p:ext uri="{BB962C8B-B14F-4D97-AF65-F5344CB8AC3E}">
        <p14:creationId xmlns:p14="http://schemas.microsoft.com/office/powerpoint/2010/main" val="1001400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A6555E5-62E2-460D-868D-80FF4912E26F}" type="datetimeFigureOut">
              <a:rPr lang="en-AU" smtClean="0"/>
              <a:t>24/06/2019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455A445-E434-4703-A24E-25DAFAE49649}" type="slidenum">
              <a:rPr lang="en-AU" smtClean="0"/>
              <a:t>‹#›</a:t>
            </a:fld>
            <a:endParaRPr lang="en-AU"/>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355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A6555E5-62E2-460D-868D-80FF4912E26F}" type="datetimeFigureOut">
              <a:rPr lang="en-AU" smtClean="0"/>
              <a:t>24/06/2019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455A445-E434-4703-A24E-25DAFAE49649}" type="slidenum">
              <a:rPr lang="en-AU" smtClean="0"/>
              <a:t>‹#›</a:t>
            </a:fld>
            <a:endParaRPr lang="en-AU"/>
          </a:p>
        </p:txBody>
      </p:sp>
    </p:spTree>
    <p:extLst>
      <p:ext uri="{BB962C8B-B14F-4D97-AF65-F5344CB8AC3E}">
        <p14:creationId xmlns:p14="http://schemas.microsoft.com/office/powerpoint/2010/main" val="1029521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A6555E5-62E2-460D-868D-80FF4912E26F}" type="datetimeFigureOut">
              <a:rPr lang="en-AU" smtClean="0"/>
              <a:t>24/06/2019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455A445-E434-4703-A24E-25DAFAE49649}" type="slidenum">
              <a:rPr lang="en-AU" smtClean="0"/>
              <a:t>‹#›</a:t>
            </a:fld>
            <a:endParaRPr lang="en-AU"/>
          </a:p>
        </p:txBody>
      </p:sp>
    </p:spTree>
    <p:extLst>
      <p:ext uri="{BB962C8B-B14F-4D97-AF65-F5344CB8AC3E}">
        <p14:creationId xmlns:p14="http://schemas.microsoft.com/office/powerpoint/2010/main" val="3017915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7803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6086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spTree>
    <p:extLst>
      <p:ext uri="{BB962C8B-B14F-4D97-AF65-F5344CB8AC3E}">
        <p14:creationId xmlns:p14="http://schemas.microsoft.com/office/powerpoint/2010/main" val="2531584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5944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5039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0157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6555E5-62E2-460D-868D-80FF4912E26F}"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455A445-E434-4703-A24E-25DAFAE49649}" type="slidenum">
              <a:rPr lang="en-AU" smtClean="0"/>
              <a:t>‹#›</a:t>
            </a:fld>
            <a:endParaRPr lang="en-AU"/>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2299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6555E5-62E2-460D-868D-80FF4912E26F}" type="datetimeFigureOut">
              <a:rPr lang="en-AU" smtClean="0"/>
              <a:t>24/06/2019</a:t>
            </a:fld>
            <a:endParaRPr lang="en-AU"/>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455A445-E434-4703-A24E-25DAFAE49649}" type="slidenum">
              <a:rPr lang="en-AU" smtClean="0"/>
              <a:t>‹#›</a:t>
            </a:fld>
            <a:endParaRPr lang="en-AU"/>
          </a:p>
        </p:txBody>
      </p:sp>
    </p:spTree>
    <p:extLst>
      <p:ext uri="{BB962C8B-B14F-4D97-AF65-F5344CB8AC3E}">
        <p14:creationId xmlns:p14="http://schemas.microsoft.com/office/powerpoint/2010/main" val="2832114215"/>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nxebQZUVvT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Intermolecular forces</a:t>
            </a:r>
            <a:endParaRPr lang="en-AU" dirty="0"/>
          </a:p>
        </p:txBody>
      </p:sp>
      <p:sp>
        <p:nvSpPr>
          <p:cNvPr id="3" name="Subtitle 2"/>
          <p:cNvSpPr>
            <a:spLocks noGrp="1"/>
          </p:cNvSpPr>
          <p:nvPr>
            <p:ph type="subTitle" idx="1"/>
          </p:nvPr>
        </p:nvSpPr>
        <p:spPr/>
        <p:txBody>
          <a:bodyPr/>
          <a:lstStyle/>
          <a:p>
            <a:r>
              <a:rPr lang="en-AU" dirty="0" smtClean="0"/>
              <a:t>Week 8 Term2</a:t>
            </a:r>
            <a:endParaRPr lang="en-AU" dirty="0"/>
          </a:p>
        </p:txBody>
      </p:sp>
    </p:spTree>
    <p:extLst>
      <p:ext uri="{BB962C8B-B14F-4D97-AF65-F5344CB8AC3E}">
        <p14:creationId xmlns:p14="http://schemas.microsoft.com/office/powerpoint/2010/main" val="10543203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Molecular shape</a:t>
            </a:r>
            <a:endParaRPr lang="en-AU" dirty="0"/>
          </a:p>
        </p:txBody>
      </p:sp>
      <p:sp>
        <p:nvSpPr>
          <p:cNvPr id="3" name="Content Placeholder 2"/>
          <p:cNvSpPr>
            <a:spLocks noGrp="1"/>
          </p:cNvSpPr>
          <p:nvPr>
            <p:ph idx="1"/>
          </p:nvPr>
        </p:nvSpPr>
        <p:spPr/>
        <p:txBody>
          <a:bodyPr/>
          <a:lstStyle/>
          <a:p>
            <a:r>
              <a:rPr lang="en-AU" dirty="0" smtClean="0"/>
              <a:t>Shapes of simple molecules include linear, triangular planar, tetrahedral, pyramidal and bent.</a:t>
            </a:r>
            <a:endParaRPr lang="en-AU" dirty="0"/>
          </a:p>
        </p:txBody>
      </p:sp>
    </p:spTree>
    <p:extLst>
      <p:ext uri="{BB962C8B-B14F-4D97-AF65-F5344CB8AC3E}">
        <p14:creationId xmlns:p14="http://schemas.microsoft.com/office/powerpoint/2010/main" val="9636212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8108" y="764704"/>
            <a:ext cx="6686260" cy="5170959"/>
          </a:xfrm>
        </p:spPr>
      </p:pic>
    </p:spTree>
    <p:extLst>
      <p:ext uri="{BB962C8B-B14F-4D97-AF65-F5344CB8AC3E}">
        <p14:creationId xmlns:p14="http://schemas.microsoft.com/office/powerpoint/2010/main" val="10634849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Molecular shape, according to valence shell electron pair repulsion theory (VSEPR), results from repulsion between groups of electrons, both bonding and non-bonding, in the valence shell of the central atom in a molecule.</a:t>
            </a:r>
          </a:p>
          <a:p>
            <a:r>
              <a:rPr lang="en-AU" dirty="0" smtClean="0">
                <a:solidFill>
                  <a:srgbClr val="FF0000"/>
                </a:solidFill>
              </a:rPr>
              <a:t>A molecule’s shape depends upon the number of groups of valence electrons on its central atom. </a:t>
            </a:r>
            <a:endParaRPr lang="en-AU" dirty="0">
              <a:solidFill>
                <a:srgbClr val="FF0000"/>
              </a:solidFill>
            </a:endParaRPr>
          </a:p>
        </p:txBody>
      </p:sp>
    </p:spTree>
    <p:extLst>
      <p:ext uri="{BB962C8B-B14F-4D97-AF65-F5344CB8AC3E}">
        <p14:creationId xmlns:p14="http://schemas.microsoft.com/office/powerpoint/2010/main" val="41256573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1 or 2 groups of electrons gives a </a:t>
            </a:r>
            <a:r>
              <a:rPr lang="en-AU" b="1" dirty="0" smtClean="0"/>
              <a:t>linear shape</a:t>
            </a:r>
            <a:r>
              <a:rPr lang="en-AU" dirty="0" smtClean="0"/>
              <a:t> with a 180</a:t>
            </a:r>
            <a:r>
              <a:rPr lang="en-AU" baseline="30000" dirty="0" smtClean="0"/>
              <a:t>0 </a:t>
            </a:r>
            <a:r>
              <a:rPr lang="en-AU" dirty="0" smtClean="0"/>
              <a:t>bond angle</a:t>
            </a:r>
          </a:p>
          <a:p>
            <a:r>
              <a:rPr lang="en-AU" dirty="0" smtClean="0"/>
              <a:t>3 groups of electrons and none of these are lone pairs gives  a triangular planar shape with 120</a:t>
            </a:r>
            <a:r>
              <a:rPr lang="en-AU" baseline="30000" dirty="0" smtClean="0"/>
              <a:t>0  </a:t>
            </a:r>
            <a:r>
              <a:rPr lang="en-AU" dirty="0"/>
              <a:t>bond angle</a:t>
            </a:r>
          </a:p>
          <a:p>
            <a:endParaRPr lang="en-AU" dirty="0"/>
          </a:p>
        </p:txBody>
      </p:sp>
      <p:pic>
        <p:nvPicPr>
          <p:cNvPr id="4" name="Picture 3" descr="C:\Users\e2046920\Documents\2019 Planning\Year11 Chem 2019\Sem 2\Notes\2019 notes\molecular shape.jpg"/>
          <p:cNvPicPr/>
          <p:nvPr/>
        </p:nvPicPr>
        <p:blipFill rotWithShape="1">
          <a:blip r:embed="rId2" cstate="print">
            <a:extLst>
              <a:ext uri="{28A0092B-C50C-407E-A947-70E740481C1C}">
                <a14:useLocalDpi xmlns:a14="http://schemas.microsoft.com/office/drawing/2010/main" val="0"/>
              </a:ext>
            </a:extLst>
          </a:blip>
          <a:srcRect l="1108" t="-1149" b="1"/>
          <a:stretch/>
        </p:blipFill>
        <p:spPr bwMode="auto">
          <a:xfrm>
            <a:off x="971600" y="1124744"/>
            <a:ext cx="7704856" cy="511256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121314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Water has unique physical &amp; chemical properties. Its unique properties arise partly from the strength of the intermolecular forces between the water molecules. These forces are affected by the shape of the water molecules.</a:t>
            </a:r>
            <a:endParaRPr lang="en-AU" dirty="0"/>
          </a:p>
        </p:txBody>
      </p:sp>
    </p:spTree>
    <p:extLst>
      <p:ext uri="{BB962C8B-B14F-4D97-AF65-F5344CB8AC3E}">
        <p14:creationId xmlns:p14="http://schemas.microsoft.com/office/powerpoint/2010/main" val="33460241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Forces between molecules</a:t>
            </a:r>
            <a:endParaRPr lang="en-AU" dirty="0"/>
          </a:p>
        </p:txBody>
      </p:sp>
      <p:sp>
        <p:nvSpPr>
          <p:cNvPr id="3" name="Content Placeholder 2"/>
          <p:cNvSpPr>
            <a:spLocks noGrp="1"/>
          </p:cNvSpPr>
          <p:nvPr>
            <p:ph idx="1"/>
          </p:nvPr>
        </p:nvSpPr>
        <p:spPr/>
        <p:txBody>
          <a:bodyPr>
            <a:normAutofit/>
          </a:bodyPr>
          <a:lstStyle/>
          <a:p>
            <a:r>
              <a:rPr lang="en-AU" dirty="0" smtClean="0"/>
              <a:t>To break covalent bonds and isolate hydrogen and oxygen, you need to heat water to over 3000 degree </a:t>
            </a:r>
            <a:r>
              <a:rPr lang="en-AU" dirty="0" err="1" smtClean="0"/>
              <a:t>celcius</a:t>
            </a:r>
            <a:r>
              <a:rPr lang="en-AU" dirty="0" smtClean="0"/>
              <a:t>. Ice melts at 0 degree </a:t>
            </a:r>
            <a:r>
              <a:rPr lang="en-AU" dirty="0" err="1" smtClean="0"/>
              <a:t>celcius</a:t>
            </a:r>
            <a:r>
              <a:rPr lang="en-AU" dirty="0" smtClean="0"/>
              <a:t> and water vaporises at 100 degree </a:t>
            </a:r>
            <a:r>
              <a:rPr lang="en-AU" dirty="0" err="1" smtClean="0"/>
              <a:t>celcius</a:t>
            </a:r>
            <a:r>
              <a:rPr lang="en-AU" dirty="0" smtClean="0"/>
              <a:t>. </a:t>
            </a:r>
          </a:p>
          <a:p>
            <a:r>
              <a:rPr lang="en-AU" dirty="0" smtClean="0">
                <a:solidFill>
                  <a:srgbClr val="FF0000"/>
                </a:solidFill>
              </a:rPr>
              <a:t>The relatively low temperatures are evidence that covalent bonds are not </a:t>
            </a:r>
            <a:r>
              <a:rPr lang="en-AU" dirty="0" err="1" smtClean="0">
                <a:solidFill>
                  <a:srgbClr val="FF0000"/>
                </a:solidFill>
              </a:rPr>
              <a:t>braeking</a:t>
            </a:r>
            <a:r>
              <a:rPr lang="en-AU" dirty="0" smtClean="0">
                <a:solidFill>
                  <a:srgbClr val="FF0000"/>
                </a:solidFill>
              </a:rPr>
              <a:t>. The low melting point shows that the intermolecular forces are much weaker than the covalent bonds within the molecule.</a:t>
            </a:r>
            <a:endParaRPr lang="en-AU" dirty="0">
              <a:solidFill>
                <a:srgbClr val="FF0000"/>
              </a:solidFill>
            </a:endParaRPr>
          </a:p>
        </p:txBody>
      </p:sp>
    </p:spTree>
    <p:extLst>
      <p:ext uri="{BB962C8B-B14F-4D97-AF65-F5344CB8AC3E}">
        <p14:creationId xmlns:p14="http://schemas.microsoft.com/office/powerpoint/2010/main" val="67442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intermolecular forces are much weaker than covalent bonds within molecules. The structure and composition of molecules determines which intermolecular forces are present. These forces determine the properties of the material.</a:t>
            </a:r>
            <a:endParaRPr lang="en-AU" dirty="0"/>
          </a:p>
        </p:txBody>
      </p:sp>
    </p:spTree>
    <p:extLst>
      <p:ext uri="{BB962C8B-B14F-4D97-AF65-F5344CB8AC3E}">
        <p14:creationId xmlns:p14="http://schemas.microsoft.com/office/powerpoint/2010/main" val="3378156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Shapes </a:t>
            </a:r>
            <a:r>
              <a:rPr lang="en-AU" dirty="0" smtClean="0"/>
              <a:t>of molecules</a:t>
            </a:r>
            <a:endParaRPr lang="en-AU" dirty="0"/>
          </a:p>
        </p:txBody>
      </p:sp>
      <p:sp>
        <p:nvSpPr>
          <p:cNvPr id="3" name="Content Placeholder 2"/>
          <p:cNvSpPr>
            <a:spLocks noGrp="1"/>
          </p:cNvSpPr>
          <p:nvPr>
            <p:ph idx="1"/>
          </p:nvPr>
        </p:nvSpPr>
        <p:spPr/>
        <p:txBody>
          <a:bodyPr>
            <a:normAutofit fontScale="92500"/>
          </a:bodyPr>
          <a:lstStyle/>
          <a:p>
            <a:r>
              <a:rPr lang="en-AU" dirty="0" smtClean="0"/>
              <a:t>Molecules exist in a three-dimensional space, but we generally represent molecules in two dimensions. </a:t>
            </a:r>
            <a:r>
              <a:rPr lang="en-AU" dirty="0" smtClean="0">
                <a:solidFill>
                  <a:srgbClr val="0070C0"/>
                </a:solidFill>
              </a:rPr>
              <a:t>The structure and bonding in molecules is described by using either electron dot formulas or valence structures. </a:t>
            </a:r>
            <a:endParaRPr lang="en-AU" dirty="0" smtClean="0">
              <a:solidFill>
                <a:srgbClr val="0070C0"/>
              </a:solidFill>
            </a:endParaRPr>
          </a:p>
          <a:p>
            <a:r>
              <a:rPr lang="en-AU" dirty="0" smtClean="0">
                <a:solidFill>
                  <a:srgbClr val="0070C0"/>
                </a:solidFill>
              </a:rPr>
              <a:t>Shapes of molecules determine many physical properties of covalent molecular substances.</a:t>
            </a:r>
          </a:p>
          <a:p>
            <a:r>
              <a:rPr lang="en-AU" dirty="0" smtClean="0">
                <a:solidFill>
                  <a:srgbClr val="0070C0"/>
                </a:solidFill>
              </a:rPr>
              <a:t>The shape of large molecules like DNA, scientists use complex techniques like X-ray crystallography or powerful computer simulations.</a:t>
            </a:r>
            <a:endParaRPr lang="en-AU" dirty="0">
              <a:solidFill>
                <a:srgbClr val="FF0000"/>
              </a:solidFill>
            </a:endParaRPr>
          </a:p>
        </p:txBody>
      </p:sp>
    </p:spTree>
    <p:extLst>
      <p:ext uri="{BB962C8B-B14F-4D97-AF65-F5344CB8AC3E}">
        <p14:creationId xmlns:p14="http://schemas.microsoft.com/office/powerpoint/2010/main" val="3425649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shape of small molecules can be predicted using a relatively simple model known as the valence shell electron pair repulsion (VSEPR) theory. </a:t>
            </a:r>
            <a:endParaRPr lang="en-AU" dirty="0"/>
          </a:p>
        </p:txBody>
      </p:sp>
    </p:spTree>
    <p:extLst>
      <p:ext uri="{BB962C8B-B14F-4D97-AF65-F5344CB8AC3E}">
        <p14:creationId xmlns:p14="http://schemas.microsoft.com/office/powerpoint/2010/main" val="459220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Electron dot formulas</a:t>
            </a:r>
            <a:endParaRPr lang="en-AU" dirty="0"/>
          </a:p>
        </p:txBody>
      </p:sp>
      <p:sp>
        <p:nvSpPr>
          <p:cNvPr id="3" name="Content Placeholder 2"/>
          <p:cNvSpPr>
            <a:spLocks noGrp="1"/>
          </p:cNvSpPr>
          <p:nvPr>
            <p:ph idx="1"/>
          </p:nvPr>
        </p:nvSpPr>
        <p:spPr/>
        <p:txBody>
          <a:bodyPr>
            <a:normAutofit fontScale="77500" lnSpcReduction="20000"/>
          </a:bodyPr>
          <a:lstStyle/>
          <a:p>
            <a:r>
              <a:rPr lang="en-AU" sz="2800" dirty="0" smtClean="0"/>
              <a:t>Atoms tend to be more stable when there are eight valence electrons around the central atom. This is known as octet rule. </a:t>
            </a:r>
          </a:p>
          <a:p>
            <a:endParaRPr lang="en-AU" sz="2800" dirty="0"/>
          </a:p>
          <a:p>
            <a:r>
              <a:rPr lang="en-AU" sz="2800" dirty="0" smtClean="0"/>
              <a:t>Look at figure: C6.2, C6.3 in page: 259 NC</a:t>
            </a:r>
          </a:p>
          <a:p>
            <a:r>
              <a:rPr lang="en-AU" sz="2800" dirty="0" smtClean="0"/>
              <a:t>In covalent bonds, the electrons shared between two atoms are called the bonding pair of electrons. </a:t>
            </a:r>
          </a:p>
          <a:p>
            <a:r>
              <a:rPr lang="en-AU" sz="2800" dirty="0" smtClean="0"/>
              <a:t>A single bond is formed when one pair of electrons is shared. A double bond occurs when two pairs of electrons are shared between the two atoms.</a:t>
            </a:r>
            <a:endParaRPr lang="en-AU" sz="2800" dirty="0"/>
          </a:p>
        </p:txBody>
      </p:sp>
    </p:spTree>
    <p:extLst>
      <p:ext uri="{BB962C8B-B14F-4D97-AF65-F5344CB8AC3E}">
        <p14:creationId xmlns:p14="http://schemas.microsoft.com/office/powerpoint/2010/main" val="12861633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fontScale="77500" lnSpcReduction="20000"/>
          </a:bodyPr>
          <a:lstStyle/>
          <a:p>
            <a:r>
              <a:rPr lang="en-AU" dirty="0" smtClean="0"/>
              <a:t>The pairs of valence electrons not involved with bonding are called the lone pair or non-bonding pair of electrons. </a:t>
            </a:r>
          </a:p>
          <a:p>
            <a:r>
              <a:rPr lang="en-AU" b="1" u="sng" dirty="0" smtClean="0"/>
              <a:t>Valence structures</a:t>
            </a:r>
          </a:p>
          <a:p>
            <a:r>
              <a:rPr lang="en-AU" sz="2800" dirty="0" smtClean="0">
                <a:solidFill>
                  <a:srgbClr val="FF0000"/>
                </a:solidFill>
              </a:rPr>
              <a:t>Valence structures have the advantage of showing the structure of the molecules and are often called the structural formulas. </a:t>
            </a:r>
          </a:p>
          <a:p>
            <a:r>
              <a:rPr lang="en-AU" sz="2800" dirty="0" smtClean="0"/>
              <a:t>Electron dot formulas use pairs of dots to represent the bonding between atoms. Valence structures use lines to show the bonding, and non-bonding or lone pairs of electrons are shown as a pair of dots, crosses or a line and can be used to represent the shape of molecules.</a:t>
            </a:r>
            <a:endParaRPr lang="en-AU" sz="2800" dirty="0"/>
          </a:p>
        </p:txBody>
      </p:sp>
    </p:spTree>
    <p:extLst>
      <p:ext uri="{BB962C8B-B14F-4D97-AF65-F5344CB8AC3E}">
        <p14:creationId xmlns:p14="http://schemas.microsoft.com/office/powerpoint/2010/main" val="34508071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Predicting the shape of molecules</a:t>
            </a:r>
            <a:endParaRPr lang="en-AU" dirty="0"/>
          </a:p>
        </p:txBody>
      </p:sp>
      <p:sp>
        <p:nvSpPr>
          <p:cNvPr id="3" name="Content Placeholder 2"/>
          <p:cNvSpPr>
            <a:spLocks noGrp="1"/>
          </p:cNvSpPr>
          <p:nvPr>
            <p:ph idx="1"/>
          </p:nvPr>
        </p:nvSpPr>
        <p:spPr/>
        <p:txBody>
          <a:bodyPr>
            <a:normAutofit fontScale="92500" lnSpcReduction="20000"/>
          </a:bodyPr>
          <a:lstStyle/>
          <a:p>
            <a:r>
              <a:rPr lang="en-AU" sz="2800" dirty="0" smtClean="0"/>
              <a:t>The shape of molecules will determine the intermolecular bonding and properties of the substance. </a:t>
            </a:r>
          </a:p>
          <a:p>
            <a:r>
              <a:rPr lang="en-AU" sz="2800" dirty="0" smtClean="0"/>
              <a:t>The valence structure of water shows a two-dimensional shape in which oxygen is central to two hydrogen  atoms. The three-dimensional shape could be the three atoms in a row, a V-shape molecule or two hydrogen atoms at right angles to the central oxygen.</a:t>
            </a:r>
            <a:endParaRPr lang="en-AU" sz="2800" dirty="0"/>
          </a:p>
        </p:txBody>
      </p:sp>
    </p:spTree>
    <p:extLst>
      <p:ext uri="{BB962C8B-B14F-4D97-AF65-F5344CB8AC3E}">
        <p14:creationId xmlns:p14="http://schemas.microsoft.com/office/powerpoint/2010/main" val="20448522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Valence shell electron pair repulsion (VSEPR) theory has been used over 50 years to determine the shape and hence the function of many molecules. It gives an understanding of how proteins may bond to an enzyme, essential for many medical applications. </a:t>
            </a:r>
          </a:p>
          <a:p>
            <a:r>
              <a:rPr lang="en-AU" dirty="0" smtClean="0"/>
              <a:t>The “R” in VSEPR stands for the word “repulsion”, the theory is based upon the </a:t>
            </a:r>
            <a:r>
              <a:rPr lang="en-AU" dirty="0" smtClean="0">
                <a:solidFill>
                  <a:srgbClr val="FF0000"/>
                </a:solidFill>
              </a:rPr>
              <a:t>Pauli exclusion principle,</a:t>
            </a:r>
            <a:r>
              <a:rPr lang="en-AU" dirty="0" smtClean="0"/>
              <a:t> not electron repulsion. </a:t>
            </a:r>
            <a:endParaRPr lang="en-AU" dirty="0">
              <a:solidFill>
                <a:srgbClr val="FF0000"/>
              </a:solidFill>
            </a:endParaRPr>
          </a:p>
        </p:txBody>
      </p:sp>
    </p:spTree>
    <p:extLst>
      <p:ext uri="{BB962C8B-B14F-4D97-AF65-F5344CB8AC3E}">
        <p14:creationId xmlns:p14="http://schemas.microsoft.com/office/powerpoint/2010/main" val="8756974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Pauli’s exclusion principle states that each orbital can have 0,1 or 2 electrons. If two electrons are present, then they spin in opposite directions around the nucleus. The discovery of this electron spin is fundamental to the Pauli exclusion principle. </a:t>
            </a:r>
          </a:p>
          <a:p>
            <a:r>
              <a:rPr lang="en-AU" dirty="0" smtClean="0"/>
              <a:t>Two electrons of the same spin have a zero probability of being found in the same location and will be found in locations as far apart as possible.                                                </a:t>
            </a:r>
          </a:p>
          <a:p>
            <a:endParaRPr lang="en-AU" dirty="0"/>
          </a:p>
        </p:txBody>
      </p:sp>
      <p:pic>
        <p:nvPicPr>
          <p:cNvPr id="4" name="Picture 3" descr="Image result for shape of molecule of water"/>
          <p:cNvPicPr/>
          <p:nvPr/>
        </p:nvPicPr>
        <p:blipFill>
          <a:blip r:embed="rId2">
            <a:extLst>
              <a:ext uri="{28A0092B-C50C-407E-A947-70E740481C1C}">
                <a14:useLocalDpi xmlns:a14="http://schemas.microsoft.com/office/drawing/2010/main" val="0"/>
              </a:ext>
            </a:extLst>
          </a:blip>
          <a:srcRect/>
          <a:stretch>
            <a:fillRect/>
          </a:stretch>
        </p:blipFill>
        <p:spPr bwMode="auto">
          <a:xfrm>
            <a:off x="3257916" y="6099140"/>
            <a:ext cx="758825" cy="558800"/>
          </a:xfrm>
          <a:prstGeom prst="rect">
            <a:avLst/>
          </a:prstGeom>
          <a:noFill/>
          <a:ln>
            <a:noFill/>
          </a:ln>
        </p:spPr>
      </p:pic>
      <p:pic>
        <p:nvPicPr>
          <p:cNvPr id="5" name="Picture 4" descr="Image result for shape of molecule of water"/>
          <p:cNvPicPr/>
          <p:nvPr/>
        </p:nvPicPr>
        <p:blipFill>
          <a:blip r:embed="rId3">
            <a:extLst>
              <a:ext uri="{28A0092B-C50C-407E-A947-70E740481C1C}">
                <a14:useLocalDpi xmlns:a14="http://schemas.microsoft.com/office/drawing/2010/main" val="0"/>
              </a:ext>
            </a:extLst>
          </a:blip>
          <a:srcRect/>
          <a:stretch>
            <a:fillRect/>
          </a:stretch>
        </p:blipFill>
        <p:spPr bwMode="auto">
          <a:xfrm>
            <a:off x="5076056" y="6078820"/>
            <a:ext cx="689610" cy="299720"/>
          </a:xfrm>
          <a:prstGeom prst="rect">
            <a:avLst/>
          </a:prstGeom>
          <a:noFill/>
          <a:ln>
            <a:noFill/>
          </a:ln>
        </p:spPr>
      </p:pic>
      <p:pic>
        <p:nvPicPr>
          <p:cNvPr id="6" name="Picture 5" descr="https://encrypted-tbn1.gstatic.com/images?q=tbn:ANd9GcT29JR3GnLVMZxPy32FbuaPoWgnrF0hfwCG1qamwe8C8YlWcoOP"/>
          <p:cNvPicPr/>
          <p:nvPr/>
        </p:nvPicPr>
        <p:blipFill>
          <a:blip r:embed="rId4">
            <a:extLst>
              <a:ext uri="{28A0092B-C50C-407E-A947-70E740481C1C}">
                <a14:useLocalDpi xmlns:a14="http://schemas.microsoft.com/office/drawing/2010/main" val="0"/>
              </a:ext>
            </a:extLst>
          </a:blip>
          <a:srcRect/>
          <a:stretch>
            <a:fillRect/>
          </a:stretch>
        </p:blipFill>
        <p:spPr bwMode="auto">
          <a:xfrm>
            <a:off x="6543883" y="5742659"/>
            <a:ext cx="2232248" cy="972042"/>
          </a:xfrm>
          <a:prstGeom prst="rect">
            <a:avLst/>
          </a:prstGeom>
          <a:noFill/>
          <a:ln>
            <a:noFill/>
          </a:ln>
        </p:spPr>
      </p:pic>
    </p:spTree>
    <p:extLst>
      <p:ext uri="{BB962C8B-B14F-4D97-AF65-F5344CB8AC3E}">
        <p14:creationId xmlns:p14="http://schemas.microsoft.com/office/powerpoint/2010/main" val="35275940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85000" lnSpcReduction="20000"/>
          </a:bodyPr>
          <a:lstStyle/>
          <a:p>
            <a:r>
              <a:rPr lang="en-AU" dirty="0" smtClean="0"/>
              <a:t>VSEPR theory is based upon the number of electron pairs surrounding the central atom.  The electron pairs arrange themselves as if they repel each other. </a:t>
            </a:r>
          </a:p>
          <a:p>
            <a:endParaRPr lang="en-AU" dirty="0"/>
          </a:p>
          <a:p>
            <a:r>
              <a:rPr lang="en-AU" dirty="0" smtClean="0"/>
              <a:t>The three-dimensional structure of simple molecules depends upon the number of electron pairs around the central atom. The electron dot formulas are used to indicate electron pairs.</a:t>
            </a:r>
          </a:p>
          <a:p>
            <a:r>
              <a:rPr lang="en-AU" dirty="0" smtClean="0"/>
              <a:t>These may be bonding and/ or lone pairs. The electron pairs will be at a maximum distance from each other. It helps to think of  the electron pairs as points on a sphere with the central atom in the middle.</a:t>
            </a:r>
          </a:p>
          <a:p>
            <a:endParaRPr lang="en-AU" dirty="0" smtClean="0"/>
          </a:p>
          <a:p>
            <a:endParaRPr lang="en-AU" dirty="0" smtClean="0"/>
          </a:p>
          <a:p>
            <a:endParaRPr lang="en-AU" dirty="0"/>
          </a:p>
          <a:p>
            <a:endParaRPr lang="en-AU" dirty="0"/>
          </a:p>
        </p:txBody>
      </p:sp>
    </p:spTree>
    <p:extLst>
      <p:ext uri="{BB962C8B-B14F-4D97-AF65-F5344CB8AC3E}">
        <p14:creationId xmlns:p14="http://schemas.microsoft.com/office/powerpoint/2010/main" val="41589223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0070C0"/>
                </a:solidFill>
              </a:rPr>
              <a:t>Lone pairs are closer to the single nucleus, so they occupy more space. Bonding pairs are shared by two atoms and are attracted by two nuclei. So, they occupy less space and cause less repulsion than lone pairs. </a:t>
            </a:r>
          </a:p>
          <a:p>
            <a:r>
              <a:rPr lang="en-AU" dirty="0">
                <a:solidFill>
                  <a:srgbClr val="0070C0"/>
                </a:solidFill>
                <a:hlinkClick r:id="rId2"/>
              </a:rPr>
              <a:t>https://</a:t>
            </a:r>
            <a:r>
              <a:rPr lang="en-AU" dirty="0" smtClean="0">
                <a:solidFill>
                  <a:srgbClr val="0070C0"/>
                </a:solidFill>
                <a:hlinkClick r:id="rId2"/>
              </a:rPr>
              <a:t>www.youtube.com/watch?v=nxebQZUVvTg</a:t>
            </a:r>
            <a:endParaRPr lang="en-AU" dirty="0" smtClean="0">
              <a:solidFill>
                <a:srgbClr val="0070C0"/>
              </a:solidFill>
            </a:endParaRPr>
          </a:p>
          <a:p>
            <a:endParaRPr lang="en-AU" dirty="0">
              <a:solidFill>
                <a:srgbClr val="0070C0"/>
              </a:solidFill>
            </a:endParaRPr>
          </a:p>
        </p:txBody>
      </p:sp>
    </p:spTree>
    <p:extLst>
      <p:ext uri="{BB962C8B-B14F-4D97-AF65-F5344CB8AC3E}">
        <p14:creationId xmlns:p14="http://schemas.microsoft.com/office/powerpoint/2010/main" val="10480382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To work out the shape of a molecule:</a:t>
            </a:r>
          </a:p>
          <a:p>
            <a:r>
              <a:rPr lang="en-AU" dirty="0" smtClean="0">
                <a:solidFill>
                  <a:srgbClr val="0070C0"/>
                </a:solidFill>
              </a:rPr>
              <a:t>Draw the electron dot formula</a:t>
            </a:r>
          </a:p>
          <a:p>
            <a:r>
              <a:rPr lang="en-AU" dirty="0" smtClean="0">
                <a:solidFill>
                  <a:srgbClr val="0070C0"/>
                </a:solidFill>
              </a:rPr>
              <a:t>Count the lone pairs and bonding pairs.</a:t>
            </a:r>
          </a:p>
          <a:p>
            <a:r>
              <a:rPr lang="en-AU" dirty="0" smtClean="0">
                <a:solidFill>
                  <a:srgbClr val="0070C0"/>
                </a:solidFill>
              </a:rPr>
              <a:t>Treat the electrons in a covalent bond, whether a single, double or triple bond, as one set of electrons.</a:t>
            </a:r>
          </a:p>
          <a:p>
            <a:endParaRPr lang="en-AU" dirty="0">
              <a:solidFill>
                <a:srgbClr val="0070C0"/>
              </a:solidFill>
            </a:endParaRPr>
          </a:p>
        </p:txBody>
      </p:sp>
    </p:spTree>
    <p:extLst>
      <p:ext uri="{BB962C8B-B14F-4D97-AF65-F5344CB8AC3E}">
        <p14:creationId xmlns:p14="http://schemas.microsoft.com/office/powerpoint/2010/main" val="15467580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690</TotalTime>
  <Words>935</Words>
  <Application>Microsoft Office PowerPoint</Application>
  <PresentationFormat>On-screen Show (4:3)</PresentationFormat>
  <Paragraphs>47</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Garamond</vt:lpstr>
      <vt:lpstr>Organic</vt:lpstr>
      <vt:lpstr>Intermolecular forces</vt:lpstr>
      <vt:lpstr>Molecular shape</vt:lpstr>
      <vt:lpstr>PowerPoint Presentation</vt:lpstr>
      <vt:lpstr>PowerPoint Presentation</vt:lpstr>
      <vt:lpstr>PowerPoint Presentation</vt:lpstr>
      <vt:lpstr>PowerPoint Presentation</vt:lpstr>
      <vt:lpstr>Forces between molecules</vt:lpstr>
      <vt:lpstr>PowerPoint Presentation</vt:lpstr>
      <vt:lpstr>Shapes of molecules</vt:lpstr>
      <vt:lpstr>PowerPoint Presentation</vt:lpstr>
      <vt:lpstr>Electron dot formulas</vt:lpstr>
      <vt:lpstr>PowerPoint Presentation</vt:lpstr>
      <vt:lpstr>Predicting the shape of molecules</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Chapter:6</dc:title>
  <dc:creator>Jijy</dc:creator>
  <cp:lastModifiedBy>D'CRUZ Jijy [Safety Bay Senior High School]</cp:lastModifiedBy>
  <cp:revision>46</cp:revision>
  <dcterms:created xsi:type="dcterms:W3CDTF">2015-06-15T14:29:47Z</dcterms:created>
  <dcterms:modified xsi:type="dcterms:W3CDTF">2019-06-24T15:18:34Z</dcterms:modified>
</cp:coreProperties>
</file>
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3" d="100"/>
          <a:sy n="73" d="100"/>
        </p:scale>
        <p:origin x="-1296" y="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A8C216-9DB1-4F26-A1B0-5FCEE4EB4E42}" type="datetimeFigureOut">
              <a:rPr lang="en-AU" smtClean="0"/>
              <a:t>27/07/2017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907752-1DC2-40EA-8245-496EB3F4E569}" type="slidenum">
              <a:rPr lang="en-AU" smtClean="0"/>
              <a:t>‹#›</a:t>
            </a:fld>
            <a:endParaRPr lang="en-AU"/>
          </a:p>
        </p:txBody>
      </p:sp>
    </p:spTree>
    <p:extLst>
      <p:ext uri="{BB962C8B-B14F-4D97-AF65-F5344CB8AC3E}">
        <p14:creationId xmlns:p14="http://schemas.microsoft.com/office/powerpoint/2010/main" val="1933490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9907752-1DC2-40EA-8245-496EB3F4E569}" type="slidenum">
              <a:rPr lang="en-AU" smtClean="0"/>
              <a:t>3</a:t>
            </a:fld>
            <a:endParaRPr lang="en-AU"/>
          </a:p>
        </p:txBody>
      </p:sp>
    </p:spTree>
    <p:extLst>
      <p:ext uri="{BB962C8B-B14F-4D97-AF65-F5344CB8AC3E}">
        <p14:creationId xmlns:p14="http://schemas.microsoft.com/office/powerpoint/2010/main" val="2232329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C8B4C94-5DE1-4BB0-88D2-94E2A39D8CD4}" type="datetimeFigureOut">
              <a:rPr lang="en-AU" smtClean="0"/>
              <a:t>27/07/2017</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0D38C5EC-C708-4F82-AB08-0012D75385D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C8B4C94-5DE1-4BB0-88D2-94E2A39D8CD4}"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C8B4C94-5DE1-4BB0-88D2-94E2A39D8CD4}"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C8B4C94-5DE1-4BB0-88D2-94E2A39D8CD4}"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C8B4C94-5DE1-4BB0-88D2-94E2A39D8CD4}" type="datetimeFigureOut">
              <a:rPr lang="en-AU" smtClean="0"/>
              <a:t>27/07/2017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C8B4C94-5DE1-4BB0-88D2-94E2A39D8CD4}" type="datetimeFigureOut">
              <a:rPr lang="en-AU" smtClean="0"/>
              <a:t>27/07/2017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8B4C94-5DE1-4BB0-88D2-94E2A39D8CD4}" type="datetimeFigureOut">
              <a:rPr lang="en-AU" smtClean="0"/>
              <a:t>27/07/2017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C8B4C94-5DE1-4BB0-88D2-94E2A39D8CD4}"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C8B4C94-5DE1-4BB0-88D2-94E2A39D8CD4}" type="datetimeFigureOut">
              <a:rPr lang="en-AU" smtClean="0"/>
              <a:t>27/07/2017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0D38C5EC-C708-4F82-AB08-0012D75385D5}"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C8B4C94-5DE1-4BB0-88D2-94E2A39D8CD4}"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C8B4C94-5DE1-4BB0-88D2-94E2A39D8CD4}" type="datetimeFigureOut">
              <a:rPr lang="en-AU" smtClean="0"/>
              <a:t>27/07/2017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D38C5EC-C708-4F82-AB08-0012D75385D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C8B4C94-5DE1-4BB0-88D2-94E2A39D8CD4}" type="datetimeFigureOut">
              <a:rPr lang="en-AU" smtClean="0"/>
              <a:t>27/07/2017</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D38C5EC-C708-4F82-AB08-0012D75385D5}"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Chapter:7.4</a:t>
            </a:r>
            <a:endParaRPr lang="en-AU" dirty="0"/>
          </a:p>
        </p:txBody>
      </p:sp>
      <p:sp>
        <p:nvSpPr>
          <p:cNvPr id="3" name="Subtitle 2"/>
          <p:cNvSpPr>
            <a:spLocks noGrp="1"/>
          </p:cNvSpPr>
          <p:nvPr>
            <p:ph type="subTitle" idx="1"/>
          </p:nvPr>
        </p:nvSpPr>
        <p:spPr/>
        <p:txBody>
          <a:bodyPr/>
          <a:lstStyle/>
          <a:p>
            <a:r>
              <a:rPr lang="en-AU" dirty="0" smtClean="0"/>
              <a:t>Acids and Bases</a:t>
            </a:r>
            <a:endParaRPr lang="en-AU" dirty="0"/>
          </a:p>
        </p:txBody>
      </p:sp>
    </p:spTree>
    <p:extLst>
      <p:ext uri="{BB962C8B-B14F-4D97-AF65-F5344CB8AC3E}">
        <p14:creationId xmlns:p14="http://schemas.microsoft.com/office/powerpoint/2010/main" val="11123229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Naturally our environment is acidic. Rain is slightly acidic. Soft drinks contain carbonic acid. Citrus fruits contain citric acid and many foods contain vitamin C, which is ascorbic acid. Proteins are long chains of amino acids and our stomach produces </a:t>
            </a:r>
            <a:r>
              <a:rPr lang="en-AU" dirty="0" err="1" smtClean="0"/>
              <a:t>HCl</a:t>
            </a:r>
            <a:r>
              <a:rPr lang="en-AU" dirty="0" smtClean="0"/>
              <a:t> for the ion of food. </a:t>
            </a:r>
          </a:p>
          <a:p>
            <a:r>
              <a:rPr lang="en-AU" dirty="0" smtClean="0"/>
              <a:t>Bases are part of our natural environment. Ammonia is a base found in volcanic gases and produced by rotting plant and animal matter. </a:t>
            </a:r>
            <a:r>
              <a:rPr lang="en-AU" dirty="0" err="1" smtClean="0"/>
              <a:t>Caffiene</a:t>
            </a:r>
            <a:r>
              <a:rPr lang="en-AU" dirty="0" smtClean="0"/>
              <a:t> found in coffee and tea, is a base as is nicotine, which is in tobacco.</a:t>
            </a:r>
            <a:endParaRPr lang="en-AU" dirty="0"/>
          </a:p>
        </p:txBody>
      </p:sp>
    </p:spTree>
    <p:extLst>
      <p:ext uri="{BB962C8B-B14F-4D97-AF65-F5344CB8AC3E}">
        <p14:creationId xmlns:p14="http://schemas.microsoft.com/office/powerpoint/2010/main" val="4527720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Definitions of acids &amp; bases</a:t>
            </a:r>
            <a:endParaRPr lang="en-AU" dirty="0"/>
          </a:p>
        </p:txBody>
      </p:sp>
      <p:sp>
        <p:nvSpPr>
          <p:cNvPr id="3" name="Content Placeholder 2"/>
          <p:cNvSpPr>
            <a:spLocks noGrp="1"/>
          </p:cNvSpPr>
          <p:nvPr>
            <p:ph idx="1"/>
          </p:nvPr>
        </p:nvSpPr>
        <p:spPr>
          <a:xfrm>
            <a:off x="671210" y="1628537"/>
            <a:ext cx="8229600" cy="4389120"/>
          </a:xfrm>
        </p:spPr>
        <p:txBody>
          <a:bodyPr>
            <a:normAutofit lnSpcReduction="10000"/>
          </a:bodyPr>
          <a:lstStyle/>
          <a:p>
            <a:r>
              <a:rPr lang="en-AU" b="1" u="sng" dirty="0" smtClean="0">
                <a:solidFill>
                  <a:srgbClr val="FF0000"/>
                </a:solidFill>
              </a:rPr>
              <a:t>Common Properties of acids</a:t>
            </a:r>
          </a:p>
          <a:p>
            <a:r>
              <a:rPr lang="en-AU" dirty="0" smtClean="0"/>
              <a:t>A sour taste</a:t>
            </a:r>
          </a:p>
          <a:p>
            <a:r>
              <a:rPr lang="en-AU" dirty="0" smtClean="0"/>
              <a:t>Sting or burn the skin</a:t>
            </a:r>
          </a:p>
          <a:p>
            <a:r>
              <a:rPr lang="en-AU" dirty="0" smtClean="0"/>
              <a:t>Turn blue litmus red			</a:t>
            </a:r>
          </a:p>
          <a:p>
            <a:r>
              <a:rPr lang="en-AU" b="1" u="sng" dirty="0" smtClean="0">
                <a:solidFill>
                  <a:srgbClr val="FF0000"/>
                </a:solidFill>
              </a:rPr>
              <a:t>Common Properties of bases</a:t>
            </a:r>
          </a:p>
          <a:p>
            <a:r>
              <a:rPr lang="en-AU" dirty="0" smtClean="0"/>
              <a:t>A slippery feel in aqueous solution</a:t>
            </a:r>
          </a:p>
          <a:p>
            <a:r>
              <a:rPr lang="en-AU" dirty="0" smtClean="0"/>
              <a:t>A bitter taste </a:t>
            </a:r>
          </a:p>
          <a:p>
            <a:r>
              <a:rPr lang="en-AU" dirty="0" smtClean="0"/>
              <a:t>Conduct electricity in solution (not all bases are soluble- soluble bases are called as alkali’s.)</a:t>
            </a:r>
          </a:p>
          <a:p>
            <a:r>
              <a:rPr lang="en-AU" dirty="0" smtClean="0"/>
              <a:t>Turn red litmus blue                                         </a:t>
            </a:r>
          </a:p>
          <a:p>
            <a:endParaRPr lang="en-AU" dirty="0">
              <a:solidFill>
                <a:srgbClr val="FF0000"/>
              </a:solidFill>
            </a:endParaRPr>
          </a:p>
        </p:txBody>
      </p:sp>
      <p:pic>
        <p:nvPicPr>
          <p:cNvPr id="4" name="Picture 3" descr="http://chemistry.phillipmartin.info/chemistry_acids_bases.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132856"/>
            <a:ext cx="2588260" cy="1690370"/>
          </a:xfrm>
          <a:prstGeom prst="rect">
            <a:avLst/>
          </a:prstGeom>
          <a:noFill/>
          <a:ln>
            <a:noFill/>
          </a:ln>
        </p:spPr>
      </p:pic>
      <p:pic>
        <p:nvPicPr>
          <p:cNvPr id="6" name="Picture 5" descr="http://b86a38.medialib.glogster.com/media/b5a4efebce8ba73f37bd9fda043a1ff1025be3ee9a8a3417f46128f67c283a24/ph-gif.gif"/>
          <p:cNvPicPr/>
          <p:nvPr/>
        </p:nvPicPr>
        <p:blipFill>
          <a:blip r:embed="rId4">
            <a:extLst>
              <a:ext uri="{28A0092B-C50C-407E-A947-70E740481C1C}">
                <a14:useLocalDpi xmlns:a14="http://schemas.microsoft.com/office/drawing/2010/main" val="0"/>
              </a:ext>
            </a:extLst>
          </a:blip>
          <a:srcRect/>
          <a:stretch>
            <a:fillRect/>
          </a:stretch>
        </p:blipFill>
        <p:spPr bwMode="auto">
          <a:xfrm>
            <a:off x="7308304" y="5157192"/>
            <a:ext cx="1652156" cy="1474465"/>
          </a:xfrm>
          <a:prstGeom prst="rect">
            <a:avLst/>
          </a:prstGeom>
          <a:noFill/>
          <a:ln>
            <a:noFill/>
          </a:ln>
        </p:spPr>
      </p:pic>
    </p:spTree>
    <p:extLst>
      <p:ext uri="{BB962C8B-B14F-4D97-AF65-F5344CB8AC3E}">
        <p14:creationId xmlns:p14="http://schemas.microsoft.com/office/powerpoint/2010/main" val="24693162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20000"/>
          </a:bodyPr>
          <a:lstStyle/>
          <a:p>
            <a:r>
              <a:rPr lang="en-AU" dirty="0" smtClean="0"/>
              <a:t>Effects of acids and bases on vegetable dyes like litmus was initially used to classify substances as acids and bases. French scientist Antoine Lavoisier ( 1743-94) was one of the first to try to establish what an acid is . </a:t>
            </a:r>
          </a:p>
          <a:p>
            <a:endParaRPr lang="en-AU" dirty="0"/>
          </a:p>
          <a:p>
            <a:r>
              <a:rPr lang="en-AU" dirty="0" smtClean="0"/>
              <a:t>In 19</a:t>
            </a:r>
            <a:r>
              <a:rPr lang="en-AU" baseline="30000" dirty="0" smtClean="0"/>
              <a:t>th</a:t>
            </a:r>
            <a:r>
              <a:rPr lang="en-AU" dirty="0" smtClean="0"/>
              <a:t> century, Swedish chemist </a:t>
            </a:r>
            <a:r>
              <a:rPr lang="en-AU" dirty="0" err="1" smtClean="0"/>
              <a:t>Svante</a:t>
            </a:r>
            <a:r>
              <a:rPr lang="en-AU" dirty="0" smtClean="0"/>
              <a:t> Arrhenius attempted to explain acids and bases in terms of particles they produced in aqueous solution.</a:t>
            </a:r>
          </a:p>
          <a:p>
            <a:endParaRPr lang="en-AU" dirty="0" smtClean="0"/>
          </a:p>
          <a:p>
            <a:r>
              <a:rPr lang="en-AU" dirty="0" smtClean="0"/>
              <a:t>He proposed that acids were substances that ionised in solution to produce hydrogen ions and that acids are strong if they ionised completely  and weak if they ionised only slightly. </a:t>
            </a:r>
            <a:endParaRPr lang="en-AU" dirty="0"/>
          </a:p>
          <a:p>
            <a:endParaRPr lang="en-AU" dirty="0" smtClean="0"/>
          </a:p>
        </p:txBody>
      </p:sp>
    </p:spTree>
    <p:extLst>
      <p:ext uri="{BB962C8B-B14F-4D97-AF65-F5344CB8AC3E}">
        <p14:creationId xmlns:p14="http://schemas.microsoft.com/office/powerpoint/2010/main" val="37206336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Definition of a base is quite general. Most oxides formed between a non- metal and oxygen ( for example CO2 and SO</a:t>
            </a:r>
            <a:r>
              <a:rPr lang="en-AU" sz="2000" dirty="0" smtClean="0"/>
              <a:t>3 ) </a:t>
            </a:r>
            <a:r>
              <a:rPr lang="en-AU" sz="2800" dirty="0" smtClean="0"/>
              <a:t>are acidic or neutral, while those formed between a metal and oxygen ( basic for example </a:t>
            </a:r>
            <a:r>
              <a:rPr lang="en-AU" sz="2800" dirty="0" err="1" smtClean="0"/>
              <a:t>CaO</a:t>
            </a:r>
            <a:r>
              <a:rPr lang="en-AU" sz="2800" dirty="0" smtClean="0"/>
              <a:t> and </a:t>
            </a:r>
            <a:r>
              <a:rPr lang="en-AU" sz="2800" dirty="0" err="1" smtClean="0"/>
              <a:t>MgO</a:t>
            </a:r>
            <a:r>
              <a:rPr lang="en-AU" sz="2800" dirty="0" smtClean="0"/>
              <a:t>) are basic </a:t>
            </a:r>
            <a:r>
              <a:rPr lang="en-AU" sz="2800" dirty="0"/>
              <a:t>or amphoteric </a:t>
            </a:r>
            <a:r>
              <a:rPr lang="en-AU" sz="2800" dirty="0">
                <a:solidFill>
                  <a:srgbClr val="0070C0"/>
                </a:solidFill>
              </a:rPr>
              <a:t>(a molecule or ion that can react as an acid as well as a base. The word is derived from the Greek word </a:t>
            </a:r>
            <a:r>
              <a:rPr lang="en-AU" sz="2800" dirty="0" err="1">
                <a:solidFill>
                  <a:srgbClr val="0070C0"/>
                </a:solidFill>
              </a:rPr>
              <a:t>amphoteroi</a:t>
            </a:r>
            <a:r>
              <a:rPr lang="en-AU" sz="2800" dirty="0">
                <a:solidFill>
                  <a:srgbClr val="0070C0"/>
                </a:solidFill>
              </a:rPr>
              <a:t> </a:t>
            </a:r>
            <a:r>
              <a:rPr lang="en-AU" sz="2800" dirty="0" smtClean="0">
                <a:solidFill>
                  <a:srgbClr val="0070C0"/>
                </a:solidFill>
              </a:rPr>
              <a:t>meaning </a:t>
            </a:r>
            <a:r>
              <a:rPr lang="en-AU" sz="2800" dirty="0">
                <a:solidFill>
                  <a:srgbClr val="0070C0"/>
                </a:solidFill>
              </a:rPr>
              <a:t>"</a:t>
            </a:r>
            <a:r>
              <a:rPr lang="en-AU" sz="2800" dirty="0" smtClean="0">
                <a:solidFill>
                  <a:srgbClr val="0070C0"/>
                </a:solidFill>
              </a:rPr>
              <a:t>both“)</a:t>
            </a:r>
            <a:endParaRPr lang="en-AU" sz="2800" dirty="0">
              <a:solidFill>
                <a:srgbClr val="0070C0"/>
              </a:solidFill>
            </a:endParaRPr>
          </a:p>
        </p:txBody>
      </p:sp>
    </p:spTree>
    <p:extLst>
      <p:ext uri="{BB962C8B-B14F-4D97-AF65-F5344CB8AC3E}">
        <p14:creationId xmlns:p14="http://schemas.microsoft.com/office/powerpoint/2010/main" val="2916504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For present purpose following definition on acids and bases can be used.</a:t>
                </a:r>
              </a:p>
              <a:p>
                <a:endParaRPr lang="en-AU" dirty="0"/>
              </a:p>
              <a:p>
                <a:r>
                  <a:rPr lang="en-AU" dirty="0" smtClean="0">
                    <a:solidFill>
                      <a:srgbClr val="FF0000"/>
                    </a:solidFill>
                  </a:rPr>
                  <a:t>An acid is a substance that produces hydrogen ions (</a:t>
                </a:r>
                <a14:m>
                  <m:oMath xmlns:m="http://schemas.openxmlformats.org/officeDocument/2006/math">
                    <m:sSup>
                      <m:sSupPr>
                        <m:ctrlPr>
                          <a:rPr lang="en-AU" b="0" i="1" smtClean="0">
                            <a:solidFill>
                              <a:srgbClr val="FF0000"/>
                            </a:solidFill>
                            <a:latin typeface="Cambria Math"/>
                          </a:rPr>
                        </m:ctrlPr>
                      </m:sSupPr>
                      <m:e>
                        <m:r>
                          <a:rPr lang="en-AU" b="0" i="1" smtClean="0">
                            <a:solidFill>
                              <a:srgbClr val="FF0000"/>
                            </a:solidFill>
                            <a:latin typeface="Cambria Math"/>
                          </a:rPr>
                          <m:t>𝐻</m:t>
                        </m:r>
                      </m:e>
                      <m:sup>
                        <m:r>
                          <a:rPr lang="en-AU" b="0" i="1" smtClean="0">
                            <a:solidFill>
                              <a:srgbClr val="FF0000"/>
                            </a:solidFill>
                            <a:latin typeface="Cambria Math"/>
                          </a:rPr>
                          <m:t>+</m:t>
                        </m:r>
                      </m:sup>
                    </m:sSup>
                    <m:r>
                      <a:rPr lang="en-AU" b="0" i="1" smtClean="0">
                        <a:solidFill>
                          <a:srgbClr val="FF0000"/>
                        </a:solidFill>
                        <a:latin typeface="Cambria Math"/>
                      </a:rPr>
                      <m:t>)</m:t>
                    </m:r>
                  </m:oMath>
                </a14:m>
                <a:r>
                  <a:rPr lang="en-AU" dirty="0" smtClean="0">
                    <a:solidFill>
                      <a:srgbClr val="FF0000"/>
                    </a:solidFill>
                  </a:rPr>
                  <a:t> in aqueous solution. More strictly, the hydrogen ion attaches to a water molecule and forms hydronium ions (</a:t>
                </a:r>
                <a14:m>
                  <m:oMath xmlns:m="http://schemas.openxmlformats.org/officeDocument/2006/math">
                    <m:sSub>
                      <m:sSubPr>
                        <m:ctrlPr>
                          <a:rPr lang="en-AU" b="0" i="1" smtClean="0">
                            <a:solidFill>
                              <a:srgbClr val="FF0000"/>
                            </a:solidFill>
                            <a:latin typeface="Cambria Math"/>
                          </a:rPr>
                        </m:ctrlPr>
                      </m:sSubPr>
                      <m:e>
                        <m:r>
                          <a:rPr lang="en-AU" b="0" i="1" smtClean="0">
                            <a:solidFill>
                              <a:srgbClr val="FF0000"/>
                            </a:solidFill>
                            <a:latin typeface="Cambria Math"/>
                          </a:rPr>
                          <m:t>𝐻</m:t>
                        </m:r>
                      </m:e>
                      <m:sub>
                        <m:r>
                          <a:rPr lang="en-AU" b="0" i="1" smtClean="0">
                            <a:solidFill>
                              <a:srgbClr val="FF0000"/>
                            </a:solidFill>
                            <a:latin typeface="Cambria Math"/>
                          </a:rPr>
                          <m:t>3</m:t>
                        </m:r>
                      </m:sub>
                    </m:sSub>
                    <m:sSup>
                      <m:sSupPr>
                        <m:ctrlPr>
                          <a:rPr lang="en-AU" b="0" i="1" smtClean="0">
                            <a:solidFill>
                              <a:srgbClr val="FF0000"/>
                            </a:solidFill>
                            <a:latin typeface="Cambria Math"/>
                          </a:rPr>
                        </m:ctrlPr>
                      </m:sSupPr>
                      <m:e>
                        <m:r>
                          <a:rPr lang="en-AU" b="0" i="1" smtClean="0">
                            <a:solidFill>
                              <a:srgbClr val="FF0000"/>
                            </a:solidFill>
                            <a:latin typeface="Cambria Math"/>
                          </a:rPr>
                          <m:t>𝑂</m:t>
                        </m:r>
                      </m:e>
                      <m:sup>
                        <m:r>
                          <a:rPr lang="en-AU" b="0" i="1" smtClean="0">
                            <a:solidFill>
                              <a:srgbClr val="FF0000"/>
                            </a:solidFill>
                            <a:latin typeface="Cambria Math"/>
                          </a:rPr>
                          <m:t>+</m:t>
                        </m:r>
                      </m:sup>
                    </m:sSup>
                    <m:r>
                      <a:rPr lang="en-AU" b="0" i="1" smtClean="0">
                        <a:solidFill>
                          <a:srgbClr val="FF0000"/>
                        </a:solidFill>
                        <a:latin typeface="Cambria Math"/>
                      </a:rPr>
                      <m:t>) .</m:t>
                    </m:r>
                  </m:oMath>
                </a14:m>
                <a:endParaRPr lang="en-AU" b="0" dirty="0" smtClean="0">
                  <a:solidFill>
                    <a:srgbClr val="FF0000"/>
                  </a:solidFill>
                </a:endParaRPr>
              </a:p>
              <a:p>
                <a:r>
                  <a:rPr lang="en-AU" dirty="0" smtClean="0">
                    <a:solidFill>
                      <a:srgbClr val="0070C0"/>
                    </a:solidFill>
                  </a:rPr>
                  <a:t>A base is a substance that either contains the oxide ion (</a:t>
                </a:r>
                <a14:m>
                  <m:oMath xmlns:m="http://schemas.openxmlformats.org/officeDocument/2006/math">
                    <m:sSup>
                      <m:sSupPr>
                        <m:ctrlPr>
                          <a:rPr lang="en-AU" b="0" i="1" smtClean="0">
                            <a:solidFill>
                              <a:srgbClr val="0070C0"/>
                            </a:solidFill>
                            <a:latin typeface="Cambria Math"/>
                          </a:rPr>
                        </m:ctrlPr>
                      </m:sSupPr>
                      <m:e>
                        <m:sSup>
                          <m:sSupPr>
                            <m:ctrlPr>
                              <a:rPr lang="en-AU" b="0" i="1" smtClean="0">
                                <a:solidFill>
                                  <a:srgbClr val="0070C0"/>
                                </a:solidFill>
                                <a:latin typeface="Cambria Math"/>
                              </a:rPr>
                            </m:ctrlPr>
                          </m:sSupPr>
                          <m:e>
                            <m:r>
                              <a:rPr lang="en-AU" b="0" i="1" smtClean="0">
                                <a:solidFill>
                                  <a:srgbClr val="0070C0"/>
                                </a:solidFill>
                                <a:latin typeface="Cambria Math"/>
                              </a:rPr>
                              <m:t>𝑂</m:t>
                            </m:r>
                          </m:e>
                          <m:sup>
                            <m:r>
                              <a:rPr lang="en-AU" b="0" i="1" smtClean="0">
                                <a:solidFill>
                                  <a:srgbClr val="0070C0"/>
                                </a:solidFill>
                                <a:latin typeface="Cambria Math"/>
                              </a:rPr>
                              <m:t>2</m:t>
                            </m:r>
                          </m:sup>
                        </m:sSup>
                      </m:e>
                      <m:sup>
                        <m:r>
                          <a:rPr lang="en-AU" b="0" i="1" smtClean="0">
                            <a:solidFill>
                              <a:srgbClr val="0070C0"/>
                            </a:solidFill>
                            <a:latin typeface="Cambria Math"/>
                          </a:rPr>
                          <m:t>−</m:t>
                        </m:r>
                      </m:sup>
                    </m:sSup>
                    <m:r>
                      <a:rPr lang="en-AU" b="0" i="1" smtClean="0">
                        <a:solidFill>
                          <a:srgbClr val="0070C0"/>
                        </a:solidFill>
                        <a:latin typeface="Cambria Math"/>
                      </a:rPr>
                      <m:t>) </m:t>
                    </m:r>
                    <m:r>
                      <a:rPr lang="en-AU" b="0" i="1" smtClean="0">
                        <a:solidFill>
                          <a:srgbClr val="0070C0"/>
                        </a:solidFill>
                        <a:latin typeface="Cambria Math"/>
                      </a:rPr>
                      <m:t>𝑜𝑟</m:t>
                    </m:r>
                    <m:r>
                      <a:rPr lang="en-AU" b="0" i="1" smtClean="0">
                        <a:solidFill>
                          <a:srgbClr val="0070C0"/>
                        </a:solidFill>
                        <a:latin typeface="Cambria Math"/>
                      </a:rPr>
                      <m:t> (</m:t>
                    </m:r>
                    <m:r>
                      <a:rPr lang="en-AU" b="0" i="1" smtClean="0">
                        <a:solidFill>
                          <a:srgbClr val="0070C0"/>
                        </a:solidFill>
                        <a:latin typeface="Cambria Math"/>
                      </a:rPr>
                      <m:t>𝑂</m:t>
                    </m:r>
                    <m:sSup>
                      <m:sSupPr>
                        <m:ctrlPr>
                          <a:rPr lang="en-AU" b="0" i="1" smtClean="0">
                            <a:solidFill>
                              <a:srgbClr val="0070C0"/>
                            </a:solidFill>
                            <a:latin typeface="Cambria Math"/>
                          </a:rPr>
                        </m:ctrlPr>
                      </m:sSupPr>
                      <m:e>
                        <m:r>
                          <a:rPr lang="en-AU" b="0" i="1" smtClean="0">
                            <a:solidFill>
                              <a:srgbClr val="0070C0"/>
                            </a:solidFill>
                            <a:latin typeface="Cambria Math"/>
                          </a:rPr>
                          <m:t>𝐻</m:t>
                        </m:r>
                      </m:e>
                      <m:sup>
                        <m:r>
                          <a:rPr lang="en-AU" b="0" i="1" smtClean="0">
                            <a:solidFill>
                              <a:srgbClr val="0070C0"/>
                            </a:solidFill>
                            <a:latin typeface="Cambria Math"/>
                          </a:rPr>
                          <m:t>−</m:t>
                        </m:r>
                      </m:sup>
                    </m:sSup>
                    <m:r>
                      <a:rPr lang="en-AU" b="0" i="1" smtClean="0">
                        <a:solidFill>
                          <a:srgbClr val="0070C0"/>
                        </a:solidFill>
                        <a:latin typeface="Cambria Math"/>
                      </a:rPr>
                      <m:t>)  </m:t>
                    </m:r>
                  </m:oMath>
                </a14:m>
                <a:r>
                  <a:rPr lang="en-AU" dirty="0" smtClean="0">
                    <a:solidFill>
                      <a:srgbClr val="0070C0"/>
                    </a:solidFill>
                  </a:rPr>
                  <a:t> or produces hydroxide ions in solution. A soluble base is called an alkali. </a:t>
                </a:r>
                <a:endParaRPr lang="en-AU" dirty="0">
                  <a:solidFill>
                    <a:srgbClr val="0070C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481" b="-1250"/>
                </a:stretch>
              </a:blipFill>
            </p:spPr>
            <p:txBody>
              <a:bodyPr/>
              <a:lstStyle/>
              <a:p>
                <a:r>
                  <a:rPr lang="en-AU">
                    <a:noFill/>
                  </a:rPr>
                  <a:t> </a:t>
                </a:r>
              </a:p>
            </p:txBody>
          </p:sp>
        </mc:Fallback>
      </mc:AlternateContent>
    </p:spTree>
    <p:extLst>
      <p:ext uri="{BB962C8B-B14F-4D97-AF65-F5344CB8AC3E}">
        <p14:creationId xmlns:p14="http://schemas.microsoft.com/office/powerpoint/2010/main" val="28749693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AU" dirty="0" smtClean="0"/>
                  <a:t>Common acids are </a:t>
                </a:r>
                <a:r>
                  <a:rPr lang="en-AU" dirty="0" err="1" smtClean="0"/>
                  <a:t>HCl</a:t>
                </a:r>
                <a:r>
                  <a:rPr lang="en-AU" dirty="0" smtClean="0"/>
                  <a:t>, H2SO4 and HNO3. When these are mixed with water to form acidic solutions the molecules dissociate. </a:t>
                </a:r>
              </a:p>
              <a:p>
                <a:endParaRPr lang="en-AU" dirty="0"/>
              </a:p>
              <a:p>
                <a:r>
                  <a:rPr lang="en-AU" dirty="0" err="1" smtClean="0"/>
                  <a:t>HCl</a:t>
                </a:r>
                <a:r>
                  <a:rPr lang="en-AU" dirty="0" smtClean="0">
                    <a:sym typeface="Wingdings 3"/>
                  </a:rPr>
                  <a:t> </a:t>
                </a:r>
                <a14:m>
                  <m:oMath xmlns:m="http://schemas.openxmlformats.org/officeDocument/2006/math">
                    <m:sSup>
                      <m:sSupPr>
                        <m:ctrlPr>
                          <a:rPr lang="en-AU" i="1" smtClean="0">
                            <a:solidFill>
                              <a:schemeClr val="tx1"/>
                            </a:solidFill>
                            <a:latin typeface="Cambria Math"/>
                          </a:rPr>
                        </m:ctrlPr>
                      </m:sSupPr>
                      <m:e>
                        <m:r>
                          <a:rPr lang="en-AU" i="1">
                            <a:solidFill>
                              <a:schemeClr val="tx1"/>
                            </a:solidFill>
                            <a:latin typeface="Cambria Math"/>
                          </a:rPr>
                          <m:t>𝐻</m:t>
                        </m:r>
                      </m:e>
                      <m:sup>
                        <m:r>
                          <a:rPr lang="en-AU" i="1">
                            <a:solidFill>
                              <a:schemeClr val="tx1"/>
                            </a:solidFill>
                            <a:latin typeface="Cambria Math"/>
                          </a:rPr>
                          <m:t>+</m:t>
                        </m:r>
                      </m:sup>
                    </m:sSup>
                  </m:oMath>
                </a14:m>
                <a:r>
                  <a:rPr lang="en-AU" dirty="0" smtClean="0"/>
                  <a:t>+</a:t>
                </a:r>
                <a14:m>
                  <m:oMath xmlns:m="http://schemas.openxmlformats.org/officeDocument/2006/math">
                    <m:r>
                      <a:rPr lang="en-AU" b="0" i="1" dirty="0" smtClean="0">
                        <a:latin typeface="Cambria Math"/>
                      </a:rPr>
                      <m:t>𝐶</m:t>
                    </m:r>
                    <m:sSup>
                      <m:sSupPr>
                        <m:ctrlPr>
                          <a:rPr lang="en-AU" b="0" i="1" dirty="0" smtClean="0">
                            <a:latin typeface="Cambria Math"/>
                          </a:rPr>
                        </m:ctrlPr>
                      </m:sSupPr>
                      <m:e>
                        <m:r>
                          <a:rPr lang="en-AU" b="0" i="1" dirty="0" smtClean="0">
                            <a:latin typeface="Cambria Math"/>
                          </a:rPr>
                          <m:t>𝑙</m:t>
                        </m:r>
                      </m:e>
                      <m:sup>
                        <m:r>
                          <a:rPr lang="en-AU" b="0" i="1" dirty="0" smtClean="0">
                            <a:latin typeface="Cambria Math"/>
                          </a:rPr>
                          <m:t>−</m:t>
                        </m:r>
                      </m:sup>
                    </m:sSup>
                  </m:oMath>
                </a14:m>
                <a:endParaRPr lang="en-AU" b="0" dirty="0" smtClean="0"/>
              </a:p>
              <a:p>
                <a:endParaRPr lang="en-AU" dirty="0" smtClean="0"/>
              </a:p>
              <a:p>
                <a:r>
                  <a:rPr lang="en-AU" dirty="0" smtClean="0"/>
                  <a:t>Common soluble bases ( alkalis) are </a:t>
                </a:r>
                <a:r>
                  <a:rPr lang="en-AU" dirty="0" err="1" smtClean="0"/>
                  <a:t>NaOH</a:t>
                </a:r>
                <a:r>
                  <a:rPr lang="en-AU" dirty="0" smtClean="0"/>
                  <a:t>, Ba(OH)2 K2O and ammonia. </a:t>
                </a:r>
              </a:p>
              <a:p>
                <a:r>
                  <a:rPr lang="en-AU" dirty="0" err="1" smtClean="0"/>
                  <a:t>NaOH</a:t>
                </a:r>
                <a:r>
                  <a:rPr lang="en-AU" dirty="0" smtClean="0"/>
                  <a:t> </a:t>
                </a:r>
                <a:r>
                  <a:rPr lang="en-AU" dirty="0" smtClean="0">
                    <a:sym typeface="Wingdings 3"/>
                  </a:rPr>
                  <a:t> </a:t>
                </a:r>
                <a14:m>
                  <m:oMath xmlns:m="http://schemas.openxmlformats.org/officeDocument/2006/math">
                    <m:r>
                      <a:rPr lang="en-AU" b="0" i="1" smtClean="0">
                        <a:latin typeface="Cambria Math"/>
                        <a:sym typeface="Wingdings 3"/>
                      </a:rPr>
                      <m:t>𝑁</m:t>
                    </m:r>
                    <m:sSup>
                      <m:sSupPr>
                        <m:ctrlPr>
                          <a:rPr lang="en-AU" b="0" i="1" smtClean="0">
                            <a:latin typeface="Cambria Math"/>
                            <a:sym typeface="Wingdings 3"/>
                          </a:rPr>
                        </m:ctrlPr>
                      </m:sSupPr>
                      <m:e>
                        <m:r>
                          <a:rPr lang="en-AU" b="0" i="1" smtClean="0">
                            <a:latin typeface="Cambria Math"/>
                            <a:sym typeface="Wingdings 3"/>
                          </a:rPr>
                          <m:t>𝑎</m:t>
                        </m:r>
                      </m:e>
                      <m:sup>
                        <m:r>
                          <a:rPr lang="en-AU" b="0" i="1" smtClean="0">
                            <a:latin typeface="Cambria Math"/>
                            <a:sym typeface="Wingdings 3"/>
                          </a:rPr>
                          <m:t>+</m:t>
                        </m:r>
                      </m:sup>
                    </m:sSup>
                    <m:r>
                      <a:rPr lang="en-AU" b="0" i="1" smtClean="0">
                        <a:latin typeface="Cambria Math"/>
                        <a:sym typeface="Wingdings 3"/>
                      </a:rPr>
                      <m:t>+</m:t>
                    </m:r>
                    <m:r>
                      <a:rPr lang="en-AU" b="0" i="1" smtClean="0">
                        <a:latin typeface="Cambria Math"/>
                        <a:sym typeface="Wingdings 3"/>
                      </a:rPr>
                      <m:t>𝑂</m:t>
                    </m:r>
                    <m:sSup>
                      <m:sSupPr>
                        <m:ctrlPr>
                          <a:rPr lang="en-AU" b="0" i="1" smtClean="0">
                            <a:latin typeface="Cambria Math"/>
                            <a:sym typeface="Wingdings 3"/>
                          </a:rPr>
                        </m:ctrlPr>
                      </m:sSupPr>
                      <m:e>
                        <m:r>
                          <a:rPr lang="en-AU" b="0" i="1" smtClean="0">
                            <a:latin typeface="Cambria Math"/>
                            <a:sym typeface="Wingdings 3"/>
                          </a:rPr>
                          <m:t>𝐻</m:t>
                        </m:r>
                      </m:e>
                      <m:sup>
                        <m:r>
                          <a:rPr lang="en-AU" b="0" i="1" smtClean="0">
                            <a:latin typeface="Cambria Math"/>
                            <a:sym typeface="Wingdings 3"/>
                          </a:rPr>
                          <m:t>−</m:t>
                        </m:r>
                      </m:sup>
                    </m:sSup>
                  </m:oMath>
                </a14:m>
                <a:endParaRPr lang="en-AU" b="0" dirty="0" smtClean="0">
                  <a:sym typeface="Wingdings 3"/>
                </a:endParaRPr>
              </a:p>
              <a:p>
                <a:endParaRPr lang="en-AU" b="0" dirty="0" smtClean="0">
                  <a:sym typeface="Wingdings 3"/>
                </a:endParaRPr>
              </a:p>
              <a:p>
                <a:r>
                  <a:rPr lang="en-AU" dirty="0" smtClean="0"/>
                  <a:t>K2O + H2O </a:t>
                </a:r>
                <a:r>
                  <a:rPr lang="en-AU" dirty="0">
                    <a:sym typeface="Wingdings 3"/>
                  </a:rPr>
                  <a:t> </a:t>
                </a:r>
                <a:r>
                  <a:rPr lang="en-AU" dirty="0" smtClean="0">
                    <a:sym typeface="Wingdings 3"/>
                  </a:rPr>
                  <a:t>2</a:t>
                </a:r>
                <a14:m>
                  <m:oMath xmlns:m="http://schemas.openxmlformats.org/officeDocument/2006/math">
                    <m:sSup>
                      <m:sSupPr>
                        <m:ctrlPr>
                          <a:rPr lang="en-AU" b="0" i="1" smtClean="0">
                            <a:latin typeface="Cambria Math"/>
                            <a:sym typeface="Wingdings 3"/>
                          </a:rPr>
                        </m:ctrlPr>
                      </m:sSupPr>
                      <m:e>
                        <m:r>
                          <a:rPr lang="en-AU" b="0" i="1" smtClean="0">
                            <a:latin typeface="Cambria Math"/>
                            <a:sym typeface="Wingdings 3"/>
                          </a:rPr>
                          <m:t>𝐾</m:t>
                        </m:r>
                      </m:e>
                      <m:sup>
                        <m:r>
                          <a:rPr lang="en-AU" b="0" i="1" smtClean="0">
                            <a:latin typeface="Cambria Math"/>
                            <a:sym typeface="Wingdings 3"/>
                          </a:rPr>
                          <m:t>+</m:t>
                        </m:r>
                      </m:sup>
                    </m:sSup>
                    <m:r>
                      <a:rPr lang="en-AU" b="0" i="1" smtClean="0">
                        <a:latin typeface="Cambria Math"/>
                        <a:sym typeface="Wingdings 3"/>
                      </a:rPr>
                      <m:t>+2</m:t>
                    </m:r>
                    <m:r>
                      <a:rPr lang="en-AU" b="0" i="1" smtClean="0">
                        <a:latin typeface="Cambria Math"/>
                        <a:sym typeface="Wingdings 3"/>
                      </a:rPr>
                      <m:t>𝑂</m:t>
                    </m:r>
                    <m:sSup>
                      <m:sSupPr>
                        <m:ctrlPr>
                          <a:rPr lang="en-AU" b="0" i="1" smtClean="0">
                            <a:latin typeface="Cambria Math"/>
                            <a:sym typeface="Wingdings 3"/>
                          </a:rPr>
                        </m:ctrlPr>
                      </m:sSupPr>
                      <m:e>
                        <m:r>
                          <a:rPr lang="en-AU" b="0" i="1" smtClean="0">
                            <a:latin typeface="Cambria Math"/>
                            <a:sym typeface="Wingdings 3"/>
                          </a:rPr>
                          <m:t>𝐻</m:t>
                        </m:r>
                      </m:e>
                      <m:sup>
                        <m:r>
                          <a:rPr lang="en-AU" b="0" i="1" smtClean="0">
                            <a:latin typeface="Cambria Math"/>
                            <a:sym typeface="Wingdings 3"/>
                          </a:rPr>
                          <m:t>−</m:t>
                        </m:r>
                      </m:sup>
                    </m:sSup>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222"/>
                </a:stretch>
              </a:blipFill>
            </p:spPr>
            <p:txBody>
              <a:bodyPr/>
              <a:lstStyle/>
              <a:p>
                <a:r>
                  <a:rPr lang="en-AU">
                    <a:noFill/>
                  </a:rPr>
                  <a:t> </a:t>
                </a:r>
              </a:p>
            </p:txBody>
          </p:sp>
        </mc:Fallback>
      </mc:AlternateContent>
      <p:sp>
        <p:nvSpPr>
          <p:cNvPr id="4" name="TextBox 3"/>
          <p:cNvSpPr txBox="1"/>
          <p:nvPr/>
        </p:nvSpPr>
        <p:spPr>
          <a:xfrm>
            <a:off x="4114800" y="2957051"/>
            <a:ext cx="184731" cy="369332"/>
          </a:xfrm>
          <a:prstGeom prst="rect">
            <a:avLst/>
          </a:prstGeom>
          <a:noFill/>
        </p:spPr>
        <p:txBody>
          <a:bodyPr wrap="none" rtlCol="0">
            <a:spAutoFit/>
          </a:bodyPr>
          <a:lstStyle/>
          <a:p>
            <a:endParaRPr lang="en-AU" dirty="0"/>
          </a:p>
        </p:txBody>
      </p:sp>
    </p:spTree>
    <p:extLst>
      <p:ext uri="{BB962C8B-B14F-4D97-AF65-F5344CB8AC3E}">
        <p14:creationId xmlns:p14="http://schemas.microsoft.com/office/powerpoint/2010/main" val="39654014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Acid –base reactions</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AU" dirty="0" smtClean="0"/>
                  <a:t>Acids and bases react to form compounds called salts and water. This reaction is called as neutralisation reaction. </a:t>
                </a:r>
              </a:p>
              <a:p>
                <a:endParaRPr lang="en-AU" dirty="0"/>
              </a:p>
              <a:p>
                <a:r>
                  <a:rPr lang="en-AU" dirty="0" smtClean="0"/>
                  <a:t>Acid + hydroxide </a:t>
                </a:r>
                <a:r>
                  <a:rPr lang="en-AU" dirty="0" smtClean="0">
                    <a:sym typeface="Wingdings 3"/>
                  </a:rPr>
                  <a:t> salt + water</a:t>
                </a:r>
              </a:p>
              <a:p>
                <a:endParaRPr lang="en-AU" dirty="0">
                  <a:sym typeface="Wingdings 3"/>
                </a:endParaRPr>
              </a:p>
              <a:p>
                <a:r>
                  <a:rPr lang="en-AU" dirty="0" err="1" smtClean="0">
                    <a:sym typeface="Wingdings 3"/>
                  </a:rPr>
                  <a:t>HCl</a:t>
                </a:r>
                <a:r>
                  <a:rPr lang="en-AU" dirty="0" smtClean="0">
                    <a:sym typeface="Wingdings 3"/>
                  </a:rPr>
                  <a:t> (</a:t>
                </a:r>
                <a:r>
                  <a:rPr lang="en-AU" dirty="0" err="1" smtClean="0">
                    <a:sym typeface="Wingdings 3"/>
                  </a:rPr>
                  <a:t>aq</a:t>
                </a:r>
                <a:r>
                  <a:rPr lang="en-AU" dirty="0" smtClean="0">
                    <a:sym typeface="Wingdings 3"/>
                  </a:rPr>
                  <a:t>) + </a:t>
                </a:r>
                <a:r>
                  <a:rPr lang="en-AU" dirty="0" err="1" smtClean="0">
                    <a:sym typeface="Wingdings 3"/>
                  </a:rPr>
                  <a:t>NaOH</a:t>
                </a:r>
                <a:r>
                  <a:rPr lang="en-AU" dirty="0" smtClean="0">
                    <a:sym typeface="Wingdings 3"/>
                  </a:rPr>
                  <a:t> (</a:t>
                </a:r>
                <a:r>
                  <a:rPr lang="en-AU" dirty="0" err="1" smtClean="0">
                    <a:sym typeface="Wingdings 3"/>
                  </a:rPr>
                  <a:t>aq</a:t>
                </a:r>
                <a:r>
                  <a:rPr lang="en-AU" dirty="0" smtClean="0">
                    <a:sym typeface="Wingdings 3"/>
                  </a:rPr>
                  <a:t>)  </a:t>
                </a:r>
                <a:r>
                  <a:rPr lang="en-AU" dirty="0" err="1" smtClean="0">
                    <a:sym typeface="Wingdings 3"/>
                  </a:rPr>
                  <a:t>NaCl</a:t>
                </a:r>
                <a:r>
                  <a:rPr lang="en-AU" dirty="0" smtClean="0">
                    <a:sym typeface="Wingdings 3"/>
                  </a:rPr>
                  <a:t>(</a:t>
                </a:r>
                <a:r>
                  <a:rPr lang="en-AU" dirty="0" err="1" smtClean="0">
                    <a:sym typeface="Wingdings 3"/>
                  </a:rPr>
                  <a:t>aq</a:t>
                </a:r>
                <a:r>
                  <a:rPr lang="en-AU" dirty="0" smtClean="0">
                    <a:sym typeface="Wingdings 3"/>
                  </a:rPr>
                  <a:t>) +</a:t>
                </a:r>
                <a14:m>
                  <m:oMath xmlns:m="http://schemas.openxmlformats.org/officeDocument/2006/math">
                    <m:sSub>
                      <m:sSubPr>
                        <m:ctrlPr>
                          <a:rPr lang="en-AU" b="0" i="1" smtClean="0">
                            <a:latin typeface="Cambria Math"/>
                            <a:sym typeface="Wingdings 3"/>
                          </a:rPr>
                        </m:ctrlPr>
                      </m:sSubPr>
                      <m:e>
                        <m:r>
                          <a:rPr lang="en-AU" b="0" i="1" smtClean="0">
                            <a:latin typeface="Cambria Math"/>
                            <a:sym typeface="Wingdings 3"/>
                          </a:rPr>
                          <m:t>𝐻</m:t>
                        </m:r>
                      </m:e>
                      <m:sub>
                        <m:r>
                          <a:rPr lang="en-AU" b="0" i="1" smtClean="0">
                            <a:latin typeface="Cambria Math"/>
                            <a:sym typeface="Wingdings 3"/>
                          </a:rPr>
                          <m:t>2</m:t>
                        </m:r>
                      </m:sub>
                    </m:sSub>
                    <m:r>
                      <a:rPr lang="en-AU" b="0" i="1" smtClean="0">
                        <a:latin typeface="Cambria Math"/>
                        <a:sym typeface="Wingdings 3"/>
                      </a:rPr>
                      <m:t>𝑂</m:t>
                    </m:r>
                    <m:d>
                      <m:dPr>
                        <m:ctrlPr>
                          <a:rPr lang="en-AU" b="0" i="1" smtClean="0">
                            <a:latin typeface="Cambria Math"/>
                            <a:sym typeface="Wingdings 3"/>
                          </a:rPr>
                        </m:ctrlPr>
                      </m:dPr>
                      <m:e>
                        <m:r>
                          <a:rPr lang="en-AU" b="0" i="1" smtClean="0">
                            <a:latin typeface="Cambria Math"/>
                            <a:sym typeface="Wingdings 3"/>
                          </a:rPr>
                          <m:t>𝑙</m:t>
                        </m:r>
                      </m:e>
                    </m:d>
                  </m:oMath>
                </a14:m>
                <a:endParaRPr lang="en-AU" b="0" dirty="0" smtClean="0">
                  <a:sym typeface="Wingdings 3"/>
                </a:endParaRPr>
              </a:p>
              <a:p>
                <a:endParaRPr lang="en-AU" dirty="0">
                  <a:sym typeface="Wingdings 3"/>
                </a:endParaRPr>
              </a:p>
              <a:p>
                <a:r>
                  <a:rPr lang="en-AU" b="0" dirty="0" smtClean="0">
                    <a:sym typeface="Wingdings 3"/>
                  </a:rPr>
                  <a:t>Reaction between a basic or amphoteric oxide and an acid:</a:t>
                </a:r>
              </a:p>
              <a:p>
                <a:r>
                  <a:rPr lang="en-AU" dirty="0" smtClean="0">
                    <a:sym typeface="Wingdings 3"/>
                  </a:rPr>
                  <a:t>Acid + oxide  salt+ water</a:t>
                </a:r>
                <a:endParaRPr lang="en-AU" b="0" dirty="0" smtClean="0">
                  <a:sym typeface="Wingdings 3"/>
                </a:endParaRPr>
              </a:p>
              <a:p>
                <a:endParaRPr lang="en-AU" dirty="0" smtClean="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111"/>
                </a:stretch>
              </a:blipFill>
            </p:spPr>
            <p:txBody>
              <a:bodyPr/>
              <a:lstStyle/>
              <a:p>
                <a:r>
                  <a:rPr lang="en-AU">
                    <a:noFill/>
                  </a:rPr>
                  <a:t> </a:t>
                </a:r>
              </a:p>
            </p:txBody>
          </p:sp>
        </mc:Fallback>
      </mc:AlternateContent>
    </p:spTree>
    <p:extLst>
      <p:ext uri="{BB962C8B-B14F-4D97-AF65-F5344CB8AC3E}">
        <p14:creationId xmlns:p14="http://schemas.microsoft.com/office/powerpoint/2010/main" val="38943033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AU" dirty="0" smtClean="0"/>
                  <a:t>E.g. </a:t>
                </a:r>
                <a:r>
                  <a:rPr lang="en-AU" sz="3200" dirty="0" smtClean="0"/>
                  <a:t>2</a:t>
                </a:r>
                <a:r>
                  <a:rPr lang="en-AU" dirty="0" smtClean="0"/>
                  <a:t>HCl (</a:t>
                </a:r>
                <a:r>
                  <a:rPr lang="en-AU" dirty="0" err="1" smtClean="0"/>
                  <a:t>aq</a:t>
                </a:r>
                <a:r>
                  <a:rPr lang="en-AU" dirty="0" smtClean="0"/>
                  <a:t>) + </a:t>
                </a:r>
                <a:r>
                  <a:rPr lang="en-AU" dirty="0" err="1" smtClean="0"/>
                  <a:t>MgO</a:t>
                </a:r>
                <a:r>
                  <a:rPr lang="en-AU" dirty="0" smtClean="0"/>
                  <a:t>(s) </a:t>
                </a:r>
                <a:r>
                  <a:rPr lang="en-AU" dirty="0" smtClean="0">
                    <a:sym typeface="Wingdings 3"/>
                  </a:rPr>
                  <a:t></a:t>
                </a:r>
                <a14:m>
                  <m:oMath xmlns:m="http://schemas.openxmlformats.org/officeDocument/2006/math">
                    <m:r>
                      <a:rPr lang="en-AU" b="0" i="1" smtClean="0">
                        <a:latin typeface="Cambria Math"/>
                        <a:sym typeface="Wingdings 3"/>
                      </a:rPr>
                      <m:t>𝑀𝑔𝐶</m:t>
                    </m:r>
                    <m:sSub>
                      <m:sSubPr>
                        <m:ctrlPr>
                          <a:rPr lang="en-AU" b="0" i="1" smtClean="0">
                            <a:latin typeface="Cambria Math"/>
                            <a:sym typeface="Wingdings 3"/>
                          </a:rPr>
                        </m:ctrlPr>
                      </m:sSubPr>
                      <m:e>
                        <m:r>
                          <a:rPr lang="en-AU" b="0" i="1" smtClean="0">
                            <a:latin typeface="Cambria Math"/>
                            <a:sym typeface="Wingdings 3"/>
                          </a:rPr>
                          <m:t>𝑙</m:t>
                        </m:r>
                      </m:e>
                      <m:sub>
                        <m:r>
                          <a:rPr lang="en-AU" b="0" i="1" smtClean="0">
                            <a:latin typeface="Cambria Math"/>
                            <a:sym typeface="Wingdings 3"/>
                          </a:rPr>
                          <m:t>2</m:t>
                        </m:r>
                      </m:sub>
                    </m:sSub>
                    <m:d>
                      <m:dPr>
                        <m:ctrlPr>
                          <a:rPr lang="en-AU" b="0" i="1" smtClean="0">
                            <a:latin typeface="Cambria Math"/>
                            <a:sym typeface="Wingdings 3"/>
                          </a:rPr>
                        </m:ctrlPr>
                      </m:dPr>
                      <m:e>
                        <m:r>
                          <a:rPr lang="en-AU" b="0" i="1" smtClean="0">
                            <a:latin typeface="Cambria Math"/>
                            <a:sym typeface="Wingdings 3"/>
                          </a:rPr>
                          <m:t>𝑎𝑞</m:t>
                        </m:r>
                      </m:e>
                    </m:d>
                    <m:r>
                      <a:rPr lang="en-AU" b="0" i="1" smtClean="0">
                        <a:latin typeface="Cambria Math"/>
                        <a:sym typeface="Wingdings 3"/>
                      </a:rPr>
                      <m:t>+</m:t>
                    </m:r>
                    <m:sSub>
                      <m:sSubPr>
                        <m:ctrlPr>
                          <a:rPr lang="en-AU" b="0" i="1" smtClean="0">
                            <a:latin typeface="Cambria Math"/>
                            <a:sym typeface="Wingdings 3"/>
                          </a:rPr>
                        </m:ctrlPr>
                      </m:sSubPr>
                      <m:e>
                        <m:r>
                          <a:rPr lang="en-AU" b="0" i="1" smtClean="0">
                            <a:latin typeface="Cambria Math"/>
                            <a:sym typeface="Wingdings 3"/>
                          </a:rPr>
                          <m:t>𝐻</m:t>
                        </m:r>
                      </m:e>
                      <m:sub>
                        <m:r>
                          <a:rPr lang="en-AU" b="0" i="1" smtClean="0">
                            <a:latin typeface="Cambria Math"/>
                            <a:sym typeface="Wingdings 3"/>
                          </a:rPr>
                          <m:t>2</m:t>
                        </m:r>
                      </m:sub>
                    </m:sSub>
                    <m:r>
                      <a:rPr lang="en-AU" b="0" i="1" smtClean="0">
                        <a:latin typeface="Cambria Math"/>
                        <a:sym typeface="Wingdings 3"/>
                      </a:rPr>
                      <m:t>𝑂</m:t>
                    </m:r>
                    <m:d>
                      <m:dPr>
                        <m:ctrlPr>
                          <a:rPr lang="en-AU" b="0" i="1" smtClean="0">
                            <a:latin typeface="Cambria Math"/>
                            <a:sym typeface="Wingdings 3"/>
                          </a:rPr>
                        </m:ctrlPr>
                      </m:dPr>
                      <m:e>
                        <m:r>
                          <a:rPr lang="en-AU" b="0" i="1" smtClean="0">
                            <a:latin typeface="Cambria Math"/>
                            <a:sym typeface="Wingdings 3"/>
                          </a:rPr>
                          <m:t>𝑙</m:t>
                        </m:r>
                      </m:e>
                    </m:d>
                  </m:oMath>
                </a14:m>
                <a:endParaRPr lang="en-AU" b="0" dirty="0" smtClean="0">
                  <a:sym typeface="Wingdings 3"/>
                </a:endParaRPr>
              </a:p>
              <a:p>
                <a:endParaRPr lang="en-AU" dirty="0" smtClean="0"/>
              </a:p>
              <a:p>
                <a:r>
                  <a:rPr lang="en-AU" dirty="0" smtClean="0"/>
                  <a:t>A common but not typical acid-base reaction is the reaction between an acid-and ammonia. </a:t>
                </a:r>
              </a:p>
              <a:p>
                <a:endParaRPr lang="en-AU" b="0" i="0" dirty="0" smtClean="0">
                  <a:latin typeface="Cambria Math"/>
                </a:endParaRPr>
              </a:p>
              <a:p>
                <a14:m>
                  <m:oMath xmlns:m="http://schemas.openxmlformats.org/officeDocument/2006/math">
                    <m:r>
                      <m:rPr>
                        <m:sty m:val="p"/>
                      </m:rPr>
                      <a:rPr lang="en-AU" b="0" i="0" smtClean="0">
                        <a:latin typeface="Cambria Math"/>
                      </a:rPr>
                      <m:t>The</m:t>
                    </m:r>
                    <m:r>
                      <a:rPr lang="en-AU" b="0" i="0" smtClean="0">
                        <a:latin typeface="Cambria Math"/>
                      </a:rPr>
                      <m:t> </m:t>
                    </m:r>
                    <m:sSup>
                      <m:sSupPr>
                        <m:ctrlPr>
                          <a:rPr lang="en-AU" b="0" i="1" smtClean="0">
                            <a:latin typeface="Cambria Math"/>
                          </a:rPr>
                        </m:ctrlPr>
                      </m:sSupPr>
                      <m:e>
                        <m:r>
                          <a:rPr lang="en-AU" b="0" i="1" smtClean="0">
                            <a:latin typeface="Cambria Math"/>
                          </a:rPr>
                          <m:t>𝐻</m:t>
                        </m:r>
                      </m:e>
                      <m:sup>
                        <m:r>
                          <a:rPr lang="en-AU" b="0" i="1" smtClean="0">
                            <a:latin typeface="Cambria Math"/>
                          </a:rPr>
                          <m:t>+</m:t>
                        </m:r>
                      </m:sup>
                    </m:sSup>
                    <m:r>
                      <a:rPr lang="en-AU" b="0" i="1" smtClean="0">
                        <a:latin typeface="Cambria Math"/>
                      </a:rPr>
                      <m:t>𝑖𝑜𝑛</m:t>
                    </m:r>
                    <m:r>
                      <a:rPr lang="en-AU" b="0" i="1" smtClean="0">
                        <a:latin typeface="Cambria Math"/>
                      </a:rPr>
                      <m:t> </m:t>
                    </m:r>
                    <m:r>
                      <a:rPr lang="en-AU" b="0" i="1" smtClean="0">
                        <a:latin typeface="Cambria Math"/>
                      </a:rPr>
                      <m:t>𝑎𝑡𝑡𝑎𝑐h𝑒𝑠</m:t>
                    </m:r>
                    <m:r>
                      <a:rPr lang="en-AU" b="0" i="1" smtClean="0">
                        <a:latin typeface="Cambria Math"/>
                      </a:rPr>
                      <m:t> </m:t>
                    </m:r>
                    <m:r>
                      <a:rPr lang="en-AU" b="0" i="1" smtClean="0">
                        <a:latin typeface="Cambria Math"/>
                      </a:rPr>
                      <m:t>𝑡𝑜</m:t>
                    </m:r>
                    <m:r>
                      <a:rPr lang="en-AU" b="0" i="1" smtClean="0">
                        <a:latin typeface="Cambria Math"/>
                      </a:rPr>
                      <m:t> </m:t>
                    </m:r>
                    <m:r>
                      <a:rPr lang="en-AU" b="0" i="1" smtClean="0">
                        <a:latin typeface="Cambria Math"/>
                      </a:rPr>
                      <m:t>𝑡h𝑒</m:t>
                    </m:r>
                    <m:r>
                      <a:rPr lang="en-AU" b="0" i="1" smtClean="0">
                        <a:latin typeface="Cambria Math"/>
                      </a:rPr>
                      <m:t> </m:t>
                    </m:r>
                    <m:r>
                      <a:rPr lang="en-AU" b="0" i="1" smtClean="0">
                        <a:latin typeface="Cambria Math"/>
                      </a:rPr>
                      <m:t>𝑁</m:t>
                    </m:r>
                    <m:sSub>
                      <m:sSubPr>
                        <m:ctrlPr>
                          <a:rPr lang="en-AU" b="0" i="1" smtClean="0">
                            <a:latin typeface="Cambria Math"/>
                          </a:rPr>
                        </m:ctrlPr>
                      </m:sSubPr>
                      <m:e>
                        <m:r>
                          <a:rPr lang="en-AU" b="0" i="1" smtClean="0">
                            <a:latin typeface="Cambria Math"/>
                          </a:rPr>
                          <m:t>𝐻</m:t>
                        </m:r>
                      </m:e>
                      <m:sub>
                        <m:r>
                          <a:rPr lang="en-AU" b="0" i="1" smtClean="0">
                            <a:latin typeface="Cambria Math"/>
                          </a:rPr>
                          <m:t>3</m:t>
                        </m:r>
                      </m:sub>
                    </m:sSub>
                    <m:r>
                      <a:rPr lang="en-AU" b="0" i="1" smtClean="0">
                        <a:latin typeface="Cambria Math"/>
                      </a:rPr>
                      <m:t> </m:t>
                    </m:r>
                    <m:r>
                      <a:rPr lang="en-AU" b="0" i="1" smtClean="0">
                        <a:latin typeface="Cambria Math"/>
                      </a:rPr>
                      <m:t>𝑚𝑜𝑙𝑒𝑐𝑢𝑙𝑒</m:t>
                    </m:r>
                    <m:r>
                      <a:rPr lang="en-AU" b="0" i="1" smtClean="0">
                        <a:latin typeface="Cambria Math"/>
                      </a:rPr>
                      <m:t> </m:t>
                    </m:r>
                    <m:d>
                      <m:dPr>
                        <m:ctrlPr>
                          <a:rPr lang="en-AU" b="0" i="1" smtClean="0">
                            <a:latin typeface="Cambria Math"/>
                          </a:rPr>
                        </m:ctrlPr>
                      </m:dPr>
                      <m:e>
                        <m:r>
                          <a:rPr lang="en-AU" b="0" i="1" smtClean="0">
                            <a:latin typeface="Cambria Math"/>
                          </a:rPr>
                          <m:t> </m:t>
                        </m:r>
                        <m:r>
                          <a:rPr lang="en-AU" b="0" i="1" smtClean="0">
                            <a:latin typeface="Cambria Math"/>
                          </a:rPr>
                          <m:t>𝑛𝑜𝑟</m:t>
                        </m:r>
                        <m:r>
                          <a:rPr lang="en-AU" b="0" i="1" smtClean="0">
                            <a:latin typeface="Cambria Math"/>
                          </a:rPr>
                          <m:t> </m:t>
                        </m:r>
                        <m:sSub>
                          <m:sSubPr>
                            <m:ctrlPr>
                              <a:rPr lang="en-AU" b="0" i="1" smtClean="0">
                                <a:latin typeface="Cambria Math"/>
                              </a:rPr>
                            </m:ctrlPr>
                          </m:sSubPr>
                          <m:e>
                            <m:r>
                              <a:rPr lang="en-AU" b="0" i="1" smtClean="0">
                                <a:latin typeface="Cambria Math"/>
                              </a:rPr>
                              <m:t>𝐻</m:t>
                            </m:r>
                          </m:e>
                          <m:sub>
                            <m:r>
                              <a:rPr lang="en-AU" b="0" i="1" smtClean="0">
                                <a:latin typeface="Cambria Math"/>
                              </a:rPr>
                              <m:t>2</m:t>
                            </m:r>
                          </m:sub>
                        </m:sSub>
                        <m:r>
                          <a:rPr lang="en-AU" b="0" i="1" smtClean="0">
                            <a:latin typeface="Cambria Math"/>
                          </a:rPr>
                          <m:t>𝑂</m:t>
                        </m:r>
                      </m:e>
                    </m:d>
                    <m:r>
                      <a:rPr lang="en-AU" b="0" i="1" smtClean="0">
                        <a:latin typeface="Cambria Math"/>
                      </a:rPr>
                      <m:t>𝑡𝑜</m:t>
                    </m:r>
                    <m:r>
                      <a:rPr lang="en-AU" b="0" i="1" smtClean="0">
                        <a:latin typeface="Cambria Math"/>
                      </a:rPr>
                      <m:t> </m:t>
                    </m:r>
                    <m:r>
                      <a:rPr lang="en-AU" b="0" i="1" smtClean="0">
                        <a:latin typeface="Cambria Math"/>
                      </a:rPr>
                      <m:t>𝑝𝑟𝑜𝑑𝑢𝑐𝑒</m:t>
                    </m:r>
                    <m:r>
                      <a:rPr lang="en-AU" b="0" i="1" smtClean="0">
                        <a:latin typeface="Cambria Math"/>
                      </a:rPr>
                      <m:t> </m:t>
                    </m:r>
                  </m:oMath>
                </a14:m>
                <a:endParaRPr lang="en-AU" b="0" i="1" dirty="0" smtClean="0">
                  <a:latin typeface="Cambria Math"/>
                </a:endParaRPr>
              </a:p>
              <a:p>
                <a14:m>
                  <m:oMath xmlns:m="http://schemas.openxmlformats.org/officeDocument/2006/math">
                    <m:r>
                      <a:rPr lang="en-AU" b="0" i="1" smtClean="0">
                        <a:latin typeface="Cambria Math"/>
                      </a:rPr>
                      <m:t>𝑁</m:t>
                    </m:r>
                    <m:sSubSup>
                      <m:sSubSupPr>
                        <m:ctrlPr>
                          <a:rPr lang="en-AU" b="0" i="1" smtClean="0">
                            <a:latin typeface="Cambria Math"/>
                          </a:rPr>
                        </m:ctrlPr>
                      </m:sSubSupPr>
                      <m:e>
                        <m:r>
                          <a:rPr lang="en-AU" b="0" i="1" smtClean="0">
                            <a:latin typeface="Cambria Math"/>
                          </a:rPr>
                          <m:t>𝐻</m:t>
                        </m:r>
                      </m:e>
                      <m:sub>
                        <m:r>
                          <a:rPr lang="en-AU" b="0" i="1" smtClean="0">
                            <a:latin typeface="Cambria Math"/>
                          </a:rPr>
                          <m:t>4</m:t>
                        </m:r>
                      </m:sub>
                      <m:sup>
                        <m:r>
                          <a:rPr lang="en-AU" b="0" i="1" smtClean="0">
                            <a:latin typeface="Cambria Math"/>
                          </a:rPr>
                          <m:t>+</m:t>
                        </m:r>
                      </m:sup>
                    </m:sSubSup>
                  </m:oMath>
                </a14:m>
                <a:r>
                  <a:rPr lang="en-AU" dirty="0" smtClean="0"/>
                  <a:t> (</a:t>
                </a:r>
                <a:r>
                  <a:rPr lang="en-AU" dirty="0" err="1" smtClean="0"/>
                  <a:t>aq</a:t>
                </a:r>
                <a:r>
                  <a:rPr lang="en-AU" dirty="0" smtClean="0"/>
                  <a:t>). </a:t>
                </a:r>
              </a:p>
              <a:p>
                <a:endParaRPr lang="en-AU" dirty="0"/>
              </a:p>
              <a:p>
                <a:r>
                  <a:rPr lang="en-AU" dirty="0" err="1" smtClean="0"/>
                  <a:t>HCl</a:t>
                </a:r>
                <a:r>
                  <a:rPr lang="en-AU" dirty="0" smtClean="0"/>
                  <a:t> (</a:t>
                </a:r>
                <a:r>
                  <a:rPr lang="en-AU" dirty="0" err="1" smtClean="0"/>
                  <a:t>aq</a:t>
                </a:r>
                <a:r>
                  <a:rPr lang="en-AU" dirty="0" smtClean="0"/>
                  <a:t>) + </a:t>
                </a:r>
                <a14:m>
                  <m:oMath xmlns:m="http://schemas.openxmlformats.org/officeDocument/2006/math">
                    <m:r>
                      <a:rPr lang="en-AU" i="1">
                        <a:latin typeface="Cambria Math"/>
                      </a:rPr>
                      <m:t>𝑁</m:t>
                    </m:r>
                    <m:sSub>
                      <m:sSubPr>
                        <m:ctrlPr>
                          <a:rPr lang="en-AU" i="1">
                            <a:latin typeface="Cambria Math"/>
                          </a:rPr>
                        </m:ctrlPr>
                      </m:sSubPr>
                      <m:e>
                        <m:r>
                          <a:rPr lang="en-AU" i="1">
                            <a:latin typeface="Cambria Math"/>
                          </a:rPr>
                          <m:t>𝐻</m:t>
                        </m:r>
                      </m:e>
                      <m:sub>
                        <m:r>
                          <a:rPr lang="en-AU" i="1">
                            <a:latin typeface="Cambria Math"/>
                          </a:rPr>
                          <m:t>3</m:t>
                        </m:r>
                      </m:sub>
                    </m:sSub>
                    <m:r>
                      <a:rPr lang="en-AU" i="1">
                        <a:latin typeface="Cambria Math"/>
                      </a:rPr>
                      <m:t> </m:t>
                    </m:r>
                  </m:oMath>
                </a14:m>
                <a:r>
                  <a:rPr lang="en-AU" dirty="0" smtClean="0"/>
                  <a:t>(</a:t>
                </a:r>
                <a:r>
                  <a:rPr lang="en-AU" dirty="0" err="1" smtClean="0"/>
                  <a:t>aq</a:t>
                </a:r>
                <a:r>
                  <a:rPr lang="en-AU" dirty="0" smtClean="0"/>
                  <a:t>) </a:t>
                </a:r>
                <a:r>
                  <a:rPr lang="en-AU" dirty="0" smtClean="0">
                    <a:sym typeface="Wingdings 3"/>
                  </a:rPr>
                  <a:t></a:t>
                </a:r>
                <a:r>
                  <a:rPr lang="en-AU" dirty="0"/>
                  <a:t> </a:t>
                </a:r>
                <a14:m>
                  <m:oMath xmlns:m="http://schemas.openxmlformats.org/officeDocument/2006/math">
                    <m:r>
                      <a:rPr lang="en-AU" i="1">
                        <a:latin typeface="Cambria Math"/>
                      </a:rPr>
                      <m:t>𝑁</m:t>
                    </m:r>
                    <m:sSub>
                      <m:sSubPr>
                        <m:ctrlPr>
                          <a:rPr lang="en-AU" i="1" smtClean="0">
                            <a:latin typeface="Cambria Math"/>
                          </a:rPr>
                        </m:ctrlPr>
                      </m:sSubPr>
                      <m:e>
                        <m:r>
                          <a:rPr lang="en-AU" i="1">
                            <a:latin typeface="Cambria Math"/>
                          </a:rPr>
                          <m:t>𝐻</m:t>
                        </m:r>
                      </m:e>
                      <m:sub>
                        <m:r>
                          <a:rPr lang="en-AU" b="0" i="1" smtClean="0">
                            <a:latin typeface="Cambria Math"/>
                          </a:rPr>
                          <m:t>4</m:t>
                        </m:r>
                      </m:sub>
                    </m:sSub>
                  </m:oMath>
                </a14:m>
                <a:r>
                  <a:rPr lang="en-AU" dirty="0" err="1" smtClean="0"/>
                  <a:t>Cl</a:t>
                </a:r>
                <a:r>
                  <a:rPr lang="en-AU" dirty="0" smtClean="0"/>
                  <a:t> (</a:t>
                </a:r>
                <a:r>
                  <a:rPr lang="en-AU" dirty="0" err="1" smtClean="0"/>
                  <a:t>aq</a:t>
                </a:r>
                <a:r>
                  <a:rPr lang="en-AU" dirty="0" smtClean="0"/>
                  <a:t>)</a:t>
                </a:r>
              </a:p>
              <a:p>
                <a:endParaRPr lang="en-AU" dirty="0"/>
              </a:p>
              <a:p>
                <a:r>
                  <a:rPr lang="en-AU" dirty="0" smtClean="0"/>
                  <a:t>Ammonia is considered to be a weak base due to the production of </a:t>
                </a:r>
                <a14:m>
                  <m:oMath xmlns:m="http://schemas.openxmlformats.org/officeDocument/2006/math">
                    <m:r>
                      <a:rPr lang="en-AU" b="0" i="1" smtClean="0">
                        <a:latin typeface="Cambria Math"/>
                      </a:rPr>
                      <m:t>𝑂</m:t>
                    </m:r>
                    <m:sSup>
                      <m:sSupPr>
                        <m:ctrlPr>
                          <a:rPr lang="en-AU" b="0" i="1" smtClean="0">
                            <a:latin typeface="Cambria Math"/>
                          </a:rPr>
                        </m:ctrlPr>
                      </m:sSupPr>
                      <m:e>
                        <m:r>
                          <a:rPr lang="en-AU" b="0" i="1" smtClean="0">
                            <a:latin typeface="Cambria Math"/>
                          </a:rPr>
                          <m:t>𝐻</m:t>
                        </m:r>
                      </m:e>
                      <m:sup>
                        <m:r>
                          <a:rPr lang="en-AU" b="0" i="1" smtClean="0">
                            <a:latin typeface="Cambria Math"/>
                          </a:rPr>
                          <m:t>−</m:t>
                        </m:r>
                      </m:sup>
                    </m:sSup>
                    <m:r>
                      <a:rPr lang="en-AU" b="0" i="1" smtClean="0">
                        <a:latin typeface="Cambria Math"/>
                      </a:rPr>
                      <m:t> </m:t>
                    </m:r>
                    <m:r>
                      <a:rPr lang="en-AU" b="0" i="1" smtClean="0">
                        <a:latin typeface="Cambria Math"/>
                      </a:rPr>
                      <m:t>𝑖𝑜𝑛𝑠</m:t>
                    </m:r>
                    <m:r>
                      <a:rPr lang="en-AU" b="0" i="1" smtClean="0">
                        <a:latin typeface="Cambria Math"/>
                      </a:rPr>
                      <m:t> </m:t>
                    </m:r>
                    <m:r>
                      <a:rPr lang="en-AU" b="0" i="1" smtClean="0">
                        <a:latin typeface="Cambria Math"/>
                      </a:rPr>
                      <m:t>𝑤h𝑒𝑛</m:t>
                    </m:r>
                    <m:r>
                      <a:rPr lang="en-AU" b="0" i="1" smtClean="0">
                        <a:latin typeface="Cambria Math"/>
                      </a:rPr>
                      <m:t> </m:t>
                    </m:r>
                    <m:r>
                      <a:rPr lang="en-AU" b="0" i="1" smtClean="0">
                        <a:latin typeface="Cambria Math"/>
                      </a:rPr>
                      <m:t>𝑖𝑡</m:t>
                    </m:r>
                    <m:r>
                      <a:rPr lang="en-AU" b="0" i="1" smtClean="0">
                        <a:latin typeface="Cambria Math"/>
                      </a:rPr>
                      <m:t> </m:t>
                    </m:r>
                    <m:r>
                      <a:rPr lang="en-AU" b="0" i="1" smtClean="0">
                        <a:latin typeface="Cambria Math"/>
                      </a:rPr>
                      <m:t>𝑟𝑒𝑎𝑐𝑡𝑠</m:t>
                    </m:r>
                    <m:r>
                      <a:rPr lang="en-AU" b="0" i="1" smtClean="0">
                        <a:latin typeface="Cambria Math"/>
                      </a:rPr>
                      <m:t> </m:t>
                    </m:r>
                    <m:r>
                      <a:rPr lang="en-AU" b="0" i="1" smtClean="0">
                        <a:latin typeface="Cambria Math"/>
                      </a:rPr>
                      <m:t>𝑤𝑖𝑡h</m:t>
                    </m:r>
                    <m:r>
                      <a:rPr lang="en-AU" b="0" i="1" smtClean="0">
                        <a:latin typeface="Cambria Math"/>
                      </a:rPr>
                      <m:t> </m:t>
                    </m:r>
                    <m:r>
                      <a:rPr lang="en-AU" b="0" i="1" smtClean="0">
                        <a:latin typeface="Cambria Math"/>
                      </a:rPr>
                      <m:t>𝑤𝑎𝑡𝑒𝑟</m:t>
                    </m:r>
                    <m:r>
                      <a:rPr lang="en-AU" b="0" i="1" smtClean="0">
                        <a:latin typeface="Cambria Math"/>
                      </a:rPr>
                      <m:t>. </m:t>
                    </m:r>
                  </m:oMath>
                </a14:m>
                <a:endParaRPr lang="en-AU" b="0" dirty="0" smtClean="0"/>
              </a:p>
              <a:p>
                <a14:m>
                  <m:oMath xmlns:m="http://schemas.openxmlformats.org/officeDocument/2006/math">
                    <m:r>
                      <a:rPr lang="en-AU" i="1" smtClean="0">
                        <a:latin typeface="Cambria Math"/>
                      </a:rPr>
                      <m:t>𝑁</m:t>
                    </m:r>
                    <m:sSub>
                      <m:sSubPr>
                        <m:ctrlPr>
                          <a:rPr lang="en-AU" i="1" smtClean="0">
                            <a:latin typeface="Cambria Math"/>
                          </a:rPr>
                        </m:ctrlPr>
                      </m:sSubPr>
                      <m:e>
                        <m:r>
                          <a:rPr lang="en-AU" i="1">
                            <a:latin typeface="Cambria Math"/>
                          </a:rPr>
                          <m:t>𝐻</m:t>
                        </m:r>
                      </m:e>
                      <m:sub>
                        <m:r>
                          <a:rPr lang="en-AU" i="1">
                            <a:latin typeface="Cambria Math"/>
                          </a:rPr>
                          <m:t>3</m:t>
                        </m:r>
                      </m:sub>
                    </m:sSub>
                  </m:oMath>
                </a14:m>
                <a:r>
                  <a:rPr lang="en-AU" dirty="0" smtClean="0"/>
                  <a:t> (g) + </a:t>
                </a:r>
                <a14:m>
                  <m:oMath xmlns:m="http://schemas.openxmlformats.org/officeDocument/2006/math">
                    <m:sSub>
                      <m:sSubPr>
                        <m:ctrlPr>
                          <a:rPr lang="en-AU" i="1" smtClean="0">
                            <a:latin typeface="Cambria Math"/>
                            <a:sym typeface="Wingdings 3"/>
                          </a:rPr>
                        </m:ctrlPr>
                      </m:sSubPr>
                      <m:e>
                        <m:r>
                          <a:rPr lang="en-AU" i="1">
                            <a:latin typeface="Cambria Math"/>
                            <a:sym typeface="Wingdings 3"/>
                          </a:rPr>
                          <m:t>𝐻</m:t>
                        </m:r>
                      </m:e>
                      <m:sub>
                        <m:r>
                          <a:rPr lang="en-AU" i="1">
                            <a:latin typeface="Cambria Math"/>
                            <a:sym typeface="Wingdings 3"/>
                          </a:rPr>
                          <m:t>2</m:t>
                        </m:r>
                      </m:sub>
                    </m:sSub>
                    <m:r>
                      <a:rPr lang="en-AU" i="1" smtClean="0">
                        <a:latin typeface="Cambria Math"/>
                        <a:sym typeface="Wingdings 3"/>
                      </a:rPr>
                      <m:t>𝑂</m:t>
                    </m:r>
                    <m:d>
                      <m:dPr>
                        <m:ctrlPr>
                          <a:rPr lang="en-AU" i="1" smtClean="0">
                            <a:latin typeface="Cambria Math"/>
                            <a:sym typeface="Wingdings 3"/>
                          </a:rPr>
                        </m:ctrlPr>
                      </m:dPr>
                      <m:e>
                        <m:r>
                          <a:rPr lang="en-AU" i="1">
                            <a:latin typeface="Cambria Math"/>
                            <a:sym typeface="Wingdings 3"/>
                          </a:rPr>
                          <m:t>𝑙</m:t>
                        </m:r>
                      </m:e>
                    </m:d>
                  </m:oMath>
                </a14:m>
                <a:r>
                  <a:rPr lang="en-AU" dirty="0" smtClean="0"/>
                  <a:t> </a:t>
                </a:r>
                <a:r>
                  <a:rPr lang="en-AU" dirty="0" smtClean="0">
                    <a:sym typeface="Wingdings 3"/>
                  </a:rPr>
                  <a:t> </a:t>
                </a:r>
                <a14:m>
                  <m:oMath xmlns:m="http://schemas.openxmlformats.org/officeDocument/2006/math">
                    <m:r>
                      <a:rPr lang="en-AU" i="1" smtClean="0">
                        <a:latin typeface="Cambria Math"/>
                      </a:rPr>
                      <m:t>𝑁</m:t>
                    </m:r>
                    <m:sSubSup>
                      <m:sSubSupPr>
                        <m:ctrlPr>
                          <a:rPr lang="en-AU" i="1" smtClean="0">
                            <a:latin typeface="Cambria Math"/>
                          </a:rPr>
                        </m:ctrlPr>
                      </m:sSubSupPr>
                      <m:e>
                        <m:r>
                          <a:rPr lang="en-AU" i="1">
                            <a:latin typeface="Cambria Math"/>
                          </a:rPr>
                          <m:t>𝐻</m:t>
                        </m:r>
                      </m:e>
                      <m:sub>
                        <m:r>
                          <a:rPr lang="en-AU" i="1">
                            <a:latin typeface="Cambria Math"/>
                          </a:rPr>
                          <m:t>4</m:t>
                        </m:r>
                      </m:sub>
                      <m:sup>
                        <m:r>
                          <a:rPr lang="en-AU" i="1">
                            <a:latin typeface="Cambria Math"/>
                          </a:rPr>
                          <m:t>+</m:t>
                        </m:r>
                      </m:sup>
                    </m:sSubSup>
                  </m:oMath>
                </a14:m>
                <a:r>
                  <a:rPr lang="en-AU" dirty="0"/>
                  <a:t> </a:t>
                </a:r>
                <a:r>
                  <a:rPr lang="en-AU" dirty="0" smtClean="0"/>
                  <a:t>(</a:t>
                </a:r>
                <a:r>
                  <a:rPr lang="en-AU" dirty="0" err="1" smtClean="0"/>
                  <a:t>aq</a:t>
                </a:r>
                <a:r>
                  <a:rPr lang="en-AU" dirty="0" smtClean="0"/>
                  <a:t>)  + </a:t>
                </a:r>
                <a14:m>
                  <m:oMath xmlns:m="http://schemas.openxmlformats.org/officeDocument/2006/math">
                    <m:r>
                      <a:rPr lang="en-AU" b="0" i="1" smtClean="0">
                        <a:latin typeface="Cambria Math"/>
                      </a:rPr>
                      <m:t>𝑂</m:t>
                    </m:r>
                    <m:sSup>
                      <m:sSupPr>
                        <m:ctrlPr>
                          <a:rPr lang="en-AU" b="0" i="1" smtClean="0">
                            <a:latin typeface="Cambria Math"/>
                          </a:rPr>
                        </m:ctrlPr>
                      </m:sSupPr>
                      <m:e>
                        <m:r>
                          <a:rPr lang="en-AU" b="0" i="1" smtClean="0">
                            <a:latin typeface="Cambria Math"/>
                          </a:rPr>
                          <m:t>𝐻</m:t>
                        </m:r>
                      </m:e>
                      <m:sup>
                        <m:r>
                          <a:rPr lang="en-AU" b="0" i="1" smtClean="0">
                            <a:latin typeface="Cambria Math"/>
                          </a:rPr>
                          <m:t>−</m:t>
                        </m:r>
                      </m:sup>
                    </m:sSup>
                    <m:r>
                      <a:rPr lang="en-AU" b="0" i="1" smtClean="0">
                        <a:latin typeface="Cambria Math"/>
                      </a:rPr>
                      <m:t>(</m:t>
                    </m:r>
                    <m:r>
                      <a:rPr lang="en-AU" b="0" i="1" smtClean="0">
                        <a:latin typeface="Cambria Math"/>
                      </a:rPr>
                      <m:t>𝑎𝑞</m:t>
                    </m:r>
                    <m:r>
                      <a:rPr lang="en-AU" b="0" i="1" smtClean="0">
                        <a:latin typeface="Cambria Math"/>
                      </a:rPr>
                      <m:t>)</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2778" r="-296" b="-2500"/>
                </a:stretch>
              </a:blipFill>
            </p:spPr>
            <p:txBody>
              <a:bodyPr/>
              <a:lstStyle/>
              <a:p>
                <a:r>
                  <a:rPr lang="en-AU">
                    <a:noFill/>
                  </a:rPr>
                  <a:t> </a:t>
                </a:r>
              </a:p>
            </p:txBody>
          </p:sp>
        </mc:Fallback>
      </mc:AlternateContent>
    </p:spTree>
    <p:extLst>
      <p:ext uri="{BB962C8B-B14F-4D97-AF65-F5344CB8AC3E}">
        <p14:creationId xmlns:p14="http://schemas.microsoft.com/office/powerpoint/2010/main" val="18391456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AU" dirty="0" smtClean="0"/>
                  <a:t>Ammonium ion is considered to be a weak acid. It will react with a base to produce a salt and water. However, ammonia gas also will be produced in the reaction as shown in the following example:</a:t>
                </a:r>
              </a:p>
              <a:p>
                <a:r>
                  <a:rPr lang="en-AU" dirty="0" err="1" smtClean="0"/>
                  <a:t>NaOH</a:t>
                </a:r>
                <a:r>
                  <a:rPr lang="en-AU" dirty="0" smtClean="0"/>
                  <a:t>( </a:t>
                </a:r>
                <a:r>
                  <a:rPr lang="en-AU" dirty="0" err="1" smtClean="0"/>
                  <a:t>aq</a:t>
                </a:r>
                <a:r>
                  <a:rPr lang="en-AU" dirty="0" smtClean="0"/>
                  <a:t>) + </a:t>
                </a:r>
                <a14:m>
                  <m:oMath xmlns:m="http://schemas.openxmlformats.org/officeDocument/2006/math">
                    <m:r>
                      <a:rPr lang="en-AU" i="1">
                        <a:latin typeface="Cambria Math"/>
                      </a:rPr>
                      <m:t>𝑁</m:t>
                    </m:r>
                    <m:sSub>
                      <m:sSubPr>
                        <m:ctrlPr>
                          <a:rPr lang="en-AU" i="1">
                            <a:latin typeface="Cambria Math"/>
                          </a:rPr>
                        </m:ctrlPr>
                      </m:sSubPr>
                      <m:e>
                        <m:r>
                          <a:rPr lang="en-AU" i="1">
                            <a:latin typeface="Cambria Math"/>
                          </a:rPr>
                          <m:t>𝐻</m:t>
                        </m:r>
                      </m:e>
                      <m:sub>
                        <m:r>
                          <a:rPr lang="en-AU" i="1">
                            <a:latin typeface="Cambria Math"/>
                          </a:rPr>
                          <m:t>4</m:t>
                        </m:r>
                      </m:sub>
                    </m:sSub>
                  </m:oMath>
                </a14:m>
                <a:r>
                  <a:rPr lang="en-AU" dirty="0" smtClean="0"/>
                  <a:t> </a:t>
                </a:r>
                <a:r>
                  <a:rPr lang="en-AU" dirty="0" err="1"/>
                  <a:t>Cl</a:t>
                </a:r>
                <a:r>
                  <a:rPr lang="en-AU" dirty="0"/>
                  <a:t> (</a:t>
                </a:r>
                <a:r>
                  <a:rPr lang="en-AU" dirty="0" err="1"/>
                  <a:t>aq</a:t>
                </a:r>
                <a:r>
                  <a:rPr lang="en-AU" dirty="0" smtClean="0"/>
                  <a:t>) </a:t>
                </a:r>
                <a:r>
                  <a:rPr lang="en-AU" dirty="0" smtClean="0">
                    <a:sym typeface="Wingdings 3"/>
                  </a:rPr>
                  <a:t> </a:t>
                </a:r>
                <a14:m>
                  <m:oMath xmlns:m="http://schemas.openxmlformats.org/officeDocument/2006/math">
                    <m:r>
                      <a:rPr lang="en-AU" i="1">
                        <a:latin typeface="Cambria Math"/>
                      </a:rPr>
                      <m:t>𝑁</m:t>
                    </m:r>
                    <m:sSub>
                      <m:sSubPr>
                        <m:ctrlPr>
                          <a:rPr lang="en-AU" i="1">
                            <a:latin typeface="Cambria Math"/>
                          </a:rPr>
                        </m:ctrlPr>
                      </m:sSubPr>
                      <m:e>
                        <m:r>
                          <a:rPr lang="en-AU" i="1">
                            <a:latin typeface="Cambria Math"/>
                          </a:rPr>
                          <m:t>𝐻</m:t>
                        </m:r>
                      </m:e>
                      <m:sub>
                        <m:r>
                          <a:rPr lang="en-AU" i="1">
                            <a:latin typeface="Cambria Math"/>
                          </a:rPr>
                          <m:t>3</m:t>
                        </m:r>
                        <m:r>
                          <a:rPr lang="en-AU" b="0" i="1" smtClean="0">
                            <a:latin typeface="Cambria Math"/>
                          </a:rPr>
                          <m:t>  </m:t>
                        </m:r>
                      </m:sub>
                    </m:sSub>
                  </m:oMath>
                </a14:m>
                <a:r>
                  <a:rPr lang="en-AU" dirty="0" smtClean="0"/>
                  <a:t>(g) + </a:t>
                </a:r>
                <a14:m>
                  <m:oMath xmlns:m="http://schemas.openxmlformats.org/officeDocument/2006/math">
                    <m:sSub>
                      <m:sSubPr>
                        <m:ctrlPr>
                          <a:rPr lang="en-AU" i="1">
                            <a:latin typeface="Cambria Math"/>
                            <a:sym typeface="Wingdings 3"/>
                          </a:rPr>
                        </m:ctrlPr>
                      </m:sSubPr>
                      <m:e>
                        <m:r>
                          <a:rPr lang="en-AU" i="1">
                            <a:latin typeface="Cambria Math"/>
                            <a:sym typeface="Wingdings 3"/>
                          </a:rPr>
                          <m:t>𝐻</m:t>
                        </m:r>
                      </m:e>
                      <m:sub>
                        <m:r>
                          <a:rPr lang="en-AU" i="1">
                            <a:latin typeface="Cambria Math"/>
                            <a:sym typeface="Wingdings 3"/>
                          </a:rPr>
                          <m:t>2</m:t>
                        </m:r>
                      </m:sub>
                    </m:sSub>
                    <m:r>
                      <a:rPr lang="en-AU" i="1">
                        <a:latin typeface="Cambria Math"/>
                        <a:sym typeface="Wingdings 3"/>
                      </a:rPr>
                      <m:t>𝑂</m:t>
                    </m:r>
                    <m:d>
                      <m:dPr>
                        <m:ctrlPr>
                          <a:rPr lang="en-AU" i="1">
                            <a:latin typeface="Cambria Math"/>
                            <a:sym typeface="Wingdings 3"/>
                          </a:rPr>
                        </m:ctrlPr>
                      </m:dPr>
                      <m:e>
                        <m:r>
                          <a:rPr lang="en-AU" i="1">
                            <a:latin typeface="Cambria Math"/>
                            <a:sym typeface="Wingdings 3"/>
                          </a:rPr>
                          <m:t>𝑙</m:t>
                        </m:r>
                      </m:e>
                    </m:d>
                  </m:oMath>
                </a14:m>
                <a:endParaRPr lang="en-AU" dirty="0" smtClean="0"/>
              </a:p>
              <a:p>
                <a:endParaRPr lang="en-AU" dirty="0" smtClean="0"/>
              </a:p>
              <a:p>
                <a:r>
                  <a:rPr lang="en-AU" dirty="0" smtClean="0"/>
                  <a:t>Ammonium </a:t>
                </a:r>
                <a:r>
                  <a:rPr lang="en-AU" dirty="0" err="1" smtClean="0"/>
                  <a:t>sulfate</a:t>
                </a:r>
                <a:r>
                  <a:rPr lang="en-AU" dirty="0" smtClean="0"/>
                  <a:t> or ammonium nitrate are commonly used as fertilisers. This is the reason why a farmer wouldn’t treat a field with an ammonium compound at the same time as using an alkali  such as lime. The ammonium salt will react with the base to give off ammonia, which can escape into the atmosphere as a gas, and so not be available to the plants.</a:t>
                </a:r>
              </a:p>
              <a:p>
                <a:r>
                  <a:rPr lang="en-AU" dirty="0" smtClean="0"/>
                  <a:t>Do Q: set: 1,2, 3 4, (a), 5, 6(</a:t>
                </a:r>
                <a:r>
                  <a:rPr lang="en-AU"/>
                  <a:t>b</a:t>
                </a:r>
                <a:r>
                  <a:rPr lang="en-AU" smtClean="0"/>
                  <a:t>,c</a:t>
                </a:r>
                <a:r>
                  <a:rPr lang="en-AU" dirty="0" smtClean="0"/>
                  <a:t>)</a:t>
                </a:r>
                <a:endParaRPr lang="en-AU"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67" r="-1111" b="-139"/>
                </a:stretch>
              </a:blipFill>
            </p:spPr>
            <p:txBody>
              <a:bodyPr/>
              <a:lstStyle/>
              <a:p>
                <a:r>
                  <a:rPr lang="en-AU">
                    <a:noFill/>
                  </a:rPr>
                  <a:t> </a:t>
                </a:r>
              </a:p>
            </p:txBody>
          </p:sp>
        </mc:Fallback>
      </mc:AlternateContent>
    </p:spTree>
    <p:extLst>
      <p:ext uri="{BB962C8B-B14F-4D97-AF65-F5344CB8AC3E}">
        <p14:creationId xmlns:p14="http://schemas.microsoft.com/office/powerpoint/2010/main" val="412449103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143</TotalTime>
  <Words>870</Words>
  <Application>Microsoft Office PowerPoint</Application>
  <PresentationFormat>On-screen Show (4:3)</PresentationFormat>
  <Paragraphs>58</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Flow</vt:lpstr>
      <vt:lpstr>Chapter:7.4</vt:lpstr>
      <vt:lpstr>PowerPoint Presentation</vt:lpstr>
      <vt:lpstr>Definitions of acids &amp; bases</vt:lpstr>
      <vt:lpstr>PowerPoint Presentation</vt:lpstr>
      <vt:lpstr>PowerPoint Presentation</vt:lpstr>
      <vt:lpstr>PowerPoint Presentation</vt:lpstr>
      <vt:lpstr>PowerPoint Presentation</vt:lpstr>
      <vt:lpstr>Acid –base reactions</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Chapter:7.4</dc:title>
  <dc:creator>D'CRUZ Jijy</dc:creator>
  <cp:lastModifiedBy>Jijy</cp:lastModifiedBy>
  <cp:revision>25</cp:revision>
  <dcterms:created xsi:type="dcterms:W3CDTF">2015-08-31T02:21:25Z</dcterms:created>
  <dcterms:modified xsi:type="dcterms:W3CDTF">2017-07-27T14:19:54Z</dcterms:modified>
</cp:coreProperties>
</file>
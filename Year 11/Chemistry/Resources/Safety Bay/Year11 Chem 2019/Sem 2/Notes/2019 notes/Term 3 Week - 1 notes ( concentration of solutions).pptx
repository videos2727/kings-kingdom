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1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4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42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196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74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871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44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496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171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211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1424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80521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0760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910871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4339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046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392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7/16/2019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89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Term 3 Week:1- notes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Concentration of solutions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8563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Concentration of solutions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i="1" dirty="0"/>
              <a:t>T</a:t>
            </a:r>
            <a:r>
              <a:rPr lang="en-AU" b="1" i="1" dirty="0" smtClean="0"/>
              <a:t>he </a:t>
            </a:r>
            <a:r>
              <a:rPr lang="en-AU" b="1" i="1" dirty="0"/>
              <a:t>concentration of a solution is defined as the quantity of solute dissolved in a quantity of solution; this can be represented in a variety of ways, including by the number of moles of the solute per litre of solution (</a:t>
            </a:r>
            <a:r>
              <a:rPr lang="en-AU" b="1" i="1" dirty="0" err="1"/>
              <a:t>mol</a:t>
            </a:r>
            <a:r>
              <a:rPr lang="en-AU" b="1" i="1" dirty="0"/>
              <a:t> L</a:t>
            </a:r>
            <a:r>
              <a:rPr lang="en-AU" b="1" i="1" baseline="30000" dirty="0"/>
              <a:t>-1</a:t>
            </a:r>
            <a:r>
              <a:rPr lang="en-AU" b="1" i="1" dirty="0"/>
              <a:t>) and the mass of the solute per litre of solution (g L</a:t>
            </a:r>
            <a:r>
              <a:rPr lang="en-AU" b="1" i="1" baseline="30000" dirty="0"/>
              <a:t>-1</a:t>
            </a:r>
            <a:r>
              <a:rPr lang="en-AU" b="1" i="1" dirty="0"/>
              <a:t>) or parts per million (ppm</a:t>
            </a:r>
            <a:r>
              <a:rPr lang="en-AU" b="1" i="1" dirty="0" smtClean="0"/>
              <a:t>)</a:t>
            </a:r>
          </a:p>
          <a:p>
            <a:endParaRPr lang="en-AU" b="1" i="1" dirty="0"/>
          </a:p>
          <a:p>
            <a:r>
              <a:rPr lang="en-AU" dirty="0" smtClean="0">
                <a:solidFill>
                  <a:schemeClr val="accent6">
                    <a:lumMod val="75000"/>
                  </a:schemeClr>
                </a:solidFill>
              </a:rPr>
              <a:t>The concentration of a solution describes the relative amount of solute and solvent present in the solution.</a:t>
            </a:r>
            <a:endParaRPr lang="en-AU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AU" dirty="0" smtClean="0">
                <a:solidFill>
                  <a:schemeClr val="accent1">
                    <a:lumMod val="75000"/>
                  </a:schemeClr>
                </a:solidFill>
              </a:rPr>
              <a:t>A solution in which the ratio of solute to solvent is high is said to be concentrated.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A solution in which the ratio of solute to solvent is </a:t>
            </a:r>
            <a:r>
              <a:rPr lang="en-AU" dirty="0" smtClean="0">
                <a:solidFill>
                  <a:schemeClr val="accent1">
                    <a:lumMod val="75000"/>
                  </a:schemeClr>
                </a:solidFill>
              </a:rPr>
              <a:t>low is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said to be </a:t>
            </a:r>
            <a:r>
              <a:rPr lang="en-AU" dirty="0" smtClean="0">
                <a:solidFill>
                  <a:schemeClr val="accent1">
                    <a:lumMod val="75000"/>
                  </a:schemeClr>
                </a:solidFill>
              </a:rPr>
              <a:t>a dilute solution.</a:t>
            </a:r>
            <a:endParaRPr lang="en-A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073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Calculating solution concentration</a:t>
            </a:r>
            <a:endParaRPr lang="en-AU" dirty="0"/>
          </a:p>
        </p:txBody>
      </p:sp>
      <p:pic>
        <p:nvPicPr>
          <p:cNvPr id="4" name="Content Placeholder 3" descr="C:\Users\e2046920\AppData\Local\Microsoft\Windows\INetCache\Content.MSO\3ABD38A4.tmp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4" t="10994" r="415" b="32448"/>
          <a:stretch/>
        </p:blipFill>
        <p:spPr bwMode="auto">
          <a:xfrm>
            <a:off x="677863" y="2215113"/>
            <a:ext cx="8596312" cy="377238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4019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39486" t="36399" r="26612" b="13492"/>
          <a:stretch/>
        </p:blipFill>
        <p:spPr bwMode="auto">
          <a:xfrm>
            <a:off x="1201783" y="2160588"/>
            <a:ext cx="7201988" cy="42227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8420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Practice question on calculating concentration in gL</a:t>
            </a:r>
            <a:r>
              <a:rPr lang="en-AU" baseline="30000" dirty="0" smtClean="0"/>
              <a:t>-1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Calculate the concentration, in g</a:t>
            </a:r>
            <a:r>
              <a:rPr lang="en-AU" dirty="0"/>
              <a:t> </a:t>
            </a:r>
            <a:r>
              <a:rPr lang="en-AU" dirty="0" smtClean="0"/>
              <a:t>L</a:t>
            </a:r>
            <a:r>
              <a:rPr lang="en-AU" baseline="30000" dirty="0" smtClean="0"/>
              <a:t>-1</a:t>
            </a:r>
            <a:r>
              <a:rPr lang="en-AU" dirty="0" smtClean="0"/>
              <a:t>, of a solution containing 5.00g of glucose in 250mL of solution.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65094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Concentration in parts per million (ppm)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2060"/>
                </a:solidFill>
              </a:rPr>
              <a:t>When very small quantities of solute are dissolved to form a solution, the concentration is often measured in parts per million (ppm). </a:t>
            </a:r>
          </a:p>
          <a:p>
            <a:endParaRPr lang="en-AU" dirty="0"/>
          </a:p>
          <a:p>
            <a:r>
              <a:rPr lang="en-AU" dirty="0" smtClean="0">
                <a:solidFill>
                  <a:schemeClr val="accent3">
                    <a:lumMod val="75000"/>
                  </a:schemeClr>
                </a:solidFill>
              </a:rPr>
              <a:t>The concentration in parts per million can be thought of as the mass in grams of solute dissolved in 1000 000 g of solution. This can also be expressed as the mass in milligrams of solute dissolved in 1 kg of solution, because there are 1 million milligrams in a kilogram.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Concentration (ppm) = mass of solute (in mg)</a:t>
            </a:r>
            <a:r>
              <a:rPr lang="en-AU" dirty="0"/>
              <a:t> </a:t>
            </a:r>
            <a:r>
              <a:rPr lang="en-AU" dirty="0" smtClean="0">
                <a:solidFill>
                  <a:srgbClr val="00B050"/>
                </a:solidFill>
              </a:rPr>
              <a:t>÷ mass of solution (in kg)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962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3931" t="19146" r="40838" b="31692"/>
          <a:stretch/>
        </p:blipFill>
        <p:spPr bwMode="auto">
          <a:xfrm>
            <a:off x="984069" y="1532710"/>
            <a:ext cx="7898674" cy="45093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91171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Practice question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 sample of tap water was found to contain 0.0537 g of </a:t>
            </a:r>
            <a:r>
              <a:rPr lang="en-AU" dirty="0" err="1" smtClean="0"/>
              <a:t>NaCl</a:t>
            </a:r>
            <a:r>
              <a:rPr lang="en-AU" dirty="0" smtClean="0"/>
              <a:t> per 250 g of solution. Calculate the concentration of </a:t>
            </a:r>
            <a:r>
              <a:rPr lang="en-AU" dirty="0" err="1" smtClean="0"/>
              <a:t>NaCl</a:t>
            </a:r>
            <a:r>
              <a:rPr lang="en-AU" dirty="0" smtClean="0"/>
              <a:t> in parts per million.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9696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Molar concentration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concentration of a solution in moles per litre is often referred to as the </a:t>
            </a:r>
            <a:r>
              <a:rPr lang="en-AU" dirty="0" smtClean="0">
                <a:solidFill>
                  <a:srgbClr val="00B050"/>
                </a:solidFill>
              </a:rPr>
              <a:t>molarity or molar concentration of the solution</a:t>
            </a:r>
            <a:r>
              <a:rPr lang="en-AU" dirty="0" smtClean="0"/>
              <a:t>. It has the unit molL</a:t>
            </a:r>
            <a:r>
              <a:rPr lang="en-AU" baseline="30000" dirty="0" smtClean="0"/>
              <a:t>-1 </a:t>
            </a:r>
            <a:r>
              <a:rPr lang="en-AU" dirty="0" smtClean="0"/>
              <a:t> which is sometimes represented as </a:t>
            </a:r>
            <a:r>
              <a:rPr lang="en-AU" dirty="0" smtClean="0">
                <a:solidFill>
                  <a:srgbClr val="00B050"/>
                </a:solidFill>
              </a:rPr>
              <a:t>M</a:t>
            </a:r>
            <a:r>
              <a:rPr lang="en-AU" dirty="0" smtClean="0"/>
              <a:t>.</a:t>
            </a:r>
          </a:p>
          <a:p>
            <a:r>
              <a:rPr lang="en-AU" dirty="0" smtClean="0"/>
              <a:t>A solution containing 1 mole of solute dissolved in 1 litre of solution can be described in several different ways. You can say that the solution:</a:t>
            </a:r>
          </a:p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AU" dirty="0" smtClean="0">
                <a:solidFill>
                  <a:schemeClr val="accent6">
                    <a:lumMod val="75000"/>
                  </a:schemeClr>
                </a:solidFill>
              </a:rPr>
              <a:t>as a concentration of 1 mole per litre</a:t>
            </a:r>
          </a:p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AU" dirty="0" smtClean="0">
                <a:solidFill>
                  <a:schemeClr val="accent6">
                    <a:lumMod val="75000"/>
                  </a:schemeClr>
                </a:solidFill>
              </a:rPr>
              <a:t>as a concentration of 1 molL</a:t>
            </a:r>
            <a:r>
              <a:rPr lang="en-AU" baseline="30000" dirty="0" smtClean="0">
                <a:solidFill>
                  <a:schemeClr val="accent6">
                    <a:lumMod val="75000"/>
                  </a:schemeClr>
                </a:solidFill>
              </a:rPr>
              <a:t>-1</a:t>
            </a:r>
          </a:p>
          <a:p>
            <a:r>
              <a:rPr lang="en-AU" sz="2800" baseline="30000" dirty="0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AU" sz="2800" baseline="30000" dirty="0" smtClean="0">
                <a:solidFill>
                  <a:schemeClr val="accent6">
                    <a:lumMod val="75000"/>
                  </a:schemeClr>
                </a:solidFill>
              </a:rPr>
              <a:t>s 1 molar</a:t>
            </a:r>
          </a:p>
          <a:p>
            <a:r>
              <a:rPr lang="en-AU" sz="2800" baseline="30000" dirty="0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AU" sz="2800" baseline="30000" dirty="0" smtClean="0">
                <a:solidFill>
                  <a:schemeClr val="accent6">
                    <a:lumMod val="75000"/>
                  </a:schemeClr>
                </a:solidFill>
              </a:rPr>
              <a:t>s 1M</a:t>
            </a:r>
          </a:p>
          <a:p>
            <a:r>
              <a:rPr lang="en-AU" sz="2800" baseline="300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AU" sz="2800" baseline="30000" dirty="0" smtClean="0">
                <a:solidFill>
                  <a:schemeClr val="accent6">
                    <a:lumMod val="75000"/>
                  </a:schemeClr>
                </a:solidFill>
              </a:rPr>
              <a:t>as a molarity of 1M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1054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22735" t="16923" r="26080" b="52615"/>
          <a:stretch/>
        </p:blipFill>
        <p:spPr bwMode="auto">
          <a:xfrm>
            <a:off x="1480457" y="2072641"/>
            <a:ext cx="6818812" cy="34398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42867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Practice question</a:t>
            </a:r>
            <a:br>
              <a:rPr lang="en-AU" dirty="0" smtClean="0"/>
            </a:br>
            <a:r>
              <a:rPr lang="en-AU" dirty="0"/>
              <a:t>Calculating molar concentrations ( Molarity)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Calculate the molar concentration of a solution that contains 0.24 </a:t>
            </a:r>
            <a:r>
              <a:rPr lang="en-AU" dirty="0" err="1" smtClean="0"/>
              <a:t>mol</a:t>
            </a:r>
            <a:r>
              <a:rPr lang="en-AU" dirty="0" smtClean="0"/>
              <a:t> of glucose dissolved in 500 mL of solution.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7329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Calculating molarity given the mass of solute</a:t>
            </a:r>
            <a:endParaRPr lang="en-AU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1388" t="11581" r="25257" b="13492"/>
          <a:stretch/>
        </p:blipFill>
        <p:spPr bwMode="auto">
          <a:xfrm>
            <a:off x="940526" y="1767840"/>
            <a:ext cx="7837714" cy="46765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9091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4994" t="26472" r="41635" b="45401"/>
          <a:stretch/>
        </p:blipFill>
        <p:spPr bwMode="auto">
          <a:xfrm>
            <a:off x="1219200" y="1828799"/>
            <a:ext cx="7262949" cy="42846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41790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39487" t="19145" r="23820" b="35238"/>
          <a:stretch/>
        </p:blipFill>
        <p:spPr bwMode="auto">
          <a:xfrm>
            <a:off x="1611086" y="2160588"/>
            <a:ext cx="6140147" cy="38814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12397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4197" t="17963" r="27011" b="41856"/>
          <a:stretch/>
        </p:blipFill>
        <p:spPr bwMode="auto">
          <a:xfrm>
            <a:off x="786463" y="2160588"/>
            <a:ext cx="8379111" cy="38814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23915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 to complete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Year 11 ATAR Exploring Chemistry text: Set31: Page: 175 Q’s</a:t>
            </a:r>
            <a:r>
              <a:rPr lang="en-AU" smtClean="0"/>
              <a:t>: 1,3,7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4431622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317</TotalTime>
  <Words>426</Words>
  <Application>Microsoft Office PowerPoint</Application>
  <PresentationFormat>Widescreen</PresentationFormat>
  <Paragraphs>30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Term 3 Week:1- notes</vt:lpstr>
      <vt:lpstr>Concentration of solutions</vt:lpstr>
      <vt:lpstr> Calculating solution concentration</vt:lpstr>
      <vt:lpstr>PowerPoint Presentation</vt:lpstr>
      <vt:lpstr>Practice question on calculating concentration in gL-1</vt:lpstr>
      <vt:lpstr> Concentration in parts per million (ppm)</vt:lpstr>
      <vt:lpstr>PowerPoint Presentation</vt:lpstr>
      <vt:lpstr>Practice question</vt:lpstr>
      <vt:lpstr>Molar concentration</vt:lpstr>
      <vt:lpstr>PowerPoint Presentation</vt:lpstr>
      <vt:lpstr>Practice question Calculating molar concentrations ( Molarity) </vt:lpstr>
      <vt:lpstr>Calculating molarity given the mass of solute</vt:lpstr>
      <vt:lpstr>PowerPoint Presentation</vt:lpstr>
      <vt:lpstr>PowerPoint Presentation</vt:lpstr>
      <vt:lpstr>PowerPoint Presentation</vt:lpstr>
      <vt:lpstr>Questions to complete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 3 Week:1- notes</dc:title>
  <dc:creator>D'CRUZ Jijy [Safety Bay Senior High School]</dc:creator>
  <cp:lastModifiedBy>D'CRUZ Jijy [Safety Bay Senior High School]</cp:lastModifiedBy>
  <cp:revision>26</cp:revision>
  <dcterms:created xsi:type="dcterms:W3CDTF">2019-07-16T07:40:04Z</dcterms:created>
  <dcterms:modified xsi:type="dcterms:W3CDTF">2019-07-16T12:57:09Z</dcterms:modified>
</cp:coreProperties>
</file>
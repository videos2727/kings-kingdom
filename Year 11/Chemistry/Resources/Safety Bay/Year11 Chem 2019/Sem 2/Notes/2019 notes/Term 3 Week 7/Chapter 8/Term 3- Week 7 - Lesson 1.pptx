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11"/>
  </p:notesMasterIdLst>
  <p:sldIdLst>
    <p:sldId id="256" r:id="rId2"/>
    <p:sldId id="257" r:id="rId3"/>
    <p:sldId id="258" r:id="rId4"/>
    <p:sldId id="259" r:id="rId5"/>
    <p:sldId id="265" r:id="rId6"/>
    <p:sldId id="260" r:id="rId7"/>
    <p:sldId id="261" r:id="rId8"/>
    <p:sldId id="262" r:id="rId9"/>
    <p:sldId id="26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30EE56-6BD6-43BF-B88B-1B6A5D22A7F3}" type="datetimeFigureOut">
              <a:rPr lang="en-AU" smtClean="0"/>
              <a:t>2/09/2019</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9A6D54-B21A-4CA4-9141-DC545986A954}" type="slidenum">
              <a:rPr lang="en-AU" smtClean="0"/>
              <a:t>‹#›</a:t>
            </a:fld>
            <a:endParaRPr lang="en-AU"/>
          </a:p>
        </p:txBody>
      </p:sp>
    </p:spTree>
    <p:extLst>
      <p:ext uri="{BB962C8B-B14F-4D97-AF65-F5344CB8AC3E}">
        <p14:creationId xmlns:p14="http://schemas.microsoft.com/office/powerpoint/2010/main" val="1458245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29A6D54-B21A-4CA4-9141-DC545986A954}" type="slidenum">
              <a:rPr lang="en-AU" smtClean="0"/>
              <a:t>2</a:t>
            </a:fld>
            <a:endParaRPr lang="en-AU"/>
          </a:p>
        </p:txBody>
      </p:sp>
    </p:spTree>
    <p:extLst>
      <p:ext uri="{BB962C8B-B14F-4D97-AF65-F5344CB8AC3E}">
        <p14:creationId xmlns:p14="http://schemas.microsoft.com/office/powerpoint/2010/main" val="1488977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BABDF9B-7E51-4C2A-A2DB-3A392791A3CD}" type="datetimeFigureOut">
              <a:rPr lang="en-AU" smtClean="0"/>
              <a:t>2/09/2019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673BD8F0-7DD6-4E40-B1A1-A4F3BE4CB29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BDF9B-7E51-4C2A-A2DB-3A392791A3CD}" type="datetimeFigureOut">
              <a:rPr lang="en-AU" smtClean="0"/>
              <a:t>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BABDF9B-7E51-4C2A-A2DB-3A392791A3CD}" type="datetimeFigureOut">
              <a:rPr lang="en-AU" smtClean="0"/>
              <a:t>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BABDF9B-7E51-4C2A-A2DB-3A392791A3CD}" type="datetimeFigureOut">
              <a:rPr lang="en-AU" smtClean="0"/>
              <a:t>2/09/2019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BABDF9B-7E51-4C2A-A2DB-3A392791A3CD}" type="datetimeFigureOut">
              <a:rPr lang="en-AU" smtClean="0"/>
              <a:t>2/09/2019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BABDF9B-7E51-4C2A-A2DB-3A392791A3CD}" type="datetimeFigureOut">
              <a:rPr lang="en-AU" smtClean="0"/>
              <a:t>2/09/2019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ABDF9B-7E51-4C2A-A2DB-3A392791A3CD}" type="datetimeFigureOut">
              <a:rPr lang="en-AU" smtClean="0"/>
              <a:t>2/09/2019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BABDF9B-7E51-4C2A-A2DB-3A392791A3CD}" type="datetimeFigureOut">
              <a:rPr lang="en-AU" smtClean="0"/>
              <a:t>2/09/2019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BABDF9B-7E51-4C2A-A2DB-3A392791A3CD}" type="datetimeFigureOut">
              <a:rPr lang="en-AU" smtClean="0"/>
              <a:t>2/09/2019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673BD8F0-7DD6-4E40-B1A1-A4F3BE4CB295}"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BDF9B-7E51-4C2A-A2DB-3A392791A3CD}" type="datetimeFigureOut">
              <a:rPr lang="en-AU" smtClean="0"/>
              <a:t>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BDF9B-7E51-4C2A-A2DB-3A392791A3CD}" type="datetimeFigureOut">
              <a:rPr lang="en-AU" smtClean="0"/>
              <a:t>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BABDF9B-7E51-4C2A-A2DB-3A392791A3CD}" type="datetimeFigureOut">
              <a:rPr lang="en-AU" smtClean="0"/>
              <a:t>2/09/2019</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73BD8F0-7DD6-4E40-B1A1-A4F3BE4CB295}"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4nDkWnilyW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3 Week 7: Lesson 1</a:t>
            </a:r>
            <a:endParaRPr lang="en-AU" dirty="0"/>
          </a:p>
        </p:txBody>
      </p:sp>
      <p:sp>
        <p:nvSpPr>
          <p:cNvPr id="3" name="Subtitle 2"/>
          <p:cNvSpPr>
            <a:spLocks noGrp="1"/>
          </p:cNvSpPr>
          <p:nvPr>
            <p:ph type="subTitle" idx="1"/>
          </p:nvPr>
        </p:nvSpPr>
        <p:spPr/>
        <p:txBody>
          <a:bodyPr/>
          <a:lstStyle/>
          <a:p>
            <a:r>
              <a:rPr lang="en-AU" dirty="0"/>
              <a:t>Introducing gases</a:t>
            </a:r>
          </a:p>
          <a:p>
            <a:endParaRPr lang="en-AU" dirty="0"/>
          </a:p>
        </p:txBody>
      </p:sp>
    </p:spTree>
    <p:extLst>
      <p:ext uri="{BB962C8B-B14F-4D97-AF65-F5344CB8AC3E}">
        <p14:creationId xmlns:p14="http://schemas.microsoft.com/office/powerpoint/2010/main" val="18217277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AU" dirty="0"/>
          </a:p>
        </p:txBody>
      </p:sp>
      <p:sp>
        <p:nvSpPr>
          <p:cNvPr id="2" name="Content Placeholder 1"/>
          <p:cNvSpPr>
            <a:spLocks noGrp="1"/>
          </p:cNvSpPr>
          <p:nvPr>
            <p:ph idx="1"/>
          </p:nvPr>
        </p:nvSpPr>
        <p:spPr/>
        <p:txBody>
          <a:bodyPr>
            <a:normAutofit lnSpcReduction="10000"/>
          </a:bodyPr>
          <a:lstStyle/>
          <a:p>
            <a:pPr marL="0" indent="0">
              <a:buNone/>
            </a:pPr>
            <a:r>
              <a:rPr lang="en-AU" dirty="0" smtClean="0"/>
              <a:t>Every day, we use gases for many purposes, e.g. adding fizz to soft drinks, liquefied petroleum gas(LPG) to fuel motor vehicles and natural gas for cooking and heating.</a:t>
            </a:r>
          </a:p>
          <a:p>
            <a:pPr marL="0" indent="0">
              <a:buNone/>
            </a:pPr>
            <a:endParaRPr lang="en-AU" dirty="0"/>
          </a:p>
          <a:p>
            <a:pPr marL="0" indent="0">
              <a:buNone/>
            </a:pPr>
            <a:r>
              <a:rPr lang="en-AU" b="1" u="sng" dirty="0" smtClean="0"/>
              <a:t>Air</a:t>
            </a:r>
          </a:p>
          <a:p>
            <a:pPr marL="0" indent="0">
              <a:buNone/>
            </a:pPr>
            <a:r>
              <a:rPr lang="en-AU" dirty="0" smtClean="0"/>
              <a:t>Air is a mixture of many substances. The main gases are nitrogen, oxygen, argon and carbon dioxide. The amount of these gases are remarkably constant throughout the atmosphere. Air contains water vapour, but its % varies considerably from close to  0%  in dry desert air to 5-6% in air above a tropical rainforest.</a:t>
            </a:r>
            <a:endParaRPr lang="en-AU" dirty="0"/>
          </a:p>
        </p:txBody>
      </p:sp>
    </p:spTree>
    <p:extLst>
      <p:ext uri="{BB962C8B-B14F-4D97-AF65-F5344CB8AC3E}">
        <p14:creationId xmlns:p14="http://schemas.microsoft.com/office/powerpoint/2010/main" val="1426581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solidFill>
                  <a:srgbClr val="C00000"/>
                </a:solidFill>
              </a:rPr>
              <a:t>The concentrations of some substances are measured in parts per million(ppm) by volume. This measure is used when concentrations involved are very small. </a:t>
            </a:r>
          </a:p>
          <a:p>
            <a:r>
              <a:rPr lang="en-AU" dirty="0" smtClean="0">
                <a:solidFill>
                  <a:srgbClr val="7030A0"/>
                </a:solidFill>
              </a:rPr>
              <a:t>E.g. 350 ppm corresponds to a percentage concentration of 0.0350%. </a:t>
            </a:r>
          </a:p>
          <a:p>
            <a:r>
              <a:rPr lang="en-AU" dirty="0" smtClean="0">
                <a:solidFill>
                  <a:srgbClr val="FF0000"/>
                </a:solidFill>
              </a:rPr>
              <a:t>Parts per million can also be used for weight / weight (w/w) comparisons. </a:t>
            </a:r>
            <a:endParaRPr lang="en-AU" dirty="0">
              <a:solidFill>
                <a:srgbClr val="FF0000"/>
              </a:solidFill>
            </a:endParaRPr>
          </a:p>
          <a:p>
            <a:r>
              <a:rPr lang="en-AU" dirty="0" smtClean="0">
                <a:solidFill>
                  <a:srgbClr val="FF0000"/>
                </a:solidFill>
              </a:rPr>
              <a:t>Volume of a gas sample varies with temperature and pressure, if gas volumes are to be compared, then they must be measured at the same temperature and pressure. </a:t>
            </a:r>
            <a:endParaRPr lang="en-AU" dirty="0">
              <a:solidFill>
                <a:srgbClr val="FF0000"/>
              </a:solidFill>
            </a:endParaRPr>
          </a:p>
        </p:txBody>
      </p:sp>
    </p:spTree>
    <p:extLst>
      <p:ext uri="{BB962C8B-B14F-4D97-AF65-F5344CB8AC3E}">
        <p14:creationId xmlns:p14="http://schemas.microsoft.com/office/powerpoint/2010/main" val="9880079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Gas pressure</a:t>
            </a:r>
            <a:endParaRPr lang="en-AU" dirty="0"/>
          </a:p>
        </p:txBody>
      </p:sp>
      <p:sp>
        <p:nvSpPr>
          <p:cNvPr id="3" name="Content Placeholder 2"/>
          <p:cNvSpPr>
            <a:spLocks noGrp="1"/>
          </p:cNvSpPr>
          <p:nvPr>
            <p:ph idx="1"/>
          </p:nvPr>
        </p:nvSpPr>
        <p:spPr/>
        <p:txBody>
          <a:bodyPr/>
          <a:lstStyle/>
          <a:p>
            <a:r>
              <a:rPr lang="en-AU" dirty="0" smtClean="0"/>
              <a:t>Gases consist of particles in constant motion and the gas particles are a long way apart. When the gas particles collide each other they exert a pressure. </a:t>
            </a:r>
          </a:p>
          <a:p>
            <a:endParaRPr lang="en-AU" dirty="0"/>
          </a:p>
          <a:p>
            <a:r>
              <a:rPr lang="en-AU" dirty="0" smtClean="0"/>
              <a:t>Gas pressure is the measure of the force per unit area. </a:t>
            </a:r>
          </a:p>
          <a:p>
            <a:r>
              <a:rPr lang="en-AU" dirty="0" smtClean="0"/>
              <a:t>The international system of units (SI) unit of gas pressure is the </a:t>
            </a:r>
            <a:r>
              <a:rPr lang="en-AU" dirty="0" err="1" smtClean="0"/>
              <a:t>pascal</a:t>
            </a:r>
            <a:r>
              <a:rPr lang="en-AU" dirty="0" smtClean="0"/>
              <a:t> (Pa) and is equivalent to a force of 1 newton per square metre.</a:t>
            </a:r>
            <a:endParaRPr lang="en-AU" dirty="0"/>
          </a:p>
        </p:txBody>
      </p:sp>
    </p:spTree>
    <p:extLst>
      <p:ext uri="{BB962C8B-B14F-4D97-AF65-F5344CB8AC3E}">
        <p14:creationId xmlns:p14="http://schemas.microsoft.com/office/powerpoint/2010/main" val="2896905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p:cNvPicPr>
            <a:picLocks noGrp="1"/>
          </p:cNvPicPr>
          <p:nvPr>
            <p:ph idx="1"/>
          </p:nvPr>
        </p:nvPicPr>
        <p:blipFill rotWithShape="1">
          <a:blip r:embed="rId2"/>
          <a:srcRect l="28201" t="12871" r="26898" b="31354"/>
          <a:stretch/>
        </p:blipFill>
        <p:spPr bwMode="auto">
          <a:xfrm>
            <a:off x="683568" y="980727"/>
            <a:ext cx="8136904" cy="51891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910731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AU" dirty="0" smtClean="0"/>
              </a:p>
              <a:p>
                <a:r>
                  <a:rPr lang="en-AU" dirty="0" smtClean="0"/>
                  <a:t>The pressure due to atmosphere is called atmospheric pressure. This pressure varies from place to place and time to time. </a:t>
                </a:r>
              </a:p>
              <a:p>
                <a:r>
                  <a:rPr lang="en-AU" dirty="0" smtClean="0"/>
                  <a:t>At sea level, atmospheric pressure is like having a kilogram tub of margarine pushing on every square centimetre of every part of the surface of your body all the time but we don’t usually notice it is even there. </a:t>
                </a:r>
              </a:p>
              <a:p>
                <a:r>
                  <a:rPr lang="en-AU" dirty="0" smtClean="0">
                    <a:solidFill>
                      <a:srgbClr val="FF0000"/>
                    </a:solidFill>
                  </a:rPr>
                  <a:t>The unit of standard atmospheric pressure is </a:t>
                </a:r>
              </a:p>
              <a:p>
                <a:r>
                  <a:rPr lang="en-AU" dirty="0" smtClean="0">
                    <a:solidFill>
                      <a:srgbClr val="FF0000"/>
                    </a:solidFill>
                  </a:rPr>
                  <a:t>1.10325x </a:t>
                </a:r>
                <a14:m>
                  <m:oMath xmlns:m="http://schemas.openxmlformats.org/officeDocument/2006/math">
                    <m:sSup>
                      <m:sSupPr>
                        <m:ctrlPr>
                          <a:rPr lang="en-AU" b="0" i="1" dirty="0" smtClean="0">
                            <a:solidFill>
                              <a:srgbClr val="FF0000"/>
                            </a:solidFill>
                            <a:latin typeface="Cambria Math" panose="02040503050406030204" pitchFamily="18" charset="0"/>
                          </a:rPr>
                        </m:ctrlPr>
                      </m:sSupPr>
                      <m:e>
                        <m:r>
                          <a:rPr lang="en-AU" b="0" i="1" dirty="0" smtClean="0">
                            <a:solidFill>
                              <a:srgbClr val="FF0000"/>
                            </a:solidFill>
                            <a:latin typeface="Cambria Math"/>
                          </a:rPr>
                          <m:t>10</m:t>
                        </m:r>
                      </m:e>
                      <m:sup>
                        <m:r>
                          <a:rPr lang="en-AU" b="0" i="1" dirty="0" smtClean="0">
                            <a:solidFill>
                              <a:srgbClr val="FF0000"/>
                            </a:solidFill>
                            <a:latin typeface="Cambria Math"/>
                          </a:rPr>
                          <m:t>5</m:t>
                        </m:r>
                      </m:sup>
                    </m:sSup>
                    <m:r>
                      <a:rPr lang="en-AU" b="0" i="1" dirty="0" smtClean="0">
                        <a:solidFill>
                          <a:srgbClr val="FF0000"/>
                        </a:solidFill>
                        <a:latin typeface="Cambria Math"/>
                      </a:rPr>
                      <m:t>𝑃𝑎</m:t>
                    </m:r>
                    <m:r>
                      <a:rPr lang="en-AU" b="0" i="1" dirty="0" smtClean="0">
                        <a:solidFill>
                          <a:srgbClr val="FF0000"/>
                        </a:solidFill>
                        <a:latin typeface="Cambria Math"/>
                      </a:rPr>
                      <m:t>  </m:t>
                    </m:r>
                    <m:r>
                      <a:rPr lang="en-AU" b="0" i="1" dirty="0" smtClean="0">
                        <a:solidFill>
                          <a:srgbClr val="FF0000"/>
                        </a:solidFill>
                        <a:latin typeface="Cambria Math"/>
                      </a:rPr>
                      <m:t>𝑎𝑡</m:t>
                    </m:r>
                    <m:r>
                      <a:rPr lang="en-AU" b="0" i="1" dirty="0" smtClean="0">
                        <a:solidFill>
                          <a:srgbClr val="FF0000"/>
                        </a:solidFill>
                        <a:latin typeface="Cambria Math"/>
                      </a:rPr>
                      <m:t> </m:t>
                    </m:r>
                    <m:r>
                      <a:rPr lang="en-AU" b="0" i="1" dirty="0" smtClean="0">
                        <a:solidFill>
                          <a:srgbClr val="FF0000"/>
                        </a:solidFill>
                        <a:latin typeface="Cambria Math"/>
                      </a:rPr>
                      <m:t>𝑠𝑒𝑎</m:t>
                    </m:r>
                    <m:r>
                      <a:rPr lang="en-AU" b="0" i="1" dirty="0" smtClean="0">
                        <a:solidFill>
                          <a:srgbClr val="FF0000"/>
                        </a:solidFill>
                        <a:latin typeface="Cambria Math"/>
                      </a:rPr>
                      <m:t> </m:t>
                    </m:r>
                    <m:r>
                      <a:rPr lang="en-AU" b="0" i="1" dirty="0" smtClean="0">
                        <a:solidFill>
                          <a:srgbClr val="FF0000"/>
                        </a:solidFill>
                        <a:latin typeface="Cambria Math"/>
                      </a:rPr>
                      <m:t>𝑙𝑒𝑣𝑒𝑙</m:t>
                    </m:r>
                    <m:r>
                      <a:rPr lang="en-AU" b="0" i="1" dirty="0" smtClean="0">
                        <a:solidFill>
                          <a:srgbClr val="FF0000"/>
                        </a:solidFill>
                        <a:latin typeface="Cambria Math"/>
                      </a:rPr>
                      <m:t>. </m:t>
                    </m:r>
                  </m:oMath>
                </a14:m>
                <a:endParaRPr lang="en-AU"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r="-519" b="-3194"/>
                </a:stretch>
              </a:blipFill>
            </p:spPr>
            <p:txBody>
              <a:bodyPr/>
              <a:lstStyle/>
              <a:p>
                <a:r>
                  <a:rPr lang="en-AU">
                    <a:noFill/>
                  </a:rPr>
                  <a:t> </a:t>
                </a:r>
              </a:p>
            </p:txBody>
          </p:sp>
        </mc:Fallback>
      </mc:AlternateContent>
      <p:pic>
        <p:nvPicPr>
          <p:cNvPr id="4" name="Picture 3"/>
          <p:cNvPicPr/>
          <p:nvPr/>
        </p:nvPicPr>
        <p:blipFill rotWithShape="1">
          <a:blip r:embed="rId3">
            <a:extLst>
              <a:ext uri="{28A0092B-C50C-407E-A947-70E740481C1C}">
                <a14:useLocalDpi xmlns:a14="http://schemas.microsoft.com/office/drawing/2010/main" val="0"/>
              </a:ext>
            </a:extLst>
          </a:blip>
          <a:srcRect l="28387" t="40924" r="48977" b="30693"/>
          <a:stretch/>
        </p:blipFill>
        <p:spPr bwMode="auto">
          <a:xfrm>
            <a:off x="5436096" y="476672"/>
            <a:ext cx="3168352" cy="187220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629331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Another common unit for pressure is the atmosphere.</a:t>
            </a:r>
          </a:p>
          <a:p>
            <a:endParaRPr lang="en-AU" dirty="0"/>
          </a:p>
          <a:p>
            <a:r>
              <a:rPr lang="en-AU" dirty="0" smtClean="0"/>
              <a:t>1 atmosphere (</a:t>
            </a:r>
            <a:r>
              <a:rPr lang="en-AU" dirty="0" err="1" smtClean="0"/>
              <a:t>atm</a:t>
            </a:r>
            <a:r>
              <a:rPr lang="en-AU" dirty="0" smtClean="0"/>
              <a:t>) = 101.3kPa</a:t>
            </a:r>
          </a:p>
          <a:p>
            <a:r>
              <a:rPr lang="en-AU" dirty="0" smtClean="0"/>
              <a:t>Atmospheric pressure varies with height above sea level, temperature and weather conditions, so it is not always 1.00 atm. Chemists and physicists generally use the units </a:t>
            </a:r>
            <a:r>
              <a:rPr lang="en-AU" dirty="0" err="1" smtClean="0"/>
              <a:t>pascal</a:t>
            </a:r>
            <a:r>
              <a:rPr lang="en-AU" dirty="0" smtClean="0"/>
              <a:t> and atmosphere. </a:t>
            </a:r>
          </a:p>
          <a:p>
            <a:r>
              <a:rPr lang="en-AU" dirty="0">
                <a:hlinkClick r:id="rId2"/>
              </a:rPr>
              <a:t>https://</a:t>
            </a:r>
            <a:r>
              <a:rPr lang="en-AU" dirty="0" smtClean="0">
                <a:hlinkClick r:id="rId2"/>
              </a:rPr>
              <a:t>www.youtube.com/watch?v=4nDkWnilyWM</a:t>
            </a:r>
            <a:endParaRPr lang="en-AU" dirty="0" smtClean="0"/>
          </a:p>
          <a:p>
            <a:endParaRPr lang="en-AU" dirty="0" smtClean="0"/>
          </a:p>
          <a:p>
            <a:endParaRPr lang="en-AU" dirty="0"/>
          </a:p>
        </p:txBody>
      </p:sp>
    </p:spTree>
    <p:extLst>
      <p:ext uri="{BB962C8B-B14F-4D97-AF65-F5344CB8AC3E}">
        <p14:creationId xmlns:p14="http://schemas.microsoft.com/office/powerpoint/2010/main" val="1173523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dirty="0" smtClean="0"/>
          </a:p>
          <a:p>
            <a:endParaRPr lang="en-AU" dirty="0"/>
          </a:p>
          <a:p>
            <a:endParaRPr lang="en-AU" dirty="0" smtClean="0"/>
          </a:p>
          <a:p>
            <a:endParaRPr lang="en-AU" dirty="0"/>
          </a:p>
        </p:txBody>
      </p:sp>
      <p:graphicFrame>
        <p:nvGraphicFramePr>
          <p:cNvPr id="7" name="Table 6"/>
          <p:cNvGraphicFramePr>
            <a:graphicFrameLocks noGrp="1"/>
          </p:cNvGraphicFramePr>
          <p:nvPr>
            <p:extLst>
              <p:ext uri="{D42A27DB-BD31-4B8C-83A1-F6EECF244321}">
                <p14:modId xmlns:p14="http://schemas.microsoft.com/office/powerpoint/2010/main" val="4221655629"/>
              </p:ext>
            </p:extLst>
          </p:nvPr>
        </p:nvGraphicFramePr>
        <p:xfrm>
          <a:off x="251519" y="2204866"/>
          <a:ext cx="8424936" cy="3816423"/>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2808312">
                  <a:extLst>
                    <a:ext uri="{9D8B030D-6E8A-4147-A177-3AD203B41FA5}">
                      <a16:colId xmlns:a16="http://schemas.microsoft.com/office/drawing/2014/main" val="20002"/>
                    </a:ext>
                  </a:extLst>
                </a:gridCol>
              </a:tblGrid>
              <a:tr h="565396">
                <a:tc>
                  <a:txBody>
                    <a:bodyPr/>
                    <a:lstStyle/>
                    <a:p>
                      <a:r>
                        <a:rPr lang="en-AU" dirty="0" smtClean="0"/>
                        <a:t>Name of unit</a:t>
                      </a:r>
                      <a:endParaRPr lang="en-AU" dirty="0"/>
                    </a:p>
                  </a:txBody>
                  <a:tcPr/>
                </a:tc>
                <a:tc>
                  <a:txBody>
                    <a:bodyPr/>
                    <a:lstStyle/>
                    <a:p>
                      <a:r>
                        <a:rPr lang="en-AU" dirty="0" smtClean="0"/>
                        <a:t>Symbol</a:t>
                      </a:r>
                      <a:endParaRPr lang="en-AU" dirty="0"/>
                    </a:p>
                  </a:txBody>
                  <a:tcPr/>
                </a:tc>
                <a:tc>
                  <a:txBody>
                    <a:bodyPr/>
                    <a:lstStyle/>
                    <a:p>
                      <a:r>
                        <a:rPr lang="en-AU" dirty="0" smtClean="0"/>
                        <a:t>Comparison</a:t>
                      </a:r>
                      <a:endParaRPr lang="en-AU" dirty="0"/>
                    </a:p>
                  </a:txBody>
                  <a:tcPr/>
                </a:tc>
                <a:extLst>
                  <a:ext uri="{0D108BD9-81ED-4DB2-BD59-A6C34878D82A}">
                    <a16:rowId xmlns:a16="http://schemas.microsoft.com/office/drawing/2014/main" val="10000"/>
                  </a:ext>
                </a:extLst>
              </a:tr>
              <a:tr h="989443">
                <a:tc>
                  <a:txBody>
                    <a:bodyPr/>
                    <a:lstStyle/>
                    <a:p>
                      <a:r>
                        <a:rPr lang="en-AU" dirty="0" smtClean="0"/>
                        <a:t>Pascal</a:t>
                      </a:r>
                      <a:endParaRPr lang="en-AU" dirty="0"/>
                    </a:p>
                  </a:txBody>
                  <a:tcPr/>
                </a:tc>
                <a:tc>
                  <a:txBody>
                    <a:bodyPr/>
                    <a:lstStyle/>
                    <a:p>
                      <a:r>
                        <a:rPr lang="en-AU" dirty="0" smtClean="0"/>
                        <a:t>Pa</a:t>
                      </a:r>
                      <a:endParaRPr lang="en-AU" dirty="0"/>
                    </a:p>
                  </a:txBody>
                  <a:tcPr/>
                </a:tc>
                <a:tc>
                  <a:txBody>
                    <a:bodyPr/>
                    <a:lstStyle/>
                    <a:p>
                      <a:r>
                        <a:rPr lang="en-AU" dirty="0" smtClean="0"/>
                        <a:t>Standard unit, 1 newton per square</a:t>
                      </a:r>
                      <a:r>
                        <a:rPr lang="en-AU" baseline="0" dirty="0" smtClean="0"/>
                        <a:t> metre</a:t>
                      </a:r>
                      <a:endParaRPr lang="en-AU" dirty="0"/>
                    </a:p>
                  </a:txBody>
                  <a:tcPr/>
                </a:tc>
                <a:extLst>
                  <a:ext uri="{0D108BD9-81ED-4DB2-BD59-A6C34878D82A}">
                    <a16:rowId xmlns:a16="http://schemas.microsoft.com/office/drawing/2014/main" val="10001"/>
                  </a:ext>
                </a:extLst>
              </a:tr>
              <a:tr h="565396">
                <a:tc>
                  <a:txBody>
                    <a:bodyPr/>
                    <a:lstStyle/>
                    <a:p>
                      <a:r>
                        <a:rPr lang="en-AU" dirty="0" smtClean="0"/>
                        <a:t>Kilopascal</a:t>
                      </a:r>
                      <a:endParaRPr lang="en-AU" dirty="0"/>
                    </a:p>
                  </a:txBody>
                  <a:tcPr/>
                </a:tc>
                <a:tc>
                  <a:txBody>
                    <a:bodyPr/>
                    <a:lstStyle/>
                    <a:p>
                      <a:r>
                        <a:rPr lang="en-AU" dirty="0" err="1" smtClean="0"/>
                        <a:t>kPa</a:t>
                      </a:r>
                      <a:endParaRPr lang="en-AU" dirty="0"/>
                    </a:p>
                  </a:txBody>
                  <a:tcPr/>
                </a:tc>
                <a:tc>
                  <a:txBody>
                    <a:bodyPr/>
                    <a:lstStyle/>
                    <a:p>
                      <a:r>
                        <a:rPr lang="en-AU" dirty="0" smtClean="0"/>
                        <a:t>1000Pa</a:t>
                      </a:r>
                      <a:endParaRPr lang="en-AU" dirty="0"/>
                    </a:p>
                  </a:txBody>
                  <a:tcPr/>
                </a:tc>
                <a:extLst>
                  <a:ext uri="{0D108BD9-81ED-4DB2-BD59-A6C34878D82A}">
                    <a16:rowId xmlns:a16="http://schemas.microsoft.com/office/drawing/2014/main" val="10002"/>
                  </a:ext>
                </a:extLst>
              </a:tr>
              <a:tr h="565396">
                <a:tc>
                  <a:txBody>
                    <a:bodyPr/>
                    <a:lstStyle/>
                    <a:p>
                      <a:r>
                        <a:rPr lang="en-AU" dirty="0" smtClean="0"/>
                        <a:t>Atmosphere</a:t>
                      </a:r>
                      <a:endParaRPr lang="en-AU" dirty="0"/>
                    </a:p>
                  </a:txBody>
                  <a:tcPr/>
                </a:tc>
                <a:tc>
                  <a:txBody>
                    <a:bodyPr/>
                    <a:lstStyle/>
                    <a:p>
                      <a:r>
                        <a:rPr lang="en-AU" dirty="0" err="1" smtClean="0"/>
                        <a:t>atm</a:t>
                      </a:r>
                      <a:endParaRPr lang="en-AU" dirty="0"/>
                    </a:p>
                  </a:txBody>
                  <a:tcPr/>
                </a:tc>
                <a:tc>
                  <a:txBody>
                    <a:bodyPr/>
                    <a:lstStyle/>
                    <a:p>
                      <a:r>
                        <a:rPr lang="en-AU" dirty="0" smtClean="0"/>
                        <a:t>101.3 </a:t>
                      </a:r>
                      <a:r>
                        <a:rPr lang="en-AU" dirty="0" err="1" smtClean="0"/>
                        <a:t>kPa</a:t>
                      </a:r>
                      <a:endParaRPr lang="en-AU" dirty="0"/>
                    </a:p>
                  </a:txBody>
                  <a:tcPr/>
                </a:tc>
                <a:extLst>
                  <a:ext uri="{0D108BD9-81ED-4DB2-BD59-A6C34878D82A}">
                    <a16:rowId xmlns:a16="http://schemas.microsoft.com/office/drawing/2014/main" val="10003"/>
                  </a:ext>
                </a:extLst>
              </a:tr>
              <a:tr h="565396">
                <a:tc>
                  <a:txBody>
                    <a:bodyPr/>
                    <a:lstStyle/>
                    <a:p>
                      <a:r>
                        <a:rPr lang="en-AU" dirty="0" err="1" smtClean="0"/>
                        <a:t>Hectopascal</a:t>
                      </a:r>
                      <a:endParaRPr lang="en-AU" dirty="0"/>
                    </a:p>
                  </a:txBody>
                  <a:tcPr/>
                </a:tc>
                <a:tc>
                  <a:txBody>
                    <a:bodyPr/>
                    <a:lstStyle/>
                    <a:p>
                      <a:r>
                        <a:rPr lang="en-AU" dirty="0" err="1" smtClean="0"/>
                        <a:t>hPa</a:t>
                      </a:r>
                      <a:endParaRPr lang="en-AU" dirty="0"/>
                    </a:p>
                  </a:txBody>
                  <a:tcPr/>
                </a:tc>
                <a:tc>
                  <a:txBody>
                    <a:bodyPr/>
                    <a:lstStyle/>
                    <a:p>
                      <a:r>
                        <a:rPr lang="en-AU" dirty="0" smtClean="0"/>
                        <a:t>100Pa</a:t>
                      </a:r>
                      <a:endParaRPr lang="en-AU" dirty="0"/>
                    </a:p>
                  </a:txBody>
                  <a:tcPr/>
                </a:tc>
                <a:extLst>
                  <a:ext uri="{0D108BD9-81ED-4DB2-BD59-A6C34878D82A}">
                    <a16:rowId xmlns:a16="http://schemas.microsoft.com/office/drawing/2014/main" val="10004"/>
                  </a:ext>
                </a:extLst>
              </a:tr>
              <a:tr h="565396">
                <a:tc>
                  <a:txBody>
                    <a:bodyPr/>
                    <a:lstStyle/>
                    <a:p>
                      <a:r>
                        <a:rPr lang="en-AU" dirty="0" smtClean="0"/>
                        <a:t>Millimetres of mercury</a:t>
                      </a:r>
                      <a:endParaRPr lang="en-AU" dirty="0"/>
                    </a:p>
                  </a:txBody>
                  <a:tcPr/>
                </a:tc>
                <a:tc>
                  <a:txBody>
                    <a:bodyPr/>
                    <a:lstStyle/>
                    <a:p>
                      <a:r>
                        <a:rPr lang="en-AU" dirty="0" smtClean="0"/>
                        <a:t>mmHg</a:t>
                      </a:r>
                      <a:endParaRPr lang="en-AU" dirty="0"/>
                    </a:p>
                  </a:txBody>
                  <a:tcPr/>
                </a:tc>
                <a:tc>
                  <a:txBody>
                    <a:bodyPr/>
                    <a:lstStyle/>
                    <a:p>
                      <a:r>
                        <a:rPr lang="en-AU" dirty="0" smtClean="0"/>
                        <a:t>760mm Hg = 1 </a:t>
                      </a:r>
                      <a:r>
                        <a:rPr lang="en-AU" dirty="0" err="1" smtClean="0"/>
                        <a:t>atm</a:t>
                      </a:r>
                      <a:endParaRPr lang="en-AU"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525111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6" name="Picture 5"/>
          <p:cNvPicPr/>
          <p:nvPr/>
        </p:nvPicPr>
        <p:blipFill rotWithShape="1">
          <a:blip r:embed="rId2"/>
          <a:srcRect l="29501" t="19802" r="26527" b="37624"/>
          <a:stretch/>
        </p:blipFill>
        <p:spPr bwMode="auto">
          <a:xfrm>
            <a:off x="1259632" y="620688"/>
            <a:ext cx="6768752" cy="55446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695679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291</TotalTime>
  <Words>423</Words>
  <Application>Microsoft Office PowerPoint</Application>
  <PresentationFormat>On-screen Show (4:3)</PresentationFormat>
  <Paragraphs>46</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Cambria Math</vt:lpstr>
      <vt:lpstr>Constantia</vt:lpstr>
      <vt:lpstr>Wingdings 2</vt:lpstr>
      <vt:lpstr>Flow</vt:lpstr>
      <vt:lpstr>Term 3 Week 7: Lesson 1</vt:lpstr>
      <vt:lpstr>PowerPoint Presentation</vt:lpstr>
      <vt:lpstr>PowerPoint Presentation</vt:lpstr>
      <vt:lpstr>Gas pressure</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8.1</dc:title>
  <dc:creator>Jijy D'cruz</dc:creator>
  <cp:lastModifiedBy>D'CRUZ Jijy [Safety Bay Senior High School]</cp:lastModifiedBy>
  <cp:revision>25</cp:revision>
  <dcterms:created xsi:type="dcterms:W3CDTF">2015-09-17T09:25:06Z</dcterms:created>
  <dcterms:modified xsi:type="dcterms:W3CDTF">2019-09-02T13:20:30Z</dcterms:modified>
</cp:coreProperties>
</file>
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Term 3 week 3 Lesson 1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Aqueous solutions of ionic compounds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36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AU" i="1" dirty="0">
                    <a:solidFill>
                      <a:srgbClr val="FF0000"/>
                    </a:solidFill>
                  </a:rPr>
                  <a:t>T</a:t>
                </a:r>
                <a:r>
                  <a:rPr lang="en-AU" i="1" dirty="0" smtClean="0">
                    <a:solidFill>
                      <a:srgbClr val="FF0000"/>
                    </a:solidFill>
                  </a:rPr>
                  <a:t>he </a:t>
                </a:r>
                <a:r>
                  <a:rPr lang="en-AU" i="1" dirty="0">
                    <a:solidFill>
                      <a:srgbClr val="FF0000"/>
                    </a:solidFill>
                  </a:rPr>
                  <a:t>presence of specific ions in solutions can be identified by observing the colour of the solution, flame tests and observing various chemical reactions, including precipitation and acid-base </a:t>
                </a:r>
                <a:r>
                  <a:rPr lang="en-AU" i="1" dirty="0" smtClean="0">
                    <a:solidFill>
                      <a:srgbClr val="FF0000"/>
                    </a:solidFill>
                  </a:rPr>
                  <a:t>reactions.</a:t>
                </a:r>
                <a:endParaRPr lang="en-AU" i="1" dirty="0">
                  <a:solidFill>
                    <a:srgbClr val="FF0000"/>
                  </a:solidFill>
                </a:endParaRPr>
              </a:p>
              <a:p>
                <a:endParaRPr lang="en-AU" sz="2000" dirty="0" smtClean="0"/>
              </a:p>
              <a:p>
                <a:r>
                  <a:rPr lang="en-AU" sz="2000" smtClean="0"/>
                  <a:t>Solutions </a:t>
                </a:r>
                <a:r>
                  <a:rPr lang="en-AU" sz="2000" dirty="0" smtClean="0"/>
                  <a:t>of substances dissolved in water are called aqueous solutions. The term ‘aqueous’ comes from the Latin </a:t>
                </a:r>
                <a:r>
                  <a:rPr lang="en-AU" sz="2000" i="1" dirty="0" smtClean="0"/>
                  <a:t>aqua</a:t>
                </a:r>
                <a:r>
                  <a:rPr lang="en-AU" sz="2000" dirty="0" smtClean="0"/>
                  <a:t>, meaning water. </a:t>
                </a:r>
              </a:p>
              <a:p>
                <a:endParaRPr lang="en-AU" sz="2000" dirty="0"/>
              </a:p>
              <a:p>
                <a:r>
                  <a:rPr lang="en-AU" sz="2000" dirty="0" smtClean="0"/>
                  <a:t>When ionic substances dissolve in water, they dissociate. They separate into their ions, which are able to move freely and independently of each other through the solution. </a:t>
                </a:r>
              </a:p>
              <a:p>
                <a:r>
                  <a:rPr lang="en-AU" dirty="0" smtClean="0"/>
                  <a:t>               </a:t>
                </a:r>
                <a:r>
                  <a:rPr lang="en-AU" sz="1800" dirty="0" err="1" smtClean="0"/>
                  <a:t>aq</a:t>
                </a:r>
                <a:endParaRPr lang="en-AU" sz="1800" dirty="0"/>
              </a:p>
              <a:p>
                <a:r>
                  <a:rPr lang="en-AU" dirty="0" err="1" smtClean="0"/>
                  <a:t>NaCl</a:t>
                </a:r>
                <a:r>
                  <a:rPr lang="en-AU" dirty="0" smtClean="0"/>
                  <a:t>(s) </a:t>
                </a:r>
                <a:r>
                  <a:rPr lang="en-AU" dirty="0" smtClean="0">
                    <a:sym typeface="Wingdings 3"/>
                  </a:rPr>
                  <a:t>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sym typeface="Wingdings 3"/>
                      </a:rPr>
                      <m:t>𝑁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𝑎𝑞</m:t>
                        </m:r>
                      </m:e>
                    </m:d>
                    <m:r>
                      <a:rPr lang="en-AU" b="0" i="1" smtClean="0">
                        <a:latin typeface="Cambria Math"/>
                        <a:sym typeface="Wingdings 3"/>
                      </a:rPr>
                      <m:t>+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𝐶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𝑙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−</m:t>
                        </m:r>
                      </m:sup>
                    </m:sSup>
                    <m:r>
                      <a:rPr lang="en-AU" b="0" i="1" smtClean="0">
                        <a:latin typeface="Cambria Math"/>
                        <a:sym typeface="Wingdings 3"/>
                      </a:rPr>
                      <m:t>(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𝑎𝑞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44" b="-4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79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AU" dirty="0" smtClean="0"/>
                  <a:t>Not all ionic compounds dissolve in water to the same extent.</a:t>
                </a:r>
              </a:p>
              <a:p>
                <a:endParaRPr lang="en-AU" dirty="0"/>
              </a:p>
              <a:p>
                <a:r>
                  <a:rPr lang="en-AU" dirty="0" smtClean="0"/>
                  <a:t>The solubility of a substance is the degree to which it dissolves and is temperature dependent. </a:t>
                </a:r>
              </a:p>
              <a:p>
                <a:r>
                  <a:rPr lang="en-AU" dirty="0" smtClean="0"/>
                  <a:t>The solubility of a solute is the maximum in grams that can dissolve in 100g of the solvent at given temperature. </a:t>
                </a:r>
              </a:p>
              <a:p>
                <a:endParaRPr lang="en-AU" dirty="0"/>
              </a:p>
              <a:p>
                <a:r>
                  <a:rPr lang="en-AU" dirty="0" smtClean="0"/>
                  <a:t>Standard temperature for measuring solubility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25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𝐶</m:t>
                    </m:r>
                    <m:r>
                      <a:rPr lang="en-AU" b="0" i="1" smtClean="0">
                        <a:latin typeface="Cambria Math"/>
                      </a:rPr>
                      <m:t>.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0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1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AU" sz="2800" dirty="0" smtClean="0"/>
                  <a:t>Chemists use terms like ‘soluble, insoluble and sparingly soluble’  to categorise the solubility of different compounds. ‘soluble’ means a compound dissolves to more than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10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/>
                          </a:rPr>
                          <m:t> 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𝑜𝑟</m:t>
                        </m:r>
                        <m:f>
                          <m:fPr>
                            <m:ctrlP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AU" sz="2800" b="0" i="1" smtClean="0">
                                <a:latin typeface="Cambria Math"/>
                              </a:rPr>
                              <m:t>𝑔</m:t>
                            </m:r>
                          </m:num>
                          <m:den>
                            <m:r>
                              <a:rPr lang="en-AU" sz="2800" b="0" i="1" smtClean="0">
                                <a:latin typeface="Cambria Math"/>
                              </a:rPr>
                              <m:t>100</m:t>
                            </m:r>
                            <m:r>
                              <a:rPr lang="en-AU" sz="2800" b="0" i="1" smtClean="0">
                                <a:latin typeface="Cambria Math"/>
                              </a:rPr>
                              <m:t>𝑚𝐿</m:t>
                            </m:r>
                          </m:den>
                        </m:f>
                      </m:e>
                    </m:d>
                    <m:r>
                      <a:rPr lang="en-AU" sz="2800" b="0" i="1" smtClean="0">
                        <a:latin typeface="Cambria Math"/>
                      </a:rPr>
                      <m:t>,</m:t>
                    </m:r>
                    <m:sPre>
                      <m:sPre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  <m:e>
                        <m:r>
                          <a:rPr lang="en-AU" sz="2800" b="0" i="1" smtClean="0">
                            <a:latin typeface="Cambria Math"/>
                          </a:rPr>
                          <m:t>𝑖</m:t>
                        </m:r>
                      </m:e>
                    </m:sPre>
                    <m:r>
                      <a:rPr lang="en-AU" sz="2800" b="0" i="1" smtClean="0">
                        <a:latin typeface="Cambria Math"/>
                      </a:rPr>
                      <m:t>𝑛𝑠𝑜𝑙𝑢𝑏𝑙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𝑚𝑒𝑎𝑛𝑠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𝑡h𝑎𝑡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𝑖𝑡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AU" sz="28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𝑑𝑖𝑠𝑠𝑜𝑙𝑣𝑒𝑠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𝑡𝑜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𝑙𝑒𝑠𝑠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𝑡h𝑎𝑛</m:t>
                    </m:r>
                    <m:r>
                      <a:rPr lang="en-AU" sz="2800" b="0" i="1" smtClean="0">
                        <a:latin typeface="Cambria Math"/>
                      </a:rPr>
                      <m:t> 1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𝑎𝑛𝑑</m:t>
                    </m:r>
                    <m:sPre>
                      <m:sPre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  <m:e>
                        <m:r>
                          <a:rPr lang="en-AU" sz="2800" b="0" i="1" smtClean="0">
                            <a:latin typeface="Cambria Math"/>
                          </a:rPr>
                          <m:t>𝑠</m:t>
                        </m:r>
                      </m:e>
                    </m:sPre>
                    <m:r>
                      <a:rPr lang="en-AU" sz="2800" b="0" i="1" smtClean="0">
                        <a:latin typeface="Cambria Math"/>
                      </a:rPr>
                      <m:t>𝑝𝑎𝑟𝑖𝑛𝑔𝑙𝑦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AU" sz="28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𝑠𝑜𝑙𝑢𝑏𝑙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sz="2800" dirty="0" smtClean="0"/>
                  <a:t>means that it dissolves between the range </a:t>
                </a: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−1 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𝑡𝑜</m:t>
                    </m:r>
                    <m:r>
                      <a:rPr lang="en-AU" sz="2800" b="0" i="1" smtClean="0">
                        <a:latin typeface="Cambria Math"/>
                      </a:rPr>
                      <m:t> 10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r>
                      <a:rPr lang="en-AU" sz="2800" b="0" i="1" smtClean="0">
                        <a:latin typeface="Cambria Math"/>
                      </a:rPr>
                      <m:t>/</m:t>
                    </m:r>
                    <m:r>
                      <a:rPr lang="en-AU" sz="2800" b="0" i="1" smtClean="0">
                        <a:latin typeface="Cambria Math"/>
                      </a:rPr>
                      <m:t>𝐿</m:t>
                    </m:r>
                    <m:r>
                      <a:rPr lang="en-AU" sz="2800" b="0" i="1" smtClean="0">
                        <a:latin typeface="Cambria Math"/>
                      </a:rPr>
                      <m:t>.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1250" r="-1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42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Precipitation reactions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dirty="0" smtClean="0"/>
                  <a:t>When solutions of ionic compounds are mixed together, they sometimes react to produce a solid precipitate. This type of reaction is called as precipitation reaction. 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E.g.When</a:t>
                </a:r>
                <a:r>
                  <a:rPr lang="en-AU" dirty="0" smtClean="0"/>
                  <a:t> </a:t>
                </a:r>
                <a:r>
                  <a:rPr lang="en-AU" dirty="0" err="1" smtClean="0"/>
                  <a:t>NaCl</a:t>
                </a:r>
                <a:r>
                  <a:rPr lang="en-AU" dirty="0" smtClean="0"/>
                  <a:t> solution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𝐴𝑔𝑁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𝑠𝑜𝑙𝑢𝑡𝑖𝑜𝑛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𝑎𝑟𝑒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𝑚𝑖𝑥𝑒𝑑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𝑡𝑜𝑔𝑒𝑡h𝑒𝑟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 white solid of silver chloride will be formed. The solution of sodium ions and chloride ions is mixed with solution of silver ions and nitrate ions the result is a solution containing all the ions moving randomly throughout. Each of the ions is surrounded by water molecules. 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111" r="-741" b="-1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26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silver and chloride ions are more strongly attracted to each other than they are to the water , they can cluster together in groups to form a solid. This will be precipitated out. 		</a:t>
            </a:r>
            <a:endParaRPr lang="en-AU" dirty="0"/>
          </a:p>
        </p:txBody>
      </p:sp>
      <p:pic>
        <p:nvPicPr>
          <p:cNvPr id="4" name="Picture 3" descr="http://chem.wisc.edu/deptfiles/genchem/sstutorial/Text11/Tx116/AgC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717032"/>
            <a:ext cx="1608192" cy="20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://chem.wisc.edu/deptfiles/genchem/sstutorial/Text11/Tx116/tx116p1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68" y="4077072"/>
            <a:ext cx="3428245" cy="211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69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Look at the ionic equation in page: 305 NC </a:t>
            </a:r>
          </a:p>
          <a:p>
            <a:endParaRPr lang="en-AU" dirty="0"/>
          </a:p>
          <a:p>
            <a:r>
              <a:rPr lang="en-AU" b="1" u="sng" dirty="0" smtClean="0"/>
              <a:t>Predicting precipitation</a:t>
            </a:r>
          </a:p>
          <a:p>
            <a:r>
              <a:rPr lang="en-AU" dirty="0" smtClean="0"/>
              <a:t>When mixing solution which contains known </a:t>
            </a:r>
            <a:r>
              <a:rPr lang="en-AU" dirty="0" err="1" smtClean="0"/>
              <a:t>cations</a:t>
            </a:r>
            <a:r>
              <a:rPr lang="en-AU" dirty="0" smtClean="0"/>
              <a:t> and anions chemists have experimentally which compounds are soluble and which form a precipitate. Sometimes when precipitate forms it does not settle to the bottom but forms suspension and the mixture look </a:t>
            </a:r>
          </a:p>
          <a:p>
            <a:r>
              <a:rPr lang="en-AU" dirty="0" smtClean="0"/>
              <a:t>cloudy.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571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Applying solubility 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Precipitation reactions are useful for finding out a particular </a:t>
            </a:r>
            <a:r>
              <a:rPr lang="en-AU" dirty="0" err="1" smtClean="0"/>
              <a:t>cation</a:t>
            </a:r>
            <a:r>
              <a:rPr lang="en-AU" dirty="0" smtClean="0"/>
              <a:t> or anion is present. E.g. Chemists use precipitation reactions to test lead or cadmium in water supplies.  Precipitation reaction can also be used to remove unwanted substances from water. </a:t>
            </a:r>
          </a:p>
          <a:p>
            <a:r>
              <a:rPr lang="en-AU" b="1" u="sng" dirty="0" smtClean="0">
                <a:solidFill>
                  <a:srgbClr val="FF0000"/>
                </a:solidFill>
              </a:rPr>
              <a:t>Homework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Complete Q’s 1, 2,5, 7 and 9 from page: 140 -141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0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208</TotalTime>
  <Words>381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Cambria Math</vt:lpstr>
      <vt:lpstr>Constantia</vt:lpstr>
      <vt:lpstr>Wingdings 2</vt:lpstr>
      <vt:lpstr>Wingdings 3</vt:lpstr>
      <vt:lpstr>Flow</vt:lpstr>
      <vt:lpstr>Term 3 week 3 Lesson 1</vt:lpstr>
      <vt:lpstr>PowerPoint Presentation</vt:lpstr>
      <vt:lpstr>PowerPoint Presentation</vt:lpstr>
      <vt:lpstr>PowerPoint Presentation</vt:lpstr>
      <vt:lpstr>Precipitation reactions</vt:lpstr>
      <vt:lpstr>PowerPoint Presentation</vt:lpstr>
      <vt:lpstr>PowerPoint Presentation</vt:lpstr>
      <vt:lpstr>Applying solubility data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7.1</dc:title>
  <dc:creator>Jijy D'cruz</dc:creator>
  <cp:lastModifiedBy>D'CRUZ Jijy [Safety Bay Senior High School]</cp:lastModifiedBy>
  <cp:revision>20</cp:revision>
  <dcterms:created xsi:type="dcterms:W3CDTF">2015-08-17T13:58:58Z</dcterms:created>
  <dcterms:modified xsi:type="dcterms:W3CDTF">2019-08-07T12:59:57Z</dcterms:modified>
</cp:coreProperties>
</file>
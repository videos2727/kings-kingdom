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sldIdLst>
    <p:sldId id="256" r:id="rId2"/>
    <p:sldId id="257" r:id="rId3"/>
    <p:sldId id="258" r:id="rId4"/>
    <p:sldId id="259" r:id="rId5"/>
    <p:sldId id="266" r:id="rId6"/>
    <p:sldId id="267" r:id="rId7"/>
    <p:sldId id="268" r:id="rId8"/>
    <p:sldId id="269" r:id="rId9"/>
    <p:sldId id="270"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2988427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2948548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4011921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340AEA-955C-4EEF-BF2A-37519E90A7BA}" type="datetimeFigureOut">
              <a:rPr lang="en-AU" smtClean="0"/>
              <a:t>16/07/2019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2154081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340AEA-955C-4EEF-BF2A-37519E90A7BA}" type="datetimeFigureOut">
              <a:rPr lang="en-AU" smtClean="0"/>
              <a:t>16/07/2019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3676050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2340AEA-955C-4EEF-BF2A-37519E90A7BA}" type="datetimeFigureOut">
              <a:rPr lang="en-AU" smtClean="0"/>
              <a:t>16/07/2019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971536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340AEA-955C-4EEF-BF2A-37519E90A7BA}" type="datetimeFigureOut">
              <a:rPr lang="en-AU" smtClean="0"/>
              <a:t>16/07/2019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3772845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2340AEA-955C-4EEF-BF2A-37519E90A7BA}" type="datetimeFigureOut">
              <a:rPr lang="en-AU" smtClean="0"/>
              <a:t>16/07/2019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1061821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340AEA-955C-4EEF-BF2A-37519E90A7BA}" type="datetimeFigureOut">
              <a:rPr lang="en-AU" smtClean="0"/>
              <a:t>16/07/2019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4062867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292585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91899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1860299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60863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16156702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2757308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340AEA-955C-4EEF-BF2A-37519E90A7BA}" type="datetimeFigureOut">
              <a:rPr lang="en-AU" smtClean="0"/>
              <a:t>16/07/2019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B6AA35C-40D0-4165-A940-2E79AD89049B}" type="slidenum">
              <a:rPr lang="en-AU" smtClean="0"/>
              <a:t>‹#›</a:t>
            </a:fld>
            <a:endParaRPr lang="en-AU"/>
          </a:p>
        </p:txBody>
      </p:sp>
    </p:spTree>
    <p:extLst>
      <p:ext uri="{BB962C8B-B14F-4D97-AF65-F5344CB8AC3E}">
        <p14:creationId xmlns:p14="http://schemas.microsoft.com/office/powerpoint/2010/main" val="4106313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2340AEA-955C-4EEF-BF2A-37519E90A7BA}" type="datetimeFigureOut">
              <a:rPr lang="en-AU" smtClean="0"/>
              <a:t>16/07/2019</a:t>
            </a:fld>
            <a:endParaRPr lang="en-AU"/>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FB6AA35C-40D0-4165-A940-2E79AD89049B}" type="slidenum">
              <a:rPr lang="en-AU" smtClean="0"/>
              <a:t>‹#›</a:t>
            </a:fld>
            <a:endParaRPr lang="en-AU"/>
          </a:p>
        </p:txBody>
      </p:sp>
    </p:spTree>
    <p:extLst>
      <p:ext uri="{BB962C8B-B14F-4D97-AF65-F5344CB8AC3E}">
        <p14:creationId xmlns:p14="http://schemas.microsoft.com/office/powerpoint/2010/main" val="215117645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909" r:id="rId12"/>
    <p:sldLayoutId id="2147483910" r:id="rId13"/>
    <p:sldLayoutId id="2147483911" r:id="rId14"/>
    <p:sldLayoutId id="2147483912" r:id="rId15"/>
    <p:sldLayoutId id="214748391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sz="3600" dirty="0"/>
              <a:t>Measuring solubility</a:t>
            </a:r>
            <a:br>
              <a:rPr lang="en-AU" sz="3600" dirty="0"/>
            </a:br>
            <a:endParaRPr lang="en-AU" sz="3600" dirty="0"/>
          </a:p>
        </p:txBody>
      </p:sp>
      <p:sp>
        <p:nvSpPr>
          <p:cNvPr id="3" name="Subtitle 2"/>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30604628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The temperature affects the amount of a substance that dissolves in a solvent. </a:t>
            </a:r>
          </a:p>
          <a:p>
            <a:r>
              <a:rPr lang="en-AU" dirty="0" smtClean="0"/>
              <a:t>The </a:t>
            </a:r>
            <a:r>
              <a:rPr lang="en-AU" b="1" dirty="0" smtClean="0">
                <a:solidFill>
                  <a:srgbClr val="FF0000"/>
                </a:solidFill>
              </a:rPr>
              <a:t>solubility </a:t>
            </a:r>
            <a:r>
              <a:rPr lang="en-AU" dirty="0" smtClean="0"/>
              <a:t>of a solute is the maximum amount in grams that can dissolve in 100g of the solvent at a given temperature. </a:t>
            </a:r>
          </a:p>
          <a:p>
            <a:r>
              <a:rPr lang="en-AU" dirty="0" smtClean="0"/>
              <a:t>The solution in which no more solute can be dissolved in a solvent at a particular temperature is known as a </a:t>
            </a:r>
            <a:r>
              <a:rPr lang="en-AU" b="1" dirty="0" smtClean="0">
                <a:solidFill>
                  <a:srgbClr val="FF0000"/>
                </a:solidFill>
              </a:rPr>
              <a:t>saturated solution. </a:t>
            </a:r>
            <a:r>
              <a:rPr lang="en-AU" dirty="0" smtClean="0"/>
              <a:t>Before this point it is known as an </a:t>
            </a:r>
            <a:r>
              <a:rPr lang="en-AU" b="1" dirty="0" smtClean="0">
                <a:solidFill>
                  <a:srgbClr val="FF0000"/>
                </a:solidFill>
              </a:rPr>
              <a:t>unsaturated solution.</a:t>
            </a:r>
            <a:r>
              <a:rPr lang="en-AU" dirty="0" smtClean="0">
                <a:solidFill>
                  <a:srgbClr val="FF0000"/>
                </a:solidFill>
              </a:rPr>
              <a:t> </a:t>
            </a:r>
            <a:endParaRPr lang="en-AU" dirty="0">
              <a:solidFill>
                <a:srgbClr val="FF0000"/>
              </a:solidFill>
            </a:endParaRPr>
          </a:p>
        </p:txBody>
      </p:sp>
    </p:spTree>
    <p:extLst>
      <p:ext uri="{BB962C8B-B14F-4D97-AF65-F5344CB8AC3E}">
        <p14:creationId xmlns:p14="http://schemas.microsoft.com/office/powerpoint/2010/main" val="10659032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If the solvent water is heated, then more solute can be dissolved. If the heated solution is allowed to cool, crystals will start to precipitate again. The temperature at which this happens is the temperature at which the solution is saturated. </a:t>
            </a:r>
          </a:p>
          <a:p>
            <a:r>
              <a:rPr lang="en-AU" b="1" dirty="0" smtClean="0">
                <a:solidFill>
                  <a:srgbClr val="FF0000"/>
                </a:solidFill>
              </a:rPr>
              <a:t>Supersaturated solution</a:t>
            </a:r>
          </a:p>
          <a:p>
            <a:r>
              <a:rPr lang="en-AU" dirty="0" smtClean="0"/>
              <a:t>A solution can become supersaturated when there is more solute dissolved than in a saturated solution at the same temperature. </a:t>
            </a:r>
            <a:endParaRPr lang="en-AU" dirty="0"/>
          </a:p>
        </p:txBody>
      </p:sp>
    </p:spTree>
    <p:extLst>
      <p:ext uri="{BB962C8B-B14F-4D97-AF65-F5344CB8AC3E}">
        <p14:creationId xmlns:p14="http://schemas.microsoft.com/office/powerpoint/2010/main" val="1279713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Toffee is a supersaturated solution of sugar. To stop the toffee crystallising, a mixture of sugars or the addition of some fats can be used to stabilise the solution. </a:t>
            </a:r>
            <a:endParaRPr lang="en-AU" dirty="0"/>
          </a:p>
        </p:txBody>
      </p:sp>
    </p:spTree>
    <p:extLst>
      <p:ext uri="{BB962C8B-B14F-4D97-AF65-F5344CB8AC3E}">
        <p14:creationId xmlns:p14="http://schemas.microsoft.com/office/powerpoint/2010/main" val="29316403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lnSpcReduction="10000"/>
          </a:bodyPr>
          <a:lstStyle/>
          <a:p>
            <a:r>
              <a:rPr lang="en-AU" dirty="0" smtClean="0"/>
              <a:t>Aqueous solutes that produce ions when dissolved in water are classified as electrolytes as follows:</a:t>
            </a:r>
          </a:p>
          <a:p>
            <a:r>
              <a:rPr lang="en-AU" dirty="0" smtClean="0">
                <a:solidFill>
                  <a:srgbClr val="FF0000"/>
                </a:solidFill>
              </a:rPr>
              <a:t>Strong electrolytes: </a:t>
            </a:r>
            <a:r>
              <a:rPr lang="en-AU" dirty="0">
                <a:solidFill>
                  <a:srgbClr val="FF0000"/>
                </a:solidFill>
              </a:rPr>
              <a:t>W</a:t>
            </a:r>
            <a:r>
              <a:rPr lang="en-AU" dirty="0" smtClean="0">
                <a:solidFill>
                  <a:srgbClr val="FF0000"/>
                </a:solidFill>
              </a:rPr>
              <a:t>hen these dissolve in water they are entirely present ( or at least mostly) as independent mobile ions.</a:t>
            </a:r>
          </a:p>
          <a:p>
            <a:r>
              <a:rPr lang="en-AU" dirty="0" smtClean="0">
                <a:solidFill>
                  <a:srgbClr val="FF0000"/>
                </a:solidFill>
              </a:rPr>
              <a:t>E.g. </a:t>
            </a:r>
            <a:r>
              <a:rPr lang="en-AU" dirty="0" err="1" smtClean="0">
                <a:solidFill>
                  <a:srgbClr val="FF0000"/>
                </a:solidFill>
              </a:rPr>
              <a:t>NaCl</a:t>
            </a:r>
            <a:r>
              <a:rPr lang="en-AU" dirty="0" smtClean="0">
                <a:solidFill>
                  <a:srgbClr val="FF0000"/>
                </a:solidFill>
              </a:rPr>
              <a:t>, Ca(NO</a:t>
            </a:r>
            <a:r>
              <a:rPr lang="en-AU" sz="1100" dirty="0" smtClean="0">
                <a:solidFill>
                  <a:srgbClr val="FF0000"/>
                </a:solidFill>
              </a:rPr>
              <a:t>3</a:t>
            </a:r>
            <a:r>
              <a:rPr lang="en-AU" dirty="0" smtClean="0">
                <a:solidFill>
                  <a:srgbClr val="FF0000"/>
                </a:solidFill>
              </a:rPr>
              <a:t>)</a:t>
            </a:r>
            <a:r>
              <a:rPr lang="en-AU" sz="1200" dirty="0" smtClean="0">
                <a:solidFill>
                  <a:srgbClr val="FF0000"/>
                </a:solidFill>
              </a:rPr>
              <a:t>2</a:t>
            </a:r>
          </a:p>
          <a:p>
            <a:r>
              <a:rPr lang="en-AU" dirty="0" smtClean="0">
                <a:solidFill>
                  <a:srgbClr val="0070C0"/>
                </a:solidFill>
              </a:rPr>
              <a:t>Weak electrolytes: When these dissolve in water they are partly present as independent mobile ions</a:t>
            </a:r>
          </a:p>
          <a:p>
            <a:r>
              <a:rPr lang="en-AU" dirty="0" smtClean="0">
                <a:solidFill>
                  <a:srgbClr val="FF0000"/>
                </a:solidFill>
              </a:rPr>
              <a:t>E.g.CH</a:t>
            </a:r>
            <a:r>
              <a:rPr lang="en-AU" sz="1400" dirty="0" smtClean="0">
                <a:solidFill>
                  <a:srgbClr val="FF0000"/>
                </a:solidFill>
              </a:rPr>
              <a:t>3</a:t>
            </a:r>
            <a:r>
              <a:rPr lang="en-AU" dirty="0" smtClean="0">
                <a:solidFill>
                  <a:srgbClr val="FF0000"/>
                </a:solidFill>
              </a:rPr>
              <a:t>COOH, H</a:t>
            </a:r>
            <a:r>
              <a:rPr lang="en-AU" sz="1400" dirty="0" smtClean="0">
                <a:solidFill>
                  <a:srgbClr val="FF0000"/>
                </a:solidFill>
              </a:rPr>
              <a:t>2</a:t>
            </a:r>
            <a:r>
              <a:rPr lang="en-AU" dirty="0" smtClean="0">
                <a:solidFill>
                  <a:srgbClr val="FF0000"/>
                </a:solidFill>
              </a:rPr>
              <a:t>S</a:t>
            </a:r>
            <a:endParaRPr lang="en-AU" dirty="0" smtClean="0">
              <a:solidFill>
                <a:srgbClr val="0070C0"/>
              </a:solidFill>
            </a:endParaRPr>
          </a:p>
          <a:p>
            <a:r>
              <a:rPr lang="en-AU" dirty="0" smtClean="0">
                <a:solidFill>
                  <a:schemeClr val="accent4">
                    <a:lumMod val="75000"/>
                  </a:schemeClr>
                </a:solidFill>
              </a:rPr>
              <a:t>Non-electrolytes: When these dissolve in water they do not produce ions </a:t>
            </a:r>
          </a:p>
          <a:p>
            <a:r>
              <a:rPr lang="en-AU" dirty="0" smtClean="0">
                <a:solidFill>
                  <a:srgbClr val="FF0000"/>
                </a:solidFill>
              </a:rPr>
              <a:t>E.g.O</a:t>
            </a:r>
            <a:r>
              <a:rPr lang="en-AU" sz="1400" dirty="0" smtClean="0">
                <a:solidFill>
                  <a:srgbClr val="FF0000"/>
                </a:solidFill>
              </a:rPr>
              <a:t>2, </a:t>
            </a:r>
            <a:r>
              <a:rPr lang="en-AU" dirty="0" smtClean="0">
                <a:solidFill>
                  <a:srgbClr val="FF0000"/>
                </a:solidFill>
              </a:rPr>
              <a:t>I</a:t>
            </a:r>
            <a:r>
              <a:rPr lang="en-AU" sz="1200" dirty="0">
                <a:solidFill>
                  <a:srgbClr val="FF0000"/>
                </a:solidFill>
              </a:rPr>
              <a:t>2</a:t>
            </a:r>
            <a:endParaRPr lang="en-AU" sz="1200" dirty="0" smtClean="0">
              <a:solidFill>
                <a:schemeClr val="accent4">
                  <a:lumMod val="75000"/>
                </a:schemeClr>
              </a:solidFill>
            </a:endParaRPr>
          </a:p>
          <a:p>
            <a:endParaRPr lang="en-AU" dirty="0">
              <a:solidFill>
                <a:schemeClr val="accent4">
                  <a:lumMod val="75000"/>
                </a:schemeClr>
              </a:solidFill>
            </a:endParaRPr>
          </a:p>
        </p:txBody>
      </p:sp>
    </p:spTree>
    <p:extLst>
      <p:ext uri="{BB962C8B-B14F-4D97-AF65-F5344CB8AC3E}">
        <p14:creationId xmlns:p14="http://schemas.microsoft.com/office/powerpoint/2010/main" val="3881308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Equations of solvation</a:t>
            </a:r>
            <a:endParaRPr lang="en-AU" dirty="0"/>
          </a:p>
        </p:txBody>
      </p:sp>
      <p:sp>
        <p:nvSpPr>
          <p:cNvPr id="3" name="Content Placeholder 2"/>
          <p:cNvSpPr>
            <a:spLocks noGrp="1"/>
          </p:cNvSpPr>
          <p:nvPr>
            <p:ph idx="1"/>
          </p:nvPr>
        </p:nvSpPr>
        <p:spPr/>
        <p:txBody>
          <a:bodyPr/>
          <a:lstStyle/>
          <a:p>
            <a:r>
              <a:rPr lang="en-AU" dirty="0" smtClean="0"/>
              <a:t>When an ionic electrolyte dissolves, the ions present within the ionic solid are released into water to form a solution of independent mobile ions. This process is termed as dissociation.</a:t>
            </a:r>
          </a:p>
          <a:p>
            <a:endParaRPr lang="en-AU" dirty="0"/>
          </a:p>
          <a:p>
            <a:r>
              <a:rPr lang="en-AU" dirty="0" smtClean="0"/>
              <a:t>The formation of ions by a molecular electrolyte is a different process known as ionisation. </a:t>
            </a:r>
          </a:p>
          <a:p>
            <a:endParaRPr lang="en-AU" dirty="0"/>
          </a:p>
          <a:p>
            <a:r>
              <a:rPr lang="en-AU" dirty="0" smtClean="0"/>
              <a:t>During ionisation, molecules of the electrolyte ( </a:t>
            </a:r>
            <a:r>
              <a:rPr lang="en-AU" dirty="0" err="1" smtClean="0"/>
              <a:t>e.g.HCl</a:t>
            </a:r>
            <a:r>
              <a:rPr lang="en-AU" dirty="0" smtClean="0"/>
              <a:t>, H</a:t>
            </a:r>
            <a:r>
              <a:rPr lang="en-AU" sz="1400" dirty="0" smtClean="0"/>
              <a:t>2</a:t>
            </a:r>
            <a:r>
              <a:rPr lang="en-AU" dirty="0" smtClean="0"/>
              <a:t>SO</a:t>
            </a:r>
            <a:r>
              <a:rPr lang="en-AU" sz="1400" dirty="0" smtClean="0"/>
              <a:t>4 </a:t>
            </a:r>
            <a:r>
              <a:rPr lang="en-AU" dirty="0" smtClean="0"/>
              <a:t>) react with water to form ions not originally present within the substance. </a:t>
            </a:r>
            <a:endParaRPr lang="en-AU" dirty="0"/>
          </a:p>
        </p:txBody>
      </p:sp>
    </p:spTree>
    <p:extLst>
      <p:ext uri="{BB962C8B-B14F-4D97-AF65-F5344CB8AC3E}">
        <p14:creationId xmlns:p14="http://schemas.microsoft.com/office/powerpoint/2010/main" val="14712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smtClean="0"/>
              <a:t>Pure water is a non-conductor of electricity, however, aqueous solutions that contain a dissolved electrolyte will conduct. </a:t>
            </a:r>
          </a:p>
          <a:p>
            <a:pPr marL="0" indent="0">
              <a:buNone/>
            </a:pPr>
            <a:r>
              <a:rPr lang="en-AU" dirty="0" smtClean="0"/>
              <a:t>Electrical conductivity in a solution depends on the ability of positive ions to move freely towards the negative electrode while negative ions move freely towards the positive electrode. Thus the greater the concentration of ions in a solution the greater is its ability to conduct a current. </a:t>
            </a:r>
            <a:endParaRPr lang="en-AU" dirty="0"/>
          </a:p>
        </p:txBody>
      </p:sp>
    </p:spTree>
    <p:extLst>
      <p:ext uri="{BB962C8B-B14F-4D97-AF65-F5344CB8AC3E}">
        <p14:creationId xmlns:p14="http://schemas.microsoft.com/office/powerpoint/2010/main" val="2572251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Ionic solubility and solvation</a:t>
            </a:r>
            <a:endParaRPr lang="en-AU" dirty="0"/>
          </a:p>
        </p:txBody>
      </p:sp>
      <p:sp>
        <p:nvSpPr>
          <p:cNvPr id="3" name="Content Placeholder 2"/>
          <p:cNvSpPr>
            <a:spLocks noGrp="1"/>
          </p:cNvSpPr>
          <p:nvPr>
            <p:ph idx="1"/>
          </p:nvPr>
        </p:nvSpPr>
        <p:spPr/>
        <p:txBody>
          <a:bodyPr>
            <a:normAutofit fontScale="70000" lnSpcReduction="20000"/>
          </a:bodyPr>
          <a:lstStyle/>
          <a:p>
            <a:r>
              <a:rPr lang="en-AU" i="1" dirty="0">
                <a:solidFill>
                  <a:schemeClr val="accent6">
                    <a:lumMod val="75000"/>
                  </a:schemeClr>
                </a:solidFill>
              </a:rPr>
              <a:t>T</a:t>
            </a:r>
            <a:r>
              <a:rPr lang="en-AU" i="1" dirty="0" smtClean="0">
                <a:solidFill>
                  <a:schemeClr val="accent6">
                    <a:lumMod val="75000"/>
                  </a:schemeClr>
                </a:solidFill>
              </a:rPr>
              <a:t>he </a:t>
            </a:r>
            <a:r>
              <a:rPr lang="en-AU" i="1" dirty="0">
                <a:solidFill>
                  <a:schemeClr val="accent6">
                    <a:lumMod val="75000"/>
                  </a:schemeClr>
                </a:solidFill>
              </a:rPr>
              <a:t>solubility of substances in water, including ionic and polar and non-polar molecular substances, can be explained by the intermolecular forces, including ion-dipole interactions between species in the substances and water </a:t>
            </a:r>
            <a:r>
              <a:rPr lang="en-AU" i="1" dirty="0" smtClean="0">
                <a:solidFill>
                  <a:schemeClr val="accent6">
                    <a:lumMod val="75000"/>
                  </a:schemeClr>
                </a:solidFill>
              </a:rPr>
              <a:t>molecules. </a:t>
            </a:r>
            <a:r>
              <a:rPr lang="en-AU" i="1" smtClean="0">
                <a:solidFill>
                  <a:schemeClr val="accent6">
                    <a:lumMod val="75000"/>
                  </a:schemeClr>
                </a:solidFill>
              </a:rPr>
              <a:t>(Syllabus) </a:t>
            </a:r>
            <a:endParaRPr lang="en-AU" i="1" dirty="0">
              <a:solidFill>
                <a:schemeClr val="accent6">
                  <a:lumMod val="75000"/>
                </a:schemeClr>
              </a:solidFill>
            </a:endParaRPr>
          </a:p>
          <a:p>
            <a:endParaRPr lang="en-AU" dirty="0" smtClean="0"/>
          </a:p>
          <a:p>
            <a:endParaRPr lang="en-AU" dirty="0"/>
          </a:p>
          <a:p>
            <a:r>
              <a:rPr lang="en-AU" dirty="0" smtClean="0"/>
              <a:t>The </a:t>
            </a:r>
            <a:r>
              <a:rPr lang="en-AU" dirty="0" smtClean="0"/>
              <a:t>solubility of ionic compounds depends largely on the solvation properties of polar solvents. Solvation involves the attraction of polar solvent molecules to both the positive and negative ions of an ionic solid. The highly polar nature of water molecules allows water to be excellent solvent for many ionic solutes.</a:t>
            </a:r>
          </a:p>
          <a:p>
            <a:endParaRPr lang="en-AU" dirty="0"/>
          </a:p>
          <a:p>
            <a:r>
              <a:rPr lang="en-AU" dirty="0" smtClean="0">
                <a:solidFill>
                  <a:srgbClr val="FF0000"/>
                </a:solidFill>
              </a:rPr>
              <a:t>Solvation by water is known as hydration. It occurs because of the electrostatic forces of attraction, called ion-dipole forces, that form between an ion and the dipole of a water molecule. This involves the slightly positive hydrogen atoms in a water molecule being attracted to a negative ion while the slightly negative oxygen atom in the water molecule is attracted to  appositive ion. These ion-dipole forces lead to hydration where each ion in solution is surrounded by several water molecules. </a:t>
            </a:r>
            <a:endParaRPr lang="en-AU" dirty="0">
              <a:solidFill>
                <a:srgbClr val="FF0000"/>
              </a:solidFill>
            </a:endParaRPr>
          </a:p>
        </p:txBody>
      </p:sp>
    </p:spTree>
    <p:extLst>
      <p:ext uri="{BB962C8B-B14F-4D97-AF65-F5344CB8AC3E}">
        <p14:creationId xmlns:p14="http://schemas.microsoft.com/office/powerpoint/2010/main" val="1109651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solidFill>
                  <a:srgbClr val="7030A0"/>
                </a:solidFill>
              </a:rPr>
              <a:t>The high solubility of many ionic solids in water is largely due to the ion-dipole forces overcoming the strong attractive between oppositely charged ions in the ionic solid. </a:t>
            </a:r>
            <a:endParaRPr lang="en-AU" dirty="0">
              <a:solidFill>
                <a:srgbClr val="7030A0"/>
              </a:solidFill>
            </a:endParaRPr>
          </a:p>
        </p:txBody>
      </p:sp>
    </p:spTree>
    <p:extLst>
      <p:ext uri="{BB962C8B-B14F-4D97-AF65-F5344CB8AC3E}">
        <p14:creationId xmlns:p14="http://schemas.microsoft.com/office/powerpoint/2010/main" val="811968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Solubility curves</a:t>
            </a:r>
            <a:endParaRPr lang="en-AU" dirty="0"/>
          </a:p>
        </p:txBody>
      </p:sp>
      <p:sp>
        <p:nvSpPr>
          <p:cNvPr id="3" name="Content Placeholder 2"/>
          <p:cNvSpPr>
            <a:spLocks noGrp="1"/>
          </p:cNvSpPr>
          <p:nvPr>
            <p:ph idx="1"/>
          </p:nvPr>
        </p:nvSpPr>
        <p:spPr/>
        <p:txBody>
          <a:bodyPr/>
          <a:lstStyle/>
          <a:p>
            <a:r>
              <a:rPr lang="en-AU" dirty="0" smtClean="0"/>
              <a:t>A graph showing how much of a solute such as a salt can be dissolved at a particular temperature provides useful information on the solubility of a substance. As temperature increases more salt will dissolve. This graph is called as solubility curve. </a:t>
            </a:r>
          </a:p>
          <a:p>
            <a:r>
              <a:rPr lang="en-AU" dirty="0" smtClean="0"/>
              <a:t>The amount of solute is measured in grams of solute in 100 grams of water. </a:t>
            </a:r>
            <a:endParaRPr lang="en-AU" dirty="0"/>
          </a:p>
        </p:txBody>
      </p:sp>
    </p:spTree>
    <p:extLst>
      <p:ext uri="{BB962C8B-B14F-4D97-AF65-F5344CB8AC3E}">
        <p14:creationId xmlns:p14="http://schemas.microsoft.com/office/powerpoint/2010/main" val="29155545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A selection of solubility curves for various salts</a:t>
            </a:r>
            <a:endParaRPr lang="en-AU" dirty="0"/>
          </a:p>
        </p:txBody>
      </p:sp>
      <p:pic>
        <p:nvPicPr>
          <p:cNvPr id="4" name="Content Placeholder 3" descr="http://www.sciencegeek.net/Chemistry/taters/graphics/solubility.gif"/>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778794" y="2220119"/>
            <a:ext cx="4010025" cy="3762375"/>
          </a:xfrm>
          <a:prstGeom prst="rect">
            <a:avLst/>
          </a:prstGeom>
          <a:noFill/>
          <a:ln>
            <a:noFill/>
          </a:ln>
        </p:spPr>
      </p:pic>
    </p:spTree>
    <p:extLst>
      <p:ext uri="{BB962C8B-B14F-4D97-AF65-F5344CB8AC3E}">
        <p14:creationId xmlns:p14="http://schemas.microsoft.com/office/powerpoint/2010/main" val="26219901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Gas solubility curves</a:t>
            </a:r>
            <a:endParaRPr lang="en-AU" dirty="0"/>
          </a:p>
        </p:txBody>
      </p:sp>
      <p:sp>
        <p:nvSpPr>
          <p:cNvPr id="3" name="Content Placeholder 2"/>
          <p:cNvSpPr>
            <a:spLocks noGrp="1"/>
          </p:cNvSpPr>
          <p:nvPr>
            <p:ph idx="1"/>
          </p:nvPr>
        </p:nvSpPr>
        <p:spPr/>
        <p:txBody>
          <a:bodyPr/>
          <a:lstStyle/>
          <a:p>
            <a:r>
              <a:rPr lang="en-AU" dirty="0" smtClean="0"/>
              <a:t>Solubility of gases can be shown with the help of solubility curves.  As temperature increases, solubility of non-polar gases generally decreases. Solubilities are much lower than that for solids and values are shown in parts per million(ppm).</a:t>
            </a:r>
          </a:p>
          <a:p>
            <a:endParaRPr lang="en-AU" dirty="0"/>
          </a:p>
        </p:txBody>
      </p:sp>
    </p:spTree>
    <p:extLst>
      <p:ext uri="{BB962C8B-B14F-4D97-AF65-F5344CB8AC3E}">
        <p14:creationId xmlns:p14="http://schemas.microsoft.com/office/powerpoint/2010/main" val="762475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www.middleschoolchemistry.com/img/content/multimedia/chapter_5/lesson_8/solubility_curve_carbon_dioxide_big.jpg"/>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786261" y="2160588"/>
            <a:ext cx="5995090" cy="3881437"/>
          </a:xfrm>
          <a:prstGeom prst="rect">
            <a:avLst/>
          </a:prstGeom>
          <a:noFill/>
          <a:ln>
            <a:noFill/>
          </a:ln>
        </p:spPr>
      </p:pic>
    </p:spTree>
    <p:extLst>
      <p:ext uri="{BB962C8B-B14F-4D97-AF65-F5344CB8AC3E}">
        <p14:creationId xmlns:p14="http://schemas.microsoft.com/office/powerpoint/2010/main" val="6560289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Concentration units</a:t>
            </a:r>
            <a:endParaRPr lang="en-AU" dirty="0"/>
          </a:p>
        </p:txBody>
      </p:sp>
      <p:sp>
        <p:nvSpPr>
          <p:cNvPr id="3" name="Content Placeholder 2"/>
          <p:cNvSpPr>
            <a:spLocks noGrp="1"/>
          </p:cNvSpPr>
          <p:nvPr>
            <p:ph idx="1"/>
          </p:nvPr>
        </p:nvSpPr>
        <p:spPr/>
        <p:txBody>
          <a:bodyPr>
            <a:normAutofit/>
          </a:bodyPr>
          <a:lstStyle/>
          <a:p>
            <a:r>
              <a:rPr lang="en-AU" dirty="0" smtClean="0"/>
              <a:t>Solubility curves use the unit grams of solute per 100g of water. </a:t>
            </a:r>
          </a:p>
          <a:p>
            <a:r>
              <a:rPr lang="en-AU" dirty="0" smtClean="0">
                <a:solidFill>
                  <a:srgbClr val="FF0000"/>
                </a:solidFill>
              </a:rPr>
              <a:t>Concentration is a measure of the amount of solute present. </a:t>
            </a:r>
          </a:p>
          <a:p>
            <a:r>
              <a:rPr lang="en-AU" dirty="0" smtClean="0"/>
              <a:t>There are a variety of units in general use; g/100g,</a:t>
            </a:r>
          </a:p>
          <a:p>
            <a:r>
              <a:rPr lang="en-AU" dirty="0" smtClean="0"/>
              <a:t>%v/v ( per cent by volume), </a:t>
            </a:r>
          </a:p>
          <a:p>
            <a:r>
              <a:rPr lang="en-AU" dirty="0" smtClean="0"/>
              <a:t>% w/w (per cent by weight),</a:t>
            </a:r>
          </a:p>
          <a:p>
            <a:r>
              <a:rPr lang="en-AU" dirty="0" smtClean="0"/>
              <a:t>%v/w, ppm (parts per million, grams of solute in one million grams of solution)</a:t>
            </a:r>
            <a:endParaRPr lang="en-AU" dirty="0"/>
          </a:p>
        </p:txBody>
      </p:sp>
    </p:spTree>
    <p:extLst>
      <p:ext uri="{BB962C8B-B14F-4D97-AF65-F5344CB8AC3E}">
        <p14:creationId xmlns:p14="http://schemas.microsoft.com/office/powerpoint/2010/main" val="2608229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3921463933"/>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712</TotalTime>
  <Words>799</Words>
  <Application>Microsoft Office PowerPoint</Application>
  <PresentationFormat>On-screen Show (4:3)</PresentationFormat>
  <Paragraphs>44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Measuring solubility </vt:lpstr>
      <vt:lpstr>PowerPoint Presentation</vt:lpstr>
      <vt:lpstr>PowerPoint Presentation</vt:lpstr>
      <vt:lpstr>PowerPoint Presentation</vt:lpstr>
      <vt:lpstr>PowerPoint Presentation</vt:lpstr>
      <vt:lpstr>Equations of solvation</vt:lpstr>
      <vt:lpstr>PowerPoint Presentation</vt:lpstr>
      <vt:lpstr>Ionic solubility and solvation</vt:lpstr>
      <vt:lpstr>PowerPoint Presentation</vt:lpstr>
      <vt:lpstr>Solubility curves</vt:lpstr>
      <vt:lpstr>A selection of solubility curves for various salts</vt:lpstr>
      <vt:lpstr>Gas solubility curves</vt:lpstr>
      <vt:lpstr>PowerPoint Presentation</vt:lpstr>
      <vt:lpstr>Concentration units</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Chapter:6.7</dc:title>
  <dc:creator>D'CRUZ Jijy</dc:creator>
  <cp:lastModifiedBy>D'CRUZ Jijy [Safety Bay Senior High School]</cp:lastModifiedBy>
  <cp:revision>34</cp:revision>
  <dcterms:created xsi:type="dcterms:W3CDTF">2015-07-31T02:21:33Z</dcterms:created>
  <dcterms:modified xsi:type="dcterms:W3CDTF">2019-07-16T13:15:42Z</dcterms:modified>
</cp:coreProperties>
</file>
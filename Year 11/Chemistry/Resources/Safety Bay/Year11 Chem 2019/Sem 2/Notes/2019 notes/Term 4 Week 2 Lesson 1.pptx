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59"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08B9EBBA-996F-894A-B54A-D6246ED52CEA}" type="datetimeFigureOut">
              <a:rPr lang="en-US" smtClean="0"/>
              <a:pPr/>
              <a:t>10/21/2019</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74918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smtClean="0"/>
              <a:pPr/>
              <a:t>10/21/2019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74279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DFA1846-DA80-1C48-A609-854EA85C59AD}" type="datetimeFigureOut">
              <a:rPr lang="en-US" smtClean="0"/>
              <a:pPr/>
              <a:t>10/21/2019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1109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smtClean="0"/>
              <a:pPr/>
              <a:t>10/21/2019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85416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smtClean="0"/>
              <a:pPr/>
              <a:t>10/21/2019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4189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smtClean="0"/>
              <a:pPr/>
              <a:t>10/21/2019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74030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smtClean="0"/>
              <a:pPr/>
              <a:t>10/21/2019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32449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0DF5E60-9974-AC48-9591-99C2BB44B7CF}" type="datetimeFigureOut">
              <a:rPr lang="en-US" smtClean="0"/>
              <a:pPr/>
              <a:t>10/21/2019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40365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10/21/2019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9502741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10/21/2019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8889337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09B482E8-6E0E-1B4F-B1FD-C69DB9E858D9}" type="datetimeFigureOut">
              <a:rPr lang="en-US" smtClean="0"/>
              <a:pPr/>
              <a:t>10/21/2019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8747090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09B482E8-6E0E-1B4F-B1FD-C69DB9E858D9}" type="datetimeFigureOut">
              <a:rPr lang="en-US" smtClean="0"/>
              <a:pPr/>
              <a:t>10/21/2019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2692187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9B482E8-6E0E-1B4F-B1FD-C69DB9E858D9}" type="datetimeFigureOut">
              <a:rPr lang="en-US" smtClean="0"/>
              <a:pPr/>
              <a:t>10/21/2019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5737254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9B482E8-6E0E-1B4F-B1FD-C69DB9E858D9}" type="datetimeFigureOut">
              <a:rPr lang="en-US" smtClean="0"/>
              <a:pPr/>
              <a:t>10/21/2019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6898405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9B482E8-6E0E-1B4F-B1FD-C69DB9E858D9}" type="datetimeFigureOut">
              <a:rPr lang="en-US" smtClean="0"/>
              <a:pPr/>
              <a:t>10/21/2019</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31399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C6C52C72-DE31-F449-A4ED-4C594FD91407}" type="datetimeFigureOut">
              <a:rPr lang="en-US" smtClean="0"/>
              <a:pPr/>
              <a:t>10/21/2019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639730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ED62726E-379B-B349-9EED-81ED093FA806}" type="datetimeFigureOut">
              <a:rPr lang="en-US" smtClean="0"/>
              <a:pPr/>
              <a:t>10/21/2019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52952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09B482E8-6E0E-1B4F-B1FD-C69DB9E858D9}" type="datetimeFigureOut">
              <a:rPr lang="en-US" smtClean="0"/>
              <a:pPr/>
              <a:t>10/21/2019</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08295697"/>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 id="2147483776"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Term 4 Week 2 Lesson 1</a:t>
            </a:r>
            <a:endParaRPr lang="en-AU" dirty="0"/>
          </a:p>
        </p:txBody>
      </p:sp>
      <p:sp>
        <p:nvSpPr>
          <p:cNvPr id="3" name="Subtitle 2"/>
          <p:cNvSpPr>
            <a:spLocks noGrp="1"/>
          </p:cNvSpPr>
          <p:nvPr>
            <p:ph type="subTitle" idx="1"/>
          </p:nvPr>
        </p:nvSpPr>
        <p:spPr/>
        <p:txBody>
          <a:bodyPr/>
          <a:lstStyle/>
          <a:p>
            <a:r>
              <a:rPr lang="en-AU" dirty="0" smtClean="0"/>
              <a:t>What affects rate</a:t>
            </a:r>
            <a:endParaRPr lang="en-AU" dirty="0"/>
          </a:p>
        </p:txBody>
      </p:sp>
    </p:spTree>
    <p:extLst>
      <p:ext uri="{BB962C8B-B14F-4D97-AF65-F5344CB8AC3E}">
        <p14:creationId xmlns:p14="http://schemas.microsoft.com/office/powerpoint/2010/main" val="1963956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Collision theory states that the rates of reaction depends on the number of successful collisions between reactant particles in a given time. </a:t>
            </a:r>
          </a:p>
          <a:p>
            <a:endParaRPr lang="en-AU" dirty="0"/>
          </a:p>
          <a:p>
            <a:r>
              <a:rPr lang="en-AU" dirty="0" smtClean="0">
                <a:solidFill>
                  <a:srgbClr val="FF0000"/>
                </a:solidFill>
              </a:rPr>
              <a:t>Number of successful collisions depends on the: </a:t>
            </a:r>
          </a:p>
          <a:p>
            <a:pPr>
              <a:buFont typeface="Wingdings" panose="05000000000000000000" pitchFamily="2" charset="2"/>
              <a:buChar char="v"/>
            </a:pPr>
            <a:r>
              <a:rPr lang="en-AU" dirty="0" smtClean="0">
                <a:solidFill>
                  <a:srgbClr val="FF0000"/>
                </a:solidFill>
              </a:rPr>
              <a:t>Total number of collisions</a:t>
            </a:r>
          </a:p>
          <a:p>
            <a:pPr>
              <a:buFont typeface="Wingdings" panose="05000000000000000000" pitchFamily="2" charset="2"/>
              <a:buChar char="v"/>
            </a:pPr>
            <a:r>
              <a:rPr lang="en-AU" dirty="0" smtClean="0">
                <a:solidFill>
                  <a:srgbClr val="FF0000"/>
                </a:solidFill>
              </a:rPr>
              <a:t>Percentage of collisions that are successful</a:t>
            </a:r>
          </a:p>
          <a:p>
            <a:pPr>
              <a:buFont typeface="Wingdings" panose="05000000000000000000" pitchFamily="2" charset="2"/>
              <a:buChar char="Ø"/>
            </a:pPr>
            <a:r>
              <a:rPr lang="en-AU" dirty="0" smtClean="0"/>
              <a:t>Any factor which increases either of the above factors will lead to an increase in rate of reaction. </a:t>
            </a:r>
            <a:endParaRPr lang="en-AU" dirty="0"/>
          </a:p>
        </p:txBody>
      </p:sp>
    </p:spTree>
    <p:extLst>
      <p:ext uri="{BB962C8B-B14F-4D97-AF65-F5344CB8AC3E}">
        <p14:creationId xmlns:p14="http://schemas.microsoft.com/office/powerpoint/2010/main" val="1757904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Nature of reactants</a:t>
            </a:r>
            <a:endParaRPr lang="en-AU" dirty="0"/>
          </a:p>
        </p:txBody>
      </p:sp>
      <p:sp>
        <p:nvSpPr>
          <p:cNvPr id="3" name="Content Placeholder 2"/>
          <p:cNvSpPr>
            <a:spLocks noGrp="1"/>
          </p:cNvSpPr>
          <p:nvPr>
            <p:ph idx="1"/>
          </p:nvPr>
        </p:nvSpPr>
        <p:spPr/>
        <p:txBody>
          <a:bodyPr/>
          <a:lstStyle/>
          <a:p>
            <a:r>
              <a:rPr lang="en-AU" dirty="0" smtClean="0"/>
              <a:t>This means what are the reactants and what needs to happen for them to form the products.</a:t>
            </a:r>
          </a:p>
          <a:p>
            <a:r>
              <a:rPr lang="en-AU" dirty="0" smtClean="0"/>
              <a:t>If the bonds of the reactants are weak or few then they need a small amount of energy to break. So the activation energy will be low, and  a large number of particles will have enough energy for  a successful collision.</a:t>
            </a:r>
          </a:p>
          <a:p>
            <a:r>
              <a:rPr lang="en-AU" dirty="0" smtClean="0"/>
              <a:t>The size of the particles may also affect the rate of the reaction. If the particles are larger, greater chance that they will collide.</a:t>
            </a:r>
          </a:p>
          <a:p>
            <a:endParaRPr lang="en-AU" dirty="0"/>
          </a:p>
          <a:p>
            <a:pPr marL="0" indent="0">
              <a:buNone/>
            </a:pPr>
            <a:endParaRPr lang="en-AU" dirty="0"/>
          </a:p>
        </p:txBody>
      </p:sp>
    </p:spTree>
    <p:extLst>
      <p:ext uri="{BB962C8B-B14F-4D97-AF65-F5344CB8AC3E}">
        <p14:creationId xmlns:p14="http://schemas.microsoft.com/office/powerpoint/2010/main" val="3294654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Concentration and pressure</a:t>
            </a:r>
            <a:endParaRPr lang="en-AU" dirty="0"/>
          </a:p>
        </p:txBody>
      </p:sp>
      <p:sp>
        <p:nvSpPr>
          <p:cNvPr id="3" name="Content Placeholder 2"/>
          <p:cNvSpPr>
            <a:spLocks noGrp="1"/>
          </p:cNvSpPr>
          <p:nvPr>
            <p:ph idx="1"/>
          </p:nvPr>
        </p:nvSpPr>
        <p:spPr/>
        <p:txBody>
          <a:bodyPr/>
          <a:lstStyle/>
          <a:p>
            <a:r>
              <a:rPr lang="en-AU" dirty="0" smtClean="0"/>
              <a:t>Concentration refers to the number of particles in a given volume. </a:t>
            </a:r>
          </a:p>
          <a:p>
            <a:r>
              <a:rPr lang="en-AU" dirty="0" smtClean="0"/>
              <a:t>The pressure of a gas is determined by the concentration of gaseous particles. </a:t>
            </a:r>
          </a:p>
          <a:p>
            <a:r>
              <a:rPr lang="en-AU" dirty="0" smtClean="0"/>
              <a:t>Greater the concentration or pressure, the greater the number of particles and therefore greater number of collisions. Even though the percentage of collisions that will be successful will remain the same, there will be more successful collisions in total because there are more collisions. Therefore, as the concentration or pressure, of the reactants increases, the reaction rate increases. </a:t>
            </a:r>
            <a:endParaRPr lang="en-AU" dirty="0"/>
          </a:p>
        </p:txBody>
      </p:sp>
    </p:spTree>
    <p:extLst>
      <p:ext uri="{BB962C8B-B14F-4D97-AF65-F5344CB8AC3E}">
        <p14:creationId xmlns:p14="http://schemas.microsoft.com/office/powerpoint/2010/main" val="2978521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5" name="Content Placeholder 4"/>
          <p:cNvPicPr>
            <a:picLocks noGrp="1" noChangeAspect="1"/>
          </p:cNvPicPr>
          <p:nvPr>
            <p:ph idx="1"/>
          </p:nvPr>
        </p:nvPicPr>
        <p:blipFill>
          <a:blip r:embed="rId2"/>
          <a:stretch>
            <a:fillRect/>
          </a:stretch>
        </p:blipFill>
        <p:spPr>
          <a:xfrm>
            <a:off x="1314994" y="2627423"/>
            <a:ext cx="9170126" cy="3599206"/>
          </a:xfrm>
          <a:prstGeom prst="rect">
            <a:avLst/>
          </a:prstGeom>
        </p:spPr>
      </p:pic>
    </p:spTree>
    <p:extLst>
      <p:ext uri="{BB962C8B-B14F-4D97-AF65-F5344CB8AC3E}">
        <p14:creationId xmlns:p14="http://schemas.microsoft.com/office/powerpoint/2010/main" val="1672281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Changing volume may also change the concentration. Diluting the solution using water can decrease the concentration whereas, evaporating the some of the water from a solution can decrease the volume and increase </a:t>
            </a:r>
            <a:endParaRPr lang="en-AU" dirty="0"/>
          </a:p>
        </p:txBody>
      </p:sp>
    </p:spTree>
    <p:extLst>
      <p:ext uri="{BB962C8B-B14F-4D97-AF65-F5344CB8AC3E}">
        <p14:creationId xmlns:p14="http://schemas.microsoft.com/office/powerpoint/2010/main" val="4076192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Surface area</a:t>
            </a:r>
            <a:endParaRPr lang="en-AU" dirty="0"/>
          </a:p>
        </p:txBody>
      </p:sp>
      <p:sp>
        <p:nvSpPr>
          <p:cNvPr id="3" name="Content Placeholder 2"/>
          <p:cNvSpPr>
            <a:spLocks noGrp="1"/>
          </p:cNvSpPr>
          <p:nvPr>
            <p:ph idx="1"/>
          </p:nvPr>
        </p:nvSpPr>
        <p:spPr/>
        <p:txBody>
          <a:bodyPr/>
          <a:lstStyle/>
          <a:p>
            <a:r>
              <a:rPr lang="en-AU" dirty="0" smtClean="0"/>
              <a:t>If a solid is divided or crushed then the inner particles become exposed and, although the amount of reactant remains the same, the total surface area has increased. So more of the solid is available for collisions and is able to react. Therefore, there are more collisions and thus the rate of reaction will increase. </a:t>
            </a:r>
          </a:p>
          <a:p>
            <a:r>
              <a:rPr lang="en-AU" dirty="0" smtClean="0"/>
              <a:t>E.g. we cut potatoes up into small pieces to cook them quickly </a:t>
            </a:r>
            <a:endParaRPr lang="en-AU" dirty="0"/>
          </a:p>
        </p:txBody>
      </p:sp>
      <p:pic>
        <p:nvPicPr>
          <p:cNvPr id="4" name="Picture 3"/>
          <p:cNvPicPr>
            <a:picLocks noChangeAspect="1"/>
          </p:cNvPicPr>
          <p:nvPr/>
        </p:nvPicPr>
        <p:blipFill>
          <a:blip r:embed="rId2"/>
          <a:stretch>
            <a:fillRect/>
          </a:stretch>
        </p:blipFill>
        <p:spPr>
          <a:xfrm>
            <a:off x="9858103" y="339362"/>
            <a:ext cx="2333897" cy="3798895"/>
          </a:xfrm>
          <a:prstGeom prst="rect">
            <a:avLst/>
          </a:prstGeom>
        </p:spPr>
      </p:pic>
    </p:spTree>
    <p:extLst>
      <p:ext uri="{BB962C8B-B14F-4D97-AF65-F5344CB8AC3E}">
        <p14:creationId xmlns:p14="http://schemas.microsoft.com/office/powerpoint/2010/main" val="93209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Temperature</a:t>
            </a:r>
            <a:endParaRPr lang="en-AU" dirty="0"/>
          </a:p>
        </p:txBody>
      </p:sp>
      <p:sp>
        <p:nvSpPr>
          <p:cNvPr id="3" name="Content Placeholder 2"/>
          <p:cNvSpPr>
            <a:spLocks noGrp="1"/>
          </p:cNvSpPr>
          <p:nvPr>
            <p:ph idx="1"/>
          </p:nvPr>
        </p:nvSpPr>
        <p:spPr/>
        <p:txBody>
          <a:bodyPr/>
          <a:lstStyle/>
          <a:p>
            <a:r>
              <a:rPr lang="en-AU" dirty="0" smtClean="0"/>
              <a:t>The temperature of a substance is a measure of the average kinetic energy of the particles. As the temperature increases, the average kinetic energy also increases and hence the average speed of the particles also increases.</a:t>
            </a:r>
          </a:p>
          <a:p>
            <a:endParaRPr lang="en-AU" dirty="0" smtClean="0"/>
          </a:p>
          <a:p>
            <a:endParaRPr lang="en-AU" dirty="0"/>
          </a:p>
          <a:p>
            <a:endParaRPr lang="en-AU" dirty="0"/>
          </a:p>
        </p:txBody>
      </p:sp>
      <p:pic>
        <p:nvPicPr>
          <p:cNvPr id="5" name="Picture 4"/>
          <p:cNvPicPr>
            <a:picLocks noChangeAspect="1"/>
          </p:cNvPicPr>
          <p:nvPr/>
        </p:nvPicPr>
        <p:blipFill>
          <a:blip r:embed="rId2"/>
          <a:stretch>
            <a:fillRect/>
          </a:stretch>
        </p:blipFill>
        <p:spPr>
          <a:xfrm>
            <a:off x="4092348" y="3605757"/>
            <a:ext cx="6010275" cy="2886075"/>
          </a:xfrm>
          <a:prstGeom prst="rect">
            <a:avLst/>
          </a:prstGeom>
        </p:spPr>
      </p:pic>
    </p:spTree>
    <p:extLst>
      <p:ext uri="{BB962C8B-B14F-4D97-AF65-F5344CB8AC3E}">
        <p14:creationId xmlns:p14="http://schemas.microsoft.com/office/powerpoint/2010/main" val="39640704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Increased percentage of collisions that are successful </a:t>
            </a:r>
            <a:endParaRPr lang="en-AU" dirty="0"/>
          </a:p>
        </p:txBody>
      </p:sp>
      <p:sp>
        <p:nvSpPr>
          <p:cNvPr id="3" name="Content Placeholder 2"/>
          <p:cNvSpPr>
            <a:spLocks noGrp="1"/>
          </p:cNvSpPr>
          <p:nvPr>
            <p:ph idx="1"/>
          </p:nvPr>
        </p:nvSpPr>
        <p:spPr/>
        <p:txBody>
          <a:bodyPr/>
          <a:lstStyle/>
          <a:p>
            <a:r>
              <a:rPr lang="en-AU" dirty="0" smtClean="0"/>
              <a:t>The </a:t>
            </a:r>
            <a:r>
              <a:rPr lang="en-AU" dirty="0" err="1" smtClean="0"/>
              <a:t>av</a:t>
            </a:r>
            <a:endParaRPr lang="en-AU" dirty="0"/>
          </a:p>
        </p:txBody>
      </p:sp>
      <p:pic>
        <p:nvPicPr>
          <p:cNvPr id="4" name="Picture 3"/>
          <p:cNvPicPr>
            <a:picLocks noChangeAspect="1"/>
          </p:cNvPicPr>
          <p:nvPr/>
        </p:nvPicPr>
        <p:blipFill>
          <a:blip r:embed="rId2"/>
          <a:stretch>
            <a:fillRect/>
          </a:stretch>
        </p:blipFill>
        <p:spPr>
          <a:xfrm>
            <a:off x="1733624" y="962024"/>
            <a:ext cx="7500864" cy="5895975"/>
          </a:xfrm>
          <a:prstGeom prst="rect">
            <a:avLst/>
          </a:prstGeom>
        </p:spPr>
      </p:pic>
    </p:spTree>
    <p:extLst>
      <p:ext uri="{BB962C8B-B14F-4D97-AF65-F5344CB8AC3E}">
        <p14:creationId xmlns:p14="http://schemas.microsoft.com/office/powerpoint/2010/main" val="1341927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Catalysts</a:t>
            </a:r>
            <a:endParaRPr lang="en-AU" dirty="0"/>
          </a:p>
        </p:txBody>
      </p:sp>
      <p:sp>
        <p:nvSpPr>
          <p:cNvPr id="3" name="Content Placeholder 2"/>
          <p:cNvSpPr>
            <a:spLocks noGrp="1"/>
          </p:cNvSpPr>
          <p:nvPr>
            <p:ph idx="1"/>
          </p:nvPr>
        </p:nvSpPr>
        <p:spPr/>
        <p:txBody>
          <a:bodyPr/>
          <a:lstStyle/>
          <a:p>
            <a:r>
              <a:rPr lang="en-AU" dirty="0" smtClean="0"/>
              <a:t>A catalyst is something that can affect the rate of a reaction. Positive catalysts increase the rate of the reaction and negative catalysts decrease the rate of the reaction. </a:t>
            </a:r>
          </a:p>
          <a:p>
            <a:r>
              <a:rPr lang="en-AU" dirty="0" smtClean="0"/>
              <a:t>All positive catalysts provide an alternative pathway for the reaction, which is </a:t>
            </a:r>
            <a:r>
              <a:rPr lang="en-AU" dirty="0"/>
              <a:t>e</a:t>
            </a:r>
            <a:r>
              <a:rPr lang="en-AU" dirty="0" smtClean="0"/>
              <a:t>asier and therefore has a lower activation energy.</a:t>
            </a:r>
          </a:p>
          <a:p>
            <a:r>
              <a:rPr lang="en-AU" dirty="0" smtClean="0"/>
              <a:t>A lower activation energy means that more molecules have enough energy for successful collisions. Therefore there are more successful collisions and therefore a faster rate of reaction.</a:t>
            </a:r>
            <a:endParaRPr lang="en-AU" dirty="0"/>
          </a:p>
        </p:txBody>
      </p:sp>
    </p:spTree>
    <p:extLst>
      <p:ext uri="{BB962C8B-B14F-4D97-AF65-F5344CB8AC3E}">
        <p14:creationId xmlns:p14="http://schemas.microsoft.com/office/powerpoint/2010/main" val="765498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dirty="0"/>
          </a:p>
        </p:txBody>
      </p:sp>
      <p:pic>
        <p:nvPicPr>
          <p:cNvPr id="4" name="Picture 3"/>
          <p:cNvPicPr>
            <a:picLocks noChangeAspect="1"/>
          </p:cNvPicPr>
          <p:nvPr/>
        </p:nvPicPr>
        <p:blipFill>
          <a:blip r:embed="rId2"/>
          <a:stretch>
            <a:fillRect/>
          </a:stretch>
        </p:blipFill>
        <p:spPr>
          <a:xfrm>
            <a:off x="1828801" y="2377349"/>
            <a:ext cx="7680960" cy="4267291"/>
          </a:xfrm>
          <a:prstGeom prst="rect">
            <a:avLst/>
          </a:prstGeom>
        </p:spPr>
      </p:pic>
    </p:spTree>
    <p:extLst>
      <p:ext uri="{BB962C8B-B14F-4D97-AF65-F5344CB8AC3E}">
        <p14:creationId xmlns:p14="http://schemas.microsoft.com/office/powerpoint/2010/main" val="2577796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4" name="Picture 3"/>
          <p:cNvPicPr>
            <a:picLocks noChangeAspect="1"/>
          </p:cNvPicPr>
          <p:nvPr/>
        </p:nvPicPr>
        <p:blipFill>
          <a:blip r:embed="rId2"/>
          <a:stretch>
            <a:fillRect/>
          </a:stretch>
        </p:blipFill>
        <p:spPr>
          <a:xfrm>
            <a:off x="1767840" y="1400174"/>
            <a:ext cx="7665720" cy="4726305"/>
          </a:xfrm>
          <a:prstGeom prst="rect">
            <a:avLst/>
          </a:prstGeom>
        </p:spPr>
      </p:pic>
    </p:spTree>
    <p:extLst>
      <p:ext uri="{BB962C8B-B14F-4D97-AF65-F5344CB8AC3E}">
        <p14:creationId xmlns:p14="http://schemas.microsoft.com/office/powerpoint/2010/main" val="204698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lstStyle/>
          <a:p>
            <a:r>
              <a:rPr lang="en-AU" dirty="0" smtClean="0"/>
              <a:t>One type of catalyst that is being used more commonly is metal nanoparticles. Metal nanoparticles have an advantage over other metal catalysts due to their large surface area. This means that a large amount of the reactants can access the catalyst and therefore have a greater impact on the reaction rate. </a:t>
            </a:r>
            <a:endParaRPr lang="en-AU" dirty="0"/>
          </a:p>
        </p:txBody>
      </p:sp>
    </p:spTree>
    <p:extLst>
      <p:ext uri="{BB962C8B-B14F-4D97-AF65-F5344CB8AC3E}">
        <p14:creationId xmlns:p14="http://schemas.microsoft.com/office/powerpoint/2010/main" val="700133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4" name="Picture 3"/>
          <p:cNvPicPr>
            <a:picLocks noChangeAspect="1"/>
          </p:cNvPicPr>
          <p:nvPr/>
        </p:nvPicPr>
        <p:blipFill>
          <a:blip r:embed="rId2"/>
          <a:stretch>
            <a:fillRect/>
          </a:stretch>
        </p:blipFill>
        <p:spPr>
          <a:xfrm>
            <a:off x="1154955" y="2871787"/>
            <a:ext cx="8761412" cy="2584133"/>
          </a:xfrm>
          <a:prstGeom prst="rect">
            <a:avLst/>
          </a:prstGeom>
        </p:spPr>
      </p:pic>
    </p:spTree>
    <p:extLst>
      <p:ext uri="{BB962C8B-B14F-4D97-AF65-F5344CB8AC3E}">
        <p14:creationId xmlns:p14="http://schemas.microsoft.com/office/powerpoint/2010/main" val="2373486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4" name="Picture 3"/>
          <p:cNvPicPr>
            <a:picLocks noChangeAspect="1"/>
          </p:cNvPicPr>
          <p:nvPr/>
        </p:nvPicPr>
        <p:blipFill>
          <a:blip r:embed="rId2"/>
          <a:stretch>
            <a:fillRect/>
          </a:stretch>
        </p:blipFill>
        <p:spPr>
          <a:xfrm>
            <a:off x="1447800" y="2852737"/>
            <a:ext cx="10287000" cy="2984183"/>
          </a:xfrm>
          <a:prstGeom prst="rect">
            <a:avLst/>
          </a:prstGeom>
        </p:spPr>
      </p:pic>
    </p:spTree>
    <p:extLst>
      <p:ext uri="{BB962C8B-B14F-4D97-AF65-F5344CB8AC3E}">
        <p14:creationId xmlns:p14="http://schemas.microsoft.com/office/powerpoint/2010/main" val="21405416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219</TotalTime>
  <Words>552</Words>
  <Application>Microsoft Office PowerPoint</Application>
  <PresentationFormat>Widescreen</PresentationFormat>
  <Paragraphs>30</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Century Gothic</vt:lpstr>
      <vt:lpstr>Wingdings</vt:lpstr>
      <vt:lpstr>Wingdings 3</vt:lpstr>
      <vt:lpstr>Ion Boardroom</vt:lpstr>
      <vt:lpstr>Term 4 Week 2 Lesson 1</vt:lpstr>
      <vt:lpstr>PowerPoint Presentation</vt:lpstr>
      <vt:lpstr>Nature of reactants</vt:lpstr>
      <vt:lpstr>Concentration and pressure</vt:lpstr>
      <vt:lpstr>PowerPoint Presentation</vt:lpstr>
      <vt:lpstr>PowerPoint Presentation</vt:lpstr>
      <vt:lpstr>Surface area</vt:lpstr>
      <vt:lpstr>Temperature</vt:lpstr>
      <vt:lpstr>Increased percentage of collisions that are successful </vt:lpstr>
      <vt:lpstr>Catalysts</vt:lpstr>
      <vt:lpstr>PowerPoint Presentation</vt:lpstr>
      <vt:lpstr>PowerPoint Presentation</vt:lpstr>
      <vt:lpstr>PowerPoint Presentation</vt:lpstr>
      <vt:lpstr>PowerPoint Presentation</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Term 4 Week 2 Lesson 1</dc:title>
  <dc:creator>D'CRUZ Jijy [Safety Bay Senior High School]</dc:creator>
  <cp:lastModifiedBy>D'CRUZ Jijy [Safety Bay Senior High School]</cp:lastModifiedBy>
  <cp:revision>18</cp:revision>
  <dcterms:created xsi:type="dcterms:W3CDTF">2019-10-21T11:28:41Z</dcterms:created>
  <dcterms:modified xsi:type="dcterms:W3CDTF">2019-10-21T15:07:56Z</dcterms:modified>
</cp:coreProperties>
</file>
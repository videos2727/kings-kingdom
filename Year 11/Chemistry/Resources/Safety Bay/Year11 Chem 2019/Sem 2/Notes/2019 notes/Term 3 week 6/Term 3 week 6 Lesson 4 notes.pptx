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455CAD74-AA95-4EF0-B282-D61337C09504}" type="datetimeFigureOut">
              <a:rPr lang="en-AU" smtClean="0"/>
              <a:t>28/08/2019</a:t>
            </a:fld>
            <a:endParaRPr lang="en-AU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AD74-AA95-4EF0-B282-D61337C09504}" type="datetimeFigureOut">
              <a:rPr lang="en-AU" smtClean="0"/>
              <a:t>28/08/2019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455CAD74-AA95-4EF0-B282-D61337C09504}" type="datetimeFigureOut">
              <a:rPr lang="en-AU" smtClean="0"/>
              <a:t>28/08/2019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AD74-AA95-4EF0-B282-D61337C09504}" type="datetimeFigureOut">
              <a:rPr lang="en-AU" smtClean="0"/>
              <a:t>28/08/2019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AD74-AA95-4EF0-B282-D61337C09504}" type="datetimeFigureOut">
              <a:rPr lang="en-AU" smtClean="0"/>
              <a:t>28/08/2019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AD74-AA95-4EF0-B282-D61337C09504}" type="datetimeFigureOut">
              <a:rPr lang="en-AU" smtClean="0"/>
              <a:t>28/08/2019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455CAD74-AA95-4EF0-B282-D61337C09504}" type="datetimeFigureOut">
              <a:rPr lang="en-AU" smtClean="0"/>
              <a:t>28/08/2019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AD74-AA95-4EF0-B282-D61337C09504}" type="datetimeFigureOut">
              <a:rPr lang="en-AU" smtClean="0"/>
              <a:t>28/08/2019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AD74-AA95-4EF0-B282-D61337C09504}" type="datetimeFigureOut">
              <a:rPr lang="en-AU" smtClean="0"/>
              <a:t>28/08/2019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AD74-AA95-4EF0-B282-D61337C09504}" type="datetimeFigureOut">
              <a:rPr lang="en-AU" smtClean="0"/>
              <a:t>28/08/2019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455CAD74-AA95-4EF0-B282-D61337C09504}" type="datetimeFigureOut">
              <a:rPr lang="en-AU" smtClean="0"/>
              <a:t>28/08/2019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455CAD74-AA95-4EF0-B282-D61337C09504}" type="datetimeFigureOut">
              <a:rPr lang="en-AU" smtClean="0"/>
              <a:t>28/08/2019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Term 3 Week 6 Lesson 4 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Reactions of acids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898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Reactions between acid and a metal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Acid+ metal</a:t>
                </a:r>
                <a:r>
                  <a:rPr lang="en-AU" dirty="0" smtClean="0">
                    <a:sym typeface="Wingdings 3"/>
                  </a:rPr>
                  <a:t>  a salt+ hydrogen gas</a:t>
                </a:r>
              </a:p>
              <a:p>
                <a:endParaRPr lang="en-AU" dirty="0">
                  <a:sym typeface="Wingdings 3"/>
                </a:endParaRPr>
              </a:p>
              <a:p>
                <a:r>
                  <a:rPr lang="en-AU" dirty="0" smtClean="0"/>
                  <a:t>2HCl(</a:t>
                </a:r>
                <a:r>
                  <a:rPr lang="en-AU" dirty="0" err="1" smtClean="0"/>
                  <a:t>aq</a:t>
                </a:r>
                <a:r>
                  <a:rPr lang="en-AU" dirty="0" smtClean="0"/>
                  <a:t>) + Mg(s) </a:t>
                </a:r>
                <a:r>
                  <a:rPr lang="en-AU" dirty="0" smtClean="0">
                    <a:sym typeface="Wingdings 3"/>
                  </a:rPr>
                  <a:t>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sym typeface="Wingdings 3"/>
                      </a:rPr>
                      <m:t>𝑀𝑔𝐶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  <a:sym typeface="Wingdings 3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b="0" i="0" smtClean="0">
                            <a:latin typeface="Cambria Math"/>
                            <a:sym typeface="Wingdings 3"/>
                          </a:rPr>
                          <m:t>l</m:t>
                        </m:r>
                      </m:e>
                      <m:sub>
                        <m:r>
                          <a:rPr lang="en-AU" b="0" i="0" smtClean="0">
                            <a:latin typeface="Cambria Math"/>
                            <a:sym typeface="Wingdings 3"/>
                          </a:rPr>
                          <m:t>2</m:t>
                        </m:r>
                      </m:sub>
                    </m:sSub>
                    <m:r>
                      <a:rPr lang="en-AU" b="0" i="0" smtClean="0">
                        <a:latin typeface="Cambria Math"/>
                        <a:sym typeface="Wingdings 3"/>
                      </a:rPr>
                      <m:t>(</m:t>
                    </m:r>
                  </m:oMath>
                </a14:m>
                <a:r>
                  <a:rPr lang="en-AU" dirty="0" smtClean="0"/>
                  <a:t>aq)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(</m:t>
                    </m:r>
                    <m:r>
                      <a:rPr lang="en-AU" b="0" i="1" smtClean="0">
                        <a:latin typeface="Cambria Math"/>
                      </a:rPr>
                      <m:t>𝑔</m:t>
                    </m:r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This reaction can be called as a corrosion reaction because the metal is eaten away. 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05" t="-11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22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Reaction between an acid and a carbonate or hydrogen carbonate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Acid + carbonate </a:t>
            </a:r>
            <a:r>
              <a:rPr lang="en-AU" dirty="0" smtClean="0">
                <a:sym typeface="Wingdings 3"/>
              </a:rPr>
              <a:t> a salt + carbon dioxide + water</a:t>
            </a:r>
          </a:p>
          <a:p>
            <a:r>
              <a:rPr lang="en-AU" dirty="0" smtClean="0">
                <a:sym typeface="Wingdings 3"/>
              </a:rPr>
              <a:t>2 </a:t>
            </a:r>
            <a:r>
              <a:rPr lang="en-AU" dirty="0" err="1" smtClean="0">
                <a:sym typeface="Wingdings 3"/>
              </a:rPr>
              <a:t>HCl</a:t>
            </a:r>
            <a:r>
              <a:rPr lang="en-AU" dirty="0" smtClean="0">
                <a:sym typeface="Wingdings 3"/>
              </a:rPr>
              <a:t>(</a:t>
            </a:r>
            <a:r>
              <a:rPr lang="en-AU" dirty="0" err="1" smtClean="0">
                <a:sym typeface="Wingdings 3"/>
              </a:rPr>
              <a:t>aq</a:t>
            </a:r>
            <a:r>
              <a:rPr lang="en-AU" dirty="0" smtClean="0">
                <a:sym typeface="Wingdings 3"/>
              </a:rPr>
              <a:t>) + CaCO3(s)  CaCl2 (</a:t>
            </a:r>
            <a:r>
              <a:rPr lang="en-AU" dirty="0" err="1" smtClean="0">
                <a:sym typeface="Wingdings 3"/>
              </a:rPr>
              <a:t>aq</a:t>
            </a:r>
            <a:r>
              <a:rPr lang="en-AU" dirty="0" smtClean="0">
                <a:sym typeface="Wingdings 3"/>
              </a:rPr>
              <a:t>) + H2O (l) + CO2(g)</a:t>
            </a:r>
          </a:p>
          <a:p>
            <a:endParaRPr lang="en-AU" dirty="0">
              <a:sym typeface="Wingdings 3"/>
            </a:endParaRPr>
          </a:p>
          <a:p>
            <a:r>
              <a:rPr lang="en-AU" dirty="0" smtClean="0">
                <a:sym typeface="Wingdings 3"/>
              </a:rPr>
              <a:t>Acid+ hydrogen carbonate  a salt+ carbon dioxide + water</a:t>
            </a:r>
          </a:p>
          <a:p>
            <a:endParaRPr lang="en-AU" dirty="0">
              <a:sym typeface="Wingdings 3"/>
            </a:endParaRPr>
          </a:p>
          <a:p>
            <a:r>
              <a:rPr lang="en-AU" dirty="0" err="1" smtClean="0">
                <a:sym typeface="Wingdings 3"/>
              </a:rPr>
              <a:t>HCl</a:t>
            </a:r>
            <a:r>
              <a:rPr lang="en-AU" dirty="0" smtClean="0">
                <a:sym typeface="Wingdings 3"/>
              </a:rPr>
              <a:t>(</a:t>
            </a:r>
            <a:r>
              <a:rPr lang="en-AU" dirty="0" err="1" smtClean="0">
                <a:sym typeface="Wingdings 3"/>
              </a:rPr>
              <a:t>aq</a:t>
            </a:r>
            <a:r>
              <a:rPr lang="en-AU" dirty="0" smtClean="0">
                <a:sym typeface="Wingdings 3"/>
              </a:rPr>
              <a:t>) + NaHCO3(s) </a:t>
            </a:r>
            <a:r>
              <a:rPr lang="en-AU" dirty="0" err="1" smtClean="0">
                <a:sym typeface="Wingdings 3"/>
              </a:rPr>
              <a:t>NaCl</a:t>
            </a:r>
            <a:r>
              <a:rPr lang="en-AU" dirty="0" smtClean="0">
                <a:sym typeface="Wingdings 3"/>
              </a:rPr>
              <a:t>(</a:t>
            </a:r>
            <a:r>
              <a:rPr lang="en-AU" dirty="0" err="1" smtClean="0">
                <a:sym typeface="Wingdings 3"/>
              </a:rPr>
              <a:t>aq</a:t>
            </a:r>
            <a:r>
              <a:rPr lang="en-AU" dirty="0" smtClean="0">
                <a:sym typeface="Wingdings 3"/>
              </a:rPr>
              <a:t>) + H2O (l) + CO2(g)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3018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547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21</TotalTime>
  <Words>99</Words>
  <Application>Microsoft Office PowerPoint</Application>
  <PresentationFormat>On-screen Show (4:3)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Cambria Math</vt:lpstr>
      <vt:lpstr>Trebuchet MS</vt:lpstr>
      <vt:lpstr>Wingdings</vt:lpstr>
      <vt:lpstr>Wingdings 2</vt:lpstr>
      <vt:lpstr>Wingdings 3</vt:lpstr>
      <vt:lpstr>Opulent</vt:lpstr>
      <vt:lpstr>Term 3 Week 6 Lesson 4 </vt:lpstr>
      <vt:lpstr>Reactions between acid and a metal</vt:lpstr>
      <vt:lpstr>Reaction between an acid and a carbonate or hydrogen carbonate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Chapter: 7.6</dc:title>
  <dc:creator>Jijy</dc:creator>
  <cp:lastModifiedBy>D'CRUZ Jijy [Safety Bay Senior High School]</cp:lastModifiedBy>
  <cp:revision>6</cp:revision>
  <dcterms:created xsi:type="dcterms:W3CDTF">2015-09-07T14:11:49Z</dcterms:created>
  <dcterms:modified xsi:type="dcterms:W3CDTF">2019-08-28T12:42:08Z</dcterms:modified>
</cp:coreProperties>
</file>
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sldIdLst>
    <p:sldId id="256" r:id="rId2"/>
    <p:sldId id="257" r:id="rId3"/>
    <p:sldId id="259" r:id="rId4"/>
    <p:sldId id="260" r:id="rId5"/>
    <p:sldId id="261" r:id="rId6"/>
    <p:sldId id="258"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562633A6-B764-4716-9CAB-86E45F984305}" type="datetimeFigureOut">
              <a:rPr lang="en-AU" smtClean="0"/>
              <a:t>7/08/2019</a:t>
            </a:fld>
            <a:endParaRPr lang="en-AU"/>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AU"/>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340B6E4-3DA0-4349-B774-46A2159DBE97}"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2633A6-B764-4716-9CAB-86E45F984305}" type="datetimeFigureOut">
              <a:rPr lang="en-AU" smtClean="0"/>
              <a:t>7/08/2019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562633A6-B764-4716-9CAB-86E45F984305}" type="datetimeFigureOut">
              <a:rPr lang="en-AU" smtClean="0"/>
              <a:t>7/08/2019</a:t>
            </a:fld>
            <a:endParaRPr lang="en-AU"/>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AU"/>
          </a:p>
        </p:txBody>
      </p:sp>
      <p:sp>
        <p:nvSpPr>
          <p:cNvPr id="6" name="Slide Number Placeholder 5"/>
          <p:cNvSpPr>
            <a:spLocks noGrp="1"/>
          </p:cNvSpPr>
          <p:nvPr>
            <p:ph type="sldNum" sz="quarter" idx="12"/>
          </p:nvPr>
        </p:nvSpPr>
        <p:spPr>
          <a:xfrm>
            <a:off x="6733952" y="6555112"/>
            <a:ext cx="588336" cy="228600"/>
          </a:xfrm>
        </p:spPr>
        <p:txBody>
          <a:bodyPr/>
          <a:lstStyle/>
          <a:p>
            <a:fld id="{B340B6E4-3DA0-4349-B774-46A2159DBE97}"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62633A6-B764-4716-9CAB-86E45F984305}" type="datetimeFigureOut">
              <a:rPr lang="en-AU" smtClean="0"/>
              <a:t>7/08/2019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62633A6-B764-4716-9CAB-86E45F984305}" type="datetimeFigureOut">
              <a:rPr lang="en-AU" smtClean="0"/>
              <a:t>7/08/2019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62633A6-B764-4716-9CAB-86E45F984305}" type="datetimeFigureOut">
              <a:rPr lang="en-AU" smtClean="0"/>
              <a:t>7/08/2019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562633A6-B764-4716-9CAB-86E45F984305}" type="datetimeFigureOut">
              <a:rPr lang="en-AU" smtClean="0"/>
              <a:t>7/08/2019</a:t>
            </a:fld>
            <a:endParaRPr lang="en-AU"/>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AU"/>
          </a:p>
        </p:txBody>
      </p:sp>
      <p:sp>
        <p:nvSpPr>
          <p:cNvPr id="4" name="Slide Number Placeholder 3"/>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62633A6-B764-4716-9CAB-86E45F984305}" type="datetimeFigureOut">
              <a:rPr lang="en-AU" smtClean="0"/>
              <a:t>7/08/2019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p>
            <a:fld id="{562633A6-B764-4716-9CAB-86E45F984305}" type="datetimeFigureOut">
              <a:rPr lang="en-AU" smtClean="0"/>
              <a:t>7/08/2019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340B6E4-3DA0-4349-B774-46A2159DBE97}" type="slidenum">
              <a:rPr lang="en-AU" smtClean="0"/>
              <a:t>‹#›</a:t>
            </a:fld>
            <a:endParaRPr lang="en-AU"/>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2633A6-B764-4716-9CAB-86E45F984305}" type="datetimeFigureOut">
              <a:rPr lang="en-AU" smtClean="0"/>
              <a:t>7/08/2019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p>
            <a:fld id="{562633A6-B764-4716-9CAB-86E45F984305}" type="datetimeFigureOut">
              <a:rPr lang="en-AU" smtClean="0"/>
              <a:t>7/08/2019</a:t>
            </a:fld>
            <a:endParaRPr lang="en-AU"/>
          </a:p>
        </p:txBody>
      </p:sp>
      <p:sp>
        <p:nvSpPr>
          <p:cNvPr id="5" name="Footer Placeholder 4"/>
          <p:cNvSpPr>
            <a:spLocks noGrp="1"/>
          </p:cNvSpPr>
          <p:nvPr>
            <p:ph type="ftr" sz="quarter" idx="11"/>
          </p:nvPr>
        </p:nvSpPr>
        <p:spPr>
          <a:xfrm>
            <a:off x="457200" y="6556248"/>
            <a:ext cx="3657600" cy="228600"/>
          </a:xfrm>
        </p:spPr>
        <p:txBody>
          <a:bodyPr/>
          <a:lstStyle/>
          <a:p>
            <a:endParaRPr lang="en-AU"/>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340B6E4-3DA0-4349-B774-46A2159DBE97}"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562633A6-B764-4716-9CAB-86E45F984305}" type="datetimeFigureOut">
              <a:rPr lang="en-AU" smtClean="0"/>
              <a:t>7/08/2019</a:t>
            </a:fld>
            <a:endParaRPr lang="en-AU"/>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AU"/>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340B6E4-3DA0-4349-B774-46A2159DBE97}"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Term 3 Week 3 Lesson 3 notes</a:t>
            </a:r>
            <a:endParaRPr lang="en-AU" dirty="0"/>
          </a:p>
        </p:txBody>
      </p:sp>
      <p:sp>
        <p:nvSpPr>
          <p:cNvPr id="3" name="Subtitle 2"/>
          <p:cNvSpPr>
            <a:spLocks noGrp="1"/>
          </p:cNvSpPr>
          <p:nvPr>
            <p:ph type="subTitle" idx="1"/>
          </p:nvPr>
        </p:nvSpPr>
        <p:spPr/>
        <p:txBody>
          <a:bodyPr/>
          <a:lstStyle/>
          <a:p>
            <a:r>
              <a:rPr lang="en-AU" dirty="0" smtClean="0"/>
              <a:t>Dilutions</a:t>
            </a:r>
            <a:endParaRPr lang="en-AU" dirty="0"/>
          </a:p>
        </p:txBody>
      </p:sp>
    </p:spTree>
    <p:extLst>
      <p:ext uri="{BB962C8B-B14F-4D97-AF65-F5344CB8AC3E}">
        <p14:creationId xmlns:p14="http://schemas.microsoft.com/office/powerpoint/2010/main" val="759926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a:bodyPr>
          <a:lstStyle/>
          <a:p>
            <a:r>
              <a:rPr lang="en-AU" dirty="0" smtClean="0"/>
              <a:t>The process of adding water to a solution to make it less concentrated is called </a:t>
            </a:r>
            <a:r>
              <a:rPr lang="en-AU" dirty="0" smtClean="0">
                <a:solidFill>
                  <a:srgbClr val="0070C0"/>
                </a:solidFill>
              </a:rPr>
              <a:t>dilution.</a:t>
            </a:r>
          </a:p>
          <a:p>
            <a:endParaRPr lang="en-AU" dirty="0">
              <a:solidFill>
                <a:srgbClr val="0070C0"/>
              </a:solidFill>
            </a:endParaRPr>
          </a:p>
          <a:p>
            <a:r>
              <a:rPr lang="en-AU" sz="2400" dirty="0" smtClean="0">
                <a:solidFill>
                  <a:srgbClr val="0070C0"/>
                </a:solidFill>
              </a:rPr>
              <a:t>Dilution is an important laboratory technique  used to produce solutions of required concentration for testing and analysis procedures. The dilution process must be as accurate possible, so the concentration of the required diluted solution is correct.</a:t>
            </a:r>
          </a:p>
          <a:p>
            <a:endParaRPr lang="en-AU" dirty="0" smtClean="0">
              <a:solidFill>
                <a:srgbClr val="0070C0"/>
              </a:solidFill>
            </a:endParaRPr>
          </a:p>
          <a:p>
            <a:endParaRPr lang="en-AU" dirty="0">
              <a:solidFill>
                <a:srgbClr val="0070C0"/>
              </a:solidFill>
            </a:endParaRPr>
          </a:p>
          <a:p>
            <a:endParaRPr lang="en-AU" dirty="0" smtClean="0">
              <a:solidFill>
                <a:srgbClr val="0070C0"/>
              </a:solidFill>
            </a:endParaRPr>
          </a:p>
          <a:p>
            <a:endParaRPr lang="en-AU" dirty="0">
              <a:solidFill>
                <a:srgbClr val="0070C0"/>
              </a:solidFill>
            </a:endParaRPr>
          </a:p>
        </p:txBody>
      </p:sp>
      <p:pic>
        <p:nvPicPr>
          <p:cNvPr id="4" name="Picture 3" descr="http://2012books.lardbucket.org/books/principles-of-general-chemistry-v1.0/section_08/d30bd057f60c6bf73ed4f18305fa177c.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39952" y="5165725"/>
            <a:ext cx="3432175" cy="1692275"/>
          </a:xfrm>
          <a:prstGeom prst="rect">
            <a:avLst/>
          </a:prstGeom>
          <a:noFill/>
          <a:ln>
            <a:noFill/>
          </a:ln>
        </p:spPr>
      </p:pic>
    </p:spTree>
    <p:extLst>
      <p:ext uri="{BB962C8B-B14F-4D97-AF65-F5344CB8AC3E}">
        <p14:creationId xmlns:p14="http://schemas.microsoft.com/office/powerpoint/2010/main" val="26798246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t>The dilution procedure involves: </a:t>
            </a:r>
          </a:p>
          <a:p>
            <a:endParaRPr lang="en-AU" dirty="0" smtClean="0"/>
          </a:p>
          <a:p>
            <a:r>
              <a:rPr lang="en-AU" dirty="0" smtClean="0"/>
              <a:t>1. using a pipette to measure a definite volume of a solution of  known concentration </a:t>
            </a:r>
          </a:p>
          <a:p>
            <a:endParaRPr lang="en-AU" dirty="0" smtClean="0"/>
          </a:p>
          <a:p>
            <a:r>
              <a:rPr lang="en-AU" dirty="0" smtClean="0"/>
              <a:t>2. transferring this volume to a volumetric flask</a:t>
            </a:r>
          </a:p>
          <a:p>
            <a:endParaRPr lang="en-AU" dirty="0" smtClean="0"/>
          </a:p>
          <a:p>
            <a:r>
              <a:rPr lang="en-AU" dirty="0" smtClean="0"/>
              <a:t>3. adding sufficient water to the volumetric flask to make up the solution to the calibration mark. </a:t>
            </a:r>
            <a:endParaRPr lang="en-AU" dirty="0"/>
          </a:p>
        </p:txBody>
      </p:sp>
    </p:spTree>
    <p:extLst>
      <p:ext uri="{BB962C8B-B14F-4D97-AF65-F5344CB8AC3E}">
        <p14:creationId xmlns:p14="http://schemas.microsoft.com/office/powerpoint/2010/main" val="27393790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image.slidesharecdn.com/4-140309062020-phpapp02/95/41-concentration-of-solutions-11-638.jpg?cb=1394347049"/>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38225" y="1751806"/>
            <a:ext cx="6076950" cy="4562475"/>
          </a:xfrm>
          <a:prstGeom prst="rect">
            <a:avLst/>
          </a:prstGeom>
          <a:noFill/>
          <a:ln>
            <a:noFill/>
          </a:ln>
        </p:spPr>
      </p:pic>
    </p:spTree>
    <p:extLst>
      <p:ext uri="{BB962C8B-B14F-4D97-AF65-F5344CB8AC3E}">
        <p14:creationId xmlns:p14="http://schemas.microsoft.com/office/powerpoint/2010/main" val="16341963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AU" dirty="0" smtClean="0"/>
                  <a:t>As the number of moles of solute remains constant, we can use the following formula to relate concentration and volume of the original solution to that of the diluted solution. </a:t>
                </a:r>
              </a:p>
              <a:p>
                <a:endParaRPr lang="en-AU" dirty="0"/>
              </a:p>
              <a:p>
                <a:r>
                  <a:rPr lang="en-AU" dirty="0" smtClean="0"/>
                  <a:t>Dilution formula :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a:rPr>
                          <m:t>𝑐</m:t>
                        </m:r>
                      </m:e>
                      <m:sub>
                        <m:r>
                          <a:rPr lang="en-AU" b="0" i="1" smtClean="0">
                            <a:latin typeface="Cambria Math"/>
                          </a:rPr>
                          <m:t>1</m:t>
                        </m:r>
                      </m:sub>
                    </m:sSub>
                    <m:sSub>
                      <m:sSubPr>
                        <m:ctrlPr>
                          <a:rPr lang="en-AU" b="0" i="1" smtClean="0">
                            <a:latin typeface="Cambria Math" panose="02040503050406030204" pitchFamily="18" charset="0"/>
                          </a:rPr>
                        </m:ctrlPr>
                      </m:sSubPr>
                      <m:e>
                        <m:r>
                          <a:rPr lang="en-AU" b="0" i="1" smtClean="0">
                            <a:latin typeface="Cambria Math"/>
                          </a:rPr>
                          <m:t>𝑉</m:t>
                        </m:r>
                      </m:e>
                      <m:sub>
                        <m:r>
                          <a:rPr lang="en-AU" b="0" i="1" smtClean="0">
                            <a:latin typeface="Cambria Math"/>
                          </a:rPr>
                          <m:t>1</m:t>
                        </m:r>
                      </m:sub>
                    </m:sSub>
                    <m:r>
                      <a:rPr lang="en-AU" b="0" i="1" smtClean="0">
                        <a:latin typeface="Cambria Math"/>
                      </a:rPr>
                      <m:t>=</m:t>
                    </m:r>
                    <m:sSub>
                      <m:sSubPr>
                        <m:ctrlPr>
                          <a:rPr lang="en-AU" b="0" i="1" smtClean="0">
                            <a:latin typeface="Cambria Math" panose="02040503050406030204" pitchFamily="18" charset="0"/>
                          </a:rPr>
                        </m:ctrlPr>
                      </m:sSubPr>
                      <m:e>
                        <m:r>
                          <m:rPr>
                            <m:sty m:val="p"/>
                          </m:rPr>
                          <a:rPr lang="en-AU" b="0" i="0" smtClean="0">
                            <a:latin typeface="Cambria Math"/>
                          </a:rPr>
                          <m:t>c</m:t>
                        </m:r>
                      </m:e>
                      <m:sub>
                        <m:r>
                          <a:rPr lang="en-AU" b="0" i="0" smtClean="0">
                            <a:latin typeface="Cambria Math"/>
                          </a:rPr>
                          <m:t>2</m:t>
                        </m:r>
                      </m:sub>
                    </m:sSub>
                    <m:sSub>
                      <m:sSubPr>
                        <m:ctrlPr>
                          <a:rPr lang="en-AU" b="0" i="1" smtClean="0">
                            <a:latin typeface="Cambria Math" panose="02040503050406030204" pitchFamily="18" charset="0"/>
                          </a:rPr>
                        </m:ctrlPr>
                      </m:sSubPr>
                      <m:e>
                        <m:r>
                          <a:rPr lang="en-AU" b="0" i="1" smtClean="0">
                            <a:latin typeface="Cambria Math"/>
                          </a:rPr>
                          <m:t>𝑉</m:t>
                        </m:r>
                      </m:e>
                      <m:sub>
                        <m:r>
                          <a:rPr lang="en-AU" b="0" i="1" smtClean="0">
                            <a:latin typeface="Cambria Math"/>
                          </a:rPr>
                          <m:t>2</m:t>
                        </m:r>
                      </m:sub>
                    </m:sSub>
                  </m:oMath>
                </a14:m>
                <a:endParaRPr lang="en-AU" b="0" i="1" dirty="0" smtClean="0"/>
              </a:p>
              <a:p>
                <a:endParaRPr lang="en-AU" dirty="0" smtClean="0">
                  <a:effectLst>
                    <a:outerShdw blurRad="38100" dist="38100" dir="2700000" algn="tl">
                      <a:srgbClr val="000000">
                        <a:alpha val="43137"/>
                      </a:srgbClr>
                    </a:outerShdw>
                  </a:effectLst>
                </a:endParaRPr>
              </a:p>
              <a:p>
                <a14:m>
                  <m:oMath xmlns:m="http://schemas.openxmlformats.org/officeDocument/2006/math">
                    <m:sSub>
                      <m:sSubPr>
                        <m:ctrlPr>
                          <a:rPr lang="en-AU" i="1">
                            <a:latin typeface="Cambria Math" panose="02040503050406030204" pitchFamily="18" charset="0"/>
                          </a:rPr>
                        </m:ctrlPr>
                      </m:sSubPr>
                      <m:e>
                        <m:r>
                          <a:rPr lang="en-AU" i="1">
                            <a:latin typeface="Cambria Math"/>
                          </a:rPr>
                          <m:t>𝑐</m:t>
                        </m:r>
                      </m:e>
                      <m:sub>
                        <m:r>
                          <a:rPr lang="en-AU" i="1">
                            <a:latin typeface="Cambria Math"/>
                          </a:rPr>
                          <m:t>1</m:t>
                        </m:r>
                      </m:sub>
                    </m:sSub>
                  </m:oMath>
                </a14:m>
                <a:r>
                  <a:rPr lang="en-AU" dirty="0" smtClean="0">
                    <a:effectLst>
                      <a:outerShdw blurRad="38100" dist="38100" dir="2700000" algn="tl">
                        <a:srgbClr val="000000">
                          <a:alpha val="43137"/>
                        </a:srgbClr>
                      </a:outerShdw>
                    </a:effectLst>
                  </a:rPr>
                  <a:t> </a:t>
                </a:r>
                <a:r>
                  <a:rPr lang="en-AU" dirty="0" smtClean="0"/>
                  <a:t>and</a:t>
                </a:r>
                <a14:m>
                  <m:oMath xmlns:m="http://schemas.openxmlformats.org/officeDocument/2006/math">
                    <m:sSub>
                      <m:sSubPr>
                        <m:ctrlPr>
                          <a:rPr lang="en-AU" i="1">
                            <a:latin typeface="Cambria Math" panose="02040503050406030204" pitchFamily="18" charset="0"/>
                          </a:rPr>
                        </m:ctrlPr>
                      </m:sSubPr>
                      <m:e>
                        <m:r>
                          <a:rPr lang="en-AU" b="0" i="0" smtClean="0">
                            <a:latin typeface="Cambria Math"/>
                          </a:rPr>
                          <m:t> </m:t>
                        </m:r>
                        <m:r>
                          <m:rPr>
                            <m:sty m:val="p"/>
                          </m:rPr>
                          <a:rPr lang="en-AU">
                            <a:latin typeface="Cambria Math"/>
                          </a:rPr>
                          <m:t>c</m:t>
                        </m:r>
                      </m:e>
                      <m:sub>
                        <m:r>
                          <a:rPr lang="en-AU">
                            <a:latin typeface="Cambria Math"/>
                          </a:rPr>
                          <m:t>2</m:t>
                        </m:r>
                      </m:sub>
                    </m:sSub>
                  </m:oMath>
                </a14:m>
                <a:r>
                  <a:rPr lang="en-AU" dirty="0" smtClean="0">
                    <a:effectLst>
                      <a:outerShdw blurRad="38100" dist="38100" dir="2700000" algn="tl">
                        <a:srgbClr val="000000">
                          <a:alpha val="43137"/>
                        </a:srgbClr>
                      </a:outerShdw>
                    </a:effectLst>
                  </a:rPr>
                  <a:t> </a:t>
                </a:r>
                <a:r>
                  <a:rPr lang="en-AU" dirty="0" smtClean="0"/>
                  <a:t>initial</a:t>
                </a:r>
                <a:r>
                  <a:rPr lang="en-AU" dirty="0" smtClean="0">
                    <a:effectLst>
                      <a:outerShdw blurRad="38100" dist="38100" dir="2700000" algn="tl">
                        <a:srgbClr val="000000">
                          <a:alpha val="43137"/>
                        </a:srgbClr>
                      </a:outerShdw>
                    </a:effectLst>
                  </a:rPr>
                  <a:t> </a:t>
                </a:r>
                <a:r>
                  <a:rPr lang="en-AU" dirty="0" smtClean="0"/>
                  <a:t>and final concentrations of the solution in the same units and </a:t>
                </a:r>
                <a14:m>
                  <m:oMath xmlns:m="http://schemas.openxmlformats.org/officeDocument/2006/math">
                    <m:sSub>
                      <m:sSubPr>
                        <m:ctrlPr>
                          <a:rPr lang="en-AU" i="1">
                            <a:latin typeface="Cambria Math" panose="02040503050406030204" pitchFamily="18" charset="0"/>
                          </a:rPr>
                        </m:ctrlPr>
                      </m:sSubPr>
                      <m:e>
                        <m:r>
                          <a:rPr lang="en-AU" i="1">
                            <a:latin typeface="Cambria Math"/>
                          </a:rPr>
                          <m:t>𝑉</m:t>
                        </m:r>
                      </m:e>
                      <m:sub>
                        <m:r>
                          <a:rPr lang="en-AU" i="1">
                            <a:latin typeface="Cambria Math"/>
                          </a:rPr>
                          <m:t>1</m:t>
                        </m:r>
                      </m:sub>
                    </m:sSub>
                  </m:oMath>
                </a14:m>
                <a:r>
                  <a:rPr lang="en-AU" dirty="0" smtClean="0"/>
                  <a:t> and </a:t>
                </a:r>
                <a14:m>
                  <m:oMath xmlns:m="http://schemas.openxmlformats.org/officeDocument/2006/math">
                    <m:sSub>
                      <m:sSubPr>
                        <m:ctrlPr>
                          <a:rPr lang="en-AU" i="1">
                            <a:latin typeface="Cambria Math" panose="02040503050406030204" pitchFamily="18" charset="0"/>
                          </a:rPr>
                        </m:ctrlPr>
                      </m:sSubPr>
                      <m:e>
                        <m:r>
                          <a:rPr lang="en-AU" i="1">
                            <a:latin typeface="Cambria Math"/>
                          </a:rPr>
                          <m:t>𝑉</m:t>
                        </m:r>
                      </m:e>
                      <m:sub>
                        <m:r>
                          <a:rPr lang="en-AU" i="1">
                            <a:latin typeface="Cambria Math"/>
                          </a:rPr>
                          <m:t>2</m:t>
                        </m:r>
                      </m:sub>
                    </m:sSub>
                  </m:oMath>
                </a14:m>
                <a:r>
                  <a:rPr lang="en-AU" dirty="0" smtClean="0"/>
                  <a:t> are the initial and final volumes of the solution.  </a:t>
                </a:r>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05" t="-2013"/>
                </a:stretch>
              </a:blipFill>
            </p:spPr>
            <p:txBody>
              <a:bodyPr/>
              <a:lstStyle/>
              <a:p>
                <a:r>
                  <a:rPr lang="en-AU">
                    <a:noFill/>
                  </a:rPr>
                  <a:t> </a:t>
                </a:r>
              </a:p>
            </p:txBody>
          </p:sp>
        </mc:Fallback>
      </mc:AlternateContent>
    </p:spTree>
    <p:extLst>
      <p:ext uri="{BB962C8B-B14F-4D97-AF65-F5344CB8AC3E}">
        <p14:creationId xmlns:p14="http://schemas.microsoft.com/office/powerpoint/2010/main" val="22695018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r>
              <a:rPr lang="en-AU" dirty="0" smtClean="0"/>
              <a:t>See the worked example: 7.4 in page: 318 NC</a:t>
            </a:r>
            <a:endParaRPr lang="en-AU"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825" t="14939" r="29722" b="40244"/>
          <a:stretch/>
        </p:blipFill>
        <p:spPr bwMode="auto">
          <a:xfrm>
            <a:off x="395536" y="1052736"/>
            <a:ext cx="8015158" cy="4992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56798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229</TotalTime>
  <Words>159</Words>
  <Application>Microsoft Office PowerPoint</Application>
  <PresentationFormat>On-screen Show (4:3)</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Cambria Math</vt:lpstr>
      <vt:lpstr>Trebuchet MS</vt:lpstr>
      <vt:lpstr>Wingdings</vt:lpstr>
      <vt:lpstr>Wingdings 2</vt:lpstr>
      <vt:lpstr>Opulent</vt:lpstr>
      <vt:lpstr>Term 3 Week 3 Lesson 3 notes</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7.3</dc:title>
  <dc:creator>Jijy D'cruz</dc:creator>
  <cp:lastModifiedBy>D'CRUZ Jijy [Safety Bay Senior High School]</cp:lastModifiedBy>
  <cp:revision>14</cp:revision>
  <dcterms:created xsi:type="dcterms:W3CDTF">2015-08-27T09:38:55Z</dcterms:created>
  <dcterms:modified xsi:type="dcterms:W3CDTF">2019-08-07T12:45:14Z</dcterms:modified>
</cp:coreProperties>
</file>
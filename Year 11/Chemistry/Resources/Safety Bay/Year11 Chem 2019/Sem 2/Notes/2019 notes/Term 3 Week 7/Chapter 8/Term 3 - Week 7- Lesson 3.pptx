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9"/>
  </p:notesMasterIdLst>
  <p:sldIdLst>
    <p:sldId id="256" r:id="rId2"/>
    <p:sldId id="257" r:id="rId3"/>
    <p:sldId id="259" r:id="rId4"/>
    <p:sldId id="258" r:id="rId5"/>
    <p:sldId id="262" r:id="rId6"/>
    <p:sldId id="272" r:id="rId7"/>
    <p:sldId id="260" r:id="rId8"/>
    <p:sldId id="261" r:id="rId9"/>
    <p:sldId id="263" r:id="rId10"/>
    <p:sldId id="265" r:id="rId11"/>
    <p:sldId id="264" r:id="rId12"/>
    <p:sldId id="266" r:id="rId13"/>
    <p:sldId id="267" r:id="rId14"/>
    <p:sldId id="268" r:id="rId15"/>
    <p:sldId id="270" r:id="rId16"/>
    <p:sldId id="271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1750" autoAdjust="0"/>
  </p:normalViewPr>
  <p:slideViewPr>
    <p:cSldViewPr>
      <p:cViewPr varScale="1">
        <p:scale>
          <a:sx n="88" d="100"/>
          <a:sy n="88" d="100"/>
        </p:scale>
        <p:origin x="130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6D57A2-2370-406E-921A-5F475567C48A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27411-5BAB-4E22-AC10-060217C326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5116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527411-5BAB-4E22-AC10-060217C326F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0026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527411-5BAB-4E22-AC10-060217C326F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5847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899B2726-3D06-4075-965D-39C526EA4363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899B2726-3D06-4075-965D-39C526EA4363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Gas laws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Term 3 Week 7 Lesson 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0202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When a balloon is heated, it gets bigger, thus maintaining a constant pressure. If a sealed container is exposed to extreme heat, such as that from a fire, the gas pressure can build up and the container may explode.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To compare the changes in conditions that involve gases, scientists use a set of standard conditions for temperature and pressure. 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8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60" t="48485" r="15889" b="35714"/>
          <a:stretch/>
        </p:blipFill>
        <p:spPr bwMode="auto">
          <a:xfrm>
            <a:off x="827584" y="2852936"/>
            <a:ext cx="7632848" cy="3096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634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Boyle’s law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 smtClean="0"/>
              <a:t>More than 300 years ago, Robert Boyle was the first chemist to perform quantitative experiments on gases. </a:t>
            </a:r>
          </a:p>
          <a:p>
            <a:endParaRPr lang="en-AU" dirty="0"/>
          </a:p>
          <a:p>
            <a:r>
              <a:rPr lang="en-AU" dirty="0" smtClean="0">
                <a:solidFill>
                  <a:schemeClr val="accent3">
                    <a:lumMod val="75000"/>
                  </a:schemeClr>
                </a:solidFill>
              </a:rPr>
              <a:t>Boyle’s law states that at a constant temperature, the volume of a given mass of gas is inversely proportional to the applied pressure.</a:t>
            </a:r>
          </a:p>
          <a:p>
            <a:r>
              <a:rPr lang="en-AU" dirty="0"/>
              <a:t>Boyle’s law can be expressed </a:t>
            </a:r>
            <a:r>
              <a:rPr lang="en-AU" dirty="0" smtClean="0"/>
              <a:t>as </a:t>
            </a:r>
          </a:p>
          <a:p>
            <a:endParaRPr lang="en-AU" dirty="0" smtClean="0"/>
          </a:p>
          <a:p>
            <a:endParaRPr lang="en-AU" dirty="0" smtClean="0"/>
          </a:p>
          <a:p>
            <a:r>
              <a:rPr lang="en-AU" dirty="0" smtClean="0"/>
              <a:t>This </a:t>
            </a:r>
            <a:r>
              <a:rPr lang="en-AU" dirty="0"/>
              <a:t>means the larger the applied pressure, the smaller the volume. </a:t>
            </a:r>
          </a:p>
          <a:p>
            <a:r>
              <a:rPr lang="en-AU" dirty="0" smtClean="0"/>
              <a:t>  </a:t>
            </a:r>
            <a:endParaRPr lang="en-AU" dirty="0"/>
          </a:p>
          <a:p>
            <a:endParaRPr lang="en-AU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5" name="Picture 4" descr="http://cfbt-us.com/wordpress/wp-content/uploads/2010/09/boyles_law_eq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4293096"/>
            <a:ext cx="1020445" cy="605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0141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An alternative form of Boyle’s law is :</a:t>
            </a:r>
          </a:p>
          <a:p>
            <a:r>
              <a:rPr lang="en-AU" dirty="0" smtClean="0"/>
              <a:t>P1V1= P2V2</a:t>
            </a:r>
          </a:p>
          <a:p>
            <a:r>
              <a:rPr lang="en-AU" dirty="0" smtClean="0"/>
              <a:t>Where </a:t>
            </a:r>
            <a:r>
              <a:rPr lang="en-AU" i="1" dirty="0" smtClean="0"/>
              <a:t>P1 and P2 are </a:t>
            </a:r>
            <a:r>
              <a:rPr lang="en-AU" dirty="0" smtClean="0"/>
              <a:t>the initial and final pressures </a:t>
            </a:r>
            <a:r>
              <a:rPr lang="en-AU" i="1" dirty="0" smtClean="0"/>
              <a:t>V1 and V2 </a:t>
            </a:r>
            <a:r>
              <a:rPr lang="en-AU" dirty="0" smtClean="0"/>
              <a:t>are the initial and final volumes. </a:t>
            </a:r>
          </a:p>
          <a:p>
            <a:endParaRPr lang="en-AU" dirty="0"/>
          </a:p>
          <a:p>
            <a:r>
              <a:rPr lang="en-AU" dirty="0" smtClean="0">
                <a:solidFill>
                  <a:srgbClr val="002060"/>
                </a:solidFill>
              </a:rPr>
              <a:t>See worked example: 8.1 from page: 350</a:t>
            </a:r>
            <a:endParaRPr lang="en-A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51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39099" t="16683" r="2071" b="33918"/>
          <a:stretch/>
        </p:blipFill>
        <p:spPr bwMode="auto">
          <a:xfrm>
            <a:off x="-23949" y="1052736"/>
            <a:ext cx="8640960" cy="53285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2474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70C0"/>
                </a:solidFill>
              </a:rPr>
              <a:t>Another way of expressing Boyle’s law is 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PV= </a:t>
            </a:r>
            <a:r>
              <a:rPr lang="en-AU" i="1" dirty="0" smtClean="0">
                <a:solidFill>
                  <a:srgbClr val="0070C0"/>
                </a:solidFill>
              </a:rPr>
              <a:t>k  </a:t>
            </a:r>
            <a:r>
              <a:rPr lang="en-AU" dirty="0" smtClean="0">
                <a:solidFill>
                  <a:srgbClr val="0070C0"/>
                </a:solidFill>
              </a:rPr>
              <a:t>where </a:t>
            </a:r>
            <a:r>
              <a:rPr lang="en-AU" i="1" dirty="0" smtClean="0">
                <a:solidFill>
                  <a:srgbClr val="0070C0"/>
                </a:solidFill>
              </a:rPr>
              <a:t>k</a:t>
            </a:r>
            <a:r>
              <a:rPr lang="en-AU" dirty="0">
                <a:solidFill>
                  <a:srgbClr val="0070C0"/>
                </a:solidFill>
              </a:rPr>
              <a:t>-</a:t>
            </a:r>
            <a:r>
              <a:rPr lang="en-AU" dirty="0" smtClean="0">
                <a:solidFill>
                  <a:srgbClr val="0070C0"/>
                </a:solidFill>
              </a:rPr>
              <a:t> is a constant. 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For a particular sample of gas at a given temperature, the product of the pressure and volume is a constant value.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140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Charles’  law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About 100 years after Boyle investigated the relationship between pressure and volume, French physicist Jacques Charles studied the relationship between temperature and volume using gases. </a:t>
            </a:r>
          </a:p>
          <a:p>
            <a:endParaRPr lang="en-AU" dirty="0"/>
          </a:p>
          <a:p>
            <a:r>
              <a:rPr lang="en-AU" dirty="0" smtClean="0"/>
              <a:t>For a fixed quantity of gas at a constant pressure, the volume increases linearly with temperature. This relationship is called </a:t>
            </a:r>
            <a:r>
              <a:rPr lang="en-AU" dirty="0" smtClean="0">
                <a:solidFill>
                  <a:srgbClr val="FF0000"/>
                </a:solidFill>
              </a:rPr>
              <a:t>Charles’ law. 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73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When experimental temperature and volume data are plotted, a linear relationship emerges, as in Figure C8. 13.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174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AU" dirty="0" smtClean="0"/>
                  <a:t>Extrapolation of data leads to a temperature of</a:t>
                </a:r>
              </a:p>
              <a:p>
                <a:r>
                  <a:rPr lang="en-AU" dirty="0" smtClean="0"/>
                  <a:t> 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dirty="0" smtClean="0">
                            <a:latin typeface="Cambria Math"/>
                          </a:rPr>
                          <m:t>273</m:t>
                        </m:r>
                      </m:e>
                      <m:sup>
                        <m:r>
                          <a:rPr lang="en-AU" b="0" i="1" dirty="0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AU" b="0" i="1" dirty="0" smtClean="0">
                        <a:latin typeface="Cambria Math"/>
                      </a:rPr>
                      <m:t>𝐶</m:t>
                    </m:r>
                    <m:r>
                      <a:rPr lang="en-AU" b="0" i="1" dirty="0" smtClean="0">
                        <a:latin typeface="Cambria Math"/>
                      </a:rPr>
                      <m:t>, </m:t>
                    </m:r>
                    <m:r>
                      <a:rPr lang="en-AU" b="0" i="1" dirty="0" smtClean="0">
                        <a:latin typeface="Cambria Math"/>
                      </a:rPr>
                      <m:t>𝑤h𝑖𝑐h</m:t>
                    </m:r>
                    <m:r>
                      <a:rPr lang="en-AU" b="0" i="1" dirty="0" smtClean="0">
                        <a:latin typeface="Cambria Math"/>
                      </a:rPr>
                      <m:t> </m:t>
                    </m:r>
                    <m:r>
                      <a:rPr lang="en-AU" b="0" i="1" dirty="0" smtClean="0">
                        <a:latin typeface="Cambria Math"/>
                      </a:rPr>
                      <m:t>𝑖𝑠</m:t>
                    </m:r>
                    <m:r>
                      <a:rPr lang="en-AU" b="0" i="1" dirty="0" smtClean="0">
                        <a:latin typeface="Cambria Math"/>
                      </a:rPr>
                      <m:t> </m:t>
                    </m:r>
                    <m:r>
                      <a:rPr lang="en-AU" b="0" i="1" dirty="0" smtClean="0">
                        <a:latin typeface="Cambria Math"/>
                      </a:rPr>
                      <m:t>𝑎𝑏𝑠𝑜𝑙𝑢𝑡𝑒</m:t>
                    </m:r>
                    <m:r>
                      <a:rPr lang="en-AU" b="0" i="1" dirty="0" smtClean="0">
                        <a:latin typeface="Cambria Math"/>
                      </a:rPr>
                      <m:t> </m:t>
                    </m:r>
                    <m:r>
                      <a:rPr lang="en-AU" b="0" i="1" dirty="0" smtClean="0">
                        <a:latin typeface="Cambria Math"/>
                      </a:rPr>
                      <m:t>𝑧𝑒𝑟𝑜</m:t>
                    </m:r>
                  </m:oMath>
                </a14:m>
                <a:r>
                  <a:rPr lang="en-AU" dirty="0" smtClean="0"/>
                  <a:t>. Charles’ experiments led to the development of a new temperature scale. </a:t>
                </a:r>
              </a:p>
              <a:p>
                <a:endParaRPr lang="en-AU" dirty="0" smtClean="0"/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If the data is plotted using the absolute temperature scale, all lines will pass through the origin of the graph and therefore temperature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( K) is directly proportional to volume. So, calculations involving gases, temperature must be given in kelvin.</a:t>
                </a:r>
                <a:endParaRPr lang="en-AU" dirty="0">
                  <a:solidFill>
                    <a:srgbClr val="FF0000"/>
                  </a:solidFill>
                </a:endParaRPr>
              </a:p>
              <a:p>
                <a:r>
                  <a:rPr lang="en-AU" dirty="0" smtClean="0"/>
                  <a:t>l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372" r="-1111" b="-22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382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29" t="52722" r="6587" b="16835"/>
          <a:stretch/>
        </p:blipFill>
        <p:spPr bwMode="auto">
          <a:xfrm>
            <a:off x="1" y="7409"/>
            <a:ext cx="9473044" cy="6589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245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 smtClean="0"/>
              <a:t>Charle’s</a:t>
            </a:r>
            <a:r>
              <a:rPr lang="en-AU" dirty="0" smtClean="0"/>
              <a:t> law states that at constant pressure, the volume of a quantity of gas is proportional to its absolute ( kelvin) temperature.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4" name="Picture 3"/>
          <p:cNvPicPr/>
          <p:nvPr/>
        </p:nvPicPr>
        <p:blipFill rotWithShape="1">
          <a:blip r:embed="rId3"/>
          <a:srcRect l="44215" t="43116" r="9622" b="21352"/>
          <a:stretch/>
        </p:blipFill>
        <p:spPr bwMode="auto">
          <a:xfrm>
            <a:off x="1115616" y="3861048"/>
            <a:ext cx="7704856" cy="27363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20608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 rotWithShape="1">
          <a:blip r:embed="rId2"/>
          <a:srcRect l="29111" t="22316" r="9622" b="19618"/>
          <a:stretch/>
        </p:blipFill>
        <p:spPr bwMode="auto">
          <a:xfrm>
            <a:off x="323529" y="188640"/>
            <a:ext cx="8352928" cy="63367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4363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 descr="http://images.slideplayer.com/16/5256859/slides/slide_5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96753"/>
            <a:ext cx="7920879" cy="5204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256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Combined gas law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 smtClean="0"/>
              <a:t>By combining Boyle’s law and Charles’ law, a new relationship called </a:t>
            </a:r>
            <a:r>
              <a:rPr lang="en-AU" dirty="0" smtClean="0">
                <a:solidFill>
                  <a:srgbClr val="FF0000"/>
                </a:solidFill>
              </a:rPr>
              <a:t>combined gas law </a:t>
            </a:r>
            <a:r>
              <a:rPr lang="en-AU" dirty="0" smtClean="0"/>
              <a:t>is produced. This gives a relationship between volume, pressure and absolute temperature for a given mass of gas. </a:t>
            </a:r>
          </a:p>
          <a:p>
            <a:endParaRPr lang="en-AU" dirty="0" smtClean="0"/>
          </a:p>
          <a:p>
            <a:r>
              <a:rPr lang="en-AU" dirty="0" smtClean="0"/>
              <a:t>P1V1/ T1 = P2V2/T2</a:t>
            </a:r>
          </a:p>
          <a:p>
            <a:r>
              <a:rPr lang="en-AU" dirty="0" smtClean="0"/>
              <a:t>P1,V1 and T1 represent initial pressure, volume and temperature (K) and P2, V2 and T2 represent final pressure, volume and </a:t>
            </a:r>
            <a:r>
              <a:rPr lang="en-AU" dirty="0"/>
              <a:t>temperature (K) 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9925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Temperature must be in kelvin and the units for volume and pressure must be consistent. 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775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31059" t="22533" r="8527" b="15502"/>
          <a:stretch/>
        </p:blipFill>
        <p:spPr bwMode="auto">
          <a:xfrm>
            <a:off x="251520" y="260648"/>
            <a:ext cx="8892480" cy="60935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3454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390</TotalTime>
  <Words>427</Words>
  <Application>Microsoft Office PowerPoint</Application>
  <PresentationFormat>On-screen Show (4:3)</PresentationFormat>
  <Paragraphs>44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 Math</vt:lpstr>
      <vt:lpstr>Corbel</vt:lpstr>
      <vt:lpstr>Wingdings</vt:lpstr>
      <vt:lpstr>Wingdings 2</vt:lpstr>
      <vt:lpstr>Wingdings 3</vt:lpstr>
      <vt:lpstr>Module</vt:lpstr>
      <vt:lpstr>Gas laws</vt:lpstr>
      <vt:lpstr>PowerPoint Presentation</vt:lpstr>
      <vt:lpstr>PowerPoint Presentation</vt:lpstr>
      <vt:lpstr>Boyle’s law</vt:lpstr>
      <vt:lpstr>PowerPoint Presentation</vt:lpstr>
      <vt:lpstr>PowerPoint Presentation</vt:lpstr>
      <vt:lpstr>PowerPoint Presentation</vt:lpstr>
      <vt:lpstr>Charles’  law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Combined gas law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 laws</dc:title>
  <dc:creator>D'CRUZ Jijy</dc:creator>
  <cp:lastModifiedBy>D'CRUZ Jijy [Safety Bay Senior High School]</cp:lastModifiedBy>
  <cp:revision>42</cp:revision>
  <dcterms:created xsi:type="dcterms:W3CDTF">2015-09-21T12:07:32Z</dcterms:created>
  <dcterms:modified xsi:type="dcterms:W3CDTF">2019-09-09T14:30:25Z</dcterms:modified>
</cp:coreProperties>
</file>
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7" r:id="rId20"/>
    <p:sldId id="278" r:id="rId21"/>
    <p:sldId id="279" r:id="rId22"/>
    <p:sldId id="281" r:id="rId23"/>
    <p:sldId id="280" r:id="rId24"/>
    <p:sldId id="282" r:id="rId25"/>
    <p:sldId id="283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3" d="100"/>
          <a:sy n="103" d="100"/>
        </p:scale>
        <p:origin x="-656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printerSettings" Target="printerSettings/printerSettings1.bin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McKenna:Downloads:MONITORINGDATACHECKLIS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ln>
              <a:solidFill>
                <a:schemeClr val="tx1"/>
              </a:solidFill>
            </a:ln>
          </c:spPr>
          <c:invertIfNegative val="0"/>
          <c:cat>
            <c:strRef>
              <c:f>Sheet0!$I$11:$I$20</c:f>
              <c:strCache>
                <c:ptCount val="10"/>
                <c:pt idx="0">
                  <c:v>0-10</c:v>
                </c:pt>
                <c:pt idx="1">
                  <c:v>11-20</c:v>
                </c:pt>
                <c:pt idx="2">
                  <c:v>21-30</c:v>
                </c:pt>
                <c:pt idx="3">
                  <c:v>31-40</c:v>
                </c:pt>
                <c:pt idx="4">
                  <c:v>41-50</c:v>
                </c:pt>
                <c:pt idx="5">
                  <c:v>51-60</c:v>
                </c:pt>
                <c:pt idx="6">
                  <c:v>61-70</c:v>
                </c:pt>
                <c:pt idx="7">
                  <c:v>71-80</c:v>
                </c:pt>
                <c:pt idx="8">
                  <c:v>81-90</c:v>
                </c:pt>
                <c:pt idx="9">
                  <c:v>90-100</c:v>
                </c:pt>
              </c:strCache>
            </c:strRef>
          </c:cat>
          <c:val>
            <c:numRef>
              <c:f>Sheet0!$J$11:$J$20</c:f>
              <c:numCache>
                <c:formatCode>General</c:formatCode>
                <c:ptCount val="10"/>
                <c:pt idx="0">
                  <c:v>0.0</c:v>
                </c:pt>
                <c:pt idx="1">
                  <c:v>0.0</c:v>
                </c:pt>
                <c:pt idx="2">
                  <c:v>2.0</c:v>
                </c:pt>
                <c:pt idx="3">
                  <c:v>0.0</c:v>
                </c:pt>
                <c:pt idx="4">
                  <c:v>0.0</c:v>
                </c:pt>
                <c:pt idx="5">
                  <c:v>1.0</c:v>
                </c:pt>
                <c:pt idx="6">
                  <c:v>6.0</c:v>
                </c:pt>
                <c:pt idx="7">
                  <c:v>5.0</c:v>
                </c:pt>
                <c:pt idx="8">
                  <c:v>2.0</c:v>
                </c:pt>
                <c:pt idx="9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142749096"/>
        <c:axId val="2142903048"/>
      </c:barChart>
      <c:catAx>
        <c:axId val="214274909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2142903048"/>
        <c:crosses val="autoZero"/>
        <c:auto val="1"/>
        <c:lblAlgn val="ctr"/>
        <c:lblOffset val="100"/>
        <c:noMultiLvlLbl val="0"/>
      </c:catAx>
      <c:valAx>
        <c:axId val="2142903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14274909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spcBef>
                <a:spcPts val="600"/>
              </a:spcBef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AU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728701E-CAF4-4159-9B3E-41C86DFFA30D}" type="datetimeFigureOut">
              <a:rPr lang="en-US" smtClean="0"/>
              <a:t>28/02/15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Year 11 – </a:t>
            </a:r>
            <a:br>
              <a:rPr lang="en-US" dirty="0" smtClean="0"/>
            </a:br>
            <a:r>
              <a:rPr lang="en-US" dirty="0" smtClean="0"/>
              <a:t>Stoichiometry Test Results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83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Stats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  Mean: </a:t>
            </a:r>
            <a:r>
              <a:rPr lang="en-US" sz="3600" dirty="0" smtClean="0"/>
              <a:t>64%</a:t>
            </a:r>
            <a:endParaRPr lang="en-US" sz="3600" dirty="0" smtClean="0"/>
          </a:p>
          <a:p>
            <a:r>
              <a:rPr lang="en-US" sz="3600" dirty="0" smtClean="0"/>
              <a:t>  Median: 69%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0991874"/>
              </p:ext>
            </p:extLst>
          </p:nvPr>
        </p:nvGraphicFramePr>
        <p:xfrm>
          <a:off x="357711" y="2558054"/>
          <a:ext cx="8786289" cy="4140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0056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 Q1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19" y="3374619"/>
            <a:ext cx="7556313" cy="353606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Answer: C</a:t>
            </a:r>
            <a:endParaRPr lang="en-US" sz="3200" dirty="0"/>
          </a:p>
          <a:p>
            <a:r>
              <a:rPr lang="en-US" sz="3200" dirty="0" smtClean="0"/>
              <a:t>Logic: </a:t>
            </a:r>
          </a:p>
          <a:p>
            <a:pPr lvl="1"/>
            <a:r>
              <a:rPr lang="en-US" sz="2800" dirty="0" smtClean="0"/>
              <a:t>If the formula is X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O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 then X must be X</a:t>
            </a:r>
            <a:r>
              <a:rPr lang="en-US" sz="2800" baseline="30000" dirty="0" smtClean="0"/>
              <a:t>3+</a:t>
            </a:r>
            <a:endParaRPr lang="en-US" sz="2800" dirty="0" smtClean="0"/>
          </a:p>
          <a:p>
            <a:pPr lvl="1"/>
            <a:r>
              <a:rPr lang="en-US" sz="2800" dirty="0" smtClean="0"/>
              <a:t>X</a:t>
            </a:r>
            <a:r>
              <a:rPr lang="en-US" sz="2800" baseline="30000" dirty="0" smtClean="0"/>
              <a:t>3+</a:t>
            </a:r>
            <a:r>
              <a:rPr lang="en-US" sz="2800" dirty="0" smtClean="0"/>
              <a:t> and </a:t>
            </a:r>
            <a:r>
              <a:rPr lang="en-US" sz="2800" dirty="0" err="1" smtClean="0"/>
              <a:t>Cl</a:t>
            </a:r>
            <a:r>
              <a:rPr lang="en-US" sz="2800" baseline="30000" dirty="0" smtClean="0"/>
              <a:t>-</a:t>
            </a:r>
            <a:r>
              <a:rPr lang="en-US" sz="2800" dirty="0" smtClean="0"/>
              <a:t> would form compound XCl</a:t>
            </a:r>
            <a:r>
              <a:rPr lang="en-US" sz="2800" baseline="-25000" dirty="0" smtClean="0"/>
              <a:t>3</a:t>
            </a:r>
            <a:endParaRPr lang="en-US" sz="2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074"/>
            <a:ext cx="8054787" cy="168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6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 Q2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20" y="3374619"/>
            <a:ext cx="6562246" cy="353606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Answer: A</a:t>
            </a:r>
            <a:endParaRPr lang="en-US" sz="3200" dirty="0"/>
          </a:p>
          <a:p>
            <a:r>
              <a:rPr lang="en-US" sz="3200" dirty="0" smtClean="0"/>
              <a:t>Logic: </a:t>
            </a:r>
          </a:p>
          <a:p>
            <a:pPr lvl="1"/>
            <a:r>
              <a:rPr lang="en-US" sz="2800" dirty="0" smtClean="0"/>
              <a:t>Ions in Group 1 form a +1 charge</a:t>
            </a:r>
          </a:p>
          <a:p>
            <a:pPr lvl="1"/>
            <a:r>
              <a:rPr lang="en-US" sz="2800" dirty="0" err="1" smtClean="0"/>
              <a:t>Fr</a:t>
            </a:r>
            <a:r>
              <a:rPr lang="en-US" sz="2800" baseline="30000" dirty="0" smtClean="0"/>
              <a:t>+</a:t>
            </a:r>
            <a:r>
              <a:rPr lang="en-US" sz="2800" dirty="0" smtClean="0"/>
              <a:t> and O</a:t>
            </a:r>
            <a:r>
              <a:rPr lang="en-US" sz="2800" baseline="30000" dirty="0" smtClean="0"/>
              <a:t>2-</a:t>
            </a:r>
            <a:r>
              <a:rPr lang="en-US" sz="2800" dirty="0" smtClean="0"/>
              <a:t> would form Fr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O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4031"/>
            <a:ext cx="7952645" cy="15740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066" y="1916925"/>
            <a:ext cx="2191502" cy="478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31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 Q3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20" y="3374619"/>
            <a:ext cx="8949580" cy="353606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Answer: D</a:t>
            </a:r>
            <a:endParaRPr lang="en-US" sz="3200" dirty="0"/>
          </a:p>
          <a:p>
            <a:r>
              <a:rPr lang="en-US" sz="3200" dirty="0" smtClean="0"/>
              <a:t>Logic: </a:t>
            </a:r>
          </a:p>
          <a:p>
            <a:pPr lvl="1"/>
            <a:r>
              <a:rPr lang="en-US" sz="2800" dirty="0" smtClean="0"/>
              <a:t>1 mole is </a:t>
            </a:r>
            <a:r>
              <a:rPr lang="en-AU" sz="2800" dirty="0"/>
              <a:t>6.022 x </a:t>
            </a:r>
            <a:r>
              <a:rPr lang="en-AU" sz="2800" dirty="0" smtClean="0"/>
              <a:t>10</a:t>
            </a:r>
            <a:r>
              <a:rPr lang="en-AU" sz="2800" baseline="30000" dirty="0" smtClean="0"/>
              <a:t>23</a:t>
            </a:r>
            <a:r>
              <a:rPr lang="en-AU" sz="2800" dirty="0" smtClean="0"/>
              <a:t> items</a:t>
            </a:r>
            <a:endParaRPr lang="en-AU" sz="2800" baseline="30000" dirty="0" smtClean="0"/>
          </a:p>
          <a:p>
            <a:pPr lvl="1"/>
            <a:r>
              <a:rPr lang="en-AU" sz="2800" dirty="0" smtClean="0"/>
              <a:t>There are </a:t>
            </a:r>
            <a:r>
              <a:rPr lang="en-AU" sz="2800" b="1" dirty="0" smtClean="0"/>
              <a:t>10 moles</a:t>
            </a:r>
            <a:r>
              <a:rPr lang="en-AU" sz="2800" dirty="0" smtClean="0"/>
              <a:t> of </a:t>
            </a:r>
            <a:r>
              <a:rPr lang="en-AU" sz="2800" b="1" dirty="0" smtClean="0"/>
              <a:t>CO</a:t>
            </a:r>
            <a:r>
              <a:rPr lang="en-AU" sz="2800" b="1" baseline="-25000" dirty="0" smtClean="0"/>
              <a:t>2</a:t>
            </a:r>
            <a:r>
              <a:rPr lang="en-AU" sz="2800" b="1" dirty="0" smtClean="0"/>
              <a:t> molecules</a:t>
            </a:r>
          </a:p>
          <a:p>
            <a:pPr lvl="1"/>
            <a:r>
              <a:rPr lang="en-AU" sz="2800" dirty="0" smtClean="0"/>
              <a:t>Each molecule contains 3 atoms</a:t>
            </a:r>
          </a:p>
          <a:p>
            <a:pPr lvl="1"/>
            <a:r>
              <a:rPr lang="en-AU" sz="2800" dirty="0" smtClean="0"/>
              <a:t>Therefore there are </a:t>
            </a:r>
            <a:r>
              <a:rPr lang="en-AU" sz="2800" b="1" dirty="0" smtClean="0"/>
              <a:t>30 moles of atoms</a:t>
            </a:r>
            <a:endParaRPr lang="en-AU" sz="2800" dirty="0" smtClean="0"/>
          </a:p>
          <a:p>
            <a:pPr lvl="1"/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7556"/>
            <a:ext cx="9144000" cy="158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79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 Q4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6904622" cy="354905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2200" y="2601417"/>
            <a:ext cx="5321799" cy="3457638"/>
          </a:xfrm>
        </p:spPr>
        <p:txBody>
          <a:bodyPr>
            <a:normAutofit/>
          </a:bodyPr>
          <a:lstStyle/>
          <a:p>
            <a:r>
              <a:rPr lang="en-US" sz="3200" dirty="0" smtClean="0"/>
              <a:t>Answer: B</a:t>
            </a:r>
            <a:endParaRPr lang="en-US" sz="3200" dirty="0"/>
          </a:p>
          <a:p>
            <a:r>
              <a:rPr lang="en-US" sz="3200" dirty="0" smtClean="0"/>
              <a:t>Logic: </a:t>
            </a:r>
          </a:p>
          <a:p>
            <a:pPr lvl="1"/>
            <a:r>
              <a:rPr lang="en-AU" sz="2400" dirty="0" smtClean="0"/>
              <a:t>Balanced equation tells you ratio of </a:t>
            </a:r>
            <a:r>
              <a:rPr lang="en-AU" sz="2400" b="1" dirty="0" smtClean="0"/>
              <a:t>moles</a:t>
            </a:r>
          </a:p>
          <a:p>
            <a:pPr lvl="1"/>
            <a:r>
              <a:rPr lang="en-AU" sz="2400" b="1" dirty="0" smtClean="0"/>
              <a:t>6 moles of water</a:t>
            </a:r>
            <a:r>
              <a:rPr lang="en-AU" sz="2400" dirty="0" smtClean="0"/>
              <a:t> are produced from </a:t>
            </a:r>
            <a:r>
              <a:rPr lang="en-AU" sz="2400" b="1" dirty="0" smtClean="0"/>
              <a:t>4 moles of NH</a:t>
            </a:r>
            <a:r>
              <a:rPr lang="en-AU" sz="2400" b="1" baseline="-25000" dirty="0" smtClean="0"/>
              <a:t>3</a:t>
            </a:r>
            <a:endParaRPr lang="en-AU" sz="2400" b="1" dirty="0" smtClean="0"/>
          </a:p>
          <a:p>
            <a:pPr lvl="1"/>
            <a:r>
              <a:rPr lang="en-AU" sz="2400" dirty="0" smtClean="0"/>
              <a:t>Therefore n(H</a:t>
            </a:r>
            <a:r>
              <a:rPr lang="en-AU" sz="2400" baseline="-25000" dirty="0" smtClean="0"/>
              <a:t>2</a:t>
            </a:r>
            <a:r>
              <a:rPr lang="en-AU" sz="2400" dirty="0" smtClean="0"/>
              <a:t>O) = 6/4 x n(NH</a:t>
            </a:r>
            <a:r>
              <a:rPr lang="en-AU" sz="2400" baseline="-25000" dirty="0" smtClean="0"/>
              <a:t>3</a:t>
            </a:r>
            <a:r>
              <a:rPr lang="en-AU" sz="2400" dirty="0" smtClean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197601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en-AU" sz="2400" b="1" u="sng" dirty="0"/>
              <a:t>Relative molecular masses were irrelevant for this </a:t>
            </a:r>
            <a:r>
              <a:rPr lang="en-AU" sz="2400" b="1" u="sng" dirty="0" smtClean="0"/>
              <a:t>question</a:t>
            </a:r>
            <a:endParaRPr lang="en-US" sz="2800" b="1" u="sng" dirty="0"/>
          </a:p>
        </p:txBody>
      </p:sp>
    </p:spTree>
    <p:extLst>
      <p:ext uri="{BB962C8B-B14F-4D97-AF65-F5344CB8AC3E}">
        <p14:creationId xmlns:p14="http://schemas.microsoft.com/office/powerpoint/2010/main" val="3607887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 Q5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20" y="4475423"/>
            <a:ext cx="8949580" cy="2435256"/>
          </a:xfrm>
        </p:spPr>
        <p:txBody>
          <a:bodyPr>
            <a:normAutofit/>
          </a:bodyPr>
          <a:lstStyle/>
          <a:p>
            <a:r>
              <a:rPr lang="en-US" sz="3200" dirty="0" smtClean="0"/>
              <a:t>Answer: A</a:t>
            </a:r>
            <a:endParaRPr lang="en-US" sz="3200" dirty="0"/>
          </a:p>
          <a:p>
            <a:r>
              <a:rPr lang="en-US" sz="3200" dirty="0" smtClean="0"/>
              <a:t>Logic: </a:t>
            </a:r>
          </a:p>
          <a:p>
            <a:pPr lvl="1"/>
            <a:r>
              <a:rPr lang="en-AU" sz="2800" dirty="0" smtClean="0"/>
              <a:t>W must be 2 to balance number of Al atoms</a:t>
            </a:r>
          </a:p>
          <a:p>
            <a:pPr lvl="1"/>
            <a:r>
              <a:rPr lang="en-AU" sz="2800" dirty="0" smtClean="0"/>
              <a:t>X must be 3 to balance number of O atoms</a:t>
            </a:r>
          </a:p>
          <a:p>
            <a:pPr lvl="1"/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7726"/>
            <a:ext cx="9144000" cy="300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60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20" y="4906938"/>
            <a:ext cx="8949580" cy="2003741"/>
          </a:xfrm>
        </p:spPr>
        <p:txBody>
          <a:bodyPr>
            <a:normAutofit/>
          </a:bodyPr>
          <a:lstStyle/>
          <a:p>
            <a:r>
              <a:rPr lang="en-AU" sz="3200" dirty="0" smtClean="0"/>
              <a:t>Each answer was worth 1% in this test</a:t>
            </a:r>
          </a:p>
          <a:p>
            <a:r>
              <a:rPr lang="en-AU" sz="3200" dirty="0" smtClean="0"/>
              <a:t>People who learnt their ions should have received a free 6% here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9927"/>
            <a:ext cx="9144000" cy="320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49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20" y="5695993"/>
            <a:ext cx="8949580" cy="1214686"/>
          </a:xfrm>
        </p:spPr>
        <p:txBody>
          <a:bodyPr>
            <a:normAutofit/>
          </a:bodyPr>
          <a:lstStyle/>
          <a:p>
            <a:r>
              <a:rPr lang="en-AU" sz="3200" dirty="0" smtClean="0"/>
              <a:t>Each answer was worth 2% in this test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1300"/>
            <a:ext cx="9144000" cy="382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1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20" y="5695993"/>
            <a:ext cx="8949580" cy="1214686"/>
          </a:xfrm>
        </p:spPr>
        <p:txBody>
          <a:bodyPr>
            <a:normAutofit/>
          </a:bodyPr>
          <a:lstStyle/>
          <a:p>
            <a:r>
              <a:rPr lang="en-AU" sz="3200" dirty="0" smtClean="0"/>
              <a:t>Each answer was worth 2% in this test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5800"/>
            <a:ext cx="9144000" cy="29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880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20" y="3217866"/>
            <a:ext cx="8949580" cy="3692813"/>
          </a:xfrm>
        </p:spPr>
        <p:txBody>
          <a:bodyPr>
            <a:normAutofit/>
          </a:bodyPr>
          <a:lstStyle/>
          <a:p>
            <a:r>
              <a:rPr lang="en-AU" sz="3200" dirty="0" smtClean="0"/>
              <a:t>Answer: </a:t>
            </a:r>
          </a:p>
          <a:p>
            <a:pPr lvl="1"/>
            <a:r>
              <a:rPr lang="en-AU" sz="3000" dirty="0" smtClean="0"/>
              <a:t>Mass of a molecule </a:t>
            </a:r>
            <a:r>
              <a:rPr lang="en-AU" sz="3000" b="1" dirty="0" smtClean="0"/>
              <a:t>relative to 1/12</a:t>
            </a:r>
            <a:r>
              <a:rPr lang="en-AU" sz="3000" b="1" baseline="30000" dirty="0" smtClean="0"/>
              <a:t>th</a:t>
            </a:r>
            <a:r>
              <a:rPr lang="en-AU" sz="3000" b="1" dirty="0" smtClean="0"/>
              <a:t> of a carbon-12 atom</a:t>
            </a:r>
            <a:endParaRPr lang="en-AU" sz="3200" b="1" i="1" dirty="0"/>
          </a:p>
          <a:p>
            <a:pPr lvl="1"/>
            <a:r>
              <a:rPr lang="en-AU" sz="3000" dirty="0" smtClean="0"/>
              <a:t>(OR: Sum of </a:t>
            </a:r>
            <a:r>
              <a:rPr lang="en-AU" sz="3000" b="1" dirty="0" smtClean="0"/>
              <a:t>relative atomic masses</a:t>
            </a:r>
            <a:r>
              <a:rPr lang="en-AU" sz="3000" dirty="0" smtClean="0"/>
              <a:t> of all atoms in a molecule)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172"/>
            <a:ext cx="9144000" cy="145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6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Q4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1100"/>
            <a:ext cx="9144000" cy="194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86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Q5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2076"/>
            <a:ext cx="9144000" cy="344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34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Q6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9400"/>
            <a:ext cx="9144000" cy="37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40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6200"/>
            <a:ext cx="9144000" cy="41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09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Q8a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0"/>
            <a:ext cx="9144000" cy="303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10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Q8b &amp; 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88"/>
            <a:ext cx="9144000" cy="18094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34831"/>
            <a:ext cx="9144000" cy="288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483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Q9a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9144000" cy="365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727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Q9b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848720" cy="454083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M(CH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O) ≈ 30 g mol</a:t>
            </a:r>
            <a:r>
              <a:rPr lang="en-US" sz="2400" baseline="30000" dirty="0" smtClean="0"/>
              <a:t>-1</a:t>
            </a:r>
            <a:endParaRPr lang="en-US" sz="2400" dirty="0" smtClean="0"/>
          </a:p>
          <a:p>
            <a:r>
              <a:rPr lang="en-US" sz="2400" dirty="0" smtClean="0"/>
              <a:t>M(compound) </a:t>
            </a:r>
            <a:r>
              <a:rPr lang="en-US" sz="2400" dirty="0"/>
              <a:t>≈ </a:t>
            </a:r>
            <a:r>
              <a:rPr lang="en-US" sz="2400" dirty="0" smtClean="0"/>
              <a:t>180 </a:t>
            </a:r>
            <a:r>
              <a:rPr lang="en-US" sz="2400" dirty="0"/>
              <a:t>g mol</a:t>
            </a:r>
            <a:r>
              <a:rPr lang="en-US" sz="2400" baseline="30000" dirty="0"/>
              <a:t>-</a:t>
            </a:r>
            <a:r>
              <a:rPr lang="en-US" sz="2400" baseline="30000" dirty="0" smtClean="0"/>
              <a:t>1</a:t>
            </a:r>
          </a:p>
          <a:p>
            <a:endParaRPr lang="en-US" sz="2400" dirty="0"/>
          </a:p>
          <a:p>
            <a:r>
              <a:rPr lang="en-US" sz="2400" dirty="0" smtClean="0"/>
              <a:t>180 / 30 = 6</a:t>
            </a:r>
            <a:r>
              <a:rPr lang="en-AU" sz="2400" dirty="0"/>
              <a:t>, </a:t>
            </a:r>
            <a:r>
              <a:rPr lang="en-AU" sz="2400" dirty="0" smtClean="0"/>
              <a:t> </a:t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>∴ molecular formula is 6x empirical formula</a:t>
            </a:r>
          </a:p>
          <a:p>
            <a:endParaRPr lang="en-AU" sz="2400" dirty="0" smtClean="0"/>
          </a:p>
          <a:p>
            <a:r>
              <a:rPr lang="en-AU" sz="2400" dirty="0" smtClean="0"/>
              <a:t>Molecular formula is C</a:t>
            </a:r>
            <a:r>
              <a:rPr lang="en-AU" sz="2400" baseline="-25000" dirty="0" smtClean="0"/>
              <a:t>6</a:t>
            </a:r>
            <a:r>
              <a:rPr lang="en-AU" sz="2400" dirty="0" smtClean="0"/>
              <a:t>H</a:t>
            </a:r>
            <a:r>
              <a:rPr lang="en-AU" sz="2400" baseline="-25000" dirty="0" smtClean="0"/>
              <a:t>12</a:t>
            </a:r>
            <a:r>
              <a:rPr lang="en-AU" sz="2400" dirty="0" smtClean="0"/>
              <a:t>O</a:t>
            </a:r>
            <a:r>
              <a:rPr lang="en-AU" sz="2400" baseline="-25000" dirty="0" smtClean="0"/>
              <a:t>6</a:t>
            </a:r>
            <a:endParaRPr lang="en-US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4640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Q10a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7100"/>
            <a:ext cx="9144000" cy="244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54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Q10b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1339"/>
            <a:ext cx="9144000" cy="306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78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Q10c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29" y="1339849"/>
            <a:ext cx="8900287" cy="5666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59550"/>
            <a:ext cx="9144000" cy="297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31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Q11a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7900"/>
            <a:ext cx="9144000" cy="234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496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 Q11b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1161"/>
            <a:ext cx="9144000" cy="50250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5887"/>
            <a:ext cx="9144000" cy="5245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t="37791" b="35057"/>
          <a:stretch/>
        </p:blipFill>
        <p:spPr>
          <a:xfrm>
            <a:off x="2046727" y="0"/>
            <a:ext cx="7097273" cy="49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795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Moving onwards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8514523" cy="4442203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Every test from now on will contain at least one major (5-10 mark) calculation question</a:t>
            </a:r>
          </a:p>
          <a:p>
            <a:endParaRPr lang="en-US" sz="2800" b="1" dirty="0" smtClean="0"/>
          </a:p>
          <a:p>
            <a:r>
              <a:rPr lang="en-US" sz="2800" b="1" dirty="0" smtClean="0"/>
              <a:t>Next test:  </a:t>
            </a:r>
            <a:r>
              <a:rPr lang="en-US" sz="2800" b="1" smtClean="0"/>
              <a:t>Week </a:t>
            </a:r>
            <a:r>
              <a:rPr lang="en-US" sz="2800" b="1" smtClean="0"/>
              <a:t>6/7 </a:t>
            </a:r>
            <a:endParaRPr lang="en-US" sz="2800" b="1" dirty="0" smtClean="0"/>
          </a:p>
          <a:p>
            <a:pPr lvl="1"/>
            <a:r>
              <a:rPr lang="en-US" sz="2400" dirty="0" smtClean="0"/>
              <a:t>Chapter 1 (Atoms &amp; Elements)</a:t>
            </a:r>
          </a:p>
          <a:p>
            <a:pPr lvl="1"/>
            <a:r>
              <a:rPr lang="en-US" sz="2400" dirty="0" smtClean="0"/>
              <a:t>Chapter 2 (Classifying and Separating Substances)</a:t>
            </a:r>
          </a:p>
          <a:p>
            <a:pPr lvl="1"/>
            <a:endParaRPr lang="en-US" sz="2400" dirty="0" smtClean="0"/>
          </a:p>
          <a:p>
            <a:r>
              <a:rPr lang="en-US" sz="2800" b="1" dirty="0" smtClean="0"/>
              <a:t>First assignment:</a:t>
            </a:r>
            <a:endParaRPr lang="en-US" sz="2800" b="1" dirty="0"/>
          </a:p>
          <a:p>
            <a:pPr lvl="1"/>
            <a:r>
              <a:rPr lang="en-US" sz="2400" dirty="0" smtClean="0"/>
              <a:t>Applications of GC-MS and AAS</a:t>
            </a:r>
          </a:p>
          <a:p>
            <a:pPr lvl="1"/>
            <a:r>
              <a:rPr lang="en-US" sz="2400" dirty="0" smtClean="0"/>
              <a:t>To be given out later this week</a:t>
            </a:r>
          </a:p>
          <a:p>
            <a:pPr lvl="1"/>
            <a:r>
              <a:rPr lang="en-US" sz="2400" dirty="0" smtClean="0"/>
              <a:t>Due date TBC</a:t>
            </a:r>
            <a:endParaRPr lang="en-US" sz="2400" dirty="0"/>
          </a:p>
          <a:p>
            <a:pPr lvl="1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374698560"/>
      </p:ext>
    </p:extLst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Rockwell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64</TotalTime>
  <Words>370</Words>
  <Application>Microsoft Macintosh PowerPoint</Application>
  <PresentationFormat>On-screen Show (4:3)</PresentationFormat>
  <Paragraphs>74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Advantage</vt:lpstr>
      <vt:lpstr>Year 11 –  Stoichiometry Test Results</vt:lpstr>
      <vt:lpstr>The Stats</vt:lpstr>
      <vt:lpstr>MC Q1</vt:lpstr>
      <vt:lpstr>MC Q2</vt:lpstr>
      <vt:lpstr>MC Q3</vt:lpstr>
      <vt:lpstr>MC Q4</vt:lpstr>
      <vt:lpstr>MC Q5</vt:lpstr>
      <vt:lpstr>SA Q1</vt:lpstr>
      <vt:lpstr>SA Q2</vt:lpstr>
      <vt:lpstr>SA Q2</vt:lpstr>
      <vt:lpstr>SA Q3</vt:lpstr>
      <vt:lpstr>SA Q4</vt:lpstr>
      <vt:lpstr>SA Q5</vt:lpstr>
      <vt:lpstr>SA Q6</vt:lpstr>
      <vt:lpstr>SA Q7</vt:lpstr>
      <vt:lpstr>SA Q8a</vt:lpstr>
      <vt:lpstr>SA Q8b &amp; c</vt:lpstr>
      <vt:lpstr>SA Q9a</vt:lpstr>
      <vt:lpstr>SA Q9b</vt:lpstr>
      <vt:lpstr>SA Q10a</vt:lpstr>
      <vt:lpstr>SA Q10b</vt:lpstr>
      <vt:lpstr>SA Q10c</vt:lpstr>
      <vt:lpstr>SA Q11a</vt:lpstr>
      <vt:lpstr>SA Q11b</vt:lpstr>
      <vt:lpstr>Moving onwards</vt:lpstr>
    </vt:vector>
  </TitlesOfParts>
  <Company>Bunbury Senior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11 –  Stoichiometry Test Results</dc:title>
  <dc:creator>Hayden McKenna</dc:creator>
  <cp:lastModifiedBy>Hayden McKenna</cp:lastModifiedBy>
  <cp:revision>9</cp:revision>
  <dcterms:created xsi:type="dcterms:W3CDTF">2015-02-22T15:36:25Z</dcterms:created>
  <dcterms:modified xsi:type="dcterms:W3CDTF">2015-02-28T12:45:13Z</dcterms:modified>
</cp:coreProperties>
</file>
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8" r:id="rId5"/>
    <p:sldId id="259" r:id="rId6"/>
    <p:sldId id="264" r:id="rId7"/>
    <p:sldId id="262" r:id="rId8"/>
    <p:sldId id="266" r:id="rId9"/>
    <p:sldId id="261" r:id="rId10"/>
    <p:sldId id="267" r:id="rId11"/>
    <p:sldId id="263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21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5BE95442-3A6C-4911-99DE-AD1819F05746}" type="datetimeFigureOut">
              <a:rPr lang="en-AU" smtClean="0"/>
              <a:t>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2CCCD3FD-3E5D-4F1E-9C77-1F9357B220EF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A1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Balancing equations</a:t>
            </a:r>
          </a:p>
        </p:txBody>
      </p:sp>
    </p:spTree>
    <p:extLst>
      <p:ext uri="{BB962C8B-B14F-4D97-AF65-F5344CB8AC3E}">
        <p14:creationId xmlns:p14="http://schemas.microsoft.com/office/powerpoint/2010/main" val="27406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chemical reactions can be represented by chemical equations; balanced chemical equations indicate the relative numbers of particles (atoms, molecules or ions) that are involved in the reaction</a:t>
            </a:r>
          </a:p>
        </p:txBody>
      </p:sp>
    </p:spTree>
    <p:extLst>
      <p:ext uri="{BB962C8B-B14F-4D97-AF65-F5344CB8AC3E}">
        <p14:creationId xmlns:p14="http://schemas.microsoft.com/office/powerpoint/2010/main" val="420897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4532-3808-4228-9286-6622238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0E0C-03FB-44B8-B102-988090BDB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balanced ionic equations, given reactants’ and products’ names.</a:t>
            </a:r>
          </a:p>
          <a:p>
            <a:r>
              <a:rPr lang="en-AU" dirty="0"/>
              <a:t>Identify spectator ions.</a:t>
            </a:r>
          </a:p>
        </p:txBody>
      </p:sp>
    </p:spTree>
    <p:extLst>
      <p:ext uri="{BB962C8B-B14F-4D97-AF65-F5344CB8AC3E}">
        <p14:creationId xmlns:p14="http://schemas.microsoft.com/office/powerpoint/2010/main" val="289606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Law of Conservation of Matter</a:t>
            </a:r>
          </a:p>
          <a:p>
            <a:r>
              <a:rPr lang="en-AU" dirty="0"/>
              <a:t>coefficient</a:t>
            </a:r>
          </a:p>
          <a:p>
            <a:r>
              <a:rPr lang="en-AU" dirty="0"/>
              <a:t>Reactant</a:t>
            </a:r>
          </a:p>
          <a:p>
            <a:r>
              <a:rPr lang="en-AU" dirty="0"/>
              <a:t>aqueous</a:t>
            </a:r>
          </a:p>
          <a:p>
            <a:r>
              <a:rPr lang="en-AU" dirty="0"/>
              <a:t>product</a:t>
            </a:r>
          </a:p>
          <a:p>
            <a:r>
              <a:rPr lang="en-AU" dirty="0"/>
              <a:t>weak/strong ionisation/dissociation</a:t>
            </a:r>
          </a:p>
          <a:p>
            <a:r>
              <a:rPr lang="en-AU" dirty="0"/>
              <a:t>spectator ion</a:t>
            </a:r>
          </a:p>
        </p:txBody>
      </p:sp>
    </p:spTree>
    <p:extLst>
      <p:ext uri="{BB962C8B-B14F-4D97-AF65-F5344CB8AC3E}">
        <p14:creationId xmlns:p14="http://schemas.microsoft.com/office/powerpoint/2010/main" val="282708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Chemical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reactants </a:t>
            </a:r>
            <a:r>
              <a:rPr lang="en-AU" dirty="0">
                <a:sym typeface="Wingdings" pitchFamily="2" charset="2"/>
              </a:rPr>
              <a:t> products</a:t>
            </a:r>
          </a:p>
          <a:p>
            <a:r>
              <a:rPr lang="en-AU" dirty="0">
                <a:sym typeface="Wingdings" pitchFamily="2" charset="2"/>
              </a:rPr>
              <a:t>Law of Conservation of Matter explains that atoms are not created or destroyed, but rearranged, when substances undergo a chemical reaction.</a:t>
            </a:r>
          </a:p>
          <a:p>
            <a:r>
              <a:rPr lang="en-AU" dirty="0">
                <a:sym typeface="Wingdings" pitchFamily="2" charset="2"/>
              </a:rPr>
              <a:t>The number of each type of atoms in the reactants are the same as in the products.</a:t>
            </a:r>
          </a:p>
          <a:p>
            <a:r>
              <a:rPr lang="en-AU" dirty="0">
                <a:sym typeface="Wingdings" pitchFamily="2" charset="2"/>
              </a:rPr>
              <a:t>Coefficients show the ratio of each substance in a reaction (of actual numbers of atoms, molecules or ions AND of moles of atoms, molecules or ions)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403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28800"/>
            <a:ext cx="7467600" cy="3017633"/>
          </a:xfrm>
        </p:spPr>
      </p:pic>
    </p:spTree>
    <p:extLst>
      <p:ext uri="{BB962C8B-B14F-4D97-AF65-F5344CB8AC3E}">
        <p14:creationId xmlns:p14="http://schemas.microsoft.com/office/powerpoint/2010/main" val="31329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Balance largest formulae first.</a:t>
            </a:r>
          </a:p>
          <a:p>
            <a:r>
              <a:rPr lang="en-AU" dirty="0"/>
              <a:t>Balance any element that appears more than once on either side last</a:t>
            </a:r>
          </a:p>
          <a:p>
            <a:r>
              <a:rPr lang="en-AU" dirty="0"/>
              <a:t>Treat polyatomic ions that remain intact as a single unit to balance</a:t>
            </a:r>
          </a:p>
          <a:p>
            <a:r>
              <a:rPr lang="en-AU" dirty="0"/>
              <a:t>Balance C first, O last in combustion reactions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	H</a:t>
            </a:r>
            <a:r>
              <a:rPr lang="en-AU" baseline="-25000" dirty="0"/>
              <a:t>2</a:t>
            </a:r>
            <a:r>
              <a:rPr lang="en-AU" dirty="0"/>
              <a:t>SO</a:t>
            </a:r>
            <a:r>
              <a:rPr lang="en-AU" baseline="-25000" dirty="0"/>
              <a:t>4</a:t>
            </a:r>
            <a:r>
              <a:rPr lang="en-AU" dirty="0"/>
              <a:t> </a:t>
            </a:r>
            <a:r>
              <a:rPr lang="en-AU" baseline="-25000" dirty="0"/>
              <a:t>(</a:t>
            </a:r>
            <a:r>
              <a:rPr lang="en-AU" baseline="-25000" dirty="0" err="1"/>
              <a:t>aq</a:t>
            </a:r>
            <a:r>
              <a:rPr lang="en-AU" baseline="-25000" dirty="0"/>
              <a:t>) </a:t>
            </a:r>
            <a:r>
              <a:rPr lang="en-AU" dirty="0"/>
              <a:t>+ KOH </a:t>
            </a:r>
            <a:r>
              <a:rPr lang="en-AU" baseline="-25000" dirty="0"/>
              <a:t>(</a:t>
            </a:r>
            <a:r>
              <a:rPr lang="en-AU" baseline="-25000" dirty="0" err="1"/>
              <a:t>aq</a:t>
            </a:r>
            <a:r>
              <a:rPr lang="en-AU" baseline="-25000" dirty="0"/>
              <a:t>) </a:t>
            </a:r>
            <a:r>
              <a:rPr lang="en-AU" dirty="0">
                <a:sym typeface="Wingdings" pitchFamily="2" charset="2"/>
              </a:rPr>
              <a:t>  K</a:t>
            </a:r>
            <a:r>
              <a:rPr lang="en-AU" baseline="-25000" dirty="0">
                <a:sym typeface="Wingdings" pitchFamily="2" charset="2"/>
              </a:rPr>
              <a:t>2</a:t>
            </a:r>
            <a:r>
              <a:rPr lang="en-AU" dirty="0">
                <a:sym typeface="Wingdings" pitchFamily="2" charset="2"/>
              </a:rPr>
              <a:t>SO</a:t>
            </a:r>
            <a:r>
              <a:rPr lang="en-AU" baseline="-25000" dirty="0">
                <a:sym typeface="Wingdings" pitchFamily="2" charset="2"/>
              </a:rPr>
              <a:t>4 (</a:t>
            </a:r>
            <a:r>
              <a:rPr lang="en-AU" baseline="-25000" dirty="0" err="1">
                <a:sym typeface="Wingdings" pitchFamily="2" charset="2"/>
              </a:rPr>
              <a:t>aq</a:t>
            </a:r>
            <a:r>
              <a:rPr lang="en-AU" baseline="-25000" dirty="0">
                <a:sym typeface="Wingdings" pitchFamily="2" charset="2"/>
              </a:rPr>
              <a:t>)</a:t>
            </a:r>
            <a:r>
              <a:rPr lang="en-AU" dirty="0">
                <a:sym typeface="Wingdings" pitchFamily="2" charset="2"/>
              </a:rPr>
              <a:t> + H</a:t>
            </a:r>
            <a:r>
              <a:rPr lang="en-AU" baseline="-25000" dirty="0">
                <a:sym typeface="Wingdings" pitchFamily="2" charset="2"/>
              </a:rPr>
              <a:t>2</a:t>
            </a:r>
            <a:r>
              <a:rPr lang="en-AU" dirty="0">
                <a:sym typeface="Wingdings" pitchFamily="2" charset="2"/>
              </a:rPr>
              <a:t>O</a:t>
            </a:r>
            <a:r>
              <a:rPr lang="en-AU" baseline="-25000" dirty="0">
                <a:sym typeface="Wingdings" pitchFamily="2" charset="2"/>
              </a:rPr>
              <a:t>(l)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131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A9C3-94C5-4C25-8FF5-328E1D03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Ionic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F63B9-B124-482E-92DF-58CFC023E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order to accurately represent a reaction, an equation should only include reacting species</a:t>
            </a:r>
          </a:p>
          <a:p>
            <a:r>
              <a:rPr lang="en-AU" dirty="0"/>
              <a:t>Ionic compounds which are soluble dissociate (split apart into individual ions) when dissolved in water.</a:t>
            </a:r>
          </a:p>
          <a:p>
            <a:r>
              <a:rPr lang="en-AU" dirty="0"/>
              <a:t>For many reactions, only one type of ions in an ionic compound undergoes a reaction; the other ion is still present, unchanged in the reactants.</a:t>
            </a:r>
          </a:p>
          <a:p>
            <a:r>
              <a:rPr lang="en-AU" dirty="0"/>
              <a:t>These ions are referred to as spectator ions, and are omitted in an ionic equation.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701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Which ions dissociate?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Soluble ionic salts, </a:t>
            </a:r>
            <a:r>
              <a:rPr lang="en-AU" dirty="0" err="1"/>
              <a:t>ie</a:t>
            </a:r>
            <a:r>
              <a:rPr lang="en-AU" dirty="0"/>
              <a:t> those containing metals and non-metals and are aqueous in state</a:t>
            </a:r>
          </a:p>
          <a:p>
            <a:r>
              <a:rPr lang="en-AU" dirty="0"/>
              <a:t>Aqueous compounds are indicated as (</a:t>
            </a:r>
            <a:r>
              <a:rPr lang="en-AU" dirty="0" err="1"/>
              <a:t>aq</a:t>
            </a:r>
            <a:r>
              <a:rPr lang="en-AU" dirty="0"/>
              <a:t>) in an equation.</a:t>
            </a:r>
          </a:p>
        </p:txBody>
      </p:sp>
    </p:spTree>
    <p:extLst>
      <p:ext uri="{BB962C8B-B14F-4D97-AF65-F5344CB8AC3E}">
        <p14:creationId xmlns:p14="http://schemas.microsoft.com/office/powerpoint/2010/main" val="40710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Some molecules may ionise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Some molecular covalent substances turn into ions when dissolved in water.  </a:t>
            </a:r>
          </a:p>
          <a:p>
            <a:r>
              <a:rPr lang="en-AU" dirty="0"/>
              <a:t>Compounds which fully ionise are referred to as ‘strong’ ionisers, most of them are acids.</a:t>
            </a:r>
          </a:p>
          <a:p>
            <a:r>
              <a:rPr lang="en-AU" dirty="0"/>
              <a:t>Include </a:t>
            </a:r>
            <a:r>
              <a:rPr lang="en-AU" dirty="0" err="1"/>
              <a:t>HCl</a:t>
            </a:r>
            <a:r>
              <a:rPr lang="en-AU" dirty="0"/>
              <a:t>, H</a:t>
            </a:r>
            <a:r>
              <a:rPr lang="en-AU" baseline="-25000" dirty="0"/>
              <a:t>2</a:t>
            </a:r>
            <a:r>
              <a:rPr lang="en-AU" dirty="0"/>
              <a:t>SO</a:t>
            </a:r>
            <a:r>
              <a:rPr lang="en-AU" baseline="-25000" dirty="0"/>
              <a:t>4</a:t>
            </a:r>
            <a:r>
              <a:rPr lang="en-AU" dirty="0"/>
              <a:t> and HNO</a:t>
            </a:r>
            <a:r>
              <a:rPr lang="en-AU" baseline="-25000" dirty="0"/>
              <a:t>3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3477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ionic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the equation, including states</a:t>
            </a:r>
            <a:endParaRPr lang="en-AU" dirty="0">
              <a:sym typeface="Wingdings" pitchFamily="2" charset="2"/>
            </a:endParaRPr>
          </a:p>
          <a:p>
            <a:pPr marL="0" indent="0">
              <a:buNone/>
            </a:pPr>
            <a:endParaRPr lang="en-AU" dirty="0">
              <a:sym typeface="Wingdings" pitchFamily="2" charset="2"/>
            </a:endParaRPr>
          </a:p>
          <a:p>
            <a:pPr marL="0" indent="0">
              <a:buNone/>
            </a:pPr>
            <a:endParaRPr lang="en-AU" dirty="0">
              <a:sym typeface="Wingdings" pitchFamily="2" charset="2"/>
            </a:endParaRPr>
          </a:p>
          <a:p>
            <a:r>
              <a:rPr lang="en-AU" dirty="0">
                <a:sym typeface="Wingdings" pitchFamily="2" charset="2"/>
              </a:rPr>
              <a:t>Ionise strong molecular or dissociate soluble ionic compounds</a:t>
            </a:r>
          </a:p>
          <a:p>
            <a:endParaRPr lang="en-AU" dirty="0">
              <a:sym typeface="Wingdings" pitchFamily="2" charset="2"/>
            </a:endParaRPr>
          </a:p>
          <a:p>
            <a:endParaRPr lang="en-AU" dirty="0">
              <a:sym typeface="Wingdings" pitchFamily="2" charset="2"/>
            </a:endParaRPr>
          </a:p>
          <a:p>
            <a:r>
              <a:rPr lang="en-AU" dirty="0">
                <a:sym typeface="Wingdings" pitchFamily="2" charset="2"/>
              </a:rPr>
              <a:t>Get rid of ‘spectator ions’</a:t>
            </a:r>
          </a:p>
          <a:p>
            <a:r>
              <a:rPr lang="en-AU" dirty="0">
                <a:sym typeface="Wingdings" pitchFamily="2" charset="2"/>
              </a:rPr>
              <a:t>Balance what’s left; atoms and charges must balance 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253717" y="266517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HCl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1232" y="266517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+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9792" y="266517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Zn 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0252" y="266571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ym typeface="Wingdings" pitchFamily="2" charset="2"/>
              </a:rPr>
              <a:t>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4326336" y="266571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ZnCl</a:t>
            </a:r>
            <a:r>
              <a:rPr lang="en-AU" baseline="-25000" dirty="0"/>
              <a:t>2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8104" y="2665170"/>
            <a:ext cx="272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6136" y="2665170"/>
            <a:ext cx="272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</a:t>
            </a:r>
            <a:r>
              <a:rPr lang="en-AU" baseline="-25000" dirty="0"/>
              <a:t>2</a:t>
            </a:r>
            <a:r>
              <a:rPr lang="en-AU" dirty="0"/>
              <a:t> (g)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600" y="4479273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</a:t>
            </a:r>
            <a:r>
              <a:rPr lang="en-AU" baseline="30000" dirty="0"/>
              <a:t>+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9224" y="447927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Cl</a:t>
            </a:r>
            <a:r>
              <a:rPr lang="en-AU" baseline="30000" dirty="0"/>
              <a:t>-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815" y="4417082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Down Arrow 13"/>
          <p:cNvSpPr/>
          <p:nvPr/>
        </p:nvSpPr>
        <p:spPr>
          <a:xfrm>
            <a:off x="1478093" y="3097232"/>
            <a:ext cx="427174" cy="13820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811" y="4417081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860" y="4417080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542" y="4414562"/>
            <a:ext cx="153882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956" y="3035044"/>
            <a:ext cx="487363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531255" y="4476752"/>
            <a:ext cx="26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Zn</a:t>
            </a:r>
            <a:r>
              <a:rPr lang="en-AU" baseline="30000" dirty="0"/>
              <a:t>+2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  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765" y="4417082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904148" y="4479273"/>
            <a:ext cx="25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Cl</a:t>
            </a:r>
            <a:r>
              <a:rPr lang="en-AU" baseline="30000" dirty="0"/>
              <a:t>- </a:t>
            </a:r>
            <a:r>
              <a:rPr lang="en-AU" dirty="0"/>
              <a:t>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453" y="4417082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7074518" y="4476752"/>
            <a:ext cx="272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</a:t>
            </a:r>
            <a:r>
              <a:rPr lang="en-AU" baseline="-25000" dirty="0"/>
              <a:t>2</a:t>
            </a:r>
            <a:r>
              <a:rPr lang="en-AU" dirty="0"/>
              <a:t> (g)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1105" y="4476752"/>
            <a:ext cx="1499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211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7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9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59259E-6 L 0.13386 -0.00162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84" y="-93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7037E-7 L -0.13906 -0.0011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6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15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animClr clrSpc="rgb" dir="cw">
                                      <p:cBhvr>
                                        <p:cTn id="134" dur="15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35" dur="15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15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4" grpId="1" build="allAtOnce"/>
      <p:bldP spid="5" grpId="0"/>
      <p:bldP spid="6" grpId="0"/>
      <p:bldP spid="7" grpId="0"/>
      <p:bldP spid="9" grpId="0"/>
      <p:bldP spid="9" grpId="1"/>
      <p:bldP spid="10" grpId="0"/>
      <p:bldP spid="11" grpId="0"/>
      <p:bldP spid="12" grpId="0"/>
      <p:bldP spid="12" grpId="1"/>
      <p:bldP spid="13" grpId="0"/>
      <p:bldP spid="13" grpId="1"/>
      <p:bldP spid="13" grpId="2"/>
      <p:bldP spid="14" grpId="0" animBg="1"/>
      <p:bldP spid="14" grpId="1" animBg="1"/>
      <p:bldP spid="15" grpId="0"/>
      <p:bldP spid="16" grpId="0"/>
      <p:bldP spid="16" grpId="1"/>
      <p:bldP spid="16" grpId="2"/>
      <p:bldP spid="24" grpId="0"/>
      <p:bldP spid="24" grpId="1"/>
      <p:bldP spid="24" grpId="2"/>
      <p:bldP spid="17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Ions or not?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NaCl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  <a:p>
            <a:r>
              <a:rPr lang="en-AU" dirty="0" err="1"/>
              <a:t>NaCl</a:t>
            </a:r>
            <a:r>
              <a:rPr lang="en-AU" dirty="0"/>
              <a:t> (s)</a:t>
            </a:r>
          </a:p>
          <a:p>
            <a:r>
              <a:rPr lang="en-AU" dirty="0"/>
              <a:t>H</a:t>
            </a:r>
            <a:r>
              <a:rPr lang="en-AU" baseline="-25000" dirty="0"/>
              <a:t>2</a:t>
            </a:r>
            <a:r>
              <a:rPr lang="en-AU" dirty="0"/>
              <a:t>SO</a:t>
            </a:r>
            <a:r>
              <a:rPr lang="en-AU" baseline="-25000" dirty="0"/>
              <a:t>4 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  <a:p>
            <a:r>
              <a:rPr lang="en-AU" dirty="0"/>
              <a:t>CH</a:t>
            </a:r>
            <a:r>
              <a:rPr lang="en-AU" baseline="-25000" dirty="0"/>
              <a:t>3</a:t>
            </a:r>
            <a:r>
              <a:rPr lang="en-AU" dirty="0"/>
              <a:t>COOH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  <a:p>
            <a:r>
              <a:rPr lang="en-AU" dirty="0"/>
              <a:t>CO</a:t>
            </a:r>
            <a:r>
              <a:rPr lang="en-AU" baseline="-25000" dirty="0"/>
              <a:t>2</a:t>
            </a:r>
            <a:r>
              <a:rPr lang="en-AU" dirty="0"/>
              <a:t> (g)</a:t>
            </a:r>
          </a:p>
          <a:p>
            <a:r>
              <a:rPr lang="en-AU" dirty="0"/>
              <a:t>MgCl</a:t>
            </a:r>
            <a:r>
              <a:rPr lang="en-AU" baseline="-25000" dirty="0"/>
              <a:t>2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  <a:p>
            <a:r>
              <a:rPr lang="en-AU" dirty="0" err="1"/>
              <a:t>AgCl</a:t>
            </a:r>
            <a:r>
              <a:rPr lang="en-AU" dirty="0"/>
              <a:t> (s)</a:t>
            </a:r>
          </a:p>
          <a:p>
            <a:r>
              <a:rPr lang="en-AU" dirty="0"/>
              <a:t>H</a:t>
            </a:r>
            <a:r>
              <a:rPr lang="en-AU" baseline="-25000" dirty="0"/>
              <a:t>2</a:t>
            </a:r>
            <a:r>
              <a:rPr lang="en-AU" dirty="0"/>
              <a:t>O (l)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1800" y="206084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</a:t>
            </a:r>
            <a:r>
              <a:rPr lang="en-AU" baseline="30000" dirty="0"/>
              <a:t>+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 + </a:t>
            </a:r>
            <a:r>
              <a:rPr lang="en-AU" dirty="0" err="1"/>
              <a:t>Cl</a:t>
            </a:r>
            <a:r>
              <a:rPr lang="en-AU" baseline="30000" dirty="0"/>
              <a:t>- 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  <a:endParaRPr lang="en-AU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2794039" y="299695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</a:t>
            </a:r>
            <a:r>
              <a:rPr lang="en-AU" baseline="30000" dirty="0"/>
              <a:t>+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 + SO</a:t>
            </a:r>
            <a:r>
              <a:rPr lang="en-AU" baseline="-25000" dirty="0"/>
              <a:t>4</a:t>
            </a:r>
            <a:r>
              <a:rPr lang="en-AU" baseline="30000" dirty="0"/>
              <a:t>2-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7784" y="429309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Mg</a:t>
            </a:r>
            <a:r>
              <a:rPr lang="en-AU" baseline="30000" dirty="0"/>
              <a:t>2+ </a:t>
            </a:r>
            <a:r>
              <a:rPr lang="en-AU" dirty="0"/>
              <a:t>(</a:t>
            </a:r>
            <a:r>
              <a:rPr lang="en-AU" dirty="0" err="1"/>
              <a:t>aq</a:t>
            </a:r>
            <a:r>
              <a:rPr lang="en-AU" dirty="0"/>
              <a:t>) + </a:t>
            </a:r>
            <a:r>
              <a:rPr lang="en-AU" dirty="0" err="1"/>
              <a:t>Cl</a:t>
            </a:r>
            <a:r>
              <a:rPr lang="en-AU" baseline="30000" dirty="0"/>
              <a:t>-</a:t>
            </a:r>
            <a:r>
              <a:rPr lang="en-AU" dirty="0"/>
              <a:t> (</a:t>
            </a:r>
            <a:r>
              <a:rPr lang="en-AU" dirty="0" err="1"/>
              <a:t>aq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9332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TM01790492[[fn=Sketchbook]]</Template>
  <TotalTime>111</TotalTime>
  <Words>506</Words>
  <Application>Microsoft Office PowerPoint</Application>
  <PresentationFormat>On-screen Show (4:3)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Cambria</vt:lpstr>
      <vt:lpstr>Rage Italic</vt:lpstr>
      <vt:lpstr>Sketchbook</vt:lpstr>
      <vt:lpstr>A1 Chemistry</vt:lpstr>
      <vt:lpstr>Learning Intentions</vt:lpstr>
      <vt:lpstr>Success Criteria</vt:lpstr>
      <vt:lpstr>Key words</vt:lpstr>
      <vt:lpstr>Chemical equations</vt:lpstr>
      <vt:lpstr>PowerPoint Presentation</vt:lpstr>
      <vt:lpstr>Tips</vt:lpstr>
      <vt:lpstr>Ionic Equations</vt:lpstr>
      <vt:lpstr>Which ions dissociate?</vt:lpstr>
      <vt:lpstr>Some molecules may ionise</vt:lpstr>
      <vt:lpstr>Writing ionic equations</vt:lpstr>
      <vt:lpstr>Ions or not?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 [Narrogin Senior High School]</cp:lastModifiedBy>
  <cp:revision>10</cp:revision>
  <dcterms:created xsi:type="dcterms:W3CDTF">2015-02-25T11:06:46Z</dcterms:created>
  <dcterms:modified xsi:type="dcterms:W3CDTF">2023-04-05T01:47:52Z</dcterms:modified>
</cp:coreProperties>
</file>
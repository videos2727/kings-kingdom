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1" r:id="rId4"/>
    <p:sldId id="259" r:id="rId5"/>
    <p:sldId id="27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2E19F-B002-495F-B069-4AED94F3926C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E4B2-66A0-4C31-AEDF-A4C20B55CAF7}" type="slidenum">
              <a:rPr lang="en-AU" smtClean="0"/>
              <a:t>‹#›</a:t>
            </a:fld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2E19F-B002-495F-B069-4AED94F3926C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E4B2-66A0-4C31-AEDF-A4C20B55CAF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2E19F-B002-495F-B069-4AED94F3926C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E4B2-66A0-4C31-AEDF-A4C20B55CAF7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2E19F-B002-495F-B069-4AED94F3926C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E4B2-66A0-4C31-AEDF-A4C20B55CAF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2E19F-B002-495F-B069-4AED94F3926C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E4B2-66A0-4C31-AEDF-A4C20B55CAF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2E19F-B002-495F-B069-4AED94F3926C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E4B2-66A0-4C31-AEDF-A4C20B55CAF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2E19F-B002-495F-B069-4AED94F3926C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E4B2-66A0-4C31-AEDF-A4C20B55CAF7}" type="slidenum">
              <a:rPr lang="en-AU" smtClean="0"/>
              <a:t>‹#›</a:t>
            </a:fld>
            <a:endParaRPr lang="en-AU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2E19F-B002-495F-B069-4AED94F3926C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E4B2-66A0-4C31-AEDF-A4C20B55CAF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2E19F-B002-495F-B069-4AED94F3926C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E4B2-66A0-4C31-AEDF-A4C20B55CAF7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2E19F-B002-495F-B069-4AED94F3926C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E4B2-66A0-4C31-AEDF-A4C20B55CAF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2E19F-B002-495F-B069-4AED94F3926C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E4B2-66A0-4C31-AEDF-A4C20B55CAF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E1F2E19F-B002-495F-B069-4AED94F3926C}" type="datetimeFigureOut">
              <a:rPr lang="en-AU" smtClean="0"/>
              <a:t>24/03/2023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AAACE4B2-66A0-4C31-AEDF-A4C20B55CAF7}" type="slidenum">
              <a:rPr lang="en-AU" smtClean="0"/>
              <a:t>‹#›</a:t>
            </a:fld>
            <a:endParaRPr lang="en-AU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/>
              <a:t>A1Chemistry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Hydrocarbon reactions:  Addition and substitution</a:t>
            </a:r>
          </a:p>
        </p:txBody>
      </p:sp>
    </p:spTree>
    <p:extLst>
      <p:ext uri="{BB962C8B-B14F-4D97-AF65-F5344CB8AC3E}">
        <p14:creationId xmlns:p14="http://schemas.microsoft.com/office/powerpoint/2010/main" val="1950006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AU" dirty="0"/>
              <a:t>All hydrocarbons, including benzene, will undergo combustion to produce carbon dioxide and water (or carbon monoxide and water in limited oxygen).</a:t>
            </a:r>
          </a:p>
        </p:txBody>
      </p:sp>
    </p:spTree>
    <p:extLst>
      <p:ext uri="{BB962C8B-B14F-4D97-AF65-F5344CB8AC3E}">
        <p14:creationId xmlns:p14="http://schemas.microsoft.com/office/powerpoint/2010/main" val="3320749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Write a balanced equation </a:t>
            </a:r>
            <a:r>
              <a:rPr lang="en-AU" sz="3100" dirty="0"/>
              <a:t>(6 marks) </a:t>
            </a:r>
            <a:r>
              <a:rPr lang="en-AU" sz="4000" dirty="0"/>
              <a:t>:</a:t>
            </a:r>
            <a:endParaRPr lang="en-AU" sz="4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6646" indent="-514350">
              <a:buFont typeface="+mj-lt"/>
              <a:buAutoNum type="arabicPeriod"/>
            </a:pPr>
            <a:r>
              <a:rPr lang="en-AU" dirty="0"/>
              <a:t>Combustion of ethane in excess oxygen</a:t>
            </a:r>
          </a:p>
          <a:p>
            <a:pPr marL="596646" indent="-514350">
              <a:buFont typeface="+mj-lt"/>
              <a:buAutoNum type="arabicPeriod"/>
            </a:pPr>
            <a:r>
              <a:rPr lang="en-AU" dirty="0"/>
              <a:t>Combustion of methane in air</a:t>
            </a:r>
          </a:p>
          <a:p>
            <a:pPr marL="596646" indent="-514350">
              <a:buFont typeface="+mj-lt"/>
              <a:buAutoNum type="arabicPeriod"/>
            </a:pPr>
            <a:r>
              <a:rPr lang="en-AU" dirty="0"/>
              <a:t>Combustion of methyl propane in limited oxygen</a:t>
            </a:r>
          </a:p>
        </p:txBody>
      </p:sp>
    </p:spTree>
    <p:extLst>
      <p:ext uri="{BB962C8B-B14F-4D97-AF65-F5344CB8AC3E}">
        <p14:creationId xmlns:p14="http://schemas.microsoft.com/office/powerpoint/2010/main" val="1970934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alkanes, alkenes and benzene undergo characteristic reactions such as combustion, addition reactions for alkenes and substitution reactions for alkanes and benzene</a:t>
            </a:r>
          </a:p>
        </p:txBody>
      </p:sp>
    </p:spTree>
    <p:extLst>
      <p:ext uri="{BB962C8B-B14F-4D97-AF65-F5344CB8AC3E}">
        <p14:creationId xmlns:p14="http://schemas.microsoft.com/office/powerpoint/2010/main" val="324072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6314-0C98-419E-9417-DE0B0406A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CEEE-5493-4313-97AA-AF357AE36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Write balanced chemical reactions for various addition and substitution reactions</a:t>
            </a:r>
          </a:p>
          <a:p>
            <a:r>
              <a:rPr lang="en-AU" dirty="0"/>
              <a:t>Name </a:t>
            </a:r>
            <a:r>
              <a:rPr lang="en-AU" dirty="0" err="1"/>
              <a:t>halohydrocarbons</a:t>
            </a:r>
            <a:endParaRPr lang="en-AU" dirty="0"/>
          </a:p>
          <a:p>
            <a:r>
              <a:rPr lang="en-AU" dirty="0"/>
              <a:t>Apply Markovnikov’s Rule</a:t>
            </a:r>
          </a:p>
        </p:txBody>
      </p:sp>
    </p:spTree>
    <p:extLst>
      <p:ext uri="{BB962C8B-B14F-4D97-AF65-F5344CB8AC3E}">
        <p14:creationId xmlns:p14="http://schemas.microsoft.com/office/powerpoint/2010/main" val="198568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addition</a:t>
            </a:r>
          </a:p>
          <a:p>
            <a:r>
              <a:rPr lang="en-AU" dirty="0"/>
              <a:t>substitution</a:t>
            </a:r>
          </a:p>
          <a:p>
            <a:r>
              <a:rPr lang="en-AU" dirty="0"/>
              <a:t>halogenation</a:t>
            </a:r>
          </a:p>
          <a:p>
            <a:r>
              <a:rPr lang="en-AU" dirty="0" err="1"/>
              <a:t>hydrohalogenation</a:t>
            </a:r>
            <a:endParaRPr lang="en-AU" dirty="0"/>
          </a:p>
          <a:p>
            <a:r>
              <a:rPr lang="en-AU" dirty="0"/>
              <a:t>Hydrogenation</a:t>
            </a:r>
          </a:p>
          <a:p>
            <a:r>
              <a:rPr lang="en-AU" dirty="0"/>
              <a:t>‘</a:t>
            </a:r>
            <a:r>
              <a:rPr lang="en-AU" dirty="0" err="1"/>
              <a:t>Markovnikov’s</a:t>
            </a:r>
            <a:r>
              <a:rPr lang="en-AU" dirty="0"/>
              <a:t> Rule’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56316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Only occurs with alkenes (=)</a:t>
            </a:r>
          </a:p>
          <a:p>
            <a:r>
              <a:rPr lang="en-AU" dirty="0"/>
              <a:t>The double bond breaks, allowing two extra atoms (halogen or hydrogen) to add to the molecule</a:t>
            </a:r>
          </a:p>
          <a:p>
            <a:endParaRPr lang="en-AU" dirty="0"/>
          </a:p>
          <a:p>
            <a:pPr marL="82296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0562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AU" dirty="0"/>
              <a:t>Halogenation</a:t>
            </a:r>
          </a:p>
          <a:p>
            <a:pPr marL="82296" indent="0">
              <a:buNone/>
            </a:pPr>
            <a:endParaRPr lang="en-A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8560" y="2017713"/>
            <a:ext cx="10994878" cy="3139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8337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AU" dirty="0"/>
              <a:t>Hydrogenation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6592" y="2204864"/>
            <a:ext cx="11680489" cy="2914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6873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AU" dirty="0" err="1"/>
              <a:t>Hydrohalogenation</a:t>
            </a:r>
            <a:endParaRPr lang="en-AU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630" y="2204864"/>
            <a:ext cx="7812360" cy="2611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4747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AU" dirty="0" err="1"/>
              <a:t>Markovnikov’s</a:t>
            </a:r>
            <a:r>
              <a:rPr lang="en-AU" dirty="0"/>
              <a:t> rule:</a:t>
            </a:r>
          </a:p>
          <a:p>
            <a:pPr marL="82296" indent="0">
              <a:buNone/>
            </a:pPr>
            <a:endParaRPr lang="en-AU" dirty="0"/>
          </a:p>
          <a:p>
            <a:pPr marL="82296" indent="0">
              <a:buNone/>
            </a:pPr>
            <a:r>
              <a:rPr lang="en-AU" dirty="0" err="1"/>
              <a:t>Hydrogens</a:t>
            </a:r>
            <a:r>
              <a:rPr lang="en-AU" dirty="0"/>
              <a:t> tend to bond to the carbon which has the most </a:t>
            </a:r>
            <a:r>
              <a:rPr lang="en-AU" dirty="0" err="1"/>
              <a:t>hydrogens</a:t>
            </a:r>
            <a:r>
              <a:rPr lang="en-AU" dirty="0"/>
              <a:t> already, the halogen tends to bond to the carbon with the least </a:t>
            </a:r>
            <a:r>
              <a:rPr lang="en-AU" dirty="0" err="1"/>
              <a:t>hydrogens</a:t>
            </a:r>
            <a:r>
              <a:rPr lang="en-AU" dirty="0"/>
              <a:t> already.</a:t>
            </a:r>
          </a:p>
        </p:txBody>
      </p:sp>
    </p:spTree>
    <p:extLst>
      <p:ext uri="{BB962C8B-B14F-4D97-AF65-F5344CB8AC3E}">
        <p14:creationId xmlns:p14="http://schemas.microsoft.com/office/powerpoint/2010/main" val="2307355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8514"/>
            <a:ext cx="8892480" cy="3151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4113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Substitution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Only occurs in alkanes</a:t>
            </a:r>
          </a:p>
          <a:p>
            <a:r>
              <a:rPr lang="en-AU" dirty="0"/>
              <a:t>Halogen displaces a hydrogen by disrupting the C – H bond</a:t>
            </a:r>
          </a:p>
          <a:p>
            <a:pPr marL="82296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378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0" y="447675"/>
            <a:ext cx="4686300" cy="596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2495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6314-0C98-419E-9417-DE0B0406A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CEEE-5493-4313-97AA-AF357AE36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Write balanced chemical reactions for various addition and substitution reactions</a:t>
            </a:r>
          </a:p>
          <a:p>
            <a:r>
              <a:rPr lang="en-AU" dirty="0"/>
              <a:t>Name </a:t>
            </a:r>
            <a:r>
              <a:rPr lang="en-AU" dirty="0" err="1"/>
              <a:t>halohydrocarbons</a:t>
            </a:r>
            <a:endParaRPr lang="en-AU" dirty="0"/>
          </a:p>
          <a:p>
            <a:r>
              <a:rPr lang="en-AU" dirty="0"/>
              <a:t>Apply Markovnikov’s Rule</a:t>
            </a:r>
          </a:p>
        </p:txBody>
      </p:sp>
    </p:spTree>
    <p:extLst>
      <p:ext uri="{BB962C8B-B14F-4D97-AF65-F5344CB8AC3E}">
        <p14:creationId xmlns:p14="http://schemas.microsoft.com/office/powerpoint/2010/main" val="24800170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48</TotalTime>
  <Words>205</Words>
  <Application>Microsoft Office PowerPoint</Application>
  <PresentationFormat>On-screen Show (4:3)</PresentationFormat>
  <Paragraphs>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Gill Sans MT</vt:lpstr>
      <vt:lpstr>Verdana</vt:lpstr>
      <vt:lpstr>Wingdings 2</vt:lpstr>
      <vt:lpstr>Solstice</vt:lpstr>
      <vt:lpstr>A1Chemistry</vt:lpstr>
      <vt:lpstr>Review</vt:lpstr>
      <vt:lpstr>Write a balanced equation (6 marks) :</vt:lpstr>
      <vt:lpstr>Learning Intentions</vt:lpstr>
      <vt:lpstr>Success criteria</vt:lpstr>
      <vt:lpstr>Key words</vt:lpstr>
      <vt:lpstr>Addition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Substitution</vt:lpstr>
      <vt:lpstr>PowerPoint Presentation</vt:lpstr>
      <vt:lpstr>Success criteria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A1Chemistry</dc:title>
  <dc:creator>JOHNSON Kristy</dc:creator>
  <cp:lastModifiedBy>JOHNSON Kristy [Narrogin Senior High School]</cp:lastModifiedBy>
  <cp:revision>10</cp:revision>
  <dcterms:created xsi:type="dcterms:W3CDTF">2015-05-12T03:16:21Z</dcterms:created>
  <dcterms:modified xsi:type="dcterms:W3CDTF">2023-03-24T06:29:22Z</dcterms:modified>
</cp:coreProperties>
</file>
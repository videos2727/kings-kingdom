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66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78AC91FF-0A91-4FBD-9A90-A0E9F316E09F}" type="datetimeFigureOut">
              <a:rPr lang="en-AU" smtClean="0"/>
              <a:t>29/11/2016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5C186191-3EC0-496C-AE64-C8806DC367A4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iencegeek.net/APchemistry/APtaters/EquationBalancing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412776"/>
            <a:ext cx="4248472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3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A1 Chemistry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Ionic Equations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8716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Balance these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mtClean="0">
                <a:hlinkClick r:id="rId2"/>
              </a:rPr>
              <a:t>science geek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980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Objectives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chemical reactions can be represented by chemical equations; balanced chemical equations indicate the relative numbers of particles (atoms, molecules or ions) that are involved in the reaction</a:t>
            </a:r>
          </a:p>
        </p:txBody>
      </p:sp>
    </p:spTree>
    <p:extLst>
      <p:ext uri="{BB962C8B-B14F-4D97-AF65-F5344CB8AC3E}">
        <p14:creationId xmlns:p14="http://schemas.microsoft.com/office/powerpoint/2010/main" val="237814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words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ionic</a:t>
            </a:r>
          </a:p>
          <a:p>
            <a:r>
              <a:rPr lang="en-AU" dirty="0" smtClean="0"/>
              <a:t>covalent molecular</a:t>
            </a:r>
          </a:p>
          <a:p>
            <a:r>
              <a:rPr lang="en-AU" dirty="0" smtClean="0"/>
              <a:t>metallic</a:t>
            </a:r>
          </a:p>
          <a:p>
            <a:r>
              <a:rPr lang="en-AU" dirty="0" smtClean="0"/>
              <a:t>spectator ions</a:t>
            </a:r>
          </a:p>
          <a:p>
            <a:r>
              <a:rPr lang="en-AU" dirty="0" smtClean="0"/>
              <a:t>aqueous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313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Ionic equations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 order to accurately represent a reaction, an equation should only include reacting species</a:t>
            </a:r>
          </a:p>
          <a:p>
            <a:r>
              <a:rPr lang="en-AU" dirty="0"/>
              <a:t>I</a:t>
            </a:r>
            <a:r>
              <a:rPr lang="en-AU" dirty="0" smtClean="0"/>
              <a:t>onic </a:t>
            </a:r>
            <a:r>
              <a:rPr lang="en-AU" dirty="0"/>
              <a:t>compounds which are </a:t>
            </a:r>
            <a:r>
              <a:rPr lang="en-AU" dirty="0" smtClean="0"/>
              <a:t>soluble </a:t>
            </a:r>
            <a:r>
              <a:rPr lang="en-AU" dirty="0"/>
              <a:t>dissociate </a:t>
            </a:r>
            <a:r>
              <a:rPr lang="en-AU" dirty="0" smtClean="0"/>
              <a:t>(split apart into individual ions) when </a:t>
            </a:r>
            <a:r>
              <a:rPr lang="en-AU" dirty="0"/>
              <a:t>dissolved in water</a:t>
            </a:r>
            <a:r>
              <a:rPr lang="en-AU" dirty="0" smtClean="0"/>
              <a:t>.</a:t>
            </a:r>
          </a:p>
          <a:p>
            <a:r>
              <a:rPr lang="en-AU" dirty="0" smtClean="0"/>
              <a:t>For many reactions, only one type of ions in an ionic compound undergoes a reaction; the other ion is still present, unchanged in the reactants.</a:t>
            </a:r>
          </a:p>
          <a:p>
            <a:r>
              <a:rPr lang="en-AU" dirty="0" smtClean="0"/>
              <a:t>These ions are referred to as spectator ions, and are omitted in an ionic equation.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1966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Which ions dissociate?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Soluble ionic salts, </a:t>
            </a:r>
            <a:r>
              <a:rPr lang="en-AU" dirty="0" err="1" smtClean="0"/>
              <a:t>ie</a:t>
            </a:r>
            <a:r>
              <a:rPr lang="en-AU" dirty="0" smtClean="0"/>
              <a:t> those containing metals and non-metals and are aqueous in state</a:t>
            </a:r>
          </a:p>
          <a:p>
            <a:r>
              <a:rPr lang="en-AU" dirty="0" smtClean="0"/>
              <a:t>Aqueous compounds are indicated as (</a:t>
            </a:r>
            <a:r>
              <a:rPr lang="en-AU" dirty="0" err="1" smtClean="0"/>
              <a:t>aq</a:t>
            </a:r>
            <a:r>
              <a:rPr lang="en-AU" dirty="0" smtClean="0"/>
              <a:t>) in an equation.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1073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Some molecules may ionise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Some molecular covalent substances turn into ions when dissolved in water.  </a:t>
            </a:r>
          </a:p>
          <a:p>
            <a:r>
              <a:rPr lang="en-AU" dirty="0" smtClean="0"/>
              <a:t>Compounds which fully ionise are referred to as ‘strong’ ionisers, most of them are acids.</a:t>
            </a:r>
          </a:p>
          <a:p>
            <a:r>
              <a:rPr lang="en-AU" dirty="0" smtClean="0"/>
              <a:t>Include </a:t>
            </a:r>
            <a:r>
              <a:rPr lang="en-AU" dirty="0" err="1" smtClean="0"/>
              <a:t>HCl</a:t>
            </a:r>
            <a:r>
              <a:rPr lang="en-AU" dirty="0" smtClean="0"/>
              <a:t>, H</a:t>
            </a:r>
            <a:r>
              <a:rPr lang="en-AU" baseline="-25000" dirty="0" smtClean="0"/>
              <a:t>2</a:t>
            </a:r>
            <a:r>
              <a:rPr lang="en-AU" dirty="0" smtClean="0"/>
              <a:t>SO</a:t>
            </a:r>
            <a:r>
              <a:rPr lang="en-AU" baseline="-25000" dirty="0" smtClean="0"/>
              <a:t>4</a:t>
            </a:r>
            <a:r>
              <a:rPr lang="en-AU" dirty="0" smtClean="0"/>
              <a:t> and HNO</a:t>
            </a:r>
            <a:r>
              <a:rPr lang="en-AU" baseline="-25000" dirty="0" smtClean="0"/>
              <a:t>3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347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Writing ionic equations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Write the equation, including states</a:t>
            </a:r>
            <a:endParaRPr lang="en-AU" dirty="0" smtClean="0">
              <a:sym typeface="Wingdings" pitchFamily="2" charset="2"/>
            </a:endParaRPr>
          </a:p>
          <a:p>
            <a:pPr marL="0" indent="0">
              <a:buNone/>
            </a:pPr>
            <a:endParaRPr lang="en-AU" dirty="0" smtClean="0">
              <a:sym typeface="Wingdings" pitchFamily="2" charset="2"/>
            </a:endParaRPr>
          </a:p>
          <a:p>
            <a:pPr marL="0" indent="0">
              <a:buNone/>
            </a:pPr>
            <a:endParaRPr lang="en-AU" dirty="0">
              <a:sym typeface="Wingdings" pitchFamily="2" charset="2"/>
            </a:endParaRPr>
          </a:p>
          <a:p>
            <a:r>
              <a:rPr lang="en-AU" dirty="0" smtClean="0">
                <a:sym typeface="Wingdings" pitchFamily="2" charset="2"/>
              </a:rPr>
              <a:t>Ionise strong molecular or dissociate soluble ionic compounds</a:t>
            </a:r>
          </a:p>
          <a:p>
            <a:endParaRPr lang="en-AU" dirty="0">
              <a:sym typeface="Wingdings" pitchFamily="2" charset="2"/>
            </a:endParaRPr>
          </a:p>
          <a:p>
            <a:endParaRPr lang="en-AU" dirty="0" smtClean="0">
              <a:sym typeface="Wingdings" pitchFamily="2" charset="2"/>
            </a:endParaRPr>
          </a:p>
          <a:p>
            <a:r>
              <a:rPr lang="en-AU" dirty="0" smtClean="0">
                <a:sym typeface="Wingdings" pitchFamily="2" charset="2"/>
              </a:rPr>
              <a:t>Get rid of ‘spectator ions’</a:t>
            </a:r>
          </a:p>
          <a:p>
            <a:r>
              <a:rPr lang="en-AU" dirty="0" smtClean="0">
                <a:sym typeface="Wingdings" pitchFamily="2" charset="2"/>
              </a:rPr>
              <a:t>Balance what’s left; atoms and charges must balance 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253717" y="266517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HCl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291232" y="266517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 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2699792" y="266517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Zn (s)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3570252" y="266571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ym typeface="Wingdings" pitchFamily="2" charset="2"/>
              </a:rPr>
              <a:t>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4326336" y="266571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ZnCl</a:t>
            </a:r>
            <a:r>
              <a:rPr lang="en-AU" baseline="-25000" dirty="0" smtClean="0"/>
              <a:t>2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5508104" y="2665170"/>
            <a:ext cx="2723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5796136" y="2665170"/>
            <a:ext cx="2723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</a:t>
            </a:r>
            <a:r>
              <a:rPr lang="en-AU" baseline="-25000" dirty="0" smtClean="0"/>
              <a:t>2</a:t>
            </a:r>
            <a:r>
              <a:rPr lang="en-AU" dirty="0" smtClean="0"/>
              <a:t> (g)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71600" y="4479273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</a:t>
            </a:r>
            <a:r>
              <a:rPr lang="en-AU" baseline="30000" dirty="0" smtClean="0"/>
              <a:t>+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219224" y="447927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Cl</a:t>
            </a:r>
            <a:r>
              <a:rPr lang="en-AU" baseline="30000" dirty="0" smtClean="0"/>
              <a:t>-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815" y="4417082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Down Arrow 13"/>
          <p:cNvSpPr/>
          <p:nvPr/>
        </p:nvSpPr>
        <p:spPr>
          <a:xfrm>
            <a:off x="1478093" y="3097232"/>
            <a:ext cx="427174" cy="13820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811" y="4417081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860" y="4417080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542" y="4414562"/>
            <a:ext cx="1538827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956" y="3035044"/>
            <a:ext cx="487363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531255" y="4476752"/>
            <a:ext cx="265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Zn</a:t>
            </a:r>
            <a:r>
              <a:rPr lang="en-AU" baseline="30000" dirty="0" smtClean="0"/>
              <a:t>+2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  </a:t>
            </a:r>
            <a:endParaRPr lang="en-AU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765" y="4417082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904148" y="4479273"/>
            <a:ext cx="250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Cl</a:t>
            </a:r>
            <a:r>
              <a:rPr lang="en-AU" baseline="30000" dirty="0" smtClean="0"/>
              <a:t>- </a:t>
            </a:r>
            <a:r>
              <a:rPr lang="en-AU" dirty="0" smtClean="0"/>
              <a:t>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  <a:endParaRPr lang="en-AU" dirty="0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453" y="4417082"/>
            <a:ext cx="12795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7074518" y="4476752"/>
            <a:ext cx="2723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</a:t>
            </a:r>
            <a:r>
              <a:rPr lang="en-AU" baseline="-25000" dirty="0" smtClean="0"/>
              <a:t>2</a:t>
            </a:r>
            <a:r>
              <a:rPr lang="en-AU" dirty="0" smtClean="0"/>
              <a:t> (g)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071105" y="4476752"/>
            <a:ext cx="1499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1211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7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9" dur="2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5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59259E-6 L 0.13386 -0.00162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84" y="-93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7037E-7 L -0.13906 -0.00116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62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15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animClr clrSpc="rgb" dir="cw">
                                      <p:cBhvr>
                                        <p:cTn id="134" dur="15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35" dur="15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1500" autoRev="1" fill="remove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4" grpId="1" build="allAtOnce"/>
      <p:bldP spid="5" grpId="0"/>
      <p:bldP spid="6" grpId="0"/>
      <p:bldP spid="7" grpId="0"/>
      <p:bldP spid="9" grpId="0"/>
      <p:bldP spid="9" grpId="2"/>
      <p:bldP spid="10" grpId="0"/>
      <p:bldP spid="11" grpId="0"/>
      <p:bldP spid="12" grpId="0"/>
      <p:bldP spid="12" grpId="1"/>
      <p:bldP spid="13" grpId="0"/>
      <p:bldP spid="13" grpId="1"/>
      <p:bldP spid="13" grpId="2"/>
      <p:bldP spid="14" grpId="0" animBg="1"/>
      <p:bldP spid="14" grpId="1" animBg="1"/>
      <p:bldP spid="15" grpId="0"/>
      <p:bldP spid="16" grpId="0"/>
      <p:bldP spid="16" grpId="1"/>
      <p:bldP spid="16" grpId="2"/>
      <p:bldP spid="24" grpId="0"/>
      <p:bldP spid="24" grpId="1"/>
      <p:bldP spid="24" grpId="2"/>
      <p:bldP spid="17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Ions or not?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 smtClean="0"/>
              <a:t>NaCl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</a:p>
          <a:p>
            <a:r>
              <a:rPr lang="en-AU" dirty="0" err="1" smtClean="0"/>
              <a:t>NaCl</a:t>
            </a:r>
            <a:r>
              <a:rPr lang="en-AU" dirty="0" smtClean="0"/>
              <a:t> (s)</a:t>
            </a:r>
          </a:p>
          <a:p>
            <a:r>
              <a:rPr lang="en-AU" dirty="0" smtClean="0"/>
              <a:t>H</a:t>
            </a:r>
            <a:r>
              <a:rPr lang="en-AU" baseline="-25000" dirty="0" smtClean="0"/>
              <a:t>2</a:t>
            </a:r>
            <a:r>
              <a:rPr lang="en-AU" dirty="0" smtClean="0"/>
              <a:t>SO</a:t>
            </a:r>
            <a:r>
              <a:rPr lang="en-AU" baseline="-25000" dirty="0" smtClean="0"/>
              <a:t>4 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</a:p>
          <a:p>
            <a:r>
              <a:rPr lang="en-AU" dirty="0" smtClean="0"/>
              <a:t>CH</a:t>
            </a:r>
            <a:r>
              <a:rPr lang="en-AU" baseline="-25000" dirty="0" smtClean="0"/>
              <a:t>3</a:t>
            </a:r>
            <a:r>
              <a:rPr lang="en-AU" dirty="0" smtClean="0"/>
              <a:t>COOH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</a:p>
          <a:p>
            <a:r>
              <a:rPr lang="en-AU" dirty="0" smtClean="0"/>
              <a:t>CO</a:t>
            </a:r>
            <a:r>
              <a:rPr lang="en-AU" baseline="-25000" dirty="0" smtClean="0"/>
              <a:t>2</a:t>
            </a:r>
            <a:r>
              <a:rPr lang="en-AU" dirty="0" smtClean="0"/>
              <a:t> (g)</a:t>
            </a:r>
          </a:p>
          <a:p>
            <a:r>
              <a:rPr lang="en-AU" dirty="0" smtClean="0"/>
              <a:t>MgCl</a:t>
            </a:r>
            <a:r>
              <a:rPr lang="en-AU" baseline="-25000" dirty="0" smtClean="0"/>
              <a:t>2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</a:p>
          <a:p>
            <a:r>
              <a:rPr lang="en-AU" dirty="0" err="1" smtClean="0"/>
              <a:t>AgCl</a:t>
            </a:r>
            <a:r>
              <a:rPr lang="en-AU" dirty="0" smtClean="0"/>
              <a:t> (s)</a:t>
            </a:r>
          </a:p>
          <a:p>
            <a:r>
              <a:rPr lang="en-AU" dirty="0" smtClean="0"/>
              <a:t>H</a:t>
            </a:r>
            <a:r>
              <a:rPr lang="en-AU" baseline="-25000" dirty="0" smtClean="0"/>
              <a:t>2</a:t>
            </a:r>
            <a:r>
              <a:rPr lang="en-AU" dirty="0" smtClean="0"/>
              <a:t>O (l)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771800" y="206084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Na</a:t>
            </a:r>
            <a:r>
              <a:rPr lang="en-AU" baseline="30000" dirty="0" smtClean="0"/>
              <a:t>+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 + </a:t>
            </a:r>
            <a:r>
              <a:rPr lang="en-AU" dirty="0" err="1" smtClean="0"/>
              <a:t>Cl</a:t>
            </a:r>
            <a:r>
              <a:rPr lang="en-AU" baseline="30000" dirty="0" smtClean="0"/>
              <a:t>- 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  <a:endParaRPr lang="en-AU" baseline="30000" dirty="0"/>
          </a:p>
        </p:txBody>
      </p:sp>
      <p:sp>
        <p:nvSpPr>
          <p:cNvPr id="5" name="TextBox 4"/>
          <p:cNvSpPr txBox="1"/>
          <p:nvPr/>
        </p:nvSpPr>
        <p:spPr>
          <a:xfrm>
            <a:off x="2794039" y="299695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</a:t>
            </a:r>
            <a:r>
              <a:rPr lang="en-AU" baseline="30000" dirty="0" smtClean="0"/>
              <a:t>+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 + SO</a:t>
            </a:r>
            <a:r>
              <a:rPr lang="en-AU" baseline="-25000" dirty="0" smtClean="0"/>
              <a:t>4</a:t>
            </a:r>
            <a:r>
              <a:rPr lang="en-AU" baseline="30000" dirty="0" smtClean="0"/>
              <a:t>2-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2627784" y="429309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Mg</a:t>
            </a:r>
            <a:r>
              <a:rPr lang="en-AU" baseline="30000" dirty="0" smtClean="0"/>
              <a:t>2+ </a:t>
            </a:r>
            <a:r>
              <a:rPr lang="en-AU" dirty="0" smtClean="0"/>
              <a:t>(</a:t>
            </a:r>
            <a:r>
              <a:rPr lang="en-AU" dirty="0" err="1" smtClean="0"/>
              <a:t>aq</a:t>
            </a:r>
            <a:r>
              <a:rPr lang="en-AU" dirty="0" smtClean="0"/>
              <a:t>) + </a:t>
            </a:r>
            <a:r>
              <a:rPr lang="en-AU" dirty="0" err="1" smtClean="0"/>
              <a:t>Cl</a:t>
            </a:r>
            <a:r>
              <a:rPr lang="en-AU" baseline="30000" dirty="0" smtClean="0"/>
              <a:t>-</a:t>
            </a:r>
            <a:r>
              <a:rPr lang="en-AU" dirty="0" smtClean="0"/>
              <a:t> (</a:t>
            </a:r>
            <a:r>
              <a:rPr lang="en-AU" dirty="0" err="1" smtClean="0"/>
              <a:t>aq</a:t>
            </a:r>
            <a:r>
              <a:rPr lang="en-AU" dirty="0" smtClean="0"/>
              <a:t>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9332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Do now…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mtClean="0"/>
              <a:t>Question set 4.2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35986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TM01790492[[fn=Sketchbook]]</Template>
  <TotalTime>92</TotalTime>
  <Words>348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Sketchbook</vt:lpstr>
      <vt:lpstr>PowerPoint Presentation</vt:lpstr>
      <vt:lpstr>A1 Chemistry</vt:lpstr>
      <vt:lpstr>Balance these</vt:lpstr>
      <vt:lpstr>Objectives</vt:lpstr>
      <vt:lpstr>Key words</vt:lpstr>
      <vt:lpstr>Ionic equations</vt:lpstr>
      <vt:lpstr>Which ions dissociate?</vt:lpstr>
      <vt:lpstr>Some molecules may ionise</vt:lpstr>
      <vt:lpstr>Writing ionic equations</vt:lpstr>
      <vt:lpstr>Ions or not?</vt:lpstr>
      <vt:lpstr>Do now…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</cp:lastModifiedBy>
  <cp:revision>13</cp:revision>
  <dcterms:created xsi:type="dcterms:W3CDTF">2015-03-01T03:34:30Z</dcterms:created>
  <dcterms:modified xsi:type="dcterms:W3CDTF">2016-11-29T04:44:06Z</dcterms:modified>
</cp:coreProperties>
</file>
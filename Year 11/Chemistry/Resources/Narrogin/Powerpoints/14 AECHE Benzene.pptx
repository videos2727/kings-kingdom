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68" r:id="rId4"/>
    <p:sldId id="261" r:id="rId5"/>
    <p:sldId id="264" r:id="rId6"/>
    <p:sldId id="262" r:id="rId7"/>
    <p:sldId id="263" r:id="rId8"/>
    <p:sldId id="265" r:id="rId9"/>
    <p:sldId id="269" r:id="rId10"/>
    <p:sldId id="27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8" autoAdjust="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5696-446C-43F0-B80D-FBB5587262A7}" type="datetimeFigureOut">
              <a:rPr lang="en-AU" smtClean="0"/>
              <a:t>4/04/2023</a:t>
            </a:fld>
            <a:endParaRPr lang="en-AU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1C91-F160-414F-8BA5-4EC78D1BD48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5696-446C-43F0-B80D-FBB5587262A7}" type="datetimeFigureOut">
              <a:rPr lang="en-AU" smtClean="0"/>
              <a:t>4/04/2023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1C91-F160-414F-8BA5-4EC78D1BD483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5696-446C-43F0-B80D-FBB5587262A7}" type="datetimeFigureOut">
              <a:rPr lang="en-AU" smtClean="0"/>
              <a:t>4/04/2023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1C91-F160-414F-8BA5-4EC78D1BD483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5696-446C-43F0-B80D-FBB5587262A7}" type="datetimeFigureOut">
              <a:rPr lang="en-AU" smtClean="0"/>
              <a:t>4/04/2023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1C91-F160-414F-8BA5-4EC78D1BD483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5696-446C-43F0-B80D-FBB5587262A7}" type="datetimeFigureOut">
              <a:rPr lang="en-AU" smtClean="0"/>
              <a:t>4/04/2023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1C91-F160-414F-8BA5-4EC78D1BD483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5696-446C-43F0-B80D-FBB5587262A7}" type="datetimeFigureOut">
              <a:rPr lang="en-AU" smtClean="0"/>
              <a:t>4/04/2023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1C91-F160-414F-8BA5-4EC78D1BD483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5696-446C-43F0-B80D-FBB5587262A7}" type="datetimeFigureOut">
              <a:rPr lang="en-AU" smtClean="0"/>
              <a:t>4/04/2023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1C91-F160-414F-8BA5-4EC78D1BD483}" type="slidenum">
              <a:rPr lang="en-AU" smtClean="0"/>
              <a:t>‹#›</a:t>
            </a:fld>
            <a:endParaRPr lang="en-AU"/>
          </a:p>
        </p:txBody>
      </p:sp>
      <p:sp>
        <p:nvSpPr>
          <p:cNvPr id="6" name="Rectangle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5696-446C-43F0-B80D-FBB5587262A7}" type="datetimeFigureOut">
              <a:rPr lang="en-AU" smtClean="0"/>
              <a:t>4/04/2023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1C91-F160-414F-8BA5-4EC78D1BD483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5696-446C-43F0-B80D-FBB5587262A7}" type="datetimeFigureOut">
              <a:rPr lang="en-AU" smtClean="0"/>
              <a:t>4/04/2023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1C91-F160-414F-8BA5-4EC78D1BD483}" type="slidenum">
              <a:rPr lang="en-AU" smtClean="0"/>
              <a:t>‹#›</a:t>
            </a:fld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5696-446C-43F0-B80D-FBB5587262A7}" type="datetimeFigureOut">
              <a:rPr lang="en-AU" smtClean="0"/>
              <a:t>4/04/2023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1C91-F160-414F-8BA5-4EC78D1BD483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15696-446C-43F0-B80D-FBB5587262A7}" type="datetimeFigureOut">
              <a:rPr lang="en-AU" smtClean="0"/>
              <a:t>4/04/2023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4E1C91-F160-414F-8BA5-4EC78D1BD483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Donut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FCB15696-446C-43F0-B80D-FBB5587262A7}" type="datetimeFigureOut">
              <a:rPr lang="en-AU" smtClean="0"/>
              <a:t>4/04/2023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en-A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D34E1C91-F160-414F-8BA5-4EC78D1BD483}" type="slidenum">
              <a:rPr lang="en-AU" smtClean="0"/>
              <a:t>‹#›</a:t>
            </a:fld>
            <a:endParaRPr lang="en-AU"/>
          </a:p>
        </p:txBody>
      </p:sp>
      <p:sp>
        <p:nvSpPr>
          <p:cNvPr id="15" name="Rectangle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A1 Chemistry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Benzene</a:t>
            </a:r>
          </a:p>
        </p:txBody>
      </p:sp>
    </p:spTree>
    <p:extLst>
      <p:ext uri="{BB962C8B-B14F-4D97-AF65-F5344CB8AC3E}">
        <p14:creationId xmlns:p14="http://schemas.microsoft.com/office/powerpoint/2010/main" val="22011136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Learning intentions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AU" dirty="0"/>
              <a:t>hydrocarbons, including benzene, have different chemical properties that are determined by the nature of the bonding within the molecules </a:t>
            </a:r>
          </a:p>
          <a:p>
            <a:r>
              <a:rPr lang="en-AU" dirty="0"/>
              <a:t>benzene undergoes characteristic reactions such as combustion and substitution</a:t>
            </a:r>
          </a:p>
        </p:txBody>
      </p:sp>
    </p:spTree>
    <p:extLst>
      <p:ext uri="{BB962C8B-B14F-4D97-AF65-F5344CB8AC3E}">
        <p14:creationId xmlns:p14="http://schemas.microsoft.com/office/powerpoint/2010/main" val="136360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4A0E8-F512-4C7D-A24A-E7DC02D4F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A6E83-11AC-4ACD-902B-6E61767E6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Write the general formula for benzene</a:t>
            </a:r>
          </a:p>
          <a:p>
            <a:r>
              <a:rPr lang="en-AU" dirty="0"/>
              <a:t>Name benzene derivatives (IUPAC)</a:t>
            </a:r>
          </a:p>
          <a:p>
            <a:r>
              <a:rPr lang="en-AU" dirty="0"/>
              <a:t>Name one commonly used compound that contains benzene</a:t>
            </a:r>
          </a:p>
          <a:p>
            <a:r>
              <a:rPr lang="en-AU" dirty="0"/>
              <a:t>Write equations for combustion and substitution of benzene</a:t>
            </a:r>
          </a:p>
        </p:txBody>
      </p:sp>
    </p:spTree>
    <p:extLst>
      <p:ext uri="{BB962C8B-B14F-4D97-AF65-F5344CB8AC3E}">
        <p14:creationId xmlns:p14="http://schemas.microsoft.com/office/powerpoint/2010/main" val="291218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Benzene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AU" dirty="0"/>
              <a:t>Molecular formula C</a:t>
            </a:r>
            <a:r>
              <a:rPr lang="en-AU" sz="1800" dirty="0"/>
              <a:t>6</a:t>
            </a:r>
            <a:r>
              <a:rPr lang="en-AU" dirty="0"/>
              <a:t>H</a:t>
            </a:r>
            <a:r>
              <a:rPr lang="en-AU" sz="1800" dirty="0"/>
              <a:t>6</a:t>
            </a:r>
          </a:p>
          <a:p>
            <a:pPr marL="82296" indent="0">
              <a:buNone/>
            </a:pPr>
            <a:r>
              <a:rPr lang="en-AU" dirty="0"/>
              <a:t>A unique ring shaped structure</a:t>
            </a:r>
            <a:endParaRPr lang="en-AU" sz="28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852936"/>
            <a:ext cx="6075015" cy="25016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1481" y="2624233"/>
            <a:ext cx="2911475" cy="29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26532" y="3125781"/>
            <a:ext cx="14287500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93307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Uses of benzene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AU" dirty="0"/>
              <a:t>Benzene is an additive to fuels; it improves the octane rating.</a:t>
            </a:r>
          </a:p>
          <a:p>
            <a:pPr marL="82296" indent="0">
              <a:buNone/>
            </a:pPr>
            <a:r>
              <a:rPr lang="en-AU" dirty="0"/>
              <a:t>It is also used to “taint” pure ethanol, turning it from liquor to industrial alcohol.</a:t>
            </a:r>
          </a:p>
          <a:p>
            <a:pPr marL="82296" indent="0">
              <a:buNone/>
            </a:pPr>
            <a:r>
              <a:rPr lang="en-AU" dirty="0"/>
              <a:t>It is also used to produce many other chemicals, such as plastics, pesticides and detergents.</a:t>
            </a:r>
          </a:p>
        </p:txBody>
      </p:sp>
    </p:spTree>
    <p:extLst>
      <p:ext uri="{BB962C8B-B14F-4D97-AF65-F5344CB8AC3E}">
        <p14:creationId xmlns:p14="http://schemas.microsoft.com/office/powerpoint/2010/main" val="40907430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Aromatic compounds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9632" y="1196752"/>
            <a:ext cx="7674056" cy="5328592"/>
          </a:xfrm>
        </p:spPr>
        <p:txBody>
          <a:bodyPr>
            <a:normAutofit/>
          </a:bodyPr>
          <a:lstStyle/>
          <a:p>
            <a:pPr marL="82296" indent="0">
              <a:buNone/>
            </a:pPr>
            <a:r>
              <a:rPr lang="en-AU" dirty="0"/>
              <a:t>Many naturally occurring compounds contain the benzene ring.</a:t>
            </a:r>
          </a:p>
          <a:p>
            <a:pPr marL="82296" indent="0">
              <a:buNone/>
            </a:pPr>
            <a:endParaRPr lang="en-AU" dirty="0"/>
          </a:p>
          <a:p>
            <a:pPr marL="82296" indent="0">
              <a:buNone/>
            </a:pPr>
            <a:endParaRPr lang="en-AU" dirty="0"/>
          </a:p>
          <a:p>
            <a:pPr marL="82296" indent="0">
              <a:buNone/>
            </a:pPr>
            <a:endParaRPr lang="en-AU" dirty="0"/>
          </a:p>
          <a:p>
            <a:pPr marL="82296" indent="0">
              <a:buNone/>
            </a:pPr>
            <a:endParaRPr lang="en-AU" dirty="0"/>
          </a:p>
          <a:p>
            <a:pPr marL="82296" indent="0">
              <a:buNone/>
            </a:pPr>
            <a:endParaRPr lang="en-AU" dirty="0"/>
          </a:p>
          <a:p>
            <a:pPr marL="82296" indent="0">
              <a:buNone/>
            </a:pPr>
            <a:endParaRPr lang="en-AU" dirty="0"/>
          </a:p>
          <a:p>
            <a:pPr marL="82296" indent="0">
              <a:buNone/>
            </a:pPr>
            <a:endParaRPr lang="en-A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1139" y="2450577"/>
            <a:ext cx="4821020" cy="3503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156" y="2348880"/>
            <a:ext cx="2611437" cy="1287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3938208"/>
            <a:ext cx="1392899" cy="936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7881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31640" y="332656"/>
            <a:ext cx="7602048" cy="5915744"/>
          </a:xfrm>
        </p:spPr>
        <p:txBody>
          <a:bodyPr/>
          <a:lstStyle/>
          <a:p>
            <a:pPr marL="82296" indent="0">
              <a:buNone/>
            </a:pPr>
            <a:r>
              <a:rPr lang="en-AU" dirty="0"/>
              <a:t>These are formed when other atoms or groups of atoms are substituted for one or more of benzene’s </a:t>
            </a:r>
            <a:r>
              <a:rPr lang="en-AU" dirty="0" err="1"/>
              <a:t>hydrogens</a:t>
            </a:r>
            <a:r>
              <a:rPr lang="en-AU" dirty="0"/>
              <a:t>.</a:t>
            </a:r>
          </a:p>
          <a:p>
            <a:endParaRPr lang="en-A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900" y="2343150"/>
            <a:ext cx="6934200" cy="2171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625483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Combustion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AU" dirty="0"/>
              <a:t>Like all hydrocarbons, benzene will burn in oxygen to produce carbon dioxide and water.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D9BE29-DFF8-47A9-91FD-5532E0EEA63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252" t="64680" r="41189" b="20640"/>
          <a:stretch/>
        </p:blipFill>
        <p:spPr>
          <a:xfrm>
            <a:off x="2267744" y="3212976"/>
            <a:ext cx="6197906" cy="648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601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4F30-5CAD-48D3-9083-20B6FB3F5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Substitution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73147-5832-4445-991E-3B0FCDB1F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AU" dirty="0"/>
              <a:t>Although benzene is not saturated, it reacts as if it has no double bonds. It will undergo substitution reactions with halogens.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534897-7390-4D34-BCB0-65E6F8BECA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800" y="3284984"/>
            <a:ext cx="4641760" cy="1555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415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4A0E8-F512-4C7D-A24A-E7DC02D4F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A6E83-11AC-4ACD-902B-6E61767E6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Write the general formula for benzene</a:t>
            </a:r>
          </a:p>
          <a:p>
            <a:r>
              <a:rPr lang="en-AU" dirty="0"/>
              <a:t>Name benzene derivatives (IUPAC)</a:t>
            </a:r>
          </a:p>
          <a:p>
            <a:r>
              <a:rPr lang="en-AU" dirty="0"/>
              <a:t>Name one commonly used compound that contains benzene</a:t>
            </a:r>
          </a:p>
          <a:p>
            <a:r>
              <a:rPr lang="en-AU" dirty="0"/>
              <a:t>Write equations for combustion and substitution of benzene</a:t>
            </a:r>
          </a:p>
        </p:txBody>
      </p:sp>
    </p:spTree>
    <p:extLst>
      <p:ext uri="{BB962C8B-B14F-4D97-AF65-F5344CB8AC3E}">
        <p14:creationId xmlns:p14="http://schemas.microsoft.com/office/powerpoint/2010/main" val="40071145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39</TotalTime>
  <Words>230</Words>
  <Application>Microsoft Office PowerPoint</Application>
  <PresentationFormat>On-screen Show (4:3)</PresentationFormat>
  <Paragraphs>34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Gill Sans MT</vt:lpstr>
      <vt:lpstr>Verdana</vt:lpstr>
      <vt:lpstr>Wingdings 2</vt:lpstr>
      <vt:lpstr>Solstice</vt:lpstr>
      <vt:lpstr>A1 Chemistry</vt:lpstr>
      <vt:lpstr>Learning intentions</vt:lpstr>
      <vt:lpstr>Success criteria</vt:lpstr>
      <vt:lpstr>Benzene</vt:lpstr>
      <vt:lpstr>Uses of benzene</vt:lpstr>
      <vt:lpstr>Aromatic compounds</vt:lpstr>
      <vt:lpstr>PowerPoint Presentation</vt:lpstr>
      <vt:lpstr>Combustion</vt:lpstr>
      <vt:lpstr>Substitution</vt:lpstr>
      <vt:lpstr>Success criteria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JOHNSON Kristy</dc:creator>
  <cp:lastModifiedBy>JOHNSON Kristy [Narrogin Senior High School]</cp:lastModifiedBy>
  <cp:revision>6</cp:revision>
  <dcterms:created xsi:type="dcterms:W3CDTF">2015-05-05T03:15:53Z</dcterms:created>
  <dcterms:modified xsi:type="dcterms:W3CDTF">2023-04-04T02:26:41Z</dcterms:modified>
</cp:coreProperties>
</file>
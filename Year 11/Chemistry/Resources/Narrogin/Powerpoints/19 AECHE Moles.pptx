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69" r:id="rId4"/>
    <p:sldId id="259" r:id="rId5"/>
    <p:sldId id="270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67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048754AE-F590-46C7-AE36-1290FA3AB142}" type="datetimeFigureOut">
              <a:rPr lang="en-AU" smtClean="0"/>
              <a:t>7/05/2023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78CDE7CD-63A6-4E36-80BF-BD96431CD0E0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Moles, Avogadro’s number and molar mass</a:t>
            </a:r>
          </a:p>
        </p:txBody>
      </p:sp>
    </p:spTree>
    <p:extLst>
      <p:ext uri="{BB962C8B-B14F-4D97-AF65-F5344CB8AC3E}">
        <p14:creationId xmlns:p14="http://schemas.microsoft.com/office/powerpoint/2010/main" val="45829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4341-FB20-7C0C-2AF0-C8DE5254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17A7-A0DD-0CDB-9F8E-263170DCE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2038388"/>
            <a:ext cx="9036496" cy="3951337"/>
          </a:xfrm>
        </p:spPr>
        <p:txBody>
          <a:bodyPr/>
          <a:lstStyle/>
          <a:p>
            <a:r>
              <a:rPr lang="en-AU" dirty="0"/>
              <a:t>Write a molecular, full ionic and net ionic equation for:</a:t>
            </a:r>
          </a:p>
          <a:p>
            <a:pPr marL="0" indent="0">
              <a:buNone/>
            </a:pPr>
            <a:r>
              <a:rPr lang="en-AU" sz="2200" dirty="0"/>
              <a:t>nitric acid</a:t>
            </a:r>
            <a:r>
              <a:rPr lang="en-AU" sz="2200" baseline="-25000" dirty="0"/>
              <a:t>(</a:t>
            </a:r>
            <a:r>
              <a:rPr lang="en-AU" sz="2200" baseline="-25000" dirty="0" err="1"/>
              <a:t>aq</a:t>
            </a:r>
            <a:r>
              <a:rPr lang="en-AU" sz="2200" baseline="-25000" dirty="0"/>
              <a:t>)</a:t>
            </a:r>
            <a:r>
              <a:rPr lang="en-AU" sz="2200" dirty="0"/>
              <a:t>+ copper</a:t>
            </a:r>
            <a:r>
              <a:rPr lang="en-AU" sz="2200" baseline="-25000" dirty="0"/>
              <a:t>(s)</a:t>
            </a:r>
            <a:r>
              <a:rPr lang="en-AU" sz="2200" dirty="0">
                <a:sym typeface="Wingdings" panose="05000000000000000000" pitchFamily="2" charset="2"/>
              </a:rPr>
              <a:t> nitrogen dioxide</a:t>
            </a:r>
            <a:r>
              <a:rPr lang="en-AU" sz="2200" baseline="-25000" dirty="0">
                <a:sym typeface="Wingdings" panose="05000000000000000000" pitchFamily="2" charset="2"/>
              </a:rPr>
              <a:t>(g)</a:t>
            </a:r>
            <a:r>
              <a:rPr lang="en-AU" sz="2200" dirty="0">
                <a:sym typeface="Wingdings" panose="05000000000000000000" pitchFamily="2" charset="2"/>
              </a:rPr>
              <a:t>+ copper </a:t>
            </a:r>
            <a:r>
              <a:rPr lang="en-AU" sz="1600" dirty="0">
                <a:sym typeface="Wingdings" panose="05000000000000000000" pitchFamily="2" charset="2"/>
              </a:rPr>
              <a:t>II </a:t>
            </a:r>
            <a:r>
              <a:rPr lang="en-AU" sz="2200" dirty="0">
                <a:sym typeface="Wingdings" panose="05000000000000000000" pitchFamily="2" charset="2"/>
              </a:rPr>
              <a:t>nitrate</a:t>
            </a:r>
            <a:r>
              <a:rPr lang="en-AU" sz="2200" baseline="-25000" dirty="0">
                <a:sym typeface="Wingdings" panose="05000000000000000000" pitchFamily="2" charset="2"/>
              </a:rPr>
              <a:t>(</a:t>
            </a:r>
            <a:r>
              <a:rPr lang="en-AU" sz="2200" baseline="-25000" dirty="0" err="1">
                <a:sym typeface="Wingdings" panose="05000000000000000000" pitchFamily="2" charset="2"/>
              </a:rPr>
              <a:t>aq</a:t>
            </a:r>
            <a:r>
              <a:rPr lang="en-AU" sz="2200" baseline="-25000" dirty="0">
                <a:sym typeface="Wingdings" panose="05000000000000000000" pitchFamily="2" charset="2"/>
              </a:rPr>
              <a:t>)</a:t>
            </a:r>
            <a:r>
              <a:rPr lang="en-AU" sz="2200" dirty="0">
                <a:sym typeface="Wingdings" panose="05000000000000000000" pitchFamily="2" charset="2"/>
              </a:rPr>
              <a:t>+ water</a:t>
            </a:r>
            <a:r>
              <a:rPr lang="en-AU" sz="1800" baseline="-25000" dirty="0">
                <a:sym typeface="Wingdings" panose="05000000000000000000" pitchFamily="2" charset="2"/>
              </a:rPr>
              <a:t>(l)</a:t>
            </a:r>
            <a:endParaRPr lang="en-AU" sz="2200" baseline="-25000" dirty="0"/>
          </a:p>
        </p:txBody>
      </p:sp>
    </p:spTree>
    <p:extLst>
      <p:ext uri="{BB962C8B-B14F-4D97-AF65-F5344CB8AC3E}">
        <p14:creationId xmlns:p14="http://schemas.microsoft.com/office/powerpoint/2010/main" val="79915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many significant figures?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000.0093732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53.000463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4631.00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46370000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487201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000.000420</a:t>
            </a:r>
          </a:p>
          <a:p>
            <a:pPr marL="0" indent="0">
              <a:buNone/>
            </a:pPr>
            <a:r>
              <a:rPr lang="en-AU" b="1" dirty="0"/>
              <a:t>Now, write each as scientific notation, 3 sig figs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53232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mole is a precisely defined quantity of matter equal to Avogadro’s number of particles </a:t>
            </a:r>
          </a:p>
          <a:p>
            <a:r>
              <a:rPr lang="en-AU" dirty="0"/>
              <a:t>the mole concept relates mass, moles and molar mass and, with the Law of Conservation of Mass; can be used to calculate the masses of reactants and products in a chemical reaction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9706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DEBB-25D2-70CA-268F-5EC3ECCC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6869-666B-1945-EB33-ED0B6992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Present all calculations to 3sf, in scientific notation as needed</a:t>
            </a:r>
          </a:p>
          <a:p>
            <a:r>
              <a:rPr lang="en-AU" dirty="0"/>
              <a:t>Convert between number of particles, moles and mass for compounds or elements within compounds</a:t>
            </a:r>
          </a:p>
          <a:p>
            <a:r>
              <a:rPr lang="en-AU" dirty="0"/>
              <a:t>Explain the Law of Conservation of Mass</a:t>
            </a:r>
          </a:p>
        </p:txBody>
      </p:sp>
    </p:spTree>
    <p:extLst>
      <p:ext uri="{BB962C8B-B14F-4D97-AF65-F5344CB8AC3E}">
        <p14:creationId xmlns:p14="http://schemas.microsoft.com/office/powerpoint/2010/main" val="3330950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mole is the number of atoms which weigh the relative atomic mass of an element</a:t>
            </a:r>
          </a:p>
          <a:p>
            <a:r>
              <a:rPr lang="en-AU" dirty="0" err="1"/>
              <a:t>ie</a:t>
            </a:r>
            <a:r>
              <a:rPr lang="en-AU" dirty="0"/>
              <a:t> 12 grams of carbon contains one mole of carbon atoms</a:t>
            </a:r>
          </a:p>
          <a:p>
            <a:r>
              <a:rPr lang="en-AU" dirty="0"/>
              <a:t>OR the number of molecules which weigh the molecular weight</a:t>
            </a:r>
          </a:p>
          <a:p>
            <a:r>
              <a:rPr lang="en-AU" dirty="0" err="1"/>
              <a:t>ie</a:t>
            </a:r>
            <a:r>
              <a:rPr lang="en-AU" dirty="0"/>
              <a:t> 44 grams of carbon dioxide contains one mole of carbon dioxide molecules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92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Avogadro’s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Avogadro’s number is the number of atoms in a mole of atoms (or of any other object for that matter)</a:t>
            </a:r>
          </a:p>
          <a:p>
            <a:r>
              <a:rPr lang="en-AU" dirty="0"/>
              <a:t>Avogadro’s number equals 6.022 x 10</a:t>
            </a:r>
            <a:r>
              <a:rPr lang="en-AU" baseline="30000" dirty="0"/>
              <a:t>23</a:t>
            </a:r>
            <a:endParaRPr lang="en-AU" dirty="0"/>
          </a:p>
          <a:p>
            <a:r>
              <a:rPr lang="en-AU" dirty="0"/>
              <a:t>Technically, he didn’t figure out this number, but the idea that the number could be determined was all his!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5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76672"/>
            <a:ext cx="3600400" cy="4806719"/>
          </a:xfrm>
        </p:spPr>
      </p:pic>
    </p:spTree>
    <p:extLst>
      <p:ext uri="{BB962C8B-B14F-4D97-AF65-F5344CB8AC3E}">
        <p14:creationId xmlns:p14="http://schemas.microsoft.com/office/powerpoint/2010/main" val="98002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Avogadro’s number relates molar mass on an atomic scale to physical mass on a human scale – it puts the </a:t>
            </a:r>
            <a:r>
              <a:rPr lang="en-AU" i="1" dirty="0"/>
              <a:t>relative</a:t>
            </a:r>
            <a:r>
              <a:rPr lang="en-AU" dirty="0"/>
              <a:t> in relative atomic mass</a:t>
            </a:r>
          </a:p>
          <a:p>
            <a:r>
              <a:rPr lang="en-AU" dirty="0"/>
              <a:t>The mole is the SI unit for quantity of ‘chemical entities’.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860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Converting from particles to moles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 = number of particles</a:t>
            </a:r>
          </a:p>
          <a:p>
            <a:pPr marL="329184" lvl="1" indent="0">
              <a:buNone/>
            </a:pPr>
            <a:r>
              <a:rPr lang="en-AU" dirty="0"/>
              <a:t>		               N</a:t>
            </a:r>
            <a:r>
              <a:rPr lang="en-AU" baseline="-25000" dirty="0"/>
              <a:t>A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252425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6.022 x 10</a:t>
            </a:r>
            <a:r>
              <a:rPr lang="en-AU" baseline="30000" dirty="0"/>
              <a:t>23</a:t>
            </a:r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619672" y="2420888"/>
            <a:ext cx="26642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02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Moles and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Molar mass (</a:t>
            </a:r>
            <a:r>
              <a:rPr lang="en-AU" dirty="0" err="1"/>
              <a:t>ie</a:t>
            </a:r>
            <a:r>
              <a:rPr lang="en-AU" dirty="0"/>
              <a:t> the mass of one mole) is the same as</a:t>
            </a:r>
          </a:p>
          <a:p>
            <a:r>
              <a:rPr lang="en-AU" dirty="0"/>
              <a:t>the atomic mass for elements</a:t>
            </a:r>
          </a:p>
          <a:p>
            <a:r>
              <a:rPr lang="en-AU" dirty="0"/>
              <a:t>the molecular weight for molecules</a:t>
            </a:r>
          </a:p>
          <a:p>
            <a:r>
              <a:rPr lang="en-AU" dirty="0"/>
              <a:t>the formula weight for ionic compounds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      n = m                      where 	n is number of moles</a:t>
            </a:r>
          </a:p>
          <a:p>
            <a:pPr marL="0" indent="0">
              <a:buNone/>
            </a:pPr>
            <a:r>
              <a:rPr lang="en-AU" dirty="0"/>
              <a:t>              M                                    </a:t>
            </a:r>
            <a:r>
              <a:rPr lang="en-AU" dirty="0" err="1"/>
              <a:t>m</a:t>
            </a:r>
            <a:r>
              <a:rPr lang="en-AU" dirty="0"/>
              <a:t> is mass in g</a:t>
            </a:r>
          </a:p>
          <a:p>
            <a:pPr marL="0" indent="0">
              <a:buNone/>
            </a:pPr>
            <a:r>
              <a:rPr lang="en-AU" dirty="0"/>
              <a:t>                                                      M is molar mass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763688" y="4653136"/>
            <a:ext cx="43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0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Moles in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/>
              <a:t>2H</a:t>
            </a:r>
            <a:r>
              <a:rPr lang="en-AU" baseline="-25000" dirty="0"/>
              <a:t>2 </a:t>
            </a:r>
            <a:r>
              <a:rPr lang="en-AU" dirty="0"/>
              <a:t> +  O</a:t>
            </a:r>
            <a:r>
              <a:rPr lang="en-AU" baseline="-25000" dirty="0"/>
              <a:t>2</a:t>
            </a:r>
            <a:r>
              <a:rPr lang="en-AU" dirty="0"/>
              <a:t>  </a:t>
            </a:r>
            <a:r>
              <a:rPr lang="en-AU" dirty="0">
                <a:sym typeface="Wingdings" pitchFamily="2" charset="2"/>
              </a:rPr>
              <a:t>  2H</a:t>
            </a:r>
            <a:r>
              <a:rPr lang="en-AU" baseline="-25000" dirty="0">
                <a:sym typeface="Wingdings" pitchFamily="2" charset="2"/>
              </a:rPr>
              <a:t>2</a:t>
            </a:r>
            <a:r>
              <a:rPr lang="en-AU" dirty="0">
                <a:sym typeface="Wingdings" pitchFamily="2" charset="2"/>
              </a:rPr>
              <a:t>O</a:t>
            </a:r>
          </a:p>
          <a:p>
            <a:pPr marL="0" indent="0">
              <a:buNone/>
            </a:pPr>
            <a:endParaRPr lang="en-AU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itchFamily="2" charset="2"/>
              </a:rPr>
              <a:t>2 molecules of hydrogen react with 1 molecule of oxygen to produce 2 molecules of water</a:t>
            </a:r>
          </a:p>
          <a:p>
            <a:pPr marL="0" indent="0">
              <a:buNone/>
            </a:pPr>
            <a:r>
              <a:rPr lang="en-AU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radley Hand ITC" pitchFamily="66" charset="0"/>
                <a:sym typeface="Wingdings" pitchFamily="2" charset="2"/>
              </a:rPr>
              <a:t>2 moles of hydrogen react with 1 mole of oxygen to produce 2 moles of water</a:t>
            </a:r>
          </a:p>
          <a:p>
            <a:pPr marL="0" indent="0">
              <a:buNone/>
            </a:pPr>
            <a:r>
              <a:rPr lang="en-AU" sz="3600" b="1" dirty="0">
                <a:solidFill>
                  <a:schemeClr val="accent4">
                    <a:lumMod val="75000"/>
                  </a:schemeClr>
                </a:solidFill>
                <a:latin typeface="Batang" pitchFamily="18" charset="-127"/>
                <a:ea typeface="Batang" pitchFamily="18" charset="-127"/>
                <a:sym typeface="Wingdings" pitchFamily="2" charset="2"/>
              </a:rPr>
              <a:t>4 g of hydrogen react with 32 g of oxygen to produce 36 g of water</a:t>
            </a:r>
            <a:endParaRPr lang="en-AU" sz="3600" b="1" dirty="0">
              <a:solidFill>
                <a:schemeClr val="accent4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821872" y="3047921"/>
            <a:ext cx="595745" cy="111099"/>
          </a:xfrm>
          <a:custGeom>
            <a:avLst/>
            <a:gdLst>
              <a:gd name="connsiteX0" fmla="*/ 0 w 595745"/>
              <a:gd name="connsiteY0" fmla="*/ 111099 h 111099"/>
              <a:gd name="connsiteX1" fmla="*/ 152400 w 595745"/>
              <a:gd name="connsiteY1" fmla="*/ 55680 h 111099"/>
              <a:gd name="connsiteX2" fmla="*/ 235527 w 595745"/>
              <a:gd name="connsiteY2" fmla="*/ 41826 h 111099"/>
              <a:gd name="connsiteX3" fmla="*/ 290945 w 595745"/>
              <a:gd name="connsiteY3" fmla="*/ 27971 h 111099"/>
              <a:gd name="connsiteX4" fmla="*/ 332509 w 595745"/>
              <a:gd name="connsiteY4" fmla="*/ 14117 h 111099"/>
              <a:gd name="connsiteX5" fmla="*/ 595745 w 595745"/>
              <a:gd name="connsiteY5" fmla="*/ 262 h 111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745" h="111099">
                <a:moveTo>
                  <a:pt x="0" y="111099"/>
                </a:moveTo>
                <a:cubicBezTo>
                  <a:pt x="31479" y="98507"/>
                  <a:pt x="121916" y="60761"/>
                  <a:pt x="152400" y="55680"/>
                </a:cubicBezTo>
                <a:cubicBezTo>
                  <a:pt x="180109" y="51062"/>
                  <a:pt x="207981" y="47335"/>
                  <a:pt x="235527" y="41826"/>
                </a:cubicBezTo>
                <a:cubicBezTo>
                  <a:pt x="254198" y="38092"/>
                  <a:pt x="272636" y="33202"/>
                  <a:pt x="290945" y="27971"/>
                </a:cubicBezTo>
                <a:cubicBezTo>
                  <a:pt x="304987" y="23959"/>
                  <a:pt x="318052" y="16182"/>
                  <a:pt x="332509" y="14117"/>
                </a:cubicBezTo>
                <a:cubicBezTo>
                  <a:pt x="452909" y="-3083"/>
                  <a:pt x="483725" y="262"/>
                  <a:pt x="595745" y="262"/>
                </a:cubicBezTo>
              </a:path>
            </a:pathLst>
          </a:cu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020920"/>
            <a:ext cx="615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353377"/>
            <a:ext cx="615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reeform 5"/>
          <p:cNvSpPr/>
          <p:nvPr/>
        </p:nvSpPr>
        <p:spPr>
          <a:xfrm>
            <a:off x="1011382" y="3851564"/>
            <a:ext cx="6058648" cy="831272"/>
          </a:xfrm>
          <a:custGeom>
            <a:avLst/>
            <a:gdLst>
              <a:gd name="connsiteX0" fmla="*/ 0 w 3714242"/>
              <a:gd name="connsiteY0" fmla="*/ 831272 h 831272"/>
              <a:gd name="connsiteX1" fmla="*/ 249382 w 3714242"/>
              <a:gd name="connsiteY1" fmla="*/ 692727 h 831272"/>
              <a:gd name="connsiteX2" fmla="*/ 623454 w 3714242"/>
              <a:gd name="connsiteY2" fmla="*/ 471054 h 831272"/>
              <a:gd name="connsiteX3" fmla="*/ 872836 w 3714242"/>
              <a:gd name="connsiteY3" fmla="*/ 346363 h 831272"/>
              <a:gd name="connsiteX4" fmla="*/ 983673 w 3714242"/>
              <a:gd name="connsiteY4" fmla="*/ 290945 h 831272"/>
              <a:gd name="connsiteX5" fmla="*/ 1302327 w 3714242"/>
              <a:gd name="connsiteY5" fmla="*/ 124691 h 831272"/>
              <a:gd name="connsiteX6" fmla="*/ 1357745 w 3714242"/>
              <a:gd name="connsiteY6" fmla="*/ 96981 h 831272"/>
              <a:gd name="connsiteX7" fmla="*/ 1482436 w 3714242"/>
              <a:gd name="connsiteY7" fmla="*/ 55418 h 831272"/>
              <a:gd name="connsiteX8" fmla="*/ 1634836 w 3714242"/>
              <a:gd name="connsiteY8" fmla="*/ 96981 h 831272"/>
              <a:gd name="connsiteX9" fmla="*/ 1662545 w 3714242"/>
              <a:gd name="connsiteY9" fmla="*/ 138545 h 831272"/>
              <a:gd name="connsiteX10" fmla="*/ 1704109 w 3714242"/>
              <a:gd name="connsiteY10" fmla="*/ 180109 h 831272"/>
              <a:gd name="connsiteX11" fmla="*/ 1759527 w 3714242"/>
              <a:gd name="connsiteY11" fmla="*/ 263236 h 831272"/>
              <a:gd name="connsiteX12" fmla="*/ 1801091 w 3714242"/>
              <a:gd name="connsiteY12" fmla="*/ 304800 h 831272"/>
              <a:gd name="connsiteX13" fmla="*/ 1828800 w 3714242"/>
              <a:gd name="connsiteY13" fmla="*/ 346363 h 831272"/>
              <a:gd name="connsiteX14" fmla="*/ 1884218 w 3714242"/>
              <a:gd name="connsiteY14" fmla="*/ 374072 h 831272"/>
              <a:gd name="connsiteX15" fmla="*/ 2022763 w 3714242"/>
              <a:gd name="connsiteY15" fmla="*/ 471054 h 831272"/>
              <a:gd name="connsiteX16" fmla="*/ 2161309 w 3714242"/>
              <a:gd name="connsiteY16" fmla="*/ 568036 h 831272"/>
              <a:gd name="connsiteX17" fmla="*/ 2202873 w 3714242"/>
              <a:gd name="connsiteY17" fmla="*/ 595745 h 831272"/>
              <a:gd name="connsiteX18" fmla="*/ 2244436 w 3714242"/>
              <a:gd name="connsiteY18" fmla="*/ 581891 h 831272"/>
              <a:gd name="connsiteX19" fmla="*/ 2299854 w 3714242"/>
              <a:gd name="connsiteY19" fmla="*/ 512618 h 831272"/>
              <a:gd name="connsiteX20" fmla="*/ 2410691 w 3714242"/>
              <a:gd name="connsiteY20" fmla="*/ 401781 h 831272"/>
              <a:gd name="connsiteX21" fmla="*/ 2479963 w 3714242"/>
              <a:gd name="connsiteY21" fmla="*/ 332509 h 831272"/>
              <a:gd name="connsiteX22" fmla="*/ 2563091 w 3714242"/>
              <a:gd name="connsiteY22" fmla="*/ 235527 h 831272"/>
              <a:gd name="connsiteX23" fmla="*/ 2729345 w 3714242"/>
              <a:gd name="connsiteY23" fmla="*/ 110836 h 831272"/>
              <a:gd name="connsiteX24" fmla="*/ 2784763 w 3714242"/>
              <a:gd name="connsiteY24" fmla="*/ 69272 h 831272"/>
              <a:gd name="connsiteX25" fmla="*/ 2826327 w 3714242"/>
              <a:gd name="connsiteY25" fmla="*/ 55418 h 831272"/>
              <a:gd name="connsiteX26" fmla="*/ 2937163 w 3714242"/>
              <a:gd name="connsiteY26" fmla="*/ 0 h 831272"/>
              <a:gd name="connsiteX27" fmla="*/ 3048000 w 3714242"/>
              <a:gd name="connsiteY27" fmla="*/ 27709 h 831272"/>
              <a:gd name="connsiteX28" fmla="*/ 3075709 w 3714242"/>
              <a:gd name="connsiteY28" fmla="*/ 138545 h 831272"/>
              <a:gd name="connsiteX29" fmla="*/ 3089563 w 3714242"/>
              <a:gd name="connsiteY29" fmla="*/ 180109 h 831272"/>
              <a:gd name="connsiteX30" fmla="*/ 3117273 w 3714242"/>
              <a:gd name="connsiteY30" fmla="*/ 235527 h 831272"/>
              <a:gd name="connsiteX31" fmla="*/ 3172691 w 3714242"/>
              <a:gd name="connsiteY31" fmla="*/ 346363 h 831272"/>
              <a:gd name="connsiteX32" fmla="*/ 3186545 w 3714242"/>
              <a:gd name="connsiteY32" fmla="*/ 387927 h 831272"/>
              <a:gd name="connsiteX33" fmla="*/ 3214254 w 3714242"/>
              <a:gd name="connsiteY33" fmla="*/ 429491 h 831272"/>
              <a:gd name="connsiteX34" fmla="*/ 3228109 w 3714242"/>
              <a:gd name="connsiteY34" fmla="*/ 471054 h 831272"/>
              <a:gd name="connsiteX35" fmla="*/ 3269673 w 3714242"/>
              <a:gd name="connsiteY35" fmla="*/ 498763 h 831272"/>
              <a:gd name="connsiteX36" fmla="*/ 3352800 w 3714242"/>
              <a:gd name="connsiteY36" fmla="*/ 457200 h 831272"/>
              <a:gd name="connsiteX37" fmla="*/ 3380509 w 3714242"/>
              <a:gd name="connsiteY37" fmla="*/ 401781 h 831272"/>
              <a:gd name="connsiteX38" fmla="*/ 3505200 w 3714242"/>
              <a:gd name="connsiteY38" fmla="*/ 304800 h 831272"/>
              <a:gd name="connsiteX39" fmla="*/ 3532909 w 3714242"/>
              <a:gd name="connsiteY39" fmla="*/ 249381 h 831272"/>
              <a:gd name="connsiteX40" fmla="*/ 3629891 w 3714242"/>
              <a:gd name="connsiteY40" fmla="*/ 166254 h 831272"/>
              <a:gd name="connsiteX41" fmla="*/ 3671454 w 3714242"/>
              <a:gd name="connsiteY41" fmla="*/ 110836 h 831272"/>
              <a:gd name="connsiteX42" fmla="*/ 3713018 w 3714242"/>
              <a:gd name="connsiteY42" fmla="*/ 83127 h 831272"/>
              <a:gd name="connsiteX43" fmla="*/ 3685309 w 3714242"/>
              <a:gd name="connsiteY43" fmla="*/ 166254 h 831272"/>
              <a:gd name="connsiteX44" fmla="*/ 3671454 w 3714242"/>
              <a:gd name="connsiteY44" fmla="*/ 207818 h 831272"/>
              <a:gd name="connsiteX45" fmla="*/ 3685309 w 3714242"/>
              <a:gd name="connsiteY45" fmla="*/ 401781 h 831272"/>
              <a:gd name="connsiteX46" fmla="*/ 3671454 w 3714242"/>
              <a:gd name="connsiteY46" fmla="*/ 498763 h 831272"/>
              <a:gd name="connsiteX47" fmla="*/ 3671454 w 3714242"/>
              <a:gd name="connsiteY47" fmla="*/ 484909 h 83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714242" h="831272">
                <a:moveTo>
                  <a:pt x="0" y="831272"/>
                </a:moveTo>
                <a:cubicBezTo>
                  <a:pt x="83127" y="785090"/>
                  <a:pt x="168240" y="742314"/>
                  <a:pt x="249382" y="692727"/>
                </a:cubicBezTo>
                <a:cubicBezTo>
                  <a:pt x="324346" y="646915"/>
                  <a:pt x="518530" y="523516"/>
                  <a:pt x="623454" y="471054"/>
                </a:cubicBezTo>
                <a:lnTo>
                  <a:pt x="872836" y="346363"/>
                </a:lnTo>
                <a:cubicBezTo>
                  <a:pt x="909782" y="327890"/>
                  <a:pt x="948253" y="312197"/>
                  <a:pt x="983673" y="290945"/>
                </a:cubicBezTo>
                <a:cubicBezTo>
                  <a:pt x="1312113" y="93880"/>
                  <a:pt x="1073460" y="220053"/>
                  <a:pt x="1302327" y="124691"/>
                </a:cubicBezTo>
                <a:cubicBezTo>
                  <a:pt x="1321391" y="116747"/>
                  <a:pt x="1338468" y="104395"/>
                  <a:pt x="1357745" y="96981"/>
                </a:cubicBezTo>
                <a:cubicBezTo>
                  <a:pt x="1398637" y="81253"/>
                  <a:pt x="1482436" y="55418"/>
                  <a:pt x="1482436" y="55418"/>
                </a:cubicBezTo>
                <a:cubicBezTo>
                  <a:pt x="1535267" y="62965"/>
                  <a:pt x="1591064" y="60504"/>
                  <a:pt x="1634836" y="96981"/>
                </a:cubicBezTo>
                <a:cubicBezTo>
                  <a:pt x="1647628" y="107641"/>
                  <a:pt x="1651885" y="125753"/>
                  <a:pt x="1662545" y="138545"/>
                </a:cubicBezTo>
                <a:cubicBezTo>
                  <a:pt x="1675088" y="153597"/>
                  <a:pt x="1692080" y="164643"/>
                  <a:pt x="1704109" y="180109"/>
                </a:cubicBezTo>
                <a:cubicBezTo>
                  <a:pt x="1724555" y="206396"/>
                  <a:pt x="1735979" y="239688"/>
                  <a:pt x="1759527" y="263236"/>
                </a:cubicBezTo>
                <a:cubicBezTo>
                  <a:pt x="1773382" y="277091"/>
                  <a:pt x="1788548" y="289748"/>
                  <a:pt x="1801091" y="304800"/>
                </a:cubicBezTo>
                <a:cubicBezTo>
                  <a:pt x="1811751" y="317592"/>
                  <a:pt x="1816008" y="335703"/>
                  <a:pt x="1828800" y="346363"/>
                </a:cubicBezTo>
                <a:cubicBezTo>
                  <a:pt x="1844666" y="359585"/>
                  <a:pt x="1866164" y="364042"/>
                  <a:pt x="1884218" y="374072"/>
                </a:cubicBezTo>
                <a:cubicBezTo>
                  <a:pt x="1941578" y="405939"/>
                  <a:pt x="1973389" y="426169"/>
                  <a:pt x="2022763" y="471054"/>
                </a:cubicBezTo>
                <a:cubicBezTo>
                  <a:pt x="2132677" y="570976"/>
                  <a:pt x="2061401" y="543058"/>
                  <a:pt x="2161309" y="568036"/>
                </a:cubicBezTo>
                <a:cubicBezTo>
                  <a:pt x="2175164" y="577272"/>
                  <a:pt x="2186448" y="593007"/>
                  <a:pt x="2202873" y="595745"/>
                </a:cubicBezTo>
                <a:cubicBezTo>
                  <a:pt x="2217278" y="598146"/>
                  <a:pt x="2231913" y="589405"/>
                  <a:pt x="2244436" y="581891"/>
                </a:cubicBezTo>
                <a:cubicBezTo>
                  <a:pt x="2274267" y="563992"/>
                  <a:pt x="2277203" y="537534"/>
                  <a:pt x="2299854" y="512618"/>
                </a:cubicBezTo>
                <a:cubicBezTo>
                  <a:pt x="2335001" y="473957"/>
                  <a:pt x="2373745" y="438727"/>
                  <a:pt x="2410691" y="401781"/>
                </a:cubicBezTo>
                <a:cubicBezTo>
                  <a:pt x="2433782" y="378690"/>
                  <a:pt x="2458711" y="357303"/>
                  <a:pt x="2479963" y="332509"/>
                </a:cubicBezTo>
                <a:cubicBezTo>
                  <a:pt x="2507672" y="300182"/>
                  <a:pt x="2531964" y="264579"/>
                  <a:pt x="2563091" y="235527"/>
                </a:cubicBezTo>
                <a:cubicBezTo>
                  <a:pt x="2661736" y="143459"/>
                  <a:pt x="2656363" y="162967"/>
                  <a:pt x="2729345" y="110836"/>
                </a:cubicBezTo>
                <a:cubicBezTo>
                  <a:pt x="2748135" y="97415"/>
                  <a:pt x="2764714" y="80728"/>
                  <a:pt x="2784763" y="69272"/>
                </a:cubicBezTo>
                <a:cubicBezTo>
                  <a:pt x="2797443" y="62026"/>
                  <a:pt x="2813032" y="61461"/>
                  <a:pt x="2826327" y="55418"/>
                </a:cubicBezTo>
                <a:cubicBezTo>
                  <a:pt x="2863931" y="38326"/>
                  <a:pt x="2937163" y="0"/>
                  <a:pt x="2937163" y="0"/>
                </a:cubicBezTo>
                <a:cubicBezTo>
                  <a:pt x="2974109" y="9236"/>
                  <a:pt x="3021071" y="781"/>
                  <a:pt x="3048000" y="27709"/>
                </a:cubicBezTo>
                <a:cubicBezTo>
                  <a:pt x="3074928" y="54637"/>
                  <a:pt x="3063667" y="102417"/>
                  <a:pt x="3075709" y="138545"/>
                </a:cubicBezTo>
                <a:cubicBezTo>
                  <a:pt x="3080327" y="152400"/>
                  <a:pt x="3083810" y="166686"/>
                  <a:pt x="3089563" y="180109"/>
                </a:cubicBezTo>
                <a:cubicBezTo>
                  <a:pt x="3097699" y="199092"/>
                  <a:pt x="3108036" y="217054"/>
                  <a:pt x="3117273" y="235527"/>
                </a:cubicBezTo>
                <a:cubicBezTo>
                  <a:pt x="3144819" y="345715"/>
                  <a:pt x="3109889" y="236460"/>
                  <a:pt x="3172691" y="346363"/>
                </a:cubicBezTo>
                <a:cubicBezTo>
                  <a:pt x="3179937" y="359043"/>
                  <a:pt x="3180014" y="374865"/>
                  <a:pt x="3186545" y="387927"/>
                </a:cubicBezTo>
                <a:cubicBezTo>
                  <a:pt x="3193991" y="402820"/>
                  <a:pt x="3206807" y="414598"/>
                  <a:pt x="3214254" y="429491"/>
                </a:cubicBezTo>
                <a:cubicBezTo>
                  <a:pt x="3220785" y="442553"/>
                  <a:pt x="3218986" y="459650"/>
                  <a:pt x="3228109" y="471054"/>
                </a:cubicBezTo>
                <a:cubicBezTo>
                  <a:pt x="3238511" y="484056"/>
                  <a:pt x="3255818" y="489527"/>
                  <a:pt x="3269673" y="498763"/>
                </a:cubicBezTo>
                <a:cubicBezTo>
                  <a:pt x="3298042" y="489307"/>
                  <a:pt x="3332141" y="481991"/>
                  <a:pt x="3352800" y="457200"/>
                </a:cubicBezTo>
                <a:cubicBezTo>
                  <a:pt x="3366022" y="441334"/>
                  <a:pt x="3365905" y="416385"/>
                  <a:pt x="3380509" y="401781"/>
                </a:cubicBezTo>
                <a:cubicBezTo>
                  <a:pt x="3417742" y="364548"/>
                  <a:pt x="3505200" y="304800"/>
                  <a:pt x="3505200" y="304800"/>
                </a:cubicBezTo>
                <a:cubicBezTo>
                  <a:pt x="3514436" y="286327"/>
                  <a:pt x="3520517" y="265904"/>
                  <a:pt x="3532909" y="249381"/>
                </a:cubicBezTo>
                <a:cubicBezTo>
                  <a:pt x="3566505" y="204586"/>
                  <a:pt x="3588004" y="194178"/>
                  <a:pt x="3629891" y="166254"/>
                </a:cubicBezTo>
                <a:cubicBezTo>
                  <a:pt x="3643745" y="147781"/>
                  <a:pt x="3655126" y="127164"/>
                  <a:pt x="3671454" y="110836"/>
                </a:cubicBezTo>
                <a:cubicBezTo>
                  <a:pt x="3683228" y="99062"/>
                  <a:pt x="3708979" y="66973"/>
                  <a:pt x="3713018" y="83127"/>
                </a:cubicBezTo>
                <a:cubicBezTo>
                  <a:pt x="3720102" y="111463"/>
                  <a:pt x="3694545" y="138545"/>
                  <a:pt x="3685309" y="166254"/>
                </a:cubicBezTo>
                <a:lnTo>
                  <a:pt x="3671454" y="207818"/>
                </a:lnTo>
                <a:cubicBezTo>
                  <a:pt x="3676072" y="272472"/>
                  <a:pt x="3685309" y="336962"/>
                  <a:pt x="3685309" y="401781"/>
                </a:cubicBezTo>
                <a:cubicBezTo>
                  <a:pt x="3685309" y="434437"/>
                  <a:pt x="3676823" y="466552"/>
                  <a:pt x="3671454" y="498763"/>
                </a:cubicBezTo>
                <a:cubicBezTo>
                  <a:pt x="3670695" y="503318"/>
                  <a:pt x="3671454" y="489527"/>
                  <a:pt x="3671454" y="484909"/>
                </a:cubicBezTo>
              </a:path>
            </a:pathLst>
          </a:cu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08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400" dirty="0"/>
              <a:t>The Law of Conservation of Mass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339808"/>
            <a:ext cx="3451448" cy="2588586"/>
          </a:xfrm>
        </p:spPr>
      </p:pic>
    </p:spTree>
    <p:extLst>
      <p:ext uri="{BB962C8B-B14F-4D97-AF65-F5344CB8AC3E}">
        <p14:creationId xmlns:p14="http://schemas.microsoft.com/office/powerpoint/2010/main" val="417190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DEBB-25D2-70CA-268F-5EC3ECCC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6869-666B-1945-EB33-ED0B6992F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Present all calculations to 3sf, in scientific notation as needed</a:t>
            </a:r>
          </a:p>
          <a:p>
            <a:r>
              <a:rPr lang="en-AU" dirty="0"/>
              <a:t>Convert between number of particles, moles and mass for compounds or elements within compounds</a:t>
            </a:r>
          </a:p>
          <a:p>
            <a:r>
              <a:rPr lang="en-AU" dirty="0"/>
              <a:t>Explain the Law of Conservation of Mass</a:t>
            </a:r>
          </a:p>
        </p:txBody>
      </p:sp>
    </p:spTree>
    <p:extLst>
      <p:ext uri="{BB962C8B-B14F-4D97-AF65-F5344CB8AC3E}">
        <p14:creationId xmlns:p14="http://schemas.microsoft.com/office/powerpoint/2010/main" val="728481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TM01790492[[fn=Sketchbook]]</Template>
  <TotalTime>510</TotalTime>
  <Words>468</Words>
  <Application>Microsoft Office PowerPoint</Application>
  <PresentationFormat>On-screen Show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Batang</vt:lpstr>
      <vt:lpstr>Bradley Hand ITC</vt:lpstr>
      <vt:lpstr>Cambria</vt:lpstr>
      <vt:lpstr>Rage Italic</vt:lpstr>
      <vt:lpstr>Sketchbook</vt:lpstr>
      <vt:lpstr>A1 Chemistry</vt:lpstr>
      <vt:lpstr>Review</vt:lpstr>
      <vt:lpstr>How many significant figures?</vt:lpstr>
      <vt:lpstr>Learning Intentions</vt:lpstr>
      <vt:lpstr>Success criteria</vt:lpstr>
      <vt:lpstr>The Mole</vt:lpstr>
      <vt:lpstr>Avogadro’s Number</vt:lpstr>
      <vt:lpstr>PowerPoint Presentation</vt:lpstr>
      <vt:lpstr>PowerPoint Presentation</vt:lpstr>
      <vt:lpstr>Converting from particles to moles</vt:lpstr>
      <vt:lpstr>Moles and mass</vt:lpstr>
      <vt:lpstr>Moles in equations</vt:lpstr>
      <vt:lpstr>The Law of Conservation of Mass</vt:lpstr>
      <vt:lpstr>Success criteria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Kristy</cp:lastModifiedBy>
  <cp:revision>13</cp:revision>
  <dcterms:created xsi:type="dcterms:W3CDTF">2015-02-17T04:34:01Z</dcterms:created>
  <dcterms:modified xsi:type="dcterms:W3CDTF">2023-05-07T05:48:35Z</dcterms:modified>
</cp:coreProperties>
</file>
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23"/>
  </p:notesMasterIdLst>
  <p:sldIdLst>
    <p:sldId id="256" r:id="rId2"/>
    <p:sldId id="257" r:id="rId3"/>
    <p:sldId id="284" r:id="rId4"/>
    <p:sldId id="260" r:id="rId5"/>
    <p:sldId id="261" r:id="rId6"/>
    <p:sldId id="283" r:id="rId7"/>
    <p:sldId id="262" r:id="rId8"/>
    <p:sldId id="281" r:id="rId9"/>
    <p:sldId id="263" r:id="rId10"/>
    <p:sldId id="264" r:id="rId11"/>
    <p:sldId id="265" r:id="rId12"/>
    <p:sldId id="266" r:id="rId13"/>
    <p:sldId id="267" r:id="rId14"/>
    <p:sldId id="278" r:id="rId15"/>
    <p:sldId id="269" r:id="rId16"/>
    <p:sldId id="271" r:id="rId17"/>
    <p:sldId id="272" r:id="rId18"/>
    <p:sldId id="273" r:id="rId19"/>
    <p:sldId id="270" r:id="rId20"/>
    <p:sldId id="275" r:id="rId21"/>
    <p:sldId id="285" r:id="rId22"/>
  </p:sldIdLst>
  <p:sldSz cx="9144000" cy="6858000" type="screen4x3"/>
  <p:notesSz cx="6858000" cy="9144000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Bell MT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Bell MT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Bell MT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Bell MT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Bell MT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Bell MT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Bell MT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Bell MT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Bell MT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F167236-69DC-4361-8320-991C86C8A88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5943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ell MT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ell MT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ell MT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ell MT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ell MT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FEECD8-1BF6-43AF-BDD4-0423BD4EDAF6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58D114-984C-4BD3-8848-B656225568D8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A10869-EE04-427F-B8AD-9FF109442EC1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BC878B-63CF-496A-803C-5FAA55A7666E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223FA8-4D6C-47DA-814B-537DAB25A77E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872AA2-93B6-4A42-B692-1E97063E3C49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4F7B2-F615-491B-89B8-3AF69A7A9BB9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BF90D-F306-4BAC-8B13-C85AB7A8D258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8D7D72-FE19-48F1-9357-8A858F49F7DA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B49214-488F-4094-90EE-7CA74494F80E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FE0E5-B728-48E4-9350-119BA8BAF532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6A0694D-E9C5-4AC0-8F48-AB5A6FE69F38}" type="slidenum">
              <a:rPr lang="en-AU" smtClean="0"/>
              <a:pPr>
                <a:defRPr/>
              </a:pPr>
              <a:t>‹#›</a:t>
            </a:fld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AU" sz="100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A1 Chemistry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en-AU" sz="6600" dirty="0"/>
              <a:t>Significant figures and scientific notation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AU" sz="4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significant figures</a:t>
            </a:r>
          </a:p>
          <a:p>
            <a:pPr eaLnBrk="1" hangingPunct="1">
              <a:defRPr/>
            </a:pPr>
            <a:r>
              <a:rPr lang="en-AU" sz="4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scientific notation</a:t>
            </a:r>
          </a:p>
          <a:p>
            <a:pPr eaLnBrk="1" hangingPunct="1">
              <a:defRPr/>
            </a:pPr>
            <a:r>
              <a:rPr lang="en-AU" sz="4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errors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AU" sz="80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Learning Intentions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FAC31D-B4B3-CB4D-90BB-221B86C8F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Present calculations to 3sf and in scientific notation where appropriate</a:t>
            </a:r>
          </a:p>
          <a:p>
            <a:r>
              <a:rPr lang="en-AU" sz="3200" dirty="0"/>
              <a:t>Identify systematic and random errors in experimental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D64CEA-ADCB-CE01-C148-F4BCBC56A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rgbClr val="002060"/>
                </a:solidFill>
              </a:rPr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90949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100000"/>
              </a:spcBef>
              <a:spcAft>
                <a:spcPct val="100000"/>
              </a:spcAft>
              <a:buFontTx/>
              <a:buNone/>
            </a:pPr>
            <a:r>
              <a:rPr lang="en-AU" sz="6000" dirty="0"/>
              <a:t>	</a:t>
            </a:r>
            <a:r>
              <a:rPr lang="en-AU" sz="4400" dirty="0"/>
              <a:t>The accuracy of a measurement depends on the scale of the measuring instrument.</a:t>
            </a:r>
          </a:p>
          <a:p>
            <a:pPr eaLnBrk="1" hangingPunct="1">
              <a:lnSpc>
                <a:spcPct val="150000"/>
              </a:lnSpc>
              <a:spcBef>
                <a:spcPct val="100000"/>
              </a:spcBef>
              <a:spcAft>
                <a:spcPct val="100000"/>
              </a:spcAft>
              <a:buFontTx/>
              <a:buNone/>
            </a:pPr>
            <a:endParaRPr lang="en-AU" sz="4400" dirty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AU" sz="5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Uncertainty of measurement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052513"/>
            <a:ext cx="8229600" cy="4525962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AU" sz="6000" dirty="0"/>
              <a:t>	</a:t>
            </a:r>
            <a:r>
              <a:rPr lang="en-AU" sz="4400" dirty="0"/>
              <a:t>A 1m ruler has mm divisions, so you can estimate your measurement to the nearest 0.1mm, but your estimate could</a:t>
            </a:r>
            <a:r>
              <a:rPr lang="en-AU" sz="6000" dirty="0"/>
              <a:t> </a:t>
            </a:r>
            <a:r>
              <a:rPr lang="en-AU" sz="4800" dirty="0"/>
              <a:t>be out by up to 0.05mm – this is called a </a:t>
            </a:r>
            <a:r>
              <a:rPr lang="en-AU" sz="4800" b="1" dirty="0"/>
              <a:t>random</a:t>
            </a:r>
            <a:r>
              <a:rPr lang="en-AU" sz="4800" dirty="0"/>
              <a:t> 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703E04-344A-C353-CAE9-0E3D7680C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Random errors occur any time you round a measurement, especially with digital measuring equipment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2DEF90-4CB0-E19D-272A-765A1B80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278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z="600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endParaRPr lang="en-US" sz="8000"/>
          </a:p>
        </p:txBody>
      </p: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557338"/>
            <a:ext cx="8208962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149725"/>
            <a:ext cx="8208962" cy="15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0244" name="Picture 4" descr="Vernier scal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12875"/>
            <a:ext cx="7605712" cy="347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  <a:defRPr/>
            </a:pPr>
            <a:r>
              <a:rPr lang="en-AU" sz="5400"/>
              <a:t>	…</a:t>
            </a:r>
            <a:r>
              <a:rPr lang="en-AU" sz="4400"/>
              <a:t>indicates the upper and lower limit of your certainty of measurement.</a:t>
            </a:r>
          </a:p>
          <a:p>
            <a:pPr eaLnBrk="1" hangingPunct="1">
              <a:buFontTx/>
              <a:buNone/>
              <a:defRPr/>
            </a:pPr>
            <a:r>
              <a:rPr lang="en-AU" sz="4400"/>
              <a:t>		eg 22.6 </a:t>
            </a:r>
            <a:r>
              <a:rPr lang="en-AU" sz="4400" u="sng"/>
              <a:t>+</a:t>
            </a:r>
            <a:r>
              <a:rPr lang="en-AU" sz="4400"/>
              <a:t> 0.1 mm </a:t>
            </a:r>
          </a:p>
          <a:p>
            <a:pPr eaLnBrk="1" hangingPunct="1">
              <a:buFontTx/>
              <a:buNone/>
              <a:defRPr/>
            </a:pPr>
            <a:r>
              <a:rPr lang="en-AU" sz="5400"/>
              <a:t>	</a:t>
            </a:r>
            <a:r>
              <a:rPr lang="en-AU" sz="4000"/>
              <a:t>is between 22.5 and 22.7 mm</a:t>
            </a:r>
          </a:p>
          <a:p>
            <a:pPr eaLnBrk="1" hangingPunct="1">
              <a:defRPr/>
            </a:pPr>
            <a:endParaRPr lang="en-AU" sz="4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4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Estimated absolute uncertainty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2420887"/>
            <a:ext cx="8352730" cy="345603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AU" sz="4400" dirty="0"/>
              <a:t>	</a:t>
            </a:r>
            <a:r>
              <a:rPr lang="en-AU" sz="4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When you add or subtract measurements, you add the uncertainties of the measurements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AU" sz="4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AU" sz="4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AU" sz="4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eg</a:t>
            </a:r>
            <a:r>
              <a:rPr lang="en-AU" sz="4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22.6 </a:t>
            </a:r>
            <a:r>
              <a:rPr lang="en-AU" sz="4400" u="sng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  <a:r>
              <a:rPr lang="en-AU" sz="4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1 mm – 14.2 </a:t>
            </a:r>
            <a:r>
              <a:rPr lang="en-AU" sz="4400" u="sng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  <a:r>
              <a:rPr lang="en-AU" sz="4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1 mm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AU" sz="4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	= 8.4 </a:t>
            </a:r>
            <a:r>
              <a:rPr lang="en-AU" sz="4400" u="sng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  <a:r>
              <a:rPr lang="en-AU" sz="4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2 mm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AU" sz="4400" dirty="0"/>
              <a:t>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AU" sz="6000">
                <a:solidFill>
                  <a:srgbClr val="FF0000"/>
                </a:solidFill>
              </a:rPr>
              <a:t>		</a:t>
            </a:r>
            <a:r>
              <a:rPr lang="en-AU" sz="4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22.6</a:t>
            </a: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AU" sz="4400" u="sng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AU" sz="44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 mm – </a:t>
            </a:r>
            <a:r>
              <a:rPr lang="en-AU" sz="4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14.2</a:t>
            </a: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AU" sz="4400" u="sng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AU" sz="44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 mm</a:t>
            </a:r>
          </a:p>
          <a:p>
            <a:pPr eaLnBrk="1" hangingPunct="1">
              <a:buFontTx/>
              <a:buNone/>
              <a:defRPr/>
            </a:pPr>
            <a:endParaRPr lang="en-AU" sz="4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Tx/>
              <a:buNone/>
              <a:defRPr/>
            </a:pP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		= </a:t>
            </a:r>
            <a:r>
              <a:rPr lang="en-AU" sz="4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8.4</a:t>
            </a: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AU" sz="4400" u="sng">
                <a:effectLst>
                  <a:outerShdw blurRad="38100" dist="38100" dir="2700000" algn="tl">
                    <a:srgbClr val="000000"/>
                  </a:outerShdw>
                </a:effectLst>
              </a:rPr>
              <a:t>+</a:t>
            </a: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AU" sz="44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AU" sz="4400">
                <a:effectLst>
                  <a:outerShdw blurRad="38100" dist="38100" dir="2700000" algn="tl">
                    <a:srgbClr val="000000"/>
                  </a:outerShdw>
                </a:effectLst>
              </a:rPr>
              <a:t> mm</a:t>
            </a:r>
          </a:p>
          <a:p>
            <a:pPr eaLnBrk="1" hangingPunct="1">
              <a:buFontTx/>
              <a:buNone/>
              <a:defRPr/>
            </a:pPr>
            <a:endParaRPr lang="en-AU" sz="6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endParaRPr lang="en-US" sz="8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AU" sz="6000"/>
              <a:t>	</a:t>
            </a:r>
            <a:r>
              <a:rPr lang="en-AU" sz="4800"/>
              <a:t>Uncertainty of measurement can also be expressed as a percentage</a:t>
            </a:r>
            <a:r>
              <a:rPr lang="en-AU" sz="600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AU" sz="6000"/>
              <a:t>…</a:t>
            </a:r>
            <a:r>
              <a:rPr lang="en-AU" sz="5400"/>
              <a:t>represent a way to show how confident you are in your measurements.</a:t>
            </a:r>
            <a:r>
              <a:rPr lang="en-AU" sz="6000"/>
              <a:t>  </a:t>
            </a:r>
          </a:p>
          <a:p>
            <a:pPr eaLnBrk="1" hangingPunct="1">
              <a:buFontTx/>
              <a:buNone/>
            </a:pPr>
            <a:endParaRPr lang="en-AU" sz="6000"/>
          </a:p>
          <a:p>
            <a:pPr eaLnBrk="1" hangingPunct="1">
              <a:buFontTx/>
              <a:buNone/>
            </a:pPr>
            <a:endParaRPr lang="en-AU" sz="600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7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Significant Figures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AU" sz="6000" dirty="0"/>
              <a:t>	</a:t>
            </a:r>
            <a:r>
              <a:rPr lang="en-AU" sz="5400" dirty="0"/>
              <a:t>The number of significant figures is how many digits you are certain of, plus the first uncertain digit.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5364163" y="404813"/>
            <a:ext cx="503237" cy="936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3203575" y="476250"/>
            <a:ext cx="2089150" cy="7207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AU" sz="540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AU" sz="5400"/>
              <a:t>certain digits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AU" sz="5400"/>
              <a:t>                     uncertain digit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AU" sz="5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So there are 5 significant figures in this number.</a:t>
            </a:r>
          </a:p>
        </p:txBody>
      </p:sp>
      <p:sp>
        <p:nvSpPr>
          <p:cNvPr id="2765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6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8.3527</a:t>
            </a:r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 flipV="1">
            <a:off x="2700338" y="1268413"/>
            <a:ext cx="1295400" cy="12969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 flipH="1" flipV="1">
            <a:off x="5724525" y="1412875"/>
            <a:ext cx="288925" cy="20875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nimBg="1"/>
      <p:bldP spid="27652" grpId="0" animBg="1"/>
      <p:bldP spid="27652" grpId="1" animBg="1"/>
      <p:bldP spid="27653" grpId="0" animBg="1"/>
      <p:bldP spid="27653" grpId="1" animBg="1"/>
      <p:bldP spid="2765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AU" sz="4800"/>
              <a:t>all non-zero digits</a:t>
            </a:r>
          </a:p>
          <a:p>
            <a:pPr eaLnBrk="1" hangingPunct="1"/>
            <a:r>
              <a:rPr lang="en-AU" sz="4800"/>
              <a:t>zeros between non-zero digits</a:t>
            </a:r>
          </a:p>
          <a:p>
            <a:pPr eaLnBrk="1" hangingPunct="1"/>
            <a:r>
              <a:rPr lang="en-AU" sz="4800"/>
              <a:t>zeros to the right of a decimal point which follow non-zero digits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4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How many significant figures?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AU" sz="4800"/>
              <a:t>zeros to the left (but not between) non-zero digits are not significant</a:t>
            </a:r>
          </a:p>
          <a:p>
            <a:pPr eaLnBrk="1" hangingPunct="1">
              <a:lnSpc>
                <a:spcPct val="90000"/>
              </a:lnSpc>
            </a:pPr>
            <a:r>
              <a:rPr lang="en-AU" sz="4800"/>
              <a:t>zeros to the right of non-zero digits, but not after a decimal point are ambiguous</a:t>
            </a:r>
          </a:p>
          <a:p>
            <a:pPr eaLnBrk="1" hangingPunct="1">
              <a:lnSpc>
                <a:spcPct val="90000"/>
              </a:lnSpc>
            </a:pPr>
            <a:endParaRPr lang="en-AU" sz="4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132856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AU" sz="6000" dirty="0"/>
              <a:t>	</a:t>
            </a:r>
            <a:r>
              <a:rPr lang="en-AU" sz="4800" dirty="0"/>
              <a:t>In calculations, your answer should have the same number of significant figures as the data with the least significant figures.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AU" sz="4800" dirty="0"/>
              <a:t>	Chemists often deal with very small numbers.  To avoid ambiguity over significant figures, use scientific notation.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7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Scientific notation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836613"/>
            <a:ext cx="8229600" cy="452596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AU" sz="6000"/>
              <a:t>	</a:t>
            </a:r>
            <a:r>
              <a:rPr lang="en-AU" sz="5400"/>
              <a:t>150 000 000 000 is written as</a:t>
            </a:r>
          </a:p>
          <a:p>
            <a:pPr eaLnBrk="1" hangingPunct="1">
              <a:buFontTx/>
              <a:buNone/>
            </a:pPr>
            <a:r>
              <a:rPr lang="en-AU" sz="5400"/>
              <a:t>	1.50 x 10 </a:t>
            </a:r>
            <a:r>
              <a:rPr lang="en-AU" sz="5400" baseline="30000"/>
              <a:t>11</a:t>
            </a:r>
          </a:p>
          <a:p>
            <a:pPr eaLnBrk="1" hangingPunct="1">
              <a:buFontTx/>
              <a:buNone/>
            </a:pPr>
            <a:endParaRPr lang="en-AU" sz="5400" baseline="30000"/>
          </a:p>
          <a:p>
            <a:pPr eaLnBrk="1" hangingPunct="1">
              <a:buFontTx/>
              <a:buNone/>
            </a:pPr>
            <a:r>
              <a:rPr lang="en-AU" sz="5400"/>
              <a:t>	0.0000567 is written as</a:t>
            </a:r>
          </a:p>
          <a:p>
            <a:pPr eaLnBrk="1" hangingPunct="1">
              <a:buFontTx/>
              <a:buNone/>
            </a:pPr>
            <a:r>
              <a:rPr lang="en-AU" sz="5400"/>
              <a:t>	5.67 x 10 </a:t>
            </a:r>
            <a:r>
              <a:rPr lang="en-AU" sz="5400" baseline="30000"/>
              <a:t>- 5</a:t>
            </a:r>
            <a:endParaRPr lang="en-AU" sz="5400"/>
          </a:p>
          <a:p>
            <a:pPr eaLnBrk="1" hangingPunct="1">
              <a:buFontTx/>
              <a:buNone/>
            </a:pPr>
            <a:endParaRPr lang="en-AU" sz="5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7C7651-18CF-BAE7-3E46-768A88A7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Random errors are due to rounding when measuring, especially with digital measurements</a:t>
            </a:r>
          </a:p>
          <a:p>
            <a:r>
              <a:rPr lang="en-AU" sz="2800" dirty="0"/>
              <a:t>Systematic errors are due to inaccurate measuring, uncontrolled variables or parallax human errors.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B10C5B-4BE2-8188-8A19-CFA02AD2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2060"/>
                </a:solidFill>
              </a:rPr>
              <a:t>Random and systematic errors</a:t>
            </a:r>
          </a:p>
        </p:txBody>
      </p:sp>
    </p:spTree>
    <p:extLst>
      <p:ext uri="{BB962C8B-B14F-4D97-AF65-F5344CB8AC3E}">
        <p14:creationId xmlns:p14="http://schemas.microsoft.com/office/powerpoint/2010/main" val="6864949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1614</TotalTime>
  <Words>406</Words>
  <Application>Microsoft Office PowerPoint</Application>
  <PresentationFormat>On-screen Show (4:3)</PresentationFormat>
  <Paragraphs>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Bell MT</vt:lpstr>
      <vt:lpstr>Candara</vt:lpstr>
      <vt:lpstr>Symbol</vt:lpstr>
      <vt:lpstr>Waveform</vt:lpstr>
      <vt:lpstr>A1 Chemistry</vt:lpstr>
      <vt:lpstr>Learning Intentions</vt:lpstr>
      <vt:lpstr>Success Criteria</vt:lpstr>
      <vt:lpstr>Uncertainty of measurement</vt:lpstr>
      <vt:lpstr>PowerPoint Presentation</vt:lpstr>
      <vt:lpstr>PowerPoint Presentation</vt:lpstr>
      <vt:lpstr>PowerPoint Presentation</vt:lpstr>
      <vt:lpstr>PowerPoint Presentation</vt:lpstr>
      <vt:lpstr>Estimated absolute uncertainty</vt:lpstr>
      <vt:lpstr>PowerPoint Presentation</vt:lpstr>
      <vt:lpstr>PowerPoint Presentation</vt:lpstr>
      <vt:lpstr>PowerPoint Presentation</vt:lpstr>
      <vt:lpstr>Significant Figures</vt:lpstr>
      <vt:lpstr>PowerPoint Presentation</vt:lpstr>
      <vt:lpstr>8.3527</vt:lpstr>
      <vt:lpstr>How many significant figures?</vt:lpstr>
      <vt:lpstr>PowerPoint Presentation</vt:lpstr>
      <vt:lpstr>PowerPoint Presentation</vt:lpstr>
      <vt:lpstr>Scientific notation</vt:lpstr>
      <vt:lpstr>PowerPoint Presentation</vt:lpstr>
      <vt:lpstr>Random and systematic errors</vt:lpstr>
    </vt:vector>
  </TitlesOfParts>
  <Company>DET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2A Physics</dc:title>
  <dc:creator>DET</dc:creator>
  <cp:lastModifiedBy>Kristy</cp:lastModifiedBy>
  <cp:revision>19</cp:revision>
  <dcterms:created xsi:type="dcterms:W3CDTF">2013-12-11T02:52:40Z</dcterms:created>
  <dcterms:modified xsi:type="dcterms:W3CDTF">2023-05-07T05:57:43Z</dcterms:modified>
</cp:coreProperties>
</file>
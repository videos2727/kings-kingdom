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5" r:id="rId2"/>
    <p:sldId id="276" r:id="rId3"/>
    <p:sldId id="273" r:id="rId4"/>
    <p:sldId id="274" r:id="rId5"/>
    <p:sldId id="256" r:id="rId6"/>
    <p:sldId id="257" r:id="rId7"/>
    <p:sldId id="277" r:id="rId8"/>
    <p:sldId id="259" r:id="rId9"/>
    <p:sldId id="267" r:id="rId10"/>
    <p:sldId id="268" r:id="rId11"/>
    <p:sldId id="269" r:id="rId12"/>
    <p:sldId id="260" r:id="rId13"/>
    <p:sldId id="264" r:id="rId14"/>
    <p:sldId id="261" r:id="rId15"/>
    <p:sldId id="262" r:id="rId16"/>
    <p:sldId id="263" r:id="rId17"/>
    <p:sldId id="265" r:id="rId18"/>
    <p:sldId id="266" r:id="rId19"/>
    <p:sldId id="271" r:id="rId20"/>
    <p:sldId id="278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1803405"/>
            <a:ext cx="70866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632201"/>
            <a:ext cx="70866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1" y="4314328"/>
            <a:ext cx="2183130" cy="374642"/>
          </a:xfrm>
        </p:spPr>
        <p:txBody>
          <a:bodyPr/>
          <a:lstStyle/>
          <a:p>
            <a:fld id="{A0D25421-1861-492D-A4A8-30E24D4BC355}" type="datetimeFigureOut">
              <a:rPr lang="en-AU" smtClean="0"/>
              <a:t>3/05/2023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28700" y="4323846"/>
            <a:ext cx="48006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057400" cy="365125"/>
          </a:xfrm>
        </p:spPr>
        <p:txBody>
          <a:bodyPr/>
          <a:lstStyle/>
          <a:p>
            <a:fld id="{A1D568B8-E521-4CD9-A849-8BA2568FA2BD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5421-1861-492D-A4A8-30E24D4BC355}" type="datetimeFigureOut">
              <a:rPr lang="en-AU" smtClean="0"/>
              <a:t>3/05/2023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568B8-E521-4CD9-A849-8BA2568FA2BD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753534"/>
            <a:ext cx="81152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350" y="3641726"/>
            <a:ext cx="786765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60839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A0D25421-1861-492D-A4A8-30E24D4BC355}" type="datetimeFigureOut">
              <a:rPr lang="en-AU" smtClean="0"/>
              <a:t>3/05/2023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4350" y="381002"/>
            <a:ext cx="5243619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46839" y="381001"/>
            <a:ext cx="482811" cy="365125"/>
          </a:xfrm>
        </p:spPr>
        <p:txBody>
          <a:bodyPr/>
          <a:lstStyle/>
          <a:p>
            <a:fld id="{A1D568B8-E521-4CD9-A849-8BA2568FA2BD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0" y="2194560"/>
            <a:ext cx="40005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194560"/>
            <a:ext cx="40005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5421-1861-492D-A4A8-30E24D4BC355}" type="datetimeFigureOut">
              <a:rPr lang="en-AU" smtClean="0"/>
              <a:t>3/05/2023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568B8-E521-4CD9-A849-8BA2568FA2BD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45795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7" y="2183802"/>
            <a:ext cx="3809993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1" y="3132667"/>
            <a:ext cx="3983831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2183802"/>
            <a:ext cx="382905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132667"/>
            <a:ext cx="40005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5421-1861-492D-A4A8-30E24D4BC355}" type="datetimeFigureOut">
              <a:rPr lang="en-AU" smtClean="0"/>
              <a:t>3/05/2023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568B8-E521-4CD9-A849-8BA2568FA2BD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5421-1861-492D-A4A8-30E24D4BC355}" type="datetimeFigureOut">
              <a:rPr lang="en-AU" smtClean="0"/>
              <a:t>3/05/2023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568B8-E521-4CD9-A849-8BA2568FA2BD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5421-1861-492D-A4A8-30E24D4BC355}" type="datetimeFigureOut">
              <a:rPr lang="en-AU" smtClean="0"/>
              <a:t>3/05/2023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568B8-E521-4CD9-A849-8BA2568FA2BD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6686" y="746760"/>
            <a:ext cx="4882964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3124200"/>
            <a:ext cx="30861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5421-1861-492D-A4A8-30E24D4BC355}" type="datetimeFigureOut">
              <a:rPr lang="en-AU" smtClean="0"/>
              <a:t>3/05/2023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568B8-E521-4CD9-A849-8BA2568FA2BD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524000"/>
            <a:ext cx="51549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95928" y="751242"/>
            <a:ext cx="273372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3124200"/>
            <a:ext cx="515493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5421-1861-492D-A4A8-30E24D4BC355}" type="datetimeFigureOut">
              <a:rPr lang="en-AU" smtClean="0"/>
              <a:t>3/05/2023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568B8-E521-4CD9-A849-8BA2568FA2BD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33" y="4697361"/>
            <a:ext cx="8116526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1295" y="941440"/>
            <a:ext cx="811638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5516716"/>
            <a:ext cx="81153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5421-1861-492D-A4A8-30E24D4BC355}" type="datetimeFigureOut">
              <a:rPr lang="en-AU" smtClean="0"/>
              <a:t>3/05/2023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568B8-E521-4CD9-A849-8BA2568FA2BD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753533"/>
            <a:ext cx="81153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0" y="3649134"/>
            <a:ext cx="7597887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A0D25421-1861-492D-A4A8-30E24D4BC355}" type="datetimeFigureOut">
              <a:rPr lang="en-AU" smtClean="0"/>
              <a:t>3/05/2023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0" y="379942"/>
            <a:ext cx="5243619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39" y="381001"/>
            <a:ext cx="482811" cy="365125"/>
          </a:xfrm>
        </p:spPr>
        <p:txBody>
          <a:bodyPr/>
          <a:lstStyle/>
          <a:p>
            <a:fld id="{A1D568B8-E521-4CD9-A849-8BA2568FA2BD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365557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1" y="3959863"/>
            <a:ext cx="7613650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A0D25421-1861-492D-A4A8-30E24D4BC355}" type="datetimeFigureOut">
              <a:rPr lang="en-AU" smtClean="0"/>
              <a:t>3/05/2023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0" y="379942"/>
            <a:ext cx="5243619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39" y="381001"/>
            <a:ext cx="482811" cy="365125"/>
          </a:xfrm>
        </p:spPr>
        <p:txBody>
          <a:bodyPr/>
          <a:lstStyle/>
          <a:p>
            <a:fld id="{A1D568B8-E521-4CD9-A849-8BA2568FA2BD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357188" y="93345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38173" y="270129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71" y="1124702"/>
            <a:ext cx="7609640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0" y="3648316"/>
            <a:ext cx="7608491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A0D25421-1861-492D-A4A8-30E24D4BC355}" type="datetimeFigureOut">
              <a:rPr lang="en-AU" smtClean="0"/>
              <a:t>3/05/2023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0" y="378884"/>
            <a:ext cx="5243619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39" y="381001"/>
            <a:ext cx="482811" cy="365125"/>
          </a:xfrm>
        </p:spPr>
        <p:txBody>
          <a:bodyPr/>
          <a:lstStyle/>
          <a:p>
            <a:fld id="{A1D568B8-E521-4CD9-A849-8BA2568FA2BD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45794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0" y="2202080"/>
            <a:ext cx="2592324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49" y="2904565"/>
            <a:ext cx="2592324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76600" y="2201333"/>
            <a:ext cx="2592324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275144" y="2904067"/>
            <a:ext cx="2592324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038850" y="2192866"/>
            <a:ext cx="2592324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6038851" y="2904565"/>
            <a:ext cx="2592324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5421-1861-492D-A4A8-30E24D4BC355}" type="datetimeFigureOut">
              <a:rPr lang="en-AU" smtClean="0"/>
              <a:t>3/05/2023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568B8-E521-4CD9-A849-8BA2568FA2BD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45794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6463" y="4191001"/>
            <a:ext cx="2588687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6463" y="2362200"/>
            <a:ext cx="258868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6463" y="4873765"/>
            <a:ext cx="2588687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0698" y="4191001"/>
            <a:ext cx="2586701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80697" y="2362200"/>
            <a:ext cx="258670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80699" y="4873764"/>
            <a:ext cx="2586701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037299" y="4191001"/>
            <a:ext cx="259235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37391" y="2362200"/>
            <a:ext cx="2585909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6037299" y="4873762"/>
            <a:ext cx="2589334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5421-1861-492D-A4A8-30E24D4BC355}" type="datetimeFigureOut">
              <a:rPr lang="en-AU" smtClean="0"/>
              <a:t>3/05/2023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568B8-E521-4CD9-A849-8BA2568FA2BD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2194560"/>
            <a:ext cx="81153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5421-1861-492D-A4A8-30E24D4BC355}" type="datetimeFigureOut">
              <a:rPr lang="en-AU" smtClean="0"/>
              <a:t>3/05/2023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568B8-E521-4CD9-A849-8BA2568FA2BD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6600" y="745067"/>
            <a:ext cx="154305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745068"/>
            <a:ext cx="615315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60839" y="379942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A0D25421-1861-492D-A4A8-30E24D4BC355}" type="datetimeFigureOut">
              <a:rPr lang="en-AU" smtClean="0"/>
              <a:t>3/05/2023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4350" y="381001"/>
            <a:ext cx="5243619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46839" y="381001"/>
            <a:ext cx="482811" cy="365125"/>
          </a:xfrm>
        </p:spPr>
        <p:txBody>
          <a:bodyPr/>
          <a:lstStyle/>
          <a:p>
            <a:fld id="{A1D568B8-E521-4CD9-A849-8BA2568FA2BD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45795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2194561"/>
            <a:ext cx="81153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46520" y="6356351"/>
            <a:ext cx="21831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D25421-1861-492D-A4A8-30E24D4BC355}" type="datetimeFigureOut">
              <a:rPr lang="en-AU" smtClean="0"/>
              <a:t>3/05/2023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6355846"/>
            <a:ext cx="5829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568B8-E521-4CD9-A849-8BA2568FA2BD}" type="slidenum">
              <a:rPr lang="en-AU" smtClean="0"/>
              <a:t>‹#›</a:t>
            </a:fld>
            <a:endParaRPr lang="en-A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43DCB-EFD9-4279-807F-D44F07F74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764373"/>
            <a:ext cx="7226002" cy="1293028"/>
          </a:xfrm>
        </p:spPr>
        <p:txBody>
          <a:bodyPr/>
          <a:lstStyle/>
          <a:p>
            <a:r>
              <a:rPr lang="en-AU" dirty="0">
                <a:solidFill>
                  <a:schemeClr val="bg1"/>
                </a:solidFill>
              </a:rPr>
              <a:t>To Ionise or not to </a:t>
            </a:r>
            <a:r>
              <a:rPr lang="en-AU" dirty="0" err="1">
                <a:solidFill>
                  <a:schemeClr val="bg1"/>
                </a:solidFill>
              </a:rPr>
              <a:t>ionise?</a:t>
            </a:r>
            <a:r>
              <a:rPr lang="en-AU" dirty="0" err="1"/>
              <a:t>i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9B281-2565-4EE4-95C5-C7378365E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lphaLcParenR"/>
            </a:pPr>
            <a:r>
              <a:rPr lang="en-AU" dirty="0">
                <a:solidFill>
                  <a:schemeClr val="bg1"/>
                </a:solidFill>
              </a:rPr>
              <a:t>CH</a:t>
            </a:r>
            <a:r>
              <a:rPr lang="en-AU" baseline="-25000" dirty="0">
                <a:solidFill>
                  <a:schemeClr val="bg1"/>
                </a:solidFill>
              </a:rPr>
              <a:t>3</a:t>
            </a:r>
            <a:r>
              <a:rPr lang="en-AU" dirty="0">
                <a:solidFill>
                  <a:schemeClr val="bg1"/>
                </a:solidFill>
              </a:rPr>
              <a:t>COOH (</a:t>
            </a:r>
            <a:r>
              <a:rPr lang="en-AU" dirty="0" err="1">
                <a:solidFill>
                  <a:schemeClr val="bg1"/>
                </a:solidFill>
              </a:rPr>
              <a:t>aq</a:t>
            </a:r>
            <a:r>
              <a:rPr lang="en-AU" dirty="0">
                <a:solidFill>
                  <a:schemeClr val="bg1"/>
                </a:solidFill>
              </a:rPr>
              <a:t>)</a:t>
            </a:r>
          </a:p>
          <a:p>
            <a:pPr marL="457200" indent="-457200">
              <a:buFont typeface="+mj-lt"/>
              <a:buAutoNum type="alphaLcParenR"/>
            </a:pPr>
            <a:r>
              <a:rPr lang="en-AU" dirty="0">
                <a:solidFill>
                  <a:schemeClr val="bg1"/>
                </a:solidFill>
              </a:rPr>
              <a:t>NaCl (s)</a:t>
            </a:r>
          </a:p>
          <a:p>
            <a:pPr marL="457200" indent="-457200">
              <a:buFont typeface="+mj-lt"/>
              <a:buAutoNum type="alphaLcParenR"/>
            </a:pPr>
            <a:r>
              <a:rPr lang="en-AU" dirty="0">
                <a:solidFill>
                  <a:schemeClr val="bg1"/>
                </a:solidFill>
              </a:rPr>
              <a:t>NaOH (</a:t>
            </a:r>
            <a:r>
              <a:rPr lang="en-AU" dirty="0" err="1">
                <a:solidFill>
                  <a:schemeClr val="bg1"/>
                </a:solidFill>
              </a:rPr>
              <a:t>aq</a:t>
            </a:r>
            <a:r>
              <a:rPr lang="en-AU" dirty="0">
                <a:solidFill>
                  <a:schemeClr val="bg1"/>
                </a:solidFill>
              </a:rPr>
              <a:t>)</a:t>
            </a:r>
          </a:p>
          <a:p>
            <a:pPr marL="457200" indent="-457200">
              <a:buFont typeface="+mj-lt"/>
              <a:buAutoNum type="alphaLcParenR"/>
            </a:pPr>
            <a:r>
              <a:rPr lang="en-AU" dirty="0">
                <a:solidFill>
                  <a:schemeClr val="bg1"/>
                </a:solidFill>
              </a:rPr>
              <a:t>Zn (s)</a:t>
            </a:r>
          </a:p>
          <a:p>
            <a:pPr marL="457200" indent="-457200">
              <a:buFont typeface="+mj-lt"/>
              <a:buAutoNum type="alphaLcParenR"/>
            </a:pPr>
            <a:r>
              <a:rPr lang="en-AU" dirty="0">
                <a:solidFill>
                  <a:schemeClr val="bg1"/>
                </a:solidFill>
              </a:rPr>
              <a:t>ZnCl</a:t>
            </a:r>
            <a:r>
              <a:rPr lang="en-AU" baseline="-25000" dirty="0">
                <a:solidFill>
                  <a:schemeClr val="bg1"/>
                </a:solidFill>
              </a:rPr>
              <a:t>2</a:t>
            </a:r>
            <a:r>
              <a:rPr lang="en-AU" dirty="0">
                <a:solidFill>
                  <a:schemeClr val="bg1"/>
                </a:solidFill>
              </a:rPr>
              <a:t> (</a:t>
            </a:r>
            <a:r>
              <a:rPr lang="en-AU" dirty="0" err="1">
                <a:solidFill>
                  <a:schemeClr val="bg1"/>
                </a:solidFill>
              </a:rPr>
              <a:t>aq</a:t>
            </a:r>
            <a:r>
              <a:rPr lang="en-AU" dirty="0">
                <a:solidFill>
                  <a:schemeClr val="bg1"/>
                </a:solidFill>
              </a:rPr>
              <a:t>)</a:t>
            </a:r>
          </a:p>
          <a:p>
            <a:pPr marL="457200" indent="-457200">
              <a:buFont typeface="+mj-lt"/>
              <a:buAutoNum type="alphaLcParenR"/>
            </a:pPr>
            <a:r>
              <a:rPr lang="en-AU" dirty="0">
                <a:solidFill>
                  <a:schemeClr val="bg1"/>
                </a:solidFill>
              </a:rPr>
              <a:t>HNO</a:t>
            </a:r>
            <a:r>
              <a:rPr lang="en-AU" baseline="-25000" dirty="0">
                <a:solidFill>
                  <a:schemeClr val="bg1"/>
                </a:solidFill>
              </a:rPr>
              <a:t>3</a:t>
            </a:r>
            <a:r>
              <a:rPr lang="en-AU" dirty="0">
                <a:solidFill>
                  <a:schemeClr val="bg1"/>
                </a:solidFill>
              </a:rPr>
              <a:t> (</a:t>
            </a:r>
            <a:r>
              <a:rPr lang="en-AU" dirty="0" err="1">
                <a:solidFill>
                  <a:schemeClr val="bg1"/>
                </a:solidFill>
              </a:rPr>
              <a:t>aq</a:t>
            </a:r>
            <a:r>
              <a:rPr lang="en-AU" dirty="0">
                <a:solidFill>
                  <a:schemeClr val="bg1"/>
                </a:solidFill>
              </a:rPr>
              <a:t>)</a:t>
            </a:r>
          </a:p>
          <a:p>
            <a:pPr marL="457200" indent="-457200">
              <a:buFont typeface="+mj-lt"/>
              <a:buAutoNum type="alphaLcParenR"/>
            </a:pPr>
            <a:r>
              <a:rPr lang="en-AU" dirty="0">
                <a:solidFill>
                  <a:schemeClr val="bg1"/>
                </a:solidFill>
              </a:rPr>
              <a:t>H</a:t>
            </a:r>
            <a:r>
              <a:rPr lang="en-AU" baseline="-25000" dirty="0">
                <a:solidFill>
                  <a:schemeClr val="bg1"/>
                </a:solidFill>
              </a:rPr>
              <a:t>2</a:t>
            </a:r>
            <a:r>
              <a:rPr lang="en-AU" dirty="0">
                <a:solidFill>
                  <a:schemeClr val="bg1"/>
                </a:solidFill>
              </a:rPr>
              <a:t>CO</a:t>
            </a:r>
            <a:r>
              <a:rPr lang="en-AU" baseline="-25000" dirty="0">
                <a:solidFill>
                  <a:schemeClr val="bg1"/>
                </a:solidFill>
              </a:rPr>
              <a:t>3</a:t>
            </a:r>
            <a:r>
              <a:rPr lang="en-AU" dirty="0">
                <a:solidFill>
                  <a:schemeClr val="bg1"/>
                </a:solidFill>
              </a:rPr>
              <a:t> (</a:t>
            </a:r>
            <a:r>
              <a:rPr lang="en-AU" dirty="0" err="1">
                <a:solidFill>
                  <a:schemeClr val="bg1"/>
                </a:solidFill>
              </a:rPr>
              <a:t>aq</a:t>
            </a:r>
            <a:r>
              <a:rPr lang="en-AU" dirty="0">
                <a:solidFill>
                  <a:schemeClr val="bg1"/>
                </a:solidFill>
              </a:rPr>
              <a:t>)</a:t>
            </a:r>
          </a:p>
          <a:p>
            <a:pPr marL="457200" indent="-457200">
              <a:buFont typeface="+mj-lt"/>
              <a:buAutoNum type="alphaLcParenR"/>
            </a:pPr>
            <a:r>
              <a:rPr lang="en-AU" dirty="0">
                <a:solidFill>
                  <a:schemeClr val="bg1"/>
                </a:solidFill>
              </a:rPr>
              <a:t>CaCO</a:t>
            </a:r>
            <a:r>
              <a:rPr lang="en-AU" baseline="-25000" dirty="0">
                <a:solidFill>
                  <a:schemeClr val="bg1"/>
                </a:solidFill>
              </a:rPr>
              <a:t>3</a:t>
            </a:r>
            <a:r>
              <a:rPr lang="en-AU" dirty="0">
                <a:solidFill>
                  <a:schemeClr val="bg1"/>
                </a:solidFill>
              </a:rPr>
              <a:t> (s)</a:t>
            </a:r>
          </a:p>
          <a:p>
            <a:endParaRPr lang="en-A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1820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98857-D6DA-4C0E-B6B1-1C6AD138D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624" y="1196752"/>
            <a:ext cx="7153994" cy="1293028"/>
          </a:xfrm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chemeClr val="bg1"/>
                </a:solidFill>
              </a:rPr>
              <a:t>Write a molecular, total ionic and net ionic equation for…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80B8A-B269-4A64-9B46-A20137AB2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2564904"/>
            <a:ext cx="8090098" cy="3653782"/>
          </a:xfrm>
        </p:spPr>
        <p:txBody>
          <a:bodyPr/>
          <a:lstStyle/>
          <a:p>
            <a:pPr marL="0" indent="0">
              <a:buNone/>
            </a:pPr>
            <a:r>
              <a:rPr lang="en-AU" sz="2400" dirty="0">
                <a:solidFill>
                  <a:schemeClr val="bg1"/>
                </a:solidFill>
              </a:rPr>
              <a:t>The addition of magnesium chloride solution to silver nitrate solution produces a solid precipitate of silver chloride.</a:t>
            </a:r>
          </a:p>
          <a:p>
            <a:endParaRPr lang="en-A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7292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268760"/>
            <a:ext cx="7198205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407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512" y="1556792"/>
            <a:ext cx="8785161" cy="3674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450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solidFill>
                  <a:schemeClr val="bg1"/>
                </a:solidFill>
              </a:rPr>
              <a:t>A1 Chemistry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>
                <a:solidFill>
                  <a:schemeClr val="bg1"/>
                </a:solidFill>
              </a:rPr>
              <a:t>Exothermic and endothermic reactions</a:t>
            </a:r>
          </a:p>
        </p:txBody>
      </p:sp>
    </p:spTree>
    <p:extLst>
      <p:ext uri="{BB962C8B-B14F-4D97-AF65-F5344CB8AC3E}">
        <p14:creationId xmlns:p14="http://schemas.microsoft.com/office/powerpoint/2010/main" val="2800294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bg1"/>
                </a:solidFill>
              </a:rPr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>
                <a:solidFill>
                  <a:schemeClr val="bg1"/>
                </a:solidFill>
              </a:rPr>
              <a:t>chemical reactions and phase changes involve enthalpy changes, commonly observable as changes in the temperature of the surroundings and/or the emission of light </a:t>
            </a:r>
          </a:p>
          <a:p>
            <a:r>
              <a:rPr lang="en-AU" dirty="0">
                <a:solidFill>
                  <a:schemeClr val="bg1"/>
                </a:solidFill>
              </a:rPr>
              <a:t>endothermic and exothermic reactions can be explained in terms of the Law of Conservation of Energy and the breaking of existing bonds and forming of new bonds; heat energy released or absorbed by the system to or from the surroundings, can be represented in thermochemical equations </a:t>
            </a:r>
          </a:p>
          <a:p>
            <a:pPr marL="0" indent="0">
              <a:buNone/>
            </a:pPr>
            <a:endParaRPr lang="en-A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4084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D43C6-A1E1-478F-A8E8-542361349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bg1"/>
                </a:solidFill>
              </a:rPr>
              <a:t>Success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A7D6E-6727-4C07-B1E0-0DAFEAD56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>
                <a:solidFill>
                  <a:schemeClr val="bg1"/>
                </a:solidFill>
              </a:rPr>
              <a:t>Draw energy profile diagrams for endothermic and exothermic reactions (generic or from equations)</a:t>
            </a:r>
          </a:p>
          <a:p>
            <a:pPr marL="0" indent="0">
              <a:buNone/>
            </a:pPr>
            <a:r>
              <a:rPr lang="en-AU" dirty="0">
                <a:solidFill>
                  <a:schemeClr val="bg1"/>
                </a:solidFill>
              </a:rPr>
              <a:t>Identify     H as + for endothermic and – for exothermic</a:t>
            </a:r>
          </a:p>
          <a:p>
            <a:pPr marL="0" indent="0">
              <a:buNone/>
            </a:pPr>
            <a:r>
              <a:rPr lang="en-AU" dirty="0">
                <a:solidFill>
                  <a:schemeClr val="bg1"/>
                </a:solidFill>
              </a:rPr>
              <a:t>Interpret energy profile diagrams to find     H</a:t>
            </a:r>
          </a:p>
          <a:p>
            <a:pPr marL="0" indent="0">
              <a:buNone/>
            </a:pP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4A7403F7-6F8F-4A33-A2B4-563DCAE92F52}"/>
              </a:ext>
            </a:extLst>
          </p:cNvPr>
          <p:cNvSpPr/>
          <p:nvPr/>
        </p:nvSpPr>
        <p:spPr>
          <a:xfrm>
            <a:off x="1547664" y="2996952"/>
            <a:ext cx="216024" cy="21602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C14342F1-791D-4B34-A7E6-660B4ECF30F3}"/>
              </a:ext>
            </a:extLst>
          </p:cNvPr>
          <p:cNvSpPr/>
          <p:nvPr/>
        </p:nvSpPr>
        <p:spPr>
          <a:xfrm>
            <a:off x="5191547" y="3429000"/>
            <a:ext cx="216024" cy="21602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0315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bg1"/>
                </a:solidFill>
              </a:rPr>
              <a:t>Key 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>
                <a:solidFill>
                  <a:schemeClr val="bg1"/>
                </a:solidFill>
              </a:rPr>
              <a:t>enthalpy</a:t>
            </a:r>
          </a:p>
          <a:p>
            <a:pPr marL="0" indent="0">
              <a:buNone/>
            </a:pPr>
            <a:r>
              <a:rPr lang="en-AU" dirty="0">
                <a:solidFill>
                  <a:schemeClr val="bg1"/>
                </a:solidFill>
              </a:rPr>
              <a:t>endothermic</a:t>
            </a:r>
          </a:p>
          <a:p>
            <a:pPr marL="0" indent="0">
              <a:buNone/>
            </a:pPr>
            <a:r>
              <a:rPr lang="en-AU" dirty="0">
                <a:solidFill>
                  <a:schemeClr val="bg1"/>
                </a:solidFill>
              </a:rPr>
              <a:t>exothermic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53341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bg1"/>
                </a:solidFill>
              </a:rPr>
              <a:t>Conservation of energy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>
                <a:solidFill>
                  <a:schemeClr val="bg1"/>
                </a:solidFill>
              </a:rPr>
              <a:t>Chemical energy may be converted from one form to another, but the total amount of energy remains constant. </a:t>
            </a:r>
          </a:p>
          <a:p>
            <a:pPr marL="0" indent="0">
              <a:buNone/>
            </a:pPr>
            <a:endParaRPr lang="en-AU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chemeClr val="bg1"/>
                </a:solidFill>
              </a:rPr>
              <a:t>Chemical energy can be kinetic (motion energy) or potential (position energy). </a:t>
            </a:r>
          </a:p>
        </p:txBody>
      </p:sp>
    </p:spTree>
    <p:extLst>
      <p:ext uri="{BB962C8B-B14F-4D97-AF65-F5344CB8AC3E}">
        <p14:creationId xmlns:p14="http://schemas.microsoft.com/office/powerpoint/2010/main" val="4069280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>
              <a:solidFill>
                <a:schemeClr val="bg1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4704"/>
            <a:ext cx="9204079" cy="5184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67382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412776"/>
            <a:ext cx="5076565" cy="3384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9673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bg1"/>
                </a:solidFill>
              </a:rPr>
              <a:t>enthalpy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sz="2800" dirty="0">
                <a:solidFill>
                  <a:schemeClr val="bg1"/>
                </a:solidFill>
              </a:rPr>
              <a:t>All substances contain a quantity of chemical potential energy, which is stored in bonds within and between atoms or ions.</a:t>
            </a:r>
          </a:p>
          <a:p>
            <a:pPr marL="0" indent="0">
              <a:buNone/>
            </a:pPr>
            <a:r>
              <a:rPr lang="en-AU" sz="2800" dirty="0">
                <a:solidFill>
                  <a:schemeClr val="bg1"/>
                </a:solidFill>
              </a:rPr>
              <a:t>Enthalpy is a measure of the energy per mole of each substance (as a heat equivalent in Joules, J)</a:t>
            </a:r>
          </a:p>
          <a:p>
            <a:pPr marL="0" indent="0">
              <a:buNone/>
            </a:pPr>
            <a:r>
              <a:rPr lang="en-AU" sz="2800" dirty="0">
                <a:solidFill>
                  <a:schemeClr val="bg1"/>
                </a:solidFill>
              </a:rPr>
              <a:t>Given the symbol H 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88845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>
                <a:solidFill>
                  <a:schemeClr val="bg1"/>
                </a:solidFill>
              </a:rPr>
              <a:t>Δ</a:t>
            </a:r>
            <a:r>
              <a:rPr lang="en-AU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dirty="0">
                <a:solidFill>
                  <a:schemeClr val="bg1"/>
                </a:solidFill>
              </a:rPr>
              <a:t>Change in enthalpy indicates whether energy is absorbed or released in a reaction.</a:t>
            </a:r>
          </a:p>
          <a:p>
            <a:pPr marL="0" indent="0">
              <a:buNone/>
            </a:pPr>
            <a:endParaRPr lang="en-AU" sz="2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l-GR" sz="2800" dirty="0">
                <a:solidFill>
                  <a:schemeClr val="bg1"/>
                </a:solidFill>
              </a:rPr>
              <a:t>Δ</a:t>
            </a:r>
            <a:r>
              <a:rPr lang="en-AU" sz="2800" dirty="0">
                <a:solidFill>
                  <a:schemeClr val="bg1"/>
                </a:solidFill>
              </a:rPr>
              <a:t>H = Enthalpy of products – enthalpy of reactants</a:t>
            </a:r>
          </a:p>
        </p:txBody>
      </p:sp>
    </p:spTree>
    <p:extLst>
      <p:ext uri="{BB962C8B-B14F-4D97-AF65-F5344CB8AC3E}">
        <p14:creationId xmlns:p14="http://schemas.microsoft.com/office/powerpoint/2010/main" val="1109121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>
                <a:solidFill>
                  <a:schemeClr val="bg1"/>
                </a:solidFill>
              </a:rPr>
              <a:t>exoThermic</a:t>
            </a:r>
            <a:r>
              <a:rPr lang="en-AU" dirty="0">
                <a:solidFill>
                  <a:schemeClr val="bg1"/>
                </a:solidFill>
              </a:rPr>
              <a:t> reactions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sz="3600" dirty="0">
                <a:solidFill>
                  <a:schemeClr val="bg1"/>
                </a:solidFill>
              </a:rPr>
              <a:t>If the enthalpy of the reactants is greater then the enthalpy of the products, energy will be released as heat.</a:t>
            </a:r>
          </a:p>
          <a:p>
            <a:pPr marL="0" indent="0">
              <a:buNone/>
            </a:pPr>
            <a:endParaRPr lang="en-AU" sz="3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AU" sz="3600" dirty="0">
                <a:solidFill>
                  <a:schemeClr val="bg1"/>
                </a:solidFill>
              </a:rPr>
              <a:t>ΔH is negative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88876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endothermic reactions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If the enthalpy of the products is greater than the enthalpy of the reactants, heat energy will be absorbed.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233803"/>
            <a:ext cx="4536504" cy="3952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08344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bg1"/>
                </a:solidFill>
              </a:rPr>
              <a:t>ENDOTHERMIC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4000" dirty="0">
                <a:solidFill>
                  <a:schemeClr val="bg1"/>
                </a:solidFill>
              </a:rPr>
              <a:t>If the enthalpy of the products is greater than </a:t>
            </a:r>
            <a:r>
              <a:rPr lang="en-AU" sz="4000">
                <a:solidFill>
                  <a:schemeClr val="bg1"/>
                </a:solidFill>
              </a:rPr>
              <a:t>the reactants</a:t>
            </a:r>
            <a:endParaRPr lang="en-AU" sz="4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AU" sz="4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AU" sz="4000" dirty="0">
                <a:solidFill>
                  <a:schemeClr val="bg1"/>
                </a:solidFill>
              </a:rPr>
              <a:t>ΔH is positive. </a:t>
            </a:r>
          </a:p>
        </p:txBody>
      </p:sp>
    </p:spTree>
    <p:extLst>
      <p:ext uri="{BB962C8B-B14F-4D97-AF65-F5344CB8AC3E}">
        <p14:creationId xmlns:p14="http://schemas.microsoft.com/office/powerpoint/2010/main" val="1741984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739634"/>
            <a:ext cx="4896543" cy="38117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13366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Heat </a:t>
            </a:r>
            <a:r>
              <a:rPr lang="en-AU" dirty="0" err="1"/>
              <a:t>i</a:t>
            </a:r>
            <a:r>
              <a:rPr lang="en-AU" dirty="0" err="1">
                <a:solidFill>
                  <a:schemeClr val="bg1"/>
                </a:solidFill>
              </a:rPr>
              <a:t>heat</a:t>
            </a:r>
            <a:r>
              <a:rPr lang="en-AU" dirty="0">
                <a:solidFill>
                  <a:schemeClr val="bg1"/>
                </a:solidFill>
              </a:rPr>
              <a:t> in equations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sz="3200" dirty="0">
                <a:solidFill>
                  <a:schemeClr val="bg1"/>
                </a:solidFill>
              </a:rPr>
              <a:t>H</a:t>
            </a:r>
            <a:r>
              <a:rPr lang="en-AU" sz="2000" dirty="0">
                <a:solidFill>
                  <a:schemeClr val="bg1"/>
                </a:solidFill>
              </a:rPr>
              <a:t>2</a:t>
            </a:r>
            <a:r>
              <a:rPr lang="en-AU" sz="3200" dirty="0">
                <a:solidFill>
                  <a:schemeClr val="bg1"/>
                </a:solidFill>
              </a:rPr>
              <a:t>(g) + F</a:t>
            </a:r>
            <a:r>
              <a:rPr lang="en-AU" sz="2000" dirty="0">
                <a:solidFill>
                  <a:schemeClr val="bg1"/>
                </a:solidFill>
              </a:rPr>
              <a:t>2</a:t>
            </a:r>
            <a:r>
              <a:rPr lang="en-AU" sz="3200" dirty="0">
                <a:solidFill>
                  <a:schemeClr val="bg1"/>
                </a:solidFill>
              </a:rPr>
              <a:t>(g) = 2 HF(g)     </a:t>
            </a:r>
            <a:r>
              <a:rPr lang="el-GR" sz="3200" dirty="0">
                <a:solidFill>
                  <a:schemeClr val="bg1"/>
                </a:solidFill>
              </a:rPr>
              <a:t>Δ</a:t>
            </a:r>
            <a:r>
              <a:rPr lang="en-AU" sz="3200" dirty="0">
                <a:solidFill>
                  <a:schemeClr val="bg1"/>
                </a:solidFill>
              </a:rPr>
              <a:t>H = -542 kJ/equation</a:t>
            </a:r>
          </a:p>
          <a:p>
            <a:pPr marL="0" indent="0">
              <a:buNone/>
            </a:pPr>
            <a:endParaRPr lang="en-AU" sz="3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AU" sz="3200" dirty="0">
                <a:solidFill>
                  <a:schemeClr val="bg1"/>
                </a:solidFill>
              </a:rPr>
              <a:t>H</a:t>
            </a:r>
            <a:r>
              <a:rPr lang="en-AU" sz="2000" dirty="0">
                <a:solidFill>
                  <a:schemeClr val="bg1"/>
                </a:solidFill>
              </a:rPr>
              <a:t>2</a:t>
            </a:r>
            <a:r>
              <a:rPr lang="en-AU" sz="3200" dirty="0">
                <a:solidFill>
                  <a:schemeClr val="bg1"/>
                </a:solidFill>
              </a:rPr>
              <a:t>(g) + F</a:t>
            </a:r>
            <a:r>
              <a:rPr lang="en-AU" sz="2000" dirty="0">
                <a:solidFill>
                  <a:schemeClr val="bg1"/>
                </a:solidFill>
              </a:rPr>
              <a:t>2</a:t>
            </a:r>
            <a:r>
              <a:rPr lang="en-AU" sz="3200" dirty="0">
                <a:solidFill>
                  <a:schemeClr val="bg1"/>
                </a:solidFill>
              </a:rPr>
              <a:t>(g) = 2 HF(g) + 542 kJ</a:t>
            </a:r>
          </a:p>
          <a:p>
            <a:pPr marL="0" indent="0">
              <a:buNone/>
            </a:pPr>
            <a:endParaRPr lang="en-AU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A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8412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956110"/>
            <a:ext cx="7296807" cy="2985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0820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D43C6-A1E1-478F-A8E8-542361349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bg1"/>
                </a:solidFill>
              </a:rPr>
              <a:t>Success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A7D6E-6727-4C07-B1E0-0DAFEAD56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>
                <a:solidFill>
                  <a:schemeClr val="bg1"/>
                </a:solidFill>
              </a:rPr>
              <a:t>Draw energy profile diagrams for endothermic and exothermic reactions (generic or from equations)</a:t>
            </a:r>
          </a:p>
          <a:p>
            <a:pPr marL="0" indent="0">
              <a:buNone/>
            </a:pPr>
            <a:r>
              <a:rPr lang="en-AU" dirty="0">
                <a:solidFill>
                  <a:schemeClr val="bg1"/>
                </a:solidFill>
              </a:rPr>
              <a:t>Identify     H as + for endothermic and – for exothermic</a:t>
            </a:r>
          </a:p>
          <a:p>
            <a:pPr marL="0" indent="0">
              <a:buNone/>
            </a:pPr>
            <a:r>
              <a:rPr lang="en-AU" dirty="0">
                <a:solidFill>
                  <a:schemeClr val="bg1"/>
                </a:solidFill>
              </a:rPr>
              <a:t>Interpret energy profile diagrams to find     H</a:t>
            </a:r>
          </a:p>
          <a:p>
            <a:pPr marL="0" indent="0">
              <a:buNone/>
            </a:pP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4A7403F7-6F8F-4A33-A2B4-563DCAE92F52}"/>
              </a:ext>
            </a:extLst>
          </p:cNvPr>
          <p:cNvSpPr/>
          <p:nvPr/>
        </p:nvSpPr>
        <p:spPr>
          <a:xfrm>
            <a:off x="1547664" y="2996952"/>
            <a:ext cx="216024" cy="21602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C14342F1-791D-4B34-A7E6-660B4ECF30F3}"/>
              </a:ext>
            </a:extLst>
          </p:cNvPr>
          <p:cNvSpPr/>
          <p:nvPr/>
        </p:nvSpPr>
        <p:spPr>
          <a:xfrm>
            <a:off x="5191547" y="3429000"/>
            <a:ext cx="216024" cy="21602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8995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Composit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 2B Physics Heat as energy</Template>
  <TotalTime>3116</TotalTime>
  <Words>449</Words>
  <Application>Microsoft Office PowerPoint</Application>
  <PresentationFormat>On-screen Show (4:3)</PresentationFormat>
  <Paragraphs>54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Vapor Trail</vt:lpstr>
      <vt:lpstr>To Ionise or not to ionise?i</vt:lpstr>
      <vt:lpstr>Write a molecular, total ionic and net ionic equation for…</vt:lpstr>
      <vt:lpstr>PowerPoint Presentation</vt:lpstr>
      <vt:lpstr>PowerPoint Presentation</vt:lpstr>
      <vt:lpstr>A1 Chemistry</vt:lpstr>
      <vt:lpstr>Learning intentions</vt:lpstr>
      <vt:lpstr>Success criteria</vt:lpstr>
      <vt:lpstr>Key words</vt:lpstr>
      <vt:lpstr>Conservation of energy</vt:lpstr>
      <vt:lpstr>PowerPoint Presentation</vt:lpstr>
      <vt:lpstr>PowerPoint Presentation</vt:lpstr>
      <vt:lpstr>enthalpy</vt:lpstr>
      <vt:lpstr>ΔH</vt:lpstr>
      <vt:lpstr>exoThermic reactions</vt:lpstr>
      <vt:lpstr>endothermic reactions</vt:lpstr>
      <vt:lpstr>ENDOTHERMIC</vt:lpstr>
      <vt:lpstr>PowerPoint Presentation</vt:lpstr>
      <vt:lpstr>Heat iheat in equations</vt:lpstr>
      <vt:lpstr>PowerPoint Presentation</vt:lpstr>
      <vt:lpstr>Success criteria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JOHNSON Kristy</dc:creator>
  <cp:lastModifiedBy>JOHNSON Kristy [Narrogin Senior High School]</cp:lastModifiedBy>
  <cp:revision>17</cp:revision>
  <dcterms:created xsi:type="dcterms:W3CDTF">2015-05-13T00:37:51Z</dcterms:created>
  <dcterms:modified xsi:type="dcterms:W3CDTF">2023-05-03T01:58:26Z</dcterms:modified>
</cp:coreProperties>
</file>
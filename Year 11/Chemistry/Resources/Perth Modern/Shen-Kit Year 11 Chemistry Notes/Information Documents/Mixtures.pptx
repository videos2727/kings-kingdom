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66" r:id="rId3"/>
    <p:sldId id="257" r:id="rId4"/>
    <p:sldId id="258" r:id="rId5"/>
    <p:sldId id="260" r:id="rId6"/>
    <p:sldId id="259" r:id="rId7"/>
    <p:sldId id="261" r:id="rId8"/>
    <p:sldId id="262" r:id="rId9"/>
    <p:sldId id="265" r:id="rId10"/>
    <p:sldId id="263" r:id="rId11"/>
    <p:sldId id="264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18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164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0855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710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138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983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430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809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8911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80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124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0813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4847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2057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7019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5576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93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C2EB5-A656-47FF-A50B-2813418587C1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438397B-1EA9-4D7A-BBDB-BADF40E08F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164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7200" dirty="0"/>
              <a:t>Mixtures</a:t>
            </a:r>
          </a:p>
        </p:txBody>
      </p:sp>
    </p:spTree>
    <p:extLst>
      <p:ext uri="{BB962C8B-B14F-4D97-AF65-F5344CB8AC3E}">
        <p14:creationId xmlns:p14="http://schemas.microsoft.com/office/powerpoint/2010/main" val="1673970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21868"/>
            <a:ext cx="8280920" cy="6059460"/>
          </a:xfrm>
        </p:spPr>
      </p:pic>
    </p:spTree>
    <p:extLst>
      <p:ext uri="{BB962C8B-B14F-4D97-AF65-F5344CB8AC3E}">
        <p14:creationId xmlns:p14="http://schemas.microsoft.com/office/powerpoint/2010/main" val="1798453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Sorting Substances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>
                <a:latin typeface="Century Gothic" panose="020B0502020202020204" pitchFamily="34" charset="0"/>
                <a:cs typeface="Arial" panose="020B0604020202020204" pitchFamily="34" charset="0"/>
              </a:rPr>
              <a:t>How can these substances be sorted? Come up with as many ways as you can. </a:t>
            </a:r>
            <a:br>
              <a:rPr lang="en-AU" b="1" dirty="0">
                <a:latin typeface="Century Gothic" panose="020B0502020202020204" pitchFamily="34" charset="0"/>
                <a:cs typeface="Arial" panose="020B0604020202020204" pitchFamily="34" charset="0"/>
              </a:rPr>
            </a:br>
            <a:endParaRPr lang="en-AU" b="1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AU" b="1" dirty="0">
                <a:latin typeface="Century Gothic" panose="020B0502020202020204" pitchFamily="34" charset="0"/>
                <a:cs typeface="Arial" panose="020B0604020202020204" pitchFamily="34" charset="0"/>
              </a:rPr>
              <a:t>Which methods of sorting would be useful in chemistry? </a:t>
            </a:r>
            <a:br>
              <a:rPr lang="en-AU" b="1" dirty="0">
                <a:latin typeface="Century Gothic" panose="020B0502020202020204" pitchFamily="34" charset="0"/>
                <a:cs typeface="Arial" panose="020B0604020202020204" pitchFamily="34" charset="0"/>
              </a:rPr>
            </a:br>
            <a:endParaRPr lang="en-AU" b="1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AU" b="1" dirty="0">
                <a:latin typeface="Century Gothic" panose="020B0502020202020204" pitchFamily="34" charset="0"/>
                <a:cs typeface="Arial" panose="020B0604020202020204" pitchFamily="34" charset="0"/>
              </a:rPr>
              <a:t>You will need to define your groups carefully, write some accurate definitions. </a:t>
            </a:r>
          </a:p>
        </p:txBody>
      </p:sp>
    </p:spTree>
    <p:extLst>
      <p:ext uri="{BB962C8B-B14F-4D97-AF65-F5344CB8AC3E}">
        <p14:creationId xmlns:p14="http://schemas.microsoft.com/office/powerpoint/2010/main" val="212222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Classifying Substances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200" b="1" dirty="0"/>
              <a:t>Define these key terms: </a:t>
            </a:r>
          </a:p>
          <a:p>
            <a:pPr lvl="1"/>
            <a:r>
              <a:rPr lang="en-AU" sz="2800" b="1" dirty="0"/>
              <a:t>Atom</a:t>
            </a:r>
          </a:p>
          <a:p>
            <a:pPr lvl="1"/>
            <a:r>
              <a:rPr lang="en-AU" sz="2800" b="1" dirty="0"/>
              <a:t>Molecule</a:t>
            </a:r>
          </a:p>
          <a:p>
            <a:pPr lvl="1"/>
            <a:r>
              <a:rPr lang="en-AU" sz="2800" b="1" dirty="0"/>
              <a:t>Element</a:t>
            </a:r>
          </a:p>
          <a:p>
            <a:pPr lvl="1"/>
            <a:r>
              <a:rPr lang="en-AU" sz="2800" b="1" dirty="0"/>
              <a:t>Compound</a:t>
            </a:r>
          </a:p>
          <a:p>
            <a:pPr lvl="1"/>
            <a:r>
              <a:rPr lang="en-AU" sz="2800" b="1" dirty="0"/>
              <a:t>Mixture</a:t>
            </a:r>
          </a:p>
          <a:p>
            <a:pPr lvl="1"/>
            <a:r>
              <a:rPr lang="en-AU" sz="2800" b="1" dirty="0"/>
              <a:t>Pure</a:t>
            </a:r>
          </a:p>
          <a:p>
            <a:pPr lvl="1"/>
            <a:r>
              <a:rPr lang="en-AU" sz="2800" b="1" dirty="0"/>
              <a:t>Impure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675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Pure substances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76872"/>
            <a:ext cx="7596050" cy="3742928"/>
          </a:xfrm>
        </p:spPr>
        <p:txBody>
          <a:bodyPr>
            <a:noAutofit/>
          </a:bodyPr>
          <a:lstStyle/>
          <a:p>
            <a:r>
              <a:rPr lang="en-AU" sz="2000" b="1" dirty="0"/>
              <a:t>Have a fixed or constant composition</a:t>
            </a:r>
          </a:p>
          <a:p>
            <a:r>
              <a:rPr lang="en-AU" sz="2000" b="1" dirty="0"/>
              <a:t>Cannot be separated by physical means</a:t>
            </a:r>
          </a:p>
          <a:p>
            <a:r>
              <a:rPr lang="en-AU" sz="2000" b="1" dirty="0"/>
              <a:t>Have well defined physical properties, </a:t>
            </a:r>
            <a:r>
              <a:rPr lang="en-AU" sz="2000" b="1" dirty="0" err="1"/>
              <a:t>eg</a:t>
            </a:r>
            <a:r>
              <a:rPr lang="en-AU" sz="2000" b="1" dirty="0"/>
              <a:t>: </a:t>
            </a:r>
          </a:p>
          <a:p>
            <a:pPr lvl="1"/>
            <a:r>
              <a:rPr lang="en-AU" sz="2000" b="1" dirty="0"/>
              <a:t>melting point</a:t>
            </a:r>
          </a:p>
          <a:p>
            <a:pPr lvl="1"/>
            <a:r>
              <a:rPr lang="en-AU" sz="2000" b="1" dirty="0"/>
              <a:t>boiling point</a:t>
            </a:r>
          </a:p>
          <a:p>
            <a:pPr lvl="1"/>
            <a:r>
              <a:rPr lang="en-AU" sz="2000" b="1" dirty="0"/>
              <a:t>hardness</a:t>
            </a:r>
          </a:p>
          <a:p>
            <a:pPr lvl="1"/>
            <a:r>
              <a:rPr lang="en-AU" sz="2000" b="1" dirty="0"/>
              <a:t>density</a:t>
            </a:r>
          </a:p>
          <a:p>
            <a:pPr lvl="1"/>
            <a:r>
              <a:rPr lang="en-AU" sz="2000" b="1" dirty="0"/>
              <a:t>colour</a:t>
            </a:r>
          </a:p>
          <a:p>
            <a:r>
              <a:rPr lang="en-AU" sz="2000" b="1" dirty="0"/>
              <a:t>Have constant chemical properties</a:t>
            </a:r>
          </a:p>
        </p:txBody>
      </p:sp>
    </p:spTree>
    <p:extLst>
      <p:ext uri="{BB962C8B-B14F-4D97-AF65-F5344CB8AC3E}">
        <p14:creationId xmlns:p14="http://schemas.microsoft.com/office/powerpoint/2010/main" val="299967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Mixtures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/>
          <a:lstStyle/>
          <a:p>
            <a:r>
              <a:rPr lang="en-AU" sz="2000" b="1" dirty="0"/>
              <a:t>Contain two or more different substances, in proportions that can vary</a:t>
            </a:r>
          </a:p>
          <a:p>
            <a:pPr marL="0" indent="0">
              <a:buNone/>
            </a:pPr>
            <a:endParaRPr lang="en-AU" sz="2000" b="1" dirty="0"/>
          </a:p>
          <a:p>
            <a:r>
              <a:rPr lang="en-AU" sz="2000" b="1" dirty="0"/>
              <a:t>Properties vary with composition, depend on the identity and amounts of constituents</a:t>
            </a:r>
          </a:p>
          <a:p>
            <a:endParaRPr lang="en-AU" sz="2000" b="1" dirty="0"/>
          </a:p>
          <a:p>
            <a:r>
              <a:rPr lang="en-AU" sz="2000" b="1" dirty="0"/>
              <a:t>Properties of individual constituents can be used to separate the mixture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9201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Homogeneous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000" b="1" dirty="0"/>
              <a:t>Have uniform composition throughout</a:t>
            </a:r>
          </a:p>
          <a:p>
            <a:pPr marL="0" indent="0">
              <a:buNone/>
            </a:pPr>
            <a:endParaRPr lang="en-AU" sz="2000" b="1" dirty="0"/>
          </a:p>
          <a:p>
            <a:r>
              <a:rPr lang="en-AU" sz="2000" b="1" dirty="0"/>
              <a:t>Includes all pure substances (elements and compounds) and some mixtures</a:t>
            </a:r>
          </a:p>
          <a:p>
            <a:pPr marL="0" indent="0">
              <a:buNone/>
            </a:pPr>
            <a:endParaRPr lang="en-AU" sz="2000" b="1" dirty="0"/>
          </a:p>
          <a:p>
            <a:r>
              <a:rPr lang="en-AU" sz="2000" b="1" dirty="0"/>
              <a:t>The only kind of mixture that is homogeneous is a solution, </a:t>
            </a:r>
            <a:r>
              <a:rPr lang="en-AU" sz="2000" b="1" dirty="0" err="1"/>
              <a:t>eg</a:t>
            </a:r>
            <a:r>
              <a:rPr lang="en-AU" sz="2000" b="1" dirty="0"/>
              <a:t>: salt water</a:t>
            </a:r>
          </a:p>
        </p:txBody>
      </p:sp>
    </p:spTree>
    <p:extLst>
      <p:ext uri="{BB962C8B-B14F-4D97-AF65-F5344CB8AC3E}">
        <p14:creationId xmlns:p14="http://schemas.microsoft.com/office/powerpoint/2010/main" val="1215529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Heterogeneous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Heterogeneous materials are non-uniform – you can see differences from one section to another</a:t>
            </a:r>
          </a:p>
          <a:p>
            <a:r>
              <a:rPr lang="en-AU" b="1" dirty="0"/>
              <a:t>The constituents are physically separated, </a:t>
            </a:r>
            <a:r>
              <a:rPr lang="en-AU" b="1" dirty="0" err="1"/>
              <a:t>eg</a:t>
            </a:r>
            <a:r>
              <a:rPr lang="en-AU" b="1" dirty="0"/>
              <a:t>: in a different phase</a:t>
            </a:r>
          </a:p>
          <a:p>
            <a:r>
              <a:rPr lang="en-AU" b="1" dirty="0"/>
              <a:t>Examples include: </a:t>
            </a:r>
          </a:p>
          <a:p>
            <a:pPr lvl="1"/>
            <a:r>
              <a:rPr lang="en-AU" sz="1800" b="1" dirty="0"/>
              <a:t>Granite (mixture of different mineral grains)</a:t>
            </a:r>
          </a:p>
          <a:p>
            <a:pPr lvl="1"/>
            <a:r>
              <a:rPr lang="en-AU" sz="1800" b="1" dirty="0"/>
              <a:t>Milk (fat globules suspended in water)</a:t>
            </a:r>
          </a:p>
          <a:p>
            <a:pPr lvl="1"/>
            <a:r>
              <a:rPr lang="en-AU" sz="1800" b="1" dirty="0"/>
              <a:t>Toothpaste (solid particles suspended in liquid)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6304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960" y="188640"/>
            <a:ext cx="9200960" cy="6552728"/>
          </a:xfrm>
        </p:spPr>
      </p:pic>
    </p:spTree>
    <p:extLst>
      <p:ext uri="{BB962C8B-B14F-4D97-AF65-F5344CB8AC3E}">
        <p14:creationId xmlns:p14="http://schemas.microsoft.com/office/powerpoint/2010/main" val="446376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Separating Mixtures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000" b="1" dirty="0"/>
              <a:t>Mixtures can be separated by any means that makes use of the different physical properties of its constituents.</a:t>
            </a:r>
            <a:br>
              <a:rPr lang="en-AU" sz="2000" b="1" dirty="0"/>
            </a:br>
            <a:endParaRPr lang="en-AU" sz="2000" b="1" dirty="0"/>
          </a:p>
          <a:p>
            <a:r>
              <a:rPr lang="en-AU" sz="2000" b="1" dirty="0"/>
              <a:t>The properties of the components of a mixture determine the best separation method. </a:t>
            </a:r>
          </a:p>
        </p:txBody>
      </p:sp>
    </p:spTree>
    <p:extLst>
      <p:ext uri="{BB962C8B-B14F-4D97-AF65-F5344CB8AC3E}">
        <p14:creationId xmlns:p14="http://schemas.microsoft.com/office/powerpoint/2010/main" val="650020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Methods of separation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7654" y="2087144"/>
            <a:ext cx="8183880" cy="4366192"/>
          </a:xfrm>
        </p:spPr>
        <p:txBody>
          <a:bodyPr>
            <a:normAutofit/>
          </a:bodyPr>
          <a:lstStyle/>
          <a:p>
            <a:r>
              <a:rPr lang="en-AU" b="1" dirty="0"/>
              <a:t>Sieving</a:t>
            </a:r>
          </a:p>
          <a:p>
            <a:r>
              <a:rPr lang="en-AU" b="1" dirty="0"/>
              <a:t>Filtration  (diagram)</a:t>
            </a:r>
          </a:p>
          <a:p>
            <a:r>
              <a:rPr lang="en-AU" b="1" dirty="0"/>
              <a:t>Decanting</a:t>
            </a:r>
          </a:p>
          <a:p>
            <a:r>
              <a:rPr lang="en-AU" b="1" dirty="0"/>
              <a:t>Use of separation funnel (diagram)</a:t>
            </a:r>
          </a:p>
          <a:p>
            <a:r>
              <a:rPr lang="en-AU" b="1" dirty="0"/>
              <a:t>Distillation  </a:t>
            </a:r>
            <a:r>
              <a:rPr lang="en-AU" b="1"/>
              <a:t>(diagram)</a:t>
            </a:r>
            <a:endParaRPr lang="en-AU" b="1" dirty="0"/>
          </a:p>
          <a:p>
            <a:r>
              <a:rPr lang="en-AU" b="1" dirty="0"/>
              <a:t>Fractional distillation  (basic diagram)</a:t>
            </a:r>
          </a:p>
          <a:p>
            <a:r>
              <a:rPr lang="en-AU" b="1" dirty="0"/>
              <a:t>Electrostatic attraction</a:t>
            </a:r>
          </a:p>
          <a:p>
            <a:r>
              <a:rPr lang="en-AU" b="1" dirty="0"/>
              <a:t>Magnetic susceptibility</a:t>
            </a:r>
          </a:p>
          <a:p>
            <a:r>
              <a:rPr lang="en-AU" b="1" dirty="0"/>
              <a:t>Vaporisation</a:t>
            </a:r>
          </a:p>
          <a:p>
            <a:r>
              <a:rPr lang="en-AU" b="1" dirty="0"/>
              <a:t>Crystallisation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68144" y="692696"/>
            <a:ext cx="2664296" cy="4536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Find out how each of these methods can be used to separate a mixture. </a:t>
            </a:r>
          </a:p>
          <a:p>
            <a:pPr algn="ctr"/>
            <a:endParaRPr lang="en-AU" sz="2000" dirty="0"/>
          </a:p>
          <a:p>
            <a:pPr algn="ctr"/>
            <a:r>
              <a:rPr lang="en-AU" sz="2000" dirty="0"/>
              <a:t>Give an example of a mixture that could be separated by each method. </a:t>
            </a:r>
          </a:p>
        </p:txBody>
      </p:sp>
    </p:spTree>
    <p:extLst>
      <p:ext uri="{BB962C8B-B14F-4D97-AF65-F5344CB8AC3E}">
        <p14:creationId xmlns:p14="http://schemas.microsoft.com/office/powerpoint/2010/main" val="2152894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2" descr="solubility cha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28600"/>
            <a:ext cx="6924675" cy="649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8822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5" descr="solubility%20curve"/>
          <p:cNvPicPr>
            <a:picLocks noChangeAspect="1" noChangeArrowheads="1"/>
          </p:cNvPicPr>
          <p:nvPr/>
        </p:nvPicPr>
        <p:blipFill>
          <a:blip r:embed="rId2"/>
          <a:srcRect t="4762" r="8887" b="4250"/>
          <a:stretch>
            <a:fillRect/>
          </a:stretch>
        </p:blipFill>
        <p:spPr bwMode="auto">
          <a:xfrm>
            <a:off x="3744913" y="280988"/>
            <a:ext cx="5202237" cy="657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2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419100"/>
            <a:ext cx="3562350" cy="876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AU" sz="4400" b="1">
                <a:latin typeface="Calibri" pitchFamily="34" charset="0"/>
              </a:rPr>
              <a:t>Solubility Curves</a:t>
            </a:r>
          </a:p>
        </p:txBody>
      </p:sp>
    </p:spTree>
    <p:extLst>
      <p:ext uri="{BB962C8B-B14F-4D97-AF65-F5344CB8AC3E}">
        <p14:creationId xmlns:p14="http://schemas.microsoft.com/office/powerpoint/2010/main" val="104136185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</TotalTime>
  <Words>318</Words>
  <Application>Microsoft Office PowerPoint</Application>
  <PresentationFormat>On-screen Show (4:3)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Wisp</vt:lpstr>
      <vt:lpstr>Mixtures</vt:lpstr>
      <vt:lpstr>PowerPoint Presentation</vt:lpstr>
      <vt:lpstr>Sorting Substances</vt:lpstr>
      <vt:lpstr>Classifying Substances</vt:lpstr>
      <vt:lpstr>Pure substances</vt:lpstr>
      <vt:lpstr>Mixtures</vt:lpstr>
      <vt:lpstr>Homogeneous materials</vt:lpstr>
      <vt:lpstr>Heterogeneous materials</vt:lpstr>
      <vt:lpstr>PowerPoint Presentation</vt:lpstr>
      <vt:lpstr>Separating Mixtures</vt:lpstr>
      <vt:lpstr>Methods of separation</vt:lpstr>
      <vt:lpstr>PowerPoint Presentation</vt:lpstr>
      <vt:lpstr>Solubility Curves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Mixtures</dc:title>
  <dc:creator>HOLLAND Katharine</dc:creator>
  <cp:lastModifiedBy>Shen-Kit Hia</cp:lastModifiedBy>
  <cp:revision>20</cp:revision>
  <dcterms:created xsi:type="dcterms:W3CDTF">2017-02-01T08:08:34Z</dcterms:created>
  <dcterms:modified xsi:type="dcterms:W3CDTF">2020-02-17T05:44:53Z</dcterms:modified>
</cp:coreProperties>
</file>
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76" r:id="rId4"/>
    <p:sldId id="287" r:id="rId5"/>
    <p:sldId id="288" r:id="rId6"/>
    <p:sldId id="265" r:id="rId7"/>
    <p:sldId id="260" r:id="rId8"/>
    <p:sldId id="262" r:id="rId9"/>
    <p:sldId id="264" r:id="rId10"/>
    <p:sldId id="267" r:id="rId11"/>
    <p:sldId id="289" r:id="rId12"/>
    <p:sldId id="268" r:id="rId13"/>
    <p:sldId id="270" r:id="rId14"/>
    <p:sldId id="271" r:id="rId15"/>
    <p:sldId id="272" r:id="rId16"/>
    <p:sldId id="263" r:id="rId17"/>
    <p:sldId id="266" r:id="rId18"/>
    <p:sldId id="259" r:id="rId19"/>
    <p:sldId id="273" r:id="rId20"/>
    <p:sldId id="274" r:id="rId21"/>
    <p:sldId id="275" r:id="rId22"/>
    <p:sldId id="279" r:id="rId23"/>
    <p:sldId id="290" r:id="rId24"/>
    <p:sldId id="285" r:id="rId25"/>
    <p:sldId id="277" r:id="rId26"/>
    <p:sldId id="284" r:id="rId27"/>
    <p:sldId id="258" r:id="rId28"/>
    <p:sldId id="278" r:id="rId29"/>
    <p:sldId id="281" r:id="rId30"/>
    <p:sldId id="282" r:id="rId31"/>
    <p:sldId id="283" r:id="rId32"/>
    <p:sldId id="286" r:id="rId33"/>
    <p:sldId id="261" r:id="rId34"/>
    <p:sldId id="294" r:id="rId35"/>
    <p:sldId id="291" r:id="rId36"/>
    <p:sldId id="292" r:id="rId37"/>
    <p:sldId id="295" r:id="rId38"/>
    <p:sldId id="293" r:id="rId39"/>
    <p:sldId id="280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8" autoAdjust="0"/>
  </p:normalViewPr>
  <p:slideViewPr>
    <p:cSldViewPr snapToGrid="0">
      <p:cViewPr varScale="1">
        <p:scale>
          <a:sx n="80" d="100"/>
          <a:sy n="80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8" d="100"/>
        <a:sy n="58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EB57A-7842-480C-B950-FC152594EFBE}" type="datetimeFigureOut">
              <a:rPr lang="en-AU" smtClean="0"/>
              <a:t>13/03/2020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92802-A9FC-4245-9C5D-CE084F0C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2269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92802-A9FC-4245-9C5D-CE084F0CCFD3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1948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045093-0524-476F-BDDA-33B4CABE53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0F753B-6F05-4B83-A0F0-A24F21D01C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1947A8-3158-433D-B3A7-34BB14819E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08BC06-A9EF-4979-8245-D33D7F3883B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58120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3EBDFB2-8FDA-45B8-82B8-70B9809309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E3C2684-7830-4A08-80FF-81F554F723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D1DE293-B65C-4DA3-8A52-6A181165AD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C504FB-B709-4E04-8E3D-F2C46E58109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79711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  <p:sldLayoutId id="2147483670" r:id="rId1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scienceabc.com/wp-content/uploads/2018/04/Niels-Bohr-Date-Unverified-LOC.jpg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GhAn8xZQ-d8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apuWi_Fbtys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1uPyq63aRvg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://jersey.uoregon.edu/vlab/elements/Elements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://www.google.com.au/url?sa=i&amp;rct=j&amp;q=&amp;esrc=s&amp;source=images&amp;cd=&amp;cad=rja&amp;uact=8&amp;ved=0ahUKEwiG3Z-XyqPLAhWLGJQKHbzfAnYQjRwIBw&amp;url=http%3A%2F%2Fwww.bbc.co.uk%2Fschools%2Fgcsebitesize%2Fscience%2Ftriple_edexcel%2Fqualitative_analysis%2Fqualitative_analysis%2Frevision%2F2%2F&amp;psig=AFQjCNH7KN1j3TrDB-S1WAGZQhM2PhtoQA&amp;ust=1457062287396542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77ED2-2707-4B8E-B8D3-D00246E40C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>
                <a:solidFill>
                  <a:schemeClr val="tx1">
                    <a:lumMod val="75000"/>
                  </a:schemeClr>
                </a:solidFill>
              </a:rPr>
              <a:t>Atomic Theory:</a:t>
            </a:r>
            <a:br>
              <a:rPr lang="en-AU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en-AU" dirty="0">
                <a:solidFill>
                  <a:schemeClr val="tx1">
                    <a:lumMod val="75000"/>
                  </a:schemeClr>
                </a:solidFill>
              </a:rPr>
              <a:t>Spectroscopy and Flame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2CD26E-1019-40EE-8D79-5D25784B5D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3553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52E1F374-E736-4B21-872C-CD788CA8C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u="sng" dirty="0">
                <a:solidFill>
                  <a:schemeClr val="tx1">
                    <a:lumMod val="75000"/>
                  </a:schemeClr>
                </a:solidFill>
              </a:rPr>
              <a:t>Atomic Absorption &amp; Emission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2C983-3C14-499D-BAD4-D9E7F5518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AU" sz="2800" b="1" dirty="0">
                <a:solidFill>
                  <a:schemeClr val="tx1">
                    <a:lumMod val="75000"/>
                  </a:schemeClr>
                </a:solidFill>
              </a:rPr>
              <a:t>Objectives:</a:t>
            </a:r>
          </a:p>
          <a:p>
            <a:pPr marL="0" indent="0">
              <a:buNone/>
              <a:defRPr/>
            </a:pPr>
            <a:endParaRPr lang="en-AU" sz="2800" b="1" dirty="0">
              <a:solidFill>
                <a:schemeClr val="tx1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AU" sz="2400" dirty="0">
                <a:solidFill>
                  <a:schemeClr val="tx1">
                    <a:lumMod val="75000"/>
                  </a:schemeClr>
                </a:solidFill>
              </a:rPr>
              <a:t>Explain how the transition of electrons between energy levels can produce atomic absorption and emission line spectra.</a:t>
            </a:r>
          </a:p>
          <a:p>
            <a:pPr marL="0" indent="0">
              <a:buNone/>
              <a:defRPr/>
            </a:pPr>
            <a:endParaRPr lang="en-AU" sz="2400" dirty="0">
              <a:solidFill>
                <a:schemeClr val="tx1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AU" sz="2400" dirty="0">
                <a:solidFill>
                  <a:schemeClr val="tx1">
                    <a:lumMod val="75000"/>
                  </a:schemeClr>
                </a:solidFill>
              </a:rPr>
              <a:t>Explain how flame tests and atomic absorption spectroscopy (AAS) can be used to identify elements. </a:t>
            </a:r>
          </a:p>
        </p:txBody>
      </p:sp>
    </p:spTree>
    <p:extLst>
      <p:ext uri="{BB962C8B-B14F-4D97-AF65-F5344CB8AC3E}">
        <p14:creationId xmlns:p14="http://schemas.microsoft.com/office/powerpoint/2010/main" val="4086146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2">
            <a:extLst>
              <a:ext uri="{FF2B5EF4-FFF2-40B4-BE49-F238E27FC236}">
                <a16:creationId xmlns:a16="http://schemas.microsoft.com/office/drawing/2014/main" id="{C42A255B-FC0C-4B01-881B-712CC9A623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779373"/>
            <a:ext cx="8229600" cy="4346790"/>
          </a:xfrm>
        </p:spPr>
        <p:txBody>
          <a:bodyPr>
            <a:normAutofit/>
          </a:bodyPr>
          <a:lstStyle/>
          <a:p>
            <a:r>
              <a:rPr lang="en-GB" altLang="en-US" sz="2800" dirty="0"/>
              <a:t>Bohr’s model was helpful:</a:t>
            </a:r>
          </a:p>
          <a:p>
            <a:pPr lvl="1"/>
            <a:r>
              <a:rPr lang="en-GB" altLang="en-US" sz="2800" dirty="0"/>
              <a:t>Explained atomic spectra</a:t>
            </a:r>
          </a:p>
          <a:p>
            <a:pPr lvl="1"/>
            <a:r>
              <a:rPr lang="en-GB" altLang="en-US" sz="2800" dirty="0"/>
              <a:t>Gave a model for electronic structure. </a:t>
            </a:r>
            <a:br>
              <a:rPr lang="en-GB" altLang="en-US" sz="2800" dirty="0"/>
            </a:br>
            <a:endParaRPr lang="en-GB" altLang="en-US" sz="2800" dirty="0"/>
          </a:p>
          <a:p>
            <a:r>
              <a:rPr lang="en-GB" altLang="en-US" sz="2800" dirty="0"/>
              <a:t>It was also revolutionary:</a:t>
            </a:r>
          </a:p>
          <a:p>
            <a:pPr lvl="1"/>
            <a:r>
              <a:rPr lang="en-GB" altLang="en-US" sz="2800" dirty="0"/>
              <a:t>Used idea of quantisation of energy, electrons can only have certain amounts of energy (quanta).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036DA5-BAF6-4EF5-B773-6B5C6A1B94CE}"/>
              </a:ext>
            </a:extLst>
          </p:cNvPr>
          <p:cNvSpPr/>
          <p:nvPr/>
        </p:nvSpPr>
        <p:spPr>
          <a:xfrm>
            <a:off x="7414615" y="819787"/>
            <a:ext cx="38491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400" b="1" cap="all" dirty="0">
                <a:latin typeface="lato"/>
              </a:rPr>
              <a:t>NIELS BOHR (1885–1962)</a:t>
            </a:r>
            <a:endParaRPr lang="en-AU" sz="2400" b="1" dirty="0"/>
          </a:p>
        </p:txBody>
      </p:sp>
      <p:pic>
        <p:nvPicPr>
          <p:cNvPr id="3" name="Picture 2" descr="Niels Bohr Date Unverified LOC">
            <a:hlinkClick r:id="rId2"/>
            <a:extLst>
              <a:ext uri="{FF2B5EF4-FFF2-40B4-BE49-F238E27FC236}">
                <a16:creationId xmlns:a16="http://schemas.microsoft.com/office/drawing/2014/main" id="{0FCFA881-2A93-46FF-BF94-574AB7507AD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382" y="2112818"/>
            <a:ext cx="3775364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1715A4-D986-4251-B170-C912D4779654}"/>
              </a:ext>
            </a:extLst>
          </p:cNvPr>
          <p:cNvSpPr txBox="1"/>
          <p:nvPr/>
        </p:nvSpPr>
        <p:spPr>
          <a:xfrm>
            <a:off x="1177636" y="1696099"/>
            <a:ext cx="551410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AU" sz="2000" dirty="0"/>
              <a:t>Niels Bohr was a Danish physicist and is considered one of the founding fathers of quantum mechanics, precisely </a:t>
            </a:r>
            <a:r>
              <a:rPr lang="en-AU" sz="2000" i="1" dirty="0"/>
              <a:t>old </a:t>
            </a:r>
            <a:r>
              <a:rPr lang="en-AU" sz="2000" dirty="0"/>
              <a:t>quantum mechanics. For his exemplary contributions to science, the Carlsberg brewing company decided to give him a house situated right next to one of their breweries. The house was connected to the brewery by a pipeline. Bohr was rewarded with a lifetime supply of free beer that would pour out of a tap at his whim. What extraordinary feat did Niels Bohr accomplish to deserve this prestigious </a:t>
            </a:r>
            <a:r>
              <a:rPr lang="en-AU" sz="2000" dirty="0" err="1"/>
              <a:t>honor</a:t>
            </a:r>
            <a:r>
              <a:rPr lang="en-AU" sz="2000" dirty="0"/>
              <a:t>, and well, a Nobel Prize?</a:t>
            </a:r>
          </a:p>
        </p:txBody>
      </p:sp>
    </p:spTree>
    <p:extLst>
      <p:ext uri="{BB962C8B-B14F-4D97-AF65-F5344CB8AC3E}">
        <p14:creationId xmlns:p14="http://schemas.microsoft.com/office/powerpoint/2010/main" val="2721235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s://chem.libretexts.org/@api/deki/files/34215/bohr.jpg?revision=1">
            <a:extLst>
              <a:ext uri="{FF2B5EF4-FFF2-40B4-BE49-F238E27FC236}">
                <a16:creationId xmlns:a16="http://schemas.microsoft.com/office/drawing/2014/main" id="{63491F77-B426-4BF4-ACD3-5E82CA724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255" y="2375500"/>
            <a:ext cx="2171700" cy="2888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0E48938-2DB6-4ECF-8026-060EF6723BE2}"/>
              </a:ext>
            </a:extLst>
          </p:cNvPr>
          <p:cNvSpPr/>
          <p:nvPr/>
        </p:nvSpPr>
        <p:spPr>
          <a:xfrm>
            <a:off x="4786745" y="1674674"/>
            <a:ext cx="6289964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During the Nazi occupation of Denmark in World War II, </a:t>
            </a:r>
            <a:r>
              <a:rPr lang="en-US" sz="2000" dirty="0" err="1">
                <a:solidFill>
                  <a:srgbClr val="000000"/>
                </a:solidFill>
              </a:rPr>
              <a:t>t</a:t>
            </a:r>
            <a:r>
              <a:rPr lang="en-US" sz="2000" dirty="0" err="1"/>
              <a:t>During</a:t>
            </a:r>
            <a:r>
              <a:rPr lang="en-US" sz="2000" dirty="0"/>
              <a:t> the Nazi occupation of Denmark in World War II, Bohr escaped to the United States, where he became associated with the Atomic Energy </a:t>
            </a:r>
            <a:r>
              <a:rPr lang="en-US" sz="2000" dirty="0" err="1"/>
              <a:t>Project.</a:t>
            </a:r>
            <a:r>
              <a:rPr lang="en-US" sz="2000" dirty="0" err="1">
                <a:solidFill>
                  <a:srgbClr val="000000"/>
                </a:solidFill>
              </a:rPr>
              <a:t>h</a:t>
            </a:r>
            <a:endParaRPr lang="en-AU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48F3C2-B4DD-4A21-87BD-5EAB0C9C00A1}"/>
              </a:ext>
            </a:extLst>
          </p:cNvPr>
          <p:cNvSpPr/>
          <p:nvPr/>
        </p:nvSpPr>
        <p:spPr>
          <a:xfrm>
            <a:off x="4883727" y="3611434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cs typeface="Arial" panose="020B0604020202020204" pitchFamily="34" charset="0"/>
              </a:rPr>
              <a:t>In his final years, he devoted himself to the peaceful application of atomic physics and to resolving political problems arising from the development of atomic weapons.</a:t>
            </a:r>
            <a:endParaRPr lang="en-AU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69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rainbow">
            <a:extLst>
              <a:ext uri="{FF2B5EF4-FFF2-40B4-BE49-F238E27FC236}">
                <a16:creationId xmlns:a16="http://schemas.microsoft.com/office/drawing/2014/main" id="{8050FCF7-0626-437A-8A6B-5D19871D8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132" y="1071665"/>
            <a:ext cx="6705600" cy="55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677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Related image">
            <a:extLst>
              <a:ext uri="{FF2B5EF4-FFF2-40B4-BE49-F238E27FC236}">
                <a16:creationId xmlns:a16="http://schemas.microsoft.com/office/drawing/2014/main" id="{213D796C-AE26-47D3-8739-C8141932A16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32" y="2064253"/>
            <a:ext cx="8668011" cy="423379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E2A0529-B913-4D71-9667-4CBB9C04C190}"/>
              </a:ext>
            </a:extLst>
          </p:cNvPr>
          <p:cNvSpPr txBox="1"/>
          <p:nvPr/>
        </p:nvSpPr>
        <p:spPr>
          <a:xfrm>
            <a:off x="6784648" y="425220"/>
            <a:ext cx="4484317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AU" sz="2000" b="1" dirty="0">
                <a:solidFill>
                  <a:schemeClr val="tx1">
                    <a:lumMod val="75000"/>
                  </a:schemeClr>
                </a:solidFill>
              </a:rPr>
              <a:t>When light shines through a prism, the light separates into  pattern of colours. The pattern of colours is called a spectrum. Each colour of spectrum represents different wave length.</a:t>
            </a:r>
          </a:p>
        </p:txBody>
      </p:sp>
    </p:spTree>
    <p:extLst>
      <p:ext uri="{BB962C8B-B14F-4D97-AF65-F5344CB8AC3E}">
        <p14:creationId xmlns:p14="http://schemas.microsoft.com/office/powerpoint/2010/main" val="2117158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wavelength and frequency">
            <a:extLst>
              <a:ext uri="{FF2B5EF4-FFF2-40B4-BE49-F238E27FC236}">
                <a16:creationId xmlns:a16="http://schemas.microsoft.com/office/drawing/2014/main" id="{8AB883C1-F80F-4C9F-AC3B-FBF7A0216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672" y="1087189"/>
            <a:ext cx="10526994" cy="563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289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C94B286-D2AC-4CF4-949C-28E514314F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u="sng" dirty="0"/>
              <a:t>Light:     Wave or particle?</a:t>
            </a:r>
          </a:p>
        </p:txBody>
      </p:sp>
      <p:sp>
        <p:nvSpPr>
          <p:cNvPr id="3075" name="Content Placeholder 1">
            <a:extLst>
              <a:ext uri="{FF2B5EF4-FFF2-40B4-BE49-F238E27FC236}">
                <a16:creationId xmlns:a16="http://schemas.microsoft.com/office/drawing/2014/main" id="{F5602737-2038-41C1-A142-F55609D3DC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8310" y="2914997"/>
            <a:ext cx="10820400" cy="2938550"/>
          </a:xfrm>
        </p:spPr>
        <p:txBody>
          <a:bodyPr/>
          <a:lstStyle/>
          <a:p>
            <a:pPr eaLnBrk="1" hangingPunct="1"/>
            <a:r>
              <a:rPr lang="en-GB" altLang="en-US" dirty="0"/>
              <a:t>Two models to describe behaviour of light:</a:t>
            </a:r>
          </a:p>
          <a:p>
            <a:pPr lvl="1" eaLnBrk="1" hangingPunct="1"/>
            <a:r>
              <a:rPr lang="en-GB" altLang="en-US" dirty="0"/>
              <a:t>Wave model</a:t>
            </a:r>
          </a:p>
          <a:p>
            <a:pPr lvl="1" eaLnBrk="1" hangingPunct="1"/>
            <a:r>
              <a:rPr lang="en-GB" altLang="en-US" dirty="0"/>
              <a:t>Particle model</a:t>
            </a:r>
            <a:br>
              <a:rPr lang="en-GB" altLang="en-US" dirty="0"/>
            </a:br>
            <a:endParaRPr lang="en-GB" altLang="en-US" dirty="0"/>
          </a:p>
          <a:p>
            <a:pPr eaLnBrk="1" hangingPunct="1"/>
            <a:r>
              <a:rPr lang="en-GB" altLang="en-US" dirty="0"/>
              <a:t>Neither fully explains properties of light</a:t>
            </a:r>
          </a:p>
          <a:p>
            <a:pPr eaLnBrk="1" hangingPunct="1"/>
            <a:r>
              <a:rPr lang="en-GB" altLang="en-US" dirty="0"/>
              <a:t>Choose the model most appropriate to the situation. </a:t>
            </a:r>
          </a:p>
        </p:txBody>
      </p:sp>
    </p:spTree>
    <p:extLst>
      <p:ext uri="{BB962C8B-B14F-4D97-AF65-F5344CB8AC3E}">
        <p14:creationId xmlns:p14="http://schemas.microsoft.com/office/powerpoint/2010/main" val="1040815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DA2DAB95-3C6B-488F-A672-664494B7C0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20638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u="sng"/>
              <a:t>Wave theory of light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08A71047-BEA3-4429-8BAB-4C93866C0D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981076"/>
            <a:ext cx="8229600" cy="4525963"/>
          </a:xfrm>
        </p:spPr>
        <p:txBody>
          <a:bodyPr/>
          <a:lstStyle/>
          <a:p>
            <a:pPr eaLnBrk="1" hangingPunct="1"/>
            <a:r>
              <a:rPr lang="en-GB" altLang="en-US"/>
              <a:t>Wavelength (</a:t>
            </a:r>
            <a:r>
              <a:rPr lang="el-GR" altLang="en-US"/>
              <a:t>λ</a:t>
            </a:r>
            <a:r>
              <a:rPr lang="en-GB" altLang="en-US"/>
              <a:t>) = distance between peaks, in metres (m).</a:t>
            </a:r>
          </a:p>
          <a:p>
            <a:pPr eaLnBrk="1" hangingPunct="1"/>
            <a:r>
              <a:rPr lang="en-GB" altLang="en-US"/>
              <a:t>Frequency (</a:t>
            </a:r>
            <a:r>
              <a:rPr lang="el-GR" altLang="en-US"/>
              <a:t>ν</a:t>
            </a:r>
            <a:r>
              <a:rPr lang="en-GB" altLang="en-US"/>
              <a:t>) = number of cycles per second, in Hertz (Hz). </a:t>
            </a:r>
          </a:p>
        </p:txBody>
      </p:sp>
      <p:pic>
        <p:nvPicPr>
          <p:cNvPr id="4100" name="Picture 2">
            <a:extLst>
              <a:ext uri="{FF2B5EF4-FFF2-40B4-BE49-F238E27FC236}">
                <a16:creationId xmlns:a16="http://schemas.microsoft.com/office/drawing/2014/main" id="{228DC545-E910-4508-B2A9-B66630D34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688" y="2292007"/>
            <a:ext cx="6292850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wavelength and frequency">
            <a:extLst>
              <a:ext uri="{FF2B5EF4-FFF2-40B4-BE49-F238E27FC236}">
                <a16:creationId xmlns:a16="http://schemas.microsoft.com/office/drawing/2014/main" id="{8AB883C1-F80F-4C9F-AC3B-FBF7A0216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672" y="1087189"/>
            <a:ext cx="10526994" cy="563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336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A069572-5B89-4346-87B7-3642C1BD92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14500" y="3542270"/>
            <a:ext cx="8229600" cy="121388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GB" altLang="en-US" sz="8000" dirty="0">
                <a:latin typeface="Arial" panose="020B0604020202020204" pitchFamily="34" charset="0"/>
                <a:cs typeface="Arial" panose="020B0604020202020204" pitchFamily="34" charset="0"/>
              </a:rPr>
              <a:t>c = </a:t>
            </a:r>
            <a:r>
              <a:rPr lang="en-AU" altLang="en-US" sz="8000" dirty="0">
                <a:latin typeface="Arial" panose="020B0604020202020204" pitchFamily="34" charset="0"/>
                <a:cs typeface="Arial" panose="020B0604020202020204" pitchFamily="34" charset="0"/>
              </a:rPr>
              <a:t>V </a:t>
            </a:r>
            <a:r>
              <a:rPr lang="el-GR" altLang="en-US" sz="8000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</a:p>
        </p:txBody>
      </p:sp>
      <p:sp>
        <p:nvSpPr>
          <p:cNvPr id="5123" name="Content Placeholder 3">
            <a:extLst>
              <a:ext uri="{FF2B5EF4-FFF2-40B4-BE49-F238E27FC236}">
                <a16:creationId xmlns:a16="http://schemas.microsoft.com/office/drawing/2014/main" id="{97E8E613-EEC2-4C58-B353-347D8CD1A2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30643" y="741623"/>
            <a:ext cx="8229600" cy="2430462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2400" dirty="0"/>
              <a:t>Speed of light is same for all types of electromagnetic radiation: 3.00 x 10</a:t>
            </a:r>
            <a:r>
              <a:rPr lang="en-GB" altLang="en-US" sz="2400" baseline="30000" dirty="0"/>
              <a:t>8 </a:t>
            </a:r>
            <a:r>
              <a:rPr lang="en-GB" altLang="en-US" sz="2400" dirty="0"/>
              <a:t>m/s</a:t>
            </a:r>
            <a:br>
              <a:rPr lang="en-GB" altLang="en-US" sz="2400" dirty="0"/>
            </a:br>
            <a:endParaRPr lang="en-GB" altLang="en-US" sz="2400" dirty="0"/>
          </a:p>
          <a:p>
            <a:pPr eaLnBrk="1" hangingPunct="1"/>
            <a:r>
              <a:rPr lang="en-GB" altLang="en-US" sz="2400" dirty="0"/>
              <a:t>Wave speed, frequency &amp; wavelength related by the wave equation:</a:t>
            </a:r>
          </a:p>
        </p:txBody>
      </p:sp>
      <p:grpSp>
        <p:nvGrpSpPr>
          <p:cNvPr id="5124" name="Group 1">
            <a:extLst>
              <a:ext uri="{FF2B5EF4-FFF2-40B4-BE49-F238E27FC236}">
                <a16:creationId xmlns:a16="http://schemas.microsoft.com/office/drawing/2014/main" id="{10D966A2-1BE8-42EB-B11B-823DF1449849}"/>
              </a:ext>
            </a:extLst>
          </p:cNvPr>
          <p:cNvGrpSpPr>
            <a:grpSpLocks/>
          </p:cNvGrpSpPr>
          <p:nvPr/>
        </p:nvGrpSpPr>
        <p:grpSpPr bwMode="auto">
          <a:xfrm>
            <a:off x="1922721" y="3023970"/>
            <a:ext cx="7578625" cy="2618092"/>
            <a:chOff x="1071205" y="1763719"/>
            <a:chExt cx="7578910" cy="2618314"/>
          </a:xfrm>
        </p:grpSpPr>
        <p:sp>
          <p:nvSpPr>
            <p:cNvPr id="5125" name="Text Box 6">
              <a:extLst>
                <a:ext uri="{FF2B5EF4-FFF2-40B4-BE49-F238E27FC236}">
                  <a16:creationId xmlns:a16="http://schemas.microsoft.com/office/drawing/2014/main" id="{5C088773-9B38-47CD-B033-6585406E8F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1205" y="1763719"/>
              <a:ext cx="4015994" cy="461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 dirty="0"/>
                <a:t>Speed of light = 3 x 10</a:t>
              </a:r>
              <a:r>
                <a:rPr lang="en-GB" altLang="en-US" sz="2400" baseline="30000" dirty="0"/>
                <a:t>8</a:t>
              </a:r>
              <a:r>
                <a:rPr lang="en-GB" altLang="en-US" sz="2400" dirty="0"/>
                <a:t> m/s</a:t>
              </a:r>
            </a:p>
          </p:txBody>
        </p:sp>
        <p:sp>
          <p:nvSpPr>
            <p:cNvPr id="5126" name="Line 7">
              <a:extLst>
                <a:ext uri="{FF2B5EF4-FFF2-40B4-BE49-F238E27FC236}">
                  <a16:creationId xmlns:a16="http://schemas.microsoft.com/office/drawing/2014/main" id="{B088F1A0-C675-4DA1-B2E6-74F7E92CC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2493" y="2168783"/>
              <a:ext cx="571922" cy="5460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27" name="Text Box 8">
              <a:extLst>
                <a:ext uri="{FF2B5EF4-FFF2-40B4-BE49-F238E27FC236}">
                  <a16:creationId xmlns:a16="http://schemas.microsoft.com/office/drawing/2014/main" id="{26050F34-C944-4953-8134-EAA197D52C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9167" y="3920329"/>
              <a:ext cx="3034919" cy="461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/>
                <a:t>Frequency in Hz (s</a:t>
              </a:r>
              <a:r>
                <a:rPr lang="en-GB" altLang="en-US" sz="2400" baseline="30000"/>
                <a:t>-1</a:t>
              </a:r>
              <a:r>
                <a:rPr lang="en-GB" altLang="en-US" sz="2400"/>
                <a:t>)</a:t>
              </a:r>
            </a:p>
          </p:txBody>
        </p:sp>
        <p:sp>
          <p:nvSpPr>
            <p:cNvPr id="5128" name="Text Box 9">
              <a:extLst>
                <a:ext uri="{FF2B5EF4-FFF2-40B4-BE49-F238E27FC236}">
                  <a16:creationId xmlns:a16="http://schemas.microsoft.com/office/drawing/2014/main" id="{23B1BCAC-3EEB-4034-9361-9B74300DD2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9343" y="3866262"/>
              <a:ext cx="2480772" cy="4617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/>
                <a:t>Wavelength in m</a:t>
              </a:r>
            </a:p>
          </p:txBody>
        </p:sp>
        <p:sp>
          <p:nvSpPr>
            <p:cNvPr id="5129" name="Line 10">
              <a:extLst>
                <a:ext uri="{FF2B5EF4-FFF2-40B4-BE49-F238E27FC236}">
                  <a16:creationId xmlns:a16="http://schemas.microsoft.com/office/drawing/2014/main" id="{2BAC5ECF-364C-40B8-B372-0CE652D00D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5937" y="3428997"/>
              <a:ext cx="1044376" cy="4913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30" name="Line 11">
              <a:extLst>
                <a:ext uri="{FF2B5EF4-FFF2-40B4-BE49-F238E27FC236}">
                  <a16:creationId xmlns:a16="http://schemas.microsoft.com/office/drawing/2014/main" id="{B131410B-D6FC-4241-8AB0-046C7B78A4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679558" y="3374386"/>
              <a:ext cx="517525" cy="5459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2">
            <a:extLst>
              <a:ext uri="{FF2B5EF4-FFF2-40B4-BE49-F238E27FC236}">
                <a16:creationId xmlns:a16="http://schemas.microsoft.com/office/drawing/2014/main" id="{85900A53-FE0F-4393-8664-195218D2EF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u="sng"/>
              <a:t>Particle theory of light</a:t>
            </a:r>
          </a:p>
        </p:txBody>
      </p:sp>
      <p:sp>
        <p:nvSpPr>
          <p:cNvPr id="7171" name="Content Placeholder 3">
            <a:extLst>
              <a:ext uri="{FF2B5EF4-FFF2-40B4-BE49-F238E27FC236}">
                <a16:creationId xmlns:a16="http://schemas.microsoft.com/office/drawing/2014/main" id="{01F0E116-6799-4837-A93A-12CC7A5972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6800" y="2901143"/>
            <a:ext cx="10820400" cy="3021676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2800" dirty="0"/>
              <a:t>Idea first proposed by Einstein in 1905. </a:t>
            </a:r>
            <a:br>
              <a:rPr lang="en-GB" altLang="en-US" sz="2800" dirty="0"/>
            </a:br>
            <a:endParaRPr lang="en-GB" altLang="en-US" sz="2800" dirty="0"/>
          </a:p>
          <a:p>
            <a:pPr eaLnBrk="1" hangingPunct="1"/>
            <a:r>
              <a:rPr lang="en-GB" altLang="en-US" sz="2800" dirty="0"/>
              <a:t>Light is a stream of photons – tiny packets of energy. </a:t>
            </a:r>
            <a:br>
              <a:rPr lang="en-GB" altLang="en-US" sz="2800" dirty="0"/>
            </a:br>
            <a:endParaRPr lang="en-GB" altLang="en-US" sz="2800" dirty="0"/>
          </a:p>
          <a:p>
            <a:pPr eaLnBrk="1" hangingPunct="1"/>
            <a:r>
              <a:rPr lang="en-GB" altLang="en-US" sz="2800" dirty="0"/>
              <a:t>Photons have no mass.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87D1A6A1-9592-4714-9DF6-F1BA5AEC22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95941" y="857193"/>
            <a:ext cx="8229600" cy="1511300"/>
          </a:xfrm>
        </p:spPr>
        <p:txBody>
          <a:bodyPr/>
          <a:lstStyle/>
          <a:p>
            <a:pPr eaLnBrk="1" hangingPunct="1"/>
            <a:r>
              <a:rPr lang="en-GB" altLang="en-US"/>
              <a:t>Energy of photon related to frequency of light wave by the Planck constant. </a:t>
            </a:r>
          </a:p>
        </p:txBody>
      </p:sp>
      <p:grpSp>
        <p:nvGrpSpPr>
          <p:cNvPr id="8196" name="Group 1">
            <a:extLst>
              <a:ext uri="{FF2B5EF4-FFF2-40B4-BE49-F238E27FC236}">
                <a16:creationId xmlns:a16="http://schemas.microsoft.com/office/drawing/2014/main" id="{B3CEAD92-2BE3-431B-84D8-F3BD9BC677AB}"/>
              </a:ext>
            </a:extLst>
          </p:cNvPr>
          <p:cNvGrpSpPr>
            <a:grpSpLocks/>
          </p:cNvGrpSpPr>
          <p:nvPr/>
        </p:nvGrpSpPr>
        <p:grpSpPr bwMode="auto">
          <a:xfrm>
            <a:off x="976656" y="2047746"/>
            <a:ext cx="8440810" cy="3547076"/>
            <a:chOff x="10813" y="916187"/>
            <a:chExt cx="8440811" cy="3546276"/>
          </a:xfrm>
        </p:grpSpPr>
        <p:sp>
          <p:nvSpPr>
            <p:cNvPr id="8197" name="Text Box 6">
              <a:extLst>
                <a:ext uri="{FF2B5EF4-FFF2-40B4-BE49-F238E27FC236}">
                  <a16:creationId xmlns:a16="http://schemas.microsoft.com/office/drawing/2014/main" id="{B4C89BEE-F800-45D3-8EED-F39FEF4F2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4899" y="4005263"/>
              <a:ext cx="300672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/>
                <a:t>Frequency in Hz (s</a:t>
              </a:r>
              <a:r>
                <a:rPr lang="en-GB" altLang="en-US" sz="2400" baseline="30000"/>
                <a:t>-1</a:t>
              </a:r>
              <a:r>
                <a:rPr lang="en-GB" altLang="en-US" sz="2400"/>
                <a:t>)</a:t>
              </a:r>
            </a:p>
          </p:txBody>
        </p:sp>
        <p:sp>
          <p:nvSpPr>
            <p:cNvPr id="8198" name="Line 7">
              <a:extLst>
                <a:ext uri="{FF2B5EF4-FFF2-40B4-BE49-F238E27FC236}">
                  <a16:creationId xmlns:a16="http://schemas.microsoft.com/office/drawing/2014/main" id="{F0DDD850-4B97-4837-B4AF-B9C63E3B36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075345" y="3338294"/>
              <a:ext cx="576063" cy="7202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199" name="Text Box 8">
              <a:extLst>
                <a:ext uri="{FF2B5EF4-FFF2-40B4-BE49-F238E27FC236}">
                  <a16:creationId xmlns:a16="http://schemas.microsoft.com/office/drawing/2014/main" id="{6CC55BA3-C56C-4F20-A8F9-55344EF43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242" y="3770540"/>
              <a:ext cx="3098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400"/>
                <a:t>Energy of photon in J</a:t>
              </a:r>
            </a:p>
          </p:txBody>
        </p:sp>
        <p:sp>
          <p:nvSpPr>
            <p:cNvPr id="8200" name="Line 9">
              <a:extLst>
                <a:ext uri="{FF2B5EF4-FFF2-40B4-BE49-F238E27FC236}">
                  <a16:creationId xmlns:a16="http://schemas.microsoft.com/office/drawing/2014/main" id="{47778EE0-252E-44EB-A09F-F59F0FFEAC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9673" y="3122840"/>
              <a:ext cx="492878" cy="647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8201" name="Text Box 10">
              <a:extLst>
                <a:ext uri="{FF2B5EF4-FFF2-40B4-BE49-F238E27FC236}">
                  <a16:creationId xmlns:a16="http://schemas.microsoft.com/office/drawing/2014/main" id="{8157A453-1926-4C1C-919E-EE84D5AC6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13" y="916187"/>
              <a:ext cx="8307388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3600" dirty="0">
                  <a:solidFill>
                    <a:srgbClr val="FF0000"/>
                  </a:solidFill>
                </a:rPr>
                <a:t>Planck Constant = 6.63 x 10</a:t>
              </a:r>
              <a:r>
                <a:rPr lang="en-GB" altLang="en-US" sz="3600" baseline="30000" dirty="0">
                  <a:solidFill>
                    <a:srgbClr val="FF0000"/>
                  </a:solidFill>
                </a:rPr>
                <a:t>-34</a:t>
              </a:r>
              <a:r>
                <a:rPr lang="en-GB" altLang="en-US" sz="3600" dirty="0">
                  <a:solidFill>
                    <a:srgbClr val="FF0000"/>
                  </a:solidFill>
                </a:rPr>
                <a:t> </a:t>
              </a:r>
              <a:r>
                <a:rPr lang="en-GB" altLang="en-US" sz="3600" dirty="0" err="1">
                  <a:solidFill>
                    <a:srgbClr val="FF0000"/>
                  </a:solidFill>
                </a:rPr>
                <a:t>Js</a:t>
              </a:r>
              <a:r>
                <a:rPr lang="en-GB" altLang="en-US" sz="3600" dirty="0">
                  <a:solidFill>
                    <a:srgbClr val="FF0000"/>
                  </a:solidFill>
                </a:rPr>
                <a:t> (JHz</a:t>
              </a:r>
              <a:r>
                <a:rPr lang="en-GB" altLang="en-US" sz="3600" baseline="30000" dirty="0">
                  <a:solidFill>
                    <a:srgbClr val="FF0000"/>
                  </a:solidFill>
                </a:rPr>
                <a:t>-1</a:t>
              </a:r>
              <a:r>
                <a:rPr lang="en-GB" altLang="en-US" sz="3600" dirty="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8202" name="Line 11">
              <a:extLst>
                <a:ext uri="{FF2B5EF4-FFF2-40B4-BE49-F238E27FC236}">
                  <a16:creationId xmlns:a16="http://schemas.microsoft.com/office/drawing/2014/main" id="{A1080B1A-FF02-42B2-BBE8-C426EC95E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2274" y="1755063"/>
              <a:ext cx="216024" cy="5760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68B9E45-2CF1-4238-B372-7DC6AAB2C53D}"/>
              </a:ext>
            </a:extLst>
          </p:cNvPr>
          <p:cNvSpPr txBox="1"/>
          <p:nvPr/>
        </p:nvSpPr>
        <p:spPr>
          <a:xfrm>
            <a:off x="2520778" y="3245111"/>
            <a:ext cx="6474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7200" dirty="0"/>
              <a:t>  E  =  h  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2">
            <a:extLst>
              <a:ext uri="{FF2B5EF4-FFF2-40B4-BE49-F238E27FC236}">
                <a16:creationId xmlns:a16="http://schemas.microsoft.com/office/drawing/2014/main" id="{DD1C5A3F-B7C7-4122-9896-F9DEF15AD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5578" y="523747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u="sng" dirty="0"/>
              <a:t>Atomic Spectra</a:t>
            </a:r>
          </a:p>
        </p:txBody>
      </p:sp>
      <p:sp>
        <p:nvSpPr>
          <p:cNvPr id="10243" name="Content Placeholder 3">
            <a:extLst>
              <a:ext uri="{FF2B5EF4-FFF2-40B4-BE49-F238E27FC236}">
                <a16:creationId xmlns:a16="http://schemas.microsoft.com/office/drawing/2014/main" id="{B7ED0114-364D-44DF-8540-B3A00D9F44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853513"/>
            <a:ext cx="8229600" cy="46711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Atoms can absorb energy, and become excited (in a higher energy state) by:</a:t>
            </a:r>
          </a:p>
          <a:p>
            <a:pPr lvl="1" eaLnBrk="1" hangingPunct="1"/>
            <a:r>
              <a:rPr lang="en-US" altLang="en-US" sz="2800" dirty="0"/>
              <a:t>Heat</a:t>
            </a:r>
          </a:p>
          <a:p>
            <a:pPr lvl="1" eaLnBrk="1" hangingPunct="1"/>
            <a:r>
              <a:rPr lang="en-US" altLang="en-US" sz="2800" dirty="0"/>
              <a:t>Electric discharge</a:t>
            </a:r>
          </a:p>
          <a:p>
            <a:pPr lvl="1" eaLnBrk="1" hangingPunct="1"/>
            <a:r>
              <a:rPr lang="en-US" altLang="en-US" sz="2800" dirty="0"/>
              <a:t>Electromagnetic radiation (photons)</a:t>
            </a:r>
            <a:br>
              <a:rPr lang="en-US" altLang="en-US" sz="2800" dirty="0"/>
            </a:br>
            <a:endParaRPr lang="en-US" altLang="en-US" sz="2800" dirty="0"/>
          </a:p>
          <a:p>
            <a:pPr eaLnBrk="1" hangingPunct="1"/>
            <a:r>
              <a:rPr lang="en-US" altLang="en-US" sz="2800" dirty="0"/>
              <a:t>Then they emit energy as electromagnetic radiation (UV, visible and IR photons), and return to their ground state.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4FFCE1-F12E-4BC5-A6F8-21B5DD5E6EC5}"/>
              </a:ext>
            </a:extLst>
          </p:cNvPr>
          <p:cNvSpPr/>
          <p:nvPr/>
        </p:nvSpPr>
        <p:spPr>
          <a:xfrm>
            <a:off x="3119865" y="3244334"/>
            <a:ext cx="59522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hlinkClick r:id="rId2"/>
              </a:rPr>
              <a:t>https://www.youtube.com/watch?v=GhAn8xZQ-d8</a:t>
            </a:r>
            <a:endParaRPr lang="en-AU" dirty="0"/>
          </a:p>
          <a:p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C2A64F-B09C-45C2-B701-2822619A7764}"/>
              </a:ext>
            </a:extLst>
          </p:cNvPr>
          <p:cNvSpPr txBox="1"/>
          <p:nvPr/>
        </p:nvSpPr>
        <p:spPr>
          <a:xfrm>
            <a:off x="5116286" y="1382485"/>
            <a:ext cx="254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Bozeman</a:t>
            </a:r>
          </a:p>
        </p:txBody>
      </p:sp>
    </p:spTree>
    <p:extLst>
      <p:ext uri="{BB962C8B-B14F-4D97-AF65-F5344CB8AC3E}">
        <p14:creationId xmlns:p14="http://schemas.microsoft.com/office/powerpoint/2010/main" val="1541084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93B0AD-F5C0-435B-815D-51D3F39C43AF}"/>
              </a:ext>
            </a:extLst>
          </p:cNvPr>
          <p:cNvSpPr/>
          <p:nvPr/>
        </p:nvSpPr>
        <p:spPr>
          <a:xfrm>
            <a:off x="3204824" y="3244334"/>
            <a:ext cx="57823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hlinkClick r:id="rId2"/>
              </a:rPr>
              <a:t>https://www.youtube.com/watch?v=apuWi_Fbtys</a:t>
            </a:r>
            <a:endParaRPr lang="en-AU" dirty="0"/>
          </a:p>
          <a:p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1E64D5-3078-4FCD-B79F-2A9177D9178D}"/>
              </a:ext>
            </a:extLst>
          </p:cNvPr>
          <p:cNvSpPr txBox="1"/>
          <p:nvPr/>
        </p:nvSpPr>
        <p:spPr>
          <a:xfrm>
            <a:off x="3423557" y="1692729"/>
            <a:ext cx="3782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one: Crash Chemistry Academy</a:t>
            </a:r>
          </a:p>
        </p:txBody>
      </p:sp>
    </p:spTree>
    <p:extLst>
      <p:ext uri="{BB962C8B-B14F-4D97-AF65-F5344CB8AC3E}">
        <p14:creationId xmlns:p14="http://schemas.microsoft.com/office/powerpoint/2010/main" val="1091393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554BA8-92FB-432F-AFAC-435DA3A7F901}"/>
              </a:ext>
            </a:extLst>
          </p:cNvPr>
          <p:cNvSpPr/>
          <p:nvPr/>
        </p:nvSpPr>
        <p:spPr>
          <a:xfrm>
            <a:off x="3143108" y="3244334"/>
            <a:ext cx="59057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hlinkClick r:id="rId2"/>
              </a:rPr>
              <a:t>https://www.youtube.com/watch?v=1uPyq63aRvg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42418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2">
            <a:extLst>
              <a:ext uri="{FF2B5EF4-FFF2-40B4-BE49-F238E27FC236}">
                <a16:creationId xmlns:a16="http://schemas.microsoft.com/office/drawing/2014/main" id="{DD1C5A3F-B7C7-4122-9896-F9DEF15ADC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2313" y="4763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u="sng"/>
              <a:t>Atomic Spectra</a:t>
            </a:r>
          </a:p>
        </p:txBody>
      </p:sp>
      <p:sp>
        <p:nvSpPr>
          <p:cNvPr id="10243" name="Content Placeholder 3">
            <a:extLst>
              <a:ext uri="{FF2B5EF4-FFF2-40B4-BE49-F238E27FC236}">
                <a16:creationId xmlns:a16="http://schemas.microsoft.com/office/drawing/2014/main" id="{B7ED0114-364D-44DF-8540-B3A00D9F44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196975"/>
            <a:ext cx="8229600" cy="53276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Atoms can absorb energy, and become excited (in a higher energy state) by:</a:t>
            </a:r>
          </a:p>
          <a:p>
            <a:pPr lvl="1" eaLnBrk="1" hangingPunct="1"/>
            <a:r>
              <a:rPr lang="en-US" altLang="en-US" sz="2800" dirty="0"/>
              <a:t>Heat</a:t>
            </a:r>
          </a:p>
          <a:p>
            <a:pPr lvl="1" eaLnBrk="1" hangingPunct="1"/>
            <a:r>
              <a:rPr lang="en-US" altLang="en-US" sz="2800" dirty="0"/>
              <a:t>Electric discharge</a:t>
            </a:r>
          </a:p>
          <a:p>
            <a:pPr lvl="1" eaLnBrk="1" hangingPunct="1"/>
            <a:r>
              <a:rPr lang="en-US" altLang="en-US" sz="2800" dirty="0"/>
              <a:t>Electromagnetic radiation (photons)</a:t>
            </a:r>
            <a:br>
              <a:rPr lang="en-US" altLang="en-US" sz="2800" dirty="0"/>
            </a:br>
            <a:endParaRPr lang="en-US" altLang="en-US" sz="2800" dirty="0"/>
          </a:p>
          <a:p>
            <a:pPr eaLnBrk="1" hangingPunct="1"/>
            <a:r>
              <a:rPr lang="en-US" altLang="en-US" sz="2800" dirty="0"/>
              <a:t>Then they emit energy as electromagnetic radiation (UV, visible and IR photons), and return to their ground state.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330848DD-D9F3-494A-B71A-FAD02A504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803402"/>
            <a:ext cx="9144000" cy="3100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4F1A35-2711-4E70-980C-1DF78DDAED79}"/>
              </a:ext>
            </a:extLst>
          </p:cNvPr>
          <p:cNvSpPr txBox="1"/>
          <p:nvPr/>
        </p:nvSpPr>
        <p:spPr>
          <a:xfrm>
            <a:off x="2135188" y="1243014"/>
            <a:ext cx="6553200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GB" sz="2800" dirty="0">
                <a:latin typeface="+mj-lt"/>
              </a:rPr>
              <a:t>Absorption spectrum of hydrogen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1F6307-6F04-4EBC-B41C-5004046E04C7}"/>
              </a:ext>
            </a:extLst>
          </p:cNvPr>
          <p:cNvSpPr txBox="1"/>
          <p:nvPr/>
        </p:nvSpPr>
        <p:spPr>
          <a:xfrm>
            <a:off x="3648076" y="4903789"/>
            <a:ext cx="655161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1" hangingPunct="1">
              <a:defRPr/>
            </a:pPr>
            <a:r>
              <a:rPr lang="en-GB" sz="2800" dirty="0">
                <a:latin typeface="+mj-lt"/>
              </a:rPr>
              <a:t>Emission spectrum of hydrogen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A53178A8-F8CB-4DBC-9C8D-9D2D62D4E3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0801" y="557513"/>
            <a:ext cx="3394075" cy="1143000"/>
          </a:xfrm>
        </p:spPr>
        <p:txBody>
          <a:bodyPr>
            <a:normAutofit fontScale="90000"/>
          </a:bodyPr>
          <a:lstStyle/>
          <a:p>
            <a:r>
              <a:rPr lang="en-GB" altLang="en-US" u="sng" dirty="0"/>
              <a:t>Bohr’s model of the atom</a:t>
            </a:r>
          </a:p>
        </p:txBody>
      </p:sp>
      <p:sp>
        <p:nvSpPr>
          <p:cNvPr id="12291" name="Content Placeholder 3">
            <a:extLst>
              <a:ext uri="{FF2B5EF4-FFF2-40B4-BE49-F238E27FC236}">
                <a16:creationId xmlns:a16="http://schemas.microsoft.com/office/drawing/2014/main" id="{7710CE43-D694-4FE0-9B7E-B7F1C5529F1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591176" y="2273642"/>
            <a:ext cx="5801754" cy="4106521"/>
          </a:xfrm>
        </p:spPr>
        <p:txBody>
          <a:bodyPr/>
          <a:lstStyle/>
          <a:p>
            <a:r>
              <a:rPr lang="en-GB" altLang="en-US" dirty="0"/>
              <a:t>Electrons exist in discrete energy levels – they cannot have intermediate energies. </a:t>
            </a:r>
          </a:p>
          <a:p>
            <a:r>
              <a:rPr lang="en-GB" altLang="en-US" dirty="0"/>
              <a:t>A photon can be emitted or absorbed when an electron moves between energy levels. </a:t>
            </a:r>
          </a:p>
          <a:p>
            <a:r>
              <a:rPr lang="en-GB" altLang="en-US" dirty="0"/>
              <a:t>The energy of the photon corresponds to the difference between energy levels (</a:t>
            </a:r>
            <a:r>
              <a:rPr lang="el-GR" altLang="en-US" dirty="0"/>
              <a:t>Δ</a:t>
            </a:r>
            <a:r>
              <a:rPr lang="en-GB" altLang="en-US" dirty="0"/>
              <a:t>E).</a:t>
            </a:r>
          </a:p>
          <a:p>
            <a:r>
              <a:rPr lang="en-GB" altLang="en-US" dirty="0"/>
              <a:t>Frequency of photon found by </a:t>
            </a:r>
            <a:r>
              <a:rPr lang="el-GR" altLang="en-US" dirty="0"/>
              <a:t>Δ</a:t>
            </a:r>
            <a:r>
              <a:rPr lang="en-GB" altLang="en-US" dirty="0"/>
              <a:t>E = h</a:t>
            </a:r>
            <a:r>
              <a:rPr lang="el-GR" altLang="en-US" dirty="0"/>
              <a:t>ν</a:t>
            </a:r>
            <a:r>
              <a:rPr lang="en-GB" altLang="en-US" dirty="0"/>
              <a:t>. </a:t>
            </a:r>
          </a:p>
        </p:txBody>
      </p:sp>
      <p:pic>
        <p:nvPicPr>
          <p:cNvPr id="6146" name="Picture 2" descr="Image result for bohr model of the atom">
            <a:extLst>
              <a:ext uri="{FF2B5EF4-FFF2-40B4-BE49-F238E27FC236}">
                <a16:creationId xmlns:a16="http://schemas.microsoft.com/office/drawing/2014/main" id="{68A677A0-3D96-4E70-A05F-96AD220F6B1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91" y="2193925"/>
            <a:ext cx="3816606" cy="402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Image result for bohr model of the atom">
            <a:extLst>
              <a:ext uri="{FF2B5EF4-FFF2-40B4-BE49-F238E27FC236}">
                <a16:creationId xmlns:a16="http://schemas.microsoft.com/office/drawing/2014/main" id="{8699B8B1-C9CA-4800-8E72-2B354234D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961" y="750766"/>
            <a:ext cx="7834185" cy="587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307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wavelength and frequency">
            <a:extLst>
              <a:ext uri="{FF2B5EF4-FFF2-40B4-BE49-F238E27FC236}">
                <a16:creationId xmlns:a16="http://schemas.microsoft.com/office/drawing/2014/main" id="{8AB883C1-F80F-4C9F-AC3B-FBF7A0216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672" y="1087189"/>
            <a:ext cx="10526994" cy="563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7422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3">
            <a:extLst>
              <a:ext uri="{FF2B5EF4-FFF2-40B4-BE49-F238E27FC236}">
                <a16:creationId xmlns:a16="http://schemas.microsoft.com/office/drawing/2014/main" id="{10AE25C2-93E0-4A5E-B616-3C25C3B4EC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41009" y="157047"/>
            <a:ext cx="8610600" cy="1293028"/>
          </a:xfrm>
        </p:spPr>
        <p:txBody>
          <a:bodyPr/>
          <a:lstStyle/>
          <a:p>
            <a:r>
              <a:rPr lang="en-AU" altLang="en-US" b="1" u="sng" dirty="0">
                <a:solidFill>
                  <a:schemeClr val="bg1"/>
                </a:solidFill>
              </a:rPr>
              <a:t>Absorption vs Emission</a:t>
            </a:r>
          </a:p>
        </p:txBody>
      </p:sp>
      <p:pic>
        <p:nvPicPr>
          <p:cNvPr id="4" name="Picture 3" descr="Related image">
            <a:extLst>
              <a:ext uri="{FF2B5EF4-FFF2-40B4-BE49-F238E27FC236}">
                <a16:creationId xmlns:a16="http://schemas.microsoft.com/office/drawing/2014/main" id="{B2B70A66-67F4-46D0-8C38-C30261A7205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392" y="1562669"/>
            <a:ext cx="11003506" cy="455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E931A8FD-6788-429F-BF3D-88F1D4A69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025" y="5114926"/>
            <a:ext cx="7905750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39" name="Rectangle 3">
            <a:extLst>
              <a:ext uri="{FF2B5EF4-FFF2-40B4-BE49-F238E27FC236}">
                <a16:creationId xmlns:a16="http://schemas.microsoft.com/office/drawing/2014/main" id="{D1F21A1E-A898-44A6-940A-8F4266EC28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u="sng"/>
              <a:t>Absorption Spectra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D4F4BC1F-05DD-4428-A5AF-51916823955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1574801"/>
            <a:ext cx="4038600" cy="3870325"/>
          </a:xfrm>
        </p:spPr>
        <p:txBody>
          <a:bodyPr/>
          <a:lstStyle/>
          <a:p>
            <a:pPr eaLnBrk="1" hangingPunct="1"/>
            <a:r>
              <a:rPr lang="en-US" altLang="en-US" sz="2400"/>
              <a:t>Atom absorbs a photon, electron promoted to higher energy state. </a:t>
            </a:r>
            <a:br>
              <a:rPr lang="en-US" altLang="en-US" sz="2400"/>
            </a:br>
            <a:endParaRPr lang="en-US" altLang="en-US" sz="2400"/>
          </a:p>
          <a:p>
            <a:pPr eaLnBrk="1" hangingPunct="1"/>
            <a:r>
              <a:rPr lang="en-US" altLang="en-US" sz="2400"/>
              <a:t>Continuous spectrum of light has a specific frequencies of light missing – black lines on a continuous spectrum.</a:t>
            </a:r>
          </a:p>
        </p:txBody>
      </p:sp>
      <p:grpSp>
        <p:nvGrpSpPr>
          <p:cNvPr id="14341" name="Group 5">
            <a:extLst>
              <a:ext uri="{FF2B5EF4-FFF2-40B4-BE49-F238E27FC236}">
                <a16:creationId xmlns:a16="http://schemas.microsoft.com/office/drawing/2014/main" id="{6FDAAE02-3A36-4C07-8534-7A1B57ED3FD0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283855"/>
            <a:ext cx="3313113" cy="3313113"/>
            <a:chOff x="551" y="1141"/>
            <a:chExt cx="2087" cy="2087"/>
          </a:xfrm>
        </p:grpSpPr>
        <p:grpSp>
          <p:nvGrpSpPr>
            <p:cNvPr id="14342" name="Group 6">
              <a:extLst>
                <a:ext uri="{FF2B5EF4-FFF2-40B4-BE49-F238E27FC236}">
                  <a16:creationId xmlns:a16="http://schemas.microsoft.com/office/drawing/2014/main" id="{7B96BDE8-E4FA-4A19-90E4-AFB4B97926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1" y="1141"/>
              <a:ext cx="2087" cy="2087"/>
              <a:chOff x="748" y="1480"/>
              <a:chExt cx="2087" cy="2087"/>
            </a:xfrm>
          </p:grpSpPr>
          <p:sp>
            <p:nvSpPr>
              <p:cNvPr id="14350" name="Oval 7">
                <a:extLst>
                  <a:ext uri="{FF2B5EF4-FFF2-40B4-BE49-F238E27FC236}">
                    <a16:creationId xmlns:a16="http://schemas.microsoft.com/office/drawing/2014/main" id="{B8E44D4D-5379-4F79-8C68-9D2D4CA002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1480"/>
                <a:ext cx="2087" cy="208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4351" name="Oval 8">
                <a:extLst>
                  <a:ext uri="{FF2B5EF4-FFF2-40B4-BE49-F238E27FC236}">
                    <a16:creationId xmlns:a16="http://schemas.microsoft.com/office/drawing/2014/main" id="{804D2AF4-88EB-4372-A85A-88B7E9C64F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" y="1616"/>
                <a:ext cx="1815" cy="181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4352" name="Oval 9">
                <a:extLst>
                  <a:ext uri="{FF2B5EF4-FFF2-40B4-BE49-F238E27FC236}">
                    <a16:creationId xmlns:a16="http://schemas.microsoft.com/office/drawing/2014/main" id="{189CB216-27AF-4B07-9380-226FBAC477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1" y="1842"/>
                <a:ext cx="1361" cy="136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4353" name="Oval 10">
                <a:extLst>
                  <a:ext uri="{FF2B5EF4-FFF2-40B4-BE49-F238E27FC236}">
                    <a16:creationId xmlns:a16="http://schemas.microsoft.com/office/drawing/2014/main" id="{2BDF3010-DF54-469E-93CE-6438386131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4" y="2205"/>
                <a:ext cx="634" cy="63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4354" name="Oval 11">
                <a:extLst>
                  <a:ext uri="{FF2B5EF4-FFF2-40B4-BE49-F238E27FC236}">
                    <a16:creationId xmlns:a16="http://schemas.microsoft.com/office/drawing/2014/main" id="{01B25C07-33CD-41A7-A5CC-A438CD5935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5" y="2494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343" name="Oval 12">
              <a:extLst>
                <a:ext uri="{FF2B5EF4-FFF2-40B4-BE49-F238E27FC236}">
                  <a16:creationId xmlns:a16="http://schemas.microsoft.com/office/drawing/2014/main" id="{C48DEF63-846C-4DE0-A52B-3AE429CA1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36"/>
              <a:ext cx="56" cy="5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4344" name="Oval 13">
              <a:extLst>
                <a:ext uri="{FF2B5EF4-FFF2-40B4-BE49-F238E27FC236}">
                  <a16:creationId xmlns:a16="http://schemas.microsoft.com/office/drawing/2014/main" id="{AD248FCE-C1B2-464A-9916-790C95CA8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9" y="1998"/>
              <a:ext cx="56" cy="5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4345" name="Oval 14">
              <a:extLst>
                <a:ext uri="{FF2B5EF4-FFF2-40B4-BE49-F238E27FC236}">
                  <a16:creationId xmlns:a16="http://schemas.microsoft.com/office/drawing/2014/main" id="{0D2A766B-104D-447F-A482-D0DD57F48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7" y="1841"/>
              <a:ext cx="56" cy="5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4346" name="Oval 15">
              <a:extLst>
                <a:ext uri="{FF2B5EF4-FFF2-40B4-BE49-F238E27FC236}">
                  <a16:creationId xmlns:a16="http://schemas.microsoft.com/office/drawing/2014/main" id="{095AF02F-B04D-4306-9D13-198F36297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2" y="1663"/>
              <a:ext cx="56" cy="5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4347" name="Line 16">
              <a:extLst>
                <a:ext uri="{FF2B5EF4-FFF2-40B4-BE49-F238E27FC236}">
                  <a16:creationId xmlns:a16="http://schemas.microsoft.com/office/drawing/2014/main" id="{11C32689-0882-4420-B94F-0F42C080BD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86" y="2020"/>
              <a:ext cx="347" cy="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348" name="Line 17">
              <a:extLst>
                <a:ext uri="{FF2B5EF4-FFF2-40B4-BE49-F238E27FC236}">
                  <a16:creationId xmlns:a16="http://schemas.microsoft.com/office/drawing/2014/main" id="{865FE223-2091-476A-91EC-28779E83DB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86" y="1862"/>
              <a:ext cx="560" cy="2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349" name="Line 18">
              <a:extLst>
                <a:ext uri="{FF2B5EF4-FFF2-40B4-BE49-F238E27FC236}">
                  <a16:creationId xmlns:a16="http://schemas.microsoft.com/office/drawing/2014/main" id="{AF5A41E0-AD9B-4F17-BDFD-3B1E822608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9" y="1681"/>
              <a:ext cx="628" cy="3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0F2529F9-0CAD-4A65-A974-1E8CC3732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1150" y="375196"/>
            <a:ext cx="8496300" cy="1143000"/>
          </a:xfrm>
        </p:spPr>
        <p:txBody>
          <a:bodyPr>
            <a:normAutofit fontScale="90000"/>
          </a:bodyPr>
          <a:lstStyle/>
          <a:p>
            <a:r>
              <a:rPr lang="en-AU" altLang="en-US" u="sng" dirty="0"/>
              <a:t>Atomic Absorption Spectroscopy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9B747625-5E73-4704-927F-68466B08EB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47850" y="1616431"/>
            <a:ext cx="8229600" cy="4997450"/>
          </a:xfrm>
        </p:spPr>
        <p:txBody>
          <a:bodyPr/>
          <a:lstStyle/>
          <a:p>
            <a:r>
              <a:rPr lang="en-AU" altLang="en-US" sz="2700" dirty="0"/>
              <a:t>Uses absorption spectra. </a:t>
            </a:r>
          </a:p>
          <a:p>
            <a:r>
              <a:rPr lang="en-AU" altLang="en-US" sz="2700" dirty="0"/>
              <a:t>Sample of substance is </a:t>
            </a:r>
            <a:r>
              <a:rPr lang="en-AU" altLang="en-US" sz="2700" dirty="0" err="1"/>
              <a:t>vapourised</a:t>
            </a:r>
            <a:r>
              <a:rPr lang="en-AU" altLang="en-US" sz="2700" dirty="0"/>
              <a:t> (atomised), light of specific frequencies shone through it (from a hollow cathode lamp of same element being tested for), atoms absorb photons as electrons are promoted, remaining light has frequencies missing. </a:t>
            </a:r>
          </a:p>
          <a:p>
            <a:r>
              <a:rPr lang="en-AU" altLang="en-US" sz="2700" dirty="0"/>
              <a:t>Specific frequencies missing identify the element. Intensity of absorptions gives concentration of metal in sample. </a:t>
            </a:r>
          </a:p>
          <a:p>
            <a:r>
              <a:rPr lang="en-AU" altLang="en-US" sz="2700" dirty="0"/>
              <a:t>Useful for identifying metals in water, biological tissue, mineral samples, etc.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82229C5-67A1-4174-BA03-A15ACFD78A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u="sng"/>
              <a:t>Emission Spectra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D685391-21AA-4716-83CE-0D92DFCF2E6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1341439"/>
            <a:ext cx="4038600" cy="3646487"/>
          </a:xfrm>
        </p:spPr>
        <p:txBody>
          <a:bodyPr/>
          <a:lstStyle/>
          <a:p>
            <a:pPr eaLnBrk="1" hangingPunct="1"/>
            <a:r>
              <a:rPr lang="en-US" altLang="en-US" sz="2400"/>
              <a:t>Atom becomes excited, electrons are already in higher energy levels.</a:t>
            </a:r>
          </a:p>
          <a:p>
            <a:pPr eaLnBrk="1" hangingPunct="1"/>
            <a:r>
              <a:rPr lang="en-US" altLang="en-US" sz="2400"/>
              <a:t>Electron drops down to lower energy level. </a:t>
            </a:r>
          </a:p>
          <a:p>
            <a:pPr eaLnBrk="1" hangingPunct="1"/>
            <a:r>
              <a:rPr lang="en-US" altLang="en-US" sz="2400"/>
              <a:t>Only specific frequencies of light are emitted – coloured lines on a black background. </a:t>
            </a:r>
          </a:p>
        </p:txBody>
      </p:sp>
      <p:grpSp>
        <p:nvGrpSpPr>
          <p:cNvPr id="15364" name="Group 4">
            <a:extLst>
              <a:ext uri="{FF2B5EF4-FFF2-40B4-BE49-F238E27FC236}">
                <a16:creationId xmlns:a16="http://schemas.microsoft.com/office/drawing/2014/main" id="{5D5F07BA-2B47-465B-B6E6-C2AA0723E1AC}"/>
              </a:ext>
            </a:extLst>
          </p:cNvPr>
          <p:cNvGrpSpPr>
            <a:grpSpLocks/>
          </p:cNvGrpSpPr>
          <p:nvPr/>
        </p:nvGrpSpPr>
        <p:grpSpPr bwMode="auto">
          <a:xfrm>
            <a:off x="2195224" y="1064925"/>
            <a:ext cx="3314700" cy="3313112"/>
            <a:chOff x="482" y="1119"/>
            <a:chExt cx="2087" cy="2087"/>
          </a:xfrm>
        </p:grpSpPr>
        <p:grpSp>
          <p:nvGrpSpPr>
            <p:cNvPr id="15366" name="Group 5">
              <a:extLst>
                <a:ext uri="{FF2B5EF4-FFF2-40B4-BE49-F238E27FC236}">
                  <a16:creationId xmlns:a16="http://schemas.microsoft.com/office/drawing/2014/main" id="{CA803A4B-CA8B-44FA-AECF-2D7C925AA5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2" y="1119"/>
              <a:ext cx="2087" cy="2087"/>
              <a:chOff x="748" y="1480"/>
              <a:chExt cx="2087" cy="2087"/>
            </a:xfrm>
          </p:grpSpPr>
          <p:sp>
            <p:nvSpPr>
              <p:cNvPr id="15374" name="Oval 6">
                <a:extLst>
                  <a:ext uri="{FF2B5EF4-FFF2-40B4-BE49-F238E27FC236}">
                    <a16:creationId xmlns:a16="http://schemas.microsoft.com/office/drawing/2014/main" id="{286190D4-FD90-4CB5-B7D0-00B6BE9B2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1480"/>
                <a:ext cx="2087" cy="208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375" name="Oval 7">
                <a:extLst>
                  <a:ext uri="{FF2B5EF4-FFF2-40B4-BE49-F238E27FC236}">
                    <a16:creationId xmlns:a16="http://schemas.microsoft.com/office/drawing/2014/main" id="{EE24E2A1-E104-4DE9-BE98-E7F32F9D37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" y="1616"/>
                <a:ext cx="1815" cy="181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376" name="Oval 8">
                <a:extLst>
                  <a:ext uri="{FF2B5EF4-FFF2-40B4-BE49-F238E27FC236}">
                    <a16:creationId xmlns:a16="http://schemas.microsoft.com/office/drawing/2014/main" id="{E558CF9E-FA4F-490C-80B6-4F2E2F620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1" y="1842"/>
                <a:ext cx="1361" cy="136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377" name="Oval 9">
                <a:extLst>
                  <a:ext uri="{FF2B5EF4-FFF2-40B4-BE49-F238E27FC236}">
                    <a16:creationId xmlns:a16="http://schemas.microsoft.com/office/drawing/2014/main" id="{89F2D258-24DE-4355-A524-BE1B0171D9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4" y="2205"/>
                <a:ext cx="634" cy="63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15378" name="Oval 10">
                <a:extLst>
                  <a:ext uri="{FF2B5EF4-FFF2-40B4-BE49-F238E27FC236}">
                    <a16:creationId xmlns:a16="http://schemas.microsoft.com/office/drawing/2014/main" id="{CED6659F-3521-4618-96E3-5FC41AB56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5" y="2494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rebuchet MS" panose="020B0603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367" name="Oval 11">
              <a:extLst>
                <a:ext uri="{FF2B5EF4-FFF2-40B4-BE49-F238E27FC236}">
                  <a16:creationId xmlns:a16="http://schemas.microsoft.com/office/drawing/2014/main" id="{65AA610F-C495-4EC3-9DE6-CAEB24B73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" y="2014"/>
              <a:ext cx="56" cy="5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5368" name="Oval 12">
              <a:extLst>
                <a:ext uri="{FF2B5EF4-FFF2-40B4-BE49-F238E27FC236}">
                  <a16:creationId xmlns:a16="http://schemas.microsoft.com/office/drawing/2014/main" id="{887DEC45-5F6C-4F92-8B9A-C6B8ECF3E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0" y="1976"/>
              <a:ext cx="56" cy="5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5369" name="Oval 13">
              <a:extLst>
                <a:ext uri="{FF2B5EF4-FFF2-40B4-BE49-F238E27FC236}">
                  <a16:creationId xmlns:a16="http://schemas.microsoft.com/office/drawing/2014/main" id="{B8BEA93F-E98B-43C1-A928-F73BF292E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1819"/>
              <a:ext cx="56" cy="5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5370" name="Oval 14">
              <a:extLst>
                <a:ext uri="{FF2B5EF4-FFF2-40B4-BE49-F238E27FC236}">
                  <a16:creationId xmlns:a16="http://schemas.microsoft.com/office/drawing/2014/main" id="{1E154F00-4606-4AA6-A604-942EDB538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3" y="1641"/>
              <a:ext cx="56" cy="5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rebuchet MS" panose="020B0603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rebuchet MS" panose="020B0603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rebuchet MS" panose="020B0603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rebuchet MS" panose="020B0603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5371" name="Line 15">
              <a:extLst>
                <a:ext uri="{FF2B5EF4-FFF2-40B4-BE49-F238E27FC236}">
                  <a16:creationId xmlns:a16="http://schemas.microsoft.com/office/drawing/2014/main" id="{B9A86338-B09C-4B1A-A632-69AB25D44F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3" y="1996"/>
              <a:ext cx="347" cy="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372" name="Line 16">
              <a:extLst>
                <a:ext uri="{FF2B5EF4-FFF2-40B4-BE49-F238E27FC236}">
                  <a16:creationId xmlns:a16="http://schemas.microsoft.com/office/drawing/2014/main" id="{B9A8F522-AFB8-47D9-B80B-7E0125E4F2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3" y="1846"/>
              <a:ext cx="56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373" name="Line 17">
              <a:extLst>
                <a:ext uri="{FF2B5EF4-FFF2-40B4-BE49-F238E27FC236}">
                  <a16:creationId xmlns:a16="http://schemas.microsoft.com/office/drawing/2014/main" id="{41F6D5BA-7107-4C14-A372-83D22D0EF8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15" y="1665"/>
              <a:ext cx="615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pic>
        <p:nvPicPr>
          <p:cNvPr id="15365" name="Picture 18">
            <a:extLst>
              <a:ext uri="{FF2B5EF4-FFF2-40B4-BE49-F238E27FC236}">
                <a16:creationId xmlns:a16="http://schemas.microsoft.com/office/drawing/2014/main" id="{A6226922-F9D9-49A4-8B0A-8C67CDF6E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4987925"/>
            <a:ext cx="7905750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B04607E4-79B1-499B-9852-C9BE4CB9B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9763" y="0"/>
            <a:ext cx="8229600" cy="1143000"/>
          </a:xfrm>
        </p:spPr>
        <p:txBody>
          <a:bodyPr/>
          <a:lstStyle/>
          <a:p>
            <a:r>
              <a:rPr lang="en-GB" altLang="en-US" u="sng"/>
              <a:t>Energy level diagram</a:t>
            </a:r>
          </a:p>
        </p:txBody>
      </p:sp>
      <p:grpSp>
        <p:nvGrpSpPr>
          <p:cNvPr id="16387" name="Group 57">
            <a:extLst>
              <a:ext uri="{FF2B5EF4-FFF2-40B4-BE49-F238E27FC236}">
                <a16:creationId xmlns:a16="http://schemas.microsoft.com/office/drawing/2014/main" id="{824B6C61-FC17-49A3-A888-3EFBCC7F073B}"/>
              </a:ext>
            </a:extLst>
          </p:cNvPr>
          <p:cNvGrpSpPr>
            <a:grpSpLocks/>
          </p:cNvGrpSpPr>
          <p:nvPr/>
        </p:nvGrpSpPr>
        <p:grpSpPr bwMode="auto">
          <a:xfrm>
            <a:off x="1973264" y="1595438"/>
            <a:ext cx="8586787" cy="4618037"/>
            <a:chOff x="448597" y="1595155"/>
            <a:chExt cx="8587899" cy="4618975"/>
          </a:xfrm>
        </p:grpSpPr>
        <p:grpSp>
          <p:nvGrpSpPr>
            <p:cNvPr id="16388" name="Group 33">
              <a:extLst>
                <a:ext uri="{FF2B5EF4-FFF2-40B4-BE49-F238E27FC236}">
                  <a16:creationId xmlns:a16="http://schemas.microsoft.com/office/drawing/2014/main" id="{45152069-2119-4464-BBE0-41DAF25937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597" y="1595155"/>
              <a:ext cx="8587899" cy="4095755"/>
              <a:chOff x="448597" y="1595155"/>
              <a:chExt cx="8587899" cy="409575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15723FFA-DE28-48D5-AEF5-11D0F64D6169}"/>
                  </a:ext>
                </a:extLst>
              </p:cNvPr>
              <p:cNvCxnSpPr/>
              <p:nvPr/>
            </p:nvCxnSpPr>
            <p:spPr>
              <a:xfrm>
                <a:off x="1979145" y="5490083"/>
                <a:ext cx="504096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6F53D47-6C2F-49DD-9907-F6362225C2E7}"/>
                  </a:ext>
                </a:extLst>
              </p:cNvPr>
              <p:cNvCxnSpPr/>
              <p:nvPr/>
            </p:nvCxnSpPr>
            <p:spPr>
              <a:xfrm>
                <a:off x="1979145" y="2754265"/>
                <a:ext cx="504096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3B9957FC-37D4-4D3B-B6A8-CEBD7702BDD7}"/>
                  </a:ext>
                </a:extLst>
              </p:cNvPr>
              <p:cNvCxnSpPr/>
              <p:nvPr/>
            </p:nvCxnSpPr>
            <p:spPr>
              <a:xfrm>
                <a:off x="1979145" y="4338912"/>
                <a:ext cx="504096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72768D9-D47E-442B-9817-380F2600FBAD}"/>
                  </a:ext>
                </a:extLst>
              </p:cNvPr>
              <p:cNvCxnSpPr/>
              <p:nvPr/>
            </p:nvCxnSpPr>
            <p:spPr>
              <a:xfrm>
                <a:off x="1979145" y="2322378"/>
                <a:ext cx="504096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F329BAD-BA91-4E8F-9F8F-4FCB65AB2376}"/>
                  </a:ext>
                </a:extLst>
              </p:cNvPr>
              <p:cNvCxnSpPr/>
              <p:nvPr/>
            </p:nvCxnSpPr>
            <p:spPr>
              <a:xfrm>
                <a:off x="1979145" y="3402097"/>
                <a:ext cx="504096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8AF547A-622A-4E8B-92B6-CF4ED36E7884}"/>
                  </a:ext>
                </a:extLst>
              </p:cNvPr>
              <p:cNvCxnSpPr/>
              <p:nvPr/>
            </p:nvCxnSpPr>
            <p:spPr>
              <a:xfrm>
                <a:off x="1979145" y="2034981"/>
                <a:ext cx="504096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F7B91FA-845F-42B5-AC6B-B6B5CA177492}"/>
                  </a:ext>
                </a:extLst>
              </p:cNvPr>
              <p:cNvCxnSpPr/>
              <p:nvPr/>
            </p:nvCxnSpPr>
            <p:spPr>
              <a:xfrm>
                <a:off x="1979145" y="1819037"/>
                <a:ext cx="504096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FDFEA6A-E67C-4EDA-BE2B-5E1D4FA0BCA6}"/>
                  </a:ext>
                </a:extLst>
              </p:cNvPr>
              <p:cNvCxnSpPr/>
              <p:nvPr/>
            </p:nvCxnSpPr>
            <p:spPr>
              <a:xfrm flipV="1">
                <a:off x="1186880" y="1603094"/>
                <a:ext cx="0" cy="393938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833162-1869-4ABA-91A8-2F707B713593}"/>
                  </a:ext>
                </a:extLst>
              </p:cNvPr>
              <p:cNvSpPr txBox="1"/>
              <p:nvPr/>
            </p:nvSpPr>
            <p:spPr>
              <a:xfrm rot="16200000">
                <a:off x="-297699" y="3062322"/>
                <a:ext cx="2016535" cy="523943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GB" sz="2800" dirty="0">
                    <a:latin typeface="+mj-lt"/>
                  </a:rPr>
                  <a:t>Energy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C37D6A1-BCE3-4AC4-A0C6-5A270842F5A6}"/>
                  </a:ext>
                </a:extLst>
              </p:cNvPr>
              <p:cNvSpPr txBox="1"/>
              <p:nvPr/>
            </p:nvSpPr>
            <p:spPr>
              <a:xfrm>
                <a:off x="7020110" y="5290018"/>
                <a:ext cx="2016386" cy="400131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GB" sz="2000" dirty="0">
                    <a:latin typeface="+mj-lt"/>
                  </a:rPr>
                  <a:t>Level 1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BDC609D-8E3A-4159-A2FE-12CC02A390B2}"/>
                  </a:ext>
                </a:extLst>
              </p:cNvPr>
              <p:cNvSpPr txBox="1"/>
              <p:nvPr/>
            </p:nvSpPr>
            <p:spPr>
              <a:xfrm>
                <a:off x="7020110" y="1819037"/>
                <a:ext cx="2016386" cy="400131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GB" sz="2000" dirty="0">
                    <a:latin typeface="+mj-lt"/>
                  </a:rPr>
                  <a:t>Level 6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97804E9-AE87-4391-90C2-F6ABF4858DCD}"/>
                  </a:ext>
                </a:extLst>
              </p:cNvPr>
              <p:cNvSpPr txBox="1"/>
              <p:nvPr/>
            </p:nvSpPr>
            <p:spPr>
              <a:xfrm>
                <a:off x="7020110" y="2554200"/>
                <a:ext cx="2016386" cy="400131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GB" sz="2000" dirty="0">
                    <a:latin typeface="+mj-lt"/>
                  </a:rPr>
                  <a:t>Level 4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136F86D-556C-4FA8-B105-CD8F50FB1C48}"/>
                  </a:ext>
                </a:extLst>
              </p:cNvPr>
              <p:cNvSpPr txBox="1"/>
              <p:nvPr/>
            </p:nvSpPr>
            <p:spPr>
              <a:xfrm>
                <a:off x="7007408" y="2122312"/>
                <a:ext cx="2014799" cy="400131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GB" sz="2000" dirty="0">
                    <a:latin typeface="+mj-lt"/>
                  </a:rPr>
                  <a:t>Level 5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81348D4-3FCB-4F42-8995-06EA82DA21E7}"/>
                  </a:ext>
                </a:extLst>
              </p:cNvPr>
              <p:cNvSpPr txBox="1"/>
              <p:nvPr/>
            </p:nvSpPr>
            <p:spPr>
              <a:xfrm>
                <a:off x="7020110" y="3202031"/>
                <a:ext cx="2016386" cy="400131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GB" sz="2000" dirty="0">
                    <a:latin typeface="+mj-lt"/>
                  </a:rPr>
                  <a:t>Level 3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1AB8EE9-266C-431B-BD07-D751A29E3E10}"/>
                  </a:ext>
                </a:extLst>
              </p:cNvPr>
              <p:cNvSpPr txBox="1"/>
              <p:nvPr/>
            </p:nvSpPr>
            <p:spPr>
              <a:xfrm>
                <a:off x="7007408" y="4138847"/>
                <a:ext cx="2014799" cy="400131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GB" sz="2000" dirty="0">
                    <a:latin typeface="+mj-lt"/>
                  </a:rPr>
                  <a:t>Level 2</a:t>
                </a:r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06A1B2DD-BE91-4B2F-967F-64C843A4251E}"/>
                  </a:ext>
                </a:extLst>
              </p:cNvPr>
              <p:cNvCxnSpPr/>
              <p:nvPr/>
            </p:nvCxnSpPr>
            <p:spPr>
              <a:xfrm>
                <a:off x="1966444" y="1595155"/>
                <a:ext cx="504096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AF9F573-4216-4C14-80AE-C7CB785BC4A6}"/>
                  </a:ext>
                </a:extLst>
              </p:cNvPr>
              <p:cNvCxnSpPr/>
              <p:nvPr/>
            </p:nvCxnSpPr>
            <p:spPr>
              <a:xfrm>
                <a:off x="1941040" y="1633263"/>
                <a:ext cx="504096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65A27FF0-5C24-4060-9606-54B85B466EB3}"/>
                  </a:ext>
                </a:extLst>
              </p:cNvPr>
              <p:cNvCxnSpPr/>
              <p:nvPr/>
            </p:nvCxnSpPr>
            <p:spPr>
              <a:xfrm>
                <a:off x="1941040" y="1715830"/>
                <a:ext cx="504096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2397760-4D29-40FB-AF82-A274B9CD280D}"/>
                </a:ext>
              </a:extLst>
            </p:cNvPr>
            <p:cNvCxnSpPr/>
            <p:nvPr/>
          </p:nvCxnSpPr>
          <p:spPr>
            <a:xfrm flipV="1">
              <a:off x="2484036" y="4338912"/>
              <a:ext cx="0" cy="115117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A1D0E76-522F-4376-A63F-782627A48820}"/>
                </a:ext>
              </a:extLst>
            </p:cNvPr>
            <p:cNvCxnSpPr/>
            <p:nvPr/>
          </p:nvCxnSpPr>
          <p:spPr>
            <a:xfrm flipV="1">
              <a:off x="2915891" y="3402097"/>
              <a:ext cx="0" cy="208322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3809B47-5FA3-47D9-B7E0-EB9FFFDB31CD}"/>
                </a:ext>
              </a:extLst>
            </p:cNvPr>
            <p:cNvCxnSpPr/>
            <p:nvPr/>
          </p:nvCxnSpPr>
          <p:spPr>
            <a:xfrm flipV="1">
              <a:off x="3779603" y="2322378"/>
              <a:ext cx="0" cy="316770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24826A60-C5B2-4858-9E52-4D3D8D283DBD}"/>
                </a:ext>
              </a:extLst>
            </p:cNvPr>
            <p:cNvCxnSpPr/>
            <p:nvPr/>
          </p:nvCxnSpPr>
          <p:spPr>
            <a:xfrm flipV="1">
              <a:off x="3347747" y="2754265"/>
              <a:ext cx="0" cy="273105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C7B2E14-F13F-4F83-8FE0-D5F245EEFD7D}"/>
                </a:ext>
              </a:extLst>
            </p:cNvPr>
            <p:cNvSpPr txBox="1"/>
            <p:nvPr/>
          </p:nvSpPr>
          <p:spPr>
            <a:xfrm>
              <a:off x="1941040" y="5690149"/>
              <a:ext cx="2198972" cy="523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en-GB" sz="2800" dirty="0">
                  <a:solidFill>
                    <a:srgbClr val="FF0000"/>
                  </a:solidFill>
                  <a:latin typeface="+mj-lt"/>
                </a:rPr>
                <a:t>Absorption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2D9B5F9-1127-4ABF-80D2-FFABA864FBFD}"/>
                </a:ext>
              </a:extLst>
            </p:cNvPr>
            <p:cNvCxnSpPr/>
            <p:nvPr/>
          </p:nvCxnSpPr>
          <p:spPr>
            <a:xfrm>
              <a:off x="5148206" y="4338912"/>
              <a:ext cx="0" cy="1146408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E4EF2065-5D35-4F70-AD80-AF8E9A66832B}"/>
                </a:ext>
              </a:extLst>
            </p:cNvPr>
            <p:cNvCxnSpPr/>
            <p:nvPr/>
          </p:nvCxnSpPr>
          <p:spPr>
            <a:xfrm>
              <a:off x="5508614" y="3402097"/>
              <a:ext cx="0" cy="2087986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3A56CB63-6695-4A33-B009-EAC471D79338}"/>
                </a:ext>
              </a:extLst>
            </p:cNvPr>
            <p:cNvCxnSpPr/>
            <p:nvPr/>
          </p:nvCxnSpPr>
          <p:spPr>
            <a:xfrm>
              <a:off x="6372326" y="2322378"/>
              <a:ext cx="0" cy="3156591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75166B95-16CB-44B8-9B7A-E6DA2A7BC2F2}"/>
                </a:ext>
              </a:extLst>
            </p:cNvPr>
            <p:cNvCxnSpPr/>
            <p:nvPr/>
          </p:nvCxnSpPr>
          <p:spPr>
            <a:xfrm>
              <a:off x="5940470" y="2754265"/>
              <a:ext cx="0" cy="2743757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7FDE6F1-8CAB-4958-A591-8A401F2E792F}"/>
                </a:ext>
              </a:extLst>
            </p:cNvPr>
            <p:cNvSpPr txBox="1"/>
            <p:nvPr/>
          </p:nvSpPr>
          <p:spPr>
            <a:xfrm>
              <a:off x="4932278" y="5690149"/>
              <a:ext cx="2016386" cy="52398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GB" sz="2800" dirty="0">
                  <a:solidFill>
                    <a:srgbClr val="00B050"/>
                  </a:solidFill>
                  <a:latin typeface="+mj-lt"/>
                </a:rPr>
                <a:t>Emission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0FA60EE2-AE51-43F7-B3A7-F03BA1436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28612"/>
            <a:ext cx="9144000" cy="310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5" name="Rectangle 3">
            <a:extLst>
              <a:ext uri="{FF2B5EF4-FFF2-40B4-BE49-F238E27FC236}">
                <a16:creationId xmlns:a16="http://schemas.microsoft.com/office/drawing/2014/main" id="{1032B588-2BE3-4FED-BC65-C0E9EE94256B}"/>
              </a:ext>
            </a:extLst>
          </p:cNvPr>
          <p:cNvSpPr>
            <a:spLocks noGrp="1" noChangeArrowheads="1"/>
          </p:cNvSpPr>
          <p:nvPr>
            <p:ph type="body" sz="half" idx="3"/>
          </p:nvPr>
        </p:nvSpPr>
        <p:spPr>
          <a:xfrm>
            <a:off x="1968500" y="3513138"/>
            <a:ext cx="8229600" cy="2851150"/>
          </a:xfrm>
        </p:spPr>
        <p:txBody>
          <a:bodyPr/>
          <a:lstStyle/>
          <a:p>
            <a:pPr eaLnBrk="1" hangingPunct="1"/>
            <a:r>
              <a:rPr lang="en-GB" altLang="en-US" sz="2800" dirty="0"/>
              <a:t>The absorption spectra and emission spectra for each element superimpose exactly.</a:t>
            </a:r>
            <a:br>
              <a:rPr lang="en-GB" altLang="en-US" sz="2800" dirty="0"/>
            </a:br>
            <a:endParaRPr lang="en-GB" altLang="en-US" sz="2800" dirty="0"/>
          </a:p>
          <a:p>
            <a:pPr eaLnBrk="1" hangingPunct="1"/>
            <a:r>
              <a:rPr lang="en-GB" altLang="en-US" sz="2800" u="sng" dirty="0"/>
              <a:t>Each element’s energy levels are slightly different, no two elements have the same spectra.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4">
            <a:extLst>
              <a:ext uri="{FF2B5EF4-FFF2-40B4-BE49-F238E27FC236}">
                <a16:creationId xmlns:a16="http://schemas.microsoft.com/office/drawing/2014/main" id="{BA1B342C-30B8-4475-807F-11CB418CBD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2273643"/>
            <a:ext cx="8229600" cy="3852520"/>
          </a:xfrm>
        </p:spPr>
        <p:txBody>
          <a:bodyPr/>
          <a:lstStyle/>
          <a:p>
            <a:r>
              <a:rPr lang="en-GB" altLang="en-US" sz="2400" b="1" dirty="0">
                <a:hlinkClick r:id="rId2"/>
              </a:rPr>
              <a:t>Absorption and emission spectra</a:t>
            </a:r>
            <a:r>
              <a:rPr lang="en-GB" altLang="en-US" sz="2400" b="1" dirty="0"/>
              <a:t> can be used to identify elements as each element’s spectra are </a:t>
            </a:r>
            <a:r>
              <a:rPr lang="en-GB" altLang="en-US" sz="2400" b="1" i="1" dirty="0"/>
              <a:t>unique</a:t>
            </a:r>
            <a:r>
              <a:rPr lang="en-GB" altLang="en-US" sz="2400" b="1" dirty="0"/>
              <a:t>. This is due to the differing nuclear charge on each atom. </a:t>
            </a:r>
            <a:br>
              <a:rPr lang="en-GB" altLang="en-US" sz="2400" b="1" dirty="0"/>
            </a:br>
            <a:endParaRPr lang="en-GB" altLang="en-US" sz="2400" b="1" dirty="0"/>
          </a:p>
          <a:p>
            <a:r>
              <a:rPr lang="en-GB" altLang="en-US" sz="2400" b="1" dirty="0"/>
              <a:t>The intensity of the absorption or emission lines tells you the abundance of the element. </a:t>
            </a:r>
          </a:p>
          <a:p>
            <a:endParaRPr lang="en-GB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93F3F38B-17DD-4D98-8F0C-DD3A32C74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19288" y="274638"/>
            <a:ext cx="3683000" cy="1143000"/>
          </a:xfrm>
        </p:spPr>
        <p:txBody>
          <a:bodyPr/>
          <a:lstStyle/>
          <a:p>
            <a:r>
              <a:rPr lang="en-AU" altLang="en-US" u="sng"/>
              <a:t>Flame Tests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FAB52843-134E-496A-AE48-5888B4FA76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495426"/>
            <a:ext cx="8229600" cy="4670425"/>
          </a:xfrm>
        </p:spPr>
        <p:txBody>
          <a:bodyPr>
            <a:normAutofit fontScale="92500"/>
          </a:bodyPr>
          <a:lstStyle/>
          <a:p>
            <a:r>
              <a:rPr lang="en-AU" altLang="en-US" sz="2700"/>
              <a:t>Uses emission </a:t>
            </a:r>
            <a:br>
              <a:rPr lang="en-AU" altLang="en-US" sz="2700"/>
            </a:br>
            <a:r>
              <a:rPr lang="en-AU" altLang="en-US" sz="2700"/>
              <a:t>spectra. </a:t>
            </a:r>
          </a:p>
          <a:p>
            <a:r>
              <a:rPr lang="en-AU" altLang="en-US" sz="2700"/>
              <a:t>Heat a sample of the </a:t>
            </a:r>
            <a:br>
              <a:rPr lang="en-AU" altLang="en-US" sz="2700"/>
            </a:br>
            <a:r>
              <a:rPr lang="en-AU" altLang="en-US" sz="2700"/>
              <a:t>substance (eg: colourless bunsen flame), electrons are excited, drop back to ground state, emit photons at characteristic frequencies. </a:t>
            </a:r>
          </a:p>
          <a:p>
            <a:r>
              <a:rPr lang="en-AU" altLang="en-US" sz="2700"/>
              <a:t>Combination of photon frequencies produces a visible colour, which can be used to identify the element. </a:t>
            </a:r>
          </a:p>
          <a:p>
            <a:r>
              <a:rPr lang="en-AU" altLang="en-US" sz="2700"/>
              <a:t>Light can be viewed through a spectroscope to see the emission lines and improve identification. </a:t>
            </a:r>
          </a:p>
        </p:txBody>
      </p:sp>
      <p:pic>
        <p:nvPicPr>
          <p:cNvPr id="20484" name="Picture 2" descr="http://www.bbc.co.uk/staticarchive/8437685094f83d55c5de1647c60fbf628d4bc828.jpg">
            <a:hlinkClick r:id="rId2"/>
            <a:extLst>
              <a:ext uri="{FF2B5EF4-FFF2-40B4-BE49-F238E27FC236}">
                <a16:creationId xmlns:a16="http://schemas.microsoft.com/office/drawing/2014/main" id="{EBEE4962-EACE-4760-87FE-36683BD47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538" y="260351"/>
            <a:ext cx="4419600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96E6B3-6CA0-487D-B922-738BDA76FC5F}"/>
              </a:ext>
            </a:extLst>
          </p:cNvPr>
          <p:cNvSpPr txBox="1"/>
          <p:nvPr/>
        </p:nvSpPr>
        <p:spPr>
          <a:xfrm>
            <a:off x="5313405" y="790832"/>
            <a:ext cx="6030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LIMITATIONS OF THE FLAME TEST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275114-10B5-4B2C-ACC1-F731AD5DD503}"/>
              </a:ext>
            </a:extLst>
          </p:cNvPr>
          <p:cNvSpPr/>
          <p:nvPr/>
        </p:nvSpPr>
        <p:spPr>
          <a:xfrm>
            <a:off x="1480782" y="2115403"/>
            <a:ext cx="9744502" cy="3033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AU" sz="2800" dirty="0"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 small number of metal ions can be distinguished in this way as Bunsen flame is not hot enough to excite the electrons of many atoms. </a:t>
            </a:r>
            <a:endParaRPr lang="en-AU" sz="28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AU" sz="2800" dirty="0"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difficult to distinguish between very similar colours. </a:t>
            </a:r>
            <a:endParaRPr lang="en-AU" sz="28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AU" sz="2800" dirty="0">
                <a:latin typeface="Trebuchet MS" panose="020B0603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colours may also be affected by the presence of traces of other ions.</a:t>
            </a:r>
            <a:endParaRPr lang="en-AU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1310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CEC042-4636-47C6-98AB-1E0C1FD079B2}"/>
              </a:ext>
            </a:extLst>
          </p:cNvPr>
          <p:cNvSpPr txBox="1"/>
          <p:nvPr/>
        </p:nvSpPr>
        <p:spPr>
          <a:xfrm>
            <a:off x="1018902" y="474345"/>
            <a:ext cx="90248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AU" sz="2400" dirty="0"/>
              <a:t>How are wavelength and frequency related?</a:t>
            </a:r>
          </a:p>
          <a:p>
            <a:endParaRPr lang="en-AU" sz="2400" dirty="0"/>
          </a:p>
          <a:p>
            <a:pPr marL="457200" indent="-457200">
              <a:buAutoNum type="alphaUcPeriod"/>
            </a:pPr>
            <a:r>
              <a:rPr lang="en-AU" sz="2400" dirty="0"/>
              <a:t>Directly</a:t>
            </a:r>
          </a:p>
          <a:p>
            <a:pPr marL="457200" indent="-457200">
              <a:buAutoNum type="alphaUcPeriod"/>
            </a:pPr>
            <a:endParaRPr lang="en-AU" sz="2400" dirty="0"/>
          </a:p>
          <a:p>
            <a:pPr marL="457200" indent="-457200">
              <a:buAutoNum type="alphaUcPeriod"/>
            </a:pPr>
            <a:r>
              <a:rPr lang="en-AU" sz="2400" dirty="0"/>
              <a:t>Inversely</a:t>
            </a:r>
          </a:p>
          <a:p>
            <a:pPr marL="342900" indent="-342900">
              <a:buAutoNum type="arabicPeriod"/>
            </a:pPr>
            <a:endParaRPr lang="en-AU" sz="2400" dirty="0"/>
          </a:p>
          <a:p>
            <a:pPr marL="342900" indent="-342900">
              <a:buAutoNum type="arabicPeriod"/>
            </a:pP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0A86A-64F6-46B9-8F3F-80560281BDD5}"/>
              </a:ext>
            </a:extLst>
          </p:cNvPr>
          <p:cNvSpPr txBox="1"/>
          <p:nvPr/>
        </p:nvSpPr>
        <p:spPr>
          <a:xfrm>
            <a:off x="1018902" y="3239589"/>
            <a:ext cx="103457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2.	A student burns a wood splint soaked in solution of calcium nitrate, Ca(NO</a:t>
            </a:r>
            <a:r>
              <a:rPr lang="en-AU" sz="2400" baseline="-25000" dirty="0"/>
              <a:t>3</a:t>
            </a:r>
            <a:r>
              <a:rPr lang="en-AU" sz="2400" dirty="0"/>
              <a:t>)</a:t>
            </a:r>
            <a:r>
              <a:rPr lang="en-AU" sz="2400" baseline="-25000" dirty="0"/>
              <a:t>2</a:t>
            </a:r>
            <a:r>
              <a:rPr lang="en-AU" sz="2400" dirty="0"/>
              <a:t>, and it burns a brick red colour. Is it the electrons in the calcium ion or the nitrate ion  that is causing the observed colour?</a:t>
            </a:r>
          </a:p>
        </p:txBody>
      </p:sp>
      <p:pic>
        <p:nvPicPr>
          <p:cNvPr id="3074" name="Picture 2" descr="http://www.techplayon.com/wp-content/uploads/2017/12/wave7.png">
            <a:extLst>
              <a:ext uri="{FF2B5EF4-FFF2-40B4-BE49-F238E27FC236}">
                <a16:creationId xmlns:a16="http://schemas.microsoft.com/office/drawing/2014/main" id="{594BCA40-F470-453A-A03E-189F73310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766" y="1743756"/>
            <a:ext cx="3438525" cy="94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494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D48DB8-78B7-420F-8C99-FB79B0D7CC2A}"/>
              </a:ext>
            </a:extLst>
          </p:cNvPr>
          <p:cNvSpPr txBox="1"/>
          <p:nvPr/>
        </p:nvSpPr>
        <p:spPr>
          <a:xfrm>
            <a:off x="1045029" y="1545185"/>
            <a:ext cx="10853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Why an atom of hydrogen has more spectral lines than electrons.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AEB40D-7289-4F30-B737-9495507AA8D4}"/>
              </a:ext>
            </a:extLst>
          </p:cNvPr>
          <p:cNvSpPr txBox="1"/>
          <p:nvPr/>
        </p:nvSpPr>
        <p:spPr>
          <a:xfrm>
            <a:off x="1583871" y="2188029"/>
            <a:ext cx="801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An electron can be promoted to multiple levels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234D2-4E7C-40EE-B021-0E706396F36D}"/>
              </a:ext>
            </a:extLst>
          </p:cNvPr>
          <p:cNvSpPr txBox="1"/>
          <p:nvPr/>
        </p:nvSpPr>
        <p:spPr>
          <a:xfrm>
            <a:off x="1094015" y="3301190"/>
            <a:ext cx="941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2. The flame of sodium chloride salt burned in ethanol appears yellow. Why yellow    is the colour observed?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97916-BB2C-4BF5-8E02-523DB8C091E7}"/>
              </a:ext>
            </a:extLst>
          </p:cNvPr>
          <p:cNvSpPr txBox="1"/>
          <p:nvPr/>
        </p:nvSpPr>
        <p:spPr>
          <a:xfrm>
            <a:off x="1485900" y="4267200"/>
            <a:ext cx="8360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Majority of electron transitions emit energy corresponding to yellow light</a:t>
            </a:r>
          </a:p>
        </p:txBody>
      </p:sp>
    </p:spTree>
    <p:extLst>
      <p:ext uri="{BB962C8B-B14F-4D97-AF65-F5344CB8AC3E}">
        <p14:creationId xmlns:p14="http://schemas.microsoft.com/office/powerpoint/2010/main" val="386005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4C7076-3FA4-4B9A-AB7F-32A8E10E1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2899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250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BDCCF4CE-6E14-47C7-A8AD-802594EA5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629" y="571500"/>
            <a:ext cx="7663542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7066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C71391-521D-408D-8A4A-96D09AD28218}"/>
              </a:ext>
            </a:extLst>
          </p:cNvPr>
          <p:cNvSpPr txBox="1"/>
          <p:nvPr/>
        </p:nvSpPr>
        <p:spPr>
          <a:xfrm>
            <a:off x="1006929" y="2166257"/>
            <a:ext cx="101237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 What are possible sources of error in this experiment?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  <a:p>
            <a:r>
              <a:rPr lang="en-US" sz="2400" dirty="0"/>
              <a:t>2.  How can the procedure be changed to reduce these sources of error?</a:t>
            </a:r>
          </a:p>
        </p:txBody>
      </p:sp>
    </p:spTree>
    <p:extLst>
      <p:ext uri="{BB962C8B-B14F-4D97-AF65-F5344CB8AC3E}">
        <p14:creationId xmlns:p14="http://schemas.microsoft.com/office/powerpoint/2010/main" val="7255655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Related image">
            <a:extLst>
              <a:ext uri="{FF2B5EF4-FFF2-40B4-BE49-F238E27FC236}">
                <a16:creationId xmlns:a16="http://schemas.microsoft.com/office/drawing/2014/main" id="{BB2B320D-79AE-492B-AFCC-64E599B34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31343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DE739DB4-59CA-456E-8026-1E16E5FB8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63794" y="303595"/>
            <a:ext cx="8610600" cy="1293028"/>
          </a:xfrm>
        </p:spPr>
        <p:txBody>
          <a:bodyPr/>
          <a:lstStyle/>
          <a:p>
            <a:r>
              <a:rPr lang="en-GB" altLang="en-US" b="1" u="sng" dirty="0">
                <a:solidFill>
                  <a:schemeClr val="bg1"/>
                </a:solidFill>
              </a:rPr>
              <a:t>Ionisation Energy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E68B575D-DC24-49FB-BAFE-9C7A625B1B0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848497" y="1634683"/>
            <a:ext cx="5853285" cy="2480077"/>
          </a:xfrm>
        </p:spPr>
        <p:txBody>
          <a:bodyPr>
            <a:normAutofit/>
          </a:bodyPr>
          <a:lstStyle/>
          <a:p>
            <a:r>
              <a:rPr lang="en-GB" altLang="en-US" sz="2400" b="1" dirty="0">
                <a:solidFill>
                  <a:schemeClr val="bg1"/>
                </a:solidFill>
              </a:rPr>
              <a:t>The energy levels get more closely spaced, until they converge. </a:t>
            </a:r>
          </a:p>
          <a:p>
            <a:r>
              <a:rPr lang="en-GB" altLang="en-US" sz="2400" b="1" dirty="0">
                <a:solidFill>
                  <a:schemeClr val="bg1"/>
                </a:solidFill>
              </a:rPr>
              <a:t>At this energy, the electron can escape from the atom.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CDD90-6731-45A4-8EA3-4B8031F5F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8497" y="3620490"/>
            <a:ext cx="6054682" cy="212128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bg1"/>
                </a:solidFill>
              </a:rPr>
              <a:t>The electron is free, the atom has been ionised:</a:t>
            </a:r>
            <a:br>
              <a:rPr lang="en-GB" sz="2400" b="1" dirty="0">
                <a:solidFill>
                  <a:schemeClr val="bg1"/>
                </a:solidFill>
              </a:rPr>
            </a:br>
            <a:r>
              <a:rPr lang="en-GB" sz="2400" b="1" dirty="0">
                <a:solidFill>
                  <a:schemeClr val="bg1"/>
                </a:solidFill>
              </a:rPr>
              <a:t>	X</a:t>
            </a:r>
            <a:r>
              <a:rPr lang="en-GB" sz="2400" b="1" baseline="-25000" dirty="0">
                <a:solidFill>
                  <a:schemeClr val="bg1"/>
                </a:solidFill>
              </a:rPr>
              <a:t>(g)</a:t>
            </a:r>
            <a:r>
              <a:rPr lang="en-GB" sz="2400" b="1" dirty="0">
                <a:solidFill>
                  <a:schemeClr val="bg1"/>
                </a:solidFill>
              </a:rPr>
              <a:t> </a:t>
            </a:r>
            <a:r>
              <a:rPr lang="en-GB" sz="2400" b="1" dirty="0">
                <a:solidFill>
                  <a:schemeClr val="bg1"/>
                </a:solidFill>
                <a:latin typeface="Arial"/>
                <a:cs typeface="Arial"/>
              </a:rPr>
              <a:t>→ </a:t>
            </a:r>
            <a:r>
              <a:rPr lang="en-GB" sz="2400" b="1" dirty="0">
                <a:solidFill>
                  <a:schemeClr val="bg1"/>
                </a:solidFill>
                <a:latin typeface="+mj-lt"/>
                <a:cs typeface="Arial"/>
              </a:rPr>
              <a:t>X</a:t>
            </a:r>
            <a:r>
              <a:rPr lang="en-GB" sz="2400" b="1" baseline="30000" dirty="0">
                <a:solidFill>
                  <a:schemeClr val="bg1"/>
                </a:solidFill>
                <a:latin typeface="+mj-lt"/>
                <a:cs typeface="Arial"/>
              </a:rPr>
              <a:t>+</a:t>
            </a:r>
            <a:r>
              <a:rPr lang="en-GB" sz="2400" b="1" baseline="-25000" dirty="0">
                <a:solidFill>
                  <a:schemeClr val="bg1"/>
                </a:solidFill>
                <a:latin typeface="+mj-lt"/>
                <a:cs typeface="Arial"/>
              </a:rPr>
              <a:t>(g)</a:t>
            </a:r>
            <a:r>
              <a:rPr lang="en-GB" sz="2400" b="1" dirty="0">
                <a:solidFill>
                  <a:schemeClr val="bg1"/>
                </a:solidFill>
                <a:latin typeface="+mj-lt"/>
              </a:rPr>
              <a:t> + e</a:t>
            </a:r>
            <a:r>
              <a:rPr lang="en-GB" sz="2400" b="1" baseline="30000" dirty="0">
                <a:solidFill>
                  <a:schemeClr val="bg1"/>
                </a:solidFill>
                <a:latin typeface="+mj-lt"/>
              </a:rPr>
              <a:t>-</a:t>
            </a:r>
            <a:endParaRPr lang="en-GB" sz="2400" b="1" dirty="0">
              <a:solidFill>
                <a:schemeClr val="bg1"/>
              </a:solidFill>
              <a:latin typeface="+mj-lt"/>
            </a:endParaRPr>
          </a:p>
          <a:p>
            <a:pPr>
              <a:defRPr/>
            </a:pPr>
            <a:r>
              <a:rPr lang="en-GB" sz="2400" b="1" dirty="0">
                <a:solidFill>
                  <a:schemeClr val="bg1"/>
                </a:solidFill>
                <a:latin typeface="+mj-lt"/>
              </a:rPr>
              <a:t>The energy needed is the ionisation energy. </a:t>
            </a:r>
          </a:p>
        </p:txBody>
      </p:sp>
      <p:pic>
        <p:nvPicPr>
          <p:cNvPr id="17413" name="Picture 2">
            <a:extLst>
              <a:ext uri="{FF2B5EF4-FFF2-40B4-BE49-F238E27FC236}">
                <a16:creationId xmlns:a16="http://schemas.microsoft.com/office/drawing/2014/main" id="{E23B6EEC-D20C-4159-B99F-A631AAC5F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7"/>
          <a:stretch>
            <a:fillRect/>
          </a:stretch>
        </p:blipFill>
        <p:spPr bwMode="auto">
          <a:xfrm>
            <a:off x="7069094" y="2267404"/>
            <a:ext cx="4550678" cy="369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0</TotalTime>
  <Words>1277</Words>
  <Application>Microsoft Office PowerPoint</Application>
  <PresentationFormat>Widescreen</PresentationFormat>
  <Paragraphs>123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Century Gothic</vt:lpstr>
      <vt:lpstr>lato</vt:lpstr>
      <vt:lpstr>Symbol</vt:lpstr>
      <vt:lpstr>Trebuchet MS</vt:lpstr>
      <vt:lpstr>Vapor Trail</vt:lpstr>
      <vt:lpstr>Atomic Theory: Spectroscopy and Flame Test</vt:lpstr>
      <vt:lpstr>Atomic Absorption &amp; Emission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Light:     Wave or particle?</vt:lpstr>
      <vt:lpstr>Wave theory of light</vt:lpstr>
      <vt:lpstr>PowerPoint Presentation</vt:lpstr>
      <vt:lpstr>c = V λ</vt:lpstr>
      <vt:lpstr>Particle theory of light</vt:lpstr>
      <vt:lpstr>PowerPoint Presentation</vt:lpstr>
      <vt:lpstr>Atomic Spectra</vt:lpstr>
      <vt:lpstr>PowerPoint Presentation</vt:lpstr>
      <vt:lpstr>PowerPoint Presentation</vt:lpstr>
      <vt:lpstr>PowerPoint Presentation</vt:lpstr>
      <vt:lpstr>Atomic Spectra</vt:lpstr>
      <vt:lpstr>PowerPoint Presentation</vt:lpstr>
      <vt:lpstr>Bohr’s model of the atom</vt:lpstr>
      <vt:lpstr>PowerPoint Presentation</vt:lpstr>
      <vt:lpstr>PowerPoint Presentation</vt:lpstr>
      <vt:lpstr>Absorption vs Emission</vt:lpstr>
      <vt:lpstr>Absorption Spectra</vt:lpstr>
      <vt:lpstr>Atomic Absorption Spectroscopy</vt:lpstr>
      <vt:lpstr>Emission Spectra</vt:lpstr>
      <vt:lpstr>Energy level diagram</vt:lpstr>
      <vt:lpstr>PowerPoint Presentation</vt:lpstr>
      <vt:lpstr>PowerPoint Presentation</vt:lpstr>
      <vt:lpstr>Flame Tests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Ionisation Energy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 Pilling</dc:creator>
  <cp:lastModifiedBy>Shen-Kit Hia</cp:lastModifiedBy>
  <cp:revision>41</cp:revision>
  <dcterms:created xsi:type="dcterms:W3CDTF">2018-02-12T12:07:02Z</dcterms:created>
  <dcterms:modified xsi:type="dcterms:W3CDTF">2020-03-13T02:31:23Z</dcterms:modified>
</cp:coreProperties>
</file>
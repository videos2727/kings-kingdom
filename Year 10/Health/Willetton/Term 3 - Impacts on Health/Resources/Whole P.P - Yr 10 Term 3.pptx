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1"/>
  </p:sldMasterIdLst>
  <p:notesMasterIdLst>
    <p:notesMasterId r:id="rId84"/>
  </p:notesMasterIdLst>
  <p:sldIdLst>
    <p:sldId id="256" r:id="rId2"/>
    <p:sldId id="262" r:id="rId3"/>
    <p:sldId id="557" r:id="rId4"/>
    <p:sldId id="263" r:id="rId5"/>
    <p:sldId id="558" r:id="rId6"/>
    <p:sldId id="559" r:id="rId7"/>
    <p:sldId id="560" r:id="rId8"/>
    <p:sldId id="561" r:id="rId9"/>
    <p:sldId id="563" r:id="rId10"/>
    <p:sldId id="268" r:id="rId11"/>
    <p:sldId id="564" r:id="rId12"/>
    <p:sldId id="565" r:id="rId13"/>
    <p:sldId id="566" r:id="rId14"/>
    <p:sldId id="568" r:id="rId15"/>
    <p:sldId id="567" r:id="rId16"/>
    <p:sldId id="569" r:id="rId17"/>
    <p:sldId id="570" r:id="rId18"/>
    <p:sldId id="571" r:id="rId19"/>
    <p:sldId id="572" r:id="rId20"/>
    <p:sldId id="573" r:id="rId21"/>
    <p:sldId id="574" r:id="rId22"/>
    <p:sldId id="258" r:id="rId23"/>
    <p:sldId id="264" r:id="rId24"/>
    <p:sldId id="575" r:id="rId25"/>
    <p:sldId id="576" r:id="rId26"/>
    <p:sldId id="578" r:id="rId27"/>
    <p:sldId id="577" r:id="rId28"/>
    <p:sldId id="579" r:id="rId29"/>
    <p:sldId id="269" r:id="rId30"/>
    <p:sldId id="284" r:id="rId31"/>
    <p:sldId id="584" r:id="rId32"/>
    <p:sldId id="585" r:id="rId33"/>
    <p:sldId id="587" r:id="rId34"/>
    <p:sldId id="586" r:id="rId35"/>
    <p:sldId id="270" r:id="rId36"/>
    <p:sldId id="562" r:id="rId37"/>
    <p:sldId id="588" r:id="rId38"/>
    <p:sldId id="589" r:id="rId39"/>
    <p:sldId id="590" r:id="rId40"/>
    <p:sldId id="591" r:id="rId41"/>
    <p:sldId id="289" r:id="rId42"/>
    <p:sldId id="593" r:id="rId43"/>
    <p:sldId id="594" r:id="rId44"/>
    <p:sldId id="259" r:id="rId45"/>
    <p:sldId id="265" r:id="rId46"/>
    <p:sldId id="595" r:id="rId47"/>
    <p:sldId id="271" r:id="rId48"/>
    <p:sldId id="602" r:id="rId49"/>
    <p:sldId id="603" r:id="rId50"/>
    <p:sldId id="604" r:id="rId51"/>
    <p:sldId id="605" r:id="rId52"/>
    <p:sldId id="606" r:id="rId53"/>
    <p:sldId id="607" r:id="rId54"/>
    <p:sldId id="598" r:id="rId55"/>
    <p:sldId id="323" r:id="rId56"/>
    <p:sldId id="260" r:id="rId57"/>
    <p:sldId id="266" r:id="rId58"/>
    <p:sldId id="608" r:id="rId59"/>
    <p:sldId id="609" r:id="rId60"/>
    <p:sldId id="610" r:id="rId61"/>
    <p:sldId id="581" r:id="rId62"/>
    <p:sldId id="611" r:id="rId63"/>
    <p:sldId id="612" r:id="rId64"/>
    <p:sldId id="613" r:id="rId65"/>
    <p:sldId id="615" r:id="rId66"/>
    <p:sldId id="616" r:id="rId67"/>
    <p:sldId id="617" r:id="rId68"/>
    <p:sldId id="618" r:id="rId69"/>
    <p:sldId id="600" r:id="rId70"/>
    <p:sldId id="630" r:id="rId71"/>
    <p:sldId id="626" r:id="rId72"/>
    <p:sldId id="625" r:id="rId73"/>
    <p:sldId id="261" r:id="rId74"/>
    <p:sldId id="267" r:id="rId75"/>
    <p:sldId id="620" r:id="rId76"/>
    <p:sldId id="621" r:id="rId77"/>
    <p:sldId id="622" r:id="rId78"/>
    <p:sldId id="623" r:id="rId79"/>
    <p:sldId id="628" r:id="rId80"/>
    <p:sldId id="627" r:id="rId81"/>
    <p:sldId id="629" r:id="rId82"/>
    <p:sldId id="631"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31"/>
    <p:restoredTop sz="83030"/>
  </p:normalViewPr>
  <p:slideViewPr>
    <p:cSldViewPr snapToGrid="0">
      <p:cViewPr varScale="1">
        <p:scale>
          <a:sx n="94" d="100"/>
          <a:sy n="94" d="100"/>
        </p:scale>
        <p:origin x="14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diagrams/_rels/data3.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4.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5.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DB3F05-4AF7-4974-B896-466F1671F96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362A844-4537-49C6-83D7-648189C3A52C}">
      <dgm:prSet/>
      <dgm:spPr/>
      <dgm:t>
        <a:bodyPr/>
        <a:lstStyle/>
        <a:p>
          <a:r>
            <a:rPr lang="en-US"/>
            <a:t>Program: </a:t>
          </a:r>
        </a:p>
      </dgm:t>
    </dgm:pt>
    <dgm:pt modelId="{40686B48-7E03-4A02-B431-94604788AC6A}" type="parTrans" cxnId="{67B961EB-F6E6-4AA8-8561-35301F39B62E}">
      <dgm:prSet/>
      <dgm:spPr/>
      <dgm:t>
        <a:bodyPr/>
        <a:lstStyle/>
        <a:p>
          <a:endParaRPr lang="en-US"/>
        </a:p>
      </dgm:t>
    </dgm:pt>
    <dgm:pt modelId="{3A969CD4-AA72-482B-93BB-7B07AE495EEC}" type="sibTrans" cxnId="{67B961EB-F6E6-4AA8-8561-35301F39B62E}">
      <dgm:prSet/>
      <dgm:spPr/>
      <dgm:t>
        <a:bodyPr/>
        <a:lstStyle/>
        <a:p>
          <a:endParaRPr lang="en-US"/>
        </a:p>
      </dgm:t>
    </dgm:pt>
    <dgm:pt modelId="{D6184064-E944-4B8E-9ACA-B02BD0DAF2E7}">
      <dgm:prSet custT="1"/>
      <dgm:spPr/>
      <dgm:t>
        <a:bodyPr/>
        <a:lstStyle/>
        <a:p>
          <a:r>
            <a:rPr lang="en-US" sz="2000" dirty="0"/>
            <a:t>Weeks 1 – 5: Impacts on Health</a:t>
          </a:r>
        </a:p>
      </dgm:t>
    </dgm:pt>
    <dgm:pt modelId="{5AAEA22C-B7B0-4C19-8999-41F47C1CB638}" type="parTrans" cxnId="{21653235-AA25-426C-B2D0-4EB38418DFCC}">
      <dgm:prSet/>
      <dgm:spPr/>
      <dgm:t>
        <a:bodyPr/>
        <a:lstStyle/>
        <a:p>
          <a:endParaRPr lang="en-US"/>
        </a:p>
      </dgm:t>
    </dgm:pt>
    <dgm:pt modelId="{9E9D9431-AA2C-4599-833D-1137B5A878FA}" type="sibTrans" cxnId="{21653235-AA25-426C-B2D0-4EB38418DFCC}">
      <dgm:prSet/>
      <dgm:spPr/>
      <dgm:t>
        <a:bodyPr/>
        <a:lstStyle/>
        <a:p>
          <a:endParaRPr lang="en-US"/>
        </a:p>
      </dgm:t>
    </dgm:pt>
    <dgm:pt modelId="{A854CB91-2148-450E-8FCE-66EA119CCC6E}">
      <dgm:prSet custT="1"/>
      <dgm:spPr/>
      <dgm:t>
        <a:bodyPr/>
        <a:lstStyle/>
        <a:p>
          <a:r>
            <a:rPr lang="en-US" sz="2000" dirty="0"/>
            <a:t>Weeks 6 – 10: Keys 4 Life</a:t>
          </a:r>
        </a:p>
      </dgm:t>
    </dgm:pt>
    <dgm:pt modelId="{C5E5A3E0-83F6-4CE2-B7CB-4E4B5C141D99}" type="parTrans" cxnId="{10279BE3-B15B-4914-BEF9-0580E7410D31}">
      <dgm:prSet/>
      <dgm:spPr/>
      <dgm:t>
        <a:bodyPr/>
        <a:lstStyle/>
        <a:p>
          <a:endParaRPr lang="en-US"/>
        </a:p>
      </dgm:t>
    </dgm:pt>
    <dgm:pt modelId="{5EBB0D28-75DA-41E3-BC79-BA0AB06BDB02}" type="sibTrans" cxnId="{10279BE3-B15B-4914-BEF9-0580E7410D31}">
      <dgm:prSet/>
      <dgm:spPr/>
      <dgm:t>
        <a:bodyPr/>
        <a:lstStyle/>
        <a:p>
          <a:endParaRPr lang="en-US"/>
        </a:p>
      </dgm:t>
    </dgm:pt>
    <dgm:pt modelId="{42E74B4E-B622-4C43-8B3F-EB18A9EF8CF0}">
      <dgm:prSet custT="1"/>
      <dgm:spPr/>
      <dgm:t>
        <a:bodyPr/>
        <a:lstStyle/>
        <a:p>
          <a:r>
            <a:rPr lang="en-US" sz="1600" i="1" dirty="0"/>
            <a:t>K4L will continue through to Term 4</a:t>
          </a:r>
          <a:endParaRPr lang="en-US" sz="1800" i="1" dirty="0"/>
        </a:p>
      </dgm:t>
    </dgm:pt>
    <dgm:pt modelId="{3EB0C418-88AB-4D31-AFB9-6B24CA6C40B6}" type="parTrans" cxnId="{5760B853-E727-4156-B079-D7699B2A7736}">
      <dgm:prSet/>
      <dgm:spPr/>
      <dgm:t>
        <a:bodyPr/>
        <a:lstStyle/>
        <a:p>
          <a:endParaRPr lang="en-US"/>
        </a:p>
      </dgm:t>
    </dgm:pt>
    <dgm:pt modelId="{471A4139-618D-46D4-8E1F-62E952C6EEE8}" type="sibTrans" cxnId="{5760B853-E727-4156-B079-D7699B2A7736}">
      <dgm:prSet/>
      <dgm:spPr/>
      <dgm:t>
        <a:bodyPr/>
        <a:lstStyle/>
        <a:p>
          <a:endParaRPr lang="en-US"/>
        </a:p>
      </dgm:t>
    </dgm:pt>
    <dgm:pt modelId="{5EEB2F29-AC9F-4E4A-96F7-13C468C46D48}">
      <dgm:prSet/>
      <dgm:spPr/>
      <dgm:t>
        <a:bodyPr/>
        <a:lstStyle/>
        <a:p>
          <a:r>
            <a:rPr lang="en-US"/>
            <a:t>Assessment:</a:t>
          </a:r>
        </a:p>
      </dgm:t>
    </dgm:pt>
    <dgm:pt modelId="{5C6C7268-87E1-40E0-B540-BE704E52DF44}" type="parTrans" cxnId="{456165B8-783D-46C0-B520-7959CF674FCF}">
      <dgm:prSet/>
      <dgm:spPr/>
      <dgm:t>
        <a:bodyPr/>
        <a:lstStyle/>
        <a:p>
          <a:endParaRPr lang="en-US"/>
        </a:p>
      </dgm:t>
    </dgm:pt>
    <dgm:pt modelId="{D53DD915-42A8-44FA-9BDF-A9128DCD3AE1}" type="sibTrans" cxnId="{456165B8-783D-46C0-B520-7959CF674FCF}">
      <dgm:prSet/>
      <dgm:spPr/>
      <dgm:t>
        <a:bodyPr/>
        <a:lstStyle/>
        <a:p>
          <a:endParaRPr lang="en-US"/>
        </a:p>
      </dgm:t>
    </dgm:pt>
    <dgm:pt modelId="{1ED2D6D3-BD30-40F0-8081-71BD1C5F8606}">
      <dgm:prSet/>
      <dgm:spPr/>
      <dgm:t>
        <a:bodyPr/>
        <a:lstStyle/>
        <a:p>
          <a:r>
            <a:rPr lang="en-US" sz="2000" i="0" dirty="0"/>
            <a:t>Assessment Task 4: Impacts on Health</a:t>
          </a:r>
        </a:p>
      </dgm:t>
    </dgm:pt>
    <dgm:pt modelId="{DC98FEC4-CF9A-4B6B-A1F2-93392CBA5AB2}" type="parTrans" cxnId="{5F0CE24B-82B8-4F50-9127-12DCFE564B21}">
      <dgm:prSet/>
      <dgm:spPr/>
      <dgm:t>
        <a:bodyPr/>
        <a:lstStyle/>
        <a:p>
          <a:endParaRPr lang="en-US"/>
        </a:p>
      </dgm:t>
    </dgm:pt>
    <dgm:pt modelId="{BB9D2E1D-0052-43EA-89D8-506415CE401B}" type="sibTrans" cxnId="{5F0CE24B-82B8-4F50-9127-12DCFE564B21}">
      <dgm:prSet/>
      <dgm:spPr/>
      <dgm:t>
        <a:bodyPr/>
        <a:lstStyle/>
        <a:p>
          <a:endParaRPr lang="en-US"/>
        </a:p>
      </dgm:t>
    </dgm:pt>
    <dgm:pt modelId="{AE4DB529-7898-4EB0-8246-270A9834879C}">
      <dgm:prSet custT="1"/>
      <dgm:spPr/>
      <dgm:t>
        <a:bodyPr/>
        <a:lstStyle/>
        <a:p>
          <a:r>
            <a:rPr lang="en-US" sz="1600" i="0" dirty="0"/>
            <a:t>Analyse a health campaign</a:t>
          </a:r>
        </a:p>
      </dgm:t>
    </dgm:pt>
    <dgm:pt modelId="{A3E35A0B-4D8E-49D4-9F01-1E2F74B809A1}" type="parTrans" cxnId="{D24208DC-988E-41FD-899A-699A8A6BB70C}">
      <dgm:prSet/>
      <dgm:spPr/>
      <dgm:t>
        <a:bodyPr/>
        <a:lstStyle/>
        <a:p>
          <a:endParaRPr lang="en-US"/>
        </a:p>
      </dgm:t>
    </dgm:pt>
    <dgm:pt modelId="{28C38F59-EC59-4561-B7F4-D120EE42AFFF}" type="sibTrans" cxnId="{D24208DC-988E-41FD-899A-699A8A6BB70C}">
      <dgm:prSet/>
      <dgm:spPr/>
      <dgm:t>
        <a:bodyPr/>
        <a:lstStyle/>
        <a:p>
          <a:endParaRPr lang="en-US"/>
        </a:p>
      </dgm:t>
    </dgm:pt>
    <dgm:pt modelId="{A3813499-A912-4660-AFCE-FCECAD2D5BED}">
      <dgm:prSet custT="1"/>
      <dgm:spPr/>
      <dgm:t>
        <a:bodyPr/>
        <a:lstStyle/>
        <a:p>
          <a:r>
            <a:rPr lang="en-US" sz="1600" i="0" dirty="0"/>
            <a:t>Due: Week 6</a:t>
          </a:r>
        </a:p>
      </dgm:t>
    </dgm:pt>
    <dgm:pt modelId="{E4149BD6-6DC3-4B98-A644-8878DA7F6C26}" type="parTrans" cxnId="{7530D1D9-E05B-4A68-9C49-23E861F3527B}">
      <dgm:prSet/>
      <dgm:spPr/>
      <dgm:t>
        <a:bodyPr/>
        <a:lstStyle/>
        <a:p>
          <a:endParaRPr lang="en-US"/>
        </a:p>
      </dgm:t>
    </dgm:pt>
    <dgm:pt modelId="{11A5234F-96F7-4EAB-8C52-F0C63351A446}" type="sibTrans" cxnId="{7530D1D9-E05B-4A68-9C49-23E861F3527B}">
      <dgm:prSet/>
      <dgm:spPr/>
      <dgm:t>
        <a:bodyPr/>
        <a:lstStyle/>
        <a:p>
          <a:endParaRPr lang="en-US"/>
        </a:p>
      </dgm:t>
    </dgm:pt>
    <dgm:pt modelId="{0544640F-B1F0-7546-A52D-345221280C65}" type="pres">
      <dgm:prSet presAssocID="{29DB3F05-4AF7-4974-B896-466F1671F964}" presName="linear" presStyleCnt="0">
        <dgm:presLayoutVars>
          <dgm:dir/>
          <dgm:animLvl val="lvl"/>
          <dgm:resizeHandles val="exact"/>
        </dgm:presLayoutVars>
      </dgm:prSet>
      <dgm:spPr/>
    </dgm:pt>
    <dgm:pt modelId="{673777C2-CB8F-314E-88C8-7F0D64CA10C5}" type="pres">
      <dgm:prSet presAssocID="{1362A844-4537-49C6-83D7-648189C3A52C}" presName="parentLin" presStyleCnt="0"/>
      <dgm:spPr/>
    </dgm:pt>
    <dgm:pt modelId="{D24B19D3-51BD-6041-AF38-C8A26A324A53}" type="pres">
      <dgm:prSet presAssocID="{1362A844-4537-49C6-83D7-648189C3A52C}" presName="parentLeftMargin" presStyleLbl="node1" presStyleIdx="0" presStyleCnt="2"/>
      <dgm:spPr/>
    </dgm:pt>
    <dgm:pt modelId="{982DECBB-295F-3145-BC76-AF81B0EA6C66}" type="pres">
      <dgm:prSet presAssocID="{1362A844-4537-49C6-83D7-648189C3A52C}" presName="parentText" presStyleLbl="node1" presStyleIdx="0" presStyleCnt="2">
        <dgm:presLayoutVars>
          <dgm:chMax val="0"/>
          <dgm:bulletEnabled val="1"/>
        </dgm:presLayoutVars>
      </dgm:prSet>
      <dgm:spPr/>
    </dgm:pt>
    <dgm:pt modelId="{5B102B90-6080-FE41-B1F6-20DACB88B601}" type="pres">
      <dgm:prSet presAssocID="{1362A844-4537-49C6-83D7-648189C3A52C}" presName="negativeSpace" presStyleCnt="0"/>
      <dgm:spPr/>
    </dgm:pt>
    <dgm:pt modelId="{753F34FC-B2F0-4548-A1BC-04DB1568CF43}" type="pres">
      <dgm:prSet presAssocID="{1362A844-4537-49C6-83D7-648189C3A52C}" presName="childText" presStyleLbl="conFgAcc1" presStyleIdx="0" presStyleCnt="2">
        <dgm:presLayoutVars>
          <dgm:bulletEnabled val="1"/>
        </dgm:presLayoutVars>
      </dgm:prSet>
      <dgm:spPr/>
    </dgm:pt>
    <dgm:pt modelId="{2EF28A4F-0934-9C4F-93B5-BC1B4292C811}" type="pres">
      <dgm:prSet presAssocID="{3A969CD4-AA72-482B-93BB-7B07AE495EEC}" presName="spaceBetweenRectangles" presStyleCnt="0"/>
      <dgm:spPr/>
    </dgm:pt>
    <dgm:pt modelId="{59BE2440-0410-7347-8476-CD66E0F10903}" type="pres">
      <dgm:prSet presAssocID="{5EEB2F29-AC9F-4E4A-96F7-13C468C46D48}" presName="parentLin" presStyleCnt="0"/>
      <dgm:spPr/>
    </dgm:pt>
    <dgm:pt modelId="{B83BAA1A-32AB-2D43-8AB6-D07286257235}" type="pres">
      <dgm:prSet presAssocID="{5EEB2F29-AC9F-4E4A-96F7-13C468C46D48}" presName="parentLeftMargin" presStyleLbl="node1" presStyleIdx="0" presStyleCnt="2"/>
      <dgm:spPr/>
    </dgm:pt>
    <dgm:pt modelId="{CD117D01-2FE6-0540-B940-462AF59C48DF}" type="pres">
      <dgm:prSet presAssocID="{5EEB2F29-AC9F-4E4A-96F7-13C468C46D48}" presName="parentText" presStyleLbl="node1" presStyleIdx="1" presStyleCnt="2">
        <dgm:presLayoutVars>
          <dgm:chMax val="0"/>
          <dgm:bulletEnabled val="1"/>
        </dgm:presLayoutVars>
      </dgm:prSet>
      <dgm:spPr/>
    </dgm:pt>
    <dgm:pt modelId="{E3ADA703-9B14-5348-9520-F0801C28F194}" type="pres">
      <dgm:prSet presAssocID="{5EEB2F29-AC9F-4E4A-96F7-13C468C46D48}" presName="negativeSpace" presStyleCnt="0"/>
      <dgm:spPr/>
    </dgm:pt>
    <dgm:pt modelId="{83F002F4-6976-1C48-A96A-0B0A31488801}" type="pres">
      <dgm:prSet presAssocID="{5EEB2F29-AC9F-4E4A-96F7-13C468C46D48}" presName="childText" presStyleLbl="conFgAcc1" presStyleIdx="1" presStyleCnt="2">
        <dgm:presLayoutVars>
          <dgm:bulletEnabled val="1"/>
        </dgm:presLayoutVars>
      </dgm:prSet>
      <dgm:spPr/>
    </dgm:pt>
  </dgm:ptLst>
  <dgm:cxnLst>
    <dgm:cxn modelId="{61AEB318-A8D6-FD4B-9F9B-AC8760AC6F5B}" type="presOf" srcId="{29DB3F05-4AF7-4974-B896-466F1671F964}" destId="{0544640F-B1F0-7546-A52D-345221280C65}" srcOrd="0" destOrd="0" presId="urn:microsoft.com/office/officeart/2005/8/layout/list1"/>
    <dgm:cxn modelId="{9056C821-27A7-8A41-A770-B20BBCABA45F}" type="presOf" srcId="{1362A844-4537-49C6-83D7-648189C3A52C}" destId="{982DECBB-295F-3145-BC76-AF81B0EA6C66}" srcOrd="1" destOrd="0" presId="urn:microsoft.com/office/officeart/2005/8/layout/list1"/>
    <dgm:cxn modelId="{21653235-AA25-426C-B2D0-4EB38418DFCC}" srcId="{1362A844-4537-49C6-83D7-648189C3A52C}" destId="{D6184064-E944-4B8E-9ACA-B02BD0DAF2E7}" srcOrd="0" destOrd="0" parTransId="{5AAEA22C-B7B0-4C19-8999-41F47C1CB638}" sibTransId="{9E9D9431-AA2C-4599-833D-1137B5A878FA}"/>
    <dgm:cxn modelId="{B562FD47-F815-AB42-8249-BA9B690A4125}" type="presOf" srcId="{A854CB91-2148-450E-8FCE-66EA119CCC6E}" destId="{753F34FC-B2F0-4548-A1BC-04DB1568CF43}" srcOrd="0" destOrd="1" presId="urn:microsoft.com/office/officeart/2005/8/layout/list1"/>
    <dgm:cxn modelId="{5F0CE24B-82B8-4F50-9127-12DCFE564B21}" srcId="{5EEB2F29-AC9F-4E4A-96F7-13C468C46D48}" destId="{1ED2D6D3-BD30-40F0-8081-71BD1C5F8606}" srcOrd="0" destOrd="0" parTransId="{DC98FEC4-CF9A-4B6B-A1F2-93392CBA5AB2}" sibTransId="{BB9D2E1D-0052-43EA-89D8-506415CE401B}"/>
    <dgm:cxn modelId="{2C97084D-EA48-0845-A4F4-5401E038F80F}" type="presOf" srcId="{5EEB2F29-AC9F-4E4A-96F7-13C468C46D48}" destId="{B83BAA1A-32AB-2D43-8AB6-D07286257235}" srcOrd="0" destOrd="0" presId="urn:microsoft.com/office/officeart/2005/8/layout/list1"/>
    <dgm:cxn modelId="{5760B853-E727-4156-B079-D7699B2A7736}" srcId="{A854CB91-2148-450E-8FCE-66EA119CCC6E}" destId="{42E74B4E-B622-4C43-8B3F-EB18A9EF8CF0}" srcOrd="0" destOrd="0" parTransId="{3EB0C418-88AB-4D31-AFB9-6B24CA6C40B6}" sibTransId="{471A4139-618D-46D4-8E1F-62E952C6EEE8}"/>
    <dgm:cxn modelId="{DB665B5A-316A-4F49-9FDF-58813EAF672F}" type="presOf" srcId="{1ED2D6D3-BD30-40F0-8081-71BD1C5F8606}" destId="{83F002F4-6976-1C48-A96A-0B0A31488801}" srcOrd="0" destOrd="0" presId="urn:microsoft.com/office/officeart/2005/8/layout/list1"/>
    <dgm:cxn modelId="{318D796E-56EB-B949-9655-5DB6AF401912}" type="presOf" srcId="{D6184064-E944-4B8E-9ACA-B02BD0DAF2E7}" destId="{753F34FC-B2F0-4548-A1BC-04DB1568CF43}" srcOrd="0" destOrd="0" presId="urn:microsoft.com/office/officeart/2005/8/layout/list1"/>
    <dgm:cxn modelId="{CA0F8AA3-9117-DA43-B364-647372D73911}" type="presOf" srcId="{42E74B4E-B622-4C43-8B3F-EB18A9EF8CF0}" destId="{753F34FC-B2F0-4548-A1BC-04DB1568CF43}" srcOrd="0" destOrd="2" presId="urn:microsoft.com/office/officeart/2005/8/layout/list1"/>
    <dgm:cxn modelId="{D8B1BFA5-CA30-AE40-9D9E-43F18DCEB6C0}" type="presOf" srcId="{5EEB2F29-AC9F-4E4A-96F7-13C468C46D48}" destId="{CD117D01-2FE6-0540-B940-462AF59C48DF}" srcOrd="1" destOrd="0" presId="urn:microsoft.com/office/officeart/2005/8/layout/list1"/>
    <dgm:cxn modelId="{456165B8-783D-46C0-B520-7959CF674FCF}" srcId="{29DB3F05-4AF7-4974-B896-466F1671F964}" destId="{5EEB2F29-AC9F-4E4A-96F7-13C468C46D48}" srcOrd="1" destOrd="0" parTransId="{5C6C7268-87E1-40E0-B540-BE704E52DF44}" sibTransId="{D53DD915-42A8-44FA-9BDF-A9128DCD3AE1}"/>
    <dgm:cxn modelId="{7530D1D9-E05B-4A68-9C49-23E861F3527B}" srcId="{1ED2D6D3-BD30-40F0-8081-71BD1C5F8606}" destId="{A3813499-A912-4660-AFCE-FCECAD2D5BED}" srcOrd="1" destOrd="0" parTransId="{E4149BD6-6DC3-4B98-A644-8878DA7F6C26}" sibTransId="{11A5234F-96F7-4EAB-8C52-F0C63351A446}"/>
    <dgm:cxn modelId="{D24208DC-988E-41FD-899A-699A8A6BB70C}" srcId="{1ED2D6D3-BD30-40F0-8081-71BD1C5F8606}" destId="{AE4DB529-7898-4EB0-8246-270A9834879C}" srcOrd="0" destOrd="0" parTransId="{A3E35A0B-4D8E-49D4-9F01-1E2F74B809A1}" sibTransId="{28C38F59-EC59-4561-B7F4-D120EE42AFFF}"/>
    <dgm:cxn modelId="{9C5466E2-9CBB-084B-A0BB-5A5CD84C5354}" type="presOf" srcId="{A3813499-A912-4660-AFCE-FCECAD2D5BED}" destId="{83F002F4-6976-1C48-A96A-0B0A31488801}" srcOrd="0" destOrd="2" presId="urn:microsoft.com/office/officeart/2005/8/layout/list1"/>
    <dgm:cxn modelId="{10279BE3-B15B-4914-BEF9-0580E7410D31}" srcId="{1362A844-4537-49C6-83D7-648189C3A52C}" destId="{A854CB91-2148-450E-8FCE-66EA119CCC6E}" srcOrd="1" destOrd="0" parTransId="{C5E5A3E0-83F6-4CE2-B7CB-4E4B5C141D99}" sibTransId="{5EBB0D28-75DA-41E3-BC79-BA0AB06BDB02}"/>
    <dgm:cxn modelId="{67B961EB-F6E6-4AA8-8561-35301F39B62E}" srcId="{29DB3F05-4AF7-4974-B896-466F1671F964}" destId="{1362A844-4537-49C6-83D7-648189C3A52C}" srcOrd="0" destOrd="0" parTransId="{40686B48-7E03-4A02-B431-94604788AC6A}" sibTransId="{3A969CD4-AA72-482B-93BB-7B07AE495EEC}"/>
    <dgm:cxn modelId="{2ACC07F2-0B5E-B24E-B8C9-1391A421812F}" type="presOf" srcId="{1362A844-4537-49C6-83D7-648189C3A52C}" destId="{D24B19D3-51BD-6041-AF38-C8A26A324A53}" srcOrd="0" destOrd="0" presId="urn:microsoft.com/office/officeart/2005/8/layout/list1"/>
    <dgm:cxn modelId="{A398AFFE-1C39-3042-933E-0980E4A8BDCB}" type="presOf" srcId="{AE4DB529-7898-4EB0-8246-270A9834879C}" destId="{83F002F4-6976-1C48-A96A-0B0A31488801}" srcOrd="0" destOrd="1" presId="urn:microsoft.com/office/officeart/2005/8/layout/list1"/>
    <dgm:cxn modelId="{7FD54F8F-734B-884B-B972-E1A8FB8BDDE0}" type="presParOf" srcId="{0544640F-B1F0-7546-A52D-345221280C65}" destId="{673777C2-CB8F-314E-88C8-7F0D64CA10C5}" srcOrd="0" destOrd="0" presId="urn:microsoft.com/office/officeart/2005/8/layout/list1"/>
    <dgm:cxn modelId="{5E9A548F-014A-664A-B66F-04B127890350}" type="presParOf" srcId="{673777C2-CB8F-314E-88C8-7F0D64CA10C5}" destId="{D24B19D3-51BD-6041-AF38-C8A26A324A53}" srcOrd="0" destOrd="0" presId="urn:microsoft.com/office/officeart/2005/8/layout/list1"/>
    <dgm:cxn modelId="{4C240516-12DF-D249-AD50-CDDD77167D8D}" type="presParOf" srcId="{673777C2-CB8F-314E-88C8-7F0D64CA10C5}" destId="{982DECBB-295F-3145-BC76-AF81B0EA6C66}" srcOrd="1" destOrd="0" presId="urn:microsoft.com/office/officeart/2005/8/layout/list1"/>
    <dgm:cxn modelId="{D369A1B5-9804-CA49-B364-12F6D8B645F2}" type="presParOf" srcId="{0544640F-B1F0-7546-A52D-345221280C65}" destId="{5B102B90-6080-FE41-B1F6-20DACB88B601}" srcOrd="1" destOrd="0" presId="urn:microsoft.com/office/officeart/2005/8/layout/list1"/>
    <dgm:cxn modelId="{DA28EB94-CCA7-6847-82DC-13EB06D5446B}" type="presParOf" srcId="{0544640F-B1F0-7546-A52D-345221280C65}" destId="{753F34FC-B2F0-4548-A1BC-04DB1568CF43}" srcOrd="2" destOrd="0" presId="urn:microsoft.com/office/officeart/2005/8/layout/list1"/>
    <dgm:cxn modelId="{4F3ED69A-2088-5141-811B-ED795B6A77B4}" type="presParOf" srcId="{0544640F-B1F0-7546-A52D-345221280C65}" destId="{2EF28A4F-0934-9C4F-93B5-BC1B4292C811}" srcOrd="3" destOrd="0" presId="urn:microsoft.com/office/officeart/2005/8/layout/list1"/>
    <dgm:cxn modelId="{57181446-E2C4-2045-B512-6214455DCDE3}" type="presParOf" srcId="{0544640F-B1F0-7546-A52D-345221280C65}" destId="{59BE2440-0410-7347-8476-CD66E0F10903}" srcOrd="4" destOrd="0" presId="urn:microsoft.com/office/officeart/2005/8/layout/list1"/>
    <dgm:cxn modelId="{C92E6ED4-FE35-ED4B-92BA-51366F17E120}" type="presParOf" srcId="{59BE2440-0410-7347-8476-CD66E0F10903}" destId="{B83BAA1A-32AB-2D43-8AB6-D07286257235}" srcOrd="0" destOrd="0" presId="urn:microsoft.com/office/officeart/2005/8/layout/list1"/>
    <dgm:cxn modelId="{440A88AD-F86D-3D4E-83F9-6CC96EB807E2}" type="presParOf" srcId="{59BE2440-0410-7347-8476-CD66E0F10903}" destId="{CD117D01-2FE6-0540-B940-462AF59C48DF}" srcOrd="1" destOrd="0" presId="urn:microsoft.com/office/officeart/2005/8/layout/list1"/>
    <dgm:cxn modelId="{88863AD8-1EE0-5442-AB62-D06AD6C65D4B}" type="presParOf" srcId="{0544640F-B1F0-7546-A52D-345221280C65}" destId="{E3ADA703-9B14-5348-9520-F0801C28F194}" srcOrd="5" destOrd="0" presId="urn:microsoft.com/office/officeart/2005/8/layout/list1"/>
    <dgm:cxn modelId="{125DFA41-855F-5F49-95BD-5A3B693231BA}" type="presParOf" srcId="{0544640F-B1F0-7546-A52D-345221280C65}" destId="{83F002F4-6976-1C48-A96A-0B0A31488801}"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A17383-8DBB-4061-A936-00E8B6A25AA3}" type="doc">
      <dgm:prSet loTypeId="urn:microsoft.com/office/officeart/2005/8/layout/cycle5" loCatId="cycle" qsTypeId="urn:microsoft.com/office/officeart/2005/8/quickstyle/simple2" qsCatId="simple" csTypeId="urn:microsoft.com/office/officeart/2005/8/colors/colorful5" csCatId="colorful" phldr="1"/>
      <dgm:spPr/>
      <dgm:t>
        <a:bodyPr/>
        <a:lstStyle/>
        <a:p>
          <a:endParaRPr lang="en-US"/>
        </a:p>
      </dgm:t>
    </dgm:pt>
    <dgm:pt modelId="{7ACC7803-1D69-4421-8DE0-A862E51A0506}">
      <dgm:prSet/>
      <dgm:spPr>
        <a:solidFill>
          <a:srgbClr val="FF9300"/>
        </a:solidFill>
      </dgm:spPr>
      <dgm:t>
        <a:bodyPr/>
        <a:lstStyle/>
        <a:p>
          <a:r>
            <a:rPr lang="en-US" dirty="0"/>
            <a:t>Physical</a:t>
          </a:r>
        </a:p>
      </dgm:t>
    </dgm:pt>
    <dgm:pt modelId="{BD64BD42-631B-4057-A71C-DDB41163765D}" type="parTrans" cxnId="{5853C2CD-9F13-4606-82CE-58586EB223E0}">
      <dgm:prSet/>
      <dgm:spPr/>
      <dgm:t>
        <a:bodyPr/>
        <a:lstStyle/>
        <a:p>
          <a:endParaRPr lang="en-US"/>
        </a:p>
      </dgm:t>
    </dgm:pt>
    <dgm:pt modelId="{F128891B-10E7-49F0-9CC0-E9656FA3EE65}" type="sibTrans" cxnId="{5853C2CD-9F13-4606-82CE-58586EB223E0}">
      <dgm:prSet/>
      <dgm:spPr/>
      <dgm:t>
        <a:bodyPr/>
        <a:lstStyle/>
        <a:p>
          <a:endParaRPr lang="en-US"/>
        </a:p>
      </dgm:t>
    </dgm:pt>
    <dgm:pt modelId="{53F91F9F-E722-4996-98A7-5BCDA475B19A}">
      <dgm:prSet/>
      <dgm:spPr>
        <a:solidFill>
          <a:srgbClr val="FF40FF"/>
        </a:solidFill>
      </dgm:spPr>
      <dgm:t>
        <a:bodyPr/>
        <a:lstStyle/>
        <a:p>
          <a:r>
            <a:rPr lang="en-US" dirty="0"/>
            <a:t>Social</a:t>
          </a:r>
        </a:p>
      </dgm:t>
    </dgm:pt>
    <dgm:pt modelId="{55C3A980-DA74-4AB3-85A6-1325842A993E}" type="parTrans" cxnId="{F13138B3-E852-495A-B72C-C402C278F682}">
      <dgm:prSet/>
      <dgm:spPr/>
      <dgm:t>
        <a:bodyPr/>
        <a:lstStyle/>
        <a:p>
          <a:endParaRPr lang="en-US"/>
        </a:p>
      </dgm:t>
    </dgm:pt>
    <dgm:pt modelId="{617CB7D4-FFD5-437C-B35D-1059AF828D1A}" type="sibTrans" cxnId="{F13138B3-E852-495A-B72C-C402C278F682}">
      <dgm:prSet/>
      <dgm:spPr/>
      <dgm:t>
        <a:bodyPr/>
        <a:lstStyle/>
        <a:p>
          <a:endParaRPr lang="en-US"/>
        </a:p>
      </dgm:t>
    </dgm:pt>
    <dgm:pt modelId="{AAD5A651-C03D-402A-855F-766380AA9A09}">
      <dgm:prSet/>
      <dgm:spPr>
        <a:solidFill>
          <a:srgbClr val="76D6FF"/>
        </a:solidFill>
      </dgm:spPr>
      <dgm:t>
        <a:bodyPr/>
        <a:lstStyle/>
        <a:p>
          <a:r>
            <a:rPr lang="en-US" dirty="0"/>
            <a:t>Emotional</a:t>
          </a:r>
        </a:p>
      </dgm:t>
    </dgm:pt>
    <dgm:pt modelId="{F5BC0E60-ADB5-4F7E-9C0A-6645414987AB}" type="parTrans" cxnId="{C8810672-41A3-45AD-B744-EFB291F4D3DD}">
      <dgm:prSet/>
      <dgm:spPr/>
      <dgm:t>
        <a:bodyPr/>
        <a:lstStyle/>
        <a:p>
          <a:endParaRPr lang="en-US"/>
        </a:p>
      </dgm:t>
    </dgm:pt>
    <dgm:pt modelId="{CE8CEA32-AEF8-47A5-83F1-BA4A2FC5F629}" type="sibTrans" cxnId="{C8810672-41A3-45AD-B744-EFB291F4D3DD}">
      <dgm:prSet/>
      <dgm:spPr/>
      <dgm:t>
        <a:bodyPr/>
        <a:lstStyle/>
        <a:p>
          <a:endParaRPr lang="en-US"/>
        </a:p>
      </dgm:t>
    </dgm:pt>
    <dgm:pt modelId="{1F1D6B6A-FEE9-445A-B9AE-C100A21517C8}">
      <dgm:prSet/>
      <dgm:spPr>
        <a:solidFill>
          <a:srgbClr val="FF7E79"/>
        </a:solidFill>
      </dgm:spPr>
      <dgm:t>
        <a:bodyPr/>
        <a:lstStyle/>
        <a:p>
          <a:r>
            <a:rPr lang="en-US" dirty="0"/>
            <a:t>Spiritual</a:t>
          </a:r>
        </a:p>
      </dgm:t>
    </dgm:pt>
    <dgm:pt modelId="{F006646B-4DC3-4955-8EDF-7FBC34F37CBA}" type="parTrans" cxnId="{447F94F5-EAFC-4595-BD27-EC2AA6C1631B}">
      <dgm:prSet/>
      <dgm:spPr/>
      <dgm:t>
        <a:bodyPr/>
        <a:lstStyle/>
        <a:p>
          <a:endParaRPr lang="en-US"/>
        </a:p>
      </dgm:t>
    </dgm:pt>
    <dgm:pt modelId="{239E303D-6A41-4570-86D4-AF0785B469DF}" type="sibTrans" cxnId="{447F94F5-EAFC-4595-BD27-EC2AA6C1631B}">
      <dgm:prSet/>
      <dgm:spPr/>
      <dgm:t>
        <a:bodyPr/>
        <a:lstStyle/>
        <a:p>
          <a:endParaRPr lang="en-US"/>
        </a:p>
      </dgm:t>
    </dgm:pt>
    <dgm:pt modelId="{57EE5BBC-C982-4724-A347-F0335CED3701}">
      <dgm:prSet/>
      <dgm:spPr>
        <a:solidFill>
          <a:srgbClr val="73FB79"/>
        </a:solidFill>
      </dgm:spPr>
      <dgm:t>
        <a:bodyPr/>
        <a:lstStyle/>
        <a:p>
          <a:r>
            <a:rPr lang="en-US" dirty="0"/>
            <a:t>Mental</a:t>
          </a:r>
        </a:p>
      </dgm:t>
    </dgm:pt>
    <dgm:pt modelId="{080DB871-9D77-4FBB-B2FE-65438255A532}" type="parTrans" cxnId="{E3DB90D0-F103-4228-9251-B699C3242AF5}">
      <dgm:prSet/>
      <dgm:spPr/>
      <dgm:t>
        <a:bodyPr/>
        <a:lstStyle/>
        <a:p>
          <a:endParaRPr lang="en-US"/>
        </a:p>
      </dgm:t>
    </dgm:pt>
    <dgm:pt modelId="{F206B017-F671-4E20-9690-B2BD6676B1CD}" type="sibTrans" cxnId="{E3DB90D0-F103-4228-9251-B699C3242AF5}">
      <dgm:prSet/>
      <dgm:spPr/>
      <dgm:t>
        <a:bodyPr/>
        <a:lstStyle/>
        <a:p>
          <a:endParaRPr lang="en-US"/>
        </a:p>
      </dgm:t>
    </dgm:pt>
    <dgm:pt modelId="{DEB0BCCA-8711-1246-905B-3F507FCBFF14}" type="pres">
      <dgm:prSet presAssocID="{D9A17383-8DBB-4061-A936-00E8B6A25AA3}" presName="cycle" presStyleCnt="0">
        <dgm:presLayoutVars>
          <dgm:dir/>
          <dgm:resizeHandles val="exact"/>
        </dgm:presLayoutVars>
      </dgm:prSet>
      <dgm:spPr/>
    </dgm:pt>
    <dgm:pt modelId="{22B27E71-3EB6-2D4E-8757-7B0907DAD134}" type="pres">
      <dgm:prSet presAssocID="{7ACC7803-1D69-4421-8DE0-A862E51A0506}" presName="node" presStyleLbl="node1" presStyleIdx="0" presStyleCnt="5">
        <dgm:presLayoutVars>
          <dgm:bulletEnabled val="1"/>
        </dgm:presLayoutVars>
      </dgm:prSet>
      <dgm:spPr/>
    </dgm:pt>
    <dgm:pt modelId="{ECFAC139-8C61-AF4F-930F-CACD798A2135}" type="pres">
      <dgm:prSet presAssocID="{7ACC7803-1D69-4421-8DE0-A862E51A0506}" presName="spNode" presStyleCnt="0"/>
      <dgm:spPr/>
    </dgm:pt>
    <dgm:pt modelId="{5688F4C5-5B54-0340-8542-6F7E802AC990}" type="pres">
      <dgm:prSet presAssocID="{F128891B-10E7-49F0-9CC0-E9656FA3EE65}" presName="sibTrans" presStyleLbl="sibTrans1D1" presStyleIdx="0" presStyleCnt="5"/>
      <dgm:spPr/>
    </dgm:pt>
    <dgm:pt modelId="{579FFECE-1665-A14B-839A-27E272950A33}" type="pres">
      <dgm:prSet presAssocID="{53F91F9F-E722-4996-98A7-5BCDA475B19A}" presName="node" presStyleLbl="node1" presStyleIdx="1" presStyleCnt="5">
        <dgm:presLayoutVars>
          <dgm:bulletEnabled val="1"/>
        </dgm:presLayoutVars>
      </dgm:prSet>
      <dgm:spPr/>
    </dgm:pt>
    <dgm:pt modelId="{E6FBEEB1-ACF5-AD48-B35B-4BAFB6156D1C}" type="pres">
      <dgm:prSet presAssocID="{53F91F9F-E722-4996-98A7-5BCDA475B19A}" presName="spNode" presStyleCnt="0"/>
      <dgm:spPr/>
    </dgm:pt>
    <dgm:pt modelId="{88A76C50-432B-3F4A-9073-E99FCEE23E7C}" type="pres">
      <dgm:prSet presAssocID="{617CB7D4-FFD5-437C-B35D-1059AF828D1A}" presName="sibTrans" presStyleLbl="sibTrans1D1" presStyleIdx="1" presStyleCnt="5"/>
      <dgm:spPr/>
    </dgm:pt>
    <dgm:pt modelId="{4F86DDF4-A622-A346-A8E6-F2DF21F7292F}" type="pres">
      <dgm:prSet presAssocID="{AAD5A651-C03D-402A-855F-766380AA9A09}" presName="node" presStyleLbl="node1" presStyleIdx="2" presStyleCnt="5">
        <dgm:presLayoutVars>
          <dgm:bulletEnabled val="1"/>
        </dgm:presLayoutVars>
      </dgm:prSet>
      <dgm:spPr/>
    </dgm:pt>
    <dgm:pt modelId="{E14381F4-4AD0-D645-9F29-9E09BAE43411}" type="pres">
      <dgm:prSet presAssocID="{AAD5A651-C03D-402A-855F-766380AA9A09}" presName="spNode" presStyleCnt="0"/>
      <dgm:spPr/>
    </dgm:pt>
    <dgm:pt modelId="{A29BCB6D-B22C-834E-95AE-12A390401DE1}" type="pres">
      <dgm:prSet presAssocID="{CE8CEA32-AEF8-47A5-83F1-BA4A2FC5F629}" presName="sibTrans" presStyleLbl="sibTrans1D1" presStyleIdx="2" presStyleCnt="5"/>
      <dgm:spPr/>
    </dgm:pt>
    <dgm:pt modelId="{CA40F7C4-4EC0-0745-AFE3-7BE48DCE2A39}" type="pres">
      <dgm:prSet presAssocID="{1F1D6B6A-FEE9-445A-B9AE-C100A21517C8}" presName="node" presStyleLbl="node1" presStyleIdx="3" presStyleCnt="5">
        <dgm:presLayoutVars>
          <dgm:bulletEnabled val="1"/>
        </dgm:presLayoutVars>
      </dgm:prSet>
      <dgm:spPr/>
    </dgm:pt>
    <dgm:pt modelId="{ED4EC456-7E10-EF48-ACC8-D4E1C1A63769}" type="pres">
      <dgm:prSet presAssocID="{1F1D6B6A-FEE9-445A-B9AE-C100A21517C8}" presName="spNode" presStyleCnt="0"/>
      <dgm:spPr/>
    </dgm:pt>
    <dgm:pt modelId="{B87C3F67-FD35-E440-9076-D46E8BFE89B9}" type="pres">
      <dgm:prSet presAssocID="{239E303D-6A41-4570-86D4-AF0785B469DF}" presName="sibTrans" presStyleLbl="sibTrans1D1" presStyleIdx="3" presStyleCnt="5"/>
      <dgm:spPr/>
    </dgm:pt>
    <dgm:pt modelId="{EA3C8065-46A7-8546-836B-BD2834356C50}" type="pres">
      <dgm:prSet presAssocID="{57EE5BBC-C982-4724-A347-F0335CED3701}" presName="node" presStyleLbl="node1" presStyleIdx="4" presStyleCnt="5">
        <dgm:presLayoutVars>
          <dgm:bulletEnabled val="1"/>
        </dgm:presLayoutVars>
      </dgm:prSet>
      <dgm:spPr/>
    </dgm:pt>
    <dgm:pt modelId="{E97B460F-01F8-6848-B2B4-32E13E615FB7}" type="pres">
      <dgm:prSet presAssocID="{57EE5BBC-C982-4724-A347-F0335CED3701}" presName="spNode" presStyleCnt="0"/>
      <dgm:spPr/>
    </dgm:pt>
    <dgm:pt modelId="{41AF8439-F07B-3C45-93C5-56DF738A33E2}" type="pres">
      <dgm:prSet presAssocID="{F206B017-F671-4E20-9690-B2BD6676B1CD}" presName="sibTrans" presStyleLbl="sibTrans1D1" presStyleIdx="4" presStyleCnt="5"/>
      <dgm:spPr/>
    </dgm:pt>
  </dgm:ptLst>
  <dgm:cxnLst>
    <dgm:cxn modelId="{D3448745-C5C4-C04D-808B-0068A38B1210}" type="presOf" srcId="{D9A17383-8DBB-4061-A936-00E8B6A25AA3}" destId="{DEB0BCCA-8711-1246-905B-3F507FCBFF14}" srcOrd="0" destOrd="0" presId="urn:microsoft.com/office/officeart/2005/8/layout/cycle5"/>
    <dgm:cxn modelId="{6F0A5B67-8995-4947-B4AD-5940DFEF296A}" type="presOf" srcId="{7ACC7803-1D69-4421-8DE0-A862E51A0506}" destId="{22B27E71-3EB6-2D4E-8757-7B0907DAD134}" srcOrd="0" destOrd="0" presId="urn:microsoft.com/office/officeart/2005/8/layout/cycle5"/>
    <dgm:cxn modelId="{C8810672-41A3-45AD-B744-EFB291F4D3DD}" srcId="{D9A17383-8DBB-4061-A936-00E8B6A25AA3}" destId="{AAD5A651-C03D-402A-855F-766380AA9A09}" srcOrd="2" destOrd="0" parTransId="{F5BC0E60-ADB5-4F7E-9C0A-6645414987AB}" sibTransId="{CE8CEA32-AEF8-47A5-83F1-BA4A2FC5F629}"/>
    <dgm:cxn modelId="{F48E8075-4D63-344D-9E70-2C6D24D19016}" type="presOf" srcId="{239E303D-6A41-4570-86D4-AF0785B469DF}" destId="{B87C3F67-FD35-E440-9076-D46E8BFE89B9}" srcOrd="0" destOrd="0" presId="urn:microsoft.com/office/officeart/2005/8/layout/cycle5"/>
    <dgm:cxn modelId="{48186D7E-B1E3-D748-A24F-6D40405D13D2}" type="presOf" srcId="{CE8CEA32-AEF8-47A5-83F1-BA4A2FC5F629}" destId="{A29BCB6D-B22C-834E-95AE-12A390401DE1}" srcOrd="0" destOrd="0" presId="urn:microsoft.com/office/officeart/2005/8/layout/cycle5"/>
    <dgm:cxn modelId="{4F1CE493-E051-B542-A66A-7DA87BA8E04C}" type="presOf" srcId="{1F1D6B6A-FEE9-445A-B9AE-C100A21517C8}" destId="{CA40F7C4-4EC0-0745-AFE3-7BE48DCE2A39}" srcOrd="0" destOrd="0" presId="urn:microsoft.com/office/officeart/2005/8/layout/cycle5"/>
    <dgm:cxn modelId="{6DB5E097-19CA-DD40-867B-9DE102F25FCE}" type="presOf" srcId="{AAD5A651-C03D-402A-855F-766380AA9A09}" destId="{4F86DDF4-A622-A346-A8E6-F2DF21F7292F}" srcOrd="0" destOrd="0" presId="urn:microsoft.com/office/officeart/2005/8/layout/cycle5"/>
    <dgm:cxn modelId="{5CAB3AB1-BE3F-6541-A6F7-05D8454F6EEF}" type="presOf" srcId="{F206B017-F671-4E20-9690-B2BD6676B1CD}" destId="{41AF8439-F07B-3C45-93C5-56DF738A33E2}" srcOrd="0" destOrd="0" presId="urn:microsoft.com/office/officeart/2005/8/layout/cycle5"/>
    <dgm:cxn modelId="{F13138B3-E852-495A-B72C-C402C278F682}" srcId="{D9A17383-8DBB-4061-A936-00E8B6A25AA3}" destId="{53F91F9F-E722-4996-98A7-5BCDA475B19A}" srcOrd="1" destOrd="0" parTransId="{55C3A980-DA74-4AB3-85A6-1325842A993E}" sibTransId="{617CB7D4-FFD5-437C-B35D-1059AF828D1A}"/>
    <dgm:cxn modelId="{ADA5A3BE-C66E-CE45-B826-E031EECFBB67}" type="presOf" srcId="{53F91F9F-E722-4996-98A7-5BCDA475B19A}" destId="{579FFECE-1665-A14B-839A-27E272950A33}" srcOrd="0" destOrd="0" presId="urn:microsoft.com/office/officeart/2005/8/layout/cycle5"/>
    <dgm:cxn modelId="{49CCCBC0-E899-444D-B857-22208A22BE4A}" type="presOf" srcId="{57EE5BBC-C982-4724-A347-F0335CED3701}" destId="{EA3C8065-46A7-8546-836B-BD2834356C50}" srcOrd="0" destOrd="0" presId="urn:microsoft.com/office/officeart/2005/8/layout/cycle5"/>
    <dgm:cxn modelId="{5853C2CD-9F13-4606-82CE-58586EB223E0}" srcId="{D9A17383-8DBB-4061-A936-00E8B6A25AA3}" destId="{7ACC7803-1D69-4421-8DE0-A862E51A0506}" srcOrd="0" destOrd="0" parTransId="{BD64BD42-631B-4057-A71C-DDB41163765D}" sibTransId="{F128891B-10E7-49F0-9CC0-E9656FA3EE65}"/>
    <dgm:cxn modelId="{E3DB90D0-F103-4228-9251-B699C3242AF5}" srcId="{D9A17383-8DBB-4061-A936-00E8B6A25AA3}" destId="{57EE5BBC-C982-4724-A347-F0335CED3701}" srcOrd="4" destOrd="0" parTransId="{080DB871-9D77-4FBB-B2FE-65438255A532}" sibTransId="{F206B017-F671-4E20-9690-B2BD6676B1CD}"/>
    <dgm:cxn modelId="{352368E9-81E0-4F4A-9ACB-F5B32FDA76AF}" type="presOf" srcId="{617CB7D4-FFD5-437C-B35D-1059AF828D1A}" destId="{88A76C50-432B-3F4A-9073-E99FCEE23E7C}" srcOrd="0" destOrd="0" presId="urn:microsoft.com/office/officeart/2005/8/layout/cycle5"/>
    <dgm:cxn modelId="{447F94F5-EAFC-4595-BD27-EC2AA6C1631B}" srcId="{D9A17383-8DBB-4061-A936-00E8B6A25AA3}" destId="{1F1D6B6A-FEE9-445A-B9AE-C100A21517C8}" srcOrd="3" destOrd="0" parTransId="{F006646B-4DC3-4955-8EDF-7FBC34F37CBA}" sibTransId="{239E303D-6A41-4570-86D4-AF0785B469DF}"/>
    <dgm:cxn modelId="{F9B97BFD-5AD2-AC49-8BE8-4108AEF7B414}" type="presOf" srcId="{F128891B-10E7-49F0-9CC0-E9656FA3EE65}" destId="{5688F4C5-5B54-0340-8542-6F7E802AC990}" srcOrd="0" destOrd="0" presId="urn:microsoft.com/office/officeart/2005/8/layout/cycle5"/>
    <dgm:cxn modelId="{A5A92CFC-4AAB-E043-A9BE-23F25A9893EE}" type="presParOf" srcId="{DEB0BCCA-8711-1246-905B-3F507FCBFF14}" destId="{22B27E71-3EB6-2D4E-8757-7B0907DAD134}" srcOrd="0" destOrd="0" presId="urn:microsoft.com/office/officeart/2005/8/layout/cycle5"/>
    <dgm:cxn modelId="{DD85C612-C85C-D64F-AA81-CF4BDA821D59}" type="presParOf" srcId="{DEB0BCCA-8711-1246-905B-3F507FCBFF14}" destId="{ECFAC139-8C61-AF4F-930F-CACD798A2135}" srcOrd="1" destOrd="0" presId="urn:microsoft.com/office/officeart/2005/8/layout/cycle5"/>
    <dgm:cxn modelId="{461E04D6-495C-E049-8D59-2E74F6D8A287}" type="presParOf" srcId="{DEB0BCCA-8711-1246-905B-3F507FCBFF14}" destId="{5688F4C5-5B54-0340-8542-6F7E802AC990}" srcOrd="2" destOrd="0" presId="urn:microsoft.com/office/officeart/2005/8/layout/cycle5"/>
    <dgm:cxn modelId="{17FDB1B0-A642-774E-8163-8B54632A1859}" type="presParOf" srcId="{DEB0BCCA-8711-1246-905B-3F507FCBFF14}" destId="{579FFECE-1665-A14B-839A-27E272950A33}" srcOrd="3" destOrd="0" presId="urn:microsoft.com/office/officeart/2005/8/layout/cycle5"/>
    <dgm:cxn modelId="{7096B310-5F3B-C04F-B697-49287C1407C3}" type="presParOf" srcId="{DEB0BCCA-8711-1246-905B-3F507FCBFF14}" destId="{E6FBEEB1-ACF5-AD48-B35B-4BAFB6156D1C}" srcOrd="4" destOrd="0" presId="urn:microsoft.com/office/officeart/2005/8/layout/cycle5"/>
    <dgm:cxn modelId="{CFE4D7C8-04EB-6B45-8511-AF74AACAFA79}" type="presParOf" srcId="{DEB0BCCA-8711-1246-905B-3F507FCBFF14}" destId="{88A76C50-432B-3F4A-9073-E99FCEE23E7C}" srcOrd="5" destOrd="0" presId="urn:microsoft.com/office/officeart/2005/8/layout/cycle5"/>
    <dgm:cxn modelId="{A3D86A7F-82AC-8A4A-AA87-89681B3E61B7}" type="presParOf" srcId="{DEB0BCCA-8711-1246-905B-3F507FCBFF14}" destId="{4F86DDF4-A622-A346-A8E6-F2DF21F7292F}" srcOrd="6" destOrd="0" presId="urn:microsoft.com/office/officeart/2005/8/layout/cycle5"/>
    <dgm:cxn modelId="{6119B48A-6B15-8646-A2A5-EF5C31D9F064}" type="presParOf" srcId="{DEB0BCCA-8711-1246-905B-3F507FCBFF14}" destId="{E14381F4-4AD0-D645-9F29-9E09BAE43411}" srcOrd="7" destOrd="0" presId="urn:microsoft.com/office/officeart/2005/8/layout/cycle5"/>
    <dgm:cxn modelId="{CF1179A5-EA3B-D34D-A19F-531A6B297FDD}" type="presParOf" srcId="{DEB0BCCA-8711-1246-905B-3F507FCBFF14}" destId="{A29BCB6D-B22C-834E-95AE-12A390401DE1}" srcOrd="8" destOrd="0" presId="urn:microsoft.com/office/officeart/2005/8/layout/cycle5"/>
    <dgm:cxn modelId="{FE154045-18CB-0148-BBFE-17B81FF74991}" type="presParOf" srcId="{DEB0BCCA-8711-1246-905B-3F507FCBFF14}" destId="{CA40F7C4-4EC0-0745-AFE3-7BE48DCE2A39}" srcOrd="9" destOrd="0" presId="urn:microsoft.com/office/officeart/2005/8/layout/cycle5"/>
    <dgm:cxn modelId="{0B74CF8F-E095-9349-AE38-6D96CCEEA6B5}" type="presParOf" srcId="{DEB0BCCA-8711-1246-905B-3F507FCBFF14}" destId="{ED4EC456-7E10-EF48-ACC8-D4E1C1A63769}" srcOrd="10" destOrd="0" presId="urn:microsoft.com/office/officeart/2005/8/layout/cycle5"/>
    <dgm:cxn modelId="{8621FD47-CBA7-FB46-9B38-1F815D5A09D6}" type="presParOf" srcId="{DEB0BCCA-8711-1246-905B-3F507FCBFF14}" destId="{B87C3F67-FD35-E440-9076-D46E8BFE89B9}" srcOrd="11" destOrd="0" presId="urn:microsoft.com/office/officeart/2005/8/layout/cycle5"/>
    <dgm:cxn modelId="{ECCEE45E-1784-FF4A-8D16-5D3557471AF1}" type="presParOf" srcId="{DEB0BCCA-8711-1246-905B-3F507FCBFF14}" destId="{EA3C8065-46A7-8546-836B-BD2834356C50}" srcOrd="12" destOrd="0" presId="urn:microsoft.com/office/officeart/2005/8/layout/cycle5"/>
    <dgm:cxn modelId="{0DD5C790-0BE4-1D43-83F6-63D0D15512A0}" type="presParOf" srcId="{DEB0BCCA-8711-1246-905B-3F507FCBFF14}" destId="{E97B460F-01F8-6848-B2B4-32E13E615FB7}" srcOrd="13" destOrd="0" presId="urn:microsoft.com/office/officeart/2005/8/layout/cycle5"/>
    <dgm:cxn modelId="{20F2A0CF-2727-BF4F-B89F-4AE6F3875D9E}" type="presParOf" srcId="{DEB0BCCA-8711-1246-905B-3F507FCBFF14}" destId="{41AF8439-F07B-3C45-93C5-56DF738A33E2}"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8F5012AE-0752-4E18-88DA-E682495442B7}"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61FB2BD-8D87-4237-AB3B-000686150945}">
      <dgm:prSet/>
      <dgm:spPr/>
      <dgm:t>
        <a:bodyPr/>
        <a:lstStyle/>
        <a:p>
          <a:r>
            <a:rPr lang="en-US" b="1" u="sng" dirty="0"/>
            <a:t>Social</a:t>
          </a:r>
          <a:r>
            <a:rPr lang="en-US" dirty="0"/>
            <a:t> – factors involving culture, family, support networks, social/group environment etc.</a:t>
          </a:r>
        </a:p>
      </dgm:t>
    </dgm:pt>
    <dgm:pt modelId="{FE5ADFF9-216F-4B06-9B0E-0C5D250944D0}" type="parTrans" cxnId="{0B19AB7A-EB11-4485-8D6E-F83D9DB45298}">
      <dgm:prSet/>
      <dgm:spPr/>
      <dgm:t>
        <a:bodyPr/>
        <a:lstStyle/>
        <a:p>
          <a:endParaRPr lang="en-US"/>
        </a:p>
      </dgm:t>
    </dgm:pt>
    <dgm:pt modelId="{0ED58B32-53AF-4F86-97B2-3EC10405ED03}" type="sibTrans" cxnId="{0B19AB7A-EB11-4485-8D6E-F83D9DB45298}">
      <dgm:prSet/>
      <dgm:spPr/>
      <dgm:t>
        <a:bodyPr/>
        <a:lstStyle/>
        <a:p>
          <a:endParaRPr lang="en-US"/>
        </a:p>
      </dgm:t>
    </dgm:pt>
    <dgm:pt modelId="{40058FD9-3D4C-4E2C-864F-9B227DC24F2B}">
      <dgm:prSet/>
      <dgm:spPr/>
      <dgm:t>
        <a:bodyPr/>
        <a:lstStyle/>
        <a:p>
          <a:r>
            <a:rPr lang="en-US" b="1" u="sng" dirty="0"/>
            <a:t>Environmental</a:t>
          </a:r>
          <a:r>
            <a:rPr lang="en-US" dirty="0"/>
            <a:t> – involving natural or geographical factors, climate, the built environment such as industrial or housing area and conditions, access to areas such as parks or day to day conveniences etc.</a:t>
          </a:r>
        </a:p>
      </dgm:t>
    </dgm:pt>
    <dgm:pt modelId="{408F74F4-B6EF-4BA3-9505-89C04B04AFFE}" type="parTrans" cxnId="{C497B4EF-6217-45FA-B95B-5831B8EF1E1F}">
      <dgm:prSet/>
      <dgm:spPr/>
      <dgm:t>
        <a:bodyPr/>
        <a:lstStyle/>
        <a:p>
          <a:endParaRPr lang="en-US"/>
        </a:p>
      </dgm:t>
    </dgm:pt>
    <dgm:pt modelId="{6C3895F3-276E-40FF-9B52-2ED783FDB5A6}" type="sibTrans" cxnId="{C497B4EF-6217-45FA-B95B-5831B8EF1E1F}">
      <dgm:prSet/>
      <dgm:spPr/>
      <dgm:t>
        <a:bodyPr/>
        <a:lstStyle/>
        <a:p>
          <a:endParaRPr lang="en-US"/>
        </a:p>
      </dgm:t>
    </dgm:pt>
    <dgm:pt modelId="{F418086F-127A-4391-AB49-9BD5EF4BF3F8}">
      <dgm:prSet/>
      <dgm:spPr/>
      <dgm:t>
        <a:bodyPr/>
        <a:lstStyle/>
        <a:p>
          <a:r>
            <a:rPr lang="en-US" b="1" u="sng" dirty="0"/>
            <a:t>Socioeconomic</a:t>
          </a:r>
          <a:r>
            <a:rPr lang="en-US" dirty="0"/>
            <a:t> –  factors involving combination of income, education, and employment etc.</a:t>
          </a:r>
        </a:p>
      </dgm:t>
    </dgm:pt>
    <dgm:pt modelId="{CF9ACF3A-A849-4642-8659-4980C25904F3}" type="parTrans" cxnId="{CD10CC8B-EEDB-4B7A-8AB9-B64888BAEECB}">
      <dgm:prSet/>
      <dgm:spPr/>
      <dgm:t>
        <a:bodyPr/>
        <a:lstStyle/>
        <a:p>
          <a:endParaRPr lang="en-US"/>
        </a:p>
      </dgm:t>
    </dgm:pt>
    <dgm:pt modelId="{F89E38A3-5BEC-42FA-B02D-5647181B7AE8}" type="sibTrans" cxnId="{CD10CC8B-EEDB-4B7A-8AB9-B64888BAEECB}">
      <dgm:prSet/>
      <dgm:spPr/>
      <dgm:t>
        <a:bodyPr/>
        <a:lstStyle/>
        <a:p>
          <a:endParaRPr lang="en-US"/>
        </a:p>
      </dgm:t>
    </dgm:pt>
    <dgm:pt modelId="{8F5B3772-B745-4DFF-AE6F-C89DE4FE10B0}">
      <dgm:prSet/>
      <dgm:spPr/>
      <dgm:t>
        <a:bodyPr/>
        <a:lstStyle/>
        <a:p>
          <a:r>
            <a:rPr lang="en-US" b="1" u="sng" dirty="0"/>
            <a:t>Biological </a:t>
          </a:r>
          <a:r>
            <a:rPr lang="en-US" dirty="0"/>
            <a:t>– genetic factors, previous family history, birth complications, race (predisposition of certain races to particular health problems), skin colour (especially for skin cancer) etc.</a:t>
          </a:r>
        </a:p>
      </dgm:t>
    </dgm:pt>
    <dgm:pt modelId="{218F9075-7527-483E-8CC5-DD47F053D773}" type="parTrans" cxnId="{CA02C096-125E-4163-A1DD-97BD1D036778}">
      <dgm:prSet/>
      <dgm:spPr/>
      <dgm:t>
        <a:bodyPr/>
        <a:lstStyle/>
        <a:p>
          <a:endParaRPr lang="en-US"/>
        </a:p>
      </dgm:t>
    </dgm:pt>
    <dgm:pt modelId="{58369BB1-4B98-463A-81A7-271CCC5F5B19}" type="sibTrans" cxnId="{CA02C096-125E-4163-A1DD-97BD1D036778}">
      <dgm:prSet/>
      <dgm:spPr/>
      <dgm:t>
        <a:bodyPr/>
        <a:lstStyle/>
        <a:p>
          <a:endParaRPr lang="en-US"/>
        </a:p>
      </dgm:t>
    </dgm:pt>
    <dgm:pt modelId="{80F89E7A-0C65-4480-A43E-AE1AA9EF3AA5}" type="pres">
      <dgm:prSet presAssocID="{8F5012AE-0752-4E18-88DA-E682495442B7}" presName="root" presStyleCnt="0">
        <dgm:presLayoutVars>
          <dgm:dir/>
          <dgm:resizeHandles val="exact"/>
        </dgm:presLayoutVars>
      </dgm:prSet>
      <dgm:spPr/>
    </dgm:pt>
    <dgm:pt modelId="{E1F102A5-0116-45AB-BB25-DD0CEED4000C}" type="pres">
      <dgm:prSet presAssocID="{161FB2BD-8D87-4237-AB3B-000686150945}" presName="compNode" presStyleCnt="0"/>
      <dgm:spPr/>
    </dgm:pt>
    <dgm:pt modelId="{FF914F04-95C5-4B78-80B9-A93EB54D8616}" type="pres">
      <dgm:prSet presAssocID="{161FB2BD-8D87-4237-AB3B-000686150945}" presName="bgRect" presStyleLbl="bgShp" presStyleIdx="0" presStyleCnt="4"/>
      <dgm:spPr/>
    </dgm:pt>
    <dgm:pt modelId="{70DF2C02-8945-4DCD-9453-B36CF84825EE}" type="pres">
      <dgm:prSet presAssocID="{161FB2BD-8D87-4237-AB3B-00068615094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a:ext>
      </dgm:extLst>
    </dgm:pt>
    <dgm:pt modelId="{8ECE6949-F1AF-4CF9-A346-F5F965EFDE18}" type="pres">
      <dgm:prSet presAssocID="{161FB2BD-8D87-4237-AB3B-000686150945}" presName="spaceRect" presStyleCnt="0"/>
      <dgm:spPr/>
    </dgm:pt>
    <dgm:pt modelId="{442E508C-3586-4024-89AA-00BCC80930FB}" type="pres">
      <dgm:prSet presAssocID="{161FB2BD-8D87-4237-AB3B-000686150945}" presName="parTx" presStyleLbl="revTx" presStyleIdx="0" presStyleCnt="4">
        <dgm:presLayoutVars>
          <dgm:chMax val="0"/>
          <dgm:chPref val="0"/>
        </dgm:presLayoutVars>
      </dgm:prSet>
      <dgm:spPr/>
    </dgm:pt>
    <dgm:pt modelId="{CAF5A09E-2F44-463F-A542-B7086930F4FC}" type="pres">
      <dgm:prSet presAssocID="{0ED58B32-53AF-4F86-97B2-3EC10405ED03}" presName="sibTrans" presStyleCnt="0"/>
      <dgm:spPr/>
    </dgm:pt>
    <dgm:pt modelId="{BF020B6E-ED94-49C9-99EF-0554F0503A48}" type="pres">
      <dgm:prSet presAssocID="{40058FD9-3D4C-4E2C-864F-9B227DC24F2B}" presName="compNode" presStyleCnt="0"/>
      <dgm:spPr/>
    </dgm:pt>
    <dgm:pt modelId="{B2821B26-F8C1-489F-95B9-1047FAA5658C}" type="pres">
      <dgm:prSet presAssocID="{40058FD9-3D4C-4E2C-864F-9B227DC24F2B}" presName="bgRect" presStyleLbl="bgShp" presStyleIdx="1" presStyleCnt="4"/>
      <dgm:spPr/>
    </dgm:pt>
    <dgm:pt modelId="{DE77624D-70EE-4DB2-85AA-1D1366508E67}" type="pres">
      <dgm:prSet presAssocID="{40058FD9-3D4C-4E2C-864F-9B227DC24F2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ciduous tree"/>
        </a:ext>
      </dgm:extLst>
    </dgm:pt>
    <dgm:pt modelId="{2C2D17B0-965E-40FE-9FA3-2C34B930ECE6}" type="pres">
      <dgm:prSet presAssocID="{40058FD9-3D4C-4E2C-864F-9B227DC24F2B}" presName="spaceRect" presStyleCnt="0"/>
      <dgm:spPr/>
    </dgm:pt>
    <dgm:pt modelId="{E03BDEFF-0218-475B-8D14-29B4AB4922BD}" type="pres">
      <dgm:prSet presAssocID="{40058FD9-3D4C-4E2C-864F-9B227DC24F2B}" presName="parTx" presStyleLbl="revTx" presStyleIdx="1" presStyleCnt="4">
        <dgm:presLayoutVars>
          <dgm:chMax val="0"/>
          <dgm:chPref val="0"/>
        </dgm:presLayoutVars>
      </dgm:prSet>
      <dgm:spPr/>
    </dgm:pt>
    <dgm:pt modelId="{6A954159-0A6D-461B-AE7B-3DF5CE39566C}" type="pres">
      <dgm:prSet presAssocID="{6C3895F3-276E-40FF-9B52-2ED783FDB5A6}" presName="sibTrans" presStyleCnt="0"/>
      <dgm:spPr/>
    </dgm:pt>
    <dgm:pt modelId="{28B61ADB-5E0A-4855-BF0B-FCBAC129308A}" type="pres">
      <dgm:prSet presAssocID="{F418086F-127A-4391-AB49-9BD5EF4BF3F8}" presName="compNode" presStyleCnt="0"/>
      <dgm:spPr/>
    </dgm:pt>
    <dgm:pt modelId="{ED012CD5-9BE2-4C20-9640-EC91B63B2001}" type="pres">
      <dgm:prSet presAssocID="{F418086F-127A-4391-AB49-9BD5EF4BF3F8}" presName="bgRect" presStyleLbl="bgShp" presStyleIdx="2" presStyleCnt="4"/>
      <dgm:spPr/>
    </dgm:pt>
    <dgm:pt modelId="{EBE3544E-4D88-4BFB-9A25-AE1334E9D222}" type="pres">
      <dgm:prSet presAssocID="{F418086F-127A-4391-AB49-9BD5EF4BF3F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6EE69325-5A40-4AEF-B540-32125CEF3595}" type="pres">
      <dgm:prSet presAssocID="{F418086F-127A-4391-AB49-9BD5EF4BF3F8}" presName="spaceRect" presStyleCnt="0"/>
      <dgm:spPr/>
    </dgm:pt>
    <dgm:pt modelId="{CBAD8377-BB19-47FD-BDEB-BF2B9F1C2A84}" type="pres">
      <dgm:prSet presAssocID="{F418086F-127A-4391-AB49-9BD5EF4BF3F8}" presName="parTx" presStyleLbl="revTx" presStyleIdx="2" presStyleCnt="4">
        <dgm:presLayoutVars>
          <dgm:chMax val="0"/>
          <dgm:chPref val="0"/>
        </dgm:presLayoutVars>
      </dgm:prSet>
      <dgm:spPr/>
    </dgm:pt>
    <dgm:pt modelId="{29791B30-BAE9-4AC2-B93F-E1924C52CB8B}" type="pres">
      <dgm:prSet presAssocID="{F89E38A3-5BEC-42FA-B02D-5647181B7AE8}" presName="sibTrans" presStyleCnt="0"/>
      <dgm:spPr/>
    </dgm:pt>
    <dgm:pt modelId="{E771144D-0746-4116-81B1-0A090A6FBA73}" type="pres">
      <dgm:prSet presAssocID="{8F5B3772-B745-4DFF-AE6F-C89DE4FE10B0}" presName="compNode" presStyleCnt="0"/>
      <dgm:spPr/>
    </dgm:pt>
    <dgm:pt modelId="{8AF34ADA-7F73-47E4-A506-B3E0B55FE415}" type="pres">
      <dgm:prSet presAssocID="{8F5B3772-B745-4DFF-AE6F-C89DE4FE10B0}" presName="bgRect" presStyleLbl="bgShp" presStyleIdx="3" presStyleCnt="4"/>
      <dgm:spPr/>
    </dgm:pt>
    <dgm:pt modelId="{DC71B88A-49FE-4298-95E0-6AF4F950AE15}" type="pres">
      <dgm:prSet presAssocID="{8F5B3772-B745-4DFF-AE6F-C89DE4FE10B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NA"/>
        </a:ext>
      </dgm:extLst>
    </dgm:pt>
    <dgm:pt modelId="{E8D3BAD6-27C8-4E6A-B643-D74920EAAAC8}" type="pres">
      <dgm:prSet presAssocID="{8F5B3772-B745-4DFF-AE6F-C89DE4FE10B0}" presName="spaceRect" presStyleCnt="0"/>
      <dgm:spPr/>
    </dgm:pt>
    <dgm:pt modelId="{E4F04666-8E0C-4FB7-97A8-DD4FB794B618}" type="pres">
      <dgm:prSet presAssocID="{8F5B3772-B745-4DFF-AE6F-C89DE4FE10B0}" presName="parTx" presStyleLbl="revTx" presStyleIdx="3" presStyleCnt="4">
        <dgm:presLayoutVars>
          <dgm:chMax val="0"/>
          <dgm:chPref val="0"/>
        </dgm:presLayoutVars>
      </dgm:prSet>
      <dgm:spPr/>
    </dgm:pt>
  </dgm:ptLst>
  <dgm:cxnLst>
    <dgm:cxn modelId="{F2EC416B-45AA-4199-826C-7CA98B2EA00A}" type="presOf" srcId="{40058FD9-3D4C-4E2C-864F-9B227DC24F2B}" destId="{E03BDEFF-0218-475B-8D14-29B4AB4922BD}" srcOrd="0" destOrd="0" presId="urn:microsoft.com/office/officeart/2018/2/layout/IconVerticalSolidList"/>
    <dgm:cxn modelId="{0B19AB7A-EB11-4485-8D6E-F83D9DB45298}" srcId="{8F5012AE-0752-4E18-88DA-E682495442B7}" destId="{161FB2BD-8D87-4237-AB3B-000686150945}" srcOrd="0" destOrd="0" parTransId="{FE5ADFF9-216F-4B06-9B0E-0C5D250944D0}" sibTransId="{0ED58B32-53AF-4F86-97B2-3EC10405ED03}"/>
    <dgm:cxn modelId="{CD10CC8B-EEDB-4B7A-8AB9-B64888BAEECB}" srcId="{8F5012AE-0752-4E18-88DA-E682495442B7}" destId="{F418086F-127A-4391-AB49-9BD5EF4BF3F8}" srcOrd="2" destOrd="0" parTransId="{CF9ACF3A-A849-4642-8659-4980C25904F3}" sibTransId="{F89E38A3-5BEC-42FA-B02D-5647181B7AE8}"/>
    <dgm:cxn modelId="{CA02C096-125E-4163-A1DD-97BD1D036778}" srcId="{8F5012AE-0752-4E18-88DA-E682495442B7}" destId="{8F5B3772-B745-4DFF-AE6F-C89DE4FE10B0}" srcOrd="3" destOrd="0" parTransId="{218F9075-7527-483E-8CC5-DD47F053D773}" sibTransId="{58369BB1-4B98-463A-81A7-271CCC5F5B19}"/>
    <dgm:cxn modelId="{273EC8C3-52D1-4948-BB88-6B53F630A065}" type="presOf" srcId="{F418086F-127A-4391-AB49-9BD5EF4BF3F8}" destId="{CBAD8377-BB19-47FD-BDEB-BF2B9F1C2A84}" srcOrd="0" destOrd="0" presId="urn:microsoft.com/office/officeart/2018/2/layout/IconVerticalSolidList"/>
    <dgm:cxn modelId="{0D27A9D6-4FC0-45D3-A46A-7E47D54EEDBC}" type="presOf" srcId="{161FB2BD-8D87-4237-AB3B-000686150945}" destId="{442E508C-3586-4024-89AA-00BCC80930FB}" srcOrd="0" destOrd="0" presId="urn:microsoft.com/office/officeart/2018/2/layout/IconVerticalSolidList"/>
    <dgm:cxn modelId="{E4D801E9-94B3-4323-9D2F-7188AA04CADC}" type="presOf" srcId="{8F5012AE-0752-4E18-88DA-E682495442B7}" destId="{80F89E7A-0C65-4480-A43E-AE1AA9EF3AA5}" srcOrd="0" destOrd="0" presId="urn:microsoft.com/office/officeart/2018/2/layout/IconVerticalSolidList"/>
    <dgm:cxn modelId="{A2C890EE-C4E2-4331-BBD0-1F4B94A5B30E}" type="presOf" srcId="{8F5B3772-B745-4DFF-AE6F-C89DE4FE10B0}" destId="{E4F04666-8E0C-4FB7-97A8-DD4FB794B618}" srcOrd="0" destOrd="0" presId="urn:microsoft.com/office/officeart/2018/2/layout/IconVerticalSolidList"/>
    <dgm:cxn modelId="{C497B4EF-6217-45FA-B95B-5831B8EF1E1F}" srcId="{8F5012AE-0752-4E18-88DA-E682495442B7}" destId="{40058FD9-3D4C-4E2C-864F-9B227DC24F2B}" srcOrd="1" destOrd="0" parTransId="{408F74F4-B6EF-4BA3-9505-89C04B04AFFE}" sibTransId="{6C3895F3-276E-40FF-9B52-2ED783FDB5A6}"/>
    <dgm:cxn modelId="{DF5361D1-5C65-45D8-9C74-A67D8539009B}" type="presParOf" srcId="{80F89E7A-0C65-4480-A43E-AE1AA9EF3AA5}" destId="{E1F102A5-0116-45AB-BB25-DD0CEED4000C}" srcOrd="0" destOrd="0" presId="urn:microsoft.com/office/officeart/2018/2/layout/IconVerticalSolidList"/>
    <dgm:cxn modelId="{93004B6B-C8CF-482A-A8B4-B910C4B3127E}" type="presParOf" srcId="{E1F102A5-0116-45AB-BB25-DD0CEED4000C}" destId="{FF914F04-95C5-4B78-80B9-A93EB54D8616}" srcOrd="0" destOrd="0" presId="urn:microsoft.com/office/officeart/2018/2/layout/IconVerticalSolidList"/>
    <dgm:cxn modelId="{CB396F51-988E-4889-9666-F094C8911186}" type="presParOf" srcId="{E1F102A5-0116-45AB-BB25-DD0CEED4000C}" destId="{70DF2C02-8945-4DCD-9453-B36CF84825EE}" srcOrd="1" destOrd="0" presId="urn:microsoft.com/office/officeart/2018/2/layout/IconVerticalSolidList"/>
    <dgm:cxn modelId="{A09B6CCA-7217-4FFF-A3C0-BCD27F0EA01E}" type="presParOf" srcId="{E1F102A5-0116-45AB-BB25-DD0CEED4000C}" destId="{8ECE6949-F1AF-4CF9-A346-F5F965EFDE18}" srcOrd="2" destOrd="0" presId="urn:microsoft.com/office/officeart/2018/2/layout/IconVerticalSolidList"/>
    <dgm:cxn modelId="{8A52DCCB-9C7C-4283-9D68-069D7B51C28C}" type="presParOf" srcId="{E1F102A5-0116-45AB-BB25-DD0CEED4000C}" destId="{442E508C-3586-4024-89AA-00BCC80930FB}" srcOrd="3" destOrd="0" presId="urn:microsoft.com/office/officeart/2018/2/layout/IconVerticalSolidList"/>
    <dgm:cxn modelId="{5FEF13D8-E37D-4C02-9E3D-C6D2D285B5C0}" type="presParOf" srcId="{80F89E7A-0C65-4480-A43E-AE1AA9EF3AA5}" destId="{CAF5A09E-2F44-463F-A542-B7086930F4FC}" srcOrd="1" destOrd="0" presId="urn:microsoft.com/office/officeart/2018/2/layout/IconVerticalSolidList"/>
    <dgm:cxn modelId="{CF7253A7-8225-41F2-9FE5-EF6538C1A3D3}" type="presParOf" srcId="{80F89E7A-0C65-4480-A43E-AE1AA9EF3AA5}" destId="{BF020B6E-ED94-49C9-99EF-0554F0503A48}" srcOrd="2" destOrd="0" presId="urn:microsoft.com/office/officeart/2018/2/layout/IconVerticalSolidList"/>
    <dgm:cxn modelId="{37FB52BE-FC8A-4305-8476-654E49046500}" type="presParOf" srcId="{BF020B6E-ED94-49C9-99EF-0554F0503A48}" destId="{B2821B26-F8C1-489F-95B9-1047FAA5658C}" srcOrd="0" destOrd="0" presId="urn:microsoft.com/office/officeart/2018/2/layout/IconVerticalSolidList"/>
    <dgm:cxn modelId="{880BA89F-3F1E-4B68-A45B-9E9D3A700068}" type="presParOf" srcId="{BF020B6E-ED94-49C9-99EF-0554F0503A48}" destId="{DE77624D-70EE-4DB2-85AA-1D1366508E67}" srcOrd="1" destOrd="0" presId="urn:microsoft.com/office/officeart/2018/2/layout/IconVerticalSolidList"/>
    <dgm:cxn modelId="{3637D71C-8855-4531-9F77-B6AEFEACADF4}" type="presParOf" srcId="{BF020B6E-ED94-49C9-99EF-0554F0503A48}" destId="{2C2D17B0-965E-40FE-9FA3-2C34B930ECE6}" srcOrd="2" destOrd="0" presId="urn:microsoft.com/office/officeart/2018/2/layout/IconVerticalSolidList"/>
    <dgm:cxn modelId="{2879FCC2-AB49-4DAE-ADF2-0438187C3561}" type="presParOf" srcId="{BF020B6E-ED94-49C9-99EF-0554F0503A48}" destId="{E03BDEFF-0218-475B-8D14-29B4AB4922BD}" srcOrd="3" destOrd="0" presId="urn:microsoft.com/office/officeart/2018/2/layout/IconVerticalSolidList"/>
    <dgm:cxn modelId="{A1CADBD0-EC55-4608-9101-6653217482E9}" type="presParOf" srcId="{80F89E7A-0C65-4480-A43E-AE1AA9EF3AA5}" destId="{6A954159-0A6D-461B-AE7B-3DF5CE39566C}" srcOrd="3" destOrd="0" presId="urn:microsoft.com/office/officeart/2018/2/layout/IconVerticalSolidList"/>
    <dgm:cxn modelId="{EDF2E8C9-B0C6-4AEB-B7EF-F77D5D630156}" type="presParOf" srcId="{80F89E7A-0C65-4480-A43E-AE1AA9EF3AA5}" destId="{28B61ADB-5E0A-4855-BF0B-FCBAC129308A}" srcOrd="4" destOrd="0" presId="urn:microsoft.com/office/officeart/2018/2/layout/IconVerticalSolidList"/>
    <dgm:cxn modelId="{F65F13E0-82BB-478C-86F3-33E1334D23B0}" type="presParOf" srcId="{28B61ADB-5E0A-4855-BF0B-FCBAC129308A}" destId="{ED012CD5-9BE2-4C20-9640-EC91B63B2001}" srcOrd="0" destOrd="0" presId="urn:microsoft.com/office/officeart/2018/2/layout/IconVerticalSolidList"/>
    <dgm:cxn modelId="{B2E91AA6-C9E5-4224-BE75-BFA332EB719B}" type="presParOf" srcId="{28B61ADB-5E0A-4855-BF0B-FCBAC129308A}" destId="{EBE3544E-4D88-4BFB-9A25-AE1334E9D222}" srcOrd="1" destOrd="0" presId="urn:microsoft.com/office/officeart/2018/2/layout/IconVerticalSolidList"/>
    <dgm:cxn modelId="{E6660595-7ED5-48AC-B8C6-E74E0B884B71}" type="presParOf" srcId="{28B61ADB-5E0A-4855-BF0B-FCBAC129308A}" destId="{6EE69325-5A40-4AEF-B540-32125CEF3595}" srcOrd="2" destOrd="0" presId="urn:microsoft.com/office/officeart/2018/2/layout/IconVerticalSolidList"/>
    <dgm:cxn modelId="{D0150F5E-B55C-41E8-9B48-3901AAEE707E}" type="presParOf" srcId="{28B61ADB-5E0A-4855-BF0B-FCBAC129308A}" destId="{CBAD8377-BB19-47FD-BDEB-BF2B9F1C2A84}" srcOrd="3" destOrd="0" presId="urn:microsoft.com/office/officeart/2018/2/layout/IconVerticalSolidList"/>
    <dgm:cxn modelId="{EF3E9834-2A45-4AE2-AA10-4857ABEEF238}" type="presParOf" srcId="{80F89E7A-0C65-4480-A43E-AE1AA9EF3AA5}" destId="{29791B30-BAE9-4AC2-B93F-E1924C52CB8B}" srcOrd="5" destOrd="0" presId="urn:microsoft.com/office/officeart/2018/2/layout/IconVerticalSolidList"/>
    <dgm:cxn modelId="{984396EC-874F-4808-8E1F-1F5CF3340832}" type="presParOf" srcId="{80F89E7A-0C65-4480-A43E-AE1AA9EF3AA5}" destId="{E771144D-0746-4116-81B1-0A090A6FBA73}" srcOrd="6" destOrd="0" presId="urn:microsoft.com/office/officeart/2018/2/layout/IconVerticalSolidList"/>
    <dgm:cxn modelId="{B1BCF68D-5499-4BBF-892C-912686ACF6E3}" type="presParOf" srcId="{E771144D-0746-4116-81B1-0A090A6FBA73}" destId="{8AF34ADA-7F73-47E4-A506-B3E0B55FE415}" srcOrd="0" destOrd="0" presId="urn:microsoft.com/office/officeart/2018/2/layout/IconVerticalSolidList"/>
    <dgm:cxn modelId="{0FE1EDE5-0586-4F76-A5B1-A098064BE4DE}" type="presParOf" srcId="{E771144D-0746-4116-81B1-0A090A6FBA73}" destId="{DC71B88A-49FE-4298-95E0-6AF4F950AE15}" srcOrd="1" destOrd="0" presId="urn:microsoft.com/office/officeart/2018/2/layout/IconVerticalSolidList"/>
    <dgm:cxn modelId="{B7B9142C-6327-41E9-B1B7-AF7EDC33975E}" type="presParOf" srcId="{E771144D-0746-4116-81B1-0A090A6FBA73}" destId="{E8D3BAD6-27C8-4E6A-B643-D74920EAAAC8}" srcOrd="2" destOrd="0" presId="urn:microsoft.com/office/officeart/2018/2/layout/IconVerticalSolidList"/>
    <dgm:cxn modelId="{F4951328-411B-47AA-8125-52C7E3CCE528}" type="presParOf" srcId="{E771144D-0746-4116-81B1-0A090A6FBA73}" destId="{E4F04666-8E0C-4FB7-97A8-DD4FB794B61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F5012AE-0752-4E18-88DA-E682495442B7}"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61FB2BD-8D87-4237-AB3B-000686150945}">
      <dgm:prSet/>
      <dgm:spPr/>
      <dgm:t>
        <a:bodyPr/>
        <a:lstStyle/>
        <a:p>
          <a:r>
            <a:rPr lang="en-US" b="1" u="sng" dirty="0"/>
            <a:t>Social</a:t>
          </a:r>
          <a:endParaRPr lang="en-US" dirty="0"/>
        </a:p>
      </dgm:t>
    </dgm:pt>
    <dgm:pt modelId="{FE5ADFF9-216F-4B06-9B0E-0C5D250944D0}" type="parTrans" cxnId="{0B19AB7A-EB11-4485-8D6E-F83D9DB45298}">
      <dgm:prSet/>
      <dgm:spPr/>
      <dgm:t>
        <a:bodyPr/>
        <a:lstStyle/>
        <a:p>
          <a:endParaRPr lang="en-US"/>
        </a:p>
      </dgm:t>
    </dgm:pt>
    <dgm:pt modelId="{0ED58B32-53AF-4F86-97B2-3EC10405ED03}" type="sibTrans" cxnId="{0B19AB7A-EB11-4485-8D6E-F83D9DB45298}">
      <dgm:prSet/>
      <dgm:spPr/>
      <dgm:t>
        <a:bodyPr/>
        <a:lstStyle/>
        <a:p>
          <a:endParaRPr lang="en-US"/>
        </a:p>
      </dgm:t>
    </dgm:pt>
    <dgm:pt modelId="{40058FD9-3D4C-4E2C-864F-9B227DC24F2B}">
      <dgm:prSet/>
      <dgm:spPr/>
      <dgm:t>
        <a:bodyPr/>
        <a:lstStyle/>
        <a:p>
          <a:r>
            <a:rPr lang="en-US" b="1" u="sng" dirty="0"/>
            <a:t>Environmental</a:t>
          </a:r>
          <a:endParaRPr lang="en-US" dirty="0"/>
        </a:p>
      </dgm:t>
    </dgm:pt>
    <dgm:pt modelId="{408F74F4-B6EF-4BA3-9505-89C04B04AFFE}" type="parTrans" cxnId="{C497B4EF-6217-45FA-B95B-5831B8EF1E1F}">
      <dgm:prSet/>
      <dgm:spPr/>
      <dgm:t>
        <a:bodyPr/>
        <a:lstStyle/>
        <a:p>
          <a:endParaRPr lang="en-US"/>
        </a:p>
      </dgm:t>
    </dgm:pt>
    <dgm:pt modelId="{6C3895F3-276E-40FF-9B52-2ED783FDB5A6}" type="sibTrans" cxnId="{C497B4EF-6217-45FA-B95B-5831B8EF1E1F}">
      <dgm:prSet/>
      <dgm:spPr/>
      <dgm:t>
        <a:bodyPr/>
        <a:lstStyle/>
        <a:p>
          <a:endParaRPr lang="en-US"/>
        </a:p>
      </dgm:t>
    </dgm:pt>
    <dgm:pt modelId="{F418086F-127A-4391-AB49-9BD5EF4BF3F8}">
      <dgm:prSet/>
      <dgm:spPr/>
      <dgm:t>
        <a:bodyPr/>
        <a:lstStyle/>
        <a:p>
          <a:r>
            <a:rPr lang="en-US" b="1" u="sng" dirty="0"/>
            <a:t>Socioeconomic</a:t>
          </a:r>
          <a:endParaRPr lang="en-US" dirty="0"/>
        </a:p>
      </dgm:t>
    </dgm:pt>
    <dgm:pt modelId="{CF9ACF3A-A849-4642-8659-4980C25904F3}" type="parTrans" cxnId="{CD10CC8B-EEDB-4B7A-8AB9-B64888BAEECB}">
      <dgm:prSet/>
      <dgm:spPr/>
      <dgm:t>
        <a:bodyPr/>
        <a:lstStyle/>
        <a:p>
          <a:endParaRPr lang="en-US"/>
        </a:p>
      </dgm:t>
    </dgm:pt>
    <dgm:pt modelId="{F89E38A3-5BEC-42FA-B02D-5647181B7AE8}" type="sibTrans" cxnId="{CD10CC8B-EEDB-4B7A-8AB9-B64888BAEECB}">
      <dgm:prSet/>
      <dgm:spPr/>
      <dgm:t>
        <a:bodyPr/>
        <a:lstStyle/>
        <a:p>
          <a:endParaRPr lang="en-US"/>
        </a:p>
      </dgm:t>
    </dgm:pt>
    <dgm:pt modelId="{8F5B3772-B745-4DFF-AE6F-C89DE4FE10B0}">
      <dgm:prSet/>
      <dgm:spPr/>
      <dgm:t>
        <a:bodyPr/>
        <a:lstStyle/>
        <a:p>
          <a:r>
            <a:rPr lang="en-US" b="1" u="sng" dirty="0"/>
            <a:t>Biological</a:t>
          </a:r>
          <a:endParaRPr lang="en-US" dirty="0"/>
        </a:p>
      </dgm:t>
    </dgm:pt>
    <dgm:pt modelId="{218F9075-7527-483E-8CC5-DD47F053D773}" type="parTrans" cxnId="{CA02C096-125E-4163-A1DD-97BD1D036778}">
      <dgm:prSet/>
      <dgm:spPr/>
      <dgm:t>
        <a:bodyPr/>
        <a:lstStyle/>
        <a:p>
          <a:endParaRPr lang="en-US"/>
        </a:p>
      </dgm:t>
    </dgm:pt>
    <dgm:pt modelId="{58369BB1-4B98-463A-81A7-271CCC5F5B19}" type="sibTrans" cxnId="{CA02C096-125E-4163-A1DD-97BD1D036778}">
      <dgm:prSet/>
      <dgm:spPr/>
      <dgm:t>
        <a:bodyPr/>
        <a:lstStyle/>
        <a:p>
          <a:endParaRPr lang="en-US"/>
        </a:p>
      </dgm:t>
    </dgm:pt>
    <dgm:pt modelId="{80F89E7A-0C65-4480-A43E-AE1AA9EF3AA5}" type="pres">
      <dgm:prSet presAssocID="{8F5012AE-0752-4E18-88DA-E682495442B7}" presName="root" presStyleCnt="0">
        <dgm:presLayoutVars>
          <dgm:dir/>
          <dgm:resizeHandles val="exact"/>
        </dgm:presLayoutVars>
      </dgm:prSet>
      <dgm:spPr/>
    </dgm:pt>
    <dgm:pt modelId="{E1F102A5-0116-45AB-BB25-DD0CEED4000C}" type="pres">
      <dgm:prSet presAssocID="{161FB2BD-8D87-4237-AB3B-000686150945}" presName="compNode" presStyleCnt="0"/>
      <dgm:spPr/>
    </dgm:pt>
    <dgm:pt modelId="{FF914F04-95C5-4B78-80B9-A93EB54D8616}" type="pres">
      <dgm:prSet presAssocID="{161FB2BD-8D87-4237-AB3B-000686150945}" presName="bgRect" presStyleLbl="bgShp" presStyleIdx="0" presStyleCnt="4" custLinFactNeighborX="-12173" custLinFactNeighborY="-1349"/>
      <dgm:spPr/>
    </dgm:pt>
    <dgm:pt modelId="{70DF2C02-8945-4DCD-9453-B36CF84825EE}" type="pres">
      <dgm:prSet presAssocID="{161FB2BD-8D87-4237-AB3B-00068615094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a:ext>
      </dgm:extLst>
    </dgm:pt>
    <dgm:pt modelId="{8ECE6949-F1AF-4CF9-A346-F5F965EFDE18}" type="pres">
      <dgm:prSet presAssocID="{161FB2BD-8D87-4237-AB3B-000686150945}" presName="spaceRect" presStyleCnt="0"/>
      <dgm:spPr/>
    </dgm:pt>
    <dgm:pt modelId="{442E508C-3586-4024-89AA-00BCC80930FB}" type="pres">
      <dgm:prSet presAssocID="{161FB2BD-8D87-4237-AB3B-000686150945}" presName="parTx" presStyleLbl="revTx" presStyleIdx="0" presStyleCnt="4">
        <dgm:presLayoutVars>
          <dgm:chMax val="0"/>
          <dgm:chPref val="0"/>
        </dgm:presLayoutVars>
      </dgm:prSet>
      <dgm:spPr/>
    </dgm:pt>
    <dgm:pt modelId="{CAF5A09E-2F44-463F-A542-B7086930F4FC}" type="pres">
      <dgm:prSet presAssocID="{0ED58B32-53AF-4F86-97B2-3EC10405ED03}" presName="sibTrans" presStyleCnt="0"/>
      <dgm:spPr/>
    </dgm:pt>
    <dgm:pt modelId="{BF020B6E-ED94-49C9-99EF-0554F0503A48}" type="pres">
      <dgm:prSet presAssocID="{40058FD9-3D4C-4E2C-864F-9B227DC24F2B}" presName="compNode" presStyleCnt="0"/>
      <dgm:spPr/>
    </dgm:pt>
    <dgm:pt modelId="{B2821B26-F8C1-489F-95B9-1047FAA5658C}" type="pres">
      <dgm:prSet presAssocID="{40058FD9-3D4C-4E2C-864F-9B227DC24F2B}" presName="bgRect" presStyleLbl="bgShp" presStyleIdx="1" presStyleCnt="4"/>
      <dgm:spPr/>
    </dgm:pt>
    <dgm:pt modelId="{DE77624D-70EE-4DB2-85AA-1D1366508E67}" type="pres">
      <dgm:prSet presAssocID="{40058FD9-3D4C-4E2C-864F-9B227DC24F2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ciduous tree"/>
        </a:ext>
      </dgm:extLst>
    </dgm:pt>
    <dgm:pt modelId="{2C2D17B0-965E-40FE-9FA3-2C34B930ECE6}" type="pres">
      <dgm:prSet presAssocID="{40058FD9-3D4C-4E2C-864F-9B227DC24F2B}" presName="spaceRect" presStyleCnt="0"/>
      <dgm:spPr/>
    </dgm:pt>
    <dgm:pt modelId="{E03BDEFF-0218-475B-8D14-29B4AB4922BD}" type="pres">
      <dgm:prSet presAssocID="{40058FD9-3D4C-4E2C-864F-9B227DC24F2B}" presName="parTx" presStyleLbl="revTx" presStyleIdx="1" presStyleCnt="4">
        <dgm:presLayoutVars>
          <dgm:chMax val="0"/>
          <dgm:chPref val="0"/>
        </dgm:presLayoutVars>
      </dgm:prSet>
      <dgm:spPr/>
    </dgm:pt>
    <dgm:pt modelId="{6A954159-0A6D-461B-AE7B-3DF5CE39566C}" type="pres">
      <dgm:prSet presAssocID="{6C3895F3-276E-40FF-9B52-2ED783FDB5A6}" presName="sibTrans" presStyleCnt="0"/>
      <dgm:spPr/>
    </dgm:pt>
    <dgm:pt modelId="{28B61ADB-5E0A-4855-BF0B-FCBAC129308A}" type="pres">
      <dgm:prSet presAssocID="{F418086F-127A-4391-AB49-9BD5EF4BF3F8}" presName="compNode" presStyleCnt="0"/>
      <dgm:spPr/>
    </dgm:pt>
    <dgm:pt modelId="{ED012CD5-9BE2-4C20-9640-EC91B63B2001}" type="pres">
      <dgm:prSet presAssocID="{F418086F-127A-4391-AB49-9BD5EF4BF3F8}" presName="bgRect" presStyleLbl="bgShp" presStyleIdx="2" presStyleCnt="4"/>
      <dgm:spPr/>
    </dgm:pt>
    <dgm:pt modelId="{EBE3544E-4D88-4BFB-9A25-AE1334E9D222}" type="pres">
      <dgm:prSet presAssocID="{F418086F-127A-4391-AB49-9BD5EF4BF3F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6EE69325-5A40-4AEF-B540-32125CEF3595}" type="pres">
      <dgm:prSet presAssocID="{F418086F-127A-4391-AB49-9BD5EF4BF3F8}" presName="spaceRect" presStyleCnt="0"/>
      <dgm:spPr/>
    </dgm:pt>
    <dgm:pt modelId="{CBAD8377-BB19-47FD-BDEB-BF2B9F1C2A84}" type="pres">
      <dgm:prSet presAssocID="{F418086F-127A-4391-AB49-9BD5EF4BF3F8}" presName="parTx" presStyleLbl="revTx" presStyleIdx="2" presStyleCnt="4">
        <dgm:presLayoutVars>
          <dgm:chMax val="0"/>
          <dgm:chPref val="0"/>
        </dgm:presLayoutVars>
      </dgm:prSet>
      <dgm:spPr/>
    </dgm:pt>
    <dgm:pt modelId="{29791B30-BAE9-4AC2-B93F-E1924C52CB8B}" type="pres">
      <dgm:prSet presAssocID="{F89E38A3-5BEC-42FA-B02D-5647181B7AE8}" presName="sibTrans" presStyleCnt="0"/>
      <dgm:spPr/>
    </dgm:pt>
    <dgm:pt modelId="{E771144D-0746-4116-81B1-0A090A6FBA73}" type="pres">
      <dgm:prSet presAssocID="{8F5B3772-B745-4DFF-AE6F-C89DE4FE10B0}" presName="compNode" presStyleCnt="0"/>
      <dgm:spPr/>
    </dgm:pt>
    <dgm:pt modelId="{8AF34ADA-7F73-47E4-A506-B3E0B55FE415}" type="pres">
      <dgm:prSet presAssocID="{8F5B3772-B745-4DFF-AE6F-C89DE4FE10B0}" presName="bgRect" presStyleLbl="bgShp" presStyleIdx="3" presStyleCnt="4"/>
      <dgm:spPr/>
    </dgm:pt>
    <dgm:pt modelId="{DC71B88A-49FE-4298-95E0-6AF4F950AE15}" type="pres">
      <dgm:prSet presAssocID="{8F5B3772-B745-4DFF-AE6F-C89DE4FE10B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NA"/>
        </a:ext>
      </dgm:extLst>
    </dgm:pt>
    <dgm:pt modelId="{E8D3BAD6-27C8-4E6A-B643-D74920EAAAC8}" type="pres">
      <dgm:prSet presAssocID="{8F5B3772-B745-4DFF-AE6F-C89DE4FE10B0}" presName="spaceRect" presStyleCnt="0"/>
      <dgm:spPr/>
    </dgm:pt>
    <dgm:pt modelId="{E4F04666-8E0C-4FB7-97A8-DD4FB794B618}" type="pres">
      <dgm:prSet presAssocID="{8F5B3772-B745-4DFF-AE6F-C89DE4FE10B0}" presName="parTx" presStyleLbl="revTx" presStyleIdx="3" presStyleCnt="4">
        <dgm:presLayoutVars>
          <dgm:chMax val="0"/>
          <dgm:chPref val="0"/>
        </dgm:presLayoutVars>
      </dgm:prSet>
      <dgm:spPr/>
    </dgm:pt>
  </dgm:ptLst>
  <dgm:cxnLst>
    <dgm:cxn modelId="{F2EC416B-45AA-4199-826C-7CA98B2EA00A}" type="presOf" srcId="{40058FD9-3D4C-4E2C-864F-9B227DC24F2B}" destId="{E03BDEFF-0218-475B-8D14-29B4AB4922BD}" srcOrd="0" destOrd="0" presId="urn:microsoft.com/office/officeart/2018/2/layout/IconVerticalSolidList"/>
    <dgm:cxn modelId="{0B19AB7A-EB11-4485-8D6E-F83D9DB45298}" srcId="{8F5012AE-0752-4E18-88DA-E682495442B7}" destId="{161FB2BD-8D87-4237-AB3B-000686150945}" srcOrd="0" destOrd="0" parTransId="{FE5ADFF9-216F-4B06-9B0E-0C5D250944D0}" sibTransId="{0ED58B32-53AF-4F86-97B2-3EC10405ED03}"/>
    <dgm:cxn modelId="{CD10CC8B-EEDB-4B7A-8AB9-B64888BAEECB}" srcId="{8F5012AE-0752-4E18-88DA-E682495442B7}" destId="{F418086F-127A-4391-AB49-9BD5EF4BF3F8}" srcOrd="2" destOrd="0" parTransId="{CF9ACF3A-A849-4642-8659-4980C25904F3}" sibTransId="{F89E38A3-5BEC-42FA-B02D-5647181B7AE8}"/>
    <dgm:cxn modelId="{CA02C096-125E-4163-A1DD-97BD1D036778}" srcId="{8F5012AE-0752-4E18-88DA-E682495442B7}" destId="{8F5B3772-B745-4DFF-AE6F-C89DE4FE10B0}" srcOrd="3" destOrd="0" parTransId="{218F9075-7527-483E-8CC5-DD47F053D773}" sibTransId="{58369BB1-4B98-463A-81A7-271CCC5F5B19}"/>
    <dgm:cxn modelId="{273EC8C3-52D1-4948-BB88-6B53F630A065}" type="presOf" srcId="{F418086F-127A-4391-AB49-9BD5EF4BF3F8}" destId="{CBAD8377-BB19-47FD-BDEB-BF2B9F1C2A84}" srcOrd="0" destOrd="0" presId="urn:microsoft.com/office/officeart/2018/2/layout/IconVerticalSolidList"/>
    <dgm:cxn modelId="{0D27A9D6-4FC0-45D3-A46A-7E47D54EEDBC}" type="presOf" srcId="{161FB2BD-8D87-4237-AB3B-000686150945}" destId="{442E508C-3586-4024-89AA-00BCC80930FB}" srcOrd="0" destOrd="0" presId="urn:microsoft.com/office/officeart/2018/2/layout/IconVerticalSolidList"/>
    <dgm:cxn modelId="{E4D801E9-94B3-4323-9D2F-7188AA04CADC}" type="presOf" srcId="{8F5012AE-0752-4E18-88DA-E682495442B7}" destId="{80F89E7A-0C65-4480-A43E-AE1AA9EF3AA5}" srcOrd="0" destOrd="0" presId="urn:microsoft.com/office/officeart/2018/2/layout/IconVerticalSolidList"/>
    <dgm:cxn modelId="{A2C890EE-C4E2-4331-BBD0-1F4B94A5B30E}" type="presOf" srcId="{8F5B3772-B745-4DFF-AE6F-C89DE4FE10B0}" destId="{E4F04666-8E0C-4FB7-97A8-DD4FB794B618}" srcOrd="0" destOrd="0" presId="urn:microsoft.com/office/officeart/2018/2/layout/IconVerticalSolidList"/>
    <dgm:cxn modelId="{C497B4EF-6217-45FA-B95B-5831B8EF1E1F}" srcId="{8F5012AE-0752-4E18-88DA-E682495442B7}" destId="{40058FD9-3D4C-4E2C-864F-9B227DC24F2B}" srcOrd="1" destOrd="0" parTransId="{408F74F4-B6EF-4BA3-9505-89C04B04AFFE}" sibTransId="{6C3895F3-276E-40FF-9B52-2ED783FDB5A6}"/>
    <dgm:cxn modelId="{DF5361D1-5C65-45D8-9C74-A67D8539009B}" type="presParOf" srcId="{80F89E7A-0C65-4480-A43E-AE1AA9EF3AA5}" destId="{E1F102A5-0116-45AB-BB25-DD0CEED4000C}" srcOrd="0" destOrd="0" presId="urn:microsoft.com/office/officeart/2018/2/layout/IconVerticalSolidList"/>
    <dgm:cxn modelId="{93004B6B-C8CF-482A-A8B4-B910C4B3127E}" type="presParOf" srcId="{E1F102A5-0116-45AB-BB25-DD0CEED4000C}" destId="{FF914F04-95C5-4B78-80B9-A93EB54D8616}" srcOrd="0" destOrd="0" presId="urn:microsoft.com/office/officeart/2018/2/layout/IconVerticalSolidList"/>
    <dgm:cxn modelId="{CB396F51-988E-4889-9666-F094C8911186}" type="presParOf" srcId="{E1F102A5-0116-45AB-BB25-DD0CEED4000C}" destId="{70DF2C02-8945-4DCD-9453-B36CF84825EE}" srcOrd="1" destOrd="0" presId="urn:microsoft.com/office/officeart/2018/2/layout/IconVerticalSolidList"/>
    <dgm:cxn modelId="{A09B6CCA-7217-4FFF-A3C0-BCD27F0EA01E}" type="presParOf" srcId="{E1F102A5-0116-45AB-BB25-DD0CEED4000C}" destId="{8ECE6949-F1AF-4CF9-A346-F5F965EFDE18}" srcOrd="2" destOrd="0" presId="urn:microsoft.com/office/officeart/2018/2/layout/IconVerticalSolidList"/>
    <dgm:cxn modelId="{8A52DCCB-9C7C-4283-9D68-069D7B51C28C}" type="presParOf" srcId="{E1F102A5-0116-45AB-BB25-DD0CEED4000C}" destId="{442E508C-3586-4024-89AA-00BCC80930FB}" srcOrd="3" destOrd="0" presId="urn:microsoft.com/office/officeart/2018/2/layout/IconVerticalSolidList"/>
    <dgm:cxn modelId="{5FEF13D8-E37D-4C02-9E3D-C6D2D285B5C0}" type="presParOf" srcId="{80F89E7A-0C65-4480-A43E-AE1AA9EF3AA5}" destId="{CAF5A09E-2F44-463F-A542-B7086930F4FC}" srcOrd="1" destOrd="0" presId="urn:microsoft.com/office/officeart/2018/2/layout/IconVerticalSolidList"/>
    <dgm:cxn modelId="{CF7253A7-8225-41F2-9FE5-EF6538C1A3D3}" type="presParOf" srcId="{80F89E7A-0C65-4480-A43E-AE1AA9EF3AA5}" destId="{BF020B6E-ED94-49C9-99EF-0554F0503A48}" srcOrd="2" destOrd="0" presId="urn:microsoft.com/office/officeart/2018/2/layout/IconVerticalSolidList"/>
    <dgm:cxn modelId="{37FB52BE-FC8A-4305-8476-654E49046500}" type="presParOf" srcId="{BF020B6E-ED94-49C9-99EF-0554F0503A48}" destId="{B2821B26-F8C1-489F-95B9-1047FAA5658C}" srcOrd="0" destOrd="0" presId="urn:microsoft.com/office/officeart/2018/2/layout/IconVerticalSolidList"/>
    <dgm:cxn modelId="{880BA89F-3F1E-4B68-A45B-9E9D3A700068}" type="presParOf" srcId="{BF020B6E-ED94-49C9-99EF-0554F0503A48}" destId="{DE77624D-70EE-4DB2-85AA-1D1366508E67}" srcOrd="1" destOrd="0" presId="urn:microsoft.com/office/officeart/2018/2/layout/IconVerticalSolidList"/>
    <dgm:cxn modelId="{3637D71C-8855-4531-9F77-B6AEFEACADF4}" type="presParOf" srcId="{BF020B6E-ED94-49C9-99EF-0554F0503A48}" destId="{2C2D17B0-965E-40FE-9FA3-2C34B930ECE6}" srcOrd="2" destOrd="0" presId="urn:microsoft.com/office/officeart/2018/2/layout/IconVerticalSolidList"/>
    <dgm:cxn modelId="{2879FCC2-AB49-4DAE-ADF2-0438187C3561}" type="presParOf" srcId="{BF020B6E-ED94-49C9-99EF-0554F0503A48}" destId="{E03BDEFF-0218-475B-8D14-29B4AB4922BD}" srcOrd="3" destOrd="0" presId="urn:microsoft.com/office/officeart/2018/2/layout/IconVerticalSolidList"/>
    <dgm:cxn modelId="{A1CADBD0-EC55-4608-9101-6653217482E9}" type="presParOf" srcId="{80F89E7A-0C65-4480-A43E-AE1AA9EF3AA5}" destId="{6A954159-0A6D-461B-AE7B-3DF5CE39566C}" srcOrd="3" destOrd="0" presId="urn:microsoft.com/office/officeart/2018/2/layout/IconVerticalSolidList"/>
    <dgm:cxn modelId="{EDF2E8C9-B0C6-4AEB-B7EF-F77D5D630156}" type="presParOf" srcId="{80F89E7A-0C65-4480-A43E-AE1AA9EF3AA5}" destId="{28B61ADB-5E0A-4855-BF0B-FCBAC129308A}" srcOrd="4" destOrd="0" presId="urn:microsoft.com/office/officeart/2018/2/layout/IconVerticalSolidList"/>
    <dgm:cxn modelId="{F65F13E0-82BB-478C-86F3-33E1334D23B0}" type="presParOf" srcId="{28B61ADB-5E0A-4855-BF0B-FCBAC129308A}" destId="{ED012CD5-9BE2-4C20-9640-EC91B63B2001}" srcOrd="0" destOrd="0" presId="urn:microsoft.com/office/officeart/2018/2/layout/IconVerticalSolidList"/>
    <dgm:cxn modelId="{B2E91AA6-C9E5-4224-BE75-BFA332EB719B}" type="presParOf" srcId="{28B61ADB-5E0A-4855-BF0B-FCBAC129308A}" destId="{EBE3544E-4D88-4BFB-9A25-AE1334E9D222}" srcOrd="1" destOrd="0" presId="urn:microsoft.com/office/officeart/2018/2/layout/IconVerticalSolidList"/>
    <dgm:cxn modelId="{E6660595-7ED5-48AC-B8C6-E74E0B884B71}" type="presParOf" srcId="{28B61ADB-5E0A-4855-BF0B-FCBAC129308A}" destId="{6EE69325-5A40-4AEF-B540-32125CEF3595}" srcOrd="2" destOrd="0" presId="urn:microsoft.com/office/officeart/2018/2/layout/IconVerticalSolidList"/>
    <dgm:cxn modelId="{D0150F5E-B55C-41E8-9B48-3901AAEE707E}" type="presParOf" srcId="{28B61ADB-5E0A-4855-BF0B-FCBAC129308A}" destId="{CBAD8377-BB19-47FD-BDEB-BF2B9F1C2A84}" srcOrd="3" destOrd="0" presId="urn:microsoft.com/office/officeart/2018/2/layout/IconVerticalSolidList"/>
    <dgm:cxn modelId="{EF3E9834-2A45-4AE2-AA10-4857ABEEF238}" type="presParOf" srcId="{80F89E7A-0C65-4480-A43E-AE1AA9EF3AA5}" destId="{29791B30-BAE9-4AC2-B93F-E1924C52CB8B}" srcOrd="5" destOrd="0" presId="urn:microsoft.com/office/officeart/2018/2/layout/IconVerticalSolidList"/>
    <dgm:cxn modelId="{984396EC-874F-4808-8E1F-1F5CF3340832}" type="presParOf" srcId="{80F89E7A-0C65-4480-A43E-AE1AA9EF3AA5}" destId="{E771144D-0746-4116-81B1-0A090A6FBA73}" srcOrd="6" destOrd="0" presId="urn:microsoft.com/office/officeart/2018/2/layout/IconVerticalSolidList"/>
    <dgm:cxn modelId="{B1BCF68D-5499-4BBF-892C-912686ACF6E3}" type="presParOf" srcId="{E771144D-0746-4116-81B1-0A090A6FBA73}" destId="{8AF34ADA-7F73-47E4-A506-B3E0B55FE415}" srcOrd="0" destOrd="0" presId="urn:microsoft.com/office/officeart/2018/2/layout/IconVerticalSolidList"/>
    <dgm:cxn modelId="{0FE1EDE5-0586-4F76-A5B1-A098064BE4DE}" type="presParOf" srcId="{E771144D-0746-4116-81B1-0A090A6FBA73}" destId="{DC71B88A-49FE-4298-95E0-6AF4F950AE15}" srcOrd="1" destOrd="0" presId="urn:microsoft.com/office/officeart/2018/2/layout/IconVerticalSolidList"/>
    <dgm:cxn modelId="{B7B9142C-6327-41E9-B1B7-AF7EDC33975E}" type="presParOf" srcId="{E771144D-0746-4116-81B1-0A090A6FBA73}" destId="{E8D3BAD6-27C8-4E6A-B643-D74920EAAAC8}" srcOrd="2" destOrd="0" presId="urn:microsoft.com/office/officeart/2018/2/layout/IconVerticalSolidList"/>
    <dgm:cxn modelId="{F4951328-411B-47AA-8125-52C7E3CCE528}" type="presParOf" srcId="{E771144D-0746-4116-81B1-0A090A6FBA73}" destId="{E4F04666-8E0C-4FB7-97A8-DD4FB794B61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F5012AE-0752-4E18-88DA-E682495442B7}"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61FB2BD-8D87-4237-AB3B-000686150945}">
      <dgm:prSet custT="1"/>
      <dgm:spPr/>
      <dgm:t>
        <a:bodyPr/>
        <a:lstStyle/>
        <a:p>
          <a:r>
            <a:rPr lang="en-US" sz="1400" dirty="0"/>
            <a:t>Transport – walking vs. driving</a:t>
          </a:r>
        </a:p>
        <a:p>
          <a:r>
            <a:rPr lang="en-US" sz="1400" dirty="0"/>
            <a:t>Social support – friendship groups and peer influences</a:t>
          </a:r>
        </a:p>
        <a:p>
          <a:r>
            <a:rPr lang="en-US" sz="1400" dirty="0"/>
            <a:t>Food choices </a:t>
          </a:r>
        </a:p>
        <a:p>
          <a:r>
            <a:rPr lang="en-US" sz="1400" dirty="0"/>
            <a:t>Cultural events/expectations</a:t>
          </a:r>
        </a:p>
      </dgm:t>
    </dgm:pt>
    <dgm:pt modelId="{FE5ADFF9-216F-4B06-9B0E-0C5D250944D0}" type="parTrans" cxnId="{0B19AB7A-EB11-4485-8D6E-F83D9DB45298}">
      <dgm:prSet/>
      <dgm:spPr/>
      <dgm:t>
        <a:bodyPr/>
        <a:lstStyle/>
        <a:p>
          <a:endParaRPr lang="en-US"/>
        </a:p>
      </dgm:t>
    </dgm:pt>
    <dgm:pt modelId="{0ED58B32-53AF-4F86-97B2-3EC10405ED03}" type="sibTrans" cxnId="{0B19AB7A-EB11-4485-8D6E-F83D9DB45298}">
      <dgm:prSet/>
      <dgm:spPr/>
      <dgm:t>
        <a:bodyPr/>
        <a:lstStyle/>
        <a:p>
          <a:endParaRPr lang="en-US"/>
        </a:p>
      </dgm:t>
    </dgm:pt>
    <dgm:pt modelId="{40058FD9-3D4C-4E2C-864F-9B227DC24F2B}">
      <dgm:prSet custT="1"/>
      <dgm:spPr/>
      <dgm:t>
        <a:bodyPr/>
        <a:lstStyle/>
        <a:p>
          <a:r>
            <a:rPr lang="en-US" sz="1600" dirty="0"/>
            <a:t>Neighbourhoods and greenspace – are there local gyms or parks?</a:t>
          </a:r>
        </a:p>
        <a:p>
          <a:r>
            <a:rPr lang="en-US" sz="1600" dirty="0"/>
            <a:t>Neighbourhood safety – can they exercise outside safely?</a:t>
          </a:r>
        </a:p>
        <a:p>
          <a:r>
            <a:rPr lang="en-US" sz="1600" dirty="0"/>
            <a:t>Is the climate conducive to being able to exercise outdoors?</a:t>
          </a:r>
        </a:p>
      </dgm:t>
    </dgm:pt>
    <dgm:pt modelId="{408F74F4-B6EF-4BA3-9505-89C04B04AFFE}" type="parTrans" cxnId="{C497B4EF-6217-45FA-B95B-5831B8EF1E1F}">
      <dgm:prSet/>
      <dgm:spPr/>
      <dgm:t>
        <a:bodyPr/>
        <a:lstStyle/>
        <a:p>
          <a:endParaRPr lang="en-US"/>
        </a:p>
      </dgm:t>
    </dgm:pt>
    <dgm:pt modelId="{6C3895F3-276E-40FF-9B52-2ED783FDB5A6}" type="sibTrans" cxnId="{C497B4EF-6217-45FA-B95B-5831B8EF1E1F}">
      <dgm:prSet/>
      <dgm:spPr/>
      <dgm:t>
        <a:bodyPr/>
        <a:lstStyle/>
        <a:p>
          <a:endParaRPr lang="en-US"/>
        </a:p>
      </dgm:t>
    </dgm:pt>
    <dgm:pt modelId="{F418086F-127A-4391-AB49-9BD5EF4BF3F8}">
      <dgm:prSet custT="1"/>
      <dgm:spPr/>
      <dgm:t>
        <a:bodyPr/>
        <a:lstStyle/>
        <a:p>
          <a:r>
            <a:rPr lang="en-US" sz="1200" dirty="0"/>
            <a:t>Job type – sedentary office job vs. gym trainer vs. PE teacher</a:t>
          </a:r>
        </a:p>
        <a:p>
          <a:pPr>
            <a:buFont typeface="Arial" panose="020B0604020202020204" pitchFamily="34" charset="0"/>
            <a:buChar char="•"/>
          </a:pPr>
          <a:r>
            <a:rPr lang="en-US" sz="1200" dirty="0"/>
            <a:t>Enough income to be able to afford nutritious foods. </a:t>
          </a:r>
        </a:p>
        <a:p>
          <a:pPr>
            <a:buFont typeface="Arial" panose="020B0604020202020204" pitchFamily="34" charset="0"/>
            <a:buChar char="•"/>
          </a:pPr>
          <a:r>
            <a:rPr lang="en-US" sz="1200" dirty="0"/>
            <a:t>Enough income to be able to afford gym memberships etc. </a:t>
          </a:r>
        </a:p>
        <a:p>
          <a:pPr>
            <a:buFont typeface="Arial" panose="020B0604020202020204" pitchFamily="34" charset="0"/>
            <a:buChar char="•"/>
          </a:pPr>
          <a:r>
            <a:rPr lang="en-US" sz="1200" dirty="0"/>
            <a:t>Enough time to cook healthy meals.</a:t>
          </a:r>
        </a:p>
        <a:p>
          <a:pPr>
            <a:buFont typeface="Arial" panose="020B0604020202020204" pitchFamily="34" charset="0"/>
            <a:buChar char="•"/>
          </a:pPr>
          <a:r>
            <a:rPr lang="en-US" sz="1200" dirty="0"/>
            <a:t>Education/knowledge of how to eat healthy and exercise effectively.  </a:t>
          </a:r>
        </a:p>
      </dgm:t>
    </dgm:pt>
    <dgm:pt modelId="{CF9ACF3A-A849-4642-8659-4980C25904F3}" type="parTrans" cxnId="{CD10CC8B-EEDB-4B7A-8AB9-B64888BAEECB}">
      <dgm:prSet/>
      <dgm:spPr/>
      <dgm:t>
        <a:bodyPr/>
        <a:lstStyle/>
        <a:p>
          <a:endParaRPr lang="en-US"/>
        </a:p>
      </dgm:t>
    </dgm:pt>
    <dgm:pt modelId="{F89E38A3-5BEC-42FA-B02D-5647181B7AE8}" type="sibTrans" cxnId="{CD10CC8B-EEDB-4B7A-8AB9-B64888BAEECB}">
      <dgm:prSet/>
      <dgm:spPr/>
      <dgm:t>
        <a:bodyPr/>
        <a:lstStyle/>
        <a:p>
          <a:endParaRPr lang="en-US"/>
        </a:p>
      </dgm:t>
    </dgm:pt>
    <dgm:pt modelId="{8F5B3772-B745-4DFF-AE6F-C89DE4FE10B0}">
      <dgm:prSet custT="1"/>
      <dgm:spPr/>
      <dgm:t>
        <a:bodyPr/>
        <a:lstStyle/>
        <a:p>
          <a:r>
            <a:rPr lang="en-US" sz="1600" dirty="0"/>
            <a:t>Genetics can impact conditions like high blood pressure, cholesterol, and weight loss.</a:t>
          </a:r>
        </a:p>
      </dgm:t>
    </dgm:pt>
    <dgm:pt modelId="{218F9075-7527-483E-8CC5-DD47F053D773}" type="parTrans" cxnId="{CA02C096-125E-4163-A1DD-97BD1D036778}">
      <dgm:prSet/>
      <dgm:spPr/>
      <dgm:t>
        <a:bodyPr/>
        <a:lstStyle/>
        <a:p>
          <a:endParaRPr lang="en-US"/>
        </a:p>
      </dgm:t>
    </dgm:pt>
    <dgm:pt modelId="{58369BB1-4B98-463A-81A7-271CCC5F5B19}" type="sibTrans" cxnId="{CA02C096-125E-4163-A1DD-97BD1D036778}">
      <dgm:prSet/>
      <dgm:spPr/>
      <dgm:t>
        <a:bodyPr/>
        <a:lstStyle/>
        <a:p>
          <a:endParaRPr lang="en-US"/>
        </a:p>
      </dgm:t>
    </dgm:pt>
    <dgm:pt modelId="{80F89E7A-0C65-4480-A43E-AE1AA9EF3AA5}" type="pres">
      <dgm:prSet presAssocID="{8F5012AE-0752-4E18-88DA-E682495442B7}" presName="root" presStyleCnt="0">
        <dgm:presLayoutVars>
          <dgm:dir/>
          <dgm:resizeHandles val="exact"/>
        </dgm:presLayoutVars>
      </dgm:prSet>
      <dgm:spPr/>
    </dgm:pt>
    <dgm:pt modelId="{E1F102A5-0116-45AB-BB25-DD0CEED4000C}" type="pres">
      <dgm:prSet presAssocID="{161FB2BD-8D87-4237-AB3B-000686150945}" presName="compNode" presStyleCnt="0"/>
      <dgm:spPr/>
    </dgm:pt>
    <dgm:pt modelId="{FF914F04-95C5-4B78-80B9-A93EB54D8616}" type="pres">
      <dgm:prSet presAssocID="{161FB2BD-8D87-4237-AB3B-000686150945}" presName="bgRect" presStyleLbl="bgShp" presStyleIdx="0" presStyleCnt="4"/>
      <dgm:spPr/>
    </dgm:pt>
    <dgm:pt modelId="{70DF2C02-8945-4DCD-9453-B36CF84825EE}" type="pres">
      <dgm:prSet presAssocID="{161FB2BD-8D87-4237-AB3B-000686150945}" presName="iconRect" presStyleLbl="node1" presStyleIdx="0" presStyleCnt="4" custLinFactNeighborX="-1809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a:ext>
      </dgm:extLst>
    </dgm:pt>
    <dgm:pt modelId="{8ECE6949-F1AF-4CF9-A346-F5F965EFDE18}" type="pres">
      <dgm:prSet presAssocID="{161FB2BD-8D87-4237-AB3B-000686150945}" presName="spaceRect" presStyleCnt="0"/>
      <dgm:spPr/>
    </dgm:pt>
    <dgm:pt modelId="{442E508C-3586-4024-89AA-00BCC80930FB}" type="pres">
      <dgm:prSet presAssocID="{161FB2BD-8D87-4237-AB3B-000686150945}" presName="parTx" presStyleLbl="revTx" presStyleIdx="0" presStyleCnt="4" custScaleX="113994" custLinFactNeighborX="-161" custLinFactNeighborY="-6324">
        <dgm:presLayoutVars>
          <dgm:chMax val="0"/>
          <dgm:chPref val="0"/>
        </dgm:presLayoutVars>
      </dgm:prSet>
      <dgm:spPr/>
    </dgm:pt>
    <dgm:pt modelId="{CAF5A09E-2F44-463F-A542-B7086930F4FC}" type="pres">
      <dgm:prSet presAssocID="{0ED58B32-53AF-4F86-97B2-3EC10405ED03}" presName="sibTrans" presStyleCnt="0"/>
      <dgm:spPr/>
    </dgm:pt>
    <dgm:pt modelId="{BF020B6E-ED94-49C9-99EF-0554F0503A48}" type="pres">
      <dgm:prSet presAssocID="{40058FD9-3D4C-4E2C-864F-9B227DC24F2B}" presName="compNode" presStyleCnt="0"/>
      <dgm:spPr/>
    </dgm:pt>
    <dgm:pt modelId="{B2821B26-F8C1-489F-95B9-1047FAA5658C}" type="pres">
      <dgm:prSet presAssocID="{40058FD9-3D4C-4E2C-864F-9B227DC24F2B}" presName="bgRect" presStyleLbl="bgShp" presStyleIdx="1" presStyleCnt="4" custLinFactNeighborY="905"/>
      <dgm:spPr/>
    </dgm:pt>
    <dgm:pt modelId="{DE77624D-70EE-4DB2-85AA-1D1366508E67}" type="pres">
      <dgm:prSet presAssocID="{40058FD9-3D4C-4E2C-864F-9B227DC24F2B}" presName="iconRect" presStyleLbl="node1" presStyleIdx="1" presStyleCnt="4" custLinFactNeighborX="-1809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ciduous tree"/>
        </a:ext>
      </dgm:extLst>
    </dgm:pt>
    <dgm:pt modelId="{2C2D17B0-965E-40FE-9FA3-2C34B930ECE6}" type="pres">
      <dgm:prSet presAssocID="{40058FD9-3D4C-4E2C-864F-9B227DC24F2B}" presName="spaceRect" presStyleCnt="0"/>
      <dgm:spPr/>
    </dgm:pt>
    <dgm:pt modelId="{E03BDEFF-0218-475B-8D14-29B4AB4922BD}" type="pres">
      <dgm:prSet presAssocID="{40058FD9-3D4C-4E2C-864F-9B227DC24F2B}" presName="parTx" presStyleLbl="revTx" presStyleIdx="1" presStyleCnt="4" custScaleX="113141">
        <dgm:presLayoutVars>
          <dgm:chMax val="0"/>
          <dgm:chPref val="0"/>
        </dgm:presLayoutVars>
      </dgm:prSet>
      <dgm:spPr/>
    </dgm:pt>
    <dgm:pt modelId="{6A954159-0A6D-461B-AE7B-3DF5CE39566C}" type="pres">
      <dgm:prSet presAssocID="{6C3895F3-276E-40FF-9B52-2ED783FDB5A6}" presName="sibTrans" presStyleCnt="0"/>
      <dgm:spPr/>
    </dgm:pt>
    <dgm:pt modelId="{28B61ADB-5E0A-4855-BF0B-FCBAC129308A}" type="pres">
      <dgm:prSet presAssocID="{F418086F-127A-4391-AB49-9BD5EF4BF3F8}" presName="compNode" presStyleCnt="0"/>
      <dgm:spPr/>
    </dgm:pt>
    <dgm:pt modelId="{ED012CD5-9BE2-4C20-9640-EC91B63B2001}" type="pres">
      <dgm:prSet presAssocID="{F418086F-127A-4391-AB49-9BD5EF4BF3F8}" presName="bgRect" presStyleLbl="bgShp" presStyleIdx="2" presStyleCnt="4"/>
      <dgm:spPr/>
    </dgm:pt>
    <dgm:pt modelId="{EBE3544E-4D88-4BFB-9A25-AE1334E9D222}" type="pres">
      <dgm:prSet presAssocID="{F418086F-127A-4391-AB49-9BD5EF4BF3F8}" presName="iconRect" presStyleLbl="node1" presStyleIdx="2" presStyleCnt="4" custLinFactNeighborX="-1809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6EE69325-5A40-4AEF-B540-32125CEF3595}" type="pres">
      <dgm:prSet presAssocID="{F418086F-127A-4391-AB49-9BD5EF4BF3F8}" presName="spaceRect" presStyleCnt="0"/>
      <dgm:spPr/>
    </dgm:pt>
    <dgm:pt modelId="{CBAD8377-BB19-47FD-BDEB-BF2B9F1C2A84}" type="pres">
      <dgm:prSet presAssocID="{F418086F-127A-4391-AB49-9BD5EF4BF3F8}" presName="parTx" presStyleLbl="revTx" presStyleIdx="2" presStyleCnt="4" custScaleX="113324" custLinFactNeighborY="-2715">
        <dgm:presLayoutVars>
          <dgm:chMax val="0"/>
          <dgm:chPref val="0"/>
        </dgm:presLayoutVars>
      </dgm:prSet>
      <dgm:spPr/>
    </dgm:pt>
    <dgm:pt modelId="{29791B30-BAE9-4AC2-B93F-E1924C52CB8B}" type="pres">
      <dgm:prSet presAssocID="{F89E38A3-5BEC-42FA-B02D-5647181B7AE8}" presName="sibTrans" presStyleCnt="0"/>
      <dgm:spPr/>
    </dgm:pt>
    <dgm:pt modelId="{E771144D-0746-4116-81B1-0A090A6FBA73}" type="pres">
      <dgm:prSet presAssocID="{8F5B3772-B745-4DFF-AE6F-C89DE4FE10B0}" presName="compNode" presStyleCnt="0"/>
      <dgm:spPr/>
    </dgm:pt>
    <dgm:pt modelId="{8AF34ADA-7F73-47E4-A506-B3E0B55FE415}" type="pres">
      <dgm:prSet presAssocID="{8F5B3772-B745-4DFF-AE6F-C89DE4FE10B0}" presName="bgRect" presStyleLbl="bgShp" presStyleIdx="3" presStyleCnt="4"/>
      <dgm:spPr/>
    </dgm:pt>
    <dgm:pt modelId="{DC71B88A-49FE-4298-95E0-6AF4F950AE15}" type="pres">
      <dgm:prSet presAssocID="{8F5B3772-B745-4DFF-AE6F-C89DE4FE10B0}" presName="iconRect" presStyleLbl="node1" presStyleIdx="3" presStyleCnt="4" custLinFactNeighborX="-1809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NA"/>
        </a:ext>
      </dgm:extLst>
    </dgm:pt>
    <dgm:pt modelId="{E8D3BAD6-27C8-4E6A-B643-D74920EAAAC8}" type="pres">
      <dgm:prSet presAssocID="{8F5B3772-B745-4DFF-AE6F-C89DE4FE10B0}" presName="spaceRect" presStyleCnt="0"/>
      <dgm:spPr/>
    </dgm:pt>
    <dgm:pt modelId="{E4F04666-8E0C-4FB7-97A8-DD4FB794B618}" type="pres">
      <dgm:prSet presAssocID="{8F5B3772-B745-4DFF-AE6F-C89DE4FE10B0}" presName="parTx" presStyleLbl="revTx" presStyleIdx="3" presStyleCnt="4" custScaleX="113732">
        <dgm:presLayoutVars>
          <dgm:chMax val="0"/>
          <dgm:chPref val="0"/>
        </dgm:presLayoutVars>
      </dgm:prSet>
      <dgm:spPr/>
    </dgm:pt>
  </dgm:ptLst>
  <dgm:cxnLst>
    <dgm:cxn modelId="{F2EC416B-45AA-4199-826C-7CA98B2EA00A}" type="presOf" srcId="{40058FD9-3D4C-4E2C-864F-9B227DC24F2B}" destId="{E03BDEFF-0218-475B-8D14-29B4AB4922BD}" srcOrd="0" destOrd="0" presId="urn:microsoft.com/office/officeart/2018/2/layout/IconVerticalSolidList"/>
    <dgm:cxn modelId="{0B19AB7A-EB11-4485-8D6E-F83D9DB45298}" srcId="{8F5012AE-0752-4E18-88DA-E682495442B7}" destId="{161FB2BD-8D87-4237-AB3B-000686150945}" srcOrd="0" destOrd="0" parTransId="{FE5ADFF9-216F-4B06-9B0E-0C5D250944D0}" sibTransId="{0ED58B32-53AF-4F86-97B2-3EC10405ED03}"/>
    <dgm:cxn modelId="{CD10CC8B-EEDB-4B7A-8AB9-B64888BAEECB}" srcId="{8F5012AE-0752-4E18-88DA-E682495442B7}" destId="{F418086F-127A-4391-AB49-9BD5EF4BF3F8}" srcOrd="2" destOrd="0" parTransId="{CF9ACF3A-A849-4642-8659-4980C25904F3}" sibTransId="{F89E38A3-5BEC-42FA-B02D-5647181B7AE8}"/>
    <dgm:cxn modelId="{CA02C096-125E-4163-A1DD-97BD1D036778}" srcId="{8F5012AE-0752-4E18-88DA-E682495442B7}" destId="{8F5B3772-B745-4DFF-AE6F-C89DE4FE10B0}" srcOrd="3" destOrd="0" parTransId="{218F9075-7527-483E-8CC5-DD47F053D773}" sibTransId="{58369BB1-4B98-463A-81A7-271CCC5F5B19}"/>
    <dgm:cxn modelId="{273EC8C3-52D1-4948-BB88-6B53F630A065}" type="presOf" srcId="{F418086F-127A-4391-AB49-9BD5EF4BF3F8}" destId="{CBAD8377-BB19-47FD-BDEB-BF2B9F1C2A84}" srcOrd="0" destOrd="0" presId="urn:microsoft.com/office/officeart/2018/2/layout/IconVerticalSolidList"/>
    <dgm:cxn modelId="{0D27A9D6-4FC0-45D3-A46A-7E47D54EEDBC}" type="presOf" srcId="{161FB2BD-8D87-4237-AB3B-000686150945}" destId="{442E508C-3586-4024-89AA-00BCC80930FB}" srcOrd="0" destOrd="0" presId="urn:microsoft.com/office/officeart/2018/2/layout/IconVerticalSolidList"/>
    <dgm:cxn modelId="{E4D801E9-94B3-4323-9D2F-7188AA04CADC}" type="presOf" srcId="{8F5012AE-0752-4E18-88DA-E682495442B7}" destId="{80F89E7A-0C65-4480-A43E-AE1AA9EF3AA5}" srcOrd="0" destOrd="0" presId="urn:microsoft.com/office/officeart/2018/2/layout/IconVerticalSolidList"/>
    <dgm:cxn modelId="{A2C890EE-C4E2-4331-BBD0-1F4B94A5B30E}" type="presOf" srcId="{8F5B3772-B745-4DFF-AE6F-C89DE4FE10B0}" destId="{E4F04666-8E0C-4FB7-97A8-DD4FB794B618}" srcOrd="0" destOrd="0" presId="urn:microsoft.com/office/officeart/2018/2/layout/IconVerticalSolidList"/>
    <dgm:cxn modelId="{C497B4EF-6217-45FA-B95B-5831B8EF1E1F}" srcId="{8F5012AE-0752-4E18-88DA-E682495442B7}" destId="{40058FD9-3D4C-4E2C-864F-9B227DC24F2B}" srcOrd="1" destOrd="0" parTransId="{408F74F4-B6EF-4BA3-9505-89C04B04AFFE}" sibTransId="{6C3895F3-276E-40FF-9B52-2ED783FDB5A6}"/>
    <dgm:cxn modelId="{DF5361D1-5C65-45D8-9C74-A67D8539009B}" type="presParOf" srcId="{80F89E7A-0C65-4480-A43E-AE1AA9EF3AA5}" destId="{E1F102A5-0116-45AB-BB25-DD0CEED4000C}" srcOrd="0" destOrd="0" presId="urn:microsoft.com/office/officeart/2018/2/layout/IconVerticalSolidList"/>
    <dgm:cxn modelId="{93004B6B-C8CF-482A-A8B4-B910C4B3127E}" type="presParOf" srcId="{E1F102A5-0116-45AB-BB25-DD0CEED4000C}" destId="{FF914F04-95C5-4B78-80B9-A93EB54D8616}" srcOrd="0" destOrd="0" presId="urn:microsoft.com/office/officeart/2018/2/layout/IconVerticalSolidList"/>
    <dgm:cxn modelId="{CB396F51-988E-4889-9666-F094C8911186}" type="presParOf" srcId="{E1F102A5-0116-45AB-BB25-DD0CEED4000C}" destId="{70DF2C02-8945-4DCD-9453-B36CF84825EE}" srcOrd="1" destOrd="0" presId="urn:microsoft.com/office/officeart/2018/2/layout/IconVerticalSolidList"/>
    <dgm:cxn modelId="{A09B6CCA-7217-4FFF-A3C0-BCD27F0EA01E}" type="presParOf" srcId="{E1F102A5-0116-45AB-BB25-DD0CEED4000C}" destId="{8ECE6949-F1AF-4CF9-A346-F5F965EFDE18}" srcOrd="2" destOrd="0" presId="urn:microsoft.com/office/officeart/2018/2/layout/IconVerticalSolidList"/>
    <dgm:cxn modelId="{8A52DCCB-9C7C-4283-9D68-069D7B51C28C}" type="presParOf" srcId="{E1F102A5-0116-45AB-BB25-DD0CEED4000C}" destId="{442E508C-3586-4024-89AA-00BCC80930FB}" srcOrd="3" destOrd="0" presId="urn:microsoft.com/office/officeart/2018/2/layout/IconVerticalSolidList"/>
    <dgm:cxn modelId="{5FEF13D8-E37D-4C02-9E3D-C6D2D285B5C0}" type="presParOf" srcId="{80F89E7A-0C65-4480-A43E-AE1AA9EF3AA5}" destId="{CAF5A09E-2F44-463F-A542-B7086930F4FC}" srcOrd="1" destOrd="0" presId="urn:microsoft.com/office/officeart/2018/2/layout/IconVerticalSolidList"/>
    <dgm:cxn modelId="{CF7253A7-8225-41F2-9FE5-EF6538C1A3D3}" type="presParOf" srcId="{80F89E7A-0C65-4480-A43E-AE1AA9EF3AA5}" destId="{BF020B6E-ED94-49C9-99EF-0554F0503A48}" srcOrd="2" destOrd="0" presId="urn:microsoft.com/office/officeart/2018/2/layout/IconVerticalSolidList"/>
    <dgm:cxn modelId="{37FB52BE-FC8A-4305-8476-654E49046500}" type="presParOf" srcId="{BF020B6E-ED94-49C9-99EF-0554F0503A48}" destId="{B2821B26-F8C1-489F-95B9-1047FAA5658C}" srcOrd="0" destOrd="0" presId="urn:microsoft.com/office/officeart/2018/2/layout/IconVerticalSolidList"/>
    <dgm:cxn modelId="{880BA89F-3F1E-4B68-A45B-9E9D3A700068}" type="presParOf" srcId="{BF020B6E-ED94-49C9-99EF-0554F0503A48}" destId="{DE77624D-70EE-4DB2-85AA-1D1366508E67}" srcOrd="1" destOrd="0" presId="urn:microsoft.com/office/officeart/2018/2/layout/IconVerticalSolidList"/>
    <dgm:cxn modelId="{3637D71C-8855-4531-9F77-B6AEFEACADF4}" type="presParOf" srcId="{BF020B6E-ED94-49C9-99EF-0554F0503A48}" destId="{2C2D17B0-965E-40FE-9FA3-2C34B930ECE6}" srcOrd="2" destOrd="0" presId="urn:microsoft.com/office/officeart/2018/2/layout/IconVerticalSolidList"/>
    <dgm:cxn modelId="{2879FCC2-AB49-4DAE-ADF2-0438187C3561}" type="presParOf" srcId="{BF020B6E-ED94-49C9-99EF-0554F0503A48}" destId="{E03BDEFF-0218-475B-8D14-29B4AB4922BD}" srcOrd="3" destOrd="0" presId="urn:microsoft.com/office/officeart/2018/2/layout/IconVerticalSolidList"/>
    <dgm:cxn modelId="{A1CADBD0-EC55-4608-9101-6653217482E9}" type="presParOf" srcId="{80F89E7A-0C65-4480-A43E-AE1AA9EF3AA5}" destId="{6A954159-0A6D-461B-AE7B-3DF5CE39566C}" srcOrd="3" destOrd="0" presId="urn:microsoft.com/office/officeart/2018/2/layout/IconVerticalSolidList"/>
    <dgm:cxn modelId="{EDF2E8C9-B0C6-4AEB-B7EF-F77D5D630156}" type="presParOf" srcId="{80F89E7A-0C65-4480-A43E-AE1AA9EF3AA5}" destId="{28B61ADB-5E0A-4855-BF0B-FCBAC129308A}" srcOrd="4" destOrd="0" presId="urn:microsoft.com/office/officeart/2018/2/layout/IconVerticalSolidList"/>
    <dgm:cxn modelId="{F65F13E0-82BB-478C-86F3-33E1334D23B0}" type="presParOf" srcId="{28B61ADB-5E0A-4855-BF0B-FCBAC129308A}" destId="{ED012CD5-9BE2-4C20-9640-EC91B63B2001}" srcOrd="0" destOrd="0" presId="urn:microsoft.com/office/officeart/2018/2/layout/IconVerticalSolidList"/>
    <dgm:cxn modelId="{B2E91AA6-C9E5-4224-BE75-BFA332EB719B}" type="presParOf" srcId="{28B61ADB-5E0A-4855-BF0B-FCBAC129308A}" destId="{EBE3544E-4D88-4BFB-9A25-AE1334E9D222}" srcOrd="1" destOrd="0" presId="urn:microsoft.com/office/officeart/2018/2/layout/IconVerticalSolidList"/>
    <dgm:cxn modelId="{E6660595-7ED5-48AC-B8C6-E74E0B884B71}" type="presParOf" srcId="{28B61ADB-5E0A-4855-BF0B-FCBAC129308A}" destId="{6EE69325-5A40-4AEF-B540-32125CEF3595}" srcOrd="2" destOrd="0" presId="urn:microsoft.com/office/officeart/2018/2/layout/IconVerticalSolidList"/>
    <dgm:cxn modelId="{D0150F5E-B55C-41E8-9B48-3901AAEE707E}" type="presParOf" srcId="{28B61ADB-5E0A-4855-BF0B-FCBAC129308A}" destId="{CBAD8377-BB19-47FD-BDEB-BF2B9F1C2A84}" srcOrd="3" destOrd="0" presId="urn:microsoft.com/office/officeart/2018/2/layout/IconVerticalSolidList"/>
    <dgm:cxn modelId="{EF3E9834-2A45-4AE2-AA10-4857ABEEF238}" type="presParOf" srcId="{80F89E7A-0C65-4480-A43E-AE1AA9EF3AA5}" destId="{29791B30-BAE9-4AC2-B93F-E1924C52CB8B}" srcOrd="5" destOrd="0" presId="urn:microsoft.com/office/officeart/2018/2/layout/IconVerticalSolidList"/>
    <dgm:cxn modelId="{984396EC-874F-4808-8E1F-1F5CF3340832}" type="presParOf" srcId="{80F89E7A-0C65-4480-A43E-AE1AA9EF3AA5}" destId="{E771144D-0746-4116-81B1-0A090A6FBA73}" srcOrd="6" destOrd="0" presId="urn:microsoft.com/office/officeart/2018/2/layout/IconVerticalSolidList"/>
    <dgm:cxn modelId="{B1BCF68D-5499-4BBF-892C-912686ACF6E3}" type="presParOf" srcId="{E771144D-0746-4116-81B1-0A090A6FBA73}" destId="{8AF34ADA-7F73-47E4-A506-B3E0B55FE415}" srcOrd="0" destOrd="0" presId="urn:microsoft.com/office/officeart/2018/2/layout/IconVerticalSolidList"/>
    <dgm:cxn modelId="{0FE1EDE5-0586-4F76-A5B1-A098064BE4DE}" type="presParOf" srcId="{E771144D-0746-4116-81B1-0A090A6FBA73}" destId="{DC71B88A-49FE-4298-95E0-6AF4F950AE15}" srcOrd="1" destOrd="0" presId="urn:microsoft.com/office/officeart/2018/2/layout/IconVerticalSolidList"/>
    <dgm:cxn modelId="{B7B9142C-6327-41E9-B1B7-AF7EDC33975E}" type="presParOf" srcId="{E771144D-0746-4116-81B1-0A090A6FBA73}" destId="{E8D3BAD6-27C8-4E6A-B643-D74920EAAAC8}" srcOrd="2" destOrd="0" presId="urn:microsoft.com/office/officeart/2018/2/layout/IconVerticalSolidList"/>
    <dgm:cxn modelId="{F4951328-411B-47AA-8125-52C7E3CCE528}" type="presParOf" srcId="{E771144D-0746-4116-81B1-0A090A6FBA73}" destId="{E4F04666-8E0C-4FB7-97A8-DD4FB794B61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2329F56-E81B-4C75-BAA3-746D11DEA104}"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9054649F-D69A-490E-86A5-6B95928E879D}">
      <dgm:prSet/>
      <dgm:spPr/>
      <dgm:t>
        <a:bodyPr/>
        <a:lstStyle/>
        <a:p>
          <a:r>
            <a:rPr lang="en-US" dirty="0"/>
            <a:t>Over the next week make sure you have chosen what campaign you will focus on for your assignment. </a:t>
          </a:r>
        </a:p>
      </dgm:t>
    </dgm:pt>
    <dgm:pt modelId="{4A7E7CC2-976C-4095-8A07-CD7A2C090216}" type="parTrans" cxnId="{993B5E6A-39A6-44AA-BE8C-FC58FA176625}">
      <dgm:prSet/>
      <dgm:spPr/>
      <dgm:t>
        <a:bodyPr/>
        <a:lstStyle/>
        <a:p>
          <a:endParaRPr lang="en-US"/>
        </a:p>
      </dgm:t>
    </dgm:pt>
    <dgm:pt modelId="{2D7434EC-2C75-41FC-8208-6940B82DCD07}" type="sibTrans" cxnId="{993B5E6A-39A6-44AA-BE8C-FC58FA176625}">
      <dgm:prSet/>
      <dgm:spPr/>
      <dgm:t>
        <a:bodyPr/>
        <a:lstStyle/>
        <a:p>
          <a:endParaRPr lang="en-US"/>
        </a:p>
      </dgm:t>
    </dgm:pt>
    <dgm:pt modelId="{477672BB-8E34-486A-A775-60A1D6DBE94A}">
      <dgm:prSet/>
      <dgm:spPr/>
      <dgm:t>
        <a:bodyPr/>
        <a:lstStyle/>
        <a:p>
          <a:r>
            <a:rPr lang="en-US" dirty="0"/>
            <a:t>You can begin your research this week and ask any questions next week. </a:t>
          </a:r>
        </a:p>
      </dgm:t>
    </dgm:pt>
    <dgm:pt modelId="{2C91B2B3-2926-468D-8200-035C9E4AAF2B}" type="parTrans" cxnId="{6C353B66-E355-4F12-8024-DD6521F24BDC}">
      <dgm:prSet/>
      <dgm:spPr/>
      <dgm:t>
        <a:bodyPr/>
        <a:lstStyle/>
        <a:p>
          <a:endParaRPr lang="en-US"/>
        </a:p>
      </dgm:t>
    </dgm:pt>
    <dgm:pt modelId="{49DDC645-BC26-4946-99A9-1C46F4B5539B}" type="sibTrans" cxnId="{6C353B66-E355-4F12-8024-DD6521F24BDC}">
      <dgm:prSet/>
      <dgm:spPr/>
      <dgm:t>
        <a:bodyPr/>
        <a:lstStyle/>
        <a:p>
          <a:endParaRPr lang="en-US"/>
        </a:p>
      </dgm:t>
    </dgm:pt>
    <dgm:pt modelId="{88D10C9A-9FAE-494E-8271-9C092752909F}">
      <dgm:prSet/>
      <dgm:spPr/>
      <dgm:t>
        <a:bodyPr/>
        <a:lstStyle/>
        <a:p>
          <a:r>
            <a:rPr lang="en-US"/>
            <a:t>Due: Week 6.</a:t>
          </a:r>
        </a:p>
      </dgm:t>
    </dgm:pt>
    <dgm:pt modelId="{99D69C99-19DA-4FAA-862A-76FDEBFCB8A6}" type="parTrans" cxnId="{0D7B188E-CE16-45A9-9FEB-BC8B5F2E5AC5}">
      <dgm:prSet/>
      <dgm:spPr/>
      <dgm:t>
        <a:bodyPr/>
        <a:lstStyle/>
        <a:p>
          <a:endParaRPr lang="en-US"/>
        </a:p>
      </dgm:t>
    </dgm:pt>
    <dgm:pt modelId="{6649C9E0-3EBD-4EF9-81D8-159E394F6C05}" type="sibTrans" cxnId="{0D7B188E-CE16-45A9-9FEB-BC8B5F2E5AC5}">
      <dgm:prSet/>
      <dgm:spPr/>
      <dgm:t>
        <a:bodyPr/>
        <a:lstStyle/>
        <a:p>
          <a:endParaRPr lang="en-US"/>
        </a:p>
      </dgm:t>
    </dgm:pt>
    <dgm:pt modelId="{AE1B5DE9-BE06-5243-8B7F-217D3558EF06}">
      <dgm:prSet/>
      <dgm:spPr/>
      <dgm:t>
        <a:bodyPr/>
        <a:lstStyle/>
        <a:p>
          <a:r>
            <a:rPr lang="en-GB" dirty="0"/>
            <a:t>Analyse 'R U OK? Day' Health </a:t>
          </a:r>
          <a:r>
            <a:rPr lang="en-GB"/>
            <a:t>Promotion Campaign.</a:t>
          </a:r>
          <a:endParaRPr lang="en-GB" dirty="0"/>
        </a:p>
      </dgm:t>
    </dgm:pt>
    <dgm:pt modelId="{D4FF2706-294C-ED4B-B6FC-E061CF01FED7}" type="parTrans" cxnId="{C1E577A7-1C75-EC4A-AA96-75B99BF0BD66}">
      <dgm:prSet/>
      <dgm:spPr/>
      <dgm:t>
        <a:bodyPr/>
        <a:lstStyle/>
        <a:p>
          <a:endParaRPr lang="en-GB"/>
        </a:p>
      </dgm:t>
    </dgm:pt>
    <dgm:pt modelId="{3F2601B4-AE64-8D4B-B39C-F36CBF666A05}" type="sibTrans" cxnId="{C1E577A7-1C75-EC4A-AA96-75B99BF0BD66}">
      <dgm:prSet/>
      <dgm:spPr/>
      <dgm:t>
        <a:bodyPr/>
        <a:lstStyle/>
        <a:p>
          <a:endParaRPr lang="en-GB"/>
        </a:p>
      </dgm:t>
    </dgm:pt>
    <dgm:pt modelId="{A888AA8B-1787-B04A-AB4E-2691FA390A03}">
      <dgm:prSet/>
      <dgm:spPr/>
      <dgm:t>
        <a:bodyPr/>
        <a:lstStyle/>
        <a:p>
          <a:r>
            <a:rPr lang="en-US" dirty="0"/>
            <a:t>Class time to complete your assignment. </a:t>
          </a:r>
          <a:endParaRPr lang="en-GB" dirty="0"/>
        </a:p>
      </dgm:t>
    </dgm:pt>
    <dgm:pt modelId="{47710DDB-C528-3343-8200-84A2734BC12D}" type="parTrans" cxnId="{1E471C45-988A-9D43-9E35-29AE29564A42}">
      <dgm:prSet/>
      <dgm:spPr/>
      <dgm:t>
        <a:bodyPr/>
        <a:lstStyle/>
        <a:p>
          <a:endParaRPr lang="en-GB"/>
        </a:p>
      </dgm:t>
    </dgm:pt>
    <dgm:pt modelId="{95EB46A9-F365-624E-9811-1B20B4737F97}" type="sibTrans" cxnId="{1E471C45-988A-9D43-9E35-29AE29564A42}">
      <dgm:prSet/>
      <dgm:spPr/>
      <dgm:t>
        <a:bodyPr/>
        <a:lstStyle/>
        <a:p>
          <a:endParaRPr lang="en-GB"/>
        </a:p>
      </dgm:t>
    </dgm:pt>
    <dgm:pt modelId="{EA53B6FE-697D-9F44-8D6C-BBDDE69421B6}" type="pres">
      <dgm:prSet presAssocID="{42329F56-E81B-4C75-BAA3-746D11DEA104}" presName="hierChild1" presStyleCnt="0">
        <dgm:presLayoutVars>
          <dgm:chPref val="1"/>
          <dgm:dir/>
          <dgm:animOne val="branch"/>
          <dgm:animLvl val="lvl"/>
          <dgm:resizeHandles/>
        </dgm:presLayoutVars>
      </dgm:prSet>
      <dgm:spPr/>
    </dgm:pt>
    <dgm:pt modelId="{EB542BDC-1258-FD43-BFC5-2F55E2DBE5B5}" type="pres">
      <dgm:prSet presAssocID="{AE1B5DE9-BE06-5243-8B7F-217D3558EF06}" presName="hierRoot1" presStyleCnt="0"/>
      <dgm:spPr/>
    </dgm:pt>
    <dgm:pt modelId="{D1732530-D33F-B748-9F39-13225014B6E1}" type="pres">
      <dgm:prSet presAssocID="{AE1B5DE9-BE06-5243-8B7F-217D3558EF06}" presName="composite" presStyleCnt="0"/>
      <dgm:spPr/>
    </dgm:pt>
    <dgm:pt modelId="{552FF30D-79A3-9345-A5EB-55DB0956F046}" type="pres">
      <dgm:prSet presAssocID="{AE1B5DE9-BE06-5243-8B7F-217D3558EF06}" presName="background" presStyleLbl="node0" presStyleIdx="0" presStyleCnt="5"/>
      <dgm:spPr/>
    </dgm:pt>
    <dgm:pt modelId="{5D78B456-C5EA-564B-B9EE-9ED64B6FDF33}" type="pres">
      <dgm:prSet presAssocID="{AE1B5DE9-BE06-5243-8B7F-217D3558EF06}" presName="text" presStyleLbl="fgAcc0" presStyleIdx="0" presStyleCnt="5">
        <dgm:presLayoutVars>
          <dgm:chPref val="3"/>
        </dgm:presLayoutVars>
      </dgm:prSet>
      <dgm:spPr/>
    </dgm:pt>
    <dgm:pt modelId="{B32301CA-90E3-C14D-A864-C81AE5CC338C}" type="pres">
      <dgm:prSet presAssocID="{AE1B5DE9-BE06-5243-8B7F-217D3558EF06}" presName="hierChild2" presStyleCnt="0"/>
      <dgm:spPr/>
    </dgm:pt>
    <dgm:pt modelId="{BB8B54EA-6586-7E42-B151-23A0F2992A01}" type="pres">
      <dgm:prSet presAssocID="{A888AA8B-1787-B04A-AB4E-2691FA390A03}" presName="hierRoot1" presStyleCnt="0"/>
      <dgm:spPr/>
    </dgm:pt>
    <dgm:pt modelId="{9D5513BF-E1E9-E249-9519-5BF68B42F8AE}" type="pres">
      <dgm:prSet presAssocID="{A888AA8B-1787-B04A-AB4E-2691FA390A03}" presName="composite" presStyleCnt="0"/>
      <dgm:spPr/>
    </dgm:pt>
    <dgm:pt modelId="{658AE394-5255-9449-8DBE-AE862F2EBC13}" type="pres">
      <dgm:prSet presAssocID="{A888AA8B-1787-B04A-AB4E-2691FA390A03}" presName="background" presStyleLbl="node0" presStyleIdx="1" presStyleCnt="5"/>
      <dgm:spPr/>
    </dgm:pt>
    <dgm:pt modelId="{F048A8D4-3F58-5B49-83D1-BE01906AB779}" type="pres">
      <dgm:prSet presAssocID="{A888AA8B-1787-B04A-AB4E-2691FA390A03}" presName="text" presStyleLbl="fgAcc0" presStyleIdx="1" presStyleCnt="5">
        <dgm:presLayoutVars>
          <dgm:chPref val="3"/>
        </dgm:presLayoutVars>
      </dgm:prSet>
      <dgm:spPr/>
    </dgm:pt>
    <dgm:pt modelId="{1298244A-5CE1-F44B-BEA4-4F9648E94371}" type="pres">
      <dgm:prSet presAssocID="{A888AA8B-1787-B04A-AB4E-2691FA390A03}" presName="hierChild2" presStyleCnt="0"/>
      <dgm:spPr/>
    </dgm:pt>
    <dgm:pt modelId="{1019AAE7-D751-8147-97BD-467252CCD0AF}" type="pres">
      <dgm:prSet presAssocID="{9054649F-D69A-490E-86A5-6B95928E879D}" presName="hierRoot1" presStyleCnt="0"/>
      <dgm:spPr/>
    </dgm:pt>
    <dgm:pt modelId="{5FB02620-C309-5242-BB8E-BA6C51A957F5}" type="pres">
      <dgm:prSet presAssocID="{9054649F-D69A-490E-86A5-6B95928E879D}" presName="composite" presStyleCnt="0"/>
      <dgm:spPr/>
    </dgm:pt>
    <dgm:pt modelId="{42953ADA-A6F5-6B47-A637-EF26F447FDF5}" type="pres">
      <dgm:prSet presAssocID="{9054649F-D69A-490E-86A5-6B95928E879D}" presName="background" presStyleLbl="node0" presStyleIdx="2" presStyleCnt="5"/>
      <dgm:spPr/>
    </dgm:pt>
    <dgm:pt modelId="{F4EABCD8-E7E0-B14D-9A40-FA28937548F1}" type="pres">
      <dgm:prSet presAssocID="{9054649F-D69A-490E-86A5-6B95928E879D}" presName="text" presStyleLbl="fgAcc0" presStyleIdx="2" presStyleCnt="5">
        <dgm:presLayoutVars>
          <dgm:chPref val="3"/>
        </dgm:presLayoutVars>
      </dgm:prSet>
      <dgm:spPr/>
    </dgm:pt>
    <dgm:pt modelId="{6EDABCA9-6DC7-CE4A-A216-2A2668BA2EB8}" type="pres">
      <dgm:prSet presAssocID="{9054649F-D69A-490E-86A5-6B95928E879D}" presName="hierChild2" presStyleCnt="0"/>
      <dgm:spPr/>
    </dgm:pt>
    <dgm:pt modelId="{75BDDA3C-9644-9642-968A-3D0246340047}" type="pres">
      <dgm:prSet presAssocID="{477672BB-8E34-486A-A775-60A1D6DBE94A}" presName="hierRoot1" presStyleCnt="0"/>
      <dgm:spPr/>
    </dgm:pt>
    <dgm:pt modelId="{A0A4AAA2-DB48-0547-969F-28F69C1CA867}" type="pres">
      <dgm:prSet presAssocID="{477672BB-8E34-486A-A775-60A1D6DBE94A}" presName="composite" presStyleCnt="0"/>
      <dgm:spPr/>
    </dgm:pt>
    <dgm:pt modelId="{02013F00-AC13-B242-8DF2-BB561E575EA0}" type="pres">
      <dgm:prSet presAssocID="{477672BB-8E34-486A-A775-60A1D6DBE94A}" presName="background" presStyleLbl="node0" presStyleIdx="3" presStyleCnt="5"/>
      <dgm:spPr/>
    </dgm:pt>
    <dgm:pt modelId="{09A8606C-1B37-BB43-A9B9-B2AF2572A0DD}" type="pres">
      <dgm:prSet presAssocID="{477672BB-8E34-486A-A775-60A1D6DBE94A}" presName="text" presStyleLbl="fgAcc0" presStyleIdx="3" presStyleCnt="5">
        <dgm:presLayoutVars>
          <dgm:chPref val="3"/>
        </dgm:presLayoutVars>
      </dgm:prSet>
      <dgm:spPr/>
    </dgm:pt>
    <dgm:pt modelId="{7EB7872D-B09F-B54A-8A75-3DAED010A393}" type="pres">
      <dgm:prSet presAssocID="{477672BB-8E34-486A-A775-60A1D6DBE94A}" presName="hierChild2" presStyleCnt="0"/>
      <dgm:spPr/>
    </dgm:pt>
    <dgm:pt modelId="{818F490D-519F-2E45-8081-B9659B34A446}" type="pres">
      <dgm:prSet presAssocID="{88D10C9A-9FAE-494E-8271-9C092752909F}" presName="hierRoot1" presStyleCnt="0"/>
      <dgm:spPr/>
    </dgm:pt>
    <dgm:pt modelId="{A04D13F0-D66A-0248-89ED-E171C67231DF}" type="pres">
      <dgm:prSet presAssocID="{88D10C9A-9FAE-494E-8271-9C092752909F}" presName="composite" presStyleCnt="0"/>
      <dgm:spPr/>
    </dgm:pt>
    <dgm:pt modelId="{D534C59B-F566-D145-90CA-CD0F64FBC576}" type="pres">
      <dgm:prSet presAssocID="{88D10C9A-9FAE-494E-8271-9C092752909F}" presName="background" presStyleLbl="node0" presStyleIdx="4" presStyleCnt="5"/>
      <dgm:spPr/>
    </dgm:pt>
    <dgm:pt modelId="{38F69CD7-D665-3048-8B23-EDEB982285F6}" type="pres">
      <dgm:prSet presAssocID="{88D10C9A-9FAE-494E-8271-9C092752909F}" presName="text" presStyleLbl="fgAcc0" presStyleIdx="4" presStyleCnt="5">
        <dgm:presLayoutVars>
          <dgm:chPref val="3"/>
        </dgm:presLayoutVars>
      </dgm:prSet>
      <dgm:spPr/>
    </dgm:pt>
    <dgm:pt modelId="{4C525C38-A418-5F4D-B2AE-0FA6666C9A4F}" type="pres">
      <dgm:prSet presAssocID="{88D10C9A-9FAE-494E-8271-9C092752909F}" presName="hierChild2" presStyleCnt="0"/>
      <dgm:spPr/>
    </dgm:pt>
  </dgm:ptLst>
  <dgm:cxnLst>
    <dgm:cxn modelId="{3ACE6739-EF0E-F04E-B0A5-FD0E220C5595}" type="presOf" srcId="{477672BB-8E34-486A-A775-60A1D6DBE94A}" destId="{09A8606C-1B37-BB43-A9B9-B2AF2572A0DD}" srcOrd="0" destOrd="0" presId="urn:microsoft.com/office/officeart/2005/8/layout/hierarchy1"/>
    <dgm:cxn modelId="{1E471C45-988A-9D43-9E35-29AE29564A42}" srcId="{42329F56-E81B-4C75-BAA3-746D11DEA104}" destId="{A888AA8B-1787-B04A-AB4E-2691FA390A03}" srcOrd="1" destOrd="0" parTransId="{47710DDB-C528-3343-8200-84A2734BC12D}" sibTransId="{95EB46A9-F365-624E-9811-1B20B4737F97}"/>
    <dgm:cxn modelId="{CBC0B863-13EE-DE48-816D-68284287F71D}" type="presOf" srcId="{9054649F-D69A-490E-86A5-6B95928E879D}" destId="{F4EABCD8-E7E0-B14D-9A40-FA28937548F1}" srcOrd="0" destOrd="0" presId="urn:microsoft.com/office/officeart/2005/8/layout/hierarchy1"/>
    <dgm:cxn modelId="{6C353B66-E355-4F12-8024-DD6521F24BDC}" srcId="{42329F56-E81B-4C75-BAA3-746D11DEA104}" destId="{477672BB-8E34-486A-A775-60A1D6DBE94A}" srcOrd="3" destOrd="0" parTransId="{2C91B2B3-2926-468D-8200-035C9E4AAF2B}" sibTransId="{49DDC645-BC26-4946-99A9-1C46F4B5539B}"/>
    <dgm:cxn modelId="{993B5E6A-39A6-44AA-BE8C-FC58FA176625}" srcId="{42329F56-E81B-4C75-BAA3-746D11DEA104}" destId="{9054649F-D69A-490E-86A5-6B95928E879D}" srcOrd="2" destOrd="0" parTransId="{4A7E7CC2-976C-4095-8A07-CD7A2C090216}" sibTransId="{2D7434EC-2C75-41FC-8208-6940B82DCD07}"/>
    <dgm:cxn modelId="{10C68F80-E83D-4949-AB4A-9E372B44C2FA}" type="presOf" srcId="{88D10C9A-9FAE-494E-8271-9C092752909F}" destId="{38F69CD7-D665-3048-8B23-EDEB982285F6}" srcOrd="0" destOrd="0" presId="urn:microsoft.com/office/officeart/2005/8/layout/hierarchy1"/>
    <dgm:cxn modelId="{0D7B188E-CE16-45A9-9FEB-BC8B5F2E5AC5}" srcId="{42329F56-E81B-4C75-BAA3-746D11DEA104}" destId="{88D10C9A-9FAE-494E-8271-9C092752909F}" srcOrd="4" destOrd="0" parTransId="{99D69C99-19DA-4FAA-862A-76FDEBFCB8A6}" sibTransId="{6649C9E0-3EBD-4EF9-81D8-159E394F6C05}"/>
    <dgm:cxn modelId="{C5902695-1C67-754D-9EF3-E871A3E0F93B}" type="presOf" srcId="{A888AA8B-1787-B04A-AB4E-2691FA390A03}" destId="{F048A8D4-3F58-5B49-83D1-BE01906AB779}" srcOrd="0" destOrd="0" presId="urn:microsoft.com/office/officeart/2005/8/layout/hierarchy1"/>
    <dgm:cxn modelId="{C1E577A7-1C75-EC4A-AA96-75B99BF0BD66}" srcId="{42329F56-E81B-4C75-BAA3-746D11DEA104}" destId="{AE1B5DE9-BE06-5243-8B7F-217D3558EF06}" srcOrd="0" destOrd="0" parTransId="{D4FF2706-294C-ED4B-B6FC-E061CF01FED7}" sibTransId="{3F2601B4-AE64-8D4B-B39C-F36CBF666A05}"/>
    <dgm:cxn modelId="{DDDF0BAF-08C8-1648-A12A-ED936E34E734}" type="presOf" srcId="{AE1B5DE9-BE06-5243-8B7F-217D3558EF06}" destId="{5D78B456-C5EA-564B-B9EE-9ED64B6FDF33}" srcOrd="0" destOrd="0" presId="urn:microsoft.com/office/officeart/2005/8/layout/hierarchy1"/>
    <dgm:cxn modelId="{6EDCE0BB-F459-A546-81D2-4E9E4B52A037}" type="presOf" srcId="{42329F56-E81B-4C75-BAA3-746D11DEA104}" destId="{EA53B6FE-697D-9F44-8D6C-BBDDE69421B6}" srcOrd="0" destOrd="0" presId="urn:microsoft.com/office/officeart/2005/8/layout/hierarchy1"/>
    <dgm:cxn modelId="{1F77834A-01B2-6A40-91DB-7EA64868E076}" type="presParOf" srcId="{EA53B6FE-697D-9F44-8D6C-BBDDE69421B6}" destId="{EB542BDC-1258-FD43-BFC5-2F55E2DBE5B5}" srcOrd="0" destOrd="0" presId="urn:microsoft.com/office/officeart/2005/8/layout/hierarchy1"/>
    <dgm:cxn modelId="{492310C7-C32E-2245-9131-F6CD9B822E86}" type="presParOf" srcId="{EB542BDC-1258-FD43-BFC5-2F55E2DBE5B5}" destId="{D1732530-D33F-B748-9F39-13225014B6E1}" srcOrd="0" destOrd="0" presId="urn:microsoft.com/office/officeart/2005/8/layout/hierarchy1"/>
    <dgm:cxn modelId="{2321F12A-A5A2-B249-A0BB-C96535B35297}" type="presParOf" srcId="{D1732530-D33F-B748-9F39-13225014B6E1}" destId="{552FF30D-79A3-9345-A5EB-55DB0956F046}" srcOrd="0" destOrd="0" presId="urn:microsoft.com/office/officeart/2005/8/layout/hierarchy1"/>
    <dgm:cxn modelId="{95C298A8-287F-974C-91D7-7C7B6BB99819}" type="presParOf" srcId="{D1732530-D33F-B748-9F39-13225014B6E1}" destId="{5D78B456-C5EA-564B-B9EE-9ED64B6FDF33}" srcOrd="1" destOrd="0" presId="urn:microsoft.com/office/officeart/2005/8/layout/hierarchy1"/>
    <dgm:cxn modelId="{2EA6CCF8-0487-F846-941F-E8343ECF4684}" type="presParOf" srcId="{EB542BDC-1258-FD43-BFC5-2F55E2DBE5B5}" destId="{B32301CA-90E3-C14D-A864-C81AE5CC338C}" srcOrd="1" destOrd="0" presId="urn:microsoft.com/office/officeart/2005/8/layout/hierarchy1"/>
    <dgm:cxn modelId="{FAA8495F-2E30-3147-B979-0388803DEA55}" type="presParOf" srcId="{EA53B6FE-697D-9F44-8D6C-BBDDE69421B6}" destId="{BB8B54EA-6586-7E42-B151-23A0F2992A01}" srcOrd="1" destOrd="0" presId="urn:microsoft.com/office/officeart/2005/8/layout/hierarchy1"/>
    <dgm:cxn modelId="{D7565C8E-A1FF-7944-B8E7-FFE81BBD2059}" type="presParOf" srcId="{BB8B54EA-6586-7E42-B151-23A0F2992A01}" destId="{9D5513BF-E1E9-E249-9519-5BF68B42F8AE}" srcOrd="0" destOrd="0" presId="urn:microsoft.com/office/officeart/2005/8/layout/hierarchy1"/>
    <dgm:cxn modelId="{69092BA8-EA35-7A4B-BCD8-959ADADEFBB4}" type="presParOf" srcId="{9D5513BF-E1E9-E249-9519-5BF68B42F8AE}" destId="{658AE394-5255-9449-8DBE-AE862F2EBC13}" srcOrd="0" destOrd="0" presId="urn:microsoft.com/office/officeart/2005/8/layout/hierarchy1"/>
    <dgm:cxn modelId="{DEA39818-D4EF-424A-8E4F-DBDB3329EFB9}" type="presParOf" srcId="{9D5513BF-E1E9-E249-9519-5BF68B42F8AE}" destId="{F048A8D4-3F58-5B49-83D1-BE01906AB779}" srcOrd="1" destOrd="0" presId="urn:microsoft.com/office/officeart/2005/8/layout/hierarchy1"/>
    <dgm:cxn modelId="{74D5CF4A-9A7B-A248-8C35-B03EF842ADE3}" type="presParOf" srcId="{BB8B54EA-6586-7E42-B151-23A0F2992A01}" destId="{1298244A-5CE1-F44B-BEA4-4F9648E94371}" srcOrd="1" destOrd="0" presId="urn:microsoft.com/office/officeart/2005/8/layout/hierarchy1"/>
    <dgm:cxn modelId="{AAA4130E-1B41-6744-9F2C-351D31DE3E4E}" type="presParOf" srcId="{EA53B6FE-697D-9F44-8D6C-BBDDE69421B6}" destId="{1019AAE7-D751-8147-97BD-467252CCD0AF}" srcOrd="2" destOrd="0" presId="urn:microsoft.com/office/officeart/2005/8/layout/hierarchy1"/>
    <dgm:cxn modelId="{FEB8C26C-E782-4F4D-8FAB-67F382058FE8}" type="presParOf" srcId="{1019AAE7-D751-8147-97BD-467252CCD0AF}" destId="{5FB02620-C309-5242-BB8E-BA6C51A957F5}" srcOrd="0" destOrd="0" presId="urn:microsoft.com/office/officeart/2005/8/layout/hierarchy1"/>
    <dgm:cxn modelId="{D3791709-2F1C-5A43-AC71-53BB505A4EB7}" type="presParOf" srcId="{5FB02620-C309-5242-BB8E-BA6C51A957F5}" destId="{42953ADA-A6F5-6B47-A637-EF26F447FDF5}" srcOrd="0" destOrd="0" presId="urn:microsoft.com/office/officeart/2005/8/layout/hierarchy1"/>
    <dgm:cxn modelId="{F3568D7E-B0B8-A842-9C7F-E16A8DA13304}" type="presParOf" srcId="{5FB02620-C309-5242-BB8E-BA6C51A957F5}" destId="{F4EABCD8-E7E0-B14D-9A40-FA28937548F1}" srcOrd="1" destOrd="0" presId="urn:microsoft.com/office/officeart/2005/8/layout/hierarchy1"/>
    <dgm:cxn modelId="{012936F8-DD00-5D4E-AED5-5BBD29069954}" type="presParOf" srcId="{1019AAE7-D751-8147-97BD-467252CCD0AF}" destId="{6EDABCA9-6DC7-CE4A-A216-2A2668BA2EB8}" srcOrd="1" destOrd="0" presId="urn:microsoft.com/office/officeart/2005/8/layout/hierarchy1"/>
    <dgm:cxn modelId="{E7F0554D-737D-474C-82C3-BF1C9B3D54CD}" type="presParOf" srcId="{EA53B6FE-697D-9F44-8D6C-BBDDE69421B6}" destId="{75BDDA3C-9644-9642-968A-3D0246340047}" srcOrd="3" destOrd="0" presId="urn:microsoft.com/office/officeart/2005/8/layout/hierarchy1"/>
    <dgm:cxn modelId="{52882A0A-7644-8C48-9B6A-47169ACBEC16}" type="presParOf" srcId="{75BDDA3C-9644-9642-968A-3D0246340047}" destId="{A0A4AAA2-DB48-0547-969F-28F69C1CA867}" srcOrd="0" destOrd="0" presId="urn:microsoft.com/office/officeart/2005/8/layout/hierarchy1"/>
    <dgm:cxn modelId="{9CA56585-86D3-AE4D-8B75-FEAB5C1E93A4}" type="presParOf" srcId="{A0A4AAA2-DB48-0547-969F-28F69C1CA867}" destId="{02013F00-AC13-B242-8DF2-BB561E575EA0}" srcOrd="0" destOrd="0" presId="urn:microsoft.com/office/officeart/2005/8/layout/hierarchy1"/>
    <dgm:cxn modelId="{4ADD019C-A11E-D641-92A9-54DBD94D5928}" type="presParOf" srcId="{A0A4AAA2-DB48-0547-969F-28F69C1CA867}" destId="{09A8606C-1B37-BB43-A9B9-B2AF2572A0DD}" srcOrd="1" destOrd="0" presId="urn:microsoft.com/office/officeart/2005/8/layout/hierarchy1"/>
    <dgm:cxn modelId="{917E7227-4CD8-0149-BFB0-DC7076A5A3E5}" type="presParOf" srcId="{75BDDA3C-9644-9642-968A-3D0246340047}" destId="{7EB7872D-B09F-B54A-8A75-3DAED010A393}" srcOrd="1" destOrd="0" presId="urn:microsoft.com/office/officeart/2005/8/layout/hierarchy1"/>
    <dgm:cxn modelId="{499807F1-77D8-C741-8797-9AAEDC05C022}" type="presParOf" srcId="{EA53B6FE-697D-9F44-8D6C-BBDDE69421B6}" destId="{818F490D-519F-2E45-8081-B9659B34A446}" srcOrd="4" destOrd="0" presId="urn:microsoft.com/office/officeart/2005/8/layout/hierarchy1"/>
    <dgm:cxn modelId="{24BD84D0-77A1-304D-A984-FC6C24D107A1}" type="presParOf" srcId="{818F490D-519F-2E45-8081-B9659B34A446}" destId="{A04D13F0-D66A-0248-89ED-E171C67231DF}" srcOrd="0" destOrd="0" presId="urn:microsoft.com/office/officeart/2005/8/layout/hierarchy1"/>
    <dgm:cxn modelId="{F340474D-0EBF-B441-A060-551B1EA6F48B}" type="presParOf" srcId="{A04D13F0-D66A-0248-89ED-E171C67231DF}" destId="{D534C59B-F566-D145-90CA-CD0F64FBC576}" srcOrd="0" destOrd="0" presId="urn:microsoft.com/office/officeart/2005/8/layout/hierarchy1"/>
    <dgm:cxn modelId="{B2500A7B-8B1B-5343-9628-AEDFBC1D3465}" type="presParOf" srcId="{A04D13F0-D66A-0248-89ED-E171C67231DF}" destId="{38F69CD7-D665-3048-8B23-EDEB982285F6}" srcOrd="1" destOrd="0" presId="urn:microsoft.com/office/officeart/2005/8/layout/hierarchy1"/>
    <dgm:cxn modelId="{D2DD0C2B-FC76-E740-A1CE-44FAB2030363}" type="presParOf" srcId="{818F490D-519F-2E45-8081-B9659B34A446}" destId="{4C525C38-A418-5F4D-B2AE-0FA6666C9A4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3F34FC-B2F0-4548-A1BC-04DB1568CF43}">
      <dsp:nvSpPr>
        <dsp:cNvPr id="0" name=""/>
        <dsp:cNvSpPr/>
      </dsp:nvSpPr>
      <dsp:spPr>
        <a:xfrm>
          <a:off x="0" y="354518"/>
          <a:ext cx="11029615" cy="1455300"/>
        </a:xfrm>
        <a:prstGeom prst="rect">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6021" tIns="458216" rIns="856021"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Weeks 1 – 5: Impacts on Health</a:t>
          </a:r>
        </a:p>
        <a:p>
          <a:pPr marL="228600" lvl="1" indent="-228600" algn="l" defTabSz="889000">
            <a:lnSpc>
              <a:spcPct val="90000"/>
            </a:lnSpc>
            <a:spcBef>
              <a:spcPct val="0"/>
            </a:spcBef>
            <a:spcAft>
              <a:spcPct val="15000"/>
            </a:spcAft>
            <a:buChar char="•"/>
          </a:pPr>
          <a:r>
            <a:rPr lang="en-US" sz="2000" kern="1200" dirty="0"/>
            <a:t>Weeks 6 – 10: Keys 4 Life</a:t>
          </a:r>
        </a:p>
        <a:p>
          <a:pPr marL="342900" lvl="2" indent="-171450" algn="l" defTabSz="711200">
            <a:lnSpc>
              <a:spcPct val="90000"/>
            </a:lnSpc>
            <a:spcBef>
              <a:spcPct val="0"/>
            </a:spcBef>
            <a:spcAft>
              <a:spcPct val="15000"/>
            </a:spcAft>
            <a:buChar char="•"/>
          </a:pPr>
          <a:r>
            <a:rPr lang="en-US" sz="1600" i="1" kern="1200" dirty="0"/>
            <a:t>K4L will continue through to Term 4</a:t>
          </a:r>
          <a:endParaRPr lang="en-US" sz="1800" i="1" kern="1200" dirty="0"/>
        </a:p>
      </dsp:txBody>
      <dsp:txXfrm>
        <a:off x="0" y="354518"/>
        <a:ext cx="11029615" cy="1455300"/>
      </dsp:txXfrm>
    </dsp:sp>
    <dsp:sp modelId="{982DECBB-295F-3145-BC76-AF81B0EA6C66}">
      <dsp:nvSpPr>
        <dsp:cNvPr id="0" name=""/>
        <dsp:cNvSpPr/>
      </dsp:nvSpPr>
      <dsp:spPr>
        <a:xfrm>
          <a:off x="551480" y="29798"/>
          <a:ext cx="7720730" cy="64944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1825" tIns="0" rIns="291825" bIns="0" numCol="1" spcCol="1270" anchor="ctr" anchorCtr="0">
          <a:noAutofit/>
        </a:bodyPr>
        <a:lstStyle/>
        <a:p>
          <a:pPr marL="0" lvl="0" indent="0" algn="l" defTabSz="977900">
            <a:lnSpc>
              <a:spcPct val="90000"/>
            </a:lnSpc>
            <a:spcBef>
              <a:spcPct val="0"/>
            </a:spcBef>
            <a:spcAft>
              <a:spcPct val="35000"/>
            </a:spcAft>
            <a:buNone/>
          </a:pPr>
          <a:r>
            <a:rPr lang="en-US" sz="2200" kern="1200"/>
            <a:t>Program: </a:t>
          </a:r>
        </a:p>
      </dsp:txBody>
      <dsp:txXfrm>
        <a:off x="583183" y="61501"/>
        <a:ext cx="7657324" cy="586034"/>
      </dsp:txXfrm>
    </dsp:sp>
    <dsp:sp modelId="{83F002F4-6976-1C48-A96A-0B0A31488801}">
      <dsp:nvSpPr>
        <dsp:cNvPr id="0" name=""/>
        <dsp:cNvSpPr/>
      </dsp:nvSpPr>
      <dsp:spPr>
        <a:xfrm>
          <a:off x="0" y="2253338"/>
          <a:ext cx="11029615" cy="1351349"/>
        </a:xfrm>
        <a:prstGeom prst="rect">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6021" tIns="458216" rIns="856021" bIns="113792" numCol="1" spcCol="1270" anchor="t" anchorCtr="0">
          <a:noAutofit/>
        </a:bodyPr>
        <a:lstStyle/>
        <a:p>
          <a:pPr marL="228600" lvl="1" indent="-228600" algn="l" defTabSz="889000">
            <a:lnSpc>
              <a:spcPct val="90000"/>
            </a:lnSpc>
            <a:spcBef>
              <a:spcPct val="0"/>
            </a:spcBef>
            <a:spcAft>
              <a:spcPct val="15000"/>
            </a:spcAft>
            <a:buChar char="•"/>
          </a:pPr>
          <a:r>
            <a:rPr lang="en-US" sz="2000" i="0" kern="1200" dirty="0"/>
            <a:t>Assessment Task 4: Impacts on Health</a:t>
          </a:r>
        </a:p>
        <a:p>
          <a:pPr marL="342900" lvl="2" indent="-171450" algn="l" defTabSz="711200">
            <a:lnSpc>
              <a:spcPct val="90000"/>
            </a:lnSpc>
            <a:spcBef>
              <a:spcPct val="0"/>
            </a:spcBef>
            <a:spcAft>
              <a:spcPct val="15000"/>
            </a:spcAft>
            <a:buChar char="•"/>
          </a:pPr>
          <a:r>
            <a:rPr lang="en-US" sz="1600" i="0" kern="1200" dirty="0"/>
            <a:t>Analyse a health campaign</a:t>
          </a:r>
        </a:p>
        <a:p>
          <a:pPr marL="342900" lvl="2" indent="-171450" algn="l" defTabSz="711200">
            <a:lnSpc>
              <a:spcPct val="90000"/>
            </a:lnSpc>
            <a:spcBef>
              <a:spcPct val="0"/>
            </a:spcBef>
            <a:spcAft>
              <a:spcPct val="15000"/>
            </a:spcAft>
            <a:buChar char="•"/>
          </a:pPr>
          <a:r>
            <a:rPr lang="en-US" sz="1600" i="0" kern="1200" dirty="0"/>
            <a:t>Due: Week 6</a:t>
          </a:r>
        </a:p>
      </dsp:txBody>
      <dsp:txXfrm>
        <a:off x="0" y="2253338"/>
        <a:ext cx="11029615" cy="1351349"/>
      </dsp:txXfrm>
    </dsp:sp>
    <dsp:sp modelId="{CD117D01-2FE6-0540-B940-462AF59C48DF}">
      <dsp:nvSpPr>
        <dsp:cNvPr id="0" name=""/>
        <dsp:cNvSpPr/>
      </dsp:nvSpPr>
      <dsp:spPr>
        <a:xfrm>
          <a:off x="551480" y="1928618"/>
          <a:ext cx="7720730" cy="64944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1825" tIns="0" rIns="291825" bIns="0" numCol="1" spcCol="1270" anchor="ctr" anchorCtr="0">
          <a:noAutofit/>
        </a:bodyPr>
        <a:lstStyle/>
        <a:p>
          <a:pPr marL="0" lvl="0" indent="0" algn="l" defTabSz="977900">
            <a:lnSpc>
              <a:spcPct val="90000"/>
            </a:lnSpc>
            <a:spcBef>
              <a:spcPct val="0"/>
            </a:spcBef>
            <a:spcAft>
              <a:spcPct val="35000"/>
            </a:spcAft>
            <a:buNone/>
          </a:pPr>
          <a:r>
            <a:rPr lang="en-US" sz="2200" kern="1200"/>
            <a:t>Assessment:</a:t>
          </a:r>
        </a:p>
      </dsp:txBody>
      <dsp:txXfrm>
        <a:off x="583183" y="1960321"/>
        <a:ext cx="7657324"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B27E71-3EB6-2D4E-8757-7B0907DAD134}">
      <dsp:nvSpPr>
        <dsp:cNvPr id="0" name=""/>
        <dsp:cNvSpPr/>
      </dsp:nvSpPr>
      <dsp:spPr>
        <a:xfrm>
          <a:off x="1884061" y="319975"/>
          <a:ext cx="1524823" cy="991135"/>
        </a:xfrm>
        <a:prstGeom prst="roundRect">
          <a:avLst/>
        </a:prstGeom>
        <a:solidFill>
          <a:srgbClr val="FF9300"/>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Physical</a:t>
          </a:r>
        </a:p>
      </dsp:txBody>
      <dsp:txXfrm>
        <a:off x="1932444" y="368358"/>
        <a:ext cx="1428057" cy="894369"/>
      </dsp:txXfrm>
    </dsp:sp>
    <dsp:sp modelId="{5688F4C5-5B54-0340-8542-6F7E802AC990}">
      <dsp:nvSpPr>
        <dsp:cNvPr id="0" name=""/>
        <dsp:cNvSpPr/>
      </dsp:nvSpPr>
      <dsp:spPr>
        <a:xfrm>
          <a:off x="666025" y="815543"/>
          <a:ext cx="3960896" cy="3960896"/>
        </a:xfrm>
        <a:custGeom>
          <a:avLst/>
          <a:gdLst/>
          <a:ahLst/>
          <a:cxnLst/>
          <a:rect l="0" t="0" r="0" b="0"/>
          <a:pathLst>
            <a:path>
              <a:moveTo>
                <a:pt x="2947199" y="251990"/>
              </a:moveTo>
              <a:arcTo wR="1980448" hR="1980448" stAng="17953135" swAng="1212015"/>
            </a:path>
          </a:pathLst>
        </a:custGeom>
        <a:noFill/>
        <a:ln w="12700" cap="rnd"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579FFECE-1665-A14B-839A-27E272950A33}">
      <dsp:nvSpPr>
        <dsp:cNvPr id="0" name=""/>
        <dsp:cNvSpPr/>
      </dsp:nvSpPr>
      <dsp:spPr>
        <a:xfrm>
          <a:off x="3767579" y="1688431"/>
          <a:ext cx="1524823" cy="991135"/>
        </a:xfrm>
        <a:prstGeom prst="roundRect">
          <a:avLst/>
        </a:prstGeom>
        <a:solidFill>
          <a:srgbClr val="FF40FF"/>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Social</a:t>
          </a:r>
        </a:p>
      </dsp:txBody>
      <dsp:txXfrm>
        <a:off x="3815962" y="1736814"/>
        <a:ext cx="1428057" cy="894369"/>
      </dsp:txXfrm>
    </dsp:sp>
    <dsp:sp modelId="{88A76C50-432B-3F4A-9073-E99FCEE23E7C}">
      <dsp:nvSpPr>
        <dsp:cNvPr id="0" name=""/>
        <dsp:cNvSpPr/>
      </dsp:nvSpPr>
      <dsp:spPr>
        <a:xfrm>
          <a:off x="666025" y="815543"/>
          <a:ext cx="3960896" cy="3960896"/>
        </a:xfrm>
        <a:custGeom>
          <a:avLst/>
          <a:gdLst/>
          <a:ahLst/>
          <a:cxnLst/>
          <a:rect l="0" t="0" r="0" b="0"/>
          <a:pathLst>
            <a:path>
              <a:moveTo>
                <a:pt x="3956151" y="2117450"/>
              </a:moveTo>
              <a:arcTo wR="1980448" hR="1980448" stAng="21838006" swAng="1360095"/>
            </a:path>
          </a:pathLst>
        </a:custGeom>
        <a:noFill/>
        <a:ln w="12700" cap="rnd" cmpd="sng" algn="ctr">
          <a:solidFill>
            <a:schemeClr val="accent5">
              <a:hueOff val="-381589"/>
              <a:satOff val="722"/>
              <a:lumOff val="-49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4F86DDF4-A622-A346-A8E6-F2DF21F7292F}">
      <dsp:nvSpPr>
        <dsp:cNvPr id="0" name=""/>
        <dsp:cNvSpPr/>
      </dsp:nvSpPr>
      <dsp:spPr>
        <a:xfrm>
          <a:off x="3048139" y="3902639"/>
          <a:ext cx="1524823" cy="991135"/>
        </a:xfrm>
        <a:prstGeom prst="roundRect">
          <a:avLst/>
        </a:prstGeom>
        <a:solidFill>
          <a:srgbClr val="76D6FF"/>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Emotional</a:t>
          </a:r>
        </a:p>
      </dsp:txBody>
      <dsp:txXfrm>
        <a:off x="3096522" y="3951022"/>
        <a:ext cx="1428057" cy="894369"/>
      </dsp:txXfrm>
    </dsp:sp>
    <dsp:sp modelId="{A29BCB6D-B22C-834E-95AE-12A390401DE1}">
      <dsp:nvSpPr>
        <dsp:cNvPr id="0" name=""/>
        <dsp:cNvSpPr/>
      </dsp:nvSpPr>
      <dsp:spPr>
        <a:xfrm>
          <a:off x="666025" y="815543"/>
          <a:ext cx="3960896" cy="3960896"/>
        </a:xfrm>
        <a:custGeom>
          <a:avLst/>
          <a:gdLst/>
          <a:ahLst/>
          <a:cxnLst/>
          <a:rect l="0" t="0" r="0" b="0"/>
          <a:pathLst>
            <a:path>
              <a:moveTo>
                <a:pt x="2223638" y="3945908"/>
              </a:moveTo>
              <a:arcTo wR="1980448" hR="1980448" stAng="4976791" swAng="846417"/>
            </a:path>
          </a:pathLst>
        </a:custGeom>
        <a:noFill/>
        <a:ln w="12700" cap="rnd" cmpd="sng" algn="ctr">
          <a:solidFill>
            <a:schemeClr val="accent5">
              <a:hueOff val="-763177"/>
              <a:satOff val="1444"/>
              <a:lumOff val="-98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CA40F7C4-4EC0-0745-AFE3-7BE48DCE2A39}">
      <dsp:nvSpPr>
        <dsp:cNvPr id="0" name=""/>
        <dsp:cNvSpPr/>
      </dsp:nvSpPr>
      <dsp:spPr>
        <a:xfrm>
          <a:off x="719983" y="3902639"/>
          <a:ext cx="1524823" cy="991135"/>
        </a:xfrm>
        <a:prstGeom prst="roundRect">
          <a:avLst/>
        </a:prstGeom>
        <a:solidFill>
          <a:srgbClr val="FF7E79"/>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Spiritual</a:t>
          </a:r>
        </a:p>
      </dsp:txBody>
      <dsp:txXfrm>
        <a:off x="768366" y="3951022"/>
        <a:ext cx="1428057" cy="894369"/>
      </dsp:txXfrm>
    </dsp:sp>
    <dsp:sp modelId="{B87C3F67-FD35-E440-9076-D46E8BFE89B9}">
      <dsp:nvSpPr>
        <dsp:cNvPr id="0" name=""/>
        <dsp:cNvSpPr/>
      </dsp:nvSpPr>
      <dsp:spPr>
        <a:xfrm>
          <a:off x="666025" y="815543"/>
          <a:ext cx="3960896" cy="3960896"/>
        </a:xfrm>
        <a:custGeom>
          <a:avLst/>
          <a:gdLst/>
          <a:ahLst/>
          <a:cxnLst/>
          <a:rect l="0" t="0" r="0" b="0"/>
          <a:pathLst>
            <a:path>
              <a:moveTo>
                <a:pt x="210164" y="2868293"/>
              </a:moveTo>
              <a:arcTo wR="1980448" hR="1980448" stAng="9201900" swAng="1360095"/>
            </a:path>
          </a:pathLst>
        </a:custGeom>
        <a:noFill/>
        <a:ln w="12700" cap="rnd" cmpd="sng" algn="ctr">
          <a:solidFill>
            <a:schemeClr val="accent5">
              <a:hueOff val="-1144766"/>
              <a:satOff val="2165"/>
              <a:lumOff val="-1471"/>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EA3C8065-46A7-8546-836B-BD2834356C50}">
      <dsp:nvSpPr>
        <dsp:cNvPr id="0" name=""/>
        <dsp:cNvSpPr/>
      </dsp:nvSpPr>
      <dsp:spPr>
        <a:xfrm>
          <a:off x="543" y="1688431"/>
          <a:ext cx="1524823" cy="991135"/>
        </a:xfrm>
        <a:prstGeom prst="roundRect">
          <a:avLst/>
        </a:prstGeom>
        <a:solidFill>
          <a:srgbClr val="73FB79"/>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Mental</a:t>
          </a:r>
        </a:p>
      </dsp:txBody>
      <dsp:txXfrm>
        <a:off x="48926" y="1736814"/>
        <a:ext cx="1428057" cy="894369"/>
      </dsp:txXfrm>
    </dsp:sp>
    <dsp:sp modelId="{41AF8439-F07B-3C45-93C5-56DF738A33E2}">
      <dsp:nvSpPr>
        <dsp:cNvPr id="0" name=""/>
        <dsp:cNvSpPr/>
      </dsp:nvSpPr>
      <dsp:spPr>
        <a:xfrm>
          <a:off x="666025" y="815543"/>
          <a:ext cx="3960896" cy="3960896"/>
        </a:xfrm>
        <a:custGeom>
          <a:avLst/>
          <a:gdLst/>
          <a:ahLst/>
          <a:cxnLst/>
          <a:rect l="0" t="0" r="0" b="0"/>
          <a:pathLst>
            <a:path>
              <a:moveTo>
                <a:pt x="476319" y="692126"/>
              </a:moveTo>
              <a:arcTo wR="1980448" hR="1980448" stAng="13234850" swAng="1212015"/>
            </a:path>
          </a:pathLst>
        </a:custGeom>
        <a:noFill/>
        <a:ln w="12700" cap="rnd" cmpd="sng" algn="ctr">
          <a:solidFill>
            <a:schemeClr val="accent5">
              <a:hueOff val="-1526355"/>
              <a:satOff val="2887"/>
              <a:lumOff val="-1961"/>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914F04-95C5-4B78-80B9-A93EB54D8616}">
      <dsp:nvSpPr>
        <dsp:cNvPr id="0" name=""/>
        <dsp:cNvSpPr/>
      </dsp:nvSpPr>
      <dsp:spPr>
        <a:xfrm>
          <a:off x="0" y="1848"/>
          <a:ext cx="11029950" cy="9369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DF2C02-8945-4DCD-9453-B36CF84825EE}">
      <dsp:nvSpPr>
        <dsp:cNvPr id="0" name=""/>
        <dsp:cNvSpPr/>
      </dsp:nvSpPr>
      <dsp:spPr>
        <a:xfrm>
          <a:off x="283437" y="212669"/>
          <a:ext cx="515340" cy="5153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42E508C-3586-4024-89AA-00BCC80930FB}">
      <dsp:nvSpPr>
        <dsp:cNvPr id="0" name=""/>
        <dsp:cNvSpPr/>
      </dsp:nvSpPr>
      <dsp:spPr>
        <a:xfrm>
          <a:off x="1082215" y="1848"/>
          <a:ext cx="9947734" cy="936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164" tIns="99164" rIns="99164" bIns="99164" numCol="1" spcCol="1270" anchor="ctr" anchorCtr="0">
          <a:noAutofit/>
        </a:bodyPr>
        <a:lstStyle/>
        <a:p>
          <a:pPr marL="0" lvl="0" indent="0" algn="l" defTabSz="800100">
            <a:lnSpc>
              <a:spcPct val="90000"/>
            </a:lnSpc>
            <a:spcBef>
              <a:spcPct val="0"/>
            </a:spcBef>
            <a:spcAft>
              <a:spcPct val="35000"/>
            </a:spcAft>
            <a:buNone/>
          </a:pPr>
          <a:r>
            <a:rPr lang="en-US" sz="1800" b="1" u="sng" kern="1200" dirty="0"/>
            <a:t>Social</a:t>
          </a:r>
          <a:r>
            <a:rPr lang="en-US" sz="1800" kern="1200" dirty="0"/>
            <a:t> – factors involving culture, family, support networks, social/group environment etc.</a:t>
          </a:r>
        </a:p>
      </dsp:txBody>
      <dsp:txXfrm>
        <a:off x="1082215" y="1848"/>
        <a:ext cx="9947734" cy="936983"/>
      </dsp:txXfrm>
    </dsp:sp>
    <dsp:sp modelId="{B2821B26-F8C1-489F-95B9-1047FAA5658C}">
      <dsp:nvSpPr>
        <dsp:cNvPr id="0" name=""/>
        <dsp:cNvSpPr/>
      </dsp:nvSpPr>
      <dsp:spPr>
        <a:xfrm>
          <a:off x="0" y="1173077"/>
          <a:ext cx="11029950" cy="9369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77624D-70EE-4DB2-85AA-1D1366508E67}">
      <dsp:nvSpPr>
        <dsp:cNvPr id="0" name=""/>
        <dsp:cNvSpPr/>
      </dsp:nvSpPr>
      <dsp:spPr>
        <a:xfrm>
          <a:off x="283437" y="1383898"/>
          <a:ext cx="515340" cy="5153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03BDEFF-0218-475B-8D14-29B4AB4922BD}">
      <dsp:nvSpPr>
        <dsp:cNvPr id="0" name=""/>
        <dsp:cNvSpPr/>
      </dsp:nvSpPr>
      <dsp:spPr>
        <a:xfrm>
          <a:off x="1082215" y="1173077"/>
          <a:ext cx="9947734" cy="936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164" tIns="99164" rIns="99164" bIns="99164" numCol="1" spcCol="1270" anchor="ctr" anchorCtr="0">
          <a:noAutofit/>
        </a:bodyPr>
        <a:lstStyle/>
        <a:p>
          <a:pPr marL="0" lvl="0" indent="0" algn="l" defTabSz="800100">
            <a:lnSpc>
              <a:spcPct val="90000"/>
            </a:lnSpc>
            <a:spcBef>
              <a:spcPct val="0"/>
            </a:spcBef>
            <a:spcAft>
              <a:spcPct val="35000"/>
            </a:spcAft>
            <a:buNone/>
          </a:pPr>
          <a:r>
            <a:rPr lang="en-US" sz="1800" b="1" u="sng" kern="1200" dirty="0"/>
            <a:t>Environmental</a:t>
          </a:r>
          <a:r>
            <a:rPr lang="en-US" sz="1800" kern="1200" dirty="0"/>
            <a:t> – involving natural or geographical factors, climate, the built environment such as industrial or housing area and conditions, access to areas such as parks or day to day conveniences etc.</a:t>
          </a:r>
        </a:p>
      </dsp:txBody>
      <dsp:txXfrm>
        <a:off x="1082215" y="1173077"/>
        <a:ext cx="9947734" cy="936983"/>
      </dsp:txXfrm>
    </dsp:sp>
    <dsp:sp modelId="{ED012CD5-9BE2-4C20-9640-EC91B63B2001}">
      <dsp:nvSpPr>
        <dsp:cNvPr id="0" name=""/>
        <dsp:cNvSpPr/>
      </dsp:nvSpPr>
      <dsp:spPr>
        <a:xfrm>
          <a:off x="0" y="2344306"/>
          <a:ext cx="11029950" cy="9369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E3544E-4D88-4BFB-9A25-AE1334E9D222}">
      <dsp:nvSpPr>
        <dsp:cNvPr id="0" name=""/>
        <dsp:cNvSpPr/>
      </dsp:nvSpPr>
      <dsp:spPr>
        <a:xfrm>
          <a:off x="283437" y="2555127"/>
          <a:ext cx="515340" cy="5153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BAD8377-BB19-47FD-BDEB-BF2B9F1C2A84}">
      <dsp:nvSpPr>
        <dsp:cNvPr id="0" name=""/>
        <dsp:cNvSpPr/>
      </dsp:nvSpPr>
      <dsp:spPr>
        <a:xfrm>
          <a:off x="1082215" y="2344306"/>
          <a:ext cx="9947734" cy="936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164" tIns="99164" rIns="99164" bIns="99164" numCol="1" spcCol="1270" anchor="ctr" anchorCtr="0">
          <a:noAutofit/>
        </a:bodyPr>
        <a:lstStyle/>
        <a:p>
          <a:pPr marL="0" lvl="0" indent="0" algn="l" defTabSz="800100">
            <a:lnSpc>
              <a:spcPct val="90000"/>
            </a:lnSpc>
            <a:spcBef>
              <a:spcPct val="0"/>
            </a:spcBef>
            <a:spcAft>
              <a:spcPct val="35000"/>
            </a:spcAft>
            <a:buNone/>
          </a:pPr>
          <a:r>
            <a:rPr lang="en-US" sz="1800" b="1" u="sng" kern="1200" dirty="0"/>
            <a:t>Socioeconomic</a:t>
          </a:r>
          <a:r>
            <a:rPr lang="en-US" sz="1800" kern="1200" dirty="0"/>
            <a:t> –  factors involving combination of income, education, and employment etc.</a:t>
          </a:r>
        </a:p>
      </dsp:txBody>
      <dsp:txXfrm>
        <a:off x="1082215" y="2344306"/>
        <a:ext cx="9947734" cy="936983"/>
      </dsp:txXfrm>
    </dsp:sp>
    <dsp:sp modelId="{8AF34ADA-7F73-47E4-A506-B3E0B55FE415}">
      <dsp:nvSpPr>
        <dsp:cNvPr id="0" name=""/>
        <dsp:cNvSpPr/>
      </dsp:nvSpPr>
      <dsp:spPr>
        <a:xfrm>
          <a:off x="0" y="3515535"/>
          <a:ext cx="11029950" cy="9369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71B88A-49FE-4298-95E0-6AF4F950AE15}">
      <dsp:nvSpPr>
        <dsp:cNvPr id="0" name=""/>
        <dsp:cNvSpPr/>
      </dsp:nvSpPr>
      <dsp:spPr>
        <a:xfrm>
          <a:off x="283437" y="3726356"/>
          <a:ext cx="515340" cy="51534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4F04666-8E0C-4FB7-97A8-DD4FB794B618}">
      <dsp:nvSpPr>
        <dsp:cNvPr id="0" name=""/>
        <dsp:cNvSpPr/>
      </dsp:nvSpPr>
      <dsp:spPr>
        <a:xfrm>
          <a:off x="1082215" y="3515535"/>
          <a:ext cx="9947734" cy="936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164" tIns="99164" rIns="99164" bIns="99164" numCol="1" spcCol="1270" anchor="ctr" anchorCtr="0">
          <a:noAutofit/>
        </a:bodyPr>
        <a:lstStyle/>
        <a:p>
          <a:pPr marL="0" lvl="0" indent="0" algn="l" defTabSz="800100">
            <a:lnSpc>
              <a:spcPct val="90000"/>
            </a:lnSpc>
            <a:spcBef>
              <a:spcPct val="0"/>
            </a:spcBef>
            <a:spcAft>
              <a:spcPct val="35000"/>
            </a:spcAft>
            <a:buNone/>
          </a:pPr>
          <a:r>
            <a:rPr lang="en-US" sz="1800" b="1" u="sng" kern="1200" dirty="0"/>
            <a:t>Biological </a:t>
          </a:r>
          <a:r>
            <a:rPr lang="en-US" sz="1800" kern="1200" dirty="0"/>
            <a:t>– genetic factors, previous family history, birth complications, race (predisposition of certain races to particular health problems), skin colour (especially for skin cancer) etc.</a:t>
          </a:r>
        </a:p>
      </dsp:txBody>
      <dsp:txXfrm>
        <a:off x="1082215" y="3515535"/>
        <a:ext cx="9947734" cy="9369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914F04-95C5-4B78-80B9-A93EB54D8616}">
      <dsp:nvSpPr>
        <dsp:cNvPr id="0" name=""/>
        <dsp:cNvSpPr/>
      </dsp:nvSpPr>
      <dsp:spPr>
        <a:xfrm>
          <a:off x="0" y="0"/>
          <a:ext cx="4905375" cy="9471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DF2C02-8945-4DCD-9453-B36CF84825EE}">
      <dsp:nvSpPr>
        <dsp:cNvPr id="0" name=""/>
        <dsp:cNvSpPr/>
      </dsp:nvSpPr>
      <dsp:spPr>
        <a:xfrm>
          <a:off x="286503" y="214970"/>
          <a:ext cx="520915" cy="5209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42E508C-3586-4024-89AA-00BCC80930FB}">
      <dsp:nvSpPr>
        <dsp:cNvPr id="0" name=""/>
        <dsp:cNvSpPr/>
      </dsp:nvSpPr>
      <dsp:spPr>
        <a:xfrm>
          <a:off x="1093922" y="1868"/>
          <a:ext cx="3811452" cy="947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237" tIns="100237" rIns="100237" bIns="100237" numCol="1" spcCol="1270" anchor="ctr" anchorCtr="0">
          <a:noAutofit/>
        </a:bodyPr>
        <a:lstStyle/>
        <a:p>
          <a:pPr marL="0" lvl="0" indent="0" algn="l" defTabSz="977900">
            <a:lnSpc>
              <a:spcPct val="90000"/>
            </a:lnSpc>
            <a:spcBef>
              <a:spcPct val="0"/>
            </a:spcBef>
            <a:spcAft>
              <a:spcPct val="35000"/>
            </a:spcAft>
            <a:buNone/>
          </a:pPr>
          <a:r>
            <a:rPr lang="en-US" sz="2200" b="1" u="sng" kern="1200" dirty="0"/>
            <a:t>Social</a:t>
          </a:r>
          <a:endParaRPr lang="en-US" sz="2200" kern="1200" dirty="0"/>
        </a:p>
      </dsp:txBody>
      <dsp:txXfrm>
        <a:off x="1093922" y="1868"/>
        <a:ext cx="3811452" cy="947118"/>
      </dsp:txXfrm>
    </dsp:sp>
    <dsp:sp modelId="{B2821B26-F8C1-489F-95B9-1047FAA5658C}">
      <dsp:nvSpPr>
        <dsp:cNvPr id="0" name=""/>
        <dsp:cNvSpPr/>
      </dsp:nvSpPr>
      <dsp:spPr>
        <a:xfrm>
          <a:off x="0" y="1185767"/>
          <a:ext cx="4905375" cy="9471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77624D-70EE-4DB2-85AA-1D1366508E67}">
      <dsp:nvSpPr>
        <dsp:cNvPr id="0" name=""/>
        <dsp:cNvSpPr/>
      </dsp:nvSpPr>
      <dsp:spPr>
        <a:xfrm>
          <a:off x="286503" y="1398869"/>
          <a:ext cx="520915" cy="5209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03BDEFF-0218-475B-8D14-29B4AB4922BD}">
      <dsp:nvSpPr>
        <dsp:cNvPr id="0" name=""/>
        <dsp:cNvSpPr/>
      </dsp:nvSpPr>
      <dsp:spPr>
        <a:xfrm>
          <a:off x="1093922" y="1185767"/>
          <a:ext cx="3811452" cy="947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237" tIns="100237" rIns="100237" bIns="100237" numCol="1" spcCol="1270" anchor="ctr" anchorCtr="0">
          <a:noAutofit/>
        </a:bodyPr>
        <a:lstStyle/>
        <a:p>
          <a:pPr marL="0" lvl="0" indent="0" algn="l" defTabSz="977900">
            <a:lnSpc>
              <a:spcPct val="90000"/>
            </a:lnSpc>
            <a:spcBef>
              <a:spcPct val="0"/>
            </a:spcBef>
            <a:spcAft>
              <a:spcPct val="35000"/>
            </a:spcAft>
            <a:buNone/>
          </a:pPr>
          <a:r>
            <a:rPr lang="en-US" sz="2200" b="1" u="sng" kern="1200" dirty="0"/>
            <a:t>Environmental</a:t>
          </a:r>
          <a:endParaRPr lang="en-US" sz="2200" kern="1200" dirty="0"/>
        </a:p>
      </dsp:txBody>
      <dsp:txXfrm>
        <a:off x="1093922" y="1185767"/>
        <a:ext cx="3811452" cy="947118"/>
      </dsp:txXfrm>
    </dsp:sp>
    <dsp:sp modelId="{ED012CD5-9BE2-4C20-9640-EC91B63B2001}">
      <dsp:nvSpPr>
        <dsp:cNvPr id="0" name=""/>
        <dsp:cNvSpPr/>
      </dsp:nvSpPr>
      <dsp:spPr>
        <a:xfrm>
          <a:off x="0" y="2369665"/>
          <a:ext cx="4905375" cy="9471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E3544E-4D88-4BFB-9A25-AE1334E9D222}">
      <dsp:nvSpPr>
        <dsp:cNvPr id="0" name=""/>
        <dsp:cNvSpPr/>
      </dsp:nvSpPr>
      <dsp:spPr>
        <a:xfrm>
          <a:off x="286503" y="2582767"/>
          <a:ext cx="520915" cy="5209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BAD8377-BB19-47FD-BDEB-BF2B9F1C2A84}">
      <dsp:nvSpPr>
        <dsp:cNvPr id="0" name=""/>
        <dsp:cNvSpPr/>
      </dsp:nvSpPr>
      <dsp:spPr>
        <a:xfrm>
          <a:off x="1093922" y="2369665"/>
          <a:ext cx="3811452" cy="947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237" tIns="100237" rIns="100237" bIns="100237" numCol="1" spcCol="1270" anchor="ctr" anchorCtr="0">
          <a:noAutofit/>
        </a:bodyPr>
        <a:lstStyle/>
        <a:p>
          <a:pPr marL="0" lvl="0" indent="0" algn="l" defTabSz="977900">
            <a:lnSpc>
              <a:spcPct val="90000"/>
            </a:lnSpc>
            <a:spcBef>
              <a:spcPct val="0"/>
            </a:spcBef>
            <a:spcAft>
              <a:spcPct val="35000"/>
            </a:spcAft>
            <a:buNone/>
          </a:pPr>
          <a:r>
            <a:rPr lang="en-US" sz="2200" b="1" u="sng" kern="1200" dirty="0"/>
            <a:t>Socioeconomic</a:t>
          </a:r>
          <a:endParaRPr lang="en-US" sz="2200" kern="1200" dirty="0"/>
        </a:p>
      </dsp:txBody>
      <dsp:txXfrm>
        <a:off x="1093922" y="2369665"/>
        <a:ext cx="3811452" cy="947118"/>
      </dsp:txXfrm>
    </dsp:sp>
    <dsp:sp modelId="{8AF34ADA-7F73-47E4-A506-B3E0B55FE415}">
      <dsp:nvSpPr>
        <dsp:cNvPr id="0" name=""/>
        <dsp:cNvSpPr/>
      </dsp:nvSpPr>
      <dsp:spPr>
        <a:xfrm>
          <a:off x="0" y="3553564"/>
          <a:ext cx="4905375" cy="9471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71B88A-49FE-4298-95E0-6AF4F950AE15}">
      <dsp:nvSpPr>
        <dsp:cNvPr id="0" name=""/>
        <dsp:cNvSpPr/>
      </dsp:nvSpPr>
      <dsp:spPr>
        <a:xfrm>
          <a:off x="286503" y="3766666"/>
          <a:ext cx="520915" cy="5209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4F04666-8E0C-4FB7-97A8-DD4FB794B618}">
      <dsp:nvSpPr>
        <dsp:cNvPr id="0" name=""/>
        <dsp:cNvSpPr/>
      </dsp:nvSpPr>
      <dsp:spPr>
        <a:xfrm>
          <a:off x="1093922" y="3553564"/>
          <a:ext cx="3811452" cy="947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237" tIns="100237" rIns="100237" bIns="100237" numCol="1" spcCol="1270" anchor="ctr" anchorCtr="0">
          <a:noAutofit/>
        </a:bodyPr>
        <a:lstStyle/>
        <a:p>
          <a:pPr marL="0" lvl="0" indent="0" algn="l" defTabSz="977900">
            <a:lnSpc>
              <a:spcPct val="90000"/>
            </a:lnSpc>
            <a:spcBef>
              <a:spcPct val="0"/>
            </a:spcBef>
            <a:spcAft>
              <a:spcPct val="35000"/>
            </a:spcAft>
            <a:buNone/>
          </a:pPr>
          <a:r>
            <a:rPr lang="en-US" sz="2200" b="1" u="sng" kern="1200" dirty="0"/>
            <a:t>Biological</a:t>
          </a:r>
          <a:endParaRPr lang="en-US" sz="2200" kern="1200" dirty="0"/>
        </a:p>
      </dsp:txBody>
      <dsp:txXfrm>
        <a:off x="1093922" y="3553564"/>
        <a:ext cx="3811452" cy="9471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914F04-95C5-4B78-80B9-A93EB54D8616}">
      <dsp:nvSpPr>
        <dsp:cNvPr id="0" name=""/>
        <dsp:cNvSpPr/>
      </dsp:nvSpPr>
      <dsp:spPr>
        <a:xfrm>
          <a:off x="-238433" y="11450"/>
          <a:ext cx="8609108" cy="12405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DF2C02-8945-4DCD-9453-B36CF84825EE}">
      <dsp:nvSpPr>
        <dsp:cNvPr id="0" name=""/>
        <dsp:cNvSpPr/>
      </dsp:nvSpPr>
      <dsp:spPr>
        <a:xfrm>
          <a:off x="13121" y="290566"/>
          <a:ext cx="683618" cy="68228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42E508C-3586-4024-89AA-00BCC80930FB}">
      <dsp:nvSpPr>
        <dsp:cNvPr id="0" name=""/>
        <dsp:cNvSpPr/>
      </dsp:nvSpPr>
      <dsp:spPr>
        <a:xfrm>
          <a:off x="683796" y="0"/>
          <a:ext cx="8152231" cy="12792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391" tIns="135391" rIns="135391" bIns="135391" numCol="1" spcCol="1270" anchor="ctr" anchorCtr="0">
          <a:noAutofit/>
        </a:bodyPr>
        <a:lstStyle/>
        <a:p>
          <a:pPr marL="0" lvl="0" indent="0" algn="l" defTabSz="622300">
            <a:lnSpc>
              <a:spcPct val="90000"/>
            </a:lnSpc>
            <a:spcBef>
              <a:spcPct val="0"/>
            </a:spcBef>
            <a:spcAft>
              <a:spcPct val="35000"/>
            </a:spcAft>
            <a:buNone/>
          </a:pPr>
          <a:r>
            <a:rPr lang="en-US" sz="1400" kern="1200" dirty="0"/>
            <a:t>Transport – walking vs. driving</a:t>
          </a:r>
        </a:p>
        <a:p>
          <a:pPr marL="0" lvl="0" indent="0" algn="l" defTabSz="622300">
            <a:lnSpc>
              <a:spcPct val="90000"/>
            </a:lnSpc>
            <a:spcBef>
              <a:spcPct val="0"/>
            </a:spcBef>
            <a:spcAft>
              <a:spcPct val="35000"/>
            </a:spcAft>
            <a:buNone/>
          </a:pPr>
          <a:r>
            <a:rPr lang="en-US" sz="1400" kern="1200" dirty="0"/>
            <a:t>Social support – friendship groups and peer influences</a:t>
          </a:r>
        </a:p>
        <a:p>
          <a:pPr marL="0" lvl="0" indent="0" algn="l" defTabSz="622300">
            <a:lnSpc>
              <a:spcPct val="90000"/>
            </a:lnSpc>
            <a:spcBef>
              <a:spcPct val="0"/>
            </a:spcBef>
            <a:spcAft>
              <a:spcPct val="35000"/>
            </a:spcAft>
            <a:buNone/>
          </a:pPr>
          <a:r>
            <a:rPr lang="en-US" sz="1400" kern="1200" dirty="0"/>
            <a:t>Food choices </a:t>
          </a:r>
        </a:p>
        <a:p>
          <a:pPr marL="0" lvl="0" indent="0" algn="l" defTabSz="622300">
            <a:lnSpc>
              <a:spcPct val="90000"/>
            </a:lnSpc>
            <a:spcBef>
              <a:spcPct val="0"/>
            </a:spcBef>
            <a:spcAft>
              <a:spcPct val="35000"/>
            </a:spcAft>
            <a:buNone/>
          </a:pPr>
          <a:r>
            <a:rPr lang="en-US" sz="1400" kern="1200" dirty="0"/>
            <a:t>Cultural events/expectations</a:t>
          </a:r>
        </a:p>
      </dsp:txBody>
      <dsp:txXfrm>
        <a:off x="683796" y="0"/>
        <a:ext cx="8152231" cy="1279282"/>
      </dsp:txXfrm>
    </dsp:sp>
    <dsp:sp modelId="{B2821B26-F8C1-489F-95B9-1047FAA5658C}">
      <dsp:nvSpPr>
        <dsp:cNvPr id="0" name=""/>
        <dsp:cNvSpPr/>
      </dsp:nvSpPr>
      <dsp:spPr>
        <a:xfrm>
          <a:off x="-238433" y="1621780"/>
          <a:ext cx="8609108" cy="12405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77624D-70EE-4DB2-85AA-1D1366508E67}">
      <dsp:nvSpPr>
        <dsp:cNvPr id="0" name=""/>
        <dsp:cNvSpPr/>
      </dsp:nvSpPr>
      <dsp:spPr>
        <a:xfrm>
          <a:off x="13121" y="1889669"/>
          <a:ext cx="683618" cy="68228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03BDEFF-0218-475B-8D14-29B4AB4922BD}">
      <dsp:nvSpPr>
        <dsp:cNvPr id="0" name=""/>
        <dsp:cNvSpPr/>
      </dsp:nvSpPr>
      <dsp:spPr>
        <a:xfrm>
          <a:off x="725811" y="1610553"/>
          <a:ext cx="8091229" cy="12792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391" tIns="135391" rIns="135391" bIns="135391" numCol="1" spcCol="1270" anchor="ctr" anchorCtr="0">
          <a:noAutofit/>
        </a:bodyPr>
        <a:lstStyle/>
        <a:p>
          <a:pPr marL="0" lvl="0" indent="0" algn="l" defTabSz="711200">
            <a:lnSpc>
              <a:spcPct val="90000"/>
            </a:lnSpc>
            <a:spcBef>
              <a:spcPct val="0"/>
            </a:spcBef>
            <a:spcAft>
              <a:spcPct val="35000"/>
            </a:spcAft>
            <a:buNone/>
          </a:pPr>
          <a:r>
            <a:rPr lang="en-US" sz="1600" kern="1200" dirty="0"/>
            <a:t>Neighbourhoods and greenspace – are there local gyms or parks?</a:t>
          </a:r>
        </a:p>
        <a:p>
          <a:pPr marL="0" lvl="0" indent="0" algn="l" defTabSz="711200">
            <a:lnSpc>
              <a:spcPct val="90000"/>
            </a:lnSpc>
            <a:spcBef>
              <a:spcPct val="0"/>
            </a:spcBef>
            <a:spcAft>
              <a:spcPct val="35000"/>
            </a:spcAft>
            <a:buNone/>
          </a:pPr>
          <a:r>
            <a:rPr lang="en-US" sz="1600" kern="1200" dirty="0"/>
            <a:t>Neighbourhood safety – can they exercise outside safely?</a:t>
          </a:r>
        </a:p>
        <a:p>
          <a:pPr marL="0" lvl="0" indent="0" algn="l" defTabSz="711200">
            <a:lnSpc>
              <a:spcPct val="90000"/>
            </a:lnSpc>
            <a:spcBef>
              <a:spcPct val="0"/>
            </a:spcBef>
            <a:spcAft>
              <a:spcPct val="35000"/>
            </a:spcAft>
            <a:buNone/>
          </a:pPr>
          <a:r>
            <a:rPr lang="en-US" sz="1600" kern="1200" dirty="0"/>
            <a:t>Is the climate conducive to being able to exercise outdoors?</a:t>
          </a:r>
        </a:p>
      </dsp:txBody>
      <dsp:txXfrm>
        <a:off x="725811" y="1610553"/>
        <a:ext cx="8091229" cy="1279282"/>
      </dsp:txXfrm>
    </dsp:sp>
    <dsp:sp modelId="{ED012CD5-9BE2-4C20-9640-EC91B63B2001}">
      <dsp:nvSpPr>
        <dsp:cNvPr id="0" name=""/>
        <dsp:cNvSpPr/>
      </dsp:nvSpPr>
      <dsp:spPr>
        <a:xfrm>
          <a:off x="-238433" y="3209656"/>
          <a:ext cx="8609108" cy="12405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E3544E-4D88-4BFB-9A25-AE1334E9D222}">
      <dsp:nvSpPr>
        <dsp:cNvPr id="0" name=""/>
        <dsp:cNvSpPr/>
      </dsp:nvSpPr>
      <dsp:spPr>
        <a:xfrm>
          <a:off x="13121" y="3488773"/>
          <a:ext cx="683618" cy="68228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BAD8377-BB19-47FD-BDEB-BF2B9F1C2A84}">
      <dsp:nvSpPr>
        <dsp:cNvPr id="0" name=""/>
        <dsp:cNvSpPr/>
      </dsp:nvSpPr>
      <dsp:spPr>
        <a:xfrm>
          <a:off x="719267" y="3174924"/>
          <a:ext cx="8104316" cy="12792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391" tIns="135391" rIns="135391" bIns="135391" numCol="1" spcCol="1270" anchor="ctr" anchorCtr="0">
          <a:noAutofit/>
        </a:bodyPr>
        <a:lstStyle/>
        <a:p>
          <a:pPr marL="0" lvl="0" indent="0" algn="l" defTabSz="533400">
            <a:lnSpc>
              <a:spcPct val="90000"/>
            </a:lnSpc>
            <a:spcBef>
              <a:spcPct val="0"/>
            </a:spcBef>
            <a:spcAft>
              <a:spcPct val="35000"/>
            </a:spcAft>
            <a:buNone/>
          </a:pPr>
          <a:r>
            <a:rPr lang="en-US" sz="1200" kern="1200" dirty="0"/>
            <a:t>Job type – sedentary office job vs. gym trainer vs. PE teacher</a:t>
          </a:r>
        </a:p>
        <a:p>
          <a:pPr marL="0" lvl="0" indent="0" algn="l" defTabSz="533400">
            <a:lnSpc>
              <a:spcPct val="90000"/>
            </a:lnSpc>
            <a:spcBef>
              <a:spcPct val="0"/>
            </a:spcBef>
            <a:spcAft>
              <a:spcPct val="35000"/>
            </a:spcAft>
            <a:buFont typeface="Arial" panose="020B0604020202020204" pitchFamily="34" charset="0"/>
            <a:buNone/>
          </a:pPr>
          <a:r>
            <a:rPr lang="en-US" sz="1200" kern="1200" dirty="0"/>
            <a:t>Enough income to be able to afford nutritious foods. </a:t>
          </a:r>
        </a:p>
        <a:p>
          <a:pPr marL="0" lvl="0" indent="0" algn="l" defTabSz="533400">
            <a:lnSpc>
              <a:spcPct val="90000"/>
            </a:lnSpc>
            <a:spcBef>
              <a:spcPct val="0"/>
            </a:spcBef>
            <a:spcAft>
              <a:spcPct val="35000"/>
            </a:spcAft>
            <a:buFont typeface="Arial" panose="020B0604020202020204" pitchFamily="34" charset="0"/>
            <a:buNone/>
          </a:pPr>
          <a:r>
            <a:rPr lang="en-US" sz="1200" kern="1200" dirty="0"/>
            <a:t>Enough income to be able to afford gym memberships etc. </a:t>
          </a:r>
        </a:p>
        <a:p>
          <a:pPr marL="0" lvl="0" indent="0" algn="l" defTabSz="533400">
            <a:lnSpc>
              <a:spcPct val="90000"/>
            </a:lnSpc>
            <a:spcBef>
              <a:spcPct val="0"/>
            </a:spcBef>
            <a:spcAft>
              <a:spcPct val="35000"/>
            </a:spcAft>
            <a:buFont typeface="Arial" panose="020B0604020202020204" pitchFamily="34" charset="0"/>
            <a:buNone/>
          </a:pPr>
          <a:r>
            <a:rPr lang="en-US" sz="1200" kern="1200" dirty="0"/>
            <a:t>Enough time to cook healthy meals.</a:t>
          </a:r>
        </a:p>
        <a:p>
          <a:pPr marL="0" lvl="0" indent="0" algn="l" defTabSz="533400">
            <a:lnSpc>
              <a:spcPct val="90000"/>
            </a:lnSpc>
            <a:spcBef>
              <a:spcPct val="0"/>
            </a:spcBef>
            <a:spcAft>
              <a:spcPct val="35000"/>
            </a:spcAft>
            <a:buFont typeface="Arial" panose="020B0604020202020204" pitchFamily="34" charset="0"/>
            <a:buNone/>
          </a:pPr>
          <a:r>
            <a:rPr lang="en-US" sz="1200" kern="1200" dirty="0"/>
            <a:t>Education/knowledge of how to eat healthy and exercise effectively.  </a:t>
          </a:r>
        </a:p>
      </dsp:txBody>
      <dsp:txXfrm>
        <a:off x="719267" y="3174924"/>
        <a:ext cx="8104316" cy="1279282"/>
      </dsp:txXfrm>
    </dsp:sp>
    <dsp:sp modelId="{8AF34ADA-7F73-47E4-A506-B3E0B55FE415}">
      <dsp:nvSpPr>
        <dsp:cNvPr id="0" name=""/>
        <dsp:cNvSpPr/>
      </dsp:nvSpPr>
      <dsp:spPr>
        <a:xfrm>
          <a:off x="-238433" y="4808760"/>
          <a:ext cx="8609108" cy="12405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71B88A-49FE-4298-95E0-6AF4F950AE15}">
      <dsp:nvSpPr>
        <dsp:cNvPr id="0" name=""/>
        <dsp:cNvSpPr/>
      </dsp:nvSpPr>
      <dsp:spPr>
        <a:xfrm>
          <a:off x="13121" y="5087876"/>
          <a:ext cx="683618" cy="68228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4F04666-8E0C-4FB7-97A8-DD4FB794B618}">
      <dsp:nvSpPr>
        <dsp:cNvPr id="0" name=""/>
        <dsp:cNvSpPr/>
      </dsp:nvSpPr>
      <dsp:spPr>
        <a:xfrm>
          <a:off x="704678" y="4808760"/>
          <a:ext cx="8133494" cy="12792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391" tIns="135391" rIns="135391" bIns="135391" numCol="1" spcCol="1270" anchor="ctr" anchorCtr="0">
          <a:noAutofit/>
        </a:bodyPr>
        <a:lstStyle/>
        <a:p>
          <a:pPr marL="0" lvl="0" indent="0" algn="l" defTabSz="711200">
            <a:lnSpc>
              <a:spcPct val="90000"/>
            </a:lnSpc>
            <a:spcBef>
              <a:spcPct val="0"/>
            </a:spcBef>
            <a:spcAft>
              <a:spcPct val="35000"/>
            </a:spcAft>
            <a:buNone/>
          </a:pPr>
          <a:r>
            <a:rPr lang="en-US" sz="1600" kern="1200" dirty="0"/>
            <a:t>Genetics can impact conditions like high blood pressure, cholesterol, and weight loss.</a:t>
          </a:r>
        </a:p>
      </dsp:txBody>
      <dsp:txXfrm>
        <a:off x="704678" y="4808760"/>
        <a:ext cx="8133494" cy="127928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2FF30D-79A3-9345-A5EB-55DB0956F046}">
      <dsp:nvSpPr>
        <dsp:cNvPr id="0" name=""/>
        <dsp:cNvSpPr/>
      </dsp:nvSpPr>
      <dsp:spPr>
        <a:xfrm>
          <a:off x="3770" y="1226914"/>
          <a:ext cx="1837068" cy="116653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78B456-C5EA-564B-B9EE-9ED64B6FDF33}">
      <dsp:nvSpPr>
        <dsp:cNvPr id="0" name=""/>
        <dsp:cNvSpPr/>
      </dsp:nvSpPr>
      <dsp:spPr>
        <a:xfrm>
          <a:off x="207888" y="1420827"/>
          <a:ext cx="1837068" cy="116653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Analyse 'R U OK? Day' Health </a:t>
          </a:r>
          <a:r>
            <a:rPr lang="en-GB" sz="1400" kern="1200"/>
            <a:t>Promotion Campaign.</a:t>
          </a:r>
          <a:endParaRPr lang="en-GB" sz="1400" kern="1200" dirty="0"/>
        </a:p>
      </dsp:txBody>
      <dsp:txXfrm>
        <a:off x="242055" y="1454994"/>
        <a:ext cx="1768734" cy="1098204"/>
      </dsp:txXfrm>
    </dsp:sp>
    <dsp:sp modelId="{658AE394-5255-9449-8DBE-AE862F2EBC13}">
      <dsp:nvSpPr>
        <dsp:cNvPr id="0" name=""/>
        <dsp:cNvSpPr/>
      </dsp:nvSpPr>
      <dsp:spPr>
        <a:xfrm>
          <a:off x="2249075" y="1226914"/>
          <a:ext cx="1837068" cy="116653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48A8D4-3F58-5B49-83D1-BE01906AB779}">
      <dsp:nvSpPr>
        <dsp:cNvPr id="0" name=""/>
        <dsp:cNvSpPr/>
      </dsp:nvSpPr>
      <dsp:spPr>
        <a:xfrm>
          <a:off x="2453194" y="1420827"/>
          <a:ext cx="1837068" cy="116653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Class time to complete your assignment. </a:t>
          </a:r>
          <a:endParaRPr lang="en-GB" sz="1400" kern="1200" dirty="0"/>
        </a:p>
      </dsp:txBody>
      <dsp:txXfrm>
        <a:off x="2487361" y="1454994"/>
        <a:ext cx="1768734" cy="1098204"/>
      </dsp:txXfrm>
    </dsp:sp>
    <dsp:sp modelId="{42953ADA-A6F5-6B47-A637-EF26F447FDF5}">
      <dsp:nvSpPr>
        <dsp:cNvPr id="0" name=""/>
        <dsp:cNvSpPr/>
      </dsp:nvSpPr>
      <dsp:spPr>
        <a:xfrm>
          <a:off x="4494381" y="1226914"/>
          <a:ext cx="1837068" cy="116653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EABCD8-E7E0-B14D-9A40-FA28937548F1}">
      <dsp:nvSpPr>
        <dsp:cNvPr id="0" name=""/>
        <dsp:cNvSpPr/>
      </dsp:nvSpPr>
      <dsp:spPr>
        <a:xfrm>
          <a:off x="4698500" y="1420827"/>
          <a:ext cx="1837068" cy="116653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Over the next week make sure you have chosen what campaign you will focus on for your assignment. </a:t>
          </a:r>
        </a:p>
      </dsp:txBody>
      <dsp:txXfrm>
        <a:off x="4732667" y="1454994"/>
        <a:ext cx="1768734" cy="1098204"/>
      </dsp:txXfrm>
    </dsp:sp>
    <dsp:sp modelId="{02013F00-AC13-B242-8DF2-BB561E575EA0}">
      <dsp:nvSpPr>
        <dsp:cNvPr id="0" name=""/>
        <dsp:cNvSpPr/>
      </dsp:nvSpPr>
      <dsp:spPr>
        <a:xfrm>
          <a:off x="6739687" y="1226914"/>
          <a:ext cx="1837068" cy="116653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A8606C-1B37-BB43-A9B9-B2AF2572A0DD}">
      <dsp:nvSpPr>
        <dsp:cNvPr id="0" name=""/>
        <dsp:cNvSpPr/>
      </dsp:nvSpPr>
      <dsp:spPr>
        <a:xfrm>
          <a:off x="6943805" y="1420827"/>
          <a:ext cx="1837068" cy="116653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You can begin your research this week and ask any questions next week. </a:t>
          </a:r>
        </a:p>
      </dsp:txBody>
      <dsp:txXfrm>
        <a:off x="6977972" y="1454994"/>
        <a:ext cx="1768734" cy="1098204"/>
      </dsp:txXfrm>
    </dsp:sp>
    <dsp:sp modelId="{D534C59B-F566-D145-90CA-CD0F64FBC576}">
      <dsp:nvSpPr>
        <dsp:cNvPr id="0" name=""/>
        <dsp:cNvSpPr/>
      </dsp:nvSpPr>
      <dsp:spPr>
        <a:xfrm>
          <a:off x="8984992" y="1226914"/>
          <a:ext cx="1837068" cy="116653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F69CD7-D665-3048-8B23-EDEB982285F6}">
      <dsp:nvSpPr>
        <dsp:cNvPr id="0" name=""/>
        <dsp:cNvSpPr/>
      </dsp:nvSpPr>
      <dsp:spPr>
        <a:xfrm>
          <a:off x="9189111" y="1420827"/>
          <a:ext cx="1837068" cy="116653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Due: Week 6.</a:t>
          </a:r>
        </a:p>
      </dsp:txBody>
      <dsp:txXfrm>
        <a:off x="9223278" y="1454994"/>
        <a:ext cx="1768734" cy="109820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9F506A-D6A6-EA4C-A481-C05DBCAFC8FE}" type="datetimeFigureOut">
              <a:rPr lang="en-US" smtClean="0"/>
              <a:t>4/28/24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9E8506-53A9-2D49-BA20-A8706EFBBCCA}" type="slidenum">
              <a:rPr lang="en-US" smtClean="0"/>
              <a:t>‹#›</a:t>
            </a:fld>
            <a:endParaRPr lang="en-US"/>
          </a:p>
        </p:txBody>
      </p:sp>
    </p:spTree>
    <p:extLst>
      <p:ext uri="{BB962C8B-B14F-4D97-AF65-F5344CB8AC3E}">
        <p14:creationId xmlns:p14="http://schemas.microsoft.com/office/powerpoint/2010/main" val="161913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www.unnaturalcauses.org/video_clips_detail.php?res_id=409"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www.unnaturalcauses.org/video_clips_detail.php?res_id=71"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www.unnaturalcauses.org/video_clips_detail.php?res_id=217"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Probably neither</a:t>
            </a:r>
          </a:p>
        </p:txBody>
      </p:sp>
      <p:sp>
        <p:nvSpPr>
          <p:cNvPr id="4" name="Slide Number Placeholder 3"/>
          <p:cNvSpPr>
            <a:spLocks noGrp="1"/>
          </p:cNvSpPr>
          <p:nvPr>
            <p:ph type="sldNum" sz="quarter" idx="5"/>
          </p:nvPr>
        </p:nvSpPr>
        <p:spPr/>
        <p:txBody>
          <a:bodyPr/>
          <a:lstStyle/>
          <a:p>
            <a:fld id="{609E8506-53A9-2D49-BA20-A8706EFBBCCA}" type="slidenum">
              <a:rPr lang="en-US" smtClean="0"/>
              <a:t>5</a:t>
            </a:fld>
            <a:endParaRPr lang="en-US"/>
          </a:p>
        </p:txBody>
      </p:sp>
    </p:spTree>
    <p:extLst>
      <p:ext uri="{BB962C8B-B14F-4D97-AF65-F5344CB8AC3E}">
        <p14:creationId xmlns:p14="http://schemas.microsoft.com/office/powerpoint/2010/main" val="2656929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Health is more than just a physical state. They may look the same, but there may be underlying issues that are causing different health problems or influencing their health promoting behaviours. </a:t>
            </a:r>
          </a:p>
        </p:txBody>
      </p:sp>
      <p:sp>
        <p:nvSpPr>
          <p:cNvPr id="4" name="Slide Number Placeholder 3"/>
          <p:cNvSpPr>
            <a:spLocks noGrp="1"/>
          </p:cNvSpPr>
          <p:nvPr>
            <p:ph type="sldNum" sz="quarter" idx="5"/>
          </p:nvPr>
        </p:nvSpPr>
        <p:spPr/>
        <p:txBody>
          <a:bodyPr/>
          <a:lstStyle/>
          <a:p>
            <a:fld id="{609E8506-53A9-2D49-BA20-A8706EFBBCCA}" type="slidenum">
              <a:rPr lang="en-US" smtClean="0"/>
              <a:t>6</a:t>
            </a:fld>
            <a:endParaRPr lang="en-US"/>
          </a:p>
        </p:txBody>
      </p:sp>
    </p:spTree>
    <p:extLst>
      <p:ext uri="{BB962C8B-B14F-4D97-AF65-F5344CB8AC3E}">
        <p14:creationId xmlns:p14="http://schemas.microsoft.com/office/powerpoint/2010/main" val="2735885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 scrap paper, pens</a:t>
            </a:r>
          </a:p>
          <a:p>
            <a:endParaRPr lang="en-US" dirty="0"/>
          </a:p>
          <a:p>
            <a:pPr marL="228600" indent="-228600">
              <a:buAutoNum type="arabicPeriod"/>
            </a:pPr>
            <a:r>
              <a:rPr lang="en-US" dirty="0"/>
              <a:t>Everyone gets scrap paper. </a:t>
            </a:r>
          </a:p>
          <a:p>
            <a:pPr marL="228600" indent="-228600">
              <a:buAutoNum type="arabicPeriod"/>
            </a:pPr>
            <a:r>
              <a:rPr lang="en-US" dirty="0"/>
              <a:t>Each student writes their own answer to the question on their paper. </a:t>
            </a:r>
          </a:p>
          <a:p>
            <a:pPr marL="228600" indent="-228600">
              <a:buAutoNum type="arabicPeriod"/>
            </a:pPr>
            <a:r>
              <a:rPr lang="en-US" dirty="0"/>
              <a:t>Optional to write names. </a:t>
            </a:r>
          </a:p>
          <a:p>
            <a:pPr marL="228600" indent="-228600">
              <a:buAutoNum type="arabicPeriod"/>
            </a:pPr>
            <a:r>
              <a:rPr lang="en-US" dirty="0"/>
              <a:t>They can use the extra questions on the slide to help answer the question.</a:t>
            </a:r>
          </a:p>
          <a:p>
            <a:pPr marL="228600" indent="-228600">
              <a:buAutoNum type="arabicPeriod"/>
            </a:pPr>
            <a:r>
              <a:rPr lang="en-US" dirty="0"/>
              <a:t>Allow 1 minute for students to write their answer. </a:t>
            </a:r>
          </a:p>
          <a:p>
            <a:pPr marL="228600" indent="-228600">
              <a:buAutoNum type="arabicPeriod"/>
            </a:pPr>
            <a:r>
              <a:rPr lang="en-US" dirty="0"/>
              <a:t>After that, allow students to have 10 seconds to throw their paper at each other --&gt; a snowball fight. </a:t>
            </a:r>
          </a:p>
          <a:p>
            <a:pPr marL="228600" indent="-228600">
              <a:buAutoNum type="arabicPeriod"/>
            </a:pPr>
            <a:r>
              <a:rPr lang="en-US" dirty="0"/>
              <a:t>Students keep throwing for the 10 seconds. </a:t>
            </a:r>
          </a:p>
          <a:p>
            <a:pPr marL="228600" indent="-228600">
              <a:buAutoNum type="arabicPeriod"/>
            </a:pPr>
            <a:r>
              <a:rPr lang="en-US" dirty="0"/>
              <a:t>At the end of the allocated time, students are to pick up a new piece of paper. If everyone wrote an answer, everyone should pick one up. </a:t>
            </a:r>
          </a:p>
          <a:p>
            <a:pPr marL="228600" indent="-228600">
              <a:buAutoNum type="arabicPeriod"/>
            </a:pPr>
            <a:r>
              <a:rPr lang="en-US" dirty="0"/>
              <a:t>Ask students to read theirs aloud. </a:t>
            </a:r>
          </a:p>
        </p:txBody>
      </p:sp>
      <p:sp>
        <p:nvSpPr>
          <p:cNvPr id="4" name="Slide Number Placeholder 3"/>
          <p:cNvSpPr>
            <a:spLocks noGrp="1"/>
          </p:cNvSpPr>
          <p:nvPr>
            <p:ph type="sldNum" sz="quarter" idx="5"/>
          </p:nvPr>
        </p:nvSpPr>
        <p:spPr/>
        <p:txBody>
          <a:bodyPr/>
          <a:lstStyle/>
          <a:p>
            <a:fld id="{609E8506-53A9-2D49-BA20-A8706EFBBCCA}" type="slidenum">
              <a:rPr lang="en-US" smtClean="0"/>
              <a:t>7</a:t>
            </a:fld>
            <a:endParaRPr lang="en-US"/>
          </a:p>
        </p:txBody>
      </p:sp>
    </p:spTree>
    <p:extLst>
      <p:ext uri="{BB962C8B-B14F-4D97-AF65-F5344CB8AC3E}">
        <p14:creationId xmlns:p14="http://schemas.microsoft.com/office/powerpoint/2010/main" val="3876205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ALTERNATIVE: Do the notes before the activities. </a:t>
            </a:r>
          </a:p>
          <a:p>
            <a:endParaRPr lang="en-US" b="1" dirty="0"/>
          </a:p>
          <a:p>
            <a:r>
              <a:rPr lang="en-US" b="1" dirty="0"/>
              <a:t>Play whatever activities you have time for / is appropriate for your class. (5mins max.)</a:t>
            </a:r>
          </a:p>
          <a:p>
            <a:endParaRPr lang="en-US" b="1" dirty="0"/>
          </a:p>
          <a:p>
            <a:r>
              <a:rPr lang="en-US" dirty="0"/>
              <a:t>Resources: a small ball (i.e., tennis ball, stress ball, bouncy ball)</a:t>
            </a:r>
          </a:p>
          <a:p>
            <a:r>
              <a:rPr lang="en-US" dirty="0"/>
              <a:t>Play silent ball with the class. </a:t>
            </a:r>
          </a:p>
          <a:p>
            <a:r>
              <a:rPr lang="en-US" dirty="0"/>
              <a:t>Incorporate rules such as jogging on the spot, clapping before catching etc.</a:t>
            </a:r>
          </a:p>
          <a:p>
            <a:endParaRPr lang="en-US" dirty="0"/>
          </a:p>
          <a:p>
            <a:r>
              <a:rPr lang="en-US" dirty="0"/>
              <a:t>Dimension = physical</a:t>
            </a:r>
          </a:p>
          <a:p>
            <a:r>
              <a:rPr lang="en-US" dirty="0"/>
              <a:t>Because = this activity involves physical activity. Physical activity is good for our physical health as it is a form of exercise. Physical activity also influences the mental/emotional dimension as well. </a:t>
            </a:r>
          </a:p>
        </p:txBody>
      </p:sp>
      <p:sp>
        <p:nvSpPr>
          <p:cNvPr id="4" name="Slide Number Placeholder 3"/>
          <p:cNvSpPr>
            <a:spLocks noGrp="1"/>
          </p:cNvSpPr>
          <p:nvPr>
            <p:ph type="sldNum" sz="quarter" idx="5"/>
          </p:nvPr>
        </p:nvSpPr>
        <p:spPr/>
        <p:txBody>
          <a:bodyPr/>
          <a:lstStyle/>
          <a:p>
            <a:fld id="{F2F2E70C-E418-A247-852A-0DEE6D2F688D}" type="slidenum">
              <a:rPr lang="en-US" smtClean="0"/>
              <a:t>11</a:t>
            </a:fld>
            <a:endParaRPr lang="en-US"/>
          </a:p>
        </p:txBody>
      </p:sp>
    </p:spTree>
    <p:extLst>
      <p:ext uri="{BB962C8B-B14F-4D97-AF65-F5344CB8AC3E}">
        <p14:creationId xmlns:p14="http://schemas.microsoft.com/office/powerpoint/2010/main" val="3857329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ALTERNATIVE: Do the notes before the activities.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Play whatever activities you have time for / is appropriate for your class. (5mins max.)</a:t>
            </a:r>
          </a:p>
          <a:p>
            <a:endParaRPr lang="en-US" dirty="0"/>
          </a:p>
          <a:p>
            <a:r>
              <a:rPr lang="en-US" dirty="0"/>
              <a:t>Give each student time to write down two truths and one lie about themselves.</a:t>
            </a:r>
          </a:p>
          <a:p>
            <a:r>
              <a:rPr lang="en-US" dirty="0"/>
              <a:t>Ask students to volunteer to share. The rest of the class needs to guess the truth and a lie. </a:t>
            </a:r>
          </a:p>
          <a:p>
            <a:endParaRPr lang="en-US" dirty="0"/>
          </a:p>
          <a:p>
            <a:r>
              <a:rPr lang="en-US" dirty="0"/>
              <a:t>Dimension = Social</a:t>
            </a:r>
          </a:p>
          <a:p>
            <a:r>
              <a:rPr lang="en-US" dirty="0"/>
              <a:t>Because = this activity involves sharing things about ourselves. When we share things, we get to know one another and learn something new and through that we build social connections and potentially therefore enhancing our social network/social lives/support network etc. </a:t>
            </a:r>
          </a:p>
        </p:txBody>
      </p:sp>
      <p:sp>
        <p:nvSpPr>
          <p:cNvPr id="4" name="Slide Number Placeholder 3"/>
          <p:cNvSpPr>
            <a:spLocks noGrp="1"/>
          </p:cNvSpPr>
          <p:nvPr>
            <p:ph type="sldNum" sz="quarter" idx="5"/>
          </p:nvPr>
        </p:nvSpPr>
        <p:spPr/>
        <p:txBody>
          <a:bodyPr/>
          <a:lstStyle/>
          <a:p>
            <a:fld id="{D02D65A9-64C8-AC42-858B-F1CAC2736369}" type="slidenum">
              <a:rPr lang="en-US" smtClean="0"/>
              <a:t>12</a:t>
            </a:fld>
            <a:endParaRPr lang="en-US"/>
          </a:p>
        </p:txBody>
      </p:sp>
    </p:spTree>
    <p:extLst>
      <p:ext uri="{BB962C8B-B14F-4D97-AF65-F5344CB8AC3E}">
        <p14:creationId xmlns:p14="http://schemas.microsoft.com/office/powerpoint/2010/main" val="2562899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ALTERNATIVE: Do the notes before the activities.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Play whatever activities you have time for / is appropriate for your class. (5mins max.)</a:t>
            </a:r>
          </a:p>
          <a:p>
            <a:endParaRPr lang="en-AU" dirty="0"/>
          </a:p>
          <a:p>
            <a:r>
              <a:rPr lang="en-AU" dirty="0"/>
              <a:t>Resources: emoji faces to be stuck up around the class (print your own in black and white – available on Connect/shared drive, or use the coloured set printed – available in the Health Store Room).</a:t>
            </a:r>
          </a:p>
          <a:p>
            <a:endParaRPr lang="en-AU" dirty="0"/>
          </a:p>
          <a:p>
            <a:r>
              <a:rPr lang="en-AU" dirty="0"/>
              <a:t>Community circle – ask the class a question and students answer by moving to the emoji that best suits how they feel towards to question. Ask students to think about why they feel that way and be ready to share:</a:t>
            </a:r>
          </a:p>
          <a:p>
            <a:r>
              <a:rPr lang="en-AU" dirty="0"/>
              <a:t>Q1. How are you feeling about what is coming up this weekend?</a:t>
            </a:r>
          </a:p>
          <a:p>
            <a:r>
              <a:rPr lang="en-AU" dirty="0"/>
              <a:t>Q2. How do you think you went in your schooling overall this year?</a:t>
            </a:r>
          </a:p>
          <a:p>
            <a:r>
              <a:rPr lang="en-AU" dirty="0"/>
              <a:t>Q3. How are you currently feeling about starting year  next year?</a:t>
            </a:r>
          </a:p>
          <a:p>
            <a:r>
              <a:rPr lang="en-AU" dirty="0"/>
              <a:t>Q4. How are you feeling about what is coming up this weekend?</a:t>
            </a:r>
          </a:p>
          <a:p>
            <a:r>
              <a:rPr lang="en-AU" dirty="0"/>
              <a:t>There is no right/wrong answer.</a:t>
            </a:r>
          </a:p>
          <a:p>
            <a:endParaRPr lang="en-AU" dirty="0"/>
          </a:p>
          <a:p>
            <a:r>
              <a:rPr lang="en-AU" dirty="0"/>
              <a:t>Dimension = Emotional</a:t>
            </a:r>
          </a:p>
          <a:p>
            <a:r>
              <a:rPr lang="en-AU" dirty="0"/>
              <a:t>Because = this activity asks students to identify and reflect on their own emotions about something (the question). It also allows students to hear from others what they feel and why they feel a certain way about the same thing. Helps to create emotional awareness of their own and others emotions. </a:t>
            </a:r>
          </a:p>
          <a:p>
            <a:endParaRPr lang="en-AU" dirty="0"/>
          </a:p>
        </p:txBody>
      </p:sp>
      <p:sp>
        <p:nvSpPr>
          <p:cNvPr id="4" name="Slide Number Placeholder 3"/>
          <p:cNvSpPr>
            <a:spLocks noGrp="1"/>
          </p:cNvSpPr>
          <p:nvPr>
            <p:ph type="sldNum" sz="quarter" idx="5"/>
          </p:nvPr>
        </p:nvSpPr>
        <p:spPr/>
        <p:txBody>
          <a:bodyPr/>
          <a:lstStyle/>
          <a:p>
            <a:fld id="{F2F2E70C-E418-A247-852A-0DEE6D2F688D}" type="slidenum">
              <a:rPr lang="en-US" smtClean="0"/>
              <a:t>13</a:t>
            </a:fld>
            <a:endParaRPr lang="en-US"/>
          </a:p>
        </p:txBody>
      </p:sp>
    </p:spTree>
    <p:extLst>
      <p:ext uri="{BB962C8B-B14F-4D97-AF65-F5344CB8AC3E}">
        <p14:creationId xmlns:p14="http://schemas.microsoft.com/office/powerpoint/2010/main" val="1357203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ALTERNATIVE: Do the notes before the activities.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Play whatever activities you have time for / is appropriate for your class. (10mins max.)</a:t>
            </a:r>
          </a:p>
          <a:p>
            <a:endParaRPr lang="en-US" dirty="0"/>
          </a:p>
          <a:p>
            <a:r>
              <a:rPr lang="en-US" dirty="0"/>
              <a:t>Find a bunch of mind puzzles for students to do. Some have been saved and uploaded to Connect/Shared drive. Use these or find your own. </a:t>
            </a:r>
          </a:p>
          <a:p>
            <a:r>
              <a:rPr lang="en-US" dirty="0"/>
              <a:t>Colouring in can be used for this activity, or the spiritual dimension, as it helps calm a person or allow them to practice mindfulness. </a:t>
            </a:r>
          </a:p>
          <a:p>
            <a:endParaRPr lang="en-US" dirty="0"/>
          </a:p>
          <a:p>
            <a:r>
              <a:rPr lang="en-US" dirty="0"/>
              <a:t>Dimension = mental</a:t>
            </a:r>
          </a:p>
          <a:p>
            <a:r>
              <a:rPr lang="en-US" dirty="0"/>
              <a:t>Because = this activity is making students think, and is around the processing of their mind. </a:t>
            </a:r>
          </a:p>
        </p:txBody>
      </p:sp>
      <p:sp>
        <p:nvSpPr>
          <p:cNvPr id="4" name="Slide Number Placeholder 3"/>
          <p:cNvSpPr>
            <a:spLocks noGrp="1"/>
          </p:cNvSpPr>
          <p:nvPr>
            <p:ph type="sldNum" sz="quarter" idx="5"/>
          </p:nvPr>
        </p:nvSpPr>
        <p:spPr/>
        <p:txBody>
          <a:bodyPr/>
          <a:lstStyle/>
          <a:p>
            <a:fld id="{609E8506-53A9-2D49-BA20-A8706EFBBCCA}" type="slidenum">
              <a:rPr lang="en-US" smtClean="0"/>
              <a:t>14</a:t>
            </a:fld>
            <a:endParaRPr lang="en-US"/>
          </a:p>
        </p:txBody>
      </p:sp>
    </p:spTree>
    <p:extLst>
      <p:ext uri="{BB962C8B-B14F-4D97-AF65-F5344CB8AC3E}">
        <p14:creationId xmlns:p14="http://schemas.microsoft.com/office/powerpoint/2010/main" val="4092120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ALTERNATIVE: Do the notes before the activities.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Play whatever activities you have time for / is appropriate for your class. (5mins max.)</a:t>
            </a:r>
          </a:p>
          <a:p>
            <a:endParaRPr lang="en-US" dirty="0"/>
          </a:p>
          <a:p>
            <a:r>
              <a:rPr lang="en-US" dirty="0"/>
              <a:t>Find a meditation (Smiling Minds App, YouTube). Allow students to sit or lie on the floor or with their heads down on their desk. Ask students to remain where they are for the entirety of the meditation and stay silent as to not negatively impact the experience for those who are doing it properly.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Colouring in can be used for this activity, or the mental dimension, as it helps calm a person or allow them to practice mindfulness. </a:t>
            </a:r>
          </a:p>
          <a:p>
            <a:endParaRPr lang="en-US" dirty="0"/>
          </a:p>
          <a:p>
            <a:r>
              <a:rPr lang="en-US" dirty="0"/>
              <a:t>Dimension = Spiritual.</a:t>
            </a:r>
          </a:p>
          <a:p>
            <a:r>
              <a:rPr lang="en-US" dirty="0"/>
              <a:t>Because = meditation allows a person to connect with themselves therefore enhancing or getting in touch with their spiritual self. </a:t>
            </a:r>
          </a:p>
        </p:txBody>
      </p:sp>
      <p:sp>
        <p:nvSpPr>
          <p:cNvPr id="4" name="Slide Number Placeholder 3"/>
          <p:cNvSpPr>
            <a:spLocks noGrp="1"/>
          </p:cNvSpPr>
          <p:nvPr>
            <p:ph type="sldNum" sz="quarter" idx="5"/>
          </p:nvPr>
        </p:nvSpPr>
        <p:spPr/>
        <p:txBody>
          <a:bodyPr/>
          <a:lstStyle/>
          <a:p>
            <a:fld id="{D02D65A9-64C8-AC42-858B-F1CAC2736369}" type="slidenum">
              <a:rPr lang="en-US" smtClean="0"/>
              <a:t>15</a:t>
            </a:fld>
            <a:endParaRPr lang="en-US"/>
          </a:p>
        </p:txBody>
      </p:sp>
    </p:spTree>
    <p:extLst>
      <p:ext uri="{BB962C8B-B14F-4D97-AF65-F5344CB8AC3E}">
        <p14:creationId xmlns:p14="http://schemas.microsoft.com/office/powerpoint/2010/main" val="684107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are to write these definitions in their books and include at least 3 factors of each.  </a:t>
            </a:r>
          </a:p>
          <a:p>
            <a:endParaRPr lang="en-US" dirty="0"/>
          </a:p>
          <a:p>
            <a:r>
              <a:rPr lang="en-US" b="1" dirty="0"/>
              <a:t>ALTERNATIVE: Do the notes before the activities. </a:t>
            </a:r>
          </a:p>
        </p:txBody>
      </p:sp>
      <p:sp>
        <p:nvSpPr>
          <p:cNvPr id="4" name="Slide Number Placeholder 3"/>
          <p:cNvSpPr>
            <a:spLocks noGrp="1"/>
          </p:cNvSpPr>
          <p:nvPr>
            <p:ph type="sldNum" sz="quarter" idx="5"/>
          </p:nvPr>
        </p:nvSpPr>
        <p:spPr/>
        <p:txBody>
          <a:bodyPr/>
          <a:lstStyle/>
          <a:p>
            <a:fld id="{609E8506-53A9-2D49-BA20-A8706EFBBCCA}" type="slidenum">
              <a:rPr lang="en-US" smtClean="0"/>
              <a:t>16</a:t>
            </a:fld>
            <a:endParaRPr lang="en-US"/>
          </a:p>
        </p:txBody>
      </p:sp>
    </p:spTree>
    <p:extLst>
      <p:ext uri="{BB962C8B-B14F-4D97-AF65-F5344CB8AC3E}">
        <p14:creationId xmlns:p14="http://schemas.microsoft.com/office/powerpoint/2010/main" val="2599405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Students are to write these definitions in their books and include at least 3 factors of each.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ALTERNATIVE: Do the notes before the activities. </a:t>
            </a:r>
          </a:p>
          <a:p>
            <a:endParaRPr lang="en-US" dirty="0"/>
          </a:p>
        </p:txBody>
      </p:sp>
      <p:sp>
        <p:nvSpPr>
          <p:cNvPr id="4" name="Slide Number Placeholder 3"/>
          <p:cNvSpPr>
            <a:spLocks noGrp="1"/>
          </p:cNvSpPr>
          <p:nvPr>
            <p:ph type="sldNum" sz="quarter" idx="5"/>
          </p:nvPr>
        </p:nvSpPr>
        <p:spPr/>
        <p:txBody>
          <a:bodyPr/>
          <a:lstStyle/>
          <a:p>
            <a:fld id="{609E8506-53A9-2D49-BA20-A8706EFBBCCA}" type="slidenum">
              <a:rPr lang="en-US" smtClean="0"/>
              <a:t>17</a:t>
            </a:fld>
            <a:endParaRPr lang="en-US"/>
          </a:p>
        </p:txBody>
      </p:sp>
    </p:spTree>
    <p:extLst>
      <p:ext uri="{BB962C8B-B14F-4D97-AF65-F5344CB8AC3E}">
        <p14:creationId xmlns:p14="http://schemas.microsoft.com/office/powerpoint/2010/main" val="1232671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Students are to write these definitions in their books and include at least 3 factors of each.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ALTERNATIVE: Do the notes before the activities. </a:t>
            </a:r>
          </a:p>
          <a:p>
            <a:endParaRPr lang="en-US" dirty="0"/>
          </a:p>
        </p:txBody>
      </p:sp>
      <p:sp>
        <p:nvSpPr>
          <p:cNvPr id="4" name="Slide Number Placeholder 3"/>
          <p:cNvSpPr>
            <a:spLocks noGrp="1"/>
          </p:cNvSpPr>
          <p:nvPr>
            <p:ph type="sldNum" sz="quarter" idx="5"/>
          </p:nvPr>
        </p:nvSpPr>
        <p:spPr/>
        <p:txBody>
          <a:bodyPr/>
          <a:lstStyle/>
          <a:p>
            <a:fld id="{609E8506-53A9-2D49-BA20-A8706EFBBCCA}" type="slidenum">
              <a:rPr lang="en-US" smtClean="0"/>
              <a:t>18</a:t>
            </a:fld>
            <a:endParaRPr lang="en-US"/>
          </a:p>
        </p:txBody>
      </p:sp>
    </p:spTree>
    <p:extLst>
      <p:ext uri="{BB962C8B-B14F-4D97-AF65-F5344CB8AC3E}">
        <p14:creationId xmlns:p14="http://schemas.microsoft.com/office/powerpoint/2010/main" val="3231861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Students are to write these definitions in their books and include at least 3 factors of each.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Mental Health could be considered in the emotional dimension but, often mental illnesses cause the mind to work differently, therefore can fall under this dimension.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ALTERNATIVE: Do the notes before the activities. </a:t>
            </a:r>
          </a:p>
          <a:p>
            <a:endParaRPr lang="en-US" dirty="0"/>
          </a:p>
        </p:txBody>
      </p:sp>
      <p:sp>
        <p:nvSpPr>
          <p:cNvPr id="4" name="Slide Number Placeholder 3"/>
          <p:cNvSpPr>
            <a:spLocks noGrp="1"/>
          </p:cNvSpPr>
          <p:nvPr>
            <p:ph type="sldNum" sz="quarter" idx="5"/>
          </p:nvPr>
        </p:nvSpPr>
        <p:spPr/>
        <p:txBody>
          <a:bodyPr/>
          <a:lstStyle/>
          <a:p>
            <a:fld id="{609E8506-53A9-2D49-BA20-A8706EFBBCCA}" type="slidenum">
              <a:rPr lang="en-US" smtClean="0"/>
              <a:t>19</a:t>
            </a:fld>
            <a:endParaRPr lang="en-US"/>
          </a:p>
        </p:txBody>
      </p:sp>
    </p:spTree>
    <p:extLst>
      <p:ext uri="{BB962C8B-B14F-4D97-AF65-F5344CB8AC3E}">
        <p14:creationId xmlns:p14="http://schemas.microsoft.com/office/powerpoint/2010/main" val="1129331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Students are to write these definitions in their books and include at least 3 factors of each.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ALTERNATIVE: Do the notes before the activities. </a:t>
            </a:r>
          </a:p>
          <a:p>
            <a:endParaRPr lang="en-US" dirty="0"/>
          </a:p>
        </p:txBody>
      </p:sp>
      <p:sp>
        <p:nvSpPr>
          <p:cNvPr id="4" name="Slide Number Placeholder 3"/>
          <p:cNvSpPr>
            <a:spLocks noGrp="1"/>
          </p:cNvSpPr>
          <p:nvPr>
            <p:ph type="sldNum" sz="quarter" idx="5"/>
          </p:nvPr>
        </p:nvSpPr>
        <p:spPr/>
        <p:txBody>
          <a:bodyPr/>
          <a:lstStyle/>
          <a:p>
            <a:fld id="{609E8506-53A9-2D49-BA20-A8706EFBBCCA}" type="slidenum">
              <a:rPr lang="en-US" smtClean="0"/>
              <a:t>20</a:t>
            </a:fld>
            <a:endParaRPr lang="en-US"/>
          </a:p>
        </p:txBody>
      </p:sp>
    </p:spTree>
    <p:extLst>
      <p:ext uri="{BB962C8B-B14F-4D97-AF65-F5344CB8AC3E}">
        <p14:creationId xmlns:p14="http://schemas.microsoft.com/office/powerpoint/2010/main" val="720985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9E8506-53A9-2D49-BA20-A8706EFBBCCA}" type="slidenum">
              <a:rPr lang="en-US" smtClean="0"/>
              <a:t>21</a:t>
            </a:fld>
            <a:endParaRPr lang="en-US"/>
          </a:p>
        </p:txBody>
      </p:sp>
    </p:spTree>
    <p:extLst>
      <p:ext uri="{BB962C8B-B14F-4D97-AF65-F5344CB8AC3E}">
        <p14:creationId xmlns:p14="http://schemas.microsoft.com/office/powerpoint/2010/main" val="876185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Ensure students have their books closed. </a:t>
            </a:r>
          </a:p>
          <a:p>
            <a:r>
              <a:rPr lang="en-US" dirty="0"/>
              <a:t>Ask each question separately to the class. </a:t>
            </a:r>
          </a:p>
          <a:p>
            <a:r>
              <a:rPr lang="en-US" dirty="0"/>
              <a:t>Correct answers = </a:t>
            </a:r>
            <a:r>
              <a:rPr lang="en-US" dirty="0" err="1"/>
              <a:t>lollies</a:t>
            </a:r>
            <a:endParaRPr lang="en-US" dirty="0"/>
          </a:p>
        </p:txBody>
      </p:sp>
      <p:sp>
        <p:nvSpPr>
          <p:cNvPr id="4" name="Slide Number Placeholder 3"/>
          <p:cNvSpPr>
            <a:spLocks noGrp="1"/>
          </p:cNvSpPr>
          <p:nvPr>
            <p:ph type="sldNum" sz="quarter" idx="5"/>
          </p:nvPr>
        </p:nvSpPr>
        <p:spPr/>
        <p:txBody>
          <a:bodyPr/>
          <a:lstStyle/>
          <a:p>
            <a:fld id="{D02D65A9-64C8-AC42-858B-F1CAC2736369}" type="slidenum">
              <a:rPr lang="en-US" smtClean="0"/>
              <a:t>24</a:t>
            </a:fld>
            <a:endParaRPr lang="en-US"/>
          </a:p>
        </p:txBody>
      </p:sp>
    </p:spTree>
    <p:extLst>
      <p:ext uri="{BB962C8B-B14F-4D97-AF65-F5344CB8AC3E}">
        <p14:creationId xmlns:p14="http://schemas.microsoft.com/office/powerpoint/2010/main" val="3296091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Discussion </a:t>
            </a:r>
          </a:p>
          <a:p>
            <a:endParaRPr lang="en-US" b="1" dirty="0"/>
          </a:p>
          <a:p>
            <a:r>
              <a:rPr lang="en-US" dirty="0"/>
              <a:t>https://</a:t>
            </a:r>
            <a:r>
              <a:rPr lang="en-US" dirty="0" err="1"/>
              <a:t>www.aihw.gov.au</a:t>
            </a:r>
            <a:r>
              <a:rPr lang="en-US" dirty="0"/>
              <a:t>/reports/overweight-obesity/overweight-and-obesity/contents/overweight-and-obesity</a:t>
            </a:r>
          </a:p>
          <a:p>
            <a:endParaRPr lang="en-US" dirty="0"/>
          </a:p>
          <a:p>
            <a:r>
              <a:rPr lang="en-US" dirty="0"/>
              <a:t>Data is from 2017-2018 as covid impacted recording in 2020-2021.</a:t>
            </a:r>
          </a:p>
        </p:txBody>
      </p:sp>
      <p:sp>
        <p:nvSpPr>
          <p:cNvPr id="4" name="Slide Number Placeholder 3"/>
          <p:cNvSpPr>
            <a:spLocks noGrp="1"/>
          </p:cNvSpPr>
          <p:nvPr>
            <p:ph type="sldNum" sz="quarter" idx="5"/>
          </p:nvPr>
        </p:nvSpPr>
        <p:spPr/>
        <p:txBody>
          <a:bodyPr/>
          <a:lstStyle/>
          <a:p>
            <a:fld id="{609E8506-53A9-2D49-BA20-A8706EFBBCCA}" type="slidenum">
              <a:rPr lang="en-US" smtClean="0"/>
              <a:t>25</a:t>
            </a:fld>
            <a:endParaRPr lang="en-US"/>
          </a:p>
        </p:txBody>
      </p:sp>
    </p:spTree>
    <p:extLst>
      <p:ext uri="{BB962C8B-B14F-4D97-AF65-F5344CB8AC3E}">
        <p14:creationId xmlns:p14="http://schemas.microsoft.com/office/powerpoint/2010/main" val="269305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OPTIONAL Discussion </a:t>
            </a:r>
          </a:p>
          <a:p>
            <a:endParaRPr lang="en-US" dirty="0"/>
          </a:p>
          <a:p>
            <a:r>
              <a:rPr lang="en-US" dirty="0"/>
              <a:t>https://</a:t>
            </a:r>
            <a:r>
              <a:rPr lang="en-US" dirty="0" err="1"/>
              <a:t>www.aihw.gov.au</a:t>
            </a:r>
            <a:r>
              <a:rPr lang="en-US" dirty="0"/>
              <a:t>/reports/overweight-obesity/overweight-and-obesity/contents/overweight-and-obesity</a:t>
            </a:r>
          </a:p>
          <a:p>
            <a:endParaRPr lang="en-US" dirty="0"/>
          </a:p>
          <a:p>
            <a:r>
              <a:rPr lang="en-US" dirty="0"/>
              <a:t>Data is from 2017-2018 as covid impacted recording in 2020-2021.</a:t>
            </a:r>
          </a:p>
          <a:p>
            <a:endParaRPr lang="en-US" dirty="0"/>
          </a:p>
        </p:txBody>
      </p:sp>
      <p:sp>
        <p:nvSpPr>
          <p:cNvPr id="4" name="Slide Number Placeholder 3"/>
          <p:cNvSpPr>
            <a:spLocks noGrp="1"/>
          </p:cNvSpPr>
          <p:nvPr>
            <p:ph type="sldNum" sz="quarter" idx="5"/>
          </p:nvPr>
        </p:nvSpPr>
        <p:spPr/>
        <p:txBody>
          <a:bodyPr/>
          <a:lstStyle/>
          <a:p>
            <a:fld id="{609E8506-53A9-2D49-BA20-A8706EFBBCCA}" type="slidenum">
              <a:rPr lang="en-US" smtClean="0"/>
              <a:t>26</a:t>
            </a:fld>
            <a:endParaRPr lang="en-US"/>
          </a:p>
        </p:txBody>
      </p:sp>
    </p:spTree>
    <p:extLst>
      <p:ext uri="{BB962C8B-B14F-4D97-AF65-F5344CB8AC3E}">
        <p14:creationId xmlns:p14="http://schemas.microsoft.com/office/powerpoint/2010/main" val="27485766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9E8506-53A9-2D49-BA20-A8706EFBBCCA}" type="slidenum">
              <a:rPr lang="en-US" smtClean="0"/>
              <a:t>27</a:t>
            </a:fld>
            <a:endParaRPr lang="en-US"/>
          </a:p>
        </p:txBody>
      </p:sp>
    </p:spTree>
    <p:extLst>
      <p:ext uri="{BB962C8B-B14F-4D97-AF65-F5344CB8AC3E}">
        <p14:creationId xmlns:p14="http://schemas.microsoft.com/office/powerpoint/2010/main" val="285551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 much bad/junk food</a:t>
            </a:r>
          </a:p>
          <a:p>
            <a:r>
              <a:rPr lang="en-US" dirty="0"/>
              <a:t>Excessive food/drink :intake of energy</a:t>
            </a:r>
          </a:p>
          <a:p>
            <a:r>
              <a:rPr lang="en-US" dirty="0"/>
              <a:t>Not enough exercise :output of energy</a:t>
            </a:r>
          </a:p>
          <a:p>
            <a:r>
              <a:rPr lang="en-US" dirty="0"/>
              <a:t>Too much alcohol</a:t>
            </a:r>
          </a:p>
          <a:p>
            <a:r>
              <a:rPr lang="en-US" dirty="0"/>
              <a:t>Hereditary</a:t>
            </a:r>
          </a:p>
          <a:p>
            <a:endParaRPr lang="en-US" dirty="0"/>
          </a:p>
        </p:txBody>
      </p:sp>
      <p:sp>
        <p:nvSpPr>
          <p:cNvPr id="4" name="Slide Number Placeholder 3"/>
          <p:cNvSpPr>
            <a:spLocks noGrp="1"/>
          </p:cNvSpPr>
          <p:nvPr>
            <p:ph type="sldNum" sz="quarter" idx="5"/>
          </p:nvPr>
        </p:nvSpPr>
        <p:spPr/>
        <p:txBody>
          <a:bodyPr/>
          <a:lstStyle/>
          <a:p>
            <a:fld id="{D02D65A9-64C8-AC42-858B-F1CAC2736369}" type="slidenum">
              <a:rPr lang="en-US" smtClean="0"/>
              <a:t>30</a:t>
            </a:fld>
            <a:endParaRPr lang="en-US"/>
          </a:p>
        </p:txBody>
      </p:sp>
    </p:spTree>
    <p:extLst>
      <p:ext uri="{BB962C8B-B14F-4D97-AF65-F5344CB8AC3E}">
        <p14:creationId xmlns:p14="http://schemas.microsoft.com/office/powerpoint/2010/main" val="22463254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pressure – eating junk food after school with mates</a:t>
            </a:r>
          </a:p>
          <a:p>
            <a:r>
              <a:rPr lang="en-US" dirty="0"/>
              <a:t>Family traditions/</a:t>
            </a:r>
            <a:r>
              <a:rPr lang="en-US" dirty="0" err="1"/>
              <a:t>cultues</a:t>
            </a:r>
            <a:r>
              <a:rPr lang="en-US" dirty="0"/>
              <a:t> – large meals at dinner time, overeating</a:t>
            </a:r>
          </a:p>
          <a:p>
            <a:r>
              <a:rPr lang="en-US" dirty="0"/>
              <a:t>Country norms – pies and sausage rolls, lots of alcohol</a:t>
            </a:r>
          </a:p>
          <a:p>
            <a:r>
              <a:rPr lang="en-US" dirty="0"/>
              <a:t>Low income – can’t buy healthier options</a:t>
            </a:r>
          </a:p>
          <a:p>
            <a:r>
              <a:rPr lang="en-US" dirty="0"/>
              <a:t>Low income – cant afford sport or gyms</a:t>
            </a:r>
          </a:p>
          <a:p>
            <a:r>
              <a:rPr lang="en-US" dirty="0"/>
              <a:t>Live too far away from sporting associations</a:t>
            </a:r>
          </a:p>
          <a:p>
            <a:r>
              <a:rPr lang="en-US" dirty="0"/>
              <a:t>Parent genetics</a:t>
            </a:r>
          </a:p>
          <a:p>
            <a:r>
              <a:rPr lang="en-US" dirty="0"/>
              <a:t>Stress – poor eating habits</a:t>
            </a:r>
          </a:p>
          <a:p>
            <a:r>
              <a:rPr lang="en-US" dirty="0"/>
              <a:t>Low paying jobs – poor income</a:t>
            </a:r>
          </a:p>
          <a:p>
            <a:r>
              <a:rPr lang="en-US" dirty="0"/>
              <a:t>Family beliefs/values – little emphasis put on healthy eating, eating properly, alcohol consumption</a:t>
            </a:r>
          </a:p>
          <a:p>
            <a:r>
              <a:rPr lang="en-US" dirty="0"/>
              <a:t>No access to green spaces to exercise/poor living environment</a:t>
            </a:r>
          </a:p>
          <a:p>
            <a:r>
              <a:rPr lang="en-US" dirty="0"/>
              <a:t>Close proximity to take away/junk stores</a:t>
            </a:r>
          </a:p>
          <a:p>
            <a:r>
              <a:rPr lang="en-US" dirty="0"/>
              <a:t>Little knowledge of what is healthy and unhealthy/risks of alcohol (education)</a:t>
            </a:r>
          </a:p>
        </p:txBody>
      </p:sp>
      <p:sp>
        <p:nvSpPr>
          <p:cNvPr id="4" name="Slide Number Placeholder 3"/>
          <p:cNvSpPr>
            <a:spLocks noGrp="1"/>
          </p:cNvSpPr>
          <p:nvPr>
            <p:ph type="sldNum" sz="quarter" idx="5"/>
          </p:nvPr>
        </p:nvSpPr>
        <p:spPr/>
        <p:txBody>
          <a:bodyPr/>
          <a:lstStyle/>
          <a:p>
            <a:fld id="{D02D65A9-64C8-AC42-858B-F1CAC2736369}" type="slidenum">
              <a:rPr lang="en-US" smtClean="0"/>
              <a:t>31</a:t>
            </a:fld>
            <a:endParaRPr lang="en-US"/>
          </a:p>
        </p:txBody>
      </p:sp>
    </p:spTree>
    <p:extLst>
      <p:ext uri="{BB962C8B-B14F-4D97-AF65-F5344CB8AC3E}">
        <p14:creationId xmlns:p14="http://schemas.microsoft.com/office/powerpoint/2010/main" val="13132318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OPTIONAL</a:t>
            </a:r>
          </a:p>
          <a:p>
            <a:endParaRPr lang="en-AU" b="1" dirty="0"/>
          </a:p>
          <a:p>
            <a:r>
              <a:rPr lang="en-AU" dirty="0"/>
              <a:t>Start at 1:15min </a:t>
            </a:r>
          </a:p>
          <a:p>
            <a:r>
              <a:rPr lang="en-AU" dirty="0"/>
              <a:t>https://</a:t>
            </a:r>
            <a:r>
              <a:rPr lang="en-AU" dirty="0" err="1"/>
              <a:t>www.youtube.com</a:t>
            </a:r>
            <a:r>
              <a:rPr lang="en-AU" dirty="0"/>
              <a:t>/</a:t>
            </a:r>
            <a:r>
              <a:rPr lang="en-AU" dirty="0" err="1"/>
              <a:t>watch?v</a:t>
            </a:r>
            <a:r>
              <a:rPr lang="en-AU" dirty="0"/>
              <a:t>=LP32-90UClk&amp;t=75s</a:t>
            </a:r>
          </a:p>
          <a:p>
            <a:endParaRPr lang="en-US" dirty="0"/>
          </a:p>
        </p:txBody>
      </p:sp>
      <p:sp>
        <p:nvSpPr>
          <p:cNvPr id="4" name="Slide Number Placeholder 3"/>
          <p:cNvSpPr>
            <a:spLocks noGrp="1"/>
          </p:cNvSpPr>
          <p:nvPr>
            <p:ph type="sldNum" sz="quarter" idx="5"/>
          </p:nvPr>
        </p:nvSpPr>
        <p:spPr/>
        <p:txBody>
          <a:bodyPr/>
          <a:lstStyle/>
          <a:p>
            <a:fld id="{609E8506-53A9-2D49-BA20-A8706EFBBCCA}" type="slidenum">
              <a:rPr lang="en-US" smtClean="0"/>
              <a:t>32</a:t>
            </a:fld>
            <a:endParaRPr lang="en-US"/>
          </a:p>
        </p:txBody>
      </p:sp>
    </p:spTree>
    <p:extLst>
      <p:ext uri="{BB962C8B-B14F-4D97-AF65-F5344CB8AC3E}">
        <p14:creationId xmlns:p14="http://schemas.microsoft.com/office/powerpoint/2010/main" val="229641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www.who.int</a:t>
            </a:r>
            <a:r>
              <a:rPr lang="en-US" dirty="0"/>
              <a:t>/news-room/questions-and-answers/item/determinants-of-health#:~:text=What%20are%20the%20determinants%20of,person's%20individual%20characteristics%20and%20behaviours.</a:t>
            </a:r>
          </a:p>
        </p:txBody>
      </p:sp>
      <p:sp>
        <p:nvSpPr>
          <p:cNvPr id="4" name="Slide Number Placeholder 3"/>
          <p:cNvSpPr>
            <a:spLocks noGrp="1"/>
          </p:cNvSpPr>
          <p:nvPr>
            <p:ph type="sldNum" sz="quarter" idx="5"/>
          </p:nvPr>
        </p:nvSpPr>
        <p:spPr/>
        <p:txBody>
          <a:bodyPr/>
          <a:lstStyle/>
          <a:p>
            <a:fld id="{609E8506-53A9-2D49-BA20-A8706EFBBCCA}" type="slidenum">
              <a:rPr lang="en-US" smtClean="0"/>
              <a:t>34</a:t>
            </a:fld>
            <a:endParaRPr lang="en-US"/>
          </a:p>
        </p:txBody>
      </p:sp>
    </p:spTree>
    <p:extLst>
      <p:ext uri="{BB962C8B-B14F-4D97-AF65-F5344CB8AC3E}">
        <p14:creationId xmlns:p14="http://schemas.microsoft.com/office/powerpoint/2010/main" val="23468263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t>OPTIONAL</a:t>
            </a:r>
            <a:endParaRPr lang="en-US" sz="1800" u="sng" dirty="0">
              <a:solidFill>
                <a:srgbClr val="0000FF"/>
              </a:solidFill>
              <a:effectLst/>
              <a:latin typeface="Cambria" panose="02040503050406030204" pitchFamily="18" charset="0"/>
              <a:ea typeface="MS Mincho" panose="02020609040205080304" pitchFamily="49" charset="-128"/>
              <a:cs typeface="Times New Roman" panose="02020603050405020304" pitchFamily="18" charset="0"/>
              <a:hlinkClick r:id="rId3"/>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u="sng" dirty="0">
                <a:solidFill>
                  <a:srgbClr val="0000FF"/>
                </a:solidFill>
                <a:effectLst/>
                <a:latin typeface="Cambria" panose="02040503050406030204" pitchFamily="18" charset="0"/>
                <a:ea typeface="MS Mincho" panose="02020609040205080304" pitchFamily="49" charset="-128"/>
                <a:cs typeface="Times New Roman" panose="02020603050405020304" pitchFamily="18" charset="0"/>
                <a:hlinkClick r:id="rId3"/>
              </a:rPr>
              <a:t>http://www.unnaturalcauses.org/video_clips_detail.php?res_id=409</a:t>
            </a: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p>
            <a:r>
              <a:rPr lang="en-US" dirty="0"/>
              <a:t>4:04mins</a:t>
            </a:r>
          </a:p>
        </p:txBody>
      </p:sp>
      <p:sp>
        <p:nvSpPr>
          <p:cNvPr id="4" name="Slide Number Placeholder 3"/>
          <p:cNvSpPr>
            <a:spLocks noGrp="1"/>
          </p:cNvSpPr>
          <p:nvPr>
            <p:ph type="sldNum" sz="quarter" idx="5"/>
          </p:nvPr>
        </p:nvSpPr>
        <p:spPr/>
        <p:txBody>
          <a:bodyPr/>
          <a:lstStyle/>
          <a:p>
            <a:fld id="{D02D65A9-64C8-AC42-858B-F1CAC2736369}" type="slidenum">
              <a:rPr lang="en-US" smtClean="0"/>
              <a:t>36</a:t>
            </a:fld>
            <a:endParaRPr lang="en-US"/>
          </a:p>
        </p:txBody>
      </p:sp>
    </p:spTree>
    <p:extLst>
      <p:ext uri="{BB962C8B-B14F-4D97-AF65-F5344CB8AC3E}">
        <p14:creationId xmlns:p14="http://schemas.microsoft.com/office/powerpoint/2010/main" val="5700081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t>OPTIONAL</a:t>
            </a:r>
            <a:endParaRPr lang="en-US" sz="1800" u="sng" dirty="0">
              <a:solidFill>
                <a:srgbClr val="0000FF"/>
              </a:solidFill>
              <a:effectLst/>
              <a:latin typeface="Cambria" panose="02040503050406030204" pitchFamily="18" charset="0"/>
              <a:ea typeface="MS Mincho" panose="02020609040205080304" pitchFamily="49" charset="-128"/>
              <a:cs typeface="Times New Roman" panose="02020603050405020304" pitchFamily="18" charset="0"/>
              <a:hlinkClick r:id="rId3"/>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u="sng" dirty="0">
                <a:solidFill>
                  <a:srgbClr val="0000FF"/>
                </a:solidFill>
                <a:effectLst/>
                <a:latin typeface="Cambria" panose="02040503050406030204" pitchFamily="18" charset="0"/>
                <a:ea typeface="MS Mincho" panose="02020609040205080304" pitchFamily="49" charset="-128"/>
                <a:cs typeface="Times New Roman" panose="02020603050405020304" pitchFamily="18" charset="0"/>
                <a:hlinkClick r:id="rId3"/>
              </a:rPr>
              <a:t>http://www.unnaturalcauses.org/video_clips_detail.php?res_id=71</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1:34mins</a:t>
            </a:r>
          </a:p>
        </p:txBody>
      </p:sp>
      <p:sp>
        <p:nvSpPr>
          <p:cNvPr id="4" name="Slide Number Placeholder 3"/>
          <p:cNvSpPr>
            <a:spLocks noGrp="1"/>
          </p:cNvSpPr>
          <p:nvPr>
            <p:ph type="sldNum" sz="quarter" idx="5"/>
          </p:nvPr>
        </p:nvSpPr>
        <p:spPr/>
        <p:txBody>
          <a:bodyPr/>
          <a:lstStyle/>
          <a:p>
            <a:fld id="{D02D65A9-64C8-AC42-858B-F1CAC2736369}" type="slidenum">
              <a:rPr lang="en-US" smtClean="0"/>
              <a:t>37</a:t>
            </a:fld>
            <a:endParaRPr lang="en-US"/>
          </a:p>
        </p:txBody>
      </p:sp>
    </p:spTree>
    <p:extLst>
      <p:ext uri="{BB962C8B-B14F-4D97-AF65-F5344CB8AC3E}">
        <p14:creationId xmlns:p14="http://schemas.microsoft.com/office/powerpoint/2010/main" val="27125714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t>OPTIONAL</a:t>
            </a:r>
            <a:endParaRPr lang="en-US" sz="1800" u="sng" dirty="0">
              <a:solidFill>
                <a:srgbClr val="0000FF"/>
              </a:solidFill>
              <a:effectLst/>
              <a:latin typeface="Cambria" panose="02040503050406030204" pitchFamily="18" charset="0"/>
              <a:ea typeface="MS Mincho" panose="02020609040205080304" pitchFamily="49" charset="-128"/>
              <a:cs typeface="Times New Roman" panose="02020603050405020304" pitchFamily="18" charset="0"/>
              <a:hlinkClick r:id="rId3"/>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u="sng" dirty="0">
                <a:solidFill>
                  <a:srgbClr val="0000FF"/>
                </a:solidFill>
                <a:effectLst/>
                <a:latin typeface="Cambria" panose="02040503050406030204" pitchFamily="18" charset="0"/>
                <a:ea typeface="MS Mincho" panose="02020609040205080304" pitchFamily="49" charset="-128"/>
                <a:cs typeface="Times New Roman" panose="02020603050405020304" pitchFamily="18" charset="0"/>
                <a:hlinkClick r:id="rId3"/>
              </a:rPr>
              <a:t>http://www.unnaturalcauses.org/video_clips_detail.php?res_id=217</a:t>
            </a:r>
            <a:endParaRPr lang="en-US" sz="1800" u="sng" dirty="0">
              <a:solidFill>
                <a:srgbClr val="0000FF"/>
              </a:solidFill>
              <a:effectLst/>
              <a:latin typeface="Cambria" panose="02040503050406030204" pitchFamily="18" charset="0"/>
              <a:ea typeface="MS Mincho" panose="02020609040205080304" pitchFamily="49" charset="-128"/>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u="none" dirty="0">
                <a:solidFill>
                  <a:srgbClr val="0000FF"/>
                </a:solidFill>
                <a:effectLst/>
                <a:latin typeface="Cambria" panose="02040503050406030204" pitchFamily="18" charset="0"/>
                <a:ea typeface="MS Mincho" panose="02020609040205080304" pitchFamily="49" charset="-128"/>
                <a:cs typeface="Times New Roman" panose="02020603050405020304" pitchFamily="18" charset="0"/>
              </a:rPr>
              <a:t>3:35mins</a:t>
            </a:r>
            <a:endParaRPr lang="en-US" u="none" dirty="0"/>
          </a:p>
        </p:txBody>
      </p:sp>
      <p:sp>
        <p:nvSpPr>
          <p:cNvPr id="4" name="Slide Number Placeholder 3"/>
          <p:cNvSpPr>
            <a:spLocks noGrp="1"/>
          </p:cNvSpPr>
          <p:nvPr>
            <p:ph type="sldNum" sz="quarter" idx="5"/>
          </p:nvPr>
        </p:nvSpPr>
        <p:spPr/>
        <p:txBody>
          <a:bodyPr/>
          <a:lstStyle/>
          <a:p>
            <a:fld id="{D02D65A9-64C8-AC42-858B-F1CAC2736369}" type="slidenum">
              <a:rPr lang="en-US" smtClean="0"/>
              <a:t>38</a:t>
            </a:fld>
            <a:endParaRPr lang="en-US"/>
          </a:p>
        </p:txBody>
      </p:sp>
    </p:spTree>
    <p:extLst>
      <p:ext uri="{BB962C8B-B14F-4D97-AF65-F5344CB8AC3E}">
        <p14:creationId xmlns:p14="http://schemas.microsoft.com/office/powerpoint/2010/main" val="22179997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Class discussion</a:t>
            </a:r>
          </a:p>
          <a:p>
            <a:endParaRPr lang="en-US" b="0" dirty="0"/>
          </a:p>
          <a:p>
            <a:r>
              <a:rPr lang="en-US" dirty="0"/>
              <a:t>Social:</a:t>
            </a:r>
          </a:p>
          <a:p>
            <a:pPr marL="171450" indent="-171450">
              <a:buFontTx/>
              <a:buChar char="-"/>
            </a:pPr>
            <a:r>
              <a:rPr lang="en-US" dirty="0"/>
              <a:t>May have social support as they have a family and others around them in a similar situation. </a:t>
            </a:r>
          </a:p>
          <a:p>
            <a:pPr marL="171450" indent="-171450">
              <a:buFontTx/>
              <a:buChar char="-"/>
            </a:pPr>
            <a:endParaRPr lang="en-US" dirty="0"/>
          </a:p>
          <a:p>
            <a:pPr marL="0" indent="0">
              <a:buFontTx/>
              <a:buNone/>
            </a:pPr>
            <a:r>
              <a:rPr lang="en-US" dirty="0"/>
              <a:t>Environmental:</a:t>
            </a:r>
          </a:p>
          <a:p>
            <a:pPr marL="171450" indent="-171450">
              <a:buFontTx/>
              <a:buChar char="-"/>
            </a:pPr>
            <a:r>
              <a:rPr lang="en-US" dirty="0"/>
              <a:t>Floods and natural disaster have impacted their homes and transport/roads/infrastructure. Lack of transport and roads means inability to get to or from work, or even the shops to get food and supplies.</a:t>
            </a:r>
          </a:p>
          <a:p>
            <a:pPr marL="171450" indent="-171450">
              <a:buFontTx/>
              <a:buChar char="-"/>
            </a:pPr>
            <a:r>
              <a:rPr lang="en-US" dirty="0"/>
              <a:t>Their housing might not be safe. Damp environments can encourage mould growth, can make buildings unstable etc. </a:t>
            </a:r>
          </a:p>
          <a:p>
            <a:pPr marL="171450" indent="-171450">
              <a:buFontTx/>
              <a:buChar char="-"/>
            </a:pPr>
            <a:endParaRPr lang="en-US" dirty="0"/>
          </a:p>
          <a:p>
            <a:pPr marL="0" indent="0">
              <a:buFontTx/>
              <a:buNone/>
            </a:pPr>
            <a:r>
              <a:rPr lang="en-US" dirty="0"/>
              <a:t>Socioeconomic:</a:t>
            </a:r>
          </a:p>
          <a:p>
            <a:pPr marL="171450" indent="-171450">
              <a:buFontTx/>
              <a:buChar char="-"/>
            </a:pPr>
            <a:r>
              <a:rPr lang="en-US" dirty="0"/>
              <a:t>Inability to work would impact income.</a:t>
            </a:r>
          </a:p>
          <a:p>
            <a:pPr marL="171450" indent="-171450">
              <a:buFontTx/>
              <a:buChar char="-"/>
            </a:pPr>
            <a:r>
              <a:rPr lang="en-US" dirty="0"/>
              <a:t>Impacted transport systems would impact the resources able to get to and from the town. </a:t>
            </a:r>
          </a:p>
          <a:p>
            <a:pPr marL="171450" indent="-171450">
              <a:buFontTx/>
              <a:buChar char="-"/>
            </a:pPr>
            <a:r>
              <a:rPr lang="en-US" dirty="0"/>
              <a:t>Looks like a low socioeconomic area/country which may mean less access to services as it is. </a:t>
            </a:r>
          </a:p>
        </p:txBody>
      </p:sp>
      <p:sp>
        <p:nvSpPr>
          <p:cNvPr id="4" name="Slide Number Placeholder 3"/>
          <p:cNvSpPr>
            <a:spLocks noGrp="1"/>
          </p:cNvSpPr>
          <p:nvPr>
            <p:ph type="sldNum" sz="quarter" idx="5"/>
          </p:nvPr>
        </p:nvSpPr>
        <p:spPr/>
        <p:txBody>
          <a:bodyPr/>
          <a:lstStyle/>
          <a:p>
            <a:fld id="{609E8506-53A9-2D49-BA20-A8706EFBBCCA}" type="slidenum">
              <a:rPr lang="en-US" smtClean="0"/>
              <a:t>39</a:t>
            </a:fld>
            <a:endParaRPr lang="en-US"/>
          </a:p>
        </p:txBody>
      </p:sp>
    </p:spTree>
    <p:extLst>
      <p:ext uri="{BB962C8B-B14F-4D97-AF65-F5344CB8AC3E}">
        <p14:creationId xmlns:p14="http://schemas.microsoft.com/office/powerpoint/2010/main" val="3216143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discussion </a:t>
            </a:r>
          </a:p>
          <a:p>
            <a:endParaRPr lang="en-US" dirty="0"/>
          </a:p>
          <a:p>
            <a:r>
              <a:rPr lang="en-US" dirty="0"/>
              <a:t>Social:</a:t>
            </a:r>
          </a:p>
          <a:p>
            <a:r>
              <a:rPr lang="en-US" dirty="0"/>
              <a:t>- Not a lot of social support as her family is living interstate. Being a busy person who hasn’t had time to explore could suggest that she doesn’t have a big social circle. </a:t>
            </a:r>
          </a:p>
          <a:p>
            <a:endParaRPr lang="en-US" dirty="0"/>
          </a:p>
          <a:p>
            <a:r>
              <a:rPr lang="en-US" dirty="0"/>
              <a:t>Environmental:</a:t>
            </a:r>
          </a:p>
          <a:p>
            <a:r>
              <a:rPr lang="en-US" dirty="0"/>
              <a:t>- Lives in a nice, new home in a good suburb. Cottesloe is close to the beach and is a well-developed suburb so there will be lots of services and facilities in her area.</a:t>
            </a:r>
          </a:p>
          <a:p>
            <a:endParaRPr lang="en-US" dirty="0"/>
          </a:p>
          <a:p>
            <a:r>
              <a:rPr lang="en-US" dirty="0"/>
              <a:t>Socioeconomic:</a:t>
            </a:r>
          </a:p>
          <a:p>
            <a:r>
              <a:rPr lang="en-US" dirty="0"/>
              <a:t>- Could assume being a business owner Sally has a good, stable income. This could also be assumed as she can afford to have a mortgage on her own in a good suburb.</a:t>
            </a:r>
          </a:p>
          <a:p>
            <a:r>
              <a:rPr lang="en-US" dirty="0"/>
              <a:t>- Could also assume that her mortgage is high and that she may need to budget accordingly. This could then impact her social activities and if she can afford them etc.</a:t>
            </a:r>
          </a:p>
        </p:txBody>
      </p:sp>
      <p:sp>
        <p:nvSpPr>
          <p:cNvPr id="4" name="Slide Number Placeholder 3"/>
          <p:cNvSpPr>
            <a:spLocks noGrp="1"/>
          </p:cNvSpPr>
          <p:nvPr>
            <p:ph type="sldNum" sz="quarter" idx="5"/>
          </p:nvPr>
        </p:nvSpPr>
        <p:spPr/>
        <p:txBody>
          <a:bodyPr/>
          <a:lstStyle/>
          <a:p>
            <a:fld id="{D02D65A9-64C8-AC42-858B-F1CAC2736369}" type="slidenum">
              <a:rPr lang="en-US" smtClean="0"/>
              <a:t>40</a:t>
            </a:fld>
            <a:endParaRPr lang="en-US"/>
          </a:p>
        </p:txBody>
      </p:sp>
    </p:spTree>
    <p:extLst>
      <p:ext uri="{BB962C8B-B14F-4D97-AF65-F5344CB8AC3E}">
        <p14:creationId xmlns:p14="http://schemas.microsoft.com/office/powerpoint/2010/main" val="19533043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5 mins for students to work together. </a:t>
            </a:r>
          </a:p>
        </p:txBody>
      </p:sp>
      <p:sp>
        <p:nvSpPr>
          <p:cNvPr id="4" name="Slide Number Placeholder 3"/>
          <p:cNvSpPr>
            <a:spLocks noGrp="1"/>
          </p:cNvSpPr>
          <p:nvPr>
            <p:ph type="sldNum" sz="quarter" idx="5"/>
          </p:nvPr>
        </p:nvSpPr>
        <p:spPr/>
        <p:txBody>
          <a:bodyPr/>
          <a:lstStyle/>
          <a:p>
            <a:fld id="{609E8506-53A9-2D49-BA20-A8706EFBBCCA}" type="slidenum">
              <a:rPr lang="en-US" smtClean="0"/>
              <a:t>42</a:t>
            </a:fld>
            <a:endParaRPr lang="en-US"/>
          </a:p>
        </p:txBody>
      </p:sp>
    </p:spTree>
    <p:extLst>
      <p:ext uri="{BB962C8B-B14F-4D97-AF65-F5344CB8AC3E}">
        <p14:creationId xmlns:p14="http://schemas.microsoft.com/office/powerpoint/2010/main" val="4006718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story is to show how all the different factors/behaviours/events in a persons life can impact their health. This is an example of how Jason’s life was negatively impacted. </a:t>
            </a:r>
          </a:p>
        </p:txBody>
      </p:sp>
      <p:sp>
        <p:nvSpPr>
          <p:cNvPr id="4" name="Slide Number Placeholder 3"/>
          <p:cNvSpPr>
            <a:spLocks noGrp="1"/>
          </p:cNvSpPr>
          <p:nvPr>
            <p:ph type="sldNum" sz="quarter" idx="5"/>
          </p:nvPr>
        </p:nvSpPr>
        <p:spPr/>
        <p:txBody>
          <a:bodyPr/>
          <a:lstStyle/>
          <a:p>
            <a:fld id="{609E8506-53A9-2D49-BA20-A8706EFBBCCA}" type="slidenum">
              <a:rPr lang="en-US" smtClean="0"/>
              <a:t>47</a:t>
            </a:fld>
            <a:endParaRPr lang="en-US"/>
          </a:p>
        </p:txBody>
      </p:sp>
    </p:spTree>
    <p:extLst>
      <p:ext uri="{BB962C8B-B14F-4D97-AF65-F5344CB8AC3E}">
        <p14:creationId xmlns:p14="http://schemas.microsoft.com/office/powerpoint/2010/main" val="2401312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story is to show how all the different factors/behaviours/events in a persons life can impact their health. This is an example of how Jason’s life was negatively impacted. </a:t>
            </a:r>
          </a:p>
        </p:txBody>
      </p:sp>
      <p:sp>
        <p:nvSpPr>
          <p:cNvPr id="4" name="Slide Number Placeholder 3"/>
          <p:cNvSpPr>
            <a:spLocks noGrp="1"/>
          </p:cNvSpPr>
          <p:nvPr>
            <p:ph type="sldNum" sz="quarter" idx="5"/>
          </p:nvPr>
        </p:nvSpPr>
        <p:spPr/>
        <p:txBody>
          <a:bodyPr/>
          <a:lstStyle/>
          <a:p>
            <a:fld id="{609E8506-53A9-2D49-BA20-A8706EFBBCCA}" type="slidenum">
              <a:rPr lang="en-US" smtClean="0"/>
              <a:t>48</a:t>
            </a:fld>
            <a:endParaRPr lang="en-US"/>
          </a:p>
        </p:txBody>
      </p:sp>
    </p:spTree>
    <p:extLst>
      <p:ext uri="{BB962C8B-B14F-4D97-AF65-F5344CB8AC3E}">
        <p14:creationId xmlns:p14="http://schemas.microsoft.com/office/powerpoint/2010/main" val="16244051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 minutes to list everything in their community. </a:t>
            </a:r>
          </a:p>
          <a:p>
            <a:endParaRPr lang="en-US" dirty="0"/>
          </a:p>
          <a:p>
            <a:r>
              <a:rPr lang="en-US" dirty="0"/>
              <a:t>Allow an additional 5 minutes to explain its impact. </a:t>
            </a:r>
          </a:p>
          <a:p>
            <a:endParaRPr lang="en-US" dirty="0"/>
          </a:p>
          <a:p>
            <a:r>
              <a:rPr lang="en-US" dirty="0"/>
              <a:t>Examples: </a:t>
            </a:r>
          </a:p>
          <a:p>
            <a:endParaRPr lang="en-US" dirty="0"/>
          </a:p>
          <a:p>
            <a:r>
              <a:rPr lang="en-US" dirty="0"/>
              <a:t>Fiona Stanley Hospital &amp; St. John of God Murdoch</a:t>
            </a:r>
          </a:p>
          <a:p>
            <a:r>
              <a:rPr lang="en-US" dirty="0"/>
              <a:t>Public transport – buses and trains.</a:t>
            </a:r>
          </a:p>
          <a:p>
            <a:r>
              <a:rPr lang="en-US" dirty="0"/>
              <a:t>Other medical facilities – doctor's surgeries, dentists, physio’s etc.</a:t>
            </a:r>
          </a:p>
          <a:p>
            <a:r>
              <a:rPr lang="en-US" dirty="0"/>
              <a:t>Movie cinemas</a:t>
            </a:r>
          </a:p>
          <a:p>
            <a:r>
              <a:rPr lang="en-US" dirty="0"/>
              <a:t>Shopping centers – groceries and clothes etc. </a:t>
            </a:r>
          </a:p>
          <a:p>
            <a:r>
              <a:rPr lang="en-US" dirty="0"/>
              <a:t>Parks and ovals </a:t>
            </a:r>
          </a:p>
          <a:p>
            <a:r>
              <a:rPr lang="en-US" dirty="0"/>
              <a:t>Rec centers</a:t>
            </a:r>
          </a:p>
          <a:p>
            <a:r>
              <a:rPr lang="en-US" dirty="0"/>
              <a:t>Schools </a:t>
            </a:r>
          </a:p>
          <a:p>
            <a:r>
              <a:rPr lang="en-US" dirty="0"/>
              <a:t>Fast food restaurants </a:t>
            </a:r>
          </a:p>
          <a:p>
            <a:r>
              <a:rPr lang="en-US" dirty="0"/>
              <a:t>Etc. </a:t>
            </a:r>
          </a:p>
        </p:txBody>
      </p:sp>
      <p:sp>
        <p:nvSpPr>
          <p:cNvPr id="4" name="Slide Number Placeholder 3"/>
          <p:cNvSpPr>
            <a:spLocks noGrp="1"/>
          </p:cNvSpPr>
          <p:nvPr>
            <p:ph type="sldNum" sz="quarter" idx="5"/>
          </p:nvPr>
        </p:nvSpPr>
        <p:spPr/>
        <p:txBody>
          <a:bodyPr/>
          <a:lstStyle/>
          <a:p>
            <a:fld id="{609E8506-53A9-2D49-BA20-A8706EFBBCCA}" type="slidenum">
              <a:rPr lang="en-US" smtClean="0"/>
              <a:t>50</a:t>
            </a:fld>
            <a:endParaRPr lang="en-US"/>
          </a:p>
        </p:txBody>
      </p:sp>
    </p:spTree>
    <p:extLst>
      <p:ext uri="{BB962C8B-B14F-4D97-AF65-F5344CB8AC3E}">
        <p14:creationId xmlns:p14="http://schemas.microsoft.com/office/powerpoint/2010/main" val="13219874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factors into their books. </a:t>
            </a:r>
          </a:p>
        </p:txBody>
      </p:sp>
      <p:sp>
        <p:nvSpPr>
          <p:cNvPr id="4" name="Slide Number Placeholder 3"/>
          <p:cNvSpPr>
            <a:spLocks noGrp="1"/>
          </p:cNvSpPr>
          <p:nvPr>
            <p:ph type="sldNum" sz="quarter" idx="5"/>
          </p:nvPr>
        </p:nvSpPr>
        <p:spPr/>
        <p:txBody>
          <a:bodyPr/>
          <a:lstStyle/>
          <a:p>
            <a:fld id="{609E8506-53A9-2D49-BA20-A8706EFBBCCA}" type="slidenum">
              <a:rPr lang="en-US" smtClean="0"/>
              <a:t>52</a:t>
            </a:fld>
            <a:endParaRPr lang="en-US"/>
          </a:p>
        </p:txBody>
      </p:sp>
    </p:spTree>
    <p:extLst>
      <p:ext uri="{BB962C8B-B14F-4D97-AF65-F5344CB8AC3E}">
        <p14:creationId xmlns:p14="http://schemas.microsoft.com/office/powerpoint/2010/main" val="38624191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a:t>
            </a:r>
          </a:p>
        </p:txBody>
      </p:sp>
      <p:sp>
        <p:nvSpPr>
          <p:cNvPr id="4" name="Slide Number Placeholder 3"/>
          <p:cNvSpPr>
            <a:spLocks noGrp="1"/>
          </p:cNvSpPr>
          <p:nvPr>
            <p:ph type="sldNum" sz="quarter" idx="5"/>
          </p:nvPr>
        </p:nvSpPr>
        <p:spPr/>
        <p:txBody>
          <a:bodyPr/>
          <a:lstStyle/>
          <a:p>
            <a:fld id="{609E8506-53A9-2D49-BA20-A8706EFBBCCA}" type="slidenum">
              <a:rPr lang="en-US" smtClean="0"/>
              <a:t>53</a:t>
            </a:fld>
            <a:endParaRPr lang="en-US"/>
          </a:p>
        </p:txBody>
      </p:sp>
    </p:spTree>
    <p:extLst>
      <p:ext uri="{BB962C8B-B14F-4D97-AF65-F5344CB8AC3E}">
        <p14:creationId xmlns:p14="http://schemas.microsoft.com/office/powerpoint/2010/main" val="38517028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activity.</a:t>
            </a:r>
          </a:p>
          <a:p>
            <a:endParaRPr lang="en-US" b="1" dirty="0"/>
          </a:p>
          <a:p>
            <a:r>
              <a:rPr lang="en-US" b="1" dirty="0"/>
              <a:t>1hour 20mins.</a:t>
            </a:r>
          </a:p>
          <a:p>
            <a:endParaRPr lang="en-US" b="1" dirty="0"/>
          </a:p>
          <a:p>
            <a:r>
              <a:rPr lang="en-US" b="1" dirty="0"/>
              <a:t>Good for a relief lesson.</a:t>
            </a:r>
          </a:p>
        </p:txBody>
      </p:sp>
      <p:sp>
        <p:nvSpPr>
          <p:cNvPr id="4" name="Slide Number Placeholder 3"/>
          <p:cNvSpPr>
            <a:spLocks noGrp="1"/>
          </p:cNvSpPr>
          <p:nvPr>
            <p:ph type="sldNum" sz="quarter" idx="5"/>
          </p:nvPr>
        </p:nvSpPr>
        <p:spPr/>
        <p:txBody>
          <a:bodyPr/>
          <a:lstStyle/>
          <a:p>
            <a:fld id="{609E8506-53A9-2D49-BA20-A8706EFBBCCA}" type="slidenum">
              <a:rPr lang="en-US" smtClean="0"/>
              <a:t>54</a:t>
            </a:fld>
            <a:endParaRPr lang="en-US"/>
          </a:p>
        </p:txBody>
      </p:sp>
    </p:spTree>
    <p:extLst>
      <p:ext uri="{BB962C8B-B14F-4D97-AF65-F5344CB8AC3E}">
        <p14:creationId xmlns:p14="http://schemas.microsoft.com/office/powerpoint/2010/main" val="39878516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Sticky notes</a:t>
            </a:r>
          </a:p>
        </p:txBody>
      </p:sp>
      <p:sp>
        <p:nvSpPr>
          <p:cNvPr id="4" name="Slide Number Placeholder 3"/>
          <p:cNvSpPr>
            <a:spLocks noGrp="1"/>
          </p:cNvSpPr>
          <p:nvPr>
            <p:ph type="sldNum" sz="quarter" idx="5"/>
          </p:nvPr>
        </p:nvSpPr>
        <p:spPr/>
        <p:txBody>
          <a:bodyPr/>
          <a:lstStyle/>
          <a:p>
            <a:fld id="{609E8506-53A9-2D49-BA20-A8706EFBBCCA}" type="slidenum">
              <a:rPr lang="en-US" smtClean="0"/>
              <a:t>55</a:t>
            </a:fld>
            <a:endParaRPr lang="en-US"/>
          </a:p>
        </p:txBody>
      </p:sp>
    </p:spTree>
    <p:extLst>
      <p:ext uri="{BB962C8B-B14F-4D97-AF65-F5344CB8AC3E}">
        <p14:creationId xmlns:p14="http://schemas.microsoft.com/office/powerpoint/2010/main" val="16389967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 sticky notes</a:t>
            </a:r>
          </a:p>
          <a:p>
            <a:endParaRPr lang="en-US" dirty="0"/>
          </a:p>
          <a:p>
            <a:r>
              <a:rPr lang="en-US" dirty="0"/>
              <a:t>Answers – celebrity endorsements, advertising on social media, tv ads, movie ads, products in movies, billboard advertising, radio advertising, use slogans or jingles, advertises the effects/outcomes of using a product etc. </a:t>
            </a:r>
          </a:p>
        </p:txBody>
      </p:sp>
      <p:sp>
        <p:nvSpPr>
          <p:cNvPr id="4" name="Slide Number Placeholder 3"/>
          <p:cNvSpPr>
            <a:spLocks noGrp="1"/>
          </p:cNvSpPr>
          <p:nvPr>
            <p:ph type="sldNum" sz="quarter" idx="5"/>
          </p:nvPr>
        </p:nvSpPr>
        <p:spPr/>
        <p:txBody>
          <a:bodyPr/>
          <a:lstStyle/>
          <a:p>
            <a:fld id="{609E8506-53A9-2D49-BA20-A8706EFBBCCA}" type="slidenum">
              <a:rPr lang="en-US" smtClean="0"/>
              <a:t>58</a:t>
            </a:fld>
            <a:endParaRPr lang="en-US"/>
          </a:p>
        </p:txBody>
      </p:sp>
    </p:spTree>
    <p:extLst>
      <p:ext uri="{BB962C8B-B14F-4D97-AF65-F5344CB8AC3E}">
        <p14:creationId xmlns:p14="http://schemas.microsoft.com/office/powerpoint/2010/main" val="34084713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a:t>
            </a:r>
          </a:p>
          <a:p>
            <a:r>
              <a:rPr lang="en-AU" dirty="0"/>
              <a:t>Positive – advertisement creates awareness around unhealthy behaviours (drink driving ads), advertises new health products, helps to encourage change by the promotion of the healthy behaviours, creation of apps can enhance health (i.e., fitness tracking, recipes, health monitoring etc.)</a:t>
            </a:r>
          </a:p>
          <a:p>
            <a:endParaRPr lang="en-AU" dirty="0"/>
          </a:p>
          <a:p>
            <a:r>
              <a:rPr lang="en-AU" dirty="0"/>
              <a:t>Negative – fast food advertisements make us want unhealthy food which can lead to health issues (diabetes), unrealistic expectations of products/behaviours (we see something advertised and want the same outcome but mightn’t be able to achieve it), increasing use of media (gaming, streaming etc.) and social media can lead to a more sedentary lifestyle, the impacts on mental health due to social media etc. </a:t>
            </a:r>
          </a:p>
          <a:p>
            <a:endParaRPr lang="en-US" dirty="0"/>
          </a:p>
        </p:txBody>
      </p:sp>
      <p:sp>
        <p:nvSpPr>
          <p:cNvPr id="4" name="Slide Number Placeholder 3"/>
          <p:cNvSpPr>
            <a:spLocks noGrp="1"/>
          </p:cNvSpPr>
          <p:nvPr>
            <p:ph type="sldNum" sz="quarter" idx="5"/>
          </p:nvPr>
        </p:nvSpPr>
        <p:spPr/>
        <p:txBody>
          <a:bodyPr/>
          <a:lstStyle/>
          <a:p>
            <a:fld id="{609E8506-53A9-2D49-BA20-A8706EFBBCCA}" type="slidenum">
              <a:rPr lang="en-US" smtClean="0"/>
              <a:t>59</a:t>
            </a:fld>
            <a:endParaRPr lang="en-US"/>
          </a:p>
        </p:txBody>
      </p:sp>
    </p:spTree>
    <p:extLst>
      <p:ext uri="{BB962C8B-B14F-4D97-AF65-F5344CB8AC3E}">
        <p14:creationId xmlns:p14="http://schemas.microsoft.com/office/powerpoint/2010/main" val="40011775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one together as a class. </a:t>
            </a:r>
          </a:p>
          <a:p>
            <a:endParaRPr lang="en-US" dirty="0"/>
          </a:p>
          <a:p>
            <a:r>
              <a:rPr lang="en-US" dirty="0"/>
              <a:t>There are 5 videos – optional to do all 5. Try to complete at least 2 (do what time allows for).</a:t>
            </a:r>
          </a:p>
          <a:p>
            <a:pPr marL="171450" indent="-171450">
              <a:buFontTx/>
              <a:buChar char="-"/>
            </a:pPr>
            <a:r>
              <a:rPr lang="en-US" dirty="0"/>
              <a:t>Obesity </a:t>
            </a:r>
          </a:p>
          <a:p>
            <a:pPr marL="171450" indent="-171450">
              <a:buFontTx/>
              <a:buChar char="-"/>
            </a:pPr>
            <a:r>
              <a:rPr lang="en-US" dirty="0"/>
              <a:t>Cowards Punch </a:t>
            </a:r>
          </a:p>
          <a:p>
            <a:pPr marL="171450" indent="-171450">
              <a:buFontTx/>
              <a:buChar char="-"/>
            </a:pPr>
            <a:r>
              <a:rPr lang="en-US" dirty="0"/>
              <a:t>Violence against women</a:t>
            </a:r>
          </a:p>
          <a:p>
            <a:pPr marL="171450" indent="-171450">
              <a:buFontTx/>
              <a:buChar char="-"/>
            </a:pPr>
            <a:r>
              <a:rPr lang="en-US" dirty="0"/>
              <a:t>Smoking</a:t>
            </a:r>
          </a:p>
          <a:p>
            <a:pPr marL="171450" indent="-171450">
              <a:buFontTx/>
              <a:buChar char="-"/>
            </a:pPr>
            <a:r>
              <a:rPr lang="en-US" dirty="0"/>
              <a:t>Drinking while pregnant</a:t>
            </a:r>
          </a:p>
        </p:txBody>
      </p:sp>
      <p:sp>
        <p:nvSpPr>
          <p:cNvPr id="4" name="Slide Number Placeholder 3"/>
          <p:cNvSpPr>
            <a:spLocks noGrp="1"/>
          </p:cNvSpPr>
          <p:nvPr>
            <p:ph type="sldNum" sz="quarter" idx="5"/>
          </p:nvPr>
        </p:nvSpPr>
        <p:spPr/>
        <p:txBody>
          <a:bodyPr/>
          <a:lstStyle/>
          <a:p>
            <a:fld id="{609E8506-53A9-2D49-BA20-A8706EFBBCCA}" type="slidenum">
              <a:rPr lang="en-US" smtClean="0"/>
              <a:t>63</a:t>
            </a:fld>
            <a:endParaRPr lang="en-US"/>
          </a:p>
        </p:txBody>
      </p:sp>
    </p:spTree>
    <p:extLst>
      <p:ext uri="{BB962C8B-B14F-4D97-AF65-F5344CB8AC3E}">
        <p14:creationId xmlns:p14="http://schemas.microsoft.com/office/powerpoint/2010/main" val="35746090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this one as a class</a:t>
            </a:r>
          </a:p>
          <a:p>
            <a:endParaRPr lang="en-US" dirty="0"/>
          </a:p>
          <a:p>
            <a:r>
              <a:rPr lang="en-US" dirty="0"/>
              <a:t>https://</a:t>
            </a:r>
            <a:r>
              <a:rPr lang="en-US" dirty="0" err="1"/>
              <a:t>www.youtube.com</a:t>
            </a:r>
            <a:r>
              <a:rPr lang="en-US" dirty="0"/>
              <a:t>/</a:t>
            </a:r>
            <a:r>
              <a:rPr lang="en-US" dirty="0" err="1"/>
              <a:t>watch?v</a:t>
            </a:r>
            <a:r>
              <a:rPr lang="en-US" dirty="0"/>
              <a:t>=9dL4lN6GKi4</a:t>
            </a:r>
          </a:p>
          <a:p>
            <a:endParaRPr lang="en-US" dirty="0"/>
          </a:p>
          <a:p>
            <a:r>
              <a:rPr lang="en-US" dirty="0"/>
              <a:t>1minute</a:t>
            </a:r>
          </a:p>
          <a:p>
            <a:endParaRPr lang="en-US" dirty="0"/>
          </a:p>
          <a:p>
            <a:r>
              <a:rPr lang="en-US" dirty="0"/>
              <a:t>Measure Up.</a:t>
            </a:r>
          </a:p>
          <a:p>
            <a:r>
              <a:rPr lang="en-US" dirty="0"/>
              <a:t>Adults who are overweight with young families or family members of overweight people.</a:t>
            </a:r>
          </a:p>
          <a:p>
            <a:r>
              <a:rPr lang="en-US" dirty="0"/>
              <a:t>Reduce obesity and draw attention to the potential consequences of obesity.</a:t>
            </a:r>
          </a:p>
        </p:txBody>
      </p:sp>
      <p:sp>
        <p:nvSpPr>
          <p:cNvPr id="4" name="Slide Number Placeholder 3"/>
          <p:cNvSpPr>
            <a:spLocks noGrp="1"/>
          </p:cNvSpPr>
          <p:nvPr>
            <p:ph type="sldNum" sz="quarter" idx="5"/>
          </p:nvPr>
        </p:nvSpPr>
        <p:spPr/>
        <p:txBody>
          <a:bodyPr/>
          <a:lstStyle/>
          <a:p>
            <a:fld id="{609E8506-53A9-2D49-BA20-A8706EFBBCCA}" type="slidenum">
              <a:rPr lang="en-US" smtClean="0"/>
              <a:t>64</a:t>
            </a:fld>
            <a:endParaRPr lang="en-US"/>
          </a:p>
        </p:txBody>
      </p:sp>
    </p:spTree>
    <p:extLst>
      <p:ext uri="{BB962C8B-B14F-4D97-AF65-F5344CB8AC3E}">
        <p14:creationId xmlns:p14="http://schemas.microsoft.com/office/powerpoint/2010/main" val="12983953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www.youtube.com</a:t>
            </a:r>
            <a:r>
              <a:rPr lang="en-US" dirty="0"/>
              <a:t>/</a:t>
            </a:r>
            <a:r>
              <a:rPr lang="en-US" dirty="0" err="1"/>
              <a:t>watch?v</a:t>
            </a:r>
            <a:r>
              <a:rPr lang="en-US" dirty="0"/>
              <a:t>=qCaAY4XLAFI</a:t>
            </a:r>
          </a:p>
          <a:p>
            <a:endParaRPr lang="en-US" dirty="0"/>
          </a:p>
          <a:p>
            <a:r>
              <a:rPr lang="en-US" dirty="0"/>
              <a:t>0:30seconds</a:t>
            </a:r>
          </a:p>
          <a:p>
            <a:endParaRPr lang="en-US" dirty="0"/>
          </a:p>
          <a:p>
            <a:r>
              <a:rPr lang="en-US" dirty="0"/>
              <a:t>Cowards Punch.</a:t>
            </a:r>
          </a:p>
          <a:p>
            <a:r>
              <a:rPr lang="en-US" dirty="0"/>
              <a:t>Typically, males who drink and resort to violence. </a:t>
            </a:r>
          </a:p>
          <a:p>
            <a:r>
              <a:rPr lang="en-US" dirty="0"/>
              <a:t>Walk away, don’t resort to violence and one punch can kill someone. </a:t>
            </a:r>
          </a:p>
        </p:txBody>
      </p:sp>
      <p:sp>
        <p:nvSpPr>
          <p:cNvPr id="4" name="Slide Number Placeholder 3"/>
          <p:cNvSpPr>
            <a:spLocks noGrp="1"/>
          </p:cNvSpPr>
          <p:nvPr>
            <p:ph type="sldNum" sz="quarter" idx="5"/>
          </p:nvPr>
        </p:nvSpPr>
        <p:spPr/>
        <p:txBody>
          <a:bodyPr/>
          <a:lstStyle/>
          <a:p>
            <a:fld id="{609E8506-53A9-2D49-BA20-A8706EFBBCCA}" type="slidenum">
              <a:rPr lang="en-US" smtClean="0"/>
              <a:t>65</a:t>
            </a:fld>
            <a:endParaRPr lang="en-US"/>
          </a:p>
        </p:txBody>
      </p:sp>
    </p:spTree>
    <p:extLst>
      <p:ext uri="{BB962C8B-B14F-4D97-AF65-F5344CB8AC3E}">
        <p14:creationId xmlns:p14="http://schemas.microsoft.com/office/powerpoint/2010/main" val="28919375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www.youtube.com</a:t>
            </a:r>
            <a:r>
              <a:rPr lang="en-US" dirty="0"/>
              <a:t>/</a:t>
            </a:r>
            <a:r>
              <a:rPr lang="en-US" dirty="0" err="1"/>
              <a:t>watch?v</a:t>
            </a:r>
            <a:r>
              <a:rPr lang="en-US" dirty="0"/>
              <a:t>=_</a:t>
            </a:r>
            <a:r>
              <a:rPr lang="en-US" dirty="0" err="1"/>
              <a:t>HFbOXSLFvw</a:t>
            </a:r>
            <a:endParaRPr lang="en-US" dirty="0"/>
          </a:p>
          <a:p>
            <a:endParaRPr lang="en-US" dirty="0"/>
          </a:p>
          <a:p>
            <a:r>
              <a:rPr lang="en-US" dirty="0"/>
              <a:t>0:45secs</a:t>
            </a:r>
          </a:p>
          <a:p>
            <a:endParaRPr lang="en-US" dirty="0"/>
          </a:p>
          <a:p>
            <a:r>
              <a:rPr lang="en-US" dirty="0"/>
              <a:t>Stop It At The Start</a:t>
            </a:r>
          </a:p>
          <a:p>
            <a:r>
              <a:rPr lang="en-US" dirty="0"/>
              <a:t>Young men, parents with young children.</a:t>
            </a:r>
          </a:p>
          <a:p>
            <a:r>
              <a:rPr lang="en-US" dirty="0"/>
              <a:t>Teach respect young so poor behaviours don’t continue when they get older and protect the safety and wellbeing of women. </a:t>
            </a:r>
          </a:p>
        </p:txBody>
      </p:sp>
      <p:sp>
        <p:nvSpPr>
          <p:cNvPr id="4" name="Slide Number Placeholder 3"/>
          <p:cNvSpPr>
            <a:spLocks noGrp="1"/>
          </p:cNvSpPr>
          <p:nvPr>
            <p:ph type="sldNum" sz="quarter" idx="5"/>
          </p:nvPr>
        </p:nvSpPr>
        <p:spPr/>
        <p:txBody>
          <a:bodyPr/>
          <a:lstStyle/>
          <a:p>
            <a:fld id="{609E8506-53A9-2D49-BA20-A8706EFBBCCA}" type="slidenum">
              <a:rPr lang="en-US" smtClean="0"/>
              <a:t>66</a:t>
            </a:fld>
            <a:endParaRPr lang="en-US"/>
          </a:p>
        </p:txBody>
      </p:sp>
    </p:spTree>
    <p:extLst>
      <p:ext uri="{BB962C8B-B14F-4D97-AF65-F5344CB8AC3E}">
        <p14:creationId xmlns:p14="http://schemas.microsoft.com/office/powerpoint/2010/main" val="6472317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www.youtube.com</a:t>
            </a:r>
            <a:r>
              <a:rPr lang="en-US" dirty="0"/>
              <a:t>/</a:t>
            </a:r>
            <a:r>
              <a:rPr lang="en-US" dirty="0" err="1"/>
              <a:t>watch?v</a:t>
            </a:r>
            <a:r>
              <a:rPr lang="en-US" dirty="0"/>
              <a:t>=</a:t>
            </a:r>
            <a:r>
              <a:rPr lang="en-US" dirty="0" err="1"/>
              <a:t>tIAnhDvuslk</a:t>
            </a:r>
            <a:endParaRPr lang="en-US" dirty="0"/>
          </a:p>
          <a:p>
            <a:endParaRPr lang="en-US" dirty="0"/>
          </a:p>
          <a:p>
            <a:r>
              <a:rPr lang="en-US" dirty="0"/>
              <a:t>0:30secs</a:t>
            </a:r>
          </a:p>
          <a:p>
            <a:endParaRPr lang="en-US" dirty="0"/>
          </a:p>
          <a:p>
            <a:r>
              <a:rPr lang="en-US" dirty="0"/>
              <a:t>Make Smoking History</a:t>
            </a:r>
          </a:p>
          <a:p>
            <a:r>
              <a:rPr lang="en-US" dirty="0"/>
              <a:t>Anyone who smokes, parents of young children who smoke.</a:t>
            </a:r>
          </a:p>
          <a:p>
            <a:r>
              <a:rPr lang="en-US" dirty="0"/>
              <a:t>Quit smoking, especially around young people and consider the long-term consequences. </a:t>
            </a:r>
          </a:p>
        </p:txBody>
      </p:sp>
      <p:sp>
        <p:nvSpPr>
          <p:cNvPr id="4" name="Slide Number Placeholder 3"/>
          <p:cNvSpPr>
            <a:spLocks noGrp="1"/>
          </p:cNvSpPr>
          <p:nvPr>
            <p:ph type="sldNum" sz="quarter" idx="5"/>
          </p:nvPr>
        </p:nvSpPr>
        <p:spPr/>
        <p:txBody>
          <a:bodyPr/>
          <a:lstStyle/>
          <a:p>
            <a:fld id="{609E8506-53A9-2D49-BA20-A8706EFBBCCA}" type="slidenum">
              <a:rPr lang="en-US" smtClean="0"/>
              <a:t>67</a:t>
            </a:fld>
            <a:endParaRPr lang="en-US"/>
          </a:p>
        </p:txBody>
      </p:sp>
    </p:spTree>
    <p:extLst>
      <p:ext uri="{BB962C8B-B14F-4D97-AF65-F5344CB8AC3E}">
        <p14:creationId xmlns:p14="http://schemas.microsoft.com/office/powerpoint/2010/main" val="3407356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www.youtube.com</a:t>
            </a:r>
            <a:r>
              <a:rPr lang="en-US" dirty="0"/>
              <a:t>/</a:t>
            </a:r>
            <a:r>
              <a:rPr lang="en-US" dirty="0" err="1"/>
              <a:t>watch?v</a:t>
            </a:r>
            <a:r>
              <a:rPr lang="en-US" dirty="0"/>
              <a:t>=_</a:t>
            </a:r>
            <a:r>
              <a:rPr lang="en-US" dirty="0" err="1"/>
              <a:t>nmokvjMISA</a:t>
            </a:r>
            <a:endParaRPr lang="en-US" dirty="0"/>
          </a:p>
          <a:p>
            <a:endParaRPr lang="en-US" dirty="0"/>
          </a:p>
          <a:p>
            <a:r>
              <a:rPr lang="en-US" dirty="0"/>
              <a:t>0:30secs</a:t>
            </a:r>
          </a:p>
          <a:p>
            <a:endParaRPr lang="en-US" dirty="0"/>
          </a:p>
          <a:p>
            <a:r>
              <a:rPr lang="en-US" dirty="0"/>
              <a:t>Alcohol. Think Again. </a:t>
            </a:r>
          </a:p>
          <a:p>
            <a:r>
              <a:rPr lang="en-US" dirty="0"/>
              <a:t>Pregnant women, friends/families of pregnant women.</a:t>
            </a:r>
          </a:p>
          <a:p>
            <a:r>
              <a:rPr lang="en-US" dirty="0"/>
              <a:t>Discouraging drinking alcohol while pregnant due to the effects it can have on the baby. </a:t>
            </a:r>
          </a:p>
        </p:txBody>
      </p:sp>
      <p:sp>
        <p:nvSpPr>
          <p:cNvPr id="4" name="Slide Number Placeholder 3"/>
          <p:cNvSpPr>
            <a:spLocks noGrp="1"/>
          </p:cNvSpPr>
          <p:nvPr>
            <p:ph type="sldNum" sz="quarter" idx="5"/>
          </p:nvPr>
        </p:nvSpPr>
        <p:spPr/>
        <p:txBody>
          <a:bodyPr/>
          <a:lstStyle/>
          <a:p>
            <a:fld id="{609E8506-53A9-2D49-BA20-A8706EFBBCCA}" type="slidenum">
              <a:rPr lang="en-US" smtClean="0"/>
              <a:t>68</a:t>
            </a:fld>
            <a:endParaRPr lang="en-US"/>
          </a:p>
        </p:txBody>
      </p:sp>
    </p:spTree>
    <p:extLst>
      <p:ext uri="{BB962C8B-B14F-4D97-AF65-F5344CB8AC3E}">
        <p14:creationId xmlns:p14="http://schemas.microsoft.com/office/powerpoint/2010/main" val="26975428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ALTERNATIVE </a:t>
            </a:r>
            <a:r>
              <a:rPr lang="en-US" b="0" dirty="0"/>
              <a:t>– complete the R U OK analysis in this lesson if time permits. </a:t>
            </a:r>
            <a:endParaRPr lang="en-US" b="1" dirty="0"/>
          </a:p>
        </p:txBody>
      </p:sp>
      <p:sp>
        <p:nvSpPr>
          <p:cNvPr id="4" name="Slide Number Placeholder 3"/>
          <p:cNvSpPr>
            <a:spLocks noGrp="1"/>
          </p:cNvSpPr>
          <p:nvPr>
            <p:ph type="sldNum" sz="quarter" idx="5"/>
          </p:nvPr>
        </p:nvSpPr>
        <p:spPr/>
        <p:txBody>
          <a:bodyPr/>
          <a:lstStyle/>
          <a:p>
            <a:fld id="{609E8506-53A9-2D49-BA20-A8706EFBBCCA}" type="slidenum">
              <a:rPr lang="en-US" smtClean="0"/>
              <a:t>70</a:t>
            </a:fld>
            <a:endParaRPr lang="en-US"/>
          </a:p>
        </p:txBody>
      </p:sp>
    </p:spTree>
    <p:extLst>
      <p:ext uri="{BB962C8B-B14F-4D97-AF65-F5344CB8AC3E}">
        <p14:creationId xmlns:p14="http://schemas.microsoft.com/office/powerpoint/2010/main" val="30009869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TW – Suicide references. </a:t>
            </a:r>
          </a:p>
          <a:p>
            <a:r>
              <a:rPr lang="en-US" dirty="0"/>
              <a:t>https://</a:t>
            </a:r>
            <a:r>
              <a:rPr lang="en-US" dirty="0" err="1"/>
              <a:t>www.youtube.com</a:t>
            </a:r>
            <a:r>
              <a:rPr lang="en-US" dirty="0"/>
              <a:t>/</a:t>
            </a:r>
            <a:r>
              <a:rPr lang="en-US" dirty="0" err="1"/>
              <a:t>watch?v</a:t>
            </a:r>
            <a:r>
              <a:rPr lang="en-US" dirty="0"/>
              <a:t>=gfq7SHXCvNg</a:t>
            </a:r>
          </a:p>
          <a:p>
            <a:r>
              <a:rPr lang="en-US" dirty="0"/>
              <a:t>0:15sec</a:t>
            </a:r>
          </a:p>
          <a:p>
            <a:endParaRPr lang="en-US" dirty="0"/>
          </a:p>
          <a:p>
            <a:r>
              <a:rPr lang="en-US" b="1" dirty="0"/>
              <a:t>ALTERNATIVE:</a:t>
            </a:r>
          </a:p>
          <a:p>
            <a:pPr marL="171450" indent="-171450">
              <a:buFontTx/>
              <a:buChar char="-"/>
            </a:pPr>
            <a:r>
              <a:rPr lang="en-US" b="0" dirty="0"/>
              <a:t>Introduce assignment first.</a:t>
            </a:r>
          </a:p>
          <a:p>
            <a:pPr marL="171450" indent="-171450">
              <a:buFontTx/>
              <a:buChar char="-"/>
            </a:pPr>
            <a:r>
              <a:rPr lang="en-US" b="0" dirty="0"/>
              <a:t>Instruct students to all choose a health promotion campaign (while it’s fresh in their minds). </a:t>
            </a:r>
          </a:p>
          <a:p>
            <a:pPr marL="171450" indent="-171450">
              <a:buFontTx/>
              <a:buChar char="-"/>
            </a:pPr>
            <a:r>
              <a:rPr lang="en-US" b="0" dirty="0"/>
              <a:t>Start working on assignment. Students can attempt to start their assignment before next week’s class. </a:t>
            </a:r>
          </a:p>
          <a:p>
            <a:pPr marL="171450" indent="-171450">
              <a:buFontTx/>
              <a:buChar char="-"/>
            </a:pPr>
            <a:r>
              <a:rPr lang="en-US" b="0" dirty="0"/>
              <a:t>Then next week do the R U OK analysis, followed by class time for the assignment. </a:t>
            </a:r>
          </a:p>
        </p:txBody>
      </p:sp>
      <p:sp>
        <p:nvSpPr>
          <p:cNvPr id="4" name="Slide Number Placeholder 3"/>
          <p:cNvSpPr>
            <a:spLocks noGrp="1"/>
          </p:cNvSpPr>
          <p:nvPr>
            <p:ph type="sldNum" sz="quarter" idx="5"/>
          </p:nvPr>
        </p:nvSpPr>
        <p:spPr/>
        <p:txBody>
          <a:bodyPr/>
          <a:lstStyle/>
          <a:p>
            <a:fld id="{609E8506-53A9-2D49-BA20-A8706EFBBCCA}" type="slidenum">
              <a:rPr lang="en-US" smtClean="0"/>
              <a:t>75</a:t>
            </a:fld>
            <a:endParaRPr lang="en-US"/>
          </a:p>
        </p:txBody>
      </p:sp>
    </p:spTree>
    <p:extLst>
      <p:ext uri="{BB962C8B-B14F-4D97-AF65-F5344CB8AC3E}">
        <p14:creationId xmlns:p14="http://schemas.microsoft.com/office/powerpoint/2010/main" val="19704734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TW – Suicide references.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https://</a:t>
            </a:r>
            <a:r>
              <a:rPr lang="en-US" b="0" dirty="0" err="1"/>
              <a:t>www.ruok.org.au</a:t>
            </a:r>
            <a:r>
              <a:rPr lang="en-US" b="0" dirty="0"/>
              <a:t>/our-story#:~:text=In%201995%2C%20much%2Dloved%20Barry,.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2:49mins</a:t>
            </a:r>
          </a:p>
          <a:p>
            <a:r>
              <a:rPr lang="en-US" dirty="0"/>
              <a:t>- Shorter video to provide some background information about R U OK Day and how it started. </a:t>
            </a:r>
          </a:p>
        </p:txBody>
      </p:sp>
      <p:sp>
        <p:nvSpPr>
          <p:cNvPr id="4" name="Slide Number Placeholder 3"/>
          <p:cNvSpPr>
            <a:spLocks noGrp="1"/>
          </p:cNvSpPr>
          <p:nvPr>
            <p:ph type="sldNum" sz="quarter" idx="5"/>
          </p:nvPr>
        </p:nvSpPr>
        <p:spPr/>
        <p:txBody>
          <a:bodyPr/>
          <a:lstStyle/>
          <a:p>
            <a:fld id="{609E8506-53A9-2D49-BA20-A8706EFBBCCA}" type="slidenum">
              <a:rPr lang="en-US" smtClean="0"/>
              <a:t>76</a:t>
            </a:fld>
            <a:endParaRPr lang="en-US"/>
          </a:p>
        </p:txBody>
      </p:sp>
    </p:spTree>
    <p:extLst>
      <p:ext uri="{BB962C8B-B14F-4D97-AF65-F5344CB8AC3E}">
        <p14:creationId xmlns:p14="http://schemas.microsoft.com/office/powerpoint/2010/main" val="19263686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OPTIONAL </a:t>
            </a:r>
          </a:p>
          <a:p>
            <a:r>
              <a:rPr lang="en-US" b="1" dirty="0"/>
              <a:t>TW – Suicide references. </a:t>
            </a:r>
          </a:p>
          <a:p>
            <a:endParaRPr lang="en-US" b="1" dirty="0"/>
          </a:p>
          <a:p>
            <a:r>
              <a:rPr lang="en-US" b="0" dirty="0"/>
              <a:t>https://</a:t>
            </a:r>
            <a:r>
              <a:rPr lang="en-US" b="0" dirty="0" err="1"/>
              <a:t>www.youtube.com</a:t>
            </a:r>
            <a:r>
              <a:rPr lang="en-US" b="0" dirty="0"/>
              <a:t>/</a:t>
            </a:r>
            <a:r>
              <a:rPr lang="en-US" b="0" dirty="0" err="1"/>
              <a:t>watch?v</a:t>
            </a:r>
            <a:r>
              <a:rPr lang="en-US" b="0" dirty="0"/>
              <a:t>=4GhzjNdu83w&amp;t=8s</a:t>
            </a:r>
          </a:p>
          <a:p>
            <a:r>
              <a:rPr lang="en-US" b="0" dirty="0"/>
              <a:t>8:42mins</a:t>
            </a:r>
          </a:p>
        </p:txBody>
      </p:sp>
      <p:sp>
        <p:nvSpPr>
          <p:cNvPr id="4" name="Slide Number Placeholder 3"/>
          <p:cNvSpPr>
            <a:spLocks noGrp="1"/>
          </p:cNvSpPr>
          <p:nvPr>
            <p:ph type="sldNum" sz="quarter" idx="5"/>
          </p:nvPr>
        </p:nvSpPr>
        <p:spPr/>
        <p:txBody>
          <a:bodyPr/>
          <a:lstStyle/>
          <a:p>
            <a:fld id="{609E8506-53A9-2D49-BA20-A8706EFBBCCA}" type="slidenum">
              <a:rPr lang="en-US" smtClean="0"/>
              <a:t>77</a:t>
            </a:fld>
            <a:endParaRPr lang="en-US"/>
          </a:p>
        </p:txBody>
      </p:sp>
    </p:spTree>
    <p:extLst>
      <p:ext uri="{BB962C8B-B14F-4D97-AF65-F5344CB8AC3E}">
        <p14:creationId xmlns:p14="http://schemas.microsoft.com/office/powerpoint/2010/main" val="13483844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Relevant to assignment:</a:t>
            </a:r>
            <a:r>
              <a:rPr lang="en-US" b="0" dirty="0"/>
              <a:t> Instruct students that for their assignment they will need to choose a health promotion campaign that currently exists and investigate the answers to these questions for their chosen campaign. </a:t>
            </a:r>
          </a:p>
          <a:p>
            <a:endParaRPr lang="en-US" b="0" dirty="0"/>
          </a:p>
          <a:p>
            <a:r>
              <a:rPr lang="en-US" b="1" dirty="0"/>
              <a:t>ALTERNATIVELY, </a:t>
            </a:r>
            <a:r>
              <a:rPr lang="en-US" b="0" dirty="0"/>
              <a:t>depending on time – you can do this as a class discussion where students follow along and fill in the table in their books, OR you can allow students time to research themselves using the website </a:t>
            </a:r>
            <a:r>
              <a:rPr lang="en-AU" b="0" dirty="0" err="1">
                <a:solidFill>
                  <a:srgbClr val="393939"/>
                </a:solidFill>
                <a:effectLst/>
                <a:latin typeface="Arial" panose="020B0604020202020204" pitchFamily="34" charset="0"/>
              </a:rPr>
              <a:t>www.ruok.org.au</a:t>
            </a:r>
            <a:r>
              <a:rPr lang="en-AU" b="0" dirty="0">
                <a:solidFill>
                  <a:srgbClr val="393939"/>
                </a:solidFill>
                <a:effectLst/>
                <a:latin typeface="Arial" panose="020B0604020202020204" pitchFamily="34" charset="0"/>
              </a:rPr>
              <a:t>  </a:t>
            </a:r>
          </a:p>
          <a:p>
            <a:endParaRPr lang="en-US" b="1" dirty="0"/>
          </a:p>
          <a:p>
            <a:r>
              <a:rPr lang="en-US" b="1" dirty="0"/>
              <a:t>ALTERNATIVE:</a:t>
            </a:r>
          </a:p>
          <a:p>
            <a:pPr marL="171450" indent="-171450">
              <a:buFontTx/>
              <a:buChar char="-"/>
            </a:pPr>
            <a:r>
              <a:rPr lang="en-US" b="0" dirty="0"/>
              <a:t>Introduce assignment first, before analysing the R U OK? campaign.</a:t>
            </a:r>
          </a:p>
          <a:p>
            <a:pPr marL="171450" indent="-171450">
              <a:buFontTx/>
              <a:buChar char="-"/>
            </a:pPr>
            <a:r>
              <a:rPr lang="en-US" b="0" dirty="0"/>
              <a:t>Instruct students to all choose a health promotion campaign (while it’s fresh in their minds). </a:t>
            </a:r>
          </a:p>
          <a:p>
            <a:pPr marL="171450" indent="-171450">
              <a:buFontTx/>
              <a:buChar char="-"/>
            </a:pPr>
            <a:r>
              <a:rPr lang="en-US" b="0" dirty="0"/>
              <a:t>Start working on assignment. Students can attempt to start their assignment before next week’s class (week 5). </a:t>
            </a:r>
          </a:p>
          <a:p>
            <a:pPr marL="171450" indent="-171450">
              <a:buFontTx/>
              <a:buChar char="-"/>
            </a:pPr>
            <a:r>
              <a:rPr lang="en-US" b="0" dirty="0"/>
              <a:t>Then in week 5 you can do the R U OK analysis, followed by class time for the assignment. </a:t>
            </a:r>
          </a:p>
          <a:p>
            <a:endParaRPr lang="en-US" b="0" dirty="0"/>
          </a:p>
        </p:txBody>
      </p:sp>
      <p:sp>
        <p:nvSpPr>
          <p:cNvPr id="4" name="Slide Number Placeholder 3"/>
          <p:cNvSpPr>
            <a:spLocks noGrp="1"/>
          </p:cNvSpPr>
          <p:nvPr>
            <p:ph type="sldNum" sz="quarter" idx="5"/>
          </p:nvPr>
        </p:nvSpPr>
        <p:spPr/>
        <p:txBody>
          <a:bodyPr/>
          <a:lstStyle/>
          <a:p>
            <a:fld id="{609E8506-53A9-2D49-BA20-A8706EFBBCCA}" type="slidenum">
              <a:rPr lang="en-US" smtClean="0"/>
              <a:t>78</a:t>
            </a:fld>
            <a:endParaRPr lang="en-US"/>
          </a:p>
        </p:txBody>
      </p:sp>
    </p:spTree>
    <p:extLst>
      <p:ext uri="{BB962C8B-B14F-4D97-AF65-F5344CB8AC3E}">
        <p14:creationId xmlns:p14="http://schemas.microsoft.com/office/powerpoint/2010/main" val="1789078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Relevant to assignment:</a:t>
            </a:r>
            <a:r>
              <a:rPr lang="en-US" b="0" dirty="0"/>
              <a:t> Instruct students that for their assignment they will need to choose a health promotion campaign that currently exists and investigate the answers to these questions for their chosen campaign. </a:t>
            </a:r>
          </a:p>
          <a:p>
            <a:endParaRPr lang="en-US" b="0" dirty="0"/>
          </a:p>
          <a:p>
            <a:r>
              <a:rPr lang="en-US" b="1" dirty="0"/>
              <a:t>ALTERNATIVELY, </a:t>
            </a:r>
            <a:r>
              <a:rPr lang="en-US" b="0" dirty="0"/>
              <a:t>depending on time – you can do this as a class discussion where students follow along and fill in the table in their books, OR you can allow students time to research themselves using the website </a:t>
            </a:r>
            <a:r>
              <a:rPr lang="en-AU" b="0" dirty="0" err="1">
                <a:solidFill>
                  <a:srgbClr val="393939"/>
                </a:solidFill>
                <a:effectLst/>
                <a:latin typeface="Arial" panose="020B0604020202020204" pitchFamily="34" charset="0"/>
              </a:rPr>
              <a:t>www.ruok.org.au</a:t>
            </a:r>
            <a:r>
              <a:rPr lang="en-AU" b="0" dirty="0">
                <a:solidFill>
                  <a:srgbClr val="393939"/>
                </a:solidFill>
                <a:effectLst/>
                <a:latin typeface="Arial" panose="020B0604020202020204" pitchFamily="34" charset="0"/>
              </a:rPr>
              <a:t>  </a:t>
            </a:r>
          </a:p>
          <a:p>
            <a:endParaRPr lang="en-US" b="1" dirty="0"/>
          </a:p>
          <a:p>
            <a:r>
              <a:rPr lang="en-US" b="1" dirty="0"/>
              <a:t>ALTERNATIVE:</a:t>
            </a:r>
          </a:p>
          <a:p>
            <a:pPr marL="171450" indent="-171450">
              <a:buFontTx/>
              <a:buChar char="-"/>
            </a:pPr>
            <a:r>
              <a:rPr lang="en-US" b="0" dirty="0"/>
              <a:t>Introduce assignment first, before analysing the R U OK? campaign.</a:t>
            </a:r>
          </a:p>
          <a:p>
            <a:pPr marL="171450" indent="-171450">
              <a:buFontTx/>
              <a:buChar char="-"/>
            </a:pPr>
            <a:r>
              <a:rPr lang="en-US" b="0" dirty="0"/>
              <a:t>Instruct students to all choose a health promotion campaign (while it’s fresh in their minds). </a:t>
            </a:r>
          </a:p>
          <a:p>
            <a:pPr marL="171450" indent="-171450">
              <a:buFontTx/>
              <a:buChar char="-"/>
            </a:pPr>
            <a:r>
              <a:rPr lang="en-US" b="0" dirty="0"/>
              <a:t>Start working on assignment. Students can attempt to start their assignment before next week’s class (week 5). </a:t>
            </a:r>
          </a:p>
          <a:p>
            <a:pPr marL="171450" indent="-171450">
              <a:buFontTx/>
              <a:buChar char="-"/>
            </a:pPr>
            <a:r>
              <a:rPr lang="en-US" b="0" dirty="0"/>
              <a:t>Then in week 5 you can do the R U OK analysis, followed by class time for the assignment. </a:t>
            </a:r>
          </a:p>
          <a:p>
            <a:endParaRPr lang="en-US" dirty="0"/>
          </a:p>
        </p:txBody>
      </p:sp>
      <p:sp>
        <p:nvSpPr>
          <p:cNvPr id="4" name="Slide Number Placeholder 3"/>
          <p:cNvSpPr>
            <a:spLocks noGrp="1"/>
          </p:cNvSpPr>
          <p:nvPr>
            <p:ph type="sldNum" sz="quarter" idx="5"/>
          </p:nvPr>
        </p:nvSpPr>
        <p:spPr/>
        <p:txBody>
          <a:bodyPr/>
          <a:lstStyle/>
          <a:p>
            <a:fld id="{609E8506-53A9-2D49-BA20-A8706EFBBCCA}" type="slidenum">
              <a:rPr lang="en-US" smtClean="0"/>
              <a:t>79</a:t>
            </a:fld>
            <a:endParaRPr lang="en-US"/>
          </a:p>
        </p:txBody>
      </p:sp>
    </p:spTree>
    <p:extLst>
      <p:ext uri="{BB962C8B-B14F-4D97-AF65-F5344CB8AC3E}">
        <p14:creationId xmlns:p14="http://schemas.microsoft.com/office/powerpoint/2010/main" val="40881766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Ask students to only write down 3 statistics for this activity. </a:t>
            </a:r>
          </a:p>
          <a:p>
            <a:endParaRPr lang="en-US" b="0" dirty="0"/>
          </a:p>
          <a:p>
            <a:r>
              <a:rPr lang="en-US" b="1" dirty="0"/>
              <a:t>Relevant to assignment:</a:t>
            </a:r>
            <a:r>
              <a:rPr lang="en-US" b="0" dirty="0"/>
              <a:t> Instruct students that for their assignment they will need to choose a health promotion campaign that currently exists and investigate the answers to these questions for their chosen campaign. </a:t>
            </a:r>
          </a:p>
          <a:p>
            <a:endParaRPr lang="en-US" b="0" dirty="0"/>
          </a:p>
          <a:p>
            <a:r>
              <a:rPr lang="en-US" b="1" dirty="0"/>
              <a:t>ALTERNATIVELY, </a:t>
            </a:r>
            <a:r>
              <a:rPr lang="en-US" b="0" dirty="0"/>
              <a:t>depending on time – you can do this as a class discussion where students follow along and fill in the table in their books, OR you can allow students time to research themselves using the website </a:t>
            </a:r>
            <a:r>
              <a:rPr lang="en-AU" b="0" dirty="0" err="1">
                <a:solidFill>
                  <a:srgbClr val="393939"/>
                </a:solidFill>
                <a:effectLst/>
                <a:latin typeface="Arial" panose="020B0604020202020204" pitchFamily="34" charset="0"/>
              </a:rPr>
              <a:t>www.ruok.org.au</a:t>
            </a:r>
            <a:r>
              <a:rPr lang="en-AU" b="0" dirty="0">
                <a:solidFill>
                  <a:srgbClr val="393939"/>
                </a:solidFill>
                <a:effectLst/>
                <a:latin typeface="Arial" panose="020B0604020202020204" pitchFamily="34" charset="0"/>
              </a:rPr>
              <a:t>  </a:t>
            </a:r>
          </a:p>
          <a:p>
            <a:endParaRPr lang="en-US" b="1" dirty="0"/>
          </a:p>
          <a:p>
            <a:r>
              <a:rPr lang="en-US" b="1" dirty="0"/>
              <a:t>ALTERNATIVE:</a:t>
            </a:r>
          </a:p>
          <a:p>
            <a:pPr marL="171450" indent="-171450">
              <a:buFontTx/>
              <a:buChar char="-"/>
            </a:pPr>
            <a:r>
              <a:rPr lang="en-US" b="0" dirty="0"/>
              <a:t>Introduce assignment first, before analysing the R U OK? campaign.</a:t>
            </a:r>
          </a:p>
          <a:p>
            <a:pPr marL="171450" indent="-171450">
              <a:buFontTx/>
              <a:buChar char="-"/>
            </a:pPr>
            <a:r>
              <a:rPr lang="en-US" b="0" dirty="0"/>
              <a:t>Instruct students to all choose a health promotion campaign (while it’s fresh in their minds). </a:t>
            </a:r>
          </a:p>
          <a:p>
            <a:pPr marL="171450" indent="-171450">
              <a:buFontTx/>
              <a:buChar char="-"/>
            </a:pPr>
            <a:r>
              <a:rPr lang="en-US" b="0" dirty="0"/>
              <a:t>Start working on assignment. Students can attempt to start their assignment before next week’s class (week 5). </a:t>
            </a:r>
          </a:p>
          <a:p>
            <a:pPr marL="171450" indent="-171450">
              <a:buFontTx/>
              <a:buChar char="-"/>
            </a:pPr>
            <a:r>
              <a:rPr lang="en-US" b="0" dirty="0"/>
              <a:t>Then in week 5 you can do the R U OK analysis, followed by class time for the assignment. </a:t>
            </a:r>
          </a:p>
          <a:p>
            <a:endParaRPr lang="en-US" dirty="0"/>
          </a:p>
        </p:txBody>
      </p:sp>
      <p:sp>
        <p:nvSpPr>
          <p:cNvPr id="4" name="Slide Number Placeholder 3"/>
          <p:cNvSpPr>
            <a:spLocks noGrp="1"/>
          </p:cNvSpPr>
          <p:nvPr>
            <p:ph type="sldNum" sz="quarter" idx="5"/>
          </p:nvPr>
        </p:nvSpPr>
        <p:spPr/>
        <p:txBody>
          <a:bodyPr/>
          <a:lstStyle/>
          <a:p>
            <a:fld id="{609E8506-53A9-2D49-BA20-A8706EFBBCCA}" type="slidenum">
              <a:rPr lang="en-US" smtClean="0"/>
              <a:t>80</a:t>
            </a:fld>
            <a:endParaRPr lang="en-US"/>
          </a:p>
        </p:txBody>
      </p:sp>
    </p:spTree>
    <p:extLst>
      <p:ext uri="{BB962C8B-B14F-4D97-AF65-F5344CB8AC3E}">
        <p14:creationId xmlns:p14="http://schemas.microsoft.com/office/powerpoint/2010/main" val="42175453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609E8506-53A9-2D49-BA20-A8706EFBBCCA}" type="slidenum">
              <a:rPr lang="en-US" smtClean="0"/>
              <a:t>82</a:t>
            </a:fld>
            <a:endParaRPr lang="en-US"/>
          </a:p>
        </p:txBody>
      </p:sp>
    </p:spTree>
    <p:extLst>
      <p:ext uri="{BB962C8B-B14F-4D97-AF65-F5344CB8AC3E}">
        <p14:creationId xmlns:p14="http://schemas.microsoft.com/office/powerpoint/2010/main" val="2812887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4/28/24</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70674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4/28/24</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47855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4/28/24</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93881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4/28/24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4783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4/28/24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03579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4/28/24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66073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4/28/24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58801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4/28/24</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39502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4/28/24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76739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4/28/24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7654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4/28/24</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9658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54"/>
        <p:cNvGrpSpPr/>
        <p:nvPr/>
      </p:nvGrpSpPr>
      <p:grpSpPr>
        <a:xfrm>
          <a:off x="0" y="0"/>
          <a:ext cx="0" cy="0"/>
          <a:chOff x="0" y="0"/>
          <a:chExt cx="0" cy="0"/>
        </a:xfrm>
      </p:grpSpPr>
      <p:sp>
        <p:nvSpPr>
          <p:cNvPr id="55" name="Google Shape;55;p5"/>
          <p:cNvSpPr/>
          <p:nvPr/>
        </p:nvSpPr>
        <p:spPr>
          <a:xfrm rot="-884877">
            <a:off x="10663059" y="4753112"/>
            <a:ext cx="1217088" cy="1237712"/>
          </a:xfrm>
          <a:custGeom>
            <a:avLst/>
            <a:gdLst/>
            <a:ahLst/>
            <a:cxnLst/>
            <a:rect l="l" t="t" r="r" b="b"/>
            <a:pathLst>
              <a:path w="549996" h="559316" extrusionOk="0">
                <a:moveTo>
                  <a:pt x="536665" y="198722"/>
                </a:moveTo>
                <a:cubicBezTo>
                  <a:pt x="507988" y="55467"/>
                  <a:pt x="324589" y="-49573"/>
                  <a:pt x="179295" y="24291"/>
                </a:cubicBezTo>
                <a:cubicBezTo>
                  <a:pt x="17974" y="106420"/>
                  <a:pt x="-81169" y="375917"/>
                  <a:pt x="88111" y="512244"/>
                </a:cubicBezTo>
                <a:cubicBezTo>
                  <a:pt x="141168" y="554536"/>
                  <a:pt x="210888" y="558504"/>
                  <a:pt x="276092" y="557584"/>
                </a:cubicBezTo>
                <a:cubicBezTo>
                  <a:pt x="484178" y="579947"/>
                  <a:pt x="588999" y="381814"/>
                  <a:pt x="536665" y="19872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56;p5"/>
          <p:cNvSpPr/>
          <p:nvPr/>
        </p:nvSpPr>
        <p:spPr>
          <a:xfrm>
            <a:off x="856702" y="442364"/>
            <a:ext cx="9257791" cy="1237008"/>
          </a:xfrm>
          <a:custGeom>
            <a:avLst/>
            <a:gdLst/>
            <a:ahLst/>
            <a:cxnLst/>
            <a:rect l="l" t="t" r="r" b="b"/>
            <a:pathLst>
              <a:path w="3290684" h="399035" extrusionOk="0">
                <a:moveTo>
                  <a:pt x="3288221" y="146895"/>
                </a:moveTo>
                <a:cubicBezTo>
                  <a:pt x="3288879" y="83708"/>
                  <a:pt x="3268160" y="25739"/>
                  <a:pt x="3196488" y="21201"/>
                </a:cubicBezTo>
                <a:cubicBezTo>
                  <a:pt x="2907830" y="16005"/>
                  <a:pt x="2618711" y="18197"/>
                  <a:pt x="2329921" y="14777"/>
                </a:cubicBezTo>
                <a:cubicBezTo>
                  <a:pt x="1580495" y="9866"/>
                  <a:pt x="931222" y="0"/>
                  <a:pt x="181841" y="0"/>
                </a:cubicBezTo>
                <a:cubicBezTo>
                  <a:pt x="-44245" y="0"/>
                  <a:pt x="4866" y="162044"/>
                  <a:pt x="3813" y="206244"/>
                </a:cubicBezTo>
                <a:cubicBezTo>
                  <a:pt x="-6272" y="347395"/>
                  <a:pt x="64456" y="394927"/>
                  <a:pt x="198174" y="383395"/>
                </a:cubicBezTo>
                <a:lnTo>
                  <a:pt x="1064019" y="387780"/>
                </a:lnTo>
                <a:lnTo>
                  <a:pt x="2795708" y="396549"/>
                </a:lnTo>
                <a:cubicBezTo>
                  <a:pt x="2909277" y="397119"/>
                  <a:pt x="3023284" y="400671"/>
                  <a:pt x="3136832" y="398128"/>
                </a:cubicBezTo>
                <a:cubicBezTo>
                  <a:pt x="3275790" y="400627"/>
                  <a:pt x="3299512" y="257767"/>
                  <a:pt x="3288221" y="14689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57;p5"/>
          <p:cNvSpPr/>
          <p:nvPr/>
        </p:nvSpPr>
        <p:spPr>
          <a:xfrm>
            <a:off x="490928" y="562837"/>
            <a:ext cx="11173145" cy="5736772"/>
          </a:xfrm>
          <a:custGeom>
            <a:avLst/>
            <a:gdLst/>
            <a:ahLst/>
            <a:cxnLst/>
            <a:rect l="l" t="t" r="r" b="b"/>
            <a:pathLst>
              <a:path w="3971497" h="2039137" extrusionOk="0">
                <a:moveTo>
                  <a:pt x="3947725" y="299512"/>
                </a:moveTo>
                <a:cubicBezTo>
                  <a:pt x="3924134" y="113307"/>
                  <a:pt x="3885284" y="33501"/>
                  <a:pt x="3686450" y="8902"/>
                </a:cubicBezTo>
                <a:cubicBezTo>
                  <a:pt x="3601997" y="-3398"/>
                  <a:pt x="3538196" y="330"/>
                  <a:pt x="3453085" y="1250"/>
                </a:cubicBezTo>
                <a:cubicBezTo>
                  <a:pt x="2545650" y="21443"/>
                  <a:pt x="1638390" y="51765"/>
                  <a:pt x="731371" y="878"/>
                </a:cubicBezTo>
                <a:cubicBezTo>
                  <a:pt x="642467" y="-87"/>
                  <a:pt x="553519" y="1250"/>
                  <a:pt x="464769" y="6534"/>
                </a:cubicBezTo>
                <a:cubicBezTo>
                  <a:pt x="385183" y="11292"/>
                  <a:pt x="302374" y="15304"/>
                  <a:pt x="224563" y="33743"/>
                </a:cubicBezTo>
                <a:cubicBezTo>
                  <a:pt x="159908" y="49090"/>
                  <a:pt x="106653" y="83204"/>
                  <a:pt x="86570" y="149329"/>
                </a:cubicBezTo>
                <a:cubicBezTo>
                  <a:pt x="9067" y="671747"/>
                  <a:pt x="-7925" y="1209227"/>
                  <a:pt x="2994" y="1737127"/>
                </a:cubicBezTo>
                <a:cubicBezTo>
                  <a:pt x="7729" y="2035301"/>
                  <a:pt x="225024" y="2012784"/>
                  <a:pt x="454881" y="2012828"/>
                </a:cubicBezTo>
                <a:cubicBezTo>
                  <a:pt x="1452075" y="2021379"/>
                  <a:pt x="2463170" y="2030543"/>
                  <a:pt x="3459136" y="2039138"/>
                </a:cubicBezTo>
                <a:cubicBezTo>
                  <a:pt x="3468432" y="2039138"/>
                  <a:pt x="3468235" y="2024426"/>
                  <a:pt x="3458544" y="2024339"/>
                </a:cubicBezTo>
                <a:cubicBezTo>
                  <a:pt x="2395752" y="2013552"/>
                  <a:pt x="1331030" y="2008487"/>
                  <a:pt x="268237" y="1995157"/>
                </a:cubicBezTo>
                <a:cubicBezTo>
                  <a:pt x="201871" y="1991167"/>
                  <a:pt x="129981" y="1978933"/>
                  <a:pt x="80870" y="1929997"/>
                </a:cubicBezTo>
                <a:cubicBezTo>
                  <a:pt x="27856" y="1877181"/>
                  <a:pt x="19898" y="1797332"/>
                  <a:pt x="17289" y="1726406"/>
                </a:cubicBezTo>
                <a:cubicBezTo>
                  <a:pt x="11150" y="1553355"/>
                  <a:pt x="12904" y="1379647"/>
                  <a:pt x="17289" y="1206596"/>
                </a:cubicBezTo>
                <a:cubicBezTo>
                  <a:pt x="24962" y="897125"/>
                  <a:pt x="46317" y="588368"/>
                  <a:pt x="81352" y="280328"/>
                </a:cubicBezTo>
                <a:cubicBezTo>
                  <a:pt x="89990" y="206026"/>
                  <a:pt x="89333" y="112868"/>
                  <a:pt x="163591" y="71825"/>
                </a:cubicBezTo>
                <a:cubicBezTo>
                  <a:pt x="194285" y="54286"/>
                  <a:pt x="229825" y="46349"/>
                  <a:pt x="264444" y="40978"/>
                </a:cubicBezTo>
                <a:cubicBezTo>
                  <a:pt x="347341" y="28174"/>
                  <a:pt x="431728" y="22408"/>
                  <a:pt x="515502" y="18746"/>
                </a:cubicBezTo>
                <a:cubicBezTo>
                  <a:pt x="692894" y="11029"/>
                  <a:pt x="870483" y="17869"/>
                  <a:pt x="1047743" y="26113"/>
                </a:cubicBezTo>
                <a:cubicBezTo>
                  <a:pt x="1755029" y="63845"/>
                  <a:pt x="2462863" y="37711"/>
                  <a:pt x="3170346" y="20654"/>
                </a:cubicBezTo>
                <a:cubicBezTo>
                  <a:pt x="3346028" y="20478"/>
                  <a:pt x="3500947" y="3289"/>
                  <a:pt x="3675948" y="22605"/>
                </a:cubicBezTo>
                <a:cubicBezTo>
                  <a:pt x="3819576" y="42556"/>
                  <a:pt x="3893001" y="73821"/>
                  <a:pt x="3920034" y="229880"/>
                </a:cubicBezTo>
                <a:cubicBezTo>
                  <a:pt x="4003348" y="663591"/>
                  <a:pt x="3918609" y="1093707"/>
                  <a:pt x="3926392" y="1543489"/>
                </a:cubicBezTo>
                <a:cubicBezTo>
                  <a:pt x="3926568" y="1553092"/>
                  <a:pt x="3940665" y="1547436"/>
                  <a:pt x="3940490" y="1538337"/>
                </a:cubicBezTo>
                <a:cubicBezTo>
                  <a:pt x="3933321" y="1127383"/>
                  <a:pt x="4008215" y="711694"/>
                  <a:pt x="3947725" y="2995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58;p5"/>
          <p:cNvSpPr txBox="1">
            <a:spLocks noGrp="1"/>
          </p:cNvSpPr>
          <p:nvPr>
            <p:ph type="title"/>
          </p:nvPr>
        </p:nvSpPr>
        <p:spPr>
          <a:xfrm>
            <a:off x="1177833" y="911467"/>
            <a:ext cx="8568400" cy="528400"/>
          </a:xfrm>
          <a:prstGeom prst="rect">
            <a:avLst/>
          </a:prstGeom>
        </p:spPr>
        <p:txBody>
          <a:bodyPr spcFirstLastPara="1" wrap="square" lIns="0" tIns="0" rIns="0" bIns="0" anchor="ctr"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59" name="Google Shape;59;p5"/>
          <p:cNvSpPr txBox="1">
            <a:spLocks noGrp="1"/>
          </p:cNvSpPr>
          <p:nvPr>
            <p:ph type="body" idx="1"/>
          </p:nvPr>
        </p:nvSpPr>
        <p:spPr>
          <a:xfrm>
            <a:off x="1584233" y="2008467"/>
            <a:ext cx="8568400" cy="3787200"/>
          </a:xfrm>
          <a:prstGeom prst="rect">
            <a:avLst/>
          </a:prstGeom>
        </p:spPr>
        <p:txBody>
          <a:bodyPr spcFirstLastPara="1" wrap="square" lIns="0" tIns="0" rIns="0" bIns="0" anchor="t" anchorCtr="0">
            <a:noAutofit/>
          </a:bodyPr>
          <a:lstStyle>
            <a:lvl1pPr marL="457189" lvl="0" indent="-368291" rtl="0">
              <a:spcBef>
                <a:spcPts val="0"/>
              </a:spcBef>
              <a:spcAft>
                <a:spcPts val="0"/>
              </a:spcAft>
              <a:buSzPts val="2200"/>
              <a:buChar char="✗"/>
              <a:defRPr/>
            </a:lvl1pPr>
            <a:lvl2pPr marL="914378" lvl="1" indent="-368291" rtl="0">
              <a:spcBef>
                <a:spcPts val="1000"/>
              </a:spcBef>
              <a:spcAft>
                <a:spcPts val="0"/>
              </a:spcAft>
              <a:buSzPts val="2200"/>
              <a:buChar char="✗"/>
              <a:defRPr/>
            </a:lvl2pPr>
            <a:lvl3pPr marL="1371566" lvl="2" indent="-368291" rtl="0">
              <a:spcBef>
                <a:spcPts val="1000"/>
              </a:spcBef>
              <a:spcAft>
                <a:spcPts val="0"/>
              </a:spcAft>
              <a:buSzPts val="2200"/>
              <a:buChar char="■"/>
              <a:defRPr/>
            </a:lvl3pPr>
            <a:lvl4pPr marL="1828754" lvl="3" indent="-368291" rtl="0">
              <a:spcBef>
                <a:spcPts val="1000"/>
              </a:spcBef>
              <a:spcAft>
                <a:spcPts val="0"/>
              </a:spcAft>
              <a:buSzPts val="2200"/>
              <a:buChar char="●"/>
              <a:defRPr/>
            </a:lvl4pPr>
            <a:lvl5pPr marL="2285943" lvl="4" indent="-368291" rtl="0">
              <a:spcBef>
                <a:spcPts val="1000"/>
              </a:spcBef>
              <a:spcAft>
                <a:spcPts val="0"/>
              </a:spcAft>
              <a:buSzPts val="2200"/>
              <a:buChar char="○"/>
              <a:defRPr/>
            </a:lvl5pPr>
            <a:lvl6pPr marL="2743132" lvl="5" indent="-368291" rtl="0">
              <a:spcBef>
                <a:spcPts val="1000"/>
              </a:spcBef>
              <a:spcAft>
                <a:spcPts val="0"/>
              </a:spcAft>
              <a:buSzPts val="2200"/>
              <a:buChar char="■"/>
              <a:defRPr/>
            </a:lvl6pPr>
            <a:lvl7pPr marL="3200320" lvl="6" indent="-368291" rtl="0">
              <a:spcBef>
                <a:spcPts val="1000"/>
              </a:spcBef>
              <a:spcAft>
                <a:spcPts val="0"/>
              </a:spcAft>
              <a:buSzPts val="2200"/>
              <a:buChar char="●"/>
              <a:defRPr/>
            </a:lvl7pPr>
            <a:lvl8pPr marL="3657509" lvl="7" indent="-368291" rtl="0">
              <a:spcBef>
                <a:spcPts val="1000"/>
              </a:spcBef>
              <a:spcAft>
                <a:spcPts val="0"/>
              </a:spcAft>
              <a:buSzPts val="2200"/>
              <a:buChar char="○"/>
              <a:defRPr/>
            </a:lvl8pPr>
            <a:lvl9pPr marL="4114697" lvl="8" indent="-368291" rtl="0">
              <a:spcBef>
                <a:spcPts val="1000"/>
              </a:spcBef>
              <a:spcAft>
                <a:spcPts val="1000"/>
              </a:spcAft>
              <a:buSzPts val="2200"/>
              <a:buChar char="■"/>
              <a:defRPr/>
            </a:lvl9pPr>
          </a:lstStyle>
          <a:p>
            <a:endParaRPr/>
          </a:p>
        </p:txBody>
      </p:sp>
      <p:sp>
        <p:nvSpPr>
          <p:cNvPr id="60" name="Google Shape;60;p5"/>
          <p:cNvSpPr txBox="1">
            <a:spLocks noGrp="1"/>
          </p:cNvSpPr>
          <p:nvPr>
            <p:ph type="sldNum" idx="12"/>
          </p:nvPr>
        </p:nvSpPr>
        <p:spPr>
          <a:xfrm>
            <a:off x="11205833" y="6257835"/>
            <a:ext cx="731600" cy="4004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61" name="Google Shape;61;p5"/>
          <p:cNvSpPr/>
          <p:nvPr/>
        </p:nvSpPr>
        <p:spPr>
          <a:xfrm>
            <a:off x="4287150" y="494925"/>
            <a:ext cx="1836055" cy="89211"/>
          </a:xfrm>
          <a:custGeom>
            <a:avLst/>
            <a:gdLst/>
            <a:ahLst/>
            <a:cxnLst/>
            <a:rect l="l" t="t" r="r" b="b"/>
            <a:pathLst>
              <a:path w="652626" h="31710" extrusionOk="0">
                <a:moveTo>
                  <a:pt x="645179" y="13550"/>
                </a:moveTo>
                <a:cubicBezTo>
                  <a:pt x="432971" y="20774"/>
                  <a:pt x="220527" y="16258"/>
                  <a:pt x="8819" y="23"/>
                </a:cubicBezTo>
                <a:cubicBezTo>
                  <a:pt x="-280" y="-657"/>
                  <a:pt x="-3941" y="13989"/>
                  <a:pt x="5662" y="14712"/>
                </a:cubicBezTo>
                <a:cubicBezTo>
                  <a:pt x="218646" y="31045"/>
                  <a:pt x="432371" y="35612"/>
                  <a:pt x="645859" y="28393"/>
                </a:cubicBezTo>
                <a:cubicBezTo>
                  <a:pt x="655067" y="28043"/>
                  <a:pt x="654914" y="13178"/>
                  <a:pt x="645179" y="1355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62;p5"/>
          <p:cNvSpPr/>
          <p:nvPr/>
        </p:nvSpPr>
        <p:spPr>
          <a:xfrm>
            <a:off x="6260341" y="539414"/>
            <a:ext cx="351945" cy="41635"/>
          </a:xfrm>
          <a:custGeom>
            <a:avLst/>
            <a:gdLst/>
            <a:ahLst/>
            <a:cxnLst/>
            <a:rect l="l" t="t" r="r" b="b"/>
            <a:pathLst>
              <a:path w="125099" h="14799" extrusionOk="0">
                <a:moveTo>
                  <a:pt x="117661" y="0"/>
                </a:moveTo>
                <a:lnTo>
                  <a:pt x="6833" y="0"/>
                </a:lnTo>
                <a:cubicBezTo>
                  <a:pt x="-2463" y="0"/>
                  <a:pt x="-2288" y="14799"/>
                  <a:pt x="7446" y="14799"/>
                </a:cubicBezTo>
                <a:lnTo>
                  <a:pt x="118275" y="14799"/>
                </a:lnTo>
                <a:cubicBezTo>
                  <a:pt x="127571" y="14887"/>
                  <a:pt x="127374" y="0"/>
                  <a:pt x="117661"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63;p5"/>
          <p:cNvSpPr/>
          <p:nvPr/>
        </p:nvSpPr>
        <p:spPr>
          <a:xfrm>
            <a:off x="11162116" y="529831"/>
            <a:ext cx="387165" cy="308299"/>
          </a:xfrm>
          <a:custGeom>
            <a:avLst/>
            <a:gdLst/>
            <a:ahLst/>
            <a:cxnLst/>
            <a:rect l="l" t="t" r="r" b="b"/>
            <a:pathLst>
              <a:path w="137618" h="109585" extrusionOk="0">
                <a:moveTo>
                  <a:pt x="136999" y="99882"/>
                </a:moveTo>
                <a:cubicBezTo>
                  <a:pt x="113869" y="47085"/>
                  <a:pt x="65635" y="9548"/>
                  <a:pt x="8785" y="104"/>
                </a:cubicBezTo>
                <a:cubicBezTo>
                  <a:pt x="-292" y="-1365"/>
                  <a:pt x="-3910" y="13258"/>
                  <a:pt x="5627" y="14771"/>
                </a:cubicBezTo>
                <a:cubicBezTo>
                  <a:pt x="57435" y="23274"/>
                  <a:pt x="101482" y="57237"/>
                  <a:pt x="122902" y="105166"/>
                </a:cubicBezTo>
                <a:cubicBezTo>
                  <a:pt x="126738" y="113936"/>
                  <a:pt x="140705" y="108323"/>
                  <a:pt x="136999" y="9988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 name="Google Shape;64;p5"/>
          <p:cNvSpPr/>
          <p:nvPr/>
        </p:nvSpPr>
        <p:spPr>
          <a:xfrm>
            <a:off x="326324" y="5459148"/>
            <a:ext cx="995005" cy="1034280"/>
          </a:xfrm>
          <a:custGeom>
            <a:avLst/>
            <a:gdLst/>
            <a:ahLst/>
            <a:cxnLst/>
            <a:rect l="l" t="t" r="r" b="b"/>
            <a:pathLst>
              <a:path w="353675" h="367635" extrusionOk="0">
                <a:moveTo>
                  <a:pt x="349850" y="316408"/>
                </a:moveTo>
                <a:cubicBezTo>
                  <a:pt x="344216" y="307967"/>
                  <a:pt x="337265" y="300140"/>
                  <a:pt x="331061" y="292094"/>
                </a:cubicBezTo>
                <a:cubicBezTo>
                  <a:pt x="325295" y="284639"/>
                  <a:pt x="312907" y="293387"/>
                  <a:pt x="318542" y="300688"/>
                </a:cubicBezTo>
                <a:cubicBezTo>
                  <a:pt x="320142" y="302661"/>
                  <a:pt x="330951" y="317022"/>
                  <a:pt x="332574" y="318447"/>
                </a:cubicBezTo>
                <a:cubicBezTo>
                  <a:pt x="270198" y="313689"/>
                  <a:pt x="197781" y="305292"/>
                  <a:pt x="142554" y="274598"/>
                </a:cubicBezTo>
                <a:cubicBezTo>
                  <a:pt x="87348" y="239760"/>
                  <a:pt x="52202" y="175937"/>
                  <a:pt x="31747" y="115404"/>
                </a:cubicBezTo>
                <a:cubicBezTo>
                  <a:pt x="20542" y="80171"/>
                  <a:pt x="14804" y="43432"/>
                  <a:pt x="14733" y="6461"/>
                </a:cubicBezTo>
                <a:cubicBezTo>
                  <a:pt x="14733" y="-3318"/>
                  <a:pt x="-44" y="-1323"/>
                  <a:pt x="0" y="7930"/>
                </a:cubicBezTo>
                <a:cubicBezTo>
                  <a:pt x="1184" y="107971"/>
                  <a:pt x="41065" y="213209"/>
                  <a:pt x="119862" y="277470"/>
                </a:cubicBezTo>
                <a:cubicBezTo>
                  <a:pt x="177501" y="318403"/>
                  <a:pt x="263467" y="328116"/>
                  <a:pt x="332705" y="333158"/>
                </a:cubicBezTo>
                <a:cubicBezTo>
                  <a:pt x="322510" y="340196"/>
                  <a:pt x="316437" y="346182"/>
                  <a:pt x="307470" y="353702"/>
                </a:cubicBezTo>
                <a:cubicBezTo>
                  <a:pt x="300301" y="359863"/>
                  <a:pt x="307821" y="372250"/>
                  <a:pt x="315275" y="365848"/>
                </a:cubicBezTo>
                <a:lnTo>
                  <a:pt x="340028" y="344647"/>
                </a:lnTo>
                <a:cubicBezTo>
                  <a:pt x="350048" y="337171"/>
                  <a:pt x="359037" y="328927"/>
                  <a:pt x="349850" y="3164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 name="Google Shape;65;p5"/>
          <p:cNvSpPr/>
          <p:nvPr/>
        </p:nvSpPr>
        <p:spPr>
          <a:xfrm>
            <a:off x="11437700" y="3943241"/>
            <a:ext cx="267869" cy="230389"/>
          </a:xfrm>
          <a:custGeom>
            <a:avLst/>
            <a:gdLst/>
            <a:ahLst/>
            <a:cxnLst/>
            <a:rect l="l" t="t" r="r" b="b"/>
            <a:pathLst>
              <a:path w="95214" h="81892" extrusionOk="0">
                <a:moveTo>
                  <a:pt x="92489" y="65480"/>
                </a:moveTo>
                <a:lnTo>
                  <a:pt x="61028" y="43753"/>
                </a:lnTo>
                <a:cubicBezTo>
                  <a:pt x="70521" y="33157"/>
                  <a:pt x="80036" y="22580"/>
                  <a:pt x="89530" y="12028"/>
                </a:cubicBezTo>
                <a:cubicBezTo>
                  <a:pt x="96107" y="4771"/>
                  <a:pt x="85145" y="-4635"/>
                  <a:pt x="78567" y="2600"/>
                </a:cubicBezTo>
                <a:lnTo>
                  <a:pt x="48991" y="35487"/>
                </a:lnTo>
                <a:lnTo>
                  <a:pt x="12684" y="10383"/>
                </a:lnTo>
                <a:cubicBezTo>
                  <a:pt x="5098" y="5144"/>
                  <a:pt x="-4856" y="16610"/>
                  <a:pt x="2687" y="21872"/>
                </a:cubicBezTo>
                <a:lnTo>
                  <a:pt x="38796" y="46844"/>
                </a:lnTo>
                <a:lnTo>
                  <a:pt x="18275" y="69865"/>
                </a:lnTo>
                <a:cubicBezTo>
                  <a:pt x="11697" y="77122"/>
                  <a:pt x="22660" y="86527"/>
                  <a:pt x="29237" y="79292"/>
                </a:cubicBezTo>
                <a:lnTo>
                  <a:pt x="50942" y="55175"/>
                </a:lnTo>
                <a:lnTo>
                  <a:pt x="82601" y="77100"/>
                </a:lnTo>
                <a:cubicBezTo>
                  <a:pt x="90078" y="82296"/>
                  <a:pt x="100119" y="70829"/>
                  <a:pt x="92489" y="654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66;p5"/>
          <p:cNvSpPr/>
          <p:nvPr/>
        </p:nvSpPr>
        <p:spPr>
          <a:xfrm>
            <a:off x="6471863" y="6143071"/>
            <a:ext cx="1135532" cy="206881"/>
          </a:xfrm>
          <a:custGeom>
            <a:avLst/>
            <a:gdLst/>
            <a:ahLst/>
            <a:cxnLst/>
            <a:rect l="l" t="t" r="r" b="b"/>
            <a:pathLst>
              <a:path w="403625" h="73536" extrusionOk="0">
                <a:moveTo>
                  <a:pt x="402034" y="57995"/>
                </a:moveTo>
                <a:cubicBezTo>
                  <a:pt x="349920" y="-4643"/>
                  <a:pt x="347223" y="-12273"/>
                  <a:pt x="293815" y="54948"/>
                </a:cubicBezTo>
                <a:cubicBezTo>
                  <a:pt x="244682" y="-17404"/>
                  <a:pt x="251829" y="2986"/>
                  <a:pt x="191361" y="49225"/>
                </a:cubicBezTo>
                <a:cubicBezTo>
                  <a:pt x="145320" y="-15189"/>
                  <a:pt x="150911" y="-15343"/>
                  <a:pt x="96669" y="42648"/>
                </a:cubicBezTo>
                <a:cubicBezTo>
                  <a:pt x="86321" y="25893"/>
                  <a:pt x="71785" y="12113"/>
                  <a:pt x="54508" y="2657"/>
                </a:cubicBezTo>
                <a:cubicBezTo>
                  <a:pt x="43897" y="-1442"/>
                  <a:pt x="13290" y="41442"/>
                  <a:pt x="2152" y="49554"/>
                </a:cubicBezTo>
                <a:cubicBezTo>
                  <a:pt x="-4644" y="56548"/>
                  <a:pt x="6230" y="65932"/>
                  <a:pt x="12983" y="58982"/>
                </a:cubicBezTo>
                <a:lnTo>
                  <a:pt x="52009" y="18838"/>
                </a:lnTo>
                <a:cubicBezTo>
                  <a:pt x="82462" y="34426"/>
                  <a:pt x="86825" y="72531"/>
                  <a:pt x="100243" y="59552"/>
                </a:cubicBezTo>
                <a:lnTo>
                  <a:pt x="120852" y="38307"/>
                </a:lnTo>
                <a:cubicBezTo>
                  <a:pt x="130455" y="27871"/>
                  <a:pt x="145298" y="3447"/>
                  <a:pt x="155800" y="26621"/>
                </a:cubicBezTo>
                <a:cubicBezTo>
                  <a:pt x="197105" y="84085"/>
                  <a:pt x="181473" y="72663"/>
                  <a:pt x="233785" y="33330"/>
                </a:cubicBezTo>
                <a:cubicBezTo>
                  <a:pt x="249659" y="14036"/>
                  <a:pt x="257223" y="29405"/>
                  <a:pt x="267264" y="44731"/>
                </a:cubicBezTo>
                <a:lnTo>
                  <a:pt x="286843" y="71040"/>
                </a:lnTo>
                <a:cubicBezTo>
                  <a:pt x="300195" y="86058"/>
                  <a:pt x="326855" y="28594"/>
                  <a:pt x="341106" y="23990"/>
                </a:cubicBezTo>
                <a:cubicBezTo>
                  <a:pt x="357462" y="17522"/>
                  <a:pt x="377238" y="56614"/>
                  <a:pt x="389493" y="66611"/>
                </a:cubicBezTo>
                <a:cubicBezTo>
                  <a:pt x="395632" y="73671"/>
                  <a:pt x="408020" y="64945"/>
                  <a:pt x="402034" y="5799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67;p5"/>
          <p:cNvSpPr/>
          <p:nvPr/>
        </p:nvSpPr>
        <p:spPr>
          <a:xfrm>
            <a:off x="11368405" y="463036"/>
            <a:ext cx="176571" cy="121657"/>
          </a:xfrm>
          <a:custGeom>
            <a:avLst/>
            <a:gdLst/>
            <a:ahLst/>
            <a:cxnLst/>
            <a:rect l="l" t="t" r="r" b="b"/>
            <a:pathLst>
              <a:path w="62762" h="43243" extrusionOk="0">
                <a:moveTo>
                  <a:pt x="60351" y="30032"/>
                </a:moveTo>
                <a:cubicBezTo>
                  <a:pt x="45705" y="17367"/>
                  <a:pt x="28955" y="7372"/>
                  <a:pt x="10845" y="500"/>
                </a:cubicBezTo>
                <a:cubicBezTo>
                  <a:pt x="2273" y="-2745"/>
                  <a:pt x="-4765" y="10739"/>
                  <a:pt x="4092" y="14093"/>
                </a:cubicBezTo>
                <a:cubicBezTo>
                  <a:pt x="20996" y="20446"/>
                  <a:pt x="36672" y="29731"/>
                  <a:pt x="50353" y="41521"/>
                </a:cubicBezTo>
                <a:cubicBezTo>
                  <a:pt x="57413" y="47594"/>
                  <a:pt x="67410" y="36127"/>
                  <a:pt x="60351" y="3003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85464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4/28/24</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68040508"/>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24" r:id="rId6"/>
    <p:sldLayoutId id="2147483719" r:id="rId7"/>
    <p:sldLayoutId id="2147483720" r:id="rId8"/>
    <p:sldLayoutId id="2147483721" r:id="rId9"/>
    <p:sldLayoutId id="2147483723" r:id="rId10"/>
    <p:sldLayoutId id="2147483722" r:id="rId11"/>
    <p:sldLayoutId id="2147483726" r:id="rId12"/>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0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ideo" Target="https://www.youtube.com/embed/LP32-90UClk?start=75&amp;feature=oembed" TargetMode="External"/><Relationship Id="rId4" Type="http://schemas.openxmlformats.org/officeDocument/2006/relationships/image" Target="../media/image27.jpeg"/></Relationships>
</file>

<file path=ppt/slides/_rels/slide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6.xml.rels><?xml version="1.0" encoding="UTF-8" standalone="yes"?>
<Relationships xmlns="http://schemas.openxmlformats.org/package/2006/relationships"><Relationship Id="rId3" Type="http://schemas.openxmlformats.org/officeDocument/2006/relationships/hyperlink" Target="http://www.unnaturalcauses.org/video_clips_detail.php?res_id=409"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7.svg"/><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3" Type="http://schemas.openxmlformats.org/officeDocument/2006/relationships/hyperlink" Target="http://www.unnaturalcauses.org/video_clips_detail.php?res_id=71"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7.svg"/><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hyperlink" Target="http://www.unnaturalcauses.org/video_clips_detail.php?res_id=217"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7.svg"/><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clickv.ie/w/T1cq"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1.gif"/><Relationship Id="rId7" Type="http://schemas.openxmlformats.org/officeDocument/2006/relationships/image" Target="../media/image55.jpe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jpeg"/><Relationship Id="rId4" Type="http://schemas.openxmlformats.org/officeDocument/2006/relationships/image" Target="../media/image52.jpe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video" Target="https://www.youtube.com/embed/9dL4lN6GKi4?feature=oembed" TargetMode="External"/><Relationship Id="rId4" Type="http://schemas.openxmlformats.org/officeDocument/2006/relationships/image" Target="../media/image56.jpe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ideo" Target="https://www.youtube.com/embed/qCaAY4XLAFI?feature=oembed" TargetMode="External"/><Relationship Id="rId4" Type="http://schemas.openxmlformats.org/officeDocument/2006/relationships/image" Target="../media/image57.jpe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ideo" Target="https://www.youtube.com/embed/_HFbOXSLFvw?feature=oembed" TargetMode="External"/><Relationship Id="rId4" Type="http://schemas.openxmlformats.org/officeDocument/2006/relationships/image" Target="../media/image58.jpe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video" Target="https://www.youtube.com/embed/tIAnhDvuslk?feature=oembed" TargetMode="External"/><Relationship Id="rId4" Type="http://schemas.openxmlformats.org/officeDocument/2006/relationships/image" Target="../media/image59.jpe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ideo" Target="https://www.youtube.com/embed/_nmokvjMISA?feature=oembed" TargetMode="External"/><Relationship Id="rId4" Type="http://schemas.openxmlformats.org/officeDocument/2006/relationships/image" Target="../media/image60.jpeg"/></Relationships>
</file>

<file path=ppt/slides/_rels/slide69.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video" Target="https://www.youtube.com/embed/gfq7SHXCvNg?feature=oembed" TargetMode="External"/><Relationship Id="rId4" Type="http://schemas.openxmlformats.org/officeDocument/2006/relationships/image" Target="../media/image63.jpeg"/></Relationships>
</file>

<file path=ppt/slides/_rels/slide7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hyperlink" Target="https://www.ruok.org.au/our-story#:~:text=In%201995%2C%20much%2Dloved%20Barry" TargetMode="Externa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video" Target="https://www.youtube.com/embed/4GhzjNdu83w?feature=oembed" TargetMode="External"/><Relationship Id="rId4" Type="http://schemas.openxmlformats.org/officeDocument/2006/relationships/image" Target="../media/image65.jpe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6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030BA9-BD5D-EE73-3707-C8D6FB6858B9}"/>
              </a:ext>
            </a:extLst>
          </p:cNvPr>
          <p:cNvPicPr>
            <a:picLocks noChangeAspect="1"/>
          </p:cNvPicPr>
          <p:nvPr/>
        </p:nvPicPr>
        <p:blipFill rotWithShape="1">
          <a:blip r:embed="rId2"/>
          <a:srcRect t="7843" b="8514"/>
          <a:stretch/>
        </p:blipFill>
        <p:spPr>
          <a:xfrm>
            <a:off x="-3047" y="10"/>
            <a:ext cx="12191999" cy="6857990"/>
          </a:xfrm>
          <a:prstGeom prst="rect">
            <a:avLst/>
          </a:prstGeom>
        </p:spPr>
      </p:pic>
      <p:sp>
        <p:nvSpPr>
          <p:cNvPr id="18" name="Rectangle 17">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914304-9298-0AF7-AEAD-E7CB0291F04A}"/>
              </a:ext>
            </a:extLst>
          </p:cNvPr>
          <p:cNvSpPr>
            <a:spLocks noGrp="1"/>
          </p:cNvSpPr>
          <p:nvPr>
            <p:ph type="ctrTitle"/>
          </p:nvPr>
        </p:nvSpPr>
        <p:spPr>
          <a:xfrm>
            <a:off x="643466" y="643467"/>
            <a:ext cx="10905059" cy="3330353"/>
          </a:xfrm>
          <a:effectLst>
            <a:outerShdw blurRad="50800" dist="38100" dir="2700000" algn="tl" rotWithShape="0">
              <a:prstClr val="black">
                <a:alpha val="40000"/>
              </a:prstClr>
            </a:outerShdw>
          </a:effectLst>
        </p:spPr>
        <p:txBody>
          <a:bodyPr>
            <a:normAutofit/>
          </a:bodyPr>
          <a:lstStyle/>
          <a:p>
            <a:pPr algn="ctr"/>
            <a:r>
              <a:rPr lang="en-US" dirty="0">
                <a:solidFill>
                  <a:schemeClr val="bg1"/>
                </a:solidFill>
              </a:rPr>
              <a:t>IMPACTS On Health</a:t>
            </a:r>
          </a:p>
        </p:txBody>
      </p:sp>
      <p:sp>
        <p:nvSpPr>
          <p:cNvPr id="3" name="Subtitle 2">
            <a:extLst>
              <a:ext uri="{FF2B5EF4-FFF2-40B4-BE49-F238E27FC236}">
                <a16:creationId xmlns:a16="http://schemas.microsoft.com/office/drawing/2014/main" id="{CF84D835-57B8-5C80-49BB-7E95398E7574}"/>
              </a:ext>
            </a:extLst>
          </p:cNvPr>
          <p:cNvSpPr>
            <a:spLocks noGrp="1"/>
          </p:cNvSpPr>
          <p:nvPr>
            <p:ph type="subTitle" idx="1"/>
          </p:nvPr>
        </p:nvSpPr>
        <p:spPr>
          <a:xfrm>
            <a:off x="643466" y="4133135"/>
            <a:ext cx="10471838" cy="1454510"/>
          </a:xfrm>
          <a:effectLst>
            <a:outerShdw blurRad="50800" dist="38100" dir="2700000" algn="tl" rotWithShape="0">
              <a:prstClr val="black">
                <a:alpha val="40000"/>
              </a:prstClr>
            </a:outerShdw>
          </a:effectLst>
        </p:spPr>
        <p:txBody>
          <a:bodyPr>
            <a:normAutofit/>
          </a:bodyPr>
          <a:lstStyle/>
          <a:p>
            <a:pPr algn="ctr"/>
            <a:r>
              <a:rPr lang="en-US" sz="1800" dirty="0">
                <a:solidFill>
                  <a:schemeClr val="tx1"/>
                </a:solidFill>
              </a:rPr>
              <a:t>Year 10 Health					Lesson 1					Term 3, 2024</a:t>
            </a:r>
          </a:p>
        </p:txBody>
      </p:sp>
      <p:cxnSp>
        <p:nvCxnSpPr>
          <p:cNvPr id="20" name="Straight Connector 19">
            <a:extLst>
              <a:ext uri="{FF2B5EF4-FFF2-40B4-BE49-F238E27FC236}">
                <a16:creationId xmlns:a16="http://schemas.microsoft.com/office/drawing/2014/main" id="{34E5597F-CE67-4085-9548-E6A8036DA3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136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5D2D-FAE0-B066-5308-C68460190274}"/>
              </a:ext>
            </a:extLst>
          </p:cNvPr>
          <p:cNvSpPr>
            <a:spLocks noGrp="1"/>
          </p:cNvSpPr>
          <p:nvPr>
            <p:ph type="title"/>
          </p:nvPr>
        </p:nvSpPr>
        <p:spPr/>
        <p:txBody>
          <a:bodyPr/>
          <a:lstStyle/>
          <a:p>
            <a:r>
              <a:rPr lang="en-US" dirty="0"/>
              <a:t>Term 3: Program &amp; Assessments</a:t>
            </a:r>
          </a:p>
        </p:txBody>
      </p:sp>
      <p:graphicFrame>
        <p:nvGraphicFramePr>
          <p:cNvPr id="5" name="Content Placeholder 2">
            <a:extLst>
              <a:ext uri="{FF2B5EF4-FFF2-40B4-BE49-F238E27FC236}">
                <a16:creationId xmlns:a16="http://schemas.microsoft.com/office/drawing/2014/main" id="{A69845BA-B2C0-155B-CDC7-0A0F4EA32A79}"/>
              </a:ext>
            </a:extLst>
          </p:cNvPr>
          <p:cNvGraphicFramePr>
            <a:graphicFrameLocks noGrp="1"/>
          </p:cNvGraphicFramePr>
          <p:nvPr>
            <p:ph idx="1"/>
            <p:extLst>
              <p:ext uri="{D42A27DB-BD31-4B8C-83A1-F6EECF244321}">
                <p14:modId xmlns:p14="http://schemas.microsoft.com/office/powerpoint/2010/main" val="3129344305"/>
              </p:ext>
            </p:extLst>
          </p:nvPr>
        </p:nvGraphicFramePr>
        <p:xfrm>
          <a:off x="581192" y="2340864"/>
          <a:ext cx="11029615" cy="36344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7713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D2AF00E-D433-4047-863F-BCB69CEC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588" y="601200"/>
            <a:ext cx="7498616"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231DA42-A2D6-3A78-FFF9-BFE16BD0812E}"/>
              </a:ext>
            </a:extLst>
          </p:cNvPr>
          <p:cNvSpPr>
            <a:spLocks noGrp="1"/>
          </p:cNvSpPr>
          <p:nvPr>
            <p:ph type="title"/>
          </p:nvPr>
        </p:nvSpPr>
        <p:spPr>
          <a:xfrm>
            <a:off x="804325" y="282312"/>
            <a:ext cx="7137591" cy="1188720"/>
          </a:xfrm>
        </p:spPr>
        <p:txBody>
          <a:bodyPr vert="horz" lIns="91440" tIns="45720" rIns="91440" bIns="45720" rtlCol="0" anchor="b">
            <a:normAutofit/>
          </a:bodyPr>
          <a:lstStyle/>
          <a:p>
            <a:pPr>
              <a:spcBef>
                <a:spcPct val="0"/>
              </a:spcBef>
            </a:pPr>
            <a:r>
              <a:rPr lang="en-US" dirty="0">
                <a:solidFill>
                  <a:srgbClr val="FFFFFF"/>
                </a:solidFill>
              </a:rPr>
              <a:t>Download Student E-Workbooks</a:t>
            </a:r>
          </a:p>
        </p:txBody>
      </p:sp>
      <p:sp>
        <p:nvSpPr>
          <p:cNvPr id="31" name="Rectangle 30">
            <a:extLst>
              <a:ext uri="{FF2B5EF4-FFF2-40B4-BE49-F238E27FC236}">
                <a16:creationId xmlns:a16="http://schemas.microsoft.com/office/drawing/2014/main" id="{0997DBEA-6DFC-457A-9850-E5350535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31">
            <a:extLst>
              <a:ext uri="{FF2B5EF4-FFF2-40B4-BE49-F238E27FC236}">
                <a16:creationId xmlns:a16="http://schemas.microsoft.com/office/drawing/2014/main" id="{79446CF5-953A-4916-BFF4-F5558E5C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32">
            <a:extLst>
              <a:ext uri="{FF2B5EF4-FFF2-40B4-BE49-F238E27FC236}">
                <a16:creationId xmlns:a16="http://schemas.microsoft.com/office/drawing/2014/main" id="{477B945C-B433-4DFF-9A67-A5C9257E4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 Placeholder 2">
            <a:extLst>
              <a:ext uri="{FF2B5EF4-FFF2-40B4-BE49-F238E27FC236}">
                <a16:creationId xmlns:a16="http://schemas.microsoft.com/office/drawing/2014/main" id="{C899C0ED-4BFB-3CBF-C8E8-8B0E358DEDB2}"/>
              </a:ext>
            </a:extLst>
          </p:cNvPr>
          <p:cNvSpPr>
            <a:spLocks noGrp="1"/>
          </p:cNvSpPr>
          <p:nvPr>
            <p:ph type="body" idx="1"/>
          </p:nvPr>
        </p:nvSpPr>
        <p:spPr>
          <a:xfrm>
            <a:off x="807559" y="1645920"/>
            <a:ext cx="6690843" cy="4488181"/>
          </a:xfrm>
        </p:spPr>
        <p:txBody>
          <a:bodyPr vert="horz" lIns="91440" tIns="45720" rIns="91440" bIns="45720" rtlCol="0" anchor="ctr">
            <a:normAutofit/>
          </a:bodyPr>
          <a:lstStyle/>
          <a:p>
            <a:pPr>
              <a:lnSpc>
                <a:spcPct val="90000"/>
              </a:lnSpc>
              <a:spcBef>
                <a:spcPct val="20000"/>
              </a:spcBef>
              <a:spcAft>
                <a:spcPts val="600"/>
              </a:spcAft>
              <a:buSzPct val="92000"/>
              <a:buFont typeface="Wingdings 2" panose="05020102010507070707" pitchFamily="18" charset="2"/>
              <a:buChar char=""/>
            </a:pPr>
            <a:r>
              <a:rPr lang="en-US" sz="1400" dirty="0">
                <a:solidFill>
                  <a:srgbClr val="FFFFFF"/>
                </a:solidFill>
              </a:rPr>
              <a:t>Log onto Connect.</a:t>
            </a:r>
          </a:p>
          <a:p>
            <a:pPr>
              <a:lnSpc>
                <a:spcPct val="90000"/>
              </a:lnSpc>
              <a:spcBef>
                <a:spcPct val="20000"/>
              </a:spcBef>
              <a:spcAft>
                <a:spcPts val="600"/>
              </a:spcAft>
              <a:buSzPct val="92000"/>
              <a:buFont typeface="Wingdings 2" panose="05020102010507070707" pitchFamily="18" charset="2"/>
              <a:buChar char=""/>
            </a:pPr>
            <a:endParaRPr lang="en-US" sz="1400" dirty="0">
              <a:solidFill>
                <a:srgbClr val="FFFFFF"/>
              </a:solidFill>
            </a:endParaRPr>
          </a:p>
          <a:p>
            <a:pPr>
              <a:lnSpc>
                <a:spcPct val="90000"/>
              </a:lnSpc>
              <a:spcBef>
                <a:spcPct val="20000"/>
              </a:spcBef>
              <a:spcAft>
                <a:spcPts val="600"/>
              </a:spcAft>
              <a:buSzPct val="92000"/>
              <a:buFont typeface="Wingdings 2" panose="05020102010507070707" pitchFamily="18" charset="2"/>
              <a:buChar char=""/>
            </a:pPr>
            <a:r>
              <a:rPr lang="en-US" sz="1400" dirty="0">
                <a:solidFill>
                  <a:srgbClr val="FFFFFF"/>
                </a:solidFill>
              </a:rPr>
              <a:t>Download E-book.</a:t>
            </a:r>
          </a:p>
          <a:p>
            <a:pPr>
              <a:lnSpc>
                <a:spcPct val="90000"/>
              </a:lnSpc>
              <a:spcBef>
                <a:spcPct val="20000"/>
              </a:spcBef>
              <a:spcAft>
                <a:spcPts val="600"/>
              </a:spcAft>
              <a:buSzPct val="92000"/>
              <a:buFont typeface="Wingdings 2" panose="05020102010507070707" pitchFamily="18" charset="2"/>
              <a:buChar char=""/>
            </a:pPr>
            <a:endParaRPr lang="en-US" sz="1400" dirty="0">
              <a:solidFill>
                <a:srgbClr val="FFFFFF"/>
              </a:solidFill>
            </a:endParaRPr>
          </a:p>
          <a:p>
            <a:pPr>
              <a:lnSpc>
                <a:spcPct val="90000"/>
              </a:lnSpc>
              <a:spcBef>
                <a:spcPct val="20000"/>
              </a:spcBef>
              <a:spcAft>
                <a:spcPts val="600"/>
              </a:spcAft>
              <a:buSzPct val="92000"/>
              <a:buFont typeface="Wingdings 2" panose="05020102010507070707" pitchFamily="18" charset="2"/>
              <a:buChar char=""/>
            </a:pPr>
            <a:r>
              <a:rPr lang="en-US" sz="1400" dirty="0">
                <a:solidFill>
                  <a:srgbClr val="FFFFFF"/>
                </a:solidFill>
              </a:rPr>
              <a:t>Open Adobe. </a:t>
            </a:r>
          </a:p>
          <a:p>
            <a:pPr>
              <a:lnSpc>
                <a:spcPct val="90000"/>
              </a:lnSpc>
              <a:spcBef>
                <a:spcPct val="20000"/>
              </a:spcBef>
              <a:spcAft>
                <a:spcPts val="600"/>
              </a:spcAft>
              <a:buSzPct val="92000"/>
              <a:buFont typeface="Wingdings 2" panose="05020102010507070707" pitchFamily="18" charset="2"/>
              <a:buChar char=""/>
            </a:pPr>
            <a:endParaRPr lang="en-US" sz="1400" dirty="0">
              <a:solidFill>
                <a:srgbClr val="FFFFFF"/>
              </a:solidFill>
            </a:endParaRPr>
          </a:p>
          <a:p>
            <a:pPr>
              <a:lnSpc>
                <a:spcPct val="90000"/>
              </a:lnSpc>
              <a:spcBef>
                <a:spcPct val="20000"/>
              </a:spcBef>
              <a:spcAft>
                <a:spcPts val="600"/>
              </a:spcAft>
              <a:buSzPct val="92000"/>
              <a:buFont typeface="Wingdings 2" panose="05020102010507070707" pitchFamily="18" charset="2"/>
              <a:buChar char=""/>
            </a:pPr>
            <a:r>
              <a:rPr lang="en-US" sz="1400" dirty="0">
                <a:solidFill>
                  <a:srgbClr val="FFFFFF"/>
                </a:solidFill>
              </a:rPr>
              <a:t>File open E-book from downloads.</a:t>
            </a:r>
          </a:p>
          <a:p>
            <a:pPr>
              <a:lnSpc>
                <a:spcPct val="90000"/>
              </a:lnSpc>
              <a:spcBef>
                <a:spcPct val="20000"/>
              </a:spcBef>
              <a:spcAft>
                <a:spcPts val="600"/>
              </a:spcAft>
              <a:buSzPct val="92000"/>
              <a:buFont typeface="Wingdings 2" panose="05020102010507070707" pitchFamily="18" charset="2"/>
              <a:buChar char=""/>
            </a:pPr>
            <a:endParaRPr lang="en-US" sz="1400" dirty="0">
              <a:solidFill>
                <a:srgbClr val="FFFFFF"/>
              </a:solidFill>
            </a:endParaRPr>
          </a:p>
          <a:p>
            <a:pPr>
              <a:lnSpc>
                <a:spcPct val="90000"/>
              </a:lnSpc>
              <a:spcBef>
                <a:spcPct val="20000"/>
              </a:spcBef>
              <a:spcAft>
                <a:spcPts val="600"/>
              </a:spcAft>
              <a:buSzPct val="92000"/>
              <a:buFont typeface="Wingdings 2" panose="05020102010507070707" pitchFamily="18" charset="2"/>
              <a:buChar char=""/>
            </a:pPr>
            <a:r>
              <a:rPr lang="en-US" sz="1400" dirty="0">
                <a:solidFill>
                  <a:srgbClr val="FFFFFF"/>
                </a:solidFill>
              </a:rPr>
              <a:t>Write your name.</a:t>
            </a:r>
          </a:p>
          <a:p>
            <a:pPr>
              <a:lnSpc>
                <a:spcPct val="90000"/>
              </a:lnSpc>
              <a:spcBef>
                <a:spcPct val="20000"/>
              </a:spcBef>
              <a:spcAft>
                <a:spcPts val="600"/>
              </a:spcAft>
              <a:buSzPct val="92000"/>
              <a:buFont typeface="Wingdings 2" panose="05020102010507070707" pitchFamily="18" charset="2"/>
              <a:buChar char=""/>
            </a:pPr>
            <a:endParaRPr lang="en-US" sz="1400" dirty="0">
              <a:solidFill>
                <a:srgbClr val="FFFFFF"/>
              </a:solidFill>
            </a:endParaRPr>
          </a:p>
          <a:p>
            <a:pPr>
              <a:lnSpc>
                <a:spcPct val="90000"/>
              </a:lnSpc>
              <a:spcBef>
                <a:spcPct val="20000"/>
              </a:spcBef>
              <a:spcAft>
                <a:spcPts val="600"/>
              </a:spcAft>
              <a:buSzPct val="92000"/>
              <a:buFont typeface="Wingdings 2" panose="05020102010507070707" pitchFamily="18" charset="2"/>
              <a:buChar char=""/>
            </a:pPr>
            <a:r>
              <a:rPr lang="en-US" sz="1400" dirty="0">
                <a:solidFill>
                  <a:srgbClr val="FFFFFF"/>
                </a:solidFill>
              </a:rPr>
              <a:t>File ‘save as’ – save book in health folder. </a:t>
            </a:r>
          </a:p>
          <a:p>
            <a:pPr>
              <a:lnSpc>
                <a:spcPct val="90000"/>
              </a:lnSpc>
              <a:spcBef>
                <a:spcPct val="20000"/>
              </a:spcBef>
              <a:spcAft>
                <a:spcPts val="600"/>
              </a:spcAft>
              <a:buSzPct val="92000"/>
              <a:buFont typeface="Wingdings 2" panose="05020102010507070707" pitchFamily="18" charset="2"/>
              <a:buChar char=""/>
            </a:pPr>
            <a:endParaRPr lang="en-US" sz="1400" dirty="0">
              <a:solidFill>
                <a:srgbClr val="FFFFFF"/>
              </a:solidFill>
            </a:endParaRPr>
          </a:p>
          <a:p>
            <a:pPr>
              <a:lnSpc>
                <a:spcPct val="90000"/>
              </a:lnSpc>
              <a:spcBef>
                <a:spcPct val="20000"/>
              </a:spcBef>
              <a:spcAft>
                <a:spcPts val="600"/>
              </a:spcAft>
              <a:buSzPct val="92000"/>
              <a:buFont typeface="Wingdings 2" panose="05020102010507070707" pitchFamily="18" charset="2"/>
              <a:buChar char=""/>
            </a:pPr>
            <a:r>
              <a:rPr lang="en-US" sz="1400" dirty="0">
                <a:solidFill>
                  <a:srgbClr val="FFFFFF"/>
                </a:solidFill>
              </a:rPr>
              <a:t>Exit and reopen to be sure your work saved.</a:t>
            </a:r>
            <a:endParaRPr lang="en-US" sz="1100" dirty="0">
              <a:solidFill>
                <a:srgbClr val="FFFFFF"/>
              </a:solidFill>
            </a:endParaRPr>
          </a:p>
        </p:txBody>
      </p:sp>
      <p:pic>
        <p:nvPicPr>
          <p:cNvPr id="5" name="Content Placeholder 3" descr="A red square with a white text and a white text on it&#10;&#10;Description automatically generated">
            <a:extLst>
              <a:ext uri="{FF2B5EF4-FFF2-40B4-BE49-F238E27FC236}">
                <a16:creationId xmlns:a16="http://schemas.microsoft.com/office/drawing/2014/main" id="{6F61BD30-A6CB-9277-F088-B730903F45A5}"/>
              </a:ext>
            </a:extLst>
          </p:cNvPr>
          <p:cNvPicPr>
            <a:picLocks noChangeAspect="1"/>
          </p:cNvPicPr>
          <p:nvPr/>
        </p:nvPicPr>
        <p:blipFill>
          <a:blip r:embed="rId2"/>
          <a:stretch>
            <a:fillRect/>
          </a:stretch>
        </p:blipFill>
        <p:spPr>
          <a:xfrm>
            <a:off x="8476761" y="2049354"/>
            <a:ext cx="3053422" cy="3053422"/>
          </a:xfrm>
          <a:prstGeom prst="rect">
            <a:avLst/>
          </a:prstGeom>
          <a:noFill/>
        </p:spPr>
      </p:pic>
    </p:spTree>
    <p:extLst>
      <p:ext uri="{BB962C8B-B14F-4D97-AF65-F5344CB8AC3E}">
        <p14:creationId xmlns:p14="http://schemas.microsoft.com/office/powerpoint/2010/main" val="4146741838"/>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B9C91F-776B-2231-B66B-44C5A919EB35}"/>
              </a:ext>
            </a:extLst>
          </p:cNvPr>
          <p:cNvSpPr>
            <a:spLocks noGrp="1"/>
          </p:cNvSpPr>
          <p:nvPr>
            <p:ph type="title"/>
          </p:nvPr>
        </p:nvSpPr>
        <p:spPr>
          <a:xfrm>
            <a:off x="581193" y="702156"/>
            <a:ext cx="6309003" cy="1013800"/>
          </a:xfrm>
        </p:spPr>
        <p:txBody>
          <a:bodyPr>
            <a:normAutofit/>
          </a:bodyPr>
          <a:lstStyle/>
          <a:p>
            <a:r>
              <a:rPr lang="en-US" dirty="0">
                <a:solidFill>
                  <a:schemeClr val="tx2"/>
                </a:solidFill>
              </a:rPr>
              <a:t>Today’s Focus</a:t>
            </a:r>
          </a:p>
        </p:txBody>
      </p:sp>
      <p:sp>
        <p:nvSpPr>
          <p:cNvPr id="18" name="Rectangle 17">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6B629D2A-4A91-3214-F524-57C1823230FC}"/>
              </a:ext>
            </a:extLst>
          </p:cNvPr>
          <p:cNvSpPr>
            <a:spLocks noGrp="1"/>
          </p:cNvSpPr>
          <p:nvPr>
            <p:ph idx="1"/>
          </p:nvPr>
        </p:nvSpPr>
        <p:spPr>
          <a:xfrm>
            <a:off x="581194" y="1896533"/>
            <a:ext cx="6309003" cy="3962266"/>
          </a:xfrm>
        </p:spPr>
        <p:txBody>
          <a:bodyPr>
            <a:normAutofit/>
          </a:bodyPr>
          <a:lstStyle/>
          <a:p>
            <a:r>
              <a:rPr lang="en-US" dirty="0">
                <a:solidFill>
                  <a:schemeClr val="tx2"/>
                </a:solidFill>
              </a:rPr>
              <a:t>Identify and define the 5 dimensions of health.</a:t>
            </a:r>
          </a:p>
          <a:p>
            <a:r>
              <a:rPr lang="en-US" dirty="0">
                <a:solidFill>
                  <a:schemeClr val="tx2"/>
                </a:solidFill>
              </a:rPr>
              <a:t>List factors that can impact each dimension.</a:t>
            </a:r>
          </a:p>
        </p:txBody>
      </p:sp>
      <p:pic>
        <p:nvPicPr>
          <p:cNvPr id="5" name="Picture 4" descr="Many question marks on black background">
            <a:extLst>
              <a:ext uri="{FF2B5EF4-FFF2-40B4-BE49-F238E27FC236}">
                <a16:creationId xmlns:a16="http://schemas.microsoft.com/office/drawing/2014/main" id="{D96225BA-9E5A-7BEC-AC1E-E319C045C9C3}"/>
              </a:ext>
            </a:extLst>
          </p:cNvPr>
          <p:cNvPicPr>
            <a:picLocks noChangeAspect="1"/>
          </p:cNvPicPr>
          <p:nvPr/>
        </p:nvPicPr>
        <p:blipFill rotWithShape="1">
          <a:blip r:embed="rId2"/>
          <a:srcRect l="58454" r="2" b="2"/>
          <a:stretch/>
        </p:blipFill>
        <p:spPr>
          <a:xfrm>
            <a:off x="7521283" y="10"/>
            <a:ext cx="4670717" cy="6857990"/>
          </a:xfrm>
          <a:prstGeom prst="rect">
            <a:avLst/>
          </a:prstGeom>
        </p:spPr>
      </p:pic>
    </p:spTree>
    <p:extLst>
      <p:ext uri="{BB962C8B-B14F-4D97-AF65-F5344CB8AC3E}">
        <p14:creationId xmlns:p14="http://schemas.microsoft.com/office/powerpoint/2010/main" val="3080026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0401440-1DC9-4C9E-A3BA-4DECEEB46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3" descr="download.jpg">
            <a:extLst>
              <a:ext uri="{FF2B5EF4-FFF2-40B4-BE49-F238E27FC236}">
                <a16:creationId xmlns:a16="http://schemas.microsoft.com/office/drawing/2014/main" id="{8510366C-ED85-45CD-A699-C8750126B79D}"/>
              </a:ext>
            </a:extLst>
          </p:cNvPr>
          <p:cNvPicPr>
            <a:picLocks noChangeAspect="1"/>
          </p:cNvPicPr>
          <p:nvPr/>
        </p:nvPicPr>
        <p:blipFill rotWithShape="1">
          <a:blip r:embed="rId3">
            <a:extLst>
              <a:ext uri="{28A0092B-C50C-407E-A947-70E740481C1C}">
                <a14:useLocalDpi xmlns:a14="http://schemas.microsoft.com/office/drawing/2010/main" val="0"/>
              </a:ext>
            </a:extLst>
          </a:blip>
          <a:srcRect l="30764" r="4033"/>
          <a:stretch/>
        </p:blipFill>
        <p:spPr>
          <a:xfrm>
            <a:off x="679600" y="166441"/>
            <a:ext cx="5093021" cy="3905512"/>
          </a:xfrm>
          <a:prstGeom prst="rect">
            <a:avLst/>
          </a:prstGeom>
        </p:spPr>
      </p:pic>
      <p:cxnSp>
        <p:nvCxnSpPr>
          <p:cNvPr id="17" name="Straight Connector 16">
            <a:extLst>
              <a:ext uri="{FF2B5EF4-FFF2-40B4-BE49-F238E27FC236}">
                <a16:creationId xmlns:a16="http://schemas.microsoft.com/office/drawing/2014/main" id="{EEE3F140-02CB-4BBC-ABC0-8BF046C9D1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436050"/>
            <a:ext cx="0" cy="1645920"/>
          </a:xfrm>
          <a:prstGeom prst="line">
            <a:avLst/>
          </a:prstGeom>
          <a:ln w="19050">
            <a:solidFill>
              <a:srgbClr val="465359"/>
            </a:solidFill>
          </a:ln>
        </p:spPr>
        <p:style>
          <a:lnRef idx="1">
            <a:schemeClr val="accent1"/>
          </a:lnRef>
          <a:fillRef idx="0">
            <a:schemeClr val="accent1"/>
          </a:fillRef>
          <a:effectRef idx="0">
            <a:schemeClr val="accent1"/>
          </a:effectRef>
          <a:fontRef idx="minor">
            <a:schemeClr val="tx1"/>
          </a:fontRef>
        </p:style>
      </p:cxnSp>
      <p:pic>
        <p:nvPicPr>
          <p:cNvPr id="4" name="Picture 3" descr="A picture containing person, man, wall, indoor&#10;&#10;Description automatically generated">
            <a:extLst>
              <a:ext uri="{FF2B5EF4-FFF2-40B4-BE49-F238E27FC236}">
                <a16:creationId xmlns:a16="http://schemas.microsoft.com/office/drawing/2014/main" id="{CF8BB181-E809-DDFB-F248-DE3E4986312E}"/>
              </a:ext>
            </a:extLst>
          </p:cNvPr>
          <p:cNvPicPr>
            <a:picLocks noChangeAspect="1"/>
          </p:cNvPicPr>
          <p:nvPr/>
        </p:nvPicPr>
        <p:blipFill>
          <a:blip r:embed="rId4"/>
          <a:stretch>
            <a:fillRect/>
          </a:stretch>
        </p:blipFill>
        <p:spPr>
          <a:xfrm>
            <a:off x="6417733" y="166723"/>
            <a:ext cx="4769377" cy="3905230"/>
          </a:xfrm>
          <a:prstGeom prst="rect">
            <a:avLst/>
          </a:prstGeom>
        </p:spPr>
      </p:pic>
      <p:sp>
        <p:nvSpPr>
          <p:cNvPr id="14" name="Rectangle 13">
            <a:extLst>
              <a:ext uri="{FF2B5EF4-FFF2-40B4-BE49-F238E27FC236}">
                <a16:creationId xmlns:a16="http://schemas.microsoft.com/office/drawing/2014/main" id="{36B822CC-7DA9-4417-AA94-64CEB676F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AFA01E88-71CC-4FF3-9E81-51E0C32B4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59623"/>
            <a:ext cx="11303626" cy="2051143"/>
          </a:xfrm>
          <a:prstGeom prst="rect">
            <a:avLst/>
          </a:prstGeom>
          <a:solidFill>
            <a:srgbClr val="465359"/>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6D99978-5F6F-D3D9-DC1F-35C62204F70F}"/>
              </a:ext>
            </a:extLst>
          </p:cNvPr>
          <p:cNvSpPr>
            <a:spLocks noGrp="1"/>
          </p:cNvSpPr>
          <p:nvPr>
            <p:ph type="title"/>
          </p:nvPr>
        </p:nvSpPr>
        <p:spPr>
          <a:xfrm>
            <a:off x="679599" y="4596992"/>
            <a:ext cx="4678213" cy="1607013"/>
          </a:xfrm>
        </p:spPr>
        <p:txBody>
          <a:bodyPr anchor="ctr">
            <a:normAutofit/>
          </a:bodyPr>
          <a:lstStyle/>
          <a:p>
            <a:r>
              <a:rPr lang="en-US" dirty="0">
                <a:solidFill>
                  <a:srgbClr val="FFFFFF"/>
                </a:solidFill>
              </a:rPr>
              <a:t>Who is healthier?</a:t>
            </a:r>
          </a:p>
        </p:txBody>
      </p:sp>
    </p:spTree>
    <p:extLst>
      <p:ext uri="{BB962C8B-B14F-4D97-AF65-F5344CB8AC3E}">
        <p14:creationId xmlns:p14="http://schemas.microsoft.com/office/powerpoint/2010/main" val="17130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0401440-1DC9-4C9E-A3BA-4DECEEB46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a:extLst>
              <a:ext uri="{FF2B5EF4-FFF2-40B4-BE49-F238E27FC236}">
                <a16:creationId xmlns:a16="http://schemas.microsoft.com/office/drawing/2014/main" id="{EEE3F140-02CB-4BBC-ABC0-8BF046C9D1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436050"/>
            <a:ext cx="0" cy="1645920"/>
          </a:xfrm>
          <a:prstGeom prst="line">
            <a:avLst/>
          </a:prstGeom>
          <a:ln w="19050">
            <a:solidFill>
              <a:srgbClr val="465359"/>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36B822CC-7DA9-4417-AA94-64CEB676F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AFA01E88-71CC-4FF3-9E81-51E0C32B4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59623"/>
            <a:ext cx="11303626" cy="2051143"/>
          </a:xfrm>
          <a:prstGeom prst="rect">
            <a:avLst/>
          </a:prstGeom>
          <a:solidFill>
            <a:srgbClr val="465359"/>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6D99978-5F6F-D3D9-DC1F-35C62204F70F}"/>
              </a:ext>
            </a:extLst>
          </p:cNvPr>
          <p:cNvSpPr>
            <a:spLocks noGrp="1"/>
          </p:cNvSpPr>
          <p:nvPr>
            <p:ph type="title"/>
          </p:nvPr>
        </p:nvSpPr>
        <p:spPr>
          <a:xfrm>
            <a:off x="679599" y="4596992"/>
            <a:ext cx="5006825" cy="1607013"/>
          </a:xfrm>
        </p:spPr>
        <p:txBody>
          <a:bodyPr anchor="ctr">
            <a:normAutofit/>
          </a:bodyPr>
          <a:lstStyle/>
          <a:p>
            <a:r>
              <a:rPr lang="en-US" dirty="0">
                <a:solidFill>
                  <a:srgbClr val="FFFFFF"/>
                </a:solidFill>
              </a:rPr>
              <a:t>Who is healthier?</a:t>
            </a:r>
          </a:p>
        </p:txBody>
      </p:sp>
      <p:pic>
        <p:nvPicPr>
          <p:cNvPr id="3" name="Content Placeholder 3" descr="images.jpg">
            <a:extLst>
              <a:ext uri="{FF2B5EF4-FFF2-40B4-BE49-F238E27FC236}">
                <a16:creationId xmlns:a16="http://schemas.microsoft.com/office/drawing/2014/main" id="{AD4702F5-6BF5-DF72-015A-B5416DD86656}"/>
              </a:ext>
            </a:extLst>
          </p:cNvPr>
          <p:cNvPicPr>
            <a:picLocks noChangeAspect="1"/>
          </p:cNvPicPr>
          <p:nvPr/>
        </p:nvPicPr>
        <p:blipFill rotWithShape="1">
          <a:blip r:embed="rId3">
            <a:extLst>
              <a:ext uri="{28A0092B-C50C-407E-A947-70E740481C1C}">
                <a14:useLocalDpi xmlns:a14="http://schemas.microsoft.com/office/drawing/2010/main" val="0"/>
              </a:ext>
            </a:extLst>
          </a:blip>
          <a:srcRect l="30057" r="29724" b="1"/>
          <a:stretch/>
        </p:blipFill>
        <p:spPr>
          <a:xfrm>
            <a:off x="2387847" y="102918"/>
            <a:ext cx="2871119" cy="3997637"/>
          </a:xfrm>
          <a:prstGeom prst="rect">
            <a:avLst/>
          </a:prstGeom>
        </p:spPr>
      </p:pic>
      <p:pic>
        <p:nvPicPr>
          <p:cNvPr id="6" name="Content Placeholder 3" descr="download.jpg">
            <a:extLst>
              <a:ext uri="{FF2B5EF4-FFF2-40B4-BE49-F238E27FC236}">
                <a16:creationId xmlns:a16="http://schemas.microsoft.com/office/drawing/2014/main" id="{E613F486-4568-810B-5DD9-1316FD5B5807}"/>
              </a:ext>
            </a:extLst>
          </p:cNvPr>
          <p:cNvPicPr>
            <a:picLocks noChangeAspect="1"/>
          </p:cNvPicPr>
          <p:nvPr/>
        </p:nvPicPr>
        <p:blipFill rotWithShape="1">
          <a:blip r:embed="rId4">
            <a:extLst>
              <a:ext uri="{28A0092B-C50C-407E-A947-70E740481C1C}">
                <a14:useLocalDpi xmlns:a14="http://schemas.microsoft.com/office/drawing/2010/main" val="0"/>
              </a:ext>
            </a:extLst>
          </a:blip>
          <a:srcRect l="45424" r="18692" b="-1"/>
          <a:stretch/>
        </p:blipFill>
        <p:spPr>
          <a:xfrm>
            <a:off x="6974039" y="102918"/>
            <a:ext cx="2868994" cy="3997637"/>
          </a:xfrm>
          <a:prstGeom prst="rect">
            <a:avLst/>
          </a:prstGeom>
        </p:spPr>
      </p:pic>
    </p:spTree>
    <p:extLst>
      <p:ext uri="{BB962C8B-B14F-4D97-AF65-F5344CB8AC3E}">
        <p14:creationId xmlns:p14="http://schemas.microsoft.com/office/powerpoint/2010/main" val="2423158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2EAA3-4CAE-D916-626E-77F0E7514BB7}"/>
              </a:ext>
            </a:extLst>
          </p:cNvPr>
          <p:cNvSpPr>
            <a:spLocks noGrp="1"/>
          </p:cNvSpPr>
          <p:nvPr>
            <p:ph type="title"/>
          </p:nvPr>
        </p:nvSpPr>
        <p:spPr/>
        <p:txBody>
          <a:bodyPr/>
          <a:lstStyle/>
          <a:p>
            <a:r>
              <a:rPr lang="en-US" dirty="0"/>
              <a:t>Snowball</a:t>
            </a:r>
          </a:p>
        </p:txBody>
      </p:sp>
      <p:sp>
        <p:nvSpPr>
          <p:cNvPr id="3" name="Content Placeholder 2">
            <a:extLst>
              <a:ext uri="{FF2B5EF4-FFF2-40B4-BE49-F238E27FC236}">
                <a16:creationId xmlns:a16="http://schemas.microsoft.com/office/drawing/2014/main" id="{DADC973D-D378-0ED3-61B8-3DADA640C6F2}"/>
              </a:ext>
            </a:extLst>
          </p:cNvPr>
          <p:cNvSpPr>
            <a:spLocks noGrp="1"/>
          </p:cNvSpPr>
          <p:nvPr>
            <p:ph idx="1"/>
          </p:nvPr>
        </p:nvSpPr>
        <p:spPr>
          <a:xfrm>
            <a:off x="581193" y="1769364"/>
            <a:ext cx="11029615" cy="4702874"/>
          </a:xfrm>
        </p:spPr>
        <p:txBody>
          <a:bodyPr>
            <a:normAutofit/>
          </a:bodyPr>
          <a:lstStyle/>
          <a:p>
            <a:r>
              <a:rPr lang="en-US" dirty="0"/>
              <a:t>Everyone will receive scrap paper. </a:t>
            </a:r>
          </a:p>
          <a:p>
            <a:r>
              <a:rPr lang="en-US" dirty="0"/>
              <a:t>Answer the question. </a:t>
            </a:r>
          </a:p>
          <a:p>
            <a:r>
              <a:rPr lang="en-US" dirty="0"/>
              <a:t>You can remain anonymous – optional to write your name. </a:t>
            </a:r>
          </a:p>
          <a:p>
            <a:r>
              <a:rPr lang="en-US" dirty="0"/>
              <a:t>Once you have written your answer, scrunch your paper into a ball.</a:t>
            </a:r>
          </a:p>
          <a:p>
            <a:endParaRPr lang="en-US" dirty="0"/>
          </a:p>
          <a:p>
            <a:endParaRPr lang="en-US" dirty="0"/>
          </a:p>
          <a:p>
            <a:pPr marL="0" indent="0" algn="ctr">
              <a:buNone/>
            </a:pPr>
            <a:r>
              <a:rPr lang="en-US" sz="2800" b="1" i="1" dirty="0"/>
              <a:t>Q: WHAT DOES HEALTH MEAN TO YOU?</a:t>
            </a:r>
          </a:p>
          <a:p>
            <a:pPr algn="ctr"/>
            <a:r>
              <a:rPr lang="en-US" dirty="0"/>
              <a:t>What is health to you?</a:t>
            </a:r>
          </a:p>
          <a:p>
            <a:pPr algn="ctr"/>
            <a:r>
              <a:rPr lang="en-US" dirty="0"/>
              <a:t>What does being healthy involve?</a:t>
            </a:r>
          </a:p>
          <a:p>
            <a:pPr algn="ctr"/>
            <a:r>
              <a:rPr lang="en-US" dirty="0"/>
              <a:t>How can a person be healthy?</a:t>
            </a:r>
          </a:p>
        </p:txBody>
      </p:sp>
      <p:pic>
        <p:nvPicPr>
          <p:cNvPr id="1026" name="Picture 2" descr="scrunched up paper? - Modeling - Blender Artists Community">
            <a:extLst>
              <a:ext uri="{FF2B5EF4-FFF2-40B4-BE49-F238E27FC236}">
                <a16:creationId xmlns:a16="http://schemas.microsoft.com/office/drawing/2014/main" id="{522DA6BE-1243-94F0-373F-FFF7B2F366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0207" y="536575"/>
            <a:ext cx="35306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5853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DDC3EF6-2EA5-44B3-94C7-9DDA67A12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87925A9A-E9FA-496E-9C09-7C2845E00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2073ABB4-E164-4CBF-ADFF-25552BB7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1259A422-0023-4292-8200-E080556F3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89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2413CA5-4739-4BC9-8BB3-B0A4928D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4">
            <a:extLst>
              <a:ext uri="{FF2B5EF4-FFF2-40B4-BE49-F238E27FC236}">
                <a16:creationId xmlns:a16="http://schemas.microsoft.com/office/drawing/2014/main" id="{94726DC0-526F-1EDE-E1FE-D367D387CB75}"/>
              </a:ext>
            </a:extLst>
          </p:cNvPr>
          <p:cNvPicPr>
            <a:picLocks noGrp="1" noChangeAspect="1"/>
          </p:cNvPicPr>
          <p:nvPr>
            <p:ph idx="1"/>
          </p:nvPr>
        </p:nvPicPr>
        <p:blipFill>
          <a:blip r:embed="rId2"/>
          <a:stretch>
            <a:fillRect/>
          </a:stretch>
        </p:blipFill>
        <p:spPr>
          <a:xfrm>
            <a:off x="643467" y="1397931"/>
            <a:ext cx="10905066" cy="4062137"/>
          </a:xfrm>
          <a:prstGeom prst="rect">
            <a:avLst/>
          </a:prstGeom>
        </p:spPr>
      </p:pic>
    </p:spTree>
    <p:extLst>
      <p:ext uri="{BB962C8B-B14F-4D97-AF65-F5344CB8AC3E}">
        <p14:creationId xmlns:p14="http://schemas.microsoft.com/office/powerpoint/2010/main" val="4121766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43F8E-03B7-667B-8DD5-7F0F1C53453E}"/>
              </a:ext>
            </a:extLst>
          </p:cNvPr>
          <p:cNvSpPr>
            <a:spLocks noGrp="1"/>
          </p:cNvSpPr>
          <p:nvPr>
            <p:ph type="title"/>
          </p:nvPr>
        </p:nvSpPr>
        <p:spPr>
          <a:xfrm>
            <a:off x="581190" y="350018"/>
            <a:ext cx="11029616" cy="1188720"/>
          </a:xfrm>
        </p:spPr>
        <p:txBody>
          <a:bodyPr/>
          <a:lstStyle/>
          <a:p>
            <a:r>
              <a:rPr lang="en-US" dirty="0"/>
              <a:t>Dimensions of health: 												</a:t>
            </a:r>
            <a:r>
              <a:rPr lang="en-US" dirty="0">
                <a:solidFill>
                  <a:schemeClr val="tx2"/>
                </a:solidFill>
              </a:rPr>
              <a:t>(Pg. 7)</a:t>
            </a:r>
            <a:endParaRPr lang="en-US" dirty="0"/>
          </a:p>
        </p:txBody>
      </p:sp>
      <p:sp>
        <p:nvSpPr>
          <p:cNvPr id="3" name="Content Placeholder 2">
            <a:extLst>
              <a:ext uri="{FF2B5EF4-FFF2-40B4-BE49-F238E27FC236}">
                <a16:creationId xmlns:a16="http://schemas.microsoft.com/office/drawing/2014/main" id="{378CD5EC-5CFD-7A14-D60B-A507CA1D8823}"/>
              </a:ext>
            </a:extLst>
          </p:cNvPr>
          <p:cNvSpPr>
            <a:spLocks noGrp="1"/>
          </p:cNvSpPr>
          <p:nvPr>
            <p:ph idx="1"/>
          </p:nvPr>
        </p:nvSpPr>
        <p:spPr>
          <a:xfrm>
            <a:off x="581194" y="1490522"/>
            <a:ext cx="6000582" cy="5279394"/>
          </a:xfrm>
        </p:spPr>
        <p:txBody>
          <a:bodyPr/>
          <a:lstStyle/>
          <a:p>
            <a:r>
              <a:rPr lang="en-US" sz="1800" dirty="0"/>
              <a:t>Health should be viewed as a holistic approach, </a:t>
            </a:r>
            <a:br>
              <a:rPr lang="en-US" sz="1800" dirty="0"/>
            </a:br>
            <a:r>
              <a:rPr lang="en-US" sz="1800" dirty="0"/>
              <a:t>meaning it is not just the absence of disease or illness etc. </a:t>
            </a:r>
          </a:p>
          <a:p>
            <a:endParaRPr lang="en-US" sz="1800" dirty="0"/>
          </a:p>
          <a:p>
            <a:r>
              <a:rPr lang="en-US" sz="1800" dirty="0"/>
              <a:t>It can be considered across 5 dimensions. </a:t>
            </a:r>
          </a:p>
          <a:p>
            <a:endParaRPr lang="en-US" sz="1800" dirty="0"/>
          </a:p>
          <a:p>
            <a:r>
              <a:rPr lang="en-US" sz="1800" dirty="0"/>
              <a:t>Collectively, they paint a picture of your overall health. </a:t>
            </a:r>
            <a:br>
              <a:rPr lang="en-US" sz="1800" dirty="0"/>
            </a:br>
            <a:r>
              <a:rPr lang="en-US" sz="1800" dirty="0"/>
              <a:t>A change in one dimension may potentially impact the </a:t>
            </a:r>
            <a:br>
              <a:rPr lang="en-US" sz="1800" dirty="0"/>
            </a:br>
            <a:r>
              <a:rPr lang="en-US" sz="1800" dirty="0"/>
              <a:t>other dimensions.</a:t>
            </a:r>
          </a:p>
          <a:p>
            <a:endParaRPr lang="en-US" dirty="0"/>
          </a:p>
          <a:p>
            <a:r>
              <a:rPr lang="en-US" dirty="0"/>
              <a:t>There are many factors that can be considered within each</a:t>
            </a:r>
            <a:br>
              <a:rPr lang="en-US" dirty="0"/>
            </a:br>
            <a:r>
              <a:rPr lang="en-US" dirty="0"/>
              <a:t>which ultimately can impact how healthy we are. </a:t>
            </a:r>
          </a:p>
        </p:txBody>
      </p:sp>
      <p:graphicFrame>
        <p:nvGraphicFramePr>
          <p:cNvPr id="4" name="Content Placeholder 2">
            <a:extLst>
              <a:ext uri="{FF2B5EF4-FFF2-40B4-BE49-F238E27FC236}">
                <a16:creationId xmlns:a16="http://schemas.microsoft.com/office/drawing/2014/main" id="{D3B81764-5581-B530-9E38-C62850937B62}"/>
              </a:ext>
            </a:extLst>
          </p:cNvPr>
          <p:cNvGraphicFramePr>
            <a:graphicFrameLocks/>
          </p:cNvGraphicFramePr>
          <p:nvPr>
            <p:extLst>
              <p:ext uri="{D42A27DB-BD31-4B8C-83A1-F6EECF244321}">
                <p14:modId xmlns:p14="http://schemas.microsoft.com/office/powerpoint/2010/main" val="3110795291"/>
              </p:ext>
            </p:extLst>
          </p:nvPr>
        </p:nvGraphicFramePr>
        <p:xfrm>
          <a:off x="6581775" y="1126426"/>
          <a:ext cx="5292947" cy="52793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2389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73CF6F-4FCA-2A63-D176-D803C1BF360A}"/>
              </a:ext>
            </a:extLst>
          </p:cNvPr>
          <p:cNvSpPr>
            <a:spLocks noGrp="1"/>
          </p:cNvSpPr>
          <p:nvPr>
            <p:ph type="title"/>
          </p:nvPr>
        </p:nvSpPr>
        <p:spPr>
          <a:xfrm>
            <a:off x="581193" y="702156"/>
            <a:ext cx="6309003" cy="1013800"/>
          </a:xfrm>
        </p:spPr>
        <p:txBody>
          <a:bodyPr>
            <a:normAutofit/>
          </a:bodyPr>
          <a:lstStyle/>
          <a:p>
            <a:r>
              <a:rPr lang="en-US" dirty="0">
                <a:solidFill>
                  <a:schemeClr val="tx2"/>
                </a:solidFill>
              </a:rPr>
              <a:t>GLOSSARY: 								(Pg. 6)</a:t>
            </a:r>
          </a:p>
        </p:txBody>
      </p:sp>
      <p:sp>
        <p:nvSpPr>
          <p:cNvPr id="20" name="Rectangle 19">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50561FC8-6D65-AA8A-D6E4-E5542E62296E}"/>
              </a:ext>
            </a:extLst>
          </p:cNvPr>
          <p:cNvSpPr>
            <a:spLocks noGrp="1"/>
          </p:cNvSpPr>
          <p:nvPr>
            <p:ph idx="1"/>
          </p:nvPr>
        </p:nvSpPr>
        <p:spPr>
          <a:xfrm>
            <a:off x="581194" y="1896532"/>
            <a:ext cx="6309003" cy="4675717"/>
          </a:xfrm>
        </p:spPr>
        <p:txBody>
          <a:bodyPr>
            <a:normAutofit fontScale="92500" lnSpcReduction="10000"/>
          </a:bodyPr>
          <a:lstStyle/>
          <a:p>
            <a:pPr marL="0" indent="0">
              <a:buNone/>
            </a:pPr>
            <a:r>
              <a:rPr lang="en-US" sz="1800" dirty="0"/>
              <a:t>At the front of your books is your glossary.  Turn to your glossary and add the following words and their definitions:</a:t>
            </a:r>
          </a:p>
          <a:p>
            <a:endParaRPr lang="en-US" dirty="0">
              <a:solidFill>
                <a:schemeClr val="tx2"/>
              </a:solidFill>
            </a:endParaRPr>
          </a:p>
          <a:p>
            <a:r>
              <a:rPr lang="en-US" b="1" i="1" dirty="0">
                <a:solidFill>
                  <a:schemeClr val="tx2"/>
                </a:solidFill>
              </a:rPr>
              <a:t>Health: </a:t>
            </a:r>
          </a:p>
          <a:p>
            <a:pPr lvl="1"/>
            <a:r>
              <a:rPr lang="en-US" dirty="0">
                <a:solidFill>
                  <a:schemeClr val="tx2"/>
                </a:solidFill>
              </a:rPr>
              <a:t>A state of complete physical, mental, and social well-being and not merely the absence of disease or infirmity. </a:t>
            </a:r>
            <a:br>
              <a:rPr lang="en-US" dirty="0">
                <a:solidFill>
                  <a:schemeClr val="tx2"/>
                </a:solidFill>
              </a:rPr>
            </a:br>
            <a:r>
              <a:rPr lang="en-US" dirty="0">
                <a:solidFill>
                  <a:schemeClr val="tx2"/>
                </a:solidFill>
              </a:rPr>
              <a:t>(World Health Organisation)</a:t>
            </a:r>
          </a:p>
          <a:p>
            <a:pPr lvl="1"/>
            <a:endParaRPr lang="en-US" dirty="0">
              <a:solidFill>
                <a:schemeClr val="tx2"/>
              </a:solidFill>
            </a:endParaRPr>
          </a:p>
          <a:p>
            <a:r>
              <a:rPr lang="en-US" b="1" i="1" dirty="0">
                <a:solidFill>
                  <a:schemeClr val="tx2"/>
                </a:solidFill>
              </a:rPr>
              <a:t>Dimensions of Health:</a:t>
            </a:r>
          </a:p>
          <a:p>
            <a:pPr lvl="1"/>
            <a:r>
              <a:rPr lang="en-US" dirty="0">
                <a:solidFill>
                  <a:schemeClr val="tx2"/>
                </a:solidFill>
              </a:rPr>
              <a:t>The 5 dimensions of health help to provide a full picture of health and each dimension can impact another. </a:t>
            </a:r>
            <a:br>
              <a:rPr lang="en-US" dirty="0">
                <a:solidFill>
                  <a:schemeClr val="tx2"/>
                </a:solidFill>
              </a:rPr>
            </a:br>
            <a:endParaRPr lang="en-US" b="1" i="1" dirty="0">
              <a:solidFill>
                <a:schemeClr val="tx2"/>
              </a:solidFill>
            </a:endParaRPr>
          </a:p>
          <a:p>
            <a:r>
              <a:rPr lang="en-US" b="1" i="1" dirty="0">
                <a:solidFill>
                  <a:schemeClr val="tx2"/>
                </a:solidFill>
              </a:rPr>
              <a:t>Holistic Health:</a:t>
            </a:r>
          </a:p>
          <a:p>
            <a:pPr lvl="1"/>
            <a:r>
              <a:rPr lang="en-US" dirty="0">
                <a:solidFill>
                  <a:schemeClr val="tx2"/>
                </a:solidFill>
              </a:rPr>
              <a:t>An approach to wellness that addresses all dimensions of health. </a:t>
            </a:r>
          </a:p>
          <a:p>
            <a:pPr lvl="1"/>
            <a:r>
              <a:rPr lang="en-US" dirty="0">
                <a:solidFill>
                  <a:schemeClr val="tx2"/>
                </a:solidFill>
              </a:rPr>
              <a:t>It considers the whole being of an individual.</a:t>
            </a:r>
          </a:p>
        </p:txBody>
      </p:sp>
      <p:pic>
        <p:nvPicPr>
          <p:cNvPr id="4" name="Picture 3" descr="Close-up of stacked books">
            <a:extLst>
              <a:ext uri="{FF2B5EF4-FFF2-40B4-BE49-F238E27FC236}">
                <a16:creationId xmlns:a16="http://schemas.microsoft.com/office/drawing/2014/main" id="{6CCB14CE-8CFC-9928-5CCD-9548B783B2C0}"/>
              </a:ext>
            </a:extLst>
          </p:cNvPr>
          <p:cNvPicPr>
            <a:picLocks noChangeAspect="1"/>
          </p:cNvPicPr>
          <p:nvPr/>
        </p:nvPicPr>
        <p:blipFill rotWithShape="1">
          <a:blip r:embed="rId2"/>
          <a:srcRect l="61690"/>
          <a:stretch/>
        </p:blipFill>
        <p:spPr>
          <a:xfrm>
            <a:off x="7521283" y="10"/>
            <a:ext cx="4670717" cy="6857990"/>
          </a:xfrm>
          <a:prstGeom prst="rect">
            <a:avLst/>
          </a:prstGeom>
        </p:spPr>
      </p:pic>
    </p:spTree>
    <p:extLst>
      <p:ext uri="{BB962C8B-B14F-4D97-AF65-F5344CB8AC3E}">
        <p14:creationId xmlns:p14="http://schemas.microsoft.com/office/powerpoint/2010/main" val="539495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AAAB002-E48E-4009-828A-511F7A828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illustration of white volleyballs">
            <a:extLst>
              <a:ext uri="{FF2B5EF4-FFF2-40B4-BE49-F238E27FC236}">
                <a16:creationId xmlns:a16="http://schemas.microsoft.com/office/drawing/2014/main" id="{329D55EF-CA10-C93E-EEE7-5DCAFE291E87}"/>
              </a:ext>
            </a:extLst>
          </p:cNvPr>
          <p:cNvPicPr>
            <a:picLocks noChangeAspect="1"/>
          </p:cNvPicPr>
          <p:nvPr/>
        </p:nvPicPr>
        <p:blipFill rotWithShape="1">
          <a:blip r:embed="rId3"/>
          <a:srcRect t="7965" r="9091" b="1126"/>
          <a:stretch/>
        </p:blipFill>
        <p:spPr>
          <a:xfrm>
            <a:off x="20" y="10"/>
            <a:ext cx="12191980" cy="6857990"/>
          </a:xfrm>
          <a:prstGeom prst="rect">
            <a:avLst/>
          </a:prstGeom>
        </p:spPr>
      </p:pic>
      <p:sp>
        <p:nvSpPr>
          <p:cNvPr id="12" name="Rectangle 11">
            <a:extLst>
              <a:ext uri="{FF2B5EF4-FFF2-40B4-BE49-F238E27FC236}">
                <a16:creationId xmlns:a16="http://schemas.microsoft.com/office/drawing/2014/main" id="{97EF55D5-23F0-4398-B16B-AEF5778C30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67" y="423123"/>
            <a:ext cx="4216219"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FDF32581-CAA1-43C6-8532-DC56C8435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67" y="601200"/>
            <a:ext cx="4214869" cy="5757055"/>
          </a:xfrm>
          <a:prstGeom prst="rect">
            <a:avLst/>
          </a:prstGeom>
          <a:solidFill>
            <a:srgbClr val="465359">
              <a:alpha val="97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3AE08E0-6608-5C47-813A-C68B08D89C80}"/>
              </a:ext>
            </a:extLst>
          </p:cNvPr>
          <p:cNvSpPr>
            <a:spLocks noGrp="1"/>
          </p:cNvSpPr>
          <p:nvPr>
            <p:ph type="title"/>
          </p:nvPr>
        </p:nvSpPr>
        <p:spPr>
          <a:xfrm>
            <a:off x="681540" y="1131195"/>
            <a:ext cx="3730810" cy="1247938"/>
          </a:xfrm>
        </p:spPr>
        <p:txBody>
          <a:bodyPr anchor="ctr">
            <a:normAutofit/>
          </a:bodyPr>
          <a:lstStyle/>
          <a:p>
            <a:r>
              <a:rPr lang="en-US" sz="2600" dirty="0">
                <a:solidFill>
                  <a:srgbClr val="FFFFFF"/>
                </a:solidFill>
              </a:rPr>
              <a:t>Activity 1:</a:t>
            </a:r>
            <a:br>
              <a:rPr lang="en-US" sz="2600" dirty="0">
                <a:solidFill>
                  <a:srgbClr val="FFFFFF"/>
                </a:solidFill>
              </a:rPr>
            </a:br>
            <a:r>
              <a:rPr lang="en-US" sz="2600" dirty="0">
                <a:solidFill>
                  <a:srgbClr val="FFFFFF"/>
                </a:solidFill>
              </a:rPr>
              <a:t>Silent Ball</a:t>
            </a:r>
          </a:p>
        </p:txBody>
      </p:sp>
      <p:sp>
        <p:nvSpPr>
          <p:cNvPr id="3" name="Content Placeholder 2">
            <a:extLst>
              <a:ext uri="{FF2B5EF4-FFF2-40B4-BE49-F238E27FC236}">
                <a16:creationId xmlns:a16="http://schemas.microsoft.com/office/drawing/2014/main" id="{7956B5C7-E869-F746-8474-3E08F1EE237F}"/>
              </a:ext>
            </a:extLst>
          </p:cNvPr>
          <p:cNvSpPr>
            <a:spLocks noGrp="1"/>
          </p:cNvSpPr>
          <p:nvPr>
            <p:ph idx="1"/>
          </p:nvPr>
        </p:nvSpPr>
        <p:spPr>
          <a:xfrm>
            <a:off x="678531" y="2438399"/>
            <a:ext cx="3730810" cy="3505201"/>
          </a:xfrm>
        </p:spPr>
        <p:txBody>
          <a:bodyPr>
            <a:normAutofit/>
          </a:bodyPr>
          <a:lstStyle/>
          <a:p>
            <a:pPr marL="0" indent="0">
              <a:buNone/>
            </a:pPr>
            <a:endParaRPr lang="en-AU" sz="1700" dirty="0">
              <a:solidFill>
                <a:srgbClr val="FFFFFF"/>
              </a:solidFill>
            </a:endParaRPr>
          </a:p>
          <a:p>
            <a:r>
              <a:rPr lang="en-AU" sz="1700" dirty="0">
                <a:solidFill>
                  <a:srgbClr val="FFFFFF"/>
                </a:solidFill>
              </a:rPr>
              <a:t>What dimension of health do you think that activity was related to?</a:t>
            </a:r>
          </a:p>
          <a:p>
            <a:r>
              <a:rPr lang="en-AU" sz="1700" dirty="0">
                <a:solidFill>
                  <a:srgbClr val="FFFFFF"/>
                </a:solidFill>
              </a:rPr>
              <a:t>Why? How does that activity link to that dimension?</a:t>
            </a:r>
          </a:p>
          <a:p>
            <a:r>
              <a:rPr lang="en-AU" sz="1700" dirty="0">
                <a:solidFill>
                  <a:srgbClr val="FFFFFF"/>
                </a:solidFill>
              </a:rPr>
              <a:t>Why is that dimension important for our health?</a:t>
            </a:r>
          </a:p>
          <a:p>
            <a:r>
              <a:rPr lang="en-AU" sz="1700" dirty="0">
                <a:solidFill>
                  <a:srgbClr val="FFFFFF"/>
                </a:solidFill>
              </a:rPr>
              <a:t>What else you think is included in that dimension?</a:t>
            </a:r>
          </a:p>
          <a:p>
            <a:r>
              <a:rPr lang="en-AU" sz="1700" dirty="0">
                <a:solidFill>
                  <a:srgbClr val="FFFFFF"/>
                </a:solidFill>
              </a:rPr>
              <a:t>How do you feel after that activity?</a:t>
            </a:r>
            <a:endParaRPr lang="en-US" sz="1700" dirty="0">
              <a:solidFill>
                <a:srgbClr val="FFFFFF"/>
              </a:solidFill>
            </a:endParaRPr>
          </a:p>
          <a:p>
            <a:endParaRPr lang="en-US" sz="1700" dirty="0">
              <a:solidFill>
                <a:srgbClr val="FFFFFF"/>
              </a:solidFill>
            </a:endParaRPr>
          </a:p>
        </p:txBody>
      </p:sp>
    </p:spTree>
    <p:extLst>
      <p:ext uri="{BB962C8B-B14F-4D97-AF65-F5344CB8AC3E}">
        <p14:creationId xmlns:p14="http://schemas.microsoft.com/office/powerpoint/2010/main" val="1077656353"/>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FAAAB002-E48E-4009-828A-511F7A828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mpty speech bubbles">
            <a:extLst>
              <a:ext uri="{FF2B5EF4-FFF2-40B4-BE49-F238E27FC236}">
                <a16:creationId xmlns:a16="http://schemas.microsoft.com/office/drawing/2014/main" id="{217A3062-46D2-E514-9CBA-C5C883F05807}"/>
              </a:ext>
            </a:extLst>
          </p:cNvPr>
          <p:cNvPicPr>
            <a:picLocks noChangeAspect="1"/>
          </p:cNvPicPr>
          <p:nvPr/>
        </p:nvPicPr>
        <p:blipFill rotWithShape="1">
          <a:blip r:embed="rId3"/>
          <a:srcRect t="10031" r="9091" b="13360"/>
          <a:stretch/>
        </p:blipFill>
        <p:spPr>
          <a:xfrm>
            <a:off x="20" y="10"/>
            <a:ext cx="12191980" cy="6857990"/>
          </a:xfrm>
          <a:prstGeom prst="rect">
            <a:avLst/>
          </a:prstGeom>
        </p:spPr>
      </p:pic>
      <p:sp>
        <p:nvSpPr>
          <p:cNvPr id="34" name="Rectangle 33">
            <a:extLst>
              <a:ext uri="{FF2B5EF4-FFF2-40B4-BE49-F238E27FC236}">
                <a16:creationId xmlns:a16="http://schemas.microsoft.com/office/drawing/2014/main" id="{97EF55D5-23F0-4398-B16B-AEF5778C30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67" y="423123"/>
            <a:ext cx="4216219"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FDF32581-CAA1-43C6-8532-DC56C8435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67" y="601200"/>
            <a:ext cx="4214869" cy="5757055"/>
          </a:xfrm>
          <a:prstGeom prst="rect">
            <a:avLst/>
          </a:prstGeom>
          <a:solidFill>
            <a:srgbClr val="465359">
              <a:alpha val="97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76634D7-33BC-4448-ACB3-AB69FF089268}"/>
              </a:ext>
            </a:extLst>
          </p:cNvPr>
          <p:cNvSpPr>
            <a:spLocks noGrp="1"/>
          </p:cNvSpPr>
          <p:nvPr>
            <p:ph type="title"/>
          </p:nvPr>
        </p:nvSpPr>
        <p:spPr>
          <a:xfrm>
            <a:off x="681540" y="1131195"/>
            <a:ext cx="3730810" cy="1247938"/>
          </a:xfrm>
        </p:spPr>
        <p:txBody>
          <a:bodyPr anchor="ctr">
            <a:normAutofit/>
          </a:bodyPr>
          <a:lstStyle/>
          <a:p>
            <a:r>
              <a:rPr lang="en-US" sz="2600" dirty="0">
                <a:solidFill>
                  <a:srgbClr val="FFFFFF"/>
                </a:solidFill>
              </a:rPr>
              <a:t>Activity 2:</a:t>
            </a:r>
            <a:br>
              <a:rPr lang="en-US" sz="2600" dirty="0">
                <a:solidFill>
                  <a:srgbClr val="FFFFFF"/>
                </a:solidFill>
              </a:rPr>
            </a:br>
            <a:r>
              <a:rPr lang="en-US" sz="2600" dirty="0">
                <a:solidFill>
                  <a:srgbClr val="FFFFFF"/>
                </a:solidFill>
              </a:rPr>
              <a:t>Two Truths, One Lie</a:t>
            </a:r>
          </a:p>
        </p:txBody>
      </p:sp>
      <p:sp>
        <p:nvSpPr>
          <p:cNvPr id="3" name="Content Placeholder 2">
            <a:extLst>
              <a:ext uri="{FF2B5EF4-FFF2-40B4-BE49-F238E27FC236}">
                <a16:creationId xmlns:a16="http://schemas.microsoft.com/office/drawing/2014/main" id="{B010890C-A719-D444-AA35-33B3C91A1281}"/>
              </a:ext>
            </a:extLst>
          </p:cNvPr>
          <p:cNvSpPr>
            <a:spLocks noGrp="1"/>
          </p:cNvSpPr>
          <p:nvPr>
            <p:ph idx="1"/>
          </p:nvPr>
        </p:nvSpPr>
        <p:spPr>
          <a:xfrm>
            <a:off x="558298" y="2459493"/>
            <a:ext cx="3974405" cy="3818401"/>
          </a:xfrm>
        </p:spPr>
        <p:txBody>
          <a:bodyPr>
            <a:normAutofit/>
          </a:bodyPr>
          <a:lstStyle/>
          <a:p>
            <a:r>
              <a:rPr lang="en-AU" dirty="0">
                <a:solidFill>
                  <a:srgbClr val="FFFFFF"/>
                </a:solidFill>
              </a:rPr>
              <a:t>What dimension of health do you think that activity was related to?</a:t>
            </a:r>
          </a:p>
          <a:p>
            <a:r>
              <a:rPr lang="en-AU" dirty="0">
                <a:solidFill>
                  <a:srgbClr val="FFFFFF"/>
                </a:solidFill>
              </a:rPr>
              <a:t>Why? How does that activity link to that dimension?</a:t>
            </a:r>
          </a:p>
          <a:p>
            <a:r>
              <a:rPr lang="en-AU" dirty="0">
                <a:solidFill>
                  <a:srgbClr val="FFFFFF"/>
                </a:solidFill>
              </a:rPr>
              <a:t>Why is that dimension important for our health?</a:t>
            </a:r>
          </a:p>
          <a:p>
            <a:r>
              <a:rPr lang="en-AU" dirty="0">
                <a:solidFill>
                  <a:srgbClr val="FFFFFF"/>
                </a:solidFill>
              </a:rPr>
              <a:t>What else you think is included in that dimension?</a:t>
            </a:r>
          </a:p>
          <a:p>
            <a:r>
              <a:rPr lang="en-AU" dirty="0">
                <a:solidFill>
                  <a:srgbClr val="FFFFFF"/>
                </a:solidFill>
              </a:rPr>
              <a:t>How do you feel after that activity?</a:t>
            </a:r>
            <a:endParaRPr lang="en-US" dirty="0">
              <a:solidFill>
                <a:srgbClr val="FFFFFF"/>
              </a:solidFill>
            </a:endParaRPr>
          </a:p>
          <a:p>
            <a:endParaRPr lang="en-US" dirty="0">
              <a:solidFill>
                <a:srgbClr val="FFFFFF"/>
              </a:solidFill>
            </a:endParaRPr>
          </a:p>
        </p:txBody>
      </p:sp>
    </p:spTree>
    <p:extLst>
      <p:ext uri="{BB962C8B-B14F-4D97-AF65-F5344CB8AC3E}">
        <p14:creationId xmlns:p14="http://schemas.microsoft.com/office/powerpoint/2010/main" val="1388823718"/>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AAAB002-E48E-4009-828A-511F7A828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4D5DF2B-D700-882C-EE11-DD4922079941}"/>
              </a:ext>
            </a:extLst>
          </p:cNvPr>
          <p:cNvPicPr>
            <a:picLocks noChangeAspect="1"/>
          </p:cNvPicPr>
          <p:nvPr/>
        </p:nvPicPr>
        <p:blipFill rotWithShape="1">
          <a:blip r:embed="rId3"/>
          <a:srcRect r="9091" b="9091"/>
          <a:stretch/>
        </p:blipFill>
        <p:spPr>
          <a:xfrm>
            <a:off x="20" y="10"/>
            <a:ext cx="12191980" cy="6857990"/>
          </a:xfrm>
          <a:prstGeom prst="rect">
            <a:avLst/>
          </a:prstGeom>
        </p:spPr>
      </p:pic>
      <p:sp>
        <p:nvSpPr>
          <p:cNvPr id="12" name="Rectangle 11">
            <a:extLst>
              <a:ext uri="{FF2B5EF4-FFF2-40B4-BE49-F238E27FC236}">
                <a16:creationId xmlns:a16="http://schemas.microsoft.com/office/drawing/2014/main" id="{97EF55D5-23F0-4398-B16B-AEF5778C30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67" y="423123"/>
            <a:ext cx="4216219"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FDF32581-CAA1-43C6-8532-DC56C8435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67" y="601200"/>
            <a:ext cx="4214869" cy="5757055"/>
          </a:xfrm>
          <a:prstGeom prst="rect">
            <a:avLst/>
          </a:prstGeom>
          <a:solidFill>
            <a:srgbClr val="465359">
              <a:alpha val="97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97E9947-5AD8-9B49-AD06-05B42DF3857F}"/>
              </a:ext>
            </a:extLst>
          </p:cNvPr>
          <p:cNvSpPr>
            <a:spLocks noGrp="1"/>
          </p:cNvSpPr>
          <p:nvPr>
            <p:ph type="title"/>
          </p:nvPr>
        </p:nvSpPr>
        <p:spPr>
          <a:xfrm>
            <a:off x="681540" y="1131195"/>
            <a:ext cx="3730810" cy="1247938"/>
          </a:xfrm>
        </p:spPr>
        <p:txBody>
          <a:bodyPr anchor="ctr">
            <a:normAutofit/>
          </a:bodyPr>
          <a:lstStyle/>
          <a:p>
            <a:r>
              <a:rPr lang="en-US" sz="2600" dirty="0">
                <a:solidFill>
                  <a:srgbClr val="FFFFFF"/>
                </a:solidFill>
              </a:rPr>
              <a:t>Activity 3:</a:t>
            </a:r>
            <a:br>
              <a:rPr lang="en-US" sz="2600" dirty="0">
                <a:solidFill>
                  <a:srgbClr val="FFFFFF"/>
                </a:solidFill>
              </a:rPr>
            </a:br>
            <a:r>
              <a:rPr lang="en-US" sz="2600" dirty="0">
                <a:solidFill>
                  <a:srgbClr val="FFFFFF"/>
                </a:solidFill>
              </a:rPr>
              <a:t>Community Circle</a:t>
            </a:r>
          </a:p>
        </p:txBody>
      </p:sp>
      <p:sp>
        <p:nvSpPr>
          <p:cNvPr id="3" name="Content Placeholder 2">
            <a:extLst>
              <a:ext uri="{FF2B5EF4-FFF2-40B4-BE49-F238E27FC236}">
                <a16:creationId xmlns:a16="http://schemas.microsoft.com/office/drawing/2014/main" id="{2D36B8D3-4C89-BD4E-A332-6DF463245F4A}"/>
              </a:ext>
            </a:extLst>
          </p:cNvPr>
          <p:cNvSpPr>
            <a:spLocks noGrp="1"/>
          </p:cNvSpPr>
          <p:nvPr>
            <p:ph idx="1"/>
          </p:nvPr>
        </p:nvSpPr>
        <p:spPr>
          <a:xfrm>
            <a:off x="678531" y="2438399"/>
            <a:ext cx="3730810" cy="3505201"/>
          </a:xfrm>
        </p:spPr>
        <p:txBody>
          <a:bodyPr>
            <a:normAutofit/>
          </a:bodyPr>
          <a:lstStyle/>
          <a:p>
            <a:pPr marL="0" indent="0">
              <a:lnSpc>
                <a:spcPct val="90000"/>
              </a:lnSpc>
              <a:buNone/>
            </a:pPr>
            <a:endParaRPr lang="en-AU">
              <a:solidFill>
                <a:srgbClr val="FFFFFF"/>
              </a:solidFill>
            </a:endParaRPr>
          </a:p>
          <a:p>
            <a:pPr>
              <a:lnSpc>
                <a:spcPct val="90000"/>
              </a:lnSpc>
            </a:pPr>
            <a:r>
              <a:rPr lang="en-AU">
                <a:solidFill>
                  <a:srgbClr val="FFFFFF"/>
                </a:solidFill>
              </a:rPr>
              <a:t>What dimension of health do you think that activity was related to?</a:t>
            </a:r>
          </a:p>
          <a:p>
            <a:pPr>
              <a:lnSpc>
                <a:spcPct val="90000"/>
              </a:lnSpc>
            </a:pPr>
            <a:r>
              <a:rPr lang="en-AU">
                <a:solidFill>
                  <a:srgbClr val="FFFFFF"/>
                </a:solidFill>
              </a:rPr>
              <a:t>Why? How does that activity link to that dimension?</a:t>
            </a:r>
          </a:p>
          <a:p>
            <a:pPr>
              <a:lnSpc>
                <a:spcPct val="90000"/>
              </a:lnSpc>
            </a:pPr>
            <a:r>
              <a:rPr lang="en-AU">
                <a:solidFill>
                  <a:srgbClr val="FFFFFF"/>
                </a:solidFill>
              </a:rPr>
              <a:t>Why is that dimension important for our health?</a:t>
            </a:r>
          </a:p>
          <a:p>
            <a:pPr>
              <a:lnSpc>
                <a:spcPct val="90000"/>
              </a:lnSpc>
            </a:pPr>
            <a:r>
              <a:rPr lang="en-AU">
                <a:solidFill>
                  <a:srgbClr val="FFFFFF"/>
                </a:solidFill>
              </a:rPr>
              <a:t>What else you think is included in that dimension?</a:t>
            </a:r>
          </a:p>
          <a:p>
            <a:pPr>
              <a:lnSpc>
                <a:spcPct val="90000"/>
              </a:lnSpc>
            </a:pPr>
            <a:r>
              <a:rPr lang="en-AU">
                <a:solidFill>
                  <a:srgbClr val="FFFFFF"/>
                </a:solidFill>
              </a:rPr>
              <a:t>How do you feel after that activity?</a:t>
            </a:r>
            <a:endParaRPr lang="en-US">
              <a:solidFill>
                <a:srgbClr val="FFFFFF"/>
              </a:solidFill>
            </a:endParaRPr>
          </a:p>
        </p:txBody>
      </p:sp>
    </p:spTree>
    <p:extLst>
      <p:ext uri="{BB962C8B-B14F-4D97-AF65-F5344CB8AC3E}">
        <p14:creationId xmlns:p14="http://schemas.microsoft.com/office/powerpoint/2010/main" val="3178784348"/>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AAAB002-E48E-4009-828A-511F7A828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eart-shaped puzzle missing one piece at the centre">
            <a:extLst>
              <a:ext uri="{FF2B5EF4-FFF2-40B4-BE49-F238E27FC236}">
                <a16:creationId xmlns:a16="http://schemas.microsoft.com/office/drawing/2014/main" id="{CACED85C-1E8A-38D6-EE50-2DC7F9ED1F79}"/>
              </a:ext>
            </a:extLst>
          </p:cNvPr>
          <p:cNvPicPr>
            <a:picLocks noChangeAspect="1"/>
          </p:cNvPicPr>
          <p:nvPr/>
        </p:nvPicPr>
        <p:blipFill rotWithShape="1">
          <a:blip r:embed="rId3"/>
          <a:srcRect t="11618" r="9091" b="11774"/>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97EF55D5-23F0-4398-B16B-AEF5778C30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67" y="423123"/>
            <a:ext cx="4216219"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FDF32581-CAA1-43C6-8532-DC56C8435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67" y="601200"/>
            <a:ext cx="4214869" cy="5757055"/>
          </a:xfrm>
          <a:prstGeom prst="rect">
            <a:avLst/>
          </a:prstGeom>
          <a:solidFill>
            <a:srgbClr val="465359">
              <a:alpha val="97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A3F8EF4-C787-7E3E-9369-46CA124F93B1}"/>
              </a:ext>
            </a:extLst>
          </p:cNvPr>
          <p:cNvSpPr>
            <a:spLocks noGrp="1"/>
          </p:cNvSpPr>
          <p:nvPr>
            <p:ph type="title"/>
          </p:nvPr>
        </p:nvSpPr>
        <p:spPr>
          <a:xfrm>
            <a:off x="681540" y="1131195"/>
            <a:ext cx="3730810" cy="1247938"/>
          </a:xfrm>
        </p:spPr>
        <p:txBody>
          <a:bodyPr anchor="ctr">
            <a:normAutofit/>
          </a:bodyPr>
          <a:lstStyle/>
          <a:p>
            <a:r>
              <a:rPr lang="en-US" sz="2600">
                <a:solidFill>
                  <a:srgbClr val="FFFFFF"/>
                </a:solidFill>
              </a:rPr>
              <a:t>Activity 4: Puzzles</a:t>
            </a:r>
          </a:p>
        </p:txBody>
      </p:sp>
      <p:sp>
        <p:nvSpPr>
          <p:cNvPr id="3" name="Content Placeholder 2">
            <a:extLst>
              <a:ext uri="{FF2B5EF4-FFF2-40B4-BE49-F238E27FC236}">
                <a16:creationId xmlns:a16="http://schemas.microsoft.com/office/drawing/2014/main" id="{90DEE689-42B2-5E45-22FF-91E946D0F2F4}"/>
              </a:ext>
            </a:extLst>
          </p:cNvPr>
          <p:cNvSpPr>
            <a:spLocks noGrp="1"/>
          </p:cNvSpPr>
          <p:nvPr>
            <p:ph idx="1"/>
          </p:nvPr>
        </p:nvSpPr>
        <p:spPr>
          <a:xfrm>
            <a:off x="678531" y="2438399"/>
            <a:ext cx="3730810" cy="3505201"/>
          </a:xfrm>
        </p:spPr>
        <p:txBody>
          <a:bodyPr>
            <a:normAutofit/>
          </a:bodyPr>
          <a:lstStyle/>
          <a:p>
            <a:r>
              <a:rPr lang="en-AU">
                <a:solidFill>
                  <a:srgbClr val="FFFFFF"/>
                </a:solidFill>
              </a:rPr>
              <a:t>What dimension of health do you think that activity was related to?</a:t>
            </a:r>
          </a:p>
          <a:p>
            <a:r>
              <a:rPr lang="en-AU">
                <a:solidFill>
                  <a:srgbClr val="FFFFFF"/>
                </a:solidFill>
              </a:rPr>
              <a:t>Why? How does that activity link to that dimension?</a:t>
            </a:r>
          </a:p>
          <a:p>
            <a:r>
              <a:rPr lang="en-AU">
                <a:solidFill>
                  <a:srgbClr val="FFFFFF"/>
                </a:solidFill>
              </a:rPr>
              <a:t>Why is that dimension important for our health?</a:t>
            </a:r>
          </a:p>
          <a:p>
            <a:r>
              <a:rPr lang="en-AU">
                <a:solidFill>
                  <a:srgbClr val="FFFFFF"/>
                </a:solidFill>
              </a:rPr>
              <a:t>What else you think is included in that dimension?</a:t>
            </a:r>
          </a:p>
          <a:p>
            <a:r>
              <a:rPr lang="en-AU">
                <a:solidFill>
                  <a:srgbClr val="FFFFFF"/>
                </a:solidFill>
              </a:rPr>
              <a:t>How do you feel after that activity?</a:t>
            </a:r>
            <a:endParaRPr lang="en-US">
              <a:solidFill>
                <a:srgbClr val="FFFFFF"/>
              </a:solidFill>
            </a:endParaRPr>
          </a:p>
          <a:p>
            <a:endParaRPr lang="en-US">
              <a:solidFill>
                <a:srgbClr val="FFFFFF"/>
              </a:solidFill>
            </a:endParaRPr>
          </a:p>
        </p:txBody>
      </p:sp>
    </p:spTree>
    <p:extLst>
      <p:ext uri="{BB962C8B-B14F-4D97-AF65-F5344CB8AC3E}">
        <p14:creationId xmlns:p14="http://schemas.microsoft.com/office/powerpoint/2010/main" val="3059771191"/>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AAAB002-E48E-4009-828A-511F7A828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uddha figurine with a person sitting on the background holding a beaded necklace">
            <a:extLst>
              <a:ext uri="{FF2B5EF4-FFF2-40B4-BE49-F238E27FC236}">
                <a16:creationId xmlns:a16="http://schemas.microsoft.com/office/drawing/2014/main" id="{443D2B86-2988-C57B-A56E-5EEB0C28016C}"/>
              </a:ext>
            </a:extLst>
          </p:cNvPr>
          <p:cNvPicPr>
            <a:picLocks noChangeAspect="1"/>
          </p:cNvPicPr>
          <p:nvPr/>
        </p:nvPicPr>
        <p:blipFill rotWithShape="1">
          <a:blip r:embed="rId3"/>
          <a:srcRect t="16661" r="9091" b="15158"/>
          <a:stretch/>
        </p:blipFill>
        <p:spPr>
          <a:xfrm>
            <a:off x="20" y="10"/>
            <a:ext cx="12191980" cy="6857990"/>
          </a:xfrm>
          <a:prstGeom prst="rect">
            <a:avLst/>
          </a:prstGeom>
        </p:spPr>
      </p:pic>
      <p:sp>
        <p:nvSpPr>
          <p:cNvPr id="12" name="Rectangle 11">
            <a:extLst>
              <a:ext uri="{FF2B5EF4-FFF2-40B4-BE49-F238E27FC236}">
                <a16:creationId xmlns:a16="http://schemas.microsoft.com/office/drawing/2014/main" id="{97EF55D5-23F0-4398-B16B-AEF5778C30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67" y="423123"/>
            <a:ext cx="4216219"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FDF32581-CAA1-43C6-8532-DC56C8435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67" y="601200"/>
            <a:ext cx="4214869" cy="5757055"/>
          </a:xfrm>
          <a:prstGeom prst="rect">
            <a:avLst/>
          </a:prstGeom>
          <a:solidFill>
            <a:srgbClr val="465359">
              <a:alpha val="97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703122F-898C-9443-BA73-4449E2E97D2D}"/>
              </a:ext>
            </a:extLst>
          </p:cNvPr>
          <p:cNvSpPr>
            <a:spLocks noGrp="1"/>
          </p:cNvSpPr>
          <p:nvPr>
            <p:ph type="title"/>
          </p:nvPr>
        </p:nvSpPr>
        <p:spPr>
          <a:xfrm>
            <a:off x="681540" y="1131195"/>
            <a:ext cx="3730810" cy="1247938"/>
          </a:xfrm>
        </p:spPr>
        <p:txBody>
          <a:bodyPr anchor="ctr">
            <a:normAutofit/>
          </a:bodyPr>
          <a:lstStyle/>
          <a:p>
            <a:r>
              <a:rPr lang="en-US" sz="2600" dirty="0">
                <a:solidFill>
                  <a:srgbClr val="FFFFFF"/>
                </a:solidFill>
              </a:rPr>
              <a:t>Activity 5:</a:t>
            </a:r>
            <a:br>
              <a:rPr lang="en-US" sz="2600" dirty="0">
                <a:solidFill>
                  <a:srgbClr val="FFFFFF"/>
                </a:solidFill>
              </a:rPr>
            </a:br>
            <a:r>
              <a:rPr lang="en-US" sz="2600" dirty="0">
                <a:solidFill>
                  <a:srgbClr val="FFFFFF"/>
                </a:solidFill>
              </a:rPr>
              <a:t>Meditation</a:t>
            </a:r>
          </a:p>
        </p:txBody>
      </p:sp>
      <p:sp>
        <p:nvSpPr>
          <p:cNvPr id="3" name="Content Placeholder 2">
            <a:extLst>
              <a:ext uri="{FF2B5EF4-FFF2-40B4-BE49-F238E27FC236}">
                <a16:creationId xmlns:a16="http://schemas.microsoft.com/office/drawing/2014/main" id="{B5D04D01-3ECE-1446-AF32-6BACD92F9B94}"/>
              </a:ext>
            </a:extLst>
          </p:cNvPr>
          <p:cNvSpPr>
            <a:spLocks noGrp="1"/>
          </p:cNvSpPr>
          <p:nvPr>
            <p:ph idx="1"/>
          </p:nvPr>
        </p:nvSpPr>
        <p:spPr>
          <a:xfrm>
            <a:off x="678531" y="2438399"/>
            <a:ext cx="3730810" cy="3505201"/>
          </a:xfrm>
        </p:spPr>
        <p:txBody>
          <a:bodyPr>
            <a:normAutofit/>
          </a:bodyPr>
          <a:lstStyle/>
          <a:p>
            <a:pPr marL="0" indent="0">
              <a:buNone/>
            </a:pPr>
            <a:endParaRPr lang="en-AU" sz="1700" dirty="0">
              <a:solidFill>
                <a:srgbClr val="FFFFFF"/>
              </a:solidFill>
            </a:endParaRPr>
          </a:p>
          <a:p>
            <a:r>
              <a:rPr lang="en-AU" sz="1700" dirty="0">
                <a:solidFill>
                  <a:srgbClr val="FFFFFF"/>
                </a:solidFill>
              </a:rPr>
              <a:t>What dimension of health do you think that activity was related to?</a:t>
            </a:r>
          </a:p>
          <a:p>
            <a:r>
              <a:rPr lang="en-AU" sz="1700" dirty="0">
                <a:solidFill>
                  <a:srgbClr val="FFFFFF"/>
                </a:solidFill>
              </a:rPr>
              <a:t>Why? How does that activity link to that dimension?</a:t>
            </a:r>
          </a:p>
          <a:p>
            <a:r>
              <a:rPr lang="en-AU" sz="1700" dirty="0">
                <a:solidFill>
                  <a:srgbClr val="FFFFFF"/>
                </a:solidFill>
              </a:rPr>
              <a:t>Why is that dimension important for our health?</a:t>
            </a:r>
          </a:p>
          <a:p>
            <a:r>
              <a:rPr lang="en-AU" sz="1700" dirty="0">
                <a:solidFill>
                  <a:srgbClr val="FFFFFF"/>
                </a:solidFill>
              </a:rPr>
              <a:t>What else you think is included in that dimension?</a:t>
            </a:r>
          </a:p>
          <a:p>
            <a:r>
              <a:rPr lang="en-AU" sz="1700" dirty="0">
                <a:solidFill>
                  <a:srgbClr val="FFFFFF"/>
                </a:solidFill>
              </a:rPr>
              <a:t>How do you feel after that activity?</a:t>
            </a:r>
            <a:endParaRPr lang="en-US" sz="1700" dirty="0">
              <a:solidFill>
                <a:srgbClr val="FFFFFF"/>
              </a:solidFill>
            </a:endParaRPr>
          </a:p>
          <a:p>
            <a:endParaRPr lang="en-US" sz="1700" dirty="0">
              <a:solidFill>
                <a:srgbClr val="FFFFFF"/>
              </a:solidFill>
            </a:endParaRPr>
          </a:p>
        </p:txBody>
      </p:sp>
    </p:spTree>
    <p:extLst>
      <p:ext uri="{BB962C8B-B14F-4D97-AF65-F5344CB8AC3E}">
        <p14:creationId xmlns:p14="http://schemas.microsoft.com/office/powerpoint/2010/main" val="3497197903"/>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C77CC-0E7D-B2D9-4836-8AFC790480B5}"/>
              </a:ext>
            </a:extLst>
          </p:cNvPr>
          <p:cNvSpPr>
            <a:spLocks noGrp="1"/>
          </p:cNvSpPr>
          <p:nvPr>
            <p:ph type="title"/>
          </p:nvPr>
        </p:nvSpPr>
        <p:spPr>
          <a:xfrm>
            <a:off x="581192" y="461653"/>
            <a:ext cx="11029616" cy="1188720"/>
          </a:xfrm>
        </p:spPr>
        <p:txBody>
          <a:bodyPr/>
          <a:lstStyle/>
          <a:p>
            <a:r>
              <a:rPr lang="en-US" dirty="0"/>
              <a:t>Physical dimension of health: 									</a:t>
            </a:r>
            <a:r>
              <a:rPr lang="en-US" dirty="0">
                <a:solidFill>
                  <a:schemeClr val="tx2"/>
                </a:solidFill>
              </a:rPr>
              <a:t>(Pg. 8)</a:t>
            </a:r>
            <a:endParaRPr lang="en-US" dirty="0">
              <a:highlight>
                <a:srgbClr val="FFFF00"/>
              </a:highlight>
            </a:endParaRPr>
          </a:p>
        </p:txBody>
      </p:sp>
      <p:sp>
        <p:nvSpPr>
          <p:cNvPr id="3" name="Content Placeholder 2">
            <a:extLst>
              <a:ext uri="{FF2B5EF4-FFF2-40B4-BE49-F238E27FC236}">
                <a16:creationId xmlns:a16="http://schemas.microsoft.com/office/drawing/2014/main" id="{79D70144-9A6E-2261-8EE2-B4E1E29D7ED0}"/>
              </a:ext>
            </a:extLst>
          </p:cNvPr>
          <p:cNvSpPr>
            <a:spLocks noGrp="1"/>
          </p:cNvSpPr>
          <p:nvPr>
            <p:ph idx="1"/>
          </p:nvPr>
        </p:nvSpPr>
        <p:spPr>
          <a:xfrm>
            <a:off x="581192" y="2340864"/>
            <a:ext cx="6449481" cy="3634486"/>
          </a:xfrm>
        </p:spPr>
        <p:txBody>
          <a:bodyPr/>
          <a:lstStyle/>
          <a:p>
            <a:r>
              <a:rPr lang="en-AU" sz="1800" dirty="0">
                <a:solidFill>
                  <a:schemeClr val="tx1"/>
                </a:solidFill>
              </a:rPr>
              <a:t>Physical Health relates to the functioning of the physical body.</a:t>
            </a:r>
          </a:p>
          <a:p>
            <a:endParaRPr lang="en-AU" sz="1800" dirty="0">
              <a:solidFill>
                <a:schemeClr val="tx1"/>
              </a:solidFill>
            </a:endParaRPr>
          </a:p>
          <a:p>
            <a:r>
              <a:rPr lang="en-AU" dirty="0">
                <a:solidFill>
                  <a:schemeClr val="tx1"/>
                </a:solidFill>
              </a:rPr>
              <a:t>Includes factors such as:</a:t>
            </a:r>
          </a:p>
          <a:p>
            <a:pPr lvl="1"/>
            <a:r>
              <a:rPr lang="en-AU" dirty="0">
                <a:solidFill>
                  <a:schemeClr val="tx1"/>
                </a:solidFill>
              </a:rPr>
              <a:t>Diet</a:t>
            </a:r>
          </a:p>
          <a:p>
            <a:pPr lvl="1"/>
            <a:r>
              <a:rPr lang="en-AU" dirty="0">
                <a:solidFill>
                  <a:schemeClr val="tx1"/>
                </a:solidFill>
              </a:rPr>
              <a:t>Sleep</a:t>
            </a:r>
          </a:p>
          <a:p>
            <a:pPr lvl="1"/>
            <a:r>
              <a:rPr lang="en-AU" dirty="0">
                <a:solidFill>
                  <a:schemeClr val="tx1"/>
                </a:solidFill>
              </a:rPr>
              <a:t>Injury and rehab </a:t>
            </a:r>
          </a:p>
          <a:p>
            <a:pPr lvl="1"/>
            <a:r>
              <a:rPr lang="en-AU" dirty="0">
                <a:solidFill>
                  <a:schemeClr val="tx1"/>
                </a:solidFill>
              </a:rPr>
              <a:t>Hygiene </a:t>
            </a:r>
          </a:p>
          <a:p>
            <a:pPr lvl="1"/>
            <a:r>
              <a:rPr lang="en-AU" dirty="0">
                <a:solidFill>
                  <a:schemeClr val="tx1"/>
                </a:solidFill>
              </a:rPr>
              <a:t>Exercise </a:t>
            </a:r>
          </a:p>
          <a:p>
            <a:endParaRPr lang="en-US" dirty="0"/>
          </a:p>
        </p:txBody>
      </p:sp>
      <p:pic>
        <p:nvPicPr>
          <p:cNvPr id="5" name="Content Placeholder 3">
            <a:extLst>
              <a:ext uri="{FF2B5EF4-FFF2-40B4-BE49-F238E27FC236}">
                <a16:creationId xmlns:a16="http://schemas.microsoft.com/office/drawing/2014/main" id="{BAEB2438-A572-F057-78EA-B113ED38A93C}"/>
              </a:ext>
            </a:extLst>
          </p:cNvPr>
          <p:cNvPicPr>
            <a:picLocks noChangeAspect="1"/>
          </p:cNvPicPr>
          <p:nvPr/>
        </p:nvPicPr>
        <p:blipFill rotWithShape="1">
          <a:blip r:embed="rId3"/>
          <a:srcRect r="6816"/>
          <a:stretch/>
        </p:blipFill>
        <p:spPr>
          <a:xfrm>
            <a:off x="7030674" y="1650373"/>
            <a:ext cx="4580134" cy="5015468"/>
          </a:xfrm>
          <a:prstGeom prst="rect">
            <a:avLst/>
          </a:prstGeom>
        </p:spPr>
      </p:pic>
    </p:spTree>
    <p:extLst>
      <p:ext uri="{BB962C8B-B14F-4D97-AF65-F5344CB8AC3E}">
        <p14:creationId xmlns:p14="http://schemas.microsoft.com/office/powerpoint/2010/main" val="3611739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12FD3-6889-B696-BC81-FBB5326400F3}"/>
              </a:ext>
            </a:extLst>
          </p:cNvPr>
          <p:cNvSpPr>
            <a:spLocks noGrp="1"/>
          </p:cNvSpPr>
          <p:nvPr>
            <p:ph type="title"/>
          </p:nvPr>
        </p:nvSpPr>
        <p:spPr/>
        <p:txBody>
          <a:bodyPr/>
          <a:lstStyle/>
          <a:p>
            <a:r>
              <a:rPr lang="en-US" dirty="0"/>
              <a:t>Social dimension of health: 										</a:t>
            </a:r>
            <a:r>
              <a:rPr lang="en-US" dirty="0">
                <a:solidFill>
                  <a:schemeClr val="tx2"/>
                </a:solidFill>
              </a:rPr>
              <a:t>(Pg. 8)</a:t>
            </a:r>
            <a:endParaRPr lang="en-US" dirty="0"/>
          </a:p>
        </p:txBody>
      </p:sp>
      <p:sp>
        <p:nvSpPr>
          <p:cNvPr id="3" name="Content Placeholder 2">
            <a:extLst>
              <a:ext uri="{FF2B5EF4-FFF2-40B4-BE49-F238E27FC236}">
                <a16:creationId xmlns:a16="http://schemas.microsoft.com/office/drawing/2014/main" id="{1FD4FE8A-28C2-5C7E-93EB-82FBC56CBDFE}"/>
              </a:ext>
            </a:extLst>
          </p:cNvPr>
          <p:cNvSpPr>
            <a:spLocks noGrp="1"/>
          </p:cNvSpPr>
          <p:nvPr>
            <p:ph idx="1"/>
          </p:nvPr>
        </p:nvSpPr>
        <p:spPr>
          <a:xfrm>
            <a:off x="581192" y="2340864"/>
            <a:ext cx="5381459" cy="3634486"/>
          </a:xfrm>
        </p:spPr>
        <p:txBody>
          <a:bodyPr/>
          <a:lstStyle/>
          <a:p>
            <a:r>
              <a:rPr lang="en-US" dirty="0"/>
              <a:t>Involves how we get along with other people.</a:t>
            </a:r>
          </a:p>
          <a:p>
            <a:endParaRPr lang="en-US" dirty="0"/>
          </a:p>
          <a:p>
            <a:r>
              <a:rPr lang="en-US" dirty="0"/>
              <a:t>Includes the ability to make and keep friends and good relationships with family/peers/colleagues.</a:t>
            </a:r>
          </a:p>
          <a:p>
            <a:endParaRPr lang="en-US" dirty="0"/>
          </a:p>
          <a:p>
            <a:r>
              <a:rPr lang="en-US" dirty="0"/>
              <a:t>It means communicating well, showing respect and care for self and others. </a:t>
            </a:r>
          </a:p>
        </p:txBody>
      </p:sp>
      <p:pic>
        <p:nvPicPr>
          <p:cNvPr id="2050" name="Picture 2" descr="6 Ways to Ruin a Friendship - Boundless">
            <a:extLst>
              <a:ext uri="{FF2B5EF4-FFF2-40B4-BE49-F238E27FC236}">
                <a16:creationId xmlns:a16="http://schemas.microsoft.com/office/drawing/2014/main" id="{536C550A-C443-D39A-C8AE-0B28721B43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1" y="2185988"/>
            <a:ext cx="6229349" cy="4672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2850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F11D3-177F-0C1A-DA56-B1FC1DA1E361}"/>
              </a:ext>
            </a:extLst>
          </p:cNvPr>
          <p:cNvSpPr>
            <a:spLocks noGrp="1"/>
          </p:cNvSpPr>
          <p:nvPr>
            <p:ph type="title"/>
          </p:nvPr>
        </p:nvSpPr>
        <p:spPr/>
        <p:txBody>
          <a:bodyPr/>
          <a:lstStyle/>
          <a:p>
            <a:r>
              <a:rPr lang="en-US" dirty="0"/>
              <a:t>Emotional dimension of health: </a:t>
            </a:r>
            <a:r>
              <a:rPr lang="en-US" dirty="0">
                <a:solidFill>
                  <a:schemeClr val="tx2"/>
                </a:solidFill>
              </a:rPr>
              <a:t>								(Pg. 8)</a:t>
            </a:r>
            <a:endParaRPr lang="en-US" dirty="0"/>
          </a:p>
        </p:txBody>
      </p:sp>
      <p:sp>
        <p:nvSpPr>
          <p:cNvPr id="3" name="Content Placeholder 2">
            <a:extLst>
              <a:ext uri="{FF2B5EF4-FFF2-40B4-BE49-F238E27FC236}">
                <a16:creationId xmlns:a16="http://schemas.microsoft.com/office/drawing/2014/main" id="{64BF3742-2310-F607-88B2-E29E83F86945}"/>
              </a:ext>
            </a:extLst>
          </p:cNvPr>
          <p:cNvSpPr>
            <a:spLocks noGrp="1"/>
          </p:cNvSpPr>
          <p:nvPr>
            <p:ph idx="1"/>
          </p:nvPr>
        </p:nvSpPr>
        <p:spPr>
          <a:xfrm>
            <a:off x="581192" y="1890876"/>
            <a:ext cx="10920246" cy="4795673"/>
          </a:xfrm>
        </p:spPr>
        <p:txBody>
          <a:bodyPr>
            <a:normAutofit/>
          </a:bodyPr>
          <a:lstStyle/>
          <a:p>
            <a:r>
              <a:rPr lang="en-US" dirty="0"/>
              <a:t>Encompasses the knowledge and skills to identify personal feelings and the ability to handle those emotions. </a:t>
            </a:r>
          </a:p>
          <a:p>
            <a:endParaRPr lang="en-US" dirty="0"/>
          </a:p>
          <a:p>
            <a:r>
              <a:rPr lang="en-US" dirty="0"/>
              <a:t>Connected to mood. </a:t>
            </a:r>
          </a:p>
          <a:p>
            <a:endParaRPr lang="en-US" dirty="0"/>
          </a:p>
          <a:p>
            <a:r>
              <a:rPr lang="en-US" dirty="0"/>
              <a:t>Also includes the ability to understand other </a:t>
            </a:r>
            <a:br>
              <a:rPr lang="en-US" dirty="0"/>
            </a:br>
            <a:r>
              <a:rPr lang="en-US" dirty="0"/>
              <a:t>people’s emotions. </a:t>
            </a:r>
          </a:p>
          <a:p>
            <a:endParaRPr lang="en-US" dirty="0"/>
          </a:p>
          <a:p>
            <a:r>
              <a:rPr lang="en-US" dirty="0"/>
              <a:t>Includes factors such as: </a:t>
            </a:r>
          </a:p>
          <a:p>
            <a:pPr lvl="1"/>
            <a:r>
              <a:rPr lang="en-US" dirty="0"/>
              <a:t>Our emotions – i.e., happy, sad, angry etc. </a:t>
            </a:r>
          </a:p>
          <a:p>
            <a:pPr lvl="1"/>
            <a:r>
              <a:rPr lang="en-US" dirty="0"/>
              <a:t>Understanding why we may feel a certain way. </a:t>
            </a:r>
          </a:p>
          <a:p>
            <a:pPr lvl="1"/>
            <a:r>
              <a:rPr lang="en-US" dirty="0"/>
              <a:t>Ability to be empathetic and sympathetic. </a:t>
            </a:r>
          </a:p>
        </p:txBody>
      </p:sp>
      <p:pic>
        <p:nvPicPr>
          <p:cNvPr id="3074" name="Picture 2" descr="Fit and Fab: Mental Health is Emotional Health — Compete Magazine">
            <a:extLst>
              <a:ext uri="{FF2B5EF4-FFF2-40B4-BE49-F238E27FC236}">
                <a16:creationId xmlns:a16="http://schemas.microsoft.com/office/drawing/2014/main" id="{D1553692-9C2A-B9B7-B63B-34837EE489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43" r="7118"/>
          <a:stretch/>
        </p:blipFill>
        <p:spPr bwMode="auto">
          <a:xfrm>
            <a:off x="6096000" y="2810283"/>
            <a:ext cx="5743575" cy="33455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361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9165F-CC93-B20E-BEC5-D13C7B514892}"/>
              </a:ext>
            </a:extLst>
          </p:cNvPr>
          <p:cNvSpPr>
            <a:spLocks noGrp="1"/>
          </p:cNvSpPr>
          <p:nvPr>
            <p:ph type="title"/>
          </p:nvPr>
        </p:nvSpPr>
        <p:spPr>
          <a:xfrm>
            <a:off x="581192" y="487843"/>
            <a:ext cx="11029616" cy="1188720"/>
          </a:xfrm>
        </p:spPr>
        <p:txBody>
          <a:bodyPr/>
          <a:lstStyle/>
          <a:p>
            <a:r>
              <a:rPr lang="en-US" dirty="0"/>
              <a:t>Mental dimension of health: 										</a:t>
            </a:r>
            <a:r>
              <a:rPr lang="en-US" dirty="0">
                <a:solidFill>
                  <a:schemeClr val="tx2"/>
                </a:solidFill>
              </a:rPr>
              <a:t>(Pg. 8)</a:t>
            </a:r>
            <a:endParaRPr lang="en-US" dirty="0"/>
          </a:p>
        </p:txBody>
      </p:sp>
      <p:sp>
        <p:nvSpPr>
          <p:cNvPr id="3" name="Content Placeholder 2">
            <a:extLst>
              <a:ext uri="{FF2B5EF4-FFF2-40B4-BE49-F238E27FC236}">
                <a16:creationId xmlns:a16="http://schemas.microsoft.com/office/drawing/2014/main" id="{59FD3556-BCC3-1EC0-27AC-7BD909694E4A}"/>
              </a:ext>
            </a:extLst>
          </p:cNvPr>
          <p:cNvSpPr>
            <a:spLocks noGrp="1"/>
          </p:cNvSpPr>
          <p:nvPr>
            <p:ph idx="1"/>
          </p:nvPr>
        </p:nvSpPr>
        <p:spPr>
          <a:xfrm>
            <a:off x="424030" y="1985963"/>
            <a:ext cx="9305758" cy="4872037"/>
          </a:xfrm>
        </p:spPr>
        <p:txBody>
          <a:bodyPr>
            <a:normAutofit fontScale="92500" lnSpcReduction="20000"/>
          </a:bodyPr>
          <a:lstStyle/>
          <a:p>
            <a:r>
              <a:rPr lang="en-US" dirty="0"/>
              <a:t>Mental refers to the cognitive aspect of health. </a:t>
            </a:r>
          </a:p>
          <a:p>
            <a:endParaRPr lang="en-US" dirty="0"/>
          </a:p>
          <a:p>
            <a:r>
              <a:rPr lang="en-US" dirty="0"/>
              <a:t>More around the functioning of the brain – </a:t>
            </a:r>
            <a:br>
              <a:rPr lang="en-US" dirty="0"/>
            </a:br>
            <a:r>
              <a:rPr lang="en-US" dirty="0"/>
              <a:t>thoughts, behaviours and processing of the mind. </a:t>
            </a:r>
          </a:p>
          <a:p>
            <a:endParaRPr lang="en-US" dirty="0"/>
          </a:p>
          <a:p>
            <a:r>
              <a:rPr lang="en-US" dirty="0"/>
              <a:t>Our ability to cope with daily demands – </a:t>
            </a:r>
            <a:br>
              <a:rPr lang="en-US" dirty="0"/>
            </a:br>
            <a:r>
              <a:rPr lang="en-US" dirty="0"/>
              <a:t>stress, change, problems etc. </a:t>
            </a:r>
          </a:p>
          <a:p>
            <a:endParaRPr lang="en-US" dirty="0"/>
          </a:p>
          <a:p>
            <a:r>
              <a:rPr lang="en-US" dirty="0"/>
              <a:t>Includes factors such as: </a:t>
            </a:r>
          </a:p>
          <a:p>
            <a:pPr lvl="1"/>
            <a:r>
              <a:rPr lang="en-US" dirty="0"/>
              <a:t>Goal setting</a:t>
            </a:r>
          </a:p>
          <a:p>
            <a:pPr lvl="1"/>
            <a:r>
              <a:rPr lang="en-US" dirty="0"/>
              <a:t>Knowledge</a:t>
            </a:r>
          </a:p>
          <a:p>
            <a:pPr lvl="1"/>
            <a:r>
              <a:rPr lang="en-US" dirty="0"/>
              <a:t>Decision making </a:t>
            </a:r>
          </a:p>
          <a:p>
            <a:pPr lvl="1"/>
            <a:r>
              <a:rPr lang="en-US" dirty="0"/>
              <a:t>Problem solving</a:t>
            </a:r>
          </a:p>
          <a:p>
            <a:pPr lvl="1"/>
            <a:r>
              <a:rPr lang="en-US" dirty="0"/>
              <a:t>Addiction </a:t>
            </a:r>
          </a:p>
          <a:p>
            <a:pPr lvl="1"/>
            <a:r>
              <a:rPr lang="en-US" dirty="0"/>
              <a:t>Mental health</a:t>
            </a:r>
          </a:p>
          <a:p>
            <a:endParaRPr lang="en-US" dirty="0"/>
          </a:p>
        </p:txBody>
      </p:sp>
      <p:pic>
        <p:nvPicPr>
          <p:cNvPr id="4" name="Picture 3">
            <a:extLst>
              <a:ext uri="{FF2B5EF4-FFF2-40B4-BE49-F238E27FC236}">
                <a16:creationId xmlns:a16="http://schemas.microsoft.com/office/drawing/2014/main" id="{A1515755-5D0C-494F-82EB-100616766418}"/>
              </a:ext>
            </a:extLst>
          </p:cNvPr>
          <p:cNvPicPr>
            <a:picLocks noChangeAspect="1"/>
          </p:cNvPicPr>
          <p:nvPr/>
        </p:nvPicPr>
        <p:blipFill rotWithShape="1">
          <a:blip r:embed="rId3"/>
          <a:srcRect b="2714"/>
          <a:stretch/>
        </p:blipFill>
        <p:spPr>
          <a:xfrm>
            <a:off x="6315075" y="2136650"/>
            <a:ext cx="5452895" cy="4721350"/>
          </a:xfrm>
          <a:prstGeom prst="rect">
            <a:avLst/>
          </a:prstGeom>
        </p:spPr>
      </p:pic>
    </p:spTree>
    <p:extLst>
      <p:ext uri="{BB962C8B-B14F-4D97-AF65-F5344CB8AC3E}">
        <p14:creationId xmlns:p14="http://schemas.microsoft.com/office/powerpoint/2010/main" val="2603009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04544-D22F-AC09-F9B8-C870C45E9FBA}"/>
              </a:ext>
            </a:extLst>
          </p:cNvPr>
          <p:cNvSpPr>
            <a:spLocks noGrp="1"/>
          </p:cNvSpPr>
          <p:nvPr>
            <p:ph type="title"/>
          </p:nvPr>
        </p:nvSpPr>
        <p:spPr/>
        <p:txBody>
          <a:bodyPr/>
          <a:lstStyle/>
          <a:p>
            <a:r>
              <a:rPr lang="en-US" dirty="0"/>
              <a:t>Spiritual dimension of health: 									</a:t>
            </a:r>
            <a:r>
              <a:rPr lang="en-US" dirty="0">
                <a:solidFill>
                  <a:schemeClr val="tx2"/>
                </a:solidFill>
              </a:rPr>
              <a:t>(Pg. 8)</a:t>
            </a:r>
            <a:endParaRPr lang="en-US" dirty="0"/>
          </a:p>
        </p:txBody>
      </p:sp>
      <p:sp>
        <p:nvSpPr>
          <p:cNvPr id="3" name="Content Placeholder 2">
            <a:extLst>
              <a:ext uri="{FF2B5EF4-FFF2-40B4-BE49-F238E27FC236}">
                <a16:creationId xmlns:a16="http://schemas.microsoft.com/office/drawing/2014/main" id="{B9666C55-C890-271B-E436-3BC1B3FB87E5}"/>
              </a:ext>
            </a:extLst>
          </p:cNvPr>
          <p:cNvSpPr>
            <a:spLocks noGrp="1"/>
          </p:cNvSpPr>
          <p:nvPr>
            <p:ph idx="1"/>
          </p:nvPr>
        </p:nvSpPr>
        <p:spPr>
          <a:xfrm>
            <a:off x="581192" y="2340864"/>
            <a:ext cx="5333833" cy="3634486"/>
          </a:xfrm>
        </p:spPr>
        <p:txBody>
          <a:bodyPr/>
          <a:lstStyle/>
          <a:p>
            <a:r>
              <a:rPr lang="en-US" dirty="0"/>
              <a:t>The need for meaning, purpose and fulfilment in life. </a:t>
            </a:r>
          </a:p>
          <a:p>
            <a:endParaRPr lang="en-US" dirty="0"/>
          </a:p>
          <a:p>
            <a:r>
              <a:rPr lang="en-US" dirty="0"/>
              <a:t>Includes factors such as: </a:t>
            </a:r>
          </a:p>
          <a:p>
            <a:pPr lvl="1"/>
            <a:r>
              <a:rPr lang="en-US" dirty="0"/>
              <a:t>Hope</a:t>
            </a:r>
          </a:p>
          <a:p>
            <a:pPr lvl="1"/>
            <a:r>
              <a:rPr lang="en-US" dirty="0"/>
              <a:t>Religion</a:t>
            </a:r>
          </a:p>
          <a:p>
            <a:pPr lvl="1"/>
            <a:r>
              <a:rPr lang="en-US" dirty="0"/>
              <a:t>Meaning in life</a:t>
            </a:r>
          </a:p>
          <a:p>
            <a:pPr lvl="1"/>
            <a:r>
              <a:rPr lang="en-US" dirty="0"/>
              <a:t>Contentment</a:t>
            </a:r>
          </a:p>
          <a:p>
            <a:pPr lvl="1"/>
            <a:r>
              <a:rPr lang="en-US" dirty="0"/>
              <a:t>Beliefs and morals</a:t>
            </a:r>
          </a:p>
          <a:p>
            <a:pPr lvl="1"/>
            <a:r>
              <a:rPr lang="en-US" dirty="0"/>
              <a:t>Peace</a:t>
            </a:r>
          </a:p>
        </p:txBody>
      </p:sp>
      <p:pic>
        <p:nvPicPr>
          <p:cNvPr id="4098" name="Picture 2" descr="Spiritual Dimension of Health and Wellness: Hope, Faith, and Love | Sassy  Sister Stuff">
            <a:extLst>
              <a:ext uri="{FF2B5EF4-FFF2-40B4-BE49-F238E27FC236}">
                <a16:creationId xmlns:a16="http://schemas.microsoft.com/office/drawing/2014/main" id="{7C88481F-E170-811A-CC1D-89E23A9BFA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5025" y="2111138"/>
            <a:ext cx="6064250" cy="4044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825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7421CC-48A7-F506-2D04-33961645858C}"/>
              </a:ext>
            </a:extLst>
          </p:cNvPr>
          <p:cNvSpPr>
            <a:spLocks noGrp="1"/>
          </p:cNvSpPr>
          <p:nvPr>
            <p:ph type="title"/>
          </p:nvPr>
        </p:nvSpPr>
        <p:spPr>
          <a:xfrm>
            <a:off x="581192" y="702156"/>
            <a:ext cx="11029616" cy="1188720"/>
          </a:xfrm>
        </p:spPr>
        <p:txBody>
          <a:bodyPr>
            <a:normAutofit/>
          </a:bodyPr>
          <a:lstStyle/>
          <a:p>
            <a:r>
              <a:rPr lang="en-US" dirty="0"/>
              <a:t>Reflection: 																	(PG.8) </a:t>
            </a:r>
          </a:p>
        </p:txBody>
      </p:sp>
      <p:sp>
        <p:nvSpPr>
          <p:cNvPr id="12" name="Rectangle 11">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4998BA7B-B535-DFA5-6A46-3E812C6D35A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52372" y="2499053"/>
            <a:ext cx="3405393" cy="3405393"/>
          </a:xfrm>
          <a:prstGeom prst="rect">
            <a:avLst/>
          </a:prstGeom>
        </p:spPr>
      </p:pic>
      <p:sp>
        <p:nvSpPr>
          <p:cNvPr id="3" name="Content Placeholder 2">
            <a:extLst>
              <a:ext uri="{FF2B5EF4-FFF2-40B4-BE49-F238E27FC236}">
                <a16:creationId xmlns:a16="http://schemas.microsoft.com/office/drawing/2014/main" id="{17C4877B-9CD3-0A1F-8EF4-C0DEE91B2025}"/>
              </a:ext>
            </a:extLst>
          </p:cNvPr>
          <p:cNvSpPr>
            <a:spLocks noGrp="1"/>
          </p:cNvSpPr>
          <p:nvPr>
            <p:ph idx="1"/>
          </p:nvPr>
        </p:nvSpPr>
        <p:spPr>
          <a:xfrm>
            <a:off x="6335805" y="2180496"/>
            <a:ext cx="5275001" cy="4045683"/>
          </a:xfrm>
        </p:spPr>
        <p:txBody>
          <a:bodyPr>
            <a:normAutofit/>
          </a:bodyPr>
          <a:lstStyle/>
          <a:p>
            <a:r>
              <a:rPr lang="en-US" dirty="0"/>
              <a:t>In your workbooks, reflect on your own holistic health and answer the questions below:</a:t>
            </a:r>
          </a:p>
          <a:p>
            <a:endParaRPr lang="en-US" dirty="0"/>
          </a:p>
          <a:p>
            <a:pPr marL="342900" indent="-342900">
              <a:buFont typeface="+mj-lt"/>
              <a:buAutoNum type="arabicPeriod"/>
            </a:pPr>
            <a:r>
              <a:rPr lang="en-US" dirty="0"/>
              <a:t>Which dimension of health do you feel you thrive in the most?</a:t>
            </a:r>
          </a:p>
          <a:p>
            <a:pPr marL="342900" indent="-342900">
              <a:buFont typeface="+mj-lt"/>
              <a:buAutoNum type="arabicPeriod"/>
            </a:pPr>
            <a:r>
              <a:rPr lang="en-US" dirty="0"/>
              <a:t>Which dimension of health do you feel you could improve and why?</a:t>
            </a:r>
          </a:p>
        </p:txBody>
      </p:sp>
    </p:spTree>
    <p:extLst>
      <p:ext uri="{BB962C8B-B14F-4D97-AF65-F5344CB8AC3E}">
        <p14:creationId xmlns:p14="http://schemas.microsoft.com/office/powerpoint/2010/main" val="842841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030BA9-BD5D-EE73-3707-C8D6FB6858B9}"/>
              </a:ext>
            </a:extLst>
          </p:cNvPr>
          <p:cNvPicPr>
            <a:picLocks noChangeAspect="1"/>
          </p:cNvPicPr>
          <p:nvPr/>
        </p:nvPicPr>
        <p:blipFill rotWithShape="1">
          <a:blip r:embed="rId2"/>
          <a:srcRect t="7843" b="8514"/>
          <a:stretch/>
        </p:blipFill>
        <p:spPr>
          <a:xfrm>
            <a:off x="-3047" y="10"/>
            <a:ext cx="12191999" cy="6857990"/>
          </a:xfrm>
          <a:prstGeom prst="rect">
            <a:avLst/>
          </a:prstGeom>
        </p:spPr>
      </p:pic>
      <p:sp>
        <p:nvSpPr>
          <p:cNvPr id="18" name="Rectangle 17">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914304-9298-0AF7-AEAD-E7CB0291F04A}"/>
              </a:ext>
            </a:extLst>
          </p:cNvPr>
          <p:cNvSpPr>
            <a:spLocks noGrp="1"/>
          </p:cNvSpPr>
          <p:nvPr>
            <p:ph type="ctrTitle"/>
          </p:nvPr>
        </p:nvSpPr>
        <p:spPr>
          <a:xfrm>
            <a:off x="643466" y="643467"/>
            <a:ext cx="10905059" cy="3330353"/>
          </a:xfrm>
          <a:effectLst>
            <a:outerShdw blurRad="50800" dist="38100" dir="2700000" algn="tl" rotWithShape="0">
              <a:prstClr val="black">
                <a:alpha val="40000"/>
              </a:prstClr>
            </a:outerShdw>
          </a:effectLst>
        </p:spPr>
        <p:txBody>
          <a:bodyPr>
            <a:normAutofit/>
          </a:bodyPr>
          <a:lstStyle/>
          <a:p>
            <a:pPr algn="ctr"/>
            <a:r>
              <a:rPr lang="en-US" dirty="0">
                <a:solidFill>
                  <a:schemeClr val="bg1"/>
                </a:solidFill>
              </a:rPr>
              <a:t>IMPACTS On Health</a:t>
            </a:r>
          </a:p>
        </p:txBody>
      </p:sp>
      <p:sp>
        <p:nvSpPr>
          <p:cNvPr id="3" name="Subtitle 2">
            <a:extLst>
              <a:ext uri="{FF2B5EF4-FFF2-40B4-BE49-F238E27FC236}">
                <a16:creationId xmlns:a16="http://schemas.microsoft.com/office/drawing/2014/main" id="{CF84D835-57B8-5C80-49BB-7E95398E7574}"/>
              </a:ext>
            </a:extLst>
          </p:cNvPr>
          <p:cNvSpPr>
            <a:spLocks noGrp="1"/>
          </p:cNvSpPr>
          <p:nvPr>
            <p:ph type="subTitle" idx="1"/>
          </p:nvPr>
        </p:nvSpPr>
        <p:spPr>
          <a:xfrm>
            <a:off x="643466" y="4133135"/>
            <a:ext cx="10471838" cy="1454510"/>
          </a:xfrm>
          <a:effectLst>
            <a:outerShdw blurRad="50800" dist="38100" dir="2700000" algn="tl" rotWithShape="0">
              <a:prstClr val="black">
                <a:alpha val="40000"/>
              </a:prstClr>
            </a:outerShdw>
          </a:effectLst>
        </p:spPr>
        <p:txBody>
          <a:bodyPr>
            <a:normAutofit/>
          </a:bodyPr>
          <a:lstStyle/>
          <a:p>
            <a:pPr algn="ctr"/>
            <a:r>
              <a:rPr lang="en-US" sz="1800" dirty="0">
                <a:solidFill>
                  <a:schemeClr val="tx1"/>
                </a:solidFill>
              </a:rPr>
              <a:t>Year 10 Health					Lesson 2					Term 3, 2024</a:t>
            </a:r>
          </a:p>
        </p:txBody>
      </p:sp>
      <p:cxnSp>
        <p:nvCxnSpPr>
          <p:cNvPr id="20" name="Straight Connector 19">
            <a:extLst>
              <a:ext uri="{FF2B5EF4-FFF2-40B4-BE49-F238E27FC236}">
                <a16:creationId xmlns:a16="http://schemas.microsoft.com/office/drawing/2014/main" id="{34E5597F-CE67-4085-9548-E6A8036DA3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2803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B9C91F-776B-2231-B66B-44C5A919EB35}"/>
              </a:ext>
            </a:extLst>
          </p:cNvPr>
          <p:cNvSpPr>
            <a:spLocks noGrp="1"/>
          </p:cNvSpPr>
          <p:nvPr>
            <p:ph type="title"/>
          </p:nvPr>
        </p:nvSpPr>
        <p:spPr>
          <a:xfrm>
            <a:off x="581193" y="702156"/>
            <a:ext cx="6309003" cy="1013800"/>
          </a:xfrm>
        </p:spPr>
        <p:txBody>
          <a:bodyPr>
            <a:normAutofit/>
          </a:bodyPr>
          <a:lstStyle/>
          <a:p>
            <a:r>
              <a:rPr lang="en-US" dirty="0">
                <a:solidFill>
                  <a:schemeClr val="tx2"/>
                </a:solidFill>
              </a:rPr>
              <a:t>Today’s Focus</a:t>
            </a:r>
          </a:p>
        </p:txBody>
      </p:sp>
      <p:sp>
        <p:nvSpPr>
          <p:cNvPr id="18" name="Rectangle 17">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6B629D2A-4A91-3214-F524-57C1823230FC}"/>
              </a:ext>
            </a:extLst>
          </p:cNvPr>
          <p:cNvSpPr>
            <a:spLocks noGrp="1"/>
          </p:cNvSpPr>
          <p:nvPr>
            <p:ph idx="1"/>
          </p:nvPr>
        </p:nvSpPr>
        <p:spPr>
          <a:xfrm>
            <a:off x="581194" y="1896533"/>
            <a:ext cx="6309003" cy="3962266"/>
          </a:xfrm>
        </p:spPr>
        <p:txBody>
          <a:bodyPr>
            <a:normAutofit/>
          </a:bodyPr>
          <a:lstStyle/>
          <a:p>
            <a:r>
              <a:rPr lang="en-US" dirty="0">
                <a:solidFill>
                  <a:schemeClr val="tx2"/>
                </a:solidFill>
              </a:rPr>
              <a:t>Define risk factors for health. </a:t>
            </a:r>
          </a:p>
          <a:p>
            <a:r>
              <a:rPr lang="en-US" dirty="0">
                <a:solidFill>
                  <a:schemeClr val="tx2"/>
                </a:solidFill>
              </a:rPr>
              <a:t>Consider how obesity can impact on the dimensions of health. </a:t>
            </a:r>
          </a:p>
          <a:p>
            <a:r>
              <a:rPr lang="en-US" dirty="0">
                <a:solidFill>
                  <a:schemeClr val="tx2"/>
                </a:solidFill>
              </a:rPr>
              <a:t>Introduction to the determinants of health. </a:t>
            </a:r>
          </a:p>
        </p:txBody>
      </p:sp>
      <p:pic>
        <p:nvPicPr>
          <p:cNvPr id="5" name="Picture 4" descr="Many question marks on black background">
            <a:extLst>
              <a:ext uri="{FF2B5EF4-FFF2-40B4-BE49-F238E27FC236}">
                <a16:creationId xmlns:a16="http://schemas.microsoft.com/office/drawing/2014/main" id="{D96225BA-9E5A-7BEC-AC1E-E319C045C9C3}"/>
              </a:ext>
            </a:extLst>
          </p:cNvPr>
          <p:cNvPicPr>
            <a:picLocks noChangeAspect="1"/>
          </p:cNvPicPr>
          <p:nvPr/>
        </p:nvPicPr>
        <p:blipFill rotWithShape="1">
          <a:blip r:embed="rId2"/>
          <a:srcRect l="58454" r="2" b="2"/>
          <a:stretch/>
        </p:blipFill>
        <p:spPr>
          <a:xfrm>
            <a:off x="7521283" y="10"/>
            <a:ext cx="4670717" cy="6857990"/>
          </a:xfrm>
          <a:prstGeom prst="rect">
            <a:avLst/>
          </a:prstGeom>
        </p:spPr>
      </p:pic>
    </p:spTree>
    <p:extLst>
      <p:ext uri="{BB962C8B-B14F-4D97-AF65-F5344CB8AC3E}">
        <p14:creationId xmlns:p14="http://schemas.microsoft.com/office/powerpoint/2010/main" val="29914481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dhesive bandages">
            <a:extLst>
              <a:ext uri="{FF2B5EF4-FFF2-40B4-BE49-F238E27FC236}">
                <a16:creationId xmlns:a16="http://schemas.microsoft.com/office/drawing/2014/main" id="{296CBED1-FCE1-6653-316E-8090696B858D}"/>
              </a:ext>
            </a:extLst>
          </p:cNvPr>
          <p:cNvPicPr>
            <a:picLocks noChangeAspect="1"/>
          </p:cNvPicPr>
          <p:nvPr/>
        </p:nvPicPr>
        <p:blipFill rotWithShape="1">
          <a:blip r:embed="rId3"/>
          <a:srcRect t="15730"/>
          <a:stretch/>
        </p:blipFill>
        <p:spPr>
          <a:xfrm>
            <a:off x="20" y="10"/>
            <a:ext cx="12191980" cy="6857988"/>
          </a:xfrm>
          <a:prstGeom prst="rect">
            <a:avLst/>
          </a:prstGeom>
        </p:spPr>
      </p:pic>
      <p:sp>
        <p:nvSpPr>
          <p:cNvPr id="9" name="Rectangle 8">
            <a:extLst>
              <a:ext uri="{FF2B5EF4-FFF2-40B4-BE49-F238E27FC236}">
                <a16:creationId xmlns:a16="http://schemas.microsoft.com/office/drawing/2014/main" id="{9831CBB7-4817-4B54-A7F9-0AE2D0C47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7029" y="457200"/>
            <a:ext cx="501091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96BC321D-B05F-4857-8880-97F61B9B78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7791" y="601200"/>
            <a:ext cx="5009388" cy="578936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F49517C-0DF2-4DAE-D6FD-F7004829769E}"/>
              </a:ext>
            </a:extLst>
          </p:cNvPr>
          <p:cNvSpPr>
            <a:spLocks noGrp="1"/>
          </p:cNvSpPr>
          <p:nvPr>
            <p:ph type="title"/>
          </p:nvPr>
        </p:nvSpPr>
        <p:spPr>
          <a:xfrm>
            <a:off x="6966184" y="938022"/>
            <a:ext cx="4389261" cy="1188720"/>
          </a:xfrm>
        </p:spPr>
        <p:txBody>
          <a:bodyPr>
            <a:normAutofit/>
          </a:bodyPr>
          <a:lstStyle/>
          <a:p>
            <a:r>
              <a:rPr lang="en-US"/>
              <a:t>HOOK: Dimensions of Health Review</a:t>
            </a:r>
          </a:p>
        </p:txBody>
      </p:sp>
      <p:sp>
        <p:nvSpPr>
          <p:cNvPr id="3" name="Content Placeholder 2">
            <a:extLst>
              <a:ext uri="{FF2B5EF4-FFF2-40B4-BE49-F238E27FC236}">
                <a16:creationId xmlns:a16="http://schemas.microsoft.com/office/drawing/2014/main" id="{467EE33B-AAB6-889C-DE4D-E3D0859E367D}"/>
              </a:ext>
            </a:extLst>
          </p:cNvPr>
          <p:cNvSpPr>
            <a:spLocks noGrp="1"/>
          </p:cNvSpPr>
          <p:nvPr>
            <p:ph idx="1"/>
          </p:nvPr>
        </p:nvSpPr>
        <p:spPr>
          <a:xfrm>
            <a:off x="6966184" y="2340865"/>
            <a:ext cx="4389262" cy="3788474"/>
          </a:xfrm>
        </p:spPr>
        <p:txBody>
          <a:bodyPr>
            <a:normAutofit lnSpcReduction="10000"/>
          </a:bodyPr>
          <a:lstStyle/>
          <a:p>
            <a:pPr>
              <a:lnSpc>
                <a:spcPct val="90000"/>
              </a:lnSpc>
            </a:pPr>
            <a:r>
              <a:rPr lang="en-US" sz="1400"/>
              <a:t>Q1: What is Holistic Health?</a:t>
            </a:r>
          </a:p>
          <a:p>
            <a:pPr lvl="1">
              <a:lnSpc>
                <a:spcPct val="90000"/>
              </a:lnSpc>
            </a:pPr>
            <a:endParaRPr lang="en-US" sz="1400" i="1"/>
          </a:p>
          <a:p>
            <a:pPr lvl="1">
              <a:lnSpc>
                <a:spcPct val="90000"/>
              </a:lnSpc>
            </a:pPr>
            <a:r>
              <a:rPr lang="en-US" sz="1400" i="1"/>
              <a:t>Looking at the health of a whole person, not just the absence of disease or infirmity</a:t>
            </a:r>
            <a:r>
              <a:rPr lang="en-US" sz="1400" dirty="0"/>
              <a:t>. </a:t>
            </a:r>
            <a:endParaRPr lang="en-US" sz="1400"/>
          </a:p>
          <a:p>
            <a:pPr>
              <a:lnSpc>
                <a:spcPct val="90000"/>
              </a:lnSpc>
            </a:pPr>
            <a:endParaRPr lang="en-US" sz="1400"/>
          </a:p>
          <a:p>
            <a:pPr>
              <a:lnSpc>
                <a:spcPct val="90000"/>
              </a:lnSpc>
            </a:pPr>
            <a:r>
              <a:rPr lang="en-US" sz="1400"/>
              <a:t>Q2: Name one dimension + give its definition.</a:t>
            </a:r>
          </a:p>
          <a:p>
            <a:pPr lvl="1">
              <a:lnSpc>
                <a:spcPct val="90000"/>
              </a:lnSpc>
            </a:pPr>
            <a:endParaRPr lang="en-US" sz="1400" i="1"/>
          </a:p>
          <a:p>
            <a:pPr lvl="1">
              <a:lnSpc>
                <a:spcPct val="90000"/>
              </a:lnSpc>
            </a:pPr>
            <a:r>
              <a:rPr lang="en-US" sz="1400" i="1"/>
              <a:t>Physical</a:t>
            </a:r>
          </a:p>
          <a:p>
            <a:pPr lvl="1">
              <a:lnSpc>
                <a:spcPct val="90000"/>
              </a:lnSpc>
            </a:pPr>
            <a:r>
              <a:rPr lang="en-US" sz="1400" i="1"/>
              <a:t>Social</a:t>
            </a:r>
          </a:p>
          <a:p>
            <a:pPr lvl="1">
              <a:lnSpc>
                <a:spcPct val="90000"/>
              </a:lnSpc>
            </a:pPr>
            <a:r>
              <a:rPr lang="en-US" sz="1400" i="1"/>
              <a:t>Emotional</a:t>
            </a:r>
          </a:p>
          <a:p>
            <a:pPr lvl="1">
              <a:lnSpc>
                <a:spcPct val="90000"/>
              </a:lnSpc>
            </a:pPr>
            <a:r>
              <a:rPr lang="en-US" sz="1400" i="1"/>
              <a:t>Spiritual</a:t>
            </a:r>
          </a:p>
          <a:p>
            <a:pPr lvl="1">
              <a:lnSpc>
                <a:spcPct val="90000"/>
              </a:lnSpc>
            </a:pPr>
            <a:r>
              <a:rPr lang="en-US" sz="1400" i="1"/>
              <a:t>Mental</a:t>
            </a:r>
          </a:p>
          <a:p>
            <a:pPr marL="0" indent="0">
              <a:lnSpc>
                <a:spcPct val="90000"/>
              </a:lnSpc>
              <a:buNone/>
            </a:pPr>
            <a:r>
              <a:rPr lang="en-US" sz="1400"/>
              <a:t> </a:t>
            </a:r>
          </a:p>
        </p:txBody>
      </p:sp>
    </p:spTree>
    <p:extLst>
      <p:ext uri="{BB962C8B-B14F-4D97-AF65-F5344CB8AC3E}">
        <p14:creationId xmlns:p14="http://schemas.microsoft.com/office/powerpoint/2010/main" val="2324127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 calcmode="lin" valueType="num">
                                      <p:cBhvr additive="base">
                                        <p:cTn id="1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 calcmode="lin" valueType="num">
                                      <p:cBhvr additive="base">
                                        <p:cTn id="2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anim calcmode="lin" valueType="num">
                                      <p:cBhvr additive="base">
                                        <p:cTn id="2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anim calcmode="lin" valueType="num">
                                      <p:cBhvr additive="base">
                                        <p:cTn id="2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BDFF2-DECE-957A-381E-BC67CEC3CC5C}"/>
              </a:ext>
            </a:extLst>
          </p:cNvPr>
          <p:cNvSpPr>
            <a:spLocks noGrp="1"/>
          </p:cNvSpPr>
          <p:nvPr>
            <p:ph type="title"/>
          </p:nvPr>
        </p:nvSpPr>
        <p:spPr>
          <a:xfrm>
            <a:off x="581192" y="259349"/>
            <a:ext cx="11029616" cy="1188720"/>
          </a:xfrm>
        </p:spPr>
        <p:txBody>
          <a:bodyPr/>
          <a:lstStyle/>
          <a:p>
            <a:r>
              <a:rPr lang="en-US" dirty="0"/>
              <a:t>Obesity in Australia - Adolescents in review:</a:t>
            </a:r>
          </a:p>
        </p:txBody>
      </p:sp>
      <p:pic>
        <p:nvPicPr>
          <p:cNvPr id="5" name="Content Placeholder 4" descr="A graph with blue and black bars&#10;&#10;Description automatically generated">
            <a:extLst>
              <a:ext uri="{FF2B5EF4-FFF2-40B4-BE49-F238E27FC236}">
                <a16:creationId xmlns:a16="http://schemas.microsoft.com/office/drawing/2014/main" id="{76C093E3-CF6D-4231-6A3D-8E98046ED304}"/>
              </a:ext>
            </a:extLst>
          </p:cNvPr>
          <p:cNvPicPr>
            <a:picLocks noGrp="1" noChangeAspect="1"/>
          </p:cNvPicPr>
          <p:nvPr>
            <p:ph idx="1"/>
          </p:nvPr>
        </p:nvPicPr>
        <p:blipFill rotWithShape="1">
          <a:blip r:embed="rId3"/>
          <a:srcRect b="15222"/>
          <a:stretch/>
        </p:blipFill>
        <p:spPr>
          <a:xfrm>
            <a:off x="581192" y="2334443"/>
            <a:ext cx="7487719" cy="3545496"/>
          </a:xfrm>
        </p:spPr>
      </p:pic>
      <p:sp>
        <p:nvSpPr>
          <p:cNvPr id="7" name="TextBox 6">
            <a:extLst>
              <a:ext uri="{FF2B5EF4-FFF2-40B4-BE49-F238E27FC236}">
                <a16:creationId xmlns:a16="http://schemas.microsoft.com/office/drawing/2014/main" id="{7101FD7D-7F3F-2C1A-A8D0-C28D592718E4}"/>
              </a:ext>
            </a:extLst>
          </p:cNvPr>
          <p:cNvSpPr txBox="1"/>
          <p:nvPr/>
        </p:nvSpPr>
        <p:spPr>
          <a:xfrm>
            <a:off x="8088775" y="2608506"/>
            <a:ext cx="4103225" cy="1200329"/>
          </a:xfrm>
          <a:prstGeom prst="rect">
            <a:avLst/>
          </a:prstGeom>
          <a:noFill/>
        </p:spPr>
        <p:txBody>
          <a:bodyPr wrap="square">
            <a:spAutoFit/>
          </a:bodyPr>
          <a:lstStyle/>
          <a:p>
            <a:pPr algn="l"/>
            <a:r>
              <a:rPr lang="en-AU" b="1" i="0" dirty="0">
                <a:solidFill>
                  <a:srgbClr val="45494B"/>
                </a:solidFill>
                <a:effectLst/>
                <a:latin typeface="Open Sans" panose="020B0606030504020204" pitchFamily="34" charset="0"/>
              </a:rPr>
              <a:t>Proportion of children and adolescents aged 2–17 living with overweight and obesity, by age group and sex, 2017–18</a:t>
            </a:r>
          </a:p>
        </p:txBody>
      </p:sp>
      <p:cxnSp>
        <p:nvCxnSpPr>
          <p:cNvPr id="10" name="Straight Arrow Connector 9">
            <a:extLst>
              <a:ext uri="{FF2B5EF4-FFF2-40B4-BE49-F238E27FC236}">
                <a16:creationId xmlns:a16="http://schemas.microsoft.com/office/drawing/2014/main" id="{B208E2FA-CAC0-3FAB-4E1B-86C6310131F9}"/>
              </a:ext>
            </a:extLst>
          </p:cNvPr>
          <p:cNvCxnSpPr>
            <a:cxnSpLocks/>
          </p:cNvCxnSpPr>
          <p:nvPr/>
        </p:nvCxnSpPr>
        <p:spPr>
          <a:xfrm flipV="1">
            <a:off x="3703899" y="2334443"/>
            <a:ext cx="1736202" cy="987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D7D0AD3-149A-E116-FC7A-D2F0652B209E}"/>
              </a:ext>
            </a:extLst>
          </p:cNvPr>
          <p:cNvSpPr txBox="1"/>
          <p:nvPr/>
        </p:nvSpPr>
        <p:spPr>
          <a:xfrm>
            <a:off x="5459965" y="2011277"/>
            <a:ext cx="3125164" cy="646331"/>
          </a:xfrm>
          <a:prstGeom prst="rect">
            <a:avLst/>
          </a:prstGeom>
          <a:noFill/>
        </p:spPr>
        <p:txBody>
          <a:bodyPr wrap="square" rtlCol="0">
            <a:spAutoFit/>
          </a:bodyPr>
          <a:lstStyle/>
          <a:p>
            <a:r>
              <a:rPr lang="en-US" dirty="0"/>
              <a:t>29% of boys aged 15-17 are overweight or obese.</a:t>
            </a:r>
          </a:p>
        </p:txBody>
      </p:sp>
      <p:sp>
        <p:nvSpPr>
          <p:cNvPr id="12" name="TextBox 11">
            <a:extLst>
              <a:ext uri="{FF2B5EF4-FFF2-40B4-BE49-F238E27FC236}">
                <a16:creationId xmlns:a16="http://schemas.microsoft.com/office/drawing/2014/main" id="{7BA7AF45-C161-8BD0-F6BC-E78CB1A44208}"/>
              </a:ext>
            </a:extLst>
          </p:cNvPr>
          <p:cNvSpPr txBox="1"/>
          <p:nvPr/>
        </p:nvSpPr>
        <p:spPr>
          <a:xfrm>
            <a:off x="8088775" y="4406064"/>
            <a:ext cx="3980335" cy="646331"/>
          </a:xfrm>
          <a:prstGeom prst="rect">
            <a:avLst/>
          </a:prstGeom>
          <a:noFill/>
        </p:spPr>
        <p:txBody>
          <a:bodyPr wrap="square" rtlCol="0">
            <a:spAutoFit/>
          </a:bodyPr>
          <a:lstStyle/>
          <a:p>
            <a:r>
              <a:rPr lang="en-US" dirty="0"/>
              <a:t>What does the graph tell us about adolescent weights?</a:t>
            </a:r>
          </a:p>
        </p:txBody>
      </p:sp>
      <p:cxnSp>
        <p:nvCxnSpPr>
          <p:cNvPr id="14" name="Straight Arrow Connector 13">
            <a:extLst>
              <a:ext uri="{FF2B5EF4-FFF2-40B4-BE49-F238E27FC236}">
                <a16:creationId xmlns:a16="http://schemas.microsoft.com/office/drawing/2014/main" id="{F53B7436-5365-02C8-E5B0-533F31A3B2EB}"/>
              </a:ext>
            </a:extLst>
          </p:cNvPr>
          <p:cNvCxnSpPr>
            <a:cxnSpLocks/>
          </p:cNvCxnSpPr>
          <p:nvPr/>
        </p:nvCxnSpPr>
        <p:spPr>
          <a:xfrm>
            <a:off x="3391382" y="4107191"/>
            <a:ext cx="17940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5F6B787-F918-EAB2-C490-221439C125E8}"/>
              </a:ext>
            </a:extLst>
          </p:cNvPr>
          <p:cNvSpPr txBox="1"/>
          <p:nvPr/>
        </p:nvSpPr>
        <p:spPr>
          <a:xfrm>
            <a:off x="5185458" y="3771393"/>
            <a:ext cx="3125164" cy="646331"/>
          </a:xfrm>
          <a:prstGeom prst="rect">
            <a:avLst/>
          </a:prstGeom>
          <a:noFill/>
        </p:spPr>
        <p:txBody>
          <a:bodyPr wrap="square" rtlCol="0">
            <a:spAutoFit/>
          </a:bodyPr>
          <a:lstStyle/>
          <a:p>
            <a:r>
              <a:rPr lang="en-US" dirty="0"/>
              <a:t>24% of girls aged 15-17 are overweight or obese.</a:t>
            </a:r>
          </a:p>
        </p:txBody>
      </p:sp>
      <p:cxnSp>
        <p:nvCxnSpPr>
          <p:cNvPr id="18" name="Straight Arrow Connector 17">
            <a:extLst>
              <a:ext uri="{FF2B5EF4-FFF2-40B4-BE49-F238E27FC236}">
                <a16:creationId xmlns:a16="http://schemas.microsoft.com/office/drawing/2014/main" id="{AC3F14A0-336F-C799-6645-A35EE0D526C1}"/>
              </a:ext>
            </a:extLst>
          </p:cNvPr>
          <p:cNvCxnSpPr>
            <a:cxnSpLocks/>
          </p:cNvCxnSpPr>
          <p:nvPr/>
        </p:nvCxnSpPr>
        <p:spPr>
          <a:xfrm>
            <a:off x="3543782" y="4928170"/>
            <a:ext cx="2150962" cy="9517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72CF492-B028-979D-4C04-83A1659DC3D9}"/>
              </a:ext>
            </a:extLst>
          </p:cNvPr>
          <p:cNvSpPr txBox="1"/>
          <p:nvPr/>
        </p:nvSpPr>
        <p:spPr>
          <a:xfrm>
            <a:off x="5694743" y="5649624"/>
            <a:ext cx="3426107" cy="923330"/>
          </a:xfrm>
          <a:prstGeom prst="rect">
            <a:avLst/>
          </a:prstGeom>
          <a:noFill/>
        </p:spPr>
        <p:txBody>
          <a:bodyPr wrap="square" rtlCol="0">
            <a:spAutoFit/>
          </a:bodyPr>
          <a:lstStyle/>
          <a:p>
            <a:r>
              <a:rPr lang="en-US" dirty="0"/>
              <a:t>26% of the adolescent population, aged15-17 are overweight or obese.</a:t>
            </a:r>
          </a:p>
        </p:txBody>
      </p:sp>
    </p:spTree>
    <p:extLst>
      <p:ext uri="{BB962C8B-B14F-4D97-AF65-F5344CB8AC3E}">
        <p14:creationId xmlns:p14="http://schemas.microsoft.com/office/powerpoint/2010/main" val="332797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77718-2AF6-5110-FCD5-0447908440F0}"/>
              </a:ext>
            </a:extLst>
          </p:cNvPr>
          <p:cNvSpPr>
            <a:spLocks noGrp="1"/>
          </p:cNvSpPr>
          <p:nvPr>
            <p:ph type="title"/>
          </p:nvPr>
        </p:nvSpPr>
        <p:spPr/>
        <p:txBody>
          <a:bodyPr/>
          <a:lstStyle/>
          <a:p>
            <a:r>
              <a:rPr lang="en-US" dirty="0"/>
              <a:t>Obesity in Australia - Adults in review:</a:t>
            </a:r>
          </a:p>
        </p:txBody>
      </p:sp>
      <p:pic>
        <p:nvPicPr>
          <p:cNvPr id="5" name="Content Placeholder 4" descr="A graph of a bar chart&#10;&#10;Description automatically generated with medium confidence">
            <a:extLst>
              <a:ext uri="{FF2B5EF4-FFF2-40B4-BE49-F238E27FC236}">
                <a16:creationId xmlns:a16="http://schemas.microsoft.com/office/drawing/2014/main" id="{9356EB8C-1989-E83D-0088-642E0F7FCACC}"/>
              </a:ext>
            </a:extLst>
          </p:cNvPr>
          <p:cNvPicPr>
            <a:picLocks noGrp="1" noChangeAspect="1"/>
          </p:cNvPicPr>
          <p:nvPr>
            <p:ph idx="1"/>
          </p:nvPr>
        </p:nvPicPr>
        <p:blipFill>
          <a:blip r:embed="rId3"/>
          <a:stretch>
            <a:fillRect/>
          </a:stretch>
        </p:blipFill>
        <p:spPr>
          <a:xfrm>
            <a:off x="293536" y="2320924"/>
            <a:ext cx="7619380" cy="3834920"/>
          </a:xfrm>
        </p:spPr>
      </p:pic>
      <p:sp>
        <p:nvSpPr>
          <p:cNvPr id="6" name="TextBox 5">
            <a:extLst>
              <a:ext uri="{FF2B5EF4-FFF2-40B4-BE49-F238E27FC236}">
                <a16:creationId xmlns:a16="http://schemas.microsoft.com/office/drawing/2014/main" id="{D2CDF838-0DC2-6155-EADD-BAE0D522BE47}"/>
              </a:ext>
            </a:extLst>
          </p:cNvPr>
          <p:cNvSpPr txBox="1"/>
          <p:nvPr/>
        </p:nvSpPr>
        <p:spPr>
          <a:xfrm>
            <a:off x="8088775" y="2019452"/>
            <a:ext cx="4103225" cy="923330"/>
          </a:xfrm>
          <a:prstGeom prst="rect">
            <a:avLst/>
          </a:prstGeom>
          <a:noFill/>
        </p:spPr>
        <p:txBody>
          <a:bodyPr wrap="square">
            <a:spAutoFit/>
          </a:bodyPr>
          <a:lstStyle/>
          <a:p>
            <a:pPr algn="l"/>
            <a:r>
              <a:rPr lang="en-AU" b="1" i="0" dirty="0">
                <a:solidFill>
                  <a:srgbClr val="45494B"/>
                </a:solidFill>
                <a:effectLst/>
                <a:latin typeface="Open Sans" panose="020B0606030504020204" pitchFamily="34" charset="0"/>
              </a:rPr>
              <a:t>Proportion of adults living with overweight and obesity, by age group and sex, 2017–18</a:t>
            </a:r>
          </a:p>
        </p:txBody>
      </p:sp>
      <p:sp>
        <p:nvSpPr>
          <p:cNvPr id="7" name="TextBox 6">
            <a:extLst>
              <a:ext uri="{FF2B5EF4-FFF2-40B4-BE49-F238E27FC236}">
                <a16:creationId xmlns:a16="http://schemas.microsoft.com/office/drawing/2014/main" id="{41FC8EF0-B9A3-3A1F-8DE7-EFF8F077CA2F}"/>
              </a:ext>
            </a:extLst>
          </p:cNvPr>
          <p:cNvSpPr txBox="1"/>
          <p:nvPr/>
        </p:nvSpPr>
        <p:spPr>
          <a:xfrm>
            <a:off x="8088775" y="3251103"/>
            <a:ext cx="3980335" cy="2862322"/>
          </a:xfrm>
          <a:prstGeom prst="rect">
            <a:avLst/>
          </a:prstGeom>
          <a:noFill/>
        </p:spPr>
        <p:txBody>
          <a:bodyPr wrap="square" rtlCol="0">
            <a:spAutoFit/>
          </a:bodyPr>
          <a:lstStyle/>
          <a:p>
            <a:r>
              <a:rPr lang="en-US" dirty="0"/>
              <a:t>What does the graph tell us about adult weights?</a:t>
            </a:r>
          </a:p>
          <a:p>
            <a:endParaRPr lang="en-US" dirty="0"/>
          </a:p>
          <a:p>
            <a:pPr marL="285750" indent="-285750">
              <a:buFont typeface="Arial" panose="020B0604020202020204" pitchFamily="34" charset="0"/>
              <a:buChar char="•"/>
            </a:pPr>
            <a:r>
              <a:rPr lang="en-US" dirty="0"/>
              <a:t>Obesity rates increase with age. </a:t>
            </a:r>
          </a:p>
          <a:p>
            <a:pPr marL="285750" indent="-285750">
              <a:buFontTx/>
              <a:buChar char="-"/>
            </a:pPr>
            <a:endParaRPr lang="en-US" dirty="0"/>
          </a:p>
          <a:p>
            <a:r>
              <a:rPr lang="en-US" dirty="0"/>
              <a:t>Why is this a significant fact?</a:t>
            </a:r>
          </a:p>
          <a:p>
            <a:endParaRPr lang="en-US" dirty="0"/>
          </a:p>
          <a:p>
            <a:pPr marL="285750" indent="-285750">
              <a:buFont typeface="Arial" panose="020B0604020202020204" pitchFamily="34" charset="0"/>
              <a:buChar char="•"/>
            </a:pPr>
            <a:r>
              <a:rPr lang="en-US" dirty="0"/>
              <a:t>Our health when we are young can have a significant impact on our health as we get older. </a:t>
            </a:r>
          </a:p>
        </p:txBody>
      </p:sp>
    </p:spTree>
    <p:extLst>
      <p:ext uri="{BB962C8B-B14F-4D97-AF65-F5344CB8AC3E}">
        <p14:creationId xmlns:p14="http://schemas.microsoft.com/office/powerpoint/2010/main" val="3040661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 calcmode="lin" valueType="num">
                                      <p:cBhvr additive="base">
                                        <p:cTn id="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anim calcmode="lin" valueType="num">
                                      <p:cBhvr additive="base">
                                        <p:cTn id="1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anim calcmode="lin" valueType="num">
                                      <p:cBhvr additive="base">
                                        <p:cTn id="1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DDC3EF6-2EA5-44B3-94C7-9DDA67A12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87925A9A-E9FA-496E-9C09-7C2845E00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2073ABB4-E164-4CBF-ADFF-25552BB7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1259A422-0023-4292-8200-E080556F3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89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2413CA5-4739-4BC9-8BB3-B0A4928D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A59991D-43A0-DBD1-959D-14DC783AD019}"/>
              </a:ext>
            </a:extLst>
          </p:cNvPr>
          <p:cNvPicPr>
            <a:picLocks noGrp="1" noChangeAspect="1"/>
          </p:cNvPicPr>
          <p:nvPr>
            <p:ph idx="1"/>
          </p:nvPr>
        </p:nvPicPr>
        <p:blipFill>
          <a:blip r:embed="rId3"/>
          <a:stretch>
            <a:fillRect/>
          </a:stretch>
        </p:blipFill>
        <p:spPr>
          <a:xfrm>
            <a:off x="1121834" y="643467"/>
            <a:ext cx="9948332" cy="5571066"/>
          </a:xfrm>
          <a:prstGeom prst="rect">
            <a:avLst/>
          </a:prstGeom>
        </p:spPr>
      </p:pic>
    </p:spTree>
    <p:extLst>
      <p:ext uri="{BB962C8B-B14F-4D97-AF65-F5344CB8AC3E}">
        <p14:creationId xmlns:p14="http://schemas.microsoft.com/office/powerpoint/2010/main" val="26680746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BFE7A-B24F-12E5-B34F-D95C0ADED809}"/>
              </a:ext>
            </a:extLst>
          </p:cNvPr>
          <p:cNvSpPr>
            <a:spLocks noGrp="1"/>
          </p:cNvSpPr>
          <p:nvPr>
            <p:ph type="title"/>
          </p:nvPr>
        </p:nvSpPr>
        <p:spPr>
          <a:xfrm>
            <a:off x="581192" y="702156"/>
            <a:ext cx="11029616" cy="1188720"/>
          </a:xfrm>
        </p:spPr>
        <p:txBody>
          <a:bodyPr>
            <a:normAutofit/>
          </a:bodyPr>
          <a:lstStyle/>
          <a:p>
            <a:r>
              <a:rPr lang="en-US" dirty="0"/>
              <a:t>Risk factors: 																</a:t>
            </a:r>
            <a:r>
              <a:rPr lang="en-US" dirty="0">
                <a:solidFill>
                  <a:schemeClr val="tx2"/>
                </a:solidFill>
              </a:rPr>
              <a:t>(Pg. 9)</a:t>
            </a:r>
            <a:endParaRPr lang="en-US" dirty="0"/>
          </a:p>
        </p:txBody>
      </p:sp>
      <p:sp>
        <p:nvSpPr>
          <p:cNvPr id="5127" name="Rectangle 5126">
            <a:extLst>
              <a:ext uri="{FF2B5EF4-FFF2-40B4-BE49-F238E27FC236}">
                <a16:creationId xmlns:a16="http://schemas.microsoft.com/office/drawing/2014/main" id="{7A4CA679-3546-4E14-8FB8-F57168C37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29" name="Rectangle 5128">
            <a:extLst>
              <a:ext uri="{FF2B5EF4-FFF2-40B4-BE49-F238E27FC236}">
                <a16:creationId xmlns:a16="http://schemas.microsoft.com/office/drawing/2014/main" id="{44D16E90-7C64-4C04-A50A-B866A1A92B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31" name="Rectangle 5130">
            <a:extLst>
              <a:ext uri="{FF2B5EF4-FFF2-40B4-BE49-F238E27FC236}">
                <a16:creationId xmlns:a16="http://schemas.microsoft.com/office/drawing/2014/main" id="{DBE4DD59-5AA2-46C6-B6A8-9B4C62D19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33" name="Rectangle 5132">
            <a:extLst>
              <a:ext uri="{FF2B5EF4-FFF2-40B4-BE49-F238E27FC236}">
                <a16:creationId xmlns:a16="http://schemas.microsoft.com/office/drawing/2014/main" id="{160CE81C-67DC-489E-BFFB-877C80B854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rgbClr val="FFFFFF">
              <a:alpha val="80000"/>
            </a:srgbClr>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38 Risk Factor Examples (2024)">
            <a:extLst>
              <a:ext uri="{FF2B5EF4-FFF2-40B4-BE49-F238E27FC236}">
                <a16:creationId xmlns:a16="http://schemas.microsoft.com/office/drawing/2014/main" id="{B1F4E9C7-C5E3-6064-F045-60FB1C57D7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04" r="279" b="-2"/>
          <a:stretch/>
        </p:blipFill>
        <p:spPr bwMode="auto">
          <a:xfrm>
            <a:off x="611392" y="2347105"/>
            <a:ext cx="5074920" cy="371246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A4C1734B-91A0-B1D5-2AAE-68D5D5317077}"/>
              </a:ext>
            </a:extLst>
          </p:cNvPr>
          <p:cNvSpPr>
            <a:spLocks noGrp="1"/>
          </p:cNvSpPr>
          <p:nvPr>
            <p:ph idx="1"/>
          </p:nvPr>
        </p:nvSpPr>
        <p:spPr>
          <a:xfrm>
            <a:off x="6093490" y="1548194"/>
            <a:ext cx="5743140" cy="4852606"/>
          </a:xfrm>
        </p:spPr>
        <p:txBody>
          <a:bodyPr>
            <a:normAutofit/>
          </a:bodyPr>
          <a:lstStyle/>
          <a:p>
            <a:r>
              <a:rPr lang="en-US" dirty="0"/>
              <a:t>There are a range of factors that can contribute to poor health outcomes.</a:t>
            </a:r>
          </a:p>
          <a:p>
            <a:endParaRPr lang="en-US" dirty="0"/>
          </a:p>
          <a:p>
            <a:r>
              <a:rPr lang="en-US" dirty="0"/>
              <a:t>Risk factors are a factor that increases the risk of developing something negative. </a:t>
            </a:r>
          </a:p>
          <a:p>
            <a:pPr lvl="1"/>
            <a:r>
              <a:rPr lang="en-US" dirty="0"/>
              <a:t>For example, a risk factor for skin cancer is tanning in the sun with no sunscreen or having a family history of skin cancer. </a:t>
            </a:r>
          </a:p>
          <a:p>
            <a:pPr lvl="1"/>
            <a:r>
              <a:rPr lang="en-US" dirty="0"/>
              <a:t>Tanning and family history are both </a:t>
            </a:r>
            <a:r>
              <a:rPr lang="en-US" b="1" u="sng" dirty="0"/>
              <a:t>factors that can increase the risk </a:t>
            </a:r>
            <a:r>
              <a:rPr lang="en-US" dirty="0"/>
              <a:t>of developing skin cancer. </a:t>
            </a:r>
          </a:p>
        </p:txBody>
      </p:sp>
    </p:spTree>
    <p:extLst>
      <p:ext uri="{BB962C8B-B14F-4D97-AF65-F5344CB8AC3E}">
        <p14:creationId xmlns:p14="http://schemas.microsoft.com/office/powerpoint/2010/main" val="589139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73CF6F-4FCA-2A63-D176-D803C1BF360A}"/>
              </a:ext>
            </a:extLst>
          </p:cNvPr>
          <p:cNvSpPr>
            <a:spLocks noGrp="1"/>
          </p:cNvSpPr>
          <p:nvPr>
            <p:ph type="title"/>
          </p:nvPr>
        </p:nvSpPr>
        <p:spPr>
          <a:xfrm>
            <a:off x="581193" y="702156"/>
            <a:ext cx="6309003" cy="1013800"/>
          </a:xfrm>
        </p:spPr>
        <p:txBody>
          <a:bodyPr>
            <a:normAutofit/>
          </a:bodyPr>
          <a:lstStyle/>
          <a:p>
            <a:r>
              <a:rPr lang="en-US" dirty="0">
                <a:solidFill>
                  <a:schemeClr val="tx2"/>
                </a:solidFill>
              </a:rPr>
              <a:t>GLOSSARY: 								(Pg. 6)</a:t>
            </a:r>
            <a:endParaRPr lang="en-US" dirty="0">
              <a:solidFill>
                <a:schemeClr val="tx2"/>
              </a:solidFill>
              <a:highlight>
                <a:srgbClr val="FFFF00"/>
              </a:highlight>
            </a:endParaRPr>
          </a:p>
        </p:txBody>
      </p:sp>
      <p:sp>
        <p:nvSpPr>
          <p:cNvPr id="20" name="Rectangle 19">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50561FC8-6D65-AA8A-D6E4-E5542E62296E}"/>
              </a:ext>
            </a:extLst>
          </p:cNvPr>
          <p:cNvSpPr>
            <a:spLocks noGrp="1"/>
          </p:cNvSpPr>
          <p:nvPr>
            <p:ph idx="1"/>
          </p:nvPr>
        </p:nvSpPr>
        <p:spPr>
          <a:xfrm>
            <a:off x="581194" y="1896533"/>
            <a:ext cx="6309003" cy="3962266"/>
          </a:xfrm>
        </p:spPr>
        <p:txBody>
          <a:bodyPr>
            <a:normAutofit/>
          </a:bodyPr>
          <a:lstStyle/>
          <a:p>
            <a:pPr marL="0" indent="0">
              <a:buNone/>
            </a:pPr>
            <a:r>
              <a:rPr lang="en-US" sz="1800" dirty="0"/>
              <a:t>At the front of your books is your glossary.  Turn to your glossary and add the following words and their definitions:</a:t>
            </a:r>
          </a:p>
          <a:p>
            <a:pPr marL="0" indent="0">
              <a:buNone/>
            </a:pPr>
            <a:endParaRPr lang="en-US" dirty="0">
              <a:solidFill>
                <a:schemeClr val="tx2"/>
              </a:solidFill>
            </a:endParaRPr>
          </a:p>
          <a:p>
            <a:r>
              <a:rPr lang="en-US" b="1" i="1" dirty="0">
                <a:solidFill>
                  <a:schemeClr val="tx2"/>
                </a:solidFill>
              </a:rPr>
              <a:t>Risk factor:</a:t>
            </a:r>
          </a:p>
          <a:p>
            <a:pPr lvl="1"/>
            <a:r>
              <a:rPr lang="en-US" dirty="0">
                <a:solidFill>
                  <a:schemeClr val="tx2"/>
                </a:solidFill>
              </a:rPr>
              <a:t>A factor that increases the risk of a person developing a disease or condition. </a:t>
            </a:r>
          </a:p>
        </p:txBody>
      </p:sp>
      <p:pic>
        <p:nvPicPr>
          <p:cNvPr id="4" name="Picture 3" descr="Close-up of stacked books">
            <a:extLst>
              <a:ext uri="{FF2B5EF4-FFF2-40B4-BE49-F238E27FC236}">
                <a16:creationId xmlns:a16="http://schemas.microsoft.com/office/drawing/2014/main" id="{6CCB14CE-8CFC-9928-5CCD-9548B783B2C0}"/>
              </a:ext>
            </a:extLst>
          </p:cNvPr>
          <p:cNvPicPr>
            <a:picLocks noChangeAspect="1"/>
          </p:cNvPicPr>
          <p:nvPr/>
        </p:nvPicPr>
        <p:blipFill rotWithShape="1">
          <a:blip r:embed="rId2"/>
          <a:srcRect l="61690"/>
          <a:stretch/>
        </p:blipFill>
        <p:spPr>
          <a:xfrm>
            <a:off x="7521283" y="10"/>
            <a:ext cx="4670717" cy="6857990"/>
          </a:xfrm>
          <a:prstGeom prst="rect">
            <a:avLst/>
          </a:prstGeom>
        </p:spPr>
      </p:pic>
    </p:spTree>
    <p:extLst>
      <p:ext uri="{BB962C8B-B14F-4D97-AF65-F5344CB8AC3E}">
        <p14:creationId xmlns:p14="http://schemas.microsoft.com/office/powerpoint/2010/main" val="6602681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152F4-DB58-6144-809A-A03A17592C7C}"/>
              </a:ext>
            </a:extLst>
          </p:cNvPr>
          <p:cNvSpPr>
            <a:spLocks noGrp="1"/>
          </p:cNvSpPr>
          <p:nvPr>
            <p:ph type="title"/>
          </p:nvPr>
        </p:nvSpPr>
        <p:spPr>
          <a:xfrm>
            <a:off x="44757" y="1096131"/>
            <a:ext cx="5295406" cy="4547349"/>
          </a:xfrm>
        </p:spPr>
        <p:txBody>
          <a:bodyPr>
            <a:normAutofit/>
          </a:bodyPr>
          <a:lstStyle/>
          <a:p>
            <a:pPr algn="ctr"/>
            <a:r>
              <a:rPr lang="en-US" b="1" dirty="0">
                <a:solidFill>
                  <a:schemeClr val="tx1"/>
                </a:solidFill>
              </a:rPr>
              <a:t>Activity 1: </a:t>
            </a:r>
            <a:br>
              <a:rPr lang="en-US" b="1" dirty="0">
                <a:solidFill>
                  <a:schemeClr val="tx1"/>
                </a:solidFill>
              </a:rPr>
            </a:br>
            <a:r>
              <a:rPr lang="en-US" b="1" dirty="0">
                <a:solidFill>
                  <a:schemeClr val="tx1"/>
                </a:solidFill>
              </a:rPr>
              <a:t>risk factors for OBESITY </a:t>
            </a:r>
            <a:br>
              <a:rPr lang="en-US" b="1" dirty="0">
                <a:solidFill>
                  <a:schemeClr val="tx1"/>
                </a:solidFill>
              </a:rPr>
            </a:br>
            <a:r>
              <a:rPr lang="en-US" dirty="0">
                <a:solidFill>
                  <a:schemeClr val="tx2"/>
                </a:solidFill>
              </a:rPr>
              <a:t>(Pg. 9)</a:t>
            </a:r>
            <a:br>
              <a:rPr lang="en-US" dirty="0">
                <a:solidFill>
                  <a:schemeClr val="tx1"/>
                </a:solidFill>
              </a:rPr>
            </a:br>
            <a:br>
              <a:rPr lang="en-US" sz="2000" i="1" cap="none" dirty="0">
                <a:solidFill>
                  <a:schemeClr val="tx1"/>
                </a:solidFill>
              </a:rPr>
            </a:br>
            <a:r>
              <a:rPr lang="en-US" sz="1600" i="1" cap="none" dirty="0">
                <a:solidFill>
                  <a:schemeClr val="tx1"/>
                </a:solidFill>
              </a:rPr>
              <a:t>Risk factors = a factor that increases the risk of developing something.</a:t>
            </a:r>
            <a:br>
              <a:rPr lang="en-US" sz="1600" i="1" cap="none" dirty="0">
                <a:solidFill>
                  <a:schemeClr val="tx1"/>
                </a:solidFill>
              </a:rPr>
            </a:br>
            <a:br>
              <a:rPr lang="en-US" sz="1600" i="1" cap="none" dirty="0">
                <a:solidFill>
                  <a:schemeClr val="tx1"/>
                </a:solidFill>
              </a:rPr>
            </a:br>
            <a:r>
              <a:rPr lang="en-US" sz="1600" i="1" cap="none" dirty="0">
                <a:solidFill>
                  <a:schemeClr val="tx1"/>
                </a:solidFill>
              </a:rPr>
              <a:t>What increases the risk of a person becoming overweight or obese?</a:t>
            </a:r>
            <a:br>
              <a:rPr lang="en-US" sz="1600" i="1" cap="none" dirty="0">
                <a:solidFill>
                  <a:schemeClr val="tx1"/>
                </a:solidFill>
              </a:rPr>
            </a:br>
            <a:br>
              <a:rPr lang="en-US" sz="1600" i="1" cap="none" dirty="0">
                <a:solidFill>
                  <a:schemeClr val="tx1"/>
                </a:solidFill>
              </a:rPr>
            </a:br>
            <a:br>
              <a:rPr lang="en-US" sz="1600" i="1" cap="none" dirty="0">
                <a:solidFill>
                  <a:schemeClr val="tx1"/>
                </a:solidFill>
              </a:rPr>
            </a:br>
            <a:r>
              <a:rPr lang="en-US" sz="2000" cap="none" dirty="0">
                <a:solidFill>
                  <a:schemeClr val="tx1"/>
                </a:solidFill>
              </a:rPr>
              <a:t>In your books, brainstorm a list of factors that can contribute to obesity:</a:t>
            </a:r>
            <a:endParaRPr lang="en-US" i="1" dirty="0">
              <a:solidFill>
                <a:schemeClr val="tx1"/>
              </a:solidFill>
            </a:endParaRPr>
          </a:p>
        </p:txBody>
      </p:sp>
      <p:sp>
        <p:nvSpPr>
          <p:cNvPr id="4" name="Oval 3"/>
          <p:cNvSpPr/>
          <p:nvPr/>
        </p:nvSpPr>
        <p:spPr>
          <a:xfrm>
            <a:off x="6565642" y="2463800"/>
            <a:ext cx="3384366" cy="1930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ln w="0"/>
                <a:solidFill>
                  <a:schemeClr val="tx1"/>
                </a:solidFill>
                <a:effectLst>
                  <a:outerShdw blurRad="38100" dist="19050" dir="2700000" algn="tl" rotWithShape="0">
                    <a:schemeClr val="dk1">
                      <a:alpha val="40000"/>
                    </a:schemeClr>
                  </a:outerShdw>
                </a:effectLst>
              </a:rPr>
              <a:t>Obesity: Risk Factors</a:t>
            </a:r>
            <a:r>
              <a:rPr lang="en-AU" dirty="0"/>
              <a:t> </a:t>
            </a:r>
          </a:p>
        </p:txBody>
      </p:sp>
      <p:sp>
        <p:nvSpPr>
          <p:cNvPr id="6" name="TextBox 5"/>
          <p:cNvSpPr txBox="1"/>
          <p:nvPr/>
        </p:nvSpPr>
        <p:spPr>
          <a:xfrm>
            <a:off x="6085583" y="1915142"/>
            <a:ext cx="1713098" cy="276999"/>
          </a:xfrm>
          <a:prstGeom prst="rect">
            <a:avLst/>
          </a:prstGeom>
          <a:noFill/>
        </p:spPr>
        <p:txBody>
          <a:bodyPr wrap="none" rtlCol="0">
            <a:spAutoFit/>
          </a:bodyPr>
          <a:lstStyle/>
          <a:p>
            <a:r>
              <a:rPr lang="en-AU" sz="1200" dirty="0"/>
              <a:t>Too much bad/junk food</a:t>
            </a:r>
          </a:p>
        </p:txBody>
      </p:sp>
      <p:sp>
        <p:nvSpPr>
          <p:cNvPr id="7" name="TextBox 6"/>
          <p:cNvSpPr txBox="1"/>
          <p:nvPr/>
        </p:nvSpPr>
        <p:spPr>
          <a:xfrm flipH="1">
            <a:off x="5955826" y="4824473"/>
            <a:ext cx="2568172" cy="276999"/>
          </a:xfrm>
          <a:prstGeom prst="rect">
            <a:avLst/>
          </a:prstGeom>
          <a:noFill/>
        </p:spPr>
        <p:txBody>
          <a:bodyPr wrap="square" rtlCol="0">
            <a:spAutoFit/>
          </a:bodyPr>
          <a:lstStyle/>
          <a:p>
            <a:r>
              <a:rPr lang="en-AU" sz="1200" dirty="0"/>
              <a:t>Excessive food/drink</a:t>
            </a:r>
          </a:p>
        </p:txBody>
      </p:sp>
      <p:sp>
        <p:nvSpPr>
          <p:cNvPr id="9" name="TextBox 8"/>
          <p:cNvSpPr txBox="1"/>
          <p:nvPr/>
        </p:nvSpPr>
        <p:spPr>
          <a:xfrm>
            <a:off x="7423536" y="1258992"/>
            <a:ext cx="2776209" cy="276999"/>
          </a:xfrm>
          <a:prstGeom prst="rect">
            <a:avLst/>
          </a:prstGeom>
          <a:noFill/>
        </p:spPr>
        <p:txBody>
          <a:bodyPr wrap="none" rtlCol="0">
            <a:spAutoFit/>
          </a:bodyPr>
          <a:lstStyle/>
          <a:p>
            <a:r>
              <a:rPr lang="en-AU" sz="1200" dirty="0"/>
              <a:t>Not enough exercise </a:t>
            </a:r>
            <a:r>
              <a:rPr lang="en-AU" sz="1200" dirty="0">
                <a:sym typeface="Wingdings" pitchFamily="2" charset="2"/>
              </a:rPr>
              <a:t> </a:t>
            </a:r>
            <a:r>
              <a:rPr lang="en-AU" sz="1200" dirty="0"/>
              <a:t>output of energy</a:t>
            </a:r>
          </a:p>
        </p:txBody>
      </p:sp>
      <p:sp>
        <p:nvSpPr>
          <p:cNvPr id="11" name="TextBox 10"/>
          <p:cNvSpPr txBox="1"/>
          <p:nvPr/>
        </p:nvSpPr>
        <p:spPr>
          <a:xfrm>
            <a:off x="8375670" y="5393244"/>
            <a:ext cx="1339919" cy="276999"/>
          </a:xfrm>
          <a:prstGeom prst="rect">
            <a:avLst/>
          </a:prstGeom>
          <a:noFill/>
        </p:spPr>
        <p:txBody>
          <a:bodyPr wrap="none" rtlCol="0">
            <a:spAutoFit/>
          </a:bodyPr>
          <a:lstStyle/>
          <a:p>
            <a:r>
              <a:rPr lang="en-AU" sz="1200" dirty="0"/>
              <a:t>Too much alcohol </a:t>
            </a:r>
          </a:p>
        </p:txBody>
      </p:sp>
      <p:sp>
        <p:nvSpPr>
          <p:cNvPr id="13" name="TextBox 12"/>
          <p:cNvSpPr txBox="1"/>
          <p:nvPr/>
        </p:nvSpPr>
        <p:spPr>
          <a:xfrm>
            <a:off x="10199745" y="2068647"/>
            <a:ext cx="1279517" cy="1015663"/>
          </a:xfrm>
          <a:prstGeom prst="rect">
            <a:avLst/>
          </a:prstGeom>
          <a:noFill/>
        </p:spPr>
        <p:txBody>
          <a:bodyPr wrap="none" rtlCol="0">
            <a:spAutoFit/>
          </a:bodyPr>
          <a:lstStyle/>
          <a:p>
            <a:r>
              <a:rPr lang="en-AU" sz="1200" dirty="0"/>
              <a:t>Biological factors:</a:t>
            </a:r>
          </a:p>
          <a:p>
            <a:r>
              <a:rPr lang="en-AU" sz="1200" dirty="0"/>
              <a:t>Age</a:t>
            </a:r>
          </a:p>
          <a:p>
            <a:r>
              <a:rPr lang="en-AU" sz="1200" dirty="0"/>
              <a:t>Gender</a:t>
            </a:r>
          </a:p>
          <a:p>
            <a:r>
              <a:rPr lang="en-AU" sz="1200" dirty="0"/>
              <a:t>Race/ethnicity</a:t>
            </a:r>
          </a:p>
          <a:p>
            <a:r>
              <a:rPr lang="en-AU" sz="1200" dirty="0"/>
              <a:t>Genetics</a:t>
            </a:r>
          </a:p>
        </p:txBody>
      </p:sp>
      <p:sp>
        <p:nvSpPr>
          <p:cNvPr id="5" name="TextBox 4">
            <a:extLst>
              <a:ext uri="{FF2B5EF4-FFF2-40B4-BE49-F238E27FC236}">
                <a16:creationId xmlns:a16="http://schemas.microsoft.com/office/drawing/2014/main" id="{1AFF12F2-76B7-CD46-4134-A791C1596F60}"/>
              </a:ext>
            </a:extLst>
          </p:cNvPr>
          <p:cNvSpPr txBox="1"/>
          <p:nvPr/>
        </p:nvSpPr>
        <p:spPr>
          <a:xfrm>
            <a:off x="9468091" y="4394200"/>
            <a:ext cx="2279094" cy="461665"/>
          </a:xfrm>
          <a:prstGeom prst="rect">
            <a:avLst/>
          </a:prstGeom>
          <a:noFill/>
        </p:spPr>
        <p:txBody>
          <a:bodyPr wrap="square" rtlCol="0">
            <a:spAutoFit/>
          </a:bodyPr>
          <a:lstStyle/>
          <a:p>
            <a:r>
              <a:rPr lang="en-AU" sz="1200" dirty="0"/>
              <a:t>Sedentary lifestyle </a:t>
            </a:r>
          </a:p>
          <a:p>
            <a:r>
              <a:rPr lang="en-AU" sz="1200" dirty="0"/>
              <a:t>(not much moving around)</a:t>
            </a:r>
          </a:p>
        </p:txBody>
      </p:sp>
      <p:sp>
        <p:nvSpPr>
          <p:cNvPr id="15" name="TextBox 14">
            <a:extLst>
              <a:ext uri="{FF2B5EF4-FFF2-40B4-BE49-F238E27FC236}">
                <a16:creationId xmlns:a16="http://schemas.microsoft.com/office/drawing/2014/main" id="{E3DBC041-B85C-574D-9818-2DF156B364D2}"/>
              </a:ext>
            </a:extLst>
          </p:cNvPr>
          <p:cNvSpPr txBox="1"/>
          <p:nvPr/>
        </p:nvSpPr>
        <p:spPr>
          <a:xfrm>
            <a:off x="5465031" y="3231307"/>
            <a:ext cx="850874" cy="276999"/>
          </a:xfrm>
          <a:prstGeom prst="rect">
            <a:avLst/>
          </a:prstGeom>
          <a:noFill/>
        </p:spPr>
        <p:txBody>
          <a:bodyPr wrap="none" rtlCol="0">
            <a:spAutoFit/>
          </a:bodyPr>
          <a:lstStyle/>
          <a:p>
            <a:r>
              <a:rPr lang="en-AU" sz="1200" dirty="0"/>
              <a:t>Poor sleep</a:t>
            </a:r>
          </a:p>
        </p:txBody>
      </p:sp>
      <p:sp>
        <p:nvSpPr>
          <p:cNvPr id="16" name="TextBox 15">
            <a:extLst>
              <a:ext uri="{FF2B5EF4-FFF2-40B4-BE49-F238E27FC236}">
                <a16:creationId xmlns:a16="http://schemas.microsoft.com/office/drawing/2014/main" id="{2D9C96B6-EA97-2783-8A56-E5C13C2081B0}"/>
              </a:ext>
            </a:extLst>
          </p:cNvPr>
          <p:cNvSpPr txBox="1"/>
          <p:nvPr/>
        </p:nvSpPr>
        <p:spPr>
          <a:xfrm>
            <a:off x="10191443" y="6165755"/>
            <a:ext cx="877291" cy="276999"/>
          </a:xfrm>
          <a:prstGeom prst="rect">
            <a:avLst/>
          </a:prstGeom>
          <a:noFill/>
        </p:spPr>
        <p:txBody>
          <a:bodyPr wrap="none" rtlCol="0">
            <a:spAutoFit/>
          </a:bodyPr>
          <a:lstStyle/>
          <a:p>
            <a:r>
              <a:rPr lang="en-AU" sz="1200" dirty="0"/>
              <a:t>High stress</a:t>
            </a:r>
          </a:p>
        </p:txBody>
      </p:sp>
      <p:sp>
        <p:nvSpPr>
          <p:cNvPr id="17" name="TextBox 16">
            <a:extLst>
              <a:ext uri="{FF2B5EF4-FFF2-40B4-BE49-F238E27FC236}">
                <a16:creationId xmlns:a16="http://schemas.microsoft.com/office/drawing/2014/main" id="{6861C3B0-1421-DB03-CEC9-E88C5CFEAAF7}"/>
              </a:ext>
            </a:extLst>
          </p:cNvPr>
          <p:cNvSpPr txBox="1"/>
          <p:nvPr/>
        </p:nvSpPr>
        <p:spPr>
          <a:xfrm>
            <a:off x="6129310" y="5730378"/>
            <a:ext cx="1686680" cy="276999"/>
          </a:xfrm>
          <a:prstGeom prst="rect">
            <a:avLst/>
          </a:prstGeom>
          <a:noFill/>
        </p:spPr>
        <p:txBody>
          <a:bodyPr wrap="none" rtlCol="0">
            <a:spAutoFit/>
          </a:bodyPr>
          <a:lstStyle/>
          <a:p>
            <a:r>
              <a:rPr lang="en-AU" sz="1200" dirty="0"/>
              <a:t>Other health conditions</a:t>
            </a:r>
          </a:p>
        </p:txBody>
      </p:sp>
    </p:spTree>
    <p:extLst>
      <p:ext uri="{BB962C8B-B14F-4D97-AF65-F5344CB8AC3E}">
        <p14:creationId xmlns:p14="http://schemas.microsoft.com/office/powerpoint/2010/main" val="178676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1" grpId="0"/>
      <p:bldP spid="13" grpId="0"/>
      <p:bldP spid="5" grpId="0"/>
      <p:bldP spid="15" grpId="0"/>
      <p:bldP spid="16" grpId="0"/>
      <p:bldP spid="1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152F4-DB58-6144-809A-A03A17592C7C}"/>
              </a:ext>
            </a:extLst>
          </p:cNvPr>
          <p:cNvSpPr>
            <a:spLocks noGrp="1"/>
          </p:cNvSpPr>
          <p:nvPr>
            <p:ph type="title"/>
          </p:nvPr>
        </p:nvSpPr>
        <p:spPr>
          <a:xfrm>
            <a:off x="286251" y="1772558"/>
            <a:ext cx="4759073" cy="3982600"/>
          </a:xfrm>
        </p:spPr>
        <p:txBody>
          <a:bodyPr>
            <a:normAutofit fontScale="90000"/>
          </a:bodyPr>
          <a:lstStyle/>
          <a:p>
            <a:pPr algn="ctr"/>
            <a:r>
              <a:rPr lang="en-US" b="1" dirty="0">
                <a:solidFill>
                  <a:schemeClr val="tx1"/>
                </a:solidFill>
              </a:rPr>
              <a:t>Activity 2: </a:t>
            </a:r>
            <a:br>
              <a:rPr lang="en-US" b="1" dirty="0">
                <a:solidFill>
                  <a:schemeClr val="tx1"/>
                </a:solidFill>
              </a:rPr>
            </a:br>
            <a:r>
              <a:rPr lang="en-US" b="1" dirty="0">
                <a:solidFill>
                  <a:schemeClr val="tx1"/>
                </a:solidFill>
              </a:rPr>
              <a:t>Causes of risk factors </a:t>
            </a:r>
            <a:br>
              <a:rPr lang="en-US" b="1" dirty="0">
                <a:solidFill>
                  <a:schemeClr val="tx1"/>
                </a:solidFill>
              </a:rPr>
            </a:br>
            <a:r>
              <a:rPr lang="en-US" dirty="0">
                <a:solidFill>
                  <a:schemeClr val="tx2"/>
                </a:solidFill>
              </a:rPr>
              <a:t>(Pg. 9)</a:t>
            </a:r>
            <a:br>
              <a:rPr lang="en-US" dirty="0">
                <a:solidFill>
                  <a:schemeClr val="tx1"/>
                </a:solidFill>
              </a:rPr>
            </a:br>
            <a:br>
              <a:rPr lang="en-US" dirty="0">
                <a:solidFill>
                  <a:schemeClr val="tx1"/>
                </a:solidFill>
              </a:rPr>
            </a:br>
            <a:br>
              <a:rPr lang="en-US" sz="2000" i="1" cap="none" dirty="0">
                <a:solidFill>
                  <a:schemeClr val="tx1"/>
                </a:solidFill>
              </a:rPr>
            </a:br>
            <a:r>
              <a:rPr lang="en-US" sz="1600" i="1" cap="none" dirty="0">
                <a:solidFill>
                  <a:schemeClr val="tx1"/>
                </a:solidFill>
              </a:rPr>
              <a:t>You have considered what the risk factors of obesity are.</a:t>
            </a:r>
            <a:br>
              <a:rPr lang="en-US" sz="1600" i="1" cap="none" dirty="0">
                <a:solidFill>
                  <a:schemeClr val="tx1"/>
                </a:solidFill>
              </a:rPr>
            </a:br>
            <a:br>
              <a:rPr lang="en-US" sz="1600" i="1" cap="none" dirty="0">
                <a:solidFill>
                  <a:schemeClr val="tx1"/>
                </a:solidFill>
              </a:rPr>
            </a:br>
            <a:r>
              <a:rPr lang="en-US" sz="1600" i="1" cap="none" dirty="0">
                <a:solidFill>
                  <a:schemeClr val="tx1"/>
                </a:solidFill>
              </a:rPr>
              <a:t>Now brainstorm the causes of those risk factors.</a:t>
            </a:r>
            <a:br>
              <a:rPr lang="en-US" sz="1600" i="1" cap="none" dirty="0">
                <a:solidFill>
                  <a:schemeClr val="tx1"/>
                </a:solidFill>
              </a:rPr>
            </a:br>
            <a:br>
              <a:rPr lang="en-US" sz="1600" i="1" cap="none" dirty="0">
                <a:solidFill>
                  <a:schemeClr val="tx1"/>
                </a:solidFill>
              </a:rPr>
            </a:br>
            <a:br>
              <a:rPr lang="en-US" sz="1600" i="1" cap="none" dirty="0">
                <a:solidFill>
                  <a:schemeClr val="tx1"/>
                </a:solidFill>
              </a:rPr>
            </a:br>
            <a:r>
              <a:rPr lang="en-US" sz="2000" cap="none" dirty="0">
                <a:solidFill>
                  <a:schemeClr val="tx1"/>
                </a:solidFill>
              </a:rPr>
              <a:t>In your books, brainstorm causes for those risk factors. </a:t>
            </a:r>
            <a:br>
              <a:rPr lang="en-US" sz="2000" cap="none" dirty="0">
                <a:solidFill>
                  <a:schemeClr val="tx1"/>
                </a:solidFill>
              </a:rPr>
            </a:br>
            <a:br>
              <a:rPr lang="en-US" sz="2000" cap="none" dirty="0">
                <a:solidFill>
                  <a:schemeClr val="tx1"/>
                </a:solidFill>
              </a:rPr>
            </a:br>
            <a:r>
              <a:rPr lang="en-US" sz="2000" cap="none" dirty="0">
                <a:solidFill>
                  <a:schemeClr val="tx1"/>
                </a:solidFill>
              </a:rPr>
              <a:t>Why do they exist? Why are they a problem?</a:t>
            </a:r>
            <a:br>
              <a:rPr lang="en-US" sz="2000" cap="none" dirty="0">
                <a:solidFill>
                  <a:schemeClr val="tx1"/>
                </a:solidFill>
              </a:rPr>
            </a:br>
            <a:br>
              <a:rPr lang="en-US" sz="2000" cap="none" dirty="0">
                <a:solidFill>
                  <a:schemeClr val="tx1"/>
                </a:solidFill>
              </a:rPr>
            </a:br>
            <a:r>
              <a:rPr lang="en-US" sz="2000" cap="none" dirty="0">
                <a:solidFill>
                  <a:schemeClr val="tx1"/>
                </a:solidFill>
              </a:rPr>
              <a:t>An example has been completed for you. </a:t>
            </a:r>
            <a:endParaRPr lang="en-US" i="1" dirty="0">
              <a:solidFill>
                <a:schemeClr val="tx1"/>
              </a:solidFill>
            </a:endParaRPr>
          </a:p>
        </p:txBody>
      </p:sp>
      <p:sp>
        <p:nvSpPr>
          <p:cNvPr id="4" name="Oval 3"/>
          <p:cNvSpPr/>
          <p:nvPr/>
        </p:nvSpPr>
        <p:spPr>
          <a:xfrm>
            <a:off x="6565642" y="2463800"/>
            <a:ext cx="3384366" cy="1930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ln w="0"/>
                <a:solidFill>
                  <a:schemeClr val="tx1"/>
                </a:solidFill>
                <a:effectLst>
                  <a:outerShdw blurRad="38100" dist="19050" dir="2700000" algn="tl" rotWithShape="0">
                    <a:schemeClr val="dk1">
                      <a:alpha val="40000"/>
                    </a:schemeClr>
                  </a:outerShdw>
                </a:effectLst>
              </a:rPr>
              <a:t>Causes of </a:t>
            </a:r>
          </a:p>
          <a:p>
            <a:pPr algn="ctr"/>
            <a:r>
              <a:rPr lang="en-AU" dirty="0">
                <a:ln w="0"/>
                <a:solidFill>
                  <a:schemeClr val="tx1"/>
                </a:solidFill>
                <a:effectLst>
                  <a:outerShdw blurRad="38100" dist="19050" dir="2700000" algn="tl" rotWithShape="0">
                    <a:schemeClr val="dk1">
                      <a:alpha val="40000"/>
                    </a:schemeClr>
                  </a:outerShdw>
                </a:effectLst>
              </a:rPr>
              <a:t>Obesity Risk Factors</a:t>
            </a:r>
            <a:r>
              <a:rPr lang="en-AU" dirty="0"/>
              <a:t> </a:t>
            </a:r>
          </a:p>
        </p:txBody>
      </p:sp>
      <p:sp>
        <p:nvSpPr>
          <p:cNvPr id="3" name="TextBox 2">
            <a:extLst>
              <a:ext uri="{FF2B5EF4-FFF2-40B4-BE49-F238E27FC236}">
                <a16:creationId xmlns:a16="http://schemas.microsoft.com/office/drawing/2014/main" id="{D29E1C27-8B19-1DBC-DBB1-AA3217DCFF78}"/>
              </a:ext>
            </a:extLst>
          </p:cNvPr>
          <p:cNvSpPr txBox="1"/>
          <p:nvPr/>
        </p:nvSpPr>
        <p:spPr>
          <a:xfrm>
            <a:off x="8257825" y="679415"/>
            <a:ext cx="2059709" cy="461665"/>
          </a:xfrm>
          <a:prstGeom prst="rect">
            <a:avLst/>
          </a:prstGeom>
          <a:noFill/>
        </p:spPr>
        <p:txBody>
          <a:bodyPr wrap="square" rtlCol="0">
            <a:spAutoFit/>
          </a:bodyPr>
          <a:lstStyle/>
          <a:p>
            <a:pPr algn="ctr"/>
            <a:r>
              <a:rPr lang="en-US" sz="1200" dirty="0"/>
              <a:t>Peer pressure – eating junk food after school with mates</a:t>
            </a:r>
          </a:p>
        </p:txBody>
      </p:sp>
      <p:sp>
        <p:nvSpPr>
          <p:cNvPr id="8" name="TextBox 7">
            <a:extLst>
              <a:ext uri="{FF2B5EF4-FFF2-40B4-BE49-F238E27FC236}">
                <a16:creationId xmlns:a16="http://schemas.microsoft.com/office/drawing/2014/main" id="{15AF8C8C-1E39-2685-3EE8-3EBA67027E3F}"/>
              </a:ext>
            </a:extLst>
          </p:cNvPr>
          <p:cNvSpPr txBox="1"/>
          <p:nvPr/>
        </p:nvSpPr>
        <p:spPr>
          <a:xfrm>
            <a:off x="8853690" y="4815804"/>
            <a:ext cx="2447636" cy="646331"/>
          </a:xfrm>
          <a:prstGeom prst="rect">
            <a:avLst/>
          </a:prstGeom>
          <a:noFill/>
        </p:spPr>
        <p:txBody>
          <a:bodyPr wrap="square" rtlCol="0">
            <a:spAutoFit/>
          </a:bodyPr>
          <a:lstStyle/>
          <a:p>
            <a:pPr algn="ctr"/>
            <a:r>
              <a:rPr lang="en-US" sz="1200" dirty="0"/>
              <a:t>Cultural norms – Family traditions/cultures: large meals at dinner time, overeating</a:t>
            </a:r>
          </a:p>
        </p:txBody>
      </p:sp>
      <p:sp>
        <p:nvSpPr>
          <p:cNvPr id="10" name="TextBox 9">
            <a:extLst>
              <a:ext uri="{FF2B5EF4-FFF2-40B4-BE49-F238E27FC236}">
                <a16:creationId xmlns:a16="http://schemas.microsoft.com/office/drawing/2014/main" id="{96EBF3D6-B29C-EF49-FFC4-69D1BF765EFF}"/>
              </a:ext>
            </a:extLst>
          </p:cNvPr>
          <p:cNvSpPr txBox="1"/>
          <p:nvPr/>
        </p:nvSpPr>
        <p:spPr>
          <a:xfrm>
            <a:off x="8639825" y="1386524"/>
            <a:ext cx="2995154" cy="646331"/>
          </a:xfrm>
          <a:prstGeom prst="rect">
            <a:avLst/>
          </a:prstGeom>
          <a:noFill/>
        </p:spPr>
        <p:txBody>
          <a:bodyPr wrap="square" rtlCol="0">
            <a:spAutoFit/>
          </a:bodyPr>
          <a:lstStyle/>
          <a:p>
            <a:pPr algn="ctr"/>
            <a:r>
              <a:rPr lang="en-US" sz="1200" dirty="0"/>
              <a:t>Social norms – what’s considered socially normal in Aus. Society (i.e., pies and sausage rolls, lots of alcohol)</a:t>
            </a:r>
          </a:p>
        </p:txBody>
      </p:sp>
      <p:sp>
        <p:nvSpPr>
          <p:cNvPr id="12" name="TextBox 11">
            <a:extLst>
              <a:ext uri="{FF2B5EF4-FFF2-40B4-BE49-F238E27FC236}">
                <a16:creationId xmlns:a16="http://schemas.microsoft.com/office/drawing/2014/main" id="{A162F976-9342-00E0-235D-031738B244B6}"/>
              </a:ext>
            </a:extLst>
          </p:cNvPr>
          <p:cNvSpPr txBox="1"/>
          <p:nvPr/>
        </p:nvSpPr>
        <p:spPr>
          <a:xfrm>
            <a:off x="5962942" y="1382735"/>
            <a:ext cx="1708122" cy="461665"/>
          </a:xfrm>
          <a:prstGeom prst="rect">
            <a:avLst/>
          </a:prstGeom>
          <a:noFill/>
        </p:spPr>
        <p:txBody>
          <a:bodyPr wrap="square" rtlCol="0">
            <a:spAutoFit/>
          </a:bodyPr>
          <a:lstStyle/>
          <a:p>
            <a:pPr algn="ctr"/>
            <a:r>
              <a:rPr lang="en-US" sz="1200" dirty="0"/>
              <a:t>Low income – can’t buy healthier options</a:t>
            </a:r>
          </a:p>
        </p:txBody>
      </p:sp>
      <p:sp>
        <p:nvSpPr>
          <p:cNvPr id="14" name="TextBox 13">
            <a:extLst>
              <a:ext uri="{FF2B5EF4-FFF2-40B4-BE49-F238E27FC236}">
                <a16:creationId xmlns:a16="http://schemas.microsoft.com/office/drawing/2014/main" id="{CF533F96-DA9C-43BC-57F7-F821817B3FA2}"/>
              </a:ext>
            </a:extLst>
          </p:cNvPr>
          <p:cNvSpPr txBox="1"/>
          <p:nvPr/>
        </p:nvSpPr>
        <p:spPr>
          <a:xfrm>
            <a:off x="5220187" y="6076382"/>
            <a:ext cx="1708122" cy="461665"/>
          </a:xfrm>
          <a:prstGeom prst="rect">
            <a:avLst/>
          </a:prstGeom>
          <a:noFill/>
        </p:spPr>
        <p:txBody>
          <a:bodyPr wrap="square" rtlCol="0">
            <a:spAutoFit/>
          </a:bodyPr>
          <a:lstStyle/>
          <a:p>
            <a:pPr algn="ctr"/>
            <a:r>
              <a:rPr lang="en-US" sz="1200" dirty="0"/>
              <a:t>Low income – can’t afford sport or gyms</a:t>
            </a:r>
          </a:p>
        </p:txBody>
      </p:sp>
      <p:sp>
        <p:nvSpPr>
          <p:cNvPr id="18" name="TextBox 17">
            <a:extLst>
              <a:ext uri="{FF2B5EF4-FFF2-40B4-BE49-F238E27FC236}">
                <a16:creationId xmlns:a16="http://schemas.microsoft.com/office/drawing/2014/main" id="{9D8CACD4-F908-AA6E-2F8D-D6F6EA906447}"/>
              </a:ext>
            </a:extLst>
          </p:cNvPr>
          <p:cNvSpPr txBox="1"/>
          <p:nvPr/>
        </p:nvSpPr>
        <p:spPr>
          <a:xfrm>
            <a:off x="6447129" y="4717137"/>
            <a:ext cx="1597891" cy="461665"/>
          </a:xfrm>
          <a:prstGeom prst="rect">
            <a:avLst/>
          </a:prstGeom>
          <a:noFill/>
        </p:spPr>
        <p:txBody>
          <a:bodyPr wrap="square" rtlCol="0">
            <a:spAutoFit/>
          </a:bodyPr>
          <a:lstStyle/>
          <a:p>
            <a:pPr algn="ctr"/>
            <a:r>
              <a:rPr lang="en-US" sz="1200" dirty="0"/>
              <a:t>Live too far away from sporting associations</a:t>
            </a:r>
          </a:p>
        </p:txBody>
      </p:sp>
      <p:sp>
        <p:nvSpPr>
          <p:cNvPr id="19" name="TextBox 18">
            <a:extLst>
              <a:ext uri="{FF2B5EF4-FFF2-40B4-BE49-F238E27FC236}">
                <a16:creationId xmlns:a16="http://schemas.microsoft.com/office/drawing/2014/main" id="{EFD5894C-526B-045E-345A-C8B5C008E756}"/>
              </a:ext>
            </a:extLst>
          </p:cNvPr>
          <p:cNvSpPr txBox="1"/>
          <p:nvPr/>
        </p:nvSpPr>
        <p:spPr>
          <a:xfrm>
            <a:off x="5382207" y="796036"/>
            <a:ext cx="1183435" cy="276999"/>
          </a:xfrm>
          <a:prstGeom prst="rect">
            <a:avLst/>
          </a:prstGeom>
          <a:noFill/>
        </p:spPr>
        <p:txBody>
          <a:bodyPr wrap="square" rtlCol="0">
            <a:spAutoFit/>
          </a:bodyPr>
          <a:lstStyle/>
          <a:p>
            <a:pPr algn="ctr"/>
            <a:r>
              <a:rPr lang="en-US" sz="1200" dirty="0"/>
              <a:t>Parent genetics</a:t>
            </a:r>
          </a:p>
        </p:txBody>
      </p:sp>
      <p:sp>
        <p:nvSpPr>
          <p:cNvPr id="20" name="TextBox 19">
            <a:extLst>
              <a:ext uri="{FF2B5EF4-FFF2-40B4-BE49-F238E27FC236}">
                <a16:creationId xmlns:a16="http://schemas.microsoft.com/office/drawing/2014/main" id="{1FF36314-B5D2-B211-8B1F-D41064F96544}"/>
              </a:ext>
            </a:extLst>
          </p:cNvPr>
          <p:cNvSpPr txBox="1"/>
          <p:nvPr/>
        </p:nvSpPr>
        <p:spPr>
          <a:xfrm>
            <a:off x="5615745" y="5417392"/>
            <a:ext cx="1988088" cy="276999"/>
          </a:xfrm>
          <a:prstGeom prst="rect">
            <a:avLst/>
          </a:prstGeom>
          <a:noFill/>
        </p:spPr>
        <p:txBody>
          <a:bodyPr wrap="square" rtlCol="0">
            <a:spAutoFit/>
          </a:bodyPr>
          <a:lstStyle/>
          <a:p>
            <a:r>
              <a:rPr lang="en-US" sz="1200" dirty="0"/>
              <a:t>Stress – poor eating habits</a:t>
            </a:r>
          </a:p>
        </p:txBody>
      </p:sp>
      <p:sp>
        <p:nvSpPr>
          <p:cNvPr id="21" name="TextBox 20">
            <a:extLst>
              <a:ext uri="{FF2B5EF4-FFF2-40B4-BE49-F238E27FC236}">
                <a16:creationId xmlns:a16="http://schemas.microsoft.com/office/drawing/2014/main" id="{F9E54A28-2C6D-F49A-15B3-2D31F42BAA2C}"/>
              </a:ext>
            </a:extLst>
          </p:cNvPr>
          <p:cNvSpPr txBox="1"/>
          <p:nvPr/>
        </p:nvSpPr>
        <p:spPr>
          <a:xfrm>
            <a:off x="5316094" y="4045511"/>
            <a:ext cx="1293695" cy="461665"/>
          </a:xfrm>
          <a:prstGeom prst="rect">
            <a:avLst/>
          </a:prstGeom>
          <a:noFill/>
        </p:spPr>
        <p:txBody>
          <a:bodyPr wrap="square" rtlCol="0">
            <a:spAutoFit/>
          </a:bodyPr>
          <a:lstStyle/>
          <a:p>
            <a:pPr algn="ctr"/>
            <a:r>
              <a:rPr lang="en-US" sz="1200" dirty="0"/>
              <a:t>Low paying jobs – poor income</a:t>
            </a:r>
          </a:p>
        </p:txBody>
      </p:sp>
      <p:sp>
        <p:nvSpPr>
          <p:cNvPr id="22" name="TextBox 21">
            <a:extLst>
              <a:ext uri="{FF2B5EF4-FFF2-40B4-BE49-F238E27FC236}">
                <a16:creationId xmlns:a16="http://schemas.microsoft.com/office/drawing/2014/main" id="{102F4BA7-EF33-6948-72B5-AFD985FB3B46}"/>
              </a:ext>
            </a:extLst>
          </p:cNvPr>
          <p:cNvSpPr txBox="1"/>
          <p:nvPr/>
        </p:nvSpPr>
        <p:spPr>
          <a:xfrm>
            <a:off x="8064128" y="5855419"/>
            <a:ext cx="2558473" cy="646331"/>
          </a:xfrm>
          <a:prstGeom prst="rect">
            <a:avLst/>
          </a:prstGeom>
          <a:noFill/>
        </p:spPr>
        <p:txBody>
          <a:bodyPr wrap="square" rtlCol="0">
            <a:spAutoFit/>
          </a:bodyPr>
          <a:lstStyle/>
          <a:p>
            <a:pPr algn="ctr"/>
            <a:r>
              <a:rPr lang="en-US" sz="1200" dirty="0"/>
              <a:t>Family beliefs/values – little emphasis put on healthy eating, eating properly, alcohol consumption</a:t>
            </a:r>
          </a:p>
        </p:txBody>
      </p:sp>
      <p:sp>
        <p:nvSpPr>
          <p:cNvPr id="23" name="TextBox 22">
            <a:extLst>
              <a:ext uri="{FF2B5EF4-FFF2-40B4-BE49-F238E27FC236}">
                <a16:creationId xmlns:a16="http://schemas.microsoft.com/office/drawing/2014/main" id="{165254F4-195E-79A8-8C4A-F75C6D8CA2F9}"/>
              </a:ext>
            </a:extLst>
          </p:cNvPr>
          <p:cNvSpPr txBox="1"/>
          <p:nvPr/>
        </p:nvSpPr>
        <p:spPr>
          <a:xfrm>
            <a:off x="9867181" y="2297637"/>
            <a:ext cx="1925765" cy="646331"/>
          </a:xfrm>
          <a:prstGeom prst="rect">
            <a:avLst/>
          </a:prstGeom>
          <a:noFill/>
        </p:spPr>
        <p:txBody>
          <a:bodyPr wrap="square" rtlCol="0">
            <a:spAutoFit/>
          </a:bodyPr>
          <a:lstStyle/>
          <a:p>
            <a:pPr algn="ctr"/>
            <a:r>
              <a:rPr lang="en-US" sz="1200" dirty="0"/>
              <a:t>No access to green spaces to exercise/poor living environment</a:t>
            </a:r>
          </a:p>
        </p:txBody>
      </p:sp>
      <p:sp>
        <p:nvSpPr>
          <p:cNvPr id="24" name="TextBox 23">
            <a:extLst>
              <a:ext uri="{FF2B5EF4-FFF2-40B4-BE49-F238E27FC236}">
                <a16:creationId xmlns:a16="http://schemas.microsoft.com/office/drawing/2014/main" id="{B33C2E80-6BD5-4EC7-5F6E-EE94AEB7B42F}"/>
              </a:ext>
            </a:extLst>
          </p:cNvPr>
          <p:cNvSpPr txBox="1"/>
          <p:nvPr/>
        </p:nvSpPr>
        <p:spPr>
          <a:xfrm>
            <a:off x="10077508" y="3879886"/>
            <a:ext cx="1759529" cy="461665"/>
          </a:xfrm>
          <a:prstGeom prst="rect">
            <a:avLst/>
          </a:prstGeom>
          <a:noFill/>
        </p:spPr>
        <p:txBody>
          <a:bodyPr wrap="square" rtlCol="0">
            <a:spAutoFit/>
          </a:bodyPr>
          <a:lstStyle/>
          <a:p>
            <a:pPr algn="ctr"/>
            <a:r>
              <a:rPr lang="en-US" sz="1200" dirty="0"/>
              <a:t>Close proximity to take away/junk stores</a:t>
            </a:r>
          </a:p>
        </p:txBody>
      </p:sp>
      <p:sp>
        <p:nvSpPr>
          <p:cNvPr id="25" name="TextBox 24">
            <a:extLst>
              <a:ext uri="{FF2B5EF4-FFF2-40B4-BE49-F238E27FC236}">
                <a16:creationId xmlns:a16="http://schemas.microsoft.com/office/drawing/2014/main" id="{F287E71D-0937-80F5-E9BC-C944A8AE9634}"/>
              </a:ext>
            </a:extLst>
          </p:cNvPr>
          <p:cNvSpPr txBox="1"/>
          <p:nvPr/>
        </p:nvSpPr>
        <p:spPr>
          <a:xfrm>
            <a:off x="5172824" y="2050867"/>
            <a:ext cx="2073251" cy="646331"/>
          </a:xfrm>
          <a:prstGeom prst="rect">
            <a:avLst/>
          </a:prstGeom>
          <a:noFill/>
        </p:spPr>
        <p:txBody>
          <a:bodyPr wrap="square" rtlCol="0">
            <a:spAutoFit/>
          </a:bodyPr>
          <a:lstStyle/>
          <a:p>
            <a:pPr algn="ctr"/>
            <a:r>
              <a:rPr lang="en-US" sz="1200" dirty="0"/>
              <a:t>Little knowledge of what is healthy and unhealthy/risks of alcohol (education)</a:t>
            </a:r>
            <a:endParaRPr lang="en-AU" sz="1200" dirty="0"/>
          </a:p>
        </p:txBody>
      </p:sp>
    </p:spTree>
    <p:extLst>
      <p:ext uri="{BB962C8B-B14F-4D97-AF65-F5344CB8AC3E}">
        <p14:creationId xmlns:p14="http://schemas.microsoft.com/office/powerpoint/2010/main" val="2197913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500" fill="hold"/>
                                        <p:tgtEl>
                                          <p:spTgt spid="25"/>
                                        </p:tgtEl>
                                        <p:attrNameLst>
                                          <p:attrName>ppt_x</p:attrName>
                                        </p:attrNameLst>
                                      </p:cBhvr>
                                      <p:tavLst>
                                        <p:tav tm="0">
                                          <p:val>
                                            <p:strVal val="#ppt_x"/>
                                          </p:val>
                                        </p:tav>
                                        <p:tav tm="100000">
                                          <p:val>
                                            <p:strVal val="#ppt_x"/>
                                          </p:val>
                                        </p:tav>
                                      </p:tavLst>
                                    </p:anim>
                                    <p:anim calcmode="lin" valueType="num">
                                      <p:cBhvr additive="base">
                                        <p:cTn id="24" dur="500" fill="hold"/>
                                        <p:tgtEl>
                                          <p:spTgt spid="2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ppt_x"/>
                                          </p:val>
                                        </p:tav>
                                        <p:tav tm="100000">
                                          <p:val>
                                            <p:strVal val="#ppt_x"/>
                                          </p:val>
                                        </p:tav>
                                      </p:tavLst>
                                    </p:anim>
                                    <p:anim calcmode="lin" valueType="num">
                                      <p:cBhvr additive="base">
                                        <p:cTn id="28" dur="500" fill="hold"/>
                                        <p:tgtEl>
                                          <p:spTgt spid="2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500" fill="hold"/>
                                        <p:tgtEl>
                                          <p:spTgt spid="22"/>
                                        </p:tgtEl>
                                        <p:attrNameLst>
                                          <p:attrName>ppt_x</p:attrName>
                                        </p:attrNameLst>
                                      </p:cBhvr>
                                      <p:tavLst>
                                        <p:tav tm="0">
                                          <p:val>
                                            <p:strVal val="#ppt_x"/>
                                          </p:val>
                                        </p:tav>
                                        <p:tav tm="100000">
                                          <p:val>
                                            <p:strVal val="#ppt_x"/>
                                          </p:val>
                                        </p:tav>
                                      </p:tavLst>
                                    </p:anim>
                                    <p:anim calcmode="lin" valueType="num">
                                      <p:cBhvr additive="base">
                                        <p:cTn id="40" dur="500" fill="hold"/>
                                        <p:tgtEl>
                                          <p:spTgt spid="2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ppt_x"/>
                                          </p:val>
                                        </p:tav>
                                        <p:tav tm="100000">
                                          <p:val>
                                            <p:strVal val="#ppt_x"/>
                                          </p:val>
                                        </p:tav>
                                      </p:tavLst>
                                    </p:anim>
                                    <p:anim calcmode="lin" valueType="num">
                                      <p:cBhvr additive="base">
                                        <p:cTn id="4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2" grpId="0"/>
      <p:bldP spid="14" grpId="0"/>
      <p:bldP spid="19" grpId="0"/>
      <p:bldP spid="20" grpId="0"/>
      <p:bldP spid="21" grpId="0"/>
      <p:bldP spid="22" grpId="0"/>
      <p:bldP spid="24" grpId="0"/>
      <p:bldP spid="25"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DDC3EF6-2EA5-44B3-94C7-9DDA67A12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87925A9A-E9FA-496E-9C09-7C2845E00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2073ABB4-E164-4CBF-ADFF-25552BB7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20C97E5C-C165-417B-BBDE-6701E226BE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5D0E1C6-221C-4835-B0D4-24184F6B6E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8891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98F2782-0AD1-4AB6-BBB8-3BA1BB416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nline Media 3" descr="Determinants of Health">
            <a:hlinkClick r:id="" action="ppaction://media"/>
            <a:extLst>
              <a:ext uri="{FF2B5EF4-FFF2-40B4-BE49-F238E27FC236}">
                <a16:creationId xmlns:a16="http://schemas.microsoft.com/office/drawing/2014/main" id="{A0857E2F-F2D6-92AD-2AB7-4AB17C60BDDF}"/>
              </a:ext>
            </a:extLst>
          </p:cNvPr>
          <p:cNvPicPr>
            <a:picLocks noGrp="1" noRot="1" noChangeAspect="1"/>
          </p:cNvPicPr>
          <p:nvPr>
            <p:ph idx="1"/>
            <a:videoFile r:link="rId1"/>
          </p:nvPr>
        </p:nvPicPr>
        <p:blipFill>
          <a:blip r:embed="rId4"/>
          <a:stretch>
            <a:fillRect/>
          </a:stretch>
        </p:blipFill>
        <p:spPr>
          <a:xfrm>
            <a:off x="3235390" y="1162668"/>
            <a:ext cx="8150088" cy="4604800"/>
          </a:xfrm>
          <a:prstGeom prst="rect">
            <a:avLst/>
          </a:prstGeom>
        </p:spPr>
      </p:pic>
      <p:sp>
        <p:nvSpPr>
          <p:cNvPr id="5" name="TextBox 4">
            <a:extLst>
              <a:ext uri="{FF2B5EF4-FFF2-40B4-BE49-F238E27FC236}">
                <a16:creationId xmlns:a16="http://schemas.microsoft.com/office/drawing/2014/main" id="{D046D7CB-31CF-590E-287E-9281249B56F1}"/>
              </a:ext>
            </a:extLst>
          </p:cNvPr>
          <p:cNvSpPr txBox="1"/>
          <p:nvPr/>
        </p:nvSpPr>
        <p:spPr>
          <a:xfrm>
            <a:off x="806522" y="2951946"/>
            <a:ext cx="2242609" cy="954107"/>
          </a:xfrm>
          <a:prstGeom prst="rect">
            <a:avLst/>
          </a:prstGeom>
          <a:noFill/>
        </p:spPr>
        <p:txBody>
          <a:bodyPr wrap="square" rtlCol="0">
            <a:spAutoFit/>
          </a:bodyPr>
          <a:lstStyle/>
          <a:p>
            <a:pPr algn="ctr"/>
            <a:r>
              <a:rPr lang="en-US" sz="2800" dirty="0">
                <a:solidFill>
                  <a:schemeClr val="bg1"/>
                </a:solidFill>
              </a:rPr>
              <a:t>Determinants of health.</a:t>
            </a:r>
          </a:p>
        </p:txBody>
      </p:sp>
    </p:spTree>
    <p:extLst>
      <p:ext uri="{BB962C8B-B14F-4D97-AF65-F5344CB8AC3E}">
        <p14:creationId xmlns:p14="http://schemas.microsoft.com/office/powerpoint/2010/main" val="169103953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73CF6F-4FCA-2A63-D176-D803C1BF360A}"/>
              </a:ext>
            </a:extLst>
          </p:cNvPr>
          <p:cNvSpPr>
            <a:spLocks noGrp="1"/>
          </p:cNvSpPr>
          <p:nvPr>
            <p:ph type="title"/>
          </p:nvPr>
        </p:nvSpPr>
        <p:spPr>
          <a:xfrm>
            <a:off x="581193" y="702156"/>
            <a:ext cx="6309003" cy="1013800"/>
          </a:xfrm>
        </p:spPr>
        <p:txBody>
          <a:bodyPr>
            <a:normAutofit/>
          </a:bodyPr>
          <a:lstStyle/>
          <a:p>
            <a:r>
              <a:rPr lang="en-US" dirty="0">
                <a:solidFill>
                  <a:schemeClr val="tx2"/>
                </a:solidFill>
              </a:rPr>
              <a:t>GLOSSARY: 								(Pg. 6)</a:t>
            </a:r>
            <a:endParaRPr lang="en-US" dirty="0">
              <a:solidFill>
                <a:schemeClr val="tx2"/>
              </a:solidFill>
              <a:highlight>
                <a:srgbClr val="FFFF00"/>
              </a:highlight>
            </a:endParaRPr>
          </a:p>
        </p:txBody>
      </p:sp>
      <p:sp>
        <p:nvSpPr>
          <p:cNvPr id="20" name="Rectangle 19">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50561FC8-6D65-AA8A-D6E4-E5542E62296E}"/>
              </a:ext>
            </a:extLst>
          </p:cNvPr>
          <p:cNvSpPr>
            <a:spLocks noGrp="1"/>
          </p:cNvSpPr>
          <p:nvPr>
            <p:ph idx="1"/>
          </p:nvPr>
        </p:nvSpPr>
        <p:spPr>
          <a:xfrm>
            <a:off x="581194" y="1896533"/>
            <a:ext cx="6309003" cy="3962266"/>
          </a:xfrm>
        </p:spPr>
        <p:txBody>
          <a:bodyPr>
            <a:normAutofit/>
          </a:bodyPr>
          <a:lstStyle/>
          <a:p>
            <a:pPr marL="0" indent="0">
              <a:buNone/>
            </a:pPr>
            <a:r>
              <a:rPr lang="en-US" sz="1800" dirty="0"/>
              <a:t>At the front of your books is your glossary.  Turn to your glossary and add the following words and their definitions:</a:t>
            </a:r>
          </a:p>
          <a:p>
            <a:pPr marL="0" indent="0">
              <a:buNone/>
            </a:pPr>
            <a:endParaRPr lang="en-US" dirty="0">
              <a:solidFill>
                <a:schemeClr val="tx2"/>
              </a:solidFill>
            </a:endParaRPr>
          </a:p>
          <a:p>
            <a:r>
              <a:rPr lang="en-US" b="1" i="1" dirty="0">
                <a:solidFill>
                  <a:schemeClr val="tx2"/>
                </a:solidFill>
              </a:rPr>
              <a:t>Determinants of Health:</a:t>
            </a:r>
          </a:p>
          <a:p>
            <a:pPr lvl="1"/>
            <a:r>
              <a:rPr lang="en-US" dirty="0">
                <a:solidFill>
                  <a:schemeClr val="tx2"/>
                </a:solidFill>
              </a:rPr>
              <a:t>Factors in our life that can be in or out of our control and can have a positive or negative impact on our health. </a:t>
            </a:r>
          </a:p>
        </p:txBody>
      </p:sp>
      <p:pic>
        <p:nvPicPr>
          <p:cNvPr id="4" name="Picture 3" descr="Close-up of stacked books">
            <a:extLst>
              <a:ext uri="{FF2B5EF4-FFF2-40B4-BE49-F238E27FC236}">
                <a16:creationId xmlns:a16="http://schemas.microsoft.com/office/drawing/2014/main" id="{6CCB14CE-8CFC-9928-5CCD-9548B783B2C0}"/>
              </a:ext>
            </a:extLst>
          </p:cNvPr>
          <p:cNvPicPr>
            <a:picLocks noChangeAspect="1"/>
          </p:cNvPicPr>
          <p:nvPr/>
        </p:nvPicPr>
        <p:blipFill rotWithShape="1">
          <a:blip r:embed="rId2"/>
          <a:srcRect l="61690"/>
          <a:stretch/>
        </p:blipFill>
        <p:spPr>
          <a:xfrm>
            <a:off x="7521283" y="10"/>
            <a:ext cx="4670717" cy="6857990"/>
          </a:xfrm>
          <a:prstGeom prst="rect">
            <a:avLst/>
          </a:prstGeom>
        </p:spPr>
      </p:pic>
    </p:spTree>
    <p:extLst>
      <p:ext uri="{BB962C8B-B14F-4D97-AF65-F5344CB8AC3E}">
        <p14:creationId xmlns:p14="http://schemas.microsoft.com/office/powerpoint/2010/main" val="2587994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EB9BE-1F7A-FBCB-857B-FDF96A5F8B55}"/>
              </a:ext>
            </a:extLst>
          </p:cNvPr>
          <p:cNvSpPr>
            <a:spLocks noGrp="1"/>
          </p:cNvSpPr>
          <p:nvPr>
            <p:ph type="title"/>
          </p:nvPr>
        </p:nvSpPr>
        <p:spPr/>
        <p:txBody>
          <a:bodyPr/>
          <a:lstStyle/>
          <a:p>
            <a:r>
              <a:rPr lang="en-US" dirty="0"/>
              <a:t>Determinants of health:</a:t>
            </a:r>
          </a:p>
        </p:txBody>
      </p:sp>
      <p:sp>
        <p:nvSpPr>
          <p:cNvPr id="3" name="Content Placeholder 2">
            <a:extLst>
              <a:ext uri="{FF2B5EF4-FFF2-40B4-BE49-F238E27FC236}">
                <a16:creationId xmlns:a16="http://schemas.microsoft.com/office/drawing/2014/main" id="{A167B327-1231-8437-A19B-8F6301BF0A05}"/>
              </a:ext>
            </a:extLst>
          </p:cNvPr>
          <p:cNvSpPr>
            <a:spLocks noGrp="1"/>
          </p:cNvSpPr>
          <p:nvPr>
            <p:ph idx="1"/>
          </p:nvPr>
        </p:nvSpPr>
        <p:spPr/>
        <p:txBody>
          <a:bodyPr/>
          <a:lstStyle/>
          <a:p>
            <a:r>
              <a:rPr lang="en-AU" b="0" i="0" dirty="0">
                <a:solidFill>
                  <a:srgbClr val="3C4245"/>
                </a:solidFill>
                <a:effectLst/>
                <a:highlight>
                  <a:srgbClr val="FFFFFF"/>
                </a:highlight>
                <a:latin typeface="Noto Sans" panose="020B0604020202020204" pitchFamily="34" charset="0"/>
              </a:rPr>
              <a:t>Many factors combine together to affect the health of individuals and communities. </a:t>
            </a:r>
          </a:p>
          <a:p>
            <a:endParaRPr lang="en-AU" dirty="0">
              <a:solidFill>
                <a:srgbClr val="3C4245"/>
              </a:solidFill>
              <a:highlight>
                <a:srgbClr val="FFFFFF"/>
              </a:highlight>
              <a:latin typeface="Noto Sans" panose="020B0604020202020204" pitchFamily="34" charset="0"/>
            </a:endParaRPr>
          </a:p>
          <a:p>
            <a:r>
              <a:rPr lang="en-AU" b="0" i="0" dirty="0">
                <a:solidFill>
                  <a:srgbClr val="3C4245"/>
                </a:solidFill>
                <a:effectLst/>
                <a:highlight>
                  <a:srgbClr val="FFFFFF"/>
                </a:highlight>
                <a:latin typeface="Noto Sans" panose="020B0604020202020204" pitchFamily="34" charset="0"/>
              </a:rPr>
              <a:t>Whether people are healthy or not, is determined by their circumstances and environment. </a:t>
            </a:r>
          </a:p>
          <a:p>
            <a:endParaRPr lang="en-AU" dirty="0">
              <a:solidFill>
                <a:srgbClr val="3C4245"/>
              </a:solidFill>
              <a:highlight>
                <a:srgbClr val="FFFFFF"/>
              </a:highlight>
              <a:latin typeface="Noto Sans" panose="020B0604020202020204" pitchFamily="34" charset="0"/>
            </a:endParaRPr>
          </a:p>
          <a:p>
            <a:r>
              <a:rPr lang="en-AU" b="0" i="0" dirty="0">
                <a:solidFill>
                  <a:srgbClr val="3C4245"/>
                </a:solidFill>
                <a:effectLst/>
                <a:highlight>
                  <a:srgbClr val="FFFFFF"/>
                </a:highlight>
                <a:latin typeface="Noto Sans" panose="020B0604020202020204" pitchFamily="34" charset="0"/>
              </a:rPr>
              <a:t>To a large extent, factors such as where we live, the state of our environment, genetics, our income and education level, and our relationships with friends and family all have considerable impacts on health, whereas the more commonly considered factors such as access and use of health care services often have less of an impact.</a:t>
            </a:r>
          </a:p>
          <a:p>
            <a:endParaRPr lang="en-AU" dirty="0">
              <a:solidFill>
                <a:srgbClr val="3C4245"/>
              </a:solidFill>
              <a:highlight>
                <a:srgbClr val="FFFFFF"/>
              </a:highlight>
              <a:latin typeface="Noto Sans" panose="020B0604020202020204" pitchFamily="34" charset="0"/>
            </a:endParaRPr>
          </a:p>
          <a:p>
            <a:r>
              <a:rPr lang="en-AU" dirty="0">
                <a:solidFill>
                  <a:srgbClr val="3C4245"/>
                </a:solidFill>
                <a:highlight>
                  <a:srgbClr val="FFFFFF"/>
                </a:highlight>
                <a:latin typeface="Noto Sans" panose="020B0604020202020204" pitchFamily="34" charset="0"/>
              </a:rPr>
              <a:t>All of these things that can play a role in determining our health, are the determinants of health.</a:t>
            </a:r>
            <a:endParaRPr lang="en-US" dirty="0"/>
          </a:p>
        </p:txBody>
      </p:sp>
    </p:spTree>
    <p:extLst>
      <p:ext uri="{BB962C8B-B14F-4D97-AF65-F5344CB8AC3E}">
        <p14:creationId xmlns:p14="http://schemas.microsoft.com/office/powerpoint/2010/main" val="30802758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81025" y="702155"/>
            <a:ext cx="11029616" cy="779706"/>
          </a:xfrm>
        </p:spPr>
        <p:txBody>
          <a:bodyPr>
            <a:normAutofit/>
          </a:bodyPr>
          <a:lstStyle/>
          <a:p>
            <a:pPr>
              <a:lnSpc>
                <a:spcPct val="90000"/>
              </a:lnSpc>
            </a:pPr>
            <a:r>
              <a:rPr lang="en-US" sz="2600" dirty="0"/>
              <a:t>Determinants of Health: 												</a:t>
            </a:r>
            <a:r>
              <a:rPr lang="en-US" sz="2400" dirty="0">
                <a:solidFill>
                  <a:schemeClr val="tx2"/>
                </a:solidFill>
              </a:rPr>
              <a:t>(Pg. 10)</a:t>
            </a:r>
            <a:endParaRPr lang="en-US" sz="2600" dirty="0">
              <a:highlight>
                <a:srgbClr val="FFFF00"/>
              </a:highlight>
            </a:endParaRPr>
          </a:p>
        </p:txBody>
      </p:sp>
      <p:graphicFrame>
        <p:nvGraphicFramePr>
          <p:cNvPr id="5" name="Content Placeholder 2">
            <a:extLst>
              <a:ext uri="{FF2B5EF4-FFF2-40B4-BE49-F238E27FC236}">
                <a16:creationId xmlns:a16="http://schemas.microsoft.com/office/drawing/2014/main" id="{EFBDD51D-5C2A-4C2D-AE3F-29568B7A86E6}"/>
              </a:ext>
            </a:extLst>
          </p:cNvPr>
          <p:cNvGraphicFramePr>
            <a:graphicFrameLocks noGrp="1"/>
          </p:cNvGraphicFramePr>
          <p:nvPr>
            <p:ph idx="1"/>
            <p:extLst>
              <p:ext uri="{D42A27DB-BD31-4B8C-83A1-F6EECF244321}">
                <p14:modId xmlns:p14="http://schemas.microsoft.com/office/powerpoint/2010/main" val="3819809527"/>
              </p:ext>
            </p:extLst>
          </p:nvPr>
        </p:nvGraphicFramePr>
        <p:xfrm>
          <a:off x="581025" y="1701478"/>
          <a:ext cx="11029950" cy="44543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539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C3482-8D9D-716E-4C9F-65CCE7E6C6E5}"/>
              </a:ext>
            </a:extLst>
          </p:cNvPr>
          <p:cNvSpPr>
            <a:spLocks noGrp="1"/>
          </p:cNvSpPr>
          <p:nvPr>
            <p:ph type="title"/>
          </p:nvPr>
        </p:nvSpPr>
        <p:spPr>
          <a:xfrm>
            <a:off x="451412" y="305296"/>
            <a:ext cx="8854633" cy="1642970"/>
          </a:xfrm>
        </p:spPr>
        <p:txBody>
          <a:bodyPr anchor="b">
            <a:normAutofit/>
          </a:bodyPr>
          <a:lstStyle/>
          <a:p>
            <a:r>
              <a:rPr lang="en-US" sz="3500" dirty="0"/>
              <a:t>Socioeconomic impacts on health</a:t>
            </a:r>
          </a:p>
        </p:txBody>
      </p:sp>
      <p:sp>
        <p:nvSpPr>
          <p:cNvPr id="3" name="Content Placeholder 2">
            <a:extLst>
              <a:ext uri="{FF2B5EF4-FFF2-40B4-BE49-F238E27FC236}">
                <a16:creationId xmlns:a16="http://schemas.microsoft.com/office/drawing/2014/main" id="{24D33296-EC51-070A-ADCE-EB189731FF06}"/>
              </a:ext>
            </a:extLst>
          </p:cNvPr>
          <p:cNvSpPr>
            <a:spLocks noGrp="1"/>
          </p:cNvSpPr>
          <p:nvPr>
            <p:ph idx="1"/>
          </p:nvPr>
        </p:nvSpPr>
        <p:spPr>
          <a:xfrm>
            <a:off x="451413" y="2635592"/>
            <a:ext cx="7211028" cy="3535083"/>
          </a:xfrm>
        </p:spPr>
        <p:txBody>
          <a:bodyPr anchor="t">
            <a:normAutofit/>
          </a:bodyPr>
          <a:lstStyle/>
          <a:p>
            <a:r>
              <a:rPr lang="en-US" sz="1700" u="sng" dirty="0">
                <a:latin typeface="Cambria" panose="02040503050406030204" pitchFamily="18" charset="0"/>
                <a:ea typeface="MS Mincho" panose="02020609040205080304" pitchFamily="49" charset="-128"/>
                <a:cs typeface="Times New Roman" panose="02020603050405020304" pitchFamily="18" charset="0"/>
                <a:hlinkClick r:id="rId3"/>
              </a:rPr>
              <a:t>http://www.unnaturalcauses.org/video_clips_detail.php?res_id=409</a:t>
            </a:r>
            <a:endParaRPr lang="en-US" sz="1700" u="sng" dirty="0">
              <a:latin typeface="Cambria" panose="02040503050406030204" pitchFamily="18" charset="0"/>
              <a:ea typeface="MS Mincho" panose="02020609040205080304" pitchFamily="49" charset="-128"/>
              <a:cs typeface="Times New Roman" panose="02020603050405020304" pitchFamily="18" charset="0"/>
            </a:endParaRPr>
          </a:p>
          <a:p>
            <a:endParaRPr lang="en-AU" sz="1700" dirty="0">
              <a:latin typeface="Cambria" panose="02040503050406030204" pitchFamily="18" charset="0"/>
              <a:ea typeface="MS Mincho" panose="02020609040205080304" pitchFamily="49" charset="-128"/>
              <a:cs typeface="Times New Roman" panose="02020603050405020304" pitchFamily="18" charset="0"/>
            </a:endParaRPr>
          </a:p>
          <a:p>
            <a:endParaRPr lang="en-AU" sz="1700" dirty="0">
              <a:latin typeface="Cambria" panose="02040503050406030204" pitchFamily="18" charset="0"/>
              <a:ea typeface="MS Mincho" panose="02020609040205080304" pitchFamily="49" charset="-128"/>
              <a:cs typeface="Times New Roman" panose="02020603050405020304" pitchFamily="18" charset="0"/>
            </a:endParaRPr>
          </a:p>
          <a:p>
            <a:r>
              <a:rPr lang="en-AU" sz="1700" dirty="0">
                <a:latin typeface="Cambria" panose="02040503050406030204" pitchFamily="18" charset="0"/>
                <a:ea typeface="MS Mincho" panose="02020609040205080304" pitchFamily="49" charset="-128"/>
                <a:cs typeface="Times New Roman" panose="02020603050405020304" pitchFamily="18" charset="0"/>
              </a:rPr>
              <a:t>While watching the video, add anything new to your definition on pg.10</a:t>
            </a:r>
          </a:p>
          <a:p>
            <a:endParaRPr lang="en-US" sz="1700" dirty="0"/>
          </a:p>
        </p:txBody>
      </p:sp>
      <p:pic>
        <p:nvPicPr>
          <p:cNvPr id="7" name="Graphic 6" descr="Video camera">
            <a:extLst>
              <a:ext uri="{FF2B5EF4-FFF2-40B4-BE49-F238E27FC236}">
                <a16:creationId xmlns:a16="http://schemas.microsoft.com/office/drawing/2014/main" id="{C84A8F0C-8184-0447-E2B3-0EB89E6DC1C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12690" y="1948266"/>
            <a:ext cx="3127897" cy="3127897"/>
          </a:xfrm>
          <a:prstGeom prst="rect">
            <a:avLst/>
          </a:prstGeom>
        </p:spPr>
      </p:pic>
    </p:spTree>
    <p:extLst>
      <p:ext uri="{BB962C8B-B14F-4D97-AF65-F5344CB8AC3E}">
        <p14:creationId xmlns:p14="http://schemas.microsoft.com/office/powerpoint/2010/main" val="28453042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C3482-8D9D-716E-4C9F-65CCE7E6C6E5}"/>
              </a:ext>
            </a:extLst>
          </p:cNvPr>
          <p:cNvSpPr>
            <a:spLocks noGrp="1"/>
          </p:cNvSpPr>
          <p:nvPr>
            <p:ph type="title"/>
          </p:nvPr>
        </p:nvSpPr>
        <p:spPr>
          <a:xfrm>
            <a:off x="439838" y="305296"/>
            <a:ext cx="9109276" cy="1642970"/>
          </a:xfrm>
        </p:spPr>
        <p:txBody>
          <a:bodyPr anchor="b">
            <a:normAutofit/>
          </a:bodyPr>
          <a:lstStyle/>
          <a:p>
            <a:r>
              <a:rPr lang="en-US" sz="3500" dirty="0"/>
              <a:t>Environmental impacts on health</a:t>
            </a:r>
          </a:p>
        </p:txBody>
      </p:sp>
      <p:sp>
        <p:nvSpPr>
          <p:cNvPr id="3" name="Content Placeholder 2">
            <a:extLst>
              <a:ext uri="{FF2B5EF4-FFF2-40B4-BE49-F238E27FC236}">
                <a16:creationId xmlns:a16="http://schemas.microsoft.com/office/drawing/2014/main" id="{24D33296-EC51-070A-ADCE-EB189731FF06}"/>
              </a:ext>
            </a:extLst>
          </p:cNvPr>
          <p:cNvSpPr>
            <a:spLocks noGrp="1"/>
          </p:cNvSpPr>
          <p:nvPr>
            <p:ph idx="1"/>
          </p:nvPr>
        </p:nvSpPr>
        <p:spPr>
          <a:xfrm>
            <a:off x="439839" y="2635592"/>
            <a:ext cx="7083705" cy="3535083"/>
          </a:xfrm>
        </p:spPr>
        <p:txBody>
          <a:bodyPr anchor="t">
            <a:normAutofit/>
          </a:bodyPr>
          <a:lstStyle/>
          <a:p>
            <a:r>
              <a:rPr lang="en-US" u="sng" dirty="0">
                <a:solidFill>
                  <a:srgbClr val="0000FF"/>
                </a:solidFill>
                <a:latin typeface="Cambria" panose="02040503050406030204" pitchFamily="18" charset="0"/>
                <a:ea typeface="MS Mincho" panose="02020609040205080304" pitchFamily="49" charset="-128"/>
                <a:cs typeface="Times New Roman" panose="02020603050405020304" pitchFamily="18" charset="0"/>
                <a:hlinkClick r:id="rId3"/>
              </a:rPr>
              <a:t>http://www.unnaturalcauses.org/video_clips_detail.php?res_id=71</a:t>
            </a:r>
            <a:r>
              <a:rPr lang="en-US" dirty="0">
                <a:latin typeface="Cambria" panose="02040503050406030204" pitchFamily="18" charset="0"/>
                <a:ea typeface="MS Mincho" panose="02020609040205080304" pitchFamily="49" charset="-128"/>
                <a:cs typeface="Times New Roman" panose="02020603050405020304" pitchFamily="18" charset="0"/>
              </a:rPr>
              <a:t> </a:t>
            </a:r>
          </a:p>
          <a:p>
            <a:endParaRPr lang="en-US" dirty="0">
              <a:latin typeface="Cambria" panose="02040503050406030204" pitchFamily="18" charset="0"/>
              <a:ea typeface="MS Mincho" panose="02020609040205080304" pitchFamily="49" charset="-128"/>
              <a:cs typeface="Times New Roman" panose="02020603050405020304" pitchFamily="18" charset="0"/>
            </a:endParaRPr>
          </a:p>
          <a:p>
            <a:endParaRPr lang="en-AU" sz="1700" dirty="0">
              <a:latin typeface="Cambria" panose="02040503050406030204" pitchFamily="18" charset="0"/>
              <a:ea typeface="MS Mincho" panose="02020609040205080304" pitchFamily="49" charset="-128"/>
              <a:cs typeface="Times New Roman" panose="02020603050405020304" pitchFamily="18" charset="0"/>
            </a:endParaRPr>
          </a:p>
          <a:p>
            <a:r>
              <a:rPr lang="en-AU" sz="1700" dirty="0">
                <a:latin typeface="Cambria" panose="02040503050406030204" pitchFamily="18" charset="0"/>
                <a:ea typeface="MS Mincho" panose="02020609040205080304" pitchFamily="49" charset="-128"/>
                <a:cs typeface="Times New Roman" panose="02020603050405020304" pitchFamily="18" charset="0"/>
              </a:rPr>
              <a:t>While watching the video, add anything new to your definition on pg.10</a:t>
            </a:r>
            <a:endParaRPr lang="en-AU" sz="1700" dirty="0">
              <a:highlight>
                <a:srgbClr val="FFFF00"/>
              </a:highlight>
              <a:latin typeface="Cambria" panose="02040503050406030204" pitchFamily="18" charset="0"/>
              <a:ea typeface="MS Mincho" panose="02020609040205080304" pitchFamily="49" charset="-128"/>
              <a:cs typeface="Times New Roman" panose="02020603050405020304" pitchFamily="18" charset="0"/>
            </a:endParaRPr>
          </a:p>
          <a:p>
            <a:endParaRPr lang="en-US" sz="1700" dirty="0"/>
          </a:p>
        </p:txBody>
      </p:sp>
      <p:pic>
        <p:nvPicPr>
          <p:cNvPr id="7" name="Graphic 6" descr="Video camera">
            <a:extLst>
              <a:ext uri="{FF2B5EF4-FFF2-40B4-BE49-F238E27FC236}">
                <a16:creationId xmlns:a16="http://schemas.microsoft.com/office/drawing/2014/main" id="{C84A8F0C-8184-0447-E2B3-0EB89E6DC1C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24264" y="2147216"/>
            <a:ext cx="3127897" cy="3127897"/>
          </a:xfrm>
          <a:prstGeom prst="rect">
            <a:avLst/>
          </a:prstGeom>
        </p:spPr>
      </p:pic>
    </p:spTree>
    <p:extLst>
      <p:ext uri="{BB962C8B-B14F-4D97-AF65-F5344CB8AC3E}">
        <p14:creationId xmlns:p14="http://schemas.microsoft.com/office/powerpoint/2010/main" val="10997864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C3482-8D9D-716E-4C9F-65CCE7E6C6E5}"/>
              </a:ext>
            </a:extLst>
          </p:cNvPr>
          <p:cNvSpPr>
            <a:spLocks noGrp="1"/>
          </p:cNvSpPr>
          <p:nvPr>
            <p:ph type="title"/>
          </p:nvPr>
        </p:nvSpPr>
        <p:spPr>
          <a:xfrm>
            <a:off x="451412" y="305296"/>
            <a:ext cx="8958805" cy="1642970"/>
          </a:xfrm>
        </p:spPr>
        <p:txBody>
          <a:bodyPr anchor="b">
            <a:normAutofit/>
          </a:bodyPr>
          <a:lstStyle/>
          <a:p>
            <a:r>
              <a:rPr lang="en-US" sz="3500" dirty="0"/>
              <a:t>Neighbourhood impacts on health</a:t>
            </a:r>
          </a:p>
        </p:txBody>
      </p:sp>
      <p:sp>
        <p:nvSpPr>
          <p:cNvPr id="3" name="Content Placeholder 2">
            <a:extLst>
              <a:ext uri="{FF2B5EF4-FFF2-40B4-BE49-F238E27FC236}">
                <a16:creationId xmlns:a16="http://schemas.microsoft.com/office/drawing/2014/main" id="{24D33296-EC51-070A-ADCE-EB189731FF06}"/>
              </a:ext>
            </a:extLst>
          </p:cNvPr>
          <p:cNvSpPr>
            <a:spLocks noGrp="1"/>
          </p:cNvSpPr>
          <p:nvPr>
            <p:ph idx="1"/>
          </p:nvPr>
        </p:nvSpPr>
        <p:spPr>
          <a:xfrm>
            <a:off x="451412" y="2635592"/>
            <a:ext cx="7569843" cy="3535083"/>
          </a:xfrm>
        </p:spPr>
        <p:txBody>
          <a:bodyPr anchor="t">
            <a:normAutofit/>
          </a:bodyPr>
          <a:lstStyle/>
          <a:p>
            <a:r>
              <a:rPr lang="en-US" u="sng" dirty="0">
                <a:solidFill>
                  <a:srgbClr val="0000FF"/>
                </a:solidFill>
                <a:latin typeface="Cambria" panose="02040503050406030204" pitchFamily="18" charset="0"/>
                <a:ea typeface="MS Mincho" panose="02020609040205080304" pitchFamily="49" charset="-128"/>
                <a:cs typeface="Times New Roman" panose="02020603050405020304" pitchFamily="18" charset="0"/>
                <a:hlinkClick r:id="rId3"/>
              </a:rPr>
              <a:t>http://www.unnaturalcauses.org/video_clips_detail.php?res_id=217</a:t>
            </a:r>
            <a:r>
              <a:rPr lang="en-US" dirty="0">
                <a:latin typeface="Cambria" panose="02040503050406030204" pitchFamily="18" charset="0"/>
                <a:ea typeface="MS Mincho" panose="02020609040205080304" pitchFamily="49" charset="-128"/>
                <a:cs typeface="Times New Roman" panose="02020603050405020304" pitchFamily="18" charset="0"/>
              </a:rPr>
              <a:t> </a:t>
            </a:r>
          </a:p>
          <a:p>
            <a:pPr marL="0" indent="0">
              <a:buNone/>
            </a:pPr>
            <a:endParaRPr lang="en-US" dirty="0">
              <a:latin typeface="Cambria" panose="02040503050406030204" pitchFamily="18" charset="0"/>
              <a:ea typeface="MS Mincho" panose="02020609040205080304" pitchFamily="49" charset="-128"/>
              <a:cs typeface="Times New Roman" panose="02020603050405020304" pitchFamily="18" charset="0"/>
            </a:endParaRPr>
          </a:p>
          <a:p>
            <a:endParaRPr lang="en-AU" sz="1700" dirty="0">
              <a:latin typeface="Cambria" panose="02040503050406030204" pitchFamily="18" charset="0"/>
              <a:ea typeface="MS Mincho" panose="02020609040205080304" pitchFamily="49" charset="-128"/>
              <a:cs typeface="Times New Roman" panose="02020603050405020304" pitchFamily="18" charset="0"/>
            </a:endParaRPr>
          </a:p>
          <a:p>
            <a:r>
              <a:rPr lang="en-AU" sz="1700" dirty="0">
                <a:latin typeface="Cambria" panose="02040503050406030204" pitchFamily="18" charset="0"/>
                <a:ea typeface="MS Mincho" panose="02020609040205080304" pitchFamily="49" charset="-128"/>
                <a:cs typeface="Times New Roman" panose="02020603050405020304" pitchFamily="18" charset="0"/>
              </a:rPr>
              <a:t>While watching the video, add anything new to your definition on pg.10</a:t>
            </a:r>
            <a:endParaRPr lang="en-AU" sz="1700" dirty="0">
              <a:highlight>
                <a:srgbClr val="FFFF00"/>
              </a:highlight>
              <a:latin typeface="Cambria" panose="02040503050406030204" pitchFamily="18" charset="0"/>
              <a:ea typeface="MS Mincho" panose="02020609040205080304" pitchFamily="49" charset="-128"/>
              <a:cs typeface="Times New Roman" panose="02020603050405020304" pitchFamily="18" charset="0"/>
            </a:endParaRPr>
          </a:p>
          <a:p>
            <a:endParaRPr lang="en-US" sz="1700" dirty="0"/>
          </a:p>
        </p:txBody>
      </p:sp>
      <p:pic>
        <p:nvPicPr>
          <p:cNvPr id="7" name="Graphic 6" descr="Video camera">
            <a:extLst>
              <a:ext uri="{FF2B5EF4-FFF2-40B4-BE49-F238E27FC236}">
                <a16:creationId xmlns:a16="http://schemas.microsoft.com/office/drawing/2014/main" id="{C84A8F0C-8184-0447-E2B3-0EB89E6DC1C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12690" y="2124068"/>
            <a:ext cx="3127897" cy="3127897"/>
          </a:xfrm>
          <a:prstGeom prst="rect">
            <a:avLst/>
          </a:prstGeom>
        </p:spPr>
      </p:pic>
    </p:spTree>
    <p:extLst>
      <p:ext uri="{BB962C8B-B14F-4D97-AF65-F5344CB8AC3E}">
        <p14:creationId xmlns:p14="http://schemas.microsoft.com/office/powerpoint/2010/main" val="23117068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7C4039-D3DD-6BB3-3A03-2C2960C1B011}"/>
              </a:ext>
            </a:extLst>
          </p:cNvPr>
          <p:cNvSpPr>
            <a:spLocks noGrp="1"/>
          </p:cNvSpPr>
          <p:nvPr>
            <p:ph idx="1"/>
          </p:nvPr>
        </p:nvSpPr>
        <p:spPr>
          <a:xfrm>
            <a:off x="281157" y="1803603"/>
            <a:ext cx="2090570" cy="3250793"/>
          </a:xfrm>
        </p:spPr>
        <p:txBody>
          <a:bodyPr>
            <a:normAutofit/>
          </a:bodyPr>
          <a:lstStyle/>
          <a:p>
            <a:pPr marL="0" indent="0">
              <a:buNone/>
            </a:pPr>
            <a:r>
              <a:rPr lang="en-US" dirty="0"/>
              <a:t>Which determinants of health are impacting the health of the individuals in this image?</a:t>
            </a:r>
          </a:p>
          <a:p>
            <a:pPr marL="0" indent="0">
              <a:buNone/>
            </a:pPr>
            <a:endParaRPr lang="en-US" dirty="0"/>
          </a:p>
        </p:txBody>
      </p:sp>
      <p:pic>
        <p:nvPicPr>
          <p:cNvPr id="6" name="Picture 2" descr="The Other Culprit That's Making Natural Disasters Deadlier: Cities - The  Atlantic">
            <a:extLst>
              <a:ext uri="{FF2B5EF4-FFF2-40B4-BE49-F238E27FC236}">
                <a16:creationId xmlns:a16="http://schemas.microsoft.com/office/drawing/2014/main" id="{DB84CCA6-4AFD-5125-2773-B6EE4B149F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1763" y="1077458"/>
            <a:ext cx="9239080" cy="5258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046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BA7A6078-F00B-F509-4568-751E182792A3}"/>
              </a:ext>
            </a:extLst>
          </p:cNvPr>
          <p:cNvSpPr>
            <a:spLocks noGrp="1"/>
          </p:cNvSpPr>
          <p:nvPr>
            <p:ph idx="1"/>
          </p:nvPr>
        </p:nvSpPr>
        <p:spPr>
          <a:xfrm>
            <a:off x="581194" y="1896533"/>
            <a:ext cx="6309003" cy="3962266"/>
          </a:xfrm>
        </p:spPr>
        <p:txBody>
          <a:bodyPr>
            <a:normAutofit/>
          </a:bodyPr>
          <a:lstStyle/>
          <a:p>
            <a:r>
              <a:rPr lang="en-US">
                <a:solidFill>
                  <a:schemeClr val="tx2"/>
                </a:solidFill>
              </a:rPr>
              <a:t>Sally is a 35-year-old single woman who runs a successful company. She lives in Perth and moved here 3 years ago but the rest of her family live over east. Since moving to Perth, she has been busy setting up her business and hasn’t had the most time to explore. Sally owns her newly built single-story home in Cottesloe near the beach and pays her mortgage on her own. </a:t>
            </a:r>
          </a:p>
          <a:p>
            <a:pPr marL="0" indent="0">
              <a:buNone/>
            </a:pPr>
            <a:endParaRPr lang="en-US">
              <a:solidFill>
                <a:schemeClr val="tx2"/>
              </a:solidFill>
            </a:endParaRPr>
          </a:p>
          <a:p>
            <a:pPr marL="0" indent="0">
              <a:buNone/>
            </a:pPr>
            <a:endParaRPr lang="en-US">
              <a:solidFill>
                <a:schemeClr val="tx2"/>
              </a:solidFill>
            </a:endParaRPr>
          </a:p>
          <a:p>
            <a:r>
              <a:rPr lang="en-US">
                <a:solidFill>
                  <a:schemeClr val="tx2"/>
                </a:solidFill>
              </a:rPr>
              <a:t>Which determinants of health are impacting the health of Sally with the information provided?</a:t>
            </a:r>
          </a:p>
          <a:p>
            <a:endParaRPr lang="en-US">
              <a:solidFill>
                <a:schemeClr val="tx2"/>
              </a:solidFill>
            </a:endParaRPr>
          </a:p>
          <a:p>
            <a:endParaRPr lang="en-US">
              <a:solidFill>
                <a:schemeClr val="tx2"/>
              </a:solidFill>
            </a:endParaRPr>
          </a:p>
        </p:txBody>
      </p:sp>
      <p:pic>
        <p:nvPicPr>
          <p:cNvPr id="2052" name="Picture 4" descr="Single Storey Home Designs | Contemporary &amp; Modern House Plans | Montgomery  Homes">
            <a:extLst>
              <a:ext uri="{FF2B5EF4-FFF2-40B4-BE49-F238E27FC236}">
                <a16:creationId xmlns:a16="http://schemas.microsoft.com/office/drawing/2014/main" id="{5DB713A0-8C51-A5FE-AAF5-01A1642125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037" r="-2" b="-2"/>
          <a:stretch/>
        </p:blipFill>
        <p:spPr bwMode="auto">
          <a:xfrm>
            <a:off x="7065024" y="783369"/>
            <a:ext cx="4542619" cy="278850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ottesloe Beach | Surf Life Saving Western Australia">
            <a:extLst>
              <a:ext uri="{FF2B5EF4-FFF2-40B4-BE49-F238E27FC236}">
                <a16:creationId xmlns:a16="http://schemas.microsoft.com/office/drawing/2014/main" id="{B2C54052-9486-7D2A-7F21-82F9CCCA712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815" r="3548" b="-3"/>
          <a:stretch/>
        </p:blipFill>
        <p:spPr bwMode="auto">
          <a:xfrm>
            <a:off x="7068183" y="3713585"/>
            <a:ext cx="4542624" cy="2788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98952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E1BBB-F17C-324E-8D60-08F087E48ADC}"/>
              </a:ext>
            </a:extLst>
          </p:cNvPr>
          <p:cNvSpPr>
            <a:spLocks noGrp="1"/>
          </p:cNvSpPr>
          <p:nvPr>
            <p:ph type="title"/>
          </p:nvPr>
        </p:nvSpPr>
        <p:spPr>
          <a:xfrm>
            <a:off x="347242" y="116807"/>
            <a:ext cx="11844758" cy="1325563"/>
          </a:xfrm>
        </p:spPr>
        <p:txBody>
          <a:bodyPr>
            <a:normAutofit/>
          </a:bodyPr>
          <a:lstStyle/>
          <a:p>
            <a:r>
              <a:rPr lang="en-US" dirty="0"/>
              <a:t>Identify the Determinants of Health impacting Obesity: </a:t>
            </a:r>
            <a:r>
              <a:rPr lang="en-US" sz="2800" dirty="0">
                <a:solidFill>
                  <a:schemeClr val="tx2"/>
                </a:solidFill>
              </a:rPr>
              <a:t>(Pg. 11)</a:t>
            </a:r>
            <a:endParaRPr lang="en-US" dirty="0"/>
          </a:p>
        </p:txBody>
      </p:sp>
      <p:sp>
        <p:nvSpPr>
          <p:cNvPr id="3" name="TextBox 2">
            <a:extLst>
              <a:ext uri="{FF2B5EF4-FFF2-40B4-BE49-F238E27FC236}">
                <a16:creationId xmlns:a16="http://schemas.microsoft.com/office/drawing/2014/main" id="{167A11FF-CDAF-1D80-8A0A-4E926825EFDB}"/>
              </a:ext>
            </a:extLst>
          </p:cNvPr>
          <p:cNvSpPr txBox="1"/>
          <p:nvPr/>
        </p:nvSpPr>
        <p:spPr>
          <a:xfrm>
            <a:off x="6485683" y="5003701"/>
            <a:ext cx="5216322" cy="1200329"/>
          </a:xfrm>
          <a:prstGeom prst="rect">
            <a:avLst/>
          </a:prstGeom>
          <a:noFill/>
        </p:spPr>
        <p:txBody>
          <a:bodyPr wrap="square" rtlCol="0">
            <a:spAutoFit/>
          </a:bodyPr>
          <a:lstStyle/>
          <a:p>
            <a:pPr algn="ctr"/>
            <a:r>
              <a:rPr lang="en-US" dirty="0"/>
              <a:t>TIP: </a:t>
            </a:r>
          </a:p>
          <a:p>
            <a:r>
              <a:rPr lang="en-US" dirty="0"/>
              <a:t>Take a look back at the </a:t>
            </a:r>
            <a:r>
              <a:rPr lang="en-US" b="1" dirty="0"/>
              <a:t>risk factors and causes of risk factors </a:t>
            </a:r>
            <a:r>
              <a:rPr lang="en-US" dirty="0"/>
              <a:t>that were identified earlier and which category of determinants they could fit under…</a:t>
            </a:r>
          </a:p>
        </p:txBody>
      </p:sp>
      <p:graphicFrame>
        <p:nvGraphicFramePr>
          <p:cNvPr id="8" name="Content Placeholder 2">
            <a:extLst>
              <a:ext uri="{FF2B5EF4-FFF2-40B4-BE49-F238E27FC236}">
                <a16:creationId xmlns:a16="http://schemas.microsoft.com/office/drawing/2014/main" id="{959A7CD5-3415-8699-6DA0-B65DB51CA4FA}"/>
              </a:ext>
            </a:extLst>
          </p:cNvPr>
          <p:cNvGraphicFramePr>
            <a:graphicFrameLocks/>
          </p:cNvGraphicFramePr>
          <p:nvPr>
            <p:extLst>
              <p:ext uri="{D42A27DB-BD31-4B8C-83A1-F6EECF244321}">
                <p14:modId xmlns:p14="http://schemas.microsoft.com/office/powerpoint/2010/main" val="1986252679"/>
              </p:ext>
            </p:extLst>
          </p:nvPr>
        </p:nvGraphicFramePr>
        <p:xfrm>
          <a:off x="581025" y="1701478"/>
          <a:ext cx="4905375" cy="45025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65644420-28DC-0DAE-BDB4-B8D8E8541EBA}"/>
              </a:ext>
            </a:extLst>
          </p:cNvPr>
          <p:cNvSpPr txBox="1"/>
          <p:nvPr/>
        </p:nvSpPr>
        <p:spPr>
          <a:xfrm>
            <a:off x="6171639" y="2763558"/>
            <a:ext cx="5703986" cy="923330"/>
          </a:xfrm>
          <a:prstGeom prst="rect">
            <a:avLst/>
          </a:prstGeom>
          <a:noFill/>
        </p:spPr>
        <p:txBody>
          <a:bodyPr wrap="square" rtlCol="0">
            <a:spAutoFit/>
          </a:bodyPr>
          <a:lstStyle/>
          <a:p>
            <a:r>
              <a:rPr lang="en-US" dirty="0"/>
              <a:t>Think about the factors that can contribute to obesity. </a:t>
            </a:r>
          </a:p>
          <a:p>
            <a:br>
              <a:rPr lang="en-US" dirty="0"/>
            </a:br>
            <a:r>
              <a:rPr lang="en-US" dirty="0"/>
              <a:t>Categorise them into the determinant they best fit into. </a:t>
            </a:r>
          </a:p>
        </p:txBody>
      </p:sp>
    </p:spTree>
    <p:extLst>
      <p:ext uri="{BB962C8B-B14F-4D97-AF65-F5344CB8AC3E}">
        <p14:creationId xmlns:p14="http://schemas.microsoft.com/office/powerpoint/2010/main" val="33841638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E1BBB-F17C-324E-8D60-08F087E48ADC}"/>
              </a:ext>
            </a:extLst>
          </p:cNvPr>
          <p:cNvSpPr>
            <a:spLocks noGrp="1"/>
          </p:cNvSpPr>
          <p:nvPr>
            <p:ph type="title"/>
          </p:nvPr>
        </p:nvSpPr>
        <p:spPr>
          <a:xfrm>
            <a:off x="9073426" y="3041300"/>
            <a:ext cx="3102016" cy="1325563"/>
          </a:xfrm>
        </p:spPr>
        <p:txBody>
          <a:bodyPr>
            <a:normAutofit fontScale="90000"/>
          </a:bodyPr>
          <a:lstStyle/>
          <a:p>
            <a:r>
              <a:rPr lang="en-US" dirty="0"/>
              <a:t>Identify the Determinants of Health impacting Obesity: 		</a:t>
            </a:r>
            <a:r>
              <a:rPr lang="en-US" sz="2800" dirty="0">
                <a:solidFill>
                  <a:schemeClr val="tx2"/>
                </a:solidFill>
              </a:rPr>
              <a:t>(Pg. 11)</a:t>
            </a:r>
            <a:endParaRPr lang="en-US" dirty="0"/>
          </a:p>
        </p:txBody>
      </p:sp>
      <p:graphicFrame>
        <p:nvGraphicFramePr>
          <p:cNvPr id="11" name="Diagram 10">
            <a:extLst>
              <a:ext uri="{FF2B5EF4-FFF2-40B4-BE49-F238E27FC236}">
                <a16:creationId xmlns:a16="http://schemas.microsoft.com/office/drawing/2014/main" id="{EFBDD51D-5C2A-4C2D-AE3F-29568B7A86E6}"/>
              </a:ext>
            </a:extLst>
          </p:cNvPr>
          <p:cNvGraphicFramePr/>
          <p:nvPr>
            <p:extLst>
              <p:ext uri="{D42A27DB-BD31-4B8C-83A1-F6EECF244321}">
                <p14:modId xmlns:p14="http://schemas.microsoft.com/office/powerpoint/2010/main" val="2581141920"/>
              </p:ext>
            </p:extLst>
          </p:nvPr>
        </p:nvGraphicFramePr>
        <p:xfrm>
          <a:off x="464318" y="654336"/>
          <a:ext cx="8609108" cy="60994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189389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528724-55C9-60C2-5BE2-B3F83319ACD3}"/>
              </a:ext>
            </a:extLst>
          </p:cNvPr>
          <p:cNvSpPr>
            <a:spLocks noGrp="1"/>
          </p:cNvSpPr>
          <p:nvPr>
            <p:ph type="title"/>
          </p:nvPr>
        </p:nvSpPr>
        <p:spPr>
          <a:xfrm>
            <a:off x="581192" y="702156"/>
            <a:ext cx="11029616" cy="1188720"/>
          </a:xfrm>
        </p:spPr>
        <p:txBody>
          <a:bodyPr>
            <a:normAutofit/>
          </a:bodyPr>
          <a:lstStyle/>
          <a:p>
            <a:r>
              <a:rPr lang="en-US" dirty="0"/>
              <a:t>Reflection:																	(PG.11)</a:t>
            </a:r>
          </a:p>
        </p:txBody>
      </p:sp>
      <p:sp>
        <p:nvSpPr>
          <p:cNvPr id="12" name="Rectangle 11">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Avocado">
            <a:extLst>
              <a:ext uri="{FF2B5EF4-FFF2-40B4-BE49-F238E27FC236}">
                <a16:creationId xmlns:a16="http://schemas.microsoft.com/office/drawing/2014/main" id="{F94B8FB8-C242-38D9-0738-2FE6D442DD2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52372" y="2499053"/>
            <a:ext cx="3405393" cy="3405393"/>
          </a:xfrm>
          <a:prstGeom prst="rect">
            <a:avLst/>
          </a:prstGeom>
        </p:spPr>
      </p:pic>
      <p:sp>
        <p:nvSpPr>
          <p:cNvPr id="3" name="Content Placeholder 2">
            <a:extLst>
              <a:ext uri="{FF2B5EF4-FFF2-40B4-BE49-F238E27FC236}">
                <a16:creationId xmlns:a16="http://schemas.microsoft.com/office/drawing/2014/main" id="{04114952-1891-6B57-8AA1-061CFF67C7EC}"/>
              </a:ext>
            </a:extLst>
          </p:cNvPr>
          <p:cNvSpPr>
            <a:spLocks noGrp="1"/>
          </p:cNvSpPr>
          <p:nvPr>
            <p:ph idx="1"/>
          </p:nvPr>
        </p:nvSpPr>
        <p:spPr>
          <a:xfrm>
            <a:off x="6335805" y="2180496"/>
            <a:ext cx="5275001" cy="4045683"/>
          </a:xfrm>
        </p:spPr>
        <p:txBody>
          <a:bodyPr>
            <a:normAutofit/>
          </a:bodyPr>
          <a:lstStyle/>
          <a:p>
            <a:r>
              <a:rPr lang="en-US" dirty="0"/>
              <a:t>Think of 3 things you </a:t>
            </a:r>
            <a:r>
              <a:rPr lang="en-US" sz="2400" b="1" dirty="0"/>
              <a:t>currently</a:t>
            </a:r>
            <a:r>
              <a:rPr lang="en-US" dirty="0"/>
              <a:t> do in your life to stay healthy.</a:t>
            </a:r>
          </a:p>
          <a:p>
            <a:endParaRPr lang="en-US" dirty="0"/>
          </a:p>
          <a:p>
            <a:r>
              <a:rPr lang="en-US" dirty="0"/>
              <a:t>Think of 3 things you </a:t>
            </a:r>
            <a:r>
              <a:rPr lang="en-US" sz="2400" b="1" dirty="0"/>
              <a:t>could do better</a:t>
            </a:r>
            <a:r>
              <a:rPr lang="en-US" sz="2400" dirty="0"/>
              <a:t> </a:t>
            </a:r>
            <a:r>
              <a:rPr lang="en-US" dirty="0"/>
              <a:t>in your life to stay healthy.</a:t>
            </a:r>
          </a:p>
        </p:txBody>
      </p:sp>
    </p:spTree>
    <p:extLst>
      <p:ext uri="{BB962C8B-B14F-4D97-AF65-F5344CB8AC3E}">
        <p14:creationId xmlns:p14="http://schemas.microsoft.com/office/powerpoint/2010/main" val="17780306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030BA9-BD5D-EE73-3707-C8D6FB6858B9}"/>
              </a:ext>
            </a:extLst>
          </p:cNvPr>
          <p:cNvPicPr>
            <a:picLocks noChangeAspect="1"/>
          </p:cNvPicPr>
          <p:nvPr/>
        </p:nvPicPr>
        <p:blipFill rotWithShape="1">
          <a:blip r:embed="rId2"/>
          <a:srcRect t="7843" b="8514"/>
          <a:stretch/>
        </p:blipFill>
        <p:spPr>
          <a:xfrm>
            <a:off x="-3047" y="10"/>
            <a:ext cx="12191999" cy="6857990"/>
          </a:xfrm>
          <a:prstGeom prst="rect">
            <a:avLst/>
          </a:prstGeom>
        </p:spPr>
      </p:pic>
      <p:sp>
        <p:nvSpPr>
          <p:cNvPr id="18" name="Rectangle 17">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914304-9298-0AF7-AEAD-E7CB0291F04A}"/>
              </a:ext>
            </a:extLst>
          </p:cNvPr>
          <p:cNvSpPr>
            <a:spLocks noGrp="1"/>
          </p:cNvSpPr>
          <p:nvPr>
            <p:ph type="ctrTitle"/>
          </p:nvPr>
        </p:nvSpPr>
        <p:spPr>
          <a:xfrm>
            <a:off x="643466" y="643467"/>
            <a:ext cx="10905059" cy="3330353"/>
          </a:xfrm>
          <a:effectLst>
            <a:outerShdw blurRad="50800" dist="38100" dir="2700000" algn="tl" rotWithShape="0">
              <a:prstClr val="black">
                <a:alpha val="40000"/>
              </a:prstClr>
            </a:outerShdw>
          </a:effectLst>
        </p:spPr>
        <p:txBody>
          <a:bodyPr>
            <a:normAutofit/>
          </a:bodyPr>
          <a:lstStyle/>
          <a:p>
            <a:pPr algn="ctr"/>
            <a:r>
              <a:rPr lang="en-US" dirty="0">
                <a:solidFill>
                  <a:schemeClr val="bg1"/>
                </a:solidFill>
              </a:rPr>
              <a:t>IMPACTS On Health</a:t>
            </a:r>
          </a:p>
        </p:txBody>
      </p:sp>
      <p:sp>
        <p:nvSpPr>
          <p:cNvPr id="3" name="Subtitle 2">
            <a:extLst>
              <a:ext uri="{FF2B5EF4-FFF2-40B4-BE49-F238E27FC236}">
                <a16:creationId xmlns:a16="http://schemas.microsoft.com/office/drawing/2014/main" id="{CF84D835-57B8-5C80-49BB-7E95398E7574}"/>
              </a:ext>
            </a:extLst>
          </p:cNvPr>
          <p:cNvSpPr>
            <a:spLocks noGrp="1"/>
          </p:cNvSpPr>
          <p:nvPr>
            <p:ph type="subTitle" idx="1"/>
          </p:nvPr>
        </p:nvSpPr>
        <p:spPr>
          <a:xfrm>
            <a:off x="643466" y="4133135"/>
            <a:ext cx="10471838" cy="1454510"/>
          </a:xfrm>
          <a:effectLst>
            <a:outerShdw blurRad="50800" dist="38100" dir="2700000" algn="tl" rotWithShape="0">
              <a:prstClr val="black">
                <a:alpha val="40000"/>
              </a:prstClr>
            </a:outerShdw>
          </a:effectLst>
        </p:spPr>
        <p:txBody>
          <a:bodyPr>
            <a:normAutofit/>
          </a:bodyPr>
          <a:lstStyle/>
          <a:p>
            <a:pPr algn="ctr"/>
            <a:r>
              <a:rPr lang="en-US" sz="1800" dirty="0">
                <a:solidFill>
                  <a:schemeClr val="tx1"/>
                </a:solidFill>
              </a:rPr>
              <a:t>Year 10 Health					Lesson 3					Term 3, 2024</a:t>
            </a:r>
          </a:p>
        </p:txBody>
      </p:sp>
      <p:cxnSp>
        <p:nvCxnSpPr>
          <p:cNvPr id="20" name="Straight Connector 19">
            <a:extLst>
              <a:ext uri="{FF2B5EF4-FFF2-40B4-BE49-F238E27FC236}">
                <a16:creationId xmlns:a16="http://schemas.microsoft.com/office/drawing/2014/main" id="{34E5597F-CE67-4085-9548-E6A8036DA3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2683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B9C91F-776B-2231-B66B-44C5A919EB35}"/>
              </a:ext>
            </a:extLst>
          </p:cNvPr>
          <p:cNvSpPr>
            <a:spLocks noGrp="1"/>
          </p:cNvSpPr>
          <p:nvPr>
            <p:ph type="title"/>
          </p:nvPr>
        </p:nvSpPr>
        <p:spPr>
          <a:xfrm>
            <a:off x="581193" y="702156"/>
            <a:ext cx="6309003" cy="1013800"/>
          </a:xfrm>
        </p:spPr>
        <p:txBody>
          <a:bodyPr>
            <a:normAutofit/>
          </a:bodyPr>
          <a:lstStyle/>
          <a:p>
            <a:r>
              <a:rPr lang="en-US" dirty="0">
                <a:solidFill>
                  <a:schemeClr val="tx2"/>
                </a:solidFill>
              </a:rPr>
              <a:t>Today’s Focus</a:t>
            </a:r>
          </a:p>
        </p:txBody>
      </p:sp>
      <p:sp>
        <p:nvSpPr>
          <p:cNvPr id="18" name="Rectangle 17">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6B629D2A-4A91-3214-F524-57C1823230FC}"/>
              </a:ext>
            </a:extLst>
          </p:cNvPr>
          <p:cNvSpPr>
            <a:spLocks noGrp="1"/>
          </p:cNvSpPr>
          <p:nvPr>
            <p:ph idx="1"/>
          </p:nvPr>
        </p:nvSpPr>
        <p:spPr>
          <a:xfrm>
            <a:off x="581194" y="1896533"/>
            <a:ext cx="6309003" cy="3962266"/>
          </a:xfrm>
        </p:spPr>
        <p:txBody>
          <a:bodyPr>
            <a:normAutofit/>
          </a:bodyPr>
          <a:lstStyle/>
          <a:p>
            <a:r>
              <a:rPr lang="en-US" dirty="0">
                <a:solidFill>
                  <a:schemeClr val="tx2"/>
                </a:solidFill>
              </a:rPr>
              <a:t>Review determinants of health. </a:t>
            </a:r>
          </a:p>
          <a:p>
            <a:r>
              <a:rPr lang="en-US" dirty="0">
                <a:solidFill>
                  <a:schemeClr val="tx2"/>
                </a:solidFill>
              </a:rPr>
              <a:t>Compare impacts of rural and metropolitan living on health. </a:t>
            </a:r>
          </a:p>
        </p:txBody>
      </p:sp>
      <p:pic>
        <p:nvPicPr>
          <p:cNvPr id="5" name="Picture 4" descr="Many question marks on black background">
            <a:extLst>
              <a:ext uri="{FF2B5EF4-FFF2-40B4-BE49-F238E27FC236}">
                <a16:creationId xmlns:a16="http://schemas.microsoft.com/office/drawing/2014/main" id="{D96225BA-9E5A-7BEC-AC1E-E319C045C9C3}"/>
              </a:ext>
            </a:extLst>
          </p:cNvPr>
          <p:cNvPicPr>
            <a:picLocks noChangeAspect="1"/>
          </p:cNvPicPr>
          <p:nvPr/>
        </p:nvPicPr>
        <p:blipFill rotWithShape="1">
          <a:blip r:embed="rId2"/>
          <a:srcRect l="58454" r="2" b="2"/>
          <a:stretch/>
        </p:blipFill>
        <p:spPr>
          <a:xfrm>
            <a:off x="7521283" y="10"/>
            <a:ext cx="4670717" cy="6857990"/>
          </a:xfrm>
          <a:prstGeom prst="rect">
            <a:avLst/>
          </a:prstGeom>
        </p:spPr>
      </p:pic>
    </p:spTree>
    <p:extLst>
      <p:ext uri="{BB962C8B-B14F-4D97-AF65-F5344CB8AC3E}">
        <p14:creationId xmlns:p14="http://schemas.microsoft.com/office/powerpoint/2010/main" val="38406592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831CBB7-4817-4B54-A7F9-0AE2D0C47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7029" y="457200"/>
            <a:ext cx="5010912" cy="9144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descr="A diagram of health and risk factors&#10;&#10;Description automatically generated">
            <a:extLst>
              <a:ext uri="{FF2B5EF4-FFF2-40B4-BE49-F238E27FC236}">
                <a16:creationId xmlns:a16="http://schemas.microsoft.com/office/drawing/2014/main" id="{9BA315C4-2103-7548-D968-C3543FA7A84D}"/>
              </a:ext>
            </a:extLst>
          </p:cNvPr>
          <p:cNvPicPr>
            <a:picLocks noChangeAspect="1"/>
          </p:cNvPicPr>
          <p:nvPr/>
        </p:nvPicPr>
        <p:blipFill>
          <a:blip r:embed="rId2"/>
          <a:stretch>
            <a:fillRect/>
          </a:stretch>
        </p:blipFill>
        <p:spPr>
          <a:xfrm>
            <a:off x="824663" y="634550"/>
            <a:ext cx="5268321" cy="5789365"/>
          </a:xfrm>
          <a:prstGeom prst="rect">
            <a:avLst/>
          </a:prstGeom>
        </p:spPr>
      </p:pic>
      <p:sp>
        <p:nvSpPr>
          <p:cNvPr id="14" name="Rectangle 13">
            <a:extLst>
              <a:ext uri="{FF2B5EF4-FFF2-40B4-BE49-F238E27FC236}">
                <a16:creationId xmlns:a16="http://schemas.microsoft.com/office/drawing/2014/main" id="{96BC321D-B05F-4857-8880-97F61B9B78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7791" y="601200"/>
            <a:ext cx="5009388"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31D4432-8743-5F19-907F-65E030C661F1}"/>
              </a:ext>
            </a:extLst>
          </p:cNvPr>
          <p:cNvSpPr>
            <a:spLocks noGrp="1"/>
          </p:cNvSpPr>
          <p:nvPr>
            <p:ph type="title"/>
          </p:nvPr>
        </p:nvSpPr>
        <p:spPr>
          <a:xfrm>
            <a:off x="6873606" y="133765"/>
            <a:ext cx="4597758" cy="1188720"/>
          </a:xfrm>
        </p:spPr>
        <p:txBody>
          <a:bodyPr>
            <a:normAutofit/>
          </a:bodyPr>
          <a:lstStyle/>
          <a:p>
            <a:r>
              <a:rPr lang="en-US" dirty="0">
                <a:solidFill>
                  <a:srgbClr val="FFFFFF"/>
                </a:solidFill>
              </a:rPr>
              <a:t>Hook/review: 		(PG.12)</a:t>
            </a:r>
          </a:p>
        </p:txBody>
      </p:sp>
      <p:sp>
        <p:nvSpPr>
          <p:cNvPr id="3" name="Content Placeholder 2">
            <a:extLst>
              <a:ext uri="{FF2B5EF4-FFF2-40B4-BE49-F238E27FC236}">
                <a16:creationId xmlns:a16="http://schemas.microsoft.com/office/drawing/2014/main" id="{6068BDA4-AE05-659D-C4D2-A89D848DF597}"/>
              </a:ext>
            </a:extLst>
          </p:cNvPr>
          <p:cNvSpPr>
            <a:spLocks noGrp="1"/>
          </p:cNvSpPr>
          <p:nvPr>
            <p:ph idx="1"/>
          </p:nvPr>
        </p:nvSpPr>
        <p:spPr>
          <a:xfrm>
            <a:off x="6873605" y="1456250"/>
            <a:ext cx="4803573" cy="4677851"/>
          </a:xfrm>
        </p:spPr>
        <p:txBody>
          <a:bodyPr>
            <a:normAutofit/>
          </a:bodyPr>
          <a:lstStyle/>
          <a:p>
            <a:pPr marL="0" indent="0">
              <a:lnSpc>
                <a:spcPct val="90000"/>
              </a:lnSpc>
              <a:buNone/>
            </a:pPr>
            <a:r>
              <a:rPr lang="en-US" sz="1600" dirty="0">
                <a:solidFill>
                  <a:srgbClr val="FFFFFF"/>
                </a:solidFill>
              </a:rPr>
              <a:t>Choose a health condition</a:t>
            </a:r>
          </a:p>
          <a:p>
            <a:pPr>
              <a:lnSpc>
                <a:spcPct val="90000"/>
              </a:lnSpc>
            </a:pPr>
            <a:r>
              <a:rPr lang="en-US" sz="1600" dirty="0">
                <a:solidFill>
                  <a:srgbClr val="FFFFFF"/>
                </a:solidFill>
              </a:rPr>
              <a:t>i.e., cardiovascular disease, skin cancer, asthma, dementia, diabetes, depression, lung cancer etc.</a:t>
            </a:r>
          </a:p>
          <a:p>
            <a:pPr>
              <a:lnSpc>
                <a:spcPct val="90000"/>
              </a:lnSpc>
            </a:pPr>
            <a:endParaRPr lang="en-US" sz="1600" dirty="0">
              <a:solidFill>
                <a:srgbClr val="FFFFFF"/>
              </a:solidFill>
            </a:endParaRPr>
          </a:p>
          <a:p>
            <a:pPr marL="0" indent="0">
              <a:lnSpc>
                <a:spcPct val="90000"/>
              </a:lnSpc>
              <a:buNone/>
            </a:pPr>
            <a:r>
              <a:rPr lang="en-US" sz="1600" dirty="0">
                <a:solidFill>
                  <a:srgbClr val="FFFFFF"/>
                </a:solidFill>
              </a:rPr>
              <a:t>For that condition… </a:t>
            </a:r>
          </a:p>
          <a:p>
            <a:pPr>
              <a:lnSpc>
                <a:spcPct val="90000"/>
              </a:lnSpc>
            </a:pPr>
            <a:r>
              <a:rPr lang="en-US" sz="1600" dirty="0">
                <a:solidFill>
                  <a:srgbClr val="FFFFFF"/>
                </a:solidFill>
              </a:rPr>
              <a:t>Identify the risk factors for your chosen health condition.</a:t>
            </a:r>
          </a:p>
          <a:p>
            <a:pPr>
              <a:lnSpc>
                <a:spcPct val="90000"/>
              </a:lnSpc>
            </a:pPr>
            <a:r>
              <a:rPr lang="en-US" sz="1600" dirty="0">
                <a:solidFill>
                  <a:srgbClr val="FFFFFF"/>
                </a:solidFill>
              </a:rPr>
              <a:t>Identify the determinants of health at play that can affect this health condition. </a:t>
            </a:r>
          </a:p>
          <a:p>
            <a:pPr>
              <a:lnSpc>
                <a:spcPct val="90000"/>
              </a:lnSpc>
            </a:pPr>
            <a:r>
              <a:rPr lang="en-US" sz="1600" dirty="0">
                <a:solidFill>
                  <a:srgbClr val="FFFFFF"/>
                </a:solidFill>
              </a:rPr>
              <a:t>Identify ways or behaviours to improve health for this condition/how can risk factors be minimised?</a:t>
            </a:r>
          </a:p>
          <a:p>
            <a:pPr>
              <a:lnSpc>
                <a:spcPct val="90000"/>
              </a:lnSpc>
            </a:pPr>
            <a:endParaRPr lang="en-US" sz="1600" dirty="0">
              <a:solidFill>
                <a:srgbClr val="FFFFFF"/>
              </a:solidFill>
            </a:endParaRPr>
          </a:p>
          <a:p>
            <a:pPr marL="0" indent="0">
              <a:lnSpc>
                <a:spcPct val="90000"/>
              </a:lnSpc>
              <a:buNone/>
            </a:pPr>
            <a:r>
              <a:rPr lang="en-US" sz="1600" dirty="0">
                <a:solidFill>
                  <a:srgbClr val="FFFFFF"/>
                </a:solidFill>
              </a:rPr>
              <a:t>You have 10 mins.</a:t>
            </a:r>
          </a:p>
          <a:p>
            <a:pPr marL="0" indent="0">
              <a:lnSpc>
                <a:spcPct val="90000"/>
              </a:lnSpc>
              <a:buNone/>
            </a:pPr>
            <a:r>
              <a:rPr lang="en-US" sz="1600" dirty="0">
                <a:solidFill>
                  <a:srgbClr val="FFFFFF"/>
                </a:solidFill>
              </a:rPr>
              <a:t>Use the triangle in books to compile your answer. Be prepared to share.</a:t>
            </a:r>
          </a:p>
        </p:txBody>
      </p:sp>
    </p:spTree>
    <p:extLst>
      <p:ext uri="{BB962C8B-B14F-4D97-AF65-F5344CB8AC3E}">
        <p14:creationId xmlns:p14="http://schemas.microsoft.com/office/powerpoint/2010/main" val="235813878"/>
      </p:ext>
    </p:extLst>
  </p:cSld>
  <p:clrMapOvr>
    <a:overrideClrMapping bg1="dk1" tx1="lt1" bg2="dk2" tx2="lt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4201" y="702156"/>
            <a:ext cx="7011413" cy="1013800"/>
          </a:xfrm>
        </p:spPr>
        <p:txBody>
          <a:bodyPr>
            <a:normAutofit/>
          </a:bodyPr>
          <a:lstStyle/>
          <a:p>
            <a:r>
              <a:rPr lang="en-US" dirty="0">
                <a:solidFill>
                  <a:schemeClr val="tx2"/>
                </a:solidFill>
              </a:rPr>
              <a:t>A story about determinants: 	</a:t>
            </a:r>
            <a:r>
              <a:rPr lang="en-US" sz="2800" dirty="0"/>
              <a:t>(PG.13)</a:t>
            </a:r>
            <a:r>
              <a:rPr lang="en-US" dirty="0">
                <a:solidFill>
                  <a:schemeClr val="tx2"/>
                </a:solidFill>
              </a:rPr>
              <a:t> </a:t>
            </a:r>
          </a:p>
        </p:txBody>
      </p:sp>
      <p:sp>
        <p:nvSpPr>
          <p:cNvPr id="12" name="Rectangle 11">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584200" y="1896533"/>
            <a:ext cx="7011413" cy="4854338"/>
          </a:xfrm>
        </p:spPr>
        <p:txBody>
          <a:bodyPr>
            <a:normAutofit lnSpcReduction="10000"/>
          </a:bodyPr>
          <a:lstStyle/>
          <a:p>
            <a:pPr>
              <a:lnSpc>
                <a:spcPct val="90000"/>
              </a:lnSpc>
            </a:pPr>
            <a:r>
              <a:rPr lang="en-US" sz="1400" dirty="0"/>
              <a:t>“Why is Jason in the hospital? </a:t>
            </a:r>
            <a:endParaRPr lang="en-AU" sz="1400" dirty="0"/>
          </a:p>
          <a:p>
            <a:pPr>
              <a:lnSpc>
                <a:spcPct val="90000"/>
              </a:lnSpc>
            </a:pPr>
            <a:r>
              <a:rPr lang="en-US" sz="1400" dirty="0"/>
              <a:t>Because he has a bad infection in his leg.</a:t>
            </a:r>
            <a:endParaRPr lang="en-AU" sz="1400" dirty="0"/>
          </a:p>
          <a:p>
            <a:pPr>
              <a:lnSpc>
                <a:spcPct val="90000"/>
              </a:lnSpc>
            </a:pPr>
            <a:r>
              <a:rPr lang="en-US" sz="1400" dirty="0"/>
              <a:t>But why does he have an infection? </a:t>
            </a:r>
            <a:endParaRPr lang="en-AU" sz="1400" dirty="0"/>
          </a:p>
          <a:p>
            <a:pPr>
              <a:lnSpc>
                <a:spcPct val="90000"/>
              </a:lnSpc>
            </a:pPr>
            <a:r>
              <a:rPr lang="en-US" sz="1400" dirty="0"/>
              <a:t>Because he has a cut on his leg, and it got infected. </a:t>
            </a:r>
            <a:endParaRPr lang="en-AU" sz="1400" dirty="0"/>
          </a:p>
          <a:p>
            <a:pPr>
              <a:lnSpc>
                <a:spcPct val="90000"/>
              </a:lnSpc>
            </a:pPr>
            <a:r>
              <a:rPr lang="en-US" sz="1400" dirty="0"/>
              <a:t>But why does he have a cut on his leg? </a:t>
            </a:r>
            <a:endParaRPr lang="en-AU" sz="1400" dirty="0"/>
          </a:p>
          <a:p>
            <a:pPr>
              <a:lnSpc>
                <a:spcPct val="90000"/>
              </a:lnSpc>
            </a:pPr>
            <a:r>
              <a:rPr lang="en-US" sz="1400" dirty="0"/>
              <a:t>Because he was playing in the junk yard next to his apartment building and there was some sharp, jagged steel there that he fell on. </a:t>
            </a:r>
            <a:endParaRPr lang="en-AU" sz="1400" dirty="0"/>
          </a:p>
          <a:p>
            <a:pPr>
              <a:lnSpc>
                <a:spcPct val="90000"/>
              </a:lnSpc>
            </a:pPr>
            <a:r>
              <a:rPr lang="en-US" sz="1400" dirty="0"/>
              <a:t>But why was he playing in a junk yard? </a:t>
            </a:r>
            <a:endParaRPr lang="en-AU" sz="1400" dirty="0"/>
          </a:p>
          <a:p>
            <a:pPr>
              <a:lnSpc>
                <a:spcPct val="90000"/>
              </a:lnSpc>
            </a:pPr>
            <a:r>
              <a:rPr lang="en-US" sz="1400" dirty="0"/>
              <a:t>Because his neighbourhood is kind of run down. A lot of kids play there and there is no one to supervise them. </a:t>
            </a:r>
            <a:endParaRPr lang="en-AU" sz="1400" dirty="0"/>
          </a:p>
          <a:p>
            <a:pPr>
              <a:lnSpc>
                <a:spcPct val="90000"/>
              </a:lnSpc>
            </a:pPr>
            <a:r>
              <a:rPr lang="en-US" sz="1400" dirty="0"/>
              <a:t>But why does he live in that neighbourhood? </a:t>
            </a:r>
            <a:endParaRPr lang="en-AU" sz="1400" dirty="0"/>
          </a:p>
          <a:p>
            <a:pPr>
              <a:lnSpc>
                <a:spcPct val="90000"/>
              </a:lnSpc>
            </a:pPr>
            <a:r>
              <a:rPr lang="en-US" sz="1400" dirty="0"/>
              <a:t>Because his parents can’t afford a nicer place to live. </a:t>
            </a:r>
            <a:endParaRPr lang="en-AU" sz="1400" dirty="0"/>
          </a:p>
          <a:p>
            <a:pPr>
              <a:lnSpc>
                <a:spcPct val="90000"/>
              </a:lnSpc>
            </a:pPr>
            <a:r>
              <a:rPr lang="en-US" sz="1400" dirty="0"/>
              <a:t>But why can’t his parents afford a nicer place to live? </a:t>
            </a:r>
            <a:endParaRPr lang="en-AU" sz="1400" dirty="0"/>
          </a:p>
          <a:p>
            <a:pPr>
              <a:lnSpc>
                <a:spcPct val="90000"/>
              </a:lnSpc>
            </a:pPr>
            <a:r>
              <a:rPr lang="en-US" sz="1400" dirty="0"/>
              <a:t>Because his dad is unemployed, and his mum is sick. </a:t>
            </a:r>
            <a:endParaRPr lang="en-AU" sz="1400" dirty="0"/>
          </a:p>
          <a:p>
            <a:pPr>
              <a:lnSpc>
                <a:spcPct val="90000"/>
              </a:lnSpc>
            </a:pPr>
            <a:r>
              <a:rPr lang="en-US" sz="1400" dirty="0"/>
              <a:t>But why is his dad unemployed? </a:t>
            </a:r>
            <a:endParaRPr lang="en-AU" sz="1400" dirty="0"/>
          </a:p>
          <a:p>
            <a:pPr>
              <a:lnSpc>
                <a:spcPct val="90000"/>
              </a:lnSpc>
            </a:pPr>
            <a:r>
              <a:rPr lang="en-US" sz="1400" dirty="0"/>
              <a:t>Because he doesn’t have much education and he can’t find a job. </a:t>
            </a:r>
            <a:endParaRPr lang="en-AU" sz="1400" dirty="0"/>
          </a:p>
          <a:p>
            <a:pPr>
              <a:lnSpc>
                <a:spcPct val="90000"/>
              </a:lnSpc>
            </a:pPr>
            <a:r>
              <a:rPr lang="en-US" sz="1400" dirty="0"/>
              <a:t>But why …?”</a:t>
            </a:r>
            <a:endParaRPr lang="en-AU" sz="1400" dirty="0"/>
          </a:p>
          <a:p>
            <a:pPr>
              <a:lnSpc>
                <a:spcPct val="90000"/>
              </a:lnSpc>
            </a:pPr>
            <a:endParaRPr lang="en-US" sz="1000" dirty="0"/>
          </a:p>
        </p:txBody>
      </p:sp>
      <p:pic>
        <p:nvPicPr>
          <p:cNvPr id="5" name="Picture 4" descr="A person riding a skateboard&#10;&#10;Description automatically generated">
            <a:extLst>
              <a:ext uri="{FF2B5EF4-FFF2-40B4-BE49-F238E27FC236}">
                <a16:creationId xmlns:a16="http://schemas.microsoft.com/office/drawing/2014/main" id="{5709C0B0-0832-21A1-703A-E4DFE9436356}"/>
              </a:ext>
            </a:extLst>
          </p:cNvPr>
          <p:cNvPicPr>
            <a:picLocks noChangeAspect="1"/>
          </p:cNvPicPr>
          <p:nvPr/>
        </p:nvPicPr>
        <p:blipFill rotWithShape="1">
          <a:blip r:embed="rId3"/>
          <a:srcRect l="47744" r="16179"/>
          <a:stretch/>
        </p:blipFill>
        <p:spPr>
          <a:xfrm>
            <a:off x="7801337" y="601201"/>
            <a:ext cx="3944130" cy="6149670"/>
          </a:xfrm>
          <a:prstGeom prst="rect">
            <a:avLst/>
          </a:prstGeom>
        </p:spPr>
      </p:pic>
    </p:spTree>
    <p:extLst>
      <p:ext uri="{BB962C8B-B14F-4D97-AF65-F5344CB8AC3E}">
        <p14:creationId xmlns:p14="http://schemas.microsoft.com/office/powerpoint/2010/main" val="1824331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4201" y="702156"/>
            <a:ext cx="7011413" cy="1013800"/>
          </a:xfrm>
        </p:spPr>
        <p:txBody>
          <a:bodyPr>
            <a:normAutofit/>
          </a:bodyPr>
          <a:lstStyle/>
          <a:p>
            <a:r>
              <a:rPr lang="en-US" dirty="0">
                <a:solidFill>
                  <a:schemeClr val="tx2"/>
                </a:solidFill>
              </a:rPr>
              <a:t>A story about determinants: 	</a:t>
            </a:r>
            <a:r>
              <a:rPr lang="en-US" sz="2800" dirty="0"/>
              <a:t>(PG.13)</a:t>
            </a:r>
            <a:r>
              <a:rPr lang="en-US" dirty="0">
                <a:solidFill>
                  <a:schemeClr val="tx2"/>
                </a:solidFill>
              </a:rPr>
              <a:t> </a:t>
            </a:r>
          </a:p>
        </p:txBody>
      </p:sp>
      <p:sp>
        <p:nvSpPr>
          <p:cNvPr id="12" name="Rectangle 11">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584200" y="1896533"/>
            <a:ext cx="7011413" cy="4854338"/>
          </a:xfrm>
        </p:spPr>
        <p:txBody>
          <a:bodyPr>
            <a:normAutofit/>
          </a:bodyPr>
          <a:lstStyle/>
          <a:p>
            <a:pPr marL="0" indent="0">
              <a:lnSpc>
                <a:spcPct val="90000"/>
              </a:lnSpc>
              <a:buNone/>
            </a:pPr>
            <a:r>
              <a:rPr lang="en-US" sz="1600" dirty="0"/>
              <a:t>The health of Jason was impacted negatively by several factors:</a:t>
            </a:r>
          </a:p>
          <a:p>
            <a:pPr>
              <a:lnSpc>
                <a:spcPct val="90000"/>
              </a:lnSpc>
            </a:pPr>
            <a:endParaRPr lang="en-US" sz="1600" dirty="0"/>
          </a:p>
          <a:p>
            <a:pPr lvl="1"/>
            <a:r>
              <a:rPr lang="en-US" dirty="0"/>
              <a:t>Family values/social lifestyle/how he lives – </a:t>
            </a:r>
            <a:r>
              <a:rPr lang="en-US" i="1" dirty="0"/>
              <a:t>SOCIAL DETERMINANTS</a:t>
            </a:r>
          </a:p>
          <a:p>
            <a:pPr lvl="1"/>
            <a:endParaRPr lang="en-US" dirty="0"/>
          </a:p>
          <a:p>
            <a:pPr lvl="1"/>
            <a:r>
              <a:rPr lang="en-US" dirty="0"/>
              <a:t>Living/built environment/where he lives – </a:t>
            </a:r>
            <a:r>
              <a:rPr lang="en-US" i="1" dirty="0"/>
              <a:t>ENVIRONMENTAL DETERMINANTS</a:t>
            </a:r>
          </a:p>
          <a:p>
            <a:pPr lvl="1"/>
            <a:endParaRPr lang="en-US" dirty="0"/>
          </a:p>
          <a:p>
            <a:pPr lvl="1"/>
            <a:r>
              <a:rPr lang="en-US" dirty="0"/>
              <a:t>Family income – </a:t>
            </a:r>
            <a:r>
              <a:rPr lang="en-US" i="1" dirty="0"/>
              <a:t>SOCIOECONOMIC DETERMINANTS</a:t>
            </a:r>
          </a:p>
          <a:p>
            <a:pPr lvl="1"/>
            <a:endParaRPr lang="en-US" dirty="0"/>
          </a:p>
          <a:p>
            <a:pPr lvl="1"/>
            <a:r>
              <a:rPr lang="en-US" dirty="0"/>
              <a:t>Unemployment – </a:t>
            </a:r>
            <a:r>
              <a:rPr lang="en-US" i="1" dirty="0"/>
              <a:t>SOCIOECONOMIC DETERMINANTS</a:t>
            </a:r>
          </a:p>
          <a:p>
            <a:pPr lvl="1"/>
            <a:endParaRPr lang="en-US" dirty="0"/>
          </a:p>
          <a:p>
            <a:pPr lvl="1"/>
            <a:r>
              <a:rPr lang="en-US" dirty="0"/>
              <a:t>Education – </a:t>
            </a:r>
            <a:r>
              <a:rPr lang="en-US" i="1" dirty="0"/>
              <a:t>SOCIOECONOMIC DETERMINANTS</a:t>
            </a:r>
          </a:p>
        </p:txBody>
      </p:sp>
      <p:pic>
        <p:nvPicPr>
          <p:cNvPr id="5" name="Picture 4" descr="A person riding a skateboard&#10;&#10;Description automatically generated">
            <a:extLst>
              <a:ext uri="{FF2B5EF4-FFF2-40B4-BE49-F238E27FC236}">
                <a16:creationId xmlns:a16="http://schemas.microsoft.com/office/drawing/2014/main" id="{5709C0B0-0832-21A1-703A-E4DFE9436356}"/>
              </a:ext>
            </a:extLst>
          </p:cNvPr>
          <p:cNvPicPr>
            <a:picLocks noChangeAspect="1"/>
          </p:cNvPicPr>
          <p:nvPr/>
        </p:nvPicPr>
        <p:blipFill rotWithShape="1">
          <a:blip r:embed="rId3"/>
          <a:srcRect l="47744" r="16179"/>
          <a:stretch/>
        </p:blipFill>
        <p:spPr>
          <a:xfrm>
            <a:off x="7801337" y="601201"/>
            <a:ext cx="3944130" cy="6149670"/>
          </a:xfrm>
          <a:prstGeom prst="rect">
            <a:avLst/>
          </a:prstGeom>
        </p:spPr>
      </p:pic>
    </p:spTree>
    <p:extLst>
      <p:ext uri="{BB962C8B-B14F-4D97-AF65-F5344CB8AC3E}">
        <p14:creationId xmlns:p14="http://schemas.microsoft.com/office/powerpoint/2010/main" val="39740436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3107A-6A2A-A12D-78DD-7BE80C6122C4}"/>
              </a:ext>
            </a:extLst>
          </p:cNvPr>
          <p:cNvSpPr>
            <a:spLocks noGrp="1"/>
          </p:cNvSpPr>
          <p:nvPr>
            <p:ph type="title"/>
          </p:nvPr>
        </p:nvSpPr>
        <p:spPr>
          <a:xfrm>
            <a:off x="581192" y="272006"/>
            <a:ext cx="11029616" cy="1188720"/>
          </a:xfrm>
        </p:spPr>
        <p:txBody>
          <a:bodyPr/>
          <a:lstStyle/>
          <a:p>
            <a:r>
              <a:rPr lang="en-US" dirty="0"/>
              <a:t>Activity 1: Turn Jason’s Life Around 							</a:t>
            </a:r>
            <a:r>
              <a:rPr lang="en-US" sz="2800" dirty="0"/>
              <a:t>(PG.13)</a:t>
            </a:r>
            <a:r>
              <a:rPr lang="en-US" dirty="0">
                <a:solidFill>
                  <a:schemeClr val="tx2"/>
                </a:solidFill>
              </a:rPr>
              <a:t> </a:t>
            </a:r>
            <a:endParaRPr lang="en-US" dirty="0"/>
          </a:p>
        </p:txBody>
      </p:sp>
      <p:sp>
        <p:nvSpPr>
          <p:cNvPr id="3" name="Content Placeholder 2">
            <a:extLst>
              <a:ext uri="{FF2B5EF4-FFF2-40B4-BE49-F238E27FC236}">
                <a16:creationId xmlns:a16="http://schemas.microsoft.com/office/drawing/2014/main" id="{7B8B7D07-99D3-F2F6-A841-3166DC235241}"/>
              </a:ext>
            </a:extLst>
          </p:cNvPr>
          <p:cNvSpPr>
            <a:spLocks noGrp="1"/>
          </p:cNvSpPr>
          <p:nvPr>
            <p:ph idx="1"/>
          </p:nvPr>
        </p:nvSpPr>
        <p:spPr>
          <a:xfrm>
            <a:off x="212203" y="1666755"/>
            <a:ext cx="11698146" cy="4919240"/>
          </a:xfrm>
        </p:spPr>
        <p:txBody>
          <a:bodyPr/>
          <a:lstStyle/>
          <a:p>
            <a:r>
              <a:rPr lang="en-US" dirty="0"/>
              <a:t>Write your own story for Jason (or yourself). </a:t>
            </a:r>
          </a:p>
          <a:p>
            <a:r>
              <a:rPr lang="en-US" dirty="0"/>
              <a:t>Write it in the same style as before but put a positive spin on it and make note of how the different dimensions are positively impacting on his life.</a:t>
            </a:r>
          </a:p>
          <a:p>
            <a:endParaRPr lang="en-US" dirty="0"/>
          </a:p>
          <a:p>
            <a:r>
              <a:rPr lang="en-US" dirty="0"/>
              <a:t>For example…</a:t>
            </a:r>
          </a:p>
          <a:p>
            <a:pPr lvl="1"/>
            <a:r>
              <a:rPr lang="en-US" dirty="0"/>
              <a:t>“Why is Jason in the hospital?</a:t>
            </a:r>
          </a:p>
          <a:p>
            <a:pPr lvl="1"/>
            <a:r>
              <a:rPr lang="en-US" dirty="0"/>
              <a:t>Because he fell off his bike at the skate park. 		</a:t>
            </a:r>
            <a:r>
              <a:rPr lang="en-US" dirty="0">
                <a:sym typeface="Wingdings" pitchFamily="2" charset="2"/>
              </a:rPr>
              <a:t> Enjoys spending time outdoors, adventurous (environmental determinant)</a:t>
            </a:r>
          </a:p>
          <a:p>
            <a:pPr lvl="1"/>
            <a:r>
              <a:rPr lang="en-US" dirty="0"/>
              <a:t>But why did he fall off his bike?	</a:t>
            </a:r>
          </a:p>
          <a:p>
            <a:pPr lvl="1"/>
            <a:r>
              <a:rPr lang="en-US" dirty="0"/>
              <a:t>Because he was showing off in front of his friends.	</a:t>
            </a:r>
            <a:r>
              <a:rPr lang="en-US" dirty="0">
                <a:sym typeface="Wingdings" pitchFamily="2" charset="2"/>
              </a:rPr>
              <a:t> Has close friends and a support network (social determinant)</a:t>
            </a:r>
          </a:p>
          <a:p>
            <a:pPr lvl="1"/>
            <a:endParaRPr lang="en-US" dirty="0">
              <a:sym typeface="Wingdings" pitchFamily="2" charset="2"/>
            </a:endParaRPr>
          </a:p>
          <a:p>
            <a:r>
              <a:rPr lang="en-US" dirty="0"/>
              <a:t>5 minutes.</a:t>
            </a:r>
          </a:p>
        </p:txBody>
      </p:sp>
    </p:spTree>
    <p:extLst>
      <p:ext uri="{BB962C8B-B14F-4D97-AF65-F5344CB8AC3E}">
        <p14:creationId xmlns:p14="http://schemas.microsoft.com/office/powerpoint/2010/main" val="5285360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4" name="Rectangle 1043">
            <a:extLst>
              <a:ext uri="{FF2B5EF4-FFF2-40B4-BE49-F238E27FC236}">
                <a16:creationId xmlns:a16="http://schemas.microsoft.com/office/drawing/2014/main" id="{7B055CAA-2668-4929-8202-DBD35A78E8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9774A2-B79C-1BA4-F103-35B7DB417F4C}"/>
              </a:ext>
            </a:extLst>
          </p:cNvPr>
          <p:cNvSpPr>
            <a:spLocks noGrp="1"/>
          </p:cNvSpPr>
          <p:nvPr>
            <p:ph type="title"/>
          </p:nvPr>
        </p:nvSpPr>
        <p:spPr>
          <a:xfrm>
            <a:off x="446533" y="358683"/>
            <a:ext cx="11164274" cy="1188720"/>
          </a:xfrm>
        </p:spPr>
        <p:txBody>
          <a:bodyPr>
            <a:normAutofit/>
          </a:bodyPr>
          <a:lstStyle/>
          <a:p>
            <a:pPr>
              <a:lnSpc>
                <a:spcPct val="90000"/>
              </a:lnSpc>
            </a:pPr>
            <a:r>
              <a:rPr lang="en-US" sz="2600" dirty="0"/>
              <a:t>Activity 2a: </a:t>
            </a:r>
            <a:br>
              <a:rPr lang="en-US" sz="2600" dirty="0"/>
            </a:br>
            <a:r>
              <a:rPr lang="en-US" sz="2600" dirty="0"/>
              <a:t>Metropolitan vs. Rural &amp; Remote Health Outcomes 		</a:t>
            </a:r>
            <a:r>
              <a:rPr lang="en-US" sz="2400" dirty="0"/>
              <a:t>(PG.14)</a:t>
            </a:r>
            <a:r>
              <a:rPr lang="en-US" sz="2400" dirty="0">
                <a:solidFill>
                  <a:schemeClr val="tx2"/>
                </a:solidFill>
              </a:rPr>
              <a:t> </a:t>
            </a:r>
            <a:endParaRPr lang="en-US" sz="2600" dirty="0"/>
          </a:p>
        </p:txBody>
      </p:sp>
      <p:sp>
        <p:nvSpPr>
          <p:cNvPr id="1046" name="Rectangle 1045">
            <a:extLst>
              <a:ext uri="{FF2B5EF4-FFF2-40B4-BE49-F238E27FC236}">
                <a16:creationId xmlns:a16="http://schemas.microsoft.com/office/drawing/2014/main" id="{38F88ED4-721F-4A25-9A68-66C57B1F8D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8" name="Rectangle 1047">
            <a:extLst>
              <a:ext uri="{FF2B5EF4-FFF2-40B4-BE49-F238E27FC236}">
                <a16:creationId xmlns:a16="http://schemas.microsoft.com/office/drawing/2014/main" id="{3A5A85F2-11BA-4322-9355-08C0DEC78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50" name="Rectangle 1049">
            <a:extLst>
              <a:ext uri="{FF2B5EF4-FFF2-40B4-BE49-F238E27FC236}">
                <a16:creationId xmlns:a16="http://schemas.microsoft.com/office/drawing/2014/main" id="{1A88A0CA-0BDB-4A19-A648-638BE196B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026" name="Picture 2" descr="Vector Hospital Building Medical Concept Emergency Stock Vector (Royalty  Free) 451324882 | Shutterstock">
            <a:extLst>
              <a:ext uri="{FF2B5EF4-FFF2-40B4-BE49-F238E27FC236}">
                <a16:creationId xmlns:a16="http://schemas.microsoft.com/office/drawing/2014/main" id="{2A5FDDD6-F101-FF37-1C85-F213D916BB7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544"/>
          <a:stretch/>
        </p:blipFill>
        <p:spPr bwMode="auto">
          <a:xfrm>
            <a:off x="8042147" y="2194282"/>
            <a:ext cx="3907633" cy="228512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C1A1FCE0-CE8C-09F5-0599-AD594670ED21}"/>
              </a:ext>
            </a:extLst>
          </p:cNvPr>
          <p:cNvSpPr>
            <a:spLocks noGrp="1"/>
          </p:cNvSpPr>
          <p:nvPr>
            <p:ph idx="1"/>
          </p:nvPr>
        </p:nvSpPr>
        <p:spPr>
          <a:xfrm>
            <a:off x="446533" y="1807221"/>
            <a:ext cx="10814300" cy="4667705"/>
          </a:xfrm>
        </p:spPr>
        <p:txBody>
          <a:bodyPr>
            <a:noAutofit/>
          </a:bodyPr>
          <a:lstStyle/>
          <a:p>
            <a:pPr>
              <a:lnSpc>
                <a:spcPct val="90000"/>
              </a:lnSpc>
            </a:pPr>
            <a:r>
              <a:rPr lang="en-US" sz="1600" dirty="0"/>
              <a:t>Where we live is considered the metropolitan region of Perth.</a:t>
            </a:r>
          </a:p>
          <a:p>
            <a:pPr>
              <a:lnSpc>
                <a:spcPct val="90000"/>
              </a:lnSpc>
            </a:pPr>
            <a:r>
              <a:rPr lang="en-US" sz="1600" dirty="0"/>
              <a:t>Think about where you live and what is around you.</a:t>
            </a:r>
          </a:p>
          <a:p>
            <a:pPr marL="0" indent="0">
              <a:lnSpc>
                <a:spcPct val="90000"/>
              </a:lnSpc>
              <a:buNone/>
            </a:pPr>
            <a:endParaRPr lang="en-US" sz="1600" dirty="0"/>
          </a:p>
          <a:p>
            <a:pPr>
              <a:lnSpc>
                <a:spcPct val="90000"/>
              </a:lnSpc>
            </a:pPr>
            <a:r>
              <a:rPr lang="en-US" sz="1600" dirty="0"/>
              <a:t>Write a list of all the things that are close to your area that can impact your heath.</a:t>
            </a:r>
          </a:p>
          <a:p>
            <a:pPr lvl="1">
              <a:lnSpc>
                <a:spcPct val="90000"/>
              </a:lnSpc>
            </a:pPr>
            <a:r>
              <a:rPr lang="en-US" sz="1500" dirty="0"/>
              <a:t>Positive or negative impacts.</a:t>
            </a:r>
          </a:p>
          <a:p>
            <a:pPr lvl="1">
              <a:lnSpc>
                <a:spcPct val="90000"/>
              </a:lnSpc>
            </a:pPr>
            <a:r>
              <a:rPr lang="en-US" sz="1500" dirty="0"/>
              <a:t>Think about all the determinants of health we have spoken about.</a:t>
            </a:r>
          </a:p>
          <a:p>
            <a:pPr lvl="1">
              <a:lnSpc>
                <a:spcPct val="90000"/>
              </a:lnSpc>
            </a:pPr>
            <a:r>
              <a:rPr lang="en-US" sz="1500" dirty="0"/>
              <a:t>Don’t forget to consider all 5 dimensions of health. </a:t>
            </a:r>
          </a:p>
          <a:p>
            <a:pPr lvl="1">
              <a:lnSpc>
                <a:spcPct val="90000"/>
              </a:lnSpc>
            </a:pPr>
            <a:r>
              <a:rPr lang="en-US" sz="1500" dirty="0"/>
              <a:t>Use Google Maps if you need to.</a:t>
            </a:r>
          </a:p>
          <a:p>
            <a:pPr lvl="1">
              <a:lnSpc>
                <a:spcPct val="90000"/>
              </a:lnSpc>
            </a:pPr>
            <a:endParaRPr lang="en-US" dirty="0"/>
          </a:p>
          <a:p>
            <a:pPr>
              <a:lnSpc>
                <a:spcPct val="90000"/>
              </a:lnSpc>
            </a:pPr>
            <a:r>
              <a:rPr lang="en-US" sz="1600" dirty="0"/>
              <a:t>Include an </a:t>
            </a:r>
            <a:r>
              <a:rPr lang="en-US" sz="1600" b="1" dirty="0"/>
              <a:t>explanation </a:t>
            </a:r>
            <a:r>
              <a:rPr lang="en-US" sz="1600" dirty="0"/>
              <a:t>on how it impacts health and where possible, link to determinants of health.</a:t>
            </a:r>
          </a:p>
          <a:p>
            <a:pPr lvl="1">
              <a:lnSpc>
                <a:spcPct val="90000"/>
              </a:lnSpc>
            </a:pPr>
            <a:r>
              <a:rPr lang="en-US" sz="1400" i="1" dirty="0"/>
              <a:t>E.g., local parks which allow us to play outside with friends and get fresh air. These are positive as they are beneficial for our physical health, social health and even emotional health. </a:t>
            </a:r>
          </a:p>
          <a:p>
            <a:pPr lvl="1">
              <a:lnSpc>
                <a:spcPct val="90000"/>
              </a:lnSpc>
            </a:pPr>
            <a:r>
              <a:rPr lang="en-US" sz="1400" i="1" dirty="0"/>
              <a:t>E.g., Access to lots of transport options such as cars, buses or trains can be beneficial in helping get to work/school etc. which is evidence of a socio-economic determinant impact, but can negatively impact our physical health through pollution etc. </a:t>
            </a:r>
          </a:p>
          <a:p>
            <a:pPr>
              <a:lnSpc>
                <a:spcPct val="90000"/>
              </a:lnSpc>
            </a:pPr>
            <a:r>
              <a:rPr lang="en-US" sz="1600" dirty="0"/>
              <a:t>Be prepared to share your answers.</a:t>
            </a:r>
          </a:p>
        </p:txBody>
      </p:sp>
    </p:spTree>
    <p:extLst>
      <p:ext uri="{BB962C8B-B14F-4D97-AF65-F5344CB8AC3E}">
        <p14:creationId xmlns:p14="http://schemas.microsoft.com/office/powerpoint/2010/main" val="966104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 calcmode="lin" valueType="num">
                                      <p:cBhvr additive="base">
                                        <p:cTn id="2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 calcmode="lin" valueType="num">
                                      <p:cBhvr additive="base">
                                        <p:cTn id="3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 calcmode="lin" valueType="num">
                                      <p:cBhvr additive="base">
                                        <p:cTn id="3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anim calcmode="lin" valueType="num">
                                      <p:cBhvr additive="base">
                                        <p:cTn id="4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F4865-ED50-B6F5-9589-0EE770DE6F9B}"/>
              </a:ext>
            </a:extLst>
          </p:cNvPr>
          <p:cNvSpPr>
            <a:spLocks noGrp="1"/>
          </p:cNvSpPr>
          <p:nvPr>
            <p:ph type="title"/>
          </p:nvPr>
        </p:nvSpPr>
        <p:spPr/>
        <p:txBody>
          <a:bodyPr/>
          <a:lstStyle/>
          <a:p>
            <a:r>
              <a:rPr lang="en-US" sz="2800" dirty="0"/>
              <a:t>Activity 2b: </a:t>
            </a:r>
            <a:br>
              <a:rPr lang="en-US" sz="2800" dirty="0"/>
            </a:br>
            <a:r>
              <a:rPr lang="en-US" sz="2800" dirty="0"/>
              <a:t>Metropolitan vs. Rural &amp; Remote Health Outcomes</a:t>
            </a:r>
            <a:endParaRPr lang="en-US" dirty="0"/>
          </a:p>
        </p:txBody>
      </p:sp>
      <p:sp>
        <p:nvSpPr>
          <p:cNvPr id="3" name="Content Placeholder 2">
            <a:extLst>
              <a:ext uri="{FF2B5EF4-FFF2-40B4-BE49-F238E27FC236}">
                <a16:creationId xmlns:a16="http://schemas.microsoft.com/office/drawing/2014/main" id="{FB17D25F-CC41-8116-6088-3DE913B8F4FC}"/>
              </a:ext>
            </a:extLst>
          </p:cNvPr>
          <p:cNvSpPr>
            <a:spLocks noGrp="1"/>
          </p:cNvSpPr>
          <p:nvPr>
            <p:ph idx="1"/>
          </p:nvPr>
        </p:nvSpPr>
        <p:spPr>
          <a:xfrm>
            <a:off x="581192" y="2340863"/>
            <a:ext cx="11029615" cy="4245131"/>
          </a:xfrm>
        </p:spPr>
        <p:txBody>
          <a:bodyPr/>
          <a:lstStyle/>
          <a:p>
            <a:r>
              <a:rPr lang="en-US" sz="1600" b="1" dirty="0"/>
              <a:t>The death rates for a range of diseases is higher in remote Australia. </a:t>
            </a:r>
          </a:p>
          <a:p>
            <a:r>
              <a:rPr lang="en-US" sz="1600" dirty="0"/>
              <a:t>Death rates from the major causes of death in Australia are significantly higher in remote communities when compared with major cities: </a:t>
            </a:r>
          </a:p>
          <a:p>
            <a:pPr lvl="1"/>
            <a:r>
              <a:rPr lang="en-US" sz="1600" dirty="0"/>
              <a:t>»  Land transport accidents – almost five times more deaths in remote Australia </a:t>
            </a:r>
          </a:p>
          <a:p>
            <a:pPr lvl="1"/>
            <a:r>
              <a:rPr lang="en-US" sz="1600" dirty="0"/>
              <a:t>»  Diabetes - three times the number of deaths in remote Australia </a:t>
            </a:r>
          </a:p>
          <a:p>
            <a:pPr lvl="1"/>
            <a:r>
              <a:rPr lang="en-US" sz="1600" dirty="0"/>
              <a:t>»  Suicide - twice the number of deaths due to suicide in remote Australia </a:t>
            </a:r>
          </a:p>
          <a:p>
            <a:pPr lvl="1"/>
            <a:r>
              <a:rPr lang="en-US" sz="1600" dirty="0"/>
              <a:t>»  Chronic obstructive pulmonary disease – 60% higher death rate in remote Australia </a:t>
            </a:r>
          </a:p>
          <a:p>
            <a:pPr lvl="1"/>
            <a:r>
              <a:rPr lang="en-US" sz="1600" dirty="0"/>
              <a:t>»  Coronary heart disease – 40% more deaths in remote Australia </a:t>
            </a:r>
          </a:p>
          <a:p>
            <a:pPr lvl="1"/>
            <a:r>
              <a:rPr lang="en-US" sz="1600" dirty="0"/>
              <a:t>»  Lung cancer – the rate is 40% more deaths in remote Australia. </a:t>
            </a:r>
          </a:p>
          <a:p>
            <a:r>
              <a:rPr lang="en-US" sz="1600" b="1" dirty="0"/>
              <a:t>People in remote Australia die around three years earlier than people in the city. </a:t>
            </a:r>
            <a:endParaRPr lang="en-US" sz="1600" dirty="0"/>
          </a:p>
          <a:p>
            <a:endParaRPr lang="en-US" dirty="0"/>
          </a:p>
        </p:txBody>
      </p:sp>
    </p:spTree>
    <p:extLst>
      <p:ext uri="{BB962C8B-B14F-4D97-AF65-F5344CB8AC3E}">
        <p14:creationId xmlns:p14="http://schemas.microsoft.com/office/powerpoint/2010/main" val="35402130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F4865-ED50-B6F5-9589-0EE770DE6F9B}"/>
              </a:ext>
            </a:extLst>
          </p:cNvPr>
          <p:cNvSpPr>
            <a:spLocks noGrp="1"/>
          </p:cNvSpPr>
          <p:nvPr>
            <p:ph type="title"/>
          </p:nvPr>
        </p:nvSpPr>
        <p:spPr>
          <a:xfrm>
            <a:off x="581191" y="702156"/>
            <a:ext cx="11194797" cy="1188720"/>
          </a:xfrm>
        </p:spPr>
        <p:txBody>
          <a:bodyPr>
            <a:normAutofit/>
          </a:bodyPr>
          <a:lstStyle/>
          <a:p>
            <a:r>
              <a:rPr lang="en-US" sz="2800" dirty="0"/>
              <a:t>Activity 2b: </a:t>
            </a:r>
            <a:br>
              <a:rPr lang="en-US" sz="2800" dirty="0"/>
            </a:br>
            <a:r>
              <a:rPr lang="en-US" sz="2800" dirty="0"/>
              <a:t>Metropolitan vs. Rural &amp; Remote Health Outcomes 	(PG.15) </a:t>
            </a:r>
            <a:endParaRPr lang="en-US" dirty="0"/>
          </a:p>
        </p:txBody>
      </p:sp>
      <p:sp>
        <p:nvSpPr>
          <p:cNvPr id="3" name="Content Placeholder 2">
            <a:extLst>
              <a:ext uri="{FF2B5EF4-FFF2-40B4-BE49-F238E27FC236}">
                <a16:creationId xmlns:a16="http://schemas.microsoft.com/office/drawing/2014/main" id="{FB17D25F-CC41-8116-6088-3DE913B8F4FC}"/>
              </a:ext>
            </a:extLst>
          </p:cNvPr>
          <p:cNvSpPr>
            <a:spLocks noGrp="1"/>
          </p:cNvSpPr>
          <p:nvPr>
            <p:ph idx="1"/>
          </p:nvPr>
        </p:nvSpPr>
        <p:spPr>
          <a:xfrm>
            <a:off x="581192" y="2445036"/>
            <a:ext cx="11029615" cy="4245131"/>
          </a:xfrm>
        </p:spPr>
        <p:txBody>
          <a:bodyPr>
            <a:normAutofit fontScale="92500"/>
          </a:bodyPr>
          <a:lstStyle/>
          <a:p>
            <a:r>
              <a:rPr lang="en-US" sz="1600" dirty="0"/>
              <a:t>Why do these statistics exist the way that they do?</a:t>
            </a:r>
          </a:p>
          <a:p>
            <a:r>
              <a:rPr lang="en-US" sz="1600" dirty="0"/>
              <a:t>What factors can contribute to the poor health of those living in rural Australia (when compared to those living in the city?)</a:t>
            </a:r>
          </a:p>
          <a:p>
            <a:pPr lvl="1"/>
            <a:r>
              <a:rPr lang="en-US" sz="1400" dirty="0"/>
              <a:t>Less access to services. </a:t>
            </a:r>
          </a:p>
          <a:p>
            <a:pPr lvl="1"/>
            <a:r>
              <a:rPr lang="en-US" sz="1400" dirty="0"/>
              <a:t>Less access to education. </a:t>
            </a:r>
          </a:p>
          <a:p>
            <a:pPr lvl="1"/>
            <a:r>
              <a:rPr lang="en-US" sz="1400" dirty="0"/>
              <a:t>The population in rural areas has a higher proportion of Indigenous Australians, therefore there could be cultural impacts on access to education etc. </a:t>
            </a:r>
          </a:p>
          <a:p>
            <a:pPr lvl="1"/>
            <a:r>
              <a:rPr lang="en-US" sz="1400" dirty="0"/>
              <a:t>Potentially less work available. </a:t>
            </a:r>
          </a:p>
          <a:p>
            <a:pPr lvl="1"/>
            <a:r>
              <a:rPr lang="en-US" sz="1400" dirty="0"/>
              <a:t>Less health care facilities. </a:t>
            </a:r>
          </a:p>
          <a:p>
            <a:pPr lvl="1"/>
            <a:r>
              <a:rPr lang="en-US" sz="1400" dirty="0"/>
              <a:t>Less emergency services available. </a:t>
            </a:r>
          </a:p>
          <a:p>
            <a:pPr lvl="1"/>
            <a:r>
              <a:rPr lang="en-US" sz="1400" dirty="0"/>
              <a:t>More exposure to extreme weather (drought, floods etc.)</a:t>
            </a:r>
          </a:p>
          <a:p>
            <a:pPr lvl="1"/>
            <a:r>
              <a:rPr lang="en-US" sz="1400" dirty="0"/>
              <a:t>Less safety measures on road – on remote roads, drivers tend to speed more and there is less street lighting. </a:t>
            </a:r>
          </a:p>
          <a:p>
            <a:pPr lvl="1"/>
            <a:r>
              <a:rPr lang="en-US" sz="1400" dirty="0"/>
              <a:t>Higher crime rates. </a:t>
            </a:r>
          </a:p>
          <a:p>
            <a:pPr lvl="1"/>
            <a:r>
              <a:rPr lang="en-US" sz="1400" dirty="0"/>
              <a:t>Food is more expensive. </a:t>
            </a:r>
          </a:p>
          <a:p>
            <a:pPr lvl="1"/>
            <a:r>
              <a:rPr lang="en-US" sz="1400" dirty="0"/>
              <a:t>Social isolation.</a:t>
            </a:r>
          </a:p>
          <a:p>
            <a:endParaRPr lang="en-US" dirty="0"/>
          </a:p>
        </p:txBody>
      </p:sp>
    </p:spTree>
    <p:extLst>
      <p:ext uri="{BB962C8B-B14F-4D97-AF65-F5344CB8AC3E}">
        <p14:creationId xmlns:p14="http://schemas.microsoft.com/office/powerpoint/2010/main" val="1965582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 calcmode="lin" valueType="num">
                                      <p:cBhvr additive="base">
                                        <p:cTn id="3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 calcmode="lin" valueType="num">
                                      <p:cBhvr additive="base">
                                        <p:cTn id="4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 calcmode="lin" valueType="num">
                                      <p:cBhvr additive="base">
                                        <p:cTn id="4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87861-A5AF-C178-A629-CDA64049E5D6}"/>
              </a:ext>
            </a:extLst>
          </p:cNvPr>
          <p:cNvSpPr>
            <a:spLocks noGrp="1"/>
          </p:cNvSpPr>
          <p:nvPr>
            <p:ph type="title"/>
          </p:nvPr>
        </p:nvSpPr>
        <p:spPr/>
        <p:txBody>
          <a:bodyPr/>
          <a:lstStyle/>
          <a:p>
            <a:r>
              <a:rPr lang="en-US" sz="2800" dirty="0"/>
              <a:t>Activity 2b: </a:t>
            </a:r>
            <a:br>
              <a:rPr lang="en-US" sz="2800" dirty="0"/>
            </a:br>
            <a:r>
              <a:rPr lang="en-US" sz="2800" dirty="0"/>
              <a:t>Metropolitan vs. Rural &amp; Remote Health Outcomes 	(PG.15) </a:t>
            </a:r>
            <a:endParaRPr lang="en-US" dirty="0"/>
          </a:p>
        </p:txBody>
      </p:sp>
      <p:sp>
        <p:nvSpPr>
          <p:cNvPr id="3" name="Content Placeholder 2">
            <a:extLst>
              <a:ext uri="{FF2B5EF4-FFF2-40B4-BE49-F238E27FC236}">
                <a16:creationId xmlns:a16="http://schemas.microsoft.com/office/drawing/2014/main" id="{21484B77-FEDE-BABA-5B12-A1059FF22EA0}"/>
              </a:ext>
            </a:extLst>
          </p:cNvPr>
          <p:cNvSpPr>
            <a:spLocks noGrp="1"/>
          </p:cNvSpPr>
          <p:nvPr>
            <p:ph idx="1"/>
          </p:nvPr>
        </p:nvSpPr>
        <p:spPr>
          <a:xfrm>
            <a:off x="581192" y="2340864"/>
            <a:ext cx="11029615" cy="4395602"/>
          </a:xfrm>
        </p:spPr>
        <p:txBody>
          <a:bodyPr>
            <a:normAutofit/>
          </a:bodyPr>
          <a:lstStyle/>
          <a:p>
            <a:r>
              <a:rPr lang="en-US" dirty="0"/>
              <a:t>Choose one of the health issues listed below:</a:t>
            </a:r>
          </a:p>
          <a:p>
            <a:pPr lvl="1"/>
            <a:r>
              <a:rPr lang="en-US" dirty="0"/>
              <a:t>Land transport accidents.</a:t>
            </a:r>
          </a:p>
          <a:p>
            <a:pPr lvl="1"/>
            <a:r>
              <a:rPr lang="en-US" dirty="0"/>
              <a:t>Diabetes.</a:t>
            </a:r>
          </a:p>
          <a:p>
            <a:pPr lvl="1"/>
            <a:r>
              <a:rPr lang="en-US" dirty="0"/>
              <a:t>Suicide rates.</a:t>
            </a:r>
          </a:p>
          <a:p>
            <a:pPr lvl="1"/>
            <a:r>
              <a:rPr lang="en-US" dirty="0"/>
              <a:t>Coronary heart disease.</a:t>
            </a:r>
          </a:p>
          <a:p>
            <a:pPr lvl="1"/>
            <a:r>
              <a:rPr lang="en-US" dirty="0"/>
              <a:t>Lung cancer. </a:t>
            </a:r>
          </a:p>
          <a:p>
            <a:pPr lvl="1"/>
            <a:endParaRPr lang="en-US" dirty="0"/>
          </a:p>
          <a:p>
            <a:r>
              <a:rPr lang="en-US" dirty="0"/>
              <a:t>Research the risk factors that contribute to your chosen health issue in rural Australia. </a:t>
            </a:r>
          </a:p>
          <a:p>
            <a:r>
              <a:rPr lang="en-US" dirty="0"/>
              <a:t>Identify the determinants of health at play. </a:t>
            </a:r>
          </a:p>
          <a:p>
            <a:endParaRPr lang="en-US" dirty="0"/>
          </a:p>
          <a:p>
            <a:r>
              <a:rPr lang="en-US" dirty="0"/>
              <a:t>10 mins.</a:t>
            </a:r>
          </a:p>
          <a:p>
            <a:pPr lvl="1"/>
            <a:endParaRPr lang="en-US" dirty="0"/>
          </a:p>
        </p:txBody>
      </p:sp>
    </p:spTree>
    <p:extLst>
      <p:ext uri="{BB962C8B-B14F-4D97-AF65-F5344CB8AC3E}">
        <p14:creationId xmlns:p14="http://schemas.microsoft.com/office/powerpoint/2010/main" val="40402011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FA9F2-E337-BB22-0E72-90ABE3173DE9}"/>
              </a:ext>
            </a:extLst>
          </p:cNvPr>
          <p:cNvSpPr>
            <a:spLocks noGrp="1"/>
          </p:cNvSpPr>
          <p:nvPr>
            <p:ph type="title"/>
          </p:nvPr>
        </p:nvSpPr>
        <p:spPr/>
        <p:txBody>
          <a:bodyPr/>
          <a:lstStyle/>
          <a:p>
            <a:r>
              <a:rPr lang="en-US" dirty="0"/>
              <a:t>Activity 3: ‘In my blood it runs’ 									</a:t>
            </a:r>
            <a:r>
              <a:rPr lang="en-US" sz="2800" dirty="0"/>
              <a:t>(PG.16) </a:t>
            </a:r>
            <a:endParaRPr lang="en-US" dirty="0"/>
          </a:p>
        </p:txBody>
      </p:sp>
      <p:sp>
        <p:nvSpPr>
          <p:cNvPr id="3" name="Content Placeholder 2">
            <a:extLst>
              <a:ext uri="{FF2B5EF4-FFF2-40B4-BE49-F238E27FC236}">
                <a16:creationId xmlns:a16="http://schemas.microsoft.com/office/drawing/2014/main" id="{6B36EF11-1C60-4BBC-702B-E58BB50340D8}"/>
              </a:ext>
            </a:extLst>
          </p:cNvPr>
          <p:cNvSpPr>
            <a:spLocks noGrp="1"/>
          </p:cNvSpPr>
          <p:nvPr>
            <p:ph idx="1"/>
          </p:nvPr>
        </p:nvSpPr>
        <p:spPr/>
        <p:txBody>
          <a:bodyPr/>
          <a:lstStyle/>
          <a:p>
            <a:r>
              <a:rPr lang="en-US" dirty="0"/>
              <a:t>Watch film ‘In My Blood It Runs’</a:t>
            </a:r>
          </a:p>
          <a:p>
            <a:pPr lvl="2"/>
            <a:r>
              <a:rPr lang="en-AU" i="1" dirty="0">
                <a:solidFill>
                  <a:srgbClr val="0563C2"/>
                </a:solidFill>
                <a:effectLst/>
                <a:latin typeface="Helvetica" pitchFamily="2" charset="0"/>
                <a:hlinkClick r:id="rId3"/>
              </a:rPr>
              <a:t>https://clickv.ie/w/T1cq</a:t>
            </a:r>
            <a:endParaRPr lang="en-AU" i="1" dirty="0">
              <a:solidFill>
                <a:srgbClr val="0563C2"/>
              </a:solidFill>
              <a:effectLst/>
              <a:latin typeface="Helvetica" pitchFamily="2" charset="0"/>
            </a:endParaRPr>
          </a:p>
          <a:p>
            <a:pPr marL="630000" lvl="2" indent="0">
              <a:buNone/>
            </a:pPr>
            <a:endParaRPr lang="en-US" dirty="0"/>
          </a:p>
          <a:p>
            <a:r>
              <a:rPr lang="en-US" dirty="0"/>
              <a:t>Complete the worksheet in your books while watching. </a:t>
            </a:r>
          </a:p>
        </p:txBody>
      </p:sp>
    </p:spTree>
    <p:extLst>
      <p:ext uri="{BB962C8B-B14F-4D97-AF65-F5344CB8AC3E}">
        <p14:creationId xmlns:p14="http://schemas.microsoft.com/office/powerpoint/2010/main" val="37857128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B8DD2392-397B-48BF-BEFA-EA1FB881C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Five Key Components Of Exit Tickets | by dem plates | Medium">
            <a:extLst>
              <a:ext uri="{FF2B5EF4-FFF2-40B4-BE49-F238E27FC236}">
                <a16:creationId xmlns:a16="http://schemas.microsoft.com/office/drawing/2014/main" id="{246744CA-4C43-8967-8D40-DCD5046059E3}"/>
              </a:ext>
            </a:extLst>
          </p:cNvPr>
          <p:cNvPicPr>
            <a:picLocks noChangeAspect="1" noChangeArrowheads="1"/>
          </p:cNvPicPr>
          <p:nvPr/>
        </p:nvPicPr>
        <p:blipFill rotWithShape="1">
          <a:blip r:embed="rId3">
            <a:alphaModFix amt="40000"/>
            <a:extLst>
              <a:ext uri="{28A0092B-C50C-407E-A947-70E740481C1C}">
                <a14:useLocalDpi xmlns:a14="http://schemas.microsoft.com/office/drawing/2010/main" val="0"/>
              </a:ext>
            </a:extLst>
          </a:blip>
          <a:srcRect l="2005" r="7772" b="-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FF3569C-3E7C-2F74-86B9-C8C32A677972}"/>
              </a:ext>
            </a:extLst>
          </p:cNvPr>
          <p:cNvSpPr>
            <a:spLocks noGrp="1"/>
          </p:cNvSpPr>
          <p:nvPr>
            <p:ph type="title"/>
          </p:nvPr>
        </p:nvSpPr>
        <p:spPr>
          <a:xfrm>
            <a:off x="1023870" y="702156"/>
            <a:ext cx="10144260" cy="1013800"/>
          </a:xfrm>
        </p:spPr>
        <p:txBody>
          <a:bodyPr>
            <a:normAutofit/>
          </a:bodyPr>
          <a:lstStyle/>
          <a:p>
            <a:r>
              <a:rPr lang="en-US">
                <a:solidFill>
                  <a:schemeClr val="tx1"/>
                </a:solidFill>
              </a:rPr>
              <a:t>EXIT TICKET:</a:t>
            </a:r>
          </a:p>
        </p:txBody>
      </p:sp>
      <p:sp>
        <p:nvSpPr>
          <p:cNvPr id="3" name="Content Placeholder 2">
            <a:extLst>
              <a:ext uri="{FF2B5EF4-FFF2-40B4-BE49-F238E27FC236}">
                <a16:creationId xmlns:a16="http://schemas.microsoft.com/office/drawing/2014/main" id="{244E2338-DF4C-09CE-CBF0-C7C4B79F0EA8}"/>
              </a:ext>
            </a:extLst>
          </p:cNvPr>
          <p:cNvSpPr>
            <a:spLocks noGrp="1"/>
          </p:cNvSpPr>
          <p:nvPr>
            <p:ph idx="1"/>
          </p:nvPr>
        </p:nvSpPr>
        <p:spPr>
          <a:xfrm>
            <a:off x="965199" y="2180496"/>
            <a:ext cx="10261602" cy="3678303"/>
          </a:xfrm>
        </p:spPr>
        <p:txBody>
          <a:bodyPr>
            <a:normAutofit/>
          </a:bodyPr>
          <a:lstStyle/>
          <a:p>
            <a:r>
              <a:rPr lang="en-US" dirty="0"/>
              <a:t>On a sticky note, list 3 factors in your community that influence your health the most.</a:t>
            </a:r>
          </a:p>
          <a:p>
            <a:endParaRPr lang="en-US" dirty="0"/>
          </a:p>
          <a:p>
            <a:r>
              <a:rPr lang="en-US" dirty="0"/>
              <a:t>Raise your hand and show your teacher before you pack up.</a:t>
            </a:r>
          </a:p>
          <a:p>
            <a:endParaRPr lang="en-US" dirty="0"/>
          </a:p>
        </p:txBody>
      </p:sp>
    </p:spTree>
    <p:extLst>
      <p:ext uri="{BB962C8B-B14F-4D97-AF65-F5344CB8AC3E}">
        <p14:creationId xmlns:p14="http://schemas.microsoft.com/office/powerpoint/2010/main" val="476838412"/>
      </p:ext>
    </p:extLst>
  </p:cSld>
  <p:clrMapOvr>
    <a:overrideClrMapping bg1="dk1" tx1="lt1" bg2="dk2" tx2="lt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030BA9-BD5D-EE73-3707-C8D6FB6858B9}"/>
              </a:ext>
            </a:extLst>
          </p:cNvPr>
          <p:cNvPicPr>
            <a:picLocks noChangeAspect="1"/>
          </p:cNvPicPr>
          <p:nvPr/>
        </p:nvPicPr>
        <p:blipFill rotWithShape="1">
          <a:blip r:embed="rId2"/>
          <a:srcRect t="7843" b="8514"/>
          <a:stretch/>
        </p:blipFill>
        <p:spPr>
          <a:xfrm>
            <a:off x="-3047" y="10"/>
            <a:ext cx="12191999" cy="6857990"/>
          </a:xfrm>
          <a:prstGeom prst="rect">
            <a:avLst/>
          </a:prstGeom>
        </p:spPr>
      </p:pic>
      <p:sp>
        <p:nvSpPr>
          <p:cNvPr id="18" name="Rectangle 17">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914304-9298-0AF7-AEAD-E7CB0291F04A}"/>
              </a:ext>
            </a:extLst>
          </p:cNvPr>
          <p:cNvSpPr>
            <a:spLocks noGrp="1"/>
          </p:cNvSpPr>
          <p:nvPr>
            <p:ph type="ctrTitle"/>
          </p:nvPr>
        </p:nvSpPr>
        <p:spPr>
          <a:xfrm>
            <a:off x="643466" y="643467"/>
            <a:ext cx="10905059" cy="3330353"/>
          </a:xfrm>
          <a:effectLst>
            <a:outerShdw blurRad="50800" dist="38100" dir="2700000" algn="tl" rotWithShape="0">
              <a:prstClr val="black">
                <a:alpha val="40000"/>
              </a:prstClr>
            </a:outerShdw>
          </a:effectLst>
        </p:spPr>
        <p:txBody>
          <a:bodyPr>
            <a:normAutofit/>
          </a:bodyPr>
          <a:lstStyle/>
          <a:p>
            <a:pPr algn="ctr"/>
            <a:r>
              <a:rPr lang="en-US" dirty="0">
                <a:solidFill>
                  <a:schemeClr val="bg1"/>
                </a:solidFill>
              </a:rPr>
              <a:t>IMPACTS On Health</a:t>
            </a:r>
          </a:p>
        </p:txBody>
      </p:sp>
      <p:sp>
        <p:nvSpPr>
          <p:cNvPr id="3" name="Subtitle 2">
            <a:extLst>
              <a:ext uri="{FF2B5EF4-FFF2-40B4-BE49-F238E27FC236}">
                <a16:creationId xmlns:a16="http://schemas.microsoft.com/office/drawing/2014/main" id="{CF84D835-57B8-5C80-49BB-7E95398E7574}"/>
              </a:ext>
            </a:extLst>
          </p:cNvPr>
          <p:cNvSpPr>
            <a:spLocks noGrp="1"/>
          </p:cNvSpPr>
          <p:nvPr>
            <p:ph type="subTitle" idx="1"/>
          </p:nvPr>
        </p:nvSpPr>
        <p:spPr>
          <a:xfrm>
            <a:off x="643466" y="4133135"/>
            <a:ext cx="10471838" cy="1454510"/>
          </a:xfrm>
          <a:effectLst>
            <a:outerShdw blurRad="50800" dist="38100" dir="2700000" algn="tl" rotWithShape="0">
              <a:prstClr val="black">
                <a:alpha val="40000"/>
              </a:prstClr>
            </a:outerShdw>
          </a:effectLst>
        </p:spPr>
        <p:txBody>
          <a:bodyPr>
            <a:normAutofit/>
          </a:bodyPr>
          <a:lstStyle/>
          <a:p>
            <a:pPr algn="ctr"/>
            <a:r>
              <a:rPr lang="en-US" sz="1800" dirty="0">
                <a:solidFill>
                  <a:schemeClr val="tx1"/>
                </a:solidFill>
              </a:rPr>
              <a:t>Year 10 Health					Lesson 4					Term 3, 2024</a:t>
            </a:r>
          </a:p>
        </p:txBody>
      </p:sp>
      <p:cxnSp>
        <p:nvCxnSpPr>
          <p:cNvPr id="20" name="Straight Connector 19">
            <a:extLst>
              <a:ext uri="{FF2B5EF4-FFF2-40B4-BE49-F238E27FC236}">
                <a16:creationId xmlns:a16="http://schemas.microsoft.com/office/drawing/2014/main" id="{34E5597F-CE67-4085-9548-E6A8036DA3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4421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B9C91F-776B-2231-B66B-44C5A919EB35}"/>
              </a:ext>
            </a:extLst>
          </p:cNvPr>
          <p:cNvSpPr>
            <a:spLocks noGrp="1"/>
          </p:cNvSpPr>
          <p:nvPr>
            <p:ph type="title"/>
          </p:nvPr>
        </p:nvSpPr>
        <p:spPr>
          <a:xfrm>
            <a:off x="581193" y="702156"/>
            <a:ext cx="6309003" cy="1013800"/>
          </a:xfrm>
        </p:spPr>
        <p:txBody>
          <a:bodyPr>
            <a:normAutofit/>
          </a:bodyPr>
          <a:lstStyle/>
          <a:p>
            <a:r>
              <a:rPr lang="en-US" dirty="0">
                <a:solidFill>
                  <a:schemeClr val="tx2"/>
                </a:solidFill>
              </a:rPr>
              <a:t>Today’s Focus</a:t>
            </a:r>
          </a:p>
        </p:txBody>
      </p:sp>
      <p:sp>
        <p:nvSpPr>
          <p:cNvPr id="18" name="Rectangle 17">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6B629D2A-4A91-3214-F524-57C1823230FC}"/>
              </a:ext>
            </a:extLst>
          </p:cNvPr>
          <p:cNvSpPr>
            <a:spLocks noGrp="1"/>
          </p:cNvSpPr>
          <p:nvPr>
            <p:ph idx="1"/>
          </p:nvPr>
        </p:nvSpPr>
        <p:spPr>
          <a:xfrm>
            <a:off x="581194" y="1896533"/>
            <a:ext cx="6309003" cy="3962266"/>
          </a:xfrm>
        </p:spPr>
        <p:txBody>
          <a:bodyPr>
            <a:normAutofit/>
          </a:bodyPr>
          <a:lstStyle/>
          <a:p>
            <a:r>
              <a:rPr lang="en-US" dirty="0">
                <a:solidFill>
                  <a:schemeClr val="tx2"/>
                </a:solidFill>
              </a:rPr>
              <a:t>Evaluate the influence of media on health </a:t>
            </a:r>
          </a:p>
          <a:p>
            <a:r>
              <a:rPr lang="en-US" dirty="0">
                <a:solidFill>
                  <a:schemeClr val="tx2"/>
                </a:solidFill>
              </a:rPr>
              <a:t>Define health promotion</a:t>
            </a:r>
          </a:p>
          <a:p>
            <a:r>
              <a:rPr lang="en-US" dirty="0">
                <a:solidFill>
                  <a:schemeClr val="tx2"/>
                </a:solidFill>
              </a:rPr>
              <a:t>Analyse existing health promotion campaigns </a:t>
            </a:r>
          </a:p>
        </p:txBody>
      </p:sp>
      <p:pic>
        <p:nvPicPr>
          <p:cNvPr id="5" name="Picture 4" descr="Many question marks on black background">
            <a:extLst>
              <a:ext uri="{FF2B5EF4-FFF2-40B4-BE49-F238E27FC236}">
                <a16:creationId xmlns:a16="http://schemas.microsoft.com/office/drawing/2014/main" id="{D96225BA-9E5A-7BEC-AC1E-E319C045C9C3}"/>
              </a:ext>
            </a:extLst>
          </p:cNvPr>
          <p:cNvPicPr>
            <a:picLocks noChangeAspect="1"/>
          </p:cNvPicPr>
          <p:nvPr/>
        </p:nvPicPr>
        <p:blipFill rotWithShape="1">
          <a:blip r:embed="rId2"/>
          <a:srcRect l="58454" r="2" b="2"/>
          <a:stretch/>
        </p:blipFill>
        <p:spPr>
          <a:xfrm>
            <a:off x="7521283" y="10"/>
            <a:ext cx="4670717" cy="6857990"/>
          </a:xfrm>
          <a:prstGeom prst="rect">
            <a:avLst/>
          </a:prstGeom>
        </p:spPr>
      </p:pic>
    </p:spTree>
    <p:extLst>
      <p:ext uri="{BB962C8B-B14F-4D97-AF65-F5344CB8AC3E}">
        <p14:creationId xmlns:p14="http://schemas.microsoft.com/office/powerpoint/2010/main" val="6447200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254A2-5034-63CF-AEEE-FD585C9DCF5D}"/>
              </a:ext>
            </a:extLst>
          </p:cNvPr>
          <p:cNvSpPr>
            <a:spLocks noGrp="1"/>
          </p:cNvSpPr>
          <p:nvPr>
            <p:ph type="title"/>
          </p:nvPr>
        </p:nvSpPr>
        <p:spPr/>
        <p:txBody>
          <a:bodyPr/>
          <a:lstStyle/>
          <a:p>
            <a:r>
              <a:rPr lang="en-US" dirty="0"/>
              <a:t>POST IT SLAM! </a:t>
            </a:r>
          </a:p>
        </p:txBody>
      </p:sp>
      <p:sp>
        <p:nvSpPr>
          <p:cNvPr id="3" name="Content Placeholder 2">
            <a:extLst>
              <a:ext uri="{FF2B5EF4-FFF2-40B4-BE49-F238E27FC236}">
                <a16:creationId xmlns:a16="http://schemas.microsoft.com/office/drawing/2014/main" id="{BB4E3C12-A656-02B5-6229-9EF7E9775EA7}"/>
              </a:ext>
            </a:extLst>
          </p:cNvPr>
          <p:cNvSpPr>
            <a:spLocks noGrp="1"/>
          </p:cNvSpPr>
          <p:nvPr>
            <p:ph idx="1"/>
          </p:nvPr>
        </p:nvSpPr>
        <p:spPr/>
        <p:txBody>
          <a:bodyPr/>
          <a:lstStyle/>
          <a:p>
            <a:r>
              <a:rPr lang="en-US" dirty="0"/>
              <a:t>Everyone will receive a sticky note. </a:t>
            </a:r>
          </a:p>
          <a:p>
            <a:endParaRPr lang="en-US" dirty="0"/>
          </a:p>
          <a:p>
            <a:r>
              <a:rPr lang="en-US" dirty="0"/>
              <a:t>On your sticky note answer the question: </a:t>
            </a:r>
          </a:p>
          <a:p>
            <a:endParaRPr lang="en-US" dirty="0"/>
          </a:p>
          <a:p>
            <a:r>
              <a:rPr lang="en-US" dirty="0"/>
              <a:t>Once you have written your answer, stick your note on the board. </a:t>
            </a:r>
          </a:p>
          <a:p>
            <a:endParaRPr lang="en-US" dirty="0"/>
          </a:p>
          <a:p>
            <a:r>
              <a:rPr lang="en-US" dirty="0"/>
              <a:t>Name is optional. </a:t>
            </a:r>
          </a:p>
          <a:p>
            <a:endParaRPr lang="en-US" dirty="0"/>
          </a:p>
          <a:p>
            <a:r>
              <a:rPr lang="en-US" dirty="0"/>
              <a:t>You have 2 minutes.</a:t>
            </a:r>
          </a:p>
        </p:txBody>
      </p:sp>
      <p:pic>
        <p:nvPicPr>
          <p:cNvPr id="1026" name="Picture 2" descr="Post-It Note Images – Browse 250,618 Stock Photos, Vectors, and Video |  Adobe Stock">
            <a:extLst>
              <a:ext uri="{FF2B5EF4-FFF2-40B4-BE49-F238E27FC236}">
                <a16:creationId xmlns:a16="http://schemas.microsoft.com/office/drawing/2014/main" id="{3DCDB845-6157-D68A-CE0C-30F4AA22131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845" t="10200" r="23956" b="10306"/>
          <a:stretch/>
        </p:blipFill>
        <p:spPr bwMode="auto">
          <a:xfrm>
            <a:off x="7962351" y="2340864"/>
            <a:ext cx="3648456" cy="3634486"/>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2C85F7A3-B65F-3A6F-B574-C889802A2C6B}"/>
              </a:ext>
            </a:extLst>
          </p:cNvPr>
          <p:cNvCxnSpPr/>
          <p:nvPr/>
        </p:nvCxnSpPr>
        <p:spPr>
          <a:xfrm>
            <a:off x="5010912" y="3785616"/>
            <a:ext cx="2688336" cy="0"/>
          </a:xfrm>
          <a:prstGeom prst="straightConnector1">
            <a:avLst/>
          </a:prstGeom>
          <a:ln w="381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FDD751D-56DE-3DC9-59D6-8BE1FCE6AEA7}"/>
              </a:ext>
            </a:extLst>
          </p:cNvPr>
          <p:cNvSpPr txBox="1"/>
          <p:nvPr/>
        </p:nvSpPr>
        <p:spPr>
          <a:xfrm>
            <a:off x="8168091" y="3109655"/>
            <a:ext cx="3236976" cy="2585323"/>
          </a:xfrm>
          <a:prstGeom prst="rect">
            <a:avLst/>
          </a:prstGeom>
          <a:noFill/>
        </p:spPr>
        <p:txBody>
          <a:bodyPr wrap="square" rtlCol="0">
            <a:spAutoFit/>
          </a:bodyPr>
          <a:lstStyle/>
          <a:p>
            <a:pPr algn="ctr"/>
            <a:r>
              <a:rPr lang="en-US" sz="2400" b="1" dirty="0"/>
              <a:t>How does the media influence our health behaviours?</a:t>
            </a:r>
          </a:p>
          <a:p>
            <a:endParaRPr lang="en-US" dirty="0"/>
          </a:p>
          <a:p>
            <a:pPr algn="ctr"/>
            <a:r>
              <a:rPr lang="en-US" i="1" dirty="0"/>
              <a:t>Think about the techniques used by the media, or what the media does to make us act in a certain way.</a:t>
            </a:r>
          </a:p>
        </p:txBody>
      </p:sp>
      <p:sp>
        <p:nvSpPr>
          <p:cNvPr id="8" name="TextBox 7">
            <a:extLst>
              <a:ext uri="{FF2B5EF4-FFF2-40B4-BE49-F238E27FC236}">
                <a16:creationId xmlns:a16="http://schemas.microsoft.com/office/drawing/2014/main" id="{159B170E-0164-914E-92D3-FA80B2A2C04B}"/>
              </a:ext>
            </a:extLst>
          </p:cNvPr>
          <p:cNvSpPr txBox="1"/>
          <p:nvPr/>
        </p:nvSpPr>
        <p:spPr>
          <a:xfrm>
            <a:off x="7022592" y="695794"/>
            <a:ext cx="4702515" cy="1077218"/>
          </a:xfrm>
          <a:custGeom>
            <a:avLst/>
            <a:gdLst>
              <a:gd name="connsiteX0" fmla="*/ 0 w 4702515"/>
              <a:gd name="connsiteY0" fmla="*/ 0 h 1077218"/>
              <a:gd name="connsiteX1" fmla="*/ 540789 w 4702515"/>
              <a:gd name="connsiteY1" fmla="*/ 0 h 1077218"/>
              <a:gd name="connsiteX2" fmla="*/ 987528 w 4702515"/>
              <a:gd name="connsiteY2" fmla="*/ 0 h 1077218"/>
              <a:gd name="connsiteX3" fmla="*/ 1669393 w 4702515"/>
              <a:gd name="connsiteY3" fmla="*/ 0 h 1077218"/>
              <a:gd name="connsiteX4" fmla="*/ 2210182 w 4702515"/>
              <a:gd name="connsiteY4" fmla="*/ 0 h 1077218"/>
              <a:gd name="connsiteX5" fmla="*/ 2750971 w 4702515"/>
              <a:gd name="connsiteY5" fmla="*/ 0 h 1077218"/>
              <a:gd name="connsiteX6" fmla="*/ 3432836 w 4702515"/>
              <a:gd name="connsiteY6" fmla="*/ 0 h 1077218"/>
              <a:gd name="connsiteX7" fmla="*/ 3926600 w 4702515"/>
              <a:gd name="connsiteY7" fmla="*/ 0 h 1077218"/>
              <a:gd name="connsiteX8" fmla="*/ 4702515 w 4702515"/>
              <a:gd name="connsiteY8" fmla="*/ 0 h 1077218"/>
              <a:gd name="connsiteX9" fmla="*/ 4702515 w 4702515"/>
              <a:gd name="connsiteY9" fmla="*/ 560153 h 1077218"/>
              <a:gd name="connsiteX10" fmla="*/ 4702515 w 4702515"/>
              <a:gd name="connsiteY10" fmla="*/ 1077218 h 1077218"/>
              <a:gd name="connsiteX11" fmla="*/ 4114701 w 4702515"/>
              <a:gd name="connsiteY11" fmla="*/ 1077218 h 1077218"/>
              <a:gd name="connsiteX12" fmla="*/ 3573911 w 4702515"/>
              <a:gd name="connsiteY12" fmla="*/ 1077218 h 1077218"/>
              <a:gd name="connsiteX13" fmla="*/ 2892047 w 4702515"/>
              <a:gd name="connsiteY13" fmla="*/ 1077218 h 1077218"/>
              <a:gd name="connsiteX14" fmla="*/ 2210182 w 4702515"/>
              <a:gd name="connsiteY14" fmla="*/ 1077218 h 1077218"/>
              <a:gd name="connsiteX15" fmla="*/ 1716418 w 4702515"/>
              <a:gd name="connsiteY15" fmla="*/ 1077218 h 1077218"/>
              <a:gd name="connsiteX16" fmla="*/ 1128604 w 4702515"/>
              <a:gd name="connsiteY16" fmla="*/ 1077218 h 1077218"/>
              <a:gd name="connsiteX17" fmla="*/ 0 w 4702515"/>
              <a:gd name="connsiteY17" fmla="*/ 1077218 h 1077218"/>
              <a:gd name="connsiteX18" fmla="*/ 0 w 4702515"/>
              <a:gd name="connsiteY18" fmla="*/ 538609 h 1077218"/>
              <a:gd name="connsiteX19" fmla="*/ 0 w 4702515"/>
              <a:gd name="connsiteY19" fmla="*/ 0 h 1077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702515" h="1077218" extrusionOk="0">
                <a:moveTo>
                  <a:pt x="0" y="0"/>
                </a:moveTo>
                <a:cubicBezTo>
                  <a:pt x="248890" y="-15676"/>
                  <a:pt x="295349" y="26632"/>
                  <a:pt x="540789" y="0"/>
                </a:cubicBezTo>
                <a:cubicBezTo>
                  <a:pt x="786229" y="-26632"/>
                  <a:pt x="897580" y="45724"/>
                  <a:pt x="987528" y="0"/>
                </a:cubicBezTo>
                <a:cubicBezTo>
                  <a:pt x="1077476" y="-45724"/>
                  <a:pt x="1522200" y="9135"/>
                  <a:pt x="1669393" y="0"/>
                </a:cubicBezTo>
                <a:cubicBezTo>
                  <a:pt x="1816587" y="-9135"/>
                  <a:pt x="1981381" y="47085"/>
                  <a:pt x="2210182" y="0"/>
                </a:cubicBezTo>
                <a:cubicBezTo>
                  <a:pt x="2438983" y="-47085"/>
                  <a:pt x="2571775" y="48051"/>
                  <a:pt x="2750971" y="0"/>
                </a:cubicBezTo>
                <a:cubicBezTo>
                  <a:pt x="2930167" y="-48051"/>
                  <a:pt x="3120299" y="63275"/>
                  <a:pt x="3432836" y="0"/>
                </a:cubicBezTo>
                <a:cubicBezTo>
                  <a:pt x="3745373" y="-63275"/>
                  <a:pt x="3781293" y="45351"/>
                  <a:pt x="3926600" y="0"/>
                </a:cubicBezTo>
                <a:cubicBezTo>
                  <a:pt x="4071907" y="-45351"/>
                  <a:pt x="4415639" y="34311"/>
                  <a:pt x="4702515" y="0"/>
                </a:cubicBezTo>
                <a:cubicBezTo>
                  <a:pt x="4741994" y="186442"/>
                  <a:pt x="4674078" y="366170"/>
                  <a:pt x="4702515" y="560153"/>
                </a:cubicBezTo>
                <a:cubicBezTo>
                  <a:pt x="4730952" y="754136"/>
                  <a:pt x="4679297" y="826748"/>
                  <a:pt x="4702515" y="1077218"/>
                </a:cubicBezTo>
                <a:cubicBezTo>
                  <a:pt x="4539570" y="1125496"/>
                  <a:pt x="4326913" y="1077124"/>
                  <a:pt x="4114701" y="1077218"/>
                </a:cubicBezTo>
                <a:cubicBezTo>
                  <a:pt x="3902489" y="1077312"/>
                  <a:pt x="3844216" y="1052170"/>
                  <a:pt x="3573911" y="1077218"/>
                </a:cubicBezTo>
                <a:cubicBezTo>
                  <a:pt x="3303606" y="1102266"/>
                  <a:pt x="3034376" y="1065873"/>
                  <a:pt x="2892047" y="1077218"/>
                </a:cubicBezTo>
                <a:cubicBezTo>
                  <a:pt x="2749718" y="1088563"/>
                  <a:pt x="2444536" y="1014720"/>
                  <a:pt x="2210182" y="1077218"/>
                </a:cubicBezTo>
                <a:cubicBezTo>
                  <a:pt x="1975828" y="1139716"/>
                  <a:pt x="1924571" y="1024732"/>
                  <a:pt x="1716418" y="1077218"/>
                </a:cubicBezTo>
                <a:cubicBezTo>
                  <a:pt x="1508265" y="1129704"/>
                  <a:pt x="1258658" y="1042567"/>
                  <a:pt x="1128604" y="1077218"/>
                </a:cubicBezTo>
                <a:cubicBezTo>
                  <a:pt x="998550" y="1111869"/>
                  <a:pt x="386214" y="994372"/>
                  <a:pt x="0" y="1077218"/>
                </a:cubicBezTo>
                <a:cubicBezTo>
                  <a:pt x="-1784" y="912905"/>
                  <a:pt x="3269" y="700791"/>
                  <a:pt x="0" y="538609"/>
                </a:cubicBezTo>
                <a:cubicBezTo>
                  <a:pt x="-3269" y="376427"/>
                  <a:pt x="21198" y="160173"/>
                  <a:pt x="0" y="0"/>
                </a:cubicBezTo>
                <a:close/>
              </a:path>
            </a:pathLst>
          </a:custGeom>
          <a:noFill/>
          <a:ln>
            <a:solidFill>
              <a:srgbClr val="FF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p>
            <a:r>
              <a:rPr lang="en-US" sz="1400" dirty="0"/>
              <a:t>Health behaviours = the way we act that affects our health. </a:t>
            </a:r>
          </a:p>
          <a:p>
            <a:endParaRPr lang="en-US" sz="1400" dirty="0"/>
          </a:p>
          <a:p>
            <a:r>
              <a:rPr lang="en-US" sz="1200" dirty="0"/>
              <a:t>e.g., sun tanning is a health behaviour that can cause skin cancer.</a:t>
            </a:r>
          </a:p>
          <a:p>
            <a:r>
              <a:rPr lang="en-US" sz="1200" dirty="0"/>
              <a:t>e.g., showing a person getting injured while drunk may deter people from drinking too much.</a:t>
            </a:r>
          </a:p>
        </p:txBody>
      </p:sp>
    </p:spTree>
    <p:extLst>
      <p:ext uri="{BB962C8B-B14F-4D97-AF65-F5344CB8AC3E}">
        <p14:creationId xmlns:p14="http://schemas.microsoft.com/office/powerpoint/2010/main" val="22222165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BF3125-F829-42AD-9499-2E1E685739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B45325-14BF-8EF9-E4A4-74C8FCF6558F}"/>
              </a:ext>
            </a:extLst>
          </p:cNvPr>
          <p:cNvSpPr>
            <a:spLocks noGrp="1"/>
          </p:cNvSpPr>
          <p:nvPr>
            <p:ph type="title"/>
          </p:nvPr>
        </p:nvSpPr>
        <p:spPr>
          <a:xfrm>
            <a:off x="4398134" y="702156"/>
            <a:ext cx="7212673" cy="1188720"/>
          </a:xfrm>
        </p:spPr>
        <p:txBody>
          <a:bodyPr>
            <a:normAutofit fontScale="90000"/>
          </a:bodyPr>
          <a:lstStyle/>
          <a:p>
            <a:r>
              <a:rPr lang="en-US" dirty="0"/>
              <a:t>ACTIVITY 1: Media and impacts on health 														</a:t>
            </a:r>
            <a:r>
              <a:rPr lang="en-US" sz="2800" dirty="0"/>
              <a:t>(PG.17) </a:t>
            </a:r>
            <a:endParaRPr lang="en-US" dirty="0"/>
          </a:p>
        </p:txBody>
      </p:sp>
      <p:sp>
        <p:nvSpPr>
          <p:cNvPr id="12" name="Rectangle 11">
            <a:extLst>
              <a:ext uri="{FF2B5EF4-FFF2-40B4-BE49-F238E27FC236}">
                <a16:creationId xmlns:a16="http://schemas.microsoft.com/office/drawing/2014/main" id="{0755048A-E386-4898-B0AD-98A6A29F6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0A21A1F8-0202-47A2-AA30-21B1B3ED6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58016B9E-A476-43D0-AA13-88A0A84D4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descr="12,900+ Tick And Cross Icon Stock Illustrations, Royalty-Free Vector  Graphics &amp; Clip Art - iStock">
            <a:extLst>
              <a:ext uri="{FF2B5EF4-FFF2-40B4-BE49-F238E27FC236}">
                <a16:creationId xmlns:a16="http://schemas.microsoft.com/office/drawing/2014/main" id="{564121F6-6221-E5C7-6B54-C1E5C8137B6F}"/>
              </a:ext>
            </a:extLst>
          </p:cNvPr>
          <p:cNvPicPr>
            <a:picLocks noChangeAspect="1"/>
          </p:cNvPicPr>
          <p:nvPr/>
        </p:nvPicPr>
        <p:blipFill rotWithShape="1">
          <a:blip r:embed="rId3">
            <a:extLst>
              <a:ext uri="{28A0092B-C50C-407E-A947-70E740481C1C}">
                <a14:useLocalDpi xmlns:a14="http://schemas.microsoft.com/office/drawing/2010/main" val="0"/>
              </a:ext>
            </a:extLst>
          </a:blip>
          <a:srcRect l="52846" t="20912" r="4644" b="19026"/>
          <a:stretch/>
        </p:blipFill>
        <p:spPr bwMode="auto">
          <a:xfrm>
            <a:off x="905435" y="3528812"/>
            <a:ext cx="2785515" cy="2627032"/>
          </a:xfrm>
          <a:prstGeom prst="rect">
            <a:avLst/>
          </a:prstGeom>
          <a:noFill/>
          <a:extLst>
            <a:ext uri="{53640926-AAD7-44D8-BBD7-CCE9431645EC}">
              <a14:shadowObscured xmlns:a14="http://schemas.microsoft.com/office/drawing/2010/main"/>
            </a:ext>
          </a:extLst>
        </p:spPr>
      </p:pic>
      <p:pic>
        <p:nvPicPr>
          <p:cNvPr id="4" name="Picture 3" descr="12,900+ Tick And Cross Icon Stock Illustrations, Royalty-Free Vector  Graphics &amp; Clip Art - iStock">
            <a:extLst>
              <a:ext uri="{FF2B5EF4-FFF2-40B4-BE49-F238E27FC236}">
                <a16:creationId xmlns:a16="http://schemas.microsoft.com/office/drawing/2014/main" id="{B4BB6382-28F1-A5F5-E877-4D3953C08AF5}"/>
              </a:ext>
            </a:extLst>
          </p:cNvPr>
          <p:cNvPicPr>
            <a:picLocks noChangeAspect="1"/>
          </p:cNvPicPr>
          <p:nvPr/>
        </p:nvPicPr>
        <p:blipFill rotWithShape="1">
          <a:blip r:embed="rId3">
            <a:extLst>
              <a:ext uri="{28A0092B-C50C-407E-A947-70E740481C1C}">
                <a14:useLocalDpi xmlns:a14="http://schemas.microsoft.com/office/drawing/2010/main" val="0"/>
              </a:ext>
            </a:extLst>
          </a:blip>
          <a:srcRect l="5623" t="21250" r="51863" b="20395"/>
          <a:stretch/>
        </p:blipFill>
        <p:spPr bwMode="auto">
          <a:xfrm>
            <a:off x="769787" y="728115"/>
            <a:ext cx="3056809" cy="2800697"/>
          </a:xfrm>
          <a:prstGeom prst="rect">
            <a:avLst/>
          </a:prstGeom>
          <a:noFill/>
          <a:extLst>
            <a:ext uri="{53640926-AAD7-44D8-BBD7-CCE9431645EC}">
              <a14:shadowObscured xmlns:a14="http://schemas.microsoft.com/office/drawing/2010/main"/>
            </a:ext>
          </a:extLst>
        </p:spPr>
      </p:pic>
      <p:sp>
        <p:nvSpPr>
          <p:cNvPr id="3" name="Content Placeholder 2">
            <a:extLst>
              <a:ext uri="{FF2B5EF4-FFF2-40B4-BE49-F238E27FC236}">
                <a16:creationId xmlns:a16="http://schemas.microsoft.com/office/drawing/2014/main" id="{2A8ED74B-1007-4DAF-0ED3-82C07B60DB54}"/>
              </a:ext>
            </a:extLst>
          </p:cNvPr>
          <p:cNvSpPr>
            <a:spLocks noGrp="1"/>
          </p:cNvSpPr>
          <p:nvPr>
            <p:ph idx="1"/>
          </p:nvPr>
        </p:nvSpPr>
        <p:spPr>
          <a:xfrm>
            <a:off x="4398133" y="2428328"/>
            <a:ext cx="7212674" cy="4377988"/>
          </a:xfrm>
        </p:spPr>
        <p:txBody>
          <a:bodyPr>
            <a:normAutofit lnSpcReduction="10000"/>
          </a:bodyPr>
          <a:lstStyle/>
          <a:p>
            <a:r>
              <a:rPr lang="en-US" dirty="0"/>
              <a:t>Media includes radio, TV, movies, newspaper, billboards, music, books, etc. </a:t>
            </a:r>
          </a:p>
          <a:p>
            <a:endParaRPr lang="en-US" dirty="0"/>
          </a:p>
          <a:p>
            <a:r>
              <a:rPr lang="en-US" dirty="0"/>
              <a:t>Media can use a range of strategies / techniques to make the audience feel or act in a certain way.</a:t>
            </a:r>
          </a:p>
          <a:p>
            <a:endParaRPr lang="en-US" dirty="0"/>
          </a:p>
          <a:p>
            <a:r>
              <a:rPr lang="en-US" dirty="0"/>
              <a:t>Consider the positive and negative impacts that media can have on health. </a:t>
            </a:r>
          </a:p>
          <a:p>
            <a:endParaRPr lang="en-US" dirty="0"/>
          </a:p>
          <a:p>
            <a:r>
              <a:rPr lang="en-US" dirty="0"/>
              <a:t>Write at least 3 examples of positive impacts media can have and 3 examples of negative impacts on health. </a:t>
            </a:r>
          </a:p>
          <a:p>
            <a:endParaRPr lang="en-US" dirty="0"/>
          </a:p>
          <a:p>
            <a:r>
              <a:rPr lang="en-US" dirty="0"/>
              <a:t>You have 3 minutes.</a:t>
            </a:r>
          </a:p>
          <a:p>
            <a:endParaRPr lang="en-US" dirty="0"/>
          </a:p>
          <a:p>
            <a:endParaRPr lang="en-US" dirty="0"/>
          </a:p>
        </p:txBody>
      </p:sp>
    </p:spTree>
    <p:extLst>
      <p:ext uri="{BB962C8B-B14F-4D97-AF65-F5344CB8AC3E}">
        <p14:creationId xmlns:p14="http://schemas.microsoft.com/office/powerpoint/2010/main" val="23644648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8D2B4922-7602-46A0-9EEB-1F737C65FE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DE5FFF-C835-A8EE-151F-BB2A20CA848E}"/>
              </a:ext>
            </a:extLst>
          </p:cNvPr>
          <p:cNvSpPr>
            <a:spLocks noGrp="1"/>
          </p:cNvSpPr>
          <p:nvPr>
            <p:ph type="title"/>
          </p:nvPr>
        </p:nvSpPr>
        <p:spPr>
          <a:xfrm>
            <a:off x="581193" y="175848"/>
            <a:ext cx="11029616" cy="1188720"/>
          </a:xfrm>
        </p:spPr>
        <p:txBody>
          <a:bodyPr>
            <a:normAutofit/>
          </a:bodyPr>
          <a:lstStyle/>
          <a:p>
            <a:r>
              <a:rPr lang="en-US" dirty="0"/>
              <a:t>What is health promotion? 										(PG.18) </a:t>
            </a:r>
          </a:p>
        </p:txBody>
      </p:sp>
      <p:sp>
        <p:nvSpPr>
          <p:cNvPr id="1033" name="Rectangle 1032">
            <a:extLst>
              <a:ext uri="{FF2B5EF4-FFF2-40B4-BE49-F238E27FC236}">
                <a16:creationId xmlns:a16="http://schemas.microsoft.com/office/drawing/2014/main" id="{970450C2-785F-4B9A-ADCF-A3081A1CF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5" name="Rectangle 1034">
            <a:extLst>
              <a:ext uri="{FF2B5EF4-FFF2-40B4-BE49-F238E27FC236}">
                <a16:creationId xmlns:a16="http://schemas.microsoft.com/office/drawing/2014/main" id="{6616FE08-2FA4-454F-8805-C2B340EE8C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7" name="Rectangle 1036">
            <a:extLst>
              <a:ext uri="{FF2B5EF4-FFF2-40B4-BE49-F238E27FC236}">
                <a16:creationId xmlns:a16="http://schemas.microsoft.com/office/drawing/2014/main" id="{AD6FD8DB-BEB0-487A-910E-E4D3E89D7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9" name="Rectangle 1038">
            <a:extLst>
              <a:ext uri="{FF2B5EF4-FFF2-40B4-BE49-F238E27FC236}">
                <a16:creationId xmlns:a16="http://schemas.microsoft.com/office/drawing/2014/main" id="{E7F0B04F-9887-478F-B1F0-5B28D467D1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2180496"/>
            <a:ext cx="3703320"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Stronger Together: The HSE Mental Health Promotion Plan 2022-2027 – HSE  Health and Wellbeing">
            <a:extLst>
              <a:ext uri="{FF2B5EF4-FFF2-40B4-BE49-F238E27FC236}">
                <a16:creationId xmlns:a16="http://schemas.microsoft.com/office/drawing/2014/main" id="{94944F6C-85D7-E615-67BF-837B1F26F84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1186" y="2321045"/>
            <a:ext cx="3134015" cy="376458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A6CB0408-1D03-9505-13BC-93AB20E509D5}"/>
              </a:ext>
            </a:extLst>
          </p:cNvPr>
          <p:cNvSpPr>
            <a:spLocks noGrp="1"/>
          </p:cNvSpPr>
          <p:nvPr>
            <p:ph idx="1"/>
          </p:nvPr>
        </p:nvSpPr>
        <p:spPr>
          <a:xfrm>
            <a:off x="4505326" y="1642364"/>
            <a:ext cx="7527648" cy="5102994"/>
          </a:xfrm>
        </p:spPr>
        <p:txBody>
          <a:bodyPr>
            <a:normAutofit/>
          </a:bodyPr>
          <a:lstStyle/>
          <a:p>
            <a:pPr>
              <a:lnSpc>
                <a:spcPct val="90000"/>
              </a:lnSpc>
            </a:pPr>
            <a:r>
              <a:rPr lang="en-AU" b="0" i="0" dirty="0">
                <a:effectLst/>
                <a:highlight>
                  <a:srgbClr val="FFFFFF"/>
                </a:highlight>
              </a:rPr>
              <a:t>Health promotion</a:t>
            </a:r>
            <a:r>
              <a:rPr lang="en-AU" b="1" i="0" dirty="0">
                <a:effectLst/>
                <a:highlight>
                  <a:srgbClr val="FFFFFF"/>
                </a:highlight>
              </a:rPr>
              <a:t> </a:t>
            </a:r>
            <a:r>
              <a:rPr lang="en-AU" i="0" dirty="0">
                <a:effectLst/>
                <a:highlight>
                  <a:srgbClr val="FFFFFF"/>
                </a:highlight>
              </a:rPr>
              <a:t>is the process of enabling people to increase control over, and to improve, their health.</a:t>
            </a:r>
            <a:r>
              <a:rPr lang="en-US" dirty="0"/>
              <a:t> </a:t>
            </a:r>
          </a:p>
          <a:p>
            <a:pPr>
              <a:lnSpc>
                <a:spcPct val="90000"/>
              </a:lnSpc>
            </a:pPr>
            <a:endParaRPr lang="en-US" dirty="0"/>
          </a:p>
          <a:p>
            <a:pPr>
              <a:lnSpc>
                <a:spcPct val="90000"/>
              </a:lnSpc>
            </a:pPr>
            <a:r>
              <a:rPr lang="en-US" dirty="0"/>
              <a:t>It raises the awareness of health issues within a community by bringing attention to it. </a:t>
            </a:r>
          </a:p>
          <a:p>
            <a:pPr>
              <a:lnSpc>
                <a:spcPct val="90000"/>
              </a:lnSpc>
            </a:pPr>
            <a:endParaRPr lang="en-US" dirty="0"/>
          </a:p>
          <a:p>
            <a:pPr>
              <a:lnSpc>
                <a:spcPct val="90000"/>
              </a:lnSpc>
            </a:pPr>
            <a:r>
              <a:rPr lang="en-US" dirty="0"/>
              <a:t>One part of health promotion is the creation and use of health promotion campaigns to educate individuals on what they need to do and how to do it, so they can be healthy. </a:t>
            </a:r>
          </a:p>
          <a:p>
            <a:pPr>
              <a:lnSpc>
                <a:spcPct val="90000"/>
              </a:lnSpc>
            </a:pPr>
            <a:endParaRPr lang="en-US" dirty="0"/>
          </a:p>
          <a:p>
            <a:pPr>
              <a:lnSpc>
                <a:spcPct val="90000"/>
              </a:lnSpc>
            </a:pPr>
            <a:r>
              <a:rPr lang="en-US" dirty="0"/>
              <a:t>Health promotion campaigns can be presented to the public using media. </a:t>
            </a:r>
          </a:p>
          <a:p>
            <a:pPr>
              <a:lnSpc>
                <a:spcPct val="90000"/>
              </a:lnSpc>
            </a:pPr>
            <a:endParaRPr lang="en-US" dirty="0"/>
          </a:p>
          <a:p>
            <a:pPr>
              <a:lnSpc>
                <a:spcPct val="90000"/>
              </a:lnSpc>
            </a:pPr>
            <a:r>
              <a:rPr lang="en-US" dirty="0"/>
              <a:t>Other health promotion interventions include policy development, legislation and regulation, re-orienting health services, community development.</a:t>
            </a:r>
          </a:p>
        </p:txBody>
      </p:sp>
    </p:spTree>
    <p:extLst>
      <p:ext uri="{BB962C8B-B14F-4D97-AF65-F5344CB8AC3E}">
        <p14:creationId xmlns:p14="http://schemas.microsoft.com/office/powerpoint/2010/main" val="34838009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73CF6F-4FCA-2A63-D176-D803C1BF360A}"/>
              </a:ext>
            </a:extLst>
          </p:cNvPr>
          <p:cNvSpPr>
            <a:spLocks noGrp="1"/>
          </p:cNvSpPr>
          <p:nvPr>
            <p:ph type="title"/>
          </p:nvPr>
        </p:nvSpPr>
        <p:spPr>
          <a:xfrm>
            <a:off x="581193" y="702156"/>
            <a:ext cx="6309003" cy="1013800"/>
          </a:xfrm>
        </p:spPr>
        <p:txBody>
          <a:bodyPr>
            <a:normAutofit/>
          </a:bodyPr>
          <a:lstStyle/>
          <a:p>
            <a:r>
              <a:rPr lang="en-US" dirty="0">
                <a:solidFill>
                  <a:schemeClr val="tx2"/>
                </a:solidFill>
              </a:rPr>
              <a:t>GLOSSARY: 								(Pg. 6)</a:t>
            </a:r>
            <a:endParaRPr lang="en-US" dirty="0">
              <a:solidFill>
                <a:schemeClr val="tx2"/>
              </a:solidFill>
              <a:highlight>
                <a:srgbClr val="FFFF00"/>
              </a:highlight>
            </a:endParaRPr>
          </a:p>
        </p:txBody>
      </p:sp>
      <p:sp>
        <p:nvSpPr>
          <p:cNvPr id="20" name="Rectangle 19">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50561FC8-6D65-AA8A-D6E4-E5542E62296E}"/>
              </a:ext>
            </a:extLst>
          </p:cNvPr>
          <p:cNvSpPr>
            <a:spLocks noGrp="1"/>
          </p:cNvSpPr>
          <p:nvPr>
            <p:ph idx="1"/>
          </p:nvPr>
        </p:nvSpPr>
        <p:spPr>
          <a:xfrm>
            <a:off x="581194" y="1896533"/>
            <a:ext cx="6309003" cy="3962266"/>
          </a:xfrm>
        </p:spPr>
        <p:txBody>
          <a:bodyPr>
            <a:normAutofit lnSpcReduction="10000"/>
          </a:bodyPr>
          <a:lstStyle/>
          <a:p>
            <a:pPr marL="0" indent="0">
              <a:buNone/>
            </a:pPr>
            <a:r>
              <a:rPr lang="en-US" sz="1800" dirty="0"/>
              <a:t>At the front of your books is your glossary.  Turn to your glossary and add the following words and their definitions:</a:t>
            </a:r>
          </a:p>
          <a:p>
            <a:pPr marL="0" indent="0">
              <a:buNone/>
            </a:pPr>
            <a:endParaRPr lang="en-US" dirty="0">
              <a:solidFill>
                <a:schemeClr val="tx2"/>
              </a:solidFill>
            </a:endParaRPr>
          </a:p>
          <a:p>
            <a:r>
              <a:rPr lang="en-US" b="1" i="1" dirty="0">
                <a:solidFill>
                  <a:schemeClr val="tx2"/>
                </a:solidFill>
              </a:rPr>
              <a:t>Health Promotion:</a:t>
            </a:r>
          </a:p>
          <a:p>
            <a:pPr lvl="1"/>
            <a:r>
              <a:rPr lang="en-AU" i="0" dirty="0">
                <a:solidFill>
                  <a:schemeClr val="tx1"/>
                </a:solidFill>
                <a:effectLst/>
                <a:highlight>
                  <a:srgbClr val="FFFFFF"/>
                </a:highlight>
              </a:rPr>
              <a:t>The process of enabling people to increase control over, and to improve, their health.</a:t>
            </a:r>
          </a:p>
          <a:p>
            <a:pPr lvl="1"/>
            <a:endParaRPr lang="en-AU" dirty="0">
              <a:solidFill>
                <a:schemeClr val="tx1"/>
              </a:solidFill>
              <a:highlight>
                <a:srgbClr val="FFFFFF"/>
              </a:highlight>
            </a:endParaRPr>
          </a:p>
          <a:p>
            <a:r>
              <a:rPr lang="en-AU" b="1" i="1" dirty="0">
                <a:solidFill>
                  <a:schemeClr val="tx1"/>
                </a:solidFill>
                <a:highlight>
                  <a:srgbClr val="FFFFFF"/>
                </a:highlight>
              </a:rPr>
              <a:t>Health Campaign:</a:t>
            </a:r>
          </a:p>
          <a:p>
            <a:pPr lvl="1"/>
            <a:r>
              <a:rPr lang="en-AU" dirty="0">
                <a:solidFill>
                  <a:schemeClr val="tx1"/>
                </a:solidFill>
                <a:highlight>
                  <a:srgbClr val="FFFFFF"/>
                </a:highlight>
              </a:rPr>
              <a:t>Aims to raise awareness and understanding of a health issue, and often aims to change people’s health behaviours. </a:t>
            </a:r>
          </a:p>
          <a:p>
            <a:pPr lvl="1"/>
            <a:r>
              <a:rPr lang="en-AU" dirty="0">
                <a:solidFill>
                  <a:schemeClr val="tx1"/>
                </a:solidFill>
                <a:highlight>
                  <a:srgbClr val="FFFFFF"/>
                </a:highlight>
              </a:rPr>
              <a:t>This can be done in several ways: through mass media, social media and community events. </a:t>
            </a:r>
            <a:endParaRPr lang="en-US" dirty="0">
              <a:solidFill>
                <a:schemeClr val="tx2"/>
              </a:solidFill>
            </a:endParaRPr>
          </a:p>
        </p:txBody>
      </p:sp>
      <p:pic>
        <p:nvPicPr>
          <p:cNvPr id="4" name="Picture 3" descr="Close-up of stacked books">
            <a:extLst>
              <a:ext uri="{FF2B5EF4-FFF2-40B4-BE49-F238E27FC236}">
                <a16:creationId xmlns:a16="http://schemas.microsoft.com/office/drawing/2014/main" id="{6CCB14CE-8CFC-9928-5CCD-9548B783B2C0}"/>
              </a:ext>
            </a:extLst>
          </p:cNvPr>
          <p:cNvPicPr>
            <a:picLocks noChangeAspect="1"/>
          </p:cNvPicPr>
          <p:nvPr/>
        </p:nvPicPr>
        <p:blipFill rotWithShape="1">
          <a:blip r:embed="rId2"/>
          <a:srcRect l="61690"/>
          <a:stretch/>
        </p:blipFill>
        <p:spPr>
          <a:xfrm>
            <a:off x="7521283" y="10"/>
            <a:ext cx="4670717" cy="6857990"/>
          </a:xfrm>
          <a:prstGeom prst="rect">
            <a:avLst/>
          </a:prstGeom>
        </p:spPr>
      </p:pic>
    </p:spTree>
    <p:extLst>
      <p:ext uri="{BB962C8B-B14F-4D97-AF65-F5344CB8AC3E}">
        <p14:creationId xmlns:p14="http://schemas.microsoft.com/office/powerpoint/2010/main" val="10126951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8164E-A1C8-A552-1A09-0CA43E23C289}"/>
              </a:ext>
            </a:extLst>
          </p:cNvPr>
          <p:cNvSpPr>
            <a:spLocks noGrp="1"/>
          </p:cNvSpPr>
          <p:nvPr>
            <p:ph type="title"/>
          </p:nvPr>
        </p:nvSpPr>
        <p:spPr>
          <a:xfrm>
            <a:off x="581192" y="0"/>
            <a:ext cx="11029616" cy="1633275"/>
          </a:xfrm>
        </p:spPr>
        <p:txBody>
          <a:bodyPr>
            <a:normAutofit/>
          </a:bodyPr>
          <a:lstStyle/>
          <a:p>
            <a:r>
              <a:rPr lang="en-US" dirty="0"/>
              <a:t>Activity 2: </a:t>
            </a:r>
            <a:br>
              <a:rPr lang="en-US" dirty="0"/>
            </a:br>
            <a:r>
              <a:rPr lang="en-US" dirty="0"/>
              <a:t>Existing Health Promotion campaigns 						(PG.18) </a:t>
            </a:r>
          </a:p>
        </p:txBody>
      </p:sp>
      <p:sp>
        <p:nvSpPr>
          <p:cNvPr id="3" name="Content Placeholder 2">
            <a:extLst>
              <a:ext uri="{FF2B5EF4-FFF2-40B4-BE49-F238E27FC236}">
                <a16:creationId xmlns:a16="http://schemas.microsoft.com/office/drawing/2014/main" id="{52DE8466-7ED4-093F-4DD1-DBBC8A5146EA}"/>
              </a:ext>
            </a:extLst>
          </p:cNvPr>
          <p:cNvSpPr>
            <a:spLocks noGrp="1"/>
          </p:cNvSpPr>
          <p:nvPr>
            <p:ph idx="1"/>
          </p:nvPr>
        </p:nvSpPr>
        <p:spPr>
          <a:xfrm>
            <a:off x="488427" y="1315027"/>
            <a:ext cx="4799191" cy="4599008"/>
          </a:xfrm>
        </p:spPr>
        <p:txBody>
          <a:bodyPr>
            <a:normAutofit/>
          </a:bodyPr>
          <a:lstStyle/>
          <a:p>
            <a:pPr marL="0" indent="0" algn="ctr">
              <a:buNone/>
            </a:pPr>
            <a:r>
              <a:rPr lang="en-AU" dirty="0">
                <a:solidFill>
                  <a:schemeClr val="tx1"/>
                </a:solidFill>
                <a:effectLst/>
              </a:rPr>
              <a:t>Health campaigns are an integral part of Health Promotion. </a:t>
            </a:r>
            <a:r>
              <a:rPr lang="en-AU" dirty="0">
                <a:solidFill>
                  <a:schemeClr val="tx1"/>
                </a:solidFill>
              </a:rPr>
              <a:t>They </a:t>
            </a:r>
            <a:r>
              <a:rPr lang="en-AU" dirty="0">
                <a:solidFill>
                  <a:schemeClr val="tx1"/>
                </a:solidFill>
                <a:effectLst/>
              </a:rPr>
              <a:t>are designed to promote positive behaviour change within a target audience; for example, an individual, specific groups, or whole populations. Behaviour change does not just occur over night and therefore campaigns need to be sustained over long periods of time. </a:t>
            </a:r>
            <a:r>
              <a:rPr lang="en-AU" dirty="0">
                <a:solidFill>
                  <a:schemeClr val="tx1"/>
                </a:solidFill>
              </a:rPr>
              <a:t>‘</a:t>
            </a:r>
            <a:r>
              <a:rPr lang="en-AU" dirty="0">
                <a:solidFill>
                  <a:schemeClr val="tx1"/>
                </a:solidFill>
                <a:effectLst/>
              </a:rPr>
              <a:t>Make Smoking History’ has been an on-going campaign for over 20 years and its continued campaign push is why Australia now has such low rates of smoking.</a:t>
            </a:r>
          </a:p>
        </p:txBody>
      </p:sp>
      <p:pic>
        <p:nvPicPr>
          <p:cNvPr id="2052" name="Picture 4" descr="Emotive approach to new Make Smoking History campaign - Cancer Council WA">
            <a:extLst>
              <a:ext uri="{FF2B5EF4-FFF2-40B4-BE49-F238E27FC236}">
                <a16:creationId xmlns:a16="http://schemas.microsoft.com/office/drawing/2014/main" id="{BF56A8F6-C71F-863F-7D7B-0E919BF67E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8921" y="2050283"/>
            <a:ext cx="6281530" cy="31284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484D664-D2F9-C585-0C96-C34C2EB3F859}"/>
              </a:ext>
            </a:extLst>
          </p:cNvPr>
          <p:cNvSpPr txBox="1"/>
          <p:nvPr/>
        </p:nvSpPr>
        <p:spPr>
          <a:xfrm>
            <a:off x="1590260" y="5626050"/>
            <a:ext cx="9342783" cy="954107"/>
          </a:xfrm>
          <a:custGeom>
            <a:avLst/>
            <a:gdLst>
              <a:gd name="connsiteX0" fmla="*/ 0 w 9342783"/>
              <a:gd name="connsiteY0" fmla="*/ 0 h 954107"/>
              <a:gd name="connsiteX1" fmla="*/ 490496 w 9342783"/>
              <a:gd name="connsiteY1" fmla="*/ 0 h 954107"/>
              <a:gd name="connsiteX2" fmla="*/ 794137 w 9342783"/>
              <a:gd name="connsiteY2" fmla="*/ 0 h 954107"/>
              <a:gd name="connsiteX3" fmla="*/ 1564916 w 9342783"/>
              <a:gd name="connsiteY3" fmla="*/ 0 h 954107"/>
              <a:gd name="connsiteX4" fmla="*/ 2055412 w 9342783"/>
              <a:gd name="connsiteY4" fmla="*/ 0 h 954107"/>
              <a:gd name="connsiteX5" fmla="*/ 2545908 w 9342783"/>
              <a:gd name="connsiteY5" fmla="*/ 0 h 954107"/>
              <a:gd name="connsiteX6" fmla="*/ 3316688 w 9342783"/>
              <a:gd name="connsiteY6" fmla="*/ 0 h 954107"/>
              <a:gd name="connsiteX7" fmla="*/ 3713756 w 9342783"/>
              <a:gd name="connsiteY7" fmla="*/ 0 h 954107"/>
              <a:gd name="connsiteX8" fmla="*/ 4484536 w 9342783"/>
              <a:gd name="connsiteY8" fmla="*/ 0 h 954107"/>
              <a:gd name="connsiteX9" fmla="*/ 5255315 w 9342783"/>
              <a:gd name="connsiteY9" fmla="*/ 0 h 954107"/>
              <a:gd name="connsiteX10" fmla="*/ 5839239 w 9342783"/>
              <a:gd name="connsiteY10" fmla="*/ 0 h 954107"/>
              <a:gd name="connsiteX11" fmla="*/ 6610019 w 9342783"/>
              <a:gd name="connsiteY11" fmla="*/ 0 h 954107"/>
              <a:gd name="connsiteX12" fmla="*/ 7100515 w 9342783"/>
              <a:gd name="connsiteY12" fmla="*/ 0 h 954107"/>
              <a:gd name="connsiteX13" fmla="*/ 7591011 w 9342783"/>
              <a:gd name="connsiteY13" fmla="*/ 0 h 954107"/>
              <a:gd name="connsiteX14" fmla="*/ 8268363 w 9342783"/>
              <a:gd name="connsiteY14" fmla="*/ 0 h 954107"/>
              <a:gd name="connsiteX15" fmla="*/ 8758859 w 9342783"/>
              <a:gd name="connsiteY15" fmla="*/ 0 h 954107"/>
              <a:gd name="connsiteX16" fmla="*/ 9342783 w 9342783"/>
              <a:gd name="connsiteY16" fmla="*/ 0 h 954107"/>
              <a:gd name="connsiteX17" fmla="*/ 9342783 w 9342783"/>
              <a:gd name="connsiteY17" fmla="*/ 496136 h 954107"/>
              <a:gd name="connsiteX18" fmla="*/ 9342783 w 9342783"/>
              <a:gd name="connsiteY18" fmla="*/ 954107 h 954107"/>
              <a:gd name="connsiteX19" fmla="*/ 8665431 w 9342783"/>
              <a:gd name="connsiteY19" fmla="*/ 954107 h 954107"/>
              <a:gd name="connsiteX20" fmla="*/ 8268363 w 9342783"/>
              <a:gd name="connsiteY20" fmla="*/ 954107 h 954107"/>
              <a:gd name="connsiteX21" fmla="*/ 7497583 w 9342783"/>
              <a:gd name="connsiteY21" fmla="*/ 954107 h 954107"/>
              <a:gd name="connsiteX22" fmla="*/ 6913659 w 9342783"/>
              <a:gd name="connsiteY22" fmla="*/ 954107 h 954107"/>
              <a:gd name="connsiteX23" fmla="*/ 6516591 w 9342783"/>
              <a:gd name="connsiteY23" fmla="*/ 954107 h 954107"/>
              <a:gd name="connsiteX24" fmla="*/ 5932667 w 9342783"/>
              <a:gd name="connsiteY24" fmla="*/ 954107 h 954107"/>
              <a:gd name="connsiteX25" fmla="*/ 5629027 w 9342783"/>
              <a:gd name="connsiteY25" fmla="*/ 954107 h 954107"/>
              <a:gd name="connsiteX26" fmla="*/ 5325386 w 9342783"/>
              <a:gd name="connsiteY26" fmla="*/ 954107 h 954107"/>
              <a:gd name="connsiteX27" fmla="*/ 4741462 w 9342783"/>
              <a:gd name="connsiteY27" fmla="*/ 954107 h 954107"/>
              <a:gd name="connsiteX28" fmla="*/ 4344394 w 9342783"/>
              <a:gd name="connsiteY28" fmla="*/ 954107 h 954107"/>
              <a:gd name="connsiteX29" fmla="*/ 3667042 w 9342783"/>
              <a:gd name="connsiteY29" fmla="*/ 954107 h 954107"/>
              <a:gd name="connsiteX30" fmla="*/ 3269974 w 9342783"/>
              <a:gd name="connsiteY30" fmla="*/ 954107 h 954107"/>
              <a:gd name="connsiteX31" fmla="*/ 2592622 w 9342783"/>
              <a:gd name="connsiteY31" fmla="*/ 954107 h 954107"/>
              <a:gd name="connsiteX32" fmla="*/ 2288982 w 9342783"/>
              <a:gd name="connsiteY32" fmla="*/ 954107 h 954107"/>
              <a:gd name="connsiteX33" fmla="*/ 1611630 w 9342783"/>
              <a:gd name="connsiteY33" fmla="*/ 954107 h 954107"/>
              <a:gd name="connsiteX34" fmla="*/ 1214562 w 9342783"/>
              <a:gd name="connsiteY34" fmla="*/ 954107 h 954107"/>
              <a:gd name="connsiteX35" fmla="*/ 910921 w 9342783"/>
              <a:gd name="connsiteY35" fmla="*/ 954107 h 954107"/>
              <a:gd name="connsiteX36" fmla="*/ 513853 w 9342783"/>
              <a:gd name="connsiteY36" fmla="*/ 954107 h 954107"/>
              <a:gd name="connsiteX37" fmla="*/ 0 w 9342783"/>
              <a:gd name="connsiteY37" fmla="*/ 954107 h 954107"/>
              <a:gd name="connsiteX38" fmla="*/ 0 w 9342783"/>
              <a:gd name="connsiteY38" fmla="*/ 496136 h 954107"/>
              <a:gd name="connsiteX39" fmla="*/ 0 w 9342783"/>
              <a:gd name="connsiteY39" fmla="*/ 0 h 95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9342783" h="954107" extrusionOk="0">
                <a:moveTo>
                  <a:pt x="0" y="0"/>
                </a:moveTo>
                <a:cubicBezTo>
                  <a:pt x="163590" y="-35113"/>
                  <a:pt x="384909" y="7515"/>
                  <a:pt x="490496" y="0"/>
                </a:cubicBezTo>
                <a:cubicBezTo>
                  <a:pt x="596083" y="-7515"/>
                  <a:pt x="669484" y="2057"/>
                  <a:pt x="794137" y="0"/>
                </a:cubicBezTo>
                <a:cubicBezTo>
                  <a:pt x="918790" y="-2057"/>
                  <a:pt x="1352447" y="79731"/>
                  <a:pt x="1564916" y="0"/>
                </a:cubicBezTo>
                <a:cubicBezTo>
                  <a:pt x="1777385" y="-79731"/>
                  <a:pt x="1899716" y="36240"/>
                  <a:pt x="2055412" y="0"/>
                </a:cubicBezTo>
                <a:cubicBezTo>
                  <a:pt x="2211108" y="-36240"/>
                  <a:pt x="2311418" y="8245"/>
                  <a:pt x="2545908" y="0"/>
                </a:cubicBezTo>
                <a:cubicBezTo>
                  <a:pt x="2780398" y="-8245"/>
                  <a:pt x="2948656" y="40257"/>
                  <a:pt x="3316688" y="0"/>
                </a:cubicBezTo>
                <a:cubicBezTo>
                  <a:pt x="3684720" y="-40257"/>
                  <a:pt x="3558986" y="34161"/>
                  <a:pt x="3713756" y="0"/>
                </a:cubicBezTo>
                <a:cubicBezTo>
                  <a:pt x="3868526" y="-34161"/>
                  <a:pt x="4227320" y="3310"/>
                  <a:pt x="4484536" y="0"/>
                </a:cubicBezTo>
                <a:cubicBezTo>
                  <a:pt x="4741752" y="-3310"/>
                  <a:pt x="4921262" y="33748"/>
                  <a:pt x="5255315" y="0"/>
                </a:cubicBezTo>
                <a:cubicBezTo>
                  <a:pt x="5589368" y="-33748"/>
                  <a:pt x="5590713" y="38354"/>
                  <a:pt x="5839239" y="0"/>
                </a:cubicBezTo>
                <a:cubicBezTo>
                  <a:pt x="6087765" y="-38354"/>
                  <a:pt x="6265287" y="8327"/>
                  <a:pt x="6610019" y="0"/>
                </a:cubicBezTo>
                <a:cubicBezTo>
                  <a:pt x="6954751" y="-8327"/>
                  <a:pt x="6898817" y="42190"/>
                  <a:pt x="7100515" y="0"/>
                </a:cubicBezTo>
                <a:cubicBezTo>
                  <a:pt x="7302213" y="-42190"/>
                  <a:pt x="7431956" y="28220"/>
                  <a:pt x="7591011" y="0"/>
                </a:cubicBezTo>
                <a:cubicBezTo>
                  <a:pt x="7750066" y="-28220"/>
                  <a:pt x="7995056" y="75878"/>
                  <a:pt x="8268363" y="0"/>
                </a:cubicBezTo>
                <a:cubicBezTo>
                  <a:pt x="8541670" y="-75878"/>
                  <a:pt x="8609774" y="17432"/>
                  <a:pt x="8758859" y="0"/>
                </a:cubicBezTo>
                <a:cubicBezTo>
                  <a:pt x="8907944" y="-17432"/>
                  <a:pt x="9162138" y="39574"/>
                  <a:pt x="9342783" y="0"/>
                </a:cubicBezTo>
                <a:cubicBezTo>
                  <a:pt x="9347353" y="181357"/>
                  <a:pt x="9304391" y="261807"/>
                  <a:pt x="9342783" y="496136"/>
                </a:cubicBezTo>
                <a:cubicBezTo>
                  <a:pt x="9381175" y="730465"/>
                  <a:pt x="9333803" y="857072"/>
                  <a:pt x="9342783" y="954107"/>
                </a:cubicBezTo>
                <a:cubicBezTo>
                  <a:pt x="9117598" y="955095"/>
                  <a:pt x="8863369" y="948282"/>
                  <a:pt x="8665431" y="954107"/>
                </a:cubicBezTo>
                <a:cubicBezTo>
                  <a:pt x="8467493" y="959932"/>
                  <a:pt x="8402311" y="929622"/>
                  <a:pt x="8268363" y="954107"/>
                </a:cubicBezTo>
                <a:cubicBezTo>
                  <a:pt x="8134415" y="978592"/>
                  <a:pt x="7855832" y="884372"/>
                  <a:pt x="7497583" y="954107"/>
                </a:cubicBezTo>
                <a:cubicBezTo>
                  <a:pt x="7139334" y="1023842"/>
                  <a:pt x="7066250" y="915166"/>
                  <a:pt x="6913659" y="954107"/>
                </a:cubicBezTo>
                <a:cubicBezTo>
                  <a:pt x="6761068" y="993048"/>
                  <a:pt x="6607907" y="913949"/>
                  <a:pt x="6516591" y="954107"/>
                </a:cubicBezTo>
                <a:cubicBezTo>
                  <a:pt x="6425275" y="994265"/>
                  <a:pt x="6100408" y="923032"/>
                  <a:pt x="5932667" y="954107"/>
                </a:cubicBezTo>
                <a:cubicBezTo>
                  <a:pt x="5764926" y="985182"/>
                  <a:pt x="5691067" y="925197"/>
                  <a:pt x="5629027" y="954107"/>
                </a:cubicBezTo>
                <a:cubicBezTo>
                  <a:pt x="5566987" y="983017"/>
                  <a:pt x="5424602" y="946425"/>
                  <a:pt x="5325386" y="954107"/>
                </a:cubicBezTo>
                <a:cubicBezTo>
                  <a:pt x="5226170" y="961789"/>
                  <a:pt x="4996886" y="920477"/>
                  <a:pt x="4741462" y="954107"/>
                </a:cubicBezTo>
                <a:cubicBezTo>
                  <a:pt x="4486038" y="987737"/>
                  <a:pt x="4452126" y="921687"/>
                  <a:pt x="4344394" y="954107"/>
                </a:cubicBezTo>
                <a:cubicBezTo>
                  <a:pt x="4236662" y="986527"/>
                  <a:pt x="3937826" y="916576"/>
                  <a:pt x="3667042" y="954107"/>
                </a:cubicBezTo>
                <a:cubicBezTo>
                  <a:pt x="3396258" y="991638"/>
                  <a:pt x="3422717" y="919654"/>
                  <a:pt x="3269974" y="954107"/>
                </a:cubicBezTo>
                <a:cubicBezTo>
                  <a:pt x="3117231" y="988560"/>
                  <a:pt x="2928759" y="908062"/>
                  <a:pt x="2592622" y="954107"/>
                </a:cubicBezTo>
                <a:cubicBezTo>
                  <a:pt x="2256485" y="1000152"/>
                  <a:pt x="2396370" y="922057"/>
                  <a:pt x="2288982" y="954107"/>
                </a:cubicBezTo>
                <a:cubicBezTo>
                  <a:pt x="2181594" y="986157"/>
                  <a:pt x="1767231" y="950760"/>
                  <a:pt x="1611630" y="954107"/>
                </a:cubicBezTo>
                <a:cubicBezTo>
                  <a:pt x="1456029" y="957454"/>
                  <a:pt x="1311704" y="915368"/>
                  <a:pt x="1214562" y="954107"/>
                </a:cubicBezTo>
                <a:cubicBezTo>
                  <a:pt x="1117420" y="992846"/>
                  <a:pt x="983396" y="939829"/>
                  <a:pt x="910921" y="954107"/>
                </a:cubicBezTo>
                <a:cubicBezTo>
                  <a:pt x="838446" y="968385"/>
                  <a:pt x="632265" y="942846"/>
                  <a:pt x="513853" y="954107"/>
                </a:cubicBezTo>
                <a:cubicBezTo>
                  <a:pt x="395441" y="965368"/>
                  <a:pt x="220338" y="949127"/>
                  <a:pt x="0" y="954107"/>
                </a:cubicBezTo>
                <a:cubicBezTo>
                  <a:pt x="-7791" y="818500"/>
                  <a:pt x="25227" y="678834"/>
                  <a:pt x="0" y="496136"/>
                </a:cubicBezTo>
                <a:cubicBezTo>
                  <a:pt x="-25227" y="313438"/>
                  <a:pt x="52003" y="102763"/>
                  <a:pt x="0" y="0"/>
                </a:cubicBezTo>
                <a:close/>
              </a:path>
            </a:pathLst>
          </a:custGeom>
          <a:noFill/>
          <a:ln w="28575">
            <a:solidFill>
              <a:schemeClr val="accent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pPr marL="285750" indent="-285750">
              <a:buFont typeface="Arial" panose="020B0604020202020204" pitchFamily="34" charset="0"/>
              <a:buChar char="•"/>
            </a:pPr>
            <a:r>
              <a:rPr lang="en-AU" sz="2000" dirty="0">
                <a:solidFill>
                  <a:schemeClr val="tx1"/>
                </a:solidFill>
                <a:effectLst/>
              </a:rPr>
              <a:t>You have 2 minutes to think of as many health promotion campaigns you can think of. </a:t>
            </a:r>
          </a:p>
          <a:p>
            <a:pPr marL="742950" lvl="1" indent="-285750">
              <a:buFont typeface="Arial" panose="020B0604020202020204" pitchFamily="34" charset="0"/>
              <a:buChar char="•"/>
            </a:pPr>
            <a:r>
              <a:rPr lang="en-AU" i="1" dirty="0">
                <a:solidFill>
                  <a:schemeClr val="tx1"/>
                </a:solidFill>
                <a:effectLst/>
              </a:rPr>
              <a:t>You can chat with your peers but don’t use the internet – see what you can think of</a:t>
            </a:r>
            <a:r>
              <a:rPr lang="en-AU" i="1" dirty="0"/>
              <a:t>!</a:t>
            </a:r>
          </a:p>
          <a:p>
            <a:pPr marL="1200150" lvl="2" indent="-285750">
              <a:buFont typeface="Arial" panose="020B0604020202020204" pitchFamily="34" charset="0"/>
              <a:buChar char="•"/>
            </a:pPr>
            <a:r>
              <a:rPr lang="en-AU" i="1" dirty="0">
                <a:solidFill>
                  <a:schemeClr val="tx1"/>
                </a:solidFill>
              </a:rPr>
              <a:t>Think of campaigns you have seen on TV, advertised at sporting events, heard on the radio</a:t>
            </a:r>
            <a:r>
              <a:rPr lang="en-AU" i="1" dirty="0"/>
              <a:t>…</a:t>
            </a:r>
            <a:r>
              <a:rPr lang="en-AU" i="1" dirty="0">
                <a:solidFill>
                  <a:schemeClr val="tx1"/>
                </a:solidFill>
              </a:rPr>
              <a:t> </a:t>
            </a:r>
            <a:endParaRPr lang="en-AU" i="1" dirty="0">
              <a:solidFill>
                <a:schemeClr val="tx1"/>
              </a:solidFill>
              <a:effectLst/>
            </a:endParaRPr>
          </a:p>
        </p:txBody>
      </p:sp>
    </p:spTree>
    <p:extLst>
      <p:ext uri="{BB962C8B-B14F-4D97-AF65-F5344CB8AC3E}">
        <p14:creationId xmlns:p14="http://schemas.microsoft.com/office/powerpoint/2010/main" val="2864657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9751CB9-7B25-4EB8-9A6F-82F822549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1317383-CF3B-4B02-9512-BECBEF6362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B1D4C7A0-6DF2-4F2D-A45D-F11158297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30">
            <a:extLst>
              <a:ext uri="{FF2B5EF4-FFF2-40B4-BE49-F238E27FC236}">
                <a16:creationId xmlns:a16="http://schemas.microsoft.com/office/drawing/2014/main" id="{DBF3943D-BCB6-4B31-809D-A00568648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32">
            <a:extLst>
              <a:ext uri="{FF2B5EF4-FFF2-40B4-BE49-F238E27FC236}">
                <a16:creationId xmlns:a16="http://schemas.microsoft.com/office/drawing/2014/main" id="{39373A6F-2E1F-4613-8E1D-D68057D29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01200"/>
            <a:ext cx="3707477" cy="562497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1F07BB3-E85C-280C-C268-ED75E3CFF043}"/>
              </a:ext>
            </a:extLst>
          </p:cNvPr>
          <p:cNvSpPr>
            <a:spLocks noGrp="1"/>
          </p:cNvSpPr>
          <p:nvPr>
            <p:ph type="title"/>
          </p:nvPr>
        </p:nvSpPr>
        <p:spPr>
          <a:xfrm>
            <a:off x="601255" y="702155"/>
            <a:ext cx="3409783" cy="1300365"/>
          </a:xfrm>
        </p:spPr>
        <p:txBody>
          <a:bodyPr>
            <a:normAutofit/>
          </a:bodyPr>
          <a:lstStyle/>
          <a:p>
            <a:pPr>
              <a:lnSpc>
                <a:spcPct val="90000"/>
              </a:lnSpc>
            </a:pPr>
            <a:r>
              <a:rPr lang="en-US" dirty="0">
                <a:solidFill>
                  <a:srgbClr val="FFFFFF"/>
                </a:solidFill>
              </a:rPr>
              <a:t>Activity 3: Campaign analysis (PG.19-20) </a:t>
            </a:r>
          </a:p>
        </p:txBody>
      </p:sp>
      <p:sp>
        <p:nvSpPr>
          <p:cNvPr id="3" name="Content Placeholder 2">
            <a:extLst>
              <a:ext uri="{FF2B5EF4-FFF2-40B4-BE49-F238E27FC236}">
                <a16:creationId xmlns:a16="http://schemas.microsoft.com/office/drawing/2014/main" id="{BD808C16-7DDE-677D-FBD1-92C003183A8D}"/>
              </a:ext>
            </a:extLst>
          </p:cNvPr>
          <p:cNvSpPr>
            <a:spLocks noGrp="1"/>
          </p:cNvSpPr>
          <p:nvPr>
            <p:ph idx="1"/>
          </p:nvPr>
        </p:nvSpPr>
        <p:spPr>
          <a:xfrm>
            <a:off x="601255" y="2177142"/>
            <a:ext cx="3409782" cy="3823607"/>
          </a:xfrm>
        </p:spPr>
        <p:txBody>
          <a:bodyPr>
            <a:normAutofit/>
          </a:bodyPr>
          <a:lstStyle/>
          <a:p>
            <a:r>
              <a:rPr lang="en-US" dirty="0">
                <a:solidFill>
                  <a:srgbClr val="FFFFFF"/>
                </a:solidFill>
              </a:rPr>
              <a:t>Watch the following health promotion campaign adverts. </a:t>
            </a:r>
          </a:p>
          <a:p>
            <a:endParaRPr lang="en-US" dirty="0">
              <a:solidFill>
                <a:srgbClr val="FFFFFF"/>
              </a:solidFill>
            </a:endParaRPr>
          </a:p>
          <a:p>
            <a:r>
              <a:rPr lang="en-US" dirty="0">
                <a:solidFill>
                  <a:srgbClr val="FFFFFF"/>
                </a:solidFill>
              </a:rPr>
              <a:t>Complete the questions in the table as you go. </a:t>
            </a:r>
          </a:p>
          <a:p>
            <a:pPr lvl="1"/>
            <a:r>
              <a:rPr lang="en-US" dirty="0">
                <a:solidFill>
                  <a:srgbClr val="FFFFFF"/>
                </a:solidFill>
              </a:rPr>
              <a:t>Name of campaign</a:t>
            </a:r>
          </a:p>
          <a:p>
            <a:pPr lvl="1"/>
            <a:r>
              <a:rPr lang="en-US" dirty="0">
                <a:solidFill>
                  <a:srgbClr val="FFFFFF"/>
                </a:solidFill>
              </a:rPr>
              <a:t>Target Audience</a:t>
            </a:r>
          </a:p>
          <a:p>
            <a:pPr lvl="1"/>
            <a:r>
              <a:rPr lang="en-US" dirty="0">
                <a:solidFill>
                  <a:srgbClr val="FFFFFF"/>
                </a:solidFill>
              </a:rPr>
              <a:t>Intended behaviour change</a:t>
            </a:r>
          </a:p>
          <a:p>
            <a:pPr lvl="1"/>
            <a:r>
              <a:rPr lang="en-US" dirty="0">
                <a:solidFill>
                  <a:srgbClr val="FFFFFF"/>
                </a:solidFill>
              </a:rPr>
              <a:t>Do you think it’s effective? Why/Why not?</a:t>
            </a:r>
          </a:p>
        </p:txBody>
      </p:sp>
      <p:pic>
        <p:nvPicPr>
          <p:cNvPr id="6" name="Picture 2" descr="Government Measure Up Campaign - North Canberra Community Council">
            <a:extLst>
              <a:ext uri="{FF2B5EF4-FFF2-40B4-BE49-F238E27FC236}">
                <a16:creationId xmlns:a16="http://schemas.microsoft.com/office/drawing/2014/main" id="{730C5F59-735E-D7E7-39F2-11868C808A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1302" y="686019"/>
            <a:ext cx="3580027" cy="1744430"/>
          </a:xfrm>
          <a:prstGeom prst="rect">
            <a:avLst/>
          </a:prstGeom>
          <a:noFill/>
          <a:ln w="19050">
            <a:solidFill>
              <a:schemeClr val="accent1"/>
            </a:solidFill>
          </a:ln>
          <a:extLst>
            <a:ext uri="{909E8E84-426E-40DD-AFC4-6F175D3DCCD1}">
              <a14:hiddenFill xmlns:a14="http://schemas.microsoft.com/office/drawing/2010/main">
                <a:solidFill>
                  <a:srgbClr val="FFFFFF"/>
                </a:solidFill>
              </a14:hiddenFill>
            </a:ext>
          </a:extLst>
        </p:spPr>
      </p:pic>
      <p:pic>
        <p:nvPicPr>
          <p:cNvPr id="7" name="Picture 4" descr="hayley – Coward Punch Campaign">
            <a:extLst>
              <a:ext uri="{FF2B5EF4-FFF2-40B4-BE49-F238E27FC236}">
                <a16:creationId xmlns:a16="http://schemas.microsoft.com/office/drawing/2014/main" id="{6EFCCE89-E499-A8B8-26A2-936F36779D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1302" y="2556952"/>
            <a:ext cx="3580027" cy="2013765"/>
          </a:xfrm>
          <a:prstGeom prst="rect">
            <a:avLst/>
          </a:prstGeom>
          <a:noFill/>
          <a:ln w="19050">
            <a:solidFill>
              <a:schemeClr val="accent1"/>
            </a:solidFill>
          </a:ln>
          <a:extLst>
            <a:ext uri="{909E8E84-426E-40DD-AFC4-6F175D3DCCD1}">
              <a14:hiddenFill xmlns:a14="http://schemas.microsoft.com/office/drawing/2010/main">
                <a:solidFill>
                  <a:srgbClr val="FFFFFF"/>
                </a:solidFill>
              </a14:hiddenFill>
            </a:ext>
          </a:extLst>
        </p:spPr>
      </p:pic>
      <p:pic>
        <p:nvPicPr>
          <p:cNvPr id="8" name="Picture 6" descr="New government ad campaign targets curbing abusive attitudes towards women  and girls - ABC listen">
            <a:extLst>
              <a:ext uri="{FF2B5EF4-FFF2-40B4-BE49-F238E27FC236}">
                <a16:creationId xmlns:a16="http://schemas.microsoft.com/office/drawing/2014/main" id="{071164CB-D1DE-B673-4CF8-A686E82642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1302" y="4697220"/>
            <a:ext cx="3580027" cy="2014285"/>
          </a:xfrm>
          <a:prstGeom prst="rect">
            <a:avLst/>
          </a:prstGeom>
          <a:noFill/>
          <a:ln w="19050">
            <a:solidFill>
              <a:schemeClr val="accent1"/>
            </a:solidFill>
          </a:ln>
          <a:extLst>
            <a:ext uri="{909E8E84-426E-40DD-AFC4-6F175D3DCCD1}">
              <a14:hiddenFill xmlns:a14="http://schemas.microsoft.com/office/drawing/2010/main">
                <a:solidFill>
                  <a:srgbClr val="FFFFFF"/>
                </a:solidFill>
              </a14:hiddenFill>
            </a:ext>
          </a:extLst>
        </p:spPr>
      </p:pic>
      <p:pic>
        <p:nvPicPr>
          <p:cNvPr id="9" name="Picture 8" descr="Make Smoking History WA">
            <a:extLst>
              <a:ext uri="{FF2B5EF4-FFF2-40B4-BE49-F238E27FC236}">
                <a16:creationId xmlns:a16="http://schemas.microsoft.com/office/drawing/2014/main" id="{8FF0237F-6478-6DB2-5056-6175E7C3543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76634" y="956274"/>
            <a:ext cx="2624063" cy="2615850"/>
          </a:xfrm>
          <a:prstGeom prst="rect">
            <a:avLst/>
          </a:prstGeom>
          <a:noFill/>
          <a:ln w="19050">
            <a:solidFill>
              <a:schemeClr val="accent1"/>
            </a:solidFill>
          </a:ln>
          <a:extLst>
            <a:ext uri="{909E8E84-426E-40DD-AFC4-6F175D3DCCD1}">
              <a14:hiddenFill xmlns:a14="http://schemas.microsoft.com/office/drawing/2010/main">
                <a:solidFill>
                  <a:srgbClr val="FFFFFF"/>
                </a:solidFill>
              </a14:hiddenFill>
            </a:ext>
          </a:extLst>
        </p:spPr>
      </p:pic>
      <p:pic>
        <p:nvPicPr>
          <p:cNvPr id="11" name="Picture 10" descr="Alcohol. Think Again (@AlcoholThinkAgn) / X">
            <a:extLst>
              <a:ext uri="{FF2B5EF4-FFF2-40B4-BE49-F238E27FC236}">
                <a16:creationId xmlns:a16="http://schemas.microsoft.com/office/drawing/2014/main" id="{8D5B2968-0883-25AB-BB59-48F51D8B868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76635" y="3738374"/>
            <a:ext cx="2624064" cy="2540000"/>
          </a:xfrm>
          <a:prstGeom prst="rect">
            <a:avLst/>
          </a:prstGeom>
          <a:noFill/>
          <a:ln w="19050">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486180"/>
      </p:ext>
    </p:extLst>
  </p:cSld>
  <p:clrMapOvr>
    <a:overrideClrMapping bg1="dk1" tx1="lt1" bg2="dk2" tx2="lt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DDC3EF6-2EA5-44B3-94C7-9DDA67A12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87925A9A-E9FA-496E-9C09-7C2845E00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2073ABB4-E164-4CBF-ADFF-25552BB7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1259A422-0023-4292-8200-E080556F3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89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2413CA5-4739-4BC9-8BB3-B0A4928D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nline Media 3" descr="&quot;Measure Up&quot; Australian obesity TVC">
            <a:hlinkClick r:id="" action="ppaction://media"/>
            <a:extLst>
              <a:ext uri="{FF2B5EF4-FFF2-40B4-BE49-F238E27FC236}">
                <a16:creationId xmlns:a16="http://schemas.microsoft.com/office/drawing/2014/main" id="{D6C74217-50D1-36E9-B04E-08CDEB7E12C6}"/>
              </a:ext>
            </a:extLst>
          </p:cNvPr>
          <p:cNvPicPr>
            <a:picLocks noGrp="1" noRot="1" noChangeAspect="1"/>
          </p:cNvPicPr>
          <p:nvPr>
            <p:ph idx="1"/>
            <a:videoFile r:link="rId1"/>
          </p:nvPr>
        </p:nvPicPr>
        <p:blipFill>
          <a:blip r:embed="rId4"/>
          <a:stretch>
            <a:fillRect/>
          </a:stretch>
        </p:blipFill>
        <p:spPr>
          <a:xfrm>
            <a:off x="1165853" y="643467"/>
            <a:ext cx="9860293" cy="5571066"/>
          </a:xfrm>
          <a:prstGeom prst="rect">
            <a:avLst/>
          </a:prstGeom>
        </p:spPr>
      </p:pic>
    </p:spTree>
    <p:extLst>
      <p:ext uri="{BB962C8B-B14F-4D97-AF65-F5344CB8AC3E}">
        <p14:creationId xmlns:p14="http://schemas.microsoft.com/office/powerpoint/2010/main" val="1808279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DDC3EF6-2EA5-44B3-94C7-9DDA67A12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87925A9A-E9FA-496E-9C09-7C2845E00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2073ABB4-E164-4CBF-ADFF-25552BB7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1259A422-0023-4292-8200-E080556F3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89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2413CA5-4739-4BC9-8BB3-B0A4928D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nline Media 3" descr="'Coward's Punch' TV Commercial">
            <a:hlinkClick r:id="" action="ppaction://media"/>
            <a:extLst>
              <a:ext uri="{FF2B5EF4-FFF2-40B4-BE49-F238E27FC236}">
                <a16:creationId xmlns:a16="http://schemas.microsoft.com/office/drawing/2014/main" id="{E685B4A6-1E79-D4FE-A143-7996E99C7670}"/>
              </a:ext>
            </a:extLst>
          </p:cNvPr>
          <p:cNvPicPr>
            <a:picLocks noGrp="1" noRot="1" noChangeAspect="1"/>
          </p:cNvPicPr>
          <p:nvPr>
            <p:ph idx="1"/>
            <a:videoFile r:link="rId1"/>
          </p:nvPr>
        </p:nvPicPr>
        <p:blipFill>
          <a:blip r:embed="rId4"/>
          <a:stretch>
            <a:fillRect/>
          </a:stretch>
        </p:blipFill>
        <p:spPr>
          <a:xfrm>
            <a:off x="1165853" y="643467"/>
            <a:ext cx="9860293" cy="5571066"/>
          </a:xfrm>
          <a:prstGeom prst="rect">
            <a:avLst/>
          </a:prstGeom>
        </p:spPr>
      </p:pic>
    </p:spTree>
    <p:extLst>
      <p:ext uri="{BB962C8B-B14F-4D97-AF65-F5344CB8AC3E}">
        <p14:creationId xmlns:p14="http://schemas.microsoft.com/office/powerpoint/2010/main" val="1528088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DDC3EF6-2EA5-44B3-94C7-9DDA67A12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87925A9A-E9FA-496E-9C09-7C2845E00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2073ABB4-E164-4CBF-ADFF-25552BB7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1259A422-0023-4292-8200-E080556F3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89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2413CA5-4739-4BC9-8BB3-B0A4928D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nline Media 3" descr="&quot;Stop it at the start', DSS, Detention, 45 sec">
            <a:hlinkClick r:id="" action="ppaction://media"/>
            <a:extLst>
              <a:ext uri="{FF2B5EF4-FFF2-40B4-BE49-F238E27FC236}">
                <a16:creationId xmlns:a16="http://schemas.microsoft.com/office/drawing/2014/main" id="{ED627497-5490-73DC-534F-1ED1FD18CCD7}"/>
              </a:ext>
            </a:extLst>
          </p:cNvPr>
          <p:cNvPicPr>
            <a:picLocks noGrp="1" noRot="1" noChangeAspect="1"/>
          </p:cNvPicPr>
          <p:nvPr>
            <p:ph idx="1"/>
            <a:videoFile r:link="rId1"/>
          </p:nvPr>
        </p:nvPicPr>
        <p:blipFill>
          <a:blip r:embed="rId4"/>
          <a:stretch>
            <a:fillRect/>
          </a:stretch>
        </p:blipFill>
        <p:spPr>
          <a:xfrm>
            <a:off x="1165853" y="643467"/>
            <a:ext cx="9860293" cy="5571066"/>
          </a:xfrm>
          <a:prstGeom prst="rect">
            <a:avLst/>
          </a:prstGeom>
        </p:spPr>
      </p:pic>
    </p:spTree>
    <p:extLst>
      <p:ext uri="{BB962C8B-B14F-4D97-AF65-F5344CB8AC3E}">
        <p14:creationId xmlns:p14="http://schemas.microsoft.com/office/powerpoint/2010/main" val="3070965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DDC3EF6-2EA5-44B3-94C7-9DDA67A12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87925A9A-E9FA-496E-9C09-7C2845E00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2073ABB4-E164-4CBF-ADFF-25552BB7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1259A422-0023-4292-8200-E080556F3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89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2413CA5-4739-4BC9-8BB3-B0A4928D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nline Media 3" descr="Your loved ones worry about your smoking">
            <a:hlinkClick r:id="" action="ppaction://media"/>
            <a:extLst>
              <a:ext uri="{FF2B5EF4-FFF2-40B4-BE49-F238E27FC236}">
                <a16:creationId xmlns:a16="http://schemas.microsoft.com/office/drawing/2014/main" id="{C747DD1A-A133-F99E-6146-01B86D18E8BA}"/>
              </a:ext>
            </a:extLst>
          </p:cNvPr>
          <p:cNvPicPr>
            <a:picLocks noGrp="1" noRot="1" noChangeAspect="1"/>
          </p:cNvPicPr>
          <p:nvPr>
            <p:ph idx="1"/>
            <a:videoFile r:link="rId1"/>
          </p:nvPr>
        </p:nvPicPr>
        <p:blipFill>
          <a:blip r:embed="rId4"/>
          <a:stretch>
            <a:fillRect/>
          </a:stretch>
        </p:blipFill>
        <p:spPr>
          <a:xfrm>
            <a:off x="1165853" y="643467"/>
            <a:ext cx="9860293" cy="5571066"/>
          </a:xfrm>
          <a:prstGeom prst="rect">
            <a:avLst/>
          </a:prstGeom>
        </p:spPr>
      </p:pic>
    </p:spTree>
    <p:extLst>
      <p:ext uri="{BB962C8B-B14F-4D97-AF65-F5344CB8AC3E}">
        <p14:creationId xmlns:p14="http://schemas.microsoft.com/office/powerpoint/2010/main" val="101517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DDC3EF6-2EA5-44B3-94C7-9DDA67A12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87925A9A-E9FA-496E-9C09-7C2845E00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2073ABB4-E164-4CBF-ADFF-25552BB7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1259A422-0023-4292-8200-E080556F3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891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2413CA5-4739-4BC9-8BB3-B0A4928D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nline Media 3" descr="Alcohol. Think Again - 'One Drink' - 30 seconds">
            <a:hlinkClick r:id="" action="ppaction://media"/>
            <a:extLst>
              <a:ext uri="{FF2B5EF4-FFF2-40B4-BE49-F238E27FC236}">
                <a16:creationId xmlns:a16="http://schemas.microsoft.com/office/drawing/2014/main" id="{36B5EA68-CB76-3556-A3ED-52F8A1A52300}"/>
              </a:ext>
            </a:extLst>
          </p:cNvPr>
          <p:cNvPicPr>
            <a:picLocks noGrp="1" noRot="1" noChangeAspect="1"/>
          </p:cNvPicPr>
          <p:nvPr>
            <p:ph idx="1"/>
            <a:videoFile r:link="rId1"/>
          </p:nvPr>
        </p:nvPicPr>
        <p:blipFill>
          <a:blip r:embed="rId4"/>
          <a:stretch>
            <a:fillRect/>
          </a:stretch>
        </p:blipFill>
        <p:spPr>
          <a:xfrm>
            <a:off x="1165853" y="643467"/>
            <a:ext cx="9860293" cy="5571066"/>
          </a:xfrm>
          <a:prstGeom prst="rect">
            <a:avLst/>
          </a:prstGeom>
        </p:spPr>
      </p:pic>
    </p:spTree>
    <p:extLst>
      <p:ext uri="{BB962C8B-B14F-4D97-AF65-F5344CB8AC3E}">
        <p14:creationId xmlns:p14="http://schemas.microsoft.com/office/powerpoint/2010/main" val="559628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C19FBE-33E9-4938-AB1E-CB36F4AF9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yellow figures and a red figure on the other side">
            <a:extLst>
              <a:ext uri="{FF2B5EF4-FFF2-40B4-BE49-F238E27FC236}">
                <a16:creationId xmlns:a16="http://schemas.microsoft.com/office/drawing/2014/main" id="{057F7631-6D5A-C747-9130-865EC8AAE499}"/>
              </a:ext>
            </a:extLst>
          </p:cNvPr>
          <p:cNvPicPr>
            <a:picLocks noChangeAspect="1"/>
          </p:cNvPicPr>
          <p:nvPr/>
        </p:nvPicPr>
        <p:blipFill rotWithShape="1">
          <a:blip r:embed="rId2">
            <a:grayscl/>
          </a:blip>
          <a:srcRect t="15730"/>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F16B031A-DFF2-4273-9F94-B34585B15C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68" y="457200"/>
            <a:ext cx="11301984"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17C4E3E-20C3-45C7-A1E9-79660C1A3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67" y="618067"/>
            <a:ext cx="11305200" cy="5774265"/>
          </a:xfrm>
          <a:prstGeom prst="rect">
            <a:avLst/>
          </a:prstGeom>
          <a:solidFill>
            <a:srgbClr val="465359">
              <a:alpha val="97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90E089F-B42E-EC1C-5A50-303DF48E6491}"/>
              </a:ext>
            </a:extLst>
          </p:cNvPr>
          <p:cNvSpPr>
            <a:spLocks noGrp="1"/>
          </p:cNvSpPr>
          <p:nvPr>
            <p:ph type="title"/>
          </p:nvPr>
        </p:nvSpPr>
        <p:spPr>
          <a:xfrm>
            <a:off x="764883" y="1009397"/>
            <a:ext cx="10653766" cy="1369736"/>
          </a:xfrm>
        </p:spPr>
        <p:txBody>
          <a:bodyPr anchor="ctr">
            <a:normAutofit/>
          </a:bodyPr>
          <a:lstStyle/>
          <a:p>
            <a:pPr algn="ctr"/>
            <a:r>
              <a:rPr lang="en-US" dirty="0">
                <a:solidFill>
                  <a:srgbClr val="FFFFFF"/>
                </a:solidFill>
              </a:rPr>
              <a:t>Tie it all together</a:t>
            </a:r>
          </a:p>
        </p:txBody>
      </p:sp>
      <p:sp>
        <p:nvSpPr>
          <p:cNvPr id="3" name="Content Placeholder 2">
            <a:extLst>
              <a:ext uri="{FF2B5EF4-FFF2-40B4-BE49-F238E27FC236}">
                <a16:creationId xmlns:a16="http://schemas.microsoft.com/office/drawing/2014/main" id="{441014C4-0F9A-2728-7396-BDFF7F8C9F87}"/>
              </a:ext>
            </a:extLst>
          </p:cNvPr>
          <p:cNvSpPr>
            <a:spLocks noGrp="1"/>
          </p:cNvSpPr>
          <p:nvPr>
            <p:ph idx="1"/>
          </p:nvPr>
        </p:nvSpPr>
        <p:spPr>
          <a:xfrm>
            <a:off x="764883" y="2574470"/>
            <a:ext cx="10650760" cy="3166479"/>
          </a:xfrm>
        </p:spPr>
        <p:txBody>
          <a:bodyPr anchor="t">
            <a:normAutofit/>
          </a:bodyPr>
          <a:lstStyle/>
          <a:p>
            <a:r>
              <a:rPr lang="en-US" dirty="0">
                <a:solidFill>
                  <a:srgbClr val="FFFFFF"/>
                </a:solidFill>
              </a:rPr>
              <a:t>Health Promotion is all about empowering people to feel in control of their health.</a:t>
            </a:r>
          </a:p>
          <a:p>
            <a:endParaRPr lang="en-US" dirty="0">
              <a:solidFill>
                <a:srgbClr val="FFFFFF"/>
              </a:solidFill>
            </a:endParaRPr>
          </a:p>
          <a:p>
            <a:r>
              <a:rPr lang="en-US" dirty="0">
                <a:solidFill>
                  <a:srgbClr val="FFFFFF"/>
                </a:solidFill>
              </a:rPr>
              <a:t>Health promotion campaigns try to show the ‘WHY’ and the ‘HOW’ to achieve that. </a:t>
            </a:r>
          </a:p>
          <a:p>
            <a:endParaRPr lang="en-US" dirty="0">
              <a:solidFill>
                <a:srgbClr val="FFFFFF"/>
              </a:solidFill>
            </a:endParaRPr>
          </a:p>
          <a:p>
            <a:r>
              <a:rPr lang="en-US" dirty="0">
                <a:solidFill>
                  <a:srgbClr val="FFFFFF"/>
                </a:solidFill>
              </a:rPr>
              <a:t>By having the knowledge and skills to make healthy decisions (from health promotion) regarding our health, we can try to minimise the negative impacts of the (controllable) determinants of health. </a:t>
            </a:r>
          </a:p>
        </p:txBody>
      </p:sp>
    </p:spTree>
    <p:extLst>
      <p:ext uri="{BB962C8B-B14F-4D97-AF65-F5344CB8AC3E}">
        <p14:creationId xmlns:p14="http://schemas.microsoft.com/office/powerpoint/2010/main" val="2292109768"/>
      </p:ext>
    </p:extLst>
  </p:cSld>
  <p:clrMapOvr>
    <a:overrideClrMapping bg1="dk1" tx1="lt1" bg2="dk2" tx2="lt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7D427-99BD-A7C6-99AC-ABB261E38B38}"/>
              </a:ext>
            </a:extLst>
          </p:cNvPr>
          <p:cNvSpPr>
            <a:spLocks noGrp="1"/>
          </p:cNvSpPr>
          <p:nvPr>
            <p:ph type="title"/>
          </p:nvPr>
        </p:nvSpPr>
        <p:spPr/>
        <p:txBody>
          <a:bodyPr/>
          <a:lstStyle/>
          <a:p>
            <a:r>
              <a:rPr lang="en-US" dirty="0"/>
              <a:t>Assessment Task 4: Impacts on health</a:t>
            </a:r>
          </a:p>
        </p:txBody>
      </p:sp>
      <p:sp>
        <p:nvSpPr>
          <p:cNvPr id="3" name="Content Placeholder 2">
            <a:extLst>
              <a:ext uri="{FF2B5EF4-FFF2-40B4-BE49-F238E27FC236}">
                <a16:creationId xmlns:a16="http://schemas.microsoft.com/office/drawing/2014/main" id="{A873D095-5968-0599-90E5-9862B93BCF45}"/>
              </a:ext>
            </a:extLst>
          </p:cNvPr>
          <p:cNvSpPr>
            <a:spLocks noGrp="1"/>
          </p:cNvSpPr>
          <p:nvPr>
            <p:ph idx="1"/>
          </p:nvPr>
        </p:nvSpPr>
        <p:spPr/>
        <p:txBody>
          <a:bodyPr/>
          <a:lstStyle/>
          <a:p>
            <a:r>
              <a:rPr lang="en-US" dirty="0"/>
              <a:t>Introduce assessment task. </a:t>
            </a:r>
          </a:p>
          <a:p>
            <a:endParaRPr lang="en-US" dirty="0"/>
          </a:p>
          <a:p>
            <a:r>
              <a:rPr lang="en-US" dirty="0"/>
              <a:t>By the end of the lesson, students need to have decided which health promotion campaign they will analyse for their assessment. </a:t>
            </a:r>
          </a:p>
          <a:p>
            <a:endParaRPr lang="en-US" dirty="0"/>
          </a:p>
          <a:p>
            <a:r>
              <a:rPr lang="en-US" dirty="0"/>
              <a:t>Any time remaining can be spent researching for this task.</a:t>
            </a:r>
          </a:p>
        </p:txBody>
      </p:sp>
    </p:spTree>
    <p:extLst>
      <p:ext uri="{BB962C8B-B14F-4D97-AF65-F5344CB8AC3E}">
        <p14:creationId xmlns:p14="http://schemas.microsoft.com/office/powerpoint/2010/main" val="6054189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D0B40-EA1F-AE98-9E43-BDB1444C0780}"/>
              </a:ext>
            </a:extLst>
          </p:cNvPr>
          <p:cNvSpPr>
            <a:spLocks noGrp="1"/>
          </p:cNvSpPr>
          <p:nvPr>
            <p:ph type="title"/>
          </p:nvPr>
        </p:nvSpPr>
        <p:spPr>
          <a:xfrm>
            <a:off x="581192" y="702156"/>
            <a:ext cx="11029616" cy="1188720"/>
          </a:xfrm>
        </p:spPr>
        <p:txBody>
          <a:bodyPr>
            <a:normAutofit/>
          </a:bodyPr>
          <a:lstStyle/>
          <a:p>
            <a:r>
              <a:rPr lang="en-US"/>
              <a:t>NEXT WEEK:</a:t>
            </a:r>
            <a:endParaRPr lang="en-US" dirty="0"/>
          </a:p>
        </p:txBody>
      </p:sp>
      <p:graphicFrame>
        <p:nvGraphicFramePr>
          <p:cNvPr id="5" name="Content Placeholder 2">
            <a:extLst>
              <a:ext uri="{FF2B5EF4-FFF2-40B4-BE49-F238E27FC236}">
                <a16:creationId xmlns:a16="http://schemas.microsoft.com/office/drawing/2014/main" id="{74731395-43C4-257D-4832-468E04FE07DE}"/>
              </a:ext>
            </a:extLst>
          </p:cNvPr>
          <p:cNvGraphicFramePr>
            <a:graphicFrameLocks noGrp="1"/>
          </p:cNvGraphicFramePr>
          <p:nvPr>
            <p:ph idx="1"/>
            <p:extLst>
              <p:ext uri="{D42A27DB-BD31-4B8C-83A1-F6EECF244321}">
                <p14:modId xmlns:p14="http://schemas.microsoft.com/office/powerpoint/2010/main" val="2293775496"/>
              </p:ext>
            </p:extLst>
          </p:nvPr>
        </p:nvGraphicFramePr>
        <p:xfrm>
          <a:off x="581025" y="2341563"/>
          <a:ext cx="11029950" cy="3814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56005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Five Key Components Of Exit Tickets | by dem plates | Medium">
            <a:extLst>
              <a:ext uri="{FF2B5EF4-FFF2-40B4-BE49-F238E27FC236}">
                <a16:creationId xmlns:a16="http://schemas.microsoft.com/office/drawing/2014/main" id="{246744CA-4C43-8967-8D40-DCD5046059E3}"/>
              </a:ext>
            </a:extLst>
          </p:cNvPr>
          <p:cNvPicPr>
            <a:picLocks noChangeAspect="1" noChangeArrowheads="1"/>
          </p:cNvPicPr>
          <p:nvPr/>
        </p:nvPicPr>
        <p:blipFill rotWithShape="1">
          <a:blip r:embed="rId2">
            <a:duotone>
              <a:schemeClr val="bg2">
                <a:shade val="45000"/>
                <a:satMod val="135000"/>
              </a:schemeClr>
              <a:prstClr val="white"/>
            </a:duotone>
            <a:alphaModFix/>
            <a:extLst>
              <a:ext uri="{28A0092B-C50C-407E-A947-70E740481C1C}">
                <a14:useLocalDpi xmlns:a14="http://schemas.microsoft.com/office/drawing/2010/main" val="0"/>
              </a:ext>
            </a:extLst>
          </a:blip>
          <a:srcRect l="2005" r="7772" b="-1"/>
          <a:stretch/>
        </p:blipFill>
        <p:spPr bwMode="auto">
          <a:xfrm>
            <a:off x="-2510" y="10"/>
            <a:ext cx="1219200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FF3569C-3E7C-2F74-86B9-C8C32A677972}"/>
              </a:ext>
            </a:extLst>
          </p:cNvPr>
          <p:cNvSpPr>
            <a:spLocks noGrp="1"/>
          </p:cNvSpPr>
          <p:nvPr>
            <p:ph type="title"/>
          </p:nvPr>
        </p:nvSpPr>
        <p:spPr>
          <a:xfrm>
            <a:off x="581192" y="702156"/>
            <a:ext cx="11029616" cy="1188720"/>
          </a:xfrm>
        </p:spPr>
        <p:txBody>
          <a:bodyPr>
            <a:normAutofit/>
          </a:bodyPr>
          <a:lstStyle/>
          <a:p>
            <a:r>
              <a:rPr lang="en-US" dirty="0"/>
              <a:t>EXIT TICKET: 																	</a:t>
            </a:r>
            <a:r>
              <a:rPr lang="en-US" dirty="0">
                <a:solidFill>
                  <a:schemeClr val="tx1"/>
                </a:solidFill>
              </a:rPr>
              <a:t>(PG.23) </a:t>
            </a:r>
            <a:endParaRPr lang="en-US" dirty="0"/>
          </a:p>
        </p:txBody>
      </p:sp>
      <p:sp>
        <p:nvSpPr>
          <p:cNvPr id="2063" name="Rectangle 2062">
            <a:extLst>
              <a:ext uri="{FF2B5EF4-FFF2-40B4-BE49-F238E27FC236}">
                <a16:creationId xmlns:a16="http://schemas.microsoft.com/office/drawing/2014/main" id="{7A4CA679-3546-4E14-8FB8-F57168C37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4" name="Rectangle 2063">
            <a:extLst>
              <a:ext uri="{FF2B5EF4-FFF2-40B4-BE49-F238E27FC236}">
                <a16:creationId xmlns:a16="http://schemas.microsoft.com/office/drawing/2014/main" id="{44D16E90-7C64-4C04-A50A-B866A1A92B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5" name="Rectangle 2064">
            <a:extLst>
              <a:ext uri="{FF2B5EF4-FFF2-40B4-BE49-F238E27FC236}">
                <a16:creationId xmlns:a16="http://schemas.microsoft.com/office/drawing/2014/main" id="{DBE4DD59-5AA2-46C6-B6A8-9B4C62D19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6" name="Rectangle 2065">
            <a:extLst>
              <a:ext uri="{FF2B5EF4-FFF2-40B4-BE49-F238E27FC236}">
                <a16:creationId xmlns:a16="http://schemas.microsoft.com/office/drawing/2014/main" id="{05EA9C52-0283-4714-A38F-0864C8B09D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2180496"/>
            <a:ext cx="3703320" cy="4045683"/>
          </a:xfrm>
          <a:prstGeom prst="rect">
            <a:avLst/>
          </a:prstGeom>
          <a:solidFill>
            <a:srgbClr val="FFFFFF"/>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RU OK? Day Hand Template">
            <a:extLst>
              <a:ext uri="{FF2B5EF4-FFF2-40B4-BE49-F238E27FC236}">
                <a16:creationId xmlns:a16="http://schemas.microsoft.com/office/drawing/2014/main" id="{775548AC-C976-BAB3-F363-E42FD8E28E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435" r="676" b="-2"/>
          <a:stretch/>
        </p:blipFill>
        <p:spPr bwMode="auto">
          <a:xfrm>
            <a:off x="611126" y="2347105"/>
            <a:ext cx="3374136" cy="371246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44E2338-DF4C-09CE-CBF0-C7C4B79F0EA8}"/>
              </a:ext>
            </a:extLst>
          </p:cNvPr>
          <p:cNvSpPr>
            <a:spLocks noGrp="1"/>
          </p:cNvSpPr>
          <p:nvPr>
            <p:ph idx="1"/>
          </p:nvPr>
        </p:nvSpPr>
        <p:spPr>
          <a:xfrm>
            <a:off x="4565562" y="2340864"/>
            <a:ext cx="7045246" cy="3634486"/>
          </a:xfrm>
        </p:spPr>
        <p:txBody>
          <a:bodyPr>
            <a:normAutofit/>
          </a:bodyPr>
          <a:lstStyle/>
          <a:p>
            <a:r>
              <a:rPr lang="en-US" dirty="0"/>
              <a:t>Think about the people in your life that you can go to if you ever need help or a chat. </a:t>
            </a:r>
          </a:p>
          <a:p>
            <a:endParaRPr lang="en-US" dirty="0"/>
          </a:p>
          <a:p>
            <a:r>
              <a:rPr lang="en-US" dirty="0"/>
              <a:t>Complete the R U OK? Hand template in your books by listing 5 different people in your life that are a part of your support network. </a:t>
            </a:r>
          </a:p>
          <a:p>
            <a:endParaRPr lang="en-US" dirty="0"/>
          </a:p>
          <a:p>
            <a:r>
              <a:rPr lang="en-US" dirty="0"/>
              <a:t>Once you have completed this, show your teacher and then pack up. </a:t>
            </a:r>
          </a:p>
          <a:p>
            <a:endParaRPr lang="en-US" dirty="0"/>
          </a:p>
        </p:txBody>
      </p:sp>
    </p:spTree>
    <p:extLst>
      <p:ext uri="{BB962C8B-B14F-4D97-AF65-F5344CB8AC3E}">
        <p14:creationId xmlns:p14="http://schemas.microsoft.com/office/powerpoint/2010/main" val="24157917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030BA9-BD5D-EE73-3707-C8D6FB6858B9}"/>
              </a:ext>
            </a:extLst>
          </p:cNvPr>
          <p:cNvPicPr>
            <a:picLocks noChangeAspect="1"/>
          </p:cNvPicPr>
          <p:nvPr/>
        </p:nvPicPr>
        <p:blipFill rotWithShape="1">
          <a:blip r:embed="rId2"/>
          <a:srcRect t="7843" b="8514"/>
          <a:stretch/>
        </p:blipFill>
        <p:spPr>
          <a:xfrm>
            <a:off x="-3047" y="10"/>
            <a:ext cx="12191999" cy="6857990"/>
          </a:xfrm>
          <a:prstGeom prst="rect">
            <a:avLst/>
          </a:prstGeom>
        </p:spPr>
      </p:pic>
      <p:sp>
        <p:nvSpPr>
          <p:cNvPr id="18" name="Rectangle 17">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914304-9298-0AF7-AEAD-E7CB0291F04A}"/>
              </a:ext>
            </a:extLst>
          </p:cNvPr>
          <p:cNvSpPr>
            <a:spLocks noGrp="1"/>
          </p:cNvSpPr>
          <p:nvPr>
            <p:ph type="ctrTitle"/>
          </p:nvPr>
        </p:nvSpPr>
        <p:spPr>
          <a:xfrm>
            <a:off x="643466" y="643467"/>
            <a:ext cx="10905059" cy="3330353"/>
          </a:xfrm>
          <a:effectLst>
            <a:outerShdw blurRad="50800" dist="38100" dir="2700000" algn="tl" rotWithShape="0">
              <a:prstClr val="black">
                <a:alpha val="40000"/>
              </a:prstClr>
            </a:outerShdw>
          </a:effectLst>
        </p:spPr>
        <p:txBody>
          <a:bodyPr>
            <a:normAutofit/>
          </a:bodyPr>
          <a:lstStyle/>
          <a:p>
            <a:pPr algn="ctr"/>
            <a:r>
              <a:rPr lang="en-US" dirty="0">
                <a:solidFill>
                  <a:schemeClr val="bg1"/>
                </a:solidFill>
              </a:rPr>
              <a:t>IMPACTS On Health</a:t>
            </a:r>
          </a:p>
        </p:txBody>
      </p:sp>
      <p:sp>
        <p:nvSpPr>
          <p:cNvPr id="3" name="Subtitle 2">
            <a:extLst>
              <a:ext uri="{FF2B5EF4-FFF2-40B4-BE49-F238E27FC236}">
                <a16:creationId xmlns:a16="http://schemas.microsoft.com/office/drawing/2014/main" id="{CF84D835-57B8-5C80-49BB-7E95398E7574}"/>
              </a:ext>
            </a:extLst>
          </p:cNvPr>
          <p:cNvSpPr>
            <a:spLocks noGrp="1"/>
          </p:cNvSpPr>
          <p:nvPr>
            <p:ph type="subTitle" idx="1"/>
          </p:nvPr>
        </p:nvSpPr>
        <p:spPr>
          <a:xfrm>
            <a:off x="643466" y="4133135"/>
            <a:ext cx="10471838" cy="1454510"/>
          </a:xfrm>
          <a:effectLst>
            <a:outerShdw blurRad="50800" dist="38100" dir="2700000" algn="tl" rotWithShape="0">
              <a:prstClr val="black">
                <a:alpha val="40000"/>
              </a:prstClr>
            </a:outerShdw>
          </a:effectLst>
        </p:spPr>
        <p:txBody>
          <a:bodyPr>
            <a:normAutofit/>
          </a:bodyPr>
          <a:lstStyle/>
          <a:p>
            <a:pPr algn="ctr"/>
            <a:r>
              <a:rPr lang="en-US" sz="1800" dirty="0">
                <a:solidFill>
                  <a:schemeClr val="tx1"/>
                </a:solidFill>
              </a:rPr>
              <a:t>Year 10 Health					Lesson 5					Term 3, 2024</a:t>
            </a:r>
          </a:p>
        </p:txBody>
      </p:sp>
      <p:cxnSp>
        <p:nvCxnSpPr>
          <p:cNvPr id="20" name="Straight Connector 19">
            <a:extLst>
              <a:ext uri="{FF2B5EF4-FFF2-40B4-BE49-F238E27FC236}">
                <a16:creationId xmlns:a16="http://schemas.microsoft.com/office/drawing/2014/main" id="{34E5597F-CE67-4085-9548-E6A8036DA3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5092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04BED40-EAF7-4E55-AFF7-2CD840EBD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B9C91F-776B-2231-B66B-44C5A919EB35}"/>
              </a:ext>
            </a:extLst>
          </p:cNvPr>
          <p:cNvSpPr>
            <a:spLocks noGrp="1"/>
          </p:cNvSpPr>
          <p:nvPr>
            <p:ph type="title"/>
          </p:nvPr>
        </p:nvSpPr>
        <p:spPr>
          <a:xfrm>
            <a:off x="581193" y="702156"/>
            <a:ext cx="6309003" cy="1013800"/>
          </a:xfrm>
        </p:spPr>
        <p:txBody>
          <a:bodyPr>
            <a:normAutofit/>
          </a:bodyPr>
          <a:lstStyle/>
          <a:p>
            <a:r>
              <a:rPr lang="en-US" dirty="0">
                <a:solidFill>
                  <a:schemeClr val="tx2"/>
                </a:solidFill>
              </a:rPr>
              <a:t>Today’s Focus</a:t>
            </a:r>
          </a:p>
        </p:txBody>
      </p:sp>
      <p:sp>
        <p:nvSpPr>
          <p:cNvPr id="18" name="Rectangle 17">
            <a:extLst>
              <a:ext uri="{FF2B5EF4-FFF2-40B4-BE49-F238E27FC236}">
                <a16:creationId xmlns:a16="http://schemas.microsoft.com/office/drawing/2014/main" id="{F367CCF1-BB1E-41CF-8499-94A870C33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66751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6B629D2A-4A91-3214-F524-57C1823230FC}"/>
              </a:ext>
            </a:extLst>
          </p:cNvPr>
          <p:cNvSpPr>
            <a:spLocks noGrp="1"/>
          </p:cNvSpPr>
          <p:nvPr>
            <p:ph idx="1"/>
          </p:nvPr>
        </p:nvSpPr>
        <p:spPr>
          <a:xfrm>
            <a:off x="581194" y="1896533"/>
            <a:ext cx="6309003" cy="3962266"/>
          </a:xfrm>
        </p:spPr>
        <p:txBody>
          <a:bodyPr>
            <a:normAutofit/>
          </a:bodyPr>
          <a:lstStyle/>
          <a:p>
            <a:r>
              <a:rPr lang="en-US" dirty="0">
                <a:solidFill>
                  <a:schemeClr val="tx2"/>
                </a:solidFill>
              </a:rPr>
              <a:t>Analyse ‘R U OK’ </a:t>
            </a:r>
            <a:r>
              <a:rPr lang="en-US">
                <a:solidFill>
                  <a:schemeClr val="tx2"/>
                </a:solidFill>
              </a:rPr>
              <a:t>Day campaign</a:t>
            </a:r>
            <a:endParaRPr lang="en-US" dirty="0">
              <a:solidFill>
                <a:schemeClr val="tx2"/>
              </a:solidFill>
            </a:endParaRPr>
          </a:p>
          <a:p>
            <a:r>
              <a:rPr lang="en-US" dirty="0">
                <a:solidFill>
                  <a:schemeClr val="tx2"/>
                </a:solidFill>
              </a:rPr>
              <a:t>Assessment time</a:t>
            </a:r>
          </a:p>
          <a:p>
            <a:r>
              <a:rPr lang="en-US" dirty="0">
                <a:solidFill>
                  <a:schemeClr val="tx2"/>
                </a:solidFill>
              </a:rPr>
              <a:t>Due week 6</a:t>
            </a:r>
          </a:p>
        </p:txBody>
      </p:sp>
      <p:pic>
        <p:nvPicPr>
          <p:cNvPr id="5" name="Picture 4" descr="Many question marks on black background">
            <a:extLst>
              <a:ext uri="{FF2B5EF4-FFF2-40B4-BE49-F238E27FC236}">
                <a16:creationId xmlns:a16="http://schemas.microsoft.com/office/drawing/2014/main" id="{D96225BA-9E5A-7BEC-AC1E-E319C045C9C3}"/>
              </a:ext>
            </a:extLst>
          </p:cNvPr>
          <p:cNvPicPr>
            <a:picLocks noChangeAspect="1"/>
          </p:cNvPicPr>
          <p:nvPr/>
        </p:nvPicPr>
        <p:blipFill rotWithShape="1">
          <a:blip r:embed="rId2"/>
          <a:srcRect l="58454" r="2" b="2"/>
          <a:stretch/>
        </p:blipFill>
        <p:spPr>
          <a:xfrm>
            <a:off x="7521283" y="10"/>
            <a:ext cx="4670717" cy="6857990"/>
          </a:xfrm>
          <a:prstGeom prst="rect">
            <a:avLst/>
          </a:prstGeom>
        </p:spPr>
      </p:pic>
    </p:spTree>
    <p:extLst>
      <p:ext uri="{BB962C8B-B14F-4D97-AF65-F5344CB8AC3E}">
        <p14:creationId xmlns:p14="http://schemas.microsoft.com/office/powerpoint/2010/main" val="27082170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831CBB7-4817-4B54-A7F9-0AE2D0C47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7029" y="457200"/>
            <a:ext cx="5010912" cy="9144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 name="Online Media 3" descr="Stay Connected and Ask R U OK? 15sec">
            <a:hlinkClick r:id="" action="ppaction://media"/>
            <a:extLst>
              <a:ext uri="{FF2B5EF4-FFF2-40B4-BE49-F238E27FC236}">
                <a16:creationId xmlns:a16="http://schemas.microsoft.com/office/drawing/2014/main" id="{288E579D-CE71-C608-7EF9-30BAC018631F}"/>
              </a:ext>
            </a:extLst>
          </p:cNvPr>
          <p:cNvPicPr>
            <a:picLocks noRot="1" noChangeAspect="1"/>
          </p:cNvPicPr>
          <p:nvPr>
            <a:videoFile r:link="rId1"/>
          </p:nvPr>
        </p:nvPicPr>
        <p:blipFill>
          <a:blip r:embed="rId4"/>
          <a:stretch>
            <a:fillRect/>
          </a:stretch>
        </p:blipFill>
        <p:spPr>
          <a:xfrm>
            <a:off x="72818" y="1661874"/>
            <a:ext cx="6492066" cy="3668016"/>
          </a:xfrm>
          <a:prstGeom prst="rect">
            <a:avLst/>
          </a:prstGeom>
        </p:spPr>
      </p:pic>
      <p:sp>
        <p:nvSpPr>
          <p:cNvPr id="22" name="Rectangle 21">
            <a:extLst>
              <a:ext uri="{FF2B5EF4-FFF2-40B4-BE49-F238E27FC236}">
                <a16:creationId xmlns:a16="http://schemas.microsoft.com/office/drawing/2014/main" id="{96BC321D-B05F-4857-8880-97F61B9B78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7791" y="601200"/>
            <a:ext cx="5009388"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9EDFAFE-9A2C-0151-EADD-67C764069520}"/>
              </a:ext>
            </a:extLst>
          </p:cNvPr>
          <p:cNvSpPr>
            <a:spLocks noGrp="1"/>
          </p:cNvSpPr>
          <p:nvPr>
            <p:ph type="title"/>
          </p:nvPr>
        </p:nvSpPr>
        <p:spPr>
          <a:xfrm>
            <a:off x="6873606" y="938022"/>
            <a:ext cx="4597758" cy="1188720"/>
          </a:xfrm>
        </p:spPr>
        <p:txBody>
          <a:bodyPr>
            <a:normAutofit/>
          </a:bodyPr>
          <a:lstStyle/>
          <a:p>
            <a:r>
              <a:rPr lang="en-US" dirty="0">
                <a:solidFill>
                  <a:srgbClr val="FFFFFF"/>
                </a:solidFill>
              </a:rPr>
              <a:t>R U OK? Day 		(PG.21-22) </a:t>
            </a:r>
          </a:p>
        </p:txBody>
      </p:sp>
      <p:sp>
        <p:nvSpPr>
          <p:cNvPr id="8" name="Content Placeholder 7">
            <a:extLst>
              <a:ext uri="{FF2B5EF4-FFF2-40B4-BE49-F238E27FC236}">
                <a16:creationId xmlns:a16="http://schemas.microsoft.com/office/drawing/2014/main" id="{6214E599-51FA-76E8-EE75-F09672EFD85C}"/>
              </a:ext>
            </a:extLst>
          </p:cNvPr>
          <p:cNvSpPr>
            <a:spLocks noGrp="1"/>
          </p:cNvSpPr>
          <p:nvPr>
            <p:ph idx="1"/>
          </p:nvPr>
        </p:nvSpPr>
        <p:spPr>
          <a:xfrm>
            <a:off x="6873606" y="2340864"/>
            <a:ext cx="4597758" cy="3793237"/>
          </a:xfrm>
        </p:spPr>
        <p:txBody>
          <a:bodyPr>
            <a:normAutofit/>
          </a:bodyPr>
          <a:lstStyle/>
          <a:p>
            <a:r>
              <a:rPr lang="en-US" dirty="0">
                <a:solidFill>
                  <a:srgbClr val="FFFFFF"/>
                </a:solidFill>
              </a:rPr>
              <a:t>R U OK? Day is a health promotion campaign all about encouraging people to start the conversation and ask, “R U OK?”</a:t>
            </a:r>
          </a:p>
          <a:p>
            <a:endParaRPr lang="en-US" dirty="0">
              <a:solidFill>
                <a:srgbClr val="FFFFFF"/>
              </a:solidFill>
            </a:endParaRPr>
          </a:p>
          <a:p>
            <a:r>
              <a:rPr lang="en-US" dirty="0">
                <a:solidFill>
                  <a:srgbClr val="FFFFFF"/>
                </a:solidFill>
              </a:rPr>
              <a:t>It helps to bring awareness to suicide and mental health and normalise asking, and talking, about our feelings and creating a sense of connectedness.</a:t>
            </a:r>
          </a:p>
          <a:p>
            <a:endParaRPr lang="en-US" dirty="0">
              <a:solidFill>
                <a:srgbClr val="FFFFFF"/>
              </a:solidFill>
            </a:endParaRPr>
          </a:p>
          <a:p>
            <a:r>
              <a:rPr lang="en-US" dirty="0">
                <a:solidFill>
                  <a:srgbClr val="FFFFFF"/>
                </a:solidFill>
              </a:rPr>
              <a:t>One conversation can change a life.</a:t>
            </a:r>
          </a:p>
        </p:txBody>
      </p:sp>
    </p:spTree>
    <p:extLst>
      <p:ext uri="{BB962C8B-B14F-4D97-AF65-F5344CB8AC3E}">
        <p14:creationId xmlns:p14="http://schemas.microsoft.com/office/powerpoint/2010/main" val="114128137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B8DD2392-397B-48BF-BEFA-EA1FB881C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 U OK Day: The Value Of A Simple Conversation - The safety, wellbeing &amp;  rehab experts">
            <a:extLst>
              <a:ext uri="{FF2B5EF4-FFF2-40B4-BE49-F238E27FC236}">
                <a16:creationId xmlns:a16="http://schemas.microsoft.com/office/drawing/2014/main" id="{86740A8B-6D84-8177-420D-0E7B1B3C03C1}"/>
              </a:ext>
            </a:extLst>
          </p:cNvPr>
          <p:cNvPicPr>
            <a:picLocks noChangeAspect="1" noChangeArrowheads="1"/>
          </p:cNvPicPr>
          <p:nvPr/>
        </p:nvPicPr>
        <p:blipFill rotWithShape="1">
          <a:blip r:embed="rId3">
            <a:alphaModFix amt="40000"/>
            <a:extLst>
              <a:ext uri="{28A0092B-C50C-407E-A947-70E740481C1C}">
                <a14:useLocalDpi xmlns:a14="http://schemas.microsoft.com/office/drawing/2010/main" val="0"/>
              </a:ext>
            </a:extLst>
          </a:blip>
          <a:srcRect t="4841" b="10889"/>
          <a:stretch/>
        </p:blipFill>
        <p:spPr bwMode="auto">
          <a:xfrm>
            <a:off x="20" y="224129"/>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2F76A9A-96A9-35F5-5AFA-6879BD787E1D}"/>
              </a:ext>
            </a:extLst>
          </p:cNvPr>
          <p:cNvSpPr>
            <a:spLocks noGrp="1"/>
          </p:cNvSpPr>
          <p:nvPr>
            <p:ph type="title"/>
          </p:nvPr>
        </p:nvSpPr>
        <p:spPr>
          <a:xfrm>
            <a:off x="1082541" y="-224119"/>
            <a:ext cx="10144260" cy="1013800"/>
          </a:xfrm>
        </p:spPr>
        <p:txBody>
          <a:bodyPr>
            <a:normAutofit/>
          </a:bodyPr>
          <a:lstStyle/>
          <a:p>
            <a:r>
              <a:rPr lang="en-US" dirty="0">
                <a:solidFill>
                  <a:schemeClr val="tx1"/>
                </a:solidFill>
              </a:rPr>
              <a:t>The man behind ‘R U OK? Day’</a:t>
            </a:r>
          </a:p>
        </p:txBody>
      </p:sp>
      <p:sp>
        <p:nvSpPr>
          <p:cNvPr id="3" name="Content Placeholder 2">
            <a:extLst>
              <a:ext uri="{FF2B5EF4-FFF2-40B4-BE49-F238E27FC236}">
                <a16:creationId xmlns:a16="http://schemas.microsoft.com/office/drawing/2014/main" id="{DAF9C58D-F793-F688-E151-14160EBD10F3}"/>
              </a:ext>
            </a:extLst>
          </p:cNvPr>
          <p:cNvSpPr>
            <a:spLocks noGrp="1"/>
          </p:cNvSpPr>
          <p:nvPr>
            <p:ph idx="1"/>
          </p:nvPr>
        </p:nvSpPr>
        <p:spPr>
          <a:xfrm>
            <a:off x="965199" y="1013800"/>
            <a:ext cx="10261602" cy="5600756"/>
          </a:xfrm>
        </p:spPr>
        <p:txBody>
          <a:bodyPr>
            <a:normAutofit/>
          </a:bodyPr>
          <a:lstStyle/>
          <a:p>
            <a:pPr>
              <a:lnSpc>
                <a:spcPct val="90000"/>
              </a:lnSpc>
            </a:pPr>
            <a:r>
              <a:rPr lang="en-US" sz="1400" dirty="0"/>
              <a:t>Watch the video: </a:t>
            </a:r>
            <a:r>
              <a:rPr lang="en-US" sz="1400" dirty="0">
                <a:hlinkClick r:id="rId4"/>
              </a:rPr>
              <a:t>https://www.ruok.org.au/our-story#:~:text=In%201995%2C%20much%2Dloved%20Barry</a:t>
            </a:r>
            <a:r>
              <a:rPr lang="en-US" sz="1400" dirty="0"/>
              <a:t>,.  (2:49mins)</a:t>
            </a:r>
          </a:p>
          <a:p>
            <a:pPr marL="0" indent="0">
              <a:lnSpc>
                <a:spcPct val="90000"/>
              </a:lnSpc>
              <a:buNone/>
            </a:pPr>
            <a:endParaRPr lang="en-US" sz="2000" dirty="0"/>
          </a:p>
          <a:p>
            <a:pPr marL="0" indent="0">
              <a:lnSpc>
                <a:spcPct val="90000"/>
              </a:lnSpc>
              <a:buNone/>
            </a:pPr>
            <a:r>
              <a:rPr lang="en-AU" sz="1600" b="0" i="1" dirty="0">
                <a:solidFill>
                  <a:schemeClr val="tx1"/>
                </a:solidFill>
                <a:effectLst/>
                <a:latin typeface="Omnes"/>
              </a:rPr>
              <a:t>In 1995, much-loved Barry Larkin was far from OK. His suicide left family and friends in deep grief and with endless questions. In 2009, his son Gavin Larkin chose to champion just one question to honour his father and to try and protect other families from the pain his endured: </a:t>
            </a:r>
            <a:r>
              <a:rPr lang="en-AU" sz="1600" b="1" i="1" dirty="0">
                <a:solidFill>
                  <a:schemeClr val="tx1"/>
                </a:solidFill>
                <a:effectLst/>
                <a:latin typeface="Omnes"/>
              </a:rPr>
              <a:t>'Are you OK?’</a:t>
            </a:r>
            <a:r>
              <a:rPr lang="en-AU" sz="1600" b="0" i="1" dirty="0">
                <a:solidFill>
                  <a:schemeClr val="tx1"/>
                </a:solidFill>
                <a:effectLst/>
                <a:latin typeface="Omnes"/>
              </a:rPr>
              <a:t>.</a:t>
            </a:r>
          </a:p>
          <a:p>
            <a:pPr marL="0" indent="0">
              <a:lnSpc>
                <a:spcPct val="90000"/>
              </a:lnSpc>
              <a:buNone/>
            </a:pPr>
            <a:endParaRPr lang="en-AU" sz="1600" b="0" i="1" dirty="0">
              <a:solidFill>
                <a:schemeClr val="tx1"/>
              </a:solidFill>
              <a:effectLst/>
              <a:latin typeface="Omnes"/>
            </a:endParaRPr>
          </a:p>
          <a:p>
            <a:pPr marL="0" indent="0">
              <a:lnSpc>
                <a:spcPct val="90000"/>
              </a:lnSpc>
              <a:buNone/>
            </a:pPr>
            <a:r>
              <a:rPr lang="en-AU" sz="1600" b="0" i="1" dirty="0">
                <a:solidFill>
                  <a:schemeClr val="tx1"/>
                </a:solidFill>
                <a:effectLst/>
                <a:latin typeface="Omnes"/>
              </a:rPr>
              <a:t>While collaborating on a documentary to raise awareness, the team quickly realised the documentary alone wouldn’t be enough. To genuinely change behaviour Australia-wide, a national campaign was needed. And from this realisation, and with Gavin and </a:t>
            </a:r>
            <a:r>
              <a:rPr lang="en-AU" sz="1600" i="1" dirty="0">
                <a:solidFill>
                  <a:schemeClr val="tx1"/>
                </a:solidFill>
                <a:latin typeface="Omnes"/>
              </a:rPr>
              <a:t>his colleague's</a:t>
            </a:r>
            <a:r>
              <a:rPr lang="en-AU" sz="1600" b="0" i="1" dirty="0">
                <a:solidFill>
                  <a:schemeClr val="tx1"/>
                </a:solidFill>
                <a:effectLst/>
                <a:latin typeface="Omnes"/>
              </a:rPr>
              <a:t> expertise and passion, R U OK? was born.</a:t>
            </a:r>
          </a:p>
          <a:p>
            <a:pPr marL="0" indent="0">
              <a:lnSpc>
                <a:spcPct val="90000"/>
              </a:lnSpc>
              <a:buNone/>
            </a:pPr>
            <a:endParaRPr lang="en-AU" sz="1600" b="0" i="1" dirty="0">
              <a:solidFill>
                <a:schemeClr val="tx1"/>
              </a:solidFill>
              <a:effectLst/>
              <a:latin typeface="Omnes"/>
            </a:endParaRPr>
          </a:p>
          <a:p>
            <a:pPr marL="0" indent="0">
              <a:lnSpc>
                <a:spcPct val="90000"/>
              </a:lnSpc>
              <a:buNone/>
            </a:pPr>
            <a:r>
              <a:rPr lang="en-AU" sz="1600" b="0" i="1" dirty="0">
                <a:solidFill>
                  <a:schemeClr val="tx1"/>
                </a:solidFill>
                <a:effectLst/>
                <a:latin typeface="Omnes"/>
              </a:rPr>
              <a:t>Gavin remained a passionate champion of the fact a conversation could change a life, even as cancer ended his in 2011. His legacy is a national Conversation Movement that is equipping Australians with the skills and confidence to support those struggling with life.</a:t>
            </a:r>
          </a:p>
          <a:p>
            <a:pPr marL="0" indent="0">
              <a:lnSpc>
                <a:spcPct val="90000"/>
              </a:lnSpc>
              <a:buNone/>
            </a:pPr>
            <a:endParaRPr lang="en-AU" sz="1600" b="0" i="1" dirty="0">
              <a:solidFill>
                <a:schemeClr val="tx1"/>
              </a:solidFill>
              <a:effectLst/>
              <a:latin typeface="Omnes"/>
            </a:endParaRPr>
          </a:p>
          <a:p>
            <a:pPr marL="0" indent="0">
              <a:lnSpc>
                <a:spcPct val="90000"/>
              </a:lnSpc>
              <a:buNone/>
            </a:pPr>
            <a:r>
              <a:rPr lang="en-AU" sz="1600" b="0" i="1" dirty="0">
                <a:solidFill>
                  <a:schemeClr val="tx1"/>
                </a:solidFill>
                <a:effectLst/>
                <a:latin typeface="Omnes"/>
              </a:rPr>
              <a:t>R U OK? was born from lived experience. The valuable insights, storytelling, and expertise of those with lived experience continues to be weaved throughout everything we do. Across our team, Board, Advisory Groups and Ambassadors, we remain respectful and proud of those who share their journeys to help continually improve our work.</a:t>
            </a:r>
            <a:endParaRPr lang="en-US" sz="1600" dirty="0">
              <a:solidFill>
                <a:schemeClr val="tx1"/>
              </a:solidFill>
            </a:endParaRPr>
          </a:p>
        </p:txBody>
      </p:sp>
    </p:spTree>
    <p:extLst>
      <p:ext uri="{BB962C8B-B14F-4D97-AF65-F5344CB8AC3E}">
        <p14:creationId xmlns:p14="http://schemas.microsoft.com/office/powerpoint/2010/main" val="3002809659"/>
      </p:ext>
    </p:extLst>
  </p:cSld>
  <p:clrMapOvr>
    <a:overrideClrMapping bg1="dk1" tx1="lt1" bg2="dk2" tx2="lt2" accent1="accent1" accent2="accent2" accent3="accent3" accent4="accent4" accent5="accent5" accent6="accent6" hlink="hlink" folHlink="folHlink"/>
  </p:clrMapOvr>
</p:sld>
</file>

<file path=ppt/slides/slide7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DDC3EF6-2EA5-44B3-94C7-9DDA67A12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87925A9A-E9FA-496E-9C09-7C2845E006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2073ABB4-E164-4CBF-ADFF-25552BB7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5" name="Rectangle 14">
            <a:extLst>
              <a:ext uri="{FF2B5EF4-FFF2-40B4-BE49-F238E27FC236}">
                <a16:creationId xmlns:a16="http://schemas.microsoft.com/office/drawing/2014/main" id="{20C97E5C-C165-417B-BBDE-6701E226BE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5D0E1C6-221C-4835-B0D4-24184F6B6E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8891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98F2782-0AD1-4AB6-BBB8-3BA1BB416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nline Media 3" descr="Beyond OK: Gavin Larkin, the man behind R U OK? Day | Australian Story">
            <a:hlinkClick r:id="" action="ppaction://media"/>
            <a:extLst>
              <a:ext uri="{FF2B5EF4-FFF2-40B4-BE49-F238E27FC236}">
                <a16:creationId xmlns:a16="http://schemas.microsoft.com/office/drawing/2014/main" id="{5DFCDC5F-A621-144B-6571-E959DD1C36F0}"/>
              </a:ext>
            </a:extLst>
          </p:cNvPr>
          <p:cNvPicPr>
            <a:picLocks noGrp="1" noRot="1" noChangeAspect="1"/>
          </p:cNvPicPr>
          <p:nvPr>
            <p:ph idx="1"/>
            <a:videoFile r:link="rId1"/>
          </p:nvPr>
        </p:nvPicPr>
        <p:blipFill>
          <a:blip r:embed="rId4"/>
          <a:stretch>
            <a:fillRect/>
          </a:stretch>
        </p:blipFill>
        <p:spPr>
          <a:xfrm>
            <a:off x="1222562" y="676926"/>
            <a:ext cx="9741853" cy="5504147"/>
          </a:xfrm>
          <a:prstGeom prst="rect">
            <a:avLst/>
          </a:prstGeom>
        </p:spPr>
      </p:pic>
      <p:sp>
        <p:nvSpPr>
          <p:cNvPr id="5" name="TextBox 4">
            <a:extLst>
              <a:ext uri="{FF2B5EF4-FFF2-40B4-BE49-F238E27FC236}">
                <a16:creationId xmlns:a16="http://schemas.microsoft.com/office/drawing/2014/main" id="{B4CA5211-D1D0-4EB5-1E01-20AB04682A8A}"/>
              </a:ext>
            </a:extLst>
          </p:cNvPr>
          <p:cNvSpPr txBox="1"/>
          <p:nvPr/>
        </p:nvSpPr>
        <p:spPr>
          <a:xfrm>
            <a:off x="2565543" y="76345"/>
            <a:ext cx="7055893" cy="369332"/>
          </a:xfrm>
          <a:prstGeom prst="rect">
            <a:avLst/>
          </a:prstGeom>
          <a:noFill/>
        </p:spPr>
        <p:txBody>
          <a:bodyPr wrap="square" rtlCol="0">
            <a:spAutoFit/>
          </a:bodyPr>
          <a:lstStyle/>
          <a:p>
            <a:pPr algn="ctr"/>
            <a:r>
              <a:rPr lang="en-US" dirty="0"/>
              <a:t>Beyond OK: Gavin Larkin, the man behind R U OK? Day | Australian Story</a:t>
            </a:r>
          </a:p>
        </p:txBody>
      </p:sp>
    </p:spTree>
    <p:extLst>
      <p:ext uri="{BB962C8B-B14F-4D97-AF65-F5344CB8AC3E}">
        <p14:creationId xmlns:p14="http://schemas.microsoft.com/office/powerpoint/2010/main" val="87992818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F969E-F06B-1A03-EE8E-3CA378A0672D}"/>
              </a:ext>
            </a:extLst>
          </p:cNvPr>
          <p:cNvSpPr>
            <a:spLocks noGrp="1"/>
          </p:cNvSpPr>
          <p:nvPr>
            <p:ph type="title"/>
          </p:nvPr>
        </p:nvSpPr>
        <p:spPr>
          <a:xfrm>
            <a:off x="581191" y="117680"/>
            <a:ext cx="11029616" cy="1188720"/>
          </a:xfrm>
        </p:spPr>
        <p:txBody>
          <a:bodyPr/>
          <a:lstStyle/>
          <a:p>
            <a:r>
              <a:rPr lang="en-US" dirty="0"/>
              <a:t>A closer look at the campaign… 							</a:t>
            </a:r>
            <a:r>
              <a:rPr lang="en-US" dirty="0">
                <a:solidFill>
                  <a:schemeClr val="tx1"/>
                </a:solidFill>
              </a:rPr>
              <a:t>(PG.21-22) </a:t>
            </a:r>
          </a:p>
        </p:txBody>
      </p:sp>
      <p:sp>
        <p:nvSpPr>
          <p:cNvPr id="3" name="Content Placeholder 2">
            <a:extLst>
              <a:ext uri="{FF2B5EF4-FFF2-40B4-BE49-F238E27FC236}">
                <a16:creationId xmlns:a16="http://schemas.microsoft.com/office/drawing/2014/main" id="{B7983195-C3EF-E710-90DD-7CE2F7A369B7}"/>
              </a:ext>
            </a:extLst>
          </p:cNvPr>
          <p:cNvSpPr>
            <a:spLocks noGrp="1"/>
          </p:cNvSpPr>
          <p:nvPr>
            <p:ph idx="1"/>
          </p:nvPr>
        </p:nvSpPr>
        <p:spPr>
          <a:xfrm>
            <a:off x="581192" y="2063864"/>
            <a:ext cx="11029615" cy="4676456"/>
          </a:xfrm>
        </p:spPr>
        <p:txBody>
          <a:bodyPr>
            <a:noAutofit/>
          </a:bodyPr>
          <a:lstStyle/>
          <a:p>
            <a:pPr lvl="0"/>
            <a:r>
              <a:rPr lang="en-US" b="1" dirty="0"/>
              <a:t>Provide an overview of both the Health topic and campaign chosen</a:t>
            </a:r>
            <a:endParaRPr lang="en-AU" dirty="0"/>
          </a:p>
          <a:p>
            <a:pPr marL="0" indent="0">
              <a:buNone/>
            </a:pPr>
            <a:r>
              <a:rPr lang="en-US" dirty="0"/>
              <a:t>Mental health is a growing concern in Australia. The R U OK campaign was started in 2009</a:t>
            </a:r>
            <a:endParaRPr lang="en-AU" dirty="0"/>
          </a:p>
          <a:p>
            <a:endParaRPr lang="en-AU" dirty="0"/>
          </a:p>
          <a:p>
            <a:endParaRPr lang="en-AU" dirty="0"/>
          </a:p>
          <a:p>
            <a:pPr lvl="0"/>
            <a:r>
              <a:rPr lang="en-US" dirty="0"/>
              <a:t> </a:t>
            </a:r>
            <a:r>
              <a:rPr lang="en-US" b="1" dirty="0"/>
              <a:t>WHO – is the health promotion targeting? - use an example from the campaign which supports your answer.</a:t>
            </a:r>
            <a:endParaRPr lang="en-AU" dirty="0"/>
          </a:p>
          <a:p>
            <a:pPr marL="0" indent="0">
              <a:buNone/>
            </a:pPr>
            <a:r>
              <a:rPr lang="en-US" dirty="0"/>
              <a:t>Passer-by people who regularly forget to ask a simple question. </a:t>
            </a:r>
          </a:p>
          <a:p>
            <a:pPr marL="0" indent="0">
              <a:buNone/>
            </a:pPr>
            <a:r>
              <a:rPr lang="en-US" dirty="0"/>
              <a:t>Targeting anyone - aimed at everyone. </a:t>
            </a:r>
          </a:p>
          <a:p>
            <a:pPr marL="0" indent="0">
              <a:buNone/>
            </a:pPr>
            <a:r>
              <a:rPr lang="en-US" dirty="0"/>
              <a:t>Aimed primarily at people to try and limit mental illness before it gets too late to do anything. (Prevention is better than cure).</a:t>
            </a:r>
            <a:endParaRPr lang="en-AU" dirty="0"/>
          </a:p>
        </p:txBody>
      </p:sp>
      <p:sp>
        <p:nvSpPr>
          <p:cNvPr id="5" name="TextBox 4">
            <a:extLst>
              <a:ext uri="{FF2B5EF4-FFF2-40B4-BE49-F238E27FC236}">
                <a16:creationId xmlns:a16="http://schemas.microsoft.com/office/drawing/2014/main" id="{55977A78-8CDF-C96D-A39A-7C7019E05C51}"/>
              </a:ext>
            </a:extLst>
          </p:cNvPr>
          <p:cNvSpPr txBox="1"/>
          <p:nvPr/>
        </p:nvSpPr>
        <p:spPr>
          <a:xfrm>
            <a:off x="581190" y="1500466"/>
            <a:ext cx="11029615" cy="369332"/>
          </a:xfrm>
          <a:prstGeom prst="rect">
            <a:avLst/>
          </a:prstGeom>
          <a:noFill/>
        </p:spPr>
        <p:txBody>
          <a:bodyPr wrap="square">
            <a:spAutoFit/>
          </a:bodyPr>
          <a:lstStyle/>
          <a:p>
            <a:r>
              <a:rPr lang="en-US" dirty="0"/>
              <a:t>Complete the table in your workbooks about the RUOK? Day health campaign. </a:t>
            </a:r>
          </a:p>
        </p:txBody>
      </p:sp>
    </p:spTree>
    <p:extLst>
      <p:ext uri="{BB962C8B-B14F-4D97-AF65-F5344CB8AC3E}">
        <p14:creationId xmlns:p14="http://schemas.microsoft.com/office/powerpoint/2010/main" val="25923856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C0A5F6-E075-3370-97BF-DDECAD22055F}"/>
              </a:ext>
            </a:extLst>
          </p:cNvPr>
          <p:cNvSpPr>
            <a:spLocks noGrp="1"/>
          </p:cNvSpPr>
          <p:nvPr>
            <p:ph idx="1"/>
          </p:nvPr>
        </p:nvSpPr>
        <p:spPr>
          <a:xfrm>
            <a:off x="581192" y="889686"/>
            <a:ext cx="11029615" cy="5085664"/>
          </a:xfrm>
        </p:spPr>
        <p:txBody>
          <a:bodyPr>
            <a:normAutofit/>
          </a:bodyPr>
          <a:lstStyle/>
          <a:p>
            <a:pPr marL="0" indent="0">
              <a:buNone/>
            </a:pPr>
            <a:endParaRPr lang="en-AU" sz="1800" dirty="0"/>
          </a:p>
          <a:p>
            <a:pPr lvl="0"/>
            <a:r>
              <a:rPr lang="en-US" sz="1800" b="1" dirty="0"/>
              <a:t>HOW – two ways/methods does the campaign raise awareness for the identified target audience? </a:t>
            </a:r>
            <a:endParaRPr lang="en-AU" sz="1800" dirty="0"/>
          </a:p>
          <a:p>
            <a:pPr marL="0" indent="0">
              <a:buNone/>
            </a:pPr>
            <a:r>
              <a:rPr lang="en-US" sz="1800" dirty="0"/>
              <a:t>Quick effective language abbreviations - easy to remember. </a:t>
            </a:r>
          </a:p>
          <a:p>
            <a:pPr marL="0" indent="0">
              <a:buNone/>
            </a:pPr>
            <a:r>
              <a:rPr lang="en-US" sz="1800" dirty="0"/>
              <a:t>Use of Aussie slang (OK), wrist bands, huge nationwide campaign - using lots of media formats, using </a:t>
            </a:r>
            <a:r>
              <a:rPr lang="en-US" sz="1800" dirty="0" err="1"/>
              <a:t>personalised</a:t>
            </a:r>
            <a:r>
              <a:rPr lang="en-US" sz="1800" dirty="0"/>
              <a:t> stories - makes it seem real, bright colours.</a:t>
            </a:r>
          </a:p>
          <a:p>
            <a:pPr marL="0" indent="0">
              <a:buNone/>
            </a:pPr>
            <a:endParaRPr lang="en-US" dirty="0"/>
          </a:p>
          <a:p>
            <a:pPr marL="0" indent="0">
              <a:buNone/>
            </a:pPr>
            <a:endParaRPr lang="en-US" dirty="0"/>
          </a:p>
          <a:p>
            <a:pPr lvl="0"/>
            <a:r>
              <a:rPr lang="en-US" b="1" dirty="0"/>
              <a:t>WHAT – attitudes/beliefs are the campaign trying to change AND how does this influence a change in health behaviour? </a:t>
            </a:r>
            <a:endParaRPr lang="en-AU" dirty="0"/>
          </a:p>
          <a:p>
            <a:pPr marL="0" indent="0">
              <a:buNone/>
            </a:pPr>
            <a:r>
              <a:rPr lang="en-US" dirty="0"/>
              <a:t>Don't ignore friends and family if you feel something is wrong - make a point of staying connected. Slow down and remember the people who are important in your life. </a:t>
            </a:r>
          </a:p>
        </p:txBody>
      </p:sp>
    </p:spTree>
    <p:extLst>
      <p:ext uri="{BB962C8B-B14F-4D97-AF65-F5344CB8AC3E}">
        <p14:creationId xmlns:p14="http://schemas.microsoft.com/office/powerpoint/2010/main" val="28142707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B2EE83-C23A-6E98-7C59-00C1FD64F0FC}"/>
              </a:ext>
            </a:extLst>
          </p:cNvPr>
          <p:cNvSpPr>
            <a:spLocks noGrp="1"/>
          </p:cNvSpPr>
          <p:nvPr>
            <p:ph idx="1"/>
          </p:nvPr>
        </p:nvSpPr>
        <p:spPr>
          <a:xfrm>
            <a:off x="457200" y="593124"/>
            <a:ext cx="11306432" cy="6104238"/>
          </a:xfrm>
        </p:spPr>
        <p:txBody>
          <a:bodyPr>
            <a:normAutofit fontScale="85000" lnSpcReduction="10000"/>
          </a:bodyPr>
          <a:lstStyle/>
          <a:p>
            <a:r>
              <a:rPr lang="en-US" b="1" dirty="0"/>
              <a:t>WHY – should this health focus be important to the nation? Why is this health campaign needed? (show statistics/data to support your answer) </a:t>
            </a:r>
          </a:p>
          <a:p>
            <a:endParaRPr lang="en-AU" dirty="0"/>
          </a:p>
          <a:p>
            <a:pPr lvl="0">
              <a:buFont typeface="Arial" panose="020B0604020202020204" pitchFamily="34" charset="0"/>
              <a:buChar char="•"/>
            </a:pPr>
            <a:r>
              <a:rPr lang="en-US" dirty="0"/>
              <a:t>In each year, approximately one in every five Australians will experience a mental illness.</a:t>
            </a:r>
            <a:endParaRPr lang="en-AU" dirty="0"/>
          </a:p>
          <a:p>
            <a:pPr lvl="0">
              <a:buFont typeface="Arial" panose="020B0604020202020204" pitchFamily="34" charset="0"/>
              <a:buChar char="•"/>
            </a:pPr>
            <a:r>
              <a:rPr lang="en-US" dirty="0"/>
              <a:t>Mental illnesses are the third leading cause of disability burden in Australia, accounting for an estimated 27% of the total years lost due to disability.</a:t>
            </a:r>
            <a:endParaRPr lang="en-AU" dirty="0"/>
          </a:p>
          <a:p>
            <a:pPr lvl="0">
              <a:buFont typeface="Arial" panose="020B0604020202020204" pitchFamily="34" charset="0"/>
              <a:buChar char="•"/>
            </a:pPr>
            <a:r>
              <a:rPr lang="en-US" dirty="0"/>
              <a:t>About 4% of people will experience a major depressive episode in a 12-month period, with 5% of women and 3% of men affected.</a:t>
            </a:r>
            <a:endParaRPr lang="en-AU" dirty="0"/>
          </a:p>
          <a:p>
            <a:pPr lvl="0">
              <a:buFont typeface="Arial" panose="020B0604020202020204" pitchFamily="34" charset="0"/>
              <a:buChar char="•"/>
            </a:pPr>
            <a:r>
              <a:rPr lang="en-US" dirty="0"/>
              <a:t>Approximately 14 % of Australians will be affected by an anxiety disorder in any 12- month period.</a:t>
            </a:r>
            <a:endParaRPr lang="en-AU" dirty="0"/>
          </a:p>
          <a:p>
            <a:pPr lvl="0">
              <a:buFont typeface="Arial" panose="020B0604020202020204" pitchFamily="34" charset="0"/>
              <a:buChar char="•"/>
            </a:pPr>
            <a:r>
              <a:rPr lang="en-US" dirty="0"/>
              <a:t>About 3% of Australians are affected by psychotic illness; such as schizophrenia, where there is a loss of contact with reality during episodes of illness.</a:t>
            </a:r>
            <a:endParaRPr lang="en-AU" dirty="0"/>
          </a:p>
          <a:p>
            <a:pPr lvl="0">
              <a:buFont typeface="Arial" panose="020B0604020202020204" pitchFamily="34" charset="0"/>
              <a:buChar char="•"/>
            </a:pPr>
            <a:r>
              <a:rPr lang="en-US" dirty="0"/>
              <a:t>Approximately 2% of Australians will experience some type of eating disorder in their life, with women 9 times more likely than men.</a:t>
            </a:r>
            <a:endParaRPr lang="en-AU" dirty="0"/>
          </a:p>
          <a:p>
            <a:pPr lvl="0">
              <a:buFont typeface="Arial" panose="020B0604020202020204" pitchFamily="34" charset="0"/>
              <a:buChar char="•"/>
            </a:pPr>
            <a:r>
              <a:rPr lang="en-US" dirty="0"/>
              <a:t>About 5% of Australians will experience substance abuse disorders in any 12- month period, with men more than twice as likely as women to have substance abuse disorders.</a:t>
            </a:r>
            <a:endParaRPr lang="en-AU" dirty="0"/>
          </a:p>
          <a:p>
            <a:pPr lvl="0">
              <a:buFont typeface="Arial" panose="020B0604020202020204" pitchFamily="34" charset="0"/>
              <a:buChar char="•"/>
            </a:pPr>
            <a:r>
              <a:rPr lang="en-US" dirty="0"/>
              <a:t>Prevalence of mental illness decreases with age, with prevalence greatest among 18-24 year </a:t>
            </a:r>
            <a:r>
              <a:rPr lang="en-US" dirty="0" err="1"/>
              <a:t>olds</a:t>
            </a:r>
            <a:r>
              <a:rPr lang="en-US" dirty="0"/>
              <a:t>.</a:t>
            </a:r>
            <a:endParaRPr lang="en-AU" dirty="0"/>
          </a:p>
          <a:p>
            <a:pPr lvl="0">
              <a:buFont typeface="Arial" panose="020B0604020202020204" pitchFamily="34" charset="0"/>
              <a:buChar char="•"/>
            </a:pPr>
            <a:r>
              <a:rPr lang="en-US" dirty="0"/>
              <a:t>Women are more likely than men to seek help for anxiety disorders (18% compared with 11%) and mood disorders (7.1% compared with 5.3%).</a:t>
            </a:r>
            <a:endParaRPr lang="en-AU" dirty="0"/>
          </a:p>
          <a:p>
            <a:pPr lvl="0">
              <a:buFont typeface="Arial" panose="020B0604020202020204" pitchFamily="34" charset="0"/>
              <a:buChar char="•"/>
            </a:pPr>
            <a:r>
              <a:rPr lang="en-US" dirty="0"/>
              <a:t>A national survey showed that 35% of people with a mental disorder had used a health service and 29% consulted a GP within the 12 months before the survey.</a:t>
            </a:r>
            <a:endParaRPr lang="en-AU" dirty="0"/>
          </a:p>
          <a:p>
            <a:pPr lvl="0">
              <a:buFont typeface="Arial" panose="020B0604020202020204" pitchFamily="34" charset="0"/>
              <a:buChar char="•"/>
            </a:pPr>
            <a:r>
              <a:rPr lang="en-US" dirty="0"/>
              <a:t>Women are more likely than men to use services for mental health problems.</a:t>
            </a:r>
            <a:endParaRPr lang="en-AU" dirty="0"/>
          </a:p>
          <a:p>
            <a:pPr lvl="0">
              <a:buFont typeface="Arial" panose="020B0604020202020204" pitchFamily="34" charset="0"/>
              <a:buChar char="•"/>
            </a:pPr>
            <a:r>
              <a:rPr lang="en-US" dirty="0"/>
              <a:t>Limited research suggests that Aboriginal and Torres Strait Islander people experience mental disorders at least as often as other Australians.</a:t>
            </a:r>
            <a:endParaRPr lang="en-AU" dirty="0"/>
          </a:p>
        </p:txBody>
      </p:sp>
    </p:spTree>
    <p:extLst>
      <p:ext uri="{BB962C8B-B14F-4D97-AF65-F5344CB8AC3E}">
        <p14:creationId xmlns:p14="http://schemas.microsoft.com/office/powerpoint/2010/main" val="42551396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423FE-651A-6A1D-5825-B3399114BA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E2F814-3D22-272A-9139-D8989FF5CC45}"/>
              </a:ext>
            </a:extLst>
          </p:cNvPr>
          <p:cNvSpPr>
            <a:spLocks noGrp="1"/>
          </p:cNvSpPr>
          <p:nvPr>
            <p:ph idx="1"/>
          </p:nvPr>
        </p:nvSpPr>
        <p:spPr/>
        <p:txBody>
          <a:bodyPr/>
          <a:lstStyle/>
          <a:p>
            <a:pPr lvl="0"/>
            <a:r>
              <a:rPr lang="en-US" dirty="0"/>
              <a:t>The remaining question is your opinion developed from your knowledge and research on the topic and campaign. </a:t>
            </a:r>
          </a:p>
          <a:p>
            <a:pPr lvl="0"/>
            <a:endParaRPr lang="en-AU" dirty="0"/>
          </a:p>
          <a:p>
            <a:pPr lvl="0"/>
            <a:r>
              <a:rPr lang="en-US" b="1" dirty="0"/>
              <a:t>REVIEW – analyse the campaign and discuss (in detail) one </a:t>
            </a:r>
            <a:r>
              <a:rPr lang="en-US" b="1" u="sng" dirty="0"/>
              <a:t>positive</a:t>
            </a:r>
            <a:r>
              <a:rPr lang="en-US" b="1" dirty="0"/>
              <a:t> and one </a:t>
            </a:r>
            <a:r>
              <a:rPr lang="en-US" b="1" u="sng" dirty="0"/>
              <a:t>area for improvement</a:t>
            </a:r>
            <a:r>
              <a:rPr lang="en-US" b="1" dirty="0"/>
              <a:t> that could be implemented to enhance the campaign results. </a:t>
            </a:r>
            <a:endParaRPr lang="en-AU" dirty="0"/>
          </a:p>
          <a:p>
            <a:endParaRPr lang="en-US" dirty="0"/>
          </a:p>
        </p:txBody>
      </p:sp>
    </p:spTree>
    <p:extLst>
      <p:ext uri="{BB962C8B-B14F-4D97-AF65-F5344CB8AC3E}">
        <p14:creationId xmlns:p14="http://schemas.microsoft.com/office/powerpoint/2010/main" val="15753012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2AF00E-D433-4047-863F-BCB69CEC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588" y="601200"/>
            <a:ext cx="7498616"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BD7D427-99BD-A7C6-99AC-ABB261E38B38}"/>
              </a:ext>
            </a:extLst>
          </p:cNvPr>
          <p:cNvSpPr>
            <a:spLocks noGrp="1"/>
          </p:cNvSpPr>
          <p:nvPr>
            <p:ph type="title"/>
          </p:nvPr>
        </p:nvSpPr>
        <p:spPr>
          <a:xfrm>
            <a:off x="807559" y="938022"/>
            <a:ext cx="6647905" cy="1188720"/>
          </a:xfrm>
        </p:spPr>
        <p:txBody>
          <a:bodyPr>
            <a:normAutofit/>
          </a:bodyPr>
          <a:lstStyle/>
          <a:p>
            <a:r>
              <a:rPr lang="en-US">
                <a:solidFill>
                  <a:srgbClr val="FFFFFF"/>
                </a:solidFill>
              </a:rPr>
              <a:t>Assessment Task 4: Impacts on health</a:t>
            </a:r>
          </a:p>
        </p:txBody>
      </p:sp>
      <p:sp>
        <p:nvSpPr>
          <p:cNvPr id="14" name="Rectangle 13">
            <a:extLst>
              <a:ext uri="{FF2B5EF4-FFF2-40B4-BE49-F238E27FC236}">
                <a16:creationId xmlns:a16="http://schemas.microsoft.com/office/drawing/2014/main" id="{0997DBEA-6DFC-457A-9850-E5350535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79446CF5-953A-4916-BFF4-F5558E5C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477B945C-B433-4DFF-9A67-A5C9257E4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A873D095-5968-0599-90E5-9862B93BCF45}"/>
              </a:ext>
            </a:extLst>
          </p:cNvPr>
          <p:cNvSpPr>
            <a:spLocks noGrp="1"/>
          </p:cNvSpPr>
          <p:nvPr>
            <p:ph idx="1"/>
          </p:nvPr>
        </p:nvSpPr>
        <p:spPr>
          <a:xfrm>
            <a:off x="807559" y="2340864"/>
            <a:ext cx="6690843" cy="3793237"/>
          </a:xfrm>
        </p:spPr>
        <p:txBody>
          <a:bodyPr>
            <a:normAutofit/>
          </a:bodyPr>
          <a:lstStyle/>
          <a:p>
            <a:r>
              <a:rPr lang="en-US" dirty="0">
                <a:solidFill>
                  <a:srgbClr val="FFFFFF"/>
                </a:solidFill>
              </a:rPr>
              <a:t>Complete your assessment task. </a:t>
            </a:r>
          </a:p>
          <a:p>
            <a:endParaRPr lang="en-US" dirty="0">
              <a:solidFill>
                <a:srgbClr val="FFFFFF"/>
              </a:solidFill>
            </a:endParaRPr>
          </a:p>
          <a:p>
            <a:r>
              <a:rPr lang="en-US" dirty="0">
                <a:solidFill>
                  <a:srgbClr val="FFFFFF"/>
                </a:solidFill>
              </a:rPr>
              <a:t>DUE: NEXT WEEK (week 6)</a:t>
            </a:r>
          </a:p>
        </p:txBody>
      </p:sp>
      <p:pic>
        <p:nvPicPr>
          <p:cNvPr id="7" name="Graphic 6" descr="CheckList">
            <a:extLst>
              <a:ext uri="{FF2B5EF4-FFF2-40B4-BE49-F238E27FC236}">
                <a16:creationId xmlns:a16="http://schemas.microsoft.com/office/drawing/2014/main" id="{3A1F4D9D-B3D7-24DB-E5FA-A4FFFA010FF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76761" y="2049354"/>
            <a:ext cx="3053422" cy="3053422"/>
          </a:xfrm>
          <a:prstGeom prst="rect">
            <a:avLst/>
          </a:prstGeom>
        </p:spPr>
      </p:pic>
    </p:spTree>
    <p:extLst>
      <p:ext uri="{BB962C8B-B14F-4D97-AF65-F5344CB8AC3E}">
        <p14:creationId xmlns:p14="http://schemas.microsoft.com/office/powerpoint/2010/main" val="104013751"/>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ividendVTI">
  <a:themeElements>
    <a:clrScheme name="AnalogousFromLightSeedLeftStep">
      <a:dk1>
        <a:srgbClr val="000000"/>
      </a:dk1>
      <a:lt1>
        <a:srgbClr val="FFFFFF"/>
      </a:lt1>
      <a:dk2>
        <a:srgbClr val="242841"/>
      </a:dk2>
      <a:lt2>
        <a:srgbClr val="E8E7E2"/>
      </a:lt2>
      <a:accent1>
        <a:srgbClr val="8891D5"/>
      </a:accent1>
      <a:accent2>
        <a:srgbClr val="6DA0CB"/>
      </a:accent2>
      <a:accent3>
        <a:srgbClr val="6EADB1"/>
      </a:accent3>
      <a:accent4>
        <a:srgbClr val="61B495"/>
      </a:accent4>
      <a:accent5>
        <a:srgbClr val="6BB47B"/>
      </a:accent5>
      <a:accent6>
        <a:srgbClr val="72B461"/>
      </a:accent6>
      <a:hlink>
        <a:srgbClr val="8A8453"/>
      </a:hlink>
      <a:folHlink>
        <a:srgbClr val="7F7F7F"/>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726</TotalTime>
  <Words>8662</Words>
  <Application>Microsoft Macintosh PowerPoint</Application>
  <PresentationFormat>Widescreen</PresentationFormat>
  <Paragraphs>892</Paragraphs>
  <Slides>82</Slides>
  <Notes>51</Notes>
  <HiddenSlides>0</HiddenSlides>
  <MMClips>8</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82</vt:i4>
      </vt:variant>
    </vt:vector>
  </HeadingPairs>
  <TitlesOfParts>
    <vt:vector size="94" baseType="lpstr">
      <vt:lpstr>Aptos</vt:lpstr>
      <vt:lpstr>Arial</vt:lpstr>
      <vt:lpstr>Calibri</vt:lpstr>
      <vt:lpstr>Cambria</vt:lpstr>
      <vt:lpstr>Gill Sans MT</vt:lpstr>
      <vt:lpstr>Helvetica</vt:lpstr>
      <vt:lpstr>Noto Sans</vt:lpstr>
      <vt:lpstr>Omnes</vt:lpstr>
      <vt:lpstr>Open Sans</vt:lpstr>
      <vt:lpstr>Wingdings</vt:lpstr>
      <vt:lpstr>Wingdings 2</vt:lpstr>
      <vt:lpstr>DividendVTI</vt:lpstr>
      <vt:lpstr>IMPACTS On Health</vt:lpstr>
      <vt:lpstr>Term 3: Program &amp; Assessments</vt:lpstr>
      <vt:lpstr>Download Student E-Workbooks</vt:lpstr>
      <vt:lpstr>Today’s Focus</vt:lpstr>
      <vt:lpstr>Who is healthier?</vt:lpstr>
      <vt:lpstr>Who is healthier?</vt:lpstr>
      <vt:lpstr>Snowball</vt:lpstr>
      <vt:lpstr>PowerPoint Presentation</vt:lpstr>
      <vt:lpstr>Dimensions of health:             (Pg. 7)</vt:lpstr>
      <vt:lpstr>GLOSSARY:         (Pg. 6)</vt:lpstr>
      <vt:lpstr>Activity 1: Silent Ball</vt:lpstr>
      <vt:lpstr>Activity 2: Two Truths, One Lie</vt:lpstr>
      <vt:lpstr>Activity 3: Community Circle</vt:lpstr>
      <vt:lpstr>Activity 4: Puzzles</vt:lpstr>
      <vt:lpstr>Activity 5: Meditation</vt:lpstr>
      <vt:lpstr>Physical dimension of health:          (Pg. 8)</vt:lpstr>
      <vt:lpstr>Social dimension of health:           (Pg. 8)</vt:lpstr>
      <vt:lpstr>Emotional dimension of health:         (Pg. 8)</vt:lpstr>
      <vt:lpstr>Mental dimension of health:           (Pg. 8)</vt:lpstr>
      <vt:lpstr>Spiritual dimension of health:          (Pg. 8)</vt:lpstr>
      <vt:lpstr>Reflection:                  (PG.8) </vt:lpstr>
      <vt:lpstr>IMPACTS On Health</vt:lpstr>
      <vt:lpstr>Today’s Focus</vt:lpstr>
      <vt:lpstr>HOOK: Dimensions of Health Review</vt:lpstr>
      <vt:lpstr>Obesity in Australia - Adolescents in review:</vt:lpstr>
      <vt:lpstr>Obesity in Australia - Adults in review:</vt:lpstr>
      <vt:lpstr>PowerPoint Presentation</vt:lpstr>
      <vt:lpstr>Risk factors:                 (Pg. 9)</vt:lpstr>
      <vt:lpstr>GLOSSARY:         (Pg. 6)</vt:lpstr>
      <vt:lpstr>Activity 1:  risk factors for OBESITY  (Pg. 9)  Risk factors = a factor that increases the risk of developing something.  What increases the risk of a person becoming overweight or obese?   In your books, brainstorm a list of factors that can contribute to obesity:</vt:lpstr>
      <vt:lpstr>Activity 2:  Causes of risk factors  (Pg. 9)   You have considered what the risk factors of obesity are.  Now brainstorm the causes of those risk factors.   In your books, brainstorm causes for those risk factors.   Why do they exist? Why are they a problem?  An example has been completed for you. </vt:lpstr>
      <vt:lpstr>PowerPoint Presentation</vt:lpstr>
      <vt:lpstr>GLOSSARY:         (Pg. 6)</vt:lpstr>
      <vt:lpstr>Determinants of health:</vt:lpstr>
      <vt:lpstr>Determinants of Health:             (Pg. 10)</vt:lpstr>
      <vt:lpstr>Socioeconomic impacts on health</vt:lpstr>
      <vt:lpstr>Environmental impacts on health</vt:lpstr>
      <vt:lpstr>Neighbourhood impacts on health</vt:lpstr>
      <vt:lpstr>PowerPoint Presentation</vt:lpstr>
      <vt:lpstr>PowerPoint Presentation</vt:lpstr>
      <vt:lpstr>Identify the Determinants of Health impacting Obesity: (Pg. 11)</vt:lpstr>
      <vt:lpstr>Identify the Determinants of Health impacting Obesity:   (Pg. 11)</vt:lpstr>
      <vt:lpstr>Reflection:                 (PG.11)</vt:lpstr>
      <vt:lpstr>IMPACTS On Health</vt:lpstr>
      <vt:lpstr>Today’s Focus</vt:lpstr>
      <vt:lpstr>Hook/review:   (PG.12)</vt:lpstr>
      <vt:lpstr>A story about determinants:  (PG.13) </vt:lpstr>
      <vt:lpstr>A story about determinants:  (PG.13) </vt:lpstr>
      <vt:lpstr>Activity 1: Turn Jason’s Life Around        (PG.13) </vt:lpstr>
      <vt:lpstr>Activity 2a:  Metropolitan vs. Rural &amp; Remote Health Outcomes   (PG.14) </vt:lpstr>
      <vt:lpstr>Activity 2b:  Metropolitan vs. Rural &amp; Remote Health Outcomes</vt:lpstr>
      <vt:lpstr>Activity 2b:  Metropolitan vs. Rural &amp; Remote Health Outcomes  (PG.15) </vt:lpstr>
      <vt:lpstr>Activity 2b:  Metropolitan vs. Rural &amp; Remote Health Outcomes  (PG.15) </vt:lpstr>
      <vt:lpstr>Activity 3: ‘In my blood it runs’          (PG.16) </vt:lpstr>
      <vt:lpstr>EXIT TICKET:</vt:lpstr>
      <vt:lpstr>IMPACTS On Health</vt:lpstr>
      <vt:lpstr>Today’s Focus</vt:lpstr>
      <vt:lpstr>POST IT SLAM! </vt:lpstr>
      <vt:lpstr>ACTIVITY 1: Media and impacts on health               (PG.17) </vt:lpstr>
      <vt:lpstr>What is health promotion?           (PG.18) </vt:lpstr>
      <vt:lpstr>GLOSSARY:         (Pg. 6)</vt:lpstr>
      <vt:lpstr>Activity 2:  Existing Health Promotion campaigns       (PG.18) </vt:lpstr>
      <vt:lpstr>Activity 3: Campaign analysis (PG.19-20) </vt:lpstr>
      <vt:lpstr>PowerPoint Presentation</vt:lpstr>
      <vt:lpstr>PowerPoint Presentation</vt:lpstr>
      <vt:lpstr>PowerPoint Presentation</vt:lpstr>
      <vt:lpstr>PowerPoint Presentation</vt:lpstr>
      <vt:lpstr>PowerPoint Presentation</vt:lpstr>
      <vt:lpstr>Tie it all together</vt:lpstr>
      <vt:lpstr>Assessment Task 4: Impacts on health</vt:lpstr>
      <vt:lpstr>NEXT WEEK:</vt:lpstr>
      <vt:lpstr>EXIT TICKET:                  (PG.23) </vt:lpstr>
      <vt:lpstr>IMPACTS On Health</vt:lpstr>
      <vt:lpstr>Today’s Focus</vt:lpstr>
      <vt:lpstr>R U OK? Day   (PG.21-22) </vt:lpstr>
      <vt:lpstr>The man behind ‘R U OK? Day’</vt:lpstr>
      <vt:lpstr>PowerPoint Presentation</vt:lpstr>
      <vt:lpstr>A closer look at the campaign…        (PG.21-22) </vt:lpstr>
      <vt:lpstr>PowerPoint Presentation</vt:lpstr>
      <vt:lpstr>PowerPoint Presentation</vt:lpstr>
      <vt:lpstr>PowerPoint Presentation</vt:lpstr>
      <vt:lpstr>Assessment Task 4: Impacts on health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IMPACTS On Health</dc:title>
  <dc:creator>HILLMAN Alissa [Willetton Senior High School]</dc:creator>
  <cp:lastModifiedBy>HILLMAN Alissa [Willetton Senior High School]</cp:lastModifiedBy>
  <cp:revision>16</cp:revision>
  <dcterms:created xsi:type="dcterms:W3CDTF">2024-04-20T03:58:52Z</dcterms:created>
  <dcterms:modified xsi:type="dcterms:W3CDTF">2024-04-28T06:41:18Z</dcterms:modified>
</cp:coreProperties>
</file>
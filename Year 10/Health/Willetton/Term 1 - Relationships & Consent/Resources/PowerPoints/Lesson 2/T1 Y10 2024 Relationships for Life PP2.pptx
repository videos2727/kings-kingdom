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533" r:id="rId2"/>
    <p:sldId id="541" r:id="rId3"/>
    <p:sldId id="537" r:id="rId4"/>
    <p:sldId id="406" r:id="rId5"/>
    <p:sldId id="538" r:id="rId6"/>
    <p:sldId id="310" r:id="rId7"/>
    <p:sldId id="311" r:id="rId8"/>
    <p:sldId id="312" r:id="rId9"/>
    <p:sldId id="313" r:id="rId10"/>
    <p:sldId id="314" r:id="rId11"/>
    <p:sldId id="540" r:id="rId12"/>
    <p:sldId id="544" r:id="rId13"/>
    <p:sldId id="545" r:id="rId14"/>
    <p:sldId id="543" r:id="rId15"/>
    <p:sldId id="54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59C"/>
    <a:srgbClr val="EE6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059800-54A3-A94B-89F8-74BCD7FBF4D8}" v="107" dt="2023-11-06T14:43:09.641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35" autoAdjust="0"/>
    <p:restoredTop sz="80514" autoAdjust="0"/>
  </p:normalViewPr>
  <p:slideViewPr>
    <p:cSldViewPr snapToGrid="0" snapToObjects="1">
      <p:cViewPr varScale="1">
        <p:scale>
          <a:sx n="88" d="100"/>
          <a:sy n="88" d="100"/>
        </p:scale>
        <p:origin x="648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1D8AB0-823E-BC43-B6E2-654A40F2AE32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A5B9A-3C2C-634F-8582-DEDD16CFA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84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wall.net/resource/52336873/rights-and-responsibilities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Optional</a:t>
            </a:r>
            <a:r>
              <a:rPr lang="en-US" dirty="0"/>
              <a:t> hook activity.</a:t>
            </a:r>
          </a:p>
          <a:p>
            <a:endParaRPr lang="en-US" dirty="0"/>
          </a:p>
          <a:p>
            <a:r>
              <a:rPr lang="en-US" dirty="0"/>
              <a:t>Resources – relationship cards pack.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There are two sets of cards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set 1 = romantic relationships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set 2 = any kind of relationship.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Either set can be used – can be reused later if wanted. </a:t>
            </a:r>
          </a:p>
          <a:p>
            <a:endParaRPr lang="en-US" dirty="0"/>
          </a:p>
          <a:p>
            <a:r>
              <a:rPr lang="en-US" dirty="0"/>
              <a:t>Place the 3 headings on the board or on the floor: healthy, unhealthy, unsure.</a:t>
            </a:r>
          </a:p>
          <a:p>
            <a:r>
              <a:rPr lang="en-US" dirty="0"/>
              <a:t>Complete the activity as outlined in the slide. </a:t>
            </a:r>
          </a:p>
          <a:p>
            <a:r>
              <a:rPr lang="en-US" dirty="0"/>
              <a:t>Conclude with discussion below:</a:t>
            </a:r>
          </a:p>
          <a:p>
            <a:r>
              <a:rPr lang="en-US" dirty="0"/>
              <a:t>Discussion: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Firstly, discuss what is in the ‘unsure’ pile first as clearly students are unsure if those behaviours are healthy or not. Pull out a few and unpack which pile they should/could go to and why.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Secondly, discuss the unhealthy pile and pull out any talking points that you wish to </a:t>
            </a:r>
            <a:r>
              <a:rPr lang="en-US" dirty="0" err="1"/>
              <a:t>emphasise</a:t>
            </a:r>
            <a:r>
              <a:rPr lang="en-US" dirty="0"/>
              <a:t>. Can talk about consent here.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Thirdly, finish with discussions about what is in the healthy pile.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Conclude with the following statement – “I believe you are all entitled to having relationships that have these healthy behaviours and qualities, and have the capacity to work towards such behaviours”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Alternative: Continuum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Each student gets a card and together, the class places themselves in order of healthy characteristics to unhealthy characteristics, creating a continuum.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Ask each student to read out their paper and allow opportunities for discussion, the ability to move or ask questions about behaviours.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01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characteristics shown above. </a:t>
            </a:r>
          </a:p>
          <a:p>
            <a:endParaRPr lang="en-US" dirty="0"/>
          </a:p>
          <a:p>
            <a:r>
              <a:rPr lang="en-US" dirty="0"/>
              <a:t>This image can be found in their books.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50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Optional</a:t>
            </a:r>
            <a:r>
              <a:rPr lang="en-US" dirty="0"/>
              <a:t> Discussion:</a:t>
            </a:r>
          </a:p>
          <a:p>
            <a:r>
              <a:rPr lang="en-US" dirty="0"/>
              <a:t>Discuss the characteristics shown above. </a:t>
            </a:r>
          </a:p>
          <a:p>
            <a:endParaRPr lang="en-US" dirty="0"/>
          </a:p>
          <a:p>
            <a:r>
              <a:rPr lang="en-US" dirty="0"/>
              <a:t>This image can be found in their books. </a:t>
            </a: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846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Relevant to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BF389-55DC-F148-B335-C7E72E404CF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281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Relevant to test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433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Relevant to test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304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Relevant to test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692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Relevant to test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4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Relevant to test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Anything unfinished can be homework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555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Relevant to test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573D7-E80C-4709-9B31-9CF3A42190EB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8378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Relevant to test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141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b="0" i="0" dirty="0">
                <a:effectLst/>
                <a:latin typeface="Calibri" panose="020F0502020204030204" pitchFamily="34" charset="0"/>
                <a:hlinkClick r:id="rId3" tooltip="Original URL: https://wordwall.net/resource/52336873/rights-and-responsibilities. Click or tap if you trust this link."/>
              </a:rPr>
              <a:t>https://wordwall.net/resource/52336873/rights-and-responsibilities</a:t>
            </a:r>
            <a:endParaRPr lang="en-AU" b="0" i="0" dirty="0">
              <a:effectLst/>
              <a:latin typeface="Calibri" panose="020F0502020204030204" pitchFamily="34" charset="0"/>
            </a:endParaRPr>
          </a:p>
          <a:p>
            <a:r>
              <a:rPr lang="en-AU" b="1" dirty="0"/>
              <a:t>Optional</a:t>
            </a:r>
            <a:r>
              <a:rPr lang="en-AU" dirty="0"/>
              <a:t> activity – a good way to show examples of rights and responsibilities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098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Alternative – homework activity.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Relevant to test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228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9AA1A-D8B1-B642-B5FA-034749F00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48208-7E1A-2842-9604-D48C8115B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D32A0-8103-2F47-908B-7AC7ADBC4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2523C-BF98-5C47-949E-8CDF6A7D9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FB279-DBA7-D543-9D04-0ECEA4E43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31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80EA1-A710-F147-9824-FB42D2C9D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99643-CDF0-E34C-B40B-9434A83A5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F9938-6456-8F4B-9B08-7488A5CFF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4C054-08B0-5B44-9711-9BB0C76B3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AAB5F-5A0F-AA4F-8FD6-F2EE01931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073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0EFE-F65D-6F4C-8C4C-DC15EF29C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FE3DD-78E9-D249-943F-5E4AEEE50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B39EF-E1B2-B64F-AAD4-20D3914D3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99ED9-2095-0A41-AB8D-90D47260E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8ADEF-2CEE-B841-96FC-F8D9104E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848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E1E26-37BA-E549-BD51-98C7135C0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D16B1-A7DE-884E-95DC-E8EC2F2F2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E544C-6FF8-9E4D-BAE4-1A2FC7E52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11BE4-852C-3746-9893-BA9B2652F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8825C-06C9-A148-A71C-379F8483F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F2281-33C0-3849-B726-A8E450A4C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37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06A-1FC2-9344-B2F0-D934AA48A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FE8CD-C22E-5647-B94D-33B7F3186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C789A-EFDA-564A-98F3-5BD3F16EDC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9AC524-F52B-A344-87EF-A1FEF99F9D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1ABD3-34ED-A644-A137-CEDDB1CD31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D7F7FB-B51D-8C49-B148-318DED999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5E6BCA-80FE-854D-A627-CB445E9F1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BB53A1-E6B2-1D46-9449-75F09ADD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69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54BC2-E1E3-4A47-8E88-D0FAAF02E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FE690-8409-C742-8F18-F5AE6D23D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EF96A-3236-3845-9EA2-6CD6A1E72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07D1B-E98B-4F40-9B4D-517191D63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02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270B5-9A5A-694A-B974-09018805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8DD51E-F58F-B046-A91A-D16B3D916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2B5AE-A52D-A649-BD4D-793CC9E99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98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227A4-AAA9-B64A-83F5-4DD4CBE5C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1413B-299C-724C-BAD9-DEA48B1EC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F122A-EECE-BE40-AE9F-E05D37648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62703-E69F-E747-97CA-DD322AAD1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8D0EC-2AAA-D248-B725-13A0BA305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E50A9-9718-AF49-A12A-099EEB540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0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30E7E-3AAD-8640-8E0A-9FCACF793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C49A7A-C6D8-4D49-821A-67652640A0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0C745-8D8F-F841-AA14-AFA13EFB6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06B88-47F5-5848-A203-CCB8D6050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27A69-2FC3-C347-BEA2-747DA72D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0AA35-18F3-A74C-9C84-999E18D5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592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4BE7B-E8E3-C544-9C83-408A67C97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9654D-3051-1343-8CAA-1F241AD08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3C3A0-CADC-6344-8A5D-0765713FC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C358-F5F0-BE49-8F7F-9101BC176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B55-F420-0C4A-B017-46666B4E8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256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3FB6C5-D359-6143-9E99-2EB8B86CBF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CD439-AC10-3F49-A649-8741A63D4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84498-23F1-FB47-AEA2-BB246838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59AE7-6904-2D45-9FAB-ED6CA66A5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6B0AF-B5D8-D041-8BB1-0FEEC92A1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81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6B43D-F0C7-FF42-BDE7-EA5B8850B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F1A2C-2AC7-4847-8D14-9896AD45D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E72F5-7135-7942-B0F0-FD85E11195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21C71-EAA6-0E40-ABD1-5AA76963D0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FDDCD-3762-3A43-A576-339DC3E37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55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wall.net/resource/52336873/rights-and-responsibilitie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w to build closer relationships |">
            <a:extLst>
              <a:ext uri="{FF2B5EF4-FFF2-40B4-BE49-F238E27FC236}">
                <a16:creationId xmlns:a16="http://schemas.microsoft.com/office/drawing/2014/main" id="{993A6699-BC9B-511F-3E60-ABF0D8FB83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6" b="4734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BD0C3AA-FE2A-B1FA-AAE1-86525DFA0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pPr algn="l"/>
            <a:r>
              <a:rPr lang="en-AU" sz="11500" i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Relationships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1600534-E8EC-062C-BAE6-7252BE062A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>
            <a:normAutofit/>
          </a:bodyPr>
          <a:lstStyle/>
          <a:p>
            <a:pPr algn="l"/>
            <a:r>
              <a:rPr lang="en-AU" sz="2000" dirty="0"/>
              <a:t>Year 10 Health 2024</a:t>
            </a:r>
          </a:p>
          <a:p>
            <a:pPr algn="l"/>
            <a:endParaRPr lang="en-AU" sz="2000" dirty="0"/>
          </a:p>
          <a:p>
            <a:pPr algn="l"/>
            <a:r>
              <a:rPr lang="en-AU" sz="2000" dirty="0"/>
              <a:t>Lesson 2</a:t>
            </a:r>
          </a:p>
        </p:txBody>
      </p:sp>
    </p:spTree>
    <p:extLst>
      <p:ext uri="{BB962C8B-B14F-4D97-AF65-F5344CB8AC3E}">
        <p14:creationId xmlns:p14="http://schemas.microsoft.com/office/powerpoint/2010/main" val="17063650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64840D-1C6F-CE4F-9326-77D4E899D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en-US" sz="4300" b="1" dirty="0"/>
              <a:t>Todays Focus: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bout a Relationship | Humans">
            <a:extLst>
              <a:ext uri="{FF2B5EF4-FFF2-40B4-BE49-F238E27FC236}">
                <a16:creationId xmlns:a16="http://schemas.microsoft.com/office/drawing/2014/main" id="{96FABFFB-E460-7943-9DB7-118103F51A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75" r="13374" b="-2"/>
          <a:stretch/>
        </p:blipFill>
        <p:spPr bwMode="auto"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7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1F4BF-2934-5D4F-827E-B5276B218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2990818"/>
            <a:ext cx="4928445" cy="2913872"/>
          </a:xfrm>
        </p:spPr>
        <p:txBody>
          <a:bodyPr anchor="t">
            <a:normAutofit fontScale="92500" lnSpcReduction="20000"/>
          </a:bodyPr>
          <a:lstStyle/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Identify healthy and unhealthy relationship behaviours from a list of scenarios.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Define each aspect of the Love, Sex and Relationships Ethical Framework.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Evaluate different relationship scenarios to identify what is healthy, unhealthy, or needs improvement. 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Define and give examples of rights and responsibilities in relationships.</a:t>
            </a:r>
          </a:p>
        </p:txBody>
      </p:sp>
      <p:sp>
        <p:nvSpPr>
          <p:cNvPr id="79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81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383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0FDDE3-3526-6743-19AB-4A27D1D78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" y="635655"/>
            <a:ext cx="4012523" cy="4480726"/>
          </a:xfrm>
        </p:spPr>
        <p:txBody>
          <a:bodyPr>
            <a:normAutofit/>
          </a:bodyPr>
          <a:lstStyle/>
          <a:p>
            <a:pPr algn="ctr"/>
            <a:r>
              <a:rPr lang="en-US" sz="4600" dirty="0"/>
              <a:t>Activity 1: </a:t>
            </a:r>
            <a:br>
              <a:rPr lang="en-US" sz="4600" dirty="0"/>
            </a:br>
            <a:br>
              <a:rPr lang="en-US" sz="4600" dirty="0"/>
            </a:br>
            <a:r>
              <a:rPr lang="en-US" sz="4600" dirty="0"/>
              <a:t>Healthy or Unhealthy behaviours?</a:t>
            </a:r>
            <a:endParaRPr lang="en-AU" sz="4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176BD-8E78-D3DE-07E3-35197F015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623275"/>
            <a:ext cx="6843943" cy="5607882"/>
          </a:xfrm>
        </p:spPr>
        <p:txBody>
          <a:bodyPr anchor="ctr">
            <a:normAutofit/>
          </a:bodyPr>
          <a:lstStyle/>
          <a:p>
            <a:r>
              <a:rPr lang="en-US" sz="2000" dirty="0"/>
              <a:t>Each student will receive a card with a relationship scenario on it. </a:t>
            </a:r>
          </a:p>
          <a:p>
            <a:endParaRPr lang="en-US" sz="2000" dirty="0"/>
          </a:p>
          <a:p>
            <a:r>
              <a:rPr lang="en-US" sz="2000" dirty="0"/>
              <a:t>You have one minute to place it the section you feel it best fits.</a:t>
            </a:r>
          </a:p>
          <a:p>
            <a:pPr lvl="1"/>
            <a:r>
              <a:rPr lang="en-US" sz="1800" dirty="0"/>
              <a:t>Healthy</a:t>
            </a:r>
          </a:p>
          <a:p>
            <a:pPr lvl="1"/>
            <a:r>
              <a:rPr lang="en-US" sz="1800" dirty="0"/>
              <a:t>Unsure</a:t>
            </a:r>
          </a:p>
          <a:p>
            <a:pPr lvl="1"/>
            <a:r>
              <a:rPr lang="en-US" sz="1800" dirty="0"/>
              <a:t>Unhealthy</a:t>
            </a:r>
          </a:p>
          <a:p>
            <a:pPr lvl="1"/>
            <a:endParaRPr lang="en-US" sz="1800" dirty="0"/>
          </a:p>
          <a:p>
            <a:r>
              <a:rPr lang="en-US" sz="2000" dirty="0"/>
              <a:t>You will now have 3 minutes to look at the ‘Healthy’ and ‘Unhealthy’ piles and move any of them to the </a:t>
            </a:r>
            <a:br>
              <a:rPr lang="en-US" sz="2000" dirty="0"/>
            </a:br>
            <a:r>
              <a:rPr lang="en-US" sz="2000" dirty="0"/>
              <a:t>‘Unsure’ pile if you think it doesn’t belong. </a:t>
            </a:r>
          </a:p>
          <a:p>
            <a:pPr lvl="1"/>
            <a:r>
              <a:rPr lang="en-US" sz="1800" dirty="0"/>
              <a:t>Leave the ‘unsure’ pile as it is.</a:t>
            </a:r>
          </a:p>
          <a:p>
            <a:pPr lvl="1"/>
            <a:r>
              <a:rPr lang="en-US" sz="1800" dirty="0"/>
              <a:t>Only move from healthy/unhealthy into </a:t>
            </a:r>
            <a:br>
              <a:rPr lang="en-US" sz="1800" dirty="0"/>
            </a:br>
            <a:r>
              <a:rPr lang="en-US" sz="1800" dirty="0"/>
              <a:t>the unsure pile.</a:t>
            </a:r>
          </a:p>
        </p:txBody>
      </p:sp>
      <p:pic>
        <p:nvPicPr>
          <p:cNvPr id="4" name="Graphic 3" descr="Heart">
            <a:extLst>
              <a:ext uri="{FF2B5EF4-FFF2-40B4-BE49-F238E27FC236}">
                <a16:creationId xmlns:a16="http://schemas.microsoft.com/office/drawing/2014/main" id="{E68F45D6-F4ED-D932-F8B6-AF98B645C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6489" y="4441503"/>
            <a:ext cx="2094764" cy="2094764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8369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5F294-6315-7D4B-B15F-A2384F201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Healthy and Unhealthy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61510-DCAF-F647-95BA-CCA1F2D8B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 descr="Relationship spectrum - love is respect">
            <a:extLst>
              <a:ext uri="{FF2B5EF4-FFF2-40B4-BE49-F238E27FC236}">
                <a16:creationId xmlns:a16="http://schemas.microsoft.com/office/drawing/2014/main" id="{7E03449E-0240-0543-9201-507E408CC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428625"/>
            <a:ext cx="11899673" cy="6004067"/>
          </a:xfrm>
          <a:prstGeom prst="rect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869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heart shaped diagram with pictograms of people&#10;&#10;Description automatically generated">
            <a:extLst>
              <a:ext uri="{FF2B5EF4-FFF2-40B4-BE49-F238E27FC236}">
                <a16:creationId xmlns:a16="http://schemas.microsoft.com/office/drawing/2014/main" id="{6E21FD6B-0271-1639-D0C1-22D670AF4D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" r="873"/>
          <a:stretch/>
        </p:blipFill>
        <p:spPr>
          <a:xfrm>
            <a:off x="2266014" y="70486"/>
            <a:ext cx="7683204" cy="6737399"/>
          </a:xfrm>
          <a:prstGeom prst="rect">
            <a:avLst/>
          </a:prstGeom>
          <a:solidFill>
            <a:srgbClr val="FFFFFF">
              <a:shade val="85000"/>
            </a:srgbClr>
          </a:solidFill>
          <a:ln>
            <a:noFill/>
          </a:ln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09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DD2B92-FF51-4A4B-9862-EB1669E25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132" y="386930"/>
            <a:ext cx="11276568" cy="1300554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Activity 2: </a:t>
            </a:r>
            <a:r>
              <a:rPr lang="en-AU" sz="4400" dirty="0"/>
              <a:t> (pg.14)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Love, Sex and Relationships Ethical Framework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rawing of hands holding a heart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30" y="2524715"/>
            <a:ext cx="5088006" cy="371424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306BC-B55F-C841-92FC-CDC2B6266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There are several elements that must be in place for any relationship decision to be ethical, fair, safe and compassionate for all parties involved.</a:t>
            </a:r>
          </a:p>
          <a:p>
            <a:endParaRPr lang="en-US" sz="2000" dirty="0"/>
          </a:p>
          <a:p>
            <a:r>
              <a:rPr lang="en-US" sz="2000" dirty="0"/>
              <a:t>Use the information on the following slides to complete the Framework diagram in your books.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448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922E7F-298D-1547-9900-AE65336AF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US" sz="4800"/>
              <a:t>1. Taking Care of Me</a:t>
            </a: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Snoopy - Thanks for always taking care of me. | Facebook">
            <a:extLst>
              <a:ext uri="{FF2B5EF4-FFF2-40B4-BE49-F238E27FC236}">
                <a16:creationId xmlns:a16="http://schemas.microsoft.com/office/drawing/2014/main" id="{78567E85-82A6-4175-93CD-61727F9E4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53311" y="2524715"/>
            <a:ext cx="3714244" cy="371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C5869-7CB6-AC4E-B2BE-005C427AC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This means asking:</a:t>
            </a:r>
          </a:p>
          <a:p>
            <a:pPr lvl="1"/>
            <a:r>
              <a:rPr lang="en-US" sz="2000" dirty="0"/>
              <a:t>Is this what I really want to do?</a:t>
            </a:r>
          </a:p>
          <a:p>
            <a:pPr lvl="1"/>
            <a:r>
              <a:rPr lang="en-US" sz="2000" dirty="0"/>
              <a:t>Am I safe emotionally and physically?</a:t>
            </a:r>
          </a:p>
          <a:p>
            <a:pPr lvl="1"/>
            <a:r>
              <a:rPr lang="en-US" sz="2000" dirty="0"/>
              <a:t>Is the other person treating me with respect and concern?</a:t>
            </a:r>
            <a:br>
              <a:rPr lang="en-US" sz="2000" dirty="0"/>
            </a:br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96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9D80C9EF-3CC6-4ECC-9C2D-9D0396C96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DDCDFA-23E1-4E47-8E2C-387376EBD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US" sz="4800"/>
              <a:t>2. Taking Care of You</a:t>
            </a:r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Take Good Care of Yourself!">
            <a:extLst>
              <a:ext uri="{FF2B5EF4-FFF2-40B4-BE49-F238E27FC236}">
                <a16:creationId xmlns:a16="http://schemas.microsoft.com/office/drawing/2014/main" id="{48425D64-9B7C-4C72-B377-8413F131D4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" r="-1" b="7708"/>
          <a:stretch/>
        </p:blipFill>
        <p:spPr bwMode="auto">
          <a:xfrm>
            <a:off x="635295" y="2524715"/>
            <a:ext cx="5150277" cy="371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60D8A-8F24-6D4D-AEFC-FC300FA6C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This means asking:</a:t>
            </a:r>
          </a:p>
          <a:p>
            <a:pPr lvl="1"/>
            <a:r>
              <a:rPr lang="en-US" sz="2000" dirty="0"/>
              <a:t>How does what I want effect the other person?</a:t>
            </a:r>
          </a:p>
          <a:p>
            <a:pPr lvl="1"/>
            <a:r>
              <a:rPr lang="en-US" sz="2000" dirty="0"/>
              <a:t>How do I know?</a:t>
            </a:r>
          </a:p>
          <a:p>
            <a:pPr lvl="1"/>
            <a:r>
              <a:rPr lang="en-US" sz="2000" dirty="0"/>
              <a:t>I’ve got to check if they are OK with the decision.</a:t>
            </a:r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84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9D80C9EF-3CC6-4ECC-9C2D-9D0396C96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8C161-8783-2947-A7AD-C953B1659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US" sz="4800"/>
              <a:t>3. Having an Equal Say</a:t>
            </a:r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Healthy Relationships | Title IX | CSUSM">
            <a:extLst>
              <a:ext uri="{FF2B5EF4-FFF2-40B4-BE49-F238E27FC236}">
                <a16:creationId xmlns:a16="http://schemas.microsoft.com/office/drawing/2014/main" id="{27EE2A56-DC60-4FFB-BFA6-F1C98C9B50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71" r="2" b="15151"/>
          <a:stretch/>
        </p:blipFill>
        <p:spPr bwMode="auto">
          <a:xfrm>
            <a:off x="635295" y="2524715"/>
            <a:ext cx="5150277" cy="371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CF472-88C1-F647-8A1D-C99CA51DD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This means asking:</a:t>
            </a:r>
          </a:p>
          <a:p>
            <a:pPr lvl="1"/>
            <a:r>
              <a:rPr lang="en-US" sz="2000"/>
              <a:t>Do we have equal power, or is one person getting their way most of the time?</a:t>
            </a:r>
          </a:p>
          <a:p>
            <a:pPr lvl="1"/>
            <a:r>
              <a:rPr lang="en-US" sz="2000"/>
              <a:t>When it comes to sex, a person owns their body and has the right to control who has pleasure from it.</a:t>
            </a:r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372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5" name="Rectangle 5134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6A8117-7DC4-9441-B28C-6E18BD16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US" sz="4800" dirty="0"/>
              <a:t>4. Learning as We Go</a:t>
            </a:r>
          </a:p>
        </p:txBody>
      </p:sp>
      <p:sp>
        <p:nvSpPr>
          <p:cNvPr id="5136" name="Rectangle 5135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7" name="Rectangle 513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Years 9 &amp; 10 — The Practical Guide to Love, Sex and Relationships">
            <a:extLst>
              <a:ext uri="{FF2B5EF4-FFF2-40B4-BE49-F238E27FC236}">
                <a16:creationId xmlns:a16="http://schemas.microsoft.com/office/drawing/2014/main" id="{58425355-4293-4863-AF8E-4012E35AC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295" y="3017013"/>
            <a:ext cx="5150277" cy="2729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DD586-DD4B-9543-8DDC-295F13A43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Few of us are born knowing how to ‘do’ relationships. We can learn and learn from our mistakes.</a:t>
            </a:r>
          </a:p>
          <a:p>
            <a:pPr lvl="1"/>
            <a:r>
              <a:rPr lang="en-US" sz="2000" dirty="0"/>
              <a:t>What would have made the situation better?</a:t>
            </a:r>
          </a:p>
          <a:p>
            <a:pPr lvl="1"/>
            <a:r>
              <a:rPr lang="en-US" sz="2000" dirty="0"/>
              <a:t>What am I doing?</a:t>
            </a:r>
          </a:p>
          <a:p>
            <a:pPr lvl="1"/>
            <a:r>
              <a:rPr lang="en-US" sz="2000" dirty="0"/>
              <a:t>What am I not doing?</a:t>
            </a:r>
          </a:p>
          <a:p>
            <a:pPr lvl="1"/>
            <a:r>
              <a:rPr lang="en-US" sz="2000" dirty="0"/>
              <a:t>What can I learn from this?</a:t>
            </a:r>
          </a:p>
        </p:txBody>
      </p:sp>
      <p:sp>
        <p:nvSpPr>
          <p:cNvPr id="5138" name="Rectangle 5137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437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2A6CE-CD36-6F43-80F3-1385EF70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1725111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Activity 3:</a:t>
            </a:r>
            <a:br>
              <a:rPr lang="en-US" sz="4000" dirty="0">
                <a:solidFill>
                  <a:srgbClr val="FFFFFF"/>
                </a:solidFill>
              </a:rPr>
            </a:b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Relationship Scenarios </a:t>
            </a:r>
            <a:br>
              <a:rPr lang="en-US" sz="4000" dirty="0">
                <a:solidFill>
                  <a:srgbClr val="FFFFFF"/>
                </a:solidFill>
              </a:rPr>
            </a:br>
            <a:br>
              <a:rPr lang="en-US" sz="4000" dirty="0">
                <a:solidFill>
                  <a:srgbClr val="FFFFFF"/>
                </a:solidFill>
              </a:rPr>
            </a:br>
            <a:r>
              <a:rPr lang="en-AU" sz="4000" dirty="0">
                <a:solidFill>
                  <a:srgbClr val="FFFFFF"/>
                </a:solidFill>
              </a:rPr>
              <a:t> (pg.15-16)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endParaRPr lang="en-AU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4EAB6-C87E-3E57-F8E3-5E47A1952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928741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It is now time for you to evaluate </a:t>
            </a:r>
            <a:br>
              <a:rPr lang="en-US" sz="2400" dirty="0"/>
            </a:br>
            <a:r>
              <a:rPr lang="en-US" sz="2400" dirty="0"/>
              <a:t>different scenarios and consider if </a:t>
            </a:r>
            <a:br>
              <a:rPr lang="en-US" sz="2400" dirty="0"/>
            </a:br>
            <a:r>
              <a:rPr lang="en-US" sz="2400" dirty="0"/>
              <a:t>the Love, Sex, and Relationships </a:t>
            </a:r>
            <a:br>
              <a:rPr lang="en-US" sz="2400" dirty="0"/>
            </a:br>
            <a:r>
              <a:rPr lang="en-US" sz="2400" dirty="0"/>
              <a:t>Framework is being met. </a:t>
            </a:r>
          </a:p>
          <a:p>
            <a:endParaRPr lang="en-US" sz="2400" dirty="0"/>
          </a:p>
          <a:p>
            <a:r>
              <a:rPr lang="en-US" sz="2400" dirty="0"/>
              <a:t>Read each of the scenarios in your books and answer the following questions: </a:t>
            </a:r>
          </a:p>
          <a:p>
            <a:pPr lvl="1"/>
            <a:r>
              <a:rPr lang="en-AU" dirty="0"/>
              <a:t>What healthy relationship qualities are evident? (If any)</a:t>
            </a:r>
          </a:p>
          <a:p>
            <a:pPr lvl="1"/>
            <a:r>
              <a:rPr lang="en-AU" dirty="0"/>
              <a:t>What unhealthy relationship qualities are evident? (If any)</a:t>
            </a:r>
          </a:p>
          <a:p>
            <a:pPr lvl="1"/>
            <a:r>
              <a:rPr lang="en-AU" dirty="0"/>
              <a:t>What aspects of the framework are being met?</a:t>
            </a:r>
          </a:p>
          <a:p>
            <a:pPr lvl="1"/>
            <a:endParaRPr lang="en-AU" sz="2000" dirty="0"/>
          </a:p>
          <a:p>
            <a:r>
              <a:rPr lang="en-AU" sz="2400" dirty="0"/>
              <a:t>You have </a:t>
            </a:r>
            <a:r>
              <a:rPr lang="en-AU" sz="2400"/>
              <a:t>10 minutes.</a:t>
            </a:r>
            <a:endParaRPr lang="en-AU" sz="2400" dirty="0"/>
          </a:p>
        </p:txBody>
      </p:sp>
      <p:pic>
        <p:nvPicPr>
          <p:cNvPr id="4" name="Picture 3" descr="Years 9 &amp; 10 — The Practical Guide to Love, Sex and Relationships">
            <a:extLst>
              <a:ext uri="{FF2B5EF4-FFF2-40B4-BE49-F238E27FC236}">
                <a16:creationId xmlns:a16="http://schemas.microsoft.com/office/drawing/2014/main" id="{58425355-4293-4863-AF8E-4012E35AC86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0" t="36392" r="27437"/>
          <a:stretch/>
        </p:blipFill>
        <p:spPr bwMode="auto">
          <a:xfrm>
            <a:off x="9593501" y="511388"/>
            <a:ext cx="2332990" cy="173545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51086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-up of stacked books">
            <a:extLst>
              <a:ext uri="{FF2B5EF4-FFF2-40B4-BE49-F238E27FC236}">
                <a16:creationId xmlns:a16="http://schemas.microsoft.com/office/drawing/2014/main" id="{626B949D-C7D2-0DD2-B2C7-8CF0F10B5C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33DA74-51AB-10AF-C7EE-A5136B1C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GLOSSARY: 						</a:t>
            </a:r>
            <a:r>
              <a:rPr lang="en-AU" dirty="0">
                <a:solidFill>
                  <a:srgbClr val="FFFFFF"/>
                </a:solidFill>
              </a:rPr>
              <a:t>(Pg. 7)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B7809-64A7-0A0A-96F5-BB8813134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At the front of your books is your glossary. Turn to your glossary and add the following words and their definitions: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b="1" i="1" dirty="0">
                <a:solidFill>
                  <a:srgbClr val="FFFFFF"/>
                </a:solidFill>
              </a:rPr>
              <a:t>Rights: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Something you are entitled to, what everyone deserves.</a:t>
            </a:r>
          </a:p>
          <a:p>
            <a:pPr lvl="1"/>
            <a:endParaRPr lang="en-US" dirty="0">
              <a:solidFill>
                <a:srgbClr val="FFFFFF"/>
              </a:solidFill>
            </a:endParaRPr>
          </a:p>
          <a:p>
            <a:r>
              <a:rPr lang="en-US" b="1" i="1" dirty="0">
                <a:solidFill>
                  <a:srgbClr val="FFFFFF"/>
                </a:solidFill>
              </a:rPr>
              <a:t>Responsibilities: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Something that you are obliged to do or are accountable for.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6824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48FD60-9037-BED4-E26A-0EEFAF4C3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AU" dirty="0"/>
              <a:t>Rights and Responsibilities in Relationships:</a:t>
            </a:r>
            <a:r>
              <a:rPr lang="en-US" dirty="0"/>
              <a:t> </a:t>
            </a:r>
            <a:r>
              <a:rPr lang="en-AU" sz="4400" dirty="0">
                <a:solidFill>
                  <a:schemeClr val="tx2"/>
                </a:solidFill>
              </a:rPr>
              <a:t> </a:t>
            </a:r>
            <a:r>
              <a:rPr lang="en-AU" sz="4400" dirty="0"/>
              <a:t>(pg.17)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5D15B-34F1-29E6-61B6-2A94B626C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 lnSpcReduction="10000"/>
          </a:bodyPr>
          <a:lstStyle/>
          <a:p>
            <a:r>
              <a:rPr lang="en-US" sz="2000" b="1" dirty="0"/>
              <a:t>Rights</a:t>
            </a:r>
            <a:r>
              <a:rPr lang="en-US" sz="2000" dirty="0"/>
              <a:t> – something you are entitled to, what everyone deserves.</a:t>
            </a:r>
          </a:p>
          <a:p>
            <a:endParaRPr lang="en-US" sz="2000" dirty="0"/>
          </a:p>
          <a:p>
            <a:r>
              <a:rPr lang="en-US" sz="2000" b="1" dirty="0"/>
              <a:t>Responsibilities</a:t>
            </a:r>
            <a:r>
              <a:rPr lang="en-US" sz="2000" dirty="0"/>
              <a:t> – something that you are obliged to do or are accountable for.</a:t>
            </a:r>
          </a:p>
          <a:p>
            <a:endParaRPr lang="en-US" sz="2000" dirty="0"/>
          </a:p>
          <a:p>
            <a:r>
              <a:rPr lang="en-US" sz="2000" dirty="0"/>
              <a:t>Just like human rights, there are basic rights and responsibilities we are entitled to within our relationships.</a:t>
            </a:r>
          </a:p>
          <a:p>
            <a:r>
              <a:rPr lang="en-US" sz="2000" dirty="0"/>
              <a:t>When establishing new relationships, it is important to have a clear idea of your own and the other person’s expectations. </a:t>
            </a:r>
          </a:p>
          <a:p>
            <a:endParaRPr lang="en-US" sz="2000" dirty="0"/>
          </a:p>
          <a:p>
            <a:endParaRPr lang="en-AU" sz="2000" dirty="0"/>
          </a:p>
        </p:txBody>
      </p:sp>
      <p:pic>
        <p:nvPicPr>
          <p:cNvPr id="4" name="Picture 2" descr="Sexual Responsibility - AWAREness Campaigns - Health and Wellness Promotion  - IUP">
            <a:extLst>
              <a:ext uri="{FF2B5EF4-FFF2-40B4-BE49-F238E27FC236}">
                <a16:creationId xmlns:a16="http://schemas.microsoft.com/office/drawing/2014/main" id="{1F3D7C6A-A4F1-EC67-302F-5DBEA1FDE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74174" y="2184914"/>
            <a:ext cx="4278890" cy="3755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770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B77609-23C6-E544-11A8-04EC8CA61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AU"/>
              <a:t>Optional</a:t>
            </a:r>
            <a:br>
              <a:rPr lang="en-AU"/>
            </a:br>
            <a:r>
              <a:rPr lang="en-AU"/>
              <a:t>Activity 4: Rights and Responsibilities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5D5F6-6181-0B84-BFAA-4E56E91E4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19" y="2599509"/>
            <a:ext cx="4827640" cy="3639450"/>
          </a:xfrm>
        </p:spPr>
        <p:txBody>
          <a:bodyPr anchor="ctr">
            <a:normAutofit/>
          </a:bodyPr>
          <a:lstStyle/>
          <a:p>
            <a:r>
              <a:rPr lang="en-AU" sz="2400" dirty="0"/>
              <a:t>Go to the following link and complete the word wall activity. </a:t>
            </a:r>
          </a:p>
          <a:p>
            <a:endParaRPr lang="en-AU" sz="2000" dirty="0"/>
          </a:p>
          <a:p>
            <a:endParaRPr lang="en-AU" sz="2000" dirty="0"/>
          </a:p>
          <a:p>
            <a:r>
              <a:rPr lang="en-AU" sz="2000" b="0" i="0" dirty="0">
                <a:effectLst/>
                <a:latin typeface="Calibri" panose="020F0502020204030204" pitchFamily="34" charset="0"/>
                <a:hlinkClick r:id="rId3" tooltip="Original URL: https://wordwall.net/resource/52336873/rights-and-responsibilities. Click or tap if you trust this link."/>
              </a:rPr>
              <a:t>https://wordwall.net/resource/52336873/rights-and-responsibilities</a:t>
            </a:r>
            <a:endParaRPr lang="en-AU" sz="2000" b="0" i="0" dirty="0">
              <a:effectLst/>
              <a:latin typeface="Calibri" panose="020F0502020204030204" pitchFamily="34" charset="0"/>
            </a:endParaRPr>
          </a:p>
          <a:p>
            <a:endParaRPr lang="en-AU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17AB42-0B6B-1B31-2C48-BEE20DD77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32" y="2822045"/>
            <a:ext cx="5150277" cy="3038663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08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1DFD2F-A9A1-F2DA-D141-3746627BC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AU" sz="3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Personal Reflection:  (pg.17-18)</a:t>
            </a:r>
            <a:r>
              <a:rPr lang="en-US" sz="3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br>
              <a:rPr lang="en-AU" sz="37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AU" sz="3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Rights and responsibilities – do they change?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46C79-EFD5-C010-EC39-106EA6D07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252" y="2325310"/>
            <a:ext cx="8276026" cy="4221068"/>
          </a:xfrm>
        </p:spPr>
        <p:txBody>
          <a:bodyPr anchor="ctr">
            <a:normAutofit fontScale="92500" lnSpcReduction="10000"/>
          </a:bodyPr>
          <a:lstStyle/>
          <a:p>
            <a:r>
              <a:rPr lang="en-AU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Consider the rights and responsibilities for the different relationships </a:t>
            </a:r>
            <a:br>
              <a:rPr lang="en-AU" sz="20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AU" sz="2000">
                <a:solidFill>
                  <a:schemeClr val="tx1">
                    <a:lumMod val="85000"/>
                    <a:lumOff val="15000"/>
                  </a:schemeClr>
                </a:solidFill>
              </a:rPr>
              <a:t>in your life. </a:t>
            </a:r>
          </a:p>
          <a:p>
            <a:endParaRPr lang="en-AU" sz="2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AU" sz="2000">
                <a:solidFill>
                  <a:schemeClr val="tx1">
                    <a:lumMod val="85000"/>
                    <a:lumOff val="15000"/>
                  </a:schemeClr>
                </a:solidFill>
              </a:rPr>
              <a:t>For each relationship, write a list of rights and responsibilities </a:t>
            </a:r>
            <a:br>
              <a:rPr lang="en-AU" sz="20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AU" sz="2000">
                <a:solidFill>
                  <a:schemeClr val="tx1">
                    <a:lumMod val="85000"/>
                    <a:lumOff val="15000"/>
                  </a:schemeClr>
                </a:solidFill>
              </a:rPr>
              <a:t>that </a:t>
            </a:r>
            <a:r>
              <a:rPr lang="en-AU" sz="2000" b="1" u="sng">
                <a:solidFill>
                  <a:schemeClr val="tx1">
                    <a:lumMod val="85000"/>
                    <a:lumOff val="15000"/>
                  </a:schemeClr>
                </a:solidFill>
              </a:rPr>
              <a:t>YOU</a:t>
            </a:r>
            <a:r>
              <a:rPr lang="en-AU" sz="2000">
                <a:solidFill>
                  <a:schemeClr val="tx1">
                    <a:lumMod val="85000"/>
                    <a:lumOff val="15000"/>
                  </a:schemeClr>
                </a:solidFill>
              </a:rPr>
              <a:t> have: </a:t>
            </a:r>
          </a:p>
          <a:p>
            <a:pPr lvl="2"/>
            <a:r>
              <a:rPr lang="en-AU" sz="1600">
                <a:solidFill>
                  <a:schemeClr val="tx1">
                    <a:lumMod val="85000"/>
                    <a:lumOff val="15000"/>
                  </a:schemeClr>
                </a:solidFill>
              </a:rPr>
              <a:t>Parent/Child relationship</a:t>
            </a:r>
          </a:p>
          <a:p>
            <a:pPr lvl="2"/>
            <a:r>
              <a:rPr lang="en-AU" sz="1600">
                <a:solidFill>
                  <a:schemeClr val="tx1">
                    <a:lumMod val="85000"/>
                    <a:lumOff val="15000"/>
                  </a:schemeClr>
                </a:solidFill>
              </a:rPr>
              <a:t>Teacher/Student relationship</a:t>
            </a:r>
          </a:p>
          <a:p>
            <a:pPr lvl="2"/>
            <a:r>
              <a:rPr lang="en-AU" sz="1600">
                <a:solidFill>
                  <a:schemeClr val="tx1">
                    <a:lumMod val="85000"/>
                    <a:lumOff val="15000"/>
                  </a:schemeClr>
                </a:solidFill>
              </a:rPr>
              <a:t>Best Friend relationship</a:t>
            </a:r>
          </a:p>
          <a:p>
            <a:pPr lvl="2"/>
            <a:r>
              <a:rPr lang="en-AU" sz="1600">
                <a:solidFill>
                  <a:schemeClr val="tx1">
                    <a:lumMod val="85000"/>
                    <a:lumOff val="15000"/>
                  </a:schemeClr>
                </a:solidFill>
              </a:rPr>
              <a:t>Sibling relationship</a:t>
            </a:r>
          </a:p>
          <a:p>
            <a:pPr lvl="2"/>
            <a:r>
              <a:rPr lang="en-AU" sz="1600">
                <a:solidFill>
                  <a:schemeClr val="tx1">
                    <a:lumMod val="85000"/>
                    <a:lumOff val="15000"/>
                  </a:schemeClr>
                </a:solidFill>
              </a:rPr>
              <a:t>Romantic/Intimate relationship</a:t>
            </a:r>
          </a:p>
          <a:p>
            <a:endParaRPr lang="en-AU" sz="2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AU" sz="2000">
                <a:solidFill>
                  <a:schemeClr val="tx1">
                    <a:lumMod val="85000"/>
                    <a:lumOff val="15000"/>
                  </a:schemeClr>
                </a:solidFill>
              </a:rPr>
              <a:t>Evaluate which rights and responsibilities were most common.</a:t>
            </a:r>
          </a:p>
          <a:p>
            <a:endParaRPr lang="en-AU" sz="2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AU" sz="2000">
                <a:solidFill>
                  <a:schemeClr val="tx1">
                    <a:lumMod val="85000"/>
                    <a:lumOff val="15000"/>
                  </a:schemeClr>
                </a:solidFill>
              </a:rPr>
              <a:t>You have 10 minutes.</a:t>
            </a:r>
            <a:endParaRPr lang="en-AU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Sexual Responsibility - AWAREness Campaigns - Health and Wellness Promotion  - IUP">
            <a:extLst>
              <a:ext uri="{FF2B5EF4-FFF2-40B4-BE49-F238E27FC236}">
                <a16:creationId xmlns:a16="http://schemas.microsoft.com/office/drawing/2014/main" id="{53F56DCB-A008-0669-B616-A36B3BE74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82465" y="2291340"/>
            <a:ext cx="3962578" cy="3478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5391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15652</TotalTime>
  <Words>1095</Words>
  <Application>Microsoft Office PowerPoint</Application>
  <PresentationFormat>Widescreen</PresentationFormat>
  <Paragraphs>143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Relationships</vt:lpstr>
      <vt:lpstr>Todays Focus:</vt:lpstr>
      <vt:lpstr>Activity 1:   Healthy or Unhealthy behaviours?</vt:lpstr>
      <vt:lpstr>Healthy and Unhealthy Relationships</vt:lpstr>
      <vt:lpstr>PowerPoint Presentation</vt:lpstr>
      <vt:lpstr>Activity 2:  (pg.14)  Love, Sex and Relationships Ethical Framework</vt:lpstr>
      <vt:lpstr>1. Taking Care of Me</vt:lpstr>
      <vt:lpstr>2. Taking Care of You</vt:lpstr>
      <vt:lpstr>3. Having an Equal Say</vt:lpstr>
      <vt:lpstr>4. Learning as We Go</vt:lpstr>
      <vt:lpstr>Activity 3:  Relationship Scenarios    (pg.15-16) </vt:lpstr>
      <vt:lpstr>GLOSSARY:       (Pg. 7)</vt:lpstr>
      <vt:lpstr>Rights and Responsibilities in Relationships:  (pg.17) </vt:lpstr>
      <vt:lpstr>Optional Activity 4: Rights and Responsibilities</vt:lpstr>
      <vt:lpstr>Personal Reflection:  (pg.17-18)  Rights and responsibilities – do they change?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Relationships</dc:title>
  <dc:creator>HASSAN Gillian [Comet Bay College]</dc:creator>
  <cp:lastModifiedBy>HILLMAN Alissa [Willetton Senior High School]</cp:lastModifiedBy>
  <cp:revision>42</cp:revision>
  <cp:lastPrinted>2022-05-20T05:38:59Z</cp:lastPrinted>
  <dcterms:created xsi:type="dcterms:W3CDTF">2022-04-26T04:42:15Z</dcterms:created>
  <dcterms:modified xsi:type="dcterms:W3CDTF">2023-11-10T06:54:39Z</dcterms:modified>
</cp:coreProperties>
</file>
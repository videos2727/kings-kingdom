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566" r:id="rId2"/>
    <p:sldId id="567" r:id="rId3"/>
    <p:sldId id="620" r:id="rId4"/>
    <p:sldId id="621" r:id="rId5"/>
    <p:sldId id="623" r:id="rId6"/>
    <p:sldId id="410" r:id="rId7"/>
    <p:sldId id="624" r:id="rId8"/>
    <p:sldId id="635" r:id="rId9"/>
    <p:sldId id="335" r:id="rId10"/>
    <p:sldId id="625" r:id="rId11"/>
    <p:sldId id="626" r:id="rId12"/>
    <p:sldId id="634" r:id="rId13"/>
    <p:sldId id="627" r:id="rId14"/>
    <p:sldId id="62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159C"/>
    <a:srgbClr val="EE69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059800-54A3-A94B-89F8-74BCD7FBF4D8}" v="107" dt="2023-11-06T14:43:09.641"/>
  </p1510:revLst>
</p1510:revInfo>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35" autoAdjust="0"/>
    <p:restoredTop sz="80514" autoAdjust="0"/>
  </p:normalViewPr>
  <p:slideViewPr>
    <p:cSldViewPr snapToGrid="0" snapToObjects="1">
      <p:cViewPr varScale="1">
        <p:scale>
          <a:sx n="88" d="100"/>
          <a:sy n="88" d="100"/>
        </p:scale>
        <p:origin x="648" y="9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1D8AB0-823E-BC43-B6E2-654A40F2AE32}" type="datetimeFigureOut">
              <a:rPr lang="en-US" smtClean="0"/>
              <a:t>11/10/2023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FA5B9A-3C2C-634F-8582-DEDD16CFA49C}" type="slidenum">
              <a:rPr lang="en-US" smtClean="0"/>
              <a:t>‹#›</a:t>
            </a:fld>
            <a:endParaRPr lang="en-US"/>
          </a:p>
        </p:txBody>
      </p:sp>
    </p:spTree>
    <p:extLst>
      <p:ext uri="{BB962C8B-B14F-4D97-AF65-F5344CB8AC3E}">
        <p14:creationId xmlns:p14="http://schemas.microsoft.com/office/powerpoint/2010/main" val="2294884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CFA5B9A-3C2C-634F-8582-DEDD16CFA49C}" type="slidenum">
              <a:rPr lang="en-US" smtClean="0"/>
              <a:t>4</a:t>
            </a:fld>
            <a:endParaRPr lang="en-US"/>
          </a:p>
        </p:txBody>
      </p:sp>
    </p:spTree>
    <p:extLst>
      <p:ext uri="{BB962C8B-B14F-4D97-AF65-F5344CB8AC3E}">
        <p14:creationId xmlns:p14="http://schemas.microsoft.com/office/powerpoint/2010/main" val="32000558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Optional – allow time for students to re-read the Sam and Zoe story from last lesson. </a:t>
            </a:r>
          </a:p>
          <a:p>
            <a:endParaRPr lang="en-AU" dirty="0"/>
          </a:p>
          <a:p>
            <a:r>
              <a:rPr lang="en-AU" dirty="0"/>
              <a:t>Questions can be answered in general terms as well – risks of asking for consent, risks of not asking for consent etc. </a:t>
            </a:r>
          </a:p>
        </p:txBody>
      </p:sp>
      <p:sp>
        <p:nvSpPr>
          <p:cNvPr id="4" name="Slide Number Placeholder 3"/>
          <p:cNvSpPr>
            <a:spLocks noGrp="1"/>
          </p:cNvSpPr>
          <p:nvPr>
            <p:ph type="sldNum" sz="quarter" idx="5"/>
          </p:nvPr>
        </p:nvSpPr>
        <p:spPr/>
        <p:txBody>
          <a:bodyPr/>
          <a:lstStyle/>
          <a:p>
            <a:fld id="{6CFA5B9A-3C2C-634F-8582-DEDD16CFA49C}" type="slidenum">
              <a:rPr lang="en-US" smtClean="0"/>
              <a:t>5</a:t>
            </a:fld>
            <a:endParaRPr lang="en-US"/>
          </a:p>
        </p:txBody>
      </p:sp>
    </p:spTree>
    <p:extLst>
      <p:ext uri="{BB962C8B-B14F-4D97-AF65-F5344CB8AC3E}">
        <p14:creationId xmlns:p14="http://schemas.microsoft.com/office/powerpoint/2010/main" val="486816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Resources: A3 paper</a:t>
            </a:r>
          </a:p>
        </p:txBody>
      </p:sp>
      <p:sp>
        <p:nvSpPr>
          <p:cNvPr id="4" name="Slide Number Placeholder 3"/>
          <p:cNvSpPr>
            <a:spLocks noGrp="1"/>
          </p:cNvSpPr>
          <p:nvPr>
            <p:ph type="sldNum" sz="quarter" idx="5"/>
          </p:nvPr>
        </p:nvSpPr>
        <p:spPr/>
        <p:txBody>
          <a:bodyPr/>
          <a:lstStyle/>
          <a:p>
            <a:fld id="{6CFA5B9A-3C2C-634F-8582-DEDD16CFA49C}" type="slidenum">
              <a:rPr lang="en-US" smtClean="0"/>
              <a:t>6</a:t>
            </a:fld>
            <a:endParaRPr lang="en-US"/>
          </a:p>
        </p:txBody>
      </p:sp>
    </p:spTree>
    <p:extLst>
      <p:ext uri="{BB962C8B-B14F-4D97-AF65-F5344CB8AC3E}">
        <p14:creationId xmlns:p14="http://schemas.microsoft.com/office/powerpoint/2010/main" val="2415592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List is in their books.</a:t>
            </a:r>
          </a:p>
        </p:txBody>
      </p:sp>
      <p:sp>
        <p:nvSpPr>
          <p:cNvPr id="4" name="Slide Number Placeholder 3"/>
          <p:cNvSpPr>
            <a:spLocks noGrp="1"/>
          </p:cNvSpPr>
          <p:nvPr>
            <p:ph type="sldNum" sz="quarter" idx="5"/>
          </p:nvPr>
        </p:nvSpPr>
        <p:spPr/>
        <p:txBody>
          <a:bodyPr/>
          <a:lstStyle/>
          <a:p>
            <a:fld id="{6CFA5B9A-3C2C-634F-8582-DEDD16CFA49C}" type="slidenum">
              <a:rPr lang="en-US" smtClean="0"/>
              <a:t>7</a:t>
            </a:fld>
            <a:endParaRPr lang="en-US"/>
          </a:p>
        </p:txBody>
      </p:sp>
    </p:spTree>
    <p:extLst>
      <p:ext uri="{BB962C8B-B14F-4D97-AF65-F5344CB8AC3E}">
        <p14:creationId xmlns:p14="http://schemas.microsoft.com/office/powerpoint/2010/main" val="1497361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a:t>
            </a:r>
          </a:p>
        </p:txBody>
      </p:sp>
      <p:sp>
        <p:nvSpPr>
          <p:cNvPr id="4" name="Slide Number Placeholder 3"/>
          <p:cNvSpPr>
            <a:spLocks noGrp="1"/>
          </p:cNvSpPr>
          <p:nvPr>
            <p:ph type="sldNum" sz="quarter" idx="5"/>
          </p:nvPr>
        </p:nvSpPr>
        <p:spPr/>
        <p:txBody>
          <a:bodyPr/>
          <a:lstStyle/>
          <a:p>
            <a:fld id="{9BCBF389-55DC-F148-B335-C7E72E404CF4}" type="slidenum">
              <a:rPr lang="en-US" smtClean="0"/>
              <a:t>9</a:t>
            </a:fld>
            <a:endParaRPr lang="en-US"/>
          </a:p>
        </p:txBody>
      </p:sp>
    </p:spTree>
    <p:extLst>
      <p:ext uri="{BB962C8B-B14F-4D97-AF65-F5344CB8AC3E}">
        <p14:creationId xmlns:p14="http://schemas.microsoft.com/office/powerpoint/2010/main" val="2766913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blanks/dot points into their workbooks</a:t>
            </a:r>
          </a:p>
        </p:txBody>
      </p:sp>
      <p:sp>
        <p:nvSpPr>
          <p:cNvPr id="4" name="Slide Number Placeholder 3"/>
          <p:cNvSpPr>
            <a:spLocks noGrp="1"/>
          </p:cNvSpPr>
          <p:nvPr>
            <p:ph type="sldNum" sz="quarter" idx="5"/>
          </p:nvPr>
        </p:nvSpPr>
        <p:spPr/>
        <p:txBody>
          <a:bodyPr/>
          <a:lstStyle/>
          <a:p>
            <a:fld id="{6CFA5B9A-3C2C-634F-8582-DEDD16CFA49C}" type="slidenum">
              <a:rPr lang="en-US" smtClean="0"/>
              <a:t>10</a:t>
            </a:fld>
            <a:endParaRPr lang="en-US"/>
          </a:p>
        </p:txBody>
      </p:sp>
    </p:spTree>
    <p:extLst>
      <p:ext uri="{BB962C8B-B14F-4D97-AF65-F5344CB8AC3E}">
        <p14:creationId xmlns:p14="http://schemas.microsoft.com/office/powerpoint/2010/main" val="23126783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Fill in the blanks/dot points into their workbooks</a:t>
            </a:r>
          </a:p>
          <a:p>
            <a:endParaRPr lang="en-US" dirty="0"/>
          </a:p>
        </p:txBody>
      </p:sp>
      <p:sp>
        <p:nvSpPr>
          <p:cNvPr id="4" name="Slide Number Placeholder 3"/>
          <p:cNvSpPr>
            <a:spLocks noGrp="1"/>
          </p:cNvSpPr>
          <p:nvPr>
            <p:ph type="sldNum" sz="quarter" idx="5"/>
          </p:nvPr>
        </p:nvSpPr>
        <p:spPr/>
        <p:txBody>
          <a:bodyPr/>
          <a:lstStyle/>
          <a:p>
            <a:fld id="{6CFA5B9A-3C2C-634F-8582-DEDD16CFA49C}" type="slidenum">
              <a:rPr lang="en-US" smtClean="0"/>
              <a:t>11</a:t>
            </a:fld>
            <a:endParaRPr lang="en-US"/>
          </a:p>
        </p:txBody>
      </p:sp>
    </p:spTree>
    <p:extLst>
      <p:ext uri="{BB962C8B-B14F-4D97-AF65-F5344CB8AC3E}">
        <p14:creationId xmlns:p14="http://schemas.microsoft.com/office/powerpoint/2010/main" val="3685254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FYI</a:t>
            </a:r>
          </a:p>
        </p:txBody>
      </p:sp>
      <p:sp>
        <p:nvSpPr>
          <p:cNvPr id="4" name="Slide Number Placeholder 3"/>
          <p:cNvSpPr>
            <a:spLocks noGrp="1"/>
          </p:cNvSpPr>
          <p:nvPr>
            <p:ph type="sldNum" sz="quarter" idx="5"/>
          </p:nvPr>
        </p:nvSpPr>
        <p:spPr/>
        <p:txBody>
          <a:bodyPr/>
          <a:lstStyle/>
          <a:p>
            <a:fld id="{6CFA5B9A-3C2C-634F-8582-DEDD16CFA49C}" type="slidenum">
              <a:rPr lang="en-US" smtClean="0"/>
              <a:t>12</a:t>
            </a:fld>
            <a:endParaRPr lang="en-US"/>
          </a:p>
        </p:txBody>
      </p:sp>
    </p:spTree>
    <p:extLst>
      <p:ext uri="{BB962C8B-B14F-4D97-AF65-F5344CB8AC3E}">
        <p14:creationId xmlns:p14="http://schemas.microsoft.com/office/powerpoint/2010/main" val="2804174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Additional</a:t>
            </a:r>
            <a:r>
              <a:rPr lang="en-US" dirty="0"/>
              <a:t> activity.</a:t>
            </a:r>
          </a:p>
        </p:txBody>
      </p:sp>
      <p:sp>
        <p:nvSpPr>
          <p:cNvPr id="4" name="Slide Number Placeholder 3"/>
          <p:cNvSpPr>
            <a:spLocks noGrp="1"/>
          </p:cNvSpPr>
          <p:nvPr>
            <p:ph type="sldNum" sz="quarter" idx="5"/>
          </p:nvPr>
        </p:nvSpPr>
        <p:spPr/>
        <p:txBody>
          <a:bodyPr/>
          <a:lstStyle/>
          <a:p>
            <a:fld id="{6CFA5B9A-3C2C-634F-8582-DEDD16CFA49C}" type="slidenum">
              <a:rPr lang="en-US" smtClean="0"/>
              <a:t>13</a:t>
            </a:fld>
            <a:endParaRPr lang="en-US"/>
          </a:p>
        </p:txBody>
      </p:sp>
    </p:spTree>
    <p:extLst>
      <p:ext uri="{BB962C8B-B14F-4D97-AF65-F5344CB8AC3E}">
        <p14:creationId xmlns:p14="http://schemas.microsoft.com/office/powerpoint/2010/main" val="26377799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Optional video</a:t>
            </a:r>
          </a:p>
        </p:txBody>
      </p:sp>
      <p:sp>
        <p:nvSpPr>
          <p:cNvPr id="4" name="Slide Number Placeholder 3"/>
          <p:cNvSpPr>
            <a:spLocks noGrp="1"/>
          </p:cNvSpPr>
          <p:nvPr>
            <p:ph type="sldNum" sz="quarter" idx="5"/>
          </p:nvPr>
        </p:nvSpPr>
        <p:spPr/>
        <p:txBody>
          <a:bodyPr/>
          <a:lstStyle/>
          <a:p>
            <a:fld id="{6CFA5B9A-3C2C-634F-8582-DEDD16CFA49C}" type="slidenum">
              <a:rPr lang="en-US" smtClean="0"/>
              <a:t>14</a:t>
            </a:fld>
            <a:endParaRPr lang="en-US"/>
          </a:p>
        </p:txBody>
      </p:sp>
    </p:spTree>
    <p:extLst>
      <p:ext uri="{BB962C8B-B14F-4D97-AF65-F5344CB8AC3E}">
        <p14:creationId xmlns:p14="http://schemas.microsoft.com/office/powerpoint/2010/main" val="2064108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9AA1A-D8B1-B642-B5FA-034749F000B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A948208-7E1A-2842-9604-D48C8115BD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D9D32A0-8103-2F47-908B-7AC7ADBC45C7}"/>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9002523C-BF98-5C47-949E-8CDF6A7D90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FFB279-DBA7-D543-9D04-0ECEA4E43448}"/>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072331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80EA1-A710-F147-9824-FB42D2C9D2F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BE99643-CDF0-E34C-B40B-9434A83A54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52F9938-6456-8F4B-9B08-7488A5CFF102}"/>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E424C054-08B0-5B44-9711-9BB0C76B38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8AAB5F-5A0F-AA4F-8FD6-F2EE019317FC}"/>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760073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90EFE-F65D-6F4C-8C4C-DC15EF29CC2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89FE3DD-78E9-D249-943F-5E4AEEE507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2EB39EF-E1B2-B64F-AAD4-20D3914D3903}"/>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E8299ED9-2095-0A41-AB8D-90D47260E3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A8ADEF-2CEE-B841-96FC-F8D9104E8E9F}"/>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693848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E1E26-37BA-E549-BD51-98C7135C04A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57D16B1-A7DE-884E-95DC-E8EC2F2F270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DDE544C-6FF8-9E4D-BAE4-1A2FC7E5274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1311BE4-852C-3746-9893-BA9B2652FB7C}"/>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6" name="Footer Placeholder 5">
            <a:extLst>
              <a:ext uri="{FF2B5EF4-FFF2-40B4-BE49-F238E27FC236}">
                <a16:creationId xmlns:a16="http://schemas.microsoft.com/office/drawing/2014/main" id="{2B08825C-06C9-A148-A71C-379F8483F2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6F2281-33C0-3849-B726-A8E450A4C877}"/>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776373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06A-1FC2-9344-B2F0-D934AA48AF1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F3FE8CD-C22E-5647-B94D-33B7F3186C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F0C789A-EFDA-564A-98F3-5BD3F16EDC8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29AC524-F52B-A344-87EF-A1FEF99F9D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241ABD3-34ED-A644-A137-CEDDB1CD313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2D7F7FB-B51D-8C49-B148-318DED999560}"/>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8" name="Footer Placeholder 7">
            <a:extLst>
              <a:ext uri="{FF2B5EF4-FFF2-40B4-BE49-F238E27FC236}">
                <a16:creationId xmlns:a16="http://schemas.microsoft.com/office/drawing/2014/main" id="{085E6BCA-80FE-854D-A627-CB445E9F13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BB53A1-E6B2-1D46-9449-75F09ADD04F3}"/>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1975269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54BC2-E1E3-4A47-8E88-D0FAAF02E49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0DFE690-8409-C742-8F18-F5AE6D23DFEF}"/>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4" name="Footer Placeholder 3">
            <a:extLst>
              <a:ext uri="{FF2B5EF4-FFF2-40B4-BE49-F238E27FC236}">
                <a16:creationId xmlns:a16="http://schemas.microsoft.com/office/drawing/2014/main" id="{BADEF96A-3236-3845-9EA2-6CD6A1E722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407D1B-E98B-4F40-9B4D-517191D633A0}"/>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938802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6270B5-9A5A-694A-B974-09018805AF82}"/>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3" name="Footer Placeholder 2">
            <a:extLst>
              <a:ext uri="{FF2B5EF4-FFF2-40B4-BE49-F238E27FC236}">
                <a16:creationId xmlns:a16="http://schemas.microsoft.com/office/drawing/2014/main" id="{168DD51E-F58F-B046-A91A-D16B3D9160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A2B5AE-A52D-A649-BD4D-793CC9E99972}"/>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1918798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227A4-AAA9-B64A-83F5-4DD4CBE5CDD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3D1413B-299C-724C-BAD9-DEA48B1EC8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E6F122A-EECE-BE40-AE9F-E05D37648D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3062703-E69F-E747-97CA-DD322AAD1E2E}"/>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6" name="Footer Placeholder 5">
            <a:extLst>
              <a:ext uri="{FF2B5EF4-FFF2-40B4-BE49-F238E27FC236}">
                <a16:creationId xmlns:a16="http://schemas.microsoft.com/office/drawing/2014/main" id="{4F78D0EC-2AAA-D248-B725-13A0BA305B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BE50A9-9718-AF49-A12A-099EEB5402E0}"/>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62400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30E7E-3AAD-8640-8E0A-9FCACF793AA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EC49A7A-C6D8-4D49-821A-67652640A0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60C745-8D8F-F841-AA14-AFA13EFB6A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0906B88-47F5-5848-A203-CCB8D6050454}"/>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6" name="Footer Placeholder 5">
            <a:extLst>
              <a:ext uri="{FF2B5EF4-FFF2-40B4-BE49-F238E27FC236}">
                <a16:creationId xmlns:a16="http://schemas.microsoft.com/office/drawing/2014/main" id="{6A127A69-2FC3-C347-BEA2-747DA72D77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F0AA35-18F3-A74C-9C84-999E18D5323B}"/>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739592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4BE7B-E8E3-C544-9C83-408A67C97EA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DC9654D-3051-1343-8CAA-1F241AD08B2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D53C3A0-CADC-6344-8A5D-0765713FCEAF}"/>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64D3C358-F5F0-BE49-8F7F-9101BC1764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8A4B55-F420-0C4A-B017-46666B4E89A9}"/>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3974256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3FB6C5-D359-6143-9E99-2EB8B86CBF0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99CD439-AC10-3F49-A649-8741A63D434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3084498-23F1-FB47-AEA2-BB246838FE08}"/>
              </a:ext>
            </a:extLst>
          </p:cNvPr>
          <p:cNvSpPr>
            <a:spLocks noGrp="1"/>
          </p:cNvSpPr>
          <p:nvPr>
            <p:ph type="dt" sz="half" idx="10"/>
          </p:nvPr>
        </p:nvSpPr>
        <p:spPr/>
        <p:txBody>
          <a:body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C8059AE7-6904-2D45-9FAB-ED6CA66A51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36B0AF-B5D8-D041-8BB1-0FEEC92A1CA1}"/>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427981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86B43D-F0C7-FF42-BDE7-EA5B8850BF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D6F1A2C-2AC7-4847-8D14-9896AD45D4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C6E72F5-7135-7942-B0F0-FD85E11195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DE862B-DCF5-3D49-BDE7-145C8C175210}" type="datetimeFigureOut">
              <a:rPr lang="en-US" smtClean="0"/>
              <a:t>11/10/2023</a:t>
            </a:fld>
            <a:endParaRPr lang="en-US"/>
          </a:p>
        </p:txBody>
      </p:sp>
      <p:sp>
        <p:nvSpPr>
          <p:cNvPr id="5" name="Footer Placeholder 4">
            <a:extLst>
              <a:ext uri="{FF2B5EF4-FFF2-40B4-BE49-F238E27FC236}">
                <a16:creationId xmlns:a16="http://schemas.microsoft.com/office/drawing/2014/main" id="{43521C71-EAA6-0E40-ABD1-5AA76963D0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4FDDCD-3762-3A43-A576-339DC3E370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BEDAD0-5C73-0347-AD99-7654E3306D9E}" type="slidenum">
              <a:rPr lang="en-US" smtClean="0"/>
              <a:t>‹#›</a:t>
            </a:fld>
            <a:endParaRPr lang="en-US"/>
          </a:p>
        </p:txBody>
      </p:sp>
    </p:spTree>
    <p:extLst>
      <p:ext uri="{BB962C8B-B14F-4D97-AF65-F5344CB8AC3E}">
        <p14:creationId xmlns:p14="http://schemas.microsoft.com/office/powerpoint/2010/main" val="2362255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gif"/></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0.png"/><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How to build closer relationships |">
            <a:extLst>
              <a:ext uri="{FF2B5EF4-FFF2-40B4-BE49-F238E27FC236}">
                <a16:creationId xmlns:a16="http://schemas.microsoft.com/office/drawing/2014/main" id="{993A6699-BC9B-511F-3E60-ABF0D8FB83AC}"/>
              </a:ext>
            </a:extLst>
          </p:cNvPr>
          <p:cNvPicPr>
            <a:picLocks noChangeAspect="1" noChangeArrowheads="1"/>
          </p:cNvPicPr>
          <p:nvPr/>
        </p:nvPicPr>
        <p:blipFill rotWithShape="1">
          <a:blip r:embed="rId2">
            <a:alphaModFix amt="40000"/>
            <a:extLst>
              <a:ext uri="{28A0092B-C50C-407E-A947-70E740481C1C}">
                <a14:useLocalDpi xmlns:a14="http://schemas.microsoft.com/office/drawing/2010/main" val="0"/>
              </a:ext>
            </a:extLst>
          </a:blip>
          <a:srcRect t="1516" b="4734"/>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CBD0C3AA-FE2A-B1FA-AAE1-86525DFA0D16}"/>
              </a:ext>
            </a:extLst>
          </p:cNvPr>
          <p:cNvSpPr>
            <a:spLocks noGrp="1"/>
          </p:cNvSpPr>
          <p:nvPr>
            <p:ph type="ctrTitle"/>
          </p:nvPr>
        </p:nvSpPr>
        <p:spPr>
          <a:xfrm>
            <a:off x="965200" y="965200"/>
            <a:ext cx="10261600" cy="3564869"/>
          </a:xfrm>
        </p:spPr>
        <p:txBody>
          <a:bodyPr>
            <a:normAutofit/>
          </a:bodyPr>
          <a:lstStyle/>
          <a:p>
            <a:pPr algn="l"/>
            <a:r>
              <a:rPr lang="en-AU" sz="11500" i="1" dirty="0">
                <a:ln w="22225">
                  <a:solidFill>
                    <a:schemeClr val="tx1"/>
                  </a:solidFill>
                  <a:miter lim="800000"/>
                </a:ln>
                <a:noFill/>
              </a:rPr>
              <a:t>Relationships</a:t>
            </a:r>
          </a:p>
        </p:txBody>
      </p:sp>
      <p:sp>
        <p:nvSpPr>
          <p:cNvPr id="5" name="Subtitle 4">
            <a:extLst>
              <a:ext uri="{FF2B5EF4-FFF2-40B4-BE49-F238E27FC236}">
                <a16:creationId xmlns:a16="http://schemas.microsoft.com/office/drawing/2014/main" id="{21600534-E8EC-062C-BAE6-7252BE062A69}"/>
              </a:ext>
            </a:extLst>
          </p:cNvPr>
          <p:cNvSpPr>
            <a:spLocks noGrp="1"/>
          </p:cNvSpPr>
          <p:nvPr>
            <p:ph type="subTitle" idx="1"/>
          </p:nvPr>
        </p:nvSpPr>
        <p:spPr>
          <a:xfrm>
            <a:off x="965200" y="4572002"/>
            <a:ext cx="10261600" cy="1202995"/>
          </a:xfrm>
        </p:spPr>
        <p:txBody>
          <a:bodyPr>
            <a:normAutofit/>
          </a:bodyPr>
          <a:lstStyle/>
          <a:p>
            <a:pPr algn="l"/>
            <a:r>
              <a:rPr lang="en-AU" sz="2000" dirty="0"/>
              <a:t>Year 10 Health 2024</a:t>
            </a:r>
          </a:p>
          <a:p>
            <a:pPr algn="l"/>
            <a:endParaRPr lang="en-AU" sz="2000" dirty="0"/>
          </a:p>
          <a:p>
            <a:pPr algn="l"/>
            <a:r>
              <a:rPr lang="en-AU" sz="2000" dirty="0"/>
              <a:t>Lesson 8</a:t>
            </a:r>
          </a:p>
        </p:txBody>
      </p:sp>
    </p:spTree>
    <p:extLst>
      <p:ext uri="{BB962C8B-B14F-4D97-AF65-F5344CB8AC3E}">
        <p14:creationId xmlns:p14="http://schemas.microsoft.com/office/powerpoint/2010/main" val="391461307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C64840D-1C6F-CE4F-9326-77D4E899D40A}"/>
              </a:ext>
            </a:extLst>
          </p:cNvPr>
          <p:cNvSpPr>
            <a:spLocks noGrp="1"/>
          </p:cNvSpPr>
          <p:nvPr>
            <p:ph type="title"/>
          </p:nvPr>
        </p:nvSpPr>
        <p:spPr>
          <a:xfrm>
            <a:off x="6657715" y="467271"/>
            <a:ext cx="4195674" cy="2052522"/>
          </a:xfrm>
        </p:spPr>
        <p:txBody>
          <a:bodyPr anchor="b">
            <a:normAutofit/>
          </a:bodyPr>
          <a:lstStyle/>
          <a:p>
            <a:r>
              <a:rPr lang="en-US" sz="4300" b="1" dirty="0"/>
              <a:t>Todays Focus:</a:t>
            </a:r>
          </a:p>
        </p:txBody>
      </p:sp>
      <p:sp>
        <p:nvSpPr>
          <p:cNvPr id="73" name="Oval 72">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bout a Relationship | Humans">
            <a:extLst>
              <a:ext uri="{FF2B5EF4-FFF2-40B4-BE49-F238E27FC236}">
                <a16:creationId xmlns:a16="http://schemas.microsoft.com/office/drawing/2014/main" id="{96FABFFB-E460-7943-9DB7-118103F51A5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875" r="13374" b="-2"/>
          <a:stretch/>
        </p:blipFill>
        <p:spPr bwMode="auto">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a:noFill/>
          <a:extLst>
            <a:ext uri="{909E8E84-426E-40DD-AFC4-6F175D3DCCD1}">
              <a14:hiddenFill xmlns:a14="http://schemas.microsoft.com/office/drawing/2010/main">
                <a:solidFill>
                  <a:srgbClr val="FFFFFF"/>
                </a:solidFill>
              </a14:hiddenFill>
            </a:ext>
          </a:extLst>
        </p:spPr>
      </p:pic>
      <p:sp>
        <p:nvSpPr>
          <p:cNvPr id="75"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77"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3271F4BF-2934-5D4F-827E-B5276B218B44}"/>
              </a:ext>
            </a:extLst>
          </p:cNvPr>
          <p:cNvSpPr>
            <a:spLocks noGrp="1"/>
          </p:cNvSpPr>
          <p:nvPr>
            <p:ph idx="1"/>
          </p:nvPr>
        </p:nvSpPr>
        <p:spPr>
          <a:xfrm>
            <a:off x="6657715" y="2990818"/>
            <a:ext cx="4928445" cy="2913872"/>
          </a:xfrm>
        </p:spPr>
        <p:txBody>
          <a:bodyPr anchor="t">
            <a:normAutofit/>
          </a:bodyPr>
          <a:lstStyle/>
          <a:p>
            <a:endParaRPr lang="en-US" sz="2000" dirty="0">
              <a:solidFill>
                <a:schemeClr val="tx1">
                  <a:alpha val="80000"/>
                </a:schemeClr>
              </a:solidFill>
            </a:endParaRPr>
          </a:p>
          <a:p>
            <a:endParaRPr lang="en-US" sz="2000" dirty="0">
              <a:solidFill>
                <a:schemeClr val="tx1">
                  <a:alpha val="80000"/>
                </a:schemeClr>
              </a:solidFill>
            </a:endParaRPr>
          </a:p>
        </p:txBody>
      </p:sp>
      <p:sp>
        <p:nvSpPr>
          <p:cNvPr id="79"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81"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81925CC9-08CF-CD75-E962-D400D038F7E0}"/>
              </a:ext>
            </a:extLst>
          </p:cNvPr>
          <p:cNvSpPr txBox="1">
            <a:spLocks/>
          </p:cNvSpPr>
          <p:nvPr/>
        </p:nvSpPr>
        <p:spPr>
          <a:xfrm>
            <a:off x="6810116" y="3143218"/>
            <a:ext cx="4593594" cy="2913872"/>
          </a:xfrm>
          <a:prstGeom prst="rect">
            <a:avLst/>
          </a:prstGeom>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dirty="0">
              <a:solidFill>
                <a:schemeClr val="tx1">
                  <a:alpha val="80000"/>
                </a:schemeClr>
              </a:solidFill>
            </a:endParaRPr>
          </a:p>
          <a:p>
            <a:r>
              <a:rPr lang="en-US" sz="2000" dirty="0">
                <a:solidFill>
                  <a:schemeClr val="tx1">
                    <a:alpha val="80000"/>
                  </a:schemeClr>
                </a:solidFill>
              </a:rPr>
              <a:t>Explore how to give and ask for consent.</a:t>
            </a:r>
          </a:p>
          <a:p>
            <a:r>
              <a:rPr lang="en-US" sz="2000" dirty="0">
                <a:solidFill>
                  <a:schemeClr val="tx1">
                    <a:alpha val="80000"/>
                  </a:schemeClr>
                </a:solidFill>
              </a:rPr>
              <a:t>Consider the risks of not asking for consent.</a:t>
            </a:r>
          </a:p>
          <a:p>
            <a:r>
              <a:rPr lang="en-US" sz="2000" dirty="0">
                <a:solidFill>
                  <a:schemeClr val="tx1">
                    <a:alpha val="80000"/>
                  </a:schemeClr>
                </a:solidFill>
              </a:rPr>
              <a:t>Consider the benefits of asking for consent. </a:t>
            </a:r>
          </a:p>
          <a:p>
            <a:r>
              <a:rPr lang="en-US" sz="2000" dirty="0">
                <a:solidFill>
                  <a:schemeClr val="tx1">
                    <a:alpha val="80000"/>
                  </a:schemeClr>
                </a:solidFill>
              </a:rPr>
              <a:t>Be introduced to the CAN I acronym for consensual behaviours. </a:t>
            </a:r>
          </a:p>
          <a:p>
            <a:r>
              <a:rPr lang="en-US" sz="2000" dirty="0">
                <a:solidFill>
                  <a:schemeClr val="tx1">
                    <a:alpha val="80000"/>
                  </a:schemeClr>
                </a:solidFill>
              </a:rPr>
              <a:t>List actions to help prevent sexual assault.</a:t>
            </a:r>
          </a:p>
          <a:p>
            <a:endParaRPr lang="en-US" sz="2000" dirty="0">
              <a:solidFill>
                <a:schemeClr val="tx1">
                  <a:alpha val="80000"/>
                </a:schemeClr>
              </a:solidFill>
            </a:endParaRPr>
          </a:p>
        </p:txBody>
      </p:sp>
    </p:spTree>
    <p:extLst>
      <p:ext uri="{BB962C8B-B14F-4D97-AF65-F5344CB8AC3E}">
        <p14:creationId xmlns:p14="http://schemas.microsoft.com/office/powerpoint/2010/main" val="3323885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3D93723-6450-424E-1E16-72DC370FBE77}"/>
              </a:ext>
            </a:extLst>
          </p:cNvPr>
          <p:cNvSpPr>
            <a:spLocks noGrp="1"/>
          </p:cNvSpPr>
          <p:nvPr>
            <p:ph type="title"/>
          </p:nvPr>
        </p:nvSpPr>
        <p:spPr>
          <a:xfrm>
            <a:off x="838200" y="365125"/>
            <a:ext cx="5558489" cy="1325563"/>
          </a:xfrm>
        </p:spPr>
        <p:txBody>
          <a:bodyPr>
            <a:normAutofit/>
          </a:bodyPr>
          <a:lstStyle/>
          <a:p>
            <a:r>
              <a:rPr lang="en-AU" dirty="0"/>
              <a:t>Where to get help:</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4E40B264-AA6C-5D78-8285-31DC07AC2318}"/>
              </a:ext>
            </a:extLst>
          </p:cNvPr>
          <p:cNvSpPr>
            <a:spLocks noGrp="1"/>
          </p:cNvSpPr>
          <p:nvPr>
            <p:ph idx="1"/>
          </p:nvPr>
        </p:nvSpPr>
        <p:spPr>
          <a:xfrm>
            <a:off x="838200" y="1825625"/>
            <a:ext cx="5558489" cy="4351338"/>
          </a:xfrm>
        </p:spPr>
        <p:txBody>
          <a:bodyPr>
            <a:normAutofit/>
          </a:bodyPr>
          <a:lstStyle/>
          <a:p>
            <a:r>
              <a:rPr lang="en-AU" sz="2000" dirty="0"/>
              <a:t>Sexual Assault Resource Centre (SARC) </a:t>
            </a:r>
          </a:p>
          <a:p>
            <a:pPr lvl="1"/>
            <a:r>
              <a:rPr lang="en-AU" sz="2000" dirty="0"/>
              <a:t>24-hour emergency line for recent sexual assault</a:t>
            </a:r>
          </a:p>
          <a:p>
            <a:pPr lvl="1"/>
            <a:r>
              <a:rPr lang="en-AU" sz="2000" dirty="0"/>
              <a:t>(08) 6458 1828 or 1800 199 888</a:t>
            </a:r>
          </a:p>
          <a:p>
            <a:pPr lvl="1"/>
            <a:endParaRPr lang="en-AU" sz="2000" dirty="0"/>
          </a:p>
          <a:p>
            <a:r>
              <a:rPr lang="en-AU" sz="2000" dirty="0"/>
              <a:t>1800 RESPECT</a:t>
            </a:r>
          </a:p>
          <a:p>
            <a:pPr lvl="1"/>
            <a:r>
              <a:rPr lang="en-AU" sz="2000" dirty="0"/>
              <a:t>1800 737 732</a:t>
            </a:r>
          </a:p>
          <a:p>
            <a:endParaRPr lang="en-AU" sz="2000" dirty="0"/>
          </a:p>
          <a:p>
            <a:r>
              <a:rPr lang="en-AU" sz="2000" dirty="0"/>
              <a:t>Talk to a trusted adult. </a:t>
            </a:r>
          </a:p>
          <a:p>
            <a:pPr marL="0" indent="0">
              <a:buNone/>
            </a:pPr>
            <a:endParaRPr lang="en-AU" sz="2000" dirty="0"/>
          </a:p>
          <a:p>
            <a:r>
              <a:rPr lang="en-AU" sz="2000" dirty="0"/>
              <a:t>In an emergency, go to the nearest hospital emergency department and/or see your doctor.</a:t>
            </a:r>
          </a:p>
          <a:p>
            <a:pPr lvl="1"/>
            <a:endParaRPr lang="en-AU" sz="1300" dirty="0"/>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8659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Tea and Consent">
            <a:hlinkClick r:id="" action="ppaction://media"/>
            <a:extLst>
              <a:ext uri="{FF2B5EF4-FFF2-40B4-BE49-F238E27FC236}">
                <a16:creationId xmlns:a16="http://schemas.microsoft.com/office/drawing/2014/main" id="{25CA8683-C38F-9029-98B0-080DF94135F9}"/>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812800" y="457200"/>
            <a:ext cx="10566400" cy="5943600"/>
          </a:xfrm>
          <a:prstGeom prst="rect">
            <a:avLst/>
          </a:prstGeom>
        </p:spPr>
      </p:pic>
    </p:spTree>
    <p:extLst>
      <p:ext uri="{BB962C8B-B14F-4D97-AF65-F5344CB8AC3E}">
        <p14:creationId xmlns:p14="http://schemas.microsoft.com/office/powerpoint/2010/main" val="1610297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925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D330D3D-B0A7-1073-9187-FD3176244ECD}"/>
              </a:ext>
            </a:extLst>
          </p:cNvPr>
          <p:cNvSpPr>
            <a:spLocks noGrp="1"/>
          </p:cNvSpPr>
          <p:nvPr>
            <p:ph type="title"/>
          </p:nvPr>
        </p:nvSpPr>
        <p:spPr>
          <a:xfrm>
            <a:off x="1046746" y="586822"/>
            <a:ext cx="3560252" cy="1645920"/>
          </a:xfrm>
        </p:spPr>
        <p:txBody>
          <a:bodyPr>
            <a:normAutofit/>
          </a:bodyPr>
          <a:lstStyle/>
          <a:p>
            <a:r>
              <a:rPr lang="en-AU" sz="3200" dirty="0"/>
              <a:t>Activity 1: Checking for consent </a:t>
            </a:r>
            <a:r>
              <a:rPr lang="en-US" sz="3200" kern="1200" dirty="0">
                <a:latin typeface="+mj-lt"/>
                <a:ea typeface="+mj-ea"/>
                <a:cs typeface="+mj-cs"/>
              </a:rPr>
              <a:t>(pg.37)</a:t>
            </a:r>
            <a:endParaRPr lang="en-AU" sz="3200" dirty="0"/>
          </a:p>
        </p:txBody>
      </p:sp>
      <p:sp>
        <p:nvSpPr>
          <p:cNvPr id="13" name="Rectangle 12">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5" name="Rectangle 14">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1F71F03-5697-5996-2FD5-28C422663A92}"/>
              </a:ext>
            </a:extLst>
          </p:cNvPr>
          <p:cNvSpPr>
            <a:spLocks noGrp="1"/>
          </p:cNvSpPr>
          <p:nvPr>
            <p:ph idx="1"/>
          </p:nvPr>
        </p:nvSpPr>
        <p:spPr>
          <a:xfrm>
            <a:off x="5351164" y="586822"/>
            <a:ext cx="6002636" cy="1645920"/>
          </a:xfrm>
        </p:spPr>
        <p:txBody>
          <a:bodyPr anchor="ctr">
            <a:normAutofit/>
          </a:bodyPr>
          <a:lstStyle/>
          <a:p>
            <a:r>
              <a:rPr lang="en-AU" sz="1800" dirty="0"/>
              <a:t>Think back to Sam and Zoe’s story from last lesson</a:t>
            </a:r>
          </a:p>
          <a:p>
            <a:r>
              <a:rPr lang="en-AU" sz="1800" dirty="0"/>
              <a:t>Think about what each person could gain and lose if Sam had checked for consent. </a:t>
            </a:r>
          </a:p>
          <a:p>
            <a:r>
              <a:rPr lang="en-AU" sz="1800" dirty="0"/>
              <a:t>You can answer these questions without specific reference to the story as well. </a:t>
            </a:r>
          </a:p>
        </p:txBody>
      </p:sp>
      <p:graphicFrame>
        <p:nvGraphicFramePr>
          <p:cNvPr id="4" name="Table 3">
            <a:extLst>
              <a:ext uri="{FF2B5EF4-FFF2-40B4-BE49-F238E27FC236}">
                <a16:creationId xmlns:a16="http://schemas.microsoft.com/office/drawing/2014/main" id="{02719EDA-D58E-F852-4AD3-72E66FC79F8A}"/>
              </a:ext>
            </a:extLst>
          </p:cNvPr>
          <p:cNvGraphicFramePr>
            <a:graphicFrameLocks noGrp="1"/>
          </p:cNvGraphicFramePr>
          <p:nvPr>
            <p:extLst>
              <p:ext uri="{D42A27DB-BD31-4B8C-83A1-F6EECF244321}">
                <p14:modId xmlns:p14="http://schemas.microsoft.com/office/powerpoint/2010/main" val="4219294100"/>
              </p:ext>
            </p:extLst>
          </p:nvPr>
        </p:nvGraphicFramePr>
        <p:xfrm>
          <a:off x="554416" y="3168395"/>
          <a:ext cx="11167445" cy="1999708"/>
        </p:xfrm>
        <a:graphic>
          <a:graphicData uri="http://schemas.openxmlformats.org/drawingml/2006/table">
            <a:tbl>
              <a:tblPr firstRow="1" bandRow="1">
                <a:tableStyleId>{5C22544A-7EE6-4342-B048-85BDC9FD1C3A}</a:tableStyleId>
              </a:tblPr>
              <a:tblGrid>
                <a:gridCol w="3338126">
                  <a:extLst>
                    <a:ext uri="{9D8B030D-6E8A-4147-A177-3AD203B41FA5}">
                      <a16:colId xmlns:a16="http://schemas.microsoft.com/office/drawing/2014/main" val="1343108857"/>
                    </a:ext>
                  </a:extLst>
                </a:gridCol>
                <a:gridCol w="4491193">
                  <a:extLst>
                    <a:ext uri="{9D8B030D-6E8A-4147-A177-3AD203B41FA5}">
                      <a16:colId xmlns:a16="http://schemas.microsoft.com/office/drawing/2014/main" val="130872805"/>
                    </a:ext>
                  </a:extLst>
                </a:gridCol>
                <a:gridCol w="3338126">
                  <a:extLst>
                    <a:ext uri="{9D8B030D-6E8A-4147-A177-3AD203B41FA5}">
                      <a16:colId xmlns:a16="http://schemas.microsoft.com/office/drawing/2014/main" val="3663041116"/>
                    </a:ext>
                  </a:extLst>
                </a:gridCol>
              </a:tblGrid>
              <a:tr h="1329148">
                <a:tc>
                  <a:txBody>
                    <a:bodyPr/>
                    <a:lstStyle/>
                    <a:p>
                      <a:pPr algn="ctr"/>
                      <a:r>
                        <a:rPr lang="en-AU" sz="2400" dirty="0"/>
                        <a:t>Risk of……</a:t>
                      </a:r>
                    </a:p>
                    <a:p>
                      <a:pPr algn="ctr"/>
                      <a:r>
                        <a:rPr lang="en-AU" sz="2400" dirty="0"/>
                        <a:t>Asking for consent</a:t>
                      </a:r>
                    </a:p>
                    <a:p>
                      <a:pPr algn="ctr"/>
                      <a:r>
                        <a:rPr lang="en-AU" sz="2400" dirty="0"/>
                        <a:t>As Sam</a:t>
                      </a:r>
                    </a:p>
                  </a:txBody>
                  <a:tcPr marL="167640" marR="167640" marT="83820" marB="838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a:t>Risk of….</a:t>
                      </a:r>
                    </a:p>
                    <a:p>
                      <a:pPr algn="ctr"/>
                      <a:r>
                        <a:rPr lang="en-AU" sz="2400" dirty="0"/>
                        <a:t>Not asking for consent</a:t>
                      </a:r>
                    </a:p>
                    <a:p>
                      <a:pPr algn="ctr"/>
                      <a:r>
                        <a:rPr lang="en-AU" sz="2400" dirty="0"/>
                        <a:t>As either person</a:t>
                      </a:r>
                    </a:p>
                  </a:txBody>
                  <a:tcPr marL="167640" marR="167640" marT="83820" marB="838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dirty="0"/>
                        <a:t>Risk of……</a:t>
                      </a:r>
                    </a:p>
                    <a:p>
                      <a:pPr algn="ctr"/>
                      <a:r>
                        <a:rPr lang="en-AU" sz="2400" dirty="0"/>
                        <a:t>Asking for consent</a:t>
                      </a:r>
                    </a:p>
                    <a:p>
                      <a:pPr algn="ctr"/>
                      <a:r>
                        <a:rPr lang="en-AU" sz="2400" dirty="0"/>
                        <a:t>As Zoe</a:t>
                      </a:r>
                    </a:p>
                  </a:txBody>
                  <a:tcPr marL="167640" marR="167640" marT="83820" marB="838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3105067"/>
                  </a:ext>
                </a:extLst>
              </a:tr>
              <a:tr h="495951">
                <a:tc>
                  <a:txBody>
                    <a:bodyPr/>
                    <a:lstStyle/>
                    <a:p>
                      <a:endParaRPr lang="en-AU" sz="3300"/>
                    </a:p>
                  </a:txBody>
                  <a:tcPr marL="167640" marR="167640" marT="83820" marB="838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AU" sz="3300"/>
                    </a:p>
                  </a:txBody>
                  <a:tcPr marL="167640" marR="167640" marT="83820" marB="838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AU" sz="3300" dirty="0"/>
                    </a:p>
                  </a:txBody>
                  <a:tcPr marL="167640" marR="167640" marT="83820" marB="838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2077967"/>
                  </a:ext>
                </a:extLst>
              </a:tr>
            </a:tbl>
          </a:graphicData>
        </a:graphic>
      </p:graphicFrame>
    </p:spTree>
    <p:extLst>
      <p:ext uri="{BB962C8B-B14F-4D97-AF65-F5344CB8AC3E}">
        <p14:creationId xmlns:p14="http://schemas.microsoft.com/office/powerpoint/2010/main" val="3570759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024687B-3153-123C-0A8C-D7D007FAF1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10" name="Rectangle 9">
              <a:extLst>
                <a:ext uri="{FF2B5EF4-FFF2-40B4-BE49-F238E27FC236}">
                  <a16:creationId xmlns:a16="http://schemas.microsoft.com/office/drawing/2014/main" id="{8D6305F5-7509-0BF5-12D3-30451FCD7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71C5C7A-6D55-5B27-646E-39C962693C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3B3B1F4-948C-963C-E6EA-60CF7FBFA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03CD7F0-D969-7B9E-2C16-E760F855EB95}"/>
              </a:ext>
            </a:extLst>
          </p:cNvPr>
          <p:cNvSpPr>
            <a:spLocks noGrp="1"/>
          </p:cNvSpPr>
          <p:nvPr>
            <p:ph type="title"/>
          </p:nvPr>
        </p:nvSpPr>
        <p:spPr>
          <a:xfrm>
            <a:off x="876691" y="301843"/>
            <a:ext cx="10477109" cy="1003532"/>
          </a:xfrm>
        </p:spPr>
        <p:txBody>
          <a:bodyPr anchor="ctr">
            <a:normAutofit/>
          </a:bodyPr>
          <a:lstStyle/>
          <a:p>
            <a:r>
              <a:rPr lang="en-US" sz="3200" dirty="0">
                <a:solidFill>
                  <a:srgbClr val="FFFFFF"/>
                </a:solidFill>
              </a:rPr>
              <a:t>Activity 2: </a:t>
            </a:r>
            <a:br>
              <a:rPr lang="en-US" sz="3200" dirty="0">
                <a:solidFill>
                  <a:srgbClr val="FFFFFF"/>
                </a:solidFill>
              </a:rPr>
            </a:br>
            <a:r>
              <a:rPr lang="en-US" sz="3200" dirty="0">
                <a:solidFill>
                  <a:srgbClr val="FFFFFF"/>
                </a:solidFill>
              </a:rPr>
              <a:t>How to ask for consent – Gallery Walk</a:t>
            </a:r>
          </a:p>
        </p:txBody>
      </p:sp>
      <p:sp>
        <p:nvSpPr>
          <p:cNvPr id="3" name="Content Placeholder 2">
            <a:extLst>
              <a:ext uri="{FF2B5EF4-FFF2-40B4-BE49-F238E27FC236}">
                <a16:creationId xmlns:a16="http://schemas.microsoft.com/office/drawing/2014/main" id="{BF630CD6-6645-E8BE-A5A3-6060F978063F}"/>
              </a:ext>
            </a:extLst>
          </p:cNvPr>
          <p:cNvSpPr>
            <a:spLocks noGrp="1"/>
          </p:cNvSpPr>
          <p:nvPr>
            <p:ph idx="1"/>
          </p:nvPr>
        </p:nvSpPr>
        <p:spPr>
          <a:xfrm>
            <a:off x="823505" y="2047728"/>
            <a:ext cx="10867208" cy="3673576"/>
          </a:xfrm>
        </p:spPr>
        <p:txBody>
          <a:bodyPr>
            <a:normAutofit/>
          </a:bodyPr>
          <a:lstStyle/>
          <a:p>
            <a:r>
              <a:rPr lang="en-US" sz="2000" dirty="0"/>
              <a:t>Close your books/devices.</a:t>
            </a:r>
          </a:p>
          <a:p>
            <a:r>
              <a:rPr lang="en-US" sz="2000" dirty="0"/>
              <a:t>In groups of 3-4, each group will receive an A3 piece of paper.</a:t>
            </a:r>
          </a:p>
          <a:p>
            <a:r>
              <a:rPr lang="en-US" sz="2000" dirty="0"/>
              <a:t>Write down a list of ways that you could ask for, or check for, consent in a sexual scenario.</a:t>
            </a:r>
          </a:p>
          <a:p>
            <a:r>
              <a:rPr lang="en-US" sz="2000" dirty="0"/>
              <a:t>You have 7 minutes to write, followed by 3 minutes to walk around and look at other groups before we discuss.</a:t>
            </a:r>
          </a:p>
        </p:txBody>
      </p:sp>
      <p:pic>
        <p:nvPicPr>
          <p:cNvPr id="4" name="Content Placeholder 3" descr="A group of people standing in front of a white wall&#10;&#10;Description automatically generated">
            <a:extLst>
              <a:ext uri="{FF2B5EF4-FFF2-40B4-BE49-F238E27FC236}">
                <a16:creationId xmlns:a16="http://schemas.microsoft.com/office/drawing/2014/main" id="{2056F1F5-F511-7E03-C8F5-00801B70B559}"/>
              </a:ext>
            </a:extLst>
          </p:cNvPr>
          <p:cNvPicPr>
            <a:picLocks noChangeAspect="1"/>
          </p:cNvPicPr>
          <p:nvPr/>
        </p:nvPicPr>
        <p:blipFill rotWithShape="1">
          <a:blip r:embed="rId3"/>
          <a:srcRect t="13636" r="-1" b="12615"/>
          <a:stretch/>
        </p:blipFill>
        <p:spPr>
          <a:xfrm>
            <a:off x="-1" y="4718050"/>
            <a:ext cx="6257110" cy="2108312"/>
          </a:xfrm>
          <a:prstGeom prst="rect">
            <a:avLst/>
          </a:prstGeom>
        </p:spPr>
      </p:pic>
      <p:pic>
        <p:nvPicPr>
          <p:cNvPr id="5" name="Content Placeholder 3" descr="A group of people standing in front of a white wall&#10;&#10;Description automatically generated">
            <a:extLst>
              <a:ext uri="{FF2B5EF4-FFF2-40B4-BE49-F238E27FC236}">
                <a16:creationId xmlns:a16="http://schemas.microsoft.com/office/drawing/2014/main" id="{E59E560B-CB5D-D576-08A9-53D270B35799}"/>
              </a:ext>
            </a:extLst>
          </p:cNvPr>
          <p:cNvPicPr>
            <a:picLocks noChangeAspect="1"/>
          </p:cNvPicPr>
          <p:nvPr/>
        </p:nvPicPr>
        <p:blipFill rotWithShape="1">
          <a:blip r:embed="rId3"/>
          <a:srcRect t="13636" r="-1" b="12615"/>
          <a:stretch/>
        </p:blipFill>
        <p:spPr>
          <a:xfrm>
            <a:off x="6257109" y="4729536"/>
            <a:ext cx="5934891" cy="2108312"/>
          </a:xfrm>
          <a:prstGeom prst="rect">
            <a:avLst/>
          </a:prstGeom>
        </p:spPr>
      </p:pic>
    </p:spTree>
    <p:extLst>
      <p:ext uri="{BB962C8B-B14F-4D97-AF65-F5344CB8AC3E}">
        <p14:creationId xmlns:p14="http://schemas.microsoft.com/office/powerpoint/2010/main" val="2159171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570A5A-AB3D-D788-3F57-E567BC262BA4}"/>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21 ways to ask for consent: (pg.38)</a:t>
            </a:r>
          </a:p>
        </p:txBody>
      </p:sp>
      <p:pic>
        <p:nvPicPr>
          <p:cNvPr id="4" name="Content Placeholder 3">
            <a:extLst>
              <a:ext uri="{FF2B5EF4-FFF2-40B4-BE49-F238E27FC236}">
                <a16:creationId xmlns:a16="http://schemas.microsoft.com/office/drawing/2014/main" id="{36D9A55C-59CB-E2A1-0C31-03F0C45E0AE7}"/>
              </a:ext>
            </a:extLst>
          </p:cNvPr>
          <p:cNvPicPr>
            <a:picLocks noGrp="1" noChangeAspect="1"/>
          </p:cNvPicPr>
          <p:nvPr>
            <p:ph idx="1"/>
          </p:nvPr>
        </p:nvPicPr>
        <p:blipFill rotWithShape="1">
          <a:blip r:embed="rId3"/>
          <a:srcRect t="30775" r="7210"/>
          <a:stretch/>
        </p:blipFill>
        <p:spPr>
          <a:xfrm>
            <a:off x="4777316" y="1391720"/>
            <a:ext cx="6780700" cy="4072230"/>
          </a:xfrm>
          <a:prstGeom prst="rect">
            <a:avLst/>
          </a:prstGeom>
        </p:spPr>
      </p:pic>
    </p:spTree>
    <p:extLst>
      <p:ext uri="{BB962C8B-B14F-4D97-AF65-F5344CB8AC3E}">
        <p14:creationId xmlns:p14="http://schemas.microsoft.com/office/powerpoint/2010/main" val="3488103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361D9-ADEB-39A4-3314-23CC74548745}"/>
              </a:ext>
            </a:extLst>
          </p:cNvPr>
          <p:cNvSpPr>
            <a:spLocks noGrp="1"/>
          </p:cNvSpPr>
          <p:nvPr>
            <p:ph type="title"/>
          </p:nvPr>
        </p:nvSpPr>
        <p:spPr>
          <a:xfrm>
            <a:off x="838200" y="800994"/>
            <a:ext cx="9050867" cy="2056896"/>
          </a:xfrm>
        </p:spPr>
        <p:txBody>
          <a:bodyPr anchor="t">
            <a:normAutofit/>
          </a:bodyPr>
          <a:lstStyle/>
          <a:p>
            <a:r>
              <a:rPr lang="en-AU" sz="3200" dirty="0"/>
              <a:t>Benefits of asking for consent: </a:t>
            </a:r>
            <a:br>
              <a:rPr lang="en-AU" sz="3200" dirty="0"/>
            </a:br>
            <a:r>
              <a:rPr lang="en-AU" sz="3200" dirty="0"/>
              <a:t>A conversation</a:t>
            </a:r>
          </a:p>
        </p:txBody>
      </p:sp>
      <p:sp>
        <p:nvSpPr>
          <p:cNvPr id="3" name="Content Placeholder 2">
            <a:extLst>
              <a:ext uri="{FF2B5EF4-FFF2-40B4-BE49-F238E27FC236}">
                <a16:creationId xmlns:a16="http://schemas.microsoft.com/office/drawing/2014/main" id="{664E5D6F-F320-F465-3B10-79518176ACC3}"/>
              </a:ext>
            </a:extLst>
          </p:cNvPr>
          <p:cNvSpPr>
            <a:spLocks noGrp="1"/>
          </p:cNvSpPr>
          <p:nvPr>
            <p:ph idx="1"/>
          </p:nvPr>
        </p:nvSpPr>
        <p:spPr>
          <a:xfrm>
            <a:off x="566940" y="2425408"/>
            <a:ext cx="5862851" cy="3631598"/>
          </a:xfrm>
        </p:spPr>
        <p:txBody>
          <a:bodyPr anchor="t">
            <a:normAutofit/>
          </a:bodyPr>
          <a:lstStyle/>
          <a:p>
            <a:r>
              <a:rPr lang="en-AU" sz="2000" dirty="0"/>
              <a:t>What’s the harm in being sure of something…? There is none!</a:t>
            </a:r>
          </a:p>
          <a:p>
            <a:endParaRPr lang="en-AU" sz="2000" dirty="0"/>
          </a:p>
          <a:p>
            <a:r>
              <a:rPr lang="en-AU" sz="2000" dirty="0"/>
              <a:t>Asking for consent is beneficial to both people for many reasons.</a:t>
            </a:r>
          </a:p>
          <a:p>
            <a:endParaRPr lang="en-AU" sz="2000" dirty="0"/>
          </a:p>
          <a:p>
            <a:r>
              <a:rPr lang="en-AU" sz="2000" dirty="0"/>
              <a:t>Turn to the person next to you, you have 2 minutes to discuss 3 benefits of asking for consent. Be prepared to share your answers.</a:t>
            </a:r>
          </a:p>
        </p:txBody>
      </p:sp>
      <p:pic>
        <p:nvPicPr>
          <p:cNvPr id="7" name="Graphic 6" descr="Chat">
            <a:extLst>
              <a:ext uri="{FF2B5EF4-FFF2-40B4-BE49-F238E27FC236}">
                <a16:creationId xmlns:a16="http://schemas.microsoft.com/office/drawing/2014/main" id="{A73DBE6B-AAED-7931-BDB6-76B205AAA5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71550" y="-490709"/>
            <a:ext cx="5459205" cy="5465239"/>
          </a:xfrm>
          <a:prstGeom prst="rect">
            <a:avLst/>
          </a:prstGeom>
        </p:spPr>
      </p:pic>
      <p:grpSp>
        <p:nvGrpSpPr>
          <p:cNvPr id="10" name="Group 9">
            <a:extLst>
              <a:ext uri="{FF2B5EF4-FFF2-40B4-BE49-F238E27FC236}">
                <a16:creationId xmlns:a16="http://schemas.microsoft.com/office/drawing/2014/main" id="{E4A41B9E-A0C8-F78B-E5B6-A0D02D8810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11" name="Rectangle 10">
              <a:extLst>
                <a:ext uri="{FF2B5EF4-FFF2-40B4-BE49-F238E27FC236}">
                  <a16:creationId xmlns:a16="http://schemas.microsoft.com/office/drawing/2014/main" id="{F27C9029-9BF9-D125-90D6-AB03931B0B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CF84619-412D-A0C9-3DC9-47C3A42B9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FA79F4E1-05B9-A95A-397B-1A89677B263B}"/>
              </a:ext>
            </a:extLst>
          </p:cNvPr>
          <p:cNvSpPr txBox="1"/>
          <p:nvPr/>
        </p:nvSpPr>
        <p:spPr>
          <a:xfrm>
            <a:off x="6952031" y="264593"/>
            <a:ext cx="4298242" cy="2885405"/>
          </a:xfrm>
          <a:prstGeom prst="rect">
            <a:avLst/>
          </a:prstGeom>
          <a:noFill/>
        </p:spPr>
        <p:txBody>
          <a:bodyPr wrap="square" rtlCol="0">
            <a:spAutoFit/>
          </a:bodyPr>
          <a:lstStyle/>
          <a:p>
            <a:pPr marL="285750" indent="-285750">
              <a:buFont typeface="Arial" panose="020B0604020202020204" pitchFamily="34" charset="0"/>
              <a:buChar char="•"/>
            </a:pPr>
            <a:r>
              <a:rPr lang="en-AU" sz="1650" dirty="0">
                <a:solidFill>
                  <a:schemeClr val="bg1"/>
                </a:solidFill>
              </a:rPr>
              <a:t>Both people feel safe and heard.</a:t>
            </a:r>
          </a:p>
          <a:p>
            <a:pPr marL="285750" indent="-285750">
              <a:buFont typeface="Arial" panose="020B0604020202020204" pitchFamily="34" charset="0"/>
              <a:buChar char="•"/>
            </a:pPr>
            <a:endParaRPr lang="en-AU" sz="1650" dirty="0">
              <a:solidFill>
                <a:schemeClr val="bg1"/>
              </a:solidFill>
            </a:endParaRPr>
          </a:p>
          <a:p>
            <a:pPr marL="285750" indent="-285750">
              <a:buFont typeface="Arial" panose="020B0604020202020204" pitchFamily="34" charset="0"/>
              <a:buChar char="•"/>
            </a:pPr>
            <a:r>
              <a:rPr lang="en-AU" sz="1650" dirty="0">
                <a:solidFill>
                  <a:schemeClr val="bg1"/>
                </a:solidFill>
              </a:rPr>
              <a:t>There is no confusion about what the person wants – both people are on the same page.</a:t>
            </a:r>
          </a:p>
          <a:p>
            <a:pPr marL="285750" indent="-285750">
              <a:buFont typeface="Arial" panose="020B0604020202020204" pitchFamily="34" charset="0"/>
              <a:buChar char="•"/>
            </a:pPr>
            <a:endParaRPr lang="en-AU" sz="1650" dirty="0">
              <a:solidFill>
                <a:schemeClr val="bg1"/>
              </a:solidFill>
            </a:endParaRPr>
          </a:p>
          <a:p>
            <a:pPr marL="285750" indent="-285750">
              <a:buFont typeface="Arial" panose="020B0604020202020204" pitchFamily="34" charset="0"/>
              <a:buChar char="•"/>
            </a:pPr>
            <a:r>
              <a:rPr lang="en-AU" sz="1650" dirty="0">
                <a:solidFill>
                  <a:schemeClr val="bg1"/>
                </a:solidFill>
              </a:rPr>
              <a:t>Safer in terms of legalities (sexual assault etc.)</a:t>
            </a:r>
          </a:p>
          <a:p>
            <a:pPr marL="285750" indent="-285750">
              <a:buFont typeface="Arial" panose="020B0604020202020204" pitchFamily="34" charset="0"/>
              <a:buChar char="•"/>
            </a:pPr>
            <a:endParaRPr lang="en-AU" sz="1650" dirty="0">
              <a:solidFill>
                <a:schemeClr val="bg1"/>
              </a:solidFill>
            </a:endParaRPr>
          </a:p>
          <a:p>
            <a:pPr marL="285750" indent="-285750">
              <a:buFont typeface="Arial" panose="020B0604020202020204" pitchFamily="34" charset="0"/>
              <a:buChar char="•"/>
            </a:pPr>
            <a:r>
              <a:rPr lang="en-AU" sz="1650" dirty="0">
                <a:solidFill>
                  <a:schemeClr val="bg1"/>
                </a:solidFill>
              </a:rPr>
              <a:t>More enjoyable for both people.</a:t>
            </a:r>
          </a:p>
          <a:p>
            <a:pPr marL="285750" indent="-285750">
              <a:buFont typeface="Arial" panose="020B0604020202020204" pitchFamily="34" charset="0"/>
              <a:buChar char="•"/>
            </a:pPr>
            <a:endParaRPr lang="en-AU" sz="1650" dirty="0">
              <a:solidFill>
                <a:schemeClr val="bg1"/>
              </a:solidFill>
            </a:endParaRPr>
          </a:p>
          <a:p>
            <a:pPr marL="285750" indent="-285750">
              <a:buFont typeface="Arial" panose="020B0604020202020204" pitchFamily="34" charset="0"/>
              <a:buChar char="•"/>
            </a:pPr>
            <a:r>
              <a:rPr lang="en-AU" sz="1650" dirty="0">
                <a:solidFill>
                  <a:schemeClr val="bg1"/>
                </a:solidFill>
              </a:rPr>
              <a:t>Bring them closer together.</a:t>
            </a:r>
          </a:p>
        </p:txBody>
      </p:sp>
      <p:pic>
        <p:nvPicPr>
          <p:cNvPr id="1026" name="Picture 2" descr="Ace-ventura-thumbs-up GIFs - Get the best GIF on GIPHY">
            <a:extLst>
              <a:ext uri="{FF2B5EF4-FFF2-40B4-BE49-F238E27FC236}">
                <a16:creationId xmlns:a16="http://schemas.microsoft.com/office/drawing/2014/main" id="{36A8E391-12D5-EE1C-9696-970ABFDDA2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24222" y="3779698"/>
            <a:ext cx="2686050" cy="272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894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500B4A4-B1F1-41EA-886A-B8A210DBC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E55A99C-0BDC-4DBE-8E40-9FA66F629F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3"/>
          <a:stretch>
            <a:fillRect/>
          </a:stretch>
        </p:blipFill>
        <p:spPr>
          <a:xfrm>
            <a:off x="3735383" y="73801"/>
            <a:ext cx="6544725" cy="2030505"/>
          </a:xfrm>
          <a:prstGeom prst="rect">
            <a:avLst/>
          </a:prstGeom>
        </p:spPr>
      </p:pic>
      <p:pic>
        <p:nvPicPr>
          <p:cNvPr id="5" name="Picture 4"/>
          <p:cNvPicPr>
            <a:picLocks noChangeAspect="1"/>
          </p:cNvPicPr>
          <p:nvPr/>
        </p:nvPicPr>
        <p:blipFill>
          <a:blip r:embed="rId4"/>
          <a:stretch>
            <a:fillRect/>
          </a:stretch>
        </p:blipFill>
        <p:spPr>
          <a:xfrm>
            <a:off x="2274050" y="85724"/>
            <a:ext cx="1438377" cy="2139142"/>
          </a:xfrm>
          <a:prstGeom prst="rect">
            <a:avLst/>
          </a:prstGeom>
        </p:spPr>
      </p:pic>
      <p:pic>
        <p:nvPicPr>
          <p:cNvPr id="6" name="Picture 5"/>
          <p:cNvPicPr>
            <a:picLocks noChangeAspect="1"/>
          </p:cNvPicPr>
          <p:nvPr/>
        </p:nvPicPr>
        <p:blipFill>
          <a:blip r:embed="rId5"/>
          <a:stretch>
            <a:fillRect/>
          </a:stretch>
        </p:blipFill>
        <p:spPr>
          <a:xfrm>
            <a:off x="3689470" y="2144769"/>
            <a:ext cx="6636550" cy="2166806"/>
          </a:xfrm>
          <a:prstGeom prst="rect">
            <a:avLst/>
          </a:prstGeom>
        </p:spPr>
      </p:pic>
      <p:pic>
        <p:nvPicPr>
          <p:cNvPr id="7" name="Picture 6"/>
          <p:cNvPicPr>
            <a:picLocks noChangeAspect="1"/>
          </p:cNvPicPr>
          <p:nvPr/>
        </p:nvPicPr>
        <p:blipFill>
          <a:blip r:embed="rId6"/>
          <a:stretch>
            <a:fillRect/>
          </a:stretch>
        </p:blipFill>
        <p:spPr>
          <a:xfrm>
            <a:off x="2282462" y="2345661"/>
            <a:ext cx="1361096" cy="2006377"/>
          </a:xfrm>
          <a:prstGeom prst="rect">
            <a:avLst/>
          </a:prstGeom>
        </p:spPr>
      </p:pic>
      <p:pic>
        <p:nvPicPr>
          <p:cNvPr id="2" name="Content Placeholder 3">
            <a:extLst>
              <a:ext uri="{FF2B5EF4-FFF2-40B4-BE49-F238E27FC236}">
                <a16:creationId xmlns:a16="http://schemas.microsoft.com/office/drawing/2014/main" id="{89D04B2B-9F1B-EC76-18E6-E002A34585B4}"/>
              </a:ext>
            </a:extLst>
          </p:cNvPr>
          <p:cNvPicPr>
            <a:picLocks noChangeAspect="1"/>
          </p:cNvPicPr>
          <p:nvPr/>
        </p:nvPicPr>
        <p:blipFill>
          <a:blip r:embed="rId7"/>
          <a:stretch>
            <a:fillRect/>
          </a:stretch>
        </p:blipFill>
        <p:spPr>
          <a:xfrm>
            <a:off x="2282462" y="4518455"/>
            <a:ext cx="1440160" cy="2139142"/>
          </a:xfrm>
          <a:prstGeom prst="rect">
            <a:avLst/>
          </a:prstGeom>
        </p:spPr>
      </p:pic>
      <p:pic>
        <p:nvPicPr>
          <p:cNvPr id="3" name="Picture 2">
            <a:extLst>
              <a:ext uri="{FF2B5EF4-FFF2-40B4-BE49-F238E27FC236}">
                <a16:creationId xmlns:a16="http://schemas.microsoft.com/office/drawing/2014/main" id="{58CDF196-45B1-EEA1-2A67-81C8BC28EA81}"/>
              </a:ext>
            </a:extLst>
          </p:cNvPr>
          <p:cNvPicPr>
            <a:picLocks noChangeAspect="1"/>
          </p:cNvPicPr>
          <p:nvPr/>
        </p:nvPicPr>
        <p:blipFill>
          <a:blip r:embed="rId8"/>
          <a:stretch>
            <a:fillRect/>
          </a:stretch>
        </p:blipFill>
        <p:spPr>
          <a:xfrm>
            <a:off x="3770375" y="4352038"/>
            <a:ext cx="6495189" cy="2460703"/>
          </a:xfrm>
          <a:prstGeom prst="rect">
            <a:avLst/>
          </a:prstGeom>
        </p:spPr>
      </p:pic>
    </p:spTree>
    <p:extLst>
      <p:ext uri="{BB962C8B-B14F-4D97-AF65-F5344CB8AC3E}">
        <p14:creationId xmlns:p14="http://schemas.microsoft.com/office/powerpoint/2010/main" val="3424973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6" name="Rectangle 1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30CBDB-ABD1-4EC8-E84F-FA2108BB1868}"/>
              </a:ext>
            </a:extLst>
          </p:cNvPr>
          <p:cNvSpPr>
            <a:spLocks noGrp="1"/>
          </p:cNvSpPr>
          <p:nvPr>
            <p:ph type="title"/>
          </p:nvPr>
        </p:nvSpPr>
        <p:spPr>
          <a:xfrm>
            <a:off x="1043631" y="809898"/>
            <a:ext cx="10173010" cy="1554480"/>
          </a:xfrm>
        </p:spPr>
        <p:txBody>
          <a:bodyPr anchor="ctr">
            <a:normAutofit/>
          </a:bodyPr>
          <a:lstStyle/>
          <a:p>
            <a:r>
              <a:rPr lang="en-AU" sz="4800" dirty="0"/>
              <a:t>CAN I? </a:t>
            </a:r>
            <a:r>
              <a:rPr lang="en-US" sz="4000" kern="1200" dirty="0">
                <a:latin typeface="+mj-lt"/>
                <a:ea typeface="+mj-ea"/>
                <a:cs typeface="+mj-cs"/>
              </a:rPr>
              <a:t>(pg.39)</a:t>
            </a:r>
            <a:endParaRPr lang="en-AU" sz="4800" dirty="0"/>
          </a:p>
        </p:txBody>
      </p:sp>
      <p:cxnSp>
        <p:nvCxnSpPr>
          <p:cNvPr id="22" name="Straight Connector 2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F1F4113-4C97-6E04-86E1-52498DD42EAD}"/>
              </a:ext>
            </a:extLst>
          </p:cNvPr>
          <p:cNvSpPr>
            <a:spLocks/>
          </p:cNvSpPr>
          <p:nvPr/>
        </p:nvSpPr>
        <p:spPr>
          <a:xfrm>
            <a:off x="838200" y="2939518"/>
            <a:ext cx="3490328" cy="3489039"/>
          </a:xfrm>
          <a:prstGeom prst="rect">
            <a:avLst/>
          </a:prstGeom>
        </p:spPr>
        <p:txBody>
          <a:bodyPr/>
          <a:lstStyle/>
          <a:p>
            <a:r>
              <a:rPr lang="en-AU" dirty="0"/>
              <a:t>The CAN I acronym can be used to ensure that a situation is consensual. </a:t>
            </a:r>
          </a:p>
          <a:p>
            <a:endParaRPr lang="en-AU" dirty="0"/>
          </a:p>
          <a:p>
            <a:r>
              <a:rPr lang="en-AU" dirty="0"/>
              <a:t>Use the information to fill in the dot points into your books. Include a minimum of 3 for each box.</a:t>
            </a:r>
          </a:p>
          <a:p>
            <a:endParaRPr lang="en-AU" dirty="0"/>
          </a:p>
          <a:p>
            <a:r>
              <a:rPr lang="en-AU" b="1" dirty="0">
                <a:solidFill>
                  <a:srgbClr val="C00000"/>
                </a:solidFill>
              </a:rPr>
              <a:t>C</a:t>
            </a:r>
            <a:r>
              <a:rPr lang="en-AU" dirty="0"/>
              <a:t> – Consent has been given</a:t>
            </a:r>
          </a:p>
          <a:p>
            <a:endParaRPr lang="en-AU" dirty="0"/>
          </a:p>
          <a:p>
            <a:r>
              <a:rPr lang="en-AU" b="1" dirty="0">
                <a:solidFill>
                  <a:srgbClr val="EE6949"/>
                </a:solidFill>
              </a:rPr>
              <a:t>A</a:t>
            </a:r>
            <a:r>
              <a:rPr lang="en-AU" dirty="0"/>
              <a:t> – Actions are consistent with words</a:t>
            </a:r>
          </a:p>
        </p:txBody>
      </p:sp>
      <p:pic>
        <p:nvPicPr>
          <p:cNvPr id="4" name="Picture 3" descr="A close-up of a questionnaire&#10;&#10;Description automatically generated">
            <a:extLst>
              <a:ext uri="{FF2B5EF4-FFF2-40B4-BE49-F238E27FC236}">
                <a16:creationId xmlns:a16="http://schemas.microsoft.com/office/drawing/2014/main" id="{C4B5FEF3-C3B3-2C89-CDB8-F1A46FB4715D}"/>
              </a:ext>
            </a:extLst>
          </p:cNvPr>
          <p:cNvPicPr>
            <a:picLocks noChangeAspect="1"/>
          </p:cNvPicPr>
          <p:nvPr/>
        </p:nvPicPr>
        <p:blipFill>
          <a:blip r:embed="rId3"/>
          <a:stretch>
            <a:fillRect/>
          </a:stretch>
        </p:blipFill>
        <p:spPr>
          <a:xfrm>
            <a:off x="4414145" y="0"/>
            <a:ext cx="7577641" cy="3237443"/>
          </a:xfrm>
          <a:prstGeom prst="rect">
            <a:avLst/>
          </a:prstGeom>
        </p:spPr>
      </p:pic>
      <p:pic>
        <p:nvPicPr>
          <p:cNvPr id="6" name="Picture 5" descr="A close-up of a question&#10;&#10;Description automatically generated">
            <a:extLst>
              <a:ext uri="{FF2B5EF4-FFF2-40B4-BE49-F238E27FC236}">
                <a16:creationId xmlns:a16="http://schemas.microsoft.com/office/drawing/2014/main" id="{D5DDAC92-8604-685A-C4F0-521CDD5CF854}"/>
              </a:ext>
            </a:extLst>
          </p:cNvPr>
          <p:cNvPicPr>
            <a:picLocks noChangeAspect="1"/>
          </p:cNvPicPr>
          <p:nvPr/>
        </p:nvPicPr>
        <p:blipFill>
          <a:blip r:embed="rId4"/>
          <a:stretch>
            <a:fillRect/>
          </a:stretch>
        </p:blipFill>
        <p:spPr>
          <a:xfrm>
            <a:off x="4328528" y="3191119"/>
            <a:ext cx="7643078" cy="3237439"/>
          </a:xfrm>
          <a:prstGeom prst="rect">
            <a:avLst/>
          </a:prstGeom>
        </p:spPr>
      </p:pic>
      <p:sp>
        <p:nvSpPr>
          <p:cNvPr id="5" name="TextBox 4">
            <a:extLst>
              <a:ext uri="{FF2B5EF4-FFF2-40B4-BE49-F238E27FC236}">
                <a16:creationId xmlns:a16="http://schemas.microsoft.com/office/drawing/2014/main" id="{75979556-9AE5-ED24-7954-34C9228B668D}"/>
              </a:ext>
            </a:extLst>
          </p:cNvPr>
          <p:cNvSpPr txBox="1"/>
          <p:nvPr/>
        </p:nvSpPr>
        <p:spPr>
          <a:xfrm>
            <a:off x="4695174" y="673807"/>
            <a:ext cx="6956801" cy="2308324"/>
          </a:xfrm>
          <a:prstGeom prst="rect">
            <a:avLst/>
          </a:prstGeom>
          <a:solidFill>
            <a:schemeClr val="bg1"/>
          </a:solidFill>
        </p:spPr>
        <p:txBody>
          <a:bodyPr wrap="square" rtlCol="0">
            <a:spAutoFit/>
          </a:bodyPr>
          <a:lstStyle/>
          <a:p>
            <a:r>
              <a:rPr lang="en-AU" dirty="0"/>
              <a:t>Consent is not just a </a:t>
            </a:r>
            <a:r>
              <a:rPr lang="en-AU" b="1" dirty="0"/>
              <a:t>Yes</a:t>
            </a:r>
            <a:r>
              <a:rPr lang="en-AU" dirty="0"/>
              <a:t> or a </a:t>
            </a:r>
            <a:r>
              <a:rPr lang="en-AU" b="1" dirty="0"/>
              <a:t>No</a:t>
            </a:r>
            <a:r>
              <a:rPr lang="en-AU" dirty="0"/>
              <a:t>. It’s about the person you are going to have sex with wanting it the whole time that you are having sex. Some ways to ask for consent include:</a:t>
            </a:r>
          </a:p>
          <a:p>
            <a:pPr marL="285750" indent="-285750">
              <a:buFontTx/>
              <a:buChar char="-"/>
            </a:pPr>
            <a:r>
              <a:rPr lang="en-AU" dirty="0"/>
              <a:t>I want to _____.				</a:t>
            </a:r>
          </a:p>
          <a:p>
            <a:pPr marL="285750" indent="-285750">
              <a:buFontTx/>
              <a:buChar char="-"/>
            </a:pPr>
            <a:r>
              <a:rPr lang="en-AU" dirty="0"/>
              <a:t>Do you want me to ____?</a:t>
            </a:r>
          </a:p>
          <a:p>
            <a:pPr marL="285750" indent="-285750">
              <a:buFontTx/>
              <a:buChar char="-"/>
            </a:pPr>
            <a:r>
              <a:rPr lang="en-AU" dirty="0"/>
              <a:t>Do you want to try ____? 		</a:t>
            </a:r>
          </a:p>
          <a:p>
            <a:pPr marL="285750" indent="-285750">
              <a:buFontTx/>
              <a:buChar char="-"/>
            </a:pPr>
            <a:r>
              <a:rPr lang="en-AU" dirty="0"/>
              <a:t>What do you like?</a:t>
            </a:r>
          </a:p>
          <a:p>
            <a:r>
              <a:rPr lang="en-AU" dirty="0"/>
              <a:t>		</a:t>
            </a:r>
          </a:p>
        </p:txBody>
      </p:sp>
      <p:sp>
        <p:nvSpPr>
          <p:cNvPr id="7" name="TextBox 6">
            <a:extLst>
              <a:ext uri="{FF2B5EF4-FFF2-40B4-BE49-F238E27FC236}">
                <a16:creationId xmlns:a16="http://schemas.microsoft.com/office/drawing/2014/main" id="{90ACED86-A258-DBC3-BCA3-894517A67F5E}"/>
              </a:ext>
            </a:extLst>
          </p:cNvPr>
          <p:cNvSpPr txBox="1"/>
          <p:nvPr/>
        </p:nvSpPr>
        <p:spPr>
          <a:xfrm>
            <a:off x="4695174" y="3655938"/>
            <a:ext cx="6956801" cy="2585323"/>
          </a:xfrm>
          <a:prstGeom prst="rect">
            <a:avLst/>
          </a:prstGeom>
          <a:solidFill>
            <a:schemeClr val="bg1"/>
          </a:solidFill>
        </p:spPr>
        <p:txBody>
          <a:bodyPr wrap="square" rtlCol="0">
            <a:spAutoFit/>
          </a:bodyPr>
          <a:lstStyle/>
          <a:p>
            <a:r>
              <a:rPr lang="en-AU" dirty="0"/>
              <a:t>How many times have you said yes and meant no? Did you commit to something you didn’t want to do? During sex, sometimes we say things in the moment that cannot be taken back. Making sure your partner’s actions are consistent with their words is key to having good sex.</a:t>
            </a:r>
          </a:p>
          <a:p>
            <a:pPr marL="285750" indent="-285750">
              <a:buFontTx/>
              <a:buChar char="-"/>
            </a:pPr>
            <a:endParaRPr lang="en-AU" dirty="0"/>
          </a:p>
          <a:p>
            <a:pPr marL="285750" indent="-285750">
              <a:buFontTx/>
              <a:buChar char="-"/>
            </a:pPr>
            <a:r>
              <a:rPr lang="en-AU" dirty="0"/>
              <a:t>Speaking words of encouragement </a:t>
            </a:r>
          </a:p>
          <a:p>
            <a:pPr marL="285750" indent="-285750">
              <a:buFontTx/>
              <a:buChar char="-"/>
            </a:pPr>
            <a:endParaRPr lang="en-AU" dirty="0"/>
          </a:p>
          <a:p>
            <a:pPr marL="285750" indent="-285750">
              <a:buFontTx/>
              <a:buChar char="-"/>
            </a:pPr>
            <a:r>
              <a:rPr lang="en-AU" dirty="0"/>
              <a:t>Are they participating as much as you are? Kissing you? Touching you?</a:t>
            </a:r>
          </a:p>
        </p:txBody>
      </p:sp>
    </p:spTree>
    <p:extLst>
      <p:ext uri="{BB962C8B-B14F-4D97-AF65-F5344CB8AC3E}">
        <p14:creationId xmlns:p14="http://schemas.microsoft.com/office/powerpoint/2010/main" val="3568141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6" name="Rectangle 1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30CBDB-ABD1-4EC8-E84F-FA2108BB1868}"/>
              </a:ext>
            </a:extLst>
          </p:cNvPr>
          <p:cNvSpPr>
            <a:spLocks noGrp="1"/>
          </p:cNvSpPr>
          <p:nvPr>
            <p:ph type="title"/>
          </p:nvPr>
        </p:nvSpPr>
        <p:spPr>
          <a:xfrm>
            <a:off x="1043631" y="809898"/>
            <a:ext cx="10173010" cy="1554480"/>
          </a:xfrm>
        </p:spPr>
        <p:txBody>
          <a:bodyPr anchor="ctr">
            <a:normAutofit/>
          </a:bodyPr>
          <a:lstStyle/>
          <a:p>
            <a:r>
              <a:rPr lang="en-AU" sz="4800" dirty="0"/>
              <a:t>CAN I? </a:t>
            </a:r>
            <a:r>
              <a:rPr lang="en-US" sz="3600" kern="1200" dirty="0">
                <a:latin typeface="+mj-lt"/>
                <a:ea typeface="+mj-ea"/>
                <a:cs typeface="+mj-cs"/>
              </a:rPr>
              <a:t>(pg.39)</a:t>
            </a:r>
            <a:endParaRPr lang="en-AU" sz="4800" dirty="0"/>
          </a:p>
        </p:txBody>
      </p:sp>
      <p:cxnSp>
        <p:nvCxnSpPr>
          <p:cNvPr id="22" name="Straight Connector 2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F1F4113-4C97-6E04-86E1-52498DD42EAD}"/>
              </a:ext>
            </a:extLst>
          </p:cNvPr>
          <p:cNvSpPr>
            <a:spLocks/>
          </p:cNvSpPr>
          <p:nvPr/>
        </p:nvSpPr>
        <p:spPr>
          <a:xfrm>
            <a:off x="838200" y="2939519"/>
            <a:ext cx="3490328" cy="3237444"/>
          </a:xfrm>
          <a:prstGeom prst="rect">
            <a:avLst/>
          </a:prstGeom>
        </p:spPr>
        <p:txBody>
          <a:bodyPr/>
          <a:lstStyle/>
          <a:p>
            <a:r>
              <a:rPr lang="en-AU" dirty="0"/>
              <a:t>The CAN I acronym can be used to ensure that a situation is consensual. </a:t>
            </a:r>
          </a:p>
          <a:p>
            <a:endParaRPr lang="en-AU" dirty="0"/>
          </a:p>
          <a:p>
            <a:r>
              <a:rPr lang="en-AU" dirty="0"/>
              <a:t>Use the information to fill in the dot points into your books. Include a minimum of 3 for each box.</a:t>
            </a:r>
          </a:p>
          <a:p>
            <a:endParaRPr lang="en-AU" dirty="0"/>
          </a:p>
          <a:p>
            <a:r>
              <a:rPr lang="en-AU" b="1" dirty="0">
                <a:solidFill>
                  <a:srgbClr val="FFC000"/>
                </a:solidFill>
              </a:rPr>
              <a:t>N</a:t>
            </a:r>
            <a:r>
              <a:rPr lang="en-AU" dirty="0"/>
              <a:t> – No pressure</a:t>
            </a:r>
          </a:p>
          <a:p>
            <a:endParaRPr lang="en-AU" dirty="0"/>
          </a:p>
          <a:p>
            <a:r>
              <a:rPr lang="en-AU" dirty="0">
                <a:solidFill>
                  <a:srgbClr val="00B050"/>
                </a:solidFill>
              </a:rPr>
              <a:t>I</a:t>
            </a:r>
            <a:r>
              <a:rPr lang="en-AU" dirty="0"/>
              <a:t> – I ask</a:t>
            </a:r>
          </a:p>
        </p:txBody>
      </p:sp>
      <p:pic>
        <p:nvPicPr>
          <p:cNvPr id="5" name="Picture 4">
            <a:extLst>
              <a:ext uri="{FF2B5EF4-FFF2-40B4-BE49-F238E27FC236}">
                <a16:creationId xmlns:a16="http://schemas.microsoft.com/office/drawing/2014/main" id="{0BEA0A00-E24C-624C-4CD6-2183D1AD35D5}"/>
              </a:ext>
            </a:extLst>
          </p:cNvPr>
          <p:cNvPicPr>
            <a:picLocks noChangeAspect="1"/>
          </p:cNvPicPr>
          <p:nvPr/>
        </p:nvPicPr>
        <p:blipFill>
          <a:blip r:embed="rId3"/>
          <a:stretch>
            <a:fillRect/>
          </a:stretch>
        </p:blipFill>
        <p:spPr>
          <a:xfrm>
            <a:off x="4328528" y="71515"/>
            <a:ext cx="7859117" cy="3068960"/>
          </a:xfrm>
          <a:prstGeom prst="rect">
            <a:avLst/>
          </a:prstGeom>
        </p:spPr>
      </p:pic>
      <p:pic>
        <p:nvPicPr>
          <p:cNvPr id="7" name="Picture 6">
            <a:extLst>
              <a:ext uri="{FF2B5EF4-FFF2-40B4-BE49-F238E27FC236}">
                <a16:creationId xmlns:a16="http://schemas.microsoft.com/office/drawing/2014/main" id="{7DE97135-CC81-442B-CCE0-7699F85D9971}"/>
              </a:ext>
            </a:extLst>
          </p:cNvPr>
          <p:cNvPicPr>
            <a:picLocks noChangeAspect="1"/>
          </p:cNvPicPr>
          <p:nvPr/>
        </p:nvPicPr>
        <p:blipFill rotWithShape="1">
          <a:blip r:embed="rId4"/>
          <a:srcRect/>
          <a:stretch/>
        </p:blipFill>
        <p:spPr>
          <a:xfrm>
            <a:off x="4379602" y="3311647"/>
            <a:ext cx="7724822" cy="3068959"/>
          </a:xfrm>
          <a:prstGeom prst="rect">
            <a:avLst/>
          </a:prstGeom>
        </p:spPr>
      </p:pic>
      <p:sp>
        <p:nvSpPr>
          <p:cNvPr id="4" name="TextBox 3">
            <a:extLst>
              <a:ext uri="{FF2B5EF4-FFF2-40B4-BE49-F238E27FC236}">
                <a16:creationId xmlns:a16="http://schemas.microsoft.com/office/drawing/2014/main" id="{BA98C2F3-44F1-27B2-F12F-3E5FC5D84B91}"/>
              </a:ext>
            </a:extLst>
          </p:cNvPr>
          <p:cNvSpPr txBox="1"/>
          <p:nvPr/>
        </p:nvSpPr>
        <p:spPr>
          <a:xfrm>
            <a:off x="4636140" y="526564"/>
            <a:ext cx="7251668" cy="2308324"/>
          </a:xfrm>
          <a:prstGeom prst="rect">
            <a:avLst/>
          </a:prstGeom>
          <a:solidFill>
            <a:schemeClr val="bg1"/>
          </a:solidFill>
        </p:spPr>
        <p:txBody>
          <a:bodyPr wrap="square" rtlCol="0">
            <a:spAutoFit/>
          </a:bodyPr>
          <a:lstStyle/>
          <a:p>
            <a:r>
              <a:rPr lang="en-AU" dirty="0"/>
              <a:t>Just because one person wants something at one time, doesn’t mean that we all do. Remember that you and your partner have the right to good voluntary sex.</a:t>
            </a:r>
          </a:p>
          <a:p>
            <a:pPr marL="285750" indent="-285750">
              <a:buFontTx/>
              <a:buChar char="-"/>
            </a:pPr>
            <a:r>
              <a:rPr lang="en-AU" dirty="0"/>
              <a:t>It’s OK if you or someone else don’t want to have sex.</a:t>
            </a:r>
          </a:p>
          <a:p>
            <a:pPr marL="285750" indent="-285750">
              <a:buFontTx/>
              <a:buChar char="-"/>
            </a:pPr>
            <a:r>
              <a:rPr lang="en-AU" dirty="0"/>
              <a:t>It’s OK if you don’t want to try something unfamiliar. </a:t>
            </a:r>
          </a:p>
          <a:p>
            <a:pPr marL="285750" indent="-285750">
              <a:buFontTx/>
              <a:buChar char="-"/>
            </a:pPr>
            <a:r>
              <a:rPr lang="en-AU" dirty="0"/>
              <a:t>It’s OK to pause, take a break, slow down, and stop.</a:t>
            </a:r>
          </a:p>
          <a:p>
            <a:pPr marL="285750" indent="-285750">
              <a:buFontTx/>
              <a:buChar char="-"/>
            </a:pPr>
            <a:r>
              <a:rPr lang="en-AU" dirty="0"/>
              <a:t>It’s OK to say yes sometimes and say no other times.</a:t>
            </a:r>
          </a:p>
          <a:p>
            <a:pPr marL="285750" indent="-285750">
              <a:buFontTx/>
              <a:buChar char="-"/>
            </a:pPr>
            <a:r>
              <a:rPr lang="en-AU" dirty="0"/>
              <a:t>It’s OK to say what you like, and what you don’t like. </a:t>
            </a:r>
          </a:p>
        </p:txBody>
      </p:sp>
      <p:sp>
        <p:nvSpPr>
          <p:cNvPr id="6" name="TextBox 5">
            <a:extLst>
              <a:ext uri="{FF2B5EF4-FFF2-40B4-BE49-F238E27FC236}">
                <a16:creationId xmlns:a16="http://schemas.microsoft.com/office/drawing/2014/main" id="{767EB109-DCC9-577D-2078-781BDF0EE414}"/>
              </a:ext>
            </a:extLst>
          </p:cNvPr>
          <p:cNvSpPr txBox="1"/>
          <p:nvPr/>
        </p:nvSpPr>
        <p:spPr>
          <a:xfrm>
            <a:off x="4650687" y="3804938"/>
            <a:ext cx="7251915" cy="2308324"/>
          </a:xfrm>
          <a:prstGeom prst="rect">
            <a:avLst/>
          </a:prstGeom>
          <a:solidFill>
            <a:schemeClr val="bg1"/>
          </a:solidFill>
        </p:spPr>
        <p:txBody>
          <a:bodyPr wrap="square" rtlCol="0">
            <a:spAutoFit/>
          </a:bodyPr>
          <a:lstStyle/>
          <a:p>
            <a:r>
              <a:rPr lang="en-AU" dirty="0"/>
              <a:t>Checking in with your partner throughout sex is necessary to ensure that the entire time is enjoyable for everyone. </a:t>
            </a:r>
          </a:p>
          <a:p>
            <a:r>
              <a:rPr lang="en-AU" dirty="0"/>
              <a:t>Consent doesn’t need to be boring! Check-in by asking:</a:t>
            </a:r>
          </a:p>
          <a:p>
            <a:endParaRPr lang="en-AU" dirty="0"/>
          </a:p>
          <a:p>
            <a:pPr marL="285750" indent="-285750">
              <a:buFontTx/>
              <a:buChar char="-"/>
            </a:pPr>
            <a:r>
              <a:rPr lang="en-AU" dirty="0"/>
              <a:t>Do you like that?		- Does that feel good?</a:t>
            </a:r>
          </a:p>
          <a:p>
            <a:pPr marL="285750" indent="-285750">
              <a:buFontTx/>
              <a:buChar char="-"/>
            </a:pPr>
            <a:r>
              <a:rPr lang="en-AU" dirty="0"/>
              <a:t>Is this okay?			- Tell me what you want next.</a:t>
            </a:r>
          </a:p>
          <a:p>
            <a:pPr marL="285750" indent="-285750">
              <a:buFontTx/>
              <a:buChar char="-"/>
            </a:pPr>
            <a:r>
              <a:rPr lang="en-AU" dirty="0"/>
              <a:t>Do you want it? </a:t>
            </a:r>
          </a:p>
          <a:p>
            <a:pPr marL="285750" indent="-285750">
              <a:buFontTx/>
              <a:buChar char="-"/>
            </a:pPr>
            <a:endParaRPr lang="en-AU" dirty="0"/>
          </a:p>
        </p:txBody>
      </p:sp>
    </p:spTree>
    <p:extLst>
      <p:ext uri="{BB962C8B-B14F-4D97-AF65-F5344CB8AC3E}">
        <p14:creationId xmlns:p14="http://schemas.microsoft.com/office/powerpoint/2010/main" val="1189525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561AEE4-4E38-4BAC-976D-E0DE523FC5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F0BC676B-D19A-44DB-910A-0C0E6D4339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431" y="3985"/>
            <a:ext cx="9772765" cy="6858000"/>
            <a:chOff x="1303402" y="3985"/>
            <a:chExt cx="9772765" cy="6858000"/>
          </a:xfrm>
        </p:grpSpPr>
        <p:sp>
          <p:nvSpPr>
            <p:cNvPr id="13" name="Freeform: Shape 12">
              <a:extLst>
                <a:ext uri="{FF2B5EF4-FFF2-40B4-BE49-F238E27FC236}">
                  <a16:creationId xmlns:a16="http://schemas.microsoft.com/office/drawing/2014/main" id="{999AA485-A13F-4455-814E-C116AD7E0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9C90D55F-0AFB-45E5-8815-A4701774CE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D476B6C1-4A41-48E6-8540-FC48FCD769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3347F445-D2CA-4FEB-AB8E-7A47AB57CD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12F1B3D8-301E-4A54-9284-EB14E9056B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CE4B9C67-860A-4569-AC84-3ADE433D1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1175B763-A6E6-4AD1-9138-9B1164A7A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EC7A0C9F-7D2E-046B-48BB-C5F933379361}"/>
              </a:ext>
            </a:extLst>
          </p:cNvPr>
          <p:cNvSpPr>
            <a:spLocks noGrp="1"/>
          </p:cNvSpPr>
          <p:nvPr>
            <p:ph type="title"/>
          </p:nvPr>
        </p:nvSpPr>
        <p:spPr>
          <a:xfrm>
            <a:off x="3033466" y="991261"/>
            <a:ext cx="5754696" cy="1837349"/>
          </a:xfrm>
        </p:spPr>
        <p:txBody>
          <a:bodyPr anchor="ctr">
            <a:normAutofit/>
          </a:bodyPr>
          <a:lstStyle/>
          <a:p>
            <a:pPr algn="ctr"/>
            <a:r>
              <a:rPr lang="en-AU" sz="3600">
                <a:solidFill>
                  <a:schemeClr val="tx2"/>
                </a:solidFill>
              </a:rPr>
              <a:t>Additional Information</a:t>
            </a:r>
          </a:p>
        </p:txBody>
      </p:sp>
      <p:sp>
        <p:nvSpPr>
          <p:cNvPr id="3" name="Content Placeholder 2">
            <a:extLst>
              <a:ext uri="{FF2B5EF4-FFF2-40B4-BE49-F238E27FC236}">
                <a16:creationId xmlns:a16="http://schemas.microsoft.com/office/drawing/2014/main" id="{29F73AC6-FE62-D4FB-B594-E950161AB4C3}"/>
              </a:ext>
            </a:extLst>
          </p:cNvPr>
          <p:cNvSpPr>
            <a:spLocks noGrp="1"/>
          </p:cNvSpPr>
          <p:nvPr>
            <p:ph idx="1"/>
          </p:nvPr>
        </p:nvSpPr>
        <p:spPr>
          <a:xfrm>
            <a:off x="2203160" y="2979336"/>
            <a:ext cx="7469856" cy="2430864"/>
          </a:xfrm>
        </p:spPr>
        <p:txBody>
          <a:bodyPr anchor="t">
            <a:normAutofit/>
          </a:bodyPr>
          <a:lstStyle/>
          <a:p>
            <a:r>
              <a:rPr lang="en-AU" dirty="0">
                <a:solidFill>
                  <a:schemeClr val="tx2"/>
                </a:solidFill>
              </a:rPr>
              <a:t>Pages 40 – 47 in your workbooks contains extra information from Legal Aid WA regarding:</a:t>
            </a:r>
          </a:p>
          <a:p>
            <a:endParaRPr lang="en-AU" dirty="0">
              <a:solidFill>
                <a:schemeClr val="tx2"/>
              </a:solidFill>
            </a:endParaRPr>
          </a:p>
          <a:p>
            <a:pPr lvl="1"/>
            <a:r>
              <a:rPr lang="en-AU" sz="2800" dirty="0">
                <a:solidFill>
                  <a:schemeClr val="tx2"/>
                </a:solidFill>
              </a:rPr>
              <a:t>Sex and Consent Laws.</a:t>
            </a:r>
          </a:p>
          <a:p>
            <a:pPr lvl="1"/>
            <a:r>
              <a:rPr lang="en-AU" sz="2800" dirty="0">
                <a:solidFill>
                  <a:schemeClr val="tx2"/>
                </a:solidFill>
              </a:rPr>
              <a:t>Image-based abuse. </a:t>
            </a:r>
          </a:p>
        </p:txBody>
      </p:sp>
    </p:spTree>
    <p:extLst>
      <p:ext uri="{BB962C8B-B14F-4D97-AF65-F5344CB8AC3E}">
        <p14:creationId xmlns:p14="http://schemas.microsoft.com/office/powerpoint/2010/main" val="309949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024687B-3153-123C-0A8C-D7D007FAF1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10" name="Rectangle 9">
              <a:extLst>
                <a:ext uri="{FF2B5EF4-FFF2-40B4-BE49-F238E27FC236}">
                  <a16:creationId xmlns:a16="http://schemas.microsoft.com/office/drawing/2014/main" id="{8D6305F5-7509-0BF5-12D3-30451FCD73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71C5C7A-6D55-5B27-646E-39C962693C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3B3B1F4-948C-963C-E6EA-60CF7FBFA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C0949E1-6217-3D11-CCF7-55D99D6939A4}"/>
              </a:ext>
            </a:extLst>
          </p:cNvPr>
          <p:cNvSpPr>
            <a:spLocks noGrp="1"/>
          </p:cNvSpPr>
          <p:nvPr>
            <p:ph type="title"/>
          </p:nvPr>
        </p:nvSpPr>
        <p:spPr>
          <a:xfrm>
            <a:off x="876691" y="301843"/>
            <a:ext cx="10477109" cy="1003532"/>
          </a:xfrm>
        </p:spPr>
        <p:txBody>
          <a:bodyPr anchor="ctr">
            <a:normAutofit/>
          </a:bodyPr>
          <a:lstStyle/>
          <a:p>
            <a:r>
              <a:rPr lang="en-US" sz="3200" dirty="0">
                <a:solidFill>
                  <a:srgbClr val="FFFFFF"/>
                </a:solidFill>
              </a:rPr>
              <a:t>Activity 3: Behaviours that may prevent sexual assault </a:t>
            </a:r>
            <a:r>
              <a:rPr lang="en-US" sz="3200" kern="1200" dirty="0">
                <a:solidFill>
                  <a:srgbClr val="FFFFFF"/>
                </a:solidFill>
                <a:latin typeface="+mj-lt"/>
                <a:ea typeface="+mj-ea"/>
                <a:cs typeface="+mj-cs"/>
              </a:rPr>
              <a:t>(pg.40)</a:t>
            </a:r>
            <a:endParaRPr lang="en-US" sz="3200" dirty="0">
              <a:solidFill>
                <a:srgbClr val="FFFFFF"/>
              </a:solidFill>
            </a:endParaRPr>
          </a:p>
        </p:txBody>
      </p:sp>
      <p:sp>
        <p:nvSpPr>
          <p:cNvPr id="3" name="Content Placeholder 2">
            <a:extLst>
              <a:ext uri="{FF2B5EF4-FFF2-40B4-BE49-F238E27FC236}">
                <a16:creationId xmlns:a16="http://schemas.microsoft.com/office/drawing/2014/main" id="{5A52AB78-B1D7-7567-5C2E-0458A2BFD49B}"/>
              </a:ext>
            </a:extLst>
          </p:cNvPr>
          <p:cNvSpPr>
            <a:spLocks noGrp="1"/>
          </p:cNvSpPr>
          <p:nvPr>
            <p:ph idx="1"/>
          </p:nvPr>
        </p:nvSpPr>
        <p:spPr>
          <a:xfrm>
            <a:off x="876301" y="2308124"/>
            <a:ext cx="5025735" cy="3673576"/>
          </a:xfrm>
        </p:spPr>
        <p:txBody>
          <a:bodyPr>
            <a:normAutofit/>
          </a:bodyPr>
          <a:lstStyle/>
          <a:p>
            <a:r>
              <a:rPr lang="en-US" sz="2400" dirty="0"/>
              <a:t>Using the word bank at the top of the page to fill in the blanks and uncover tips to prevent sexual assault. </a:t>
            </a:r>
          </a:p>
          <a:p>
            <a:endParaRPr lang="en-US" sz="2400" dirty="0"/>
          </a:p>
          <a:p>
            <a:endParaRPr lang="en-US" sz="2400" dirty="0"/>
          </a:p>
          <a:p>
            <a:r>
              <a:rPr lang="en-US" sz="2400" dirty="0"/>
              <a:t>These tips can be used for yourself or share them with others to ensure everyone can be safe. </a:t>
            </a:r>
          </a:p>
        </p:txBody>
      </p:sp>
      <p:pic>
        <p:nvPicPr>
          <p:cNvPr id="4" name="Picture 3" descr="A close-up of a questionnaire&#10;&#10;Description automatically generated">
            <a:extLst>
              <a:ext uri="{FF2B5EF4-FFF2-40B4-BE49-F238E27FC236}">
                <a16:creationId xmlns:a16="http://schemas.microsoft.com/office/drawing/2014/main" id="{26E759B7-F7F9-3ACB-FBBB-93C273D155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9966" y="1488993"/>
            <a:ext cx="4183523" cy="5398097"/>
          </a:xfrm>
          <a:prstGeom prst="rect">
            <a:avLst/>
          </a:prstGeom>
        </p:spPr>
      </p:pic>
    </p:spTree>
    <p:extLst>
      <p:ext uri="{BB962C8B-B14F-4D97-AF65-F5344CB8AC3E}">
        <p14:creationId xmlns:p14="http://schemas.microsoft.com/office/powerpoint/2010/main" val="2578521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101E18-0648-E92D-4A24-8ABC356773BB}"/>
              </a:ext>
            </a:extLst>
          </p:cNvPr>
          <p:cNvSpPr>
            <a:spLocks noGrp="1"/>
          </p:cNvSpPr>
          <p:nvPr>
            <p:ph type="title"/>
          </p:nvPr>
        </p:nvSpPr>
        <p:spPr>
          <a:xfrm>
            <a:off x="630936" y="639520"/>
            <a:ext cx="3429000" cy="1719072"/>
          </a:xfrm>
        </p:spPr>
        <p:txBody>
          <a:bodyPr anchor="b">
            <a:normAutofit/>
          </a:bodyPr>
          <a:lstStyle/>
          <a:p>
            <a:r>
              <a:rPr lang="en-AU" sz="3400"/>
              <a:t>Exit Ticket/Reflection:</a:t>
            </a:r>
          </a:p>
        </p:txBody>
      </p:sp>
      <p:sp>
        <p:nvSpPr>
          <p:cNvPr id="2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15794D68-3BA1-B7C5-DF40-6F4F8F1D17D5}"/>
              </a:ext>
            </a:extLst>
          </p:cNvPr>
          <p:cNvSpPr>
            <a:spLocks noGrp="1"/>
          </p:cNvSpPr>
          <p:nvPr>
            <p:ph idx="1"/>
          </p:nvPr>
        </p:nvSpPr>
        <p:spPr>
          <a:xfrm>
            <a:off x="630936" y="2807208"/>
            <a:ext cx="3429000" cy="3410712"/>
          </a:xfrm>
        </p:spPr>
        <p:txBody>
          <a:bodyPr anchor="t">
            <a:normAutofit/>
          </a:bodyPr>
          <a:lstStyle/>
          <a:p>
            <a:r>
              <a:rPr lang="en-US" sz="2200"/>
              <a:t>What is your one take away message from the video?</a:t>
            </a:r>
          </a:p>
          <a:p>
            <a:endParaRPr lang="en-US" sz="2200"/>
          </a:p>
          <a:p>
            <a:r>
              <a:rPr lang="en-US" sz="2200"/>
              <a:t>After the video, turn to a friend and share it with them or share it with your teacher on your way out the door.</a:t>
            </a:r>
          </a:p>
        </p:txBody>
      </p:sp>
      <p:pic>
        <p:nvPicPr>
          <p:cNvPr id="4" name="DO YOU WANT TEA_ Things I Wish I'd Learned About Drinking Tea When I Was Teenager [CONSENT AND TEA]" descr="A black and white logo&#10;&#10;Description automatically generated">
            <a:hlinkClick r:id="" action="ppaction://media"/>
            <a:extLst>
              <a:ext uri="{FF2B5EF4-FFF2-40B4-BE49-F238E27FC236}">
                <a16:creationId xmlns:a16="http://schemas.microsoft.com/office/drawing/2014/main" id="{75AAAECB-4B70-4FA1-5393-D863834A821F}"/>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012155" y="1160420"/>
            <a:ext cx="8066063" cy="4537160"/>
          </a:xfrm>
          <a:prstGeom prst="rect">
            <a:avLst/>
          </a:prstGeom>
        </p:spPr>
      </p:pic>
    </p:spTree>
    <p:extLst>
      <p:ext uri="{BB962C8B-B14F-4D97-AF65-F5344CB8AC3E}">
        <p14:creationId xmlns:p14="http://schemas.microsoft.com/office/powerpoint/2010/main" val="652608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280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15650</TotalTime>
  <Words>1013</Words>
  <Application>Microsoft Office PowerPoint</Application>
  <PresentationFormat>Widescreen</PresentationFormat>
  <Paragraphs>130</Paragraphs>
  <Slides>14</Slides>
  <Notes>10</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Relationships</vt:lpstr>
      <vt:lpstr>Todays Focus:</vt:lpstr>
      <vt:lpstr>Where to get help:</vt:lpstr>
      <vt:lpstr>PowerPoint Presentation</vt:lpstr>
      <vt:lpstr>Activity 1: Checking for consent (pg.37)</vt:lpstr>
      <vt:lpstr>Activity 2:  How to ask for consent – Gallery Walk</vt:lpstr>
      <vt:lpstr>21 ways to ask for consent: (pg.38)</vt:lpstr>
      <vt:lpstr>Benefits of asking for consent:  A conversation</vt:lpstr>
      <vt:lpstr>PowerPoint Presentation</vt:lpstr>
      <vt:lpstr>CAN I? (pg.39)</vt:lpstr>
      <vt:lpstr>CAN I? (pg.39)</vt:lpstr>
      <vt:lpstr>Additional Information</vt:lpstr>
      <vt:lpstr>Activity 3: Behaviours that may prevent sexual assault (pg.40)</vt:lpstr>
      <vt:lpstr>Exit Ticket/Reflection: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Relationships</dc:title>
  <dc:creator>HASSAN Gillian [Comet Bay College]</dc:creator>
  <cp:lastModifiedBy>HILLMAN Alissa [Willetton Senior High School]</cp:lastModifiedBy>
  <cp:revision>42</cp:revision>
  <cp:lastPrinted>2022-05-20T05:38:59Z</cp:lastPrinted>
  <dcterms:created xsi:type="dcterms:W3CDTF">2022-04-26T04:42:15Z</dcterms:created>
  <dcterms:modified xsi:type="dcterms:W3CDTF">2023-11-10T07:01:11Z</dcterms:modified>
</cp:coreProperties>
</file>
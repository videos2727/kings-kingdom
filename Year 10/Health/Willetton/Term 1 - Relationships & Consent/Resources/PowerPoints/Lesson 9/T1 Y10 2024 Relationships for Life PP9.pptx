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568" r:id="rId2"/>
    <p:sldId id="569" r:id="rId3"/>
    <p:sldId id="628" r:id="rId4"/>
    <p:sldId id="629" r:id="rId5"/>
    <p:sldId id="630" r:id="rId6"/>
    <p:sldId id="631" r:id="rId7"/>
    <p:sldId id="633" r:id="rId8"/>
    <p:sldId id="632" r:id="rId9"/>
    <p:sldId id="318" r:id="rId10"/>
    <p:sldId id="321" r:id="rId11"/>
    <p:sldId id="32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59C"/>
    <a:srgbClr val="EE6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059800-54A3-A94B-89F8-74BCD7FBF4D8}" v="107" dt="2023-11-06T14:43:09.641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35" autoAdjust="0"/>
    <p:restoredTop sz="80514" autoAdjust="0"/>
  </p:normalViewPr>
  <p:slideViewPr>
    <p:cSldViewPr snapToGrid="0" snapToObjects="1">
      <p:cViewPr varScale="1">
        <p:scale>
          <a:sx n="88" d="100"/>
          <a:sy n="88" d="100"/>
        </p:scale>
        <p:origin x="648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1D8AB0-823E-BC43-B6E2-654A40F2AE32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A5B9A-3C2C-634F-8582-DEDD16CFA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84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Resources – A3 paper, pens/pencils</a:t>
            </a:r>
          </a:p>
          <a:p>
            <a:endParaRPr lang="en-AU" dirty="0"/>
          </a:p>
          <a:p>
            <a:r>
              <a:rPr lang="en-AU" dirty="0"/>
              <a:t>Alternative: create a </a:t>
            </a:r>
            <a:r>
              <a:rPr lang="en-AU" dirty="0" err="1"/>
              <a:t>mentimeter</a:t>
            </a:r>
            <a:endParaRPr lang="en-AU" dirty="0"/>
          </a:p>
          <a:p>
            <a:pPr marL="171450" indent="-171450">
              <a:buFontTx/>
              <a:buChar char="-"/>
            </a:pPr>
            <a:r>
              <a:rPr lang="en-AU" dirty="0"/>
              <a:t>Teacher needs to sign up to www.mentimeter.com</a:t>
            </a:r>
          </a:p>
          <a:p>
            <a:pPr marL="171450" indent="-171450">
              <a:buFontTx/>
              <a:buChar char="-"/>
            </a:pPr>
            <a:r>
              <a:rPr lang="en-AU" dirty="0"/>
              <a:t>Create a </a:t>
            </a:r>
            <a:r>
              <a:rPr lang="en-AU" dirty="0" err="1"/>
              <a:t>wordcloud</a:t>
            </a:r>
            <a:r>
              <a:rPr lang="en-AU" dirty="0"/>
              <a:t>. </a:t>
            </a:r>
          </a:p>
          <a:p>
            <a:pPr marL="171450" indent="-171450">
              <a:buFontTx/>
              <a:buChar char="-"/>
            </a:pPr>
            <a:r>
              <a:rPr lang="en-AU" dirty="0"/>
              <a:t>Students can answer the question and their response will come up on the screen in real time. </a:t>
            </a:r>
          </a:p>
          <a:p>
            <a:pPr marL="171450" indent="-171450">
              <a:buFontTx/>
              <a:buChar char="-"/>
            </a:pPr>
            <a:r>
              <a:rPr lang="en-AU" dirty="0"/>
              <a:t>Only choose this if you trust your class.</a:t>
            </a:r>
          </a:p>
          <a:p>
            <a:pPr marL="0" indent="0">
              <a:buFontTx/>
              <a:buNone/>
            </a:pPr>
            <a:r>
              <a:rPr lang="en-AU" dirty="0"/>
              <a:t>**students will need a device to enter using a QR code or a code**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731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**keep this piece of paper for the next activity**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768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Spit fire round = students call out their answers to generate discussion and recap the 4 L’s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03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activity, each student in the group will have had a chance to consider the impacts on each aspect of a person’s life that a teenage pregnancy can have.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2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Discuss answers and instruct students to include at least 3 for each section into their workbooks. This can be answers from the board, the discussions, or what their groups produced. This number can be adjusted. </a:t>
            </a:r>
          </a:p>
          <a:p>
            <a:endParaRPr lang="en-AU" dirty="0"/>
          </a:p>
          <a:p>
            <a:r>
              <a:rPr lang="en-AU" dirty="0"/>
              <a:t>Option 1 – draw the grid on the board and allow one student from each group to come and write their answers on the board. </a:t>
            </a:r>
          </a:p>
          <a:p>
            <a:r>
              <a:rPr lang="en-AU" dirty="0"/>
              <a:t>Option 2 – simply do a class discussion.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11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FYI – discuss with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666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FYI – discuss with class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72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FYI – discuss with class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114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9AA1A-D8B1-B642-B5FA-034749F00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48208-7E1A-2842-9604-D48C8115B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D32A0-8103-2F47-908B-7AC7ADBC4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2523C-BF98-5C47-949E-8CDF6A7D9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FB279-DBA7-D543-9D04-0ECEA4E43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31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80EA1-A710-F147-9824-FB42D2C9D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99643-CDF0-E34C-B40B-9434A83A5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F9938-6456-8F4B-9B08-7488A5CFF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4C054-08B0-5B44-9711-9BB0C76B3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AAB5F-5A0F-AA4F-8FD6-F2EE01931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073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0EFE-F65D-6F4C-8C4C-DC15EF29C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FE3DD-78E9-D249-943F-5E4AEEE50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B39EF-E1B2-B64F-AAD4-20D3914D3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99ED9-2095-0A41-AB8D-90D47260E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8ADEF-2CEE-B841-96FC-F8D9104E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848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E1E26-37BA-E549-BD51-98C7135C0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D16B1-A7DE-884E-95DC-E8EC2F2F2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E544C-6FF8-9E4D-BAE4-1A2FC7E52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11BE4-852C-3746-9893-BA9B2652F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8825C-06C9-A148-A71C-379F8483F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F2281-33C0-3849-B726-A8E450A4C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37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06A-1FC2-9344-B2F0-D934AA48A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FE8CD-C22E-5647-B94D-33B7F3186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0C789A-EFDA-564A-98F3-5BD3F16EDC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9AC524-F52B-A344-87EF-A1FEF99F9D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1ABD3-34ED-A644-A137-CEDDB1CD31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D7F7FB-B51D-8C49-B148-318DED999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5E6BCA-80FE-854D-A627-CB445E9F1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BB53A1-E6B2-1D46-9449-75F09ADD0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269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54BC2-E1E3-4A47-8E88-D0FAAF02E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FE690-8409-C742-8F18-F5AE6D23D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EF96A-3236-3845-9EA2-6CD6A1E72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07D1B-E98B-4F40-9B4D-517191D63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02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270B5-9A5A-694A-B974-09018805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8DD51E-F58F-B046-A91A-D16B3D916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2B5AE-A52D-A649-BD4D-793CC9E99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98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227A4-AAA9-B64A-83F5-4DD4CBE5C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1413B-299C-724C-BAD9-DEA48B1EC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F122A-EECE-BE40-AE9F-E05D37648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62703-E69F-E747-97CA-DD322AAD1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8D0EC-2AAA-D248-B725-13A0BA305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E50A9-9718-AF49-A12A-099EEB540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0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30E7E-3AAD-8640-8E0A-9FCACF793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C49A7A-C6D8-4D49-821A-67652640A0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0C745-8D8F-F841-AA14-AFA13EFB6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06B88-47F5-5848-A203-CCB8D6050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27A69-2FC3-C347-BEA2-747DA72D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0AA35-18F3-A74C-9C84-999E18D5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592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4BE7B-E8E3-C544-9C83-408A67C97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9654D-3051-1343-8CAA-1F241AD08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3C3A0-CADC-6344-8A5D-0765713FC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C358-F5F0-BE49-8F7F-9101BC176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B55-F420-0C4A-B017-46666B4E8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256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3FB6C5-D359-6143-9E99-2EB8B86CBF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CD439-AC10-3F49-A649-8741A63D4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84498-23F1-FB47-AEA2-BB246838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59AE7-6904-2D45-9FAB-ED6CA66A5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6B0AF-B5D8-D041-8BB1-0FEEC92A1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81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6B43D-F0C7-FF42-BDE7-EA5B8850B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F1A2C-2AC7-4847-8D14-9896AD45D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E72F5-7135-7942-B0F0-FD85E11195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21C71-EAA6-0E40-ABD1-5AA76963D0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FDDCD-3762-3A43-A576-339DC3E37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55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w to build closer relationships |">
            <a:extLst>
              <a:ext uri="{FF2B5EF4-FFF2-40B4-BE49-F238E27FC236}">
                <a16:creationId xmlns:a16="http://schemas.microsoft.com/office/drawing/2014/main" id="{993A6699-BC9B-511F-3E60-ABF0D8FB83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6" b="4734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BD0C3AA-FE2A-B1FA-AAE1-86525DFA0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/>
          </a:bodyPr>
          <a:lstStyle/>
          <a:p>
            <a:pPr algn="l"/>
            <a:r>
              <a:rPr lang="en-AU" sz="11500" i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Relationships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1600534-E8EC-062C-BAE6-7252BE062A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>
            <a:normAutofit/>
          </a:bodyPr>
          <a:lstStyle/>
          <a:p>
            <a:pPr algn="l"/>
            <a:r>
              <a:rPr lang="en-AU" sz="2000" dirty="0"/>
              <a:t>Year 10 Health 2024</a:t>
            </a:r>
          </a:p>
          <a:p>
            <a:pPr algn="l"/>
            <a:endParaRPr lang="en-AU" sz="2000" dirty="0"/>
          </a:p>
          <a:p>
            <a:pPr algn="l"/>
            <a:r>
              <a:rPr lang="en-AU" sz="2000" dirty="0"/>
              <a:t>Lesson 9</a:t>
            </a:r>
          </a:p>
        </p:txBody>
      </p:sp>
    </p:spTree>
    <p:extLst>
      <p:ext uri="{BB962C8B-B14F-4D97-AF65-F5344CB8AC3E}">
        <p14:creationId xmlns:p14="http://schemas.microsoft.com/office/powerpoint/2010/main" val="3895748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64840D-1C6F-CE4F-9326-77D4E899D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en-US" sz="4300" b="1" dirty="0"/>
              <a:t>Todays Focus: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bout a Relationship | Humans">
            <a:extLst>
              <a:ext uri="{FF2B5EF4-FFF2-40B4-BE49-F238E27FC236}">
                <a16:creationId xmlns:a16="http://schemas.microsoft.com/office/drawing/2014/main" id="{96FABFFB-E460-7943-9DB7-118103F51A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75" r="13374" b="-2"/>
          <a:stretch/>
        </p:blipFill>
        <p:spPr bwMode="auto"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7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1F4BF-2934-5D4F-827E-B5276B218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2990818"/>
            <a:ext cx="4928445" cy="2913872"/>
          </a:xfrm>
        </p:spPr>
        <p:txBody>
          <a:bodyPr anchor="t">
            <a:normAutofit/>
          </a:bodyPr>
          <a:lstStyle/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Uncover the consequences of teenage pregnancy on all aspects of a young person’s life. 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List the benefits of postponing intercourse.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Investigate the options for parenting.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79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81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180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96B3D0-7EAD-C6DD-75AA-D981BB358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US" sz="4200"/>
              <a:t>HOOK: What are the benefits to postponing intercourse?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C18E1-BFCB-5538-0E52-69E2AE388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Students are working in groups of 3-4.</a:t>
            </a:r>
          </a:p>
          <a:p>
            <a:r>
              <a:rPr lang="en-US" sz="2000" dirty="0"/>
              <a:t>Each group gets an A3 piece of paper.</a:t>
            </a:r>
          </a:p>
          <a:p>
            <a:r>
              <a:rPr lang="en-US" sz="2000" dirty="0"/>
              <a:t>In the middle write the question above, with answers on the page around it. </a:t>
            </a:r>
          </a:p>
          <a:p>
            <a:r>
              <a:rPr lang="en-US" sz="2000" dirty="0"/>
              <a:t>Students have 3 minutes to brainstorm all their answers. </a:t>
            </a:r>
          </a:p>
          <a:p>
            <a:endParaRPr lang="en-US" sz="2000" dirty="0"/>
          </a:p>
          <a:p>
            <a:pPr marL="0" indent="0" algn="ctr">
              <a:buNone/>
            </a:pPr>
            <a:r>
              <a:rPr lang="en-US" sz="2000" dirty="0"/>
              <a:t>**keep this piece of paper for the next activity**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71978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BF545-7C0D-FCD2-56F9-AA7279098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248083"/>
            <a:ext cx="9849751" cy="1349671"/>
          </a:xfrm>
        </p:spPr>
        <p:txBody>
          <a:bodyPr anchor="b">
            <a:normAutofit/>
          </a:bodyPr>
          <a:lstStyle/>
          <a:p>
            <a:r>
              <a:rPr lang="en-AU" sz="4200" dirty="0"/>
              <a:t>HOOK: What are the benefits of postponing intercourse?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387E8-556D-2C96-E9BA-396BE7D9F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1284168"/>
            <a:ext cx="9849751" cy="4229111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Students then have 4 minutes to walk around the class with a pen/pencil and view other groups work.</a:t>
            </a:r>
          </a:p>
          <a:p>
            <a:pPr lvl="1"/>
            <a:r>
              <a:rPr lang="en-US" sz="2000" dirty="0"/>
              <a:t>If they agree with the answers, put a tick next to it.</a:t>
            </a:r>
          </a:p>
          <a:p>
            <a:pPr lvl="1"/>
            <a:r>
              <a:rPr lang="en-US" sz="2000" dirty="0"/>
              <a:t>If they disagree with the answer, put a cross next to it.</a:t>
            </a:r>
          </a:p>
          <a:p>
            <a:pPr lvl="1"/>
            <a:r>
              <a:rPr lang="en-US" sz="2000" dirty="0"/>
              <a:t>If they are unsure what the answer means, put a question mark.</a:t>
            </a:r>
          </a:p>
          <a:p>
            <a:r>
              <a:rPr lang="en-US" sz="2000" dirty="0"/>
              <a:t>Discussion: see what students answers were and if any groups had question marks next to their answers ask them to explain what was meant by their answer. </a:t>
            </a:r>
          </a:p>
          <a:p>
            <a:endParaRPr lang="en-AU" sz="2000" dirty="0"/>
          </a:p>
        </p:txBody>
      </p:sp>
      <p:pic>
        <p:nvPicPr>
          <p:cNvPr id="1026" name="Picture 2" descr="Tick PNG - Green Tick, Tick Mark, Tick Icon, Tick Symbol, Tick And Cross,  Tick Tock, Green Tick Mark, Tick Bug, Tick RED, Ticker Tape, Tick Cartoon,  Wood Tick. - CleanPNG / KissPNG">
            <a:extLst>
              <a:ext uri="{FF2B5EF4-FFF2-40B4-BE49-F238E27FC236}">
                <a16:creationId xmlns:a16="http://schemas.microsoft.com/office/drawing/2014/main" id="{DF95D554-E1F2-10AF-1DBD-2B77ABCBE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439" y="4445061"/>
            <a:ext cx="1847856" cy="1847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ick PNG - Green Tick, Tick Mark, Tick Icon, Tick Symbol, Tick And Cross,  Tick Tock, Green Tick Mark, Tick Bug, Tick RED, Ticker Tape, Tick Cartoon,  Wood Tick. - CleanPNG / KissPNG">
            <a:extLst>
              <a:ext uri="{FF2B5EF4-FFF2-40B4-BE49-F238E27FC236}">
                <a16:creationId xmlns:a16="http://schemas.microsoft.com/office/drawing/2014/main" id="{D5C34C81-482E-4181-2154-4691E578E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210" y="4463500"/>
            <a:ext cx="1799231" cy="1937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9672C98-DE17-2734-73C1-2867EED150E1}"/>
              </a:ext>
            </a:extLst>
          </p:cNvPr>
          <p:cNvGrpSpPr/>
          <p:nvPr/>
        </p:nvGrpSpPr>
        <p:grpSpPr>
          <a:xfrm>
            <a:off x="7500367" y="4466510"/>
            <a:ext cx="1937633" cy="1826407"/>
            <a:chOff x="7200897" y="4642388"/>
            <a:chExt cx="1741783" cy="1741783"/>
          </a:xfrm>
        </p:grpSpPr>
        <p:pic>
          <p:nvPicPr>
            <p:cNvPr id="1034" name="Picture 10" descr="Yellow Question Mark PNG Transparent Images Free Download | Vector Files |  Pngtree">
              <a:extLst>
                <a:ext uri="{FF2B5EF4-FFF2-40B4-BE49-F238E27FC236}">
                  <a16:creationId xmlns:a16="http://schemas.microsoft.com/office/drawing/2014/main" id="{F5893929-5EB0-CB53-787E-4BAC0DD4EA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0897" y="4642388"/>
              <a:ext cx="1741783" cy="17417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CE01777-A29D-B686-8EAD-2D22B7A839CC}"/>
                </a:ext>
              </a:extLst>
            </p:cNvPr>
            <p:cNvSpPr/>
            <p:nvPr/>
          </p:nvSpPr>
          <p:spPr>
            <a:xfrm>
              <a:off x="8029458" y="6026934"/>
              <a:ext cx="172846" cy="180000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64851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29835-676C-2120-940E-CCEBB2CCC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329" y="39090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AU" sz="4200" dirty="0"/>
              <a:t>Activity 1: </a:t>
            </a:r>
            <a:br>
              <a:rPr lang="en-AU" sz="4200" dirty="0"/>
            </a:br>
            <a:r>
              <a:rPr lang="en-AU" sz="4200" dirty="0"/>
              <a:t>4 L’s and the impacts of teenage pregnancy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F2E7E-8BA0-76EA-E2AE-84074FDB6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133" y="2003316"/>
            <a:ext cx="5166364" cy="4380855"/>
          </a:xfrm>
        </p:spPr>
        <p:txBody>
          <a:bodyPr anchor="ctr">
            <a:normAutofit/>
          </a:bodyPr>
          <a:lstStyle/>
          <a:p>
            <a:r>
              <a:rPr lang="en-AU" sz="2000" dirty="0"/>
              <a:t>Working in the same small groups, flip over the A3 paper. </a:t>
            </a:r>
          </a:p>
          <a:p>
            <a:r>
              <a:rPr lang="en-AU" sz="2000" dirty="0"/>
              <a:t>Draw the following image on the page.</a:t>
            </a:r>
          </a:p>
          <a:p>
            <a:pPr marL="0" indent="0">
              <a:buNone/>
            </a:pPr>
            <a:endParaRPr lang="en-AU" sz="2000" dirty="0"/>
          </a:p>
          <a:p>
            <a:r>
              <a:rPr lang="en-AU" sz="2000" dirty="0"/>
              <a:t>SPIT FIRE ROUND: </a:t>
            </a:r>
          </a:p>
          <a:p>
            <a:pPr marL="0" indent="0">
              <a:buNone/>
            </a:pPr>
            <a:r>
              <a:rPr lang="en-AU" sz="2000" dirty="0"/>
              <a:t>	WHAT ARE THE 4 L’s?</a:t>
            </a:r>
          </a:p>
          <a:p>
            <a:pPr marL="0" indent="0">
              <a:buNone/>
            </a:pPr>
            <a:endParaRPr lang="en-AU" sz="2000" dirty="0"/>
          </a:p>
          <a:p>
            <a:r>
              <a:rPr lang="en-AU" sz="2000" dirty="0"/>
              <a:t>Why are the 4 L’s useful? </a:t>
            </a:r>
          </a:p>
          <a:p>
            <a:pPr lvl="1"/>
            <a:r>
              <a:rPr lang="en-AU" sz="1800" dirty="0"/>
              <a:t>Allows us to consider the impacts of something across all facets of our life. </a:t>
            </a:r>
          </a:p>
          <a:p>
            <a:pPr marL="0" indent="0">
              <a:buNone/>
            </a:pPr>
            <a:endParaRPr lang="en-AU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83420E-28BF-91A7-701E-F06B4AAE655E}"/>
              </a:ext>
            </a:extLst>
          </p:cNvPr>
          <p:cNvCxnSpPr/>
          <p:nvPr/>
        </p:nvCxnSpPr>
        <p:spPr>
          <a:xfrm>
            <a:off x="8639033" y="2552134"/>
            <a:ext cx="0" cy="3725839"/>
          </a:xfrm>
          <a:prstGeom prst="line">
            <a:avLst/>
          </a:prstGeom>
          <a:ln w="38100">
            <a:solidFill>
              <a:srgbClr val="FF159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741054-87D8-98D9-5ECA-6C05428083DF}"/>
              </a:ext>
            </a:extLst>
          </p:cNvPr>
          <p:cNvCxnSpPr>
            <a:cxnSpLocks/>
          </p:cNvCxnSpPr>
          <p:nvPr/>
        </p:nvCxnSpPr>
        <p:spPr>
          <a:xfrm>
            <a:off x="6135392" y="4230809"/>
            <a:ext cx="4943508" cy="0"/>
          </a:xfrm>
          <a:prstGeom prst="line">
            <a:avLst/>
          </a:prstGeom>
          <a:ln w="38100">
            <a:solidFill>
              <a:srgbClr val="FF159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D693866-DCD9-CFBA-F3DA-EEE0254FC4A4}"/>
              </a:ext>
            </a:extLst>
          </p:cNvPr>
          <p:cNvSpPr txBox="1"/>
          <p:nvPr/>
        </p:nvSpPr>
        <p:spPr>
          <a:xfrm>
            <a:off x="6400800" y="2552134"/>
            <a:ext cx="191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dirty="0"/>
              <a:t>LAW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3B1176-FEAA-035C-AEFB-A767EB8A6F1D}"/>
              </a:ext>
            </a:extLst>
          </p:cNvPr>
          <p:cNvSpPr txBox="1"/>
          <p:nvPr/>
        </p:nvSpPr>
        <p:spPr>
          <a:xfrm>
            <a:off x="8814182" y="2541606"/>
            <a:ext cx="191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LIVER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DFAC8B-C529-EEE9-9E98-0756BEEE7118}"/>
              </a:ext>
            </a:extLst>
          </p:cNvPr>
          <p:cNvSpPr txBox="1"/>
          <p:nvPr/>
        </p:nvSpPr>
        <p:spPr>
          <a:xfrm>
            <a:off x="6400799" y="4418173"/>
            <a:ext cx="191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dirty="0"/>
              <a:t>LOVE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4F695C-4E66-7A0F-1655-DBF0677284D5}"/>
              </a:ext>
            </a:extLst>
          </p:cNvPr>
          <p:cNvSpPr txBox="1"/>
          <p:nvPr/>
        </p:nvSpPr>
        <p:spPr>
          <a:xfrm>
            <a:off x="8814181" y="4418173"/>
            <a:ext cx="2318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LIVELIHOOD/LIFESTYLE</a:t>
            </a:r>
          </a:p>
        </p:txBody>
      </p:sp>
    </p:spTree>
    <p:extLst>
      <p:ext uri="{BB962C8B-B14F-4D97-AF65-F5344CB8AC3E}">
        <p14:creationId xmlns:p14="http://schemas.microsoft.com/office/powerpoint/2010/main" val="397377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D8EC3B-FEEC-4C41-9E7E-5D06596EB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3" y="473829"/>
            <a:ext cx="9849751" cy="1349671"/>
          </a:xfrm>
        </p:spPr>
        <p:txBody>
          <a:bodyPr anchor="b">
            <a:noAutofit/>
          </a:bodyPr>
          <a:lstStyle/>
          <a:p>
            <a:r>
              <a:rPr lang="en-AU" dirty="0"/>
              <a:t>Activity 1: </a:t>
            </a:r>
            <a:br>
              <a:rPr lang="en-AU" dirty="0"/>
            </a:br>
            <a:r>
              <a:rPr lang="en-AU" dirty="0"/>
              <a:t>4 L’s and the impacts of teenage pregnancy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BB947-4250-8233-8B65-2AFCDF969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1968500"/>
            <a:ext cx="9849751" cy="3966581"/>
          </a:xfrm>
        </p:spPr>
        <p:txBody>
          <a:bodyPr anchor="ctr">
            <a:normAutofit fontScale="92500" lnSpcReduction="20000"/>
          </a:bodyPr>
          <a:lstStyle/>
          <a:p>
            <a:r>
              <a:rPr lang="en-AU" sz="2000" dirty="0"/>
              <a:t>In your groups, number off 1 – 4. </a:t>
            </a:r>
          </a:p>
          <a:p>
            <a:pPr marL="0" indent="0">
              <a:buNone/>
            </a:pPr>
            <a:r>
              <a:rPr lang="en-AU" sz="2000" dirty="0"/>
              <a:t>	1 = Law		2 = Liver		3 = Love		4 = Livelihood</a:t>
            </a:r>
          </a:p>
          <a:p>
            <a:endParaRPr lang="en-AU" sz="2000" dirty="0"/>
          </a:p>
          <a:p>
            <a:r>
              <a:rPr lang="en-AU" sz="2000" dirty="0"/>
              <a:t>2 minutes to write as many answers as possible for your L that you are focussing on first. </a:t>
            </a:r>
            <a:r>
              <a:rPr lang="en-AU" sz="2000" b="1" u="sng" dirty="0"/>
              <a:t>Consider impacts of pregnancy on the mother, the father, and their community. </a:t>
            </a:r>
          </a:p>
          <a:p>
            <a:endParaRPr lang="en-AU" sz="2000" dirty="0"/>
          </a:p>
          <a:p>
            <a:r>
              <a:rPr lang="en-AU" sz="2000" dirty="0"/>
              <a:t>Then, rotate the paper so each person has a new L in front of them. </a:t>
            </a:r>
          </a:p>
          <a:p>
            <a:r>
              <a:rPr lang="en-AU" sz="2000" dirty="0"/>
              <a:t>2 minutes to add to those answers. </a:t>
            </a:r>
          </a:p>
          <a:p>
            <a:endParaRPr lang="en-AU" sz="2000" dirty="0"/>
          </a:p>
          <a:p>
            <a:r>
              <a:rPr lang="en-AU" sz="2000" dirty="0"/>
              <a:t>Rotate again, 1 min 30 to add answers.</a:t>
            </a:r>
          </a:p>
          <a:p>
            <a:endParaRPr lang="en-AU" sz="2000" dirty="0"/>
          </a:p>
          <a:p>
            <a:r>
              <a:rPr lang="en-AU" sz="2000" dirty="0"/>
              <a:t>Final rotation, 1 min 30 to add answers.</a:t>
            </a:r>
          </a:p>
        </p:txBody>
      </p:sp>
    </p:spTree>
    <p:extLst>
      <p:ext uri="{BB962C8B-B14F-4D97-AF65-F5344CB8AC3E}">
        <p14:creationId xmlns:p14="http://schemas.microsoft.com/office/powerpoint/2010/main" val="1764163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29835-676C-2120-940E-CCEBB2CCC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86" y="-171611"/>
            <a:ext cx="9849751" cy="1349671"/>
          </a:xfrm>
        </p:spPr>
        <p:txBody>
          <a:bodyPr anchor="b">
            <a:normAutofit/>
          </a:bodyPr>
          <a:lstStyle/>
          <a:p>
            <a:r>
              <a:rPr lang="en-AU" sz="3200" dirty="0"/>
              <a:t>Activity 1: </a:t>
            </a:r>
            <a:r>
              <a:rPr lang="en-US" sz="3200" kern="1200" dirty="0">
                <a:latin typeface="+mj-lt"/>
                <a:ea typeface="+mj-ea"/>
                <a:cs typeface="+mj-cs"/>
              </a:rPr>
              <a:t>(pg.48)</a:t>
            </a:r>
            <a:br>
              <a:rPr lang="en-AU" sz="3200" dirty="0"/>
            </a:br>
            <a:r>
              <a:rPr lang="en-AU" sz="3200" dirty="0"/>
              <a:t>4 L’s and the impacts of teenage pregnancy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83420E-28BF-91A7-701E-F06B4AAE655E}"/>
              </a:ext>
            </a:extLst>
          </p:cNvPr>
          <p:cNvCxnSpPr>
            <a:cxnSpLocks/>
          </p:cNvCxnSpPr>
          <p:nvPr/>
        </p:nvCxnSpPr>
        <p:spPr>
          <a:xfrm>
            <a:off x="5994476" y="1313411"/>
            <a:ext cx="0" cy="5070760"/>
          </a:xfrm>
          <a:prstGeom prst="line">
            <a:avLst/>
          </a:prstGeom>
          <a:ln w="38100">
            <a:solidFill>
              <a:srgbClr val="FF159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741054-87D8-98D9-5ECA-6C05428083DF}"/>
              </a:ext>
            </a:extLst>
          </p:cNvPr>
          <p:cNvCxnSpPr>
            <a:cxnSpLocks/>
          </p:cNvCxnSpPr>
          <p:nvPr/>
        </p:nvCxnSpPr>
        <p:spPr>
          <a:xfrm>
            <a:off x="1262786" y="3810146"/>
            <a:ext cx="9666428" cy="0"/>
          </a:xfrm>
          <a:prstGeom prst="line">
            <a:avLst/>
          </a:prstGeom>
          <a:ln w="38100">
            <a:solidFill>
              <a:srgbClr val="FF159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D693866-DCD9-CFBA-F3DA-EEE0254FC4A4}"/>
              </a:ext>
            </a:extLst>
          </p:cNvPr>
          <p:cNvSpPr txBox="1"/>
          <p:nvPr/>
        </p:nvSpPr>
        <p:spPr>
          <a:xfrm>
            <a:off x="3880433" y="1423485"/>
            <a:ext cx="191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b="1" i="1" dirty="0"/>
              <a:t>LAW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3B1176-FEAA-035C-AEFB-A767EB8A6F1D}"/>
              </a:ext>
            </a:extLst>
          </p:cNvPr>
          <p:cNvSpPr txBox="1"/>
          <p:nvPr/>
        </p:nvSpPr>
        <p:spPr>
          <a:xfrm>
            <a:off x="6194536" y="1423485"/>
            <a:ext cx="191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/>
              <a:t>LIVER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DFAC8B-C529-EEE9-9E98-0756BEEE7118}"/>
              </a:ext>
            </a:extLst>
          </p:cNvPr>
          <p:cNvSpPr txBox="1"/>
          <p:nvPr/>
        </p:nvSpPr>
        <p:spPr>
          <a:xfrm>
            <a:off x="3794027" y="4022505"/>
            <a:ext cx="191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b="1" i="1" dirty="0"/>
              <a:t>LOVE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4F695C-4E66-7A0F-1655-DBF0677284D5}"/>
              </a:ext>
            </a:extLst>
          </p:cNvPr>
          <p:cNvSpPr txBox="1"/>
          <p:nvPr/>
        </p:nvSpPr>
        <p:spPr>
          <a:xfrm>
            <a:off x="6194535" y="3997510"/>
            <a:ext cx="2451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/>
              <a:t>LIVELIHOOD/LIFESTYLE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B0871-443E-D3BA-943D-01077BD9DA1C}"/>
              </a:ext>
            </a:extLst>
          </p:cNvPr>
          <p:cNvSpPr txBox="1"/>
          <p:nvPr/>
        </p:nvSpPr>
        <p:spPr>
          <a:xfrm>
            <a:off x="1397000" y="2100966"/>
            <a:ext cx="43941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Child support, if single parenting.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Visitation rights and custody etc. if single parenting/separated.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Laws surrounding abortion.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B019EE-90C9-7CFB-1440-EE297A429466}"/>
              </a:ext>
            </a:extLst>
          </p:cNvPr>
          <p:cNvSpPr txBox="1"/>
          <p:nvPr/>
        </p:nvSpPr>
        <p:spPr>
          <a:xfrm>
            <a:off x="6135392" y="2038242"/>
            <a:ext cx="51499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Physical impacts of pregnancy on the female body.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Tired from lack of sleep.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Increased levels of stress.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Adequate amounts of exercise for the pregnant mother.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Increased levels of worry about the future.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3A736-2A79-178B-08A0-7523B423819B}"/>
              </a:ext>
            </a:extLst>
          </p:cNvPr>
          <p:cNvSpPr txBox="1"/>
          <p:nvPr/>
        </p:nvSpPr>
        <p:spPr>
          <a:xfrm>
            <a:off x="1142884" y="4363068"/>
            <a:ext cx="46482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Positive or negative impacts on the relationship between the parents (could become closer or could drift apart if preferences or parenting styles are different.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Increased pressure on family to help the young parents support the child.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Friendships may lack due to not having enough time to spend with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Might develop friendships with people from mother’s group etc.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3CEBD-62C6-414E-FC8D-FB52C64866C5}"/>
              </a:ext>
            </a:extLst>
          </p:cNvPr>
          <p:cNvSpPr txBox="1"/>
          <p:nvPr/>
        </p:nvSpPr>
        <p:spPr>
          <a:xfrm>
            <a:off x="6135392" y="4555203"/>
            <a:ext cx="5149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Unable to work or study due to caring for a newborn.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Financial implications of raising a child.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Less freedom.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FCCCD36-2EAD-B07B-0666-5A374602EB74}"/>
              </a:ext>
            </a:extLst>
          </p:cNvPr>
          <p:cNvSpPr/>
          <p:nvPr/>
        </p:nvSpPr>
        <p:spPr>
          <a:xfrm>
            <a:off x="8851088" y="289757"/>
            <a:ext cx="2712357" cy="1564217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15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53A1AB-97AC-E060-4511-7E2E2CB8D515}"/>
              </a:ext>
            </a:extLst>
          </p:cNvPr>
          <p:cNvSpPr txBox="1"/>
          <p:nvPr/>
        </p:nvSpPr>
        <p:spPr>
          <a:xfrm>
            <a:off x="9118600" y="592488"/>
            <a:ext cx="21939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As we discuss answers, make sure you include at least 3 for each L in your workbook.</a:t>
            </a:r>
          </a:p>
        </p:txBody>
      </p:sp>
    </p:spTree>
    <p:extLst>
      <p:ext uri="{BB962C8B-B14F-4D97-AF65-F5344CB8AC3E}">
        <p14:creationId xmlns:p14="http://schemas.microsoft.com/office/powerpoint/2010/main" val="3467938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120C2A-6FAF-E9D2-6C4D-D64B83D45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AU" sz="5400" dirty="0"/>
              <a:t>Activity 2: Options for Parents </a:t>
            </a:r>
            <a:r>
              <a:rPr lang="en-US" sz="5400" kern="1200" dirty="0">
                <a:latin typeface="+mj-lt"/>
                <a:ea typeface="+mj-ea"/>
                <a:cs typeface="+mj-cs"/>
              </a:rPr>
              <a:t>(pg.49-50)</a:t>
            </a:r>
            <a:endParaRPr lang="en-AU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68A79-9C9C-C777-747E-B67406FB4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85000" lnSpcReduction="20000"/>
          </a:bodyPr>
          <a:lstStyle/>
          <a:p>
            <a:pPr>
              <a:spcAft>
                <a:spcPts val="800"/>
              </a:spcAft>
            </a:pPr>
            <a:r>
              <a:rPr lang="en-AU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we have discussed, there is no doubt that falling pregnant and having a baby can have a big impact on a person’s life. But there are still a range of options if the scenario presents itself, planned or unplanned. </a:t>
            </a:r>
            <a:endParaRPr lang="en-AU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AU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Alternatively, if a person or couple is unable to fall pregnant, they also have options for if they wish to become parents.</a:t>
            </a:r>
            <a:r>
              <a:rPr lang="en-AU" sz="2200" dirty="0">
                <a:effectLst/>
              </a:rPr>
              <a:t> </a:t>
            </a:r>
            <a:endParaRPr lang="en-AU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endParaRPr lang="en-AU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AU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 in pairs to complete the table – describe each option and consider the advantages and disadvantages of each.</a:t>
            </a:r>
          </a:p>
          <a:p>
            <a:pPr lvl="2">
              <a:spcAft>
                <a:spcPts val="800"/>
              </a:spcAft>
            </a:pPr>
            <a:r>
              <a:rPr lang="en-A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Parenting</a:t>
            </a:r>
          </a:p>
          <a:p>
            <a:pPr lvl="2">
              <a:spcAft>
                <a:spcPts val="800"/>
              </a:spcAft>
            </a:pPr>
            <a:r>
              <a:rPr lang="en-A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Adoption</a:t>
            </a:r>
          </a:p>
          <a:p>
            <a:pPr lvl="2">
              <a:spcAft>
                <a:spcPts val="800"/>
              </a:spcAft>
            </a:pPr>
            <a:r>
              <a:rPr lang="en-A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Foster Care</a:t>
            </a:r>
          </a:p>
          <a:p>
            <a:pPr lvl="2">
              <a:spcAft>
                <a:spcPts val="800"/>
              </a:spcAft>
            </a:pPr>
            <a:r>
              <a:rPr lang="en-A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Abortion – each state in Australia also has different laws around abortion. Research was the law says for WA.</a:t>
            </a:r>
          </a:p>
          <a:p>
            <a:pPr>
              <a:spcAft>
                <a:spcPts val="800"/>
              </a:spcAft>
            </a:pPr>
            <a:r>
              <a:rPr lang="en-AU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Divide out the work and share your answers together to ensure you have all boxes completed. </a:t>
            </a:r>
          </a:p>
          <a:p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583989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167" name="Rectangle 92166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61" name="Title 1">
            <a:extLst>
              <a:ext uri="{FF2B5EF4-FFF2-40B4-BE49-F238E27FC236}">
                <a16:creationId xmlns:a16="http://schemas.microsoft.com/office/drawing/2014/main" id="{6E4655DC-373E-E1D0-1381-40198BE8100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alt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Abortion laws Australia</a:t>
            </a:r>
          </a:p>
        </p:txBody>
      </p:sp>
      <p:grpSp>
        <p:nvGrpSpPr>
          <p:cNvPr id="92169" name="Group 92168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92170" name="Rectangle 92169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171" name="Rectangle 92170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2173" name="Rectangle 9217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62" name="Subtitle 2">
            <a:extLst>
              <a:ext uri="{FF2B5EF4-FFF2-40B4-BE49-F238E27FC236}">
                <a16:creationId xmlns:a16="http://schemas.microsoft.com/office/drawing/2014/main" id="{37DBCA83-295A-8FD4-4782-090B59411FB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altLang="en-US" sz="1900" b="1"/>
              <a:t>Queensland: </a:t>
            </a:r>
            <a:r>
              <a:rPr lang="en-US" altLang="en-US" sz="1900"/>
              <a:t>On October 17 2018 the Termination of Pregnancy Bill was passed in parliament, decriminalising abortion. The new legislation came into effect in December 2018. Legal to 22 weeks. Legal post - 22 weeks with two doctors' approval. Exclusion zones are also set at 150m around termination clinics. 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altLang="en-US" sz="1900" b="1"/>
              <a:t>New South Wales:</a:t>
            </a:r>
            <a:r>
              <a:rPr lang="en-US" altLang="en-US" sz="1900"/>
              <a:t> Abortion a crime for women and doctors. Legal when doctor believes a woman’s physical and/or mental health is in serious danger.  In NSW social, economic and medical factors maybe taken into account.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altLang="en-US" sz="1900" b="1"/>
              <a:t>Australian Capital Territory:</a:t>
            </a:r>
            <a:r>
              <a:rPr lang="en-US" altLang="en-US" sz="1900"/>
              <a:t> Legal, must be provided by a medical professional which includes a nurse practitioner. Exclusion zones may be set at the discretion of the ACT Health Minister. 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altLang="en-US" sz="1900" b="1"/>
              <a:t>Victoria:</a:t>
            </a:r>
            <a:r>
              <a:rPr lang="en-US" altLang="en-US" sz="1900"/>
              <a:t> Legal to 24 weeks. Legal post-24 weeks with two doctors’ approval. Illegal to protest within 150m of an abortion service. 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altLang="en-US"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190" name="Rectangle 9318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3192" name="Group 9319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93193" name="Rectangle 9319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194" name="Rectangle 9319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3196" name="Rectangle 9319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185" name="Title 1">
            <a:extLst>
              <a:ext uri="{FF2B5EF4-FFF2-40B4-BE49-F238E27FC236}">
                <a16:creationId xmlns:a16="http://schemas.microsoft.com/office/drawing/2014/main" id="{4D8D7955-2E7C-3E9C-00AB-C6064BE1E9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AU" altLang="en-US" sz="2000" b="1" dirty="0"/>
              <a:t>South Australia:</a:t>
            </a:r>
            <a:r>
              <a:rPr lang="en-AU" altLang="en-US" sz="2000" dirty="0"/>
              <a:t> Legal if two doctors agree that a woman’s physical and/or mental health endangered by pregnancy, or for serious foetal abnormality. Unlawful abortion a crime.</a:t>
            </a:r>
          </a:p>
          <a:p>
            <a:r>
              <a:rPr lang="en-AU" altLang="en-US" sz="2000" b="1" dirty="0"/>
              <a:t>Tasmania:</a:t>
            </a:r>
            <a:r>
              <a:rPr lang="en-AU" altLang="en-US" sz="2000" dirty="0"/>
              <a:t> Legal to 16 weeks. Legal post-16 weeks with two doctors' approval. Illegal to protest within 150m of an abortion service. </a:t>
            </a:r>
          </a:p>
          <a:p>
            <a:r>
              <a:rPr lang="en-AU" altLang="en-US" sz="2000" b="1" dirty="0"/>
              <a:t>Western Australia:</a:t>
            </a:r>
            <a:r>
              <a:rPr lang="en-AU" altLang="en-US" sz="2000" dirty="0"/>
              <a:t> Legal to 20 weeks, some restrictions particularly for under 16s. Very restricted after 20 weeks.</a:t>
            </a:r>
          </a:p>
          <a:p>
            <a:r>
              <a:rPr lang="en-AU" altLang="en-US" sz="2000" b="1" dirty="0"/>
              <a:t>Northern Territory:</a:t>
            </a:r>
            <a:r>
              <a:rPr lang="en-AU" altLang="en-US" sz="2000" dirty="0"/>
              <a:t> Legal to 14 weeks with one doctor's approval, and at 14 - 23 weeks with an additional doctor. Not legal after 23 weeks unless it is performed to save a pregnant person's life. Illegal to protest within 150m of an abortion service.</a:t>
            </a:r>
          </a:p>
          <a:p>
            <a:endParaRPr lang="en-US" alt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F02D35-64D4-D77F-6D76-484402891BE3}"/>
              </a:ext>
            </a:extLst>
          </p:cNvPr>
          <p:cNvSpPr txBox="1">
            <a:spLocks noChangeArrowheads="1"/>
          </p:cNvSpPr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5400"/>
              <a:t>Abortion laws Australia</a:t>
            </a:r>
            <a:endParaRPr lang="en-US" altLang="en-US" sz="5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215" name="Rectangle 94214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209" name="Title 1">
            <a:extLst>
              <a:ext uri="{FF2B5EF4-FFF2-40B4-BE49-F238E27FC236}">
                <a16:creationId xmlns:a16="http://schemas.microsoft.com/office/drawing/2014/main" id="{F9CA6EC9-F13C-574C-BB59-CF4F608DA7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altLang="en-US" sz="5400"/>
              <a:t>What about the father?</a:t>
            </a:r>
          </a:p>
        </p:txBody>
      </p:sp>
      <p:grpSp>
        <p:nvGrpSpPr>
          <p:cNvPr id="94217" name="Group 94216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94218" name="Rectangle 94217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219" name="Rectangle 94218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221" name="Rectangle 9422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210" name="Content Placeholder 2">
            <a:extLst>
              <a:ext uri="{FF2B5EF4-FFF2-40B4-BE49-F238E27FC236}">
                <a16:creationId xmlns:a16="http://schemas.microsoft.com/office/drawing/2014/main" id="{9C107397-83C0-E196-347F-276A0E011E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altLang="en-US" sz="2400" dirty="0"/>
              <a:t>Family Law Act makes no provisions for the rights of an unborn child or for those of the unborn child’s father.</a:t>
            </a:r>
          </a:p>
          <a:p>
            <a:r>
              <a:rPr lang="en-US" altLang="en-US" sz="2400" dirty="0"/>
              <a:t>Fathers of the child have no ‘legal right’ to prevent the abortion.</a:t>
            </a:r>
          </a:p>
          <a:p>
            <a:r>
              <a:rPr lang="en-US" altLang="en-US" sz="2400"/>
              <a:t>A biological father/mother is obliged to pay financial child support usually until 18yrs of 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15650</TotalTime>
  <Words>1308</Words>
  <Application>Microsoft Office PowerPoint</Application>
  <PresentationFormat>Widescreen</PresentationFormat>
  <Paragraphs>118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Relationships</vt:lpstr>
      <vt:lpstr>Todays Focus:</vt:lpstr>
      <vt:lpstr>HOOK: What are the benefits to postponing intercourse?</vt:lpstr>
      <vt:lpstr>HOOK: What are the benefits of postponing intercourse?</vt:lpstr>
      <vt:lpstr>Activity 1:  4 L’s and the impacts of teenage pregnancy</vt:lpstr>
      <vt:lpstr>Activity 1:  4 L’s and the impacts of teenage pregnancy </vt:lpstr>
      <vt:lpstr>Activity 1: (pg.48) 4 L’s and the impacts of teenage pregnancy</vt:lpstr>
      <vt:lpstr>Activity 2: Options for Parents (pg.49-50)</vt:lpstr>
      <vt:lpstr>Abortion laws Australia</vt:lpstr>
      <vt:lpstr>PowerPoint Presentation</vt:lpstr>
      <vt:lpstr>What about the father?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Relationships</dc:title>
  <dc:creator>HASSAN Gillian [Comet Bay College]</dc:creator>
  <cp:lastModifiedBy>HILLMAN Alissa [Willetton Senior High School]</cp:lastModifiedBy>
  <cp:revision>42</cp:revision>
  <cp:lastPrinted>2022-05-20T05:38:59Z</cp:lastPrinted>
  <dcterms:created xsi:type="dcterms:W3CDTF">2022-04-26T04:42:15Z</dcterms:created>
  <dcterms:modified xsi:type="dcterms:W3CDTF">2023-11-10T07:02:05Z</dcterms:modified>
</cp:coreProperties>
</file>
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ppt/ink/ink2.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3.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4.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5.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6.xml" ContentType="application/inkml+xml"/>
  <Override PartName="/ppt/notesSlides/notesSlide14.xml" ContentType="application/vnd.openxmlformats-officedocument.presentationml.notesSlide+xml"/>
  <Override PartName="/ppt/ink/ink7.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06" r:id="rId1"/>
  </p:sldMasterIdLst>
  <p:notesMasterIdLst>
    <p:notesMasterId r:id="rId45"/>
  </p:notesMasterIdLst>
  <p:sldIdLst>
    <p:sldId id="258" r:id="rId2"/>
    <p:sldId id="281" r:id="rId3"/>
    <p:sldId id="291" r:id="rId4"/>
    <p:sldId id="406" r:id="rId5"/>
    <p:sldId id="364" r:id="rId6"/>
    <p:sldId id="271" r:id="rId7"/>
    <p:sldId id="360" r:id="rId8"/>
    <p:sldId id="373" r:id="rId9"/>
    <p:sldId id="394" r:id="rId10"/>
    <p:sldId id="365" r:id="rId11"/>
    <p:sldId id="366" r:id="rId12"/>
    <p:sldId id="367" r:id="rId13"/>
    <p:sldId id="372" r:id="rId14"/>
    <p:sldId id="368" r:id="rId15"/>
    <p:sldId id="371" r:id="rId16"/>
    <p:sldId id="374" r:id="rId17"/>
    <p:sldId id="387" r:id="rId18"/>
    <p:sldId id="379" r:id="rId19"/>
    <p:sldId id="380" r:id="rId20"/>
    <p:sldId id="388" r:id="rId21"/>
    <p:sldId id="381" r:id="rId22"/>
    <p:sldId id="382" r:id="rId23"/>
    <p:sldId id="383" r:id="rId24"/>
    <p:sldId id="384" r:id="rId25"/>
    <p:sldId id="610" r:id="rId26"/>
    <p:sldId id="375" r:id="rId27"/>
    <p:sldId id="391" r:id="rId28"/>
    <p:sldId id="397" r:id="rId29"/>
    <p:sldId id="398" r:id="rId30"/>
    <p:sldId id="392" r:id="rId31"/>
    <p:sldId id="393" r:id="rId32"/>
    <p:sldId id="396" r:id="rId33"/>
    <p:sldId id="377" r:id="rId34"/>
    <p:sldId id="386" r:id="rId35"/>
    <p:sldId id="399" r:id="rId36"/>
    <p:sldId id="376" r:id="rId37"/>
    <p:sldId id="389" r:id="rId38"/>
    <p:sldId id="390" r:id="rId39"/>
    <p:sldId id="404" r:id="rId40"/>
    <p:sldId id="400" r:id="rId41"/>
    <p:sldId id="403" r:id="rId42"/>
    <p:sldId id="590" r:id="rId43"/>
    <p:sldId id="395"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A00"/>
    <a:srgbClr val="E4650C"/>
    <a:srgbClr val="FF9300"/>
    <a:srgbClr val="FF2F92"/>
    <a:srgbClr val="0096FF"/>
    <a:srgbClr val="D883FF"/>
    <a:srgbClr val="9437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868"/>
    <p:restoredTop sz="82955"/>
  </p:normalViewPr>
  <p:slideViewPr>
    <p:cSldViewPr snapToGrid="0">
      <p:cViewPr varScale="1">
        <p:scale>
          <a:sx n="100" d="100"/>
          <a:sy n="100" d="100"/>
        </p:scale>
        <p:origin x="140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26T08:09:39.172"/>
    </inkml:context>
    <inkml:brush xml:id="br0">
      <inkml:brushProperty name="width" value="0.1" units="cm"/>
      <inkml:brushProperty name="height" value="0.1" units="cm"/>
      <inkml:brushProperty name="color" value="#FFFFFF"/>
    </inkml:brush>
  </inkml:definitions>
  <inkml:trace contextRef="#ctx0" brushRef="#br0">1 0 128,'0'6'0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1T01:10:37.558"/>
    </inkml:context>
    <inkml:brush xml:id="br0">
      <inkml:brushProperty name="width" value="0.1" units="cm"/>
      <inkml:brushProperty name="height" value="0.1" units="cm"/>
      <inkml:brushProperty name="color" value="#FFFFFF"/>
    </inkml:brush>
  </inkml:definitions>
  <inkml:trace contextRef="#ctx0" brushRef="#br0">1 0 128,'0'6'0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28T00:10:16.205"/>
    </inkml:context>
    <inkml:brush xml:id="br0">
      <inkml:brushProperty name="width" value="0.1" units="cm"/>
      <inkml:brushProperty name="height" value="0.1" units="cm"/>
      <inkml:brushProperty name="color" value="#FFFFFF"/>
    </inkml:brush>
  </inkml:definitions>
  <inkml:trace contextRef="#ctx0" brushRef="#br0">1 0 128,'0'6'0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28T00:10:16.205"/>
    </inkml:context>
    <inkml:brush xml:id="br0">
      <inkml:brushProperty name="width" value="0.1" units="cm"/>
      <inkml:brushProperty name="height" value="0.1" units="cm"/>
      <inkml:brushProperty name="color" value="#FFFFFF"/>
    </inkml:brush>
  </inkml:definitions>
  <inkml:trace contextRef="#ctx0" brushRef="#br0">1 0 128,'0'6'0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28T00:10:16.205"/>
    </inkml:context>
    <inkml:brush xml:id="br0">
      <inkml:brushProperty name="width" value="0.1" units="cm"/>
      <inkml:brushProperty name="height" value="0.1" units="cm"/>
      <inkml:brushProperty name="color" value="#FFFFFF"/>
    </inkml:brush>
  </inkml:definitions>
  <inkml:trace contextRef="#ctx0" brushRef="#br0">1 0 128,'0'6'0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28T00:10:16.205"/>
    </inkml:context>
    <inkml:brush xml:id="br0">
      <inkml:brushProperty name="width" value="0.1" units="cm"/>
      <inkml:brushProperty name="height" value="0.1" units="cm"/>
      <inkml:brushProperty name="color" value="#FFFFFF"/>
    </inkml:brush>
  </inkml:definitions>
  <inkml:trace contextRef="#ctx0" brushRef="#br0">1 0 128,'0'6'0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28T00:10:16.205"/>
    </inkml:context>
    <inkml:brush xml:id="br0">
      <inkml:brushProperty name="width" value="0.1" units="cm"/>
      <inkml:brushProperty name="height" value="0.1" units="cm"/>
      <inkml:brushProperty name="color" value="#FFFFFF"/>
    </inkml:brush>
  </inkml:definitions>
  <inkml:trace contextRef="#ctx0" brushRef="#br0">1 0 128,'0'6'0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FFA96B-52EF-9242-8C41-C7CBD737B41E}" type="datetimeFigureOut">
              <a:rPr lang="en-US" smtClean="0"/>
              <a:t>3/4/24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5F8A8C-F201-E64D-999A-A6161AAF2014}" type="slidenum">
              <a:rPr lang="en-US" smtClean="0"/>
              <a:t>‹#›</a:t>
            </a:fld>
            <a:endParaRPr lang="en-US"/>
          </a:p>
        </p:txBody>
      </p:sp>
    </p:spTree>
    <p:extLst>
      <p:ext uri="{BB962C8B-B14F-4D97-AF65-F5344CB8AC3E}">
        <p14:creationId xmlns:p14="http://schemas.microsoft.com/office/powerpoint/2010/main" val="39923796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OPTIONAL</a:t>
            </a:r>
          </a:p>
          <a:p>
            <a:r>
              <a:rPr lang="en-US" dirty="0"/>
              <a:t>Choose which option you prefer.</a:t>
            </a:r>
          </a:p>
          <a:p>
            <a:endParaRPr lang="en-US" dirty="0"/>
          </a:p>
          <a:p>
            <a:r>
              <a:rPr lang="en-US" dirty="0"/>
              <a:t>Statements are found in the student/teacher workbook.</a:t>
            </a:r>
          </a:p>
        </p:txBody>
      </p:sp>
      <p:sp>
        <p:nvSpPr>
          <p:cNvPr id="4" name="Slide Number Placeholder 3"/>
          <p:cNvSpPr>
            <a:spLocks noGrp="1"/>
          </p:cNvSpPr>
          <p:nvPr>
            <p:ph type="sldNum" sz="quarter" idx="5"/>
          </p:nvPr>
        </p:nvSpPr>
        <p:spPr/>
        <p:txBody>
          <a:bodyPr/>
          <a:lstStyle/>
          <a:p>
            <a:fld id="{4D5F8A8C-F201-E64D-999A-A6161AAF2014}" type="slidenum">
              <a:rPr lang="en-US" smtClean="0"/>
              <a:t>3</a:t>
            </a:fld>
            <a:endParaRPr lang="en-US"/>
          </a:p>
        </p:txBody>
      </p:sp>
    </p:spTree>
    <p:extLst>
      <p:ext uri="{BB962C8B-B14F-4D97-AF65-F5344CB8AC3E}">
        <p14:creationId xmlns:p14="http://schemas.microsoft.com/office/powerpoint/2010/main" val="33424439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Relevant </a:t>
            </a:r>
            <a:r>
              <a:rPr lang="en-US" b="1"/>
              <a:t>to test (but was covered in Lesson 6 &amp; 9, T1 P.P.)</a:t>
            </a:r>
            <a:endParaRPr lang="en-US" b="1" dirty="0"/>
          </a:p>
        </p:txBody>
      </p:sp>
      <p:sp>
        <p:nvSpPr>
          <p:cNvPr id="4" name="Slide Number Placeholder 3"/>
          <p:cNvSpPr>
            <a:spLocks noGrp="1"/>
          </p:cNvSpPr>
          <p:nvPr>
            <p:ph type="sldNum" sz="quarter" idx="5"/>
          </p:nvPr>
        </p:nvSpPr>
        <p:spPr/>
        <p:txBody>
          <a:bodyPr/>
          <a:lstStyle/>
          <a:p>
            <a:fld id="{4D5F8A8C-F201-E64D-999A-A6161AAF2014}" type="slidenum">
              <a:rPr lang="en-US" smtClean="0"/>
              <a:t>4</a:t>
            </a:fld>
            <a:endParaRPr lang="en-US"/>
          </a:p>
        </p:txBody>
      </p:sp>
    </p:spTree>
    <p:extLst>
      <p:ext uri="{BB962C8B-B14F-4D97-AF65-F5344CB8AC3E}">
        <p14:creationId xmlns:p14="http://schemas.microsoft.com/office/powerpoint/2010/main" val="25007548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OPTIONAL – </a:t>
            </a:r>
            <a:r>
              <a:rPr lang="en-US" b="0" dirty="0"/>
              <a:t>4 mins</a:t>
            </a:r>
          </a:p>
          <a:p>
            <a:r>
              <a:rPr lang="en-US" b="0" dirty="0"/>
              <a:t>Funny video: Rachel comes over to tell Ross that she is pregnant with his baby, due to a contraception failure. Ross freaks out and tries to call the condom company and tell them off. </a:t>
            </a:r>
          </a:p>
          <a:p>
            <a:r>
              <a:rPr lang="en-US" b="0" dirty="0"/>
              <a:t>Discussion points: </a:t>
            </a:r>
          </a:p>
          <a:p>
            <a:pPr marL="171450" indent="-171450">
              <a:buFontTx/>
              <a:buChar char="-"/>
            </a:pPr>
            <a:r>
              <a:rPr lang="en-US" b="0" dirty="0"/>
              <a:t>Effectiveness: no method (other than abstinence) is 100% effective in preventing pregnancy.</a:t>
            </a:r>
          </a:p>
          <a:p>
            <a:pPr marL="171450" indent="-171450">
              <a:buFontTx/>
              <a:buChar char="-"/>
            </a:pPr>
            <a:r>
              <a:rPr lang="en-US" b="0" dirty="0"/>
              <a:t>Always check the use by date on condoms.</a:t>
            </a:r>
          </a:p>
          <a:p>
            <a:pPr marL="171450" indent="-171450">
              <a:buFontTx/>
              <a:buChar char="-"/>
            </a:pPr>
            <a:r>
              <a:rPr lang="en-US" b="0" dirty="0"/>
              <a:t>Condoms can split or fall off during intercourse. If this happens and ejaculation occurs, then the female will need to consider the use of the emergency contraceptive pill as a back up. </a:t>
            </a:r>
          </a:p>
          <a:p>
            <a:pPr marL="171450" indent="-171450">
              <a:buFontTx/>
              <a:buChar char="-"/>
            </a:pPr>
            <a:r>
              <a:rPr lang="en-US" b="0" dirty="0"/>
              <a:t>Emphasis on being careful as it can only take one time to get pregnant.</a:t>
            </a:r>
          </a:p>
          <a:p>
            <a:pPr marL="171450" indent="-171450">
              <a:buFontTx/>
              <a:buChar char="-"/>
            </a:pPr>
            <a:r>
              <a:rPr lang="en-US" b="0" dirty="0"/>
              <a:t>Discuss impacts of unplanned pregnancy: financial impacts (cost of appointments, raising a child etc.), physical health for the female, stress, work implications etc. </a:t>
            </a:r>
            <a:r>
              <a:rPr lang="en-US" b="1" dirty="0"/>
              <a:t>(relevant to test)</a:t>
            </a:r>
            <a:endParaRPr lang="en-US" b="0" dirty="0"/>
          </a:p>
          <a:p>
            <a:endParaRPr lang="en-US" dirty="0"/>
          </a:p>
          <a:p>
            <a:r>
              <a:rPr lang="en-US" dirty="0"/>
              <a:t>https://</a:t>
            </a:r>
            <a:r>
              <a:rPr lang="en-US" dirty="0" err="1"/>
              <a:t>www.youtube.com</a:t>
            </a:r>
            <a:r>
              <a:rPr lang="en-US" dirty="0"/>
              <a:t>/</a:t>
            </a:r>
            <a:r>
              <a:rPr lang="en-US" dirty="0" err="1"/>
              <a:t>watch?v</a:t>
            </a:r>
            <a:r>
              <a:rPr lang="en-US" dirty="0"/>
              <a:t>=biZEstQVD24</a:t>
            </a:r>
          </a:p>
          <a:p>
            <a:endParaRPr lang="en-US" dirty="0"/>
          </a:p>
        </p:txBody>
      </p:sp>
      <p:sp>
        <p:nvSpPr>
          <p:cNvPr id="4" name="Slide Number Placeholder 3"/>
          <p:cNvSpPr>
            <a:spLocks noGrp="1"/>
          </p:cNvSpPr>
          <p:nvPr>
            <p:ph type="sldNum" sz="quarter" idx="5"/>
          </p:nvPr>
        </p:nvSpPr>
        <p:spPr/>
        <p:txBody>
          <a:bodyPr/>
          <a:lstStyle/>
          <a:p>
            <a:fld id="{4D5F8A8C-F201-E64D-999A-A6161AAF2014}" type="slidenum">
              <a:rPr lang="en-US" smtClean="0"/>
              <a:t>6</a:t>
            </a:fld>
            <a:endParaRPr lang="en-US"/>
          </a:p>
        </p:txBody>
      </p:sp>
    </p:spTree>
    <p:extLst>
      <p:ext uri="{BB962C8B-B14F-4D97-AF65-F5344CB8AC3E}">
        <p14:creationId xmlns:p14="http://schemas.microsoft.com/office/powerpoint/2010/main" val="3285389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ighlight>
                  <a:srgbClr val="FFFF00"/>
                </a:highlight>
              </a:rPr>
              <a:t>The following slides will cover all the different methods of contraception. Using the information in the slides, students need to fill in the missing information in their tables in their books.</a:t>
            </a:r>
          </a:p>
          <a:p>
            <a:endParaRPr lang="en-US" dirty="0">
              <a:highlight>
                <a:srgbClr val="FFFF00"/>
              </a:highlight>
            </a:endParaRPr>
          </a:p>
          <a:p>
            <a:pPr marL="171450" indent="-171450">
              <a:buFont typeface="Arial" panose="020B0604020202020204" pitchFamily="34" charset="0"/>
              <a:buChar char="•"/>
            </a:pPr>
            <a:r>
              <a:rPr lang="en-US" sz="1600" b="1" dirty="0">
                <a:highlight>
                  <a:srgbClr val="FFFF00"/>
                </a:highlight>
              </a:rPr>
              <a:t>If time is an issue:</a:t>
            </a:r>
            <a:r>
              <a:rPr lang="en-US" sz="1600" b="0" dirty="0">
                <a:highlight>
                  <a:srgbClr val="FFFF00"/>
                </a:highlight>
              </a:rPr>
              <a:t> </a:t>
            </a:r>
            <a:r>
              <a:rPr lang="en-US" b="0" dirty="0">
                <a:highlight>
                  <a:srgbClr val="FFFF00"/>
                </a:highlight>
              </a:rPr>
              <a:t>use your best judgement and</a:t>
            </a:r>
            <a:r>
              <a:rPr lang="en-US" dirty="0">
                <a:highlight>
                  <a:srgbClr val="FFFF00"/>
                </a:highlight>
              </a:rPr>
              <a:t> check against the test and pick the most relevant methods to focus on to allow you to get through enough content during lessons 2 &amp; 3.</a:t>
            </a:r>
          </a:p>
          <a:p>
            <a:pPr marL="171450" indent="-171450">
              <a:buFont typeface="Arial" panose="020B0604020202020204" pitchFamily="34" charset="0"/>
              <a:buChar char="•"/>
            </a:pPr>
            <a:r>
              <a:rPr lang="en-US" dirty="0">
                <a:highlight>
                  <a:srgbClr val="FFFF00"/>
                </a:highlight>
              </a:rPr>
              <a:t>At the end of the contraceptive methods slides there are various optional activities which can be used as revision. </a:t>
            </a:r>
          </a:p>
          <a:p>
            <a:pPr marL="171450" indent="-171450">
              <a:buFont typeface="Arial" panose="020B0604020202020204" pitchFamily="34" charset="0"/>
              <a:buChar char="•"/>
            </a:pPr>
            <a:r>
              <a:rPr lang="en-US" dirty="0">
                <a:highlight>
                  <a:srgbClr val="FFFF00"/>
                </a:highlight>
              </a:rPr>
              <a:t>Be sure to hand out revision at the end of lesson 3 in preparation for the topic test during lesson 4.</a:t>
            </a:r>
          </a:p>
          <a:p>
            <a:pPr marL="171450" indent="-171450">
              <a:buFont typeface="Arial" panose="020B0604020202020204" pitchFamily="34" charset="0"/>
              <a:buChar char="•"/>
            </a:pPr>
            <a:r>
              <a:rPr lang="en-US" dirty="0">
                <a:highlight>
                  <a:srgbClr val="FFFF00"/>
                </a:highlight>
              </a:rPr>
              <a:t>**Vaginal Ring and Contraceptive Patch are in the PP, but not in the table in their books. Still speak about these methods using the slides.  </a:t>
            </a:r>
          </a:p>
        </p:txBody>
      </p:sp>
      <p:sp>
        <p:nvSpPr>
          <p:cNvPr id="4" name="Slide Number Placeholder 3"/>
          <p:cNvSpPr>
            <a:spLocks noGrp="1"/>
          </p:cNvSpPr>
          <p:nvPr>
            <p:ph type="sldNum" sz="quarter" idx="5"/>
          </p:nvPr>
        </p:nvSpPr>
        <p:spPr/>
        <p:txBody>
          <a:bodyPr/>
          <a:lstStyle/>
          <a:p>
            <a:fld id="{4D5F8A8C-F201-E64D-999A-A6161AAF2014}" type="slidenum">
              <a:rPr lang="en-US" smtClean="0"/>
              <a:t>7</a:t>
            </a:fld>
            <a:endParaRPr lang="en-US"/>
          </a:p>
        </p:txBody>
      </p:sp>
    </p:spTree>
    <p:extLst>
      <p:ext uri="{BB962C8B-B14F-4D97-AF65-F5344CB8AC3E}">
        <p14:creationId xmlns:p14="http://schemas.microsoft.com/office/powerpoint/2010/main" val="5176100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5F8A8C-F201-E64D-999A-A6161AAF2014}" type="slidenum">
              <a:rPr lang="en-US" smtClean="0"/>
              <a:t>8</a:t>
            </a:fld>
            <a:endParaRPr lang="en-US"/>
          </a:p>
        </p:txBody>
      </p:sp>
    </p:spTree>
    <p:extLst>
      <p:ext uri="{BB962C8B-B14F-4D97-AF65-F5344CB8AC3E}">
        <p14:creationId xmlns:p14="http://schemas.microsoft.com/office/powerpoint/2010/main" val="4965832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OPTIONAL</a:t>
            </a:r>
          </a:p>
          <a:p>
            <a:r>
              <a:rPr lang="en-US" b="0" dirty="0"/>
              <a:t>2:52mins</a:t>
            </a:r>
          </a:p>
          <a:p>
            <a:endParaRPr lang="en-US" b="0" dirty="0"/>
          </a:p>
          <a:p>
            <a:r>
              <a:rPr lang="en-US" dirty="0"/>
              <a:t>https://</a:t>
            </a:r>
            <a:r>
              <a:rPr lang="en-US" dirty="0" err="1"/>
              <a:t>www.youtube.com</a:t>
            </a:r>
            <a:r>
              <a:rPr lang="en-US" dirty="0"/>
              <a:t>/</a:t>
            </a:r>
            <a:r>
              <a:rPr lang="en-US" dirty="0" err="1"/>
              <a:t>watch?v</a:t>
            </a:r>
            <a:r>
              <a:rPr lang="en-US" dirty="0"/>
              <a:t>=hNcDm37yj5Q</a:t>
            </a:r>
          </a:p>
          <a:p>
            <a:endParaRPr lang="en-US" dirty="0"/>
          </a:p>
          <a:p>
            <a:endParaRPr lang="en-US" dirty="0"/>
          </a:p>
        </p:txBody>
      </p:sp>
      <p:sp>
        <p:nvSpPr>
          <p:cNvPr id="4" name="Slide Number Placeholder 3"/>
          <p:cNvSpPr>
            <a:spLocks noGrp="1"/>
          </p:cNvSpPr>
          <p:nvPr>
            <p:ph type="sldNum" sz="quarter" idx="5"/>
          </p:nvPr>
        </p:nvSpPr>
        <p:spPr/>
        <p:txBody>
          <a:bodyPr/>
          <a:lstStyle/>
          <a:p>
            <a:fld id="{4D5F8A8C-F201-E64D-999A-A6161AAF2014}" type="slidenum">
              <a:rPr lang="en-US" smtClean="0"/>
              <a:t>13</a:t>
            </a:fld>
            <a:endParaRPr lang="en-US"/>
          </a:p>
        </p:txBody>
      </p:sp>
    </p:spTree>
    <p:extLst>
      <p:ext uri="{BB962C8B-B14F-4D97-AF65-F5344CB8AC3E}">
        <p14:creationId xmlns:p14="http://schemas.microsoft.com/office/powerpoint/2010/main" val="1915112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5F8A8C-F201-E64D-999A-A6161AAF2014}" type="slidenum">
              <a:rPr lang="en-US" smtClean="0"/>
              <a:t>14</a:t>
            </a:fld>
            <a:endParaRPr lang="en-US"/>
          </a:p>
        </p:txBody>
      </p:sp>
    </p:spTree>
    <p:extLst>
      <p:ext uri="{BB962C8B-B14F-4D97-AF65-F5344CB8AC3E}">
        <p14:creationId xmlns:p14="http://schemas.microsoft.com/office/powerpoint/2010/main" val="14916182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INCLUDED IN THE TABLE IN THEIR BOOK.</a:t>
            </a:r>
          </a:p>
        </p:txBody>
      </p:sp>
      <p:sp>
        <p:nvSpPr>
          <p:cNvPr id="4" name="Slide Number Placeholder 3"/>
          <p:cNvSpPr>
            <a:spLocks noGrp="1"/>
          </p:cNvSpPr>
          <p:nvPr>
            <p:ph type="sldNum" sz="quarter" idx="5"/>
          </p:nvPr>
        </p:nvSpPr>
        <p:spPr/>
        <p:txBody>
          <a:bodyPr/>
          <a:lstStyle/>
          <a:p>
            <a:fld id="{4D5F8A8C-F201-E64D-999A-A6161AAF2014}" type="slidenum">
              <a:rPr lang="en-US" smtClean="0"/>
              <a:t>20</a:t>
            </a:fld>
            <a:endParaRPr lang="en-US"/>
          </a:p>
        </p:txBody>
      </p:sp>
    </p:spTree>
    <p:extLst>
      <p:ext uri="{BB962C8B-B14F-4D97-AF65-F5344CB8AC3E}">
        <p14:creationId xmlns:p14="http://schemas.microsoft.com/office/powerpoint/2010/main" val="29104615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 INCLUDED IN THE TABLE IN THEIR BOOK.</a:t>
            </a:r>
          </a:p>
        </p:txBody>
      </p:sp>
      <p:sp>
        <p:nvSpPr>
          <p:cNvPr id="4" name="Slide Number Placeholder 3"/>
          <p:cNvSpPr>
            <a:spLocks noGrp="1"/>
          </p:cNvSpPr>
          <p:nvPr>
            <p:ph type="sldNum" sz="quarter" idx="5"/>
          </p:nvPr>
        </p:nvSpPr>
        <p:spPr/>
        <p:txBody>
          <a:bodyPr/>
          <a:lstStyle/>
          <a:p>
            <a:fld id="{4D5F8A8C-F201-E64D-999A-A6161AAF2014}" type="slidenum">
              <a:rPr lang="en-US" smtClean="0"/>
              <a:t>23</a:t>
            </a:fld>
            <a:endParaRPr lang="en-US"/>
          </a:p>
        </p:txBody>
      </p:sp>
    </p:spTree>
    <p:extLst>
      <p:ext uri="{BB962C8B-B14F-4D97-AF65-F5344CB8AC3E}">
        <p14:creationId xmlns:p14="http://schemas.microsoft.com/office/powerpoint/2010/main" val="16100328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Combined pill – contains two hormones (progesterone and oestrogen) and prevents ovulation. </a:t>
            </a:r>
          </a:p>
          <a:p>
            <a:r>
              <a:rPr lang="en-US" dirty="0"/>
              <a:t>Mini pill – contains progesterone only and works by changing the mucus of the cervix so that sperm cannot pass through. </a:t>
            </a:r>
          </a:p>
        </p:txBody>
      </p:sp>
      <p:sp>
        <p:nvSpPr>
          <p:cNvPr id="4" name="Slide Number Placeholder 3"/>
          <p:cNvSpPr>
            <a:spLocks noGrp="1"/>
          </p:cNvSpPr>
          <p:nvPr>
            <p:ph type="sldNum" sz="quarter" idx="5"/>
          </p:nvPr>
        </p:nvSpPr>
        <p:spPr/>
        <p:txBody>
          <a:bodyPr/>
          <a:lstStyle/>
          <a:p>
            <a:fld id="{4D5F8A8C-F201-E64D-999A-A6161AAF2014}" type="slidenum">
              <a:rPr lang="en-US" smtClean="0"/>
              <a:t>24</a:t>
            </a:fld>
            <a:endParaRPr lang="en-US"/>
          </a:p>
        </p:txBody>
      </p:sp>
    </p:spTree>
    <p:extLst>
      <p:ext uri="{BB962C8B-B14F-4D97-AF65-F5344CB8AC3E}">
        <p14:creationId xmlns:p14="http://schemas.microsoft.com/office/powerpoint/2010/main" val="20192961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Apps include Apple Health App, Cycles, Flo - some have free services, others have subscriptions available. </a:t>
            </a:r>
          </a:p>
        </p:txBody>
      </p:sp>
      <p:sp>
        <p:nvSpPr>
          <p:cNvPr id="4" name="Slide Number Placeholder 3"/>
          <p:cNvSpPr>
            <a:spLocks noGrp="1"/>
          </p:cNvSpPr>
          <p:nvPr>
            <p:ph type="sldNum" sz="quarter" idx="5"/>
          </p:nvPr>
        </p:nvSpPr>
        <p:spPr/>
        <p:txBody>
          <a:bodyPr/>
          <a:lstStyle/>
          <a:p>
            <a:fld id="{4D5F8A8C-F201-E64D-999A-A6161AAF2014}" type="slidenum">
              <a:rPr lang="en-US" smtClean="0"/>
              <a:t>28</a:t>
            </a:fld>
            <a:endParaRPr lang="en-US"/>
          </a:p>
        </p:txBody>
      </p:sp>
    </p:spTree>
    <p:extLst>
      <p:ext uri="{BB962C8B-B14F-4D97-AF65-F5344CB8AC3E}">
        <p14:creationId xmlns:p14="http://schemas.microsoft.com/office/powerpoint/2010/main" val="18469397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OPTIONAL </a:t>
            </a:r>
            <a:r>
              <a:rPr lang="en-US" b="0" dirty="0"/>
              <a:t>to show this image with your class. Gauge your classes maturity level.</a:t>
            </a:r>
          </a:p>
          <a:p>
            <a:endParaRPr lang="en-US" b="0" dirty="0"/>
          </a:p>
          <a:p>
            <a:r>
              <a:rPr lang="en-US" b="0" dirty="0"/>
              <a:t>Can use this slide to discuss the importance of withdrawal not occurring near the vulva/vagina. Pre-ejaculate can still contain semen which means it can still lead to pregnancy so if the withdrawal method is being used, it is important to withdraw/pull out away from the vaginal opening. </a:t>
            </a:r>
          </a:p>
          <a:p>
            <a:endParaRPr lang="en-US" b="0" dirty="0"/>
          </a:p>
          <a:p>
            <a:r>
              <a:rPr lang="en-US" b="0" dirty="0"/>
              <a:t>Withdrawal method can be partnered with other hormonal contraception. </a:t>
            </a:r>
            <a:endParaRPr lang="en-US" b="1" dirty="0"/>
          </a:p>
        </p:txBody>
      </p:sp>
      <p:sp>
        <p:nvSpPr>
          <p:cNvPr id="4" name="Slide Number Placeholder 3"/>
          <p:cNvSpPr>
            <a:spLocks noGrp="1"/>
          </p:cNvSpPr>
          <p:nvPr>
            <p:ph type="sldNum" sz="quarter" idx="5"/>
          </p:nvPr>
        </p:nvSpPr>
        <p:spPr/>
        <p:txBody>
          <a:bodyPr/>
          <a:lstStyle/>
          <a:p>
            <a:fld id="{4D5F8A8C-F201-E64D-999A-A6161AAF2014}" type="slidenum">
              <a:rPr lang="en-US" smtClean="0"/>
              <a:t>31</a:t>
            </a:fld>
            <a:endParaRPr lang="en-US"/>
          </a:p>
        </p:txBody>
      </p:sp>
    </p:spTree>
    <p:extLst>
      <p:ext uri="{BB962C8B-B14F-4D97-AF65-F5344CB8AC3E}">
        <p14:creationId xmlns:p14="http://schemas.microsoft.com/office/powerpoint/2010/main" val="11473537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the copper IUD as an emergency method – can be inserted up to 5 days after having unprotected sex.</a:t>
            </a:r>
          </a:p>
        </p:txBody>
      </p:sp>
      <p:sp>
        <p:nvSpPr>
          <p:cNvPr id="4" name="Slide Number Placeholder 3"/>
          <p:cNvSpPr>
            <a:spLocks noGrp="1"/>
          </p:cNvSpPr>
          <p:nvPr>
            <p:ph type="sldNum" sz="quarter" idx="5"/>
          </p:nvPr>
        </p:nvSpPr>
        <p:spPr/>
        <p:txBody>
          <a:bodyPr/>
          <a:lstStyle/>
          <a:p>
            <a:fld id="{4D5F8A8C-F201-E64D-999A-A6161AAF2014}" type="slidenum">
              <a:rPr lang="en-US" smtClean="0"/>
              <a:t>33</a:t>
            </a:fld>
            <a:endParaRPr lang="en-US"/>
          </a:p>
        </p:txBody>
      </p:sp>
    </p:spTree>
    <p:extLst>
      <p:ext uri="{BB962C8B-B14F-4D97-AF65-F5344CB8AC3E}">
        <p14:creationId xmlns:p14="http://schemas.microsoft.com/office/powerpoint/2010/main" val="324692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Contraceptive failure = missed pill, condom malfunction (incorrectly used, slipped off, split)</a:t>
            </a:r>
          </a:p>
        </p:txBody>
      </p:sp>
      <p:sp>
        <p:nvSpPr>
          <p:cNvPr id="4" name="Slide Number Placeholder 3"/>
          <p:cNvSpPr>
            <a:spLocks noGrp="1"/>
          </p:cNvSpPr>
          <p:nvPr>
            <p:ph type="sldNum" sz="quarter" idx="5"/>
          </p:nvPr>
        </p:nvSpPr>
        <p:spPr/>
        <p:txBody>
          <a:bodyPr/>
          <a:lstStyle/>
          <a:p>
            <a:fld id="{4D5F8A8C-F201-E64D-999A-A6161AAF2014}" type="slidenum">
              <a:rPr lang="en-US" smtClean="0"/>
              <a:t>34</a:t>
            </a:fld>
            <a:endParaRPr lang="en-US"/>
          </a:p>
        </p:txBody>
      </p:sp>
    </p:spTree>
    <p:extLst>
      <p:ext uri="{BB962C8B-B14F-4D97-AF65-F5344CB8AC3E}">
        <p14:creationId xmlns:p14="http://schemas.microsoft.com/office/powerpoint/2010/main" val="27460690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99+% effective – if in some way the tubes become unblocked, then there is still a chance of pregnancy. </a:t>
            </a:r>
          </a:p>
          <a:p>
            <a:r>
              <a:rPr lang="en-US" dirty="0"/>
              <a:t>** Usually permanent – depending on how the procedure occurs, and the age of the female, there could be room for reversal. If reversed, there is a higher chance of ectopic pregnancy. </a:t>
            </a:r>
          </a:p>
          <a:p>
            <a:r>
              <a:rPr lang="en-US" dirty="0"/>
              <a:t>Pregnancy can still happen via IVF if a person changed their mind about having children. </a:t>
            </a:r>
          </a:p>
        </p:txBody>
      </p:sp>
      <p:sp>
        <p:nvSpPr>
          <p:cNvPr id="4" name="Slide Number Placeholder 3"/>
          <p:cNvSpPr>
            <a:spLocks noGrp="1"/>
          </p:cNvSpPr>
          <p:nvPr>
            <p:ph type="sldNum" sz="quarter" idx="5"/>
          </p:nvPr>
        </p:nvSpPr>
        <p:spPr/>
        <p:txBody>
          <a:bodyPr/>
          <a:lstStyle/>
          <a:p>
            <a:fld id="{4D5F8A8C-F201-E64D-999A-A6161AAF2014}" type="slidenum">
              <a:rPr lang="en-US" smtClean="0"/>
              <a:t>37</a:t>
            </a:fld>
            <a:endParaRPr lang="en-US"/>
          </a:p>
        </p:txBody>
      </p:sp>
    </p:spTree>
    <p:extLst>
      <p:ext uri="{BB962C8B-B14F-4D97-AF65-F5344CB8AC3E}">
        <p14:creationId xmlns:p14="http://schemas.microsoft.com/office/powerpoint/2010/main" val="15956351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**Reversal procedure does not always work, and fertility may not be regained. </a:t>
            </a:r>
          </a:p>
          <a:p>
            <a:r>
              <a:rPr lang="en-US" dirty="0"/>
              <a:t>IVF is still possible as the testes continue to produce sperm. If sperm was not stored before the procedure, it may be possible for sperm to be retrieved with a minor procedure. </a:t>
            </a:r>
          </a:p>
        </p:txBody>
      </p:sp>
      <p:sp>
        <p:nvSpPr>
          <p:cNvPr id="4" name="Slide Number Placeholder 3"/>
          <p:cNvSpPr>
            <a:spLocks noGrp="1"/>
          </p:cNvSpPr>
          <p:nvPr>
            <p:ph type="sldNum" sz="quarter" idx="5"/>
          </p:nvPr>
        </p:nvSpPr>
        <p:spPr/>
        <p:txBody>
          <a:bodyPr/>
          <a:lstStyle/>
          <a:p>
            <a:fld id="{4D5F8A8C-F201-E64D-999A-A6161AAF2014}" type="slidenum">
              <a:rPr lang="en-US" smtClean="0"/>
              <a:t>38</a:t>
            </a:fld>
            <a:endParaRPr lang="en-US"/>
          </a:p>
        </p:txBody>
      </p:sp>
    </p:spTree>
    <p:extLst>
      <p:ext uri="{BB962C8B-B14F-4D97-AF65-F5344CB8AC3E}">
        <p14:creationId xmlns:p14="http://schemas.microsoft.com/office/powerpoint/2010/main" val="6542191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RELEVANT TO TEST.</a:t>
            </a:r>
          </a:p>
          <a:p>
            <a:r>
              <a:rPr lang="en-US" b="0" dirty="0"/>
              <a:t>Resources available in health storeroom. </a:t>
            </a:r>
          </a:p>
          <a:p>
            <a:endParaRPr lang="en-US" b="0" dirty="0"/>
          </a:p>
          <a:p>
            <a:r>
              <a:rPr lang="en-US" b="0" dirty="0"/>
              <a:t>Ways to complete this activity: </a:t>
            </a:r>
          </a:p>
          <a:p>
            <a:pPr marL="228600" indent="-228600">
              <a:buFont typeface="+mj-lt"/>
              <a:buAutoNum type="arabicPeriod"/>
            </a:pPr>
            <a:r>
              <a:rPr lang="en-US" b="0" dirty="0"/>
              <a:t>As role plays: </a:t>
            </a:r>
          </a:p>
          <a:p>
            <a:pPr marL="685800" lvl="1" indent="-228600">
              <a:buFont typeface="Arial" panose="020B0604020202020204" pitchFamily="34" charset="0"/>
              <a:buChar char="•"/>
            </a:pPr>
            <a:r>
              <a:rPr lang="en-US" b="0" dirty="0"/>
              <a:t>Students work in small groups and perform the scenario card as a role play acting out the scene and contraception discussion. </a:t>
            </a:r>
          </a:p>
          <a:p>
            <a:pPr marL="228600" lvl="0" indent="-228600">
              <a:buFont typeface="+mj-lt"/>
              <a:buAutoNum type="arabicPeriod"/>
            </a:pPr>
            <a:r>
              <a:rPr lang="en-US" b="0" dirty="0"/>
              <a:t>Complete the scenarios in their books:</a:t>
            </a:r>
          </a:p>
          <a:p>
            <a:pPr marL="685800" lvl="1" indent="-228600">
              <a:buFont typeface="Arial" panose="020B0604020202020204" pitchFamily="34" charset="0"/>
              <a:buChar char="•"/>
            </a:pPr>
            <a:r>
              <a:rPr lang="en-US" b="0" dirty="0"/>
              <a:t>In their workbooks, three scenarios have been included. Students can spend time responding to the questions on their own. Discuss answers as a class.</a:t>
            </a:r>
          </a:p>
          <a:p>
            <a:pPr marL="685800" lvl="1" indent="-228600">
              <a:buFont typeface="Arial" panose="020B0604020202020204" pitchFamily="34" charset="0"/>
              <a:buChar char="•"/>
            </a:pPr>
            <a:r>
              <a:rPr lang="en-US" b="0" dirty="0"/>
              <a:t>Can also be completed as a reflection/revision activity. </a:t>
            </a:r>
          </a:p>
          <a:p>
            <a:pPr marL="685800" lvl="1" indent="-228600">
              <a:buFont typeface="Arial" panose="020B0604020202020204" pitchFamily="34" charset="0"/>
              <a:buChar char="•"/>
            </a:pPr>
            <a:r>
              <a:rPr lang="en-US" b="1" dirty="0"/>
              <a:t>THREE different scenarios are included in their workbooks to encourage them to consider different methods of contraception based on the scenario given.</a:t>
            </a:r>
          </a:p>
          <a:p>
            <a:pPr marL="228600" lvl="0" indent="-228600">
              <a:buFont typeface="+mj-lt"/>
              <a:buAutoNum type="arabicPeriod"/>
            </a:pPr>
            <a:r>
              <a:rPr lang="en-US" b="0" dirty="0"/>
              <a:t>Group </a:t>
            </a:r>
            <a:r>
              <a:rPr lang="en-US" b="0" dirty="0">
                <a:sym typeface="Wingdings" pitchFamily="2" charset="2"/>
              </a:rPr>
              <a:t> whole class discussions:</a:t>
            </a:r>
          </a:p>
          <a:p>
            <a:pPr marL="685800" lvl="1" indent="-228600">
              <a:buFont typeface="Arial" panose="020B0604020202020204" pitchFamily="34" charset="0"/>
              <a:buChar char="•"/>
            </a:pPr>
            <a:r>
              <a:rPr lang="en-US" b="0" dirty="0"/>
              <a:t>Students work in small groups and each group will be given a different scenario to discuss. Taking turns, each group will read out their scenario and their response to the rest of the class. Allow for whole class discussion. </a:t>
            </a:r>
          </a:p>
        </p:txBody>
      </p:sp>
      <p:sp>
        <p:nvSpPr>
          <p:cNvPr id="4" name="Slide Number Placeholder 3"/>
          <p:cNvSpPr>
            <a:spLocks noGrp="1"/>
          </p:cNvSpPr>
          <p:nvPr>
            <p:ph type="sldNum" sz="quarter" idx="5"/>
          </p:nvPr>
        </p:nvSpPr>
        <p:spPr/>
        <p:txBody>
          <a:bodyPr/>
          <a:lstStyle/>
          <a:p>
            <a:fld id="{4D5F8A8C-F201-E64D-999A-A6161AAF2014}" type="slidenum">
              <a:rPr lang="en-US" smtClean="0"/>
              <a:t>39</a:t>
            </a:fld>
            <a:endParaRPr lang="en-US"/>
          </a:p>
        </p:txBody>
      </p:sp>
    </p:spTree>
    <p:extLst>
      <p:ext uri="{BB962C8B-B14F-4D97-AF65-F5344CB8AC3E}">
        <p14:creationId xmlns:p14="http://schemas.microsoft.com/office/powerpoint/2010/main" val="9860954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Resource available in Health Storeroom.</a:t>
            </a:r>
          </a:p>
        </p:txBody>
      </p:sp>
      <p:sp>
        <p:nvSpPr>
          <p:cNvPr id="4" name="Slide Number Placeholder 3"/>
          <p:cNvSpPr>
            <a:spLocks noGrp="1"/>
          </p:cNvSpPr>
          <p:nvPr>
            <p:ph type="sldNum" sz="quarter" idx="5"/>
          </p:nvPr>
        </p:nvSpPr>
        <p:spPr/>
        <p:txBody>
          <a:bodyPr/>
          <a:lstStyle/>
          <a:p>
            <a:fld id="{4D5F8A8C-F201-E64D-999A-A6161AAF2014}" type="slidenum">
              <a:rPr lang="en-US" smtClean="0"/>
              <a:t>40</a:t>
            </a:fld>
            <a:endParaRPr lang="en-US"/>
          </a:p>
        </p:txBody>
      </p:sp>
    </p:spTree>
    <p:extLst>
      <p:ext uri="{BB962C8B-B14F-4D97-AF65-F5344CB8AC3E}">
        <p14:creationId xmlns:p14="http://schemas.microsoft.com/office/powerpoint/2010/main" val="2071141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Resource available in Health Storeroom.</a:t>
            </a:r>
          </a:p>
          <a:p>
            <a:endParaRPr lang="en-US" dirty="0"/>
          </a:p>
          <a:p>
            <a:r>
              <a:rPr lang="en-US" dirty="0"/>
              <a:t>Can be used as a revision activity.</a:t>
            </a:r>
          </a:p>
        </p:txBody>
      </p:sp>
      <p:sp>
        <p:nvSpPr>
          <p:cNvPr id="4" name="Slide Number Placeholder 3"/>
          <p:cNvSpPr>
            <a:spLocks noGrp="1"/>
          </p:cNvSpPr>
          <p:nvPr>
            <p:ph type="sldNum" sz="quarter" idx="5"/>
          </p:nvPr>
        </p:nvSpPr>
        <p:spPr/>
        <p:txBody>
          <a:bodyPr/>
          <a:lstStyle/>
          <a:p>
            <a:fld id="{4D5F8A8C-F201-E64D-999A-A6161AAF2014}" type="slidenum">
              <a:rPr lang="en-US" smtClean="0"/>
              <a:t>41</a:t>
            </a:fld>
            <a:endParaRPr lang="en-US"/>
          </a:p>
        </p:txBody>
      </p:sp>
    </p:spTree>
    <p:extLst>
      <p:ext uri="{BB962C8B-B14F-4D97-AF65-F5344CB8AC3E}">
        <p14:creationId xmlns:p14="http://schemas.microsoft.com/office/powerpoint/2010/main" val="14413874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Hand out revision</a:t>
            </a:r>
          </a:p>
          <a:p>
            <a:r>
              <a:rPr lang="en-US" dirty="0"/>
              <a:t>Any time remaining at the end of the lesson can be spent doing revision.</a:t>
            </a:r>
          </a:p>
          <a:p>
            <a:endParaRPr lang="en-US" dirty="0"/>
          </a:p>
          <a:p>
            <a:r>
              <a:rPr lang="en-US" dirty="0"/>
              <a:t>OR complete the previous activities and hand out revision as homework. </a:t>
            </a:r>
          </a:p>
        </p:txBody>
      </p:sp>
      <p:sp>
        <p:nvSpPr>
          <p:cNvPr id="4" name="Slide Number Placeholder 3"/>
          <p:cNvSpPr>
            <a:spLocks noGrp="1"/>
          </p:cNvSpPr>
          <p:nvPr>
            <p:ph type="sldNum" sz="quarter" idx="5"/>
          </p:nvPr>
        </p:nvSpPr>
        <p:spPr/>
        <p:txBody>
          <a:bodyPr/>
          <a:lstStyle/>
          <a:p>
            <a:fld id="{6CFA5B9A-3C2C-634F-8582-DEDD16CFA49C}" type="slidenum">
              <a:rPr lang="en-US" smtClean="0"/>
              <a:t>42</a:t>
            </a:fld>
            <a:endParaRPr lang="en-US"/>
          </a:p>
        </p:txBody>
      </p:sp>
    </p:spTree>
    <p:extLst>
      <p:ext uri="{BB962C8B-B14F-4D97-AF65-F5344CB8AC3E}">
        <p14:creationId xmlns:p14="http://schemas.microsoft.com/office/powerpoint/2010/main" val="10129732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descr="Tag=AccentColor&#10;Flavor=Light&#10;Target=FillAndLine">
            <a:extLst>
              <a:ext uri="{FF2B5EF4-FFF2-40B4-BE49-F238E27FC236}">
                <a16:creationId xmlns:a16="http://schemas.microsoft.com/office/drawing/2014/main" id="{DA381740-063A-41A4-836D-85D14980EEF0}"/>
              </a:ext>
            </a:extLst>
          </p:cNvPr>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24EF9DF8-704A-44AE-8850-307DDACC9387}"/>
              </a:ext>
            </a:extLst>
          </p:cNvPr>
          <p:cNvSpPr>
            <a:spLocks noGrp="1"/>
          </p:cNvSpPr>
          <p:nvPr>
            <p:ph type="ctrTitle"/>
          </p:nvPr>
        </p:nvSpPr>
        <p:spPr>
          <a:xfrm>
            <a:off x="841248" y="448056"/>
            <a:ext cx="10515600" cy="4069080"/>
          </a:xfrm>
        </p:spPr>
        <p:txBody>
          <a:bodyPr anchor="b">
            <a:noAutofit/>
          </a:bodyPr>
          <a:lstStyle>
            <a:lvl1pPr algn="l">
              <a:defRPr sz="9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CC72E09-06F3-48B9-9B95-DE15EC98017B}"/>
              </a:ext>
            </a:extLst>
          </p:cNvPr>
          <p:cNvSpPr>
            <a:spLocks noGrp="1"/>
          </p:cNvSpPr>
          <p:nvPr>
            <p:ph type="subTitle" idx="1"/>
          </p:nvPr>
        </p:nvSpPr>
        <p:spPr>
          <a:xfrm>
            <a:off x="841248" y="4983480"/>
            <a:ext cx="10515600" cy="1124712"/>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11CD474-E5E1-4D01-97F6-0C9FC09332C0}"/>
              </a:ext>
            </a:extLst>
          </p:cNvPr>
          <p:cNvSpPr>
            <a:spLocks noGrp="1"/>
          </p:cNvSpPr>
          <p:nvPr>
            <p:ph type="dt" sz="half" idx="10"/>
          </p:nvPr>
        </p:nvSpPr>
        <p:spPr/>
        <p:txBody>
          <a:bodyPr/>
          <a:lstStyle/>
          <a:p>
            <a:fld id="{72345051-2045-45DA-935E-2E3CA1A69ADC}" type="datetimeFigureOut">
              <a:rPr lang="en-US" smtClean="0"/>
              <a:t>3/4/24</a:t>
            </a:fld>
            <a:endParaRPr lang="en-US" dirty="0"/>
          </a:p>
        </p:txBody>
      </p:sp>
      <p:sp>
        <p:nvSpPr>
          <p:cNvPr id="5" name="Footer Placeholder 4">
            <a:extLst>
              <a:ext uri="{FF2B5EF4-FFF2-40B4-BE49-F238E27FC236}">
                <a16:creationId xmlns:a16="http://schemas.microsoft.com/office/drawing/2014/main" id="{C636BBC7-EB9B-4B36-88E9-DBF65D270E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8786C7-DD8D-492F-9A9A-A7B3EBE27FE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16393787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838200" y="1929384"/>
            <a:ext cx="10515600" cy="4251960"/>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p>
            <a:fld id="{72345051-2045-45DA-935E-2E3CA1A69ADC}" type="datetimeFigureOut">
              <a:rPr lang="en-US" smtClean="0"/>
              <a:t>3/4/24</a:t>
            </a:fld>
            <a:endParaRPr lang="en-US"/>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7" descr="Tag=AccentColor&#10;Flavor=Light&#10;Target=FillAndLine">
            <a:extLst>
              <a:ext uri="{FF2B5EF4-FFF2-40B4-BE49-F238E27FC236}">
                <a16:creationId xmlns:a16="http://schemas.microsoft.com/office/drawing/2014/main" id="{EBDD1931-9E86-4402-9A68-33A2D9EFB198}"/>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3681339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218C0-6540-400C-BB51-353D5FD5CB00}"/>
              </a:ext>
            </a:extLst>
          </p:cNvPr>
          <p:cNvSpPr>
            <a:spLocks noGrp="1"/>
          </p:cNvSpPr>
          <p:nvPr>
            <p:ph type="title"/>
          </p:nvPr>
        </p:nvSpPr>
        <p:spPr>
          <a:xfrm>
            <a:off x="841248" y="448056"/>
            <a:ext cx="10515600" cy="4069080"/>
          </a:xfrm>
        </p:spPr>
        <p:txBody>
          <a:bodyPr anchor="b">
            <a:normAutofit/>
          </a:bodyPr>
          <a:lstStyle>
            <a:lvl1pPr>
              <a:defRPr sz="8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A81CD69-43B3-4FF7-AA41-30C36C957E65}"/>
              </a:ext>
            </a:extLst>
          </p:cNvPr>
          <p:cNvSpPr>
            <a:spLocks noGrp="1"/>
          </p:cNvSpPr>
          <p:nvPr>
            <p:ph type="body" idx="1"/>
          </p:nvPr>
        </p:nvSpPr>
        <p:spPr>
          <a:xfrm>
            <a:off x="841248" y="4983480"/>
            <a:ext cx="10515600" cy="1124712"/>
          </a:xfrm>
        </p:spPr>
        <p:txBody>
          <a:bodyPr>
            <a:normAutofit/>
          </a:bodyPr>
          <a:lstStyle>
            <a:lvl1pPr marL="0" indent="0">
              <a:buNone/>
              <a:defRPr sz="2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BF300D-5CBE-47E9-A193-E23C8314D0EA}"/>
              </a:ext>
            </a:extLst>
          </p:cNvPr>
          <p:cNvSpPr>
            <a:spLocks noGrp="1"/>
          </p:cNvSpPr>
          <p:nvPr>
            <p:ph type="dt" sz="half" idx="10"/>
          </p:nvPr>
        </p:nvSpPr>
        <p:spPr/>
        <p:txBody>
          <a:bodyPr/>
          <a:lstStyle/>
          <a:p>
            <a:fld id="{72345051-2045-45DA-935E-2E3CA1A69ADC}" type="datetimeFigureOut">
              <a:rPr lang="en-US" smtClean="0"/>
              <a:t>3/4/24</a:t>
            </a:fld>
            <a:endParaRPr lang="en-US"/>
          </a:p>
        </p:txBody>
      </p:sp>
      <p:sp>
        <p:nvSpPr>
          <p:cNvPr id="5" name="Footer Placeholder 4">
            <a:extLst>
              <a:ext uri="{FF2B5EF4-FFF2-40B4-BE49-F238E27FC236}">
                <a16:creationId xmlns:a16="http://schemas.microsoft.com/office/drawing/2014/main" id="{56E7DF3F-C51A-4DB1-9FCE-E3E0D8E92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269CF4-FAAB-44EF-A2A5-8352B4AA384F}"/>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7" name="Rectangle 6" descr="Tag=AccentColor&#10;Flavor=Light&#10;Target=FillAndLine">
            <a:extLst>
              <a:ext uri="{FF2B5EF4-FFF2-40B4-BE49-F238E27FC236}">
                <a16:creationId xmlns:a16="http://schemas.microsoft.com/office/drawing/2014/main" id="{417A8947-4521-4FE1-8E44-27363435CE1B}"/>
              </a:ext>
            </a:extLst>
          </p:cNvPr>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8044942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E264-531D-49C1-A8AF-2B4C1D218FAB}"/>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4B9A1B8-2F1B-46AA-858A-CFFF5AF7CEB0}"/>
              </a:ext>
            </a:extLst>
          </p:cNvPr>
          <p:cNvSpPr>
            <a:spLocks noGrp="1"/>
          </p:cNvSpPr>
          <p:nvPr>
            <p:ph sz="half" idx="1"/>
          </p:nvPr>
        </p:nvSpPr>
        <p:spPr>
          <a:xfrm>
            <a:off x="838200" y="1929384"/>
            <a:ext cx="5181600" cy="42519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6E6B9631-18C0-43BD-8AF3-9137D6D4C234}"/>
              </a:ext>
            </a:extLst>
          </p:cNvPr>
          <p:cNvSpPr>
            <a:spLocks noGrp="1"/>
          </p:cNvSpPr>
          <p:nvPr>
            <p:ph sz="half" idx="2"/>
          </p:nvPr>
        </p:nvSpPr>
        <p:spPr>
          <a:xfrm>
            <a:off x="6172200" y="1929384"/>
            <a:ext cx="518160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9032FCA-14C6-4497-9C27-3F58062442CE}"/>
              </a:ext>
            </a:extLst>
          </p:cNvPr>
          <p:cNvSpPr>
            <a:spLocks noGrp="1"/>
          </p:cNvSpPr>
          <p:nvPr>
            <p:ph type="dt" sz="half" idx="10"/>
          </p:nvPr>
        </p:nvSpPr>
        <p:spPr/>
        <p:txBody>
          <a:bodyPr/>
          <a:lstStyle/>
          <a:p>
            <a:fld id="{72345051-2045-45DA-935E-2E3CA1A69ADC}" type="datetimeFigureOut">
              <a:rPr lang="en-US" smtClean="0"/>
              <a:t>3/4/24</a:t>
            </a:fld>
            <a:endParaRPr lang="en-US"/>
          </a:p>
        </p:txBody>
      </p:sp>
      <p:sp>
        <p:nvSpPr>
          <p:cNvPr id="6" name="Footer Placeholder 5">
            <a:extLst>
              <a:ext uri="{FF2B5EF4-FFF2-40B4-BE49-F238E27FC236}">
                <a16:creationId xmlns:a16="http://schemas.microsoft.com/office/drawing/2014/main" id="{961E5057-693B-4E10-958E-0ABE79FEC7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0CECB1-0A35-4C10-9D3D-FE4404283011}"/>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9" name="Rectangle 8" descr="Tag=AccentColor&#10;Flavor=Light&#10;Target=FillAndLine">
            <a:extLst>
              <a:ext uri="{FF2B5EF4-FFF2-40B4-BE49-F238E27FC236}">
                <a16:creationId xmlns:a16="http://schemas.microsoft.com/office/drawing/2014/main" id="{2FAAC677-2D37-4F63-9C4B-711A2988EE02}"/>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946216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AE282-8875-4F49-AB21-E1C2BCAEA1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712EA2-EF8C-4F18-BECF-AD121F72816A}"/>
              </a:ext>
            </a:extLst>
          </p:cNvPr>
          <p:cNvSpPr>
            <a:spLocks noGrp="1"/>
          </p:cNvSpPr>
          <p:nvPr>
            <p:ph type="body" idx="1"/>
          </p:nvPr>
        </p:nvSpPr>
        <p:spPr>
          <a:xfrm>
            <a:off x="839788" y="1938528"/>
            <a:ext cx="5157787"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7B59D4-E93F-40C1-A1A2-F1867830C678}"/>
              </a:ext>
            </a:extLst>
          </p:cNvPr>
          <p:cNvSpPr>
            <a:spLocks noGrp="1"/>
          </p:cNvSpPr>
          <p:nvPr>
            <p:ph sz="half" idx="2"/>
          </p:nvPr>
        </p:nvSpPr>
        <p:spPr>
          <a:xfrm>
            <a:off x="839788" y="2926080"/>
            <a:ext cx="5157787" cy="326440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6E810616-1C77-42AE-8449-D0B64E2B8475}"/>
              </a:ext>
            </a:extLst>
          </p:cNvPr>
          <p:cNvSpPr>
            <a:spLocks noGrp="1"/>
          </p:cNvSpPr>
          <p:nvPr>
            <p:ph type="body" sz="quarter" idx="3"/>
          </p:nvPr>
        </p:nvSpPr>
        <p:spPr>
          <a:xfrm>
            <a:off x="6172200" y="1938528"/>
            <a:ext cx="5183188"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74E172-AFE8-48E4-BBB0-CA6D4EC1127C}"/>
              </a:ext>
            </a:extLst>
          </p:cNvPr>
          <p:cNvSpPr>
            <a:spLocks noGrp="1"/>
          </p:cNvSpPr>
          <p:nvPr>
            <p:ph sz="quarter" idx="4"/>
          </p:nvPr>
        </p:nvSpPr>
        <p:spPr>
          <a:xfrm>
            <a:off x="6172200" y="2926080"/>
            <a:ext cx="5183188" cy="32644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C9407CC-270D-4C98-B95C-7AE67D2E1913}"/>
              </a:ext>
            </a:extLst>
          </p:cNvPr>
          <p:cNvSpPr>
            <a:spLocks noGrp="1"/>
          </p:cNvSpPr>
          <p:nvPr>
            <p:ph type="dt" sz="half" idx="10"/>
          </p:nvPr>
        </p:nvSpPr>
        <p:spPr/>
        <p:txBody>
          <a:bodyPr/>
          <a:lstStyle/>
          <a:p>
            <a:fld id="{72345051-2045-45DA-935E-2E3CA1A69ADC}" type="datetimeFigureOut">
              <a:rPr lang="en-US" smtClean="0"/>
              <a:t>3/4/24</a:t>
            </a:fld>
            <a:endParaRPr lang="en-US"/>
          </a:p>
        </p:txBody>
      </p:sp>
      <p:sp>
        <p:nvSpPr>
          <p:cNvPr id="8" name="Footer Placeholder 7">
            <a:extLst>
              <a:ext uri="{FF2B5EF4-FFF2-40B4-BE49-F238E27FC236}">
                <a16:creationId xmlns:a16="http://schemas.microsoft.com/office/drawing/2014/main" id="{454070D5-9B7B-47FC-9F75-F6AD960745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8EAC17-33BE-4265-8C06-644C2D34FD3C}"/>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11" name="Rectangle 10" descr="Tag=AccentColor&#10;Flavor=Light&#10;Target=FillAndLine">
            <a:extLst>
              <a:ext uri="{FF2B5EF4-FFF2-40B4-BE49-F238E27FC236}">
                <a16:creationId xmlns:a16="http://schemas.microsoft.com/office/drawing/2014/main" id="{F634C457-AEBF-47D7-9200-BAD05D138B12}"/>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279193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E9AC0-40CD-4451-BF00-5E2FC7B7451B}"/>
              </a:ext>
            </a:extLst>
          </p:cNvPr>
          <p:cNvSpPr>
            <a:spLocks noGrp="1"/>
          </p:cNvSpPr>
          <p:nvPr>
            <p:ph type="title"/>
          </p:nvPr>
        </p:nvSpPr>
        <p:spPr>
          <a:xfrm>
            <a:off x="2203704" y="1728216"/>
            <a:ext cx="7781544" cy="3392424"/>
          </a:xfrm>
        </p:spPr>
        <p:txBody>
          <a:bodyPr>
            <a:normAutofit/>
          </a:bodyPr>
          <a:lstStyle>
            <a:lvl1pPr algn="ctr">
              <a:defRPr sz="78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C6FD9A32-9C83-452B-BC69-CC6E95D3C93C}"/>
              </a:ext>
            </a:extLst>
          </p:cNvPr>
          <p:cNvSpPr>
            <a:spLocks noGrp="1"/>
          </p:cNvSpPr>
          <p:nvPr>
            <p:ph type="dt" sz="half" idx="10"/>
          </p:nvPr>
        </p:nvSpPr>
        <p:spPr/>
        <p:txBody>
          <a:bodyPr/>
          <a:lstStyle/>
          <a:p>
            <a:fld id="{72345051-2045-45DA-935E-2E3CA1A69ADC}" type="datetimeFigureOut">
              <a:rPr lang="en-US" smtClean="0"/>
              <a:t>3/4/24</a:t>
            </a:fld>
            <a:endParaRPr lang="en-US"/>
          </a:p>
        </p:txBody>
      </p:sp>
      <p:sp>
        <p:nvSpPr>
          <p:cNvPr id="4" name="Footer Placeholder 3">
            <a:extLst>
              <a:ext uri="{FF2B5EF4-FFF2-40B4-BE49-F238E27FC236}">
                <a16:creationId xmlns:a16="http://schemas.microsoft.com/office/drawing/2014/main" id="{6B87B83E-E23E-42DE-876D-F55908A97D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1C03A8-D428-4010-B413-13B1E992262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6" name="Rectangle 6" descr="Tag=AccentColor&#10;Flavor=Light&#10;Target=FillAndLine">
            <a:extLst>
              <a:ext uri="{FF2B5EF4-FFF2-40B4-BE49-F238E27FC236}">
                <a16:creationId xmlns:a16="http://schemas.microsoft.com/office/drawing/2014/main" id="{17F03060-85EC-4182-8C18-C6EE0D373E4B}"/>
              </a:ext>
            </a:extLst>
          </p:cNvPr>
          <p:cNvSpPr/>
          <p:nvPr/>
        </p:nvSpPr>
        <p:spPr>
          <a:xfrm>
            <a:off x="3974206" y="5126892"/>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657560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2816A0-77C4-4A3F-87BD-A7321E3C84D2}"/>
              </a:ext>
            </a:extLst>
          </p:cNvPr>
          <p:cNvSpPr>
            <a:spLocks noGrp="1"/>
          </p:cNvSpPr>
          <p:nvPr>
            <p:ph type="dt" sz="half" idx="10"/>
          </p:nvPr>
        </p:nvSpPr>
        <p:spPr/>
        <p:txBody>
          <a:bodyPr/>
          <a:lstStyle/>
          <a:p>
            <a:fld id="{72345051-2045-45DA-935E-2E3CA1A69ADC}" type="datetimeFigureOut">
              <a:rPr lang="en-US" smtClean="0"/>
              <a:t>3/4/24</a:t>
            </a:fld>
            <a:endParaRPr lang="en-US"/>
          </a:p>
        </p:txBody>
      </p:sp>
      <p:sp>
        <p:nvSpPr>
          <p:cNvPr id="3" name="Footer Placeholder 2">
            <a:extLst>
              <a:ext uri="{FF2B5EF4-FFF2-40B4-BE49-F238E27FC236}">
                <a16:creationId xmlns:a16="http://schemas.microsoft.com/office/drawing/2014/main" id="{A5FC3464-F026-4C77-9441-55ECA5054D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87D9257-BADE-4D0B-AF0B-D09FE95FA078}"/>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4071595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1C48E-F751-45A2-9010-208B81EDBE69}"/>
              </a:ext>
            </a:extLst>
          </p:cNvPr>
          <p:cNvSpPr>
            <a:spLocks noGrp="1"/>
          </p:cNvSpPr>
          <p:nvPr>
            <p:ph type="title"/>
          </p:nvPr>
        </p:nvSpPr>
        <p:spPr>
          <a:xfrm>
            <a:off x="839788" y="457200"/>
            <a:ext cx="3932237" cy="3429000"/>
          </a:xfrm>
        </p:spPr>
        <p:txBody>
          <a:bodyPr anchor="b">
            <a:normAutofit/>
          </a:bodyPr>
          <a:lstStyle>
            <a:lvl1pPr>
              <a:defRPr sz="6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9D501F6-8430-4758-8636-74D68E990EC3}"/>
              </a:ext>
            </a:extLst>
          </p:cNvPr>
          <p:cNvSpPr>
            <a:spLocks noGrp="1"/>
          </p:cNvSpPr>
          <p:nvPr>
            <p:ph idx="1"/>
          </p:nvPr>
        </p:nvSpPr>
        <p:spPr>
          <a:xfrm>
            <a:off x="5303520" y="548640"/>
            <a:ext cx="6053328" cy="5431536"/>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E79DC39-A29C-494C-98B6-999746C5F38A}"/>
              </a:ext>
            </a:extLst>
          </p:cNvPr>
          <p:cNvSpPr>
            <a:spLocks noGrp="1"/>
          </p:cNvSpPr>
          <p:nvPr>
            <p:ph type="body" sz="half" idx="2"/>
          </p:nvPr>
        </p:nvSpPr>
        <p:spPr>
          <a:xfrm>
            <a:off x="839788" y="3977640"/>
            <a:ext cx="3932237"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2584C988-A6DB-469A-B8AA-31866F36E83D}"/>
              </a:ext>
            </a:extLst>
          </p:cNvPr>
          <p:cNvSpPr>
            <a:spLocks noGrp="1"/>
          </p:cNvSpPr>
          <p:nvPr>
            <p:ph type="dt" sz="half" idx="10"/>
          </p:nvPr>
        </p:nvSpPr>
        <p:spPr/>
        <p:txBody>
          <a:bodyPr/>
          <a:lstStyle/>
          <a:p>
            <a:fld id="{72345051-2045-45DA-935E-2E3CA1A69ADC}" type="datetimeFigureOut">
              <a:rPr lang="en-US" smtClean="0"/>
              <a:t>3/4/24</a:t>
            </a:fld>
            <a:endParaRPr lang="en-US"/>
          </a:p>
        </p:txBody>
      </p:sp>
      <p:sp>
        <p:nvSpPr>
          <p:cNvPr id="6" name="Footer Placeholder 5">
            <a:extLst>
              <a:ext uri="{FF2B5EF4-FFF2-40B4-BE49-F238E27FC236}">
                <a16:creationId xmlns:a16="http://schemas.microsoft.com/office/drawing/2014/main" id="{02BC39C3-81EB-4828-9AD3-2F1FAC521E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59376C-9810-49A5-BC9A-4E6A02175273}"/>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B9F96F3A-E64D-4401-B02C-BCD5CAA97CFF}"/>
              </a:ext>
            </a:extLst>
          </p:cNvPr>
          <p:cNvSpPr/>
          <p:nvPr/>
        </p:nvSpPr>
        <p:spPr>
          <a:xfrm rot="5400000">
            <a:off x="2797492"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07126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37704-80BD-41B0-8395-41618EC3AFBC}"/>
              </a:ext>
            </a:extLst>
          </p:cNvPr>
          <p:cNvSpPr>
            <a:spLocks noGrp="1"/>
          </p:cNvSpPr>
          <p:nvPr>
            <p:ph type="title"/>
          </p:nvPr>
        </p:nvSpPr>
        <p:spPr>
          <a:xfrm>
            <a:off x="839788" y="457200"/>
            <a:ext cx="3931920" cy="3429000"/>
          </a:xfrm>
        </p:spPr>
        <p:txBody>
          <a:bodyPr anchor="b">
            <a:normAutofit/>
          </a:bodyPr>
          <a:lstStyle>
            <a:lvl1pPr>
              <a:defRPr sz="6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14DA4032-EC66-4974-BD30-898B60E4B562}"/>
              </a:ext>
            </a:extLst>
          </p:cNvPr>
          <p:cNvSpPr>
            <a:spLocks noGrp="1"/>
          </p:cNvSpPr>
          <p:nvPr>
            <p:ph type="pic" idx="1"/>
          </p:nvPr>
        </p:nvSpPr>
        <p:spPr>
          <a:xfrm>
            <a:off x="5303520" y="548640"/>
            <a:ext cx="6053328" cy="543153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21802D0-5574-4631-BA49-92362F8E40DC}"/>
              </a:ext>
            </a:extLst>
          </p:cNvPr>
          <p:cNvSpPr>
            <a:spLocks noGrp="1"/>
          </p:cNvSpPr>
          <p:nvPr>
            <p:ph type="body" sz="half" idx="2"/>
          </p:nvPr>
        </p:nvSpPr>
        <p:spPr>
          <a:xfrm>
            <a:off x="839788" y="3977640"/>
            <a:ext cx="3931920"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62C2F5B-DDDD-4E64-94A9-99E46F4B06A0}"/>
              </a:ext>
            </a:extLst>
          </p:cNvPr>
          <p:cNvSpPr>
            <a:spLocks noGrp="1"/>
          </p:cNvSpPr>
          <p:nvPr>
            <p:ph type="dt" sz="half" idx="10"/>
          </p:nvPr>
        </p:nvSpPr>
        <p:spPr/>
        <p:txBody>
          <a:bodyPr/>
          <a:lstStyle/>
          <a:p>
            <a:fld id="{72345051-2045-45DA-935E-2E3CA1A69ADC}" type="datetimeFigureOut">
              <a:rPr lang="en-US" smtClean="0"/>
              <a:t>3/4/24</a:t>
            </a:fld>
            <a:endParaRPr lang="en-US"/>
          </a:p>
        </p:txBody>
      </p:sp>
      <p:sp>
        <p:nvSpPr>
          <p:cNvPr id="6" name="Footer Placeholder 5">
            <a:extLst>
              <a:ext uri="{FF2B5EF4-FFF2-40B4-BE49-F238E27FC236}">
                <a16:creationId xmlns:a16="http://schemas.microsoft.com/office/drawing/2014/main" id="{D4FA8D36-8865-48E7-8249-ED729A5F7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0F98C3-0B62-4361-8408-A01F70807CDB}"/>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FE511AB6-FEAF-4549-BA88-0764BD10B63D}"/>
              </a:ext>
            </a:extLst>
          </p:cNvPr>
          <p:cNvSpPr/>
          <p:nvPr/>
        </p:nvSpPr>
        <p:spPr>
          <a:xfrm rot="5400000">
            <a:off x="2798064"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208173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7CF8D-FF51-4FD8-B968-A2C8507347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61A953-02EA-491B-A215-AF8420D74D3A}"/>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4084D1E-BC98-44E4-8D2C-89CCDC293331}"/>
              </a:ext>
            </a:extLst>
          </p:cNvPr>
          <p:cNvSpPr>
            <a:spLocks noGrp="1"/>
          </p:cNvSpPr>
          <p:nvPr>
            <p:ph type="dt" sz="half" idx="10"/>
          </p:nvPr>
        </p:nvSpPr>
        <p:spPr/>
        <p:txBody>
          <a:bodyPr/>
          <a:lstStyle/>
          <a:p>
            <a:fld id="{72345051-2045-45DA-935E-2E3CA1A69ADC}" type="datetimeFigureOut">
              <a:rPr lang="en-US" smtClean="0"/>
              <a:t>3/4/24</a:t>
            </a:fld>
            <a:endParaRPr lang="en-US"/>
          </a:p>
        </p:txBody>
      </p:sp>
      <p:sp>
        <p:nvSpPr>
          <p:cNvPr id="5" name="Footer Placeholder 4">
            <a:extLst>
              <a:ext uri="{FF2B5EF4-FFF2-40B4-BE49-F238E27FC236}">
                <a16:creationId xmlns:a16="http://schemas.microsoft.com/office/drawing/2014/main" id="{513019EB-9C2B-4833-B72A-1476941597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F6E764-5688-45F5-94ED-A7357D2F568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814447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0E3CB6-3025-40BF-A04B-A7B0CB4C01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DD5CB3-8B24-48C7-89D3-8DCAD36A453D}"/>
              </a:ext>
            </a:extLst>
          </p:cNvPr>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50BC931-E2BF-4C1D-91AA-89F82F8268B2}"/>
              </a:ext>
            </a:extLst>
          </p:cNvPr>
          <p:cNvSpPr>
            <a:spLocks noGrp="1"/>
          </p:cNvSpPr>
          <p:nvPr>
            <p:ph type="dt" sz="half" idx="10"/>
          </p:nvPr>
        </p:nvSpPr>
        <p:spPr/>
        <p:txBody>
          <a:bodyPr/>
          <a:lstStyle/>
          <a:p>
            <a:fld id="{72345051-2045-45DA-935E-2E3CA1A69ADC}" type="datetimeFigureOut">
              <a:rPr lang="en-US" smtClean="0"/>
              <a:t>3/4/24</a:t>
            </a:fld>
            <a:endParaRPr lang="en-US"/>
          </a:p>
        </p:txBody>
      </p:sp>
      <p:sp>
        <p:nvSpPr>
          <p:cNvPr id="5" name="Footer Placeholder 4">
            <a:extLst>
              <a:ext uri="{FF2B5EF4-FFF2-40B4-BE49-F238E27FC236}">
                <a16:creationId xmlns:a16="http://schemas.microsoft.com/office/drawing/2014/main" id="{7548A135-AEE9-4483-957E-3D143318DD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8DEFD4-A052-46B3-B2AE-F3091D8A2F7B}"/>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17267104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72D13B-FFCB-4650-AD3C-CB50373525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D0CA9470-DF15-46A1-BF0E-8A5367A4B0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63047CB-E94D-482F-BACA-681E96C0EC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72345051-2045-45DA-935E-2E3CA1A69ADC}" type="datetimeFigureOut">
              <a:rPr lang="en-US" smtClean="0"/>
              <a:t>3/4/24</a:t>
            </a:fld>
            <a:endParaRPr lang="en-US" dirty="0"/>
          </a:p>
        </p:txBody>
      </p:sp>
      <p:sp>
        <p:nvSpPr>
          <p:cNvPr id="5" name="Footer Placeholder 4">
            <a:extLst>
              <a:ext uri="{FF2B5EF4-FFF2-40B4-BE49-F238E27FC236}">
                <a16:creationId xmlns:a16="http://schemas.microsoft.com/office/drawing/2014/main" id="{2CFDA4B5-E797-42FC-8B7A-2294DF24A3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78ED201-6D0E-422C-B4EC-566A3DC298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A7CD31F4-64FA-4BA0-9498-67783267A8C8}" type="slidenum">
              <a:rPr lang="en-US" smtClean="0"/>
              <a:t>‹#›</a:t>
            </a:fld>
            <a:endParaRPr lang="en-US" dirty="0"/>
          </a:p>
        </p:txBody>
      </p:sp>
    </p:spTree>
    <p:extLst>
      <p:ext uri="{BB962C8B-B14F-4D97-AF65-F5344CB8AC3E}">
        <p14:creationId xmlns:p14="http://schemas.microsoft.com/office/powerpoint/2010/main" val="1723933155"/>
      </p:ext>
    </p:extLst>
  </p:cSld>
  <p:clrMap bg1="lt1" tx1="dk1" bg2="lt2" tx2="dk2" accent1="accent1" accent2="accent2" accent3="accent3" accent4="accent4" accent5="accent5" accent6="accent6" hlink="hlink" folHlink="folHlink"/>
  <p:sldLayoutIdLst>
    <p:sldLayoutId id="2147484095" r:id="rId1"/>
    <p:sldLayoutId id="2147484096" r:id="rId2"/>
    <p:sldLayoutId id="2147484097" r:id="rId3"/>
    <p:sldLayoutId id="2147484098" r:id="rId4"/>
    <p:sldLayoutId id="2147484099" r:id="rId5"/>
    <p:sldLayoutId id="2147484105" r:id="rId6"/>
    <p:sldLayoutId id="2147484100" r:id="rId7"/>
    <p:sldLayoutId id="2147484101" r:id="rId8"/>
    <p:sldLayoutId id="2147484102" r:id="rId9"/>
    <p:sldLayoutId id="2147484104" r:id="rId10"/>
    <p:sldLayoutId id="2147484103" r:id="rId11"/>
  </p:sldLayoutIdLst>
  <p:txStyles>
    <p:titleStyle>
      <a:lvl1pPr algn="l" defTabSz="914400" rtl="0" eaLnBrk="1" latinLnBrk="0" hangingPunct="1">
        <a:lnSpc>
          <a:spcPct val="100000"/>
        </a:lnSpc>
        <a:spcBef>
          <a:spcPct val="0"/>
        </a:spcBef>
        <a:buNone/>
        <a:defRPr sz="5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ideo" Target="https://www.youtube.com/embed/biZEstQVD24?feature=oembed" TargetMode="External"/><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customXml" Target="../ink/ink3.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ideo" Target="https://www.youtube.com/embed/hNcDm37yj5Q?feature=oembed" TargetMode="External"/><Relationship Id="rId4" Type="http://schemas.openxmlformats.org/officeDocument/2006/relationships/image" Target="../media/image14.jpeg"/></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7.jpeg"/><Relationship Id="rId5" Type="http://schemas.openxmlformats.org/officeDocument/2006/relationships/hyperlink" Target="https://www.google.com/url?sa=i&amp;url=https%3A%2F%2Fflo.health%2Fmenstrual-cycle%2Fsex%2Fbirth-control%2Fnon-hormonal-birth-control&amp;psig=AOvVaw0eDPKP67r6BBGj2r9QpShi&amp;ust=1709276093185000&amp;source=images&amp;cd=vfe&amp;opi=89978449&amp;ved=0CBMQjRxqFwoTCMjS0OT7z4QDFQAAAAAdAAAAABA9" TargetMode="External"/><Relationship Id="rId4" Type="http://schemas.openxmlformats.org/officeDocument/2006/relationships/image" Target="../media/image16.jpeg"/></Relationships>
</file>

<file path=ppt/slides/_rels/slide1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23.jpeg"/><Relationship Id="rId3" Type="http://schemas.openxmlformats.org/officeDocument/2006/relationships/image" Target="../media/image26.png"/><Relationship Id="rId7" Type="http://schemas.openxmlformats.org/officeDocument/2006/relationships/image" Target="../media/image22.png"/><Relationship Id="rId2" Type="http://schemas.openxmlformats.org/officeDocument/2006/relationships/customXml" Target="../ink/ink4.xml"/><Relationship Id="rId1" Type="http://schemas.openxmlformats.org/officeDocument/2006/relationships/slideLayout" Target="../slideLayouts/slideLayout2.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jpeg"/><Relationship Id="rId9" Type="http://schemas.openxmlformats.org/officeDocument/2006/relationships/image" Target="../media/image24.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7.xml"/><Relationship Id="rId4" Type="http://schemas.openxmlformats.org/officeDocument/2006/relationships/image" Target="../media/image19.jpeg"/></Relationships>
</file>

<file path=ppt/slides/_rels/slide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customXml" Target="../ink/ink5.xml"/><Relationship Id="rId1" Type="http://schemas.openxmlformats.org/officeDocument/2006/relationships/slideLayout" Target="../slideLayouts/slideLayout2.xml"/><Relationship Id="rId4" Type="http://schemas.openxmlformats.org/officeDocument/2006/relationships/image" Target="../media/image31.jpeg"/></Relationships>
</file>

<file path=ppt/slides/_rels/slide27.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customXml" Target="../ink/ink6.xml"/><Relationship Id="rId7" Type="http://schemas.openxmlformats.org/officeDocument/2006/relationships/image" Target="../media/image39.jpe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8.jpeg"/><Relationship Id="rId5" Type="http://schemas.openxmlformats.org/officeDocument/2006/relationships/image" Target="../media/image37.jpeg"/><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8.jpeg"/></Relationships>
</file>

<file path=ppt/slides/_rels/slide35.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customXml" Target="../ink/ink7.xml"/><Relationship Id="rId1" Type="http://schemas.openxmlformats.org/officeDocument/2006/relationships/slideLayout" Target="../slideLayouts/slideLayout2.xml"/><Relationship Id="rId5" Type="http://schemas.openxmlformats.org/officeDocument/2006/relationships/image" Target="../media/image41.jpeg"/><Relationship Id="rId4" Type="http://schemas.openxmlformats.org/officeDocument/2006/relationships/image" Target="../media/image40.jpeg"/></Relationships>
</file>

<file path=ppt/slides/_rels/slide37.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5" name="Rectangle 74">
            <a:extLst>
              <a:ext uri="{FF2B5EF4-FFF2-40B4-BE49-F238E27FC236}">
                <a16:creationId xmlns:a16="http://schemas.microsoft.com/office/drawing/2014/main" id="{93245F62-CCC4-49E4-B95B-EA6C1E7905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rainbow colored splatter&#10;&#10;Description automatically generated">
            <a:extLst>
              <a:ext uri="{FF2B5EF4-FFF2-40B4-BE49-F238E27FC236}">
                <a16:creationId xmlns:a16="http://schemas.microsoft.com/office/drawing/2014/main" id="{EEA83DFB-1DE6-B5DE-A972-635BA2248013}"/>
              </a:ext>
            </a:extLst>
          </p:cNvPr>
          <p:cNvPicPr>
            <a:picLocks noChangeAspect="1"/>
          </p:cNvPicPr>
          <p:nvPr/>
        </p:nvPicPr>
        <p:blipFill rotWithShape="1">
          <a:blip r:embed="rId2"/>
          <a:srcRect t="1747"/>
          <a:stretch/>
        </p:blipFill>
        <p:spPr>
          <a:xfrm>
            <a:off x="1298963" y="266542"/>
            <a:ext cx="9589477" cy="5394065"/>
          </a:xfrm>
          <a:prstGeom prst="rect">
            <a:avLst/>
          </a:prstGeom>
        </p:spPr>
      </p:pic>
      <p:pic>
        <p:nvPicPr>
          <p:cNvPr id="1028" name="Picture 4" descr="Sexually Transmitted Infections and HIV">
            <a:extLst>
              <a:ext uri="{FF2B5EF4-FFF2-40B4-BE49-F238E27FC236}">
                <a16:creationId xmlns:a16="http://schemas.microsoft.com/office/drawing/2014/main" id="{BDCE080E-9344-5EDA-E414-5ED90ABD48CE}"/>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l="25312" t="22731" r="26524" b="12904"/>
          <a:stretch/>
        </p:blipFill>
        <p:spPr bwMode="auto">
          <a:xfrm>
            <a:off x="9472614" y="266542"/>
            <a:ext cx="2614612" cy="192992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657FBC4-0AFB-ADB7-F057-3A685854992A}"/>
              </a:ext>
            </a:extLst>
          </p:cNvPr>
          <p:cNvSpPr>
            <a:spLocks noGrp="1"/>
          </p:cNvSpPr>
          <p:nvPr>
            <p:ph type="ctrTitle"/>
          </p:nvPr>
        </p:nvSpPr>
        <p:spPr>
          <a:xfrm>
            <a:off x="638882" y="3577456"/>
            <a:ext cx="10909640" cy="1687814"/>
          </a:xfrm>
        </p:spPr>
        <p:txBody>
          <a:bodyPr anchor="b">
            <a:normAutofit/>
          </a:bodyPr>
          <a:lstStyle/>
          <a:p>
            <a:pPr algn="ctr"/>
            <a:r>
              <a:rPr lang="en-US" sz="10000" dirty="0"/>
              <a:t>CONTRACEPTION &amp; STI’s</a:t>
            </a:r>
          </a:p>
        </p:txBody>
      </p:sp>
      <p:sp>
        <p:nvSpPr>
          <p:cNvPr id="3" name="Subtitle 2">
            <a:extLst>
              <a:ext uri="{FF2B5EF4-FFF2-40B4-BE49-F238E27FC236}">
                <a16:creationId xmlns:a16="http://schemas.microsoft.com/office/drawing/2014/main" id="{E0D7FC79-1308-3C8D-6F49-05BF0614DDCD}"/>
              </a:ext>
            </a:extLst>
          </p:cNvPr>
          <p:cNvSpPr>
            <a:spLocks noGrp="1"/>
          </p:cNvSpPr>
          <p:nvPr>
            <p:ph type="subTitle" idx="1"/>
          </p:nvPr>
        </p:nvSpPr>
        <p:spPr>
          <a:xfrm>
            <a:off x="638881" y="5660607"/>
            <a:ext cx="10909643" cy="1060868"/>
          </a:xfrm>
        </p:spPr>
        <p:txBody>
          <a:bodyPr anchor="t">
            <a:normAutofit/>
          </a:bodyPr>
          <a:lstStyle/>
          <a:p>
            <a:pPr algn="ctr"/>
            <a:r>
              <a:rPr lang="en-US" sz="3200" b="1" dirty="0"/>
              <a:t>Year 10 Health 			Lesson 2	+ Lesson 3		Term 2, 2024</a:t>
            </a:r>
          </a:p>
        </p:txBody>
      </p:sp>
      <p:sp>
        <p:nvSpPr>
          <p:cNvPr id="77" name="Rectangle 6">
            <a:extLst>
              <a:ext uri="{FF2B5EF4-FFF2-40B4-BE49-F238E27FC236}">
                <a16:creationId xmlns:a16="http://schemas.microsoft.com/office/drawing/2014/main" id="{E6C0DD6B-6AA3-448F-9B99-8386295BC1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5509052"/>
            <a:ext cx="4572000" cy="27432"/>
          </a:xfrm>
          <a:custGeom>
            <a:avLst/>
            <a:gdLst>
              <a:gd name="connsiteX0" fmla="*/ 0 w 4572000"/>
              <a:gd name="connsiteY0" fmla="*/ 0 h 27432"/>
              <a:gd name="connsiteX1" fmla="*/ 607423 w 4572000"/>
              <a:gd name="connsiteY1" fmla="*/ 0 h 27432"/>
              <a:gd name="connsiteX2" fmla="*/ 1123406 w 4572000"/>
              <a:gd name="connsiteY2" fmla="*/ 0 h 27432"/>
              <a:gd name="connsiteX3" fmla="*/ 1685109 w 4572000"/>
              <a:gd name="connsiteY3" fmla="*/ 0 h 27432"/>
              <a:gd name="connsiteX4" fmla="*/ 2383971 w 4572000"/>
              <a:gd name="connsiteY4" fmla="*/ 0 h 27432"/>
              <a:gd name="connsiteX5" fmla="*/ 2991394 w 4572000"/>
              <a:gd name="connsiteY5" fmla="*/ 0 h 27432"/>
              <a:gd name="connsiteX6" fmla="*/ 3553097 w 4572000"/>
              <a:gd name="connsiteY6" fmla="*/ 0 h 27432"/>
              <a:gd name="connsiteX7" fmla="*/ 4572000 w 4572000"/>
              <a:gd name="connsiteY7" fmla="*/ 0 h 27432"/>
              <a:gd name="connsiteX8" fmla="*/ 4572000 w 4572000"/>
              <a:gd name="connsiteY8" fmla="*/ 27432 h 27432"/>
              <a:gd name="connsiteX9" fmla="*/ 3918857 w 4572000"/>
              <a:gd name="connsiteY9" fmla="*/ 27432 h 27432"/>
              <a:gd name="connsiteX10" fmla="*/ 3357154 w 4572000"/>
              <a:gd name="connsiteY10" fmla="*/ 27432 h 27432"/>
              <a:gd name="connsiteX11" fmla="*/ 2612571 w 4572000"/>
              <a:gd name="connsiteY11" fmla="*/ 27432 h 27432"/>
              <a:gd name="connsiteX12" fmla="*/ 2005149 w 4572000"/>
              <a:gd name="connsiteY12" fmla="*/ 27432 h 27432"/>
              <a:gd name="connsiteX13" fmla="*/ 1489166 w 4572000"/>
              <a:gd name="connsiteY13" fmla="*/ 27432 h 27432"/>
              <a:gd name="connsiteX14" fmla="*/ 790303 w 4572000"/>
              <a:gd name="connsiteY14" fmla="*/ 27432 h 27432"/>
              <a:gd name="connsiteX15" fmla="*/ 0 w 4572000"/>
              <a:gd name="connsiteY15" fmla="*/ 27432 h 27432"/>
              <a:gd name="connsiteX16" fmla="*/ 0 w 457200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27432" fill="none" extrusionOk="0">
                <a:moveTo>
                  <a:pt x="0" y="0"/>
                </a:moveTo>
                <a:cubicBezTo>
                  <a:pt x="150397" y="-23421"/>
                  <a:pt x="474161" y="9174"/>
                  <a:pt x="607423" y="0"/>
                </a:cubicBezTo>
                <a:cubicBezTo>
                  <a:pt x="740685" y="-9174"/>
                  <a:pt x="868821" y="-4258"/>
                  <a:pt x="1123406" y="0"/>
                </a:cubicBezTo>
                <a:cubicBezTo>
                  <a:pt x="1377991" y="4258"/>
                  <a:pt x="1567664" y="-12410"/>
                  <a:pt x="1685109" y="0"/>
                </a:cubicBezTo>
                <a:cubicBezTo>
                  <a:pt x="1802554" y="12410"/>
                  <a:pt x="2193086" y="-14353"/>
                  <a:pt x="2383971" y="0"/>
                </a:cubicBezTo>
                <a:cubicBezTo>
                  <a:pt x="2574856" y="14353"/>
                  <a:pt x="2697477" y="-26142"/>
                  <a:pt x="2991394" y="0"/>
                </a:cubicBezTo>
                <a:cubicBezTo>
                  <a:pt x="3285311" y="26142"/>
                  <a:pt x="3423667" y="26544"/>
                  <a:pt x="3553097" y="0"/>
                </a:cubicBezTo>
                <a:cubicBezTo>
                  <a:pt x="3682527" y="-26544"/>
                  <a:pt x="4344147" y="50350"/>
                  <a:pt x="4572000" y="0"/>
                </a:cubicBezTo>
                <a:cubicBezTo>
                  <a:pt x="4571027" y="8304"/>
                  <a:pt x="4571522" y="21512"/>
                  <a:pt x="4572000" y="27432"/>
                </a:cubicBezTo>
                <a:cubicBezTo>
                  <a:pt x="4438349" y="5490"/>
                  <a:pt x="4090129" y="31231"/>
                  <a:pt x="3918857" y="27432"/>
                </a:cubicBezTo>
                <a:cubicBezTo>
                  <a:pt x="3747585" y="23633"/>
                  <a:pt x="3498826" y="6883"/>
                  <a:pt x="3357154" y="27432"/>
                </a:cubicBezTo>
                <a:cubicBezTo>
                  <a:pt x="3215482" y="47981"/>
                  <a:pt x="2784289" y="56849"/>
                  <a:pt x="2612571" y="27432"/>
                </a:cubicBezTo>
                <a:cubicBezTo>
                  <a:pt x="2440853" y="-1985"/>
                  <a:pt x="2261292" y="25951"/>
                  <a:pt x="2005149" y="27432"/>
                </a:cubicBezTo>
                <a:cubicBezTo>
                  <a:pt x="1749006" y="28913"/>
                  <a:pt x="1700078" y="34342"/>
                  <a:pt x="1489166" y="27432"/>
                </a:cubicBezTo>
                <a:cubicBezTo>
                  <a:pt x="1278254" y="20522"/>
                  <a:pt x="1077188" y="56916"/>
                  <a:pt x="790303" y="27432"/>
                </a:cubicBezTo>
                <a:cubicBezTo>
                  <a:pt x="503418" y="-2052"/>
                  <a:pt x="359168" y="57044"/>
                  <a:pt x="0" y="27432"/>
                </a:cubicBezTo>
                <a:cubicBezTo>
                  <a:pt x="-1048" y="14992"/>
                  <a:pt x="-1120" y="7447"/>
                  <a:pt x="0" y="0"/>
                </a:cubicBezTo>
                <a:close/>
              </a:path>
              <a:path w="4572000" h="27432" stroke="0" extrusionOk="0">
                <a:moveTo>
                  <a:pt x="0" y="0"/>
                </a:moveTo>
                <a:cubicBezTo>
                  <a:pt x="155698" y="6780"/>
                  <a:pt x="465972" y="13197"/>
                  <a:pt x="607423" y="0"/>
                </a:cubicBezTo>
                <a:cubicBezTo>
                  <a:pt x="748874" y="-13197"/>
                  <a:pt x="1014133" y="22994"/>
                  <a:pt x="1123406" y="0"/>
                </a:cubicBezTo>
                <a:cubicBezTo>
                  <a:pt x="1232679" y="-22994"/>
                  <a:pt x="1639431" y="-2997"/>
                  <a:pt x="1867989" y="0"/>
                </a:cubicBezTo>
                <a:cubicBezTo>
                  <a:pt x="2096547" y="2997"/>
                  <a:pt x="2265668" y="29557"/>
                  <a:pt x="2475411" y="0"/>
                </a:cubicBezTo>
                <a:cubicBezTo>
                  <a:pt x="2685154" y="-29557"/>
                  <a:pt x="2951491" y="73"/>
                  <a:pt x="3082834" y="0"/>
                </a:cubicBezTo>
                <a:cubicBezTo>
                  <a:pt x="3214177" y="-73"/>
                  <a:pt x="3641000" y="-33478"/>
                  <a:pt x="3827417" y="0"/>
                </a:cubicBezTo>
                <a:cubicBezTo>
                  <a:pt x="4013834" y="33478"/>
                  <a:pt x="4345917" y="14255"/>
                  <a:pt x="4572000" y="0"/>
                </a:cubicBezTo>
                <a:cubicBezTo>
                  <a:pt x="4572485" y="9333"/>
                  <a:pt x="4573278" y="19699"/>
                  <a:pt x="4572000" y="27432"/>
                </a:cubicBezTo>
                <a:cubicBezTo>
                  <a:pt x="4318030" y="43025"/>
                  <a:pt x="4161104" y="34314"/>
                  <a:pt x="4010297" y="27432"/>
                </a:cubicBezTo>
                <a:cubicBezTo>
                  <a:pt x="3859490" y="20550"/>
                  <a:pt x="3592529" y="6613"/>
                  <a:pt x="3357154" y="27432"/>
                </a:cubicBezTo>
                <a:cubicBezTo>
                  <a:pt x="3121779" y="48251"/>
                  <a:pt x="2884285" y="3780"/>
                  <a:pt x="2704011" y="27432"/>
                </a:cubicBezTo>
                <a:cubicBezTo>
                  <a:pt x="2523737" y="51084"/>
                  <a:pt x="2295944" y="32081"/>
                  <a:pt x="2096589" y="27432"/>
                </a:cubicBezTo>
                <a:cubicBezTo>
                  <a:pt x="1897234" y="22783"/>
                  <a:pt x="1623782" y="52518"/>
                  <a:pt x="1352006" y="27432"/>
                </a:cubicBezTo>
                <a:cubicBezTo>
                  <a:pt x="1080230" y="2346"/>
                  <a:pt x="869959" y="12864"/>
                  <a:pt x="607423" y="27432"/>
                </a:cubicBezTo>
                <a:cubicBezTo>
                  <a:pt x="344887" y="42000"/>
                  <a:pt x="188100" y="40051"/>
                  <a:pt x="0" y="27432"/>
                </a:cubicBezTo>
                <a:cubicBezTo>
                  <a:pt x="211" y="18145"/>
                  <a:pt x="120" y="6480"/>
                  <a:pt x="0" y="0"/>
                </a:cubicBezTo>
                <a:close/>
              </a:path>
            </a:pathLst>
          </a:custGeom>
          <a:solidFill>
            <a:srgbClr val="7EB8FB"/>
          </a:solidFill>
          <a:ln w="38100" cap="rnd">
            <a:solidFill>
              <a:srgbClr val="7EB8FB"/>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Date Placeholder 26">
            <a:extLst>
              <a:ext uri="{FF2B5EF4-FFF2-40B4-BE49-F238E27FC236}">
                <a16:creationId xmlns:a16="http://schemas.microsoft.com/office/drawing/2014/main" id="{F28B82B1-E269-4325-A665-6CFE5DEE5DE5}"/>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81" name="Footer Placeholder 27">
            <a:extLst>
              <a:ext uri="{FF2B5EF4-FFF2-40B4-BE49-F238E27FC236}">
                <a16:creationId xmlns:a16="http://schemas.microsoft.com/office/drawing/2014/main" id="{7C700527-76FD-4DF4-A597-6F5E089CA0C2}"/>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83" name="Slide Number Placeholder 28">
            <a:extLst>
              <a:ext uri="{FF2B5EF4-FFF2-40B4-BE49-F238E27FC236}">
                <a16:creationId xmlns:a16="http://schemas.microsoft.com/office/drawing/2014/main" id="{B5EA49A9-01EB-4D60-A392-7DC9B625D67D}"/>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extLst>
      <p:ext uri="{BB962C8B-B14F-4D97-AF65-F5344CB8AC3E}">
        <p14:creationId xmlns:p14="http://schemas.microsoft.com/office/powerpoint/2010/main" val="2998576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41" presetClass="path" presetSubtype="0" accel="50000" decel="50000" fill="hold" nodeType="withEffect">
                                  <p:stCondLst>
                                    <p:cond delay="0"/>
                                  </p:stCondLst>
                                  <p:childTnLst>
                                    <p:animMotion origin="layout" path="M -4.58333E-6 -1.11111E-6 C -0.01679 -0.02407 -0.07395 -0.04745 -0.09492 -0.04745 C -0.22226 -0.04745 -0.35377 0.32408 -0.35377 0.69583 C -0.35377 0.50857 -0.41966 0.32408 -0.48112 0.32408 C -0.547 0.32408 -0.60846 0.51134 -0.60846 0.69583 C -0.60846 0.60347 -0.64114 0.50857 -0.67421 0.50857 C -0.70703 0.50857 -0.74023 0.6007 -0.74023 0.69583 C -0.74023 0.64815 -0.75664 0.60347 -0.77278 0.60347 C -0.78945 0.60347 -0.80546 0.65093 -0.80546 0.69583 C -0.80546 0.67153 -0.81341 0.64815 -0.822 0.64815 C -0.8263 0.64815 -0.83867 0.67222 -0.83867 0.69583 C -0.83867 0.68403 -0.84296 0.67153 -0.84661 0.67153 C -0.84661 0.66898 -0.85468 0.68333 -0.85468 0.69583 C -0.85468 0.68958 -0.85468 0.68403 -0.85898 0.68403 C -0.85898 0.68681 -0.86328 0.69028 -0.86328 0.69583 C -0.86328 0.69306 -0.86328 0.68958 -0.86328 0.68681 C -0.86757 0.68681 -0.86757 0.68958 -0.86757 0.69306 C -0.87187 0.69306 -0.87187 0.69028 -0.87187 0.68681 C -0.87591 0.68681 -0.87591 0.68958 -0.87591 0.69306 " pathEditMode="relative" rAng="0" ptsTypes="AAAAAAAAAAAAAAAAAAA">
                                      <p:cBhvr>
                                        <p:cTn id="9" dur="5000" fill="hold"/>
                                        <p:tgtEl>
                                          <p:spTgt spid="1028"/>
                                        </p:tgtEl>
                                        <p:attrNameLst>
                                          <p:attrName>ppt_x</p:attrName>
                                          <p:attrName>ppt_y</p:attrName>
                                        </p:attrNameLst>
                                      </p:cBhvr>
                                      <p:rCtr x="-43802" y="3240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04FFB5-DE23-4D74-BEF9-CC7D947D357C}"/>
              </a:ext>
            </a:extLst>
          </p:cNvPr>
          <p:cNvSpPr>
            <a:spLocks noGrp="1"/>
          </p:cNvSpPr>
          <p:nvPr>
            <p:ph type="title"/>
          </p:nvPr>
        </p:nvSpPr>
        <p:spPr>
          <a:xfrm>
            <a:off x="640080" y="325369"/>
            <a:ext cx="4368602" cy="1956841"/>
          </a:xfrm>
        </p:spPr>
        <p:txBody>
          <a:bodyPr anchor="b">
            <a:normAutofit/>
          </a:bodyPr>
          <a:lstStyle/>
          <a:p>
            <a:r>
              <a:rPr lang="en-US" sz="6600"/>
              <a:t>Today’s Focus</a:t>
            </a:r>
          </a:p>
        </p:txBody>
      </p:sp>
      <p:sp>
        <p:nvSpPr>
          <p:cNvPr id="28"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093" y="2563839"/>
            <a:ext cx="3931920" cy="27432"/>
          </a:xfrm>
          <a:custGeom>
            <a:avLst/>
            <a:gdLst>
              <a:gd name="connsiteX0" fmla="*/ 0 w 3931920"/>
              <a:gd name="connsiteY0" fmla="*/ 0 h 27432"/>
              <a:gd name="connsiteX1" fmla="*/ 733958 w 3931920"/>
              <a:gd name="connsiteY1" fmla="*/ 0 h 27432"/>
              <a:gd name="connsiteX2" fmla="*/ 1428598 w 3931920"/>
              <a:gd name="connsiteY2" fmla="*/ 0 h 27432"/>
              <a:gd name="connsiteX3" fmla="*/ 2123237 w 3931920"/>
              <a:gd name="connsiteY3" fmla="*/ 0 h 27432"/>
              <a:gd name="connsiteX4" fmla="*/ 2660599 w 3931920"/>
              <a:gd name="connsiteY4" fmla="*/ 0 h 27432"/>
              <a:gd name="connsiteX5" fmla="*/ 3237281 w 3931920"/>
              <a:gd name="connsiteY5" fmla="*/ 0 h 27432"/>
              <a:gd name="connsiteX6" fmla="*/ 3931920 w 3931920"/>
              <a:gd name="connsiteY6" fmla="*/ 0 h 27432"/>
              <a:gd name="connsiteX7" fmla="*/ 3931920 w 3931920"/>
              <a:gd name="connsiteY7" fmla="*/ 27432 h 27432"/>
              <a:gd name="connsiteX8" fmla="*/ 3276600 w 3931920"/>
              <a:gd name="connsiteY8" fmla="*/ 27432 h 27432"/>
              <a:gd name="connsiteX9" fmla="*/ 2739238 w 3931920"/>
              <a:gd name="connsiteY9" fmla="*/ 27432 h 27432"/>
              <a:gd name="connsiteX10" fmla="*/ 2201875 w 3931920"/>
              <a:gd name="connsiteY10" fmla="*/ 27432 h 27432"/>
              <a:gd name="connsiteX11" fmla="*/ 1507236 w 3931920"/>
              <a:gd name="connsiteY11" fmla="*/ 27432 h 27432"/>
              <a:gd name="connsiteX12" fmla="*/ 930554 w 3931920"/>
              <a:gd name="connsiteY12" fmla="*/ 27432 h 27432"/>
              <a:gd name="connsiteX13" fmla="*/ 0 w 3931920"/>
              <a:gd name="connsiteY13" fmla="*/ 27432 h 27432"/>
              <a:gd name="connsiteX14" fmla="*/ 0 w 3931920"/>
              <a:gd name="connsiteY14"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31920" h="27432" fill="none" extrusionOk="0">
                <a:moveTo>
                  <a:pt x="0" y="0"/>
                </a:moveTo>
                <a:cubicBezTo>
                  <a:pt x="245351" y="16874"/>
                  <a:pt x="509174" y="13736"/>
                  <a:pt x="733958" y="0"/>
                </a:cubicBezTo>
                <a:cubicBezTo>
                  <a:pt x="958742" y="-13736"/>
                  <a:pt x="1245406" y="-17215"/>
                  <a:pt x="1428598" y="0"/>
                </a:cubicBezTo>
                <a:cubicBezTo>
                  <a:pt x="1611790" y="17215"/>
                  <a:pt x="1930525" y="20562"/>
                  <a:pt x="2123237" y="0"/>
                </a:cubicBezTo>
                <a:cubicBezTo>
                  <a:pt x="2315949" y="-20562"/>
                  <a:pt x="2485508" y="11332"/>
                  <a:pt x="2660599" y="0"/>
                </a:cubicBezTo>
                <a:cubicBezTo>
                  <a:pt x="2835690" y="-11332"/>
                  <a:pt x="3075198" y="-14809"/>
                  <a:pt x="3237281" y="0"/>
                </a:cubicBezTo>
                <a:cubicBezTo>
                  <a:pt x="3399364" y="14809"/>
                  <a:pt x="3745084" y="-4992"/>
                  <a:pt x="3931920" y="0"/>
                </a:cubicBezTo>
                <a:cubicBezTo>
                  <a:pt x="3930963" y="8431"/>
                  <a:pt x="3931571" y="14612"/>
                  <a:pt x="3931920" y="27432"/>
                </a:cubicBezTo>
                <a:cubicBezTo>
                  <a:pt x="3765435" y="40792"/>
                  <a:pt x="3452398" y="38703"/>
                  <a:pt x="3276600" y="27432"/>
                </a:cubicBezTo>
                <a:cubicBezTo>
                  <a:pt x="3100802" y="16161"/>
                  <a:pt x="2914889" y="26998"/>
                  <a:pt x="2739238" y="27432"/>
                </a:cubicBezTo>
                <a:cubicBezTo>
                  <a:pt x="2563587" y="27866"/>
                  <a:pt x="2395484" y="39154"/>
                  <a:pt x="2201875" y="27432"/>
                </a:cubicBezTo>
                <a:cubicBezTo>
                  <a:pt x="2008266" y="15710"/>
                  <a:pt x="1781367" y="4899"/>
                  <a:pt x="1507236" y="27432"/>
                </a:cubicBezTo>
                <a:cubicBezTo>
                  <a:pt x="1233105" y="49965"/>
                  <a:pt x="1075495" y="47542"/>
                  <a:pt x="930554" y="27432"/>
                </a:cubicBezTo>
                <a:cubicBezTo>
                  <a:pt x="785613" y="7322"/>
                  <a:pt x="268930" y="30433"/>
                  <a:pt x="0" y="27432"/>
                </a:cubicBezTo>
                <a:cubicBezTo>
                  <a:pt x="226" y="18208"/>
                  <a:pt x="-648" y="12891"/>
                  <a:pt x="0" y="0"/>
                </a:cubicBezTo>
                <a:close/>
              </a:path>
              <a:path w="3931920" h="27432" stroke="0" extrusionOk="0">
                <a:moveTo>
                  <a:pt x="0" y="0"/>
                </a:moveTo>
                <a:cubicBezTo>
                  <a:pt x="278269" y="4786"/>
                  <a:pt x="349028" y="-10422"/>
                  <a:pt x="616001" y="0"/>
                </a:cubicBezTo>
                <a:cubicBezTo>
                  <a:pt x="882974" y="10422"/>
                  <a:pt x="931617" y="-15515"/>
                  <a:pt x="1153363" y="0"/>
                </a:cubicBezTo>
                <a:cubicBezTo>
                  <a:pt x="1375109" y="15515"/>
                  <a:pt x="1704089" y="-3631"/>
                  <a:pt x="1887322" y="0"/>
                </a:cubicBezTo>
                <a:cubicBezTo>
                  <a:pt x="2070555" y="3631"/>
                  <a:pt x="2344155" y="2213"/>
                  <a:pt x="2503322" y="0"/>
                </a:cubicBezTo>
                <a:cubicBezTo>
                  <a:pt x="2662489" y="-2213"/>
                  <a:pt x="2976859" y="26691"/>
                  <a:pt x="3119323" y="0"/>
                </a:cubicBezTo>
                <a:cubicBezTo>
                  <a:pt x="3261787" y="-26691"/>
                  <a:pt x="3588171" y="-28651"/>
                  <a:pt x="3931920" y="0"/>
                </a:cubicBezTo>
                <a:cubicBezTo>
                  <a:pt x="3930565" y="9524"/>
                  <a:pt x="3930718" y="13975"/>
                  <a:pt x="3931920" y="27432"/>
                </a:cubicBezTo>
                <a:cubicBezTo>
                  <a:pt x="3664329" y="4021"/>
                  <a:pt x="3437686" y="14511"/>
                  <a:pt x="3276600" y="27432"/>
                </a:cubicBezTo>
                <a:cubicBezTo>
                  <a:pt x="3115514" y="40353"/>
                  <a:pt x="2913592" y="48967"/>
                  <a:pt x="2739238" y="27432"/>
                </a:cubicBezTo>
                <a:cubicBezTo>
                  <a:pt x="2564884" y="5897"/>
                  <a:pt x="2294049" y="39820"/>
                  <a:pt x="2083918" y="27432"/>
                </a:cubicBezTo>
                <a:cubicBezTo>
                  <a:pt x="1873787" y="15044"/>
                  <a:pt x="1718903" y="21388"/>
                  <a:pt x="1428598" y="27432"/>
                </a:cubicBezTo>
                <a:cubicBezTo>
                  <a:pt x="1138293" y="33476"/>
                  <a:pt x="952209" y="50441"/>
                  <a:pt x="812597" y="27432"/>
                </a:cubicBezTo>
                <a:cubicBezTo>
                  <a:pt x="672985" y="4423"/>
                  <a:pt x="305800" y="28240"/>
                  <a:pt x="0" y="27432"/>
                </a:cubicBezTo>
                <a:cubicBezTo>
                  <a:pt x="-800" y="16780"/>
                  <a:pt x="-583" y="12910"/>
                  <a:pt x="0" y="0"/>
                </a:cubicBezTo>
                <a:close/>
              </a:path>
            </a:pathLst>
          </a:custGeom>
          <a:solidFill>
            <a:srgbClr val="E5B399"/>
          </a:solidFill>
          <a:ln w="38100" cap="rnd">
            <a:solidFill>
              <a:srgbClr val="E5B399"/>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A63D7FC-176D-B898-C622-E503B972CD01}"/>
              </a:ext>
            </a:extLst>
          </p:cNvPr>
          <p:cNvSpPr>
            <a:spLocks noGrp="1"/>
          </p:cNvSpPr>
          <p:nvPr>
            <p:ph idx="1"/>
          </p:nvPr>
        </p:nvSpPr>
        <p:spPr>
          <a:xfrm>
            <a:off x="640080" y="2872899"/>
            <a:ext cx="4243589" cy="3320668"/>
          </a:xfrm>
        </p:spPr>
        <p:txBody>
          <a:bodyPr>
            <a:normAutofit fontScale="92500" lnSpcReduction="20000"/>
          </a:bodyPr>
          <a:lstStyle/>
          <a:p>
            <a:r>
              <a:rPr lang="en-US" dirty="0"/>
              <a:t>List reasons why people choose to use/not use contraception.</a:t>
            </a:r>
          </a:p>
          <a:p>
            <a:r>
              <a:rPr lang="en-US" dirty="0"/>
              <a:t>Consider reasons to postpone sexual intercourse.</a:t>
            </a:r>
          </a:p>
          <a:p>
            <a:r>
              <a:rPr lang="en-US" dirty="0"/>
              <a:t>Define the different types of contraception.</a:t>
            </a:r>
          </a:p>
          <a:p>
            <a:r>
              <a:rPr lang="en-US" dirty="0"/>
              <a:t>Be introduced to the different methods of contraception. </a:t>
            </a:r>
          </a:p>
          <a:p>
            <a:r>
              <a:rPr lang="en-US" dirty="0"/>
              <a:t>Revision.</a:t>
            </a:r>
          </a:p>
        </p:txBody>
      </p:sp>
      <p:pic>
        <p:nvPicPr>
          <p:cNvPr id="5" name="Picture 4" descr="Writing an appointment on a paper agenda">
            <a:extLst>
              <a:ext uri="{FF2B5EF4-FFF2-40B4-BE49-F238E27FC236}">
                <a16:creationId xmlns:a16="http://schemas.microsoft.com/office/drawing/2014/main" id="{EDE161DE-AC56-B92C-DAD0-35C65DB94381}"/>
              </a:ext>
            </a:extLst>
          </p:cNvPr>
          <p:cNvPicPr>
            <a:picLocks noChangeAspect="1"/>
          </p:cNvPicPr>
          <p:nvPr/>
        </p:nvPicPr>
        <p:blipFill rotWithShape="1">
          <a:blip r:embed="rId2"/>
          <a:srcRect r="33047"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7392639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7" name="Rectangle 1036">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2EF611-9297-0925-A19E-48CEC67D3436}"/>
              </a:ext>
            </a:extLst>
          </p:cNvPr>
          <p:cNvSpPr>
            <a:spLocks noGrp="1"/>
          </p:cNvSpPr>
          <p:nvPr>
            <p:ph type="title"/>
          </p:nvPr>
        </p:nvSpPr>
        <p:spPr>
          <a:xfrm>
            <a:off x="5884515" y="663582"/>
            <a:ext cx="6029981" cy="1476801"/>
          </a:xfrm>
        </p:spPr>
        <p:txBody>
          <a:bodyPr anchor="b">
            <a:normAutofit fontScale="90000"/>
          </a:bodyPr>
          <a:lstStyle/>
          <a:p>
            <a:r>
              <a:rPr lang="en-US" sz="5200" dirty="0"/>
              <a:t>OPTIONAL HOOK: TRUE OR FALSE (pg. 12)</a:t>
            </a:r>
          </a:p>
        </p:txBody>
      </p:sp>
      <p:sp>
        <p:nvSpPr>
          <p:cNvPr id="1038"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9128" y="2381825"/>
            <a:ext cx="4114800" cy="18288"/>
          </a:xfrm>
          <a:custGeom>
            <a:avLst/>
            <a:gdLst>
              <a:gd name="connsiteX0" fmla="*/ 0 w 4114800"/>
              <a:gd name="connsiteY0" fmla="*/ 0 h 18288"/>
              <a:gd name="connsiteX1" fmla="*/ 768096 w 4114800"/>
              <a:gd name="connsiteY1" fmla="*/ 0 h 18288"/>
              <a:gd name="connsiteX2" fmla="*/ 1495044 w 4114800"/>
              <a:gd name="connsiteY2" fmla="*/ 0 h 18288"/>
              <a:gd name="connsiteX3" fmla="*/ 2221992 w 4114800"/>
              <a:gd name="connsiteY3" fmla="*/ 0 h 18288"/>
              <a:gd name="connsiteX4" fmla="*/ 2784348 w 4114800"/>
              <a:gd name="connsiteY4" fmla="*/ 0 h 18288"/>
              <a:gd name="connsiteX5" fmla="*/ 3387852 w 4114800"/>
              <a:gd name="connsiteY5" fmla="*/ 0 h 18288"/>
              <a:gd name="connsiteX6" fmla="*/ 4114800 w 4114800"/>
              <a:gd name="connsiteY6" fmla="*/ 0 h 18288"/>
              <a:gd name="connsiteX7" fmla="*/ 4114800 w 4114800"/>
              <a:gd name="connsiteY7" fmla="*/ 18288 h 18288"/>
              <a:gd name="connsiteX8" fmla="*/ 3429000 w 4114800"/>
              <a:gd name="connsiteY8" fmla="*/ 18288 h 18288"/>
              <a:gd name="connsiteX9" fmla="*/ 2866644 w 4114800"/>
              <a:gd name="connsiteY9" fmla="*/ 18288 h 18288"/>
              <a:gd name="connsiteX10" fmla="*/ 2304288 w 4114800"/>
              <a:gd name="connsiteY10" fmla="*/ 18288 h 18288"/>
              <a:gd name="connsiteX11" fmla="*/ 1577340 w 4114800"/>
              <a:gd name="connsiteY11" fmla="*/ 18288 h 18288"/>
              <a:gd name="connsiteX12" fmla="*/ 973836 w 4114800"/>
              <a:gd name="connsiteY12" fmla="*/ 18288 h 18288"/>
              <a:gd name="connsiteX13" fmla="*/ 0 w 4114800"/>
              <a:gd name="connsiteY13" fmla="*/ 18288 h 18288"/>
              <a:gd name="connsiteX14" fmla="*/ 0 w 411480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14800" h="18288" fill="none" extrusionOk="0">
                <a:moveTo>
                  <a:pt x="0" y="0"/>
                </a:moveTo>
                <a:cubicBezTo>
                  <a:pt x="338280" y="-26110"/>
                  <a:pt x="483942" y="6555"/>
                  <a:pt x="768096" y="0"/>
                </a:cubicBezTo>
                <a:cubicBezTo>
                  <a:pt x="1052250" y="-6555"/>
                  <a:pt x="1331484" y="24616"/>
                  <a:pt x="1495044" y="0"/>
                </a:cubicBezTo>
                <a:cubicBezTo>
                  <a:pt x="1658604" y="-24616"/>
                  <a:pt x="2056661" y="-33562"/>
                  <a:pt x="2221992" y="0"/>
                </a:cubicBezTo>
                <a:cubicBezTo>
                  <a:pt x="2387323" y="33562"/>
                  <a:pt x="2629463" y="-20094"/>
                  <a:pt x="2784348" y="0"/>
                </a:cubicBezTo>
                <a:cubicBezTo>
                  <a:pt x="2939233" y="20094"/>
                  <a:pt x="3151981" y="1524"/>
                  <a:pt x="3387852" y="0"/>
                </a:cubicBezTo>
                <a:cubicBezTo>
                  <a:pt x="3623723" y="-1524"/>
                  <a:pt x="3882724" y="26165"/>
                  <a:pt x="4114800" y="0"/>
                </a:cubicBezTo>
                <a:cubicBezTo>
                  <a:pt x="4114300" y="8855"/>
                  <a:pt x="4114909" y="14521"/>
                  <a:pt x="4114800" y="18288"/>
                </a:cubicBezTo>
                <a:cubicBezTo>
                  <a:pt x="3910038" y="37744"/>
                  <a:pt x="3683432" y="-3969"/>
                  <a:pt x="3429000" y="18288"/>
                </a:cubicBezTo>
                <a:cubicBezTo>
                  <a:pt x="3174568" y="40545"/>
                  <a:pt x="3085815" y="44166"/>
                  <a:pt x="2866644" y="18288"/>
                </a:cubicBezTo>
                <a:cubicBezTo>
                  <a:pt x="2647473" y="-7590"/>
                  <a:pt x="2580474" y="31338"/>
                  <a:pt x="2304288" y="18288"/>
                </a:cubicBezTo>
                <a:cubicBezTo>
                  <a:pt x="2028102" y="5238"/>
                  <a:pt x="1863008" y="-2001"/>
                  <a:pt x="1577340" y="18288"/>
                </a:cubicBezTo>
                <a:cubicBezTo>
                  <a:pt x="1291672" y="38577"/>
                  <a:pt x="1243931" y="9893"/>
                  <a:pt x="973836" y="18288"/>
                </a:cubicBezTo>
                <a:cubicBezTo>
                  <a:pt x="703741" y="26683"/>
                  <a:pt x="317656" y="-5910"/>
                  <a:pt x="0" y="18288"/>
                </a:cubicBezTo>
                <a:cubicBezTo>
                  <a:pt x="683" y="12014"/>
                  <a:pt x="724" y="5908"/>
                  <a:pt x="0" y="0"/>
                </a:cubicBezTo>
                <a:close/>
              </a:path>
              <a:path w="4114800" h="18288" stroke="0" extrusionOk="0">
                <a:moveTo>
                  <a:pt x="0" y="0"/>
                </a:moveTo>
                <a:cubicBezTo>
                  <a:pt x="276109" y="5266"/>
                  <a:pt x="325589" y="-19584"/>
                  <a:pt x="644652" y="0"/>
                </a:cubicBezTo>
                <a:cubicBezTo>
                  <a:pt x="963715" y="19584"/>
                  <a:pt x="1064991" y="6066"/>
                  <a:pt x="1207008" y="0"/>
                </a:cubicBezTo>
                <a:cubicBezTo>
                  <a:pt x="1349025" y="-6066"/>
                  <a:pt x="1791724" y="14506"/>
                  <a:pt x="1975104" y="0"/>
                </a:cubicBezTo>
                <a:cubicBezTo>
                  <a:pt x="2158484" y="-14506"/>
                  <a:pt x="2397469" y="20822"/>
                  <a:pt x="2619756" y="0"/>
                </a:cubicBezTo>
                <a:cubicBezTo>
                  <a:pt x="2842043" y="-20822"/>
                  <a:pt x="2992157" y="20388"/>
                  <a:pt x="3264408" y="0"/>
                </a:cubicBezTo>
                <a:cubicBezTo>
                  <a:pt x="3536659" y="-20388"/>
                  <a:pt x="3855620" y="38211"/>
                  <a:pt x="4114800" y="0"/>
                </a:cubicBezTo>
                <a:cubicBezTo>
                  <a:pt x="4113902" y="7180"/>
                  <a:pt x="4114969" y="13790"/>
                  <a:pt x="4114800" y="18288"/>
                </a:cubicBezTo>
                <a:cubicBezTo>
                  <a:pt x="3968901" y="8593"/>
                  <a:pt x="3623428" y="17559"/>
                  <a:pt x="3429000" y="18288"/>
                </a:cubicBezTo>
                <a:cubicBezTo>
                  <a:pt x="3234572" y="19017"/>
                  <a:pt x="3085079" y="41804"/>
                  <a:pt x="2866644" y="18288"/>
                </a:cubicBezTo>
                <a:cubicBezTo>
                  <a:pt x="2648209" y="-5228"/>
                  <a:pt x="2451737" y="24580"/>
                  <a:pt x="2180844" y="18288"/>
                </a:cubicBezTo>
                <a:cubicBezTo>
                  <a:pt x="1909951" y="11996"/>
                  <a:pt x="1681589" y="12244"/>
                  <a:pt x="1495044" y="18288"/>
                </a:cubicBezTo>
                <a:cubicBezTo>
                  <a:pt x="1308499" y="24332"/>
                  <a:pt x="1136614" y="21789"/>
                  <a:pt x="850392" y="18288"/>
                </a:cubicBezTo>
                <a:cubicBezTo>
                  <a:pt x="564170" y="14787"/>
                  <a:pt x="210636" y="54701"/>
                  <a:pt x="0" y="18288"/>
                </a:cubicBezTo>
                <a:cubicBezTo>
                  <a:pt x="571" y="10093"/>
                  <a:pt x="-125" y="8407"/>
                  <a:pt x="0" y="0"/>
                </a:cubicBezTo>
                <a:close/>
              </a:path>
            </a:pathLst>
          </a:custGeom>
          <a:solidFill>
            <a:srgbClr val="FF4F39"/>
          </a:solidFill>
          <a:ln w="38100" cap="rnd">
            <a:solidFill>
              <a:srgbClr val="FF4F39"/>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75F01F5-E427-5498-5F21-A77420065815}"/>
              </a:ext>
            </a:extLst>
          </p:cNvPr>
          <p:cNvSpPr>
            <a:spLocks noGrp="1"/>
          </p:cNvSpPr>
          <p:nvPr>
            <p:ph idx="1"/>
          </p:nvPr>
        </p:nvSpPr>
        <p:spPr>
          <a:xfrm>
            <a:off x="4563544" y="2664886"/>
            <a:ext cx="7458127" cy="4031749"/>
          </a:xfrm>
        </p:spPr>
        <p:txBody>
          <a:bodyPr anchor="t">
            <a:normAutofit fontScale="92500"/>
          </a:bodyPr>
          <a:lstStyle/>
          <a:p>
            <a:pPr>
              <a:lnSpc>
                <a:spcPct val="100000"/>
              </a:lnSpc>
            </a:pPr>
            <a:r>
              <a:rPr lang="en-US" dirty="0"/>
              <a:t>OPTION 1: </a:t>
            </a:r>
          </a:p>
          <a:p>
            <a:pPr lvl="1">
              <a:lnSpc>
                <a:spcPct val="100000"/>
              </a:lnSpc>
            </a:pPr>
            <a:r>
              <a:rPr lang="en-US" sz="2800" dirty="0"/>
              <a:t>Students complete the questions in their books (3 minutes).</a:t>
            </a:r>
          </a:p>
          <a:p>
            <a:pPr lvl="1">
              <a:lnSpc>
                <a:spcPct val="100000"/>
              </a:lnSpc>
            </a:pPr>
            <a:r>
              <a:rPr lang="en-US" sz="2800" dirty="0"/>
              <a:t>Go through answers as a class.</a:t>
            </a:r>
          </a:p>
          <a:p>
            <a:pPr lvl="1">
              <a:lnSpc>
                <a:spcPct val="100000"/>
              </a:lnSpc>
            </a:pPr>
            <a:endParaRPr lang="en-US" sz="2800" dirty="0"/>
          </a:p>
          <a:p>
            <a:pPr>
              <a:lnSpc>
                <a:spcPct val="100000"/>
              </a:lnSpc>
            </a:pPr>
            <a:r>
              <a:rPr lang="en-US" dirty="0"/>
              <a:t>OPTION 2: </a:t>
            </a:r>
          </a:p>
          <a:p>
            <a:pPr lvl="1">
              <a:lnSpc>
                <a:spcPct val="100000"/>
              </a:lnSpc>
            </a:pPr>
            <a:r>
              <a:rPr lang="en-US" sz="2800" dirty="0"/>
              <a:t>Teacher to read out the statement. </a:t>
            </a:r>
          </a:p>
          <a:p>
            <a:pPr lvl="1">
              <a:lnSpc>
                <a:spcPct val="100000"/>
              </a:lnSpc>
            </a:pPr>
            <a:r>
              <a:rPr lang="en-US" sz="2800" dirty="0"/>
              <a:t>Students stand with </a:t>
            </a:r>
            <a:r>
              <a:rPr lang="en-US" sz="2800" b="1" dirty="0">
                <a:solidFill>
                  <a:srgbClr val="00B050"/>
                </a:solidFill>
              </a:rPr>
              <a:t>TWO HANDS </a:t>
            </a:r>
            <a:r>
              <a:rPr lang="en-US" sz="2800" dirty="0"/>
              <a:t>on their </a:t>
            </a:r>
            <a:r>
              <a:rPr lang="en-US" sz="2800" b="1" dirty="0">
                <a:solidFill>
                  <a:srgbClr val="00B050"/>
                </a:solidFill>
              </a:rPr>
              <a:t>HEADS</a:t>
            </a:r>
            <a:r>
              <a:rPr lang="en-US" sz="2800" b="1" dirty="0"/>
              <a:t> </a:t>
            </a:r>
            <a:r>
              <a:rPr lang="en-US" sz="2800" dirty="0"/>
              <a:t>if they think the statement is </a:t>
            </a:r>
            <a:r>
              <a:rPr lang="en-US" sz="2800" b="1" dirty="0">
                <a:solidFill>
                  <a:srgbClr val="00B050"/>
                </a:solidFill>
              </a:rPr>
              <a:t>TRUE.</a:t>
            </a:r>
          </a:p>
          <a:p>
            <a:pPr lvl="1">
              <a:lnSpc>
                <a:spcPct val="100000"/>
              </a:lnSpc>
            </a:pPr>
            <a:r>
              <a:rPr lang="en-US" sz="2800" dirty="0"/>
              <a:t>Students stand with </a:t>
            </a:r>
            <a:r>
              <a:rPr lang="en-US" sz="2800" b="1" dirty="0">
                <a:solidFill>
                  <a:srgbClr val="FF0000"/>
                </a:solidFill>
              </a:rPr>
              <a:t>TWO HANDS</a:t>
            </a:r>
            <a:r>
              <a:rPr lang="en-US" sz="2800" dirty="0">
                <a:solidFill>
                  <a:srgbClr val="FF0000"/>
                </a:solidFill>
              </a:rPr>
              <a:t> </a:t>
            </a:r>
            <a:r>
              <a:rPr lang="en-US" sz="2800" dirty="0"/>
              <a:t>on their </a:t>
            </a:r>
            <a:r>
              <a:rPr lang="en-US" sz="2800" b="1" dirty="0">
                <a:solidFill>
                  <a:srgbClr val="FF0000"/>
                </a:solidFill>
              </a:rPr>
              <a:t>TAILS</a:t>
            </a:r>
            <a:r>
              <a:rPr lang="en-US" sz="2800" dirty="0"/>
              <a:t> if they think the statement is </a:t>
            </a:r>
            <a:r>
              <a:rPr lang="en-US" sz="2800" b="1" dirty="0">
                <a:solidFill>
                  <a:srgbClr val="FF0000"/>
                </a:solidFill>
              </a:rPr>
              <a:t>FALSE.</a:t>
            </a:r>
          </a:p>
        </p:txBody>
      </p:sp>
      <mc:AlternateContent xmlns:mc="http://schemas.openxmlformats.org/markup-compatibility/2006" xmlns:p14="http://schemas.microsoft.com/office/powerpoint/2010/main">
        <mc:Choice Requires="p14">
          <p:contentPart p14:bwMode="auto" r:id="rId3">
            <p14:nvContentPartPr>
              <p14:cNvPr id="1039" name="Ink 1038">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6436237" y="1971579"/>
              <a:ext cx="360" cy="2160"/>
            </p14:xfrm>
          </p:contentPart>
        </mc:Choice>
        <mc:Fallback xmlns="">
          <p:pic>
            <p:nvPicPr>
              <p:cNvPr id="1039" name="Ink 1038">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4"/>
              <a:stretch>
                <a:fillRect/>
              </a:stretch>
            </p:blipFill>
            <p:spPr>
              <a:xfrm>
                <a:off x="6418237" y="1956150"/>
                <a:ext cx="36000" cy="32709"/>
              </a:xfrm>
              <a:prstGeom prst="rect">
                <a:avLst/>
              </a:prstGeom>
            </p:spPr>
          </p:pic>
        </mc:Fallback>
      </mc:AlternateContent>
      <p:pic>
        <p:nvPicPr>
          <p:cNvPr id="1026" name="Picture 2" descr="True and false symbols accept rejected for evaluation. Vector Simple and  modern style. 600598 Vector Art at Vecteezy">
            <a:extLst>
              <a:ext uri="{FF2B5EF4-FFF2-40B4-BE49-F238E27FC236}">
                <a16:creationId xmlns:a16="http://schemas.microsoft.com/office/drawing/2014/main" id="{6D9E45EB-935B-2EF0-CC99-735D0A698E7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2130" r="10513"/>
          <a:stretch/>
        </p:blipFill>
        <p:spPr bwMode="auto">
          <a:xfrm>
            <a:off x="170329" y="1572951"/>
            <a:ext cx="4222886" cy="37120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1883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34C474-3C62-120F-8747-228EFDACD9D3}"/>
              </a:ext>
            </a:extLst>
          </p:cNvPr>
          <p:cNvSpPr>
            <a:spLocks noGrp="1"/>
          </p:cNvSpPr>
          <p:nvPr>
            <p:ph type="title"/>
          </p:nvPr>
        </p:nvSpPr>
        <p:spPr>
          <a:xfrm>
            <a:off x="6739128" y="638089"/>
            <a:ext cx="4818888" cy="1476801"/>
          </a:xfrm>
        </p:spPr>
        <p:txBody>
          <a:bodyPr anchor="b">
            <a:normAutofit/>
          </a:bodyPr>
          <a:lstStyle/>
          <a:p>
            <a:pPr>
              <a:lnSpc>
                <a:spcPct val="90000"/>
              </a:lnSpc>
            </a:pPr>
            <a:r>
              <a:rPr lang="en-US" sz="4800" dirty="0"/>
              <a:t>OPTIONAL Hook: (pg. 13)</a:t>
            </a:r>
            <a:br>
              <a:rPr lang="en-US" sz="4800" dirty="0"/>
            </a:br>
            <a:r>
              <a:rPr lang="en-US" sz="4800" dirty="0"/>
              <a:t>Reasons to Postpone Sex</a:t>
            </a:r>
          </a:p>
        </p:txBody>
      </p:sp>
      <p:sp>
        <p:nvSpPr>
          <p:cNvPr id="11"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9128" y="2381825"/>
            <a:ext cx="4114800" cy="18288"/>
          </a:xfrm>
          <a:custGeom>
            <a:avLst/>
            <a:gdLst>
              <a:gd name="connsiteX0" fmla="*/ 0 w 4114800"/>
              <a:gd name="connsiteY0" fmla="*/ 0 h 18288"/>
              <a:gd name="connsiteX1" fmla="*/ 768096 w 4114800"/>
              <a:gd name="connsiteY1" fmla="*/ 0 h 18288"/>
              <a:gd name="connsiteX2" fmla="*/ 1495044 w 4114800"/>
              <a:gd name="connsiteY2" fmla="*/ 0 h 18288"/>
              <a:gd name="connsiteX3" fmla="*/ 2221992 w 4114800"/>
              <a:gd name="connsiteY3" fmla="*/ 0 h 18288"/>
              <a:gd name="connsiteX4" fmla="*/ 2784348 w 4114800"/>
              <a:gd name="connsiteY4" fmla="*/ 0 h 18288"/>
              <a:gd name="connsiteX5" fmla="*/ 3387852 w 4114800"/>
              <a:gd name="connsiteY5" fmla="*/ 0 h 18288"/>
              <a:gd name="connsiteX6" fmla="*/ 4114800 w 4114800"/>
              <a:gd name="connsiteY6" fmla="*/ 0 h 18288"/>
              <a:gd name="connsiteX7" fmla="*/ 4114800 w 4114800"/>
              <a:gd name="connsiteY7" fmla="*/ 18288 h 18288"/>
              <a:gd name="connsiteX8" fmla="*/ 3429000 w 4114800"/>
              <a:gd name="connsiteY8" fmla="*/ 18288 h 18288"/>
              <a:gd name="connsiteX9" fmla="*/ 2866644 w 4114800"/>
              <a:gd name="connsiteY9" fmla="*/ 18288 h 18288"/>
              <a:gd name="connsiteX10" fmla="*/ 2304288 w 4114800"/>
              <a:gd name="connsiteY10" fmla="*/ 18288 h 18288"/>
              <a:gd name="connsiteX11" fmla="*/ 1577340 w 4114800"/>
              <a:gd name="connsiteY11" fmla="*/ 18288 h 18288"/>
              <a:gd name="connsiteX12" fmla="*/ 973836 w 4114800"/>
              <a:gd name="connsiteY12" fmla="*/ 18288 h 18288"/>
              <a:gd name="connsiteX13" fmla="*/ 0 w 4114800"/>
              <a:gd name="connsiteY13" fmla="*/ 18288 h 18288"/>
              <a:gd name="connsiteX14" fmla="*/ 0 w 411480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14800" h="18288" fill="none" extrusionOk="0">
                <a:moveTo>
                  <a:pt x="0" y="0"/>
                </a:moveTo>
                <a:cubicBezTo>
                  <a:pt x="338280" y="-26110"/>
                  <a:pt x="483942" y="6555"/>
                  <a:pt x="768096" y="0"/>
                </a:cubicBezTo>
                <a:cubicBezTo>
                  <a:pt x="1052250" y="-6555"/>
                  <a:pt x="1331484" y="24616"/>
                  <a:pt x="1495044" y="0"/>
                </a:cubicBezTo>
                <a:cubicBezTo>
                  <a:pt x="1658604" y="-24616"/>
                  <a:pt x="2056661" y="-33562"/>
                  <a:pt x="2221992" y="0"/>
                </a:cubicBezTo>
                <a:cubicBezTo>
                  <a:pt x="2387323" y="33562"/>
                  <a:pt x="2629463" y="-20094"/>
                  <a:pt x="2784348" y="0"/>
                </a:cubicBezTo>
                <a:cubicBezTo>
                  <a:pt x="2939233" y="20094"/>
                  <a:pt x="3151981" y="1524"/>
                  <a:pt x="3387852" y="0"/>
                </a:cubicBezTo>
                <a:cubicBezTo>
                  <a:pt x="3623723" y="-1524"/>
                  <a:pt x="3882724" y="26165"/>
                  <a:pt x="4114800" y="0"/>
                </a:cubicBezTo>
                <a:cubicBezTo>
                  <a:pt x="4114300" y="8855"/>
                  <a:pt x="4114909" y="14521"/>
                  <a:pt x="4114800" y="18288"/>
                </a:cubicBezTo>
                <a:cubicBezTo>
                  <a:pt x="3910038" y="37744"/>
                  <a:pt x="3683432" y="-3969"/>
                  <a:pt x="3429000" y="18288"/>
                </a:cubicBezTo>
                <a:cubicBezTo>
                  <a:pt x="3174568" y="40545"/>
                  <a:pt x="3085815" y="44166"/>
                  <a:pt x="2866644" y="18288"/>
                </a:cubicBezTo>
                <a:cubicBezTo>
                  <a:pt x="2647473" y="-7590"/>
                  <a:pt x="2580474" y="31338"/>
                  <a:pt x="2304288" y="18288"/>
                </a:cubicBezTo>
                <a:cubicBezTo>
                  <a:pt x="2028102" y="5238"/>
                  <a:pt x="1863008" y="-2001"/>
                  <a:pt x="1577340" y="18288"/>
                </a:cubicBezTo>
                <a:cubicBezTo>
                  <a:pt x="1291672" y="38577"/>
                  <a:pt x="1243931" y="9893"/>
                  <a:pt x="973836" y="18288"/>
                </a:cubicBezTo>
                <a:cubicBezTo>
                  <a:pt x="703741" y="26683"/>
                  <a:pt x="317656" y="-5910"/>
                  <a:pt x="0" y="18288"/>
                </a:cubicBezTo>
                <a:cubicBezTo>
                  <a:pt x="683" y="12014"/>
                  <a:pt x="724" y="5908"/>
                  <a:pt x="0" y="0"/>
                </a:cubicBezTo>
                <a:close/>
              </a:path>
              <a:path w="4114800" h="18288" stroke="0" extrusionOk="0">
                <a:moveTo>
                  <a:pt x="0" y="0"/>
                </a:moveTo>
                <a:cubicBezTo>
                  <a:pt x="276109" y="5266"/>
                  <a:pt x="325589" y="-19584"/>
                  <a:pt x="644652" y="0"/>
                </a:cubicBezTo>
                <a:cubicBezTo>
                  <a:pt x="963715" y="19584"/>
                  <a:pt x="1064991" y="6066"/>
                  <a:pt x="1207008" y="0"/>
                </a:cubicBezTo>
                <a:cubicBezTo>
                  <a:pt x="1349025" y="-6066"/>
                  <a:pt x="1791724" y="14506"/>
                  <a:pt x="1975104" y="0"/>
                </a:cubicBezTo>
                <a:cubicBezTo>
                  <a:pt x="2158484" y="-14506"/>
                  <a:pt x="2397469" y="20822"/>
                  <a:pt x="2619756" y="0"/>
                </a:cubicBezTo>
                <a:cubicBezTo>
                  <a:pt x="2842043" y="-20822"/>
                  <a:pt x="2992157" y="20388"/>
                  <a:pt x="3264408" y="0"/>
                </a:cubicBezTo>
                <a:cubicBezTo>
                  <a:pt x="3536659" y="-20388"/>
                  <a:pt x="3855620" y="38211"/>
                  <a:pt x="4114800" y="0"/>
                </a:cubicBezTo>
                <a:cubicBezTo>
                  <a:pt x="4113902" y="7180"/>
                  <a:pt x="4114969" y="13790"/>
                  <a:pt x="4114800" y="18288"/>
                </a:cubicBezTo>
                <a:cubicBezTo>
                  <a:pt x="3968901" y="8593"/>
                  <a:pt x="3623428" y="17559"/>
                  <a:pt x="3429000" y="18288"/>
                </a:cubicBezTo>
                <a:cubicBezTo>
                  <a:pt x="3234572" y="19017"/>
                  <a:pt x="3085079" y="41804"/>
                  <a:pt x="2866644" y="18288"/>
                </a:cubicBezTo>
                <a:cubicBezTo>
                  <a:pt x="2648209" y="-5228"/>
                  <a:pt x="2451737" y="24580"/>
                  <a:pt x="2180844" y="18288"/>
                </a:cubicBezTo>
                <a:cubicBezTo>
                  <a:pt x="1909951" y="11996"/>
                  <a:pt x="1681589" y="12244"/>
                  <a:pt x="1495044" y="18288"/>
                </a:cubicBezTo>
                <a:cubicBezTo>
                  <a:pt x="1308499" y="24332"/>
                  <a:pt x="1136614" y="21789"/>
                  <a:pt x="850392" y="18288"/>
                </a:cubicBezTo>
                <a:cubicBezTo>
                  <a:pt x="564170" y="14787"/>
                  <a:pt x="210636" y="54701"/>
                  <a:pt x="0" y="18288"/>
                </a:cubicBezTo>
                <a:cubicBezTo>
                  <a:pt x="571" y="10093"/>
                  <a:pt x="-125" y="8407"/>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BA68EB3-24E7-3A71-B539-B0F2AF53A5E4}"/>
              </a:ext>
            </a:extLst>
          </p:cNvPr>
          <p:cNvSpPr>
            <a:spLocks noGrp="1"/>
          </p:cNvSpPr>
          <p:nvPr>
            <p:ph idx="1"/>
          </p:nvPr>
        </p:nvSpPr>
        <p:spPr>
          <a:xfrm>
            <a:off x="6739128" y="2664886"/>
            <a:ext cx="4818888" cy="3550789"/>
          </a:xfrm>
        </p:spPr>
        <p:txBody>
          <a:bodyPr anchor="t">
            <a:normAutofit/>
          </a:bodyPr>
          <a:lstStyle/>
          <a:p>
            <a:pPr>
              <a:lnSpc>
                <a:spcPct val="100000"/>
              </a:lnSpc>
            </a:pPr>
            <a:r>
              <a:rPr lang="en-US" dirty="0"/>
              <a:t>There are a wide range of reasons why a person would choose to engage in sex, choose to not have sex or wait. </a:t>
            </a:r>
          </a:p>
          <a:p>
            <a:pPr>
              <a:lnSpc>
                <a:spcPct val="100000"/>
              </a:lnSpc>
            </a:pPr>
            <a:r>
              <a:rPr lang="en-US" dirty="0"/>
              <a:t>Consider these reasons by completing the T-chart in your workbooks. </a:t>
            </a:r>
          </a:p>
          <a:p>
            <a:pPr>
              <a:lnSpc>
                <a:spcPct val="100000"/>
              </a:lnSpc>
            </a:pPr>
            <a:r>
              <a:rPr lang="en-US" dirty="0"/>
              <a:t>Be prepared to share. </a:t>
            </a:r>
          </a:p>
          <a:p>
            <a:pPr>
              <a:lnSpc>
                <a:spcPct val="100000"/>
              </a:lnSpc>
            </a:pPr>
            <a:r>
              <a:rPr lang="en-US" dirty="0"/>
              <a:t>You have 5 minutes.</a:t>
            </a:r>
          </a:p>
        </p:txBody>
      </p:sp>
      <mc:AlternateContent xmlns:mc="http://schemas.openxmlformats.org/markup-compatibility/2006" xmlns:p14="http://schemas.microsoft.com/office/powerpoint/2010/main">
        <mc:Choice Requires="p14">
          <p:contentPart p14:bwMode="auto" r:id="rId3">
            <p14:nvContentPartPr>
              <p14:cNvPr id="13" name="Ink 12">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6436237" y="1971579"/>
              <a:ext cx="360" cy="2160"/>
            </p14:xfrm>
          </p:contentPart>
        </mc:Choice>
        <mc:Fallback xmlns="">
          <p:pic>
            <p:nvPicPr>
              <p:cNvPr id="13" name="Ink 12">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4"/>
              <a:stretch>
                <a:fillRect/>
              </a:stretch>
            </p:blipFill>
            <p:spPr>
              <a:xfrm>
                <a:off x="6418237" y="1956150"/>
                <a:ext cx="36000" cy="32709"/>
              </a:xfrm>
              <a:prstGeom prst="rect">
                <a:avLst/>
              </a:prstGeom>
            </p:spPr>
          </p:pic>
        </mc:Fallback>
      </mc:AlternateContent>
      <p:graphicFrame>
        <p:nvGraphicFramePr>
          <p:cNvPr id="4" name="Table 3">
            <a:extLst>
              <a:ext uri="{FF2B5EF4-FFF2-40B4-BE49-F238E27FC236}">
                <a16:creationId xmlns:a16="http://schemas.microsoft.com/office/drawing/2014/main" id="{8D6D04BF-31E8-9F59-22BB-944F7154EAB2}"/>
              </a:ext>
            </a:extLst>
          </p:cNvPr>
          <p:cNvGraphicFramePr>
            <a:graphicFrameLocks noGrp="1"/>
          </p:cNvGraphicFramePr>
          <p:nvPr>
            <p:extLst>
              <p:ext uri="{D42A27DB-BD31-4B8C-83A1-F6EECF244321}">
                <p14:modId xmlns:p14="http://schemas.microsoft.com/office/powerpoint/2010/main" val="1857229343"/>
              </p:ext>
            </p:extLst>
          </p:nvPr>
        </p:nvGraphicFramePr>
        <p:xfrm>
          <a:off x="234227" y="1971579"/>
          <a:ext cx="5870917" cy="3687562"/>
        </p:xfrm>
        <a:graphic>
          <a:graphicData uri="http://schemas.openxmlformats.org/drawingml/2006/table">
            <a:tbl>
              <a:tblPr firstRow="1" bandRow="1">
                <a:tableStyleId>{5C22544A-7EE6-4342-B048-85BDC9FD1C3A}</a:tableStyleId>
              </a:tblPr>
              <a:tblGrid>
                <a:gridCol w="2911333">
                  <a:extLst>
                    <a:ext uri="{9D8B030D-6E8A-4147-A177-3AD203B41FA5}">
                      <a16:colId xmlns:a16="http://schemas.microsoft.com/office/drawing/2014/main" val="329215136"/>
                    </a:ext>
                  </a:extLst>
                </a:gridCol>
                <a:gridCol w="2959584">
                  <a:extLst>
                    <a:ext uri="{9D8B030D-6E8A-4147-A177-3AD203B41FA5}">
                      <a16:colId xmlns:a16="http://schemas.microsoft.com/office/drawing/2014/main" val="2843699523"/>
                    </a:ext>
                  </a:extLst>
                </a:gridCol>
              </a:tblGrid>
              <a:tr h="484984">
                <a:tc>
                  <a:txBody>
                    <a:bodyPr/>
                    <a:lstStyle/>
                    <a:p>
                      <a:pPr algn="ctr"/>
                      <a:r>
                        <a:rPr lang="en-US" sz="3300" b="1"/>
                        <a:t>Reasons </a:t>
                      </a:r>
                      <a:r>
                        <a:rPr lang="en-US" sz="3300" b="1" u="sng"/>
                        <a:t>TO HAVE</a:t>
                      </a:r>
                      <a:r>
                        <a:rPr lang="en-US" sz="3300" b="1" u="none"/>
                        <a:t> sex:</a:t>
                      </a:r>
                    </a:p>
                  </a:txBody>
                  <a:tcPr marL="125730" marR="125730" marT="62865" marB="62865" anchor="ctr"/>
                </a:tc>
                <a:tc>
                  <a:txBody>
                    <a:bodyPr/>
                    <a:lstStyle/>
                    <a:p>
                      <a:pPr algn="ctr"/>
                      <a:r>
                        <a:rPr lang="en-US" sz="3300" b="1" dirty="0"/>
                        <a:t>Reasons </a:t>
                      </a:r>
                      <a:r>
                        <a:rPr lang="en-US" sz="3300" b="1" u="sng" dirty="0"/>
                        <a:t>NOT TO HAVE</a:t>
                      </a:r>
                      <a:r>
                        <a:rPr lang="en-US" sz="3300" b="1" u="none" dirty="0"/>
                        <a:t> sex:</a:t>
                      </a:r>
                      <a:endParaRPr lang="en-US" sz="3300" b="1" dirty="0"/>
                    </a:p>
                  </a:txBody>
                  <a:tcPr marL="125730" marR="125730" marT="62865" marB="62865" anchor="ctr"/>
                </a:tc>
                <a:extLst>
                  <a:ext uri="{0D108BD9-81ED-4DB2-BD59-A6C34878D82A}">
                    <a16:rowId xmlns:a16="http://schemas.microsoft.com/office/drawing/2014/main" val="1334855573"/>
                  </a:ext>
                </a:extLst>
              </a:tr>
              <a:tr h="3058912">
                <a:tc>
                  <a:txBody>
                    <a:bodyPr/>
                    <a:lstStyle/>
                    <a:p>
                      <a:endParaRPr lang="en-US" sz="2500" dirty="0"/>
                    </a:p>
                  </a:txBody>
                  <a:tcPr marL="125730" marR="125730" marT="62865" marB="62865"/>
                </a:tc>
                <a:tc>
                  <a:txBody>
                    <a:bodyPr/>
                    <a:lstStyle/>
                    <a:p>
                      <a:endParaRPr lang="en-US" sz="2500" dirty="0"/>
                    </a:p>
                  </a:txBody>
                  <a:tcPr marL="125730" marR="125730" marT="62865" marB="62865"/>
                </a:tc>
                <a:extLst>
                  <a:ext uri="{0D108BD9-81ED-4DB2-BD59-A6C34878D82A}">
                    <a16:rowId xmlns:a16="http://schemas.microsoft.com/office/drawing/2014/main" val="4274040331"/>
                  </a:ext>
                </a:extLst>
              </a:tr>
            </a:tbl>
          </a:graphicData>
        </a:graphic>
      </p:graphicFrame>
      <p:sp>
        <p:nvSpPr>
          <p:cNvPr id="5" name="TextBox 4">
            <a:extLst>
              <a:ext uri="{FF2B5EF4-FFF2-40B4-BE49-F238E27FC236}">
                <a16:creationId xmlns:a16="http://schemas.microsoft.com/office/drawing/2014/main" id="{63113B37-D435-F722-02AA-86BFC3D95564}"/>
              </a:ext>
            </a:extLst>
          </p:cNvPr>
          <p:cNvSpPr txBox="1"/>
          <p:nvPr/>
        </p:nvSpPr>
        <p:spPr>
          <a:xfrm>
            <a:off x="422031" y="2805563"/>
            <a:ext cx="2588455" cy="2554545"/>
          </a:xfrm>
          <a:prstGeom prst="rect">
            <a:avLst/>
          </a:prstGeom>
          <a:noFill/>
        </p:spPr>
        <p:txBody>
          <a:bodyPr wrap="square" rtlCol="0">
            <a:spAutoFit/>
          </a:bodyPr>
          <a:lstStyle/>
          <a:p>
            <a:pPr marL="285750" indent="-285750">
              <a:buFont typeface="Arial" panose="020B0604020202020204" pitchFamily="34" charset="0"/>
              <a:buChar char="•"/>
            </a:pPr>
            <a:r>
              <a:rPr lang="en-US" sz="3200" dirty="0"/>
              <a:t>Curious</a:t>
            </a:r>
          </a:p>
          <a:p>
            <a:pPr marL="285750" indent="-285750">
              <a:buFont typeface="Arial" panose="020B0604020202020204" pitchFamily="34" charset="0"/>
              <a:buChar char="•"/>
            </a:pPr>
            <a:r>
              <a:rPr lang="en-US" sz="3200" dirty="0"/>
              <a:t>To fit in</a:t>
            </a:r>
          </a:p>
          <a:p>
            <a:pPr marL="285750" indent="-285750">
              <a:buFont typeface="Arial" panose="020B0604020202020204" pitchFamily="34" charset="0"/>
              <a:buChar char="•"/>
            </a:pPr>
            <a:r>
              <a:rPr lang="en-US" sz="3200" dirty="0"/>
              <a:t>Peer Pressure</a:t>
            </a:r>
          </a:p>
          <a:p>
            <a:pPr marL="285750" indent="-285750">
              <a:buFont typeface="Arial" panose="020B0604020202020204" pitchFamily="34" charset="0"/>
              <a:buChar char="•"/>
            </a:pPr>
            <a:r>
              <a:rPr lang="en-US" sz="3200" dirty="0"/>
              <a:t>In love</a:t>
            </a:r>
          </a:p>
          <a:p>
            <a:pPr marL="285750" indent="-285750">
              <a:buFont typeface="Arial" panose="020B0604020202020204" pitchFamily="34" charset="0"/>
              <a:buChar char="•"/>
            </a:pPr>
            <a:r>
              <a:rPr lang="en-US" sz="3200" dirty="0"/>
              <a:t>Want children</a:t>
            </a:r>
            <a:endParaRPr lang="en-US" dirty="0"/>
          </a:p>
        </p:txBody>
      </p:sp>
      <p:sp>
        <p:nvSpPr>
          <p:cNvPr id="6" name="TextBox 5">
            <a:extLst>
              <a:ext uri="{FF2B5EF4-FFF2-40B4-BE49-F238E27FC236}">
                <a16:creationId xmlns:a16="http://schemas.microsoft.com/office/drawing/2014/main" id="{9051C037-8295-9476-65D8-F3B31F1178FC}"/>
              </a:ext>
            </a:extLst>
          </p:cNvPr>
          <p:cNvSpPr txBox="1"/>
          <p:nvPr/>
        </p:nvSpPr>
        <p:spPr>
          <a:xfrm>
            <a:off x="3390314" y="2805563"/>
            <a:ext cx="2705686" cy="2492990"/>
          </a:xfrm>
          <a:prstGeom prst="rect">
            <a:avLst/>
          </a:prstGeom>
          <a:noFill/>
        </p:spPr>
        <p:txBody>
          <a:bodyPr wrap="square" rtlCol="0">
            <a:spAutoFit/>
          </a:bodyPr>
          <a:lstStyle/>
          <a:p>
            <a:pPr marL="285750" indent="-285750">
              <a:buFont typeface="Arial" panose="020B0604020202020204" pitchFamily="34" charset="0"/>
              <a:buChar char="•"/>
            </a:pPr>
            <a:r>
              <a:rPr lang="en-US" sz="2600" dirty="0"/>
              <a:t>Don’t want kids</a:t>
            </a:r>
          </a:p>
          <a:p>
            <a:pPr marL="285750" indent="-285750">
              <a:buFont typeface="Arial" panose="020B0604020202020204" pitchFamily="34" charset="0"/>
              <a:buChar char="•"/>
            </a:pPr>
            <a:r>
              <a:rPr lang="en-US" sz="2600" dirty="0"/>
              <a:t>Don’t want an STI</a:t>
            </a:r>
          </a:p>
          <a:p>
            <a:pPr marL="285750" indent="-285750">
              <a:buFont typeface="Arial" panose="020B0604020202020204" pitchFamily="34" charset="0"/>
              <a:buChar char="•"/>
            </a:pPr>
            <a:r>
              <a:rPr lang="en-US" sz="2600" dirty="0"/>
              <a:t>Religious reasons</a:t>
            </a:r>
          </a:p>
          <a:p>
            <a:pPr marL="285750" indent="-285750">
              <a:buFont typeface="Arial" panose="020B0604020202020204" pitchFamily="34" charset="0"/>
              <a:buChar char="•"/>
            </a:pPr>
            <a:r>
              <a:rPr lang="en-US" sz="2600" dirty="0"/>
              <a:t>No one to have sex with</a:t>
            </a:r>
          </a:p>
          <a:p>
            <a:pPr marL="285750" indent="-285750">
              <a:buFont typeface="Arial" panose="020B0604020202020204" pitchFamily="34" charset="0"/>
              <a:buChar char="•"/>
            </a:pPr>
            <a:r>
              <a:rPr lang="en-US" sz="2600" dirty="0"/>
              <a:t>Don’t want to get in trouble</a:t>
            </a:r>
          </a:p>
          <a:p>
            <a:pPr marL="285750" indent="-285750">
              <a:buFont typeface="Arial" panose="020B0604020202020204" pitchFamily="34" charset="0"/>
              <a:buChar char="•"/>
            </a:pPr>
            <a:r>
              <a:rPr lang="en-US" sz="2600" dirty="0"/>
              <a:t>Illegal (underage)</a:t>
            </a:r>
          </a:p>
        </p:txBody>
      </p:sp>
    </p:spTree>
    <p:extLst>
      <p:ext uri="{BB962C8B-B14F-4D97-AF65-F5344CB8AC3E}">
        <p14:creationId xmlns:p14="http://schemas.microsoft.com/office/powerpoint/2010/main" val="1078128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1780A-C9A6-F3EB-CC5C-E1D90C74A1D6}"/>
              </a:ext>
            </a:extLst>
          </p:cNvPr>
          <p:cNvSpPr>
            <a:spLocks noGrp="1"/>
          </p:cNvSpPr>
          <p:nvPr>
            <p:ph type="title"/>
          </p:nvPr>
        </p:nvSpPr>
        <p:spPr/>
        <p:txBody>
          <a:bodyPr/>
          <a:lstStyle/>
          <a:p>
            <a:r>
              <a:rPr lang="en-US" dirty="0"/>
              <a:t>Types of Contraception </a:t>
            </a:r>
            <a:r>
              <a:rPr lang="en-US" sz="5400" dirty="0"/>
              <a:t>(pg. 14)</a:t>
            </a:r>
            <a:endParaRPr lang="en-US" dirty="0"/>
          </a:p>
        </p:txBody>
      </p:sp>
      <p:sp>
        <p:nvSpPr>
          <p:cNvPr id="3" name="Content Placeholder 2">
            <a:extLst>
              <a:ext uri="{FF2B5EF4-FFF2-40B4-BE49-F238E27FC236}">
                <a16:creationId xmlns:a16="http://schemas.microsoft.com/office/drawing/2014/main" id="{FCFF2003-85D2-F210-989A-A1A47EE9612B}"/>
              </a:ext>
            </a:extLst>
          </p:cNvPr>
          <p:cNvSpPr>
            <a:spLocks noGrp="1"/>
          </p:cNvSpPr>
          <p:nvPr>
            <p:ph idx="1"/>
          </p:nvPr>
        </p:nvSpPr>
        <p:spPr>
          <a:xfrm>
            <a:off x="838200" y="1929383"/>
            <a:ext cx="10941424" cy="4563491"/>
          </a:xfrm>
        </p:spPr>
        <p:txBody>
          <a:bodyPr>
            <a:normAutofit fontScale="92500"/>
          </a:bodyPr>
          <a:lstStyle/>
          <a:p>
            <a:r>
              <a:rPr lang="en-US" sz="3500" dirty="0"/>
              <a:t>There are 5 types of contraception for us to consider:</a:t>
            </a:r>
          </a:p>
          <a:p>
            <a:endParaRPr lang="en-US" sz="3500" dirty="0"/>
          </a:p>
          <a:p>
            <a:pPr marL="971550" lvl="1" indent="-514350">
              <a:buFont typeface="+mj-lt"/>
              <a:buAutoNum type="arabicPeriod"/>
            </a:pPr>
            <a:r>
              <a:rPr lang="en-US" sz="3500" b="1" dirty="0">
                <a:solidFill>
                  <a:srgbClr val="FF0000"/>
                </a:solidFill>
              </a:rPr>
              <a:t>Barrier</a:t>
            </a:r>
            <a:r>
              <a:rPr lang="en-US" sz="3500" dirty="0"/>
              <a:t> – </a:t>
            </a:r>
            <a:r>
              <a:rPr lang="en-US" sz="3500" b="1" dirty="0"/>
              <a:t>puts a barrier between the penis and the vagina and stops the sperm from meeting the egg. </a:t>
            </a:r>
          </a:p>
          <a:p>
            <a:pPr marL="971550" lvl="1" indent="-514350">
              <a:buFont typeface="+mj-lt"/>
              <a:buAutoNum type="arabicPeriod"/>
            </a:pPr>
            <a:r>
              <a:rPr lang="en-US" sz="3500" b="1" dirty="0">
                <a:solidFill>
                  <a:srgbClr val="00B050"/>
                </a:solidFill>
              </a:rPr>
              <a:t>Hormonal</a:t>
            </a:r>
            <a:r>
              <a:rPr lang="en-US" sz="3500" dirty="0"/>
              <a:t> –</a:t>
            </a:r>
            <a:r>
              <a:rPr lang="en-US" sz="3500" b="1" dirty="0"/>
              <a:t> regulates or stops ovulation and so preventing pregnancy. </a:t>
            </a:r>
          </a:p>
          <a:p>
            <a:pPr marL="971550" lvl="1" indent="-514350">
              <a:buFont typeface="+mj-lt"/>
              <a:buAutoNum type="arabicPeriod"/>
            </a:pPr>
            <a:r>
              <a:rPr lang="en-US" sz="3500" b="1" dirty="0">
                <a:solidFill>
                  <a:srgbClr val="FFC000"/>
                </a:solidFill>
              </a:rPr>
              <a:t>Natural</a:t>
            </a:r>
            <a:r>
              <a:rPr lang="en-US" sz="3500" dirty="0"/>
              <a:t> – </a:t>
            </a:r>
            <a:r>
              <a:rPr lang="en-US" sz="3500" b="1" dirty="0"/>
              <a:t>doesn’t involve any kind of barrier or chemical etc. Natural methods of birth control. </a:t>
            </a:r>
          </a:p>
          <a:p>
            <a:pPr marL="971550" lvl="1" indent="-514350">
              <a:buFont typeface="+mj-lt"/>
              <a:buAutoNum type="arabicPeriod"/>
            </a:pPr>
            <a:r>
              <a:rPr lang="en-US" sz="3500" b="1" dirty="0">
                <a:solidFill>
                  <a:srgbClr val="00B0F0"/>
                </a:solidFill>
              </a:rPr>
              <a:t>Emergency</a:t>
            </a:r>
            <a:r>
              <a:rPr lang="en-US" sz="3500" dirty="0"/>
              <a:t> – </a:t>
            </a:r>
            <a:r>
              <a:rPr lang="en-US" sz="3500" b="1" dirty="0"/>
              <a:t>used immediately after sex to prevent fertilisation. </a:t>
            </a:r>
          </a:p>
          <a:p>
            <a:pPr marL="971550" lvl="1" indent="-514350">
              <a:buFont typeface="+mj-lt"/>
              <a:buAutoNum type="arabicPeriod"/>
            </a:pPr>
            <a:r>
              <a:rPr lang="en-US" sz="3500" b="1" dirty="0">
                <a:solidFill>
                  <a:srgbClr val="7030A0"/>
                </a:solidFill>
              </a:rPr>
              <a:t>Surgical </a:t>
            </a:r>
            <a:r>
              <a:rPr lang="en-US" sz="3500" dirty="0"/>
              <a:t>– </a:t>
            </a:r>
            <a:r>
              <a:rPr lang="en-US" sz="3500" b="1" dirty="0"/>
              <a:t>sterilization; surgical procedure to control pregnancy/birth control. </a:t>
            </a:r>
          </a:p>
        </p:txBody>
      </p:sp>
    </p:spTree>
    <p:extLst>
      <p:ext uri="{BB962C8B-B14F-4D97-AF65-F5344CB8AC3E}">
        <p14:creationId xmlns:p14="http://schemas.microsoft.com/office/powerpoint/2010/main" val="1870932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p:cTn id="7"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8" dur="500" fill="hold"/>
                                        <p:tgtEl>
                                          <p:spTgt spid="3">
                                            <p:txEl>
                                              <p:pRg st="2" end="2"/>
                                            </p:txEl>
                                          </p:spTgt>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p:cTn id="13"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14" dur="500" fill="hold"/>
                                        <p:tgtEl>
                                          <p:spTgt spid="3">
                                            <p:txEl>
                                              <p:pRg st="3" end="3"/>
                                            </p:txEl>
                                          </p:spTgt>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1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p:cTn id="19"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20" dur="500" fill="hold"/>
                                        <p:tgtEl>
                                          <p:spTgt spid="3">
                                            <p:txEl>
                                              <p:pRg st="4" end="4"/>
                                            </p:txEl>
                                          </p:spTgt>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17" presetClass="entr" presetSubtype="1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p:cTn id="25"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26" dur="500" fill="hold"/>
                                        <p:tgtEl>
                                          <p:spTgt spid="3">
                                            <p:txEl>
                                              <p:pRg st="5" end="5"/>
                                            </p:txEl>
                                          </p:spTgt>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1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p:cTn id="31" dur="500" fill="hold"/>
                                        <p:tgtEl>
                                          <p:spTgt spid="3">
                                            <p:txEl>
                                              <p:pRg st="6" end="6"/>
                                            </p:txEl>
                                          </p:spTgt>
                                        </p:tgtEl>
                                        <p:attrNameLst>
                                          <p:attrName>ppt_w</p:attrName>
                                        </p:attrNameLst>
                                      </p:cBhvr>
                                      <p:tavLst>
                                        <p:tav tm="0">
                                          <p:val>
                                            <p:fltVal val="0"/>
                                          </p:val>
                                        </p:tav>
                                        <p:tav tm="100000">
                                          <p:val>
                                            <p:strVal val="#ppt_w"/>
                                          </p:val>
                                        </p:tav>
                                      </p:tavLst>
                                    </p:anim>
                                    <p:anim calcmode="lin" valueType="num">
                                      <p:cBhvr>
                                        <p:cTn id="32" dur="500" fill="hold"/>
                                        <p:tgtEl>
                                          <p:spTgt spid="3">
                                            <p:txEl>
                                              <p:pRg st="6" end="6"/>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207E4-6BF2-EFE4-F077-A7E02FDAA08E}"/>
              </a:ext>
            </a:extLst>
          </p:cNvPr>
          <p:cNvSpPr>
            <a:spLocks noGrp="1"/>
          </p:cNvSpPr>
          <p:nvPr>
            <p:ph type="title"/>
          </p:nvPr>
        </p:nvSpPr>
        <p:spPr/>
        <p:txBody>
          <a:bodyPr/>
          <a:lstStyle/>
          <a:p>
            <a:endParaRPr lang="en-US" dirty="0"/>
          </a:p>
        </p:txBody>
      </p:sp>
      <p:pic>
        <p:nvPicPr>
          <p:cNvPr id="4" name="Online Media 3" descr="when ross gets pissed off at the condom company">
            <a:hlinkClick r:id="" action="ppaction://media"/>
            <a:extLst>
              <a:ext uri="{FF2B5EF4-FFF2-40B4-BE49-F238E27FC236}">
                <a16:creationId xmlns:a16="http://schemas.microsoft.com/office/drawing/2014/main" id="{C9249552-8AB4-6FB7-D44F-761645408F6C}"/>
              </a:ext>
            </a:extLst>
          </p:cNvPr>
          <p:cNvPicPr>
            <a:picLocks noGrp="1" noRot="1" noChangeAspect="1"/>
          </p:cNvPicPr>
          <p:nvPr>
            <p:ph idx="1"/>
            <a:videoFile r:link="rId1"/>
          </p:nvPr>
        </p:nvPicPr>
        <p:blipFill>
          <a:blip r:embed="rId4"/>
          <a:stretch>
            <a:fillRect/>
          </a:stretch>
        </p:blipFill>
        <p:spPr>
          <a:xfrm>
            <a:off x="104931" y="119921"/>
            <a:ext cx="11962151" cy="6625653"/>
          </a:xfrm>
          <a:prstGeom prst="rect">
            <a:avLst/>
          </a:prstGeom>
        </p:spPr>
      </p:pic>
    </p:spTree>
    <p:extLst>
      <p:ext uri="{BB962C8B-B14F-4D97-AF65-F5344CB8AC3E}">
        <p14:creationId xmlns:p14="http://schemas.microsoft.com/office/powerpoint/2010/main" val="3549920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61AC2-7C34-75C6-A2A1-7C617794AF37}"/>
              </a:ext>
            </a:extLst>
          </p:cNvPr>
          <p:cNvSpPr>
            <a:spLocks noGrp="1"/>
          </p:cNvSpPr>
          <p:nvPr>
            <p:ph type="title"/>
          </p:nvPr>
        </p:nvSpPr>
        <p:spPr/>
        <p:txBody>
          <a:bodyPr/>
          <a:lstStyle/>
          <a:p>
            <a:r>
              <a:rPr lang="en-US" dirty="0"/>
              <a:t>Activity 2: Methods of Contraception </a:t>
            </a:r>
            <a:r>
              <a:rPr lang="en-US" sz="5400" dirty="0"/>
              <a:t>(pg. 14-16)</a:t>
            </a:r>
            <a:endParaRPr lang="en-US" dirty="0"/>
          </a:p>
        </p:txBody>
      </p:sp>
      <p:sp>
        <p:nvSpPr>
          <p:cNvPr id="3" name="Content Placeholder 2">
            <a:extLst>
              <a:ext uri="{FF2B5EF4-FFF2-40B4-BE49-F238E27FC236}">
                <a16:creationId xmlns:a16="http://schemas.microsoft.com/office/drawing/2014/main" id="{CBA23C2E-AECF-0B03-DEA8-6022193914D5}"/>
              </a:ext>
            </a:extLst>
          </p:cNvPr>
          <p:cNvSpPr>
            <a:spLocks noGrp="1"/>
          </p:cNvSpPr>
          <p:nvPr>
            <p:ph idx="1"/>
          </p:nvPr>
        </p:nvSpPr>
        <p:spPr/>
        <p:txBody>
          <a:bodyPr>
            <a:normAutofit lnSpcReduction="10000"/>
          </a:bodyPr>
          <a:lstStyle/>
          <a:p>
            <a:r>
              <a:rPr lang="en-US" dirty="0"/>
              <a:t>The IDEAL contraception would be:</a:t>
            </a:r>
          </a:p>
          <a:p>
            <a:pPr lvl="1"/>
            <a:r>
              <a:rPr lang="en-US" dirty="0"/>
              <a:t>Safe</a:t>
            </a:r>
          </a:p>
          <a:p>
            <a:pPr lvl="1"/>
            <a:r>
              <a:rPr lang="en-US" dirty="0"/>
              <a:t>100% effective</a:t>
            </a:r>
          </a:p>
          <a:p>
            <a:pPr lvl="1"/>
            <a:r>
              <a:rPr lang="en-US" dirty="0"/>
              <a:t>Free of side effects</a:t>
            </a:r>
          </a:p>
          <a:p>
            <a:pPr lvl="1"/>
            <a:r>
              <a:rPr lang="en-US" dirty="0"/>
              <a:t>Easily obtainable </a:t>
            </a:r>
          </a:p>
          <a:p>
            <a:pPr lvl="1"/>
            <a:endParaRPr lang="en-US" dirty="0"/>
          </a:p>
          <a:p>
            <a:pPr lvl="1"/>
            <a:endParaRPr lang="en-US" dirty="0"/>
          </a:p>
          <a:p>
            <a:r>
              <a:rPr lang="en-US" dirty="0"/>
              <a:t>Follow along with the information in the upcoming slides to complete </a:t>
            </a:r>
            <a:br>
              <a:rPr lang="en-US" dirty="0"/>
            </a:br>
            <a:r>
              <a:rPr lang="en-US" dirty="0"/>
              <a:t>your table in your books on the METHODS of contraception. </a:t>
            </a:r>
          </a:p>
        </p:txBody>
      </p:sp>
      <p:sp>
        <p:nvSpPr>
          <p:cNvPr id="4" name="TextBox 3">
            <a:extLst>
              <a:ext uri="{FF2B5EF4-FFF2-40B4-BE49-F238E27FC236}">
                <a16:creationId xmlns:a16="http://schemas.microsoft.com/office/drawing/2014/main" id="{1C6284AE-53A0-D2AA-CD91-431EBB405612}"/>
              </a:ext>
            </a:extLst>
          </p:cNvPr>
          <p:cNvSpPr txBox="1"/>
          <p:nvPr/>
        </p:nvSpPr>
        <p:spPr>
          <a:xfrm>
            <a:off x="3240689" y="2828835"/>
            <a:ext cx="3534031" cy="1200329"/>
          </a:xfrm>
          <a:prstGeom prst="rect">
            <a:avLst/>
          </a:prstGeom>
          <a:noFill/>
        </p:spPr>
        <p:txBody>
          <a:bodyPr wrap="square" rtlCol="0">
            <a:spAutoFit/>
          </a:bodyPr>
          <a:lstStyle/>
          <a:p>
            <a:pPr marL="285750" indent="-285750">
              <a:buFont typeface="Arial" panose="020B0604020202020204" pitchFamily="34" charset="0"/>
              <a:buChar char="•"/>
            </a:pPr>
            <a:r>
              <a:rPr lang="en-US" sz="2400" dirty="0"/>
              <a:t>Affordable</a:t>
            </a:r>
          </a:p>
          <a:p>
            <a:pPr marL="285750" indent="-285750">
              <a:buFont typeface="Arial" panose="020B0604020202020204" pitchFamily="34" charset="0"/>
              <a:buChar char="•"/>
            </a:pPr>
            <a:r>
              <a:rPr lang="en-US" sz="2400" dirty="0"/>
              <a:t>Acceptable to the user and sexual partner</a:t>
            </a:r>
          </a:p>
          <a:p>
            <a:pPr marL="285750" indent="-285750">
              <a:buFont typeface="Arial" panose="020B0604020202020204" pitchFamily="34" charset="0"/>
              <a:buChar char="•"/>
            </a:pPr>
            <a:r>
              <a:rPr lang="en-US" sz="2400" dirty="0"/>
              <a:t>Free of effects on future pregnancies</a:t>
            </a:r>
            <a:endParaRPr lang="en-US" dirty="0"/>
          </a:p>
        </p:txBody>
      </p:sp>
      <p:cxnSp>
        <p:nvCxnSpPr>
          <p:cNvPr id="6" name="Straight Arrow Connector 5">
            <a:extLst>
              <a:ext uri="{FF2B5EF4-FFF2-40B4-BE49-F238E27FC236}">
                <a16:creationId xmlns:a16="http://schemas.microsoft.com/office/drawing/2014/main" id="{92C54572-23F7-C4B4-CDC0-A7F6FB972EEB}"/>
              </a:ext>
            </a:extLst>
          </p:cNvPr>
          <p:cNvCxnSpPr>
            <a:cxnSpLocks/>
            <a:stCxn id="4" idx="3"/>
          </p:cNvCxnSpPr>
          <p:nvPr/>
        </p:nvCxnSpPr>
        <p:spPr>
          <a:xfrm>
            <a:off x="6774720" y="3429000"/>
            <a:ext cx="1470455" cy="0"/>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 name="TextBox 6">
            <a:extLst>
              <a:ext uri="{FF2B5EF4-FFF2-40B4-BE49-F238E27FC236}">
                <a16:creationId xmlns:a16="http://schemas.microsoft.com/office/drawing/2014/main" id="{71EAB518-DC9F-EDE1-BDC1-C8179067F9C6}"/>
              </a:ext>
            </a:extLst>
          </p:cNvPr>
          <p:cNvSpPr txBox="1"/>
          <p:nvPr/>
        </p:nvSpPr>
        <p:spPr>
          <a:xfrm>
            <a:off x="8474032" y="2688232"/>
            <a:ext cx="3199886" cy="2462213"/>
          </a:xfrm>
          <a:prstGeom prst="rect">
            <a:avLst/>
          </a:prstGeom>
          <a:noFill/>
        </p:spPr>
        <p:txBody>
          <a:bodyPr wrap="square" rtlCol="0">
            <a:spAutoFit/>
          </a:bodyPr>
          <a:lstStyle/>
          <a:p>
            <a:pPr algn="ctr"/>
            <a:r>
              <a:rPr lang="en-US" sz="2200" dirty="0"/>
              <a:t>But unfortunately, this is not always possible to achieve. Just as every person is different, everyone may react differently to different forms of contraception, and have different reasons for use. There are a wide range of contraceptives available to try and accommodate for all. </a:t>
            </a:r>
          </a:p>
        </p:txBody>
      </p:sp>
      <p:sp>
        <p:nvSpPr>
          <p:cNvPr id="8" name="Oval 7">
            <a:extLst>
              <a:ext uri="{FF2B5EF4-FFF2-40B4-BE49-F238E27FC236}">
                <a16:creationId xmlns:a16="http://schemas.microsoft.com/office/drawing/2014/main" id="{2E180CA9-D393-8B0D-184F-41ED3F92A88F}"/>
              </a:ext>
            </a:extLst>
          </p:cNvPr>
          <p:cNvSpPr/>
          <p:nvPr/>
        </p:nvSpPr>
        <p:spPr>
          <a:xfrm>
            <a:off x="8245175" y="1929384"/>
            <a:ext cx="3657600" cy="3558743"/>
          </a:xfrm>
          <a:prstGeom prst="ellipse">
            <a:avLst/>
          </a:prstGeom>
          <a:noFill/>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spTree>
    <p:extLst>
      <p:ext uri="{BB962C8B-B14F-4D97-AF65-F5344CB8AC3E}">
        <p14:creationId xmlns:p14="http://schemas.microsoft.com/office/powerpoint/2010/main" val="4279712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900" decel="100000" fill="hold"/>
                                        <p:tgtEl>
                                          <p:spTgt spid="6"/>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6"/>
                                        </p:tgtEl>
                                        <p:attrNameLst>
                                          <p:attrName>ppt_y</p:attrName>
                                        </p:attrNameLst>
                                      </p:cBhvr>
                                      <p:tavLst>
                                        <p:tav tm="0">
                                          <p:val>
                                            <p:strVal val="#ppt_y-.03"/>
                                          </p:val>
                                        </p:tav>
                                        <p:tav tm="100000">
                                          <p:val>
                                            <p:strVal val="#ppt_y"/>
                                          </p:val>
                                        </p:tav>
                                      </p:tavLst>
                                    </p:anim>
                                  </p:childTnLst>
                                </p:cTn>
                              </p:par>
                              <p:par>
                                <p:cTn id="11" presetID="37"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anim calcmode="lin" valueType="num">
                                      <p:cBhvr>
                                        <p:cTn id="14" dur="1000" fill="hold"/>
                                        <p:tgtEl>
                                          <p:spTgt spid="8"/>
                                        </p:tgtEl>
                                        <p:attrNameLst>
                                          <p:attrName>ppt_x</p:attrName>
                                        </p:attrNameLst>
                                      </p:cBhvr>
                                      <p:tavLst>
                                        <p:tav tm="0">
                                          <p:val>
                                            <p:strVal val="#ppt_x"/>
                                          </p:val>
                                        </p:tav>
                                        <p:tav tm="100000">
                                          <p:val>
                                            <p:strVal val="#ppt_x"/>
                                          </p:val>
                                        </p:tav>
                                      </p:tavLst>
                                    </p:anim>
                                    <p:anim calcmode="lin" valueType="num">
                                      <p:cBhvr>
                                        <p:cTn id="15" dur="900" decel="100000" fill="hold"/>
                                        <p:tgtEl>
                                          <p:spTgt spid="8"/>
                                        </p:tgtEl>
                                        <p:attrNameLst>
                                          <p:attrName>ppt_y</p:attrName>
                                        </p:attrNameLst>
                                      </p:cBhvr>
                                      <p:tavLst>
                                        <p:tav tm="0">
                                          <p:val>
                                            <p:strVal val="#ppt_y+1"/>
                                          </p:val>
                                        </p:tav>
                                        <p:tav tm="100000">
                                          <p:val>
                                            <p:strVal val="#ppt_y-.03"/>
                                          </p:val>
                                        </p:tav>
                                      </p:tavLst>
                                    </p:anim>
                                    <p:anim calcmode="lin" valueType="num">
                                      <p:cBhvr>
                                        <p:cTn id="16" dur="100" accel="100000" fill="hold">
                                          <p:stCondLst>
                                            <p:cond delay="900"/>
                                          </p:stCondLst>
                                        </p:cTn>
                                        <p:tgtEl>
                                          <p:spTgt spid="8"/>
                                        </p:tgtEl>
                                        <p:attrNameLst>
                                          <p:attrName>ppt_y</p:attrName>
                                        </p:attrNameLst>
                                      </p:cBhvr>
                                      <p:tavLst>
                                        <p:tav tm="0">
                                          <p:val>
                                            <p:strVal val="#ppt_y-.03"/>
                                          </p:val>
                                        </p:tav>
                                        <p:tav tm="100000">
                                          <p:val>
                                            <p:strVal val="#ppt_y"/>
                                          </p:val>
                                        </p:tav>
                                      </p:tavLst>
                                    </p:anim>
                                  </p:childTnLst>
                                </p:cTn>
                              </p:par>
                              <p:par>
                                <p:cTn id="17" presetID="37"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900" decel="100000" fill="hold"/>
                                        <p:tgtEl>
                                          <p:spTgt spid="7"/>
                                        </p:tgtEl>
                                        <p:attrNameLst>
                                          <p:attrName>ppt_y</p:attrName>
                                        </p:attrNameLst>
                                      </p:cBhvr>
                                      <p:tavLst>
                                        <p:tav tm="0">
                                          <p:val>
                                            <p:strVal val="#ppt_y+1"/>
                                          </p:val>
                                        </p:tav>
                                        <p:tav tm="100000">
                                          <p:val>
                                            <p:strVal val="#ppt_y-.03"/>
                                          </p:val>
                                        </p:tav>
                                      </p:tavLst>
                                    </p:anim>
                                    <p:anim calcmode="lin" valueType="num">
                                      <p:cBhvr>
                                        <p:cTn id="22" dur="100" accel="100000" fill="hold">
                                          <p:stCondLst>
                                            <p:cond delay="900"/>
                                          </p:stCondLst>
                                        </p:cTn>
                                        <p:tgtEl>
                                          <p:spTgt spid="7"/>
                                        </p:tgtEl>
                                        <p:attrNameLst>
                                          <p:attrName>ppt_y</p:attrName>
                                        </p:attrNameLst>
                                      </p:cBhvr>
                                      <p:tavLst>
                                        <p:tav tm="0">
                                          <p:val>
                                            <p:strVal val="#ppt_y-.03"/>
                                          </p:val>
                                        </p:tav>
                                        <p:tav tm="100000">
                                          <p:val>
                                            <p:strVal val="#ppt_y"/>
                                          </p:val>
                                        </p:tav>
                                      </p:tavLst>
                                    </p:anim>
                                  </p:childTnLst>
                                </p:cTn>
                              </p:par>
                              <p:par>
                                <p:cTn id="23" presetID="37"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Effect transition="in" filter="fade">
                                      <p:cBhvr>
                                        <p:cTn id="25" dur="1000"/>
                                        <p:tgtEl>
                                          <p:spTgt spid="3">
                                            <p:txEl>
                                              <p:pRg st="7" end="7"/>
                                            </p:txEl>
                                          </p:spTgt>
                                        </p:tgtEl>
                                      </p:cBhvr>
                                    </p:animEffect>
                                    <p:anim calcmode="lin" valueType="num">
                                      <p:cBhvr>
                                        <p:cTn id="26"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27" dur="900" decel="100000" fill="hold"/>
                                        <p:tgtEl>
                                          <p:spTgt spid="3">
                                            <p:txEl>
                                              <p:pRg st="7" end="7"/>
                                            </p:txEl>
                                          </p:spTgt>
                                        </p:tgtEl>
                                        <p:attrNameLst>
                                          <p:attrName>ppt_y</p:attrName>
                                        </p:attrNameLst>
                                      </p:cBhvr>
                                      <p:tavLst>
                                        <p:tav tm="0">
                                          <p:val>
                                            <p:strVal val="#ppt_y+1"/>
                                          </p:val>
                                        </p:tav>
                                        <p:tav tm="100000">
                                          <p:val>
                                            <p:strVal val="#ppt_y-.03"/>
                                          </p:val>
                                        </p:tav>
                                      </p:tavLst>
                                    </p:anim>
                                    <p:anim calcmode="lin" valueType="num">
                                      <p:cBhvr>
                                        <p:cTn id="28" dur="100" accel="100000" fill="hold">
                                          <p:stCondLst>
                                            <p:cond delay="900"/>
                                          </p:stCondLst>
                                        </p:cTn>
                                        <p:tgtEl>
                                          <p:spTgt spid="3">
                                            <p:txEl>
                                              <p:pRg st="7" end="7"/>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D75AB-839C-AB39-960C-C622E166406C}"/>
              </a:ext>
            </a:extLst>
          </p:cNvPr>
          <p:cNvSpPr>
            <a:spLocks noGrp="1"/>
          </p:cNvSpPr>
          <p:nvPr>
            <p:ph type="title"/>
          </p:nvPr>
        </p:nvSpPr>
        <p:spPr/>
        <p:txBody>
          <a:bodyPr/>
          <a:lstStyle/>
          <a:p>
            <a:r>
              <a:rPr lang="en-US" dirty="0"/>
              <a:t>Activity 2: METHODS OF CONTRACEPTION </a:t>
            </a:r>
            <a:r>
              <a:rPr lang="en-US" sz="5400" dirty="0"/>
              <a:t>(pg. 14-16)</a:t>
            </a:r>
            <a:endParaRPr lang="en-US" dirty="0"/>
          </a:p>
        </p:txBody>
      </p:sp>
      <p:sp>
        <p:nvSpPr>
          <p:cNvPr id="3" name="Content Placeholder 2">
            <a:extLst>
              <a:ext uri="{FF2B5EF4-FFF2-40B4-BE49-F238E27FC236}">
                <a16:creationId xmlns:a16="http://schemas.microsoft.com/office/drawing/2014/main" id="{68ADFD56-72F1-F561-72F3-F38F24138C49}"/>
              </a:ext>
            </a:extLst>
          </p:cNvPr>
          <p:cNvSpPr>
            <a:spLocks noGrp="1"/>
          </p:cNvSpPr>
          <p:nvPr>
            <p:ph idx="1"/>
          </p:nvPr>
        </p:nvSpPr>
        <p:spPr>
          <a:xfrm>
            <a:off x="838200" y="2941828"/>
            <a:ext cx="4355155" cy="3341116"/>
          </a:xfrm>
        </p:spPr>
        <p:txBody>
          <a:bodyPr>
            <a:normAutofit/>
          </a:bodyPr>
          <a:lstStyle/>
          <a:p>
            <a:pPr marL="0" indent="0" algn="ctr">
              <a:buNone/>
            </a:pPr>
            <a:r>
              <a:rPr lang="en-US" sz="3200" dirty="0"/>
              <a:t>As you move through to complete the tables and as each method of contraception is discussed, don’t forget to consider the advantages (pros) and disadvantages (cons) of each method. </a:t>
            </a:r>
          </a:p>
        </p:txBody>
      </p:sp>
      <p:pic>
        <p:nvPicPr>
          <p:cNvPr id="9" name="Picture 8" descr="A white rectangular grid with black text&#10;&#10;Description automatically generated">
            <a:extLst>
              <a:ext uri="{FF2B5EF4-FFF2-40B4-BE49-F238E27FC236}">
                <a16:creationId xmlns:a16="http://schemas.microsoft.com/office/drawing/2014/main" id="{1CE24F90-293A-B27B-F0DE-1EADAB164D59}"/>
              </a:ext>
            </a:extLst>
          </p:cNvPr>
          <p:cNvPicPr>
            <a:picLocks noChangeAspect="1"/>
          </p:cNvPicPr>
          <p:nvPr/>
        </p:nvPicPr>
        <p:blipFill>
          <a:blip r:embed="rId3"/>
          <a:stretch>
            <a:fillRect/>
          </a:stretch>
        </p:blipFill>
        <p:spPr>
          <a:xfrm>
            <a:off x="5521797" y="2075265"/>
            <a:ext cx="4248150" cy="2407642"/>
          </a:xfrm>
          <a:prstGeom prst="rect">
            <a:avLst/>
          </a:prstGeom>
          <a:ln w="28575">
            <a:solidFill>
              <a:srgbClr val="7030A0"/>
            </a:solidFill>
          </a:ln>
        </p:spPr>
      </p:pic>
      <p:pic>
        <p:nvPicPr>
          <p:cNvPr id="7" name="Picture 6" descr="A chart with text on it&#10;&#10;Description automatically generated">
            <a:extLst>
              <a:ext uri="{FF2B5EF4-FFF2-40B4-BE49-F238E27FC236}">
                <a16:creationId xmlns:a16="http://schemas.microsoft.com/office/drawing/2014/main" id="{6F1BAEA2-F54F-9455-9390-930828FC1CCB}"/>
              </a:ext>
            </a:extLst>
          </p:cNvPr>
          <p:cNvPicPr>
            <a:picLocks noChangeAspect="1"/>
          </p:cNvPicPr>
          <p:nvPr/>
        </p:nvPicPr>
        <p:blipFill>
          <a:blip r:embed="rId4"/>
          <a:stretch>
            <a:fillRect/>
          </a:stretch>
        </p:blipFill>
        <p:spPr>
          <a:xfrm>
            <a:off x="6593090" y="2777322"/>
            <a:ext cx="4269551" cy="2803565"/>
          </a:xfrm>
          <a:prstGeom prst="rect">
            <a:avLst/>
          </a:prstGeom>
          <a:ln w="28575">
            <a:solidFill>
              <a:srgbClr val="7030A0"/>
            </a:solidFill>
          </a:ln>
        </p:spPr>
      </p:pic>
      <p:pic>
        <p:nvPicPr>
          <p:cNvPr id="5" name="Picture 4" descr="A chart with text on it&#10;&#10;Description automatically generated">
            <a:extLst>
              <a:ext uri="{FF2B5EF4-FFF2-40B4-BE49-F238E27FC236}">
                <a16:creationId xmlns:a16="http://schemas.microsoft.com/office/drawing/2014/main" id="{7F410362-54D3-055D-7E20-05F954EB9900}"/>
              </a:ext>
            </a:extLst>
          </p:cNvPr>
          <p:cNvPicPr>
            <a:picLocks noChangeAspect="1"/>
          </p:cNvPicPr>
          <p:nvPr/>
        </p:nvPicPr>
        <p:blipFill>
          <a:blip r:embed="rId5"/>
          <a:stretch>
            <a:fillRect/>
          </a:stretch>
        </p:blipFill>
        <p:spPr>
          <a:xfrm>
            <a:off x="7592369" y="3457978"/>
            <a:ext cx="4355156" cy="2824966"/>
          </a:xfrm>
          <a:prstGeom prst="rect">
            <a:avLst/>
          </a:prstGeom>
          <a:ln w="28575">
            <a:solidFill>
              <a:srgbClr val="7030A0"/>
            </a:solidFill>
          </a:ln>
        </p:spPr>
      </p:pic>
    </p:spTree>
    <p:extLst>
      <p:ext uri="{BB962C8B-B14F-4D97-AF65-F5344CB8AC3E}">
        <p14:creationId xmlns:p14="http://schemas.microsoft.com/office/powerpoint/2010/main" val="2176914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FA2E39B7-17D8-4009-A8BA-9E8D8EC1B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Graphic 33">
            <a:extLst>
              <a:ext uri="{FF2B5EF4-FFF2-40B4-BE49-F238E27FC236}">
                <a16:creationId xmlns:a16="http://schemas.microsoft.com/office/drawing/2014/main" id="{967EEEC4-6120-428D-8FB5-916920AEC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18417" y="0"/>
            <a:ext cx="9570431" cy="6858000"/>
          </a:xfrm>
          <a:custGeom>
            <a:avLst/>
            <a:gdLst>
              <a:gd name="connsiteX0" fmla="*/ 7178288 w 7187261"/>
              <a:gd name="connsiteY0" fmla="*/ 2604802 h 5150263"/>
              <a:gd name="connsiteX1" fmla="*/ 7169335 w 7187261"/>
              <a:gd name="connsiteY1" fmla="*/ 2328577 h 5150263"/>
              <a:gd name="connsiteX2" fmla="*/ 7060845 w 7187261"/>
              <a:gd name="connsiteY2" fmla="*/ 1661160 h 5150263"/>
              <a:gd name="connsiteX3" fmla="*/ 6212263 w 7187261"/>
              <a:gd name="connsiteY3" fmla="*/ 243840 h 5150263"/>
              <a:gd name="connsiteX4" fmla="*/ 5953564 w 7187261"/>
              <a:gd name="connsiteY4" fmla="*/ 0 h 5150263"/>
              <a:gd name="connsiteX5" fmla="*/ 1408615 w 7187261"/>
              <a:gd name="connsiteY5" fmla="*/ 0 h 5150263"/>
              <a:gd name="connsiteX6" fmla="*/ 805111 w 7187261"/>
              <a:gd name="connsiteY6" fmla="*/ 676275 h 5150263"/>
              <a:gd name="connsiteX7" fmla="*/ 104928 w 7187261"/>
              <a:gd name="connsiteY7" fmla="*/ 2183035 h 5150263"/>
              <a:gd name="connsiteX8" fmla="*/ 51588 w 7187261"/>
              <a:gd name="connsiteY8" fmla="*/ 2400014 h 5150263"/>
              <a:gd name="connsiteX9" fmla="*/ 41301 w 7187261"/>
              <a:gd name="connsiteY9" fmla="*/ 2424208 h 5150263"/>
              <a:gd name="connsiteX10" fmla="*/ 119692 w 7187261"/>
              <a:gd name="connsiteY10" fmla="*/ 1834801 h 5150263"/>
              <a:gd name="connsiteX11" fmla="*/ 870071 w 7187261"/>
              <a:gd name="connsiteY11" fmla="*/ 462248 h 5150263"/>
              <a:gd name="connsiteX12" fmla="*/ 1389279 w 7187261"/>
              <a:gd name="connsiteY12" fmla="*/ 476 h 5150263"/>
              <a:gd name="connsiteX13" fmla="*/ 1320223 w 7187261"/>
              <a:gd name="connsiteY13" fmla="*/ 476 h 5150263"/>
              <a:gd name="connsiteX14" fmla="*/ 423158 w 7187261"/>
              <a:gd name="connsiteY14" fmla="*/ 989743 h 5150263"/>
              <a:gd name="connsiteX15" fmla="*/ 25585 w 7187261"/>
              <a:gd name="connsiteY15" fmla="*/ 2113693 h 5150263"/>
              <a:gd name="connsiteX16" fmla="*/ 2344 w 7187261"/>
              <a:gd name="connsiteY16" fmla="*/ 2725865 h 5150263"/>
              <a:gd name="connsiteX17" fmla="*/ 447256 w 7187261"/>
              <a:gd name="connsiteY17" fmla="*/ 4210717 h 5150263"/>
              <a:gd name="connsiteX18" fmla="*/ 1138962 w 7187261"/>
              <a:gd name="connsiteY18" fmla="*/ 4988910 h 5150263"/>
              <a:gd name="connsiteX19" fmla="*/ 1348512 w 7187261"/>
              <a:gd name="connsiteY19" fmla="*/ 5146834 h 5150263"/>
              <a:gd name="connsiteX20" fmla="*/ 1422712 w 7187261"/>
              <a:gd name="connsiteY20" fmla="*/ 5146834 h 5150263"/>
              <a:gd name="connsiteX21" fmla="*/ 480594 w 7187261"/>
              <a:gd name="connsiteY21" fmla="*/ 4187952 h 5150263"/>
              <a:gd name="connsiteX22" fmla="*/ 398679 w 7187261"/>
              <a:gd name="connsiteY22" fmla="*/ 4046125 h 5150263"/>
              <a:gd name="connsiteX23" fmla="*/ 411823 w 7187261"/>
              <a:gd name="connsiteY23" fmla="*/ 4053078 h 5150263"/>
              <a:gd name="connsiteX24" fmla="*/ 1439380 w 7187261"/>
              <a:gd name="connsiteY24" fmla="*/ 5147405 h 5150263"/>
              <a:gd name="connsiteX25" fmla="*/ 5710010 w 7187261"/>
              <a:gd name="connsiteY25" fmla="*/ 5150263 h 5150263"/>
              <a:gd name="connsiteX26" fmla="*/ 5999665 w 7187261"/>
              <a:gd name="connsiteY26" fmla="*/ 4910900 h 5150263"/>
              <a:gd name="connsiteX27" fmla="*/ 6954165 w 7187261"/>
              <a:gd name="connsiteY27" fmla="*/ 3545777 h 5150263"/>
              <a:gd name="connsiteX28" fmla="*/ 7137712 w 7187261"/>
              <a:gd name="connsiteY28" fmla="*/ 2799207 h 5150263"/>
              <a:gd name="connsiteX29" fmla="*/ 7142951 w 7187261"/>
              <a:gd name="connsiteY29" fmla="*/ 2754535 h 5150263"/>
              <a:gd name="connsiteX30" fmla="*/ 7149428 w 7187261"/>
              <a:gd name="connsiteY30" fmla="*/ 2774823 h 5150263"/>
              <a:gd name="connsiteX31" fmla="*/ 7066465 w 7187261"/>
              <a:gd name="connsiteY31" fmla="*/ 3465672 h 5150263"/>
              <a:gd name="connsiteX32" fmla="*/ 6452578 w 7187261"/>
              <a:gd name="connsiteY32" fmla="*/ 4552760 h 5150263"/>
              <a:gd name="connsiteX33" fmla="*/ 5752110 w 7187261"/>
              <a:gd name="connsiteY33" fmla="*/ 5150263 h 5150263"/>
              <a:gd name="connsiteX34" fmla="*/ 5827643 w 7187261"/>
              <a:gd name="connsiteY34" fmla="*/ 5150263 h 5150263"/>
              <a:gd name="connsiteX35" fmla="*/ 6642793 w 7187261"/>
              <a:gd name="connsiteY35" fmla="*/ 4389406 h 5150263"/>
              <a:gd name="connsiteX36" fmla="*/ 7102469 w 7187261"/>
              <a:gd name="connsiteY36" fmla="*/ 3490817 h 5150263"/>
              <a:gd name="connsiteX37" fmla="*/ 7187242 w 7187261"/>
              <a:gd name="connsiteY37" fmla="*/ 2990183 h 5150263"/>
              <a:gd name="connsiteX38" fmla="*/ 7178288 w 7187261"/>
              <a:gd name="connsiteY38" fmla="*/ 2604802 h 5150263"/>
              <a:gd name="connsiteX39" fmla="*/ 6342565 w 7187261"/>
              <a:gd name="connsiteY39" fmla="*/ 441389 h 5150263"/>
              <a:gd name="connsiteX40" fmla="*/ 7126567 w 7187261"/>
              <a:gd name="connsiteY40" fmla="*/ 2355056 h 5150263"/>
              <a:gd name="connsiteX41" fmla="*/ 6342565 w 7187261"/>
              <a:gd name="connsiteY41" fmla="*/ 441389 h 51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7187261" h="5150263">
                <a:moveTo>
                  <a:pt x="7178288" y="2604802"/>
                </a:moveTo>
                <a:cubicBezTo>
                  <a:pt x="7168763" y="2513076"/>
                  <a:pt x="7174478" y="2420684"/>
                  <a:pt x="7169335" y="2328577"/>
                </a:cubicBezTo>
                <a:cubicBezTo>
                  <a:pt x="7156952" y="2102882"/>
                  <a:pt x="7120586" y="1879149"/>
                  <a:pt x="7060845" y="1661160"/>
                </a:cubicBezTo>
                <a:cubicBezTo>
                  <a:pt x="6910588" y="1121007"/>
                  <a:pt x="6617428" y="631374"/>
                  <a:pt x="6212263" y="243840"/>
                </a:cubicBezTo>
                <a:cubicBezTo>
                  <a:pt x="6126538" y="162496"/>
                  <a:pt x="6040813" y="80201"/>
                  <a:pt x="5953564" y="0"/>
                </a:cubicBezTo>
                <a:lnTo>
                  <a:pt x="1408615" y="0"/>
                </a:lnTo>
                <a:cubicBezTo>
                  <a:pt x="1180967" y="200316"/>
                  <a:pt x="978332" y="427387"/>
                  <a:pt x="805111" y="676275"/>
                </a:cubicBezTo>
                <a:cubicBezTo>
                  <a:pt x="481261" y="1136523"/>
                  <a:pt x="252089" y="1640872"/>
                  <a:pt x="104928" y="2183035"/>
                </a:cubicBezTo>
                <a:cubicBezTo>
                  <a:pt x="85878" y="2254853"/>
                  <a:pt x="69495" y="2327720"/>
                  <a:pt x="51588" y="2400014"/>
                </a:cubicBezTo>
                <a:cubicBezTo>
                  <a:pt x="49683" y="2407634"/>
                  <a:pt x="51588" y="2416969"/>
                  <a:pt x="41301" y="2424208"/>
                </a:cubicBezTo>
                <a:cubicBezTo>
                  <a:pt x="45900" y="2225469"/>
                  <a:pt x="72186" y="2027834"/>
                  <a:pt x="119692" y="1834801"/>
                </a:cubicBezTo>
                <a:cubicBezTo>
                  <a:pt x="247993" y="1310926"/>
                  <a:pt x="506121" y="857726"/>
                  <a:pt x="870071" y="462248"/>
                </a:cubicBezTo>
                <a:cubicBezTo>
                  <a:pt x="1027729" y="291823"/>
                  <a:pt x="1201617" y="137169"/>
                  <a:pt x="1389279" y="476"/>
                </a:cubicBezTo>
                <a:lnTo>
                  <a:pt x="1320223" y="476"/>
                </a:lnTo>
                <a:cubicBezTo>
                  <a:pt x="960844" y="274320"/>
                  <a:pt x="656330" y="599123"/>
                  <a:pt x="423158" y="989743"/>
                </a:cubicBezTo>
                <a:cubicBezTo>
                  <a:pt x="215608" y="1337596"/>
                  <a:pt x="80258" y="1711357"/>
                  <a:pt x="25585" y="2113693"/>
                </a:cubicBezTo>
                <a:cubicBezTo>
                  <a:pt x="-2705" y="2316480"/>
                  <a:pt x="-2228" y="2521077"/>
                  <a:pt x="2344" y="2725865"/>
                </a:cubicBezTo>
                <a:cubicBezTo>
                  <a:pt x="14155" y="3261932"/>
                  <a:pt x="170650" y="3754565"/>
                  <a:pt x="447256" y="4210717"/>
                </a:cubicBezTo>
                <a:cubicBezTo>
                  <a:pt x="629851" y="4511612"/>
                  <a:pt x="866356" y="4767167"/>
                  <a:pt x="1138962" y="4988910"/>
                </a:cubicBezTo>
                <a:cubicBezTo>
                  <a:pt x="1207161" y="5044345"/>
                  <a:pt x="1277008" y="5096990"/>
                  <a:pt x="1348512" y="5146834"/>
                </a:cubicBezTo>
                <a:lnTo>
                  <a:pt x="1422712" y="5146834"/>
                </a:lnTo>
                <a:cubicBezTo>
                  <a:pt x="1043426" y="4892802"/>
                  <a:pt x="724720" y="4577334"/>
                  <a:pt x="480594" y="4187952"/>
                </a:cubicBezTo>
                <a:cubicBezTo>
                  <a:pt x="452019" y="4141851"/>
                  <a:pt x="423444" y="4095179"/>
                  <a:pt x="398679" y="4046125"/>
                </a:cubicBezTo>
                <a:cubicBezTo>
                  <a:pt x="407442" y="4043267"/>
                  <a:pt x="409156" y="4048982"/>
                  <a:pt x="411823" y="4053078"/>
                </a:cubicBezTo>
                <a:cubicBezTo>
                  <a:pt x="683572" y="4484656"/>
                  <a:pt x="1033139" y="4842701"/>
                  <a:pt x="1439380" y="5147405"/>
                </a:cubicBezTo>
                <a:lnTo>
                  <a:pt x="5710010" y="5150263"/>
                </a:lnTo>
                <a:cubicBezTo>
                  <a:pt x="5810594" y="5075482"/>
                  <a:pt x="5907272" y="4995587"/>
                  <a:pt x="5999665" y="4910900"/>
                </a:cubicBezTo>
                <a:cubicBezTo>
                  <a:pt x="6418765" y="4526661"/>
                  <a:pt x="6746901" y="4078129"/>
                  <a:pt x="6954165" y="3545777"/>
                </a:cubicBezTo>
                <a:cubicBezTo>
                  <a:pt x="7048234" y="3306175"/>
                  <a:pt x="7109956" y="3055115"/>
                  <a:pt x="7137712" y="2799207"/>
                </a:cubicBezTo>
                <a:cubicBezTo>
                  <a:pt x="7139236" y="2784920"/>
                  <a:pt x="7141046" y="2770632"/>
                  <a:pt x="7142951" y="2754535"/>
                </a:cubicBezTo>
                <a:cubicBezTo>
                  <a:pt x="7151714" y="2760440"/>
                  <a:pt x="7149237" y="2768441"/>
                  <a:pt x="7149428" y="2774823"/>
                </a:cubicBezTo>
                <a:cubicBezTo>
                  <a:pt x="7156743" y="3007967"/>
                  <a:pt x="7128777" y="3240881"/>
                  <a:pt x="7066465" y="3465672"/>
                </a:cubicBezTo>
                <a:cubicBezTo>
                  <a:pt x="6952165" y="3878580"/>
                  <a:pt x="6737948" y="4235863"/>
                  <a:pt x="6452578" y="4552760"/>
                </a:cubicBezTo>
                <a:cubicBezTo>
                  <a:pt x="6244553" y="4783836"/>
                  <a:pt x="6008809" y="4980242"/>
                  <a:pt x="5752110" y="5150263"/>
                </a:cubicBezTo>
                <a:lnTo>
                  <a:pt x="5827643" y="5150263"/>
                </a:lnTo>
                <a:cubicBezTo>
                  <a:pt x="6136539" y="4938904"/>
                  <a:pt x="6412192" y="4689348"/>
                  <a:pt x="6642793" y="4389406"/>
                </a:cubicBezTo>
                <a:cubicBezTo>
                  <a:pt x="6851295" y="4118324"/>
                  <a:pt x="7009125" y="3820859"/>
                  <a:pt x="7102469" y="3490817"/>
                </a:cubicBezTo>
                <a:cubicBezTo>
                  <a:pt x="7148646" y="3327473"/>
                  <a:pt x="7177069" y="3159624"/>
                  <a:pt x="7187242" y="2990183"/>
                </a:cubicBezTo>
                <a:cubicBezTo>
                  <a:pt x="7187623" y="2984087"/>
                  <a:pt x="7182384" y="2642330"/>
                  <a:pt x="7178288" y="2604802"/>
                </a:cubicBezTo>
                <a:close/>
                <a:moveTo>
                  <a:pt x="6342565" y="441389"/>
                </a:moveTo>
                <a:cubicBezTo>
                  <a:pt x="6829797" y="986533"/>
                  <a:pt x="7091135" y="1624422"/>
                  <a:pt x="7126567" y="2355056"/>
                </a:cubicBezTo>
                <a:cubicBezTo>
                  <a:pt x="7001123" y="1661827"/>
                  <a:pt x="6756426" y="1017365"/>
                  <a:pt x="6342565" y="441389"/>
                </a:cubicBezTo>
                <a:close/>
              </a:path>
            </a:pathLst>
          </a:custGeom>
          <a:solidFill>
            <a:schemeClr val="accent1"/>
          </a:solidFill>
          <a:ln w="9525"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B71BA2E5-8E6F-8D9E-8FBE-E6717C18664C}"/>
              </a:ext>
            </a:extLst>
          </p:cNvPr>
          <p:cNvSpPr>
            <a:spLocks noGrp="1"/>
          </p:cNvSpPr>
          <p:nvPr>
            <p:ph type="title"/>
          </p:nvPr>
        </p:nvSpPr>
        <p:spPr>
          <a:xfrm>
            <a:off x="4326188" y="0"/>
            <a:ext cx="3536576" cy="1739467"/>
          </a:xfrm>
        </p:spPr>
        <p:txBody>
          <a:bodyPr anchor="b">
            <a:normAutofit/>
          </a:bodyPr>
          <a:lstStyle/>
          <a:p>
            <a:pPr algn="ctr"/>
            <a:r>
              <a:rPr lang="en-US" sz="8800" b="1" dirty="0">
                <a:solidFill>
                  <a:srgbClr val="FFFFFF"/>
                </a:solidFill>
              </a:rPr>
              <a:t>IMPORTANT!</a:t>
            </a:r>
          </a:p>
        </p:txBody>
      </p:sp>
      <p:sp>
        <p:nvSpPr>
          <p:cNvPr id="3" name="Content Placeholder 2">
            <a:extLst>
              <a:ext uri="{FF2B5EF4-FFF2-40B4-BE49-F238E27FC236}">
                <a16:creationId xmlns:a16="http://schemas.microsoft.com/office/drawing/2014/main" id="{055D5E07-DC2C-C281-7C64-FE4E21E1B7B3}"/>
              </a:ext>
            </a:extLst>
          </p:cNvPr>
          <p:cNvSpPr>
            <a:spLocks noGrp="1"/>
          </p:cNvSpPr>
          <p:nvPr>
            <p:ph idx="1"/>
          </p:nvPr>
        </p:nvSpPr>
        <p:spPr>
          <a:xfrm>
            <a:off x="2220204" y="1739468"/>
            <a:ext cx="7811302" cy="4490362"/>
          </a:xfrm>
        </p:spPr>
        <p:txBody>
          <a:bodyPr>
            <a:normAutofit fontScale="92500" lnSpcReduction="10000"/>
          </a:bodyPr>
          <a:lstStyle/>
          <a:p>
            <a:pPr>
              <a:lnSpc>
                <a:spcPct val="100000"/>
              </a:lnSpc>
            </a:pPr>
            <a:r>
              <a:rPr lang="en-US" sz="2000" dirty="0">
                <a:latin typeface="Aptos" panose="020B0004020202020204" pitchFamily="34" charset="0"/>
              </a:rPr>
              <a:t>As we talk through this unit on sexual health, it is important to acknowledge that no two people are the same. </a:t>
            </a:r>
          </a:p>
          <a:p>
            <a:pPr>
              <a:lnSpc>
                <a:spcPct val="100000"/>
              </a:lnSpc>
            </a:pPr>
            <a:endParaRPr lang="en-US" sz="2000" dirty="0">
              <a:latin typeface="Aptos" panose="020B0004020202020204" pitchFamily="34" charset="0"/>
            </a:endParaRPr>
          </a:p>
          <a:p>
            <a:pPr>
              <a:lnSpc>
                <a:spcPct val="100000"/>
              </a:lnSpc>
            </a:pPr>
            <a:r>
              <a:rPr lang="en-US" sz="2000" dirty="0">
                <a:latin typeface="Aptos" panose="020B0004020202020204" pitchFamily="34" charset="0"/>
              </a:rPr>
              <a:t>Just as we all have different hair colour, skin colour, facial features etc., penis and vagina also vary greatly in shape, size and colour. </a:t>
            </a:r>
          </a:p>
          <a:p>
            <a:pPr>
              <a:lnSpc>
                <a:spcPct val="100000"/>
              </a:lnSpc>
            </a:pPr>
            <a:endParaRPr lang="en-US" sz="2000" dirty="0">
              <a:latin typeface="Aptos" panose="020B0004020202020204" pitchFamily="34" charset="0"/>
            </a:endParaRPr>
          </a:p>
          <a:p>
            <a:pPr>
              <a:lnSpc>
                <a:spcPct val="100000"/>
              </a:lnSpc>
            </a:pPr>
            <a:r>
              <a:rPr lang="en-US" sz="2000" dirty="0">
                <a:latin typeface="Aptos" panose="020B0004020202020204" pitchFamily="34" charset="0"/>
              </a:rPr>
              <a:t>As with contraceptive methods – everyone has their own preferences for various reasons (i.e., cost, ease of use, length of effectiveness, fit and comfort level etc.) and everyone will react differently or have different side-effects (particularly for hormonal methods). This is also why there are so many options available. </a:t>
            </a:r>
          </a:p>
          <a:p>
            <a:pPr>
              <a:lnSpc>
                <a:spcPct val="100000"/>
              </a:lnSpc>
            </a:pPr>
            <a:endParaRPr lang="en-US" sz="2000" dirty="0">
              <a:latin typeface="Aptos" panose="020B0004020202020204" pitchFamily="34" charset="0"/>
            </a:endParaRPr>
          </a:p>
          <a:p>
            <a:pPr>
              <a:lnSpc>
                <a:spcPct val="100000"/>
              </a:lnSpc>
            </a:pPr>
            <a:r>
              <a:rPr lang="en-US" sz="2000" dirty="0">
                <a:latin typeface="Aptos" panose="020B0004020202020204" pitchFamily="34" charset="0"/>
              </a:rPr>
              <a:t>There is no one perfect penis, vulva or method of contraception. </a:t>
            </a:r>
          </a:p>
        </p:txBody>
      </p:sp>
    </p:spTree>
    <p:extLst>
      <p:ext uri="{BB962C8B-B14F-4D97-AF65-F5344CB8AC3E}">
        <p14:creationId xmlns:p14="http://schemas.microsoft.com/office/powerpoint/2010/main" val="1537885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9D5F66-176A-D284-9E37-13377101B488}"/>
              </a:ext>
            </a:extLst>
          </p:cNvPr>
          <p:cNvSpPr>
            <a:spLocks noGrp="1"/>
          </p:cNvSpPr>
          <p:nvPr>
            <p:ph type="title"/>
          </p:nvPr>
        </p:nvSpPr>
        <p:spPr>
          <a:xfrm>
            <a:off x="630936" y="649224"/>
            <a:ext cx="4818888" cy="1481328"/>
          </a:xfrm>
        </p:spPr>
        <p:txBody>
          <a:bodyPr anchor="b">
            <a:normAutofit/>
          </a:bodyPr>
          <a:lstStyle/>
          <a:p>
            <a:r>
              <a:rPr lang="en-US" sz="5600" dirty="0">
                <a:solidFill>
                  <a:srgbClr val="FF0000"/>
                </a:solidFill>
              </a:rPr>
              <a:t>BARRIER METHODS:</a:t>
            </a:r>
          </a:p>
        </p:txBody>
      </p:sp>
      <p:sp>
        <p:nvSpPr>
          <p:cNvPr id="1033"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2386584"/>
            <a:ext cx="4114800" cy="18288"/>
          </a:xfrm>
          <a:custGeom>
            <a:avLst/>
            <a:gdLst>
              <a:gd name="connsiteX0" fmla="*/ 0 w 4114800"/>
              <a:gd name="connsiteY0" fmla="*/ 0 h 18288"/>
              <a:gd name="connsiteX1" fmla="*/ 768096 w 4114800"/>
              <a:gd name="connsiteY1" fmla="*/ 0 h 18288"/>
              <a:gd name="connsiteX2" fmla="*/ 1495044 w 4114800"/>
              <a:gd name="connsiteY2" fmla="*/ 0 h 18288"/>
              <a:gd name="connsiteX3" fmla="*/ 2221992 w 4114800"/>
              <a:gd name="connsiteY3" fmla="*/ 0 h 18288"/>
              <a:gd name="connsiteX4" fmla="*/ 2784348 w 4114800"/>
              <a:gd name="connsiteY4" fmla="*/ 0 h 18288"/>
              <a:gd name="connsiteX5" fmla="*/ 3387852 w 4114800"/>
              <a:gd name="connsiteY5" fmla="*/ 0 h 18288"/>
              <a:gd name="connsiteX6" fmla="*/ 4114800 w 4114800"/>
              <a:gd name="connsiteY6" fmla="*/ 0 h 18288"/>
              <a:gd name="connsiteX7" fmla="*/ 4114800 w 4114800"/>
              <a:gd name="connsiteY7" fmla="*/ 18288 h 18288"/>
              <a:gd name="connsiteX8" fmla="*/ 3429000 w 4114800"/>
              <a:gd name="connsiteY8" fmla="*/ 18288 h 18288"/>
              <a:gd name="connsiteX9" fmla="*/ 2866644 w 4114800"/>
              <a:gd name="connsiteY9" fmla="*/ 18288 h 18288"/>
              <a:gd name="connsiteX10" fmla="*/ 2304288 w 4114800"/>
              <a:gd name="connsiteY10" fmla="*/ 18288 h 18288"/>
              <a:gd name="connsiteX11" fmla="*/ 1577340 w 4114800"/>
              <a:gd name="connsiteY11" fmla="*/ 18288 h 18288"/>
              <a:gd name="connsiteX12" fmla="*/ 973836 w 4114800"/>
              <a:gd name="connsiteY12" fmla="*/ 18288 h 18288"/>
              <a:gd name="connsiteX13" fmla="*/ 0 w 4114800"/>
              <a:gd name="connsiteY13" fmla="*/ 18288 h 18288"/>
              <a:gd name="connsiteX14" fmla="*/ 0 w 411480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14800" h="18288" fill="none" extrusionOk="0">
                <a:moveTo>
                  <a:pt x="0" y="0"/>
                </a:moveTo>
                <a:cubicBezTo>
                  <a:pt x="338280" y="-26110"/>
                  <a:pt x="483942" y="6555"/>
                  <a:pt x="768096" y="0"/>
                </a:cubicBezTo>
                <a:cubicBezTo>
                  <a:pt x="1052250" y="-6555"/>
                  <a:pt x="1331484" y="24616"/>
                  <a:pt x="1495044" y="0"/>
                </a:cubicBezTo>
                <a:cubicBezTo>
                  <a:pt x="1658604" y="-24616"/>
                  <a:pt x="2056661" y="-33562"/>
                  <a:pt x="2221992" y="0"/>
                </a:cubicBezTo>
                <a:cubicBezTo>
                  <a:pt x="2387323" y="33562"/>
                  <a:pt x="2629463" y="-20094"/>
                  <a:pt x="2784348" y="0"/>
                </a:cubicBezTo>
                <a:cubicBezTo>
                  <a:pt x="2939233" y="20094"/>
                  <a:pt x="3151981" y="1524"/>
                  <a:pt x="3387852" y="0"/>
                </a:cubicBezTo>
                <a:cubicBezTo>
                  <a:pt x="3623723" y="-1524"/>
                  <a:pt x="3882724" y="26165"/>
                  <a:pt x="4114800" y="0"/>
                </a:cubicBezTo>
                <a:cubicBezTo>
                  <a:pt x="4114300" y="8855"/>
                  <a:pt x="4114909" y="14521"/>
                  <a:pt x="4114800" y="18288"/>
                </a:cubicBezTo>
                <a:cubicBezTo>
                  <a:pt x="3910038" y="37744"/>
                  <a:pt x="3683432" y="-3969"/>
                  <a:pt x="3429000" y="18288"/>
                </a:cubicBezTo>
                <a:cubicBezTo>
                  <a:pt x="3174568" y="40545"/>
                  <a:pt x="3085815" y="44166"/>
                  <a:pt x="2866644" y="18288"/>
                </a:cubicBezTo>
                <a:cubicBezTo>
                  <a:pt x="2647473" y="-7590"/>
                  <a:pt x="2580474" y="31338"/>
                  <a:pt x="2304288" y="18288"/>
                </a:cubicBezTo>
                <a:cubicBezTo>
                  <a:pt x="2028102" y="5238"/>
                  <a:pt x="1863008" y="-2001"/>
                  <a:pt x="1577340" y="18288"/>
                </a:cubicBezTo>
                <a:cubicBezTo>
                  <a:pt x="1291672" y="38577"/>
                  <a:pt x="1243931" y="9893"/>
                  <a:pt x="973836" y="18288"/>
                </a:cubicBezTo>
                <a:cubicBezTo>
                  <a:pt x="703741" y="26683"/>
                  <a:pt x="317656" y="-5910"/>
                  <a:pt x="0" y="18288"/>
                </a:cubicBezTo>
                <a:cubicBezTo>
                  <a:pt x="683" y="12014"/>
                  <a:pt x="724" y="5908"/>
                  <a:pt x="0" y="0"/>
                </a:cubicBezTo>
                <a:close/>
              </a:path>
              <a:path w="4114800" h="18288" stroke="0" extrusionOk="0">
                <a:moveTo>
                  <a:pt x="0" y="0"/>
                </a:moveTo>
                <a:cubicBezTo>
                  <a:pt x="276109" y="5266"/>
                  <a:pt x="325589" y="-19584"/>
                  <a:pt x="644652" y="0"/>
                </a:cubicBezTo>
                <a:cubicBezTo>
                  <a:pt x="963715" y="19584"/>
                  <a:pt x="1064991" y="6066"/>
                  <a:pt x="1207008" y="0"/>
                </a:cubicBezTo>
                <a:cubicBezTo>
                  <a:pt x="1349025" y="-6066"/>
                  <a:pt x="1791724" y="14506"/>
                  <a:pt x="1975104" y="0"/>
                </a:cubicBezTo>
                <a:cubicBezTo>
                  <a:pt x="2158484" y="-14506"/>
                  <a:pt x="2397469" y="20822"/>
                  <a:pt x="2619756" y="0"/>
                </a:cubicBezTo>
                <a:cubicBezTo>
                  <a:pt x="2842043" y="-20822"/>
                  <a:pt x="2992157" y="20388"/>
                  <a:pt x="3264408" y="0"/>
                </a:cubicBezTo>
                <a:cubicBezTo>
                  <a:pt x="3536659" y="-20388"/>
                  <a:pt x="3855620" y="38211"/>
                  <a:pt x="4114800" y="0"/>
                </a:cubicBezTo>
                <a:cubicBezTo>
                  <a:pt x="4113902" y="7180"/>
                  <a:pt x="4114969" y="13790"/>
                  <a:pt x="4114800" y="18288"/>
                </a:cubicBezTo>
                <a:cubicBezTo>
                  <a:pt x="3968901" y="8593"/>
                  <a:pt x="3623428" y="17559"/>
                  <a:pt x="3429000" y="18288"/>
                </a:cubicBezTo>
                <a:cubicBezTo>
                  <a:pt x="3234572" y="19017"/>
                  <a:pt x="3085079" y="41804"/>
                  <a:pt x="2866644" y="18288"/>
                </a:cubicBezTo>
                <a:cubicBezTo>
                  <a:pt x="2648209" y="-5228"/>
                  <a:pt x="2451737" y="24580"/>
                  <a:pt x="2180844" y="18288"/>
                </a:cubicBezTo>
                <a:cubicBezTo>
                  <a:pt x="1909951" y="11996"/>
                  <a:pt x="1681589" y="12244"/>
                  <a:pt x="1495044" y="18288"/>
                </a:cubicBezTo>
                <a:cubicBezTo>
                  <a:pt x="1308499" y="24332"/>
                  <a:pt x="1136614" y="21789"/>
                  <a:pt x="850392" y="18288"/>
                </a:cubicBezTo>
                <a:cubicBezTo>
                  <a:pt x="564170" y="14787"/>
                  <a:pt x="210636" y="54701"/>
                  <a:pt x="0" y="18288"/>
                </a:cubicBezTo>
                <a:cubicBezTo>
                  <a:pt x="571" y="10093"/>
                  <a:pt x="-125" y="8407"/>
                  <a:pt x="0" y="0"/>
                </a:cubicBezTo>
                <a:close/>
              </a:path>
            </a:pathLst>
          </a:custGeom>
          <a:solidFill>
            <a:srgbClr val="FACA7B"/>
          </a:solidFill>
          <a:ln w="38100" cap="rnd">
            <a:solidFill>
              <a:srgbClr val="FACA7B"/>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48779AD-8338-FFA8-7169-02716D657F68}"/>
              </a:ext>
            </a:extLst>
          </p:cNvPr>
          <p:cNvSpPr>
            <a:spLocks noGrp="1"/>
          </p:cNvSpPr>
          <p:nvPr>
            <p:ph idx="1"/>
          </p:nvPr>
        </p:nvSpPr>
        <p:spPr>
          <a:xfrm>
            <a:off x="630936" y="2660904"/>
            <a:ext cx="4818888" cy="3547872"/>
          </a:xfrm>
        </p:spPr>
        <p:txBody>
          <a:bodyPr anchor="t">
            <a:normAutofit/>
          </a:bodyPr>
          <a:lstStyle/>
          <a:p>
            <a:r>
              <a:rPr lang="en-US" dirty="0"/>
              <a:t>Male condom (external)</a:t>
            </a:r>
          </a:p>
          <a:p>
            <a:r>
              <a:rPr lang="en-US" dirty="0"/>
              <a:t>Female condom (internal)</a:t>
            </a:r>
          </a:p>
          <a:p>
            <a:r>
              <a:rPr lang="en-US" dirty="0"/>
              <a:t>Diaphragm &amp; Cervical cap</a:t>
            </a:r>
          </a:p>
          <a:p>
            <a:r>
              <a:rPr lang="en-US" dirty="0"/>
              <a:t>Spermicide</a:t>
            </a:r>
          </a:p>
        </p:txBody>
      </p:sp>
      <mc:AlternateContent xmlns:mc="http://schemas.openxmlformats.org/markup-compatibility/2006" xmlns:p14="http://schemas.microsoft.com/office/powerpoint/2010/main">
        <mc:Choice Requires="p14">
          <p:contentPart p14:bwMode="auto" r:id="rId2">
            <p14:nvContentPartPr>
              <p14:cNvPr id="1035" name="Ink 1034">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5755403" y="1971579"/>
              <a:ext cx="360" cy="2160"/>
            </p14:xfrm>
          </p:contentPart>
        </mc:Choice>
        <mc:Fallback xmlns="">
          <p:pic>
            <p:nvPicPr>
              <p:cNvPr id="1035" name="Ink 1034">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3"/>
              <a:stretch>
                <a:fillRect/>
              </a:stretch>
            </p:blipFill>
            <p:spPr>
              <a:xfrm>
                <a:off x="5737403" y="1956150"/>
                <a:ext cx="36000" cy="32709"/>
              </a:xfrm>
              <a:prstGeom prst="rect">
                <a:avLst/>
              </a:prstGeom>
            </p:spPr>
          </p:pic>
        </mc:Fallback>
      </mc:AlternateContent>
      <p:pic>
        <p:nvPicPr>
          <p:cNvPr id="1026" name="Picture 2" descr="Finding the Best Birth Control for Your Lifestyle">
            <a:extLst>
              <a:ext uri="{FF2B5EF4-FFF2-40B4-BE49-F238E27FC236}">
                <a16:creationId xmlns:a16="http://schemas.microsoft.com/office/drawing/2014/main" id="{C8CB6DC5-0B16-499F-7B6A-BE3E728DB599}"/>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099048" y="938346"/>
            <a:ext cx="5458968" cy="4981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27150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49FBD-943D-B8BC-A7C6-1BF47CA3651C}"/>
              </a:ext>
            </a:extLst>
          </p:cNvPr>
          <p:cNvSpPr>
            <a:spLocks noGrp="1"/>
          </p:cNvSpPr>
          <p:nvPr>
            <p:ph type="title"/>
          </p:nvPr>
        </p:nvSpPr>
        <p:spPr/>
        <p:txBody>
          <a:bodyPr/>
          <a:lstStyle/>
          <a:p>
            <a:r>
              <a:rPr lang="en-US" dirty="0"/>
              <a:t>Male Condom</a:t>
            </a:r>
          </a:p>
        </p:txBody>
      </p:sp>
      <p:sp>
        <p:nvSpPr>
          <p:cNvPr id="3" name="Content Placeholder 2">
            <a:extLst>
              <a:ext uri="{FF2B5EF4-FFF2-40B4-BE49-F238E27FC236}">
                <a16:creationId xmlns:a16="http://schemas.microsoft.com/office/drawing/2014/main" id="{F7ECF7F0-A2AD-A7AC-80BE-63484A0B6769}"/>
              </a:ext>
            </a:extLst>
          </p:cNvPr>
          <p:cNvSpPr>
            <a:spLocks noGrp="1"/>
          </p:cNvSpPr>
          <p:nvPr>
            <p:ph idx="1"/>
          </p:nvPr>
        </p:nvSpPr>
        <p:spPr>
          <a:xfrm>
            <a:off x="838200" y="1929383"/>
            <a:ext cx="7754471" cy="4563491"/>
          </a:xfrm>
        </p:spPr>
        <p:txBody>
          <a:bodyPr>
            <a:normAutofit/>
          </a:bodyPr>
          <a:lstStyle/>
          <a:p>
            <a:pPr>
              <a:spcBef>
                <a:spcPct val="0"/>
              </a:spcBef>
            </a:pPr>
            <a:r>
              <a:rPr lang="en-GB" altLang="en-US" dirty="0">
                <a:cs typeface="Arial" panose="020B0604020202020204" pitchFamily="34" charset="0"/>
              </a:rPr>
              <a:t>O</a:t>
            </a:r>
            <a:r>
              <a:rPr kumimoji="0" lang="en-GB" altLang="en-US" sz="2800" dirty="0">
                <a:solidFill>
                  <a:schemeClr val="tx1"/>
                </a:solidFill>
                <a:cs typeface="Arial" panose="020B0604020202020204" pitchFamily="34" charset="0"/>
              </a:rPr>
              <a:t>nly method of contraception boys can use. </a:t>
            </a:r>
          </a:p>
          <a:p>
            <a:pPr>
              <a:spcBef>
                <a:spcPct val="0"/>
              </a:spcBef>
            </a:pPr>
            <a:r>
              <a:rPr kumimoji="0" lang="en-GB" altLang="en-US" sz="2800" dirty="0">
                <a:solidFill>
                  <a:schemeClr val="tx1"/>
                </a:solidFill>
                <a:cs typeface="Arial" panose="020B0604020202020204" pitchFamily="34" charset="0"/>
              </a:rPr>
              <a:t>It's really just a rubber, latex tube. </a:t>
            </a:r>
          </a:p>
          <a:p>
            <a:pPr>
              <a:spcBef>
                <a:spcPct val="0"/>
              </a:spcBef>
            </a:pPr>
            <a:r>
              <a:rPr kumimoji="0" lang="en-GB" altLang="en-US" sz="2800" dirty="0">
                <a:solidFill>
                  <a:schemeClr val="tx1"/>
                </a:solidFill>
                <a:cs typeface="Arial" panose="020B0604020202020204" pitchFamily="34" charset="0"/>
              </a:rPr>
              <a:t>It's closed at one end like the finger of a glove so that when a boy puts it over his penis it stops the sperm going inside a girl's body. </a:t>
            </a:r>
          </a:p>
          <a:p>
            <a:pPr>
              <a:spcBef>
                <a:spcPct val="0"/>
              </a:spcBef>
            </a:pPr>
            <a:r>
              <a:rPr kumimoji="0" lang="en-GB" altLang="en-US" sz="2800" dirty="0">
                <a:solidFill>
                  <a:schemeClr val="tx1"/>
                </a:solidFill>
                <a:cs typeface="Arial" panose="020B0604020202020204" pitchFamily="34" charset="0"/>
              </a:rPr>
              <a:t>It is a barrier method of contraception as it provides a barrier between the penis and the vagina and avoids any skin-to-skin contact.</a:t>
            </a:r>
          </a:p>
          <a:p>
            <a:pPr>
              <a:spcBef>
                <a:spcPct val="0"/>
              </a:spcBef>
            </a:pPr>
            <a:r>
              <a:rPr lang="en-GB" altLang="en-US" dirty="0">
                <a:cs typeface="Arial" panose="020B0604020202020204" pitchFamily="34" charset="0"/>
              </a:rPr>
              <a:t>Easily accessible.</a:t>
            </a:r>
            <a:endParaRPr kumimoji="0" lang="en-GB" altLang="en-US" sz="2800" dirty="0">
              <a:solidFill>
                <a:schemeClr val="tx1"/>
              </a:solidFill>
              <a:cs typeface="Arial" panose="020B0604020202020204" pitchFamily="34" charset="0"/>
            </a:endParaRPr>
          </a:p>
          <a:p>
            <a:pPr>
              <a:spcBef>
                <a:spcPct val="0"/>
              </a:spcBef>
            </a:pPr>
            <a:r>
              <a:rPr kumimoji="0" lang="en-GB" altLang="en-US" sz="2800" dirty="0">
                <a:solidFill>
                  <a:schemeClr val="tx1"/>
                </a:solidFill>
                <a:cs typeface="Arial" panose="020B0604020202020204" pitchFamily="34" charset="0"/>
              </a:rPr>
              <a:t>94 – 98% effective if used correctly. </a:t>
            </a:r>
          </a:p>
          <a:p>
            <a:pPr>
              <a:spcBef>
                <a:spcPct val="0"/>
              </a:spcBef>
            </a:pPr>
            <a:r>
              <a:rPr kumimoji="0" lang="en-GB" altLang="en-US" sz="2800" dirty="0">
                <a:solidFill>
                  <a:schemeClr val="tx1"/>
                </a:solidFill>
                <a:cs typeface="Arial" panose="020B0604020202020204" pitchFamily="34" charset="0"/>
              </a:rPr>
              <a:t>STI prevention.</a:t>
            </a:r>
          </a:p>
          <a:p>
            <a:endParaRPr lang="en-US" dirty="0"/>
          </a:p>
        </p:txBody>
      </p:sp>
      <p:pic>
        <p:nvPicPr>
          <p:cNvPr id="2050" name="Picture 2" descr="Condoms - Advantages and Disadvantages">
            <a:extLst>
              <a:ext uri="{FF2B5EF4-FFF2-40B4-BE49-F238E27FC236}">
                <a16:creationId xmlns:a16="http://schemas.microsoft.com/office/drawing/2014/main" id="{B3488FBF-4AD6-82F3-9834-1E854846B5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73893" y="4718468"/>
            <a:ext cx="3018778" cy="203195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Condoms: Birth Control, Types, How They Work &amp; Effectiveness">
            <a:extLst>
              <a:ext uri="{FF2B5EF4-FFF2-40B4-BE49-F238E27FC236}">
                <a16:creationId xmlns:a16="http://schemas.microsoft.com/office/drawing/2014/main" id="{F092B725-75AC-87F6-8D95-F08AD454C8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18661" y="1821807"/>
            <a:ext cx="3018778" cy="49286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89407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08FAD-A9F0-13A7-CF25-0F5C48412627}"/>
              </a:ext>
            </a:extLst>
          </p:cNvPr>
          <p:cNvSpPr>
            <a:spLocks noGrp="1"/>
          </p:cNvSpPr>
          <p:nvPr>
            <p:ph type="title"/>
          </p:nvPr>
        </p:nvSpPr>
        <p:spPr/>
        <p:txBody>
          <a:bodyPr/>
          <a:lstStyle/>
          <a:p>
            <a:r>
              <a:rPr lang="en-US" dirty="0"/>
              <a:t>FEMALE CONDOM</a:t>
            </a:r>
          </a:p>
        </p:txBody>
      </p:sp>
      <p:sp>
        <p:nvSpPr>
          <p:cNvPr id="3" name="Content Placeholder 2">
            <a:extLst>
              <a:ext uri="{FF2B5EF4-FFF2-40B4-BE49-F238E27FC236}">
                <a16:creationId xmlns:a16="http://schemas.microsoft.com/office/drawing/2014/main" id="{F4066B16-396D-A6D7-29B6-B320D1134C01}"/>
              </a:ext>
            </a:extLst>
          </p:cNvPr>
          <p:cNvSpPr>
            <a:spLocks noGrp="1"/>
          </p:cNvSpPr>
          <p:nvPr>
            <p:ph idx="1"/>
          </p:nvPr>
        </p:nvSpPr>
        <p:spPr>
          <a:xfrm>
            <a:off x="838199" y="1929383"/>
            <a:ext cx="6193669" cy="4563491"/>
          </a:xfrm>
        </p:spPr>
        <p:txBody>
          <a:bodyPr/>
          <a:lstStyle/>
          <a:p>
            <a:r>
              <a:rPr lang="en-US" dirty="0"/>
              <a:t>Not as widely available as the male condom and is more expensive.</a:t>
            </a:r>
          </a:p>
          <a:p>
            <a:r>
              <a:rPr lang="en-US" dirty="0"/>
              <a:t>The closed end gets inserted into the vagina, and the penis enters </a:t>
            </a:r>
            <a:br>
              <a:rPr lang="en-US" dirty="0"/>
            </a:br>
            <a:r>
              <a:rPr lang="en-US" dirty="0"/>
              <a:t>through the open end. </a:t>
            </a:r>
          </a:p>
          <a:p>
            <a:r>
              <a:rPr lang="en-US" dirty="0"/>
              <a:t>It also puts a barrier between the penis and the vagina and </a:t>
            </a:r>
            <a:br>
              <a:rPr lang="en-US" dirty="0"/>
            </a:br>
            <a:r>
              <a:rPr lang="en-US" dirty="0"/>
              <a:t>therefore, prevents sperm from entering the female body.</a:t>
            </a:r>
          </a:p>
          <a:p>
            <a:r>
              <a:rPr lang="en-US" dirty="0"/>
              <a:t>95% effective if used correctly.</a:t>
            </a:r>
          </a:p>
          <a:p>
            <a:r>
              <a:rPr lang="en-US" dirty="0"/>
              <a:t>STI prevention.</a:t>
            </a:r>
          </a:p>
        </p:txBody>
      </p:sp>
      <p:pic>
        <p:nvPicPr>
          <p:cNvPr id="3074" name="Picture 2" descr="The Female Condom Gets a New Name">
            <a:extLst>
              <a:ext uri="{FF2B5EF4-FFF2-40B4-BE49-F238E27FC236}">
                <a16:creationId xmlns:a16="http://schemas.microsoft.com/office/drawing/2014/main" id="{F7636E9A-F47B-7CA0-A230-D0C1A9AC934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763"/>
          <a:stretch/>
        </p:blipFill>
        <p:spPr bwMode="auto">
          <a:xfrm>
            <a:off x="4954458" y="4736406"/>
            <a:ext cx="2283084" cy="199516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1">
            <a:extLst>
              <a:ext uri="{FF2B5EF4-FFF2-40B4-BE49-F238E27FC236}">
                <a16:creationId xmlns:a16="http://schemas.microsoft.com/office/drawing/2014/main" id="{A4001B85-51BF-8DB7-D2A7-DA0900D3CBF4}"/>
              </a:ext>
            </a:extLst>
          </p:cNvPr>
          <p:cNvPicPr>
            <a:picLocks noChangeAspect="1"/>
          </p:cNvPicPr>
          <p:nvPr/>
        </p:nvPicPr>
        <p:blipFill>
          <a:blip r:embed="rId3">
            <a:extLst>
              <a:ext uri="{28A0092B-C50C-407E-A947-70E740481C1C}">
                <a14:useLocalDpi xmlns:a14="http://schemas.microsoft.com/office/drawing/2010/main" val="0"/>
              </a:ext>
            </a:extLst>
          </a:blip>
          <a:srcRect l="2238" r="1199" b="2042"/>
          <a:stretch>
            <a:fillRect/>
          </a:stretch>
        </p:blipFill>
        <p:spPr bwMode="auto">
          <a:xfrm>
            <a:off x="7461504" y="1929383"/>
            <a:ext cx="4378261" cy="4142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375009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567A3-5494-4E62-B963-4B90A415C6C6}"/>
              </a:ext>
            </a:extLst>
          </p:cNvPr>
          <p:cNvSpPr>
            <a:spLocks noGrp="1"/>
          </p:cNvSpPr>
          <p:nvPr>
            <p:ph type="title"/>
          </p:nvPr>
        </p:nvSpPr>
        <p:spPr/>
        <p:txBody>
          <a:bodyPr/>
          <a:lstStyle/>
          <a:p>
            <a:r>
              <a:rPr lang="en-US" dirty="0"/>
              <a:t>What you need to know about Condoms:</a:t>
            </a:r>
          </a:p>
        </p:txBody>
      </p:sp>
      <p:sp>
        <p:nvSpPr>
          <p:cNvPr id="3" name="Content Placeholder 2">
            <a:extLst>
              <a:ext uri="{FF2B5EF4-FFF2-40B4-BE49-F238E27FC236}">
                <a16:creationId xmlns:a16="http://schemas.microsoft.com/office/drawing/2014/main" id="{5A89FCE5-47C8-A9AB-8252-1EDE1BF8F169}"/>
              </a:ext>
            </a:extLst>
          </p:cNvPr>
          <p:cNvSpPr>
            <a:spLocks noGrp="1"/>
          </p:cNvSpPr>
          <p:nvPr>
            <p:ph idx="1"/>
          </p:nvPr>
        </p:nvSpPr>
        <p:spPr/>
        <p:txBody>
          <a:bodyPr/>
          <a:lstStyle/>
          <a:p>
            <a:endParaRPr lang="en-US"/>
          </a:p>
        </p:txBody>
      </p:sp>
      <p:pic>
        <p:nvPicPr>
          <p:cNvPr id="4" name="Online Media 3" title="What you need know about condoms">
            <a:hlinkClick r:id="" action="ppaction://media"/>
            <a:extLst>
              <a:ext uri="{FF2B5EF4-FFF2-40B4-BE49-F238E27FC236}">
                <a16:creationId xmlns:a16="http://schemas.microsoft.com/office/drawing/2014/main" id="{0BF5E128-541A-E5B1-66B8-DF7820BDBB9F}"/>
              </a:ext>
            </a:extLst>
          </p:cNvPr>
          <p:cNvPicPr>
            <a:picLocks noRot="1" noChangeAspect="1"/>
          </p:cNvPicPr>
          <p:nvPr>
            <a:videoFile r:link="rId1"/>
          </p:nvPr>
        </p:nvPicPr>
        <p:blipFill>
          <a:blip r:embed="rId4"/>
          <a:stretch>
            <a:fillRect/>
          </a:stretch>
        </p:blipFill>
        <p:spPr>
          <a:xfrm>
            <a:off x="1545384" y="1929384"/>
            <a:ext cx="9101231" cy="4868008"/>
          </a:xfrm>
          <a:prstGeom prst="rect">
            <a:avLst/>
          </a:prstGeom>
        </p:spPr>
      </p:pic>
    </p:spTree>
    <p:extLst>
      <p:ext uri="{BB962C8B-B14F-4D97-AF65-F5344CB8AC3E}">
        <p14:creationId xmlns:p14="http://schemas.microsoft.com/office/powerpoint/2010/main" val="3684657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vol="80000">
                <p:cTn id="12" fill="hold" display="0">
                  <p:stCondLst>
                    <p:cond delay="indefinite"/>
                  </p:stCondLst>
                </p:cTn>
                <p:tgtEl>
                  <p:spTgt spid="4"/>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272C9-DBCF-1B4A-F222-AA514A077048}"/>
              </a:ext>
            </a:extLst>
          </p:cNvPr>
          <p:cNvSpPr>
            <a:spLocks noGrp="1"/>
          </p:cNvSpPr>
          <p:nvPr>
            <p:ph type="title"/>
          </p:nvPr>
        </p:nvSpPr>
        <p:spPr/>
        <p:txBody>
          <a:bodyPr/>
          <a:lstStyle/>
          <a:p>
            <a:r>
              <a:rPr lang="en-US" dirty="0"/>
              <a:t>DIAPHRAGM &amp; Cervical Cap</a:t>
            </a:r>
          </a:p>
        </p:txBody>
      </p:sp>
      <p:sp>
        <p:nvSpPr>
          <p:cNvPr id="3" name="Content Placeholder 2">
            <a:extLst>
              <a:ext uri="{FF2B5EF4-FFF2-40B4-BE49-F238E27FC236}">
                <a16:creationId xmlns:a16="http://schemas.microsoft.com/office/drawing/2014/main" id="{9C41E7C7-9CF5-C6C8-4C2C-8DEBA9A01DA8}"/>
              </a:ext>
            </a:extLst>
          </p:cNvPr>
          <p:cNvSpPr>
            <a:spLocks noGrp="1"/>
          </p:cNvSpPr>
          <p:nvPr>
            <p:ph idx="1"/>
          </p:nvPr>
        </p:nvSpPr>
        <p:spPr/>
        <p:txBody>
          <a:bodyPr/>
          <a:lstStyle/>
          <a:p>
            <a:r>
              <a:rPr lang="en-US" dirty="0"/>
              <a:t>Puts a barrier covering the cervix so that sperm cannot enter the uterus. </a:t>
            </a:r>
          </a:p>
          <a:p>
            <a:r>
              <a:rPr lang="en-US" dirty="0"/>
              <a:t>A shallow dome of silicone with a firm, flexible rim. </a:t>
            </a:r>
          </a:p>
          <a:p>
            <a:r>
              <a:rPr lang="en-US" dirty="0"/>
              <a:t>Must be left in place for at least 6 hours after sex. </a:t>
            </a:r>
          </a:p>
          <a:p>
            <a:r>
              <a:rPr lang="en-US" dirty="0"/>
              <a:t>92% – 96% effective when used perfectly and with a spermicide.</a:t>
            </a:r>
          </a:p>
          <a:p>
            <a:r>
              <a:rPr lang="en-US" dirty="0"/>
              <a:t>Does not prevent STI’s.</a:t>
            </a:r>
          </a:p>
        </p:txBody>
      </p:sp>
      <p:pic>
        <p:nvPicPr>
          <p:cNvPr id="1026" name="Picture 2" descr="Contraceptive diaphragm and cervical cap colored flat style icons. Birth  control methods. Safe sex vector elements. Contraception items Stock Vector  | Adobe Stock">
            <a:extLst>
              <a:ext uri="{FF2B5EF4-FFF2-40B4-BE49-F238E27FC236}">
                <a16:creationId xmlns:a16="http://schemas.microsoft.com/office/drawing/2014/main" id="{9BEC31A6-D0A4-F78D-E1E4-43EE32DD69F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699" t="22895" r="11650" b="17066"/>
          <a:stretch/>
        </p:blipFill>
        <p:spPr bwMode="auto">
          <a:xfrm>
            <a:off x="503041" y="5035369"/>
            <a:ext cx="3789048" cy="156123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ontraceptive diaphragm or cap - NHS">
            <a:extLst>
              <a:ext uri="{FF2B5EF4-FFF2-40B4-BE49-F238E27FC236}">
                <a16:creationId xmlns:a16="http://schemas.microsoft.com/office/drawing/2014/main" id="{A1F4DE54-6CF3-EA6B-1A60-4CAEA70E36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69331" y="4532094"/>
            <a:ext cx="3273016" cy="2260427"/>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Nonhormonal birth control: All the options - Flo">
            <a:hlinkClick r:id="rId5"/>
            <a:extLst>
              <a:ext uri="{FF2B5EF4-FFF2-40B4-BE49-F238E27FC236}">
                <a16:creationId xmlns:a16="http://schemas.microsoft.com/office/drawing/2014/main" id="{9A37201F-8444-40BF-E073-F12C1ED6F9C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42911" y="2032970"/>
            <a:ext cx="3010889" cy="22604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78005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88F75-9998-E6E4-D804-20ABC8A566BB}"/>
              </a:ext>
            </a:extLst>
          </p:cNvPr>
          <p:cNvSpPr>
            <a:spLocks noGrp="1"/>
          </p:cNvSpPr>
          <p:nvPr>
            <p:ph type="title"/>
          </p:nvPr>
        </p:nvSpPr>
        <p:spPr/>
        <p:txBody>
          <a:bodyPr/>
          <a:lstStyle/>
          <a:p>
            <a:r>
              <a:rPr lang="en-US" dirty="0"/>
              <a:t>SPERMICIDE</a:t>
            </a:r>
          </a:p>
        </p:txBody>
      </p:sp>
      <p:sp>
        <p:nvSpPr>
          <p:cNvPr id="3" name="Content Placeholder 2">
            <a:extLst>
              <a:ext uri="{FF2B5EF4-FFF2-40B4-BE49-F238E27FC236}">
                <a16:creationId xmlns:a16="http://schemas.microsoft.com/office/drawing/2014/main" id="{EAECE8C9-FDC2-2F85-8509-1C217A23CCDA}"/>
              </a:ext>
            </a:extLst>
          </p:cNvPr>
          <p:cNvSpPr>
            <a:spLocks noGrp="1"/>
          </p:cNvSpPr>
          <p:nvPr>
            <p:ph idx="1"/>
          </p:nvPr>
        </p:nvSpPr>
        <p:spPr>
          <a:xfrm>
            <a:off x="838200" y="1929383"/>
            <a:ext cx="9476232" cy="4563491"/>
          </a:xfrm>
        </p:spPr>
        <p:txBody>
          <a:bodyPr>
            <a:normAutofit lnSpcReduction="10000"/>
          </a:bodyPr>
          <a:lstStyle/>
          <a:p>
            <a:pPr eaLnBrk="1" hangingPunct="1">
              <a:defRPr/>
            </a:pPr>
            <a:r>
              <a:rPr lang="en-GB" sz="2800" dirty="0">
                <a:ea typeface="+mn-ea"/>
                <a:cs typeface="Arial" charset="0"/>
              </a:rPr>
              <a:t>Come in several different forms: cream, gel and foam. </a:t>
            </a:r>
          </a:p>
          <a:p>
            <a:pPr eaLnBrk="1" hangingPunct="1">
              <a:defRPr/>
            </a:pPr>
            <a:r>
              <a:rPr lang="en-GB" sz="2800" dirty="0">
                <a:ea typeface="+mn-ea"/>
                <a:cs typeface="Arial" charset="0"/>
              </a:rPr>
              <a:t>Most spermicides contain nonoxynol-9, a chemical that </a:t>
            </a:r>
            <a:r>
              <a:rPr lang="en-GB" dirty="0">
                <a:cs typeface="Arial" charset="0"/>
              </a:rPr>
              <a:t>blocks the </a:t>
            </a:r>
            <a:r>
              <a:rPr lang="en-GB" sz="2800" dirty="0">
                <a:ea typeface="+mn-ea"/>
                <a:cs typeface="Arial" charset="0"/>
              </a:rPr>
              <a:t>sperm. </a:t>
            </a:r>
          </a:p>
          <a:p>
            <a:pPr eaLnBrk="1" hangingPunct="1">
              <a:defRPr/>
            </a:pPr>
            <a:r>
              <a:rPr lang="en-GB" dirty="0">
                <a:cs typeface="Arial" charset="0"/>
              </a:rPr>
              <a:t>Up to</a:t>
            </a:r>
            <a:r>
              <a:rPr lang="en-GB" sz="2800" dirty="0">
                <a:ea typeface="+mn-ea"/>
                <a:cs typeface="Arial" charset="0"/>
              </a:rPr>
              <a:t> </a:t>
            </a:r>
            <a:r>
              <a:rPr lang="en-GB" dirty="0">
                <a:cs typeface="Arial" charset="0"/>
              </a:rPr>
              <a:t>7</a:t>
            </a:r>
            <a:r>
              <a:rPr lang="en-GB" sz="2800" dirty="0">
                <a:ea typeface="+mn-ea"/>
                <a:cs typeface="Arial" charset="0"/>
              </a:rPr>
              <a:t>0% effective on their own. Can be inserted into the vagina.</a:t>
            </a:r>
          </a:p>
          <a:p>
            <a:pPr>
              <a:defRPr/>
            </a:pPr>
            <a:r>
              <a:rPr lang="en-GB" sz="2800" dirty="0">
                <a:ea typeface="+mn-ea"/>
                <a:cs typeface="Arial" charset="0"/>
              </a:rPr>
              <a:t>Spermicides can be used alone but are more effective when used with another method of birth control, such as a condom or diaphragm.</a:t>
            </a:r>
          </a:p>
          <a:p>
            <a:pPr eaLnBrk="1" hangingPunct="1">
              <a:defRPr/>
            </a:pPr>
            <a:r>
              <a:rPr lang="en-GB" sz="2800" dirty="0">
                <a:ea typeface="+mn-ea"/>
                <a:cs typeface="Arial" charset="0"/>
              </a:rPr>
              <a:t>Very little side effects.</a:t>
            </a:r>
          </a:p>
          <a:p>
            <a:pPr eaLnBrk="1" hangingPunct="1">
              <a:defRPr/>
            </a:pPr>
            <a:r>
              <a:rPr lang="en-GB" dirty="0">
                <a:cs typeface="Arial" charset="0"/>
              </a:rPr>
              <a:t>Must follow instructions properly. </a:t>
            </a:r>
            <a:endParaRPr lang="en-GB" sz="2800" dirty="0">
              <a:ea typeface="+mn-ea"/>
              <a:cs typeface="Arial" charset="0"/>
            </a:endParaRPr>
          </a:p>
          <a:p>
            <a:r>
              <a:rPr lang="en-GB" dirty="0">
                <a:cs typeface="Arial" charset="0"/>
              </a:rPr>
              <a:t>Does not prevent STI’s.</a:t>
            </a:r>
            <a:endParaRPr lang="en-US" dirty="0"/>
          </a:p>
        </p:txBody>
      </p:sp>
      <p:pic>
        <p:nvPicPr>
          <p:cNvPr id="3074" name="Picture 2" descr="Contraception – vaginal gel">
            <a:extLst>
              <a:ext uri="{FF2B5EF4-FFF2-40B4-BE49-F238E27FC236}">
                <a16:creationId xmlns:a16="http://schemas.microsoft.com/office/drawing/2014/main" id="{76A05A52-4E4F-ED86-BEF6-94D78CFD28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06353" y="4184276"/>
            <a:ext cx="5347447" cy="26737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4558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9D5F66-176A-D284-9E37-13377101B488}"/>
              </a:ext>
            </a:extLst>
          </p:cNvPr>
          <p:cNvSpPr>
            <a:spLocks noGrp="1"/>
          </p:cNvSpPr>
          <p:nvPr>
            <p:ph type="title"/>
          </p:nvPr>
        </p:nvSpPr>
        <p:spPr>
          <a:xfrm>
            <a:off x="630936" y="640080"/>
            <a:ext cx="4818888" cy="1481328"/>
          </a:xfrm>
        </p:spPr>
        <p:txBody>
          <a:bodyPr anchor="b">
            <a:normAutofit/>
          </a:bodyPr>
          <a:lstStyle/>
          <a:p>
            <a:r>
              <a:rPr lang="en-US" sz="5600" dirty="0">
                <a:solidFill>
                  <a:srgbClr val="00B050"/>
                </a:solidFill>
              </a:rPr>
              <a:t>HORMONAL METHODS:</a:t>
            </a:r>
          </a:p>
        </p:txBody>
      </p:sp>
      <p:sp>
        <p:nvSpPr>
          <p:cNvPr id="1033"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2386584"/>
            <a:ext cx="4114800" cy="18288"/>
          </a:xfrm>
          <a:custGeom>
            <a:avLst/>
            <a:gdLst>
              <a:gd name="connsiteX0" fmla="*/ 0 w 4114800"/>
              <a:gd name="connsiteY0" fmla="*/ 0 h 18288"/>
              <a:gd name="connsiteX1" fmla="*/ 768096 w 4114800"/>
              <a:gd name="connsiteY1" fmla="*/ 0 h 18288"/>
              <a:gd name="connsiteX2" fmla="*/ 1495044 w 4114800"/>
              <a:gd name="connsiteY2" fmla="*/ 0 h 18288"/>
              <a:gd name="connsiteX3" fmla="*/ 2221992 w 4114800"/>
              <a:gd name="connsiteY3" fmla="*/ 0 h 18288"/>
              <a:gd name="connsiteX4" fmla="*/ 2784348 w 4114800"/>
              <a:gd name="connsiteY4" fmla="*/ 0 h 18288"/>
              <a:gd name="connsiteX5" fmla="*/ 3387852 w 4114800"/>
              <a:gd name="connsiteY5" fmla="*/ 0 h 18288"/>
              <a:gd name="connsiteX6" fmla="*/ 4114800 w 4114800"/>
              <a:gd name="connsiteY6" fmla="*/ 0 h 18288"/>
              <a:gd name="connsiteX7" fmla="*/ 4114800 w 4114800"/>
              <a:gd name="connsiteY7" fmla="*/ 18288 h 18288"/>
              <a:gd name="connsiteX8" fmla="*/ 3429000 w 4114800"/>
              <a:gd name="connsiteY8" fmla="*/ 18288 h 18288"/>
              <a:gd name="connsiteX9" fmla="*/ 2866644 w 4114800"/>
              <a:gd name="connsiteY9" fmla="*/ 18288 h 18288"/>
              <a:gd name="connsiteX10" fmla="*/ 2304288 w 4114800"/>
              <a:gd name="connsiteY10" fmla="*/ 18288 h 18288"/>
              <a:gd name="connsiteX11" fmla="*/ 1577340 w 4114800"/>
              <a:gd name="connsiteY11" fmla="*/ 18288 h 18288"/>
              <a:gd name="connsiteX12" fmla="*/ 973836 w 4114800"/>
              <a:gd name="connsiteY12" fmla="*/ 18288 h 18288"/>
              <a:gd name="connsiteX13" fmla="*/ 0 w 4114800"/>
              <a:gd name="connsiteY13" fmla="*/ 18288 h 18288"/>
              <a:gd name="connsiteX14" fmla="*/ 0 w 411480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14800" h="18288" fill="none" extrusionOk="0">
                <a:moveTo>
                  <a:pt x="0" y="0"/>
                </a:moveTo>
                <a:cubicBezTo>
                  <a:pt x="338280" y="-26110"/>
                  <a:pt x="483942" y="6555"/>
                  <a:pt x="768096" y="0"/>
                </a:cubicBezTo>
                <a:cubicBezTo>
                  <a:pt x="1052250" y="-6555"/>
                  <a:pt x="1331484" y="24616"/>
                  <a:pt x="1495044" y="0"/>
                </a:cubicBezTo>
                <a:cubicBezTo>
                  <a:pt x="1658604" y="-24616"/>
                  <a:pt x="2056661" y="-33562"/>
                  <a:pt x="2221992" y="0"/>
                </a:cubicBezTo>
                <a:cubicBezTo>
                  <a:pt x="2387323" y="33562"/>
                  <a:pt x="2629463" y="-20094"/>
                  <a:pt x="2784348" y="0"/>
                </a:cubicBezTo>
                <a:cubicBezTo>
                  <a:pt x="2939233" y="20094"/>
                  <a:pt x="3151981" y="1524"/>
                  <a:pt x="3387852" y="0"/>
                </a:cubicBezTo>
                <a:cubicBezTo>
                  <a:pt x="3623723" y="-1524"/>
                  <a:pt x="3882724" y="26165"/>
                  <a:pt x="4114800" y="0"/>
                </a:cubicBezTo>
                <a:cubicBezTo>
                  <a:pt x="4114300" y="8855"/>
                  <a:pt x="4114909" y="14521"/>
                  <a:pt x="4114800" y="18288"/>
                </a:cubicBezTo>
                <a:cubicBezTo>
                  <a:pt x="3910038" y="37744"/>
                  <a:pt x="3683432" y="-3969"/>
                  <a:pt x="3429000" y="18288"/>
                </a:cubicBezTo>
                <a:cubicBezTo>
                  <a:pt x="3174568" y="40545"/>
                  <a:pt x="3085815" y="44166"/>
                  <a:pt x="2866644" y="18288"/>
                </a:cubicBezTo>
                <a:cubicBezTo>
                  <a:pt x="2647473" y="-7590"/>
                  <a:pt x="2580474" y="31338"/>
                  <a:pt x="2304288" y="18288"/>
                </a:cubicBezTo>
                <a:cubicBezTo>
                  <a:pt x="2028102" y="5238"/>
                  <a:pt x="1863008" y="-2001"/>
                  <a:pt x="1577340" y="18288"/>
                </a:cubicBezTo>
                <a:cubicBezTo>
                  <a:pt x="1291672" y="38577"/>
                  <a:pt x="1243931" y="9893"/>
                  <a:pt x="973836" y="18288"/>
                </a:cubicBezTo>
                <a:cubicBezTo>
                  <a:pt x="703741" y="26683"/>
                  <a:pt x="317656" y="-5910"/>
                  <a:pt x="0" y="18288"/>
                </a:cubicBezTo>
                <a:cubicBezTo>
                  <a:pt x="683" y="12014"/>
                  <a:pt x="724" y="5908"/>
                  <a:pt x="0" y="0"/>
                </a:cubicBezTo>
                <a:close/>
              </a:path>
              <a:path w="4114800" h="18288" stroke="0" extrusionOk="0">
                <a:moveTo>
                  <a:pt x="0" y="0"/>
                </a:moveTo>
                <a:cubicBezTo>
                  <a:pt x="276109" y="5266"/>
                  <a:pt x="325589" y="-19584"/>
                  <a:pt x="644652" y="0"/>
                </a:cubicBezTo>
                <a:cubicBezTo>
                  <a:pt x="963715" y="19584"/>
                  <a:pt x="1064991" y="6066"/>
                  <a:pt x="1207008" y="0"/>
                </a:cubicBezTo>
                <a:cubicBezTo>
                  <a:pt x="1349025" y="-6066"/>
                  <a:pt x="1791724" y="14506"/>
                  <a:pt x="1975104" y="0"/>
                </a:cubicBezTo>
                <a:cubicBezTo>
                  <a:pt x="2158484" y="-14506"/>
                  <a:pt x="2397469" y="20822"/>
                  <a:pt x="2619756" y="0"/>
                </a:cubicBezTo>
                <a:cubicBezTo>
                  <a:pt x="2842043" y="-20822"/>
                  <a:pt x="2992157" y="20388"/>
                  <a:pt x="3264408" y="0"/>
                </a:cubicBezTo>
                <a:cubicBezTo>
                  <a:pt x="3536659" y="-20388"/>
                  <a:pt x="3855620" y="38211"/>
                  <a:pt x="4114800" y="0"/>
                </a:cubicBezTo>
                <a:cubicBezTo>
                  <a:pt x="4113902" y="7180"/>
                  <a:pt x="4114969" y="13790"/>
                  <a:pt x="4114800" y="18288"/>
                </a:cubicBezTo>
                <a:cubicBezTo>
                  <a:pt x="3968901" y="8593"/>
                  <a:pt x="3623428" y="17559"/>
                  <a:pt x="3429000" y="18288"/>
                </a:cubicBezTo>
                <a:cubicBezTo>
                  <a:pt x="3234572" y="19017"/>
                  <a:pt x="3085079" y="41804"/>
                  <a:pt x="2866644" y="18288"/>
                </a:cubicBezTo>
                <a:cubicBezTo>
                  <a:pt x="2648209" y="-5228"/>
                  <a:pt x="2451737" y="24580"/>
                  <a:pt x="2180844" y="18288"/>
                </a:cubicBezTo>
                <a:cubicBezTo>
                  <a:pt x="1909951" y="11996"/>
                  <a:pt x="1681589" y="12244"/>
                  <a:pt x="1495044" y="18288"/>
                </a:cubicBezTo>
                <a:cubicBezTo>
                  <a:pt x="1308499" y="24332"/>
                  <a:pt x="1136614" y="21789"/>
                  <a:pt x="850392" y="18288"/>
                </a:cubicBezTo>
                <a:cubicBezTo>
                  <a:pt x="564170" y="14787"/>
                  <a:pt x="210636" y="54701"/>
                  <a:pt x="0" y="18288"/>
                </a:cubicBezTo>
                <a:cubicBezTo>
                  <a:pt x="571" y="10093"/>
                  <a:pt x="-125" y="8407"/>
                  <a:pt x="0" y="0"/>
                </a:cubicBezTo>
                <a:close/>
              </a:path>
            </a:pathLst>
          </a:custGeom>
          <a:solidFill>
            <a:srgbClr val="FACA7B"/>
          </a:solidFill>
          <a:ln w="38100" cap="rnd">
            <a:solidFill>
              <a:srgbClr val="FACA7B"/>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48779AD-8338-FFA8-7169-02716D657F68}"/>
              </a:ext>
            </a:extLst>
          </p:cNvPr>
          <p:cNvSpPr>
            <a:spLocks noGrp="1"/>
          </p:cNvSpPr>
          <p:nvPr>
            <p:ph idx="1"/>
          </p:nvPr>
        </p:nvSpPr>
        <p:spPr>
          <a:xfrm>
            <a:off x="630936" y="2660904"/>
            <a:ext cx="4818888" cy="3547872"/>
          </a:xfrm>
        </p:spPr>
        <p:txBody>
          <a:bodyPr anchor="t">
            <a:normAutofit/>
          </a:bodyPr>
          <a:lstStyle/>
          <a:p>
            <a:r>
              <a:rPr lang="en-US" dirty="0"/>
              <a:t>IUD – Copper (non-hormonal) or Plastic (hormonal)</a:t>
            </a:r>
          </a:p>
          <a:p>
            <a:r>
              <a:rPr lang="en-US" dirty="0"/>
              <a:t>Patch</a:t>
            </a:r>
          </a:p>
          <a:p>
            <a:r>
              <a:rPr lang="en-US" dirty="0"/>
              <a:t>Implanon/Rod </a:t>
            </a:r>
          </a:p>
          <a:p>
            <a:r>
              <a:rPr lang="en-US" dirty="0"/>
              <a:t>Injection</a:t>
            </a:r>
          </a:p>
          <a:p>
            <a:r>
              <a:rPr lang="en-US" dirty="0"/>
              <a:t>Vaginal Ring</a:t>
            </a:r>
          </a:p>
          <a:p>
            <a:r>
              <a:rPr lang="en-US" dirty="0"/>
              <a:t>Pill – Combined &amp; Mini</a:t>
            </a:r>
          </a:p>
        </p:txBody>
      </p:sp>
      <mc:AlternateContent xmlns:mc="http://schemas.openxmlformats.org/markup-compatibility/2006" xmlns:p14="http://schemas.microsoft.com/office/powerpoint/2010/main">
        <mc:Choice Requires="p14">
          <p:contentPart p14:bwMode="auto" r:id="rId2">
            <p14:nvContentPartPr>
              <p14:cNvPr id="1035" name="Ink 1034">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5755403" y="1971579"/>
              <a:ext cx="360" cy="2160"/>
            </p14:xfrm>
          </p:contentPart>
        </mc:Choice>
        <mc:Fallback xmlns="">
          <p:pic>
            <p:nvPicPr>
              <p:cNvPr id="1035" name="Ink 1034">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3"/>
              <a:stretch>
                <a:fillRect/>
              </a:stretch>
            </p:blipFill>
            <p:spPr>
              <a:xfrm>
                <a:off x="5737403" y="1956150"/>
                <a:ext cx="36000" cy="32709"/>
              </a:xfrm>
              <a:prstGeom prst="rect">
                <a:avLst/>
              </a:prstGeom>
            </p:spPr>
          </p:pic>
        </mc:Fallback>
      </mc:AlternateContent>
      <p:pic>
        <p:nvPicPr>
          <p:cNvPr id="6146" name="Picture 2" descr="Intrauterine devices (IUD)">
            <a:extLst>
              <a:ext uri="{FF2B5EF4-FFF2-40B4-BE49-F238E27FC236}">
                <a16:creationId xmlns:a16="http://schemas.microsoft.com/office/drawing/2014/main" id="{19CC23B8-BB70-1E27-1647-DF8C66FFDD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49824" y="265943"/>
            <a:ext cx="2026949" cy="2568618"/>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Birth Control Patch: How It Works, Side Effects &amp; Benefits">
            <a:extLst>
              <a:ext uri="{FF2B5EF4-FFF2-40B4-BE49-F238E27FC236}">
                <a16:creationId xmlns:a16="http://schemas.microsoft.com/office/drawing/2014/main" id="{D815E762-EB33-0E6D-91B0-6DF4E77DAC1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64137" y="98558"/>
            <a:ext cx="2543814" cy="2893438"/>
          </a:xfrm>
          <a:prstGeom prst="rect">
            <a:avLst/>
          </a:prstGeom>
          <a:noFill/>
          <a:extLst>
            <a:ext uri="{909E8E84-426E-40DD-AFC4-6F175D3DCCD1}">
              <a14:hiddenFill xmlns:a14="http://schemas.microsoft.com/office/drawing/2010/main">
                <a:solidFill>
                  <a:srgbClr val="FFFFFF"/>
                </a:solidFill>
              </a14:hiddenFill>
            </a:ext>
          </a:extLst>
        </p:spPr>
      </p:pic>
      <p:pic>
        <p:nvPicPr>
          <p:cNvPr id="6154" name="Picture 10" descr="Contraceptive Implant (The Rod)">
            <a:extLst>
              <a:ext uri="{FF2B5EF4-FFF2-40B4-BE49-F238E27FC236}">
                <a16:creationId xmlns:a16="http://schemas.microsoft.com/office/drawing/2014/main" id="{4A86DFFF-2DA8-278F-7936-678243E73ED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34913" y="4012685"/>
            <a:ext cx="3655691" cy="1827846"/>
          </a:xfrm>
          <a:prstGeom prst="rect">
            <a:avLst/>
          </a:prstGeom>
          <a:noFill/>
          <a:extLst>
            <a:ext uri="{909E8E84-426E-40DD-AFC4-6F175D3DCCD1}">
              <a14:hiddenFill xmlns:a14="http://schemas.microsoft.com/office/drawing/2010/main">
                <a:solidFill>
                  <a:srgbClr val="FFFFFF"/>
                </a:solidFill>
              </a14:hiddenFill>
            </a:ext>
          </a:extLst>
        </p:spPr>
      </p:pic>
      <p:pic>
        <p:nvPicPr>
          <p:cNvPr id="6156" name="Picture 12" descr="Depo Medroxyprogesterone | The Family Planning Association of Sri Lanka">
            <a:extLst>
              <a:ext uri="{FF2B5EF4-FFF2-40B4-BE49-F238E27FC236}">
                <a16:creationId xmlns:a16="http://schemas.microsoft.com/office/drawing/2014/main" id="{4BDA8B22-E882-3900-EFBF-D5274B5417C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08844" y="1731741"/>
            <a:ext cx="2543814" cy="1697259"/>
          </a:xfrm>
          <a:prstGeom prst="rect">
            <a:avLst/>
          </a:prstGeom>
          <a:noFill/>
          <a:extLst>
            <a:ext uri="{909E8E84-426E-40DD-AFC4-6F175D3DCCD1}">
              <a14:hiddenFill xmlns:a14="http://schemas.microsoft.com/office/drawing/2010/main">
                <a:solidFill>
                  <a:srgbClr val="FFFFFF"/>
                </a:solidFill>
              </a14:hiddenFill>
            </a:ext>
          </a:extLst>
        </p:spPr>
      </p:pic>
      <p:pic>
        <p:nvPicPr>
          <p:cNvPr id="6158" name="Picture 14" descr="Vaginal Ring (NuvaRing) | Family Planning NSW">
            <a:extLst>
              <a:ext uri="{FF2B5EF4-FFF2-40B4-BE49-F238E27FC236}">
                <a16:creationId xmlns:a16="http://schemas.microsoft.com/office/drawing/2014/main" id="{C46BA760-9704-7345-06A1-2A4036C02D3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97574" y="4967515"/>
            <a:ext cx="2527965" cy="1705862"/>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Contraception 101: Oral Contraceptives — Gynaecology and Advanced  Laparoscopic Surgery, Brisbane">
            <a:extLst>
              <a:ext uri="{FF2B5EF4-FFF2-40B4-BE49-F238E27FC236}">
                <a16:creationId xmlns:a16="http://schemas.microsoft.com/office/drawing/2014/main" id="{91179A00-3D80-1AD0-4F98-8D748C8ADE5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54287" y="3203222"/>
            <a:ext cx="2056886" cy="13712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78734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336BA-39B7-B220-EC85-352DBEB55248}"/>
              </a:ext>
            </a:extLst>
          </p:cNvPr>
          <p:cNvSpPr>
            <a:spLocks noGrp="1"/>
          </p:cNvSpPr>
          <p:nvPr>
            <p:ph type="title"/>
          </p:nvPr>
        </p:nvSpPr>
        <p:spPr/>
        <p:txBody>
          <a:bodyPr/>
          <a:lstStyle/>
          <a:p>
            <a:r>
              <a:rPr lang="en-US" dirty="0"/>
              <a:t>Copper IUD</a:t>
            </a:r>
          </a:p>
        </p:txBody>
      </p:sp>
      <p:sp>
        <p:nvSpPr>
          <p:cNvPr id="3" name="Content Placeholder 2">
            <a:extLst>
              <a:ext uri="{FF2B5EF4-FFF2-40B4-BE49-F238E27FC236}">
                <a16:creationId xmlns:a16="http://schemas.microsoft.com/office/drawing/2014/main" id="{400AC73C-FB5E-E301-0796-6B23F56F2783}"/>
              </a:ext>
            </a:extLst>
          </p:cNvPr>
          <p:cNvSpPr>
            <a:spLocks noGrp="1"/>
          </p:cNvSpPr>
          <p:nvPr>
            <p:ph sz="half" idx="1"/>
          </p:nvPr>
        </p:nvSpPr>
        <p:spPr/>
        <p:txBody>
          <a:bodyPr>
            <a:normAutofit fontScale="85000" lnSpcReduction="20000"/>
          </a:bodyPr>
          <a:lstStyle/>
          <a:p>
            <a:r>
              <a:rPr lang="en-US" sz="3200" dirty="0"/>
              <a:t>IUD = </a:t>
            </a:r>
            <a:r>
              <a:rPr lang="en-US" sz="3200" b="1" u="sng" dirty="0"/>
              <a:t>I</a:t>
            </a:r>
            <a:r>
              <a:rPr lang="en-US" sz="3200" dirty="0"/>
              <a:t>ntra-</a:t>
            </a:r>
            <a:r>
              <a:rPr lang="en-US" sz="3200" b="1" u="sng" dirty="0"/>
              <a:t>U</a:t>
            </a:r>
            <a:r>
              <a:rPr lang="en-US" sz="3200" dirty="0"/>
              <a:t>terine </a:t>
            </a:r>
            <a:r>
              <a:rPr lang="en-US" sz="3200" b="1" u="sng" dirty="0"/>
              <a:t>D</a:t>
            </a:r>
            <a:r>
              <a:rPr lang="en-US" sz="3200" dirty="0"/>
              <a:t>evice.</a:t>
            </a:r>
          </a:p>
          <a:p>
            <a:r>
              <a:rPr lang="en-US" sz="3200" dirty="0"/>
              <a:t>T shaped device with fine copper wire wrapped around the frame. </a:t>
            </a:r>
          </a:p>
          <a:p>
            <a:r>
              <a:rPr lang="en-US" sz="3200" dirty="0"/>
              <a:t>Placed inside the uterus.</a:t>
            </a:r>
          </a:p>
          <a:p>
            <a:r>
              <a:rPr lang="en-US" dirty="0"/>
              <a:t>T</a:t>
            </a:r>
            <a:r>
              <a:rPr lang="en-US" sz="3200" dirty="0"/>
              <a:t>oxic to sperm which prevents fertilisation, slows the movement of sperm and changes the lining of the uterus to prevent implantation. </a:t>
            </a:r>
          </a:p>
          <a:p>
            <a:r>
              <a:rPr lang="en-US" sz="3200" dirty="0"/>
              <a:t>They can last for 5 – 10 years </a:t>
            </a:r>
            <a:br>
              <a:rPr lang="en-US" sz="3200" dirty="0"/>
            </a:br>
            <a:r>
              <a:rPr lang="en-US" sz="3200" dirty="0"/>
              <a:t>(</a:t>
            </a:r>
            <a:r>
              <a:rPr lang="en-US" sz="3200" b="1" u="sng" dirty="0"/>
              <a:t>L</a:t>
            </a:r>
            <a:r>
              <a:rPr lang="en-US" sz="3200" dirty="0"/>
              <a:t>ong </a:t>
            </a:r>
            <a:r>
              <a:rPr lang="en-US" sz="3200" b="1" u="sng" dirty="0"/>
              <a:t>A</a:t>
            </a:r>
            <a:r>
              <a:rPr lang="en-US" sz="3200" dirty="0"/>
              <a:t>cting </a:t>
            </a:r>
            <a:r>
              <a:rPr lang="en-US" sz="3200" b="1" u="sng" dirty="0"/>
              <a:t>R</a:t>
            </a:r>
            <a:r>
              <a:rPr lang="en-US" sz="3200" dirty="0"/>
              <a:t>eversible – LAR method)</a:t>
            </a:r>
          </a:p>
          <a:p>
            <a:endParaRPr lang="en-US" dirty="0"/>
          </a:p>
        </p:txBody>
      </p:sp>
      <p:sp>
        <p:nvSpPr>
          <p:cNvPr id="4" name="Content Placeholder 3">
            <a:extLst>
              <a:ext uri="{FF2B5EF4-FFF2-40B4-BE49-F238E27FC236}">
                <a16:creationId xmlns:a16="http://schemas.microsoft.com/office/drawing/2014/main" id="{AB37B1EC-B723-6F43-67E1-3B26EB2479F6}"/>
              </a:ext>
            </a:extLst>
          </p:cNvPr>
          <p:cNvSpPr>
            <a:spLocks noGrp="1"/>
          </p:cNvSpPr>
          <p:nvPr>
            <p:ph sz="half" idx="2"/>
          </p:nvPr>
        </p:nvSpPr>
        <p:spPr/>
        <p:txBody>
          <a:bodyPr>
            <a:normAutofit fontScale="85000" lnSpcReduction="20000"/>
          </a:bodyPr>
          <a:lstStyle/>
          <a:p>
            <a:r>
              <a:rPr lang="en-US" sz="3200" dirty="0"/>
              <a:t>Side effects may include infection, uterine wall damage, heavier and longer periods, irregular bleeding. </a:t>
            </a:r>
          </a:p>
          <a:p>
            <a:r>
              <a:rPr lang="en-US" sz="3200" dirty="0"/>
              <a:t>It needs to be inserted and removed by a medical professional.</a:t>
            </a:r>
          </a:p>
          <a:p>
            <a:r>
              <a:rPr lang="en-US" sz="3200" dirty="0"/>
              <a:t>Can be used as an emergency contraception if inserted up to 5 days after unprotected sex.</a:t>
            </a:r>
          </a:p>
          <a:p>
            <a:r>
              <a:rPr lang="en-US" sz="3200" dirty="0"/>
              <a:t>99% effective.</a:t>
            </a:r>
          </a:p>
          <a:p>
            <a:r>
              <a:rPr lang="en-US" sz="3200" dirty="0"/>
              <a:t>Does not prevent STI’s</a:t>
            </a:r>
          </a:p>
        </p:txBody>
      </p:sp>
    </p:spTree>
    <p:extLst>
      <p:ext uri="{BB962C8B-B14F-4D97-AF65-F5344CB8AC3E}">
        <p14:creationId xmlns:p14="http://schemas.microsoft.com/office/powerpoint/2010/main" val="28423795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01195-351E-CBFF-9524-0DDDAEC9EB4E}"/>
              </a:ext>
            </a:extLst>
          </p:cNvPr>
          <p:cNvSpPr>
            <a:spLocks noGrp="1"/>
          </p:cNvSpPr>
          <p:nvPr>
            <p:ph type="title"/>
          </p:nvPr>
        </p:nvSpPr>
        <p:spPr/>
        <p:txBody>
          <a:bodyPr/>
          <a:lstStyle/>
          <a:p>
            <a:r>
              <a:rPr lang="en-US" dirty="0"/>
              <a:t>Hormonal/Plastic IUD</a:t>
            </a:r>
          </a:p>
        </p:txBody>
      </p:sp>
      <p:sp>
        <p:nvSpPr>
          <p:cNvPr id="3" name="Content Placeholder 2">
            <a:extLst>
              <a:ext uri="{FF2B5EF4-FFF2-40B4-BE49-F238E27FC236}">
                <a16:creationId xmlns:a16="http://schemas.microsoft.com/office/drawing/2014/main" id="{390AE283-0370-FA0B-0368-FE1D5E2CA73C}"/>
              </a:ext>
            </a:extLst>
          </p:cNvPr>
          <p:cNvSpPr>
            <a:spLocks noGrp="1"/>
          </p:cNvSpPr>
          <p:nvPr>
            <p:ph sz="half" idx="1"/>
          </p:nvPr>
        </p:nvSpPr>
        <p:spPr/>
        <p:txBody>
          <a:bodyPr>
            <a:normAutofit fontScale="92500" lnSpcReduction="20000"/>
          </a:bodyPr>
          <a:lstStyle/>
          <a:p>
            <a:r>
              <a:rPr lang="en-US" dirty="0"/>
              <a:t>IUD = </a:t>
            </a:r>
            <a:r>
              <a:rPr lang="en-US" b="1" u="sng" dirty="0"/>
              <a:t>I</a:t>
            </a:r>
            <a:r>
              <a:rPr lang="en-US" dirty="0"/>
              <a:t>ntra-</a:t>
            </a:r>
            <a:r>
              <a:rPr lang="en-US" b="1" u="sng" dirty="0"/>
              <a:t>U</a:t>
            </a:r>
            <a:r>
              <a:rPr lang="en-US" dirty="0"/>
              <a:t>terine </a:t>
            </a:r>
            <a:r>
              <a:rPr lang="en-US" b="1" u="sng" dirty="0"/>
              <a:t>D</a:t>
            </a:r>
            <a:r>
              <a:rPr lang="en-US" dirty="0"/>
              <a:t>evice.</a:t>
            </a:r>
          </a:p>
          <a:p>
            <a:r>
              <a:rPr lang="en-US" dirty="0"/>
              <a:t>A small T shaped plastic device with a hormone (levonorgestrel) in the stem.</a:t>
            </a:r>
          </a:p>
          <a:p>
            <a:r>
              <a:rPr lang="en-US" dirty="0"/>
              <a:t>Placed in the uterus. </a:t>
            </a:r>
          </a:p>
          <a:p>
            <a:r>
              <a:rPr lang="en-US" dirty="0"/>
              <a:t>Stops fertilisation and makes the mucus thicker so the sperm can’t swim to the egg.</a:t>
            </a:r>
          </a:p>
          <a:p>
            <a:r>
              <a:rPr lang="en-US" dirty="0"/>
              <a:t>Changes the uterine lining so implantation cannot occur. </a:t>
            </a:r>
          </a:p>
        </p:txBody>
      </p:sp>
      <p:sp>
        <p:nvSpPr>
          <p:cNvPr id="4" name="Content Placeholder 3">
            <a:extLst>
              <a:ext uri="{FF2B5EF4-FFF2-40B4-BE49-F238E27FC236}">
                <a16:creationId xmlns:a16="http://schemas.microsoft.com/office/drawing/2014/main" id="{FE5C83E3-AD1F-491D-2C56-96AD8807680E}"/>
              </a:ext>
            </a:extLst>
          </p:cNvPr>
          <p:cNvSpPr>
            <a:spLocks noGrp="1"/>
          </p:cNvSpPr>
          <p:nvPr>
            <p:ph sz="half" idx="2"/>
          </p:nvPr>
        </p:nvSpPr>
        <p:spPr/>
        <p:txBody>
          <a:bodyPr>
            <a:normAutofit fontScale="92500" lnSpcReduction="20000"/>
          </a:bodyPr>
          <a:lstStyle/>
          <a:p>
            <a:r>
              <a:rPr lang="en-US" dirty="0"/>
              <a:t>Lasts for 5 years (LAR method).</a:t>
            </a:r>
          </a:p>
          <a:p>
            <a:r>
              <a:rPr lang="en-US" dirty="0"/>
              <a:t>Side-effects may include bloating, headaches, mood changes, acne, lower sex drive, irregular bleeding or spotting.</a:t>
            </a:r>
          </a:p>
          <a:p>
            <a:r>
              <a:rPr lang="en-US" dirty="0"/>
              <a:t>It needs to be inserted and removed by a medical professional.</a:t>
            </a:r>
          </a:p>
          <a:p>
            <a:r>
              <a:rPr lang="en-US" dirty="0"/>
              <a:t>99% effective.</a:t>
            </a:r>
          </a:p>
          <a:p>
            <a:r>
              <a:rPr lang="en-US" dirty="0"/>
              <a:t>Does not prevent STI’s.</a:t>
            </a:r>
          </a:p>
        </p:txBody>
      </p:sp>
    </p:spTree>
    <p:extLst>
      <p:ext uri="{BB962C8B-B14F-4D97-AF65-F5344CB8AC3E}">
        <p14:creationId xmlns:p14="http://schemas.microsoft.com/office/powerpoint/2010/main" val="32860443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31" name="Rectangle 513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Picture 2" descr="Copper IUD (ParaGard) - Mayo Clinic">
            <a:extLst>
              <a:ext uri="{FF2B5EF4-FFF2-40B4-BE49-F238E27FC236}">
                <a16:creationId xmlns:a16="http://schemas.microsoft.com/office/drawing/2014/main" id="{3ED638BB-F4D3-DCC6-8852-54D5FCD09F1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18" b="24839"/>
          <a:stretch/>
        </p:blipFill>
        <p:spPr bwMode="auto">
          <a:xfrm>
            <a:off x="6196929" y="171716"/>
            <a:ext cx="5803986" cy="3171422"/>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Intrauterine Device (IUD) | University Health Service">
            <a:extLst>
              <a:ext uri="{FF2B5EF4-FFF2-40B4-BE49-F238E27FC236}">
                <a16:creationId xmlns:a16="http://schemas.microsoft.com/office/drawing/2014/main" id="{528EA0D1-D92A-FFFA-496C-C32C5C717E3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922" b="43931"/>
          <a:stretch/>
        </p:blipFill>
        <p:spPr bwMode="auto">
          <a:xfrm>
            <a:off x="6196929" y="3514856"/>
            <a:ext cx="5786386" cy="2785950"/>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Intrauterine devices (IUD)">
            <a:extLst>
              <a:ext uri="{FF2B5EF4-FFF2-40B4-BE49-F238E27FC236}">
                <a16:creationId xmlns:a16="http://schemas.microsoft.com/office/drawing/2014/main" id="{73DD07CB-2B01-6FD0-C965-1153AB3393C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0942" y="323600"/>
            <a:ext cx="5036570" cy="6382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09990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782FA-08AC-28FF-B24B-596FFEF20101}"/>
              </a:ext>
            </a:extLst>
          </p:cNvPr>
          <p:cNvSpPr>
            <a:spLocks noGrp="1"/>
          </p:cNvSpPr>
          <p:nvPr>
            <p:ph type="title"/>
          </p:nvPr>
        </p:nvSpPr>
        <p:spPr/>
        <p:txBody>
          <a:bodyPr/>
          <a:lstStyle/>
          <a:p>
            <a:r>
              <a:rPr lang="en-US" dirty="0"/>
              <a:t>Patch</a:t>
            </a:r>
          </a:p>
        </p:txBody>
      </p:sp>
      <p:sp>
        <p:nvSpPr>
          <p:cNvPr id="3" name="Content Placeholder 2">
            <a:extLst>
              <a:ext uri="{FF2B5EF4-FFF2-40B4-BE49-F238E27FC236}">
                <a16:creationId xmlns:a16="http://schemas.microsoft.com/office/drawing/2014/main" id="{79E0591E-8662-8FDC-D9A0-6EA748A382A3}"/>
              </a:ext>
            </a:extLst>
          </p:cNvPr>
          <p:cNvSpPr>
            <a:spLocks noGrp="1"/>
          </p:cNvSpPr>
          <p:nvPr>
            <p:ph idx="1"/>
          </p:nvPr>
        </p:nvSpPr>
        <p:spPr>
          <a:xfrm>
            <a:off x="838200" y="1929383"/>
            <a:ext cx="6772835" cy="4740357"/>
          </a:xfrm>
        </p:spPr>
        <p:txBody>
          <a:bodyPr>
            <a:normAutofit fontScale="92500" lnSpcReduction="20000"/>
          </a:bodyPr>
          <a:lstStyle/>
          <a:p>
            <a:r>
              <a:rPr lang="en-US" dirty="0"/>
              <a:t>Contains hormones – oestrogen and progesterone (same as the combined pill).</a:t>
            </a:r>
          </a:p>
          <a:p>
            <a:r>
              <a:rPr lang="en-US" dirty="0"/>
              <a:t>Worn on the skin like a band-aid.</a:t>
            </a:r>
          </a:p>
          <a:p>
            <a:r>
              <a:rPr lang="en-US" dirty="0"/>
              <a:t>One patch is worn for a week at a time, for 3 weeks. The 4</a:t>
            </a:r>
            <a:r>
              <a:rPr lang="en-US" baseline="30000" dirty="0"/>
              <a:t>th</a:t>
            </a:r>
            <a:r>
              <a:rPr lang="en-US" dirty="0"/>
              <a:t> week it is not worn, and menstrual bleeding will occur. </a:t>
            </a:r>
          </a:p>
          <a:p>
            <a:r>
              <a:rPr lang="en-US" dirty="0"/>
              <a:t>Releases hormones into the body that prevents ovulation from occurring. </a:t>
            </a:r>
          </a:p>
          <a:p>
            <a:r>
              <a:rPr lang="en-US" dirty="0"/>
              <a:t>Thickens cervical mucus, preventing sperm from reaching the egg. </a:t>
            </a:r>
          </a:p>
          <a:p>
            <a:r>
              <a:rPr lang="en-US" dirty="0"/>
              <a:t>Less serious side-effects may include spotting, irritation, menstrual pain, headaches, mood swings, weight gain, mood swings, blood clots etc.</a:t>
            </a:r>
          </a:p>
          <a:p>
            <a:r>
              <a:rPr lang="en-US" dirty="0"/>
              <a:t>Perfect use = 99% effective, typical use = 93% effective.</a:t>
            </a:r>
          </a:p>
          <a:p>
            <a:r>
              <a:rPr lang="en-US" dirty="0"/>
              <a:t>Does not prevent STI’s.</a:t>
            </a:r>
          </a:p>
        </p:txBody>
      </p:sp>
      <p:pic>
        <p:nvPicPr>
          <p:cNvPr id="7170" name="Picture 2" descr="Birth Control Patch: How It Works, Side Effects &amp; Benefits">
            <a:extLst>
              <a:ext uri="{FF2B5EF4-FFF2-40B4-BE49-F238E27FC236}">
                <a16:creationId xmlns:a16="http://schemas.microsoft.com/office/drawing/2014/main" id="{D733BB9A-DCA3-8048-B5F6-B4C14E3BD02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712" r="13461" b="10666"/>
          <a:stretch/>
        </p:blipFill>
        <p:spPr bwMode="auto">
          <a:xfrm>
            <a:off x="7933764" y="1904308"/>
            <a:ext cx="3638774" cy="47905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66556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50149-5749-AF62-0A91-882C5AF0EEF3}"/>
              </a:ext>
            </a:extLst>
          </p:cNvPr>
          <p:cNvSpPr>
            <a:spLocks noGrp="1"/>
          </p:cNvSpPr>
          <p:nvPr>
            <p:ph type="title"/>
          </p:nvPr>
        </p:nvSpPr>
        <p:spPr/>
        <p:txBody>
          <a:bodyPr/>
          <a:lstStyle/>
          <a:p>
            <a:r>
              <a:rPr lang="en-US" dirty="0"/>
              <a:t>IMPLANON (ROD)</a:t>
            </a:r>
          </a:p>
        </p:txBody>
      </p:sp>
      <p:sp>
        <p:nvSpPr>
          <p:cNvPr id="3" name="Content Placeholder 2">
            <a:extLst>
              <a:ext uri="{FF2B5EF4-FFF2-40B4-BE49-F238E27FC236}">
                <a16:creationId xmlns:a16="http://schemas.microsoft.com/office/drawing/2014/main" id="{1AF3B44F-4D2E-6DE3-7FDA-E28E624BF2D6}"/>
              </a:ext>
            </a:extLst>
          </p:cNvPr>
          <p:cNvSpPr>
            <a:spLocks noGrp="1"/>
          </p:cNvSpPr>
          <p:nvPr>
            <p:ph idx="1"/>
          </p:nvPr>
        </p:nvSpPr>
        <p:spPr>
          <a:xfrm>
            <a:off x="838200" y="1929383"/>
            <a:ext cx="10515600" cy="4659675"/>
          </a:xfrm>
        </p:spPr>
        <p:txBody>
          <a:bodyPr>
            <a:normAutofit/>
          </a:bodyPr>
          <a:lstStyle/>
          <a:p>
            <a:r>
              <a:rPr lang="en-US" dirty="0"/>
              <a:t>A small, thin, flexible 4cm rod that’s inserted under the skin on the inside of the upper arm. </a:t>
            </a:r>
          </a:p>
          <a:p>
            <a:r>
              <a:rPr lang="en-US" dirty="0"/>
              <a:t>Continuously releases small amounts of a progesterone hormone that prevents ovulation and thickens the cervical mucus. </a:t>
            </a:r>
          </a:p>
          <a:p>
            <a:r>
              <a:rPr lang="en-US" dirty="0"/>
              <a:t>Can be left in for up to 3 years. </a:t>
            </a:r>
          </a:p>
          <a:p>
            <a:r>
              <a:rPr lang="en-US" dirty="0"/>
              <a:t>Must be inserted and removed by a medical professional. </a:t>
            </a:r>
          </a:p>
          <a:p>
            <a:r>
              <a:rPr lang="en-US" dirty="0"/>
              <a:t>Side-effects may include a change in menstrual bleeding (irregular or </a:t>
            </a:r>
            <a:br>
              <a:rPr lang="en-US" dirty="0"/>
            </a:br>
            <a:r>
              <a:rPr lang="en-US" dirty="0"/>
              <a:t>stopping), headaches, skin changes, tender breasts, mood swings.</a:t>
            </a:r>
          </a:p>
          <a:p>
            <a:r>
              <a:rPr lang="en-US" dirty="0"/>
              <a:t>99% effective.</a:t>
            </a:r>
          </a:p>
          <a:p>
            <a:r>
              <a:rPr lang="en-US" dirty="0"/>
              <a:t>Does not prevent STI’s.</a:t>
            </a:r>
          </a:p>
        </p:txBody>
      </p:sp>
      <p:pic>
        <p:nvPicPr>
          <p:cNvPr id="2050" name="Picture 2" descr="Contraceptive Implant | Implanon insertion &amp; side effects - Sexual Health  Victoria">
            <a:extLst>
              <a:ext uri="{FF2B5EF4-FFF2-40B4-BE49-F238E27FC236}">
                <a16:creationId xmlns:a16="http://schemas.microsoft.com/office/drawing/2014/main" id="{82C049F1-BD61-FF1F-F0DB-67FEB0E02A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07624" y="3696080"/>
            <a:ext cx="4984376" cy="31619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6172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44C87-8687-85DD-E99B-D80BC40629D8}"/>
              </a:ext>
            </a:extLst>
          </p:cNvPr>
          <p:cNvSpPr>
            <a:spLocks noGrp="1"/>
          </p:cNvSpPr>
          <p:nvPr>
            <p:ph type="title"/>
          </p:nvPr>
        </p:nvSpPr>
        <p:spPr/>
        <p:txBody>
          <a:bodyPr/>
          <a:lstStyle/>
          <a:p>
            <a:r>
              <a:rPr lang="en-US" dirty="0"/>
              <a:t>INJECTION (DEPO-PROVERA)</a:t>
            </a:r>
          </a:p>
        </p:txBody>
      </p:sp>
      <p:sp>
        <p:nvSpPr>
          <p:cNvPr id="3" name="Content Placeholder 2">
            <a:extLst>
              <a:ext uri="{FF2B5EF4-FFF2-40B4-BE49-F238E27FC236}">
                <a16:creationId xmlns:a16="http://schemas.microsoft.com/office/drawing/2014/main" id="{6B07C35F-5645-F15C-9838-FDAFD1C929B7}"/>
              </a:ext>
            </a:extLst>
          </p:cNvPr>
          <p:cNvSpPr>
            <a:spLocks noGrp="1"/>
          </p:cNvSpPr>
          <p:nvPr>
            <p:ph idx="1"/>
          </p:nvPr>
        </p:nvSpPr>
        <p:spPr>
          <a:xfrm>
            <a:off x="838200" y="1929383"/>
            <a:ext cx="10515600" cy="4800601"/>
          </a:xfrm>
        </p:spPr>
        <p:txBody>
          <a:bodyPr>
            <a:normAutofit lnSpcReduction="10000"/>
          </a:bodyPr>
          <a:lstStyle/>
          <a:p>
            <a:r>
              <a:rPr lang="en-US" dirty="0"/>
              <a:t>Contains progesterone. </a:t>
            </a:r>
          </a:p>
          <a:p>
            <a:r>
              <a:rPr lang="en-US" dirty="0"/>
              <a:t>Injected into the buttock or upper arm muscle once every 3 months. It is only effective for that 3 months. </a:t>
            </a:r>
          </a:p>
          <a:p>
            <a:r>
              <a:rPr lang="en-US" dirty="0"/>
              <a:t>Prevents ovulation and thickens cervical mucus, preventing sperm from entering the uterus. </a:t>
            </a:r>
          </a:p>
          <a:p>
            <a:r>
              <a:rPr lang="en-US" dirty="0"/>
              <a:t>Needs to be administered by a medical professional and requires a prescription. </a:t>
            </a:r>
          </a:p>
          <a:p>
            <a:r>
              <a:rPr lang="en-US" dirty="0"/>
              <a:t>Side-effects may include weight gain, mood swings, , headaches, irregular, longer bleeding </a:t>
            </a:r>
            <a:br>
              <a:rPr lang="en-US" dirty="0"/>
            </a:br>
            <a:r>
              <a:rPr lang="en-US" dirty="0"/>
              <a:t>or heavier bleeding, bone thinning, can take up to 18 months for fertility to return </a:t>
            </a:r>
            <a:br>
              <a:rPr lang="en-US" dirty="0"/>
            </a:br>
            <a:r>
              <a:rPr lang="en-US" dirty="0"/>
              <a:t>after stopping use.</a:t>
            </a:r>
          </a:p>
          <a:p>
            <a:r>
              <a:rPr lang="en-US" dirty="0"/>
              <a:t>Perfect use = 99% effective, typical use = 95% effective.</a:t>
            </a:r>
          </a:p>
          <a:p>
            <a:r>
              <a:rPr lang="en-US" dirty="0"/>
              <a:t>Does not prevent STI’s.</a:t>
            </a:r>
          </a:p>
        </p:txBody>
      </p:sp>
      <p:pic>
        <p:nvPicPr>
          <p:cNvPr id="4" name="Picture 12" descr="Depo Medroxyprogesterone | The Family Planning Association of Sri Lanka">
            <a:extLst>
              <a:ext uri="{FF2B5EF4-FFF2-40B4-BE49-F238E27FC236}">
                <a16:creationId xmlns:a16="http://schemas.microsoft.com/office/drawing/2014/main" id="{08C07055-174B-4187-A054-730E5555FA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99934" y="3904805"/>
            <a:ext cx="4592066" cy="30638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81276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B18B6-EFC0-0135-7B51-7E91525BF406}"/>
              </a:ext>
            </a:extLst>
          </p:cNvPr>
          <p:cNvSpPr>
            <a:spLocks noGrp="1"/>
          </p:cNvSpPr>
          <p:nvPr>
            <p:ph type="title"/>
          </p:nvPr>
        </p:nvSpPr>
        <p:spPr/>
        <p:txBody>
          <a:bodyPr/>
          <a:lstStyle/>
          <a:p>
            <a:r>
              <a:rPr lang="en-US" dirty="0"/>
              <a:t>VAGINAL RING</a:t>
            </a:r>
          </a:p>
        </p:txBody>
      </p:sp>
      <p:sp>
        <p:nvSpPr>
          <p:cNvPr id="3" name="Content Placeholder 2">
            <a:extLst>
              <a:ext uri="{FF2B5EF4-FFF2-40B4-BE49-F238E27FC236}">
                <a16:creationId xmlns:a16="http://schemas.microsoft.com/office/drawing/2014/main" id="{E8735FF3-AE37-DD25-A345-DC463B217433}"/>
              </a:ext>
            </a:extLst>
          </p:cNvPr>
          <p:cNvSpPr>
            <a:spLocks noGrp="1"/>
          </p:cNvSpPr>
          <p:nvPr>
            <p:ph idx="1"/>
          </p:nvPr>
        </p:nvSpPr>
        <p:spPr>
          <a:xfrm>
            <a:off x="838200" y="1929384"/>
            <a:ext cx="5715000" cy="4782312"/>
          </a:xfrm>
        </p:spPr>
        <p:txBody>
          <a:bodyPr>
            <a:normAutofit lnSpcReduction="10000"/>
          </a:bodyPr>
          <a:lstStyle/>
          <a:p>
            <a:r>
              <a:rPr lang="en-US" dirty="0"/>
              <a:t>Delivers low doses of oestrogen and progesterone.</a:t>
            </a:r>
          </a:p>
          <a:p>
            <a:r>
              <a:rPr lang="en-US" dirty="0"/>
              <a:t>Suppresses ovulation and thickens cervical mucus. </a:t>
            </a:r>
          </a:p>
          <a:p>
            <a:r>
              <a:rPr lang="en-US" dirty="0"/>
              <a:t>Inserted into the vagina.</a:t>
            </a:r>
          </a:p>
          <a:p>
            <a:r>
              <a:rPr lang="en-US" dirty="0"/>
              <a:t>It is inserted for 3 weeks and removed for 1 week, during which menstrual bleeding will occur. A new ring is then inserted.</a:t>
            </a:r>
          </a:p>
          <a:p>
            <a:r>
              <a:rPr lang="en-US" dirty="0"/>
              <a:t>Side-effects may include irregular bleeding, nausea, sore breasts, headaches, bloating, mood swings. </a:t>
            </a:r>
          </a:p>
          <a:p>
            <a:r>
              <a:rPr lang="en-US" dirty="0"/>
              <a:t>Perfect use = 99% effective, typical use = 93% effective.</a:t>
            </a:r>
          </a:p>
          <a:p>
            <a:r>
              <a:rPr lang="en-US" dirty="0"/>
              <a:t>Does not prevent STI’s.</a:t>
            </a:r>
          </a:p>
        </p:txBody>
      </p:sp>
      <p:pic>
        <p:nvPicPr>
          <p:cNvPr id="8194" name="Picture 2" descr="Nuvaring Birth Control · Vaginal Ring NYC | Birth Control Specialists">
            <a:extLst>
              <a:ext uri="{FF2B5EF4-FFF2-40B4-BE49-F238E27FC236}">
                <a16:creationId xmlns:a16="http://schemas.microsoft.com/office/drawing/2014/main" id="{1B33D98D-9334-CD74-7EC4-96A6C7D489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3200" y="2346558"/>
            <a:ext cx="5422392" cy="349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51678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314DC-83DC-43CE-9AFB-DCEA0E440A8E}"/>
              </a:ext>
            </a:extLst>
          </p:cNvPr>
          <p:cNvSpPr>
            <a:spLocks noGrp="1"/>
          </p:cNvSpPr>
          <p:nvPr>
            <p:ph type="title"/>
          </p:nvPr>
        </p:nvSpPr>
        <p:spPr/>
        <p:txBody>
          <a:bodyPr/>
          <a:lstStyle/>
          <a:p>
            <a:r>
              <a:rPr lang="en-US" dirty="0"/>
              <a:t>COMBINED PILL &amp; Mini Pill</a:t>
            </a:r>
          </a:p>
        </p:txBody>
      </p:sp>
      <p:sp>
        <p:nvSpPr>
          <p:cNvPr id="3" name="Content Placeholder 2">
            <a:extLst>
              <a:ext uri="{FF2B5EF4-FFF2-40B4-BE49-F238E27FC236}">
                <a16:creationId xmlns:a16="http://schemas.microsoft.com/office/drawing/2014/main" id="{4F6FE6AF-104E-CC0C-069A-69B49975CA5E}"/>
              </a:ext>
            </a:extLst>
          </p:cNvPr>
          <p:cNvSpPr>
            <a:spLocks noGrp="1"/>
          </p:cNvSpPr>
          <p:nvPr>
            <p:ph sz="half" idx="1"/>
          </p:nvPr>
        </p:nvSpPr>
        <p:spPr>
          <a:xfrm>
            <a:off x="838200" y="1929383"/>
            <a:ext cx="5181600" cy="4563491"/>
          </a:xfrm>
        </p:spPr>
        <p:txBody>
          <a:bodyPr>
            <a:normAutofit fontScale="70000" lnSpcReduction="20000"/>
          </a:bodyPr>
          <a:lstStyle/>
          <a:p>
            <a:r>
              <a:rPr lang="en-US" dirty="0"/>
              <a:t>A pill taken daily that contains hormones. </a:t>
            </a:r>
          </a:p>
          <a:p>
            <a:r>
              <a:rPr lang="en-US" dirty="0"/>
              <a:t>Combined Pill = Oestrogen AND Progesterone, Mini Pill = Progesterone.</a:t>
            </a:r>
          </a:p>
          <a:p>
            <a:r>
              <a:rPr lang="en-US" dirty="0"/>
              <a:t>Works in 3 ways:</a:t>
            </a:r>
          </a:p>
          <a:p>
            <a:pPr lvl="1"/>
            <a:r>
              <a:rPr lang="en-US" dirty="0"/>
              <a:t>Temporarily prevents ovulation. </a:t>
            </a:r>
          </a:p>
          <a:p>
            <a:pPr lvl="1"/>
            <a:r>
              <a:rPr lang="en-US" dirty="0"/>
              <a:t>Temporarily thins the lining of the uterus, preventing implantation.</a:t>
            </a:r>
          </a:p>
          <a:p>
            <a:pPr lvl="1"/>
            <a:r>
              <a:rPr lang="en-US" dirty="0"/>
              <a:t>Thickens cervical mucus to prevent sperm entering the uterus. </a:t>
            </a:r>
          </a:p>
          <a:p>
            <a:r>
              <a:rPr lang="en-US" dirty="0"/>
              <a:t>Must be taken every day. If it is forgotten, it can result in an unplanned pregnancy if sexual intercourse occurs. </a:t>
            </a:r>
          </a:p>
          <a:p>
            <a:r>
              <a:rPr lang="en-US" dirty="0"/>
              <a:t>A hormonal pill is taken daily for 3 weeks, and in the 4</a:t>
            </a:r>
            <a:r>
              <a:rPr lang="en-US" baseline="30000" dirty="0"/>
              <a:t>th</a:t>
            </a:r>
            <a:r>
              <a:rPr lang="en-US" dirty="0"/>
              <a:t> week a sugar pill is taken, and this allows for menstrual bleeding to occur.</a:t>
            </a:r>
          </a:p>
          <a:p>
            <a:r>
              <a:rPr lang="en-US" dirty="0"/>
              <a:t>Effectiveness of the pill can be affected by severe vomiting, diarrhoea, or with antibiotics. </a:t>
            </a:r>
          </a:p>
          <a:p>
            <a:endParaRPr lang="en-US" dirty="0"/>
          </a:p>
        </p:txBody>
      </p:sp>
      <p:sp>
        <p:nvSpPr>
          <p:cNvPr id="4" name="Content Placeholder 3">
            <a:extLst>
              <a:ext uri="{FF2B5EF4-FFF2-40B4-BE49-F238E27FC236}">
                <a16:creationId xmlns:a16="http://schemas.microsoft.com/office/drawing/2014/main" id="{1F8B2158-B667-463D-1560-0ED9D29D10A0}"/>
              </a:ext>
            </a:extLst>
          </p:cNvPr>
          <p:cNvSpPr>
            <a:spLocks noGrp="1"/>
          </p:cNvSpPr>
          <p:nvPr>
            <p:ph sz="half" idx="2"/>
          </p:nvPr>
        </p:nvSpPr>
        <p:spPr>
          <a:xfrm>
            <a:off x="6172199" y="1929384"/>
            <a:ext cx="5650831" cy="4251960"/>
          </a:xfrm>
        </p:spPr>
        <p:txBody>
          <a:bodyPr>
            <a:normAutofit fontScale="70000" lnSpcReduction="20000"/>
          </a:bodyPr>
          <a:lstStyle/>
          <a:p>
            <a:r>
              <a:rPr lang="en-US" dirty="0"/>
              <a:t>It can help make periods regular, can improve acne, can help manage other painful menstruation symptoms.</a:t>
            </a:r>
          </a:p>
          <a:p>
            <a:r>
              <a:rPr lang="en-US" dirty="0"/>
              <a:t>Side-effects may include weight gain, mood swings, nausea, bleeding, blood clotting, ovarian cysts, depression.</a:t>
            </a:r>
          </a:p>
          <a:p>
            <a:r>
              <a:rPr lang="en-US" dirty="0"/>
              <a:t>A prescription is needed for the pill. </a:t>
            </a:r>
          </a:p>
          <a:p>
            <a:r>
              <a:rPr lang="en-US" dirty="0"/>
              <a:t>There are many options of the pill available with different hormone dosages. </a:t>
            </a:r>
          </a:p>
          <a:p>
            <a:r>
              <a:rPr lang="en-US" dirty="0"/>
              <a:t>Perfect use = 99% effective, typical use = 91% effective.</a:t>
            </a:r>
          </a:p>
          <a:p>
            <a:r>
              <a:rPr lang="en-US" dirty="0"/>
              <a:t>Does not prevent STI’s</a:t>
            </a:r>
          </a:p>
          <a:p>
            <a:endParaRPr lang="en-US" dirty="0"/>
          </a:p>
        </p:txBody>
      </p:sp>
      <p:pic>
        <p:nvPicPr>
          <p:cNvPr id="1026" name="Picture 2" descr="Is it okay to delay your period with birth control pills? | Think Twice">
            <a:extLst>
              <a:ext uri="{FF2B5EF4-FFF2-40B4-BE49-F238E27FC236}">
                <a16:creationId xmlns:a16="http://schemas.microsoft.com/office/drawing/2014/main" id="{28AC50DF-CD6E-A2F9-F1FB-C255459B893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8036"/>
          <a:stretch/>
        </p:blipFill>
        <p:spPr bwMode="auto">
          <a:xfrm>
            <a:off x="8768614" y="4674971"/>
            <a:ext cx="3054416" cy="21067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58087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ED1D94F-BC8C-4ABD-9133-E5FE8FD01D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Close-up of stacked books">
            <a:extLst>
              <a:ext uri="{FF2B5EF4-FFF2-40B4-BE49-F238E27FC236}">
                <a16:creationId xmlns:a16="http://schemas.microsoft.com/office/drawing/2014/main" id="{1233A9E2-CD78-7B1E-EF6D-8FC4ABA8F96F}"/>
              </a:ext>
            </a:extLst>
          </p:cNvPr>
          <p:cNvPicPr>
            <a:picLocks noChangeAspect="1"/>
          </p:cNvPicPr>
          <p:nvPr/>
        </p:nvPicPr>
        <p:blipFill rotWithShape="1">
          <a:blip r:embed="rId2">
            <a:alphaModFix amt="40000"/>
          </a:blip>
          <a:srcRect/>
          <a:stretch/>
        </p:blipFill>
        <p:spPr>
          <a:xfrm>
            <a:off x="20" y="0"/>
            <a:ext cx="12191980" cy="6858000"/>
          </a:xfrm>
          <a:prstGeom prst="rect">
            <a:avLst/>
          </a:prstGeom>
        </p:spPr>
      </p:pic>
      <p:sp>
        <p:nvSpPr>
          <p:cNvPr id="2" name="Title 1">
            <a:extLst>
              <a:ext uri="{FF2B5EF4-FFF2-40B4-BE49-F238E27FC236}">
                <a16:creationId xmlns:a16="http://schemas.microsoft.com/office/drawing/2014/main" id="{D5298AA8-A15B-DFA3-A2A3-E27B380AC424}"/>
              </a:ext>
            </a:extLst>
          </p:cNvPr>
          <p:cNvSpPr>
            <a:spLocks noGrp="1"/>
          </p:cNvSpPr>
          <p:nvPr>
            <p:ph type="title"/>
          </p:nvPr>
        </p:nvSpPr>
        <p:spPr>
          <a:xfrm>
            <a:off x="7525512" y="494951"/>
            <a:ext cx="4023360" cy="5722227"/>
          </a:xfrm>
        </p:spPr>
        <p:txBody>
          <a:bodyPr>
            <a:normAutofit/>
          </a:bodyPr>
          <a:lstStyle/>
          <a:p>
            <a:r>
              <a:rPr lang="en-US" sz="7200" dirty="0"/>
              <a:t>GLOSSARY: </a:t>
            </a:r>
            <a:r>
              <a:rPr lang="en-US" sz="7200" dirty="0">
                <a:highlight>
                  <a:srgbClr val="FFFF00"/>
                </a:highlight>
              </a:rPr>
              <a:t>(pg. 8)</a:t>
            </a:r>
            <a:endParaRPr lang="en-US" sz="7200" dirty="0"/>
          </a:p>
        </p:txBody>
      </p:sp>
      <p:sp>
        <p:nvSpPr>
          <p:cNvPr id="3" name="Content Placeholder 2">
            <a:extLst>
              <a:ext uri="{FF2B5EF4-FFF2-40B4-BE49-F238E27FC236}">
                <a16:creationId xmlns:a16="http://schemas.microsoft.com/office/drawing/2014/main" id="{DA1F88F0-F259-08F8-24F9-BD80B00CB17B}"/>
              </a:ext>
            </a:extLst>
          </p:cNvPr>
          <p:cNvSpPr>
            <a:spLocks noGrp="1"/>
          </p:cNvSpPr>
          <p:nvPr>
            <p:ph idx="1"/>
          </p:nvPr>
        </p:nvSpPr>
        <p:spPr>
          <a:xfrm>
            <a:off x="841248" y="850392"/>
            <a:ext cx="5824728" cy="5001768"/>
          </a:xfrm>
        </p:spPr>
        <p:txBody>
          <a:bodyPr anchor="ctr">
            <a:normAutofit/>
          </a:bodyPr>
          <a:lstStyle/>
          <a:p>
            <a:pPr marL="0" indent="0">
              <a:buNone/>
            </a:pPr>
            <a:endParaRPr lang="en-US" dirty="0"/>
          </a:p>
          <a:p>
            <a:r>
              <a:rPr lang="en-US" b="1" i="1" dirty="0"/>
              <a:t>Barrier Method:</a:t>
            </a:r>
          </a:p>
          <a:p>
            <a:pPr lvl="1"/>
            <a:r>
              <a:rPr lang="en-US" dirty="0"/>
              <a:t>P</a:t>
            </a:r>
            <a:r>
              <a:rPr lang="en-US" sz="2400" dirty="0"/>
              <a:t>uts a barrier between the penis and the vagina and stops the sperm from meeting the egg</a:t>
            </a:r>
            <a:r>
              <a:rPr lang="en-US" dirty="0"/>
              <a:t>. </a:t>
            </a:r>
          </a:p>
          <a:p>
            <a:pPr lvl="1"/>
            <a:endParaRPr lang="en-US" dirty="0"/>
          </a:p>
          <a:p>
            <a:r>
              <a:rPr lang="en-US" b="1" i="1" dirty="0"/>
              <a:t>Hormonal Method:</a:t>
            </a:r>
          </a:p>
          <a:p>
            <a:pPr lvl="1"/>
            <a:r>
              <a:rPr lang="en-US" sz="2400" dirty="0"/>
              <a:t>Regulates or stops ovulation and so preventing pregnancy</a:t>
            </a:r>
            <a:r>
              <a:rPr lang="en-US" sz="2400" b="1" dirty="0"/>
              <a:t>.</a:t>
            </a:r>
            <a:endParaRPr lang="en-US" b="1" i="1" dirty="0"/>
          </a:p>
          <a:p>
            <a:pPr lvl="1"/>
            <a:endParaRPr lang="en-US" dirty="0"/>
          </a:p>
          <a:p>
            <a:endParaRPr lang="en-US" dirty="0"/>
          </a:p>
        </p:txBody>
      </p:sp>
      <p:sp>
        <p:nvSpPr>
          <p:cNvPr id="14" name="sketchy content container">
            <a:extLst>
              <a:ext uri="{FF2B5EF4-FFF2-40B4-BE49-F238E27FC236}">
                <a16:creationId xmlns:a16="http://schemas.microsoft.com/office/drawing/2014/main" id="{65C49067-A40C-4881-A0C6-21B6125510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75" y="494951"/>
            <a:ext cx="6229604" cy="5722227"/>
          </a:xfrm>
          <a:custGeom>
            <a:avLst/>
            <a:gdLst>
              <a:gd name="connsiteX0" fmla="*/ 0 w 6229604"/>
              <a:gd name="connsiteY0" fmla="*/ 0 h 5722227"/>
              <a:gd name="connsiteX1" fmla="*/ 629882 w 6229604"/>
              <a:gd name="connsiteY1" fmla="*/ 0 h 5722227"/>
              <a:gd name="connsiteX2" fmla="*/ 1135172 w 6229604"/>
              <a:gd name="connsiteY2" fmla="*/ 0 h 5722227"/>
              <a:gd name="connsiteX3" fmla="*/ 1951943 w 6229604"/>
              <a:gd name="connsiteY3" fmla="*/ 0 h 5722227"/>
              <a:gd name="connsiteX4" fmla="*/ 2581825 w 6229604"/>
              <a:gd name="connsiteY4" fmla="*/ 0 h 5722227"/>
              <a:gd name="connsiteX5" fmla="*/ 3211707 w 6229604"/>
              <a:gd name="connsiteY5" fmla="*/ 0 h 5722227"/>
              <a:gd name="connsiteX6" fmla="*/ 4028477 w 6229604"/>
              <a:gd name="connsiteY6" fmla="*/ 0 h 5722227"/>
              <a:gd name="connsiteX7" fmla="*/ 4596063 w 6229604"/>
              <a:gd name="connsiteY7" fmla="*/ 0 h 5722227"/>
              <a:gd name="connsiteX8" fmla="*/ 5412834 w 6229604"/>
              <a:gd name="connsiteY8" fmla="*/ 0 h 5722227"/>
              <a:gd name="connsiteX9" fmla="*/ 6229604 w 6229604"/>
              <a:gd name="connsiteY9" fmla="*/ 0 h 5722227"/>
              <a:gd name="connsiteX10" fmla="*/ 6229604 w 6229604"/>
              <a:gd name="connsiteY10" fmla="*/ 635803 h 5722227"/>
              <a:gd name="connsiteX11" fmla="*/ 6229604 w 6229604"/>
              <a:gd name="connsiteY11" fmla="*/ 1271606 h 5722227"/>
              <a:gd name="connsiteX12" fmla="*/ 6229604 w 6229604"/>
              <a:gd name="connsiteY12" fmla="*/ 1964631 h 5722227"/>
              <a:gd name="connsiteX13" fmla="*/ 6229604 w 6229604"/>
              <a:gd name="connsiteY13" fmla="*/ 2428767 h 5722227"/>
              <a:gd name="connsiteX14" fmla="*/ 6229604 w 6229604"/>
              <a:gd name="connsiteY14" fmla="*/ 3064570 h 5722227"/>
              <a:gd name="connsiteX15" fmla="*/ 6229604 w 6229604"/>
              <a:gd name="connsiteY15" fmla="*/ 3700373 h 5722227"/>
              <a:gd name="connsiteX16" fmla="*/ 6229604 w 6229604"/>
              <a:gd name="connsiteY16" fmla="*/ 4336176 h 5722227"/>
              <a:gd name="connsiteX17" fmla="*/ 6229604 w 6229604"/>
              <a:gd name="connsiteY17" fmla="*/ 5029202 h 5722227"/>
              <a:gd name="connsiteX18" fmla="*/ 6229604 w 6229604"/>
              <a:gd name="connsiteY18" fmla="*/ 5722227 h 5722227"/>
              <a:gd name="connsiteX19" fmla="*/ 5475130 w 6229604"/>
              <a:gd name="connsiteY19" fmla="*/ 5722227 h 5722227"/>
              <a:gd name="connsiteX20" fmla="*/ 4907544 w 6229604"/>
              <a:gd name="connsiteY20" fmla="*/ 5722227 h 5722227"/>
              <a:gd name="connsiteX21" fmla="*/ 4090773 w 6229604"/>
              <a:gd name="connsiteY21" fmla="*/ 5722227 h 5722227"/>
              <a:gd name="connsiteX22" fmla="*/ 3398595 w 6229604"/>
              <a:gd name="connsiteY22" fmla="*/ 5722227 h 5722227"/>
              <a:gd name="connsiteX23" fmla="*/ 2831009 w 6229604"/>
              <a:gd name="connsiteY23" fmla="*/ 5722227 h 5722227"/>
              <a:gd name="connsiteX24" fmla="*/ 2138831 w 6229604"/>
              <a:gd name="connsiteY24" fmla="*/ 5722227 h 5722227"/>
              <a:gd name="connsiteX25" fmla="*/ 1633541 w 6229604"/>
              <a:gd name="connsiteY25" fmla="*/ 5722227 h 5722227"/>
              <a:gd name="connsiteX26" fmla="*/ 1128251 w 6229604"/>
              <a:gd name="connsiteY26" fmla="*/ 5722227 h 5722227"/>
              <a:gd name="connsiteX27" fmla="*/ 0 w 6229604"/>
              <a:gd name="connsiteY27" fmla="*/ 5722227 h 5722227"/>
              <a:gd name="connsiteX28" fmla="*/ 0 w 6229604"/>
              <a:gd name="connsiteY28" fmla="*/ 5200869 h 5722227"/>
              <a:gd name="connsiteX29" fmla="*/ 0 w 6229604"/>
              <a:gd name="connsiteY29" fmla="*/ 4450621 h 5722227"/>
              <a:gd name="connsiteX30" fmla="*/ 0 w 6229604"/>
              <a:gd name="connsiteY30" fmla="*/ 3872040 h 5722227"/>
              <a:gd name="connsiteX31" fmla="*/ 0 w 6229604"/>
              <a:gd name="connsiteY31" fmla="*/ 3407904 h 5722227"/>
              <a:gd name="connsiteX32" fmla="*/ 0 w 6229604"/>
              <a:gd name="connsiteY32" fmla="*/ 2714879 h 5722227"/>
              <a:gd name="connsiteX33" fmla="*/ 0 w 6229604"/>
              <a:gd name="connsiteY33" fmla="*/ 2193520 h 5722227"/>
              <a:gd name="connsiteX34" fmla="*/ 0 w 6229604"/>
              <a:gd name="connsiteY34" fmla="*/ 1500495 h 5722227"/>
              <a:gd name="connsiteX35" fmla="*/ 0 w 6229604"/>
              <a:gd name="connsiteY35" fmla="*/ 750248 h 5722227"/>
              <a:gd name="connsiteX36" fmla="*/ 0 w 6229604"/>
              <a:gd name="connsiteY36" fmla="*/ 0 h 5722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229604" h="5722227" extrusionOk="0">
                <a:moveTo>
                  <a:pt x="0" y="0"/>
                </a:moveTo>
                <a:cubicBezTo>
                  <a:pt x="134765" y="733"/>
                  <a:pt x="359555" y="-15387"/>
                  <a:pt x="629882" y="0"/>
                </a:cubicBezTo>
                <a:cubicBezTo>
                  <a:pt x="900209" y="15387"/>
                  <a:pt x="965450" y="15937"/>
                  <a:pt x="1135172" y="0"/>
                </a:cubicBezTo>
                <a:cubicBezTo>
                  <a:pt x="1304894" y="-15937"/>
                  <a:pt x="1787212" y="10921"/>
                  <a:pt x="1951943" y="0"/>
                </a:cubicBezTo>
                <a:cubicBezTo>
                  <a:pt x="2116674" y="-10921"/>
                  <a:pt x="2378222" y="13313"/>
                  <a:pt x="2581825" y="0"/>
                </a:cubicBezTo>
                <a:cubicBezTo>
                  <a:pt x="2785428" y="-13313"/>
                  <a:pt x="2915218" y="19972"/>
                  <a:pt x="3211707" y="0"/>
                </a:cubicBezTo>
                <a:cubicBezTo>
                  <a:pt x="3508196" y="-19972"/>
                  <a:pt x="3832828" y="-34359"/>
                  <a:pt x="4028477" y="0"/>
                </a:cubicBezTo>
                <a:cubicBezTo>
                  <a:pt x="4224126" y="34359"/>
                  <a:pt x="4361257" y="4467"/>
                  <a:pt x="4596063" y="0"/>
                </a:cubicBezTo>
                <a:cubicBezTo>
                  <a:pt x="4830869" y="-4467"/>
                  <a:pt x="5091403" y="-7365"/>
                  <a:pt x="5412834" y="0"/>
                </a:cubicBezTo>
                <a:cubicBezTo>
                  <a:pt x="5734265" y="7365"/>
                  <a:pt x="6034988" y="-26786"/>
                  <a:pt x="6229604" y="0"/>
                </a:cubicBezTo>
                <a:cubicBezTo>
                  <a:pt x="6208296" y="256153"/>
                  <a:pt x="6219810" y="335049"/>
                  <a:pt x="6229604" y="635803"/>
                </a:cubicBezTo>
                <a:cubicBezTo>
                  <a:pt x="6239398" y="936557"/>
                  <a:pt x="6230184" y="1092448"/>
                  <a:pt x="6229604" y="1271606"/>
                </a:cubicBezTo>
                <a:cubicBezTo>
                  <a:pt x="6229024" y="1450764"/>
                  <a:pt x="6217841" y="1797531"/>
                  <a:pt x="6229604" y="1964631"/>
                </a:cubicBezTo>
                <a:cubicBezTo>
                  <a:pt x="6241367" y="2131731"/>
                  <a:pt x="6220367" y="2235822"/>
                  <a:pt x="6229604" y="2428767"/>
                </a:cubicBezTo>
                <a:cubicBezTo>
                  <a:pt x="6238841" y="2621712"/>
                  <a:pt x="6220929" y="2925917"/>
                  <a:pt x="6229604" y="3064570"/>
                </a:cubicBezTo>
                <a:cubicBezTo>
                  <a:pt x="6238279" y="3203223"/>
                  <a:pt x="6256755" y="3501958"/>
                  <a:pt x="6229604" y="3700373"/>
                </a:cubicBezTo>
                <a:cubicBezTo>
                  <a:pt x="6202453" y="3898788"/>
                  <a:pt x="6201714" y="4046823"/>
                  <a:pt x="6229604" y="4336176"/>
                </a:cubicBezTo>
                <a:cubicBezTo>
                  <a:pt x="6257494" y="4625529"/>
                  <a:pt x="6258821" y="4774033"/>
                  <a:pt x="6229604" y="5029202"/>
                </a:cubicBezTo>
                <a:cubicBezTo>
                  <a:pt x="6200387" y="5284371"/>
                  <a:pt x="6233334" y="5383875"/>
                  <a:pt x="6229604" y="5722227"/>
                </a:cubicBezTo>
                <a:cubicBezTo>
                  <a:pt x="6016393" y="5707881"/>
                  <a:pt x="5684528" y="5751176"/>
                  <a:pt x="5475130" y="5722227"/>
                </a:cubicBezTo>
                <a:cubicBezTo>
                  <a:pt x="5265732" y="5693278"/>
                  <a:pt x="5082862" y="5732690"/>
                  <a:pt x="4907544" y="5722227"/>
                </a:cubicBezTo>
                <a:cubicBezTo>
                  <a:pt x="4732226" y="5711764"/>
                  <a:pt x="4474837" y="5716289"/>
                  <a:pt x="4090773" y="5722227"/>
                </a:cubicBezTo>
                <a:cubicBezTo>
                  <a:pt x="3706709" y="5728165"/>
                  <a:pt x="3645902" y="5723973"/>
                  <a:pt x="3398595" y="5722227"/>
                </a:cubicBezTo>
                <a:cubicBezTo>
                  <a:pt x="3151288" y="5720481"/>
                  <a:pt x="3001606" y="5732695"/>
                  <a:pt x="2831009" y="5722227"/>
                </a:cubicBezTo>
                <a:cubicBezTo>
                  <a:pt x="2660412" y="5711759"/>
                  <a:pt x="2424161" y="5689878"/>
                  <a:pt x="2138831" y="5722227"/>
                </a:cubicBezTo>
                <a:cubicBezTo>
                  <a:pt x="1853501" y="5754576"/>
                  <a:pt x="1788223" y="5720540"/>
                  <a:pt x="1633541" y="5722227"/>
                </a:cubicBezTo>
                <a:cubicBezTo>
                  <a:pt x="1478859" y="5723915"/>
                  <a:pt x="1324151" y="5739059"/>
                  <a:pt x="1128251" y="5722227"/>
                </a:cubicBezTo>
                <a:cubicBezTo>
                  <a:pt x="932351" y="5705396"/>
                  <a:pt x="522340" y="5691488"/>
                  <a:pt x="0" y="5722227"/>
                </a:cubicBezTo>
                <a:cubicBezTo>
                  <a:pt x="-8445" y="5596771"/>
                  <a:pt x="-11215" y="5344833"/>
                  <a:pt x="0" y="5200869"/>
                </a:cubicBezTo>
                <a:cubicBezTo>
                  <a:pt x="11215" y="5056905"/>
                  <a:pt x="20310" y="4693766"/>
                  <a:pt x="0" y="4450621"/>
                </a:cubicBezTo>
                <a:cubicBezTo>
                  <a:pt x="-20310" y="4207476"/>
                  <a:pt x="817" y="4075053"/>
                  <a:pt x="0" y="3872040"/>
                </a:cubicBezTo>
                <a:cubicBezTo>
                  <a:pt x="-817" y="3669027"/>
                  <a:pt x="-21729" y="3595882"/>
                  <a:pt x="0" y="3407904"/>
                </a:cubicBezTo>
                <a:cubicBezTo>
                  <a:pt x="21729" y="3219926"/>
                  <a:pt x="-30605" y="3052469"/>
                  <a:pt x="0" y="2714879"/>
                </a:cubicBezTo>
                <a:cubicBezTo>
                  <a:pt x="30605" y="2377289"/>
                  <a:pt x="-16081" y="2430808"/>
                  <a:pt x="0" y="2193520"/>
                </a:cubicBezTo>
                <a:cubicBezTo>
                  <a:pt x="16081" y="1956232"/>
                  <a:pt x="18120" y="1817979"/>
                  <a:pt x="0" y="1500495"/>
                </a:cubicBezTo>
                <a:cubicBezTo>
                  <a:pt x="-18120" y="1183011"/>
                  <a:pt x="23969" y="972269"/>
                  <a:pt x="0" y="750248"/>
                </a:cubicBezTo>
                <a:cubicBezTo>
                  <a:pt x="-23969" y="528227"/>
                  <a:pt x="-3769" y="358360"/>
                  <a:pt x="0" y="0"/>
                </a:cubicBezTo>
                <a:close/>
              </a:path>
            </a:pathLst>
          </a:custGeom>
          <a:noFill/>
          <a:ln w="25400">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2174DFB-8830-EBE1-20F8-A5003F1A9046}"/>
              </a:ext>
            </a:extLst>
          </p:cNvPr>
          <p:cNvSpPr txBox="1"/>
          <p:nvPr/>
        </p:nvSpPr>
        <p:spPr>
          <a:xfrm>
            <a:off x="7188999" y="4147981"/>
            <a:ext cx="4696385" cy="1200329"/>
          </a:xfrm>
          <a:prstGeom prst="rect">
            <a:avLst/>
          </a:prstGeom>
          <a:noFill/>
        </p:spPr>
        <p:txBody>
          <a:bodyPr wrap="square">
            <a:spAutoFit/>
          </a:bodyPr>
          <a:lstStyle/>
          <a:p>
            <a:pPr algn="ctr"/>
            <a:r>
              <a:rPr lang="en-US" sz="2400" dirty="0"/>
              <a:t>At the front of your books is your glossary. </a:t>
            </a:r>
          </a:p>
          <a:p>
            <a:pPr algn="ctr"/>
            <a:r>
              <a:rPr lang="en-US" sz="2400" dirty="0"/>
              <a:t>Turn to your glossary and add the following words and their definitions:</a:t>
            </a:r>
          </a:p>
        </p:txBody>
      </p:sp>
    </p:spTree>
    <p:extLst>
      <p:ext uri="{BB962C8B-B14F-4D97-AF65-F5344CB8AC3E}">
        <p14:creationId xmlns:p14="http://schemas.microsoft.com/office/powerpoint/2010/main" val="2633503867"/>
      </p:ext>
    </p:extLst>
  </p:cSld>
  <p:clrMapOvr>
    <a:overrideClrMapping bg1="dk1" tx1="lt1" bg2="dk2" tx2="lt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9D5F66-176A-D284-9E37-13377101B488}"/>
              </a:ext>
            </a:extLst>
          </p:cNvPr>
          <p:cNvSpPr>
            <a:spLocks noGrp="1"/>
          </p:cNvSpPr>
          <p:nvPr>
            <p:ph type="title"/>
          </p:nvPr>
        </p:nvSpPr>
        <p:spPr>
          <a:xfrm>
            <a:off x="630936" y="640080"/>
            <a:ext cx="4818888" cy="1481328"/>
          </a:xfrm>
        </p:spPr>
        <p:txBody>
          <a:bodyPr anchor="b">
            <a:normAutofit/>
          </a:bodyPr>
          <a:lstStyle/>
          <a:p>
            <a:r>
              <a:rPr lang="en-US" sz="5600" dirty="0">
                <a:solidFill>
                  <a:srgbClr val="FFC000"/>
                </a:solidFill>
              </a:rPr>
              <a:t>NATURAL METHODS:</a:t>
            </a:r>
          </a:p>
        </p:txBody>
      </p:sp>
      <p:sp>
        <p:nvSpPr>
          <p:cNvPr id="1033"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2386584"/>
            <a:ext cx="4114800" cy="18288"/>
          </a:xfrm>
          <a:custGeom>
            <a:avLst/>
            <a:gdLst>
              <a:gd name="connsiteX0" fmla="*/ 0 w 4114800"/>
              <a:gd name="connsiteY0" fmla="*/ 0 h 18288"/>
              <a:gd name="connsiteX1" fmla="*/ 768096 w 4114800"/>
              <a:gd name="connsiteY1" fmla="*/ 0 h 18288"/>
              <a:gd name="connsiteX2" fmla="*/ 1495044 w 4114800"/>
              <a:gd name="connsiteY2" fmla="*/ 0 h 18288"/>
              <a:gd name="connsiteX3" fmla="*/ 2221992 w 4114800"/>
              <a:gd name="connsiteY3" fmla="*/ 0 h 18288"/>
              <a:gd name="connsiteX4" fmla="*/ 2784348 w 4114800"/>
              <a:gd name="connsiteY4" fmla="*/ 0 h 18288"/>
              <a:gd name="connsiteX5" fmla="*/ 3387852 w 4114800"/>
              <a:gd name="connsiteY5" fmla="*/ 0 h 18288"/>
              <a:gd name="connsiteX6" fmla="*/ 4114800 w 4114800"/>
              <a:gd name="connsiteY6" fmla="*/ 0 h 18288"/>
              <a:gd name="connsiteX7" fmla="*/ 4114800 w 4114800"/>
              <a:gd name="connsiteY7" fmla="*/ 18288 h 18288"/>
              <a:gd name="connsiteX8" fmla="*/ 3429000 w 4114800"/>
              <a:gd name="connsiteY8" fmla="*/ 18288 h 18288"/>
              <a:gd name="connsiteX9" fmla="*/ 2866644 w 4114800"/>
              <a:gd name="connsiteY9" fmla="*/ 18288 h 18288"/>
              <a:gd name="connsiteX10" fmla="*/ 2304288 w 4114800"/>
              <a:gd name="connsiteY10" fmla="*/ 18288 h 18288"/>
              <a:gd name="connsiteX11" fmla="*/ 1577340 w 4114800"/>
              <a:gd name="connsiteY11" fmla="*/ 18288 h 18288"/>
              <a:gd name="connsiteX12" fmla="*/ 973836 w 4114800"/>
              <a:gd name="connsiteY12" fmla="*/ 18288 h 18288"/>
              <a:gd name="connsiteX13" fmla="*/ 0 w 4114800"/>
              <a:gd name="connsiteY13" fmla="*/ 18288 h 18288"/>
              <a:gd name="connsiteX14" fmla="*/ 0 w 411480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14800" h="18288" fill="none" extrusionOk="0">
                <a:moveTo>
                  <a:pt x="0" y="0"/>
                </a:moveTo>
                <a:cubicBezTo>
                  <a:pt x="338280" y="-26110"/>
                  <a:pt x="483942" y="6555"/>
                  <a:pt x="768096" y="0"/>
                </a:cubicBezTo>
                <a:cubicBezTo>
                  <a:pt x="1052250" y="-6555"/>
                  <a:pt x="1331484" y="24616"/>
                  <a:pt x="1495044" y="0"/>
                </a:cubicBezTo>
                <a:cubicBezTo>
                  <a:pt x="1658604" y="-24616"/>
                  <a:pt x="2056661" y="-33562"/>
                  <a:pt x="2221992" y="0"/>
                </a:cubicBezTo>
                <a:cubicBezTo>
                  <a:pt x="2387323" y="33562"/>
                  <a:pt x="2629463" y="-20094"/>
                  <a:pt x="2784348" y="0"/>
                </a:cubicBezTo>
                <a:cubicBezTo>
                  <a:pt x="2939233" y="20094"/>
                  <a:pt x="3151981" y="1524"/>
                  <a:pt x="3387852" y="0"/>
                </a:cubicBezTo>
                <a:cubicBezTo>
                  <a:pt x="3623723" y="-1524"/>
                  <a:pt x="3882724" y="26165"/>
                  <a:pt x="4114800" y="0"/>
                </a:cubicBezTo>
                <a:cubicBezTo>
                  <a:pt x="4114300" y="8855"/>
                  <a:pt x="4114909" y="14521"/>
                  <a:pt x="4114800" y="18288"/>
                </a:cubicBezTo>
                <a:cubicBezTo>
                  <a:pt x="3910038" y="37744"/>
                  <a:pt x="3683432" y="-3969"/>
                  <a:pt x="3429000" y="18288"/>
                </a:cubicBezTo>
                <a:cubicBezTo>
                  <a:pt x="3174568" y="40545"/>
                  <a:pt x="3085815" y="44166"/>
                  <a:pt x="2866644" y="18288"/>
                </a:cubicBezTo>
                <a:cubicBezTo>
                  <a:pt x="2647473" y="-7590"/>
                  <a:pt x="2580474" y="31338"/>
                  <a:pt x="2304288" y="18288"/>
                </a:cubicBezTo>
                <a:cubicBezTo>
                  <a:pt x="2028102" y="5238"/>
                  <a:pt x="1863008" y="-2001"/>
                  <a:pt x="1577340" y="18288"/>
                </a:cubicBezTo>
                <a:cubicBezTo>
                  <a:pt x="1291672" y="38577"/>
                  <a:pt x="1243931" y="9893"/>
                  <a:pt x="973836" y="18288"/>
                </a:cubicBezTo>
                <a:cubicBezTo>
                  <a:pt x="703741" y="26683"/>
                  <a:pt x="317656" y="-5910"/>
                  <a:pt x="0" y="18288"/>
                </a:cubicBezTo>
                <a:cubicBezTo>
                  <a:pt x="683" y="12014"/>
                  <a:pt x="724" y="5908"/>
                  <a:pt x="0" y="0"/>
                </a:cubicBezTo>
                <a:close/>
              </a:path>
              <a:path w="4114800" h="18288" stroke="0" extrusionOk="0">
                <a:moveTo>
                  <a:pt x="0" y="0"/>
                </a:moveTo>
                <a:cubicBezTo>
                  <a:pt x="276109" y="5266"/>
                  <a:pt x="325589" y="-19584"/>
                  <a:pt x="644652" y="0"/>
                </a:cubicBezTo>
                <a:cubicBezTo>
                  <a:pt x="963715" y="19584"/>
                  <a:pt x="1064991" y="6066"/>
                  <a:pt x="1207008" y="0"/>
                </a:cubicBezTo>
                <a:cubicBezTo>
                  <a:pt x="1349025" y="-6066"/>
                  <a:pt x="1791724" y="14506"/>
                  <a:pt x="1975104" y="0"/>
                </a:cubicBezTo>
                <a:cubicBezTo>
                  <a:pt x="2158484" y="-14506"/>
                  <a:pt x="2397469" y="20822"/>
                  <a:pt x="2619756" y="0"/>
                </a:cubicBezTo>
                <a:cubicBezTo>
                  <a:pt x="2842043" y="-20822"/>
                  <a:pt x="2992157" y="20388"/>
                  <a:pt x="3264408" y="0"/>
                </a:cubicBezTo>
                <a:cubicBezTo>
                  <a:pt x="3536659" y="-20388"/>
                  <a:pt x="3855620" y="38211"/>
                  <a:pt x="4114800" y="0"/>
                </a:cubicBezTo>
                <a:cubicBezTo>
                  <a:pt x="4113902" y="7180"/>
                  <a:pt x="4114969" y="13790"/>
                  <a:pt x="4114800" y="18288"/>
                </a:cubicBezTo>
                <a:cubicBezTo>
                  <a:pt x="3968901" y="8593"/>
                  <a:pt x="3623428" y="17559"/>
                  <a:pt x="3429000" y="18288"/>
                </a:cubicBezTo>
                <a:cubicBezTo>
                  <a:pt x="3234572" y="19017"/>
                  <a:pt x="3085079" y="41804"/>
                  <a:pt x="2866644" y="18288"/>
                </a:cubicBezTo>
                <a:cubicBezTo>
                  <a:pt x="2648209" y="-5228"/>
                  <a:pt x="2451737" y="24580"/>
                  <a:pt x="2180844" y="18288"/>
                </a:cubicBezTo>
                <a:cubicBezTo>
                  <a:pt x="1909951" y="11996"/>
                  <a:pt x="1681589" y="12244"/>
                  <a:pt x="1495044" y="18288"/>
                </a:cubicBezTo>
                <a:cubicBezTo>
                  <a:pt x="1308499" y="24332"/>
                  <a:pt x="1136614" y="21789"/>
                  <a:pt x="850392" y="18288"/>
                </a:cubicBezTo>
                <a:cubicBezTo>
                  <a:pt x="564170" y="14787"/>
                  <a:pt x="210636" y="54701"/>
                  <a:pt x="0" y="18288"/>
                </a:cubicBezTo>
                <a:cubicBezTo>
                  <a:pt x="571" y="10093"/>
                  <a:pt x="-125" y="8407"/>
                  <a:pt x="0" y="0"/>
                </a:cubicBezTo>
                <a:close/>
              </a:path>
            </a:pathLst>
          </a:custGeom>
          <a:solidFill>
            <a:srgbClr val="FACA7B"/>
          </a:solidFill>
          <a:ln w="38100" cap="rnd">
            <a:solidFill>
              <a:srgbClr val="FACA7B"/>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48779AD-8338-FFA8-7169-02716D657F68}"/>
              </a:ext>
            </a:extLst>
          </p:cNvPr>
          <p:cNvSpPr>
            <a:spLocks noGrp="1"/>
          </p:cNvSpPr>
          <p:nvPr>
            <p:ph idx="1"/>
          </p:nvPr>
        </p:nvSpPr>
        <p:spPr>
          <a:xfrm>
            <a:off x="630936" y="2660904"/>
            <a:ext cx="4818888" cy="3547872"/>
          </a:xfrm>
        </p:spPr>
        <p:txBody>
          <a:bodyPr anchor="t">
            <a:normAutofit/>
          </a:bodyPr>
          <a:lstStyle/>
          <a:p>
            <a:r>
              <a:rPr lang="en-US" dirty="0"/>
              <a:t>Calendar (Rhythm Method)</a:t>
            </a:r>
          </a:p>
          <a:p>
            <a:pPr lvl="1"/>
            <a:r>
              <a:rPr lang="en-US" dirty="0"/>
              <a:t>Basal Body Temperature</a:t>
            </a:r>
          </a:p>
          <a:p>
            <a:pPr lvl="1"/>
            <a:r>
              <a:rPr lang="en-US" dirty="0"/>
              <a:t>Cervical Mucus </a:t>
            </a:r>
          </a:p>
          <a:p>
            <a:pPr lvl="1"/>
            <a:r>
              <a:rPr lang="en-US" dirty="0"/>
              <a:t>Ovulation Awareness</a:t>
            </a:r>
          </a:p>
          <a:p>
            <a:r>
              <a:rPr lang="en-US" dirty="0"/>
              <a:t>Withdrawal</a:t>
            </a:r>
          </a:p>
          <a:p>
            <a:r>
              <a:rPr lang="en-US" dirty="0"/>
              <a:t>Abstinence</a:t>
            </a:r>
          </a:p>
        </p:txBody>
      </p:sp>
      <mc:AlternateContent xmlns:mc="http://schemas.openxmlformats.org/markup-compatibility/2006" xmlns:p14="http://schemas.microsoft.com/office/powerpoint/2010/main">
        <mc:Choice Requires="p14">
          <p:contentPart p14:bwMode="auto" r:id="rId2">
            <p14:nvContentPartPr>
              <p14:cNvPr id="1035" name="Ink 1034">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5755403" y="1971579"/>
              <a:ext cx="360" cy="2160"/>
            </p14:xfrm>
          </p:contentPart>
        </mc:Choice>
        <mc:Fallback xmlns="">
          <p:pic>
            <p:nvPicPr>
              <p:cNvPr id="1035" name="Ink 1034">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3"/>
              <a:stretch>
                <a:fillRect/>
              </a:stretch>
            </p:blipFill>
            <p:spPr>
              <a:xfrm>
                <a:off x="5737403" y="1956150"/>
                <a:ext cx="36000" cy="32709"/>
              </a:xfrm>
              <a:prstGeom prst="rect">
                <a:avLst/>
              </a:prstGeom>
            </p:spPr>
          </p:pic>
        </mc:Fallback>
      </mc:AlternateContent>
      <p:pic>
        <p:nvPicPr>
          <p:cNvPr id="5122" name="Picture 2" descr="Contraception - Natural methods: Nursing - Biblioteca de Osmosis">
            <a:extLst>
              <a:ext uri="{FF2B5EF4-FFF2-40B4-BE49-F238E27FC236}">
                <a16:creationId xmlns:a16="http://schemas.microsoft.com/office/drawing/2014/main" id="{CEB788FA-96E9-CC6A-97F9-54DE032988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59563" y="1944504"/>
            <a:ext cx="7732437" cy="43494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62961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6ACFE-2C5B-7831-25B3-573ABC6B5D59}"/>
              </a:ext>
            </a:extLst>
          </p:cNvPr>
          <p:cNvSpPr>
            <a:spLocks noGrp="1"/>
          </p:cNvSpPr>
          <p:nvPr>
            <p:ph type="title"/>
          </p:nvPr>
        </p:nvSpPr>
        <p:spPr/>
        <p:txBody>
          <a:bodyPr/>
          <a:lstStyle/>
          <a:p>
            <a:r>
              <a:rPr lang="en-US" dirty="0"/>
              <a:t>Natural Methods</a:t>
            </a:r>
          </a:p>
        </p:txBody>
      </p:sp>
      <p:sp>
        <p:nvSpPr>
          <p:cNvPr id="3" name="Content Placeholder 2">
            <a:extLst>
              <a:ext uri="{FF2B5EF4-FFF2-40B4-BE49-F238E27FC236}">
                <a16:creationId xmlns:a16="http://schemas.microsoft.com/office/drawing/2014/main" id="{293C6BC2-927D-A792-41A7-285108A582C5}"/>
              </a:ext>
            </a:extLst>
          </p:cNvPr>
          <p:cNvSpPr>
            <a:spLocks noGrp="1"/>
          </p:cNvSpPr>
          <p:nvPr>
            <p:ph idx="1"/>
          </p:nvPr>
        </p:nvSpPr>
        <p:spPr/>
        <p:txBody>
          <a:bodyPr>
            <a:normAutofit lnSpcReduction="10000"/>
          </a:bodyPr>
          <a:lstStyle/>
          <a:p>
            <a:r>
              <a:rPr lang="en-US" dirty="0"/>
              <a:t>Involve finding out when a woman is at her most fertile so she can be extra careful or avoid sex all together during these times. </a:t>
            </a:r>
          </a:p>
          <a:p>
            <a:r>
              <a:rPr lang="en-US" dirty="0"/>
              <a:t>A combination of techniques is recommended for increased effectiveness.</a:t>
            </a:r>
          </a:p>
          <a:p>
            <a:r>
              <a:rPr lang="en-US" dirty="0"/>
              <a:t>Methods include: </a:t>
            </a:r>
          </a:p>
          <a:p>
            <a:pPr lvl="1"/>
            <a:r>
              <a:rPr lang="en-US" dirty="0"/>
              <a:t>Calendar (Rhythm) method</a:t>
            </a:r>
          </a:p>
          <a:p>
            <a:pPr lvl="1"/>
            <a:r>
              <a:rPr lang="en-US" dirty="0"/>
              <a:t>Basal body temperature</a:t>
            </a:r>
          </a:p>
          <a:p>
            <a:pPr lvl="1"/>
            <a:r>
              <a:rPr lang="en-US" dirty="0"/>
              <a:t>Cervical mucous method</a:t>
            </a:r>
          </a:p>
          <a:p>
            <a:pPr lvl="1"/>
            <a:r>
              <a:rPr lang="en-US" dirty="0"/>
              <a:t>Ovulation awareness method</a:t>
            </a:r>
          </a:p>
          <a:p>
            <a:pPr lvl="1"/>
            <a:r>
              <a:rPr lang="en-US" dirty="0"/>
              <a:t>Withdrawal </a:t>
            </a:r>
          </a:p>
        </p:txBody>
      </p:sp>
      <p:pic>
        <p:nvPicPr>
          <p:cNvPr id="4098" name="Picture 2" descr="Contraception - Natural methods: Nursing - Biblioteca de Osmosis">
            <a:extLst>
              <a:ext uri="{FF2B5EF4-FFF2-40B4-BE49-F238E27FC236}">
                <a16:creationId xmlns:a16="http://schemas.microsoft.com/office/drawing/2014/main" id="{1CA50178-1759-7D8A-342F-0909CBE3A7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3539326"/>
            <a:ext cx="5736238" cy="30961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08943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BAD1D-4282-BF5C-6C02-2C1A72D6CB67}"/>
              </a:ext>
            </a:extLst>
          </p:cNvPr>
          <p:cNvSpPr>
            <a:spLocks noGrp="1"/>
          </p:cNvSpPr>
          <p:nvPr>
            <p:ph type="title"/>
          </p:nvPr>
        </p:nvSpPr>
        <p:spPr/>
        <p:txBody>
          <a:bodyPr/>
          <a:lstStyle/>
          <a:p>
            <a:r>
              <a:rPr lang="en-US" dirty="0"/>
              <a:t>Rhythm Method</a:t>
            </a:r>
          </a:p>
        </p:txBody>
      </p:sp>
      <p:sp>
        <p:nvSpPr>
          <p:cNvPr id="3" name="Content Placeholder 2">
            <a:extLst>
              <a:ext uri="{FF2B5EF4-FFF2-40B4-BE49-F238E27FC236}">
                <a16:creationId xmlns:a16="http://schemas.microsoft.com/office/drawing/2014/main" id="{2C273D10-A870-F92D-DEA6-FB2DDD4F98C1}"/>
              </a:ext>
            </a:extLst>
          </p:cNvPr>
          <p:cNvSpPr>
            <a:spLocks noGrp="1"/>
          </p:cNvSpPr>
          <p:nvPr>
            <p:ph idx="1"/>
          </p:nvPr>
        </p:nvSpPr>
        <p:spPr>
          <a:xfrm>
            <a:off x="838200" y="1929383"/>
            <a:ext cx="10927976" cy="4713464"/>
          </a:xfrm>
        </p:spPr>
        <p:txBody>
          <a:bodyPr>
            <a:normAutofit fontScale="85000" lnSpcReduction="20000"/>
          </a:bodyPr>
          <a:lstStyle/>
          <a:p>
            <a:r>
              <a:rPr lang="en-US" dirty="0"/>
              <a:t>Used for females only with regular menstrual cycles. </a:t>
            </a:r>
          </a:p>
          <a:p>
            <a:r>
              <a:rPr lang="en-US" dirty="0"/>
              <a:t>This is done depending on the exact knowledge of ovulation and avoiding intercourse during the ovulation days. </a:t>
            </a:r>
          </a:p>
          <a:p>
            <a:r>
              <a:rPr lang="en-US" dirty="0"/>
              <a:t>For example: in a regular period that occurs every 28 days, ovulation should take place on day 14, so intercourse should be avoided 4-5 days before and after ovulation. </a:t>
            </a:r>
          </a:p>
          <a:p>
            <a:r>
              <a:rPr lang="en-US" dirty="0"/>
              <a:t>Ovulation can be detected by:</a:t>
            </a:r>
          </a:p>
          <a:p>
            <a:pPr lvl="1"/>
            <a:r>
              <a:rPr lang="en-US" dirty="0"/>
              <a:t>Basal body temperature – Increased body temperature by approx. 0.5 C</a:t>
            </a:r>
          </a:p>
          <a:p>
            <a:pPr lvl="1"/>
            <a:r>
              <a:rPr lang="en-US" dirty="0"/>
              <a:t>Cervical mucus – Change in type of cervical mucous </a:t>
            </a:r>
          </a:p>
          <a:p>
            <a:pPr lvl="1"/>
            <a:r>
              <a:rPr lang="en-US" dirty="0"/>
              <a:t>Ovulation awareness - Using an ovulation kit which can measure the amount of LH hormone present on that day. </a:t>
            </a:r>
          </a:p>
          <a:p>
            <a:r>
              <a:rPr lang="en-US" dirty="0"/>
              <a:t>There are apps available that allow women to track their menstrual cycle, body temperature, predicted ovulation etc. </a:t>
            </a:r>
          </a:p>
          <a:p>
            <a:r>
              <a:rPr lang="en-US" dirty="0"/>
              <a:t>Perfect use = 95% effective, typical use = ~75% effective.</a:t>
            </a:r>
          </a:p>
          <a:p>
            <a:r>
              <a:rPr lang="en-US" dirty="0"/>
              <a:t>Does not prevent STI’s.</a:t>
            </a:r>
          </a:p>
        </p:txBody>
      </p:sp>
    </p:spTree>
    <p:extLst>
      <p:ext uri="{BB962C8B-B14F-4D97-AF65-F5344CB8AC3E}">
        <p14:creationId xmlns:p14="http://schemas.microsoft.com/office/powerpoint/2010/main" val="7586218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Is Natural Family Planning a good contraceptive tool? - The OBGYN Mum">
            <a:extLst>
              <a:ext uri="{FF2B5EF4-FFF2-40B4-BE49-F238E27FC236}">
                <a16:creationId xmlns:a16="http://schemas.microsoft.com/office/drawing/2014/main" id="{D380B2D1-6993-5628-6968-6AA0F04075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6291" y="633334"/>
            <a:ext cx="8707669" cy="580511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79F93B4-1CE3-BED8-2120-3446DF63EC3A}"/>
              </a:ext>
            </a:extLst>
          </p:cNvPr>
          <p:cNvSpPr txBox="1"/>
          <p:nvPr/>
        </p:nvSpPr>
        <p:spPr>
          <a:xfrm>
            <a:off x="9561080" y="456247"/>
            <a:ext cx="2308485" cy="6401753"/>
          </a:xfrm>
          <a:prstGeom prst="rect">
            <a:avLst/>
          </a:prstGeom>
          <a:noFill/>
        </p:spPr>
        <p:txBody>
          <a:bodyPr wrap="square" rtlCol="0">
            <a:spAutoFit/>
          </a:bodyPr>
          <a:lstStyle/>
          <a:p>
            <a:pPr algn="ctr"/>
            <a:r>
              <a:rPr lang="en-US" sz="2800" dirty="0"/>
              <a:t>Fertility windows are different for every person, and it does rely on a regular menstrual cycle, so it is still important to exercise caution if a person does not want to get pregnant. </a:t>
            </a:r>
          </a:p>
          <a:p>
            <a:pPr algn="ctr"/>
            <a:endParaRPr lang="en-US" sz="2800" dirty="0"/>
          </a:p>
          <a:p>
            <a:pPr algn="ctr"/>
            <a:r>
              <a:rPr lang="en-US" sz="2800" dirty="0"/>
              <a:t>While uncommon and the chances are lower, a person can still fall pregnant while on their period. </a:t>
            </a:r>
          </a:p>
          <a:p>
            <a:endParaRPr lang="en-US" dirty="0"/>
          </a:p>
        </p:txBody>
      </p:sp>
    </p:spTree>
    <p:extLst>
      <p:ext uri="{BB962C8B-B14F-4D97-AF65-F5344CB8AC3E}">
        <p14:creationId xmlns:p14="http://schemas.microsoft.com/office/powerpoint/2010/main" val="23957219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54F2B-27AE-73D1-103D-19E7D3118C90}"/>
              </a:ext>
            </a:extLst>
          </p:cNvPr>
          <p:cNvSpPr>
            <a:spLocks noGrp="1"/>
          </p:cNvSpPr>
          <p:nvPr>
            <p:ph type="title"/>
          </p:nvPr>
        </p:nvSpPr>
        <p:spPr/>
        <p:txBody>
          <a:bodyPr/>
          <a:lstStyle/>
          <a:p>
            <a:r>
              <a:rPr lang="en-US" dirty="0"/>
              <a:t>Withdrawal</a:t>
            </a:r>
          </a:p>
        </p:txBody>
      </p:sp>
      <p:sp>
        <p:nvSpPr>
          <p:cNvPr id="3" name="Content Placeholder 2">
            <a:extLst>
              <a:ext uri="{FF2B5EF4-FFF2-40B4-BE49-F238E27FC236}">
                <a16:creationId xmlns:a16="http://schemas.microsoft.com/office/drawing/2014/main" id="{41925D3D-B295-FD6D-01CF-8059B9C51C12}"/>
              </a:ext>
            </a:extLst>
          </p:cNvPr>
          <p:cNvSpPr>
            <a:spLocks noGrp="1"/>
          </p:cNvSpPr>
          <p:nvPr>
            <p:ph idx="1"/>
          </p:nvPr>
        </p:nvSpPr>
        <p:spPr>
          <a:xfrm>
            <a:off x="838200" y="1929384"/>
            <a:ext cx="5024718" cy="4251960"/>
          </a:xfrm>
        </p:spPr>
        <p:txBody>
          <a:bodyPr>
            <a:normAutofit lnSpcReduction="10000"/>
          </a:bodyPr>
          <a:lstStyle/>
          <a:p>
            <a:r>
              <a:rPr lang="en-US" dirty="0"/>
              <a:t>A.K.A. Coitus Interruptus or ‘pulling out.’</a:t>
            </a:r>
          </a:p>
          <a:p>
            <a:r>
              <a:rPr lang="en-US" dirty="0"/>
              <a:t>The withdrawal/removal of the penis from the vagina before ejaculation occurs. </a:t>
            </a:r>
          </a:p>
          <a:p>
            <a:r>
              <a:rPr lang="en-US" dirty="0"/>
              <a:t>Relies on timing and self-control. </a:t>
            </a:r>
          </a:p>
          <a:p>
            <a:r>
              <a:rPr lang="en-US" dirty="0"/>
              <a:t>Still a chance of pregnancy as pre-ejaculate (the fluid before ejaculation) can contain sperm. </a:t>
            </a:r>
          </a:p>
          <a:p>
            <a:r>
              <a:rPr lang="en-US" dirty="0"/>
              <a:t>Perfect use = 96%, typical use = 78%</a:t>
            </a:r>
          </a:p>
          <a:p>
            <a:r>
              <a:rPr lang="en-US" dirty="0"/>
              <a:t>Does not prevent STI’s.</a:t>
            </a:r>
          </a:p>
        </p:txBody>
      </p:sp>
      <p:pic>
        <p:nvPicPr>
          <p:cNvPr id="5122" name="Picture 2" descr="A contraceptive method in which the male partner withdraws his penis from  the vagina just before ejaculation as to avoid insemination, is called">
            <a:extLst>
              <a:ext uri="{FF2B5EF4-FFF2-40B4-BE49-F238E27FC236}">
                <a16:creationId xmlns:a16="http://schemas.microsoft.com/office/drawing/2014/main" id="{9F66EF46-78EA-2D02-4D08-A29E9377522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971" t="3061" r="2644" b="13648"/>
          <a:stretch/>
        </p:blipFill>
        <p:spPr bwMode="auto">
          <a:xfrm>
            <a:off x="5862918" y="3550023"/>
            <a:ext cx="6145306" cy="319905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Female reproductive system uterus diagram Vector Image">
            <a:extLst>
              <a:ext uri="{FF2B5EF4-FFF2-40B4-BE49-F238E27FC236}">
                <a16:creationId xmlns:a16="http://schemas.microsoft.com/office/drawing/2014/main" id="{4B86F6ED-B3FA-6A02-00B1-C4CD2822B5D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6788" b="27302"/>
          <a:stretch/>
        </p:blipFill>
        <p:spPr bwMode="auto">
          <a:xfrm>
            <a:off x="5935158" y="286635"/>
            <a:ext cx="6000826" cy="2617164"/>
          </a:xfrm>
          <a:prstGeom prst="rect">
            <a:avLst/>
          </a:prstGeom>
          <a:noFill/>
          <a:extLst>
            <a:ext uri="{909E8E84-426E-40DD-AFC4-6F175D3DCCD1}">
              <a14:hiddenFill xmlns:a14="http://schemas.microsoft.com/office/drawing/2010/main">
                <a:solidFill>
                  <a:srgbClr val="FFFFFF"/>
                </a:solidFill>
              </a14:hiddenFill>
            </a:ext>
          </a:extLst>
        </p:spPr>
      </p:pic>
      <p:sp>
        <p:nvSpPr>
          <p:cNvPr id="4" name="Oval 3">
            <a:extLst>
              <a:ext uri="{FF2B5EF4-FFF2-40B4-BE49-F238E27FC236}">
                <a16:creationId xmlns:a16="http://schemas.microsoft.com/office/drawing/2014/main" id="{6597F43F-D8ED-681F-2084-98964FA2E484}"/>
              </a:ext>
            </a:extLst>
          </p:cNvPr>
          <p:cNvSpPr/>
          <p:nvPr/>
        </p:nvSpPr>
        <p:spPr>
          <a:xfrm>
            <a:off x="8174577" y="1553376"/>
            <a:ext cx="1548882" cy="1422639"/>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094B606D-9517-ED79-EDE4-86357F0B691E}"/>
              </a:ext>
            </a:extLst>
          </p:cNvPr>
          <p:cNvCxnSpPr>
            <a:stCxn id="4" idx="3"/>
          </p:cNvCxnSpPr>
          <p:nvPr/>
        </p:nvCxnSpPr>
        <p:spPr>
          <a:xfrm flipH="1">
            <a:off x="7678271" y="2767674"/>
            <a:ext cx="723135" cy="71013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9559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Withdrawal - Avort.md">
            <a:extLst>
              <a:ext uri="{FF2B5EF4-FFF2-40B4-BE49-F238E27FC236}">
                <a16:creationId xmlns:a16="http://schemas.microsoft.com/office/drawing/2014/main" id="{13518E93-C334-AFD4-B431-B69FE177DF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7552" y="1000310"/>
            <a:ext cx="6736930" cy="504619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FFE0379-ECCD-8166-1A55-BDFB8D0D0E91}"/>
              </a:ext>
            </a:extLst>
          </p:cNvPr>
          <p:cNvSpPr txBox="1"/>
          <p:nvPr/>
        </p:nvSpPr>
        <p:spPr>
          <a:xfrm>
            <a:off x="8054788" y="1322804"/>
            <a:ext cx="3738283" cy="4401205"/>
          </a:xfrm>
          <a:prstGeom prst="rect">
            <a:avLst/>
          </a:prstGeom>
          <a:noFill/>
        </p:spPr>
        <p:txBody>
          <a:bodyPr wrap="square" rtlCol="0">
            <a:spAutoFit/>
          </a:bodyPr>
          <a:lstStyle/>
          <a:p>
            <a:pPr marL="285750" indent="-285750">
              <a:buFont typeface="Arial" panose="020B0604020202020204" pitchFamily="34" charset="0"/>
              <a:buChar char="•"/>
            </a:pPr>
            <a:r>
              <a:rPr lang="en-US" sz="2800" dirty="0"/>
              <a:t>Pre-ejaculate can still contain semen, meaning there is still a chance pregnancy could occur. </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r>
              <a:rPr lang="en-US" sz="2800" dirty="0"/>
              <a:t>If using the withdrawal method, it is important for the ejaculate to be away from the vulva/vaginal opening. </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r>
              <a:rPr lang="en-US" sz="2800" dirty="0"/>
              <a:t>Withdrawal method can be partnered with a hormonal method. </a:t>
            </a:r>
          </a:p>
        </p:txBody>
      </p:sp>
    </p:spTree>
    <p:extLst>
      <p:ext uri="{BB962C8B-B14F-4D97-AF65-F5344CB8AC3E}">
        <p14:creationId xmlns:p14="http://schemas.microsoft.com/office/powerpoint/2010/main" val="23728784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A167A-5EDB-09D4-7C36-BEDD73FFA3BE}"/>
              </a:ext>
            </a:extLst>
          </p:cNvPr>
          <p:cNvSpPr>
            <a:spLocks noGrp="1"/>
          </p:cNvSpPr>
          <p:nvPr>
            <p:ph type="title"/>
          </p:nvPr>
        </p:nvSpPr>
        <p:spPr/>
        <p:txBody>
          <a:bodyPr/>
          <a:lstStyle/>
          <a:p>
            <a:r>
              <a:rPr lang="en-US" dirty="0"/>
              <a:t>ABSTINENCE</a:t>
            </a:r>
          </a:p>
        </p:txBody>
      </p:sp>
      <p:sp>
        <p:nvSpPr>
          <p:cNvPr id="3" name="Content Placeholder 2">
            <a:extLst>
              <a:ext uri="{FF2B5EF4-FFF2-40B4-BE49-F238E27FC236}">
                <a16:creationId xmlns:a16="http://schemas.microsoft.com/office/drawing/2014/main" id="{376742CB-825E-DCA6-C485-0C4405B7EDF2}"/>
              </a:ext>
            </a:extLst>
          </p:cNvPr>
          <p:cNvSpPr>
            <a:spLocks noGrp="1"/>
          </p:cNvSpPr>
          <p:nvPr>
            <p:ph idx="1"/>
          </p:nvPr>
        </p:nvSpPr>
        <p:spPr/>
        <p:txBody>
          <a:bodyPr/>
          <a:lstStyle/>
          <a:p>
            <a:r>
              <a:rPr lang="en-US" dirty="0"/>
              <a:t>Not engaging in any kind of sexual contact or behaviour. </a:t>
            </a:r>
          </a:p>
          <a:p>
            <a:r>
              <a:rPr lang="en-US" dirty="0"/>
              <a:t>100% effective (the only method).</a:t>
            </a:r>
          </a:p>
          <a:p>
            <a:r>
              <a:rPr lang="en-US" dirty="0"/>
              <a:t>STI prevention.</a:t>
            </a:r>
          </a:p>
        </p:txBody>
      </p:sp>
      <p:pic>
        <p:nvPicPr>
          <p:cNvPr id="10242" name="Picture 2" descr="Abstinence Special Lineal color icon">
            <a:extLst>
              <a:ext uri="{FF2B5EF4-FFF2-40B4-BE49-F238E27FC236}">
                <a16:creationId xmlns:a16="http://schemas.microsoft.com/office/drawing/2014/main" id="{1BA373D9-484C-631F-196C-F4631A6046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5783" y="2136601"/>
            <a:ext cx="4283439" cy="42834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21442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9D5F66-176A-D284-9E37-13377101B488}"/>
              </a:ext>
            </a:extLst>
          </p:cNvPr>
          <p:cNvSpPr>
            <a:spLocks noGrp="1"/>
          </p:cNvSpPr>
          <p:nvPr>
            <p:ph type="title"/>
          </p:nvPr>
        </p:nvSpPr>
        <p:spPr>
          <a:xfrm>
            <a:off x="630936" y="640080"/>
            <a:ext cx="4818888" cy="1481328"/>
          </a:xfrm>
        </p:spPr>
        <p:txBody>
          <a:bodyPr anchor="b">
            <a:normAutofit/>
          </a:bodyPr>
          <a:lstStyle/>
          <a:p>
            <a:r>
              <a:rPr lang="en-US" sz="5600" dirty="0">
                <a:solidFill>
                  <a:srgbClr val="00B0F0"/>
                </a:solidFill>
              </a:rPr>
              <a:t>EMERGENCY METHODS:</a:t>
            </a:r>
          </a:p>
        </p:txBody>
      </p:sp>
      <p:sp>
        <p:nvSpPr>
          <p:cNvPr id="1033"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2386584"/>
            <a:ext cx="4114800" cy="18288"/>
          </a:xfrm>
          <a:custGeom>
            <a:avLst/>
            <a:gdLst>
              <a:gd name="connsiteX0" fmla="*/ 0 w 4114800"/>
              <a:gd name="connsiteY0" fmla="*/ 0 h 18288"/>
              <a:gd name="connsiteX1" fmla="*/ 768096 w 4114800"/>
              <a:gd name="connsiteY1" fmla="*/ 0 h 18288"/>
              <a:gd name="connsiteX2" fmla="*/ 1495044 w 4114800"/>
              <a:gd name="connsiteY2" fmla="*/ 0 h 18288"/>
              <a:gd name="connsiteX3" fmla="*/ 2221992 w 4114800"/>
              <a:gd name="connsiteY3" fmla="*/ 0 h 18288"/>
              <a:gd name="connsiteX4" fmla="*/ 2784348 w 4114800"/>
              <a:gd name="connsiteY4" fmla="*/ 0 h 18288"/>
              <a:gd name="connsiteX5" fmla="*/ 3387852 w 4114800"/>
              <a:gd name="connsiteY5" fmla="*/ 0 h 18288"/>
              <a:gd name="connsiteX6" fmla="*/ 4114800 w 4114800"/>
              <a:gd name="connsiteY6" fmla="*/ 0 h 18288"/>
              <a:gd name="connsiteX7" fmla="*/ 4114800 w 4114800"/>
              <a:gd name="connsiteY7" fmla="*/ 18288 h 18288"/>
              <a:gd name="connsiteX8" fmla="*/ 3429000 w 4114800"/>
              <a:gd name="connsiteY8" fmla="*/ 18288 h 18288"/>
              <a:gd name="connsiteX9" fmla="*/ 2866644 w 4114800"/>
              <a:gd name="connsiteY9" fmla="*/ 18288 h 18288"/>
              <a:gd name="connsiteX10" fmla="*/ 2304288 w 4114800"/>
              <a:gd name="connsiteY10" fmla="*/ 18288 h 18288"/>
              <a:gd name="connsiteX11" fmla="*/ 1577340 w 4114800"/>
              <a:gd name="connsiteY11" fmla="*/ 18288 h 18288"/>
              <a:gd name="connsiteX12" fmla="*/ 973836 w 4114800"/>
              <a:gd name="connsiteY12" fmla="*/ 18288 h 18288"/>
              <a:gd name="connsiteX13" fmla="*/ 0 w 4114800"/>
              <a:gd name="connsiteY13" fmla="*/ 18288 h 18288"/>
              <a:gd name="connsiteX14" fmla="*/ 0 w 411480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14800" h="18288" fill="none" extrusionOk="0">
                <a:moveTo>
                  <a:pt x="0" y="0"/>
                </a:moveTo>
                <a:cubicBezTo>
                  <a:pt x="338280" y="-26110"/>
                  <a:pt x="483942" y="6555"/>
                  <a:pt x="768096" y="0"/>
                </a:cubicBezTo>
                <a:cubicBezTo>
                  <a:pt x="1052250" y="-6555"/>
                  <a:pt x="1331484" y="24616"/>
                  <a:pt x="1495044" y="0"/>
                </a:cubicBezTo>
                <a:cubicBezTo>
                  <a:pt x="1658604" y="-24616"/>
                  <a:pt x="2056661" y="-33562"/>
                  <a:pt x="2221992" y="0"/>
                </a:cubicBezTo>
                <a:cubicBezTo>
                  <a:pt x="2387323" y="33562"/>
                  <a:pt x="2629463" y="-20094"/>
                  <a:pt x="2784348" y="0"/>
                </a:cubicBezTo>
                <a:cubicBezTo>
                  <a:pt x="2939233" y="20094"/>
                  <a:pt x="3151981" y="1524"/>
                  <a:pt x="3387852" y="0"/>
                </a:cubicBezTo>
                <a:cubicBezTo>
                  <a:pt x="3623723" y="-1524"/>
                  <a:pt x="3882724" y="26165"/>
                  <a:pt x="4114800" y="0"/>
                </a:cubicBezTo>
                <a:cubicBezTo>
                  <a:pt x="4114300" y="8855"/>
                  <a:pt x="4114909" y="14521"/>
                  <a:pt x="4114800" y="18288"/>
                </a:cubicBezTo>
                <a:cubicBezTo>
                  <a:pt x="3910038" y="37744"/>
                  <a:pt x="3683432" y="-3969"/>
                  <a:pt x="3429000" y="18288"/>
                </a:cubicBezTo>
                <a:cubicBezTo>
                  <a:pt x="3174568" y="40545"/>
                  <a:pt x="3085815" y="44166"/>
                  <a:pt x="2866644" y="18288"/>
                </a:cubicBezTo>
                <a:cubicBezTo>
                  <a:pt x="2647473" y="-7590"/>
                  <a:pt x="2580474" y="31338"/>
                  <a:pt x="2304288" y="18288"/>
                </a:cubicBezTo>
                <a:cubicBezTo>
                  <a:pt x="2028102" y="5238"/>
                  <a:pt x="1863008" y="-2001"/>
                  <a:pt x="1577340" y="18288"/>
                </a:cubicBezTo>
                <a:cubicBezTo>
                  <a:pt x="1291672" y="38577"/>
                  <a:pt x="1243931" y="9893"/>
                  <a:pt x="973836" y="18288"/>
                </a:cubicBezTo>
                <a:cubicBezTo>
                  <a:pt x="703741" y="26683"/>
                  <a:pt x="317656" y="-5910"/>
                  <a:pt x="0" y="18288"/>
                </a:cubicBezTo>
                <a:cubicBezTo>
                  <a:pt x="683" y="12014"/>
                  <a:pt x="724" y="5908"/>
                  <a:pt x="0" y="0"/>
                </a:cubicBezTo>
                <a:close/>
              </a:path>
              <a:path w="4114800" h="18288" stroke="0" extrusionOk="0">
                <a:moveTo>
                  <a:pt x="0" y="0"/>
                </a:moveTo>
                <a:cubicBezTo>
                  <a:pt x="276109" y="5266"/>
                  <a:pt x="325589" y="-19584"/>
                  <a:pt x="644652" y="0"/>
                </a:cubicBezTo>
                <a:cubicBezTo>
                  <a:pt x="963715" y="19584"/>
                  <a:pt x="1064991" y="6066"/>
                  <a:pt x="1207008" y="0"/>
                </a:cubicBezTo>
                <a:cubicBezTo>
                  <a:pt x="1349025" y="-6066"/>
                  <a:pt x="1791724" y="14506"/>
                  <a:pt x="1975104" y="0"/>
                </a:cubicBezTo>
                <a:cubicBezTo>
                  <a:pt x="2158484" y="-14506"/>
                  <a:pt x="2397469" y="20822"/>
                  <a:pt x="2619756" y="0"/>
                </a:cubicBezTo>
                <a:cubicBezTo>
                  <a:pt x="2842043" y="-20822"/>
                  <a:pt x="2992157" y="20388"/>
                  <a:pt x="3264408" y="0"/>
                </a:cubicBezTo>
                <a:cubicBezTo>
                  <a:pt x="3536659" y="-20388"/>
                  <a:pt x="3855620" y="38211"/>
                  <a:pt x="4114800" y="0"/>
                </a:cubicBezTo>
                <a:cubicBezTo>
                  <a:pt x="4113902" y="7180"/>
                  <a:pt x="4114969" y="13790"/>
                  <a:pt x="4114800" y="18288"/>
                </a:cubicBezTo>
                <a:cubicBezTo>
                  <a:pt x="3968901" y="8593"/>
                  <a:pt x="3623428" y="17559"/>
                  <a:pt x="3429000" y="18288"/>
                </a:cubicBezTo>
                <a:cubicBezTo>
                  <a:pt x="3234572" y="19017"/>
                  <a:pt x="3085079" y="41804"/>
                  <a:pt x="2866644" y="18288"/>
                </a:cubicBezTo>
                <a:cubicBezTo>
                  <a:pt x="2648209" y="-5228"/>
                  <a:pt x="2451737" y="24580"/>
                  <a:pt x="2180844" y="18288"/>
                </a:cubicBezTo>
                <a:cubicBezTo>
                  <a:pt x="1909951" y="11996"/>
                  <a:pt x="1681589" y="12244"/>
                  <a:pt x="1495044" y="18288"/>
                </a:cubicBezTo>
                <a:cubicBezTo>
                  <a:pt x="1308499" y="24332"/>
                  <a:pt x="1136614" y="21789"/>
                  <a:pt x="850392" y="18288"/>
                </a:cubicBezTo>
                <a:cubicBezTo>
                  <a:pt x="564170" y="14787"/>
                  <a:pt x="210636" y="54701"/>
                  <a:pt x="0" y="18288"/>
                </a:cubicBezTo>
                <a:cubicBezTo>
                  <a:pt x="571" y="10093"/>
                  <a:pt x="-125" y="8407"/>
                  <a:pt x="0" y="0"/>
                </a:cubicBezTo>
                <a:close/>
              </a:path>
            </a:pathLst>
          </a:custGeom>
          <a:solidFill>
            <a:srgbClr val="FACA7B"/>
          </a:solidFill>
          <a:ln w="38100" cap="rnd">
            <a:solidFill>
              <a:srgbClr val="FACA7B"/>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48779AD-8338-FFA8-7169-02716D657F68}"/>
              </a:ext>
            </a:extLst>
          </p:cNvPr>
          <p:cNvSpPr>
            <a:spLocks noGrp="1"/>
          </p:cNvSpPr>
          <p:nvPr>
            <p:ph idx="1"/>
          </p:nvPr>
        </p:nvSpPr>
        <p:spPr>
          <a:xfrm>
            <a:off x="630936" y="2660904"/>
            <a:ext cx="4818888" cy="3547872"/>
          </a:xfrm>
        </p:spPr>
        <p:txBody>
          <a:bodyPr anchor="t">
            <a:normAutofit/>
          </a:bodyPr>
          <a:lstStyle/>
          <a:p>
            <a:r>
              <a:rPr lang="en-US" dirty="0"/>
              <a:t>Emergency Contraceptive Pill/Plan B</a:t>
            </a:r>
          </a:p>
          <a:p>
            <a:r>
              <a:rPr lang="en-US" dirty="0"/>
              <a:t>Copper IUD</a:t>
            </a:r>
          </a:p>
        </p:txBody>
      </p:sp>
      <mc:AlternateContent xmlns:mc="http://schemas.openxmlformats.org/markup-compatibility/2006" xmlns:p14="http://schemas.microsoft.com/office/powerpoint/2010/main">
        <mc:Choice Requires="p14">
          <p:contentPart p14:bwMode="auto" r:id="rId3">
            <p14:nvContentPartPr>
              <p14:cNvPr id="1035" name="Ink 1034">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5755403" y="1971579"/>
              <a:ext cx="360" cy="2160"/>
            </p14:xfrm>
          </p:contentPart>
        </mc:Choice>
        <mc:Fallback xmlns="">
          <p:pic>
            <p:nvPicPr>
              <p:cNvPr id="1035" name="Ink 1034">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4"/>
              <a:stretch>
                <a:fillRect/>
              </a:stretch>
            </p:blipFill>
            <p:spPr>
              <a:xfrm>
                <a:off x="5737403" y="1956150"/>
                <a:ext cx="36000" cy="32709"/>
              </a:xfrm>
              <a:prstGeom prst="rect">
                <a:avLst/>
              </a:prstGeom>
            </p:spPr>
          </p:pic>
        </mc:Fallback>
      </mc:AlternateContent>
      <p:pic>
        <p:nvPicPr>
          <p:cNvPr id="4" name="Picture 2" descr="Do you think the morning-after pill is too expensive in the UK? | Health |  The Guardian">
            <a:extLst>
              <a:ext uri="{FF2B5EF4-FFF2-40B4-BE49-F238E27FC236}">
                <a16:creationId xmlns:a16="http://schemas.microsoft.com/office/drawing/2014/main" id="{C3498653-A7A8-7BE9-F9D7-5E4FB208E0A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76941" y="2121408"/>
            <a:ext cx="3009120" cy="300912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ellaOne - Most Effective Emergency Morning After Pill 30mg | Sexual Health  | Superdrug">
            <a:extLst>
              <a:ext uri="{FF2B5EF4-FFF2-40B4-BE49-F238E27FC236}">
                <a16:creationId xmlns:a16="http://schemas.microsoft.com/office/drawing/2014/main" id="{1420B110-55D6-5714-00BB-4AA7E211B0D4}"/>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0127" t="24652" r="12550" b="22623"/>
          <a:stretch/>
        </p:blipFill>
        <p:spPr bwMode="auto">
          <a:xfrm>
            <a:off x="5528343" y="651376"/>
            <a:ext cx="3264959" cy="2226295"/>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descr="Copper Intrauterine Device (IUD)">
            <a:extLst>
              <a:ext uri="{FF2B5EF4-FFF2-40B4-BE49-F238E27FC236}">
                <a16:creationId xmlns:a16="http://schemas.microsoft.com/office/drawing/2014/main" id="{ED72AF08-0347-D049-2853-CC6B47BC82B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91053" y="4157651"/>
            <a:ext cx="4102249" cy="2051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40019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C5950-2648-CE7F-AE3A-A6593EFA601E}"/>
              </a:ext>
            </a:extLst>
          </p:cNvPr>
          <p:cNvSpPr>
            <a:spLocks noGrp="1"/>
          </p:cNvSpPr>
          <p:nvPr>
            <p:ph type="title"/>
          </p:nvPr>
        </p:nvSpPr>
        <p:spPr/>
        <p:txBody>
          <a:bodyPr/>
          <a:lstStyle/>
          <a:p>
            <a:r>
              <a:rPr lang="en-US" dirty="0"/>
              <a:t>EMERGENCY CONTRACEPTIVE PILL / PLAN B </a:t>
            </a:r>
          </a:p>
        </p:txBody>
      </p:sp>
      <p:sp>
        <p:nvSpPr>
          <p:cNvPr id="3" name="Content Placeholder 2">
            <a:extLst>
              <a:ext uri="{FF2B5EF4-FFF2-40B4-BE49-F238E27FC236}">
                <a16:creationId xmlns:a16="http://schemas.microsoft.com/office/drawing/2014/main" id="{03F74C7E-FF43-AFE1-AF8E-9305C1EE4EDB}"/>
              </a:ext>
            </a:extLst>
          </p:cNvPr>
          <p:cNvSpPr>
            <a:spLocks noGrp="1"/>
          </p:cNvSpPr>
          <p:nvPr>
            <p:ph idx="1"/>
          </p:nvPr>
        </p:nvSpPr>
        <p:spPr>
          <a:xfrm>
            <a:off x="838200" y="1929383"/>
            <a:ext cx="10515600" cy="4713463"/>
          </a:xfrm>
        </p:spPr>
        <p:txBody>
          <a:bodyPr>
            <a:normAutofit fontScale="92500" lnSpcReduction="10000"/>
          </a:bodyPr>
          <a:lstStyle/>
          <a:p>
            <a:r>
              <a:rPr lang="en-US" dirty="0"/>
              <a:t>A.K.A. Morning After Pill.</a:t>
            </a:r>
          </a:p>
          <a:p>
            <a:r>
              <a:rPr lang="en-US" dirty="0"/>
              <a:t>A ‘one-off’ pill taken ASAP after unprotected sex or where a contraceptive failure has occurred. </a:t>
            </a:r>
          </a:p>
          <a:p>
            <a:pPr lvl="1"/>
            <a:r>
              <a:rPr lang="en-US" dirty="0"/>
              <a:t>The sooner it is taken, the more effective it is in preventing pregnancy. </a:t>
            </a:r>
          </a:p>
          <a:p>
            <a:r>
              <a:rPr lang="en-US" dirty="0"/>
              <a:t>Available without a prescription. </a:t>
            </a:r>
          </a:p>
          <a:p>
            <a:r>
              <a:rPr lang="en-US" dirty="0"/>
              <a:t>Not to be used as a regular form of contraception. </a:t>
            </a:r>
          </a:p>
          <a:p>
            <a:r>
              <a:rPr lang="en-US" dirty="0"/>
              <a:t>Works by preventing or delaying ovulation.</a:t>
            </a:r>
          </a:p>
          <a:p>
            <a:r>
              <a:rPr lang="en-US" dirty="0"/>
              <a:t>Side-effects may include a heavier next period or have an early or later period, nausea, headaches, bloating, tender breasts.</a:t>
            </a:r>
          </a:p>
          <a:p>
            <a:r>
              <a:rPr lang="en-US" dirty="0"/>
              <a:t>85% effective (varies depending on when the pill is taken).</a:t>
            </a:r>
          </a:p>
          <a:p>
            <a:r>
              <a:rPr lang="en-US" dirty="0"/>
              <a:t>Does not prevent STI’s.</a:t>
            </a:r>
          </a:p>
          <a:p>
            <a:endParaRPr lang="en-US" dirty="0"/>
          </a:p>
        </p:txBody>
      </p:sp>
      <p:pic>
        <p:nvPicPr>
          <p:cNvPr id="9218" name="Picture 2" descr="Do you think the morning-after pill is too expensive in the UK? | Health |  The Guardian">
            <a:extLst>
              <a:ext uri="{FF2B5EF4-FFF2-40B4-BE49-F238E27FC236}">
                <a16:creationId xmlns:a16="http://schemas.microsoft.com/office/drawing/2014/main" id="{DC70FA26-840A-983F-CE30-0FE4F0DA6D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80796" y="1929383"/>
            <a:ext cx="1837896" cy="1837896"/>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ellaOne - Most Effective Emergency Morning After Pill 30mg | Sexual Health  | Superdrug">
            <a:extLst>
              <a:ext uri="{FF2B5EF4-FFF2-40B4-BE49-F238E27FC236}">
                <a16:creationId xmlns:a16="http://schemas.microsoft.com/office/drawing/2014/main" id="{017C4A56-F301-3E4E-DCCE-07D29AD115B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0127" t="24652" r="12550" b="22623"/>
          <a:stretch/>
        </p:blipFill>
        <p:spPr bwMode="auto">
          <a:xfrm>
            <a:off x="7117478" y="3296336"/>
            <a:ext cx="2398426" cy="16354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32420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336BA-39B7-B220-EC85-352DBEB55248}"/>
              </a:ext>
            </a:extLst>
          </p:cNvPr>
          <p:cNvSpPr>
            <a:spLocks noGrp="1"/>
          </p:cNvSpPr>
          <p:nvPr>
            <p:ph type="title"/>
          </p:nvPr>
        </p:nvSpPr>
        <p:spPr/>
        <p:txBody>
          <a:bodyPr/>
          <a:lstStyle/>
          <a:p>
            <a:r>
              <a:rPr lang="en-US" dirty="0"/>
              <a:t>Copper IUD - RECAP</a:t>
            </a:r>
          </a:p>
        </p:txBody>
      </p:sp>
      <p:sp>
        <p:nvSpPr>
          <p:cNvPr id="3" name="Content Placeholder 2">
            <a:extLst>
              <a:ext uri="{FF2B5EF4-FFF2-40B4-BE49-F238E27FC236}">
                <a16:creationId xmlns:a16="http://schemas.microsoft.com/office/drawing/2014/main" id="{400AC73C-FB5E-E301-0796-6B23F56F2783}"/>
              </a:ext>
            </a:extLst>
          </p:cNvPr>
          <p:cNvSpPr>
            <a:spLocks noGrp="1"/>
          </p:cNvSpPr>
          <p:nvPr>
            <p:ph sz="half" idx="1"/>
          </p:nvPr>
        </p:nvSpPr>
        <p:spPr/>
        <p:txBody>
          <a:bodyPr>
            <a:normAutofit/>
          </a:bodyPr>
          <a:lstStyle/>
          <a:p>
            <a:r>
              <a:rPr lang="en-US" sz="3200" dirty="0"/>
              <a:t>T shaped device with copper wire.</a:t>
            </a:r>
          </a:p>
          <a:p>
            <a:r>
              <a:rPr lang="en-US" sz="3200" dirty="0"/>
              <a:t>Placed inside the uterus.</a:t>
            </a:r>
          </a:p>
          <a:p>
            <a:r>
              <a:rPr lang="en-US" dirty="0"/>
              <a:t>T</a:t>
            </a:r>
            <a:r>
              <a:rPr lang="en-US" sz="3200" dirty="0"/>
              <a:t>oxic to sperm which prevents fertilisation, slows the movement of sperm and changes the lining of the uterus to prevent implantation. </a:t>
            </a:r>
          </a:p>
          <a:p>
            <a:r>
              <a:rPr lang="en-US" sz="3200" dirty="0"/>
              <a:t>They can last for 5 – 10 years </a:t>
            </a:r>
            <a:br>
              <a:rPr lang="en-US" sz="3200" dirty="0"/>
            </a:br>
            <a:r>
              <a:rPr lang="en-US" sz="3200" dirty="0"/>
              <a:t>(</a:t>
            </a:r>
            <a:r>
              <a:rPr lang="en-US" sz="3200" b="1" u="sng" dirty="0"/>
              <a:t>L</a:t>
            </a:r>
            <a:r>
              <a:rPr lang="en-US" sz="3200" dirty="0"/>
              <a:t>ong </a:t>
            </a:r>
            <a:r>
              <a:rPr lang="en-US" sz="3200" b="1" u="sng" dirty="0"/>
              <a:t>A</a:t>
            </a:r>
            <a:r>
              <a:rPr lang="en-US" sz="3200" dirty="0"/>
              <a:t>cting </a:t>
            </a:r>
            <a:r>
              <a:rPr lang="en-US" sz="3200" b="1" u="sng" dirty="0"/>
              <a:t>R</a:t>
            </a:r>
            <a:r>
              <a:rPr lang="en-US" sz="3200" dirty="0"/>
              <a:t>eversible – LAR method)</a:t>
            </a:r>
          </a:p>
          <a:p>
            <a:endParaRPr lang="en-US" dirty="0"/>
          </a:p>
        </p:txBody>
      </p:sp>
      <p:sp>
        <p:nvSpPr>
          <p:cNvPr id="4" name="Content Placeholder 3">
            <a:extLst>
              <a:ext uri="{FF2B5EF4-FFF2-40B4-BE49-F238E27FC236}">
                <a16:creationId xmlns:a16="http://schemas.microsoft.com/office/drawing/2014/main" id="{AB37B1EC-B723-6F43-67E1-3B26EB2479F6}"/>
              </a:ext>
            </a:extLst>
          </p:cNvPr>
          <p:cNvSpPr>
            <a:spLocks noGrp="1"/>
          </p:cNvSpPr>
          <p:nvPr>
            <p:ph sz="half" idx="2"/>
          </p:nvPr>
        </p:nvSpPr>
        <p:spPr/>
        <p:txBody>
          <a:bodyPr>
            <a:normAutofit/>
          </a:bodyPr>
          <a:lstStyle/>
          <a:p>
            <a:r>
              <a:rPr lang="en-US" sz="3200" dirty="0"/>
              <a:t>Can be used as an emergency contraception if inserted up to 5 days after unprotected sex.</a:t>
            </a:r>
          </a:p>
          <a:p>
            <a:r>
              <a:rPr lang="en-US" sz="3200" dirty="0"/>
              <a:t>99% effective.</a:t>
            </a:r>
          </a:p>
          <a:p>
            <a:r>
              <a:rPr lang="en-US" sz="3200" dirty="0"/>
              <a:t>Does not prevent STI’s</a:t>
            </a:r>
          </a:p>
        </p:txBody>
      </p:sp>
      <p:pic>
        <p:nvPicPr>
          <p:cNvPr id="5" name="Picture 2" descr="Copper Intrauterine Device (IUD)">
            <a:extLst>
              <a:ext uri="{FF2B5EF4-FFF2-40B4-BE49-F238E27FC236}">
                <a16:creationId xmlns:a16="http://schemas.microsoft.com/office/drawing/2014/main" id="{96E79BAC-B8EC-3466-EFB3-6C26990EF9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51551" y="4547616"/>
            <a:ext cx="4102249" cy="2051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44769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9D5F66-176A-D284-9E37-13377101B488}"/>
              </a:ext>
            </a:extLst>
          </p:cNvPr>
          <p:cNvSpPr>
            <a:spLocks noGrp="1"/>
          </p:cNvSpPr>
          <p:nvPr>
            <p:ph type="title"/>
          </p:nvPr>
        </p:nvSpPr>
        <p:spPr>
          <a:xfrm>
            <a:off x="630936" y="640080"/>
            <a:ext cx="4818888" cy="1481328"/>
          </a:xfrm>
        </p:spPr>
        <p:txBody>
          <a:bodyPr anchor="b">
            <a:normAutofit/>
          </a:bodyPr>
          <a:lstStyle/>
          <a:p>
            <a:r>
              <a:rPr lang="en-US" sz="5600" dirty="0">
                <a:solidFill>
                  <a:srgbClr val="7030A0"/>
                </a:solidFill>
              </a:rPr>
              <a:t>SURGICAL METHODS:</a:t>
            </a:r>
          </a:p>
        </p:txBody>
      </p:sp>
      <p:sp>
        <p:nvSpPr>
          <p:cNvPr id="1033"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2386584"/>
            <a:ext cx="4114800" cy="18288"/>
          </a:xfrm>
          <a:custGeom>
            <a:avLst/>
            <a:gdLst>
              <a:gd name="connsiteX0" fmla="*/ 0 w 4114800"/>
              <a:gd name="connsiteY0" fmla="*/ 0 h 18288"/>
              <a:gd name="connsiteX1" fmla="*/ 768096 w 4114800"/>
              <a:gd name="connsiteY1" fmla="*/ 0 h 18288"/>
              <a:gd name="connsiteX2" fmla="*/ 1495044 w 4114800"/>
              <a:gd name="connsiteY2" fmla="*/ 0 h 18288"/>
              <a:gd name="connsiteX3" fmla="*/ 2221992 w 4114800"/>
              <a:gd name="connsiteY3" fmla="*/ 0 h 18288"/>
              <a:gd name="connsiteX4" fmla="*/ 2784348 w 4114800"/>
              <a:gd name="connsiteY4" fmla="*/ 0 h 18288"/>
              <a:gd name="connsiteX5" fmla="*/ 3387852 w 4114800"/>
              <a:gd name="connsiteY5" fmla="*/ 0 h 18288"/>
              <a:gd name="connsiteX6" fmla="*/ 4114800 w 4114800"/>
              <a:gd name="connsiteY6" fmla="*/ 0 h 18288"/>
              <a:gd name="connsiteX7" fmla="*/ 4114800 w 4114800"/>
              <a:gd name="connsiteY7" fmla="*/ 18288 h 18288"/>
              <a:gd name="connsiteX8" fmla="*/ 3429000 w 4114800"/>
              <a:gd name="connsiteY8" fmla="*/ 18288 h 18288"/>
              <a:gd name="connsiteX9" fmla="*/ 2866644 w 4114800"/>
              <a:gd name="connsiteY9" fmla="*/ 18288 h 18288"/>
              <a:gd name="connsiteX10" fmla="*/ 2304288 w 4114800"/>
              <a:gd name="connsiteY10" fmla="*/ 18288 h 18288"/>
              <a:gd name="connsiteX11" fmla="*/ 1577340 w 4114800"/>
              <a:gd name="connsiteY11" fmla="*/ 18288 h 18288"/>
              <a:gd name="connsiteX12" fmla="*/ 973836 w 4114800"/>
              <a:gd name="connsiteY12" fmla="*/ 18288 h 18288"/>
              <a:gd name="connsiteX13" fmla="*/ 0 w 4114800"/>
              <a:gd name="connsiteY13" fmla="*/ 18288 h 18288"/>
              <a:gd name="connsiteX14" fmla="*/ 0 w 411480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14800" h="18288" fill="none" extrusionOk="0">
                <a:moveTo>
                  <a:pt x="0" y="0"/>
                </a:moveTo>
                <a:cubicBezTo>
                  <a:pt x="338280" y="-26110"/>
                  <a:pt x="483942" y="6555"/>
                  <a:pt x="768096" y="0"/>
                </a:cubicBezTo>
                <a:cubicBezTo>
                  <a:pt x="1052250" y="-6555"/>
                  <a:pt x="1331484" y="24616"/>
                  <a:pt x="1495044" y="0"/>
                </a:cubicBezTo>
                <a:cubicBezTo>
                  <a:pt x="1658604" y="-24616"/>
                  <a:pt x="2056661" y="-33562"/>
                  <a:pt x="2221992" y="0"/>
                </a:cubicBezTo>
                <a:cubicBezTo>
                  <a:pt x="2387323" y="33562"/>
                  <a:pt x="2629463" y="-20094"/>
                  <a:pt x="2784348" y="0"/>
                </a:cubicBezTo>
                <a:cubicBezTo>
                  <a:pt x="2939233" y="20094"/>
                  <a:pt x="3151981" y="1524"/>
                  <a:pt x="3387852" y="0"/>
                </a:cubicBezTo>
                <a:cubicBezTo>
                  <a:pt x="3623723" y="-1524"/>
                  <a:pt x="3882724" y="26165"/>
                  <a:pt x="4114800" y="0"/>
                </a:cubicBezTo>
                <a:cubicBezTo>
                  <a:pt x="4114300" y="8855"/>
                  <a:pt x="4114909" y="14521"/>
                  <a:pt x="4114800" y="18288"/>
                </a:cubicBezTo>
                <a:cubicBezTo>
                  <a:pt x="3910038" y="37744"/>
                  <a:pt x="3683432" y="-3969"/>
                  <a:pt x="3429000" y="18288"/>
                </a:cubicBezTo>
                <a:cubicBezTo>
                  <a:pt x="3174568" y="40545"/>
                  <a:pt x="3085815" y="44166"/>
                  <a:pt x="2866644" y="18288"/>
                </a:cubicBezTo>
                <a:cubicBezTo>
                  <a:pt x="2647473" y="-7590"/>
                  <a:pt x="2580474" y="31338"/>
                  <a:pt x="2304288" y="18288"/>
                </a:cubicBezTo>
                <a:cubicBezTo>
                  <a:pt x="2028102" y="5238"/>
                  <a:pt x="1863008" y="-2001"/>
                  <a:pt x="1577340" y="18288"/>
                </a:cubicBezTo>
                <a:cubicBezTo>
                  <a:pt x="1291672" y="38577"/>
                  <a:pt x="1243931" y="9893"/>
                  <a:pt x="973836" y="18288"/>
                </a:cubicBezTo>
                <a:cubicBezTo>
                  <a:pt x="703741" y="26683"/>
                  <a:pt x="317656" y="-5910"/>
                  <a:pt x="0" y="18288"/>
                </a:cubicBezTo>
                <a:cubicBezTo>
                  <a:pt x="683" y="12014"/>
                  <a:pt x="724" y="5908"/>
                  <a:pt x="0" y="0"/>
                </a:cubicBezTo>
                <a:close/>
              </a:path>
              <a:path w="4114800" h="18288" stroke="0" extrusionOk="0">
                <a:moveTo>
                  <a:pt x="0" y="0"/>
                </a:moveTo>
                <a:cubicBezTo>
                  <a:pt x="276109" y="5266"/>
                  <a:pt x="325589" y="-19584"/>
                  <a:pt x="644652" y="0"/>
                </a:cubicBezTo>
                <a:cubicBezTo>
                  <a:pt x="963715" y="19584"/>
                  <a:pt x="1064991" y="6066"/>
                  <a:pt x="1207008" y="0"/>
                </a:cubicBezTo>
                <a:cubicBezTo>
                  <a:pt x="1349025" y="-6066"/>
                  <a:pt x="1791724" y="14506"/>
                  <a:pt x="1975104" y="0"/>
                </a:cubicBezTo>
                <a:cubicBezTo>
                  <a:pt x="2158484" y="-14506"/>
                  <a:pt x="2397469" y="20822"/>
                  <a:pt x="2619756" y="0"/>
                </a:cubicBezTo>
                <a:cubicBezTo>
                  <a:pt x="2842043" y="-20822"/>
                  <a:pt x="2992157" y="20388"/>
                  <a:pt x="3264408" y="0"/>
                </a:cubicBezTo>
                <a:cubicBezTo>
                  <a:pt x="3536659" y="-20388"/>
                  <a:pt x="3855620" y="38211"/>
                  <a:pt x="4114800" y="0"/>
                </a:cubicBezTo>
                <a:cubicBezTo>
                  <a:pt x="4113902" y="7180"/>
                  <a:pt x="4114969" y="13790"/>
                  <a:pt x="4114800" y="18288"/>
                </a:cubicBezTo>
                <a:cubicBezTo>
                  <a:pt x="3968901" y="8593"/>
                  <a:pt x="3623428" y="17559"/>
                  <a:pt x="3429000" y="18288"/>
                </a:cubicBezTo>
                <a:cubicBezTo>
                  <a:pt x="3234572" y="19017"/>
                  <a:pt x="3085079" y="41804"/>
                  <a:pt x="2866644" y="18288"/>
                </a:cubicBezTo>
                <a:cubicBezTo>
                  <a:pt x="2648209" y="-5228"/>
                  <a:pt x="2451737" y="24580"/>
                  <a:pt x="2180844" y="18288"/>
                </a:cubicBezTo>
                <a:cubicBezTo>
                  <a:pt x="1909951" y="11996"/>
                  <a:pt x="1681589" y="12244"/>
                  <a:pt x="1495044" y="18288"/>
                </a:cubicBezTo>
                <a:cubicBezTo>
                  <a:pt x="1308499" y="24332"/>
                  <a:pt x="1136614" y="21789"/>
                  <a:pt x="850392" y="18288"/>
                </a:cubicBezTo>
                <a:cubicBezTo>
                  <a:pt x="564170" y="14787"/>
                  <a:pt x="210636" y="54701"/>
                  <a:pt x="0" y="18288"/>
                </a:cubicBezTo>
                <a:cubicBezTo>
                  <a:pt x="571" y="10093"/>
                  <a:pt x="-125" y="8407"/>
                  <a:pt x="0" y="0"/>
                </a:cubicBezTo>
                <a:close/>
              </a:path>
            </a:pathLst>
          </a:custGeom>
          <a:solidFill>
            <a:srgbClr val="FACA7B"/>
          </a:solidFill>
          <a:ln w="38100" cap="rnd">
            <a:solidFill>
              <a:srgbClr val="FACA7B"/>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48779AD-8338-FFA8-7169-02716D657F68}"/>
              </a:ext>
            </a:extLst>
          </p:cNvPr>
          <p:cNvSpPr>
            <a:spLocks noGrp="1"/>
          </p:cNvSpPr>
          <p:nvPr>
            <p:ph idx="1"/>
          </p:nvPr>
        </p:nvSpPr>
        <p:spPr>
          <a:xfrm>
            <a:off x="630936" y="2660904"/>
            <a:ext cx="4818888" cy="3547872"/>
          </a:xfrm>
        </p:spPr>
        <p:txBody>
          <a:bodyPr anchor="t">
            <a:normAutofit/>
          </a:bodyPr>
          <a:lstStyle/>
          <a:p>
            <a:r>
              <a:rPr lang="en-US" dirty="0"/>
              <a:t>Tubal Ligation (female sterilisation)</a:t>
            </a:r>
          </a:p>
          <a:p>
            <a:r>
              <a:rPr lang="en-US" dirty="0"/>
              <a:t>Vasectomy (male sterilisation)</a:t>
            </a:r>
          </a:p>
        </p:txBody>
      </p:sp>
      <mc:AlternateContent xmlns:mc="http://schemas.openxmlformats.org/markup-compatibility/2006" xmlns:p14="http://schemas.microsoft.com/office/powerpoint/2010/main">
        <mc:Choice Requires="p14">
          <p:contentPart p14:bwMode="auto" r:id="rId2">
            <p14:nvContentPartPr>
              <p14:cNvPr id="1035" name="Ink 1034">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5755403" y="1971579"/>
              <a:ext cx="360" cy="2160"/>
            </p14:xfrm>
          </p:contentPart>
        </mc:Choice>
        <mc:Fallback xmlns="">
          <p:pic>
            <p:nvPicPr>
              <p:cNvPr id="1035" name="Ink 1034">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3"/>
              <a:stretch>
                <a:fillRect/>
              </a:stretch>
            </p:blipFill>
            <p:spPr>
              <a:xfrm>
                <a:off x="5737403" y="1956150"/>
                <a:ext cx="36000" cy="32709"/>
              </a:xfrm>
              <a:prstGeom prst="rect">
                <a:avLst/>
              </a:prstGeom>
            </p:spPr>
          </p:pic>
        </mc:Fallback>
      </mc:AlternateContent>
      <p:pic>
        <p:nvPicPr>
          <p:cNvPr id="4" name="Picture 2" descr="Male contraceptive - Wikipedia">
            <a:extLst>
              <a:ext uri="{FF2B5EF4-FFF2-40B4-BE49-F238E27FC236}">
                <a16:creationId xmlns:a16="http://schemas.microsoft.com/office/drawing/2014/main" id="{3389AE3D-C07F-9D1D-AAE9-3496A93C89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82717" y="252763"/>
            <a:ext cx="3509537" cy="3796681"/>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descr="Tubal Ligation Surgery | Female Sterilization | Plano, Frisco, Dallas TX">
            <a:extLst>
              <a:ext uri="{FF2B5EF4-FFF2-40B4-BE49-F238E27FC236}">
                <a16:creationId xmlns:a16="http://schemas.microsoft.com/office/drawing/2014/main" id="{495D0CC2-6248-9FDB-4B87-4F65B5A99B3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06843" y="3429000"/>
            <a:ext cx="5129446" cy="33341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20281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99407-20D8-0C02-CD43-B97819B05AE1}"/>
              </a:ext>
            </a:extLst>
          </p:cNvPr>
          <p:cNvSpPr>
            <a:spLocks noGrp="1"/>
          </p:cNvSpPr>
          <p:nvPr>
            <p:ph type="title"/>
          </p:nvPr>
        </p:nvSpPr>
        <p:spPr/>
        <p:txBody>
          <a:bodyPr/>
          <a:lstStyle/>
          <a:p>
            <a:r>
              <a:rPr lang="en-US" dirty="0"/>
              <a:t>Tubal Ligation </a:t>
            </a:r>
          </a:p>
        </p:txBody>
      </p:sp>
      <p:sp>
        <p:nvSpPr>
          <p:cNvPr id="3" name="Content Placeholder 2">
            <a:extLst>
              <a:ext uri="{FF2B5EF4-FFF2-40B4-BE49-F238E27FC236}">
                <a16:creationId xmlns:a16="http://schemas.microsoft.com/office/drawing/2014/main" id="{87485E86-DFD2-556C-0598-0133FA21B3B3}"/>
              </a:ext>
            </a:extLst>
          </p:cNvPr>
          <p:cNvSpPr>
            <a:spLocks noGrp="1"/>
          </p:cNvSpPr>
          <p:nvPr>
            <p:ph idx="1"/>
          </p:nvPr>
        </p:nvSpPr>
        <p:spPr>
          <a:xfrm>
            <a:off x="838200" y="1929383"/>
            <a:ext cx="5895819" cy="4563491"/>
          </a:xfrm>
        </p:spPr>
        <p:txBody>
          <a:bodyPr>
            <a:normAutofit fontScale="92500" lnSpcReduction="10000"/>
          </a:bodyPr>
          <a:lstStyle/>
          <a:p>
            <a:r>
              <a:rPr lang="en-US" dirty="0"/>
              <a:t>A.K.A. Female sterilisation or getting ‘tubes tied’.</a:t>
            </a:r>
          </a:p>
          <a:p>
            <a:r>
              <a:rPr lang="en-US" dirty="0"/>
              <a:t>A surgical procedure where the fallopian tubes (the tubes that carry the eggs from the ovary to the uterus) are cut or tied. </a:t>
            </a:r>
          </a:p>
          <a:p>
            <a:r>
              <a:rPr lang="en-US" dirty="0"/>
              <a:t>Prevents the egg entering the uterus and therefore a sperm meeting an egg. </a:t>
            </a:r>
          </a:p>
          <a:p>
            <a:r>
              <a:rPr lang="en-US" dirty="0"/>
              <a:t>Permanent**</a:t>
            </a:r>
          </a:p>
          <a:p>
            <a:r>
              <a:rPr lang="en-US" dirty="0"/>
              <a:t>Menstrual bleeding will still occur monthly.</a:t>
            </a:r>
          </a:p>
          <a:p>
            <a:r>
              <a:rPr lang="en-US" dirty="0"/>
              <a:t>99+% effective.</a:t>
            </a:r>
          </a:p>
          <a:p>
            <a:r>
              <a:rPr lang="en-US" dirty="0"/>
              <a:t>Does not prevent STI’s.</a:t>
            </a:r>
          </a:p>
        </p:txBody>
      </p:sp>
      <p:pic>
        <p:nvPicPr>
          <p:cNvPr id="4" name="Picture 2" descr="Tubal Ligation Surgery | Female Sterilization | Plano, Frisco, Dallas TX">
            <a:extLst>
              <a:ext uri="{FF2B5EF4-FFF2-40B4-BE49-F238E27FC236}">
                <a16:creationId xmlns:a16="http://schemas.microsoft.com/office/drawing/2014/main" id="{BC02BFDE-C6C4-5C74-DFBC-3AC16167DC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34019" y="2604541"/>
            <a:ext cx="5129446" cy="33341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75188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99407-20D8-0C02-CD43-B97819B05AE1}"/>
              </a:ext>
            </a:extLst>
          </p:cNvPr>
          <p:cNvSpPr>
            <a:spLocks noGrp="1"/>
          </p:cNvSpPr>
          <p:nvPr>
            <p:ph type="title"/>
          </p:nvPr>
        </p:nvSpPr>
        <p:spPr/>
        <p:txBody>
          <a:bodyPr/>
          <a:lstStyle/>
          <a:p>
            <a:r>
              <a:rPr lang="en-US" dirty="0"/>
              <a:t>Vasectomy</a:t>
            </a:r>
          </a:p>
        </p:txBody>
      </p:sp>
      <p:sp>
        <p:nvSpPr>
          <p:cNvPr id="3" name="Content Placeholder 2">
            <a:extLst>
              <a:ext uri="{FF2B5EF4-FFF2-40B4-BE49-F238E27FC236}">
                <a16:creationId xmlns:a16="http://schemas.microsoft.com/office/drawing/2014/main" id="{87485E86-DFD2-556C-0598-0133FA21B3B3}"/>
              </a:ext>
            </a:extLst>
          </p:cNvPr>
          <p:cNvSpPr>
            <a:spLocks noGrp="1"/>
          </p:cNvSpPr>
          <p:nvPr>
            <p:ph idx="1"/>
          </p:nvPr>
        </p:nvSpPr>
        <p:spPr>
          <a:xfrm>
            <a:off x="838200" y="1929384"/>
            <a:ext cx="6463553" cy="4251960"/>
          </a:xfrm>
        </p:spPr>
        <p:txBody>
          <a:bodyPr/>
          <a:lstStyle/>
          <a:p>
            <a:r>
              <a:rPr lang="en-US" dirty="0"/>
              <a:t>A.K.A. Male sterilisation or ‘the snip.’</a:t>
            </a:r>
          </a:p>
          <a:p>
            <a:r>
              <a:rPr lang="en-US" dirty="0"/>
              <a:t>A surgical procedure where the vas deferens (the tube that carries sperm from the testes to the penis) is cut. </a:t>
            </a:r>
          </a:p>
          <a:p>
            <a:r>
              <a:rPr lang="en-US" dirty="0"/>
              <a:t>Effective 3 months after the procedure. </a:t>
            </a:r>
          </a:p>
          <a:p>
            <a:r>
              <a:rPr lang="en-US" dirty="0"/>
              <a:t>Permanent**</a:t>
            </a:r>
          </a:p>
          <a:p>
            <a:r>
              <a:rPr lang="en-US" dirty="0"/>
              <a:t>99+% effective.</a:t>
            </a:r>
          </a:p>
          <a:p>
            <a:r>
              <a:rPr lang="en-US" dirty="0"/>
              <a:t>Does not prevent STI’s. </a:t>
            </a:r>
          </a:p>
        </p:txBody>
      </p:sp>
      <p:pic>
        <p:nvPicPr>
          <p:cNvPr id="3074" name="Picture 2" descr="Male contraceptive - Wikipedia">
            <a:extLst>
              <a:ext uri="{FF2B5EF4-FFF2-40B4-BE49-F238E27FC236}">
                <a16:creationId xmlns:a16="http://schemas.microsoft.com/office/drawing/2014/main" id="{8F2A44A0-336D-B870-78E2-AD16B151FB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23418" y="1929383"/>
            <a:ext cx="3930382" cy="42519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02588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53B475F8-50AE-46A0-9943-B2B63183D5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143435-6B86-DCA6-F3EE-3F612E750686}"/>
              </a:ext>
            </a:extLst>
          </p:cNvPr>
          <p:cNvSpPr>
            <a:spLocks noGrp="1"/>
          </p:cNvSpPr>
          <p:nvPr>
            <p:ph type="title"/>
          </p:nvPr>
        </p:nvSpPr>
        <p:spPr>
          <a:xfrm>
            <a:off x="612648" y="365125"/>
            <a:ext cx="6986015" cy="1776484"/>
          </a:xfrm>
        </p:spPr>
        <p:txBody>
          <a:bodyPr anchor="b">
            <a:normAutofit/>
          </a:bodyPr>
          <a:lstStyle/>
          <a:p>
            <a:r>
              <a:rPr lang="en-US" dirty="0"/>
              <a:t>Activity 3: contraception scenario’s</a:t>
            </a:r>
            <a:br>
              <a:rPr lang="en-US" dirty="0"/>
            </a:br>
            <a:r>
              <a:rPr lang="en-US" dirty="0"/>
              <a:t>Which is best and why? </a:t>
            </a:r>
            <a:r>
              <a:rPr lang="en-US" sz="5400" dirty="0"/>
              <a:t>(pg. 17)</a:t>
            </a:r>
            <a:endParaRPr lang="en-US" dirty="0"/>
          </a:p>
        </p:txBody>
      </p:sp>
      <p:pic>
        <p:nvPicPr>
          <p:cNvPr id="7" name="Picture 6" descr="A paper with text on it&#10;&#10;Description automatically generated">
            <a:extLst>
              <a:ext uri="{FF2B5EF4-FFF2-40B4-BE49-F238E27FC236}">
                <a16:creationId xmlns:a16="http://schemas.microsoft.com/office/drawing/2014/main" id="{FC8D8FC6-9878-2611-7428-7A710A9A0017}"/>
              </a:ext>
            </a:extLst>
          </p:cNvPr>
          <p:cNvPicPr>
            <a:picLocks noChangeAspect="1"/>
          </p:cNvPicPr>
          <p:nvPr/>
        </p:nvPicPr>
        <p:blipFill rotWithShape="1">
          <a:blip r:embed="rId3"/>
          <a:srcRect b="2809"/>
          <a:stretch/>
        </p:blipFill>
        <p:spPr>
          <a:xfrm>
            <a:off x="8379409" y="2564407"/>
            <a:ext cx="3532036" cy="1776484"/>
          </a:xfrm>
          <a:prstGeom prst="rect">
            <a:avLst/>
          </a:prstGeom>
          <a:ln w="38100">
            <a:solidFill>
              <a:srgbClr val="7030A0"/>
            </a:solidFill>
          </a:ln>
        </p:spPr>
      </p:pic>
      <p:sp>
        <p:nvSpPr>
          <p:cNvPr id="16" name="sketchy rule">
            <a:extLst>
              <a:ext uri="{FF2B5EF4-FFF2-40B4-BE49-F238E27FC236}">
                <a16:creationId xmlns:a16="http://schemas.microsoft.com/office/drawing/2014/main" id="{E0787460-62AF-47DB-8E74-8598B9833C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2648" y="2309498"/>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rgbClr val="3E6898"/>
          </a:solidFill>
          <a:ln w="38100" cap="rnd">
            <a:solidFill>
              <a:srgbClr val="3E6898"/>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595E12F-80D7-3A70-3459-A0883E76B370}"/>
              </a:ext>
            </a:extLst>
          </p:cNvPr>
          <p:cNvSpPr>
            <a:spLocks noGrp="1"/>
          </p:cNvSpPr>
          <p:nvPr>
            <p:ph idx="1"/>
          </p:nvPr>
        </p:nvSpPr>
        <p:spPr>
          <a:xfrm>
            <a:off x="612648" y="2504819"/>
            <a:ext cx="6986016" cy="3672144"/>
          </a:xfrm>
        </p:spPr>
        <p:txBody>
          <a:bodyPr>
            <a:normAutofit/>
          </a:bodyPr>
          <a:lstStyle/>
          <a:p>
            <a:r>
              <a:rPr lang="en-US" dirty="0"/>
              <a:t>Students will work in small groups or pairs. </a:t>
            </a:r>
          </a:p>
          <a:p>
            <a:r>
              <a:rPr lang="en-US" dirty="0"/>
              <a:t>Each group will be given a scenario card.</a:t>
            </a:r>
          </a:p>
          <a:p>
            <a:r>
              <a:rPr lang="en-US" dirty="0"/>
              <a:t>Read the scenario and decide on the best method/s of contraception to use in that situation for the people involved. </a:t>
            </a:r>
          </a:p>
        </p:txBody>
      </p:sp>
      <p:pic>
        <p:nvPicPr>
          <p:cNvPr id="5" name="Picture 4" descr="A white paper with black text&#10;&#10;Description automatically generated">
            <a:extLst>
              <a:ext uri="{FF2B5EF4-FFF2-40B4-BE49-F238E27FC236}">
                <a16:creationId xmlns:a16="http://schemas.microsoft.com/office/drawing/2014/main" id="{8D2B3672-91E1-AFFE-6146-FA9A22EBB3FF}"/>
              </a:ext>
            </a:extLst>
          </p:cNvPr>
          <p:cNvPicPr>
            <a:picLocks noChangeAspect="1"/>
          </p:cNvPicPr>
          <p:nvPr/>
        </p:nvPicPr>
        <p:blipFill>
          <a:blip r:embed="rId4"/>
          <a:stretch>
            <a:fillRect/>
          </a:stretch>
        </p:blipFill>
        <p:spPr>
          <a:xfrm>
            <a:off x="8379409" y="282720"/>
            <a:ext cx="3532036" cy="1993433"/>
          </a:xfrm>
          <a:prstGeom prst="rect">
            <a:avLst/>
          </a:prstGeom>
          <a:ln w="38100">
            <a:solidFill>
              <a:srgbClr val="7030A0"/>
            </a:solidFill>
          </a:ln>
        </p:spPr>
      </p:pic>
      <p:pic>
        <p:nvPicPr>
          <p:cNvPr id="9" name="Picture 8" descr="A white paper with black text&#10;&#10;Description automatically generated">
            <a:extLst>
              <a:ext uri="{FF2B5EF4-FFF2-40B4-BE49-F238E27FC236}">
                <a16:creationId xmlns:a16="http://schemas.microsoft.com/office/drawing/2014/main" id="{C86C276A-5ECE-8C5F-7FDC-BF647591DB59}"/>
              </a:ext>
            </a:extLst>
          </p:cNvPr>
          <p:cNvPicPr>
            <a:picLocks noChangeAspect="1"/>
          </p:cNvPicPr>
          <p:nvPr/>
        </p:nvPicPr>
        <p:blipFill rotWithShape="1">
          <a:blip r:embed="rId5"/>
          <a:srcRect b="3114"/>
          <a:stretch/>
        </p:blipFill>
        <p:spPr>
          <a:xfrm>
            <a:off x="8379409" y="4581847"/>
            <a:ext cx="3546875" cy="1931362"/>
          </a:xfrm>
          <a:prstGeom prst="rect">
            <a:avLst/>
          </a:prstGeom>
          <a:ln w="38100">
            <a:solidFill>
              <a:srgbClr val="7030A0"/>
            </a:solidFill>
          </a:ln>
        </p:spPr>
      </p:pic>
    </p:spTree>
    <p:extLst>
      <p:ext uri="{BB962C8B-B14F-4D97-AF65-F5344CB8AC3E}">
        <p14:creationId xmlns:p14="http://schemas.microsoft.com/office/powerpoint/2010/main" val="13604709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6">
            <a:extLst>
              <a:ext uri="{FF2B5EF4-FFF2-40B4-BE49-F238E27FC236}">
                <a16:creationId xmlns:a16="http://schemas.microsoft.com/office/drawing/2014/main" id="{DA381740-063A-41A4-836D-85D14980E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10" name="Rectangle 9">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1002C1-8CFC-4C31-5E02-AE252C28C0C9}"/>
              </a:ext>
            </a:extLst>
          </p:cNvPr>
          <p:cNvSpPr>
            <a:spLocks noGrp="1"/>
          </p:cNvSpPr>
          <p:nvPr>
            <p:ph type="title"/>
          </p:nvPr>
        </p:nvSpPr>
        <p:spPr>
          <a:xfrm>
            <a:off x="838200" y="451381"/>
            <a:ext cx="6772835" cy="4066540"/>
          </a:xfrm>
        </p:spPr>
        <p:txBody>
          <a:bodyPr vert="horz" lIns="91440" tIns="45720" rIns="91440" bIns="45720" rtlCol="0" anchor="b">
            <a:normAutofit fontScale="90000"/>
          </a:bodyPr>
          <a:lstStyle/>
          <a:p>
            <a:r>
              <a:rPr lang="en-US" sz="9600" dirty="0">
                <a:solidFill>
                  <a:schemeClr val="accent1"/>
                </a:solidFill>
              </a:rPr>
              <a:t>Optional Activity 4: Contraception Kit</a:t>
            </a:r>
          </a:p>
        </p:txBody>
      </p:sp>
      <p:sp>
        <p:nvSpPr>
          <p:cNvPr id="3" name="Content Placeholder 2">
            <a:extLst>
              <a:ext uri="{FF2B5EF4-FFF2-40B4-BE49-F238E27FC236}">
                <a16:creationId xmlns:a16="http://schemas.microsoft.com/office/drawing/2014/main" id="{2158341A-E2A6-5823-818C-15F12D25A3F1}"/>
              </a:ext>
            </a:extLst>
          </p:cNvPr>
          <p:cNvSpPr>
            <a:spLocks noGrp="1"/>
          </p:cNvSpPr>
          <p:nvPr>
            <p:ph idx="1"/>
          </p:nvPr>
        </p:nvSpPr>
        <p:spPr>
          <a:xfrm>
            <a:off x="838200" y="5119575"/>
            <a:ext cx="9879106" cy="1126680"/>
          </a:xfrm>
        </p:spPr>
        <p:txBody>
          <a:bodyPr vert="horz" lIns="91440" tIns="45720" rIns="91440" bIns="45720" rtlCol="0">
            <a:normAutofit/>
          </a:bodyPr>
          <a:lstStyle/>
          <a:p>
            <a:pPr marL="0" indent="0">
              <a:buNone/>
            </a:pPr>
            <a:r>
              <a:rPr lang="en-US" dirty="0"/>
              <a:t>Use the contraception kit to show students the different methods of contraception.</a:t>
            </a:r>
          </a:p>
        </p:txBody>
      </p:sp>
      <p:sp>
        <p:nvSpPr>
          <p:cNvPr id="12" name="Rectangle 6">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668038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6">
            <a:extLst>
              <a:ext uri="{FF2B5EF4-FFF2-40B4-BE49-F238E27FC236}">
                <a16:creationId xmlns:a16="http://schemas.microsoft.com/office/drawing/2014/main" id="{DA381740-063A-41A4-836D-85D14980E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10" name="Rectangle 9">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1002C1-8CFC-4C31-5E02-AE252C28C0C9}"/>
              </a:ext>
            </a:extLst>
          </p:cNvPr>
          <p:cNvSpPr>
            <a:spLocks noGrp="1"/>
          </p:cNvSpPr>
          <p:nvPr>
            <p:ph type="title"/>
          </p:nvPr>
        </p:nvSpPr>
        <p:spPr>
          <a:xfrm>
            <a:off x="838200" y="451381"/>
            <a:ext cx="10753165" cy="4066540"/>
          </a:xfrm>
        </p:spPr>
        <p:txBody>
          <a:bodyPr vert="horz" lIns="91440" tIns="45720" rIns="91440" bIns="45720" rtlCol="0" anchor="b">
            <a:normAutofit fontScale="90000"/>
          </a:bodyPr>
          <a:lstStyle/>
          <a:p>
            <a:r>
              <a:rPr lang="en-US" sz="9600" dirty="0">
                <a:solidFill>
                  <a:schemeClr val="accent1"/>
                </a:solidFill>
              </a:rPr>
              <a:t>Optional Activity 5: </a:t>
            </a:r>
            <a:br>
              <a:rPr lang="en-US" sz="9600" dirty="0">
                <a:solidFill>
                  <a:schemeClr val="accent1"/>
                </a:solidFill>
              </a:rPr>
            </a:br>
            <a:r>
              <a:rPr lang="en-US" sz="9600" dirty="0">
                <a:solidFill>
                  <a:schemeClr val="accent1"/>
                </a:solidFill>
              </a:rPr>
              <a:t>Contraception Matching activity</a:t>
            </a:r>
          </a:p>
        </p:txBody>
      </p:sp>
      <p:sp>
        <p:nvSpPr>
          <p:cNvPr id="3" name="Content Placeholder 2">
            <a:extLst>
              <a:ext uri="{FF2B5EF4-FFF2-40B4-BE49-F238E27FC236}">
                <a16:creationId xmlns:a16="http://schemas.microsoft.com/office/drawing/2014/main" id="{2158341A-E2A6-5823-818C-15F12D25A3F1}"/>
              </a:ext>
            </a:extLst>
          </p:cNvPr>
          <p:cNvSpPr>
            <a:spLocks noGrp="1"/>
          </p:cNvSpPr>
          <p:nvPr>
            <p:ph idx="1"/>
          </p:nvPr>
        </p:nvSpPr>
        <p:spPr>
          <a:xfrm>
            <a:off x="838200" y="5119575"/>
            <a:ext cx="9879106" cy="1126680"/>
          </a:xfrm>
        </p:spPr>
        <p:txBody>
          <a:bodyPr vert="horz" lIns="91440" tIns="45720" rIns="91440" bIns="45720" rtlCol="0">
            <a:normAutofit/>
          </a:bodyPr>
          <a:lstStyle/>
          <a:p>
            <a:pPr marL="0" indent="0">
              <a:buNone/>
            </a:pPr>
            <a:r>
              <a:rPr lang="en-US" dirty="0"/>
              <a:t>Students are to work in small groups. Each group will receive a set of cards. Together, they need to match the contraception method to its correct pros and cons.</a:t>
            </a:r>
          </a:p>
        </p:txBody>
      </p:sp>
      <p:sp>
        <p:nvSpPr>
          <p:cNvPr id="12" name="Rectangle 6">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327982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6">
            <a:extLst>
              <a:ext uri="{FF2B5EF4-FFF2-40B4-BE49-F238E27FC236}">
                <a16:creationId xmlns:a16="http://schemas.microsoft.com/office/drawing/2014/main" id="{DA381740-063A-41A4-836D-85D14980E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12" name="Rectangle 11">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E237C8-4809-6F69-ABC9-644C86F1F7C9}"/>
              </a:ext>
            </a:extLst>
          </p:cNvPr>
          <p:cNvSpPr>
            <a:spLocks noGrp="1"/>
          </p:cNvSpPr>
          <p:nvPr>
            <p:ph type="title"/>
          </p:nvPr>
        </p:nvSpPr>
        <p:spPr>
          <a:xfrm>
            <a:off x="638882" y="639193"/>
            <a:ext cx="3571810" cy="3573516"/>
          </a:xfrm>
        </p:spPr>
        <p:txBody>
          <a:bodyPr vert="horz" lIns="91440" tIns="45720" rIns="91440" bIns="45720" rtlCol="0" anchor="b">
            <a:normAutofit/>
          </a:bodyPr>
          <a:lstStyle/>
          <a:p>
            <a:pPr>
              <a:lnSpc>
                <a:spcPct val="90000"/>
              </a:lnSpc>
            </a:pPr>
            <a:r>
              <a:rPr lang="en-US" sz="5800"/>
              <a:t>REMINDER:</a:t>
            </a:r>
            <a:br>
              <a:rPr lang="en-US" sz="5800"/>
            </a:br>
            <a:br>
              <a:rPr lang="en-US" sz="5800"/>
            </a:br>
            <a:r>
              <a:rPr lang="en-US" sz="5800"/>
              <a:t>TOPIC TEST NEXT WEEK</a:t>
            </a:r>
          </a:p>
        </p:txBody>
      </p:sp>
      <p:sp>
        <p:nvSpPr>
          <p:cNvPr id="14"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27432"/>
          </a:xfrm>
          <a:custGeom>
            <a:avLst/>
            <a:gdLst>
              <a:gd name="connsiteX0" fmla="*/ 0 w 3255095"/>
              <a:gd name="connsiteY0" fmla="*/ 0 h 27432"/>
              <a:gd name="connsiteX1" fmla="*/ 618468 w 3255095"/>
              <a:gd name="connsiteY1" fmla="*/ 0 h 27432"/>
              <a:gd name="connsiteX2" fmla="*/ 1269487 w 3255095"/>
              <a:gd name="connsiteY2" fmla="*/ 0 h 27432"/>
              <a:gd name="connsiteX3" fmla="*/ 1953057 w 3255095"/>
              <a:gd name="connsiteY3" fmla="*/ 0 h 27432"/>
              <a:gd name="connsiteX4" fmla="*/ 2636627 w 3255095"/>
              <a:gd name="connsiteY4" fmla="*/ 0 h 27432"/>
              <a:gd name="connsiteX5" fmla="*/ 3255095 w 3255095"/>
              <a:gd name="connsiteY5" fmla="*/ 0 h 27432"/>
              <a:gd name="connsiteX6" fmla="*/ 3255095 w 3255095"/>
              <a:gd name="connsiteY6" fmla="*/ 27432 h 27432"/>
              <a:gd name="connsiteX7" fmla="*/ 2538974 w 3255095"/>
              <a:gd name="connsiteY7" fmla="*/ 27432 h 27432"/>
              <a:gd name="connsiteX8" fmla="*/ 1822853 w 3255095"/>
              <a:gd name="connsiteY8" fmla="*/ 27432 h 27432"/>
              <a:gd name="connsiteX9" fmla="*/ 1171834 w 3255095"/>
              <a:gd name="connsiteY9" fmla="*/ 27432 h 27432"/>
              <a:gd name="connsiteX10" fmla="*/ 0 w 3255095"/>
              <a:gd name="connsiteY10" fmla="*/ 27432 h 27432"/>
              <a:gd name="connsiteX11" fmla="*/ 0 w 3255095"/>
              <a:gd name="connsiteY11"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27432"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3929" y="7395"/>
                  <a:pt x="3255140" y="21864"/>
                  <a:pt x="3255095" y="27432"/>
                </a:cubicBezTo>
                <a:cubicBezTo>
                  <a:pt x="3088545" y="32347"/>
                  <a:pt x="2687475" y="16563"/>
                  <a:pt x="2538974" y="27432"/>
                </a:cubicBezTo>
                <a:cubicBezTo>
                  <a:pt x="2390473" y="38301"/>
                  <a:pt x="2137381" y="185"/>
                  <a:pt x="1822853" y="27432"/>
                </a:cubicBezTo>
                <a:cubicBezTo>
                  <a:pt x="1508325" y="54679"/>
                  <a:pt x="1466437" y="29529"/>
                  <a:pt x="1171834" y="27432"/>
                </a:cubicBezTo>
                <a:cubicBezTo>
                  <a:pt x="877231" y="25335"/>
                  <a:pt x="561097" y="46787"/>
                  <a:pt x="0" y="27432"/>
                </a:cubicBezTo>
                <a:cubicBezTo>
                  <a:pt x="-503" y="20663"/>
                  <a:pt x="1168" y="5855"/>
                  <a:pt x="0" y="0"/>
                </a:cubicBezTo>
                <a:close/>
              </a:path>
              <a:path w="3255095" h="27432"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5288" y="12649"/>
                  <a:pt x="3254107" y="17989"/>
                  <a:pt x="3255095" y="27432"/>
                </a:cubicBezTo>
                <a:cubicBezTo>
                  <a:pt x="3120743" y="25834"/>
                  <a:pt x="2759628" y="51606"/>
                  <a:pt x="2604076" y="27432"/>
                </a:cubicBezTo>
                <a:cubicBezTo>
                  <a:pt x="2448524" y="3258"/>
                  <a:pt x="2184336" y="28743"/>
                  <a:pt x="1887955" y="27432"/>
                </a:cubicBezTo>
                <a:cubicBezTo>
                  <a:pt x="1591574" y="26121"/>
                  <a:pt x="1548845" y="16014"/>
                  <a:pt x="1334589" y="27432"/>
                </a:cubicBezTo>
                <a:cubicBezTo>
                  <a:pt x="1120333" y="38850"/>
                  <a:pt x="996014" y="18806"/>
                  <a:pt x="683570" y="27432"/>
                </a:cubicBezTo>
                <a:cubicBezTo>
                  <a:pt x="371126" y="36058"/>
                  <a:pt x="198687" y="25311"/>
                  <a:pt x="0" y="27432"/>
                </a:cubicBezTo>
                <a:cubicBezTo>
                  <a:pt x="1300" y="19678"/>
                  <a:pt x="-86" y="12044"/>
                  <a:pt x="0" y="0"/>
                </a:cubicBezTo>
                <a:close/>
              </a:path>
            </a:pathLst>
          </a:custGeom>
          <a:solidFill>
            <a:srgbClr val="D2660B"/>
          </a:solidFill>
          <a:ln w="38100" cap="rnd">
            <a:solidFill>
              <a:srgbClr val="D2660B"/>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Bubble sheet test paper and pencil">
            <a:extLst>
              <a:ext uri="{FF2B5EF4-FFF2-40B4-BE49-F238E27FC236}">
                <a16:creationId xmlns:a16="http://schemas.microsoft.com/office/drawing/2014/main" id="{E8B5B8A4-AEDE-65F9-FCF1-1E4FD5EF8E20}"/>
              </a:ext>
            </a:extLst>
          </p:cNvPr>
          <p:cNvPicPr>
            <a:picLocks noChangeAspect="1"/>
          </p:cNvPicPr>
          <p:nvPr/>
        </p:nvPicPr>
        <p:blipFill rotWithShape="1">
          <a:blip r:embed="rId3"/>
          <a:srcRect t="13462"/>
          <a:stretch/>
        </p:blipFill>
        <p:spPr>
          <a:xfrm>
            <a:off x="4654296" y="1386184"/>
            <a:ext cx="7214616" cy="4058200"/>
          </a:xfrm>
          <a:prstGeom prst="rect">
            <a:avLst/>
          </a:prstGeom>
        </p:spPr>
      </p:pic>
      <p:sp>
        <p:nvSpPr>
          <p:cNvPr id="3" name="TextBox 2">
            <a:extLst>
              <a:ext uri="{FF2B5EF4-FFF2-40B4-BE49-F238E27FC236}">
                <a16:creationId xmlns:a16="http://schemas.microsoft.com/office/drawing/2014/main" id="{2A9A4068-72A6-238B-84E7-FCCD317C38B0}"/>
              </a:ext>
            </a:extLst>
          </p:cNvPr>
          <p:cNvSpPr txBox="1"/>
          <p:nvPr/>
        </p:nvSpPr>
        <p:spPr>
          <a:xfrm>
            <a:off x="638882" y="4546600"/>
            <a:ext cx="3259491" cy="523220"/>
          </a:xfrm>
          <a:prstGeom prst="rect">
            <a:avLst/>
          </a:prstGeom>
          <a:noFill/>
        </p:spPr>
        <p:txBody>
          <a:bodyPr wrap="square" rtlCol="0">
            <a:spAutoFit/>
          </a:bodyPr>
          <a:lstStyle/>
          <a:p>
            <a:r>
              <a:rPr lang="en-US" sz="2800" dirty="0"/>
              <a:t>Complete your revision worksheet. </a:t>
            </a:r>
          </a:p>
        </p:txBody>
      </p:sp>
    </p:spTree>
    <p:extLst>
      <p:ext uri="{BB962C8B-B14F-4D97-AF65-F5344CB8AC3E}">
        <p14:creationId xmlns:p14="http://schemas.microsoft.com/office/powerpoint/2010/main" val="1785765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FA2E39B7-17D8-4009-A8BA-9E8D8EC1B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Graphic 33">
            <a:extLst>
              <a:ext uri="{FF2B5EF4-FFF2-40B4-BE49-F238E27FC236}">
                <a16:creationId xmlns:a16="http://schemas.microsoft.com/office/drawing/2014/main" id="{967EEEC4-6120-428D-8FB5-916920AEC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18417" y="0"/>
            <a:ext cx="9570431" cy="6858000"/>
          </a:xfrm>
          <a:custGeom>
            <a:avLst/>
            <a:gdLst>
              <a:gd name="connsiteX0" fmla="*/ 7178288 w 7187261"/>
              <a:gd name="connsiteY0" fmla="*/ 2604802 h 5150263"/>
              <a:gd name="connsiteX1" fmla="*/ 7169335 w 7187261"/>
              <a:gd name="connsiteY1" fmla="*/ 2328577 h 5150263"/>
              <a:gd name="connsiteX2" fmla="*/ 7060845 w 7187261"/>
              <a:gd name="connsiteY2" fmla="*/ 1661160 h 5150263"/>
              <a:gd name="connsiteX3" fmla="*/ 6212263 w 7187261"/>
              <a:gd name="connsiteY3" fmla="*/ 243840 h 5150263"/>
              <a:gd name="connsiteX4" fmla="*/ 5953564 w 7187261"/>
              <a:gd name="connsiteY4" fmla="*/ 0 h 5150263"/>
              <a:gd name="connsiteX5" fmla="*/ 1408615 w 7187261"/>
              <a:gd name="connsiteY5" fmla="*/ 0 h 5150263"/>
              <a:gd name="connsiteX6" fmla="*/ 805111 w 7187261"/>
              <a:gd name="connsiteY6" fmla="*/ 676275 h 5150263"/>
              <a:gd name="connsiteX7" fmla="*/ 104928 w 7187261"/>
              <a:gd name="connsiteY7" fmla="*/ 2183035 h 5150263"/>
              <a:gd name="connsiteX8" fmla="*/ 51588 w 7187261"/>
              <a:gd name="connsiteY8" fmla="*/ 2400014 h 5150263"/>
              <a:gd name="connsiteX9" fmla="*/ 41301 w 7187261"/>
              <a:gd name="connsiteY9" fmla="*/ 2424208 h 5150263"/>
              <a:gd name="connsiteX10" fmla="*/ 119692 w 7187261"/>
              <a:gd name="connsiteY10" fmla="*/ 1834801 h 5150263"/>
              <a:gd name="connsiteX11" fmla="*/ 870071 w 7187261"/>
              <a:gd name="connsiteY11" fmla="*/ 462248 h 5150263"/>
              <a:gd name="connsiteX12" fmla="*/ 1389279 w 7187261"/>
              <a:gd name="connsiteY12" fmla="*/ 476 h 5150263"/>
              <a:gd name="connsiteX13" fmla="*/ 1320223 w 7187261"/>
              <a:gd name="connsiteY13" fmla="*/ 476 h 5150263"/>
              <a:gd name="connsiteX14" fmla="*/ 423158 w 7187261"/>
              <a:gd name="connsiteY14" fmla="*/ 989743 h 5150263"/>
              <a:gd name="connsiteX15" fmla="*/ 25585 w 7187261"/>
              <a:gd name="connsiteY15" fmla="*/ 2113693 h 5150263"/>
              <a:gd name="connsiteX16" fmla="*/ 2344 w 7187261"/>
              <a:gd name="connsiteY16" fmla="*/ 2725865 h 5150263"/>
              <a:gd name="connsiteX17" fmla="*/ 447256 w 7187261"/>
              <a:gd name="connsiteY17" fmla="*/ 4210717 h 5150263"/>
              <a:gd name="connsiteX18" fmla="*/ 1138962 w 7187261"/>
              <a:gd name="connsiteY18" fmla="*/ 4988910 h 5150263"/>
              <a:gd name="connsiteX19" fmla="*/ 1348512 w 7187261"/>
              <a:gd name="connsiteY19" fmla="*/ 5146834 h 5150263"/>
              <a:gd name="connsiteX20" fmla="*/ 1422712 w 7187261"/>
              <a:gd name="connsiteY20" fmla="*/ 5146834 h 5150263"/>
              <a:gd name="connsiteX21" fmla="*/ 480594 w 7187261"/>
              <a:gd name="connsiteY21" fmla="*/ 4187952 h 5150263"/>
              <a:gd name="connsiteX22" fmla="*/ 398679 w 7187261"/>
              <a:gd name="connsiteY22" fmla="*/ 4046125 h 5150263"/>
              <a:gd name="connsiteX23" fmla="*/ 411823 w 7187261"/>
              <a:gd name="connsiteY23" fmla="*/ 4053078 h 5150263"/>
              <a:gd name="connsiteX24" fmla="*/ 1439380 w 7187261"/>
              <a:gd name="connsiteY24" fmla="*/ 5147405 h 5150263"/>
              <a:gd name="connsiteX25" fmla="*/ 5710010 w 7187261"/>
              <a:gd name="connsiteY25" fmla="*/ 5150263 h 5150263"/>
              <a:gd name="connsiteX26" fmla="*/ 5999665 w 7187261"/>
              <a:gd name="connsiteY26" fmla="*/ 4910900 h 5150263"/>
              <a:gd name="connsiteX27" fmla="*/ 6954165 w 7187261"/>
              <a:gd name="connsiteY27" fmla="*/ 3545777 h 5150263"/>
              <a:gd name="connsiteX28" fmla="*/ 7137712 w 7187261"/>
              <a:gd name="connsiteY28" fmla="*/ 2799207 h 5150263"/>
              <a:gd name="connsiteX29" fmla="*/ 7142951 w 7187261"/>
              <a:gd name="connsiteY29" fmla="*/ 2754535 h 5150263"/>
              <a:gd name="connsiteX30" fmla="*/ 7149428 w 7187261"/>
              <a:gd name="connsiteY30" fmla="*/ 2774823 h 5150263"/>
              <a:gd name="connsiteX31" fmla="*/ 7066465 w 7187261"/>
              <a:gd name="connsiteY31" fmla="*/ 3465672 h 5150263"/>
              <a:gd name="connsiteX32" fmla="*/ 6452578 w 7187261"/>
              <a:gd name="connsiteY32" fmla="*/ 4552760 h 5150263"/>
              <a:gd name="connsiteX33" fmla="*/ 5752110 w 7187261"/>
              <a:gd name="connsiteY33" fmla="*/ 5150263 h 5150263"/>
              <a:gd name="connsiteX34" fmla="*/ 5827643 w 7187261"/>
              <a:gd name="connsiteY34" fmla="*/ 5150263 h 5150263"/>
              <a:gd name="connsiteX35" fmla="*/ 6642793 w 7187261"/>
              <a:gd name="connsiteY35" fmla="*/ 4389406 h 5150263"/>
              <a:gd name="connsiteX36" fmla="*/ 7102469 w 7187261"/>
              <a:gd name="connsiteY36" fmla="*/ 3490817 h 5150263"/>
              <a:gd name="connsiteX37" fmla="*/ 7187242 w 7187261"/>
              <a:gd name="connsiteY37" fmla="*/ 2990183 h 5150263"/>
              <a:gd name="connsiteX38" fmla="*/ 7178288 w 7187261"/>
              <a:gd name="connsiteY38" fmla="*/ 2604802 h 5150263"/>
              <a:gd name="connsiteX39" fmla="*/ 6342565 w 7187261"/>
              <a:gd name="connsiteY39" fmla="*/ 441389 h 5150263"/>
              <a:gd name="connsiteX40" fmla="*/ 7126567 w 7187261"/>
              <a:gd name="connsiteY40" fmla="*/ 2355056 h 5150263"/>
              <a:gd name="connsiteX41" fmla="*/ 6342565 w 7187261"/>
              <a:gd name="connsiteY41" fmla="*/ 441389 h 51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7187261" h="5150263">
                <a:moveTo>
                  <a:pt x="7178288" y="2604802"/>
                </a:moveTo>
                <a:cubicBezTo>
                  <a:pt x="7168763" y="2513076"/>
                  <a:pt x="7174478" y="2420684"/>
                  <a:pt x="7169335" y="2328577"/>
                </a:cubicBezTo>
                <a:cubicBezTo>
                  <a:pt x="7156952" y="2102882"/>
                  <a:pt x="7120586" y="1879149"/>
                  <a:pt x="7060845" y="1661160"/>
                </a:cubicBezTo>
                <a:cubicBezTo>
                  <a:pt x="6910588" y="1121007"/>
                  <a:pt x="6617428" y="631374"/>
                  <a:pt x="6212263" y="243840"/>
                </a:cubicBezTo>
                <a:cubicBezTo>
                  <a:pt x="6126538" y="162496"/>
                  <a:pt x="6040813" y="80201"/>
                  <a:pt x="5953564" y="0"/>
                </a:cubicBezTo>
                <a:lnTo>
                  <a:pt x="1408615" y="0"/>
                </a:lnTo>
                <a:cubicBezTo>
                  <a:pt x="1180967" y="200316"/>
                  <a:pt x="978332" y="427387"/>
                  <a:pt x="805111" y="676275"/>
                </a:cubicBezTo>
                <a:cubicBezTo>
                  <a:pt x="481261" y="1136523"/>
                  <a:pt x="252089" y="1640872"/>
                  <a:pt x="104928" y="2183035"/>
                </a:cubicBezTo>
                <a:cubicBezTo>
                  <a:pt x="85878" y="2254853"/>
                  <a:pt x="69495" y="2327720"/>
                  <a:pt x="51588" y="2400014"/>
                </a:cubicBezTo>
                <a:cubicBezTo>
                  <a:pt x="49683" y="2407634"/>
                  <a:pt x="51588" y="2416969"/>
                  <a:pt x="41301" y="2424208"/>
                </a:cubicBezTo>
                <a:cubicBezTo>
                  <a:pt x="45900" y="2225469"/>
                  <a:pt x="72186" y="2027834"/>
                  <a:pt x="119692" y="1834801"/>
                </a:cubicBezTo>
                <a:cubicBezTo>
                  <a:pt x="247993" y="1310926"/>
                  <a:pt x="506121" y="857726"/>
                  <a:pt x="870071" y="462248"/>
                </a:cubicBezTo>
                <a:cubicBezTo>
                  <a:pt x="1027729" y="291823"/>
                  <a:pt x="1201617" y="137169"/>
                  <a:pt x="1389279" y="476"/>
                </a:cubicBezTo>
                <a:lnTo>
                  <a:pt x="1320223" y="476"/>
                </a:lnTo>
                <a:cubicBezTo>
                  <a:pt x="960844" y="274320"/>
                  <a:pt x="656330" y="599123"/>
                  <a:pt x="423158" y="989743"/>
                </a:cubicBezTo>
                <a:cubicBezTo>
                  <a:pt x="215608" y="1337596"/>
                  <a:pt x="80258" y="1711357"/>
                  <a:pt x="25585" y="2113693"/>
                </a:cubicBezTo>
                <a:cubicBezTo>
                  <a:pt x="-2705" y="2316480"/>
                  <a:pt x="-2228" y="2521077"/>
                  <a:pt x="2344" y="2725865"/>
                </a:cubicBezTo>
                <a:cubicBezTo>
                  <a:pt x="14155" y="3261932"/>
                  <a:pt x="170650" y="3754565"/>
                  <a:pt x="447256" y="4210717"/>
                </a:cubicBezTo>
                <a:cubicBezTo>
                  <a:pt x="629851" y="4511612"/>
                  <a:pt x="866356" y="4767167"/>
                  <a:pt x="1138962" y="4988910"/>
                </a:cubicBezTo>
                <a:cubicBezTo>
                  <a:pt x="1207161" y="5044345"/>
                  <a:pt x="1277008" y="5096990"/>
                  <a:pt x="1348512" y="5146834"/>
                </a:cubicBezTo>
                <a:lnTo>
                  <a:pt x="1422712" y="5146834"/>
                </a:lnTo>
                <a:cubicBezTo>
                  <a:pt x="1043426" y="4892802"/>
                  <a:pt x="724720" y="4577334"/>
                  <a:pt x="480594" y="4187952"/>
                </a:cubicBezTo>
                <a:cubicBezTo>
                  <a:pt x="452019" y="4141851"/>
                  <a:pt x="423444" y="4095179"/>
                  <a:pt x="398679" y="4046125"/>
                </a:cubicBezTo>
                <a:cubicBezTo>
                  <a:pt x="407442" y="4043267"/>
                  <a:pt x="409156" y="4048982"/>
                  <a:pt x="411823" y="4053078"/>
                </a:cubicBezTo>
                <a:cubicBezTo>
                  <a:pt x="683572" y="4484656"/>
                  <a:pt x="1033139" y="4842701"/>
                  <a:pt x="1439380" y="5147405"/>
                </a:cubicBezTo>
                <a:lnTo>
                  <a:pt x="5710010" y="5150263"/>
                </a:lnTo>
                <a:cubicBezTo>
                  <a:pt x="5810594" y="5075482"/>
                  <a:pt x="5907272" y="4995587"/>
                  <a:pt x="5999665" y="4910900"/>
                </a:cubicBezTo>
                <a:cubicBezTo>
                  <a:pt x="6418765" y="4526661"/>
                  <a:pt x="6746901" y="4078129"/>
                  <a:pt x="6954165" y="3545777"/>
                </a:cubicBezTo>
                <a:cubicBezTo>
                  <a:pt x="7048234" y="3306175"/>
                  <a:pt x="7109956" y="3055115"/>
                  <a:pt x="7137712" y="2799207"/>
                </a:cubicBezTo>
                <a:cubicBezTo>
                  <a:pt x="7139236" y="2784920"/>
                  <a:pt x="7141046" y="2770632"/>
                  <a:pt x="7142951" y="2754535"/>
                </a:cubicBezTo>
                <a:cubicBezTo>
                  <a:pt x="7151714" y="2760440"/>
                  <a:pt x="7149237" y="2768441"/>
                  <a:pt x="7149428" y="2774823"/>
                </a:cubicBezTo>
                <a:cubicBezTo>
                  <a:pt x="7156743" y="3007967"/>
                  <a:pt x="7128777" y="3240881"/>
                  <a:pt x="7066465" y="3465672"/>
                </a:cubicBezTo>
                <a:cubicBezTo>
                  <a:pt x="6952165" y="3878580"/>
                  <a:pt x="6737948" y="4235863"/>
                  <a:pt x="6452578" y="4552760"/>
                </a:cubicBezTo>
                <a:cubicBezTo>
                  <a:pt x="6244553" y="4783836"/>
                  <a:pt x="6008809" y="4980242"/>
                  <a:pt x="5752110" y="5150263"/>
                </a:cubicBezTo>
                <a:lnTo>
                  <a:pt x="5827643" y="5150263"/>
                </a:lnTo>
                <a:cubicBezTo>
                  <a:pt x="6136539" y="4938904"/>
                  <a:pt x="6412192" y="4689348"/>
                  <a:pt x="6642793" y="4389406"/>
                </a:cubicBezTo>
                <a:cubicBezTo>
                  <a:pt x="6851295" y="4118324"/>
                  <a:pt x="7009125" y="3820859"/>
                  <a:pt x="7102469" y="3490817"/>
                </a:cubicBezTo>
                <a:cubicBezTo>
                  <a:pt x="7148646" y="3327473"/>
                  <a:pt x="7177069" y="3159624"/>
                  <a:pt x="7187242" y="2990183"/>
                </a:cubicBezTo>
                <a:cubicBezTo>
                  <a:pt x="7187623" y="2984087"/>
                  <a:pt x="7182384" y="2642330"/>
                  <a:pt x="7178288" y="2604802"/>
                </a:cubicBezTo>
                <a:close/>
                <a:moveTo>
                  <a:pt x="6342565" y="441389"/>
                </a:moveTo>
                <a:cubicBezTo>
                  <a:pt x="6829797" y="986533"/>
                  <a:pt x="7091135" y="1624422"/>
                  <a:pt x="7126567" y="2355056"/>
                </a:cubicBezTo>
                <a:cubicBezTo>
                  <a:pt x="7001123" y="1661827"/>
                  <a:pt x="6756426" y="1017365"/>
                  <a:pt x="6342565" y="441389"/>
                </a:cubicBezTo>
                <a:close/>
              </a:path>
            </a:pathLst>
          </a:custGeom>
          <a:solidFill>
            <a:schemeClr val="accent1"/>
          </a:solidFill>
          <a:ln w="9525"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B71BA2E5-8E6F-8D9E-8FBE-E6717C18664C}"/>
              </a:ext>
            </a:extLst>
          </p:cNvPr>
          <p:cNvSpPr>
            <a:spLocks noGrp="1"/>
          </p:cNvSpPr>
          <p:nvPr>
            <p:ph type="title"/>
          </p:nvPr>
        </p:nvSpPr>
        <p:spPr>
          <a:xfrm>
            <a:off x="4326188" y="0"/>
            <a:ext cx="3536576" cy="1739467"/>
          </a:xfrm>
        </p:spPr>
        <p:txBody>
          <a:bodyPr anchor="b">
            <a:normAutofit/>
          </a:bodyPr>
          <a:lstStyle/>
          <a:p>
            <a:pPr algn="ctr"/>
            <a:r>
              <a:rPr lang="en-US" sz="8800" b="1" dirty="0">
                <a:solidFill>
                  <a:srgbClr val="FFFFFF"/>
                </a:solidFill>
              </a:rPr>
              <a:t>REMINDER!</a:t>
            </a:r>
          </a:p>
        </p:txBody>
      </p:sp>
      <p:sp>
        <p:nvSpPr>
          <p:cNvPr id="3" name="Content Placeholder 2">
            <a:extLst>
              <a:ext uri="{FF2B5EF4-FFF2-40B4-BE49-F238E27FC236}">
                <a16:creationId xmlns:a16="http://schemas.microsoft.com/office/drawing/2014/main" id="{055D5E07-DC2C-C281-7C64-FE4E21E1B7B3}"/>
              </a:ext>
            </a:extLst>
          </p:cNvPr>
          <p:cNvSpPr>
            <a:spLocks noGrp="1"/>
          </p:cNvSpPr>
          <p:nvPr>
            <p:ph idx="1"/>
          </p:nvPr>
        </p:nvSpPr>
        <p:spPr>
          <a:xfrm>
            <a:off x="2220204" y="1739468"/>
            <a:ext cx="7811302" cy="4490362"/>
          </a:xfrm>
        </p:spPr>
        <p:txBody>
          <a:bodyPr>
            <a:normAutofit fontScale="92500" lnSpcReduction="10000"/>
          </a:bodyPr>
          <a:lstStyle/>
          <a:p>
            <a:pPr>
              <a:lnSpc>
                <a:spcPct val="100000"/>
              </a:lnSpc>
            </a:pPr>
            <a:r>
              <a:rPr lang="en-US" sz="2000" dirty="0">
                <a:latin typeface="Aptos" panose="020B0004020202020204" pitchFamily="34" charset="0"/>
              </a:rPr>
              <a:t>As we talk through this unit on sexual health, it is important to acknowledge that no two people are the same. </a:t>
            </a:r>
          </a:p>
          <a:p>
            <a:pPr>
              <a:lnSpc>
                <a:spcPct val="100000"/>
              </a:lnSpc>
            </a:pPr>
            <a:endParaRPr lang="en-US" sz="2000" dirty="0">
              <a:latin typeface="Aptos" panose="020B0004020202020204" pitchFamily="34" charset="0"/>
            </a:endParaRPr>
          </a:p>
          <a:p>
            <a:pPr>
              <a:lnSpc>
                <a:spcPct val="100000"/>
              </a:lnSpc>
            </a:pPr>
            <a:r>
              <a:rPr lang="en-US" sz="2000" dirty="0">
                <a:latin typeface="Aptos" panose="020B0004020202020204" pitchFamily="34" charset="0"/>
              </a:rPr>
              <a:t>Just as we all have different hair colour, skin colour, facial features etc., penis and vagina also vary greatly in shape, size and colour. </a:t>
            </a:r>
          </a:p>
          <a:p>
            <a:pPr>
              <a:lnSpc>
                <a:spcPct val="100000"/>
              </a:lnSpc>
            </a:pPr>
            <a:endParaRPr lang="en-US" sz="2000" dirty="0">
              <a:latin typeface="Aptos" panose="020B0004020202020204" pitchFamily="34" charset="0"/>
            </a:endParaRPr>
          </a:p>
          <a:p>
            <a:pPr>
              <a:lnSpc>
                <a:spcPct val="100000"/>
              </a:lnSpc>
            </a:pPr>
            <a:r>
              <a:rPr lang="en-US" sz="2000" dirty="0">
                <a:latin typeface="Aptos" panose="020B0004020202020204" pitchFamily="34" charset="0"/>
              </a:rPr>
              <a:t>As with contraceptive methods – everyone has their own preferences for various reasons (i.e., cost, ease of use, length of effectiveness etc.) and everyone will react differently or have different side-effects (particularly for hormonal methods). This is also why there are so many options available. </a:t>
            </a:r>
          </a:p>
          <a:p>
            <a:pPr>
              <a:lnSpc>
                <a:spcPct val="100000"/>
              </a:lnSpc>
            </a:pPr>
            <a:endParaRPr lang="en-US" sz="2000" dirty="0">
              <a:latin typeface="Aptos" panose="020B0004020202020204" pitchFamily="34" charset="0"/>
            </a:endParaRPr>
          </a:p>
          <a:p>
            <a:pPr>
              <a:lnSpc>
                <a:spcPct val="100000"/>
              </a:lnSpc>
            </a:pPr>
            <a:r>
              <a:rPr lang="en-US" sz="2000" dirty="0">
                <a:latin typeface="Aptos" panose="020B0004020202020204" pitchFamily="34" charset="0"/>
              </a:rPr>
              <a:t>There is no one perfect penis, vulva or method of contraception. </a:t>
            </a:r>
          </a:p>
        </p:txBody>
      </p:sp>
    </p:spTree>
    <p:extLst>
      <p:ext uri="{BB962C8B-B14F-4D97-AF65-F5344CB8AC3E}">
        <p14:creationId xmlns:p14="http://schemas.microsoft.com/office/powerpoint/2010/main" val="4114201742"/>
      </p:ext>
    </p:extLst>
  </p:cSld>
  <p:clrMapOvr>
    <a:masterClrMapping/>
  </p:clrMapOvr>
</p:sld>
</file>

<file path=ppt/theme/theme1.xml><?xml version="1.0" encoding="utf-8"?>
<a:theme xmlns:a="http://schemas.openxmlformats.org/drawingml/2006/main" name="SketchyVTI">
  <a:themeElements>
    <a:clrScheme name="SketchyVTI">
      <a:dk1>
        <a:sysClr val="windowText" lastClr="000000"/>
      </a:dk1>
      <a:lt1>
        <a:sysClr val="window" lastClr="FFFFFF"/>
      </a:lt1>
      <a:dk2>
        <a:srgbClr val="39302A"/>
      </a:dk2>
      <a:lt2>
        <a:srgbClr val="E5DEDB"/>
      </a:lt2>
      <a:accent1>
        <a:srgbClr val="E4650E"/>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Custom 2">
      <a:majorFont>
        <a:latin typeface="The Serif Hand Black"/>
        <a:ea typeface=""/>
        <a:cs typeface=""/>
      </a:majorFont>
      <a:minorFont>
        <a:latin typeface="The Hand Bol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yVTI" id="{A6D2C935-A6E4-4DD9-BCC5-5AE2504DB8EA}" vid="{F0754072-50B6-4C01-B911-67246C9F58D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3013</TotalTime>
  <Words>3798</Words>
  <Application>Microsoft Macintosh PowerPoint</Application>
  <PresentationFormat>Widescreen</PresentationFormat>
  <Paragraphs>372</Paragraphs>
  <Slides>43</Slides>
  <Notes>20</Notes>
  <HiddenSlides>0</HiddenSlides>
  <MMClips>2</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Aptos</vt:lpstr>
      <vt:lpstr>Arial</vt:lpstr>
      <vt:lpstr>The Hand Bold</vt:lpstr>
      <vt:lpstr>The Serif Hand Black</vt:lpstr>
      <vt:lpstr>Wingdings</vt:lpstr>
      <vt:lpstr>SketchyVTI</vt:lpstr>
      <vt:lpstr>CONTRACEPTION &amp; STI’s</vt:lpstr>
      <vt:lpstr>Today’s Focus</vt:lpstr>
      <vt:lpstr>OPTIONAL HOOK: TRUE OR FALSE (pg. 12)</vt:lpstr>
      <vt:lpstr>OPTIONAL Hook: (pg. 13) Reasons to Postpone Sex</vt:lpstr>
      <vt:lpstr>Types of Contraception (pg. 14)</vt:lpstr>
      <vt:lpstr>PowerPoint Presentation</vt:lpstr>
      <vt:lpstr>Activity 2: Methods of Contraception (pg. 14-16)</vt:lpstr>
      <vt:lpstr>Activity 2: METHODS OF CONTRACEPTION (pg. 14-16)</vt:lpstr>
      <vt:lpstr>IMPORTANT!</vt:lpstr>
      <vt:lpstr>BARRIER METHODS:</vt:lpstr>
      <vt:lpstr>Male Condom</vt:lpstr>
      <vt:lpstr>FEMALE CONDOM</vt:lpstr>
      <vt:lpstr>What you need to know about Condoms:</vt:lpstr>
      <vt:lpstr>DIAPHRAGM &amp; Cervical Cap</vt:lpstr>
      <vt:lpstr>SPERMICIDE</vt:lpstr>
      <vt:lpstr>HORMONAL METHODS:</vt:lpstr>
      <vt:lpstr>Copper IUD</vt:lpstr>
      <vt:lpstr>Hormonal/Plastic IUD</vt:lpstr>
      <vt:lpstr>PowerPoint Presentation</vt:lpstr>
      <vt:lpstr>Patch</vt:lpstr>
      <vt:lpstr>IMPLANON (ROD)</vt:lpstr>
      <vt:lpstr>INJECTION (DEPO-PROVERA)</vt:lpstr>
      <vt:lpstr>VAGINAL RING</vt:lpstr>
      <vt:lpstr>COMBINED PILL &amp; Mini Pill</vt:lpstr>
      <vt:lpstr>GLOSSARY: (pg. 8)</vt:lpstr>
      <vt:lpstr>NATURAL METHODS:</vt:lpstr>
      <vt:lpstr>Natural Methods</vt:lpstr>
      <vt:lpstr>Rhythm Method</vt:lpstr>
      <vt:lpstr>PowerPoint Presentation</vt:lpstr>
      <vt:lpstr>Withdrawal</vt:lpstr>
      <vt:lpstr>PowerPoint Presentation</vt:lpstr>
      <vt:lpstr>ABSTINENCE</vt:lpstr>
      <vt:lpstr>EMERGENCY METHODS:</vt:lpstr>
      <vt:lpstr>EMERGENCY CONTRACEPTIVE PILL / PLAN B </vt:lpstr>
      <vt:lpstr>Copper IUD - RECAP</vt:lpstr>
      <vt:lpstr>SURGICAL METHODS:</vt:lpstr>
      <vt:lpstr>Tubal Ligation </vt:lpstr>
      <vt:lpstr>Vasectomy</vt:lpstr>
      <vt:lpstr>Activity 3: contraception scenario’s Which is best and why? (pg. 17)</vt:lpstr>
      <vt:lpstr>Optional Activity 4: Contraception Kit</vt:lpstr>
      <vt:lpstr>Optional Activity 5:  Contraception Matching activity</vt:lpstr>
      <vt:lpstr>REMINDER:  TOPIC TEST NEXT WEEK</vt:lpstr>
      <vt:lpstr>REMINDER!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CONTRACEPTION &amp; STI’s</dc:title>
  <dc:creator>HILLMAN Alissa [Willetton Senior High School]</dc:creator>
  <cp:lastModifiedBy>HILLMAN Alissa [Willetton Senior High School]</cp:lastModifiedBy>
  <cp:revision>33</cp:revision>
  <dcterms:created xsi:type="dcterms:W3CDTF">2024-02-21T07:14:50Z</dcterms:created>
  <dcterms:modified xsi:type="dcterms:W3CDTF">2024-03-04T05:15:19Z</dcterms:modified>
</cp:coreProperties>
</file>
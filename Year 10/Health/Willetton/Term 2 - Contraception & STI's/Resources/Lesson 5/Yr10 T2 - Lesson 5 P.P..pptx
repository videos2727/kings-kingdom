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2.xml" ContentType="application/inkml+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06" r:id="rId1"/>
  </p:sldMasterIdLst>
  <p:notesMasterIdLst>
    <p:notesMasterId r:id="rId32"/>
  </p:notesMasterIdLst>
  <p:sldIdLst>
    <p:sldId id="261" r:id="rId2"/>
    <p:sldId id="603" r:id="rId3"/>
    <p:sldId id="284" r:id="rId4"/>
    <p:sldId id="625" r:id="rId5"/>
    <p:sldId id="604" r:id="rId6"/>
    <p:sldId id="605" r:id="rId7"/>
    <p:sldId id="606" r:id="rId8"/>
    <p:sldId id="611" r:id="rId9"/>
    <p:sldId id="607" r:id="rId10"/>
    <p:sldId id="627" r:id="rId11"/>
    <p:sldId id="330" r:id="rId12"/>
    <p:sldId id="608" r:id="rId13"/>
    <p:sldId id="613" r:id="rId14"/>
    <p:sldId id="628" r:id="rId15"/>
    <p:sldId id="474" r:id="rId16"/>
    <p:sldId id="300" r:id="rId17"/>
    <p:sldId id="476" r:id="rId18"/>
    <p:sldId id="303" r:id="rId19"/>
    <p:sldId id="630" r:id="rId20"/>
    <p:sldId id="631" r:id="rId21"/>
    <p:sldId id="632" r:id="rId22"/>
    <p:sldId id="634" r:id="rId23"/>
    <p:sldId id="635" r:id="rId24"/>
    <p:sldId id="636" r:id="rId25"/>
    <p:sldId id="307" r:id="rId26"/>
    <p:sldId id="482" r:id="rId27"/>
    <p:sldId id="478" r:id="rId28"/>
    <p:sldId id="483" r:id="rId29"/>
    <p:sldId id="624" r:id="rId30"/>
    <p:sldId id="40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E4650C"/>
    <a:srgbClr val="FF9300"/>
    <a:srgbClr val="FF2F92"/>
    <a:srgbClr val="0096FF"/>
    <a:srgbClr val="D883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75"/>
    <p:restoredTop sz="83008"/>
  </p:normalViewPr>
  <p:slideViewPr>
    <p:cSldViewPr snapToGrid="0">
      <p:cViewPr varScale="1">
        <p:scale>
          <a:sx n="94" d="100"/>
          <a:sy n="94" d="100"/>
        </p:scale>
        <p:origin x="11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DE9ADB-F8BB-49DB-9C19-83014C35ABD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AF5616-6197-4874-8766-5F4BB7D04E8B}">
      <dgm:prSet custT="1"/>
      <dgm:spPr/>
      <dgm:t>
        <a:bodyPr/>
        <a:lstStyle/>
        <a:p>
          <a:pPr>
            <a:lnSpc>
              <a:spcPct val="100000"/>
            </a:lnSpc>
          </a:pPr>
          <a:r>
            <a:rPr lang="en-US" sz="2800" dirty="0"/>
            <a:t>Week 5 STI’s.</a:t>
          </a:r>
        </a:p>
      </dgm:t>
    </dgm:pt>
    <dgm:pt modelId="{569F0A04-88E0-4299-ABBE-85281493B1DE}" type="parTrans" cxnId="{59EC7B23-6881-4C3A-8D74-8E9BB9DFC5F6}">
      <dgm:prSet/>
      <dgm:spPr/>
      <dgm:t>
        <a:bodyPr/>
        <a:lstStyle/>
        <a:p>
          <a:endParaRPr lang="en-US"/>
        </a:p>
      </dgm:t>
    </dgm:pt>
    <dgm:pt modelId="{01C27BB6-4E5B-4C5F-8A4F-323939EEACEE}" type="sibTrans" cxnId="{59EC7B23-6881-4C3A-8D74-8E9BB9DFC5F6}">
      <dgm:prSet/>
      <dgm:spPr/>
      <dgm:t>
        <a:bodyPr/>
        <a:lstStyle/>
        <a:p>
          <a:endParaRPr lang="en-US"/>
        </a:p>
      </dgm:t>
    </dgm:pt>
    <dgm:pt modelId="{F5502EDD-7816-4448-A3E2-CC23C846FD58}">
      <dgm:prSet custT="1"/>
      <dgm:spPr/>
      <dgm:t>
        <a:bodyPr/>
        <a:lstStyle/>
        <a:p>
          <a:pPr>
            <a:lnSpc>
              <a:spcPct val="100000"/>
            </a:lnSpc>
          </a:pPr>
          <a:r>
            <a:rPr lang="en-US" sz="2800" dirty="0"/>
            <a:t>Week 6 = STI’s + Task 3: STI Oral Presentations.</a:t>
          </a:r>
        </a:p>
      </dgm:t>
    </dgm:pt>
    <dgm:pt modelId="{D1D71C9A-DEDB-4C56-AC8F-B56A53E89EC2}" type="parTrans" cxnId="{57A70D9A-C05E-4C51-A55D-A31A995BCB02}">
      <dgm:prSet/>
      <dgm:spPr/>
      <dgm:t>
        <a:bodyPr/>
        <a:lstStyle/>
        <a:p>
          <a:endParaRPr lang="en-US"/>
        </a:p>
      </dgm:t>
    </dgm:pt>
    <dgm:pt modelId="{28A2D4A4-A94A-4C35-A302-C650D8C224B1}" type="sibTrans" cxnId="{57A70D9A-C05E-4C51-A55D-A31A995BCB02}">
      <dgm:prSet/>
      <dgm:spPr/>
      <dgm:t>
        <a:bodyPr/>
        <a:lstStyle/>
        <a:p>
          <a:endParaRPr lang="en-US"/>
        </a:p>
      </dgm:t>
    </dgm:pt>
    <dgm:pt modelId="{7EF85F7E-F73D-4B6B-BBD4-8EDC2EF21958}">
      <dgm:prSet custT="1"/>
      <dgm:spPr/>
      <dgm:t>
        <a:bodyPr/>
        <a:lstStyle/>
        <a:p>
          <a:pPr>
            <a:lnSpc>
              <a:spcPct val="100000"/>
            </a:lnSpc>
          </a:pPr>
          <a:r>
            <a:rPr lang="en-US" sz="2800" dirty="0"/>
            <a:t>Week 7 = Work on assignment. </a:t>
          </a:r>
        </a:p>
      </dgm:t>
    </dgm:pt>
    <dgm:pt modelId="{CB8F2E68-8D95-4E45-8FD0-28475D2B225E}" type="parTrans" cxnId="{DF4D5598-A324-4652-B129-5E21F3CD8590}">
      <dgm:prSet/>
      <dgm:spPr/>
      <dgm:t>
        <a:bodyPr/>
        <a:lstStyle/>
        <a:p>
          <a:endParaRPr lang="en-US"/>
        </a:p>
      </dgm:t>
    </dgm:pt>
    <dgm:pt modelId="{4E744D25-7A80-46C8-98CD-32646C17C215}" type="sibTrans" cxnId="{DF4D5598-A324-4652-B129-5E21F3CD8590}">
      <dgm:prSet/>
      <dgm:spPr/>
      <dgm:t>
        <a:bodyPr/>
        <a:lstStyle/>
        <a:p>
          <a:endParaRPr lang="en-US"/>
        </a:p>
      </dgm:t>
    </dgm:pt>
    <dgm:pt modelId="{01838A37-019A-411E-8869-0EB4A87DC52A}">
      <dgm:prSet custT="1"/>
      <dgm:spPr/>
      <dgm:t>
        <a:bodyPr/>
        <a:lstStyle/>
        <a:p>
          <a:pPr>
            <a:lnSpc>
              <a:spcPct val="100000"/>
            </a:lnSpc>
          </a:pPr>
          <a:r>
            <a:rPr lang="en-US" sz="2800" dirty="0"/>
            <a:t>Week 8 = EXAM BREAK.</a:t>
          </a:r>
        </a:p>
      </dgm:t>
    </dgm:pt>
    <dgm:pt modelId="{3DFD89CC-EDA0-4561-9CFF-2D96B9F6BF19}" type="parTrans" cxnId="{A1D48BAB-4EA6-4D30-9541-42F462A19160}">
      <dgm:prSet/>
      <dgm:spPr/>
      <dgm:t>
        <a:bodyPr/>
        <a:lstStyle/>
        <a:p>
          <a:endParaRPr lang="en-US"/>
        </a:p>
      </dgm:t>
    </dgm:pt>
    <dgm:pt modelId="{C071D11B-4E24-434B-A0C0-A433332692F3}" type="sibTrans" cxnId="{A1D48BAB-4EA6-4D30-9541-42F462A19160}">
      <dgm:prSet/>
      <dgm:spPr/>
      <dgm:t>
        <a:bodyPr/>
        <a:lstStyle/>
        <a:p>
          <a:endParaRPr lang="en-US"/>
        </a:p>
      </dgm:t>
    </dgm:pt>
    <dgm:pt modelId="{A185E882-81CD-4F24-A445-91C5E4810318}">
      <dgm:prSet custT="1"/>
      <dgm:spPr/>
      <dgm:t>
        <a:bodyPr/>
        <a:lstStyle/>
        <a:p>
          <a:pPr>
            <a:lnSpc>
              <a:spcPct val="100000"/>
            </a:lnSpc>
          </a:pPr>
          <a:r>
            <a:rPr lang="en-US" sz="2400" dirty="0"/>
            <a:t>Week 9 – 11 = Assignment Presentations.</a:t>
          </a:r>
        </a:p>
        <a:p>
          <a:pPr>
            <a:lnSpc>
              <a:spcPct val="100000"/>
            </a:lnSpc>
          </a:pPr>
          <a:r>
            <a:rPr lang="en-US" sz="1800" dirty="0"/>
            <a:t>- </a:t>
          </a:r>
          <a:r>
            <a:rPr lang="en-US" sz="1800" b="1" u="sng" dirty="0"/>
            <a:t>ALL</a:t>
          </a:r>
          <a:r>
            <a:rPr lang="en-US" sz="1800" dirty="0"/>
            <a:t> assignments are due in week 9 and names will be drawn at random. </a:t>
          </a:r>
        </a:p>
      </dgm:t>
    </dgm:pt>
    <dgm:pt modelId="{6F4A1032-4428-424F-8CDC-1961B2C8197D}" type="parTrans" cxnId="{9E05FD9E-72E8-4C43-8F6D-38B98A4C8CDD}">
      <dgm:prSet/>
      <dgm:spPr/>
      <dgm:t>
        <a:bodyPr/>
        <a:lstStyle/>
        <a:p>
          <a:endParaRPr lang="en-US"/>
        </a:p>
      </dgm:t>
    </dgm:pt>
    <dgm:pt modelId="{5863E5F5-AB71-436B-8900-38DFE7BC452B}" type="sibTrans" cxnId="{9E05FD9E-72E8-4C43-8F6D-38B98A4C8CDD}">
      <dgm:prSet/>
      <dgm:spPr/>
      <dgm:t>
        <a:bodyPr/>
        <a:lstStyle/>
        <a:p>
          <a:endParaRPr lang="en-US"/>
        </a:p>
      </dgm:t>
    </dgm:pt>
    <dgm:pt modelId="{BB3E35E2-9F3A-4178-BE3A-F37982BD2E61}" type="pres">
      <dgm:prSet presAssocID="{C7DE9ADB-F8BB-49DB-9C19-83014C35ABD1}" presName="root" presStyleCnt="0">
        <dgm:presLayoutVars>
          <dgm:dir/>
          <dgm:resizeHandles val="exact"/>
        </dgm:presLayoutVars>
      </dgm:prSet>
      <dgm:spPr/>
    </dgm:pt>
    <dgm:pt modelId="{95A01A1C-D44F-4062-925D-26F431671242}" type="pres">
      <dgm:prSet presAssocID="{3EAF5616-6197-4874-8766-5F4BB7D04E8B}" presName="compNode" presStyleCnt="0"/>
      <dgm:spPr/>
    </dgm:pt>
    <dgm:pt modelId="{BC811C98-CC56-4E66-B459-39C583D434E3}" type="pres">
      <dgm:prSet presAssocID="{3EAF5616-6197-4874-8766-5F4BB7D04E8B}" presName="bgRect" presStyleLbl="bgShp" presStyleIdx="0" presStyleCnt="5"/>
      <dgm:spPr/>
    </dgm:pt>
    <dgm:pt modelId="{54522CFB-28D3-4606-BB80-339A25369261}" type="pres">
      <dgm:prSet presAssocID="{3EAF5616-6197-4874-8766-5F4BB7D04E8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83EB9195-E891-4F66-91A4-B8B221B34B17}" type="pres">
      <dgm:prSet presAssocID="{3EAF5616-6197-4874-8766-5F4BB7D04E8B}" presName="spaceRect" presStyleCnt="0"/>
      <dgm:spPr/>
    </dgm:pt>
    <dgm:pt modelId="{959142C3-DF34-4899-B5ED-E1DA7F976127}" type="pres">
      <dgm:prSet presAssocID="{3EAF5616-6197-4874-8766-5F4BB7D04E8B}" presName="parTx" presStyleLbl="revTx" presStyleIdx="0" presStyleCnt="5">
        <dgm:presLayoutVars>
          <dgm:chMax val="0"/>
          <dgm:chPref val="0"/>
        </dgm:presLayoutVars>
      </dgm:prSet>
      <dgm:spPr/>
    </dgm:pt>
    <dgm:pt modelId="{A21662D3-4D3D-4E41-8A6F-6189579E5808}" type="pres">
      <dgm:prSet presAssocID="{01C27BB6-4E5B-4C5F-8A4F-323939EEACEE}" presName="sibTrans" presStyleCnt="0"/>
      <dgm:spPr/>
    </dgm:pt>
    <dgm:pt modelId="{B62B3734-2C87-462B-B0AE-DA96046D9884}" type="pres">
      <dgm:prSet presAssocID="{F5502EDD-7816-4448-A3E2-CC23C846FD58}" presName="compNode" presStyleCnt="0"/>
      <dgm:spPr/>
    </dgm:pt>
    <dgm:pt modelId="{79A32036-1F0B-416F-82ED-DE294A4DDFEE}" type="pres">
      <dgm:prSet presAssocID="{F5502EDD-7816-4448-A3E2-CC23C846FD58}" presName="bgRect" presStyleLbl="bgShp" presStyleIdx="1" presStyleCnt="5"/>
      <dgm:spPr/>
    </dgm:pt>
    <dgm:pt modelId="{D851201A-F1DD-4E78-85C5-9D6EB970CD4D}" type="pres">
      <dgm:prSet presAssocID="{F5502EDD-7816-4448-A3E2-CC23C846FD5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cher"/>
        </a:ext>
      </dgm:extLst>
    </dgm:pt>
    <dgm:pt modelId="{EF36C713-B875-4432-99BC-B1CA6FF71E43}" type="pres">
      <dgm:prSet presAssocID="{F5502EDD-7816-4448-A3E2-CC23C846FD58}" presName="spaceRect" presStyleCnt="0"/>
      <dgm:spPr/>
    </dgm:pt>
    <dgm:pt modelId="{C58E8C22-BC90-4362-BD87-DB247553DADB}" type="pres">
      <dgm:prSet presAssocID="{F5502EDD-7816-4448-A3E2-CC23C846FD58}" presName="parTx" presStyleLbl="revTx" presStyleIdx="1" presStyleCnt="5">
        <dgm:presLayoutVars>
          <dgm:chMax val="0"/>
          <dgm:chPref val="0"/>
        </dgm:presLayoutVars>
      </dgm:prSet>
      <dgm:spPr/>
    </dgm:pt>
    <dgm:pt modelId="{77FF953C-D2BC-442F-8D40-5B96F6D3F529}" type="pres">
      <dgm:prSet presAssocID="{28A2D4A4-A94A-4C35-A302-C650D8C224B1}" presName="sibTrans" presStyleCnt="0"/>
      <dgm:spPr/>
    </dgm:pt>
    <dgm:pt modelId="{669EAC73-765D-45FE-BE03-EB686D57F44E}" type="pres">
      <dgm:prSet presAssocID="{7EF85F7E-F73D-4B6B-BBD4-8EDC2EF21958}" presName="compNode" presStyleCnt="0"/>
      <dgm:spPr/>
    </dgm:pt>
    <dgm:pt modelId="{67380DAD-87D7-4D45-81FC-72279EFD3258}" type="pres">
      <dgm:prSet presAssocID="{7EF85F7E-F73D-4B6B-BBD4-8EDC2EF21958}" presName="bgRect" presStyleLbl="bgShp" presStyleIdx="2" presStyleCnt="5"/>
      <dgm:spPr/>
    </dgm:pt>
    <dgm:pt modelId="{6DD1F972-DF6D-4E72-9CF0-76FB92654C85}" type="pres">
      <dgm:prSet presAssocID="{7EF85F7E-F73D-4B6B-BBD4-8EDC2EF2195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27439383-7DFA-4688-AD1E-0E2AA97794A7}" type="pres">
      <dgm:prSet presAssocID="{7EF85F7E-F73D-4B6B-BBD4-8EDC2EF21958}" presName="spaceRect" presStyleCnt="0"/>
      <dgm:spPr/>
    </dgm:pt>
    <dgm:pt modelId="{96CB073C-F679-407E-A1B4-48CEB9056F7D}" type="pres">
      <dgm:prSet presAssocID="{7EF85F7E-F73D-4B6B-BBD4-8EDC2EF21958}" presName="parTx" presStyleLbl="revTx" presStyleIdx="2" presStyleCnt="5">
        <dgm:presLayoutVars>
          <dgm:chMax val="0"/>
          <dgm:chPref val="0"/>
        </dgm:presLayoutVars>
      </dgm:prSet>
      <dgm:spPr/>
    </dgm:pt>
    <dgm:pt modelId="{E8A93EAF-12D9-4AE3-884D-CACF9BEF5FFA}" type="pres">
      <dgm:prSet presAssocID="{4E744D25-7A80-46C8-98CD-32646C17C215}" presName="sibTrans" presStyleCnt="0"/>
      <dgm:spPr/>
    </dgm:pt>
    <dgm:pt modelId="{7687D50F-D607-4102-A427-6CCCA5CF84BF}" type="pres">
      <dgm:prSet presAssocID="{01838A37-019A-411E-8869-0EB4A87DC52A}" presName="compNode" presStyleCnt="0"/>
      <dgm:spPr/>
    </dgm:pt>
    <dgm:pt modelId="{0967C147-F5FF-441C-9A26-6DCD6C8C801F}" type="pres">
      <dgm:prSet presAssocID="{01838A37-019A-411E-8869-0EB4A87DC52A}" presName="bgRect" presStyleLbl="bgShp" presStyleIdx="3" presStyleCnt="5"/>
      <dgm:spPr/>
    </dgm:pt>
    <dgm:pt modelId="{4C73377C-06F6-4033-B121-D99FDF7D82CD}" type="pres">
      <dgm:prSet presAssocID="{01838A37-019A-411E-8869-0EB4A87DC52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ffee"/>
        </a:ext>
      </dgm:extLst>
    </dgm:pt>
    <dgm:pt modelId="{1AE7033C-CEC8-4FC7-8BB0-1143E8ADB9DB}" type="pres">
      <dgm:prSet presAssocID="{01838A37-019A-411E-8869-0EB4A87DC52A}" presName="spaceRect" presStyleCnt="0"/>
      <dgm:spPr/>
    </dgm:pt>
    <dgm:pt modelId="{C55A49A1-6F7F-4E9E-AD2A-97381A9216E4}" type="pres">
      <dgm:prSet presAssocID="{01838A37-019A-411E-8869-0EB4A87DC52A}" presName="parTx" presStyleLbl="revTx" presStyleIdx="3" presStyleCnt="5">
        <dgm:presLayoutVars>
          <dgm:chMax val="0"/>
          <dgm:chPref val="0"/>
        </dgm:presLayoutVars>
      </dgm:prSet>
      <dgm:spPr/>
    </dgm:pt>
    <dgm:pt modelId="{58AAA013-293F-42FE-9572-2E9E22EED021}" type="pres">
      <dgm:prSet presAssocID="{C071D11B-4E24-434B-A0C0-A433332692F3}" presName="sibTrans" presStyleCnt="0"/>
      <dgm:spPr/>
    </dgm:pt>
    <dgm:pt modelId="{38C6867E-D5E5-4AF7-A6E6-3D1502E7B3F1}" type="pres">
      <dgm:prSet presAssocID="{A185E882-81CD-4F24-A445-91C5E4810318}" presName="compNode" presStyleCnt="0"/>
      <dgm:spPr/>
    </dgm:pt>
    <dgm:pt modelId="{BA5A426F-DC04-4DBD-B9ED-E3E5B5583088}" type="pres">
      <dgm:prSet presAssocID="{A185E882-81CD-4F24-A445-91C5E4810318}" presName="bgRect" presStyleLbl="bgShp" presStyleIdx="4" presStyleCnt="5"/>
      <dgm:spPr/>
    </dgm:pt>
    <dgm:pt modelId="{5F51AF84-7FF2-4979-A27E-39552CF92951}" type="pres">
      <dgm:prSet presAssocID="{A185E882-81CD-4F24-A445-91C5E481031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jector screen"/>
        </a:ext>
      </dgm:extLst>
    </dgm:pt>
    <dgm:pt modelId="{C58DD36E-5146-4841-94BF-8DE1668A01F0}" type="pres">
      <dgm:prSet presAssocID="{A185E882-81CD-4F24-A445-91C5E4810318}" presName="spaceRect" presStyleCnt="0"/>
      <dgm:spPr/>
    </dgm:pt>
    <dgm:pt modelId="{2EE8E618-865D-413E-9A98-FA8C90A5C173}" type="pres">
      <dgm:prSet presAssocID="{A185E882-81CD-4F24-A445-91C5E4810318}" presName="parTx" presStyleLbl="revTx" presStyleIdx="4" presStyleCnt="5">
        <dgm:presLayoutVars>
          <dgm:chMax val="0"/>
          <dgm:chPref val="0"/>
        </dgm:presLayoutVars>
      </dgm:prSet>
      <dgm:spPr/>
    </dgm:pt>
  </dgm:ptLst>
  <dgm:cxnLst>
    <dgm:cxn modelId="{4A68500E-2BC3-4AC6-8DEF-2E4251B6F5E8}" type="presOf" srcId="{A185E882-81CD-4F24-A445-91C5E4810318}" destId="{2EE8E618-865D-413E-9A98-FA8C90A5C173}" srcOrd="0" destOrd="0" presId="urn:microsoft.com/office/officeart/2018/2/layout/IconVerticalSolidList"/>
    <dgm:cxn modelId="{11745A1E-04C1-4396-8F33-4E076B447AAC}" type="presOf" srcId="{3EAF5616-6197-4874-8766-5F4BB7D04E8B}" destId="{959142C3-DF34-4899-B5ED-E1DA7F976127}" srcOrd="0" destOrd="0" presId="urn:microsoft.com/office/officeart/2018/2/layout/IconVerticalSolidList"/>
    <dgm:cxn modelId="{59EC7B23-6881-4C3A-8D74-8E9BB9DFC5F6}" srcId="{C7DE9ADB-F8BB-49DB-9C19-83014C35ABD1}" destId="{3EAF5616-6197-4874-8766-5F4BB7D04E8B}" srcOrd="0" destOrd="0" parTransId="{569F0A04-88E0-4299-ABBE-85281493B1DE}" sibTransId="{01C27BB6-4E5B-4C5F-8A4F-323939EEACEE}"/>
    <dgm:cxn modelId="{D920C146-64EB-470B-921D-90E3009F5CE5}" type="presOf" srcId="{7EF85F7E-F73D-4B6B-BBD4-8EDC2EF21958}" destId="{96CB073C-F679-407E-A1B4-48CEB9056F7D}" srcOrd="0" destOrd="0" presId="urn:microsoft.com/office/officeart/2018/2/layout/IconVerticalSolidList"/>
    <dgm:cxn modelId="{0D5F536D-30C0-4587-9261-540563C20462}" type="presOf" srcId="{01838A37-019A-411E-8869-0EB4A87DC52A}" destId="{C55A49A1-6F7F-4E9E-AD2A-97381A9216E4}" srcOrd="0" destOrd="0" presId="urn:microsoft.com/office/officeart/2018/2/layout/IconVerticalSolidList"/>
    <dgm:cxn modelId="{DF4D5598-A324-4652-B129-5E21F3CD8590}" srcId="{C7DE9ADB-F8BB-49DB-9C19-83014C35ABD1}" destId="{7EF85F7E-F73D-4B6B-BBD4-8EDC2EF21958}" srcOrd="2" destOrd="0" parTransId="{CB8F2E68-8D95-4E45-8FD0-28475D2B225E}" sibTransId="{4E744D25-7A80-46C8-98CD-32646C17C215}"/>
    <dgm:cxn modelId="{57A70D9A-C05E-4C51-A55D-A31A995BCB02}" srcId="{C7DE9ADB-F8BB-49DB-9C19-83014C35ABD1}" destId="{F5502EDD-7816-4448-A3E2-CC23C846FD58}" srcOrd="1" destOrd="0" parTransId="{D1D71C9A-DEDB-4C56-AC8F-B56A53E89EC2}" sibTransId="{28A2D4A4-A94A-4C35-A302-C650D8C224B1}"/>
    <dgm:cxn modelId="{9E05FD9E-72E8-4C43-8F6D-38B98A4C8CDD}" srcId="{C7DE9ADB-F8BB-49DB-9C19-83014C35ABD1}" destId="{A185E882-81CD-4F24-A445-91C5E4810318}" srcOrd="4" destOrd="0" parTransId="{6F4A1032-4428-424F-8CDC-1961B2C8197D}" sibTransId="{5863E5F5-AB71-436B-8900-38DFE7BC452B}"/>
    <dgm:cxn modelId="{A1D48BAB-4EA6-4D30-9541-42F462A19160}" srcId="{C7DE9ADB-F8BB-49DB-9C19-83014C35ABD1}" destId="{01838A37-019A-411E-8869-0EB4A87DC52A}" srcOrd="3" destOrd="0" parTransId="{3DFD89CC-EDA0-4561-9CFF-2D96B9F6BF19}" sibTransId="{C071D11B-4E24-434B-A0C0-A433332692F3}"/>
    <dgm:cxn modelId="{6C829CB8-3E4D-4A65-ABAF-00FDB1C974CF}" type="presOf" srcId="{F5502EDD-7816-4448-A3E2-CC23C846FD58}" destId="{C58E8C22-BC90-4362-BD87-DB247553DADB}" srcOrd="0" destOrd="0" presId="urn:microsoft.com/office/officeart/2018/2/layout/IconVerticalSolidList"/>
    <dgm:cxn modelId="{29E0F4D5-7560-49FE-B4AF-86E0A8FDCD70}" type="presOf" srcId="{C7DE9ADB-F8BB-49DB-9C19-83014C35ABD1}" destId="{BB3E35E2-9F3A-4178-BE3A-F37982BD2E61}" srcOrd="0" destOrd="0" presId="urn:microsoft.com/office/officeart/2018/2/layout/IconVerticalSolidList"/>
    <dgm:cxn modelId="{D5690063-965E-47DF-8453-D620FA07EAEC}" type="presParOf" srcId="{BB3E35E2-9F3A-4178-BE3A-F37982BD2E61}" destId="{95A01A1C-D44F-4062-925D-26F431671242}" srcOrd="0" destOrd="0" presId="urn:microsoft.com/office/officeart/2018/2/layout/IconVerticalSolidList"/>
    <dgm:cxn modelId="{4A38986A-A68C-45B7-B712-C3897DFA21EE}" type="presParOf" srcId="{95A01A1C-D44F-4062-925D-26F431671242}" destId="{BC811C98-CC56-4E66-B459-39C583D434E3}" srcOrd="0" destOrd="0" presId="urn:microsoft.com/office/officeart/2018/2/layout/IconVerticalSolidList"/>
    <dgm:cxn modelId="{2D766CBA-6B15-41F3-98B7-5ECEF64FF540}" type="presParOf" srcId="{95A01A1C-D44F-4062-925D-26F431671242}" destId="{54522CFB-28D3-4606-BB80-339A25369261}" srcOrd="1" destOrd="0" presId="urn:microsoft.com/office/officeart/2018/2/layout/IconVerticalSolidList"/>
    <dgm:cxn modelId="{8FDEDF7D-5420-4A67-90B4-22F21761F11B}" type="presParOf" srcId="{95A01A1C-D44F-4062-925D-26F431671242}" destId="{83EB9195-E891-4F66-91A4-B8B221B34B17}" srcOrd="2" destOrd="0" presId="urn:microsoft.com/office/officeart/2018/2/layout/IconVerticalSolidList"/>
    <dgm:cxn modelId="{A1BDDFB1-9A70-4537-BEE9-9BF3ADB96877}" type="presParOf" srcId="{95A01A1C-D44F-4062-925D-26F431671242}" destId="{959142C3-DF34-4899-B5ED-E1DA7F976127}" srcOrd="3" destOrd="0" presId="urn:microsoft.com/office/officeart/2018/2/layout/IconVerticalSolidList"/>
    <dgm:cxn modelId="{A8980A90-A14E-473D-96F1-FE4A563DA54D}" type="presParOf" srcId="{BB3E35E2-9F3A-4178-BE3A-F37982BD2E61}" destId="{A21662D3-4D3D-4E41-8A6F-6189579E5808}" srcOrd="1" destOrd="0" presId="urn:microsoft.com/office/officeart/2018/2/layout/IconVerticalSolidList"/>
    <dgm:cxn modelId="{17705D46-9593-4C01-A35D-3E83EEDCF686}" type="presParOf" srcId="{BB3E35E2-9F3A-4178-BE3A-F37982BD2E61}" destId="{B62B3734-2C87-462B-B0AE-DA96046D9884}" srcOrd="2" destOrd="0" presId="urn:microsoft.com/office/officeart/2018/2/layout/IconVerticalSolidList"/>
    <dgm:cxn modelId="{C6E85517-5459-4093-BF3A-420C878E7BDE}" type="presParOf" srcId="{B62B3734-2C87-462B-B0AE-DA96046D9884}" destId="{79A32036-1F0B-416F-82ED-DE294A4DDFEE}" srcOrd="0" destOrd="0" presId="urn:microsoft.com/office/officeart/2018/2/layout/IconVerticalSolidList"/>
    <dgm:cxn modelId="{DEFA0D5A-168C-40C6-854B-E5E30C4C7918}" type="presParOf" srcId="{B62B3734-2C87-462B-B0AE-DA96046D9884}" destId="{D851201A-F1DD-4E78-85C5-9D6EB970CD4D}" srcOrd="1" destOrd="0" presId="urn:microsoft.com/office/officeart/2018/2/layout/IconVerticalSolidList"/>
    <dgm:cxn modelId="{F806A446-E116-4AF5-A094-4F7943017AF5}" type="presParOf" srcId="{B62B3734-2C87-462B-B0AE-DA96046D9884}" destId="{EF36C713-B875-4432-99BC-B1CA6FF71E43}" srcOrd="2" destOrd="0" presId="urn:microsoft.com/office/officeart/2018/2/layout/IconVerticalSolidList"/>
    <dgm:cxn modelId="{8CCE55C6-3E00-4DC5-9B78-FFA7FDD0BC86}" type="presParOf" srcId="{B62B3734-2C87-462B-B0AE-DA96046D9884}" destId="{C58E8C22-BC90-4362-BD87-DB247553DADB}" srcOrd="3" destOrd="0" presId="urn:microsoft.com/office/officeart/2018/2/layout/IconVerticalSolidList"/>
    <dgm:cxn modelId="{90D794A5-80C4-4EF6-8CE7-0568ADFD37A4}" type="presParOf" srcId="{BB3E35E2-9F3A-4178-BE3A-F37982BD2E61}" destId="{77FF953C-D2BC-442F-8D40-5B96F6D3F529}" srcOrd="3" destOrd="0" presId="urn:microsoft.com/office/officeart/2018/2/layout/IconVerticalSolidList"/>
    <dgm:cxn modelId="{343E3B14-1DB8-4D60-98F5-30B08DDDE302}" type="presParOf" srcId="{BB3E35E2-9F3A-4178-BE3A-F37982BD2E61}" destId="{669EAC73-765D-45FE-BE03-EB686D57F44E}" srcOrd="4" destOrd="0" presId="urn:microsoft.com/office/officeart/2018/2/layout/IconVerticalSolidList"/>
    <dgm:cxn modelId="{3FCB9035-8EDB-4AFE-A848-A26ADF1E94C3}" type="presParOf" srcId="{669EAC73-765D-45FE-BE03-EB686D57F44E}" destId="{67380DAD-87D7-4D45-81FC-72279EFD3258}" srcOrd="0" destOrd="0" presId="urn:microsoft.com/office/officeart/2018/2/layout/IconVerticalSolidList"/>
    <dgm:cxn modelId="{06C9662F-7483-410B-97EA-6E488BBD7D6B}" type="presParOf" srcId="{669EAC73-765D-45FE-BE03-EB686D57F44E}" destId="{6DD1F972-DF6D-4E72-9CF0-76FB92654C85}" srcOrd="1" destOrd="0" presId="urn:microsoft.com/office/officeart/2018/2/layout/IconVerticalSolidList"/>
    <dgm:cxn modelId="{3AEB4031-92C2-4A63-BD60-5D3715BE6618}" type="presParOf" srcId="{669EAC73-765D-45FE-BE03-EB686D57F44E}" destId="{27439383-7DFA-4688-AD1E-0E2AA97794A7}" srcOrd="2" destOrd="0" presId="urn:microsoft.com/office/officeart/2018/2/layout/IconVerticalSolidList"/>
    <dgm:cxn modelId="{CB46C5DA-F6CC-40F9-BA98-29B981F02E9B}" type="presParOf" srcId="{669EAC73-765D-45FE-BE03-EB686D57F44E}" destId="{96CB073C-F679-407E-A1B4-48CEB9056F7D}" srcOrd="3" destOrd="0" presId="urn:microsoft.com/office/officeart/2018/2/layout/IconVerticalSolidList"/>
    <dgm:cxn modelId="{39970570-A189-4F59-A96F-674510045506}" type="presParOf" srcId="{BB3E35E2-9F3A-4178-BE3A-F37982BD2E61}" destId="{E8A93EAF-12D9-4AE3-884D-CACF9BEF5FFA}" srcOrd="5" destOrd="0" presId="urn:microsoft.com/office/officeart/2018/2/layout/IconVerticalSolidList"/>
    <dgm:cxn modelId="{E038889B-F409-4579-8724-ED653EBAB59B}" type="presParOf" srcId="{BB3E35E2-9F3A-4178-BE3A-F37982BD2E61}" destId="{7687D50F-D607-4102-A427-6CCCA5CF84BF}" srcOrd="6" destOrd="0" presId="urn:microsoft.com/office/officeart/2018/2/layout/IconVerticalSolidList"/>
    <dgm:cxn modelId="{C41C809B-59F3-4B11-8172-F05949DBA2CB}" type="presParOf" srcId="{7687D50F-D607-4102-A427-6CCCA5CF84BF}" destId="{0967C147-F5FF-441C-9A26-6DCD6C8C801F}" srcOrd="0" destOrd="0" presId="urn:microsoft.com/office/officeart/2018/2/layout/IconVerticalSolidList"/>
    <dgm:cxn modelId="{C59DDEE1-98B3-432E-BC05-6790D0C46F3E}" type="presParOf" srcId="{7687D50F-D607-4102-A427-6CCCA5CF84BF}" destId="{4C73377C-06F6-4033-B121-D99FDF7D82CD}" srcOrd="1" destOrd="0" presId="urn:microsoft.com/office/officeart/2018/2/layout/IconVerticalSolidList"/>
    <dgm:cxn modelId="{9BA736BE-C392-47AE-ADF8-77BEB0BB7C36}" type="presParOf" srcId="{7687D50F-D607-4102-A427-6CCCA5CF84BF}" destId="{1AE7033C-CEC8-4FC7-8BB0-1143E8ADB9DB}" srcOrd="2" destOrd="0" presId="urn:microsoft.com/office/officeart/2018/2/layout/IconVerticalSolidList"/>
    <dgm:cxn modelId="{1406B77D-542C-416C-98D4-E6337588F5A6}" type="presParOf" srcId="{7687D50F-D607-4102-A427-6CCCA5CF84BF}" destId="{C55A49A1-6F7F-4E9E-AD2A-97381A9216E4}" srcOrd="3" destOrd="0" presId="urn:microsoft.com/office/officeart/2018/2/layout/IconVerticalSolidList"/>
    <dgm:cxn modelId="{2C566DC7-DEA5-45D4-B9D8-D5CD7A24A296}" type="presParOf" srcId="{BB3E35E2-9F3A-4178-BE3A-F37982BD2E61}" destId="{58AAA013-293F-42FE-9572-2E9E22EED021}" srcOrd="7" destOrd="0" presId="urn:microsoft.com/office/officeart/2018/2/layout/IconVerticalSolidList"/>
    <dgm:cxn modelId="{731C8AD0-0666-496A-B70F-FE505537D6F7}" type="presParOf" srcId="{BB3E35E2-9F3A-4178-BE3A-F37982BD2E61}" destId="{38C6867E-D5E5-4AF7-A6E6-3D1502E7B3F1}" srcOrd="8" destOrd="0" presId="urn:microsoft.com/office/officeart/2018/2/layout/IconVerticalSolidList"/>
    <dgm:cxn modelId="{3E72BAD2-3C96-4ACE-8432-C6C37D7A3139}" type="presParOf" srcId="{38C6867E-D5E5-4AF7-A6E6-3D1502E7B3F1}" destId="{BA5A426F-DC04-4DBD-B9ED-E3E5B5583088}" srcOrd="0" destOrd="0" presId="urn:microsoft.com/office/officeart/2018/2/layout/IconVerticalSolidList"/>
    <dgm:cxn modelId="{75DBDDC9-DB91-4C5D-BFF4-38F69C2699E3}" type="presParOf" srcId="{38C6867E-D5E5-4AF7-A6E6-3D1502E7B3F1}" destId="{5F51AF84-7FF2-4979-A27E-39552CF92951}" srcOrd="1" destOrd="0" presId="urn:microsoft.com/office/officeart/2018/2/layout/IconVerticalSolidList"/>
    <dgm:cxn modelId="{B47E9A7B-D4B4-4697-BB8B-7D0C5A8F306D}" type="presParOf" srcId="{38C6867E-D5E5-4AF7-A6E6-3D1502E7B3F1}" destId="{C58DD36E-5146-4841-94BF-8DE1668A01F0}" srcOrd="2" destOrd="0" presId="urn:microsoft.com/office/officeart/2018/2/layout/IconVerticalSolidList"/>
    <dgm:cxn modelId="{7AA29937-0E59-4BA8-98A4-88AA07921125}" type="presParOf" srcId="{38C6867E-D5E5-4AF7-A6E6-3D1502E7B3F1}" destId="{2EE8E618-865D-413E-9A98-FA8C90A5C1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11C98-CC56-4E66-B459-39C583D434E3}">
      <dsp:nvSpPr>
        <dsp:cNvPr id="0" name=""/>
        <dsp:cNvSpPr/>
      </dsp:nvSpPr>
      <dsp:spPr>
        <a:xfrm>
          <a:off x="0" y="4590"/>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522CFB-28D3-4606-BB80-339A25369261}">
      <dsp:nvSpPr>
        <dsp:cNvPr id="0" name=""/>
        <dsp:cNvSpPr/>
      </dsp:nvSpPr>
      <dsp:spPr>
        <a:xfrm>
          <a:off x="295752" y="224570"/>
          <a:ext cx="537731" cy="5377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142C3-DF34-4899-B5ED-E1DA7F976127}">
      <dsp:nvSpPr>
        <dsp:cNvPr id="0" name=""/>
        <dsp:cNvSpPr/>
      </dsp:nvSpPr>
      <dsp:spPr>
        <a:xfrm>
          <a:off x="1129235" y="4590"/>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5 STI’s.</a:t>
          </a:r>
        </a:p>
      </dsp:txBody>
      <dsp:txXfrm>
        <a:off x="1129235" y="4590"/>
        <a:ext cx="5875609" cy="977692"/>
      </dsp:txXfrm>
    </dsp:sp>
    <dsp:sp modelId="{79A32036-1F0B-416F-82ED-DE294A4DDFEE}">
      <dsp:nvSpPr>
        <dsp:cNvPr id="0" name=""/>
        <dsp:cNvSpPr/>
      </dsp:nvSpPr>
      <dsp:spPr>
        <a:xfrm>
          <a:off x="0" y="1226706"/>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51201A-F1DD-4E78-85C5-9D6EB970CD4D}">
      <dsp:nvSpPr>
        <dsp:cNvPr id="0" name=""/>
        <dsp:cNvSpPr/>
      </dsp:nvSpPr>
      <dsp:spPr>
        <a:xfrm>
          <a:off x="295752" y="1446686"/>
          <a:ext cx="537731" cy="5377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8E8C22-BC90-4362-BD87-DB247553DADB}">
      <dsp:nvSpPr>
        <dsp:cNvPr id="0" name=""/>
        <dsp:cNvSpPr/>
      </dsp:nvSpPr>
      <dsp:spPr>
        <a:xfrm>
          <a:off x="1129235" y="1226706"/>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6 = STI’s + Task 3: STI Oral Presentations.</a:t>
          </a:r>
        </a:p>
      </dsp:txBody>
      <dsp:txXfrm>
        <a:off x="1129235" y="1226706"/>
        <a:ext cx="5875609" cy="977692"/>
      </dsp:txXfrm>
    </dsp:sp>
    <dsp:sp modelId="{67380DAD-87D7-4D45-81FC-72279EFD3258}">
      <dsp:nvSpPr>
        <dsp:cNvPr id="0" name=""/>
        <dsp:cNvSpPr/>
      </dsp:nvSpPr>
      <dsp:spPr>
        <a:xfrm>
          <a:off x="0" y="2448822"/>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D1F972-DF6D-4E72-9CF0-76FB92654C85}">
      <dsp:nvSpPr>
        <dsp:cNvPr id="0" name=""/>
        <dsp:cNvSpPr/>
      </dsp:nvSpPr>
      <dsp:spPr>
        <a:xfrm>
          <a:off x="295752" y="2668802"/>
          <a:ext cx="537731" cy="5377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CB073C-F679-407E-A1B4-48CEB9056F7D}">
      <dsp:nvSpPr>
        <dsp:cNvPr id="0" name=""/>
        <dsp:cNvSpPr/>
      </dsp:nvSpPr>
      <dsp:spPr>
        <a:xfrm>
          <a:off x="1129235" y="2448822"/>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7 = Work on assignment. </a:t>
          </a:r>
        </a:p>
      </dsp:txBody>
      <dsp:txXfrm>
        <a:off x="1129235" y="2448822"/>
        <a:ext cx="5875609" cy="977692"/>
      </dsp:txXfrm>
    </dsp:sp>
    <dsp:sp modelId="{0967C147-F5FF-441C-9A26-6DCD6C8C801F}">
      <dsp:nvSpPr>
        <dsp:cNvPr id="0" name=""/>
        <dsp:cNvSpPr/>
      </dsp:nvSpPr>
      <dsp:spPr>
        <a:xfrm>
          <a:off x="0" y="3670938"/>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3377C-06F6-4033-B121-D99FDF7D82CD}">
      <dsp:nvSpPr>
        <dsp:cNvPr id="0" name=""/>
        <dsp:cNvSpPr/>
      </dsp:nvSpPr>
      <dsp:spPr>
        <a:xfrm>
          <a:off x="295752" y="3890918"/>
          <a:ext cx="537731" cy="5377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A49A1-6F7F-4E9E-AD2A-97381A9216E4}">
      <dsp:nvSpPr>
        <dsp:cNvPr id="0" name=""/>
        <dsp:cNvSpPr/>
      </dsp:nvSpPr>
      <dsp:spPr>
        <a:xfrm>
          <a:off x="1129235" y="3670938"/>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244600">
            <a:lnSpc>
              <a:spcPct val="100000"/>
            </a:lnSpc>
            <a:spcBef>
              <a:spcPct val="0"/>
            </a:spcBef>
            <a:spcAft>
              <a:spcPct val="35000"/>
            </a:spcAft>
            <a:buNone/>
          </a:pPr>
          <a:r>
            <a:rPr lang="en-US" sz="2800" kern="1200" dirty="0"/>
            <a:t>Week 8 = EXAM BREAK.</a:t>
          </a:r>
        </a:p>
      </dsp:txBody>
      <dsp:txXfrm>
        <a:off x="1129235" y="3670938"/>
        <a:ext cx="5875609" cy="977692"/>
      </dsp:txXfrm>
    </dsp:sp>
    <dsp:sp modelId="{BA5A426F-DC04-4DBD-B9ED-E3E5B5583088}">
      <dsp:nvSpPr>
        <dsp:cNvPr id="0" name=""/>
        <dsp:cNvSpPr/>
      </dsp:nvSpPr>
      <dsp:spPr>
        <a:xfrm>
          <a:off x="0" y="4893054"/>
          <a:ext cx="7004845" cy="9776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51AF84-7FF2-4979-A27E-39552CF92951}">
      <dsp:nvSpPr>
        <dsp:cNvPr id="0" name=""/>
        <dsp:cNvSpPr/>
      </dsp:nvSpPr>
      <dsp:spPr>
        <a:xfrm>
          <a:off x="295752" y="5113034"/>
          <a:ext cx="537731" cy="5377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E8E618-865D-413E-9A98-FA8C90A5C173}">
      <dsp:nvSpPr>
        <dsp:cNvPr id="0" name=""/>
        <dsp:cNvSpPr/>
      </dsp:nvSpPr>
      <dsp:spPr>
        <a:xfrm>
          <a:off x="1129235" y="4893054"/>
          <a:ext cx="5875609" cy="97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472" tIns="103472" rIns="103472" bIns="103472" numCol="1" spcCol="1270" anchor="ctr" anchorCtr="0">
          <a:noAutofit/>
        </a:bodyPr>
        <a:lstStyle/>
        <a:p>
          <a:pPr marL="0" lvl="0" indent="0" algn="l" defTabSz="1066800">
            <a:lnSpc>
              <a:spcPct val="100000"/>
            </a:lnSpc>
            <a:spcBef>
              <a:spcPct val="0"/>
            </a:spcBef>
            <a:spcAft>
              <a:spcPct val="35000"/>
            </a:spcAft>
            <a:buNone/>
          </a:pPr>
          <a:r>
            <a:rPr lang="en-US" sz="2400" kern="1200" dirty="0"/>
            <a:t>Week 9 – 11 = Assignment Presentations.</a:t>
          </a:r>
        </a:p>
        <a:p>
          <a:pPr marL="0" lvl="0" indent="0" algn="l" defTabSz="1066800">
            <a:lnSpc>
              <a:spcPct val="100000"/>
            </a:lnSpc>
            <a:spcBef>
              <a:spcPct val="0"/>
            </a:spcBef>
            <a:spcAft>
              <a:spcPct val="35000"/>
            </a:spcAft>
            <a:buNone/>
          </a:pPr>
          <a:r>
            <a:rPr lang="en-US" sz="1800" kern="1200" dirty="0"/>
            <a:t>- </a:t>
          </a:r>
          <a:r>
            <a:rPr lang="en-US" sz="1800" b="1" u="sng" kern="1200" dirty="0"/>
            <a:t>ALL</a:t>
          </a:r>
          <a:r>
            <a:rPr lang="en-US" sz="1800" kern="1200" dirty="0"/>
            <a:t> assignments are due in week 9 and names will be drawn at random. </a:t>
          </a:r>
        </a:p>
      </dsp:txBody>
      <dsp:txXfrm>
        <a:off x="1129235" y="4893054"/>
        <a:ext cx="5875609" cy="9776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3:05:11.790"/>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3T07:29:30.550"/>
    </inkml:context>
    <inkml:brush xml:id="br0">
      <inkml:brushProperty name="width" value="0.1" units="cm"/>
      <inkml:brushProperty name="height" value="0.1" units="cm"/>
      <inkml:brushProperty name="color" value="#FFFFFF"/>
    </inkml:brush>
  </inkml:definitions>
  <inkml:trace contextRef="#ctx0" brushRef="#br0">1 0 128,'0'6'0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FA96B-52EF-9242-8C41-C7CBD737B41E}" type="datetimeFigureOut">
              <a:rPr lang="en-US" smtClean="0"/>
              <a:t>3/3/24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F8A8C-F201-E64D-999A-A6161AAF2014}" type="slidenum">
              <a:rPr lang="en-US" smtClean="0"/>
              <a:t>‹#›</a:t>
            </a:fld>
            <a:endParaRPr lang="en-US"/>
          </a:p>
        </p:txBody>
      </p:sp>
    </p:spTree>
    <p:extLst>
      <p:ext uri="{BB962C8B-B14F-4D97-AF65-F5344CB8AC3E}">
        <p14:creationId xmlns:p14="http://schemas.microsoft.com/office/powerpoint/2010/main" val="3992379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create.kahoot.it/share/duplicate-of-sti-s/c27f6ea9-2b50-418b-812a-25b134679b46"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10 Social Event on Thursday week 11 (27</a:t>
            </a:r>
            <a:r>
              <a:rPr lang="en-US" baseline="30000" dirty="0"/>
              <a:t>th</a:t>
            </a:r>
            <a:r>
              <a:rPr lang="en-US" dirty="0"/>
              <a:t> June)</a:t>
            </a:r>
          </a:p>
        </p:txBody>
      </p:sp>
      <p:sp>
        <p:nvSpPr>
          <p:cNvPr id="4" name="Slide Number Placeholder 3"/>
          <p:cNvSpPr>
            <a:spLocks noGrp="1"/>
          </p:cNvSpPr>
          <p:nvPr>
            <p:ph type="sldNum" sz="quarter" idx="5"/>
          </p:nvPr>
        </p:nvSpPr>
        <p:spPr/>
        <p:txBody>
          <a:bodyPr/>
          <a:lstStyle/>
          <a:p>
            <a:fld id="{4D5F8A8C-F201-E64D-999A-A6161AAF2014}" type="slidenum">
              <a:rPr lang="en-US" smtClean="0"/>
              <a:t>2</a:t>
            </a:fld>
            <a:endParaRPr lang="en-US"/>
          </a:p>
        </p:txBody>
      </p:sp>
    </p:spTree>
    <p:extLst>
      <p:ext uri="{BB962C8B-B14F-4D97-AF65-F5344CB8AC3E}">
        <p14:creationId xmlns:p14="http://schemas.microsoft.com/office/powerpoint/2010/main" val="3187680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200" b="1" dirty="0">
                <a:hlinkClick r:id="rId3"/>
              </a:rPr>
              <a:t>OPTIONAL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altLang="en-US" sz="1200" b="1"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200" dirty="0">
                <a:hlinkClick r:id="rId3"/>
              </a:rPr>
              <a:t>https://create.kahoot.it/share/duplicate-of-sti-s/c27f6ea9-2b50-418b-812a-25b134679b46</a:t>
            </a:r>
            <a:endParaRPr lang="en-AU" altLang="en-US" sz="1200" dirty="0"/>
          </a:p>
          <a:p>
            <a:endParaRPr lang="en-US" b="1" dirty="0"/>
          </a:p>
        </p:txBody>
      </p:sp>
      <p:sp>
        <p:nvSpPr>
          <p:cNvPr id="4" name="Slide Number Placeholder 3"/>
          <p:cNvSpPr>
            <a:spLocks noGrp="1"/>
          </p:cNvSpPr>
          <p:nvPr>
            <p:ph type="sldNum" sz="quarter" idx="5"/>
          </p:nvPr>
        </p:nvSpPr>
        <p:spPr/>
        <p:txBody>
          <a:bodyPr/>
          <a:lstStyle/>
          <a:p>
            <a:fld id="{4D5F8A8C-F201-E64D-999A-A6161AAF2014}" type="slidenum">
              <a:rPr lang="en-US" smtClean="0"/>
              <a:t>4</a:t>
            </a:fld>
            <a:endParaRPr lang="en-US"/>
          </a:p>
        </p:txBody>
      </p:sp>
    </p:spTree>
    <p:extLst>
      <p:ext uri="{BB962C8B-B14F-4D97-AF65-F5344CB8AC3E}">
        <p14:creationId xmlns:p14="http://schemas.microsoft.com/office/powerpoint/2010/main" val="2645043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RESOURCES</a:t>
            </a:r>
            <a:r>
              <a:rPr lang="en-US" dirty="0"/>
              <a:t> – print O + X’s worksheet (available on shared drive/connect). Make sure there are enough, so each student gets one shape (either O or X).</a:t>
            </a:r>
          </a:p>
          <a:p>
            <a:endParaRPr lang="en-US" dirty="0"/>
          </a:p>
          <a:p>
            <a:r>
              <a:rPr lang="en-US" dirty="0"/>
              <a:t>Everyone in the class receives a piece of paper with either a O or a X on it (can give these out as students walk through the door).</a:t>
            </a:r>
          </a:p>
          <a:p>
            <a:r>
              <a:rPr lang="en-US" dirty="0"/>
              <a:t>**Give the X to students who won’t mind being told they spread an STI or will go around and be lively in shaking hands.**</a:t>
            </a:r>
          </a:p>
          <a:p>
            <a:endParaRPr lang="en-US" dirty="0"/>
          </a:p>
          <a:p>
            <a:pPr marL="171450" indent="-171450">
              <a:buFont typeface="Arial" panose="020B0604020202020204" pitchFamily="34" charset="0"/>
              <a:buChar char="•"/>
            </a:pPr>
            <a:r>
              <a:rPr lang="en-US" dirty="0"/>
              <a:t>All students need a pen.</a:t>
            </a:r>
          </a:p>
          <a:p>
            <a:pPr marL="171450" indent="-171450">
              <a:buFont typeface="Arial" panose="020B0604020202020204" pitchFamily="34" charset="0"/>
              <a:buChar char="•"/>
            </a:pPr>
            <a:r>
              <a:rPr lang="en-US" dirty="0"/>
              <a:t>Students need to walk around and shake hands with each other.</a:t>
            </a:r>
          </a:p>
          <a:p>
            <a:pPr marL="171450" indent="-171450">
              <a:buFont typeface="Arial" panose="020B0604020202020204" pitchFamily="34" charset="0"/>
              <a:buChar char="•"/>
            </a:pPr>
            <a:r>
              <a:rPr lang="en-US" dirty="0"/>
              <a:t>If you have an O, you write an O on the other person's paper when you shake hands. </a:t>
            </a:r>
          </a:p>
          <a:p>
            <a:pPr marL="171450" indent="-171450">
              <a:buFont typeface="Arial" panose="020B0604020202020204" pitchFamily="34" charset="0"/>
              <a:buChar char="•"/>
            </a:pPr>
            <a:r>
              <a:rPr lang="en-US" dirty="0"/>
              <a:t>If you have an X, you write an X on the other person’s paper when you shake hands. </a:t>
            </a:r>
          </a:p>
          <a:p>
            <a:pPr marL="171450" indent="-171450">
              <a:buFont typeface="Arial" panose="020B0604020202020204" pitchFamily="34" charset="0"/>
              <a:buChar char="•"/>
            </a:pPr>
            <a:r>
              <a:rPr lang="en-US" dirty="0"/>
              <a:t>If you are an O and shake hands with an X, and now have an X on your paper, you are now an X and will continue to write X on other people’s paper when you shake hands. </a:t>
            </a:r>
          </a:p>
          <a:p>
            <a:pPr marL="171450" indent="-171450">
              <a:buFont typeface="Arial" panose="020B0604020202020204" pitchFamily="34" charset="0"/>
              <a:buChar char="•"/>
            </a:pPr>
            <a:r>
              <a:rPr lang="en-US" dirty="0"/>
              <a:t>Allow 1-2 minutes to walk around and shake hands.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Debrief:</a:t>
            </a:r>
          </a:p>
          <a:p>
            <a:pPr marL="171450" indent="-171450">
              <a:buFont typeface="Arial" panose="020B0604020202020204" pitchFamily="34" charset="0"/>
              <a:buChar char="•"/>
            </a:pPr>
            <a:r>
              <a:rPr lang="en-US" dirty="0"/>
              <a:t>Stand up the people who have the X shape on their paper. Stay standing.</a:t>
            </a:r>
          </a:p>
          <a:p>
            <a:pPr marL="171450" indent="-171450">
              <a:buFont typeface="Arial" panose="020B0604020202020204" pitchFamily="34" charset="0"/>
              <a:buChar char="•"/>
            </a:pPr>
            <a:r>
              <a:rPr lang="en-US" dirty="0"/>
              <a:t>Stand up if you shook hands with one of these people. Stay standing.</a:t>
            </a:r>
          </a:p>
          <a:p>
            <a:pPr marL="171450" indent="-171450">
              <a:buFont typeface="Arial" panose="020B0604020202020204" pitchFamily="34" charset="0"/>
              <a:buChar char="•"/>
            </a:pPr>
            <a:r>
              <a:rPr lang="en-US" dirty="0"/>
              <a:t>Now stand up if you shook hands with one of these people.</a:t>
            </a:r>
          </a:p>
          <a:p>
            <a:pPr marL="171450" indent="-171450">
              <a:buFont typeface="Arial" panose="020B0604020202020204" pitchFamily="34" charset="0"/>
              <a:buChar char="•"/>
            </a:pPr>
            <a:r>
              <a:rPr lang="en-US" dirty="0"/>
              <a:t>Everyone with an X on their paper now has an STI.</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This activity is used to demonstrate that STI’s can be invisible and can be easily transmitted through skin-to-skin contact. </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5</a:t>
            </a:fld>
            <a:endParaRPr lang="en-US"/>
          </a:p>
        </p:txBody>
      </p:sp>
    </p:spTree>
    <p:extLst>
      <p:ext uri="{BB962C8B-B14F-4D97-AF65-F5344CB8AC3E}">
        <p14:creationId xmlns:p14="http://schemas.microsoft.com/office/powerpoint/2010/main" val="417119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p>
          <a:p>
            <a:r>
              <a:rPr lang="en-US" dirty="0"/>
              <a:t>STI House – 2:26mins</a:t>
            </a:r>
          </a:p>
        </p:txBody>
      </p:sp>
      <p:sp>
        <p:nvSpPr>
          <p:cNvPr id="4" name="Slide Number Placeholder 3"/>
          <p:cNvSpPr>
            <a:spLocks noGrp="1"/>
          </p:cNvSpPr>
          <p:nvPr>
            <p:ph type="sldNum" sz="quarter" idx="5"/>
          </p:nvPr>
        </p:nvSpPr>
        <p:spPr/>
        <p:txBody>
          <a:bodyPr/>
          <a:lstStyle/>
          <a:p>
            <a:fld id="{4D5F8A8C-F201-E64D-999A-A6161AAF2014}" type="slidenum">
              <a:rPr lang="en-US" smtClean="0"/>
              <a:t>6</a:t>
            </a:fld>
            <a:endParaRPr lang="en-US"/>
          </a:p>
        </p:txBody>
      </p:sp>
    </p:spTree>
    <p:extLst>
      <p:ext uri="{BB962C8B-B14F-4D97-AF65-F5344CB8AC3E}">
        <p14:creationId xmlns:p14="http://schemas.microsoft.com/office/powerpoint/2010/main" val="626768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watching the video, ask students to recall the STI’s that were mentioned.</a:t>
            </a:r>
          </a:p>
        </p:txBody>
      </p:sp>
      <p:sp>
        <p:nvSpPr>
          <p:cNvPr id="4" name="Slide Number Placeholder 3"/>
          <p:cNvSpPr>
            <a:spLocks noGrp="1"/>
          </p:cNvSpPr>
          <p:nvPr>
            <p:ph type="sldNum" sz="quarter" idx="5"/>
          </p:nvPr>
        </p:nvSpPr>
        <p:spPr/>
        <p:txBody>
          <a:bodyPr/>
          <a:lstStyle/>
          <a:p>
            <a:fld id="{4D5F8A8C-F201-E64D-999A-A6161AAF2014}" type="slidenum">
              <a:rPr lang="en-US" smtClean="0"/>
              <a:t>7</a:t>
            </a:fld>
            <a:endParaRPr lang="en-US"/>
          </a:p>
        </p:txBody>
      </p:sp>
    </p:spTree>
    <p:extLst>
      <p:ext uri="{BB962C8B-B14F-4D97-AF65-F5344CB8AC3E}">
        <p14:creationId xmlns:p14="http://schemas.microsoft.com/office/powerpoint/2010/main" val="408598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 students that STI’s and STD’s mean the same thing (Infections vs. Diseases) but that STI’s is the language more commonly used now.</a:t>
            </a:r>
          </a:p>
          <a:p>
            <a:pPr marL="171450" indent="-171450">
              <a:buFont typeface="Arial" panose="020B0604020202020204" pitchFamily="34" charset="0"/>
              <a:buChar char="•"/>
            </a:pPr>
            <a:r>
              <a:rPr lang="en-US" dirty="0"/>
              <a:t>The concepts of disease suggests a clear medical problem, usually some obvious signs/symptoms. But commonly, many sexually transmitted diseases do not have obvious signs/symptoms or have mild signs that can be easily overlooked. So, the term ‘infection’ is more commonly used now, though may or may not result in a ‘disease’.</a:t>
            </a:r>
          </a:p>
        </p:txBody>
      </p:sp>
      <p:sp>
        <p:nvSpPr>
          <p:cNvPr id="4" name="Slide Number Placeholder 3"/>
          <p:cNvSpPr>
            <a:spLocks noGrp="1"/>
          </p:cNvSpPr>
          <p:nvPr>
            <p:ph type="sldNum" sz="quarter" idx="5"/>
          </p:nvPr>
        </p:nvSpPr>
        <p:spPr/>
        <p:txBody>
          <a:bodyPr/>
          <a:lstStyle/>
          <a:p>
            <a:fld id="{4D5F8A8C-F201-E64D-999A-A6161AAF2014}" type="slidenum">
              <a:rPr lang="en-US" smtClean="0"/>
              <a:t>9</a:t>
            </a:fld>
            <a:endParaRPr lang="en-US"/>
          </a:p>
        </p:txBody>
      </p:sp>
    </p:spTree>
    <p:extLst>
      <p:ext uri="{BB962C8B-B14F-4D97-AF65-F5344CB8AC3E}">
        <p14:creationId xmlns:p14="http://schemas.microsoft.com/office/powerpoint/2010/main" val="2046661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13</a:t>
            </a:fld>
            <a:endParaRPr lang="en-US"/>
          </a:p>
        </p:txBody>
      </p:sp>
    </p:spTree>
    <p:extLst>
      <p:ext uri="{BB962C8B-B14F-4D97-AF65-F5344CB8AC3E}">
        <p14:creationId xmlns:p14="http://schemas.microsoft.com/office/powerpoint/2010/main" val="3101972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next collection of slides a variety of STI’s will be shown. While following along, students can write their own notes into the space provided on pg.20 of their workbooks. The main purpose is to introduce them to the different STI’s and generate discussion. When students are presenting their assignments, the audience will need to complete a table about each different STI that is presented. By the end of the presentations, students will have collated more information on all the different STI’s into their workbooks. </a:t>
            </a:r>
          </a:p>
        </p:txBody>
      </p:sp>
      <p:sp>
        <p:nvSpPr>
          <p:cNvPr id="4" name="Slide Number Placeholder 3"/>
          <p:cNvSpPr>
            <a:spLocks noGrp="1"/>
          </p:cNvSpPr>
          <p:nvPr>
            <p:ph type="sldNum" sz="quarter" idx="5"/>
          </p:nvPr>
        </p:nvSpPr>
        <p:spPr/>
        <p:txBody>
          <a:bodyPr/>
          <a:lstStyle/>
          <a:p>
            <a:fld id="{4D5F8A8C-F201-E64D-999A-A6161AAF2014}" type="slidenum">
              <a:rPr lang="en-US" smtClean="0"/>
              <a:t>14</a:t>
            </a:fld>
            <a:endParaRPr lang="en-US"/>
          </a:p>
        </p:txBody>
      </p:sp>
    </p:spTree>
    <p:extLst>
      <p:ext uri="{BB962C8B-B14F-4D97-AF65-F5344CB8AC3E}">
        <p14:creationId xmlns:p14="http://schemas.microsoft.com/office/powerpoint/2010/main" val="3553276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7AECF1CD-9247-F74B-88DF-FDFA4066ADCF}"/>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E96E5F62-AFF9-7245-9125-64BC27B5303A}"/>
              </a:ext>
            </a:extLst>
          </p:cNvPr>
          <p:cNvSpPr>
            <a:spLocks noGrp="1"/>
          </p:cNvSpPr>
          <p:nvPr>
            <p:ph type="body" idx="1"/>
          </p:nvPr>
        </p:nvSpPr>
        <p:spPr>
          <a:noFill/>
        </p:spPr>
        <p:txBody>
          <a:bodyPr/>
          <a:lstStyle/>
          <a:p>
            <a:endParaRPr lang="en-CA" altLang="en-US" dirty="0">
              <a:latin typeface="Times New Roman" panose="02020603050405020304" pitchFamily="18" charset="0"/>
            </a:endParaRPr>
          </a:p>
        </p:txBody>
      </p:sp>
      <p:sp>
        <p:nvSpPr>
          <p:cNvPr id="15364" name="Slide Number Placeholder 3">
            <a:extLst>
              <a:ext uri="{FF2B5EF4-FFF2-40B4-BE49-F238E27FC236}">
                <a16:creationId xmlns:a16="http://schemas.microsoft.com/office/drawing/2014/main" id="{C6AD1BBA-43B3-494F-94BC-C698E634EB16}"/>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6C667C-F52F-2549-BE6F-14821EA4B964}" type="slidenum">
              <a:rPr lang="en-US" altLang="en-US"/>
              <a:pPr>
                <a:spcBef>
                  <a:spcPct val="0"/>
                </a:spcBef>
              </a:pPr>
              <a:t>15</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B288FE2-16E1-F54F-8157-900A12EE96E5}"/>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9CCDC4C8-0876-724B-BF4B-4026385D06D3}"/>
              </a:ext>
            </a:extLst>
          </p:cNvPr>
          <p:cNvSpPr>
            <a:spLocks noGrp="1"/>
          </p:cNvSpPr>
          <p:nvPr>
            <p:ph type="body" idx="1"/>
          </p:nvPr>
        </p:nvSpPr>
        <p:spPr/>
        <p:txBody>
          <a:bodyPr/>
          <a:lstStyle/>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1508" name="Slide Number Placeholder 3">
            <a:extLst>
              <a:ext uri="{FF2B5EF4-FFF2-40B4-BE49-F238E27FC236}">
                <a16:creationId xmlns:a16="http://schemas.microsoft.com/office/drawing/2014/main" id="{15415786-6957-6441-9831-07C0D8E950E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046E3A-ED9A-E14D-8DAB-18CFB4608D3A}" type="slidenum">
              <a:rPr lang="en-US" altLang="en-US"/>
              <a:pPr>
                <a:spcBef>
                  <a:spcPct val="0"/>
                </a:spcBef>
              </a:pPr>
              <a:t>16</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89AC62C-38A5-D842-8875-998CE2879224}"/>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6D3E120A-F16E-064C-A4BD-DE35DA171E0B}"/>
              </a:ext>
            </a:extLst>
          </p:cNvPr>
          <p:cNvSpPr>
            <a:spLocks noGrp="1"/>
          </p:cNvSpPr>
          <p:nvPr>
            <p:ph type="body" idx="1"/>
          </p:nvPr>
        </p:nvSpPr>
        <p:spPr/>
        <p:txBody>
          <a:bodyPr/>
          <a:lstStyle/>
          <a:p>
            <a:pPr>
              <a:defRPr/>
            </a:pPr>
            <a:r>
              <a:rPr lang="en-US" dirty="0" err="1"/>
              <a:t>Syphillis</a:t>
            </a:r>
            <a:r>
              <a:rPr lang="en-US" dirty="0"/>
              <a:t> Can spread from an infected mother to her unborn child</a:t>
            </a:r>
          </a:p>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7652" name="Slide Number Placeholder 3">
            <a:extLst>
              <a:ext uri="{FF2B5EF4-FFF2-40B4-BE49-F238E27FC236}">
                <a16:creationId xmlns:a16="http://schemas.microsoft.com/office/drawing/2014/main" id="{C211948F-E545-E94C-B79B-5763EA369DA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F79403-C6B1-6947-952B-274CF651AE61}" type="slidenum">
              <a:rPr lang="en-US" altLang="en-US"/>
              <a:pPr>
                <a:spcBef>
                  <a:spcPct val="0"/>
                </a:spcBef>
              </a:pPr>
              <a:t>17</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DA1AFC1-B7E7-1B4E-B044-40931766540B}"/>
              </a:ext>
            </a:extLst>
          </p:cNvPr>
          <p:cNvSpPr>
            <a:spLocks noGrp="1" noChangeArrowheads="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050F196-E429-E14C-8D05-DD0ED23E09BC}" type="slidenum">
              <a:rPr lang="en-US" altLang="en-US"/>
              <a:pPr>
                <a:spcBef>
                  <a:spcPct val="0"/>
                </a:spcBef>
              </a:pPr>
              <a:t>18</a:t>
            </a:fld>
            <a:endParaRPr lang="en-US" altLang="en-US"/>
          </a:p>
        </p:txBody>
      </p:sp>
      <p:sp>
        <p:nvSpPr>
          <p:cNvPr id="31747" name="Rectangle 2">
            <a:extLst>
              <a:ext uri="{FF2B5EF4-FFF2-40B4-BE49-F238E27FC236}">
                <a16:creationId xmlns:a16="http://schemas.microsoft.com/office/drawing/2014/main" id="{A2AEA9E6-AA23-714A-9FF9-D337B2214427}"/>
              </a:ext>
            </a:extLst>
          </p:cNvPr>
          <p:cNvSpPr>
            <a:spLocks noGrp="1" noRot="1" noChangeAspect="1" noChangeArrowheads="1" noTextEdit="1"/>
          </p:cNvSpPr>
          <p:nvPr>
            <p:ph type="sldImg"/>
          </p:nvPr>
        </p:nvSpPr>
        <p:spPr>
          <a:xfrm>
            <a:off x="406400" y="698500"/>
            <a:ext cx="6197600" cy="3486150"/>
          </a:xfrm>
          <a:ln/>
        </p:spPr>
      </p:sp>
      <p:sp>
        <p:nvSpPr>
          <p:cNvPr id="31748" name="Rectangle 3">
            <a:extLst>
              <a:ext uri="{FF2B5EF4-FFF2-40B4-BE49-F238E27FC236}">
                <a16:creationId xmlns:a16="http://schemas.microsoft.com/office/drawing/2014/main" id="{BF05A147-A0A4-1443-9596-6C0B6A71003A}"/>
              </a:ext>
            </a:extLst>
          </p:cNvPr>
          <p:cNvSpPr>
            <a:spLocks noGrp="1" noChangeArrowheads="1"/>
          </p:cNvSpPr>
          <p:nvPr>
            <p:ph type="body" idx="1"/>
          </p:nvPr>
        </p:nvSpPr>
        <p:spPr>
          <a:xfrm>
            <a:off x="701675" y="4416425"/>
            <a:ext cx="5607050" cy="4181475"/>
          </a:xfrm>
          <a:noFill/>
        </p:spPr>
        <p:txBody>
          <a:bodyPr lIns="93172" tIns="46586" rIns="93172" bIns="46586"/>
          <a:lstStyle/>
          <a:p>
            <a:pPr eaLnBrk="1" hangingPunct="1"/>
            <a:r>
              <a:rPr lang="en-US" altLang="en-US">
                <a:latin typeface="Times New Roman" panose="02020603050405020304" pitchFamily="18" charset="0"/>
              </a:rPr>
              <a:t>Primary Syphilis: a painless open sore which heals on it’s own, but the infection remains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B288FE2-16E1-F54F-8157-900A12EE96E5}"/>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9CCDC4C8-0876-724B-BF4B-4026385D06D3}"/>
              </a:ext>
            </a:extLst>
          </p:cNvPr>
          <p:cNvSpPr>
            <a:spLocks noGrp="1"/>
          </p:cNvSpPr>
          <p:nvPr>
            <p:ph type="body" idx="1"/>
          </p:nvPr>
        </p:nvSpPr>
        <p:spPr/>
        <p:txBody>
          <a:bodyPr/>
          <a:lstStyle/>
          <a:p>
            <a:pPr>
              <a:defRPr/>
            </a:pPr>
            <a:endParaRPr lang="en-US" b="1" dirty="0">
              <a:solidFill>
                <a:schemeClr val="accent6"/>
              </a:solidFill>
              <a:latin typeface="Century Gothic" pitchFamily="34" charset="0"/>
            </a:endParaRPr>
          </a:p>
          <a:p>
            <a:pPr>
              <a:defRPr/>
            </a:pPr>
            <a:endParaRPr lang="en-US" dirty="0">
              <a:latin typeface="Century Gothic" pitchFamily="34" charset="0"/>
            </a:endParaRPr>
          </a:p>
          <a:p>
            <a:pPr>
              <a:defRPr/>
            </a:pPr>
            <a:endParaRPr lang="en-CA" dirty="0"/>
          </a:p>
        </p:txBody>
      </p:sp>
      <p:sp>
        <p:nvSpPr>
          <p:cNvPr id="21508" name="Slide Number Placeholder 3">
            <a:extLst>
              <a:ext uri="{FF2B5EF4-FFF2-40B4-BE49-F238E27FC236}">
                <a16:creationId xmlns:a16="http://schemas.microsoft.com/office/drawing/2014/main" id="{15415786-6957-6441-9831-07C0D8E950E0}"/>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046E3A-ED9A-E14D-8DAB-18CFB4608D3A}" type="slidenum">
              <a:rPr lang="en-US" altLang="en-US"/>
              <a:pPr>
                <a:spcBef>
                  <a:spcPct val="0"/>
                </a:spcBef>
              </a:pPr>
              <a:t>19</a:t>
            </a:fld>
            <a:endParaRPr lang="en-US" altLang="en-US"/>
          </a:p>
        </p:txBody>
      </p:sp>
    </p:spTree>
    <p:extLst>
      <p:ext uri="{BB962C8B-B14F-4D97-AF65-F5344CB8AC3E}">
        <p14:creationId xmlns:p14="http://schemas.microsoft.com/office/powerpoint/2010/main" val="2794310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HPV can cause cervical cancer, anal cancer, vaginal cancer, throat cancer, vulva cancer, penile cancer.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Vaccine available for the type that causes most genital warts, 90% of cervical cancers and 95% of other HPV related cancers.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21</a:t>
            </a:fld>
            <a:endParaRPr lang="en-US"/>
          </a:p>
        </p:txBody>
      </p:sp>
    </p:spTree>
    <p:extLst>
      <p:ext uri="{BB962C8B-B14F-4D97-AF65-F5344CB8AC3E}">
        <p14:creationId xmlns:p14="http://schemas.microsoft.com/office/powerpoint/2010/main" val="3947606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HPV can cause cervical cancer, anal cancer, vaginal cancer, throat cancer, vulva cancer, penile cancer.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Vaccine available for the type that causes most genital warts, 90% of cervical cancers and 95% of other HPV related cancers. </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22</a:t>
            </a:fld>
            <a:endParaRPr lang="en-US"/>
          </a:p>
        </p:txBody>
      </p:sp>
    </p:spTree>
    <p:extLst>
      <p:ext uri="{BB962C8B-B14F-4D97-AF65-F5344CB8AC3E}">
        <p14:creationId xmlns:p14="http://schemas.microsoft.com/office/powerpoint/2010/main" val="3067424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 initially from chimpanzees when Africans used to hunt them and would come into contact with their infected blood. </a:t>
            </a:r>
          </a:p>
        </p:txBody>
      </p:sp>
      <p:sp>
        <p:nvSpPr>
          <p:cNvPr id="4" name="Slide Number Placeholder 3"/>
          <p:cNvSpPr>
            <a:spLocks noGrp="1"/>
          </p:cNvSpPr>
          <p:nvPr>
            <p:ph type="sldNum" sz="quarter" idx="5"/>
          </p:nvPr>
        </p:nvSpPr>
        <p:spPr/>
        <p:txBody>
          <a:bodyPr/>
          <a:lstStyle/>
          <a:p>
            <a:fld id="{4D5F8A8C-F201-E64D-999A-A6161AAF2014}" type="slidenum">
              <a:rPr lang="en-US" smtClean="0"/>
              <a:t>23</a:t>
            </a:fld>
            <a:endParaRPr lang="en-US"/>
          </a:p>
        </p:txBody>
      </p:sp>
    </p:spTree>
    <p:extLst>
      <p:ext uri="{BB962C8B-B14F-4D97-AF65-F5344CB8AC3E}">
        <p14:creationId xmlns:p14="http://schemas.microsoft.com/office/powerpoint/2010/main" val="2995836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D51719E-F631-E74A-AB81-89685CC25C41}"/>
              </a:ext>
            </a:extLst>
          </p:cNvPr>
          <p:cNvSpPr>
            <a:spLocks noGrp="1" noChangeArrowheads="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EDB4E3-BAD5-7A48-8F8A-4F42D652B676}" type="slidenum">
              <a:rPr lang="en-US" altLang="en-US"/>
              <a:pPr>
                <a:spcBef>
                  <a:spcPct val="0"/>
                </a:spcBef>
              </a:pPr>
              <a:t>25</a:t>
            </a:fld>
            <a:endParaRPr lang="en-US" altLang="en-US"/>
          </a:p>
        </p:txBody>
      </p:sp>
      <p:sp>
        <p:nvSpPr>
          <p:cNvPr id="35843" name="Rectangle 2">
            <a:extLst>
              <a:ext uri="{FF2B5EF4-FFF2-40B4-BE49-F238E27FC236}">
                <a16:creationId xmlns:a16="http://schemas.microsoft.com/office/drawing/2014/main" id="{4BDD3910-E985-064E-9E09-DAA425BBBD35}"/>
              </a:ext>
            </a:extLst>
          </p:cNvPr>
          <p:cNvSpPr>
            <a:spLocks noGrp="1" noRot="1" noChangeAspect="1" noChangeArrowheads="1" noTextEdit="1"/>
          </p:cNvSpPr>
          <p:nvPr>
            <p:ph type="sldImg"/>
          </p:nvPr>
        </p:nvSpPr>
        <p:spPr>
          <a:xfrm>
            <a:off x="406400" y="698500"/>
            <a:ext cx="6197600" cy="3486150"/>
          </a:xfrm>
          <a:ln/>
        </p:spPr>
      </p:sp>
      <p:sp>
        <p:nvSpPr>
          <p:cNvPr id="35844" name="Rectangle 3">
            <a:extLst>
              <a:ext uri="{FF2B5EF4-FFF2-40B4-BE49-F238E27FC236}">
                <a16:creationId xmlns:a16="http://schemas.microsoft.com/office/drawing/2014/main" id="{28810281-2545-7C42-937E-5FC97F2930B4}"/>
              </a:ext>
            </a:extLst>
          </p:cNvPr>
          <p:cNvSpPr>
            <a:spLocks noGrp="1" noChangeArrowheads="1"/>
          </p:cNvSpPr>
          <p:nvPr>
            <p:ph type="body" idx="1"/>
          </p:nvPr>
        </p:nvSpPr>
        <p:spPr>
          <a:xfrm>
            <a:off x="701675" y="4416425"/>
            <a:ext cx="5607050" cy="4181475"/>
          </a:xfrm>
          <a:noFill/>
        </p:spPr>
        <p:txBody>
          <a:bodyPr lIns="93172" tIns="46586" rIns="93172" bIns="46586"/>
          <a:lstStyle/>
          <a:p>
            <a:pPr eaLnBrk="1" hangingPunct="1"/>
            <a:r>
              <a:rPr lang="en-US" altLang="en-US">
                <a:solidFill>
                  <a:srgbClr val="FF0000"/>
                </a:solidFill>
                <a:latin typeface="Times New Roman" panose="02020603050405020304" pitchFamily="18" charset="0"/>
              </a:rPr>
              <a:t>Spread by sexual contact.  Not the same as head lice. Pubic lice do not live on the head and head lice do not live in the pubic area.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23EC5340-FB3A-8244-B52B-4C4421CAEA8F}"/>
              </a:ext>
            </a:extLst>
          </p:cNvPr>
          <p:cNvSpPr>
            <a:spLocks noGrp="1" noRot="1" noChangeAspect="1" noTextEdit="1"/>
          </p:cNvSpPr>
          <p:nvPr>
            <p:ph type="sldImg"/>
          </p:nvPr>
        </p:nvSpPr>
        <p:spPr>
          <a:ln/>
        </p:spPr>
      </p:sp>
      <p:sp>
        <p:nvSpPr>
          <p:cNvPr id="41987" name="Notes Placeholder 2">
            <a:extLst>
              <a:ext uri="{FF2B5EF4-FFF2-40B4-BE49-F238E27FC236}">
                <a16:creationId xmlns:a16="http://schemas.microsoft.com/office/drawing/2014/main" id="{DA875E97-FB06-7E49-9879-0C9BCE8AE134}"/>
              </a:ext>
            </a:extLst>
          </p:cNvPr>
          <p:cNvSpPr>
            <a:spLocks noGrp="1"/>
          </p:cNvSpPr>
          <p:nvPr>
            <p:ph type="body" idx="1"/>
          </p:nvPr>
        </p:nvSpPr>
        <p:spPr>
          <a:noFill/>
        </p:spPr>
        <p:txBody>
          <a:bodyPr/>
          <a:lstStyle/>
          <a:p>
            <a:r>
              <a:rPr lang="en-CA" altLang="en-US">
                <a:latin typeface="Times New Roman" panose="02020603050405020304" pitchFamily="18" charset="0"/>
              </a:rPr>
              <a:t>Trichomoniasis ( trich-o-mo-ni-a-sis) or Trich</a:t>
            </a:r>
          </a:p>
          <a:p>
            <a:endParaRPr lang="en-CA" altLang="en-US">
              <a:latin typeface="Times New Roman" panose="02020603050405020304" pitchFamily="18" charset="0"/>
            </a:endParaRPr>
          </a:p>
        </p:txBody>
      </p:sp>
      <p:sp>
        <p:nvSpPr>
          <p:cNvPr id="41988" name="Slide Number Placeholder 3">
            <a:extLst>
              <a:ext uri="{FF2B5EF4-FFF2-40B4-BE49-F238E27FC236}">
                <a16:creationId xmlns:a16="http://schemas.microsoft.com/office/drawing/2014/main" id="{DBF56C9A-92E7-8348-86FE-3DC9BB6DC3ED}"/>
              </a:ext>
            </a:extLst>
          </p:cNvPr>
          <p:cNvSpPr>
            <a:spLocks noGrp="1"/>
          </p:cNvSpPr>
          <p:nvPr>
            <p:ph type="sldNum" sz="quarter" idx="5"/>
          </p:nvPr>
        </p:nvSpPr>
        <p:spPr>
          <a:noFill/>
        </p:spPr>
        <p:txBody>
          <a:bodyPr/>
          <a:lstStyle>
            <a:lvl1pPr defTabSz="881063">
              <a:spcBef>
                <a:spcPct val="30000"/>
              </a:spcBef>
              <a:defRPr sz="1200">
                <a:solidFill>
                  <a:schemeClr val="tx1"/>
                </a:solidFill>
                <a:latin typeface="Times New Roman" panose="02020603050405020304" pitchFamily="18" charset="0"/>
              </a:defRPr>
            </a:lvl1pPr>
            <a:lvl2pPr marL="742950" indent="-285750" defTabSz="881063">
              <a:spcBef>
                <a:spcPct val="30000"/>
              </a:spcBef>
              <a:defRPr sz="1200">
                <a:solidFill>
                  <a:schemeClr val="tx1"/>
                </a:solidFill>
                <a:latin typeface="Times New Roman" panose="02020603050405020304" pitchFamily="18" charset="0"/>
              </a:defRPr>
            </a:lvl2pPr>
            <a:lvl3pPr marL="1143000" indent="-228600" defTabSz="881063">
              <a:spcBef>
                <a:spcPct val="30000"/>
              </a:spcBef>
              <a:defRPr sz="1200">
                <a:solidFill>
                  <a:schemeClr val="tx1"/>
                </a:solidFill>
                <a:latin typeface="Times New Roman" panose="02020603050405020304" pitchFamily="18" charset="0"/>
              </a:defRPr>
            </a:lvl3pPr>
            <a:lvl4pPr marL="1600200" indent="-228600" defTabSz="881063">
              <a:spcBef>
                <a:spcPct val="30000"/>
              </a:spcBef>
              <a:defRPr sz="1200">
                <a:solidFill>
                  <a:schemeClr val="tx1"/>
                </a:solidFill>
                <a:latin typeface="Times New Roman" panose="02020603050405020304" pitchFamily="18" charset="0"/>
              </a:defRPr>
            </a:lvl4pPr>
            <a:lvl5pPr marL="2057400" indent="-228600" defTabSz="881063">
              <a:spcBef>
                <a:spcPct val="30000"/>
              </a:spcBef>
              <a:defRPr sz="1200">
                <a:solidFill>
                  <a:schemeClr val="tx1"/>
                </a:solidFill>
                <a:latin typeface="Times New Roman" panose="02020603050405020304" pitchFamily="18" charset="0"/>
              </a:defRPr>
            </a:lvl5pPr>
            <a:lvl6pPr marL="2514600" indent="-228600" defTabSz="8810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8810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8810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8810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54C216B-E6B3-1E47-A784-5C3C420749A5}" type="slidenum">
              <a:rPr lang="en-US" altLang="en-US"/>
              <a:pPr>
                <a:spcBef>
                  <a:spcPct val="0"/>
                </a:spcBef>
              </a:pPr>
              <a:t>27</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 </a:t>
            </a:r>
          </a:p>
          <a:p>
            <a:r>
              <a:rPr lang="en-US" b="0" dirty="0"/>
              <a:t>7:09mins</a:t>
            </a:r>
          </a:p>
          <a:p>
            <a:endParaRPr lang="en-US" b="0" dirty="0"/>
          </a:p>
          <a:p>
            <a:r>
              <a:rPr lang="en-US" b="0" dirty="0"/>
              <a:t>https://</a:t>
            </a:r>
            <a:r>
              <a:rPr lang="en-US" b="0" dirty="0" err="1"/>
              <a:t>www.youtube.com</a:t>
            </a:r>
            <a:r>
              <a:rPr lang="en-US" b="0" dirty="0"/>
              <a:t>/</a:t>
            </a:r>
            <a:r>
              <a:rPr lang="en-US" b="0" dirty="0" err="1"/>
              <a:t>watch?v</a:t>
            </a:r>
            <a:r>
              <a:rPr lang="en-US" b="0" dirty="0"/>
              <a:t>=e6MNzZn4W0w</a:t>
            </a:r>
          </a:p>
        </p:txBody>
      </p:sp>
      <p:sp>
        <p:nvSpPr>
          <p:cNvPr id="4" name="Slide Number Placeholder 3"/>
          <p:cNvSpPr>
            <a:spLocks noGrp="1"/>
          </p:cNvSpPr>
          <p:nvPr>
            <p:ph type="sldNum" sz="quarter" idx="5"/>
          </p:nvPr>
        </p:nvSpPr>
        <p:spPr/>
        <p:txBody>
          <a:bodyPr/>
          <a:lstStyle/>
          <a:p>
            <a:fld id="{4D5F8A8C-F201-E64D-999A-A6161AAF2014}" type="slidenum">
              <a:rPr lang="en-US" smtClean="0"/>
              <a:t>28</a:t>
            </a:fld>
            <a:endParaRPr lang="en-US"/>
          </a:p>
        </p:txBody>
      </p:sp>
    </p:spTree>
    <p:extLst>
      <p:ext uri="{BB962C8B-B14F-4D97-AF65-F5344CB8AC3E}">
        <p14:creationId xmlns:p14="http://schemas.microsoft.com/office/powerpoint/2010/main" val="1496167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Included in their books (pg.18)</a:t>
            </a:r>
          </a:p>
        </p:txBody>
      </p:sp>
      <p:sp>
        <p:nvSpPr>
          <p:cNvPr id="4" name="Slide Number Placeholder 3"/>
          <p:cNvSpPr>
            <a:spLocks noGrp="1"/>
          </p:cNvSpPr>
          <p:nvPr>
            <p:ph type="sldNum" sz="quarter" idx="5"/>
          </p:nvPr>
        </p:nvSpPr>
        <p:spPr/>
        <p:txBody>
          <a:bodyPr/>
          <a:lstStyle/>
          <a:p>
            <a:fld id="{4D5F8A8C-F201-E64D-999A-A6161AAF2014}" type="slidenum">
              <a:rPr lang="en-US" smtClean="0"/>
              <a:t>29</a:t>
            </a:fld>
            <a:endParaRPr lang="en-US"/>
          </a:p>
        </p:txBody>
      </p:sp>
    </p:spTree>
    <p:extLst>
      <p:ext uri="{BB962C8B-B14F-4D97-AF65-F5344CB8AC3E}">
        <p14:creationId xmlns:p14="http://schemas.microsoft.com/office/powerpoint/2010/main" val="3148689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3/3/24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3937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813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0449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4621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79193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5756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71595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0712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817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1444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3/3/24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2671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3/3/24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723933155"/>
      </p:ext>
    </p:extLst>
  </p:cSld>
  <p:clrMap bg1="lt1" tx1="dk1" bg2="lt2" tx2="dk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5" r:id="rId6"/>
    <p:sldLayoutId id="2147484100" r:id="rId7"/>
    <p:sldLayoutId id="2147484101" r:id="rId8"/>
    <p:sldLayoutId id="2147484102" r:id="rId9"/>
    <p:sldLayoutId id="2147484104" r:id="rId10"/>
    <p:sldLayoutId id="2147484103"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create.kahoot.it/share/duplicate-of-sti-s/c27f6ea9-2b50-418b-812a-25b134679b4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oRYnN33nIaI?feature=oembed" TargetMode="Externa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71.png"/></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4.sv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jpe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jpeg"/><Relationship Id="rId9"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D\Sandy%20Duncan\#00019.jpg" TargetMode="External"/><Relationship Id="rId2" Type="http://schemas.openxmlformats.org/officeDocument/2006/relationships/hyperlink" Target="https://www.google.com/url?sa=i&amp;url=https%3A%2F%2Fwww.verywellhealth.com%2Fmy-partners-cold-sores-gave-me-genital-herpes-3132954&amp;psig=AOvVaw0bzJt2clN2XsXp5OeaA6XQ&amp;ust=1709534524557000&amp;source=images&amp;cd=vfe&amp;opi=89978449&amp;ved=0CBMQjRxqFwoTCLChosK-14QDFQAAAAAdAAAAABAc" TargetMode="External"/><Relationship Id="rId1" Type="http://schemas.openxmlformats.org/officeDocument/2006/relationships/slideLayout" Target="../slideLayouts/slideLayout7.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D\Sandy%20Duncan\#00011.jpg" TargetMode="External"/><Relationship Id="rId3" Type="http://schemas.openxmlformats.org/officeDocument/2006/relationships/image" Target="../media/image46.jpeg"/><Relationship Id="rId7" Type="http://schemas.openxmlformats.org/officeDocument/2006/relationships/image" Target="../media/image48.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D\Sandy%20Duncan\#00012.jpg" TargetMode="External"/><Relationship Id="rId5" Type="http://schemas.openxmlformats.org/officeDocument/2006/relationships/image" Target="../media/image47.jpeg"/><Relationship Id="rId4" Type="http://schemas.openxmlformats.org/officeDocument/2006/relationships/image" Target="\D\Sandy%20Duncan\#00014.jp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2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ideo" Target="https://www.youtube.com/embed/e6MNzZn4W0w?feature=oembed" TargetMode="External"/><Relationship Id="rId6" Type="http://schemas.openxmlformats.org/officeDocument/2006/relationships/image" Target="../media/image59.jpeg"/><Relationship Id="rId5" Type="http://schemas.openxmlformats.org/officeDocument/2006/relationships/image" Target="../media/image71.png"/><Relationship Id="rId4" Type="http://schemas.openxmlformats.org/officeDocument/2006/relationships/customXml" Target="../ink/ink2.xml"/></Relationships>
</file>

<file path=ppt/slides/_rels/slide2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5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00099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B85B-C4C0-1136-B34F-62E1C74290BF}"/>
              </a:ext>
            </a:extLst>
          </p:cNvPr>
          <p:cNvSpPr>
            <a:spLocks noGrp="1"/>
          </p:cNvSpPr>
          <p:nvPr>
            <p:ph type="title" idx="4294967295"/>
          </p:nvPr>
        </p:nvSpPr>
        <p:spPr>
          <a:xfrm>
            <a:off x="596900" y="639763"/>
            <a:ext cx="3573463" cy="5492750"/>
          </a:xfrm>
        </p:spPr>
        <p:txBody>
          <a:bodyPr>
            <a:normAutofit/>
          </a:bodyPr>
          <a:lstStyle/>
          <a:p>
            <a:r>
              <a:rPr lang="en-US" dirty="0"/>
              <a:t>Term Timeline:</a:t>
            </a:r>
          </a:p>
        </p:txBody>
      </p:sp>
      <p:graphicFrame>
        <p:nvGraphicFramePr>
          <p:cNvPr id="5" name="Content Placeholder 2">
            <a:extLst>
              <a:ext uri="{FF2B5EF4-FFF2-40B4-BE49-F238E27FC236}">
                <a16:creationId xmlns:a16="http://schemas.microsoft.com/office/drawing/2014/main" id="{0240271F-5CAE-A08D-DA4F-9C7C53D9DA03}"/>
              </a:ext>
            </a:extLst>
          </p:cNvPr>
          <p:cNvGraphicFramePr>
            <a:graphicFrameLocks noGrp="1"/>
          </p:cNvGraphicFramePr>
          <p:nvPr>
            <p:ph idx="4294967295"/>
            <p:extLst>
              <p:ext uri="{D42A27DB-BD31-4B8C-83A1-F6EECF244321}">
                <p14:modId xmlns:p14="http://schemas.microsoft.com/office/powerpoint/2010/main" val="1127876333"/>
              </p:ext>
            </p:extLst>
          </p:nvPr>
        </p:nvGraphicFramePr>
        <p:xfrm>
          <a:off x="4775200" y="491331"/>
          <a:ext cx="7004845" cy="5875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5723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a:bodyPr>
          <a:lstStyle/>
          <a:p>
            <a:r>
              <a:rPr lang="en-US" dirty="0"/>
              <a:t>Define STI and the different types. </a:t>
            </a:r>
          </a:p>
          <a:p>
            <a:r>
              <a:rPr lang="en-US" dirty="0"/>
              <a:t>Practice STI prevention. </a:t>
            </a:r>
          </a:p>
          <a:p>
            <a:endParaRPr lang="en-US" dirty="0"/>
          </a:p>
          <a:p>
            <a:endParaRPr lang="en-US" dirty="0"/>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610407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69AB2-5D1F-6296-6F33-18D72D0939C7}"/>
              </a:ext>
            </a:extLst>
          </p:cNvPr>
          <p:cNvSpPr>
            <a:spLocks noGrp="1"/>
          </p:cNvSpPr>
          <p:nvPr>
            <p:ph type="title"/>
          </p:nvPr>
        </p:nvSpPr>
        <p:spPr>
          <a:xfrm>
            <a:off x="640080" y="4777739"/>
            <a:ext cx="3418990" cy="1412119"/>
          </a:xfrm>
        </p:spPr>
        <p:txBody>
          <a:bodyPr>
            <a:normAutofit/>
          </a:bodyPr>
          <a:lstStyle/>
          <a:p>
            <a:r>
              <a:rPr lang="en-US" sz="4800" dirty="0"/>
              <a:t>OPTIONAL:</a:t>
            </a:r>
          </a:p>
        </p:txBody>
      </p:sp>
      <p:pic>
        <p:nvPicPr>
          <p:cNvPr id="4" name="Picture 6" descr="8 Educational Sites Like Kahoot">
            <a:extLst>
              <a:ext uri="{FF2B5EF4-FFF2-40B4-BE49-F238E27FC236}">
                <a16:creationId xmlns:a16="http://schemas.microsoft.com/office/drawing/2014/main" id="{119F66CE-22C4-3F47-A72B-AA9C9CA61A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223"/>
          <a:stretch/>
        </p:blipFill>
        <p:spPr bwMode="auto">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56733" y="5463634"/>
            <a:ext cx="1371600" cy="27432"/>
          </a:xfrm>
          <a:custGeom>
            <a:avLst/>
            <a:gdLst>
              <a:gd name="connsiteX0" fmla="*/ 0 w 1371600"/>
              <a:gd name="connsiteY0" fmla="*/ 0 h 27432"/>
              <a:gd name="connsiteX1" fmla="*/ 713232 w 1371600"/>
              <a:gd name="connsiteY1" fmla="*/ 0 h 27432"/>
              <a:gd name="connsiteX2" fmla="*/ 1371600 w 1371600"/>
              <a:gd name="connsiteY2" fmla="*/ 0 h 27432"/>
              <a:gd name="connsiteX3" fmla="*/ 1371600 w 1371600"/>
              <a:gd name="connsiteY3" fmla="*/ 27432 h 27432"/>
              <a:gd name="connsiteX4" fmla="*/ 699516 w 1371600"/>
              <a:gd name="connsiteY4" fmla="*/ 27432 h 27432"/>
              <a:gd name="connsiteX5" fmla="*/ 0 w 1371600"/>
              <a:gd name="connsiteY5" fmla="*/ 27432 h 27432"/>
              <a:gd name="connsiteX6" fmla="*/ 0 w 1371600"/>
              <a:gd name="connsiteY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27432" fill="none" extrusionOk="0">
                <a:moveTo>
                  <a:pt x="0" y="0"/>
                </a:moveTo>
                <a:cubicBezTo>
                  <a:pt x="196943" y="-1146"/>
                  <a:pt x="408267" y="-21226"/>
                  <a:pt x="713232" y="0"/>
                </a:cubicBezTo>
                <a:cubicBezTo>
                  <a:pt x="1018197" y="21226"/>
                  <a:pt x="1176465" y="-24520"/>
                  <a:pt x="1371600" y="0"/>
                </a:cubicBezTo>
                <a:cubicBezTo>
                  <a:pt x="1372004" y="8629"/>
                  <a:pt x="1371042" y="13798"/>
                  <a:pt x="1371600" y="27432"/>
                </a:cubicBezTo>
                <a:cubicBezTo>
                  <a:pt x="1106086" y="14473"/>
                  <a:pt x="951335" y="17231"/>
                  <a:pt x="699516" y="27432"/>
                </a:cubicBezTo>
                <a:cubicBezTo>
                  <a:pt x="447697" y="37633"/>
                  <a:pt x="283433" y="6518"/>
                  <a:pt x="0" y="27432"/>
                </a:cubicBezTo>
                <a:cubicBezTo>
                  <a:pt x="-583" y="21140"/>
                  <a:pt x="532" y="8001"/>
                  <a:pt x="0" y="0"/>
                </a:cubicBezTo>
                <a:close/>
              </a:path>
              <a:path w="1371600" h="27432" stroke="0" extrusionOk="0">
                <a:moveTo>
                  <a:pt x="0" y="0"/>
                </a:moveTo>
                <a:cubicBezTo>
                  <a:pt x="220136" y="-18051"/>
                  <a:pt x="430173" y="10591"/>
                  <a:pt x="672084" y="0"/>
                </a:cubicBezTo>
                <a:cubicBezTo>
                  <a:pt x="913995" y="-10591"/>
                  <a:pt x="1164723" y="30754"/>
                  <a:pt x="1371600" y="0"/>
                </a:cubicBezTo>
                <a:cubicBezTo>
                  <a:pt x="1372182" y="10360"/>
                  <a:pt x="1371123" y="21444"/>
                  <a:pt x="1371600" y="27432"/>
                </a:cubicBezTo>
                <a:cubicBezTo>
                  <a:pt x="1072365" y="46142"/>
                  <a:pt x="961528" y="35455"/>
                  <a:pt x="685800" y="27432"/>
                </a:cubicBezTo>
                <a:cubicBezTo>
                  <a:pt x="410072" y="19409"/>
                  <a:pt x="276398" y="11099"/>
                  <a:pt x="0" y="27432"/>
                </a:cubicBezTo>
                <a:cubicBezTo>
                  <a:pt x="1155" y="18353"/>
                  <a:pt x="-485" y="9869"/>
                  <a:pt x="0" y="0"/>
                </a:cubicBezTo>
                <a:close/>
              </a:path>
            </a:pathLst>
          </a:custGeom>
          <a:solidFill>
            <a:srgbClr val="41ADF8"/>
          </a:solidFill>
          <a:ln w="38100" cap="rnd">
            <a:solidFill>
              <a:srgbClr val="41ADF8"/>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0804A3-C245-C99D-0514-C3FD923B0675}"/>
              </a:ext>
            </a:extLst>
          </p:cNvPr>
          <p:cNvSpPr>
            <a:spLocks noGrp="1"/>
          </p:cNvSpPr>
          <p:nvPr>
            <p:ph idx="1"/>
          </p:nvPr>
        </p:nvSpPr>
        <p:spPr>
          <a:xfrm>
            <a:off x="4654294" y="4777739"/>
            <a:ext cx="6897626" cy="1399223"/>
          </a:xfrm>
        </p:spPr>
        <p:txBody>
          <a:bodyPr anchor="ctr">
            <a:normAutofit/>
          </a:bodyPr>
          <a:lstStyle/>
          <a:p>
            <a:pPr marL="0" indent="0">
              <a:buNone/>
            </a:pPr>
            <a:r>
              <a:rPr lang="en-AU" altLang="en-US" sz="2400" dirty="0">
                <a:hlinkClick r:id="rId4"/>
              </a:rPr>
              <a:t>https://create.kahoot.it/share/duplicate-of-sti-s/c27f6ea9-2b50-418b-812a-25b134679b46</a:t>
            </a:r>
            <a:endParaRPr lang="en-AU" altLang="en-US" sz="2400" dirty="0"/>
          </a:p>
          <a:p>
            <a:pPr marL="0" indent="0">
              <a:buNone/>
            </a:pPr>
            <a:endParaRPr lang="en-US" sz="1800" dirty="0"/>
          </a:p>
        </p:txBody>
      </p:sp>
    </p:spTree>
    <p:extLst>
      <p:ext uri="{BB962C8B-B14F-4D97-AF65-F5344CB8AC3E}">
        <p14:creationId xmlns:p14="http://schemas.microsoft.com/office/powerpoint/2010/main" val="209105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B1AF-725B-4E1B-94F7-02A6B1DCE9AA}"/>
              </a:ext>
            </a:extLst>
          </p:cNvPr>
          <p:cNvSpPr>
            <a:spLocks noGrp="1"/>
          </p:cNvSpPr>
          <p:nvPr>
            <p:ph type="title"/>
          </p:nvPr>
        </p:nvSpPr>
        <p:spPr>
          <a:xfrm>
            <a:off x="1657350" y="4588266"/>
            <a:ext cx="8877299" cy="1317643"/>
          </a:xfrm>
        </p:spPr>
        <p:txBody>
          <a:bodyPr vert="horz" lIns="91440" tIns="45720" rIns="91440" bIns="45720" rtlCol="0" anchor="b">
            <a:normAutofit/>
          </a:bodyPr>
          <a:lstStyle/>
          <a:p>
            <a:pPr>
              <a:lnSpc>
                <a:spcPct val="80000"/>
              </a:lnSpc>
            </a:pPr>
            <a:r>
              <a:rPr lang="en-US" sz="8000" dirty="0">
                <a:solidFill>
                  <a:schemeClr val="tx1"/>
                </a:solidFill>
              </a:rPr>
              <a:t>Activity 1: Handshake Activity</a:t>
            </a:r>
          </a:p>
        </p:txBody>
      </p:sp>
      <p:pic>
        <p:nvPicPr>
          <p:cNvPr id="4" name="Content Placeholder 3" descr="Shape, arrow&#10;&#10;Description automatically generated">
            <a:extLst>
              <a:ext uri="{FF2B5EF4-FFF2-40B4-BE49-F238E27FC236}">
                <a16:creationId xmlns:a16="http://schemas.microsoft.com/office/drawing/2014/main" id="{D00FAF09-A411-43FF-94AB-FDED7CA7F558}"/>
              </a:ext>
            </a:extLst>
          </p:cNvPr>
          <p:cNvPicPr>
            <a:picLocks noGrp="1" noChangeAspect="1"/>
          </p:cNvPicPr>
          <p:nvPr>
            <p:ph idx="1"/>
          </p:nvPr>
        </p:nvPicPr>
        <p:blipFill rotWithShape="1">
          <a:blip r:embed="rId3"/>
          <a:srcRect t="25201" b="4850"/>
          <a:stretch/>
        </p:blipFill>
        <p:spPr>
          <a:xfrm>
            <a:off x="-297712" y="10"/>
            <a:ext cx="12716540" cy="4242806"/>
          </a:xfrm>
          <a:prstGeom prst="rect">
            <a:avLst/>
          </a:prstGeom>
        </p:spPr>
      </p:pic>
    </p:spTree>
    <p:extLst>
      <p:ext uri="{BB962C8B-B14F-4D97-AF65-F5344CB8AC3E}">
        <p14:creationId xmlns:p14="http://schemas.microsoft.com/office/powerpoint/2010/main" val="939276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CBD1-36D6-336E-FBB8-48F01D5CFEC9}"/>
              </a:ext>
            </a:extLst>
          </p:cNvPr>
          <p:cNvSpPr>
            <a:spLocks noGrp="1"/>
          </p:cNvSpPr>
          <p:nvPr>
            <p:ph type="title"/>
          </p:nvPr>
        </p:nvSpPr>
        <p:spPr/>
        <p:txBody>
          <a:bodyPr/>
          <a:lstStyle/>
          <a:p>
            <a:endParaRPr lang="en-US"/>
          </a:p>
        </p:txBody>
      </p:sp>
      <p:pic>
        <p:nvPicPr>
          <p:cNvPr id="4" name="Online Media 3" descr="Luke Warm Sex: The STI House">
            <a:hlinkClick r:id="" action="ppaction://media"/>
            <a:extLst>
              <a:ext uri="{FF2B5EF4-FFF2-40B4-BE49-F238E27FC236}">
                <a16:creationId xmlns:a16="http://schemas.microsoft.com/office/drawing/2014/main" id="{2887D6DD-FCF0-4D3C-2F72-8D2BD8D1218B}"/>
              </a:ext>
            </a:extLst>
          </p:cNvPr>
          <p:cNvPicPr>
            <a:picLocks noGrp="1" noRot="1" noChangeAspect="1"/>
          </p:cNvPicPr>
          <p:nvPr>
            <p:ph idx="1"/>
            <a:videoFile r:link="rId1"/>
          </p:nvPr>
        </p:nvPicPr>
        <p:blipFill>
          <a:blip r:embed="rId4"/>
          <a:stretch>
            <a:fillRect/>
          </a:stretch>
        </p:blipFill>
        <p:spPr>
          <a:xfrm>
            <a:off x="197090" y="162232"/>
            <a:ext cx="11852342" cy="6577781"/>
          </a:xfrm>
          <a:prstGeom prst="rect">
            <a:avLst/>
          </a:prstGeom>
        </p:spPr>
      </p:pic>
    </p:spTree>
    <p:extLst>
      <p:ext uri="{BB962C8B-B14F-4D97-AF65-F5344CB8AC3E}">
        <p14:creationId xmlns:p14="http://schemas.microsoft.com/office/powerpoint/2010/main" val="206333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010E05E-9237-4321-84BB-69C0F2256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999492"/>
            <a:ext cx="4889565" cy="4424065"/>
          </a:xfrm>
          <a:custGeom>
            <a:avLst/>
            <a:gdLst>
              <a:gd name="connsiteX0" fmla="*/ 2612540 w 5531319"/>
              <a:gd name="connsiteY0" fmla="*/ 836 h 4424065"/>
              <a:gd name="connsiteX1" fmla="*/ 2946310 w 5531319"/>
              <a:gd name="connsiteY1" fmla="*/ 35548 h 4424065"/>
              <a:gd name="connsiteX2" fmla="*/ 3961099 w 5531319"/>
              <a:gd name="connsiteY2" fmla="*/ 303581 h 4424065"/>
              <a:gd name="connsiteX3" fmla="*/ 4854587 w 5531319"/>
              <a:gd name="connsiteY3" fmla="*/ 764502 h 4424065"/>
              <a:gd name="connsiteX4" fmla="*/ 5377812 w 5531319"/>
              <a:gd name="connsiteY4" fmla="*/ 1339732 h 4424065"/>
              <a:gd name="connsiteX5" fmla="*/ 5526197 w 5531319"/>
              <a:gd name="connsiteY5" fmla="*/ 1825829 h 4424065"/>
              <a:gd name="connsiteX6" fmla="*/ 5510557 w 5531319"/>
              <a:gd name="connsiteY6" fmla="*/ 2199398 h 4424065"/>
              <a:gd name="connsiteX7" fmla="*/ 5509795 w 5531319"/>
              <a:gd name="connsiteY7" fmla="*/ 2402839 h 4424065"/>
              <a:gd name="connsiteX8" fmla="*/ 5323519 w 5531319"/>
              <a:gd name="connsiteY8" fmla="*/ 3144890 h 4424065"/>
              <a:gd name="connsiteX9" fmla="*/ 4853061 w 5531319"/>
              <a:gd name="connsiteY9" fmla="*/ 3612932 h 4424065"/>
              <a:gd name="connsiteX10" fmla="*/ 4316358 w 5531319"/>
              <a:gd name="connsiteY10" fmla="*/ 3982940 h 4424065"/>
              <a:gd name="connsiteX11" fmla="*/ 3352556 w 5531319"/>
              <a:gd name="connsiteY11" fmla="*/ 4386771 h 4424065"/>
              <a:gd name="connsiteX12" fmla="*/ 2770206 w 5531319"/>
              <a:gd name="connsiteY12" fmla="*/ 4412201 h 4424065"/>
              <a:gd name="connsiteX13" fmla="*/ 2514888 w 5531319"/>
              <a:gd name="connsiteY13" fmla="*/ 4393637 h 4424065"/>
              <a:gd name="connsiteX14" fmla="*/ 1903166 w 5531319"/>
              <a:gd name="connsiteY14" fmla="*/ 4263562 h 4424065"/>
              <a:gd name="connsiteX15" fmla="*/ 948392 w 5531319"/>
              <a:gd name="connsiteY15" fmla="*/ 3794249 h 4424065"/>
              <a:gd name="connsiteX16" fmla="*/ 223633 w 5531319"/>
              <a:gd name="connsiteY16" fmla="*/ 2975526 h 4424065"/>
              <a:gd name="connsiteX17" fmla="*/ 39519 w 5531319"/>
              <a:gd name="connsiteY17" fmla="*/ 2401695 h 4424065"/>
              <a:gd name="connsiteX18" fmla="*/ 16251 w 5531319"/>
              <a:gd name="connsiteY18" fmla="*/ 2300991 h 4424065"/>
              <a:gd name="connsiteX19" fmla="*/ 11800 w 5531319"/>
              <a:gd name="connsiteY19" fmla="*/ 2053556 h 4424065"/>
              <a:gd name="connsiteX20" fmla="*/ 812849 w 5531319"/>
              <a:gd name="connsiteY20" fmla="*/ 651084 h 4424065"/>
              <a:gd name="connsiteX21" fmla="*/ 2066809 w 5531319"/>
              <a:gd name="connsiteY21" fmla="*/ 52586 h 4424065"/>
              <a:gd name="connsiteX22" fmla="*/ 2332045 w 5531319"/>
              <a:gd name="connsiteY22" fmla="*/ 14441 h 4424065"/>
              <a:gd name="connsiteX23" fmla="*/ 2612540 w 5531319"/>
              <a:gd name="connsiteY23" fmla="*/ 836 h 4424065"/>
              <a:gd name="connsiteX24" fmla="*/ 5468597 w 5531319"/>
              <a:gd name="connsiteY24" fmla="*/ 2088522 h 4424065"/>
              <a:gd name="connsiteX25" fmla="*/ 5471140 w 5531319"/>
              <a:gd name="connsiteY25" fmla="*/ 1826083 h 4424065"/>
              <a:gd name="connsiteX26" fmla="*/ 5327079 w 5531319"/>
              <a:gd name="connsiteY26" fmla="*/ 1361348 h 4424065"/>
              <a:gd name="connsiteX27" fmla="*/ 4833353 w 5531319"/>
              <a:gd name="connsiteY27" fmla="*/ 816507 h 4424065"/>
              <a:gd name="connsiteX28" fmla="*/ 4063456 w 5531319"/>
              <a:gd name="connsiteY28" fmla="*/ 400724 h 4424065"/>
              <a:gd name="connsiteX29" fmla="*/ 3972543 w 5531319"/>
              <a:gd name="connsiteY29" fmla="*/ 365631 h 4424065"/>
              <a:gd name="connsiteX30" fmla="*/ 3885571 w 5531319"/>
              <a:gd name="connsiteY30" fmla="*/ 334733 h 4424065"/>
              <a:gd name="connsiteX31" fmla="*/ 4355012 w 5531319"/>
              <a:gd name="connsiteY31" fmla="*/ 579880 h 4424065"/>
              <a:gd name="connsiteX32" fmla="*/ 5144618 w 5531319"/>
              <a:gd name="connsiteY32" fmla="*/ 1290779 h 4424065"/>
              <a:gd name="connsiteX33" fmla="*/ 5468597 w 5531319"/>
              <a:gd name="connsiteY33" fmla="*/ 2088522 h 4424065"/>
              <a:gd name="connsiteX34" fmla="*/ 2219771 w 5531319"/>
              <a:gd name="connsiteY34" fmla="*/ 85645 h 4424065"/>
              <a:gd name="connsiteX35" fmla="*/ 2181626 w 5531319"/>
              <a:gd name="connsiteY35" fmla="*/ 89333 h 4424065"/>
              <a:gd name="connsiteX36" fmla="*/ 1462971 w 5531319"/>
              <a:gd name="connsiteY36" fmla="*/ 303073 h 4424065"/>
              <a:gd name="connsiteX37" fmla="*/ 308697 w 5531319"/>
              <a:gd name="connsiteY37" fmla="*/ 1338461 h 4424065"/>
              <a:gd name="connsiteX38" fmla="*/ 65839 w 5531319"/>
              <a:gd name="connsiteY38" fmla="*/ 2064364 h 4424065"/>
              <a:gd name="connsiteX39" fmla="*/ 82114 w 5531319"/>
              <a:gd name="connsiteY39" fmla="*/ 2022150 h 4424065"/>
              <a:gd name="connsiteX40" fmla="*/ 423260 w 5531319"/>
              <a:gd name="connsiteY40" fmla="*/ 1282260 h 4424065"/>
              <a:gd name="connsiteX41" fmla="*/ 1231811 w 5531319"/>
              <a:gd name="connsiteY41" fmla="*/ 454001 h 4424065"/>
              <a:gd name="connsiteX42" fmla="*/ 2219771 w 5531319"/>
              <a:gd name="connsiteY42" fmla="*/ 85645 h 4424065"/>
              <a:gd name="connsiteX43" fmla="*/ 2855524 w 5531319"/>
              <a:gd name="connsiteY43" fmla="*/ 4364392 h 4424065"/>
              <a:gd name="connsiteX44" fmla="*/ 4292327 w 5531319"/>
              <a:gd name="connsiteY44" fmla="*/ 3931444 h 4424065"/>
              <a:gd name="connsiteX45" fmla="*/ 2855652 w 5531319"/>
              <a:gd name="connsiteY45" fmla="*/ 4364392 h 4424065"/>
              <a:gd name="connsiteX46" fmla="*/ 3869805 w 5531319"/>
              <a:gd name="connsiteY46" fmla="*/ 330156 h 4424065"/>
              <a:gd name="connsiteX47" fmla="*/ 3865736 w 5531319"/>
              <a:gd name="connsiteY47" fmla="*/ 329520 h 4424065"/>
              <a:gd name="connsiteX48" fmla="*/ 3866499 w 5531319"/>
              <a:gd name="connsiteY48" fmla="*/ 330537 h 4424065"/>
              <a:gd name="connsiteX49" fmla="*/ 4302117 w 5531319"/>
              <a:gd name="connsiteY49" fmla="*/ 3923561 h 4424065"/>
              <a:gd name="connsiteX50" fmla="*/ 4301101 w 5531319"/>
              <a:gd name="connsiteY50" fmla="*/ 3924959 h 4424065"/>
              <a:gd name="connsiteX51" fmla="*/ 4302880 w 5531319"/>
              <a:gd name="connsiteY51" fmla="*/ 3924959 h 442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31319" h="4424065">
                <a:moveTo>
                  <a:pt x="2612540" y="836"/>
                </a:moveTo>
                <a:cubicBezTo>
                  <a:pt x="2715913" y="-4250"/>
                  <a:pt x="2831239" y="14695"/>
                  <a:pt x="2946310" y="35548"/>
                </a:cubicBezTo>
                <a:cubicBezTo>
                  <a:pt x="3291651" y="98106"/>
                  <a:pt x="3631143" y="182915"/>
                  <a:pt x="3961099" y="303581"/>
                </a:cubicBezTo>
                <a:cubicBezTo>
                  <a:pt x="4278340" y="419543"/>
                  <a:pt x="4581340" y="563350"/>
                  <a:pt x="4854587" y="764502"/>
                </a:cubicBezTo>
                <a:cubicBezTo>
                  <a:pt x="5067437" y="921152"/>
                  <a:pt x="5250407" y="1105521"/>
                  <a:pt x="5377812" y="1339732"/>
                </a:cubicBezTo>
                <a:cubicBezTo>
                  <a:pt x="5459811" y="1489986"/>
                  <a:pt x="5510303" y="1655396"/>
                  <a:pt x="5526197" y="1825829"/>
                </a:cubicBezTo>
                <a:cubicBezTo>
                  <a:pt x="5538276" y="1951327"/>
                  <a:pt x="5527341" y="2074917"/>
                  <a:pt x="5510557" y="2199398"/>
                </a:cubicBezTo>
                <a:cubicBezTo>
                  <a:pt x="5502966" y="2266991"/>
                  <a:pt x="5502712" y="2335195"/>
                  <a:pt x="5509795" y="2402839"/>
                </a:cubicBezTo>
                <a:cubicBezTo>
                  <a:pt x="5534207" y="2664197"/>
                  <a:pt x="5468471" y="2926051"/>
                  <a:pt x="5323519" y="3144890"/>
                </a:cubicBezTo>
                <a:cubicBezTo>
                  <a:pt x="5201339" y="3332234"/>
                  <a:pt x="5041041" y="3491719"/>
                  <a:pt x="4853061" y="3612932"/>
                </a:cubicBezTo>
                <a:cubicBezTo>
                  <a:pt x="4671109" y="3732072"/>
                  <a:pt x="4498565" y="3864563"/>
                  <a:pt x="4316358" y="3982940"/>
                </a:cubicBezTo>
                <a:cubicBezTo>
                  <a:pt x="4019716" y="4175573"/>
                  <a:pt x="3701076" y="4317347"/>
                  <a:pt x="3352556" y="4386771"/>
                </a:cubicBezTo>
                <a:cubicBezTo>
                  <a:pt x="3160953" y="4425590"/>
                  <a:pt x="2964455" y="4434173"/>
                  <a:pt x="2770206" y="4412201"/>
                </a:cubicBezTo>
                <a:cubicBezTo>
                  <a:pt x="2685524" y="4402537"/>
                  <a:pt x="2599952" y="4402410"/>
                  <a:pt x="2514888" y="4393637"/>
                </a:cubicBezTo>
                <a:cubicBezTo>
                  <a:pt x="2307136" y="4370851"/>
                  <a:pt x="2102208" y="4327277"/>
                  <a:pt x="1903166" y="4263562"/>
                </a:cubicBezTo>
                <a:cubicBezTo>
                  <a:pt x="1560622" y="4156119"/>
                  <a:pt x="1238931" y="4006972"/>
                  <a:pt x="948392" y="3794249"/>
                </a:cubicBezTo>
                <a:cubicBezTo>
                  <a:pt x="647553" y="3573897"/>
                  <a:pt x="396812" y="3308660"/>
                  <a:pt x="223633" y="2975526"/>
                </a:cubicBezTo>
                <a:cubicBezTo>
                  <a:pt x="129453" y="2796370"/>
                  <a:pt x="67149" y="2602198"/>
                  <a:pt x="39519" y="2401695"/>
                </a:cubicBezTo>
                <a:cubicBezTo>
                  <a:pt x="34509" y="2367555"/>
                  <a:pt x="26728" y="2333872"/>
                  <a:pt x="16251" y="2300991"/>
                </a:cubicBezTo>
                <a:cubicBezTo>
                  <a:pt x="-9180" y="2218598"/>
                  <a:pt x="-25" y="2135695"/>
                  <a:pt x="11800" y="2053556"/>
                </a:cubicBezTo>
                <a:cubicBezTo>
                  <a:pt x="93685" y="1480615"/>
                  <a:pt x="377867" y="1021983"/>
                  <a:pt x="812849" y="651084"/>
                </a:cubicBezTo>
                <a:cubicBezTo>
                  <a:pt x="1176754" y="340201"/>
                  <a:pt x="1598259" y="146042"/>
                  <a:pt x="2066809" y="52586"/>
                </a:cubicBezTo>
                <a:cubicBezTo>
                  <a:pt x="2154543" y="35039"/>
                  <a:pt x="2243040" y="23087"/>
                  <a:pt x="2332045" y="14441"/>
                </a:cubicBezTo>
                <a:cubicBezTo>
                  <a:pt x="2421051" y="5794"/>
                  <a:pt x="2508912" y="2107"/>
                  <a:pt x="2612540" y="836"/>
                </a:cubicBezTo>
                <a:close/>
                <a:moveTo>
                  <a:pt x="5468597" y="2088522"/>
                </a:moveTo>
                <a:cubicBezTo>
                  <a:pt x="5479329" y="2001424"/>
                  <a:pt x="5480181" y="1913385"/>
                  <a:pt x="5471140" y="1826083"/>
                </a:cubicBezTo>
                <a:cubicBezTo>
                  <a:pt x="5455336" y="1662962"/>
                  <a:pt x="5406306" y="1504799"/>
                  <a:pt x="5327079" y="1361348"/>
                </a:cubicBezTo>
                <a:cubicBezTo>
                  <a:pt x="5206159" y="1140233"/>
                  <a:pt x="5033361" y="965782"/>
                  <a:pt x="4833353" y="816507"/>
                </a:cubicBezTo>
                <a:cubicBezTo>
                  <a:pt x="4597234" y="640276"/>
                  <a:pt x="4336321" y="509438"/>
                  <a:pt x="4063456" y="400724"/>
                </a:cubicBezTo>
                <a:cubicBezTo>
                  <a:pt x="4033359" y="388607"/>
                  <a:pt x="4003059" y="376909"/>
                  <a:pt x="3972543" y="365631"/>
                </a:cubicBezTo>
                <a:cubicBezTo>
                  <a:pt x="3943679" y="354950"/>
                  <a:pt x="3914562" y="345033"/>
                  <a:pt x="3885571" y="334733"/>
                </a:cubicBezTo>
                <a:cubicBezTo>
                  <a:pt x="4046888" y="406840"/>
                  <a:pt x="4203652" y="488713"/>
                  <a:pt x="4355012" y="579880"/>
                </a:cubicBezTo>
                <a:cubicBezTo>
                  <a:pt x="4662081" y="768063"/>
                  <a:pt x="4933802" y="995790"/>
                  <a:pt x="5144618" y="1290779"/>
                </a:cubicBezTo>
                <a:cubicBezTo>
                  <a:pt x="5314364" y="1528042"/>
                  <a:pt x="5426257" y="1789591"/>
                  <a:pt x="5468597" y="2088522"/>
                </a:cubicBezTo>
                <a:close/>
                <a:moveTo>
                  <a:pt x="2219771" y="85645"/>
                </a:moveTo>
                <a:cubicBezTo>
                  <a:pt x="2206942" y="84005"/>
                  <a:pt x="2193909" y="85264"/>
                  <a:pt x="2181626" y="89333"/>
                </a:cubicBezTo>
                <a:cubicBezTo>
                  <a:pt x="1932919" y="125113"/>
                  <a:pt x="1690799" y="197118"/>
                  <a:pt x="1462971" y="303073"/>
                </a:cubicBezTo>
                <a:cubicBezTo>
                  <a:pt x="971788" y="529528"/>
                  <a:pt x="578129" y="865460"/>
                  <a:pt x="308697" y="1338461"/>
                </a:cubicBezTo>
                <a:cubicBezTo>
                  <a:pt x="180224" y="1561852"/>
                  <a:pt x="97652" y="1808638"/>
                  <a:pt x="65839" y="2064364"/>
                </a:cubicBezTo>
                <a:cubicBezTo>
                  <a:pt x="71942" y="2050505"/>
                  <a:pt x="77283" y="2036391"/>
                  <a:pt x="82114" y="2022150"/>
                </a:cubicBezTo>
                <a:cubicBezTo>
                  <a:pt x="170103" y="1763653"/>
                  <a:pt x="279579" y="1515073"/>
                  <a:pt x="423260" y="1282260"/>
                </a:cubicBezTo>
                <a:cubicBezTo>
                  <a:pt x="630769" y="945565"/>
                  <a:pt x="895370" y="664944"/>
                  <a:pt x="1231811" y="454001"/>
                </a:cubicBezTo>
                <a:cubicBezTo>
                  <a:pt x="1535192" y="263783"/>
                  <a:pt x="1866801" y="149729"/>
                  <a:pt x="2219771" y="85645"/>
                </a:cubicBezTo>
                <a:close/>
                <a:moveTo>
                  <a:pt x="2855524" y="4364392"/>
                </a:moveTo>
                <a:cubicBezTo>
                  <a:pt x="3386633" y="4394018"/>
                  <a:pt x="3853530" y="4210158"/>
                  <a:pt x="4292327" y="3931444"/>
                </a:cubicBezTo>
                <a:cubicBezTo>
                  <a:pt x="3830134" y="4131325"/>
                  <a:pt x="3346707" y="4259111"/>
                  <a:pt x="2855652" y="4364392"/>
                </a:cubicBezTo>
                <a:close/>
                <a:moveTo>
                  <a:pt x="3869805" y="330156"/>
                </a:moveTo>
                <a:lnTo>
                  <a:pt x="3865736" y="329520"/>
                </a:lnTo>
                <a:cubicBezTo>
                  <a:pt x="3865736" y="329520"/>
                  <a:pt x="3865736" y="330410"/>
                  <a:pt x="3866499" y="330537"/>
                </a:cubicBezTo>
                <a:close/>
                <a:moveTo>
                  <a:pt x="4302117" y="3923561"/>
                </a:moveTo>
                <a:lnTo>
                  <a:pt x="4301101" y="3924959"/>
                </a:lnTo>
                <a:lnTo>
                  <a:pt x="4302880" y="3924959"/>
                </a:lnTo>
                <a:close/>
              </a:path>
            </a:pathLst>
          </a:custGeom>
          <a:solidFill>
            <a:schemeClr val="accent1"/>
          </a:solidFill>
          <a:ln w="1270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D582E69-2202-B7BF-4D30-9894EC1C7D78}"/>
              </a:ext>
            </a:extLst>
          </p:cNvPr>
          <p:cNvSpPr>
            <a:spLocks noGrp="1"/>
          </p:cNvSpPr>
          <p:nvPr>
            <p:ph type="title"/>
          </p:nvPr>
        </p:nvSpPr>
        <p:spPr>
          <a:xfrm>
            <a:off x="1039163" y="1762169"/>
            <a:ext cx="4073110" cy="3122092"/>
          </a:xfrm>
        </p:spPr>
        <p:txBody>
          <a:bodyPr anchor="ctr">
            <a:normAutofit/>
          </a:bodyPr>
          <a:lstStyle/>
          <a:p>
            <a:pPr algn="ctr"/>
            <a:r>
              <a:rPr lang="en-US" sz="6000" dirty="0">
                <a:solidFill>
                  <a:srgbClr val="FFFFFF"/>
                </a:solidFill>
              </a:rPr>
              <a:t>SPIT FIRE: </a:t>
            </a:r>
            <a:br>
              <a:rPr lang="en-US" sz="6000" dirty="0">
                <a:solidFill>
                  <a:srgbClr val="FFFFFF"/>
                </a:solidFill>
              </a:rPr>
            </a:br>
            <a:r>
              <a:rPr lang="en-US" sz="6000" dirty="0">
                <a:solidFill>
                  <a:srgbClr val="FFFFFF"/>
                </a:solidFill>
              </a:rPr>
              <a:t>Types of STI’s</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4884261"/>
              <a:ext cx="360" cy="2160"/>
            </p14:xfrm>
          </p:contentPart>
        </mc:Choice>
        <mc:Fallback xmlns="">
          <p:pic>
            <p:nvPicPr>
              <p: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5737403" y="4868832"/>
                <a:ext cx="36000" cy="32709"/>
              </a:xfrm>
              <a:prstGeom prst="rect">
                <a:avLst/>
              </a:prstGeom>
            </p:spPr>
          </p:pic>
        </mc:Fallback>
      </mc:AlternateContent>
      <p:pic>
        <p:nvPicPr>
          <p:cNvPr id="4" name="Graphic 4" descr="Megaphone1 with solid fill">
            <a:extLst>
              <a:ext uri="{FF2B5EF4-FFF2-40B4-BE49-F238E27FC236}">
                <a16:creationId xmlns:a16="http://schemas.microsoft.com/office/drawing/2014/main" id="{E8E48F32-D870-B3D4-D2E9-A7180F84F2C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718" b="16982"/>
          <a:stretch/>
        </p:blipFill>
        <p:spPr bwMode="auto">
          <a:xfrm rot="20624916" flipH="1">
            <a:off x="5522559" y="1977393"/>
            <a:ext cx="4608893" cy="3590207"/>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505191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stacked books">
            <a:extLst>
              <a:ext uri="{FF2B5EF4-FFF2-40B4-BE49-F238E27FC236}">
                <a16:creationId xmlns:a16="http://schemas.microsoft.com/office/drawing/2014/main" id="{1233A9E2-CD78-7B1E-EF6D-8FC4ABA8F96F}"/>
              </a:ext>
            </a:extLst>
          </p:cNvPr>
          <p:cNvPicPr>
            <a:picLocks noChangeAspect="1"/>
          </p:cNvPicPr>
          <p:nvPr/>
        </p:nvPicPr>
        <p:blipFill rotWithShape="1">
          <a:blip r:embed="rId2">
            <a:alphaModFix amt="40000"/>
          </a:blip>
          <a:src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D5298AA8-A15B-DFA3-A2A3-E27B380AC424}"/>
              </a:ext>
            </a:extLst>
          </p:cNvPr>
          <p:cNvSpPr>
            <a:spLocks noGrp="1"/>
          </p:cNvSpPr>
          <p:nvPr>
            <p:ph type="title"/>
          </p:nvPr>
        </p:nvSpPr>
        <p:spPr>
          <a:xfrm>
            <a:off x="7525512" y="494951"/>
            <a:ext cx="4023360" cy="5722227"/>
          </a:xfrm>
        </p:spPr>
        <p:txBody>
          <a:bodyPr>
            <a:normAutofit/>
          </a:bodyPr>
          <a:lstStyle/>
          <a:p>
            <a:r>
              <a:rPr lang="en-US" sz="7200" dirty="0"/>
              <a:t>GLOSSARY: (pg. 7)</a:t>
            </a:r>
          </a:p>
        </p:txBody>
      </p:sp>
      <p:sp>
        <p:nvSpPr>
          <p:cNvPr id="3" name="Content Placeholder 2">
            <a:extLst>
              <a:ext uri="{FF2B5EF4-FFF2-40B4-BE49-F238E27FC236}">
                <a16:creationId xmlns:a16="http://schemas.microsoft.com/office/drawing/2014/main" id="{DA1F88F0-F259-08F8-24F9-BD80B00CB17B}"/>
              </a:ext>
            </a:extLst>
          </p:cNvPr>
          <p:cNvSpPr>
            <a:spLocks noGrp="1"/>
          </p:cNvSpPr>
          <p:nvPr>
            <p:ph idx="1"/>
          </p:nvPr>
        </p:nvSpPr>
        <p:spPr>
          <a:xfrm>
            <a:off x="841248" y="850392"/>
            <a:ext cx="5824728" cy="5001768"/>
          </a:xfrm>
        </p:spPr>
        <p:txBody>
          <a:bodyPr anchor="ctr">
            <a:normAutofit/>
          </a:bodyPr>
          <a:lstStyle/>
          <a:p>
            <a:pPr marL="0" indent="0">
              <a:buNone/>
            </a:pPr>
            <a:endParaRPr lang="en-US" dirty="0"/>
          </a:p>
          <a:p>
            <a:r>
              <a:rPr lang="en-US" b="1" i="1" dirty="0"/>
              <a:t>Sexually Transmitted Infection:</a:t>
            </a:r>
          </a:p>
          <a:p>
            <a:pPr lvl="1"/>
            <a:r>
              <a:rPr lang="en-US" dirty="0"/>
              <a:t>An infection most commonly spread through unprotected sexual contact.</a:t>
            </a:r>
          </a:p>
        </p:txBody>
      </p:sp>
      <p:sp>
        <p:nvSpPr>
          <p:cNvPr id="14"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174DFB-8830-EBE1-20F8-A5003F1A9046}"/>
              </a:ext>
            </a:extLst>
          </p:cNvPr>
          <p:cNvSpPr txBox="1"/>
          <p:nvPr/>
        </p:nvSpPr>
        <p:spPr>
          <a:xfrm>
            <a:off x="7188999" y="4147981"/>
            <a:ext cx="4696385" cy="1200329"/>
          </a:xfrm>
          <a:prstGeom prst="rect">
            <a:avLst/>
          </a:prstGeom>
          <a:noFill/>
        </p:spPr>
        <p:txBody>
          <a:bodyPr wrap="square">
            <a:spAutoFit/>
          </a:bodyPr>
          <a:lstStyle/>
          <a:p>
            <a:pPr algn="ctr"/>
            <a:r>
              <a:rPr lang="en-US" sz="2400" dirty="0"/>
              <a:t>At the front of your books is your glossary. </a:t>
            </a:r>
          </a:p>
          <a:p>
            <a:pPr algn="ctr"/>
            <a:r>
              <a:rPr lang="en-US" sz="2400" dirty="0"/>
              <a:t>Turn to your glossary and add the following words and their definitions:</a:t>
            </a:r>
          </a:p>
        </p:txBody>
      </p:sp>
    </p:spTree>
    <p:extLst>
      <p:ext uri="{BB962C8B-B14F-4D97-AF65-F5344CB8AC3E}">
        <p14:creationId xmlns:p14="http://schemas.microsoft.com/office/powerpoint/2010/main" val="275457849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BAE63-1A2E-4628-BDD1-C7030B50C081}"/>
              </a:ext>
            </a:extLst>
          </p:cNvPr>
          <p:cNvSpPr>
            <a:spLocks noGrp="1"/>
          </p:cNvSpPr>
          <p:nvPr>
            <p:ph type="title"/>
          </p:nvPr>
        </p:nvSpPr>
        <p:spPr/>
        <p:txBody>
          <a:bodyPr/>
          <a:lstStyle/>
          <a:p>
            <a:r>
              <a:rPr lang="en-AU" dirty="0">
                <a:solidFill>
                  <a:schemeClr val="accent1"/>
                </a:solidFill>
              </a:rPr>
              <a:t>What are sexually transmitted infections? </a:t>
            </a:r>
            <a:r>
              <a:rPr lang="en-US" dirty="0"/>
              <a:t>(pg. 18)</a:t>
            </a:r>
            <a:endParaRPr lang="en-AU" u="sng" dirty="0">
              <a:solidFill>
                <a:schemeClr val="accent1"/>
              </a:solidFill>
            </a:endParaRPr>
          </a:p>
        </p:txBody>
      </p:sp>
      <p:sp>
        <p:nvSpPr>
          <p:cNvPr id="3" name="Content Placeholder 2">
            <a:extLst>
              <a:ext uri="{FF2B5EF4-FFF2-40B4-BE49-F238E27FC236}">
                <a16:creationId xmlns:a16="http://schemas.microsoft.com/office/drawing/2014/main" id="{1DC50BBA-017E-490E-B633-6C54D7A7CED1}"/>
              </a:ext>
            </a:extLst>
          </p:cNvPr>
          <p:cNvSpPr>
            <a:spLocks noGrp="1"/>
          </p:cNvSpPr>
          <p:nvPr>
            <p:ph idx="1"/>
          </p:nvPr>
        </p:nvSpPr>
        <p:spPr>
          <a:xfrm>
            <a:off x="838200" y="1929383"/>
            <a:ext cx="10515600" cy="4563491"/>
          </a:xfrm>
        </p:spPr>
        <p:txBody>
          <a:bodyPr>
            <a:normAutofit fontScale="92500" lnSpcReduction="20000"/>
          </a:bodyPr>
          <a:lstStyle/>
          <a:p>
            <a:pPr marL="0" indent="0">
              <a:buNone/>
            </a:pPr>
            <a:r>
              <a:rPr lang="en-AU" dirty="0"/>
              <a:t>STI’s are bacterial or viral infections that are most commonly passed through unprotected sexual contact with an infected partner:</a:t>
            </a:r>
          </a:p>
          <a:p>
            <a:pPr>
              <a:buFont typeface="Arial" panose="020B0604020202020204" pitchFamily="34" charset="0"/>
              <a:buChar char="•"/>
            </a:pPr>
            <a:r>
              <a:rPr lang="en-AU" dirty="0"/>
              <a:t> Oral sex</a:t>
            </a:r>
          </a:p>
          <a:p>
            <a:pPr>
              <a:buFont typeface="Arial" panose="020B0604020202020204" pitchFamily="34" charset="0"/>
              <a:buChar char="•"/>
            </a:pPr>
            <a:r>
              <a:rPr lang="en-AU" dirty="0"/>
              <a:t> Vaginal sex</a:t>
            </a:r>
          </a:p>
          <a:p>
            <a:pPr>
              <a:buFont typeface="Arial" panose="020B0604020202020204" pitchFamily="34" charset="0"/>
              <a:buChar char="•"/>
            </a:pPr>
            <a:r>
              <a:rPr lang="en-AU" dirty="0"/>
              <a:t> Anal sex</a:t>
            </a:r>
          </a:p>
          <a:p>
            <a:pPr>
              <a:buFont typeface="Arial" panose="020B0604020202020204" pitchFamily="34" charset="0"/>
              <a:buChar char="•"/>
            </a:pPr>
            <a:r>
              <a:rPr lang="en-AU" dirty="0"/>
              <a:t> Skin-to-skin contact </a:t>
            </a:r>
          </a:p>
          <a:p>
            <a:pPr>
              <a:buFont typeface="Arial" panose="020B0604020202020204" pitchFamily="34" charset="0"/>
              <a:buChar char="•"/>
            </a:pPr>
            <a:endParaRPr lang="en-AU" dirty="0"/>
          </a:p>
          <a:p>
            <a:pPr marL="0" indent="0">
              <a:buNone/>
            </a:pPr>
            <a:r>
              <a:rPr lang="en-AU" dirty="0"/>
              <a:t>For transmission to occur, it is necessary to have</a:t>
            </a:r>
          </a:p>
          <a:p>
            <a:pPr>
              <a:buFont typeface="Arial" panose="020B0604020202020204" pitchFamily="34" charset="0"/>
              <a:buChar char="•"/>
            </a:pPr>
            <a:r>
              <a:rPr lang="en-AU" dirty="0"/>
              <a:t> A body fluid with the germ in it</a:t>
            </a:r>
          </a:p>
          <a:p>
            <a:pPr>
              <a:buFont typeface="Arial" panose="020B0604020202020204" pitchFamily="34" charset="0"/>
              <a:buChar char="•"/>
            </a:pPr>
            <a:r>
              <a:rPr lang="en-AU" dirty="0"/>
              <a:t> A way of spreading the germ from one person to the other</a:t>
            </a:r>
          </a:p>
        </p:txBody>
      </p:sp>
      <p:sp>
        <p:nvSpPr>
          <p:cNvPr id="4" name="TextBox 3">
            <a:extLst>
              <a:ext uri="{FF2B5EF4-FFF2-40B4-BE49-F238E27FC236}">
                <a16:creationId xmlns:a16="http://schemas.microsoft.com/office/drawing/2014/main" id="{34767722-24F5-3205-B66E-7A0DFB3B8CD2}"/>
              </a:ext>
            </a:extLst>
          </p:cNvPr>
          <p:cNvSpPr txBox="1"/>
          <p:nvPr/>
        </p:nvSpPr>
        <p:spPr>
          <a:xfrm>
            <a:off x="3991232" y="2752693"/>
            <a:ext cx="3015049" cy="1323439"/>
          </a:xfrm>
          <a:prstGeom prst="rect">
            <a:avLst/>
          </a:prstGeom>
          <a:noFill/>
        </p:spPr>
        <p:txBody>
          <a:bodyPr wrap="square" rtlCol="0">
            <a:spAutoFit/>
          </a:bodyPr>
          <a:lstStyle/>
          <a:p>
            <a:pPr marL="342900" indent="-342900">
              <a:buFont typeface="Arial" panose="020B0604020202020204" pitchFamily="34" charset="0"/>
              <a:buChar char="•"/>
            </a:pPr>
            <a:r>
              <a:rPr lang="en-US" sz="2000" dirty="0"/>
              <a:t>STI’s can also be transmitted during pregnancy, childbirth and breastfeeding and through infected blook or blood products. </a:t>
            </a:r>
          </a:p>
        </p:txBody>
      </p:sp>
      <p:pic>
        <p:nvPicPr>
          <p:cNvPr id="2050" name="Picture 2" descr="Sexually Transmitted Infection: Causes, Types, Symptoms &amp; Treatment">
            <a:extLst>
              <a:ext uri="{FF2B5EF4-FFF2-40B4-BE49-F238E27FC236}">
                <a16:creationId xmlns:a16="http://schemas.microsoft.com/office/drawing/2014/main" id="{7F114CA6-B3B0-254C-23B5-72670D3D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245" y="2637566"/>
            <a:ext cx="3978876" cy="3978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38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D907-810B-A710-1744-C09D51F38274}"/>
              </a:ext>
            </a:extLst>
          </p:cNvPr>
          <p:cNvSpPr>
            <a:spLocks noGrp="1"/>
          </p:cNvSpPr>
          <p:nvPr>
            <p:ph type="title"/>
          </p:nvPr>
        </p:nvSpPr>
        <p:spPr/>
        <p:txBody>
          <a:bodyPr/>
          <a:lstStyle/>
          <a:p>
            <a:r>
              <a:rPr lang="en-AU" dirty="0">
                <a:solidFill>
                  <a:schemeClr val="accent1"/>
                </a:solidFill>
              </a:rPr>
              <a:t>Body fluids – which one’s are considered infectious? </a:t>
            </a:r>
            <a:endParaRPr lang="en-US" dirty="0"/>
          </a:p>
        </p:txBody>
      </p:sp>
      <p:sp>
        <p:nvSpPr>
          <p:cNvPr id="4" name="Content Placeholder 3">
            <a:extLst>
              <a:ext uri="{FF2B5EF4-FFF2-40B4-BE49-F238E27FC236}">
                <a16:creationId xmlns:a16="http://schemas.microsoft.com/office/drawing/2014/main" id="{FD7A3FE5-40B6-07D9-5D3C-B4412A6C5B10}"/>
              </a:ext>
            </a:extLst>
          </p:cNvPr>
          <p:cNvSpPr>
            <a:spLocks noGrp="1"/>
          </p:cNvSpPr>
          <p:nvPr>
            <p:ph sz="half" idx="1"/>
          </p:nvPr>
        </p:nvSpPr>
        <p:spPr/>
        <p:txBody>
          <a:bodyPr/>
          <a:lstStyle/>
          <a:p>
            <a:r>
              <a:rPr lang="en-US" dirty="0"/>
              <a:t>Semen</a:t>
            </a:r>
          </a:p>
          <a:p>
            <a:r>
              <a:rPr lang="en-US" dirty="0"/>
              <a:t>Vaginal Fluid</a:t>
            </a:r>
          </a:p>
          <a:p>
            <a:r>
              <a:rPr lang="en-US" dirty="0"/>
              <a:t>Blood</a:t>
            </a:r>
          </a:p>
          <a:p>
            <a:r>
              <a:rPr lang="en-US" dirty="0"/>
              <a:t>Fluid in blisters or sores</a:t>
            </a:r>
          </a:p>
        </p:txBody>
      </p:sp>
      <p:sp>
        <p:nvSpPr>
          <p:cNvPr id="5" name="Content Placeholder 4">
            <a:extLst>
              <a:ext uri="{FF2B5EF4-FFF2-40B4-BE49-F238E27FC236}">
                <a16:creationId xmlns:a16="http://schemas.microsoft.com/office/drawing/2014/main" id="{50214D17-660C-688C-53DA-8E98D6D29EE8}"/>
              </a:ext>
            </a:extLst>
          </p:cNvPr>
          <p:cNvSpPr>
            <a:spLocks noGrp="1"/>
          </p:cNvSpPr>
          <p:nvPr>
            <p:ph sz="half" idx="2"/>
          </p:nvPr>
        </p:nvSpPr>
        <p:spPr/>
        <p:txBody>
          <a:bodyPr/>
          <a:lstStyle/>
          <a:p>
            <a:r>
              <a:rPr lang="en-US" dirty="0"/>
              <a:t>Saliva</a:t>
            </a:r>
          </a:p>
          <a:p>
            <a:r>
              <a:rPr lang="en-US" dirty="0"/>
              <a:t>Urine</a:t>
            </a:r>
          </a:p>
          <a:p>
            <a:r>
              <a:rPr lang="en-US" dirty="0"/>
              <a:t>Sweat</a:t>
            </a:r>
          </a:p>
          <a:p>
            <a:r>
              <a:rPr lang="en-US" dirty="0"/>
              <a:t>Ear wax</a:t>
            </a:r>
          </a:p>
          <a:p>
            <a:r>
              <a:rPr lang="en-US" dirty="0"/>
              <a:t>Tears</a:t>
            </a:r>
          </a:p>
          <a:p>
            <a:endParaRPr lang="en-US" dirty="0"/>
          </a:p>
        </p:txBody>
      </p:sp>
      <p:pic>
        <p:nvPicPr>
          <p:cNvPr id="6" name="Graphic 5" descr="Tick with solid fill">
            <a:extLst>
              <a:ext uri="{FF2B5EF4-FFF2-40B4-BE49-F238E27FC236}">
                <a16:creationId xmlns:a16="http://schemas.microsoft.com/office/drawing/2014/main" id="{A484387F-8729-AEEA-FAF7-29A0671CCA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95284" y="4586324"/>
            <a:ext cx="1833716" cy="1833716"/>
          </a:xfrm>
          <a:prstGeom prst="rect">
            <a:avLst/>
          </a:prstGeom>
        </p:spPr>
      </p:pic>
      <p:pic>
        <p:nvPicPr>
          <p:cNvPr id="7" name="Graphic 6" descr="Close with solid fill">
            <a:extLst>
              <a:ext uri="{FF2B5EF4-FFF2-40B4-BE49-F238E27FC236}">
                <a16:creationId xmlns:a16="http://schemas.microsoft.com/office/drawing/2014/main" id="{DDDCAF92-628E-F8DB-F25C-E790D4010F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71503" y="2322447"/>
            <a:ext cx="2263877" cy="2263877"/>
          </a:xfrm>
          <a:prstGeom prst="rect">
            <a:avLst/>
          </a:prstGeom>
        </p:spPr>
      </p:pic>
    </p:spTree>
    <p:extLst>
      <p:ext uri="{BB962C8B-B14F-4D97-AF65-F5344CB8AC3E}">
        <p14:creationId xmlns:p14="http://schemas.microsoft.com/office/powerpoint/2010/main" val="2843649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98E09ED-5780-4EC7-9B36-62B5397260C4}"/>
              </a:ext>
            </a:extLst>
          </p:cNvPr>
          <p:cNvSpPr>
            <a:spLocks noGrp="1" noChangeArrowheads="1"/>
          </p:cNvSpPr>
          <p:nvPr>
            <p:ph type="title"/>
          </p:nvPr>
        </p:nvSpPr>
        <p:spPr/>
        <p:txBody>
          <a:bodyPr>
            <a:normAutofit/>
          </a:bodyPr>
          <a:lstStyle/>
          <a:p>
            <a:r>
              <a:rPr lang="en-US" altLang="en-US" dirty="0">
                <a:solidFill>
                  <a:schemeClr val="accent1"/>
                </a:solidFill>
              </a:rPr>
              <a:t>METHODS OF TRANSMISSION: </a:t>
            </a:r>
            <a:r>
              <a:rPr lang="en-US" altLang="en-US" u="sng" dirty="0">
                <a:solidFill>
                  <a:schemeClr val="accent1"/>
                </a:solidFill>
              </a:rPr>
              <a:t>Low</a:t>
            </a:r>
            <a:r>
              <a:rPr lang="en-US" altLang="en-US" dirty="0">
                <a:solidFill>
                  <a:schemeClr val="accent1"/>
                </a:solidFill>
              </a:rPr>
              <a:t> Risk or </a:t>
            </a:r>
            <a:r>
              <a:rPr lang="en-US" altLang="en-US" u="sng" dirty="0">
                <a:solidFill>
                  <a:schemeClr val="accent1"/>
                </a:solidFill>
              </a:rPr>
              <a:t>No</a:t>
            </a:r>
            <a:r>
              <a:rPr lang="en-US" altLang="en-US" dirty="0">
                <a:solidFill>
                  <a:schemeClr val="accent1"/>
                </a:solidFill>
              </a:rPr>
              <a:t> Risk</a:t>
            </a:r>
            <a:endParaRPr lang="en-CA" altLang="en-US" dirty="0">
              <a:solidFill>
                <a:schemeClr val="accent1"/>
              </a:solidFill>
            </a:endParaRPr>
          </a:p>
        </p:txBody>
      </p:sp>
      <p:sp>
        <p:nvSpPr>
          <p:cNvPr id="9218" name="Rectangle 3">
            <a:extLst>
              <a:ext uri="{FF2B5EF4-FFF2-40B4-BE49-F238E27FC236}">
                <a16:creationId xmlns:a16="http://schemas.microsoft.com/office/drawing/2014/main" id="{DFD1C992-C3CA-4D77-8CD9-3AF771027B46}"/>
              </a:ext>
            </a:extLst>
          </p:cNvPr>
          <p:cNvSpPr>
            <a:spLocks noGrp="1" noChangeArrowheads="1"/>
          </p:cNvSpPr>
          <p:nvPr>
            <p:ph sz="half" idx="1"/>
          </p:nvPr>
        </p:nvSpPr>
        <p:spPr>
          <a:xfrm>
            <a:off x="838200" y="2262745"/>
            <a:ext cx="3709988" cy="4191000"/>
          </a:xfrm>
        </p:spPr>
        <p:txBody>
          <a:bodyPr/>
          <a:lstStyle/>
          <a:p>
            <a:pPr lvl="1"/>
            <a:r>
              <a:rPr lang="en-CA" altLang="en-US" sz="2800" dirty="0"/>
              <a:t>Abstaining</a:t>
            </a:r>
          </a:p>
          <a:p>
            <a:pPr lvl="1"/>
            <a:r>
              <a:rPr lang="en-CA" altLang="en-US" sz="2800" dirty="0"/>
              <a:t>Hugging</a:t>
            </a:r>
          </a:p>
          <a:p>
            <a:pPr lvl="1"/>
            <a:r>
              <a:rPr lang="en-CA" altLang="en-US" sz="2800" dirty="0"/>
              <a:t>Kissing</a:t>
            </a:r>
          </a:p>
          <a:p>
            <a:pPr lvl="1"/>
            <a:r>
              <a:rPr lang="en-CA" altLang="en-US" sz="2800" dirty="0"/>
              <a:t>Holding hands</a:t>
            </a:r>
          </a:p>
          <a:p>
            <a:pPr lvl="1"/>
            <a:r>
              <a:rPr lang="en-CA" altLang="en-US" sz="2800" dirty="0"/>
              <a:t>Dancing</a:t>
            </a:r>
          </a:p>
          <a:p>
            <a:pPr lvl="1"/>
            <a:r>
              <a:rPr lang="en-CA" altLang="en-US" sz="2800" dirty="0"/>
              <a:t>Sitting on toilets</a:t>
            </a:r>
          </a:p>
          <a:p>
            <a:pPr lvl="1">
              <a:buFont typeface="Wingdings" panose="05000000000000000000" pitchFamily="2" charset="2"/>
              <a:buChar char="§"/>
            </a:pPr>
            <a:endParaRPr lang="en-CA" altLang="en-US" sz="2800" dirty="0">
              <a:solidFill>
                <a:schemeClr val="accent1"/>
              </a:solidFill>
            </a:endParaRPr>
          </a:p>
          <a:p>
            <a:endParaRPr lang="en-CA" altLang="en-US" dirty="0"/>
          </a:p>
        </p:txBody>
      </p:sp>
      <p:sp>
        <p:nvSpPr>
          <p:cNvPr id="9219" name="Rectangle 4">
            <a:extLst>
              <a:ext uri="{FF2B5EF4-FFF2-40B4-BE49-F238E27FC236}">
                <a16:creationId xmlns:a16="http://schemas.microsoft.com/office/drawing/2014/main" id="{D252E616-B4E1-46A6-AEED-F4096254B66A}"/>
              </a:ext>
            </a:extLst>
          </p:cNvPr>
          <p:cNvSpPr>
            <a:spLocks noGrp="1" noChangeArrowheads="1"/>
          </p:cNvSpPr>
          <p:nvPr>
            <p:ph sz="half" idx="2"/>
          </p:nvPr>
        </p:nvSpPr>
        <p:spPr>
          <a:xfrm>
            <a:off x="4010498" y="2225675"/>
            <a:ext cx="3711575" cy="4267200"/>
          </a:xfrm>
        </p:spPr>
        <p:txBody>
          <a:bodyPr/>
          <a:lstStyle/>
          <a:p>
            <a:pPr lvl="1"/>
            <a:r>
              <a:rPr lang="en-CA" altLang="en-US" sz="2800" dirty="0"/>
              <a:t>Sharing lip balm</a:t>
            </a:r>
          </a:p>
          <a:p>
            <a:pPr lvl="1"/>
            <a:r>
              <a:rPr lang="en-CA" altLang="en-US" sz="2800" dirty="0"/>
              <a:t>Mutual monogamy</a:t>
            </a:r>
          </a:p>
          <a:p>
            <a:pPr lvl="1"/>
            <a:r>
              <a:rPr lang="en-CA" altLang="en-US" sz="2800" dirty="0"/>
              <a:t>Massage</a:t>
            </a:r>
          </a:p>
          <a:p>
            <a:pPr lvl="1"/>
            <a:r>
              <a:rPr lang="en-CA" altLang="en-US" sz="2800" dirty="0"/>
              <a:t>Sharing forks, knives, etc.</a:t>
            </a:r>
          </a:p>
          <a:p>
            <a:pPr lvl="1"/>
            <a:endParaRPr lang="en-CA" altLang="en-US" sz="2800" dirty="0">
              <a:solidFill>
                <a:schemeClr val="accent1"/>
              </a:solidFill>
            </a:endParaRPr>
          </a:p>
          <a:p>
            <a:pPr lvl="1">
              <a:buFont typeface="Wingdings" panose="05000000000000000000" pitchFamily="2" charset="2"/>
              <a:buChar char="§"/>
            </a:pPr>
            <a:endParaRPr lang="en-CA" altLang="en-US" sz="2800" dirty="0">
              <a:solidFill>
                <a:schemeClr val="accent1"/>
              </a:solidFill>
            </a:endParaRPr>
          </a:p>
        </p:txBody>
      </p:sp>
      <p:sp>
        <p:nvSpPr>
          <p:cNvPr id="2" name="TextBox 1">
            <a:extLst>
              <a:ext uri="{FF2B5EF4-FFF2-40B4-BE49-F238E27FC236}">
                <a16:creationId xmlns:a16="http://schemas.microsoft.com/office/drawing/2014/main" id="{23FEB4D1-75EC-0631-C85A-3D844E490C17}"/>
              </a:ext>
            </a:extLst>
          </p:cNvPr>
          <p:cNvSpPr txBox="1"/>
          <p:nvPr/>
        </p:nvSpPr>
        <p:spPr>
          <a:xfrm>
            <a:off x="7311082" y="5745859"/>
            <a:ext cx="4042718" cy="707886"/>
          </a:xfrm>
          <a:prstGeom prst="rect">
            <a:avLst/>
          </a:prstGeom>
          <a:noFill/>
        </p:spPr>
        <p:txBody>
          <a:bodyPr wrap="square" rtlCol="0">
            <a:spAutoFit/>
          </a:bodyPr>
          <a:lstStyle/>
          <a:p>
            <a:pPr algn="ctr"/>
            <a:r>
              <a:rPr lang="en-US" sz="2000" dirty="0"/>
              <a:t>**Kissing can spread an STI, such as Herpes (cold sores), if there is a sore is present at the time. </a:t>
            </a:r>
          </a:p>
        </p:txBody>
      </p:sp>
      <p:sp>
        <p:nvSpPr>
          <p:cNvPr id="3" name="TextBox 2">
            <a:extLst>
              <a:ext uri="{FF2B5EF4-FFF2-40B4-BE49-F238E27FC236}">
                <a16:creationId xmlns:a16="http://schemas.microsoft.com/office/drawing/2014/main" id="{5CA4A881-A653-F1B5-AEF5-37BD7F868714}"/>
              </a:ext>
            </a:extLst>
          </p:cNvPr>
          <p:cNvSpPr txBox="1"/>
          <p:nvPr/>
        </p:nvSpPr>
        <p:spPr>
          <a:xfrm>
            <a:off x="8180173" y="3249887"/>
            <a:ext cx="3509319" cy="954107"/>
          </a:xfrm>
          <a:prstGeom prst="rect">
            <a:avLst/>
          </a:prstGeom>
          <a:noFill/>
        </p:spPr>
        <p:txBody>
          <a:bodyPr wrap="square" rtlCol="0">
            <a:spAutoFit/>
          </a:bodyPr>
          <a:lstStyle/>
          <a:p>
            <a:pPr algn="ctr"/>
            <a:r>
              <a:rPr lang="en-US" sz="2800" dirty="0"/>
              <a:t>STI’s need a host body, and without that they cannot survive.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E707CD4-4885-459D-8AA1-C12BD10C0416}"/>
              </a:ext>
            </a:extLst>
          </p:cNvPr>
          <p:cNvSpPr>
            <a:spLocks noGrp="1" noChangeArrowheads="1"/>
          </p:cNvSpPr>
          <p:nvPr>
            <p:ph type="title"/>
          </p:nvPr>
        </p:nvSpPr>
        <p:spPr/>
        <p:txBody>
          <a:bodyPr>
            <a:normAutofit/>
          </a:bodyPr>
          <a:lstStyle/>
          <a:p>
            <a:r>
              <a:rPr lang="en-US" altLang="en-US" dirty="0">
                <a:solidFill>
                  <a:schemeClr val="accent1"/>
                </a:solidFill>
              </a:rPr>
              <a:t>METHODS OF TRANSMISSION: </a:t>
            </a:r>
            <a:r>
              <a:rPr lang="en-US" altLang="en-US" u="sng" dirty="0">
                <a:solidFill>
                  <a:schemeClr val="accent1"/>
                </a:solidFill>
              </a:rPr>
              <a:t>High</a:t>
            </a:r>
            <a:r>
              <a:rPr lang="en-US" altLang="en-US" dirty="0">
                <a:solidFill>
                  <a:schemeClr val="accent1"/>
                </a:solidFill>
              </a:rPr>
              <a:t>-Risk </a:t>
            </a:r>
            <a:r>
              <a:rPr lang="en-US" dirty="0"/>
              <a:t>(pg. 18)</a:t>
            </a:r>
            <a:endParaRPr lang="en-CA" altLang="en-US" dirty="0">
              <a:solidFill>
                <a:schemeClr val="accent1"/>
              </a:solidFill>
            </a:endParaRPr>
          </a:p>
        </p:txBody>
      </p:sp>
      <p:sp>
        <p:nvSpPr>
          <p:cNvPr id="10242" name="Rectangle 3">
            <a:extLst>
              <a:ext uri="{FF2B5EF4-FFF2-40B4-BE49-F238E27FC236}">
                <a16:creationId xmlns:a16="http://schemas.microsoft.com/office/drawing/2014/main" id="{94D3A618-71A3-4E6D-BDEA-33240C615012}"/>
              </a:ext>
            </a:extLst>
          </p:cNvPr>
          <p:cNvSpPr>
            <a:spLocks noGrp="1" noChangeArrowheads="1"/>
          </p:cNvSpPr>
          <p:nvPr>
            <p:ph idx="1"/>
          </p:nvPr>
        </p:nvSpPr>
        <p:spPr>
          <a:xfrm>
            <a:off x="838200" y="2015067"/>
            <a:ext cx="3999271" cy="4636456"/>
          </a:xfrm>
        </p:spPr>
        <p:txBody>
          <a:bodyPr>
            <a:normAutofit lnSpcReduction="10000"/>
          </a:bodyPr>
          <a:lstStyle/>
          <a:p>
            <a:r>
              <a:rPr lang="en-CA" altLang="en-US" dirty="0"/>
              <a:t>Sexual Intercourse </a:t>
            </a:r>
          </a:p>
          <a:p>
            <a:pPr lvl="1"/>
            <a:r>
              <a:rPr lang="en-CA" altLang="en-US" dirty="0"/>
              <a:t>vaginal</a:t>
            </a:r>
          </a:p>
          <a:p>
            <a:pPr lvl="1"/>
            <a:r>
              <a:rPr lang="en-CA" altLang="en-US" dirty="0"/>
              <a:t>anal </a:t>
            </a:r>
          </a:p>
          <a:p>
            <a:pPr lvl="1"/>
            <a:r>
              <a:rPr lang="en-CA" altLang="en-US" dirty="0"/>
              <a:t>oral</a:t>
            </a:r>
          </a:p>
          <a:p>
            <a:r>
              <a:rPr lang="en-CA" altLang="en-US" dirty="0"/>
              <a:t>Blood-to-blood contact or blood infusion </a:t>
            </a:r>
          </a:p>
          <a:p>
            <a:r>
              <a:rPr lang="en-CA" altLang="en-US" dirty="0"/>
              <a:t>Sharing needles or other drug-use equipment</a:t>
            </a:r>
          </a:p>
          <a:p>
            <a:r>
              <a:rPr lang="en-CA" altLang="en-US" dirty="0"/>
              <a:t>Tattoo or body piercing</a:t>
            </a:r>
          </a:p>
          <a:p>
            <a:r>
              <a:rPr lang="en-CA" altLang="en-US" dirty="0"/>
              <a:t>Infected mother to her baby</a:t>
            </a:r>
          </a:p>
          <a:p>
            <a:pPr>
              <a:buFont typeface="Monotype Sorts" charset="2"/>
              <a:buNone/>
            </a:pPr>
            <a:endParaRPr lang="en-CA" altLang="en-US" dirty="0"/>
          </a:p>
        </p:txBody>
      </p:sp>
      <p:pic>
        <p:nvPicPr>
          <p:cNvPr id="4098" name="Picture 2" descr="What Are Sexually Transmitted Diseases (STDs)? - Symptoms &amp; Types">
            <a:extLst>
              <a:ext uri="{FF2B5EF4-FFF2-40B4-BE49-F238E27FC236}">
                <a16:creationId xmlns:a16="http://schemas.microsoft.com/office/drawing/2014/main" id="{6C307B18-1FEC-4D7C-FFEC-E8629A1F9E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7471" y="2609482"/>
            <a:ext cx="7295535" cy="31006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A3A8-CC31-5824-7083-DC87AF5FFB9C}"/>
              </a:ext>
            </a:extLst>
          </p:cNvPr>
          <p:cNvSpPr>
            <a:spLocks noGrp="1"/>
          </p:cNvSpPr>
          <p:nvPr>
            <p:ph type="title"/>
          </p:nvPr>
        </p:nvSpPr>
        <p:spPr/>
        <p:txBody>
          <a:bodyPr/>
          <a:lstStyle/>
          <a:p>
            <a:r>
              <a:rPr lang="en-US" dirty="0">
                <a:solidFill>
                  <a:srgbClr val="E4650C"/>
                </a:solidFill>
              </a:rPr>
              <a:t>TYPES of STI’s: </a:t>
            </a:r>
            <a:r>
              <a:rPr lang="en-US" dirty="0"/>
              <a:t>(pg. 19)</a:t>
            </a:r>
          </a:p>
        </p:txBody>
      </p:sp>
      <p:sp>
        <p:nvSpPr>
          <p:cNvPr id="3" name="Content Placeholder 2">
            <a:extLst>
              <a:ext uri="{FF2B5EF4-FFF2-40B4-BE49-F238E27FC236}">
                <a16:creationId xmlns:a16="http://schemas.microsoft.com/office/drawing/2014/main" id="{19666AA5-E8CD-480B-7A7B-62224F62EEF4}"/>
              </a:ext>
            </a:extLst>
          </p:cNvPr>
          <p:cNvSpPr>
            <a:spLocks noGrp="1"/>
          </p:cNvSpPr>
          <p:nvPr>
            <p:ph sz="half" idx="1"/>
          </p:nvPr>
        </p:nvSpPr>
        <p:spPr>
          <a:xfrm>
            <a:off x="838199" y="1929384"/>
            <a:ext cx="6266936" cy="4251960"/>
          </a:xfrm>
        </p:spPr>
        <p:txBody>
          <a:bodyPr>
            <a:normAutofit fontScale="85000" lnSpcReduction="10000"/>
          </a:bodyPr>
          <a:lstStyle/>
          <a:p>
            <a:pPr marL="514350" indent="-514350">
              <a:buFont typeface="+mj-lt"/>
              <a:buAutoNum type="arabicPeriod"/>
            </a:pPr>
            <a:r>
              <a:rPr lang="en-US" b="1" dirty="0"/>
              <a:t>BACTERIAL – an infection caused by a bacteria.</a:t>
            </a:r>
          </a:p>
          <a:p>
            <a:pPr lvl="2"/>
            <a:r>
              <a:rPr lang="en-US" dirty="0"/>
              <a:t>Treatable and curable with antibiotics. </a:t>
            </a:r>
          </a:p>
          <a:p>
            <a:pPr lvl="2"/>
            <a:r>
              <a:rPr lang="en-US" dirty="0"/>
              <a:t>If untreated can cause long term side-effects. </a:t>
            </a:r>
          </a:p>
          <a:p>
            <a:pPr lvl="2"/>
            <a:r>
              <a:rPr lang="en-US" dirty="0"/>
              <a:t>Chlamydia (most common), Gonorrhoea (‘the clap’), Syphilis, Trichomoniasis.</a:t>
            </a:r>
          </a:p>
          <a:p>
            <a:pPr lvl="2"/>
            <a:endParaRPr lang="en-US" dirty="0"/>
          </a:p>
          <a:p>
            <a:pPr marL="514350" indent="-514350">
              <a:buFont typeface="+mj-lt"/>
              <a:buAutoNum type="arabicPeriod"/>
            </a:pPr>
            <a:r>
              <a:rPr lang="en-US" b="1" dirty="0"/>
              <a:t>VIRAL – an infection caused by a virus.</a:t>
            </a:r>
          </a:p>
          <a:p>
            <a:pPr lvl="2"/>
            <a:r>
              <a:rPr lang="en-US" dirty="0"/>
              <a:t>Cannot be cured. </a:t>
            </a:r>
          </a:p>
          <a:p>
            <a:pPr lvl="2"/>
            <a:r>
              <a:rPr lang="en-US" dirty="0"/>
              <a:t>Medication to treat symptoms only.</a:t>
            </a:r>
          </a:p>
          <a:p>
            <a:pPr lvl="2"/>
            <a:r>
              <a:rPr lang="en-US" dirty="0"/>
              <a:t>Can pass onto others for the rest of your life. </a:t>
            </a:r>
          </a:p>
          <a:p>
            <a:pPr lvl="2"/>
            <a:r>
              <a:rPr lang="en-US" dirty="0"/>
              <a:t>Human </a:t>
            </a:r>
            <a:r>
              <a:rPr lang="en-US" dirty="0" err="1"/>
              <a:t>Papilomavirus</a:t>
            </a:r>
            <a:r>
              <a:rPr lang="en-US" dirty="0"/>
              <a:t> (HPV), HIV/AIDS, Herpes Simplex Virus (HSV), Hepatitis B.</a:t>
            </a:r>
          </a:p>
        </p:txBody>
      </p:sp>
      <p:sp>
        <p:nvSpPr>
          <p:cNvPr id="6" name="Content Placeholder 5">
            <a:extLst>
              <a:ext uri="{FF2B5EF4-FFF2-40B4-BE49-F238E27FC236}">
                <a16:creationId xmlns:a16="http://schemas.microsoft.com/office/drawing/2014/main" id="{01358E88-6468-D081-8DAD-83238C3B8CF8}"/>
              </a:ext>
            </a:extLst>
          </p:cNvPr>
          <p:cNvSpPr>
            <a:spLocks noGrp="1"/>
          </p:cNvSpPr>
          <p:nvPr>
            <p:ph sz="half" idx="2"/>
          </p:nvPr>
        </p:nvSpPr>
        <p:spPr>
          <a:xfrm>
            <a:off x="6981568" y="1929384"/>
            <a:ext cx="5041556" cy="4251960"/>
          </a:xfrm>
        </p:spPr>
        <p:txBody>
          <a:bodyPr>
            <a:normAutofit fontScale="85000" lnSpcReduction="10000"/>
          </a:bodyPr>
          <a:lstStyle/>
          <a:p>
            <a:pPr marL="0" indent="0">
              <a:buNone/>
            </a:pPr>
            <a:r>
              <a:rPr lang="en-US" dirty="0"/>
              <a:t>3.    </a:t>
            </a:r>
            <a:r>
              <a:rPr lang="en-US" b="1" dirty="0"/>
              <a:t>PARASITIC – an infection caused by a parasite.</a:t>
            </a:r>
          </a:p>
          <a:p>
            <a:pPr lvl="2"/>
            <a:r>
              <a:rPr lang="en-US" dirty="0"/>
              <a:t>Can be cured/treated</a:t>
            </a:r>
          </a:p>
          <a:p>
            <a:pPr lvl="2"/>
            <a:r>
              <a:rPr lang="en-US" dirty="0"/>
              <a:t>Public lice (crabs), Trichomoniasis, Scabies</a:t>
            </a:r>
          </a:p>
          <a:p>
            <a:pPr marL="514350" indent="-514350">
              <a:buFont typeface="+mj-lt"/>
              <a:buAutoNum type="arabicPeriod"/>
            </a:pPr>
            <a:endParaRPr lang="en-US" dirty="0"/>
          </a:p>
        </p:txBody>
      </p:sp>
      <p:pic>
        <p:nvPicPr>
          <p:cNvPr id="7170" name="Picture 2" descr="Sexually transmitted infections (STIs): Types &amp; symptoms - Flo">
            <a:extLst>
              <a:ext uri="{FF2B5EF4-FFF2-40B4-BE49-F238E27FC236}">
                <a16:creationId xmlns:a16="http://schemas.microsoft.com/office/drawing/2014/main" id="{12C042A8-58C6-9997-83D0-945549C11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3992" y="3286749"/>
            <a:ext cx="4756708" cy="3571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92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Exclamation mark on a yellow background">
            <a:extLst>
              <a:ext uri="{FF2B5EF4-FFF2-40B4-BE49-F238E27FC236}">
                <a16:creationId xmlns:a16="http://schemas.microsoft.com/office/drawing/2014/main" id="{033D5B49-C143-8E6E-9EA1-8DC4E1569BD3}"/>
              </a:ext>
            </a:extLst>
          </p:cNvPr>
          <p:cNvPicPr>
            <a:picLocks noChangeAspect="1"/>
          </p:cNvPicPr>
          <p:nvPr/>
        </p:nvPicPr>
        <p:blipFill rotWithShape="1">
          <a:blip r:embed="rId3"/>
          <a:srcRect t="25000"/>
          <a:stretch/>
        </p:blipFill>
        <p:spPr>
          <a:xfrm>
            <a:off x="-3047" y="10"/>
            <a:ext cx="12191999" cy="6857990"/>
          </a:xfrm>
          <a:prstGeom prst="rect">
            <a:avLst/>
          </a:prstGeom>
        </p:spPr>
      </p:pic>
      <p:sp>
        <p:nvSpPr>
          <p:cNvPr id="14" name="Rectangle 13">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D727EB7-2F8C-1E0A-09BE-AD294C989171}"/>
              </a:ext>
            </a:extLst>
          </p:cNvPr>
          <p:cNvSpPr>
            <a:spLocks noGrp="1"/>
          </p:cNvSpPr>
          <p:nvPr>
            <p:ph type="title"/>
          </p:nvPr>
        </p:nvSpPr>
        <p:spPr>
          <a:xfrm>
            <a:off x="321733" y="321733"/>
            <a:ext cx="11548532" cy="4229305"/>
          </a:xfrm>
        </p:spPr>
        <p:txBody>
          <a:bodyPr vert="horz" lIns="91440" tIns="45720" rIns="91440" bIns="45720" rtlCol="0" anchor="t">
            <a:normAutofit/>
          </a:bodyPr>
          <a:lstStyle/>
          <a:p>
            <a:r>
              <a:rPr lang="en-US" sz="11500">
                <a:solidFill>
                  <a:schemeClr val="bg1"/>
                </a:solidFill>
              </a:rPr>
              <a:t>WARNING: GRAPHIC CONTENT </a:t>
            </a:r>
          </a:p>
        </p:txBody>
      </p:sp>
      <p:sp>
        <p:nvSpPr>
          <p:cNvPr id="16" name="Rectangle 15">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095" y="4702516"/>
            <a:ext cx="12191999" cy="2155484"/>
          </a:xfrm>
          <a:prstGeom prst="rect">
            <a:avLst/>
          </a:prstGeom>
          <a:gradFill flip="none" rotWithShape="1">
            <a:gsLst>
              <a:gs pos="59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2A829C1-7DB2-7F8B-601B-40CAE30F58FC}"/>
              </a:ext>
            </a:extLst>
          </p:cNvPr>
          <p:cNvSpPr txBox="1"/>
          <p:nvPr/>
        </p:nvSpPr>
        <p:spPr>
          <a:xfrm>
            <a:off x="596900" y="2120900"/>
            <a:ext cx="7670800" cy="2677656"/>
          </a:xfrm>
          <a:prstGeom prst="rect">
            <a:avLst/>
          </a:prstGeom>
          <a:noFill/>
        </p:spPr>
        <p:txBody>
          <a:bodyPr wrap="square" rtlCol="0">
            <a:spAutoFit/>
          </a:bodyPr>
          <a:lstStyle/>
          <a:p>
            <a:r>
              <a:rPr lang="en-US" sz="2400" b="1" dirty="0"/>
              <a:t>Over the next collection of slides we will be going over the different types of STI’s – what they are, signs and symptoms, treatment etc.</a:t>
            </a:r>
          </a:p>
          <a:p>
            <a:r>
              <a:rPr lang="en-US" sz="2400" b="1" dirty="0"/>
              <a:t>Some slides will contain graphic images.  </a:t>
            </a:r>
          </a:p>
          <a:p>
            <a:endParaRPr lang="en-US" sz="2400" b="1" dirty="0"/>
          </a:p>
          <a:p>
            <a:r>
              <a:rPr lang="en-US" sz="2400" b="1" dirty="0"/>
              <a:t>Use the information to write your own notes onto pg.20 in your books. </a:t>
            </a:r>
          </a:p>
          <a:p>
            <a:endParaRPr lang="en-US" sz="2400" b="1" dirty="0"/>
          </a:p>
          <a:p>
            <a:r>
              <a:rPr lang="en-US" sz="2400" b="1" dirty="0"/>
              <a:t>This information can be used later to assist you with your assignment. </a:t>
            </a:r>
          </a:p>
        </p:txBody>
      </p:sp>
    </p:spTree>
    <p:extLst>
      <p:ext uri="{BB962C8B-B14F-4D97-AF65-F5344CB8AC3E}">
        <p14:creationId xmlns:p14="http://schemas.microsoft.com/office/powerpoint/2010/main" val="2613554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70A3A-6AA9-CA40-B4B7-B16703ABF9F0}"/>
              </a:ext>
            </a:extLst>
          </p:cNvPr>
          <p:cNvSpPr>
            <a:spLocks noGrp="1"/>
          </p:cNvSpPr>
          <p:nvPr>
            <p:ph type="title"/>
          </p:nvPr>
        </p:nvSpPr>
        <p:spPr>
          <a:xfrm>
            <a:off x="748505" y="558396"/>
            <a:ext cx="7024687" cy="1143000"/>
          </a:xfrm>
        </p:spPr>
        <p:txBody>
          <a:bodyPr rtlCol="0">
            <a:normAutofit/>
          </a:bodyPr>
          <a:lstStyle/>
          <a:p>
            <a:pPr>
              <a:defRPr/>
            </a:pPr>
            <a:r>
              <a:rPr lang="en-US" sz="5400" b="1" dirty="0"/>
              <a:t>Chlamydia </a:t>
            </a:r>
            <a:endParaRPr lang="en-CA" sz="5400" dirty="0"/>
          </a:p>
        </p:txBody>
      </p:sp>
      <p:sp>
        <p:nvSpPr>
          <p:cNvPr id="3" name="Content Placeholder 2">
            <a:extLst>
              <a:ext uri="{FF2B5EF4-FFF2-40B4-BE49-F238E27FC236}">
                <a16:creationId xmlns:a16="http://schemas.microsoft.com/office/drawing/2014/main" id="{A3EAEAF6-A842-D549-81EA-553C3FD5F2C2}"/>
              </a:ext>
            </a:extLst>
          </p:cNvPr>
          <p:cNvSpPr>
            <a:spLocks noGrp="1"/>
          </p:cNvSpPr>
          <p:nvPr>
            <p:ph idx="1"/>
          </p:nvPr>
        </p:nvSpPr>
        <p:spPr>
          <a:xfrm>
            <a:off x="196211" y="1899271"/>
            <a:ext cx="7712113" cy="4647579"/>
          </a:xfrm>
        </p:spPr>
        <p:txBody>
          <a:bodyPr rtlCol="0">
            <a:normAutofit/>
          </a:bodyPr>
          <a:lstStyle/>
          <a:p>
            <a:pPr marL="641350" indent="-571500">
              <a:buFont typeface="Arial" charset="0"/>
              <a:buChar char="•"/>
              <a:defRPr/>
            </a:pPr>
            <a:r>
              <a:rPr lang="en-US" sz="2600" dirty="0"/>
              <a:t>Among the most common bacterial STIs in the world. In WA, most common in people &lt;25 years.</a:t>
            </a:r>
          </a:p>
          <a:p>
            <a:pPr marL="641350" indent="-571500">
              <a:buFont typeface="Arial" charset="0"/>
              <a:buChar char="•"/>
              <a:defRPr/>
            </a:pPr>
            <a:r>
              <a:rPr lang="en-US" sz="2600" dirty="0"/>
              <a:t>Passed by having unprotected oral, anal or vaginal sex.</a:t>
            </a:r>
          </a:p>
          <a:p>
            <a:pPr marL="641350" indent="-571500">
              <a:buFont typeface="Arial" charset="0"/>
              <a:buChar char="•"/>
              <a:defRPr/>
            </a:pPr>
            <a:r>
              <a:rPr lang="en-US" sz="2600" dirty="0"/>
              <a:t>Condoms can help prevent the spread of chlamydia.</a:t>
            </a:r>
            <a:endParaRPr lang="en-US" sz="2600" b="1" dirty="0"/>
          </a:p>
          <a:p>
            <a:pPr marL="641350" indent="-571500">
              <a:buFont typeface="Arial" charset="0"/>
              <a:buChar char="•"/>
              <a:defRPr/>
            </a:pPr>
            <a:r>
              <a:rPr lang="en-US" sz="2600" dirty="0"/>
              <a:t>Most people have no symptoms.</a:t>
            </a:r>
          </a:p>
          <a:p>
            <a:pPr marL="641350" indent="-571500">
              <a:buFont typeface="Arial" charset="0"/>
              <a:buChar char="•"/>
              <a:defRPr/>
            </a:pPr>
            <a:r>
              <a:rPr lang="en-US" sz="2600" dirty="0"/>
              <a:t>The infection can be cured with a single dose of antibiotics.</a:t>
            </a:r>
          </a:p>
          <a:p>
            <a:pPr marL="641350" indent="-571500">
              <a:buFont typeface="Arial" charset="0"/>
              <a:buChar char="•"/>
              <a:defRPr/>
            </a:pPr>
            <a:r>
              <a:rPr lang="en-US" sz="2600" dirty="0"/>
              <a:t>If untreated it can affect the cervix, urethra, uterus, fallopian tubes, </a:t>
            </a:r>
            <a:br>
              <a:rPr lang="en-US" sz="2600" dirty="0"/>
            </a:br>
            <a:r>
              <a:rPr lang="en-US" sz="2600" dirty="0"/>
              <a:t>rectum, throat, eye, and can cause ectopic pregnancy or infertility. </a:t>
            </a:r>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5" name="TextBox 4">
            <a:extLst>
              <a:ext uri="{FF2B5EF4-FFF2-40B4-BE49-F238E27FC236}">
                <a16:creationId xmlns:a16="http://schemas.microsoft.com/office/drawing/2014/main" id="{8B092FFE-7B13-5449-AC24-5D4676BA01A1}"/>
              </a:ext>
            </a:extLst>
          </p:cNvPr>
          <p:cNvSpPr txBox="1"/>
          <p:nvPr/>
        </p:nvSpPr>
        <p:spPr>
          <a:xfrm>
            <a:off x="7773192" y="5531187"/>
            <a:ext cx="4992688" cy="1015663"/>
          </a:xfrm>
          <a:prstGeom prst="rect">
            <a:avLst/>
          </a:prstGeom>
          <a:noFill/>
        </p:spPr>
        <p:txBody>
          <a:bodyPr wrap="square" rtlCol="0">
            <a:spAutoFit/>
          </a:bodyPr>
          <a:lstStyle/>
          <a:p>
            <a:pPr marL="69850" indent="0" algn="ctr">
              <a:buNone/>
              <a:defRPr/>
            </a:pPr>
            <a:r>
              <a:rPr lang="en-US" sz="2800" b="1" i="1" dirty="0"/>
              <a:t>Remember Chlamydia is </a:t>
            </a:r>
          </a:p>
          <a:p>
            <a:pPr marL="69850" indent="0" algn="ctr">
              <a:buNone/>
              <a:defRPr/>
            </a:pPr>
            <a:r>
              <a:rPr lang="en-US" sz="2800" b="1" i="1" dirty="0"/>
              <a:t>CURABLE</a:t>
            </a:r>
            <a:r>
              <a:rPr lang="en-US" sz="3200" b="1" i="1" dirty="0"/>
              <a:t>!</a:t>
            </a:r>
            <a:endParaRPr lang="en-US" sz="3200" b="1" dirty="0"/>
          </a:p>
        </p:txBody>
      </p:sp>
      <p:pic>
        <p:nvPicPr>
          <p:cNvPr id="6" name="Picture 8">
            <a:extLst>
              <a:ext uri="{FF2B5EF4-FFF2-40B4-BE49-F238E27FC236}">
                <a16:creationId xmlns:a16="http://schemas.microsoft.com/office/drawing/2014/main" id="{F3BFF58F-6759-424E-9D1F-E6B917ACA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057" y="2821937"/>
            <a:ext cx="1874853" cy="1664345"/>
          </a:xfrm>
          <a:prstGeom prst="rect">
            <a:avLst/>
          </a:prstGeom>
          <a:noFill/>
          <a:ln w="571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9">
            <a:extLst>
              <a:ext uri="{FF2B5EF4-FFF2-40B4-BE49-F238E27FC236}">
                <a16:creationId xmlns:a16="http://schemas.microsoft.com/office/drawing/2014/main" id="{09C1524B-23C3-AD40-ACF1-D50E65F8F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3680" y="5135437"/>
            <a:ext cx="1701922" cy="1627798"/>
          </a:xfrm>
          <a:prstGeom prst="rect">
            <a:avLst/>
          </a:prstGeom>
          <a:noFill/>
          <a:ln w="571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3250" name="Picture 2" descr="Chlamydia Symptoms: What to Look for and Where to Get Help | GoHealth  Urgent Care">
            <a:extLst>
              <a:ext uri="{FF2B5EF4-FFF2-40B4-BE49-F238E27FC236}">
                <a16:creationId xmlns:a16="http://schemas.microsoft.com/office/drawing/2014/main" id="{C4390CD7-011A-5C47-BA20-4E7290449B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6675" y="0"/>
            <a:ext cx="3955325" cy="5115869"/>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A3DB-A24F-0D4F-8423-0ED11A163E6F}"/>
              </a:ext>
            </a:extLst>
          </p:cNvPr>
          <p:cNvSpPr>
            <a:spLocks noGrp="1"/>
          </p:cNvSpPr>
          <p:nvPr>
            <p:ph type="title"/>
          </p:nvPr>
        </p:nvSpPr>
        <p:spPr>
          <a:xfrm>
            <a:off x="795339" y="523450"/>
            <a:ext cx="7024687" cy="1143000"/>
          </a:xfrm>
        </p:spPr>
        <p:txBody>
          <a:bodyPr rtlCol="0">
            <a:normAutofit/>
          </a:bodyPr>
          <a:lstStyle/>
          <a:p>
            <a:pPr>
              <a:defRPr/>
            </a:pPr>
            <a:r>
              <a:rPr lang="en-US" sz="5400" b="1" dirty="0"/>
              <a:t>Gonorrhea</a:t>
            </a:r>
            <a:endParaRPr lang="en-CA" sz="5400" dirty="0"/>
          </a:p>
        </p:txBody>
      </p:sp>
      <p:sp>
        <p:nvSpPr>
          <p:cNvPr id="3" name="Content Placeholder 2">
            <a:extLst>
              <a:ext uri="{FF2B5EF4-FFF2-40B4-BE49-F238E27FC236}">
                <a16:creationId xmlns:a16="http://schemas.microsoft.com/office/drawing/2014/main" id="{E881DFBE-3F71-B14D-96BA-474A8C8109B9}"/>
              </a:ext>
            </a:extLst>
          </p:cNvPr>
          <p:cNvSpPr>
            <a:spLocks noGrp="1"/>
          </p:cNvSpPr>
          <p:nvPr>
            <p:ph idx="1"/>
          </p:nvPr>
        </p:nvSpPr>
        <p:spPr>
          <a:xfrm>
            <a:off x="250723" y="1850738"/>
            <a:ext cx="8079640" cy="2902974"/>
          </a:xfrm>
        </p:spPr>
        <p:txBody>
          <a:bodyPr rtlCol="0">
            <a:normAutofit lnSpcReduction="10000"/>
          </a:bodyPr>
          <a:lstStyle/>
          <a:p>
            <a:pPr marL="641350" indent="-571500">
              <a:buFont typeface="Arial" charset="0"/>
              <a:buChar char="•"/>
              <a:defRPr/>
            </a:pPr>
            <a:r>
              <a:rPr lang="en-US" dirty="0"/>
              <a:t>Second most common bacterial infection and is most common in 15-29 year-olds.</a:t>
            </a:r>
          </a:p>
          <a:p>
            <a:pPr marL="641350" indent="-571500">
              <a:buFont typeface="Arial" charset="0"/>
              <a:buChar char="•"/>
              <a:defRPr/>
            </a:pPr>
            <a:r>
              <a:rPr lang="en-US" dirty="0"/>
              <a:t>Passed along by having unprotected oral, anal or vaginal sex.</a:t>
            </a:r>
          </a:p>
          <a:p>
            <a:pPr marL="641350" indent="-571500">
              <a:buFont typeface="Arial" charset="0"/>
              <a:buChar char="•"/>
              <a:defRPr/>
            </a:pPr>
            <a:r>
              <a:rPr lang="en-US" dirty="0"/>
              <a:t>Condoms can help prevent the spread of gonorrhea.</a:t>
            </a:r>
          </a:p>
          <a:p>
            <a:pPr marL="641350" indent="-571500">
              <a:buFont typeface="Arial" charset="0"/>
              <a:buChar char="•"/>
              <a:defRPr/>
            </a:pPr>
            <a:r>
              <a:rPr lang="en-US" dirty="0"/>
              <a:t>Most people have no symptoms, especially in females. </a:t>
            </a:r>
          </a:p>
          <a:p>
            <a:pPr marL="641350" indent="-571500">
              <a:buFont typeface="Arial" charset="0"/>
              <a:buChar char="•"/>
              <a:defRPr/>
            </a:pPr>
            <a:r>
              <a:rPr lang="en-US" dirty="0"/>
              <a:t>The infection can be cured with antibiotics.</a:t>
            </a:r>
          </a:p>
          <a:p>
            <a:pPr marL="641350" indent="-571500">
              <a:buFont typeface="Arial" charset="0"/>
              <a:buChar char="•"/>
              <a:defRPr/>
            </a:pPr>
            <a:endParaRPr lang="en-US" dirty="0"/>
          </a:p>
          <a:p>
            <a:pPr algn="ctr">
              <a:buNone/>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4" name="Rectangle 3">
            <a:extLst>
              <a:ext uri="{FF2B5EF4-FFF2-40B4-BE49-F238E27FC236}">
                <a16:creationId xmlns:a16="http://schemas.microsoft.com/office/drawing/2014/main" id="{8B020AA3-9DF4-CF42-B1FD-8F4CFA523765}"/>
              </a:ext>
            </a:extLst>
          </p:cNvPr>
          <p:cNvSpPr/>
          <p:nvPr/>
        </p:nvSpPr>
        <p:spPr>
          <a:xfrm>
            <a:off x="8351458" y="5657260"/>
            <a:ext cx="3729330" cy="1089529"/>
          </a:xfrm>
          <a:prstGeom prst="rect">
            <a:avLst/>
          </a:prstGeom>
        </p:spPr>
        <p:txBody>
          <a:bodyPr wrap="square">
            <a:spAutoFit/>
          </a:bodyPr>
          <a:lstStyle/>
          <a:p>
            <a:pPr marL="69850" lvl="0" algn="ctr" defTabSz="914400">
              <a:lnSpc>
                <a:spcPct val="90000"/>
              </a:lnSpc>
              <a:spcBef>
                <a:spcPts val="1000"/>
              </a:spcBef>
              <a:defRPr/>
            </a:pPr>
            <a:r>
              <a:rPr lang="en-US" sz="3600" b="1" i="1" dirty="0"/>
              <a:t>Remember Gonorrhea is CURABLE!</a:t>
            </a:r>
            <a:endParaRPr lang="en-US" sz="3600" b="1" dirty="0"/>
          </a:p>
        </p:txBody>
      </p:sp>
      <p:pic>
        <p:nvPicPr>
          <p:cNvPr id="59394" name="Picture 2" descr="Gonorrhea: Signs, Symptoms, and Complications">
            <a:extLst>
              <a:ext uri="{FF2B5EF4-FFF2-40B4-BE49-F238E27FC236}">
                <a16:creationId xmlns:a16="http://schemas.microsoft.com/office/drawing/2014/main" id="{62EE74B1-A556-FE4E-B960-86DA602CEB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5159" y="111211"/>
            <a:ext cx="3385629" cy="5498757"/>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pic>
        <p:nvPicPr>
          <p:cNvPr id="8194" name="Picture 2" descr="Gonorrhoea Symptoms Explained — Causes and Treatments">
            <a:extLst>
              <a:ext uri="{FF2B5EF4-FFF2-40B4-BE49-F238E27FC236}">
                <a16:creationId xmlns:a16="http://schemas.microsoft.com/office/drawing/2014/main" id="{6D18FCEE-1996-7D52-143D-5192BE4AA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1622" y="3508150"/>
            <a:ext cx="2902974" cy="29029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15414E-7686-D8AE-162E-3FF216B839FA}"/>
              </a:ext>
            </a:extLst>
          </p:cNvPr>
          <p:cNvSpPr txBox="1"/>
          <p:nvPr/>
        </p:nvSpPr>
        <p:spPr>
          <a:xfrm>
            <a:off x="795339" y="4661001"/>
            <a:ext cx="1927654" cy="2031325"/>
          </a:xfrm>
          <a:prstGeom prst="rect">
            <a:avLst/>
          </a:prstGeom>
          <a:noFill/>
        </p:spPr>
        <p:txBody>
          <a:bodyPr wrap="square" rtlCol="0">
            <a:spAutoFit/>
          </a:bodyPr>
          <a:lstStyle/>
          <a:p>
            <a:r>
              <a:rPr lang="en-US" dirty="0"/>
              <a:t>Female:</a:t>
            </a:r>
          </a:p>
          <a:p>
            <a:pPr marL="285750" indent="-285750">
              <a:buFontTx/>
              <a:buChar char="-"/>
            </a:pPr>
            <a:r>
              <a:rPr lang="en-US" dirty="0"/>
              <a:t>Vaginal discharge</a:t>
            </a:r>
          </a:p>
          <a:p>
            <a:pPr marL="285750" indent="-285750">
              <a:buFontTx/>
              <a:buChar char="-"/>
            </a:pPr>
            <a:r>
              <a:rPr lang="en-US" dirty="0"/>
              <a:t>Painful urination</a:t>
            </a:r>
          </a:p>
          <a:p>
            <a:pPr marL="285750" indent="-285750">
              <a:buFontTx/>
              <a:buChar char="-"/>
            </a:pPr>
            <a:r>
              <a:rPr lang="en-US" dirty="0"/>
              <a:t>Bleeding after sex</a:t>
            </a:r>
          </a:p>
          <a:p>
            <a:pPr marL="285750" indent="-285750">
              <a:buFontTx/>
              <a:buChar char="-"/>
            </a:pPr>
            <a:r>
              <a:rPr lang="en-US" dirty="0"/>
              <a:t>Bleeding between periods</a:t>
            </a:r>
          </a:p>
          <a:p>
            <a:pPr marL="285750" indent="-285750">
              <a:buFontTx/>
              <a:buChar char="-"/>
            </a:pPr>
            <a:r>
              <a:rPr lang="en-US" dirty="0"/>
              <a:t>Pain during sex</a:t>
            </a:r>
          </a:p>
          <a:p>
            <a:pPr marL="285750" indent="-285750">
              <a:buFontTx/>
              <a:buChar char="-"/>
            </a:pPr>
            <a:r>
              <a:rPr lang="en-US" dirty="0"/>
              <a:t>Lower abdominal pain</a:t>
            </a:r>
          </a:p>
        </p:txBody>
      </p:sp>
      <p:sp>
        <p:nvSpPr>
          <p:cNvPr id="6" name="TextBox 5">
            <a:extLst>
              <a:ext uri="{FF2B5EF4-FFF2-40B4-BE49-F238E27FC236}">
                <a16:creationId xmlns:a16="http://schemas.microsoft.com/office/drawing/2014/main" id="{074EC1AD-D37B-0217-C8DA-1BABFA1AE1D8}"/>
              </a:ext>
            </a:extLst>
          </p:cNvPr>
          <p:cNvSpPr txBox="1"/>
          <p:nvPr/>
        </p:nvSpPr>
        <p:spPr>
          <a:xfrm>
            <a:off x="2692643" y="4753712"/>
            <a:ext cx="3122116" cy="1754326"/>
          </a:xfrm>
          <a:prstGeom prst="rect">
            <a:avLst/>
          </a:prstGeom>
          <a:noFill/>
        </p:spPr>
        <p:txBody>
          <a:bodyPr wrap="square" rtlCol="0">
            <a:spAutoFit/>
          </a:bodyPr>
          <a:lstStyle/>
          <a:p>
            <a:r>
              <a:rPr lang="en-US" dirty="0"/>
              <a:t>Male:</a:t>
            </a:r>
          </a:p>
          <a:p>
            <a:pPr marL="285750" indent="-285750">
              <a:buFontTx/>
              <a:buChar char="-"/>
            </a:pPr>
            <a:r>
              <a:rPr lang="en-US" dirty="0"/>
              <a:t>Thick, yellowish-green discharge from penis</a:t>
            </a:r>
          </a:p>
          <a:p>
            <a:pPr marL="285750" indent="-285750">
              <a:buFontTx/>
              <a:buChar char="-"/>
            </a:pPr>
            <a:r>
              <a:rPr lang="en-US" dirty="0"/>
              <a:t>Painful urination</a:t>
            </a:r>
          </a:p>
          <a:p>
            <a:pPr marL="285750" indent="-285750">
              <a:buFontTx/>
              <a:buChar char="-"/>
            </a:pPr>
            <a:r>
              <a:rPr lang="en-US" dirty="0"/>
              <a:t>Testicular pain or swelling</a:t>
            </a:r>
          </a:p>
          <a:p>
            <a:pPr marL="285750" indent="-285750">
              <a:buFontTx/>
              <a:buChar char="-"/>
            </a:pPr>
            <a:r>
              <a:rPr lang="en-US" dirty="0"/>
              <a:t>Rectal pain, discharge or itching.</a:t>
            </a:r>
          </a:p>
          <a:p>
            <a:pPr marL="285750" indent="-285750">
              <a:buFontTx/>
              <a:buChar char="-"/>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2883F-EA07-564D-8B2C-3F0473608DFF}"/>
              </a:ext>
            </a:extLst>
          </p:cNvPr>
          <p:cNvSpPr>
            <a:spLocks noGrp="1"/>
          </p:cNvSpPr>
          <p:nvPr>
            <p:ph type="title"/>
          </p:nvPr>
        </p:nvSpPr>
        <p:spPr>
          <a:xfrm>
            <a:off x="838200" y="271850"/>
            <a:ext cx="10515600" cy="1325563"/>
          </a:xfrm>
        </p:spPr>
        <p:txBody>
          <a:bodyPr rtlCol="0">
            <a:normAutofit/>
          </a:bodyPr>
          <a:lstStyle/>
          <a:p>
            <a:pPr>
              <a:defRPr/>
            </a:pPr>
            <a:r>
              <a:rPr lang="en-US" sz="6000" b="1" dirty="0"/>
              <a:t>Syphilis</a:t>
            </a:r>
            <a:endParaRPr lang="en-CA" sz="6000" dirty="0"/>
          </a:p>
        </p:txBody>
      </p:sp>
      <p:sp>
        <p:nvSpPr>
          <p:cNvPr id="3" name="Content Placeholder 2">
            <a:extLst>
              <a:ext uri="{FF2B5EF4-FFF2-40B4-BE49-F238E27FC236}">
                <a16:creationId xmlns:a16="http://schemas.microsoft.com/office/drawing/2014/main" id="{4B76B004-E24D-314D-838E-EFFF2DE268AA}"/>
              </a:ext>
            </a:extLst>
          </p:cNvPr>
          <p:cNvSpPr>
            <a:spLocks noGrp="1"/>
          </p:cNvSpPr>
          <p:nvPr>
            <p:ph sz="half" idx="1"/>
          </p:nvPr>
        </p:nvSpPr>
        <p:spPr/>
        <p:txBody>
          <a:bodyPr rtlCol="0">
            <a:normAutofit fontScale="85000" lnSpcReduction="20000"/>
          </a:bodyPr>
          <a:lstStyle/>
          <a:p>
            <a:pPr marL="412750" indent="-342900">
              <a:defRPr/>
            </a:pPr>
            <a:r>
              <a:rPr lang="en-US" sz="2800" dirty="0"/>
              <a:t>Bacterial infection. </a:t>
            </a:r>
          </a:p>
          <a:p>
            <a:pPr marL="412750" indent="-342900">
              <a:defRPr/>
            </a:pPr>
            <a:r>
              <a:rPr lang="en-US" sz="2800" dirty="0"/>
              <a:t>Can cause serious damage to the body if not cured.</a:t>
            </a:r>
          </a:p>
          <a:p>
            <a:pPr marL="412750" indent="-342900">
              <a:defRPr/>
            </a:pPr>
            <a:r>
              <a:rPr lang="en-US" sz="2800" dirty="0"/>
              <a:t>Passed along by having unprotected oral, anal or vaginal sex.</a:t>
            </a:r>
          </a:p>
          <a:p>
            <a:pPr marL="412750" indent="-342900">
              <a:defRPr/>
            </a:pPr>
            <a:r>
              <a:rPr lang="en-US" sz="2800" dirty="0"/>
              <a:t>Condoms can help prevent the spread of syphilis.</a:t>
            </a:r>
          </a:p>
          <a:p>
            <a:pPr marL="412750" indent="-342900">
              <a:defRPr/>
            </a:pPr>
            <a:r>
              <a:rPr lang="en-US" sz="2800" dirty="0"/>
              <a:t>The infection can be cured with antibiotics.</a:t>
            </a:r>
          </a:p>
          <a:p>
            <a:pPr marL="412750" indent="-342900">
              <a:defRPr/>
            </a:pPr>
            <a:r>
              <a:rPr lang="en-AU" sz="2800" dirty="0"/>
              <a:t>There are 4 stages of syphilis infection: primary, secondary, latent and tertiary.</a:t>
            </a:r>
            <a:endParaRPr lang="en-US" sz="2800" dirty="0"/>
          </a:p>
          <a:p>
            <a:pPr marL="412750" indent="-342900">
              <a:defRPr/>
            </a:pPr>
            <a:r>
              <a:rPr lang="en-AU" sz="2800" dirty="0"/>
              <a:t>Symptoms vary depending on the stage.</a:t>
            </a:r>
          </a:p>
          <a:p>
            <a:pPr marL="412750" indent="-342900">
              <a:defRPr/>
            </a:pPr>
            <a:r>
              <a:rPr lang="en-AU" sz="2800" dirty="0"/>
              <a:t>Some people have no symptoms.</a:t>
            </a:r>
            <a:endParaRPr lang="en-US" sz="2800" dirty="0"/>
          </a:p>
          <a:p>
            <a:pPr marL="641350" indent="-571500">
              <a:buFont typeface="Arial" charset="0"/>
              <a:buChar char="•"/>
              <a:defRPr/>
            </a:pPr>
            <a:endParaRPr lang="en-US" sz="3500" dirty="0"/>
          </a:p>
          <a:p>
            <a:pPr marL="641350" indent="-571500">
              <a:buFont typeface="Arial" charset="0"/>
              <a:buChar char="•"/>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5" name="Content Placeholder 4">
            <a:extLst>
              <a:ext uri="{FF2B5EF4-FFF2-40B4-BE49-F238E27FC236}">
                <a16:creationId xmlns:a16="http://schemas.microsoft.com/office/drawing/2014/main" id="{2CC7895E-A584-FB20-DBFC-29A6C93B206B}"/>
              </a:ext>
            </a:extLst>
          </p:cNvPr>
          <p:cNvSpPr>
            <a:spLocks noGrp="1"/>
          </p:cNvSpPr>
          <p:nvPr>
            <p:ph sz="half" idx="2"/>
          </p:nvPr>
        </p:nvSpPr>
        <p:spPr>
          <a:xfrm>
            <a:off x="6172199" y="1929383"/>
            <a:ext cx="5727357" cy="4656767"/>
          </a:xfrm>
        </p:spPr>
        <p:txBody>
          <a:bodyPr>
            <a:normAutofit fontScale="85000" lnSpcReduction="20000"/>
          </a:bodyPr>
          <a:lstStyle/>
          <a:p>
            <a:r>
              <a:rPr lang="en-AU" sz="3200" dirty="0"/>
              <a:t>Stage 1 = Primary</a:t>
            </a:r>
          </a:p>
          <a:p>
            <a:pPr lvl="1"/>
            <a:r>
              <a:rPr lang="en-AU" dirty="0"/>
              <a:t>Small, painless sores</a:t>
            </a:r>
          </a:p>
          <a:p>
            <a:r>
              <a:rPr lang="en-AU" dirty="0"/>
              <a:t>Stage 2 = Secondary</a:t>
            </a:r>
          </a:p>
          <a:p>
            <a:pPr lvl="1"/>
            <a:r>
              <a:rPr lang="en-AU" dirty="0"/>
              <a:t>Rash, hair loss, feeling sick, weight loss, muscle aches</a:t>
            </a:r>
          </a:p>
          <a:p>
            <a:r>
              <a:rPr lang="en-AU" sz="3200" dirty="0"/>
              <a:t>Stage 3 = Latent</a:t>
            </a:r>
          </a:p>
          <a:p>
            <a:pPr lvl="1"/>
            <a:r>
              <a:rPr lang="en-AU" dirty="0"/>
              <a:t>Lesions or rashes can recur but there may also be no visible signs or symptoms</a:t>
            </a:r>
          </a:p>
          <a:p>
            <a:r>
              <a:rPr lang="en-AU" dirty="0"/>
              <a:t>Stage 4 = Tertiary</a:t>
            </a:r>
          </a:p>
          <a:p>
            <a:pPr lvl="1"/>
            <a:r>
              <a:rPr lang="en-AU" dirty="0"/>
              <a:t>Can affect heart, blood vessels, brain, nervous system</a:t>
            </a:r>
          </a:p>
          <a:p>
            <a:pPr lvl="1"/>
            <a:r>
              <a:rPr lang="en-AU" dirty="0"/>
              <a:t>Would occur 10-30 years after initial infection</a:t>
            </a:r>
          </a:p>
          <a:p>
            <a:pPr lvl="1"/>
            <a:r>
              <a:rPr lang="en-AU" dirty="0"/>
              <a:t>Can result in death</a:t>
            </a:r>
          </a:p>
        </p:txBody>
      </p:sp>
      <p:sp>
        <p:nvSpPr>
          <p:cNvPr id="4" name="Rectangle 3">
            <a:extLst>
              <a:ext uri="{FF2B5EF4-FFF2-40B4-BE49-F238E27FC236}">
                <a16:creationId xmlns:a16="http://schemas.microsoft.com/office/drawing/2014/main" id="{47BF7545-3EF9-674D-9C04-8824EF5170E0}"/>
              </a:ext>
            </a:extLst>
          </p:cNvPr>
          <p:cNvSpPr/>
          <p:nvPr/>
        </p:nvSpPr>
        <p:spPr>
          <a:xfrm>
            <a:off x="740166" y="6158430"/>
            <a:ext cx="3065715" cy="523220"/>
          </a:xfrm>
          <a:prstGeom prst="rect">
            <a:avLst/>
          </a:prstGeom>
        </p:spPr>
        <p:txBody>
          <a:bodyPr wrap="square">
            <a:spAutoFit/>
          </a:bodyPr>
          <a:lstStyle/>
          <a:p>
            <a:pPr marL="69850" indent="0">
              <a:buNone/>
              <a:defRPr/>
            </a:pPr>
            <a:r>
              <a:rPr lang="en-US" sz="2800" b="1" i="1" dirty="0"/>
              <a:t>Remember Syphilis is CURABLE!</a:t>
            </a:r>
            <a:endParaRPr lang="en-US" sz="28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JN+ 在 Twitter 上：&amp;quot;1/2. Syphilis is treatable with antibiotics, especially in  the early stages. It does not resolve without treatment. In this post, we  explain the different stages of syphilis and whether">
            <a:extLst>
              <a:ext uri="{FF2B5EF4-FFF2-40B4-BE49-F238E27FC236}">
                <a16:creationId xmlns:a16="http://schemas.microsoft.com/office/drawing/2014/main" id="{F4825866-E00E-4F41-BCFD-B767856E1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33" y="139647"/>
            <a:ext cx="4803055" cy="4803055"/>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69636" name="Picture 4" descr="JN+ no Twitter: &amp;quot;1/2. Syphilis is treatable with antibiotics, especially in  the early stages. It does not resolve without treatment. In this post, we  explain the different stages of syphilis and whether">
            <a:extLst>
              <a:ext uri="{FF2B5EF4-FFF2-40B4-BE49-F238E27FC236}">
                <a16:creationId xmlns:a16="http://schemas.microsoft.com/office/drawing/2014/main" id="{29D41B5F-0088-814A-A289-88310E42D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8299" y="139646"/>
            <a:ext cx="4803055" cy="4803055"/>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3" name="Picture 2" descr="Close-up of a tongue with a bumpy mark&#10;&#10;Description automatically generated">
            <a:extLst>
              <a:ext uri="{FF2B5EF4-FFF2-40B4-BE49-F238E27FC236}">
                <a16:creationId xmlns:a16="http://schemas.microsoft.com/office/drawing/2014/main" id="{83B2A149-DF08-BF43-0231-754E8299B99B}"/>
              </a:ext>
            </a:extLst>
          </p:cNvPr>
          <p:cNvPicPr>
            <a:picLocks noChangeAspect="1"/>
          </p:cNvPicPr>
          <p:nvPr/>
        </p:nvPicPr>
        <p:blipFill>
          <a:blip r:embed="rId5"/>
          <a:stretch>
            <a:fillRect/>
          </a:stretch>
        </p:blipFill>
        <p:spPr>
          <a:xfrm>
            <a:off x="10172385" y="947811"/>
            <a:ext cx="1879082" cy="1293132"/>
          </a:xfrm>
          <a:prstGeom prst="rect">
            <a:avLst/>
          </a:prstGeom>
        </p:spPr>
      </p:pic>
      <p:pic>
        <p:nvPicPr>
          <p:cNvPr id="5" name="Picture 4" descr="A close up of a tongue&#10;&#10;Description automatically generated">
            <a:extLst>
              <a:ext uri="{FF2B5EF4-FFF2-40B4-BE49-F238E27FC236}">
                <a16:creationId xmlns:a16="http://schemas.microsoft.com/office/drawing/2014/main" id="{A8690811-0762-0B61-12CD-FBA118113310}"/>
              </a:ext>
            </a:extLst>
          </p:cNvPr>
          <p:cNvPicPr>
            <a:picLocks noChangeAspect="1"/>
          </p:cNvPicPr>
          <p:nvPr/>
        </p:nvPicPr>
        <p:blipFill>
          <a:blip r:embed="rId6"/>
          <a:stretch>
            <a:fillRect/>
          </a:stretch>
        </p:blipFill>
        <p:spPr>
          <a:xfrm>
            <a:off x="1961504" y="5406251"/>
            <a:ext cx="1758806" cy="1191449"/>
          </a:xfrm>
          <a:prstGeom prst="rect">
            <a:avLst/>
          </a:prstGeom>
        </p:spPr>
      </p:pic>
      <p:pic>
        <p:nvPicPr>
          <p:cNvPr id="7" name="Picture 6" descr="A close-up of a person's hands&#10;&#10;Description automatically generated">
            <a:extLst>
              <a:ext uri="{FF2B5EF4-FFF2-40B4-BE49-F238E27FC236}">
                <a16:creationId xmlns:a16="http://schemas.microsoft.com/office/drawing/2014/main" id="{141EF3C4-FA67-1469-C5C5-3B11D8A3CACE}"/>
              </a:ext>
            </a:extLst>
          </p:cNvPr>
          <p:cNvPicPr>
            <a:picLocks noChangeAspect="1"/>
          </p:cNvPicPr>
          <p:nvPr/>
        </p:nvPicPr>
        <p:blipFill>
          <a:blip r:embed="rId7"/>
          <a:stretch>
            <a:fillRect/>
          </a:stretch>
        </p:blipFill>
        <p:spPr>
          <a:xfrm>
            <a:off x="5604742" y="5406250"/>
            <a:ext cx="1611962" cy="1191450"/>
          </a:xfrm>
          <a:prstGeom prst="rect">
            <a:avLst/>
          </a:prstGeom>
        </p:spPr>
      </p:pic>
      <p:pic>
        <p:nvPicPr>
          <p:cNvPr id="10" name="Picture 9" descr="A close-up of a foot&#10;&#10;Description automatically generated">
            <a:extLst>
              <a:ext uri="{FF2B5EF4-FFF2-40B4-BE49-F238E27FC236}">
                <a16:creationId xmlns:a16="http://schemas.microsoft.com/office/drawing/2014/main" id="{36CEA510-282F-0017-7C77-99D61A134E57}"/>
              </a:ext>
            </a:extLst>
          </p:cNvPr>
          <p:cNvPicPr>
            <a:picLocks noChangeAspect="1"/>
          </p:cNvPicPr>
          <p:nvPr/>
        </p:nvPicPr>
        <p:blipFill>
          <a:blip r:embed="rId8"/>
          <a:stretch>
            <a:fillRect/>
          </a:stretch>
        </p:blipFill>
        <p:spPr>
          <a:xfrm>
            <a:off x="7280165" y="5406249"/>
            <a:ext cx="1611962" cy="1178639"/>
          </a:xfrm>
          <a:prstGeom prst="rect">
            <a:avLst/>
          </a:prstGeom>
        </p:spPr>
      </p:pic>
      <p:pic>
        <p:nvPicPr>
          <p:cNvPr id="12" name="Picture 11" descr="A close-up of a person's chest&#10;&#10;Description automatically generated">
            <a:extLst>
              <a:ext uri="{FF2B5EF4-FFF2-40B4-BE49-F238E27FC236}">
                <a16:creationId xmlns:a16="http://schemas.microsoft.com/office/drawing/2014/main" id="{0B70938B-0110-4E8B-EB1D-FA76C2F66AC6}"/>
              </a:ext>
            </a:extLst>
          </p:cNvPr>
          <p:cNvPicPr>
            <a:picLocks noChangeAspect="1"/>
          </p:cNvPicPr>
          <p:nvPr/>
        </p:nvPicPr>
        <p:blipFill>
          <a:blip r:embed="rId9"/>
          <a:stretch>
            <a:fillRect/>
          </a:stretch>
        </p:blipFill>
        <p:spPr>
          <a:xfrm>
            <a:off x="3783771" y="5406250"/>
            <a:ext cx="1757510" cy="1196603"/>
          </a:xfrm>
          <a:prstGeom prst="rect">
            <a:avLst/>
          </a:prstGeom>
        </p:spPr>
      </p:pic>
      <p:pic>
        <p:nvPicPr>
          <p:cNvPr id="14" name="Picture 13" descr="A close-up of a condom&#10;&#10;Description automatically generated">
            <a:extLst>
              <a:ext uri="{FF2B5EF4-FFF2-40B4-BE49-F238E27FC236}">
                <a16:creationId xmlns:a16="http://schemas.microsoft.com/office/drawing/2014/main" id="{763F93F6-A3C9-C5BA-9179-5AAAFC36E8D1}"/>
              </a:ext>
            </a:extLst>
          </p:cNvPr>
          <p:cNvPicPr>
            <a:picLocks noChangeAspect="1"/>
          </p:cNvPicPr>
          <p:nvPr/>
        </p:nvPicPr>
        <p:blipFill>
          <a:blip r:embed="rId10"/>
          <a:stretch>
            <a:fillRect/>
          </a:stretch>
        </p:blipFill>
        <p:spPr>
          <a:xfrm>
            <a:off x="10172385" y="2325976"/>
            <a:ext cx="1879082" cy="1858657"/>
          </a:xfrm>
          <a:prstGeom prst="rect">
            <a:avLst/>
          </a:prstGeom>
        </p:spPr>
      </p:pic>
      <p:pic>
        <p:nvPicPr>
          <p:cNvPr id="16" name="Picture 15" descr="Close-up of a person's body&#10;&#10;Description automatically generated">
            <a:extLst>
              <a:ext uri="{FF2B5EF4-FFF2-40B4-BE49-F238E27FC236}">
                <a16:creationId xmlns:a16="http://schemas.microsoft.com/office/drawing/2014/main" id="{56693B3A-4A64-AB4B-9163-6BF4408FEF58}"/>
              </a:ext>
            </a:extLst>
          </p:cNvPr>
          <p:cNvPicPr>
            <a:picLocks noChangeAspect="1"/>
          </p:cNvPicPr>
          <p:nvPr/>
        </p:nvPicPr>
        <p:blipFill>
          <a:blip r:embed="rId11"/>
          <a:stretch>
            <a:fillRect/>
          </a:stretch>
        </p:blipFill>
        <p:spPr>
          <a:xfrm>
            <a:off x="10123308" y="4269666"/>
            <a:ext cx="2038517" cy="1409613"/>
          </a:xfrm>
          <a:prstGeom prst="rect">
            <a:avLst/>
          </a:prstGeom>
        </p:spPr>
      </p:pic>
      <p:sp>
        <p:nvSpPr>
          <p:cNvPr id="17" name="TextBox 16">
            <a:extLst>
              <a:ext uri="{FF2B5EF4-FFF2-40B4-BE49-F238E27FC236}">
                <a16:creationId xmlns:a16="http://schemas.microsoft.com/office/drawing/2014/main" id="{2F074EFD-87E1-E65D-6DA6-58F3208D2237}"/>
              </a:ext>
            </a:extLst>
          </p:cNvPr>
          <p:cNvSpPr txBox="1"/>
          <p:nvPr/>
        </p:nvSpPr>
        <p:spPr>
          <a:xfrm>
            <a:off x="10153483" y="363036"/>
            <a:ext cx="3013502" cy="584775"/>
          </a:xfrm>
          <a:prstGeom prst="rect">
            <a:avLst/>
          </a:prstGeom>
          <a:noFill/>
        </p:spPr>
        <p:txBody>
          <a:bodyPr wrap="square" rtlCol="0">
            <a:spAutoFit/>
          </a:bodyPr>
          <a:lstStyle/>
          <a:p>
            <a:r>
              <a:rPr lang="en-US" sz="3200" dirty="0"/>
              <a:t>Primary Stage:</a:t>
            </a:r>
          </a:p>
        </p:txBody>
      </p:sp>
      <p:sp>
        <p:nvSpPr>
          <p:cNvPr id="18" name="TextBox 17">
            <a:extLst>
              <a:ext uri="{FF2B5EF4-FFF2-40B4-BE49-F238E27FC236}">
                <a16:creationId xmlns:a16="http://schemas.microsoft.com/office/drawing/2014/main" id="{76417677-9457-1228-0152-F6D5F79C111C}"/>
              </a:ext>
            </a:extLst>
          </p:cNvPr>
          <p:cNvSpPr txBox="1"/>
          <p:nvPr/>
        </p:nvSpPr>
        <p:spPr>
          <a:xfrm>
            <a:off x="140533" y="5581654"/>
            <a:ext cx="3013502" cy="584775"/>
          </a:xfrm>
          <a:prstGeom prst="rect">
            <a:avLst/>
          </a:prstGeom>
          <a:noFill/>
        </p:spPr>
        <p:txBody>
          <a:bodyPr wrap="square" rtlCol="0">
            <a:spAutoFit/>
          </a:bodyPr>
          <a:lstStyle/>
          <a:p>
            <a:r>
              <a:rPr lang="en-US" sz="3200" dirty="0"/>
              <a:t>Secondary Stage:</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A3DB-A24F-0D4F-8423-0ED11A163E6F}"/>
              </a:ext>
            </a:extLst>
          </p:cNvPr>
          <p:cNvSpPr>
            <a:spLocks noGrp="1"/>
          </p:cNvSpPr>
          <p:nvPr>
            <p:ph type="title"/>
          </p:nvPr>
        </p:nvSpPr>
        <p:spPr/>
        <p:txBody>
          <a:bodyPr rtlCol="0">
            <a:normAutofit/>
          </a:bodyPr>
          <a:lstStyle/>
          <a:p>
            <a:pPr>
              <a:defRPr/>
            </a:pPr>
            <a:r>
              <a:rPr lang="en-US" sz="5400" b="1" dirty="0"/>
              <a:t>Herpes Simplex Virus (HSV 1 + 2)</a:t>
            </a:r>
            <a:endParaRPr lang="en-CA" sz="5400" dirty="0"/>
          </a:p>
        </p:txBody>
      </p:sp>
      <p:sp>
        <p:nvSpPr>
          <p:cNvPr id="3" name="Content Placeholder 2">
            <a:extLst>
              <a:ext uri="{FF2B5EF4-FFF2-40B4-BE49-F238E27FC236}">
                <a16:creationId xmlns:a16="http://schemas.microsoft.com/office/drawing/2014/main" id="{E881DFBE-3F71-B14D-96BA-474A8C8109B9}"/>
              </a:ext>
            </a:extLst>
          </p:cNvPr>
          <p:cNvSpPr>
            <a:spLocks noGrp="1"/>
          </p:cNvSpPr>
          <p:nvPr>
            <p:ph sz="half" idx="1"/>
          </p:nvPr>
        </p:nvSpPr>
        <p:spPr>
          <a:xfrm>
            <a:off x="838200" y="1929383"/>
            <a:ext cx="5181600" cy="4780335"/>
          </a:xfrm>
        </p:spPr>
        <p:txBody>
          <a:bodyPr rtlCol="0">
            <a:normAutofit fontScale="62500" lnSpcReduction="20000"/>
          </a:bodyPr>
          <a:lstStyle/>
          <a:p>
            <a:pPr marL="641350" indent="-571500">
              <a:buFont typeface="Arial" charset="0"/>
              <a:buChar char="•"/>
              <a:defRPr/>
            </a:pPr>
            <a:r>
              <a:rPr lang="en-US" sz="4000" dirty="0"/>
              <a:t>Two types of Herpes Simplex Virus (HSV).</a:t>
            </a:r>
          </a:p>
          <a:p>
            <a:pPr marL="1555750" lvl="2" indent="-571500">
              <a:buFont typeface="+mj-lt"/>
              <a:buAutoNum type="arabicPeriod"/>
              <a:defRPr/>
            </a:pPr>
            <a:r>
              <a:rPr lang="en-US" sz="3200" dirty="0"/>
              <a:t>HSV 1 = causing cold sores</a:t>
            </a:r>
          </a:p>
          <a:p>
            <a:pPr marL="1555750" lvl="2" indent="-571500">
              <a:buFont typeface="+mj-lt"/>
              <a:buAutoNum type="arabicPeriod"/>
              <a:defRPr/>
            </a:pPr>
            <a:r>
              <a:rPr lang="en-US" sz="3200" dirty="0"/>
              <a:t>HSV 2 = causes genital herpes</a:t>
            </a:r>
          </a:p>
          <a:p>
            <a:pPr marL="641350" indent="-571500">
              <a:defRPr/>
            </a:pPr>
            <a:r>
              <a:rPr lang="en-US" sz="4000" dirty="0"/>
              <a:t>Viral infection causing outbreaks of painful sores and blisters.</a:t>
            </a:r>
          </a:p>
          <a:p>
            <a:pPr marL="641350" indent="-571500">
              <a:defRPr/>
            </a:pPr>
            <a:r>
              <a:rPr lang="en-US" sz="4000" dirty="0"/>
              <a:t>Passed along by having unprotected oral, anal or vaginal sex with an infected partner, or kissing.</a:t>
            </a:r>
          </a:p>
          <a:p>
            <a:pPr marL="641350" indent="-571500">
              <a:defRPr/>
            </a:pPr>
            <a:r>
              <a:rPr lang="en-US" sz="4000" dirty="0"/>
              <a:t>There is NO cure.</a:t>
            </a:r>
          </a:p>
          <a:p>
            <a:pPr marL="641350" indent="-571500">
              <a:defRPr/>
            </a:pPr>
            <a:r>
              <a:rPr lang="en-US" sz="4000" dirty="0"/>
              <a:t>Symptoms can be managed with medication. </a:t>
            </a:r>
          </a:p>
          <a:p>
            <a:pPr marL="641350" indent="-571500">
              <a:defRPr/>
            </a:pPr>
            <a:r>
              <a:rPr lang="en-US" sz="4000" dirty="0"/>
              <a:t>Virus can lay dormant in your body and recur at different times</a:t>
            </a:r>
            <a:r>
              <a:rPr lang="en-US" dirty="0"/>
              <a:t>. </a:t>
            </a:r>
          </a:p>
          <a:p>
            <a:pPr marL="641350" indent="-571500">
              <a:defRPr/>
            </a:pPr>
            <a:endParaRPr lang="en-US" dirty="0"/>
          </a:p>
          <a:p>
            <a:pPr marL="641350" indent="-571500">
              <a:defRPr/>
            </a:pPr>
            <a:endParaRPr lang="en-US" dirty="0"/>
          </a:p>
          <a:p>
            <a:pPr marL="641350" indent="-571500">
              <a:buFont typeface="Arial" charset="0"/>
              <a:buChar char="•"/>
              <a:defRPr/>
            </a:pPr>
            <a:endParaRPr lang="en-US" dirty="0"/>
          </a:p>
          <a:p>
            <a:pPr algn="ctr">
              <a:buNone/>
              <a:defRPr/>
            </a:pPr>
            <a:endParaRPr lang="en-US" i="1" dirty="0"/>
          </a:p>
          <a:p>
            <a:pPr algn="ctr">
              <a:buNone/>
              <a:defRPr/>
            </a:pPr>
            <a:endParaRPr lang="en-US" b="1" dirty="0">
              <a:solidFill>
                <a:schemeClr val="accent6"/>
              </a:solidFill>
            </a:endParaRPr>
          </a:p>
          <a:p>
            <a:pPr marL="69850" indent="0">
              <a:buNone/>
              <a:defRPr/>
            </a:pPr>
            <a:endParaRPr lang="en-US" b="1" dirty="0">
              <a:solidFill>
                <a:schemeClr val="accent6"/>
              </a:solidFill>
            </a:endParaRPr>
          </a:p>
          <a:p>
            <a:pPr>
              <a:defRPr/>
            </a:pPr>
            <a:endParaRPr lang="en-CA" dirty="0"/>
          </a:p>
        </p:txBody>
      </p:sp>
      <p:sp>
        <p:nvSpPr>
          <p:cNvPr id="7" name="Content Placeholder 6">
            <a:extLst>
              <a:ext uri="{FF2B5EF4-FFF2-40B4-BE49-F238E27FC236}">
                <a16:creationId xmlns:a16="http://schemas.microsoft.com/office/drawing/2014/main" id="{C3B02118-004F-C47B-DF25-CCB3A2991C7E}"/>
              </a:ext>
            </a:extLst>
          </p:cNvPr>
          <p:cNvSpPr>
            <a:spLocks noGrp="1"/>
          </p:cNvSpPr>
          <p:nvPr>
            <p:ph sz="half" idx="2"/>
          </p:nvPr>
        </p:nvSpPr>
        <p:spPr/>
        <p:txBody>
          <a:bodyPr>
            <a:noAutofit/>
          </a:bodyPr>
          <a:lstStyle/>
          <a:p>
            <a:r>
              <a:rPr lang="en-US" sz="2600" dirty="0"/>
              <a:t>Signs &amp; Symptoms:</a:t>
            </a:r>
          </a:p>
          <a:p>
            <a:pPr lvl="1"/>
            <a:r>
              <a:rPr lang="en-US" altLang="en-US" sz="2600" dirty="0"/>
              <a:t>Prior to an outbreak, the person may feel a tingling or burning sensation where the virus first entered the skin</a:t>
            </a:r>
          </a:p>
          <a:p>
            <a:pPr lvl="1"/>
            <a:r>
              <a:rPr lang="en-US" altLang="en-US" sz="2600" dirty="0"/>
              <a:t>Painful sores (external or internal)</a:t>
            </a:r>
          </a:p>
          <a:p>
            <a:pPr lvl="1"/>
            <a:r>
              <a:rPr lang="en-US" altLang="en-US" sz="2600" dirty="0"/>
              <a:t>Inflammation and redness</a:t>
            </a:r>
          </a:p>
          <a:p>
            <a:pPr lvl="1"/>
            <a:r>
              <a:rPr lang="en-US" altLang="en-US" sz="2600" dirty="0"/>
              <a:t>Fever</a:t>
            </a:r>
          </a:p>
          <a:p>
            <a:pPr lvl="1"/>
            <a:r>
              <a:rPr lang="en-US" altLang="en-US" sz="2600" dirty="0"/>
              <a:t>Muscular pain</a:t>
            </a:r>
          </a:p>
          <a:p>
            <a:pPr lvl="1"/>
            <a:r>
              <a:rPr lang="en-US" altLang="en-US" sz="2600" dirty="0"/>
              <a:t>Tender lymph nodes</a:t>
            </a:r>
            <a:endParaRPr lang="en-US" sz="2600" dirty="0"/>
          </a:p>
        </p:txBody>
      </p:sp>
    </p:spTree>
    <p:extLst>
      <p:ext uri="{BB962C8B-B14F-4D97-AF65-F5344CB8AC3E}">
        <p14:creationId xmlns:p14="http://schemas.microsoft.com/office/powerpoint/2010/main" val="2024059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00D435-CE6E-4476-CAAB-405D39B19EE3}"/>
              </a:ext>
            </a:extLst>
          </p:cNvPr>
          <p:cNvSpPr>
            <a:spLocks noGrp="1"/>
          </p:cNvSpPr>
          <p:nvPr>
            <p:ph sz="half" idx="4294967295"/>
          </p:nvPr>
        </p:nvSpPr>
        <p:spPr>
          <a:xfrm>
            <a:off x="254345" y="456169"/>
            <a:ext cx="5181600" cy="4252912"/>
          </a:xfrm>
        </p:spPr>
        <p:txBody>
          <a:bodyPr>
            <a:normAutofit/>
          </a:bodyPr>
          <a:lstStyle/>
          <a:p>
            <a:pPr marL="0" indent="0">
              <a:buNone/>
            </a:pPr>
            <a:r>
              <a:rPr lang="en-US" sz="4400" dirty="0"/>
              <a:t>HSV 1</a:t>
            </a:r>
          </a:p>
        </p:txBody>
      </p:sp>
      <p:sp>
        <p:nvSpPr>
          <p:cNvPr id="4" name="Content Placeholder 3">
            <a:extLst>
              <a:ext uri="{FF2B5EF4-FFF2-40B4-BE49-F238E27FC236}">
                <a16:creationId xmlns:a16="http://schemas.microsoft.com/office/drawing/2014/main" id="{37445529-82E9-6423-0605-55A0E61E514D}"/>
              </a:ext>
            </a:extLst>
          </p:cNvPr>
          <p:cNvSpPr>
            <a:spLocks noGrp="1"/>
          </p:cNvSpPr>
          <p:nvPr>
            <p:ph sz="half" idx="4294967295"/>
          </p:nvPr>
        </p:nvSpPr>
        <p:spPr>
          <a:xfrm>
            <a:off x="6172200" y="456169"/>
            <a:ext cx="5181600" cy="4252912"/>
          </a:xfrm>
        </p:spPr>
        <p:txBody>
          <a:bodyPr>
            <a:normAutofit/>
          </a:bodyPr>
          <a:lstStyle/>
          <a:p>
            <a:pPr marL="0" indent="0">
              <a:buNone/>
            </a:pPr>
            <a:r>
              <a:rPr lang="en-US" sz="4400" dirty="0"/>
              <a:t>HSV 2 (genital)</a:t>
            </a:r>
          </a:p>
        </p:txBody>
      </p:sp>
      <p:pic>
        <p:nvPicPr>
          <p:cNvPr id="11266" name="Picture 2" descr="How Contagious Is HSV-1 Genitally?">
            <a:hlinkClick r:id="rId2"/>
            <a:extLst>
              <a:ext uri="{FF2B5EF4-FFF2-40B4-BE49-F238E27FC236}">
                <a16:creationId xmlns:a16="http://schemas.microsoft.com/office/drawing/2014/main" id="{EA456343-4274-6F3B-1E9E-4FFD024C2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45" y="1312563"/>
            <a:ext cx="3174655" cy="2116437"/>
          </a:xfrm>
          <a:prstGeom prst="rect">
            <a:avLst/>
          </a:prstGeom>
          <a:noFill/>
          <a:extLst>
            <a:ext uri="{909E8E84-426E-40DD-AFC4-6F175D3DCCD1}">
              <a14:hiddenFill xmlns:a14="http://schemas.microsoft.com/office/drawing/2010/main">
                <a:solidFill>
                  <a:srgbClr val="FFFFFF"/>
                </a:solidFill>
              </a14:hiddenFill>
            </a:ext>
          </a:extLst>
        </p:spPr>
      </p:pic>
      <p:pic>
        <p:nvPicPr>
          <p:cNvPr id="11269" name="Picture 5" descr="HSV-1 and HSV-2: What You Need To Know - PHOENIX | Rise Again">
            <a:extLst>
              <a:ext uri="{FF2B5EF4-FFF2-40B4-BE49-F238E27FC236}">
                <a16:creationId xmlns:a16="http://schemas.microsoft.com/office/drawing/2014/main" id="{A0CDDC89-BE13-D3B6-A530-3D88739A4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799" y="3793057"/>
            <a:ext cx="3583001" cy="23886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H:\Clinical services\STD's\pictures\HSV_1.jpg">
            <a:extLst>
              <a:ext uri="{FF2B5EF4-FFF2-40B4-BE49-F238E27FC236}">
                <a16:creationId xmlns:a16="http://schemas.microsoft.com/office/drawing/2014/main" id="{3171F090-E918-3B1D-EFF9-9B673490A9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4099" y="1363899"/>
            <a:ext cx="3734317" cy="242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file:///D:/Sandy%20Duncan/%2300019.jpg">
            <a:extLst>
              <a:ext uri="{FF2B5EF4-FFF2-40B4-BE49-F238E27FC236}">
                <a16:creationId xmlns:a16="http://schemas.microsoft.com/office/drawing/2014/main" id="{AA05E304-8AA6-584C-0A6B-860705459881}"/>
              </a:ext>
            </a:extLst>
          </p:cNvPr>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a:xfrm>
            <a:off x="7799176" y="4006968"/>
            <a:ext cx="3936398" cy="2593024"/>
          </a:xfrm>
          <a:prstGeom prst="rect">
            <a:avLst/>
          </a:prstGeom>
        </p:spPr>
      </p:pic>
    </p:spTree>
    <p:extLst>
      <p:ext uri="{BB962C8B-B14F-4D97-AF65-F5344CB8AC3E}">
        <p14:creationId xmlns:p14="http://schemas.microsoft.com/office/powerpoint/2010/main" val="91087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230D-49DB-3B46-B0A3-A8EB17917386}"/>
              </a:ext>
            </a:extLst>
          </p:cNvPr>
          <p:cNvSpPr>
            <a:spLocks noGrp="1"/>
          </p:cNvSpPr>
          <p:nvPr>
            <p:ph type="title"/>
          </p:nvPr>
        </p:nvSpPr>
        <p:spPr/>
        <p:txBody>
          <a:bodyPr/>
          <a:lstStyle/>
          <a:p>
            <a:r>
              <a:rPr lang="en-US" dirty="0"/>
              <a:t>Human </a:t>
            </a:r>
            <a:r>
              <a:rPr lang="en-US" dirty="0" err="1"/>
              <a:t>Papilomavirus</a:t>
            </a:r>
            <a:r>
              <a:rPr lang="en-US" dirty="0"/>
              <a:t> (HPV) / Genital Warts</a:t>
            </a:r>
          </a:p>
        </p:txBody>
      </p:sp>
      <p:sp>
        <p:nvSpPr>
          <p:cNvPr id="3" name="Content Placeholder 2">
            <a:extLst>
              <a:ext uri="{FF2B5EF4-FFF2-40B4-BE49-F238E27FC236}">
                <a16:creationId xmlns:a16="http://schemas.microsoft.com/office/drawing/2014/main" id="{96A59C37-0B16-FD26-53F9-769CD35A9686}"/>
              </a:ext>
            </a:extLst>
          </p:cNvPr>
          <p:cNvSpPr>
            <a:spLocks noGrp="1"/>
          </p:cNvSpPr>
          <p:nvPr>
            <p:ph idx="1"/>
          </p:nvPr>
        </p:nvSpPr>
        <p:spPr/>
        <p:txBody>
          <a:bodyPr/>
          <a:lstStyle/>
          <a:p>
            <a:r>
              <a:rPr lang="en-US" dirty="0"/>
              <a:t>Viral infection.</a:t>
            </a:r>
          </a:p>
          <a:p>
            <a:r>
              <a:rPr lang="en-US" dirty="0"/>
              <a:t>Spread through skin-to–skin contact, even if there are no symptoms, or through unprotected vaginal, anal or oral sex.</a:t>
            </a:r>
          </a:p>
          <a:p>
            <a:r>
              <a:rPr lang="en-US" dirty="0"/>
              <a:t>Can also be passed from mother to baby during childbirth.</a:t>
            </a:r>
          </a:p>
          <a:p>
            <a:r>
              <a:rPr lang="en-US" dirty="0"/>
              <a:t>Many different types – some can cause warts (non-cancerous), and some can cause cancers.</a:t>
            </a:r>
          </a:p>
          <a:p>
            <a:r>
              <a:rPr lang="en-US" dirty="0"/>
              <a:t>Sometimes there are no symptoms, other times it causes genital warts, pain during sex, itchiness or painless warts.</a:t>
            </a:r>
          </a:p>
          <a:p>
            <a:r>
              <a:rPr lang="en-US" dirty="0"/>
              <a:t>Vaccine available.</a:t>
            </a:r>
          </a:p>
          <a:p>
            <a:r>
              <a:rPr lang="en-US" dirty="0"/>
              <a:t>Warts treatment can include freezing, cutting, burning or zapping.</a:t>
            </a:r>
          </a:p>
        </p:txBody>
      </p:sp>
    </p:spTree>
    <p:extLst>
      <p:ext uri="{BB962C8B-B14F-4D97-AF65-F5344CB8AC3E}">
        <p14:creationId xmlns:p14="http://schemas.microsoft.com/office/powerpoint/2010/main" val="82834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4" name="Rectangle 13">
            <a:extLst>
              <a:ext uri="{FF2B5EF4-FFF2-40B4-BE49-F238E27FC236}">
                <a16:creationId xmlns:a16="http://schemas.microsoft.com/office/drawing/2014/main" id="{B6ECEE03-918F-43ED-A7B3-F1BDE3FCE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2230D-49DB-3B46-B0A3-A8EB17917386}"/>
              </a:ext>
            </a:extLst>
          </p:cNvPr>
          <p:cNvSpPr>
            <a:spLocks noGrp="1"/>
          </p:cNvSpPr>
          <p:nvPr>
            <p:ph type="title"/>
          </p:nvPr>
        </p:nvSpPr>
        <p:spPr>
          <a:xfrm>
            <a:off x="838200" y="400051"/>
            <a:ext cx="10515600" cy="1270232"/>
          </a:xfrm>
        </p:spPr>
        <p:txBody>
          <a:bodyPr vert="horz" lIns="91440" tIns="45720" rIns="91440" bIns="45720" rtlCol="0" anchor="b">
            <a:normAutofit/>
          </a:bodyPr>
          <a:lstStyle/>
          <a:p>
            <a:pPr algn="ctr"/>
            <a:r>
              <a:rPr lang="en-US" sz="6600"/>
              <a:t>Human Papilomavirus (HPV) / Genital Warts</a:t>
            </a:r>
          </a:p>
        </p:txBody>
      </p:sp>
      <p:pic>
        <p:nvPicPr>
          <p:cNvPr id="4" name="Picture 9" descr="D:\Sandy Duncan\#00014.jpg">
            <a:extLst>
              <a:ext uri="{FF2B5EF4-FFF2-40B4-BE49-F238E27FC236}">
                <a16:creationId xmlns:a16="http://schemas.microsoft.com/office/drawing/2014/main" id="{9D7104B5-CD86-4FB5-DCCA-4252F2F3CA37}"/>
              </a:ext>
            </a:extLst>
          </p:cNvPr>
          <p:cNvPicPr>
            <a:picLocks noChangeAspect="1" noChangeArrowheads="1"/>
          </p:cNvPicPr>
          <p:nvPr/>
        </p:nvPicPr>
        <p:blipFill rotWithShape="1">
          <a:blip r:embed="rId3" r:link="rId4">
            <a:extLst>
              <a:ext uri="{28A0092B-C50C-407E-A947-70E740481C1C}">
                <a14:useLocalDpi xmlns:a14="http://schemas.microsoft.com/office/drawing/2010/main" val="0"/>
              </a:ext>
            </a:extLst>
          </a:blip>
          <a:srcRect l="10133" r="26084" b="2"/>
          <a:stretch>
            <a:fillRect/>
          </a:stretch>
        </p:blipFill>
        <p:spPr>
          <a:xfrm>
            <a:off x="510365" y="2604527"/>
            <a:ext cx="3524888" cy="3647338"/>
          </a:xfrm>
          <a:custGeom>
            <a:avLst/>
            <a:gdLst/>
            <a:ahLst/>
            <a:cxnLst/>
            <a:rect l="l" t="t" r="r" b="b"/>
            <a:pathLst>
              <a:path w="3524888" h="3647338">
                <a:moveTo>
                  <a:pt x="887181" y="60"/>
                </a:moveTo>
                <a:cubicBezTo>
                  <a:pt x="945946"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8"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5" y="2178986"/>
                  <a:pt x="3505415" y="2292381"/>
                </a:cubicBezTo>
                <a:cubicBezTo>
                  <a:pt x="3514746" y="2447918"/>
                  <a:pt x="3522761" y="2603544"/>
                  <a:pt x="3508406" y="2759171"/>
                </a:cubicBezTo>
                <a:cubicBezTo>
                  <a:pt x="3497997" y="2866762"/>
                  <a:pt x="3488427"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7" name="Picture 7" descr="D:\Sandy Duncan\#00012.jpg">
            <a:extLst>
              <a:ext uri="{FF2B5EF4-FFF2-40B4-BE49-F238E27FC236}">
                <a16:creationId xmlns:a16="http://schemas.microsoft.com/office/drawing/2014/main" id="{9031A553-7418-42B9-F48F-66C63122D0E8}"/>
              </a:ext>
            </a:extLst>
          </p:cNvPr>
          <p:cNvPicPr>
            <a:picLocks noChangeAspect="1" noChangeArrowheads="1"/>
          </p:cNvPicPr>
          <p:nvPr/>
        </p:nvPicPr>
        <p:blipFill rotWithShape="1">
          <a:blip r:embed="rId5" r:link="rId6">
            <a:extLst>
              <a:ext uri="{28A0092B-C50C-407E-A947-70E740481C1C}">
                <a14:useLocalDpi xmlns:a14="http://schemas.microsoft.com/office/drawing/2010/main" val="0"/>
              </a:ext>
            </a:extLst>
          </a:blip>
          <a:srcRect l="19412" r="18253"/>
          <a:stretch>
            <a:fillRect/>
          </a:stretch>
        </p:blipFill>
        <p:spPr>
          <a:xfrm>
            <a:off x="4333556" y="2604527"/>
            <a:ext cx="3524888" cy="3647338"/>
          </a:xfrm>
          <a:custGeom>
            <a:avLst/>
            <a:gdLst/>
            <a:ahLst/>
            <a:cxnLst/>
            <a:rect l="l" t="t" r="r" b="b"/>
            <a:pathLst>
              <a:path w="3524888" h="3647338">
                <a:moveTo>
                  <a:pt x="887181" y="60"/>
                </a:moveTo>
                <a:cubicBezTo>
                  <a:pt x="945947"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9"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9"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6" y="2178986"/>
                  <a:pt x="3505415" y="2292381"/>
                </a:cubicBezTo>
                <a:cubicBezTo>
                  <a:pt x="3514746" y="2447918"/>
                  <a:pt x="3522761" y="2603544"/>
                  <a:pt x="3508406" y="2759171"/>
                </a:cubicBezTo>
                <a:cubicBezTo>
                  <a:pt x="3497997" y="2866762"/>
                  <a:pt x="3488428"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8"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6" name="Picture 7" descr="D:\Sandy Duncan\#00011.jpg">
            <a:extLst>
              <a:ext uri="{FF2B5EF4-FFF2-40B4-BE49-F238E27FC236}">
                <a16:creationId xmlns:a16="http://schemas.microsoft.com/office/drawing/2014/main" id="{EFABF2D7-304E-DB89-1E71-0FAA9A10ACFC}"/>
              </a:ext>
            </a:extLst>
          </p:cNvPr>
          <p:cNvPicPr>
            <a:picLocks noChangeAspect="1" noChangeArrowheads="1"/>
          </p:cNvPicPr>
          <p:nvPr/>
        </p:nvPicPr>
        <p:blipFill rotWithShape="1">
          <a:blip r:embed="rId7" r:link="rId8">
            <a:extLst>
              <a:ext uri="{28A0092B-C50C-407E-A947-70E740481C1C}">
                <a14:useLocalDpi xmlns:a14="http://schemas.microsoft.com/office/drawing/2010/main" val="0"/>
              </a:ext>
            </a:extLst>
          </a:blip>
          <a:srcRect l="26425" r="2783" b="-2"/>
          <a:stretch>
            <a:fillRect/>
          </a:stretch>
        </p:blipFill>
        <p:spPr>
          <a:xfrm>
            <a:off x="8156747" y="2604528"/>
            <a:ext cx="3524888" cy="3647338"/>
          </a:xfrm>
          <a:custGeom>
            <a:avLst/>
            <a:gdLst/>
            <a:ahLst/>
            <a:cxnLst/>
            <a:rect l="l" t="t" r="r" b="b"/>
            <a:pathLst>
              <a:path w="3524888" h="3647338">
                <a:moveTo>
                  <a:pt x="887180" y="60"/>
                </a:moveTo>
                <a:cubicBezTo>
                  <a:pt x="945946" y="-442"/>
                  <a:pt x="1004683" y="2214"/>
                  <a:pt x="1063120" y="9535"/>
                </a:cubicBezTo>
                <a:cubicBezTo>
                  <a:pt x="1192553" y="25206"/>
                  <a:pt x="1324035" y="29312"/>
                  <a:pt x="1454772" y="21769"/>
                </a:cubicBezTo>
                <a:cubicBezTo>
                  <a:pt x="1583729" y="15160"/>
                  <a:pt x="1712924" y="14714"/>
                  <a:pt x="1842239" y="16589"/>
                </a:cubicBezTo>
                <a:cubicBezTo>
                  <a:pt x="1958874" y="18285"/>
                  <a:pt x="2075628" y="18018"/>
                  <a:pt x="2192263" y="13196"/>
                </a:cubicBezTo>
                <a:cubicBezTo>
                  <a:pt x="2323253" y="7660"/>
                  <a:pt x="2454242" y="2928"/>
                  <a:pt x="2585113"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4" y="161085"/>
                  <a:pt x="3501168" y="229143"/>
                  <a:pt x="3512114" y="297090"/>
                </a:cubicBezTo>
                <a:cubicBezTo>
                  <a:pt x="3519231" y="340796"/>
                  <a:pt x="3524136" y="384681"/>
                  <a:pt x="3524809" y="428543"/>
                </a:cubicBezTo>
                <a:cubicBezTo>
                  <a:pt x="3525482" y="472405"/>
                  <a:pt x="3521923" y="516245"/>
                  <a:pt x="3512114" y="559861"/>
                </a:cubicBezTo>
                <a:cubicBezTo>
                  <a:pt x="3491119" y="656469"/>
                  <a:pt x="3485617" y="754605"/>
                  <a:pt x="3495724" y="852186"/>
                </a:cubicBezTo>
                <a:cubicBezTo>
                  <a:pt x="3504577" y="948437"/>
                  <a:pt x="3505176" y="1044867"/>
                  <a:pt x="3502664" y="1141386"/>
                </a:cubicBezTo>
                <a:cubicBezTo>
                  <a:pt x="3500391" y="1228440"/>
                  <a:pt x="3500749" y="1315584"/>
                  <a:pt x="3507210" y="1402639"/>
                </a:cubicBezTo>
                <a:cubicBezTo>
                  <a:pt x="3514626" y="1500407"/>
                  <a:pt x="3520966" y="1598176"/>
                  <a:pt x="3506251" y="1695857"/>
                </a:cubicBezTo>
                <a:cubicBezTo>
                  <a:pt x="3492089" y="1780866"/>
                  <a:pt x="3485019" y="1866447"/>
                  <a:pt x="3485079" y="1952109"/>
                </a:cubicBezTo>
                <a:cubicBezTo>
                  <a:pt x="3486753" y="2065682"/>
                  <a:pt x="3498595" y="2178986"/>
                  <a:pt x="3505414" y="2292381"/>
                </a:cubicBezTo>
                <a:cubicBezTo>
                  <a:pt x="3514746" y="2447918"/>
                  <a:pt x="3522760" y="2603544"/>
                  <a:pt x="3508405" y="2759171"/>
                </a:cubicBezTo>
                <a:cubicBezTo>
                  <a:pt x="3497997" y="2866762"/>
                  <a:pt x="3488427" y="2974352"/>
                  <a:pt x="3496442" y="3082389"/>
                </a:cubicBezTo>
                <a:cubicBezTo>
                  <a:pt x="3502065"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7" y="3642229"/>
                  <a:pt x="1771055" y="3636431"/>
                </a:cubicBezTo>
                <a:cubicBezTo>
                  <a:pt x="1659183" y="3633576"/>
                  <a:pt x="1547429" y="3634736"/>
                  <a:pt x="1435675" y="3638305"/>
                </a:cubicBezTo>
                <a:cubicBezTo>
                  <a:pt x="1179419" y="3646601"/>
                  <a:pt x="923403" y="3637323"/>
                  <a:pt x="667265" y="3634558"/>
                </a:cubicBezTo>
                <a:cubicBezTo>
                  <a:pt x="569736" y="3633488"/>
                  <a:pt x="472205" y="3633665"/>
                  <a:pt x="374793"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1" y="9535"/>
                </a:cubicBezTo>
                <a:cubicBezTo>
                  <a:pt x="769618" y="4223"/>
                  <a:pt x="828414" y="562"/>
                  <a:pt x="887180" y="60"/>
                </a:cubicBezTo>
                <a:close/>
              </a:path>
            </a:pathLst>
          </a:custGeom>
        </p:spPr>
      </p:pic>
    </p:spTree>
    <p:extLst>
      <p:ext uri="{BB962C8B-B14F-4D97-AF65-F5344CB8AC3E}">
        <p14:creationId xmlns:p14="http://schemas.microsoft.com/office/powerpoint/2010/main" val="18132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FA7E-3DE7-F42A-00B8-A79F0EEBB6AF}"/>
              </a:ext>
            </a:extLst>
          </p:cNvPr>
          <p:cNvSpPr>
            <a:spLocks noGrp="1"/>
          </p:cNvSpPr>
          <p:nvPr>
            <p:ph type="title"/>
          </p:nvPr>
        </p:nvSpPr>
        <p:spPr/>
        <p:txBody>
          <a:bodyPr/>
          <a:lstStyle/>
          <a:p>
            <a:r>
              <a:rPr lang="en-US" dirty="0"/>
              <a:t>HIV / AIDS</a:t>
            </a:r>
          </a:p>
        </p:txBody>
      </p:sp>
      <p:sp>
        <p:nvSpPr>
          <p:cNvPr id="3" name="Content Placeholder 2">
            <a:extLst>
              <a:ext uri="{FF2B5EF4-FFF2-40B4-BE49-F238E27FC236}">
                <a16:creationId xmlns:a16="http://schemas.microsoft.com/office/drawing/2014/main" id="{8650DA2C-FBFD-8998-3FFE-398F85954C72}"/>
              </a:ext>
            </a:extLst>
          </p:cNvPr>
          <p:cNvSpPr>
            <a:spLocks noGrp="1"/>
          </p:cNvSpPr>
          <p:nvPr>
            <p:ph idx="1"/>
          </p:nvPr>
        </p:nvSpPr>
        <p:spPr>
          <a:xfrm>
            <a:off x="838200" y="1929384"/>
            <a:ext cx="11125200" cy="4839716"/>
          </a:xfrm>
        </p:spPr>
        <p:txBody>
          <a:bodyPr>
            <a:normAutofit fontScale="92500" lnSpcReduction="10000"/>
          </a:bodyPr>
          <a:lstStyle/>
          <a:p>
            <a:r>
              <a:rPr lang="en-US" dirty="0"/>
              <a:t>HIV is a viral infection that, over time, leads to the development of AIDS. </a:t>
            </a:r>
          </a:p>
          <a:p>
            <a:pPr lvl="1"/>
            <a:r>
              <a:rPr lang="en-US" dirty="0"/>
              <a:t>HIV = Human Immunodeficiency Virus</a:t>
            </a:r>
          </a:p>
          <a:p>
            <a:pPr lvl="1"/>
            <a:r>
              <a:rPr lang="en-US" dirty="0"/>
              <a:t>AIDS = Acquired Immunodeficiency Syndrome</a:t>
            </a:r>
          </a:p>
          <a:p>
            <a:r>
              <a:rPr lang="en-US" dirty="0"/>
              <a:t>It attacks the immune system. </a:t>
            </a:r>
          </a:p>
          <a:p>
            <a:r>
              <a:rPr lang="en-US" dirty="0"/>
              <a:t>No cure – once acquired, the person has it for life. With proper care, HIV can be controlled.</a:t>
            </a:r>
          </a:p>
          <a:p>
            <a:r>
              <a:rPr lang="en-US" dirty="0"/>
              <a:t>Some people have no symptoms at all, but symptoms can include flu-like symptoms. </a:t>
            </a:r>
          </a:p>
          <a:p>
            <a:r>
              <a:rPr lang="en-US" dirty="0"/>
              <a:t>The only way to know is to get tested. </a:t>
            </a:r>
          </a:p>
          <a:p>
            <a:r>
              <a:rPr lang="en-US" dirty="0"/>
              <a:t>HIV is contained in the blood, semen, vaginal fluid and breast milk of an infected person. </a:t>
            </a:r>
          </a:p>
          <a:p>
            <a:r>
              <a:rPr lang="en-US" dirty="0"/>
              <a:t>Can be spread via unprotected vaginal or anal sex, sharing drug equipment, sharing needles (i.e., tattoos and piercing), transmission from mother to baby, accidental sharps (needle) injuries.</a:t>
            </a:r>
          </a:p>
        </p:txBody>
      </p:sp>
      <p:pic>
        <p:nvPicPr>
          <p:cNvPr id="13314" name="Picture 2" descr="HIV symptoms">
            <a:extLst>
              <a:ext uri="{FF2B5EF4-FFF2-40B4-BE49-F238E27FC236}">
                <a16:creationId xmlns:a16="http://schemas.microsoft.com/office/drawing/2014/main" id="{2C950CB1-82BD-7857-3F26-5C123FB93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300" y="241300"/>
            <a:ext cx="52324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512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4D2-F00F-A536-679B-13FC3500F3E1}"/>
              </a:ext>
            </a:extLst>
          </p:cNvPr>
          <p:cNvSpPr>
            <a:spLocks noGrp="1"/>
          </p:cNvSpPr>
          <p:nvPr>
            <p:ph type="title"/>
          </p:nvPr>
        </p:nvSpPr>
        <p:spPr/>
        <p:txBody>
          <a:bodyPr/>
          <a:lstStyle/>
          <a:p>
            <a:r>
              <a:rPr lang="en-US" dirty="0"/>
              <a:t>Hepatitis B</a:t>
            </a:r>
          </a:p>
        </p:txBody>
      </p:sp>
      <p:sp>
        <p:nvSpPr>
          <p:cNvPr id="3" name="Content Placeholder 2">
            <a:extLst>
              <a:ext uri="{FF2B5EF4-FFF2-40B4-BE49-F238E27FC236}">
                <a16:creationId xmlns:a16="http://schemas.microsoft.com/office/drawing/2014/main" id="{D372B8C9-E600-3850-7B90-D307B70ACC45}"/>
              </a:ext>
            </a:extLst>
          </p:cNvPr>
          <p:cNvSpPr>
            <a:spLocks noGrp="1"/>
          </p:cNvSpPr>
          <p:nvPr>
            <p:ph sz="half" idx="1"/>
          </p:nvPr>
        </p:nvSpPr>
        <p:spPr/>
        <p:txBody>
          <a:bodyPr>
            <a:normAutofit fontScale="92500" lnSpcReduction="20000"/>
          </a:bodyPr>
          <a:lstStyle/>
          <a:p>
            <a:r>
              <a:rPr lang="en-US" altLang="en-US" sz="2800" dirty="0"/>
              <a:t>Hepatitis B is an STI and blood-borne </a:t>
            </a:r>
            <a:r>
              <a:rPr lang="en-US" altLang="en-US" dirty="0"/>
              <a:t>v</a:t>
            </a:r>
            <a:r>
              <a:rPr lang="en-US" altLang="en-US" sz="2800" dirty="0"/>
              <a:t>irus (BBV)</a:t>
            </a:r>
          </a:p>
          <a:p>
            <a:r>
              <a:rPr lang="en-US" altLang="en-US" dirty="0"/>
              <a:t>Can be passed on through unprotected sexual contact or by blood-to-blood contact (i.e., sharing drug use equipment and needles) or from pregnant mother to baby.</a:t>
            </a:r>
          </a:p>
          <a:p>
            <a:r>
              <a:rPr lang="en-US" altLang="en-US" sz="2800" dirty="0"/>
              <a:t>Virus that attacks the liver.</a:t>
            </a:r>
          </a:p>
          <a:p>
            <a:r>
              <a:rPr lang="en-US" altLang="en-US" sz="2800" dirty="0"/>
              <a:t>Symptoms include: fever, fatigue, muscle aches, swollen glands, abdominal pains, jaundice, nausea/vomiting, dark yellow urine, pale or grey poo.</a:t>
            </a:r>
          </a:p>
          <a:p>
            <a:endParaRPr lang="en-US" dirty="0"/>
          </a:p>
        </p:txBody>
      </p:sp>
      <p:sp>
        <p:nvSpPr>
          <p:cNvPr id="4" name="Content Placeholder 3">
            <a:extLst>
              <a:ext uri="{FF2B5EF4-FFF2-40B4-BE49-F238E27FC236}">
                <a16:creationId xmlns:a16="http://schemas.microsoft.com/office/drawing/2014/main" id="{9E095F51-22D3-5537-26D4-A90513E1D782}"/>
              </a:ext>
            </a:extLst>
          </p:cNvPr>
          <p:cNvSpPr>
            <a:spLocks noGrp="1"/>
          </p:cNvSpPr>
          <p:nvPr>
            <p:ph sz="half" idx="2"/>
          </p:nvPr>
        </p:nvSpPr>
        <p:spPr/>
        <p:txBody>
          <a:bodyPr>
            <a:normAutofit fontScale="92500" lnSpcReduction="20000"/>
          </a:bodyPr>
          <a:lstStyle/>
          <a:p>
            <a:r>
              <a:rPr lang="en-US" altLang="en-US" sz="3200" dirty="0"/>
              <a:t>Most infected people (90%) naturally produce antibodies to fight the disease, but some develop chronic HBV and will carry the virus for the rest of their life.</a:t>
            </a:r>
          </a:p>
          <a:p>
            <a:r>
              <a:rPr lang="en-US" altLang="en-US" sz="3200" dirty="0"/>
              <a:t>Chronic infection can lead to liver damage, cirrhosis, and cancer and has no cure.</a:t>
            </a:r>
          </a:p>
          <a:p>
            <a:r>
              <a:rPr lang="en-US" altLang="en-US" dirty="0"/>
              <a:t>Antiviral treatment.</a:t>
            </a:r>
            <a:endParaRPr lang="en-US" altLang="en-US" sz="3200" dirty="0"/>
          </a:p>
          <a:p>
            <a:r>
              <a:rPr lang="en-US" altLang="en-US" sz="3200" dirty="0"/>
              <a:t>Vaccination available. </a:t>
            </a:r>
          </a:p>
        </p:txBody>
      </p:sp>
    </p:spTree>
    <p:extLst>
      <p:ext uri="{BB962C8B-B14F-4D97-AF65-F5344CB8AC3E}">
        <p14:creationId xmlns:p14="http://schemas.microsoft.com/office/powerpoint/2010/main" val="1820311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FFD76116-11F5-E147-A880-8F1E04DD945A}"/>
              </a:ext>
            </a:extLst>
          </p:cNvPr>
          <p:cNvSpPr>
            <a:spLocks noGrp="1" noChangeArrowheads="1"/>
          </p:cNvSpPr>
          <p:nvPr>
            <p:ph type="title"/>
          </p:nvPr>
        </p:nvSpPr>
        <p:spPr>
          <a:xfrm>
            <a:off x="825503" y="530522"/>
            <a:ext cx="7024687" cy="1143000"/>
          </a:xfrm>
        </p:spPr>
        <p:txBody>
          <a:bodyPr rtlCol="0">
            <a:normAutofit/>
          </a:bodyPr>
          <a:lstStyle/>
          <a:p>
            <a:pPr>
              <a:defRPr/>
            </a:pPr>
            <a:r>
              <a:rPr lang="en-US" sz="5400" b="1" dirty="0"/>
              <a:t>Parasitic STI’s</a:t>
            </a:r>
          </a:p>
        </p:txBody>
      </p:sp>
      <p:sp>
        <p:nvSpPr>
          <p:cNvPr id="4" name="Content Placeholder 3">
            <a:extLst>
              <a:ext uri="{FF2B5EF4-FFF2-40B4-BE49-F238E27FC236}">
                <a16:creationId xmlns:a16="http://schemas.microsoft.com/office/drawing/2014/main" id="{37DB3764-6517-D243-99CC-CEF70D16B87F}"/>
              </a:ext>
            </a:extLst>
          </p:cNvPr>
          <p:cNvSpPr>
            <a:spLocks noGrp="1"/>
          </p:cNvSpPr>
          <p:nvPr>
            <p:ph idx="1"/>
          </p:nvPr>
        </p:nvSpPr>
        <p:spPr>
          <a:xfrm>
            <a:off x="825503" y="4883148"/>
            <a:ext cx="2317748" cy="1762123"/>
          </a:xfrm>
        </p:spPr>
        <p:txBody>
          <a:bodyPr rtlCol="0">
            <a:normAutofit/>
          </a:bodyPr>
          <a:lstStyle/>
          <a:p>
            <a:pPr marL="69850" indent="0" algn="ctr">
              <a:buNone/>
              <a:defRPr/>
            </a:pPr>
            <a:r>
              <a:rPr lang="en-US" sz="2400" dirty="0">
                <a:cs typeface="Arial" pitchFamily="34" charset="0"/>
              </a:rPr>
              <a:t>The lice attach their eggs to the pubic hair and feed on human blood</a:t>
            </a:r>
          </a:p>
          <a:p>
            <a:pPr>
              <a:defRPr/>
            </a:pPr>
            <a:endParaRPr lang="en-CA" dirty="0"/>
          </a:p>
        </p:txBody>
      </p:sp>
      <p:pic>
        <p:nvPicPr>
          <p:cNvPr id="7" name="Picture 7">
            <a:extLst>
              <a:ext uri="{FF2B5EF4-FFF2-40B4-BE49-F238E27FC236}">
                <a16:creationId xmlns:a16="http://schemas.microsoft.com/office/drawing/2014/main" id="{66420A45-0ACF-8C4C-B01C-2351585A5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851" y="2785269"/>
            <a:ext cx="2057400"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726D7673-4CF3-4244-8400-3E1A4199A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824" y="2785269"/>
            <a:ext cx="2024282"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DB7D5A2A-FD81-BF46-8837-DECA39436D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8747" y="2657679"/>
            <a:ext cx="1887042" cy="1887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6FF8925-ED0A-2841-A1F9-2200D60B953D}"/>
              </a:ext>
            </a:extLst>
          </p:cNvPr>
          <p:cNvSpPr txBox="1"/>
          <p:nvPr/>
        </p:nvSpPr>
        <p:spPr>
          <a:xfrm>
            <a:off x="7932731" y="4755558"/>
            <a:ext cx="3439073" cy="1569660"/>
          </a:xfrm>
          <a:prstGeom prst="rect">
            <a:avLst/>
          </a:prstGeom>
          <a:noFill/>
        </p:spPr>
        <p:txBody>
          <a:bodyPr wrap="square" rtlCol="0">
            <a:spAutoFit/>
          </a:bodyPr>
          <a:lstStyle/>
          <a:p>
            <a:pPr marL="69850" indent="0" algn="ctr">
              <a:buNone/>
            </a:pPr>
            <a:r>
              <a:rPr lang="en-US" altLang="en-US" sz="2400" dirty="0">
                <a:cs typeface="Arial" panose="020B0604020202020204" pitchFamily="34" charset="0"/>
              </a:rPr>
              <a:t>Caused by the itch mite. It burrows just under the skin and lays eggs. Can live for 2-4 days away from the human body; it can be transmitted without sexual contact.</a:t>
            </a:r>
          </a:p>
        </p:txBody>
      </p:sp>
      <p:sp>
        <p:nvSpPr>
          <p:cNvPr id="3" name="Rectangle 2">
            <a:extLst>
              <a:ext uri="{FF2B5EF4-FFF2-40B4-BE49-F238E27FC236}">
                <a16:creationId xmlns:a16="http://schemas.microsoft.com/office/drawing/2014/main" id="{02977287-D348-8D48-87F5-64E821A4580D}"/>
              </a:ext>
            </a:extLst>
          </p:cNvPr>
          <p:cNvSpPr/>
          <p:nvPr/>
        </p:nvSpPr>
        <p:spPr>
          <a:xfrm>
            <a:off x="4272739" y="4883148"/>
            <a:ext cx="3048000" cy="1569660"/>
          </a:xfrm>
          <a:prstGeom prst="rect">
            <a:avLst/>
          </a:prstGeom>
        </p:spPr>
        <p:txBody>
          <a:bodyPr wrap="square">
            <a:spAutoFit/>
          </a:bodyPr>
          <a:lstStyle/>
          <a:p>
            <a:pPr marL="69850" indent="0" algn="ctr">
              <a:buNone/>
            </a:pPr>
            <a:r>
              <a:rPr lang="en-US" altLang="en-US" sz="2400" dirty="0">
                <a:cs typeface="Arial" panose="020B0604020202020204" pitchFamily="34" charset="0"/>
              </a:rPr>
              <a:t>Caused by a parasite that is usually sexually transmitted, but it can survive 24 hours on wet towels and bathing suits</a:t>
            </a:r>
            <a:endParaRPr lang="en-CA" altLang="en-US" sz="2400" dirty="0"/>
          </a:p>
        </p:txBody>
      </p:sp>
      <p:sp>
        <p:nvSpPr>
          <p:cNvPr id="9" name="TextBox 8">
            <a:extLst>
              <a:ext uri="{FF2B5EF4-FFF2-40B4-BE49-F238E27FC236}">
                <a16:creationId xmlns:a16="http://schemas.microsoft.com/office/drawing/2014/main" id="{87F4EB14-BD9D-5942-A623-0AF235B01E25}"/>
              </a:ext>
            </a:extLst>
          </p:cNvPr>
          <p:cNvSpPr txBox="1"/>
          <p:nvPr/>
        </p:nvSpPr>
        <p:spPr>
          <a:xfrm>
            <a:off x="1232150" y="2117408"/>
            <a:ext cx="1911101" cy="523220"/>
          </a:xfrm>
          <a:prstGeom prst="rect">
            <a:avLst/>
          </a:prstGeom>
          <a:noFill/>
        </p:spPr>
        <p:txBody>
          <a:bodyPr wrap="none" rtlCol="0">
            <a:spAutoFit/>
          </a:bodyPr>
          <a:lstStyle/>
          <a:p>
            <a:r>
              <a:rPr lang="en-US" sz="2800" b="1" dirty="0"/>
              <a:t>Pubic Lice</a:t>
            </a:r>
          </a:p>
        </p:txBody>
      </p:sp>
      <p:sp>
        <p:nvSpPr>
          <p:cNvPr id="10" name="TextBox 9">
            <a:extLst>
              <a:ext uri="{FF2B5EF4-FFF2-40B4-BE49-F238E27FC236}">
                <a16:creationId xmlns:a16="http://schemas.microsoft.com/office/drawing/2014/main" id="{D1E23A44-33C2-4042-89A9-BBC8EA6C3206}"/>
              </a:ext>
            </a:extLst>
          </p:cNvPr>
          <p:cNvSpPr txBox="1"/>
          <p:nvPr/>
        </p:nvSpPr>
        <p:spPr>
          <a:xfrm>
            <a:off x="4393345" y="2136433"/>
            <a:ext cx="2667782" cy="523220"/>
          </a:xfrm>
          <a:prstGeom prst="rect">
            <a:avLst/>
          </a:prstGeom>
          <a:noFill/>
        </p:spPr>
        <p:txBody>
          <a:bodyPr wrap="none" rtlCol="0">
            <a:spAutoFit/>
          </a:bodyPr>
          <a:lstStyle/>
          <a:p>
            <a:r>
              <a:rPr lang="en-US" sz="2800" b="1" dirty="0"/>
              <a:t>Trichomoniasis</a:t>
            </a:r>
          </a:p>
        </p:txBody>
      </p:sp>
      <p:sp>
        <p:nvSpPr>
          <p:cNvPr id="11" name="TextBox 10">
            <a:extLst>
              <a:ext uri="{FF2B5EF4-FFF2-40B4-BE49-F238E27FC236}">
                <a16:creationId xmlns:a16="http://schemas.microsoft.com/office/drawing/2014/main" id="{CE72B481-7197-824C-B460-C8DA7D9D32E2}"/>
              </a:ext>
            </a:extLst>
          </p:cNvPr>
          <p:cNvSpPr txBox="1"/>
          <p:nvPr/>
        </p:nvSpPr>
        <p:spPr>
          <a:xfrm>
            <a:off x="8895410" y="2134459"/>
            <a:ext cx="1420582" cy="523220"/>
          </a:xfrm>
          <a:prstGeom prst="rect">
            <a:avLst/>
          </a:prstGeom>
          <a:noFill/>
        </p:spPr>
        <p:txBody>
          <a:bodyPr wrap="none" rtlCol="0">
            <a:spAutoFit/>
          </a:bodyPr>
          <a:lstStyle/>
          <a:p>
            <a:r>
              <a:rPr lang="en-US" sz="2800" b="1" dirty="0"/>
              <a:t>Scabies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230A1-A12D-4343-8D5D-FD11179058F8}"/>
              </a:ext>
            </a:extLst>
          </p:cNvPr>
          <p:cNvSpPr>
            <a:spLocks noGrp="1"/>
          </p:cNvSpPr>
          <p:nvPr>
            <p:ph type="title"/>
          </p:nvPr>
        </p:nvSpPr>
        <p:spPr>
          <a:xfrm>
            <a:off x="825576" y="332965"/>
            <a:ext cx="9144000" cy="1344168"/>
          </a:xfrm>
        </p:spPr>
        <p:txBody>
          <a:bodyPr>
            <a:normAutofit/>
          </a:bodyPr>
          <a:lstStyle/>
          <a:p>
            <a:r>
              <a:rPr lang="en-US" sz="5400" dirty="0"/>
              <a:t>Parasitic STI Symptoms</a:t>
            </a:r>
          </a:p>
        </p:txBody>
      </p:sp>
      <p:pic>
        <p:nvPicPr>
          <p:cNvPr id="105474" name="Picture 2" descr="Trichomoniasis: Signs, Symptoms and Complications">
            <a:extLst>
              <a:ext uri="{FF2B5EF4-FFF2-40B4-BE49-F238E27FC236}">
                <a16:creationId xmlns:a16="http://schemas.microsoft.com/office/drawing/2014/main" id="{E7930091-1D95-7E43-9D9B-024FAF4970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721" y="1887563"/>
            <a:ext cx="2857555" cy="4281871"/>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105476" name="Picture 4" descr="Crab Lice - Risk Factors - Symptoms - Treatment - Prognosis - Prevention">
            <a:extLst>
              <a:ext uri="{FF2B5EF4-FFF2-40B4-BE49-F238E27FC236}">
                <a16:creationId xmlns:a16="http://schemas.microsoft.com/office/drawing/2014/main" id="{8319DCD2-9304-7E41-AE5B-802FAA4CFE0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19366" y="1887564"/>
            <a:ext cx="2752631" cy="4281871"/>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pic>
        <p:nvPicPr>
          <p:cNvPr id="105478" name="Picture 6" descr="Scabies: Causes, Symptoms and Treatments | Be Beautiful India">
            <a:extLst>
              <a:ext uri="{FF2B5EF4-FFF2-40B4-BE49-F238E27FC236}">
                <a16:creationId xmlns:a16="http://schemas.microsoft.com/office/drawing/2014/main" id="{8628AA30-74E6-9C43-A330-68DEEDD4AF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201"/>
          <a:stretch/>
        </p:blipFill>
        <p:spPr bwMode="auto">
          <a:xfrm>
            <a:off x="8001000" y="1874993"/>
            <a:ext cx="3167823" cy="4292528"/>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559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DA56-C0AA-0D4A-B51F-CF74551654AB}"/>
              </a:ext>
            </a:extLst>
          </p:cNvPr>
          <p:cNvSpPr>
            <a:spLocks noGrp="1"/>
          </p:cNvSpPr>
          <p:nvPr>
            <p:ph type="title"/>
          </p:nvPr>
        </p:nvSpPr>
        <p:spPr>
          <a:xfrm>
            <a:off x="817182" y="507218"/>
            <a:ext cx="8666162" cy="1143000"/>
          </a:xfrm>
        </p:spPr>
        <p:txBody>
          <a:bodyPr>
            <a:normAutofit/>
          </a:bodyPr>
          <a:lstStyle/>
          <a:p>
            <a:pPr>
              <a:defRPr/>
            </a:pPr>
            <a:r>
              <a:rPr lang="en-CA" b="1" dirty="0"/>
              <a:t>PARASITIC STI Prevention &amp; Treatment</a:t>
            </a:r>
          </a:p>
        </p:txBody>
      </p:sp>
      <p:sp>
        <p:nvSpPr>
          <p:cNvPr id="3" name="Content Placeholder 2">
            <a:extLst>
              <a:ext uri="{FF2B5EF4-FFF2-40B4-BE49-F238E27FC236}">
                <a16:creationId xmlns:a16="http://schemas.microsoft.com/office/drawing/2014/main" id="{B5D6E7C3-0847-4A4B-ADC2-DA6D07B3A3D9}"/>
              </a:ext>
            </a:extLst>
          </p:cNvPr>
          <p:cNvSpPr>
            <a:spLocks noGrp="1"/>
          </p:cNvSpPr>
          <p:nvPr>
            <p:ph idx="1"/>
          </p:nvPr>
        </p:nvSpPr>
        <p:spPr>
          <a:xfrm>
            <a:off x="817182" y="2026492"/>
            <a:ext cx="10392649" cy="4618482"/>
          </a:xfrm>
        </p:spPr>
        <p:txBody>
          <a:bodyPr>
            <a:normAutofit/>
          </a:bodyPr>
          <a:lstStyle/>
          <a:p>
            <a:pPr marL="0" indent="0">
              <a:buNone/>
              <a:defRPr/>
            </a:pPr>
            <a:r>
              <a:rPr lang="en-CA" sz="3200" b="1" dirty="0">
                <a:latin typeface="+mj-lt"/>
                <a:ea typeface="+mj-ea"/>
                <a:cs typeface="+mj-cs"/>
              </a:rPr>
              <a:t>Trichomoniasis</a:t>
            </a:r>
          </a:p>
          <a:p>
            <a:pPr>
              <a:buFont typeface="Arial" charset="0"/>
              <a:buChar char="•"/>
              <a:defRPr/>
            </a:pPr>
            <a:r>
              <a:rPr lang="en-CA" sz="2400" dirty="0"/>
              <a:t>Condoms will help prevent the spread.</a:t>
            </a:r>
          </a:p>
          <a:p>
            <a:pPr>
              <a:buFont typeface="Arial" charset="0"/>
              <a:buChar char="•"/>
              <a:defRPr/>
            </a:pPr>
            <a:r>
              <a:rPr lang="en-CA" sz="2400" dirty="0"/>
              <a:t>Treated with antibiotics.</a:t>
            </a:r>
            <a:endParaRPr lang="en-CA" sz="1200" dirty="0"/>
          </a:p>
          <a:p>
            <a:pPr marL="0" indent="0">
              <a:buNone/>
              <a:defRPr/>
            </a:pPr>
            <a:r>
              <a:rPr lang="en-CA" sz="3200" b="1" dirty="0">
                <a:latin typeface="+mj-lt"/>
                <a:ea typeface="+mj-ea"/>
                <a:cs typeface="+mj-cs"/>
              </a:rPr>
              <a:t>Pubic lice and Scabies</a:t>
            </a:r>
          </a:p>
          <a:p>
            <a:pPr>
              <a:buFont typeface="Arial" charset="0"/>
              <a:buChar char="•"/>
              <a:defRPr/>
            </a:pPr>
            <a:r>
              <a:rPr lang="en-CA" sz="2400" dirty="0"/>
              <a:t>Avoid sharing towels and clothing that have not been washed.</a:t>
            </a:r>
          </a:p>
          <a:p>
            <a:pPr>
              <a:buFont typeface="Arial" charset="0"/>
              <a:buChar char="•"/>
              <a:defRPr/>
            </a:pPr>
            <a:r>
              <a:rPr lang="en-CA" sz="2400" dirty="0"/>
              <a:t>When trying on bathing suits or underwear in the store always wear something underneath.</a:t>
            </a:r>
          </a:p>
          <a:p>
            <a:pPr>
              <a:buFont typeface="Arial" charset="0"/>
              <a:buChar char="•"/>
              <a:defRPr/>
            </a:pPr>
            <a:r>
              <a:rPr lang="en-CA" sz="2400" dirty="0"/>
              <a:t>Treated with shampoo, lotion or ointment.</a:t>
            </a:r>
          </a:p>
          <a:p>
            <a:pPr marL="0" indent="0">
              <a:buNone/>
              <a:defRPr/>
            </a:pPr>
            <a:endParaRPr lang="en-CA" dirty="0"/>
          </a:p>
        </p:txBody>
      </p:sp>
      <p:pic>
        <p:nvPicPr>
          <p:cNvPr id="4" name="Picture 2" descr="Parasitic STIs - Scabies | STD Testing | DTAP Clinic Singapore">
            <a:extLst>
              <a:ext uri="{FF2B5EF4-FFF2-40B4-BE49-F238E27FC236}">
                <a16:creationId xmlns:a16="http://schemas.microsoft.com/office/drawing/2014/main" id="{C18E5254-0F58-54C4-F6F9-D1D33A6E0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5070" y="1837364"/>
            <a:ext cx="2309629" cy="15201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espite &amp;#39;barely there&amp;#39; trends, pubic lice are here to stay">
            <a:extLst>
              <a:ext uri="{FF2B5EF4-FFF2-40B4-BE49-F238E27FC236}">
                <a16:creationId xmlns:a16="http://schemas.microsoft.com/office/drawing/2014/main" id="{D890B87F-7E5E-A6CB-7D02-B2BF265B4B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988" y="3420119"/>
            <a:ext cx="2309630" cy="17229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What is trichomoniasis and how can it affect your pregnancy? | BabyCenter">
            <a:extLst>
              <a:ext uri="{FF2B5EF4-FFF2-40B4-BE49-F238E27FC236}">
                <a16:creationId xmlns:a16="http://schemas.microsoft.com/office/drawing/2014/main" id="{B36E914B-CC34-BE38-019F-1B66714162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5070" y="5203517"/>
            <a:ext cx="2329717" cy="1381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E6A207B-97BE-4DE3-B7BA-6EB713664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862760-00A5-7642-BC28-0F7FC66FC5EB}"/>
              </a:ext>
            </a:extLst>
          </p:cNvPr>
          <p:cNvSpPr>
            <a:spLocks noGrp="1"/>
          </p:cNvSpPr>
          <p:nvPr>
            <p:ph type="title"/>
          </p:nvPr>
        </p:nvSpPr>
        <p:spPr>
          <a:xfrm>
            <a:off x="8129016" y="640080"/>
            <a:ext cx="3432048" cy="1714065"/>
          </a:xfrm>
        </p:spPr>
        <p:txBody>
          <a:bodyPr vert="horz" lIns="91440" tIns="45720" rIns="91440" bIns="45720" rtlCol="0" anchor="b">
            <a:normAutofit/>
          </a:bodyPr>
          <a:lstStyle/>
          <a:p>
            <a:r>
              <a:rPr lang="en-US"/>
              <a:t>Viral STI’s</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016" y="2529151"/>
            <a:ext cx="3376602" cy="18288"/>
          </a:xfrm>
          <a:custGeom>
            <a:avLst/>
            <a:gdLst>
              <a:gd name="connsiteX0" fmla="*/ 0 w 3376602"/>
              <a:gd name="connsiteY0" fmla="*/ 0 h 18288"/>
              <a:gd name="connsiteX1" fmla="*/ 641554 w 3376602"/>
              <a:gd name="connsiteY1" fmla="*/ 0 h 18288"/>
              <a:gd name="connsiteX2" fmla="*/ 1316875 w 3376602"/>
              <a:gd name="connsiteY2" fmla="*/ 0 h 18288"/>
              <a:gd name="connsiteX3" fmla="*/ 2025961 w 3376602"/>
              <a:gd name="connsiteY3" fmla="*/ 0 h 18288"/>
              <a:gd name="connsiteX4" fmla="*/ 2735048 w 3376602"/>
              <a:gd name="connsiteY4" fmla="*/ 0 h 18288"/>
              <a:gd name="connsiteX5" fmla="*/ 3376602 w 3376602"/>
              <a:gd name="connsiteY5" fmla="*/ 0 h 18288"/>
              <a:gd name="connsiteX6" fmla="*/ 3376602 w 3376602"/>
              <a:gd name="connsiteY6" fmla="*/ 18288 h 18288"/>
              <a:gd name="connsiteX7" fmla="*/ 2633750 w 3376602"/>
              <a:gd name="connsiteY7" fmla="*/ 18288 h 18288"/>
              <a:gd name="connsiteX8" fmla="*/ 1890897 w 3376602"/>
              <a:gd name="connsiteY8" fmla="*/ 18288 h 18288"/>
              <a:gd name="connsiteX9" fmla="*/ 1215577 w 3376602"/>
              <a:gd name="connsiteY9" fmla="*/ 18288 h 18288"/>
              <a:gd name="connsiteX10" fmla="*/ 0 w 3376602"/>
              <a:gd name="connsiteY10" fmla="*/ 18288 h 18288"/>
              <a:gd name="connsiteX11" fmla="*/ 0 w 337660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76602" h="18288" fill="none" extrusionOk="0">
                <a:moveTo>
                  <a:pt x="0" y="0"/>
                </a:moveTo>
                <a:cubicBezTo>
                  <a:pt x="154337" y="-26787"/>
                  <a:pt x="393692" y="25344"/>
                  <a:pt x="641554" y="0"/>
                </a:cubicBezTo>
                <a:cubicBezTo>
                  <a:pt x="889416" y="-25344"/>
                  <a:pt x="1078313" y="12271"/>
                  <a:pt x="1316875" y="0"/>
                </a:cubicBezTo>
                <a:cubicBezTo>
                  <a:pt x="1555437" y="-12271"/>
                  <a:pt x="1698513" y="30110"/>
                  <a:pt x="2025961" y="0"/>
                </a:cubicBezTo>
                <a:cubicBezTo>
                  <a:pt x="2353409" y="-30110"/>
                  <a:pt x="2474986" y="1722"/>
                  <a:pt x="2735048" y="0"/>
                </a:cubicBezTo>
                <a:cubicBezTo>
                  <a:pt x="2995110" y="-1722"/>
                  <a:pt x="3097437" y="28961"/>
                  <a:pt x="3376602" y="0"/>
                </a:cubicBezTo>
                <a:cubicBezTo>
                  <a:pt x="3375893" y="8157"/>
                  <a:pt x="3376189" y="12125"/>
                  <a:pt x="3376602" y="18288"/>
                </a:cubicBezTo>
                <a:cubicBezTo>
                  <a:pt x="3037458" y="40377"/>
                  <a:pt x="2857195" y="34928"/>
                  <a:pt x="2633750" y="18288"/>
                </a:cubicBezTo>
                <a:cubicBezTo>
                  <a:pt x="2410305" y="1648"/>
                  <a:pt x="2066994" y="17360"/>
                  <a:pt x="1890897" y="18288"/>
                </a:cubicBezTo>
                <a:cubicBezTo>
                  <a:pt x="1714800" y="19216"/>
                  <a:pt x="1521080" y="47858"/>
                  <a:pt x="1215577" y="18288"/>
                </a:cubicBezTo>
                <a:cubicBezTo>
                  <a:pt x="910074" y="-11282"/>
                  <a:pt x="278912" y="61767"/>
                  <a:pt x="0" y="18288"/>
                </a:cubicBezTo>
                <a:cubicBezTo>
                  <a:pt x="-46" y="12483"/>
                  <a:pt x="-203" y="6491"/>
                  <a:pt x="0" y="0"/>
                </a:cubicBezTo>
                <a:close/>
              </a:path>
              <a:path w="3376602" h="18288" stroke="0" extrusionOk="0">
                <a:moveTo>
                  <a:pt x="0" y="0"/>
                </a:moveTo>
                <a:cubicBezTo>
                  <a:pt x="304565" y="-9016"/>
                  <a:pt x="402571" y="29762"/>
                  <a:pt x="641554" y="0"/>
                </a:cubicBezTo>
                <a:cubicBezTo>
                  <a:pt x="880537" y="-29762"/>
                  <a:pt x="963871" y="-12492"/>
                  <a:pt x="1215577" y="0"/>
                </a:cubicBezTo>
                <a:cubicBezTo>
                  <a:pt x="1467283" y="12492"/>
                  <a:pt x="1723274" y="15353"/>
                  <a:pt x="1958429" y="0"/>
                </a:cubicBezTo>
                <a:cubicBezTo>
                  <a:pt x="2193584" y="-15353"/>
                  <a:pt x="2347125" y="7922"/>
                  <a:pt x="2599984" y="0"/>
                </a:cubicBezTo>
                <a:cubicBezTo>
                  <a:pt x="2852843" y="-7922"/>
                  <a:pt x="3186422" y="-30763"/>
                  <a:pt x="3376602" y="0"/>
                </a:cubicBezTo>
                <a:cubicBezTo>
                  <a:pt x="3376338" y="4493"/>
                  <a:pt x="3376986" y="9472"/>
                  <a:pt x="3376602" y="18288"/>
                </a:cubicBezTo>
                <a:cubicBezTo>
                  <a:pt x="3080522" y="-5475"/>
                  <a:pt x="3038559" y="47323"/>
                  <a:pt x="2701282" y="18288"/>
                </a:cubicBezTo>
                <a:cubicBezTo>
                  <a:pt x="2364005" y="-10747"/>
                  <a:pt x="2245031" y="49099"/>
                  <a:pt x="1958429" y="18288"/>
                </a:cubicBezTo>
                <a:cubicBezTo>
                  <a:pt x="1671827" y="-12523"/>
                  <a:pt x="1619741" y="31109"/>
                  <a:pt x="1384407" y="18288"/>
                </a:cubicBezTo>
                <a:cubicBezTo>
                  <a:pt x="1149073" y="5467"/>
                  <a:pt x="947712" y="-11758"/>
                  <a:pt x="709086" y="18288"/>
                </a:cubicBezTo>
                <a:cubicBezTo>
                  <a:pt x="470460" y="48334"/>
                  <a:pt x="186882" y="50183"/>
                  <a:pt x="0" y="18288"/>
                </a:cubicBezTo>
                <a:cubicBezTo>
                  <a:pt x="843" y="9577"/>
                  <a:pt x="371" y="6900"/>
                  <a:pt x="0" y="0"/>
                </a:cubicBezTo>
                <a:close/>
              </a:path>
            </a:pathLst>
          </a:custGeom>
          <a:solidFill>
            <a:srgbClr val="F6A727"/>
          </a:solidFill>
          <a:ln w="38100" cap="rnd">
            <a:solidFill>
              <a:srgbClr val="F6A727"/>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6E362C6-1DF9-1944-B81F-57BE134D6C43}"/>
              </a:ext>
            </a:extLst>
          </p:cNvPr>
          <p:cNvSpPr txBox="1"/>
          <p:nvPr/>
        </p:nvSpPr>
        <p:spPr>
          <a:xfrm>
            <a:off x="8129016" y="2803470"/>
            <a:ext cx="3432048" cy="3414450"/>
          </a:xfrm>
          <a:prstGeom prst="rect">
            <a:avLst/>
          </a:prstGeom>
        </p:spPr>
        <p:txBody>
          <a:bodyPr vert="horz" lIns="91440" tIns="45720" rIns="91440" bIns="45720" rtlCol="0" anchor="t">
            <a:normAutofit/>
          </a:bodyPr>
          <a:lstStyle/>
          <a:p>
            <a:pPr indent="-228600">
              <a:lnSpc>
                <a:spcPct val="110000"/>
              </a:lnSpc>
              <a:spcAft>
                <a:spcPts val="600"/>
              </a:spcAft>
              <a:buFont typeface="Arial" panose="020B0604020202020204" pitchFamily="34" charset="0"/>
              <a:buChar char="•"/>
            </a:pPr>
            <a:r>
              <a:rPr lang="en-US" sz="2400"/>
              <a:t>Herpes</a:t>
            </a:r>
          </a:p>
          <a:p>
            <a:pPr indent="-228600">
              <a:lnSpc>
                <a:spcPct val="110000"/>
              </a:lnSpc>
              <a:spcAft>
                <a:spcPts val="600"/>
              </a:spcAft>
              <a:buFont typeface="Arial" panose="020B0604020202020204" pitchFamily="34" charset="0"/>
              <a:buChar char="•"/>
            </a:pPr>
            <a:r>
              <a:rPr lang="en-US" sz="2400"/>
              <a:t>HPV</a:t>
            </a:r>
          </a:p>
          <a:p>
            <a:pPr indent="-228600">
              <a:lnSpc>
                <a:spcPct val="110000"/>
              </a:lnSpc>
              <a:spcAft>
                <a:spcPts val="600"/>
              </a:spcAft>
              <a:buFont typeface="Arial" panose="020B0604020202020204" pitchFamily="34" charset="0"/>
              <a:buChar char="•"/>
            </a:pPr>
            <a:r>
              <a:rPr lang="en-US" sz="2400"/>
              <a:t>HIV</a:t>
            </a:r>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5"/>
              <a:stretch>
                <a:fillRect/>
              </a:stretch>
            </p:blipFill>
            <p:spPr>
              <a:xfrm>
                <a:off x="6418237" y="1956150"/>
                <a:ext cx="36000" cy="32709"/>
              </a:xfrm>
              <a:prstGeom prst="rect">
                <a:avLst/>
              </a:prstGeom>
            </p:spPr>
          </p:pic>
        </mc:Fallback>
      </mc:AlternateContent>
      <p:pic>
        <p:nvPicPr>
          <p:cNvPr id="4" name="Online Media 3" descr="What are Viral STI?">
            <a:hlinkClick r:id="" action="ppaction://media"/>
            <a:extLst>
              <a:ext uri="{FF2B5EF4-FFF2-40B4-BE49-F238E27FC236}">
                <a16:creationId xmlns:a16="http://schemas.microsoft.com/office/drawing/2014/main" id="{0D907298-CABA-1242-A128-21E0FD2428DC}"/>
              </a:ext>
            </a:extLst>
          </p:cNvPr>
          <p:cNvPicPr>
            <a:picLocks noGrp="1" noRot="1" noChangeAspect="1"/>
          </p:cNvPicPr>
          <p:nvPr>
            <p:ph idx="1"/>
            <a:videoFile r:link="rId1"/>
          </p:nvPr>
        </p:nvPicPr>
        <p:blipFill>
          <a:blip r:embed="rId6"/>
          <a:stretch>
            <a:fillRect/>
          </a:stretch>
        </p:blipFill>
        <p:spPr>
          <a:xfrm>
            <a:off x="96018" y="453775"/>
            <a:ext cx="7933934" cy="5950450"/>
          </a:xfrm>
          <a:prstGeom prst="rect">
            <a:avLst/>
          </a:prstGeom>
        </p:spPr>
      </p:pic>
    </p:spTree>
    <p:extLst>
      <p:ext uri="{BB962C8B-B14F-4D97-AF65-F5344CB8AC3E}">
        <p14:creationId xmlns:p14="http://schemas.microsoft.com/office/powerpoint/2010/main" val="357412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0FDF69-4661-55F8-3E72-1E1FBAAED3D7}"/>
              </a:ext>
            </a:extLst>
          </p:cNvPr>
          <p:cNvSpPr>
            <a:spLocks noGrp="1"/>
          </p:cNvSpPr>
          <p:nvPr>
            <p:ph type="title"/>
          </p:nvPr>
        </p:nvSpPr>
        <p:spPr>
          <a:xfrm>
            <a:off x="5297762" y="329184"/>
            <a:ext cx="6677928" cy="1783080"/>
          </a:xfrm>
        </p:spPr>
        <p:txBody>
          <a:bodyPr anchor="b">
            <a:normAutofit/>
          </a:bodyPr>
          <a:lstStyle/>
          <a:p>
            <a:pPr>
              <a:lnSpc>
                <a:spcPct val="90000"/>
              </a:lnSpc>
            </a:pPr>
            <a:r>
              <a:rPr lang="en-US" sz="6100" dirty="0"/>
              <a:t>STI’s are dangerous because…</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4BD7FF"/>
          </a:solidFill>
          <a:ln w="38100" cap="rnd">
            <a:solidFill>
              <a:srgbClr val="4BD7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C9A6C4-7A76-2D46-8321-4ABEA25264A2}"/>
              </a:ext>
            </a:extLst>
          </p:cNvPr>
          <p:cNvSpPr>
            <a:spLocks noGrp="1"/>
          </p:cNvSpPr>
          <p:nvPr>
            <p:ph idx="1"/>
          </p:nvPr>
        </p:nvSpPr>
        <p:spPr>
          <a:xfrm>
            <a:off x="5297762" y="2706624"/>
            <a:ext cx="6251110" cy="3822192"/>
          </a:xfrm>
        </p:spPr>
        <p:txBody>
          <a:bodyPr>
            <a:normAutofit fontScale="92500" lnSpcReduction="10000"/>
          </a:bodyPr>
          <a:lstStyle/>
          <a:p>
            <a:pPr>
              <a:lnSpc>
                <a:spcPct val="100000"/>
              </a:lnSpc>
            </a:pPr>
            <a:r>
              <a:rPr lang="en-US" sz="3200" dirty="0"/>
              <a:t>Common</a:t>
            </a:r>
          </a:p>
          <a:p>
            <a:pPr>
              <a:lnSpc>
                <a:spcPct val="100000"/>
              </a:lnSpc>
            </a:pPr>
            <a:r>
              <a:rPr lang="en-US" sz="3200" dirty="0"/>
              <a:t>Can be serious, particularly if left untreated (discomfort, disease, infertility, death)</a:t>
            </a:r>
          </a:p>
          <a:p>
            <a:pPr>
              <a:lnSpc>
                <a:spcPct val="100000"/>
              </a:lnSpc>
            </a:pPr>
            <a:r>
              <a:rPr lang="en-US" sz="3200" dirty="0"/>
              <a:t>Not many preventative vaccines (only 2)</a:t>
            </a:r>
          </a:p>
          <a:p>
            <a:pPr>
              <a:lnSpc>
                <a:spcPct val="100000"/>
              </a:lnSpc>
            </a:pPr>
            <a:r>
              <a:rPr lang="en-US" sz="3200" dirty="0"/>
              <a:t>Some are incurable</a:t>
            </a:r>
          </a:p>
          <a:p>
            <a:pPr>
              <a:lnSpc>
                <a:spcPct val="100000"/>
              </a:lnSpc>
            </a:pPr>
            <a:r>
              <a:rPr lang="en-US" sz="3200" dirty="0"/>
              <a:t>Many have no signs/symptoms</a:t>
            </a:r>
          </a:p>
          <a:p>
            <a:pPr>
              <a:lnSpc>
                <a:spcPct val="100000"/>
              </a:lnSpc>
            </a:pPr>
            <a:r>
              <a:rPr lang="en-US" sz="3200" dirty="0"/>
              <a:t>Most spread silently</a:t>
            </a:r>
          </a:p>
        </p:txBody>
      </p:sp>
      <p:pic>
        <p:nvPicPr>
          <p:cNvPr id="5" name="Picture 4" descr="A row of samples for medical testing">
            <a:extLst>
              <a:ext uri="{FF2B5EF4-FFF2-40B4-BE49-F238E27FC236}">
                <a16:creationId xmlns:a16="http://schemas.microsoft.com/office/drawing/2014/main" id="{62CC33AB-F738-023E-D094-A4019D793235}"/>
              </a:ext>
            </a:extLst>
          </p:cNvPr>
          <p:cNvPicPr>
            <a:picLocks noChangeAspect="1"/>
          </p:cNvPicPr>
          <p:nvPr/>
        </p:nvPicPr>
        <p:blipFill rotWithShape="1">
          <a:blip r:embed="rId3"/>
          <a:srcRect l="48033" r="1034"/>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535754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6772835" cy="4066540"/>
          </a:xfrm>
        </p:spPr>
        <p:txBody>
          <a:bodyPr vert="horz" lIns="91440" tIns="45720" rIns="91440" bIns="45720" rtlCol="0" anchor="b">
            <a:normAutofit/>
          </a:bodyPr>
          <a:lstStyle/>
          <a:p>
            <a:r>
              <a:rPr lang="en-US" sz="9600" dirty="0">
                <a:solidFill>
                  <a:schemeClr val="accent1"/>
                </a:solidFill>
              </a:rPr>
              <a:t>Optional Activity: Condom Activity </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Using the condom resources, allow students time to practice how to use condoms.  </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2305007"/>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3015</TotalTime>
  <Words>2363</Words>
  <Application>Microsoft Macintosh PowerPoint</Application>
  <PresentationFormat>Widescreen</PresentationFormat>
  <Paragraphs>291</Paragraphs>
  <Slides>30</Slides>
  <Notes>20</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Arial</vt:lpstr>
      <vt:lpstr>Century Gothic</vt:lpstr>
      <vt:lpstr>Monotype Sorts</vt:lpstr>
      <vt:lpstr>The Hand Bold</vt:lpstr>
      <vt:lpstr>The Serif Hand Black</vt:lpstr>
      <vt:lpstr>Times New Roman</vt:lpstr>
      <vt:lpstr>Wingdings</vt:lpstr>
      <vt:lpstr>SketchyVTI</vt:lpstr>
      <vt:lpstr>CONTRACEPTION &amp; STI’s</vt:lpstr>
      <vt:lpstr>Term Timeline:</vt:lpstr>
      <vt:lpstr>Today’s Focus</vt:lpstr>
      <vt:lpstr>OPTIONAL:</vt:lpstr>
      <vt:lpstr>Activity 1: Handshake Activity</vt:lpstr>
      <vt:lpstr>PowerPoint Presentation</vt:lpstr>
      <vt:lpstr>SPIT FIRE:  Types of STI’s</vt:lpstr>
      <vt:lpstr>GLOSSARY: (pg. 7)</vt:lpstr>
      <vt:lpstr>What are sexually transmitted infections? (pg. 18)</vt:lpstr>
      <vt:lpstr>Body fluids – which one’s are considered infectious? </vt:lpstr>
      <vt:lpstr>METHODS OF TRANSMISSION: Low Risk or No Risk</vt:lpstr>
      <vt:lpstr>METHODS OF TRANSMISSION: High-Risk (pg. 18)</vt:lpstr>
      <vt:lpstr>TYPES of STI’s: (pg. 19)</vt:lpstr>
      <vt:lpstr>WARNING: GRAPHIC CONTENT </vt:lpstr>
      <vt:lpstr>Chlamydia </vt:lpstr>
      <vt:lpstr>Gonorrhea</vt:lpstr>
      <vt:lpstr>Syphilis</vt:lpstr>
      <vt:lpstr>PowerPoint Presentation</vt:lpstr>
      <vt:lpstr>Herpes Simplex Virus (HSV 1 + 2)</vt:lpstr>
      <vt:lpstr>PowerPoint Presentation</vt:lpstr>
      <vt:lpstr>Human Papilomavirus (HPV) / Genital Warts</vt:lpstr>
      <vt:lpstr>Human Papilomavirus (HPV) / Genital Warts</vt:lpstr>
      <vt:lpstr>HIV / AIDS</vt:lpstr>
      <vt:lpstr>Hepatitis B</vt:lpstr>
      <vt:lpstr>Parasitic STI’s</vt:lpstr>
      <vt:lpstr>Parasitic STI Symptoms</vt:lpstr>
      <vt:lpstr>PARASITIC STI Prevention &amp; Treatment</vt:lpstr>
      <vt:lpstr>Viral STI’s</vt:lpstr>
      <vt:lpstr>STI’s are dangerous because…</vt:lpstr>
      <vt:lpstr>Optional Activity: Condom Activity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CONTRACEPTION &amp; STI’s</dc:title>
  <dc:creator>HILLMAN Alissa [Willetton Senior High School]</dc:creator>
  <cp:lastModifiedBy>HILLMAN Alissa [Willetton Senior High School]</cp:lastModifiedBy>
  <cp:revision>33</cp:revision>
  <dcterms:created xsi:type="dcterms:W3CDTF">2024-02-21T07:14:50Z</dcterms:created>
  <dcterms:modified xsi:type="dcterms:W3CDTF">2024-03-03T12:17:21Z</dcterms:modified>
</cp:coreProperties>
</file>
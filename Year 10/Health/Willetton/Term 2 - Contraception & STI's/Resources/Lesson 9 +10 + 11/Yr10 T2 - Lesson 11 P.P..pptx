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06" r:id="rId1"/>
  </p:sldMasterIdLst>
  <p:notesMasterIdLst>
    <p:notesMasterId r:id="rId8"/>
  </p:notesMasterIdLst>
  <p:sldIdLst>
    <p:sldId id="638" r:id="rId2"/>
    <p:sldId id="641" r:id="rId3"/>
    <p:sldId id="639" r:id="rId4"/>
    <p:sldId id="595" r:id="rId5"/>
    <p:sldId id="596" r:id="rId6"/>
    <p:sldId id="59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A00"/>
    <a:srgbClr val="E4650C"/>
    <a:srgbClr val="FF9300"/>
    <a:srgbClr val="FF2F92"/>
    <a:srgbClr val="0096FF"/>
    <a:srgbClr val="D883FF"/>
    <a:srgbClr val="9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75"/>
    <p:restoredTop sz="83008"/>
  </p:normalViewPr>
  <p:slideViewPr>
    <p:cSldViewPr snapToGrid="0">
      <p:cViewPr varScale="1">
        <p:scale>
          <a:sx n="94" d="100"/>
          <a:sy n="94" d="100"/>
        </p:scale>
        <p:origin x="11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3T04:32:59.4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FA96B-52EF-9242-8C41-C7CBD737B41E}" type="datetimeFigureOut">
              <a:rPr lang="en-US" smtClean="0"/>
              <a:t>3/3/24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5F8A8C-F201-E64D-999A-A6161AAF2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379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When students are presenting their assignments, the audience will need to complete a table about each different STI that is presented. By the end of the presentations, students will have collated information on all the different STI’s into their workbooks.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61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OPTIONAL ACTIVITY IF ALL PRESENTATIONS ARE COMPLETED.</a:t>
            </a:r>
          </a:p>
          <a:p>
            <a:endParaRPr lang="en-US" b="1" dirty="0"/>
          </a:p>
          <a:p>
            <a:r>
              <a:rPr lang="en-US" b="1" dirty="0"/>
              <a:t>ALTERNATIVE</a:t>
            </a:r>
          </a:p>
          <a:p>
            <a:r>
              <a:rPr lang="en-US" b="0" dirty="0"/>
              <a:t>Allow students approx. 10-15mins for students to research 4 resources of their choice (skip the sharing/group work).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33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of these links are included in their books.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082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321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78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133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494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21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193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560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595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1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17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47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10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3/3/24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933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5" r:id="rId1"/>
    <p:sldLayoutId id="2147484096" r:id="rId2"/>
    <p:sldLayoutId id="2147484097" r:id="rId3"/>
    <p:sldLayoutId id="2147484098" r:id="rId4"/>
    <p:sldLayoutId id="2147484099" r:id="rId5"/>
    <p:sldLayoutId id="2147484105" r:id="rId6"/>
    <p:sldLayoutId id="2147484100" r:id="rId7"/>
    <p:sldLayoutId id="2147484101" r:id="rId8"/>
    <p:sldLayoutId id="2147484102" r:id="rId9"/>
    <p:sldLayoutId id="2147484104" r:id="rId10"/>
    <p:sldLayoutId id="214748410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healthywa.wa.gov.au/Articles/A_E/About-sexually-transmissible-infections-STIs" TargetMode="External"/><Relationship Id="rId13" Type="http://schemas.openxmlformats.org/officeDocument/2006/relationships/image" Target="../media/image9.png"/><Relationship Id="rId3" Type="http://schemas.openxmlformats.org/officeDocument/2006/relationships/hyperlink" Target="https://healthysexual.com.au/" TargetMode="External"/><Relationship Id="rId7" Type="http://schemas.openxmlformats.org/officeDocument/2006/relationships/hyperlink" Target="https://www.kemh.health.wa.gov.au/Other-Services/SARC" TargetMode="External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ouldihaveit.com.au/home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s://www.getthefacts.health.wa.gov.au/" TargetMode="External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hyperlink" Target="https://shq.org.au/helpline/" TargetMode="External"/><Relationship Id="rId9" Type="http://schemas.openxmlformats.org/officeDocument/2006/relationships/hyperlink" Target="https://www.waac.com.au/" TargetMode="External"/><Relationship Id="rId1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ainbow colored splatter&#10;&#10;Description automatically generated">
            <a:extLst>
              <a:ext uri="{FF2B5EF4-FFF2-40B4-BE49-F238E27FC236}">
                <a16:creationId xmlns:a16="http://schemas.microsoft.com/office/drawing/2014/main" id="{EEA83DFB-1DE6-B5DE-A972-635BA22480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47"/>
          <a:stretch/>
        </p:blipFill>
        <p:spPr>
          <a:xfrm>
            <a:off x="1298963" y="266542"/>
            <a:ext cx="9589477" cy="5394065"/>
          </a:xfrm>
          <a:prstGeom prst="rect">
            <a:avLst/>
          </a:prstGeom>
        </p:spPr>
      </p:pic>
      <p:pic>
        <p:nvPicPr>
          <p:cNvPr id="1028" name="Picture 4" descr="Sexually Transmitted Infections and HIV">
            <a:extLst>
              <a:ext uri="{FF2B5EF4-FFF2-40B4-BE49-F238E27FC236}">
                <a16:creationId xmlns:a16="http://schemas.microsoft.com/office/drawing/2014/main" id="{BDCE080E-9344-5EDA-E414-5ED90ABD48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312" t="22731" r="26524" b="12904"/>
          <a:stretch/>
        </p:blipFill>
        <p:spPr bwMode="auto">
          <a:xfrm>
            <a:off x="9472614" y="266542"/>
            <a:ext cx="2614612" cy="1929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57FBC4-0AFB-ADB7-F057-3A6858549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3577456"/>
            <a:ext cx="10909640" cy="1687814"/>
          </a:xfrm>
        </p:spPr>
        <p:txBody>
          <a:bodyPr anchor="b">
            <a:normAutofit/>
          </a:bodyPr>
          <a:lstStyle/>
          <a:p>
            <a:pPr algn="ctr"/>
            <a:r>
              <a:rPr lang="en-US" sz="10000" dirty="0"/>
              <a:t>CONTRACEPTION &amp; STI’s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D7FC79-1308-3C8D-6F49-05BF0614D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5660607"/>
            <a:ext cx="10909643" cy="1060868"/>
          </a:xfrm>
        </p:spPr>
        <p:txBody>
          <a:bodyPr anchor="t">
            <a:normAutofit/>
          </a:bodyPr>
          <a:lstStyle/>
          <a:p>
            <a:pPr algn="ctr"/>
            <a:r>
              <a:rPr lang="en-US" sz="3200" b="1" dirty="0"/>
              <a:t>Year 10 Health 			Lesson 11			Term 2, 2024</a:t>
            </a:r>
          </a:p>
        </p:txBody>
      </p:sp>
      <p:sp>
        <p:nvSpPr>
          <p:cNvPr id="77" name="Rectangle 6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27432"/>
          </a:xfrm>
          <a:custGeom>
            <a:avLst/>
            <a:gdLst>
              <a:gd name="connsiteX0" fmla="*/ 0 w 4572000"/>
              <a:gd name="connsiteY0" fmla="*/ 0 h 27432"/>
              <a:gd name="connsiteX1" fmla="*/ 607423 w 4572000"/>
              <a:gd name="connsiteY1" fmla="*/ 0 h 27432"/>
              <a:gd name="connsiteX2" fmla="*/ 1123406 w 4572000"/>
              <a:gd name="connsiteY2" fmla="*/ 0 h 27432"/>
              <a:gd name="connsiteX3" fmla="*/ 1685109 w 4572000"/>
              <a:gd name="connsiteY3" fmla="*/ 0 h 27432"/>
              <a:gd name="connsiteX4" fmla="*/ 2383971 w 4572000"/>
              <a:gd name="connsiteY4" fmla="*/ 0 h 27432"/>
              <a:gd name="connsiteX5" fmla="*/ 2991394 w 4572000"/>
              <a:gd name="connsiteY5" fmla="*/ 0 h 27432"/>
              <a:gd name="connsiteX6" fmla="*/ 3553097 w 4572000"/>
              <a:gd name="connsiteY6" fmla="*/ 0 h 27432"/>
              <a:gd name="connsiteX7" fmla="*/ 4572000 w 4572000"/>
              <a:gd name="connsiteY7" fmla="*/ 0 h 27432"/>
              <a:gd name="connsiteX8" fmla="*/ 4572000 w 4572000"/>
              <a:gd name="connsiteY8" fmla="*/ 27432 h 27432"/>
              <a:gd name="connsiteX9" fmla="*/ 3918857 w 4572000"/>
              <a:gd name="connsiteY9" fmla="*/ 27432 h 27432"/>
              <a:gd name="connsiteX10" fmla="*/ 3357154 w 4572000"/>
              <a:gd name="connsiteY10" fmla="*/ 27432 h 27432"/>
              <a:gd name="connsiteX11" fmla="*/ 2612571 w 4572000"/>
              <a:gd name="connsiteY11" fmla="*/ 27432 h 27432"/>
              <a:gd name="connsiteX12" fmla="*/ 2005149 w 4572000"/>
              <a:gd name="connsiteY12" fmla="*/ 27432 h 27432"/>
              <a:gd name="connsiteX13" fmla="*/ 1489166 w 4572000"/>
              <a:gd name="connsiteY13" fmla="*/ 27432 h 27432"/>
              <a:gd name="connsiteX14" fmla="*/ 790303 w 4572000"/>
              <a:gd name="connsiteY14" fmla="*/ 27432 h 27432"/>
              <a:gd name="connsiteX15" fmla="*/ 0 w 4572000"/>
              <a:gd name="connsiteY15" fmla="*/ 27432 h 27432"/>
              <a:gd name="connsiteX16" fmla="*/ 0 w 457200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27432" fill="none" extrusionOk="0">
                <a:moveTo>
                  <a:pt x="0" y="0"/>
                </a:moveTo>
                <a:cubicBezTo>
                  <a:pt x="150397" y="-23421"/>
                  <a:pt x="474161" y="9174"/>
                  <a:pt x="607423" y="0"/>
                </a:cubicBezTo>
                <a:cubicBezTo>
                  <a:pt x="740685" y="-9174"/>
                  <a:pt x="868821" y="-4258"/>
                  <a:pt x="1123406" y="0"/>
                </a:cubicBezTo>
                <a:cubicBezTo>
                  <a:pt x="1377991" y="4258"/>
                  <a:pt x="1567664" y="-12410"/>
                  <a:pt x="1685109" y="0"/>
                </a:cubicBezTo>
                <a:cubicBezTo>
                  <a:pt x="1802554" y="12410"/>
                  <a:pt x="2193086" y="-14353"/>
                  <a:pt x="2383971" y="0"/>
                </a:cubicBezTo>
                <a:cubicBezTo>
                  <a:pt x="2574856" y="14353"/>
                  <a:pt x="2697477" y="-26142"/>
                  <a:pt x="2991394" y="0"/>
                </a:cubicBezTo>
                <a:cubicBezTo>
                  <a:pt x="3285311" y="26142"/>
                  <a:pt x="3423667" y="26544"/>
                  <a:pt x="3553097" y="0"/>
                </a:cubicBezTo>
                <a:cubicBezTo>
                  <a:pt x="3682527" y="-26544"/>
                  <a:pt x="4344147" y="50350"/>
                  <a:pt x="4572000" y="0"/>
                </a:cubicBezTo>
                <a:cubicBezTo>
                  <a:pt x="4571027" y="8304"/>
                  <a:pt x="4571522" y="21512"/>
                  <a:pt x="4572000" y="27432"/>
                </a:cubicBezTo>
                <a:cubicBezTo>
                  <a:pt x="4438349" y="5490"/>
                  <a:pt x="4090129" y="31231"/>
                  <a:pt x="3918857" y="27432"/>
                </a:cubicBezTo>
                <a:cubicBezTo>
                  <a:pt x="3747585" y="23633"/>
                  <a:pt x="3498826" y="6883"/>
                  <a:pt x="3357154" y="27432"/>
                </a:cubicBezTo>
                <a:cubicBezTo>
                  <a:pt x="3215482" y="47981"/>
                  <a:pt x="2784289" y="56849"/>
                  <a:pt x="2612571" y="27432"/>
                </a:cubicBezTo>
                <a:cubicBezTo>
                  <a:pt x="2440853" y="-1985"/>
                  <a:pt x="2261292" y="25951"/>
                  <a:pt x="2005149" y="27432"/>
                </a:cubicBezTo>
                <a:cubicBezTo>
                  <a:pt x="1749006" y="28913"/>
                  <a:pt x="1700078" y="34342"/>
                  <a:pt x="1489166" y="27432"/>
                </a:cubicBezTo>
                <a:cubicBezTo>
                  <a:pt x="1278254" y="20522"/>
                  <a:pt x="1077188" y="56916"/>
                  <a:pt x="790303" y="27432"/>
                </a:cubicBezTo>
                <a:cubicBezTo>
                  <a:pt x="503418" y="-2052"/>
                  <a:pt x="359168" y="57044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572000" h="27432" stroke="0" extrusionOk="0">
                <a:moveTo>
                  <a:pt x="0" y="0"/>
                </a:moveTo>
                <a:cubicBezTo>
                  <a:pt x="155698" y="6780"/>
                  <a:pt x="465972" y="13197"/>
                  <a:pt x="607423" y="0"/>
                </a:cubicBezTo>
                <a:cubicBezTo>
                  <a:pt x="748874" y="-13197"/>
                  <a:pt x="1014133" y="22994"/>
                  <a:pt x="1123406" y="0"/>
                </a:cubicBezTo>
                <a:cubicBezTo>
                  <a:pt x="1232679" y="-22994"/>
                  <a:pt x="1639431" y="-2997"/>
                  <a:pt x="1867989" y="0"/>
                </a:cubicBezTo>
                <a:cubicBezTo>
                  <a:pt x="2096547" y="2997"/>
                  <a:pt x="2265668" y="29557"/>
                  <a:pt x="2475411" y="0"/>
                </a:cubicBezTo>
                <a:cubicBezTo>
                  <a:pt x="2685154" y="-29557"/>
                  <a:pt x="2951491" y="73"/>
                  <a:pt x="3082834" y="0"/>
                </a:cubicBezTo>
                <a:cubicBezTo>
                  <a:pt x="3214177" y="-73"/>
                  <a:pt x="3641000" y="-33478"/>
                  <a:pt x="3827417" y="0"/>
                </a:cubicBezTo>
                <a:cubicBezTo>
                  <a:pt x="4013834" y="33478"/>
                  <a:pt x="4345917" y="14255"/>
                  <a:pt x="4572000" y="0"/>
                </a:cubicBezTo>
                <a:cubicBezTo>
                  <a:pt x="4572485" y="9333"/>
                  <a:pt x="4573278" y="19699"/>
                  <a:pt x="4572000" y="27432"/>
                </a:cubicBezTo>
                <a:cubicBezTo>
                  <a:pt x="4318030" y="43025"/>
                  <a:pt x="4161104" y="34314"/>
                  <a:pt x="4010297" y="27432"/>
                </a:cubicBezTo>
                <a:cubicBezTo>
                  <a:pt x="3859490" y="20550"/>
                  <a:pt x="3592529" y="6613"/>
                  <a:pt x="3357154" y="27432"/>
                </a:cubicBezTo>
                <a:cubicBezTo>
                  <a:pt x="3121779" y="48251"/>
                  <a:pt x="2884285" y="3780"/>
                  <a:pt x="2704011" y="27432"/>
                </a:cubicBezTo>
                <a:cubicBezTo>
                  <a:pt x="2523737" y="51084"/>
                  <a:pt x="2295944" y="32081"/>
                  <a:pt x="2096589" y="27432"/>
                </a:cubicBezTo>
                <a:cubicBezTo>
                  <a:pt x="1897234" y="22783"/>
                  <a:pt x="1623782" y="52518"/>
                  <a:pt x="1352006" y="27432"/>
                </a:cubicBezTo>
                <a:cubicBezTo>
                  <a:pt x="1080230" y="2346"/>
                  <a:pt x="869959" y="12864"/>
                  <a:pt x="607423" y="27432"/>
                </a:cubicBezTo>
                <a:cubicBezTo>
                  <a:pt x="344887" y="42000"/>
                  <a:pt x="188100" y="40051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7EB8FB"/>
          </a:solidFill>
          <a:ln w="38100" cap="rnd">
            <a:solidFill>
              <a:srgbClr val="7EB8FB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Date Placeholder 26">
            <a:extLst>
              <a:ext uri="{FF2B5EF4-FFF2-40B4-BE49-F238E27FC236}">
                <a16:creationId xmlns:a16="http://schemas.microsoft.com/office/drawing/2014/main" id="{F28B82B1-E269-4325-A665-6CFE5DEE5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1" name="Footer Placeholder 27">
            <a:extLst>
              <a:ext uri="{FF2B5EF4-FFF2-40B4-BE49-F238E27FC236}">
                <a16:creationId xmlns:a16="http://schemas.microsoft.com/office/drawing/2014/main" id="{7C700527-76FD-4DF4-A597-6F5E089CA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3" name="Slide Number Placeholder 28">
            <a:extLst>
              <a:ext uri="{FF2B5EF4-FFF2-40B4-BE49-F238E27FC236}">
                <a16:creationId xmlns:a16="http://schemas.microsoft.com/office/drawing/2014/main" id="{B5EA49A9-01EB-4D60-A392-7DC9B625D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633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1.11111E-6 C -0.01679 -0.02407 -0.07395 -0.04745 -0.09492 -0.04745 C -0.22226 -0.04745 -0.35377 0.32408 -0.35377 0.69583 C -0.35377 0.50857 -0.41966 0.32408 -0.48112 0.32408 C -0.547 0.32408 -0.60846 0.51134 -0.60846 0.69583 C -0.60846 0.60347 -0.64114 0.50857 -0.67421 0.50857 C -0.70703 0.50857 -0.74023 0.6007 -0.74023 0.69583 C -0.74023 0.64815 -0.75664 0.60347 -0.77278 0.60347 C -0.78945 0.60347 -0.80546 0.65093 -0.80546 0.69583 C -0.80546 0.67153 -0.81341 0.64815 -0.822 0.64815 C -0.8263 0.64815 -0.83867 0.67222 -0.83867 0.69583 C -0.83867 0.68403 -0.84296 0.67153 -0.84661 0.67153 C -0.84661 0.66898 -0.85468 0.68333 -0.85468 0.69583 C -0.85468 0.68958 -0.85468 0.68403 -0.85898 0.68403 C -0.85898 0.68681 -0.86328 0.69028 -0.86328 0.69583 C -0.86328 0.69306 -0.86328 0.68958 -0.86328 0.68681 C -0.86757 0.68681 -0.86757 0.68958 -0.86757 0.69306 C -0.87187 0.69306 -0.87187 0.69028 -0.87187 0.68681 C -0.87591 0.68681 -0.87591 0.68958 -0.87591 0.69306 " pathEditMode="relative" rAng="0" ptsTypes="AAAAAAAAAAAAAAAAAAA">
                                      <p:cBhvr>
                                        <p:cTn id="9" dur="5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02" y="32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04FFB5-DE23-4D74-BEF9-CC7D947D3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6600"/>
              <a:t>Today’s Focus</a:t>
            </a: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093" y="2563839"/>
            <a:ext cx="3931920" cy="27432"/>
          </a:xfrm>
          <a:custGeom>
            <a:avLst/>
            <a:gdLst>
              <a:gd name="connsiteX0" fmla="*/ 0 w 3931920"/>
              <a:gd name="connsiteY0" fmla="*/ 0 h 27432"/>
              <a:gd name="connsiteX1" fmla="*/ 733958 w 3931920"/>
              <a:gd name="connsiteY1" fmla="*/ 0 h 27432"/>
              <a:gd name="connsiteX2" fmla="*/ 1428598 w 3931920"/>
              <a:gd name="connsiteY2" fmla="*/ 0 h 27432"/>
              <a:gd name="connsiteX3" fmla="*/ 2123237 w 3931920"/>
              <a:gd name="connsiteY3" fmla="*/ 0 h 27432"/>
              <a:gd name="connsiteX4" fmla="*/ 2660599 w 3931920"/>
              <a:gd name="connsiteY4" fmla="*/ 0 h 27432"/>
              <a:gd name="connsiteX5" fmla="*/ 3237281 w 3931920"/>
              <a:gd name="connsiteY5" fmla="*/ 0 h 27432"/>
              <a:gd name="connsiteX6" fmla="*/ 3931920 w 3931920"/>
              <a:gd name="connsiteY6" fmla="*/ 0 h 27432"/>
              <a:gd name="connsiteX7" fmla="*/ 3931920 w 3931920"/>
              <a:gd name="connsiteY7" fmla="*/ 27432 h 27432"/>
              <a:gd name="connsiteX8" fmla="*/ 3276600 w 3931920"/>
              <a:gd name="connsiteY8" fmla="*/ 27432 h 27432"/>
              <a:gd name="connsiteX9" fmla="*/ 2739238 w 3931920"/>
              <a:gd name="connsiteY9" fmla="*/ 27432 h 27432"/>
              <a:gd name="connsiteX10" fmla="*/ 2201875 w 3931920"/>
              <a:gd name="connsiteY10" fmla="*/ 27432 h 27432"/>
              <a:gd name="connsiteX11" fmla="*/ 1507236 w 3931920"/>
              <a:gd name="connsiteY11" fmla="*/ 27432 h 27432"/>
              <a:gd name="connsiteX12" fmla="*/ 930554 w 3931920"/>
              <a:gd name="connsiteY12" fmla="*/ 27432 h 27432"/>
              <a:gd name="connsiteX13" fmla="*/ 0 w 3931920"/>
              <a:gd name="connsiteY13" fmla="*/ 27432 h 27432"/>
              <a:gd name="connsiteX14" fmla="*/ 0 w 3931920"/>
              <a:gd name="connsiteY14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31920" h="27432" fill="none" extrusionOk="0">
                <a:moveTo>
                  <a:pt x="0" y="0"/>
                </a:moveTo>
                <a:cubicBezTo>
                  <a:pt x="245351" y="16874"/>
                  <a:pt x="509174" y="13736"/>
                  <a:pt x="733958" y="0"/>
                </a:cubicBezTo>
                <a:cubicBezTo>
                  <a:pt x="958742" y="-13736"/>
                  <a:pt x="1245406" y="-17215"/>
                  <a:pt x="1428598" y="0"/>
                </a:cubicBezTo>
                <a:cubicBezTo>
                  <a:pt x="1611790" y="17215"/>
                  <a:pt x="1930525" y="20562"/>
                  <a:pt x="2123237" y="0"/>
                </a:cubicBezTo>
                <a:cubicBezTo>
                  <a:pt x="2315949" y="-20562"/>
                  <a:pt x="2485508" y="11332"/>
                  <a:pt x="2660599" y="0"/>
                </a:cubicBezTo>
                <a:cubicBezTo>
                  <a:pt x="2835690" y="-11332"/>
                  <a:pt x="3075198" y="-14809"/>
                  <a:pt x="3237281" y="0"/>
                </a:cubicBezTo>
                <a:cubicBezTo>
                  <a:pt x="3399364" y="14809"/>
                  <a:pt x="3745084" y="-4992"/>
                  <a:pt x="3931920" y="0"/>
                </a:cubicBezTo>
                <a:cubicBezTo>
                  <a:pt x="3930963" y="8431"/>
                  <a:pt x="3931571" y="14612"/>
                  <a:pt x="3931920" y="27432"/>
                </a:cubicBezTo>
                <a:cubicBezTo>
                  <a:pt x="3765435" y="40792"/>
                  <a:pt x="3452398" y="38703"/>
                  <a:pt x="3276600" y="27432"/>
                </a:cubicBezTo>
                <a:cubicBezTo>
                  <a:pt x="3100802" y="16161"/>
                  <a:pt x="2914889" y="26998"/>
                  <a:pt x="2739238" y="27432"/>
                </a:cubicBezTo>
                <a:cubicBezTo>
                  <a:pt x="2563587" y="27866"/>
                  <a:pt x="2395484" y="39154"/>
                  <a:pt x="2201875" y="27432"/>
                </a:cubicBezTo>
                <a:cubicBezTo>
                  <a:pt x="2008266" y="15710"/>
                  <a:pt x="1781367" y="4899"/>
                  <a:pt x="1507236" y="27432"/>
                </a:cubicBezTo>
                <a:cubicBezTo>
                  <a:pt x="1233105" y="49965"/>
                  <a:pt x="1075495" y="47542"/>
                  <a:pt x="930554" y="27432"/>
                </a:cubicBezTo>
                <a:cubicBezTo>
                  <a:pt x="785613" y="7322"/>
                  <a:pt x="268930" y="30433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931920" h="27432" stroke="0" extrusionOk="0">
                <a:moveTo>
                  <a:pt x="0" y="0"/>
                </a:moveTo>
                <a:cubicBezTo>
                  <a:pt x="278269" y="4786"/>
                  <a:pt x="349028" y="-10422"/>
                  <a:pt x="616001" y="0"/>
                </a:cubicBezTo>
                <a:cubicBezTo>
                  <a:pt x="882974" y="10422"/>
                  <a:pt x="931617" y="-15515"/>
                  <a:pt x="1153363" y="0"/>
                </a:cubicBezTo>
                <a:cubicBezTo>
                  <a:pt x="1375109" y="15515"/>
                  <a:pt x="1704089" y="-3631"/>
                  <a:pt x="1887322" y="0"/>
                </a:cubicBezTo>
                <a:cubicBezTo>
                  <a:pt x="2070555" y="3631"/>
                  <a:pt x="2344155" y="2213"/>
                  <a:pt x="2503322" y="0"/>
                </a:cubicBezTo>
                <a:cubicBezTo>
                  <a:pt x="2662489" y="-2213"/>
                  <a:pt x="2976859" y="26691"/>
                  <a:pt x="3119323" y="0"/>
                </a:cubicBezTo>
                <a:cubicBezTo>
                  <a:pt x="3261787" y="-26691"/>
                  <a:pt x="3588171" y="-28651"/>
                  <a:pt x="3931920" y="0"/>
                </a:cubicBezTo>
                <a:cubicBezTo>
                  <a:pt x="3930565" y="9524"/>
                  <a:pt x="3930718" y="13975"/>
                  <a:pt x="3931920" y="27432"/>
                </a:cubicBezTo>
                <a:cubicBezTo>
                  <a:pt x="3664329" y="4021"/>
                  <a:pt x="3437686" y="14511"/>
                  <a:pt x="3276600" y="27432"/>
                </a:cubicBezTo>
                <a:cubicBezTo>
                  <a:pt x="3115514" y="40353"/>
                  <a:pt x="2913592" y="48967"/>
                  <a:pt x="2739238" y="27432"/>
                </a:cubicBezTo>
                <a:cubicBezTo>
                  <a:pt x="2564884" y="5897"/>
                  <a:pt x="2294049" y="39820"/>
                  <a:pt x="2083918" y="27432"/>
                </a:cubicBezTo>
                <a:cubicBezTo>
                  <a:pt x="1873787" y="15044"/>
                  <a:pt x="1718903" y="21388"/>
                  <a:pt x="1428598" y="27432"/>
                </a:cubicBezTo>
                <a:cubicBezTo>
                  <a:pt x="1138293" y="33476"/>
                  <a:pt x="952209" y="50441"/>
                  <a:pt x="812597" y="27432"/>
                </a:cubicBezTo>
                <a:cubicBezTo>
                  <a:pt x="672985" y="4423"/>
                  <a:pt x="305800" y="28240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rgbClr val="E5B399"/>
          </a:solidFill>
          <a:ln w="38100" cap="rnd">
            <a:solidFill>
              <a:srgbClr val="E5B399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3D7FC-176D-B898-C622-E503B972C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dirty="0"/>
              <a:t>Task 3: Presentations.</a:t>
            </a:r>
          </a:p>
          <a:p>
            <a:r>
              <a:rPr lang="en-US" dirty="0"/>
              <a:t>+ complete table as listening.</a:t>
            </a:r>
          </a:p>
          <a:p>
            <a:r>
              <a:rPr lang="en-US" dirty="0"/>
              <a:t>Investigate online help seeking resources. </a:t>
            </a:r>
          </a:p>
          <a:p>
            <a:r>
              <a:rPr lang="en-US" dirty="0"/>
              <a:t>Review content learned throughout term 2.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Writing an appointment on a paper agenda">
            <a:extLst>
              <a:ext uri="{FF2B5EF4-FFF2-40B4-BE49-F238E27FC236}">
                <a16:creationId xmlns:a16="http://schemas.microsoft.com/office/drawing/2014/main" id="{EDE161DE-AC56-B92C-DAD0-35C65DB943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047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21596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E6A207B-97BE-4DE3-B7BA-6EB713664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E3D224-3E5B-305E-E44A-33D1F2953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9016" y="640080"/>
            <a:ext cx="3432048" cy="1714065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STI Presentations:</a:t>
            </a:r>
            <a:br>
              <a:rPr lang="en-US" dirty="0"/>
            </a:br>
            <a:r>
              <a:rPr lang="en-US" sz="5400" dirty="0"/>
              <a:t>(pg. </a:t>
            </a:r>
            <a:r>
              <a:rPr lang="en-US" dirty="0"/>
              <a:t>26-27</a:t>
            </a:r>
            <a:r>
              <a:rPr lang="en-US" sz="5400" dirty="0"/>
              <a:t>)</a:t>
            </a:r>
            <a:endParaRPr lang="en-US" dirty="0"/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016" y="2529151"/>
            <a:ext cx="3376602" cy="18288"/>
          </a:xfrm>
          <a:custGeom>
            <a:avLst/>
            <a:gdLst>
              <a:gd name="connsiteX0" fmla="*/ 0 w 3376602"/>
              <a:gd name="connsiteY0" fmla="*/ 0 h 18288"/>
              <a:gd name="connsiteX1" fmla="*/ 641554 w 3376602"/>
              <a:gd name="connsiteY1" fmla="*/ 0 h 18288"/>
              <a:gd name="connsiteX2" fmla="*/ 1316875 w 3376602"/>
              <a:gd name="connsiteY2" fmla="*/ 0 h 18288"/>
              <a:gd name="connsiteX3" fmla="*/ 2025961 w 3376602"/>
              <a:gd name="connsiteY3" fmla="*/ 0 h 18288"/>
              <a:gd name="connsiteX4" fmla="*/ 2735048 w 3376602"/>
              <a:gd name="connsiteY4" fmla="*/ 0 h 18288"/>
              <a:gd name="connsiteX5" fmla="*/ 3376602 w 3376602"/>
              <a:gd name="connsiteY5" fmla="*/ 0 h 18288"/>
              <a:gd name="connsiteX6" fmla="*/ 3376602 w 3376602"/>
              <a:gd name="connsiteY6" fmla="*/ 18288 h 18288"/>
              <a:gd name="connsiteX7" fmla="*/ 2633750 w 3376602"/>
              <a:gd name="connsiteY7" fmla="*/ 18288 h 18288"/>
              <a:gd name="connsiteX8" fmla="*/ 1890897 w 3376602"/>
              <a:gd name="connsiteY8" fmla="*/ 18288 h 18288"/>
              <a:gd name="connsiteX9" fmla="*/ 1215577 w 3376602"/>
              <a:gd name="connsiteY9" fmla="*/ 18288 h 18288"/>
              <a:gd name="connsiteX10" fmla="*/ 0 w 3376602"/>
              <a:gd name="connsiteY10" fmla="*/ 18288 h 18288"/>
              <a:gd name="connsiteX11" fmla="*/ 0 w 337660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376602" h="18288" fill="none" extrusionOk="0">
                <a:moveTo>
                  <a:pt x="0" y="0"/>
                </a:moveTo>
                <a:cubicBezTo>
                  <a:pt x="154337" y="-26787"/>
                  <a:pt x="393692" y="25344"/>
                  <a:pt x="641554" y="0"/>
                </a:cubicBezTo>
                <a:cubicBezTo>
                  <a:pt x="889416" y="-25344"/>
                  <a:pt x="1078313" y="12271"/>
                  <a:pt x="1316875" y="0"/>
                </a:cubicBezTo>
                <a:cubicBezTo>
                  <a:pt x="1555437" y="-12271"/>
                  <a:pt x="1698513" y="30110"/>
                  <a:pt x="2025961" y="0"/>
                </a:cubicBezTo>
                <a:cubicBezTo>
                  <a:pt x="2353409" y="-30110"/>
                  <a:pt x="2474986" y="1722"/>
                  <a:pt x="2735048" y="0"/>
                </a:cubicBezTo>
                <a:cubicBezTo>
                  <a:pt x="2995110" y="-1722"/>
                  <a:pt x="3097437" y="28961"/>
                  <a:pt x="3376602" y="0"/>
                </a:cubicBezTo>
                <a:cubicBezTo>
                  <a:pt x="3375893" y="8157"/>
                  <a:pt x="3376189" y="12125"/>
                  <a:pt x="3376602" y="18288"/>
                </a:cubicBezTo>
                <a:cubicBezTo>
                  <a:pt x="3037458" y="40377"/>
                  <a:pt x="2857195" y="34928"/>
                  <a:pt x="2633750" y="18288"/>
                </a:cubicBezTo>
                <a:cubicBezTo>
                  <a:pt x="2410305" y="1648"/>
                  <a:pt x="2066994" y="17360"/>
                  <a:pt x="1890897" y="18288"/>
                </a:cubicBezTo>
                <a:cubicBezTo>
                  <a:pt x="1714800" y="19216"/>
                  <a:pt x="1521080" y="47858"/>
                  <a:pt x="1215577" y="18288"/>
                </a:cubicBezTo>
                <a:cubicBezTo>
                  <a:pt x="910074" y="-11282"/>
                  <a:pt x="278912" y="61767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376602" h="18288" stroke="0" extrusionOk="0">
                <a:moveTo>
                  <a:pt x="0" y="0"/>
                </a:moveTo>
                <a:cubicBezTo>
                  <a:pt x="304565" y="-9016"/>
                  <a:pt x="402571" y="29762"/>
                  <a:pt x="641554" y="0"/>
                </a:cubicBezTo>
                <a:cubicBezTo>
                  <a:pt x="880537" y="-29762"/>
                  <a:pt x="963871" y="-12492"/>
                  <a:pt x="1215577" y="0"/>
                </a:cubicBezTo>
                <a:cubicBezTo>
                  <a:pt x="1467283" y="12492"/>
                  <a:pt x="1723274" y="15353"/>
                  <a:pt x="1958429" y="0"/>
                </a:cubicBezTo>
                <a:cubicBezTo>
                  <a:pt x="2193584" y="-15353"/>
                  <a:pt x="2347125" y="7922"/>
                  <a:pt x="2599984" y="0"/>
                </a:cubicBezTo>
                <a:cubicBezTo>
                  <a:pt x="2852843" y="-7922"/>
                  <a:pt x="3186422" y="-30763"/>
                  <a:pt x="3376602" y="0"/>
                </a:cubicBezTo>
                <a:cubicBezTo>
                  <a:pt x="3376338" y="4493"/>
                  <a:pt x="3376986" y="9472"/>
                  <a:pt x="3376602" y="18288"/>
                </a:cubicBezTo>
                <a:cubicBezTo>
                  <a:pt x="3080522" y="-5475"/>
                  <a:pt x="3038559" y="47323"/>
                  <a:pt x="2701282" y="18288"/>
                </a:cubicBezTo>
                <a:cubicBezTo>
                  <a:pt x="2364005" y="-10747"/>
                  <a:pt x="2245031" y="49099"/>
                  <a:pt x="1958429" y="18288"/>
                </a:cubicBezTo>
                <a:cubicBezTo>
                  <a:pt x="1671827" y="-12523"/>
                  <a:pt x="1619741" y="31109"/>
                  <a:pt x="1384407" y="18288"/>
                </a:cubicBezTo>
                <a:cubicBezTo>
                  <a:pt x="1149073" y="5467"/>
                  <a:pt x="947712" y="-11758"/>
                  <a:pt x="709086" y="18288"/>
                </a:cubicBezTo>
                <a:cubicBezTo>
                  <a:pt x="470460" y="48334"/>
                  <a:pt x="186882" y="50183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7A59"/>
          </a:solidFill>
          <a:ln w="38100" cap="rnd">
            <a:solidFill>
              <a:srgbClr val="FF7A59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A8EE0B30-C013-CF27-6FE1-97EE09030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9016" y="2803470"/>
            <a:ext cx="3432048" cy="3414450"/>
          </a:xfrm>
        </p:spPr>
        <p:txBody>
          <a:bodyPr anchor="t">
            <a:normAutofit/>
          </a:bodyPr>
          <a:lstStyle/>
          <a:p>
            <a:r>
              <a:rPr lang="en-US" sz="2400" dirty="0"/>
              <a:t>Complete the table in your books while listening to other groups present their work. </a:t>
            </a:r>
          </a:p>
          <a:p>
            <a:endParaRPr lang="en-US" sz="2400" dirty="0"/>
          </a:p>
          <a:p>
            <a:r>
              <a:rPr lang="en-US" sz="2400" dirty="0"/>
              <a:t>By the end of the presentations, you will have collected information different types of STI’s.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6436237" y="1971579"/>
              <a:ext cx="360" cy="21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18237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Content Placeholder 4" descr="A white rectangular grid with writing on it&#10;&#10;Description automatically generated">
            <a:extLst>
              <a:ext uri="{FF2B5EF4-FFF2-40B4-BE49-F238E27FC236}">
                <a16:creationId xmlns:a16="http://schemas.microsoft.com/office/drawing/2014/main" id="{0D2F9F18-8523-EB70-1A14-C9E648EEA2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509" y="1304932"/>
            <a:ext cx="7600951" cy="473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181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8AD30-FC98-9ACE-C953-507DEC2C1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12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Activity 1: Sexual Health – Where to go for help? (pg. 24-25)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0A7C9-DCEE-9529-02ED-7F406EB50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696936"/>
            <a:ext cx="11658600" cy="4014216"/>
          </a:xfrm>
        </p:spPr>
        <p:txBody>
          <a:bodyPr>
            <a:normAutofit/>
          </a:bodyPr>
          <a:lstStyle/>
          <a:p>
            <a:r>
              <a:rPr lang="en-US" dirty="0"/>
              <a:t>Working in small groups of no more than 4. </a:t>
            </a:r>
          </a:p>
          <a:p>
            <a:r>
              <a:rPr lang="en-US" dirty="0"/>
              <a:t>Each person is to choose a different website or resource from the list below. </a:t>
            </a:r>
          </a:p>
          <a:p>
            <a:r>
              <a:rPr lang="en-US" dirty="0"/>
              <a:t>Investigate the different websites you can visit for sexual health and STI advice. </a:t>
            </a:r>
          </a:p>
          <a:p>
            <a:r>
              <a:rPr lang="en-US" dirty="0"/>
              <a:t>Each person in your group investigates a different source. </a:t>
            </a:r>
          </a:p>
          <a:p>
            <a:r>
              <a:rPr lang="en-US" dirty="0"/>
              <a:t>You will have 6 minutes to research and complete the table in your book. </a:t>
            </a:r>
          </a:p>
          <a:p>
            <a:r>
              <a:rPr lang="en-US" dirty="0"/>
              <a:t>You will then present and share your research with your group members and everyone else will fill in your information into their books.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18834F-C9AB-DCAD-7C76-2AD232739045}"/>
              </a:ext>
            </a:extLst>
          </p:cNvPr>
          <p:cNvSpPr txBox="1"/>
          <p:nvPr/>
        </p:nvSpPr>
        <p:spPr>
          <a:xfrm>
            <a:off x="838200" y="1893270"/>
            <a:ext cx="10515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i="1" dirty="0"/>
              <a:t>By the end of this activity, you will come away with information on 4 different websites or locations you can go to for sexual health advice.</a:t>
            </a:r>
          </a:p>
        </p:txBody>
      </p:sp>
      <p:pic>
        <p:nvPicPr>
          <p:cNvPr id="1026" name="Picture 2" descr="Teamwork GIFs - Get the best gif on GIFER">
            <a:extLst>
              <a:ext uri="{FF2B5EF4-FFF2-40B4-BE49-F238E27FC236}">
                <a16:creationId xmlns:a16="http://schemas.microsoft.com/office/drawing/2014/main" id="{0E9FF250-E8E6-8527-AFC2-FBF61391F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584" y="2696936"/>
            <a:ext cx="4087316" cy="363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3867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ED9CA-F939-3D20-7EE9-21A877A20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1: HELP RESOURCES (pg. 24-25)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4C895-1756-74EB-DCBF-3608F7372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12" y="1929384"/>
            <a:ext cx="11114988" cy="4251960"/>
          </a:xfrm>
        </p:spPr>
        <p:txBody>
          <a:bodyPr>
            <a:normAutofit/>
          </a:bodyPr>
          <a:lstStyle/>
          <a:p>
            <a:r>
              <a:rPr lang="en-US" dirty="0"/>
              <a:t>WA Gov: Healthy Sexual – </a:t>
            </a:r>
            <a:r>
              <a:rPr lang="en-US" dirty="0">
                <a:hlinkClick r:id="rId3"/>
              </a:rPr>
              <a:t>https://healthysexual.com.au/</a:t>
            </a:r>
            <a:endParaRPr lang="en-US" dirty="0"/>
          </a:p>
          <a:p>
            <a:r>
              <a:rPr lang="en-US" dirty="0"/>
              <a:t>Sexual Health Quarters – </a:t>
            </a:r>
            <a:r>
              <a:rPr lang="en-US" dirty="0">
                <a:hlinkClick r:id="rId4"/>
              </a:rPr>
              <a:t>https://shq.org.au/helpline/</a:t>
            </a:r>
            <a:r>
              <a:rPr lang="en-US" dirty="0"/>
              <a:t> </a:t>
            </a:r>
          </a:p>
          <a:p>
            <a:r>
              <a:rPr lang="en-US" dirty="0"/>
              <a:t>Get The Facts – </a:t>
            </a:r>
            <a:r>
              <a:rPr lang="en-US" dirty="0">
                <a:hlinkClick r:id="rId5"/>
              </a:rPr>
              <a:t>https://www.getthefacts.health.wa.gov.au/</a:t>
            </a:r>
            <a:r>
              <a:rPr lang="en-US" dirty="0"/>
              <a:t> </a:t>
            </a:r>
          </a:p>
          <a:p>
            <a:r>
              <a:rPr lang="en-US" dirty="0"/>
              <a:t>Could I Have It? – </a:t>
            </a:r>
            <a:r>
              <a:rPr lang="en-US" dirty="0">
                <a:hlinkClick r:id="rId6"/>
              </a:rPr>
              <a:t>https://www.couldihaveit.com.au/home</a:t>
            </a:r>
            <a:r>
              <a:rPr lang="en-US" dirty="0"/>
              <a:t> </a:t>
            </a:r>
          </a:p>
          <a:p>
            <a:r>
              <a:rPr lang="en-US" dirty="0"/>
              <a:t>Sexual Assault Resource Centre (SARC) – </a:t>
            </a:r>
            <a:r>
              <a:rPr lang="en-US" dirty="0">
                <a:hlinkClick r:id="rId7"/>
              </a:rPr>
              <a:t>https://www.kemh.health.wa.gov.au/Other-Services/SARC</a:t>
            </a:r>
            <a:r>
              <a:rPr lang="en-US" dirty="0"/>
              <a:t> </a:t>
            </a:r>
          </a:p>
          <a:p>
            <a:r>
              <a:rPr lang="en-US" dirty="0"/>
              <a:t>Healthy WA STI Factsheets – </a:t>
            </a:r>
            <a:r>
              <a:rPr lang="en-US" dirty="0">
                <a:hlinkClick r:id="rId8"/>
              </a:rPr>
              <a:t>https://www.healthywa.wa.gov.au/Articles/A_E/About-sexually-transmissible-infections-STIs</a:t>
            </a:r>
            <a:r>
              <a:rPr lang="en-US" dirty="0"/>
              <a:t> </a:t>
            </a:r>
          </a:p>
          <a:p>
            <a:r>
              <a:rPr lang="en-US" dirty="0"/>
              <a:t>Western Australian Aids Council (WAAC) – </a:t>
            </a:r>
            <a:r>
              <a:rPr lang="en-US" dirty="0">
                <a:hlinkClick r:id="rId9"/>
              </a:rPr>
              <a:t>https://www.waac.com.au/</a:t>
            </a:r>
            <a:r>
              <a:rPr lang="en-US" dirty="0"/>
              <a:t> </a:t>
            </a:r>
          </a:p>
        </p:txBody>
      </p:sp>
      <p:pic>
        <p:nvPicPr>
          <p:cNvPr id="4" name="Picture 3" descr="A yellow and blue sign with white text&#10;&#10;Description automatically generated">
            <a:extLst>
              <a:ext uri="{FF2B5EF4-FFF2-40B4-BE49-F238E27FC236}">
                <a16:creationId xmlns:a16="http://schemas.microsoft.com/office/drawing/2014/main" id="{00E1897B-527A-AADA-555F-18A904895E6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6961" y="473832"/>
            <a:ext cx="2576227" cy="554074"/>
          </a:xfrm>
          <a:prstGeom prst="rect">
            <a:avLst/>
          </a:prstGeom>
        </p:spPr>
      </p:pic>
      <p:pic>
        <p:nvPicPr>
          <p:cNvPr id="5" name="Picture 4" descr="A colorful rectangular sign with black text&#10;&#10;Description automatically generated">
            <a:extLst>
              <a:ext uri="{FF2B5EF4-FFF2-40B4-BE49-F238E27FC236}">
                <a16:creationId xmlns:a16="http://schemas.microsoft.com/office/drawing/2014/main" id="{9FA60C0A-0A18-7A1C-53CA-BDB0AB750B8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192" y="1211441"/>
            <a:ext cx="1371216" cy="954490"/>
          </a:xfrm>
          <a:prstGeom prst="rect">
            <a:avLst/>
          </a:prstGeom>
        </p:spPr>
      </p:pic>
      <p:pic>
        <p:nvPicPr>
          <p:cNvPr id="6" name="Picture 5" descr="A red text on a white background&#10;&#10;Description automatically generated">
            <a:extLst>
              <a:ext uri="{FF2B5EF4-FFF2-40B4-BE49-F238E27FC236}">
                <a16:creationId xmlns:a16="http://schemas.microsoft.com/office/drawing/2014/main" id="{6B0E650D-D59D-340D-0329-B74814DF6D2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8732" y="2457070"/>
            <a:ext cx="2434456" cy="486695"/>
          </a:xfrm>
          <a:prstGeom prst="rect">
            <a:avLst/>
          </a:prstGeom>
        </p:spPr>
      </p:pic>
      <p:pic>
        <p:nvPicPr>
          <p:cNvPr id="7" name="Picture 6" descr="A logo with black and green letters&#10;&#10;Description automatically generated with medium confidence">
            <a:extLst>
              <a:ext uri="{FF2B5EF4-FFF2-40B4-BE49-F238E27FC236}">
                <a16:creationId xmlns:a16="http://schemas.microsoft.com/office/drawing/2014/main" id="{2229B6B0-BAA6-BE3F-D46F-FA03C04CEDB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718" y="3165995"/>
            <a:ext cx="1839470" cy="630844"/>
          </a:xfrm>
          <a:prstGeom prst="rect">
            <a:avLst/>
          </a:prstGeom>
        </p:spPr>
      </p:pic>
      <p:pic>
        <p:nvPicPr>
          <p:cNvPr id="8" name="Picture 7" descr="Funding boost to sexual assault services | Simone McGurk | State Member for  Fremantle">
            <a:extLst>
              <a:ext uri="{FF2B5EF4-FFF2-40B4-BE49-F238E27FC236}">
                <a16:creationId xmlns:a16="http://schemas.microsoft.com/office/drawing/2014/main" id="{3E43581B-5E61-2132-FEC2-AECF7FE09DC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7174" y="1258447"/>
            <a:ext cx="1371216" cy="962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80EA12FB-A89B-108C-935C-950A2470E40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6313" y="4032482"/>
            <a:ext cx="2206875" cy="619482"/>
          </a:xfrm>
          <a:prstGeom prst="rect">
            <a:avLst/>
          </a:prstGeom>
        </p:spPr>
      </p:pic>
      <p:pic>
        <p:nvPicPr>
          <p:cNvPr id="10" name="Picture 9" descr="WAAC: Healthy, Included, Connected | WAAC">
            <a:extLst>
              <a:ext uri="{FF2B5EF4-FFF2-40B4-BE49-F238E27FC236}">
                <a16:creationId xmlns:a16="http://schemas.microsoft.com/office/drawing/2014/main" id="{33FCF5BF-EDB9-582B-0A4E-815E489C20D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390" y="5599553"/>
            <a:ext cx="1236837" cy="760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4054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9B934-A462-B631-D67C-89C82643B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Activity 2: Review – Contraception &amp; STI’s KWL (pg. 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2C02E-BA78-1CAF-15ED-54A47782B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114" y="1929383"/>
            <a:ext cx="11512066" cy="4563491"/>
          </a:xfrm>
        </p:spPr>
        <p:txBody>
          <a:bodyPr>
            <a:normAutofit/>
          </a:bodyPr>
          <a:lstStyle/>
          <a:p>
            <a:r>
              <a:rPr lang="en-US" dirty="0"/>
              <a:t>This term we have learnt about contraception and Sexually Transmitted Infections (STI’s).</a:t>
            </a:r>
          </a:p>
          <a:p>
            <a:r>
              <a:rPr lang="en-US" dirty="0"/>
              <a:t>In week 1 you completed the first two columns of the KWL: </a:t>
            </a:r>
          </a:p>
          <a:p>
            <a:pPr lvl="1"/>
            <a:r>
              <a:rPr lang="en-US" sz="2600" dirty="0"/>
              <a:t>What do you already </a:t>
            </a:r>
            <a:r>
              <a:rPr lang="en-US" sz="2600" b="1" dirty="0">
                <a:solidFill>
                  <a:srgbClr val="FF0000"/>
                </a:solidFill>
              </a:rPr>
              <a:t>KNOW</a:t>
            </a:r>
            <a:r>
              <a:rPr lang="en-US" sz="2600" dirty="0"/>
              <a:t> about contraception and STI’s?</a:t>
            </a:r>
          </a:p>
          <a:p>
            <a:pPr lvl="1"/>
            <a:r>
              <a:rPr lang="en-US" sz="2600" dirty="0"/>
              <a:t>What do you </a:t>
            </a:r>
            <a:r>
              <a:rPr lang="en-US" sz="2600" b="1" dirty="0">
                <a:solidFill>
                  <a:srgbClr val="FFC000"/>
                </a:solidFill>
              </a:rPr>
              <a:t>WANT</a:t>
            </a:r>
            <a:r>
              <a:rPr lang="en-US" sz="2600" dirty="0"/>
              <a:t> to know about contraception and STI’s?</a:t>
            </a:r>
          </a:p>
          <a:p>
            <a:pPr lvl="1"/>
            <a:endParaRPr lang="en-US" sz="2600" dirty="0"/>
          </a:p>
          <a:p>
            <a:r>
              <a:rPr lang="en-US" sz="3000" dirty="0"/>
              <a:t>In week 11 it is now time to complete the third column of the KWL:</a:t>
            </a:r>
          </a:p>
          <a:p>
            <a:pPr lvl="1"/>
            <a:r>
              <a:rPr lang="en-US" sz="3000" dirty="0"/>
              <a:t>What have you </a:t>
            </a:r>
            <a:r>
              <a:rPr lang="en-US" sz="3000" b="1" dirty="0">
                <a:solidFill>
                  <a:srgbClr val="00B0F0"/>
                </a:solidFill>
              </a:rPr>
              <a:t>LEARNED</a:t>
            </a:r>
            <a:r>
              <a:rPr lang="en-US" sz="3000" dirty="0"/>
              <a:t> about contraception and STI’s?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273306-B8BB-0B5E-6541-747BA235A28B}"/>
              </a:ext>
            </a:extLst>
          </p:cNvPr>
          <p:cNvSpPr txBox="1"/>
          <p:nvPr/>
        </p:nvSpPr>
        <p:spPr>
          <a:xfrm>
            <a:off x="2474124" y="5908099"/>
            <a:ext cx="2363082" cy="584775"/>
          </a:xfrm>
          <a:prstGeom prst="rect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/>
              <a:t>4 minutes to complete</a:t>
            </a:r>
          </a:p>
        </p:txBody>
      </p:sp>
      <p:pic>
        <p:nvPicPr>
          <p:cNvPr id="7" name="Picture 6" descr="A white rectangular box with black text&#10;&#10;Description automatically generated">
            <a:extLst>
              <a:ext uri="{FF2B5EF4-FFF2-40B4-BE49-F238E27FC236}">
                <a16:creationId xmlns:a16="http://schemas.microsoft.com/office/drawing/2014/main" id="{5B467BE3-B6E6-E789-34AB-FA982B05D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1" y="2698749"/>
            <a:ext cx="4495034" cy="1802357"/>
          </a:xfrm>
          <a:prstGeom prst="rect">
            <a:avLst/>
          </a:prstGeom>
          <a:ln w="28575">
            <a:solidFill>
              <a:srgbClr val="7030A0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1516A30-78BE-DACF-14F8-087E4455A769}"/>
              </a:ext>
            </a:extLst>
          </p:cNvPr>
          <p:cNvCxnSpPr/>
          <p:nvPr/>
        </p:nvCxnSpPr>
        <p:spPr>
          <a:xfrm flipV="1">
            <a:off x="6553200" y="4211128"/>
            <a:ext cx="4025900" cy="1275272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778833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The Serif Hand Black"/>
        <a:ea typeface=""/>
        <a:cs typeface=""/>
      </a:majorFont>
      <a:minorFont>
        <a:latin typeface="The Han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3018</TotalTime>
  <Words>538</Words>
  <Application>Microsoft Macintosh PowerPoint</Application>
  <PresentationFormat>Widescreen</PresentationFormat>
  <Paragraphs>46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The Hand Bold</vt:lpstr>
      <vt:lpstr>The Serif Hand Black</vt:lpstr>
      <vt:lpstr>SketchyVTI</vt:lpstr>
      <vt:lpstr>CONTRACEPTION &amp; STI’s</vt:lpstr>
      <vt:lpstr>Today’s Focus</vt:lpstr>
      <vt:lpstr>STI Presentations: (pg. 26-27)</vt:lpstr>
      <vt:lpstr>Activity 1: Sexual Health – Where to go for help? (pg. 24-25)</vt:lpstr>
      <vt:lpstr>ACTIVITY 1: HELP RESOURCES (pg. 24-25)</vt:lpstr>
      <vt:lpstr>Activity 2: Review – Contraception &amp; STI’s KWL (pg. 9)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CONTRACEPTION &amp; STI’s</dc:title>
  <dc:creator>HILLMAN Alissa [Willetton Senior High School]</dc:creator>
  <cp:lastModifiedBy>HILLMAN Alissa [Willetton Senior High School]</cp:lastModifiedBy>
  <cp:revision>38</cp:revision>
  <dcterms:created xsi:type="dcterms:W3CDTF">2024-02-21T07:14:50Z</dcterms:created>
  <dcterms:modified xsi:type="dcterms:W3CDTF">2024-03-03T12:19:58Z</dcterms:modified>
</cp:coreProperties>
</file>
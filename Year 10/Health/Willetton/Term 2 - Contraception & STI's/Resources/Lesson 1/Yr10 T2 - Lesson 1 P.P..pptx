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06" r:id="rId1"/>
  </p:sldMasterIdLst>
  <p:notesMasterIdLst>
    <p:notesMasterId r:id="rId20"/>
  </p:notesMasterIdLst>
  <p:sldIdLst>
    <p:sldId id="256" r:id="rId2"/>
    <p:sldId id="275" r:id="rId3"/>
    <p:sldId id="274" r:id="rId4"/>
    <p:sldId id="276" r:id="rId5"/>
    <p:sldId id="273" r:id="rId6"/>
    <p:sldId id="277" r:id="rId7"/>
    <p:sldId id="278" r:id="rId8"/>
    <p:sldId id="279" r:id="rId9"/>
    <p:sldId id="358" r:id="rId10"/>
    <p:sldId id="272" r:id="rId11"/>
    <p:sldId id="257" r:id="rId12"/>
    <p:sldId id="269" r:id="rId13"/>
    <p:sldId id="268" r:id="rId14"/>
    <p:sldId id="270" r:id="rId15"/>
    <p:sldId id="292" r:id="rId16"/>
    <p:sldId id="359" r:id="rId17"/>
    <p:sldId id="293" r:id="rId18"/>
    <p:sldId id="28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  <a:srgbClr val="E4650C"/>
    <a:srgbClr val="FF9300"/>
    <a:srgbClr val="FF2F92"/>
    <a:srgbClr val="0096FF"/>
    <a:srgbClr val="D883FF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61"/>
    <p:restoredTop sz="83008"/>
  </p:normalViewPr>
  <p:slideViewPr>
    <p:cSldViewPr snapToGrid="0">
      <p:cViewPr varScale="1">
        <p:scale>
          <a:sx n="94" d="100"/>
          <a:sy n="94" d="100"/>
        </p:scale>
        <p:origin x="10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3T01:00:11.9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FA96B-52EF-9242-8C41-C7CBD737B41E}" type="datetimeFigureOut">
              <a:rPr lang="en-US" smtClean="0"/>
              <a:t>3/4/24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F8A8C-F201-E64D-999A-A6161AAF2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79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this slide and the upcoming assessment tasks.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75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Relevant to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03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Relevant to test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Discuss</a:t>
            </a:r>
          </a:p>
          <a:p>
            <a:endParaRPr lang="en-US" dirty="0"/>
          </a:p>
          <a:p>
            <a:r>
              <a:rPr lang="en-US" dirty="0"/>
              <a:t>Instruct students to add any information they did not have in their brainstorm to their work.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05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Relevant to test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Discuss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Instruct students to add any information they did not have in their brainstorm to their work.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32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Relevant </a:t>
            </a:r>
            <a:r>
              <a:rPr lang="en-US" b="1"/>
              <a:t>to test (discussed in T1 L7 P.P.)</a:t>
            </a:r>
            <a:endParaRPr lang="en-US" b="1" dirty="0"/>
          </a:p>
          <a:p>
            <a:r>
              <a:rPr lang="en-US" dirty="0"/>
              <a:t>Discuss</a:t>
            </a:r>
          </a:p>
          <a:p>
            <a:r>
              <a:rPr lang="en-US" dirty="0"/>
              <a:t>FREEDOM example – if a person has been threatened, black mailed, tricked, coerced, forced, intimidated into having sex </a:t>
            </a:r>
            <a:r>
              <a:rPr lang="en-US" dirty="0">
                <a:sym typeface="Wingdings" pitchFamily="2" charset="2"/>
              </a:rPr>
              <a:t> consent cannot be given because the person has not had the freedom to make their own decision, they have been influenced by the other person’s behaviours.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43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OPTIONAL </a:t>
            </a:r>
            <a:r>
              <a:rPr lang="en-US" b="0" dirty="0"/>
              <a:t>– can also use this as a revision activity.</a:t>
            </a:r>
          </a:p>
          <a:p>
            <a:endParaRPr lang="en-US" b="1" dirty="0"/>
          </a:p>
          <a:p>
            <a:r>
              <a:rPr lang="en-US" b="1" dirty="0"/>
              <a:t>Resources required</a:t>
            </a:r>
            <a:r>
              <a:rPr lang="en-US" dirty="0"/>
              <a:t> – consent scenario cards + teacher information sheet (located in health storeroom).</a:t>
            </a:r>
          </a:p>
          <a:p>
            <a:endParaRPr lang="en-US" dirty="0"/>
          </a:p>
          <a:p>
            <a:r>
              <a:rPr lang="en-US" dirty="0"/>
              <a:t>Students work in groups of 4 max.</a:t>
            </a:r>
          </a:p>
          <a:p>
            <a:r>
              <a:rPr lang="en-US" dirty="0"/>
              <a:t>Give each group a different scenario.</a:t>
            </a:r>
          </a:p>
          <a:p>
            <a:r>
              <a:rPr lang="en-US" dirty="0"/>
              <a:t>Allow 5 minutes for students to read and discuss. </a:t>
            </a:r>
          </a:p>
          <a:p>
            <a:r>
              <a:rPr lang="en-US" dirty="0"/>
              <a:t>At the end of the 5 minutes, get each group to read out their scenario and their responses to the questions (if multiple groups have the same scenario, just get one group to share their answers.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71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40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OPTIONAL </a:t>
            </a:r>
          </a:p>
          <a:p>
            <a:r>
              <a:rPr lang="en-US" dirty="0"/>
              <a:t>Read answers from the whiteboard. Comment on any common answers. </a:t>
            </a:r>
          </a:p>
          <a:p>
            <a:endParaRPr lang="en-US" dirty="0"/>
          </a:p>
          <a:p>
            <a:r>
              <a:rPr lang="en-US" dirty="0"/>
              <a:t>Resources = sticky notes.</a:t>
            </a:r>
          </a:p>
          <a:p>
            <a:r>
              <a:rPr lang="en-US" dirty="0"/>
              <a:t>Sticky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94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Relevant to test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Fill in their books.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27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OPTIONAL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86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Approx. 7 mins</a:t>
            </a:r>
            <a:endParaRPr lang="en-US" b="1" dirty="0"/>
          </a:p>
          <a:p>
            <a:r>
              <a:rPr lang="en-US" b="1" dirty="0"/>
              <a:t>Any extra time can be used to continue with the next PP and the contraception methods. </a:t>
            </a:r>
          </a:p>
          <a:p>
            <a:endParaRPr lang="en-US" b="1" dirty="0"/>
          </a:p>
          <a:p>
            <a:r>
              <a:rPr lang="en-US" b="0" dirty="0"/>
              <a:t>Video talks about different methods of contraception and how they work, including how hormonal methods impact hormones and prevent pregnancy. </a:t>
            </a:r>
          </a:p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/kMY-v0F6bX0?si=E83uNy_WVzsVF1I9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923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OPTIONAL ACTIVITY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11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OPTIONAL ACTIVITY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02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answer into their 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61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3/4/24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7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13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49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21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19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56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9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1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4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1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3/4/24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3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5" r:id="rId6"/>
    <p:sldLayoutId id="2147484100" r:id="rId7"/>
    <p:sldLayoutId id="2147484101" r:id="rId8"/>
    <p:sldLayoutId id="2147484102" r:id="rId9"/>
    <p:sldLayoutId id="2147484104" r:id="rId10"/>
    <p:sldLayoutId id="214748410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MY-v0F6bX0?feature=oembed" TargetMode="External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inbow colored splatter&#10;&#10;Description automatically generated">
            <a:extLst>
              <a:ext uri="{FF2B5EF4-FFF2-40B4-BE49-F238E27FC236}">
                <a16:creationId xmlns:a16="http://schemas.microsoft.com/office/drawing/2014/main" id="{EEA83DFB-1DE6-B5DE-A972-635BA22480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47"/>
          <a:stretch/>
        </p:blipFill>
        <p:spPr>
          <a:xfrm>
            <a:off x="1298963" y="266542"/>
            <a:ext cx="9589477" cy="5394065"/>
          </a:xfrm>
          <a:prstGeom prst="rect">
            <a:avLst/>
          </a:prstGeom>
        </p:spPr>
      </p:pic>
      <p:pic>
        <p:nvPicPr>
          <p:cNvPr id="1028" name="Picture 4" descr="Sexually Transmitted Infections and HIV">
            <a:extLst>
              <a:ext uri="{FF2B5EF4-FFF2-40B4-BE49-F238E27FC236}">
                <a16:creationId xmlns:a16="http://schemas.microsoft.com/office/drawing/2014/main" id="{BDCE080E-9344-5EDA-E414-5ED90ABD4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312" t="22731" r="26524" b="12904"/>
          <a:stretch/>
        </p:blipFill>
        <p:spPr bwMode="auto">
          <a:xfrm>
            <a:off x="9472614" y="266542"/>
            <a:ext cx="2614612" cy="192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57FBC4-0AFB-ADB7-F057-3A6858549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pPr algn="ctr"/>
            <a:r>
              <a:rPr lang="en-US" sz="10000" dirty="0"/>
              <a:t>CONTRACEPTION &amp; STI’s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7FC79-1308-3C8D-6F49-05BF0614D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1060868"/>
          </a:xfrm>
        </p:spPr>
        <p:txBody>
          <a:bodyPr anchor="t">
            <a:normAutofit/>
          </a:bodyPr>
          <a:lstStyle/>
          <a:p>
            <a:pPr algn="ctr"/>
            <a:r>
              <a:rPr lang="en-US" sz="3200" b="1" dirty="0"/>
              <a:t>Year 10 Health 			Lesson 1			Term 2, 2024</a:t>
            </a:r>
          </a:p>
        </p:txBody>
      </p:sp>
      <p:sp>
        <p:nvSpPr>
          <p:cNvPr id="77" name="Rectangle 6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27432"/>
          </a:xfrm>
          <a:custGeom>
            <a:avLst/>
            <a:gdLst>
              <a:gd name="connsiteX0" fmla="*/ 0 w 4572000"/>
              <a:gd name="connsiteY0" fmla="*/ 0 h 27432"/>
              <a:gd name="connsiteX1" fmla="*/ 607423 w 4572000"/>
              <a:gd name="connsiteY1" fmla="*/ 0 h 27432"/>
              <a:gd name="connsiteX2" fmla="*/ 1123406 w 4572000"/>
              <a:gd name="connsiteY2" fmla="*/ 0 h 27432"/>
              <a:gd name="connsiteX3" fmla="*/ 1685109 w 4572000"/>
              <a:gd name="connsiteY3" fmla="*/ 0 h 27432"/>
              <a:gd name="connsiteX4" fmla="*/ 2383971 w 4572000"/>
              <a:gd name="connsiteY4" fmla="*/ 0 h 27432"/>
              <a:gd name="connsiteX5" fmla="*/ 2991394 w 4572000"/>
              <a:gd name="connsiteY5" fmla="*/ 0 h 27432"/>
              <a:gd name="connsiteX6" fmla="*/ 3553097 w 4572000"/>
              <a:gd name="connsiteY6" fmla="*/ 0 h 27432"/>
              <a:gd name="connsiteX7" fmla="*/ 4572000 w 4572000"/>
              <a:gd name="connsiteY7" fmla="*/ 0 h 27432"/>
              <a:gd name="connsiteX8" fmla="*/ 4572000 w 4572000"/>
              <a:gd name="connsiteY8" fmla="*/ 27432 h 27432"/>
              <a:gd name="connsiteX9" fmla="*/ 3918857 w 4572000"/>
              <a:gd name="connsiteY9" fmla="*/ 27432 h 27432"/>
              <a:gd name="connsiteX10" fmla="*/ 3357154 w 4572000"/>
              <a:gd name="connsiteY10" fmla="*/ 27432 h 27432"/>
              <a:gd name="connsiteX11" fmla="*/ 2612571 w 4572000"/>
              <a:gd name="connsiteY11" fmla="*/ 27432 h 27432"/>
              <a:gd name="connsiteX12" fmla="*/ 2005149 w 4572000"/>
              <a:gd name="connsiteY12" fmla="*/ 27432 h 27432"/>
              <a:gd name="connsiteX13" fmla="*/ 1489166 w 4572000"/>
              <a:gd name="connsiteY13" fmla="*/ 27432 h 27432"/>
              <a:gd name="connsiteX14" fmla="*/ 790303 w 4572000"/>
              <a:gd name="connsiteY14" fmla="*/ 27432 h 27432"/>
              <a:gd name="connsiteX15" fmla="*/ 0 w 4572000"/>
              <a:gd name="connsiteY15" fmla="*/ 27432 h 27432"/>
              <a:gd name="connsiteX16" fmla="*/ 0 w 457200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27432" fill="none" extrusionOk="0">
                <a:moveTo>
                  <a:pt x="0" y="0"/>
                </a:moveTo>
                <a:cubicBezTo>
                  <a:pt x="150397" y="-23421"/>
                  <a:pt x="474161" y="9174"/>
                  <a:pt x="607423" y="0"/>
                </a:cubicBezTo>
                <a:cubicBezTo>
                  <a:pt x="740685" y="-9174"/>
                  <a:pt x="868821" y="-4258"/>
                  <a:pt x="1123406" y="0"/>
                </a:cubicBezTo>
                <a:cubicBezTo>
                  <a:pt x="1377991" y="4258"/>
                  <a:pt x="1567664" y="-12410"/>
                  <a:pt x="1685109" y="0"/>
                </a:cubicBezTo>
                <a:cubicBezTo>
                  <a:pt x="1802554" y="12410"/>
                  <a:pt x="2193086" y="-14353"/>
                  <a:pt x="2383971" y="0"/>
                </a:cubicBezTo>
                <a:cubicBezTo>
                  <a:pt x="2574856" y="14353"/>
                  <a:pt x="2697477" y="-26142"/>
                  <a:pt x="2991394" y="0"/>
                </a:cubicBezTo>
                <a:cubicBezTo>
                  <a:pt x="3285311" y="26142"/>
                  <a:pt x="3423667" y="26544"/>
                  <a:pt x="3553097" y="0"/>
                </a:cubicBezTo>
                <a:cubicBezTo>
                  <a:pt x="3682527" y="-26544"/>
                  <a:pt x="4344147" y="50350"/>
                  <a:pt x="4572000" y="0"/>
                </a:cubicBezTo>
                <a:cubicBezTo>
                  <a:pt x="4571027" y="8304"/>
                  <a:pt x="4571522" y="21512"/>
                  <a:pt x="4572000" y="27432"/>
                </a:cubicBezTo>
                <a:cubicBezTo>
                  <a:pt x="4438349" y="5490"/>
                  <a:pt x="4090129" y="31231"/>
                  <a:pt x="3918857" y="27432"/>
                </a:cubicBezTo>
                <a:cubicBezTo>
                  <a:pt x="3747585" y="23633"/>
                  <a:pt x="3498826" y="6883"/>
                  <a:pt x="3357154" y="27432"/>
                </a:cubicBezTo>
                <a:cubicBezTo>
                  <a:pt x="3215482" y="47981"/>
                  <a:pt x="2784289" y="56849"/>
                  <a:pt x="2612571" y="27432"/>
                </a:cubicBezTo>
                <a:cubicBezTo>
                  <a:pt x="2440853" y="-1985"/>
                  <a:pt x="2261292" y="25951"/>
                  <a:pt x="2005149" y="27432"/>
                </a:cubicBezTo>
                <a:cubicBezTo>
                  <a:pt x="1749006" y="28913"/>
                  <a:pt x="1700078" y="34342"/>
                  <a:pt x="1489166" y="27432"/>
                </a:cubicBezTo>
                <a:cubicBezTo>
                  <a:pt x="1278254" y="20522"/>
                  <a:pt x="1077188" y="56916"/>
                  <a:pt x="790303" y="27432"/>
                </a:cubicBezTo>
                <a:cubicBezTo>
                  <a:pt x="503418" y="-2052"/>
                  <a:pt x="359168" y="57044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572000" h="27432" stroke="0" extrusionOk="0">
                <a:moveTo>
                  <a:pt x="0" y="0"/>
                </a:moveTo>
                <a:cubicBezTo>
                  <a:pt x="155698" y="6780"/>
                  <a:pt x="465972" y="13197"/>
                  <a:pt x="607423" y="0"/>
                </a:cubicBezTo>
                <a:cubicBezTo>
                  <a:pt x="748874" y="-13197"/>
                  <a:pt x="1014133" y="22994"/>
                  <a:pt x="1123406" y="0"/>
                </a:cubicBezTo>
                <a:cubicBezTo>
                  <a:pt x="1232679" y="-22994"/>
                  <a:pt x="1639431" y="-2997"/>
                  <a:pt x="1867989" y="0"/>
                </a:cubicBezTo>
                <a:cubicBezTo>
                  <a:pt x="2096547" y="2997"/>
                  <a:pt x="2265668" y="29557"/>
                  <a:pt x="2475411" y="0"/>
                </a:cubicBezTo>
                <a:cubicBezTo>
                  <a:pt x="2685154" y="-29557"/>
                  <a:pt x="2951491" y="73"/>
                  <a:pt x="3082834" y="0"/>
                </a:cubicBezTo>
                <a:cubicBezTo>
                  <a:pt x="3214177" y="-73"/>
                  <a:pt x="3641000" y="-33478"/>
                  <a:pt x="3827417" y="0"/>
                </a:cubicBezTo>
                <a:cubicBezTo>
                  <a:pt x="4013834" y="33478"/>
                  <a:pt x="4345917" y="14255"/>
                  <a:pt x="4572000" y="0"/>
                </a:cubicBezTo>
                <a:cubicBezTo>
                  <a:pt x="4572485" y="9333"/>
                  <a:pt x="4573278" y="19699"/>
                  <a:pt x="4572000" y="27432"/>
                </a:cubicBezTo>
                <a:cubicBezTo>
                  <a:pt x="4318030" y="43025"/>
                  <a:pt x="4161104" y="34314"/>
                  <a:pt x="4010297" y="27432"/>
                </a:cubicBezTo>
                <a:cubicBezTo>
                  <a:pt x="3859490" y="20550"/>
                  <a:pt x="3592529" y="6613"/>
                  <a:pt x="3357154" y="27432"/>
                </a:cubicBezTo>
                <a:cubicBezTo>
                  <a:pt x="3121779" y="48251"/>
                  <a:pt x="2884285" y="3780"/>
                  <a:pt x="2704011" y="27432"/>
                </a:cubicBezTo>
                <a:cubicBezTo>
                  <a:pt x="2523737" y="51084"/>
                  <a:pt x="2295944" y="32081"/>
                  <a:pt x="2096589" y="27432"/>
                </a:cubicBezTo>
                <a:cubicBezTo>
                  <a:pt x="1897234" y="22783"/>
                  <a:pt x="1623782" y="52518"/>
                  <a:pt x="1352006" y="27432"/>
                </a:cubicBezTo>
                <a:cubicBezTo>
                  <a:pt x="1080230" y="2346"/>
                  <a:pt x="869959" y="12864"/>
                  <a:pt x="607423" y="27432"/>
                </a:cubicBezTo>
                <a:cubicBezTo>
                  <a:pt x="344887" y="42000"/>
                  <a:pt x="188100" y="40051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7EB8FB"/>
          </a:solidFill>
          <a:ln w="38100" cap="rnd">
            <a:solidFill>
              <a:srgbClr val="7EB8FB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Date Placeholder 26">
            <a:extLst>
              <a:ext uri="{FF2B5EF4-FFF2-40B4-BE49-F238E27FC236}">
                <a16:creationId xmlns:a16="http://schemas.microsoft.com/office/drawing/2014/main" id="{F28B82B1-E269-4325-A665-6CFE5DEE5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Footer Placeholder 27">
            <a:extLst>
              <a:ext uri="{FF2B5EF4-FFF2-40B4-BE49-F238E27FC236}">
                <a16:creationId xmlns:a16="http://schemas.microsoft.com/office/drawing/2014/main" id="{7C700527-76FD-4DF4-A597-6F5E089CA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Slide Number Placeholder 28">
            <a:extLst>
              <a:ext uri="{FF2B5EF4-FFF2-40B4-BE49-F238E27FC236}">
                <a16:creationId xmlns:a16="http://schemas.microsoft.com/office/drawing/2014/main" id="{B5EA49A9-01EB-4D60-A392-7DC9B625D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11111E-6 C -0.01679 -0.02407 -0.07395 -0.04745 -0.09492 -0.04745 C -0.22226 -0.04745 -0.35377 0.32408 -0.35377 0.69583 C -0.35377 0.50857 -0.41966 0.32408 -0.48112 0.32408 C -0.547 0.32408 -0.60846 0.51134 -0.60846 0.69583 C -0.60846 0.60347 -0.64114 0.50857 -0.67421 0.50857 C -0.70703 0.50857 -0.74023 0.6007 -0.74023 0.69583 C -0.74023 0.64815 -0.75664 0.60347 -0.77278 0.60347 C -0.78945 0.60347 -0.80546 0.65093 -0.80546 0.69583 C -0.80546 0.67153 -0.81341 0.64815 -0.822 0.64815 C -0.8263 0.64815 -0.83867 0.67222 -0.83867 0.69583 C -0.83867 0.68403 -0.84296 0.67153 -0.84661 0.67153 C -0.84661 0.66898 -0.85468 0.68333 -0.85468 0.69583 C -0.85468 0.68958 -0.85468 0.68403 -0.85898 0.68403 C -0.85898 0.68681 -0.86328 0.69028 -0.86328 0.69583 C -0.86328 0.69306 -0.86328 0.68958 -0.86328 0.68681 C -0.86757 0.68681 -0.86757 0.68958 -0.86757 0.69306 C -0.87187 0.69306 -0.87187 0.69028 -0.87187 0.68681 C -0.87591 0.68681 -0.87591 0.68958 -0.87591 0.69306 " pathEditMode="relative" rAng="0" ptsTypes="AAAAAAAAAAAAAAAAAAA">
                                      <p:cBhvr>
                                        <p:cTn id="9" dur="5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02" y="3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C8ADB5-162A-8C05-ED74-E3E4A1847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/>
              <a:t>Term 2: Program &amp; Assessments</a:t>
            </a:r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4992" y="1557877"/>
            <a:ext cx="18288" cy="3749040"/>
          </a:xfrm>
          <a:custGeom>
            <a:avLst/>
            <a:gdLst>
              <a:gd name="connsiteX0" fmla="*/ 0 w 18288"/>
              <a:gd name="connsiteY0" fmla="*/ 0 h 3749040"/>
              <a:gd name="connsiteX1" fmla="*/ 18288 w 18288"/>
              <a:gd name="connsiteY1" fmla="*/ 0 h 3749040"/>
              <a:gd name="connsiteX2" fmla="*/ 18288 w 18288"/>
              <a:gd name="connsiteY2" fmla="*/ 662330 h 3749040"/>
              <a:gd name="connsiteX3" fmla="*/ 18288 w 18288"/>
              <a:gd name="connsiteY3" fmla="*/ 1174699 h 3749040"/>
              <a:gd name="connsiteX4" fmla="*/ 18288 w 18288"/>
              <a:gd name="connsiteY4" fmla="*/ 1724558 h 3749040"/>
              <a:gd name="connsiteX5" fmla="*/ 18288 w 18288"/>
              <a:gd name="connsiteY5" fmla="*/ 2424379 h 3749040"/>
              <a:gd name="connsiteX6" fmla="*/ 18288 w 18288"/>
              <a:gd name="connsiteY6" fmla="*/ 3049219 h 3749040"/>
              <a:gd name="connsiteX7" fmla="*/ 18288 w 18288"/>
              <a:gd name="connsiteY7" fmla="*/ 3749040 h 3749040"/>
              <a:gd name="connsiteX8" fmla="*/ 0 w 18288"/>
              <a:gd name="connsiteY8" fmla="*/ 3749040 h 3749040"/>
              <a:gd name="connsiteX9" fmla="*/ 0 w 18288"/>
              <a:gd name="connsiteY9" fmla="*/ 3236671 h 3749040"/>
              <a:gd name="connsiteX10" fmla="*/ 0 w 18288"/>
              <a:gd name="connsiteY10" fmla="*/ 2536850 h 3749040"/>
              <a:gd name="connsiteX11" fmla="*/ 0 w 18288"/>
              <a:gd name="connsiteY11" fmla="*/ 1874520 h 3749040"/>
              <a:gd name="connsiteX12" fmla="*/ 0 w 18288"/>
              <a:gd name="connsiteY12" fmla="*/ 1362151 h 3749040"/>
              <a:gd name="connsiteX13" fmla="*/ 0 w 18288"/>
              <a:gd name="connsiteY13" fmla="*/ 774802 h 3749040"/>
              <a:gd name="connsiteX14" fmla="*/ 0 w 18288"/>
              <a:gd name="connsiteY14" fmla="*/ 0 h 374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288" h="3749040" fill="none" extrusionOk="0">
                <a:moveTo>
                  <a:pt x="0" y="0"/>
                </a:moveTo>
                <a:cubicBezTo>
                  <a:pt x="8690" y="407"/>
                  <a:pt x="14141" y="154"/>
                  <a:pt x="18288" y="0"/>
                </a:cubicBezTo>
                <a:cubicBezTo>
                  <a:pt x="34838" y="143586"/>
                  <a:pt x="-11860" y="333097"/>
                  <a:pt x="18288" y="662330"/>
                </a:cubicBezTo>
                <a:cubicBezTo>
                  <a:pt x="48436" y="991563"/>
                  <a:pt x="32813" y="1046681"/>
                  <a:pt x="18288" y="1174699"/>
                </a:cubicBezTo>
                <a:cubicBezTo>
                  <a:pt x="3763" y="1302717"/>
                  <a:pt x="40974" y="1467838"/>
                  <a:pt x="18288" y="1724558"/>
                </a:cubicBezTo>
                <a:cubicBezTo>
                  <a:pt x="-4398" y="1981278"/>
                  <a:pt x="36650" y="2215729"/>
                  <a:pt x="18288" y="2424379"/>
                </a:cubicBezTo>
                <a:cubicBezTo>
                  <a:pt x="-74" y="2633029"/>
                  <a:pt x="-9881" y="2874703"/>
                  <a:pt x="18288" y="3049219"/>
                </a:cubicBezTo>
                <a:cubicBezTo>
                  <a:pt x="46457" y="3223735"/>
                  <a:pt x="4078" y="3453850"/>
                  <a:pt x="18288" y="3749040"/>
                </a:cubicBezTo>
                <a:cubicBezTo>
                  <a:pt x="14465" y="3749751"/>
                  <a:pt x="7675" y="3748271"/>
                  <a:pt x="0" y="3749040"/>
                </a:cubicBezTo>
                <a:cubicBezTo>
                  <a:pt x="19669" y="3507959"/>
                  <a:pt x="-9883" y="3339386"/>
                  <a:pt x="0" y="3236671"/>
                </a:cubicBezTo>
                <a:cubicBezTo>
                  <a:pt x="9883" y="3133956"/>
                  <a:pt x="26871" y="2857214"/>
                  <a:pt x="0" y="2536850"/>
                </a:cubicBezTo>
                <a:cubicBezTo>
                  <a:pt x="-26871" y="2216486"/>
                  <a:pt x="4790" y="2156616"/>
                  <a:pt x="0" y="1874520"/>
                </a:cubicBezTo>
                <a:cubicBezTo>
                  <a:pt x="-4790" y="1592424"/>
                  <a:pt x="-3117" y="1558688"/>
                  <a:pt x="0" y="1362151"/>
                </a:cubicBezTo>
                <a:cubicBezTo>
                  <a:pt x="3117" y="1165614"/>
                  <a:pt x="16802" y="1045125"/>
                  <a:pt x="0" y="774802"/>
                </a:cubicBezTo>
                <a:cubicBezTo>
                  <a:pt x="-16802" y="504479"/>
                  <a:pt x="-29640" y="377701"/>
                  <a:pt x="0" y="0"/>
                </a:cubicBezTo>
                <a:close/>
              </a:path>
              <a:path w="18288" h="3749040" stroke="0" extrusionOk="0">
                <a:moveTo>
                  <a:pt x="0" y="0"/>
                </a:moveTo>
                <a:cubicBezTo>
                  <a:pt x="5341" y="9"/>
                  <a:pt x="11148" y="-611"/>
                  <a:pt x="18288" y="0"/>
                </a:cubicBezTo>
                <a:cubicBezTo>
                  <a:pt x="33352" y="227288"/>
                  <a:pt x="30894" y="278824"/>
                  <a:pt x="18288" y="512369"/>
                </a:cubicBezTo>
                <a:cubicBezTo>
                  <a:pt x="5682" y="745914"/>
                  <a:pt x="53060" y="998220"/>
                  <a:pt x="18288" y="1212190"/>
                </a:cubicBezTo>
                <a:cubicBezTo>
                  <a:pt x="-16484" y="1426160"/>
                  <a:pt x="35474" y="1585099"/>
                  <a:pt x="18288" y="1837030"/>
                </a:cubicBezTo>
                <a:cubicBezTo>
                  <a:pt x="1102" y="2088961"/>
                  <a:pt x="16704" y="2251948"/>
                  <a:pt x="18288" y="2386889"/>
                </a:cubicBezTo>
                <a:cubicBezTo>
                  <a:pt x="19872" y="2521830"/>
                  <a:pt x="5902" y="2679005"/>
                  <a:pt x="18288" y="2936748"/>
                </a:cubicBezTo>
                <a:cubicBezTo>
                  <a:pt x="30674" y="3194491"/>
                  <a:pt x="13809" y="3416052"/>
                  <a:pt x="18288" y="3749040"/>
                </a:cubicBezTo>
                <a:cubicBezTo>
                  <a:pt x="9729" y="3749861"/>
                  <a:pt x="3965" y="3749683"/>
                  <a:pt x="0" y="3749040"/>
                </a:cubicBezTo>
                <a:cubicBezTo>
                  <a:pt x="-10152" y="3632102"/>
                  <a:pt x="-5013" y="3340136"/>
                  <a:pt x="0" y="3236671"/>
                </a:cubicBezTo>
                <a:cubicBezTo>
                  <a:pt x="5013" y="3133206"/>
                  <a:pt x="-27249" y="2814766"/>
                  <a:pt x="0" y="2649322"/>
                </a:cubicBezTo>
                <a:cubicBezTo>
                  <a:pt x="27249" y="2483878"/>
                  <a:pt x="8506" y="2308131"/>
                  <a:pt x="0" y="2061972"/>
                </a:cubicBezTo>
                <a:cubicBezTo>
                  <a:pt x="-8506" y="1815813"/>
                  <a:pt x="-14267" y="1574470"/>
                  <a:pt x="0" y="1399642"/>
                </a:cubicBezTo>
                <a:cubicBezTo>
                  <a:pt x="14267" y="1224814"/>
                  <a:pt x="-24839" y="1011862"/>
                  <a:pt x="0" y="812292"/>
                </a:cubicBezTo>
                <a:cubicBezTo>
                  <a:pt x="24839" y="612722"/>
                  <a:pt x="20220" y="372179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4C91D-F554-AA2E-472D-20465E3B3919}"/>
              </a:ext>
            </a:extLst>
          </p:cNvPr>
          <p:cNvSpPr>
            <a:spLocks/>
          </p:cNvSpPr>
          <p:nvPr/>
        </p:nvSpPr>
        <p:spPr>
          <a:xfrm>
            <a:off x="4481661" y="276223"/>
            <a:ext cx="3895591" cy="813167"/>
          </a:xfrm>
          <a:prstGeom prst="rect">
            <a:avLst/>
          </a:prstGeom>
        </p:spPr>
        <p:txBody>
          <a:bodyPr/>
          <a:lstStyle/>
          <a:p>
            <a:pPr defTabSz="566928">
              <a:spcAft>
                <a:spcPts val="600"/>
              </a:spcAft>
            </a:pPr>
            <a:r>
              <a:rPr lang="en-US" sz="40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PROGRAM:</a:t>
            </a:r>
            <a:endParaRPr lang="en-US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31936-2F40-DC1A-BDB6-E1590B9AE6DD}"/>
              </a:ext>
            </a:extLst>
          </p:cNvPr>
          <p:cNvSpPr>
            <a:spLocks/>
          </p:cNvSpPr>
          <p:nvPr/>
        </p:nvSpPr>
        <p:spPr>
          <a:xfrm>
            <a:off x="5030886" y="988308"/>
            <a:ext cx="5352808" cy="2041529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566928">
              <a:spcAft>
                <a:spcPts val="600"/>
              </a:spcAft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Weeks 1 – 4: Contraception.</a:t>
            </a:r>
          </a:p>
          <a:p>
            <a:pPr defTabSz="566928">
              <a:spcAft>
                <a:spcPts val="600"/>
              </a:spcAft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Weeks 5 – 11: Sexually Transmitted Infections</a:t>
            </a:r>
            <a:r>
              <a:rPr lang="en-US" sz="111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defTabSz="566928">
              <a:spcAft>
                <a:spcPts val="600"/>
              </a:spcAft>
            </a:pPr>
            <a:endParaRPr lang="en-US" sz="1116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22BDFD-0412-54C4-46B5-01E3B40E665D}"/>
              </a:ext>
            </a:extLst>
          </p:cNvPr>
          <p:cNvSpPr>
            <a:spLocks/>
          </p:cNvSpPr>
          <p:nvPr/>
        </p:nvSpPr>
        <p:spPr>
          <a:xfrm>
            <a:off x="4481661" y="2238577"/>
            <a:ext cx="3895591" cy="761316"/>
          </a:xfrm>
          <a:prstGeom prst="rect">
            <a:avLst/>
          </a:prstGeom>
        </p:spPr>
        <p:txBody>
          <a:bodyPr/>
          <a:lstStyle/>
          <a:p>
            <a:pPr defTabSz="566928">
              <a:spcAft>
                <a:spcPts val="600"/>
              </a:spcAft>
            </a:pPr>
            <a:r>
              <a:rPr lang="en-US" sz="40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ASSESSMENTS:</a:t>
            </a:r>
            <a:endParaRPr lang="en-US" sz="4000" b="1" i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D8AB44-0E76-CF80-4DEE-72F1B463FC16}"/>
              </a:ext>
            </a:extLst>
          </p:cNvPr>
          <p:cNvSpPr>
            <a:spLocks/>
          </p:cNvSpPr>
          <p:nvPr/>
        </p:nvSpPr>
        <p:spPr>
          <a:xfrm>
            <a:off x="5030885" y="2943625"/>
            <a:ext cx="6797686" cy="3376133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 defTabSz="56692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Assessment Task 2: Topic Test (week 4)</a:t>
            </a:r>
          </a:p>
          <a:p>
            <a:pPr marL="566928" lvl="2" defTabSz="566928">
              <a:spcAft>
                <a:spcPts val="600"/>
              </a:spcAft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Contraception</a:t>
            </a:r>
          </a:p>
          <a:p>
            <a:pPr marL="566928" lvl="2" defTabSz="566928">
              <a:spcAft>
                <a:spcPts val="600"/>
              </a:spcAft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Consent and the law</a:t>
            </a:r>
          </a:p>
          <a:p>
            <a:pPr marL="566928" lvl="2" defTabSz="566928">
              <a:spcAft>
                <a:spcPts val="600"/>
              </a:spcAft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Options for and impact of unplanned pregnancy</a:t>
            </a:r>
          </a:p>
          <a:p>
            <a:pPr marL="457200" indent="-457200" defTabSz="56692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Health Attributes.</a:t>
            </a:r>
          </a:p>
          <a:p>
            <a:pPr marL="457200" indent="-457200" defTabSz="56692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Assessment Task 3: STI Presentation (weeks 9 – 11)</a:t>
            </a:r>
          </a:p>
          <a:p>
            <a:pPr marL="566928" lvl="2" defTabSz="566928">
              <a:spcAft>
                <a:spcPts val="600"/>
              </a:spcAft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Contributes to semester 2 reports.</a:t>
            </a:r>
            <a:endParaRPr lang="en-US" sz="2800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421BF145-3964-F1FC-7689-F3E88CF83C16}"/>
              </a:ext>
            </a:extLst>
          </p:cNvPr>
          <p:cNvSpPr/>
          <p:nvPr/>
        </p:nvSpPr>
        <p:spPr>
          <a:xfrm>
            <a:off x="10146448" y="4098941"/>
            <a:ext cx="893693" cy="942399"/>
          </a:xfrm>
          <a:prstGeom prst="rightBrace">
            <a:avLst>
              <a:gd name="adj1" fmla="val 8333"/>
              <a:gd name="adj2" fmla="val 51471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F6908-4D8D-641B-B17C-32FCE5234C92}"/>
              </a:ext>
            </a:extLst>
          </p:cNvPr>
          <p:cNvSpPr txBox="1"/>
          <p:nvPr/>
        </p:nvSpPr>
        <p:spPr>
          <a:xfrm>
            <a:off x="10837214" y="4216197"/>
            <a:ext cx="991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66928">
              <a:spcAft>
                <a:spcPts val="600"/>
              </a:spcAft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 1 content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505119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4FFB5-DE23-4D74-BEF9-CC7D947D3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6600"/>
              <a:t>Today’s Focus</a:t>
            </a: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onnsiteX0" fmla="*/ 0 w 3931920"/>
              <a:gd name="connsiteY0" fmla="*/ 0 h 27432"/>
              <a:gd name="connsiteX1" fmla="*/ 733958 w 3931920"/>
              <a:gd name="connsiteY1" fmla="*/ 0 h 27432"/>
              <a:gd name="connsiteX2" fmla="*/ 1428598 w 3931920"/>
              <a:gd name="connsiteY2" fmla="*/ 0 h 27432"/>
              <a:gd name="connsiteX3" fmla="*/ 2123237 w 3931920"/>
              <a:gd name="connsiteY3" fmla="*/ 0 h 27432"/>
              <a:gd name="connsiteX4" fmla="*/ 2660599 w 3931920"/>
              <a:gd name="connsiteY4" fmla="*/ 0 h 27432"/>
              <a:gd name="connsiteX5" fmla="*/ 3237281 w 3931920"/>
              <a:gd name="connsiteY5" fmla="*/ 0 h 27432"/>
              <a:gd name="connsiteX6" fmla="*/ 3931920 w 3931920"/>
              <a:gd name="connsiteY6" fmla="*/ 0 h 27432"/>
              <a:gd name="connsiteX7" fmla="*/ 3931920 w 3931920"/>
              <a:gd name="connsiteY7" fmla="*/ 27432 h 27432"/>
              <a:gd name="connsiteX8" fmla="*/ 3276600 w 3931920"/>
              <a:gd name="connsiteY8" fmla="*/ 27432 h 27432"/>
              <a:gd name="connsiteX9" fmla="*/ 2739238 w 3931920"/>
              <a:gd name="connsiteY9" fmla="*/ 27432 h 27432"/>
              <a:gd name="connsiteX10" fmla="*/ 2201875 w 3931920"/>
              <a:gd name="connsiteY10" fmla="*/ 27432 h 27432"/>
              <a:gd name="connsiteX11" fmla="*/ 1507236 w 3931920"/>
              <a:gd name="connsiteY11" fmla="*/ 27432 h 27432"/>
              <a:gd name="connsiteX12" fmla="*/ 930554 w 3931920"/>
              <a:gd name="connsiteY12" fmla="*/ 27432 h 27432"/>
              <a:gd name="connsiteX13" fmla="*/ 0 w 3931920"/>
              <a:gd name="connsiteY13" fmla="*/ 27432 h 27432"/>
              <a:gd name="connsiteX14" fmla="*/ 0 w 3931920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E5B399"/>
          </a:solidFill>
          <a:ln w="38100" cap="rnd">
            <a:solidFill>
              <a:srgbClr val="E5B39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3D7FC-176D-B898-C622-E503B972C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/>
              <a:t>Review consent.</a:t>
            </a:r>
          </a:p>
          <a:p>
            <a:r>
              <a:rPr lang="en-US"/>
              <a:t>Introduction to contraception.</a:t>
            </a:r>
            <a:endParaRPr lang="en-US" dirty="0"/>
          </a:p>
        </p:txBody>
      </p:sp>
      <p:pic>
        <p:nvPicPr>
          <p:cNvPr id="5" name="Picture 4" descr="Writing an appointment on a paper agenda">
            <a:extLst>
              <a:ext uri="{FF2B5EF4-FFF2-40B4-BE49-F238E27FC236}">
                <a16:creationId xmlns:a16="http://schemas.microsoft.com/office/drawing/2014/main" id="{EDE161DE-AC56-B92C-DAD0-35C65DB943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04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65893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A92E-C080-69D7-AA64-9B135DE80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1: CONSENT REVIEW – BRAINSTORM (pg.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A4EC3-13F7-33F6-9B6F-71AB5ABD9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Brainstorm everything you can recall on CONSENT:</a:t>
            </a:r>
          </a:p>
          <a:p>
            <a:pPr lvl="1"/>
            <a:r>
              <a:rPr lang="en-US" dirty="0"/>
              <a:t>What is it?</a:t>
            </a:r>
          </a:p>
          <a:p>
            <a:pPr lvl="1"/>
            <a:r>
              <a:rPr lang="en-US" dirty="0"/>
              <a:t>Examples of how to ask for consent.</a:t>
            </a:r>
          </a:p>
          <a:p>
            <a:pPr lvl="1"/>
            <a:r>
              <a:rPr lang="en-US" dirty="0"/>
              <a:t>How can consent be given?</a:t>
            </a:r>
          </a:p>
          <a:p>
            <a:pPr lvl="1"/>
            <a:r>
              <a:rPr lang="en-US" dirty="0"/>
              <a:t>When can consent NOT be given?</a:t>
            </a:r>
          </a:p>
          <a:p>
            <a:pPr lvl="1"/>
            <a:r>
              <a:rPr lang="en-US" dirty="0"/>
              <a:t>Consent and the law.</a:t>
            </a:r>
          </a:p>
          <a:p>
            <a:pPr lvl="1"/>
            <a:endParaRPr lang="en-US" dirty="0"/>
          </a:p>
          <a:p>
            <a:r>
              <a:rPr lang="en-US" dirty="0"/>
              <a:t>You have 5 minutes. 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6251D871-533F-D40E-32B4-1F125A2787B3}"/>
              </a:ext>
            </a:extLst>
          </p:cNvPr>
          <p:cNvSpPr/>
          <p:nvPr/>
        </p:nvSpPr>
        <p:spPr>
          <a:xfrm>
            <a:off x="6832600" y="2575814"/>
            <a:ext cx="4686300" cy="2959100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A66F1D-C717-75F9-BFC6-AB5E98E47F9C}"/>
              </a:ext>
            </a:extLst>
          </p:cNvPr>
          <p:cNvSpPr txBox="1"/>
          <p:nvPr/>
        </p:nvSpPr>
        <p:spPr>
          <a:xfrm>
            <a:off x="7658100" y="3200400"/>
            <a:ext cx="2819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u="sng" dirty="0"/>
              <a:t>CONSENT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2CD852-55F3-9048-9F9D-16AC55AD1F27}"/>
              </a:ext>
            </a:extLst>
          </p:cNvPr>
          <p:cNvCxnSpPr/>
          <p:nvPr/>
        </p:nvCxnSpPr>
        <p:spPr>
          <a:xfrm flipH="1" flipV="1">
            <a:off x="7658100" y="1954784"/>
            <a:ext cx="698500" cy="96621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80E977-4D44-2131-BA59-D96877BBCCB4}"/>
              </a:ext>
            </a:extLst>
          </p:cNvPr>
          <p:cNvCxnSpPr>
            <a:cxnSpLocks/>
          </p:cNvCxnSpPr>
          <p:nvPr/>
        </p:nvCxnSpPr>
        <p:spPr>
          <a:xfrm flipH="1">
            <a:off x="5842000" y="4343400"/>
            <a:ext cx="1193800" cy="42666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2EA967-58AA-EFD3-76F1-8D2B8636217F}"/>
              </a:ext>
            </a:extLst>
          </p:cNvPr>
          <p:cNvCxnSpPr>
            <a:cxnSpLocks/>
          </p:cNvCxnSpPr>
          <p:nvPr/>
        </p:nvCxnSpPr>
        <p:spPr>
          <a:xfrm flipH="1">
            <a:off x="8255000" y="5262372"/>
            <a:ext cx="342900" cy="1072231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E1EF6B-5EE4-1DD8-261F-C7B821B8DE58}"/>
              </a:ext>
            </a:extLst>
          </p:cNvPr>
          <p:cNvCxnSpPr>
            <a:cxnSpLocks/>
          </p:cNvCxnSpPr>
          <p:nvPr/>
        </p:nvCxnSpPr>
        <p:spPr>
          <a:xfrm>
            <a:off x="9931400" y="5074860"/>
            <a:ext cx="698500" cy="1106484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A20B29-8153-B7DF-608B-3D1CD7D8D969}"/>
              </a:ext>
            </a:extLst>
          </p:cNvPr>
          <p:cNvCxnSpPr>
            <a:cxnSpLocks/>
          </p:cNvCxnSpPr>
          <p:nvPr/>
        </p:nvCxnSpPr>
        <p:spPr>
          <a:xfrm flipV="1">
            <a:off x="11328400" y="3429000"/>
            <a:ext cx="571500" cy="25400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4CBC028-92C5-F827-893B-36377700C2D9}"/>
              </a:ext>
            </a:extLst>
          </p:cNvPr>
          <p:cNvCxnSpPr>
            <a:cxnSpLocks/>
          </p:cNvCxnSpPr>
          <p:nvPr/>
        </p:nvCxnSpPr>
        <p:spPr>
          <a:xfrm flipV="1">
            <a:off x="10058400" y="1954784"/>
            <a:ext cx="419100" cy="778704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353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02DFD-7E3B-C32E-7E35-702B968F3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What is Consent? (pg.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F0FAD-B2BF-B83E-2B3E-F1FC129AC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3"/>
            <a:ext cx="10515600" cy="4563491"/>
          </a:xfrm>
        </p:spPr>
        <p:txBody>
          <a:bodyPr/>
          <a:lstStyle/>
          <a:p>
            <a:r>
              <a:rPr lang="en-US" dirty="0"/>
              <a:t>Consent is…</a:t>
            </a:r>
          </a:p>
          <a:p>
            <a:pPr lvl="1"/>
            <a:r>
              <a:rPr lang="en-US" dirty="0"/>
              <a:t>Active, not passive. </a:t>
            </a:r>
          </a:p>
          <a:p>
            <a:pPr lvl="1"/>
            <a:r>
              <a:rPr lang="en-US" dirty="0"/>
              <a:t>The presence of an enthusiastic yes (not the absence of a no). </a:t>
            </a:r>
          </a:p>
          <a:p>
            <a:pPr lvl="1"/>
            <a:r>
              <a:rPr lang="en-US" dirty="0"/>
              <a:t>An ongoing conversation.</a:t>
            </a:r>
          </a:p>
          <a:p>
            <a:pPr lvl="1"/>
            <a:r>
              <a:rPr lang="en-US" dirty="0"/>
              <a:t>Respect.</a:t>
            </a:r>
          </a:p>
          <a:p>
            <a:pPr lvl="1"/>
            <a:r>
              <a:rPr lang="en-US" dirty="0"/>
              <a:t>An agreement freely made, or permission given without coercion, force, threats, manipulation, or intimidation etc. </a:t>
            </a:r>
          </a:p>
          <a:p>
            <a:pPr lvl="1"/>
            <a:r>
              <a:rPr lang="en-US" dirty="0"/>
              <a:t>Only able to given by those 16 years and above.</a:t>
            </a:r>
          </a:p>
          <a:p>
            <a:r>
              <a:rPr lang="en-US" dirty="0"/>
              <a:t>Sexual consent is when both partners agree to engage in any kind of sexual behaviours. </a:t>
            </a:r>
          </a:p>
          <a:p>
            <a:r>
              <a:rPr lang="en-US" dirty="0"/>
              <a:t>It can be withdrawn at ANY time and is only applicable to the specific act at that specific time. </a:t>
            </a:r>
          </a:p>
        </p:txBody>
      </p:sp>
    </p:spTree>
    <p:extLst>
      <p:ext uri="{BB962C8B-B14F-4D97-AF65-F5344CB8AC3E}">
        <p14:creationId xmlns:p14="http://schemas.microsoft.com/office/powerpoint/2010/main" val="305283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26D2-3BD7-8B18-D6EC-208B4896A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Consent (pg.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11722-7830-77D7-FB3A-F6C7C18B5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2800" dirty="0"/>
              <a:t>Giving consent is active, not passive. </a:t>
            </a:r>
            <a:r>
              <a:rPr lang="en-AU" dirty="0"/>
              <a:t>This</a:t>
            </a:r>
            <a:r>
              <a:rPr lang="en-AU" sz="2800" dirty="0"/>
              <a:t> means freely choosing to say 'yes' and also being free to change your mind at any time. </a:t>
            </a:r>
          </a:p>
          <a:p>
            <a:r>
              <a:rPr lang="en-AU" sz="2800" dirty="0"/>
              <a:t>In Western Australia, the </a:t>
            </a:r>
            <a:r>
              <a:rPr lang="en-AU" sz="2800" b="1" dirty="0"/>
              <a:t>legal age for males and females to consent to sexual activity is 16 years of age</a:t>
            </a:r>
            <a:r>
              <a:rPr lang="en-AU" sz="2800" dirty="0"/>
              <a:t>. If you have sex with someone who is under 16 years of age it is a crime.</a:t>
            </a:r>
          </a:p>
          <a:p>
            <a:endParaRPr lang="en-AU" dirty="0"/>
          </a:p>
          <a:p>
            <a:r>
              <a:rPr lang="en-AU" sz="2800" dirty="0"/>
              <a:t>Consent can be:</a:t>
            </a:r>
          </a:p>
          <a:p>
            <a:pPr lvl="1"/>
            <a:r>
              <a:rPr lang="en-AU" sz="2800" b="1" dirty="0">
                <a:solidFill>
                  <a:srgbClr val="FF0000"/>
                </a:solidFill>
              </a:rPr>
              <a:t>VERBAL</a:t>
            </a:r>
            <a:r>
              <a:rPr lang="en-AU" sz="2800" dirty="0"/>
              <a:t> – a clearly, spoken agreement.</a:t>
            </a:r>
          </a:p>
          <a:p>
            <a:pPr lvl="1"/>
            <a:r>
              <a:rPr lang="en-AU" sz="2800" b="1" dirty="0">
                <a:solidFill>
                  <a:srgbClr val="00B0F0"/>
                </a:solidFill>
              </a:rPr>
              <a:t>NON-VERBAL</a:t>
            </a:r>
            <a:r>
              <a:rPr lang="en-AU" sz="2800" dirty="0"/>
              <a:t> – free and active participation.</a:t>
            </a:r>
          </a:p>
          <a:p>
            <a:endParaRPr lang="en-US" sz="2800" dirty="0"/>
          </a:p>
          <a:p>
            <a:endParaRPr lang="en-US" dirty="0"/>
          </a:p>
        </p:txBody>
      </p:sp>
      <p:pic>
        <p:nvPicPr>
          <p:cNvPr id="4" name="Picture 2" descr="No' Means 'No': It Really Is That Simple When It Comes To Consent |  HuffPost Impact">
            <a:extLst>
              <a:ext uri="{FF2B5EF4-FFF2-40B4-BE49-F238E27FC236}">
                <a16:creationId xmlns:a16="http://schemas.microsoft.com/office/drawing/2014/main" id="{9AC93C7B-46B0-934E-0E18-7E625FA5C1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9" t="10636" r="2019" b="25743"/>
          <a:stretch/>
        </p:blipFill>
        <p:spPr bwMode="auto">
          <a:xfrm>
            <a:off x="6806454" y="3525981"/>
            <a:ext cx="3668806" cy="3184334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143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87D78-DBA8-7B61-6344-037B2803E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Consent – freedom and capacity (pg.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555A9-1BD1-5158-FD6E-6F7B29338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3"/>
            <a:ext cx="10883900" cy="456349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FREEDOM</a:t>
            </a:r>
            <a:r>
              <a:rPr lang="en-US" dirty="0"/>
              <a:t> to GIVE consent:</a:t>
            </a:r>
          </a:p>
          <a:p>
            <a:pPr lvl="1"/>
            <a:r>
              <a:rPr lang="en-AU" sz="2800" dirty="0"/>
              <a:t>When a person can make the choice to engage in sexual activity freely, free from threats, intimidation or coercion etc</a:t>
            </a:r>
            <a:r>
              <a:rPr lang="en-AU" sz="2400" dirty="0"/>
              <a:t>. 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7030A0"/>
                </a:solidFill>
              </a:rPr>
              <a:t>CAPACITY</a:t>
            </a:r>
            <a:r>
              <a:rPr lang="en-US" dirty="0"/>
              <a:t> to GIVE consent:</a:t>
            </a:r>
          </a:p>
          <a:p>
            <a:pPr lvl="1"/>
            <a:r>
              <a:rPr lang="en-US" sz="2800" dirty="0"/>
              <a:t>Even if consent has been given, they still need to have the CAPACITY to do so. </a:t>
            </a:r>
          </a:p>
          <a:p>
            <a:pPr lvl="1"/>
            <a:r>
              <a:rPr lang="en-US" sz="2800" dirty="0"/>
              <a:t>People who </a:t>
            </a:r>
            <a:r>
              <a:rPr lang="en-US" sz="2800" u="sng" dirty="0"/>
              <a:t>DO NOT </a:t>
            </a:r>
            <a:r>
              <a:rPr lang="en-US" sz="2800" dirty="0"/>
              <a:t>have the CAPACITY to GIVE consent include:</a:t>
            </a:r>
          </a:p>
          <a:p>
            <a:pPr lvl="2"/>
            <a:r>
              <a:rPr lang="en-US" sz="2800" dirty="0"/>
              <a:t>Anyone under 16 years of age. </a:t>
            </a:r>
          </a:p>
          <a:p>
            <a:pPr lvl="2"/>
            <a:r>
              <a:rPr lang="en-US" sz="2800" dirty="0"/>
              <a:t>Anyone who is unconscious, asleep, intoxicated, drugged, or otherwise </a:t>
            </a:r>
            <a:br>
              <a:rPr lang="en-US" sz="2800" dirty="0"/>
            </a:br>
            <a:r>
              <a:rPr lang="en-US" sz="2800" dirty="0"/>
              <a:t>unable to say yes. </a:t>
            </a:r>
          </a:p>
          <a:p>
            <a:pPr lvl="2"/>
            <a:r>
              <a:rPr lang="en-US" sz="2800" dirty="0"/>
              <a:t>Anyone who has a psychological or decision-making disability that impacts on </a:t>
            </a:r>
            <a:br>
              <a:rPr lang="en-US" sz="2800" dirty="0"/>
            </a:br>
            <a:r>
              <a:rPr lang="en-US" sz="2800" dirty="0"/>
              <a:t>their ability to understand what they are consenting to.</a:t>
            </a: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9C731BE-7C35-6973-7FBB-819899116614}"/>
              </a:ext>
            </a:extLst>
          </p:cNvPr>
          <p:cNvSpPr/>
          <p:nvPr/>
        </p:nvSpPr>
        <p:spPr>
          <a:xfrm>
            <a:off x="7823200" y="3089465"/>
            <a:ext cx="3898900" cy="3330575"/>
          </a:xfrm>
          <a:prstGeom prst="hexagon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3F4FCD-A9E3-41EA-3BF9-45853BDA0D00}"/>
              </a:ext>
            </a:extLst>
          </p:cNvPr>
          <p:cNvSpPr txBox="1"/>
          <p:nvPr/>
        </p:nvSpPr>
        <p:spPr>
          <a:xfrm>
            <a:off x="8416925" y="3415924"/>
            <a:ext cx="27114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If these criteria are not met, and a person is not able to give consent, regardless of age, it is a crime to engage in a sexual relationship or sexual behaviours with that person. </a:t>
            </a:r>
          </a:p>
        </p:txBody>
      </p:sp>
    </p:spTree>
    <p:extLst>
      <p:ext uri="{BB962C8B-B14F-4D97-AF65-F5344CB8AC3E}">
        <p14:creationId xmlns:p14="http://schemas.microsoft.com/office/powerpoint/2010/main" val="1692450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38F2-8271-CAAE-D60C-EAFE870B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2: Consent Scenario’s – IS this Consent?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DDC1B-20B4-F444-5EFB-28C61FDED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3"/>
            <a:ext cx="10515600" cy="478093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Working in small groups (max. 4 people).</a:t>
            </a:r>
          </a:p>
          <a:p>
            <a:endParaRPr lang="en-US" dirty="0"/>
          </a:p>
          <a:p>
            <a:r>
              <a:rPr lang="en-US" dirty="0"/>
              <a:t>Each group will be given a scenario. </a:t>
            </a:r>
          </a:p>
          <a:p>
            <a:endParaRPr lang="en-US" dirty="0"/>
          </a:p>
          <a:p>
            <a:r>
              <a:rPr lang="en-US" dirty="0"/>
              <a:t>As a group, answer the 4 questions on the card. </a:t>
            </a:r>
          </a:p>
          <a:p>
            <a:endParaRPr lang="en-US" dirty="0"/>
          </a:p>
          <a:p>
            <a:r>
              <a:rPr lang="en-US" dirty="0"/>
              <a:t>Be prepared to share your responses. </a:t>
            </a:r>
          </a:p>
          <a:p>
            <a:endParaRPr lang="en-US" dirty="0"/>
          </a:p>
          <a:p>
            <a:r>
              <a:rPr lang="en-US" dirty="0"/>
              <a:t>You have 5 minutes.</a:t>
            </a:r>
          </a:p>
        </p:txBody>
      </p:sp>
      <p:pic>
        <p:nvPicPr>
          <p:cNvPr id="5" name="Picture 4" descr="A paper with text and images&#10;&#10;Description automatically generated with medium confidence">
            <a:extLst>
              <a:ext uri="{FF2B5EF4-FFF2-40B4-BE49-F238E27FC236}">
                <a16:creationId xmlns:a16="http://schemas.microsoft.com/office/drawing/2014/main" id="{B120A046-F524-9452-98D3-5B6AB772A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226" y="1998119"/>
            <a:ext cx="3109804" cy="3609306"/>
          </a:xfrm>
          <a:prstGeom prst="rect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</p:pic>
      <p:pic>
        <p:nvPicPr>
          <p:cNvPr id="7" name="Picture 6" descr="A screenshot of a web page&#10;&#10;Description automatically generated">
            <a:extLst>
              <a:ext uri="{FF2B5EF4-FFF2-40B4-BE49-F238E27FC236}">
                <a16:creationId xmlns:a16="http://schemas.microsoft.com/office/drawing/2014/main" id="{180BA02E-BC6C-963A-B14E-5512622F5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850" y="4575824"/>
            <a:ext cx="3262942" cy="1917051"/>
          </a:xfrm>
          <a:prstGeom prst="rect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539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5DAA40F-4F28-4316-934E-C55D7C3AA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6D467C8-A8E0-468B-B88D-9CEEE37BF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33452" cy="6858000"/>
          </a:xfrm>
          <a:custGeom>
            <a:avLst/>
            <a:gdLst>
              <a:gd name="connsiteX0" fmla="*/ 0 w 7433452"/>
              <a:gd name="connsiteY0" fmla="*/ 0 h 6858000"/>
              <a:gd name="connsiteX1" fmla="*/ 1592736 w 7433452"/>
              <a:gd name="connsiteY1" fmla="*/ 0 h 6858000"/>
              <a:gd name="connsiteX2" fmla="*/ 2171700 w 7433452"/>
              <a:gd name="connsiteY2" fmla="*/ 0 h 6858000"/>
              <a:gd name="connsiteX3" fmla="*/ 2762696 w 7433452"/>
              <a:gd name="connsiteY3" fmla="*/ 0 h 6858000"/>
              <a:gd name="connsiteX4" fmla="*/ 2829254 w 7433452"/>
              <a:gd name="connsiteY4" fmla="*/ 0 h 6858000"/>
              <a:gd name="connsiteX5" fmla="*/ 7415310 w 7433452"/>
              <a:gd name="connsiteY5" fmla="*/ 0 h 6858000"/>
              <a:gd name="connsiteX6" fmla="*/ 7405703 w 7433452"/>
              <a:gd name="connsiteY6" fmla="*/ 94814 h 6858000"/>
              <a:gd name="connsiteX7" fmla="*/ 7410754 w 7433452"/>
              <a:gd name="connsiteY7" fmla="*/ 421796 h 6858000"/>
              <a:gd name="connsiteX8" fmla="*/ 7414688 w 7433452"/>
              <a:gd name="connsiteY8" fmla="*/ 812192 h 6858000"/>
              <a:gd name="connsiteX9" fmla="*/ 7395017 w 7433452"/>
              <a:gd name="connsiteY9" fmla="*/ 1113642 h 6858000"/>
              <a:gd name="connsiteX10" fmla="*/ 7422810 w 7433452"/>
              <a:gd name="connsiteY10" fmla="*/ 1796708 h 6858000"/>
              <a:gd name="connsiteX11" fmla="*/ 7421161 w 7433452"/>
              <a:gd name="connsiteY11" fmla="*/ 2327333 h 6858000"/>
              <a:gd name="connsiteX12" fmla="*/ 7412023 w 7433452"/>
              <a:gd name="connsiteY12" fmla="*/ 2784280 h 6858000"/>
              <a:gd name="connsiteX13" fmla="*/ 7417480 w 7433452"/>
              <a:gd name="connsiteY13" fmla="*/ 2985458 h 6858000"/>
              <a:gd name="connsiteX14" fmla="*/ 7403774 w 7433452"/>
              <a:gd name="connsiteY14" fmla="*/ 3531096 h 6858000"/>
              <a:gd name="connsiteX15" fmla="*/ 7414307 w 7433452"/>
              <a:gd name="connsiteY15" fmla="*/ 4336830 h 6858000"/>
              <a:gd name="connsiteX16" fmla="*/ 7413419 w 7433452"/>
              <a:gd name="connsiteY16" fmla="*/ 5026893 h 6858000"/>
              <a:gd name="connsiteX17" fmla="*/ 7417734 w 7433452"/>
              <a:gd name="connsiteY17" fmla="*/ 5252632 h 6858000"/>
              <a:gd name="connsiteX18" fmla="*/ 7417734 w 7433452"/>
              <a:gd name="connsiteY18" fmla="*/ 5466282 h 6858000"/>
              <a:gd name="connsiteX19" fmla="*/ 7379659 w 7433452"/>
              <a:gd name="connsiteY19" fmla="*/ 6121225 h 6858000"/>
              <a:gd name="connsiteX20" fmla="*/ 7395115 w 7433452"/>
              <a:gd name="connsiteY20" fmla="*/ 6708907 h 6858000"/>
              <a:gd name="connsiteX21" fmla="*/ 7412408 w 7433452"/>
              <a:gd name="connsiteY21" fmla="*/ 6858000 h 6858000"/>
              <a:gd name="connsiteX22" fmla="*/ 2829254 w 7433452"/>
              <a:gd name="connsiteY22" fmla="*/ 6858000 h 6858000"/>
              <a:gd name="connsiteX23" fmla="*/ 2762696 w 7433452"/>
              <a:gd name="connsiteY23" fmla="*/ 6858000 h 6858000"/>
              <a:gd name="connsiteX24" fmla="*/ 2171700 w 7433452"/>
              <a:gd name="connsiteY24" fmla="*/ 6858000 h 6858000"/>
              <a:gd name="connsiteX25" fmla="*/ 1592736 w 7433452"/>
              <a:gd name="connsiteY25" fmla="*/ 6858000 h 6858000"/>
              <a:gd name="connsiteX26" fmla="*/ 0 w 7433452"/>
              <a:gd name="connsiteY2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433452" h="6858000">
                <a:moveTo>
                  <a:pt x="0" y="0"/>
                </a:moveTo>
                <a:lnTo>
                  <a:pt x="1592736" y="0"/>
                </a:lnTo>
                <a:lnTo>
                  <a:pt x="2171700" y="0"/>
                </a:lnTo>
                <a:lnTo>
                  <a:pt x="2762696" y="0"/>
                </a:lnTo>
                <a:lnTo>
                  <a:pt x="2829254" y="0"/>
                </a:lnTo>
                <a:lnTo>
                  <a:pt x="7415310" y="0"/>
                </a:lnTo>
                <a:lnTo>
                  <a:pt x="7405703" y="94814"/>
                </a:lnTo>
                <a:cubicBezTo>
                  <a:pt x="7398856" y="203629"/>
                  <a:pt x="7403520" y="312712"/>
                  <a:pt x="7410754" y="421796"/>
                </a:cubicBezTo>
                <a:cubicBezTo>
                  <a:pt x="7421580" y="551656"/>
                  <a:pt x="7422900" y="682144"/>
                  <a:pt x="7414688" y="812192"/>
                </a:cubicBezTo>
                <a:cubicBezTo>
                  <a:pt x="7406693" y="912591"/>
                  <a:pt x="7397682" y="1012988"/>
                  <a:pt x="7395017" y="1113642"/>
                </a:cubicBezTo>
                <a:cubicBezTo>
                  <a:pt x="7388670" y="1342689"/>
                  <a:pt x="7407708" y="1569316"/>
                  <a:pt x="7422810" y="1796708"/>
                </a:cubicBezTo>
                <a:cubicBezTo>
                  <a:pt x="7434487" y="1973710"/>
                  <a:pt x="7439944" y="2150457"/>
                  <a:pt x="7421161" y="2327333"/>
                </a:cubicBezTo>
                <a:cubicBezTo>
                  <a:pt x="7405170" y="2479266"/>
                  <a:pt x="7396793" y="2631453"/>
                  <a:pt x="7412023" y="2784280"/>
                </a:cubicBezTo>
                <a:cubicBezTo>
                  <a:pt x="7418749" y="2851085"/>
                  <a:pt x="7425984" y="2918653"/>
                  <a:pt x="7417480" y="2985458"/>
                </a:cubicBezTo>
                <a:cubicBezTo>
                  <a:pt x="7394508" y="3167039"/>
                  <a:pt x="7398063" y="3349132"/>
                  <a:pt x="7403774" y="3531096"/>
                </a:cubicBezTo>
                <a:cubicBezTo>
                  <a:pt x="7412277" y="3799715"/>
                  <a:pt x="7426364" y="4067954"/>
                  <a:pt x="7414307" y="4336830"/>
                </a:cubicBezTo>
                <a:cubicBezTo>
                  <a:pt x="7404027" y="4566639"/>
                  <a:pt x="7420653" y="4796831"/>
                  <a:pt x="7413419" y="5026893"/>
                </a:cubicBezTo>
                <a:cubicBezTo>
                  <a:pt x="7410982" y="5102162"/>
                  <a:pt x="7412429" y="5177504"/>
                  <a:pt x="7417734" y="5252632"/>
                </a:cubicBezTo>
                <a:cubicBezTo>
                  <a:pt x="7424271" y="5323700"/>
                  <a:pt x="7424271" y="5395213"/>
                  <a:pt x="7417734" y="5466282"/>
                </a:cubicBezTo>
                <a:cubicBezTo>
                  <a:pt x="7393239" y="5683875"/>
                  <a:pt x="7383214" y="5902486"/>
                  <a:pt x="7379659" y="6121225"/>
                </a:cubicBezTo>
                <a:cubicBezTo>
                  <a:pt x="7376423" y="6317442"/>
                  <a:pt x="7378041" y="6513586"/>
                  <a:pt x="7395115" y="6708907"/>
                </a:cubicBezTo>
                <a:lnTo>
                  <a:pt x="7412408" y="6858000"/>
                </a:lnTo>
                <a:lnTo>
                  <a:pt x="2829254" y="6858000"/>
                </a:lnTo>
                <a:lnTo>
                  <a:pt x="2762696" y="6858000"/>
                </a:lnTo>
                <a:lnTo>
                  <a:pt x="2171700" y="6858000"/>
                </a:lnTo>
                <a:lnTo>
                  <a:pt x="159273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EA1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8E051-94DF-8AD3-1D52-D65ED8DBE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329184"/>
            <a:ext cx="6241568" cy="1783080"/>
          </a:xfrm>
        </p:spPr>
        <p:txBody>
          <a:bodyPr anchor="b">
            <a:normAutofit/>
          </a:bodyPr>
          <a:lstStyle/>
          <a:p>
            <a:r>
              <a:rPr lang="en-US" sz="7200">
                <a:solidFill>
                  <a:schemeClr val="bg1"/>
                </a:solidFill>
              </a:rPr>
              <a:t>Question Box</a:t>
            </a:r>
          </a:p>
        </p:txBody>
      </p:sp>
      <p:sp>
        <p:nvSpPr>
          <p:cNvPr id="14" name="sketchy rul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176F2-C427-2240-7625-230648E30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51" y="2706624"/>
            <a:ext cx="6793371" cy="3867912"/>
          </a:xfrm>
        </p:spPr>
        <p:txBody>
          <a:bodyPr>
            <a:normAutofit fontScale="92500"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If you have a question that you want to ask but you don’t want to ask it out loud… write it on a piece of paper and place it in the question box.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 some lessons we will read out questions that are in the box and your teacher will answer them.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You do not need to write your name – you can remain anonymous if you like!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If you would like to have a chat with your teacher, write your name on your question paper and they can speak with you personally, or just ask to have a chat!</a:t>
            </a:r>
          </a:p>
        </p:txBody>
      </p:sp>
      <p:pic>
        <p:nvPicPr>
          <p:cNvPr id="4" name="Picture 2" descr="Best Question Box GIFs | Gfycat">
            <a:extLst>
              <a:ext uri="{FF2B5EF4-FFF2-40B4-BE49-F238E27FC236}">
                <a16:creationId xmlns:a16="http://schemas.microsoft.com/office/drawing/2014/main" id="{F4E5BEA3-F7F5-547C-9C31-59610E7645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89" r="14247"/>
          <a:stretch/>
        </p:blipFill>
        <p:spPr bwMode="auto">
          <a:xfrm>
            <a:off x="8813422" y="329183"/>
            <a:ext cx="2055980" cy="292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person's face on a poster&#10;&#10;Description automatically generated with low confidence">
            <a:extLst>
              <a:ext uri="{FF2B5EF4-FFF2-40B4-BE49-F238E27FC236}">
                <a16:creationId xmlns:a16="http://schemas.microsoft.com/office/drawing/2014/main" id="{5B3B672F-0226-DAF2-128D-8111A7245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372" y="3494809"/>
            <a:ext cx="292608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899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9B934-A462-B631-D67C-89C82643B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Contraception &amp; STI’s BRAIN DUMP + KWL: (pg. 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2C02E-BA78-1CAF-15ED-54A47782B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14" y="1929383"/>
            <a:ext cx="11512066" cy="4563491"/>
          </a:xfrm>
        </p:spPr>
        <p:txBody>
          <a:bodyPr>
            <a:normAutofit/>
          </a:bodyPr>
          <a:lstStyle/>
          <a:p>
            <a:r>
              <a:rPr lang="en-US" dirty="0"/>
              <a:t>This term our focus is on contraception and Sexually Transmitted Infections (STI’s).</a:t>
            </a:r>
          </a:p>
          <a:p>
            <a:r>
              <a:rPr lang="en-US" dirty="0"/>
              <a:t>Dump everything you think you know about CONTRACEPTION and STI’s into the brain dump space on your page.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Complete the first two columns of the KWL: </a:t>
            </a:r>
          </a:p>
          <a:p>
            <a:pPr lvl="1"/>
            <a:r>
              <a:rPr lang="en-US" sz="2600" dirty="0"/>
              <a:t>What do you already </a:t>
            </a:r>
            <a:r>
              <a:rPr lang="en-US" sz="2600" b="1" dirty="0">
                <a:solidFill>
                  <a:srgbClr val="FF0000"/>
                </a:solidFill>
              </a:rPr>
              <a:t>KNOW</a:t>
            </a:r>
            <a:r>
              <a:rPr lang="en-US" sz="2600" dirty="0"/>
              <a:t> about contraception and STI’s?</a:t>
            </a:r>
          </a:p>
          <a:p>
            <a:pPr lvl="1"/>
            <a:r>
              <a:rPr lang="en-US" sz="2600" dirty="0"/>
              <a:t>What do you </a:t>
            </a:r>
            <a:r>
              <a:rPr lang="en-US" sz="2600" b="1" dirty="0">
                <a:solidFill>
                  <a:srgbClr val="FFC000"/>
                </a:solidFill>
              </a:rPr>
              <a:t>WANT</a:t>
            </a:r>
            <a:r>
              <a:rPr lang="en-US" sz="2600" dirty="0"/>
              <a:t> to know about contraception and STI’s?</a:t>
            </a:r>
          </a:p>
          <a:p>
            <a:pPr lvl="1"/>
            <a:r>
              <a:rPr lang="en-US" sz="2600" dirty="0"/>
              <a:t>We will revisit what you have </a:t>
            </a:r>
            <a:r>
              <a:rPr lang="en-US" sz="2600" b="1" dirty="0">
                <a:solidFill>
                  <a:srgbClr val="00B0F0"/>
                </a:solidFill>
              </a:rPr>
              <a:t>LEARNED</a:t>
            </a:r>
            <a:r>
              <a:rPr lang="en-US" sz="2600" dirty="0"/>
              <a:t> at the end of the term. Leave this column blank for now. </a:t>
            </a:r>
          </a:p>
        </p:txBody>
      </p:sp>
      <p:pic>
        <p:nvPicPr>
          <p:cNvPr id="4" name="Picture 3" descr="Brain Dumps and Other Test Day Hacks - Pocket Prep">
            <a:extLst>
              <a:ext uri="{FF2B5EF4-FFF2-40B4-BE49-F238E27FC236}">
                <a16:creationId xmlns:a16="http://schemas.microsoft.com/office/drawing/2014/main" id="{A44744E9-532B-14A7-8441-29484703E97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" t="6880" r="8002" b="12815"/>
          <a:stretch/>
        </p:blipFill>
        <p:spPr bwMode="auto">
          <a:xfrm>
            <a:off x="6065638" y="3316811"/>
            <a:ext cx="5851542" cy="230526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273306-B8BB-0B5E-6541-747BA235A28B}"/>
              </a:ext>
            </a:extLst>
          </p:cNvPr>
          <p:cNvSpPr txBox="1"/>
          <p:nvPr/>
        </p:nvSpPr>
        <p:spPr>
          <a:xfrm>
            <a:off x="1724824" y="3429000"/>
            <a:ext cx="2363082" cy="584775"/>
          </a:xfrm>
          <a:prstGeom prst="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4 minutes to complete</a:t>
            </a:r>
          </a:p>
        </p:txBody>
      </p:sp>
    </p:spTree>
    <p:extLst>
      <p:ext uri="{BB962C8B-B14F-4D97-AF65-F5344CB8AC3E}">
        <p14:creationId xmlns:p14="http://schemas.microsoft.com/office/powerpoint/2010/main" val="782845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D59E-D0FA-5FCA-E2A1-C1F6CA74D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IT SLAM – what is contraception?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D6FC6-9446-F519-14C2-B718B62B3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Everyone will receive a sticky note. </a:t>
            </a:r>
          </a:p>
          <a:p>
            <a:endParaRPr lang="en-US" dirty="0"/>
          </a:p>
          <a:p>
            <a:r>
              <a:rPr lang="en-US" dirty="0"/>
              <a:t>Answer the question </a:t>
            </a:r>
          </a:p>
          <a:p>
            <a:endParaRPr lang="en-US" sz="4000" b="1" dirty="0"/>
          </a:p>
          <a:p>
            <a:r>
              <a:rPr lang="en-US" dirty="0"/>
              <a:t>Once you have answered, place your sticky note on the whiteboard.</a:t>
            </a:r>
          </a:p>
          <a:p>
            <a:endParaRPr lang="en-US" dirty="0"/>
          </a:p>
          <a:p>
            <a:r>
              <a:rPr lang="en-US" dirty="0"/>
              <a:t>You have 30 seconds.  </a:t>
            </a:r>
          </a:p>
        </p:txBody>
      </p:sp>
      <p:pic>
        <p:nvPicPr>
          <p:cNvPr id="3076" name="Picture 4" descr="Sticky Note PNG Clip Art Image​ | Gallery Yopriceville - High-Quality  Images and Transparent PNG Free Clipar… | Sticky notes, Clip art,  Powerpoint background design">
            <a:extLst>
              <a:ext uri="{FF2B5EF4-FFF2-40B4-BE49-F238E27FC236}">
                <a16:creationId xmlns:a16="http://schemas.microsoft.com/office/drawing/2014/main" id="{EA27B844-E708-CFDA-A52D-CEC9D5FDA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210" y="1578863"/>
            <a:ext cx="4103489" cy="435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47C71C-9B2D-6ADF-7161-F33699FBD872}"/>
              </a:ext>
            </a:extLst>
          </p:cNvPr>
          <p:cNvSpPr txBox="1"/>
          <p:nvPr/>
        </p:nvSpPr>
        <p:spPr>
          <a:xfrm>
            <a:off x="7764659" y="2485703"/>
            <a:ext cx="37605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/>
              <a:t>WHAT </a:t>
            </a:r>
            <a:br>
              <a:rPr lang="en-US" sz="6600" b="1" dirty="0"/>
            </a:br>
            <a:r>
              <a:rPr lang="en-US" sz="6600" b="1" dirty="0"/>
              <a:t>IS CONTRACEPTION?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B07304-8B22-D528-3CC6-B6A0B241A6D9}"/>
              </a:ext>
            </a:extLst>
          </p:cNvPr>
          <p:cNvCxnSpPr/>
          <p:nvPr/>
        </p:nvCxnSpPr>
        <p:spPr>
          <a:xfrm>
            <a:off x="3016332" y="3323493"/>
            <a:ext cx="439387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308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233C-28A0-5238-0693-4729D3478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Contraception? (pg. 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FC187-0497-D9D2-7322-3926C6C34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800" b="1" dirty="0"/>
              <a:t>Contraception</a:t>
            </a:r>
            <a:r>
              <a:rPr lang="en-AU" sz="2800" dirty="0"/>
              <a:t> </a:t>
            </a:r>
            <a:r>
              <a:rPr lang="en-AU" sz="2800" b="1" dirty="0"/>
              <a:t>means</a:t>
            </a:r>
            <a:r>
              <a:rPr lang="en-AU" sz="2800" dirty="0"/>
              <a:t> using an </a:t>
            </a:r>
            <a:r>
              <a:rPr lang="en-AU" sz="2800" u="sng" dirty="0"/>
              <a:t>intervention</a:t>
            </a:r>
            <a:r>
              <a:rPr lang="en-AU" sz="2800" dirty="0"/>
              <a:t> when having sexual intercourse to </a:t>
            </a:r>
            <a:r>
              <a:rPr lang="en-AU" sz="2800" u="sng" dirty="0"/>
              <a:t>avoid getting pregnant</a:t>
            </a:r>
            <a:r>
              <a:rPr lang="en-AU" sz="2800" dirty="0"/>
              <a:t>.</a:t>
            </a:r>
          </a:p>
          <a:p>
            <a:r>
              <a:rPr lang="en-AU" sz="2800" dirty="0"/>
              <a:t>This is different from practising safe sex, which also includes protecting yourself and others from sexually transmitted infections (STIs).</a:t>
            </a:r>
          </a:p>
          <a:p>
            <a:r>
              <a:rPr lang="en-AU" sz="2800" dirty="0"/>
              <a:t>Another common term for contraception is ‘birth control’.</a:t>
            </a:r>
          </a:p>
          <a:p>
            <a:r>
              <a:rPr lang="en-AU" sz="2800" dirty="0"/>
              <a:t>There are a variety of contraceptive methods available depending on a person’s lifestyle and needs.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92E34C-9946-B528-6C7B-D74C49202585}"/>
              </a:ext>
            </a:extLst>
          </p:cNvPr>
          <p:cNvSpPr txBox="1"/>
          <p:nvPr/>
        </p:nvSpPr>
        <p:spPr>
          <a:xfrm>
            <a:off x="362857" y="5042571"/>
            <a:ext cx="6923314" cy="1138773"/>
          </a:xfrm>
          <a:custGeom>
            <a:avLst/>
            <a:gdLst>
              <a:gd name="connsiteX0" fmla="*/ 0 w 6923314"/>
              <a:gd name="connsiteY0" fmla="*/ 0 h 1138773"/>
              <a:gd name="connsiteX1" fmla="*/ 507710 w 6923314"/>
              <a:gd name="connsiteY1" fmla="*/ 0 h 1138773"/>
              <a:gd name="connsiteX2" fmla="*/ 876953 w 6923314"/>
              <a:gd name="connsiteY2" fmla="*/ 0 h 1138773"/>
              <a:gd name="connsiteX3" fmla="*/ 1592362 w 6923314"/>
              <a:gd name="connsiteY3" fmla="*/ 0 h 1138773"/>
              <a:gd name="connsiteX4" fmla="*/ 2100072 w 6923314"/>
              <a:gd name="connsiteY4" fmla="*/ 0 h 1138773"/>
              <a:gd name="connsiteX5" fmla="*/ 2607782 w 6923314"/>
              <a:gd name="connsiteY5" fmla="*/ 0 h 1138773"/>
              <a:gd name="connsiteX6" fmla="*/ 3323191 w 6923314"/>
              <a:gd name="connsiteY6" fmla="*/ 0 h 1138773"/>
              <a:gd name="connsiteX7" fmla="*/ 3761667 w 6923314"/>
              <a:gd name="connsiteY7" fmla="*/ 0 h 1138773"/>
              <a:gd name="connsiteX8" fmla="*/ 4477076 w 6923314"/>
              <a:gd name="connsiteY8" fmla="*/ 0 h 1138773"/>
              <a:gd name="connsiteX9" fmla="*/ 5192486 w 6923314"/>
              <a:gd name="connsiteY9" fmla="*/ 0 h 1138773"/>
              <a:gd name="connsiteX10" fmla="*/ 5769428 w 6923314"/>
              <a:gd name="connsiteY10" fmla="*/ 0 h 1138773"/>
              <a:gd name="connsiteX11" fmla="*/ 6923314 w 6923314"/>
              <a:gd name="connsiteY11" fmla="*/ 0 h 1138773"/>
              <a:gd name="connsiteX12" fmla="*/ 6923314 w 6923314"/>
              <a:gd name="connsiteY12" fmla="*/ 557999 h 1138773"/>
              <a:gd name="connsiteX13" fmla="*/ 6923314 w 6923314"/>
              <a:gd name="connsiteY13" fmla="*/ 1138773 h 1138773"/>
              <a:gd name="connsiteX14" fmla="*/ 6346371 w 6923314"/>
              <a:gd name="connsiteY14" fmla="*/ 1138773 h 1138773"/>
              <a:gd name="connsiteX15" fmla="*/ 5907895 w 6923314"/>
              <a:gd name="connsiteY15" fmla="*/ 1138773 h 1138773"/>
              <a:gd name="connsiteX16" fmla="*/ 5330952 w 6923314"/>
              <a:gd name="connsiteY16" fmla="*/ 1138773 h 1138773"/>
              <a:gd name="connsiteX17" fmla="*/ 4615543 w 6923314"/>
              <a:gd name="connsiteY17" fmla="*/ 1138773 h 1138773"/>
              <a:gd name="connsiteX18" fmla="*/ 4038600 w 6923314"/>
              <a:gd name="connsiteY18" fmla="*/ 1138773 h 1138773"/>
              <a:gd name="connsiteX19" fmla="*/ 3669356 w 6923314"/>
              <a:gd name="connsiteY19" fmla="*/ 1138773 h 1138773"/>
              <a:gd name="connsiteX20" fmla="*/ 3230880 w 6923314"/>
              <a:gd name="connsiteY20" fmla="*/ 1138773 h 1138773"/>
              <a:gd name="connsiteX21" fmla="*/ 2515471 w 6923314"/>
              <a:gd name="connsiteY21" fmla="*/ 1138773 h 1138773"/>
              <a:gd name="connsiteX22" fmla="*/ 1938528 w 6923314"/>
              <a:gd name="connsiteY22" fmla="*/ 1138773 h 1138773"/>
              <a:gd name="connsiteX23" fmla="*/ 1500051 w 6923314"/>
              <a:gd name="connsiteY23" fmla="*/ 1138773 h 1138773"/>
              <a:gd name="connsiteX24" fmla="*/ 923109 w 6923314"/>
              <a:gd name="connsiteY24" fmla="*/ 1138773 h 1138773"/>
              <a:gd name="connsiteX25" fmla="*/ 553865 w 6923314"/>
              <a:gd name="connsiteY25" fmla="*/ 1138773 h 1138773"/>
              <a:gd name="connsiteX26" fmla="*/ 0 w 6923314"/>
              <a:gd name="connsiteY26" fmla="*/ 1138773 h 1138773"/>
              <a:gd name="connsiteX27" fmla="*/ 0 w 6923314"/>
              <a:gd name="connsiteY27" fmla="*/ 569387 h 1138773"/>
              <a:gd name="connsiteX28" fmla="*/ 0 w 6923314"/>
              <a:gd name="connsiteY28" fmla="*/ 0 h 113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923314" h="1138773" extrusionOk="0">
                <a:moveTo>
                  <a:pt x="0" y="0"/>
                </a:moveTo>
                <a:cubicBezTo>
                  <a:pt x="246213" y="-29118"/>
                  <a:pt x="263617" y="55653"/>
                  <a:pt x="507710" y="0"/>
                </a:cubicBezTo>
                <a:cubicBezTo>
                  <a:pt x="751803" y="-55653"/>
                  <a:pt x="744034" y="4481"/>
                  <a:pt x="876953" y="0"/>
                </a:cubicBezTo>
                <a:cubicBezTo>
                  <a:pt x="1009872" y="-4481"/>
                  <a:pt x="1253829" y="58552"/>
                  <a:pt x="1592362" y="0"/>
                </a:cubicBezTo>
                <a:cubicBezTo>
                  <a:pt x="1930895" y="-58552"/>
                  <a:pt x="1969768" y="27903"/>
                  <a:pt x="2100072" y="0"/>
                </a:cubicBezTo>
                <a:cubicBezTo>
                  <a:pt x="2230376" y="-27903"/>
                  <a:pt x="2466077" y="31718"/>
                  <a:pt x="2607782" y="0"/>
                </a:cubicBezTo>
                <a:cubicBezTo>
                  <a:pt x="2749487" y="-31718"/>
                  <a:pt x="3020378" y="15714"/>
                  <a:pt x="3323191" y="0"/>
                </a:cubicBezTo>
                <a:cubicBezTo>
                  <a:pt x="3626004" y="-15714"/>
                  <a:pt x="3604142" y="7595"/>
                  <a:pt x="3761667" y="0"/>
                </a:cubicBezTo>
                <a:cubicBezTo>
                  <a:pt x="3919192" y="-7595"/>
                  <a:pt x="4174358" y="19730"/>
                  <a:pt x="4477076" y="0"/>
                </a:cubicBezTo>
                <a:cubicBezTo>
                  <a:pt x="4779794" y="-19730"/>
                  <a:pt x="4949830" y="24385"/>
                  <a:pt x="5192486" y="0"/>
                </a:cubicBezTo>
                <a:cubicBezTo>
                  <a:pt x="5435142" y="-24385"/>
                  <a:pt x="5552562" y="1962"/>
                  <a:pt x="5769428" y="0"/>
                </a:cubicBezTo>
                <a:cubicBezTo>
                  <a:pt x="5986294" y="-1962"/>
                  <a:pt x="6502685" y="32944"/>
                  <a:pt x="6923314" y="0"/>
                </a:cubicBezTo>
                <a:cubicBezTo>
                  <a:pt x="6977590" y="154688"/>
                  <a:pt x="6892699" y="353070"/>
                  <a:pt x="6923314" y="557999"/>
                </a:cubicBezTo>
                <a:cubicBezTo>
                  <a:pt x="6953929" y="762928"/>
                  <a:pt x="6855222" y="979358"/>
                  <a:pt x="6923314" y="1138773"/>
                </a:cubicBezTo>
                <a:cubicBezTo>
                  <a:pt x="6697733" y="1179452"/>
                  <a:pt x="6565885" y="1113134"/>
                  <a:pt x="6346371" y="1138773"/>
                </a:cubicBezTo>
                <a:cubicBezTo>
                  <a:pt x="6126857" y="1164412"/>
                  <a:pt x="6106901" y="1100080"/>
                  <a:pt x="5907895" y="1138773"/>
                </a:cubicBezTo>
                <a:cubicBezTo>
                  <a:pt x="5708889" y="1177466"/>
                  <a:pt x="5480143" y="1072318"/>
                  <a:pt x="5330952" y="1138773"/>
                </a:cubicBezTo>
                <a:cubicBezTo>
                  <a:pt x="5181761" y="1205228"/>
                  <a:pt x="4846509" y="1135187"/>
                  <a:pt x="4615543" y="1138773"/>
                </a:cubicBezTo>
                <a:cubicBezTo>
                  <a:pt x="4384577" y="1142359"/>
                  <a:pt x="4181875" y="1091670"/>
                  <a:pt x="4038600" y="1138773"/>
                </a:cubicBezTo>
                <a:cubicBezTo>
                  <a:pt x="3895325" y="1185876"/>
                  <a:pt x="3847518" y="1138578"/>
                  <a:pt x="3669356" y="1138773"/>
                </a:cubicBezTo>
                <a:cubicBezTo>
                  <a:pt x="3491194" y="1138968"/>
                  <a:pt x="3393884" y="1120940"/>
                  <a:pt x="3230880" y="1138773"/>
                </a:cubicBezTo>
                <a:cubicBezTo>
                  <a:pt x="3067876" y="1156606"/>
                  <a:pt x="2700181" y="1076112"/>
                  <a:pt x="2515471" y="1138773"/>
                </a:cubicBezTo>
                <a:cubicBezTo>
                  <a:pt x="2330761" y="1201434"/>
                  <a:pt x="2215315" y="1128668"/>
                  <a:pt x="1938528" y="1138773"/>
                </a:cubicBezTo>
                <a:cubicBezTo>
                  <a:pt x="1661741" y="1148878"/>
                  <a:pt x="1690991" y="1094403"/>
                  <a:pt x="1500051" y="1138773"/>
                </a:cubicBezTo>
                <a:cubicBezTo>
                  <a:pt x="1309111" y="1183143"/>
                  <a:pt x="1081484" y="1098842"/>
                  <a:pt x="923109" y="1138773"/>
                </a:cubicBezTo>
                <a:cubicBezTo>
                  <a:pt x="764734" y="1178704"/>
                  <a:pt x="677306" y="1118810"/>
                  <a:pt x="553865" y="1138773"/>
                </a:cubicBezTo>
                <a:cubicBezTo>
                  <a:pt x="430424" y="1158736"/>
                  <a:pt x="229055" y="1101796"/>
                  <a:pt x="0" y="1138773"/>
                </a:cubicBezTo>
                <a:cubicBezTo>
                  <a:pt x="-41749" y="1024710"/>
                  <a:pt x="53987" y="795666"/>
                  <a:pt x="0" y="569387"/>
                </a:cubicBezTo>
                <a:cubicBezTo>
                  <a:pt x="-53987" y="343108"/>
                  <a:pt x="8831" y="125321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accent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Jumble" panose="02000503000000020004" pitchFamily="2" charset="0"/>
              </a:rPr>
              <a:t>QUICK QUESTION: </a:t>
            </a:r>
          </a:p>
          <a:p>
            <a:pPr algn="ctr"/>
            <a:r>
              <a:rPr lang="en-US" sz="3200" b="1" dirty="0"/>
              <a:t>Whose responsibility is it to think about contraception? Why?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B5B13-0B72-BD4C-C893-DDD527C3BAD3}"/>
              </a:ext>
            </a:extLst>
          </p:cNvPr>
          <p:cNvSpPr txBox="1"/>
          <p:nvPr/>
        </p:nvSpPr>
        <p:spPr>
          <a:xfrm>
            <a:off x="7286170" y="5042571"/>
            <a:ext cx="4288971" cy="1154162"/>
          </a:xfrm>
          <a:custGeom>
            <a:avLst/>
            <a:gdLst>
              <a:gd name="connsiteX0" fmla="*/ 0 w 4288971"/>
              <a:gd name="connsiteY0" fmla="*/ 0 h 1154162"/>
              <a:gd name="connsiteX1" fmla="*/ 493232 w 4288971"/>
              <a:gd name="connsiteY1" fmla="*/ 0 h 1154162"/>
              <a:gd name="connsiteX2" fmla="*/ 900684 w 4288971"/>
              <a:gd name="connsiteY2" fmla="*/ 0 h 1154162"/>
              <a:gd name="connsiteX3" fmla="*/ 1522585 w 4288971"/>
              <a:gd name="connsiteY3" fmla="*/ 0 h 1154162"/>
              <a:gd name="connsiteX4" fmla="*/ 2015816 w 4288971"/>
              <a:gd name="connsiteY4" fmla="*/ 0 h 1154162"/>
              <a:gd name="connsiteX5" fmla="*/ 2509048 w 4288971"/>
              <a:gd name="connsiteY5" fmla="*/ 0 h 1154162"/>
              <a:gd name="connsiteX6" fmla="*/ 3130949 w 4288971"/>
              <a:gd name="connsiteY6" fmla="*/ 0 h 1154162"/>
              <a:gd name="connsiteX7" fmla="*/ 3581291 w 4288971"/>
              <a:gd name="connsiteY7" fmla="*/ 0 h 1154162"/>
              <a:gd name="connsiteX8" fmla="*/ 4288971 w 4288971"/>
              <a:gd name="connsiteY8" fmla="*/ 0 h 1154162"/>
              <a:gd name="connsiteX9" fmla="*/ 4288971 w 4288971"/>
              <a:gd name="connsiteY9" fmla="*/ 600164 h 1154162"/>
              <a:gd name="connsiteX10" fmla="*/ 4288971 w 4288971"/>
              <a:gd name="connsiteY10" fmla="*/ 1154162 h 1154162"/>
              <a:gd name="connsiteX11" fmla="*/ 3752850 w 4288971"/>
              <a:gd name="connsiteY11" fmla="*/ 1154162 h 1154162"/>
              <a:gd name="connsiteX12" fmla="*/ 3259618 w 4288971"/>
              <a:gd name="connsiteY12" fmla="*/ 1154162 h 1154162"/>
              <a:gd name="connsiteX13" fmla="*/ 2637717 w 4288971"/>
              <a:gd name="connsiteY13" fmla="*/ 1154162 h 1154162"/>
              <a:gd name="connsiteX14" fmla="*/ 2015816 w 4288971"/>
              <a:gd name="connsiteY14" fmla="*/ 1154162 h 1154162"/>
              <a:gd name="connsiteX15" fmla="*/ 1565474 w 4288971"/>
              <a:gd name="connsiteY15" fmla="*/ 1154162 h 1154162"/>
              <a:gd name="connsiteX16" fmla="*/ 1029353 w 4288971"/>
              <a:gd name="connsiteY16" fmla="*/ 1154162 h 1154162"/>
              <a:gd name="connsiteX17" fmla="*/ 0 w 4288971"/>
              <a:gd name="connsiteY17" fmla="*/ 1154162 h 1154162"/>
              <a:gd name="connsiteX18" fmla="*/ 0 w 4288971"/>
              <a:gd name="connsiteY18" fmla="*/ 577081 h 1154162"/>
              <a:gd name="connsiteX19" fmla="*/ 0 w 4288971"/>
              <a:gd name="connsiteY19" fmla="*/ 0 h 1154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88971" h="1154162" extrusionOk="0">
                <a:moveTo>
                  <a:pt x="0" y="0"/>
                </a:moveTo>
                <a:cubicBezTo>
                  <a:pt x="159192" y="-57371"/>
                  <a:pt x="386146" y="47000"/>
                  <a:pt x="493232" y="0"/>
                </a:cubicBezTo>
                <a:cubicBezTo>
                  <a:pt x="600318" y="-47000"/>
                  <a:pt x="795130" y="35895"/>
                  <a:pt x="900684" y="0"/>
                </a:cubicBezTo>
                <a:cubicBezTo>
                  <a:pt x="1006238" y="-35895"/>
                  <a:pt x="1296089" y="52614"/>
                  <a:pt x="1522585" y="0"/>
                </a:cubicBezTo>
                <a:cubicBezTo>
                  <a:pt x="1749081" y="-52614"/>
                  <a:pt x="1844351" y="36023"/>
                  <a:pt x="2015816" y="0"/>
                </a:cubicBezTo>
                <a:cubicBezTo>
                  <a:pt x="2187281" y="-36023"/>
                  <a:pt x="2346871" y="22269"/>
                  <a:pt x="2509048" y="0"/>
                </a:cubicBezTo>
                <a:cubicBezTo>
                  <a:pt x="2671225" y="-22269"/>
                  <a:pt x="2952368" y="43300"/>
                  <a:pt x="3130949" y="0"/>
                </a:cubicBezTo>
                <a:cubicBezTo>
                  <a:pt x="3309530" y="-43300"/>
                  <a:pt x="3374834" y="25496"/>
                  <a:pt x="3581291" y="0"/>
                </a:cubicBezTo>
                <a:cubicBezTo>
                  <a:pt x="3787748" y="-25496"/>
                  <a:pt x="4038950" y="82570"/>
                  <a:pt x="4288971" y="0"/>
                </a:cubicBezTo>
                <a:cubicBezTo>
                  <a:pt x="4299740" y="218817"/>
                  <a:pt x="4265633" y="374488"/>
                  <a:pt x="4288971" y="600164"/>
                </a:cubicBezTo>
                <a:cubicBezTo>
                  <a:pt x="4312309" y="825840"/>
                  <a:pt x="4233736" y="897107"/>
                  <a:pt x="4288971" y="1154162"/>
                </a:cubicBezTo>
                <a:cubicBezTo>
                  <a:pt x="4148554" y="1186640"/>
                  <a:pt x="3913856" y="1153030"/>
                  <a:pt x="3752850" y="1154162"/>
                </a:cubicBezTo>
                <a:cubicBezTo>
                  <a:pt x="3591844" y="1155294"/>
                  <a:pt x="3395829" y="1123248"/>
                  <a:pt x="3259618" y="1154162"/>
                </a:cubicBezTo>
                <a:cubicBezTo>
                  <a:pt x="3123407" y="1185076"/>
                  <a:pt x="2864693" y="1085085"/>
                  <a:pt x="2637717" y="1154162"/>
                </a:cubicBezTo>
                <a:cubicBezTo>
                  <a:pt x="2410741" y="1223239"/>
                  <a:pt x="2260802" y="1081277"/>
                  <a:pt x="2015816" y="1154162"/>
                </a:cubicBezTo>
                <a:cubicBezTo>
                  <a:pt x="1770830" y="1227047"/>
                  <a:pt x="1683526" y="1126205"/>
                  <a:pt x="1565474" y="1154162"/>
                </a:cubicBezTo>
                <a:cubicBezTo>
                  <a:pt x="1447422" y="1182119"/>
                  <a:pt x="1184459" y="1104203"/>
                  <a:pt x="1029353" y="1154162"/>
                </a:cubicBezTo>
                <a:cubicBezTo>
                  <a:pt x="874247" y="1204121"/>
                  <a:pt x="228406" y="1076619"/>
                  <a:pt x="0" y="1154162"/>
                </a:cubicBezTo>
                <a:cubicBezTo>
                  <a:pt x="-6266" y="1003826"/>
                  <a:pt x="8027" y="860857"/>
                  <a:pt x="0" y="577081"/>
                </a:cubicBezTo>
                <a:cubicBezTo>
                  <a:pt x="-8027" y="293305"/>
                  <a:pt x="44387" y="179276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accent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900" b="1" dirty="0">
                <a:latin typeface="Jumble" panose="02000503000000020004" pitchFamily="2" charset="0"/>
              </a:rPr>
              <a:t>BOTH!</a:t>
            </a:r>
            <a:endParaRPr lang="en-US" sz="6900" b="1" dirty="0"/>
          </a:p>
        </p:txBody>
      </p:sp>
    </p:spTree>
    <p:extLst>
      <p:ext uri="{BB962C8B-B14F-4D97-AF65-F5344CB8AC3E}">
        <p14:creationId xmlns:p14="http://schemas.microsoft.com/office/powerpoint/2010/main" val="372168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3ACFD-C220-F705-6FFB-9B30EA80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US" sz="6000"/>
              <a:t>SPIT FIRE ROUND: What are examples of contraception?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4884261"/>
              <a:ext cx="360" cy="2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37403" y="4868832"/>
                <a:ext cx="36000" cy="32709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Rectangle 22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092" y="1557877"/>
            <a:ext cx="18288" cy="3749040"/>
          </a:xfrm>
          <a:custGeom>
            <a:avLst/>
            <a:gdLst>
              <a:gd name="connsiteX0" fmla="*/ 0 w 18288"/>
              <a:gd name="connsiteY0" fmla="*/ 0 h 3749040"/>
              <a:gd name="connsiteX1" fmla="*/ 18288 w 18288"/>
              <a:gd name="connsiteY1" fmla="*/ 0 h 3749040"/>
              <a:gd name="connsiteX2" fmla="*/ 18288 w 18288"/>
              <a:gd name="connsiteY2" fmla="*/ 662330 h 3749040"/>
              <a:gd name="connsiteX3" fmla="*/ 18288 w 18288"/>
              <a:gd name="connsiteY3" fmla="*/ 1174699 h 3749040"/>
              <a:gd name="connsiteX4" fmla="*/ 18288 w 18288"/>
              <a:gd name="connsiteY4" fmla="*/ 1724558 h 3749040"/>
              <a:gd name="connsiteX5" fmla="*/ 18288 w 18288"/>
              <a:gd name="connsiteY5" fmla="*/ 2424379 h 3749040"/>
              <a:gd name="connsiteX6" fmla="*/ 18288 w 18288"/>
              <a:gd name="connsiteY6" fmla="*/ 3049219 h 3749040"/>
              <a:gd name="connsiteX7" fmla="*/ 18288 w 18288"/>
              <a:gd name="connsiteY7" fmla="*/ 3749040 h 3749040"/>
              <a:gd name="connsiteX8" fmla="*/ 0 w 18288"/>
              <a:gd name="connsiteY8" fmla="*/ 3749040 h 3749040"/>
              <a:gd name="connsiteX9" fmla="*/ 0 w 18288"/>
              <a:gd name="connsiteY9" fmla="*/ 3236671 h 3749040"/>
              <a:gd name="connsiteX10" fmla="*/ 0 w 18288"/>
              <a:gd name="connsiteY10" fmla="*/ 2536850 h 3749040"/>
              <a:gd name="connsiteX11" fmla="*/ 0 w 18288"/>
              <a:gd name="connsiteY11" fmla="*/ 1874520 h 3749040"/>
              <a:gd name="connsiteX12" fmla="*/ 0 w 18288"/>
              <a:gd name="connsiteY12" fmla="*/ 1362151 h 3749040"/>
              <a:gd name="connsiteX13" fmla="*/ 0 w 18288"/>
              <a:gd name="connsiteY13" fmla="*/ 774802 h 3749040"/>
              <a:gd name="connsiteX14" fmla="*/ 0 w 18288"/>
              <a:gd name="connsiteY14" fmla="*/ 0 h 374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288" h="3749040" fill="none" extrusionOk="0">
                <a:moveTo>
                  <a:pt x="0" y="0"/>
                </a:moveTo>
                <a:cubicBezTo>
                  <a:pt x="8690" y="407"/>
                  <a:pt x="14141" y="154"/>
                  <a:pt x="18288" y="0"/>
                </a:cubicBezTo>
                <a:cubicBezTo>
                  <a:pt x="34838" y="143586"/>
                  <a:pt x="-11860" y="333097"/>
                  <a:pt x="18288" y="662330"/>
                </a:cubicBezTo>
                <a:cubicBezTo>
                  <a:pt x="48436" y="991563"/>
                  <a:pt x="32813" y="1046681"/>
                  <a:pt x="18288" y="1174699"/>
                </a:cubicBezTo>
                <a:cubicBezTo>
                  <a:pt x="3763" y="1302717"/>
                  <a:pt x="40974" y="1467838"/>
                  <a:pt x="18288" y="1724558"/>
                </a:cubicBezTo>
                <a:cubicBezTo>
                  <a:pt x="-4398" y="1981278"/>
                  <a:pt x="36650" y="2215729"/>
                  <a:pt x="18288" y="2424379"/>
                </a:cubicBezTo>
                <a:cubicBezTo>
                  <a:pt x="-74" y="2633029"/>
                  <a:pt x="-9881" y="2874703"/>
                  <a:pt x="18288" y="3049219"/>
                </a:cubicBezTo>
                <a:cubicBezTo>
                  <a:pt x="46457" y="3223735"/>
                  <a:pt x="4078" y="3453850"/>
                  <a:pt x="18288" y="3749040"/>
                </a:cubicBezTo>
                <a:cubicBezTo>
                  <a:pt x="14465" y="3749751"/>
                  <a:pt x="7675" y="3748271"/>
                  <a:pt x="0" y="3749040"/>
                </a:cubicBezTo>
                <a:cubicBezTo>
                  <a:pt x="19669" y="3507959"/>
                  <a:pt x="-9883" y="3339386"/>
                  <a:pt x="0" y="3236671"/>
                </a:cubicBezTo>
                <a:cubicBezTo>
                  <a:pt x="9883" y="3133956"/>
                  <a:pt x="26871" y="2857214"/>
                  <a:pt x="0" y="2536850"/>
                </a:cubicBezTo>
                <a:cubicBezTo>
                  <a:pt x="-26871" y="2216486"/>
                  <a:pt x="4790" y="2156616"/>
                  <a:pt x="0" y="1874520"/>
                </a:cubicBezTo>
                <a:cubicBezTo>
                  <a:pt x="-4790" y="1592424"/>
                  <a:pt x="-3117" y="1558688"/>
                  <a:pt x="0" y="1362151"/>
                </a:cubicBezTo>
                <a:cubicBezTo>
                  <a:pt x="3117" y="1165614"/>
                  <a:pt x="16802" y="1045125"/>
                  <a:pt x="0" y="774802"/>
                </a:cubicBezTo>
                <a:cubicBezTo>
                  <a:pt x="-16802" y="504479"/>
                  <a:pt x="-29640" y="377701"/>
                  <a:pt x="0" y="0"/>
                </a:cubicBezTo>
                <a:close/>
              </a:path>
              <a:path w="18288" h="3749040" stroke="0" extrusionOk="0">
                <a:moveTo>
                  <a:pt x="0" y="0"/>
                </a:moveTo>
                <a:cubicBezTo>
                  <a:pt x="5341" y="9"/>
                  <a:pt x="11148" y="-611"/>
                  <a:pt x="18288" y="0"/>
                </a:cubicBezTo>
                <a:cubicBezTo>
                  <a:pt x="33352" y="227288"/>
                  <a:pt x="30894" y="278824"/>
                  <a:pt x="18288" y="512369"/>
                </a:cubicBezTo>
                <a:cubicBezTo>
                  <a:pt x="5682" y="745914"/>
                  <a:pt x="53060" y="998220"/>
                  <a:pt x="18288" y="1212190"/>
                </a:cubicBezTo>
                <a:cubicBezTo>
                  <a:pt x="-16484" y="1426160"/>
                  <a:pt x="35474" y="1585099"/>
                  <a:pt x="18288" y="1837030"/>
                </a:cubicBezTo>
                <a:cubicBezTo>
                  <a:pt x="1102" y="2088961"/>
                  <a:pt x="16704" y="2251948"/>
                  <a:pt x="18288" y="2386889"/>
                </a:cubicBezTo>
                <a:cubicBezTo>
                  <a:pt x="19872" y="2521830"/>
                  <a:pt x="5902" y="2679005"/>
                  <a:pt x="18288" y="2936748"/>
                </a:cubicBezTo>
                <a:cubicBezTo>
                  <a:pt x="30674" y="3194491"/>
                  <a:pt x="13809" y="3416052"/>
                  <a:pt x="18288" y="3749040"/>
                </a:cubicBezTo>
                <a:cubicBezTo>
                  <a:pt x="9729" y="3749861"/>
                  <a:pt x="3965" y="3749683"/>
                  <a:pt x="0" y="3749040"/>
                </a:cubicBezTo>
                <a:cubicBezTo>
                  <a:pt x="-10152" y="3632102"/>
                  <a:pt x="-5013" y="3340136"/>
                  <a:pt x="0" y="3236671"/>
                </a:cubicBezTo>
                <a:cubicBezTo>
                  <a:pt x="5013" y="3133206"/>
                  <a:pt x="-27249" y="2814766"/>
                  <a:pt x="0" y="2649322"/>
                </a:cubicBezTo>
                <a:cubicBezTo>
                  <a:pt x="27249" y="2483878"/>
                  <a:pt x="8506" y="2308131"/>
                  <a:pt x="0" y="2061972"/>
                </a:cubicBezTo>
                <a:cubicBezTo>
                  <a:pt x="-8506" y="1815813"/>
                  <a:pt x="-14267" y="1574470"/>
                  <a:pt x="0" y="1399642"/>
                </a:cubicBezTo>
                <a:cubicBezTo>
                  <a:pt x="14267" y="1224814"/>
                  <a:pt x="-24839" y="1011862"/>
                  <a:pt x="0" y="812292"/>
                </a:cubicBezTo>
                <a:cubicBezTo>
                  <a:pt x="24839" y="612722"/>
                  <a:pt x="20220" y="372179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Megaphone1 with solid fill">
            <a:extLst>
              <a:ext uri="{FF2B5EF4-FFF2-40B4-BE49-F238E27FC236}">
                <a16:creationId xmlns:a16="http://schemas.microsoft.com/office/drawing/2014/main" id="{E8E48F32-D870-B3D4-D2E9-A7180F84F2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7992" y="1514025"/>
            <a:ext cx="5119817" cy="5343975"/>
          </a:xfrm>
          <a:prstGeom prst="rect">
            <a:avLst/>
          </a:prstGeom>
        </p:spPr>
      </p:pic>
      <p:sp>
        <p:nvSpPr>
          <p:cNvPr id="6" name="Oval Callout 5">
            <a:extLst>
              <a:ext uri="{FF2B5EF4-FFF2-40B4-BE49-F238E27FC236}">
                <a16:creationId xmlns:a16="http://schemas.microsoft.com/office/drawing/2014/main" id="{0060A124-DAEB-4ADC-20BB-100B6939B970}"/>
              </a:ext>
            </a:extLst>
          </p:cNvPr>
          <p:cNvSpPr/>
          <p:nvPr/>
        </p:nvSpPr>
        <p:spPr>
          <a:xfrm rot="1127370">
            <a:off x="8442788" y="626191"/>
            <a:ext cx="3412096" cy="2657831"/>
          </a:xfrm>
          <a:prstGeom prst="wedgeEllipseCallou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81B67-9709-2659-04E8-464D30C53004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449598">
            <a:off x="8768271" y="887305"/>
            <a:ext cx="2762579" cy="2007174"/>
          </a:xfrm>
        </p:spPr>
        <p:txBody>
          <a:bodyPr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b="1" dirty="0">
                <a:latin typeface="Univers" panose="020B0503020202020204" pitchFamily="34" charset="0"/>
              </a:rPr>
              <a:t>What contraceptive methods do you know?</a:t>
            </a:r>
          </a:p>
          <a:p>
            <a:pPr marL="0" indent="0" algn="ctr">
              <a:buNone/>
            </a:pPr>
            <a:r>
              <a:rPr lang="en-US" b="1" dirty="0">
                <a:latin typeface="Univers" panose="020B0503020202020204" pitchFamily="34" charset="0"/>
              </a:rPr>
              <a:t>Call them out! </a:t>
            </a:r>
          </a:p>
        </p:txBody>
      </p:sp>
    </p:spTree>
    <p:extLst>
      <p:ext uri="{BB962C8B-B14F-4D97-AF65-F5344CB8AC3E}">
        <p14:creationId xmlns:p14="http://schemas.microsoft.com/office/powerpoint/2010/main" val="3767510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68F34-0F31-A088-18CD-8C367097C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3: Contraception Types (pg. 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40E2C-18CD-2433-CF26-E311D30B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2831084"/>
            <a:ext cx="2230315" cy="2591816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While watching the video, write a list of contraception methods that are mentioned into your books. </a:t>
            </a:r>
          </a:p>
        </p:txBody>
      </p:sp>
      <p:pic>
        <p:nvPicPr>
          <p:cNvPr id="4" name="Online Media 3" descr="GCSE Biology - Contraception  #61">
            <a:hlinkClick r:id="" action="ppaction://media"/>
            <a:extLst>
              <a:ext uri="{FF2B5EF4-FFF2-40B4-BE49-F238E27FC236}">
                <a16:creationId xmlns:a16="http://schemas.microsoft.com/office/drawing/2014/main" id="{826D574C-CE3F-778A-9247-819F49F01F9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286042" y="1826133"/>
            <a:ext cx="8905958" cy="503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1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9419B-B04A-08AC-16CC-7A8762FD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Activity 4: </a:t>
            </a:r>
            <a:r>
              <a:rPr lang="en-US" sz="5400" dirty="0"/>
              <a:t>(pg. 11)</a:t>
            </a:r>
            <a:br>
              <a:rPr lang="en-US" dirty="0"/>
            </a:br>
            <a:r>
              <a:rPr lang="en-US" dirty="0"/>
              <a:t>Why do people choose to use/not use contraception?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6DF9A-54EE-680E-72F9-78ECADEC2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 wide range of contraceptive methods available to use.</a:t>
            </a:r>
          </a:p>
          <a:p>
            <a:r>
              <a:rPr lang="en-US" dirty="0"/>
              <a:t>Consider reasons why someone would choose to use contraception vs. not use contraception.</a:t>
            </a:r>
          </a:p>
          <a:p>
            <a:endParaRPr lang="en-US" dirty="0"/>
          </a:p>
          <a:p>
            <a:r>
              <a:rPr lang="en-US" dirty="0"/>
              <a:t>Complete the T-chart in your books. </a:t>
            </a:r>
          </a:p>
          <a:p>
            <a:endParaRPr lang="en-US" dirty="0"/>
          </a:p>
          <a:p>
            <a:r>
              <a:rPr lang="en-US" dirty="0"/>
              <a:t>You have 5 minutes. Be prepared to share your responses.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D70AAC-59E5-02E3-226F-4E2F6E894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280761"/>
              </p:ext>
            </p:extLst>
          </p:nvPr>
        </p:nvGraphicFramePr>
        <p:xfrm>
          <a:off x="6289590" y="3320567"/>
          <a:ext cx="5427362" cy="3099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3681">
                  <a:extLst>
                    <a:ext uri="{9D8B030D-6E8A-4147-A177-3AD203B41FA5}">
                      <a16:colId xmlns:a16="http://schemas.microsoft.com/office/drawing/2014/main" val="329215136"/>
                    </a:ext>
                  </a:extLst>
                </a:gridCol>
                <a:gridCol w="2713681">
                  <a:extLst>
                    <a:ext uri="{9D8B030D-6E8A-4147-A177-3AD203B41FA5}">
                      <a16:colId xmlns:a16="http://schemas.microsoft.com/office/drawing/2014/main" val="2843699523"/>
                    </a:ext>
                  </a:extLst>
                </a:gridCol>
              </a:tblGrid>
              <a:tr h="61576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Reasons </a:t>
                      </a:r>
                      <a:r>
                        <a:rPr lang="en-US" sz="2400" b="1" u="sng" dirty="0"/>
                        <a:t>TO USE</a:t>
                      </a:r>
                      <a:r>
                        <a:rPr lang="en-US" sz="2400" b="1" u="none" dirty="0"/>
                        <a:t> </a:t>
                      </a:r>
                      <a:r>
                        <a:rPr lang="en-US" sz="2400" b="1" dirty="0"/>
                        <a:t>contraception: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Reasons </a:t>
                      </a:r>
                      <a:r>
                        <a:rPr lang="en-US" sz="2400" b="1" u="sng" dirty="0"/>
                        <a:t>NOT TO USE</a:t>
                      </a:r>
                      <a:r>
                        <a:rPr lang="en-US" sz="2400" b="1" dirty="0"/>
                        <a:t> contraception: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855573"/>
                  </a:ext>
                </a:extLst>
              </a:tr>
              <a:tr h="2483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040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958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3B26F-2475-F58E-E5B2-23CF8A635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4: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DE077-89C4-E240-9996-CDF9DCF90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367" y="2060869"/>
            <a:ext cx="1713162" cy="224676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Add anything you don’t have to your books.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CDAF13-F001-38DB-4526-66B9CF2CB6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1699054"/>
              </p:ext>
            </p:extLst>
          </p:nvPr>
        </p:nvGraphicFramePr>
        <p:xfrm>
          <a:off x="5047456" y="2082716"/>
          <a:ext cx="648523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2619">
                  <a:extLst>
                    <a:ext uri="{9D8B030D-6E8A-4147-A177-3AD203B41FA5}">
                      <a16:colId xmlns:a16="http://schemas.microsoft.com/office/drawing/2014/main" val="921961787"/>
                    </a:ext>
                  </a:extLst>
                </a:gridCol>
                <a:gridCol w="3242619">
                  <a:extLst>
                    <a:ext uri="{9D8B030D-6E8A-4147-A177-3AD203B41FA5}">
                      <a16:colId xmlns:a16="http://schemas.microsoft.com/office/drawing/2014/main" val="32711320"/>
                    </a:ext>
                  </a:extLst>
                </a:gridCol>
              </a:tblGrid>
              <a:tr h="428942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/>
                        <a:t>Reasons </a:t>
                      </a:r>
                      <a:r>
                        <a:rPr lang="en-US" sz="2400" b="1" i="0" u="sng" dirty="0"/>
                        <a:t>TO USE</a:t>
                      </a:r>
                      <a:r>
                        <a:rPr lang="en-US" sz="2400" b="1" i="0" u="none" dirty="0"/>
                        <a:t> </a:t>
                      </a:r>
                      <a:r>
                        <a:rPr lang="en-US" sz="2400" b="1" i="0" dirty="0"/>
                        <a:t>contraception: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/>
                        <a:t> Reasons </a:t>
                      </a:r>
                      <a:r>
                        <a:rPr lang="en-US" sz="2400" b="1" i="0" u="sng" dirty="0"/>
                        <a:t>NOT TO USE</a:t>
                      </a:r>
                      <a:r>
                        <a:rPr lang="en-US" sz="2400" b="1" i="0" u="none" dirty="0"/>
                        <a:t> </a:t>
                      </a:r>
                      <a:r>
                        <a:rPr lang="en-US" sz="2400" b="1" i="0" dirty="0"/>
                        <a:t>contraception: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410352"/>
                  </a:ext>
                </a:extLst>
              </a:tr>
              <a:tr h="330550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 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 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 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 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 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 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3738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B5AC29-68BF-0D2C-E2D5-F8C7F2818F80}"/>
              </a:ext>
            </a:extLst>
          </p:cNvPr>
          <p:cNvSpPr txBox="1"/>
          <p:nvPr/>
        </p:nvSpPr>
        <p:spPr>
          <a:xfrm>
            <a:off x="5337202" y="2901575"/>
            <a:ext cx="31344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Don’t want children</a:t>
            </a:r>
          </a:p>
          <a:p>
            <a:r>
              <a:rPr lang="en-US" sz="2400" dirty="0"/>
              <a:t>Some protect from STI’s</a:t>
            </a:r>
          </a:p>
          <a:p>
            <a:r>
              <a:rPr lang="en-US" sz="2400" dirty="0"/>
              <a:t>Can regulate periods</a:t>
            </a:r>
          </a:p>
          <a:p>
            <a:r>
              <a:rPr lang="en-US" sz="2400" dirty="0"/>
              <a:t>Clear up acne</a:t>
            </a:r>
          </a:p>
          <a:p>
            <a:r>
              <a:rPr lang="en-US" sz="2400" dirty="0"/>
              <a:t>Make periods lighter</a:t>
            </a:r>
          </a:p>
          <a:p>
            <a:r>
              <a:rPr lang="en-US" sz="2400" dirty="0"/>
              <a:t>Reduce migraines</a:t>
            </a:r>
          </a:p>
          <a:p>
            <a:r>
              <a:rPr lang="en-US" sz="2400" dirty="0"/>
              <a:t>Reduce PMS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B3E8BD-0C00-403E-D2DC-D77AA1B1079A}"/>
              </a:ext>
            </a:extLst>
          </p:cNvPr>
          <p:cNvSpPr txBox="1"/>
          <p:nvPr/>
        </p:nvSpPr>
        <p:spPr>
          <a:xfrm>
            <a:off x="8607104" y="2871325"/>
            <a:ext cx="24612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Cost</a:t>
            </a:r>
          </a:p>
          <a:p>
            <a:r>
              <a:rPr lang="en-US" sz="2400" dirty="0"/>
              <a:t>Want children</a:t>
            </a:r>
          </a:p>
          <a:p>
            <a:r>
              <a:rPr lang="en-US" sz="2400" dirty="0"/>
              <a:t>Allergy</a:t>
            </a:r>
          </a:p>
          <a:p>
            <a:r>
              <a:rPr lang="en-US" sz="2400" dirty="0"/>
              <a:t>Religion</a:t>
            </a:r>
          </a:p>
          <a:p>
            <a:r>
              <a:rPr lang="en-US" sz="2400" dirty="0"/>
              <a:t>Convenience</a:t>
            </a:r>
          </a:p>
          <a:p>
            <a:r>
              <a:rPr lang="en-US" sz="2400" dirty="0"/>
              <a:t>Intoxicated</a:t>
            </a:r>
          </a:p>
          <a:p>
            <a:r>
              <a:rPr lang="en-US" sz="2400" dirty="0"/>
              <a:t>Lack of knowledge</a:t>
            </a:r>
          </a:p>
        </p:txBody>
      </p:sp>
      <p:pic>
        <p:nvPicPr>
          <p:cNvPr id="1026" name="Picture 2" descr="Contraceptive Implant :: Highland Sexual Health">
            <a:extLst>
              <a:ext uri="{FF2B5EF4-FFF2-40B4-BE49-F238E27FC236}">
                <a16:creationId xmlns:a16="http://schemas.microsoft.com/office/drawing/2014/main" id="{800444EF-B61F-FAFE-5452-23DBB6CA4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68" y="3963066"/>
            <a:ext cx="4047694" cy="252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86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ED1D94F-BC8C-4ABD-9133-E5FE8FD01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ose-up of stacked books">
            <a:extLst>
              <a:ext uri="{FF2B5EF4-FFF2-40B4-BE49-F238E27FC236}">
                <a16:creationId xmlns:a16="http://schemas.microsoft.com/office/drawing/2014/main" id="{1233A9E2-CD78-7B1E-EF6D-8FC4ABA8F9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298AA8-A15B-DFA3-A2A3-E27B380AC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5512" y="494951"/>
            <a:ext cx="4023360" cy="5722227"/>
          </a:xfrm>
        </p:spPr>
        <p:txBody>
          <a:bodyPr>
            <a:normAutofit/>
          </a:bodyPr>
          <a:lstStyle/>
          <a:p>
            <a:r>
              <a:rPr lang="en-US" sz="7200" dirty="0"/>
              <a:t>GLOSSARY: (pg. 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F88F0-F259-08F8-24F9-BD80B00CB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850392"/>
            <a:ext cx="5824728" cy="50017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i="1" dirty="0"/>
              <a:t>Contraception:</a:t>
            </a:r>
          </a:p>
          <a:p>
            <a:pPr lvl="1"/>
            <a:r>
              <a:rPr lang="en-US" dirty="0"/>
              <a:t>An intervention method used to prevent pregnancy from occurring. </a:t>
            </a:r>
          </a:p>
          <a:p>
            <a:endParaRPr lang="en-US" dirty="0"/>
          </a:p>
        </p:txBody>
      </p:sp>
      <p:sp>
        <p:nvSpPr>
          <p:cNvPr id="14" name="sketchy content container">
            <a:extLst>
              <a:ext uri="{FF2B5EF4-FFF2-40B4-BE49-F238E27FC236}">
                <a16:creationId xmlns:a16="http://schemas.microsoft.com/office/drawing/2014/main" id="{65C49067-A40C-4881-A0C6-21B612551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5" y="494951"/>
            <a:ext cx="6229604" cy="5722227"/>
          </a:xfrm>
          <a:custGeom>
            <a:avLst/>
            <a:gdLst>
              <a:gd name="connsiteX0" fmla="*/ 0 w 6229604"/>
              <a:gd name="connsiteY0" fmla="*/ 0 h 5722227"/>
              <a:gd name="connsiteX1" fmla="*/ 629882 w 6229604"/>
              <a:gd name="connsiteY1" fmla="*/ 0 h 5722227"/>
              <a:gd name="connsiteX2" fmla="*/ 1135172 w 6229604"/>
              <a:gd name="connsiteY2" fmla="*/ 0 h 5722227"/>
              <a:gd name="connsiteX3" fmla="*/ 1951943 w 6229604"/>
              <a:gd name="connsiteY3" fmla="*/ 0 h 5722227"/>
              <a:gd name="connsiteX4" fmla="*/ 2581825 w 6229604"/>
              <a:gd name="connsiteY4" fmla="*/ 0 h 5722227"/>
              <a:gd name="connsiteX5" fmla="*/ 3211707 w 6229604"/>
              <a:gd name="connsiteY5" fmla="*/ 0 h 5722227"/>
              <a:gd name="connsiteX6" fmla="*/ 4028477 w 6229604"/>
              <a:gd name="connsiteY6" fmla="*/ 0 h 5722227"/>
              <a:gd name="connsiteX7" fmla="*/ 4596063 w 6229604"/>
              <a:gd name="connsiteY7" fmla="*/ 0 h 5722227"/>
              <a:gd name="connsiteX8" fmla="*/ 5412834 w 6229604"/>
              <a:gd name="connsiteY8" fmla="*/ 0 h 5722227"/>
              <a:gd name="connsiteX9" fmla="*/ 6229604 w 6229604"/>
              <a:gd name="connsiteY9" fmla="*/ 0 h 5722227"/>
              <a:gd name="connsiteX10" fmla="*/ 6229604 w 6229604"/>
              <a:gd name="connsiteY10" fmla="*/ 635803 h 5722227"/>
              <a:gd name="connsiteX11" fmla="*/ 6229604 w 6229604"/>
              <a:gd name="connsiteY11" fmla="*/ 1271606 h 5722227"/>
              <a:gd name="connsiteX12" fmla="*/ 6229604 w 6229604"/>
              <a:gd name="connsiteY12" fmla="*/ 1964631 h 5722227"/>
              <a:gd name="connsiteX13" fmla="*/ 6229604 w 6229604"/>
              <a:gd name="connsiteY13" fmla="*/ 2428767 h 5722227"/>
              <a:gd name="connsiteX14" fmla="*/ 6229604 w 6229604"/>
              <a:gd name="connsiteY14" fmla="*/ 3064570 h 5722227"/>
              <a:gd name="connsiteX15" fmla="*/ 6229604 w 6229604"/>
              <a:gd name="connsiteY15" fmla="*/ 3700373 h 5722227"/>
              <a:gd name="connsiteX16" fmla="*/ 6229604 w 6229604"/>
              <a:gd name="connsiteY16" fmla="*/ 4336176 h 5722227"/>
              <a:gd name="connsiteX17" fmla="*/ 6229604 w 6229604"/>
              <a:gd name="connsiteY17" fmla="*/ 5029202 h 5722227"/>
              <a:gd name="connsiteX18" fmla="*/ 6229604 w 6229604"/>
              <a:gd name="connsiteY18" fmla="*/ 5722227 h 5722227"/>
              <a:gd name="connsiteX19" fmla="*/ 5475130 w 6229604"/>
              <a:gd name="connsiteY19" fmla="*/ 5722227 h 5722227"/>
              <a:gd name="connsiteX20" fmla="*/ 4907544 w 6229604"/>
              <a:gd name="connsiteY20" fmla="*/ 5722227 h 5722227"/>
              <a:gd name="connsiteX21" fmla="*/ 4090773 w 6229604"/>
              <a:gd name="connsiteY21" fmla="*/ 5722227 h 5722227"/>
              <a:gd name="connsiteX22" fmla="*/ 3398595 w 6229604"/>
              <a:gd name="connsiteY22" fmla="*/ 5722227 h 5722227"/>
              <a:gd name="connsiteX23" fmla="*/ 2831009 w 6229604"/>
              <a:gd name="connsiteY23" fmla="*/ 5722227 h 5722227"/>
              <a:gd name="connsiteX24" fmla="*/ 2138831 w 6229604"/>
              <a:gd name="connsiteY24" fmla="*/ 5722227 h 5722227"/>
              <a:gd name="connsiteX25" fmla="*/ 1633541 w 6229604"/>
              <a:gd name="connsiteY25" fmla="*/ 5722227 h 5722227"/>
              <a:gd name="connsiteX26" fmla="*/ 1128251 w 6229604"/>
              <a:gd name="connsiteY26" fmla="*/ 5722227 h 5722227"/>
              <a:gd name="connsiteX27" fmla="*/ 0 w 6229604"/>
              <a:gd name="connsiteY27" fmla="*/ 5722227 h 5722227"/>
              <a:gd name="connsiteX28" fmla="*/ 0 w 6229604"/>
              <a:gd name="connsiteY28" fmla="*/ 5200869 h 5722227"/>
              <a:gd name="connsiteX29" fmla="*/ 0 w 6229604"/>
              <a:gd name="connsiteY29" fmla="*/ 4450621 h 5722227"/>
              <a:gd name="connsiteX30" fmla="*/ 0 w 6229604"/>
              <a:gd name="connsiteY30" fmla="*/ 3872040 h 5722227"/>
              <a:gd name="connsiteX31" fmla="*/ 0 w 6229604"/>
              <a:gd name="connsiteY31" fmla="*/ 3407904 h 5722227"/>
              <a:gd name="connsiteX32" fmla="*/ 0 w 6229604"/>
              <a:gd name="connsiteY32" fmla="*/ 2714879 h 5722227"/>
              <a:gd name="connsiteX33" fmla="*/ 0 w 6229604"/>
              <a:gd name="connsiteY33" fmla="*/ 2193520 h 5722227"/>
              <a:gd name="connsiteX34" fmla="*/ 0 w 6229604"/>
              <a:gd name="connsiteY34" fmla="*/ 1500495 h 5722227"/>
              <a:gd name="connsiteX35" fmla="*/ 0 w 6229604"/>
              <a:gd name="connsiteY35" fmla="*/ 750248 h 5722227"/>
              <a:gd name="connsiteX36" fmla="*/ 0 w 6229604"/>
              <a:gd name="connsiteY36" fmla="*/ 0 h 5722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174DFB-8830-EBE1-20F8-A5003F1A9046}"/>
              </a:ext>
            </a:extLst>
          </p:cNvPr>
          <p:cNvSpPr txBox="1"/>
          <p:nvPr/>
        </p:nvSpPr>
        <p:spPr>
          <a:xfrm>
            <a:off x="7188999" y="4147981"/>
            <a:ext cx="46963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At the front of your books is your glossary. </a:t>
            </a:r>
          </a:p>
          <a:p>
            <a:pPr algn="ctr"/>
            <a:r>
              <a:rPr lang="en-US" sz="2400" dirty="0"/>
              <a:t>Turn to your glossary and add the following words and their definitions:</a:t>
            </a:r>
          </a:p>
        </p:txBody>
      </p:sp>
    </p:spTree>
    <p:extLst>
      <p:ext uri="{BB962C8B-B14F-4D97-AF65-F5344CB8AC3E}">
        <p14:creationId xmlns:p14="http://schemas.microsoft.com/office/powerpoint/2010/main" val="329153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9AB42-7715-8CB4-06E2-5C48B8DBD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REFLECTION: How to say no… (pg. 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AF754-DDDD-6EC2-47D6-E97068DDC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1795451"/>
          </a:xfrm>
        </p:spPr>
        <p:txBody>
          <a:bodyPr>
            <a:normAutofit/>
          </a:bodyPr>
          <a:lstStyle/>
          <a:p>
            <a:r>
              <a:rPr lang="en-US" dirty="0"/>
              <a:t>There may be a time in your life where you are in a situation where you may not feel comfortable and want to say no. </a:t>
            </a:r>
          </a:p>
          <a:p>
            <a:r>
              <a:rPr lang="en-US" dirty="0"/>
              <a:t>This could be any kind of situation, not just in a sexual scenario. </a:t>
            </a:r>
          </a:p>
          <a:p>
            <a:r>
              <a:rPr lang="en-US" dirty="0"/>
              <a:t>It is important that you can say no when you need to.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43073E-5E89-A9CE-3E12-6C71899090D1}"/>
              </a:ext>
            </a:extLst>
          </p:cNvPr>
          <p:cNvSpPr txBox="1"/>
          <p:nvPr/>
        </p:nvSpPr>
        <p:spPr>
          <a:xfrm>
            <a:off x="838200" y="4323231"/>
            <a:ext cx="1083833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Being ASSERTIVE means…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State your answer/response </a:t>
            </a:r>
            <a:r>
              <a:rPr lang="en-US" sz="2800" dirty="0">
                <a:sym typeface="Wingdings" pitchFamily="2" charset="2"/>
              </a:rPr>
              <a:t> “No, I don’t want to have sex.”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Use ’I’ statements as this avoids placing the blame on someone else while still expressing how you feel </a:t>
            </a:r>
            <a:r>
              <a:rPr lang="en-US" sz="2800" dirty="0">
                <a:sym typeface="Wingdings" pitchFamily="2" charset="2"/>
              </a:rPr>
              <a:t> “I don’t feel comfortable”, “I don’t feel like this is the right time”, “I don’t want to.”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itchFamily="2" charset="2"/>
              </a:rPr>
              <a:t>Be understanding.</a:t>
            </a:r>
          </a:p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BA3478-B1D0-2312-4163-05892A8B7387}"/>
              </a:ext>
            </a:extLst>
          </p:cNvPr>
          <p:cNvSpPr/>
          <p:nvPr/>
        </p:nvSpPr>
        <p:spPr>
          <a:xfrm>
            <a:off x="5709398" y="3199792"/>
            <a:ext cx="6098239" cy="11032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91908B-4F7C-D3EB-7106-49B2E95B027F}"/>
              </a:ext>
            </a:extLst>
          </p:cNvPr>
          <p:cNvSpPr txBox="1"/>
          <p:nvPr/>
        </p:nvSpPr>
        <p:spPr>
          <a:xfrm>
            <a:off x="5709398" y="3429172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Q: What could you do or say when you want to say NO?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D3F7CF-7BAB-AF38-687D-81CD5339D0F8}"/>
              </a:ext>
            </a:extLst>
          </p:cNvPr>
          <p:cNvSpPr txBox="1"/>
          <p:nvPr/>
        </p:nvSpPr>
        <p:spPr>
          <a:xfrm>
            <a:off x="5709398" y="4350124"/>
            <a:ext cx="6098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B050"/>
                </a:solidFill>
              </a:rPr>
              <a:t>A: BE ASSERTIVE</a:t>
            </a:r>
          </a:p>
        </p:txBody>
      </p:sp>
    </p:spTree>
    <p:extLst>
      <p:ext uri="{BB962C8B-B14F-4D97-AF65-F5344CB8AC3E}">
        <p14:creationId xmlns:p14="http://schemas.microsoft.com/office/powerpoint/2010/main" val="303699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3012</TotalTime>
  <Words>1621</Words>
  <Application>Microsoft Macintosh PowerPoint</Application>
  <PresentationFormat>Widescreen</PresentationFormat>
  <Paragraphs>213</Paragraphs>
  <Slides>18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Jumble</vt:lpstr>
      <vt:lpstr>The Hand Bold</vt:lpstr>
      <vt:lpstr>The Serif Hand Black</vt:lpstr>
      <vt:lpstr>Univers</vt:lpstr>
      <vt:lpstr>Wingdings</vt:lpstr>
      <vt:lpstr>SketchyVTI</vt:lpstr>
      <vt:lpstr>CONTRACEPTION &amp; STI’s</vt:lpstr>
      <vt:lpstr>Term 2: Program &amp; Assessments</vt:lpstr>
      <vt:lpstr>Today’s Focus</vt:lpstr>
      <vt:lpstr>ACTIVITY 1: CONSENT REVIEW – BRAINSTORM (pg. 8)</vt:lpstr>
      <vt:lpstr>REVIEW: What is Consent? (pg. 8)</vt:lpstr>
      <vt:lpstr>REVIEW: Consent (pg. 8)</vt:lpstr>
      <vt:lpstr>REVIEW: Consent – freedom and capacity (pg. 8)</vt:lpstr>
      <vt:lpstr>Activity 2: Consent Scenario’s – IS this Consent?</vt:lpstr>
      <vt:lpstr>Question Box</vt:lpstr>
      <vt:lpstr>Contraception &amp; STI’s BRAIN DUMP + KWL: (pg. 9)</vt:lpstr>
      <vt:lpstr>POST IT SLAM – what is contraception?</vt:lpstr>
      <vt:lpstr>What is Contraception? (pg. 10)</vt:lpstr>
      <vt:lpstr>SPIT FIRE ROUND: What are examples of contraception?</vt:lpstr>
      <vt:lpstr>ACTIVITY 3: Contraception Types (pg. 10)</vt:lpstr>
      <vt:lpstr>Activity 4: (pg. 11) Why do people choose to use/not use contraception?</vt:lpstr>
      <vt:lpstr>Activity 4: Answers</vt:lpstr>
      <vt:lpstr>GLOSSARY: (pg. 7)</vt:lpstr>
      <vt:lpstr>REFLECTION: How to say no… (pg. 11)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CONTRACEPTION &amp; STI’s</dc:title>
  <dc:creator>HILLMAN Alissa [Willetton Senior High School]</dc:creator>
  <cp:lastModifiedBy>HILLMAN Alissa [Willetton Senior High School]</cp:lastModifiedBy>
  <cp:revision>31</cp:revision>
  <dcterms:created xsi:type="dcterms:W3CDTF">2024-02-21T07:14:50Z</dcterms:created>
  <dcterms:modified xsi:type="dcterms:W3CDTF">2024-03-04T05:02:24Z</dcterms:modified>
</cp:coreProperties>
</file>